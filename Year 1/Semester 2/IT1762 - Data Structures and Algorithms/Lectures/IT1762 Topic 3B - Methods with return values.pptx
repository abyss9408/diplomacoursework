
<file path=[Content_Types].xml><?xml version="1.0" encoding="utf-8"?>
<Types xmlns="http://schemas.openxmlformats.org/package/2006/content-types">
  <Default Extension="png" ContentType="image/png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1"/>
  </p:notesMasterIdLst>
  <p:handoutMasterIdLst>
    <p:handoutMasterId r:id="rId22"/>
  </p:handoutMasterIdLst>
  <p:sldIdLst>
    <p:sldId id="550" r:id="rId2"/>
    <p:sldId id="537" r:id="rId3"/>
    <p:sldId id="538" r:id="rId4"/>
    <p:sldId id="551" r:id="rId5"/>
    <p:sldId id="552" r:id="rId6"/>
    <p:sldId id="553" r:id="rId7"/>
    <p:sldId id="555" r:id="rId8"/>
    <p:sldId id="556" r:id="rId9"/>
    <p:sldId id="554" r:id="rId10"/>
    <p:sldId id="482" r:id="rId11"/>
    <p:sldId id="557" r:id="rId12"/>
    <p:sldId id="558" r:id="rId13"/>
    <p:sldId id="561" r:id="rId14"/>
    <p:sldId id="564" r:id="rId15"/>
    <p:sldId id="546" r:id="rId16"/>
    <p:sldId id="559" r:id="rId17"/>
    <p:sldId id="560" r:id="rId18"/>
    <p:sldId id="562" r:id="rId19"/>
    <p:sldId id="563" r:id="rId20"/>
  </p:sldIdLst>
  <p:sldSz cx="6858000" cy="9144000" type="screen4x3"/>
  <p:notesSz cx="10234613" cy="7099300"/>
  <p:custDataLst>
    <p:tags r:id="rId23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33CC"/>
    <a:srgbClr val="00CC00"/>
    <a:srgbClr val="6600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654" autoAdjust="0"/>
    <p:restoredTop sz="99264" autoAdjust="0"/>
  </p:normalViewPr>
  <p:slideViewPr>
    <p:cSldViewPr>
      <p:cViewPr>
        <p:scale>
          <a:sx n="100" d="100"/>
          <a:sy n="100" d="100"/>
        </p:scale>
        <p:origin x="540" y="-348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notesViewPr>
    <p:cSldViewPr>
      <p:cViewPr varScale="1">
        <p:scale>
          <a:sx n="99" d="100"/>
          <a:sy n="99" d="100"/>
        </p:scale>
        <p:origin x="-643" y="-77"/>
      </p:cViewPr>
      <p:guideLst>
        <p:guide orient="horz" pos="2236"/>
        <p:guide pos="322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8BAF9F37-5854-4267-A9F9-D08F7A8499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959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119563" y="531813"/>
            <a:ext cx="1997075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6FEBDB07-DF8E-4230-A39C-9DF0534D2E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6977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EBDB07-DF8E-4230-A39C-9DF0534D2E81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698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/>
          <a:p>
            <a:pPr eaLnBrk="0" hangingPunct="0"/>
            <a:r>
              <a:rPr lang="en-US" sz="800" dirty="0">
                <a:latin typeface="Arial" charset="0"/>
              </a:rPr>
              <a:t>Copyrights © Nanyang Polytechnic</a:t>
            </a:r>
            <a:r>
              <a:rPr lang="en-US" sz="800">
                <a:latin typeface="Arial" charset="0"/>
              </a:rPr>
              <a:t>, 2018</a:t>
            </a:r>
            <a:endParaRPr lang="en-US" sz="800" dirty="0">
              <a:latin typeface="Arial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GB" sz="1000" dirty="0"/>
              <a:t>IT1762 Data Structure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GB" sz="1000">
                <a:latin typeface="Arial" charset="0"/>
              </a:rPr>
              <a:t>page </a:t>
            </a:r>
            <a:fld id="{C75184DD-33B8-48F3-B2B1-33048F978B32}" type="slidenum">
              <a:rPr lang="en-GB" sz="1000">
                <a:latin typeface="Arial" charset="0"/>
              </a:rPr>
              <a:pPr algn="r"/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33281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3281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42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823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668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2838450" cy="6040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2133600"/>
            <a:ext cx="2838450" cy="6040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414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95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45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63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846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790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204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24438" y="468313"/>
            <a:ext cx="1490662" cy="770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5" y="468313"/>
            <a:ext cx="4322763" cy="770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8613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468313"/>
            <a:ext cx="58293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133600"/>
            <a:ext cx="2838450" cy="604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2133600"/>
            <a:ext cx="2838450" cy="604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14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6515100" cy="6502400"/>
            <a:chOff x="0" y="0"/>
            <a:chExt cx="5472" cy="3072"/>
          </a:xfrm>
        </p:grpSpPr>
        <p:sp>
          <p:nvSpPr>
            <p:cNvPr id="1034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1035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037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468313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58293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9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30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 anchor="ctr"/>
          <a:lstStyle/>
          <a:p>
            <a:pPr eaLnBrk="0" hangingPunct="0"/>
            <a:r>
              <a:rPr lang="en-US" sz="800" dirty="0">
                <a:latin typeface="Arial" charset="0"/>
              </a:rPr>
              <a:t>Copyrights © Nanyang Polytechnic, 2018		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 rot="5400000">
            <a:off x="-1188243" y="1367631"/>
            <a:ext cx="2852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GB" sz="1000"/>
              <a:t>IT1753 Principles of Computing PCMP</a:t>
            </a:r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GB" sz="1000">
                <a:latin typeface="Arial" charset="0"/>
              </a:rPr>
              <a:t>page </a:t>
            </a:r>
            <a:fld id="{93EE78DE-6A8C-4FE5-9F90-840875B749D6}" type="slidenum">
              <a:rPr lang="en-GB" sz="1000">
                <a:latin typeface="Arial" charset="0"/>
              </a:rPr>
              <a:pPr algn="r"/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1033" name="Text Box 13"/>
          <p:cNvSpPr txBox="1">
            <a:spLocks noChangeArrowheads="1"/>
          </p:cNvSpPr>
          <p:nvPr userDrawn="1"/>
        </p:nvSpPr>
        <p:spPr bwMode="auto">
          <a:xfrm>
            <a:off x="5013325" y="1692275"/>
            <a:ext cx="15636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GB" sz="1000">
                <a:latin typeface="Garamond" pitchFamily="18" charset="0"/>
              </a:rPr>
              <a:t> Methods with return values</a:t>
            </a: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/>
              <a:t>IT1762</a:t>
            </a:r>
            <a:br>
              <a:rPr lang="en-GB" sz="4000"/>
            </a:br>
            <a:r>
              <a:rPr lang="en-GB" sz="4000"/>
              <a:t>Data Structures &amp;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3575" y="5202238"/>
            <a:ext cx="5834063" cy="2336800"/>
          </a:xfrm>
        </p:spPr>
        <p:txBody>
          <a:bodyPr/>
          <a:lstStyle/>
          <a:p>
            <a:pPr eaLnBrk="1" hangingPunct="1"/>
            <a:r>
              <a:rPr lang="en-GB" dirty="0"/>
              <a:t>Topic 3B Methods  </a:t>
            </a:r>
          </a:p>
          <a:p>
            <a:pPr eaLnBrk="1" hangingPunct="1"/>
            <a:r>
              <a:rPr lang="en-GB" i="1" dirty="0">
                <a:solidFill>
                  <a:srgbClr val="FF0000"/>
                </a:solidFill>
              </a:rPr>
              <a:t> with Return Value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solidFill>
                  <a:srgbClr val="FF0000"/>
                </a:solidFill>
              </a:rPr>
              <a:t>Topics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effectLst>
                  <a:outerShdw blurRad="38100" dist="38100" dir="2700000" algn="tl">
                    <a:srgbClr val="FFFFFF"/>
                  </a:outerShdw>
                </a:effectLst>
              </a:rPr>
              <a:t>Methods with return values</a:t>
            </a:r>
          </a:p>
          <a:p>
            <a:pPr eaLnBrk="1" hangingPunct="1">
              <a:defRPr/>
            </a:pPr>
            <a:r>
              <a:rPr lang="en-GB">
                <a:effectLst>
                  <a:outerShdw blurRad="38100" dist="38100" dir="2700000" algn="tl">
                    <a:srgbClr val="FFFFFF"/>
                  </a:outerShdw>
                </a:effectLst>
              </a:rPr>
              <a:t>Passing data using parameters and return values</a:t>
            </a:r>
          </a:p>
          <a:p>
            <a:pPr eaLnBrk="1" hangingPunct="1"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Objectives:</a:t>
            </a:r>
          </a:p>
          <a:p>
            <a:pPr eaLnBrk="1" hangingPunct="1">
              <a:defRPr/>
            </a:pPr>
            <a:r>
              <a:rPr lang="en-GB"/>
              <a:t>Know how to return values from a method</a:t>
            </a:r>
          </a:p>
          <a:p>
            <a:pPr eaLnBrk="1" hangingPunct="1">
              <a:defRPr/>
            </a:pPr>
            <a:r>
              <a:rPr lang="en-GB"/>
              <a:t>Know how to make use of return values from methods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4101" name="Picture 5" descr="C:\Users\tanail\AppData\Local\Microsoft\Windows\Temporary Internet Files\Content.IE5\WOH74YVD\MC90033170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68" y="6261542"/>
            <a:ext cx="2986969" cy="2710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50825"/>
            <a:ext cx="6308725" cy="1524000"/>
          </a:xfrm>
          <a:noFill/>
        </p:spPr>
        <p:txBody>
          <a:bodyPr anchor="b"/>
          <a:lstStyle/>
          <a:p>
            <a:pPr eaLnBrk="1" hangingPunct="1"/>
            <a:r>
              <a:rPr lang="en-US"/>
              <a:t>Review : Passing data between methods</a:t>
            </a: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2638" y="2363788"/>
            <a:ext cx="5886450" cy="6384925"/>
          </a:xfrm>
        </p:spPr>
        <p:txBody>
          <a:bodyPr/>
          <a:lstStyle/>
          <a:p>
            <a:pPr marL="361950" indent="-361950" eaLnBrk="1" hangingPunct="1">
              <a:defRPr/>
            </a:pPr>
            <a:r>
              <a:rPr lang="en-US" dirty="0"/>
              <a:t>Methods can pass data to each other as follows: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  <a:defRPr/>
            </a:pPr>
            <a:r>
              <a:rPr lang="en-US" dirty="0"/>
              <a:t>Through Class Variables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  <a:defRPr/>
            </a:pPr>
            <a:r>
              <a:rPr lang="en-US" dirty="0"/>
              <a:t>By using Parameters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  <a:defRPr/>
            </a:pPr>
            <a:r>
              <a:rPr lang="en-US" b="1" dirty="0">
                <a:solidFill>
                  <a:srgbClr val="FF0000"/>
                </a:solidFill>
              </a:rPr>
              <a:t>By returning a value from a method.</a:t>
            </a:r>
          </a:p>
          <a:p>
            <a:pPr marL="361950" indent="-361950" eaLnBrk="1" hangingPunct="1">
              <a:defRPr/>
            </a:pPr>
            <a:r>
              <a:rPr lang="en-US" dirty="0"/>
              <a:t>We have covered 1) in IT1753</a:t>
            </a:r>
          </a:p>
          <a:p>
            <a:pPr marL="361950" indent="-361950" eaLnBrk="1" hangingPunct="1">
              <a:defRPr/>
            </a:pPr>
            <a:r>
              <a:rPr lang="en-US" dirty="0"/>
              <a:t>We have covered 2) in Topic 4a</a:t>
            </a:r>
          </a:p>
          <a:p>
            <a:pPr marL="762000" lvl="1" indent="-361950" eaLnBrk="1" hangingPunct="1">
              <a:defRPr/>
            </a:pPr>
            <a:r>
              <a:rPr lang="en-US" dirty="0"/>
              <a:t>Methods with passing parameter</a:t>
            </a:r>
          </a:p>
          <a:p>
            <a:pPr marL="361950" indent="-361950" eaLnBrk="1" hangingPunct="1">
              <a:defRPr/>
            </a:pPr>
            <a:r>
              <a:rPr lang="en-US" dirty="0"/>
              <a:t>We shall 3) in this session.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  <a:defRPr/>
            </a:pPr>
            <a:endParaRPr lang="en-US" dirty="0"/>
          </a:p>
          <a:p>
            <a:pPr marL="361950" indent="-361950" eaLnBrk="1" hangingPunct="1">
              <a:defRPr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92150" y="4284663"/>
            <a:ext cx="5761038" cy="82232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SG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323850"/>
            <a:ext cx="6308725" cy="11525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Structure of a </a:t>
            </a:r>
            <a:br>
              <a:rPr lang="en-US" dirty="0"/>
            </a:br>
            <a:r>
              <a:rPr lang="en-US" sz="3200" b="1" dirty="0"/>
              <a:t>Method with </a:t>
            </a:r>
            <a:r>
              <a:rPr lang="en-US" sz="3200" b="1" dirty="0">
                <a:solidFill>
                  <a:srgbClr val="FF0000"/>
                </a:solidFill>
              </a:rPr>
              <a:t>Parameter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3930650"/>
            <a:ext cx="6191250" cy="32273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private void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MethodName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parameter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 sz="2400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77838" y="2195513"/>
            <a:ext cx="2959100" cy="1946275"/>
            <a:chOff x="301" y="1427"/>
            <a:chExt cx="1994" cy="1182"/>
          </a:xfrm>
        </p:grpSpPr>
        <p:sp>
          <p:nvSpPr>
            <p:cNvPr id="6163" name="AutoShape 4"/>
            <p:cNvSpPr>
              <a:spLocks noChangeArrowheads="1"/>
            </p:cNvSpPr>
            <p:nvPr/>
          </p:nvSpPr>
          <p:spPr bwMode="auto">
            <a:xfrm>
              <a:off x="301" y="1427"/>
              <a:ext cx="1994" cy="910"/>
            </a:xfrm>
            <a:prstGeom prst="roundRect">
              <a:avLst>
                <a:gd name="adj" fmla="val 31046"/>
              </a:avLst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/>
                <a:t>return type: void means the method is not returning any value to the calling program.</a:t>
              </a:r>
            </a:p>
          </p:txBody>
        </p:sp>
        <p:sp>
          <p:nvSpPr>
            <p:cNvPr id="6164" name="Line 12"/>
            <p:cNvSpPr>
              <a:spLocks noChangeShapeType="1"/>
            </p:cNvSpPr>
            <p:nvPr/>
          </p:nvSpPr>
          <p:spPr bwMode="auto">
            <a:xfrm>
              <a:off x="1298" y="2337"/>
              <a:ext cx="0" cy="2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436938" y="2995613"/>
            <a:ext cx="2713037" cy="1023937"/>
            <a:chOff x="2387" y="2008"/>
            <a:chExt cx="1709" cy="645"/>
          </a:xfrm>
        </p:grpSpPr>
        <p:sp>
          <p:nvSpPr>
            <p:cNvPr id="6161" name="AutoShape 5"/>
            <p:cNvSpPr>
              <a:spLocks noChangeArrowheads="1"/>
            </p:cNvSpPr>
            <p:nvPr/>
          </p:nvSpPr>
          <p:spPr bwMode="auto">
            <a:xfrm>
              <a:off x="2478" y="2008"/>
              <a:ext cx="1618" cy="233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/>
                <a:t>Name of method</a:t>
              </a:r>
            </a:p>
          </p:txBody>
        </p:sp>
        <p:sp>
          <p:nvSpPr>
            <p:cNvPr id="6162" name="Line 14"/>
            <p:cNvSpPr>
              <a:spLocks noChangeShapeType="1"/>
            </p:cNvSpPr>
            <p:nvPr/>
          </p:nvSpPr>
          <p:spPr bwMode="auto">
            <a:xfrm flipH="1">
              <a:off x="2387" y="2245"/>
              <a:ext cx="862" cy="4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789363" y="4500563"/>
            <a:ext cx="2879725" cy="2252662"/>
            <a:chOff x="2387" y="2835"/>
            <a:chExt cx="1814" cy="1419"/>
          </a:xfrm>
        </p:grpSpPr>
        <p:grpSp>
          <p:nvGrpSpPr>
            <p:cNvPr id="6156" name="Group 10"/>
            <p:cNvGrpSpPr>
              <a:grpSpLocks/>
            </p:cNvGrpSpPr>
            <p:nvPr/>
          </p:nvGrpSpPr>
          <p:grpSpPr bwMode="auto">
            <a:xfrm>
              <a:off x="2387" y="2971"/>
              <a:ext cx="1814" cy="1283"/>
              <a:chOff x="1661" y="3863"/>
              <a:chExt cx="2495" cy="1283"/>
            </a:xfrm>
          </p:grpSpPr>
          <p:sp>
            <p:nvSpPr>
              <p:cNvPr id="6158" name="Oval 6"/>
              <p:cNvSpPr>
                <a:spLocks noChangeArrowheads="1"/>
              </p:cNvSpPr>
              <p:nvPr/>
            </p:nvSpPr>
            <p:spPr bwMode="auto">
              <a:xfrm>
                <a:off x="1661" y="3863"/>
                <a:ext cx="2475" cy="1283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GB"/>
                  <a:t>a pair of parentheses or round brackets to contain parameters</a:t>
                </a:r>
              </a:p>
            </p:txBody>
          </p:sp>
          <p:sp>
            <p:nvSpPr>
              <p:cNvPr id="6159" name="AutoShape 8"/>
              <p:cNvSpPr>
                <a:spLocks/>
              </p:cNvSpPr>
              <p:nvPr/>
            </p:nvSpPr>
            <p:spPr bwMode="auto">
              <a:xfrm>
                <a:off x="1661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60" name="AutoShape 9"/>
              <p:cNvSpPr>
                <a:spLocks/>
              </p:cNvSpPr>
              <p:nvPr/>
            </p:nvSpPr>
            <p:spPr bwMode="auto">
              <a:xfrm flipH="1">
                <a:off x="3838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7" name="Line 16"/>
            <p:cNvSpPr>
              <a:spLocks noChangeShapeType="1"/>
            </p:cNvSpPr>
            <p:nvPr/>
          </p:nvSpPr>
          <p:spPr bwMode="auto">
            <a:xfrm flipH="1" flipV="1">
              <a:off x="3022" y="2835"/>
              <a:ext cx="227" cy="317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476250" y="6011863"/>
            <a:ext cx="4318000" cy="1958975"/>
            <a:chOff x="300" y="3787"/>
            <a:chExt cx="2720" cy="1234"/>
          </a:xfrm>
        </p:grpSpPr>
        <p:sp>
          <p:nvSpPr>
            <p:cNvPr id="6154" name="AutoShape 11"/>
            <p:cNvSpPr>
              <a:spLocks noChangeArrowheads="1"/>
            </p:cNvSpPr>
            <p:nvPr/>
          </p:nvSpPr>
          <p:spPr bwMode="auto">
            <a:xfrm>
              <a:off x="300" y="4372"/>
              <a:ext cx="2720" cy="649"/>
            </a:xfrm>
            <a:prstGeom prst="bracePair">
              <a:avLst>
                <a:gd name="adj" fmla="val 1635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GB"/>
                <a:t>a pair of braces or curly brackets denote the method body containing C# statements</a:t>
              </a:r>
            </a:p>
          </p:txBody>
        </p:sp>
        <p:sp>
          <p:nvSpPr>
            <p:cNvPr id="6155" name="Line 19"/>
            <p:cNvSpPr>
              <a:spLocks noChangeShapeType="1"/>
            </p:cNvSpPr>
            <p:nvPr/>
          </p:nvSpPr>
          <p:spPr bwMode="auto">
            <a:xfrm flipH="1" flipV="1">
              <a:off x="482" y="3787"/>
              <a:ext cx="771" cy="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pic>
        <p:nvPicPr>
          <p:cNvPr id="6152" name="Picture 2" descr="C:\Users\tanail\AppData\Local\Microsoft\Windows\Temporary Internet Files\Content.IE5\IUCJNDU7\MC900441426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688" y="7308850"/>
            <a:ext cx="14700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TextBox 6"/>
          <p:cNvSpPr txBox="1">
            <a:spLocks noChangeArrowheads="1"/>
          </p:cNvSpPr>
          <p:nvPr/>
        </p:nvSpPr>
        <p:spPr bwMode="auto">
          <a:xfrm>
            <a:off x="2852738" y="8389938"/>
            <a:ext cx="3098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GB">
                <a:latin typeface="Aharoni" pitchFamily="2" charset="-79"/>
                <a:cs typeface="Aharoni" pitchFamily="2" charset="-79"/>
              </a:rPr>
              <a:t>[ Recap : What we </a:t>
            </a:r>
          </a:p>
          <a:p>
            <a:pPr eaLnBrk="1" hangingPunct="1"/>
            <a:r>
              <a:rPr lang="en-GB">
                <a:latin typeface="Aharoni" pitchFamily="2" charset="-79"/>
                <a:cs typeface="Aharoni" pitchFamily="2" charset="-79"/>
              </a:rPr>
              <a:t>have learnt in Topic 4A]</a:t>
            </a:r>
            <a:endParaRPr lang="en-SG">
              <a:latin typeface="Aharoni" pitchFamily="2" charset="-79"/>
              <a:cs typeface="Aharoni" pitchFamily="2" charset="-79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Constraint in</a:t>
            </a:r>
            <a:br>
              <a:rPr lang="en-GB"/>
            </a:br>
            <a:r>
              <a:rPr lang="en-US" sz="3200" b="1"/>
              <a:t>Method with </a:t>
            </a:r>
            <a:r>
              <a:rPr lang="en-US" sz="3200" b="1">
                <a:solidFill>
                  <a:srgbClr val="FF0000"/>
                </a:solidFill>
              </a:rPr>
              <a:t>Parameter</a:t>
            </a:r>
            <a:r>
              <a:rPr lang="en-GB" sz="3200"/>
              <a:t> </a:t>
            </a:r>
            <a:endParaRPr lang="en-SG" sz="320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5829300" cy="3662363"/>
          </a:xfrm>
        </p:spPr>
        <p:txBody>
          <a:bodyPr/>
          <a:lstStyle/>
          <a:p>
            <a:r>
              <a:rPr lang="en-GB" sz="2000"/>
              <a:t>Method with parameters allow us to pass values </a:t>
            </a:r>
            <a:r>
              <a:rPr lang="en-GB" sz="2000" i="1">
                <a:solidFill>
                  <a:schemeClr val="accent2"/>
                </a:solidFill>
              </a:rPr>
              <a:t>into</a:t>
            </a:r>
            <a:r>
              <a:rPr lang="en-GB" sz="2000"/>
              <a:t> method</a:t>
            </a:r>
          </a:p>
          <a:p>
            <a:r>
              <a:rPr lang="en-GB" sz="2000"/>
              <a:t>It allows method to made </a:t>
            </a:r>
            <a:r>
              <a:rPr lang="en-GB" sz="2000" i="1">
                <a:solidFill>
                  <a:srgbClr val="FF0000"/>
                </a:solidFill>
              </a:rPr>
              <a:t>copy</a:t>
            </a:r>
            <a:r>
              <a:rPr lang="en-GB" sz="2000"/>
              <a:t> of the values and use it</a:t>
            </a:r>
          </a:p>
          <a:p>
            <a:r>
              <a:rPr lang="en-GB" sz="2000"/>
              <a:t>BUT, often we need to code methods which perform a calculation and </a:t>
            </a:r>
            <a:r>
              <a:rPr lang="en-GB" sz="2000" i="1">
                <a:solidFill>
                  <a:schemeClr val="accent2"/>
                </a:solidFill>
              </a:rPr>
              <a:t>send</a:t>
            </a:r>
            <a:r>
              <a:rPr lang="en-GB" sz="2000"/>
              <a:t> a result back to the rest of the program</a:t>
            </a:r>
          </a:p>
          <a:p>
            <a:r>
              <a:rPr lang="en-GB" sz="2000"/>
              <a:t>So that we could use the result subsequent calculations.</a:t>
            </a:r>
          </a:p>
          <a:p>
            <a:r>
              <a:rPr lang="en-GB" sz="2000"/>
              <a:t>Let’s look at :</a:t>
            </a:r>
            <a:endParaRPr lang="en-SG" sz="2000"/>
          </a:p>
        </p:txBody>
      </p:sp>
      <p:sp>
        <p:nvSpPr>
          <p:cNvPr id="4" name="Rectangle 3"/>
          <p:cNvSpPr/>
          <p:nvPr/>
        </p:nvSpPr>
        <p:spPr>
          <a:xfrm>
            <a:off x="620713" y="5786438"/>
            <a:ext cx="5938837" cy="9540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/>
              <a:t>Method with </a:t>
            </a:r>
            <a:r>
              <a:rPr lang="en-US" sz="2800" b="1" dirty="0">
                <a:solidFill>
                  <a:srgbClr val="FF0000"/>
                </a:solidFill>
              </a:rPr>
              <a:t>Parameter </a:t>
            </a:r>
            <a:r>
              <a:rPr lang="en-US" sz="2800" b="1" dirty="0"/>
              <a:t>and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Return Value</a:t>
            </a:r>
            <a:r>
              <a:rPr lang="en-GB" sz="28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</a:t>
            </a:r>
            <a:endParaRPr lang="en-SG" sz="2800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3388" y="250825"/>
            <a:ext cx="6308725" cy="936625"/>
          </a:xfrm>
        </p:spPr>
        <p:txBody>
          <a:bodyPr/>
          <a:lstStyle/>
          <a:p>
            <a:pPr eaLnBrk="1" hangingPunct="1"/>
            <a:r>
              <a:rPr lang="en-US"/>
              <a:t>Structure of a</a:t>
            </a:r>
            <a:endParaRPr lang="en-GB" sz="3200" b="1">
              <a:solidFill>
                <a:srgbClr val="FF0000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3930650"/>
            <a:ext cx="6191250" cy="32273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Private </a:t>
            </a:r>
            <a:r>
              <a:rPr lang="en-GB" sz="24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MethodName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parameter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return __________;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 sz="2400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68313" y="2195513"/>
            <a:ext cx="3030537" cy="1908175"/>
            <a:chOff x="301" y="1450"/>
            <a:chExt cx="2182" cy="1159"/>
          </a:xfrm>
        </p:grpSpPr>
        <p:sp>
          <p:nvSpPr>
            <p:cNvPr id="8211" name="AutoShape 4"/>
            <p:cNvSpPr>
              <a:spLocks noChangeArrowheads="1"/>
            </p:cNvSpPr>
            <p:nvPr/>
          </p:nvSpPr>
          <p:spPr bwMode="auto">
            <a:xfrm>
              <a:off x="301" y="1450"/>
              <a:ext cx="2182" cy="861"/>
            </a:xfrm>
            <a:prstGeom prst="roundRect">
              <a:avLst>
                <a:gd name="adj" fmla="val 31046"/>
              </a:avLst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 sz="1400"/>
                <a:t>return data type: </a:t>
              </a:r>
              <a:r>
                <a:rPr lang="en-GB" sz="1400" b="1">
                  <a:solidFill>
                    <a:schemeClr val="accent2"/>
                  </a:solidFill>
                </a:rPr>
                <a:t>int</a:t>
              </a:r>
              <a:r>
                <a:rPr lang="en-GB" sz="1400"/>
                <a:t> means the method is returning an </a:t>
              </a:r>
              <a:r>
                <a:rPr lang="en-GB" sz="1400">
                  <a:solidFill>
                    <a:schemeClr val="accent2"/>
                  </a:solidFill>
                </a:rPr>
                <a:t>integer</a:t>
              </a:r>
              <a:r>
                <a:rPr lang="en-GB" sz="1400"/>
                <a:t> value to the calling program. It can be double, string, char etc</a:t>
              </a:r>
            </a:p>
          </p:txBody>
        </p:sp>
        <p:sp>
          <p:nvSpPr>
            <p:cNvPr id="8212" name="Line 12"/>
            <p:cNvSpPr>
              <a:spLocks noChangeShapeType="1"/>
            </p:cNvSpPr>
            <p:nvPr/>
          </p:nvSpPr>
          <p:spPr bwMode="auto">
            <a:xfrm>
              <a:off x="1298" y="2337"/>
              <a:ext cx="0" cy="2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44900" y="2995613"/>
            <a:ext cx="2713038" cy="1023937"/>
            <a:chOff x="2387" y="2008"/>
            <a:chExt cx="1709" cy="645"/>
          </a:xfrm>
        </p:grpSpPr>
        <p:sp>
          <p:nvSpPr>
            <p:cNvPr id="8209" name="AutoShape 5"/>
            <p:cNvSpPr>
              <a:spLocks noChangeArrowheads="1"/>
            </p:cNvSpPr>
            <p:nvPr/>
          </p:nvSpPr>
          <p:spPr bwMode="auto">
            <a:xfrm>
              <a:off x="2478" y="2008"/>
              <a:ext cx="1618" cy="233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/>
                <a:t>Name of method</a:t>
              </a:r>
            </a:p>
          </p:txBody>
        </p:sp>
        <p:sp>
          <p:nvSpPr>
            <p:cNvPr id="8210" name="Line 14"/>
            <p:cNvSpPr>
              <a:spLocks noChangeShapeType="1"/>
            </p:cNvSpPr>
            <p:nvPr/>
          </p:nvSpPr>
          <p:spPr bwMode="auto">
            <a:xfrm flipH="1">
              <a:off x="2387" y="2245"/>
              <a:ext cx="862" cy="4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789363" y="4500563"/>
            <a:ext cx="2879725" cy="1687512"/>
            <a:chOff x="2387" y="2835"/>
            <a:chExt cx="1814" cy="1063"/>
          </a:xfrm>
        </p:grpSpPr>
        <p:grpSp>
          <p:nvGrpSpPr>
            <p:cNvPr id="8204" name="Group 10"/>
            <p:cNvGrpSpPr>
              <a:grpSpLocks/>
            </p:cNvGrpSpPr>
            <p:nvPr/>
          </p:nvGrpSpPr>
          <p:grpSpPr bwMode="auto">
            <a:xfrm>
              <a:off x="2387" y="3325"/>
              <a:ext cx="1814" cy="573"/>
              <a:chOff x="1661" y="4217"/>
              <a:chExt cx="2495" cy="573"/>
            </a:xfrm>
          </p:grpSpPr>
          <p:sp>
            <p:nvSpPr>
              <p:cNvPr id="8206" name="Oval 6"/>
              <p:cNvSpPr>
                <a:spLocks noChangeArrowheads="1"/>
              </p:cNvSpPr>
              <p:nvPr/>
            </p:nvSpPr>
            <p:spPr bwMode="auto">
              <a:xfrm>
                <a:off x="1661" y="4217"/>
                <a:ext cx="2475" cy="573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GB" sz="1200"/>
                  <a:t>a pair of parentheses or round brackets to contain parameters</a:t>
                </a:r>
              </a:p>
            </p:txBody>
          </p:sp>
          <p:sp>
            <p:nvSpPr>
              <p:cNvPr id="8207" name="AutoShape 8"/>
              <p:cNvSpPr>
                <a:spLocks/>
              </p:cNvSpPr>
              <p:nvPr/>
            </p:nvSpPr>
            <p:spPr bwMode="auto">
              <a:xfrm>
                <a:off x="1661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8" name="AutoShape 9"/>
              <p:cNvSpPr>
                <a:spLocks/>
              </p:cNvSpPr>
              <p:nvPr/>
            </p:nvSpPr>
            <p:spPr bwMode="auto">
              <a:xfrm flipH="1">
                <a:off x="3838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05" name="Line 16"/>
            <p:cNvSpPr>
              <a:spLocks noChangeShapeType="1"/>
            </p:cNvSpPr>
            <p:nvPr/>
          </p:nvSpPr>
          <p:spPr bwMode="auto">
            <a:xfrm flipH="1" flipV="1">
              <a:off x="3022" y="2835"/>
              <a:ext cx="227" cy="317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68313" y="1042988"/>
            <a:ext cx="5938837" cy="9540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/>
              <a:t>Method with </a:t>
            </a:r>
            <a:r>
              <a:rPr lang="en-US" sz="2800" b="1" dirty="0">
                <a:solidFill>
                  <a:srgbClr val="FF0000"/>
                </a:solidFill>
              </a:rPr>
              <a:t>Parameter </a:t>
            </a:r>
            <a:r>
              <a:rPr lang="en-US" sz="2800" b="1" dirty="0"/>
              <a:t>and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Return Value</a:t>
            </a:r>
            <a:r>
              <a:rPr lang="en-GB" sz="28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</a:t>
            </a:r>
            <a:endParaRPr lang="en-SG" sz="2800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188913" y="8172450"/>
            <a:ext cx="6456362" cy="576263"/>
          </a:xfrm>
          <a:prstGeom prst="wedgeRoundRectCallout">
            <a:avLst>
              <a:gd name="adj1" fmla="val -24801"/>
              <a:gd name="adj2" fmla="val -714690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Type of item that the method will return  to the caller. </a:t>
            </a:r>
          </a:p>
          <a:p>
            <a:pPr algn="ctr">
              <a:defRPr/>
            </a:pP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Method can only return </a:t>
            </a:r>
            <a:r>
              <a:rPr lang="en-GB" b="1" dirty="0">
                <a:solidFill>
                  <a:schemeClr val="accent2"/>
                </a:solidFill>
              </a:rPr>
              <a:t>ONE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item or value</a:t>
            </a:r>
            <a:endParaRPr lang="en-SG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692696" y="6382593"/>
            <a:ext cx="6165304" cy="1501775"/>
            <a:chOff x="482" y="3787"/>
            <a:chExt cx="2579" cy="946"/>
          </a:xfrm>
        </p:grpSpPr>
        <p:sp>
          <p:nvSpPr>
            <p:cNvPr id="8202" name="AutoShape 11"/>
            <p:cNvSpPr>
              <a:spLocks noChangeArrowheads="1"/>
            </p:cNvSpPr>
            <p:nvPr/>
          </p:nvSpPr>
          <p:spPr bwMode="auto">
            <a:xfrm>
              <a:off x="1416" y="4110"/>
              <a:ext cx="1645" cy="623"/>
            </a:xfrm>
            <a:prstGeom prst="bracePair">
              <a:avLst>
                <a:gd name="adj" fmla="val 1635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en-GB" sz="1400"/>
                <a:t>a pair of braces or curly brackets denote the method body containing C# statements</a:t>
              </a:r>
            </a:p>
          </p:txBody>
        </p:sp>
        <p:sp>
          <p:nvSpPr>
            <p:cNvPr id="8203" name="Line 19"/>
            <p:cNvSpPr>
              <a:spLocks noChangeShapeType="1"/>
            </p:cNvSpPr>
            <p:nvPr/>
          </p:nvSpPr>
          <p:spPr bwMode="auto">
            <a:xfrm flipH="1" flipV="1">
              <a:off x="482" y="3787"/>
              <a:ext cx="1024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1979613"/>
            <a:ext cx="5832475" cy="6735762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2000" dirty="0"/>
              <a:t>	</a:t>
            </a:r>
            <a:r>
              <a:rPr lang="en-GB" sz="1800" dirty="0"/>
              <a:t>(a) Write a method </a:t>
            </a:r>
            <a:r>
              <a:rPr lang="en-GB" sz="1800" dirty="0" err="1"/>
              <a:t>CalculatePay</a:t>
            </a:r>
            <a:r>
              <a:rPr lang="en-GB" sz="1800" dirty="0"/>
              <a:t>( ) that </a:t>
            </a:r>
            <a:r>
              <a:rPr lang="en-GB" sz="1800" b="1" dirty="0">
                <a:solidFill>
                  <a:srgbClr val="FF0000"/>
                </a:solidFill>
              </a:rPr>
              <a:t>Receives</a:t>
            </a:r>
            <a:r>
              <a:rPr lang="en-GB" sz="1800" dirty="0"/>
              <a:t> a integer parameter , </a:t>
            </a:r>
            <a:r>
              <a:rPr lang="en-GB" sz="1800" i="1" dirty="0" err="1"/>
              <a:t>hrsWorked</a:t>
            </a:r>
            <a:r>
              <a:rPr lang="en-GB" sz="1800" dirty="0"/>
              <a:t> . It computes the pay and  </a:t>
            </a:r>
            <a:r>
              <a:rPr lang="en-GB" sz="1800" b="1" dirty="0">
                <a:solidFill>
                  <a:srgbClr val="FF0000"/>
                </a:solidFill>
              </a:rPr>
              <a:t>Returns </a:t>
            </a:r>
            <a:r>
              <a:rPr lang="en-GB" sz="1800" dirty="0"/>
              <a:t>the computed pay based on the following rules: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0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20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2000" dirty="0"/>
              <a:t>	</a:t>
            </a:r>
            <a:endParaRPr lang="en-GB" sz="2000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512763" y="323850"/>
            <a:ext cx="5940425" cy="1524000"/>
          </a:xfrm>
          <a:noFill/>
        </p:spPr>
        <p:txBody>
          <a:bodyPr/>
          <a:lstStyle/>
          <a:p>
            <a:pPr eaLnBrk="1" hangingPunct="1"/>
            <a:r>
              <a:rPr lang="en-US" sz="3600"/>
              <a:t>Example1:CalculatePay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42938" y="3708400"/>
            <a:ext cx="5976937" cy="3762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GB"/>
              <a:t> Pay = $12 per hour  x  number of hours worked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8050" y="5216525"/>
            <a:ext cx="5473700" cy="23083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SG" dirty="0"/>
              <a:t>private </a:t>
            </a:r>
            <a:r>
              <a:rPr lang="en-SG" b="1" dirty="0">
                <a:solidFill>
                  <a:srgbClr val="FF0000"/>
                </a:solidFill>
              </a:rPr>
              <a:t>float</a:t>
            </a:r>
            <a:r>
              <a:rPr lang="en-SG" dirty="0"/>
              <a:t> </a:t>
            </a:r>
            <a:r>
              <a:rPr lang="en-SG" dirty="0" err="1"/>
              <a:t>CalculatePay</a:t>
            </a:r>
            <a:r>
              <a:rPr lang="en-SG" dirty="0"/>
              <a:t>(</a:t>
            </a:r>
            <a:r>
              <a:rPr lang="en-SG" dirty="0" err="1"/>
              <a:t>int</a:t>
            </a:r>
            <a:r>
              <a:rPr lang="en-SG" dirty="0"/>
              <a:t> </a:t>
            </a:r>
            <a:r>
              <a:rPr lang="en-SG" dirty="0" err="1"/>
              <a:t>hrsWorked</a:t>
            </a:r>
            <a:r>
              <a:rPr lang="en-SG" dirty="0"/>
              <a:t>)</a:t>
            </a:r>
          </a:p>
          <a:p>
            <a:pPr>
              <a:defRPr/>
            </a:pPr>
            <a:r>
              <a:rPr lang="en-SG" dirty="0"/>
              <a:t> {</a:t>
            </a:r>
          </a:p>
          <a:p>
            <a:pPr>
              <a:defRPr/>
            </a:pPr>
            <a:r>
              <a:rPr lang="en-SG" dirty="0"/>
              <a:t>     </a:t>
            </a:r>
            <a:r>
              <a:rPr lang="en-SG" b="1" dirty="0">
                <a:solidFill>
                  <a:srgbClr val="FF0000"/>
                </a:solidFill>
              </a:rPr>
              <a:t>float</a:t>
            </a:r>
            <a:r>
              <a:rPr lang="en-SG" dirty="0"/>
              <a:t> </a:t>
            </a:r>
            <a:r>
              <a:rPr lang="en-SG" dirty="0">
                <a:solidFill>
                  <a:srgbClr val="0033CC"/>
                </a:solidFill>
              </a:rPr>
              <a:t>pay</a:t>
            </a:r>
            <a:r>
              <a:rPr lang="en-SG" dirty="0"/>
              <a:t>; // pay is </a:t>
            </a:r>
            <a:r>
              <a:rPr lang="en-SG" b="1" dirty="0">
                <a:solidFill>
                  <a:srgbClr val="FF0000"/>
                </a:solidFill>
              </a:rPr>
              <a:t>local variable</a:t>
            </a:r>
          </a:p>
          <a:p>
            <a:pPr>
              <a:defRPr/>
            </a:pPr>
            <a:endParaRPr lang="en-SG" dirty="0"/>
          </a:p>
          <a:p>
            <a:pPr>
              <a:defRPr/>
            </a:pPr>
            <a:r>
              <a:rPr lang="en-SG" dirty="0"/>
              <a:t>            </a:t>
            </a:r>
            <a:r>
              <a:rPr lang="en-SG" dirty="0">
                <a:solidFill>
                  <a:srgbClr val="0033CC"/>
                </a:solidFill>
              </a:rPr>
              <a:t>pay</a:t>
            </a:r>
            <a:r>
              <a:rPr lang="en-SG" dirty="0"/>
              <a:t> = </a:t>
            </a:r>
            <a:r>
              <a:rPr lang="en-SG" dirty="0" err="1"/>
              <a:t>hrsWorked</a:t>
            </a:r>
            <a:r>
              <a:rPr lang="en-SG" dirty="0"/>
              <a:t> * 12f;</a:t>
            </a:r>
          </a:p>
          <a:p>
            <a:pPr>
              <a:defRPr/>
            </a:pPr>
            <a:endParaRPr lang="en-SG" dirty="0"/>
          </a:p>
          <a:p>
            <a:pPr>
              <a:defRPr/>
            </a:pPr>
            <a:r>
              <a:rPr lang="en-SG" dirty="0"/>
              <a:t>            return </a:t>
            </a:r>
            <a:r>
              <a:rPr lang="en-SG" dirty="0">
                <a:solidFill>
                  <a:srgbClr val="0033CC"/>
                </a:solidFill>
              </a:rPr>
              <a:t>pay</a:t>
            </a:r>
            <a:r>
              <a:rPr lang="en-SG" dirty="0"/>
              <a:t>; </a:t>
            </a:r>
          </a:p>
          <a:p>
            <a:pPr>
              <a:defRPr/>
            </a:pPr>
            <a:r>
              <a:rPr lang="en-GB" dirty="0"/>
              <a:t>}</a:t>
            </a:r>
            <a:endParaRPr lang="en-SG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201613" y="7667823"/>
            <a:ext cx="6456362" cy="936625"/>
          </a:xfrm>
          <a:prstGeom prst="wedgeRoundRectCallout">
            <a:avLst>
              <a:gd name="adj1" fmla="val -22144"/>
              <a:gd name="adj2" fmla="val -98106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At the end of </a:t>
            </a:r>
            <a:r>
              <a:rPr lang="en-GB" sz="1400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CalculatePay</a:t>
            </a: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method, it returns pay to the calling method. </a:t>
            </a:r>
          </a:p>
          <a:p>
            <a:pPr algn="ctr">
              <a:defRPr/>
            </a:pP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Return type is a </a:t>
            </a:r>
            <a:r>
              <a:rPr lang="en-GB" sz="1400" b="1" dirty="0">
                <a:solidFill>
                  <a:srgbClr val="FF0000"/>
                </a:solidFill>
              </a:rPr>
              <a:t>float</a:t>
            </a: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, therefore pay MUST be </a:t>
            </a:r>
            <a:r>
              <a:rPr lang="en-GB" sz="1400" b="1" dirty="0">
                <a:solidFill>
                  <a:srgbClr val="FF0000"/>
                </a:solidFill>
              </a:rPr>
              <a:t>float</a:t>
            </a:r>
            <a:endParaRPr lang="en-SG" sz="1400" b="1" dirty="0">
              <a:solidFill>
                <a:srgbClr val="FF0000"/>
              </a:solidFill>
            </a:endParaRPr>
          </a:p>
        </p:txBody>
      </p:sp>
      <p:sp>
        <p:nvSpPr>
          <p:cNvPr id="9223" name="Line 14"/>
          <p:cNvSpPr>
            <a:spLocks noChangeShapeType="1"/>
          </p:cNvSpPr>
          <p:nvPr/>
        </p:nvSpPr>
        <p:spPr bwMode="auto">
          <a:xfrm flipH="1">
            <a:off x="4365625" y="4841875"/>
            <a:ext cx="398463" cy="4667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2592388" y="4386263"/>
            <a:ext cx="3944937" cy="4619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1200" dirty="0"/>
              <a:t>Method receives a integer parameter,  </a:t>
            </a:r>
            <a:r>
              <a:rPr lang="en-GB" sz="1200" dirty="0" err="1"/>
              <a:t>int</a:t>
            </a:r>
            <a:r>
              <a:rPr lang="en-GB" sz="1200" dirty="0"/>
              <a:t> </a:t>
            </a:r>
            <a:r>
              <a:rPr lang="en-GB" sz="1200" dirty="0" err="1"/>
              <a:t>hrsWorked</a:t>
            </a:r>
            <a:endParaRPr lang="en-GB" sz="1200" dirty="0"/>
          </a:p>
          <a:p>
            <a:pPr algn="ctr">
              <a:defRPr/>
            </a:pPr>
            <a:r>
              <a:rPr lang="en-GB" sz="1200" dirty="0" err="1"/>
              <a:t>hrsWorked</a:t>
            </a:r>
            <a:r>
              <a:rPr lang="en-GB" sz="1200" dirty="0"/>
              <a:t> is a local variable in </a:t>
            </a:r>
            <a:r>
              <a:rPr lang="en-GB" sz="1200" dirty="0" err="1"/>
              <a:t>CalculatePay</a:t>
            </a:r>
            <a:r>
              <a:rPr lang="en-GB" sz="1200" dirty="0"/>
              <a:t>()</a:t>
            </a:r>
            <a:endParaRPr lang="en-SG" sz="12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2051050"/>
            <a:ext cx="5832475" cy="237648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800"/>
              <a:t>	(b) Write a window application using button, textbox and label GUI. It reads in the hours worked from textbox, and call the method CalculatePay() and pass it the hours worked as an </a:t>
            </a:r>
            <a:r>
              <a:rPr lang="en-GB" sz="1800">
                <a:solidFill>
                  <a:srgbClr val="FF0000"/>
                </a:solidFill>
              </a:rPr>
              <a:t>ARGUMENT</a:t>
            </a:r>
            <a:r>
              <a:rPr lang="en-GB" sz="1800"/>
              <a:t>.  The program stored and display the computed value returned by the CalculatePay( ) method.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1800" i="1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>
          <a:xfrm>
            <a:off x="512763" y="323850"/>
            <a:ext cx="5940425" cy="1524000"/>
          </a:xfrm>
          <a:noFill/>
        </p:spPr>
        <p:txBody>
          <a:bodyPr/>
          <a:lstStyle/>
          <a:p>
            <a:pPr eaLnBrk="1" hangingPunct="1"/>
            <a:r>
              <a:rPr lang="en-US" sz="3600"/>
              <a:t>Example1:CalculatePay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250" y="4427538"/>
            <a:ext cx="5616575" cy="28019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SG" sz="1600" dirty="0"/>
              <a:t>private void </a:t>
            </a:r>
            <a:r>
              <a:rPr lang="en-SG" sz="1600" dirty="0" err="1"/>
              <a:t>btnCalculate_Click</a:t>
            </a:r>
            <a:r>
              <a:rPr lang="en-SG" sz="1600" dirty="0"/>
              <a:t>(object sender, </a:t>
            </a:r>
            <a:r>
              <a:rPr lang="en-SG" sz="1600" dirty="0" err="1"/>
              <a:t>EventArgs</a:t>
            </a:r>
            <a:r>
              <a:rPr lang="en-SG" sz="1600" dirty="0"/>
              <a:t> e)</a:t>
            </a:r>
          </a:p>
          <a:p>
            <a:pPr>
              <a:defRPr/>
            </a:pPr>
            <a:r>
              <a:rPr lang="en-SG" sz="1600" dirty="0"/>
              <a:t>        {</a:t>
            </a:r>
          </a:p>
          <a:p>
            <a:pPr>
              <a:defRPr/>
            </a:pPr>
            <a:r>
              <a:rPr lang="en-SG" sz="1600" dirty="0"/>
              <a:t>            </a:t>
            </a:r>
            <a:r>
              <a:rPr lang="en-SG" sz="1600" dirty="0" err="1"/>
              <a:t>int</a:t>
            </a:r>
            <a:r>
              <a:rPr lang="en-SG" sz="1600" dirty="0"/>
              <a:t> hour = </a:t>
            </a:r>
            <a:r>
              <a:rPr lang="en-SG" sz="1600" dirty="0" err="1"/>
              <a:t>int.Parse</a:t>
            </a:r>
            <a:r>
              <a:rPr lang="en-SG" sz="1600" dirty="0"/>
              <a:t>(</a:t>
            </a:r>
            <a:r>
              <a:rPr lang="en-SG" sz="1600" dirty="0" err="1"/>
              <a:t>txtHour.Text</a:t>
            </a:r>
            <a:r>
              <a:rPr lang="en-SG" sz="1600" dirty="0"/>
              <a:t>);</a:t>
            </a:r>
          </a:p>
          <a:p>
            <a:pPr>
              <a:defRPr/>
            </a:pPr>
            <a:r>
              <a:rPr lang="en-SG" sz="1600" dirty="0"/>
              <a:t>            float </a:t>
            </a:r>
            <a:r>
              <a:rPr lang="en-SG" sz="1600" dirty="0">
                <a:solidFill>
                  <a:srgbClr val="FF0000"/>
                </a:solidFill>
              </a:rPr>
              <a:t>result</a:t>
            </a:r>
            <a:r>
              <a:rPr lang="en-SG" sz="1600" dirty="0"/>
              <a:t>;</a:t>
            </a:r>
          </a:p>
          <a:p>
            <a:pPr>
              <a:defRPr/>
            </a:pPr>
            <a:endParaRPr lang="en-SG" sz="1600" dirty="0"/>
          </a:p>
          <a:p>
            <a:pPr>
              <a:defRPr/>
            </a:pPr>
            <a:r>
              <a:rPr lang="en-SG" sz="1600" dirty="0"/>
              <a:t>            // call method </a:t>
            </a:r>
          </a:p>
          <a:p>
            <a:pPr>
              <a:defRPr/>
            </a:pPr>
            <a:r>
              <a:rPr lang="en-SG" sz="1600" dirty="0"/>
              <a:t>	</a:t>
            </a:r>
            <a:r>
              <a:rPr lang="en-SG" sz="1600" dirty="0">
                <a:solidFill>
                  <a:srgbClr val="FF0000"/>
                </a:solidFill>
              </a:rPr>
              <a:t>result</a:t>
            </a:r>
            <a:r>
              <a:rPr lang="en-SG" sz="1600" dirty="0"/>
              <a:t> = </a:t>
            </a:r>
            <a:r>
              <a:rPr lang="en-SG" sz="1600" dirty="0" err="1"/>
              <a:t>CalculatePay</a:t>
            </a:r>
            <a:r>
              <a:rPr lang="en-SG" sz="1600" dirty="0"/>
              <a:t>(hour);</a:t>
            </a:r>
          </a:p>
          <a:p>
            <a:pPr>
              <a:defRPr/>
            </a:pPr>
            <a:endParaRPr lang="en-SG" sz="1600" dirty="0"/>
          </a:p>
          <a:p>
            <a:pPr>
              <a:defRPr/>
            </a:pPr>
            <a:r>
              <a:rPr lang="en-SG" sz="1600" dirty="0"/>
              <a:t>            </a:t>
            </a:r>
            <a:r>
              <a:rPr lang="en-SG" sz="1600" dirty="0" err="1"/>
              <a:t>lblResult.Text</a:t>
            </a:r>
            <a:r>
              <a:rPr lang="en-SG" sz="1600" dirty="0"/>
              <a:t> = "Pay is $" </a:t>
            </a:r>
            <a:r>
              <a:rPr lang="en-SG" sz="1600" dirty="0">
                <a:solidFill>
                  <a:srgbClr val="FF0000"/>
                </a:solidFill>
              </a:rPr>
              <a:t>+ result</a:t>
            </a:r>
            <a:r>
              <a:rPr lang="en-SG" sz="1600" dirty="0"/>
              <a:t>;</a:t>
            </a:r>
          </a:p>
          <a:p>
            <a:pPr>
              <a:defRPr/>
            </a:pPr>
            <a:endParaRPr lang="en-SG" sz="1600" dirty="0"/>
          </a:p>
          <a:p>
            <a:pPr>
              <a:defRPr/>
            </a:pPr>
            <a:r>
              <a:rPr lang="en-SG" sz="1600" dirty="0"/>
              <a:t>        }</a:t>
            </a:r>
          </a:p>
        </p:txBody>
      </p:sp>
      <p:pic>
        <p:nvPicPr>
          <p:cNvPr id="10245" name="Picture 1" descr="Form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368" y="6516216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ular Callout 6"/>
          <p:cNvSpPr/>
          <p:nvPr/>
        </p:nvSpPr>
        <p:spPr>
          <a:xfrm>
            <a:off x="171451" y="7524329"/>
            <a:ext cx="3905622" cy="1295822"/>
          </a:xfrm>
          <a:prstGeom prst="wedgeRoundRectCallout">
            <a:avLst>
              <a:gd name="adj1" fmla="val -23472"/>
              <a:gd name="adj2" fmla="val -44178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It calls </a:t>
            </a:r>
            <a:r>
              <a:rPr lang="en-GB" sz="1400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CalculatePay</a:t>
            </a: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method. It returns a float value and is stored in float variable, </a:t>
            </a:r>
            <a:r>
              <a:rPr lang="en-GB" sz="1400" b="1" dirty="0">
                <a:solidFill>
                  <a:srgbClr val="FF0000"/>
                </a:solidFill>
              </a:rPr>
              <a:t>result</a:t>
            </a: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. </a:t>
            </a:r>
          </a:p>
          <a:p>
            <a:pPr algn="ctr">
              <a:defRPr/>
            </a:pP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It is then display in </a:t>
            </a:r>
            <a:r>
              <a:rPr lang="en-GB" sz="1400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lblResult.Text</a:t>
            </a:r>
            <a:endParaRPr lang="en-SG" sz="1400" b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76250" y="6102351"/>
            <a:ext cx="942306" cy="14219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>
          <a:xfrm>
            <a:off x="549275" y="107504"/>
            <a:ext cx="5829300" cy="1884809"/>
          </a:xfrm>
        </p:spPr>
        <p:txBody>
          <a:bodyPr/>
          <a:lstStyle/>
          <a:p>
            <a:pPr eaLnBrk="1" hangingPunct="1"/>
            <a:r>
              <a:rPr lang="en-GB" sz="2800" dirty="0">
                <a:solidFill>
                  <a:srgbClr val="FF0000"/>
                </a:solidFill>
              </a:rPr>
              <a:t>Method Definition </a:t>
            </a:r>
            <a:br>
              <a:rPr lang="en-GB" sz="2800" dirty="0"/>
            </a:br>
            <a:r>
              <a:rPr lang="en-GB" dirty="0"/>
              <a:t>with parameters and return value</a:t>
            </a:r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77838" y="1979712"/>
            <a:ext cx="6264275" cy="6912421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Syntax :</a:t>
            </a:r>
          </a:p>
          <a:p>
            <a:pPr lvl="1" eaLnBrk="1" hangingPunct="1">
              <a:buSzPct val="85000"/>
              <a:buFontTx/>
              <a:buNone/>
              <a:defRPr/>
            </a:pPr>
            <a:endParaRPr lang="en-US" sz="1800" dirty="0">
              <a:latin typeface="Lucida Console" pitchFamily="49" charset="0"/>
            </a:endParaRPr>
          </a:p>
          <a:p>
            <a:pPr lvl="1" eaLnBrk="1" hangingPunct="1">
              <a:buSzPct val="85000"/>
              <a:buFontTx/>
              <a:buNone/>
              <a:defRPr/>
            </a:pPr>
            <a:endParaRPr lang="en-US" sz="1800" dirty="0">
              <a:latin typeface="Lucida Console" pitchFamily="49" charset="0"/>
            </a:endParaRPr>
          </a:p>
          <a:p>
            <a:pPr lvl="1" eaLnBrk="1" hangingPunct="1">
              <a:buSzPct val="85000"/>
              <a:buFontTx/>
              <a:buNone/>
              <a:defRPr/>
            </a:pPr>
            <a:r>
              <a:rPr lang="en-US" sz="1800" dirty="0">
                <a:latin typeface="Lucida Console" pitchFamily="49" charset="0"/>
              </a:rPr>
              <a:t>{</a:t>
            </a:r>
          </a:p>
          <a:p>
            <a:pPr lvl="1" eaLnBrk="1" hangingPunct="1">
              <a:buSzPct val="85000"/>
              <a:buFontTx/>
              <a:buNone/>
              <a:defRPr/>
            </a:pPr>
            <a:r>
              <a:rPr lang="en-US" sz="1800" dirty="0">
                <a:latin typeface="Lucida Console" pitchFamily="49" charset="0"/>
              </a:rPr>
              <a:t>		//statements;</a:t>
            </a:r>
          </a:p>
          <a:p>
            <a:pPr lvl="1" eaLnBrk="1" hangingPunct="1">
              <a:buSzPct val="85000"/>
              <a:buFontTx/>
              <a:buNone/>
              <a:defRPr/>
            </a:pPr>
            <a:r>
              <a:rPr lang="en-US" sz="1800" dirty="0">
                <a:latin typeface="Lucida Console" pitchFamily="49" charset="0"/>
              </a:rPr>
              <a:t>		…</a:t>
            </a:r>
          </a:p>
          <a:p>
            <a:pPr lvl="1" eaLnBrk="1" hangingPunct="1">
              <a:buSzPct val="85000"/>
              <a:buFontTx/>
              <a:buNone/>
              <a:defRPr/>
            </a:pPr>
            <a:r>
              <a:rPr lang="en-US" sz="1800" dirty="0">
                <a:latin typeface="Lucida Console" pitchFamily="49" charset="0"/>
              </a:rPr>
              <a:t> }</a:t>
            </a:r>
          </a:p>
          <a:p>
            <a:pPr eaLnBrk="1" hangingPunct="1">
              <a:defRPr/>
            </a:pPr>
            <a:r>
              <a:rPr lang="en-US" sz="1800" dirty="0"/>
              <a:t>Parameters are places that hold variable values from the calling program. They are declared (just like variables)</a:t>
            </a:r>
          </a:p>
          <a:p>
            <a:pPr eaLnBrk="1" hangingPunct="1">
              <a:defRPr/>
            </a:pPr>
            <a:r>
              <a:rPr lang="en-US" sz="1800" dirty="0"/>
              <a:t>They are </a:t>
            </a:r>
            <a:r>
              <a:rPr lang="en-US" sz="1800" b="1" u="sng" dirty="0"/>
              <a:t>LOCAL variables </a:t>
            </a:r>
            <a:r>
              <a:rPr lang="en-US" sz="1800" dirty="0"/>
              <a:t>to the Method</a:t>
            </a:r>
          </a:p>
          <a:p>
            <a:pPr eaLnBrk="1" hangingPunct="1">
              <a:defRPr/>
            </a:pPr>
            <a:r>
              <a:rPr lang="en-US" sz="1800" dirty="0"/>
              <a:t>Method computes the result</a:t>
            </a:r>
          </a:p>
          <a:p>
            <a:pPr eaLnBrk="1" hangingPunct="1">
              <a:defRPr/>
            </a:pPr>
            <a:r>
              <a:rPr lang="en-US" sz="1800" dirty="0"/>
              <a:t>Store result and </a:t>
            </a:r>
            <a:r>
              <a:rPr lang="en-US" sz="1800" b="1" u="sng" dirty="0"/>
              <a:t>return result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1800" dirty="0"/>
              <a:t> </a:t>
            </a:r>
            <a:endParaRPr lang="en-US" sz="1800" b="1" dirty="0"/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b="1" dirty="0"/>
              <a:t>private </a:t>
            </a:r>
            <a:r>
              <a:rPr lang="en-US" sz="1800" b="1" dirty="0">
                <a:solidFill>
                  <a:schemeClr val="accent2"/>
                </a:solidFill>
              </a:rPr>
              <a:t>float</a:t>
            </a:r>
            <a:r>
              <a:rPr lang="en-US" sz="1800" b="1" dirty="0"/>
              <a:t> </a:t>
            </a:r>
            <a:r>
              <a:rPr lang="en-US" sz="1800" b="1" dirty="0" err="1"/>
              <a:t>GetPay</a:t>
            </a:r>
            <a:r>
              <a:rPr lang="en-US" sz="1800" b="1" dirty="0"/>
              <a:t> ( </a:t>
            </a:r>
            <a:r>
              <a:rPr lang="en-US" sz="1800" b="1" dirty="0" err="1">
                <a:solidFill>
                  <a:srgbClr val="0033CC"/>
                </a:solidFill>
              </a:rPr>
              <a:t>int</a:t>
            </a:r>
            <a:r>
              <a:rPr lang="en-US" sz="1800" b="1" dirty="0"/>
              <a:t> </a:t>
            </a:r>
            <a:r>
              <a:rPr lang="en-US" sz="1800" b="1" dirty="0" err="1"/>
              <a:t>hoursWorked</a:t>
            </a:r>
            <a:r>
              <a:rPr lang="en-US" sz="1800" b="1" dirty="0"/>
              <a:t>)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b="1" dirty="0"/>
              <a:t>{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b="1" dirty="0"/>
              <a:t>	</a:t>
            </a:r>
            <a:r>
              <a:rPr lang="en-US" sz="1800" b="1" dirty="0">
                <a:solidFill>
                  <a:schemeClr val="accent2"/>
                </a:solidFill>
              </a:rPr>
              <a:t>float</a:t>
            </a:r>
            <a:r>
              <a:rPr lang="en-US" sz="1800" b="1" dirty="0"/>
              <a:t> result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dirty="0">
                <a:solidFill>
                  <a:srgbClr val="008080"/>
                </a:solidFill>
              </a:rPr>
              <a:t>// </a:t>
            </a:r>
            <a:r>
              <a:rPr lang="en-US" sz="1800" dirty="0" err="1">
                <a:solidFill>
                  <a:srgbClr val="008080"/>
                </a:solidFill>
              </a:rPr>
              <a:t>hoursWorked</a:t>
            </a:r>
            <a:r>
              <a:rPr lang="en-US" sz="1800" dirty="0">
                <a:solidFill>
                  <a:srgbClr val="008080"/>
                </a:solidFill>
              </a:rPr>
              <a:t> is a local variable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dirty="0">
                <a:solidFill>
                  <a:srgbClr val="008080"/>
                </a:solidFill>
              </a:rPr>
              <a:t>// compute result</a:t>
            </a: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dirty="0">
                <a:solidFill>
                  <a:srgbClr val="008080"/>
                </a:solidFill>
              </a:rPr>
              <a:t>	</a:t>
            </a:r>
            <a:r>
              <a:rPr lang="en-US" sz="1800" dirty="0"/>
              <a:t>return result;</a:t>
            </a:r>
            <a:endParaRPr lang="en-US" sz="1800" dirty="0">
              <a:solidFill>
                <a:srgbClr val="008080"/>
              </a:solidFill>
            </a:endParaRPr>
          </a:p>
          <a:p>
            <a:pPr marL="457200" lvl="1" indent="0" eaLnBrk="1" hangingPunct="1">
              <a:buFont typeface="Wingdings" pitchFamily="2" charset="2"/>
              <a:buNone/>
              <a:defRPr/>
            </a:pPr>
            <a:r>
              <a:rPr lang="en-US" sz="1800" dirty="0"/>
              <a:t>}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666750" y="2339975"/>
            <a:ext cx="61912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33CC"/>
                </a:solidFill>
              </a:rPr>
              <a:t>private  </a:t>
            </a:r>
            <a:r>
              <a:rPr lang="en-US" sz="2000" b="1" dirty="0" err="1">
                <a:solidFill>
                  <a:srgbClr val="0033CC"/>
                </a:solidFill>
              </a:rPr>
              <a:t>returntype</a:t>
            </a:r>
            <a:r>
              <a:rPr lang="en-US" sz="2000" b="1" dirty="0">
                <a:solidFill>
                  <a:srgbClr val="0033CC"/>
                </a:solidFill>
              </a:rPr>
              <a:t> </a:t>
            </a:r>
            <a:r>
              <a:rPr lang="en-US" sz="2000" b="1" dirty="0" err="1"/>
              <a:t>MethodName</a:t>
            </a:r>
            <a:r>
              <a:rPr lang="en-US" sz="2000" b="1" dirty="0"/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parameters</a:t>
            </a:r>
            <a:r>
              <a:rPr lang="en-US" sz="2000" b="1" dirty="0"/>
              <a:t>)</a:t>
            </a:r>
            <a:endParaRPr lang="en-GB" sz="2000" b="1" dirty="0"/>
          </a:p>
        </p:txBody>
      </p:sp>
      <p:sp>
        <p:nvSpPr>
          <p:cNvPr id="2" name="Rounded Rectangular Callout 1"/>
          <p:cNvSpPr/>
          <p:nvPr/>
        </p:nvSpPr>
        <p:spPr>
          <a:xfrm>
            <a:off x="4653136" y="6948265"/>
            <a:ext cx="1917997" cy="576064"/>
          </a:xfrm>
          <a:prstGeom prst="wedgeRoundRectCallout">
            <a:avLst>
              <a:gd name="adj1" fmla="val -40559"/>
              <a:gd name="adj2" fmla="val -114889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Parameter is </a:t>
            </a:r>
            <a:r>
              <a:rPr lang="en-GB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hoursWorked</a:t>
            </a:r>
            <a:endParaRPr lang="en-SG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4545123" y="5508104"/>
            <a:ext cx="2134021" cy="648072"/>
          </a:xfrm>
          <a:prstGeom prst="wedgeRoundRectCallout">
            <a:avLst>
              <a:gd name="adj1" fmla="val -118848"/>
              <a:gd name="adj2" fmla="val 69834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GetPay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is the method name</a:t>
            </a:r>
            <a:endParaRPr lang="en-SG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2492896" y="8439869"/>
            <a:ext cx="3600399" cy="596627"/>
          </a:xfrm>
          <a:prstGeom prst="wedgeRoundRectCallout">
            <a:avLst>
              <a:gd name="adj1" fmla="val -48034"/>
              <a:gd name="adj2" fmla="val -89546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chemeClr val="accent2"/>
                </a:solidFill>
              </a:rPr>
              <a:t>float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Value to be returned to the calling method</a:t>
            </a:r>
            <a:endParaRPr lang="en-SG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3573016" y="2195736"/>
            <a:ext cx="3106128" cy="432048"/>
          </a:xfrm>
          <a:prstGeom prst="wedgeRoundRectCallout">
            <a:avLst>
              <a:gd name="adj1" fmla="val -55439"/>
              <a:gd name="adj2" fmla="val 27853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accent2"/>
                </a:solidFill>
              </a:rPr>
              <a:t>It can be float, </a:t>
            </a:r>
            <a:r>
              <a:rPr lang="en-GB" sz="1400" dirty="0" err="1">
                <a:solidFill>
                  <a:schemeClr val="accent2"/>
                </a:solidFill>
              </a:rPr>
              <a:t>int</a:t>
            </a:r>
            <a:r>
              <a:rPr lang="en-GB" sz="1400" dirty="0">
                <a:solidFill>
                  <a:schemeClr val="accent2"/>
                </a:solidFill>
              </a:rPr>
              <a:t>, double, string…</a:t>
            </a:r>
            <a:endParaRPr lang="en-SG" sz="1400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500"/>
                                        <p:tgtEl>
                                          <p:spTgt spid="2785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785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2785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785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2785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27853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27853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1181100"/>
            <a:ext cx="5829300" cy="811213"/>
          </a:xfrm>
        </p:spPr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400" dirty="0"/>
              <a:t>Know how to pass data between methods using </a:t>
            </a:r>
            <a:r>
              <a:rPr lang="en-GB" sz="2400" dirty="0">
                <a:solidFill>
                  <a:srgbClr val="FF0000"/>
                </a:solidFill>
              </a:rPr>
              <a:t>Argument/Parameter</a:t>
            </a:r>
            <a:r>
              <a:rPr lang="en-GB" sz="2400" dirty="0"/>
              <a:t> passing and </a:t>
            </a:r>
            <a:r>
              <a:rPr lang="en-GB" sz="2400" dirty="0">
                <a:solidFill>
                  <a:srgbClr val="FF0000"/>
                </a:solidFill>
              </a:rPr>
              <a:t>Return</a:t>
            </a:r>
            <a:r>
              <a:rPr lang="en-GB" sz="2400" dirty="0"/>
              <a:t> value</a:t>
            </a:r>
          </a:p>
          <a:p>
            <a:pPr eaLnBrk="1" hangingPunct="1"/>
            <a:endParaRPr lang="en-GB" sz="2400" dirty="0"/>
          </a:p>
          <a:p>
            <a:pPr eaLnBrk="1" hangingPunct="1"/>
            <a:r>
              <a:rPr lang="en-GB" sz="2400" dirty="0"/>
              <a:t>In a void method </a:t>
            </a:r>
            <a:r>
              <a:rPr lang="en-GB" sz="2400" dirty="0" err="1"/>
              <a:t>ie</a:t>
            </a:r>
            <a:r>
              <a:rPr lang="en-GB" sz="2400" dirty="0"/>
              <a:t> there is no return value. </a:t>
            </a:r>
          </a:p>
          <a:p>
            <a:pPr eaLnBrk="1" hangingPunct="1"/>
            <a:endParaRPr lang="en-GB" sz="2400" dirty="0"/>
          </a:p>
          <a:p>
            <a:pPr eaLnBrk="1" hangingPunct="1"/>
            <a:r>
              <a:rPr lang="en-GB" sz="2400" dirty="0"/>
              <a:t>Method can only return </a:t>
            </a:r>
            <a:r>
              <a:rPr lang="en-GB" sz="2400" b="1" u="sng" dirty="0"/>
              <a:t>ONE</a:t>
            </a:r>
            <a:r>
              <a:rPr lang="en-GB" sz="2400" dirty="0"/>
              <a:t> value </a:t>
            </a:r>
          </a:p>
          <a:p>
            <a:pPr eaLnBrk="1" hangingPunct="1"/>
            <a:endParaRPr lang="en-GB" sz="2400" dirty="0"/>
          </a:p>
          <a:p>
            <a:pPr eaLnBrk="1" hangingPunct="1"/>
            <a:r>
              <a:rPr lang="en-GB" sz="2400" dirty="0"/>
              <a:t>The return statement allows the method to return the computed value to the calling method</a:t>
            </a:r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 the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Baveuse" pitchFamily="2" charset="0"/>
              </a:rPr>
              <a:t>ERRORs</a:t>
            </a:r>
            <a:endParaRPr lang="en-SG" dirty="0">
              <a:solidFill>
                <a:schemeClr val="bg2">
                  <a:lumMod val="50000"/>
                  <a:lumOff val="50000"/>
                </a:schemeClr>
              </a:solidFill>
              <a:latin typeface="Baveuse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5829300" cy="6254824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</a:t>
            </a:r>
            <a:r>
              <a:rPr lang="en-GB" sz="1800" dirty="0" err="1"/>
              <a:t>int</a:t>
            </a:r>
            <a:r>
              <a:rPr lang="en-GB" sz="1800" dirty="0"/>
              <a:t> </a:t>
            </a:r>
            <a:r>
              <a:rPr lang="en-GB" sz="1800" dirty="0" err="1"/>
              <a:t>MethodA</a:t>
            </a:r>
            <a:r>
              <a:rPr lang="en-GB" sz="1800" dirty="0"/>
              <a:t> (  x    )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result;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result = x + 5;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MessageBox.Show</a:t>
            </a:r>
            <a:r>
              <a:rPr lang="en-GB" sz="1800" dirty="0"/>
              <a:t>(“value is ” + result);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return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}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GB" sz="18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void  </a:t>
            </a:r>
            <a:r>
              <a:rPr lang="en-GB" sz="1800" dirty="0" err="1"/>
              <a:t>MethodB</a:t>
            </a:r>
            <a:r>
              <a:rPr lang="en-GB" sz="1800" dirty="0"/>
              <a:t>(   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y=10;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z;           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MethodA</a:t>
            </a:r>
            <a:r>
              <a:rPr lang="en-GB" sz="1800" dirty="0"/>
              <a:t>(y); // calling method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MessageBox.Show</a:t>
            </a:r>
            <a:r>
              <a:rPr lang="en-GB" sz="1800" dirty="0"/>
              <a:t>(“value is ” + z);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}</a:t>
            </a:r>
          </a:p>
          <a:p>
            <a:endParaRPr lang="en-GB" sz="1800" dirty="0"/>
          </a:p>
          <a:p>
            <a:endParaRPr lang="en-SG" sz="1800" dirty="0"/>
          </a:p>
        </p:txBody>
      </p:sp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64" y="7675108"/>
            <a:ext cx="1152128" cy="136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82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-Point Star 5"/>
          <p:cNvSpPr/>
          <p:nvPr/>
        </p:nvSpPr>
        <p:spPr>
          <a:xfrm>
            <a:off x="5014016" y="10750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 the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Baveuse" pitchFamily="2" charset="0"/>
              </a:rPr>
              <a:t>ERRORs</a:t>
            </a:r>
            <a:endParaRPr lang="en-SG" dirty="0">
              <a:solidFill>
                <a:schemeClr val="bg2">
                  <a:lumMod val="50000"/>
                  <a:lumOff val="50000"/>
                </a:schemeClr>
              </a:solidFill>
              <a:latin typeface="Baveuse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5829300" cy="6254824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</a:t>
            </a:r>
            <a:r>
              <a:rPr lang="en-GB" sz="1800" dirty="0" err="1"/>
              <a:t>int</a:t>
            </a:r>
            <a:r>
              <a:rPr lang="en-GB" sz="1800" dirty="0"/>
              <a:t> </a:t>
            </a:r>
            <a:r>
              <a:rPr lang="en-GB" sz="1800" dirty="0" err="1"/>
              <a:t>MethodA</a:t>
            </a:r>
            <a:r>
              <a:rPr lang="en-GB" sz="1800" dirty="0"/>
              <a:t> ( </a:t>
            </a:r>
            <a:r>
              <a:rPr lang="en-GB" sz="1800" b="1" dirty="0" err="1">
                <a:solidFill>
                  <a:schemeClr val="accent2"/>
                </a:solidFill>
              </a:rPr>
              <a:t>int</a:t>
            </a:r>
            <a:r>
              <a:rPr lang="en-GB" sz="1800" dirty="0"/>
              <a:t>  x    )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result;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result = x + 5;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MessageBox.Show</a:t>
            </a:r>
            <a:r>
              <a:rPr lang="en-GB" sz="1800" dirty="0"/>
              <a:t>(“value is ” + result);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return </a:t>
            </a:r>
            <a:r>
              <a:rPr lang="en-GB" sz="1800" b="1" dirty="0">
                <a:solidFill>
                  <a:schemeClr val="accent2"/>
                </a:solidFill>
              </a:rPr>
              <a:t>result</a:t>
            </a:r>
            <a:r>
              <a:rPr lang="en-GB" sz="1800" dirty="0"/>
              <a:t>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}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GB" sz="18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void  </a:t>
            </a:r>
            <a:r>
              <a:rPr lang="en-GB" sz="1800" dirty="0" err="1"/>
              <a:t>MethodB</a:t>
            </a:r>
            <a:r>
              <a:rPr lang="en-GB" sz="1800" dirty="0"/>
              <a:t>(   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y=10;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z;           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b="1" dirty="0">
                <a:solidFill>
                  <a:schemeClr val="accent2"/>
                </a:solidFill>
              </a:rPr>
              <a:t>z =</a:t>
            </a:r>
            <a:r>
              <a:rPr lang="en-GB" sz="1800" dirty="0"/>
              <a:t> </a:t>
            </a:r>
            <a:r>
              <a:rPr lang="en-GB" sz="1800" dirty="0" err="1"/>
              <a:t>MethodA</a:t>
            </a:r>
            <a:r>
              <a:rPr lang="en-GB" sz="1800" dirty="0"/>
              <a:t>(y); // calling method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MessageBox.Show</a:t>
            </a:r>
            <a:r>
              <a:rPr lang="en-GB" sz="1800" dirty="0"/>
              <a:t>(“value is ” + z);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}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}</a:t>
            </a:r>
          </a:p>
          <a:p>
            <a:endParaRPr lang="en-GB" sz="1800" dirty="0"/>
          </a:p>
          <a:p>
            <a:endParaRPr lang="en-SG" sz="1800" dirty="0"/>
          </a:p>
        </p:txBody>
      </p:sp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64" y="7668344"/>
            <a:ext cx="1152128" cy="136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92696" y="467544"/>
            <a:ext cx="10326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Answer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6557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468313"/>
            <a:ext cx="5829300" cy="1151359"/>
          </a:xfrm>
        </p:spPr>
        <p:txBody>
          <a:bodyPr/>
          <a:lstStyle/>
          <a:p>
            <a:pPr eaLnBrk="1" hangingPunct="1"/>
            <a:r>
              <a:rPr lang="en-GB" dirty="0"/>
              <a:t>Practical </a:t>
            </a:r>
            <a:r>
              <a:rPr lang="en-US" dirty="0"/>
              <a:t>3B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566" y="2051720"/>
            <a:ext cx="6188794" cy="4464496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Q1. Write a window application using simple GUI with textboxes, 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     labels, radio button to do the following: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600" dirty="0"/>
              <a:t>It reads a value from a textbox into a variable called </a:t>
            </a:r>
            <a:r>
              <a:rPr lang="en-US" sz="1600" i="1" dirty="0">
                <a:solidFill>
                  <a:schemeClr val="accent2"/>
                </a:solidFill>
              </a:rPr>
              <a:t>side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600" dirty="0"/>
              <a:t>User selects an option using radio button.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The options are </a:t>
            </a:r>
          </a:p>
          <a:p>
            <a:pPr marL="685800" lvl="1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>
                <a:solidFill>
                  <a:schemeClr val="accent2"/>
                </a:solidFill>
              </a:rPr>
              <a:t>Calculates </a:t>
            </a:r>
            <a:r>
              <a:rPr lang="en-US" sz="1600" i="1" dirty="0">
                <a:solidFill>
                  <a:schemeClr val="accent2"/>
                </a:solidFill>
              </a:rPr>
              <a:t>circumference</a:t>
            </a:r>
            <a:r>
              <a:rPr lang="en-US" sz="1600" dirty="0"/>
              <a:t>, </a:t>
            </a:r>
          </a:p>
          <a:p>
            <a:pPr marL="1085850" lvl="2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300" dirty="0"/>
              <a:t>where </a:t>
            </a:r>
            <a:r>
              <a:rPr lang="en-US" sz="1300" i="1" dirty="0"/>
              <a:t>circumference</a:t>
            </a:r>
            <a:r>
              <a:rPr lang="en-US" sz="1300" dirty="0"/>
              <a:t> = 4 * </a:t>
            </a:r>
            <a:r>
              <a:rPr lang="en-US" sz="1300" i="1" dirty="0"/>
              <a:t>side</a:t>
            </a:r>
            <a:r>
              <a:rPr lang="en-US" sz="1300" dirty="0"/>
              <a:t>. </a:t>
            </a:r>
          </a:p>
          <a:p>
            <a:pPr marL="685800" lvl="1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>
                <a:solidFill>
                  <a:schemeClr val="accent2"/>
                </a:solidFill>
              </a:rPr>
              <a:t>Calculates </a:t>
            </a:r>
            <a:r>
              <a:rPr lang="en-US" sz="1600" i="1" dirty="0">
                <a:solidFill>
                  <a:schemeClr val="accent2"/>
                </a:solidFill>
              </a:rPr>
              <a:t>area</a:t>
            </a:r>
            <a:r>
              <a:rPr lang="en-US" sz="1600" dirty="0"/>
              <a:t>, </a:t>
            </a:r>
          </a:p>
          <a:p>
            <a:pPr marL="1085850" lvl="2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300" dirty="0"/>
              <a:t>where </a:t>
            </a:r>
            <a:r>
              <a:rPr lang="en-US" sz="1300" i="1" dirty="0"/>
              <a:t>area</a:t>
            </a:r>
            <a:r>
              <a:rPr lang="en-US" sz="1300" dirty="0"/>
              <a:t> = </a:t>
            </a:r>
            <a:r>
              <a:rPr lang="en-US" sz="1300" i="1" dirty="0"/>
              <a:t>side * side</a:t>
            </a:r>
            <a:r>
              <a:rPr lang="en-US" sz="1300" dirty="0"/>
              <a:t>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c. When user clicks on Calculate button, it calls the respective method. The calling method computes the result and returns the result. It displays it using a label.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600" dirty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Both calculations of circumference and area are implemented as methods that </a:t>
            </a:r>
            <a:r>
              <a:rPr lang="en-US" sz="1600" b="1" dirty="0">
                <a:solidFill>
                  <a:srgbClr val="FF0000"/>
                </a:solidFill>
              </a:rPr>
              <a:t>receive</a:t>
            </a:r>
            <a:r>
              <a:rPr lang="en-US" sz="1600" dirty="0"/>
              <a:t> a parameter, double side and </a:t>
            </a:r>
            <a:r>
              <a:rPr lang="en-US" sz="1600" b="1" dirty="0">
                <a:solidFill>
                  <a:srgbClr val="FF0000"/>
                </a:solidFill>
              </a:rPr>
              <a:t>return</a:t>
            </a:r>
            <a:r>
              <a:rPr lang="en-US" sz="1600" dirty="0"/>
              <a:t> a double result.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600" dirty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Here is a sample code to help you!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GB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GB" altLang="zh-CN" sz="1400" dirty="0">
              <a:ea typeface="宋体" pitchFamily="2" charset="-122"/>
            </a:endParaRPr>
          </a:p>
        </p:txBody>
      </p:sp>
      <p:pic>
        <p:nvPicPr>
          <p:cNvPr id="5" name="Picture 3" descr="C:\Users\tanail\AppData\Local\Microsoft\Windows\Temporary Internet Files\Content.IE5\RXI7DR66\MC90043261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76" y="7659315"/>
            <a:ext cx="893308" cy="89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-Point Star 5"/>
          <p:cNvSpPr/>
          <p:nvPr/>
        </p:nvSpPr>
        <p:spPr>
          <a:xfrm>
            <a:off x="5018217" y="251520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555179" y="6228184"/>
            <a:ext cx="5823098" cy="12988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private double   </a:t>
            </a:r>
            <a:r>
              <a:rPr lang="en-GB" altLang="zh-CN" sz="1400" dirty="0" err="1">
                <a:ea typeface="宋体" pitchFamily="2" charset="-122"/>
              </a:rPr>
              <a:t>CalculateCircumference</a:t>
            </a:r>
            <a:r>
              <a:rPr lang="en-GB" altLang="zh-CN" sz="1400" dirty="0">
                <a:ea typeface="宋体" pitchFamily="2" charset="-122"/>
              </a:rPr>
              <a:t>( </a:t>
            </a:r>
            <a:r>
              <a:rPr lang="en-GB" altLang="zh-CN" sz="1400" b="1" dirty="0">
                <a:solidFill>
                  <a:srgbClr val="0033CC"/>
                </a:solidFill>
                <a:ea typeface="宋体" pitchFamily="2" charset="-122"/>
              </a:rPr>
              <a:t>___________  </a:t>
            </a:r>
            <a:r>
              <a:rPr lang="en-GB" altLang="zh-CN" sz="1400" dirty="0">
                <a:ea typeface="宋体" pitchFamily="2" charset="-122"/>
              </a:rPr>
              <a:t>)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{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	double ________________ ;	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	circumference = _________________ ;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	return _________________;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}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GB" altLang="zh-CN" sz="1400" dirty="0">
              <a:ea typeface="宋体" pitchFamily="2" charset="-122"/>
            </a:endParaRPr>
          </a:p>
        </p:txBody>
      </p:sp>
      <p:pic>
        <p:nvPicPr>
          <p:cNvPr id="10" name="Picture 9" descr="FormQ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45" y="6516216"/>
            <a:ext cx="228619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47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Practical </a:t>
            </a:r>
            <a:r>
              <a:rPr lang="en-US" dirty="0"/>
              <a:t>3B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76672" y="2051720"/>
            <a:ext cx="5832648" cy="1512168"/>
          </a:xfrm>
          <a:prstGeom prst="rect">
            <a:avLst/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SG" sz="1400" dirty="0"/>
              <a:t> private ________    </a:t>
            </a:r>
            <a:r>
              <a:rPr lang="en-SG" sz="1400" dirty="0" err="1"/>
              <a:t>CalculateArea</a:t>
            </a:r>
            <a:r>
              <a:rPr lang="en-SG" sz="1400" dirty="0"/>
              <a:t>(   </a:t>
            </a:r>
            <a:r>
              <a:rPr lang="en-GB" altLang="zh-CN" sz="1400" b="1" dirty="0">
                <a:solidFill>
                  <a:srgbClr val="0033CC"/>
                </a:solidFill>
                <a:ea typeface="宋体" pitchFamily="2" charset="-122"/>
              </a:rPr>
              <a:t>___________   </a:t>
            </a:r>
            <a:r>
              <a:rPr lang="en-SG" sz="1400" dirty="0"/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SG" sz="1400" dirty="0"/>
              <a:t>  {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SG" sz="1400" dirty="0"/>
              <a:t>	</a:t>
            </a:r>
            <a:r>
              <a:rPr lang="en-GB" altLang="zh-CN" sz="1400" dirty="0">
                <a:ea typeface="宋体" pitchFamily="2" charset="-122"/>
              </a:rPr>
              <a:t>double ________________ ;	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GB" altLang="zh-CN" sz="1400" dirty="0">
                <a:ea typeface="宋体" pitchFamily="2" charset="-122"/>
              </a:rPr>
              <a:t>	area = _________________ ;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GB" altLang="zh-CN" sz="1400" dirty="0">
                <a:ea typeface="宋体" pitchFamily="2" charset="-122"/>
              </a:rPr>
              <a:t>	return _________________;</a:t>
            </a:r>
            <a:endParaRPr lang="en-SG" sz="1400" dirty="0"/>
          </a:p>
          <a:p>
            <a:pPr marL="0" indent="0">
              <a:buFont typeface="Wingdings" pitchFamily="2" charset="2"/>
              <a:buNone/>
            </a:pPr>
            <a:r>
              <a:rPr lang="en-SG" sz="1400" dirty="0"/>
              <a:t> }</a:t>
            </a:r>
            <a:endParaRPr lang="en-SG" sz="2000" dirty="0"/>
          </a:p>
        </p:txBody>
      </p:sp>
      <p:sp>
        <p:nvSpPr>
          <p:cNvPr id="9" name="Rectangle 8"/>
          <p:cNvSpPr/>
          <p:nvPr/>
        </p:nvSpPr>
        <p:spPr>
          <a:xfrm>
            <a:off x="496863" y="3851920"/>
            <a:ext cx="5812457" cy="48320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dirty="0"/>
              <a:t> private void </a:t>
            </a:r>
            <a:r>
              <a:rPr lang="en-SG" sz="1400" dirty="0" err="1"/>
              <a:t>btnCalculate_Click</a:t>
            </a:r>
            <a:r>
              <a:rPr lang="en-SG" sz="1400" dirty="0"/>
              <a:t>(object sender, </a:t>
            </a:r>
            <a:r>
              <a:rPr lang="en-SG" sz="1400" dirty="0" err="1"/>
              <a:t>EventArgs</a:t>
            </a:r>
            <a:r>
              <a:rPr lang="en-SG" sz="1400" dirty="0"/>
              <a:t> e)</a:t>
            </a:r>
          </a:p>
          <a:p>
            <a:r>
              <a:rPr lang="en-SG" sz="1400" dirty="0"/>
              <a:t> {</a:t>
            </a:r>
          </a:p>
          <a:p>
            <a:r>
              <a:rPr lang="en-SG" sz="1400" dirty="0"/>
              <a:t>       double side = </a:t>
            </a:r>
            <a:r>
              <a:rPr lang="en-SG" sz="1400" dirty="0" err="1"/>
              <a:t>double.Parse</a:t>
            </a:r>
            <a:r>
              <a:rPr lang="en-SG" sz="1400" dirty="0"/>
              <a:t>(</a:t>
            </a:r>
            <a:r>
              <a:rPr lang="en-SG" sz="1400" dirty="0" err="1"/>
              <a:t>txtSide.Text</a:t>
            </a:r>
            <a:r>
              <a:rPr lang="en-SG" sz="1400" dirty="0"/>
              <a:t>);</a:t>
            </a:r>
          </a:p>
          <a:p>
            <a:r>
              <a:rPr lang="en-SG" sz="1400" dirty="0"/>
              <a:t>       double result = 0;</a:t>
            </a:r>
          </a:p>
          <a:p>
            <a:endParaRPr lang="en-SG" sz="1400" dirty="0"/>
          </a:p>
          <a:p>
            <a:r>
              <a:rPr lang="en-SG" sz="1400" dirty="0"/>
              <a:t>       if (</a:t>
            </a:r>
            <a:r>
              <a:rPr lang="en-SG" sz="1400" dirty="0" err="1"/>
              <a:t>rbtnCir.Checked</a:t>
            </a:r>
            <a:r>
              <a:rPr lang="en-SG" sz="1400" dirty="0"/>
              <a:t>== true)</a:t>
            </a:r>
          </a:p>
          <a:p>
            <a:r>
              <a:rPr lang="en-SG" sz="1400" dirty="0"/>
              <a:t>       {</a:t>
            </a:r>
          </a:p>
          <a:p>
            <a:r>
              <a:rPr lang="en-SG" sz="1400" dirty="0"/>
              <a:t>            // call method</a:t>
            </a:r>
          </a:p>
          <a:p>
            <a:r>
              <a:rPr lang="en-SG" sz="1400" dirty="0"/>
              <a:t>            ______ = </a:t>
            </a:r>
            <a:r>
              <a:rPr lang="en-SG" sz="1400" dirty="0" err="1"/>
              <a:t>CalculateCircumference</a:t>
            </a:r>
            <a:r>
              <a:rPr lang="en-SG" sz="1400" dirty="0"/>
              <a:t>(______);</a:t>
            </a:r>
          </a:p>
          <a:p>
            <a:r>
              <a:rPr lang="en-SG" sz="1400" dirty="0"/>
              <a:t>       }</a:t>
            </a:r>
          </a:p>
          <a:p>
            <a:r>
              <a:rPr lang="en-SG" sz="1400" dirty="0"/>
              <a:t>      else if  (</a:t>
            </a:r>
            <a:r>
              <a:rPr lang="en-SG" sz="1400" dirty="0" err="1"/>
              <a:t>rbtnArea.Checked</a:t>
            </a:r>
            <a:r>
              <a:rPr lang="en-SG" sz="1400" dirty="0"/>
              <a:t>== true)</a:t>
            </a:r>
          </a:p>
          <a:p>
            <a:r>
              <a:rPr lang="en-SG" sz="1400" dirty="0"/>
              <a:t>      {</a:t>
            </a:r>
          </a:p>
          <a:p>
            <a:r>
              <a:rPr lang="en-SG" sz="1400" dirty="0"/>
              <a:t>               ______ = </a:t>
            </a:r>
            <a:r>
              <a:rPr lang="en-SG" sz="1400" dirty="0" err="1"/>
              <a:t>CalculateArea</a:t>
            </a:r>
            <a:r>
              <a:rPr lang="en-SG" sz="1400" dirty="0"/>
              <a:t>(________);</a:t>
            </a:r>
          </a:p>
          <a:p>
            <a:r>
              <a:rPr lang="en-SG" sz="1400" dirty="0"/>
              <a:t>       }</a:t>
            </a:r>
          </a:p>
          <a:p>
            <a:r>
              <a:rPr lang="en-SG" sz="1400" dirty="0"/>
              <a:t>      else</a:t>
            </a:r>
          </a:p>
          <a:p>
            <a:r>
              <a:rPr lang="en-SG" sz="1400" dirty="0"/>
              <a:t>      {</a:t>
            </a:r>
          </a:p>
          <a:p>
            <a:r>
              <a:rPr lang="en-SG" sz="1400" dirty="0"/>
              <a:t>                </a:t>
            </a:r>
            <a:r>
              <a:rPr lang="en-SG" sz="1400" dirty="0" err="1"/>
              <a:t>MessageBox.Show</a:t>
            </a:r>
            <a:r>
              <a:rPr lang="en-SG" sz="1400" dirty="0"/>
              <a:t>("You did not select any radio button");</a:t>
            </a:r>
          </a:p>
          <a:p>
            <a:r>
              <a:rPr lang="en-SG" sz="1400" dirty="0"/>
              <a:t>       }</a:t>
            </a:r>
          </a:p>
          <a:p>
            <a:endParaRPr lang="en-SG" sz="1400" dirty="0"/>
          </a:p>
          <a:p>
            <a:r>
              <a:rPr lang="en-SG" sz="1400" dirty="0"/>
              <a:t>            </a:t>
            </a:r>
            <a:r>
              <a:rPr lang="en-SG" sz="1400" dirty="0" err="1"/>
              <a:t>lblResult.Text</a:t>
            </a:r>
            <a:r>
              <a:rPr lang="en-SG" sz="1400" dirty="0"/>
              <a:t> = "Computed value is " + result;</a:t>
            </a:r>
          </a:p>
          <a:p>
            <a:endParaRPr lang="en-SG" sz="1400" dirty="0"/>
          </a:p>
          <a:p>
            <a:r>
              <a:rPr lang="en-SG" sz="1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604887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8528" y="2123728"/>
            <a:ext cx="5892800" cy="4680520"/>
          </a:xfrm>
          <a:noFill/>
        </p:spPr>
        <p:txBody>
          <a:bodyPr lIns="90488" tIns="44450" rIns="90488" bIns="44450"/>
          <a:lstStyle/>
          <a:p>
            <a:pPr marL="0" indent="0" eaLnBrk="1" hangingPunct="1">
              <a:spcBef>
                <a:spcPct val="0"/>
              </a:spcBef>
              <a:buClr>
                <a:schemeClr val="tx1"/>
              </a:buClr>
              <a:buNone/>
            </a:pPr>
            <a:r>
              <a:rPr lang="en-GB" sz="1600" dirty="0"/>
              <a:t>Q2a) Write a method  </a:t>
            </a:r>
            <a:r>
              <a:rPr lang="en-GB" sz="1600" dirty="0" err="1"/>
              <a:t>CalculateGrade</a:t>
            </a:r>
            <a:r>
              <a:rPr lang="en-GB" sz="1600" dirty="0"/>
              <a:t>( ) that accepts a integer  </a:t>
            </a:r>
          </a:p>
          <a:p>
            <a:pPr marL="0" indent="0" eaLnBrk="1" hangingPunct="1">
              <a:spcBef>
                <a:spcPct val="0"/>
              </a:spcBef>
              <a:buClr>
                <a:schemeClr val="tx1"/>
              </a:buClr>
              <a:buNone/>
            </a:pPr>
            <a:r>
              <a:rPr lang="en-GB" sz="1600" dirty="0"/>
              <a:t>      student mark as a parameter, and </a:t>
            </a:r>
            <a:r>
              <a:rPr lang="en-GB" sz="1600" b="1" dirty="0">
                <a:solidFill>
                  <a:srgbClr val="FF0000"/>
                </a:solidFill>
              </a:rPr>
              <a:t>returns</a:t>
            </a:r>
            <a:r>
              <a:rPr lang="en-GB" sz="1600" dirty="0"/>
              <a:t> the computed </a:t>
            </a:r>
          </a:p>
          <a:p>
            <a:pPr marL="0" indent="0" eaLnBrk="1" hangingPunct="1">
              <a:spcBef>
                <a:spcPct val="0"/>
              </a:spcBef>
              <a:buClr>
                <a:schemeClr val="tx1"/>
              </a:buClr>
              <a:buNone/>
            </a:pPr>
            <a:r>
              <a:rPr lang="en-GB" sz="1600" dirty="0"/>
              <a:t>      Grade (</a:t>
            </a:r>
            <a:r>
              <a:rPr lang="en-GB" sz="1600" b="1" dirty="0"/>
              <a:t>P</a:t>
            </a:r>
            <a:r>
              <a:rPr lang="en-GB" sz="1600" dirty="0"/>
              <a:t> for pass or </a:t>
            </a:r>
            <a:r>
              <a:rPr lang="en-GB" sz="1600" b="1" dirty="0"/>
              <a:t>F</a:t>
            </a:r>
            <a:r>
              <a:rPr lang="en-GB" sz="1600" dirty="0"/>
              <a:t> for fail). A mark of 50 and above is </a:t>
            </a:r>
          </a:p>
          <a:p>
            <a:pPr marL="0" indent="0" eaLnBrk="1" hangingPunct="1">
              <a:spcBef>
                <a:spcPct val="0"/>
              </a:spcBef>
              <a:buClr>
                <a:schemeClr val="tx1"/>
              </a:buClr>
              <a:buNone/>
            </a:pPr>
            <a:r>
              <a:rPr lang="en-GB" sz="1600" dirty="0"/>
              <a:t>      pass, and below that is a fail. </a:t>
            </a:r>
          </a:p>
          <a:p>
            <a:pPr marL="457200" indent="-457200" eaLnBrk="1" hangingPunct="1">
              <a:spcBef>
                <a:spcPct val="0"/>
              </a:spcBef>
              <a:buFont typeface="Wingdings" pitchFamily="2" charset="2"/>
              <a:buNone/>
            </a:pPr>
            <a:endParaRPr lang="en-GB" sz="1600" dirty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GB" sz="1600" dirty="0"/>
              <a:t>2b) </a:t>
            </a:r>
            <a:r>
              <a:rPr lang="en-US" sz="1600" dirty="0"/>
              <a:t>Write a window application using simple GUI do the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      following: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/>
              <a:t>It reads in student’s Science subject mark from a textbox.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/>
              <a:t>User clicks on </a:t>
            </a:r>
            <a:r>
              <a:rPr lang="en-US" sz="1600" b="1" dirty="0"/>
              <a:t>Calculate Science Grade </a:t>
            </a:r>
            <a:r>
              <a:rPr lang="en-US" sz="1600" dirty="0"/>
              <a:t>button, it calls </a:t>
            </a:r>
            <a:r>
              <a:rPr lang="en-US" sz="1600" dirty="0" err="1"/>
              <a:t>CalculateGrade</a:t>
            </a:r>
            <a:r>
              <a:rPr lang="en-US" sz="1600" dirty="0"/>
              <a:t> method</a:t>
            </a:r>
            <a:r>
              <a:rPr lang="en-US" sz="1600" i="1" dirty="0"/>
              <a:t>. </a:t>
            </a:r>
            <a:r>
              <a:rPr lang="en-US" sz="1600" dirty="0"/>
              <a:t>It </a:t>
            </a:r>
            <a:r>
              <a:rPr lang="en-US" sz="1600" dirty="0">
                <a:solidFill>
                  <a:srgbClr val="FF0000"/>
                </a:solidFill>
              </a:rPr>
              <a:t>receives </a:t>
            </a:r>
            <a:r>
              <a:rPr lang="en-US" sz="1600" dirty="0"/>
              <a:t>the Science mark and </a:t>
            </a:r>
            <a:r>
              <a:rPr lang="en-US" sz="1600" dirty="0">
                <a:solidFill>
                  <a:schemeClr val="accent2"/>
                </a:solidFill>
              </a:rPr>
              <a:t>returns</a:t>
            </a:r>
            <a:r>
              <a:rPr lang="en-US" sz="1600" dirty="0"/>
              <a:t> the computed Grade.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/>
              <a:t>Program displays the computed grade for the science subject returned from the method in a label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endParaRPr lang="en-US" sz="1600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/>
              <a:t>It reads in student’s English subject mark from a textbox.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/>
              <a:t>User clicks on </a:t>
            </a:r>
            <a:r>
              <a:rPr lang="en-US" sz="1600" b="1" dirty="0"/>
              <a:t>Calculate English Grade </a:t>
            </a:r>
            <a:r>
              <a:rPr lang="en-US" sz="1600" dirty="0"/>
              <a:t>button, it calls </a:t>
            </a:r>
            <a:r>
              <a:rPr lang="en-US" sz="1600" dirty="0" err="1"/>
              <a:t>CalculateGrade</a:t>
            </a:r>
            <a:r>
              <a:rPr lang="en-US" sz="1600" dirty="0"/>
              <a:t> method</a:t>
            </a:r>
            <a:r>
              <a:rPr lang="en-US" sz="1600" i="1" dirty="0"/>
              <a:t>. </a:t>
            </a:r>
            <a:r>
              <a:rPr lang="en-US" sz="1600" dirty="0"/>
              <a:t>It </a:t>
            </a:r>
            <a:r>
              <a:rPr lang="en-US" sz="1600" dirty="0">
                <a:solidFill>
                  <a:srgbClr val="FF0000"/>
                </a:solidFill>
              </a:rPr>
              <a:t>receives </a:t>
            </a:r>
            <a:r>
              <a:rPr lang="en-US" sz="1600" dirty="0"/>
              <a:t>the English mark and </a:t>
            </a:r>
            <a:r>
              <a:rPr lang="en-US" sz="1600" dirty="0">
                <a:solidFill>
                  <a:schemeClr val="accent2"/>
                </a:solidFill>
              </a:rPr>
              <a:t>returns </a:t>
            </a:r>
            <a:r>
              <a:rPr lang="en-US" sz="1600" dirty="0"/>
              <a:t>the computed Grade.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/>
              <a:t>Program displays the computed grade for the English subject returned from the method in a label</a:t>
            </a:r>
            <a:endParaRPr lang="en-GB" sz="16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549275" y="395536"/>
            <a:ext cx="5829300" cy="1223367"/>
          </a:xfrm>
        </p:spPr>
        <p:txBody>
          <a:bodyPr/>
          <a:lstStyle/>
          <a:p>
            <a:pPr eaLnBrk="1" hangingPunct="1"/>
            <a:r>
              <a:rPr lang="en-GB" dirty="0"/>
              <a:t>Practical 3B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92696" y="1259632"/>
            <a:ext cx="439248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Method with parameter and return value – reusability of methods</a:t>
            </a:r>
            <a:endParaRPr lang="en-SG" dirty="0"/>
          </a:p>
        </p:txBody>
      </p:sp>
      <p:sp>
        <p:nvSpPr>
          <p:cNvPr id="5" name="5-Point Star 4"/>
          <p:cNvSpPr/>
          <p:nvPr/>
        </p:nvSpPr>
        <p:spPr>
          <a:xfrm>
            <a:off x="5014016" y="10750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" name="Picture 2" descr="FormQ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917" y="6732240"/>
            <a:ext cx="2286198" cy="22861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664" y="2051051"/>
            <a:ext cx="6237311" cy="6409381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400" dirty="0">
                <a:ea typeface="宋体" pitchFamily="2" charset="-122"/>
              </a:rPr>
              <a:t>Q3. W</a:t>
            </a:r>
            <a:r>
              <a:rPr lang="en-US" sz="1400" dirty="0"/>
              <a:t>rite a window application using simple GUI with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400" dirty="0"/>
              <a:t>     textboxes,  labels, button to do the following: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400" dirty="0">
                <a:ea typeface="宋体" pitchFamily="2" charset="-122"/>
              </a:rPr>
              <a:t>It reads in a name (</a:t>
            </a:r>
            <a:r>
              <a:rPr lang="en-US" altLang="zh-CN" sz="1400" dirty="0" err="1">
                <a:ea typeface="宋体" pitchFamily="2" charset="-122"/>
              </a:rPr>
              <a:t>e.g</a:t>
            </a:r>
            <a:r>
              <a:rPr lang="en-US" altLang="zh-CN" sz="1400" dirty="0">
                <a:ea typeface="宋体" pitchFamily="2" charset="-122"/>
              </a:rPr>
              <a:t> john),  the height (in </a:t>
            </a:r>
            <a:r>
              <a:rPr lang="en-US" altLang="zh-CN" sz="1400" dirty="0" err="1">
                <a:ea typeface="宋体" pitchFamily="2" charset="-122"/>
              </a:rPr>
              <a:t>metres</a:t>
            </a:r>
            <a:r>
              <a:rPr lang="en-US" altLang="zh-CN" sz="1400" dirty="0">
                <a:ea typeface="宋体" pitchFamily="2" charset="-122"/>
              </a:rPr>
              <a:t>) and weight (in kg) of John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400" dirty="0">
                <a:ea typeface="宋体" pitchFamily="2" charset="-122"/>
              </a:rPr>
              <a:t>User clicks on </a:t>
            </a:r>
            <a:r>
              <a:rPr lang="en-US" altLang="zh-CN" sz="1400" b="1" u="sng" dirty="0">
                <a:ea typeface="宋体" pitchFamily="2" charset="-122"/>
              </a:rPr>
              <a:t>Calculate BMI</a:t>
            </a:r>
            <a:r>
              <a:rPr lang="en-US" altLang="zh-CN" sz="1400" dirty="0">
                <a:ea typeface="宋体" pitchFamily="2" charset="-122"/>
              </a:rPr>
              <a:t>  button. It calls a method called </a:t>
            </a:r>
            <a:r>
              <a:rPr lang="en-US" altLang="zh-CN" sz="1400" i="1" dirty="0" err="1">
                <a:ea typeface="宋体" pitchFamily="2" charset="-122"/>
              </a:rPr>
              <a:t>CalculateBMI</a:t>
            </a:r>
            <a:r>
              <a:rPr lang="en-US" altLang="zh-CN" sz="1400" dirty="0">
                <a:ea typeface="宋体" pitchFamily="2" charset="-122"/>
              </a:rPr>
              <a:t>  that </a:t>
            </a:r>
            <a:r>
              <a:rPr lang="en-US" altLang="zh-CN" sz="1400" b="1" dirty="0">
                <a:solidFill>
                  <a:srgbClr val="FF0000"/>
                </a:solidFill>
                <a:ea typeface="宋体" pitchFamily="2" charset="-122"/>
              </a:rPr>
              <a:t>receives</a:t>
            </a:r>
            <a:r>
              <a:rPr lang="en-US" altLang="zh-CN" sz="1400" dirty="0">
                <a:ea typeface="宋体" pitchFamily="2" charset="-122"/>
              </a:rPr>
              <a:t> 2 parameters, the height and weight of John. It calculates the Body Mass Index (BMI) based on the following formula: </a:t>
            </a:r>
            <a:endParaRPr lang="en-US" altLang="zh-CN" sz="14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b="1" dirty="0">
                <a:ea typeface="宋体" pitchFamily="2" charset="-122"/>
              </a:rPr>
              <a:t>			BMI =</a:t>
            </a:r>
            <a:r>
              <a:rPr lang="en-US" altLang="zh-CN" sz="1400" b="1" u="sng" dirty="0">
                <a:ea typeface="宋体" pitchFamily="2" charset="-122"/>
              </a:rPr>
              <a:t>         weight (kg)          </a:t>
            </a:r>
            <a:br>
              <a:rPr lang="en-US" altLang="zh-CN" sz="1400" b="1" dirty="0">
                <a:ea typeface="宋体" pitchFamily="2" charset="-122"/>
              </a:rPr>
            </a:br>
            <a:r>
              <a:rPr lang="en-US" altLang="zh-CN" sz="1400" b="1" dirty="0">
                <a:ea typeface="宋体" pitchFamily="2" charset="-122"/>
              </a:rPr>
              <a:t>		         height (m) x height (m)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The </a:t>
            </a:r>
            <a:r>
              <a:rPr lang="en-US" altLang="zh-CN" sz="1400" i="1" dirty="0" err="1">
                <a:ea typeface="宋体" pitchFamily="2" charset="-122"/>
              </a:rPr>
              <a:t>CalculateBMI</a:t>
            </a:r>
            <a:r>
              <a:rPr lang="en-US" altLang="zh-CN" sz="1400" dirty="0">
                <a:ea typeface="宋体" pitchFamily="2" charset="-122"/>
              </a:rPr>
              <a:t> method displays the BMI value in a message box and </a:t>
            </a:r>
            <a:r>
              <a:rPr lang="en-US" altLang="zh-CN" sz="1400" b="1" dirty="0">
                <a:solidFill>
                  <a:schemeClr val="accent2"/>
                </a:solidFill>
                <a:ea typeface="宋体" pitchFamily="2" charset="-122"/>
              </a:rPr>
              <a:t>returns</a:t>
            </a:r>
            <a:r>
              <a:rPr lang="en-US" altLang="zh-CN" sz="1400" dirty="0">
                <a:ea typeface="宋体" pitchFamily="2" charset="-122"/>
              </a:rPr>
              <a:t> relevant message.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b="1" dirty="0">
                <a:ea typeface="宋体" pitchFamily="2" charset="-122"/>
              </a:rPr>
              <a:t>	BMI 			Message to display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Less than 18.5		Under weight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18.5 to below 25		Normal weight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25 to below 30		Overweight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30 and above		Obese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400" dirty="0">
                <a:ea typeface="宋体" pitchFamily="2" charset="-122"/>
              </a:rPr>
              <a:t>c. Program displays the name and  BMI message returned from the method in a label. See figure.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400" dirty="0">
              <a:ea typeface="宋体" pitchFamily="2" charset="-12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Try to run the application with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different input </a:t>
            </a:r>
            <a:r>
              <a:rPr lang="en-US" altLang="zh-CN" sz="1400" dirty="0" err="1">
                <a:ea typeface="宋体" pitchFamily="2" charset="-122"/>
              </a:rPr>
              <a:t>e.g</a:t>
            </a:r>
            <a:r>
              <a:rPr lang="en-US" altLang="zh-CN" sz="1400" dirty="0">
                <a:ea typeface="宋体" pitchFamily="2" charset="-122"/>
              </a:rPr>
              <a:t> name is Sally,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height is 1.7M and weight is 65kg.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By calling the same method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(</a:t>
            </a:r>
            <a:r>
              <a:rPr lang="en-US" altLang="zh-CN" sz="1400" dirty="0" err="1">
                <a:ea typeface="宋体" pitchFamily="2" charset="-122"/>
              </a:rPr>
              <a:t>CalculateBMI</a:t>
            </a:r>
            <a:r>
              <a:rPr lang="en-US" altLang="zh-CN" sz="1400" dirty="0">
                <a:ea typeface="宋体" pitchFamily="2" charset="-122"/>
              </a:rPr>
              <a:t>), the new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result will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1400" dirty="0">
                <a:ea typeface="宋体" pitchFamily="2" charset="-122"/>
              </a:rPr>
              <a:t>be displayed.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sz="14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935782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3B</a:t>
            </a:r>
          </a:p>
        </p:txBody>
      </p:sp>
      <p:sp>
        <p:nvSpPr>
          <p:cNvPr id="7" name="5-Point Star 6"/>
          <p:cNvSpPr/>
          <p:nvPr/>
        </p:nvSpPr>
        <p:spPr>
          <a:xfrm>
            <a:off x="5301208" y="539552"/>
            <a:ext cx="1127805" cy="109360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548680" y="1259632"/>
            <a:ext cx="439248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Method with parameter and return value – reusing methods</a:t>
            </a:r>
            <a:endParaRPr lang="en-SG" dirty="0"/>
          </a:p>
        </p:txBody>
      </p:sp>
      <p:pic>
        <p:nvPicPr>
          <p:cNvPr id="2" name="Picture 1" descr="FormQ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467" y="6516216"/>
            <a:ext cx="2339543" cy="2339543"/>
          </a:xfrm>
          <a:prstGeom prst="rect">
            <a:avLst/>
          </a:prstGeom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928" y="7380312"/>
            <a:ext cx="1577477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89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275" y="2123059"/>
            <a:ext cx="5829300" cy="626536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400" dirty="0">
                <a:ea typeface="宋体" pitchFamily="2" charset="-122"/>
              </a:rPr>
              <a:t>Q4. W</a:t>
            </a:r>
            <a:r>
              <a:rPr lang="en-US" sz="1400" dirty="0"/>
              <a:t>rite a method </a:t>
            </a:r>
            <a:r>
              <a:rPr lang="en-US" altLang="zh-CN" sz="1400" b="1" i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400" dirty="0">
                <a:ea typeface="宋体" pitchFamily="2" charset="-122"/>
              </a:rPr>
              <a:t> that </a:t>
            </a:r>
            <a:r>
              <a:rPr lang="en-US" altLang="zh-CN" sz="1400" b="1" dirty="0">
                <a:solidFill>
                  <a:srgbClr val="FF0000"/>
                </a:solidFill>
                <a:ea typeface="宋体" pitchFamily="2" charset="-122"/>
              </a:rPr>
              <a:t>receives</a:t>
            </a:r>
            <a:r>
              <a:rPr lang="en-US" altLang="zh-CN" sz="1400" dirty="0">
                <a:ea typeface="宋体" pitchFamily="2" charset="-122"/>
              </a:rPr>
              <a:t> 2 float parameters, </a:t>
            </a:r>
            <a:r>
              <a:rPr lang="en-US" altLang="zh-CN" sz="1400" b="1" dirty="0">
                <a:solidFill>
                  <a:schemeClr val="accent2"/>
                </a:solidFill>
                <a:ea typeface="宋体" pitchFamily="2" charset="-122"/>
              </a:rPr>
              <a:t>returns</a:t>
            </a:r>
            <a:r>
              <a:rPr lang="en-US" altLang="zh-CN" sz="1400" dirty="0">
                <a:ea typeface="宋体" pitchFamily="2" charset="-122"/>
              </a:rPr>
              <a:t> the greater float value to the calling method.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400" dirty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400" dirty="0"/>
              <a:t>Write a window application using simple GUI with textboxes,  labels, button to do the following: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400" dirty="0"/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400" dirty="0">
                <a:ea typeface="宋体" pitchFamily="2" charset="-122"/>
              </a:rPr>
              <a:t>It reads in weights (in KG) of 2 persons from 2 textboxes. 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400" dirty="0">
                <a:ea typeface="宋体" pitchFamily="2" charset="-122"/>
              </a:rPr>
              <a:t>User clicks on </a:t>
            </a:r>
            <a:r>
              <a:rPr lang="en-US" altLang="zh-CN" sz="1400" dirty="0" err="1">
                <a:ea typeface="宋体" pitchFamily="2" charset="-122"/>
              </a:rPr>
              <a:t>FindMaxWeight</a:t>
            </a:r>
            <a:r>
              <a:rPr lang="en-US" altLang="zh-CN" sz="1400" dirty="0">
                <a:ea typeface="宋体" pitchFamily="2" charset="-122"/>
              </a:rPr>
              <a:t>  button. It calls </a:t>
            </a:r>
            <a:r>
              <a:rPr lang="en-US" altLang="zh-CN" sz="1400" b="1" i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400" b="1" i="1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sz="1400" dirty="0">
                <a:ea typeface="宋体" pitchFamily="2" charset="-122"/>
              </a:rPr>
              <a:t>method</a:t>
            </a:r>
            <a:r>
              <a:rPr lang="en-US" altLang="zh-CN" sz="1400" b="1" i="1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sz="1400" dirty="0">
                <a:ea typeface="宋体" pitchFamily="2" charset="-122"/>
              </a:rPr>
              <a:t>and passes in the 2 weight variables. It displays the returned value (greater weight) in the label.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AutoNum type="alphaLcPeriod"/>
            </a:pPr>
            <a:r>
              <a:rPr lang="en-US" altLang="zh-CN" sz="1400" dirty="0">
                <a:ea typeface="宋体" pitchFamily="2" charset="-122"/>
              </a:rPr>
              <a:t>It reads in heights (in M) of 2 persons from 2 textboxes.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AutoNum type="alphaLcPeriod"/>
            </a:pPr>
            <a:r>
              <a:rPr lang="en-GB" sz="1400" dirty="0"/>
              <a:t>User clicks</a:t>
            </a:r>
            <a:r>
              <a:rPr lang="en-US" altLang="zh-CN" sz="1400" dirty="0">
                <a:ea typeface="宋体" pitchFamily="2" charset="-122"/>
              </a:rPr>
              <a:t> on </a:t>
            </a:r>
            <a:r>
              <a:rPr lang="en-US" altLang="zh-CN" sz="1400" dirty="0" err="1">
                <a:ea typeface="宋体" pitchFamily="2" charset="-122"/>
              </a:rPr>
              <a:t>FindMaxHeight</a:t>
            </a:r>
            <a:r>
              <a:rPr lang="en-US" altLang="zh-CN" sz="1400" dirty="0">
                <a:ea typeface="宋体" pitchFamily="2" charset="-122"/>
              </a:rPr>
              <a:t> button. It calls the above method </a:t>
            </a:r>
            <a:r>
              <a:rPr lang="en-US" altLang="zh-CN" sz="1400" b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400" dirty="0">
                <a:ea typeface="宋体" pitchFamily="2" charset="-122"/>
              </a:rPr>
              <a:t> method and passes in the 2 height values. It displays the returned value (greater height) in the label.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GB" sz="1400" dirty="0"/>
              <a:t>It reads in age of 2 persons (in Year) from 2 textboxes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GB" sz="1400" dirty="0"/>
              <a:t>User clicks</a:t>
            </a:r>
            <a:r>
              <a:rPr lang="en-US" altLang="zh-CN" sz="1400" dirty="0">
                <a:ea typeface="宋体" pitchFamily="2" charset="-122"/>
              </a:rPr>
              <a:t> on </a:t>
            </a:r>
            <a:r>
              <a:rPr lang="en-US" altLang="zh-CN" sz="1400" dirty="0" err="1">
                <a:ea typeface="宋体" pitchFamily="2" charset="-122"/>
              </a:rPr>
              <a:t>FindMaxAge</a:t>
            </a:r>
            <a:r>
              <a:rPr lang="en-US" altLang="zh-CN" sz="1400" dirty="0">
                <a:ea typeface="宋体" pitchFamily="2" charset="-122"/>
              </a:rPr>
              <a:t> button. It calls the above method </a:t>
            </a:r>
            <a:r>
              <a:rPr lang="en-US" altLang="zh-CN" sz="1400" b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400" dirty="0">
                <a:ea typeface="宋体" pitchFamily="2" charset="-122"/>
              </a:rPr>
              <a:t> and passes in the 2 age values . It displays the returned value (older age) in the label.</a:t>
            </a:r>
            <a:endParaRPr lang="en-GB" sz="14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144016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3B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25000"/>
                  </a:schemeClr>
                </a:solidFill>
              </a:rPr>
              <a:t>Reusability of method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373216" y="683568"/>
            <a:ext cx="1086313" cy="1053375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" name="Picture 2" descr="FormQ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67" y="6300192"/>
            <a:ext cx="5822185" cy="1623201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631612" y="8009866"/>
            <a:ext cx="5677708" cy="738598"/>
          </a:xfrm>
          <a:prstGeom prst="wedgeRoundRectCallout">
            <a:avLst>
              <a:gd name="adj1" fmla="val 2744"/>
              <a:gd name="adj2" fmla="val -12361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When user clicks on </a:t>
            </a:r>
            <a:r>
              <a:rPr lang="en-US" altLang="zh-CN" sz="1400" dirty="0" err="1">
                <a:ea typeface="宋体" pitchFamily="2" charset="-122"/>
              </a:rPr>
              <a:t>FindMaxHeight</a:t>
            </a:r>
            <a:r>
              <a:rPr lang="en-US" altLang="zh-CN" sz="1400" dirty="0">
                <a:ea typeface="宋体" pitchFamily="2" charset="-122"/>
              </a:rPr>
              <a:t>, it displays in a label with max height is 1.8 for 1.8 is bigger than 1.7.</a:t>
            </a:r>
          </a:p>
        </p:txBody>
      </p:sp>
    </p:spTree>
    <p:extLst>
      <p:ext uri="{BB962C8B-B14F-4D97-AF65-F5344CB8AC3E}">
        <p14:creationId xmlns:p14="http://schemas.microsoft.com/office/powerpoint/2010/main" val="550669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7164288"/>
            <a:ext cx="1368152" cy="161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275" y="2051050"/>
            <a:ext cx="5829300" cy="626536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Q5. From question 4, think about its a</a:t>
            </a:r>
            <a:r>
              <a:rPr lang="en-GB" sz="1600" dirty="0" err="1"/>
              <a:t>pplication</a:t>
            </a:r>
            <a:r>
              <a:rPr lang="en-GB" sz="1600" dirty="0"/>
              <a:t> : 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How many </a:t>
            </a:r>
            <a:r>
              <a:rPr lang="en-GB" sz="1600" dirty="0" err="1"/>
              <a:t>FindMax</a:t>
            </a:r>
            <a:r>
              <a:rPr lang="en-GB" sz="1600" dirty="0"/>
              <a:t> method did you write?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How many times did you call the </a:t>
            </a:r>
            <a:r>
              <a:rPr lang="en-GB" sz="1600" dirty="0" err="1"/>
              <a:t>FindMax</a:t>
            </a:r>
            <a:r>
              <a:rPr lang="en-GB" sz="1600" dirty="0"/>
              <a:t> method in the application?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Font typeface="Wingdings" pitchFamily="2" charset="2"/>
              <a:buAutoNum type="alphaLcPeriod"/>
            </a:pPr>
            <a:r>
              <a:rPr lang="en-GB" sz="1600" dirty="0"/>
              <a:t>Compare this solution with Practical 4A Q7, any difference? Which is better?</a:t>
            </a:r>
            <a:endParaRPr lang="en-SG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What did you observe in this program? How do you “reuse” Method?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144016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3B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25000"/>
                  </a:schemeClr>
                </a:solidFill>
              </a:rPr>
              <a:t>Reusability of method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085184" y="731088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864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 b="0"/>
              <a:t>IT1762</a:t>
            </a:r>
            <a:br>
              <a:rPr lang="en-GB" sz="4000" b="0"/>
            </a:br>
            <a:r>
              <a:rPr lang="en-GB" sz="4000" b="0"/>
              <a:t>Data Structures &amp;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3575" y="5202238"/>
            <a:ext cx="5834063" cy="2336800"/>
          </a:xfrm>
        </p:spPr>
        <p:txBody>
          <a:bodyPr/>
          <a:lstStyle/>
          <a:p>
            <a:pPr eaLnBrk="1" hangingPunct="1"/>
            <a:r>
              <a:rPr lang="en-GB" dirty="0"/>
              <a:t>End of </a:t>
            </a:r>
          </a:p>
          <a:p>
            <a:pPr eaLnBrk="1" hangingPunct="1"/>
            <a:r>
              <a:rPr lang="en-GB"/>
              <a:t>Topic 3B </a:t>
            </a:r>
            <a:r>
              <a:rPr lang="en-GB" dirty="0"/>
              <a:t>Methods  </a:t>
            </a:r>
          </a:p>
          <a:p>
            <a:pPr eaLnBrk="1" hangingPunct="1"/>
            <a:r>
              <a:rPr lang="en-GB" i="1" dirty="0">
                <a:solidFill>
                  <a:srgbClr val="FF0000"/>
                </a:solidFill>
              </a:rPr>
              <a:t> with Return Value</a:t>
            </a:r>
          </a:p>
        </p:txBody>
      </p:sp>
    </p:spTree>
    <p:extLst>
      <p:ext uri="{BB962C8B-B14F-4D97-AF65-F5344CB8AC3E}">
        <p14:creationId xmlns:p14="http://schemas.microsoft.com/office/powerpoint/2010/main" val="30003667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3279</TotalTime>
  <Words>1401</Words>
  <Application>Microsoft Office PowerPoint</Application>
  <PresentationFormat>On-screen Show (4:3)</PresentationFormat>
  <Paragraphs>285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Aharoni</vt:lpstr>
      <vt:lpstr>Baveuse</vt:lpstr>
      <vt:lpstr>宋体</vt:lpstr>
      <vt:lpstr>Arial</vt:lpstr>
      <vt:lpstr>Garamond</vt:lpstr>
      <vt:lpstr>Lucida Console</vt:lpstr>
      <vt:lpstr>Times New Roman</vt:lpstr>
      <vt:lpstr>Verdana</vt:lpstr>
      <vt:lpstr>Wingdings</vt:lpstr>
      <vt:lpstr>Layers</vt:lpstr>
      <vt:lpstr>IT1762 Data Structures &amp; Algorithms</vt:lpstr>
      <vt:lpstr>Topics</vt:lpstr>
      <vt:lpstr>Review : Passing data between methods</vt:lpstr>
      <vt:lpstr>Structure of a  Method with Parameter</vt:lpstr>
      <vt:lpstr>Constraint in Method with Parameter </vt:lpstr>
      <vt:lpstr>Structure of a</vt:lpstr>
      <vt:lpstr>Example1:CalculatePay</vt:lpstr>
      <vt:lpstr>Example1:CalculatePay</vt:lpstr>
      <vt:lpstr>Method Definition  with parameters and return value</vt:lpstr>
      <vt:lpstr>Summary</vt:lpstr>
      <vt:lpstr>Spot the ERRORs</vt:lpstr>
      <vt:lpstr>Spot the ERRORs</vt:lpstr>
      <vt:lpstr>Practical 3B</vt:lpstr>
      <vt:lpstr>Practical 3B</vt:lpstr>
      <vt:lpstr>Practical 3B</vt:lpstr>
      <vt:lpstr>Practical 3B</vt:lpstr>
      <vt:lpstr>Practical 3B Reusability of method</vt:lpstr>
      <vt:lpstr>Practical 3B Reusability of method</vt:lpstr>
      <vt:lpstr>IT1762 Data Structures &amp;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217</cp:revision>
  <dcterms:created xsi:type="dcterms:W3CDTF">2003-02-28T08:34:47Z</dcterms:created>
  <dcterms:modified xsi:type="dcterms:W3CDTF">2018-09-25T06:05:37Z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47A13DF6-9902-4A77-89B2-33D87C636FD7</vt:lpwstr>
  </property>
  <property fmtid="{D5CDD505-2E9C-101B-9397-08002B2CF9AE}" pid="3" name="ArticulatePath">
    <vt:lpwstr>IT1762 Topic 3B - Methods with return values</vt:lpwstr>
  </property>
</Properties>
</file>