
<file path=[Content_Types].xml><?xml version="1.0" encoding="utf-8"?>
<Types xmlns="http://schemas.openxmlformats.org/package/2006/content-types">
  <Default Extension="png" ContentType="image/png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431" r:id="rId4"/>
    <p:sldId id="438" r:id="rId5"/>
    <p:sldId id="415" r:id="rId6"/>
    <p:sldId id="434" r:id="rId7"/>
    <p:sldId id="464" r:id="rId8"/>
    <p:sldId id="461" r:id="rId9"/>
    <p:sldId id="462" r:id="rId10"/>
    <p:sldId id="463" r:id="rId11"/>
    <p:sldId id="419" r:id="rId12"/>
    <p:sldId id="423" r:id="rId13"/>
    <p:sldId id="405" r:id="rId14"/>
    <p:sldId id="435" r:id="rId15"/>
    <p:sldId id="465" r:id="rId16"/>
    <p:sldId id="466" r:id="rId17"/>
    <p:sldId id="444" r:id="rId18"/>
    <p:sldId id="433" r:id="rId19"/>
    <p:sldId id="425" r:id="rId20"/>
    <p:sldId id="428" r:id="rId21"/>
    <p:sldId id="445" r:id="rId22"/>
    <p:sldId id="446" r:id="rId23"/>
    <p:sldId id="448" r:id="rId24"/>
    <p:sldId id="447" r:id="rId25"/>
    <p:sldId id="449" r:id="rId26"/>
    <p:sldId id="450" r:id="rId27"/>
    <p:sldId id="471" r:id="rId28"/>
    <p:sldId id="472" r:id="rId29"/>
    <p:sldId id="473" r:id="rId30"/>
    <p:sldId id="474" r:id="rId31"/>
    <p:sldId id="475" r:id="rId32"/>
    <p:sldId id="476" r:id="rId33"/>
    <p:sldId id="295" r:id="rId34"/>
    <p:sldId id="439" r:id="rId35"/>
    <p:sldId id="453" r:id="rId36"/>
    <p:sldId id="454" r:id="rId37"/>
    <p:sldId id="455" r:id="rId38"/>
    <p:sldId id="459" r:id="rId39"/>
    <p:sldId id="456" r:id="rId40"/>
    <p:sldId id="457" r:id="rId41"/>
    <p:sldId id="436" r:id="rId42"/>
    <p:sldId id="451" r:id="rId43"/>
    <p:sldId id="437" r:id="rId44"/>
    <p:sldId id="458" r:id="rId45"/>
    <p:sldId id="460" r:id="rId46"/>
    <p:sldId id="443" r:id="rId47"/>
  </p:sldIdLst>
  <p:sldSz cx="6858000" cy="9144000" type="screen4x3"/>
  <p:notesSz cx="9874250" cy="6797675"/>
  <p:custDataLst>
    <p:tags r:id="rId5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8000"/>
    <a:srgbClr val="00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542" autoAdjust="0"/>
  </p:normalViewPr>
  <p:slideViewPr>
    <p:cSldViewPr snapToGrid="0">
      <p:cViewPr>
        <p:scale>
          <a:sx n="60" d="100"/>
          <a:sy n="60" d="100"/>
        </p:scale>
        <p:origin x="1344" y="-13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0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3BB9FE-7886-4E4F-BA43-1DE489F06BC7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773F39-6026-4CB6-A0F1-D165FB13F3CC}">
      <dgm:prSet phldrT="[Text]"/>
      <dgm:spPr/>
      <dgm:t>
        <a:bodyPr/>
        <a:lstStyle/>
        <a:p>
          <a:r>
            <a:rPr lang="en-US" dirty="0"/>
            <a:t>For</a:t>
          </a:r>
        </a:p>
      </dgm:t>
    </dgm:pt>
    <dgm:pt modelId="{13168573-1CA3-4E1C-B80C-9B9F35C43340}" type="parTrans" cxnId="{F1D13701-C2B4-488C-B98B-5B165A26C6A4}">
      <dgm:prSet/>
      <dgm:spPr/>
      <dgm:t>
        <a:bodyPr/>
        <a:lstStyle/>
        <a:p>
          <a:endParaRPr lang="en-US"/>
        </a:p>
      </dgm:t>
    </dgm:pt>
    <dgm:pt modelId="{E7E1D19D-CEFE-4E20-8229-2E6607B41C8F}" type="sibTrans" cxnId="{F1D13701-C2B4-488C-B98B-5B165A26C6A4}">
      <dgm:prSet/>
      <dgm:spPr/>
      <dgm:t>
        <a:bodyPr/>
        <a:lstStyle/>
        <a:p>
          <a:endParaRPr lang="en-US"/>
        </a:p>
      </dgm:t>
    </dgm:pt>
    <dgm:pt modelId="{BEFDD519-B11F-452C-8074-87C2E70F311A}">
      <dgm:prSet phldrT="[Text]"/>
      <dgm:spPr/>
      <dgm:t>
        <a:bodyPr/>
        <a:lstStyle/>
        <a:p>
          <a:r>
            <a:rPr lang="en-US" dirty="0"/>
            <a:t>For each</a:t>
          </a:r>
        </a:p>
      </dgm:t>
    </dgm:pt>
    <dgm:pt modelId="{BBFB74FE-5DFF-449B-9FD8-7EB5E1D82D00}" type="parTrans" cxnId="{F7D87A79-826E-4BCE-845C-A62C413D4E8B}">
      <dgm:prSet/>
      <dgm:spPr/>
      <dgm:t>
        <a:bodyPr/>
        <a:lstStyle/>
        <a:p>
          <a:endParaRPr lang="en-US"/>
        </a:p>
      </dgm:t>
    </dgm:pt>
    <dgm:pt modelId="{37FEAF44-00D2-428B-A8F5-2741E16B6310}" type="sibTrans" cxnId="{F7D87A79-826E-4BCE-845C-A62C413D4E8B}">
      <dgm:prSet/>
      <dgm:spPr/>
      <dgm:t>
        <a:bodyPr/>
        <a:lstStyle/>
        <a:p>
          <a:endParaRPr lang="en-US"/>
        </a:p>
      </dgm:t>
    </dgm:pt>
    <dgm:pt modelId="{75A188BD-7450-4E1C-AEAB-01ED35C77F96}">
      <dgm:prSet phldrT="[Text]" custT="1"/>
      <dgm:spPr>
        <a:noFill/>
        <a:ln cmpd="sng">
          <a:solidFill>
            <a:schemeClr val="tx1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Length</a:t>
          </a:r>
        </a:p>
      </dgm:t>
    </dgm:pt>
    <dgm:pt modelId="{4616CA93-5C76-4039-AB1E-D2E9893DFACB}" type="parTrans" cxnId="{6CF4EE48-7C4F-40EE-B3BE-2EA374330B77}">
      <dgm:prSet/>
      <dgm:spPr/>
      <dgm:t>
        <a:bodyPr/>
        <a:lstStyle/>
        <a:p>
          <a:endParaRPr lang="en-US"/>
        </a:p>
      </dgm:t>
    </dgm:pt>
    <dgm:pt modelId="{91E0A065-6AE6-407D-8B88-4263D049F637}" type="sibTrans" cxnId="{6CF4EE48-7C4F-40EE-B3BE-2EA374330B77}">
      <dgm:prSet/>
      <dgm:spPr/>
      <dgm:t>
        <a:bodyPr/>
        <a:lstStyle/>
        <a:p>
          <a:endParaRPr lang="en-US"/>
        </a:p>
      </dgm:t>
    </dgm:pt>
    <dgm:pt modelId="{65E0C35D-98E9-4611-A563-2DF5CE6BF201}">
      <dgm:prSet phldrT="[Text]"/>
      <dgm:spPr/>
      <dgm:t>
        <a:bodyPr/>
        <a:lstStyle/>
        <a:p>
          <a:r>
            <a:rPr lang="en-US" dirty="0" err="1"/>
            <a:t>Age.lenght</a:t>
          </a:r>
          <a:endParaRPr lang="en-US" dirty="0"/>
        </a:p>
      </dgm:t>
    </dgm:pt>
    <dgm:pt modelId="{4BA2BFD2-9C25-474D-A7E2-59A1F688285F}" type="parTrans" cxnId="{729630B5-A23A-4851-9126-1FF3C5533979}">
      <dgm:prSet/>
      <dgm:spPr/>
      <dgm:t>
        <a:bodyPr/>
        <a:lstStyle/>
        <a:p>
          <a:endParaRPr lang="en-US"/>
        </a:p>
      </dgm:t>
    </dgm:pt>
    <dgm:pt modelId="{6C7C01CF-6A25-4F3F-A177-D419D1D621E8}" type="sibTrans" cxnId="{729630B5-A23A-4851-9126-1FF3C5533979}">
      <dgm:prSet/>
      <dgm:spPr/>
      <dgm:t>
        <a:bodyPr/>
        <a:lstStyle/>
        <a:p>
          <a:endParaRPr lang="en-US"/>
        </a:p>
      </dgm:t>
    </dgm:pt>
    <dgm:pt modelId="{B0C76D7F-6453-4E2D-92DC-A922694AAE94}">
      <dgm:prSet phldrT="[Text]"/>
      <dgm:spPr/>
      <dgm:t>
        <a:bodyPr/>
        <a:lstStyle/>
        <a:p>
          <a:r>
            <a:rPr lang="en-US" dirty="0"/>
            <a:t>Num of element in array</a:t>
          </a:r>
        </a:p>
      </dgm:t>
    </dgm:pt>
    <dgm:pt modelId="{7A6384C9-D453-4B41-A16D-D4C7CA00004D}" type="parTrans" cxnId="{E0EF95CA-F151-4B7B-88A9-386F49F68381}">
      <dgm:prSet/>
      <dgm:spPr/>
      <dgm:t>
        <a:bodyPr/>
        <a:lstStyle/>
        <a:p>
          <a:endParaRPr lang="en-US"/>
        </a:p>
      </dgm:t>
    </dgm:pt>
    <dgm:pt modelId="{C3E43D7A-8FB5-49C3-ADE4-C58131364493}" type="sibTrans" cxnId="{E0EF95CA-F151-4B7B-88A9-386F49F68381}">
      <dgm:prSet/>
      <dgm:spPr/>
      <dgm:t>
        <a:bodyPr/>
        <a:lstStyle/>
        <a:p>
          <a:endParaRPr lang="en-US"/>
        </a:p>
      </dgm:t>
    </dgm:pt>
    <dgm:pt modelId="{05696015-6C9F-403E-B83B-240CE3A2A6B4}">
      <dgm:prSet phldrT="[Text]" custT="1"/>
      <dgm:spPr>
        <a:noFill/>
        <a:ln cmpd="sng">
          <a:solidFill>
            <a:schemeClr val="tx1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Apply </a:t>
          </a:r>
        </a:p>
      </dgm:t>
    </dgm:pt>
    <dgm:pt modelId="{7EFFB578-F911-4CE7-8A21-A77343405B73}" type="parTrans" cxnId="{F62C33C4-1CB9-41CF-A6E2-E8AA197DE092}">
      <dgm:prSet/>
      <dgm:spPr/>
      <dgm:t>
        <a:bodyPr/>
        <a:lstStyle/>
        <a:p>
          <a:endParaRPr lang="en-US"/>
        </a:p>
      </dgm:t>
    </dgm:pt>
    <dgm:pt modelId="{8EDA85C7-2392-4633-854A-41C875F21519}" type="sibTrans" cxnId="{F62C33C4-1CB9-41CF-A6E2-E8AA197DE092}">
      <dgm:prSet/>
      <dgm:spPr/>
      <dgm:t>
        <a:bodyPr/>
        <a:lstStyle/>
        <a:p>
          <a:endParaRPr lang="en-US"/>
        </a:p>
      </dgm:t>
    </dgm:pt>
    <dgm:pt modelId="{9F193F80-BB26-41C4-AAE7-1D169A2AEB7A}">
      <dgm:prSet phldrT="[Text]"/>
      <dgm:spPr/>
      <dgm:t>
        <a:bodyPr/>
        <a:lstStyle/>
        <a:p>
          <a:r>
            <a:rPr lang="en-US" dirty="0"/>
            <a:t>Find element/ search</a:t>
          </a:r>
        </a:p>
      </dgm:t>
    </dgm:pt>
    <dgm:pt modelId="{C06F685C-D57A-49A8-949E-4B4157946E75}" type="parTrans" cxnId="{EA43292F-C9D6-4562-A6CC-F760C983130C}">
      <dgm:prSet/>
      <dgm:spPr/>
      <dgm:t>
        <a:bodyPr/>
        <a:lstStyle/>
        <a:p>
          <a:endParaRPr lang="en-US"/>
        </a:p>
      </dgm:t>
    </dgm:pt>
    <dgm:pt modelId="{75F2BAB3-FE1E-4BB9-9591-911985E55931}" type="sibTrans" cxnId="{EA43292F-C9D6-4562-A6CC-F760C983130C}">
      <dgm:prSet/>
      <dgm:spPr/>
      <dgm:t>
        <a:bodyPr/>
        <a:lstStyle/>
        <a:p>
          <a:endParaRPr lang="en-US"/>
        </a:p>
      </dgm:t>
    </dgm:pt>
    <dgm:pt modelId="{9AA75C6B-AD70-4C47-BD9F-BD428842A7FF}">
      <dgm:prSet phldrT="[Text]"/>
      <dgm:spPr/>
      <dgm:t>
        <a:bodyPr/>
        <a:lstStyle/>
        <a:p>
          <a:r>
            <a:rPr lang="en-US" dirty="0"/>
            <a:t>Find average / sum</a:t>
          </a:r>
        </a:p>
      </dgm:t>
    </dgm:pt>
    <dgm:pt modelId="{9DB29AD8-109B-400E-B328-02049BC68E64}" type="parTrans" cxnId="{18266396-E7A2-4AC2-9E46-DA75BE1E1994}">
      <dgm:prSet/>
      <dgm:spPr/>
      <dgm:t>
        <a:bodyPr/>
        <a:lstStyle/>
        <a:p>
          <a:endParaRPr lang="en-US"/>
        </a:p>
      </dgm:t>
    </dgm:pt>
    <dgm:pt modelId="{A72E0B5C-8CE9-4FC5-999B-6E1DE7911765}" type="sibTrans" cxnId="{18266396-E7A2-4AC2-9E46-DA75BE1E1994}">
      <dgm:prSet/>
      <dgm:spPr/>
      <dgm:t>
        <a:bodyPr/>
        <a:lstStyle/>
        <a:p>
          <a:endParaRPr lang="en-US"/>
        </a:p>
      </dgm:t>
    </dgm:pt>
    <dgm:pt modelId="{586004D6-984F-4DB0-8A53-DADF868F9152}">
      <dgm:prSet phldrT="[Text]"/>
      <dgm:spPr/>
      <dgm:t>
        <a:bodyPr/>
        <a:lstStyle/>
        <a:p>
          <a:r>
            <a:rPr lang="en-US" dirty="0"/>
            <a:t>Find max &amp; min</a:t>
          </a:r>
        </a:p>
      </dgm:t>
    </dgm:pt>
    <dgm:pt modelId="{661953CF-A3D1-462A-B6F1-1476393CF670}" type="parTrans" cxnId="{1435AB4D-4E08-43AD-9527-1874E0A2BF7F}">
      <dgm:prSet/>
      <dgm:spPr/>
      <dgm:t>
        <a:bodyPr/>
        <a:lstStyle/>
        <a:p>
          <a:endParaRPr lang="en-US"/>
        </a:p>
      </dgm:t>
    </dgm:pt>
    <dgm:pt modelId="{C051B36F-CAE8-48D7-9B56-CE205D3D552E}" type="sibTrans" cxnId="{1435AB4D-4E08-43AD-9527-1874E0A2BF7F}">
      <dgm:prSet/>
      <dgm:spPr/>
      <dgm:t>
        <a:bodyPr/>
        <a:lstStyle/>
        <a:p>
          <a:endParaRPr lang="en-US"/>
        </a:p>
      </dgm:t>
    </dgm:pt>
    <dgm:pt modelId="{88BE42BC-4463-4531-B1C7-00797AC39378}">
      <dgm:prSet phldrT="[Text]" custT="1"/>
      <dgm:spPr>
        <a:noFill/>
        <a:ln cmpd="sng">
          <a:solidFill>
            <a:schemeClr val="tx1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Parallel processing</a:t>
          </a:r>
        </a:p>
      </dgm:t>
    </dgm:pt>
    <dgm:pt modelId="{4980CAF0-EB3E-497D-B2EC-DFF75E13A984}" type="parTrans" cxnId="{BBAA4CFA-624A-408C-BC0F-1EAEB86B4254}">
      <dgm:prSet/>
      <dgm:spPr/>
      <dgm:t>
        <a:bodyPr/>
        <a:lstStyle/>
        <a:p>
          <a:endParaRPr lang="en-US"/>
        </a:p>
      </dgm:t>
    </dgm:pt>
    <dgm:pt modelId="{91830D53-1D27-40E0-A6C3-2BABBD20FAAB}" type="sibTrans" cxnId="{BBAA4CFA-624A-408C-BC0F-1EAEB86B4254}">
      <dgm:prSet/>
      <dgm:spPr/>
      <dgm:t>
        <a:bodyPr/>
        <a:lstStyle/>
        <a:p>
          <a:endParaRPr lang="en-US"/>
        </a:p>
      </dgm:t>
    </dgm:pt>
    <dgm:pt modelId="{1311A464-4F59-4DA5-9AE6-91B4B4A3FDFB}">
      <dgm:prSet phldrT="[Text]"/>
      <dgm:spPr/>
      <dgm:t>
        <a:bodyPr/>
        <a:lstStyle/>
        <a:p>
          <a:r>
            <a:rPr lang="en-US" dirty="0"/>
            <a:t>Multiple array of the same size</a:t>
          </a:r>
        </a:p>
      </dgm:t>
    </dgm:pt>
    <dgm:pt modelId="{0FEDD1F1-7BEC-45A4-BE0D-C1F0972938AF}" type="parTrans" cxnId="{39ACCF17-5063-4B84-8C28-E11E524F8DB1}">
      <dgm:prSet/>
      <dgm:spPr/>
      <dgm:t>
        <a:bodyPr/>
        <a:lstStyle/>
        <a:p>
          <a:endParaRPr lang="en-US"/>
        </a:p>
      </dgm:t>
    </dgm:pt>
    <dgm:pt modelId="{D5CB6A7F-FBDE-4118-91EC-95E2954E34EC}" type="sibTrans" cxnId="{39ACCF17-5063-4B84-8C28-E11E524F8DB1}">
      <dgm:prSet/>
      <dgm:spPr/>
      <dgm:t>
        <a:bodyPr/>
        <a:lstStyle/>
        <a:p>
          <a:endParaRPr lang="en-US"/>
        </a:p>
      </dgm:t>
    </dgm:pt>
    <dgm:pt modelId="{539D7EAD-1537-47A7-8679-40014A6FAACB}">
      <dgm:prSet phldrT="[Text]"/>
      <dgm:spPr/>
      <dgm:t>
        <a:bodyPr/>
        <a:lstStyle/>
        <a:p>
          <a:r>
            <a:rPr lang="en-US" dirty="0"/>
            <a:t>Retrieve data</a:t>
          </a:r>
        </a:p>
      </dgm:t>
    </dgm:pt>
    <dgm:pt modelId="{74286C2E-D357-4F50-A13D-AF0BEDB9AF46}" type="parTrans" cxnId="{D198DCB7-F2A8-4DCD-9C4B-84A9614BCB0B}">
      <dgm:prSet/>
      <dgm:spPr/>
      <dgm:t>
        <a:bodyPr/>
        <a:lstStyle/>
        <a:p>
          <a:endParaRPr lang="en-US"/>
        </a:p>
      </dgm:t>
    </dgm:pt>
    <dgm:pt modelId="{278B27AE-3B3B-48B7-A2F4-EAA4F38FF27E}" type="sibTrans" cxnId="{D198DCB7-F2A8-4DCD-9C4B-84A9614BCB0B}">
      <dgm:prSet/>
      <dgm:spPr/>
      <dgm:t>
        <a:bodyPr/>
        <a:lstStyle/>
        <a:p>
          <a:endParaRPr lang="en-US"/>
        </a:p>
      </dgm:t>
    </dgm:pt>
    <dgm:pt modelId="{0C7B4423-7DCB-43BB-A706-3C0EA69611D3}">
      <dgm:prSet phldrT="[Text]" custT="1"/>
      <dgm:spPr>
        <a:noFill/>
        <a:ln cmpd="sng">
          <a:solidFill>
            <a:schemeClr val="tx1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Store &amp; Read</a:t>
          </a:r>
        </a:p>
      </dgm:t>
    </dgm:pt>
    <dgm:pt modelId="{3BDB506A-41B1-4A43-90E9-813ED22D2663}" type="parTrans" cxnId="{F4D66117-F542-45B9-87B6-8908B9C6DB73}">
      <dgm:prSet/>
      <dgm:spPr/>
      <dgm:t>
        <a:bodyPr/>
        <a:lstStyle/>
        <a:p>
          <a:endParaRPr lang="en-SG"/>
        </a:p>
      </dgm:t>
    </dgm:pt>
    <dgm:pt modelId="{FF128CCC-FAED-457A-86F1-D41FC2D261E1}" type="sibTrans" cxnId="{F4D66117-F542-45B9-87B6-8908B9C6DB73}">
      <dgm:prSet/>
      <dgm:spPr/>
      <dgm:t>
        <a:bodyPr/>
        <a:lstStyle/>
        <a:p>
          <a:endParaRPr lang="en-SG"/>
        </a:p>
      </dgm:t>
    </dgm:pt>
    <dgm:pt modelId="{C65D1A68-163D-4B92-BE00-0C636E84023D}">
      <dgm:prSet phldrT="[Text]"/>
      <dgm:spPr>
        <a:noFill/>
        <a:ln w="19050"/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Advanced Array</a:t>
          </a:r>
        </a:p>
      </dgm:t>
    </dgm:pt>
    <dgm:pt modelId="{59C01A34-9F61-4BE0-BFEF-9ECEF6079CCC}" type="parTrans" cxnId="{7C870F6A-BF6D-4F9B-986E-8745717D0720}">
      <dgm:prSet/>
      <dgm:spPr/>
      <dgm:t>
        <a:bodyPr/>
        <a:lstStyle/>
        <a:p>
          <a:endParaRPr lang="en-SG"/>
        </a:p>
      </dgm:t>
    </dgm:pt>
    <dgm:pt modelId="{ACBF03E0-80D1-44FE-B26F-D6A3F7854B6A}" type="sibTrans" cxnId="{7C870F6A-BF6D-4F9B-986E-8745717D0720}">
      <dgm:prSet/>
      <dgm:spPr/>
      <dgm:t>
        <a:bodyPr/>
        <a:lstStyle/>
        <a:p>
          <a:endParaRPr lang="en-SG"/>
        </a:p>
      </dgm:t>
    </dgm:pt>
    <dgm:pt modelId="{D22D6797-47BF-4262-9BCC-C470BE96A1D0}">
      <dgm:prSet phldrT="[Text]"/>
      <dgm:spPr/>
      <dgm:t>
        <a:bodyPr/>
        <a:lstStyle/>
        <a:p>
          <a:r>
            <a:rPr lang="en-US" dirty="0"/>
            <a:t>Dynamic Sizing Array</a:t>
          </a:r>
        </a:p>
      </dgm:t>
    </dgm:pt>
    <dgm:pt modelId="{1CA49494-1EDB-4869-8922-4141175E461D}" type="parTrans" cxnId="{AB4AF7BC-3AC6-4CC0-B107-A2A834570AAB}">
      <dgm:prSet/>
      <dgm:spPr/>
      <dgm:t>
        <a:bodyPr/>
        <a:lstStyle/>
        <a:p>
          <a:endParaRPr lang="en-SG"/>
        </a:p>
      </dgm:t>
    </dgm:pt>
    <dgm:pt modelId="{7DB45F14-21C6-495C-9B9A-6F9696C94E97}" type="sibTrans" cxnId="{AB4AF7BC-3AC6-4CC0-B107-A2A834570AAB}">
      <dgm:prSet/>
      <dgm:spPr/>
      <dgm:t>
        <a:bodyPr/>
        <a:lstStyle/>
        <a:p>
          <a:endParaRPr lang="en-SG"/>
        </a:p>
      </dgm:t>
    </dgm:pt>
    <dgm:pt modelId="{0CFD77D2-58E0-460F-8B13-147FB16F384C}">
      <dgm:prSet phldrT="[Text]"/>
      <dgm:spPr/>
      <dgm:t>
        <a:bodyPr/>
        <a:lstStyle/>
        <a:p>
          <a:r>
            <a:rPr lang="en-US" dirty="0"/>
            <a:t>2D Array</a:t>
          </a:r>
        </a:p>
      </dgm:t>
    </dgm:pt>
    <dgm:pt modelId="{FF29D0D5-A909-46A2-BA02-E28F5EBEB042}" type="parTrans" cxnId="{DB7DE953-C9C9-46D8-8C58-A106FB66FE55}">
      <dgm:prSet/>
      <dgm:spPr/>
      <dgm:t>
        <a:bodyPr/>
        <a:lstStyle/>
        <a:p>
          <a:endParaRPr lang="en-SG"/>
        </a:p>
      </dgm:t>
    </dgm:pt>
    <dgm:pt modelId="{D0068423-EA70-40B1-A81D-0B8012518859}" type="sibTrans" cxnId="{DB7DE953-C9C9-46D8-8C58-A106FB66FE55}">
      <dgm:prSet/>
      <dgm:spPr/>
      <dgm:t>
        <a:bodyPr/>
        <a:lstStyle/>
        <a:p>
          <a:endParaRPr lang="en-SG"/>
        </a:p>
      </dgm:t>
    </dgm:pt>
    <dgm:pt modelId="{CBB969BE-26D0-4AAE-B1D7-C12F63E03FC9}" type="pres">
      <dgm:prSet presAssocID="{1E3BB9FE-7886-4E4F-BA43-1DE489F06BC7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1FE073BF-F0E4-4FDB-BE22-E02A3C88A6A7}" type="pres">
      <dgm:prSet presAssocID="{1E3BB9FE-7886-4E4F-BA43-1DE489F06BC7}" presName="cycle" presStyleCnt="0"/>
      <dgm:spPr/>
    </dgm:pt>
    <dgm:pt modelId="{B2726EF1-64AF-4FCC-BBB8-0D6E8C335355}" type="pres">
      <dgm:prSet presAssocID="{1E3BB9FE-7886-4E4F-BA43-1DE489F06BC7}" presName="centerShape" presStyleCnt="0"/>
      <dgm:spPr/>
    </dgm:pt>
    <dgm:pt modelId="{3F2BE8DF-A4D2-48CB-B226-815C67067E97}" type="pres">
      <dgm:prSet presAssocID="{1E3BB9FE-7886-4E4F-BA43-1DE489F06BC7}" presName="connSite" presStyleLbl="node1" presStyleIdx="0" presStyleCnt="6"/>
      <dgm:spPr/>
    </dgm:pt>
    <dgm:pt modelId="{089E62A2-E23D-41A0-A6E9-BACCD094917E}" type="pres">
      <dgm:prSet presAssocID="{1E3BB9FE-7886-4E4F-BA43-1DE489F06BC7}" presName="visible" presStyleLbl="node1" presStyleIdx="0" presStyleCnt="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6F5DFC5-4647-4B1F-8F8F-7BB261A5D5B1}" type="pres">
      <dgm:prSet presAssocID="{3BDB506A-41B1-4A43-90E9-813ED22D2663}" presName="Name25" presStyleLbl="parChTrans1D1" presStyleIdx="0" presStyleCnt="5"/>
      <dgm:spPr/>
    </dgm:pt>
    <dgm:pt modelId="{BD7824ED-97C6-4826-B601-EE0B57A20D0D}" type="pres">
      <dgm:prSet presAssocID="{0C7B4423-7DCB-43BB-A706-3C0EA69611D3}" presName="node" presStyleCnt="0"/>
      <dgm:spPr/>
    </dgm:pt>
    <dgm:pt modelId="{ECCE79BC-4558-4E8F-9FB2-43FEA07E824F}" type="pres">
      <dgm:prSet presAssocID="{0C7B4423-7DCB-43BB-A706-3C0EA69611D3}" presName="parentNode" presStyleLbl="node1" presStyleIdx="1" presStyleCnt="6">
        <dgm:presLayoutVars>
          <dgm:chMax val="1"/>
          <dgm:bulletEnabled val="1"/>
        </dgm:presLayoutVars>
      </dgm:prSet>
      <dgm:spPr/>
    </dgm:pt>
    <dgm:pt modelId="{80312E0A-7CB9-400A-AC6C-08B7C53CE8AD}" type="pres">
      <dgm:prSet presAssocID="{0C7B4423-7DCB-43BB-A706-3C0EA69611D3}" presName="childNode" presStyleLbl="revTx" presStyleIdx="0" presStyleCnt="5">
        <dgm:presLayoutVars>
          <dgm:bulletEnabled val="1"/>
        </dgm:presLayoutVars>
      </dgm:prSet>
      <dgm:spPr/>
    </dgm:pt>
    <dgm:pt modelId="{2CFEA8E0-0964-42A6-A7BD-BEB0E85F1BD8}" type="pres">
      <dgm:prSet presAssocID="{4616CA93-5C76-4039-AB1E-D2E9893DFACB}" presName="Name25" presStyleLbl="parChTrans1D1" presStyleIdx="1" presStyleCnt="5"/>
      <dgm:spPr/>
    </dgm:pt>
    <dgm:pt modelId="{7C201920-5562-429C-9409-F48374CD8AFE}" type="pres">
      <dgm:prSet presAssocID="{75A188BD-7450-4E1C-AEAB-01ED35C77F96}" presName="node" presStyleCnt="0"/>
      <dgm:spPr/>
    </dgm:pt>
    <dgm:pt modelId="{C748AB9F-112A-48A7-ADDC-5D1E326EB4AC}" type="pres">
      <dgm:prSet presAssocID="{75A188BD-7450-4E1C-AEAB-01ED35C77F96}" presName="parentNode" presStyleLbl="node1" presStyleIdx="2" presStyleCnt="6" custScaleX="108666" custScaleY="89380">
        <dgm:presLayoutVars>
          <dgm:chMax val="1"/>
          <dgm:bulletEnabled val="1"/>
        </dgm:presLayoutVars>
      </dgm:prSet>
      <dgm:spPr/>
    </dgm:pt>
    <dgm:pt modelId="{BD0C6686-01AE-4EF4-98A1-2C25F880A550}" type="pres">
      <dgm:prSet presAssocID="{75A188BD-7450-4E1C-AEAB-01ED35C77F96}" presName="childNode" presStyleLbl="revTx" presStyleIdx="1" presStyleCnt="5">
        <dgm:presLayoutVars>
          <dgm:bulletEnabled val="1"/>
        </dgm:presLayoutVars>
      </dgm:prSet>
      <dgm:spPr/>
    </dgm:pt>
    <dgm:pt modelId="{6ACD04CF-4CFA-4DCD-BAFC-9E489DC837A9}" type="pres">
      <dgm:prSet presAssocID="{7EFFB578-F911-4CE7-8A21-A77343405B73}" presName="Name25" presStyleLbl="parChTrans1D1" presStyleIdx="2" presStyleCnt="5"/>
      <dgm:spPr/>
    </dgm:pt>
    <dgm:pt modelId="{6F1F454D-AFD7-48CC-9FA7-543C02255CFF}" type="pres">
      <dgm:prSet presAssocID="{05696015-6C9F-403E-B83B-240CE3A2A6B4}" presName="node" presStyleCnt="0"/>
      <dgm:spPr/>
    </dgm:pt>
    <dgm:pt modelId="{C8C5F1AA-FE8F-4650-A582-6EB1993F4E67}" type="pres">
      <dgm:prSet presAssocID="{05696015-6C9F-403E-B83B-240CE3A2A6B4}" presName="parentNode" presStyleLbl="node1" presStyleIdx="3" presStyleCnt="6" custScaleX="116967" custScaleY="89380" custLinFactNeighborX="-23524" custLinFactNeighborY="16395">
        <dgm:presLayoutVars>
          <dgm:chMax val="1"/>
          <dgm:bulletEnabled val="1"/>
        </dgm:presLayoutVars>
      </dgm:prSet>
      <dgm:spPr/>
    </dgm:pt>
    <dgm:pt modelId="{2C43862B-8CC9-4DC4-9D5A-DBDF67FBE247}" type="pres">
      <dgm:prSet presAssocID="{05696015-6C9F-403E-B83B-240CE3A2A6B4}" presName="childNode" presStyleLbl="revTx" presStyleIdx="2" presStyleCnt="5">
        <dgm:presLayoutVars>
          <dgm:bulletEnabled val="1"/>
        </dgm:presLayoutVars>
      </dgm:prSet>
      <dgm:spPr/>
    </dgm:pt>
    <dgm:pt modelId="{F1AEB426-102F-4978-AD64-59C2E4127E02}" type="pres">
      <dgm:prSet presAssocID="{4980CAF0-EB3E-497D-B2EC-DFF75E13A984}" presName="Name25" presStyleLbl="parChTrans1D1" presStyleIdx="3" presStyleCnt="5"/>
      <dgm:spPr/>
    </dgm:pt>
    <dgm:pt modelId="{3650BD3B-B36F-48AA-930C-F5A234E4F738}" type="pres">
      <dgm:prSet presAssocID="{88BE42BC-4463-4531-B1C7-00797AC39378}" presName="node" presStyleCnt="0"/>
      <dgm:spPr/>
    </dgm:pt>
    <dgm:pt modelId="{5C5DFA00-9B27-48EA-A9B0-539BEA58017B}" type="pres">
      <dgm:prSet presAssocID="{88BE42BC-4463-4531-B1C7-00797AC39378}" presName="parentNode" presStyleLbl="node1" presStyleIdx="4" presStyleCnt="6" custScaleX="125947" custScaleY="67598" custLinFactNeighborX="-74502" custLinFactNeighborY="-1425">
        <dgm:presLayoutVars>
          <dgm:chMax val="1"/>
          <dgm:bulletEnabled val="1"/>
        </dgm:presLayoutVars>
      </dgm:prSet>
      <dgm:spPr/>
    </dgm:pt>
    <dgm:pt modelId="{DD801442-9CBE-4855-BC05-FE280BF13719}" type="pres">
      <dgm:prSet presAssocID="{88BE42BC-4463-4531-B1C7-00797AC39378}" presName="childNode" presStyleLbl="revTx" presStyleIdx="3" presStyleCnt="5">
        <dgm:presLayoutVars>
          <dgm:bulletEnabled val="1"/>
        </dgm:presLayoutVars>
      </dgm:prSet>
      <dgm:spPr/>
    </dgm:pt>
    <dgm:pt modelId="{47D6EA35-C04D-4F31-B89E-E01DABD4270B}" type="pres">
      <dgm:prSet presAssocID="{59C01A34-9F61-4BE0-BFEF-9ECEF6079CCC}" presName="Name25" presStyleLbl="parChTrans1D1" presStyleIdx="4" presStyleCnt="5"/>
      <dgm:spPr/>
    </dgm:pt>
    <dgm:pt modelId="{F205248B-C5BF-40CF-8507-EADDBE886A9A}" type="pres">
      <dgm:prSet presAssocID="{C65D1A68-163D-4B92-BE00-0C636E84023D}" presName="node" presStyleCnt="0"/>
      <dgm:spPr/>
    </dgm:pt>
    <dgm:pt modelId="{8F81C439-5B77-4E17-9648-575B283EF545}" type="pres">
      <dgm:prSet presAssocID="{C65D1A68-163D-4B92-BE00-0C636E84023D}" presName="parentNode" presStyleLbl="node1" presStyleIdx="5" presStyleCnt="6" custScaleX="127058">
        <dgm:presLayoutVars>
          <dgm:chMax val="1"/>
          <dgm:bulletEnabled val="1"/>
        </dgm:presLayoutVars>
      </dgm:prSet>
      <dgm:spPr/>
    </dgm:pt>
    <dgm:pt modelId="{C4F4DE87-9C9F-4B7B-A401-F3F2A3E7F1AD}" type="pres">
      <dgm:prSet presAssocID="{C65D1A68-163D-4B92-BE00-0C636E84023D}" presName="childNode" presStyleLbl="revTx" presStyleIdx="4" presStyleCnt="5">
        <dgm:presLayoutVars>
          <dgm:bulletEnabled val="1"/>
        </dgm:presLayoutVars>
      </dgm:prSet>
      <dgm:spPr/>
    </dgm:pt>
  </dgm:ptLst>
  <dgm:cxnLst>
    <dgm:cxn modelId="{F1D13701-C2B4-488C-B98B-5B165A26C6A4}" srcId="{0C7B4423-7DCB-43BB-A706-3C0EA69611D3}" destId="{7F773F39-6026-4CB6-A0F1-D165FB13F3CC}" srcOrd="0" destOrd="0" parTransId="{13168573-1CA3-4E1C-B80C-9B9F35C43340}" sibTransId="{E7E1D19D-CEFE-4E20-8229-2E6607B41C8F}"/>
    <dgm:cxn modelId="{27543B07-CBCE-498F-8F15-0DBF4F8A3758}" type="presOf" srcId="{7F773F39-6026-4CB6-A0F1-D165FB13F3CC}" destId="{80312E0A-7CB9-400A-AC6C-08B7C53CE8AD}" srcOrd="0" destOrd="0" presId="urn:microsoft.com/office/officeart/2005/8/layout/radial2"/>
    <dgm:cxn modelId="{3AFD2C0B-586D-4155-9C68-D1E7D597A27F}" type="presOf" srcId="{C65D1A68-163D-4B92-BE00-0C636E84023D}" destId="{8F81C439-5B77-4E17-9648-575B283EF545}" srcOrd="0" destOrd="0" presId="urn:microsoft.com/office/officeart/2005/8/layout/radial2"/>
    <dgm:cxn modelId="{F4D66117-F542-45B9-87B6-8908B9C6DB73}" srcId="{1E3BB9FE-7886-4E4F-BA43-1DE489F06BC7}" destId="{0C7B4423-7DCB-43BB-A706-3C0EA69611D3}" srcOrd="0" destOrd="0" parTransId="{3BDB506A-41B1-4A43-90E9-813ED22D2663}" sibTransId="{FF128CCC-FAED-457A-86F1-D41FC2D261E1}"/>
    <dgm:cxn modelId="{39ACCF17-5063-4B84-8C28-E11E524F8DB1}" srcId="{88BE42BC-4463-4531-B1C7-00797AC39378}" destId="{1311A464-4F59-4DA5-9AE6-91B4B4A3FDFB}" srcOrd="0" destOrd="0" parTransId="{0FEDD1F1-7BEC-45A4-BE0D-C1F0972938AF}" sibTransId="{D5CB6A7F-FBDE-4118-91EC-95E2954E34EC}"/>
    <dgm:cxn modelId="{EA43292F-C9D6-4562-A6CC-F760C983130C}" srcId="{05696015-6C9F-403E-B83B-240CE3A2A6B4}" destId="{9F193F80-BB26-41C4-AAE7-1D169A2AEB7A}" srcOrd="0" destOrd="0" parTransId="{C06F685C-D57A-49A8-949E-4B4157946E75}" sibTransId="{75F2BAB3-FE1E-4BB9-9591-911985E55931}"/>
    <dgm:cxn modelId="{8572322F-1EE3-44DB-9C24-8BC22635D118}" type="presOf" srcId="{BEFDD519-B11F-452C-8074-87C2E70F311A}" destId="{80312E0A-7CB9-400A-AC6C-08B7C53CE8AD}" srcOrd="0" destOrd="1" presId="urn:microsoft.com/office/officeart/2005/8/layout/radial2"/>
    <dgm:cxn modelId="{F794C439-A3AB-481D-829A-94DDBA40DA31}" type="presOf" srcId="{539D7EAD-1537-47A7-8679-40014A6FAACB}" destId="{DD801442-9CBE-4855-BC05-FE280BF13719}" srcOrd="0" destOrd="1" presId="urn:microsoft.com/office/officeart/2005/8/layout/radial2"/>
    <dgm:cxn modelId="{9BF2C664-2BE7-4BC7-8A5F-B4DBA85463B7}" type="presOf" srcId="{D22D6797-47BF-4262-9BCC-C470BE96A1D0}" destId="{C4F4DE87-9C9F-4B7B-A401-F3F2A3E7F1AD}" srcOrd="0" destOrd="0" presId="urn:microsoft.com/office/officeart/2005/8/layout/radial2"/>
    <dgm:cxn modelId="{0D2F1066-697B-4CBE-A0F6-651F29037B93}" type="presOf" srcId="{4616CA93-5C76-4039-AB1E-D2E9893DFACB}" destId="{2CFEA8E0-0964-42A6-A7BD-BEB0E85F1BD8}" srcOrd="0" destOrd="0" presId="urn:microsoft.com/office/officeart/2005/8/layout/radial2"/>
    <dgm:cxn modelId="{B7556966-E43C-4DEE-ABED-8E7387049113}" type="presOf" srcId="{65E0C35D-98E9-4611-A563-2DF5CE6BF201}" destId="{BD0C6686-01AE-4EF4-98A1-2C25F880A550}" srcOrd="0" destOrd="0" presId="urn:microsoft.com/office/officeart/2005/8/layout/radial2"/>
    <dgm:cxn modelId="{6CF4EE48-7C4F-40EE-B3BE-2EA374330B77}" srcId="{1E3BB9FE-7886-4E4F-BA43-1DE489F06BC7}" destId="{75A188BD-7450-4E1C-AEAB-01ED35C77F96}" srcOrd="1" destOrd="0" parTransId="{4616CA93-5C76-4039-AB1E-D2E9893DFACB}" sibTransId="{91E0A065-6AE6-407D-8B88-4263D049F637}"/>
    <dgm:cxn modelId="{7C870F6A-BF6D-4F9B-986E-8745717D0720}" srcId="{1E3BB9FE-7886-4E4F-BA43-1DE489F06BC7}" destId="{C65D1A68-163D-4B92-BE00-0C636E84023D}" srcOrd="4" destOrd="0" parTransId="{59C01A34-9F61-4BE0-BFEF-9ECEF6079CCC}" sibTransId="{ACBF03E0-80D1-44FE-B26F-D6A3F7854B6A}"/>
    <dgm:cxn modelId="{1435AB4D-4E08-43AD-9527-1874E0A2BF7F}" srcId="{05696015-6C9F-403E-B83B-240CE3A2A6B4}" destId="{586004D6-984F-4DB0-8A53-DADF868F9152}" srcOrd="2" destOrd="0" parTransId="{661953CF-A3D1-462A-B6F1-1476393CF670}" sibTransId="{C051B36F-CAE8-48D7-9B56-CE205D3D552E}"/>
    <dgm:cxn modelId="{2B71D34F-C6B7-4F6A-B4BD-EAFC258C9BE1}" type="presOf" srcId="{1E3BB9FE-7886-4E4F-BA43-1DE489F06BC7}" destId="{CBB969BE-26D0-4AAE-B1D7-C12F63E03FC9}" srcOrd="0" destOrd="0" presId="urn:microsoft.com/office/officeart/2005/8/layout/radial2"/>
    <dgm:cxn modelId="{DB7DE953-C9C9-46D8-8C58-A106FB66FE55}" srcId="{C65D1A68-163D-4B92-BE00-0C636E84023D}" destId="{0CFD77D2-58E0-460F-8B13-147FB16F384C}" srcOrd="1" destOrd="0" parTransId="{FF29D0D5-A909-46A2-BA02-E28F5EBEB042}" sibTransId="{D0068423-EA70-40B1-A81D-0B8012518859}"/>
    <dgm:cxn modelId="{F7D87A79-826E-4BCE-845C-A62C413D4E8B}" srcId="{0C7B4423-7DCB-43BB-A706-3C0EA69611D3}" destId="{BEFDD519-B11F-452C-8074-87C2E70F311A}" srcOrd="1" destOrd="0" parTransId="{BBFB74FE-5DFF-449B-9FD8-7EB5E1D82D00}" sibTransId="{37FEAF44-00D2-428B-A8F5-2741E16B6310}"/>
    <dgm:cxn modelId="{4CF44280-5E00-4344-B6B6-D038F1DAE10E}" type="presOf" srcId="{9F193F80-BB26-41C4-AAE7-1D169A2AEB7A}" destId="{2C43862B-8CC9-4DC4-9D5A-DBDF67FBE247}" srcOrd="0" destOrd="0" presId="urn:microsoft.com/office/officeart/2005/8/layout/radial2"/>
    <dgm:cxn modelId="{73D91589-EDE2-4A7C-99F4-52A979EA1648}" type="presOf" srcId="{586004D6-984F-4DB0-8A53-DADF868F9152}" destId="{2C43862B-8CC9-4DC4-9D5A-DBDF67FBE247}" srcOrd="0" destOrd="2" presId="urn:microsoft.com/office/officeart/2005/8/layout/radial2"/>
    <dgm:cxn modelId="{ED20918E-06EC-43C8-9853-5C858D9EABA6}" type="presOf" srcId="{3BDB506A-41B1-4A43-90E9-813ED22D2663}" destId="{A6F5DFC5-4647-4B1F-8F8F-7BB261A5D5B1}" srcOrd="0" destOrd="0" presId="urn:microsoft.com/office/officeart/2005/8/layout/radial2"/>
    <dgm:cxn modelId="{72989894-46D1-40FF-99AA-F6198C639DC0}" type="presOf" srcId="{1311A464-4F59-4DA5-9AE6-91B4B4A3FDFB}" destId="{DD801442-9CBE-4855-BC05-FE280BF13719}" srcOrd="0" destOrd="0" presId="urn:microsoft.com/office/officeart/2005/8/layout/radial2"/>
    <dgm:cxn modelId="{18266396-E7A2-4AC2-9E46-DA75BE1E1994}" srcId="{05696015-6C9F-403E-B83B-240CE3A2A6B4}" destId="{9AA75C6B-AD70-4C47-BD9F-BD428842A7FF}" srcOrd="1" destOrd="0" parTransId="{9DB29AD8-109B-400E-B328-02049BC68E64}" sibTransId="{A72E0B5C-8CE9-4FC5-999B-6E1DE7911765}"/>
    <dgm:cxn modelId="{1F9AB8A8-63E5-4A55-B839-323C00ABEEA1}" type="presOf" srcId="{88BE42BC-4463-4531-B1C7-00797AC39378}" destId="{5C5DFA00-9B27-48EA-A9B0-539BEA58017B}" srcOrd="0" destOrd="0" presId="urn:microsoft.com/office/officeart/2005/8/layout/radial2"/>
    <dgm:cxn modelId="{5A1956AB-D7F0-4E58-8553-CAF8699929C6}" type="presOf" srcId="{05696015-6C9F-403E-B83B-240CE3A2A6B4}" destId="{C8C5F1AA-FE8F-4650-A582-6EB1993F4E67}" srcOrd="0" destOrd="0" presId="urn:microsoft.com/office/officeart/2005/8/layout/radial2"/>
    <dgm:cxn modelId="{ED1309B5-B6CD-4264-96E6-1D3E1EFA603C}" type="presOf" srcId="{0C7B4423-7DCB-43BB-A706-3C0EA69611D3}" destId="{ECCE79BC-4558-4E8F-9FB2-43FEA07E824F}" srcOrd="0" destOrd="0" presId="urn:microsoft.com/office/officeart/2005/8/layout/radial2"/>
    <dgm:cxn modelId="{729630B5-A23A-4851-9126-1FF3C5533979}" srcId="{75A188BD-7450-4E1C-AEAB-01ED35C77F96}" destId="{65E0C35D-98E9-4611-A563-2DF5CE6BF201}" srcOrd="0" destOrd="0" parTransId="{4BA2BFD2-9C25-474D-A7E2-59A1F688285F}" sibTransId="{6C7C01CF-6A25-4F3F-A177-D419D1D621E8}"/>
    <dgm:cxn modelId="{ADC0B8B6-03E3-4CDC-B73E-9864E8C6CF78}" type="presOf" srcId="{75A188BD-7450-4E1C-AEAB-01ED35C77F96}" destId="{C748AB9F-112A-48A7-ADDC-5D1E326EB4AC}" srcOrd="0" destOrd="0" presId="urn:microsoft.com/office/officeart/2005/8/layout/radial2"/>
    <dgm:cxn modelId="{D198DCB7-F2A8-4DCD-9C4B-84A9614BCB0B}" srcId="{88BE42BC-4463-4531-B1C7-00797AC39378}" destId="{539D7EAD-1537-47A7-8679-40014A6FAACB}" srcOrd="1" destOrd="0" parTransId="{74286C2E-D357-4F50-A13D-AF0BEDB9AF46}" sibTransId="{278B27AE-3B3B-48B7-A2F4-EAA4F38FF27E}"/>
    <dgm:cxn modelId="{AB4AF7BC-3AC6-4CC0-B107-A2A834570AAB}" srcId="{C65D1A68-163D-4B92-BE00-0C636E84023D}" destId="{D22D6797-47BF-4262-9BCC-C470BE96A1D0}" srcOrd="0" destOrd="0" parTransId="{1CA49494-1EDB-4869-8922-4141175E461D}" sibTransId="{7DB45F14-21C6-495C-9B9A-6F9696C94E97}"/>
    <dgm:cxn modelId="{B86544BE-7D00-42C7-8881-C21285ED5824}" type="presOf" srcId="{9AA75C6B-AD70-4C47-BD9F-BD428842A7FF}" destId="{2C43862B-8CC9-4DC4-9D5A-DBDF67FBE247}" srcOrd="0" destOrd="1" presId="urn:microsoft.com/office/officeart/2005/8/layout/radial2"/>
    <dgm:cxn modelId="{F62C33C4-1CB9-41CF-A6E2-E8AA197DE092}" srcId="{1E3BB9FE-7886-4E4F-BA43-1DE489F06BC7}" destId="{05696015-6C9F-403E-B83B-240CE3A2A6B4}" srcOrd="2" destOrd="0" parTransId="{7EFFB578-F911-4CE7-8A21-A77343405B73}" sibTransId="{8EDA85C7-2392-4633-854A-41C875F21519}"/>
    <dgm:cxn modelId="{E0EF95CA-F151-4B7B-88A9-386F49F68381}" srcId="{75A188BD-7450-4E1C-AEAB-01ED35C77F96}" destId="{B0C76D7F-6453-4E2D-92DC-A922694AAE94}" srcOrd="1" destOrd="0" parTransId="{7A6384C9-D453-4B41-A16D-D4C7CA00004D}" sibTransId="{C3E43D7A-8FB5-49C3-ADE4-C58131364493}"/>
    <dgm:cxn modelId="{4B119ACA-256D-4694-8F1C-710820A5B9C7}" type="presOf" srcId="{0CFD77D2-58E0-460F-8B13-147FB16F384C}" destId="{C4F4DE87-9C9F-4B7B-A401-F3F2A3E7F1AD}" srcOrd="0" destOrd="1" presId="urn:microsoft.com/office/officeart/2005/8/layout/radial2"/>
    <dgm:cxn modelId="{AB8011D0-BD11-406E-BB97-8709C9675228}" type="presOf" srcId="{4980CAF0-EB3E-497D-B2EC-DFF75E13A984}" destId="{F1AEB426-102F-4978-AD64-59C2E4127E02}" srcOrd="0" destOrd="0" presId="urn:microsoft.com/office/officeart/2005/8/layout/radial2"/>
    <dgm:cxn modelId="{C7318DD2-11AF-4ECA-AFFF-45B22B8DE7C0}" type="presOf" srcId="{7EFFB578-F911-4CE7-8A21-A77343405B73}" destId="{6ACD04CF-4CFA-4DCD-BAFC-9E489DC837A9}" srcOrd="0" destOrd="0" presId="urn:microsoft.com/office/officeart/2005/8/layout/radial2"/>
    <dgm:cxn modelId="{D4D723E6-7919-462B-99F0-C1591DBCEB1C}" type="presOf" srcId="{59C01A34-9F61-4BE0-BFEF-9ECEF6079CCC}" destId="{47D6EA35-C04D-4F31-B89E-E01DABD4270B}" srcOrd="0" destOrd="0" presId="urn:microsoft.com/office/officeart/2005/8/layout/radial2"/>
    <dgm:cxn modelId="{8E2C6AF1-67E2-4EDE-8BCB-22C727BE3992}" type="presOf" srcId="{B0C76D7F-6453-4E2D-92DC-A922694AAE94}" destId="{BD0C6686-01AE-4EF4-98A1-2C25F880A550}" srcOrd="0" destOrd="1" presId="urn:microsoft.com/office/officeart/2005/8/layout/radial2"/>
    <dgm:cxn modelId="{BBAA4CFA-624A-408C-BC0F-1EAEB86B4254}" srcId="{1E3BB9FE-7886-4E4F-BA43-1DE489F06BC7}" destId="{88BE42BC-4463-4531-B1C7-00797AC39378}" srcOrd="3" destOrd="0" parTransId="{4980CAF0-EB3E-497D-B2EC-DFF75E13A984}" sibTransId="{91830D53-1D27-40E0-A6C3-2BABBD20FAAB}"/>
    <dgm:cxn modelId="{6EA30DCF-8791-4D2E-B6FE-AD0A3CD03F85}" type="presParOf" srcId="{CBB969BE-26D0-4AAE-B1D7-C12F63E03FC9}" destId="{1FE073BF-F0E4-4FDB-BE22-E02A3C88A6A7}" srcOrd="0" destOrd="0" presId="urn:microsoft.com/office/officeart/2005/8/layout/radial2"/>
    <dgm:cxn modelId="{ED1A4D6F-7833-4492-9F4F-E0F25407CCDF}" type="presParOf" srcId="{1FE073BF-F0E4-4FDB-BE22-E02A3C88A6A7}" destId="{B2726EF1-64AF-4FCC-BBB8-0D6E8C335355}" srcOrd="0" destOrd="0" presId="urn:microsoft.com/office/officeart/2005/8/layout/radial2"/>
    <dgm:cxn modelId="{72B058AD-D599-4286-9D00-A826452C2B7B}" type="presParOf" srcId="{B2726EF1-64AF-4FCC-BBB8-0D6E8C335355}" destId="{3F2BE8DF-A4D2-48CB-B226-815C67067E97}" srcOrd="0" destOrd="0" presId="urn:microsoft.com/office/officeart/2005/8/layout/radial2"/>
    <dgm:cxn modelId="{AAF6D482-D059-4954-B463-16EDCACE662F}" type="presParOf" srcId="{B2726EF1-64AF-4FCC-BBB8-0D6E8C335355}" destId="{089E62A2-E23D-41A0-A6E9-BACCD094917E}" srcOrd="1" destOrd="0" presId="urn:microsoft.com/office/officeart/2005/8/layout/radial2"/>
    <dgm:cxn modelId="{2509CB79-E7C6-4729-B0EE-4E6E313889C0}" type="presParOf" srcId="{1FE073BF-F0E4-4FDB-BE22-E02A3C88A6A7}" destId="{A6F5DFC5-4647-4B1F-8F8F-7BB261A5D5B1}" srcOrd="1" destOrd="0" presId="urn:microsoft.com/office/officeart/2005/8/layout/radial2"/>
    <dgm:cxn modelId="{7D72CE4E-E636-4E57-A681-B9C0A389981A}" type="presParOf" srcId="{1FE073BF-F0E4-4FDB-BE22-E02A3C88A6A7}" destId="{BD7824ED-97C6-4826-B601-EE0B57A20D0D}" srcOrd="2" destOrd="0" presId="urn:microsoft.com/office/officeart/2005/8/layout/radial2"/>
    <dgm:cxn modelId="{5E16BAB8-1404-4214-9362-BA14CD48A918}" type="presParOf" srcId="{BD7824ED-97C6-4826-B601-EE0B57A20D0D}" destId="{ECCE79BC-4558-4E8F-9FB2-43FEA07E824F}" srcOrd="0" destOrd="0" presId="urn:microsoft.com/office/officeart/2005/8/layout/radial2"/>
    <dgm:cxn modelId="{15AD5D4A-F4B6-4093-9ECA-C2E286A0149C}" type="presParOf" srcId="{BD7824ED-97C6-4826-B601-EE0B57A20D0D}" destId="{80312E0A-7CB9-400A-AC6C-08B7C53CE8AD}" srcOrd="1" destOrd="0" presId="urn:microsoft.com/office/officeart/2005/8/layout/radial2"/>
    <dgm:cxn modelId="{5C3CD9B5-F7D8-45D2-A143-569586F980A0}" type="presParOf" srcId="{1FE073BF-F0E4-4FDB-BE22-E02A3C88A6A7}" destId="{2CFEA8E0-0964-42A6-A7BD-BEB0E85F1BD8}" srcOrd="3" destOrd="0" presId="urn:microsoft.com/office/officeart/2005/8/layout/radial2"/>
    <dgm:cxn modelId="{8C0132A5-37C6-4AF2-BEC3-0BD0CEC153EB}" type="presParOf" srcId="{1FE073BF-F0E4-4FDB-BE22-E02A3C88A6A7}" destId="{7C201920-5562-429C-9409-F48374CD8AFE}" srcOrd="4" destOrd="0" presId="urn:microsoft.com/office/officeart/2005/8/layout/radial2"/>
    <dgm:cxn modelId="{489A5FFD-7362-406B-9474-43ABB94A7C11}" type="presParOf" srcId="{7C201920-5562-429C-9409-F48374CD8AFE}" destId="{C748AB9F-112A-48A7-ADDC-5D1E326EB4AC}" srcOrd="0" destOrd="0" presId="urn:microsoft.com/office/officeart/2005/8/layout/radial2"/>
    <dgm:cxn modelId="{CA2790DE-958B-4B06-B6FC-4F22950AEB41}" type="presParOf" srcId="{7C201920-5562-429C-9409-F48374CD8AFE}" destId="{BD0C6686-01AE-4EF4-98A1-2C25F880A550}" srcOrd="1" destOrd="0" presId="urn:microsoft.com/office/officeart/2005/8/layout/radial2"/>
    <dgm:cxn modelId="{6459EAA6-09E1-4CD2-BDE7-B70A22370C3D}" type="presParOf" srcId="{1FE073BF-F0E4-4FDB-BE22-E02A3C88A6A7}" destId="{6ACD04CF-4CFA-4DCD-BAFC-9E489DC837A9}" srcOrd="5" destOrd="0" presId="urn:microsoft.com/office/officeart/2005/8/layout/radial2"/>
    <dgm:cxn modelId="{D0F9B63C-3174-4203-B996-4130F50BFB14}" type="presParOf" srcId="{1FE073BF-F0E4-4FDB-BE22-E02A3C88A6A7}" destId="{6F1F454D-AFD7-48CC-9FA7-543C02255CFF}" srcOrd="6" destOrd="0" presId="urn:microsoft.com/office/officeart/2005/8/layout/radial2"/>
    <dgm:cxn modelId="{F65609A3-B85A-4AC0-A2B6-9AAA13C1CEE6}" type="presParOf" srcId="{6F1F454D-AFD7-48CC-9FA7-543C02255CFF}" destId="{C8C5F1AA-FE8F-4650-A582-6EB1993F4E67}" srcOrd="0" destOrd="0" presId="urn:microsoft.com/office/officeart/2005/8/layout/radial2"/>
    <dgm:cxn modelId="{4233735B-69AC-4B46-8F05-FB584F2238AD}" type="presParOf" srcId="{6F1F454D-AFD7-48CC-9FA7-543C02255CFF}" destId="{2C43862B-8CC9-4DC4-9D5A-DBDF67FBE247}" srcOrd="1" destOrd="0" presId="urn:microsoft.com/office/officeart/2005/8/layout/radial2"/>
    <dgm:cxn modelId="{5ACE16EE-05CC-48E5-A9BF-4ACE98414115}" type="presParOf" srcId="{1FE073BF-F0E4-4FDB-BE22-E02A3C88A6A7}" destId="{F1AEB426-102F-4978-AD64-59C2E4127E02}" srcOrd="7" destOrd="0" presId="urn:microsoft.com/office/officeart/2005/8/layout/radial2"/>
    <dgm:cxn modelId="{0002C8D2-AB8C-4309-A1D0-BA29AA921E72}" type="presParOf" srcId="{1FE073BF-F0E4-4FDB-BE22-E02A3C88A6A7}" destId="{3650BD3B-B36F-48AA-930C-F5A234E4F738}" srcOrd="8" destOrd="0" presId="urn:microsoft.com/office/officeart/2005/8/layout/radial2"/>
    <dgm:cxn modelId="{6B3718CF-60B5-40B9-9ACA-55DB34143D14}" type="presParOf" srcId="{3650BD3B-B36F-48AA-930C-F5A234E4F738}" destId="{5C5DFA00-9B27-48EA-A9B0-539BEA58017B}" srcOrd="0" destOrd="0" presId="urn:microsoft.com/office/officeart/2005/8/layout/radial2"/>
    <dgm:cxn modelId="{7AC82420-8DC0-4E40-8DDB-F376162566F4}" type="presParOf" srcId="{3650BD3B-B36F-48AA-930C-F5A234E4F738}" destId="{DD801442-9CBE-4855-BC05-FE280BF13719}" srcOrd="1" destOrd="0" presId="urn:microsoft.com/office/officeart/2005/8/layout/radial2"/>
    <dgm:cxn modelId="{992C0F70-65AA-48D0-806E-C10DF370BFFE}" type="presParOf" srcId="{1FE073BF-F0E4-4FDB-BE22-E02A3C88A6A7}" destId="{47D6EA35-C04D-4F31-B89E-E01DABD4270B}" srcOrd="9" destOrd="0" presId="urn:microsoft.com/office/officeart/2005/8/layout/radial2"/>
    <dgm:cxn modelId="{BDD47886-1C85-4B26-B281-89504527A0A4}" type="presParOf" srcId="{1FE073BF-F0E4-4FDB-BE22-E02A3C88A6A7}" destId="{F205248B-C5BF-40CF-8507-EADDBE886A9A}" srcOrd="10" destOrd="0" presId="urn:microsoft.com/office/officeart/2005/8/layout/radial2"/>
    <dgm:cxn modelId="{109FF01D-0A29-437C-B598-29F05A9F6305}" type="presParOf" srcId="{F205248B-C5BF-40CF-8507-EADDBE886A9A}" destId="{8F81C439-5B77-4E17-9648-575B283EF545}" srcOrd="0" destOrd="0" presId="urn:microsoft.com/office/officeart/2005/8/layout/radial2"/>
    <dgm:cxn modelId="{749064E1-F9E1-42C5-A8A6-6B596066A0CE}" type="presParOf" srcId="{F205248B-C5BF-40CF-8507-EADDBE886A9A}" destId="{C4F4DE87-9C9F-4B7B-A401-F3F2A3E7F1AD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6EA35-C04D-4F31-B89E-E01DABD4270B}">
      <dsp:nvSpPr>
        <dsp:cNvPr id="0" name=""/>
        <dsp:cNvSpPr/>
      </dsp:nvSpPr>
      <dsp:spPr>
        <a:xfrm rot="3398588">
          <a:off x="932616" y="4645945"/>
          <a:ext cx="1733613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1733613" y="28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AEB426-102F-4978-AD64-59C2E4127E02}">
      <dsp:nvSpPr>
        <dsp:cNvPr id="0" name=""/>
        <dsp:cNvSpPr/>
      </dsp:nvSpPr>
      <dsp:spPr>
        <a:xfrm rot="2235635">
          <a:off x="1464124" y="4014022"/>
          <a:ext cx="826159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826159" y="28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D04CF-4CFA-4DCD-BAFC-9E489DC837A9}">
      <dsp:nvSpPr>
        <dsp:cNvPr id="0" name=""/>
        <dsp:cNvSpPr/>
      </dsp:nvSpPr>
      <dsp:spPr>
        <a:xfrm rot="197044">
          <a:off x="1547407" y="3335447"/>
          <a:ext cx="1254778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1254778" y="28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FEA8E0-0964-42A6-A7BD-BEB0E85F1BD8}">
      <dsp:nvSpPr>
        <dsp:cNvPr id="0" name=""/>
        <dsp:cNvSpPr/>
      </dsp:nvSpPr>
      <dsp:spPr>
        <a:xfrm rot="19827720">
          <a:off x="1445505" y="2497009"/>
          <a:ext cx="1583935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1583935" y="28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F5DFC5-4647-4B1F-8F8F-7BB261A5D5B1}">
      <dsp:nvSpPr>
        <dsp:cNvPr id="0" name=""/>
        <dsp:cNvSpPr/>
      </dsp:nvSpPr>
      <dsp:spPr>
        <a:xfrm rot="18234444">
          <a:off x="938092" y="1861985"/>
          <a:ext cx="1781610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1781610" y="284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9E62A2-E23D-41A0-A6E9-BACCD094917E}">
      <dsp:nvSpPr>
        <dsp:cNvPr id="0" name=""/>
        <dsp:cNvSpPr/>
      </dsp:nvSpPr>
      <dsp:spPr>
        <a:xfrm>
          <a:off x="-55188" y="2346784"/>
          <a:ext cx="1886619" cy="188661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E79BC-4558-4E8F-9FB2-43FEA07E824F}">
      <dsp:nvSpPr>
        <dsp:cNvPr id="0" name=""/>
        <dsp:cNvSpPr/>
      </dsp:nvSpPr>
      <dsp:spPr>
        <a:xfrm>
          <a:off x="2092349" y="184807"/>
          <a:ext cx="1056143" cy="1056143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Store &amp; Read</a:t>
          </a:r>
        </a:p>
      </dsp:txBody>
      <dsp:txXfrm>
        <a:off x="2247018" y="339476"/>
        <a:ext cx="746805" cy="746805"/>
      </dsp:txXfrm>
    </dsp:sp>
    <dsp:sp modelId="{80312E0A-7CB9-400A-AC6C-08B7C53CE8AD}">
      <dsp:nvSpPr>
        <dsp:cNvPr id="0" name=""/>
        <dsp:cNvSpPr/>
      </dsp:nvSpPr>
      <dsp:spPr>
        <a:xfrm>
          <a:off x="3254107" y="184807"/>
          <a:ext cx="1584215" cy="105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For each</a:t>
          </a:r>
        </a:p>
      </dsp:txBody>
      <dsp:txXfrm>
        <a:off x="3254107" y="184807"/>
        <a:ext cx="1584215" cy="1056143"/>
      </dsp:txXfrm>
    </dsp:sp>
    <dsp:sp modelId="{C748AB9F-112A-48A7-ADDC-5D1E326EB4AC}">
      <dsp:nvSpPr>
        <dsp:cNvPr id="0" name=""/>
        <dsp:cNvSpPr/>
      </dsp:nvSpPr>
      <dsp:spPr>
        <a:xfrm>
          <a:off x="2825224" y="1395283"/>
          <a:ext cx="1147669" cy="943981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Length</a:t>
          </a:r>
        </a:p>
      </dsp:txBody>
      <dsp:txXfrm>
        <a:off x="2993296" y="1533526"/>
        <a:ext cx="811525" cy="667495"/>
      </dsp:txXfrm>
    </dsp:sp>
    <dsp:sp modelId="{BD0C6686-01AE-4EF4-98A1-2C25F880A550}">
      <dsp:nvSpPr>
        <dsp:cNvPr id="0" name=""/>
        <dsp:cNvSpPr/>
      </dsp:nvSpPr>
      <dsp:spPr>
        <a:xfrm>
          <a:off x="3964101" y="1451365"/>
          <a:ext cx="1721504" cy="943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Age.lenght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Num of element in array</a:t>
          </a:r>
        </a:p>
      </dsp:txBody>
      <dsp:txXfrm>
        <a:off x="3964101" y="1451365"/>
        <a:ext cx="1721504" cy="943981"/>
      </dsp:txXfrm>
    </dsp:sp>
    <dsp:sp modelId="{C8C5F1AA-FE8F-4650-A582-6EB1993F4E67}">
      <dsp:nvSpPr>
        <dsp:cNvPr id="0" name=""/>
        <dsp:cNvSpPr/>
      </dsp:nvSpPr>
      <dsp:spPr>
        <a:xfrm>
          <a:off x="2799421" y="2963217"/>
          <a:ext cx="1235339" cy="943981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Apply </a:t>
          </a:r>
        </a:p>
      </dsp:txBody>
      <dsp:txXfrm>
        <a:off x="2980332" y="3101460"/>
        <a:ext cx="873517" cy="667495"/>
      </dsp:txXfrm>
    </dsp:sp>
    <dsp:sp modelId="{2C43862B-8CC9-4DC4-9D5A-DBDF67FBE247}">
      <dsp:nvSpPr>
        <dsp:cNvPr id="0" name=""/>
        <dsp:cNvSpPr/>
      </dsp:nvSpPr>
      <dsp:spPr>
        <a:xfrm>
          <a:off x="3916381" y="3019298"/>
          <a:ext cx="1853009" cy="943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Find element/ search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Find average / sum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Find max &amp; min</a:t>
          </a:r>
        </a:p>
      </dsp:txBody>
      <dsp:txXfrm>
        <a:off x="3916381" y="3019298"/>
        <a:ext cx="1853009" cy="943981"/>
      </dsp:txXfrm>
    </dsp:sp>
    <dsp:sp modelId="{5C5DFA00-9B27-48EA-A9B0-539BEA58017B}">
      <dsp:nvSpPr>
        <dsp:cNvPr id="0" name=""/>
        <dsp:cNvSpPr/>
      </dsp:nvSpPr>
      <dsp:spPr>
        <a:xfrm>
          <a:off x="1924305" y="4227303"/>
          <a:ext cx="1330181" cy="713932"/>
        </a:xfrm>
        <a:prstGeom prst="ellipse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Parallel processing</a:t>
          </a:r>
        </a:p>
      </dsp:txBody>
      <dsp:txXfrm>
        <a:off x="2119105" y="4331856"/>
        <a:ext cx="940581" cy="504826"/>
      </dsp:txXfrm>
    </dsp:sp>
    <dsp:sp modelId="{DD801442-9CBE-4855-BC05-FE280BF13719}">
      <dsp:nvSpPr>
        <dsp:cNvPr id="0" name=""/>
        <dsp:cNvSpPr/>
      </dsp:nvSpPr>
      <dsp:spPr>
        <a:xfrm>
          <a:off x="3017554" y="4398409"/>
          <a:ext cx="1995272" cy="713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Multiple array of the same size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Retrieve data</a:t>
          </a:r>
        </a:p>
      </dsp:txBody>
      <dsp:txXfrm>
        <a:off x="3017554" y="4398409"/>
        <a:ext cx="1995272" cy="713932"/>
      </dsp:txXfrm>
    </dsp:sp>
    <dsp:sp modelId="{8F81C439-5B77-4E17-9648-575B283EF545}">
      <dsp:nvSpPr>
        <dsp:cNvPr id="0" name=""/>
        <dsp:cNvSpPr/>
      </dsp:nvSpPr>
      <dsp:spPr>
        <a:xfrm>
          <a:off x="1913742" y="5339236"/>
          <a:ext cx="1341915" cy="1056143"/>
        </a:xfrm>
        <a:prstGeom prst="ellipse">
          <a:avLst/>
        </a:prstGeom>
        <a:noFill/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Advanced Array</a:t>
          </a:r>
        </a:p>
      </dsp:txBody>
      <dsp:txXfrm>
        <a:off x="2110261" y="5493905"/>
        <a:ext cx="948877" cy="746805"/>
      </dsp:txXfrm>
    </dsp:sp>
    <dsp:sp modelId="{C4F4DE87-9C9F-4B7B-A401-F3F2A3E7F1AD}">
      <dsp:nvSpPr>
        <dsp:cNvPr id="0" name=""/>
        <dsp:cNvSpPr/>
      </dsp:nvSpPr>
      <dsp:spPr>
        <a:xfrm>
          <a:off x="3004057" y="5339236"/>
          <a:ext cx="2012873" cy="105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Dynamic Sizing Array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2D Array</a:t>
          </a:r>
        </a:p>
      </dsp:txBody>
      <dsp:txXfrm>
        <a:off x="3004057" y="5339236"/>
        <a:ext cx="2012873" cy="1056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t" anchorCtr="0" compatLnSpc="1">
            <a:prstTxWarp prst="textNoShape">
              <a:avLst/>
            </a:prstTxWarp>
          </a:bodyPr>
          <a:lstStyle>
            <a:lvl1pPr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3585" y="1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t" anchorCtr="0" compatLnSpc="1">
            <a:prstTxWarp prst="textNoShape">
              <a:avLst/>
            </a:prstTxWarp>
          </a:bodyPr>
          <a:lstStyle>
            <a:lvl1pPr algn="r"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85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b" anchorCtr="0" compatLnSpc="1">
            <a:prstTxWarp prst="textNoShape">
              <a:avLst/>
            </a:prstTxWarp>
          </a:bodyPr>
          <a:lstStyle>
            <a:lvl1pPr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3585" y="6456385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b" anchorCtr="0" compatLnSpc="1">
            <a:prstTxWarp prst="textNoShape">
              <a:avLst/>
            </a:prstTxWarp>
          </a:bodyPr>
          <a:lstStyle>
            <a:lvl1pPr algn="r" defTabSz="884051">
              <a:defRPr sz="1200">
                <a:latin typeface="Arial" charset="0"/>
              </a:defRPr>
            </a:lvl1pPr>
          </a:lstStyle>
          <a:p>
            <a:fld id="{6F91EED9-274B-472A-B8ED-1C026C93228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802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t" anchorCtr="0" compatLnSpc="1">
            <a:prstTxWarp prst="textNoShape">
              <a:avLst/>
            </a:prstTxWarp>
          </a:bodyPr>
          <a:lstStyle>
            <a:lvl1pPr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3585" y="1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t" anchorCtr="0" compatLnSpc="1">
            <a:prstTxWarp prst="textNoShape">
              <a:avLst/>
            </a:prstTxWarp>
          </a:bodyPr>
          <a:lstStyle>
            <a:lvl1pPr algn="r"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81450" y="511175"/>
            <a:ext cx="1911350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971" y="3228782"/>
            <a:ext cx="7900312" cy="305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85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b" anchorCtr="0" compatLnSpc="1">
            <a:prstTxWarp prst="textNoShape">
              <a:avLst/>
            </a:prstTxWarp>
          </a:bodyPr>
          <a:lstStyle>
            <a:lvl1pPr defTabSz="884051">
              <a:defRPr sz="12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3585" y="6456385"/>
            <a:ext cx="4278387" cy="340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61" tIns="44180" rIns="88361" bIns="44180" numCol="1" anchor="b" anchorCtr="0" compatLnSpc="1">
            <a:prstTxWarp prst="textNoShape">
              <a:avLst/>
            </a:prstTxWarp>
          </a:bodyPr>
          <a:lstStyle>
            <a:lvl1pPr algn="r" defTabSz="884051">
              <a:defRPr sz="1200">
                <a:latin typeface="Arial" charset="0"/>
              </a:defRPr>
            </a:lvl1pPr>
          </a:lstStyle>
          <a:p>
            <a:fld id="{80265C20-1604-47C1-B282-983BC274C03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248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4C2F35-82EF-4136-9100-2DD882BACEA6}" type="slidenum">
              <a:rPr lang="en-GB"/>
              <a:pPr/>
              <a:t>7</a:t>
            </a:fld>
            <a:endParaRPr lang="en-GB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87800" y="515938"/>
            <a:ext cx="1903413" cy="2536825"/>
          </a:xfrm>
          <a:ln w="12700" cap="flat">
            <a:solidFill>
              <a:schemeClr val="tx1"/>
            </a:solidFill>
          </a:ln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7481" y="3231127"/>
            <a:ext cx="7237015" cy="2859339"/>
          </a:xfrm>
          <a:ln/>
        </p:spPr>
        <p:txBody>
          <a:bodyPr lIns="88974" tIns="42953" rIns="88974" bIns="4295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5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A4BE0D-EB5E-4DD7-BB64-8B9B03F61BD9}" type="slidenum">
              <a:rPr lang="en-GB"/>
              <a:pPr/>
              <a:t>13</a:t>
            </a:fld>
            <a:endParaRPr lang="en-GB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87800" y="515938"/>
            <a:ext cx="1903413" cy="2536825"/>
          </a:xfrm>
          <a:ln w="12700" cap="flat">
            <a:solidFill>
              <a:schemeClr val="tx1"/>
            </a:solidFill>
          </a:ln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7481" y="3231127"/>
            <a:ext cx="7237015" cy="2859339"/>
          </a:xfrm>
          <a:ln/>
        </p:spPr>
        <p:txBody>
          <a:bodyPr lIns="88974" tIns="42953" rIns="88974" bIns="4295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5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65C20-1604-47C1-B282-983BC274C033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53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70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211971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211972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211973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211974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211975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1976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211977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211978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197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1198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11981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/>
            <a:r>
              <a:rPr lang="en-US" sz="800" dirty="0">
                <a:latin typeface="Arial" charset="0"/>
              </a:rPr>
              <a:t>Copyrights © Nanyang Polytechnic, 2018</a:t>
            </a:r>
            <a:r>
              <a:rPr lang="en-US" sz="800" baseline="0" dirty="0">
                <a:latin typeface="Arial" charset="0"/>
              </a:rPr>
              <a:t> S2</a:t>
            </a:r>
            <a:endParaRPr lang="en-US" sz="800" dirty="0">
              <a:latin typeface="Arial" charset="0"/>
            </a:endParaRPr>
          </a:p>
        </p:txBody>
      </p:sp>
      <p:sp>
        <p:nvSpPr>
          <p:cNvPr id="211982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000"/>
              <a:t>IT1762 Data Structures and Algorithms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97063"/>
            <a:ext cx="2838450" cy="6683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1897063"/>
            <a:ext cx="2838450" cy="6683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1913" y="314325"/>
            <a:ext cx="1512887" cy="8266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0075" y="314325"/>
            <a:ext cx="4389438" cy="8266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314325"/>
            <a:ext cx="6054725" cy="847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897063"/>
            <a:ext cx="2838450" cy="6683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1897063"/>
            <a:ext cx="2838450" cy="6683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ChangeArrowheads="1"/>
          </p:cNvSpPr>
          <p:nvPr userDrawn="1"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 New Roman" pitchFamily="18" charset="0"/>
            </a:endParaRPr>
          </a:p>
        </p:txBody>
      </p:sp>
      <p:sp>
        <p:nvSpPr>
          <p:cNvPr id="21095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0075" y="314325"/>
            <a:ext cx="60547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1095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97063"/>
            <a:ext cx="5829300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095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5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/>
            <a:r>
              <a:rPr lang="en-US" sz="800" dirty="0">
                <a:latin typeface="Arial" charset="0"/>
              </a:rPr>
              <a:t>Copyrights © Nanyang Polytechnic, 2018 S2		</a:t>
            </a:r>
          </a:p>
        </p:txBody>
      </p:sp>
      <p:sp>
        <p:nvSpPr>
          <p:cNvPr id="210956" name="Rectangle 12"/>
          <p:cNvSpPr>
            <a:spLocks noChangeArrowheads="1"/>
          </p:cNvSpPr>
          <p:nvPr/>
        </p:nvSpPr>
        <p:spPr bwMode="auto">
          <a:xfrm>
            <a:off x="2636838" y="8675688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GB" sz="1000">
                <a:latin typeface="Arial" charset="0"/>
              </a:rPr>
              <a:t>page </a:t>
            </a:r>
            <a:fld id="{0BE05BE9-4B43-40A4-B504-137BC7D9B851}" type="slidenum">
              <a:rPr lang="en-GB" sz="1000">
                <a:latin typeface="Arial" charset="0"/>
              </a:rPr>
              <a:pPr algn="ctr"/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10957" name="Text Box 13"/>
          <p:cNvSpPr txBox="1">
            <a:spLocks noChangeArrowheads="1"/>
          </p:cNvSpPr>
          <p:nvPr userDrawn="1"/>
        </p:nvSpPr>
        <p:spPr bwMode="auto">
          <a:xfrm>
            <a:off x="5300663" y="8748713"/>
            <a:ext cx="1289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000">
                <a:latin typeface="Garamond" pitchFamily="18" charset="0"/>
              </a:rPr>
              <a:t>1D Arrays with Loops</a:t>
            </a:r>
          </a:p>
        </p:txBody>
      </p:sp>
      <p:sp>
        <p:nvSpPr>
          <p:cNvPr id="210961" name="Line 17"/>
          <p:cNvSpPr>
            <a:spLocks noChangeShapeType="1"/>
          </p:cNvSpPr>
          <p:nvPr userDrawn="1"/>
        </p:nvSpPr>
        <p:spPr bwMode="auto">
          <a:xfrm>
            <a:off x="457200" y="1201738"/>
            <a:ext cx="6129338" cy="0"/>
          </a:xfrm>
          <a:prstGeom prst="line">
            <a:avLst/>
          </a:prstGeom>
          <a:noFill/>
          <a:ln w="57150" cmpd="thinThick">
            <a:solidFill>
              <a:srgbClr val="33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8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2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17.tm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b="0" dirty="0">
                <a:latin typeface="+mn-lt"/>
              </a:rPr>
              <a:t>IT1762</a:t>
            </a:r>
            <a:br>
              <a:rPr lang="en-GB" sz="4000" b="0" dirty="0">
                <a:latin typeface="+mn-lt"/>
              </a:rPr>
            </a:br>
            <a:r>
              <a:rPr lang="en-GB" sz="4000" b="0" dirty="0">
                <a:latin typeface="+mn-lt"/>
              </a:rPr>
              <a:t>Data Structures &amp;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r>
              <a:rPr lang="en-GB" sz="2800" dirty="0"/>
              <a:t>Topic 2C</a:t>
            </a:r>
          </a:p>
          <a:p>
            <a:r>
              <a:rPr lang="en-GB" sz="2800" i="1" dirty="0">
                <a:solidFill>
                  <a:srgbClr val="FF0000"/>
                </a:solidFill>
              </a:rPr>
              <a:t>Array with FOR Loop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54238"/>
            <a:ext cx="5829300" cy="4325937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600" dirty="0"/>
              <a:t>Be able to store and retrieve data items inside arrays using loops.</a:t>
            </a:r>
            <a:endParaRPr lang="en-GB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spcBef>
                <a:spcPct val="50000"/>
              </a:spcBef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Understand the array Length property.</a:t>
            </a:r>
          </a:p>
          <a:p>
            <a:pPr>
              <a:spcBef>
                <a:spcPct val="50000"/>
              </a:spcBef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How to use process arrays in parallel.</a:t>
            </a:r>
          </a:p>
          <a:p>
            <a:pPr>
              <a:spcBef>
                <a:spcPct val="50000"/>
              </a:spcBef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How to find an element in an array.</a:t>
            </a:r>
          </a:p>
          <a:p>
            <a:pPr>
              <a:spcBef>
                <a:spcPct val="50000"/>
              </a:spcBef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How to find the max and min element in an array</a:t>
            </a:r>
            <a:endParaRPr lang="en-GB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4" name="Oval 3"/>
          <p:cNvSpPr/>
          <p:nvPr/>
        </p:nvSpPr>
        <p:spPr>
          <a:xfrm>
            <a:off x="4179944" y="6392987"/>
            <a:ext cx="1844426" cy="1844426"/>
          </a:xfrm>
          <a:prstGeom prst="ellipse">
            <a:avLst/>
          </a:prstGeom>
          <a:blipFill rotWithShape="0">
            <a:blip r:embed="rId3" cstate="print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455267" y="5642042"/>
            <a:ext cx="134684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itchFamily="66" charset="0"/>
              </a:rPr>
              <a:t>Array with</a:t>
            </a:r>
          </a:p>
          <a:p>
            <a:r>
              <a:rPr lang="en-US" sz="4000" dirty="0">
                <a:solidFill>
                  <a:srgbClr val="0033CC"/>
                </a:solidFill>
                <a:latin typeface="Comic Sans MS" pitchFamily="66" charset="0"/>
              </a:rPr>
              <a:t>Loop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Fun Quiz</a:t>
            </a:r>
            <a:endParaRPr lang="en-GB" sz="2800" dirty="0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7175"/>
            <a:ext cx="5829300" cy="887413"/>
          </a:xfrm>
        </p:spPr>
        <p:txBody>
          <a:bodyPr/>
          <a:lstStyle/>
          <a:p>
            <a:r>
              <a:rPr lang="en-US"/>
              <a:t>What is the advantage of using an Array versus Variables ?</a:t>
            </a:r>
            <a:endParaRPr lang="en-GB"/>
          </a:p>
        </p:txBody>
      </p:sp>
      <p:sp>
        <p:nvSpPr>
          <p:cNvPr id="240644" name="Text Box 4"/>
          <p:cNvSpPr txBox="1">
            <a:spLocks noChangeArrowheads="1"/>
          </p:cNvSpPr>
          <p:nvPr/>
        </p:nvSpPr>
        <p:spPr bwMode="auto">
          <a:xfrm>
            <a:off x="1660526" y="2638425"/>
            <a:ext cx="488315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</a:rPr>
              <a:t>We need to write individual codes to process each variable in a computer program.</a:t>
            </a:r>
          </a:p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33CC"/>
                </a:solidFill>
              </a:rPr>
              <a:t>eg</a:t>
            </a:r>
            <a:r>
              <a:rPr lang="en-US" b="1" dirty="0">
                <a:solidFill>
                  <a:srgbClr val="0033CC"/>
                </a:solidFill>
              </a:rPr>
              <a:t>. 500 variables </a:t>
            </a: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500 lines</a:t>
            </a: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 of codes to display them.</a:t>
            </a:r>
          </a:p>
          <a:p>
            <a:pPr>
              <a:spcBef>
                <a:spcPct val="50000"/>
              </a:spcBef>
            </a:pPr>
            <a:endParaRPr lang="en-US" b="1" dirty="0">
              <a:solidFill>
                <a:srgbClr val="0033CC"/>
              </a:solidFill>
              <a:sym typeface="Wingdings" pitchFamily="2" charset="2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The advantage of using an Array is that we can use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LOOPING</a:t>
            </a: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 to process all the array ELEMENTS.  This reduces the amount of coding.</a:t>
            </a:r>
          </a:p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33CC"/>
                </a:solidFill>
                <a:sym typeface="Wingdings" pitchFamily="2" charset="2"/>
              </a:rPr>
              <a:t>eg</a:t>
            </a: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. an array of 500 elements 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3 lines</a:t>
            </a:r>
            <a:r>
              <a:rPr lang="en-US" b="1" dirty="0">
                <a:solidFill>
                  <a:srgbClr val="0033CC"/>
                </a:solidFill>
                <a:sym typeface="Wingdings" pitchFamily="2" charset="2"/>
              </a:rPr>
              <a:t> of codes to display them.</a:t>
            </a:r>
          </a:p>
          <a:p>
            <a:pPr>
              <a:spcBef>
                <a:spcPct val="50000"/>
              </a:spcBef>
            </a:pPr>
            <a:endParaRPr lang="en-US" b="1" dirty="0">
              <a:solidFill>
                <a:srgbClr val="0033CC"/>
              </a:solidFill>
            </a:endParaRPr>
          </a:p>
          <a:p>
            <a:pPr>
              <a:spcBef>
                <a:spcPct val="50000"/>
              </a:spcBef>
            </a:pPr>
            <a:r>
              <a:rPr lang="en-US" b="1" i="1" dirty="0">
                <a:solidFill>
                  <a:srgbClr val="0033CC"/>
                </a:solidFill>
              </a:rPr>
              <a:t>Note: </a:t>
            </a:r>
          </a:p>
          <a:p>
            <a:pPr>
              <a:spcBef>
                <a:spcPct val="50000"/>
              </a:spcBef>
            </a:pPr>
            <a:r>
              <a:rPr lang="en-US" b="1" i="1" dirty="0">
                <a:solidFill>
                  <a:srgbClr val="0033CC"/>
                </a:solidFill>
              </a:rPr>
              <a:t>each array element = a variable</a:t>
            </a:r>
            <a:endParaRPr lang="en-GB" b="1" i="1" dirty="0">
              <a:solidFill>
                <a:srgbClr val="0033CC"/>
              </a:solidFill>
            </a:endParaRPr>
          </a:p>
        </p:txBody>
      </p:sp>
      <p:pic>
        <p:nvPicPr>
          <p:cNvPr id="6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" y="22802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Quiz</a:t>
            </a:r>
            <a:endParaRPr lang="en-GB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1735138"/>
            <a:ext cx="5829300" cy="3289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What are the 2 ways to do Looping?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What is their difference ?</a:t>
            </a:r>
            <a:endParaRPr lang="en-GB"/>
          </a:p>
        </p:txBody>
      </p:sp>
      <p:sp>
        <p:nvSpPr>
          <p:cNvPr id="241668" name="Text Box 4"/>
          <p:cNvSpPr txBox="1">
            <a:spLocks noChangeArrowheads="1"/>
          </p:cNvSpPr>
          <p:nvPr/>
        </p:nvSpPr>
        <p:spPr bwMode="auto">
          <a:xfrm>
            <a:off x="885825" y="2419350"/>
            <a:ext cx="5383213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</a:rPr>
              <a:t>The 2 ways to do looping are: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b="1">
                <a:solidFill>
                  <a:srgbClr val="FF0000"/>
                </a:solidFill>
              </a:rPr>
              <a:t>foreach loop</a:t>
            </a:r>
          </a:p>
          <a:p>
            <a:pPr marL="342900" indent="-342900">
              <a:spcBef>
                <a:spcPct val="50000"/>
              </a:spcBef>
              <a:buFontTx/>
              <a:buAutoNum type="alphaLcParenR"/>
            </a:pPr>
            <a:r>
              <a:rPr lang="en-US" b="1">
                <a:solidFill>
                  <a:srgbClr val="FF0000"/>
                </a:solidFill>
              </a:rPr>
              <a:t>for loop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241669" name="Text Box 5"/>
          <p:cNvSpPr txBox="1">
            <a:spLocks noChangeArrowheads="1"/>
          </p:cNvSpPr>
          <p:nvPr/>
        </p:nvSpPr>
        <p:spPr bwMode="auto">
          <a:xfrm>
            <a:off x="885825" y="5148263"/>
            <a:ext cx="5383213" cy="174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b="1">
                <a:solidFill>
                  <a:srgbClr val="FF0000"/>
                </a:solidFill>
              </a:rPr>
              <a:t>foreach</a:t>
            </a:r>
            <a:r>
              <a:rPr lang="en-US" b="1">
                <a:solidFill>
                  <a:srgbClr val="0033CC"/>
                </a:solidFill>
              </a:rPr>
              <a:t> loop can ONLY be used to RETREIVE data from an array.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endParaRPr lang="en-US" b="1">
              <a:solidFill>
                <a:srgbClr val="0033CC"/>
              </a:solidFill>
            </a:endParaRP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b="1">
                <a:solidFill>
                  <a:srgbClr val="FF0000"/>
                </a:solidFill>
              </a:rPr>
              <a:t>for</a:t>
            </a:r>
            <a:r>
              <a:rPr lang="en-US" b="1">
                <a:solidFill>
                  <a:srgbClr val="0033CC"/>
                </a:solidFill>
              </a:rPr>
              <a:t> loop can RETREIVE or STORE data into an array.</a:t>
            </a:r>
            <a:endParaRPr lang="en-GB" b="1">
              <a:solidFill>
                <a:srgbClr val="0033CC"/>
              </a:solidFill>
            </a:endParaRPr>
          </a:p>
        </p:txBody>
      </p:sp>
      <p:pic>
        <p:nvPicPr>
          <p:cNvPr id="241671" name="Picture 7" descr="Question_Clip_A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6925" y="179388"/>
            <a:ext cx="804863" cy="1389062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8" grpId="0"/>
      <p:bldP spid="2416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87362" y="87465"/>
            <a:ext cx="5166015" cy="1114342"/>
          </a:xfrm>
        </p:spPr>
        <p:txBody>
          <a:bodyPr/>
          <a:lstStyle/>
          <a:p>
            <a:r>
              <a:rPr lang="en-GB" dirty="0"/>
              <a:t>foreach loop –  </a:t>
            </a:r>
            <a:br>
              <a:rPr lang="en-GB" dirty="0"/>
            </a:br>
            <a:r>
              <a:rPr lang="en-GB" sz="2000" dirty="0"/>
              <a:t>For information ONLY and it is NOT tested</a:t>
            </a:r>
            <a:endParaRPr lang="en-GB" dirty="0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588" y="1471613"/>
            <a:ext cx="5989637" cy="6040437"/>
          </a:xfrm>
        </p:spPr>
        <p:txBody>
          <a:bodyPr/>
          <a:lstStyle/>
          <a:p>
            <a:r>
              <a:rPr lang="en-GB" sz="2000"/>
              <a:t>C# has a created a </a:t>
            </a:r>
            <a:r>
              <a:rPr lang="en-GB" sz="2000" i="1"/>
              <a:t>foreach</a:t>
            </a:r>
            <a:r>
              <a:rPr lang="en-GB" sz="2000"/>
              <a:t> loop to read data through every element of an array:</a:t>
            </a:r>
            <a:endParaRPr lang="en-GB" sz="2000">
              <a:solidFill>
                <a:srgbClr val="FF0000"/>
              </a:solidFill>
            </a:endParaRP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1266825" y="2511425"/>
            <a:ext cx="41846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foreach ( </a:t>
            </a:r>
            <a:r>
              <a:rPr lang="en-US" sz="2000" i="1" dirty="0">
                <a:latin typeface="Arial" charset="0"/>
              </a:rPr>
              <a:t>datatype</a:t>
            </a:r>
            <a:r>
              <a:rPr lang="en-US" sz="2000" dirty="0">
                <a:latin typeface="Arial" charset="0"/>
              </a:rPr>
              <a:t> name in array)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    statement1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    statement2 .... 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828675" y="4371975"/>
            <a:ext cx="5372100" cy="256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rgbClr val="0033CC"/>
                </a:solidFill>
              </a:rPr>
              <a:t>where:</a:t>
            </a:r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33CC"/>
                </a:solidFill>
              </a:rPr>
              <a:t>foreach – keyword</a:t>
            </a:r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33CC"/>
                </a:solidFill>
              </a:rPr>
              <a:t>datatype – data type of the array</a:t>
            </a:r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33CC"/>
                </a:solidFill>
              </a:rPr>
              <a:t>name – any variable name; this variable will hold each the array element value in each loop.  The variable is used in the loop body.</a:t>
            </a:r>
          </a:p>
          <a:p>
            <a:pPr>
              <a:spcBef>
                <a:spcPct val="50000"/>
              </a:spcBef>
            </a:pPr>
            <a:r>
              <a:rPr lang="en-US" i="1">
                <a:solidFill>
                  <a:srgbClr val="0033CC"/>
                </a:solidFill>
              </a:rPr>
              <a:t>array – name of the array.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foreach loop</a:t>
            </a:r>
            <a:endParaRPr lang="en-GB"/>
          </a:p>
        </p:txBody>
      </p: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552450" y="1912382"/>
            <a:ext cx="6022975" cy="3693319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dirty="0">
                <a:solidFill>
                  <a:srgbClr val="008000"/>
                </a:solidFill>
                <a:latin typeface="+mn-lt"/>
              </a:rPr>
              <a:t>// Create array of 5 integers</a:t>
            </a:r>
          </a:p>
          <a:p>
            <a:r>
              <a:rPr lang="en-GB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dirty="0">
                <a:latin typeface="+mn-lt"/>
              </a:rPr>
              <a:t> [] marks = {11,12,13,14,15};</a:t>
            </a:r>
          </a:p>
          <a:p>
            <a:r>
              <a:rPr lang="en-GB" b="1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b="1" dirty="0">
                <a:solidFill>
                  <a:srgbClr val="0033CC"/>
                </a:solidFill>
                <a:latin typeface="+mn-lt"/>
              </a:rPr>
              <a:t> total=0;</a:t>
            </a:r>
          </a:p>
          <a:p>
            <a:endParaRPr lang="en-GB" b="1" dirty="0">
              <a:solidFill>
                <a:srgbClr val="0033CC"/>
              </a:solidFill>
              <a:latin typeface="+mn-lt"/>
            </a:endParaRPr>
          </a:p>
          <a:p>
            <a:r>
              <a:rPr lang="en-GB" b="1" dirty="0">
                <a:solidFill>
                  <a:srgbClr val="0033CC"/>
                </a:solidFill>
                <a:latin typeface="+mn-lt"/>
              </a:rPr>
              <a:t>  </a:t>
            </a:r>
            <a:r>
              <a:rPr lang="en-GB" b="1" dirty="0" err="1">
                <a:solidFill>
                  <a:srgbClr val="0033CC"/>
                </a:solidFill>
                <a:latin typeface="+mn-lt"/>
              </a:rPr>
              <a:t>foreach</a:t>
            </a:r>
            <a:r>
              <a:rPr lang="en-GB" dirty="0">
                <a:latin typeface="+mn-lt"/>
              </a:rPr>
              <a:t> (</a:t>
            </a:r>
            <a:r>
              <a:rPr lang="en-GB" dirty="0" err="1">
                <a:solidFill>
                  <a:srgbClr val="0033CC"/>
                </a:solidFill>
                <a:latin typeface="+mn-lt"/>
              </a:rPr>
              <a:t>int</a:t>
            </a:r>
            <a:r>
              <a:rPr lang="en-GB" dirty="0">
                <a:latin typeface="+mn-lt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+mn-lt"/>
              </a:rPr>
              <a:t>number</a:t>
            </a:r>
            <a:r>
              <a:rPr lang="en-GB" dirty="0">
                <a:latin typeface="+mn-lt"/>
              </a:rPr>
              <a:t> </a:t>
            </a:r>
            <a:r>
              <a:rPr lang="en-GB" dirty="0">
                <a:solidFill>
                  <a:srgbClr val="0033CC"/>
                </a:solidFill>
                <a:latin typeface="+mn-lt"/>
              </a:rPr>
              <a:t>in</a:t>
            </a:r>
            <a:r>
              <a:rPr lang="en-GB" dirty="0">
                <a:latin typeface="+mn-lt"/>
              </a:rPr>
              <a:t> marks)</a:t>
            </a:r>
          </a:p>
          <a:p>
            <a:r>
              <a:rPr lang="en-GB" dirty="0">
                <a:latin typeface="+mn-lt"/>
              </a:rPr>
              <a:t>   {</a:t>
            </a:r>
          </a:p>
          <a:p>
            <a:r>
              <a:rPr lang="en-GB" dirty="0">
                <a:latin typeface="+mn-lt"/>
              </a:rPr>
              <a:t>	</a:t>
            </a:r>
            <a:r>
              <a:rPr lang="en-GB" dirty="0">
                <a:solidFill>
                  <a:srgbClr val="009999"/>
                </a:solidFill>
                <a:latin typeface="+mn-lt"/>
              </a:rPr>
              <a:t>total = total + number</a:t>
            </a:r>
            <a:r>
              <a:rPr lang="en-GB" dirty="0">
                <a:latin typeface="+mn-lt"/>
              </a:rPr>
              <a:t>;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   } // end of </a:t>
            </a:r>
            <a:r>
              <a:rPr lang="en-GB" dirty="0" err="1">
                <a:latin typeface="+mn-lt"/>
              </a:rPr>
              <a:t>Foreach</a:t>
            </a:r>
            <a:r>
              <a:rPr lang="en-GB" dirty="0">
                <a:latin typeface="+mn-lt"/>
              </a:rPr>
              <a:t> loop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solidFill>
                  <a:srgbClr val="008000"/>
                </a:solidFill>
                <a:latin typeface="+mn-lt"/>
              </a:rPr>
              <a:t>   // display total</a:t>
            </a:r>
          </a:p>
          <a:p>
            <a:r>
              <a:rPr lang="en-GB" dirty="0">
                <a:latin typeface="+mn-lt"/>
              </a:rPr>
              <a:t>   </a:t>
            </a:r>
            <a:r>
              <a:rPr lang="en-GB" dirty="0" err="1">
                <a:latin typeface="+mn-lt"/>
              </a:rPr>
              <a:t>lblTotal.Text</a:t>
            </a:r>
            <a:r>
              <a:rPr lang="en-GB" dirty="0">
                <a:latin typeface="+mn-lt"/>
              </a:rPr>
              <a:t> = </a:t>
            </a:r>
            <a:r>
              <a:rPr lang="en-GB" dirty="0" err="1">
                <a:latin typeface="+mn-lt"/>
              </a:rPr>
              <a:t>total.ToString</a:t>
            </a:r>
            <a:r>
              <a:rPr lang="en-GB" dirty="0">
                <a:latin typeface="+mn-lt"/>
              </a:rPr>
              <a:t>();</a:t>
            </a:r>
          </a:p>
          <a:p>
            <a:endParaRPr lang="en-GB" dirty="0">
              <a:latin typeface="+mn-lt"/>
            </a:endParaRPr>
          </a:p>
        </p:txBody>
      </p:sp>
      <p:sp>
        <p:nvSpPr>
          <p:cNvPr id="243717" name="Text Box 5"/>
          <p:cNvSpPr txBox="1">
            <a:spLocks noChangeArrowheads="1"/>
          </p:cNvSpPr>
          <p:nvPr/>
        </p:nvSpPr>
        <p:spPr bwMode="auto">
          <a:xfrm>
            <a:off x="301625" y="7494588"/>
            <a:ext cx="62722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3538" indent="-363538"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  <a:sym typeface="Wingdings" pitchFamily="2" charset="2"/>
              </a:rPr>
              <a:t></a:t>
            </a:r>
            <a:r>
              <a:rPr lang="en-US">
                <a:sym typeface="Wingdings" pitchFamily="2" charset="2"/>
              </a:rPr>
              <a:t> </a:t>
            </a:r>
            <a:r>
              <a:rPr lang="en-US" sz="2400"/>
              <a:t>number does not have [ ] but must have same data type as array.</a:t>
            </a:r>
            <a:endParaRPr lang="en-GB" sz="2400"/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742950" y="1543050"/>
            <a:ext cx="5830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Example: To sum 5 numbers in an array</a:t>
            </a:r>
            <a:endParaRPr lang="en-GB" dirty="0"/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642143" y="5872163"/>
            <a:ext cx="5843587" cy="160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The </a:t>
            </a:r>
            <a:r>
              <a:rPr lang="en-US" dirty="0" err="1"/>
              <a:t>foreach</a:t>
            </a:r>
            <a:r>
              <a:rPr lang="en-US" dirty="0"/>
              <a:t> command will automatically loop 5 times (as there are 5 elements in the apple array).</a:t>
            </a:r>
          </a:p>
          <a:p>
            <a:pPr>
              <a:spcBef>
                <a:spcPct val="50000"/>
              </a:spcBef>
            </a:pPr>
            <a:r>
              <a:rPr lang="en-US" dirty="0"/>
              <a:t>In each loop, each array element is stored in number and processed in the loop body.</a:t>
            </a:r>
            <a:endParaRPr lang="en-GB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6" grpId="0" animBg="1"/>
      <p:bldP spid="2437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539750"/>
            <a:ext cx="5743575" cy="474663"/>
          </a:xfrm>
        </p:spPr>
        <p:txBody>
          <a:bodyPr/>
          <a:lstStyle/>
          <a:p>
            <a:r>
              <a:rPr lang="en-GB" sz="3200" dirty="0"/>
              <a:t>Applying Arrays-Find element</a:t>
            </a:r>
            <a:endParaRPr lang="en-US" sz="3200" dirty="0"/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8733" y="1216738"/>
            <a:ext cx="6332537" cy="7089062"/>
          </a:xfrm>
          <a:noFill/>
          <a:ln/>
        </p:spPr>
        <p:txBody>
          <a:bodyPr/>
          <a:lstStyle/>
          <a:p>
            <a:r>
              <a:rPr lang="en-GB" sz="2000" dirty="0"/>
              <a:t>Given an array of name with 5 characters, find the character E.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>
              <a:buFont typeface="Wingdings" pitchFamily="2" charset="2"/>
              <a:buNone/>
            </a:pPr>
            <a:endParaRPr lang="en-GB" sz="2000" dirty="0"/>
          </a:p>
          <a:p>
            <a:pPr>
              <a:buFont typeface="Wingdings" pitchFamily="2" charset="2"/>
              <a:buNone/>
            </a:pPr>
            <a:endParaRPr lang="en-GB" sz="2000" dirty="0"/>
          </a:p>
          <a:p>
            <a:pPr>
              <a:buFont typeface="Wingdings" pitchFamily="2" charset="2"/>
              <a:buNone/>
            </a:pPr>
            <a:endParaRPr lang="en-GB" sz="2000" dirty="0"/>
          </a:p>
          <a:p>
            <a:pPr>
              <a:buFont typeface="Wingdings" pitchFamily="2" charset="2"/>
              <a:buNone/>
            </a:pPr>
            <a:endParaRPr lang="en-GB" sz="2000" dirty="0"/>
          </a:p>
          <a:p>
            <a:pPr>
              <a:buFont typeface="Wingdings" pitchFamily="2" charset="2"/>
              <a:buNone/>
            </a:pPr>
            <a:r>
              <a:rPr lang="en-GB" sz="1100" dirty="0"/>
              <a:t> 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If the array is changed to the following, what will be displayed?	chars = {‘</a:t>
            </a:r>
            <a:r>
              <a:rPr lang="en-GB" sz="2000" dirty="0" err="1"/>
              <a:t>P’,‘E’,‘t’,‘e’,‘R</a:t>
            </a:r>
            <a:r>
              <a:rPr lang="en-GB" sz="2000" dirty="0"/>
              <a:t>’ };</a:t>
            </a:r>
          </a:p>
          <a:p>
            <a:r>
              <a:rPr lang="en-GB" sz="2000" dirty="0"/>
              <a:t>Modify the if statement to display lower case e</a:t>
            </a:r>
          </a:p>
          <a:p>
            <a:r>
              <a:rPr lang="en-GB" sz="2000" dirty="0"/>
              <a:t>What happens if </a:t>
            </a:r>
            <a:r>
              <a:rPr lang="en-GB" sz="2000" b="1" dirty="0">
                <a:solidFill>
                  <a:srgbClr val="FF0000"/>
                </a:solidFill>
              </a:rPr>
              <a:t>break</a:t>
            </a:r>
            <a:r>
              <a:rPr lang="en-GB" sz="2000" dirty="0"/>
              <a:t> statement is added?</a:t>
            </a:r>
          </a:p>
          <a:p>
            <a:r>
              <a:rPr lang="en-GB" sz="2000" dirty="0"/>
              <a:t>What is the purpose of </a:t>
            </a:r>
            <a:r>
              <a:rPr lang="en-GB" sz="2000" b="1" dirty="0">
                <a:solidFill>
                  <a:srgbClr val="FF0000"/>
                </a:solidFill>
              </a:rPr>
              <a:t>break</a:t>
            </a:r>
            <a:r>
              <a:rPr lang="en-GB" sz="2000" dirty="0"/>
              <a:t> statement?</a:t>
            </a:r>
          </a:p>
        </p:txBody>
      </p:sp>
      <p:sp>
        <p:nvSpPr>
          <p:cNvPr id="217092" name="Text Box 4"/>
          <p:cNvSpPr txBox="1">
            <a:spLocks noChangeArrowheads="1"/>
          </p:cNvSpPr>
          <p:nvPr/>
        </p:nvSpPr>
        <p:spPr bwMode="auto">
          <a:xfrm>
            <a:off x="735515" y="1876198"/>
            <a:ext cx="5704196" cy="435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GB" dirty="0">
                <a:solidFill>
                  <a:srgbClr val="0033CC"/>
                </a:solidFill>
                <a:latin typeface="Comic Sans MS" pitchFamily="66" charset="0"/>
              </a:rPr>
              <a:t>char </a:t>
            </a:r>
            <a:r>
              <a:rPr lang="en-GB" dirty="0">
                <a:latin typeface="Comic Sans MS" pitchFamily="66" charset="0"/>
              </a:rPr>
              <a:t>[ ]name = {‘P’,‘E’,‘T’,‘E’,‘R’ };</a:t>
            </a:r>
          </a:p>
          <a:p>
            <a:pPr>
              <a:spcBef>
                <a:spcPct val="20000"/>
              </a:spcBef>
            </a:pPr>
            <a:endParaRPr lang="en-GB" dirty="0"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//</a:t>
            </a:r>
            <a:r>
              <a:rPr lang="en-GB" dirty="0" err="1">
                <a:solidFill>
                  <a:srgbClr val="FF0000"/>
                </a:solidFill>
                <a:latin typeface="Comic Sans MS" pitchFamily="66" charset="0"/>
              </a:rPr>
              <a:t>foreach</a:t>
            </a: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 statement to get every element in array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</a:t>
            </a:r>
            <a:r>
              <a:rPr lang="en-GB" dirty="0" err="1">
                <a:solidFill>
                  <a:srgbClr val="0033CC"/>
                </a:solidFill>
                <a:latin typeface="Comic Sans MS" pitchFamily="66" charset="0"/>
              </a:rPr>
              <a:t>foreach</a:t>
            </a:r>
            <a:r>
              <a:rPr lang="en-GB" dirty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GB" dirty="0">
                <a:latin typeface="Comic Sans MS" pitchFamily="66" charset="0"/>
              </a:rPr>
              <a:t>(</a:t>
            </a:r>
            <a:r>
              <a:rPr lang="en-GB" dirty="0">
                <a:solidFill>
                  <a:srgbClr val="0033CC"/>
                </a:solidFill>
                <a:latin typeface="Comic Sans MS" pitchFamily="66" charset="0"/>
              </a:rPr>
              <a:t>char </a:t>
            </a:r>
            <a:r>
              <a:rPr lang="en-GB" dirty="0">
                <a:latin typeface="Comic Sans MS" pitchFamily="66" charset="0"/>
              </a:rPr>
              <a:t>item </a:t>
            </a:r>
            <a:r>
              <a:rPr lang="en-GB" dirty="0">
                <a:solidFill>
                  <a:srgbClr val="0033CC"/>
                </a:solidFill>
                <a:latin typeface="Comic Sans MS" pitchFamily="66" charset="0"/>
              </a:rPr>
              <a:t>in</a:t>
            </a:r>
            <a:r>
              <a:rPr lang="en-GB" dirty="0">
                <a:latin typeface="Comic Sans MS" pitchFamily="66" charset="0"/>
              </a:rPr>
              <a:t> name)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{    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	//if statement to test for character E</a:t>
            </a:r>
            <a:endParaRPr lang="en-GB" dirty="0"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	</a:t>
            </a:r>
            <a:r>
              <a:rPr lang="en-GB" dirty="0">
                <a:latin typeface="Comic Sans MS" pitchFamily="66" charset="0"/>
              </a:rPr>
              <a:t>if (item ==‘E’)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	{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009999"/>
                </a:solidFill>
                <a:latin typeface="Comic Sans MS" pitchFamily="66" charset="0"/>
              </a:rPr>
              <a:t>	   </a:t>
            </a:r>
            <a:r>
              <a:rPr lang="en-GB" dirty="0" err="1">
                <a:solidFill>
                  <a:srgbClr val="009999"/>
                </a:solidFill>
                <a:latin typeface="Comic Sans MS" pitchFamily="66" charset="0"/>
              </a:rPr>
              <a:t>MessageBox.Show</a:t>
            </a:r>
            <a:r>
              <a:rPr lang="en-GB" dirty="0">
                <a:latin typeface="Comic Sans MS" pitchFamily="66" charset="0"/>
              </a:rPr>
              <a:t>(“Character E found.”);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		</a:t>
            </a:r>
            <a:r>
              <a:rPr lang="en-GB" b="1" dirty="0">
                <a:solidFill>
                  <a:srgbClr val="FF0000"/>
                </a:solidFill>
                <a:latin typeface="Comic Sans MS" pitchFamily="66" charset="0"/>
              </a:rPr>
              <a:t>// break</a:t>
            </a:r>
            <a:r>
              <a:rPr lang="en-GB" dirty="0">
                <a:latin typeface="Comic Sans MS" pitchFamily="66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	}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}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90481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7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7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7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7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7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7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7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7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7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7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70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70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7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7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217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7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7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217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7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7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17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70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70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2170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on FOR loop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loop is used to:</a:t>
            </a:r>
          </a:p>
          <a:p>
            <a:pPr lvl="1"/>
            <a:r>
              <a:rPr lang="en-GB" dirty="0"/>
              <a:t>Repeat a task a number of times</a:t>
            </a:r>
          </a:p>
          <a:p>
            <a:pPr lvl="1"/>
            <a:r>
              <a:rPr lang="en-GB" dirty="0"/>
              <a:t>Reduce the coding for repetitive tasks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144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4864" y="1647825"/>
            <a:ext cx="4307061" cy="811213"/>
          </a:xfrm>
        </p:spPr>
        <p:txBody>
          <a:bodyPr/>
          <a:lstStyle/>
          <a:p>
            <a:pPr eaLnBrk="1" hangingPunct="1"/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for</a:t>
            </a:r>
            <a:r>
              <a:rPr lang="en-GB" sz="2400" dirty="0"/>
              <a:t> statement has the following syntax: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2484710" y="2598738"/>
            <a:ext cx="41846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for ( </a:t>
            </a:r>
            <a:r>
              <a:rPr lang="en-US" sz="2000" dirty="0" err="1">
                <a:solidFill>
                  <a:srgbClr val="FF0000"/>
                </a:solidFill>
                <a:latin typeface="Arial" charset="0"/>
              </a:rPr>
              <a:t>initialise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; condition; increment)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statement1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statement2 .... 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}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585788" y="5292080"/>
            <a:ext cx="6272212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/>
            <a:r>
              <a:rPr lang="en-US" sz="2400" dirty="0">
                <a:latin typeface="Arial" charset="0"/>
                <a:sym typeface="Wingdings" pitchFamily="2" charset="2"/>
              </a:rPr>
              <a:t>where: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for 		: compulsory keyword.</a:t>
            </a:r>
          </a:p>
          <a:p>
            <a:pPr marL="363538" indent="-363538"/>
            <a:r>
              <a:rPr lang="en-US" sz="2000" dirty="0" err="1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Intialise</a:t>
            </a:r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	 	: start value of loop counter.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Condition 	: condition to test whether to loop.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increment 	: value to increase loop counter.</a:t>
            </a:r>
            <a:endParaRPr lang="en-GB" sz="2000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344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/>
      <p:bldP spid="2160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6832" y="1647825"/>
            <a:ext cx="4595093" cy="1700039"/>
          </a:xfrm>
        </p:spPr>
        <p:txBody>
          <a:bodyPr/>
          <a:lstStyle/>
          <a:p>
            <a:pPr eaLnBrk="1" hangingPunct="1"/>
            <a:r>
              <a:rPr lang="en-GB" sz="2400" dirty="0"/>
              <a:t>Returning to the problem of adding 1,2,3,4,5, we can rewrite the code as follows:</a:t>
            </a: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1772816" y="3435548"/>
            <a:ext cx="5544616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int sum = 0;</a:t>
            </a:r>
          </a:p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for ( int i = 1; i &lt;= 5; i = i +1 )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 sum = sum +i;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lblDisplay.Text = sum.ToString()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800" y="5724128"/>
            <a:ext cx="4680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conditions i = 1</a:t>
            </a:r>
          </a:p>
          <a:p>
            <a:endParaRPr lang="en-US" dirty="0"/>
          </a:p>
          <a:p>
            <a:r>
              <a:rPr lang="en-US" u="sng" dirty="0"/>
              <a:t>I          </a:t>
            </a:r>
            <a:r>
              <a:rPr lang="en-US" u="sng" dirty="0" err="1"/>
              <a:t>i</a:t>
            </a:r>
            <a:r>
              <a:rPr lang="en-US" u="sng" dirty="0"/>
              <a:t>&lt;=5?        sum</a:t>
            </a:r>
          </a:p>
          <a:p>
            <a:r>
              <a:rPr lang="en-US" dirty="0"/>
              <a:t>1	True	  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800" y="687625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	True         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8800" y="715499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	True         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800" y="744302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	True       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8800" y="773106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	True         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8800" y="801909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	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2816" y="3009310"/>
            <a:ext cx="1800200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Initial condition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708922" y="3435548"/>
            <a:ext cx="1" cy="4837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65104" y="2948915"/>
            <a:ext cx="2232248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Increment after execution of each loop</a:t>
            </a: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 flipH="1">
            <a:off x="4581128" y="3533690"/>
            <a:ext cx="900100" cy="2979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3429002" y="4083618"/>
            <a:ext cx="1152127" cy="432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37112" y="4347265"/>
            <a:ext cx="2088232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Condition to test whether to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917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allAtOnce"/>
      <p:bldP spid="10" grpId="0" build="allAtOnce"/>
      <p:bldP spid="11" grpId="0" build="allAtOnce"/>
      <p:bldP spid="12" grpId="0" build="allAtOnce"/>
      <p:bldP spid="1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and Array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213" y="1628775"/>
            <a:ext cx="5989637" cy="6040438"/>
          </a:xfrm>
        </p:spPr>
        <p:txBody>
          <a:bodyPr/>
          <a:lstStyle/>
          <a:p>
            <a:r>
              <a:rPr lang="en-GB" sz="2000" b="1" dirty="0"/>
              <a:t>To store data in an array, you should use a </a:t>
            </a:r>
            <a:r>
              <a:rPr lang="en-GB" sz="2000" b="1" i="1" dirty="0"/>
              <a:t>for</a:t>
            </a:r>
            <a:r>
              <a:rPr lang="en-GB" sz="2000" b="1" dirty="0"/>
              <a:t> loop: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216068" name="Text Box 4"/>
          <p:cNvSpPr txBox="1">
            <a:spLocks noChangeArrowheads="1"/>
          </p:cNvSpPr>
          <p:nvPr/>
        </p:nvSpPr>
        <p:spPr bwMode="auto">
          <a:xfrm>
            <a:off x="712140" y="4329113"/>
            <a:ext cx="5752954" cy="317009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33CC"/>
                </a:solidFill>
              </a:rPr>
              <a:t>int</a:t>
            </a:r>
            <a:r>
              <a:rPr lang="en-GB" sz="2000" dirty="0"/>
              <a:t> [] number = {10,20,30,40,50};</a:t>
            </a:r>
          </a:p>
          <a:p>
            <a:r>
              <a:rPr lang="en-GB" sz="2000" b="1" dirty="0" err="1">
                <a:solidFill>
                  <a:srgbClr val="0033CC"/>
                </a:solidFill>
              </a:rPr>
              <a:t>int</a:t>
            </a:r>
            <a:r>
              <a:rPr lang="en-GB" sz="2000" b="1" dirty="0">
                <a:solidFill>
                  <a:srgbClr val="0033CC"/>
                </a:solidFill>
              </a:rPr>
              <a:t> total=0;</a:t>
            </a:r>
          </a:p>
          <a:p>
            <a:r>
              <a:rPr lang="en-GB" sz="2000" dirty="0"/>
              <a:t>	</a:t>
            </a:r>
          </a:p>
          <a:p>
            <a:r>
              <a:rPr lang="en-GB" sz="2000" b="1" dirty="0">
                <a:solidFill>
                  <a:srgbClr val="0033CC"/>
                </a:solidFill>
              </a:rPr>
              <a:t>    for</a:t>
            </a:r>
            <a:r>
              <a:rPr lang="en-GB" sz="2000" dirty="0"/>
              <a:t> (</a:t>
            </a:r>
            <a:r>
              <a:rPr lang="en-GB" sz="2000" dirty="0" err="1">
                <a:solidFill>
                  <a:srgbClr val="0033CC"/>
                </a:solidFill>
              </a:rPr>
              <a:t>int</a:t>
            </a:r>
            <a:r>
              <a:rPr lang="en-GB" sz="2000" dirty="0"/>
              <a:t> item=0;item&lt;5;item++)</a:t>
            </a:r>
          </a:p>
          <a:p>
            <a:r>
              <a:rPr lang="en-GB" sz="2000" dirty="0"/>
              <a:t>      {</a:t>
            </a:r>
          </a:p>
          <a:p>
            <a:r>
              <a:rPr lang="en-GB" sz="2000" dirty="0"/>
              <a:t>          total = total + number[</a:t>
            </a:r>
            <a:r>
              <a:rPr lang="en-GB" sz="2000" b="1" dirty="0"/>
              <a:t>item</a:t>
            </a:r>
            <a:r>
              <a:rPr lang="en-GB" sz="2000" dirty="0"/>
              <a:t>];</a:t>
            </a:r>
          </a:p>
          <a:p>
            <a:r>
              <a:rPr lang="en-GB" sz="2000" dirty="0"/>
              <a:t>      }</a:t>
            </a:r>
          </a:p>
          <a:p>
            <a:r>
              <a:rPr lang="en-GB" sz="2000" dirty="0">
                <a:solidFill>
                  <a:srgbClr val="008000"/>
                </a:solidFill>
              </a:rPr>
              <a:t>	</a:t>
            </a:r>
          </a:p>
          <a:p>
            <a:r>
              <a:rPr lang="en-GB" sz="2000" dirty="0">
                <a:solidFill>
                  <a:srgbClr val="008000"/>
                </a:solidFill>
              </a:rPr>
              <a:t>// display total</a:t>
            </a:r>
          </a:p>
          <a:p>
            <a:r>
              <a:rPr lang="en-GB" sz="2000" dirty="0"/>
              <a:t>   </a:t>
            </a:r>
            <a:r>
              <a:rPr lang="en-GB" sz="2000" dirty="0" err="1"/>
              <a:t>lblTotal.Text</a:t>
            </a:r>
            <a:r>
              <a:rPr lang="en-GB" sz="2000" dirty="0"/>
              <a:t> = </a:t>
            </a:r>
            <a:r>
              <a:rPr lang="en-GB" sz="2000" dirty="0" err="1"/>
              <a:t>total.ToString</a:t>
            </a:r>
            <a:r>
              <a:rPr lang="en-GB" sz="2000" dirty="0"/>
              <a:t>();</a:t>
            </a: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1457325" y="2385510"/>
            <a:ext cx="41846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for ( </a:t>
            </a:r>
            <a:r>
              <a:rPr lang="en-US" sz="2000" dirty="0" err="1">
                <a:latin typeface="Arial" charset="0"/>
              </a:rPr>
              <a:t>initialise</a:t>
            </a:r>
            <a:r>
              <a:rPr lang="en-US" sz="2000" dirty="0">
                <a:latin typeface="Arial" charset="0"/>
              </a:rPr>
              <a:t>; condition; increment)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    statement1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    statement2 .... 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}</a:t>
            </a:r>
          </a:p>
        </p:txBody>
      </p:sp>
      <p:sp>
        <p:nvSpPr>
          <p:cNvPr id="216070" name="Text Box 6"/>
          <p:cNvSpPr txBox="1">
            <a:spLocks noChangeArrowheads="1"/>
          </p:cNvSpPr>
          <p:nvPr/>
        </p:nvSpPr>
        <p:spPr bwMode="auto">
          <a:xfrm>
            <a:off x="317500" y="7889763"/>
            <a:ext cx="62722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3538" indent="-363538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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sz="2400" dirty="0"/>
              <a:t>item is the index to the array and must always be of </a:t>
            </a:r>
            <a:r>
              <a:rPr lang="en-US" sz="2400" b="1" dirty="0" err="1">
                <a:solidFill>
                  <a:srgbClr val="0033CC"/>
                </a:solidFill>
              </a:rPr>
              <a:t>int</a:t>
            </a:r>
            <a:r>
              <a:rPr lang="en-US" sz="2400" dirty="0"/>
              <a:t> data type.</a:t>
            </a:r>
            <a:endParaRPr lang="en-GB" sz="24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4206" y="3969306"/>
            <a:ext cx="58308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Example: To sum 5 numbers in an array</a:t>
            </a:r>
            <a:endParaRPr lang="en-GB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 animBg="1"/>
      <p:bldP spid="216069" grpId="0"/>
      <p:bldP spid="2160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70175" y="383770"/>
            <a:ext cx="5837238" cy="593725"/>
          </a:xfrm>
        </p:spPr>
        <p:txBody>
          <a:bodyPr/>
          <a:lstStyle/>
          <a:p>
            <a:r>
              <a:rPr lang="en-GB" dirty="0"/>
              <a:t>Array Length Property</a:t>
            </a:r>
            <a:endParaRPr lang="en-US" dirty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06538"/>
            <a:ext cx="5829300" cy="7073900"/>
          </a:xfrm>
        </p:spPr>
        <p:txBody>
          <a:bodyPr/>
          <a:lstStyle/>
          <a:p>
            <a:r>
              <a:rPr lang="en-GB" sz="2000" dirty="0"/>
              <a:t>Every array in C# “knows” its own length (</a:t>
            </a:r>
            <a:r>
              <a:rPr lang="en-GB" sz="2000" dirty="0" err="1"/>
              <a:t>ie</a:t>
            </a:r>
            <a:r>
              <a:rPr lang="en-GB" sz="2000" dirty="0"/>
              <a:t>. number of elements or boxes).</a:t>
            </a:r>
          </a:p>
          <a:p>
            <a:r>
              <a:rPr lang="en-GB" sz="2000" dirty="0"/>
              <a:t>The length of an array is determined by the expression:</a:t>
            </a:r>
          </a:p>
          <a:p>
            <a:pPr>
              <a:buFont typeface="Wingdings" pitchFamily="2" charset="2"/>
              <a:buNone/>
            </a:pPr>
            <a:r>
              <a:rPr lang="en-GB" dirty="0"/>
              <a:t>	&lt;</a:t>
            </a:r>
            <a:r>
              <a:rPr lang="en-GB" dirty="0" err="1"/>
              <a:t>array_name</a:t>
            </a:r>
            <a:r>
              <a:rPr lang="en-GB" dirty="0"/>
              <a:t>&gt;</a:t>
            </a:r>
            <a:r>
              <a:rPr lang="en-GB" sz="3200" dirty="0">
                <a:solidFill>
                  <a:srgbClr val="FF0000"/>
                </a:solidFill>
              </a:rPr>
              <a:t>.</a:t>
            </a:r>
            <a:r>
              <a:rPr lang="en-GB" b="1" dirty="0">
                <a:solidFill>
                  <a:srgbClr val="FF0000"/>
                </a:solidFill>
              </a:rPr>
              <a:t>Length</a:t>
            </a:r>
          </a:p>
          <a:p>
            <a:pPr>
              <a:buFont typeface="Wingdings" pitchFamily="2" charset="2"/>
              <a:buNone/>
            </a:pPr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sz="2000" b="1" dirty="0"/>
              <a:t>Example</a:t>
            </a:r>
            <a:r>
              <a:rPr lang="en-GB" sz="2000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GB" sz="1800" b="1" dirty="0" err="1">
                <a:solidFill>
                  <a:srgbClr val="0033CC"/>
                </a:solidFill>
                <a:latin typeface="Verdana" pitchFamily="34" charset="0"/>
              </a:rPr>
              <a:t>int</a:t>
            </a:r>
            <a:r>
              <a:rPr lang="en-GB" sz="1800" b="1" dirty="0">
                <a:solidFill>
                  <a:srgbClr val="0033CC"/>
                </a:solidFill>
                <a:latin typeface="Verdana" pitchFamily="34" charset="0"/>
              </a:rPr>
              <a:t> [ ] age = {13, 33, 45, 22, 37, 11};</a:t>
            </a:r>
          </a:p>
          <a:p>
            <a:pPr>
              <a:buFont typeface="Wingdings" pitchFamily="2" charset="2"/>
              <a:buNone/>
            </a:pPr>
            <a:r>
              <a:rPr lang="en-GB" sz="1600" b="1" dirty="0" err="1">
                <a:solidFill>
                  <a:srgbClr val="0033CC"/>
                </a:solidFill>
                <a:latin typeface="Verdana" pitchFamily="34" charset="0"/>
              </a:rPr>
              <a:t>MessageBox.Show</a:t>
            </a:r>
            <a:r>
              <a:rPr lang="en-GB" sz="1600" b="1" dirty="0">
                <a:solidFill>
                  <a:srgbClr val="0033CC"/>
                </a:solidFill>
                <a:latin typeface="Verdana" pitchFamily="34" charset="0"/>
              </a:rPr>
              <a:t>( “length is” + </a:t>
            </a:r>
            <a:r>
              <a:rPr lang="en-GB" sz="1600" b="1" dirty="0" err="1">
                <a:solidFill>
                  <a:srgbClr val="0033CC"/>
                </a:solidFill>
                <a:latin typeface="Verdana" pitchFamily="34" charset="0"/>
              </a:rPr>
              <a:t>age.Length</a:t>
            </a:r>
            <a:r>
              <a:rPr lang="en-GB" sz="1600" b="1" dirty="0">
                <a:solidFill>
                  <a:srgbClr val="0033CC"/>
                </a:solidFill>
                <a:latin typeface="Verdana" pitchFamily="34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latin typeface="Verdana" pitchFamily="34" charset="0"/>
              </a:rPr>
              <a:t>//it displays length is 6 </a:t>
            </a:r>
          </a:p>
          <a:p>
            <a:pPr>
              <a:buFont typeface="Wingdings" pitchFamily="2" charset="2"/>
              <a:buNone/>
            </a:pPr>
            <a:endParaRPr lang="en-GB" sz="1800" dirty="0">
              <a:latin typeface="Verdana" pitchFamily="34" charset="0"/>
            </a:endParaRPr>
          </a:p>
          <a:p>
            <a:r>
              <a:rPr lang="en-GB" sz="2000" dirty="0"/>
              <a:t>We can use the </a:t>
            </a:r>
            <a:r>
              <a:rPr lang="en-GB" sz="2000" dirty="0" err="1"/>
              <a:t>Lenght</a:t>
            </a:r>
            <a:r>
              <a:rPr lang="en-GB" sz="2000" dirty="0"/>
              <a:t> property in the for loop:</a:t>
            </a:r>
          </a:p>
          <a:p>
            <a:pPr>
              <a:buFont typeface="Wingdings" pitchFamily="2" charset="2"/>
              <a:buNone/>
            </a:pPr>
            <a:r>
              <a:rPr lang="en-GB" sz="2000" b="1" dirty="0"/>
              <a:t>Example:</a:t>
            </a:r>
          </a:p>
          <a:p>
            <a:pPr>
              <a:buFont typeface="Wingdings" pitchFamily="2" charset="2"/>
              <a:buNone/>
            </a:pPr>
            <a:r>
              <a:rPr lang="en-GB" sz="2000" dirty="0" err="1">
                <a:solidFill>
                  <a:srgbClr val="0033CC"/>
                </a:solidFill>
              </a:rPr>
              <a:t>int</a:t>
            </a:r>
            <a:r>
              <a:rPr lang="en-GB" sz="2000" dirty="0">
                <a:solidFill>
                  <a:srgbClr val="0033CC"/>
                </a:solidFill>
              </a:rPr>
              <a:t> index;</a:t>
            </a:r>
          </a:p>
          <a:p>
            <a:pPr>
              <a:buFont typeface="Wingdings" pitchFamily="2" charset="2"/>
              <a:buNone/>
            </a:pPr>
            <a:r>
              <a:rPr lang="en-GB" sz="2000" dirty="0">
                <a:solidFill>
                  <a:srgbClr val="0033CC"/>
                </a:solidFill>
              </a:rPr>
              <a:t>for(index=0; index &lt; </a:t>
            </a:r>
            <a:r>
              <a:rPr lang="en-GB" sz="2000" b="1" dirty="0" err="1">
                <a:solidFill>
                  <a:srgbClr val="FF0000"/>
                </a:solidFill>
              </a:rPr>
              <a:t>age.Length</a:t>
            </a:r>
            <a:r>
              <a:rPr lang="en-GB" sz="2000" dirty="0">
                <a:solidFill>
                  <a:srgbClr val="0033CC"/>
                </a:solidFill>
              </a:rPr>
              <a:t>; index++)</a:t>
            </a:r>
          </a:p>
          <a:p>
            <a:pPr>
              <a:buFont typeface="Wingdings" pitchFamily="2" charset="2"/>
              <a:buNone/>
            </a:pPr>
            <a:r>
              <a:rPr lang="en-GB" sz="2000" dirty="0"/>
              <a:t>{</a:t>
            </a: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b="1" dirty="0">
                <a:solidFill>
                  <a:srgbClr val="0033CC"/>
                </a:solidFill>
                <a:latin typeface="Verdana" pitchFamily="34" charset="0"/>
              </a:rPr>
              <a:t> </a:t>
            </a:r>
            <a:r>
              <a:rPr lang="en-GB" sz="1800" b="1" dirty="0" err="1">
                <a:solidFill>
                  <a:srgbClr val="0033CC"/>
                </a:solidFill>
                <a:latin typeface="Verdana" pitchFamily="34" charset="0"/>
              </a:rPr>
              <a:t>MessageBox.Show</a:t>
            </a:r>
            <a:r>
              <a:rPr lang="en-GB" sz="1800" dirty="0"/>
              <a:t>(“value is” + age[index]);</a:t>
            </a:r>
            <a:endParaRPr lang="en-GB" sz="2000" dirty="0"/>
          </a:p>
          <a:p>
            <a:pPr>
              <a:buFont typeface="Wingdings" pitchFamily="2" charset="2"/>
              <a:buNone/>
            </a:pPr>
            <a:r>
              <a:rPr lang="en-GB" sz="2000" dirty="0"/>
              <a:t>}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403225"/>
            <a:ext cx="6074653" cy="508000"/>
          </a:xfrm>
        </p:spPr>
        <p:txBody>
          <a:bodyPr/>
          <a:lstStyle/>
          <a:p>
            <a:r>
              <a:rPr lang="en-GB" sz="3200" dirty="0"/>
              <a:t>Applying Arrays – Find average</a:t>
            </a:r>
            <a:endParaRPr lang="en-US" sz="3200" dirty="0"/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06413" y="1447800"/>
            <a:ext cx="5989637" cy="1438275"/>
          </a:xfrm>
          <a:noFill/>
          <a:ln/>
        </p:spPr>
        <p:txBody>
          <a:bodyPr/>
          <a:lstStyle/>
          <a:p>
            <a:r>
              <a:rPr lang="en-GB" dirty="0"/>
              <a:t>Find the total marks of an array of 3 marks. Display the average marks. </a:t>
            </a: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436563" y="2424793"/>
            <a:ext cx="6421437" cy="4690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//declare array marks of 3 elements, set to zero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0033CC"/>
                </a:solidFill>
                <a:latin typeface="Comic Sans MS" pitchFamily="66" charset="0"/>
              </a:rPr>
              <a:t>     </a:t>
            </a:r>
            <a:r>
              <a:rPr lang="en-GB" dirty="0">
                <a:latin typeface="Comic Sans MS" pitchFamily="66" charset="0"/>
              </a:rPr>
              <a:t>float [ ] marks ={30.0f,40.0f,50.0f};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</a:t>
            </a: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//declare total, set to zero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float total = 0.0, average;</a:t>
            </a:r>
          </a:p>
          <a:p>
            <a:pPr>
              <a:spcBef>
                <a:spcPct val="20000"/>
              </a:spcBef>
            </a:pPr>
            <a:endParaRPr lang="en-GB" dirty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for(</a:t>
            </a:r>
            <a:r>
              <a:rPr lang="en-GB" dirty="0" err="1">
                <a:latin typeface="Comic Sans MS" pitchFamily="66" charset="0"/>
              </a:rPr>
              <a:t>int</a:t>
            </a:r>
            <a:r>
              <a:rPr lang="en-GB" dirty="0">
                <a:latin typeface="Comic Sans MS" pitchFamily="66" charset="0"/>
              </a:rPr>
              <a:t> item=0; item &lt; </a:t>
            </a:r>
            <a:r>
              <a:rPr lang="en-GB" dirty="0" err="1">
                <a:latin typeface="Comic Sans MS" pitchFamily="66" charset="0"/>
              </a:rPr>
              <a:t>marks.Length</a:t>
            </a:r>
            <a:r>
              <a:rPr lang="en-GB" dirty="0">
                <a:latin typeface="Comic Sans MS" pitchFamily="66" charset="0"/>
              </a:rPr>
              <a:t>; item++)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{    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	// add marks to variable total</a:t>
            </a:r>
            <a:endParaRPr lang="en-GB" dirty="0"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	total = </a:t>
            </a:r>
            <a:r>
              <a:rPr lang="en-GB" dirty="0" err="1">
                <a:latin typeface="Comic Sans MS" pitchFamily="66" charset="0"/>
              </a:rPr>
              <a:t>total</a:t>
            </a:r>
            <a:r>
              <a:rPr lang="en-GB" dirty="0">
                <a:latin typeface="Comic Sans MS" pitchFamily="66" charset="0"/>
              </a:rPr>
              <a:t> + marks[item];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      }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// display the average marks</a:t>
            </a:r>
          </a:p>
          <a:p>
            <a:pPr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Comic Sans MS" pitchFamily="66" charset="0"/>
              </a:rPr>
              <a:t>average = total / </a:t>
            </a:r>
            <a:r>
              <a:rPr lang="en-GB" dirty="0" err="1">
                <a:latin typeface="Comic Sans MS" pitchFamily="66" charset="0"/>
              </a:rPr>
              <a:t>marks.Length</a:t>
            </a:r>
            <a:r>
              <a:rPr lang="en-GB" dirty="0">
                <a:latin typeface="Comic Sans MS" pitchFamily="66" charset="0"/>
              </a:rPr>
              <a:t> ;</a:t>
            </a:r>
          </a:p>
          <a:p>
            <a:pPr>
              <a:spcBef>
                <a:spcPct val="20000"/>
              </a:spcBef>
            </a:pPr>
            <a:r>
              <a:rPr lang="en-GB" dirty="0" err="1">
                <a:latin typeface="Comic Sans MS" pitchFamily="66" charset="0"/>
              </a:rPr>
              <a:t>lblAverage.Text</a:t>
            </a:r>
            <a:r>
              <a:rPr lang="en-GB" dirty="0">
                <a:latin typeface="Comic Sans MS" pitchFamily="66" charset="0"/>
              </a:rPr>
              <a:t> = </a:t>
            </a:r>
            <a:r>
              <a:rPr lang="en-GB" dirty="0" err="1">
                <a:latin typeface="Comic Sans MS" pitchFamily="66" charset="0"/>
              </a:rPr>
              <a:t>average.ToString</a:t>
            </a:r>
            <a:r>
              <a:rPr lang="en-GB" dirty="0">
                <a:latin typeface="Comic Sans MS" pitchFamily="66" charset="0"/>
              </a:rPr>
              <a:t>();</a:t>
            </a:r>
          </a:p>
          <a:p>
            <a:pPr>
              <a:spcBef>
                <a:spcPct val="20000"/>
              </a:spcBef>
            </a:pPr>
            <a:r>
              <a:rPr lang="en-GB" dirty="0">
                <a:latin typeface="Comic Sans MS" pitchFamily="66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6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6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6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6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6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75415"/>
            <a:ext cx="6054725" cy="847725"/>
          </a:xfrm>
        </p:spPr>
        <p:txBody>
          <a:bodyPr/>
          <a:lstStyle/>
          <a:p>
            <a:r>
              <a:rPr lang="en-US" dirty="0"/>
              <a:t>Apply Arrays –</a:t>
            </a:r>
            <a:br>
              <a:rPr lang="en-US" dirty="0"/>
            </a:br>
            <a:r>
              <a:rPr lang="en-US" dirty="0"/>
              <a:t>Find the Maximum</a:t>
            </a:r>
            <a:endParaRPr lang="en-GB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30" y="1232240"/>
            <a:ext cx="6421470" cy="3282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dirty="0"/>
              <a:t>Algorithm to find the maximum value in an array: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Store 1</a:t>
            </a:r>
            <a:r>
              <a:rPr lang="en-US" sz="1800" baseline="30000" dirty="0"/>
              <a:t>st</a:t>
            </a:r>
            <a:r>
              <a:rPr lang="en-US" sz="1800" dirty="0"/>
              <a:t> array element into a variable max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Loop thru array and do: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Compare each array element with variable max.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If array element is &gt; max, then replace max with the array element.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If array element is &lt;= max, do nothing.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After looping thru the array, max will contain the maximum value of the array and max index the position</a:t>
            </a:r>
            <a:endParaRPr lang="en-GB" sz="1800" dirty="0"/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466927" y="4085635"/>
            <a:ext cx="6019597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float [ ] marks = { 23.5f, 55.4f, 27.0f, 38.3f };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float max = marks[0]; // assume 1</a:t>
            </a:r>
            <a:r>
              <a:rPr lang="en-US" b="1" baseline="30000" dirty="0">
                <a:solidFill>
                  <a:srgbClr val="0033CC"/>
                </a:solidFill>
                <a:latin typeface="Comic Sans MS" pitchFamily="66" charset="0"/>
              </a:rPr>
              <a:t>st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is the max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int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0; // 1</a:t>
            </a:r>
            <a:r>
              <a:rPr lang="en-US" b="1" baseline="30000" dirty="0">
                <a:solidFill>
                  <a:srgbClr val="0033CC"/>
                </a:solidFill>
                <a:latin typeface="Comic Sans MS" pitchFamily="66" charset="0"/>
              </a:rPr>
              <a:t>st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position is the max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for(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int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item=1; item&lt;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marks.Length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; item++ )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{      if(max &lt; marks[item])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     { 	max = marks[ item ];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	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item;  }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MessageBox.Show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(“Max value is “ + max + “ at ” +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+ “ location”);</a:t>
            </a:r>
            <a:endParaRPr lang="en-GB" b="1" dirty="0">
              <a:solidFill>
                <a:srgbClr val="0033CC"/>
              </a:solidFill>
              <a:latin typeface="Comic Sans MS" pitchFamily="66" charset="0"/>
            </a:endParaRPr>
          </a:p>
        </p:txBody>
      </p:sp>
      <p:sp>
        <p:nvSpPr>
          <p:cNvPr id="5" name="Cloud 4"/>
          <p:cNvSpPr/>
          <p:nvPr/>
        </p:nvSpPr>
        <p:spPr>
          <a:xfrm>
            <a:off x="1206230" y="7957225"/>
            <a:ext cx="5457220" cy="953310"/>
          </a:xfrm>
          <a:prstGeom prst="cloud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See next slides for ** questions</a:t>
            </a:r>
          </a:p>
        </p:txBody>
      </p:sp>
      <p:cxnSp>
        <p:nvCxnSpPr>
          <p:cNvPr id="3" name="Elbow Connector 2"/>
          <p:cNvCxnSpPr/>
          <p:nvPr/>
        </p:nvCxnSpPr>
        <p:spPr>
          <a:xfrm>
            <a:off x="2305878" y="5295568"/>
            <a:ext cx="2456953" cy="628154"/>
          </a:xfrm>
          <a:prstGeom prst="bentConnector3">
            <a:avLst>
              <a:gd name="adj1" fmla="val 74919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33669" y="5295568"/>
            <a:ext cx="1359673" cy="3518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4786684" y="5670259"/>
            <a:ext cx="50093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**2</a:t>
            </a:r>
            <a:endParaRPr lang="en-SG" sz="1400" dirty="0"/>
          </a:p>
        </p:txBody>
      </p:sp>
      <p:cxnSp>
        <p:nvCxnSpPr>
          <p:cNvPr id="16" name="Elbow Connector 15"/>
          <p:cNvCxnSpPr/>
          <p:nvPr/>
        </p:nvCxnSpPr>
        <p:spPr>
          <a:xfrm>
            <a:off x="2829256" y="4862492"/>
            <a:ext cx="2888731" cy="6718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57522" y="4843330"/>
            <a:ext cx="1741337" cy="3518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/>
          <p:cNvSpPr txBox="1"/>
          <p:nvPr/>
        </p:nvSpPr>
        <p:spPr>
          <a:xfrm>
            <a:off x="5761973" y="4803067"/>
            <a:ext cx="641546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**1</a:t>
            </a:r>
            <a:endParaRPr lang="en-SG" sz="1400" dirty="0"/>
          </a:p>
        </p:txBody>
      </p:sp>
      <p:cxnSp>
        <p:nvCxnSpPr>
          <p:cNvPr id="21" name="Elbow Connector 20"/>
          <p:cNvCxnSpPr>
            <a:endCxn id="22" idx="1"/>
          </p:cNvCxnSpPr>
          <p:nvPr/>
        </p:nvCxnSpPr>
        <p:spPr>
          <a:xfrm>
            <a:off x="3277262" y="7873116"/>
            <a:ext cx="2731272" cy="12700"/>
          </a:xfrm>
          <a:prstGeom prst="bentConnector3">
            <a:avLst>
              <a:gd name="adj1" fmla="val 5145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08534" y="7719227"/>
            <a:ext cx="50093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**3</a:t>
            </a:r>
            <a:endParaRPr lang="en-SG" sz="1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 Quiz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78073"/>
            <a:ext cx="5829300" cy="6683375"/>
          </a:xfrm>
        </p:spPr>
        <p:txBody>
          <a:bodyPr/>
          <a:lstStyle/>
          <a:p>
            <a:r>
              <a:rPr lang="en-GB" dirty="0"/>
              <a:t>Why is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0 </a:t>
            </a:r>
            <a:r>
              <a:rPr lang="en-GB" dirty="0"/>
              <a:t>in **1 not 0f?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Why is </a:t>
            </a:r>
            <a:r>
              <a:rPr lang="en-GB" b="1" dirty="0" err="1">
                <a:solidFill>
                  <a:srgbClr val="0033CC"/>
                </a:solidFill>
              </a:rPr>
              <a:t>int</a:t>
            </a:r>
            <a:r>
              <a:rPr lang="en-GB" b="1" dirty="0">
                <a:solidFill>
                  <a:srgbClr val="0033CC"/>
                </a:solidFill>
              </a:rPr>
              <a:t> item=1 </a:t>
            </a:r>
            <a:r>
              <a:rPr lang="en-GB" dirty="0"/>
              <a:t>in **2? </a:t>
            </a:r>
          </a:p>
          <a:p>
            <a:endParaRPr lang="en-GB" dirty="0"/>
          </a:p>
          <a:p>
            <a:r>
              <a:rPr lang="en-GB" dirty="0"/>
              <a:t>What will be displayed in the message box at **3?</a:t>
            </a:r>
          </a:p>
          <a:p>
            <a:endParaRPr lang="en-GB" dirty="0"/>
          </a:p>
          <a:p>
            <a:r>
              <a:rPr lang="en-GB" dirty="0"/>
              <a:t>What will be displayed in the message box at **3,  if we were to modify the code to: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MessageBox.Show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(“Value is “ + marks[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]);</a:t>
            </a:r>
            <a:endParaRPr lang="en-GB" b="1" dirty="0">
              <a:solidFill>
                <a:srgbClr val="0033CC"/>
              </a:solidFill>
              <a:latin typeface="Comic Sans MS" pitchFamily="66" charset="0"/>
            </a:endParaRPr>
          </a:p>
          <a:p>
            <a:endParaRPr lang="en-SG" dirty="0"/>
          </a:p>
        </p:txBody>
      </p:sp>
      <p:pic>
        <p:nvPicPr>
          <p:cNvPr id="4" name="Picture 7" descr="Question_Clip_A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6925" y="179388"/>
            <a:ext cx="804863" cy="138906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8762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 Quiz &amp; answers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78073"/>
            <a:ext cx="5829300" cy="7480867"/>
          </a:xfrm>
        </p:spPr>
        <p:txBody>
          <a:bodyPr/>
          <a:lstStyle/>
          <a:p>
            <a:r>
              <a:rPr lang="en-GB" dirty="0"/>
              <a:t>Why is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0 </a:t>
            </a:r>
            <a:r>
              <a:rPr lang="en-GB" dirty="0"/>
              <a:t>in **1 not 0f? </a:t>
            </a:r>
          </a:p>
          <a:p>
            <a:r>
              <a:rPr lang="en-GB" i="1" dirty="0" err="1">
                <a:solidFill>
                  <a:srgbClr val="C00000"/>
                </a:solidFill>
              </a:rPr>
              <a:t>max_index</a:t>
            </a:r>
            <a:r>
              <a:rPr lang="en-GB" i="1" dirty="0">
                <a:solidFill>
                  <a:srgbClr val="C00000"/>
                </a:solidFill>
              </a:rPr>
              <a:t> is the position in array, not value. It is always integer regardless of </a:t>
            </a:r>
            <a:r>
              <a:rPr lang="en-GB" i="1" dirty="0" err="1">
                <a:solidFill>
                  <a:srgbClr val="C00000"/>
                </a:solidFill>
              </a:rPr>
              <a:t>of</a:t>
            </a:r>
            <a:r>
              <a:rPr lang="en-GB" i="1" dirty="0">
                <a:solidFill>
                  <a:srgbClr val="C00000"/>
                </a:solidFill>
              </a:rPr>
              <a:t> the array type (float)</a:t>
            </a:r>
          </a:p>
          <a:p>
            <a:endParaRPr lang="en-GB" dirty="0"/>
          </a:p>
          <a:p>
            <a:r>
              <a:rPr lang="en-GB" dirty="0"/>
              <a:t>Why is </a:t>
            </a:r>
            <a:r>
              <a:rPr lang="en-GB" b="1" dirty="0" err="1">
                <a:solidFill>
                  <a:srgbClr val="0033CC"/>
                </a:solidFill>
              </a:rPr>
              <a:t>int</a:t>
            </a:r>
            <a:r>
              <a:rPr lang="en-GB" b="1" dirty="0">
                <a:solidFill>
                  <a:srgbClr val="0033CC"/>
                </a:solidFill>
              </a:rPr>
              <a:t> item=1 </a:t>
            </a:r>
            <a:r>
              <a:rPr lang="en-GB" dirty="0"/>
              <a:t>in **2? </a:t>
            </a:r>
          </a:p>
          <a:p>
            <a:r>
              <a:rPr lang="en-GB" i="1" dirty="0">
                <a:solidFill>
                  <a:srgbClr val="C00000"/>
                </a:solidFill>
              </a:rPr>
              <a:t>We skip first item, so it starts from 1</a:t>
            </a:r>
          </a:p>
          <a:p>
            <a:endParaRPr lang="en-GB" i="1" dirty="0"/>
          </a:p>
          <a:p>
            <a:r>
              <a:rPr lang="en-GB" dirty="0"/>
              <a:t>What will be displayed in the message box at **3?</a:t>
            </a:r>
          </a:p>
          <a:p>
            <a:r>
              <a:rPr lang="en-GB" i="1" dirty="0">
                <a:solidFill>
                  <a:srgbClr val="C00000"/>
                </a:solidFill>
              </a:rPr>
              <a:t>Max value is 55.4 at 1 location</a:t>
            </a:r>
          </a:p>
          <a:p>
            <a:endParaRPr lang="en-GB" dirty="0"/>
          </a:p>
          <a:p>
            <a:r>
              <a:rPr lang="en-GB" dirty="0"/>
              <a:t>What will be displayed in the message box at **3,  if we were to modify the code to: </a:t>
            </a:r>
            <a:r>
              <a:rPr lang="en-US" sz="1800" b="1" dirty="0" err="1">
                <a:solidFill>
                  <a:srgbClr val="0033CC"/>
                </a:solidFill>
                <a:latin typeface="Comic Sans MS" pitchFamily="66" charset="0"/>
              </a:rPr>
              <a:t>MessageBox.Show</a:t>
            </a:r>
            <a:r>
              <a:rPr lang="en-US" sz="1800" b="1" dirty="0">
                <a:solidFill>
                  <a:srgbClr val="0033CC"/>
                </a:solidFill>
                <a:latin typeface="Comic Sans MS" pitchFamily="66" charset="0"/>
              </a:rPr>
              <a:t> (“Value is “ + marks[</a:t>
            </a:r>
            <a:r>
              <a:rPr lang="en-US" sz="1800" b="1" dirty="0" err="1">
                <a:solidFill>
                  <a:srgbClr val="0033CC"/>
                </a:solidFill>
                <a:latin typeface="Comic Sans MS" pitchFamily="66" charset="0"/>
              </a:rPr>
              <a:t>max_index</a:t>
            </a:r>
            <a:r>
              <a:rPr lang="en-US" sz="1800" b="1" dirty="0">
                <a:solidFill>
                  <a:srgbClr val="0033CC"/>
                </a:solidFill>
                <a:latin typeface="Comic Sans MS" pitchFamily="66" charset="0"/>
              </a:rPr>
              <a:t>]);</a:t>
            </a:r>
            <a:endParaRPr lang="en-GB" sz="1800" b="1" dirty="0">
              <a:solidFill>
                <a:srgbClr val="0033CC"/>
              </a:solidFill>
              <a:latin typeface="Comic Sans MS" pitchFamily="66" charset="0"/>
            </a:endParaRPr>
          </a:p>
          <a:p>
            <a:r>
              <a:rPr lang="en-GB" i="1" dirty="0">
                <a:solidFill>
                  <a:srgbClr val="C00000"/>
                </a:solidFill>
              </a:rPr>
              <a:t>Value is 55.4</a:t>
            </a:r>
            <a:endParaRPr lang="en-SG" i="1" dirty="0">
              <a:solidFill>
                <a:srgbClr val="C00000"/>
              </a:solidFill>
            </a:endParaRPr>
          </a:p>
        </p:txBody>
      </p:sp>
      <p:pic>
        <p:nvPicPr>
          <p:cNvPr id="4" name="Picture 7" descr="Question_Clip_A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6925" y="179388"/>
            <a:ext cx="804863" cy="1389062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521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5" y="275415"/>
            <a:ext cx="6054725" cy="847725"/>
          </a:xfrm>
        </p:spPr>
        <p:txBody>
          <a:bodyPr/>
          <a:lstStyle/>
          <a:p>
            <a:r>
              <a:rPr lang="en-US" dirty="0"/>
              <a:t>Apply Arrays –</a:t>
            </a:r>
            <a:br>
              <a:rPr lang="en-US" dirty="0"/>
            </a:br>
            <a:r>
              <a:rPr lang="en-US" dirty="0"/>
              <a:t>Find the Minimum</a:t>
            </a:r>
            <a:endParaRPr lang="en-GB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30" y="1232240"/>
            <a:ext cx="6421470" cy="3282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800" b="1" dirty="0"/>
              <a:t>Algorithm to find the minimum value in an array: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Store 1</a:t>
            </a:r>
            <a:r>
              <a:rPr lang="en-US" sz="1800" baseline="30000" dirty="0"/>
              <a:t>st</a:t>
            </a:r>
            <a:r>
              <a:rPr lang="en-US" sz="1800" dirty="0"/>
              <a:t> array element into a variable max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Loop thru array and do: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Compare each array element with variable max.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If array element is &lt; min, then replace min with the array element.</a:t>
            </a: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800" dirty="0"/>
              <a:t>If array element is &gt;= min, do nothing.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o"/>
            </a:pPr>
            <a:r>
              <a:rPr lang="en-US" sz="1800" dirty="0"/>
              <a:t>After looping thru the array, min will contain the maximum value of the array and min index the position</a:t>
            </a:r>
            <a:endParaRPr lang="en-GB" sz="1800" dirty="0"/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466928" y="4085635"/>
            <a:ext cx="59910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float [ ] marks = { 23.5f, 55.4f, 27.0f, 38.3f };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float min = marks[0]; // assume 1</a:t>
            </a:r>
            <a:r>
              <a:rPr lang="en-US" b="1" baseline="30000" dirty="0">
                <a:solidFill>
                  <a:srgbClr val="0033CC"/>
                </a:solidFill>
                <a:latin typeface="Comic Sans MS" pitchFamily="66" charset="0"/>
              </a:rPr>
              <a:t>st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is the min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int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min_index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0; // 1</a:t>
            </a:r>
            <a:r>
              <a:rPr lang="en-US" b="1" baseline="30000" dirty="0">
                <a:solidFill>
                  <a:srgbClr val="0033CC"/>
                </a:solidFill>
                <a:latin typeface="Comic Sans MS" pitchFamily="66" charset="0"/>
              </a:rPr>
              <a:t>st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position is the min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for(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int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item=1; item&lt;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marks.Length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; item++ )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{      if(min &gt; marks[item])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     { 	min = marks[ item ];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	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min_index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= item;  }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MessageBox.Show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(“Min value is “ + min + “ at ” + </a:t>
            </a:r>
            <a:r>
              <a:rPr lang="en-US" b="1" dirty="0" err="1">
                <a:solidFill>
                  <a:srgbClr val="0033CC"/>
                </a:solidFill>
                <a:latin typeface="Comic Sans MS" pitchFamily="66" charset="0"/>
              </a:rPr>
              <a:t>min_index</a:t>
            </a:r>
            <a:r>
              <a:rPr lang="en-US" b="1" dirty="0">
                <a:solidFill>
                  <a:srgbClr val="0033CC"/>
                </a:solidFill>
                <a:latin typeface="Comic Sans MS" pitchFamily="66" charset="0"/>
              </a:rPr>
              <a:t> + “ location”);</a:t>
            </a:r>
            <a:endParaRPr lang="en-GB" b="1" dirty="0">
              <a:solidFill>
                <a:srgbClr val="0033CC"/>
              </a:solidFill>
              <a:latin typeface="Comic Sans MS" pitchFamily="66" charset="0"/>
            </a:endParaRPr>
          </a:p>
        </p:txBody>
      </p:sp>
      <p:sp>
        <p:nvSpPr>
          <p:cNvPr id="5" name="Cloud 4"/>
          <p:cNvSpPr/>
          <p:nvPr/>
        </p:nvSpPr>
        <p:spPr>
          <a:xfrm>
            <a:off x="1206230" y="8055953"/>
            <a:ext cx="5457220" cy="854582"/>
          </a:xfrm>
          <a:prstGeom prst="cloud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Compare the code of the Find Max and Find Min. Spot the differences.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6230" y="5730949"/>
            <a:ext cx="2653389" cy="33984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285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/>
      <p:bldP spid="5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Quiz</a:t>
            </a:r>
            <a:endParaRPr lang="en-GB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1788"/>
            <a:ext cx="5829300" cy="6919912"/>
          </a:xfrm>
        </p:spPr>
        <p:txBody>
          <a:bodyPr/>
          <a:lstStyle/>
          <a:p>
            <a:r>
              <a:rPr lang="en-US"/>
              <a:t>What is a Array index or subscript?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What is the data type of a array index and what value does it usually start at?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Why is a Array Index so important?</a:t>
            </a:r>
            <a:endParaRPr lang="en-GB"/>
          </a:p>
        </p:txBody>
      </p:sp>
      <p:sp>
        <p:nvSpPr>
          <p:cNvPr id="242692" name="Text Box 4"/>
          <p:cNvSpPr txBox="1">
            <a:spLocks noChangeArrowheads="1"/>
          </p:cNvSpPr>
          <p:nvPr/>
        </p:nvSpPr>
        <p:spPr bwMode="auto">
          <a:xfrm>
            <a:off x="1031875" y="2344738"/>
            <a:ext cx="5043488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A array index or subscript is a number indicating the position of an array element in the array.</a:t>
            </a:r>
            <a:endParaRPr lang="en-GB" b="1">
              <a:solidFill>
                <a:srgbClr val="0033CC"/>
              </a:solidFill>
            </a:endParaRP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>
            <a:off x="1062038" y="5014913"/>
            <a:ext cx="5324475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A array index must be an INTEGER.</a:t>
            </a:r>
          </a:p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It usually starts at zero.</a:t>
            </a:r>
            <a:endParaRPr lang="en-GB" b="1">
              <a:solidFill>
                <a:srgbClr val="0033CC"/>
              </a:solidFill>
            </a:endParaRPr>
          </a:p>
        </p:txBody>
      </p:sp>
      <p:sp>
        <p:nvSpPr>
          <p:cNvPr id="242694" name="Text Box 6"/>
          <p:cNvSpPr txBox="1">
            <a:spLocks noChangeArrowheads="1"/>
          </p:cNvSpPr>
          <p:nvPr/>
        </p:nvSpPr>
        <p:spPr bwMode="auto">
          <a:xfrm>
            <a:off x="987425" y="7034213"/>
            <a:ext cx="52800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You can only get to a array element thru the array Index.  ie. read the data or store data into it.</a:t>
            </a:r>
            <a:endParaRPr lang="en-GB" b="1">
              <a:solidFill>
                <a:srgbClr val="0033CC"/>
              </a:solidFill>
            </a:endParaRPr>
          </a:p>
        </p:txBody>
      </p:sp>
      <p:pic>
        <p:nvPicPr>
          <p:cNvPr id="242695" name="Picture 7" descr="Question_Clip_A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6925" y="179388"/>
            <a:ext cx="804863" cy="1389062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/>
      <p:bldP spid="242693" grpId="0"/>
      <p:bldP spid="2426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/>
              <a:t>Processing Arrays in Parallel</a:t>
            </a:r>
            <a:endParaRPr lang="en-US" sz="3200"/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408113"/>
            <a:ext cx="5945187" cy="6683375"/>
          </a:xfrm>
        </p:spPr>
        <p:txBody>
          <a:bodyPr/>
          <a:lstStyle/>
          <a:p>
            <a:r>
              <a:rPr lang="en-GB" sz="1800">
                <a:latin typeface="Verdana" pitchFamily="34" charset="0"/>
              </a:rPr>
              <a:t>We can link many 1D arrays using the array index.</a:t>
            </a:r>
          </a:p>
          <a:p>
            <a:pPr>
              <a:buFont typeface="Wingdings" pitchFamily="2" charset="2"/>
              <a:buNone/>
            </a:pPr>
            <a:r>
              <a:rPr lang="en-GB" sz="1800" u="sng">
                <a:latin typeface="Verdana" pitchFamily="34" charset="0"/>
              </a:rPr>
              <a:t>For example:</a:t>
            </a:r>
          </a:p>
          <a:p>
            <a:pPr>
              <a:buFont typeface="Wingdings" pitchFamily="2" charset="2"/>
              <a:buNone/>
            </a:pPr>
            <a:endParaRPr lang="en-GB" sz="1800">
              <a:latin typeface="Verdana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800">
              <a:latin typeface="Verdana" pitchFamily="34" charset="0"/>
            </a:endParaRPr>
          </a:p>
        </p:txBody>
      </p:sp>
      <p:graphicFrame>
        <p:nvGraphicFramePr>
          <p:cNvPr id="223269" name="Group 37"/>
          <p:cNvGraphicFramePr>
            <a:graphicFrameLocks noGrp="1"/>
          </p:cNvGraphicFramePr>
          <p:nvPr>
            <p:ph sz="half" idx="2"/>
          </p:nvPr>
        </p:nvGraphicFramePr>
        <p:xfrm>
          <a:off x="2430463" y="2670175"/>
          <a:ext cx="3486150" cy="57785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Alex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3270" name="Group 38"/>
          <p:cNvGraphicFramePr>
            <a:graphicFrameLocks noGrp="1"/>
          </p:cNvGraphicFramePr>
          <p:nvPr/>
        </p:nvGraphicFramePr>
        <p:xfrm>
          <a:off x="2447925" y="4137025"/>
          <a:ext cx="3486150" cy="57785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3308" name="Group 76"/>
          <p:cNvGraphicFramePr>
            <a:graphicFrameLocks noGrp="1"/>
          </p:cNvGraphicFramePr>
          <p:nvPr/>
        </p:nvGraphicFramePr>
        <p:xfrm>
          <a:off x="2511425" y="4813300"/>
          <a:ext cx="3486150" cy="38735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3328" name="Group 96"/>
          <p:cNvGraphicFramePr>
            <a:graphicFrameLocks noGrp="1"/>
          </p:cNvGraphicFramePr>
          <p:nvPr/>
        </p:nvGraphicFramePr>
        <p:xfrm>
          <a:off x="2463800" y="3316288"/>
          <a:ext cx="3486150" cy="38735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3346" name="Text Box 114"/>
          <p:cNvSpPr txBox="1">
            <a:spLocks noChangeArrowheads="1"/>
          </p:cNvSpPr>
          <p:nvPr/>
        </p:nvSpPr>
        <p:spPr bwMode="auto">
          <a:xfrm>
            <a:off x="771525" y="2757488"/>
            <a:ext cx="153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>
                <a:solidFill>
                  <a:srgbClr val="0033CC"/>
                </a:solidFill>
              </a:rPr>
              <a:t>Student</a:t>
            </a:r>
            <a:endParaRPr lang="en-US" b="1">
              <a:solidFill>
                <a:srgbClr val="0033CC"/>
              </a:solidFill>
            </a:endParaRPr>
          </a:p>
        </p:txBody>
      </p:sp>
      <p:sp>
        <p:nvSpPr>
          <p:cNvPr id="223347" name="Text Box 115"/>
          <p:cNvSpPr txBox="1">
            <a:spLocks noChangeArrowheads="1"/>
          </p:cNvSpPr>
          <p:nvPr/>
        </p:nvSpPr>
        <p:spPr bwMode="auto">
          <a:xfrm>
            <a:off x="833438" y="4240213"/>
            <a:ext cx="153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>
                <a:solidFill>
                  <a:srgbClr val="0033CC"/>
                </a:solidFill>
              </a:rPr>
              <a:t>Marks</a:t>
            </a:r>
            <a:endParaRPr lang="en-US" b="1">
              <a:solidFill>
                <a:srgbClr val="0033CC"/>
              </a:solidFill>
            </a:endParaRPr>
          </a:p>
        </p:txBody>
      </p:sp>
      <p:sp>
        <p:nvSpPr>
          <p:cNvPr id="223348" name="Text Box 116"/>
          <p:cNvSpPr txBox="1">
            <a:spLocks noChangeArrowheads="1"/>
          </p:cNvSpPr>
          <p:nvPr/>
        </p:nvSpPr>
        <p:spPr bwMode="auto">
          <a:xfrm>
            <a:off x="677863" y="5392738"/>
            <a:ext cx="5786437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q"/>
            </a:pPr>
            <a:r>
              <a:rPr lang="en-GB"/>
              <a:t>We can link the 2 arrays above using the red indexes.</a:t>
            </a:r>
          </a:p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q"/>
            </a:pPr>
            <a:r>
              <a:rPr lang="en-GB"/>
              <a:t>John mark is 22.  We can link this thru the index 0, as:</a:t>
            </a:r>
          </a:p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GB"/>
              <a:t>	Student[</a:t>
            </a:r>
            <a:r>
              <a:rPr lang="en-GB" b="1">
                <a:solidFill>
                  <a:srgbClr val="FF0000"/>
                </a:solidFill>
              </a:rPr>
              <a:t>0</a:t>
            </a:r>
            <a:r>
              <a:rPr lang="en-GB"/>
              <a:t>] is “John” and Marks[</a:t>
            </a:r>
            <a:r>
              <a:rPr lang="en-GB" b="1">
                <a:solidFill>
                  <a:srgbClr val="FF0000"/>
                </a:solidFill>
              </a:rPr>
              <a:t>0</a:t>
            </a:r>
            <a:r>
              <a:rPr lang="en-GB"/>
              <a:t>] is 22</a:t>
            </a:r>
          </a:p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q"/>
            </a:pPr>
            <a:r>
              <a:rPr lang="en-GB"/>
              <a:t>By keeping track of the index, we can link the 2 arrays.</a:t>
            </a:r>
          </a:p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q"/>
            </a:pPr>
            <a:r>
              <a:rPr lang="en-GB"/>
              <a:t>We can extend this to many 1D arrays.</a:t>
            </a:r>
          </a:p>
          <a:p>
            <a:pPr marL="361950" indent="-361950"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q"/>
            </a:pPr>
            <a:endParaRPr lang="en-US"/>
          </a:p>
        </p:txBody>
      </p:sp>
      <p:sp>
        <p:nvSpPr>
          <p:cNvPr id="223349" name="Text Box 117"/>
          <p:cNvSpPr txBox="1">
            <a:spLocks noChangeArrowheads="1"/>
          </p:cNvSpPr>
          <p:nvPr/>
        </p:nvSpPr>
        <p:spPr bwMode="auto">
          <a:xfrm>
            <a:off x="1062038" y="3349625"/>
            <a:ext cx="1076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index</a:t>
            </a:r>
            <a:endParaRPr lang="en-GB" b="1"/>
          </a:p>
        </p:txBody>
      </p:sp>
      <p:sp>
        <p:nvSpPr>
          <p:cNvPr id="223350" name="Text Box 118"/>
          <p:cNvSpPr txBox="1">
            <a:spLocks noChangeArrowheads="1"/>
          </p:cNvSpPr>
          <p:nvPr/>
        </p:nvSpPr>
        <p:spPr bwMode="auto">
          <a:xfrm>
            <a:off x="1046163" y="4795838"/>
            <a:ext cx="1076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index</a:t>
            </a:r>
            <a:endParaRPr lang="en-GB" b="1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rgbClr val="FF0000"/>
                </a:solidFill>
              </a:rPr>
              <a:t>Example1 of Parallel Processing: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4261" y="5107093"/>
            <a:ext cx="6089073" cy="32932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1600" dirty="0"/>
              <a:t>private void </a:t>
            </a:r>
            <a:r>
              <a:rPr lang="en-SG" sz="1600" dirty="0" err="1"/>
              <a:t>BtnDisplay_Click</a:t>
            </a:r>
            <a:r>
              <a:rPr lang="en-SG" sz="1600" dirty="0"/>
              <a:t>(object sender, </a:t>
            </a:r>
            <a:r>
              <a:rPr lang="en-SG" sz="1600" dirty="0" err="1"/>
              <a:t>EventArgs</a:t>
            </a:r>
            <a:r>
              <a:rPr lang="en-SG" sz="1600" dirty="0"/>
              <a:t> e)</a:t>
            </a:r>
          </a:p>
          <a:p>
            <a:r>
              <a:rPr lang="en-SG" sz="1600" dirty="0"/>
              <a:t>        {</a:t>
            </a:r>
          </a:p>
          <a:p>
            <a:r>
              <a:rPr lang="en-SG" sz="1600" dirty="0"/>
              <a:t>            string [] name = {"Alex", "Betty", "Charles"};</a:t>
            </a:r>
          </a:p>
          <a:p>
            <a:r>
              <a:rPr lang="en-SG" sz="1600" dirty="0"/>
              <a:t>            </a:t>
            </a:r>
            <a:r>
              <a:rPr lang="en-SG" sz="1600" dirty="0" err="1"/>
              <a:t>int</a:t>
            </a:r>
            <a:r>
              <a:rPr lang="en-SG" sz="1600" dirty="0"/>
              <a:t> [] age = {22,15,17};</a:t>
            </a:r>
          </a:p>
          <a:p>
            <a:r>
              <a:rPr lang="en-SG" sz="1600" dirty="0"/>
              <a:t>            string display;</a:t>
            </a:r>
          </a:p>
          <a:p>
            <a:endParaRPr lang="en-SG" sz="1600" dirty="0"/>
          </a:p>
          <a:p>
            <a:r>
              <a:rPr lang="nn-NO" sz="1600" dirty="0"/>
              <a:t>            for (int i=0; i &lt; name.Length; i++)</a:t>
            </a:r>
          </a:p>
          <a:p>
            <a:r>
              <a:rPr lang="en-SG" sz="1600" dirty="0"/>
              <a:t>            {</a:t>
            </a:r>
          </a:p>
          <a:p>
            <a:r>
              <a:rPr lang="en-SG" sz="1600" dirty="0"/>
              <a:t>            display= name[</a:t>
            </a:r>
            <a:r>
              <a:rPr lang="en-SG" sz="1600" dirty="0" err="1"/>
              <a:t>i</a:t>
            </a:r>
            <a:r>
              <a:rPr lang="en-SG" sz="1600" dirty="0"/>
              <a:t>] + " is " + age[</a:t>
            </a:r>
            <a:r>
              <a:rPr lang="en-SG" sz="1600" dirty="0" err="1"/>
              <a:t>i</a:t>
            </a:r>
            <a:r>
              <a:rPr lang="en-SG" sz="1600" dirty="0"/>
              <a:t>] + "\n";</a:t>
            </a:r>
          </a:p>
          <a:p>
            <a:r>
              <a:rPr lang="en-SG" sz="1600" dirty="0"/>
              <a:t>            </a:t>
            </a:r>
            <a:r>
              <a:rPr lang="en-SG" sz="1600" dirty="0" err="1"/>
              <a:t>txtDisplay.AppendText</a:t>
            </a:r>
            <a:r>
              <a:rPr lang="en-SG" sz="1600" dirty="0"/>
              <a:t>(display);</a:t>
            </a:r>
          </a:p>
          <a:p>
            <a:r>
              <a:rPr lang="en-SG" sz="1600" dirty="0"/>
              <a:t>            }</a:t>
            </a:r>
          </a:p>
          <a:p>
            <a:endParaRPr lang="en-SG" sz="1600" dirty="0"/>
          </a:p>
          <a:p>
            <a:r>
              <a:rPr lang="en-SG" sz="1600" dirty="0"/>
              <a:t>        }</a:t>
            </a:r>
          </a:p>
        </p:txBody>
      </p:sp>
      <p:sp>
        <p:nvSpPr>
          <p:cNvPr id="2" name="Rectangle 1"/>
          <p:cNvSpPr/>
          <p:nvPr/>
        </p:nvSpPr>
        <p:spPr>
          <a:xfrm>
            <a:off x="448535" y="1240736"/>
            <a:ext cx="60890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000" dirty="0"/>
              <a:t>We will combine all things we have learnt into a program to store name and age into arrays. Display them using FOR loop</a:t>
            </a:r>
          </a:p>
        </p:txBody>
      </p:sp>
      <p:pic>
        <p:nvPicPr>
          <p:cNvPr id="3" name="Picture 2" descr="Form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051" y="2390577"/>
            <a:ext cx="2524224" cy="2524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53025" y="3476625"/>
            <a:ext cx="1181100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txtDisplay</a:t>
            </a:r>
            <a:endParaRPr lang="en-SG" sz="1600" dirty="0"/>
          </a:p>
        </p:txBody>
      </p:sp>
      <p:cxnSp>
        <p:nvCxnSpPr>
          <p:cNvPr id="7" name="Straight Arrow Connector 6"/>
          <p:cNvCxnSpPr>
            <a:stCxn id="4" idx="1"/>
            <a:endCxn id="3" idx="3"/>
          </p:cNvCxnSpPr>
          <p:nvPr/>
        </p:nvCxnSpPr>
        <p:spPr>
          <a:xfrm flipH="1">
            <a:off x="4867275" y="3648075"/>
            <a:ext cx="285750" cy="46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56508" y="2881164"/>
            <a:ext cx="1181100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BtnDisplay</a:t>
            </a:r>
            <a:endParaRPr lang="en-SG" sz="1600" dirty="0"/>
          </a:p>
        </p:txBody>
      </p:sp>
      <p:cxnSp>
        <p:nvCxnSpPr>
          <p:cNvPr id="12" name="Straight Arrow Connector 11"/>
          <p:cNvCxnSpPr>
            <a:stCxn id="11" idx="1"/>
          </p:cNvCxnSpPr>
          <p:nvPr/>
        </p:nvCxnSpPr>
        <p:spPr>
          <a:xfrm flipH="1">
            <a:off x="4714875" y="3052614"/>
            <a:ext cx="64163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in more array</a:t>
            </a:r>
            <a:endParaRPr lang="en-SG" dirty="0"/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528637" y="3267075"/>
            <a:ext cx="6043613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Modify the program to: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Create another 2 arrays to store the students’ height and weight (use float data type).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Initialise the arrays with your own values.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Display all the data in the format below:</a:t>
            </a:r>
          </a:p>
          <a:p>
            <a:pPr>
              <a:spcBef>
                <a:spcPct val="50000"/>
              </a:spcBef>
            </a:pPr>
            <a:r>
              <a:rPr lang="en-GB" b="1" dirty="0">
                <a:solidFill>
                  <a:srgbClr val="FF0000"/>
                </a:solidFill>
                <a:latin typeface="Arial" charset="0"/>
              </a:rPr>
              <a:t>Alex age is 22, height is </a:t>
            </a:r>
            <a:r>
              <a:rPr lang="en-GB" b="1" i="1" dirty="0">
                <a:latin typeface="Arial" charset="0"/>
              </a:rPr>
              <a:t>XX</a:t>
            </a:r>
            <a:r>
              <a:rPr lang="en-GB" b="1" dirty="0">
                <a:solidFill>
                  <a:srgbClr val="FF0000"/>
                </a:solidFill>
                <a:latin typeface="Arial" charset="0"/>
              </a:rPr>
              <a:t> m, and weighs</a:t>
            </a:r>
            <a:r>
              <a:rPr lang="en-GB" b="1" i="1" dirty="0">
                <a:latin typeface="Arial" charset="0"/>
              </a:rPr>
              <a:t> YY</a:t>
            </a:r>
            <a:r>
              <a:rPr lang="en-GB" b="1" dirty="0">
                <a:solidFill>
                  <a:srgbClr val="FF0000"/>
                </a:solidFill>
                <a:latin typeface="Arial" charset="0"/>
              </a:rPr>
              <a:t> kg.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(XX and YY are your own values)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" y="12515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525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5088"/>
            <a:ext cx="5829300" cy="6683375"/>
          </a:xfrm>
        </p:spPr>
        <p:txBody>
          <a:bodyPr/>
          <a:lstStyle/>
          <a:p>
            <a:pPr marL="342900" lvl="1" indent="-342900"/>
            <a:r>
              <a:rPr lang="en-US" sz="2000" dirty="0"/>
              <a:t>The following example summarize all that we have learnt about array. We will explore </a:t>
            </a:r>
            <a:r>
              <a:rPr lang="en-US" sz="2000" b="1" dirty="0"/>
              <a:t>finding value</a:t>
            </a:r>
            <a:r>
              <a:rPr lang="en-US" sz="2000" dirty="0"/>
              <a:t> from array, </a:t>
            </a:r>
            <a:r>
              <a:rPr lang="en-US" sz="2000" b="1" dirty="0"/>
              <a:t>finding maximum </a:t>
            </a:r>
            <a:r>
              <a:rPr lang="en-US" sz="2000" dirty="0"/>
              <a:t>value and </a:t>
            </a:r>
            <a:r>
              <a:rPr lang="en-US" sz="2000" b="1" dirty="0"/>
              <a:t>minimum value</a:t>
            </a:r>
            <a:r>
              <a:rPr lang="en-US" sz="2000" dirty="0"/>
              <a:t>. Using </a:t>
            </a:r>
            <a:r>
              <a:rPr lang="en-US" sz="2000" b="1" dirty="0"/>
              <a:t>parallel processing</a:t>
            </a:r>
            <a:r>
              <a:rPr lang="en-US" sz="2000" dirty="0"/>
              <a:t> to retrieve the details.</a:t>
            </a:r>
            <a:endParaRPr lang="en-SG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title"/>
          </p:nvPr>
        </p:nvSpPr>
        <p:spPr>
          <a:xfrm>
            <a:off x="600075" y="314325"/>
            <a:ext cx="6054725" cy="847725"/>
          </a:xfrm>
        </p:spPr>
        <p:txBody>
          <a:bodyPr/>
          <a:lstStyle/>
          <a:p>
            <a:r>
              <a:rPr lang="en-GB" sz="3200" dirty="0">
                <a:solidFill>
                  <a:srgbClr val="FF0000"/>
                </a:solidFill>
              </a:rPr>
              <a:t>Example2 on Search, Find Max and Find Min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" name="Picture 4" descr="Form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743" y="3335495"/>
            <a:ext cx="2347164" cy="36731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81550" y="4276725"/>
            <a:ext cx="1181100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txtDisplay</a:t>
            </a:r>
            <a:endParaRPr lang="en-SG" sz="1600" dirty="0"/>
          </a:p>
        </p:txBody>
      </p:sp>
      <p:cxnSp>
        <p:nvCxnSpPr>
          <p:cNvPr id="7" name="Straight Arrow Connector 6"/>
          <p:cNvCxnSpPr>
            <a:stCxn id="6" idx="1"/>
          </p:cNvCxnSpPr>
          <p:nvPr/>
        </p:nvCxnSpPr>
        <p:spPr>
          <a:xfrm flipH="1">
            <a:off x="4114800" y="4448175"/>
            <a:ext cx="6667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80258" y="3681264"/>
            <a:ext cx="1181100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BtnDisplay</a:t>
            </a:r>
            <a:endParaRPr lang="en-SG" sz="1600" dirty="0"/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4238625" y="3852714"/>
            <a:ext cx="64163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" y="5581650"/>
            <a:ext cx="1470308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BtnFind</a:t>
            </a:r>
            <a:endParaRPr lang="en-SG" sz="1600" dirty="0"/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>
            <a:off x="1927508" y="5753100"/>
            <a:ext cx="38706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6000750"/>
            <a:ext cx="1470308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BtnOldest</a:t>
            </a:r>
            <a:endParaRPr lang="en-SG" sz="1600" dirty="0"/>
          </a:p>
        </p:txBody>
      </p:sp>
      <p:cxnSp>
        <p:nvCxnSpPr>
          <p:cNvPr id="18" name="Straight Arrow Connector 17"/>
          <p:cNvCxnSpPr>
            <a:stCxn id="17" idx="3"/>
          </p:cNvCxnSpPr>
          <p:nvPr/>
        </p:nvCxnSpPr>
        <p:spPr>
          <a:xfrm>
            <a:off x="1927508" y="6172200"/>
            <a:ext cx="38706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00574" y="6000750"/>
            <a:ext cx="1590675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BtnYoungest</a:t>
            </a:r>
            <a:endParaRPr lang="en-SG" sz="16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876676" y="6172200"/>
            <a:ext cx="8191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00575" y="5505450"/>
            <a:ext cx="1181100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txtName</a:t>
            </a:r>
            <a:endParaRPr lang="en-SG" sz="1600" dirty="0"/>
          </a:p>
        </p:txBody>
      </p:sp>
      <p:cxnSp>
        <p:nvCxnSpPr>
          <p:cNvPr id="24" name="Straight Arrow Connector 23"/>
          <p:cNvCxnSpPr>
            <a:stCxn id="23" idx="1"/>
          </p:cNvCxnSpPr>
          <p:nvPr/>
        </p:nvCxnSpPr>
        <p:spPr>
          <a:xfrm flipH="1">
            <a:off x="3933825" y="5676900"/>
            <a:ext cx="6667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6486525"/>
            <a:ext cx="1470308" cy="3429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LblResult</a:t>
            </a:r>
            <a:endParaRPr lang="en-SG" sz="1600" dirty="0"/>
          </a:p>
        </p:txBody>
      </p:sp>
      <p:cxnSp>
        <p:nvCxnSpPr>
          <p:cNvPr id="26" name="Straight Arrow Connector 25"/>
          <p:cNvCxnSpPr>
            <a:stCxn id="25" idx="3"/>
          </p:cNvCxnSpPr>
          <p:nvPr/>
        </p:nvCxnSpPr>
        <p:spPr>
          <a:xfrm>
            <a:off x="1927508" y="6657975"/>
            <a:ext cx="38706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-Point Star 20"/>
          <p:cNvSpPr/>
          <p:nvPr/>
        </p:nvSpPr>
        <p:spPr>
          <a:xfrm>
            <a:off x="4114801" y="6435079"/>
            <a:ext cx="2505074" cy="225947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913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238125"/>
            <a:ext cx="6054725" cy="847725"/>
          </a:xfrm>
        </p:spPr>
        <p:txBody>
          <a:bodyPr/>
          <a:lstStyle/>
          <a:p>
            <a:r>
              <a:rPr lang="en-GB" dirty="0"/>
              <a:t>Code using class variable, display array details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504825" y="1354247"/>
            <a:ext cx="6115050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600" dirty="0"/>
              <a:t> // class variable</a:t>
            </a:r>
          </a:p>
          <a:p>
            <a:r>
              <a:rPr lang="en-SG" sz="1600" dirty="0"/>
              <a:t>        string[] name = { "Alex", "Betty", "Charles" };</a:t>
            </a:r>
          </a:p>
          <a:p>
            <a:r>
              <a:rPr lang="en-SG" sz="1600" dirty="0"/>
              <a:t>        </a:t>
            </a:r>
            <a:r>
              <a:rPr lang="en-SG" sz="1600" dirty="0" err="1"/>
              <a:t>int</a:t>
            </a:r>
            <a:r>
              <a:rPr lang="en-SG" sz="1600" dirty="0"/>
              <a:t>[] age = { 22, 15, 17 };</a:t>
            </a:r>
          </a:p>
          <a:p>
            <a:endParaRPr lang="en-SG" sz="1600" dirty="0"/>
          </a:p>
          <a:p>
            <a:r>
              <a:rPr lang="en-SG" sz="1600" dirty="0"/>
              <a:t>        private void </a:t>
            </a:r>
            <a:r>
              <a:rPr lang="en-SG" sz="1600" dirty="0" err="1"/>
              <a:t>BtnDisplay_Click</a:t>
            </a:r>
            <a:r>
              <a:rPr lang="en-SG" sz="1600" dirty="0"/>
              <a:t>(object sender, </a:t>
            </a:r>
            <a:r>
              <a:rPr lang="en-SG" sz="1600" dirty="0" err="1"/>
              <a:t>EventArgs</a:t>
            </a:r>
            <a:r>
              <a:rPr lang="en-SG" sz="1600" dirty="0"/>
              <a:t> e)</a:t>
            </a:r>
          </a:p>
          <a:p>
            <a:r>
              <a:rPr lang="en-SG" sz="1600" dirty="0"/>
              <a:t>        {        </a:t>
            </a:r>
          </a:p>
          <a:p>
            <a:r>
              <a:rPr lang="en-SG" sz="1600" dirty="0"/>
              <a:t>            string display;</a:t>
            </a:r>
          </a:p>
          <a:p>
            <a:endParaRPr lang="en-SG" sz="1600" dirty="0"/>
          </a:p>
          <a:p>
            <a:r>
              <a:rPr lang="nn-NO" sz="1600" dirty="0"/>
              <a:t>            for (int i = 0; i &lt; name.Length; i++)</a:t>
            </a:r>
          </a:p>
          <a:p>
            <a:r>
              <a:rPr lang="en-SG" sz="1600" dirty="0"/>
              <a:t>            {</a:t>
            </a:r>
          </a:p>
          <a:p>
            <a:r>
              <a:rPr lang="en-SG" sz="1600" dirty="0"/>
              <a:t>                display = name[</a:t>
            </a:r>
            <a:r>
              <a:rPr lang="en-SG" sz="1600" dirty="0" err="1"/>
              <a:t>i</a:t>
            </a:r>
            <a:r>
              <a:rPr lang="en-SG" sz="1600" dirty="0"/>
              <a:t>] + " is " + age[</a:t>
            </a:r>
            <a:r>
              <a:rPr lang="en-SG" sz="1600" dirty="0" err="1"/>
              <a:t>i</a:t>
            </a:r>
            <a:r>
              <a:rPr lang="en-SG" sz="1600" dirty="0"/>
              <a:t>] + "\n";</a:t>
            </a:r>
          </a:p>
          <a:p>
            <a:r>
              <a:rPr lang="en-SG" sz="1600" dirty="0"/>
              <a:t>                </a:t>
            </a:r>
            <a:r>
              <a:rPr lang="en-SG" sz="1600" dirty="0" err="1"/>
              <a:t>txtDisplay.AppendText</a:t>
            </a:r>
            <a:r>
              <a:rPr lang="en-SG" sz="1600" dirty="0"/>
              <a:t>(display);</a:t>
            </a:r>
          </a:p>
          <a:p>
            <a:r>
              <a:rPr lang="en-SG" sz="1600" dirty="0"/>
              <a:t>            }</a:t>
            </a:r>
          </a:p>
          <a:p>
            <a:r>
              <a:rPr lang="en-SG" sz="1600" dirty="0"/>
              <a:t>        }</a:t>
            </a:r>
          </a:p>
        </p:txBody>
      </p:sp>
      <p:pic>
        <p:nvPicPr>
          <p:cNvPr id="6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80" y="5495409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844059" y="5319677"/>
            <a:ext cx="437812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Name the class variables in the program.</a:t>
            </a:r>
          </a:p>
          <a:p>
            <a:pPr>
              <a:spcBef>
                <a:spcPct val="50000"/>
              </a:spcBef>
            </a:pPr>
            <a:endParaRPr lang="en-GB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GB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GB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Why do we need to use class variables?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71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on Search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514351" y="1321028"/>
            <a:ext cx="6038849" cy="5047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private void </a:t>
            </a:r>
            <a:r>
              <a:rPr lang="en-SG" sz="1400" dirty="0" err="1"/>
              <a:t>BtnFind_Click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       {</a:t>
            </a:r>
          </a:p>
          <a:p>
            <a:r>
              <a:rPr lang="en-SG" sz="1400" dirty="0"/>
              <a:t>            string </a:t>
            </a:r>
            <a:r>
              <a:rPr lang="en-SG" sz="1400" dirty="0" err="1"/>
              <a:t>findname</a:t>
            </a:r>
            <a:r>
              <a:rPr lang="en-SG" sz="1400" dirty="0"/>
              <a:t>, display=""; // initialise display as Null</a:t>
            </a:r>
          </a:p>
          <a:p>
            <a:endParaRPr lang="en-SG" sz="1400" dirty="0"/>
          </a:p>
          <a:p>
            <a:r>
              <a:rPr lang="en-SG" sz="1400" dirty="0"/>
              <a:t>            </a:t>
            </a:r>
            <a:r>
              <a:rPr lang="en-SG" sz="1400" dirty="0" err="1"/>
              <a:t>findname</a:t>
            </a:r>
            <a:r>
              <a:rPr lang="en-SG" sz="1400" dirty="0"/>
              <a:t> = </a:t>
            </a:r>
            <a:r>
              <a:rPr lang="en-SG" sz="1400" dirty="0" err="1"/>
              <a:t>txtName.Text</a:t>
            </a:r>
            <a:r>
              <a:rPr lang="en-SG" sz="1400" dirty="0"/>
              <a:t>;</a:t>
            </a:r>
          </a:p>
          <a:p>
            <a:endParaRPr lang="en-SG" sz="1400" dirty="0"/>
          </a:p>
          <a:p>
            <a:r>
              <a:rPr lang="nn-NO" sz="1400" dirty="0"/>
              <a:t>            for (int i = 0; i &lt; name.Length; i++)</a:t>
            </a: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if (</a:t>
            </a:r>
            <a:r>
              <a:rPr lang="en-SG" sz="1400" dirty="0" err="1"/>
              <a:t>findname</a:t>
            </a:r>
            <a:r>
              <a:rPr lang="en-SG" sz="1400" dirty="0"/>
              <a:t> == name[</a:t>
            </a:r>
            <a:r>
              <a:rPr lang="en-SG" sz="1400" dirty="0" err="1"/>
              <a:t>i</a:t>
            </a:r>
            <a:r>
              <a:rPr lang="en-SG" sz="1400" dirty="0"/>
              <a:t>]) // found</a:t>
            </a:r>
          </a:p>
          <a:p>
            <a:r>
              <a:rPr lang="en-SG" sz="1400" dirty="0"/>
              <a:t>                {</a:t>
            </a:r>
          </a:p>
          <a:p>
            <a:r>
              <a:rPr lang="en-SG" sz="1400" dirty="0"/>
              <a:t>                    display = "Name found is " + name[</a:t>
            </a:r>
            <a:r>
              <a:rPr lang="en-SG" sz="1400" dirty="0" err="1"/>
              <a:t>i</a:t>
            </a:r>
            <a:r>
              <a:rPr lang="en-SG" sz="1400" dirty="0"/>
              <a:t>] + " age is " + age[</a:t>
            </a:r>
            <a:r>
              <a:rPr lang="en-SG" sz="1400" dirty="0" err="1"/>
              <a:t>i</a:t>
            </a:r>
            <a:r>
              <a:rPr lang="en-SG" sz="1400" dirty="0"/>
              <a:t>];</a:t>
            </a:r>
          </a:p>
          <a:p>
            <a:r>
              <a:rPr lang="en-SG" sz="1400" dirty="0"/>
              <a:t>                    break; // exit the FOR loop</a:t>
            </a:r>
          </a:p>
          <a:p>
            <a:r>
              <a:rPr lang="en-SG" sz="1400" dirty="0"/>
              <a:t>                }</a:t>
            </a:r>
          </a:p>
          <a:p>
            <a:r>
              <a:rPr lang="en-SG" sz="1400" dirty="0"/>
              <a:t>            }</a:t>
            </a:r>
          </a:p>
          <a:p>
            <a:endParaRPr lang="en-SG" sz="1400" dirty="0"/>
          </a:p>
          <a:p>
            <a:r>
              <a:rPr lang="en-SG" sz="1400" dirty="0"/>
              <a:t>            if (display == "") // name not found</a:t>
            </a:r>
          </a:p>
          <a:p>
            <a:r>
              <a:rPr lang="en-SG" sz="1400" dirty="0"/>
              <a:t>            {</a:t>
            </a:r>
          </a:p>
          <a:p>
            <a:r>
              <a:rPr lang="en-SG" sz="1400" dirty="0"/>
              <a:t>                display = "Name is not found.";</a:t>
            </a:r>
          </a:p>
          <a:p>
            <a:r>
              <a:rPr lang="en-SG" sz="1400" dirty="0"/>
              <a:t>            }</a:t>
            </a:r>
          </a:p>
          <a:p>
            <a:endParaRPr lang="en-SG" sz="1400" dirty="0"/>
          </a:p>
          <a:p>
            <a:r>
              <a:rPr lang="en-SG" sz="1400" dirty="0"/>
              <a:t>            // display result;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LblResult.Text</a:t>
            </a:r>
            <a:r>
              <a:rPr lang="en-SG" sz="1400" dirty="0"/>
              <a:t> = display;</a:t>
            </a:r>
          </a:p>
          <a:p>
            <a:r>
              <a:rPr lang="en-SG" sz="1400" dirty="0"/>
              <a:t>        }</a:t>
            </a: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1" y="66617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63405" y="7292459"/>
            <a:ext cx="41857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Tutor: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Debug the program to help students to 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understand the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796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247650"/>
            <a:ext cx="6054725" cy="847725"/>
          </a:xfrm>
        </p:spPr>
        <p:txBody>
          <a:bodyPr/>
          <a:lstStyle/>
          <a:p>
            <a:r>
              <a:rPr lang="en-GB" dirty="0"/>
              <a:t>Code on Find Max and display result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485775" y="1322576"/>
            <a:ext cx="5667376" cy="5047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private void </a:t>
            </a:r>
            <a:r>
              <a:rPr lang="en-SG" sz="1400" dirty="0" err="1"/>
              <a:t>BtnOldest_Click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{</a:t>
            </a:r>
          </a:p>
          <a:p>
            <a:r>
              <a:rPr lang="en-SG" sz="1400" dirty="0"/>
              <a:t>    </a:t>
            </a:r>
            <a:r>
              <a:rPr lang="en-SG" sz="1400" dirty="0" err="1"/>
              <a:t>int</a:t>
            </a:r>
            <a:r>
              <a:rPr lang="en-SG" sz="1400" dirty="0"/>
              <a:t> </a:t>
            </a:r>
            <a:r>
              <a:rPr lang="en-SG" sz="1400" dirty="0" err="1"/>
              <a:t>max_value</a:t>
            </a:r>
            <a:r>
              <a:rPr lang="en-SG" sz="1400" dirty="0"/>
              <a:t> = age[0];</a:t>
            </a:r>
          </a:p>
          <a:p>
            <a:r>
              <a:rPr lang="en-SG" sz="1400" dirty="0"/>
              <a:t>    </a:t>
            </a:r>
            <a:r>
              <a:rPr lang="en-SG" sz="1400" dirty="0" err="1"/>
              <a:t>int</a:t>
            </a:r>
            <a:r>
              <a:rPr lang="en-SG" sz="1400" dirty="0"/>
              <a:t> </a:t>
            </a:r>
            <a:r>
              <a:rPr lang="en-SG" sz="1400" dirty="0" err="1"/>
              <a:t>max_index</a:t>
            </a:r>
            <a:r>
              <a:rPr lang="en-SG" sz="1400" dirty="0"/>
              <a:t> = 0;</a:t>
            </a:r>
          </a:p>
          <a:p>
            <a:r>
              <a:rPr lang="en-SG" sz="1400" dirty="0"/>
              <a:t>     string display;</a:t>
            </a:r>
          </a:p>
          <a:p>
            <a:endParaRPr lang="en-SG" sz="1400" dirty="0"/>
          </a:p>
          <a:p>
            <a:r>
              <a:rPr lang="nn-NO" sz="1400" dirty="0"/>
              <a:t>   for (int i = 1; i &lt; name.Length; i++)</a:t>
            </a:r>
          </a:p>
          <a:p>
            <a:r>
              <a:rPr lang="en-SG" sz="1400" dirty="0"/>
              <a:t>   {</a:t>
            </a:r>
          </a:p>
          <a:p>
            <a:r>
              <a:rPr lang="en-SG" sz="1400" dirty="0"/>
              <a:t>	// value is greater than </a:t>
            </a:r>
            <a:r>
              <a:rPr lang="en-SG" sz="1400" dirty="0" err="1"/>
              <a:t>max_value</a:t>
            </a:r>
            <a:endParaRPr lang="en-SG" sz="1400" dirty="0"/>
          </a:p>
          <a:p>
            <a:endParaRPr lang="en-SG" sz="1400" dirty="0"/>
          </a:p>
          <a:p>
            <a:r>
              <a:rPr lang="en-SG" sz="1400" dirty="0"/>
              <a:t>                if (age[</a:t>
            </a:r>
            <a:r>
              <a:rPr lang="en-SG" sz="1400" dirty="0" err="1"/>
              <a:t>i</a:t>
            </a:r>
            <a:r>
              <a:rPr lang="en-SG" sz="1400" dirty="0"/>
              <a:t>] &gt; </a:t>
            </a:r>
            <a:r>
              <a:rPr lang="en-SG" sz="1400" dirty="0" err="1"/>
              <a:t>max_value</a:t>
            </a:r>
            <a:r>
              <a:rPr lang="en-SG" sz="1400" dirty="0"/>
              <a:t>) </a:t>
            </a:r>
          </a:p>
          <a:p>
            <a:r>
              <a:rPr lang="en-SG" sz="1400" dirty="0"/>
              <a:t>	{</a:t>
            </a:r>
          </a:p>
          <a:p>
            <a:r>
              <a:rPr lang="en-SG" sz="1400" dirty="0"/>
              <a:t>                    </a:t>
            </a:r>
            <a:r>
              <a:rPr lang="en-SG" sz="1400" dirty="0" err="1"/>
              <a:t>max_value</a:t>
            </a:r>
            <a:r>
              <a:rPr lang="en-SG" sz="1400" dirty="0"/>
              <a:t> = age[</a:t>
            </a:r>
            <a:r>
              <a:rPr lang="en-SG" sz="1400" dirty="0" err="1"/>
              <a:t>i</a:t>
            </a:r>
            <a:r>
              <a:rPr lang="en-SG" sz="1400" dirty="0"/>
              <a:t>];</a:t>
            </a:r>
          </a:p>
          <a:p>
            <a:r>
              <a:rPr lang="en-SG" sz="1400" dirty="0"/>
              <a:t>                    </a:t>
            </a:r>
            <a:r>
              <a:rPr lang="en-SG" sz="1400" dirty="0" err="1"/>
              <a:t>max_index</a:t>
            </a:r>
            <a:r>
              <a:rPr lang="en-SG" sz="1400" dirty="0"/>
              <a:t> = </a:t>
            </a:r>
            <a:r>
              <a:rPr lang="en-SG" sz="1400" dirty="0" err="1"/>
              <a:t>i</a:t>
            </a:r>
            <a:r>
              <a:rPr lang="en-SG" sz="1400" dirty="0"/>
              <a:t>;</a:t>
            </a:r>
          </a:p>
          <a:p>
            <a:r>
              <a:rPr lang="en-SG" sz="1400" dirty="0"/>
              <a:t>                }</a:t>
            </a:r>
          </a:p>
          <a:p>
            <a:r>
              <a:rPr lang="en-SG" sz="1400" dirty="0"/>
              <a:t>   }</a:t>
            </a:r>
          </a:p>
          <a:p>
            <a:endParaRPr lang="en-SG" sz="1400" dirty="0"/>
          </a:p>
          <a:p>
            <a:r>
              <a:rPr lang="en-SG" sz="1400" dirty="0"/>
              <a:t>  display = "The oldest is " + name[</a:t>
            </a:r>
            <a:r>
              <a:rPr lang="en-SG" sz="1400" dirty="0" err="1"/>
              <a:t>max_index</a:t>
            </a:r>
            <a:r>
              <a:rPr lang="en-SG" sz="1400" dirty="0"/>
              <a:t>] + " is " </a:t>
            </a:r>
          </a:p>
          <a:p>
            <a:r>
              <a:rPr lang="en-SG" sz="1400" dirty="0"/>
              <a:t>		+ age[</a:t>
            </a:r>
            <a:r>
              <a:rPr lang="en-SG" sz="1400" dirty="0" err="1"/>
              <a:t>max_index</a:t>
            </a:r>
            <a:r>
              <a:rPr lang="en-SG" sz="1400" dirty="0"/>
              <a:t>];</a:t>
            </a:r>
          </a:p>
          <a:p>
            <a:endParaRPr lang="en-SG" sz="1400" dirty="0"/>
          </a:p>
          <a:p>
            <a:r>
              <a:rPr lang="en-SG" sz="1400" dirty="0"/>
              <a:t>    // display result;</a:t>
            </a:r>
          </a:p>
          <a:p>
            <a:r>
              <a:rPr lang="en-SG" sz="1400" dirty="0"/>
              <a:t>    </a:t>
            </a:r>
            <a:r>
              <a:rPr lang="en-SG" sz="1400" dirty="0" err="1"/>
              <a:t>LblResult.Text</a:t>
            </a:r>
            <a:r>
              <a:rPr lang="en-SG" sz="1400" dirty="0"/>
              <a:t> = display;</a:t>
            </a:r>
          </a:p>
          <a:p>
            <a:r>
              <a:rPr lang="en-SG" sz="1400" dirty="0"/>
              <a:t>}</a:t>
            </a: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1" y="66617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63405" y="7292459"/>
            <a:ext cx="41857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Tutor: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Debug the program to help students to 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understand the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483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0075" y="257175"/>
            <a:ext cx="6054725" cy="847725"/>
          </a:xfrm>
        </p:spPr>
        <p:txBody>
          <a:bodyPr/>
          <a:lstStyle/>
          <a:p>
            <a:r>
              <a:rPr lang="en-GB" dirty="0"/>
              <a:t>Code on Find Min and display result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561975" y="1413451"/>
            <a:ext cx="6153150" cy="50167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600" dirty="0"/>
              <a:t>private void </a:t>
            </a:r>
            <a:r>
              <a:rPr lang="en-SG" sz="1600" dirty="0" err="1"/>
              <a:t>BtnYoungest_Click</a:t>
            </a:r>
            <a:r>
              <a:rPr lang="en-SG" sz="1600" dirty="0"/>
              <a:t>(object sender, </a:t>
            </a:r>
            <a:r>
              <a:rPr lang="en-SG" sz="1600" dirty="0" err="1"/>
              <a:t>EventArgs</a:t>
            </a:r>
            <a:r>
              <a:rPr lang="en-SG" sz="1600" dirty="0"/>
              <a:t> e)</a:t>
            </a:r>
          </a:p>
          <a:p>
            <a:r>
              <a:rPr lang="en-SG" sz="1600" dirty="0"/>
              <a:t>{</a:t>
            </a:r>
          </a:p>
          <a:p>
            <a:r>
              <a:rPr lang="en-SG" sz="1600" dirty="0"/>
              <a:t>            </a:t>
            </a:r>
            <a:r>
              <a:rPr lang="en-SG" sz="1600" dirty="0" err="1"/>
              <a:t>int</a:t>
            </a:r>
            <a:r>
              <a:rPr lang="en-SG" sz="1600" dirty="0"/>
              <a:t> </a:t>
            </a:r>
            <a:r>
              <a:rPr lang="en-SG" sz="1600" dirty="0" err="1"/>
              <a:t>min_value</a:t>
            </a:r>
            <a:r>
              <a:rPr lang="en-SG" sz="1600" dirty="0"/>
              <a:t> = age[0];</a:t>
            </a:r>
          </a:p>
          <a:p>
            <a:r>
              <a:rPr lang="en-SG" sz="1600" dirty="0"/>
              <a:t>            </a:t>
            </a:r>
            <a:r>
              <a:rPr lang="en-SG" sz="1600" dirty="0" err="1"/>
              <a:t>int</a:t>
            </a:r>
            <a:r>
              <a:rPr lang="en-SG" sz="1600" dirty="0"/>
              <a:t> </a:t>
            </a:r>
            <a:r>
              <a:rPr lang="en-SG" sz="1600" dirty="0" err="1"/>
              <a:t>min_index</a:t>
            </a:r>
            <a:r>
              <a:rPr lang="en-SG" sz="1600" dirty="0"/>
              <a:t> = 0;</a:t>
            </a:r>
          </a:p>
          <a:p>
            <a:r>
              <a:rPr lang="en-SG" sz="1600" dirty="0"/>
              <a:t>            string display;</a:t>
            </a:r>
          </a:p>
          <a:p>
            <a:endParaRPr lang="en-SG" sz="1600" dirty="0"/>
          </a:p>
          <a:p>
            <a:r>
              <a:rPr lang="nn-NO" sz="1600" dirty="0"/>
              <a:t>            for (int i = 1; i &lt; name.Length; i++)</a:t>
            </a:r>
          </a:p>
          <a:p>
            <a:r>
              <a:rPr lang="en-SG" sz="1600" dirty="0"/>
              <a:t>            {</a:t>
            </a:r>
          </a:p>
          <a:p>
            <a:r>
              <a:rPr lang="en-SG" sz="1600" dirty="0"/>
              <a:t>	// value is less than </a:t>
            </a:r>
            <a:r>
              <a:rPr lang="en-SG" sz="1600" dirty="0" err="1"/>
              <a:t>min_value</a:t>
            </a:r>
            <a:endParaRPr lang="en-SG" sz="1600" dirty="0"/>
          </a:p>
          <a:p>
            <a:r>
              <a:rPr lang="en-SG" sz="1600" dirty="0"/>
              <a:t>                if (age[</a:t>
            </a:r>
            <a:r>
              <a:rPr lang="en-SG" sz="1600" dirty="0" err="1"/>
              <a:t>i</a:t>
            </a:r>
            <a:r>
              <a:rPr lang="en-SG" sz="1600" dirty="0"/>
              <a:t>] &lt; </a:t>
            </a:r>
            <a:r>
              <a:rPr lang="en-SG" sz="1600" dirty="0" err="1"/>
              <a:t>min_value</a:t>
            </a:r>
            <a:r>
              <a:rPr lang="en-SG" sz="1600" dirty="0"/>
              <a:t>) {</a:t>
            </a:r>
          </a:p>
          <a:p>
            <a:r>
              <a:rPr lang="en-SG" sz="1600" dirty="0"/>
              <a:t>                    </a:t>
            </a:r>
            <a:r>
              <a:rPr lang="en-SG" sz="1600" dirty="0" err="1"/>
              <a:t>min_value</a:t>
            </a:r>
            <a:r>
              <a:rPr lang="en-SG" sz="1600" dirty="0"/>
              <a:t> = age[</a:t>
            </a:r>
            <a:r>
              <a:rPr lang="en-SG" sz="1600" dirty="0" err="1"/>
              <a:t>i</a:t>
            </a:r>
            <a:r>
              <a:rPr lang="en-SG" sz="1600" dirty="0"/>
              <a:t>];</a:t>
            </a:r>
          </a:p>
          <a:p>
            <a:r>
              <a:rPr lang="en-SG" sz="1600" dirty="0"/>
              <a:t>                    </a:t>
            </a:r>
            <a:r>
              <a:rPr lang="en-SG" sz="1600" dirty="0" err="1"/>
              <a:t>min_index</a:t>
            </a:r>
            <a:r>
              <a:rPr lang="en-SG" sz="1600" dirty="0"/>
              <a:t> = </a:t>
            </a:r>
            <a:r>
              <a:rPr lang="en-SG" sz="1600" dirty="0" err="1"/>
              <a:t>i</a:t>
            </a:r>
            <a:r>
              <a:rPr lang="en-SG" sz="1600" dirty="0"/>
              <a:t>;</a:t>
            </a:r>
          </a:p>
          <a:p>
            <a:r>
              <a:rPr lang="en-SG" sz="1600" dirty="0"/>
              <a:t>                }</a:t>
            </a:r>
          </a:p>
          <a:p>
            <a:r>
              <a:rPr lang="en-SG" sz="1600" dirty="0"/>
              <a:t>            }</a:t>
            </a:r>
          </a:p>
          <a:p>
            <a:endParaRPr lang="en-SG" sz="1600" dirty="0"/>
          </a:p>
          <a:p>
            <a:r>
              <a:rPr lang="en-SG" sz="1600" dirty="0"/>
              <a:t>            display = "The youngest is " + name[</a:t>
            </a:r>
            <a:r>
              <a:rPr lang="en-SG" sz="1600" dirty="0" err="1"/>
              <a:t>min_index</a:t>
            </a:r>
            <a:r>
              <a:rPr lang="en-SG" sz="1600" dirty="0"/>
              <a:t>] + " is “</a:t>
            </a:r>
          </a:p>
          <a:p>
            <a:r>
              <a:rPr lang="en-SG" sz="1600" dirty="0"/>
              <a:t>		 + age[</a:t>
            </a:r>
            <a:r>
              <a:rPr lang="en-SG" sz="1600" dirty="0" err="1"/>
              <a:t>min_index</a:t>
            </a:r>
            <a:r>
              <a:rPr lang="en-SG" sz="1600" dirty="0"/>
              <a:t>];</a:t>
            </a:r>
          </a:p>
          <a:p>
            <a:r>
              <a:rPr lang="en-SG" sz="1600" dirty="0"/>
              <a:t>            // display result;</a:t>
            </a:r>
          </a:p>
          <a:p>
            <a:r>
              <a:rPr lang="en-SG" sz="1600" dirty="0"/>
              <a:t>            </a:t>
            </a:r>
            <a:r>
              <a:rPr lang="en-SG" sz="1600" dirty="0" err="1"/>
              <a:t>LblResult.Text</a:t>
            </a:r>
            <a:r>
              <a:rPr lang="en-SG" sz="1600" dirty="0"/>
              <a:t> = display;</a:t>
            </a:r>
          </a:p>
          <a:p>
            <a:r>
              <a:rPr lang="en-SG" sz="1600" dirty="0"/>
              <a:t>}</a:t>
            </a:r>
          </a:p>
        </p:txBody>
      </p:sp>
      <p:pic>
        <p:nvPicPr>
          <p:cNvPr id="6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1" y="66617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725305" y="7311509"/>
            <a:ext cx="5130892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Could you spot the differences in Find Youngest </a:t>
            </a:r>
          </a:p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And Find Oldest logic?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196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Array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28362"/>
            <a:ext cx="5829300" cy="6683375"/>
          </a:xfrm>
        </p:spPr>
        <p:txBody>
          <a:bodyPr/>
          <a:lstStyle/>
          <a:p>
            <a:r>
              <a:rPr lang="en-GB" b="1" dirty="0"/>
              <a:t>Dynamic Sizing Arrays</a:t>
            </a:r>
          </a:p>
          <a:p>
            <a:pPr lvl="1"/>
            <a:r>
              <a:rPr lang="en-GB" dirty="0"/>
              <a:t>Size of array is not pre-coded</a:t>
            </a:r>
          </a:p>
          <a:p>
            <a:pPr lvl="1"/>
            <a:r>
              <a:rPr lang="en-GB" dirty="0"/>
              <a:t>Size is defined during run time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2D Arrays</a:t>
            </a:r>
          </a:p>
          <a:p>
            <a:pPr lvl="1"/>
            <a:r>
              <a:rPr lang="en-GB" dirty="0"/>
              <a:t>2 Dimensional Array</a:t>
            </a:r>
          </a:p>
          <a:p>
            <a:pPr lvl="1"/>
            <a:r>
              <a:rPr lang="en-GB" dirty="0"/>
              <a:t>It has row and column indexes</a:t>
            </a:r>
          </a:p>
          <a:p>
            <a:pPr lvl="1"/>
            <a:r>
              <a:rPr lang="en-GB" dirty="0"/>
              <a:t>It contains data in row and column</a:t>
            </a:r>
          </a:p>
          <a:p>
            <a:pPr lvl="1"/>
            <a:r>
              <a:rPr lang="en-GB" dirty="0"/>
              <a:t>It works together with nested FOR loop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180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724" y="309959"/>
            <a:ext cx="6054725" cy="759417"/>
          </a:xfrm>
        </p:spPr>
        <p:txBody>
          <a:bodyPr/>
          <a:lstStyle/>
          <a:p>
            <a:r>
              <a:rPr lang="en-GB" sz="3200" dirty="0"/>
              <a:t>Differentiated Learning:</a:t>
            </a:r>
            <a:br>
              <a:rPr lang="en-GB" sz="3200" dirty="0"/>
            </a:br>
            <a:r>
              <a:rPr lang="en-GB" sz="3200" dirty="0"/>
              <a:t>Dynamic Sizing Array</a:t>
            </a:r>
            <a:endParaRPr lang="en-SG" sz="3200" dirty="0"/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050" y="1265228"/>
            <a:ext cx="5988050" cy="7061200"/>
          </a:xfrm>
        </p:spPr>
        <p:txBody>
          <a:bodyPr/>
          <a:lstStyle/>
          <a:p>
            <a:r>
              <a:rPr lang="en-GB" sz="1800" dirty="0">
                <a:latin typeface="Verdana" pitchFamily="34" charset="0"/>
              </a:rPr>
              <a:t>Recall you create an empty array with this statement: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GB" sz="1800" dirty="0">
                <a:latin typeface="Verdana" pitchFamily="34" charset="0"/>
              </a:rPr>
              <a:t>	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double [ ] sales = new double[5];</a:t>
            </a:r>
          </a:p>
          <a:p>
            <a:pPr>
              <a:buFont typeface="Wingdings" pitchFamily="2" charset="2"/>
              <a:buNone/>
            </a:pPr>
            <a:endParaRPr lang="en-GB" sz="1800" dirty="0">
              <a:latin typeface="Verdana" pitchFamily="34" charset="0"/>
            </a:endParaRPr>
          </a:p>
          <a:p>
            <a:r>
              <a:rPr lang="en-GB" sz="1800" dirty="0">
                <a:latin typeface="Verdana" pitchFamily="34" charset="0"/>
              </a:rPr>
              <a:t>This will </a:t>
            </a:r>
            <a:r>
              <a:rPr lang="en-GB" sz="1800" dirty="0">
                <a:solidFill>
                  <a:schemeClr val="accent2"/>
                </a:solidFill>
                <a:latin typeface="Verdana" pitchFamily="34" charset="0"/>
              </a:rPr>
              <a:t>fix</a:t>
            </a:r>
            <a:r>
              <a:rPr lang="en-GB" sz="1800" dirty="0">
                <a:latin typeface="Verdana" pitchFamily="34" charset="0"/>
              </a:rPr>
              <a:t> the size of the sales array to 5 elements.</a:t>
            </a:r>
          </a:p>
          <a:p>
            <a:pPr>
              <a:spcBef>
                <a:spcPct val="50000"/>
              </a:spcBef>
            </a:pPr>
            <a:r>
              <a:rPr lang="en-GB" sz="1800" dirty="0">
                <a:latin typeface="Verdana" pitchFamily="34" charset="0"/>
              </a:rPr>
              <a:t>You cannot change the size of the sales array after the program is run.</a:t>
            </a:r>
          </a:p>
          <a:p>
            <a:pPr>
              <a:spcBef>
                <a:spcPct val="50000"/>
              </a:spcBef>
            </a:pPr>
            <a:r>
              <a:rPr lang="en-GB" sz="1800" dirty="0">
                <a:latin typeface="Verdana" pitchFamily="34" charset="0"/>
              </a:rPr>
              <a:t>However, you can let the user decide the size of the array WHEN the program is run by doing this:</a:t>
            </a:r>
          </a:p>
          <a:p>
            <a:pPr marL="914400" lvl="2" indent="0">
              <a:spcBef>
                <a:spcPct val="50000"/>
              </a:spcBef>
              <a:buNone/>
            </a:pPr>
            <a:r>
              <a:rPr lang="en-GB" sz="1700" i="1" dirty="0">
                <a:solidFill>
                  <a:srgbClr val="008000"/>
                </a:solidFill>
                <a:latin typeface="Verdana" pitchFamily="34" charset="0"/>
              </a:rPr>
              <a:t>// read the size from textbox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GB" sz="1800" dirty="0">
                <a:latin typeface="Verdana" pitchFamily="34" charset="0"/>
              </a:rPr>
              <a:t>	</a:t>
            </a:r>
            <a:r>
              <a:rPr lang="en-GB" sz="1800" dirty="0" err="1">
                <a:solidFill>
                  <a:srgbClr val="0033CC"/>
                </a:solidFill>
                <a:latin typeface="Verdana" pitchFamily="34" charset="0"/>
              </a:rPr>
              <a:t>int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 </a:t>
            </a:r>
            <a:r>
              <a:rPr lang="en-GB" sz="1800" dirty="0">
                <a:solidFill>
                  <a:schemeClr val="accent2"/>
                </a:solidFill>
                <a:latin typeface="Verdana" pitchFamily="34" charset="0"/>
              </a:rPr>
              <a:t>size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 = </a:t>
            </a:r>
            <a:r>
              <a:rPr lang="en-GB" sz="1800" dirty="0" err="1">
                <a:solidFill>
                  <a:srgbClr val="0033CC"/>
                </a:solidFill>
                <a:latin typeface="Verdana" pitchFamily="34" charset="0"/>
              </a:rPr>
              <a:t>int.Parse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(</a:t>
            </a:r>
            <a:r>
              <a:rPr lang="en-GB" sz="1800" dirty="0" err="1">
                <a:solidFill>
                  <a:srgbClr val="0033CC"/>
                </a:solidFill>
                <a:latin typeface="Verdana" pitchFamily="34" charset="0"/>
              </a:rPr>
              <a:t>txtSize.Text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	double [ ] sales = new double[</a:t>
            </a:r>
            <a:r>
              <a:rPr lang="en-GB" sz="1800" dirty="0">
                <a:solidFill>
                  <a:schemeClr val="accent2"/>
                </a:solidFill>
                <a:latin typeface="Verdana" pitchFamily="34" charset="0"/>
              </a:rPr>
              <a:t>size</a:t>
            </a:r>
            <a:r>
              <a:rPr lang="en-GB" sz="1800" dirty="0">
                <a:solidFill>
                  <a:srgbClr val="0033CC"/>
                </a:solidFill>
                <a:latin typeface="Verdana" pitchFamily="34" charset="0"/>
              </a:rPr>
              <a:t>];</a:t>
            </a:r>
          </a:p>
          <a:p>
            <a:endParaRPr lang="en-US" sz="1800" dirty="0">
              <a:solidFill>
                <a:srgbClr val="0033CC"/>
              </a:solidFill>
              <a:latin typeface="Verdana" pitchFamily="34" charset="0"/>
            </a:endParaRPr>
          </a:p>
          <a:p>
            <a:r>
              <a:rPr lang="en-US" sz="1800" dirty="0">
                <a:latin typeface="Verdana" pitchFamily="34" charset="0"/>
              </a:rPr>
              <a:t>This is referred as </a:t>
            </a:r>
            <a:r>
              <a:rPr lang="en-US" sz="1800" dirty="0">
                <a:solidFill>
                  <a:srgbClr val="FF0000"/>
                </a:solidFill>
                <a:latin typeface="Verdana" pitchFamily="34" charset="0"/>
              </a:rPr>
              <a:t>DYNAMIC</a:t>
            </a:r>
            <a:r>
              <a:rPr lang="en-US" sz="1800" dirty="0">
                <a:latin typeface="Verdana" pitchFamily="34" charset="0"/>
              </a:rPr>
              <a:t> sizing.</a:t>
            </a:r>
            <a:endParaRPr lang="en-GB" sz="1800" dirty="0">
              <a:latin typeface="Verdana" pitchFamily="34" charset="0"/>
            </a:endParaRPr>
          </a:p>
          <a:p>
            <a:pPr>
              <a:buFont typeface="Wingdings" pitchFamily="2" charset="2"/>
              <a:buNone/>
            </a:pPr>
            <a:endParaRPr lang="en-GB" sz="1800" dirty="0">
              <a:latin typeface="Verdana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800" dirty="0">
              <a:latin typeface="Verdana" pitchFamily="34" charset="0"/>
            </a:endParaRPr>
          </a:p>
        </p:txBody>
      </p:sp>
      <p:sp>
        <p:nvSpPr>
          <p:cNvPr id="4" name="Cloud 3"/>
          <p:cNvSpPr/>
          <p:nvPr/>
        </p:nvSpPr>
        <p:spPr>
          <a:xfrm>
            <a:off x="84667" y="6823357"/>
            <a:ext cx="4631265" cy="1592924"/>
          </a:xfrm>
          <a:prstGeom prst="cloud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Size</a:t>
            </a:r>
            <a:r>
              <a:rPr lang="en-US" sz="1600" dirty="0">
                <a:solidFill>
                  <a:schemeClr val="tx1"/>
                </a:solidFill>
              </a:rPr>
              <a:t> MUST be a </a:t>
            </a:r>
            <a:r>
              <a:rPr lang="en-US" sz="1600" b="1" u="sng" dirty="0">
                <a:solidFill>
                  <a:schemeClr val="tx1"/>
                </a:solidFill>
              </a:rPr>
              <a:t>integer</a:t>
            </a:r>
            <a:r>
              <a:rPr lang="en-US" sz="1600" dirty="0">
                <a:solidFill>
                  <a:schemeClr val="tx1"/>
                </a:solidFill>
              </a:rPr>
              <a:t>. It is the size of the array sales</a:t>
            </a:r>
          </a:p>
        </p:txBody>
      </p:sp>
      <p:pic>
        <p:nvPicPr>
          <p:cNvPr id="1026" name="Picture 2" descr="C:\Users\tanail\AppData\Local\Microsoft\Windows\Temporary Internet Files\Content.IE5\WOH74YVD\MC90044649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6823356"/>
            <a:ext cx="1417049" cy="159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316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Example: Dynamic sizing array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1814" y="2262904"/>
            <a:ext cx="6242255" cy="62478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// Read number of student from text box</a:t>
            </a:r>
          </a:p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// dynamic sizing</a:t>
            </a:r>
          </a:p>
          <a:p>
            <a:r>
              <a:rPr lang="en-US" sz="1600" dirty="0" err="1">
                <a:latin typeface="+mn-lt"/>
              </a:rPr>
              <a:t>int</a:t>
            </a: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solidFill>
                  <a:schemeClr val="accent2"/>
                </a:solidFill>
                <a:latin typeface="+mn-lt"/>
              </a:rPr>
              <a:t>size</a:t>
            </a:r>
            <a:r>
              <a:rPr lang="en-US" sz="1600" dirty="0">
                <a:latin typeface="+mn-lt"/>
              </a:rPr>
              <a:t> = </a:t>
            </a:r>
            <a:r>
              <a:rPr lang="en-US" sz="1600" dirty="0" err="1">
                <a:latin typeface="+mn-lt"/>
              </a:rPr>
              <a:t>int.Parse</a:t>
            </a:r>
            <a:r>
              <a:rPr lang="en-US" sz="1600" dirty="0">
                <a:latin typeface="+mn-lt"/>
              </a:rPr>
              <a:t>( </a:t>
            </a:r>
            <a:r>
              <a:rPr lang="en-US" sz="1600" dirty="0" err="1">
                <a:latin typeface="+mn-lt"/>
              </a:rPr>
              <a:t>txtNumber.Text</a:t>
            </a:r>
            <a:r>
              <a:rPr lang="en-US" sz="1600" dirty="0">
                <a:latin typeface="+mn-lt"/>
              </a:rPr>
              <a:t>);</a:t>
            </a: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solidFill>
                  <a:srgbClr val="008000"/>
                </a:solidFill>
              </a:rPr>
              <a:t>//IMPT – create array </a:t>
            </a:r>
            <a:r>
              <a:rPr lang="en-US" sz="1600" b="1" u="sng" dirty="0">
                <a:solidFill>
                  <a:srgbClr val="008000"/>
                </a:solidFill>
              </a:rPr>
              <a:t>after</a:t>
            </a:r>
            <a:r>
              <a:rPr lang="en-US" sz="1600" dirty="0">
                <a:solidFill>
                  <a:srgbClr val="008000"/>
                </a:solidFill>
              </a:rPr>
              <a:t> reading of size</a:t>
            </a:r>
          </a:p>
          <a:p>
            <a:r>
              <a:rPr lang="en-US" sz="1600" dirty="0">
                <a:solidFill>
                  <a:srgbClr val="008000"/>
                </a:solidFill>
              </a:rPr>
              <a:t>// data is initialized to 0</a:t>
            </a:r>
          </a:p>
          <a:p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int</a:t>
            </a:r>
            <a:r>
              <a:rPr lang="en-US" sz="1600" dirty="0">
                <a:latin typeface="+mn-lt"/>
              </a:rPr>
              <a:t> [] marks = new </a:t>
            </a:r>
            <a:r>
              <a:rPr lang="en-US" sz="1600" dirty="0" err="1">
                <a:latin typeface="+mn-lt"/>
              </a:rPr>
              <a:t>int</a:t>
            </a:r>
            <a:r>
              <a:rPr lang="en-US" sz="1600" dirty="0">
                <a:latin typeface="+mn-lt"/>
              </a:rPr>
              <a:t>[</a:t>
            </a:r>
            <a:r>
              <a:rPr lang="en-US" sz="1600" b="1" dirty="0">
                <a:solidFill>
                  <a:schemeClr val="accent2"/>
                </a:solidFill>
                <a:latin typeface="+mn-lt"/>
              </a:rPr>
              <a:t>size</a:t>
            </a:r>
            <a:r>
              <a:rPr lang="en-US" sz="1600" dirty="0">
                <a:latin typeface="+mn-lt"/>
              </a:rPr>
              <a:t>];  </a:t>
            </a:r>
          </a:p>
          <a:p>
            <a:r>
              <a:rPr lang="en-US" sz="1600" dirty="0"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</a:rPr>
              <a:t>// To modify the data, read in the index entered by user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int</a:t>
            </a:r>
            <a:r>
              <a:rPr lang="en-US" sz="1600" dirty="0"/>
              <a:t> index = </a:t>
            </a:r>
            <a:r>
              <a:rPr lang="en-US" sz="1600" dirty="0" err="1"/>
              <a:t>int.Parse</a:t>
            </a:r>
            <a:r>
              <a:rPr lang="en-US" sz="1600" dirty="0"/>
              <a:t> ( </a:t>
            </a:r>
            <a:r>
              <a:rPr lang="en-US" sz="1600" dirty="0" err="1"/>
              <a:t>txtIndex.Text</a:t>
            </a:r>
            <a:r>
              <a:rPr lang="en-US" sz="1600" dirty="0"/>
              <a:t> );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// Modify the </a:t>
            </a:r>
            <a:r>
              <a:rPr lang="en-US" sz="1600" dirty="0">
                <a:solidFill>
                  <a:srgbClr val="008000"/>
                </a:solidFill>
              </a:rPr>
              <a:t>value</a:t>
            </a:r>
            <a:r>
              <a:rPr lang="en-US" sz="1600" dirty="0">
                <a:solidFill>
                  <a:srgbClr val="008000"/>
                </a:solidFill>
                <a:latin typeface="+mn-lt"/>
              </a:rPr>
              <a:t> at the index position</a:t>
            </a:r>
          </a:p>
          <a:p>
            <a:r>
              <a:rPr lang="en-US" sz="1600" dirty="0">
                <a:latin typeface="+mn-lt"/>
              </a:rPr>
              <a:t> marks[index] = </a:t>
            </a:r>
            <a:r>
              <a:rPr lang="en-US" sz="1600" dirty="0" err="1">
                <a:latin typeface="+mn-lt"/>
              </a:rPr>
              <a:t>int.Parse</a:t>
            </a:r>
            <a:r>
              <a:rPr lang="en-US" sz="1600" dirty="0">
                <a:latin typeface="+mn-lt"/>
              </a:rPr>
              <a:t>( </a:t>
            </a:r>
            <a:r>
              <a:rPr lang="en-US" sz="1600" dirty="0" err="1">
                <a:latin typeface="+mn-lt"/>
              </a:rPr>
              <a:t>txtMark.Text</a:t>
            </a:r>
            <a:r>
              <a:rPr lang="en-US" sz="1600" dirty="0">
                <a:latin typeface="+mn-lt"/>
              </a:rPr>
              <a:t>);</a:t>
            </a:r>
          </a:p>
          <a:p>
            <a:r>
              <a:rPr lang="en-US" sz="1600" dirty="0">
                <a:latin typeface="+mn-lt"/>
              </a:rPr>
              <a:t> </a:t>
            </a:r>
          </a:p>
          <a:p>
            <a:r>
              <a:rPr lang="en-US" sz="1600" dirty="0"/>
              <a:t>  String display=“”;</a:t>
            </a:r>
          </a:p>
          <a:p>
            <a:endParaRPr lang="en-US" sz="1600" dirty="0">
              <a:latin typeface="+mn-lt"/>
            </a:endParaRPr>
          </a:p>
          <a:p>
            <a:r>
              <a:rPr lang="en-US" sz="1600" dirty="0">
                <a:solidFill>
                  <a:srgbClr val="008000"/>
                </a:solidFill>
              </a:rPr>
              <a:t>// Display all records</a:t>
            </a:r>
          </a:p>
          <a:p>
            <a:r>
              <a:rPr lang="en-US" sz="1600" dirty="0">
                <a:latin typeface="+mn-lt"/>
              </a:rPr>
              <a:t> for (</a:t>
            </a:r>
            <a:r>
              <a:rPr lang="en-US" sz="1600" dirty="0" err="1">
                <a:latin typeface="+mn-lt"/>
              </a:rPr>
              <a:t>int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i</a:t>
            </a:r>
            <a:r>
              <a:rPr lang="en-US" sz="1600" dirty="0">
                <a:latin typeface="+mn-lt"/>
              </a:rPr>
              <a:t>=0; </a:t>
            </a:r>
            <a:r>
              <a:rPr lang="en-US" sz="1600" dirty="0" err="1">
                <a:latin typeface="+mn-lt"/>
              </a:rPr>
              <a:t>i</a:t>
            </a:r>
            <a:r>
              <a:rPr lang="en-US" sz="1600" dirty="0">
                <a:latin typeface="+mn-lt"/>
              </a:rPr>
              <a:t>&lt;</a:t>
            </a:r>
            <a:r>
              <a:rPr lang="en-US" sz="1600" dirty="0" err="1">
                <a:latin typeface="+mn-lt"/>
              </a:rPr>
              <a:t>marks.Length</a:t>
            </a:r>
            <a:r>
              <a:rPr lang="en-US" sz="1600" dirty="0">
                <a:latin typeface="+mn-lt"/>
              </a:rPr>
              <a:t>; </a:t>
            </a:r>
            <a:r>
              <a:rPr lang="en-US" sz="1600" dirty="0" err="1">
                <a:latin typeface="+mn-lt"/>
              </a:rPr>
              <a:t>i</a:t>
            </a:r>
            <a:r>
              <a:rPr lang="en-US" sz="1600" dirty="0">
                <a:latin typeface="+mn-lt"/>
              </a:rPr>
              <a:t>++)</a:t>
            </a:r>
          </a:p>
          <a:p>
            <a:r>
              <a:rPr lang="en-US" sz="1600" dirty="0">
                <a:latin typeface="+mn-lt"/>
              </a:rPr>
              <a:t>  {</a:t>
            </a:r>
          </a:p>
          <a:p>
            <a:r>
              <a:rPr lang="en-US" sz="1600" dirty="0"/>
              <a:t>	display = display + “Mark at ” + </a:t>
            </a:r>
            <a:r>
              <a:rPr lang="en-US" sz="1600" dirty="0" err="1"/>
              <a:t>i</a:t>
            </a:r>
            <a:r>
              <a:rPr lang="en-US" sz="1600" dirty="0"/>
              <a:t> + “ is ” + marks[</a:t>
            </a:r>
            <a:r>
              <a:rPr lang="en-US" sz="1600" dirty="0" err="1"/>
              <a:t>i</a:t>
            </a:r>
            <a:r>
              <a:rPr lang="en-US" sz="1600" dirty="0"/>
              <a:t>] + “\n”;</a:t>
            </a:r>
          </a:p>
          <a:p>
            <a:r>
              <a:rPr lang="en-US" sz="1600" dirty="0"/>
              <a:t>  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8000"/>
                </a:solidFill>
              </a:rPr>
              <a:t>// Display records in rich text box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txtDisplay.Text</a:t>
            </a:r>
            <a:r>
              <a:rPr lang="en-US" sz="1600" dirty="0"/>
              <a:t> = display;</a:t>
            </a:r>
          </a:p>
          <a:p>
            <a:r>
              <a:rPr lang="en-US" sz="1600" dirty="0">
                <a:latin typeface="+mn-lt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8728" y="1210725"/>
            <a:ext cx="607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following program reads in number of student, create a dynamic sized array of marks based on the number of student.</a:t>
            </a:r>
          </a:p>
          <a:p>
            <a:r>
              <a:rPr lang="en-GB" sz="1400" dirty="0"/>
              <a:t>Program reads the index of mark and mark to be updated at index position. Program displays all the marks in a rich text box.</a:t>
            </a:r>
            <a:endParaRPr lang="en-SG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489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2875" y="1573348"/>
            <a:ext cx="6172200" cy="4636952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000" dirty="0"/>
              <a:t>Consider a </a:t>
            </a:r>
            <a:r>
              <a:rPr lang="en-US" sz="2000" u="sng" dirty="0"/>
              <a:t>table</a:t>
            </a:r>
            <a:r>
              <a:rPr lang="en-US" sz="2000" dirty="0"/>
              <a:t> containing the marks scored by a class of students in each subject.</a:t>
            </a: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US" sz="2000" dirty="0"/>
              <a:t>The marks of one student could be stored in a </a:t>
            </a:r>
            <a:r>
              <a:rPr lang="en-US" sz="2000" u="sng" dirty="0"/>
              <a:t>one-dimensional array</a:t>
            </a:r>
            <a:r>
              <a:rPr lang="en-US" sz="2000" dirty="0"/>
              <a:t>:</a:t>
            </a:r>
          </a:p>
          <a:p>
            <a:pPr marL="350838" lvl="1" inden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 dirty="0" err="1">
                <a:solidFill>
                  <a:schemeClr val="hlink"/>
                </a:solidFill>
              </a:rPr>
              <a:t>int</a:t>
            </a:r>
            <a:r>
              <a:rPr lang="en-US" sz="2000" b="1" dirty="0">
                <a:solidFill>
                  <a:schemeClr val="hlink"/>
                </a:solidFill>
              </a:rPr>
              <a:t> NO_OF_SUBJ = 6; 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  <a:buFont typeface="Wingdings" pitchFamily="2" charset="2"/>
              <a:buNone/>
            </a:pPr>
            <a:r>
              <a:rPr lang="en-US" sz="2000" b="1" dirty="0">
                <a:solidFill>
                  <a:schemeClr val="hlink"/>
                </a:solidFill>
              </a:rPr>
              <a:t>float [ ] mark = new float[NO_OF_SUBJ];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</a:pPr>
            <a:r>
              <a:rPr lang="en-US" sz="2000" dirty="0"/>
              <a:t>If we have many students, then we need to use many one dimension arrays; one array for each student: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chemeClr val="hlink"/>
                </a:solidFill>
              </a:rPr>
              <a:t>float [ ] stud1Mark = new float[ NO_OF_SUBJ];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	float [ ] stud2Mark = new float[ NO_OF_SUBJ];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	float [ ] stud3Mark = new float[ NO_OF_SUBJ];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52875" y="549031"/>
            <a:ext cx="3111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Aft>
                <a:spcPct val="50000"/>
              </a:spcAft>
              <a:buFont typeface="Wingdings" pitchFamily="2" charset="2"/>
              <a:buNone/>
            </a:pPr>
            <a:r>
              <a:rPr lang="en-US" sz="4000" b="1" dirty="0"/>
              <a:t>2D-Arrays</a:t>
            </a:r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" y="6615218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loud 4"/>
          <p:cNvSpPr/>
          <p:nvPr/>
        </p:nvSpPr>
        <p:spPr>
          <a:xfrm>
            <a:off x="2419350" y="6191250"/>
            <a:ext cx="3886200" cy="2038349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  <a:buFont typeface="Wingdings" pitchFamily="2" charset="2"/>
              <a:buNone/>
            </a:pPr>
            <a:r>
              <a:rPr lang="en-US" sz="2000" dirty="0"/>
              <a:t>What do you need to do if you have 100 students?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71541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1325563"/>
            <a:ext cx="6629400" cy="7408862"/>
          </a:xfrm>
        </p:spPr>
        <p:txBody>
          <a:bodyPr/>
          <a:lstStyle/>
          <a:p>
            <a:pPr lvl="1"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  <a:buFont typeface="Wingdings" pitchFamily="2" charset="2"/>
              <a:buChar char="q"/>
            </a:pPr>
            <a:r>
              <a:rPr lang="en-US" sz="2200" dirty="0"/>
              <a:t>The solution is to have all marks of all the students could be stored in a </a:t>
            </a:r>
          </a:p>
          <a:p>
            <a:pPr marL="457200" lvl="1" indent="0" algn="ctr">
              <a:lnSpc>
                <a:spcPct val="90000"/>
              </a:lnSpc>
              <a:spcBef>
                <a:spcPct val="10000"/>
              </a:spcBef>
              <a:spcAft>
                <a:spcPct val="50000"/>
              </a:spcAft>
              <a:buNone/>
            </a:pPr>
            <a:r>
              <a:rPr lang="en-US" sz="2800" u="sng" dirty="0"/>
              <a:t>2D or Two-dimensional array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sz="2400" b="1" dirty="0" err="1">
                <a:solidFill>
                  <a:schemeClr val="hlink"/>
                </a:solidFill>
              </a:rPr>
              <a:t>int</a:t>
            </a:r>
            <a:r>
              <a:rPr lang="en-US" sz="2400" b="1" dirty="0">
                <a:solidFill>
                  <a:schemeClr val="hlink"/>
                </a:solidFill>
              </a:rPr>
              <a:t> NO_OF_STUD = 182;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sz="2400" b="1" dirty="0" err="1">
                <a:solidFill>
                  <a:schemeClr val="hlink"/>
                </a:solidFill>
              </a:rPr>
              <a:t>int</a:t>
            </a:r>
            <a:r>
              <a:rPr lang="en-US" sz="2400" b="1" dirty="0">
                <a:solidFill>
                  <a:schemeClr val="hlink"/>
                </a:solidFill>
              </a:rPr>
              <a:t> NO_OF_SUBJ = 6;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400" b="1" dirty="0">
              <a:solidFill>
                <a:schemeClr val="hlink"/>
              </a:solidFill>
            </a:endParaRP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sz="2400" b="1" dirty="0">
                <a:solidFill>
                  <a:schemeClr val="hlink"/>
                </a:solidFill>
              </a:rPr>
              <a:t>float [ , ] mark = 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sz="2400" b="1" dirty="0">
                <a:solidFill>
                  <a:schemeClr val="hlink"/>
                </a:solidFill>
              </a:rPr>
              <a:t>new float [NO_OF_STUD , NO_OF_SUBJ];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400" b="1" dirty="0">
              <a:solidFill>
                <a:schemeClr val="hlink"/>
              </a:solidFill>
            </a:endParaRPr>
          </a:p>
          <a:p>
            <a:pPr marL="693738" lvl="1" indent="-342900">
              <a:lnSpc>
                <a:spcPct val="90000"/>
              </a:lnSpc>
              <a:spcBef>
                <a:spcPct val="10000"/>
              </a:spcBef>
              <a:buFont typeface="Wingdings" pitchFamily="2" charset="2"/>
              <a:buChar char="q"/>
            </a:pPr>
            <a:r>
              <a:rPr lang="en-US" sz="2000" dirty="0"/>
              <a:t>The program allocates 182 * 6 float of marks. That implies it creates 1092 marks.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000" dirty="0"/>
          </a:p>
          <a:p>
            <a:pPr marL="693738" lvl="1" indent="-342900">
              <a:lnSpc>
                <a:spcPct val="90000"/>
              </a:lnSpc>
              <a:spcBef>
                <a:spcPct val="10000"/>
              </a:spcBef>
              <a:buFont typeface="Wingdings" pitchFamily="2" charset="2"/>
              <a:buChar char="q"/>
            </a:pPr>
            <a:r>
              <a:rPr lang="en-US" sz="2000" dirty="0"/>
              <a:t>The Syntax to create 2D array:</a:t>
            </a: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chemeClr val="hlink"/>
                </a:solidFill>
              </a:rPr>
              <a:t>	</a:t>
            </a:r>
            <a:r>
              <a:rPr lang="en-US" sz="1600" b="1" dirty="0" err="1">
                <a:solidFill>
                  <a:schemeClr val="hlink"/>
                </a:solidFill>
              </a:rPr>
              <a:t>dataType</a:t>
            </a:r>
            <a:r>
              <a:rPr lang="en-US" sz="1600" b="1" dirty="0">
                <a:solidFill>
                  <a:schemeClr val="hlink"/>
                </a:solidFill>
              </a:rPr>
              <a:t> [  ,  ] </a:t>
            </a:r>
            <a:r>
              <a:rPr lang="en-US" sz="1600" b="1" dirty="0" err="1">
                <a:solidFill>
                  <a:schemeClr val="hlink"/>
                </a:solidFill>
              </a:rPr>
              <a:t>arrayName</a:t>
            </a:r>
            <a:r>
              <a:rPr lang="en-US" sz="1600" b="1" dirty="0">
                <a:solidFill>
                  <a:schemeClr val="hlink"/>
                </a:solidFill>
              </a:rPr>
              <a:t> = new </a:t>
            </a:r>
            <a:r>
              <a:rPr lang="en-US" sz="1600" b="1" dirty="0" err="1">
                <a:solidFill>
                  <a:schemeClr val="hlink"/>
                </a:solidFill>
              </a:rPr>
              <a:t>dataType</a:t>
            </a:r>
            <a:r>
              <a:rPr lang="en-US" sz="1600" b="1" dirty="0">
                <a:solidFill>
                  <a:schemeClr val="hlink"/>
                </a:solidFill>
              </a:rPr>
              <a:t>[ row, column ];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Where:</a:t>
            </a:r>
          </a:p>
          <a:p>
            <a:pPr>
              <a:buNone/>
            </a:pPr>
            <a:r>
              <a:rPr lang="en-US" sz="1600" b="1" i="1" dirty="0" err="1"/>
              <a:t>dataType</a:t>
            </a:r>
            <a:r>
              <a:rPr lang="en-US" sz="1600" b="1" i="1" dirty="0"/>
              <a:t> – </a:t>
            </a:r>
            <a:r>
              <a:rPr lang="en-US" sz="1600" b="1" i="1" dirty="0" err="1"/>
              <a:t>int</a:t>
            </a:r>
            <a:r>
              <a:rPr lang="en-US" sz="1600" b="1" i="1" dirty="0"/>
              <a:t>, float, double, string etc.. etc..</a:t>
            </a:r>
          </a:p>
          <a:p>
            <a:pPr>
              <a:buNone/>
            </a:pPr>
            <a:r>
              <a:rPr lang="en-US" sz="1600" b="1" i="1" dirty="0" err="1"/>
              <a:t>arrayName</a:t>
            </a:r>
            <a:r>
              <a:rPr lang="en-US" sz="1600" b="1" i="1" dirty="0"/>
              <a:t> – any valid variable name.</a:t>
            </a:r>
          </a:p>
          <a:p>
            <a:pPr>
              <a:buNone/>
            </a:pPr>
            <a:r>
              <a:rPr lang="en-US" sz="1600" b="1" i="1" dirty="0"/>
              <a:t>row, column – positive integer value</a:t>
            </a: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000" dirty="0"/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400" b="1" dirty="0">
              <a:solidFill>
                <a:schemeClr val="hlink"/>
              </a:solidFill>
            </a:endParaRPr>
          </a:p>
          <a:p>
            <a:pPr marL="350838" lvl="1" indent="0">
              <a:lnSpc>
                <a:spcPct val="90000"/>
              </a:lnSpc>
              <a:spcBef>
                <a:spcPct val="10000"/>
              </a:spcBef>
              <a:buNone/>
            </a:pPr>
            <a:endParaRPr lang="en-US" sz="2400" b="1" dirty="0">
              <a:solidFill>
                <a:schemeClr val="hlink"/>
              </a:solidFill>
            </a:endParaRPr>
          </a:p>
          <a:p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452875" y="549031"/>
            <a:ext cx="3111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Aft>
                <a:spcPct val="50000"/>
              </a:spcAft>
              <a:buFont typeface="Wingdings" pitchFamily="2" charset="2"/>
              <a:buNone/>
            </a:pPr>
            <a:r>
              <a:rPr lang="en-US" sz="4000" b="1" dirty="0"/>
              <a:t>2D-Arrays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820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9275" y="1240130"/>
            <a:ext cx="6048375" cy="7379995"/>
          </a:xfrm>
        </p:spPr>
        <p:txBody>
          <a:bodyPr/>
          <a:lstStyle/>
          <a:p>
            <a:r>
              <a:rPr lang="en-US" sz="2000" dirty="0"/>
              <a:t>We can visualize a two-dimensional array as having rows and columns.</a:t>
            </a:r>
          </a:p>
          <a:p>
            <a:r>
              <a:rPr lang="en-US" sz="2000" dirty="0"/>
              <a:t>Each cell represents a memory space of data type </a:t>
            </a:r>
            <a:r>
              <a:rPr lang="en-US" sz="2000" b="1" dirty="0"/>
              <a:t>float</a:t>
            </a:r>
            <a:r>
              <a:rPr lang="en-US" sz="2000" dirty="0"/>
              <a:t>.</a:t>
            </a:r>
          </a:p>
          <a:p>
            <a:pPr>
              <a:spcBef>
                <a:spcPct val="800000"/>
              </a:spcBef>
            </a:pPr>
            <a:r>
              <a:rPr lang="en-US" sz="2000" dirty="0"/>
              <a:t>In this example, the rows represent the number of students (3 students) while the columns represent the different subjects (6 subjects). 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The numbers in the cells are the marks of the student per subject.</a:t>
            </a:r>
          </a:p>
          <a:p>
            <a:pPr>
              <a:spcBef>
                <a:spcPct val="20000"/>
              </a:spcBef>
            </a:pPr>
            <a:r>
              <a:rPr lang="en-US" sz="2000" dirty="0"/>
              <a:t>To create the 2D array:</a:t>
            </a:r>
          </a:p>
          <a:p>
            <a:pPr marL="0" indent="0">
              <a:spcBef>
                <a:spcPct val="20000"/>
              </a:spcBef>
              <a:buNone/>
            </a:pPr>
            <a:endParaRPr lang="en-US" sz="2000" dirty="0"/>
          </a:p>
          <a:p>
            <a:pPr>
              <a:spcBef>
                <a:spcPct val="20000"/>
              </a:spcBef>
            </a:pPr>
            <a:endParaRPr lang="en-US" sz="2000" dirty="0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831915" y="2276880"/>
            <a:ext cx="5316538" cy="2290010"/>
            <a:chOff x="391" y="1111"/>
            <a:chExt cx="3349" cy="1328"/>
          </a:xfrm>
        </p:grpSpPr>
        <p:sp>
          <p:nvSpPr>
            <p:cNvPr id="428036" name="Rectangle 4"/>
            <p:cNvSpPr>
              <a:spLocks noChangeArrowheads="1"/>
            </p:cNvSpPr>
            <p:nvPr/>
          </p:nvSpPr>
          <p:spPr bwMode="auto">
            <a:xfrm>
              <a:off x="1436" y="1642"/>
              <a:ext cx="2304" cy="79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37" name="Line 5"/>
            <p:cNvSpPr>
              <a:spLocks noChangeShapeType="1"/>
            </p:cNvSpPr>
            <p:nvPr/>
          </p:nvSpPr>
          <p:spPr bwMode="auto">
            <a:xfrm>
              <a:off x="2204" y="1642"/>
              <a:ext cx="0" cy="7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38" name="Line 6"/>
            <p:cNvSpPr>
              <a:spLocks noChangeShapeType="1"/>
            </p:cNvSpPr>
            <p:nvPr/>
          </p:nvSpPr>
          <p:spPr bwMode="auto">
            <a:xfrm>
              <a:off x="2972" y="1642"/>
              <a:ext cx="0" cy="7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39" name="Line 7"/>
            <p:cNvSpPr>
              <a:spLocks noChangeShapeType="1"/>
            </p:cNvSpPr>
            <p:nvPr/>
          </p:nvSpPr>
          <p:spPr bwMode="auto">
            <a:xfrm>
              <a:off x="1436" y="2174"/>
              <a:ext cx="23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0" name="Line 8"/>
            <p:cNvSpPr>
              <a:spLocks noChangeShapeType="1"/>
            </p:cNvSpPr>
            <p:nvPr/>
          </p:nvSpPr>
          <p:spPr bwMode="auto">
            <a:xfrm>
              <a:off x="1436" y="1908"/>
              <a:ext cx="23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1" name="Text Box 9"/>
            <p:cNvSpPr txBox="1">
              <a:spLocks noChangeArrowheads="1"/>
            </p:cNvSpPr>
            <p:nvPr/>
          </p:nvSpPr>
          <p:spPr bwMode="auto">
            <a:xfrm>
              <a:off x="527" y="1746"/>
              <a:ext cx="388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Row</a:t>
              </a:r>
            </a:p>
          </p:txBody>
        </p:sp>
        <p:sp>
          <p:nvSpPr>
            <p:cNvPr id="428042" name="Text Box 10"/>
            <p:cNvSpPr txBox="1">
              <a:spLocks noChangeArrowheads="1"/>
            </p:cNvSpPr>
            <p:nvPr/>
          </p:nvSpPr>
          <p:spPr bwMode="auto">
            <a:xfrm>
              <a:off x="1814" y="1223"/>
              <a:ext cx="1242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Column (subject)</a:t>
              </a:r>
            </a:p>
          </p:txBody>
        </p:sp>
        <p:sp>
          <p:nvSpPr>
            <p:cNvPr id="428043" name="Text Box 11"/>
            <p:cNvSpPr txBox="1">
              <a:spLocks noChangeArrowheads="1"/>
            </p:cNvSpPr>
            <p:nvPr/>
          </p:nvSpPr>
          <p:spPr bwMode="auto">
            <a:xfrm>
              <a:off x="2972" y="1111"/>
              <a:ext cx="116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GB" sz="1600"/>
            </a:p>
          </p:txBody>
        </p:sp>
        <p:sp>
          <p:nvSpPr>
            <p:cNvPr id="428044" name="Line 12"/>
            <p:cNvSpPr>
              <a:spLocks noChangeShapeType="1"/>
            </p:cNvSpPr>
            <p:nvPr/>
          </p:nvSpPr>
          <p:spPr bwMode="auto">
            <a:xfrm>
              <a:off x="1580" y="1332"/>
              <a:ext cx="0" cy="1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5" name="Line 13"/>
            <p:cNvSpPr>
              <a:spLocks noChangeShapeType="1"/>
            </p:cNvSpPr>
            <p:nvPr/>
          </p:nvSpPr>
          <p:spPr bwMode="auto">
            <a:xfrm>
              <a:off x="1004" y="1775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6" name="Line 14"/>
            <p:cNvSpPr>
              <a:spLocks noChangeShapeType="1"/>
            </p:cNvSpPr>
            <p:nvPr/>
          </p:nvSpPr>
          <p:spPr bwMode="auto">
            <a:xfrm>
              <a:off x="1820" y="1642"/>
              <a:ext cx="0" cy="7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7" name="Line 15"/>
            <p:cNvSpPr>
              <a:spLocks noChangeShapeType="1"/>
            </p:cNvSpPr>
            <p:nvPr/>
          </p:nvSpPr>
          <p:spPr bwMode="auto">
            <a:xfrm>
              <a:off x="2588" y="1642"/>
              <a:ext cx="0" cy="7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8" name="Line 16"/>
            <p:cNvSpPr>
              <a:spLocks noChangeShapeType="1"/>
            </p:cNvSpPr>
            <p:nvPr/>
          </p:nvSpPr>
          <p:spPr bwMode="auto">
            <a:xfrm>
              <a:off x="3356" y="1642"/>
              <a:ext cx="0" cy="797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28049" name="Text Box 17"/>
            <p:cNvSpPr txBox="1">
              <a:spLocks noChangeArrowheads="1"/>
            </p:cNvSpPr>
            <p:nvPr/>
          </p:nvSpPr>
          <p:spPr bwMode="auto">
            <a:xfrm>
              <a:off x="1207" y="1655"/>
              <a:ext cx="198" cy="6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/>
                <a:t>0</a:t>
              </a:r>
            </a:p>
            <a:p>
              <a:pPr>
                <a:lnSpc>
                  <a:spcPct val="80000"/>
                </a:lnSpc>
              </a:pPr>
              <a:endParaRPr lang="en-US" sz="1600"/>
            </a:p>
            <a:p>
              <a:pPr>
                <a:lnSpc>
                  <a:spcPct val="80000"/>
                </a:lnSpc>
              </a:pPr>
              <a:r>
                <a:rPr lang="en-US" sz="1600"/>
                <a:t>1</a:t>
              </a:r>
            </a:p>
            <a:p>
              <a:pPr>
                <a:lnSpc>
                  <a:spcPct val="80000"/>
                </a:lnSpc>
              </a:pPr>
              <a:endParaRPr lang="en-US" sz="1600"/>
            </a:p>
            <a:p>
              <a:pPr>
                <a:lnSpc>
                  <a:spcPct val="80000"/>
                </a:lnSpc>
              </a:pPr>
              <a:r>
                <a:rPr lang="en-US" sz="1600"/>
                <a:t>2</a:t>
              </a:r>
            </a:p>
          </p:txBody>
        </p:sp>
        <p:sp>
          <p:nvSpPr>
            <p:cNvPr id="428050" name="Text Box 18"/>
            <p:cNvSpPr txBox="1">
              <a:spLocks noChangeArrowheads="1"/>
            </p:cNvSpPr>
            <p:nvPr/>
          </p:nvSpPr>
          <p:spPr bwMode="auto">
            <a:xfrm>
              <a:off x="1398" y="1438"/>
              <a:ext cx="1925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 0     1      2       3     4     5</a:t>
              </a:r>
            </a:p>
          </p:txBody>
        </p:sp>
        <p:sp>
          <p:nvSpPr>
            <p:cNvPr id="428051" name="Text Box 19"/>
            <p:cNvSpPr txBox="1">
              <a:spLocks noChangeArrowheads="1"/>
            </p:cNvSpPr>
            <p:nvPr/>
          </p:nvSpPr>
          <p:spPr bwMode="auto">
            <a:xfrm>
              <a:off x="391" y="1978"/>
              <a:ext cx="723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(student)</a:t>
              </a:r>
            </a:p>
          </p:txBody>
        </p:sp>
        <p:sp>
          <p:nvSpPr>
            <p:cNvPr id="428052" name="Text Box 20"/>
            <p:cNvSpPr txBox="1">
              <a:spLocks noChangeArrowheads="1"/>
            </p:cNvSpPr>
            <p:nvPr/>
          </p:nvSpPr>
          <p:spPr bwMode="auto">
            <a:xfrm>
              <a:off x="1484" y="1658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4.5</a:t>
              </a:r>
            </a:p>
          </p:txBody>
        </p:sp>
        <p:sp>
          <p:nvSpPr>
            <p:cNvPr id="428053" name="Text Box 21"/>
            <p:cNvSpPr txBox="1">
              <a:spLocks noChangeArrowheads="1"/>
            </p:cNvSpPr>
            <p:nvPr/>
          </p:nvSpPr>
          <p:spPr bwMode="auto">
            <a:xfrm>
              <a:off x="3404" y="2189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7.0</a:t>
              </a:r>
            </a:p>
          </p:txBody>
        </p:sp>
        <p:sp>
          <p:nvSpPr>
            <p:cNvPr id="428054" name="Text Box 22"/>
            <p:cNvSpPr txBox="1">
              <a:spLocks noChangeArrowheads="1"/>
            </p:cNvSpPr>
            <p:nvPr/>
          </p:nvSpPr>
          <p:spPr bwMode="auto">
            <a:xfrm>
              <a:off x="3404" y="1658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5.5</a:t>
              </a:r>
            </a:p>
          </p:txBody>
        </p:sp>
        <p:sp>
          <p:nvSpPr>
            <p:cNvPr id="428055" name="Text Box 23"/>
            <p:cNvSpPr txBox="1">
              <a:spLocks noChangeArrowheads="1"/>
            </p:cNvSpPr>
            <p:nvPr/>
          </p:nvSpPr>
          <p:spPr bwMode="auto">
            <a:xfrm>
              <a:off x="3020" y="2189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8.5</a:t>
              </a:r>
            </a:p>
          </p:txBody>
        </p:sp>
        <p:sp>
          <p:nvSpPr>
            <p:cNvPr id="428056" name="Text Box 24"/>
            <p:cNvSpPr txBox="1">
              <a:spLocks noChangeArrowheads="1"/>
            </p:cNvSpPr>
            <p:nvPr/>
          </p:nvSpPr>
          <p:spPr bwMode="auto">
            <a:xfrm>
              <a:off x="3404" y="1924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6.5</a:t>
              </a:r>
            </a:p>
          </p:txBody>
        </p:sp>
        <p:sp>
          <p:nvSpPr>
            <p:cNvPr id="428057" name="Text Box 25"/>
            <p:cNvSpPr txBox="1">
              <a:spLocks noChangeArrowheads="1"/>
            </p:cNvSpPr>
            <p:nvPr/>
          </p:nvSpPr>
          <p:spPr bwMode="auto">
            <a:xfrm>
              <a:off x="3020" y="1658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9.0</a:t>
              </a:r>
            </a:p>
          </p:txBody>
        </p:sp>
        <p:sp>
          <p:nvSpPr>
            <p:cNvPr id="428058" name="Text Box 26"/>
            <p:cNvSpPr txBox="1">
              <a:spLocks noChangeArrowheads="1"/>
            </p:cNvSpPr>
            <p:nvPr/>
          </p:nvSpPr>
          <p:spPr bwMode="auto">
            <a:xfrm>
              <a:off x="3020" y="1924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7.5</a:t>
              </a:r>
            </a:p>
          </p:txBody>
        </p:sp>
        <p:sp>
          <p:nvSpPr>
            <p:cNvPr id="428059" name="Text Box 27"/>
            <p:cNvSpPr txBox="1">
              <a:spLocks noChangeArrowheads="1"/>
            </p:cNvSpPr>
            <p:nvPr/>
          </p:nvSpPr>
          <p:spPr bwMode="auto">
            <a:xfrm>
              <a:off x="2251" y="1921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5.5</a:t>
              </a:r>
            </a:p>
          </p:txBody>
        </p:sp>
        <p:sp>
          <p:nvSpPr>
            <p:cNvPr id="428060" name="Text Box 28"/>
            <p:cNvSpPr txBox="1">
              <a:spLocks noChangeArrowheads="1"/>
            </p:cNvSpPr>
            <p:nvPr/>
          </p:nvSpPr>
          <p:spPr bwMode="auto">
            <a:xfrm>
              <a:off x="1483" y="1921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9.5</a:t>
              </a:r>
            </a:p>
          </p:txBody>
        </p:sp>
        <p:sp>
          <p:nvSpPr>
            <p:cNvPr id="428061" name="Text Box 29"/>
            <p:cNvSpPr txBox="1">
              <a:spLocks noChangeArrowheads="1"/>
            </p:cNvSpPr>
            <p:nvPr/>
          </p:nvSpPr>
          <p:spPr bwMode="auto">
            <a:xfrm>
              <a:off x="1483" y="2186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8.0</a:t>
              </a:r>
            </a:p>
          </p:txBody>
        </p:sp>
        <p:sp>
          <p:nvSpPr>
            <p:cNvPr id="428062" name="Text Box 30"/>
            <p:cNvSpPr txBox="1">
              <a:spLocks noChangeArrowheads="1"/>
            </p:cNvSpPr>
            <p:nvPr/>
          </p:nvSpPr>
          <p:spPr bwMode="auto">
            <a:xfrm>
              <a:off x="1868" y="1924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6.5</a:t>
              </a:r>
            </a:p>
          </p:txBody>
        </p:sp>
        <p:sp>
          <p:nvSpPr>
            <p:cNvPr id="428063" name="Text Box 31"/>
            <p:cNvSpPr txBox="1">
              <a:spLocks noChangeArrowheads="1"/>
            </p:cNvSpPr>
            <p:nvPr/>
          </p:nvSpPr>
          <p:spPr bwMode="auto">
            <a:xfrm>
              <a:off x="1867" y="1655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6.5</a:t>
              </a:r>
            </a:p>
          </p:txBody>
        </p:sp>
        <p:sp>
          <p:nvSpPr>
            <p:cNvPr id="428064" name="Text Box 32"/>
            <p:cNvSpPr txBox="1">
              <a:spLocks noChangeArrowheads="1"/>
            </p:cNvSpPr>
            <p:nvPr/>
          </p:nvSpPr>
          <p:spPr bwMode="auto">
            <a:xfrm>
              <a:off x="1867" y="2186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9.5</a:t>
              </a:r>
            </a:p>
          </p:txBody>
        </p:sp>
        <p:sp>
          <p:nvSpPr>
            <p:cNvPr id="428065" name="Text Box 33"/>
            <p:cNvSpPr txBox="1">
              <a:spLocks noChangeArrowheads="1"/>
            </p:cNvSpPr>
            <p:nvPr/>
          </p:nvSpPr>
          <p:spPr bwMode="auto">
            <a:xfrm>
              <a:off x="2636" y="1924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7.0</a:t>
              </a:r>
            </a:p>
          </p:txBody>
        </p:sp>
        <p:sp>
          <p:nvSpPr>
            <p:cNvPr id="428066" name="Text Box 34"/>
            <p:cNvSpPr txBox="1">
              <a:spLocks noChangeArrowheads="1"/>
            </p:cNvSpPr>
            <p:nvPr/>
          </p:nvSpPr>
          <p:spPr bwMode="auto">
            <a:xfrm>
              <a:off x="2251" y="1655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6.0</a:t>
              </a:r>
            </a:p>
          </p:txBody>
        </p:sp>
        <p:sp>
          <p:nvSpPr>
            <p:cNvPr id="428067" name="Text Box 35"/>
            <p:cNvSpPr txBox="1">
              <a:spLocks noChangeArrowheads="1"/>
            </p:cNvSpPr>
            <p:nvPr/>
          </p:nvSpPr>
          <p:spPr bwMode="auto">
            <a:xfrm>
              <a:off x="2636" y="1658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7.5</a:t>
              </a:r>
            </a:p>
          </p:txBody>
        </p:sp>
        <p:sp>
          <p:nvSpPr>
            <p:cNvPr id="428068" name="Text Box 36"/>
            <p:cNvSpPr txBox="1">
              <a:spLocks noChangeArrowheads="1"/>
            </p:cNvSpPr>
            <p:nvPr/>
          </p:nvSpPr>
          <p:spPr bwMode="auto">
            <a:xfrm>
              <a:off x="2203" y="2186"/>
              <a:ext cx="409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/>
                <a:t>10.0</a:t>
              </a:r>
            </a:p>
          </p:txBody>
        </p:sp>
        <p:sp>
          <p:nvSpPr>
            <p:cNvPr id="428069" name="Text Box 37"/>
            <p:cNvSpPr txBox="1">
              <a:spLocks noChangeArrowheads="1"/>
            </p:cNvSpPr>
            <p:nvPr/>
          </p:nvSpPr>
          <p:spPr bwMode="auto">
            <a:xfrm>
              <a:off x="2636" y="2189"/>
              <a:ext cx="327" cy="1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9.0</a:t>
              </a:r>
            </a:p>
          </p:txBody>
        </p:sp>
        <p:sp>
          <p:nvSpPr>
            <p:cNvPr id="428070" name="Line 38"/>
            <p:cNvSpPr>
              <a:spLocks noChangeShapeType="1"/>
            </p:cNvSpPr>
            <p:nvPr/>
          </p:nvSpPr>
          <p:spPr bwMode="auto">
            <a:xfrm>
              <a:off x="3385" y="1655"/>
              <a:ext cx="0" cy="77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452875" y="549031"/>
            <a:ext cx="3111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Aft>
                <a:spcPct val="50000"/>
              </a:spcAft>
              <a:buFont typeface="Wingdings" pitchFamily="2" charset="2"/>
              <a:buNone/>
            </a:pPr>
            <a:r>
              <a:rPr lang="en-US" sz="4000" b="1" dirty="0"/>
              <a:t>2D-Arrays</a:t>
            </a:r>
          </a:p>
        </p:txBody>
      </p:sp>
      <p:cxnSp>
        <p:nvCxnSpPr>
          <p:cNvPr id="41" name="Straight Connector 40"/>
          <p:cNvCxnSpPr>
            <a:stCxn id="428070" idx="0"/>
            <a:endCxn id="428070" idx="1"/>
          </p:cNvCxnSpPr>
          <p:nvPr/>
        </p:nvCxnSpPr>
        <p:spPr>
          <a:xfrm>
            <a:off x="5584890" y="3214956"/>
            <a:ext cx="1" cy="13295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loud 41"/>
          <p:cNvSpPr/>
          <p:nvPr/>
        </p:nvSpPr>
        <p:spPr>
          <a:xfrm>
            <a:off x="452875" y="7116041"/>
            <a:ext cx="6206837" cy="1302327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50838" lvl="1" indent="0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chemeClr val="hlink"/>
                </a:solidFill>
                <a:latin typeface="Comic Sans MS" pitchFamily="66" charset="0"/>
              </a:rPr>
              <a:t>float [ , ] mark = new float [3,6];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4937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71475"/>
            <a:ext cx="5829300" cy="549275"/>
          </a:xfrm>
        </p:spPr>
        <p:txBody>
          <a:bodyPr/>
          <a:lstStyle/>
          <a:p>
            <a:r>
              <a:rPr lang="en-US" sz="3200"/>
              <a:t>Summary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013" y="1533525"/>
            <a:ext cx="5986462" cy="7231334"/>
          </a:xfrm>
        </p:spPr>
        <p:txBody>
          <a:bodyPr/>
          <a:lstStyle/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100" dirty="0"/>
              <a:t>How to apply loops to iterate through an array of elements.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100" dirty="0"/>
              <a:t>How to manipulate data in arrays to perform calculations </a:t>
            </a:r>
            <a:r>
              <a:rPr lang="en-US" sz="2100" dirty="0" err="1"/>
              <a:t>eg</a:t>
            </a:r>
            <a:r>
              <a:rPr lang="en-US" sz="2100" dirty="0"/>
              <a:t> total, comparison.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100" dirty="0"/>
              <a:t>To read from an Array, can use:</a:t>
            </a:r>
          </a:p>
          <a:p>
            <a:pPr marL="1235075" lvl="2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000" dirty="0" err="1">
                <a:solidFill>
                  <a:schemeClr val="accent2"/>
                </a:solidFill>
              </a:rPr>
              <a:t>foreach</a:t>
            </a:r>
            <a:r>
              <a:rPr lang="en-GB" sz="2000">
                <a:solidFill>
                  <a:schemeClr val="accent2"/>
                </a:solidFill>
              </a:rPr>
              <a:t> loop (NOT TESTED)</a:t>
            </a:r>
            <a:endParaRPr lang="en-GB" sz="2000" dirty="0">
              <a:solidFill>
                <a:schemeClr val="accent2"/>
              </a:solidFill>
            </a:endParaRPr>
          </a:p>
          <a:p>
            <a:pPr marL="1235075" lvl="2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000" dirty="0">
                <a:solidFill>
                  <a:schemeClr val="accent2"/>
                </a:solidFill>
              </a:rPr>
              <a:t>for loop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100" dirty="0"/>
              <a:t>To store or write to an Array, can </a:t>
            </a:r>
            <a:r>
              <a:rPr lang="en-GB" sz="2100" b="1" u="sng" dirty="0"/>
              <a:t>ONLY</a:t>
            </a:r>
            <a:r>
              <a:rPr lang="en-GB" sz="2100" dirty="0"/>
              <a:t> use:</a:t>
            </a:r>
          </a:p>
          <a:p>
            <a:pPr marL="1235075" lvl="2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000" dirty="0">
                <a:solidFill>
                  <a:schemeClr val="accent2"/>
                </a:solidFill>
              </a:rPr>
              <a:t>for loop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100" dirty="0">
                <a:solidFill>
                  <a:schemeClr val="accent2"/>
                </a:solidFill>
              </a:rPr>
              <a:t>Length </a:t>
            </a:r>
            <a:r>
              <a:rPr lang="en-GB" sz="2100" dirty="0"/>
              <a:t>property of an array.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100" dirty="0"/>
              <a:t>Allowing user to define array size.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GB" sz="2100" dirty="0"/>
              <a:t>Processing arrays in parallel.</a:t>
            </a:r>
            <a:endParaRPr lang="en-US" sz="2100" dirty="0"/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100" dirty="0"/>
              <a:t>Searching of an Array.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100" dirty="0"/>
              <a:t>Find Max and Min value</a:t>
            </a:r>
          </a:p>
          <a:p>
            <a:pPr marL="441325" lvl="1" indent="-261938">
              <a:spcBef>
                <a:spcPct val="50000"/>
              </a:spcBef>
              <a:buClrTx/>
              <a:buFont typeface="Wingdings" pitchFamily="2" charset="2"/>
              <a:buChar char="§"/>
            </a:pPr>
            <a:r>
              <a:rPr lang="en-US" sz="2100" dirty="0"/>
              <a:t>Advanced Array :Dynamic Sizing Array and 2D Array</a:t>
            </a:r>
          </a:p>
          <a:p>
            <a:pPr marL="0" indent="0"/>
            <a:endParaRPr lang="en-GB" sz="2000" dirty="0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 Map – Array w Loop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012464"/>
              </p:ext>
            </p:extLst>
          </p:nvPr>
        </p:nvGraphicFramePr>
        <p:xfrm>
          <a:off x="685800" y="2000250"/>
          <a:ext cx="5962650" cy="6580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7669" y="3404681"/>
            <a:ext cx="134684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itchFamily="66" charset="0"/>
              </a:rPr>
              <a:t>Array with</a:t>
            </a:r>
          </a:p>
          <a:p>
            <a:r>
              <a:rPr lang="en-US" sz="4000" dirty="0">
                <a:solidFill>
                  <a:srgbClr val="0033CC"/>
                </a:solidFill>
                <a:latin typeface="Comic Sans MS" pitchFamily="66" charset="0"/>
              </a:rPr>
              <a:t>Loop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" y="1296989"/>
            <a:ext cx="5829300" cy="96996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GB" sz="2000" dirty="0"/>
              <a:t>Spot the mistake in the C# code about 1D array and For Loop.</a:t>
            </a:r>
          </a:p>
          <a:p>
            <a:pPr marL="457200" indent="-457200">
              <a:buAutoNum type="arabicPeriod"/>
            </a:pPr>
            <a:endParaRPr lang="en-GB" sz="2000" dirty="0"/>
          </a:p>
          <a:p>
            <a:r>
              <a:rPr lang="en-GB" dirty="0"/>
              <a:t>a) Range of indices in Array</a:t>
            </a:r>
          </a:p>
          <a:p>
            <a:pPr marL="0" indent="0">
              <a:buNone/>
            </a:pPr>
            <a:r>
              <a:rPr lang="en-GB" dirty="0"/>
              <a:t> 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857250" y="2857411"/>
            <a:ext cx="47625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 err="1"/>
              <a:t>int</a:t>
            </a:r>
            <a:r>
              <a:rPr lang="en-GB" dirty="0"/>
              <a:t> [] table = new </a:t>
            </a:r>
            <a:r>
              <a:rPr lang="en-GB" dirty="0" err="1"/>
              <a:t>int</a:t>
            </a:r>
            <a:r>
              <a:rPr lang="en-GB" dirty="0"/>
              <a:t>[10];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for (</a:t>
            </a:r>
            <a:r>
              <a:rPr lang="en-GB" dirty="0" err="1"/>
              <a:t>int</a:t>
            </a:r>
            <a:r>
              <a:rPr lang="en-GB" dirty="0"/>
              <a:t> index=0; index &lt;=10; index++)</a:t>
            </a:r>
          </a:p>
          <a:p>
            <a:pPr marL="0" indent="0">
              <a:buNone/>
            </a:pP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	table[index] = 0;</a:t>
            </a:r>
          </a:p>
          <a:p>
            <a:pPr marL="0" indent="0">
              <a:buNone/>
            </a:pPr>
            <a:r>
              <a:rPr lang="en-GB" dirty="0"/>
              <a:t> }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857250" y="5035034"/>
            <a:ext cx="1566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GB" dirty="0"/>
              <a:t>Correction: 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420611" y="1561774"/>
            <a:ext cx="1171575" cy="1056715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2192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52450" y="1296989"/>
            <a:ext cx="5829300" cy="484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dirty="0"/>
              <a:t>b) For Loop index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/>
              <a:t> 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857250" y="1790611"/>
            <a:ext cx="47625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600" dirty="0"/>
              <a:t>float [] sales = new sales[6];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 for (float index=0; index &lt;6; index++)</a:t>
            </a:r>
          </a:p>
          <a:p>
            <a:pPr marL="0" indent="0">
              <a:buNone/>
            </a:pPr>
            <a:r>
              <a:rPr lang="en-GB" sz="1600" dirty="0"/>
              <a:t> {</a:t>
            </a:r>
          </a:p>
          <a:p>
            <a:pPr marL="0" indent="0">
              <a:buNone/>
            </a:pPr>
            <a:r>
              <a:rPr lang="en-GB" sz="1600" dirty="0"/>
              <a:t> 	sales[index] = 0;</a:t>
            </a:r>
          </a:p>
          <a:p>
            <a:pPr marL="0" indent="0">
              <a:buNone/>
            </a:pPr>
            <a:r>
              <a:rPr lang="en-GB" sz="1600" dirty="0"/>
              <a:t> }</a:t>
            </a:r>
            <a:endParaRPr lang="en-SG" sz="1600" dirty="0"/>
          </a:p>
        </p:txBody>
      </p:sp>
      <p:sp>
        <p:nvSpPr>
          <p:cNvPr id="6" name="Rectangle 5"/>
          <p:cNvSpPr/>
          <p:nvPr/>
        </p:nvSpPr>
        <p:spPr>
          <a:xfrm>
            <a:off x="857250" y="3377684"/>
            <a:ext cx="14141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GB" sz="1600" dirty="0"/>
              <a:t>Correction: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  <a:endParaRPr lang="en-SG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6725" y="5221289"/>
            <a:ext cx="5829300" cy="484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dirty="0"/>
              <a:t>c) For Loop index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/>
              <a:t> </a:t>
            </a:r>
            <a:endParaRPr lang="en-SG" dirty="0"/>
          </a:p>
        </p:txBody>
      </p:sp>
      <p:sp>
        <p:nvSpPr>
          <p:cNvPr id="9" name="Rectangle 8"/>
          <p:cNvSpPr/>
          <p:nvPr/>
        </p:nvSpPr>
        <p:spPr>
          <a:xfrm>
            <a:off x="771525" y="5676811"/>
            <a:ext cx="47625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600" dirty="0"/>
              <a:t>string [] apple = new string[4];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 for (</a:t>
            </a:r>
            <a:r>
              <a:rPr lang="en-GB" sz="1600" dirty="0" err="1"/>
              <a:t>i</a:t>
            </a:r>
            <a:r>
              <a:rPr lang="en-GB" sz="1600" dirty="0"/>
              <a:t>=0; </a:t>
            </a:r>
            <a:r>
              <a:rPr lang="en-GB" sz="1600" dirty="0" err="1"/>
              <a:t>i</a:t>
            </a:r>
            <a:r>
              <a:rPr lang="en-GB" sz="1600" dirty="0"/>
              <a:t> &lt;4; </a:t>
            </a:r>
            <a:r>
              <a:rPr lang="en-GB" sz="1600" dirty="0" err="1"/>
              <a:t>i</a:t>
            </a:r>
            <a:r>
              <a:rPr lang="en-GB" sz="1600" dirty="0"/>
              <a:t>++)</a:t>
            </a:r>
          </a:p>
          <a:p>
            <a:pPr marL="0" indent="0">
              <a:buNone/>
            </a:pPr>
            <a:r>
              <a:rPr lang="en-GB" sz="1600" dirty="0"/>
              <a:t> {</a:t>
            </a:r>
          </a:p>
          <a:p>
            <a:pPr marL="0" indent="0">
              <a:buNone/>
            </a:pPr>
            <a:r>
              <a:rPr lang="en-GB" sz="1600" dirty="0"/>
              <a:t> 	sales[</a:t>
            </a:r>
            <a:r>
              <a:rPr lang="en-GB" sz="1600" dirty="0" err="1"/>
              <a:t>i</a:t>
            </a:r>
            <a:r>
              <a:rPr lang="en-GB" sz="1600" dirty="0"/>
              <a:t>] = 0;</a:t>
            </a:r>
          </a:p>
          <a:p>
            <a:pPr marL="0" indent="0">
              <a:buNone/>
            </a:pPr>
            <a:r>
              <a:rPr lang="en-GB" sz="1600" dirty="0"/>
              <a:t> }</a:t>
            </a:r>
            <a:endParaRPr lang="en-SG" sz="1600" dirty="0"/>
          </a:p>
        </p:txBody>
      </p:sp>
      <p:sp>
        <p:nvSpPr>
          <p:cNvPr id="10" name="Rectangle 9"/>
          <p:cNvSpPr/>
          <p:nvPr/>
        </p:nvSpPr>
        <p:spPr>
          <a:xfrm>
            <a:off x="771525" y="7263884"/>
            <a:ext cx="14141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GB" sz="1600" dirty="0"/>
              <a:t>Correction: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045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Practical 2C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7" y="1219945"/>
            <a:ext cx="6199187" cy="3618755"/>
          </a:xfrm>
        </p:spPr>
        <p:txBody>
          <a:bodyPr/>
          <a:lstStyle/>
          <a:p>
            <a:pPr marL="0" indent="0" eaLnBrk="1" hangingPunct="1">
              <a:buClr>
                <a:schemeClr val="tx1"/>
              </a:buClr>
              <a:buNone/>
            </a:pPr>
            <a:r>
              <a:rPr lang="en-GB" sz="2000" dirty="0"/>
              <a:t>2. Write a C# </a:t>
            </a:r>
            <a:r>
              <a:rPr lang="en-US" sz="2000" dirty="0"/>
              <a:t>window application </a:t>
            </a:r>
            <a:r>
              <a:rPr lang="en-GB" sz="2000" dirty="0"/>
              <a:t>program that  initialises an array with array name, </a:t>
            </a:r>
            <a:r>
              <a:rPr lang="en-GB" sz="2000" i="1" dirty="0"/>
              <a:t>temperature </a:t>
            </a:r>
            <a:r>
              <a:rPr lang="en-GB" sz="2000" dirty="0"/>
              <a:t>with the following values: 55.0, 77.5, 82.5, 28.5, 35.7.  </a:t>
            </a:r>
          </a:p>
          <a:p>
            <a:pPr marL="0" indent="0" eaLnBrk="1" hangingPunct="1">
              <a:buClr>
                <a:schemeClr val="tx1"/>
              </a:buClr>
              <a:buNone/>
            </a:pPr>
            <a:endParaRPr lang="en-GB" sz="2000" dirty="0"/>
          </a:p>
          <a:p>
            <a:pPr marL="0" indent="0" eaLnBrk="1" hangingPunct="1">
              <a:buClr>
                <a:schemeClr val="tx1"/>
              </a:buClr>
              <a:buNone/>
            </a:pPr>
            <a:r>
              <a:rPr lang="en-GB" sz="2000" dirty="0"/>
              <a:t>Use a </a:t>
            </a:r>
            <a:r>
              <a:rPr lang="en-GB" sz="2000" dirty="0" err="1">
                <a:solidFill>
                  <a:srgbClr val="0000FF"/>
                </a:solidFill>
              </a:rPr>
              <a:t>foreach</a:t>
            </a:r>
            <a:r>
              <a:rPr lang="en-GB" sz="2000" dirty="0"/>
              <a:t> loop to total up the values and calculate the average. When user clicks a </a:t>
            </a:r>
            <a:r>
              <a:rPr lang="en-GB" sz="2000" b="1" u="sng" dirty="0"/>
              <a:t>Average button</a:t>
            </a:r>
            <a:r>
              <a:rPr lang="en-GB" sz="2000" dirty="0"/>
              <a:t>, it displays the average temperature in a message box. </a:t>
            </a:r>
          </a:p>
          <a:p>
            <a:pPr marL="457200" indent="-457200" eaLnBrk="1" hangingPunct="1">
              <a:buFont typeface="Wingdings" pitchFamily="2" charset="2"/>
              <a:buNone/>
            </a:pPr>
            <a:endParaRPr lang="en-GB" sz="2000" dirty="0"/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GB" sz="2000" dirty="0"/>
              <a:t>3. Do the above question using a </a:t>
            </a:r>
            <a:r>
              <a:rPr lang="en-GB" sz="2000" dirty="0">
                <a:solidFill>
                  <a:srgbClr val="0000FF"/>
                </a:solidFill>
              </a:rPr>
              <a:t>for</a:t>
            </a:r>
            <a:r>
              <a:rPr lang="en-GB" sz="2000" dirty="0"/>
              <a:t> loop.</a:t>
            </a:r>
          </a:p>
          <a:p>
            <a:pPr marL="457200" indent="-457200" eaLnBrk="1" hangingPunct="1">
              <a:buFont typeface="Wingdings" pitchFamily="2" charset="2"/>
              <a:buNone/>
            </a:pPr>
            <a:endParaRPr lang="en-GB" sz="2000" dirty="0"/>
          </a:p>
          <a:p>
            <a:pPr marL="457200" indent="-457200" eaLnBrk="1" hangingPunct="1">
              <a:buFont typeface="Wingdings" pitchFamily="2" charset="2"/>
              <a:buNone/>
            </a:pPr>
            <a:endParaRPr lang="en-GB" sz="2000" dirty="0"/>
          </a:p>
        </p:txBody>
      </p:sp>
      <p:pic>
        <p:nvPicPr>
          <p:cNvPr id="2" name="Picture 1" descr="FormQ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01" y="4943376"/>
            <a:ext cx="2286198" cy="2286198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63" y="4943376"/>
            <a:ext cx="2812024" cy="14860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6904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2C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92213"/>
            <a:ext cx="5829300" cy="6683375"/>
          </a:xfrm>
        </p:spPr>
        <p:txBody>
          <a:bodyPr/>
          <a:lstStyle/>
          <a:p>
            <a:pPr marL="457200" indent="-457200" eaLnBrk="1" hangingPunct="1">
              <a:spcBef>
                <a:spcPct val="0"/>
              </a:spcBef>
              <a:buClr>
                <a:schemeClr val="tx1"/>
              </a:buClr>
              <a:buNone/>
            </a:pPr>
            <a:endParaRPr lang="en-GB" sz="2000" dirty="0"/>
          </a:p>
          <a:p>
            <a:pPr marL="457200" indent="-457200" eaLnBrk="1" hangingPunct="1">
              <a:spcBef>
                <a:spcPct val="0"/>
              </a:spcBef>
              <a:buClr>
                <a:schemeClr val="tx1"/>
              </a:buClr>
              <a:buNone/>
            </a:pPr>
            <a:r>
              <a:rPr lang="en-GB" sz="2000" dirty="0"/>
              <a:t>4. Write a C# C# </a:t>
            </a:r>
            <a:r>
              <a:rPr lang="en-US" sz="2000" dirty="0"/>
              <a:t>window application </a:t>
            </a:r>
            <a:r>
              <a:rPr lang="en-GB" sz="2000" dirty="0"/>
              <a:t>program to store 6 integers into an array named </a:t>
            </a:r>
            <a:r>
              <a:rPr lang="en-GB" sz="2000" i="1" dirty="0"/>
              <a:t>numbers</a:t>
            </a:r>
            <a:r>
              <a:rPr lang="en-GB" sz="2000" dirty="0"/>
              <a:t>. </a:t>
            </a:r>
          </a:p>
          <a:p>
            <a:pPr marL="1123950" lvl="1" indent="-495300">
              <a:buNone/>
            </a:pPr>
            <a:r>
              <a:rPr lang="en-GB" sz="2000" dirty="0" err="1">
                <a:solidFill>
                  <a:srgbClr val="0000FF"/>
                </a:solidFill>
              </a:rPr>
              <a:t>int</a:t>
            </a:r>
            <a:r>
              <a:rPr lang="en-GB" sz="2000" dirty="0"/>
              <a:t> [ ] numbers = {10,22,11,9,8,0};</a:t>
            </a:r>
          </a:p>
          <a:p>
            <a:pPr marL="457200" indent="-457200">
              <a:buNone/>
            </a:pPr>
            <a:r>
              <a:rPr lang="en-GB" sz="2000" dirty="0"/>
              <a:t>   	For each value, determine whether it is an even or odd number. Total up the number of even and odd numbers. When user clicks on </a:t>
            </a:r>
            <a:r>
              <a:rPr lang="en-GB" sz="2000" b="1" u="sng" dirty="0"/>
              <a:t>Total button</a:t>
            </a:r>
            <a:r>
              <a:rPr lang="en-GB" sz="2000" dirty="0"/>
              <a:t> it displays the </a:t>
            </a:r>
            <a:r>
              <a:rPr lang="en-GB" sz="2000" i="1" dirty="0"/>
              <a:t>numbers</a:t>
            </a:r>
            <a:r>
              <a:rPr lang="en-GB" sz="2000" dirty="0"/>
              <a:t> array, together with the total number of even and odd numbers found in a rich text box. </a:t>
            </a:r>
          </a:p>
          <a:p>
            <a:endParaRPr lang="en-SG" dirty="0"/>
          </a:p>
        </p:txBody>
      </p:sp>
      <p:pic>
        <p:nvPicPr>
          <p:cNvPr id="4" name="Picture 3" descr="FormQ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14" y="4838601"/>
            <a:ext cx="2286198" cy="2286198"/>
          </a:xfrm>
          <a:prstGeom prst="rect">
            <a:avLst/>
          </a:prstGeom>
        </p:spPr>
      </p:pic>
      <p:sp>
        <p:nvSpPr>
          <p:cNvPr id="6" name="Cloud 5"/>
          <p:cNvSpPr/>
          <p:nvPr/>
        </p:nvSpPr>
        <p:spPr>
          <a:xfrm>
            <a:off x="571499" y="7324725"/>
            <a:ext cx="5581651" cy="136207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If you were to add in more numbers in the number array, which part of the code would you modify?</a:t>
            </a:r>
            <a:endParaRPr lang="en-SG" sz="1200" dirty="0"/>
          </a:p>
        </p:txBody>
      </p:sp>
      <p:pic>
        <p:nvPicPr>
          <p:cNvPr id="7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" y="6966585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5-Point Star 4"/>
          <p:cNvSpPr/>
          <p:nvPr/>
        </p:nvSpPr>
        <p:spPr>
          <a:xfrm>
            <a:off x="5429249" y="7546228"/>
            <a:ext cx="1190625" cy="1073897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023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Practical </a:t>
            </a:r>
            <a:r>
              <a:rPr lang="en-GB" sz="3200" dirty="0"/>
              <a:t>2C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0" y="1268412"/>
            <a:ext cx="5829300" cy="50942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1600" dirty="0"/>
              <a:t>5. Write a C# </a:t>
            </a:r>
            <a:r>
              <a:rPr lang="en-US" sz="1600" dirty="0"/>
              <a:t>window application </a:t>
            </a:r>
            <a:r>
              <a:rPr lang="en-GB" sz="1600" dirty="0"/>
              <a:t>program to initialise an array, Sale to store the sale amount as follows { 100.20, 300.30, 200.40} and Name to store the Name as follows { “James”, “Sally”, “John”}. </a:t>
            </a:r>
          </a:p>
          <a:p>
            <a:pPr marL="0" indent="0">
              <a:buNone/>
              <a:defRPr/>
            </a:pPr>
            <a:r>
              <a:rPr lang="en-GB" sz="1600" dirty="0"/>
              <a:t>a. When user clicks a </a:t>
            </a:r>
            <a:r>
              <a:rPr lang="en-GB" sz="1600" b="1" u="sng" dirty="0"/>
              <a:t>Display button</a:t>
            </a:r>
            <a:r>
              <a:rPr lang="en-GB" sz="1600" dirty="0"/>
              <a:t>, it prints the result in a rich textbox as follows: </a:t>
            </a:r>
          </a:p>
          <a:p>
            <a:pPr marL="1314450" lvl="2" indent="-514350">
              <a:buFont typeface="Wingdings" pitchFamily="2" charset="2"/>
              <a:buNone/>
              <a:defRPr/>
            </a:pPr>
            <a:r>
              <a:rPr lang="en-GB" sz="1600" b="1" dirty="0">
                <a:solidFill>
                  <a:srgbClr val="FF0000"/>
                </a:solidFill>
              </a:rPr>
              <a:t>James earned $100.20</a:t>
            </a:r>
          </a:p>
          <a:p>
            <a:pPr marL="1314450" lvl="2" indent="-514350">
              <a:buFont typeface="Wingdings" pitchFamily="2" charset="2"/>
              <a:buNone/>
              <a:defRPr/>
            </a:pPr>
            <a:r>
              <a:rPr lang="en-GB" sz="1600" b="1" dirty="0">
                <a:solidFill>
                  <a:srgbClr val="FF0000"/>
                </a:solidFill>
              </a:rPr>
              <a:t>Sally earned $300.30</a:t>
            </a:r>
          </a:p>
          <a:p>
            <a:pPr marL="1314450" lvl="2" indent="-514350">
              <a:buFont typeface="Wingdings" pitchFamily="2" charset="2"/>
              <a:buNone/>
              <a:defRPr/>
            </a:pPr>
            <a:r>
              <a:rPr lang="en-GB" sz="1600" b="1" dirty="0">
                <a:solidFill>
                  <a:srgbClr val="FF0000"/>
                </a:solidFill>
              </a:rPr>
              <a:t>John earned $200.40</a:t>
            </a:r>
          </a:p>
          <a:p>
            <a:pPr marL="0" indent="0">
              <a:buNone/>
              <a:defRPr/>
            </a:pPr>
            <a:endParaRPr lang="en-GB" sz="1600" b="1" dirty="0"/>
          </a:p>
          <a:p>
            <a:pPr marL="0" indent="0">
              <a:buNone/>
              <a:defRPr/>
            </a:pPr>
            <a:r>
              <a:rPr lang="en-GB" sz="1600" dirty="0"/>
              <a:t>b. When user clicks </a:t>
            </a:r>
            <a:r>
              <a:rPr lang="en-GB" sz="1600" b="1" u="sng" dirty="0"/>
              <a:t>Max button</a:t>
            </a:r>
            <a:r>
              <a:rPr lang="en-GB" sz="1600" dirty="0"/>
              <a:t> it prints the max and sale data and its index in the above rich textbox. </a:t>
            </a:r>
          </a:p>
          <a:p>
            <a:pPr marL="0" indent="0">
              <a:buNone/>
              <a:defRPr/>
            </a:pPr>
            <a:r>
              <a:rPr lang="en-GB" sz="1600" dirty="0" err="1"/>
              <a:t>E.g</a:t>
            </a:r>
            <a:r>
              <a:rPr lang="en-GB" sz="1600" dirty="0"/>
              <a:t>,  </a:t>
            </a:r>
          </a:p>
          <a:p>
            <a:pPr marL="914400" lvl="1" indent="-514350">
              <a:buFont typeface="Wingdings" pitchFamily="2" charset="2"/>
              <a:buNone/>
              <a:defRPr/>
            </a:pPr>
            <a:r>
              <a:rPr lang="en-GB" sz="1600" b="1" dirty="0">
                <a:solidFill>
                  <a:srgbClr val="FF0000"/>
                </a:solidFill>
              </a:rPr>
              <a:t>The max sale is Sally earns $300.30. </a:t>
            </a:r>
          </a:p>
          <a:p>
            <a:pPr marL="914400" lvl="1" indent="-514350">
              <a:buFont typeface="Wingdings" pitchFamily="2" charset="2"/>
              <a:buNone/>
              <a:defRPr/>
            </a:pPr>
            <a:r>
              <a:rPr lang="en-GB" sz="1600" b="1" dirty="0">
                <a:solidFill>
                  <a:srgbClr val="FF0000"/>
                </a:solidFill>
              </a:rPr>
              <a:t>The max data index is 1.</a:t>
            </a:r>
          </a:p>
          <a:p>
            <a:pPr marL="914400" lvl="1" indent="-514350">
              <a:buFont typeface="Wingdings" pitchFamily="2" charset="2"/>
              <a:buNone/>
              <a:defRPr/>
            </a:pPr>
            <a:endParaRPr lang="en-US" sz="1600" dirty="0"/>
          </a:p>
          <a:p>
            <a:pPr marL="0" indent="0">
              <a:buNone/>
              <a:defRPr/>
            </a:pPr>
            <a:r>
              <a:rPr lang="en-GB" sz="1600" i="1" dirty="0"/>
              <a:t>You need to use 2 class variables of array to store the sale amounts and names.</a:t>
            </a:r>
          </a:p>
          <a:p>
            <a:pPr>
              <a:defRPr/>
            </a:pPr>
            <a:endParaRPr lang="en-US" sz="1600" dirty="0"/>
          </a:p>
        </p:txBody>
      </p:sp>
      <p:sp>
        <p:nvSpPr>
          <p:cNvPr id="2" name="5-Point Star 1"/>
          <p:cNvSpPr/>
          <p:nvPr/>
        </p:nvSpPr>
        <p:spPr>
          <a:xfrm>
            <a:off x="5686425" y="7696760"/>
            <a:ext cx="1171575" cy="1056715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Picture 3" descr="FormQ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376" y="6271164"/>
            <a:ext cx="2286198" cy="2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12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-Point Star 4"/>
          <p:cNvSpPr/>
          <p:nvPr/>
        </p:nvSpPr>
        <p:spPr>
          <a:xfrm>
            <a:off x="590550" y="7496304"/>
            <a:ext cx="1104900" cy="1019176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06499"/>
            <a:ext cx="5773738" cy="6175375"/>
          </a:xfrm>
        </p:spPr>
        <p:txBody>
          <a:bodyPr/>
          <a:lstStyle/>
          <a:p>
            <a:pPr marL="514350" indent="-514350">
              <a:buNone/>
            </a:pPr>
            <a:r>
              <a:rPr lang="en-GB" sz="1400" dirty="0"/>
              <a:t>6. Write a C# </a:t>
            </a:r>
            <a:r>
              <a:rPr lang="en-US" sz="1400" dirty="0"/>
              <a:t>window application</a:t>
            </a:r>
            <a:r>
              <a:rPr lang="en-GB" sz="1400" dirty="0"/>
              <a:t> to keep track of number of banana ate by 7 monkeys in a zoo. Create an array named it as banana. It stores the number of banana per day and initialise it as {2,5,3,1,4,20,2}. </a:t>
            </a:r>
          </a:p>
          <a:p>
            <a:pPr marL="514350" indent="-514350">
              <a:buNone/>
            </a:pPr>
            <a:endParaRPr lang="en-GB" sz="1400" dirty="0"/>
          </a:p>
          <a:p>
            <a:pPr marL="514350" indent="-514350">
              <a:buNone/>
            </a:pPr>
            <a:r>
              <a:rPr lang="en-GB" sz="1400" dirty="0"/>
              <a:t>a. When user clicks </a:t>
            </a:r>
            <a:r>
              <a:rPr lang="en-GB" sz="1400" b="1" u="sng" dirty="0"/>
              <a:t>Find Max Number button</a:t>
            </a:r>
            <a:r>
              <a:rPr lang="en-GB" sz="1400" dirty="0"/>
              <a:t>, it finds the monkey who ate the most banana and displays its index in a </a:t>
            </a:r>
            <a:r>
              <a:rPr lang="en-GB" sz="1400" dirty="0" err="1"/>
              <a:t>richtextbox</a:t>
            </a:r>
            <a:r>
              <a:rPr lang="en-GB" sz="1400" dirty="0"/>
              <a:t>. </a:t>
            </a:r>
            <a:r>
              <a:rPr lang="en-GB" sz="1400" dirty="0" err="1"/>
              <a:t>E.g</a:t>
            </a:r>
            <a:r>
              <a:rPr lang="en-GB" sz="1400" dirty="0"/>
              <a:t> </a:t>
            </a:r>
          </a:p>
          <a:p>
            <a:pPr marL="914400" lvl="1" indent="-514350">
              <a:buNone/>
            </a:pPr>
            <a:r>
              <a:rPr lang="en-GB" sz="1400" dirty="0">
                <a:solidFill>
                  <a:srgbClr val="FF0000"/>
                </a:solidFill>
              </a:rPr>
              <a:t>	Monkey at index 5 ate the most banana. </a:t>
            </a:r>
          </a:p>
          <a:p>
            <a:pPr marL="914400" lvl="1" indent="-514350">
              <a:buNone/>
            </a:pPr>
            <a:r>
              <a:rPr lang="en-GB" sz="1400" dirty="0">
                <a:solidFill>
                  <a:srgbClr val="FF0000"/>
                </a:solidFill>
              </a:rPr>
              <a:t>	The number is 20 per day</a:t>
            </a:r>
          </a:p>
          <a:p>
            <a:pPr marL="914400" lvl="1" indent="-514350">
              <a:buNone/>
            </a:pPr>
            <a:endParaRPr lang="en-GB" sz="1400" dirty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en-GB" sz="1400" dirty="0"/>
              <a:t> b. When user clicks on </a:t>
            </a:r>
            <a:r>
              <a:rPr lang="en-GB" sz="1400" b="1" u="sng" dirty="0"/>
              <a:t>Total button</a:t>
            </a:r>
            <a:r>
              <a:rPr lang="en-GB" sz="1400" dirty="0"/>
              <a:t>, it calculates the total number of banana ate by all monkeys in the above </a:t>
            </a:r>
            <a:r>
              <a:rPr lang="en-GB" sz="1400" dirty="0" err="1"/>
              <a:t>richtextbox</a:t>
            </a:r>
            <a:r>
              <a:rPr lang="en-GB" sz="1400" dirty="0"/>
              <a:t>. </a:t>
            </a:r>
            <a:r>
              <a:rPr lang="en-GB" sz="1400" dirty="0" err="1"/>
              <a:t>E.g</a:t>
            </a:r>
            <a:r>
              <a:rPr lang="en-GB" sz="1400" dirty="0"/>
              <a:t> </a:t>
            </a:r>
          </a:p>
          <a:p>
            <a:pPr marL="914400" lvl="1" indent="-514350">
              <a:buNone/>
            </a:pPr>
            <a:r>
              <a:rPr lang="en-GB" sz="1400" dirty="0">
                <a:solidFill>
                  <a:srgbClr val="FF0000"/>
                </a:solidFill>
              </a:rPr>
              <a:t>	Total number of banana is 47</a:t>
            </a:r>
          </a:p>
          <a:p>
            <a:pPr marL="914400" lvl="1" indent="-514350">
              <a:buNone/>
            </a:pPr>
            <a:endParaRPr lang="en-GB" sz="1400" dirty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en-GB" sz="1400" dirty="0"/>
              <a:t> c. Add an array named as Name. It stores names of 7 monkeys. They are “</a:t>
            </a:r>
            <a:r>
              <a:rPr lang="en-GB" sz="1400" dirty="0" err="1"/>
              <a:t>Bon”,”Ton”,”Con”,”Won”,”Don</a:t>
            </a:r>
            <a:r>
              <a:rPr lang="en-GB" sz="1400" dirty="0"/>
              <a:t>”, “Son” and “</a:t>
            </a:r>
            <a:r>
              <a:rPr lang="en-GB" sz="1400" dirty="0" err="1"/>
              <a:t>Zon</a:t>
            </a:r>
            <a:r>
              <a:rPr lang="en-GB" sz="1400" dirty="0"/>
              <a:t>”. When user clicks on </a:t>
            </a:r>
            <a:r>
              <a:rPr lang="en-GB" sz="1400" b="1" u="sng" dirty="0"/>
              <a:t>Find Max Name button</a:t>
            </a:r>
            <a:r>
              <a:rPr lang="en-GB" sz="1400" dirty="0"/>
              <a:t>, it prints the monkey’s name who ate the most and the number of banana it has eaten in the above </a:t>
            </a:r>
            <a:r>
              <a:rPr lang="en-GB" sz="1400" dirty="0" err="1"/>
              <a:t>richtextbox</a:t>
            </a:r>
            <a:r>
              <a:rPr lang="en-GB" sz="1400" dirty="0"/>
              <a:t>. </a:t>
            </a:r>
            <a:r>
              <a:rPr lang="en-GB" sz="1400" dirty="0" err="1"/>
              <a:t>E.g</a:t>
            </a:r>
            <a:endParaRPr lang="en-GB" sz="1400" dirty="0"/>
          </a:p>
          <a:p>
            <a:pPr marL="914400" lvl="1" indent="-514350">
              <a:buFont typeface="Wingdings" pitchFamily="2" charset="2"/>
              <a:buNone/>
            </a:pPr>
            <a:r>
              <a:rPr lang="en-GB" sz="1400" dirty="0">
                <a:solidFill>
                  <a:srgbClr val="FF0000"/>
                </a:solidFill>
              </a:rPr>
              <a:t>	Monkey, Son ate the most banana. </a:t>
            </a:r>
          </a:p>
          <a:p>
            <a:pPr marL="514350" indent="-514350">
              <a:buFont typeface="Wingdings" pitchFamily="2" charset="2"/>
              <a:buNone/>
            </a:pPr>
            <a:endParaRPr lang="en-GB" sz="1600" i="1" dirty="0"/>
          </a:p>
          <a:p>
            <a:pPr marL="514350" indent="-514350">
              <a:buFont typeface="Wingdings" pitchFamily="2" charset="2"/>
              <a:buNone/>
            </a:pPr>
            <a:r>
              <a:rPr lang="en-GB" sz="1600" i="1" dirty="0"/>
              <a:t>You need to use 3 class variables. </a:t>
            </a:r>
          </a:p>
          <a:p>
            <a:pPr marL="514350" indent="-514350">
              <a:buFont typeface="Wingdings" pitchFamily="2" charset="2"/>
              <a:buNone/>
            </a:pPr>
            <a:r>
              <a:rPr lang="en-GB" sz="1600" i="1" dirty="0"/>
              <a:t>They are 2 array and 1 </a:t>
            </a:r>
            <a:r>
              <a:rPr lang="en-GB" sz="1600" i="1" dirty="0" err="1"/>
              <a:t>int</a:t>
            </a:r>
            <a:r>
              <a:rPr lang="en-GB" sz="1600" i="1" dirty="0"/>
              <a:t> </a:t>
            </a:r>
            <a:r>
              <a:rPr lang="en-GB" sz="1600" i="1" dirty="0" err="1"/>
              <a:t>max_index</a:t>
            </a:r>
            <a:r>
              <a:rPr lang="en-GB" sz="1600" i="1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Practical 2C</a:t>
            </a:r>
            <a:endParaRPr lang="en-US" sz="3200" dirty="0"/>
          </a:p>
        </p:txBody>
      </p:sp>
      <p:pic>
        <p:nvPicPr>
          <p:cNvPr id="2" name="Picture 1" descr="FormQ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52" y="5781547"/>
            <a:ext cx="2286198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42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Practical 2C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699" y="1248828"/>
            <a:ext cx="6048375" cy="7295097"/>
          </a:xfrm>
        </p:spPr>
        <p:txBody>
          <a:bodyPr/>
          <a:lstStyle/>
          <a:p>
            <a:pPr>
              <a:buAutoNum type="arabicPeriod" startAt="7"/>
            </a:pPr>
            <a:r>
              <a:rPr lang="en-US" sz="1400" dirty="0"/>
              <a:t>Create a window application to capture the details </a:t>
            </a:r>
          </a:p>
          <a:p>
            <a:pPr marL="0" indent="0">
              <a:buNone/>
            </a:pPr>
            <a:r>
              <a:rPr lang="en-US" sz="1400" dirty="0"/>
              <a:t>      of  4 staff. Store it in 2 arrays named as Staff and Income.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457200" indent="-457200">
              <a:buAutoNum type="arabicPeriod"/>
            </a:pPr>
            <a:endParaRPr lang="en-US" sz="1400" dirty="0"/>
          </a:p>
          <a:p>
            <a:pPr marL="457200" indent="-457200">
              <a:buAutoNum type="arabicPeriod"/>
            </a:pPr>
            <a:endParaRPr lang="en-US" sz="1400" dirty="0"/>
          </a:p>
          <a:p>
            <a:pPr>
              <a:buFont typeface="Wingdings" pitchFamily="2" charset="2"/>
              <a:buChar char="q"/>
            </a:pPr>
            <a:endParaRPr lang="en-US" sz="1400" dirty="0"/>
          </a:p>
          <a:p>
            <a:pPr>
              <a:buFont typeface="Wingdings" pitchFamily="2" charset="2"/>
              <a:buChar char="q"/>
            </a:pPr>
            <a:endParaRPr lang="en-US" sz="1400" dirty="0"/>
          </a:p>
          <a:p>
            <a:pPr>
              <a:buFont typeface="Wingdings" pitchFamily="2" charset="2"/>
              <a:buChar char="q"/>
            </a:pPr>
            <a:endParaRPr lang="en-US" sz="1400" dirty="0"/>
          </a:p>
          <a:p>
            <a:pPr>
              <a:buFont typeface="Wingdings" pitchFamily="2" charset="2"/>
              <a:buChar char="q"/>
            </a:pPr>
            <a:endParaRPr lang="en-US" sz="1400" dirty="0"/>
          </a:p>
          <a:p>
            <a:pPr>
              <a:buFont typeface="Wingdings" pitchFamily="2" charset="2"/>
              <a:buChar char="q"/>
            </a:pPr>
            <a:r>
              <a:rPr lang="en-US" sz="1400" dirty="0"/>
              <a:t>When user clicks on </a:t>
            </a:r>
            <a:r>
              <a:rPr lang="en-US" sz="1400" b="1" u="sng" dirty="0"/>
              <a:t>Display All Button</a:t>
            </a:r>
            <a:r>
              <a:rPr lang="en-US" sz="1400" dirty="0"/>
              <a:t>, use a For loop to display all records in a rich text box.</a:t>
            </a:r>
          </a:p>
          <a:p>
            <a:pPr>
              <a:buFont typeface="Wingdings" pitchFamily="2" charset="2"/>
              <a:buChar char="q"/>
            </a:pPr>
            <a:r>
              <a:rPr lang="en-US" sz="1400" dirty="0"/>
              <a:t>When user clicks on </a:t>
            </a:r>
            <a:r>
              <a:rPr lang="en-US" sz="1400" b="1" u="sng" dirty="0"/>
              <a:t>Average Button</a:t>
            </a:r>
            <a:r>
              <a:rPr lang="en-US" sz="1400" dirty="0"/>
              <a:t>, it calculates the average income and displays it in the above </a:t>
            </a:r>
            <a:r>
              <a:rPr lang="en-US" sz="1400" dirty="0" err="1"/>
              <a:t>richtextbox</a:t>
            </a:r>
            <a:r>
              <a:rPr lang="en-US" sz="1400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sz="1400" dirty="0"/>
              <a:t>When user clicks on </a:t>
            </a:r>
            <a:r>
              <a:rPr lang="en-US" sz="1400" b="1" u="sng" dirty="0"/>
              <a:t>Find Lowest Button</a:t>
            </a:r>
            <a:r>
              <a:rPr lang="en-US" sz="1400" dirty="0"/>
              <a:t>, it finds the lowest income. Displays the staff details who earns the least in the above </a:t>
            </a:r>
            <a:r>
              <a:rPr lang="en-US" sz="1400" dirty="0" err="1"/>
              <a:t>richtextbox</a:t>
            </a:r>
            <a:r>
              <a:rPr lang="en-US" sz="1400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sz="1400" dirty="0"/>
              <a:t>When user clicks on </a:t>
            </a:r>
            <a:r>
              <a:rPr lang="en-US" sz="1400" b="1" u="sng" dirty="0"/>
              <a:t>Display Category Button</a:t>
            </a:r>
            <a:r>
              <a:rPr lang="en-US" sz="1400" dirty="0"/>
              <a:t>. It counts the number of staff based on the following category and displays it in the above </a:t>
            </a:r>
            <a:r>
              <a:rPr lang="en-US" sz="1400" dirty="0" err="1"/>
              <a:t>richtextbox</a:t>
            </a:r>
            <a:r>
              <a:rPr lang="en-US" sz="1400" dirty="0"/>
              <a:t>:</a:t>
            </a:r>
          </a:p>
          <a:p>
            <a:pPr marL="223838" indent="-223838">
              <a:buNone/>
            </a:pPr>
            <a:r>
              <a:rPr lang="en-US" sz="1400" dirty="0"/>
              <a:t>	- earn less than $2000 (low income)</a:t>
            </a:r>
          </a:p>
          <a:p>
            <a:pPr marL="223838" indent="-223838">
              <a:buNone/>
            </a:pPr>
            <a:r>
              <a:rPr lang="en-US" sz="1400" dirty="0"/>
              <a:t>	- earn from $2000 – 3000 (average income)</a:t>
            </a:r>
          </a:p>
          <a:p>
            <a:pPr marL="223838" indent="-223838">
              <a:buNone/>
            </a:pPr>
            <a:r>
              <a:rPr lang="en-US" sz="1400" dirty="0"/>
              <a:t>    - earn more than $3000 (high income)</a:t>
            </a:r>
          </a:p>
          <a:p>
            <a:pPr marL="514350" indent="-514350">
              <a:buNone/>
            </a:pPr>
            <a:endParaRPr lang="en-GB" sz="1400" i="1" dirty="0"/>
          </a:p>
          <a:p>
            <a:pPr marL="514350" indent="-514350">
              <a:buNone/>
            </a:pPr>
            <a:r>
              <a:rPr lang="en-GB" sz="1400" i="1" dirty="0"/>
              <a:t>You need to use 2 </a:t>
            </a:r>
          </a:p>
          <a:p>
            <a:pPr marL="514350" indent="-514350">
              <a:buNone/>
            </a:pPr>
            <a:r>
              <a:rPr lang="en-GB" sz="1400" i="1" dirty="0"/>
              <a:t>class variables of</a:t>
            </a:r>
          </a:p>
          <a:p>
            <a:pPr marL="514350" indent="-514350">
              <a:buNone/>
            </a:pPr>
            <a:r>
              <a:rPr lang="en-GB" sz="1400" i="1" dirty="0"/>
              <a:t>array </a:t>
            </a:r>
          </a:p>
          <a:p>
            <a:pPr marL="223838" indent="-223838">
              <a:buNone/>
            </a:pPr>
            <a:endParaRPr lang="en-US" sz="1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560172"/>
              </p:ext>
            </p:extLst>
          </p:nvPr>
        </p:nvGraphicFramePr>
        <p:xfrm>
          <a:off x="1295400" y="1933575"/>
          <a:ext cx="457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Name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Income $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John 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4900.00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Mark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2800.50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Mary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7020.00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Pek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1300.00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5-Point Star 4"/>
          <p:cNvSpPr/>
          <p:nvPr/>
        </p:nvSpPr>
        <p:spPr>
          <a:xfrm>
            <a:off x="5669446" y="171450"/>
            <a:ext cx="1129954" cy="1019174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072" y="6857908"/>
            <a:ext cx="4122778" cy="20956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325564"/>
            <a:ext cx="5829300" cy="4608512"/>
          </a:xfrm>
        </p:spPr>
        <p:txBody>
          <a:bodyPr/>
          <a:lstStyle/>
          <a:p>
            <a:pPr marL="0" indent="0">
              <a:buNone/>
            </a:pPr>
            <a:r>
              <a:rPr lang="en-GB" sz="1800" dirty="0"/>
              <a:t>8.  Modify previous question to add in 2 more information for all staff. They are age and designation.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You need to declare 2 more arrays as class variable to store the additional information. </a:t>
            </a:r>
          </a:p>
          <a:p>
            <a:pPr marL="0" indent="0">
              <a:buNone/>
            </a:pPr>
            <a:r>
              <a:rPr lang="en-GB" sz="1800" dirty="0"/>
              <a:t>Initialise it with the data provided. </a:t>
            </a:r>
          </a:p>
          <a:p>
            <a:pPr marL="0" indent="0">
              <a:buNone/>
            </a:pPr>
            <a:r>
              <a:rPr lang="en-GB" sz="1800" dirty="0"/>
              <a:t>Modify the code to display the additional details (Age and Designation).  </a:t>
            </a:r>
            <a:endParaRPr lang="en-SG" sz="1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85669"/>
              </p:ext>
            </p:extLst>
          </p:nvPr>
        </p:nvGraphicFramePr>
        <p:xfrm>
          <a:off x="695323" y="2209800"/>
          <a:ext cx="56959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Income $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Age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Designation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John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4900.00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Senior</a:t>
                      </a:r>
                      <a:r>
                        <a:rPr lang="en-GB" baseline="0" dirty="0"/>
                        <a:t> Engineer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Mark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2800.50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Engineer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7020.00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Lim Ah </a:t>
                      </a:r>
                      <a:r>
                        <a:rPr lang="en-GB" dirty="0" err="1"/>
                        <a:t>Pek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1300.00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 staff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5-Point Star 5"/>
          <p:cNvSpPr/>
          <p:nvPr/>
        </p:nvSpPr>
        <p:spPr>
          <a:xfrm>
            <a:off x="5372099" y="7647082"/>
            <a:ext cx="1247775" cy="1125444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Picture 3" descr="FormQ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34" y="5985378"/>
            <a:ext cx="4676965" cy="26272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43250" y="6334124"/>
            <a:ext cx="1333500" cy="61912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2476499" y="7200900"/>
            <a:ext cx="2000251" cy="16192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810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951" y="1178060"/>
            <a:ext cx="6429374" cy="4309969"/>
          </a:xfrm>
        </p:spPr>
        <p:txBody>
          <a:bodyPr/>
          <a:lstStyle/>
          <a:p>
            <a:pPr marL="457200" indent="-457200">
              <a:buFont typeface="Wingdings" pitchFamily="2" charset="2"/>
              <a:buNone/>
            </a:pPr>
            <a:r>
              <a:rPr lang="en-US" sz="1400" dirty="0"/>
              <a:t>9. A shop wants to computerize its inventory. Create a window application.  Using 3 class variable arrays to capture the Product Code (</a:t>
            </a:r>
            <a:r>
              <a:rPr lang="en-US" sz="1400" dirty="0" err="1"/>
              <a:t>eg</a:t>
            </a:r>
            <a:r>
              <a:rPr lang="en-US" sz="1400" dirty="0"/>
              <a:t>. “x123”), the Product Name (</a:t>
            </a:r>
            <a:r>
              <a:rPr lang="en-US" sz="1400" dirty="0" err="1"/>
              <a:t>eg</a:t>
            </a:r>
            <a:r>
              <a:rPr lang="en-US" sz="1400" dirty="0"/>
              <a:t>. “Milk”) and the Unit Price (</a:t>
            </a:r>
            <a:r>
              <a:rPr lang="en-US" sz="1400" dirty="0" err="1"/>
              <a:t>eg</a:t>
            </a:r>
            <a:r>
              <a:rPr lang="en-US" sz="1400" dirty="0"/>
              <a:t>. 1.50). 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z="1400" dirty="0"/>
              <a:t>	The shop sells 5 items only.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sz="1400" dirty="0"/>
              <a:t>	Write a simple program to do the following:</a:t>
            </a:r>
          </a:p>
          <a:p>
            <a:pPr marL="952500" lvl="1" indent="-495300"/>
            <a:r>
              <a:rPr lang="en-US" sz="1400" dirty="0" err="1"/>
              <a:t>Intialize</a:t>
            </a:r>
            <a:r>
              <a:rPr lang="en-US" sz="1400" dirty="0"/>
              <a:t> the 3 arrays with the values provided in Fig 1 (next page). </a:t>
            </a:r>
          </a:p>
          <a:p>
            <a:pPr marL="952500" lvl="1" indent="-495300"/>
            <a:r>
              <a:rPr lang="en-US" sz="1400" dirty="0"/>
              <a:t>User enters a product code and quantity.</a:t>
            </a:r>
          </a:p>
          <a:p>
            <a:pPr marL="952500" lvl="1" indent="-495300"/>
            <a:r>
              <a:rPr lang="en-US" sz="1400" dirty="0"/>
              <a:t>User clicks on </a:t>
            </a:r>
            <a:r>
              <a:rPr lang="en-US" sz="1400" b="1" u="sng" dirty="0"/>
              <a:t>Search button</a:t>
            </a:r>
            <a:r>
              <a:rPr lang="en-US" sz="1400" dirty="0"/>
              <a:t> , program </a:t>
            </a:r>
            <a:r>
              <a:rPr lang="en-US" sz="1400" dirty="0" err="1"/>
              <a:t>searchs</a:t>
            </a:r>
            <a:r>
              <a:rPr lang="en-US" sz="1400" dirty="0"/>
              <a:t> for the Product Code in the array. If it is found, it calculates the Total Price (</a:t>
            </a:r>
            <a:r>
              <a:rPr lang="en-US" sz="1400" dirty="0" err="1"/>
              <a:t>ie</a:t>
            </a:r>
            <a:r>
              <a:rPr lang="en-US" sz="1400" dirty="0"/>
              <a:t>. Quantity x Unit Price). </a:t>
            </a:r>
          </a:p>
          <a:p>
            <a:pPr marL="952500" lvl="1" indent="-495300"/>
            <a:r>
              <a:rPr lang="en-US" sz="1400" dirty="0"/>
              <a:t>Display the result in a rich text box as follows:</a:t>
            </a:r>
          </a:p>
          <a:p>
            <a:pPr marL="952500" lvl="1" indent="-495300">
              <a:buFont typeface="Wingdings" pitchFamily="2" charset="2"/>
              <a:buNone/>
            </a:pPr>
            <a:r>
              <a:rPr lang="en-US" sz="1400" dirty="0"/>
              <a:t>	Unit Price: $</a:t>
            </a:r>
            <a:r>
              <a:rPr lang="en-US" sz="1400" dirty="0" err="1"/>
              <a:t>xxxxxx</a:t>
            </a:r>
            <a:endParaRPr lang="en-US" sz="1400" dirty="0"/>
          </a:p>
          <a:p>
            <a:pPr marL="952500" lvl="1" indent="-495300">
              <a:buFont typeface="Wingdings" pitchFamily="2" charset="2"/>
              <a:buNone/>
            </a:pPr>
            <a:r>
              <a:rPr lang="en-US" sz="1400" dirty="0"/>
              <a:t>	Product Name: </a:t>
            </a:r>
            <a:r>
              <a:rPr lang="en-US" sz="1400" dirty="0" err="1"/>
              <a:t>xxxxxxxxxxxxx</a:t>
            </a:r>
            <a:endParaRPr lang="en-US" sz="1400" dirty="0"/>
          </a:p>
          <a:p>
            <a:pPr marL="952500" lvl="1" indent="-495300">
              <a:buFont typeface="Wingdings" pitchFamily="2" charset="2"/>
              <a:buNone/>
            </a:pPr>
            <a:r>
              <a:rPr lang="en-US" sz="1400" dirty="0"/>
              <a:t>	Quantity Purchased: xxx</a:t>
            </a:r>
          </a:p>
          <a:p>
            <a:pPr marL="952500" lvl="1" indent="-495300">
              <a:buFont typeface="Wingdings" pitchFamily="2" charset="2"/>
              <a:buNone/>
            </a:pPr>
            <a:r>
              <a:rPr lang="en-US" sz="1400" dirty="0"/>
              <a:t>	Total Price: $</a:t>
            </a:r>
            <a:r>
              <a:rPr lang="en-US" sz="1400" dirty="0" err="1"/>
              <a:t>xxxxxxxx</a:t>
            </a:r>
            <a:endParaRPr lang="en-US" sz="1400" dirty="0"/>
          </a:p>
          <a:p>
            <a:pPr lvl="1"/>
            <a:r>
              <a:rPr lang="en-US" sz="1400" dirty="0"/>
              <a:t>Display appropriate error message, if item is not 	found.</a:t>
            </a:r>
          </a:p>
          <a:p>
            <a:pPr marL="952500" lvl="1" indent="-495300">
              <a:buFont typeface="Wingdings" pitchFamily="2" charset="2"/>
              <a:buNone/>
            </a:pPr>
            <a:endParaRPr lang="en-US" sz="1400" dirty="0"/>
          </a:p>
          <a:p>
            <a:pPr marL="952500" lvl="1" indent="-495300">
              <a:buFont typeface="Wingdings" pitchFamily="2" charset="2"/>
              <a:buNone/>
            </a:pPr>
            <a:r>
              <a:rPr lang="en-US" sz="1400" dirty="0"/>
              <a:t>	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5636105" y="7810500"/>
            <a:ext cx="1107594" cy="962025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FormQ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08" y="5488030"/>
            <a:ext cx="2575783" cy="3170195"/>
          </a:xfrm>
          <a:prstGeom prst="rect">
            <a:avLst/>
          </a:prstGeom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048" y="6107155"/>
            <a:ext cx="2232854" cy="15241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29572" y="5764850"/>
            <a:ext cx="17652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200" b="1" dirty="0"/>
              <a:t>Product Not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4308" y="5211031"/>
            <a:ext cx="14061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200" b="1" dirty="0"/>
              <a:t>Product found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5-Point Star 32"/>
          <p:cNvSpPr/>
          <p:nvPr/>
        </p:nvSpPr>
        <p:spPr>
          <a:xfrm>
            <a:off x="5495924" y="7760702"/>
            <a:ext cx="1247776" cy="1011824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1268413"/>
            <a:ext cx="5829300" cy="6683375"/>
          </a:xfrm>
        </p:spPr>
        <p:txBody>
          <a:bodyPr/>
          <a:lstStyle/>
          <a:p>
            <a:pPr marL="0" indent="0">
              <a:buNone/>
            </a:pPr>
            <a:r>
              <a:rPr lang="en-GB" sz="1400" dirty="0"/>
              <a:t>10. Modify previous question to enable user to update an item.</a:t>
            </a:r>
          </a:p>
          <a:p>
            <a:pPr marL="952500" lvl="1" indent="-495300"/>
            <a:r>
              <a:rPr lang="en-US" sz="1400" dirty="0"/>
              <a:t>User enters product index (</a:t>
            </a:r>
            <a:r>
              <a:rPr lang="en-US" sz="1400" dirty="0" err="1"/>
              <a:t>i.e</a:t>
            </a:r>
            <a:r>
              <a:rPr lang="en-US" sz="1400" dirty="0"/>
              <a:t> the array index 0-4), product code, name and price text boxes</a:t>
            </a:r>
          </a:p>
          <a:p>
            <a:pPr marL="952500" lvl="1" indent="-495300"/>
            <a:r>
              <a:rPr lang="en-US" sz="1400" dirty="0"/>
              <a:t>User clicks on </a:t>
            </a:r>
            <a:r>
              <a:rPr lang="en-US" sz="1400" b="1" u="sng" dirty="0"/>
              <a:t>Update product button</a:t>
            </a:r>
            <a:r>
              <a:rPr lang="en-US" sz="1400" dirty="0"/>
              <a:t>, the record at index position will be updated with the new product code, name and price. Display appropriate error message  for invalid index </a:t>
            </a:r>
            <a:r>
              <a:rPr lang="en-US" sz="1400" dirty="0" err="1"/>
              <a:t>e.g</a:t>
            </a:r>
            <a:r>
              <a:rPr lang="en-US" sz="1400" dirty="0"/>
              <a:t> 5.</a:t>
            </a:r>
          </a:p>
          <a:p>
            <a:pPr marL="952500" lvl="1" indent="-495300"/>
            <a:r>
              <a:rPr lang="en-US" sz="1400" dirty="0"/>
              <a:t>User clicks on </a:t>
            </a:r>
            <a:r>
              <a:rPr lang="en-US" sz="1400" b="1" u="sng" dirty="0"/>
              <a:t>Display All button</a:t>
            </a:r>
            <a:r>
              <a:rPr lang="en-US" sz="1400" dirty="0"/>
              <a:t>, all records will be displayed. </a:t>
            </a:r>
          </a:p>
          <a:p>
            <a:pPr marL="457200" lvl="1" indent="0">
              <a:buNone/>
            </a:pPr>
            <a:r>
              <a:rPr lang="en-GB" sz="1400" dirty="0" err="1"/>
              <a:t>e.g</a:t>
            </a:r>
            <a:r>
              <a:rPr lang="en-GB" sz="1400" dirty="0"/>
              <a:t> product index entered is 0, product code is “X888” , product name is “Lotion”, price is 5.50. Item at index 0 will be updated with the entered data.</a:t>
            </a:r>
            <a:endParaRPr lang="en-US" sz="1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523875" y="4624335"/>
            <a:ext cx="6053212" cy="3155037"/>
            <a:chOff x="514350" y="4805310"/>
            <a:chExt cx="6053212" cy="3155037"/>
          </a:xfrm>
        </p:grpSpPr>
        <p:sp>
          <p:nvSpPr>
            <p:cNvPr id="4" name="Rectangle 3"/>
            <p:cNvSpPr/>
            <p:nvPr/>
          </p:nvSpPr>
          <p:spPr>
            <a:xfrm>
              <a:off x="1381124" y="5400675"/>
              <a:ext cx="1044527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X111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4350" y="5424435"/>
              <a:ext cx="7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Product Code</a:t>
              </a:r>
              <a:endParaRPr lang="en-SG" sz="11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81125" y="6419850"/>
              <a:ext cx="1028702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“Baby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Lotion”</a:t>
              </a:r>
              <a:endParaRPr lang="en-SG" sz="1100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4350" y="6443610"/>
              <a:ext cx="7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Product Name</a:t>
              </a:r>
              <a:endParaRPr lang="en-SG" sz="11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409699" y="7505700"/>
              <a:ext cx="1020789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3.5f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2925" y="7529460"/>
              <a:ext cx="7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Product Price</a:t>
              </a:r>
              <a:endParaRPr lang="en-SG" sz="11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19349" y="5400675"/>
              <a:ext cx="1028701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Y212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419350" y="6419850"/>
              <a:ext cx="1028702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“Milk Powder”</a:t>
              </a:r>
              <a:endParaRPr lang="en-SG" sz="11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47924" y="7505700"/>
              <a:ext cx="1004963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30.5f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57574" y="5400675"/>
              <a:ext cx="1028701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Y220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457575" y="6419850"/>
              <a:ext cx="1028702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“Diapers”</a:t>
              </a:r>
              <a:endParaRPr lang="en-SG" sz="11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486149" y="7505700"/>
              <a:ext cx="1004963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23.5f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95799" y="5400675"/>
              <a:ext cx="1028701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Z212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95800" y="6419850"/>
              <a:ext cx="1028702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“Cotton wool”</a:t>
              </a:r>
              <a:endParaRPr lang="en-SG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24374" y="7505700"/>
              <a:ext cx="1004963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3.0f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534024" y="5400675"/>
              <a:ext cx="1028701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Y210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534025" y="6419850"/>
              <a:ext cx="1028702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“Baby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wipes”</a:t>
              </a:r>
              <a:endParaRPr lang="en-SG" sz="11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62599" y="7505700"/>
              <a:ext cx="1004963" cy="3239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7.5f</a:t>
              </a:r>
              <a:endParaRPr lang="en-SG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50107" y="4805310"/>
              <a:ext cx="7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Product index</a:t>
              </a:r>
              <a:endParaRPr lang="en-SG" sz="11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59692" y="4866083"/>
              <a:ext cx="759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0</a:t>
              </a:r>
              <a:endParaRPr lang="en-SG" sz="11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88393" y="4866083"/>
              <a:ext cx="759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1</a:t>
              </a:r>
              <a:endParaRPr lang="en-SG" sz="11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726618" y="4866083"/>
              <a:ext cx="759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2</a:t>
              </a:r>
              <a:endParaRPr lang="en-SG" sz="11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74368" y="4866083"/>
              <a:ext cx="759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3</a:t>
              </a:r>
              <a:endParaRPr lang="en-SG" sz="11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07905" y="4866083"/>
              <a:ext cx="759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4</a:t>
              </a:r>
              <a:endParaRPr lang="en-SG" sz="1100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448050" y="7772400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Fig 1</a:t>
            </a:r>
            <a:endParaRPr lang="en-SG" sz="1600" dirty="0"/>
          </a:p>
        </p:txBody>
      </p:sp>
      <p:sp>
        <p:nvSpPr>
          <p:cNvPr id="30" name="Rectangle 29"/>
          <p:cNvSpPr/>
          <p:nvPr/>
        </p:nvSpPr>
        <p:spPr>
          <a:xfrm>
            <a:off x="1274007" y="4685108"/>
            <a:ext cx="1173917" cy="309426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Line Callout 1 31"/>
          <p:cNvSpPr/>
          <p:nvPr/>
        </p:nvSpPr>
        <p:spPr>
          <a:xfrm>
            <a:off x="247650" y="7941677"/>
            <a:ext cx="1895475" cy="411748"/>
          </a:xfrm>
          <a:prstGeom prst="borderCallout1">
            <a:avLst>
              <a:gd name="adj1" fmla="val 46510"/>
              <a:gd name="adj2" fmla="val 104875"/>
              <a:gd name="adj3" fmla="val -33240"/>
              <a:gd name="adj4" fmla="val 10927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This record will be updated with the new data</a:t>
            </a:r>
            <a:endParaRPr lang="en-SG" sz="1050" dirty="0"/>
          </a:p>
        </p:txBody>
      </p:sp>
    </p:spTree>
    <p:extLst>
      <p:ext uri="{BB962C8B-B14F-4D97-AF65-F5344CB8AC3E}">
        <p14:creationId xmlns:p14="http://schemas.microsoft.com/office/powerpoint/2010/main" val="2473258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2C</a:t>
            </a:r>
            <a:endParaRPr lang="en-SG" dirty="0"/>
          </a:p>
        </p:txBody>
      </p:sp>
      <p:pic>
        <p:nvPicPr>
          <p:cNvPr id="4" name="Picture 3" descr="Form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28" y="1561969"/>
            <a:ext cx="4663844" cy="30101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3228" y="4767590"/>
            <a:ext cx="54751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0" lvl="1" indent="-495300"/>
            <a:r>
              <a:rPr lang="en-US" sz="1400" i="1" dirty="0">
                <a:latin typeface="+mn-lt"/>
              </a:rPr>
              <a:t>Need to use </a:t>
            </a:r>
            <a:r>
              <a:rPr lang="en-US" sz="1400" i="1" dirty="0" err="1">
                <a:latin typeface="+mn-lt"/>
              </a:rPr>
              <a:t>PadRight</a:t>
            </a:r>
            <a:r>
              <a:rPr lang="en-US" sz="1400" i="1" dirty="0">
                <a:latin typeface="+mn-lt"/>
              </a:rPr>
              <a:t>(20) to align the text for display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095375" y="4181475"/>
            <a:ext cx="1228725" cy="586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67" y="6328344"/>
            <a:ext cx="1600339" cy="1516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8453" y="1239106"/>
            <a:ext cx="59105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200" b="1" dirty="0"/>
              <a:t>User enters valid Product Index, product information is updated.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453" y="5982556"/>
            <a:ext cx="51283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200" b="1" dirty="0"/>
              <a:t>User enters invalid Product Index, display error message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689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b="0" dirty="0">
                <a:latin typeface="+mn-lt"/>
              </a:rPr>
              <a:t>IT1762</a:t>
            </a:r>
            <a:br>
              <a:rPr lang="en-GB" sz="4000" b="0" dirty="0">
                <a:latin typeface="+mn-lt"/>
              </a:rPr>
            </a:br>
            <a:r>
              <a:rPr lang="en-GB" sz="4000" b="0" dirty="0">
                <a:latin typeface="+mn-lt"/>
              </a:rPr>
              <a:t>Data Structures &amp;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r>
              <a:rPr lang="en-GB" sz="2800" dirty="0"/>
              <a:t>End of </a:t>
            </a:r>
            <a:r>
              <a:rPr lang="en-GB" sz="2800"/>
              <a:t>Topic 2C</a:t>
            </a:r>
            <a:endParaRPr lang="en-GB" sz="2800" dirty="0"/>
          </a:p>
          <a:p>
            <a:r>
              <a:rPr lang="en-GB" sz="2800" i="1" dirty="0">
                <a:solidFill>
                  <a:srgbClr val="FF0000"/>
                </a:solidFill>
              </a:rPr>
              <a:t>Array with FOR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50122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4218</TotalTime>
  <Words>3756</Words>
  <Application>Microsoft Office PowerPoint</Application>
  <PresentationFormat>On-screen Show (4:3)</PresentationFormat>
  <Paragraphs>771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Comic Sans MS</vt:lpstr>
      <vt:lpstr>Garamond</vt:lpstr>
      <vt:lpstr>Times New Roman</vt:lpstr>
      <vt:lpstr>Verdana</vt:lpstr>
      <vt:lpstr>Wingdings</vt:lpstr>
      <vt:lpstr>Layers</vt:lpstr>
      <vt:lpstr>IT1762 Data Structures &amp; Algorithms</vt:lpstr>
      <vt:lpstr>Objectives</vt:lpstr>
      <vt:lpstr>Fun Quiz</vt:lpstr>
      <vt:lpstr>Fun Quiz</vt:lpstr>
      <vt:lpstr>foreach loop –   For information ONLY and it is NOT tested</vt:lpstr>
      <vt:lpstr>foreach loop</vt:lpstr>
      <vt:lpstr>Applying Arrays-Find element</vt:lpstr>
      <vt:lpstr>Recap on FOR loop</vt:lpstr>
      <vt:lpstr>Using for Statement</vt:lpstr>
      <vt:lpstr>Using for Statement</vt:lpstr>
      <vt:lpstr>FOR loop and Array</vt:lpstr>
      <vt:lpstr>Array Length Property</vt:lpstr>
      <vt:lpstr>Applying Arrays – Find average</vt:lpstr>
      <vt:lpstr>Apply Arrays – Find the Maximum</vt:lpstr>
      <vt:lpstr>Fun Quiz</vt:lpstr>
      <vt:lpstr>Fun Quiz &amp; answers</vt:lpstr>
      <vt:lpstr>Apply Arrays – Find the Minimum</vt:lpstr>
      <vt:lpstr>Fun Quiz</vt:lpstr>
      <vt:lpstr>Processing Arrays in Parallel</vt:lpstr>
      <vt:lpstr>Example1 of Parallel Processing:</vt:lpstr>
      <vt:lpstr>Add in more array</vt:lpstr>
      <vt:lpstr>Example2 on Search, Find Max and Find Min</vt:lpstr>
      <vt:lpstr>Code using class variable, display array details</vt:lpstr>
      <vt:lpstr>Code on Search</vt:lpstr>
      <vt:lpstr>Code on Find Max and display result</vt:lpstr>
      <vt:lpstr>Code on Find Min and display result</vt:lpstr>
      <vt:lpstr>Advanced Array</vt:lpstr>
      <vt:lpstr>Differentiated Learning: Dynamic Sizing Array</vt:lpstr>
      <vt:lpstr>Example: Dynamic sizing array</vt:lpstr>
      <vt:lpstr>PowerPoint Presentation</vt:lpstr>
      <vt:lpstr>PowerPoint Presentation</vt:lpstr>
      <vt:lpstr>PowerPoint Presentation</vt:lpstr>
      <vt:lpstr>Summary</vt:lpstr>
      <vt:lpstr>Mind Map – Array w Loop</vt:lpstr>
      <vt:lpstr>Practical 2C</vt:lpstr>
      <vt:lpstr>Practical 2C</vt:lpstr>
      <vt:lpstr>Practical 2C</vt:lpstr>
      <vt:lpstr>Practical 2C</vt:lpstr>
      <vt:lpstr>Practical 2C</vt:lpstr>
      <vt:lpstr>Practical 2C</vt:lpstr>
      <vt:lpstr>Practical 2C</vt:lpstr>
      <vt:lpstr>Practical 2C</vt:lpstr>
      <vt:lpstr>Practical 2C</vt:lpstr>
      <vt:lpstr>Practical 2C</vt:lpstr>
      <vt:lpstr>Practical 2C</vt:lpstr>
      <vt:lpstr>IT1762 Data Structures &amp;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327</cp:revision>
  <cp:lastPrinted>2011-09-01T08:37:44Z</cp:lastPrinted>
  <dcterms:created xsi:type="dcterms:W3CDTF">2003-02-28T08:34:47Z</dcterms:created>
  <dcterms:modified xsi:type="dcterms:W3CDTF">2018-09-25T06:01:26Z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36F7CA5E-374F-4F0D-9B90-33C920440A81</vt:lpwstr>
  </property>
  <property fmtid="{D5CDD505-2E9C-101B-9397-08002B2CF9AE}" pid="3" name="ArticulatePath">
    <vt:lpwstr>IT1762 Topic 2C - 1D Array w Loops</vt:lpwstr>
  </property>
</Properties>
</file>