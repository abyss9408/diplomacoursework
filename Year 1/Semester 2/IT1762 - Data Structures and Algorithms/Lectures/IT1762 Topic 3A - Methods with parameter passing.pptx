
<file path=[Content_Types].xml><?xml version="1.0" encoding="utf-8"?>
<Types xmlns="http://schemas.openxmlformats.org/package/2006/content-types">
  <Default Extension="png" ContentType="image/png"/>
  <Default Extension="tmp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9"/>
  </p:notesMasterIdLst>
  <p:handoutMasterIdLst>
    <p:handoutMasterId r:id="rId30"/>
  </p:handoutMasterIdLst>
  <p:sldIdLst>
    <p:sldId id="547" r:id="rId2"/>
    <p:sldId id="257" r:id="rId3"/>
    <p:sldId id="549" r:id="rId4"/>
    <p:sldId id="498" r:id="rId5"/>
    <p:sldId id="504" r:id="rId6"/>
    <p:sldId id="509" r:id="rId7"/>
    <p:sldId id="550" r:id="rId8"/>
    <p:sldId id="551" r:id="rId9"/>
    <p:sldId id="552" r:id="rId10"/>
    <p:sldId id="553" r:id="rId11"/>
    <p:sldId id="537" r:id="rId12"/>
    <p:sldId id="554" r:id="rId13"/>
    <p:sldId id="555" r:id="rId14"/>
    <p:sldId id="559" r:id="rId15"/>
    <p:sldId id="556" r:id="rId16"/>
    <p:sldId id="482" r:id="rId17"/>
    <p:sldId id="561" r:id="rId18"/>
    <p:sldId id="562" r:id="rId19"/>
    <p:sldId id="543" r:id="rId20"/>
    <p:sldId id="544" r:id="rId21"/>
    <p:sldId id="545" r:id="rId22"/>
    <p:sldId id="557" r:id="rId23"/>
    <p:sldId id="546" r:id="rId24"/>
    <p:sldId id="558" r:id="rId25"/>
    <p:sldId id="563" r:id="rId26"/>
    <p:sldId id="560" r:id="rId27"/>
    <p:sldId id="548" r:id="rId28"/>
  </p:sldIdLst>
  <p:sldSz cx="6858000" cy="9144000" type="screen4x3"/>
  <p:notesSz cx="9874250" cy="6797675"/>
  <p:custDataLst>
    <p:tags r:id="rId31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80"/>
    <a:srgbClr val="FF0000"/>
    <a:srgbClr val="0033CC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7" autoAdjust="0"/>
    <p:restoredTop sz="94563" autoAdjust="0"/>
  </p:normalViewPr>
  <p:slideViewPr>
    <p:cSldViewPr>
      <p:cViewPr>
        <p:scale>
          <a:sx n="100" d="100"/>
          <a:sy n="100" d="100"/>
        </p:scale>
        <p:origin x="404" y="-182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8842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4" tIns="47632" rIns="95264" bIns="47632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3695" y="0"/>
            <a:ext cx="4278842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4" tIns="47632" rIns="95264" bIns="47632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218"/>
            <a:ext cx="4278842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4" tIns="47632" rIns="95264" bIns="47632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3695" y="6456218"/>
            <a:ext cx="4278842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4" tIns="47632" rIns="95264" bIns="47632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CA5F2705-48DD-45EA-A8C3-9AEF732F66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2620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8842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4" tIns="47632" rIns="95264" bIns="47632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3695" y="0"/>
            <a:ext cx="4278842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4" tIns="47632" rIns="95264" bIns="47632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81450" y="509588"/>
            <a:ext cx="1912938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7425" y="3228896"/>
            <a:ext cx="7899400" cy="3058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4" tIns="47632" rIns="95264" bIns="476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218"/>
            <a:ext cx="4278842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4" tIns="47632" rIns="95264" bIns="47632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3695" y="6456218"/>
            <a:ext cx="4278842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64" tIns="47632" rIns="95264" bIns="47632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3F267D2F-EF78-4629-901C-1BDCEA68BF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531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6572250" cy="79248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5" y="2352"/>
                <a:ext cx="4817" cy="1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3" name="Rectangle 13"/>
          <p:cNvSpPr>
            <a:spLocks noChangeArrowheads="1"/>
          </p:cNvSpPr>
          <p:nvPr userDrawn="1"/>
        </p:nvSpPr>
        <p:spPr bwMode="auto">
          <a:xfrm>
            <a:off x="0" y="8636000"/>
            <a:ext cx="3789363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>
              <a:defRPr/>
            </a:pPr>
            <a:r>
              <a:rPr lang="en-US" sz="800" dirty="0">
                <a:latin typeface="Arial" charset="0"/>
              </a:rPr>
              <a:t>Copyrights © Nanyang Polytechnic, 2018</a:t>
            </a:r>
          </a:p>
        </p:txBody>
      </p:sp>
      <p:sp>
        <p:nvSpPr>
          <p:cNvPr id="14" name="Text Box 14"/>
          <p:cNvSpPr txBox="1">
            <a:spLocks noChangeArrowheads="1"/>
          </p:cNvSpPr>
          <p:nvPr userDrawn="1"/>
        </p:nvSpPr>
        <p:spPr bwMode="auto">
          <a:xfrm>
            <a:off x="1341438" y="468313"/>
            <a:ext cx="28082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GB" sz="1000" dirty="0"/>
              <a:t>IT1762 Data Structure and Algorithms</a:t>
            </a:r>
          </a:p>
        </p:txBody>
      </p:sp>
      <p:sp>
        <p:nvSpPr>
          <p:cNvPr id="15" name="Rectangle 15"/>
          <p:cNvSpPr>
            <a:spLocks noChangeArrowheads="1"/>
          </p:cNvSpPr>
          <p:nvPr userDrawn="1"/>
        </p:nvSpPr>
        <p:spPr bwMode="auto">
          <a:xfrm>
            <a:off x="4797425" y="8748713"/>
            <a:ext cx="1933575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GB" sz="1000" dirty="0">
                <a:latin typeface="Arial" charset="0"/>
              </a:rPr>
              <a:t>page </a:t>
            </a:r>
            <a:fld id="{5BF16083-4019-4CFE-9BC3-9FB025BB95ED}" type="slidenum">
              <a:rPr lang="en-GB" sz="1000">
                <a:latin typeface="Arial" charset="0"/>
              </a:rPr>
              <a:pPr algn="r">
                <a:defRPr/>
              </a:pPr>
              <a:t>‹#›</a:t>
            </a:fld>
            <a:endParaRPr lang="en-GB" sz="1000" dirty="0">
              <a:latin typeface="Arial" charset="0"/>
            </a:endParaRPr>
          </a:p>
        </p:txBody>
      </p:sp>
      <p:sp>
        <p:nvSpPr>
          <p:cNvPr id="33281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1543050" y="1524000"/>
            <a:ext cx="4972050" cy="29464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3281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028700" y="5283200"/>
            <a:ext cx="5143500" cy="2133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</p:spTree>
    <p:custDataLst>
      <p:tags r:id="rId1"/>
    </p:custData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33600"/>
            <a:ext cx="2838450" cy="6040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76650" y="2133600"/>
            <a:ext cx="2838450" cy="60404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24438" y="468313"/>
            <a:ext cx="1490662" cy="770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5" y="468313"/>
            <a:ext cx="4322763" cy="770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468313"/>
            <a:ext cx="58293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2133600"/>
            <a:ext cx="2838450" cy="6040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76650" y="2133600"/>
            <a:ext cx="2838450" cy="6040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635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6515100" cy="6502400"/>
            <a:chOff x="0" y="0"/>
            <a:chExt cx="5472" cy="3072"/>
          </a:xfrm>
        </p:grpSpPr>
        <p:sp>
          <p:nvSpPr>
            <p:cNvPr id="331779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1035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331781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rgbClr val="FFCC9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331782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549275" y="468313"/>
            <a:ext cx="58293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33600"/>
            <a:ext cx="5829300" cy="604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31785" name="Line 9"/>
          <p:cNvSpPr>
            <a:spLocks noChangeShapeType="1"/>
          </p:cNvSpPr>
          <p:nvPr/>
        </p:nvSpPr>
        <p:spPr bwMode="auto">
          <a:xfrm>
            <a:off x="0" y="6502400"/>
            <a:ext cx="4572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1786" name="Rectangle 10"/>
          <p:cNvSpPr>
            <a:spLocks noChangeArrowheads="1"/>
          </p:cNvSpPr>
          <p:nvPr userDrawn="1"/>
        </p:nvSpPr>
        <p:spPr bwMode="auto">
          <a:xfrm>
            <a:off x="0" y="8636000"/>
            <a:ext cx="446405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>
              <a:defRPr/>
            </a:pPr>
            <a:r>
              <a:rPr lang="en-US" sz="800" dirty="0">
                <a:latin typeface="Arial" charset="0"/>
              </a:rPr>
              <a:t>Copyrights © Nanyang Polytechnic, 2018		</a:t>
            </a:r>
          </a:p>
        </p:txBody>
      </p:sp>
      <p:sp>
        <p:nvSpPr>
          <p:cNvPr id="331787" name="Text Box 11"/>
          <p:cNvSpPr txBox="1">
            <a:spLocks noChangeArrowheads="1"/>
          </p:cNvSpPr>
          <p:nvPr userDrawn="1"/>
        </p:nvSpPr>
        <p:spPr bwMode="auto">
          <a:xfrm rot="5400000">
            <a:off x="-1188243" y="1289814"/>
            <a:ext cx="28527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GB" sz="1000" b="0" dirty="0"/>
              <a:t>IT1762</a:t>
            </a:r>
            <a:br>
              <a:rPr lang="en-GB" sz="1000" b="0" dirty="0"/>
            </a:br>
            <a:r>
              <a:rPr lang="en-GB" sz="1000" b="0" dirty="0"/>
              <a:t>Data Structures &amp; Algorithms</a:t>
            </a:r>
            <a:endParaRPr lang="en-GB" sz="1000" dirty="0"/>
          </a:p>
        </p:txBody>
      </p:sp>
      <p:sp>
        <p:nvSpPr>
          <p:cNvPr id="331788" name="Rectangle 12"/>
          <p:cNvSpPr>
            <a:spLocks noChangeArrowheads="1"/>
          </p:cNvSpPr>
          <p:nvPr/>
        </p:nvSpPr>
        <p:spPr bwMode="auto">
          <a:xfrm>
            <a:off x="4797425" y="8748713"/>
            <a:ext cx="1933575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GB" sz="1000" dirty="0">
                <a:latin typeface="Arial" charset="0"/>
              </a:rPr>
              <a:t>page </a:t>
            </a:r>
            <a:fld id="{FD2F6456-78A6-4806-B576-92B5967DB023}" type="slidenum">
              <a:rPr lang="en-GB" sz="1000">
                <a:latin typeface="Arial" charset="0"/>
              </a:rPr>
              <a:pPr algn="r">
                <a:defRPr/>
              </a:pPr>
              <a:t>‹#›</a:t>
            </a:fld>
            <a:endParaRPr lang="en-GB" sz="1000" dirty="0">
              <a:latin typeface="Arial" charset="0"/>
            </a:endParaRPr>
          </a:p>
        </p:txBody>
      </p:sp>
      <p:sp>
        <p:nvSpPr>
          <p:cNvPr id="331789" name="Text Box 13"/>
          <p:cNvSpPr txBox="1">
            <a:spLocks noChangeArrowheads="1"/>
          </p:cNvSpPr>
          <p:nvPr userDrawn="1"/>
        </p:nvSpPr>
        <p:spPr bwMode="auto">
          <a:xfrm>
            <a:off x="5084763" y="1692275"/>
            <a:ext cx="1346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000">
                <a:latin typeface="Garamond" pitchFamily="18" charset="0"/>
              </a:rPr>
              <a:t> Methods w Parameters</a:t>
            </a:r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sz="4000" b="0" dirty="0"/>
              <a:t>IT1762</a:t>
            </a:r>
            <a:br>
              <a:rPr lang="en-GB" sz="4000" b="0" dirty="0"/>
            </a:br>
            <a:r>
              <a:rPr lang="en-GB" sz="4000" b="0" dirty="0"/>
              <a:t>Data Structures &amp; Algorithms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63575" y="5202238"/>
            <a:ext cx="5834063" cy="2336800"/>
          </a:xfrm>
        </p:spPr>
        <p:txBody>
          <a:bodyPr/>
          <a:lstStyle/>
          <a:p>
            <a:pPr eaLnBrk="1" hangingPunct="1"/>
            <a:r>
              <a:rPr lang="en-GB" dirty="0"/>
              <a:t>Topic 3A Methods  </a:t>
            </a:r>
          </a:p>
          <a:p>
            <a:pPr eaLnBrk="1" hangingPunct="1"/>
            <a:r>
              <a:rPr lang="en-GB" i="1" dirty="0">
                <a:solidFill>
                  <a:srgbClr val="FF0000"/>
                </a:solidFill>
              </a:rPr>
              <a:t> with parameter passing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8468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/>
              <a:t>Topics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>
                <a:effectLst>
                  <a:outerShdw blurRad="38100" dist="38100" dir="2700000" algn="tl">
                    <a:srgbClr val="FFFFFF"/>
                  </a:outerShdw>
                </a:effectLst>
              </a:rPr>
              <a:t>Review of Methods</a:t>
            </a:r>
          </a:p>
          <a:p>
            <a:pPr eaLnBrk="1" hangingPunct="1">
              <a:defRPr/>
            </a:pPr>
            <a:r>
              <a:rPr lang="en-GB">
                <a:effectLst>
                  <a:outerShdw blurRad="38100" dist="38100" dir="2700000" algn="tl">
                    <a:srgbClr val="FFFFFF"/>
                  </a:outerShdw>
                </a:effectLst>
              </a:rPr>
              <a:t>Passing data using parameters in methods</a:t>
            </a:r>
          </a:p>
          <a:p>
            <a:pPr eaLnBrk="1" hangingPunct="1">
              <a:defRPr/>
            </a:pPr>
            <a:endParaRPr lang="en-GB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>
                <a:effectLst>
                  <a:outerShdw blurRad="38100" dist="38100" dir="2700000" algn="tl">
                    <a:srgbClr val="FFFFFF"/>
                  </a:outerShdw>
                </a:effectLst>
              </a:rPr>
              <a:t>Objectives:</a:t>
            </a:r>
          </a:p>
          <a:p>
            <a:pPr eaLnBrk="1" hangingPunct="1">
              <a:defRPr/>
            </a:pPr>
            <a:r>
              <a:rPr lang="en-GB"/>
              <a:t>Know how to pass data between methods using parameter passing.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GB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defRPr/>
            </a:pPr>
            <a:endParaRPr lang="en-GB"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defRPr/>
            </a:pPr>
            <a:endParaRPr lang="en-GB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Review:</a:t>
            </a:r>
            <a:br>
              <a:rPr lang="en-GB" dirty="0"/>
            </a:br>
            <a:r>
              <a:rPr lang="en-GB" dirty="0"/>
              <a:t>What is a </a:t>
            </a:r>
            <a:r>
              <a:rPr lang="en-GB" dirty="0">
                <a:solidFill>
                  <a:srgbClr val="FF0000"/>
                </a:solidFill>
              </a:rPr>
              <a:t>method</a:t>
            </a:r>
            <a:r>
              <a:rPr lang="en-GB" dirty="0"/>
              <a:t>?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2" y="1979712"/>
            <a:ext cx="6192688" cy="6614864"/>
          </a:xfrm>
        </p:spPr>
        <p:txBody>
          <a:bodyPr/>
          <a:lstStyle/>
          <a:p>
            <a:r>
              <a:rPr lang="en-GB" sz="2000" dirty="0"/>
              <a:t>Large program:</a:t>
            </a:r>
          </a:p>
          <a:p>
            <a:pPr lvl="1"/>
            <a:r>
              <a:rPr lang="en-GB" sz="2000" dirty="0"/>
              <a:t>It is difficult to understand and debug</a:t>
            </a:r>
          </a:p>
          <a:p>
            <a:pPr lvl="1"/>
            <a:r>
              <a:rPr lang="en-GB" sz="2000" dirty="0"/>
              <a:t>To reduce complexity is to split a program into (relatively) isolated sections</a:t>
            </a:r>
          </a:p>
          <a:p>
            <a:pPr lvl="1"/>
            <a:r>
              <a:rPr lang="en-GB" sz="2000" dirty="0"/>
              <a:t>It helps to focus on an </a:t>
            </a:r>
            <a:r>
              <a:rPr lang="en-GB" sz="2000" u="sng" dirty="0">
                <a:solidFill>
                  <a:srgbClr val="FF0000"/>
                </a:solidFill>
              </a:rPr>
              <a:t>isolated section</a:t>
            </a:r>
            <a:r>
              <a:rPr lang="en-GB" sz="2000" dirty="0"/>
              <a:t> without distraction of the complete program</a:t>
            </a:r>
          </a:p>
          <a:p>
            <a:pPr lvl="1"/>
            <a:r>
              <a:rPr lang="en-GB" sz="2000" dirty="0"/>
              <a:t>In C#, such section are known as </a:t>
            </a:r>
            <a:r>
              <a:rPr lang="en-GB" sz="2000" b="1" dirty="0">
                <a:solidFill>
                  <a:srgbClr val="FF0000"/>
                </a:solidFill>
              </a:rPr>
              <a:t>methods</a:t>
            </a:r>
          </a:p>
          <a:p>
            <a:pPr lvl="1"/>
            <a:r>
              <a:rPr lang="en-GB" sz="2000" dirty="0"/>
              <a:t>To use a method, is to </a:t>
            </a:r>
            <a:r>
              <a:rPr lang="en-GB" sz="2000" b="1" u="sng" dirty="0"/>
              <a:t>call</a:t>
            </a:r>
            <a:r>
              <a:rPr lang="en-GB" sz="2000" dirty="0"/>
              <a:t> it.</a:t>
            </a:r>
          </a:p>
          <a:p>
            <a:pPr marL="457200" lvl="1" indent="0">
              <a:buNone/>
            </a:pPr>
            <a:endParaRPr lang="en-GB" sz="2000" dirty="0"/>
          </a:p>
          <a:p>
            <a:pPr lvl="1"/>
            <a:r>
              <a:rPr lang="en-GB" sz="2000" dirty="0"/>
              <a:t>Example:</a:t>
            </a:r>
          </a:p>
          <a:p>
            <a:pPr lvl="2"/>
            <a:r>
              <a:rPr lang="en-GB" sz="2000" dirty="0" err="1"/>
              <a:t>MessageBox.Show</a:t>
            </a:r>
            <a:r>
              <a:rPr lang="en-GB" sz="2000" dirty="0"/>
              <a:t>()</a:t>
            </a:r>
          </a:p>
          <a:p>
            <a:pPr lvl="3"/>
            <a:r>
              <a:rPr lang="en-GB" dirty="0"/>
              <a:t>Calling a system provided method to display a message box</a:t>
            </a:r>
          </a:p>
          <a:p>
            <a:pPr lvl="2"/>
            <a:r>
              <a:rPr lang="en-GB" sz="2000" dirty="0" err="1"/>
              <a:t>Validate_Value</a:t>
            </a:r>
            <a:r>
              <a:rPr lang="en-GB" sz="2000" dirty="0"/>
              <a:t>()</a:t>
            </a:r>
          </a:p>
          <a:p>
            <a:pPr lvl="3"/>
            <a:r>
              <a:rPr lang="en-GB" dirty="0"/>
              <a:t>Calling your own method to perform certain tasks</a:t>
            </a:r>
          </a:p>
          <a:p>
            <a:pPr lvl="1"/>
            <a:endParaRPr lang="en-SG" sz="2000" dirty="0"/>
          </a:p>
        </p:txBody>
      </p:sp>
      <p:pic>
        <p:nvPicPr>
          <p:cNvPr id="1026" name="Picture 2" descr="C:\Users\tanail\AppData\Local\Microsoft\Windows\Temporary Internet Files\Content.IE5\6KSNL5KG\MC900216942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94" y="6932466"/>
            <a:ext cx="1820570" cy="181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tanail\AppData\Local\Microsoft\Windows\Temporary Internet Files\Content.IE5\IUCJNDU7\MC900433861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756" y="4471620"/>
            <a:ext cx="1396524" cy="1396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153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Review : </a:t>
            </a:r>
            <a:br>
              <a:rPr lang="en-US" dirty="0"/>
            </a:br>
            <a:r>
              <a:rPr lang="en-US" dirty="0"/>
              <a:t>Why use methods?</a:t>
            </a:r>
            <a:endParaRPr lang="en-GB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2880" y="2123728"/>
            <a:ext cx="5486400" cy="597535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GB" dirty="0"/>
              <a:t>Good for program organization</a:t>
            </a:r>
          </a:p>
          <a:p>
            <a:pPr lvl="1" eaLnBrk="1" hangingPunct="1">
              <a:lnSpc>
                <a:spcPct val="90000"/>
              </a:lnSpc>
              <a:buFontTx/>
              <a:buChar char="o"/>
            </a:pPr>
            <a:r>
              <a:rPr lang="en-US" dirty="0"/>
              <a:t>Partitions large programs into smaller, manageable units</a:t>
            </a:r>
          </a:p>
          <a:p>
            <a:pPr lvl="1" eaLnBrk="1" hangingPunct="1">
              <a:lnSpc>
                <a:spcPct val="90000"/>
              </a:lnSpc>
              <a:buFontTx/>
              <a:buChar char="o"/>
            </a:pPr>
            <a:r>
              <a:rPr lang="en-US" dirty="0"/>
              <a:t>Simplifies programming &amp; debugging</a:t>
            </a:r>
          </a:p>
          <a:p>
            <a:pPr lvl="1" eaLnBrk="1" hangingPunct="1">
              <a:lnSpc>
                <a:spcPct val="90000"/>
              </a:lnSpc>
              <a:buFontTx/>
              <a:buChar char="o"/>
            </a:pPr>
            <a:endParaRPr lang="en-GB" dirty="0"/>
          </a:p>
          <a:p>
            <a:pPr algn="just" eaLnBrk="1" hangingPunct="1">
              <a:lnSpc>
                <a:spcPct val="90000"/>
              </a:lnSpc>
            </a:pPr>
            <a:r>
              <a:rPr lang="en-GB" dirty="0"/>
              <a:t>Avoiding repetition of code</a:t>
            </a:r>
          </a:p>
          <a:p>
            <a:pPr lvl="1" algn="just" eaLnBrk="1" hangingPunct="1">
              <a:lnSpc>
                <a:spcPct val="90000"/>
              </a:lnSpc>
              <a:buFontTx/>
              <a:buChar char="o"/>
            </a:pPr>
            <a:r>
              <a:rPr lang="en-GB" dirty="0"/>
              <a:t>Avoids writing the same code over and over again.</a:t>
            </a:r>
          </a:p>
          <a:p>
            <a:pPr algn="just" eaLnBrk="1" hangingPunct="1">
              <a:lnSpc>
                <a:spcPct val="90000"/>
              </a:lnSpc>
              <a:buFontTx/>
              <a:buChar char="o"/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Independence</a:t>
            </a:r>
          </a:p>
          <a:p>
            <a:pPr lvl="1" eaLnBrk="1" hangingPunct="1">
              <a:lnSpc>
                <a:spcPct val="90000"/>
              </a:lnSpc>
              <a:buFontTx/>
              <a:buChar char="o"/>
            </a:pPr>
            <a:r>
              <a:rPr lang="en-US" dirty="0"/>
              <a:t>Methods developed in one program may be incorporated into others.</a:t>
            </a:r>
          </a:p>
          <a:p>
            <a:pPr eaLnBrk="1" hangingPunct="1">
              <a:lnSpc>
                <a:spcPct val="90000"/>
              </a:lnSpc>
            </a:pP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250825"/>
            <a:ext cx="6308725" cy="1524000"/>
          </a:xfrm>
          <a:noFill/>
        </p:spPr>
        <p:txBody>
          <a:bodyPr anchor="b"/>
          <a:lstStyle/>
          <a:p>
            <a:pPr eaLnBrk="1" hangingPunct="1"/>
            <a:r>
              <a:rPr lang="en-US"/>
              <a:t>Review : Passing data between methods</a:t>
            </a:r>
            <a:endParaRPr lang="en-GB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672" y="2123728"/>
            <a:ext cx="5976193" cy="3888431"/>
          </a:xfrm>
          <a:noFill/>
        </p:spPr>
        <p:txBody>
          <a:bodyPr/>
          <a:lstStyle/>
          <a:p>
            <a:pPr marL="361950" indent="-361950" eaLnBrk="1" hangingPunct="1"/>
            <a:r>
              <a:rPr lang="en-US" dirty="0"/>
              <a:t>Methods can pass data to each other as follows: </a:t>
            </a:r>
          </a:p>
          <a:p>
            <a:pPr marL="990600" lvl="1" indent="-354013" eaLnBrk="1" hangingPunct="1">
              <a:buClr>
                <a:schemeClr val="tx1"/>
              </a:buClr>
              <a:buFont typeface="Wingdings" pitchFamily="2" charset="2"/>
              <a:buAutoNum type="arabicParenR"/>
            </a:pPr>
            <a:r>
              <a:rPr lang="en-US" dirty="0"/>
              <a:t>Through Class Variables</a:t>
            </a:r>
          </a:p>
          <a:p>
            <a:pPr marL="990600" lvl="1" indent="-354013" eaLnBrk="1" hangingPunct="1">
              <a:buClr>
                <a:schemeClr val="tx1"/>
              </a:buClr>
              <a:buFont typeface="Wingdings" pitchFamily="2" charset="2"/>
              <a:buAutoNum type="arabicParenR"/>
            </a:pPr>
            <a:r>
              <a:rPr lang="en-US" dirty="0"/>
              <a:t>By using Parameters</a:t>
            </a:r>
          </a:p>
          <a:p>
            <a:pPr marL="990600" lvl="1" indent="-354013" eaLnBrk="1" hangingPunct="1">
              <a:buClr>
                <a:schemeClr val="tx1"/>
              </a:buClr>
              <a:buFont typeface="Wingdings" pitchFamily="2" charset="2"/>
              <a:buAutoNum type="arabicParenR"/>
            </a:pPr>
            <a:r>
              <a:rPr lang="en-US" dirty="0"/>
              <a:t>By returning a value from a method.</a:t>
            </a:r>
          </a:p>
          <a:p>
            <a:pPr marL="361950" indent="-361950" eaLnBrk="1" hangingPunct="1"/>
            <a:r>
              <a:rPr lang="en-US" dirty="0"/>
              <a:t>We have covered point 1 in IT1753</a:t>
            </a:r>
          </a:p>
          <a:p>
            <a:pPr marL="0" indent="0" eaLnBrk="1" hangingPunct="1">
              <a:buNone/>
            </a:pPr>
            <a:endParaRPr lang="en-US" dirty="0"/>
          </a:p>
          <a:p>
            <a:pPr marL="990600" lvl="1" indent="-354013" eaLnBrk="1" hangingPunct="1">
              <a:buClr>
                <a:schemeClr val="tx1"/>
              </a:buClr>
              <a:buFont typeface="Wingdings" pitchFamily="2" charset="2"/>
              <a:buAutoNum type="arabicParenR"/>
            </a:pPr>
            <a:endParaRPr lang="en-US" dirty="0"/>
          </a:p>
          <a:p>
            <a:pPr marL="361950" indent="-361950" eaLnBrk="1" hangingPunct="1"/>
            <a:endParaRPr lang="en-US" dirty="0"/>
          </a:p>
        </p:txBody>
      </p:sp>
      <p:pic>
        <p:nvPicPr>
          <p:cNvPr id="4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696" y="6228184"/>
            <a:ext cx="1520825" cy="179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loud 1"/>
          <p:cNvSpPr/>
          <p:nvPr/>
        </p:nvSpPr>
        <p:spPr>
          <a:xfrm>
            <a:off x="1916832" y="6228184"/>
            <a:ext cx="4455839" cy="1656184"/>
          </a:xfrm>
          <a:prstGeom prst="clou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What is a Class Variable?</a:t>
            </a:r>
            <a:endParaRPr lang="en-S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401638"/>
            <a:ext cx="6308725" cy="1524000"/>
          </a:xfrm>
          <a:noFill/>
        </p:spPr>
        <p:txBody>
          <a:bodyPr/>
          <a:lstStyle/>
          <a:p>
            <a:pPr eaLnBrk="1" hangingPunct="1"/>
            <a:r>
              <a:rPr lang="en-US"/>
              <a:t>Review : Passing data between methods</a:t>
            </a:r>
            <a:endParaRPr lang="en-GB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672" y="2267744"/>
            <a:ext cx="6120680" cy="4703762"/>
          </a:xfrm>
          <a:noFill/>
        </p:spPr>
        <p:txBody>
          <a:bodyPr/>
          <a:lstStyle/>
          <a:p>
            <a:pPr marL="457200" indent="-457200" eaLnBrk="1" hangingPunct="1"/>
            <a:r>
              <a:rPr lang="en-US" dirty="0"/>
              <a:t>Use of class variables for passing data between methods has </a:t>
            </a:r>
            <a:r>
              <a:rPr lang="en-US" dirty="0">
                <a:solidFill>
                  <a:srgbClr val="FF0000"/>
                </a:solidFill>
              </a:rPr>
              <a:t>disadvantages</a:t>
            </a:r>
            <a:r>
              <a:rPr lang="en-US" dirty="0"/>
              <a:t>:</a:t>
            </a:r>
          </a:p>
          <a:p>
            <a:pPr marL="876300" lvl="1" indent="-419100" eaLnBrk="1" hangingPunct="1"/>
            <a:r>
              <a:rPr lang="en-US" dirty="0"/>
              <a:t>It is not clear what are the inputs and outputs of the method.</a:t>
            </a:r>
          </a:p>
          <a:p>
            <a:pPr marL="876300" lvl="1" indent="-419100" eaLnBrk="1" hangingPunct="1"/>
            <a:r>
              <a:rPr lang="en-US" dirty="0"/>
              <a:t>Variables  are not protected against changes by other methods</a:t>
            </a:r>
          </a:p>
          <a:p>
            <a:pPr marL="876300" lvl="1" indent="-419100" eaLnBrk="1" hangingPunct="1"/>
            <a:r>
              <a:rPr lang="en-US" dirty="0"/>
              <a:t>A method using class variables loses its reusability.</a:t>
            </a:r>
          </a:p>
          <a:p>
            <a:pPr marL="457200" indent="-457200" eaLnBrk="1" hangingPunct="1">
              <a:buFont typeface="Wingdings" pitchFamily="2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323528"/>
            <a:ext cx="6308725" cy="136815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Review Structure of a </a:t>
            </a:r>
            <a:br>
              <a:rPr lang="en-US" dirty="0"/>
            </a:br>
            <a:r>
              <a:rPr lang="en-US" sz="3200" b="1" dirty="0"/>
              <a:t>Method with NO Parameter</a:t>
            </a:r>
            <a:endParaRPr lang="en-GB" sz="3200" b="1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3930650"/>
            <a:ext cx="5399434" cy="32273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GB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private void</a:t>
            </a:r>
            <a:r>
              <a:rPr lang="en-GB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GB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MethodName</a:t>
            </a:r>
            <a:r>
              <a:rPr lang="en-GB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en-GB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statement;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statement;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GB" dirty="0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77838" y="2265363"/>
            <a:ext cx="3165475" cy="1874837"/>
            <a:chOff x="301" y="1427"/>
            <a:chExt cx="1994" cy="1181"/>
          </a:xfrm>
        </p:grpSpPr>
        <p:sp>
          <p:nvSpPr>
            <p:cNvPr id="18449" name="AutoShape 4"/>
            <p:cNvSpPr>
              <a:spLocks noChangeArrowheads="1"/>
            </p:cNvSpPr>
            <p:nvPr/>
          </p:nvSpPr>
          <p:spPr bwMode="auto">
            <a:xfrm>
              <a:off x="301" y="1427"/>
              <a:ext cx="1994" cy="910"/>
            </a:xfrm>
            <a:prstGeom prst="roundRect">
              <a:avLst>
                <a:gd name="adj" fmla="val 31046"/>
              </a:avLst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GB" dirty="0"/>
                <a:t>return type: void means the method is not returning any value to the calling program.</a:t>
              </a:r>
            </a:p>
          </p:txBody>
        </p:sp>
        <p:sp>
          <p:nvSpPr>
            <p:cNvPr id="18450" name="Line 12"/>
            <p:cNvSpPr>
              <a:spLocks noChangeShapeType="1"/>
            </p:cNvSpPr>
            <p:nvPr/>
          </p:nvSpPr>
          <p:spPr bwMode="auto">
            <a:xfrm>
              <a:off x="1298" y="2336"/>
              <a:ext cx="0" cy="27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789040" y="3131591"/>
            <a:ext cx="2713037" cy="1023937"/>
            <a:chOff x="2387" y="2008"/>
            <a:chExt cx="1709" cy="645"/>
          </a:xfrm>
        </p:grpSpPr>
        <p:sp>
          <p:nvSpPr>
            <p:cNvPr id="18447" name="AutoShape 5"/>
            <p:cNvSpPr>
              <a:spLocks noChangeArrowheads="1"/>
            </p:cNvSpPr>
            <p:nvPr/>
          </p:nvSpPr>
          <p:spPr bwMode="auto">
            <a:xfrm>
              <a:off x="2478" y="2008"/>
              <a:ext cx="1618" cy="233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GB" dirty="0"/>
                <a:t>Name of method</a:t>
              </a:r>
            </a:p>
          </p:txBody>
        </p:sp>
        <p:sp>
          <p:nvSpPr>
            <p:cNvPr id="18448" name="Line 14"/>
            <p:cNvSpPr>
              <a:spLocks noChangeShapeType="1"/>
            </p:cNvSpPr>
            <p:nvPr/>
          </p:nvSpPr>
          <p:spPr bwMode="auto">
            <a:xfrm flipH="1">
              <a:off x="2387" y="2245"/>
              <a:ext cx="862" cy="4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3789363" y="4500563"/>
            <a:ext cx="2879725" cy="2252662"/>
            <a:chOff x="2387" y="2835"/>
            <a:chExt cx="1814" cy="1419"/>
          </a:xfrm>
        </p:grpSpPr>
        <p:grpSp>
          <p:nvGrpSpPr>
            <p:cNvPr id="5" name="Group 10"/>
            <p:cNvGrpSpPr>
              <a:grpSpLocks/>
            </p:cNvGrpSpPr>
            <p:nvPr/>
          </p:nvGrpSpPr>
          <p:grpSpPr bwMode="auto">
            <a:xfrm>
              <a:off x="2387" y="2971"/>
              <a:ext cx="1814" cy="1283"/>
              <a:chOff x="1661" y="3863"/>
              <a:chExt cx="2495" cy="1283"/>
            </a:xfrm>
          </p:grpSpPr>
          <p:sp>
            <p:nvSpPr>
              <p:cNvPr id="18444" name="Oval 6"/>
              <p:cNvSpPr>
                <a:spLocks noChangeArrowheads="1"/>
              </p:cNvSpPr>
              <p:nvPr/>
            </p:nvSpPr>
            <p:spPr bwMode="auto">
              <a:xfrm>
                <a:off x="1661" y="3863"/>
                <a:ext cx="2475" cy="1283"/>
              </a:xfrm>
              <a:prstGeom prst="ellipse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GB"/>
                  <a:t>a pair of parentheses or round brackets to contain parameters</a:t>
                </a:r>
              </a:p>
            </p:txBody>
          </p:sp>
          <p:sp>
            <p:nvSpPr>
              <p:cNvPr id="18445" name="AutoShape 8"/>
              <p:cNvSpPr>
                <a:spLocks/>
              </p:cNvSpPr>
              <p:nvPr/>
            </p:nvSpPr>
            <p:spPr bwMode="auto">
              <a:xfrm>
                <a:off x="1661" y="4241"/>
                <a:ext cx="318" cy="544"/>
              </a:xfrm>
              <a:prstGeom prst="leftBracket">
                <a:avLst>
                  <a:gd name="adj" fmla="val 84909"/>
                </a:avLst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46" name="AutoShape 9"/>
              <p:cNvSpPr>
                <a:spLocks/>
              </p:cNvSpPr>
              <p:nvPr/>
            </p:nvSpPr>
            <p:spPr bwMode="auto">
              <a:xfrm flipH="1">
                <a:off x="3838" y="4241"/>
                <a:ext cx="318" cy="544"/>
              </a:xfrm>
              <a:prstGeom prst="leftBracket">
                <a:avLst>
                  <a:gd name="adj" fmla="val 84909"/>
                </a:avLst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43" name="Line 16"/>
            <p:cNvSpPr>
              <a:spLocks noChangeShapeType="1"/>
            </p:cNvSpPr>
            <p:nvPr/>
          </p:nvSpPr>
          <p:spPr bwMode="auto">
            <a:xfrm flipH="1" flipV="1">
              <a:off x="3022" y="2835"/>
              <a:ext cx="227" cy="317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476250" y="6300788"/>
            <a:ext cx="4318000" cy="1670050"/>
            <a:chOff x="300" y="3969"/>
            <a:chExt cx="2720" cy="1052"/>
          </a:xfrm>
        </p:grpSpPr>
        <p:sp>
          <p:nvSpPr>
            <p:cNvPr id="18440" name="AutoShape 11"/>
            <p:cNvSpPr>
              <a:spLocks noChangeArrowheads="1"/>
            </p:cNvSpPr>
            <p:nvPr/>
          </p:nvSpPr>
          <p:spPr bwMode="auto">
            <a:xfrm>
              <a:off x="300" y="4372"/>
              <a:ext cx="2720" cy="649"/>
            </a:xfrm>
            <a:prstGeom prst="bracePair">
              <a:avLst>
                <a:gd name="adj" fmla="val 16352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GB"/>
                <a:t>a pair of braces or curly brackets denote the method body containing C# statements</a:t>
              </a:r>
            </a:p>
          </p:txBody>
        </p:sp>
        <p:sp>
          <p:nvSpPr>
            <p:cNvPr id="18441" name="Line 19"/>
            <p:cNvSpPr>
              <a:spLocks noChangeShapeType="1"/>
            </p:cNvSpPr>
            <p:nvPr/>
          </p:nvSpPr>
          <p:spPr bwMode="auto">
            <a:xfrm flipH="1" flipV="1">
              <a:off x="436" y="3969"/>
              <a:ext cx="817" cy="4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113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468313"/>
            <a:ext cx="5829300" cy="1151359"/>
          </a:xfrm>
        </p:spPr>
        <p:txBody>
          <a:bodyPr/>
          <a:lstStyle/>
          <a:p>
            <a:r>
              <a:rPr lang="en-US" dirty="0"/>
              <a:t>Structure of a </a:t>
            </a:r>
            <a:br>
              <a:rPr lang="en-US" dirty="0"/>
            </a:br>
            <a:r>
              <a:rPr lang="en-US" b="1" dirty="0"/>
              <a:t>Method with </a:t>
            </a:r>
            <a:r>
              <a:rPr lang="en-US" b="1" dirty="0">
                <a:solidFill>
                  <a:srgbClr val="FF0000"/>
                </a:solidFill>
              </a:rPr>
              <a:t>Parameter</a:t>
            </a:r>
            <a:endParaRPr lang="en-SG" dirty="0"/>
          </a:p>
        </p:txBody>
      </p:sp>
      <p:sp>
        <p:nvSpPr>
          <p:cNvPr id="5" name="Rectangle 4"/>
          <p:cNvSpPr/>
          <p:nvPr/>
        </p:nvSpPr>
        <p:spPr>
          <a:xfrm>
            <a:off x="692696" y="2123728"/>
            <a:ext cx="57606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0" indent="-361950" eaLnBrk="1" hangingPunct="1"/>
            <a:r>
              <a:rPr lang="en-US" sz="2800" dirty="0"/>
              <a:t>Methods can pass data to each other as follows: </a:t>
            </a:r>
          </a:p>
          <a:p>
            <a:pPr marL="361950" indent="-361950" eaLnBrk="1" hangingPunct="1"/>
            <a:endParaRPr lang="en-US" sz="2800" dirty="0"/>
          </a:p>
          <a:p>
            <a:pPr marL="990600" lvl="1" indent="-354013" eaLnBrk="1" hangingPunct="1">
              <a:buClr>
                <a:schemeClr val="tx1"/>
              </a:buClr>
              <a:buFont typeface="Wingdings" pitchFamily="2" charset="2"/>
              <a:buAutoNum type="arabicParenR"/>
            </a:pPr>
            <a:r>
              <a:rPr lang="en-US" sz="2800" dirty="0"/>
              <a:t>Through Class Variables</a:t>
            </a:r>
          </a:p>
          <a:p>
            <a:pPr marL="990600" lvl="1" indent="-354013" eaLnBrk="1" hangingPunct="1">
              <a:buClr>
                <a:schemeClr val="tx1"/>
              </a:buClr>
              <a:buFont typeface="Wingdings" pitchFamily="2" charset="2"/>
              <a:buAutoNum type="arabicParenR"/>
            </a:pPr>
            <a:endParaRPr lang="en-US" sz="2800" dirty="0"/>
          </a:p>
          <a:p>
            <a:pPr marL="990600" lvl="1" indent="-354013" eaLnBrk="1" hangingPunct="1">
              <a:buClr>
                <a:schemeClr val="tx1"/>
              </a:buClr>
              <a:buFont typeface="Wingdings" pitchFamily="2" charset="2"/>
              <a:buAutoNum type="arabicParenR"/>
            </a:pPr>
            <a:r>
              <a:rPr lang="en-US" sz="2800" dirty="0"/>
              <a:t>By using Parameters</a:t>
            </a:r>
          </a:p>
          <a:p>
            <a:pPr marL="990600" lvl="1" indent="-354013" eaLnBrk="1" hangingPunct="1">
              <a:buClr>
                <a:schemeClr val="tx1"/>
              </a:buClr>
              <a:buFont typeface="Wingdings" pitchFamily="2" charset="2"/>
              <a:buAutoNum type="arabicParenR"/>
            </a:pPr>
            <a:endParaRPr lang="en-US" sz="2800" dirty="0"/>
          </a:p>
          <a:p>
            <a:pPr marL="990600" lvl="1" indent="-354013" eaLnBrk="1" hangingPunct="1">
              <a:buClr>
                <a:schemeClr val="tx1"/>
              </a:buClr>
              <a:buFont typeface="Wingdings" pitchFamily="2" charset="2"/>
              <a:buAutoNum type="arabicParenR"/>
            </a:pPr>
            <a:r>
              <a:rPr lang="en-US" sz="2800" dirty="0"/>
              <a:t>By returning a value from a method.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2696" y="4108887"/>
            <a:ext cx="5760640" cy="751145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4993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323528"/>
            <a:ext cx="6308725" cy="115212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Structure of a </a:t>
            </a:r>
            <a:br>
              <a:rPr lang="en-US" dirty="0"/>
            </a:br>
            <a:r>
              <a:rPr lang="en-US" sz="3200" b="1" dirty="0"/>
              <a:t>Method with </a:t>
            </a:r>
            <a:r>
              <a:rPr lang="en-US" sz="3200" b="1" dirty="0">
                <a:solidFill>
                  <a:srgbClr val="FF0000"/>
                </a:solidFill>
              </a:rPr>
              <a:t>Parameter</a:t>
            </a:r>
            <a:endParaRPr lang="en-GB" sz="3200" b="1" dirty="0">
              <a:solidFill>
                <a:srgbClr val="FF0000"/>
              </a:solidFill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8" y="3930650"/>
            <a:ext cx="6191250" cy="32273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Private void</a:t>
            </a: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GB" sz="2400" dirty="0" err="1">
                <a:effectLst>
                  <a:outerShdw blurRad="38100" dist="38100" dir="2700000" algn="tl">
                    <a:srgbClr val="FFFFFF"/>
                  </a:outerShdw>
                </a:effectLst>
              </a:rPr>
              <a:t>MethodName</a:t>
            </a: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GB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 parameter</a:t>
            </a: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GB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{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statement;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	statement;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GB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GB" sz="2400" dirty="0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77838" y="2195735"/>
            <a:ext cx="2959893" cy="1946355"/>
            <a:chOff x="301" y="1427"/>
            <a:chExt cx="1994" cy="1182"/>
          </a:xfrm>
        </p:grpSpPr>
        <p:sp>
          <p:nvSpPr>
            <p:cNvPr id="18449" name="AutoShape 4"/>
            <p:cNvSpPr>
              <a:spLocks noChangeArrowheads="1"/>
            </p:cNvSpPr>
            <p:nvPr/>
          </p:nvSpPr>
          <p:spPr bwMode="auto">
            <a:xfrm>
              <a:off x="301" y="1427"/>
              <a:ext cx="1994" cy="910"/>
            </a:xfrm>
            <a:prstGeom prst="roundRect">
              <a:avLst>
                <a:gd name="adj" fmla="val 31046"/>
              </a:avLst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GB" dirty="0"/>
                <a:t>return type: void means the method is not returning any value to the calling program.</a:t>
              </a:r>
            </a:p>
          </p:txBody>
        </p:sp>
        <p:sp>
          <p:nvSpPr>
            <p:cNvPr id="18450" name="Line 12"/>
            <p:cNvSpPr>
              <a:spLocks noChangeShapeType="1"/>
            </p:cNvSpPr>
            <p:nvPr/>
          </p:nvSpPr>
          <p:spPr bwMode="auto">
            <a:xfrm>
              <a:off x="1298" y="2337"/>
              <a:ext cx="0" cy="27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437731" y="2995859"/>
            <a:ext cx="2713037" cy="1023937"/>
            <a:chOff x="2387" y="2008"/>
            <a:chExt cx="1709" cy="645"/>
          </a:xfrm>
        </p:grpSpPr>
        <p:sp>
          <p:nvSpPr>
            <p:cNvPr id="18447" name="AutoShape 5"/>
            <p:cNvSpPr>
              <a:spLocks noChangeArrowheads="1"/>
            </p:cNvSpPr>
            <p:nvPr/>
          </p:nvSpPr>
          <p:spPr bwMode="auto">
            <a:xfrm>
              <a:off x="2478" y="2008"/>
              <a:ext cx="1618" cy="233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GB" dirty="0"/>
                <a:t>Name of method</a:t>
              </a:r>
            </a:p>
          </p:txBody>
        </p:sp>
        <p:sp>
          <p:nvSpPr>
            <p:cNvPr id="18448" name="Line 14"/>
            <p:cNvSpPr>
              <a:spLocks noChangeShapeType="1"/>
            </p:cNvSpPr>
            <p:nvPr/>
          </p:nvSpPr>
          <p:spPr bwMode="auto">
            <a:xfrm flipH="1">
              <a:off x="2387" y="2245"/>
              <a:ext cx="862" cy="4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3789363" y="4500563"/>
            <a:ext cx="2879725" cy="2252662"/>
            <a:chOff x="2387" y="2835"/>
            <a:chExt cx="1814" cy="1419"/>
          </a:xfrm>
        </p:grpSpPr>
        <p:grpSp>
          <p:nvGrpSpPr>
            <p:cNvPr id="5" name="Group 10"/>
            <p:cNvGrpSpPr>
              <a:grpSpLocks/>
            </p:cNvGrpSpPr>
            <p:nvPr/>
          </p:nvGrpSpPr>
          <p:grpSpPr bwMode="auto">
            <a:xfrm>
              <a:off x="2387" y="2971"/>
              <a:ext cx="1814" cy="1283"/>
              <a:chOff x="1661" y="3863"/>
              <a:chExt cx="2495" cy="1283"/>
            </a:xfrm>
          </p:grpSpPr>
          <p:sp>
            <p:nvSpPr>
              <p:cNvPr id="18444" name="Oval 6"/>
              <p:cNvSpPr>
                <a:spLocks noChangeArrowheads="1"/>
              </p:cNvSpPr>
              <p:nvPr/>
            </p:nvSpPr>
            <p:spPr bwMode="auto">
              <a:xfrm>
                <a:off x="1661" y="3863"/>
                <a:ext cx="2475" cy="1283"/>
              </a:xfrm>
              <a:prstGeom prst="ellipse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GB" dirty="0"/>
                  <a:t>a pair of parentheses or round brackets to contain parameters</a:t>
                </a:r>
              </a:p>
            </p:txBody>
          </p:sp>
          <p:sp>
            <p:nvSpPr>
              <p:cNvPr id="18445" name="AutoShape 8"/>
              <p:cNvSpPr>
                <a:spLocks/>
              </p:cNvSpPr>
              <p:nvPr/>
            </p:nvSpPr>
            <p:spPr bwMode="auto">
              <a:xfrm>
                <a:off x="1661" y="4241"/>
                <a:ext cx="318" cy="544"/>
              </a:xfrm>
              <a:prstGeom prst="leftBracket">
                <a:avLst>
                  <a:gd name="adj" fmla="val 84909"/>
                </a:avLst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46" name="AutoShape 9"/>
              <p:cNvSpPr>
                <a:spLocks/>
              </p:cNvSpPr>
              <p:nvPr/>
            </p:nvSpPr>
            <p:spPr bwMode="auto">
              <a:xfrm flipH="1">
                <a:off x="3838" y="4241"/>
                <a:ext cx="318" cy="544"/>
              </a:xfrm>
              <a:prstGeom prst="leftBracket">
                <a:avLst>
                  <a:gd name="adj" fmla="val 84909"/>
                </a:avLst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43" name="Line 16"/>
            <p:cNvSpPr>
              <a:spLocks noChangeShapeType="1"/>
            </p:cNvSpPr>
            <p:nvPr/>
          </p:nvSpPr>
          <p:spPr bwMode="auto">
            <a:xfrm flipH="1" flipV="1">
              <a:off x="3022" y="2835"/>
              <a:ext cx="227" cy="317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476250" y="6011863"/>
            <a:ext cx="4318000" cy="1958975"/>
            <a:chOff x="300" y="3787"/>
            <a:chExt cx="2720" cy="1234"/>
          </a:xfrm>
        </p:grpSpPr>
        <p:sp>
          <p:nvSpPr>
            <p:cNvPr id="18440" name="AutoShape 11"/>
            <p:cNvSpPr>
              <a:spLocks noChangeArrowheads="1"/>
            </p:cNvSpPr>
            <p:nvPr/>
          </p:nvSpPr>
          <p:spPr bwMode="auto">
            <a:xfrm>
              <a:off x="300" y="4372"/>
              <a:ext cx="2720" cy="649"/>
            </a:xfrm>
            <a:prstGeom prst="bracePair">
              <a:avLst>
                <a:gd name="adj" fmla="val 16352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GB"/>
                <a:t>a pair of braces or curly brackets denote the method body containing C# statements</a:t>
              </a:r>
            </a:p>
          </p:txBody>
        </p:sp>
        <p:sp>
          <p:nvSpPr>
            <p:cNvPr id="18441" name="Line 19"/>
            <p:cNvSpPr>
              <a:spLocks noChangeShapeType="1"/>
            </p:cNvSpPr>
            <p:nvPr/>
          </p:nvSpPr>
          <p:spPr bwMode="auto">
            <a:xfrm flipH="1" flipV="1">
              <a:off x="482" y="3787"/>
              <a:ext cx="771" cy="6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661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dirty="0"/>
              <a:t>Method Definition with parameters</a:t>
            </a:r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77838" y="2123380"/>
            <a:ext cx="6264275" cy="6769100"/>
          </a:xfrm>
        </p:spPr>
        <p:txBody>
          <a:bodyPr/>
          <a:lstStyle/>
          <a:p>
            <a:pPr eaLnBrk="1" hangingPunct="1"/>
            <a:r>
              <a:rPr lang="en-US" sz="1800" dirty="0"/>
              <a:t>Syntax :</a:t>
            </a:r>
          </a:p>
          <a:p>
            <a:pPr lvl="1" eaLnBrk="1" hangingPunct="1">
              <a:buSzPct val="85000"/>
              <a:buFontTx/>
              <a:buNone/>
            </a:pPr>
            <a:endParaRPr lang="en-US" sz="1800" dirty="0">
              <a:latin typeface="Lucida Console" pitchFamily="49" charset="0"/>
            </a:endParaRPr>
          </a:p>
          <a:p>
            <a:pPr lvl="1" eaLnBrk="1" hangingPunct="1">
              <a:buSzPct val="85000"/>
              <a:buFontTx/>
              <a:buNone/>
            </a:pPr>
            <a:r>
              <a:rPr lang="en-US" sz="1800" dirty="0">
                <a:latin typeface="Lucida Console" pitchFamily="49" charset="0"/>
              </a:rPr>
              <a:t>{</a:t>
            </a:r>
          </a:p>
          <a:p>
            <a:pPr lvl="1" eaLnBrk="1" hangingPunct="1">
              <a:buSzPct val="85000"/>
              <a:buFontTx/>
              <a:buNone/>
            </a:pPr>
            <a:r>
              <a:rPr lang="en-US" sz="1800" dirty="0">
                <a:latin typeface="Lucida Console" pitchFamily="49" charset="0"/>
              </a:rPr>
              <a:t>		//statements;</a:t>
            </a:r>
          </a:p>
          <a:p>
            <a:pPr lvl="1" eaLnBrk="1" hangingPunct="1">
              <a:buSzPct val="85000"/>
              <a:buFontTx/>
              <a:buNone/>
            </a:pPr>
            <a:r>
              <a:rPr lang="en-US" sz="1800" dirty="0">
                <a:latin typeface="Lucida Console" pitchFamily="49" charset="0"/>
              </a:rPr>
              <a:t>		…</a:t>
            </a:r>
          </a:p>
          <a:p>
            <a:pPr lvl="1" eaLnBrk="1" hangingPunct="1">
              <a:buSzPct val="85000"/>
              <a:buFontTx/>
              <a:buNone/>
            </a:pPr>
            <a:r>
              <a:rPr lang="en-US" sz="1800" dirty="0">
                <a:latin typeface="Lucida Console" pitchFamily="49" charset="0"/>
              </a:rPr>
              <a:t> }</a:t>
            </a:r>
          </a:p>
          <a:p>
            <a:pPr eaLnBrk="1" hangingPunct="1"/>
            <a:r>
              <a:rPr lang="en-US" sz="1800" dirty="0"/>
              <a:t>Parameters are places that hold variable values from the calling program.</a:t>
            </a:r>
          </a:p>
          <a:p>
            <a:pPr eaLnBrk="1" hangingPunct="1"/>
            <a:r>
              <a:rPr lang="en-US" sz="1800" dirty="0"/>
              <a:t>Parameters must be declared (just like variables)</a:t>
            </a:r>
          </a:p>
          <a:p>
            <a:pPr eaLnBrk="1" hangingPunct="1"/>
            <a:r>
              <a:rPr lang="en-US" sz="1800" dirty="0"/>
              <a:t>They are </a:t>
            </a:r>
            <a:r>
              <a:rPr lang="en-US" sz="1800" b="1" u="sng" dirty="0"/>
              <a:t>LOCAL variables </a:t>
            </a:r>
            <a:r>
              <a:rPr lang="en-US" sz="1800" dirty="0"/>
              <a:t>to the Method</a:t>
            </a:r>
          </a:p>
          <a:p>
            <a:pPr marL="0" indent="0" eaLnBrk="1" hangingPunct="1">
              <a:buNone/>
            </a:pPr>
            <a:r>
              <a:rPr lang="en-US" sz="1800" dirty="0"/>
              <a:t> </a:t>
            </a:r>
          </a:p>
          <a:p>
            <a:pPr marL="457200" lvl="1" indent="0" eaLnBrk="1" hangingPunct="1">
              <a:buNone/>
            </a:pPr>
            <a:endParaRPr lang="en-US" sz="1800" b="1" dirty="0"/>
          </a:p>
          <a:p>
            <a:pPr marL="457200" lvl="1" indent="0" eaLnBrk="1" hangingPunct="1">
              <a:buNone/>
            </a:pPr>
            <a:r>
              <a:rPr lang="en-US" sz="1800" b="1" dirty="0"/>
              <a:t>private void </a:t>
            </a:r>
            <a:r>
              <a:rPr lang="en-US" sz="1800" b="1" dirty="0" err="1"/>
              <a:t>GetPay</a:t>
            </a:r>
            <a:endParaRPr lang="en-US" sz="1800" b="1" dirty="0"/>
          </a:p>
          <a:p>
            <a:pPr marL="457200" lvl="1" indent="0" eaLnBrk="1" hangingPunct="1">
              <a:buNone/>
            </a:pPr>
            <a:r>
              <a:rPr lang="en-US" sz="1800" b="1" dirty="0"/>
              <a:t>( </a:t>
            </a:r>
            <a:r>
              <a:rPr lang="en-US" sz="1800" b="1" dirty="0">
                <a:solidFill>
                  <a:srgbClr val="0033CC"/>
                </a:solidFill>
              </a:rPr>
              <a:t>double</a:t>
            </a:r>
            <a:r>
              <a:rPr lang="en-US" sz="1800" b="1" dirty="0"/>
              <a:t> </a:t>
            </a:r>
            <a:r>
              <a:rPr lang="en-US" sz="1800" b="1" dirty="0" err="1"/>
              <a:t>hoursWorked</a:t>
            </a:r>
            <a:r>
              <a:rPr lang="en-US" sz="1800" b="1" dirty="0"/>
              <a:t>, </a:t>
            </a:r>
            <a:r>
              <a:rPr lang="en-US" sz="1800" b="1" dirty="0">
                <a:solidFill>
                  <a:srgbClr val="0033CC"/>
                </a:solidFill>
              </a:rPr>
              <a:t>double</a:t>
            </a:r>
            <a:r>
              <a:rPr lang="en-US" sz="1800" b="1" dirty="0"/>
              <a:t> </a:t>
            </a:r>
            <a:r>
              <a:rPr lang="en-US" sz="1800" b="1" dirty="0" err="1"/>
              <a:t>hourlyRate</a:t>
            </a:r>
            <a:r>
              <a:rPr lang="en-US" sz="1800" b="1" dirty="0"/>
              <a:t> )</a:t>
            </a:r>
          </a:p>
          <a:p>
            <a:pPr marL="457200" lvl="1" indent="0" eaLnBrk="1" hangingPunct="1">
              <a:buNone/>
            </a:pPr>
            <a:r>
              <a:rPr lang="en-US" sz="1800" b="1" dirty="0"/>
              <a:t>{</a:t>
            </a:r>
          </a:p>
          <a:p>
            <a:pPr marL="457200" lvl="1" indent="0" eaLnBrk="1" hangingPunct="1">
              <a:buNone/>
            </a:pPr>
            <a:r>
              <a:rPr lang="en-US" sz="1800" dirty="0">
                <a:solidFill>
                  <a:srgbClr val="008080"/>
                </a:solidFill>
              </a:rPr>
              <a:t>// </a:t>
            </a:r>
            <a:r>
              <a:rPr lang="en-US" sz="1800" dirty="0" err="1">
                <a:solidFill>
                  <a:srgbClr val="008080"/>
                </a:solidFill>
              </a:rPr>
              <a:t>hoursWorked</a:t>
            </a:r>
            <a:r>
              <a:rPr lang="en-US" sz="1800" dirty="0">
                <a:solidFill>
                  <a:srgbClr val="008080"/>
                </a:solidFill>
              </a:rPr>
              <a:t> and </a:t>
            </a:r>
            <a:r>
              <a:rPr lang="en-US" sz="1800" dirty="0" err="1">
                <a:solidFill>
                  <a:srgbClr val="008080"/>
                </a:solidFill>
              </a:rPr>
              <a:t>hourlyRate</a:t>
            </a:r>
            <a:endParaRPr lang="en-US" sz="1800" dirty="0">
              <a:solidFill>
                <a:srgbClr val="008080"/>
              </a:solidFill>
            </a:endParaRPr>
          </a:p>
          <a:p>
            <a:pPr marL="457200" lvl="1" indent="0" eaLnBrk="1" hangingPunct="1">
              <a:buNone/>
            </a:pPr>
            <a:r>
              <a:rPr lang="en-US" sz="1800" dirty="0">
                <a:solidFill>
                  <a:srgbClr val="008080"/>
                </a:solidFill>
              </a:rPr>
              <a:t>// are local variable here statements</a:t>
            </a:r>
          </a:p>
          <a:p>
            <a:pPr marL="457200" lvl="1" indent="0" eaLnBrk="1" hangingPunct="1">
              <a:buNone/>
            </a:pPr>
            <a:r>
              <a:rPr lang="en-US" sz="1800" dirty="0"/>
              <a:t>}</a:t>
            </a:r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666750" y="2339752"/>
            <a:ext cx="61912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0033CC"/>
                </a:solidFill>
              </a:rPr>
              <a:t>private  </a:t>
            </a:r>
            <a:r>
              <a:rPr lang="en-US" sz="2000" b="1" dirty="0">
                <a:solidFill>
                  <a:srgbClr val="0033CC"/>
                </a:solidFill>
              </a:rPr>
              <a:t>void </a:t>
            </a:r>
            <a:r>
              <a:rPr lang="en-US" sz="2000" b="1" dirty="0" err="1"/>
              <a:t>MethodName</a:t>
            </a:r>
            <a:r>
              <a:rPr lang="en-US" sz="2000" b="1" dirty="0"/>
              <a:t>(</a:t>
            </a:r>
            <a:r>
              <a:rPr lang="en-US" sz="2000" b="1" i="1" dirty="0">
                <a:solidFill>
                  <a:srgbClr val="FF0000"/>
                </a:solidFill>
              </a:rPr>
              <a:t>parameters</a:t>
            </a:r>
            <a:r>
              <a:rPr lang="en-US" sz="2000" b="1" dirty="0"/>
              <a:t>)</a:t>
            </a:r>
            <a:endParaRPr lang="en-GB" sz="2000" b="1" dirty="0"/>
          </a:p>
        </p:txBody>
      </p:sp>
      <p:sp>
        <p:nvSpPr>
          <p:cNvPr id="2" name="Rounded Rectangular Callout 1"/>
          <p:cNvSpPr/>
          <p:nvPr/>
        </p:nvSpPr>
        <p:spPr>
          <a:xfrm>
            <a:off x="1700808" y="7740352"/>
            <a:ext cx="4896544" cy="576064"/>
          </a:xfrm>
          <a:prstGeom prst="wedgeRoundRectCallout">
            <a:avLst>
              <a:gd name="adj1" fmla="val 23006"/>
              <a:gd name="adj2" fmla="val -226919"/>
              <a:gd name="adj3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2">
                    <a:lumMod val="75000"/>
                    <a:lumOff val="25000"/>
                  </a:schemeClr>
                </a:solidFill>
              </a:rPr>
              <a:t>Parameters are </a:t>
            </a:r>
            <a:r>
              <a:rPr lang="en-GB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hoursWorked</a:t>
            </a:r>
            <a:r>
              <a:rPr lang="en-GB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and </a:t>
            </a:r>
            <a:r>
              <a:rPr lang="en-GB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hourlyRate</a:t>
            </a:r>
            <a:endParaRPr lang="en-SG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3284984" y="5652120"/>
            <a:ext cx="3312368" cy="432048"/>
          </a:xfrm>
          <a:prstGeom prst="wedgeRoundRectCallout">
            <a:avLst>
              <a:gd name="adj1" fmla="val -58423"/>
              <a:gd name="adj2" fmla="val 46249"/>
              <a:gd name="adj3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bg2">
                    <a:lumMod val="75000"/>
                    <a:lumOff val="25000"/>
                  </a:schemeClr>
                </a:solidFill>
              </a:rPr>
              <a:t>GetPay</a:t>
            </a:r>
            <a:r>
              <a:rPr lang="en-GB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is the method name</a:t>
            </a:r>
            <a:endParaRPr lang="en-SG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67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8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78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78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785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785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785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2785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2785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27853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27853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/>
              <a:t>Method Execution with arguments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7839" y="2051050"/>
            <a:ext cx="6151562" cy="5689302"/>
          </a:xfrm>
        </p:spPr>
        <p:txBody>
          <a:bodyPr/>
          <a:lstStyle/>
          <a:p>
            <a:pPr eaLnBrk="1" hangingPunct="1"/>
            <a:r>
              <a:rPr lang="en-US" sz="1800" dirty="0"/>
              <a:t>When the method is executed or called, the values passed into the method are known as arguments:</a:t>
            </a:r>
          </a:p>
          <a:p>
            <a:pPr eaLnBrk="1" hangingPunct="1"/>
            <a:endParaRPr lang="en-US" sz="1800" dirty="0"/>
          </a:p>
          <a:p>
            <a:pPr lvl="1" eaLnBrk="1" hangingPunct="1">
              <a:buSzPct val="85000"/>
              <a:buFontTx/>
              <a:buNone/>
            </a:pPr>
            <a:r>
              <a:rPr lang="en-US" sz="1800" dirty="0">
                <a:solidFill>
                  <a:srgbClr val="0033CC"/>
                </a:solidFill>
                <a:latin typeface="Lucida Console" pitchFamily="49" charset="0"/>
              </a:rPr>
              <a:t>Private void </a:t>
            </a:r>
            <a:r>
              <a:rPr lang="en-US" sz="1800" dirty="0">
                <a:latin typeface="Verdana" pitchFamily="34" charset="0"/>
              </a:rPr>
              <a:t>Method1()</a:t>
            </a:r>
          </a:p>
          <a:p>
            <a:pPr lvl="1" eaLnBrk="1" hangingPunct="1">
              <a:buSzPct val="85000"/>
              <a:buFontTx/>
              <a:buNone/>
            </a:pPr>
            <a:r>
              <a:rPr lang="en-US" sz="1800" dirty="0">
                <a:solidFill>
                  <a:srgbClr val="FF0000"/>
                </a:solidFill>
                <a:latin typeface="Lucida Console" pitchFamily="49" charset="0"/>
              </a:rPr>
              <a:t> </a:t>
            </a:r>
            <a:r>
              <a:rPr lang="en-US" sz="1800" dirty="0">
                <a:latin typeface="Lucida Console" pitchFamily="49" charset="0"/>
              </a:rPr>
              <a:t>{</a:t>
            </a:r>
          </a:p>
          <a:p>
            <a:pPr lvl="1" eaLnBrk="1" hangingPunct="1">
              <a:buSzPct val="85000"/>
              <a:buFontTx/>
              <a:buNone/>
            </a:pPr>
            <a:r>
              <a:rPr lang="en-US" sz="1800" dirty="0">
                <a:latin typeface="Lucida Console" pitchFamily="49" charset="0"/>
              </a:rPr>
              <a:t>		… //Method1 calls Method2</a:t>
            </a:r>
          </a:p>
          <a:p>
            <a:pPr lvl="1" eaLnBrk="1" hangingPunct="1">
              <a:buSzPct val="85000"/>
              <a:buFontTx/>
              <a:buNone/>
            </a:pPr>
            <a:r>
              <a:rPr lang="en-US" sz="1800" dirty="0">
                <a:latin typeface="Lucida Console" pitchFamily="49" charset="0"/>
              </a:rPr>
              <a:t>		Method2(</a:t>
            </a:r>
            <a:r>
              <a:rPr lang="en-US" sz="1800" dirty="0">
                <a:solidFill>
                  <a:srgbClr val="FF0000"/>
                </a:solidFill>
                <a:latin typeface="Lucida Console" pitchFamily="49" charset="0"/>
              </a:rPr>
              <a:t>arguments</a:t>
            </a:r>
            <a:r>
              <a:rPr lang="en-US" sz="1800" dirty="0">
                <a:latin typeface="Lucida Console" pitchFamily="49" charset="0"/>
              </a:rPr>
              <a:t>);</a:t>
            </a:r>
          </a:p>
          <a:p>
            <a:pPr lvl="1" eaLnBrk="1" hangingPunct="1">
              <a:buSzPct val="85000"/>
              <a:buFontTx/>
              <a:buNone/>
            </a:pPr>
            <a:r>
              <a:rPr lang="en-US" sz="1800" dirty="0">
                <a:latin typeface="Lucida Console" pitchFamily="49" charset="0"/>
              </a:rPr>
              <a:t>		…</a:t>
            </a:r>
          </a:p>
          <a:p>
            <a:pPr lvl="1" eaLnBrk="1" hangingPunct="1">
              <a:buSzPct val="85000"/>
              <a:buFontTx/>
              <a:buNone/>
            </a:pPr>
            <a:r>
              <a:rPr lang="en-US" sz="1800" dirty="0">
                <a:latin typeface="Lucida Console" pitchFamily="49" charset="0"/>
              </a:rPr>
              <a:t> }</a:t>
            </a:r>
          </a:p>
          <a:p>
            <a:pPr eaLnBrk="1" hangingPunct="1"/>
            <a:r>
              <a:rPr lang="en-US" sz="1800" i="1" dirty="0">
                <a:solidFill>
                  <a:srgbClr val="FF0000"/>
                </a:solidFill>
              </a:rPr>
              <a:t>These arguments must be of the same data type as the parameters defined in the method. Hence </a:t>
            </a:r>
            <a:r>
              <a:rPr lang="en-US" sz="1800" b="1" dirty="0" err="1">
                <a:solidFill>
                  <a:srgbClr val="0033CC"/>
                </a:solidFill>
              </a:rPr>
              <a:t>hourClocked</a:t>
            </a:r>
            <a:r>
              <a:rPr lang="en-US" sz="1800" b="1" dirty="0">
                <a:solidFill>
                  <a:srgbClr val="0033CC"/>
                </a:solidFill>
              </a:rPr>
              <a:t>, 10.5</a:t>
            </a:r>
            <a:r>
              <a:rPr lang="en-US" sz="1800" dirty="0">
                <a:solidFill>
                  <a:srgbClr val="0033CC"/>
                </a:solidFill>
              </a:rPr>
              <a:t> are both </a:t>
            </a:r>
            <a:r>
              <a:rPr lang="en-US" sz="1800" u="sng" dirty="0">
                <a:solidFill>
                  <a:srgbClr val="0033CC"/>
                </a:solidFill>
              </a:rPr>
              <a:t>double</a:t>
            </a:r>
            <a:r>
              <a:rPr lang="en-US" sz="1800" dirty="0">
                <a:solidFill>
                  <a:srgbClr val="0033CC"/>
                </a:solidFill>
              </a:rPr>
              <a:t> type</a:t>
            </a:r>
            <a:endParaRPr lang="en-US" sz="1800" i="1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endParaRPr lang="en-US" sz="1800" i="1" dirty="0">
              <a:solidFill>
                <a:srgbClr val="FF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1800" dirty="0"/>
              <a:t>	</a:t>
            </a:r>
            <a:r>
              <a:rPr lang="en-US" sz="1800" dirty="0" err="1"/>
              <a:t>GetPay</a:t>
            </a:r>
            <a:r>
              <a:rPr lang="en-US" sz="1800" b="1" dirty="0"/>
              <a:t>( </a:t>
            </a:r>
            <a:r>
              <a:rPr lang="en-US" sz="1800" b="1" dirty="0" err="1">
                <a:solidFill>
                  <a:srgbClr val="0033CC"/>
                </a:solidFill>
              </a:rPr>
              <a:t>hourClocked</a:t>
            </a:r>
            <a:r>
              <a:rPr lang="en-US" sz="1800" b="1" dirty="0">
                <a:solidFill>
                  <a:srgbClr val="0033CC"/>
                </a:solidFill>
              </a:rPr>
              <a:t>, 10.5</a:t>
            </a:r>
            <a:r>
              <a:rPr lang="en-US" sz="1800" dirty="0">
                <a:solidFill>
                  <a:srgbClr val="0033CC"/>
                </a:solidFill>
              </a:rPr>
              <a:t> </a:t>
            </a:r>
            <a:r>
              <a:rPr lang="en-US" sz="1800" b="1" dirty="0"/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sz="1800" b="1" dirty="0"/>
          </a:p>
        </p:txBody>
      </p:sp>
      <p:sp>
        <p:nvSpPr>
          <p:cNvPr id="9220" name="Line 4"/>
          <p:cNvSpPr>
            <a:spLocks noChangeShapeType="1"/>
          </p:cNvSpPr>
          <p:nvPr/>
        </p:nvSpPr>
        <p:spPr bwMode="auto">
          <a:xfrm flipH="1">
            <a:off x="3789039" y="2627785"/>
            <a:ext cx="1080117" cy="144015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3829" name="Rectangle 5"/>
          <p:cNvSpPr>
            <a:spLocks noChangeArrowheads="1"/>
          </p:cNvSpPr>
          <p:nvPr/>
        </p:nvSpPr>
        <p:spPr bwMode="auto">
          <a:xfrm>
            <a:off x="188640" y="6876256"/>
            <a:ext cx="6369050" cy="88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44500" indent="-444500"/>
            <a:r>
              <a:rPr lang="en-GB" sz="2800" b="1" dirty="0">
                <a:solidFill>
                  <a:srgbClr val="FF0000"/>
                </a:solidFill>
                <a:sym typeface="Wingdings" pitchFamily="2" charset="2"/>
              </a:rPr>
              <a:t> </a:t>
            </a:r>
            <a:r>
              <a:rPr lang="en-GB" sz="2400" dirty="0"/>
              <a:t>When passing argument, only </a:t>
            </a:r>
            <a:r>
              <a:rPr lang="en-GB" sz="2400" b="1" dirty="0">
                <a:solidFill>
                  <a:schemeClr val="bg2">
                    <a:lumMod val="75000"/>
                    <a:lumOff val="25000"/>
                  </a:schemeClr>
                </a:solidFill>
              </a:rPr>
              <a:t>values</a:t>
            </a:r>
            <a:r>
              <a:rPr lang="en-GB" sz="2400" dirty="0"/>
              <a:t> are copied into the method.</a:t>
            </a:r>
            <a:endParaRPr lang="en-US" sz="2400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620688" y="8100392"/>
            <a:ext cx="5688632" cy="576064"/>
          </a:xfrm>
          <a:prstGeom prst="wedgeRoundRectCallout">
            <a:avLst>
              <a:gd name="adj1" fmla="val -35840"/>
              <a:gd name="adj2" fmla="val -106947"/>
              <a:gd name="adj3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hourClocked</a:t>
            </a:r>
            <a:r>
              <a:rPr lang="en-GB" dirty="0">
                <a:solidFill>
                  <a:schemeClr val="tx1"/>
                </a:solidFill>
              </a:rPr>
              <a:t> value is copied to  </a:t>
            </a:r>
            <a:r>
              <a:rPr lang="en-GB" dirty="0" err="1">
                <a:solidFill>
                  <a:schemeClr val="tx1"/>
                </a:solidFill>
              </a:rPr>
              <a:t>hoursWorked</a:t>
            </a:r>
            <a:r>
              <a:rPr lang="en-GB" dirty="0">
                <a:solidFill>
                  <a:schemeClr val="tx1"/>
                </a:solidFill>
              </a:rPr>
              <a:t> and 10.5 is copied to </a:t>
            </a:r>
            <a:r>
              <a:rPr lang="en-GB" dirty="0" err="1">
                <a:solidFill>
                  <a:schemeClr val="tx1"/>
                </a:solidFill>
              </a:rPr>
              <a:t>hourlyRate</a:t>
            </a:r>
            <a:endParaRPr lang="en-SG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3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animClr clrSpc="rgb" dir="cw">
                                      <p:cBhvr>
                                        <p:cTn id="7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" dur="3000" fill="hold"/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3000" fill="hold"/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10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</p:cBhvr>
                                      <p:from x="100000" y="100000"/>
                                      <p:to x="10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9" grpId="0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/>
          <p:cNvSpPr txBox="1">
            <a:spLocks noChangeArrowheads="1"/>
          </p:cNvSpPr>
          <p:nvPr/>
        </p:nvSpPr>
        <p:spPr bwMode="auto">
          <a:xfrm>
            <a:off x="368301" y="2127223"/>
            <a:ext cx="3132137" cy="5853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 dirty="0">
                <a:solidFill>
                  <a:srgbClr val="0033CC"/>
                </a:solidFill>
                <a:latin typeface="Lucida Console" pitchFamily="49" charset="0"/>
              </a:rPr>
              <a:t>Private void</a:t>
            </a:r>
            <a:r>
              <a:rPr lang="en-GB" sz="1600" dirty="0">
                <a:latin typeface="Lucida Console" pitchFamily="49" charset="0"/>
              </a:rPr>
              <a:t> </a:t>
            </a:r>
            <a:r>
              <a:rPr lang="en-GB" sz="1600" dirty="0" err="1">
                <a:latin typeface="Lucida Console" pitchFamily="49" charset="0"/>
              </a:rPr>
              <a:t>MethodA</a:t>
            </a:r>
            <a:r>
              <a:rPr lang="en-GB" sz="1600" dirty="0">
                <a:latin typeface="Lucida Console" pitchFamily="49" charset="0"/>
              </a:rPr>
              <a:t>()</a:t>
            </a:r>
          </a:p>
          <a:p>
            <a:pPr>
              <a:spcBef>
                <a:spcPct val="20000"/>
              </a:spcBef>
            </a:pPr>
            <a:r>
              <a:rPr lang="en-GB" sz="1600" dirty="0">
                <a:latin typeface="Lucida Console" pitchFamily="49" charset="0"/>
              </a:rPr>
              <a:t>{</a:t>
            </a:r>
          </a:p>
          <a:p>
            <a:pPr>
              <a:spcBef>
                <a:spcPct val="20000"/>
              </a:spcBef>
            </a:pPr>
            <a:r>
              <a:rPr lang="en-GB" sz="1600" dirty="0">
                <a:solidFill>
                  <a:srgbClr val="0033CC"/>
                </a:solidFill>
                <a:latin typeface="Lucida Console" pitchFamily="49" charset="0"/>
              </a:rPr>
              <a:t>   </a:t>
            </a:r>
            <a:r>
              <a:rPr lang="en-GB" sz="1600" dirty="0" err="1">
                <a:solidFill>
                  <a:srgbClr val="0033CC"/>
                </a:solidFill>
                <a:latin typeface="Lucida Console" pitchFamily="49" charset="0"/>
              </a:rPr>
              <a:t>int</a:t>
            </a:r>
            <a:r>
              <a:rPr lang="en-GB" sz="1600" dirty="0">
                <a:latin typeface="Lucida Console" pitchFamily="49" charset="0"/>
              </a:rPr>
              <a:t> mark1, mark2;</a:t>
            </a:r>
          </a:p>
          <a:p>
            <a:endParaRPr lang="en-GB" sz="1600" dirty="0">
              <a:latin typeface="Lucida Console" pitchFamily="49" charset="0"/>
            </a:endParaRPr>
          </a:p>
          <a:p>
            <a:r>
              <a:rPr lang="en-GB" sz="1600" dirty="0">
                <a:latin typeface="Lucida Console" pitchFamily="49" charset="0"/>
              </a:rPr>
              <a:t>  mark1=</a:t>
            </a:r>
            <a:r>
              <a:rPr lang="en-GB" sz="1600" dirty="0" err="1">
                <a:latin typeface="Lucida Console" pitchFamily="49" charset="0"/>
              </a:rPr>
              <a:t>int.Parse</a:t>
            </a:r>
            <a:r>
              <a:rPr lang="en-GB" sz="1600" dirty="0">
                <a:latin typeface="Lucida Console" pitchFamily="49" charset="0"/>
              </a:rPr>
              <a:t>(</a:t>
            </a:r>
          </a:p>
          <a:p>
            <a:r>
              <a:rPr lang="en-GB" sz="1600" dirty="0">
                <a:latin typeface="Lucida Console" pitchFamily="49" charset="0"/>
              </a:rPr>
              <a:t>    </a:t>
            </a:r>
            <a:r>
              <a:rPr lang="en-GB" sz="1600" dirty="0">
                <a:solidFill>
                  <a:srgbClr val="008080"/>
                </a:solidFill>
                <a:latin typeface="Lucida Console" pitchFamily="49" charset="0"/>
              </a:rPr>
              <a:t>txtmark1.Text</a:t>
            </a:r>
            <a:r>
              <a:rPr lang="en-GB" sz="1600" dirty="0">
                <a:latin typeface="Lucida Console" pitchFamily="49" charset="0"/>
              </a:rPr>
              <a:t>));</a:t>
            </a:r>
          </a:p>
          <a:p>
            <a:r>
              <a:rPr lang="en-GB" sz="1600" dirty="0">
                <a:latin typeface="Lucida Console" pitchFamily="49" charset="0"/>
              </a:rPr>
              <a:t>  mark2=</a:t>
            </a:r>
            <a:r>
              <a:rPr lang="en-GB" sz="1600" dirty="0" err="1">
                <a:latin typeface="Lucida Console" pitchFamily="49" charset="0"/>
              </a:rPr>
              <a:t>int.Parse</a:t>
            </a:r>
            <a:r>
              <a:rPr lang="en-GB" sz="1600" dirty="0">
                <a:latin typeface="Lucida Console" pitchFamily="49" charset="0"/>
              </a:rPr>
              <a:t>(</a:t>
            </a:r>
          </a:p>
          <a:p>
            <a:r>
              <a:rPr lang="en-GB" sz="1600" dirty="0">
                <a:latin typeface="Lucida Console" pitchFamily="49" charset="0"/>
              </a:rPr>
              <a:t>	txtmark2.Text);</a:t>
            </a:r>
          </a:p>
          <a:p>
            <a:pPr>
              <a:spcBef>
                <a:spcPct val="20000"/>
              </a:spcBef>
            </a:pPr>
            <a:r>
              <a:rPr lang="en-GB" sz="1600" dirty="0"/>
              <a:t>  </a:t>
            </a:r>
          </a:p>
          <a:p>
            <a:pPr>
              <a:spcBef>
                <a:spcPct val="20000"/>
              </a:spcBef>
            </a:pPr>
            <a:r>
              <a:rPr lang="en-GB" sz="1600" dirty="0"/>
              <a:t>   </a:t>
            </a:r>
            <a:r>
              <a:rPr lang="en-GB" sz="1500" b="1" dirty="0" err="1"/>
              <a:t>FindMax</a:t>
            </a:r>
            <a:r>
              <a:rPr lang="en-GB" sz="1500" b="1" dirty="0"/>
              <a:t>(mark1,mark2);</a:t>
            </a:r>
            <a:r>
              <a:rPr lang="en-GB" sz="1600" dirty="0"/>
              <a:t> </a:t>
            </a:r>
          </a:p>
          <a:p>
            <a:pPr>
              <a:spcBef>
                <a:spcPct val="20000"/>
              </a:spcBef>
            </a:pPr>
            <a:r>
              <a:rPr lang="en-GB" sz="1600" dirty="0"/>
              <a:t>}</a:t>
            </a:r>
          </a:p>
          <a:p>
            <a:pPr>
              <a:spcBef>
                <a:spcPct val="20000"/>
              </a:spcBef>
            </a:pPr>
            <a:endParaRPr lang="en-GB" sz="1600" dirty="0"/>
          </a:p>
          <a:p>
            <a:r>
              <a:rPr lang="en-GB" sz="1600" dirty="0">
                <a:solidFill>
                  <a:srgbClr val="0033CC"/>
                </a:solidFill>
              </a:rPr>
              <a:t>Private void</a:t>
            </a:r>
            <a:r>
              <a:rPr lang="en-GB" sz="1600" dirty="0"/>
              <a:t> </a:t>
            </a:r>
            <a:r>
              <a:rPr lang="en-GB" sz="1600" dirty="0" err="1"/>
              <a:t>FindMax</a:t>
            </a:r>
            <a:r>
              <a:rPr lang="en-GB" sz="1600" dirty="0"/>
              <a:t> ( </a:t>
            </a:r>
          </a:p>
          <a:p>
            <a:r>
              <a:rPr lang="en-GB" sz="1600" dirty="0"/>
              <a:t>        </a:t>
            </a:r>
            <a:r>
              <a:rPr lang="en-GB" sz="1600" dirty="0">
                <a:solidFill>
                  <a:srgbClr val="0033CC"/>
                </a:solidFill>
              </a:rPr>
              <a:t> </a:t>
            </a:r>
            <a:r>
              <a:rPr lang="en-GB" sz="1600" b="1" dirty="0" err="1">
                <a:solidFill>
                  <a:srgbClr val="0033CC"/>
                </a:solidFill>
              </a:rPr>
              <a:t>int</a:t>
            </a:r>
            <a:r>
              <a:rPr lang="en-GB" sz="1600" dirty="0"/>
              <a:t> num1,</a:t>
            </a:r>
            <a:r>
              <a:rPr lang="en-GB" sz="1600" dirty="0">
                <a:solidFill>
                  <a:srgbClr val="0033CC"/>
                </a:solidFill>
              </a:rPr>
              <a:t> </a:t>
            </a:r>
            <a:r>
              <a:rPr lang="en-GB" sz="1600" b="1" dirty="0" err="1">
                <a:solidFill>
                  <a:srgbClr val="0033CC"/>
                </a:solidFill>
              </a:rPr>
              <a:t>int</a:t>
            </a:r>
            <a:r>
              <a:rPr lang="en-GB" sz="1600" dirty="0"/>
              <a:t> num2)</a:t>
            </a:r>
          </a:p>
          <a:p>
            <a:r>
              <a:rPr lang="en-GB" sz="1600" dirty="0"/>
              <a:t>{ </a:t>
            </a:r>
          </a:p>
          <a:p>
            <a:r>
              <a:rPr lang="en-GB" sz="1600" dirty="0"/>
              <a:t>   </a:t>
            </a:r>
            <a:r>
              <a:rPr lang="en-GB" sz="1600" dirty="0" err="1">
                <a:solidFill>
                  <a:srgbClr val="0033CC"/>
                </a:solidFill>
              </a:rPr>
              <a:t>int</a:t>
            </a:r>
            <a:r>
              <a:rPr lang="en-GB" sz="1600" dirty="0"/>
              <a:t> max = num1;</a:t>
            </a:r>
          </a:p>
          <a:p>
            <a:r>
              <a:rPr lang="en-GB" sz="1600" dirty="0"/>
              <a:t>   </a:t>
            </a:r>
            <a:r>
              <a:rPr lang="en-GB" sz="1600" dirty="0">
                <a:solidFill>
                  <a:srgbClr val="0033CC"/>
                </a:solidFill>
              </a:rPr>
              <a:t>if</a:t>
            </a:r>
            <a:r>
              <a:rPr lang="en-GB" sz="1600" dirty="0"/>
              <a:t> ( num2 &gt; max)</a:t>
            </a:r>
          </a:p>
          <a:p>
            <a:r>
              <a:rPr lang="en-GB" sz="1600" dirty="0"/>
              <a:t>         max = num2;</a:t>
            </a:r>
          </a:p>
          <a:p>
            <a:r>
              <a:rPr lang="en-GB" sz="1600" dirty="0"/>
              <a:t>  </a:t>
            </a:r>
            <a:r>
              <a:rPr lang="en-GB" sz="1600" dirty="0" err="1">
                <a:solidFill>
                  <a:srgbClr val="008080"/>
                </a:solidFill>
              </a:rPr>
              <a:t>MessageBox.Show</a:t>
            </a:r>
            <a:r>
              <a:rPr lang="en-GB" sz="1600" dirty="0"/>
              <a:t> </a:t>
            </a:r>
          </a:p>
          <a:p>
            <a:r>
              <a:rPr lang="en-GB" sz="1600" dirty="0"/>
              <a:t>    (“maximum=” + max);</a:t>
            </a:r>
          </a:p>
          <a:p>
            <a:r>
              <a:rPr lang="en-GB" sz="1600" dirty="0"/>
              <a:t>}</a:t>
            </a:r>
          </a:p>
          <a:p>
            <a:pPr>
              <a:spcBef>
                <a:spcPct val="20000"/>
              </a:spcBef>
            </a:pPr>
            <a:endParaRPr lang="en-GB" sz="1600" dirty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251520"/>
            <a:ext cx="5829300" cy="1512167"/>
          </a:xfrm>
          <a:noFill/>
        </p:spPr>
        <p:txBody>
          <a:bodyPr/>
          <a:lstStyle/>
          <a:p>
            <a:pPr eaLnBrk="1" hangingPunct="1"/>
            <a:r>
              <a:rPr lang="en-US" sz="2400" dirty="0"/>
              <a:t>Example #1 </a:t>
            </a:r>
            <a:br>
              <a:rPr lang="en-US" sz="3200" dirty="0"/>
            </a:br>
            <a:r>
              <a:rPr lang="en-US" sz="3200" dirty="0"/>
              <a:t>Method with parameter - </a:t>
            </a:r>
            <a:r>
              <a:rPr lang="en-US" sz="3200" dirty="0" err="1"/>
              <a:t>FindMax</a:t>
            </a:r>
            <a:endParaRPr lang="en-GB" sz="3200" dirty="0"/>
          </a:p>
        </p:txBody>
      </p:sp>
      <p:sp>
        <p:nvSpPr>
          <p:cNvPr id="316420" name="Text Box 4"/>
          <p:cNvSpPr txBox="1">
            <a:spLocks noChangeArrowheads="1"/>
          </p:cNvSpPr>
          <p:nvPr/>
        </p:nvSpPr>
        <p:spPr bwMode="auto">
          <a:xfrm>
            <a:off x="3590925" y="2266950"/>
            <a:ext cx="3267075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/>
              <a:t>(1) User enters 2 marks. Data is stored into mark1, mark2</a:t>
            </a:r>
          </a:p>
        </p:txBody>
      </p:sp>
      <p:sp>
        <p:nvSpPr>
          <p:cNvPr id="316421" name="Text Box 5"/>
          <p:cNvSpPr txBox="1">
            <a:spLocks noChangeArrowheads="1"/>
          </p:cNvSpPr>
          <p:nvPr/>
        </p:nvSpPr>
        <p:spPr bwMode="auto">
          <a:xfrm>
            <a:off x="3590925" y="3321050"/>
            <a:ext cx="32670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/>
              <a:t>(2) </a:t>
            </a:r>
            <a:r>
              <a:rPr lang="en-US" sz="1600" dirty="0" err="1"/>
              <a:t>MethodA</a:t>
            </a:r>
            <a:r>
              <a:rPr lang="en-US" sz="1600" dirty="0"/>
              <a:t> calls </a:t>
            </a:r>
            <a:r>
              <a:rPr lang="en-US" sz="1600" dirty="0" err="1"/>
              <a:t>FindMax</a:t>
            </a:r>
            <a:r>
              <a:rPr lang="en-US" sz="1600" dirty="0"/>
              <a:t>() and passes in mark1, mark2   </a:t>
            </a:r>
          </a:p>
        </p:txBody>
      </p:sp>
      <p:sp>
        <p:nvSpPr>
          <p:cNvPr id="316422" name="Text Box 6"/>
          <p:cNvSpPr txBox="1">
            <a:spLocks noChangeArrowheads="1"/>
          </p:cNvSpPr>
          <p:nvPr/>
        </p:nvSpPr>
        <p:spPr bwMode="auto">
          <a:xfrm>
            <a:off x="3501008" y="6203950"/>
            <a:ext cx="3213100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>
                <a:solidFill>
                  <a:srgbClr val="008080"/>
                </a:solidFill>
              </a:rPr>
              <a:t>(3) A copy of values of mark1 and mark2 is passed to num1 and num2</a:t>
            </a:r>
          </a:p>
        </p:txBody>
      </p:sp>
      <p:sp>
        <p:nvSpPr>
          <p:cNvPr id="316423" name="Line 7"/>
          <p:cNvSpPr>
            <a:spLocks noChangeShapeType="1"/>
          </p:cNvSpPr>
          <p:nvPr/>
        </p:nvSpPr>
        <p:spPr bwMode="auto">
          <a:xfrm flipH="1">
            <a:off x="1989137" y="4788024"/>
            <a:ext cx="0" cy="8636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6424" name="Line 8"/>
          <p:cNvSpPr>
            <a:spLocks noChangeShapeType="1"/>
          </p:cNvSpPr>
          <p:nvPr/>
        </p:nvSpPr>
        <p:spPr bwMode="auto">
          <a:xfrm>
            <a:off x="2924175" y="4788024"/>
            <a:ext cx="0" cy="863600"/>
          </a:xfrm>
          <a:prstGeom prst="line">
            <a:avLst/>
          </a:prstGeom>
          <a:noFill/>
          <a:ln w="9525">
            <a:solidFill>
              <a:srgbClr val="80008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6425" name="Rectangle 9"/>
          <p:cNvSpPr>
            <a:spLocks noChangeArrowheads="1"/>
          </p:cNvSpPr>
          <p:nvPr/>
        </p:nvSpPr>
        <p:spPr bwMode="auto">
          <a:xfrm>
            <a:off x="4238625" y="4281488"/>
            <a:ext cx="647700" cy="481012"/>
          </a:xfrm>
          <a:prstGeom prst="rect">
            <a:avLst/>
          </a:prstGeom>
          <a:noFill/>
          <a:ln w="9525">
            <a:solidFill>
              <a:srgbClr val="0033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>
                <a:solidFill>
                  <a:srgbClr val="0033CC"/>
                </a:solidFill>
              </a:rPr>
              <a:t>20</a:t>
            </a:r>
          </a:p>
        </p:txBody>
      </p:sp>
      <p:sp>
        <p:nvSpPr>
          <p:cNvPr id="316426" name="Rectangle 10"/>
          <p:cNvSpPr>
            <a:spLocks noChangeArrowheads="1"/>
          </p:cNvSpPr>
          <p:nvPr/>
        </p:nvSpPr>
        <p:spPr bwMode="auto">
          <a:xfrm>
            <a:off x="5643563" y="4281488"/>
            <a:ext cx="647700" cy="481012"/>
          </a:xfrm>
          <a:prstGeom prst="rect">
            <a:avLst/>
          </a:prstGeom>
          <a:noFill/>
          <a:ln w="9525">
            <a:solidFill>
              <a:srgbClr val="0033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>
                <a:solidFill>
                  <a:srgbClr val="0033CC"/>
                </a:solidFill>
              </a:rPr>
              <a:t>18</a:t>
            </a:r>
          </a:p>
        </p:txBody>
      </p:sp>
      <p:sp>
        <p:nvSpPr>
          <p:cNvPr id="316427" name="Rectangle 11"/>
          <p:cNvSpPr>
            <a:spLocks noChangeArrowheads="1"/>
          </p:cNvSpPr>
          <p:nvPr/>
        </p:nvSpPr>
        <p:spPr bwMode="auto">
          <a:xfrm>
            <a:off x="4294188" y="5243513"/>
            <a:ext cx="647700" cy="479425"/>
          </a:xfrm>
          <a:prstGeom prst="rect">
            <a:avLst/>
          </a:prstGeom>
          <a:noFill/>
          <a:ln w="9525">
            <a:solidFill>
              <a:srgbClr val="0033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>
                <a:solidFill>
                  <a:srgbClr val="0033CC"/>
                </a:solidFill>
              </a:rPr>
              <a:t>20</a:t>
            </a:r>
          </a:p>
        </p:txBody>
      </p:sp>
      <p:sp>
        <p:nvSpPr>
          <p:cNvPr id="316428" name="Rectangle 12"/>
          <p:cNvSpPr>
            <a:spLocks noChangeArrowheads="1"/>
          </p:cNvSpPr>
          <p:nvPr/>
        </p:nvSpPr>
        <p:spPr bwMode="auto">
          <a:xfrm>
            <a:off x="5643563" y="5243513"/>
            <a:ext cx="647700" cy="479425"/>
          </a:xfrm>
          <a:prstGeom prst="rect">
            <a:avLst/>
          </a:prstGeom>
          <a:noFill/>
          <a:ln w="9525">
            <a:solidFill>
              <a:srgbClr val="0033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>
                <a:solidFill>
                  <a:srgbClr val="0033CC"/>
                </a:solidFill>
              </a:rPr>
              <a:t>18</a:t>
            </a:r>
          </a:p>
        </p:txBody>
      </p:sp>
      <p:sp>
        <p:nvSpPr>
          <p:cNvPr id="316429" name="Text Box 13"/>
          <p:cNvSpPr txBox="1">
            <a:spLocks noChangeArrowheads="1"/>
          </p:cNvSpPr>
          <p:nvPr/>
        </p:nvSpPr>
        <p:spPr bwMode="auto">
          <a:xfrm>
            <a:off x="4149725" y="3995738"/>
            <a:ext cx="917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0033CC"/>
                </a:solidFill>
              </a:rPr>
              <a:t>mark1</a:t>
            </a:r>
          </a:p>
        </p:txBody>
      </p:sp>
      <p:sp>
        <p:nvSpPr>
          <p:cNvPr id="316430" name="Text Box 14"/>
          <p:cNvSpPr txBox="1">
            <a:spLocks noChangeArrowheads="1"/>
          </p:cNvSpPr>
          <p:nvPr/>
        </p:nvSpPr>
        <p:spPr bwMode="auto">
          <a:xfrm>
            <a:off x="5589588" y="3995738"/>
            <a:ext cx="917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0033CC"/>
                </a:solidFill>
              </a:rPr>
              <a:t>mark2</a:t>
            </a:r>
          </a:p>
        </p:txBody>
      </p:sp>
      <p:sp>
        <p:nvSpPr>
          <p:cNvPr id="316431" name="Text Box 15"/>
          <p:cNvSpPr txBox="1">
            <a:spLocks noChangeArrowheads="1"/>
          </p:cNvSpPr>
          <p:nvPr/>
        </p:nvSpPr>
        <p:spPr bwMode="auto">
          <a:xfrm>
            <a:off x="5589588" y="5724525"/>
            <a:ext cx="7921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0033CC"/>
                </a:solidFill>
              </a:rPr>
              <a:t>num2</a:t>
            </a:r>
          </a:p>
        </p:txBody>
      </p:sp>
      <p:sp>
        <p:nvSpPr>
          <p:cNvPr id="316432" name="Text Box 16"/>
          <p:cNvSpPr txBox="1">
            <a:spLocks noChangeArrowheads="1"/>
          </p:cNvSpPr>
          <p:nvPr/>
        </p:nvSpPr>
        <p:spPr bwMode="auto">
          <a:xfrm>
            <a:off x="4221163" y="5724525"/>
            <a:ext cx="917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0033CC"/>
                </a:solidFill>
              </a:rPr>
              <a:t>num1</a:t>
            </a:r>
          </a:p>
        </p:txBody>
      </p:sp>
      <p:sp>
        <p:nvSpPr>
          <p:cNvPr id="316433" name="Line 17"/>
          <p:cNvSpPr>
            <a:spLocks noChangeShapeType="1"/>
          </p:cNvSpPr>
          <p:nvPr/>
        </p:nvSpPr>
        <p:spPr bwMode="auto">
          <a:xfrm flipH="1">
            <a:off x="4564063" y="4762500"/>
            <a:ext cx="0" cy="382588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6434" name="Line 18"/>
          <p:cNvSpPr>
            <a:spLocks noChangeShapeType="1"/>
          </p:cNvSpPr>
          <p:nvPr/>
        </p:nvSpPr>
        <p:spPr bwMode="auto">
          <a:xfrm flipH="1">
            <a:off x="5967413" y="4762500"/>
            <a:ext cx="0" cy="382588"/>
          </a:xfrm>
          <a:prstGeom prst="line">
            <a:avLst/>
          </a:prstGeom>
          <a:noFill/>
          <a:ln w="9525">
            <a:solidFill>
              <a:srgbClr val="0033CC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6435" name="Text Box 19"/>
          <p:cNvSpPr txBox="1">
            <a:spLocks noChangeArrowheads="1"/>
          </p:cNvSpPr>
          <p:nvPr/>
        </p:nvSpPr>
        <p:spPr bwMode="auto">
          <a:xfrm>
            <a:off x="3501008" y="7164388"/>
            <a:ext cx="32131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/>
              <a:t>(4) </a:t>
            </a:r>
            <a:r>
              <a:rPr lang="en-US" sz="1600" dirty="0" err="1"/>
              <a:t>FindMax</a:t>
            </a:r>
            <a:r>
              <a:rPr lang="en-US" sz="1600" dirty="0"/>
              <a:t>() receives values; calculates &amp; displays the maximum. When it completed, it returns to the </a:t>
            </a:r>
            <a:r>
              <a:rPr lang="en-US" sz="1600" b="1" u="sng" dirty="0"/>
              <a:t>caller</a:t>
            </a:r>
            <a:r>
              <a:rPr lang="en-US" sz="1600" dirty="0"/>
              <a:t>.</a:t>
            </a:r>
          </a:p>
        </p:txBody>
      </p:sp>
      <p:sp>
        <p:nvSpPr>
          <p:cNvPr id="316436" name="Oval 20"/>
          <p:cNvSpPr>
            <a:spLocks noChangeArrowheads="1"/>
          </p:cNvSpPr>
          <p:nvPr/>
        </p:nvSpPr>
        <p:spPr bwMode="auto">
          <a:xfrm>
            <a:off x="404664" y="3347864"/>
            <a:ext cx="269875" cy="385763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16437" name="Oval 21"/>
          <p:cNvSpPr>
            <a:spLocks noChangeArrowheads="1"/>
          </p:cNvSpPr>
          <p:nvPr/>
        </p:nvSpPr>
        <p:spPr bwMode="auto">
          <a:xfrm>
            <a:off x="404664" y="4402262"/>
            <a:ext cx="269875" cy="385762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16438" name="Oval 22"/>
          <p:cNvSpPr>
            <a:spLocks noChangeArrowheads="1"/>
          </p:cNvSpPr>
          <p:nvPr/>
        </p:nvSpPr>
        <p:spPr bwMode="auto">
          <a:xfrm>
            <a:off x="2565400" y="4932040"/>
            <a:ext cx="269875" cy="384175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16439" name="Oval 23"/>
          <p:cNvSpPr>
            <a:spLocks noChangeArrowheads="1"/>
          </p:cNvSpPr>
          <p:nvPr/>
        </p:nvSpPr>
        <p:spPr bwMode="auto">
          <a:xfrm>
            <a:off x="2636838" y="6300788"/>
            <a:ext cx="269875" cy="385762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11288" name="Line 24"/>
          <p:cNvSpPr>
            <a:spLocks noChangeShapeType="1"/>
          </p:cNvSpPr>
          <p:nvPr/>
        </p:nvSpPr>
        <p:spPr bwMode="auto">
          <a:xfrm>
            <a:off x="3500438" y="2051050"/>
            <a:ext cx="0" cy="60483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cxnSp>
        <p:nvCxnSpPr>
          <p:cNvPr id="19" name="Elbow Connector 18"/>
          <p:cNvCxnSpPr/>
          <p:nvPr/>
        </p:nvCxnSpPr>
        <p:spPr>
          <a:xfrm rot="5400000" flipH="1" flipV="1">
            <a:off x="508136" y="4819489"/>
            <a:ext cx="2736304" cy="2673375"/>
          </a:xfrm>
          <a:prstGeom prst="bentConnector3">
            <a:avLst>
              <a:gd name="adj1" fmla="val -3393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65387" y="8172400"/>
            <a:ext cx="1576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Return to caller</a:t>
            </a: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47173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1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16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16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1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1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1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1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20" grpId="0"/>
      <p:bldP spid="316421" grpId="0"/>
      <p:bldP spid="316422" grpId="0"/>
      <p:bldP spid="316423" grpId="0" animBg="1"/>
      <p:bldP spid="316424" grpId="0" animBg="1"/>
      <p:bldP spid="316425" grpId="0" animBg="1"/>
      <p:bldP spid="316426" grpId="0" animBg="1"/>
      <p:bldP spid="316427" grpId="0" animBg="1"/>
      <p:bldP spid="316428" grpId="0" animBg="1"/>
      <p:bldP spid="316429" grpId="0"/>
      <p:bldP spid="316430" grpId="0"/>
      <p:bldP spid="316431" grpId="0"/>
      <p:bldP spid="316432" grpId="0"/>
      <p:bldP spid="316433" grpId="0" animBg="1"/>
      <p:bldP spid="316434" grpId="0" animBg="1"/>
      <p:bldP spid="316435" grpId="0"/>
      <p:bldP spid="316436" grpId="0" animBg="1"/>
      <p:bldP spid="316437" grpId="0" animBg="1"/>
      <p:bldP spid="316438" grpId="0" animBg="1"/>
      <p:bldP spid="316439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20" y="2131962"/>
            <a:ext cx="5829300" cy="6616502"/>
          </a:xfrm>
        </p:spPr>
        <p:txBody>
          <a:bodyPr/>
          <a:lstStyle/>
          <a:p>
            <a:r>
              <a:rPr lang="en-GB" sz="2000" dirty="0"/>
              <a:t>Write a method named </a:t>
            </a:r>
            <a:r>
              <a:rPr lang="en-GB" sz="2000" b="1" dirty="0" err="1"/>
              <a:t>ShowName</a:t>
            </a:r>
            <a:r>
              <a:rPr lang="en-GB" sz="2000" dirty="0"/>
              <a:t>, with </a:t>
            </a:r>
            <a:r>
              <a:rPr lang="en-GB" sz="2000" b="1" dirty="0"/>
              <a:t>one string parameters. </a:t>
            </a:r>
            <a:r>
              <a:rPr lang="en-GB" sz="2000" dirty="0"/>
              <a:t>It should display the supplied name in a message box.</a:t>
            </a:r>
          </a:p>
          <a:p>
            <a:endParaRPr lang="en-GB" sz="2000" dirty="0"/>
          </a:p>
          <a:p>
            <a:r>
              <a:rPr lang="en-GB" sz="2000" dirty="0"/>
              <a:t>Some part of the code is provided, fill in the details: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1800" dirty="0">
                <a:solidFill>
                  <a:schemeClr val="accent2"/>
                </a:solidFill>
              </a:rPr>
              <a:t>// method with no return value,  receives 1 parameters</a:t>
            </a:r>
          </a:p>
          <a:p>
            <a:pPr marL="0" indent="0">
              <a:buNone/>
            </a:pPr>
            <a:r>
              <a:rPr lang="en-GB" sz="1800" dirty="0"/>
              <a:t>private void </a:t>
            </a:r>
            <a:r>
              <a:rPr lang="en-GB" sz="1800" dirty="0" err="1"/>
              <a:t>ShowName</a:t>
            </a:r>
            <a:r>
              <a:rPr lang="en-GB" sz="1800" dirty="0"/>
              <a:t> ( string name )</a:t>
            </a:r>
          </a:p>
          <a:p>
            <a:pPr marL="0" indent="0">
              <a:buNone/>
            </a:pPr>
            <a:r>
              <a:rPr lang="en-GB" sz="1800" dirty="0"/>
              <a:t>{</a:t>
            </a:r>
          </a:p>
          <a:p>
            <a:pPr marL="0" indent="0">
              <a:buNone/>
            </a:pPr>
            <a:r>
              <a:rPr lang="en-GB" sz="1800" dirty="0"/>
              <a:t>	</a:t>
            </a:r>
            <a:r>
              <a:rPr lang="en-GB" sz="1800" dirty="0" err="1"/>
              <a:t>MessageBox.Show</a:t>
            </a:r>
            <a:r>
              <a:rPr lang="en-GB" sz="1800" dirty="0"/>
              <a:t>(“Supplied name is ” +</a:t>
            </a:r>
          </a:p>
          <a:p>
            <a:pPr marL="0" indent="0">
              <a:buNone/>
            </a:pPr>
            <a:r>
              <a:rPr lang="en-GB" sz="1800" dirty="0"/>
              <a:t>		___________);</a:t>
            </a:r>
          </a:p>
          <a:p>
            <a:pPr marL="0" indent="0">
              <a:buNone/>
            </a:pPr>
            <a:r>
              <a:rPr lang="en-GB" sz="1800" dirty="0"/>
              <a:t>}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251520"/>
            <a:ext cx="5829300" cy="1512167"/>
          </a:xfrm>
          <a:noFill/>
        </p:spPr>
        <p:txBody>
          <a:bodyPr/>
          <a:lstStyle/>
          <a:p>
            <a:pPr eaLnBrk="1" hangingPunct="1"/>
            <a:r>
              <a:rPr lang="en-US" sz="2400" dirty="0"/>
              <a:t>Example #2 </a:t>
            </a:r>
            <a:br>
              <a:rPr lang="en-US" sz="3200" dirty="0"/>
            </a:br>
            <a:r>
              <a:rPr lang="en-US" sz="3200" dirty="0"/>
              <a:t>Method with parameter – </a:t>
            </a:r>
            <a:r>
              <a:rPr lang="en-US" sz="3200" dirty="0" err="1"/>
              <a:t>ShowName</a:t>
            </a:r>
            <a:endParaRPr lang="en-GB" sz="3200" dirty="0"/>
          </a:p>
        </p:txBody>
      </p:sp>
      <p:pic>
        <p:nvPicPr>
          <p:cNvPr id="1027" name="Picture 3" descr="C:\Users\tanail\AppData\Local\Microsoft\Windows\Temporary Internet Files\Content.IE5\RXI7DR66\MC900432617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176" y="7020272"/>
            <a:ext cx="1540540" cy="154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287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20" y="2131962"/>
            <a:ext cx="5829300" cy="6616502"/>
          </a:xfrm>
        </p:spPr>
        <p:txBody>
          <a:bodyPr/>
          <a:lstStyle/>
          <a:p>
            <a:r>
              <a:rPr lang="en-GB" sz="2000" dirty="0"/>
              <a:t>Write a method named </a:t>
            </a:r>
            <a:r>
              <a:rPr lang="en-GB" sz="2000" b="1" dirty="0" err="1"/>
              <a:t>DisplayEarnings</a:t>
            </a:r>
            <a:r>
              <a:rPr lang="en-GB" sz="2000" dirty="0"/>
              <a:t>, with </a:t>
            </a:r>
            <a:r>
              <a:rPr lang="en-GB" sz="2000" b="1" dirty="0"/>
              <a:t>two integer parameters </a:t>
            </a:r>
            <a:r>
              <a:rPr lang="en-GB" sz="2000" dirty="0"/>
              <a:t>representing an </a:t>
            </a:r>
            <a:r>
              <a:rPr lang="en-GB" sz="2000" u="sng" dirty="0"/>
              <a:t>employee’s salary</a:t>
            </a:r>
            <a:r>
              <a:rPr lang="en-GB" sz="2000" dirty="0"/>
              <a:t>, and </a:t>
            </a:r>
            <a:r>
              <a:rPr lang="en-GB" sz="2000" u="sng" dirty="0"/>
              <a:t>number of years </a:t>
            </a:r>
            <a:r>
              <a:rPr lang="en-GB" sz="2000" dirty="0"/>
              <a:t>they have worked. The method should display their total earnings in a message box, assuming that they earned the same amount every year</a:t>
            </a:r>
          </a:p>
          <a:p>
            <a:endParaRPr lang="en-GB" sz="2000" dirty="0"/>
          </a:p>
          <a:p>
            <a:r>
              <a:rPr lang="en-GB" sz="2000" dirty="0"/>
              <a:t>Some part of the code is provided, fill in the details: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1800" dirty="0">
                <a:solidFill>
                  <a:schemeClr val="accent2"/>
                </a:solidFill>
              </a:rPr>
              <a:t>// method with no return value,  receives 2 parameters</a:t>
            </a:r>
          </a:p>
          <a:p>
            <a:pPr marL="0" indent="0">
              <a:buNone/>
            </a:pPr>
            <a:r>
              <a:rPr lang="en-GB" sz="1800" dirty="0"/>
              <a:t>private void </a:t>
            </a:r>
            <a:r>
              <a:rPr lang="en-GB" sz="1800" dirty="0" err="1"/>
              <a:t>DisplayEarning</a:t>
            </a:r>
            <a:r>
              <a:rPr lang="en-GB" sz="1800" dirty="0"/>
              <a:t>( </a:t>
            </a:r>
            <a:r>
              <a:rPr lang="en-GB" sz="1800" dirty="0" err="1"/>
              <a:t>int</a:t>
            </a:r>
            <a:r>
              <a:rPr lang="en-GB" sz="1800" dirty="0"/>
              <a:t>  ______,  </a:t>
            </a:r>
            <a:r>
              <a:rPr lang="en-GB" sz="1800" dirty="0" err="1"/>
              <a:t>int</a:t>
            </a:r>
            <a:r>
              <a:rPr lang="en-GB" sz="1800" dirty="0"/>
              <a:t>   ______ )</a:t>
            </a:r>
          </a:p>
          <a:p>
            <a:pPr marL="0" indent="0">
              <a:buNone/>
            </a:pPr>
            <a:r>
              <a:rPr lang="en-GB" sz="1800" dirty="0"/>
              <a:t>{</a:t>
            </a:r>
          </a:p>
          <a:p>
            <a:pPr marL="0" indent="0">
              <a:buNone/>
            </a:pPr>
            <a:r>
              <a:rPr lang="en-GB" sz="1800" dirty="0"/>
              <a:t>	float total;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	total = ________  * ________ ;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	</a:t>
            </a:r>
            <a:r>
              <a:rPr lang="en-GB" sz="1800" dirty="0" err="1"/>
              <a:t>MessageBox.Show</a:t>
            </a:r>
            <a:r>
              <a:rPr lang="en-GB" sz="1800" dirty="0"/>
              <a:t>( </a:t>
            </a:r>
          </a:p>
          <a:p>
            <a:pPr marL="0" indent="0">
              <a:buNone/>
            </a:pPr>
            <a:r>
              <a:rPr lang="en-GB" sz="1800" dirty="0"/>
              <a:t>		“total is” + ___________);</a:t>
            </a:r>
          </a:p>
          <a:p>
            <a:pPr marL="0" indent="0">
              <a:buNone/>
            </a:pPr>
            <a:r>
              <a:rPr lang="en-GB" sz="1800" dirty="0"/>
              <a:t>}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251520"/>
            <a:ext cx="5829300" cy="1512167"/>
          </a:xfrm>
          <a:noFill/>
        </p:spPr>
        <p:txBody>
          <a:bodyPr/>
          <a:lstStyle/>
          <a:p>
            <a:pPr eaLnBrk="1" hangingPunct="1"/>
            <a:r>
              <a:rPr lang="en-US" sz="2400" dirty="0"/>
              <a:t>Example #3 </a:t>
            </a:r>
            <a:br>
              <a:rPr lang="en-US" sz="3200" dirty="0"/>
            </a:br>
            <a:r>
              <a:rPr lang="en-US" sz="3200" dirty="0"/>
              <a:t>Method with parameter – </a:t>
            </a:r>
            <a:r>
              <a:rPr lang="en-US" sz="3200" dirty="0" err="1"/>
              <a:t>DisplayEarning</a:t>
            </a:r>
            <a:endParaRPr lang="en-GB" sz="3200" dirty="0"/>
          </a:p>
        </p:txBody>
      </p:sp>
      <p:pic>
        <p:nvPicPr>
          <p:cNvPr id="1027" name="Picture 3" descr="C:\Users\tanail\AppData\Local\Microsoft\Windows\Temporary Internet Files\Content.IE5\RXI7DR66\MC900432617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176" y="7020272"/>
            <a:ext cx="1540540" cy="154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197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2" y="2123728"/>
            <a:ext cx="5829300" cy="3520158"/>
          </a:xfrm>
        </p:spPr>
        <p:txBody>
          <a:bodyPr/>
          <a:lstStyle/>
          <a:p>
            <a:r>
              <a:rPr lang="en-GB" sz="2000" dirty="0"/>
              <a:t>Try out your </a:t>
            </a:r>
            <a:r>
              <a:rPr lang="en-GB" sz="2000" b="1" dirty="0" err="1"/>
              <a:t>DisplayEarning</a:t>
            </a:r>
            <a:r>
              <a:rPr lang="en-GB" sz="2000" dirty="0"/>
              <a:t>  and </a:t>
            </a:r>
            <a:r>
              <a:rPr lang="en-GB" sz="2000" b="1" dirty="0" err="1"/>
              <a:t>ShowName</a:t>
            </a:r>
            <a:r>
              <a:rPr lang="en-GB" sz="2000" dirty="0"/>
              <a:t> method you have written by building a simple GUI with text boxes, label and message boxes as required. Use a </a:t>
            </a:r>
            <a:r>
              <a:rPr lang="en-GB" sz="2000" b="1" dirty="0"/>
              <a:t>Calculate</a:t>
            </a:r>
            <a:r>
              <a:rPr lang="en-GB" sz="2000" dirty="0"/>
              <a:t> button click to execute your method</a:t>
            </a:r>
          </a:p>
          <a:p>
            <a:r>
              <a:rPr lang="en-GB" sz="2000" dirty="0"/>
              <a:t>Note that </a:t>
            </a:r>
            <a:r>
              <a:rPr lang="en-GB" sz="2000" u="sng" dirty="0"/>
              <a:t>supplier name</a:t>
            </a:r>
            <a:r>
              <a:rPr lang="en-GB" sz="2000" dirty="0"/>
              <a:t> ,  </a:t>
            </a:r>
            <a:r>
              <a:rPr lang="en-GB" sz="2000" u="sng" dirty="0"/>
              <a:t>employee’s salary</a:t>
            </a:r>
            <a:r>
              <a:rPr lang="en-GB" sz="2000" dirty="0"/>
              <a:t>, and </a:t>
            </a:r>
            <a:r>
              <a:rPr lang="en-GB" sz="2000" u="sng" dirty="0"/>
              <a:t>number of years</a:t>
            </a:r>
            <a:r>
              <a:rPr lang="en-GB" sz="2000" b="1" dirty="0"/>
              <a:t> </a:t>
            </a:r>
            <a:r>
              <a:rPr lang="en-GB" sz="2000" dirty="0"/>
              <a:t>values are read from textboxes. </a:t>
            </a:r>
          </a:p>
          <a:p>
            <a:r>
              <a:rPr lang="en-GB" sz="2000" dirty="0"/>
              <a:t>Debug the application and trace how parameters are passed into methods.</a:t>
            </a:r>
            <a:endParaRPr lang="en-SG" sz="200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251520"/>
            <a:ext cx="5829300" cy="1512167"/>
          </a:xfrm>
          <a:noFill/>
        </p:spPr>
        <p:txBody>
          <a:bodyPr/>
          <a:lstStyle/>
          <a:p>
            <a:pPr eaLnBrk="1" hangingPunct="1"/>
            <a:r>
              <a:rPr lang="en-US" sz="2400" dirty="0"/>
              <a:t>Example #4 </a:t>
            </a:r>
            <a:br>
              <a:rPr lang="en-US" sz="3200" dirty="0"/>
            </a:br>
            <a:r>
              <a:rPr lang="en-US" sz="3200" dirty="0"/>
              <a:t>Testing your Method with parameter</a:t>
            </a:r>
            <a:endParaRPr lang="en-GB" sz="3200" dirty="0"/>
          </a:p>
        </p:txBody>
      </p:sp>
      <p:pic>
        <p:nvPicPr>
          <p:cNvPr id="2050" name="Picture 2" descr="C:\Users\tanail\AppData\Local\Microsoft\Windows\Temporary Internet Files\Content.IE5\WOH74YVD\MC90028218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184" y="5787767"/>
            <a:ext cx="1426674" cy="13045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2" name="Picture 1" descr="Form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840" y="5748978"/>
            <a:ext cx="2286198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83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395288"/>
            <a:ext cx="5829300" cy="1597025"/>
          </a:xfrm>
        </p:spPr>
        <p:txBody>
          <a:bodyPr/>
          <a:lstStyle/>
          <a:p>
            <a:pPr eaLnBrk="1" hangingPunct="1"/>
            <a:r>
              <a:rPr lang="en-US"/>
              <a:t>Summary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Methods contains sub-tasks of a program</a:t>
            </a:r>
          </a:p>
          <a:p>
            <a:pPr eaLnBrk="1" hangingPunct="1"/>
            <a:r>
              <a:rPr lang="en-GB" dirty="0"/>
              <a:t>Using a method is termed as calling the method</a:t>
            </a:r>
          </a:p>
          <a:p>
            <a:pPr eaLnBrk="1" hangingPunct="1"/>
            <a:r>
              <a:rPr lang="en-GB" dirty="0"/>
              <a:t>Know how to pass data between methods using parameter passing.</a:t>
            </a:r>
          </a:p>
          <a:p>
            <a:pPr eaLnBrk="1" hangingPunct="1"/>
            <a:r>
              <a:rPr lang="en-GB" dirty="0"/>
              <a:t>Parameters are declared at the method header and not in the method body.</a:t>
            </a:r>
          </a:p>
          <a:p>
            <a:pPr eaLnBrk="1" hangingPunct="1"/>
            <a:r>
              <a:rPr lang="en-GB" dirty="0"/>
              <a:t>We use parameters so that we can avoid using class variables.</a:t>
            </a:r>
          </a:p>
          <a:p>
            <a:pPr eaLnBrk="1" hangingPunct="1"/>
            <a:endParaRPr lang="en-GB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Spot the 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Baveuse" pitchFamily="2" charset="0"/>
              </a:rPr>
              <a:t>ERRORs</a:t>
            </a:r>
            <a:endParaRPr lang="en-SG" dirty="0">
              <a:solidFill>
                <a:schemeClr val="bg2">
                  <a:lumMod val="50000"/>
                  <a:lumOff val="50000"/>
                </a:schemeClr>
              </a:solidFill>
              <a:latin typeface="Baveuse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33600"/>
            <a:ext cx="5829300" cy="5174704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private void  </a:t>
            </a:r>
            <a:r>
              <a:rPr lang="en-GB" sz="1800" dirty="0" err="1"/>
              <a:t>MethodA</a:t>
            </a:r>
            <a:r>
              <a:rPr lang="en-GB" sz="1800" dirty="0"/>
              <a:t> (  x    )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     {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MessageBox.Show</a:t>
            </a:r>
            <a:r>
              <a:rPr lang="en-GB" sz="1800" dirty="0"/>
              <a:t>(“value is ” + x);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     }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en-GB" sz="1800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private void  </a:t>
            </a:r>
            <a:r>
              <a:rPr lang="en-GB" sz="1800" dirty="0" err="1"/>
              <a:t>MethodB</a:t>
            </a:r>
            <a:r>
              <a:rPr lang="en-GB" sz="1800" dirty="0"/>
              <a:t>(   ) 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     {	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int</a:t>
            </a:r>
            <a:r>
              <a:rPr lang="en-GB" sz="1800" dirty="0"/>
              <a:t> y=10;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float z=9.0;             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MethodA</a:t>
            </a:r>
            <a:r>
              <a:rPr lang="en-GB" sz="1800" dirty="0"/>
              <a:t>(y);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MethodA</a:t>
            </a:r>
            <a:r>
              <a:rPr lang="en-GB" sz="1800" dirty="0"/>
              <a:t>(z);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en-GB" sz="1800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     }</a:t>
            </a:r>
          </a:p>
          <a:p>
            <a:endParaRPr lang="en-GB" sz="1800" dirty="0"/>
          </a:p>
          <a:p>
            <a:endParaRPr lang="en-SG" sz="1800" dirty="0"/>
          </a:p>
        </p:txBody>
      </p:sp>
      <p:pic>
        <p:nvPicPr>
          <p:cNvPr id="4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40" y="7203824"/>
            <a:ext cx="1368152" cy="161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564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5-Point Star 13"/>
          <p:cNvSpPr/>
          <p:nvPr/>
        </p:nvSpPr>
        <p:spPr>
          <a:xfrm>
            <a:off x="5014016" y="107504"/>
            <a:ext cx="1556792" cy="1509588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Spot the 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Baveuse" pitchFamily="2" charset="0"/>
              </a:rPr>
              <a:t>ERRORs</a:t>
            </a:r>
            <a:endParaRPr lang="en-SG" dirty="0">
              <a:solidFill>
                <a:schemeClr val="bg2">
                  <a:lumMod val="50000"/>
                  <a:lumOff val="50000"/>
                </a:schemeClr>
              </a:solidFill>
              <a:latin typeface="Baveuse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33600"/>
            <a:ext cx="5829300" cy="70104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private void  </a:t>
            </a:r>
            <a:r>
              <a:rPr lang="en-GB" sz="1800" dirty="0" err="1"/>
              <a:t>MethodA</a:t>
            </a:r>
            <a:r>
              <a:rPr lang="en-GB" sz="1800" dirty="0"/>
              <a:t> (  x    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     {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MessageBox.Show</a:t>
            </a:r>
            <a:r>
              <a:rPr lang="en-GB" sz="1800" dirty="0"/>
              <a:t>(“value is ” + x);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     }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en-GB" sz="1800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private void  </a:t>
            </a:r>
            <a:r>
              <a:rPr lang="en-GB" sz="1800" dirty="0" err="1"/>
              <a:t>MethodB</a:t>
            </a:r>
            <a:r>
              <a:rPr lang="en-GB" sz="1800" dirty="0"/>
              <a:t>(   ) 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     {	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int</a:t>
            </a:r>
            <a:r>
              <a:rPr lang="en-GB" sz="1800" dirty="0"/>
              <a:t> y=10;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float z=9.0;             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MethodA</a:t>
            </a:r>
            <a:r>
              <a:rPr lang="en-GB" sz="1800" dirty="0"/>
              <a:t>(y) 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		</a:t>
            </a:r>
            <a:r>
              <a:rPr lang="en-GB" sz="1800" dirty="0" err="1"/>
              <a:t>MethodA</a:t>
            </a:r>
            <a:r>
              <a:rPr lang="en-GB" sz="1800" dirty="0"/>
              <a:t>(z) 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en-GB" sz="1800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800" dirty="0"/>
              <a:t>     }</a:t>
            </a:r>
          </a:p>
          <a:p>
            <a:r>
              <a:rPr lang="en-GB" sz="1600" dirty="0"/>
              <a:t>The method header must include type name </a:t>
            </a:r>
          </a:p>
          <a:p>
            <a:pPr lvl="1"/>
            <a:r>
              <a:rPr lang="en-GB" sz="1400" dirty="0"/>
              <a:t>Correction&gt;&gt;       private void </a:t>
            </a:r>
            <a:r>
              <a:rPr lang="en-GB" sz="1400" dirty="0" err="1"/>
              <a:t>MethodA</a:t>
            </a:r>
            <a:r>
              <a:rPr lang="en-GB" sz="1400" dirty="0"/>
              <a:t> (</a:t>
            </a:r>
            <a:r>
              <a:rPr lang="en-GB" sz="1400" dirty="0" err="1"/>
              <a:t>int</a:t>
            </a:r>
            <a:r>
              <a:rPr lang="en-GB" sz="1400" dirty="0"/>
              <a:t> x)</a:t>
            </a:r>
          </a:p>
          <a:p>
            <a:r>
              <a:rPr lang="en-GB" sz="1600" dirty="0"/>
              <a:t>There is NO “ ; ” in method header</a:t>
            </a:r>
          </a:p>
          <a:p>
            <a:r>
              <a:rPr lang="en-GB" sz="1600" dirty="0"/>
              <a:t>The parameter and argument MUST be of the same type. Here z is float but x is int. </a:t>
            </a:r>
            <a:endParaRPr lang="en-SG" sz="1600" dirty="0"/>
          </a:p>
        </p:txBody>
      </p:sp>
      <p:sp>
        <p:nvSpPr>
          <p:cNvPr id="5" name="Oval 4"/>
          <p:cNvSpPr/>
          <p:nvPr/>
        </p:nvSpPr>
        <p:spPr>
          <a:xfrm>
            <a:off x="4221088" y="2195736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6" name="Rectangle 5"/>
          <p:cNvSpPr/>
          <p:nvPr/>
        </p:nvSpPr>
        <p:spPr>
          <a:xfrm>
            <a:off x="3365376" y="3923928"/>
            <a:ext cx="360040" cy="504056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/>
          <p:cNvSpPr/>
          <p:nvPr/>
        </p:nvSpPr>
        <p:spPr>
          <a:xfrm>
            <a:off x="3869432" y="3995936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8" name="Rectangle 7"/>
          <p:cNvSpPr/>
          <p:nvPr/>
        </p:nvSpPr>
        <p:spPr>
          <a:xfrm>
            <a:off x="1556791" y="6084168"/>
            <a:ext cx="1573897" cy="504056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Oval 8"/>
          <p:cNvSpPr/>
          <p:nvPr/>
        </p:nvSpPr>
        <p:spPr>
          <a:xfrm>
            <a:off x="3212976" y="6156176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sp>
        <p:nvSpPr>
          <p:cNvPr id="10" name="Rectangle 9"/>
          <p:cNvSpPr/>
          <p:nvPr/>
        </p:nvSpPr>
        <p:spPr>
          <a:xfrm>
            <a:off x="3185356" y="2123728"/>
            <a:ext cx="360040" cy="504056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Oval 10"/>
          <p:cNvSpPr/>
          <p:nvPr/>
        </p:nvSpPr>
        <p:spPr>
          <a:xfrm>
            <a:off x="332656" y="7236296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  <a:endParaRPr lang="en-SG" dirty="0"/>
          </a:p>
        </p:txBody>
      </p:sp>
      <p:sp>
        <p:nvSpPr>
          <p:cNvPr id="12" name="Oval 11"/>
          <p:cNvSpPr/>
          <p:nvPr/>
        </p:nvSpPr>
        <p:spPr>
          <a:xfrm>
            <a:off x="332656" y="7740352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sp>
        <p:nvSpPr>
          <p:cNvPr id="13" name="Oval 12"/>
          <p:cNvSpPr/>
          <p:nvPr/>
        </p:nvSpPr>
        <p:spPr>
          <a:xfrm>
            <a:off x="332656" y="8172400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97296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6250" y="1980828"/>
            <a:ext cx="6193110" cy="6119564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GB" sz="1600" dirty="0"/>
              <a:t>1a) Write a method </a:t>
            </a:r>
            <a:r>
              <a:rPr lang="en-GB" sz="1600" dirty="0" err="1"/>
              <a:t>CalculatePay</a:t>
            </a:r>
            <a:r>
              <a:rPr lang="en-GB" sz="1600" dirty="0"/>
              <a:t>( ) that receives a variable, </a:t>
            </a:r>
            <a:r>
              <a:rPr lang="en-GB" sz="1600" i="1" dirty="0" err="1"/>
              <a:t>hrsWorked</a:t>
            </a:r>
            <a:r>
              <a:rPr lang="en-GB" sz="1600" i="1" dirty="0"/>
              <a:t> –</a:t>
            </a:r>
            <a:r>
              <a:rPr lang="en-GB" sz="1600" dirty="0"/>
              <a:t>i.e. number of hours worked, as a parameter. Display the computed pay in a message box.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endParaRPr lang="en-GB" sz="1600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GB" sz="1600" dirty="0"/>
              <a:t>	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GB" sz="1600" dirty="0"/>
              <a:t>     private _______  </a:t>
            </a:r>
            <a:r>
              <a:rPr lang="en-GB" sz="1600" dirty="0" err="1"/>
              <a:t>CalculatePay</a:t>
            </a:r>
            <a:r>
              <a:rPr lang="en-GB" sz="1600" dirty="0"/>
              <a:t>(  </a:t>
            </a:r>
            <a:r>
              <a:rPr lang="en-GB" sz="1600" dirty="0" err="1"/>
              <a:t>int</a:t>
            </a:r>
            <a:r>
              <a:rPr lang="en-GB" sz="1600" dirty="0"/>
              <a:t> ______     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GB" sz="1600" dirty="0"/>
              <a:t>     {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GB" sz="1600" dirty="0"/>
              <a:t>		float pay;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GB" sz="1600" dirty="0"/>
              <a:t>		pay = ___________ 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600" dirty="0"/>
              <a:t>		</a:t>
            </a:r>
            <a:r>
              <a:rPr lang="en-GB" sz="1600" dirty="0" err="1"/>
              <a:t>MessageBox.Show</a:t>
            </a:r>
            <a:r>
              <a:rPr lang="en-GB" sz="1600" dirty="0"/>
              <a:t>( ___________);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GB" sz="1600" dirty="0"/>
              <a:t>     }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None/>
            </a:pPr>
            <a:endParaRPr lang="en-GB" sz="1600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600" dirty="0"/>
              <a:t>1b) Create a window application to test the </a:t>
            </a:r>
            <a:r>
              <a:rPr lang="en-GB" sz="1600" b="1" dirty="0" err="1"/>
              <a:t>CalculatePay</a:t>
            </a:r>
            <a:r>
              <a:rPr lang="en-GB" sz="1600" b="1" dirty="0"/>
              <a:t> </a:t>
            </a:r>
            <a:r>
              <a:rPr lang="en-GB" sz="1600" dirty="0"/>
              <a:t>method you have written. You application is done with a simple GUI with text boxes, label and message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600" dirty="0"/>
              <a:t>      boxes as required.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600" dirty="0"/>
              <a:t>      User clicks on </a:t>
            </a:r>
            <a:r>
              <a:rPr lang="en-GB" sz="1600" b="1" dirty="0"/>
              <a:t>Calculate</a:t>
            </a:r>
            <a:r>
              <a:rPr lang="en-GB" sz="1600" dirty="0"/>
              <a:t> button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GB" sz="1600" dirty="0"/>
              <a:t>      to execute your code.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>
          <a:xfrm>
            <a:off x="436562" y="395536"/>
            <a:ext cx="6345237" cy="935782"/>
          </a:xfrm>
          <a:noFill/>
        </p:spPr>
        <p:txBody>
          <a:bodyPr/>
          <a:lstStyle/>
          <a:p>
            <a:pPr eaLnBrk="1" hangingPunct="1"/>
            <a:r>
              <a:rPr lang="en-US" dirty="0"/>
              <a:t>Practical 3A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588339" y="3040087"/>
            <a:ext cx="5976937" cy="30777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400" dirty="0">
                <a:latin typeface="+mn-lt"/>
              </a:rPr>
              <a:t> Pay = $12 per hour  x  number of hours worked</a:t>
            </a:r>
          </a:p>
        </p:txBody>
      </p:sp>
      <p:pic>
        <p:nvPicPr>
          <p:cNvPr id="5" name="Picture 3" descr="C:\Users\tanail\AppData\Local\Microsoft\Windows\Temporary Internet Files\Content.IE5\RXI7DR66\MC900432617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663" y="3995936"/>
            <a:ext cx="1180500" cy="118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FormQ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965" y="6516216"/>
            <a:ext cx="2286198" cy="22861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49275" y="468313"/>
            <a:ext cx="5829300" cy="1151359"/>
          </a:xfrm>
        </p:spPr>
        <p:txBody>
          <a:bodyPr/>
          <a:lstStyle/>
          <a:p>
            <a:pPr eaLnBrk="1" hangingPunct="1"/>
            <a:r>
              <a:rPr lang="en-GB" dirty="0"/>
              <a:t>Practical </a:t>
            </a:r>
            <a:r>
              <a:rPr lang="en-US" dirty="0"/>
              <a:t>3A</a:t>
            </a:r>
            <a:endParaRPr lang="en-GB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0566" y="2051720"/>
            <a:ext cx="6188794" cy="4968552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2. Write a window application using simple GUI with textboxes, 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     labels, radio button to do the following: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AutoNum type="alphaLcPeriod"/>
            </a:pPr>
            <a:r>
              <a:rPr lang="en-US" sz="1600" dirty="0"/>
              <a:t>It reads a value from a textbox into a variable called </a:t>
            </a:r>
            <a:r>
              <a:rPr lang="en-US" sz="1600" i="1" dirty="0">
                <a:solidFill>
                  <a:schemeClr val="accent2"/>
                </a:solidFill>
              </a:rPr>
              <a:t>side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AutoNum type="alphaLcPeriod"/>
            </a:pPr>
            <a:r>
              <a:rPr lang="en-US" sz="1600" dirty="0"/>
              <a:t>User selects an option using radio button.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The options are </a:t>
            </a:r>
          </a:p>
          <a:p>
            <a:pPr marL="685800" lvl="1" eaLnBrk="1" hangingPunct="1">
              <a:lnSpc>
                <a:spcPct val="80000"/>
              </a:lnSpc>
              <a:buClr>
                <a:schemeClr val="tx1"/>
              </a:buClr>
              <a:buFontTx/>
              <a:buChar char="-"/>
            </a:pPr>
            <a:r>
              <a:rPr lang="en-US" sz="1600" dirty="0">
                <a:solidFill>
                  <a:schemeClr val="accent2"/>
                </a:solidFill>
              </a:rPr>
              <a:t>Calculates and displays the </a:t>
            </a:r>
            <a:r>
              <a:rPr lang="en-US" sz="1600" i="1" dirty="0">
                <a:solidFill>
                  <a:schemeClr val="accent2"/>
                </a:solidFill>
              </a:rPr>
              <a:t>circumference</a:t>
            </a:r>
            <a:r>
              <a:rPr lang="en-US" sz="1600" dirty="0"/>
              <a:t>, </a:t>
            </a:r>
          </a:p>
          <a:p>
            <a:pPr marL="1085850" lvl="2" eaLnBrk="1" hangingPunct="1">
              <a:lnSpc>
                <a:spcPct val="80000"/>
              </a:lnSpc>
              <a:buClr>
                <a:schemeClr val="tx1"/>
              </a:buClr>
              <a:buFontTx/>
              <a:buChar char="-"/>
            </a:pPr>
            <a:r>
              <a:rPr lang="en-US" sz="1300" dirty="0"/>
              <a:t>where </a:t>
            </a:r>
            <a:r>
              <a:rPr lang="en-US" sz="1300" i="1" dirty="0"/>
              <a:t>circumference</a:t>
            </a:r>
            <a:r>
              <a:rPr lang="en-US" sz="1300" dirty="0"/>
              <a:t> = 4 * </a:t>
            </a:r>
            <a:r>
              <a:rPr lang="en-US" sz="1300" i="1" dirty="0"/>
              <a:t>side</a:t>
            </a:r>
            <a:r>
              <a:rPr lang="en-US" sz="1300" dirty="0"/>
              <a:t>. </a:t>
            </a:r>
          </a:p>
          <a:p>
            <a:pPr marL="685800" lvl="1" eaLnBrk="1" hangingPunct="1">
              <a:lnSpc>
                <a:spcPct val="80000"/>
              </a:lnSpc>
              <a:buClr>
                <a:schemeClr val="tx1"/>
              </a:buClr>
              <a:buFontTx/>
              <a:buChar char="-"/>
            </a:pPr>
            <a:r>
              <a:rPr lang="en-US" sz="1600" dirty="0">
                <a:solidFill>
                  <a:schemeClr val="accent2"/>
                </a:solidFill>
              </a:rPr>
              <a:t>Calculates and displays the </a:t>
            </a:r>
            <a:r>
              <a:rPr lang="en-US" sz="1600" i="1" dirty="0">
                <a:solidFill>
                  <a:schemeClr val="accent2"/>
                </a:solidFill>
              </a:rPr>
              <a:t>area</a:t>
            </a:r>
            <a:r>
              <a:rPr lang="en-US" sz="1600" dirty="0"/>
              <a:t>, </a:t>
            </a:r>
          </a:p>
          <a:p>
            <a:pPr marL="1085850" lvl="2" eaLnBrk="1" hangingPunct="1">
              <a:lnSpc>
                <a:spcPct val="80000"/>
              </a:lnSpc>
              <a:buClr>
                <a:schemeClr val="tx1"/>
              </a:buClr>
              <a:buFontTx/>
              <a:buChar char="-"/>
            </a:pPr>
            <a:r>
              <a:rPr lang="en-US" sz="1300" dirty="0"/>
              <a:t>where </a:t>
            </a:r>
            <a:r>
              <a:rPr lang="en-US" sz="1300" i="1" dirty="0"/>
              <a:t>area</a:t>
            </a:r>
            <a:r>
              <a:rPr lang="en-US" sz="1300" dirty="0"/>
              <a:t> = </a:t>
            </a:r>
            <a:r>
              <a:rPr lang="en-US" sz="1300" i="1" dirty="0"/>
              <a:t>side * side</a:t>
            </a:r>
            <a:r>
              <a:rPr lang="en-US" sz="1300" dirty="0"/>
              <a:t>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c. When user clicks on Calculate button, it calls the respective method.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Both calculations of circumference and area are implemented as methods that </a:t>
            </a:r>
            <a:r>
              <a:rPr lang="en-US" sz="1600" b="1" dirty="0"/>
              <a:t>receive</a:t>
            </a:r>
            <a:r>
              <a:rPr lang="en-US" sz="1600" dirty="0"/>
              <a:t> a parameter, double side. Here is a sample code to help you!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GB" altLang="zh-CN" sz="1600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GB" altLang="zh-CN" sz="1400" dirty="0">
                <a:ea typeface="宋体" pitchFamily="2" charset="-122"/>
              </a:rPr>
              <a:t>private void </a:t>
            </a:r>
            <a:r>
              <a:rPr lang="en-GB" altLang="zh-CN" sz="1400" dirty="0" err="1">
                <a:ea typeface="宋体" pitchFamily="2" charset="-122"/>
              </a:rPr>
              <a:t>CalculateCircumference</a:t>
            </a:r>
            <a:r>
              <a:rPr lang="en-GB" altLang="zh-CN" sz="1400" dirty="0">
                <a:ea typeface="宋体" pitchFamily="2" charset="-122"/>
              </a:rPr>
              <a:t>( </a:t>
            </a:r>
            <a:r>
              <a:rPr lang="en-GB" altLang="zh-CN" sz="1400" b="1" dirty="0">
                <a:solidFill>
                  <a:srgbClr val="0033CC"/>
                </a:solidFill>
                <a:ea typeface="宋体" pitchFamily="2" charset="-122"/>
              </a:rPr>
              <a:t>___________  </a:t>
            </a:r>
            <a:r>
              <a:rPr lang="en-GB" altLang="zh-CN" sz="1400" dirty="0">
                <a:ea typeface="宋体" pitchFamily="2" charset="-122"/>
              </a:rPr>
              <a:t>)</a:t>
            </a: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GB" altLang="zh-CN" sz="1400" dirty="0">
                <a:ea typeface="宋体" pitchFamily="2" charset="-122"/>
              </a:rPr>
              <a:t>{</a:t>
            </a: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GB" altLang="zh-CN" sz="1400" dirty="0">
                <a:ea typeface="宋体" pitchFamily="2" charset="-122"/>
              </a:rPr>
              <a:t>	double ________________ ;	</a:t>
            </a: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GB" altLang="zh-CN" sz="1400" dirty="0">
                <a:ea typeface="宋体" pitchFamily="2" charset="-122"/>
              </a:rPr>
              <a:t>	circumference = _________________ ;</a:t>
            </a: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GB" altLang="zh-CN" sz="1400" dirty="0">
                <a:ea typeface="宋体" pitchFamily="2" charset="-122"/>
              </a:rPr>
              <a:t>	</a:t>
            </a:r>
            <a:r>
              <a:rPr lang="en-GB" altLang="zh-CN" sz="1400" dirty="0" err="1">
                <a:ea typeface="宋体" pitchFamily="2" charset="-122"/>
              </a:rPr>
              <a:t>MessageBox.Show</a:t>
            </a:r>
            <a:r>
              <a:rPr lang="en-GB" altLang="zh-CN" sz="1400" dirty="0">
                <a:ea typeface="宋体" pitchFamily="2" charset="-122"/>
              </a:rPr>
              <a:t>(________________________ );</a:t>
            </a: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GB" altLang="zh-CN" sz="1400" dirty="0">
                <a:ea typeface="宋体" pitchFamily="2" charset="-122"/>
              </a:rPr>
              <a:t>}</a:t>
            </a:r>
          </a:p>
          <a:p>
            <a:pPr marL="355600" indent="-355600" eaLnBrk="1" hangingPunct="1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GB" altLang="zh-CN" sz="1400" dirty="0">
              <a:ea typeface="宋体" pitchFamily="2" charset="-122"/>
            </a:endParaRPr>
          </a:p>
        </p:txBody>
      </p:sp>
      <p:pic>
        <p:nvPicPr>
          <p:cNvPr id="5" name="Picture 3" descr="C:\Users\tanail\AppData\Local\Microsoft\Windows\Temporary Internet Files\Content.IE5\RXI7DR66\MC900432617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388" y="5436096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-Point Star 5"/>
          <p:cNvSpPr/>
          <p:nvPr/>
        </p:nvSpPr>
        <p:spPr>
          <a:xfrm>
            <a:off x="5014016" y="7219459"/>
            <a:ext cx="1556792" cy="1509588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" name="Picture 1" descr="FormQ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962" y="6822306"/>
            <a:ext cx="2286198" cy="22861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2051051"/>
            <a:ext cx="5829300" cy="396111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800" dirty="0"/>
              <a:t>3. Write a window application using simple GUI with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800" dirty="0"/>
              <a:t>     textboxes,  labels, button to do the following: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US" sz="1800" dirty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AutoNum type="alphaLcPeriod"/>
            </a:pPr>
            <a:r>
              <a:rPr lang="en-US" sz="1800" dirty="0"/>
              <a:t>It reads in a home loan amount (in dollars) from a textbox.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AutoNum type="alphaLcPeriod"/>
            </a:pPr>
            <a:r>
              <a:rPr lang="en-US" sz="1800" dirty="0"/>
              <a:t>User clicks on Calculate button, it calls a method called </a:t>
            </a:r>
            <a:r>
              <a:rPr lang="en-US" sz="1800" i="1" dirty="0" err="1"/>
              <a:t>CalculateDeposit</a:t>
            </a:r>
            <a:r>
              <a:rPr lang="en-US" sz="1800" i="1" dirty="0"/>
              <a:t>. </a:t>
            </a:r>
            <a:r>
              <a:rPr lang="en-US" sz="1800" dirty="0"/>
              <a:t>It </a:t>
            </a:r>
            <a:r>
              <a:rPr lang="en-US" sz="1800" dirty="0">
                <a:solidFill>
                  <a:srgbClr val="FF0000"/>
                </a:solidFill>
              </a:rPr>
              <a:t>receives </a:t>
            </a:r>
            <a:r>
              <a:rPr lang="en-US" sz="1800" dirty="0"/>
              <a:t>the loan amount as a parameter then calculates and displays the required deposit in a label. The deposit is calculated based on the schedule below.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US" altLang="zh-CN" sz="1800" b="1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b="1" dirty="0">
                <a:ea typeface="宋体" pitchFamily="2" charset="-122"/>
              </a:rPr>
              <a:t>	</a:t>
            </a:r>
            <a:r>
              <a:rPr lang="en-US" altLang="zh-CN" sz="1600" b="1" dirty="0">
                <a:ea typeface="宋体" pitchFamily="2" charset="-122"/>
              </a:rPr>
              <a:t>Loan ($)		Deposit ($)</a:t>
            </a:r>
            <a:r>
              <a:rPr lang="en-US" altLang="zh-CN" sz="1800" b="1" dirty="0">
                <a:ea typeface="宋体" pitchFamily="2" charset="-122"/>
              </a:rPr>
              <a:t>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>
                <a:ea typeface="宋体" pitchFamily="2" charset="-122"/>
              </a:rPr>
              <a:t>	</a:t>
            </a:r>
            <a:r>
              <a:rPr lang="en-US" altLang="zh-CN" sz="1400" dirty="0">
                <a:ea typeface="宋体" pitchFamily="2" charset="-122"/>
              </a:rPr>
              <a:t>Greater than $300,000	$10,000 + 15% of loan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400" dirty="0">
                <a:ea typeface="宋体" pitchFamily="2" charset="-122"/>
              </a:rPr>
              <a:t>	$100,000 - $300,000	$5,000 + 10% of loan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400" dirty="0">
                <a:ea typeface="宋体" pitchFamily="2" charset="-122"/>
              </a:rPr>
              <a:t>	Less than $100,000	5% of loan</a:t>
            </a:r>
            <a:r>
              <a:rPr lang="en-US" altLang="zh-CN" sz="1800" dirty="0">
                <a:ea typeface="宋体" pitchFamily="2" charset="-122"/>
              </a:rPr>
              <a:t>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>
                <a:ea typeface="宋体" pitchFamily="2" charset="-122"/>
              </a:rPr>
              <a:t> 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436562" y="395536"/>
            <a:ext cx="6345237" cy="935782"/>
          </a:xfrm>
          <a:noFill/>
        </p:spPr>
        <p:txBody>
          <a:bodyPr/>
          <a:lstStyle/>
          <a:p>
            <a:pPr eaLnBrk="1" hangingPunct="1"/>
            <a:r>
              <a:rPr lang="en-US" dirty="0"/>
              <a:t>Practical 3A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5085184" y="7310884"/>
            <a:ext cx="1556792" cy="1509588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" name="Picture 2" descr="FormQ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720" y="6167785"/>
            <a:ext cx="2286198" cy="228619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2051051"/>
            <a:ext cx="6049094" cy="3889101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1600" dirty="0">
                <a:ea typeface="宋体" pitchFamily="2" charset="-122"/>
              </a:rPr>
              <a:t>4.</a:t>
            </a:r>
            <a:r>
              <a:rPr lang="en-US" sz="1600" dirty="0"/>
              <a:t> Write a window application using simple GUI with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     textboxes,  labels, button to do the following: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AutoNum type="alphaLcPeriod"/>
            </a:pPr>
            <a:r>
              <a:rPr lang="en-US" sz="1600" dirty="0"/>
              <a:t>It </a:t>
            </a:r>
            <a:r>
              <a:rPr lang="en-US" altLang="zh-CN" sz="1600" dirty="0">
                <a:ea typeface="宋体" pitchFamily="2" charset="-122"/>
              </a:rPr>
              <a:t>reads in the weight of a parcel (in kg) from a textbox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AutoNum type="alphaLcPeriod"/>
            </a:pPr>
            <a:r>
              <a:rPr lang="en-US" altLang="zh-CN" sz="1600" dirty="0">
                <a:ea typeface="宋体" pitchFamily="2" charset="-122"/>
              </a:rPr>
              <a:t>It reads in number of parcels (</a:t>
            </a:r>
            <a:r>
              <a:rPr lang="en-US" altLang="zh-CN" sz="1600" dirty="0" err="1">
                <a:ea typeface="宋体" pitchFamily="2" charset="-122"/>
              </a:rPr>
              <a:t>e.g</a:t>
            </a:r>
            <a:r>
              <a:rPr lang="en-US" altLang="zh-CN" sz="1600" dirty="0">
                <a:ea typeface="宋体" pitchFamily="2" charset="-122"/>
              </a:rPr>
              <a:t> 3) from a textbox.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AutoNum type="alphaLcPeriod"/>
            </a:pPr>
            <a:r>
              <a:rPr lang="en-US" altLang="zh-CN" sz="1600" dirty="0">
                <a:ea typeface="宋体" pitchFamily="2" charset="-122"/>
              </a:rPr>
              <a:t>User clicks on Calculate button, it calls a method called </a:t>
            </a:r>
            <a:r>
              <a:rPr lang="en-US" altLang="zh-CN" sz="1600" i="1" dirty="0" err="1">
                <a:ea typeface="宋体" pitchFamily="2" charset="-122"/>
              </a:rPr>
              <a:t>CalculateCharge</a:t>
            </a:r>
            <a:r>
              <a:rPr lang="en-US" altLang="zh-CN" sz="1600" dirty="0">
                <a:ea typeface="宋体" pitchFamily="2" charset="-122"/>
              </a:rPr>
              <a:t> which </a:t>
            </a:r>
            <a:r>
              <a:rPr lang="en-US" altLang="zh-CN" sz="1600" dirty="0">
                <a:solidFill>
                  <a:srgbClr val="FF0000"/>
                </a:solidFill>
                <a:ea typeface="宋体" pitchFamily="2" charset="-122"/>
              </a:rPr>
              <a:t>receives</a:t>
            </a:r>
            <a:r>
              <a:rPr lang="en-US" altLang="zh-CN" sz="1600" dirty="0">
                <a:ea typeface="宋体" pitchFamily="2" charset="-122"/>
              </a:rPr>
              <a:t> 2 parameters, the parcel weight (</a:t>
            </a:r>
            <a:r>
              <a:rPr lang="en-US" altLang="zh-CN" sz="1600" dirty="0" err="1">
                <a:ea typeface="宋体" pitchFamily="2" charset="-122"/>
              </a:rPr>
              <a:t>e.g</a:t>
            </a:r>
            <a:r>
              <a:rPr lang="en-US" altLang="zh-CN" sz="1600" dirty="0">
                <a:ea typeface="宋体" pitchFamily="2" charset="-122"/>
              </a:rPr>
              <a:t> 1.2kg) and number of parcels (3). It calculates and displays the total postage  charge in a label. Assume that all the parcel is of the same weight.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1600" dirty="0">
                <a:ea typeface="宋体" pitchFamily="2" charset="-122"/>
              </a:rPr>
              <a:t>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1600" dirty="0">
                <a:ea typeface="宋体" pitchFamily="2" charset="-122"/>
              </a:rPr>
              <a:t>The formula to calculate the charge per parcel is: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US" altLang="zh-CN" sz="1600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dirty="0">
                <a:ea typeface="宋体" pitchFamily="2" charset="-122"/>
              </a:rPr>
              <a:t>	Weight (kg)		Charge ($/kg)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	Greater than 5.0 kg	  $2.30 / kg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	2.5 - 5 kg 		  $2.50 / kg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	Less than 2.5 kg 	  $3.00 / kg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1600" dirty="0">
              <a:ea typeface="宋体" pitchFamily="2" charset="-122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436562" y="395536"/>
            <a:ext cx="6345237" cy="935782"/>
          </a:xfrm>
          <a:noFill/>
        </p:spPr>
        <p:txBody>
          <a:bodyPr/>
          <a:lstStyle/>
          <a:p>
            <a:pPr eaLnBrk="1" hangingPunct="1"/>
            <a:r>
              <a:rPr lang="en-US" dirty="0"/>
              <a:t>Practical 3A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5085184" y="7310884"/>
            <a:ext cx="1556792" cy="1509588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" name="Picture 1" descr="FormQ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28" y="6167785"/>
            <a:ext cx="2286198" cy="228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337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671" y="1979712"/>
            <a:ext cx="6165304" cy="4824536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1600" dirty="0">
                <a:ea typeface="宋体" pitchFamily="2" charset="-122"/>
              </a:rPr>
              <a:t>5.  W</a:t>
            </a:r>
            <a:r>
              <a:rPr lang="en-US" sz="1600" dirty="0"/>
              <a:t>rite a window application using simple GUI with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     textboxes,  labels, radio button to do the following: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a. It reads in the radius of a sphere from a textbox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b. User chooses an option using radio button.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		- Calculate Area of Sphere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		- Calculate Volume of Sphere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c. User clicks on Calculate button, the application calls the respective method.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   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    The method </a:t>
            </a:r>
            <a:r>
              <a:rPr lang="en-US" altLang="zh-CN" sz="1600" i="1" dirty="0" err="1">
                <a:ea typeface="宋体" pitchFamily="2" charset="-122"/>
              </a:rPr>
              <a:t>CalculateArea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 receives</a:t>
            </a:r>
            <a:r>
              <a:rPr lang="en-US" altLang="zh-CN" sz="1600" dirty="0">
                <a:ea typeface="宋体" pitchFamily="2" charset="-122"/>
              </a:rPr>
              <a:t> a parameter, radius. It calculates and displays the area of the sphere in a label. It uses the following formula to calculate Area.</a:t>
            </a:r>
            <a:endParaRPr lang="en-US" altLang="zh-CN" sz="1600" b="1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dirty="0">
                <a:ea typeface="宋体" pitchFamily="2" charset="-122"/>
              </a:rPr>
              <a:t>		Area = 4 x PI x radius x radius</a:t>
            </a:r>
            <a:endParaRPr lang="en-US" altLang="zh-CN" sz="1600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	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      The method </a:t>
            </a:r>
            <a:r>
              <a:rPr lang="en-US" altLang="zh-CN" sz="1600" i="1" dirty="0" err="1">
                <a:ea typeface="宋体" pitchFamily="2" charset="-122"/>
              </a:rPr>
              <a:t>CalculateVolume</a:t>
            </a:r>
            <a:r>
              <a:rPr lang="en-US" altLang="zh-CN" sz="1600" dirty="0">
                <a:ea typeface="宋体" pitchFamily="2" charset="-122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receives</a:t>
            </a:r>
            <a:r>
              <a:rPr lang="en-US" altLang="zh-CN" sz="1600" dirty="0">
                <a:ea typeface="宋体" pitchFamily="2" charset="-122"/>
              </a:rPr>
              <a:t> a parameter, radius. It calculates and displays the volume of the sphere in a label. It uses the following formula to calculate the volume.</a:t>
            </a:r>
            <a:endParaRPr lang="en-US" altLang="zh-CN" sz="1600" b="1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dirty="0">
                <a:ea typeface="宋体" pitchFamily="2" charset="-122"/>
              </a:rPr>
              <a:t>		Volume =</a:t>
            </a:r>
            <a:r>
              <a:rPr lang="en-US" altLang="zh-CN" sz="1600" b="1" u="sng" dirty="0">
                <a:ea typeface="宋体" pitchFamily="2" charset="-122"/>
              </a:rPr>
              <a:t>4 x PI x radius x radius x radius </a:t>
            </a:r>
            <a:endParaRPr lang="en-US" altLang="zh-CN" sz="1600" b="1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dirty="0">
                <a:ea typeface="宋体" pitchFamily="2" charset="-122"/>
              </a:rPr>
              <a:t>				3</a:t>
            </a:r>
          </a:p>
          <a:p>
            <a:pPr marL="355600" indent="-355600" eaLnBrk="1" hangingPunct="1">
              <a:lnSpc>
                <a:spcPct val="80000"/>
              </a:lnSpc>
              <a:spcAft>
                <a:spcPct val="20000"/>
              </a:spcAft>
              <a:buFont typeface="Wingdings" pitchFamily="2" charset="2"/>
              <a:buNone/>
            </a:pPr>
            <a:endParaRPr lang="en-GB" sz="1600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436562" y="395536"/>
            <a:ext cx="6345237" cy="935782"/>
          </a:xfrm>
          <a:noFill/>
        </p:spPr>
        <p:txBody>
          <a:bodyPr/>
          <a:lstStyle/>
          <a:p>
            <a:pPr eaLnBrk="1" hangingPunct="1"/>
            <a:r>
              <a:rPr lang="en-US" dirty="0"/>
              <a:t>Practical 3A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5514170" y="7726864"/>
            <a:ext cx="1127805" cy="1093608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" name="Picture 1" descr="FormQ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026" y="6660232"/>
            <a:ext cx="2286198" cy="2286198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>
          <a:xfrm>
            <a:off x="332656" y="6705265"/>
            <a:ext cx="2592288" cy="2043199"/>
          </a:xfrm>
          <a:prstGeom prst="wedgeRoundRectCallout">
            <a:avLst>
              <a:gd name="adj1" fmla="val 69814"/>
              <a:gd name="adj2" fmla="val 22415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55600" indent="-355600">
              <a:lnSpc>
                <a:spcPct val="80000"/>
              </a:lnSpc>
            </a:pPr>
            <a:r>
              <a:rPr lang="en-US" altLang="zh-CN" sz="1400" dirty="0">
                <a:ea typeface="宋体" pitchFamily="2" charset="-122"/>
              </a:rPr>
              <a:t>To format display for 2 decimal places.</a:t>
            </a:r>
          </a:p>
          <a:p>
            <a:pPr marL="355600" indent="-355600">
              <a:lnSpc>
                <a:spcPct val="80000"/>
              </a:lnSpc>
            </a:pPr>
            <a:r>
              <a:rPr lang="en-US" altLang="zh-CN" sz="1400" dirty="0">
                <a:ea typeface="宋体" pitchFamily="2" charset="-122"/>
              </a:rPr>
              <a:t> </a:t>
            </a:r>
          </a:p>
          <a:p>
            <a:pPr marL="355600" indent="-355600">
              <a:lnSpc>
                <a:spcPct val="80000"/>
              </a:lnSpc>
            </a:pPr>
            <a:r>
              <a:rPr lang="en-US" altLang="zh-CN" sz="1400" dirty="0">
                <a:ea typeface="宋体" pitchFamily="2" charset="-122"/>
              </a:rPr>
              <a:t>Use </a:t>
            </a:r>
            <a:r>
              <a:rPr lang="en-US" altLang="zh-CN" sz="1400" dirty="0" err="1">
                <a:ea typeface="宋体" pitchFamily="2" charset="-122"/>
              </a:rPr>
              <a:t>ToString</a:t>
            </a:r>
            <a:r>
              <a:rPr lang="en-US" altLang="zh-CN" sz="1400" dirty="0">
                <a:ea typeface="宋体" pitchFamily="2" charset="-122"/>
              </a:rPr>
              <a:t>() Where </a:t>
            </a:r>
            <a:r>
              <a:rPr lang="en-US" altLang="zh-CN" sz="1400" b="1" dirty="0" err="1">
                <a:solidFill>
                  <a:srgbClr val="FF0000"/>
                </a:solidFill>
                <a:ea typeface="宋体" pitchFamily="2" charset="-122"/>
              </a:rPr>
              <a:t>Vol</a:t>
            </a:r>
            <a:r>
              <a:rPr lang="en-US" altLang="zh-CN" sz="1400" dirty="0">
                <a:ea typeface="宋体" pitchFamily="2" charset="-122"/>
              </a:rPr>
              <a:t> is the variable and N2 for 2 decimal places.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1400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1400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b="1" dirty="0" err="1">
                <a:solidFill>
                  <a:srgbClr val="FF0000"/>
                </a:solidFill>
                <a:ea typeface="宋体" pitchFamily="2" charset="-122"/>
              </a:rPr>
              <a:t>Vol.ToString</a:t>
            </a:r>
            <a:r>
              <a:rPr lang="en-US" altLang="zh-CN" b="1" dirty="0">
                <a:solidFill>
                  <a:srgbClr val="FF0000"/>
                </a:solidFill>
                <a:ea typeface="宋体" pitchFamily="2" charset="-122"/>
              </a:rPr>
              <a:t>(“N2”)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14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664" y="2051051"/>
            <a:ext cx="6237311" cy="4249141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1600" dirty="0">
                <a:ea typeface="宋体" pitchFamily="2" charset="-122"/>
              </a:rPr>
              <a:t>6. W</a:t>
            </a:r>
            <a:r>
              <a:rPr lang="en-US" sz="1600" dirty="0"/>
              <a:t>rite a window application using simple GUI with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     textboxes,  labels, button to do the following:</a:t>
            </a: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r>
              <a:rPr lang="en-US" altLang="zh-CN" sz="1600" dirty="0">
                <a:ea typeface="宋体" pitchFamily="2" charset="-122"/>
              </a:rPr>
              <a:t>It reads in the height (in </a:t>
            </a:r>
            <a:r>
              <a:rPr lang="en-US" altLang="zh-CN" sz="1600" dirty="0" err="1">
                <a:ea typeface="宋体" pitchFamily="2" charset="-122"/>
              </a:rPr>
              <a:t>metres</a:t>
            </a:r>
            <a:r>
              <a:rPr lang="en-US" altLang="zh-CN" sz="1600" dirty="0">
                <a:ea typeface="宋体" pitchFamily="2" charset="-122"/>
              </a:rPr>
              <a:t>) and weight (in kg) of a person. </a:t>
            </a: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r>
              <a:rPr lang="en-US" altLang="zh-CN" sz="1600" dirty="0">
                <a:ea typeface="宋体" pitchFamily="2" charset="-122"/>
              </a:rPr>
              <a:t>User clicks on Calculate button. It calls a method called </a:t>
            </a:r>
            <a:r>
              <a:rPr lang="en-US" altLang="zh-CN" sz="1600" i="1" dirty="0" err="1">
                <a:ea typeface="宋体" pitchFamily="2" charset="-122"/>
              </a:rPr>
              <a:t>CalculateBMI</a:t>
            </a:r>
            <a:r>
              <a:rPr lang="en-US" altLang="zh-CN" sz="1600" dirty="0">
                <a:ea typeface="宋体" pitchFamily="2" charset="-122"/>
              </a:rPr>
              <a:t>  that 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receives</a:t>
            </a:r>
            <a:r>
              <a:rPr lang="en-US" altLang="zh-CN" sz="1600" dirty="0">
                <a:ea typeface="宋体" pitchFamily="2" charset="-122"/>
              </a:rPr>
              <a:t> 2 parameters, the height and weight. It calculates the Body Mass Index (BMI) based on the following formula: </a:t>
            </a:r>
            <a:endParaRPr lang="en-US" altLang="zh-CN" sz="1600" b="1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dirty="0">
                <a:ea typeface="宋体" pitchFamily="2" charset="-122"/>
              </a:rPr>
              <a:t>			BMI =</a:t>
            </a:r>
            <a:r>
              <a:rPr lang="en-US" altLang="zh-CN" sz="1600" b="1" u="sng" dirty="0">
                <a:ea typeface="宋体" pitchFamily="2" charset="-122"/>
              </a:rPr>
              <a:t>         weight (kg)          </a:t>
            </a:r>
            <a:br>
              <a:rPr lang="en-US" altLang="zh-CN" sz="1600" b="1" dirty="0">
                <a:ea typeface="宋体" pitchFamily="2" charset="-122"/>
              </a:rPr>
            </a:br>
            <a:r>
              <a:rPr lang="en-US" altLang="zh-CN" sz="1600" b="1" dirty="0">
                <a:ea typeface="宋体" pitchFamily="2" charset="-122"/>
              </a:rPr>
              <a:t>		         height (m) x height (m)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1600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	The </a:t>
            </a:r>
            <a:r>
              <a:rPr lang="en-US" altLang="zh-CN" sz="1600" i="1" dirty="0" err="1">
                <a:ea typeface="宋体" pitchFamily="2" charset="-122"/>
              </a:rPr>
              <a:t>CalculateBMI</a:t>
            </a:r>
            <a:r>
              <a:rPr lang="en-US" altLang="zh-CN" sz="1600" dirty="0">
                <a:ea typeface="宋体" pitchFamily="2" charset="-122"/>
              </a:rPr>
              <a:t> method also displays the BMI value and relevant message in a label.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1600" b="1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b="1" dirty="0">
                <a:ea typeface="宋体" pitchFamily="2" charset="-122"/>
              </a:rPr>
              <a:t>	BMI 			Message to display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	Less than 18.5		Under weight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	18.5 to below 25	Normal weight 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	25 to below 30		Overweight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	30 and above		Obese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600" dirty="0">
                <a:ea typeface="宋体" pitchFamily="2" charset="-122"/>
              </a:rPr>
              <a:t>	</a:t>
            </a:r>
            <a:endParaRPr lang="en-GB" sz="1600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436562" y="395536"/>
            <a:ext cx="6345237" cy="935782"/>
          </a:xfrm>
          <a:noFill/>
        </p:spPr>
        <p:txBody>
          <a:bodyPr/>
          <a:lstStyle/>
          <a:p>
            <a:pPr eaLnBrk="1" hangingPunct="1"/>
            <a:r>
              <a:rPr lang="en-US" dirty="0"/>
              <a:t>Practical 3A</a:t>
            </a:r>
          </a:p>
        </p:txBody>
      </p:sp>
      <p:pic>
        <p:nvPicPr>
          <p:cNvPr id="2" name="Picture 1" descr="FormQ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952" y="6534274"/>
            <a:ext cx="2286198" cy="2286198"/>
          </a:xfrm>
          <a:prstGeom prst="rect">
            <a:avLst/>
          </a:prstGeom>
        </p:spPr>
      </p:pic>
      <p:sp>
        <p:nvSpPr>
          <p:cNvPr id="6" name="Rounded Rectangular Callout 5"/>
          <p:cNvSpPr/>
          <p:nvPr/>
        </p:nvSpPr>
        <p:spPr>
          <a:xfrm>
            <a:off x="260648" y="6804248"/>
            <a:ext cx="2592288" cy="2016224"/>
          </a:xfrm>
          <a:prstGeom prst="wedgeRoundRectCallout">
            <a:avLst>
              <a:gd name="adj1" fmla="val 69814"/>
              <a:gd name="adj2" fmla="val 25052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55600" indent="-355600">
              <a:lnSpc>
                <a:spcPct val="80000"/>
              </a:lnSpc>
            </a:pPr>
            <a:r>
              <a:rPr lang="en-US" altLang="zh-CN" sz="1400" dirty="0">
                <a:ea typeface="宋体" pitchFamily="2" charset="-122"/>
              </a:rPr>
              <a:t>To format display for 1 decimal places.</a:t>
            </a:r>
          </a:p>
          <a:p>
            <a:pPr marL="355600" indent="-355600">
              <a:lnSpc>
                <a:spcPct val="80000"/>
              </a:lnSpc>
            </a:pPr>
            <a:r>
              <a:rPr lang="en-US" altLang="zh-CN" sz="1400" dirty="0">
                <a:ea typeface="宋体" pitchFamily="2" charset="-122"/>
              </a:rPr>
              <a:t> </a:t>
            </a:r>
          </a:p>
          <a:p>
            <a:pPr marL="355600" indent="-355600">
              <a:lnSpc>
                <a:spcPct val="80000"/>
              </a:lnSpc>
            </a:pPr>
            <a:r>
              <a:rPr lang="en-US" altLang="zh-CN" sz="1400" dirty="0">
                <a:ea typeface="宋体" pitchFamily="2" charset="-122"/>
              </a:rPr>
              <a:t>Use </a:t>
            </a:r>
            <a:r>
              <a:rPr lang="en-US" altLang="zh-CN" sz="1400" dirty="0" err="1">
                <a:ea typeface="宋体" pitchFamily="2" charset="-122"/>
              </a:rPr>
              <a:t>ToString</a:t>
            </a:r>
            <a:r>
              <a:rPr lang="en-US" altLang="zh-CN" sz="1400" dirty="0">
                <a:ea typeface="宋体" pitchFamily="2" charset="-122"/>
              </a:rPr>
              <a:t>() Where </a:t>
            </a:r>
            <a:r>
              <a:rPr lang="en-US" altLang="zh-CN" sz="1400" b="1" dirty="0">
                <a:solidFill>
                  <a:srgbClr val="FF0000"/>
                </a:solidFill>
                <a:ea typeface="宋体" pitchFamily="2" charset="-122"/>
              </a:rPr>
              <a:t>BMI</a:t>
            </a:r>
            <a:r>
              <a:rPr lang="en-US" altLang="zh-CN" sz="1400" dirty="0">
                <a:ea typeface="宋体" pitchFamily="2" charset="-122"/>
              </a:rPr>
              <a:t> is the variable and N1 for 1 decimal places.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1400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1400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b="1" dirty="0" err="1">
                <a:solidFill>
                  <a:srgbClr val="FF0000"/>
                </a:solidFill>
                <a:ea typeface="宋体" pitchFamily="2" charset="-122"/>
              </a:rPr>
              <a:t>BMI.ToString</a:t>
            </a:r>
            <a:r>
              <a:rPr lang="en-US" altLang="zh-CN" b="1" dirty="0">
                <a:solidFill>
                  <a:srgbClr val="FF0000"/>
                </a:solidFill>
                <a:ea typeface="宋体" pitchFamily="2" charset="-122"/>
              </a:rPr>
              <a:t>(“N1”)</a:t>
            </a: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1400" dirty="0">
              <a:ea typeface="宋体" pitchFamily="2" charset="-122"/>
            </a:endParaRPr>
          </a:p>
        </p:txBody>
      </p:sp>
      <p:sp>
        <p:nvSpPr>
          <p:cNvPr id="7" name="5-Point Star 6"/>
          <p:cNvSpPr/>
          <p:nvPr/>
        </p:nvSpPr>
        <p:spPr>
          <a:xfrm>
            <a:off x="5514170" y="7726864"/>
            <a:ext cx="1127805" cy="1093608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96309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9275" y="2051050"/>
            <a:ext cx="5829300" cy="6265365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1600" dirty="0">
                <a:ea typeface="宋体" pitchFamily="2" charset="-122"/>
              </a:rPr>
              <a:t>7. W</a:t>
            </a:r>
            <a:r>
              <a:rPr lang="en-US" sz="1600" dirty="0"/>
              <a:t>rite a method </a:t>
            </a:r>
            <a:r>
              <a:rPr lang="en-US" altLang="zh-CN" sz="1600" b="1" i="1" dirty="0" err="1">
                <a:solidFill>
                  <a:schemeClr val="accent2"/>
                </a:solidFill>
                <a:ea typeface="宋体" pitchFamily="2" charset="-122"/>
              </a:rPr>
              <a:t>FindMax</a:t>
            </a:r>
            <a:r>
              <a:rPr lang="en-US" altLang="zh-CN" sz="1600" dirty="0">
                <a:ea typeface="宋体" pitchFamily="2" charset="-122"/>
              </a:rPr>
              <a:t> that </a:t>
            </a:r>
            <a:r>
              <a:rPr lang="en-US" altLang="zh-CN" sz="1600" b="1" dirty="0">
                <a:solidFill>
                  <a:srgbClr val="FF0000"/>
                </a:solidFill>
                <a:ea typeface="宋体" pitchFamily="2" charset="-122"/>
              </a:rPr>
              <a:t>receives</a:t>
            </a:r>
            <a:r>
              <a:rPr lang="en-US" altLang="zh-CN" sz="1600" dirty="0">
                <a:ea typeface="宋体" pitchFamily="2" charset="-122"/>
              </a:rPr>
              <a:t> 2 float parameters, display the greater value in a label.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US" sz="1600" dirty="0"/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1600" dirty="0"/>
              <a:t>Write a window application using simple GUI with textboxes,  labels, button to do the following: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US" sz="1600" dirty="0"/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r>
              <a:rPr lang="en-US" altLang="zh-CN" sz="1600" dirty="0">
                <a:ea typeface="宋体" pitchFamily="2" charset="-122"/>
              </a:rPr>
              <a:t>It reads in weights (in KG) of 2 persons from 2 textboxes. </a:t>
            </a: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r>
              <a:rPr lang="en-US" altLang="zh-CN" sz="1600" dirty="0">
                <a:ea typeface="宋体" pitchFamily="2" charset="-122"/>
              </a:rPr>
              <a:t>User clicks on </a:t>
            </a:r>
            <a:r>
              <a:rPr lang="en-US" altLang="zh-CN" sz="1600" dirty="0" err="1">
                <a:ea typeface="宋体" pitchFamily="2" charset="-122"/>
              </a:rPr>
              <a:t>FindMaxWeight</a:t>
            </a:r>
            <a:r>
              <a:rPr lang="en-US" altLang="zh-CN" sz="1600" dirty="0">
                <a:ea typeface="宋体" pitchFamily="2" charset="-122"/>
              </a:rPr>
              <a:t>  button. It calls </a:t>
            </a:r>
            <a:r>
              <a:rPr lang="en-US" altLang="zh-CN" sz="1600" b="1" i="1" dirty="0" err="1">
                <a:solidFill>
                  <a:schemeClr val="accent2"/>
                </a:solidFill>
                <a:ea typeface="宋体" pitchFamily="2" charset="-122"/>
              </a:rPr>
              <a:t>FindMax</a:t>
            </a:r>
            <a:r>
              <a:rPr lang="en-US" altLang="zh-CN" sz="1600" b="1" i="1" dirty="0">
                <a:solidFill>
                  <a:schemeClr val="accent2"/>
                </a:solidFill>
                <a:ea typeface="宋体" pitchFamily="2" charset="-122"/>
              </a:rPr>
              <a:t> </a:t>
            </a:r>
            <a:r>
              <a:rPr lang="en-US" altLang="zh-CN" sz="1600" dirty="0">
                <a:ea typeface="宋体" pitchFamily="2" charset="-122"/>
              </a:rPr>
              <a:t>method</a:t>
            </a:r>
            <a:r>
              <a:rPr lang="en-US" altLang="zh-CN" sz="1600" b="1" i="1" dirty="0">
                <a:solidFill>
                  <a:schemeClr val="accent2"/>
                </a:solidFill>
                <a:ea typeface="宋体" pitchFamily="2" charset="-122"/>
              </a:rPr>
              <a:t> </a:t>
            </a:r>
            <a:r>
              <a:rPr lang="en-US" altLang="zh-CN" sz="1600" dirty="0">
                <a:ea typeface="宋体" pitchFamily="2" charset="-122"/>
              </a:rPr>
              <a:t>and passes in the 2 weight variables. It displays the greater Weight.</a:t>
            </a: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endParaRPr lang="en-US" altLang="zh-CN" sz="1600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AutoNum type="alphaLcPeriod"/>
            </a:pPr>
            <a:r>
              <a:rPr lang="en-US" altLang="zh-CN" sz="1600" dirty="0">
                <a:ea typeface="宋体" pitchFamily="2" charset="-122"/>
              </a:rPr>
              <a:t>It reads in heights (in M) of 2 persons from 2 textboxes. </a:t>
            </a: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r>
              <a:rPr lang="en-GB" sz="1600" dirty="0"/>
              <a:t>User clicks</a:t>
            </a:r>
            <a:r>
              <a:rPr lang="en-US" altLang="zh-CN" sz="1600" dirty="0">
                <a:ea typeface="宋体" pitchFamily="2" charset="-122"/>
              </a:rPr>
              <a:t> on </a:t>
            </a:r>
            <a:r>
              <a:rPr lang="en-US" altLang="zh-CN" sz="1600" dirty="0" err="1">
                <a:ea typeface="宋体" pitchFamily="2" charset="-122"/>
              </a:rPr>
              <a:t>FindMaxHeight</a:t>
            </a:r>
            <a:r>
              <a:rPr lang="en-US" altLang="zh-CN" sz="1600" dirty="0">
                <a:ea typeface="宋体" pitchFamily="2" charset="-122"/>
              </a:rPr>
              <a:t> button. It calls the above method </a:t>
            </a:r>
            <a:r>
              <a:rPr lang="en-US" altLang="zh-CN" sz="1600" b="1" dirty="0" err="1">
                <a:solidFill>
                  <a:schemeClr val="accent2"/>
                </a:solidFill>
                <a:ea typeface="宋体" pitchFamily="2" charset="-122"/>
              </a:rPr>
              <a:t>FindMax</a:t>
            </a:r>
            <a:r>
              <a:rPr lang="en-US" altLang="zh-CN" sz="1600" dirty="0">
                <a:ea typeface="宋体" pitchFamily="2" charset="-122"/>
              </a:rPr>
              <a:t> method and passes in the 2 height values. It displays the greater height</a:t>
            </a: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endParaRPr lang="en-US" altLang="zh-CN" sz="1600" dirty="0">
              <a:ea typeface="宋体" pitchFamily="2" charset="-122"/>
            </a:endParaRP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r>
              <a:rPr lang="en-GB" sz="1600" dirty="0"/>
              <a:t>It reads in age of 2 persons (in Year) from 2 textboxes</a:t>
            </a: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r>
              <a:rPr lang="en-GB" sz="1600" dirty="0"/>
              <a:t>User clicks</a:t>
            </a:r>
            <a:r>
              <a:rPr lang="en-US" altLang="zh-CN" sz="1600" dirty="0">
                <a:ea typeface="宋体" pitchFamily="2" charset="-122"/>
              </a:rPr>
              <a:t> on </a:t>
            </a:r>
            <a:r>
              <a:rPr lang="en-US" altLang="zh-CN" sz="1600" dirty="0" err="1">
                <a:ea typeface="宋体" pitchFamily="2" charset="-122"/>
              </a:rPr>
              <a:t>FindMaxAge</a:t>
            </a:r>
            <a:r>
              <a:rPr lang="en-US" altLang="zh-CN" sz="1600" dirty="0">
                <a:ea typeface="宋体" pitchFamily="2" charset="-122"/>
              </a:rPr>
              <a:t> button. It calls the above method </a:t>
            </a:r>
            <a:r>
              <a:rPr lang="en-US" altLang="zh-CN" sz="1600" b="1" dirty="0" err="1">
                <a:solidFill>
                  <a:schemeClr val="accent2"/>
                </a:solidFill>
                <a:ea typeface="宋体" pitchFamily="2" charset="-122"/>
              </a:rPr>
              <a:t>FindMax</a:t>
            </a:r>
            <a:r>
              <a:rPr lang="en-US" altLang="zh-CN" sz="1600" dirty="0">
                <a:ea typeface="宋体" pitchFamily="2" charset="-122"/>
              </a:rPr>
              <a:t> and passes in the 2 age values . It displays the older age.</a:t>
            </a:r>
          </a:p>
          <a:p>
            <a:pPr marL="355600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436562" y="395536"/>
            <a:ext cx="6345237" cy="1440160"/>
          </a:xfrm>
          <a:noFill/>
        </p:spPr>
        <p:txBody>
          <a:bodyPr/>
          <a:lstStyle/>
          <a:p>
            <a:pPr eaLnBrk="1" hangingPunct="1"/>
            <a:r>
              <a:rPr lang="en-US" dirty="0"/>
              <a:t>Practical 3A</a:t>
            </a:r>
            <a:br>
              <a:rPr lang="en-US" dirty="0"/>
            </a:br>
            <a:r>
              <a:rPr lang="en-US" sz="3200" dirty="0">
                <a:solidFill>
                  <a:schemeClr val="bg1">
                    <a:lumMod val="25000"/>
                  </a:schemeClr>
                </a:solidFill>
              </a:rPr>
              <a:t>Reusability of method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5555662" y="7767096"/>
            <a:ext cx="1086313" cy="1053375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" name="Picture 1" descr="FormQ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96" y="6660232"/>
            <a:ext cx="5029636" cy="1493650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>
          <a:xfrm>
            <a:off x="487596" y="8244408"/>
            <a:ext cx="4381564" cy="522574"/>
          </a:xfrm>
          <a:prstGeom prst="wedgeRoundRectCallout">
            <a:avLst>
              <a:gd name="adj1" fmla="val 8914"/>
              <a:gd name="adj2" fmla="val -148114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55600" indent="-355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400" dirty="0">
                <a:ea typeface="宋体" pitchFamily="2" charset="-122"/>
              </a:rPr>
              <a:t>When user clicks on </a:t>
            </a:r>
            <a:r>
              <a:rPr lang="en-US" altLang="zh-CN" sz="1400" dirty="0" err="1">
                <a:ea typeface="宋体" pitchFamily="2" charset="-122"/>
              </a:rPr>
              <a:t>FindMaxHeight</a:t>
            </a:r>
            <a:r>
              <a:rPr lang="en-US" altLang="zh-CN" sz="1400" dirty="0">
                <a:ea typeface="宋体" pitchFamily="2" charset="-122"/>
              </a:rPr>
              <a:t>, it displays max value is 7 for 7 is bigger than 6.</a:t>
            </a:r>
          </a:p>
        </p:txBody>
      </p:sp>
    </p:spTree>
    <p:extLst>
      <p:ext uri="{BB962C8B-B14F-4D97-AF65-F5344CB8AC3E}">
        <p14:creationId xmlns:p14="http://schemas.microsoft.com/office/powerpoint/2010/main" val="3636202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40" y="7164288"/>
            <a:ext cx="1368152" cy="161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9275" y="2051050"/>
            <a:ext cx="5829300" cy="6265365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altLang="zh-CN" sz="1600" dirty="0">
                <a:ea typeface="宋体" pitchFamily="2" charset="-122"/>
              </a:rPr>
              <a:t>7. </a:t>
            </a:r>
            <a:r>
              <a:rPr lang="en-GB" sz="1600" dirty="0"/>
              <a:t>Applications: </a:t>
            </a:r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r>
              <a:rPr lang="en-GB" sz="1600" dirty="0"/>
              <a:t>How many </a:t>
            </a:r>
            <a:r>
              <a:rPr lang="en-GB" sz="1600" dirty="0" err="1"/>
              <a:t>FindMax</a:t>
            </a:r>
            <a:r>
              <a:rPr lang="en-GB" sz="1600" dirty="0"/>
              <a:t> method did you write?</a:t>
            </a:r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r>
              <a:rPr lang="en-GB" sz="1600" dirty="0"/>
              <a:t>How many times did you call the </a:t>
            </a:r>
            <a:r>
              <a:rPr lang="en-GB" sz="1600" dirty="0" err="1"/>
              <a:t>FindMax</a:t>
            </a:r>
            <a:r>
              <a:rPr lang="en-GB" sz="1600" dirty="0"/>
              <a:t> method in the application?</a:t>
            </a:r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r>
              <a:rPr lang="en-GB" sz="1600" dirty="0"/>
              <a:t>What did you observe in this program? How do you “reuse” Method?</a:t>
            </a:r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endParaRPr lang="en-GB" sz="1600" dirty="0"/>
          </a:p>
          <a:p>
            <a:pPr marL="755650" lvl="1" indent="-355600" eaLnBrk="1" hangingPunct="1">
              <a:lnSpc>
                <a:spcPct val="80000"/>
              </a:lnSpc>
              <a:buAutoNum type="alphaLcPeriod"/>
            </a:pPr>
            <a:r>
              <a:rPr lang="en-GB" sz="1600" dirty="0"/>
              <a:t>List the advantage of using method passing parameter.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436562" y="395536"/>
            <a:ext cx="6345237" cy="1440160"/>
          </a:xfrm>
          <a:noFill/>
        </p:spPr>
        <p:txBody>
          <a:bodyPr/>
          <a:lstStyle/>
          <a:p>
            <a:pPr eaLnBrk="1" hangingPunct="1"/>
            <a:r>
              <a:rPr lang="en-US" dirty="0"/>
              <a:t>Practical 3A</a:t>
            </a:r>
            <a:br>
              <a:rPr lang="en-US" dirty="0"/>
            </a:br>
            <a:r>
              <a:rPr lang="en-US" sz="3200" dirty="0">
                <a:solidFill>
                  <a:schemeClr val="bg1">
                    <a:lumMod val="25000"/>
                  </a:schemeClr>
                </a:solidFill>
              </a:rPr>
              <a:t>Reusability of method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5085184" y="7310884"/>
            <a:ext cx="1556792" cy="1509588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116104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sz="4000" b="0" dirty="0"/>
              <a:t>IT1762</a:t>
            </a:r>
            <a:br>
              <a:rPr lang="en-GB" sz="4000" b="0" dirty="0"/>
            </a:br>
            <a:r>
              <a:rPr lang="en-GB" sz="4000" b="0" dirty="0"/>
              <a:t>Data Structures &amp; Algorithms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63575" y="5202238"/>
            <a:ext cx="5834063" cy="2336800"/>
          </a:xfrm>
        </p:spPr>
        <p:txBody>
          <a:bodyPr/>
          <a:lstStyle/>
          <a:p>
            <a:pPr eaLnBrk="1" hangingPunct="1"/>
            <a:r>
              <a:rPr lang="en-GB" dirty="0"/>
              <a:t>End of </a:t>
            </a:r>
          </a:p>
          <a:p>
            <a:pPr eaLnBrk="1" hangingPunct="1"/>
            <a:r>
              <a:rPr lang="en-GB" dirty="0"/>
              <a:t>Topic 3A Methods  </a:t>
            </a:r>
          </a:p>
          <a:p>
            <a:pPr eaLnBrk="1" hangingPunct="1"/>
            <a:r>
              <a:rPr lang="en-GB" i="1" dirty="0">
                <a:solidFill>
                  <a:srgbClr val="FF0000"/>
                </a:solidFill>
              </a:rPr>
              <a:t> with parameter passing</a:t>
            </a:r>
          </a:p>
        </p:txBody>
      </p:sp>
    </p:spTree>
    <p:extLst>
      <p:ext uri="{BB962C8B-B14F-4D97-AF65-F5344CB8AC3E}">
        <p14:creationId xmlns:p14="http://schemas.microsoft.com/office/powerpoint/2010/main" val="4411693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4011</TotalTime>
  <Words>1672</Words>
  <Application>Microsoft Office PowerPoint</Application>
  <PresentationFormat>On-screen Show (4:3)</PresentationFormat>
  <Paragraphs>359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Baveuse</vt:lpstr>
      <vt:lpstr>宋体</vt:lpstr>
      <vt:lpstr>Arial</vt:lpstr>
      <vt:lpstr>Garamond</vt:lpstr>
      <vt:lpstr>Lucida Console</vt:lpstr>
      <vt:lpstr>Times New Roman</vt:lpstr>
      <vt:lpstr>Verdana</vt:lpstr>
      <vt:lpstr>Wingdings</vt:lpstr>
      <vt:lpstr>Layers</vt:lpstr>
      <vt:lpstr>IT1762 Data Structures &amp; Algorithms</vt:lpstr>
      <vt:lpstr>Topics</vt:lpstr>
      <vt:lpstr>Review: What is a method?</vt:lpstr>
      <vt:lpstr>Review :  Why use methods?</vt:lpstr>
      <vt:lpstr>Review : Passing data between methods</vt:lpstr>
      <vt:lpstr>Review : Passing data between methods</vt:lpstr>
      <vt:lpstr>Review Structure of a  Method with NO Parameter</vt:lpstr>
      <vt:lpstr>Structure of a  Method with Parameter</vt:lpstr>
      <vt:lpstr>Structure of a  Method with Parameter</vt:lpstr>
      <vt:lpstr>Method Definition with parameters</vt:lpstr>
      <vt:lpstr>Method Execution with arguments</vt:lpstr>
      <vt:lpstr>Example #1  Method with parameter - FindMax</vt:lpstr>
      <vt:lpstr>Example #2  Method with parameter – ShowName</vt:lpstr>
      <vt:lpstr>Example #3  Method with parameter – DisplayEarning</vt:lpstr>
      <vt:lpstr>Example #4  Testing your Method with parameter</vt:lpstr>
      <vt:lpstr>Summary</vt:lpstr>
      <vt:lpstr>Spot the ERRORs</vt:lpstr>
      <vt:lpstr>Spot the ERRORs</vt:lpstr>
      <vt:lpstr>Practical 3A</vt:lpstr>
      <vt:lpstr>Practical 3A</vt:lpstr>
      <vt:lpstr>Practical 3A</vt:lpstr>
      <vt:lpstr>Practical 3A</vt:lpstr>
      <vt:lpstr>Practical 3A</vt:lpstr>
      <vt:lpstr>Practical 3A</vt:lpstr>
      <vt:lpstr>Practical 3A Reusability of method</vt:lpstr>
      <vt:lpstr>Practical 3A Reusability of method</vt:lpstr>
      <vt:lpstr>IT1762 Data Structures &amp; Algorithms</vt:lpstr>
    </vt:vector>
  </TitlesOfParts>
  <Company>Nanyang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Computing</dc:title>
  <dc:creator>NYP</dc:creator>
  <cp:lastModifiedBy>TAN AI LIAN</cp:lastModifiedBy>
  <cp:revision>242</cp:revision>
  <cp:lastPrinted>2011-10-11T07:18:49Z</cp:lastPrinted>
  <dcterms:created xsi:type="dcterms:W3CDTF">2003-02-28T08:34:47Z</dcterms:created>
  <dcterms:modified xsi:type="dcterms:W3CDTF">2018-09-25T06:02:16Z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FF5D6D64-81FF-40C9-A25A-58F22401D90B</vt:lpwstr>
  </property>
  <property fmtid="{D5CDD505-2E9C-101B-9397-08002B2CF9AE}" pid="3" name="ArticulatePath">
    <vt:lpwstr>IT1762 Topic 3A - Methods with parameter passing</vt:lpwstr>
  </property>
</Properties>
</file>