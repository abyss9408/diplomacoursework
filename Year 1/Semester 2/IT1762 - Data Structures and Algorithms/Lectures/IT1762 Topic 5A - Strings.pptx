
<file path=[Content_Types].xml><?xml version="1.0" encoding="utf-8"?>
<Types xmlns="http://schemas.openxmlformats.org/package/2006/content-types">
  <Default Extension="tmp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75" r:id="rId1"/>
  </p:sldMasterIdLst>
  <p:notesMasterIdLst>
    <p:notesMasterId r:id="rId21"/>
  </p:notesMasterIdLst>
  <p:handoutMasterIdLst>
    <p:handoutMasterId r:id="rId22"/>
  </p:handoutMasterIdLst>
  <p:sldIdLst>
    <p:sldId id="431" r:id="rId2"/>
    <p:sldId id="446" r:id="rId3"/>
    <p:sldId id="435" r:id="rId4"/>
    <p:sldId id="436" r:id="rId5"/>
    <p:sldId id="460" r:id="rId6"/>
    <p:sldId id="437" r:id="rId7"/>
    <p:sldId id="456" r:id="rId8"/>
    <p:sldId id="455" r:id="rId9"/>
    <p:sldId id="438" r:id="rId10"/>
    <p:sldId id="443" r:id="rId11"/>
    <p:sldId id="440" r:id="rId12"/>
    <p:sldId id="454" r:id="rId13"/>
    <p:sldId id="442" r:id="rId14"/>
    <p:sldId id="457" r:id="rId15"/>
    <p:sldId id="458" r:id="rId16"/>
    <p:sldId id="459" r:id="rId17"/>
    <p:sldId id="439" r:id="rId18"/>
    <p:sldId id="461" r:id="rId19"/>
    <p:sldId id="453" r:id="rId20"/>
  </p:sldIdLst>
  <p:sldSz cx="6858000" cy="9144000" type="screen4x3"/>
  <p:notesSz cx="10234613" cy="7099300"/>
  <p:custDataLst>
    <p:tags r:id="rId2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12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12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12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12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6">
          <p15:clr>
            <a:srgbClr val="A4A3A4"/>
          </p15:clr>
        </p15:guide>
        <p15:guide id="2" pos="32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00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336600"/>
    <a:srgbClr val="FFCC66"/>
    <a:srgbClr val="CCFF99"/>
    <a:srgbClr val="009900"/>
    <a:srgbClr val="FF0000"/>
    <a:srgbClr val="A8C1FE"/>
    <a:srgbClr val="033E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98" autoAdjust="0"/>
    <p:restoredTop sz="90929"/>
  </p:normalViewPr>
  <p:slideViewPr>
    <p:cSldViewPr>
      <p:cViewPr>
        <p:scale>
          <a:sx n="75" d="100"/>
          <a:sy n="75" d="100"/>
        </p:scale>
        <p:origin x="1160" y="-100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-594" y="-78"/>
      </p:cViewPr>
      <p:guideLst>
        <p:guide orient="horz" pos="2236"/>
        <p:guide pos="32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1594" y="0"/>
            <a:ext cx="4386972" cy="3148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092" tIns="0" rIns="20092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100" b="0" i="1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836048" y="0"/>
            <a:ext cx="4386973" cy="3148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092" tIns="0" rIns="20092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100" b="0" i="1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479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1594" y="0"/>
            <a:ext cx="4386972" cy="3148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092" tIns="0" rIns="20092" bIns="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100" b="0" i="1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836048" y="0"/>
            <a:ext cx="4386973" cy="3148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092" tIns="0" rIns="20092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100" b="0" i="1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1594" y="6704516"/>
            <a:ext cx="4386972" cy="394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092" tIns="0" rIns="20092" bIns="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100" b="0" i="1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836048" y="6704516"/>
            <a:ext cx="4386973" cy="394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092" tIns="0" rIns="20092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100" b="0" i="1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B48010F2-9EE8-4B31-BBD3-3D87083861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4730168" y="6750461"/>
            <a:ext cx="774277" cy="260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88" tIns="46881" rIns="92088" bIns="46881">
            <a:spAutoFit/>
          </a:bodyPr>
          <a:lstStyle/>
          <a:p>
            <a:pPr algn="ctr" defTabSz="915862" eaLnBrk="0" hangingPunct="0">
              <a:lnSpc>
                <a:spcPct val="90000"/>
              </a:lnSpc>
              <a:defRPr/>
            </a:pPr>
            <a:r>
              <a:rPr lang="en-US" b="0" dirty="0">
                <a:latin typeface="Arial" charset="0"/>
              </a:rPr>
              <a:t>Page </a:t>
            </a:r>
            <a:fld id="{EFD31810-CD5C-447A-B587-A4CB31A329A8}" type="slidenum">
              <a:rPr lang="en-US" b="0">
                <a:latin typeface="Arial" charset="0"/>
              </a:rPr>
              <a:pPr algn="ctr" defTabSz="915862" eaLnBrk="0" hangingPunct="0">
                <a:lnSpc>
                  <a:spcPct val="90000"/>
                </a:lnSpc>
                <a:defRPr/>
              </a:pPr>
              <a:t>‹#›</a:t>
            </a:fld>
            <a:endParaRPr lang="en-US" b="0" dirty="0">
              <a:latin typeface="Arial" charset="0"/>
            </a:endParaRPr>
          </a:p>
        </p:txBody>
      </p:sp>
      <p:sp>
        <p:nvSpPr>
          <p:cNvPr id="20487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122738" y="534988"/>
            <a:ext cx="1990725" cy="26574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6" name="Rectangle 8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64616" y="3376082"/>
            <a:ext cx="7503727" cy="2986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12" tIns="48556" rIns="97112" bIns="4855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35580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87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lnSpc>
        <a:spcPct val="87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lnSpc>
        <a:spcPct val="87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lnSpc>
        <a:spcPct val="87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lnSpc>
        <a:spcPct val="87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6572250" cy="7924800"/>
            <a:chOff x="0" y="0"/>
            <a:chExt cx="5520" cy="374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grpSp>
          <p:nvGrpSpPr>
            <p:cNvPr id="3" name="Group 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white">
              <a:xfrm>
                <a:off x="655" y="2352"/>
                <a:ext cx="4817" cy="134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4" name="Group 8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rgbClr val="FF99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endParaRPr lang="en-US" sz="2400">
                  <a:latin typeface="Times New Roman" pitchFamily="18" charset="0"/>
                </a:endParaRPr>
              </a:p>
            </p:txBody>
          </p:sp>
          <p:sp>
            <p:nvSpPr>
              <p:cNvPr id="9" name="Line 10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13" name="Rectangle 13"/>
          <p:cNvSpPr>
            <a:spLocks noChangeArrowheads="1"/>
          </p:cNvSpPr>
          <p:nvPr userDrawn="1"/>
        </p:nvSpPr>
        <p:spPr bwMode="auto">
          <a:xfrm>
            <a:off x="0" y="8636000"/>
            <a:ext cx="3789363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eaLnBrk="0" hangingPunct="0">
              <a:defRPr/>
            </a:pPr>
            <a:r>
              <a:rPr lang="en-US" sz="800" dirty="0">
                <a:latin typeface="Arial" charset="0"/>
              </a:rPr>
              <a:t>Copyrights © Nanyang Polytechnic, 2018</a:t>
            </a:r>
            <a:r>
              <a:rPr lang="en-US" sz="800" baseline="0" dirty="0">
                <a:latin typeface="Arial" charset="0"/>
              </a:rPr>
              <a:t> </a:t>
            </a:r>
            <a:r>
              <a:rPr lang="en-US" sz="800" dirty="0">
                <a:latin typeface="Arial" charset="0"/>
              </a:rPr>
              <a:t>S2</a:t>
            </a:r>
          </a:p>
        </p:txBody>
      </p:sp>
      <p:sp>
        <p:nvSpPr>
          <p:cNvPr id="14" name="Text Box 14"/>
          <p:cNvSpPr txBox="1">
            <a:spLocks noChangeArrowheads="1"/>
          </p:cNvSpPr>
          <p:nvPr userDrawn="1"/>
        </p:nvSpPr>
        <p:spPr bwMode="auto">
          <a:xfrm>
            <a:off x="1341438" y="468313"/>
            <a:ext cx="280828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GB" sz="1000"/>
              <a:t>IT1762 Data Structures and Algorithms</a:t>
            </a:r>
          </a:p>
        </p:txBody>
      </p:sp>
      <p:sp>
        <p:nvSpPr>
          <p:cNvPr id="15" name="Rectangle 15"/>
          <p:cNvSpPr>
            <a:spLocks noChangeArrowheads="1"/>
          </p:cNvSpPr>
          <p:nvPr userDrawn="1"/>
        </p:nvSpPr>
        <p:spPr bwMode="auto">
          <a:xfrm>
            <a:off x="4797425" y="8748713"/>
            <a:ext cx="1933575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en-GB" sz="1000">
                <a:latin typeface="Arial" charset="0"/>
              </a:rPr>
              <a:t>page </a:t>
            </a:r>
            <a:fld id="{031DFFDD-9244-442C-BECF-AAF258B5BD95}" type="slidenum">
              <a:rPr lang="en-GB" sz="1000">
                <a:latin typeface="Arial" charset="0"/>
              </a:rPr>
              <a:pPr algn="r">
                <a:defRPr/>
              </a:pPr>
              <a:t>‹#›</a:t>
            </a:fld>
            <a:endParaRPr lang="en-GB" sz="1000">
              <a:latin typeface="Arial" charset="0"/>
            </a:endParaRPr>
          </a:p>
        </p:txBody>
      </p:sp>
      <p:sp>
        <p:nvSpPr>
          <p:cNvPr id="293899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1543050" y="1524000"/>
            <a:ext cx="4972050" cy="2946400"/>
          </a:xfrm>
        </p:spPr>
        <p:txBody>
          <a:bodyPr/>
          <a:lstStyle>
            <a:lvl1pPr>
              <a:defRPr sz="3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93900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028700" y="5283200"/>
            <a:ext cx="5143500" cy="21336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 dirty="0"/>
              <a:t>Click to edit Master subtitle style</a:t>
            </a:r>
          </a:p>
        </p:txBody>
      </p:sp>
    </p:spTree>
    <p:custDataLst>
      <p:tags r:id="rId1"/>
    </p:custData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6250" y="1619250"/>
            <a:ext cx="2943225" cy="6913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71875" y="1619250"/>
            <a:ext cx="2943225" cy="6913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67300" y="179388"/>
            <a:ext cx="1530350" cy="83534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6250" y="179388"/>
            <a:ext cx="4438650" cy="83534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79388"/>
            <a:ext cx="6048375" cy="7905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76250" y="1619250"/>
            <a:ext cx="2943225" cy="6913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71875" y="1619250"/>
            <a:ext cx="2943225" cy="6913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7" name="Rectangle 3"/>
          <p:cNvSpPr>
            <a:spLocks noChangeArrowheads="1"/>
          </p:cNvSpPr>
          <p:nvPr/>
        </p:nvSpPr>
        <p:spPr bwMode="auto">
          <a:xfrm>
            <a:off x="0" y="0"/>
            <a:ext cx="457200" cy="65024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2400">
              <a:latin typeface="Times New Roman" pitchFamily="18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54025" y="1030288"/>
            <a:ext cx="6229350" cy="242887"/>
            <a:chOff x="240" y="893"/>
            <a:chExt cx="5232" cy="115"/>
          </a:xfrm>
        </p:grpSpPr>
        <p:sp>
          <p:nvSpPr>
            <p:cNvPr id="292869" name="Rectangle 5"/>
            <p:cNvSpPr>
              <a:spLocks noChangeArrowheads="1"/>
            </p:cNvSpPr>
            <p:nvPr/>
          </p:nvSpPr>
          <p:spPr bwMode="auto">
            <a:xfrm>
              <a:off x="4320" y="893"/>
              <a:ext cx="1152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2400">
                <a:latin typeface="Times New Roman" pitchFamily="18" charset="0"/>
              </a:endParaRPr>
            </a:p>
          </p:txBody>
        </p:sp>
        <p:sp>
          <p:nvSpPr>
            <p:cNvPr id="292870" name="Line 6"/>
            <p:cNvSpPr>
              <a:spLocks noChangeShapeType="1"/>
            </p:cNvSpPr>
            <p:nvPr/>
          </p:nvSpPr>
          <p:spPr bwMode="auto">
            <a:xfrm>
              <a:off x="240" y="941"/>
              <a:ext cx="5232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028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549275" y="179388"/>
            <a:ext cx="6048375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9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6250" y="1619250"/>
            <a:ext cx="6038850" cy="691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92873" name="Line 9"/>
          <p:cNvSpPr>
            <a:spLocks noChangeShapeType="1"/>
          </p:cNvSpPr>
          <p:nvPr/>
        </p:nvSpPr>
        <p:spPr bwMode="auto">
          <a:xfrm>
            <a:off x="0" y="6502400"/>
            <a:ext cx="4572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2874" name="Rectangle 10"/>
          <p:cNvSpPr>
            <a:spLocks noChangeArrowheads="1"/>
          </p:cNvSpPr>
          <p:nvPr userDrawn="1"/>
        </p:nvSpPr>
        <p:spPr bwMode="auto">
          <a:xfrm>
            <a:off x="0" y="8636000"/>
            <a:ext cx="446405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eaLnBrk="0" hangingPunct="0">
              <a:defRPr/>
            </a:pPr>
            <a:r>
              <a:rPr lang="en-US" sz="800" dirty="0">
                <a:latin typeface="Arial" charset="0"/>
              </a:rPr>
              <a:t>Copyrights © Nanyang Polytechnic, 2018 S2		</a:t>
            </a:r>
          </a:p>
        </p:txBody>
      </p:sp>
      <p:sp>
        <p:nvSpPr>
          <p:cNvPr id="292876" name="Rectangle 12"/>
          <p:cNvSpPr>
            <a:spLocks noChangeArrowheads="1"/>
          </p:cNvSpPr>
          <p:nvPr/>
        </p:nvSpPr>
        <p:spPr bwMode="auto">
          <a:xfrm>
            <a:off x="4797425" y="8748713"/>
            <a:ext cx="1933575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r>
              <a:rPr lang="en-GB" sz="1000">
                <a:latin typeface="Arial" charset="0"/>
              </a:rPr>
              <a:t>page </a:t>
            </a:r>
            <a:fld id="{8CA2E951-249F-4E27-B4E3-5C4572D9A724}" type="slidenum">
              <a:rPr lang="en-GB" sz="1000">
                <a:latin typeface="Arial" charset="0"/>
              </a:rPr>
              <a:pPr algn="r">
                <a:defRPr/>
              </a:pPr>
              <a:t>‹#›</a:t>
            </a:fld>
            <a:endParaRPr lang="en-GB" sz="1000">
              <a:latin typeface="Arial" charset="0"/>
            </a:endParaRPr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00099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msdn.microsoft.com/en-us/library/system.string.aspx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2.tm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image" Target="../media/image9.tmp"/><Relationship Id="rId5" Type="http://schemas.openxmlformats.org/officeDocument/2006/relationships/image" Target="../media/image8.tmp"/><Relationship Id="rId4" Type="http://schemas.openxmlformats.org/officeDocument/2006/relationships/image" Target="../media/image7.tm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tmp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71534" y="2285984"/>
            <a:ext cx="5829300" cy="1962150"/>
          </a:xfrm>
          <a:noFill/>
        </p:spPr>
        <p:txBody>
          <a:bodyPr/>
          <a:lstStyle/>
          <a:p>
            <a:pPr algn="r" eaLnBrk="1" hangingPunct="1"/>
            <a:r>
              <a:rPr lang="en-GB" sz="4000" b="0" dirty="0"/>
              <a:t>IT1762</a:t>
            </a:r>
            <a:br>
              <a:rPr lang="en-GB" sz="4000" b="0" dirty="0"/>
            </a:br>
            <a:r>
              <a:rPr lang="en-GB" sz="4000" b="0" dirty="0"/>
              <a:t>Data Structures and Algorithms</a:t>
            </a:r>
            <a:endParaRPr lang="en-US" sz="4000" b="0" dirty="0"/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GB" sz="3600" b="1" dirty="0">
                <a:latin typeface="Times New Roman" pitchFamily="18" charset="0"/>
              </a:rPr>
              <a:t>Topic 5A</a:t>
            </a:r>
          </a:p>
          <a:p>
            <a:pPr eaLnBrk="1" hangingPunct="1">
              <a:lnSpc>
                <a:spcPct val="150000"/>
              </a:lnSpc>
            </a:pPr>
            <a:r>
              <a:rPr lang="en-GB" sz="3600" b="1" dirty="0">
                <a:latin typeface="Times New Roman" pitchFamily="18" charset="0"/>
              </a:rPr>
              <a:t>Strings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OBJECTIVES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479447" y="1687513"/>
            <a:ext cx="6092825" cy="4670425"/>
          </a:xfrm>
        </p:spPr>
        <p:txBody>
          <a:bodyPr/>
          <a:lstStyle/>
          <a:p>
            <a:pPr eaLnBrk="1" hangingPunct="1"/>
            <a:r>
              <a:rPr lang="en-US" dirty="0"/>
              <a:t>Learn how to handle strings in C#</a:t>
            </a:r>
          </a:p>
          <a:p>
            <a:pPr lvl="1" eaLnBrk="1" hangingPunct="1"/>
            <a:r>
              <a:rPr lang="en-US" dirty="0"/>
              <a:t>Capture a string.</a:t>
            </a:r>
          </a:p>
          <a:p>
            <a:pPr lvl="1" eaLnBrk="1" hangingPunct="1"/>
            <a:r>
              <a:rPr lang="en-US" dirty="0"/>
              <a:t>Processing a string.</a:t>
            </a:r>
          </a:p>
          <a:p>
            <a:pPr lvl="1" eaLnBrk="1" hangingPunct="1"/>
            <a:r>
              <a:rPr lang="en-US" dirty="0"/>
              <a:t>Compare 2 strings.</a:t>
            </a:r>
          </a:p>
          <a:p>
            <a:pPr lvl="1" eaLnBrk="1" hangingPunct="1"/>
            <a:r>
              <a:rPr lang="en-GB" dirty="0"/>
              <a:t>Substring in a string.</a:t>
            </a:r>
            <a:endParaRPr lang="en-US" dirty="0"/>
          </a:p>
          <a:p>
            <a:pPr lvl="1" eaLnBrk="1" hangingPunct="1"/>
            <a:r>
              <a:rPr lang="en-US" dirty="0"/>
              <a:t>Useful properties of strings</a:t>
            </a:r>
          </a:p>
          <a:p>
            <a:pPr lvl="2" eaLnBrk="1" hangingPunct="1"/>
            <a:r>
              <a:rPr lang="en-US" dirty="0" err="1"/>
              <a:t>eg</a:t>
            </a:r>
            <a:r>
              <a:rPr lang="en-US" dirty="0"/>
              <a:t>. Length</a:t>
            </a:r>
          </a:p>
          <a:p>
            <a:pPr lvl="1" eaLnBrk="1" hangingPunct="1"/>
            <a:r>
              <a:rPr lang="en-US" dirty="0"/>
              <a:t>Relationship between string and character (char) array.</a:t>
            </a:r>
          </a:p>
          <a:p>
            <a:pPr lvl="1" eaLnBrk="1" hangingPunct="1">
              <a:buFont typeface="Wingdings" pitchFamily="2" charset="2"/>
              <a:buNone/>
            </a:pPr>
            <a:endParaRPr lang="en-US" dirty="0"/>
          </a:p>
          <a:p>
            <a:pPr lvl="1" eaLnBrk="1" hangingPunct="1">
              <a:buFont typeface="Wingdings" pitchFamily="2" charset="2"/>
              <a:buNone/>
            </a:pP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3140968" y="5940152"/>
            <a:ext cx="3551736" cy="2996258"/>
            <a:chOff x="3140968" y="5940152"/>
            <a:chExt cx="3551736" cy="2996258"/>
          </a:xfrm>
        </p:grpSpPr>
        <p:pic>
          <p:nvPicPr>
            <p:cNvPr id="1026" name="Picture 2" descr="C:\Users\tanail\AppData\Local\Microsoft\Windows\Temporary Internet Files\Content.IE5\RXI7DR66\MC900133409[1]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0968" y="5940152"/>
              <a:ext cx="3551736" cy="2968957"/>
            </a:xfrm>
            <a:prstGeom prst="rect">
              <a:avLst/>
            </a:prstGeom>
            <a:noFill/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3259667" y="7884368"/>
              <a:ext cx="54534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solidFill>
                    <a:srgbClr val="FF0000"/>
                  </a:solidFill>
                </a:rPr>
                <a:t>‘S’</a:t>
              </a:r>
              <a:endParaRPr lang="en-SG" sz="2800" dirty="0">
                <a:solidFill>
                  <a:srgbClr val="FF0000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5517232" y="8413190"/>
              <a:ext cx="54534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>
                  <a:solidFill>
                    <a:srgbClr val="336600"/>
                  </a:solidFill>
                </a:rPr>
                <a:t>‘P’</a:t>
              </a:r>
              <a:endParaRPr lang="en-SG" sz="2800" dirty="0">
                <a:solidFill>
                  <a:srgbClr val="33660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04" y="179388"/>
            <a:ext cx="6048375" cy="790575"/>
          </a:xfrm>
        </p:spPr>
        <p:txBody>
          <a:bodyPr/>
          <a:lstStyle/>
          <a:p>
            <a:pPr eaLnBrk="1" hangingPunct="1"/>
            <a:r>
              <a:rPr lang="en-GB" dirty="0">
                <a:solidFill>
                  <a:srgbClr val="FF0000"/>
                </a:solidFill>
              </a:rPr>
              <a:t>String Class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76250" y="1158899"/>
            <a:ext cx="6038850" cy="6913563"/>
          </a:xfrm>
        </p:spPr>
        <p:txBody>
          <a:bodyPr/>
          <a:lstStyle/>
          <a:p>
            <a:pPr marL="449263" indent="-449263" eaLnBrk="1" hangingPunct="1"/>
            <a:r>
              <a:rPr lang="en-GB" sz="2600" dirty="0"/>
              <a:t>The string type is used to handle many characters in C#.</a:t>
            </a:r>
          </a:p>
          <a:p>
            <a:pPr marL="449263" indent="-449263" eaLnBrk="1" hangingPunct="1">
              <a:spcBef>
                <a:spcPct val="30000"/>
              </a:spcBef>
              <a:spcAft>
                <a:spcPct val="30000"/>
              </a:spcAft>
              <a:buFont typeface="Wingdings" pitchFamily="2" charset="2"/>
              <a:buNone/>
            </a:pPr>
            <a:r>
              <a:rPr lang="en-GB" sz="2600" i="1" dirty="0" err="1"/>
              <a:t>eg</a:t>
            </a:r>
            <a:r>
              <a:rPr lang="en-GB" sz="2600" i="1" dirty="0"/>
              <a:t>. </a:t>
            </a:r>
            <a:r>
              <a:rPr lang="en-GB" sz="2600" i="1" dirty="0">
                <a:solidFill>
                  <a:srgbClr val="033ED3"/>
                </a:solidFill>
              </a:rPr>
              <a:t>string name = “Graham Green”;</a:t>
            </a:r>
          </a:p>
          <a:p>
            <a:pPr marL="449263" indent="-449263" eaLnBrk="1" hangingPunct="1"/>
            <a:r>
              <a:rPr lang="en-GB" sz="2600" dirty="0"/>
              <a:t>To handle one or single character, use the   </a:t>
            </a:r>
            <a:r>
              <a:rPr lang="en-GB" sz="2600" dirty="0">
                <a:solidFill>
                  <a:srgbClr val="FF0000"/>
                </a:solidFill>
              </a:rPr>
              <a:t>char</a:t>
            </a:r>
            <a:r>
              <a:rPr lang="en-GB" sz="2600" dirty="0"/>
              <a:t>   data type.</a:t>
            </a:r>
          </a:p>
          <a:p>
            <a:pPr marL="449263" indent="-449263" eaLnBrk="1" hangingPunct="1">
              <a:spcBef>
                <a:spcPct val="30000"/>
              </a:spcBef>
              <a:spcAft>
                <a:spcPct val="30000"/>
              </a:spcAft>
              <a:buFont typeface="Wingdings" pitchFamily="2" charset="2"/>
              <a:buNone/>
            </a:pPr>
            <a:r>
              <a:rPr lang="en-GB" sz="2600" i="1" dirty="0" err="1"/>
              <a:t>eg</a:t>
            </a:r>
            <a:r>
              <a:rPr lang="en-GB" sz="2600" i="1" dirty="0"/>
              <a:t>. </a:t>
            </a:r>
            <a:r>
              <a:rPr lang="en-GB" sz="2600" i="1" dirty="0">
                <a:solidFill>
                  <a:srgbClr val="033ED3"/>
                </a:solidFill>
              </a:rPr>
              <a:t>char gender = ‘M’;</a:t>
            </a:r>
          </a:p>
          <a:p>
            <a:pPr marL="449263" indent="-449263" eaLnBrk="1" hangingPunct="1"/>
            <a:r>
              <a:rPr lang="en-GB" sz="2600" dirty="0"/>
              <a:t>The string data type is </a:t>
            </a:r>
            <a:r>
              <a:rPr lang="en-GB" sz="2600" dirty="0">
                <a:solidFill>
                  <a:srgbClr val="FF0000"/>
                </a:solidFill>
              </a:rPr>
              <a:t>IMMUTABLE</a:t>
            </a:r>
            <a:r>
              <a:rPr lang="en-GB" sz="2600" dirty="0"/>
              <a:t> – </a:t>
            </a:r>
            <a:r>
              <a:rPr lang="en-GB" sz="2600" i="1" dirty="0"/>
              <a:t>the text of the string cannot be modified after it has been created.</a:t>
            </a:r>
          </a:p>
          <a:p>
            <a:pPr marL="449263" indent="-449263" eaLnBrk="1" hangingPunct="1">
              <a:spcBef>
                <a:spcPct val="30000"/>
              </a:spcBef>
              <a:buFont typeface="Wingdings" pitchFamily="2" charset="2"/>
              <a:buNone/>
            </a:pPr>
            <a:r>
              <a:rPr lang="en-GB" sz="2600" i="1" dirty="0" err="1"/>
              <a:t>eg</a:t>
            </a:r>
            <a:r>
              <a:rPr lang="en-GB" sz="2600" i="1" dirty="0"/>
              <a:t>. </a:t>
            </a:r>
            <a:r>
              <a:rPr lang="en-GB" sz="2600" i="1" dirty="0">
                <a:solidFill>
                  <a:srgbClr val="033ED3"/>
                </a:solidFill>
              </a:rPr>
              <a:t>string name = “Michael Caxton”;</a:t>
            </a:r>
          </a:p>
          <a:p>
            <a:pPr marL="449263" indent="-449263" eaLnBrk="1" hangingPunct="1">
              <a:spcBef>
                <a:spcPct val="0"/>
              </a:spcBef>
              <a:spcAft>
                <a:spcPct val="30000"/>
              </a:spcAft>
              <a:buFont typeface="Wingdings" pitchFamily="2" charset="2"/>
              <a:buNone/>
            </a:pPr>
            <a:r>
              <a:rPr lang="en-GB" sz="2600" i="1" dirty="0">
                <a:solidFill>
                  <a:srgbClr val="033ED3"/>
                </a:solidFill>
              </a:rPr>
              <a:t>	name[0] = ‘Z’;	</a:t>
            </a:r>
            <a:r>
              <a:rPr lang="en-GB" sz="2600" i="1" dirty="0">
                <a:solidFill>
                  <a:srgbClr val="FF0000"/>
                </a:solidFill>
              </a:rPr>
              <a:t>//compile error</a:t>
            </a:r>
          </a:p>
          <a:p>
            <a:pPr marL="449263" indent="-449263" eaLnBrk="1" hangingPunct="1"/>
            <a:r>
              <a:rPr lang="en-GB" sz="2600" dirty="0"/>
              <a:t>Methods that modify a string value actually returns a new instance of string that contains the modification.</a:t>
            </a:r>
            <a:endParaRPr lang="en-US" sz="2600" dirty="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04" y="107504"/>
            <a:ext cx="6429396" cy="892596"/>
          </a:xfrm>
        </p:spPr>
        <p:txBody>
          <a:bodyPr/>
          <a:lstStyle/>
          <a:p>
            <a:pPr eaLnBrk="1" hangingPunct="1"/>
            <a:r>
              <a:rPr lang="en-GB" sz="4000" dirty="0">
                <a:solidFill>
                  <a:srgbClr val="FF0000"/>
                </a:solidFill>
              </a:rPr>
              <a:t>String </a:t>
            </a:r>
            <a:br>
              <a:rPr lang="en-GB" sz="2800" dirty="0">
                <a:solidFill>
                  <a:srgbClr val="FF0000"/>
                </a:solidFill>
              </a:rPr>
            </a:br>
            <a:r>
              <a:rPr lang="en-GB" sz="2800" dirty="0">
                <a:solidFill>
                  <a:srgbClr val="FF0000"/>
                </a:solidFill>
              </a:rPr>
              <a:t>Methods, Properties, Operators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76250" y="1259632"/>
            <a:ext cx="6038850" cy="5977085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GB" sz="2000" dirty="0"/>
              <a:t>Bracket [ ] – extract a single character from a string.</a:t>
            </a:r>
          </a:p>
          <a:p>
            <a:pPr eaLnBrk="1" hangingPunct="1">
              <a:spcBef>
                <a:spcPct val="50000"/>
              </a:spcBef>
            </a:pPr>
            <a:r>
              <a:rPr lang="en-GB" sz="2000" dirty="0"/>
              <a:t>Insert – method to insert characters into a string.</a:t>
            </a:r>
          </a:p>
          <a:p>
            <a:pPr eaLnBrk="1" hangingPunct="1">
              <a:spcBef>
                <a:spcPct val="50000"/>
              </a:spcBef>
            </a:pPr>
            <a:r>
              <a:rPr lang="en-GB" sz="2000" dirty="0"/>
              <a:t>Length Property – returns the length of a string or the number of characters in a string.</a:t>
            </a:r>
          </a:p>
          <a:p>
            <a:pPr eaLnBrk="1" hangingPunct="1">
              <a:spcBef>
                <a:spcPct val="50000"/>
              </a:spcBef>
            </a:pPr>
            <a:r>
              <a:rPr lang="en-GB" sz="2000" dirty="0" err="1"/>
              <a:t>Concat</a:t>
            </a:r>
            <a:r>
              <a:rPr lang="en-GB" sz="2000" dirty="0"/>
              <a:t> – method to join strings together.</a:t>
            </a:r>
          </a:p>
          <a:p>
            <a:pPr eaLnBrk="1" hangingPunct="1">
              <a:spcBef>
                <a:spcPct val="50000"/>
              </a:spcBef>
            </a:pPr>
            <a:r>
              <a:rPr lang="en-GB" sz="2000" dirty="0"/>
              <a:t>Equals – method to compare 2 strings.</a:t>
            </a:r>
          </a:p>
          <a:p>
            <a:pPr lvl="1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GB" sz="2000" dirty="0"/>
              <a:t>(can also use == and != operators)</a:t>
            </a:r>
          </a:p>
          <a:p>
            <a:pPr lvl="1"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GB" sz="2000" dirty="0"/>
              <a:t>(cannot use &lt; , &gt;, &lt;=, &gt;= for strings)</a:t>
            </a:r>
          </a:p>
          <a:p>
            <a:pPr lvl="1" eaLnBrk="1" hangingPunct="1">
              <a:spcBef>
                <a:spcPct val="50000"/>
              </a:spcBef>
              <a:buFont typeface="Wingdings" pitchFamily="2" charset="2"/>
              <a:buNone/>
            </a:pPr>
            <a:endParaRPr lang="en-GB" sz="2000" dirty="0"/>
          </a:p>
          <a:p>
            <a:pPr eaLnBrk="1" hangingPunct="1"/>
            <a:r>
              <a:rPr lang="en-GB" sz="2000" dirty="0"/>
              <a:t>Strings can be operated on by methods</a:t>
            </a:r>
          </a:p>
          <a:p>
            <a:pPr lvl="1" eaLnBrk="1" hangingPunct="1"/>
            <a:r>
              <a:rPr lang="en-GB" sz="2000" dirty="0">
                <a:solidFill>
                  <a:srgbClr val="FF0000"/>
                </a:solidFill>
              </a:rPr>
              <a:t>Amending</a:t>
            </a:r>
            <a:r>
              <a:rPr lang="en-GB" sz="2000" dirty="0"/>
              <a:t> string methods</a:t>
            </a:r>
          </a:p>
          <a:p>
            <a:pPr lvl="1" eaLnBrk="1" hangingPunct="1"/>
            <a:r>
              <a:rPr lang="en-GB" sz="2000" dirty="0">
                <a:solidFill>
                  <a:srgbClr val="FF0000"/>
                </a:solidFill>
              </a:rPr>
              <a:t>Conversion</a:t>
            </a:r>
            <a:r>
              <a:rPr lang="en-GB" sz="2000" dirty="0"/>
              <a:t> string methods</a:t>
            </a:r>
          </a:p>
          <a:p>
            <a:pPr lvl="1" eaLnBrk="1" hangingPunct="1"/>
            <a:r>
              <a:rPr lang="en-GB" sz="2000" dirty="0">
                <a:solidFill>
                  <a:srgbClr val="FF0000"/>
                </a:solidFill>
              </a:rPr>
              <a:t>Examining</a:t>
            </a:r>
            <a:r>
              <a:rPr lang="en-GB" sz="2000" dirty="0"/>
              <a:t> string methods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endParaRPr lang="en-GB" sz="2000" dirty="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50" y="1259632"/>
            <a:ext cx="6038850" cy="1872630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None/>
            </a:pPr>
            <a:r>
              <a:rPr lang="en-GB" dirty="0"/>
              <a:t>For a full list of methods &amp; properties of String, visit MSDN website: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lang="en-GB" sz="1800" u="sng" dirty="0">
                <a:hlinkClick r:id="rId3"/>
              </a:rPr>
              <a:t>http://msdn.microsoft.com/en-us/library/system.string.aspx</a:t>
            </a:r>
            <a:r>
              <a:rPr lang="en-GB" sz="1800" dirty="0"/>
              <a:t> </a:t>
            </a:r>
            <a:endParaRPr lang="en-US" sz="2000" dirty="0"/>
          </a:p>
          <a:p>
            <a:endParaRPr lang="en-SG" sz="1800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4000" dirty="0">
                <a:solidFill>
                  <a:srgbClr val="FF0000"/>
                </a:solidFill>
              </a:rPr>
              <a:t>String </a:t>
            </a:r>
            <a:br>
              <a:rPr lang="en-GB" sz="2800" dirty="0">
                <a:solidFill>
                  <a:srgbClr val="FF0000"/>
                </a:solidFill>
              </a:rPr>
            </a:br>
            <a:r>
              <a:rPr lang="en-GB" sz="2800" dirty="0">
                <a:solidFill>
                  <a:srgbClr val="FF0000"/>
                </a:solidFill>
              </a:rPr>
              <a:t>Methods, Properties, Operators</a:t>
            </a: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5" name="Picture 4" descr="String Class - Windows Internet Explorer provided by Nanyang Polytechnic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4" t="18067" r="2979" b="272"/>
          <a:stretch/>
        </p:blipFill>
        <p:spPr>
          <a:xfrm>
            <a:off x="212196" y="3131840"/>
            <a:ext cx="6313148" cy="49470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loud 5"/>
          <p:cNvSpPr/>
          <p:nvPr/>
        </p:nvSpPr>
        <p:spPr>
          <a:xfrm>
            <a:off x="1196752" y="7956376"/>
            <a:ext cx="5149236" cy="1140728"/>
          </a:xfrm>
          <a:prstGeom prst="cloud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ct val="50000"/>
              </a:spcBef>
            </a:pPr>
            <a:r>
              <a:rPr lang="en-US" sz="1600" dirty="0"/>
              <a:t>MUST Visit the MSDN website to find out more about String classes</a:t>
            </a:r>
            <a:endParaRPr lang="en-US" sz="1600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630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04" y="352401"/>
            <a:ext cx="6048375" cy="790575"/>
          </a:xfrm>
        </p:spPr>
        <p:txBody>
          <a:bodyPr/>
          <a:lstStyle/>
          <a:p>
            <a:pPr eaLnBrk="1" hangingPunct="1"/>
            <a:r>
              <a:rPr lang="en-GB" dirty="0"/>
              <a:t>Example – Bracket [ ]</a:t>
            </a:r>
            <a:endParaRPr 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8604" y="1142976"/>
            <a:ext cx="6312764" cy="6872287"/>
          </a:xfrm>
        </p:spPr>
        <p:txBody>
          <a:bodyPr/>
          <a:lstStyle/>
          <a:p>
            <a:pPr marL="465138" indent="-465138" eaLnBrk="1" hangingPunct="1">
              <a:lnSpc>
                <a:spcPct val="90000"/>
              </a:lnSpc>
            </a:pPr>
            <a:r>
              <a:rPr lang="en-GB" sz="2000" dirty="0"/>
              <a:t>A string is stored as a character array.</a:t>
            </a:r>
          </a:p>
          <a:p>
            <a:pPr marL="465138" indent="-465138" eaLnBrk="1" hangingPunct="1">
              <a:lnSpc>
                <a:spcPct val="90000"/>
              </a:lnSpc>
            </a:pPr>
            <a:r>
              <a:rPr lang="en-GB" sz="2000" dirty="0"/>
              <a:t>The square brackets [ ] returns specific characters of a string.</a:t>
            </a:r>
          </a:p>
          <a:p>
            <a:pPr marL="465138" indent="-465138" eaLnBrk="1" hangingPunct="1">
              <a:lnSpc>
                <a:spcPct val="90000"/>
              </a:lnSpc>
            </a:pPr>
            <a:r>
              <a:rPr lang="en-GB" sz="2000" dirty="0"/>
              <a:t>[ ] contains a integer.  Its range is between 0 and the (string Length -1).</a:t>
            </a:r>
          </a:p>
          <a:p>
            <a:pPr marL="465138" indent="-465138" eaLnBrk="1" hangingPunct="1">
              <a:lnSpc>
                <a:spcPct val="90000"/>
              </a:lnSpc>
            </a:pPr>
            <a:r>
              <a:rPr lang="en-GB" sz="2000" dirty="0"/>
              <a:t>The length of the string is </a:t>
            </a:r>
            <a:r>
              <a:rPr lang="en-GB" sz="2000" b="1" dirty="0">
                <a:solidFill>
                  <a:srgbClr val="FF0000"/>
                </a:solidFill>
              </a:rPr>
              <a:t>7</a:t>
            </a:r>
            <a:r>
              <a:rPr lang="en-GB" sz="2000" dirty="0"/>
              <a:t>(the number of characters it contains)</a:t>
            </a:r>
          </a:p>
          <a:p>
            <a:pPr marL="465138" indent="-465138" eaLnBrk="1" hangingPunct="1">
              <a:lnSpc>
                <a:spcPct val="90000"/>
              </a:lnSpc>
              <a:buFont typeface="Wingdings" pitchFamily="2" charset="2"/>
              <a:buNone/>
            </a:pPr>
            <a:endParaRPr lang="en-GB" sz="2000" dirty="0"/>
          </a:p>
          <a:p>
            <a:pPr marL="465138" indent="-465138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GB" sz="2000" dirty="0"/>
              <a:t>string address = “180 AMK”;</a:t>
            </a:r>
          </a:p>
          <a:p>
            <a:pPr marL="465138" indent="-465138" eaLnBrk="1" hangingPunct="1">
              <a:lnSpc>
                <a:spcPct val="90000"/>
              </a:lnSpc>
              <a:buFont typeface="Wingdings" pitchFamily="2" charset="2"/>
              <a:buNone/>
            </a:pPr>
            <a:endParaRPr lang="en-GB" sz="2000" dirty="0"/>
          </a:p>
          <a:p>
            <a:pPr marL="465138" indent="-465138" eaLnBrk="1" hangingPunct="1">
              <a:lnSpc>
                <a:spcPct val="90000"/>
              </a:lnSpc>
              <a:buFont typeface="Wingdings" pitchFamily="2" charset="2"/>
              <a:buNone/>
            </a:pPr>
            <a:endParaRPr lang="en-GB" sz="2000" dirty="0"/>
          </a:p>
          <a:p>
            <a:pPr marL="465138" indent="-465138" eaLnBrk="1" hangingPunct="1">
              <a:lnSpc>
                <a:spcPct val="90000"/>
              </a:lnSpc>
              <a:buFont typeface="Wingdings" pitchFamily="2" charset="2"/>
              <a:buNone/>
            </a:pPr>
            <a:endParaRPr lang="en-GB" sz="2000" dirty="0"/>
          </a:p>
          <a:p>
            <a:pPr marL="465138" indent="-465138" eaLnBrk="1" hangingPunct="1">
              <a:lnSpc>
                <a:spcPct val="90000"/>
              </a:lnSpc>
              <a:buFont typeface="Wingdings" pitchFamily="2" charset="2"/>
              <a:buNone/>
            </a:pPr>
            <a:endParaRPr lang="en-GB" sz="2000" dirty="0"/>
          </a:p>
          <a:p>
            <a:pPr marL="465138" indent="-465138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GB" sz="1800" dirty="0" err="1"/>
              <a:t>MessageBox.Show</a:t>
            </a:r>
            <a:r>
              <a:rPr lang="en-GB" sz="1800" dirty="0"/>
              <a:t>(“Display second character :” + address[1]);</a:t>
            </a:r>
          </a:p>
          <a:p>
            <a:pPr marL="465138" indent="-465138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GB" sz="1800" dirty="0">
                <a:solidFill>
                  <a:srgbClr val="336600"/>
                </a:solidFill>
              </a:rPr>
              <a:t>// display 2</a:t>
            </a:r>
            <a:r>
              <a:rPr lang="en-GB" sz="1800" baseline="30000" dirty="0">
                <a:solidFill>
                  <a:srgbClr val="336600"/>
                </a:solidFill>
              </a:rPr>
              <a:t>nd</a:t>
            </a:r>
            <a:r>
              <a:rPr lang="en-GB" sz="1800" dirty="0">
                <a:solidFill>
                  <a:srgbClr val="336600"/>
                </a:solidFill>
              </a:rPr>
              <a:t> character of address – ‘8’</a:t>
            </a:r>
          </a:p>
          <a:p>
            <a:pPr marL="465138" indent="-465138" eaLnBrk="1" hangingPunct="1">
              <a:lnSpc>
                <a:spcPct val="90000"/>
              </a:lnSpc>
              <a:buFont typeface="Wingdings" pitchFamily="2" charset="2"/>
              <a:buNone/>
            </a:pPr>
            <a:endParaRPr lang="en-GB" sz="1800" dirty="0"/>
          </a:p>
          <a:p>
            <a:pPr marL="465138" indent="-465138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GB" sz="1800" dirty="0"/>
              <a:t>char temp = address[4];</a:t>
            </a:r>
          </a:p>
          <a:p>
            <a:pPr marL="465138" indent="-465138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GB" sz="1800" dirty="0">
                <a:solidFill>
                  <a:srgbClr val="336600"/>
                </a:solidFill>
              </a:rPr>
              <a:t>// stores 5</a:t>
            </a:r>
            <a:r>
              <a:rPr lang="en-GB" sz="1800" baseline="30000" dirty="0">
                <a:solidFill>
                  <a:srgbClr val="336600"/>
                </a:solidFill>
              </a:rPr>
              <a:t>th</a:t>
            </a:r>
            <a:r>
              <a:rPr lang="en-GB" sz="1800" dirty="0">
                <a:solidFill>
                  <a:srgbClr val="336600"/>
                </a:solidFill>
              </a:rPr>
              <a:t> character ‘A’ into temp</a:t>
            </a:r>
          </a:p>
          <a:p>
            <a:pPr marL="465138" indent="-465138" eaLnBrk="1" hangingPunct="1">
              <a:lnSpc>
                <a:spcPct val="90000"/>
              </a:lnSpc>
              <a:buFont typeface="Wingdings" pitchFamily="2" charset="2"/>
              <a:buNone/>
            </a:pPr>
            <a:endParaRPr lang="en-GB" sz="1800" dirty="0"/>
          </a:p>
          <a:p>
            <a:pPr marL="465138" indent="-465138" eaLnBrk="1" hangingPunct="1">
              <a:lnSpc>
                <a:spcPct val="90000"/>
              </a:lnSpc>
              <a:buFont typeface="Wingdings" pitchFamily="2" charset="2"/>
              <a:buNone/>
            </a:pPr>
            <a:endParaRPr lang="en-GB" sz="1800" dirty="0"/>
          </a:p>
          <a:p>
            <a:pPr marL="465138" indent="-465138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GB" sz="1800" dirty="0"/>
              <a:t>address[2] = ‘9’; </a:t>
            </a:r>
          </a:p>
          <a:p>
            <a:pPr marL="465138" indent="-465138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1800" dirty="0">
              <a:solidFill>
                <a:schemeClr val="accent6"/>
              </a:solidFill>
            </a:endParaRPr>
          </a:p>
        </p:txBody>
      </p:sp>
      <p:sp>
        <p:nvSpPr>
          <p:cNvPr id="7172" name="Line 33"/>
          <p:cNvSpPr>
            <a:spLocks noChangeShapeType="1"/>
          </p:cNvSpPr>
          <p:nvPr/>
        </p:nvSpPr>
        <p:spPr bwMode="auto">
          <a:xfrm>
            <a:off x="1341438" y="2627313"/>
            <a:ext cx="403225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173" name="Line 34"/>
          <p:cNvSpPr>
            <a:spLocks noChangeShapeType="1"/>
          </p:cNvSpPr>
          <p:nvPr/>
        </p:nvSpPr>
        <p:spPr bwMode="auto">
          <a:xfrm>
            <a:off x="1341438" y="3021013"/>
            <a:ext cx="403225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174" name="Line 35"/>
          <p:cNvSpPr>
            <a:spLocks noChangeShapeType="1"/>
          </p:cNvSpPr>
          <p:nvPr/>
        </p:nvSpPr>
        <p:spPr bwMode="auto">
          <a:xfrm>
            <a:off x="1341438" y="2627313"/>
            <a:ext cx="0" cy="39370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175" name="Line 42"/>
          <p:cNvSpPr>
            <a:spLocks noChangeShapeType="1"/>
          </p:cNvSpPr>
          <p:nvPr/>
        </p:nvSpPr>
        <p:spPr bwMode="auto">
          <a:xfrm>
            <a:off x="4171950" y="2627313"/>
            <a:ext cx="0" cy="393700"/>
          </a:xfrm>
          <a:prstGeom prst="line">
            <a:avLst/>
          </a:prstGeom>
          <a:noFill/>
          <a:ln w="12700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176" name="Line 43"/>
          <p:cNvSpPr>
            <a:spLocks noChangeShapeType="1"/>
          </p:cNvSpPr>
          <p:nvPr/>
        </p:nvSpPr>
        <p:spPr bwMode="auto">
          <a:xfrm>
            <a:off x="1744663" y="2627313"/>
            <a:ext cx="406400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177" name="Line 44"/>
          <p:cNvSpPr>
            <a:spLocks noChangeShapeType="1"/>
          </p:cNvSpPr>
          <p:nvPr/>
        </p:nvSpPr>
        <p:spPr bwMode="auto">
          <a:xfrm>
            <a:off x="1744663" y="3021013"/>
            <a:ext cx="406400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178" name="Line 45"/>
          <p:cNvSpPr>
            <a:spLocks noChangeShapeType="1"/>
          </p:cNvSpPr>
          <p:nvPr/>
        </p:nvSpPr>
        <p:spPr bwMode="auto">
          <a:xfrm>
            <a:off x="2151063" y="2627313"/>
            <a:ext cx="403225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179" name="Line 46"/>
          <p:cNvSpPr>
            <a:spLocks noChangeShapeType="1"/>
          </p:cNvSpPr>
          <p:nvPr/>
        </p:nvSpPr>
        <p:spPr bwMode="auto">
          <a:xfrm>
            <a:off x="2151063" y="3021013"/>
            <a:ext cx="403225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180" name="Line 47"/>
          <p:cNvSpPr>
            <a:spLocks noChangeShapeType="1"/>
          </p:cNvSpPr>
          <p:nvPr/>
        </p:nvSpPr>
        <p:spPr bwMode="auto">
          <a:xfrm>
            <a:off x="2554288" y="2627313"/>
            <a:ext cx="404812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181" name="Line 48"/>
          <p:cNvSpPr>
            <a:spLocks noChangeShapeType="1"/>
          </p:cNvSpPr>
          <p:nvPr/>
        </p:nvSpPr>
        <p:spPr bwMode="auto">
          <a:xfrm>
            <a:off x="2554288" y="3021013"/>
            <a:ext cx="404812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182" name="Line 49"/>
          <p:cNvSpPr>
            <a:spLocks noChangeShapeType="1"/>
          </p:cNvSpPr>
          <p:nvPr/>
        </p:nvSpPr>
        <p:spPr bwMode="auto">
          <a:xfrm>
            <a:off x="2959100" y="2627313"/>
            <a:ext cx="403225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183" name="Line 50"/>
          <p:cNvSpPr>
            <a:spLocks noChangeShapeType="1"/>
          </p:cNvSpPr>
          <p:nvPr/>
        </p:nvSpPr>
        <p:spPr bwMode="auto">
          <a:xfrm>
            <a:off x="2959100" y="3021013"/>
            <a:ext cx="403225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184" name="Line 51"/>
          <p:cNvSpPr>
            <a:spLocks noChangeShapeType="1"/>
          </p:cNvSpPr>
          <p:nvPr/>
        </p:nvSpPr>
        <p:spPr bwMode="auto">
          <a:xfrm>
            <a:off x="3362325" y="2627313"/>
            <a:ext cx="406400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185" name="Line 52"/>
          <p:cNvSpPr>
            <a:spLocks noChangeShapeType="1"/>
          </p:cNvSpPr>
          <p:nvPr/>
        </p:nvSpPr>
        <p:spPr bwMode="auto">
          <a:xfrm>
            <a:off x="3362325" y="3021013"/>
            <a:ext cx="406400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186" name="Line 53"/>
          <p:cNvSpPr>
            <a:spLocks noChangeShapeType="1"/>
          </p:cNvSpPr>
          <p:nvPr/>
        </p:nvSpPr>
        <p:spPr bwMode="auto">
          <a:xfrm>
            <a:off x="3768725" y="2627313"/>
            <a:ext cx="403225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187" name="Line 54"/>
          <p:cNvSpPr>
            <a:spLocks noChangeShapeType="1"/>
          </p:cNvSpPr>
          <p:nvPr/>
        </p:nvSpPr>
        <p:spPr bwMode="auto">
          <a:xfrm>
            <a:off x="3768725" y="3021013"/>
            <a:ext cx="403225" cy="0"/>
          </a:xfrm>
          <a:prstGeom prst="line">
            <a:avLst/>
          </a:prstGeom>
          <a:noFill/>
          <a:ln w="28575" cap="sq">
            <a:noFill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188" name="Group 60"/>
          <p:cNvGrpSpPr>
            <a:grpSpLocks/>
          </p:cNvGrpSpPr>
          <p:nvPr/>
        </p:nvGrpSpPr>
        <p:grpSpPr bwMode="auto">
          <a:xfrm>
            <a:off x="1687512" y="4178548"/>
            <a:ext cx="4968875" cy="825500"/>
            <a:chOff x="845" y="1383"/>
            <a:chExt cx="3130" cy="520"/>
          </a:xfrm>
        </p:grpSpPr>
        <p:sp>
          <p:nvSpPr>
            <p:cNvPr id="7189" name="Rectangle 11"/>
            <p:cNvSpPr>
              <a:spLocks noChangeArrowheads="1"/>
            </p:cNvSpPr>
            <p:nvPr/>
          </p:nvSpPr>
          <p:spPr bwMode="auto">
            <a:xfrm>
              <a:off x="2374" y="1383"/>
              <a:ext cx="254" cy="249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0000"/>
                </a:buClr>
                <a:buFont typeface="Wingdings" pitchFamily="2" charset="2"/>
                <a:buNone/>
              </a:pPr>
              <a:r>
                <a:rPr lang="en-GB" sz="2000" b="0">
                  <a:latin typeface="Arial" charset="0"/>
                </a:rPr>
                <a:t>K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7190" name="Rectangle 10"/>
            <p:cNvSpPr>
              <a:spLocks noChangeArrowheads="1"/>
            </p:cNvSpPr>
            <p:nvPr/>
          </p:nvSpPr>
          <p:spPr bwMode="auto">
            <a:xfrm>
              <a:off x="2118" y="1383"/>
              <a:ext cx="256" cy="249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0000"/>
                </a:buClr>
                <a:buFont typeface="Wingdings" pitchFamily="2" charset="2"/>
                <a:buNone/>
              </a:pPr>
              <a:r>
                <a:rPr lang="en-GB" sz="2000" b="0">
                  <a:latin typeface="Arial" charset="0"/>
                </a:rPr>
                <a:t>M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7191" name="Rectangle 9"/>
            <p:cNvSpPr>
              <a:spLocks noChangeArrowheads="1"/>
            </p:cNvSpPr>
            <p:nvPr/>
          </p:nvSpPr>
          <p:spPr bwMode="auto">
            <a:xfrm>
              <a:off x="1864" y="1383"/>
              <a:ext cx="254" cy="249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0000"/>
                </a:buClr>
                <a:buFont typeface="Wingdings" pitchFamily="2" charset="2"/>
                <a:buNone/>
              </a:pPr>
              <a:r>
                <a:rPr lang="en-GB" sz="2000" b="0">
                  <a:latin typeface="Arial" charset="0"/>
                </a:rPr>
                <a:t>A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7192" name="Rectangle 8"/>
            <p:cNvSpPr>
              <a:spLocks noChangeArrowheads="1"/>
            </p:cNvSpPr>
            <p:nvPr/>
          </p:nvSpPr>
          <p:spPr bwMode="auto">
            <a:xfrm>
              <a:off x="1609" y="1383"/>
              <a:ext cx="255" cy="249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en-US" sz="2000" b="0">
                <a:latin typeface="Arial" charset="0"/>
              </a:endParaRPr>
            </a:p>
          </p:txBody>
        </p:sp>
        <p:sp>
          <p:nvSpPr>
            <p:cNvPr id="7193" name="Rectangle 7"/>
            <p:cNvSpPr>
              <a:spLocks noChangeArrowheads="1"/>
            </p:cNvSpPr>
            <p:nvPr/>
          </p:nvSpPr>
          <p:spPr bwMode="auto">
            <a:xfrm>
              <a:off x="1355" y="1383"/>
              <a:ext cx="254" cy="249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0000"/>
                </a:buClr>
                <a:buFont typeface="Wingdings" pitchFamily="2" charset="2"/>
                <a:buNone/>
              </a:pPr>
              <a:r>
                <a:rPr lang="en-GB" sz="2000" b="0">
                  <a:latin typeface="Arial" charset="0"/>
                </a:rPr>
                <a:t>0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7194" name="Rectangle 6"/>
            <p:cNvSpPr>
              <a:spLocks noChangeArrowheads="1"/>
            </p:cNvSpPr>
            <p:nvPr/>
          </p:nvSpPr>
          <p:spPr bwMode="auto">
            <a:xfrm>
              <a:off x="1099" y="1383"/>
              <a:ext cx="256" cy="249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0000"/>
                </a:buClr>
                <a:buFont typeface="Wingdings" pitchFamily="2" charset="2"/>
                <a:buNone/>
              </a:pPr>
              <a:r>
                <a:rPr lang="en-GB" sz="2000" b="0">
                  <a:latin typeface="Arial" charset="0"/>
                </a:rPr>
                <a:t>8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7195" name="Rectangle 5"/>
            <p:cNvSpPr>
              <a:spLocks noChangeArrowheads="1"/>
            </p:cNvSpPr>
            <p:nvPr/>
          </p:nvSpPr>
          <p:spPr bwMode="auto">
            <a:xfrm>
              <a:off x="845" y="1383"/>
              <a:ext cx="254" cy="249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0000"/>
                </a:buClr>
                <a:buFont typeface="Wingdings" pitchFamily="2" charset="2"/>
                <a:buNone/>
              </a:pPr>
              <a:r>
                <a:rPr lang="en-GB" sz="2000" b="0">
                  <a:latin typeface="Arial" charset="0"/>
                </a:rPr>
                <a:t>1</a:t>
              </a:r>
              <a:endParaRPr lang="en-US" sz="2000" b="0">
                <a:latin typeface="Arial" charset="0"/>
              </a:endParaRPr>
            </a:p>
          </p:txBody>
        </p:sp>
        <p:sp>
          <p:nvSpPr>
            <p:cNvPr id="7196" name="Line 12"/>
            <p:cNvSpPr>
              <a:spLocks noChangeShapeType="1"/>
            </p:cNvSpPr>
            <p:nvPr/>
          </p:nvSpPr>
          <p:spPr bwMode="auto">
            <a:xfrm>
              <a:off x="845" y="1383"/>
              <a:ext cx="178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7" name="Line 13"/>
            <p:cNvSpPr>
              <a:spLocks noChangeShapeType="1"/>
            </p:cNvSpPr>
            <p:nvPr/>
          </p:nvSpPr>
          <p:spPr bwMode="auto">
            <a:xfrm>
              <a:off x="845" y="1632"/>
              <a:ext cx="178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8" name="Line 14"/>
            <p:cNvSpPr>
              <a:spLocks noChangeShapeType="1"/>
            </p:cNvSpPr>
            <p:nvPr/>
          </p:nvSpPr>
          <p:spPr bwMode="auto">
            <a:xfrm>
              <a:off x="845" y="1383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99" name="Line 15"/>
            <p:cNvSpPr>
              <a:spLocks noChangeShapeType="1"/>
            </p:cNvSpPr>
            <p:nvPr/>
          </p:nvSpPr>
          <p:spPr bwMode="auto">
            <a:xfrm>
              <a:off x="1099" y="1383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00" name="Line 16"/>
            <p:cNvSpPr>
              <a:spLocks noChangeShapeType="1"/>
            </p:cNvSpPr>
            <p:nvPr/>
          </p:nvSpPr>
          <p:spPr bwMode="auto">
            <a:xfrm>
              <a:off x="1355" y="1383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01" name="Line 17"/>
            <p:cNvSpPr>
              <a:spLocks noChangeShapeType="1"/>
            </p:cNvSpPr>
            <p:nvPr/>
          </p:nvSpPr>
          <p:spPr bwMode="auto">
            <a:xfrm>
              <a:off x="1609" y="1383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02" name="Line 18"/>
            <p:cNvSpPr>
              <a:spLocks noChangeShapeType="1"/>
            </p:cNvSpPr>
            <p:nvPr/>
          </p:nvSpPr>
          <p:spPr bwMode="auto">
            <a:xfrm>
              <a:off x="1864" y="1383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03" name="Line 19"/>
            <p:cNvSpPr>
              <a:spLocks noChangeShapeType="1"/>
            </p:cNvSpPr>
            <p:nvPr/>
          </p:nvSpPr>
          <p:spPr bwMode="auto">
            <a:xfrm>
              <a:off x="2118" y="1383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04" name="Line 20"/>
            <p:cNvSpPr>
              <a:spLocks noChangeShapeType="1"/>
            </p:cNvSpPr>
            <p:nvPr/>
          </p:nvSpPr>
          <p:spPr bwMode="auto">
            <a:xfrm>
              <a:off x="2374" y="1383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05" name="Line 21"/>
            <p:cNvSpPr>
              <a:spLocks noChangeShapeType="1"/>
            </p:cNvSpPr>
            <p:nvPr/>
          </p:nvSpPr>
          <p:spPr bwMode="auto">
            <a:xfrm>
              <a:off x="2628" y="1383"/>
              <a:ext cx="0" cy="24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06" name="Rectangle 26"/>
            <p:cNvSpPr>
              <a:spLocks noChangeArrowheads="1"/>
            </p:cNvSpPr>
            <p:nvPr/>
          </p:nvSpPr>
          <p:spPr bwMode="auto">
            <a:xfrm>
              <a:off x="2374" y="1655"/>
              <a:ext cx="254" cy="24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0000"/>
                </a:buClr>
                <a:buFont typeface="Wingdings" pitchFamily="2" charset="2"/>
                <a:buNone/>
              </a:pPr>
              <a:r>
                <a:rPr lang="en-GB" sz="1600" b="0">
                  <a:solidFill>
                    <a:srgbClr val="FF0000"/>
                  </a:solidFill>
                  <a:latin typeface="Arial" charset="0"/>
                </a:rPr>
                <a:t>6</a:t>
              </a:r>
              <a:endParaRPr lang="en-US" sz="1600" b="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7207" name="Rectangle 27"/>
            <p:cNvSpPr>
              <a:spLocks noChangeArrowheads="1"/>
            </p:cNvSpPr>
            <p:nvPr/>
          </p:nvSpPr>
          <p:spPr bwMode="auto">
            <a:xfrm>
              <a:off x="2118" y="1655"/>
              <a:ext cx="256" cy="24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0000"/>
                </a:buClr>
                <a:buFont typeface="Wingdings" pitchFamily="2" charset="2"/>
                <a:buNone/>
              </a:pPr>
              <a:r>
                <a:rPr lang="en-GB" sz="1600" b="0">
                  <a:solidFill>
                    <a:srgbClr val="FF0000"/>
                  </a:solidFill>
                  <a:latin typeface="Arial" charset="0"/>
                </a:rPr>
                <a:t>5</a:t>
              </a:r>
              <a:endParaRPr lang="en-US" sz="1600" b="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7208" name="Rectangle 28"/>
            <p:cNvSpPr>
              <a:spLocks noChangeArrowheads="1"/>
            </p:cNvSpPr>
            <p:nvPr/>
          </p:nvSpPr>
          <p:spPr bwMode="auto">
            <a:xfrm>
              <a:off x="1864" y="1655"/>
              <a:ext cx="254" cy="24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0000"/>
                </a:buClr>
                <a:buFont typeface="Wingdings" pitchFamily="2" charset="2"/>
                <a:buNone/>
              </a:pPr>
              <a:r>
                <a:rPr lang="en-GB" sz="1600" b="0">
                  <a:solidFill>
                    <a:srgbClr val="FF0000"/>
                  </a:solidFill>
                  <a:latin typeface="Arial" charset="0"/>
                </a:rPr>
                <a:t>4</a:t>
              </a:r>
              <a:endParaRPr lang="en-US" sz="1600" b="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7209" name="Rectangle 29"/>
            <p:cNvSpPr>
              <a:spLocks noChangeArrowheads="1"/>
            </p:cNvSpPr>
            <p:nvPr/>
          </p:nvSpPr>
          <p:spPr bwMode="auto">
            <a:xfrm>
              <a:off x="1609" y="1655"/>
              <a:ext cx="255" cy="24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0000"/>
                </a:buClr>
                <a:buFont typeface="Wingdings" pitchFamily="2" charset="2"/>
                <a:buNone/>
              </a:pPr>
              <a:r>
                <a:rPr lang="en-GB" sz="1600" b="0">
                  <a:solidFill>
                    <a:srgbClr val="FF0000"/>
                  </a:solidFill>
                  <a:latin typeface="Arial" charset="0"/>
                </a:rPr>
                <a:t>3</a:t>
              </a:r>
              <a:endParaRPr lang="en-US" sz="1600" b="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7210" name="Rectangle 30"/>
            <p:cNvSpPr>
              <a:spLocks noChangeArrowheads="1"/>
            </p:cNvSpPr>
            <p:nvPr/>
          </p:nvSpPr>
          <p:spPr bwMode="auto">
            <a:xfrm>
              <a:off x="1355" y="1655"/>
              <a:ext cx="254" cy="24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0000"/>
                </a:buClr>
                <a:buFont typeface="Wingdings" pitchFamily="2" charset="2"/>
                <a:buNone/>
              </a:pPr>
              <a:r>
                <a:rPr lang="en-GB" sz="1600" b="0">
                  <a:solidFill>
                    <a:srgbClr val="FF0000"/>
                  </a:solidFill>
                  <a:latin typeface="Arial" charset="0"/>
                </a:rPr>
                <a:t>2</a:t>
              </a:r>
              <a:endParaRPr lang="en-US" sz="1600" b="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7211" name="Rectangle 31"/>
            <p:cNvSpPr>
              <a:spLocks noChangeArrowheads="1"/>
            </p:cNvSpPr>
            <p:nvPr/>
          </p:nvSpPr>
          <p:spPr bwMode="auto">
            <a:xfrm>
              <a:off x="1099" y="1655"/>
              <a:ext cx="256" cy="24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0000"/>
                </a:buClr>
                <a:buFont typeface="Wingdings" pitchFamily="2" charset="2"/>
                <a:buNone/>
              </a:pPr>
              <a:r>
                <a:rPr lang="en-GB" sz="1600" b="0">
                  <a:solidFill>
                    <a:srgbClr val="FF0000"/>
                  </a:solidFill>
                  <a:latin typeface="Arial" charset="0"/>
                </a:rPr>
                <a:t>1</a:t>
              </a:r>
              <a:endParaRPr lang="en-US" sz="1600" b="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7212" name="Rectangle 32"/>
            <p:cNvSpPr>
              <a:spLocks noChangeArrowheads="1"/>
            </p:cNvSpPr>
            <p:nvPr/>
          </p:nvSpPr>
          <p:spPr bwMode="auto">
            <a:xfrm>
              <a:off x="845" y="1655"/>
              <a:ext cx="254" cy="24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0000"/>
                </a:buClr>
                <a:buFont typeface="Wingdings" pitchFamily="2" charset="2"/>
                <a:buNone/>
              </a:pPr>
              <a:r>
                <a:rPr lang="en-GB" sz="1600" b="0">
                  <a:solidFill>
                    <a:srgbClr val="FF0000"/>
                  </a:solidFill>
                  <a:latin typeface="Arial" charset="0"/>
                </a:rPr>
                <a:t>0</a:t>
              </a:r>
              <a:endParaRPr lang="en-US" sz="1600" b="0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7213" name="Text Box 58"/>
            <p:cNvSpPr txBox="1">
              <a:spLocks noChangeArrowheads="1"/>
            </p:cNvSpPr>
            <p:nvPr/>
          </p:nvSpPr>
          <p:spPr bwMode="auto">
            <a:xfrm>
              <a:off x="3249" y="1610"/>
              <a:ext cx="72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sz="2000" dirty="0">
                  <a:solidFill>
                    <a:srgbClr val="FF0000"/>
                  </a:solidFill>
                </a:rPr>
                <a:t>INDEX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  <p:sp>
          <p:nvSpPr>
            <p:cNvPr id="7214" name="Line 59"/>
            <p:cNvSpPr>
              <a:spLocks noChangeShapeType="1"/>
            </p:cNvSpPr>
            <p:nvPr/>
          </p:nvSpPr>
          <p:spPr bwMode="auto">
            <a:xfrm flipH="1">
              <a:off x="2614" y="1746"/>
              <a:ext cx="6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lg" len="lg"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050" name="Picture 2" descr="C:\Users\tanail\AppData\Local\Microsoft\Windows\Temporary Internet Files\Content.IE5\6KSNL5KG\MC900078714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44" y="7092280"/>
            <a:ext cx="612923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204864" y="7556266"/>
            <a:ext cx="4258556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accent6"/>
                </a:solidFill>
              </a:rPr>
              <a:t>// not valid as string is </a:t>
            </a:r>
            <a:r>
              <a:rPr lang="en-GB" sz="2000" u="sng" dirty="0">
                <a:solidFill>
                  <a:schemeClr val="accent6"/>
                </a:solidFill>
              </a:rPr>
              <a:t>immutable</a:t>
            </a:r>
            <a:endParaRPr lang="en-SG" sz="2000" dirty="0"/>
          </a:p>
        </p:txBody>
      </p:sp>
      <p:sp>
        <p:nvSpPr>
          <p:cNvPr id="49" name="Text Box 58"/>
          <p:cNvSpPr txBox="1">
            <a:spLocks noChangeArrowheads="1"/>
          </p:cNvSpPr>
          <p:nvPr/>
        </p:nvSpPr>
        <p:spPr bwMode="auto">
          <a:xfrm>
            <a:off x="418406" y="4170913"/>
            <a:ext cx="1354410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000" dirty="0">
                <a:solidFill>
                  <a:srgbClr val="FF0000"/>
                </a:solidFill>
              </a:rPr>
              <a:t>Character :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76672" y="35496"/>
            <a:ext cx="6048375" cy="1080244"/>
          </a:xfrm>
        </p:spPr>
        <p:txBody>
          <a:bodyPr/>
          <a:lstStyle/>
          <a:p>
            <a:pPr lvl="1" eaLnBrk="1" hangingPunct="1"/>
            <a:r>
              <a:rPr lang="en-GB" sz="2400" dirty="0">
                <a:solidFill>
                  <a:srgbClr val="FF0000"/>
                </a:solidFill>
              </a:rPr>
              <a:t>Amending</a:t>
            </a:r>
            <a:r>
              <a:rPr lang="en-GB" sz="2400" dirty="0"/>
              <a:t> string methods</a:t>
            </a:r>
            <a:br>
              <a:rPr lang="en-GB" sz="2000" dirty="0"/>
            </a:br>
            <a:r>
              <a:rPr lang="en-US" dirty="0"/>
              <a:t>Replacing String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76250" y="1619251"/>
            <a:ext cx="6038850" cy="1656606"/>
          </a:xfrm>
        </p:spPr>
        <p:txBody>
          <a:bodyPr/>
          <a:lstStyle/>
          <a:p>
            <a:pPr eaLnBrk="1" hangingPunct="1"/>
            <a:r>
              <a:rPr lang="en-US" dirty="0"/>
              <a:t>You can replace a string value with another string by using the “= “ operator (assignment).</a:t>
            </a:r>
          </a:p>
          <a:p>
            <a:pPr eaLnBrk="1" hangingPunct="1"/>
            <a:endParaRPr lang="en-US" sz="2000" dirty="0"/>
          </a:p>
        </p:txBody>
      </p:sp>
      <p:sp>
        <p:nvSpPr>
          <p:cNvPr id="2" name="Rectangle 1"/>
          <p:cNvSpPr/>
          <p:nvPr/>
        </p:nvSpPr>
        <p:spPr>
          <a:xfrm>
            <a:off x="548680" y="3491880"/>
            <a:ext cx="5832648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1800" b="0" dirty="0">
                <a:latin typeface="+mn-lt"/>
              </a:rPr>
              <a:t>string Address = “33 Kent Road”;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b="0" dirty="0">
                <a:latin typeface="+mn-lt"/>
              </a:rPr>
              <a:t>string </a:t>
            </a:r>
            <a:r>
              <a:rPr lang="en-US" sz="1800" b="0" dirty="0" err="1">
                <a:latin typeface="+mn-lt"/>
              </a:rPr>
              <a:t>tempAddress</a:t>
            </a:r>
            <a:r>
              <a:rPr lang="en-US" sz="1800" b="0" dirty="0">
                <a:latin typeface="+mn-lt"/>
              </a:rPr>
              <a:t> = “33 AMK”;</a:t>
            </a:r>
          </a:p>
          <a:p>
            <a:pPr eaLnBrk="1" hangingPunct="1">
              <a:buFont typeface="Wingdings" pitchFamily="2" charset="2"/>
              <a:buNone/>
            </a:pPr>
            <a:endParaRPr lang="en-US" sz="1800" b="0" dirty="0">
              <a:latin typeface="+mn-lt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sz="1800" b="0" dirty="0">
                <a:latin typeface="+mn-lt"/>
              </a:rPr>
              <a:t>Address = </a:t>
            </a:r>
            <a:r>
              <a:rPr lang="en-US" sz="1800" b="0" dirty="0" err="1">
                <a:latin typeface="+mn-lt"/>
              </a:rPr>
              <a:t>tempAddress</a:t>
            </a:r>
            <a:r>
              <a:rPr lang="en-US" sz="1800" b="0" dirty="0">
                <a:latin typeface="+mn-lt"/>
              </a:rPr>
              <a:t>;</a:t>
            </a:r>
          </a:p>
          <a:p>
            <a:r>
              <a:rPr lang="en-US" sz="1800" b="0" dirty="0" err="1">
                <a:latin typeface="+mn-lt"/>
              </a:rPr>
              <a:t>MessageBox.Show</a:t>
            </a:r>
            <a:r>
              <a:rPr lang="en-US" sz="1800" b="0" dirty="0">
                <a:latin typeface="+mn-lt"/>
              </a:rPr>
              <a:t>(“result is ” + Address);</a:t>
            </a:r>
          </a:p>
          <a:p>
            <a:r>
              <a:rPr lang="en-US" sz="1800" b="0" dirty="0">
                <a:solidFill>
                  <a:srgbClr val="FF0000"/>
                </a:solidFill>
              </a:rPr>
              <a:t>//33 AMK</a:t>
            </a:r>
          </a:p>
          <a:p>
            <a:pPr eaLnBrk="1" hangingPunct="1">
              <a:buFont typeface="Wingdings" pitchFamily="2" charset="2"/>
              <a:buNone/>
            </a:pPr>
            <a:endParaRPr lang="en-US" sz="1800" b="0" dirty="0">
              <a:latin typeface="+mn-lt"/>
            </a:endParaRPr>
          </a:p>
          <a:p>
            <a:pPr eaLnBrk="1" hangingPunct="1">
              <a:buFont typeface="Wingdings" pitchFamily="2" charset="2"/>
              <a:buNone/>
            </a:pPr>
            <a:endParaRPr lang="en-US" sz="1800" b="0" dirty="0"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9875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76672" y="179388"/>
            <a:ext cx="6048375" cy="936228"/>
          </a:xfrm>
        </p:spPr>
        <p:txBody>
          <a:bodyPr/>
          <a:lstStyle/>
          <a:p>
            <a:pPr eaLnBrk="1" hangingPunct="1"/>
            <a:r>
              <a:rPr lang="en-GB" sz="2400" dirty="0">
                <a:solidFill>
                  <a:srgbClr val="FF0000"/>
                </a:solidFill>
              </a:rPr>
              <a:t>Amending</a:t>
            </a:r>
            <a:r>
              <a:rPr lang="en-GB" sz="2400" dirty="0"/>
              <a:t> string methods </a:t>
            </a:r>
            <a:br>
              <a:rPr lang="en-GB" sz="2400" dirty="0"/>
            </a:br>
            <a:r>
              <a:rPr lang="en-US" dirty="0"/>
              <a:t>Joining 2 Strings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76250" y="1619251"/>
            <a:ext cx="5977086" cy="3024758"/>
          </a:xfrm>
        </p:spPr>
        <p:txBody>
          <a:bodyPr/>
          <a:lstStyle/>
          <a:p>
            <a:pPr eaLnBrk="1" hangingPunct="1"/>
            <a:r>
              <a:rPr lang="en-US" sz="2400" dirty="0" err="1"/>
              <a:t>Concat</a:t>
            </a:r>
            <a:r>
              <a:rPr lang="en-US" sz="2400" dirty="0"/>
              <a:t> method joins 2 strings together.</a:t>
            </a:r>
          </a:p>
          <a:p>
            <a:pPr eaLnBrk="1" hangingPunct="1"/>
            <a:r>
              <a:rPr lang="en-US" sz="2400" dirty="0"/>
              <a:t>Syntax: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400" dirty="0" err="1"/>
              <a:t>String.Concat</a:t>
            </a:r>
            <a:r>
              <a:rPr lang="en-US" sz="2400" dirty="0"/>
              <a:t>( string1, string2);</a:t>
            </a:r>
          </a:p>
          <a:p>
            <a:pPr eaLnBrk="1" hangingPunct="1">
              <a:buFont typeface="Wingdings" pitchFamily="2" charset="2"/>
              <a:buNone/>
            </a:pPr>
            <a:endParaRPr lang="en-US" sz="2400" dirty="0"/>
          </a:p>
          <a:p>
            <a:pPr eaLnBrk="1" hangingPunct="1">
              <a:buFont typeface="Wingdings" pitchFamily="2" charset="2"/>
              <a:buNone/>
            </a:pPr>
            <a:r>
              <a:rPr lang="en-US" sz="2400" u="sng" dirty="0"/>
              <a:t>Example</a:t>
            </a:r>
            <a:r>
              <a:rPr lang="en-US" sz="2400" dirty="0"/>
              <a:t>:</a:t>
            </a:r>
          </a:p>
        </p:txBody>
      </p:sp>
      <p:sp>
        <p:nvSpPr>
          <p:cNvPr id="2" name="Rectangle 1"/>
          <p:cNvSpPr/>
          <p:nvPr/>
        </p:nvSpPr>
        <p:spPr>
          <a:xfrm>
            <a:off x="473803" y="4669904"/>
            <a:ext cx="5616624" cy="19482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1800" b="0" dirty="0">
                <a:latin typeface="+mn-lt"/>
              </a:rPr>
              <a:t>string Surname = “Clinton”;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b="0" dirty="0">
                <a:latin typeface="+mn-lt"/>
              </a:rPr>
              <a:t>string </a:t>
            </a:r>
            <a:r>
              <a:rPr lang="en-US" sz="1800" b="0" dirty="0" err="1">
                <a:latin typeface="+mn-lt"/>
              </a:rPr>
              <a:t>Lastname</a:t>
            </a:r>
            <a:r>
              <a:rPr lang="en-US" sz="1800" b="0" dirty="0">
                <a:latin typeface="+mn-lt"/>
              </a:rPr>
              <a:t> = “Bill “;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b="0" dirty="0">
                <a:latin typeface="+mn-lt"/>
              </a:rPr>
              <a:t>string Name = </a:t>
            </a:r>
            <a:r>
              <a:rPr lang="en-US" sz="1800" b="0" dirty="0" err="1">
                <a:latin typeface="+mn-lt"/>
              </a:rPr>
              <a:t>String.Concat</a:t>
            </a:r>
            <a:r>
              <a:rPr lang="en-US" sz="1800" b="0" dirty="0">
                <a:latin typeface="+mn-lt"/>
              </a:rPr>
              <a:t>( </a:t>
            </a:r>
            <a:r>
              <a:rPr lang="en-US" sz="1800" b="0" dirty="0" err="1">
                <a:latin typeface="+mn-lt"/>
              </a:rPr>
              <a:t>Lastname</a:t>
            </a:r>
            <a:r>
              <a:rPr lang="en-US" sz="1800" b="0" dirty="0">
                <a:latin typeface="+mn-lt"/>
              </a:rPr>
              <a:t>, Surname);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1800" b="0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b="0" dirty="0">
                <a:solidFill>
                  <a:srgbClr val="FF0000"/>
                </a:solidFill>
              </a:rPr>
              <a:t>//</a:t>
            </a:r>
            <a:r>
              <a:rPr lang="en-US" sz="1800" b="0" dirty="0" err="1">
                <a:solidFill>
                  <a:srgbClr val="FF0000"/>
                </a:solidFill>
              </a:rPr>
              <a:t>BillClinton</a:t>
            </a:r>
            <a:endParaRPr lang="en-US" sz="1800" b="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800" b="0" dirty="0" err="1"/>
              <a:t>MessageBox.Show</a:t>
            </a:r>
            <a:r>
              <a:rPr lang="en-US" sz="1800" b="0" dirty="0"/>
              <a:t>(“Name is ” + Name);</a:t>
            </a:r>
          </a:p>
          <a:p>
            <a:pPr eaLnBrk="1" hangingPunct="1">
              <a:buFont typeface="Wingdings" pitchFamily="2" charset="2"/>
              <a:buNone/>
            </a:pPr>
            <a:endParaRPr lang="en-US" sz="1800" b="0" dirty="0">
              <a:latin typeface="+mn-lt"/>
            </a:endParaRPr>
          </a:p>
        </p:txBody>
      </p:sp>
      <p:sp>
        <p:nvSpPr>
          <p:cNvPr id="5" name="Rounded Rectangular Callout 4"/>
          <p:cNvSpPr/>
          <p:nvPr/>
        </p:nvSpPr>
        <p:spPr>
          <a:xfrm>
            <a:off x="201613" y="7164288"/>
            <a:ext cx="6456362" cy="648593"/>
          </a:xfrm>
          <a:prstGeom prst="wedgeRoundRectCallout">
            <a:avLst>
              <a:gd name="adj1" fmla="val 11689"/>
              <a:gd name="adj2" fmla="val -179545"/>
              <a:gd name="adj3" fmla="val 16667"/>
            </a:avLst>
          </a:prstGeom>
          <a:solidFill>
            <a:schemeClr val="tx2">
              <a:lumMod val="10000"/>
              <a:lumOff val="90000"/>
              <a:alpha val="78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sz="1400" dirty="0" err="1">
                <a:solidFill>
                  <a:schemeClr val="tx1"/>
                </a:solidFill>
              </a:rPr>
              <a:t>Concat</a:t>
            </a:r>
            <a:r>
              <a:rPr lang="en-GB" sz="14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 method will create a new string after the method. </a:t>
            </a:r>
          </a:p>
          <a:p>
            <a:pPr algn="ctr">
              <a:defRPr/>
            </a:pPr>
            <a:r>
              <a:rPr lang="en-GB" sz="14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How about “+”  ?</a:t>
            </a:r>
            <a:endParaRPr lang="en-SG" sz="1400" b="1" dirty="0">
              <a:solidFill>
                <a:srgbClr val="FF0000"/>
              </a:solidFill>
            </a:endParaRPr>
          </a:p>
        </p:txBody>
      </p:sp>
      <p:pic>
        <p:nvPicPr>
          <p:cNvPr id="6" name="Picture 2" descr="C:\Users\tanail\AppData\Local\Microsoft\Windows\Temporary Internet Files\Content.IE5\6KSNL5KG\MC900441902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656" y="7511399"/>
            <a:ext cx="864096" cy="1021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2195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476672" y="1403227"/>
            <a:ext cx="6038850" cy="2592709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GB" sz="1800" dirty="0"/>
              <a:t>string s1 = “C is great”;</a:t>
            </a:r>
          </a:p>
          <a:p>
            <a:pPr eaLnBrk="1" hangingPunct="1">
              <a:buFont typeface="Wingdings" pitchFamily="2" charset="2"/>
              <a:buNone/>
            </a:pPr>
            <a:endParaRPr lang="en-GB" sz="1800" dirty="0"/>
          </a:p>
          <a:p>
            <a:pPr eaLnBrk="1" hangingPunct="1">
              <a:buFont typeface="Wingdings" pitchFamily="2" charset="2"/>
              <a:buNone/>
            </a:pPr>
            <a:r>
              <a:rPr lang="en-GB" sz="1800" dirty="0"/>
              <a:t>s1 = s1.Insert(2, “Sharp “);</a:t>
            </a:r>
          </a:p>
          <a:p>
            <a:pPr marL="0" indent="0" eaLnBrk="1" hangingPunct="1">
              <a:buNone/>
            </a:pPr>
            <a:r>
              <a:rPr lang="en-GB" sz="1800" dirty="0">
                <a:solidFill>
                  <a:srgbClr val="008000"/>
                </a:solidFill>
              </a:rPr>
              <a:t>// Insert “Sharp” at the specified position (</a:t>
            </a:r>
            <a:r>
              <a:rPr lang="en-GB" sz="1800" dirty="0" err="1">
                <a:solidFill>
                  <a:srgbClr val="008000"/>
                </a:solidFill>
              </a:rPr>
              <a:t>ie</a:t>
            </a:r>
            <a:r>
              <a:rPr lang="en-GB" sz="1800" dirty="0">
                <a:solidFill>
                  <a:srgbClr val="008000"/>
                </a:solidFill>
              </a:rPr>
              <a:t>. 2).</a:t>
            </a:r>
          </a:p>
          <a:p>
            <a:pPr eaLnBrk="1" hangingPunct="1">
              <a:buFont typeface="Wingdings" pitchFamily="2" charset="2"/>
              <a:buNone/>
            </a:pPr>
            <a:endParaRPr lang="en-GB" sz="1800" dirty="0"/>
          </a:p>
          <a:p>
            <a:pPr eaLnBrk="1" hangingPunct="1">
              <a:buFont typeface="Wingdings" pitchFamily="2" charset="2"/>
              <a:buNone/>
            </a:pPr>
            <a:r>
              <a:rPr lang="en-GB" sz="1800" dirty="0" err="1"/>
              <a:t>MessageBox.Show</a:t>
            </a:r>
            <a:r>
              <a:rPr lang="en-GB" sz="1800" dirty="0"/>
              <a:t>(s1);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GB" sz="1800" dirty="0">
                <a:solidFill>
                  <a:srgbClr val="008000"/>
                </a:solidFill>
              </a:rPr>
              <a:t>// C Sharp is great</a:t>
            </a:r>
          </a:p>
          <a:p>
            <a:pPr eaLnBrk="1" hangingPunct="1">
              <a:buFont typeface="Wingdings" pitchFamily="2" charset="2"/>
              <a:buNone/>
            </a:pPr>
            <a:endParaRPr lang="en-US" sz="1800" dirty="0"/>
          </a:p>
        </p:txBody>
      </p:sp>
      <p:pic>
        <p:nvPicPr>
          <p:cNvPr id="4" name="Picture 2" descr="C:\Users\tanail\AppData\Local\Microsoft\Windows\Temporary Internet Files\Content.IE5\6KSNL5KG\MC900441902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157" y="7380312"/>
            <a:ext cx="1152128" cy="136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916832" y="4211960"/>
            <a:ext cx="4608512" cy="38884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800" b="0" dirty="0"/>
              <a:t>More </a:t>
            </a:r>
            <a:r>
              <a:rPr lang="en-GB" sz="1800" b="0" dirty="0">
                <a:solidFill>
                  <a:schemeClr val="accent2"/>
                </a:solidFill>
              </a:rPr>
              <a:t>Amending Strings </a:t>
            </a:r>
            <a:r>
              <a:rPr lang="en-GB" sz="1800" b="0" dirty="0"/>
              <a:t>methods:</a:t>
            </a:r>
          </a:p>
          <a:p>
            <a:endParaRPr lang="en-GB" sz="1800" b="0" dirty="0"/>
          </a:p>
          <a:p>
            <a:r>
              <a:rPr lang="en-GB" sz="1800" b="0" dirty="0"/>
              <a:t>Converts all letters in a string into lower-case or upper case letter</a:t>
            </a:r>
          </a:p>
          <a:p>
            <a:pPr marL="171450" indent="-171450">
              <a:buFontTx/>
              <a:buChar char="-"/>
            </a:pPr>
            <a:r>
              <a:rPr lang="en-GB" sz="1600" b="0" dirty="0">
                <a:solidFill>
                  <a:schemeClr val="accent2"/>
                </a:solidFill>
              </a:rPr>
              <a:t>string1.ToLower();</a:t>
            </a:r>
          </a:p>
          <a:p>
            <a:pPr marL="171450" indent="-171450">
              <a:buFontTx/>
              <a:buChar char="-"/>
            </a:pPr>
            <a:r>
              <a:rPr lang="en-GB" sz="1600" b="0" dirty="0">
                <a:solidFill>
                  <a:schemeClr val="accent2"/>
                </a:solidFill>
              </a:rPr>
              <a:t>string1.ToUpper();</a:t>
            </a:r>
          </a:p>
          <a:p>
            <a:pPr marL="171450" indent="-171450">
              <a:buFontTx/>
              <a:buChar char="-"/>
            </a:pPr>
            <a:endParaRPr lang="en-GB" sz="1800" b="0" dirty="0"/>
          </a:p>
          <a:p>
            <a:r>
              <a:rPr lang="en-GB" sz="1800" b="0" dirty="0"/>
              <a:t>Removes a given number of characters at a given position</a:t>
            </a:r>
          </a:p>
          <a:p>
            <a:pPr marL="171450" indent="-171450">
              <a:buFontTx/>
              <a:buChar char="-"/>
            </a:pPr>
            <a:r>
              <a:rPr lang="en-GB" sz="1600" b="0" dirty="0">
                <a:solidFill>
                  <a:srgbClr val="FF0000"/>
                </a:solidFill>
              </a:rPr>
              <a:t>string1.Remove(1,4)</a:t>
            </a:r>
            <a:r>
              <a:rPr lang="en-GB" sz="1600" b="0" dirty="0"/>
              <a:t> </a:t>
            </a:r>
            <a:r>
              <a:rPr lang="en-GB" sz="1600" b="0" dirty="0">
                <a:solidFill>
                  <a:srgbClr val="008000"/>
                </a:solidFill>
              </a:rPr>
              <a:t>//starting position, number to remove</a:t>
            </a:r>
          </a:p>
          <a:p>
            <a:endParaRPr lang="en-GB" sz="1800" b="0" dirty="0"/>
          </a:p>
          <a:p>
            <a:r>
              <a:rPr lang="en-GB" sz="1800" b="0" dirty="0"/>
              <a:t>These methods create a new string rather than changing the original string</a:t>
            </a:r>
            <a:endParaRPr lang="en-SG" sz="1800" b="0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356992" y="2699792"/>
            <a:ext cx="6048375" cy="1080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99"/>
                </a:solidFill>
                <a:latin typeface="Verdana" pitchFamily="34" charset="0"/>
              </a:defRPr>
            </a:lvl9pPr>
          </a:lstStyle>
          <a:p>
            <a:pPr lvl="1" eaLnBrk="1" hangingPunct="1"/>
            <a:endParaRPr lang="en-US" b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672" y="469181"/>
            <a:ext cx="6048375" cy="862459"/>
          </a:xfrm>
        </p:spPr>
        <p:txBody>
          <a:bodyPr/>
          <a:lstStyle/>
          <a:p>
            <a:pPr lvl="1"/>
            <a:r>
              <a:rPr lang="en-GB" sz="2400" dirty="0">
                <a:solidFill>
                  <a:srgbClr val="FF0000"/>
                </a:solidFill>
              </a:rPr>
              <a:t>Amending</a:t>
            </a:r>
            <a:r>
              <a:rPr lang="en-GB" sz="2400" dirty="0"/>
              <a:t> string methods</a:t>
            </a:r>
            <a:br>
              <a:rPr lang="en-GB" sz="2000" dirty="0"/>
            </a:br>
            <a:r>
              <a:rPr lang="en-US" dirty="0"/>
              <a:t>Insert String</a:t>
            </a:r>
            <a:br>
              <a:rPr lang="en-US" dirty="0"/>
            </a:br>
            <a:endParaRPr lang="en-SG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76969" y="107505"/>
            <a:ext cx="6048375" cy="1035472"/>
          </a:xfrm>
        </p:spPr>
        <p:txBody>
          <a:bodyPr/>
          <a:lstStyle/>
          <a:p>
            <a:pPr lvl="1" eaLnBrk="1" hangingPunct="1"/>
            <a:r>
              <a:rPr lang="en-GB" sz="2000" dirty="0">
                <a:solidFill>
                  <a:srgbClr val="FF0000"/>
                </a:solidFill>
              </a:rPr>
              <a:t>Examining</a:t>
            </a:r>
            <a:r>
              <a:rPr lang="en-GB" sz="2000" dirty="0"/>
              <a:t> string methods</a:t>
            </a:r>
            <a:br>
              <a:rPr lang="en-GB" sz="2000" dirty="0"/>
            </a:br>
            <a:r>
              <a:rPr lang="en-GB" dirty="0"/>
              <a:t>Length Property</a:t>
            </a:r>
            <a:endParaRPr 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476250" y="1516063"/>
            <a:ext cx="6040438" cy="2119833"/>
          </a:xfrm>
        </p:spPr>
        <p:txBody>
          <a:bodyPr/>
          <a:lstStyle/>
          <a:p>
            <a:pPr eaLnBrk="1" hangingPunct="1"/>
            <a:r>
              <a:rPr lang="en-GB" dirty="0"/>
              <a:t>Returns an INTEGER value which is the number of characters in the string.</a:t>
            </a:r>
          </a:p>
          <a:p>
            <a:pPr eaLnBrk="1" hangingPunct="1"/>
            <a:r>
              <a:rPr lang="en-GB" dirty="0"/>
              <a:t>Syntax:	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908720" y="3635896"/>
            <a:ext cx="5472608" cy="37856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GB" sz="2000" b="0" dirty="0"/>
              <a:t>string Address = “33 Kent Rd”;</a:t>
            </a:r>
          </a:p>
          <a:p>
            <a:pPr eaLnBrk="1" hangingPunct="1">
              <a:buFont typeface="Wingdings" pitchFamily="2" charset="2"/>
              <a:buNone/>
            </a:pPr>
            <a:r>
              <a:rPr lang="en-GB" sz="2000" b="0" dirty="0"/>
              <a:t>string Display = “”;</a:t>
            </a:r>
          </a:p>
          <a:p>
            <a:pPr eaLnBrk="1" hangingPunct="1">
              <a:buFont typeface="Wingdings" pitchFamily="2" charset="2"/>
              <a:buNone/>
            </a:pPr>
            <a:r>
              <a:rPr lang="en-GB" sz="2000" b="0" dirty="0"/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GB" sz="2000" b="0" dirty="0" err="1"/>
              <a:t>int</a:t>
            </a:r>
            <a:r>
              <a:rPr lang="en-GB" sz="2000" b="0" dirty="0"/>
              <a:t> </a:t>
            </a:r>
            <a:r>
              <a:rPr lang="en-GB" sz="2000" b="0" dirty="0" err="1"/>
              <a:t>AddressSize</a:t>
            </a:r>
            <a:r>
              <a:rPr lang="en-GB" sz="2000" b="0" dirty="0"/>
              <a:t> = </a:t>
            </a:r>
            <a:r>
              <a:rPr lang="en-GB" sz="2000" b="0" dirty="0" err="1"/>
              <a:t>Address.Length</a:t>
            </a:r>
            <a:r>
              <a:rPr lang="en-GB" sz="2000" b="0" dirty="0"/>
              <a:t>;</a:t>
            </a:r>
          </a:p>
          <a:p>
            <a:pPr eaLnBrk="1" hangingPunct="1">
              <a:buFont typeface="Wingdings" pitchFamily="2" charset="2"/>
              <a:buNone/>
            </a:pPr>
            <a:endParaRPr lang="en-GB" sz="2000" b="0" i="1" dirty="0"/>
          </a:p>
          <a:p>
            <a:pPr eaLnBrk="1" hangingPunct="1">
              <a:buFont typeface="Wingdings" pitchFamily="2" charset="2"/>
              <a:buNone/>
            </a:pPr>
            <a:r>
              <a:rPr lang="en-GB" sz="2000" b="0" dirty="0"/>
              <a:t>Display = “Number of characters is ” + </a:t>
            </a:r>
            <a:r>
              <a:rPr lang="en-GB" sz="2000" b="0" dirty="0" err="1"/>
              <a:t>AddressSize</a:t>
            </a:r>
            <a:r>
              <a:rPr lang="en-GB" sz="2000" b="0" dirty="0"/>
              <a:t>;</a:t>
            </a:r>
          </a:p>
          <a:p>
            <a:pPr eaLnBrk="1" hangingPunct="1">
              <a:buFont typeface="Wingdings" pitchFamily="2" charset="2"/>
              <a:buNone/>
            </a:pPr>
            <a:endParaRPr lang="en-GB" sz="2000" b="0" dirty="0"/>
          </a:p>
          <a:p>
            <a:r>
              <a:rPr lang="en-GB" sz="2000" b="0" dirty="0" err="1"/>
              <a:t>MessageBox.Show</a:t>
            </a:r>
            <a:r>
              <a:rPr lang="en-GB" sz="2000" b="0" dirty="0"/>
              <a:t>(Display);</a:t>
            </a:r>
          </a:p>
          <a:p>
            <a:pPr eaLnBrk="1" hangingPunct="1">
              <a:buFont typeface="Wingdings" pitchFamily="2" charset="2"/>
              <a:buNone/>
            </a:pPr>
            <a:endParaRPr lang="en-GB" sz="2000" b="0" i="1" dirty="0"/>
          </a:p>
          <a:p>
            <a:pPr eaLnBrk="1" hangingPunct="1">
              <a:buFont typeface="Wingdings" pitchFamily="2" charset="2"/>
              <a:buNone/>
            </a:pPr>
            <a:r>
              <a:rPr lang="en-GB" sz="2000" b="0" i="1" dirty="0">
                <a:solidFill>
                  <a:srgbClr val="008000"/>
                </a:solidFill>
              </a:rPr>
              <a:t>//Address has 10 characters so Length </a:t>
            </a:r>
          </a:p>
          <a:p>
            <a:pPr eaLnBrk="1" hangingPunct="1">
              <a:buFont typeface="Wingdings" pitchFamily="2" charset="2"/>
              <a:buNone/>
            </a:pPr>
            <a:r>
              <a:rPr lang="en-GB" sz="2000" b="0" i="1" dirty="0">
                <a:solidFill>
                  <a:srgbClr val="008000"/>
                </a:solidFill>
              </a:rPr>
              <a:t>//will return value of 10</a:t>
            </a:r>
            <a:r>
              <a:rPr lang="en-GB" sz="2000" b="0" dirty="0">
                <a:solidFill>
                  <a:srgbClr val="008000"/>
                </a:solidFill>
              </a:rPr>
              <a:t>.</a:t>
            </a:r>
            <a:endParaRPr lang="en-US" sz="2000" b="0" dirty="0">
              <a:solidFill>
                <a:srgbClr val="008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76969" y="251520"/>
            <a:ext cx="6048375" cy="979239"/>
          </a:xfrm>
        </p:spPr>
        <p:txBody>
          <a:bodyPr/>
          <a:lstStyle/>
          <a:p>
            <a:pPr lvl="1" eaLnBrk="1" hangingPunct="1"/>
            <a:r>
              <a:rPr lang="en-GB" sz="2000" dirty="0">
                <a:solidFill>
                  <a:srgbClr val="FF0000"/>
                </a:solidFill>
              </a:rPr>
              <a:t>Conversion</a:t>
            </a:r>
            <a:r>
              <a:rPr lang="en-GB" sz="2000" dirty="0"/>
              <a:t> methods</a:t>
            </a:r>
            <a:br>
              <a:rPr lang="en-GB" sz="2000" dirty="0"/>
            </a:br>
            <a:r>
              <a:rPr lang="en-US" dirty="0" err="1"/>
              <a:t>ToString</a:t>
            </a:r>
            <a:r>
              <a:rPr lang="en-US" dirty="0"/>
              <a:t> method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476250" y="1619251"/>
            <a:ext cx="6038850" cy="1008533"/>
          </a:xfrm>
        </p:spPr>
        <p:txBody>
          <a:bodyPr/>
          <a:lstStyle/>
          <a:p>
            <a:pPr eaLnBrk="1" hangingPunct="1"/>
            <a:r>
              <a:rPr lang="en-US" dirty="0"/>
              <a:t>Converts anything to a string type.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u="sng" dirty="0"/>
              <a:t>Example:</a:t>
            </a:r>
          </a:p>
        </p:txBody>
      </p:sp>
      <p:sp>
        <p:nvSpPr>
          <p:cNvPr id="2" name="Rectangle 1"/>
          <p:cNvSpPr/>
          <p:nvPr/>
        </p:nvSpPr>
        <p:spPr>
          <a:xfrm>
            <a:off x="548680" y="2987824"/>
            <a:ext cx="4824536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1800" b="0" dirty="0" err="1"/>
              <a:t>int</a:t>
            </a:r>
            <a:r>
              <a:rPr lang="en-US" sz="1800" b="0" dirty="0"/>
              <a:t> age = 33, </a:t>
            </a:r>
            <a:r>
              <a:rPr lang="en-US" sz="1800" b="0" dirty="0" err="1"/>
              <a:t>wholedollar</a:t>
            </a:r>
            <a:r>
              <a:rPr lang="en-US" sz="1800" b="0" dirty="0"/>
              <a:t> = 2, </a:t>
            </a:r>
            <a:r>
              <a:rPr lang="en-US" sz="1800" b="0" dirty="0" err="1"/>
              <a:t>centleft</a:t>
            </a:r>
            <a:r>
              <a:rPr lang="en-US" sz="1800" b="0" dirty="0"/>
              <a:t> = 10;</a:t>
            </a:r>
          </a:p>
          <a:p>
            <a:pPr eaLnBrk="1" hangingPunct="1">
              <a:buFont typeface="Wingdings" pitchFamily="2" charset="2"/>
              <a:buNone/>
            </a:pPr>
            <a:endParaRPr lang="en-US" sz="1800" b="0" dirty="0"/>
          </a:p>
          <a:p>
            <a:pPr eaLnBrk="1" hangingPunct="1">
              <a:buFont typeface="Wingdings" pitchFamily="2" charset="2"/>
              <a:buNone/>
            </a:pPr>
            <a:r>
              <a:rPr lang="en-US" sz="1800" b="0" dirty="0"/>
              <a:t>string temp = </a:t>
            </a:r>
            <a:r>
              <a:rPr lang="en-US" sz="1800" b="0" dirty="0" err="1"/>
              <a:t>age.ToString</a:t>
            </a:r>
            <a:r>
              <a:rPr lang="en-US" sz="1800" b="0" dirty="0"/>
              <a:t>( 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1800" b="0" dirty="0">
                <a:solidFill>
                  <a:srgbClr val="008000"/>
                </a:solidFill>
              </a:rPr>
              <a:t>//temp now contains “33”</a:t>
            </a:r>
          </a:p>
          <a:p>
            <a:pPr eaLnBrk="1" hangingPunct="1">
              <a:buFont typeface="Wingdings" pitchFamily="2" charset="2"/>
              <a:buNone/>
            </a:pPr>
            <a:endParaRPr lang="en-US" sz="1800" b="0" dirty="0">
              <a:solidFill>
                <a:srgbClr val="008000"/>
              </a:solidFill>
            </a:endParaRPr>
          </a:p>
          <a:p>
            <a:r>
              <a:rPr lang="en-US" sz="1800" b="0" dirty="0">
                <a:solidFill>
                  <a:srgbClr val="008000"/>
                </a:solidFill>
              </a:rPr>
              <a:t>//display integer values using labels</a:t>
            </a:r>
          </a:p>
          <a:p>
            <a:r>
              <a:rPr lang="en-SG" sz="1800" b="0" dirty="0" err="1"/>
              <a:t>lbldollar.Text</a:t>
            </a:r>
            <a:r>
              <a:rPr lang="en-SG" sz="1800" b="0" dirty="0"/>
              <a:t> = </a:t>
            </a:r>
            <a:r>
              <a:rPr lang="en-SG" sz="1800" b="0" dirty="0" err="1"/>
              <a:t>wholedollar.ToString</a:t>
            </a:r>
            <a:r>
              <a:rPr lang="en-SG" sz="1800" b="0" dirty="0"/>
              <a:t>();</a:t>
            </a:r>
          </a:p>
          <a:p>
            <a:r>
              <a:rPr lang="en-SG" sz="1800" b="0" dirty="0" err="1"/>
              <a:t>lblcent.Text</a:t>
            </a:r>
            <a:r>
              <a:rPr lang="en-SG" sz="1800" b="0" dirty="0"/>
              <a:t> = </a:t>
            </a:r>
            <a:r>
              <a:rPr lang="en-SG" sz="1800" b="0" dirty="0" err="1"/>
              <a:t>centleft.ToString</a:t>
            </a:r>
            <a:r>
              <a:rPr lang="en-SG" sz="1800" b="0" dirty="0"/>
              <a:t>();</a:t>
            </a:r>
          </a:p>
          <a:p>
            <a:pPr eaLnBrk="1" hangingPunct="1">
              <a:buFont typeface="Wingdings" pitchFamily="2" charset="2"/>
              <a:buNone/>
            </a:pPr>
            <a:endParaRPr lang="en-US" sz="1800" b="0" dirty="0">
              <a:solidFill>
                <a:srgbClr val="008000"/>
              </a:solidFill>
            </a:endParaRPr>
          </a:p>
        </p:txBody>
      </p:sp>
      <p:pic>
        <p:nvPicPr>
          <p:cNvPr id="5" name="Picture 2" descr="C:\Users\tanail\AppData\Local\Microsoft\Windows\Temporary Internet Files\Content.IE5\6KSNL5KG\MC900441902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157" y="7027036"/>
            <a:ext cx="1152128" cy="136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916832" y="5730892"/>
            <a:ext cx="3528392" cy="20162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800" b="0" dirty="0"/>
              <a:t>More </a:t>
            </a:r>
            <a:r>
              <a:rPr lang="en-GB" sz="1800" b="0" dirty="0">
                <a:solidFill>
                  <a:schemeClr val="accent2"/>
                </a:solidFill>
              </a:rPr>
              <a:t>Conversion </a:t>
            </a:r>
            <a:r>
              <a:rPr lang="en-GB" sz="1800" b="0" dirty="0"/>
              <a:t>methods: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sz="1800" b="0" dirty="0" err="1"/>
              <a:t>Convert.ToDouble</a:t>
            </a:r>
            <a:endParaRPr lang="en-GB" sz="1800" b="0" dirty="0"/>
          </a:p>
          <a:p>
            <a:pPr marL="285750" indent="-285750">
              <a:buFont typeface="Wingdings" pitchFamily="2" charset="2"/>
              <a:buChar char="q"/>
            </a:pPr>
            <a:r>
              <a:rPr lang="en-GB" sz="1800" b="0" dirty="0"/>
              <a:t>Convert.ToInt32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sz="1800" b="0" dirty="0" err="1"/>
              <a:t>Convert.ToChar</a:t>
            </a:r>
            <a:endParaRPr lang="en-GB" sz="1800" b="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76672" y="107504"/>
            <a:ext cx="6048375" cy="1008236"/>
          </a:xfrm>
        </p:spPr>
        <p:txBody>
          <a:bodyPr/>
          <a:lstStyle/>
          <a:p>
            <a:pPr eaLnBrk="1" hangingPunct="1"/>
            <a:r>
              <a:rPr lang="en-GB" sz="2400" dirty="0">
                <a:solidFill>
                  <a:srgbClr val="FF0000"/>
                </a:solidFill>
              </a:rPr>
              <a:t>Examining</a:t>
            </a:r>
            <a:r>
              <a:rPr lang="en-GB" sz="2400" dirty="0"/>
              <a:t> string methods</a:t>
            </a:r>
            <a:br>
              <a:rPr lang="en-GB" dirty="0"/>
            </a:br>
            <a:r>
              <a:rPr lang="en-US" dirty="0"/>
              <a:t>Comparing Strings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476672" y="1259632"/>
            <a:ext cx="5811837" cy="158447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Can use == operator to compare if 2 strings are the same.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Returns True or False (</a:t>
            </a:r>
            <a:r>
              <a:rPr lang="en-US" dirty="0" err="1"/>
              <a:t>bool</a:t>
            </a:r>
            <a:r>
              <a:rPr lang="en-US" dirty="0"/>
              <a:t> type)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000" dirty="0"/>
          </a:p>
        </p:txBody>
      </p:sp>
      <p:sp>
        <p:nvSpPr>
          <p:cNvPr id="2" name="Rectangle 1"/>
          <p:cNvSpPr/>
          <p:nvPr/>
        </p:nvSpPr>
        <p:spPr>
          <a:xfrm>
            <a:off x="476672" y="2915816"/>
            <a:ext cx="6336704" cy="557691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b="0" dirty="0">
                <a:latin typeface="+mn-lt"/>
              </a:rPr>
              <a:t>string label1 = “180 </a:t>
            </a:r>
            <a:r>
              <a:rPr lang="en-US" sz="1800" b="0" dirty="0" err="1">
                <a:latin typeface="+mn-lt"/>
              </a:rPr>
              <a:t>amk</a:t>
            </a:r>
            <a:r>
              <a:rPr lang="en-US" sz="1800" b="0" dirty="0">
                <a:latin typeface="+mn-lt"/>
              </a:rPr>
              <a:t>”;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b="0" dirty="0">
                <a:latin typeface="+mn-lt"/>
              </a:rPr>
              <a:t>string label2 = “180 </a:t>
            </a:r>
            <a:r>
              <a:rPr lang="en-US" sz="1800" b="0" dirty="0" err="1">
                <a:latin typeface="+mn-lt"/>
              </a:rPr>
              <a:t>amk</a:t>
            </a:r>
            <a:r>
              <a:rPr lang="en-US" sz="1800" b="0" dirty="0">
                <a:latin typeface="+mn-lt"/>
              </a:rPr>
              <a:t> </a:t>
            </a:r>
            <a:r>
              <a:rPr lang="en-US" sz="1800" b="0" dirty="0" err="1">
                <a:latin typeface="+mn-lt"/>
              </a:rPr>
              <a:t>ave</a:t>
            </a:r>
            <a:r>
              <a:rPr lang="en-US" sz="1800" b="0" dirty="0">
                <a:latin typeface="+mn-lt"/>
              </a:rPr>
              <a:t> 5”;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b="0" dirty="0">
                <a:latin typeface="+mn-lt"/>
              </a:rPr>
              <a:t>string label3 = “180 AMK”;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b="0" dirty="0">
                <a:latin typeface="+mn-lt"/>
              </a:rPr>
              <a:t>string label4 = “180 </a:t>
            </a:r>
            <a:r>
              <a:rPr lang="en-US" sz="1800" b="0" dirty="0" err="1">
                <a:latin typeface="+mn-lt"/>
              </a:rPr>
              <a:t>amk</a:t>
            </a:r>
            <a:r>
              <a:rPr lang="en-US" sz="1800" b="0" dirty="0">
                <a:latin typeface="+mn-lt"/>
              </a:rPr>
              <a:t>”;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b="0" dirty="0" err="1">
                <a:latin typeface="+mn-lt"/>
              </a:rPr>
              <a:t>bool</a:t>
            </a:r>
            <a:r>
              <a:rPr lang="en-US" sz="1800" b="0" dirty="0">
                <a:latin typeface="+mn-lt"/>
              </a:rPr>
              <a:t> result;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b="0" dirty="0"/>
              <a:t> </a:t>
            </a:r>
            <a:r>
              <a:rPr lang="en-US" sz="1800" b="0" dirty="0" err="1"/>
              <a:t>int</a:t>
            </a:r>
            <a:r>
              <a:rPr lang="en-US" sz="1800" b="0" dirty="0"/>
              <a:t>   result1;</a:t>
            </a:r>
            <a:endParaRPr lang="en-US" sz="1800" b="0" dirty="0">
              <a:latin typeface="+mn-lt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1800" b="0" dirty="0">
              <a:latin typeface="+mn-lt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b="0" dirty="0">
                <a:latin typeface="+mn-lt"/>
              </a:rPr>
              <a:t>result = (label1 == label2); </a:t>
            </a:r>
            <a:r>
              <a:rPr lang="en-US" sz="1800" b="0" dirty="0">
                <a:solidFill>
                  <a:srgbClr val="FF0000"/>
                </a:solidFill>
                <a:latin typeface="+mn-lt"/>
              </a:rPr>
              <a:t>// false result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b="0" dirty="0" err="1">
                <a:latin typeface="+mn-lt"/>
              </a:rPr>
              <a:t>MessageBox.Show</a:t>
            </a:r>
            <a:r>
              <a:rPr lang="en-US" sz="1800" b="0" dirty="0">
                <a:latin typeface="+mn-lt"/>
              </a:rPr>
              <a:t>(“result is ” + result);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1800" b="0" dirty="0">
              <a:solidFill>
                <a:srgbClr val="FF0000"/>
              </a:solidFill>
              <a:latin typeface="+mn-lt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b="0" dirty="0"/>
              <a:t>result =</a:t>
            </a:r>
            <a:r>
              <a:rPr lang="en-US" sz="1800" b="0" dirty="0">
                <a:latin typeface="+mn-lt"/>
              </a:rPr>
              <a:t>( label1 == label3);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b="0" dirty="0">
                <a:solidFill>
                  <a:srgbClr val="FF0000"/>
                </a:solidFill>
                <a:latin typeface="+mn-lt"/>
              </a:rPr>
              <a:t>// false result – case sensitive</a:t>
            </a:r>
          </a:p>
          <a:p>
            <a:pPr>
              <a:lnSpc>
                <a:spcPct val="90000"/>
              </a:lnSpc>
            </a:pPr>
            <a:r>
              <a:rPr lang="en-US" sz="1800" b="0" dirty="0" err="1"/>
              <a:t>MessageBox.Show</a:t>
            </a:r>
            <a:r>
              <a:rPr lang="en-US" sz="1800" b="0" dirty="0"/>
              <a:t>(“result is ” + result);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1800" b="0" dirty="0">
              <a:solidFill>
                <a:srgbClr val="FF0000"/>
              </a:solidFill>
              <a:latin typeface="+mn-lt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b="0" dirty="0"/>
              <a:t>result = </a:t>
            </a:r>
            <a:r>
              <a:rPr lang="en-US" sz="1800" b="0" dirty="0">
                <a:latin typeface="+mn-lt"/>
              </a:rPr>
              <a:t>( label1 == label4);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b="0" dirty="0">
                <a:solidFill>
                  <a:srgbClr val="FF0000"/>
                </a:solidFill>
                <a:latin typeface="+mn-lt"/>
              </a:rPr>
              <a:t>// true result, both strings are the same</a:t>
            </a:r>
          </a:p>
          <a:p>
            <a:pPr>
              <a:lnSpc>
                <a:spcPct val="90000"/>
              </a:lnSpc>
            </a:pPr>
            <a:r>
              <a:rPr lang="en-US" sz="1800" b="0" dirty="0" err="1"/>
              <a:t>MessageBox.Show</a:t>
            </a:r>
            <a:r>
              <a:rPr lang="en-US" sz="1800" b="0" dirty="0"/>
              <a:t>(“result is ” + result);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1800" b="0" dirty="0">
              <a:solidFill>
                <a:srgbClr val="FF0000"/>
              </a:solidFill>
              <a:latin typeface="+mn-lt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b="0" dirty="0"/>
              <a:t>result1 = </a:t>
            </a:r>
            <a:r>
              <a:rPr lang="en-US" sz="1800" b="0" dirty="0" err="1">
                <a:latin typeface="+mn-lt"/>
              </a:rPr>
              <a:t>string.Compare</a:t>
            </a:r>
            <a:r>
              <a:rPr lang="en-US" sz="1800" b="0" dirty="0">
                <a:latin typeface="+mn-lt"/>
              </a:rPr>
              <a:t>(label1, label3, true);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1800" b="0" dirty="0">
                <a:solidFill>
                  <a:srgbClr val="FF0000"/>
                </a:solidFill>
                <a:latin typeface="+mn-lt"/>
              </a:rPr>
              <a:t>//true as case sensitive turned OFF and return integer 0 or 1</a:t>
            </a:r>
            <a:endParaRPr lang="en-US" sz="1800" b="0" dirty="0">
              <a:latin typeface="+mn-lt"/>
            </a:endParaRPr>
          </a:p>
          <a:p>
            <a:pPr>
              <a:lnSpc>
                <a:spcPct val="90000"/>
              </a:lnSpc>
            </a:pPr>
            <a:r>
              <a:rPr lang="en-US" sz="1800" b="0" dirty="0" err="1"/>
              <a:t>MessageBox.Show</a:t>
            </a:r>
            <a:r>
              <a:rPr lang="en-US" sz="1800" b="0" dirty="0"/>
              <a:t>(“result is ” + result1);</a:t>
            </a:r>
          </a:p>
          <a:p>
            <a:pPr>
              <a:lnSpc>
                <a:spcPct val="90000"/>
              </a:lnSpc>
            </a:pPr>
            <a:r>
              <a:rPr lang="en-US" sz="1800" b="0" dirty="0">
                <a:solidFill>
                  <a:srgbClr val="FF0000"/>
                </a:solidFill>
              </a:rPr>
              <a:t>// result1 is displayed as 0, </a:t>
            </a:r>
            <a:r>
              <a:rPr lang="en-US" sz="1800" b="0" dirty="0">
                <a:solidFill>
                  <a:srgbClr val="008000"/>
                </a:solidFill>
              </a:rPr>
              <a:t>both strings are the same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5583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76672" y="107504"/>
            <a:ext cx="6048375" cy="1008236"/>
          </a:xfrm>
        </p:spPr>
        <p:txBody>
          <a:bodyPr/>
          <a:lstStyle/>
          <a:p>
            <a:pPr eaLnBrk="1" hangingPunct="1"/>
            <a:r>
              <a:rPr lang="en-GB" sz="2400" dirty="0">
                <a:solidFill>
                  <a:srgbClr val="FF0000"/>
                </a:solidFill>
              </a:rPr>
              <a:t>Examining</a:t>
            </a:r>
            <a:r>
              <a:rPr lang="en-GB" sz="2400" dirty="0"/>
              <a:t> string methods</a:t>
            </a:r>
            <a:br>
              <a:rPr lang="en-GB" dirty="0"/>
            </a:br>
            <a:r>
              <a:rPr lang="en-US" dirty="0"/>
              <a:t>Checking using Contains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76250" y="1619251"/>
            <a:ext cx="6038850" cy="2592710"/>
          </a:xfrm>
        </p:spPr>
        <p:txBody>
          <a:bodyPr/>
          <a:lstStyle/>
          <a:p>
            <a:pPr eaLnBrk="1" hangingPunct="1"/>
            <a:r>
              <a:rPr lang="en-US" dirty="0"/>
              <a:t>Contains method to check whether a sub-string exists in it.</a:t>
            </a:r>
          </a:p>
          <a:p>
            <a:pPr eaLnBrk="1" hangingPunct="1"/>
            <a:r>
              <a:rPr lang="en-US" dirty="0"/>
              <a:t>The Contains method returns a True or False.</a:t>
            </a:r>
          </a:p>
        </p:txBody>
      </p:sp>
      <p:sp>
        <p:nvSpPr>
          <p:cNvPr id="2" name="Rectangle 1"/>
          <p:cNvSpPr/>
          <p:nvPr/>
        </p:nvSpPr>
        <p:spPr>
          <a:xfrm>
            <a:off x="476672" y="4355976"/>
            <a:ext cx="5040560" cy="21852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sz="2000" b="0" dirty="0"/>
              <a:t>string address = “180 AMK Ave 8”;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b="0" dirty="0" err="1"/>
              <a:t>bool</a:t>
            </a:r>
            <a:r>
              <a:rPr lang="en-US" sz="2000" b="0" dirty="0"/>
              <a:t> result;</a:t>
            </a:r>
          </a:p>
          <a:p>
            <a:pPr eaLnBrk="1" hangingPunct="1">
              <a:buFont typeface="Wingdings" pitchFamily="2" charset="2"/>
              <a:buNone/>
            </a:pPr>
            <a:endParaRPr lang="en-US" sz="2000" b="0" dirty="0"/>
          </a:p>
          <a:p>
            <a:pPr eaLnBrk="1" hangingPunct="1">
              <a:buFont typeface="Wingdings" pitchFamily="2" charset="2"/>
              <a:buNone/>
            </a:pPr>
            <a:r>
              <a:rPr lang="en-US" sz="2000" b="0" dirty="0">
                <a:solidFill>
                  <a:srgbClr val="008000"/>
                </a:solidFill>
              </a:rPr>
              <a:t>//find out if address contains “AMK”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 b="0" dirty="0"/>
              <a:t>result = </a:t>
            </a:r>
            <a:r>
              <a:rPr lang="en-US" sz="2000" b="0" dirty="0" err="1"/>
              <a:t>address.Contains</a:t>
            </a:r>
            <a:r>
              <a:rPr lang="en-US" sz="2000" b="0" dirty="0"/>
              <a:t>(“AMK”);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000" b="0" dirty="0">
                <a:solidFill>
                  <a:srgbClr val="FF0000"/>
                </a:solidFill>
              </a:rPr>
              <a:t>// true result</a:t>
            </a:r>
          </a:p>
          <a:p>
            <a:pPr>
              <a:lnSpc>
                <a:spcPct val="90000"/>
              </a:lnSpc>
            </a:pPr>
            <a:r>
              <a:rPr lang="en-US" sz="2000" b="0" dirty="0" err="1"/>
              <a:t>MessageBox.Show</a:t>
            </a:r>
            <a:r>
              <a:rPr lang="en-US" sz="2000" b="0" dirty="0"/>
              <a:t>(“result is ” + result);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969" y="179512"/>
            <a:ext cx="6048375" cy="936104"/>
          </a:xfrm>
        </p:spPr>
        <p:txBody>
          <a:bodyPr/>
          <a:lstStyle/>
          <a:p>
            <a:pPr lvl="1"/>
            <a:r>
              <a:rPr lang="en-GB" sz="2000" dirty="0">
                <a:solidFill>
                  <a:srgbClr val="FF0000"/>
                </a:solidFill>
              </a:rPr>
              <a:t>Examining</a:t>
            </a:r>
            <a:r>
              <a:rPr lang="en-GB" sz="2000" dirty="0"/>
              <a:t> string methods</a:t>
            </a:r>
            <a:br>
              <a:rPr lang="en-GB" sz="2000" dirty="0"/>
            </a:br>
            <a:r>
              <a:rPr lang="en-GB" dirty="0"/>
              <a:t>Substring and </a:t>
            </a:r>
            <a:r>
              <a:rPr lang="en-GB" dirty="0" err="1"/>
              <a:t>IndexOf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50" y="1619250"/>
            <a:ext cx="6038850" cy="6193109"/>
          </a:xfrm>
        </p:spPr>
        <p:txBody>
          <a:bodyPr/>
          <a:lstStyle/>
          <a:p>
            <a:r>
              <a:rPr lang="en-GB" dirty="0"/>
              <a:t>Substring</a:t>
            </a:r>
          </a:p>
          <a:p>
            <a:pPr lvl="1"/>
            <a:r>
              <a:rPr lang="en-GB" dirty="0"/>
              <a:t>Method copies a specified part of a string. </a:t>
            </a:r>
            <a:r>
              <a:rPr lang="en-GB" dirty="0" err="1"/>
              <a:t>E.g</a:t>
            </a:r>
            <a:endParaRPr lang="en-GB" dirty="0"/>
          </a:p>
          <a:p>
            <a:pPr marL="914400" lvl="2" indent="0">
              <a:buNone/>
            </a:pPr>
            <a:r>
              <a:rPr lang="en-GB" sz="2000" dirty="0">
                <a:solidFill>
                  <a:srgbClr val="008000"/>
                </a:solidFill>
              </a:rPr>
              <a:t>string string1= “position”;</a:t>
            </a:r>
          </a:p>
          <a:p>
            <a:pPr marL="914400" lvl="2" indent="0">
              <a:buNone/>
            </a:pPr>
            <a:r>
              <a:rPr lang="en-GB" sz="2000" dirty="0">
                <a:solidFill>
                  <a:srgbClr val="008000"/>
                </a:solidFill>
              </a:rPr>
              <a:t>string </a:t>
            </a:r>
            <a:r>
              <a:rPr lang="en-GB" sz="2000" dirty="0" err="1">
                <a:solidFill>
                  <a:srgbClr val="008000"/>
                </a:solidFill>
              </a:rPr>
              <a:t>resultstring</a:t>
            </a:r>
            <a:r>
              <a:rPr lang="en-GB" sz="2000" dirty="0">
                <a:solidFill>
                  <a:srgbClr val="008000"/>
                </a:solidFill>
              </a:rPr>
              <a:t>=string1.Substring(2,3);</a:t>
            </a:r>
          </a:p>
          <a:p>
            <a:pPr marL="914400" lvl="2" indent="0">
              <a:buNone/>
            </a:pPr>
            <a:r>
              <a:rPr lang="en-GB" sz="1800" dirty="0">
                <a:solidFill>
                  <a:srgbClr val="FF0000"/>
                </a:solidFill>
              </a:rPr>
              <a:t>// </a:t>
            </a:r>
            <a:r>
              <a:rPr lang="en-GB" sz="1800" dirty="0" err="1">
                <a:solidFill>
                  <a:srgbClr val="FF0000"/>
                </a:solidFill>
              </a:rPr>
              <a:t>resultstring</a:t>
            </a:r>
            <a:r>
              <a:rPr lang="en-GB" sz="1800" dirty="0">
                <a:solidFill>
                  <a:srgbClr val="FF0000"/>
                </a:solidFill>
              </a:rPr>
              <a:t> is “sit”, index at 2 and 3 characters</a:t>
            </a:r>
          </a:p>
          <a:p>
            <a:pPr marL="914400" lvl="2" indent="0">
              <a:buNone/>
            </a:pPr>
            <a:endParaRPr lang="en-GB" sz="1800" dirty="0">
              <a:solidFill>
                <a:srgbClr val="FF0000"/>
              </a:solidFill>
            </a:endParaRPr>
          </a:p>
          <a:p>
            <a:r>
              <a:rPr lang="en-GB" dirty="0" err="1"/>
              <a:t>IndexOf</a:t>
            </a:r>
            <a:endParaRPr lang="en-GB" dirty="0"/>
          </a:p>
          <a:p>
            <a:pPr lvl="1"/>
            <a:r>
              <a:rPr lang="en-GB" dirty="0"/>
              <a:t>Method </a:t>
            </a:r>
            <a:r>
              <a:rPr lang="en-SG" dirty="0"/>
              <a:t>Reports the index of the first occurrence of the specified string in string1. </a:t>
            </a:r>
            <a:r>
              <a:rPr lang="en-GB" dirty="0" err="1"/>
              <a:t>E.g</a:t>
            </a:r>
            <a:endParaRPr lang="en-GB" dirty="0"/>
          </a:p>
          <a:p>
            <a:pPr marL="914400" lvl="2" indent="0">
              <a:buNone/>
            </a:pPr>
            <a:r>
              <a:rPr lang="en-GB" sz="2000" dirty="0">
                <a:solidFill>
                  <a:srgbClr val="008000"/>
                </a:solidFill>
              </a:rPr>
              <a:t>string string1= “</a:t>
            </a:r>
            <a:r>
              <a:rPr lang="en-GB" sz="2000" dirty="0" err="1">
                <a:solidFill>
                  <a:srgbClr val="008000"/>
                </a:solidFill>
              </a:rPr>
              <a:t>mississippi</a:t>
            </a:r>
            <a:r>
              <a:rPr lang="en-GB" sz="2000" dirty="0">
                <a:solidFill>
                  <a:srgbClr val="008000"/>
                </a:solidFill>
              </a:rPr>
              <a:t>!”;</a:t>
            </a:r>
          </a:p>
          <a:p>
            <a:pPr marL="914400" lvl="2" indent="0">
              <a:buNone/>
            </a:pPr>
            <a:r>
              <a:rPr lang="en-GB" sz="2000" dirty="0" err="1">
                <a:solidFill>
                  <a:srgbClr val="008000"/>
                </a:solidFill>
              </a:rPr>
              <a:t>int</a:t>
            </a:r>
            <a:r>
              <a:rPr lang="en-GB" sz="2000" dirty="0">
                <a:solidFill>
                  <a:srgbClr val="008000"/>
                </a:solidFill>
              </a:rPr>
              <a:t> n=string1.IndexOf(“is”);</a:t>
            </a:r>
          </a:p>
          <a:p>
            <a:pPr marL="914400" lvl="2" indent="0">
              <a:buNone/>
            </a:pPr>
            <a:r>
              <a:rPr lang="en-GB" sz="2000" dirty="0">
                <a:solidFill>
                  <a:srgbClr val="FF0000"/>
                </a:solidFill>
              </a:rPr>
              <a:t>// n is 1, index starts from 0</a:t>
            </a:r>
          </a:p>
          <a:p>
            <a:pPr lvl="1"/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9797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04664" y="232395"/>
            <a:ext cx="5829300" cy="811213"/>
          </a:xfrm>
        </p:spPr>
        <p:txBody>
          <a:bodyPr/>
          <a:lstStyle/>
          <a:p>
            <a:pPr eaLnBrk="1" hangingPunct="1"/>
            <a:r>
              <a:rPr lang="en-US" dirty="0"/>
              <a:t>Summary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sz="2400" dirty="0"/>
              <a:t>A string contains a sequence of characters</a:t>
            </a:r>
          </a:p>
          <a:p>
            <a:pPr eaLnBrk="1" hangingPunct="1"/>
            <a:r>
              <a:rPr lang="en-GB" sz="2400" dirty="0"/>
              <a:t>String can be declared and created by:</a:t>
            </a:r>
          </a:p>
          <a:p>
            <a:pPr lvl="1" eaLnBrk="1" hangingPunct="1"/>
            <a:r>
              <a:rPr lang="en-GB" sz="2200" dirty="0"/>
              <a:t>string s= “Hello”;</a:t>
            </a:r>
          </a:p>
          <a:p>
            <a:pPr eaLnBrk="1" hangingPunct="1"/>
            <a:endParaRPr lang="en-GB" sz="2400" dirty="0"/>
          </a:p>
          <a:p>
            <a:pPr eaLnBrk="1" hangingPunct="1"/>
            <a:r>
              <a:rPr lang="en-GB" sz="2400" dirty="0"/>
              <a:t>Strings can be operated on by methods</a:t>
            </a:r>
          </a:p>
          <a:p>
            <a:pPr lvl="1" eaLnBrk="1" hangingPunct="1"/>
            <a:r>
              <a:rPr lang="en-GB" sz="2200" dirty="0">
                <a:solidFill>
                  <a:srgbClr val="FF0000"/>
                </a:solidFill>
              </a:rPr>
              <a:t>Amending</a:t>
            </a:r>
            <a:r>
              <a:rPr lang="en-GB" sz="2200" dirty="0"/>
              <a:t> string methods</a:t>
            </a:r>
          </a:p>
          <a:p>
            <a:pPr lvl="1" eaLnBrk="1" hangingPunct="1"/>
            <a:r>
              <a:rPr lang="en-GB" sz="2200" dirty="0">
                <a:solidFill>
                  <a:srgbClr val="FF0000"/>
                </a:solidFill>
              </a:rPr>
              <a:t>Examining</a:t>
            </a:r>
            <a:r>
              <a:rPr lang="en-GB" sz="2200" dirty="0"/>
              <a:t> string methods</a:t>
            </a:r>
          </a:p>
          <a:p>
            <a:pPr lvl="1" eaLnBrk="1" hangingPunct="1"/>
            <a:r>
              <a:rPr lang="en-GB" sz="2200" dirty="0">
                <a:solidFill>
                  <a:srgbClr val="FF0000"/>
                </a:solidFill>
              </a:rPr>
              <a:t>Conversion</a:t>
            </a:r>
            <a:r>
              <a:rPr lang="en-GB" sz="2200" dirty="0"/>
              <a:t> string methods</a:t>
            </a:r>
          </a:p>
          <a:p>
            <a:pPr eaLnBrk="1" hangingPunct="1"/>
            <a:endParaRPr lang="en-GB" sz="2400" dirty="0"/>
          </a:p>
          <a:p>
            <a:pPr eaLnBrk="1" hangingPunct="1"/>
            <a:r>
              <a:rPr lang="en-GB" sz="2400" dirty="0"/>
              <a:t>To get details of methods, refer to</a:t>
            </a:r>
          </a:p>
          <a:p>
            <a:pPr lvl="1" eaLnBrk="1" hangingPunct="1"/>
            <a:r>
              <a:rPr lang="en-US" sz="2400" dirty="0"/>
              <a:t>MSDN website</a:t>
            </a:r>
            <a:endParaRPr lang="en-GB" sz="2400" dirty="0"/>
          </a:p>
          <a:p>
            <a:pPr eaLnBrk="1" hangingPunct="1"/>
            <a:endParaRPr lang="en-GB" sz="2400" dirty="0"/>
          </a:p>
          <a:p>
            <a:pPr eaLnBrk="1" hangingPunct="1">
              <a:buFont typeface="Wingdings" pitchFamily="2" charset="2"/>
              <a:buNone/>
            </a:pPr>
            <a:endParaRPr lang="en-GB" sz="2400" dirty="0"/>
          </a:p>
          <a:p>
            <a:pPr eaLnBrk="1" hangingPunct="1">
              <a:buFont typeface="Wingdings" pitchFamily="2" charset="2"/>
              <a:buNone/>
            </a:pPr>
            <a:endParaRPr lang="en-GB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0764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8604" y="500034"/>
            <a:ext cx="25923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defTabSz="4572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GB" sz="4000" dirty="0"/>
              <a:t>Practical 5A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76672" y="1187624"/>
            <a:ext cx="61926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0" dirty="0">
                <a:latin typeface="+mn-lt"/>
              </a:rPr>
              <a:t>Q1. Write a program which inputs 2 strings from text boxes and buttons. </a:t>
            </a:r>
          </a:p>
          <a:p>
            <a:endParaRPr lang="en-GB" sz="1800" b="0" dirty="0">
              <a:latin typeface="+mn-lt"/>
            </a:endParaRPr>
          </a:p>
          <a:p>
            <a:r>
              <a:rPr lang="en-GB" sz="1800" b="0" dirty="0">
                <a:latin typeface="+mn-lt"/>
              </a:rPr>
              <a:t>When user clicks on: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sz="1800" dirty="0">
                <a:solidFill>
                  <a:srgbClr val="FF0000"/>
                </a:solidFill>
                <a:latin typeface="+mn-lt"/>
              </a:rPr>
              <a:t>Join</a:t>
            </a:r>
            <a:r>
              <a:rPr lang="en-GB" sz="1800" b="0" dirty="0">
                <a:latin typeface="+mn-lt"/>
              </a:rPr>
              <a:t> button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sz="1800" dirty="0">
                <a:solidFill>
                  <a:srgbClr val="FF0000"/>
                </a:solidFill>
                <a:latin typeface="+mn-lt"/>
              </a:rPr>
              <a:t>Compare</a:t>
            </a:r>
            <a:r>
              <a:rPr lang="en-GB" sz="1800" b="0" dirty="0">
                <a:latin typeface="+mn-lt"/>
              </a:rPr>
              <a:t> equal button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sz="1800" dirty="0">
                <a:solidFill>
                  <a:srgbClr val="FF0000"/>
                </a:solidFill>
                <a:latin typeface="+mn-lt"/>
              </a:rPr>
              <a:t>Contains</a:t>
            </a:r>
            <a:r>
              <a:rPr lang="en-GB" sz="1800" b="0" dirty="0">
                <a:latin typeface="+mn-lt"/>
              </a:rPr>
              <a:t> button, check for string 1 contains any string 2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GB" sz="1800" dirty="0">
                <a:solidFill>
                  <a:srgbClr val="FF0000"/>
                </a:solidFill>
                <a:latin typeface="+mn-lt"/>
              </a:rPr>
              <a:t>Insert</a:t>
            </a:r>
            <a:r>
              <a:rPr lang="en-GB" sz="1800" b="0" dirty="0">
                <a:latin typeface="+mn-lt"/>
              </a:rPr>
              <a:t> button, it inserts string 2 at position 1 of string 1</a:t>
            </a:r>
          </a:p>
          <a:p>
            <a:r>
              <a:rPr lang="en-GB" sz="1800" b="0" dirty="0">
                <a:latin typeface="+mn-lt"/>
              </a:rPr>
              <a:t>Call the respective string method. Show the resulting string in a rich text box.</a:t>
            </a:r>
          </a:p>
          <a:p>
            <a:endParaRPr lang="en-GB" sz="1800" b="0" dirty="0">
              <a:latin typeface="+mn-lt"/>
            </a:endParaRPr>
          </a:p>
          <a:p>
            <a:r>
              <a:rPr lang="en-GB" sz="1800" b="0" i="1" dirty="0">
                <a:latin typeface="+mn-lt"/>
              </a:rPr>
              <a:t>Here is a sample code to help you. Fill in the blanks.</a:t>
            </a:r>
            <a:endParaRPr lang="en-SG" sz="1800" b="0" i="1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76872" y="5080609"/>
            <a:ext cx="4510067" cy="2677656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SG" sz="1400" b="0" dirty="0"/>
              <a:t>private void </a:t>
            </a:r>
            <a:r>
              <a:rPr lang="en-SG" sz="1400" b="0" dirty="0" err="1"/>
              <a:t>btnJoin_Click</a:t>
            </a:r>
            <a:r>
              <a:rPr lang="en-SG" sz="1400" b="0" dirty="0"/>
              <a:t>(object sender, </a:t>
            </a:r>
            <a:r>
              <a:rPr lang="en-SG" sz="1400" b="0" dirty="0" err="1"/>
              <a:t>EventArgs</a:t>
            </a:r>
            <a:r>
              <a:rPr lang="en-SG" sz="1400" b="0" dirty="0"/>
              <a:t> e)</a:t>
            </a:r>
          </a:p>
          <a:p>
            <a:r>
              <a:rPr lang="en-SG" sz="1400" b="0" dirty="0"/>
              <a:t>        {</a:t>
            </a:r>
          </a:p>
          <a:p>
            <a:r>
              <a:rPr lang="en-SG" sz="1400" b="0" dirty="0"/>
              <a:t>            string s1 = txtString1.Text;</a:t>
            </a:r>
          </a:p>
          <a:p>
            <a:r>
              <a:rPr lang="en-SG" sz="1400" b="0" dirty="0"/>
              <a:t>            string s2 = txtString2.Text;</a:t>
            </a:r>
          </a:p>
          <a:p>
            <a:r>
              <a:rPr lang="en-SG" sz="1400" b="0" dirty="0"/>
              <a:t>            string result;</a:t>
            </a:r>
          </a:p>
          <a:p>
            <a:endParaRPr lang="en-SG" sz="1400" b="0" dirty="0"/>
          </a:p>
          <a:p>
            <a:r>
              <a:rPr lang="en-SG" sz="1400" b="0" dirty="0"/>
              <a:t>            result = string. __________(s1, s2);</a:t>
            </a:r>
          </a:p>
          <a:p>
            <a:endParaRPr lang="en-SG" sz="1400" b="0" dirty="0"/>
          </a:p>
          <a:p>
            <a:r>
              <a:rPr lang="en-SG" sz="1400" b="0" dirty="0" err="1"/>
              <a:t>rtbResult.AppendText</a:t>
            </a:r>
            <a:r>
              <a:rPr lang="en-SG" sz="1400" b="0" dirty="0"/>
              <a:t>("Join string: " + ________ </a:t>
            </a:r>
          </a:p>
          <a:p>
            <a:r>
              <a:rPr lang="en-SG" sz="1400" b="0" dirty="0"/>
              <a:t>	+ "\n");</a:t>
            </a:r>
          </a:p>
          <a:p>
            <a:endParaRPr lang="en-SG" sz="1400" b="0" dirty="0"/>
          </a:p>
          <a:p>
            <a:r>
              <a:rPr lang="en-SG" sz="1400" b="0" dirty="0"/>
              <a:t>        }</a:t>
            </a:r>
          </a:p>
        </p:txBody>
      </p:sp>
      <p:pic>
        <p:nvPicPr>
          <p:cNvPr id="8" name="Picture 7" descr="Form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8" y="5021961"/>
            <a:ext cx="1882303" cy="372650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3809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idx="1"/>
          </p:nvPr>
        </p:nvSpPr>
        <p:spPr>
          <a:xfrm>
            <a:off x="476672" y="1170360"/>
            <a:ext cx="6172200" cy="6065935"/>
          </a:xfrm>
        </p:spPr>
        <p:txBody>
          <a:bodyPr/>
          <a:lstStyle/>
          <a:p>
            <a:pPr marL="0" indent="0" defTabSz="457200" eaLnBrk="1" hangingPunct="1">
              <a:lnSpc>
                <a:spcPct val="90000"/>
              </a:lnSpc>
              <a:buNone/>
            </a:pPr>
            <a:r>
              <a:rPr lang="en-GB" sz="2000" dirty="0"/>
              <a:t>Q2 Write an application to get user to enter a password. User clicks on Check button, the program checks  the password string against “fish”. (HINT: use the = = operator or Equals method for comparison). Display appropriate error messages.</a:t>
            </a:r>
          </a:p>
          <a:p>
            <a:pPr marL="457200" indent="-457200" defTabSz="457200" eaLnBrk="1" hangingPunct="1">
              <a:lnSpc>
                <a:spcPct val="90000"/>
              </a:lnSpc>
              <a:buFont typeface="+mj-lt"/>
              <a:buAutoNum type="arabicPeriod"/>
            </a:pPr>
            <a:endParaRPr lang="en-GB" sz="2000" dirty="0"/>
          </a:p>
          <a:p>
            <a:pPr marL="457200" indent="-457200" defTabSz="457200" eaLnBrk="1" hangingPunct="1">
              <a:lnSpc>
                <a:spcPct val="90000"/>
              </a:lnSpc>
              <a:buFont typeface="+mj-lt"/>
              <a:buAutoNum type="arabicPeriod"/>
            </a:pPr>
            <a:endParaRPr lang="en-GB" sz="2000" dirty="0"/>
          </a:p>
          <a:p>
            <a:pPr marL="457200" indent="-457200" defTabSz="457200" eaLnBrk="1" hangingPunct="1">
              <a:lnSpc>
                <a:spcPct val="90000"/>
              </a:lnSpc>
              <a:buFont typeface="+mj-lt"/>
              <a:buAutoNum type="arabicPeriod"/>
            </a:pPr>
            <a:endParaRPr lang="en-GB" sz="2000" dirty="0"/>
          </a:p>
          <a:p>
            <a:pPr marL="457200" indent="-457200" defTabSz="457200" eaLnBrk="1" hangingPunct="1">
              <a:lnSpc>
                <a:spcPct val="90000"/>
              </a:lnSpc>
              <a:buFont typeface="+mj-lt"/>
              <a:buAutoNum type="arabicPeriod"/>
            </a:pPr>
            <a:endParaRPr lang="en-GB" sz="2000" dirty="0"/>
          </a:p>
          <a:p>
            <a:pPr marL="457200" indent="-457200" defTabSz="457200" eaLnBrk="1" hangingPunct="1">
              <a:lnSpc>
                <a:spcPct val="90000"/>
              </a:lnSpc>
              <a:buFont typeface="+mj-lt"/>
              <a:buAutoNum type="arabicPeriod"/>
            </a:pPr>
            <a:endParaRPr lang="en-GB" sz="2000" dirty="0"/>
          </a:p>
          <a:p>
            <a:pPr marL="457200" indent="-457200" defTabSz="457200" eaLnBrk="1" hangingPunct="1">
              <a:lnSpc>
                <a:spcPct val="90000"/>
              </a:lnSpc>
              <a:buFont typeface="+mj-lt"/>
              <a:buAutoNum type="arabicPeriod"/>
            </a:pPr>
            <a:endParaRPr lang="en-GB" sz="2000" dirty="0"/>
          </a:p>
          <a:p>
            <a:pPr marL="457200" indent="-457200" defTabSz="457200" eaLnBrk="1" hangingPunct="1">
              <a:lnSpc>
                <a:spcPct val="90000"/>
              </a:lnSpc>
              <a:buFont typeface="+mj-lt"/>
              <a:buAutoNum type="arabicPeriod"/>
            </a:pPr>
            <a:endParaRPr lang="en-GB" sz="2000" dirty="0"/>
          </a:p>
          <a:p>
            <a:pPr marL="0" indent="0" defTabSz="457200" eaLnBrk="1" hangingPunct="1">
              <a:lnSpc>
                <a:spcPct val="90000"/>
              </a:lnSpc>
              <a:buNone/>
            </a:pPr>
            <a:r>
              <a:rPr lang="en-GB" sz="2000" dirty="0"/>
              <a:t>Q3 Write an application to get user to enter a password. User clicks on Check button, program checks if the password entered must be more than 10 characters.  (HINT: use the Length property). Display appropriate error messages.</a:t>
            </a:r>
          </a:p>
          <a:p>
            <a:pPr marL="0" indent="0" defTabSz="457200" eaLnBrk="1" hangingPunct="1">
              <a:lnSpc>
                <a:spcPct val="90000"/>
              </a:lnSpc>
              <a:buNone/>
            </a:pPr>
            <a:endParaRPr lang="en-GB" sz="2000" dirty="0"/>
          </a:p>
        </p:txBody>
      </p:sp>
      <p:sp>
        <p:nvSpPr>
          <p:cNvPr id="3" name="Rectangle 2"/>
          <p:cNvSpPr/>
          <p:nvPr/>
        </p:nvSpPr>
        <p:spPr>
          <a:xfrm>
            <a:off x="428604" y="500034"/>
            <a:ext cx="25923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defTabSz="4572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GB" sz="4000" dirty="0"/>
              <a:t>Practical 5A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024" y="2695448"/>
            <a:ext cx="1874683" cy="1516512"/>
          </a:xfrm>
          <a:prstGeom prst="rect">
            <a:avLst/>
          </a:prstGeom>
        </p:spPr>
      </p:pic>
      <p:pic>
        <p:nvPicPr>
          <p:cNvPr id="5" name="Picture 4" descr="FormQ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802" y="2699792"/>
            <a:ext cx="2286198" cy="1257409"/>
          </a:xfrm>
          <a:prstGeom prst="rect">
            <a:avLst/>
          </a:prstGeom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7032" y="6804248"/>
            <a:ext cx="2179509" cy="1463167"/>
          </a:xfrm>
          <a:prstGeom prst="rect">
            <a:avLst/>
          </a:prstGeom>
        </p:spPr>
      </p:pic>
      <p:pic>
        <p:nvPicPr>
          <p:cNvPr id="7" name="Picture 6" descr="FormQ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752" y="6826045"/>
            <a:ext cx="2286198" cy="114309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idx="1"/>
          </p:nvPr>
        </p:nvSpPr>
        <p:spPr>
          <a:xfrm>
            <a:off x="476672" y="1170360"/>
            <a:ext cx="6172200" cy="7602537"/>
          </a:xfrm>
        </p:spPr>
        <p:txBody>
          <a:bodyPr/>
          <a:lstStyle/>
          <a:p>
            <a:pPr marL="0" indent="0" defTabSz="457200" eaLnBrk="1" hangingPunct="1">
              <a:lnSpc>
                <a:spcPct val="90000"/>
              </a:lnSpc>
              <a:buNone/>
            </a:pPr>
            <a:r>
              <a:rPr lang="en-GB" sz="2000" dirty="0"/>
              <a:t>Q4 Write an application to get user to enter his/her email address.  Email address must NOT have spaces and MUST have a ‘@’ character. When user clicks on Check button, the program checks the entered email address and display appropriate error messages.</a:t>
            </a:r>
          </a:p>
          <a:p>
            <a:pPr marL="457200" indent="-457200" defTabSz="457200" eaLnBrk="1" hangingPunct="1">
              <a:lnSpc>
                <a:spcPct val="90000"/>
              </a:lnSpc>
              <a:buFontTx/>
              <a:buNone/>
            </a:pPr>
            <a:endParaRPr lang="en-GB" sz="2000" dirty="0"/>
          </a:p>
        </p:txBody>
      </p:sp>
      <p:sp>
        <p:nvSpPr>
          <p:cNvPr id="3" name="Rectangle 2"/>
          <p:cNvSpPr/>
          <p:nvPr/>
        </p:nvSpPr>
        <p:spPr>
          <a:xfrm>
            <a:off x="428604" y="500034"/>
            <a:ext cx="25923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defTabSz="4572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GB" sz="4000" dirty="0"/>
              <a:t>Practical 5A</a:t>
            </a:r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58" y="6384164"/>
            <a:ext cx="2781541" cy="1524132"/>
          </a:xfrm>
          <a:prstGeom prst="rect">
            <a:avLst/>
          </a:prstGeom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58" y="4788024"/>
            <a:ext cx="2385267" cy="1455546"/>
          </a:xfrm>
          <a:prstGeom prst="rect">
            <a:avLst/>
          </a:prstGeom>
        </p:spPr>
      </p:pic>
      <p:pic>
        <p:nvPicPr>
          <p:cNvPr id="5" name="Picture 4" descr="FormQ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704" y="3059832"/>
            <a:ext cx="3208298" cy="1234547"/>
          </a:xfrm>
          <a:prstGeom prst="rect">
            <a:avLst/>
          </a:prstGeom>
        </p:spPr>
      </p:pic>
      <p:sp>
        <p:nvSpPr>
          <p:cNvPr id="7" name="Rounded Rectangular Callout 6"/>
          <p:cNvSpPr/>
          <p:nvPr/>
        </p:nvSpPr>
        <p:spPr>
          <a:xfrm>
            <a:off x="3756979" y="5076056"/>
            <a:ext cx="2624350" cy="944318"/>
          </a:xfrm>
          <a:prstGeom prst="wedgeRoundRectCallout">
            <a:avLst>
              <a:gd name="adj1" fmla="val -74434"/>
              <a:gd name="adj2" fmla="val -19095"/>
              <a:gd name="adj3" fmla="val 16667"/>
            </a:avLst>
          </a:prstGeom>
          <a:solidFill>
            <a:schemeClr val="tx2">
              <a:lumMod val="10000"/>
              <a:lumOff val="90000"/>
              <a:alpha val="78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sz="1400" dirty="0">
                <a:solidFill>
                  <a:schemeClr val="tx1"/>
                </a:solidFill>
              </a:rPr>
              <a:t>Display error messages for invalid email address</a:t>
            </a:r>
            <a:endParaRPr lang="en-SG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333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549275" y="2511425"/>
            <a:ext cx="5829300" cy="1960563"/>
          </a:xfrm>
          <a:noFill/>
        </p:spPr>
        <p:txBody>
          <a:bodyPr/>
          <a:lstStyle/>
          <a:p>
            <a:pPr algn="r" eaLnBrk="1" hangingPunct="1"/>
            <a:r>
              <a:rPr lang="en-GB" sz="4400" b="0" dirty="0"/>
              <a:t>IT1762</a:t>
            </a:r>
            <a:br>
              <a:rPr lang="en-GB" sz="4400" b="0" dirty="0"/>
            </a:br>
            <a:r>
              <a:rPr lang="en-GB" sz="4400" b="0" dirty="0"/>
              <a:t>Data Structures and Algorithms</a:t>
            </a:r>
            <a:endParaRPr lang="en-US" sz="4400" b="0" dirty="0"/>
          </a:p>
        </p:txBody>
      </p:sp>
      <p:sp>
        <p:nvSpPr>
          <p:cNvPr id="1433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908050" y="4905375"/>
            <a:ext cx="5353050" cy="2857500"/>
          </a:xfrm>
        </p:spPr>
        <p:txBody>
          <a:bodyPr/>
          <a:lstStyle/>
          <a:p>
            <a:pPr eaLnBrk="1" hangingPunct="1"/>
            <a:r>
              <a:rPr lang="en-GB" sz="4000" b="1" dirty="0">
                <a:latin typeface="Times New Roman" pitchFamily="18" charset="0"/>
              </a:rPr>
              <a:t>End of</a:t>
            </a:r>
          </a:p>
          <a:p>
            <a:pPr eaLnBrk="1" hangingPunct="1">
              <a:lnSpc>
                <a:spcPct val="150000"/>
              </a:lnSpc>
            </a:pPr>
            <a:r>
              <a:rPr lang="en-GB" b="1">
                <a:solidFill>
                  <a:srgbClr val="FF0000"/>
                </a:solidFill>
                <a:latin typeface="Times New Roman" pitchFamily="18" charset="0"/>
              </a:rPr>
              <a:t>Topic 5A </a:t>
            </a:r>
            <a:r>
              <a:rPr lang="en-GB" b="1" dirty="0">
                <a:solidFill>
                  <a:srgbClr val="FF0000"/>
                </a:solidFill>
                <a:latin typeface="Times New Roman" pitchFamily="18" charset="0"/>
              </a:rPr>
              <a:t>Strings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Layers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1490591386</TotalTime>
  <Pages>18</Pages>
  <Words>1405</Words>
  <Application>Microsoft Office PowerPoint</Application>
  <PresentationFormat>On-screen Show (4:3)</PresentationFormat>
  <Paragraphs>243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Arial Narrow</vt:lpstr>
      <vt:lpstr>Times New Roman</vt:lpstr>
      <vt:lpstr>Verdana</vt:lpstr>
      <vt:lpstr>Wingdings</vt:lpstr>
      <vt:lpstr>1_Layers</vt:lpstr>
      <vt:lpstr>IT1762 Data Structures and Algorithms</vt:lpstr>
      <vt:lpstr>OBJECTIVES</vt:lpstr>
      <vt:lpstr>String Class</vt:lpstr>
      <vt:lpstr>String  Methods, Properties, Operators</vt:lpstr>
      <vt:lpstr>String  Methods, Properties, Operators</vt:lpstr>
      <vt:lpstr>Example – Bracket [ ]</vt:lpstr>
      <vt:lpstr>Amending string methods Replacing String</vt:lpstr>
      <vt:lpstr>Amending string methods  Joining 2 Strings</vt:lpstr>
      <vt:lpstr>Amending string methods Insert String </vt:lpstr>
      <vt:lpstr>Examining string methods Length Property</vt:lpstr>
      <vt:lpstr>Conversion methods ToString method</vt:lpstr>
      <vt:lpstr>Examining string methods Comparing Strings</vt:lpstr>
      <vt:lpstr>Examining string methods Checking using Contains</vt:lpstr>
      <vt:lpstr>Examining string methods Substring and IndexOf</vt:lpstr>
      <vt:lpstr>Summary</vt:lpstr>
      <vt:lpstr>PowerPoint Presentation</vt:lpstr>
      <vt:lpstr>PowerPoint Presentation</vt:lpstr>
      <vt:lpstr>PowerPoint Presentation</vt:lpstr>
      <vt:lpstr>IT1762 Data Structures and Algorithms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</dc:title>
  <dc:subject>Data Structures and Algorithms</dc:subject>
  <dc:creator>Brett Graham</dc:creator>
  <cp:lastModifiedBy>TAN AI LIAN</cp:lastModifiedBy>
  <cp:revision>460</cp:revision>
  <cp:lastPrinted>1998-12-30T02:15:58Z</cp:lastPrinted>
  <dcterms:created xsi:type="dcterms:W3CDTF">1995-05-09T00:36:40Z</dcterms:created>
  <dcterms:modified xsi:type="dcterms:W3CDTF">2018-09-25T06:08:48Z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63636094-F993-4135-A8AC-28DFB8A20E9D</vt:lpwstr>
  </property>
  <property fmtid="{D5CDD505-2E9C-101B-9397-08002B2CF9AE}" pid="3" name="ArticulatePath">
    <vt:lpwstr>IT1762 Topic 5A - Strings</vt:lpwstr>
  </property>
</Properties>
</file>