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3"/>
  </p:notesMasterIdLst>
  <p:sldIdLst>
    <p:sldId id="256" r:id="rId2"/>
    <p:sldId id="355" r:id="rId3"/>
    <p:sldId id="356" r:id="rId4"/>
    <p:sldId id="358" r:id="rId5"/>
    <p:sldId id="357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75" r:id="rId15"/>
    <p:sldId id="369" r:id="rId16"/>
    <p:sldId id="370" r:id="rId17"/>
    <p:sldId id="371" r:id="rId18"/>
    <p:sldId id="372" r:id="rId19"/>
    <p:sldId id="373" r:id="rId20"/>
    <p:sldId id="374" r:id="rId21"/>
    <p:sldId id="368" r:id="rId22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24"/>
      <p: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ＭＳ Ｐゴシック" panose="020B0600070205080204" pitchFamily="34" charset="-128"/>
      <p:regular r:id="rId30"/>
    </p:embeddedFont>
    <p:embeddedFont>
      <p:font typeface="宋体" panose="02010600030101010101" pitchFamily="2" charset="-12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9E63B6-08C8-4444-B43B-6137E374DB1E}">
  <a:tblStyle styleId="{129E63B6-08C8-4444-B43B-6137E374DB1E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72218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314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ABFB4C1-FD95-40B7-A7AA-2B133C5EC4E0}" type="datetime1">
              <a:rPr lang="en-US" altLang="en-US" sz="1200"/>
              <a:pPr/>
              <a:t>4/24/2018</a:t>
            </a:fld>
            <a:endParaRPr lang="en-US" altLang="en-US" sz="1200"/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D0D2E4F-4979-4B7D-9F90-442310E75725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63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756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E0A1605-B7E4-4A92-B69A-F6F36361EFEE}" type="datetime1">
              <a:rPr lang="en-US" altLang="en-US" sz="1200"/>
              <a:pPr/>
              <a:t>4/24/2018</a:t>
            </a:fld>
            <a:endParaRPr lang="en-US" altLang="en-US" sz="1200"/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425B265-385F-4F85-8E18-0F83D195258A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BIND - </a:t>
            </a:r>
          </a:p>
        </p:txBody>
      </p:sp>
    </p:spTree>
    <p:extLst>
      <p:ext uri="{BB962C8B-B14F-4D97-AF65-F5344CB8AC3E}">
        <p14:creationId xmlns:p14="http://schemas.microsoft.com/office/powerpoint/2010/main" val="2920812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DA96CFA-15C3-4CD7-806F-77434C0C4AC5}" type="datetime1">
              <a:rPr lang="en-US" altLang="en-US" sz="1200"/>
              <a:pPr/>
              <a:t>4/24/2018</a:t>
            </a:fld>
            <a:endParaRPr lang="en-US" altLang="en-US" sz="1200"/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5F63AD1-0ACC-42A7-9199-0DB8EEDBD453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 sz="1000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670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23D2C0B-BF3F-4F6F-910C-0D76F3788D8B}" type="datetime1">
              <a:rPr lang="en-US" altLang="en-US" sz="1200"/>
              <a:pPr/>
              <a:t>4/24/2018</a:t>
            </a:fld>
            <a:endParaRPr lang="en-US" altLang="en-US" sz="1200"/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3A9A50E-E733-4296-A5C7-8EE8F24CD666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 sz="1000" smtClean="0">
                <a:latin typeface="Times New Roman" panose="02020603050405020304" pitchFamily="18" charset="0"/>
              </a:rPr>
              <a:t>Backups nightly, data retained for over 30 days on and off site</a:t>
            </a:r>
          </a:p>
          <a:p>
            <a:endParaRPr lang="en-US" altLang="en-US" sz="1000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191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36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51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59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481436"/>
            <a:ext cx="7598570" cy="11016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284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11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141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308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1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2FF7-FDD2-4C4E-9C39-E1165898CA2B}" type="datetime1">
              <a:rPr lang="en-US" smtClean="0">
                <a:solidFill>
                  <a:srgbClr val="696464"/>
                </a:solidFill>
              </a:rPr>
              <a:pPr/>
              <a:t>4/24/2018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IT2533 Lecture</a:t>
            </a:r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6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793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1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385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806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3186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288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9875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08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00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897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601425"/>
            <a:ext cx="5810400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6000"/>
            </a:lvl2pPr>
            <a:lvl3pPr lvl="2" algn="ctr">
              <a:spcBef>
                <a:spcPts val="0"/>
              </a:spcBef>
              <a:buSzPct val="100000"/>
              <a:defRPr sz="6000"/>
            </a:lvl3pPr>
            <a:lvl4pPr lvl="3" algn="ctr">
              <a:spcBef>
                <a:spcPts val="0"/>
              </a:spcBef>
              <a:buSzPct val="100000"/>
              <a:defRPr sz="6000"/>
            </a:lvl4pPr>
            <a:lvl5pPr lvl="4" algn="ctr">
              <a:spcBef>
                <a:spcPts val="0"/>
              </a:spcBef>
              <a:buSzPct val="100000"/>
              <a:defRPr sz="6000"/>
            </a:lvl5pPr>
            <a:lvl6pPr lvl="5" algn="ctr">
              <a:spcBef>
                <a:spcPts val="0"/>
              </a:spcBef>
              <a:buSzPct val="100000"/>
              <a:defRPr sz="6000"/>
            </a:lvl6pPr>
            <a:lvl7pPr lvl="6" algn="ctr">
              <a:spcBef>
                <a:spcPts val="0"/>
              </a:spcBef>
              <a:buSzPct val="100000"/>
              <a:defRPr sz="6000"/>
            </a:lvl7pPr>
            <a:lvl8pPr lvl="7" algn="ctr">
              <a:spcBef>
                <a:spcPts val="0"/>
              </a:spcBef>
              <a:buSzPct val="100000"/>
              <a:defRPr sz="6000"/>
            </a:lvl8pPr>
            <a:lvl9pPr lvl="8" algn="ctr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3783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46025" y="530725"/>
            <a:ext cx="3208799" cy="1028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46025" y="1767275"/>
            <a:ext cx="7540800" cy="3158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800"/>
            </a:lvl1pPr>
            <a:lvl2pPr lvl="1">
              <a:spcBef>
                <a:spcPts val="0"/>
              </a:spcBef>
              <a:buSzPct val="100000"/>
              <a:defRPr sz="2800"/>
            </a:lvl2pPr>
            <a:lvl3pPr lvl="2">
              <a:spcBef>
                <a:spcPts val="0"/>
              </a:spcBef>
              <a:buSzPct val="100000"/>
              <a:defRPr sz="2800"/>
            </a:lvl3pPr>
            <a:lvl4pPr lvl="3">
              <a:spcBef>
                <a:spcPts val="0"/>
              </a:spcBef>
              <a:buSzPct val="100000"/>
              <a:defRPr sz="2800"/>
            </a:lvl4pPr>
            <a:lvl5pPr lvl="4">
              <a:spcBef>
                <a:spcPts val="0"/>
              </a:spcBef>
              <a:buSzPct val="100000"/>
              <a:defRPr sz="2800"/>
            </a:lvl5pPr>
            <a:lvl6pPr lvl="5">
              <a:spcBef>
                <a:spcPts val="0"/>
              </a:spcBef>
              <a:buSzPct val="100000"/>
              <a:defRPr sz="2800"/>
            </a:lvl6pPr>
            <a:lvl7pPr lvl="6">
              <a:spcBef>
                <a:spcPts val="0"/>
              </a:spcBef>
              <a:buSzPct val="100000"/>
              <a:defRPr sz="2800"/>
            </a:lvl7pPr>
            <a:lvl8pPr lvl="7">
              <a:spcBef>
                <a:spcPts val="0"/>
              </a:spcBef>
              <a:buSzPct val="100000"/>
              <a:defRPr sz="2800"/>
            </a:lvl8pPr>
            <a:lvl9pPr lvl="8">
              <a:spcBef>
                <a:spcPts val="0"/>
              </a:spcBef>
              <a:buSzPct val="100000"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518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1146025" y="530725"/>
            <a:ext cx="3208799" cy="1028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1146025" y="1767275"/>
            <a:ext cx="3660300" cy="3158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buSzPct val="100000"/>
              <a:defRPr sz="2000"/>
            </a:lvl2pPr>
            <a:lvl3pPr lvl="2">
              <a:spcBef>
                <a:spcPts val="0"/>
              </a:spcBef>
              <a:buSzPct val="100000"/>
              <a:defRPr sz="2000"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2"/>
          </p:nvPr>
        </p:nvSpPr>
        <p:spPr>
          <a:xfrm>
            <a:off x="5026623" y="1767275"/>
            <a:ext cx="3660300" cy="3158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buSzPct val="100000"/>
              <a:defRPr sz="2000"/>
            </a:lvl2pPr>
            <a:lvl3pPr lvl="2">
              <a:spcBef>
                <a:spcPts val="0"/>
              </a:spcBef>
              <a:buSzPct val="100000"/>
              <a:defRPr sz="2000"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92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95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2" r:id="rId19"/>
    <p:sldLayoutId id="2147483686" r:id="rId20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Name_server" TargetMode="External"/><Relationship Id="rId3" Type="http://schemas.openxmlformats.org/officeDocument/2006/relationships/hyperlink" Target="http://en.wikipedia.org/wiki/Catalog_server" TargetMode="External"/><Relationship Id="rId7" Type="http://schemas.openxmlformats.org/officeDocument/2006/relationships/hyperlink" Target="http://en.wikipedia.org/wiki/Mail_server" TargetMode="External"/><Relationship Id="rId12" Type="http://schemas.openxmlformats.org/officeDocument/2006/relationships/hyperlink" Target="http://en.wikipedia.org/wiki/Game_server" TargetMode="External"/><Relationship Id="rId2" Type="http://schemas.openxmlformats.org/officeDocument/2006/relationships/hyperlink" Target="http://en.wikipedia.org/wiki/Application_server" TargetMode="External"/><Relationship Id="rId1" Type="http://schemas.openxmlformats.org/officeDocument/2006/relationships/slideLayout" Target="../slideLayouts/slideLayout20.xml"/><Relationship Id="rId6" Type="http://schemas.openxmlformats.org/officeDocument/2006/relationships/hyperlink" Target="http://en.wikipedia.org/wiki/File_server" TargetMode="External"/><Relationship Id="rId11" Type="http://schemas.openxmlformats.org/officeDocument/2006/relationships/hyperlink" Target="http://en.wikipedia.org/wiki/Web_server" TargetMode="External"/><Relationship Id="rId5" Type="http://schemas.openxmlformats.org/officeDocument/2006/relationships/hyperlink" Target="http://en.wikipedia.org/wiki/Database_server" TargetMode="External"/><Relationship Id="rId10" Type="http://schemas.openxmlformats.org/officeDocument/2006/relationships/hyperlink" Target="http://en.wikipedia.org/wiki/Proxy_server" TargetMode="External"/><Relationship Id="rId4" Type="http://schemas.openxmlformats.org/officeDocument/2006/relationships/hyperlink" Target="http://en.wikipedia.org/wiki/Communications_server" TargetMode="External"/><Relationship Id="rId9" Type="http://schemas.openxmlformats.org/officeDocument/2006/relationships/hyperlink" Target="http://en.wikipedia.org/wiki/Print_server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hyperlink" Target="https://youtu.be/_6Qbslgpw8U?t=11s" TargetMode="Externa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ctrTitle"/>
          </p:nvPr>
        </p:nvSpPr>
        <p:spPr>
          <a:xfrm>
            <a:off x="753266" y="2223754"/>
            <a:ext cx="79248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 smtClean="0"/>
              <a:t>IT2757</a:t>
            </a:r>
            <a:br>
              <a:rPr lang="en" sz="2400" dirty="0" smtClean="0"/>
            </a:br>
            <a:r>
              <a:rPr lang="en" sz="2400" dirty="0" smtClean="0"/>
              <a:t>Server and Services Security Management</a:t>
            </a:r>
            <a:br>
              <a:rPr lang="en" sz="2400" dirty="0" smtClean="0"/>
            </a:br>
            <a:r>
              <a:rPr lang="en" sz="2400" dirty="0" smtClean="0"/>
              <a:t>- SERvER TECHOLOGY AND CONCEPTS</a:t>
            </a:r>
            <a:endParaRPr lang="en" sz="2400" dirty="0"/>
          </a:p>
        </p:txBody>
      </p:sp>
      <p:grpSp>
        <p:nvGrpSpPr>
          <p:cNvPr id="99" name="Shape 99"/>
          <p:cNvGrpSpPr/>
          <p:nvPr/>
        </p:nvGrpSpPr>
        <p:grpSpPr>
          <a:xfrm>
            <a:off x="753266" y="1029785"/>
            <a:ext cx="964540" cy="1011306"/>
            <a:chOff x="5961125" y="1623900"/>
            <a:chExt cx="427450" cy="448175"/>
          </a:xfrm>
        </p:grpSpPr>
        <p:sp>
          <p:nvSpPr>
            <p:cNvPr id="100" name="Shape 100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0" t="0" r="0" b="0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0" t="0" r="0" b="0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0" t="0" r="0" b="0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0" t="0" r="0" b="0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0" t="0" r="0" b="0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0" t="0" r="0" b="0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Server Operating Systems</a:t>
            </a:r>
            <a:endParaRPr lang="en-S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Server OSes are designed from the ground up to provide platforms for multi-user, frequently business-critical, networked applications. As such, the focus of such operating systems tends to be security, stability and collaboration, rather than user interface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Server OSes provide a platform for multi-user applications, and most come bundled with a batch of common server applications, such as Web servers, e-mail agents and terminal services.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1171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Server Operating Systems</a:t>
            </a:r>
            <a:endParaRPr lang="en-S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000" dirty="0"/>
              <a:t>Features</a:t>
            </a:r>
            <a:r>
              <a:rPr lang="zh-CN" altLang="en-US" sz="2000" dirty="0"/>
              <a:t> </a:t>
            </a:r>
            <a:r>
              <a:rPr lang="en-US" altLang="zh-CN" sz="2000" dirty="0"/>
              <a:t>of Server OSes includes:</a:t>
            </a:r>
          </a:p>
          <a:p>
            <a:pPr lvl="1"/>
            <a:r>
              <a:rPr lang="en-US" sz="2000" dirty="0"/>
              <a:t>GUI not available or optional</a:t>
            </a:r>
          </a:p>
          <a:p>
            <a:pPr lvl="1"/>
            <a:r>
              <a:rPr lang="en-US" sz="2000" dirty="0"/>
              <a:t>Ability to reconfigure and update both hardware and software to some extent without restart</a:t>
            </a:r>
          </a:p>
          <a:p>
            <a:pPr lvl="1"/>
            <a:r>
              <a:rPr lang="en-US" sz="2000" dirty="0"/>
              <a:t>Advanced backup facilities to permit regular and frequent online backups of critical data</a:t>
            </a:r>
          </a:p>
          <a:p>
            <a:pPr lvl="1"/>
            <a:r>
              <a:rPr lang="en-US" sz="2000" dirty="0"/>
              <a:t>Flexible and advanced networking capabilities</a:t>
            </a:r>
          </a:p>
          <a:p>
            <a:pPr lvl="1"/>
            <a:r>
              <a:rPr lang="en-US" sz="2000" dirty="0"/>
              <a:t>Tight system security, with advanced user, resource, data, and memory protection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21916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Server Services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A </a:t>
            </a:r>
            <a:r>
              <a:rPr lang="en-US" sz="1800" b="1" dirty="0"/>
              <a:t>network service</a:t>
            </a:r>
            <a:r>
              <a:rPr lang="en-US" sz="1800" dirty="0"/>
              <a:t> is an application that provides data storage, manipulation, presentation, communication or other capability which is often implemented using a client-server or peer-to-peer architecture based on network. </a:t>
            </a:r>
          </a:p>
          <a:p>
            <a:r>
              <a:rPr lang="en-US" sz="1800" dirty="0"/>
              <a:t>Each service is usually provided by a server component running on one or more computers (often a dedicated server computer offering multiple services) and accessed via a network by client components running on other devices. However, the client and server components can both be run on the same machine.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801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Server Services</a:t>
            </a:r>
            <a:endParaRPr lang="en-S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146025" y="1614858"/>
            <a:ext cx="3660300" cy="3158699"/>
          </a:xfrm>
        </p:spPr>
        <p:txBody>
          <a:bodyPr/>
          <a:lstStyle/>
          <a:p>
            <a:r>
              <a:rPr lang="en-US" sz="1400" dirty="0">
                <a:hlinkClick r:id="rId2" tooltip="Application server"/>
              </a:rPr>
              <a:t>Application server</a:t>
            </a:r>
            <a:r>
              <a:rPr lang="en-US" sz="1400" dirty="0"/>
              <a:t>, a server dedicated to running certain software applications</a:t>
            </a:r>
          </a:p>
          <a:p>
            <a:r>
              <a:rPr lang="en-US" sz="1400" dirty="0">
                <a:hlinkClick r:id="rId3" tooltip="Catalog server"/>
              </a:rPr>
              <a:t>Catalog server</a:t>
            </a:r>
            <a:r>
              <a:rPr lang="en-US" sz="1400" dirty="0"/>
              <a:t>, a central search point for information across a distributed network</a:t>
            </a:r>
          </a:p>
          <a:p>
            <a:r>
              <a:rPr lang="en-US" sz="1400" dirty="0">
                <a:hlinkClick r:id="rId4" tooltip="Communications server"/>
              </a:rPr>
              <a:t>Communications server</a:t>
            </a:r>
            <a:r>
              <a:rPr lang="en-US" sz="1400" dirty="0"/>
              <a:t>, carrier-grade computing platform for communications networks</a:t>
            </a:r>
          </a:p>
          <a:p>
            <a:r>
              <a:rPr lang="en-US" sz="1400" dirty="0">
                <a:hlinkClick r:id="rId5" tooltip="Database server"/>
              </a:rPr>
              <a:t>Database server</a:t>
            </a:r>
            <a:r>
              <a:rPr lang="en-US" sz="1400" dirty="0"/>
              <a:t>, provides database services to other computer programs or computers</a:t>
            </a:r>
          </a:p>
          <a:p>
            <a:r>
              <a:rPr lang="en-US" sz="1400" dirty="0" smtClean="0">
                <a:hlinkClick r:id="rId6" tooltip="File server"/>
              </a:rPr>
              <a:t>File </a:t>
            </a:r>
            <a:r>
              <a:rPr lang="en-US" sz="1400" dirty="0">
                <a:hlinkClick r:id="rId6" tooltip="File server"/>
              </a:rPr>
              <a:t>server</a:t>
            </a:r>
            <a:r>
              <a:rPr lang="en-US" sz="1400" dirty="0"/>
              <a:t>, provides remote access to files</a:t>
            </a:r>
          </a:p>
          <a:p>
            <a:endParaRPr lang="en-SG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>
          <a:xfrm>
            <a:off x="5058521" y="1614858"/>
            <a:ext cx="3660300" cy="3158699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 smtClean="0">
                <a:hlinkClick r:id="rId7" tooltip="Mail server"/>
              </a:rPr>
              <a:t>Mail </a:t>
            </a:r>
            <a:r>
              <a:rPr lang="en-US" sz="1400" dirty="0">
                <a:hlinkClick r:id="rId7" tooltip="Mail server"/>
              </a:rPr>
              <a:t>server</a:t>
            </a:r>
            <a:r>
              <a:rPr lang="en-US" sz="1400" dirty="0"/>
              <a:t>, handles transport of and access to email</a:t>
            </a:r>
          </a:p>
          <a:p>
            <a:r>
              <a:rPr lang="en-US" sz="1400" dirty="0" smtClean="0">
                <a:hlinkClick r:id="rId8" tooltip="Name server"/>
              </a:rPr>
              <a:t>Name </a:t>
            </a:r>
            <a:r>
              <a:rPr lang="en-US" sz="1400" dirty="0">
                <a:hlinkClick r:id="rId8" tooltip="Name server"/>
              </a:rPr>
              <a:t>server</a:t>
            </a:r>
            <a:r>
              <a:rPr lang="en-US" sz="1400" dirty="0"/>
              <a:t> or DNS</a:t>
            </a:r>
          </a:p>
          <a:p>
            <a:r>
              <a:rPr lang="en-US" sz="1400" dirty="0">
                <a:hlinkClick r:id="rId9" tooltip="Print server"/>
              </a:rPr>
              <a:t>Print server</a:t>
            </a:r>
            <a:r>
              <a:rPr lang="en-US" sz="1400" dirty="0"/>
              <a:t>, provides printer services</a:t>
            </a:r>
          </a:p>
          <a:p>
            <a:r>
              <a:rPr lang="en-US" sz="1400" dirty="0">
                <a:hlinkClick r:id="rId10" tooltip="Proxy server"/>
              </a:rPr>
              <a:t>Proxy server</a:t>
            </a:r>
            <a:r>
              <a:rPr lang="en-US" sz="1400" dirty="0"/>
              <a:t>, acts as an intermediary for requests from clients seeking resources from other </a:t>
            </a:r>
            <a:r>
              <a:rPr lang="en-US" sz="1400" dirty="0" smtClean="0"/>
              <a:t>servers.</a:t>
            </a:r>
            <a:endParaRPr lang="en-US" sz="1400" dirty="0"/>
          </a:p>
          <a:p>
            <a:r>
              <a:rPr lang="en-US" sz="1400" dirty="0"/>
              <a:t> </a:t>
            </a:r>
            <a:r>
              <a:rPr lang="en-US" sz="1400" dirty="0">
                <a:hlinkClick r:id="rId11" tooltip="Web server"/>
              </a:rPr>
              <a:t>Web server</a:t>
            </a:r>
            <a:r>
              <a:rPr lang="en-US" sz="1400" dirty="0"/>
              <a:t>, a server that HTTP clients connect to in order to send commands and receive responses along with data </a:t>
            </a:r>
            <a:r>
              <a:rPr lang="en-US" sz="1400" dirty="0" smtClean="0"/>
              <a:t>contents</a:t>
            </a:r>
          </a:p>
          <a:p>
            <a:r>
              <a:rPr lang="en-US" sz="1400" dirty="0">
                <a:hlinkClick r:id="rId12" tooltip="Game server"/>
              </a:rPr>
              <a:t>Game server</a:t>
            </a:r>
            <a:r>
              <a:rPr lang="en-US" sz="1400" dirty="0"/>
              <a:t>, a server that video game clients connect to in order to play online together</a:t>
            </a:r>
          </a:p>
          <a:p>
            <a:endParaRPr lang="en-US" sz="1200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88525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4349" y="161926"/>
            <a:ext cx="7598569" cy="1092200"/>
          </a:xfrm>
        </p:spPr>
        <p:txBody>
          <a:bodyPr/>
          <a:lstStyle/>
          <a:p>
            <a:r>
              <a:rPr lang="en-SG" dirty="0" smtClean="0"/>
              <a:t>GENERAL CONCEPT – </a:t>
            </a:r>
            <a:r>
              <a:rPr lang="en-SG" dirty="0" err="1" smtClean="0"/>
              <a:t>cLIENT</a:t>
            </a:r>
            <a:r>
              <a:rPr lang="en-SG" dirty="0" smtClean="0"/>
              <a:t>/</a:t>
            </a:r>
            <a:r>
              <a:rPr lang="en-SG" dirty="0" err="1" smtClean="0"/>
              <a:t>SERvER</a:t>
            </a:r>
            <a:r>
              <a:rPr lang="en-SG" dirty="0" smtClean="0"/>
              <a:t> COMPUTING MODEL</a:t>
            </a:r>
            <a:endParaRPr lang="en-SG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21" y="1549401"/>
            <a:ext cx="6333827" cy="29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5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Extending THE MODEL</a:t>
            </a:r>
            <a:endParaRPr lang="en-S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90" y="1273176"/>
            <a:ext cx="7227360" cy="35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52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EMAIL SERVICE</a:t>
            </a:r>
            <a:endParaRPr lang="en-S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54" y="1310025"/>
            <a:ext cx="6695196" cy="361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79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6025" y="530725"/>
            <a:ext cx="7169300" cy="1028700"/>
          </a:xfrm>
        </p:spPr>
        <p:txBody>
          <a:bodyPr/>
          <a:lstStyle/>
          <a:p>
            <a:r>
              <a:rPr lang="en-SG" dirty="0" smtClean="0"/>
              <a:t>Server Services – how they work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146025" y="1424375"/>
            <a:ext cx="7540800" cy="3158699"/>
          </a:xfrm>
        </p:spPr>
        <p:txBody>
          <a:bodyPr>
            <a:normAutofit lnSpcReduction="10000"/>
          </a:bodyPr>
          <a:lstStyle/>
          <a:p>
            <a:r>
              <a:rPr lang="en-US" sz="1800" dirty="0" smtClean="0"/>
              <a:t>You need a service or application or process running </a:t>
            </a:r>
          </a:p>
          <a:p>
            <a:pPr marL="342900" lvl="1" indent="0">
              <a:buNone/>
            </a:pPr>
            <a:r>
              <a:rPr lang="en-US" sz="1800" dirty="0" smtClean="0"/>
              <a:t>E.g. Database server, Email server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You need an address to locate the server running the service</a:t>
            </a:r>
          </a:p>
          <a:p>
            <a:pPr marL="342900" lvl="1" indent="0">
              <a:buNone/>
            </a:pPr>
            <a:r>
              <a:rPr lang="en-US" sz="1800" dirty="0" smtClean="0"/>
              <a:t>E.g. IP Address </a:t>
            </a:r>
          </a:p>
          <a:p>
            <a:r>
              <a:rPr lang="en-US" sz="1800" dirty="0" smtClean="0"/>
              <a:t>You need a port number that the service is listening request from</a:t>
            </a:r>
          </a:p>
          <a:p>
            <a:pPr marL="342900" lvl="1" indent="0">
              <a:buNone/>
            </a:pPr>
            <a:r>
              <a:rPr lang="en-US" sz="1800" dirty="0" smtClean="0"/>
              <a:t>E.g. Port 80/8080 for HTTP requests</a:t>
            </a:r>
          </a:p>
          <a:p>
            <a:r>
              <a:rPr lang="en-US" sz="1800" dirty="0" smtClean="0"/>
              <a:t>You need a protocol for communicating and exchanging information</a:t>
            </a:r>
          </a:p>
          <a:p>
            <a:pPr marL="342900" lvl="1" indent="0">
              <a:buNone/>
            </a:pPr>
            <a:r>
              <a:rPr lang="en-US" sz="1800" dirty="0" smtClean="0"/>
              <a:t>E.g. HTTP, RPC</a:t>
            </a:r>
          </a:p>
          <a:p>
            <a:pPr marL="342900" lvl="1" indent="0"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24896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4" y="292600"/>
            <a:ext cx="7419975" cy="1028700"/>
          </a:xfrm>
        </p:spPr>
        <p:txBody>
          <a:bodyPr/>
          <a:lstStyle/>
          <a:p>
            <a:r>
              <a:rPr lang="en-SG" dirty="0" smtClean="0"/>
              <a:t>NETWORK ARCHITECTURE</a:t>
            </a:r>
            <a:endParaRPr lang="en-S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4" y="1216525"/>
            <a:ext cx="7419975" cy="33766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53125" y="3695699"/>
            <a:ext cx="885825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900" dirty="0" smtClean="0"/>
              <a:t>192.168.1.100</a:t>
            </a:r>
            <a:endParaRPr lang="en-SG" sz="900" dirty="0"/>
          </a:p>
        </p:txBody>
      </p:sp>
    </p:spTree>
    <p:extLst>
      <p:ext uri="{BB962C8B-B14F-4D97-AF65-F5344CB8AC3E}">
        <p14:creationId xmlns:p14="http://schemas.microsoft.com/office/powerpoint/2010/main" val="132286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025" y="530725"/>
            <a:ext cx="7540800" cy="1028700"/>
          </a:xfrm>
        </p:spPr>
        <p:txBody>
          <a:bodyPr/>
          <a:lstStyle/>
          <a:p>
            <a:r>
              <a:rPr lang="en-SG" dirty="0" smtClean="0"/>
              <a:t>SECURITY Vulnerability 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025" y="1559425"/>
            <a:ext cx="7540800" cy="3158699"/>
          </a:xfrm>
        </p:spPr>
        <p:txBody>
          <a:bodyPr>
            <a:normAutofit/>
          </a:bodyPr>
          <a:lstStyle/>
          <a:p>
            <a:r>
              <a:rPr lang="en-SG" sz="1800" dirty="0" smtClean="0"/>
              <a:t> Vulnerabilities can exist throughout the chain of information:</a:t>
            </a:r>
          </a:p>
          <a:p>
            <a:pPr lvl="1"/>
            <a:r>
              <a:rPr lang="en-SG" sz="1800" dirty="0" smtClean="0"/>
              <a:t>Application vulnerability</a:t>
            </a:r>
          </a:p>
          <a:p>
            <a:pPr lvl="1"/>
            <a:r>
              <a:rPr lang="en-SG" sz="1800" dirty="0" smtClean="0"/>
              <a:t>Common ports (expose the process running)</a:t>
            </a:r>
          </a:p>
          <a:p>
            <a:pPr lvl="1"/>
            <a:r>
              <a:rPr lang="en-SG" sz="1800" dirty="0" smtClean="0"/>
              <a:t>IP Address (spoofing..)</a:t>
            </a:r>
          </a:p>
          <a:p>
            <a:pPr lvl="1"/>
            <a:r>
              <a:rPr lang="en-SG" sz="1800" dirty="0" smtClean="0"/>
              <a:t>Protocol (how to manipulate, hack the protocol, listening..)</a:t>
            </a:r>
            <a:endParaRPr lang="en-SG" sz="1800" dirty="0"/>
          </a:p>
        </p:txBody>
      </p:sp>
    </p:spTree>
    <p:extLst>
      <p:ext uri="{BB962C8B-B14F-4D97-AF65-F5344CB8AC3E}">
        <p14:creationId xmlns:p14="http://schemas.microsoft.com/office/powerpoint/2010/main" val="240245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025" y="530725"/>
            <a:ext cx="7226450" cy="1028700"/>
          </a:xfrm>
        </p:spPr>
        <p:txBody>
          <a:bodyPr/>
          <a:lstStyle/>
          <a:p>
            <a:r>
              <a:rPr lang="en-SG" dirty="0" smtClean="0"/>
              <a:t>NEED HOST BASED DEFENCES AGAINST ATTACKS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Host based firewall</a:t>
            </a:r>
          </a:p>
          <a:p>
            <a:r>
              <a:rPr lang="en-SG" dirty="0" smtClean="0"/>
              <a:t>Change ports</a:t>
            </a:r>
          </a:p>
          <a:p>
            <a:r>
              <a:rPr lang="en-SG" dirty="0" smtClean="0"/>
              <a:t>Application Control</a:t>
            </a:r>
          </a:p>
          <a:p>
            <a:r>
              <a:rPr lang="en-SG" dirty="0" smtClean="0"/>
              <a:t>Encryption</a:t>
            </a:r>
          </a:p>
          <a:p>
            <a:r>
              <a:rPr lang="en-SG" dirty="0" smtClean="0"/>
              <a:t>Logs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88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4" y="402741"/>
            <a:ext cx="6819901" cy="432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4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62" y="280350"/>
            <a:ext cx="8192476" cy="45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40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100992" y="75157"/>
            <a:ext cx="7598569" cy="1092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3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sz="30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3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Active </a:t>
            </a:r>
            <a:r>
              <a:rPr lang="en-US" altLang="en-US" sz="3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Directory</a:t>
            </a:r>
            <a:endParaRPr lang="en-US" altLang="en-US" sz="3000" dirty="0"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2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675"/>
              <a:t>Page </a:t>
            </a:r>
            <a:fld id="{155496AC-090A-4490-8DAC-AE9E89BAF8CE}" type="slidenum">
              <a:rPr lang="en-US" altLang="en-US" sz="675"/>
              <a:pPr eaLnBrk="1" hangingPunct="1"/>
              <a:t>15</a:t>
            </a:fld>
            <a:endParaRPr lang="en-US" altLang="en-US" sz="675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2" y="1167356"/>
            <a:ext cx="6343829" cy="367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965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>
          <a:xfrm>
            <a:off x="514351" y="144050"/>
            <a:ext cx="7598569" cy="1092200"/>
          </a:xfrm>
        </p:spPr>
        <p:txBody>
          <a:bodyPr/>
          <a:lstStyle/>
          <a:p>
            <a:pPr eaLnBrk="1" hangingPunct="1"/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to Active Directory</a:t>
            </a:r>
            <a:endParaRPr lang="en-US" altLang="en-US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2" name="Rectangle 5"/>
          <p:cNvSpPr>
            <a:spLocks noGrp="1" noChangeArrowheads="1"/>
          </p:cNvSpPr>
          <p:nvPr>
            <p:ph idx="1"/>
          </p:nvPr>
        </p:nvSpPr>
        <p:spPr>
          <a:xfrm>
            <a:off x="514351" y="1330979"/>
            <a:ext cx="7598569" cy="273685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100" dirty="0"/>
              <a:t>Definition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/>
              <a:t>Benefits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/>
              <a:t>User Authentication &amp; Security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/>
              <a:t>NYP </a:t>
            </a:r>
            <a:r>
              <a:rPr lang="en-US" altLang="en-US" sz="2100" dirty="0"/>
              <a:t>Logon Services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100" dirty="0"/>
          </a:p>
          <a:p>
            <a:pPr eaLnBrk="1" hangingPunct="1">
              <a:lnSpc>
                <a:spcPct val="80000"/>
              </a:lnSpc>
            </a:pPr>
            <a:endParaRPr lang="en-US" altLang="en-US" sz="2100" dirty="0"/>
          </a:p>
          <a:p>
            <a:pPr eaLnBrk="1" hangingPunct="1">
              <a:lnSpc>
                <a:spcPct val="80000"/>
              </a:lnSpc>
            </a:pPr>
            <a:endParaRPr lang="en-US" altLang="en-US" sz="2100" dirty="0"/>
          </a:p>
          <a:p>
            <a:pPr eaLnBrk="1" hangingPunct="1">
              <a:lnSpc>
                <a:spcPct val="80000"/>
              </a:lnSpc>
            </a:pPr>
            <a:endParaRPr lang="en-US" altLang="en-US" sz="2100" dirty="0"/>
          </a:p>
        </p:txBody>
      </p:sp>
      <p:sp>
        <p:nvSpPr>
          <p:cNvPr id="17410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675"/>
              <a:t>Page </a:t>
            </a:r>
            <a:fld id="{4958418E-F321-4B79-AF1F-789A4C47C9B2}" type="slidenum">
              <a:rPr lang="en-US" altLang="en-US" sz="675"/>
              <a:pPr eaLnBrk="1" hangingPunct="1"/>
              <a:t>16</a:t>
            </a:fld>
            <a:endParaRPr lang="en-US" altLang="en-US" sz="675"/>
          </a:p>
        </p:txBody>
      </p:sp>
    </p:spTree>
    <p:extLst>
      <p:ext uri="{BB962C8B-B14F-4D97-AF65-F5344CB8AC3E}">
        <p14:creationId xmlns:p14="http://schemas.microsoft.com/office/powerpoint/2010/main" val="6496539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Definition</a:t>
            </a:r>
          </a:p>
        </p:txBody>
      </p:sp>
      <p:sp>
        <p:nvSpPr>
          <p:cNvPr id="19460" name="Rectangle 10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500"/>
              <a:t>Active Directory is a system which supports:</a:t>
            </a:r>
          </a:p>
          <a:p>
            <a:pPr lvl="1" eaLnBrk="1" hangingPunct="1"/>
            <a:r>
              <a:rPr lang="en-US" altLang="en-US" sz="1350">
                <a:ea typeface="ＭＳ Ｐゴシック" panose="020B0600070205080204" pitchFamily="34" charset="-128"/>
              </a:rPr>
              <a:t>A single sign-on environment via the UmassD Logon</a:t>
            </a:r>
          </a:p>
          <a:p>
            <a:pPr lvl="1" eaLnBrk="1" hangingPunct="1"/>
            <a:r>
              <a:rPr lang="en-US" altLang="en-US" sz="1350">
                <a:ea typeface="ＭＳ Ｐゴシック" panose="020B0600070205080204" pitchFamily="34" charset="-128"/>
              </a:rPr>
              <a:t>Improved desktop security</a:t>
            </a:r>
          </a:p>
          <a:p>
            <a:pPr lvl="1" eaLnBrk="1" hangingPunct="1"/>
            <a:r>
              <a:rPr lang="en-US" altLang="en-US" sz="1350">
                <a:ea typeface="ＭＳ Ｐゴシック" panose="020B0600070205080204" pitchFamily="34" charset="-128"/>
              </a:rPr>
              <a:t>Improved management and administration of workstations</a:t>
            </a:r>
          </a:p>
          <a:p>
            <a:pPr lvl="1" eaLnBrk="1" hangingPunct="1"/>
            <a:r>
              <a:rPr lang="en-US" altLang="en-US" sz="1350">
                <a:ea typeface="ＭＳ Ｐゴシック" panose="020B0600070205080204" pitchFamily="34" charset="-128"/>
              </a:rPr>
              <a:t>Consolidation of servers</a:t>
            </a:r>
          </a:p>
          <a:p>
            <a:pPr lvl="1" eaLnBrk="1" hangingPunct="1"/>
            <a:r>
              <a:rPr lang="en-US" altLang="en-US" sz="1350">
                <a:ea typeface="ＭＳ Ｐゴシック" panose="020B0600070205080204" pitchFamily="34" charset="-128"/>
              </a:rPr>
              <a:t>Improved timeframe for updates, patches and installation of new versions of software</a:t>
            </a:r>
          </a:p>
          <a:p>
            <a:pPr lvl="1" eaLnBrk="1" hangingPunct="1"/>
            <a:r>
              <a:rPr lang="en-US" altLang="en-US" sz="1350">
                <a:ea typeface="ＭＳ Ｐゴシック" panose="020B0600070205080204" pitchFamily="34" charset="-128"/>
              </a:rPr>
              <a:t>Quicker support call resolution via Remote Desktop Management</a:t>
            </a:r>
          </a:p>
          <a:p>
            <a:pPr lvl="1" eaLnBrk="1" hangingPunct="1">
              <a:buFontTx/>
              <a:buNone/>
            </a:pPr>
            <a:endParaRPr lang="en-US" altLang="en-US" sz="1350">
              <a:ea typeface="ＭＳ Ｐゴシック" panose="020B0600070205080204" pitchFamily="34" charset="-128"/>
            </a:endParaRPr>
          </a:p>
        </p:txBody>
      </p:sp>
      <p:sp>
        <p:nvSpPr>
          <p:cNvPr id="19458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675"/>
              <a:t>Page </a:t>
            </a:r>
            <a:fld id="{42C35D09-860D-4D0B-9A5D-03C532BD5DDD}" type="slidenum">
              <a:rPr lang="en-US" altLang="en-US" sz="675"/>
              <a:pPr eaLnBrk="1" hangingPunct="1"/>
              <a:t>17</a:t>
            </a:fld>
            <a:endParaRPr lang="en-US" altLang="en-US" sz="675"/>
          </a:p>
        </p:txBody>
      </p:sp>
    </p:spTree>
    <p:extLst>
      <p:ext uri="{BB962C8B-B14F-4D97-AF65-F5344CB8AC3E}">
        <p14:creationId xmlns:p14="http://schemas.microsoft.com/office/powerpoint/2010/main" val="15697149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000"/>
              <a:t>Benefits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Access to shared central network disk storage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Ability to share data within departments via departmental shares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Access to personal storage on a centralized secure server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Regular backup of data placed on centralized network disk storage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Easier, searchable access to network services (printers, file servers, etc.)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Centralized support for servers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Remote software installation allowing for more timely software upgrades, patches, and updates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/>
          </a:p>
        </p:txBody>
      </p:sp>
      <p:sp>
        <p:nvSpPr>
          <p:cNvPr id="21506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675"/>
              <a:t>Page </a:t>
            </a:r>
            <a:fld id="{977B4F58-A5E4-4F3C-8D1D-EABAFB8472DF}" type="slidenum">
              <a:rPr lang="en-US" altLang="en-US" sz="675"/>
              <a:pPr eaLnBrk="1" hangingPunct="1"/>
              <a:t>18</a:t>
            </a:fld>
            <a:endParaRPr lang="en-US" altLang="en-US" sz="675"/>
          </a:p>
        </p:txBody>
      </p:sp>
    </p:spTree>
    <p:extLst>
      <p:ext uri="{BB962C8B-B14F-4D97-AF65-F5344CB8AC3E}">
        <p14:creationId xmlns:p14="http://schemas.microsoft.com/office/powerpoint/2010/main" val="6548964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User Authentication &amp; Security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500" dirty="0"/>
              <a:t>Your </a:t>
            </a:r>
            <a:r>
              <a:rPr lang="en-US" altLang="en-US" sz="1500" dirty="0" smtClean="0"/>
              <a:t>NYP </a:t>
            </a:r>
            <a:r>
              <a:rPr lang="en-US" altLang="en-US" sz="1500" dirty="0"/>
              <a:t>Logon (Email username and password) will now provide access to even more resources including your computer so the level of security required for this account has increased.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500" dirty="0"/>
              <a:t>Password Requirements for Security purposes</a:t>
            </a:r>
            <a:endParaRPr lang="en-US" altLang="en-US" sz="21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350" dirty="0">
                <a:ea typeface="ＭＳ Ｐゴシック" panose="020B0600070205080204" pitchFamily="34" charset="-128"/>
              </a:rPr>
              <a:t>Minimum of 10 characters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50" dirty="0">
                <a:ea typeface="ＭＳ Ｐゴシック" panose="020B0600070205080204" pitchFamily="34" charset="-128"/>
              </a:rPr>
              <a:t>At least one Upper Case Letter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50" dirty="0">
                <a:ea typeface="ＭＳ Ｐゴシック" panose="020B0600070205080204" pitchFamily="34" charset="-128"/>
              </a:rPr>
              <a:t>At least one Lower Case Letter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50" dirty="0">
                <a:ea typeface="ＭＳ Ｐゴシック" panose="020B0600070205080204" pitchFamily="34" charset="-128"/>
              </a:rPr>
              <a:t>At least one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50" dirty="0">
                <a:ea typeface="ＭＳ Ｐゴシック" panose="020B0600070205080204" pitchFamily="34" charset="-128"/>
              </a:rPr>
              <a:t>Password will expire every 180 </a:t>
            </a:r>
            <a:r>
              <a:rPr lang="en-US" altLang="en-US" sz="1350" dirty="0" smtClean="0">
                <a:ea typeface="ＭＳ Ｐゴシック" panose="020B0600070205080204" pitchFamily="34" charset="-128"/>
              </a:rPr>
              <a:t>days</a:t>
            </a:r>
            <a:endParaRPr lang="en-US" altLang="en-US" sz="1350" dirty="0">
              <a:ea typeface="ＭＳ Ｐゴシック" panose="020B0600070205080204" pitchFamily="34" charset="-128"/>
            </a:endParaRPr>
          </a:p>
        </p:txBody>
      </p:sp>
      <p:sp>
        <p:nvSpPr>
          <p:cNvPr id="23554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675"/>
              <a:t>Page </a:t>
            </a:r>
            <a:fld id="{B510D2B7-A0C2-4135-877C-23AF8FA19616}" type="slidenum">
              <a:rPr lang="en-US" altLang="en-US" sz="675"/>
              <a:pPr eaLnBrk="1" hangingPunct="1"/>
              <a:t>19</a:t>
            </a:fld>
            <a:endParaRPr lang="en-US" altLang="en-US" sz="675"/>
          </a:p>
        </p:txBody>
      </p:sp>
    </p:spTree>
    <p:extLst>
      <p:ext uri="{BB962C8B-B14F-4D97-AF65-F5344CB8AC3E}">
        <p14:creationId xmlns:p14="http://schemas.microsoft.com/office/powerpoint/2010/main" val="261497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NYP </a:t>
            </a:r>
            <a:r>
              <a:rPr lang="en-US" dirty="0"/>
              <a:t>Logon Services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100" dirty="0"/>
          </a:p>
          <a:p>
            <a:pPr eaLnBrk="1" hangingPunct="1">
              <a:lnSpc>
                <a:spcPct val="70000"/>
              </a:lnSpc>
            </a:pPr>
            <a:r>
              <a:rPr lang="en-US" altLang="en-US" sz="2100" dirty="0"/>
              <a:t>Services which use the </a:t>
            </a:r>
            <a:r>
              <a:rPr lang="en-US" altLang="en-US" sz="2100" dirty="0" smtClean="0"/>
              <a:t>NYP </a:t>
            </a:r>
            <a:r>
              <a:rPr lang="en-US" altLang="en-US" sz="2100" dirty="0"/>
              <a:t>Logon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350" dirty="0">
                <a:ea typeface="ＭＳ Ｐゴシック" panose="020B0600070205080204" pitchFamily="34" charset="-128"/>
              </a:rPr>
              <a:t>Computer Logon (After Active Directory Implementation)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 dirty="0">
                <a:ea typeface="ＭＳ Ｐゴシック" panose="020B0600070205080204" pitchFamily="34" charset="-128"/>
              </a:rPr>
              <a:t>Shared Network Storage (Connection via Computer Logon)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 smtClean="0">
                <a:ea typeface="ＭＳ Ｐゴシック" panose="020B0600070205080204" pitchFamily="34" charset="-128"/>
              </a:rPr>
              <a:t>Student Portal</a:t>
            </a:r>
          </a:p>
          <a:p>
            <a:pPr lvl="2">
              <a:lnSpc>
                <a:spcPct val="80000"/>
              </a:lnSpc>
            </a:pPr>
            <a:r>
              <a:rPr lang="en-US" altLang="en-US" sz="1650" dirty="0" smtClean="0">
                <a:ea typeface="ＭＳ Ｐゴシック" panose="020B0600070205080204" pitchFamily="34" charset="-128"/>
              </a:rPr>
              <a:t>Email</a:t>
            </a:r>
          </a:p>
          <a:p>
            <a:pPr lvl="2">
              <a:lnSpc>
                <a:spcPct val="80000"/>
              </a:lnSpc>
            </a:pPr>
            <a:r>
              <a:rPr lang="en-US" altLang="en-US" sz="1650" dirty="0" smtClean="0">
                <a:ea typeface="ＭＳ Ｐゴシック" panose="020B0600070205080204" pitchFamily="34" charset="-128"/>
              </a:rPr>
              <a:t>Statement of Absence</a:t>
            </a:r>
          </a:p>
          <a:p>
            <a:pPr lvl="2">
              <a:lnSpc>
                <a:spcPct val="80000"/>
              </a:lnSpc>
            </a:pPr>
            <a:r>
              <a:rPr lang="en-US" altLang="en-US" sz="1650" dirty="0" smtClean="0">
                <a:ea typeface="ＭＳ Ｐゴシック" panose="020B0600070205080204" pitchFamily="34" charset="-128"/>
              </a:rPr>
              <a:t>Results</a:t>
            </a:r>
          </a:p>
          <a:p>
            <a:pPr lvl="2">
              <a:lnSpc>
                <a:spcPct val="80000"/>
              </a:lnSpc>
            </a:pPr>
            <a:endParaRPr lang="en-US" altLang="en-US" sz="165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70000"/>
              </a:lnSpc>
            </a:pPr>
            <a:endParaRPr lang="en-US" altLang="en-US" sz="2100" dirty="0"/>
          </a:p>
        </p:txBody>
      </p:sp>
      <p:sp>
        <p:nvSpPr>
          <p:cNvPr id="24578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675"/>
              <a:t>Page </a:t>
            </a:r>
            <a:fld id="{D8AEA4E3-D41B-4013-B8C9-E608846D4C99}" type="slidenum">
              <a:rPr lang="en-US" altLang="en-US" sz="675"/>
              <a:pPr eaLnBrk="1" hangingPunct="1"/>
              <a:t>20</a:t>
            </a:fld>
            <a:endParaRPr lang="en-US" altLang="en-US" sz="675"/>
          </a:p>
        </p:txBody>
      </p:sp>
    </p:spTree>
    <p:extLst>
      <p:ext uri="{BB962C8B-B14F-4D97-AF65-F5344CB8AC3E}">
        <p14:creationId xmlns:p14="http://schemas.microsoft.com/office/powerpoint/2010/main" val="328533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THE END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048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197</TotalTime>
  <Words>574</Words>
  <Application>Microsoft Office PowerPoint</Application>
  <PresentationFormat>On-screen Show (16:9)</PresentationFormat>
  <Paragraphs>111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Times New Roman</vt:lpstr>
      <vt:lpstr>Calibri Light</vt:lpstr>
      <vt:lpstr>Calibri</vt:lpstr>
      <vt:lpstr>ＭＳ Ｐゴシック</vt:lpstr>
      <vt:lpstr>宋体</vt:lpstr>
      <vt:lpstr>Wingdings</vt:lpstr>
      <vt:lpstr>Celestial</vt:lpstr>
      <vt:lpstr>IT2757 Server and Services Security Management - SERvER TECHOLOGY AND CONCEPTS</vt:lpstr>
      <vt:lpstr>Server Operating Systems</vt:lpstr>
      <vt:lpstr>Server Operating Systems</vt:lpstr>
      <vt:lpstr>Server Services</vt:lpstr>
      <vt:lpstr>Server Services</vt:lpstr>
      <vt:lpstr>GENERAL CONCEPT – cLIENT/SERvER COMPUTING MODEL</vt:lpstr>
      <vt:lpstr>Extending THE MODEL</vt:lpstr>
      <vt:lpstr>EMAIL SERVICE</vt:lpstr>
      <vt:lpstr>Server Services – how they work</vt:lpstr>
      <vt:lpstr>NETWORK ARCHITECTURE</vt:lpstr>
      <vt:lpstr>SECURITY Vulnerability </vt:lpstr>
      <vt:lpstr>NEED HOST BASED DEFENCES AGAINST ATTACKS</vt:lpstr>
      <vt:lpstr>PowerPoint Presentation</vt:lpstr>
      <vt:lpstr>PowerPoint Presentation</vt:lpstr>
      <vt:lpstr>  Active Directory</vt:lpstr>
      <vt:lpstr>Introduction to Active Directory</vt:lpstr>
      <vt:lpstr>Definition</vt:lpstr>
      <vt:lpstr>Benefits</vt:lpstr>
      <vt:lpstr>User Authentication &amp; Security</vt:lpstr>
      <vt:lpstr>NYP Logon Services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LAM SIMON</dc:creator>
  <cp:lastModifiedBy>LAM SIMON</cp:lastModifiedBy>
  <cp:revision>27</cp:revision>
  <dcterms:modified xsi:type="dcterms:W3CDTF">2018-04-24T02:55:08Z</dcterms:modified>
</cp:coreProperties>
</file>