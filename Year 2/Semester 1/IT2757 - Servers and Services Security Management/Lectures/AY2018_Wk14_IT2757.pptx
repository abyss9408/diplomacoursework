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37"/>
  </p:notesMasterIdLst>
  <p:sldIdLst>
    <p:sldId id="256" r:id="rId2"/>
    <p:sldId id="410" r:id="rId3"/>
    <p:sldId id="411" r:id="rId4"/>
    <p:sldId id="412" r:id="rId5"/>
    <p:sldId id="413" r:id="rId6"/>
    <p:sldId id="414" r:id="rId7"/>
    <p:sldId id="415" r:id="rId8"/>
    <p:sldId id="416" r:id="rId9"/>
    <p:sldId id="417" r:id="rId10"/>
    <p:sldId id="418" r:id="rId11"/>
    <p:sldId id="419" r:id="rId12"/>
    <p:sldId id="420" r:id="rId13"/>
    <p:sldId id="421" r:id="rId14"/>
    <p:sldId id="422" r:id="rId15"/>
    <p:sldId id="423" r:id="rId16"/>
    <p:sldId id="424" r:id="rId17"/>
    <p:sldId id="425" r:id="rId18"/>
    <p:sldId id="435" r:id="rId19"/>
    <p:sldId id="436" r:id="rId20"/>
    <p:sldId id="437" r:id="rId21"/>
    <p:sldId id="438" r:id="rId22"/>
    <p:sldId id="439" r:id="rId23"/>
    <p:sldId id="441" r:id="rId24"/>
    <p:sldId id="442" r:id="rId25"/>
    <p:sldId id="443" r:id="rId26"/>
    <p:sldId id="444" r:id="rId27"/>
    <p:sldId id="445" r:id="rId28"/>
    <p:sldId id="446" r:id="rId29"/>
    <p:sldId id="447" r:id="rId30"/>
    <p:sldId id="448" r:id="rId31"/>
    <p:sldId id="449" r:id="rId32"/>
    <p:sldId id="440" r:id="rId33"/>
    <p:sldId id="450" r:id="rId34"/>
    <p:sldId id="451" r:id="rId35"/>
    <p:sldId id="409" r:id="rId36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8"/>
      <p:bold r:id="rId39"/>
      <p:italic r:id="rId40"/>
      <p:boldItalic r:id="rId41"/>
    </p:embeddedFont>
    <p:embeddedFont>
      <p:font typeface="Calibri Light" panose="020F0302020204030204" pitchFamily="34" charset="0"/>
      <p:regular r:id="rId42"/>
      <p:italic r:id="rId43"/>
    </p:embeddedFont>
    <p:embeddedFont>
      <p:font typeface="Calibri" panose="020F0502020204030204" pitchFamily="34" charset="0"/>
      <p:regular r:id="rId44"/>
      <p:bold r:id="rId45"/>
      <p:italic r:id="rId46"/>
      <p:boldItalic r:id="rId47"/>
    </p:embeddedFont>
    <p:embeddedFont>
      <p:font typeface="Wingdings 3" panose="05040102010807070707" pitchFamily="18" charset="2"/>
      <p:regular r:id="rId4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129E63B6-08C8-4444-B43B-6137E374DB1E}">
  <a:tblStyle styleId="{129E63B6-08C8-4444-B43B-6137E374DB1E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33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4722184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4314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9165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9607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1799" y="1473200"/>
            <a:ext cx="5398295" cy="1816098"/>
          </a:xfrm>
        </p:spPr>
        <p:txBody>
          <a:bodyPr anchor="b">
            <a:normAutofit/>
          </a:bodyPr>
          <a:lstStyle>
            <a:lvl1pPr algn="r">
              <a:defRPr sz="36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799" y="3289300"/>
            <a:ext cx="5398295" cy="10541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 cap="all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419" y="4402932"/>
            <a:ext cx="1200150" cy="283369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7/17/2018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799" y="4402932"/>
            <a:ext cx="3670469" cy="28336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56719" y="4402932"/>
            <a:ext cx="413375" cy="28336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6512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0599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2481436"/>
            <a:ext cx="7598570" cy="1101600"/>
          </a:xfrm>
        </p:spPr>
        <p:txBody>
          <a:bodyPr anchor="b"/>
          <a:lstStyle>
            <a:lvl1pPr algn="l">
              <a:defRPr sz="3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583036"/>
            <a:ext cx="759857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 cap="all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3284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1" y="1606550"/>
            <a:ext cx="3746501" cy="273685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66421" y="1606551"/>
            <a:ext cx="3746499" cy="273685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411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0252" y="1663700"/>
            <a:ext cx="35317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2152651"/>
            <a:ext cx="3747692" cy="21907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3" y="1670050"/>
            <a:ext cx="354211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67612" y="2152651"/>
            <a:ext cx="3746501" cy="21907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3141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33085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33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55750"/>
            <a:ext cx="2760664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6151" y="457201"/>
            <a:ext cx="4626770" cy="3886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584450"/>
            <a:ext cx="2760664" cy="13716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2FF7-FDD2-4C4E-9C39-E1165898CA2B}" type="datetime1">
              <a:rPr lang="en-US" smtClean="0">
                <a:solidFill>
                  <a:srgbClr val="696464"/>
                </a:solidFill>
              </a:rPr>
              <a:pPr/>
              <a:t>7/17/2018</a:t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696464"/>
                </a:solidFill>
              </a:rPr>
              <a:t>IT2533 Lecture</a:t>
            </a:r>
            <a:endParaRPr lang="en-US" dirty="0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46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200150"/>
            <a:ext cx="4623490" cy="10287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2190" y="685800"/>
            <a:ext cx="2460731" cy="3429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228850"/>
            <a:ext cx="4623490" cy="13716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3793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3549649"/>
            <a:ext cx="759857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8701" y="699084"/>
            <a:ext cx="6569870" cy="237373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3974702"/>
            <a:ext cx="7598570" cy="37028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8385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70" cy="2343149"/>
          </a:xfrm>
        </p:spPr>
        <p:txBody>
          <a:bodyPr anchor="ctr">
            <a:normAutofit/>
          </a:bodyPr>
          <a:lstStyle>
            <a:lvl1pPr algn="l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257550"/>
            <a:ext cx="7598571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6806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78400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206" y="6175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201" y="457201"/>
            <a:ext cx="7162799" cy="2057399"/>
          </a:xfrm>
        </p:spPr>
        <p:txBody>
          <a:bodyPr anchor="ctr">
            <a:normAutofit/>
          </a:bodyPr>
          <a:lstStyle>
            <a:lvl1pPr algn="l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3406" y="2514600"/>
            <a:ext cx="7004388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599" y="3257550"/>
            <a:ext cx="7614275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31867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2" y="2481436"/>
            <a:ext cx="7598569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583036"/>
            <a:ext cx="7598570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52885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78400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206" y="6175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44201" y="457201"/>
            <a:ext cx="7162799" cy="2057399"/>
          </a:xfrm>
        </p:spPr>
        <p:txBody>
          <a:bodyPr anchor="ctr">
            <a:normAutofit/>
          </a:bodyPr>
          <a:lstStyle>
            <a:lvl1pPr algn="l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0" y="2914650"/>
            <a:ext cx="7601577" cy="6667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581400"/>
            <a:ext cx="7601577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98750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70" cy="20573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1" y="2628900"/>
            <a:ext cx="7598571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257550"/>
            <a:ext cx="7598571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5088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69" cy="1092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4002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4006" y="457200"/>
            <a:ext cx="1618914" cy="3886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457200"/>
            <a:ext cx="5874087" cy="38862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58974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85800" y="2601425"/>
            <a:ext cx="5810400" cy="11597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6000"/>
            </a:lvl2pPr>
            <a:lvl3pPr lvl="2" algn="ctr">
              <a:spcBef>
                <a:spcPts val="0"/>
              </a:spcBef>
              <a:buSzPct val="100000"/>
              <a:defRPr sz="6000"/>
            </a:lvl3pPr>
            <a:lvl4pPr lvl="3" algn="ctr">
              <a:spcBef>
                <a:spcPts val="0"/>
              </a:spcBef>
              <a:buSzPct val="100000"/>
              <a:defRPr sz="6000"/>
            </a:lvl4pPr>
            <a:lvl5pPr lvl="4" algn="ctr">
              <a:spcBef>
                <a:spcPts val="0"/>
              </a:spcBef>
              <a:buSzPct val="100000"/>
              <a:defRPr sz="6000"/>
            </a:lvl5pPr>
            <a:lvl6pPr lvl="5" algn="ctr">
              <a:spcBef>
                <a:spcPts val="0"/>
              </a:spcBef>
              <a:buSzPct val="100000"/>
              <a:defRPr sz="6000"/>
            </a:lvl6pPr>
            <a:lvl7pPr lvl="6" algn="ctr">
              <a:spcBef>
                <a:spcPts val="0"/>
              </a:spcBef>
              <a:buSzPct val="100000"/>
              <a:defRPr sz="6000"/>
            </a:lvl7pPr>
            <a:lvl8pPr lvl="7" algn="ctr">
              <a:spcBef>
                <a:spcPts val="0"/>
              </a:spcBef>
              <a:buSzPct val="100000"/>
              <a:defRPr sz="6000"/>
            </a:lvl8pPr>
            <a:lvl9pPr lvl="8" algn="ctr">
              <a:spcBef>
                <a:spcPts val="0"/>
              </a:spcBef>
              <a:buSzPct val="100000"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3783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69" cy="1092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1606551"/>
            <a:ext cx="7598569" cy="2736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4402932"/>
            <a:ext cx="5870744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9546" y="4402932"/>
            <a:ext cx="413375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1950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youtu.be/9TRqZuZqtKY" TargetMode="Externa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nqYJ1ReIdVU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ctrTitle"/>
          </p:nvPr>
        </p:nvSpPr>
        <p:spPr>
          <a:xfrm>
            <a:off x="753266" y="2223754"/>
            <a:ext cx="7924800" cy="11597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2400" dirty="0"/>
              <a:t>IT2757</a:t>
            </a:r>
            <a:br>
              <a:rPr lang="en" sz="2400" dirty="0"/>
            </a:br>
            <a:r>
              <a:rPr lang="en" sz="2400" dirty="0"/>
              <a:t>Server and Services Security Management</a:t>
            </a:r>
            <a:br>
              <a:rPr lang="en" sz="2400" dirty="0"/>
            </a:br>
            <a:r>
              <a:rPr lang="en" sz="2400" dirty="0"/>
              <a:t>- SYS LOG</a:t>
            </a:r>
          </a:p>
        </p:txBody>
      </p:sp>
      <p:grpSp>
        <p:nvGrpSpPr>
          <p:cNvPr id="99" name="Shape 99"/>
          <p:cNvGrpSpPr/>
          <p:nvPr/>
        </p:nvGrpSpPr>
        <p:grpSpPr>
          <a:xfrm>
            <a:off x="753266" y="1029785"/>
            <a:ext cx="964540" cy="1011306"/>
            <a:chOff x="5961125" y="1623900"/>
            <a:chExt cx="427450" cy="448175"/>
          </a:xfrm>
        </p:grpSpPr>
        <p:sp>
          <p:nvSpPr>
            <p:cNvPr id="100" name="Shape 100"/>
            <p:cNvSpPr/>
            <p:nvPr/>
          </p:nvSpPr>
          <p:spPr>
            <a:xfrm>
              <a:off x="5961125" y="1678700"/>
              <a:ext cx="376925" cy="376925"/>
            </a:xfrm>
            <a:custGeom>
              <a:avLst/>
              <a:gdLst/>
              <a:ahLst/>
              <a:cxnLst/>
              <a:rect l="0" t="0" r="0" b="0"/>
              <a:pathLst>
                <a:path w="15077" h="15077" fill="none" extrusionOk="0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" name="Shape 101"/>
            <p:cNvSpPr/>
            <p:nvPr/>
          </p:nvSpPr>
          <p:spPr>
            <a:xfrm>
              <a:off x="6009825" y="1727425"/>
              <a:ext cx="279500" cy="279500"/>
            </a:xfrm>
            <a:custGeom>
              <a:avLst/>
              <a:gdLst/>
              <a:ahLst/>
              <a:cxnLst/>
              <a:rect l="0" t="0" r="0" b="0"/>
              <a:pathLst>
                <a:path w="11180" h="11180" fill="none" extrusionOk="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" name="Shape 102"/>
            <p:cNvSpPr/>
            <p:nvPr/>
          </p:nvSpPr>
          <p:spPr>
            <a:xfrm>
              <a:off x="6107250" y="1824850"/>
              <a:ext cx="84650" cy="84650"/>
            </a:xfrm>
            <a:custGeom>
              <a:avLst/>
              <a:gdLst/>
              <a:ahLst/>
              <a:cxnLst/>
              <a:rect l="0" t="0" r="0" b="0"/>
              <a:pathLst>
                <a:path w="3386" h="3386" fill="none" extrusionOk="0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" name="Shape 103"/>
            <p:cNvSpPr/>
            <p:nvPr/>
          </p:nvSpPr>
          <p:spPr>
            <a:xfrm>
              <a:off x="6058550" y="1776125"/>
              <a:ext cx="182075" cy="182075"/>
            </a:xfrm>
            <a:custGeom>
              <a:avLst/>
              <a:gdLst/>
              <a:ahLst/>
              <a:cxnLst/>
              <a:rect l="0" t="0" r="0" b="0"/>
              <a:pathLst>
                <a:path w="7283" h="7283" fill="none" extrusionOk="0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" name="Shape 104"/>
            <p:cNvSpPr/>
            <p:nvPr/>
          </p:nvSpPr>
          <p:spPr>
            <a:xfrm>
              <a:off x="5971475" y="2001400"/>
              <a:ext cx="74925" cy="70675"/>
            </a:xfrm>
            <a:custGeom>
              <a:avLst/>
              <a:gdLst/>
              <a:ahLst/>
              <a:cxnLst/>
              <a:rect l="0" t="0" r="0" b="0"/>
              <a:pathLst>
                <a:path w="2997" h="2827" fill="none" extrusionOk="0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" name="Shape 105"/>
            <p:cNvSpPr/>
            <p:nvPr/>
          </p:nvSpPr>
          <p:spPr>
            <a:xfrm>
              <a:off x="6253375" y="2001400"/>
              <a:ext cx="74325" cy="70675"/>
            </a:xfrm>
            <a:custGeom>
              <a:avLst/>
              <a:gdLst/>
              <a:ahLst/>
              <a:cxnLst/>
              <a:rect l="0" t="0" r="0" b="0"/>
              <a:pathLst>
                <a:path w="2973" h="2827" fill="none" extrusionOk="0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" name="Shape 106"/>
            <p:cNvSpPr/>
            <p:nvPr/>
          </p:nvSpPr>
          <p:spPr>
            <a:xfrm>
              <a:off x="6137700" y="1623900"/>
              <a:ext cx="250875" cy="255150"/>
            </a:xfrm>
            <a:custGeom>
              <a:avLst/>
              <a:gdLst/>
              <a:ahLst/>
              <a:cxnLst/>
              <a:rect l="0" t="0" r="0" b="0"/>
              <a:pathLst>
                <a:path w="10035" h="10206" fill="none" extrusionOk="0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w="19050" cap="rnd" cmpd="sng">
              <a:solidFill>
                <a:srgbClr val="18637B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Outline</a:t>
            </a:r>
          </a:p>
        </p:txBody>
      </p:sp>
      <p:sp>
        <p:nvSpPr>
          <p:cNvPr id="7171" name="Rectangle 1027"/>
          <p:cNvSpPr>
            <a:spLocks noGrp="1" noChangeArrowheads="1"/>
          </p:cNvSpPr>
          <p:nvPr>
            <p:ph idx="1"/>
          </p:nvPr>
        </p:nvSpPr>
        <p:spPr>
          <a:xfrm>
            <a:off x="1657350" y="1257300"/>
            <a:ext cx="5886450" cy="3486150"/>
          </a:xfrm>
        </p:spPr>
        <p:txBody>
          <a:bodyPr/>
          <a:lstStyle/>
          <a:p>
            <a:pPr eaLnBrk="1" hangingPunct="1"/>
            <a:r>
              <a:rPr lang="en-US" altLang="en-US"/>
              <a:t>Log files</a:t>
            </a:r>
          </a:p>
          <a:p>
            <a:pPr lvl="1" eaLnBrk="1" hangingPunct="1"/>
            <a:r>
              <a:rPr lang="en-US" altLang="en-US"/>
              <a:t>What need to be logged</a:t>
            </a:r>
          </a:p>
          <a:p>
            <a:pPr lvl="1" eaLnBrk="1" hangingPunct="1"/>
            <a:r>
              <a:rPr lang="en-US" altLang="en-US"/>
              <a:t>Logging policies</a:t>
            </a:r>
          </a:p>
          <a:p>
            <a:pPr lvl="1" eaLnBrk="1" hangingPunct="1"/>
            <a:r>
              <a:rPr lang="en-US" altLang="en-US"/>
              <a:t>Finding log files</a:t>
            </a:r>
          </a:p>
          <a:p>
            <a:pPr eaLnBrk="1" hangingPunct="1"/>
            <a:r>
              <a:rPr lang="en-US" altLang="en-US"/>
              <a:t>Syslog: the system event logger</a:t>
            </a:r>
          </a:p>
          <a:p>
            <a:pPr lvl="1" eaLnBrk="1" hangingPunct="1"/>
            <a:r>
              <a:rPr lang="en-US" altLang="en-US"/>
              <a:t>how syslog works</a:t>
            </a:r>
          </a:p>
          <a:p>
            <a:pPr lvl="1" eaLnBrk="1" hangingPunct="1"/>
            <a:r>
              <a:rPr lang="en-US" altLang="en-US"/>
              <a:t>its configuration file </a:t>
            </a:r>
          </a:p>
          <a:p>
            <a:pPr lvl="1" eaLnBrk="1" hangingPunct="1"/>
            <a:r>
              <a:rPr lang="en-US" altLang="en-US"/>
              <a:t>the software that uses syslog </a:t>
            </a:r>
          </a:p>
          <a:p>
            <a:pPr lvl="1" eaLnBrk="1" hangingPunct="1"/>
            <a:r>
              <a:rPr lang="en-US" altLang="en-US"/>
              <a:t>debugging syslog</a:t>
            </a:r>
          </a:p>
          <a:p>
            <a:pPr lvl="1"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5542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to be logged?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1828800" y="1714500"/>
            <a:ext cx="5543550" cy="34290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The accounting system</a:t>
            </a:r>
          </a:p>
          <a:p>
            <a:pPr eaLnBrk="1" hangingPunct="1"/>
            <a:r>
              <a:rPr lang="en-US" altLang="en-US"/>
              <a:t>The kernel </a:t>
            </a:r>
          </a:p>
          <a:p>
            <a:pPr eaLnBrk="1" hangingPunct="1"/>
            <a:r>
              <a:rPr lang="en-US" altLang="en-US"/>
              <a:t>Various utilities </a:t>
            </a:r>
          </a:p>
          <a:p>
            <a:pPr lvl="1" eaLnBrk="1" hangingPunct="1"/>
            <a:r>
              <a:rPr lang="en-US" altLang="en-US"/>
              <a:t>all produce data that need to be logged</a:t>
            </a:r>
          </a:p>
          <a:p>
            <a:pPr lvl="1" eaLnBrk="1" hangingPunct="1"/>
            <a:r>
              <a:rPr lang="en-US" altLang="en-US"/>
              <a:t>most of the data has a limited useful lifetime, and needs to be summarized, compressed, archived and eventually thrown away</a:t>
            </a:r>
          </a:p>
          <a:p>
            <a:pPr eaLnBrk="1" hangingPunct="1"/>
            <a:endParaRPr lang="en-US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132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Logging policies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657350" y="1657350"/>
            <a:ext cx="5829300" cy="3086100"/>
          </a:xfrm>
        </p:spPr>
        <p:txBody>
          <a:bodyPr/>
          <a:lstStyle/>
          <a:p>
            <a:pPr eaLnBrk="1" hangingPunct="1"/>
            <a:r>
              <a:rPr lang="en-US" altLang="en-US"/>
              <a:t>Throw away all data immediately</a:t>
            </a:r>
          </a:p>
          <a:p>
            <a:pPr eaLnBrk="1" hangingPunct="1"/>
            <a:r>
              <a:rPr lang="en-US" altLang="en-US"/>
              <a:t>Reset log files at periodic intervals</a:t>
            </a:r>
          </a:p>
          <a:p>
            <a:pPr eaLnBrk="1" hangingPunct="1"/>
            <a:r>
              <a:rPr lang="en-US" altLang="en-US"/>
              <a:t>Rotate log files, keeping data for a fixed time</a:t>
            </a:r>
          </a:p>
          <a:p>
            <a:pPr eaLnBrk="1" hangingPunct="1"/>
            <a:r>
              <a:rPr lang="en-US" altLang="en-US"/>
              <a:t>Compress and archive to tape or other permanent media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868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Which one to choose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Depends on :</a:t>
            </a:r>
          </a:p>
          <a:p>
            <a:pPr lvl="1" eaLnBrk="1" hangingPunct="1"/>
            <a:r>
              <a:rPr lang="en-US" altLang="en-US"/>
              <a:t>how much disk space you have</a:t>
            </a:r>
          </a:p>
          <a:p>
            <a:pPr lvl="1" eaLnBrk="1" hangingPunct="1"/>
            <a:r>
              <a:rPr lang="en-US" altLang="en-US"/>
              <a:t>how security-conscious you are</a:t>
            </a:r>
          </a:p>
          <a:p>
            <a:pPr eaLnBrk="1" hangingPunct="1"/>
            <a:r>
              <a:rPr lang="en-US" altLang="en-US"/>
              <a:t>Whatever scheme you select, regular maintenance of log files should be automated using </a:t>
            </a:r>
            <a:r>
              <a:rPr lang="en-US" altLang="en-US">
                <a:solidFill>
                  <a:srgbClr val="00FF00"/>
                </a:solidFill>
              </a:rPr>
              <a:t>cron</a:t>
            </a:r>
            <a:r>
              <a:rPr lang="en-US" altLang="en-US"/>
              <a:t> (chap 10, periodic process)</a:t>
            </a:r>
          </a:p>
        </p:txBody>
      </p:sp>
    </p:spTree>
    <p:extLst>
      <p:ext uri="{BB962C8B-B14F-4D97-AF65-F5344CB8AC3E}">
        <p14:creationId xmlns:p14="http://schemas.microsoft.com/office/powerpoint/2010/main" val="3529856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Throwing away log files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657350" y="1314450"/>
            <a:ext cx="5829300" cy="3086100"/>
          </a:xfrm>
        </p:spPr>
        <p:txBody>
          <a:bodyPr/>
          <a:lstStyle/>
          <a:p>
            <a:pPr eaLnBrk="1" hangingPunct="1"/>
            <a:r>
              <a:rPr lang="en-US" altLang="en-US"/>
              <a:t> not recommend</a:t>
            </a:r>
          </a:p>
          <a:p>
            <a:pPr lvl="1" eaLnBrk="1" hangingPunct="1"/>
            <a:r>
              <a:rPr lang="en-US" altLang="en-US"/>
              <a:t>security problems ( accounting data and log files provide important evidence of break-ins)</a:t>
            </a:r>
          </a:p>
          <a:p>
            <a:pPr lvl="1" eaLnBrk="1" hangingPunct="1"/>
            <a:r>
              <a:rPr lang="en-US" altLang="en-US"/>
              <a:t>helpful for alerting you to hardware and software problems.</a:t>
            </a:r>
          </a:p>
          <a:p>
            <a:pPr eaLnBrk="1" hangingPunct="1"/>
            <a:r>
              <a:rPr lang="en-US" altLang="en-US"/>
              <a:t>In general, keep one or two months</a:t>
            </a:r>
          </a:p>
          <a:p>
            <a:pPr lvl="1" eaLnBrk="1" hangingPunct="1"/>
            <a:r>
              <a:rPr lang="en-US" altLang="en-US"/>
              <a:t>in a real world, it may take one or two weeks for SA to realize that site has been compromised by a hacker and need to review the logs</a:t>
            </a:r>
          </a:p>
          <a:p>
            <a:pPr lvl="1"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8473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Throwing away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Most sites store each</a:t>
            </a:r>
            <a:r>
              <a:rPr lang="en-US" altLang="en-US">
                <a:solidFill>
                  <a:srgbClr val="00FF00"/>
                </a:solidFill>
              </a:rPr>
              <a:t> day</a:t>
            </a:r>
            <a:r>
              <a:rPr lang="en-US" altLang="en-US"/>
              <a:t>’s log info on disk, sometimes in a compressed format</a:t>
            </a:r>
          </a:p>
          <a:p>
            <a:pPr eaLnBrk="1" hangingPunct="1"/>
            <a:r>
              <a:rPr lang="en-US" altLang="en-US"/>
              <a:t>These </a:t>
            </a:r>
            <a:r>
              <a:rPr lang="en-US" altLang="en-US">
                <a:solidFill>
                  <a:srgbClr val="00FF00"/>
                </a:solidFill>
              </a:rPr>
              <a:t>daily</a:t>
            </a:r>
            <a:r>
              <a:rPr lang="en-US" altLang="en-US"/>
              <a:t> files are kept for a specific period of time and then deleted</a:t>
            </a:r>
          </a:p>
          <a:p>
            <a:pPr eaLnBrk="1" hangingPunct="1"/>
            <a:r>
              <a:rPr lang="en-US" altLang="en-US"/>
              <a:t>One common way to implement this policy is called </a:t>
            </a:r>
            <a:r>
              <a:rPr lang="en-US" altLang="en-US">
                <a:solidFill>
                  <a:srgbClr val="00FF00"/>
                </a:solidFill>
              </a:rPr>
              <a:t>“rotation”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5030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Rotating log files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Keep backup files that are one day old, two days old, and so on. </a:t>
            </a:r>
          </a:p>
          <a:p>
            <a:pPr lvl="1" eaLnBrk="1" hangingPunct="1"/>
            <a:r>
              <a:rPr lang="en-US" altLang="en-US"/>
              <a:t>logfile, logfile.1 , logfile.2, … logfile.7</a:t>
            </a:r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Each day rename the files to push older data toward the end of the chain</a:t>
            </a:r>
          </a:p>
          <a:p>
            <a:pPr lvl="1" eaLnBrk="1" hangingPunct="1"/>
            <a:r>
              <a:rPr lang="en-US" altLang="en-US"/>
              <a:t>script to archive three days files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3008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816894" y="758429"/>
            <a:ext cx="390844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>
                <a:latin typeface="Courier New" panose="02070309020205020404" pitchFamily="49" charset="0"/>
              </a:rPr>
              <a:t>#! /bin/sh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>
                <a:latin typeface="Courier New" panose="02070309020205020404" pitchFamily="49" charset="0"/>
              </a:rPr>
              <a:t>cd /var/log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>
                <a:latin typeface="Courier New" panose="02070309020205020404" pitchFamily="49" charset="0"/>
              </a:rPr>
              <a:t>mv logfile.2 logfile.3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>
                <a:latin typeface="Courier New" panose="02070309020205020404" pitchFamily="49" charset="0"/>
              </a:rPr>
              <a:t>mv logfile.1 logfile.2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>
                <a:latin typeface="Courier New" panose="02070309020205020404" pitchFamily="49" charset="0"/>
              </a:rPr>
              <a:t>mv logfile logfile.1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>
                <a:latin typeface="Courier New" panose="02070309020205020404" pitchFamily="49" charset="0"/>
              </a:rPr>
              <a:t>cat /dev/null &gt; logfile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601391" y="3057525"/>
            <a:ext cx="6117380" cy="152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</a:rPr>
              <a:t>Some daemons keep their log files open all the time,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</a:rPr>
              <a:t>this script can’t be used with them. To install a new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</a:rPr>
              <a:t>log file, you must either signal the daemon, or kill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FF00"/>
                </a:solidFill>
              </a:rPr>
              <a:t>and restart it.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100"/>
          </a:p>
        </p:txBody>
      </p:sp>
    </p:spTree>
    <p:extLst>
      <p:ext uri="{BB962C8B-B14F-4D97-AF65-F5344CB8AC3E}">
        <p14:creationId xmlns:p14="http://schemas.microsoft.com/office/powerpoint/2010/main" val="3371456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1759744" y="529829"/>
            <a:ext cx="4556055" cy="2885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>
                <a:latin typeface="Courier New" panose="02070309020205020404" pitchFamily="49" charset="0"/>
              </a:rPr>
              <a:t>#! /bin/sh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>
                <a:latin typeface="Courier New" panose="02070309020205020404" pitchFamily="49" charset="0"/>
              </a:rPr>
              <a:t>cd /var/log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>
                <a:latin typeface="Courier New" panose="02070309020205020404" pitchFamily="49" charset="0"/>
              </a:rPr>
              <a:t>mv logfile.2.Z  logfile.3.Z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>
                <a:latin typeface="Courier New" panose="02070309020205020404" pitchFamily="49" charset="0"/>
              </a:rPr>
              <a:t>mv logfile.1.Z  logfile.2.Z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>
                <a:latin typeface="Courier New" panose="02070309020205020404" pitchFamily="49" charset="0"/>
              </a:rPr>
              <a:t>mv logfile  logfile.1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>
                <a:latin typeface="Courier New" panose="02070309020205020404" pitchFamily="49" charset="0"/>
              </a:rPr>
              <a:t>cat /dev/null &gt; logfile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>
                <a:solidFill>
                  <a:srgbClr val="00FF00"/>
                </a:solidFill>
                <a:latin typeface="Courier New" panose="02070309020205020404" pitchFamily="49" charset="0"/>
              </a:rPr>
              <a:t>kill </a:t>
            </a:r>
            <a:r>
              <a:rPr lang="en-US" altLang="en-US" sz="2100" b="1" i="1">
                <a:solidFill>
                  <a:srgbClr val="00FF00"/>
                </a:solidFill>
                <a:latin typeface="Courier New" panose="02070309020205020404" pitchFamily="49" charset="0"/>
              </a:rPr>
              <a:t>-signal pid</a:t>
            </a:r>
            <a:endParaRPr lang="en-US" altLang="en-US" sz="2100" b="1" i="1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b="1">
                <a:latin typeface="Courier New" panose="02070309020205020404" pitchFamily="49" charset="0"/>
              </a:rPr>
              <a:t>compress logfile.1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/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2114550" y="3543300"/>
            <a:ext cx="373371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>
                <a:solidFill>
                  <a:srgbClr val="FFFF00"/>
                </a:solidFill>
              </a:rPr>
              <a:t>signal - appropriate signal for the program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>
                <a:solidFill>
                  <a:srgbClr val="FFFF00"/>
                </a:solidFill>
              </a:rPr>
              <a:t>writing the log file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>
                <a:solidFill>
                  <a:srgbClr val="FFFF00"/>
                </a:solidFill>
              </a:rPr>
              <a:t>pid - process id</a:t>
            </a:r>
            <a:endParaRPr lang="en-US" altLang="en-US" sz="135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/>
          </a:p>
        </p:txBody>
      </p:sp>
    </p:spTree>
    <p:extLst>
      <p:ext uri="{BB962C8B-B14F-4D97-AF65-F5344CB8AC3E}">
        <p14:creationId xmlns:p14="http://schemas.microsoft.com/office/powerpoint/2010/main" val="2056123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Archiving log files</a:t>
            </a:r>
          </a:p>
        </p:txBody>
      </p:sp>
      <p:sp>
        <p:nvSpPr>
          <p:cNvPr id="17411" name="Rectangle 1027"/>
          <p:cNvSpPr>
            <a:spLocks noGrp="1" noChangeArrowheads="1"/>
          </p:cNvSpPr>
          <p:nvPr>
            <p:ph idx="1"/>
          </p:nvPr>
        </p:nvSpPr>
        <p:spPr>
          <a:xfrm>
            <a:off x="1657350" y="1714500"/>
            <a:ext cx="5657850" cy="3086100"/>
          </a:xfrm>
        </p:spPr>
        <p:txBody>
          <a:bodyPr/>
          <a:lstStyle/>
          <a:p>
            <a:pPr eaLnBrk="1" hangingPunct="1"/>
            <a:r>
              <a:rPr lang="en-US" altLang="en-US"/>
              <a:t>Some sites must archive all accounting data and log files as a matter of policy, to provide data for a potential audit</a:t>
            </a:r>
          </a:p>
          <a:p>
            <a:pPr eaLnBrk="1" hangingPunct="1"/>
            <a:r>
              <a:rPr lang="en-US" altLang="en-US"/>
              <a:t>Log files should be first rotate on disk, then written to tape or other permanent media</a:t>
            </a:r>
          </a:p>
        </p:txBody>
      </p:sp>
    </p:spTree>
    <p:extLst>
      <p:ext uri="{BB962C8B-B14F-4D97-AF65-F5344CB8AC3E}">
        <p14:creationId xmlns:p14="http://schemas.microsoft.com/office/powerpoint/2010/main" val="1428157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Finding log files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 locate log files, read the system startup scripts : </a:t>
            </a:r>
            <a:r>
              <a:rPr lang="en-US" altLang="en-US">
                <a:solidFill>
                  <a:srgbClr val="00FF00"/>
                </a:solidFill>
              </a:rPr>
              <a:t>/etc/rc*  or /etc/init.d/*</a:t>
            </a:r>
            <a:r>
              <a:rPr lang="en-US" altLang="en-US"/>
              <a:t>  </a:t>
            </a:r>
          </a:p>
          <a:p>
            <a:pPr lvl="1" eaLnBrk="1" hangingPunct="1"/>
            <a:r>
              <a:rPr lang="en-US" altLang="en-US"/>
              <a:t>if logging is turned on when daemons are run</a:t>
            </a:r>
          </a:p>
          <a:p>
            <a:pPr lvl="1" eaLnBrk="1" hangingPunct="1"/>
            <a:r>
              <a:rPr lang="en-US" altLang="en-US"/>
              <a:t>where messages are sent</a:t>
            </a:r>
          </a:p>
          <a:p>
            <a:pPr eaLnBrk="1" hangingPunct="1"/>
            <a:r>
              <a:rPr lang="en-US" altLang="en-US"/>
              <a:t>Some programs handle logging via </a:t>
            </a:r>
            <a:r>
              <a:rPr lang="en-US" altLang="en-US">
                <a:solidFill>
                  <a:srgbClr val="00FF00"/>
                </a:solidFill>
              </a:rPr>
              <a:t>syslog/rsyslog</a:t>
            </a:r>
          </a:p>
          <a:p>
            <a:pPr lvl="1" eaLnBrk="1" hangingPunct="1"/>
            <a:r>
              <a:rPr lang="en-US" altLang="en-US"/>
              <a:t>check /etc/(r)syslog.conf to find out where this data goes</a:t>
            </a:r>
          </a:p>
        </p:txBody>
      </p:sp>
    </p:spTree>
    <p:extLst>
      <p:ext uri="{BB962C8B-B14F-4D97-AF65-F5344CB8AC3E}">
        <p14:creationId xmlns:p14="http://schemas.microsoft.com/office/powerpoint/2010/main" val="3971473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Finding log files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Different operating systems put log files in different places:</a:t>
            </a:r>
          </a:p>
          <a:p>
            <a:pPr lvl="1" eaLnBrk="1" hangingPunct="1"/>
            <a:r>
              <a:rPr lang="en-US" altLang="en-US"/>
              <a:t>/var/log/*</a:t>
            </a:r>
          </a:p>
          <a:p>
            <a:pPr lvl="1" eaLnBrk="1" hangingPunct="1"/>
            <a:r>
              <a:rPr lang="en-US" altLang="en-US"/>
              <a:t>/var/cron/log</a:t>
            </a:r>
          </a:p>
          <a:p>
            <a:pPr lvl="1" eaLnBrk="1" hangingPunct="1"/>
            <a:r>
              <a:rPr lang="en-US" altLang="en-US"/>
              <a:t>/usr/adm</a:t>
            </a:r>
          </a:p>
          <a:p>
            <a:pPr lvl="1" eaLnBrk="1" hangingPunct="1"/>
            <a:r>
              <a:rPr lang="en-US" altLang="en-US"/>
              <a:t>/var/adm …</a:t>
            </a:r>
          </a:p>
          <a:p>
            <a:pPr eaLnBrk="1" hangingPunct="1"/>
            <a:r>
              <a:rPr lang="en-US" altLang="en-US"/>
              <a:t>On linux, all the log files are in </a:t>
            </a:r>
            <a:r>
              <a:rPr lang="en-US" altLang="en-US">
                <a:solidFill>
                  <a:srgbClr val="00FF00"/>
                </a:solidFill>
              </a:rPr>
              <a:t>/var/log</a:t>
            </a:r>
            <a:r>
              <a:rPr lang="en-US" altLang="en-US"/>
              <a:t> directory.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0279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is syslog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1657350" y="1543050"/>
            <a:ext cx="5715000" cy="3086100"/>
          </a:xfrm>
        </p:spPr>
        <p:txBody>
          <a:bodyPr/>
          <a:lstStyle/>
          <a:p>
            <a:pPr eaLnBrk="1" hangingPunct="1"/>
            <a:r>
              <a:rPr lang="en-US" altLang="en-US"/>
              <a:t>A comprehensive logging system, used to manage information generated by the kernel and system utilities.</a:t>
            </a:r>
          </a:p>
          <a:p>
            <a:pPr eaLnBrk="1" hangingPunct="1"/>
            <a:r>
              <a:rPr lang="en-US" altLang="en-US"/>
              <a:t>Allow messages to be sorted by their </a:t>
            </a:r>
            <a:r>
              <a:rPr lang="en-US" altLang="en-US">
                <a:solidFill>
                  <a:srgbClr val="00FF00"/>
                </a:solidFill>
              </a:rPr>
              <a:t>sources</a:t>
            </a:r>
            <a:r>
              <a:rPr lang="en-US" altLang="en-US"/>
              <a:t> and </a:t>
            </a:r>
            <a:r>
              <a:rPr lang="en-US" altLang="en-US">
                <a:solidFill>
                  <a:srgbClr val="00FF00"/>
                </a:solidFill>
              </a:rPr>
              <a:t>importance</a:t>
            </a:r>
            <a:r>
              <a:rPr lang="en-US" altLang="en-US"/>
              <a:t>, and routed to a variety of </a:t>
            </a:r>
            <a:r>
              <a:rPr lang="en-US" altLang="en-US">
                <a:solidFill>
                  <a:srgbClr val="00FF00"/>
                </a:solidFill>
              </a:rPr>
              <a:t>destinations</a:t>
            </a:r>
            <a:r>
              <a:rPr lang="en-US" altLang="en-US"/>
              <a:t>:</a:t>
            </a:r>
          </a:p>
          <a:p>
            <a:pPr lvl="1" eaLnBrk="1" hangingPunct="1"/>
            <a:r>
              <a:rPr lang="en-US" altLang="en-US"/>
              <a:t>log files, users’ terminals, or even other machines.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8815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Syslog: three parts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(r)Syslogd and /etc/(r)syslog.conf </a:t>
            </a:r>
          </a:p>
          <a:p>
            <a:pPr lvl="1" eaLnBrk="1" hangingPunct="1"/>
            <a:r>
              <a:rPr lang="en-US" altLang="en-US"/>
              <a:t>the daemon that does the actual logging</a:t>
            </a:r>
          </a:p>
          <a:p>
            <a:pPr lvl="1" eaLnBrk="1" hangingPunct="1"/>
            <a:r>
              <a:rPr lang="en-US" altLang="en-US"/>
              <a:t>its configuration file</a:t>
            </a:r>
          </a:p>
          <a:p>
            <a:pPr eaLnBrk="1" hangingPunct="1"/>
            <a:r>
              <a:rPr lang="en-US" altLang="en-US"/>
              <a:t>openlog, syslog, closelog</a:t>
            </a:r>
          </a:p>
          <a:p>
            <a:pPr lvl="1" eaLnBrk="1" hangingPunct="1"/>
            <a:r>
              <a:rPr lang="en-US" altLang="en-US"/>
              <a:t>library routines that programs use to send data to syslogd</a:t>
            </a:r>
          </a:p>
          <a:p>
            <a:pPr eaLnBrk="1" hangingPunct="1"/>
            <a:r>
              <a:rPr lang="en-US" altLang="en-US"/>
              <a:t>logger</a:t>
            </a:r>
          </a:p>
          <a:p>
            <a:pPr lvl="1" eaLnBrk="1" hangingPunct="1"/>
            <a:r>
              <a:rPr lang="en-US" altLang="en-US"/>
              <a:t>user-level command for submitting log entries</a:t>
            </a:r>
          </a:p>
          <a:p>
            <a:pPr lvl="4" eaLnBrk="1" hangingPunct="1"/>
            <a:endParaRPr lang="en-US" altLang="en-US"/>
          </a:p>
          <a:p>
            <a:pPr lvl="4" eaLnBrk="1" hangingPunct="1"/>
            <a:endParaRPr lang="en-US" altLang="en-US"/>
          </a:p>
          <a:p>
            <a:pPr lvl="4" eaLnBrk="1" hangingPunct="1"/>
            <a:endParaRPr lang="en-US" altLang="en-US"/>
          </a:p>
          <a:p>
            <a:pPr lvl="4"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8921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2102644" y="507206"/>
            <a:ext cx="3211135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00FF00"/>
                </a:solidFill>
              </a:rPr>
              <a:t>syslog-aware programs</a:t>
            </a:r>
            <a:endParaRPr lang="en-US" altLang="en-US" sz="1350" dirty="0"/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3143250" y="1085851"/>
            <a:ext cx="2815194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>
                <a:solidFill>
                  <a:srgbClr val="FFFF00"/>
                </a:solidFill>
              </a:rPr>
              <a:t>Using syslog lib. Routines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>
                <a:solidFill>
                  <a:srgbClr val="FFFF00"/>
                </a:solidFill>
              </a:rPr>
              <a:t>write log entries to a special file</a:t>
            </a:r>
            <a:endParaRPr lang="en-US" altLang="en-US" sz="1350"/>
          </a:p>
        </p:txBody>
      </p:sp>
      <p:sp>
        <p:nvSpPr>
          <p:cNvPr id="22532" name="Text Box 6"/>
          <p:cNvSpPr txBox="1">
            <a:spLocks noChangeArrowheads="1"/>
          </p:cNvSpPr>
          <p:nvPr/>
        </p:nvSpPr>
        <p:spPr bwMode="auto">
          <a:xfrm>
            <a:off x="2445544" y="1859756"/>
            <a:ext cx="232756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/>
              <a:t> </a:t>
            </a:r>
          </a:p>
        </p:txBody>
      </p:sp>
      <p:sp>
        <p:nvSpPr>
          <p:cNvPr id="22533" name="Text Box 7"/>
          <p:cNvSpPr txBox="1">
            <a:spLocks noChangeArrowheads="1"/>
          </p:cNvSpPr>
          <p:nvPr/>
        </p:nvSpPr>
        <p:spPr bwMode="auto">
          <a:xfrm>
            <a:off x="2159794" y="1764506"/>
            <a:ext cx="1338828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00FF00"/>
                </a:solidFill>
              </a:rPr>
              <a:t>/dev/log</a:t>
            </a:r>
            <a:endParaRPr lang="en-US" altLang="en-US" sz="1350"/>
          </a:p>
        </p:txBody>
      </p:sp>
      <p:sp>
        <p:nvSpPr>
          <p:cNvPr id="22534" name="Text Box 8"/>
          <p:cNvSpPr txBox="1">
            <a:spLocks noChangeArrowheads="1"/>
          </p:cNvSpPr>
          <p:nvPr/>
        </p:nvSpPr>
        <p:spPr bwMode="auto">
          <a:xfrm>
            <a:off x="2216944" y="2678906"/>
            <a:ext cx="1208985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00FF00"/>
                </a:solidFill>
              </a:rPr>
              <a:t>syslogd </a:t>
            </a:r>
          </a:p>
        </p:txBody>
      </p:sp>
      <p:sp>
        <p:nvSpPr>
          <p:cNvPr id="22535" name="Text Box 9"/>
          <p:cNvSpPr txBox="1">
            <a:spLocks noChangeArrowheads="1"/>
          </p:cNvSpPr>
          <p:nvPr/>
        </p:nvSpPr>
        <p:spPr bwMode="auto">
          <a:xfrm>
            <a:off x="4743450" y="2762250"/>
            <a:ext cx="1885950" cy="738664"/>
          </a:xfrm>
          <a:prstGeom prst="rect">
            <a:avLst/>
          </a:prstGeom>
          <a:noFill/>
          <a:ln w="12700">
            <a:solidFill>
              <a:srgbClr val="00FF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00FF00"/>
                </a:solidFill>
              </a:rPr>
              <a:t>/etc/syslog.conf</a:t>
            </a:r>
            <a:endParaRPr lang="en-US" altLang="en-US" sz="1350"/>
          </a:p>
        </p:txBody>
      </p:sp>
      <p:sp>
        <p:nvSpPr>
          <p:cNvPr id="22536" name="Text Box 11"/>
          <p:cNvSpPr txBox="1">
            <a:spLocks noChangeArrowheads="1"/>
          </p:cNvSpPr>
          <p:nvPr/>
        </p:nvSpPr>
        <p:spPr bwMode="auto">
          <a:xfrm>
            <a:off x="3245644" y="2717006"/>
            <a:ext cx="232756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/>
              <a:t> </a:t>
            </a:r>
          </a:p>
        </p:txBody>
      </p:sp>
      <p:sp>
        <p:nvSpPr>
          <p:cNvPr id="22537" name="Text Box 12"/>
          <p:cNvSpPr txBox="1">
            <a:spLocks noChangeArrowheads="1"/>
          </p:cNvSpPr>
          <p:nvPr/>
        </p:nvSpPr>
        <p:spPr bwMode="auto">
          <a:xfrm>
            <a:off x="1314450" y="2343150"/>
            <a:ext cx="848916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>
                <a:solidFill>
                  <a:srgbClr val="FFFF00"/>
                </a:solidFill>
              </a:rPr>
              <a:t>reads</a:t>
            </a:r>
          </a:p>
        </p:txBody>
      </p:sp>
      <p:sp>
        <p:nvSpPr>
          <p:cNvPr id="22538" name="Text Box 13"/>
          <p:cNvSpPr txBox="1">
            <a:spLocks noChangeArrowheads="1"/>
          </p:cNvSpPr>
          <p:nvPr/>
        </p:nvSpPr>
        <p:spPr bwMode="auto">
          <a:xfrm>
            <a:off x="3486150" y="2400300"/>
            <a:ext cx="861133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>
                <a:solidFill>
                  <a:srgbClr val="FFFF00"/>
                </a:solidFill>
              </a:rPr>
              <a:t>consults</a:t>
            </a:r>
            <a:endParaRPr lang="en-US" altLang="en-US" sz="1350" b="1"/>
          </a:p>
        </p:txBody>
      </p:sp>
      <p:sp>
        <p:nvSpPr>
          <p:cNvPr id="22539" name="Line 14"/>
          <p:cNvSpPr>
            <a:spLocks noChangeShapeType="1"/>
          </p:cNvSpPr>
          <p:nvPr/>
        </p:nvSpPr>
        <p:spPr bwMode="auto">
          <a:xfrm flipH="1">
            <a:off x="2000250" y="3257550"/>
            <a:ext cx="457200" cy="971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 sz="1350"/>
          </a:p>
        </p:txBody>
      </p:sp>
      <p:sp>
        <p:nvSpPr>
          <p:cNvPr id="22540" name="Line 15"/>
          <p:cNvSpPr>
            <a:spLocks noChangeShapeType="1"/>
          </p:cNvSpPr>
          <p:nvPr/>
        </p:nvSpPr>
        <p:spPr bwMode="auto">
          <a:xfrm>
            <a:off x="2571750" y="3257550"/>
            <a:ext cx="114300" cy="102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 sz="1350"/>
          </a:p>
        </p:txBody>
      </p:sp>
      <p:sp>
        <p:nvSpPr>
          <p:cNvPr id="22541" name="Line 16"/>
          <p:cNvSpPr>
            <a:spLocks noChangeShapeType="1"/>
          </p:cNvSpPr>
          <p:nvPr/>
        </p:nvSpPr>
        <p:spPr bwMode="auto">
          <a:xfrm>
            <a:off x="2743200" y="3257550"/>
            <a:ext cx="914400" cy="971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 sz="1350"/>
          </a:p>
        </p:txBody>
      </p:sp>
      <p:sp>
        <p:nvSpPr>
          <p:cNvPr id="22542" name="Text Box 17"/>
          <p:cNvSpPr txBox="1">
            <a:spLocks noChangeArrowheads="1"/>
          </p:cNvSpPr>
          <p:nvPr/>
        </p:nvSpPr>
        <p:spPr bwMode="auto">
          <a:xfrm>
            <a:off x="3645694" y="3345656"/>
            <a:ext cx="1098378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>
                <a:solidFill>
                  <a:srgbClr val="FFFF00"/>
                </a:solidFill>
              </a:rPr>
              <a:t>dispatches</a:t>
            </a:r>
          </a:p>
        </p:txBody>
      </p:sp>
      <p:sp>
        <p:nvSpPr>
          <p:cNvPr id="22543" name="Text Box 18"/>
          <p:cNvSpPr txBox="1">
            <a:spLocks noChangeArrowheads="1"/>
          </p:cNvSpPr>
          <p:nvPr/>
        </p:nvSpPr>
        <p:spPr bwMode="auto">
          <a:xfrm>
            <a:off x="1645444" y="4260057"/>
            <a:ext cx="503664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>
                <a:solidFill>
                  <a:srgbClr val="FFFF00"/>
                </a:solidFill>
              </a:rPr>
              <a:t>Log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>
                <a:solidFill>
                  <a:srgbClr val="FFFF00"/>
                </a:solidFill>
              </a:rPr>
              <a:t>files</a:t>
            </a:r>
            <a:endParaRPr lang="en-US" altLang="en-US" sz="1350" b="1"/>
          </a:p>
        </p:txBody>
      </p:sp>
      <p:sp>
        <p:nvSpPr>
          <p:cNvPr id="22544" name="Text Box 19"/>
          <p:cNvSpPr txBox="1">
            <a:spLocks noChangeArrowheads="1"/>
          </p:cNvSpPr>
          <p:nvPr/>
        </p:nvSpPr>
        <p:spPr bwMode="auto">
          <a:xfrm>
            <a:off x="2445544" y="4260057"/>
            <a:ext cx="944489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>
                <a:solidFill>
                  <a:srgbClr val="FFFF00"/>
                </a:solidFill>
              </a:rPr>
              <a:t>Users’s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>
                <a:solidFill>
                  <a:srgbClr val="FFFF00"/>
                </a:solidFill>
              </a:rPr>
              <a:t>terminals</a:t>
            </a:r>
            <a:endParaRPr lang="en-US" altLang="en-US" sz="1350">
              <a:solidFill>
                <a:srgbClr val="FFFF00"/>
              </a:solidFill>
            </a:endParaRPr>
          </a:p>
        </p:txBody>
      </p:sp>
      <p:sp>
        <p:nvSpPr>
          <p:cNvPr id="22545" name="Text Box 20"/>
          <p:cNvSpPr txBox="1">
            <a:spLocks noChangeArrowheads="1"/>
          </p:cNvSpPr>
          <p:nvPr/>
        </p:nvSpPr>
        <p:spPr bwMode="auto">
          <a:xfrm>
            <a:off x="3702844" y="4202907"/>
            <a:ext cx="1010213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>
                <a:solidFill>
                  <a:srgbClr val="FFFF00"/>
                </a:solidFill>
              </a:rPr>
              <a:t>Other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>
                <a:solidFill>
                  <a:srgbClr val="FFFF00"/>
                </a:solidFill>
              </a:rPr>
              <a:t>machines</a:t>
            </a:r>
            <a:endParaRPr lang="en-US" altLang="en-US" sz="1350"/>
          </a:p>
        </p:txBody>
      </p:sp>
      <p:sp>
        <p:nvSpPr>
          <p:cNvPr id="22546" name="Rectangle 22"/>
          <p:cNvSpPr>
            <a:spLocks noChangeArrowheads="1"/>
          </p:cNvSpPr>
          <p:nvPr/>
        </p:nvSpPr>
        <p:spPr bwMode="auto">
          <a:xfrm>
            <a:off x="2171700" y="2686050"/>
            <a:ext cx="1085850" cy="400050"/>
          </a:xfrm>
          <a:prstGeom prst="rect">
            <a:avLst/>
          </a:prstGeom>
          <a:noFill/>
          <a:ln w="12700">
            <a:solidFill>
              <a:srgbClr val="00FF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SG" altLang="en-US" sz="1350"/>
          </a:p>
        </p:txBody>
      </p:sp>
      <p:sp>
        <p:nvSpPr>
          <p:cNvPr id="22547" name="Rectangle 23"/>
          <p:cNvSpPr>
            <a:spLocks noChangeArrowheads="1"/>
          </p:cNvSpPr>
          <p:nvPr/>
        </p:nvSpPr>
        <p:spPr bwMode="auto">
          <a:xfrm>
            <a:off x="2171700" y="1771650"/>
            <a:ext cx="1028700" cy="457200"/>
          </a:xfrm>
          <a:prstGeom prst="rect">
            <a:avLst/>
          </a:prstGeom>
          <a:noFill/>
          <a:ln w="12700">
            <a:solidFill>
              <a:srgbClr val="00FF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SG" altLang="en-US" sz="1350"/>
          </a:p>
        </p:txBody>
      </p:sp>
      <p:sp>
        <p:nvSpPr>
          <p:cNvPr id="22548" name="Rectangle 24"/>
          <p:cNvSpPr>
            <a:spLocks noChangeArrowheads="1"/>
          </p:cNvSpPr>
          <p:nvPr/>
        </p:nvSpPr>
        <p:spPr bwMode="auto">
          <a:xfrm>
            <a:off x="2000250" y="445338"/>
            <a:ext cx="3511201" cy="454730"/>
          </a:xfrm>
          <a:prstGeom prst="rect">
            <a:avLst/>
          </a:prstGeom>
          <a:noFill/>
          <a:ln w="12700">
            <a:solidFill>
              <a:srgbClr val="00FF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SG" altLang="en-US" sz="1350"/>
          </a:p>
        </p:txBody>
      </p:sp>
      <p:sp>
        <p:nvSpPr>
          <p:cNvPr id="22549" name="Line 25"/>
          <p:cNvSpPr>
            <a:spLocks noChangeShapeType="1"/>
          </p:cNvSpPr>
          <p:nvPr/>
        </p:nvSpPr>
        <p:spPr bwMode="auto">
          <a:xfrm>
            <a:off x="2571750" y="1028700"/>
            <a:ext cx="0" cy="571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 sz="1350"/>
          </a:p>
        </p:txBody>
      </p:sp>
      <p:sp>
        <p:nvSpPr>
          <p:cNvPr id="22550" name="Line 26"/>
          <p:cNvSpPr>
            <a:spLocks noChangeShapeType="1"/>
          </p:cNvSpPr>
          <p:nvPr/>
        </p:nvSpPr>
        <p:spPr bwMode="auto">
          <a:xfrm>
            <a:off x="2628900" y="2286000"/>
            <a:ext cx="0" cy="2857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 sz="1350"/>
          </a:p>
        </p:txBody>
      </p:sp>
      <p:sp>
        <p:nvSpPr>
          <p:cNvPr id="22551" name="Line 27"/>
          <p:cNvSpPr>
            <a:spLocks noChangeShapeType="1"/>
          </p:cNvSpPr>
          <p:nvPr/>
        </p:nvSpPr>
        <p:spPr bwMode="auto">
          <a:xfrm>
            <a:off x="3371850" y="2914650"/>
            <a:ext cx="12001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 sz="1350"/>
          </a:p>
        </p:txBody>
      </p:sp>
      <p:sp>
        <p:nvSpPr>
          <p:cNvPr id="22552" name="Text Box 28"/>
          <p:cNvSpPr txBox="1">
            <a:spLocks noChangeArrowheads="1"/>
          </p:cNvSpPr>
          <p:nvPr/>
        </p:nvSpPr>
        <p:spPr bwMode="auto">
          <a:xfrm>
            <a:off x="3817144" y="1764506"/>
            <a:ext cx="1473480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00FF00"/>
                </a:solidFill>
              </a:rPr>
              <a:t>/dev/klog</a:t>
            </a:r>
            <a:endParaRPr lang="en-US" altLang="en-US" sz="1350"/>
          </a:p>
        </p:txBody>
      </p:sp>
      <p:sp>
        <p:nvSpPr>
          <p:cNvPr id="22553" name="Rectangle 29"/>
          <p:cNvSpPr>
            <a:spLocks noChangeArrowheads="1"/>
          </p:cNvSpPr>
          <p:nvPr/>
        </p:nvSpPr>
        <p:spPr bwMode="auto">
          <a:xfrm>
            <a:off x="3771900" y="1771650"/>
            <a:ext cx="1314450" cy="457200"/>
          </a:xfrm>
          <a:prstGeom prst="rect">
            <a:avLst/>
          </a:prstGeom>
          <a:noFill/>
          <a:ln w="12700">
            <a:solidFill>
              <a:srgbClr val="00FF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SG" altLang="en-US" sz="1350"/>
          </a:p>
        </p:txBody>
      </p:sp>
      <p:sp>
        <p:nvSpPr>
          <p:cNvPr id="22554" name="Line 30"/>
          <p:cNvSpPr>
            <a:spLocks noChangeShapeType="1"/>
          </p:cNvSpPr>
          <p:nvPr/>
        </p:nvSpPr>
        <p:spPr bwMode="auto">
          <a:xfrm flipH="1">
            <a:off x="3143250" y="2114550"/>
            <a:ext cx="51435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 sz="1350"/>
          </a:p>
        </p:txBody>
      </p:sp>
    </p:spTree>
    <p:extLst>
      <p:ext uri="{BB962C8B-B14F-4D97-AF65-F5344CB8AC3E}">
        <p14:creationId xmlns:p14="http://schemas.microsoft.com/office/powerpoint/2010/main" val="1152567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Configuring syslogd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configuration file /etc/(r)syslog.conf controls (r)syslogd’s behavior.</a:t>
            </a:r>
          </a:p>
          <a:p>
            <a:pPr eaLnBrk="1" hangingPunct="1"/>
            <a:r>
              <a:rPr lang="en-US" altLang="en-US"/>
              <a:t>It is a text file with simple format, blank lines and lines beginning with ‘#’ are ignored.</a:t>
            </a:r>
          </a:p>
          <a:p>
            <a:pPr lvl="1" eaLnBrk="1" hangingPunct="1"/>
            <a:r>
              <a:rPr lang="en-US" altLang="en-US" b="1" i="1">
                <a:solidFill>
                  <a:srgbClr val="00FF00"/>
                </a:solidFill>
              </a:rPr>
              <a:t>Selector</a:t>
            </a:r>
            <a:r>
              <a:rPr lang="en-US" altLang="en-US" i="1"/>
              <a:t> </a:t>
            </a:r>
            <a:r>
              <a:rPr lang="en-US" altLang="en-US"/>
              <a:t>  &lt;TAB&gt;   </a:t>
            </a:r>
            <a:r>
              <a:rPr lang="en-US" altLang="en-US" b="1" i="1">
                <a:solidFill>
                  <a:srgbClr val="00FF00"/>
                </a:solidFill>
              </a:rPr>
              <a:t>action</a:t>
            </a:r>
            <a:endParaRPr lang="en-US" altLang="en-US" b="1" i="1"/>
          </a:p>
          <a:p>
            <a:pPr lvl="1" eaLnBrk="1" hangingPunct="1"/>
            <a:r>
              <a:rPr lang="en-US" altLang="en-US" i="1"/>
              <a:t>eg. 	</a:t>
            </a:r>
            <a:r>
              <a:rPr lang="en-US" altLang="en-US"/>
              <a:t>mail.info	/var/log/maillog</a:t>
            </a:r>
            <a:endParaRPr lang="en-US" altLang="en-US" i="1"/>
          </a:p>
        </p:txBody>
      </p:sp>
    </p:spTree>
    <p:extLst>
      <p:ext uri="{BB962C8B-B14F-4D97-AF65-F5344CB8AC3E}">
        <p14:creationId xmlns:p14="http://schemas.microsoft.com/office/powerpoint/2010/main" val="3503791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Config file examples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1759744" y="1421607"/>
            <a:ext cx="6546985" cy="3208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/>
              <a:t># Small network or stand-alone syslog.conf file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/>
              <a:t># emergencies: tell everyone who is logged 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00FF00"/>
                </a:solidFill>
              </a:rPr>
              <a:t>*.emerg	*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100">
              <a:solidFill>
                <a:srgbClr val="00FF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/>
              <a:t># important messages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00FF00"/>
                </a:solidFill>
              </a:rPr>
              <a:t>*.warning;daemon,auth.info	/var/adm/messages</a:t>
            </a:r>
            <a:endParaRPr lang="en-US" altLang="en-US" sz="21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1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/>
              <a:t># printer errors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00FF00"/>
                </a:solidFill>
              </a:rPr>
              <a:t>lpr.debug		/var/adm/lpd-errs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/>
          </a:p>
        </p:txBody>
      </p:sp>
    </p:spTree>
    <p:extLst>
      <p:ext uri="{BB962C8B-B14F-4D97-AF65-F5344CB8AC3E}">
        <p14:creationId xmlns:p14="http://schemas.microsoft.com/office/powerpoint/2010/main" val="2454520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1828800" y="285750"/>
            <a:ext cx="5343129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/>
              <a:t># network client, typically forwards serious messages to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/>
              <a:t># a central logging machine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/>
              <a:t># emergencies: tell everyone who is logged 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>
                <a:solidFill>
                  <a:srgbClr val="00FF00"/>
                </a:solidFill>
              </a:rPr>
              <a:t>*.emerg;user.none</a:t>
            </a:r>
            <a:r>
              <a:rPr lang="en-US" altLang="en-US" sz="1500" b="1"/>
              <a:t>		*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500" b="1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/>
              <a:t>#important messages, forward to central logger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>
                <a:solidFill>
                  <a:srgbClr val="00FF00"/>
                </a:solidFill>
              </a:rPr>
              <a:t>*.warning;lpr,local1.none		@netloghost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>
                <a:solidFill>
                  <a:srgbClr val="00FF00"/>
                </a:solidFill>
              </a:rPr>
              <a:t>daemon,auth.info			@netloghost</a:t>
            </a:r>
            <a:endParaRPr lang="en-US" altLang="en-US" sz="1500" b="1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500" b="1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/>
              <a:t># local stuff to central logger too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>
                <a:solidFill>
                  <a:srgbClr val="00FF00"/>
                </a:solidFill>
              </a:rPr>
              <a:t>local0,local2,local7.debug		@netloghost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500" b="1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/>
              <a:t># card syslogs to local1 - to boulder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>
                <a:solidFill>
                  <a:srgbClr val="00FF00"/>
                </a:solidFill>
              </a:rPr>
              <a:t>local1.debug				@boulder.colorado.edu</a:t>
            </a:r>
            <a:endParaRPr lang="en-US" altLang="en-US" sz="1500" b="1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500" b="1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/>
              <a:t># printer errors, keep them local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>
                <a:solidFill>
                  <a:srgbClr val="00FF00"/>
                </a:solidFill>
              </a:rPr>
              <a:t>lpr.debug				/var/adm/lpd-errs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500" b="1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/>
              <a:t># sudo logs to local2 - keep a copy here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="1">
                <a:solidFill>
                  <a:srgbClr val="00FF00"/>
                </a:solidFill>
              </a:rPr>
              <a:t>local2.info				/var/adm/sudolog</a:t>
            </a:r>
            <a:endParaRPr lang="en-US" altLang="en-US" sz="1500"/>
          </a:p>
        </p:txBody>
      </p:sp>
    </p:spTree>
    <p:extLst>
      <p:ext uri="{BB962C8B-B14F-4D97-AF65-F5344CB8AC3E}">
        <p14:creationId xmlns:p14="http://schemas.microsoft.com/office/powerpoint/2010/main" val="2646505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Sample syslog output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1600200" y="1574006"/>
            <a:ext cx="6229350" cy="1962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/>
              <a:t>Dec 27 02:45:00  </a:t>
            </a:r>
            <a:r>
              <a:rPr lang="en-US" altLang="en-US" sz="1350" b="1">
                <a:solidFill>
                  <a:srgbClr val="00FF00"/>
                </a:solidFill>
              </a:rPr>
              <a:t>x-wing</a:t>
            </a:r>
            <a:r>
              <a:rPr lang="en-US" altLang="en-US" sz="1350" b="1"/>
              <a:t>  </a:t>
            </a:r>
            <a:r>
              <a:rPr lang="en-US" altLang="en-US" sz="1350" b="1">
                <a:solidFill>
                  <a:srgbClr val="FFFF00"/>
                </a:solidFill>
              </a:rPr>
              <a:t>netinfod</a:t>
            </a:r>
            <a:r>
              <a:rPr lang="en-US" altLang="en-US" sz="1350" b="1"/>
              <a:t> [71]: cann’t lookup child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/>
              <a:t>Dec 27 02:50:00  </a:t>
            </a:r>
            <a:r>
              <a:rPr lang="en-US" altLang="en-US" sz="1350" b="1">
                <a:solidFill>
                  <a:srgbClr val="00FF00"/>
                </a:solidFill>
              </a:rPr>
              <a:t>bruno</a:t>
            </a:r>
            <a:r>
              <a:rPr lang="en-US" altLang="en-US" sz="1350" b="1"/>
              <a:t>  </a:t>
            </a:r>
            <a:r>
              <a:rPr lang="en-US" altLang="en-US" sz="1350" b="1">
                <a:solidFill>
                  <a:srgbClr val="FFFF00"/>
                </a:solidFill>
              </a:rPr>
              <a:t>ftpd </a:t>
            </a:r>
            <a:r>
              <a:rPr lang="en-US" altLang="en-US" sz="1350" b="1"/>
              <a:t>[27876]: open of pid file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/>
              <a:t>		failed: not a directory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/>
              <a:t>Dec 27 02:50:47  </a:t>
            </a:r>
            <a:r>
              <a:rPr lang="en-US" altLang="en-US" sz="1350" b="1">
                <a:solidFill>
                  <a:srgbClr val="00FF00"/>
                </a:solidFill>
              </a:rPr>
              <a:t>anchor</a:t>
            </a:r>
            <a:r>
              <a:rPr lang="en-US" altLang="en-US" sz="1350" b="1"/>
              <a:t> </a:t>
            </a:r>
            <a:r>
              <a:rPr lang="en-US" altLang="en-US" sz="1350" b="1">
                <a:solidFill>
                  <a:srgbClr val="FFFF00"/>
                </a:solidFill>
              </a:rPr>
              <a:t>vmunix</a:t>
            </a:r>
            <a:r>
              <a:rPr lang="en-US" altLang="en-US" sz="1350" b="1"/>
              <a:t>: spurious VME interrupt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/>
              <a:t>		at processor level 5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/>
              <a:t>Dec 27 02:52:17  </a:t>
            </a:r>
            <a:r>
              <a:rPr lang="en-US" altLang="en-US" sz="1350" b="1">
                <a:solidFill>
                  <a:srgbClr val="00FF00"/>
                </a:solidFill>
              </a:rPr>
              <a:t>bruno</a:t>
            </a:r>
            <a:r>
              <a:rPr lang="en-US" altLang="en-US" sz="1350" b="1"/>
              <a:t> </a:t>
            </a:r>
            <a:r>
              <a:rPr lang="en-US" altLang="en-US" sz="1350" b="1">
                <a:solidFill>
                  <a:srgbClr val="FFFF00"/>
                </a:solidFill>
              </a:rPr>
              <a:t>pingem</a:t>
            </a:r>
            <a:r>
              <a:rPr lang="en-US" altLang="en-US" sz="1350" b="1"/>
              <a:t>[107]: moose.cs.colorado.edu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/>
              <a:t>		has not answered 34 times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/>
              <a:t>Dec 27 02:55:33  </a:t>
            </a:r>
            <a:r>
              <a:rPr lang="en-US" altLang="en-US" sz="1350" b="1">
                <a:solidFill>
                  <a:srgbClr val="00FF00"/>
                </a:solidFill>
              </a:rPr>
              <a:t>bruno</a:t>
            </a:r>
            <a:r>
              <a:rPr lang="en-US" altLang="en-US" sz="1350" b="1"/>
              <a:t> </a:t>
            </a:r>
            <a:r>
              <a:rPr lang="en-US" altLang="en-US" sz="1350" b="1">
                <a:solidFill>
                  <a:srgbClr val="FFFF00"/>
                </a:solidFill>
              </a:rPr>
              <a:t>sendmail</a:t>
            </a:r>
            <a:r>
              <a:rPr lang="en-US" altLang="en-US" sz="1350" b="1"/>
              <a:t> [28040] : host name/address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b="1"/>
              <a:t>		mismatch: 192.93.110.26 != bull.bull..fr</a:t>
            </a:r>
            <a:endParaRPr lang="en-US" altLang="en-US" sz="1350"/>
          </a:p>
        </p:txBody>
      </p:sp>
    </p:spTree>
    <p:extLst>
      <p:ext uri="{BB962C8B-B14F-4D97-AF65-F5344CB8AC3E}">
        <p14:creationId xmlns:p14="http://schemas.microsoft.com/office/powerpoint/2010/main" val="3515522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Syslog ‘s functions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Liberate programmers from the tedious mechanics of writing log files</a:t>
            </a:r>
          </a:p>
          <a:p>
            <a:pPr eaLnBrk="1" hangingPunct="1"/>
            <a:r>
              <a:rPr lang="en-US" altLang="en-US"/>
              <a:t>Put SA in control of logging</a:t>
            </a:r>
          </a:p>
          <a:p>
            <a:pPr lvl="1" eaLnBrk="1" hangingPunct="1"/>
            <a:r>
              <a:rPr lang="en-US" altLang="en-US"/>
              <a:t>before syslog, SA had no control over what info was kept or where it was stored.</a:t>
            </a:r>
          </a:p>
          <a:p>
            <a:pPr eaLnBrk="1" hangingPunct="1"/>
            <a:r>
              <a:rPr lang="en-US" altLang="en-US"/>
              <a:t>Can centralize the logging for a network system</a:t>
            </a:r>
          </a:p>
        </p:txBody>
      </p:sp>
    </p:spTree>
    <p:extLst>
      <p:ext uri="{BB962C8B-B14F-4D97-AF65-F5344CB8AC3E}">
        <p14:creationId xmlns:p14="http://schemas.microsoft.com/office/powerpoint/2010/main" val="2444950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Software that uses syslog 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573685" y="1472102"/>
            <a:ext cx="8388687" cy="2896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75" dirty="0">
                <a:solidFill>
                  <a:srgbClr val="00FF00"/>
                </a:solidFill>
              </a:rPr>
              <a:t>Program	Facility			Levels			Description</a:t>
            </a:r>
            <a:endParaRPr lang="en-US" altLang="en-US" sz="1875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75" dirty="0">
                <a:solidFill>
                  <a:srgbClr val="FFFF00"/>
                </a:solidFill>
              </a:rPr>
              <a:t>named		daemon		err-info			Name sever (DNS)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75" dirty="0" err="1">
                <a:solidFill>
                  <a:srgbClr val="FFFF00"/>
                </a:solidFill>
              </a:rPr>
              <a:t>passwd</a:t>
            </a:r>
            <a:r>
              <a:rPr lang="en-US" altLang="en-US" sz="1875" dirty="0">
                <a:solidFill>
                  <a:srgbClr val="FFFF00"/>
                </a:solidFill>
              </a:rPr>
              <a:t>		</a:t>
            </a:r>
            <a:r>
              <a:rPr lang="en-US" altLang="en-US" sz="1875" dirty="0" err="1">
                <a:solidFill>
                  <a:srgbClr val="FFFF00"/>
                </a:solidFill>
              </a:rPr>
              <a:t>auth</a:t>
            </a:r>
            <a:r>
              <a:rPr lang="en-US" altLang="en-US" sz="1875" dirty="0">
                <a:solidFill>
                  <a:srgbClr val="FFFF00"/>
                </a:solidFill>
              </a:rPr>
              <a:t>			err				Password setting programs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75" dirty="0" err="1">
                <a:solidFill>
                  <a:srgbClr val="FFFF00"/>
                </a:solidFill>
              </a:rPr>
              <a:t>sendmail</a:t>
            </a:r>
            <a:r>
              <a:rPr lang="en-US" altLang="en-US" sz="1875" dirty="0">
                <a:solidFill>
                  <a:srgbClr val="FFFF00"/>
                </a:solidFill>
              </a:rPr>
              <a:t>	mail			debug-alert		Mail transport system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75" dirty="0" err="1">
                <a:solidFill>
                  <a:srgbClr val="FFFF00"/>
                </a:solidFill>
              </a:rPr>
              <a:t>rwho</a:t>
            </a:r>
            <a:r>
              <a:rPr lang="en-US" altLang="en-US" sz="1875" dirty="0">
                <a:solidFill>
                  <a:srgbClr val="FFFF00"/>
                </a:solidFill>
              </a:rPr>
              <a:t>		daemon		err-notice			remote who daemon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75" dirty="0" err="1">
                <a:solidFill>
                  <a:srgbClr val="FFFF00"/>
                </a:solidFill>
              </a:rPr>
              <a:t>su</a:t>
            </a:r>
            <a:r>
              <a:rPr lang="en-US" altLang="en-US" sz="1875" dirty="0">
                <a:solidFill>
                  <a:srgbClr val="FFFF00"/>
                </a:solidFill>
              </a:rPr>
              <a:t>			</a:t>
            </a:r>
            <a:r>
              <a:rPr lang="en-US" altLang="en-US" sz="1875" dirty="0" err="1">
                <a:solidFill>
                  <a:srgbClr val="FFFF00"/>
                </a:solidFill>
              </a:rPr>
              <a:t>auth</a:t>
            </a:r>
            <a:r>
              <a:rPr lang="en-US" altLang="en-US" sz="1875" dirty="0">
                <a:solidFill>
                  <a:srgbClr val="FFFF00"/>
                </a:solidFill>
              </a:rPr>
              <a:t>			</a:t>
            </a:r>
            <a:r>
              <a:rPr lang="en-US" altLang="en-US" sz="1875" dirty="0" err="1">
                <a:solidFill>
                  <a:srgbClr val="FFFF00"/>
                </a:solidFill>
              </a:rPr>
              <a:t>crit</a:t>
            </a:r>
            <a:r>
              <a:rPr lang="en-US" altLang="en-US" sz="1875" dirty="0">
                <a:solidFill>
                  <a:srgbClr val="FFFF00"/>
                </a:solidFill>
              </a:rPr>
              <a:t>, notice			substitute UID prog.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75" dirty="0" err="1">
                <a:solidFill>
                  <a:srgbClr val="FFFF00"/>
                </a:solidFill>
              </a:rPr>
              <a:t>sudo</a:t>
            </a:r>
            <a:r>
              <a:rPr lang="en-US" altLang="en-US" sz="1875" dirty="0">
                <a:solidFill>
                  <a:srgbClr val="FFFF00"/>
                </a:solidFill>
              </a:rPr>
              <a:t>		local2			notice, alert		Limited </a:t>
            </a:r>
            <a:r>
              <a:rPr lang="en-US" altLang="en-US" sz="1875" dirty="0" err="1">
                <a:solidFill>
                  <a:srgbClr val="FFFF00"/>
                </a:solidFill>
              </a:rPr>
              <a:t>su</a:t>
            </a:r>
            <a:r>
              <a:rPr lang="en-US" altLang="en-US" sz="1875" dirty="0">
                <a:solidFill>
                  <a:srgbClr val="FFFF00"/>
                </a:solidFill>
              </a:rPr>
              <a:t> program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75" dirty="0" err="1">
                <a:solidFill>
                  <a:srgbClr val="FFFF00"/>
                </a:solidFill>
              </a:rPr>
              <a:t>syslogd</a:t>
            </a:r>
            <a:r>
              <a:rPr lang="en-US" altLang="en-US" sz="1875" dirty="0">
                <a:solidFill>
                  <a:srgbClr val="FFFF00"/>
                </a:solidFill>
              </a:rPr>
              <a:t>		syslog, mark 	err-info	internet errors,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75" dirty="0">
                <a:solidFill>
                  <a:srgbClr val="FFFF00"/>
                </a:solidFill>
              </a:rPr>
              <a:t>					</a:t>
            </a:r>
            <a:r>
              <a:rPr lang="en-US" altLang="en-US" sz="1875">
                <a:solidFill>
                  <a:srgbClr val="FFFF00"/>
                </a:solidFill>
              </a:rPr>
              <a:t>		timestamps</a:t>
            </a:r>
            <a:endParaRPr lang="en-US" altLang="en-US" sz="135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846663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Configuration file </a:t>
            </a:r>
            <a:br>
              <a:rPr lang="en-US" altLang="en-US"/>
            </a:br>
            <a:r>
              <a:rPr lang="en-US" altLang="en-US" sz="2400"/>
              <a:t>selector</a:t>
            </a:r>
            <a:endParaRPr lang="en-US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657350" y="1428750"/>
            <a:ext cx="5829300" cy="30861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FF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Identify </a:t>
            </a:r>
          </a:p>
          <a:p>
            <a:pPr lvl="1" eaLnBrk="1" hangingPunct="1"/>
            <a:r>
              <a:rPr lang="en-US" altLang="en-US"/>
              <a:t>source -- the program (‘</a:t>
            </a:r>
            <a:r>
              <a:rPr lang="en-US" altLang="en-US">
                <a:solidFill>
                  <a:srgbClr val="00FF00"/>
                </a:solidFill>
              </a:rPr>
              <a:t>facility</a:t>
            </a:r>
            <a:r>
              <a:rPr lang="en-US" altLang="en-US"/>
              <a:t>’) that is sending a log message  </a:t>
            </a:r>
          </a:p>
          <a:p>
            <a:pPr lvl="1" eaLnBrk="1" hangingPunct="1"/>
            <a:r>
              <a:rPr lang="en-US" altLang="en-US"/>
              <a:t>importance -- the messages’s </a:t>
            </a:r>
            <a:r>
              <a:rPr lang="en-US" altLang="en-US">
                <a:solidFill>
                  <a:srgbClr val="00FF00"/>
                </a:solidFill>
              </a:rPr>
              <a:t>severity level</a:t>
            </a:r>
            <a:r>
              <a:rPr lang="en-US" altLang="en-US"/>
              <a:t>  </a:t>
            </a:r>
          </a:p>
          <a:p>
            <a:pPr lvl="1" eaLnBrk="1" hangingPunct="1"/>
            <a:r>
              <a:rPr lang="en-US" altLang="en-US"/>
              <a:t>eg. 	mail.info	/var/log/maillog</a:t>
            </a:r>
          </a:p>
          <a:p>
            <a:pPr eaLnBrk="1" hangingPunct="1"/>
            <a:r>
              <a:rPr lang="en-US" altLang="en-US"/>
              <a:t>Syntax</a:t>
            </a:r>
            <a:endParaRPr lang="en-US" altLang="en-US">
              <a:solidFill>
                <a:srgbClr val="00FF00"/>
              </a:solidFill>
            </a:endParaRPr>
          </a:p>
          <a:p>
            <a:pPr lvl="1" eaLnBrk="1" hangingPunct="1"/>
            <a:r>
              <a:rPr lang="en-US" altLang="en-US">
                <a:solidFill>
                  <a:srgbClr val="00FF00"/>
                </a:solidFill>
              </a:rPr>
              <a:t>facility.level</a:t>
            </a:r>
          </a:p>
          <a:p>
            <a:pPr lvl="1" eaLnBrk="1" hangingPunct="1"/>
            <a:r>
              <a:rPr lang="en-US" altLang="en-US"/>
              <a:t>facility names and severity levels </a:t>
            </a:r>
            <a:r>
              <a:rPr lang="en-US" altLang="en-US">
                <a:solidFill>
                  <a:srgbClr val="00FF00"/>
                </a:solidFill>
              </a:rPr>
              <a:t>must </a:t>
            </a:r>
            <a:r>
              <a:rPr lang="en-US" altLang="en-US"/>
              <a:t>chosen from a list of defined values</a:t>
            </a:r>
          </a:p>
        </p:txBody>
      </p:sp>
    </p:spTree>
    <p:extLst>
      <p:ext uri="{BB962C8B-B14F-4D97-AF65-F5344CB8AC3E}">
        <p14:creationId xmlns:p14="http://schemas.microsoft.com/office/powerpoint/2010/main" val="1570810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Configuration file </a:t>
            </a:r>
            <a:br>
              <a:rPr lang="en-US" altLang="en-US" sz="3300"/>
            </a:br>
            <a:r>
              <a:rPr lang="en-US" altLang="en-US" sz="2400"/>
              <a:t>Facility names</a:t>
            </a:r>
            <a:endParaRPr lang="en-US" altLang="en-US"/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485900" y="1428750"/>
            <a:ext cx="622935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00FF00"/>
                </a:solidFill>
              </a:rPr>
              <a:t>Facility		Programs that use it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kern			the kernel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user			User process, default if not specified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mail			The mail system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daemon		System daemons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auth			Security and authorization related 				commands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lpr			the BSD line printer spooling system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news			The Usenet news system</a:t>
            </a:r>
          </a:p>
        </p:txBody>
      </p:sp>
    </p:spTree>
    <p:extLst>
      <p:ext uri="{BB962C8B-B14F-4D97-AF65-F5344CB8AC3E}">
        <p14:creationId xmlns:p14="http://schemas.microsoft.com/office/powerpoint/2010/main" val="1039920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Configuration file </a:t>
            </a:r>
            <a:br>
              <a:rPr lang="en-US" altLang="en-US" sz="3300"/>
            </a:br>
            <a:r>
              <a:rPr lang="en-US" altLang="en-US" sz="2400"/>
              <a:t>Facility names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1339454" y="1600200"/>
            <a:ext cx="7518405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00FF00"/>
                </a:solidFill>
              </a:rPr>
              <a:t>Facility		Programs that use it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uucp			Reserved for UUCP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cron			the cron daemon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mark			Timestamps generated at regular intervals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local0-7		Eight flavors of local message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syslog			syslog internal messages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authpriv		Private or system authorization messages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ftp			the ftp daemon, ftpd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*			All facilities except “mark”</a:t>
            </a:r>
          </a:p>
        </p:txBody>
      </p:sp>
    </p:spTree>
    <p:extLst>
      <p:ext uri="{BB962C8B-B14F-4D97-AF65-F5344CB8AC3E}">
        <p14:creationId xmlns:p14="http://schemas.microsoft.com/office/powerpoint/2010/main" val="34439995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Configuration file </a:t>
            </a:r>
            <a:br>
              <a:rPr lang="en-US" altLang="en-US" sz="3300"/>
            </a:br>
            <a:r>
              <a:rPr lang="en-US" altLang="en-US" sz="2400"/>
              <a:t>Facility names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Timestamps can be used to log time at regular intervals (by default, every 20 minutes), so you can figure out that your machine crashed between 3:00 and 3:20 am, not just “sometime last night”. This can be a big help if debugging problems occur on a regular basis.</a:t>
            </a:r>
          </a:p>
        </p:txBody>
      </p:sp>
    </p:spTree>
    <p:extLst>
      <p:ext uri="{BB962C8B-B14F-4D97-AF65-F5344CB8AC3E}">
        <p14:creationId xmlns:p14="http://schemas.microsoft.com/office/powerpoint/2010/main" val="2552298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657350" y="342900"/>
            <a:ext cx="5829300" cy="8572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Configuration file </a:t>
            </a:r>
            <a:br>
              <a:rPr lang="en-US" altLang="en-US" sz="3300"/>
            </a:br>
            <a:r>
              <a:rPr lang="en-US" altLang="en-US" sz="2400"/>
              <a:t>severity level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1702594" y="1478756"/>
            <a:ext cx="6447599" cy="364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00FF00"/>
                </a:solidFill>
              </a:rPr>
              <a:t>Level				Approximate meaning</a:t>
            </a:r>
            <a:endParaRPr lang="en-US" altLang="en-US" sz="21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emerg (panic)		Panic situation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alert				Urgent situation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crit				Critical condition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err				Other error conditions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warning			Warning messages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notice				Unusual things that may need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				investigation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info				Informational messages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>
                <a:solidFill>
                  <a:srgbClr val="FFFF00"/>
                </a:solidFill>
              </a:rPr>
              <a:t>debug				For debugging</a:t>
            </a:r>
            <a:endParaRPr lang="en-US" altLang="en-US" sz="21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100"/>
          </a:p>
        </p:txBody>
      </p:sp>
      <p:sp>
        <p:nvSpPr>
          <p:cNvPr id="29700" name="Line 6"/>
          <p:cNvSpPr>
            <a:spLocks noChangeShapeType="1"/>
          </p:cNvSpPr>
          <p:nvPr/>
        </p:nvSpPr>
        <p:spPr bwMode="auto">
          <a:xfrm flipH="1">
            <a:off x="1485900" y="2114550"/>
            <a:ext cx="0" cy="2114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 sz="1350"/>
          </a:p>
        </p:txBody>
      </p:sp>
    </p:spTree>
    <p:extLst>
      <p:ext uri="{BB962C8B-B14F-4D97-AF65-F5344CB8AC3E}">
        <p14:creationId xmlns:p14="http://schemas.microsoft.com/office/powerpoint/2010/main" val="3005595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Configuration file </a:t>
            </a:r>
            <a:br>
              <a:rPr lang="en-US" altLang="en-US" sz="3300"/>
            </a:br>
            <a:r>
              <a:rPr lang="en-US" altLang="en-US" sz="2400"/>
              <a:t>selector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257180" indent="-257180" defTabSz="342905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100"/>
              <a:t>Can include multiple facilities separated with ‘</a:t>
            </a:r>
            <a:r>
              <a:rPr lang="en-US" altLang="en-US" sz="2100">
                <a:solidFill>
                  <a:srgbClr val="00FF00"/>
                </a:solidFill>
              </a:rPr>
              <a:t>,</a:t>
            </a:r>
            <a:r>
              <a:rPr lang="en-US" altLang="en-US" sz="2100"/>
              <a:t>’ commas</a:t>
            </a:r>
          </a:p>
          <a:p>
            <a:pPr marL="557222" lvl="1" indent="-214316" defTabSz="342905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/>
              <a:t>daemon,auth,mail.level	action</a:t>
            </a:r>
          </a:p>
          <a:p>
            <a:pPr marL="257180" indent="-257180" defTabSz="342905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100"/>
              <a:t>Multiple selector can be combined with ‘</a:t>
            </a:r>
            <a:r>
              <a:rPr lang="en-US" altLang="en-US" sz="2100">
                <a:solidFill>
                  <a:srgbClr val="00FF00"/>
                </a:solidFill>
              </a:rPr>
              <a:t>;</a:t>
            </a:r>
            <a:r>
              <a:rPr lang="en-US" altLang="en-US" sz="2100"/>
              <a:t>’</a:t>
            </a:r>
          </a:p>
          <a:p>
            <a:pPr marL="557222" lvl="1" indent="-214316" defTabSz="342905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/>
              <a:t>daemon.level1; mail.level2	action</a:t>
            </a:r>
          </a:p>
          <a:p>
            <a:pPr marL="257180" indent="-257180" defTabSz="342905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100"/>
              <a:t>Selector are ‘</a:t>
            </a:r>
            <a:r>
              <a:rPr lang="en-US" altLang="en-US" sz="2100">
                <a:solidFill>
                  <a:srgbClr val="00FF00"/>
                </a:solidFill>
              </a:rPr>
              <a:t>|</a:t>
            </a:r>
            <a:r>
              <a:rPr lang="en-US" altLang="en-US" sz="2100"/>
              <a:t>’ --</a:t>
            </a:r>
            <a:r>
              <a:rPr lang="en-US" altLang="en-US" sz="2100">
                <a:solidFill>
                  <a:srgbClr val="00FF00"/>
                </a:solidFill>
              </a:rPr>
              <a:t>OR</a:t>
            </a:r>
            <a:r>
              <a:rPr lang="en-US" altLang="en-US" sz="2100"/>
              <a:t>ed together, a message matching any selector will be subject to the action.</a:t>
            </a:r>
          </a:p>
          <a:p>
            <a:pPr marL="257180" indent="-257180" defTabSz="342905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100"/>
              <a:t>Can contain ‘*’ or ‘none’, meaning all or nothing.</a:t>
            </a:r>
          </a:p>
          <a:p>
            <a:pPr marL="257180" indent="-257180" defTabSz="342905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endParaRPr lang="en-US" altLang="en-US" sz="2100"/>
          </a:p>
        </p:txBody>
      </p:sp>
    </p:spTree>
    <p:extLst>
      <p:ext uri="{BB962C8B-B14F-4D97-AF65-F5344CB8AC3E}">
        <p14:creationId xmlns:p14="http://schemas.microsoft.com/office/powerpoint/2010/main" val="26438299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Configuration file </a:t>
            </a:r>
            <a:br>
              <a:rPr lang="en-US" altLang="en-US" sz="3300"/>
            </a:br>
            <a:r>
              <a:rPr lang="en-US" altLang="en-US" sz="2400"/>
              <a:t>selector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1657350" y="1428750"/>
            <a:ext cx="5829300" cy="3086100"/>
          </a:xfrm>
        </p:spPr>
        <p:txBody>
          <a:bodyPr rtlCol="0">
            <a:normAutofit/>
          </a:bodyPr>
          <a:lstStyle/>
          <a:p>
            <a:pPr marL="257180" indent="-257180" defTabSz="342905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100"/>
              <a:t>Levels indicate the </a:t>
            </a:r>
            <a:r>
              <a:rPr lang="en-US" altLang="en-US" sz="2100">
                <a:solidFill>
                  <a:srgbClr val="00FF00"/>
                </a:solidFill>
              </a:rPr>
              <a:t>minimum importance</a:t>
            </a:r>
            <a:r>
              <a:rPr lang="en-US" altLang="en-US" sz="2100"/>
              <a:t> that a message must have in order to be logged</a:t>
            </a:r>
          </a:p>
          <a:p>
            <a:pPr marL="557222" lvl="1" indent="-214316" defTabSz="342905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/>
              <a:t>mail.warning, would match all the messages from mail system, at the minimum level of warning</a:t>
            </a:r>
            <a:endParaRPr lang="en-US" altLang="en-US" sz="1800"/>
          </a:p>
          <a:p>
            <a:pPr marL="257180" indent="-257180" defTabSz="342905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100"/>
              <a:t>Level of ‘none’ will excludes the listed facilities regardless of what other selectors on the same line may say.</a:t>
            </a:r>
          </a:p>
          <a:p>
            <a:pPr marL="557222" lvl="1" indent="-214316" defTabSz="342905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/>
              <a:t>*.level1;mail.none		action </a:t>
            </a:r>
          </a:p>
          <a:p>
            <a:pPr marL="857265" lvl="2" indent="-171453" defTabSz="342905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1500"/>
              <a:t>all the facilities, except mail, at the minimum level 1 will subject to action </a:t>
            </a:r>
          </a:p>
          <a:p>
            <a:pPr marL="557222" lvl="1" indent="-214316" defTabSz="342905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endParaRPr lang="en-US" altLang="en-US" sz="1800"/>
          </a:p>
          <a:p>
            <a:pPr marL="257180" indent="-257180" defTabSz="342905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84892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5526" y="281665"/>
            <a:ext cx="6579296" cy="8572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 Configuration file </a:t>
            </a:r>
            <a:br>
              <a:rPr lang="en-US" altLang="en-US" sz="3300" dirty="0"/>
            </a:br>
            <a:r>
              <a:rPr lang="en-US" altLang="en-US" sz="2400" dirty="0"/>
              <a:t>action</a:t>
            </a:r>
          </a:p>
        </p:txBody>
      </p:sp>
      <p:sp>
        <p:nvSpPr>
          <p:cNvPr id="32771" name="Text Box 4"/>
          <p:cNvSpPr txBox="1">
            <a:spLocks noChangeArrowheads="1"/>
          </p:cNvSpPr>
          <p:nvPr/>
        </p:nvSpPr>
        <p:spPr bwMode="auto">
          <a:xfrm>
            <a:off x="2743200" y="1314450"/>
            <a:ext cx="2978701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50" i="1">
                <a:solidFill>
                  <a:srgbClr val="FFFF00"/>
                </a:solidFill>
              </a:rPr>
              <a:t>(Tells what to do with a message)</a:t>
            </a:r>
            <a:endParaRPr lang="en-US" altLang="en-US" sz="1350"/>
          </a:p>
        </p:txBody>
      </p:sp>
      <p:sp>
        <p:nvSpPr>
          <p:cNvPr id="32772" name="Text Box 5"/>
          <p:cNvSpPr txBox="1">
            <a:spLocks noChangeArrowheads="1"/>
          </p:cNvSpPr>
          <p:nvPr/>
        </p:nvSpPr>
        <p:spPr bwMode="auto">
          <a:xfrm>
            <a:off x="1260872" y="1714500"/>
            <a:ext cx="8081058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00FF00"/>
                </a:solidFill>
              </a:rPr>
              <a:t>Action			Meaning</a:t>
            </a:r>
            <a:endParaRPr lang="en-US" altLang="en-US" sz="21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FFFF00"/>
                </a:solidFill>
              </a:rPr>
              <a:t>filename		Write message to a file on the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FFFF00"/>
                </a:solidFill>
              </a:rPr>
              <a:t>			local machine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FFFF00"/>
                </a:solidFill>
              </a:rPr>
              <a:t>@hostname		Forward message  to the </a:t>
            </a:r>
            <a:r>
              <a:rPr lang="en-US" altLang="en-US" sz="2100" dirty="0" err="1">
                <a:solidFill>
                  <a:srgbClr val="FFFF00"/>
                </a:solidFill>
              </a:rPr>
              <a:t>syslogd</a:t>
            </a:r>
            <a:r>
              <a:rPr lang="en-US" altLang="en-US" sz="2100" dirty="0">
                <a:solidFill>
                  <a:srgbClr val="FFFF00"/>
                </a:solidFill>
              </a:rPr>
              <a:t> on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FFFF00"/>
                </a:solidFill>
              </a:rPr>
              <a:t>			hostname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FFFF00"/>
                </a:solidFill>
              </a:rPr>
              <a:t>@</a:t>
            </a:r>
            <a:r>
              <a:rPr lang="en-US" altLang="en-US" sz="2100" dirty="0" err="1">
                <a:solidFill>
                  <a:srgbClr val="FFFF00"/>
                </a:solidFill>
              </a:rPr>
              <a:t>ipaddress</a:t>
            </a:r>
            <a:r>
              <a:rPr lang="en-US" altLang="en-US" sz="2100" dirty="0">
                <a:solidFill>
                  <a:srgbClr val="FFFF00"/>
                </a:solidFill>
              </a:rPr>
              <a:t>		Forward message to the host at IP address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FFFF00"/>
                </a:solidFill>
              </a:rPr>
              <a:t>user1, user2,…	Write message to users’ screens if they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FFFF00"/>
                </a:solidFill>
              </a:rPr>
              <a:t>			are logged in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FFFF00"/>
                </a:solidFill>
              </a:rPr>
              <a:t>*			Write message to all users logged in</a:t>
            </a:r>
            <a:endParaRPr lang="en-US" altLang="en-US" sz="1350" dirty="0">
              <a:solidFill>
                <a:srgbClr val="FFFF00"/>
              </a:solidFill>
            </a:endParaRPr>
          </a:p>
        </p:txBody>
      </p:sp>
      <p:sp>
        <p:nvSpPr>
          <p:cNvPr id="32773" name="Text Box 6"/>
          <p:cNvSpPr txBox="1">
            <a:spLocks noChangeArrowheads="1"/>
          </p:cNvSpPr>
          <p:nvPr/>
        </p:nvSpPr>
        <p:spPr bwMode="auto">
          <a:xfrm>
            <a:off x="2331244" y="467916"/>
            <a:ext cx="184731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br>
              <a:rPr lang="en-US" altLang="en-US" sz="1500"/>
            </a:br>
            <a:endParaRPr lang="en-US" altLang="en-US" sz="1050"/>
          </a:p>
        </p:txBody>
      </p:sp>
    </p:spTree>
    <p:extLst>
      <p:ext uri="{BB962C8B-B14F-4D97-AF65-F5344CB8AC3E}">
        <p14:creationId xmlns:p14="http://schemas.microsoft.com/office/powerpoint/2010/main" val="14456658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657350" y="285750"/>
            <a:ext cx="5829300" cy="8572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Configuration file </a:t>
            </a:r>
            <a:br>
              <a:rPr lang="en-US" altLang="en-US" sz="3300"/>
            </a:br>
            <a:r>
              <a:rPr lang="en-US" altLang="en-US" sz="2400"/>
              <a:t>action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257180" indent="-257180" defTabSz="342905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100"/>
              <a:t>If a filename action used, the filename must be </a:t>
            </a:r>
            <a:r>
              <a:rPr lang="en-US" altLang="en-US" sz="2100">
                <a:solidFill>
                  <a:srgbClr val="00FF00"/>
                </a:solidFill>
              </a:rPr>
              <a:t>absolute path</a:t>
            </a:r>
            <a:r>
              <a:rPr lang="en-US" altLang="en-US" sz="2100"/>
              <a:t>. The file must </a:t>
            </a:r>
            <a:r>
              <a:rPr lang="en-US" altLang="en-US" sz="2100">
                <a:solidFill>
                  <a:srgbClr val="00FF00"/>
                </a:solidFill>
              </a:rPr>
              <a:t>exist</a:t>
            </a:r>
            <a:r>
              <a:rPr lang="en-US" altLang="en-US" sz="2100"/>
              <a:t>, syslogd will not create it.</a:t>
            </a:r>
          </a:p>
          <a:p>
            <a:pPr marL="557222" lvl="1" indent="-214316" defTabSz="342905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/>
              <a:t>/var/log/messages</a:t>
            </a:r>
          </a:p>
          <a:p>
            <a:pPr marL="257180" indent="-257180" defTabSz="342905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100"/>
              <a:t>If a hostname is used, it must be resolved via a translation mechanism such as DNS or NIS</a:t>
            </a:r>
          </a:p>
          <a:p>
            <a:pPr marL="257180" indent="-257180" defTabSz="342905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en-US" altLang="en-US" sz="2100"/>
              <a:t>While multiple facilities and levels are allowed in a selector, </a:t>
            </a:r>
            <a:r>
              <a:rPr lang="en-US" altLang="en-US" sz="2100">
                <a:solidFill>
                  <a:srgbClr val="00FF00"/>
                </a:solidFill>
              </a:rPr>
              <a:t>multiple actions are not allowed</a:t>
            </a:r>
            <a:r>
              <a:rPr lang="en-US" altLang="en-US" sz="2100"/>
              <a:t>.</a:t>
            </a:r>
          </a:p>
          <a:p>
            <a:pPr marL="257180" indent="-257180" defTabSz="342905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203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Final words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1657350" y="1428750"/>
            <a:ext cx="5829300" cy="3086100"/>
          </a:xfrm>
        </p:spPr>
        <p:txBody>
          <a:bodyPr/>
          <a:lstStyle/>
          <a:p>
            <a:pPr eaLnBrk="1" hangingPunct="1"/>
            <a:r>
              <a:rPr lang="en-US" altLang="en-US"/>
              <a:t>On linux, check following files:</a:t>
            </a:r>
          </a:p>
          <a:p>
            <a:pPr lvl="1" eaLnBrk="1" hangingPunct="1"/>
            <a:r>
              <a:rPr lang="en-US" altLang="en-US">
                <a:solidFill>
                  <a:srgbClr val="00FF00"/>
                </a:solidFill>
              </a:rPr>
              <a:t>/etc/rsyslog.conf</a:t>
            </a:r>
            <a:r>
              <a:rPr lang="en-US" altLang="en-US"/>
              <a:t> : syslog configuration file</a:t>
            </a:r>
          </a:p>
          <a:p>
            <a:pPr lvl="1" eaLnBrk="1" hangingPunct="1"/>
            <a:r>
              <a:rPr lang="en-US" altLang="en-US">
                <a:solidFill>
                  <a:srgbClr val="00FF00"/>
                </a:solidFill>
              </a:rPr>
              <a:t>/etc/logrotate.conf</a:t>
            </a:r>
            <a:r>
              <a:rPr lang="en-US" altLang="en-US"/>
              <a:t> : logging policy, rotate</a:t>
            </a:r>
          </a:p>
          <a:p>
            <a:pPr lvl="1" eaLnBrk="1" hangingPunct="1"/>
            <a:r>
              <a:rPr lang="en-US" altLang="en-US">
                <a:solidFill>
                  <a:srgbClr val="00FF00"/>
                </a:solidFill>
              </a:rPr>
              <a:t>/etc/logrotate.d/*</a:t>
            </a:r>
            <a:endParaRPr lang="en-US" altLang="en-US"/>
          </a:p>
          <a:p>
            <a:pPr lvl="1" eaLnBrk="1" hangingPunct="1"/>
            <a:r>
              <a:rPr lang="en-US" altLang="en-US">
                <a:solidFill>
                  <a:srgbClr val="00FF00"/>
                </a:solidFill>
              </a:rPr>
              <a:t>/var/log/*</a:t>
            </a:r>
            <a:r>
              <a:rPr lang="en-US" altLang="en-US"/>
              <a:t> : log files</a:t>
            </a:r>
          </a:p>
          <a:p>
            <a:pPr eaLnBrk="1" hangingPunct="1"/>
            <a:r>
              <a:rPr lang="en-US" altLang="en-US"/>
              <a:t>try following commands to find out more...</a:t>
            </a:r>
          </a:p>
          <a:p>
            <a:pPr lvl="1" eaLnBrk="1" hangingPunct="1"/>
            <a:r>
              <a:rPr lang="en-US" altLang="en-US">
                <a:solidFill>
                  <a:srgbClr val="00FF00"/>
                </a:solidFill>
              </a:rPr>
              <a:t>man logrotate</a:t>
            </a:r>
            <a:endParaRPr lang="en-US" altLang="en-US"/>
          </a:p>
          <a:p>
            <a:pPr lvl="1" eaLnBrk="1" hangingPunct="1"/>
            <a:r>
              <a:rPr lang="en-US" altLang="en-US">
                <a:solidFill>
                  <a:srgbClr val="00FF00"/>
                </a:solidFill>
              </a:rPr>
              <a:t>man syslogd</a:t>
            </a:r>
            <a:endParaRPr lang="en-US" altLang="en-US"/>
          </a:p>
          <a:p>
            <a:pPr lvl="1"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6890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Security Information and Event Management (SIEM)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>
          <a:xfrm>
            <a:off x="484583" y="1538530"/>
            <a:ext cx="3067247" cy="3006176"/>
          </a:xfrm>
        </p:spPr>
        <p:txBody>
          <a:bodyPr/>
          <a:lstStyle/>
          <a:p>
            <a:r>
              <a:rPr lang="en-SG" dirty="0"/>
              <a:t>What is SIEM</a:t>
            </a:r>
          </a:p>
          <a:p>
            <a:pPr lvl="1"/>
            <a:r>
              <a:rPr lang="en-SG" dirty="0"/>
              <a:t>combine security information management (SIM) and security event management (SEM). They provide real-time analysis of security alerts generated by network hardware and applications.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SG"/>
          </a:p>
        </p:txBody>
      </p:sp>
      <p:pic>
        <p:nvPicPr>
          <p:cNvPr id="6" name="Picture 5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555" y="1490264"/>
            <a:ext cx="4848823" cy="324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151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Artificial Intelligence and SIEM</a:t>
            </a:r>
          </a:p>
        </p:txBody>
      </p:sp>
      <p:pic>
        <p:nvPicPr>
          <p:cNvPr id="7" name="Picture 6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58" y="519523"/>
            <a:ext cx="7578347" cy="395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476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THE END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5306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200</TotalTime>
  <Words>1287</Words>
  <Application>Microsoft Office PowerPoint</Application>
  <PresentationFormat>On-screen Show (16:9)</PresentationFormat>
  <Paragraphs>256</Paragraphs>
  <Slides>35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Courier New</vt:lpstr>
      <vt:lpstr>Century Gothic</vt:lpstr>
      <vt:lpstr>Calibri Light</vt:lpstr>
      <vt:lpstr>Calibri</vt:lpstr>
      <vt:lpstr>Arial</vt:lpstr>
      <vt:lpstr>Wingdings 3</vt:lpstr>
      <vt:lpstr>Celestial</vt:lpstr>
      <vt:lpstr>IT2757 Server and Services Security Management - SYS LOG</vt:lpstr>
      <vt:lpstr>Outline</vt:lpstr>
      <vt:lpstr>What to be logged?</vt:lpstr>
      <vt:lpstr>Logging policies</vt:lpstr>
      <vt:lpstr>Which one to choose</vt:lpstr>
      <vt:lpstr>Throwing away log files</vt:lpstr>
      <vt:lpstr> Throwing away (cont.)</vt:lpstr>
      <vt:lpstr>Rotating log files</vt:lpstr>
      <vt:lpstr>PowerPoint Presentation</vt:lpstr>
      <vt:lpstr>PowerPoint Presentation</vt:lpstr>
      <vt:lpstr>Archiving log files</vt:lpstr>
      <vt:lpstr>Finding log files</vt:lpstr>
      <vt:lpstr> Finding log files</vt:lpstr>
      <vt:lpstr>What is syslog</vt:lpstr>
      <vt:lpstr>Syslog: three parts</vt:lpstr>
      <vt:lpstr>PowerPoint Presentation</vt:lpstr>
      <vt:lpstr>Configuring syslogd</vt:lpstr>
      <vt:lpstr>Config file examples</vt:lpstr>
      <vt:lpstr>PowerPoint Presentation</vt:lpstr>
      <vt:lpstr>Sample syslog output</vt:lpstr>
      <vt:lpstr>Syslog ‘s functions</vt:lpstr>
      <vt:lpstr>Software that uses syslog </vt:lpstr>
      <vt:lpstr>Configuration file  selector</vt:lpstr>
      <vt:lpstr>Configuration file  Facility names</vt:lpstr>
      <vt:lpstr>Configuration file  Facility names</vt:lpstr>
      <vt:lpstr>Configuration file  Facility names</vt:lpstr>
      <vt:lpstr>Configuration file  severity level</vt:lpstr>
      <vt:lpstr> Configuration file  selector</vt:lpstr>
      <vt:lpstr> Configuration file  selector</vt:lpstr>
      <vt:lpstr> Configuration file  action</vt:lpstr>
      <vt:lpstr>Configuration file  action</vt:lpstr>
      <vt:lpstr>Final words</vt:lpstr>
      <vt:lpstr>Security Information and Event Management (SIEM)</vt:lpstr>
      <vt:lpstr>Artificial Intelligence and SIEM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LAM SIMON</dc:creator>
  <cp:lastModifiedBy>LAM SIMON</cp:lastModifiedBy>
  <cp:revision>34</cp:revision>
  <dcterms:modified xsi:type="dcterms:W3CDTF">2018-07-17T04:38:52Z</dcterms:modified>
</cp:coreProperties>
</file>