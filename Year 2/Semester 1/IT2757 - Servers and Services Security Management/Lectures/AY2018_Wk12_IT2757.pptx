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0"/>
  </p:notesMasterIdLst>
  <p:sldIdLst>
    <p:sldId id="256" r:id="rId2"/>
    <p:sldId id="322" r:id="rId3"/>
    <p:sldId id="323" r:id="rId4"/>
    <p:sldId id="324"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288" r:id="rId29"/>
  </p:sldIdLst>
  <p:sldSz cx="9144000" cy="5143500" type="screen16x9"/>
  <p:notesSz cx="6858000" cy="9144000"/>
  <p:embeddedFontLst>
    <p:embeddedFont>
      <p:font typeface="Calibri Light" panose="020F0302020204030204" pitchFamily="34" charset="0"/>
      <p:regular r:id="rId31"/>
      <p:italic r:id="rId32"/>
    </p:embeddedFont>
    <p:embeddedFont>
      <p:font typeface="Calibri" panose="020F0502020204030204" pitchFamily="34"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9E63B6-08C8-4444-B43B-6137E374DB1E}">
  <a:tblStyle styleId="{129E63B6-08C8-4444-B43B-6137E374DB1E}"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33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944722184"/>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Trojan_horse_(computing)"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en.wikipedia.org/wiki/Chmod" TargetMode="External"/><Relationship Id="rId4" Type="http://schemas.openxmlformats.org/officeDocument/2006/relationships/hyperlink" Target="http://en.wikipedia.org/wiki/Chroo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94314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While this </a:t>
            </a:r>
            <a:r>
              <a:rPr lang="en-US" dirty="0" err="1" smtClean="0"/>
              <a:t>setuid</a:t>
            </a:r>
            <a:r>
              <a:rPr lang="en-US" dirty="0" smtClean="0"/>
              <a:t> feature is very useful in many cases, it can pose a security risk if the </a:t>
            </a:r>
            <a:r>
              <a:rPr lang="en-US" dirty="0" err="1" smtClean="0"/>
              <a:t>setuid</a:t>
            </a:r>
            <a:r>
              <a:rPr lang="en-US" dirty="0" smtClean="0"/>
              <a:t> attribute is assigned to executable programs that are not carefully designed. Users can exploit vulnerabilities in flawed programs to gain permanent elevated privileges, or unintentionally execute a </a:t>
            </a:r>
            <a:r>
              <a:rPr lang="en-US" dirty="0" err="1" smtClean="0">
                <a:hlinkClick r:id="rId3" action="ppaction://hlinkfile" tooltip="Trojan horse (computing)"/>
              </a:rPr>
              <a:t>trojan</a:t>
            </a:r>
            <a:r>
              <a:rPr lang="en-US" dirty="0" smtClean="0">
                <a:hlinkClick r:id="rId3" action="ppaction://hlinkfile" tooltip="Trojan horse (computing)"/>
              </a:rPr>
              <a:t> horse</a:t>
            </a:r>
            <a:r>
              <a:rPr lang="en-US" dirty="0" smtClean="0"/>
              <a:t> program.</a:t>
            </a:r>
          </a:p>
          <a:p>
            <a:r>
              <a:rPr lang="en-US" dirty="0" smtClean="0"/>
              <a:t>The presence of </a:t>
            </a:r>
            <a:r>
              <a:rPr lang="en-US" dirty="0" err="1" smtClean="0"/>
              <a:t>setuid</a:t>
            </a:r>
            <a:r>
              <a:rPr lang="en-US" dirty="0" smtClean="0"/>
              <a:t> </a:t>
            </a:r>
            <a:r>
              <a:rPr lang="en-US" dirty="0" err="1" smtClean="0"/>
              <a:t>executables</a:t>
            </a:r>
            <a:r>
              <a:rPr lang="en-US" dirty="0" smtClean="0"/>
              <a:t> justifies the fact that the </a:t>
            </a:r>
            <a:r>
              <a:rPr lang="en-US" dirty="0" err="1" smtClean="0">
                <a:hlinkClick r:id="rId4" action="ppaction://hlinkfile" tooltip="Chroot"/>
              </a:rPr>
              <a:t>chroot</a:t>
            </a:r>
            <a:r>
              <a:rPr lang="en-US" dirty="0" smtClean="0"/>
              <a:t> system call is not available to non-root users on Unix. See limitations of </a:t>
            </a:r>
            <a:r>
              <a:rPr lang="en-US" dirty="0" err="1" smtClean="0"/>
              <a:t>chroot</a:t>
            </a:r>
            <a:r>
              <a:rPr lang="en-US" dirty="0" smtClean="0"/>
              <a:t> for more details.</a:t>
            </a:r>
          </a:p>
          <a:p>
            <a:r>
              <a:rPr lang="en-US" dirty="0" smtClean="0"/>
              <a:t>The </a:t>
            </a:r>
            <a:r>
              <a:rPr lang="en-US" dirty="0" err="1" smtClean="0"/>
              <a:t>setuid</a:t>
            </a:r>
            <a:r>
              <a:rPr lang="en-US" dirty="0" smtClean="0"/>
              <a:t> and </a:t>
            </a:r>
            <a:r>
              <a:rPr lang="en-US" dirty="0" err="1" smtClean="0"/>
              <a:t>setgid</a:t>
            </a:r>
            <a:r>
              <a:rPr lang="en-US" dirty="0" smtClean="0"/>
              <a:t> bits are normally set with the command </a:t>
            </a:r>
            <a:r>
              <a:rPr lang="en-US" dirty="0" err="1" smtClean="0">
                <a:hlinkClick r:id="rId5" action="ppaction://hlinkfile" tooltip="Chmod"/>
              </a:rPr>
              <a:t>chmod</a:t>
            </a:r>
            <a:r>
              <a:rPr lang="en-US" dirty="0" smtClean="0"/>
              <a:t> by setting the high-order octet to 4 (for </a:t>
            </a:r>
            <a:r>
              <a:rPr lang="en-US" dirty="0" err="1" smtClean="0"/>
              <a:t>setuid</a:t>
            </a:r>
            <a:r>
              <a:rPr lang="en-US" dirty="0" smtClean="0"/>
              <a:t>) or 2 (for </a:t>
            </a:r>
            <a:r>
              <a:rPr lang="en-US" dirty="0" err="1" smtClean="0"/>
              <a:t>setgid</a:t>
            </a:r>
            <a:r>
              <a:rPr lang="en-US" dirty="0" smtClean="0"/>
              <a:t>). `</a:t>
            </a:r>
            <a:r>
              <a:rPr lang="en-US" dirty="0" err="1" smtClean="0"/>
              <a:t>chmod</a:t>
            </a:r>
            <a:r>
              <a:rPr lang="en-US" dirty="0" smtClean="0"/>
              <a:t> 6711` will set the </a:t>
            </a:r>
            <a:r>
              <a:rPr lang="en-US" dirty="0" err="1" smtClean="0"/>
              <a:t>setuid</a:t>
            </a:r>
            <a:r>
              <a:rPr lang="en-US" dirty="0" smtClean="0"/>
              <a:t> and </a:t>
            </a:r>
            <a:r>
              <a:rPr lang="en-US" dirty="0" err="1" smtClean="0"/>
              <a:t>setgid</a:t>
            </a:r>
            <a:r>
              <a:rPr lang="en-US" dirty="0" smtClean="0"/>
              <a:t> bit (6) make the file read/write/executable for the owner (7) and executable by the group (first 1) and others (second 1). All </a:t>
            </a:r>
            <a:r>
              <a:rPr lang="en-US" dirty="0" err="1" smtClean="0"/>
              <a:t>chmod</a:t>
            </a:r>
            <a:r>
              <a:rPr lang="en-US" dirty="0" smtClean="0"/>
              <a:t> flags are octal, and the least significant bit of the high-order octet is used for a special mode known as the sticky bit.</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156F8D26-0B25-43F4-A055-B8DE8415D08A}" type="slidenum">
              <a:rPr lang="en-SG" smtClean="0"/>
              <a:t>11</a:t>
            </a:fld>
            <a:endParaRPr lang="en-SG"/>
          </a:p>
        </p:txBody>
      </p:sp>
    </p:spTree>
    <p:extLst>
      <p:ext uri="{BB962C8B-B14F-4D97-AF65-F5344CB8AC3E}">
        <p14:creationId xmlns:p14="http://schemas.microsoft.com/office/powerpoint/2010/main" val="17502289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971799" y="1473200"/>
            <a:ext cx="5398295" cy="1816098"/>
          </a:xfrm>
        </p:spPr>
        <p:txBody>
          <a:bodyPr anchor="b">
            <a:normAutofit/>
          </a:bodyPr>
          <a:lstStyle>
            <a:lvl1pPr algn="r">
              <a:defRPr sz="36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71799" y="3289300"/>
            <a:ext cx="5398295" cy="1054100"/>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699419" y="4402932"/>
            <a:ext cx="1200150" cy="283369"/>
          </a:xfrm>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a:xfrm>
            <a:off x="2971799" y="4402932"/>
            <a:ext cx="3670469" cy="283369"/>
          </a:xfrm>
        </p:spPr>
        <p:txBody>
          <a:bodyPr/>
          <a:lstStyle/>
          <a:p>
            <a:endParaRPr lang="en-US" dirty="0"/>
          </a:p>
        </p:txBody>
      </p:sp>
      <p:sp>
        <p:nvSpPr>
          <p:cNvPr id="6" name="Slide Number Placeholder 5"/>
          <p:cNvSpPr>
            <a:spLocks noGrp="1"/>
          </p:cNvSpPr>
          <p:nvPr>
            <p:ph type="sldNum" sz="quarter" idx="12"/>
          </p:nvPr>
        </p:nvSpPr>
        <p:spPr>
          <a:xfrm>
            <a:off x="7956719" y="4402932"/>
            <a:ext cx="413375" cy="28336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1565128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70599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2481436"/>
            <a:ext cx="7598570" cy="1101600"/>
          </a:xfrm>
        </p:spPr>
        <p:txBody>
          <a:bodyPr anchor="b"/>
          <a:lstStyle>
            <a:lvl1pPr algn="l">
              <a:defRPr sz="3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49" y="3583036"/>
            <a:ext cx="7598571" cy="6453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832844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1606550"/>
            <a:ext cx="3746501" cy="273685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366421" y="1606551"/>
            <a:ext cx="3746499" cy="273685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3411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252" y="1663700"/>
            <a:ext cx="3531791"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514351" y="2152651"/>
            <a:ext cx="3747692" cy="219074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572003" y="1670050"/>
            <a:ext cx="35421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367612" y="2152651"/>
            <a:ext cx="3746501" cy="219074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973141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963308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94335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555750"/>
            <a:ext cx="2760664" cy="1028700"/>
          </a:xfrm>
        </p:spPr>
        <p:txBody>
          <a:bodyPr anchor="b">
            <a:normAutofit/>
          </a:bodyPr>
          <a:lstStyle>
            <a:lvl1pPr algn="l">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3486151" y="457201"/>
            <a:ext cx="4626770" cy="38862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4350" y="2584450"/>
            <a:ext cx="2760664" cy="13716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1A9C2FF7-FDD2-4C4E-9C39-E1165898CA2B}" type="datetime1">
              <a:rPr lang="en-US" smtClean="0">
                <a:solidFill>
                  <a:srgbClr val="696464"/>
                </a:solidFill>
              </a:rPr>
              <a:pPr/>
              <a:t>4/6/2018</a:t>
            </a:fld>
            <a:endParaRPr lang="en-US">
              <a:solidFill>
                <a:srgbClr val="696464"/>
              </a:solidFill>
            </a:endParaRPr>
          </a:p>
        </p:txBody>
      </p:sp>
      <p:sp>
        <p:nvSpPr>
          <p:cNvPr id="6" name="Footer Placeholder 5"/>
          <p:cNvSpPr>
            <a:spLocks noGrp="1"/>
          </p:cNvSpPr>
          <p:nvPr>
            <p:ph type="ftr" sz="quarter" idx="11"/>
          </p:nvPr>
        </p:nvSpPr>
        <p:spPr/>
        <p:txBody>
          <a:bodyPr/>
          <a:lstStyle/>
          <a:p>
            <a:r>
              <a:rPr lang="en-US" smtClean="0">
                <a:solidFill>
                  <a:srgbClr val="696464"/>
                </a:solidFill>
              </a:rPr>
              <a:t>IT2533 Lecture</a:t>
            </a:r>
            <a:endParaRPr lang="en-US" dirty="0">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6546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200150"/>
            <a:ext cx="4623490" cy="1028700"/>
          </a:xfrm>
        </p:spPr>
        <p:txBody>
          <a:bodyPr anchor="b">
            <a:normAutofit/>
          </a:bodyPr>
          <a:lstStyle>
            <a:lvl1pPr algn="l">
              <a:defRPr sz="21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2190" y="685800"/>
            <a:ext cx="2460731" cy="3429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14350" y="2228850"/>
            <a:ext cx="4623490" cy="13716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73793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3549649"/>
            <a:ext cx="7598570" cy="425054"/>
          </a:xfrm>
        </p:spPr>
        <p:txBody>
          <a:bodyPr anchor="b">
            <a:normAutofit/>
          </a:bodyPr>
          <a:lstStyle>
            <a:lvl1pPr algn="l">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699084"/>
            <a:ext cx="6569870" cy="23737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514351" y="3974702"/>
            <a:ext cx="7598570" cy="3702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68385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343149"/>
          </a:xfrm>
        </p:spPr>
        <p:txBody>
          <a:bodyPr anchor="ctr">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3257550"/>
            <a:ext cx="7598571"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4468061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5" name="TextBox 14"/>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1" name="TextBox 10"/>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2"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823406" y="2514600"/>
            <a:ext cx="7004388"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Edit Master text styles</a:t>
            </a:r>
          </a:p>
        </p:txBody>
      </p:sp>
      <p:sp>
        <p:nvSpPr>
          <p:cNvPr id="3" name="Text Placeholder 2"/>
          <p:cNvSpPr>
            <a:spLocks noGrp="1"/>
          </p:cNvSpPr>
          <p:nvPr>
            <p:ph type="body" idx="1"/>
          </p:nvPr>
        </p:nvSpPr>
        <p:spPr>
          <a:xfrm>
            <a:off x="515599" y="3257550"/>
            <a:ext cx="7614275"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331867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2" y="2481436"/>
            <a:ext cx="7598569"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1" y="3583036"/>
            <a:ext cx="7598570"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545288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3" name="TextBox 12"/>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4" name="TextBox 13"/>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16"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0" y="2914650"/>
            <a:ext cx="7601577" cy="66675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14349" y="3581400"/>
            <a:ext cx="7601577" cy="762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798750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0573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14351" y="2628900"/>
            <a:ext cx="7598571"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514350" y="3257550"/>
            <a:ext cx="7598571"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85088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514351" y="457201"/>
            <a:ext cx="7598569" cy="1092200"/>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744002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Vertical Title 1"/>
          <p:cNvSpPr>
            <a:spLocks noGrp="1"/>
          </p:cNvSpPr>
          <p:nvPr>
            <p:ph type="title" orient="vert"/>
          </p:nvPr>
        </p:nvSpPr>
        <p:spPr>
          <a:xfrm>
            <a:off x="6494006" y="457200"/>
            <a:ext cx="1618914" cy="38862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457200"/>
            <a:ext cx="5874087" cy="38862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4/6/2018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805897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8"/>
        <p:cNvGrpSpPr/>
        <p:nvPr/>
      </p:nvGrpSpPr>
      <p:grpSpPr>
        <a:xfrm>
          <a:off x="0" y="0"/>
          <a:ext cx="0" cy="0"/>
          <a:chOff x="0" y="0"/>
          <a:chExt cx="0" cy="0"/>
        </a:xfrm>
      </p:grpSpPr>
      <p:sp>
        <p:nvSpPr>
          <p:cNvPr id="14" name="Shape 14"/>
          <p:cNvSpPr txBox="1">
            <a:spLocks noGrp="1"/>
          </p:cNvSpPr>
          <p:nvPr>
            <p:ph type="ctrTitle"/>
          </p:nvPr>
        </p:nvSpPr>
        <p:spPr>
          <a:xfrm>
            <a:off x="685800" y="2601425"/>
            <a:ext cx="5810400" cy="1159799"/>
          </a:xfrm>
          <a:prstGeom prst="rect">
            <a:avLst/>
          </a:prstGeom>
        </p:spPr>
        <p:txBody>
          <a:bodyPr lIns="91425" tIns="91425" rIns="91425" bIns="91425" anchor="b" anchorCtr="0"/>
          <a:lstStyle>
            <a:lvl1pPr lvl="0">
              <a:spcBef>
                <a:spcPts val="0"/>
              </a:spcBef>
              <a:buSzPct val="100000"/>
              <a:defRPr sz="4800"/>
            </a:lvl1pPr>
            <a:lvl2pPr lvl="1" algn="ctr">
              <a:spcBef>
                <a:spcPts val="0"/>
              </a:spcBef>
              <a:buSzPct val="100000"/>
              <a:defRPr sz="6000"/>
            </a:lvl2pPr>
            <a:lvl3pPr lvl="2" algn="ctr">
              <a:spcBef>
                <a:spcPts val="0"/>
              </a:spcBef>
              <a:buSzPct val="100000"/>
              <a:defRPr sz="6000"/>
            </a:lvl3pPr>
            <a:lvl4pPr lvl="3" algn="ctr">
              <a:spcBef>
                <a:spcPts val="0"/>
              </a:spcBef>
              <a:buSzPct val="100000"/>
              <a:defRPr sz="6000"/>
            </a:lvl4pPr>
            <a:lvl5pPr lvl="4" algn="ctr">
              <a:spcBef>
                <a:spcPts val="0"/>
              </a:spcBef>
              <a:buSzPct val="100000"/>
              <a:defRPr sz="6000"/>
            </a:lvl5pPr>
            <a:lvl6pPr lvl="5" algn="ctr">
              <a:spcBef>
                <a:spcPts val="0"/>
              </a:spcBef>
              <a:buSzPct val="100000"/>
              <a:defRPr sz="6000"/>
            </a:lvl6pPr>
            <a:lvl7pPr lvl="6" algn="ctr">
              <a:spcBef>
                <a:spcPts val="0"/>
              </a:spcBef>
              <a:buSzPct val="100000"/>
              <a:defRPr sz="6000"/>
            </a:lvl7pPr>
            <a:lvl8pPr lvl="7" algn="ctr">
              <a:spcBef>
                <a:spcPts val="0"/>
              </a:spcBef>
              <a:buSzPct val="100000"/>
              <a:defRPr sz="6000"/>
            </a:lvl8pPr>
            <a:lvl9pPr lvl="8" algn="ctr">
              <a:spcBef>
                <a:spcPts val="0"/>
              </a:spcBef>
              <a:buSzPct val="100000"/>
              <a:defRPr sz="6000"/>
            </a:lvl9pPr>
          </a:lstStyle>
          <a:p>
            <a:endParaRPr/>
          </a:p>
        </p:txBody>
      </p:sp>
    </p:spTree>
    <p:extLst>
      <p:ext uri="{BB962C8B-B14F-4D97-AF65-F5344CB8AC3E}">
        <p14:creationId xmlns:p14="http://schemas.microsoft.com/office/powerpoint/2010/main" val="147378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1" y="457201"/>
            <a:ext cx="7598569" cy="1092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1" y="1606551"/>
            <a:ext cx="7598569" cy="2736850"/>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42245" y="4402932"/>
            <a:ext cx="1200150"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dirty="0"/>
              <a:pPr/>
              <a:t>4/6/2018</a:t>
            </a:fld>
            <a:endParaRPr lang="en-US" dirty="0"/>
          </a:p>
        </p:txBody>
      </p:sp>
      <p:sp>
        <p:nvSpPr>
          <p:cNvPr id="5" name="Footer Placeholder 4"/>
          <p:cNvSpPr>
            <a:spLocks noGrp="1"/>
          </p:cNvSpPr>
          <p:nvPr>
            <p:ph type="ftr" sz="quarter" idx="3"/>
          </p:nvPr>
        </p:nvSpPr>
        <p:spPr>
          <a:xfrm>
            <a:off x="514351" y="4402932"/>
            <a:ext cx="5870744" cy="283369"/>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699546" y="4402932"/>
            <a:ext cx="413375"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53195078"/>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n.wikipedia.org/wiki/Executable" TargetMode="External"/><Relationship Id="rId2" Type="http://schemas.openxmlformats.org/officeDocument/2006/relationships/hyperlink" Target="http://en.wikipedia.org/wiki/Uni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en.wikipedia.org/wiki/Chmo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ctrTitle"/>
          </p:nvPr>
        </p:nvSpPr>
        <p:spPr>
          <a:xfrm>
            <a:off x="753266" y="2223754"/>
            <a:ext cx="7924800" cy="1159799"/>
          </a:xfrm>
          <a:prstGeom prst="rect">
            <a:avLst/>
          </a:prstGeom>
        </p:spPr>
        <p:txBody>
          <a:bodyPr lIns="91425" tIns="91425" rIns="91425" bIns="91425" anchor="b" anchorCtr="0">
            <a:noAutofit/>
          </a:bodyPr>
          <a:lstStyle/>
          <a:p>
            <a:pPr lvl="0">
              <a:spcBef>
                <a:spcPts val="0"/>
              </a:spcBef>
              <a:buNone/>
            </a:pPr>
            <a:r>
              <a:rPr lang="en" sz="2400" dirty="0" smtClean="0"/>
              <a:t>IT2757</a:t>
            </a:r>
            <a:br>
              <a:rPr lang="en" sz="2400" dirty="0" smtClean="0"/>
            </a:br>
            <a:r>
              <a:rPr lang="en" sz="2400" dirty="0" smtClean="0"/>
              <a:t>Server and Services Security Management</a:t>
            </a:r>
            <a:br>
              <a:rPr lang="en" sz="2400" dirty="0" smtClean="0"/>
            </a:br>
            <a:r>
              <a:rPr lang="en" sz="2400" dirty="0" smtClean="0"/>
              <a:t>- </a:t>
            </a:r>
            <a:r>
              <a:rPr lang="en" sz="2400" dirty="0" smtClean="0"/>
              <a:t>LINUX ACL and FILE COLLABORATION</a:t>
            </a:r>
            <a:endParaRPr lang="en" sz="2400" dirty="0"/>
          </a:p>
        </p:txBody>
      </p:sp>
      <p:grpSp>
        <p:nvGrpSpPr>
          <p:cNvPr id="99" name="Shape 99"/>
          <p:cNvGrpSpPr/>
          <p:nvPr/>
        </p:nvGrpSpPr>
        <p:grpSpPr>
          <a:xfrm>
            <a:off x="753266" y="1029785"/>
            <a:ext cx="964540" cy="1011306"/>
            <a:chOff x="5961125" y="1623900"/>
            <a:chExt cx="427450" cy="448175"/>
          </a:xfrm>
        </p:grpSpPr>
        <p:sp>
          <p:nvSpPr>
            <p:cNvPr id="100" name="Shape 100"/>
            <p:cNvSpPr/>
            <p:nvPr/>
          </p:nvSpPr>
          <p:spPr>
            <a:xfrm>
              <a:off x="5961125" y="1678700"/>
              <a:ext cx="376925" cy="376925"/>
            </a:xfrm>
            <a:custGeom>
              <a:avLst/>
              <a:gdLst/>
              <a:ahLst/>
              <a:cxnLst/>
              <a:rect l="0" t="0" r="0" b="0"/>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1" name="Shape 101"/>
            <p:cNvSpPr/>
            <p:nvPr/>
          </p:nvSpPr>
          <p:spPr>
            <a:xfrm>
              <a:off x="6009825" y="1727425"/>
              <a:ext cx="279500" cy="279500"/>
            </a:xfrm>
            <a:custGeom>
              <a:avLst/>
              <a:gdLst/>
              <a:ahLst/>
              <a:cxnLst/>
              <a:rect l="0" t="0" r="0" b="0"/>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2" name="Shape 102"/>
            <p:cNvSpPr/>
            <p:nvPr/>
          </p:nvSpPr>
          <p:spPr>
            <a:xfrm>
              <a:off x="6107250" y="1824850"/>
              <a:ext cx="84650" cy="84650"/>
            </a:xfrm>
            <a:custGeom>
              <a:avLst/>
              <a:gdLst/>
              <a:ahLst/>
              <a:cxnLst/>
              <a:rect l="0" t="0" r="0" b="0"/>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3" name="Shape 103"/>
            <p:cNvSpPr/>
            <p:nvPr/>
          </p:nvSpPr>
          <p:spPr>
            <a:xfrm>
              <a:off x="6058550" y="1776125"/>
              <a:ext cx="182075" cy="182075"/>
            </a:xfrm>
            <a:custGeom>
              <a:avLst/>
              <a:gdLst/>
              <a:ahLst/>
              <a:cxnLst/>
              <a:rect l="0" t="0" r="0" b="0"/>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4" name="Shape 104"/>
            <p:cNvSpPr/>
            <p:nvPr/>
          </p:nvSpPr>
          <p:spPr>
            <a:xfrm>
              <a:off x="5971475" y="2001400"/>
              <a:ext cx="74925" cy="70675"/>
            </a:xfrm>
            <a:custGeom>
              <a:avLst/>
              <a:gdLst/>
              <a:ahLst/>
              <a:cxnLst/>
              <a:rect l="0" t="0" r="0" b="0"/>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5" name="Shape 105"/>
            <p:cNvSpPr/>
            <p:nvPr/>
          </p:nvSpPr>
          <p:spPr>
            <a:xfrm>
              <a:off x="6253375" y="2001400"/>
              <a:ext cx="74325" cy="70675"/>
            </a:xfrm>
            <a:custGeom>
              <a:avLst/>
              <a:gdLst/>
              <a:ahLst/>
              <a:cxnLst/>
              <a:rect l="0" t="0" r="0" b="0"/>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06" name="Shape 106"/>
            <p:cNvSpPr/>
            <p:nvPr/>
          </p:nvSpPr>
          <p:spPr>
            <a:xfrm>
              <a:off x="6137700" y="1623900"/>
              <a:ext cx="250875" cy="255150"/>
            </a:xfrm>
            <a:custGeom>
              <a:avLst/>
              <a:gdLst/>
              <a:ahLst/>
              <a:cxnLst/>
              <a:rect l="0" t="0" r="0" b="0"/>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9050" cap="rnd" cmpd="sng">
              <a:solidFill>
                <a:srgbClr val="18637B"/>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Objectives of this unit:</a:t>
            </a:r>
          </a:p>
        </p:txBody>
      </p:sp>
      <p:sp>
        <p:nvSpPr>
          <p:cNvPr id="4" name="Slide Number Placeholder 3"/>
          <p:cNvSpPr>
            <a:spLocks noGrp="1"/>
          </p:cNvSpPr>
          <p:nvPr>
            <p:ph type="sldNum" sz="quarter" idx="12"/>
          </p:nvPr>
        </p:nvSpPr>
        <p:spPr/>
        <p:txBody>
          <a:bodyPr/>
          <a:lstStyle/>
          <a:p>
            <a:fld id="{99DA483C-B394-4922-93D1-88FBB798CB2A}" type="slidenum">
              <a:rPr lang="en-US" smtClean="0"/>
              <a:pPr/>
              <a:t>2</a:t>
            </a:fld>
            <a:endParaRPr lang="en-US"/>
          </a:p>
        </p:txBody>
      </p:sp>
      <p:sp>
        <p:nvSpPr>
          <p:cNvPr id="5" name="Content Placeholder 4"/>
          <p:cNvSpPr>
            <a:spLocks noGrp="1"/>
          </p:cNvSpPr>
          <p:nvPr>
            <p:ph sz="quarter" idx="1"/>
          </p:nvPr>
        </p:nvSpPr>
        <p:spPr/>
        <p:txBody>
          <a:bodyPr/>
          <a:lstStyle/>
          <a:p>
            <a:pPr marL="0" indent="0">
              <a:buNone/>
            </a:pPr>
            <a:r>
              <a:rPr lang="en-US" dirty="0"/>
              <a:t/>
            </a:r>
            <a:br>
              <a:rPr lang="en-US" dirty="0"/>
            </a:br>
            <a:endParaRPr lang="en-US" dirty="0"/>
          </a:p>
          <a:p>
            <a:pPr marL="259556">
              <a:buFont typeface="Arial" pitchFamily="34" charset="0"/>
              <a:buChar char="•"/>
            </a:pPr>
            <a:r>
              <a:rPr lang="en-US" dirty="0"/>
              <a:t>Manage file </a:t>
            </a:r>
            <a:r>
              <a:rPr lang="en-US" dirty="0" smtClean="0"/>
              <a:t>security</a:t>
            </a:r>
          </a:p>
          <a:p>
            <a:pPr marL="465296" lvl="1">
              <a:buFont typeface="Arial" pitchFamily="34" charset="0"/>
              <a:buChar char="•"/>
            </a:pPr>
            <a:r>
              <a:rPr lang="en-US" dirty="0" smtClean="0"/>
              <a:t>SUID, SGID and Sticky Bit</a:t>
            </a:r>
            <a:endParaRPr lang="en-US" dirty="0"/>
          </a:p>
          <a:p>
            <a:pPr marL="259556">
              <a:buFont typeface="Arial" pitchFamily="34" charset="0"/>
              <a:buChar char="•"/>
            </a:pPr>
            <a:r>
              <a:rPr lang="en-US" dirty="0" smtClean="0"/>
              <a:t>Extend </a:t>
            </a:r>
            <a:r>
              <a:rPr lang="en-US" dirty="0" err="1"/>
              <a:t>filesystem</a:t>
            </a:r>
            <a:r>
              <a:rPr lang="en-US" dirty="0"/>
              <a:t> security with ACLs</a:t>
            </a:r>
          </a:p>
          <a:p>
            <a:endParaRPr lang="en-US" dirty="0"/>
          </a:p>
        </p:txBody>
      </p:sp>
    </p:spTree>
    <p:extLst>
      <p:ext uri="{BB962C8B-B14F-4D97-AF65-F5344CB8AC3E}">
        <p14:creationId xmlns:p14="http://schemas.microsoft.com/office/powerpoint/2010/main" val="38575495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Viewing/Setting</a:t>
            </a:r>
            <a:br>
              <a:rPr lang="en-US" b="1" dirty="0"/>
            </a:br>
            <a:r>
              <a:rPr lang="en-US" b="1" dirty="0"/>
              <a:t>Ownership and </a:t>
            </a:r>
            <a:r>
              <a:rPr lang="en-US" b="1" dirty="0" smtClean="0"/>
              <a:t>Permissions (Recap)</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3</a:t>
            </a:fld>
            <a:endParaRPr lang="en-US"/>
          </a:p>
        </p:txBody>
      </p:sp>
      <p:sp>
        <p:nvSpPr>
          <p:cNvPr id="5" name="Content Placeholder 4"/>
          <p:cNvSpPr>
            <a:spLocks noGrp="1"/>
          </p:cNvSpPr>
          <p:nvPr>
            <p:ph sz="quarter" idx="1"/>
          </p:nvPr>
        </p:nvSpPr>
        <p:spPr/>
        <p:txBody>
          <a:bodyPr/>
          <a:lstStyle/>
          <a:p>
            <a:pPr>
              <a:buFont typeface="Arial" pitchFamily="34" charset="0"/>
              <a:buChar char="•"/>
            </a:pPr>
            <a:r>
              <a:rPr lang="en-US" dirty="0" smtClean="0"/>
              <a:t>To </a:t>
            </a:r>
            <a:r>
              <a:rPr lang="en-US" dirty="0"/>
              <a:t>View current settings</a:t>
            </a:r>
            <a:r>
              <a:rPr lang="en-US" dirty="0" smtClean="0"/>
              <a:t>:</a:t>
            </a:r>
          </a:p>
          <a:p>
            <a:pPr marL="617220" lvl="4" indent="-205740">
              <a:spcBef>
                <a:spcPts val="435"/>
              </a:spcBef>
              <a:buClr>
                <a:schemeClr val="accent1"/>
              </a:buClr>
              <a:buFont typeface="Arial" pitchFamily="34" charset="0"/>
              <a:buChar char="•"/>
            </a:pPr>
            <a:r>
              <a:rPr lang="en-US" dirty="0" smtClean="0"/>
              <a:t>$ </a:t>
            </a:r>
            <a:r>
              <a:rPr lang="en-US" dirty="0" err="1"/>
              <a:t>ls</a:t>
            </a:r>
            <a:r>
              <a:rPr lang="en-US" dirty="0"/>
              <a:t> –l </a:t>
            </a:r>
            <a:r>
              <a:rPr lang="en-US" dirty="0" smtClean="0"/>
              <a:t>filename</a:t>
            </a:r>
          </a:p>
          <a:p>
            <a:pPr marL="617220" lvl="4" indent="-205740">
              <a:spcBef>
                <a:spcPts val="435"/>
              </a:spcBef>
              <a:buClr>
                <a:schemeClr val="accent1"/>
              </a:buClr>
              <a:buFont typeface="Arial" pitchFamily="34" charset="0"/>
              <a:buChar char="•"/>
            </a:pPr>
            <a:endParaRPr lang="en-US" b="1" dirty="0"/>
          </a:p>
          <a:p>
            <a:pPr marL="0">
              <a:buFont typeface="Arial" pitchFamily="34" charset="0"/>
              <a:buChar char="•"/>
            </a:pPr>
            <a:r>
              <a:rPr lang="en-US" dirty="0"/>
              <a:t>To Change user and/or group</a:t>
            </a:r>
            <a:r>
              <a:rPr lang="en-US" dirty="0" smtClean="0"/>
              <a:t>:</a:t>
            </a:r>
          </a:p>
          <a:p>
            <a:pPr marL="248603" lvl="2" indent="-42863">
              <a:buFont typeface="Arial" pitchFamily="34" charset="0"/>
              <a:buChar char="•"/>
            </a:pPr>
            <a:r>
              <a:rPr lang="en-US" dirty="0" smtClean="0"/>
              <a:t>$ </a:t>
            </a:r>
            <a:r>
              <a:rPr lang="en-US" dirty="0" err="1"/>
              <a:t>chown</a:t>
            </a:r>
            <a:r>
              <a:rPr lang="en-US" dirty="0"/>
              <a:t> </a:t>
            </a:r>
            <a:r>
              <a:rPr lang="en-US" dirty="0" err="1"/>
              <a:t>user:group</a:t>
            </a:r>
            <a:r>
              <a:rPr lang="en-US" dirty="0"/>
              <a:t> </a:t>
            </a:r>
            <a:r>
              <a:rPr lang="en-US" dirty="0" smtClean="0"/>
              <a:t>filename</a:t>
            </a:r>
          </a:p>
          <a:p>
            <a:pPr marL="617220" lvl="4" indent="-205740">
              <a:spcBef>
                <a:spcPts val="435"/>
              </a:spcBef>
              <a:buClr>
                <a:schemeClr val="accent1"/>
              </a:buClr>
              <a:buFont typeface="Arial" pitchFamily="34" charset="0"/>
              <a:buChar char="•"/>
            </a:pPr>
            <a:endParaRPr lang="en-US" b="1" dirty="0" smtClean="0"/>
          </a:p>
          <a:p>
            <a:pPr marL="0">
              <a:buFont typeface="Arial" pitchFamily="34" charset="0"/>
              <a:buChar char="•"/>
            </a:pPr>
            <a:r>
              <a:rPr lang="en-US" dirty="0"/>
              <a:t>To Change permissions</a:t>
            </a:r>
            <a:r>
              <a:rPr lang="en-US" dirty="0" smtClean="0"/>
              <a:t>:</a:t>
            </a:r>
          </a:p>
          <a:p>
            <a:pPr marL="248603" lvl="2" indent="-42863">
              <a:buFont typeface="Arial" pitchFamily="34" charset="0"/>
              <a:buChar char="•"/>
            </a:pPr>
            <a:r>
              <a:rPr lang="en-US" dirty="0" smtClean="0"/>
              <a:t>$ </a:t>
            </a:r>
            <a:r>
              <a:rPr lang="en-US" dirty="0" err="1"/>
              <a:t>chmod</a:t>
            </a:r>
            <a:r>
              <a:rPr lang="en-US" dirty="0"/>
              <a:t> </a:t>
            </a:r>
            <a:r>
              <a:rPr lang="en-US" dirty="0" err="1"/>
              <a:t>ugo+wrx</a:t>
            </a:r>
            <a:r>
              <a:rPr lang="en-US" dirty="0"/>
              <a:t> </a:t>
            </a:r>
            <a:r>
              <a:rPr lang="en-US" dirty="0" smtClean="0"/>
              <a:t>filename</a:t>
            </a:r>
          </a:p>
          <a:p>
            <a:pPr marL="248603" lvl="2" indent="-42863">
              <a:buFont typeface="Arial" pitchFamily="34" charset="0"/>
              <a:buChar char="•"/>
            </a:pPr>
            <a:r>
              <a:rPr lang="en-US" dirty="0" smtClean="0"/>
              <a:t>$ </a:t>
            </a:r>
            <a:r>
              <a:rPr lang="en-US" dirty="0" err="1"/>
              <a:t>chmod</a:t>
            </a:r>
            <a:r>
              <a:rPr lang="en-US" dirty="0"/>
              <a:t> 775 filename</a:t>
            </a:r>
          </a:p>
          <a:p>
            <a:pPr marL="617220" lvl="4" indent="-205740">
              <a:spcBef>
                <a:spcPts val="435"/>
              </a:spcBef>
              <a:buClr>
                <a:schemeClr val="accent1"/>
              </a:buClr>
              <a:buFont typeface="Arial" pitchFamily="34" charset="0"/>
              <a:buChar char="•"/>
            </a:pPr>
            <a:endParaRPr lang="en-US" b="1" dirty="0" smtClean="0"/>
          </a:p>
        </p:txBody>
      </p:sp>
    </p:spTree>
    <p:extLst>
      <p:ext uri="{BB962C8B-B14F-4D97-AF65-F5344CB8AC3E}">
        <p14:creationId xmlns:p14="http://schemas.microsoft.com/office/powerpoint/2010/main" val="252428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4</a:t>
            </a:fld>
            <a:endParaRPr lang="en-US"/>
          </a:p>
        </p:txBody>
      </p:sp>
      <p:sp>
        <p:nvSpPr>
          <p:cNvPr id="5" name="Content Placeholder 4"/>
          <p:cNvSpPr>
            <a:spLocks noGrp="1"/>
          </p:cNvSpPr>
          <p:nvPr>
            <p:ph sz="quarter" idx="1"/>
          </p:nvPr>
        </p:nvSpPr>
        <p:spPr/>
        <p:txBody>
          <a:bodyPr/>
          <a:lstStyle/>
          <a:p>
            <a:pPr marL="42863" lvl="1" indent="-42863"/>
            <a:r>
              <a:rPr lang="en-US" dirty="0"/>
              <a:t>The traditional security of a file can be reviewed using the </a:t>
            </a:r>
            <a:r>
              <a:rPr lang="en-US" b="1" dirty="0" err="1"/>
              <a:t>ls</a:t>
            </a:r>
            <a:r>
              <a:rPr lang="en-US" b="1" dirty="0"/>
              <a:t> –l:</a:t>
            </a:r>
          </a:p>
          <a:p>
            <a:pPr marL="248603" lvl="2" indent="-42863"/>
            <a:r>
              <a:rPr lang="en-US" dirty="0" smtClean="0"/>
              <a:t>[</a:t>
            </a:r>
            <a:r>
              <a:rPr lang="en-US" dirty="0" err="1"/>
              <a:t>student@stationX</a:t>
            </a:r>
            <a:r>
              <a:rPr lang="en-US" dirty="0"/>
              <a:t> ~]$ </a:t>
            </a:r>
            <a:r>
              <a:rPr lang="en-US" b="1" dirty="0" err="1"/>
              <a:t>ls</a:t>
            </a:r>
            <a:r>
              <a:rPr lang="en-US" b="1" dirty="0"/>
              <a:t> –l /</a:t>
            </a:r>
            <a:r>
              <a:rPr lang="en-US" b="1" dirty="0" err="1"/>
              <a:t>dir</a:t>
            </a:r>
            <a:endParaRPr lang="en-US" b="1" dirty="0"/>
          </a:p>
          <a:p>
            <a:pPr marL="248603" lvl="2" indent="-42863"/>
            <a:r>
              <a:rPr lang="en-US" dirty="0"/>
              <a:t>-</a:t>
            </a:r>
            <a:r>
              <a:rPr lang="en-US" dirty="0" err="1"/>
              <a:t>rw</a:t>
            </a:r>
            <a:r>
              <a:rPr lang="en-US" dirty="0"/>
              <a:t>-</a:t>
            </a:r>
            <a:r>
              <a:rPr lang="en-US" dirty="0" err="1"/>
              <a:t>rw</a:t>
            </a:r>
            <a:r>
              <a:rPr lang="en-US" dirty="0"/>
              <a:t>-r--	1           student	acct	0 Feb 27 11:33 	</a:t>
            </a:r>
            <a:r>
              <a:rPr lang="en-US" dirty="0" smtClean="0"/>
              <a:t>filename</a:t>
            </a:r>
          </a:p>
          <a:p>
            <a:pPr marL="248603" lvl="2" indent="-42863"/>
            <a:endParaRPr lang="en-US" dirty="0"/>
          </a:p>
          <a:p>
            <a:r>
              <a:rPr lang="en-US" dirty="0"/>
              <a:t>After the file has been created only “root” can use </a:t>
            </a:r>
            <a:r>
              <a:rPr lang="en-US" dirty="0" err="1"/>
              <a:t>chown</a:t>
            </a:r>
            <a:r>
              <a:rPr lang="en-US" dirty="0"/>
              <a:t>, </a:t>
            </a:r>
            <a:r>
              <a:rPr lang="en-US" dirty="0" err="1"/>
              <a:t>chgrp</a:t>
            </a:r>
            <a:r>
              <a:rPr lang="en-US" dirty="0"/>
              <a:t> and </a:t>
            </a:r>
            <a:r>
              <a:rPr lang="en-US" dirty="0" err="1"/>
              <a:t>chmod</a:t>
            </a:r>
            <a:r>
              <a:rPr lang="en-US" dirty="0"/>
              <a:t> to change the ownership, group and permissions. Standard users can only use </a:t>
            </a:r>
            <a:r>
              <a:rPr lang="en-US" dirty="0" err="1"/>
              <a:t>chmod</a:t>
            </a:r>
            <a:r>
              <a:rPr lang="en-US" dirty="0"/>
              <a:t> and </a:t>
            </a:r>
            <a:r>
              <a:rPr lang="en-US" dirty="0" err="1"/>
              <a:t>chgrp</a:t>
            </a:r>
            <a:r>
              <a:rPr lang="en-US" dirty="0"/>
              <a:t> on their own files and can only change the group ownership to a group they are a member of.</a:t>
            </a:r>
          </a:p>
          <a:p>
            <a:endParaRPr lang="en-US" dirty="0"/>
          </a:p>
        </p:txBody>
      </p:sp>
    </p:spTree>
    <p:extLst>
      <p:ext uri="{BB962C8B-B14F-4D97-AF65-F5344CB8AC3E}">
        <p14:creationId xmlns:p14="http://schemas.microsoft.com/office/powerpoint/2010/main" val="10962932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Umask</a:t>
            </a:r>
            <a:r>
              <a:rPr lang="en-US" dirty="0" smtClean="0"/>
              <a:t> Recap</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5</a:t>
            </a:fld>
            <a:endParaRPr lang="en-US"/>
          </a:p>
        </p:txBody>
      </p:sp>
      <p:sp>
        <p:nvSpPr>
          <p:cNvPr id="5" name="Content Placeholder 4"/>
          <p:cNvSpPr>
            <a:spLocks noGrp="1"/>
          </p:cNvSpPr>
          <p:nvPr>
            <p:ph sz="quarter" idx="1"/>
          </p:nvPr>
        </p:nvSpPr>
        <p:spPr/>
        <p:txBody>
          <a:bodyPr>
            <a:normAutofit fontScale="92500" lnSpcReduction="20000"/>
          </a:bodyPr>
          <a:lstStyle/>
          <a:p>
            <a:pPr marL="0" lvl="1">
              <a:buFont typeface="Arial" pitchFamily="34" charset="0"/>
              <a:buChar char="•"/>
            </a:pPr>
            <a:r>
              <a:rPr lang="en-US" dirty="0"/>
              <a:t>Permissions are withheld by creator’s </a:t>
            </a:r>
            <a:r>
              <a:rPr lang="en-US" b="1" dirty="0" err="1"/>
              <a:t>umask</a:t>
            </a:r>
            <a:endParaRPr lang="en-US" b="1" dirty="0"/>
          </a:p>
          <a:p>
            <a:pPr marL="342900" lvl="2">
              <a:buFont typeface="Arial" pitchFamily="34" charset="0"/>
              <a:buChar char="•"/>
            </a:pPr>
            <a:r>
              <a:rPr lang="en-US" sz="1800" dirty="0"/>
              <a:t>Non-system user’s default </a:t>
            </a:r>
            <a:r>
              <a:rPr lang="en-US" sz="1800" dirty="0" err="1"/>
              <a:t>umask</a:t>
            </a:r>
            <a:r>
              <a:rPr lang="en-US" sz="1800" dirty="0"/>
              <a:t> is 002 (no w for other)</a:t>
            </a:r>
          </a:p>
          <a:p>
            <a:pPr marL="342900" lvl="2">
              <a:buFont typeface="Arial" pitchFamily="34" charset="0"/>
              <a:buChar char="•"/>
            </a:pPr>
            <a:r>
              <a:rPr lang="en-US" sz="1800" dirty="0"/>
              <a:t>Files will have permissions of 664 (-</a:t>
            </a:r>
            <a:r>
              <a:rPr lang="en-US" sz="1800" dirty="0" err="1"/>
              <a:t>rw</a:t>
            </a:r>
            <a:r>
              <a:rPr lang="en-US" sz="1800" dirty="0"/>
              <a:t>-</a:t>
            </a:r>
            <a:r>
              <a:rPr lang="en-US" sz="1800" dirty="0" err="1"/>
              <a:t>rw</a:t>
            </a:r>
            <a:r>
              <a:rPr lang="en-US" sz="1800" dirty="0"/>
              <a:t>-r--)</a:t>
            </a:r>
          </a:p>
          <a:p>
            <a:pPr marL="342900" lvl="2">
              <a:buFont typeface="Arial" pitchFamily="34" charset="0"/>
              <a:buChar char="•"/>
            </a:pPr>
            <a:r>
              <a:rPr lang="en-US" sz="1800" dirty="0"/>
              <a:t>Directories will have permissions of 775 (</a:t>
            </a:r>
            <a:r>
              <a:rPr lang="en-US" sz="1800" dirty="0" err="1"/>
              <a:t>drwxrwxr</a:t>
            </a:r>
            <a:r>
              <a:rPr lang="en-US" sz="1800" dirty="0"/>
              <a:t>-x</a:t>
            </a:r>
            <a:r>
              <a:rPr lang="en-US" sz="1800" dirty="0"/>
              <a:t>)</a:t>
            </a:r>
          </a:p>
          <a:p>
            <a:pPr marL="342900" lvl="2">
              <a:buFont typeface="Arial" pitchFamily="34" charset="0"/>
              <a:buChar char="•"/>
            </a:pPr>
            <a:endParaRPr lang="en-US" sz="1800" dirty="0"/>
          </a:p>
          <a:p>
            <a:pPr marL="257175" lvl="2" indent="-257175"/>
            <a:r>
              <a:rPr lang="en-US" dirty="0"/>
              <a:t>Set in /</a:t>
            </a:r>
            <a:r>
              <a:rPr lang="en-US" dirty="0" err="1"/>
              <a:t>etc</a:t>
            </a:r>
            <a:r>
              <a:rPr lang="en-US" dirty="0"/>
              <a:t>/</a:t>
            </a:r>
            <a:r>
              <a:rPr lang="en-US" dirty="0" err="1"/>
              <a:t>bashrc</a:t>
            </a:r>
            <a:r>
              <a:rPr lang="en-US" dirty="0"/>
              <a:t>, the default </a:t>
            </a:r>
            <a:r>
              <a:rPr lang="en-US" dirty="0" err="1"/>
              <a:t>umask</a:t>
            </a:r>
            <a:r>
              <a:rPr lang="en-US" dirty="0"/>
              <a:t> for all users are 002.  </a:t>
            </a:r>
          </a:p>
          <a:p>
            <a:pPr marL="257175" lvl="2" indent="-257175"/>
            <a:r>
              <a:rPr lang="en-US" dirty="0" smtClean="0"/>
              <a:t>To </a:t>
            </a:r>
            <a:r>
              <a:rPr lang="en-US" dirty="0"/>
              <a:t>temporarily change your </a:t>
            </a:r>
            <a:r>
              <a:rPr lang="en-US" dirty="0" err="1"/>
              <a:t>umask</a:t>
            </a:r>
            <a:r>
              <a:rPr lang="en-US" dirty="0"/>
              <a:t> to, for example, 007, you simply use the </a:t>
            </a:r>
            <a:r>
              <a:rPr lang="en-US" b="1" dirty="0" err="1"/>
              <a:t>umask</a:t>
            </a:r>
            <a:r>
              <a:rPr lang="en-US" b="1" dirty="0"/>
              <a:t> </a:t>
            </a:r>
            <a:r>
              <a:rPr lang="en-US" dirty="0"/>
              <a:t>command followed by the new value</a:t>
            </a:r>
            <a:r>
              <a:rPr lang="en-US" dirty="0" smtClean="0"/>
              <a:t>:</a:t>
            </a:r>
          </a:p>
          <a:p>
            <a:pPr marL="462915" lvl="3" indent="-257175"/>
            <a:r>
              <a:rPr lang="en-US" dirty="0" smtClean="0"/>
              <a:t>[</a:t>
            </a:r>
            <a:r>
              <a:rPr lang="en-US" dirty="0" err="1"/>
              <a:t>student@stationX</a:t>
            </a:r>
            <a:r>
              <a:rPr lang="en-US" dirty="0"/>
              <a:t> ~]$</a:t>
            </a:r>
            <a:r>
              <a:rPr lang="en-US" b="1" dirty="0"/>
              <a:t> </a:t>
            </a:r>
            <a:r>
              <a:rPr lang="en-US" b="1" dirty="0" err="1"/>
              <a:t>umask</a:t>
            </a:r>
            <a:r>
              <a:rPr lang="en-US" b="1" dirty="0"/>
              <a:t> </a:t>
            </a:r>
            <a:r>
              <a:rPr lang="en-US" b="1" dirty="0" smtClean="0"/>
              <a:t>007</a:t>
            </a:r>
          </a:p>
          <a:p>
            <a:pPr marL="462915" lvl="3" indent="-257175"/>
            <a:r>
              <a:rPr lang="en-US" dirty="0" smtClean="0"/>
              <a:t> Note </a:t>
            </a:r>
            <a:r>
              <a:rPr lang="en-US" dirty="0"/>
              <a:t>that when setting your </a:t>
            </a:r>
            <a:r>
              <a:rPr lang="en-US" dirty="0" err="1"/>
              <a:t>umask</a:t>
            </a:r>
            <a:r>
              <a:rPr lang="en-US" dirty="0"/>
              <a:t> from the command line, the next time you login your </a:t>
            </a:r>
            <a:r>
              <a:rPr lang="en-US" dirty="0" err="1"/>
              <a:t>umask</a:t>
            </a:r>
            <a:r>
              <a:rPr lang="en-US" dirty="0"/>
              <a:t> will be set back to your default, so this is typically set by one of the bash initialization scripts, such as at the bottom of </a:t>
            </a:r>
            <a:endParaRPr lang="en-US" dirty="0" smtClean="0"/>
          </a:p>
          <a:p>
            <a:pPr marL="462915" lvl="3" indent="-257175"/>
            <a:r>
              <a:rPr lang="en-US" dirty="0" smtClean="0"/>
              <a:t>~/. </a:t>
            </a:r>
            <a:r>
              <a:rPr lang="en-US" dirty="0" err="1"/>
              <a:t>Bashrc</a:t>
            </a:r>
            <a:r>
              <a:rPr lang="en-US" dirty="0"/>
              <a:t>.</a:t>
            </a:r>
          </a:p>
          <a:p>
            <a:endParaRPr lang="en-US" dirty="0"/>
          </a:p>
        </p:txBody>
      </p:sp>
    </p:spTree>
    <p:extLst>
      <p:ext uri="{BB962C8B-B14F-4D97-AF65-F5344CB8AC3E}">
        <p14:creationId xmlns:p14="http://schemas.microsoft.com/office/powerpoint/2010/main" val="3189435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User Private </a:t>
            </a:r>
            <a:r>
              <a:rPr lang="en-US" b="1" dirty="0" smtClean="0"/>
              <a:t>Groups</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6</a:t>
            </a:fld>
            <a:endParaRPr lang="en-US"/>
          </a:p>
        </p:txBody>
      </p:sp>
      <p:sp>
        <p:nvSpPr>
          <p:cNvPr id="5" name="Content Placeholder 4"/>
          <p:cNvSpPr>
            <a:spLocks noGrp="1"/>
          </p:cNvSpPr>
          <p:nvPr>
            <p:ph sz="quarter" idx="1"/>
          </p:nvPr>
        </p:nvSpPr>
        <p:spPr/>
        <p:txBody>
          <a:bodyPr/>
          <a:lstStyle/>
          <a:p>
            <a:pPr marL="257175" lvl="2" indent="-257175"/>
            <a:r>
              <a:rPr lang="en-US" dirty="0"/>
              <a:t>A group of the same name as the user</a:t>
            </a:r>
          </a:p>
          <a:p>
            <a:pPr marL="428625" lvl="3" indent="-257175"/>
            <a:r>
              <a:rPr lang="en-US" dirty="0"/>
              <a:t>Automatically created when user is created</a:t>
            </a:r>
          </a:p>
          <a:p>
            <a:pPr marL="428625" lvl="3" indent="-257175"/>
            <a:r>
              <a:rPr lang="en-US" dirty="0"/>
              <a:t>User’s primary group is this private group</a:t>
            </a:r>
          </a:p>
          <a:p>
            <a:pPr marL="428625" lvl="3" indent="-257175"/>
            <a:r>
              <a:rPr lang="en-US" dirty="0"/>
              <a:t>User’s new files are assigned to this group</a:t>
            </a:r>
          </a:p>
          <a:p>
            <a:pPr marL="257175" lvl="2" indent="-257175"/>
            <a:r>
              <a:rPr lang="en-US" dirty="0"/>
              <a:t>Prevent new files from belonging to a “public” group</a:t>
            </a:r>
          </a:p>
          <a:p>
            <a:pPr marL="257175" lvl="2" indent="-257175"/>
            <a:r>
              <a:rPr lang="en-US" dirty="0"/>
              <a:t>May encourage making files “world-accessible”</a:t>
            </a:r>
          </a:p>
          <a:p>
            <a:pPr marL="0" lvl="1"/>
            <a:endParaRPr lang="en-US" dirty="0"/>
          </a:p>
          <a:p>
            <a:pPr marL="257175" lvl="1" indent="-257175"/>
            <a:r>
              <a:rPr lang="en-US" sz="1500" dirty="0"/>
              <a:t>The user may belong to other groups and switch to one with the </a:t>
            </a:r>
            <a:r>
              <a:rPr lang="en-US" sz="1500" b="1" dirty="0" err="1"/>
              <a:t>newgrp</a:t>
            </a:r>
            <a:r>
              <a:rPr lang="en-US" sz="1500" dirty="0"/>
              <a:t>  command and/or change the file’s group ownership with </a:t>
            </a:r>
            <a:r>
              <a:rPr lang="en-US" sz="1500" b="1" dirty="0" err="1"/>
              <a:t>chgrp</a:t>
            </a:r>
            <a:r>
              <a:rPr lang="en-US" sz="1500" b="1" dirty="0"/>
              <a:t>:</a:t>
            </a:r>
          </a:p>
          <a:p>
            <a:pPr marL="462915" lvl="2" indent="-257175"/>
            <a:r>
              <a:rPr lang="en-US" dirty="0" smtClean="0"/>
              <a:t>[</a:t>
            </a:r>
            <a:r>
              <a:rPr lang="en-US" dirty="0" err="1"/>
              <a:t>student@stationX</a:t>
            </a:r>
            <a:r>
              <a:rPr lang="en-US" dirty="0"/>
              <a:t> ~]$</a:t>
            </a:r>
            <a:r>
              <a:rPr lang="en-US" b="1" dirty="0"/>
              <a:t> </a:t>
            </a:r>
            <a:r>
              <a:rPr lang="en-US" b="1" dirty="0" err="1"/>
              <a:t>chgrp</a:t>
            </a:r>
            <a:r>
              <a:rPr lang="en-US" b="1" dirty="0"/>
              <a:t> </a:t>
            </a:r>
            <a:r>
              <a:rPr lang="en-US" b="1" dirty="0" err="1"/>
              <a:t>groupname</a:t>
            </a:r>
            <a:r>
              <a:rPr lang="en-US" b="1" dirty="0"/>
              <a:t> filename</a:t>
            </a:r>
          </a:p>
          <a:p>
            <a:endParaRPr lang="en-US" dirty="0"/>
          </a:p>
        </p:txBody>
      </p:sp>
    </p:spTree>
    <p:extLst>
      <p:ext uri="{BB962C8B-B14F-4D97-AF65-F5344CB8AC3E}">
        <p14:creationId xmlns:p14="http://schemas.microsoft.com/office/powerpoint/2010/main" val="36493041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Shared Groups</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7</a:t>
            </a:fld>
            <a:endParaRPr lang="en-US"/>
          </a:p>
        </p:txBody>
      </p:sp>
      <p:sp>
        <p:nvSpPr>
          <p:cNvPr id="5" name="Content Placeholder 4"/>
          <p:cNvSpPr>
            <a:spLocks noGrp="1"/>
          </p:cNvSpPr>
          <p:nvPr>
            <p:ph sz="quarter" idx="1"/>
          </p:nvPr>
        </p:nvSpPr>
        <p:spPr/>
        <p:txBody>
          <a:bodyPr/>
          <a:lstStyle/>
          <a:p>
            <a:pPr marL="0" lvl="1"/>
            <a:r>
              <a:rPr lang="en-US" dirty="0"/>
              <a:t>When a system administrator decides to enable multiple users write access in a directory, those users are added to a common group. The group ownership on the directory and its files is changed to the common group and those directories and files are given group–write permission.</a:t>
            </a:r>
          </a:p>
          <a:p>
            <a:pPr marL="0" lvl="1"/>
            <a:endParaRPr lang="en-US" dirty="0"/>
          </a:p>
          <a:p>
            <a:pPr marL="0" lvl="1" indent="0">
              <a:buNone/>
            </a:pPr>
            <a:r>
              <a:rPr lang="en-US" dirty="0" smtClean="0"/>
              <a:t>	[</a:t>
            </a:r>
            <a:r>
              <a:rPr lang="en-US" dirty="0" err="1"/>
              <a:t>root@stationX</a:t>
            </a:r>
            <a:r>
              <a:rPr lang="en-US" dirty="0"/>
              <a:t> ~]$</a:t>
            </a:r>
            <a:r>
              <a:rPr lang="en-US" b="1" dirty="0"/>
              <a:t> </a:t>
            </a:r>
            <a:r>
              <a:rPr lang="en-US" b="1" dirty="0" err="1"/>
              <a:t>mkdir</a:t>
            </a:r>
            <a:r>
              <a:rPr lang="en-US" b="1" dirty="0"/>
              <a:t> /shared</a:t>
            </a:r>
          </a:p>
          <a:p>
            <a:pPr marL="0" lvl="1" indent="0">
              <a:buNone/>
            </a:pPr>
            <a:r>
              <a:rPr lang="en-US" dirty="0" smtClean="0"/>
              <a:t>	[</a:t>
            </a:r>
            <a:r>
              <a:rPr lang="en-US" dirty="0" err="1"/>
              <a:t>root@stationX</a:t>
            </a:r>
            <a:r>
              <a:rPr lang="en-US" dirty="0"/>
              <a:t> ~]$</a:t>
            </a:r>
            <a:r>
              <a:rPr lang="en-US" b="1" dirty="0"/>
              <a:t> </a:t>
            </a:r>
            <a:r>
              <a:rPr lang="en-US" b="1" dirty="0" err="1"/>
              <a:t>chgrp</a:t>
            </a:r>
            <a:r>
              <a:rPr lang="en-US" b="1" dirty="0"/>
              <a:t> </a:t>
            </a:r>
            <a:r>
              <a:rPr lang="en-US" b="1" dirty="0" err="1"/>
              <a:t>groupname</a:t>
            </a:r>
            <a:r>
              <a:rPr lang="en-US" b="1" dirty="0"/>
              <a:t> /shared</a:t>
            </a:r>
          </a:p>
          <a:p>
            <a:pPr marL="0" lvl="1" indent="0">
              <a:buNone/>
            </a:pPr>
            <a:r>
              <a:rPr lang="en-US" dirty="0" smtClean="0"/>
              <a:t>	[</a:t>
            </a:r>
            <a:r>
              <a:rPr lang="en-US" dirty="0" err="1"/>
              <a:t>root@stationX</a:t>
            </a:r>
            <a:r>
              <a:rPr lang="en-US" dirty="0"/>
              <a:t> ~]$</a:t>
            </a:r>
            <a:r>
              <a:rPr lang="en-US" b="1" dirty="0"/>
              <a:t> </a:t>
            </a:r>
            <a:r>
              <a:rPr lang="en-US" b="1" dirty="0" err="1"/>
              <a:t>chmod</a:t>
            </a:r>
            <a:r>
              <a:rPr lang="en-US" b="1" dirty="0"/>
              <a:t> 770 /shared</a:t>
            </a:r>
          </a:p>
          <a:p>
            <a:endParaRPr lang="en-US" dirty="0"/>
          </a:p>
        </p:txBody>
      </p:sp>
    </p:spTree>
    <p:extLst>
      <p:ext uri="{BB962C8B-B14F-4D97-AF65-F5344CB8AC3E}">
        <p14:creationId xmlns:p14="http://schemas.microsoft.com/office/powerpoint/2010/main" val="1222858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SUID and </a:t>
            </a:r>
            <a:r>
              <a:rPr lang="en-US" b="1" dirty="0" smtClean="0"/>
              <a:t>SGID</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8</a:t>
            </a:fld>
            <a:endParaRPr lang="en-US"/>
          </a:p>
        </p:txBody>
      </p:sp>
      <p:sp>
        <p:nvSpPr>
          <p:cNvPr id="5" name="Content Placeholder 4"/>
          <p:cNvSpPr>
            <a:spLocks noGrp="1"/>
          </p:cNvSpPr>
          <p:nvPr>
            <p:ph sz="quarter" idx="1"/>
          </p:nvPr>
        </p:nvSpPr>
        <p:spPr/>
        <p:txBody>
          <a:bodyPr>
            <a:normAutofit fontScale="92500" lnSpcReduction="20000"/>
          </a:bodyPr>
          <a:lstStyle/>
          <a:p>
            <a:r>
              <a:rPr lang="en-US" b="1" dirty="0" err="1"/>
              <a:t>setuid</a:t>
            </a:r>
            <a:r>
              <a:rPr lang="en-US" dirty="0"/>
              <a:t> and </a:t>
            </a:r>
            <a:r>
              <a:rPr lang="en-US" b="1" dirty="0" err="1"/>
              <a:t>setgid</a:t>
            </a:r>
            <a:r>
              <a:rPr lang="en-US" dirty="0"/>
              <a:t> </a:t>
            </a:r>
            <a:endParaRPr lang="en-US" dirty="0" smtClean="0"/>
          </a:p>
          <a:p>
            <a:pPr lvl="1"/>
            <a:r>
              <a:rPr lang="en-US" dirty="0" smtClean="0"/>
              <a:t>short </a:t>
            </a:r>
            <a:r>
              <a:rPr lang="en-US" dirty="0"/>
              <a:t>for </a:t>
            </a:r>
            <a:r>
              <a:rPr lang="en-US" b="1" dirty="0"/>
              <a:t>set</a:t>
            </a:r>
            <a:r>
              <a:rPr lang="en-US" dirty="0"/>
              <a:t> </a:t>
            </a:r>
            <a:r>
              <a:rPr lang="en-US" b="1" dirty="0"/>
              <a:t>u</a:t>
            </a:r>
            <a:r>
              <a:rPr lang="en-US" dirty="0"/>
              <a:t>ser </a:t>
            </a:r>
            <a:r>
              <a:rPr lang="en-US" b="1" dirty="0"/>
              <a:t>ID</a:t>
            </a:r>
            <a:r>
              <a:rPr lang="en-US" dirty="0"/>
              <a:t> upon execution and </a:t>
            </a:r>
            <a:r>
              <a:rPr lang="en-US" b="1" dirty="0"/>
              <a:t>set</a:t>
            </a:r>
            <a:r>
              <a:rPr lang="en-US" dirty="0"/>
              <a:t> </a:t>
            </a:r>
            <a:r>
              <a:rPr lang="en-US" b="1" dirty="0"/>
              <a:t>g</a:t>
            </a:r>
            <a:r>
              <a:rPr lang="en-US" dirty="0"/>
              <a:t>roup </a:t>
            </a:r>
            <a:r>
              <a:rPr lang="en-US" b="1" dirty="0"/>
              <a:t>ID</a:t>
            </a:r>
            <a:r>
              <a:rPr lang="en-US" dirty="0"/>
              <a:t> upon execution, </a:t>
            </a:r>
            <a:r>
              <a:rPr lang="en-US" dirty="0" smtClean="0"/>
              <a:t>respectively</a:t>
            </a:r>
          </a:p>
          <a:p>
            <a:pPr lvl="1"/>
            <a:r>
              <a:rPr lang="en-US" dirty="0" smtClean="0">
                <a:hlinkClick r:id="rId2" action="ppaction://hlinkfile" tooltip="Unix"/>
              </a:rPr>
              <a:t>Unix</a:t>
            </a:r>
            <a:r>
              <a:rPr lang="en-US" dirty="0" smtClean="0"/>
              <a:t> </a:t>
            </a:r>
            <a:r>
              <a:rPr lang="en-US" dirty="0"/>
              <a:t>access rights flags that allow users to run an </a:t>
            </a:r>
            <a:r>
              <a:rPr lang="en-US" dirty="0">
                <a:hlinkClick r:id="rId3" action="ppaction://hlinkfile" tooltip="Executable"/>
              </a:rPr>
              <a:t>executable</a:t>
            </a:r>
            <a:r>
              <a:rPr lang="en-US" dirty="0"/>
              <a:t> with the permissions of the </a:t>
            </a:r>
            <a:r>
              <a:rPr lang="en-US" dirty="0" err="1"/>
              <a:t>executable's</a:t>
            </a:r>
            <a:r>
              <a:rPr lang="en-US" dirty="0"/>
              <a:t> owner or group. </a:t>
            </a:r>
            <a:endParaRPr lang="en-US" dirty="0" smtClean="0"/>
          </a:p>
          <a:p>
            <a:pPr lvl="1"/>
            <a:endParaRPr lang="en-US" dirty="0"/>
          </a:p>
          <a:p>
            <a:pPr>
              <a:buFont typeface="Arial" pitchFamily="34" charset="0"/>
              <a:buChar char="•"/>
            </a:pPr>
            <a:r>
              <a:rPr lang="en-US" dirty="0" err="1" smtClean="0"/>
              <a:t>Setuid</a:t>
            </a:r>
            <a:r>
              <a:rPr lang="en-US" dirty="0" smtClean="0"/>
              <a:t> </a:t>
            </a:r>
            <a:r>
              <a:rPr lang="en-US" dirty="0"/>
              <a:t>are needed for tasks that require higher privileges than those which common users have. </a:t>
            </a:r>
          </a:p>
          <a:p>
            <a:pPr lvl="1">
              <a:buFont typeface="Arial" pitchFamily="34" charset="0"/>
              <a:buChar char="•"/>
            </a:pPr>
            <a:r>
              <a:rPr lang="en-US" dirty="0"/>
              <a:t>Example: </a:t>
            </a:r>
            <a:r>
              <a:rPr lang="en-US" dirty="0" err="1" smtClean="0"/>
              <a:t>passwd</a:t>
            </a:r>
            <a:r>
              <a:rPr lang="en-US" dirty="0" smtClean="0"/>
              <a:t>  and ping command</a:t>
            </a:r>
          </a:p>
          <a:p>
            <a:pPr lvl="1">
              <a:buFont typeface="Arial" pitchFamily="34" charset="0"/>
              <a:buChar char="•"/>
            </a:pPr>
            <a:r>
              <a:rPr lang="en-US" dirty="0"/>
              <a:t># </a:t>
            </a:r>
            <a:r>
              <a:rPr lang="en-US" b="1" dirty="0" err="1"/>
              <a:t>chmod</a:t>
            </a:r>
            <a:r>
              <a:rPr lang="en-US" b="1" dirty="0"/>
              <a:t> </a:t>
            </a:r>
            <a:r>
              <a:rPr lang="en-US" b="1" dirty="0" err="1" smtClean="0"/>
              <a:t>u+s</a:t>
            </a:r>
            <a:r>
              <a:rPr lang="en-US" b="1" dirty="0" smtClean="0"/>
              <a:t> directory</a:t>
            </a:r>
            <a:endParaRPr lang="en-US" dirty="0"/>
          </a:p>
          <a:p>
            <a:pPr>
              <a:buFont typeface="Arial" pitchFamily="34" charset="0"/>
              <a:buChar char="•"/>
            </a:pPr>
            <a:r>
              <a:rPr lang="en-US" dirty="0" err="1" smtClean="0"/>
              <a:t>Setgid</a:t>
            </a:r>
            <a:r>
              <a:rPr lang="en-US" dirty="0" smtClean="0"/>
              <a:t> </a:t>
            </a:r>
            <a:r>
              <a:rPr lang="en-US" dirty="0"/>
              <a:t>most of the time is used to create a collaborative directory</a:t>
            </a:r>
          </a:p>
          <a:p>
            <a:pPr lvl="1">
              <a:buFont typeface="Arial" pitchFamily="34" charset="0"/>
              <a:buChar char="•"/>
            </a:pPr>
            <a:r>
              <a:rPr lang="en-US" dirty="0"/>
              <a:t>When a file is created in a directory with the SGID bit set, it belongs to the same group as the group directory, rather the creator’s primary group</a:t>
            </a:r>
          </a:p>
          <a:p>
            <a:pPr marL="557213" lvl="2">
              <a:buFont typeface="Arial" pitchFamily="34" charset="0"/>
              <a:buChar char="•"/>
            </a:pPr>
            <a:r>
              <a:rPr lang="en-US" sz="1800" dirty="0"/>
              <a:t># </a:t>
            </a:r>
            <a:r>
              <a:rPr lang="en-US" sz="1800" b="1" dirty="0" err="1"/>
              <a:t>chmod</a:t>
            </a:r>
            <a:r>
              <a:rPr lang="en-US" sz="1800" b="1" dirty="0"/>
              <a:t> </a:t>
            </a:r>
            <a:r>
              <a:rPr lang="en-US" sz="1800" b="1" dirty="0" err="1"/>
              <a:t>g+s</a:t>
            </a:r>
            <a:r>
              <a:rPr lang="en-US" sz="1800" b="1" dirty="0"/>
              <a:t> directory</a:t>
            </a:r>
          </a:p>
          <a:p>
            <a:endParaRPr lang="en-US" dirty="0"/>
          </a:p>
        </p:txBody>
      </p:sp>
    </p:spTree>
    <p:extLst>
      <p:ext uri="{BB962C8B-B14F-4D97-AF65-F5344CB8AC3E}">
        <p14:creationId xmlns:p14="http://schemas.microsoft.com/office/powerpoint/2010/main" val="38724937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setgid</a:t>
            </a:r>
            <a:r>
              <a:rPr lang="en-US" b="1" dirty="0" smtClean="0"/>
              <a:t> </a:t>
            </a:r>
            <a:r>
              <a:rPr lang="en-US" b="1" dirty="0"/>
              <a:t>on </a:t>
            </a:r>
            <a:r>
              <a:rPr lang="en-US" b="1" dirty="0" smtClean="0"/>
              <a:t>directories</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9</a:t>
            </a:fld>
            <a:endParaRPr lang="en-US"/>
          </a:p>
        </p:txBody>
      </p:sp>
      <p:sp>
        <p:nvSpPr>
          <p:cNvPr id="5" name="Content Placeholder 4"/>
          <p:cNvSpPr>
            <a:spLocks noGrp="1"/>
          </p:cNvSpPr>
          <p:nvPr>
            <p:ph sz="quarter" idx="1"/>
          </p:nvPr>
        </p:nvSpPr>
        <p:spPr/>
        <p:txBody>
          <a:bodyPr/>
          <a:lstStyle/>
          <a:p>
            <a:r>
              <a:rPr lang="en-US" dirty="0"/>
              <a:t>The </a:t>
            </a:r>
            <a:r>
              <a:rPr lang="en-US" dirty="0" err="1" smtClean="0"/>
              <a:t>setgid</a:t>
            </a:r>
            <a:r>
              <a:rPr lang="en-US" dirty="0" smtClean="0"/>
              <a:t> </a:t>
            </a:r>
            <a:r>
              <a:rPr lang="en-US" dirty="0"/>
              <a:t>flags, when set on a directory, have an entirely different meaning</a:t>
            </a:r>
            <a:r>
              <a:rPr lang="en-US" dirty="0" smtClean="0"/>
              <a:t>.</a:t>
            </a:r>
          </a:p>
          <a:p>
            <a:pPr lvl="1"/>
            <a:r>
              <a:rPr lang="en-US" dirty="0" err="1" smtClean="0"/>
              <a:t>chmod</a:t>
            </a:r>
            <a:r>
              <a:rPr lang="en-US" dirty="0" smtClean="0"/>
              <a:t> </a:t>
            </a:r>
            <a:r>
              <a:rPr lang="en-US" dirty="0" err="1" smtClean="0"/>
              <a:t>g+s</a:t>
            </a:r>
            <a:endParaRPr lang="en-US" dirty="0" smtClean="0"/>
          </a:p>
          <a:p>
            <a:pPr lvl="2"/>
            <a:r>
              <a:rPr lang="en-US" dirty="0" smtClean="0"/>
              <a:t>Causes new </a:t>
            </a:r>
            <a:r>
              <a:rPr lang="en-US" dirty="0"/>
              <a:t>files and subdirectories created within it to </a:t>
            </a:r>
            <a:r>
              <a:rPr lang="en-US" b="1" dirty="0"/>
              <a:t>inherit </a:t>
            </a:r>
            <a:r>
              <a:rPr lang="en-US" b="1" dirty="0" smtClean="0"/>
              <a:t>the </a:t>
            </a:r>
            <a:r>
              <a:rPr lang="en-US" b="1" dirty="0" err="1" smtClean="0"/>
              <a:t>groupID</a:t>
            </a:r>
            <a:r>
              <a:rPr lang="en-US" dirty="0" smtClean="0"/>
              <a:t> of the folder, rather </a:t>
            </a:r>
            <a:r>
              <a:rPr lang="en-US" dirty="0"/>
              <a:t>than the primary </a:t>
            </a:r>
            <a:r>
              <a:rPr lang="en-US" dirty="0" err="1"/>
              <a:t>groupID</a:t>
            </a:r>
            <a:r>
              <a:rPr lang="en-US" dirty="0"/>
              <a:t> of the user who created the file. </a:t>
            </a:r>
            <a:endParaRPr lang="en-US" dirty="0" smtClean="0"/>
          </a:p>
          <a:p>
            <a:pPr lvl="2"/>
            <a:r>
              <a:rPr lang="en-US" dirty="0" smtClean="0"/>
              <a:t>Newly </a:t>
            </a:r>
            <a:r>
              <a:rPr lang="en-US" dirty="0"/>
              <a:t>created subdirectories inherit the </a:t>
            </a:r>
            <a:r>
              <a:rPr lang="en-US" dirty="0" err="1"/>
              <a:t>setgid</a:t>
            </a:r>
            <a:r>
              <a:rPr lang="en-US" dirty="0"/>
              <a:t> bit. </a:t>
            </a:r>
          </a:p>
          <a:p>
            <a:pPr lvl="2"/>
            <a:r>
              <a:rPr lang="en-US" dirty="0" smtClean="0"/>
              <a:t>existing entities (files/subdirectories) will not be affected.</a:t>
            </a:r>
            <a:endParaRPr lang="en-US" dirty="0"/>
          </a:p>
          <a:p>
            <a:endParaRPr lang="en-US" dirty="0"/>
          </a:p>
        </p:txBody>
      </p:sp>
    </p:spTree>
    <p:extLst>
      <p:ext uri="{BB962C8B-B14F-4D97-AF65-F5344CB8AC3E}">
        <p14:creationId xmlns:p14="http://schemas.microsoft.com/office/powerpoint/2010/main" val="6871881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Setting of SUID and </a:t>
            </a:r>
            <a:r>
              <a:rPr lang="en-US" b="1" dirty="0" smtClean="0"/>
              <a:t>SGID Example</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10</a:t>
            </a:fld>
            <a:endParaRPr lang="en-US"/>
          </a:p>
        </p:txBody>
      </p:sp>
      <p:sp>
        <p:nvSpPr>
          <p:cNvPr id="5" name="Content Placeholder 4"/>
          <p:cNvSpPr>
            <a:spLocks noGrp="1"/>
          </p:cNvSpPr>
          <p:nvPr>
            <p:ph sz="quarter" idx="1"/>
          </p:nvPr>
        </p:nvSpPr>
        <p:spPr/>
        <p:txBody>
          <a:bodyPr>
            <a:normAutofit/>
          </a:bodyPr>
          <a:lstStyle/>
          <a:p>
            <a:r>
              <a:rPr lang="en-US" dirty="0"/>
              <a:t>The </a:t>
            </a:r>
            <a:r>
              <a:rPr lang="en-US" dirty="0" err="1"/>
              <a:t>setuid</a:t>
            </a:r>
            <a:r>
              <a:rPr lang="en-US" dirty="0"/>
              <a:t> and </a:t>
            </a:r>
            <a:r>
              <a:rPr lang="en-US" dirty="0" err="1"/>
              <a:t>setgid</a:t>
            </a:r>
            <a:r>
              <a:rPr lang="en-US" dirty="0"/>
              <a:t> bits are normally set with the command </a:t>
            </a:r>
            <a:r>
              <a:rPr lang="en-US" dirty="0" err="1">
                <a:hlinkClick r:id="rId2" action="ppaction://hlinkfile" tooltip="Chmod"/>
              </a:rPr>
              <a:t>chmod</a:t>
            </a:r>
            <a:r>
              <a:rPr lang="en-US" dirty="0"/>
              <a:t> by setting the high-order </a:t>
            </a:r>
            <a:r>
              <a:rPr lang="en-US" dirty="0" smtClean="0"/>
              <a:t>octet</a:t>
            </a:r>
          </a:p>
          <a:p>
            <a:pPr lvl="1"/>
            <a:r>
              <a:rPr lang="en-US" dirty="0"/>
              <a:t>4 (for </a:t>
            </a:r>
            <a:r>
              <a:rPr lang="en-US" dirty="0" err="1"/>
              <a:t>setuid</a:t>
            </a:r>
            <a:r>
              <a:rPr lang="en-US" dirty="0"/>
              <a:t>) or 2 (for </a:t>
            </a:r>
            <a:r>
              <a:rPr lang="en-US" dirty="0" err="1"/>
              <a:t>setgid</a:t>
            </a:r>
            <a:r>
              <a:rPr lang="en-US" dirty="0" smtClean="0"/>
              <a:t>) or 6 (for both).</a:t>
            </a:r>
          </a:p>
          <a:p>
            <a:r>
              <a:rPr lang="en-US" dirty="0" smtClean="0"/>
              <a:t>For example: </a:t>
            </a:r>
            <a:r>
              <a:rPr lang="en-US" dirty="0" err="1" smtClean="0"/>
              <a:t>chmod</a:t>
            </a:r>
            <a:r>
              <a:rPr lang="en-US" dirty="0" smtClean="0"/>
              <a:t> 6711</a:t>
            </a:r>
          </a:p>
          <a:p>
            <a:pPr lvl="1"/>
            <a:r>
              <a:rPr lang="en-US" dirty="0" smtClean="0"/>
              <a:t>set both the </a:t>
            </a:r>
            <a:r>
              <a:rPr lang="en-US" dirty="0" err="1"/>
              <a:t>setuid</a:t>
            </a:r>
            <a:r>
              <a:rPr lang="en-US" dirty="0"/>
              <a:t> and </a:t>
            </a:r>
            <a:r>
              <a:rPr lang="en-US" dirty="0" err="1"/>
              <a:t>setgid</a:t>
            </a:r>
            <a:r>
              <a:rPr lang="en-US" dirty="0"/>
              <a:t> </a:t>
            </a:r>
            <a:r>
              <a:rPr lang="en-US" dirty="0" smtClean="0"/>
              <a:t>bit</a:t>
            </a:r>
          </a:p>
          <a:p>
            <a:pPr lvl="1"/>
            <a:r>
              <a:rPr lang="en-US" dirty="0" smtClean="0"/>
              <a:t>make </a:t>
            </a:r>
            <a:r>
              <a:rPr lang="en-US" dirty="0"/>
              <a:t>the file read/write/executable for the </a:t>
            </a:r>
            <a:r>
              <a:rPr lang="en-US" dirty="0" smtClean="0"/>
              <a:t>owner</a:t>
            </a:r>
          </a:p>
          <a:p>
            <a:pPr lvl="1"/>
            <a:r>
              <a:rPr lang="en-US" dirty="0" smtClean="0"/>
              <a:t>executable </a:t>
            </a:r>
            <a:r>
              <a:rPr lang="en-US" dirty="0"/>
              <a:t>by the </a:t>
            </a:r>
            <a:r>
              <a:rPr lang="en-US" dirty="0" smtClean="0"/>
              <a:t>group</a:t>
            </a:r>
          </a:p>
          <a:p>
            <a:pPr lvl="1"/>
            <a:r>
              <a:rPr lang="en-US" dirty="0" smtClean="0"/>
              <a:t>executable by others. </a:t>
            </a:r>
          </a:p>
          <a:p>
            <a:r>
              <a:rPr lang="en-US" dirty="0" smtClean="0"/>
              <a:t>All </a:t>
            </a:r>
            <a:r>
              <a:rPr lang="en-US" dirty="0" err="1"/>
              <a:t>chmod</a:t>
            </a:r>
            <a:r>
              <a:rPr lang="en-US" dirty="0"/>
              <a:t> flags are octal, and the least significant bit of the high-order octet is </a:t>
            </a:r>
            <a:r>
              <a:rPr lang="en-US" dirty="0" smtClean="0"/>
              <a:t>for the </a:t>
            </a:r>
            <a:r>
              <a:rPr lang="en-US" dirty="0"/>
              <a:t>sticky bit.</a:t>
            </a:r>
          </a:p>
          <a:p>
            <a:endParaRPr lang="en-US" dirty="0"/>
          </a:p>
        </p:txBody>
      </p:sp>
    </p:spTree>
    <p:extLst>
      <p:ext uri="{BB962C8B-B14F-4D97-AF65-F5344CB8AC3E}">
        <p14:creationId xmlns:p14="http://schemas.microsoft.com/office/powerpoint/2010/main" val="2095893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SUID </a:t>
            </a:r>
            <a:r>
              <a:rPr lang="en-US" b="1" dirty="0"/>
              <a:t>Security issues </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11</a:t>
            </a:fld>
            <a:endParaRPr lang="en-US"/>
          </a:p>
        </p:txBody>
      </p:sp>
      <p:sp>
        <p:nvSpPr>
          <p:cNvPr id="5" name="Content Placeholder 4"/>
          <p:cNvSpPr>
            <a:spLocks noGrp="1"/>
          </p:cNvSpPr>
          <p:nvPr>
            <p:ph sz="quarter" idx="1"/>
          </p:nvPr>
        </p:nvSpPr>
        <p:spPr/>
        <p:txBody>
          <a:bodyPr>
            <a:normAutofit fontScale="85000" lnSpcReduction="10000"/>
          </a:bodyPr>
          <a:lstStyle/>
          <a:p>
            <a:r>
              <a:rPr lang="en-US" sz="1800" dirty="0"/>
              <a:t>When a </a:t>
            </a:r>
            <a:r>
              <a:rPr lang="en-US" sz="1800" dirty="0"/>
              <a:t>executable </a:t>
            </a:r>
            <a:r>
              <a:rPr lang="en-US" sz="1800" dirty="0"/>
              <a:t>file has been given the </a:t>
            </a:r>
            <a:r>
              <a:rPr lang="en-US" sz="1800" dirty="0"/>
              <a:t>SUID </a:t>
            </a:r>
            <a:r>
              <a:rPr lang="en-US" sz="1800" dirty="0"/>
              <a:t>attribute, normal users on the system who have permission to execute this file gain the privileges of the user who owns the file (</a:t>
            </a:r>
            <a:r>
              <a:rPr lang="en-US" sz="1800" dirty="0"/>
              <a:t>commonly root) </a:t>
            </a:r>
            <a:r>
              <a:rPr lang="en-US" sz="1800" dirty="0"/>
              <a:t>within the </a:t>
            </a:r>
            <a:r>
              <a:rPr lang="en-US" sz="1800" dirty="0"/>
              <a:t>created process. </a:t>
            </a:r>
            <a:endParaRPr lang="en-US" sz="1800" dirty="0"/>
          </a:p>
          <a:p>
            <a:r>
              <a:rPr lang="en-US" sz="1800" dirty="0"/>
              <a:t>When root privileges have been gained within the process, the application can then perform tasks on the system that regular users normally would be restricted from doing. </a:t>
            </a:r>
          </a:p>
          <a:p>
            <a:r>
              <a:rPr lang="en-US" sz="1800" dirty="0"/>
              <a:t>Risky when program is not carefully designed. Users may exploit this and gain permanent elevated </a:t>
            </a:r>
            <a:r>
              <a:rPr lang="en-US" sz="1800" dirty="0"/>
              <a:t>privileges.</a:t>
            </a:r>
          </a:p>
          <a:p>
            <a:r>
              <a:rPr lang="en-US" sz="1800" dirty="0"/>
              <a:t>Typical attack: buffer overflow attack.</a:t>
            </a:r>
          </a:p>
          <a:p>
            <a:pPr lvl="1"/>
            <a:r>
              <a:rPr lang="en-US" sz="1650" dirty="0"/>
              <a:t>Successful </a:t>
            </a:r>
            <a:r>
              <a:rPr lang="en-US" sz="1650" dirty="0"/>
              <a:t>buffer overrun attacks on vulnerable applications allow the attacker to execute arbitrary code under the rights of the process being exploited. </a:t>
            </a:r>
          </a:p>
          <a:p>
            <a:endParaRPr lang="en-US" dirty="0"/>
          </a:p>
        </p:txBody>
      </p:sp>
    </p:spTree>
    <p:extLst>
      <p:ext uri="{BB962C8B-B14F-4D97-AF65-F5344CB8AC3E}">
        <p14:creationId xmlns:p14="http://schemas.microsoft.com/office/powerpoint/2010/main" val="12202876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Sticky </a:t>
            </a:r>
            <a:r>
              <a:rPr lang="en-US" b="1" dirty="0" smtClean="0"/>
              <a:t>Bit</a:t>
            </a:r>
            <a:endParaRPr lang="en-US" dirty="0"/>
          </a:p>
        </p:txBody>
      </p:sp>
      <p:sp>
        <p:nvSpPr>
          <p:cNvPr id="3" name="Footer Placeholder 2"/>
          <p:cNvSpPr>
            <a:spLocks noGrp="1"/>
          </p:cNvSpPr>
          <p:nvPr>
            <p:ph type="ftr" sz="quarter" idx="11"/>
          </p:nvPr>
        </p:nvSpPr>
        <p:spPr/>
        <p:txBody>
          <a:bodyPr/>
          <a:lstStyle/>
          <a:p>
            <a:r>
              <a:rPr lang="en-US" smtClean="0"/>
              <a:t>IT2533</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12</a:t>
            </a:fld>
            <a:endParaRPr lang="en-US"/>
          </a:p>
        </p:txBody>
      </p:sp>
      <p:sp>
        <p:nvSpPr>
          <p:cNvPr id="5" name="Content Placeholder 4"/>
          <p:cNvSpPr>
            <a:spLocks noGrp="1"/>
          </p:cNvSpPr>
          <p:nvPr>
            <p:ph sz="quarter" idx="1"/>
          </p:nvPr>
        </p:nvSpPr>
        <p:spPr/>
        <p:txBody>
          <a:bodyPr/>
          <a:lstStyle/>
          <a:p>
            <a:r>
              <a:rPr lang="en-US" b="1" dirty="0"/>
              <a:t>sticky bit</a:t>
            </a:r>
            <a:r>
              <a:rPr lang="en-US" dirty="0"/>
              <a:t> </a:t>
            </a:r>
            <a:r>
              <a:rPr lang="en-US" dirty="0" smtClean="0"/>
              <a:t>is on directories:</a:t>
            </a:r>
          </a:p>
          <a:p>
            <a:pPr marL="411480" lvl="2" indent="-205740">
              <a:spcBef>
                <a:spcPts val="435"/>
              </a:spcBef>
              <a:buClr>
                <a:schemeClr val="accent1"/>
              </a:buClr>
            </a:pPr>
            <a:r>
              <a:rPr lang="en-US" sz="1800" dirty="0"/>
              <a:t>If not set, users </a:t>
            </a:r>
            <a:r>
              <a:rPr lang="en-US" sz="1800" dirty="0"/>
              <a:t>with write permissions to a directory can delete any file in that directory regardless of that files permissions or </a:t>
            </a:r>
            <a:r>
              <a:rPr lang="en-US" sz="1800" dirty="0"/>
              <a:t>ownership.</a:t>
            </a:r>
          </a:p>
          <a:p>
            <a:pPr lvl="1"/>
            <a:r>
              <a:rPr lang="en-US" dirty="0"/>
              <a:t>When </a:t>
            </a:r>
            <a:r>
              <a:rPr lang="en-US" dirty="0" smtClean="0"/>
              <a:t>set, </a:t>
            </a:r>
            <a:r>
              <a:rPr lang="en-US" dirty="0"/>
              <a:t>only the item's owner, the directory's owner, or </a:t>
            </a:r>
            <a:r>
              <a:rPr lang="en-US" dirty="0" smtClean="0"/>
              <a:t>the root can </a:t>
            </a:r>
            <a:r>
              <a:rPr lang="en-US" dirty="0"/>
              <a:t>rename or delete </a:t>
            </a:r>
            <a:r>
              <a:rPr lang="en-US" dirty="0" smtClean="0"/>
              <a:t>a file under the directory.</a:t>
            </a:r>
          </a:p>
          <a:p>
            <a:pPr lvl="1"/>
            <a:r>
              <a:rPr lang="en-US" dirty="0"/>
              <a:t>Typically </a:t>
            </a:r>
            <a:r>
              <a:rPr lang="en-US" dirty="0" smtClean="0"/>
              <a:t>it is </a:t>
            </a:r>
            <a:r>
              <a:rPr lang="en-US" dirty="0"/>
              <a:t>set on </a:t>
            </a:r>
            <a:r>
              <a:rPr lang="en-US" dirty="0" smtClean="0"/>
              <a:t>the /</a:t>
            </a:r>
            <a:r>
              <a:rPr lang="en-US" dirty="0" err="1" smtClean="0"/>
              <a:t>tmp</a:t>
            </a:r>
            <a:r>
              <a:rPr lang="en-US" dirty="0" smtClean="0"/>
              <a:t> to </a:t>
            </a:r>
            <a:r>
              <a:rPr lang="en-US" dirty="0"/>
              <a:t>prevent ordinary users from deleting or moving other users' </a:t>
            </a:r>
            <a:r>
              <a:rPr lang="en-US" dirty="0" smtClean="0"/>
              <a:t>files.</a:t>
            </a:r>
          </a:p>
          <a:p>
            <a:pPr lvl="1"/>
            <a:endParaRPr lang="en-US" dirty="0" smtClean="0"/>
          </a:p>
          <a:p>
            <a:pPr lvl="1"/>
            <a:r>
              <a:rPr lang="en-US" dirty="0" smtClean="0"/>
              <a:t># </a:t>
            </a:r>
            <a:r>
              <a:rPr lang="en-US" b="1" dirty="0" err="1"/>
              <a:t>chmod</a:t>
            </a:r>
            <a:r>
              <a:rPr lang="en-US" b="1" dirty="0"/>
              <a:t> </a:t>
            </a:r>
            <a:r>
              <a:rPr lang="en-US" b="1" dirty="0" err="1"/>
              <a:t>o+t</a:t>
            </a:r>
            <a:r>
              <a:rPr lang="en-US" b="1" dirty="0"/>
              <a:t> </a:t>
            </a:r>
            <a:r>
              <a:rPr lang="en-US" b="1" dirty="0" smtClean="0"/>
              <a:t>directory </a:t>
            </a:r>
            <a:r>
              <a:rPr lang="en-US" dirty="0" smtClean="0"/>
              <a:t>or</a:t>
            </a:r>
          </a:p>
          <a:p>
            <a:pPr lvl="1"/>
            <a:r>
              <a:rPr lang="en-US" dirty="0"/>
              <a:t># </a:t>
            </a:r>
            <a:r>
              <a:rPr lang="en-US" b="1" dirty="0" err="1"/>
              <a:t>chmod</a:t>
            </a:r>
            <a:r>
              <a:rPr lang="en-US" b="1" dirty="0"/>
              <a:t> </a:t>
            </a:r>
            <a:r>
              <a:rPr lang="en-US" b="1" dirty="0" smtClean="0"/>
              <a:t>1</a:t>
            </a:r>
            <a:r>
              <a:rPr lang="en-US" dirty="0" smtClean="0"/>
              <a:t>xxx</a:t>
            </a:r>
            <a:r>
              <a:rPr lang="en-US" b="1" dirty="0" smtClean="0"/>
              <a:t> </a:t>
            </a:r>
            <a:r>
              <a:rPr lang="en-US" b="1" dirty="0"/>
              <a:t>directory</a:t>
            </a:r>
            <a:endParaRPr lang="en-US" dirty="0"/>
          </a:p>
          <a:p>
            <a:pPr marL="240030" lvl="1" indent="0">
              <a:buNone/>
            </a:pPr>
            <a:endParaRPr lang="en-US" dirty="0"/>
          </a:p>
          <a:p>
            <a:pPr lvl="1"/>
            <a:endParaRPr lang="en-US" dirty="0" smtClean="0"/>
          </a:p>
          <a:p>
            <a:pPr lvl="1"/>
            <a:endParaRPr lang="en-US" dirty="0"/>
          </a:p>
        </p:txBody>
      </p:sp>
    </p:spTree>
    <p:extLst>
      <p:ext uri="{BB962C8B-B14F-4D97-AF65-F5344CB8AC3E}">
        <p14:creationId xmlns:p14="http://schemas.microsoft.com/office/powerpoint/2010/main" val="9005121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Sticky Bit</a:t>
            </a:r>
          </a:p>
        </p:txBody>
      </p:sp>
      <p:sp>
        <p:nvSpPr>
          <p:cNvPr id="4" name="Slide Number Placeholder 3"/>
          <p:cNvSpPr>
            <a:spLocks noGrp="1"/>
          </p:cNvSpPr>
          <p:nvPr>
            <p:ph type="sldNum" sz="quarter" idx="12"/>
          </p:nvPr>
        </p:nvSpPr>
        <p:spPr/>
        <p:txBody>
          <a:bodyPr/>
          <a:lstStyle/>
          <a:p>
            <a:fld id="{99DA483C-B394-4922-93D1-88FBB798CB2A}" type="slidenum">
              <a:rPr lang="en-US" smtClean="0"/>
              <a:pPr/>
              <a:t>13</a:t>
            </a:fld>
            <a:endParaRPr lang="en-US"/>
          </a:p>
        </p:txBody>
      </p:sp>
      <p:sp>
        <p:nvSpPr>
          <p:cNvPr id="5" name="Content Placeholder 4"/>
          <p:cNvSpPr>
            <a:spLocks noGrp="1"/>
          </p:cNvSpPr>
          <p:nvPr>
            <p:ph sz="quarter" idx="1"/>
          </p:nvPr>
        </p:nvSpPr>
        <p:spPr/>
        <p:txBody>
          <a:bodyPr>
            <a:normAutofit lnSpcReduction="10000"/>
          </a:bodyPr>
          <a:lstStyle/>
          <a:p>
            <a:r>
              <a:rPr lang="en-US" sz="2100" dirty="0"/>
              <a:t>On </a:t>
            </a:r>
            <a:r>
              <a:rPr lang="en-US" sz="2100" dirty="0"/>
              <a:t>the directory /</a:t>
            </a:r>
            <a:r>
              <a:rPr lang="en-US" sz="2100" dirty="0" err="1"/>
              <a:t>usr</a:t>
            </a:r>
            <a:r>
              <a:rPr lang="en-US" sz="2100" dirty="0"/>
              <a:t>/local/</a:t>
            </a:r>
            <a:r>
              <a:rPr lang="en-US" sz="2100" dirty="0" err="1"/>
              <a:t>tmp</a:t>
            </a:r>
            <a:r>
              <a:rPr lang="en-US" sz="2100" dirty="0"/>
              <a:t>, </a:t>
            </a:r>
            <a:endParaRPr lang="en-US" sz="2100" dirty="0"/>
          </a:p>
          <a:p>
            <a:pPr lvl="1"/>
            <a:r>
              <a:rPr lang="en-US" dirty="0" err="1" smtClean="0"/>
              <a:t>chmod</a:t>
            </a:r>
            <a:r>
              <a:rPr lang="en-US" dirty="0" smtClean="0"/>
              <a:t> </a:t>
            </a:r>
            <a:r>
              <a:rPr lang="en-US" dirty="0"/>
              <a:t>+t /</a:t>
            </a:r>
            <a:r>
              <a:rPr lang="en-US" dirty="0" err="1"/>
              <a:t>usr</a:t>
            </a:r>
            <a:r>
              <a:rPr lang="en-US" dirty="0"/>
              <a:t>/local/</a:t>
            </a:r>
            <a:r>
              <a:rPr lang="en-US" dirty="0" err="1"/>
              <a:t>tmp</a:t>
            </a:r>
            <a:r>
              <a:rPr lang="en-US" dirty="0"/>
              <a:t>. </a:t>
            </a:r>
            <a:endParaRPr lang="en-US" dirty="0" smtClean="0"/>
          </a:p>
          <a:p>
            <a:pPr lvl="1"/>
            <a:r>
              <a:rPr lang="en-US" dirty="0" smtClean="0"/>
              <a:t>Or </a:t>
            </a:r>
            <a:r>
              <a:rPr lang="en-US" dirty="0" err="1" smtClean="0"/>
              <a:t>chmod</a:t>
            </a:r>
            <a:r>
              <a:rPr lang="en-US" dirty="0" smtClean="0"/>
              <a:t> </a:t>
            </a:r>
            <a:r>
              <a:rPr lang="en-US" dirty="0"/>
              <a:t>1777 /</a:t>
            </a:r>
            <a:r>
              <a:rPr lang="en-US" dirty="0" err="1"/>
              <a:t>usr</a:t>
            </a:r>
            <a:r>
              <a:rPr lang="en-US" dirty="0"/>
              <a:t>/local/</a:t>
            </a:r>
            <a:r>
              <a:rPr lang="en-US" dirty="0" err="1"/>
              <a:t>tmp</a:t>
            </a:r>
            <a:r>
              <a:rPr lang="en-US" dirty="0"/>
              <a:t> </a:t>
            </a:r>
            <a:r>
              <a:rPr lang="en-US" dirty="0" smtClean="0"/>
              <a:t> </a:t>
            </a:r>
          </a:p>
          <a:p>
            <a:pPr lvl="2"/>
            <a:r>
              <a:rPr lang="en-US" dirty="0" smtClean="0"/>
              <a:t>to </a:t>
            </a:r>
            <a:r>
              <a:rPr lang="en-US" dirty="0"/>
              <a:t>make sure that directory has standard </a:t>
            </a:r>
            <a:r>
              <a:rPr lang="en-US" dirty="0" err="1"/>
              <a:t>tmp</a:t>
            </a:r>
            <a:r>
              <a:rPr lang="en-US" dirty="0"/>
              <a:t> </a:t>
            </a:r>
            <a:r>
              <a:rPr lang="en-US" dirty="0" smtClean="0"/>
              <a:t>permissions.</a:t>
            </a:r>
            <a:endParaRPr lang="en-US" dirty="0"/>
          </a:p>
          <a:p>
            <a:r>
              <a:rPr lang="en-US" sz="2100" dirty="0"/>
              <a:t>In Unix </a:t>
            </a:r>
            <a:r>
              <a:rPr lang="en-US" sz="2100" dirty="0"/>
              <a:t>notation</a:t>
            </a:r>
            <a:r>
              <a:rPr lang="en-US" sz="2100" dirty="0"/>
              <a:t>, the sticky bit is represented by the letter </a:t>
            </a:r>
            <a:r>
              <a:rPr lang="en-US" sz="2100" b="1" dirty="0"/>
              <a:t>t</a:t>
            </a:r>
            <a:r>
              <a:rPr lang="en-US" sz="2100" dirty="0"/>
              <a:t> in the final character-place. </a:t>
            </a:r>
            <a:endParaRPr lang="en-US" sz="2100" dirty="0"/>
          </a:p>
          <a:p>
            <a:pPr lvl="1"/>
            <a:r>
              <a:rPr lang="en-US" dirty="0" smtClean="0"/>
              <a:t>e.g. </a:t>
            </a:r>
            <a:r>
              <a:rPr lang="en-US" dirty="0" err="1" smtClean="0"/>
              <a:t>drwxrwxrwt</a:t>
            </a:r>
            <a:endParaRPr lang="en-US" dirty="0" smtClean="0"/>
          </a:p>
          <a:p>
            <a:r>
              <a:rPr lang="en-US" dirty="0"/>
              <a:t>If the sticky-bit is set on a </a:t>
            </a:r>
            <a:r>
              <a:rPr lang="en-US" dirty="0" smtClean="0"/>
              <a:t>directory </a:t>
            </a:r>
            <a:r>
              <a:rPr lang="en-US" dirty="0"/>
              <a:t>without the execution bit set for the </a:t>
            </a:r>
            <a:r>
              <a:rPr lang="en-US" i="1" dirty="0"/>
              <a:t>others</a:t>
            </a:r>
            <a:r>
              <a:rPr lang="en-US" dirty="0"/>
              <a:t> </a:t>
            </a:r>
            <a:r>
              <a:rPr lang="en-US" dirty="0" smtClean="0"/>
              <a:t>category, </a:t>
            </a:r>
            <a:r>
              <a:rPr lang="en-US" dirty="0"/>
              <a:t>it is indicated with a capital </a:t>
            </a:r>
            <a:r>
              <a:rPr lang="en-US" b="1" dirty="0"/>
              <a:t>T</a:t>
            </a:r>
            <a:r>
              <a:rPr lang="en-US" dirty="0" smtClean="0"/>
              <a:t>:</a:t>
            </a:r>
            <a:endParaRPr lang="en-US" dirty="0"/>
          </a:p>
        </p:txBody>
      </p:sp>
    </p:spTree>
    <p:extLst>
      <p:ext uri="{BB962C8B-B14F-4D97-AF65-F5344CB8AC3E}">
        <p14:creationId xmlns:p14="http://schemas.microsoft.com/office/powerpoint/2010/main" val="28425153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14</a:t>
            </a:fld>
            <a:endParaRPr lang="en-US"/>
          </a:p>
        </p:txBody>
      </p:sp>
      <p:sp>
        <p:nvSpPr>
          <p:cNvPr id="5" name="Content Placeholder 4"/>
          <p:cNvSpPr>
            <a:spLocks noGrp="1"/>
          </p:cNvSpPr>
          <p:nvPr>
            <p:ph sz="quarter" idx="1"/>
          </p:nvPr>
        </p:nvSpPr>
        <p:spPr/>
        <p:txBody>
          <a:bodyPr>
            <a:normAutofit fontScale="85000" lnSpcReduction="10000"/>
          </a:bodyPr>
          <a:lstStyle/>
          <a:p>
            <a:pPr marL="42863" lvl="1" indent="-42863"/>
            <a:r>
              <a:rPr lang="en-US" sz="1500" dirty="0"/>
              <a:t>Firstly, create a directory /shared by root. Give the permission of 777 to this folder. Then login as student.</a:t>
            </a:r>
          </a:p>
          <a:p>
            <a:pPr marL="42863" lvl="1" indent="-42863"/>
            <a:endParaRPr lang="en-US" sz="1500" dirty="0"/>
          </a:p>
          <a:p>
            <a:pPr marL="42863" lvl="1" indent="-42863"/>
            <a:r>
              <a:rPr lang="en-US" sz="1500" dirty="0"/>
              <a:t>When a file is created in a directory, it belong to the primary group of the user that created the file.</a:t>
            </a:r>
          </a:p>
          <a:p>
            <a:pPr marL="42863" lvl="1" indent="-42863"/>
            <a:endParaRPr lang="en-US" sz="1500" dirty="0"/>
          </a:p>
          <a:p>
            <a:pPr marL="248603" lvl="2" indent="-42863"/>
            <a:r>
              <a:rPr lang="en-US" dirty="0"/>
              <a:t>[</a:t>
            </a:r>
            <a:r>
              <a:rPr lang="en-US" dirty="0" err="1"/>
              <a:t>student@stationX</a:t>
            </a:r>
            <a:r>
              <a:rPr lang="en-US" dirty="0"/>
              <a:t> ~]$ </a:t>
            </a:r>
            <a:r>
              <a:rPr lang="en-US" b="1" dirty="0" err="1"/>
              <a:t>ls</a:t>
            </a:r>
            <a:r>
              <a:rPr lang="en-US" b="1" dirty="0"/>
              <a:t> </a:t>
            </a:r>
            <a:r>
              <a:rPr lang="en-US" b="1" dirty="0" smtClean="0"/>
              <a:t>–</a:t>
            </a:r>
            <a:r>
              <a:rPr lang="en-US" b="1" dirty="0" err="1" smtClean="0"/>
              <a:t>ld</a:t>
            </a:r>
            <a:r>
              <a:rPr lang="en-US" b="1" dirty="0" smtClean="0"/>
              <a:t> </a:t>
            </a:r>
            <a:r>
              <a:rPr lang="en-US" b="1" dirty="0"/>
              <a:t>/shared</a:t>
            </a:r>
          </a:p>
          <a:p>
            <a:pPr marL="248603" lvl="2" indent="-42863"/>
            <a:r>
              <a:rPr lang="en-US" dirty="0" err="1"/>
              <a:t>drwxrwx</a:t>
            </a:r>
            <a:r>
              <a:rPr lang="en-US" dirty="0"/>
              <a:t>---	          2           root        </a:t>
            </a:r>
            <a:r>
              <a:rPr lang="en-US" dirty="0" err="1"/>
              <a:t>root</a:t>
            </a:r>
            <a:r>
              <a:rPr lang="en-US" dirty="0"/>
              <a:t> 4096         Oct 10 11:28 /shared</a:t>
            </a:r>
          </a:p>
          <a:p>
            <a:pPr marL="42863" lvl="1" indent="-42863"/>
            <a:endParaRPr lang="en-US" sz="1500" dirty="0"/>
          </a:p>
          <a:p>
            <a:pPr marL="248603" lvl="2" indent="-42863"/>
            <a:r>
              <a:rPr lang="en-US" dirty="0"/>
              <a:t>[</a:t>
            </a:r>
            <a:r>
              <a:rPr lang="en-US" dirty="0" err="1"/>
              <a:t>student@stationX</a:t>
            </a:r>
            <a:r>
              <a:rPr lang="en-US" dirty="0"/>
              <a:t> ~]$ touch /shared/first</a:t>
            </a:r>
          </a:p>
          <a:p>
            <a:pPr marL="248603" lvl="2" indent="-42863"/>
            <a:r>
              <a:rPr lang="en-US" dirty="0"/>
              <a:t>[</a:t>
            </a:r>
            <a:r>
              <a:rPr lang="en-US" dirty="0" err="1"/>
              <a:t>student@stationX</a:t>
            </a:r>
            <a:r>
              <a:rPr lang="en-US" dirty="0"/>
              <a:t> ~]$ </a:t>
            </a:r>
            <a:r>
              <a:rPr lang="en-US" dirty="0" err="1"/>
              <a:t>ls</a:t>
            </a:r>
            <a:r>
              <a:rPr lang="en-US" dirty="0"/>
              <a:t> –l /shared/first</a:t>
            </a:r>
          </a:p>
          <a:p>
            <a:pPr marL="248603" lvl="2" indent="-42863"/>
            <a:r>
              <a:rPr lang="en-US" dirty="0"/>
              <a:t>-</a:t>
            </a:r>
            <a:r>
              <a:rPr lang="en-US" dirty="0" err="1"/>
              <a:t>rw</a:t>
            </a:r>
            <a:r>
              <a:rPr lang="en-US" dirty="0"/>
              <a:t>-</a:t>
            </a:r>
            <a:r>
              <a:rPr lang="en-US" dirty="0" err="1"/>
              <a:t>rw</a:t>
            </a:r>
            <a:r>
              <a:rPr lang="en-US" dirty="0"/>
              <a:t>-r--            1          student	student	         0	      Oct 10 09:35  /shared/first</a:t>
            </a:r>
          </a:p>
          <a:p>
            <a:endParaRPr lang="en-US" dirty="0"/>
          </a:p>
        </p:txBody>
      </p:sp>
    </p:spTree>
    <p:extLst>
      <p:ext uri="{BB962C8B-B14F-4D97-AF65-F5344CB8AC3E}">
        <p14:creationId xmlns:p14="http://schemas.microsoft.com/office/powerpoint/2010/main" val="42381242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15</a:t>
            </a:fld>
            <a:endParaRPr lang="en-US"/>
          </a:p>
        </p:txBody>
      </p:sp>
      <p:sp>
        <p:nvSpPr>
          <p:cNvPr id="5" name="Content Placeholder 4"/>
          <p:cNvSpPr>
            <a:spLocks noGrp="1"/>
          </p:cNvSpPr>
          <p:nvPr>
            <p:ph sz="quarter" idx="1"/>
          </p:nvPr>
        </p:nvSpPr>
        <p:spPr/>
        <p:txBody>
          <a:bodyPr>
            <a:normAutofit fontScale="92500" lnSpcReduction="10000"/>
          </a:bodyPr>
          <a:lstStyle/>
          <a:p>
            <a:pPr marL="0" lvl="1"/>
            <a:r>
              <a:rPr lang="en-US" sz="1500" dirty="0"/>
              <a:t>However, if the </a:t>
            </a:r>
            <a:r>
              <a:rPr lang="en-US" sz="1500" dirty="0" err="1"/>
              <a:t>setgid</a:t>
            </a:r>
            <a:r>
              <a:rPr lang="en-US" sz="1500" dirty="0"/>
              <a:t> (SGID or set Group ID) bit is set for directory, new files that are created in the directory have their group ownership set to the same group ownership as the directory. This provides a mechanism to allow one level of access to users, who are members of the same group that owns the directory while allowing a different level of access to non-member users of files in the directory. </a:t>
            </a:r>
          </a:p>
          <a:p>
            <a:pPr marL="0" lvl="1"/>
            <a:endParaRPr lang="en-US" dirty="0"/>
          </a:p>
          <a:p>
            <a:pPr marL="0" lvl="1"/>
            <a:r>
              <a:rPr lang="en-US" dirty="0"/>
              <a:t>[</a:t>
            </a:r>
            <a:r>
              <a:rPr lang="en-US" dirty="0" err="1"/>
              <a:t>root@stationX</a:t>
            </a:r>
            <a:r>
              <a:rPr lang="en-US" dirty="0"/>
              <a:t> ~]$ </a:t>
            </a:r>
            <a:r>
              <a:rPr lang="en-US" b="1" dirty="0" err="1"/>
              <a:t>chmod</a:t>
            </a:r>
            <a:r>
              <a:rPr lang="en-US" b="1" dirty="0"/>
              <a:t> 2770 /shared</a:t>
            </a:r>
          </a:p>
          <a:p>
            <a:pPr marL="0" lvl="1"/>
            <a:r>
              <a:rPr lang="en-US" dirty="0"/>
              <a:t>[</a:t>
            </a:r>
            <a:r>
              <a:rPr lang="en-US" dirty="0" err="1"/>
              <a:t>student@stationX</a:t>
            </a:r>
            <a:r>
              <a:rPr lang="en-US" dirty="0"/>
              <a:t> ~]$</a:t>
            </a:r>
            <a:r>
              <a:rPr lang="en-US" b="1" dirty="0"/>
              <a:t> </a:t>
            </a:r>
            <a:r>
              <a:rPr lang="en-US" b="1" dirty="0" err="1"/>
              <a:t>ls</a:t>
            </a:r>
            <a:r>
              <a:rPr lang="en-US" b="1" dirty="0"/>
              <a:t> –</a:t>
            </a:r>
            <a:r>
              <a:rPr lang="en-US" b="1" dirty="0" err="1"/>
              <a:t>ld</a:t>
            </a:r>
            <a:r>
              <a:rPr lang="en-US" b="1" dirty="0"/>
              <a:t> /shared</a:t>
            </a:r>
          </a:p>
          <a:p>
            <a:pPr marL="0" lvl="1"/>
            <a:r>
              <a:rPr lang="en-US" dirty="0" err="1"/>
              <a:t>drwxrws</a:t>
            </a:r>
            <a:r>
              <a:rPr lang="en-US" dirty="0"/>
              <a:t>---	          2           root        </a:t>
            </a:r>
            <a:r>
              <a:rPr lang="en-US" dirty="0" err="1"/>
              <a:t>root</a:t>
            </a:r>
            <a:r>
              <a:rPr lang="en-US" dirty="0"/>
              <a:t> 	4096         Feb 27 11:28 /shared</a:t>
            </a:r>
          </a:p>
          <a:p>
            <a:pPr marL="0" lvl="1"/>
            <a:r>
              <a:rPr lang="en-US" dirty="0"/>
              <a:t>[</a:t>
            </a:r>
            <a:r>
              <a:rPr lang="en-US" dirty="0" err="1"/>
              <a:t>student@stationX</a:t>
            </a:r>
            <a:r>
              <a:rPr lang="en-US" dirty="0"/>
              <a:t> ~]$ </a:t>
            </a:r>
            <a:r>
              <a:rPr lang="en-US" b="1" dirty="0"/>
              <a:t>touch /shared/second</a:t>
            </a:r>
          </a:p>
          <a:p>
            <a:pPr marL="0" lvl="1"/>
            <a:r>
              <a:rPr lang="en-US" dirty="0"/>
              <a:t>[</a:t>
            </a:r>
            <a:r>
              <a:rPr lang="en-US" dirty="0" err="1"/>
              <a:t>student@stationX</a:t>
            </a:r>
            <a:r>
              <a:rPr lang="en-US" dirty="0"/>
              <a:t> ~]$ </a:t>
            </a:r>
            <a:r>
              <a:rPr lang="en-US" b="1" dirty="0" err="1"/>
              <a:t>ls</a:t>
            </a:r>
            <a:r>
              <a:rPr lang="en-US" b="1" dirty="0"/>
              <a:t> –l /shared/second</a:t>
            </a:r>
          </a:p>
          <a:p>
            <a:pPr marL="0" lvl="1"/>
            <a:r>
              <a:rPr lang="en-US" dirty="0"/>
              <a:t>-</a:t>
            </a:r>
            <a:r>
              <a:rPr lang="en-US" dirty="0" err="1"/>
              <a:t>rw</a:t>
            </a:r>
            <a:r>
              <a:rPr lang="en-US" dirty="0"/>
              <a:t>-</a:t>
            </a:r>
            <a:r>
              <a:rPr lang="en-US" dirty="0" err="1"/>
              <a:t>rw</a:t>
            </a:r>
            <a:r>
              <a:rPr lang="en-US" dirty="0"/>
              <a:t>-r--            1          student	root 	0	      Feb 27 11:33  /shared/second</a:t>
            </a:r>
          </a:p>
          <a:p>
            <a:endParaRPr lang="en-US" dirty="0"/>
          </a:p>
        </p:txBody>
      </p:sp>
    </p:spTree>
    <p:extLst>
      <p:ext uri="{BB962C8B-B14F-4D97-AF65-F5344CB8AC3E}">
        <p14:creationId xmlns:p14="http://schemas.microsoft.com/office/powerpoint/2010/main" val="15238398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Demo</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16</a:t>
            </a:fld>
            <a:endParaRPr lang="en-US"/>
          </a:p>
        </p:txBody>
      </p:sp>
      <p:sp>
        <p:nvSpPr>
          <p:cNvPr id="5" name="Content Placeholder 4"/>
          <p:cNvSpPr>
            <a:spLocks noGrp="1"/>
          </p:cNvSpPr>
          <p:nvPr>
            <p:ph sz="quarter" idx="1"/>
          </p:nvPr>
        </p:nvSpPr>
        <p:spPr/>
        <p:txBody>
          <a:bodyPr/>
          <a:lstStyle/>
          <a:p>
            <a:pPr marL="0" lvl="1"/>
            <a:r>
              <a:rPr lang="en-US" sz="1500" dirty="0"/>
              <a:t>User need to be able to create and delete files in /</a:t>
            </a:r>
            <a:r>
              <a:rPr lang="en-US" sz="1500" dirty="0" err="1"/>
              <a:t>tmp</a:t>
            </a:r>
            <a:r>
              <a:rPr lang="en-US" sz="1500" dirty="0"/>
              <a:t>/. Even if they do not actively use /</a:t>
            </a:r>
            <a:r>
              <a:rPr lang="en-US" sz="1500" dirty="0" err="1"/>
              <a:t>tmp</a:t>
            </a:r>
            <a:r>
              <a:rPr lang="en-US" sz="1500" dirty="0"/>
              <a:t>/, many applications they run will use /</a:t>
            </a:r>
            <a:r>
              <a:rPr lang="en-US" sz="1500" dirty="0" err="1"/>
              <a:t>tmp</a:t>
            </a:r>
            <a:r>
              <a:rPr lang="en-US" sz="1500" dirty="0"/>
              <a:t>/ as a location for temporary files. Therefore, the /</a:t>
            </a:r>
            <a:r>
              <a:rPr lang="en-US" sz="1500" dirty="0" err="1"/>
              <a:t>tmp</a:t>
            </a:r>
            <a:r>
              <a:rPr lang="en-US" sz="1500" dirty="0"/>
              <a:t> directory is other writer able. Setting the sticky bit prevents users from deleting each others’ files, even though they have full access to the directory.</a:t>
            </a:r>
          </a:p>
          <a:p>
            <a:pPr marL="0" lvl="1"/>
            <a:endParaRPr lang="en-US" dirty="0"/>
          </a:p>
          <a:p>
            <a:pPr marL="0" lvl="1"/>
            <a:r>
              <a:rPr lang="en-US" dirty="0"/>
              <a:t>[</a:t>
            </a:r>
            <a:r>
              <a:rPr lang="en-US" dirty="0" err="1"/>
              <a:t>root@stationX</a:t>
            </a:r>
            <a:r>
              <a:rPr lang="en-US" dirty="0"/>
              <a:t> ~]$ </a:t>
            </a:r>
            <a:r>
              <a:rPr lang="en-US" b="1" dirty="0" err="1"/>
              <a:t>chmod</a:t>
            </a:r>
            <a:r>
              <a:rPr lang="en-US" b="1" dirty="0"/>
              <a:t> 1770 /</a:t>
            </a:r>
            <a:r>
              <a:rPr lang="en-US" b="1" dirty="0" err="1"/>
              <a:t>tmp</a:t>
            </a:r>
            <a:endParaRPr lang="en-US" b="1" dirty="0"/>
          </a:p>
          <a:p>
            <a:pPr marL="0" lvl="1"/>
            <a:r>
              <a:rPr lang="en-US" dirty="0"/>
              <a:t>[</a:t>
            </a:r>
            <a:r>
              <a:rPr lang="en-US" dirty="0" err="1"/>
              <a:t>student@stationX</a:t>
            </a:r>
            <a:r>
              <a:rPr lang="en-US" dirty="0"/>
              <a:t> ~]$</a:t>
            </a:r>
            <a:r>
              <a:rPr lang="en-US" b="1" dirty="0"/>
              <a:t> </a:t>
            </a:r>
            <a:r>
              <a:rPr lang="en-US" b="1" dirty="0" err="1"/>
              <a:t>ls</a:t>
            </a:r>
            <a:r>
              <a:rPr lang="en-US" b="1" dirty="0"/>
              <a:t> –</a:t>
            </a:r>
            <a:r>
              <a:rPr lang="en-US" b="1" dirty="0" err="1"/>
              <a:t>ld</a:t>
            </a:r>
            <a:r>
              <a:rPr lang="en-US" b="1" dirty="0"/>
              <a:t> /</a:t>
            </a:r>
            <a:r>
              <a:rPr lang="en-US" b="1" dirty="0" err="1"/>
              <a:t>tmp</a:t>
            </a:r>
            <a:endParaRPr lang="en-US" b="1" dirty="0"/>
          </a:p>
          <a:p>
            <a:pPr marL="0" lvl="1"/>
            <a:r>
              <a:rPr lang="en-US" dirty="0" err="1"/>
              <a:t>drwxrwxrwt</a:t>
            </a:r>
            <a:r>
              <a:rPr lang="en-US" dirty="0"/>
              <a:t>          13           root        </a:t>
            </a:r>
            <a:r>
              <a:rPr lang="en-US" dirty="0" err="1"/>
              <a:t>root</a:t>
            </a:r>
            <a:r>
              <a:rPr lang="en-US" dirty="0"/>
              <a:t>        4096         Sep 29 12:42  /</a:t>
            </a:r>
            <a:r>
              <a:rPr lang="en-US" dirty="0" err="1"/>
              <a:t>tmp</a:t>
            </a:r>
            <a:endParaRPr lang="en-US" dirty="0"/>
          </a:p>
          <a:p>
            <a:pPr marL="0" lvl="1"/>
            <a:endParaRPr lang="en-US" dirty="0"/>
          </a:p>
          <a:p>
            <a:pPr marL="0" lvl="1"/>
            <a:endParaRPr lang="en-US" dirty="0"/>
          </a:p>
          <a:p>
            <a:endParaRPr lang="en-US" dirty="0"/>
          </a:p>
        </p:txBody>
      </p:sp>
    </p:spTree>
    <p:extLst>
      <p:ext uri="{BB962C8B-B14F-4D97-AF65-F5344CB8AC3E}">
        <p14:creationId xmlns:p14="http://schemas.microsoft.com/office/powerpoint/2010/main" val="38473332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t>Access Control Lists (ACLs</a:t>
            </a:r>
            <a:r>
              <a:rPr lang="en-US" b="1" dirty="0" smtClean="0"/>
              <a:t>)</a:t>
            </a:r>
            <a:endParaRPr lang="en-US" dirty="0"/>
          </a:p>
        </p:txBody>
      </p:sp>
      <p:sp>
        <p:nvSpPr>
          <p:cNvPr id="3" name="Slide Number Placeholder 2"/>
          <p:cNvSpPr>
            <a:spLocks noGrp="1"/>
          </p:cNvSpPr>
          <p:nvPr>
            <p:ph type="sldNum" sz="quarter" idx="12"/>
          </p:nvPr>
        </p:nvSpPr>
        <p:spPr/>
        <p:txBody>
          <a:bodyPr/>
          <a:lstStyle/>
          <a:p>
            <a:fld id="{99DA483C-B394-4922-93D1-88FBB798CB2A}" type="slidenum">
              <a:rPr lang="en-US" smtClean="0"/>
              <a:pPr/>
              <a:t>17</a:t>
            </a:fld>
            <a:endParaRPr lang="en-US"/>
          </a:p>
        </p:txBody>
      </p:sp>
      <p:sp>
        <p:nvSpPr>
          <p:cNvPr id="5" name="Content Placeholder 4"/>
          <p:cNvSpPr>
            <a:spLocks noGrp="1"/>
          </p:cNvSpPr>
          <p:nvPr>
            <p:ph sz="quarter" idx="1"/>
          </p:nvPr>
        </p:nvSpPr>
        <p:spPr/>
        <p:txBody>
          <a:bodyPr>
            <a:normAutofit fontScale="92500" lnSpcReduction="10000"/>
          </a:bodyPr>
          <a:lstStyle/>
          <a:p>
            <a:pPr marL="0" lvl="1">
              <a:buFont typeface="Arial" pitchFamily="34" charset="0"/>
              <a:buChar char="•"/>
            </a:pPr>
            <a:r>
              <a:rPr lang="en-US" dirty="0" smtClean="0"/>
              <a:t>Like conventional permission setting. </a:t>
            </a:r>
          </a:p>
          <a:p>
            <a:pPr marL="0" lvl="1">
              <a:buFont typeface="Arial" pitchFamily="34" charset="0"/>
              <a:buChar char="•"/>
            </a:pPr>
            <a:r>
              <a:rPr lang="en-US" dirty="0" smtClean="0"/>
              <a:t>Grant </a:t>
            </a:r>
            <a:r>
              <a:rPr lang="en-US" dirty="0"/>
              <a:t>or deny access to multiple users or groups</a:t>
            </a:r>
          </a:p>
          <a:p>
            <a:pPr marL="342900" lvl="2">
              <a:buFont typeface="Arial" pitchFamily="34" charset="0"/>
              <a:buChar char="•"/>
            </a:pPr>
            <a:r>
              <a:rPr lang="en-US" dirty="0"/>
              <a:t>Non-root users cannot </a:t>
            </a:r>
            <a:r>
              <a:rPr lang="en-US" b="1" dirty="0" err="1"/>
              <a:t>chown</a:t>
            </a:r>
            <a:r>
              <a:rPr lang="en-US" dirty="0"/>
              <a:t> files</a:t>
            </a:r>
          </a:p>
          <a:p>
            <a:pPr marL="342900" lvl="2">
              <a:buFont typeface="Arial" pitchFamily="34" charset="0"/>
              <a:buChar char="•"/>
            </a:pPr>
            <a:r>
              <a:rPr lang="en-US" dirty="0"/>
              <a:t>Avoids users sharing files with </a:t>
            </a:r>
            <a:r>
              <a:rPr lang="en-US" b="1" dirty="0" err="1"/>
              <a:t>chmod</a:t>
            </a:r>
            <a:r>
              <a:rPr lang="en-US" b="1" dirty="0"/>
              <a:t> 777</a:t>
            </a:r>
          </a:p>
          <a:p>
            <a:pPr marL="0" lvl="1">
              <a:buFont typeface="Arial" pitchFamily="34" charset="0"/>
              <a:buChar char="•"/>
            </a:pPr>
            <a:r>
              <a:rPr lang="en-US" dirty="0"/>
              <a:t>Implemented as a mount option (</a:t>
            </a:r>
            <a:r>
              <a:rPr lang="en-US" dirty="0" err="1"/>
              <a:t>acl</a:t>
            </a:r>
            <a:r>
              <a:rPr lang="en-US" dirty="0"/>
              <a:t>)</a:t>
            </a:r>
          </a:p>
          <a:p>
            <a:pPr marL="342900" lvl="2">
              <a:buFont typeface="Arial" pitchFamily="34" charset="0"/>
              <a:buChar char="•"/>
            </a:pPr>
            <a:r>
              <a:rPr lang="en-US" dirty="0" err="1"/>
              <a:t>Embebbed</a:t>
            </a:r>
            <a:r>
              <a:rPr lang="en-US" dirty="0"/>
              <a:t> in </a:t>
            </a:r>
            <a:r>
              <a:rPr lang="en-US" dirty="0" err="1"/>
              <a:t>filesystem</a:t>
            </a:r>
            <a:r>
              <a:rPr lang="en-US" dirty="0"/>
              <a:t> superblock at install </a:t>
            </a:r>
            <a:r>
              <a:rPr lang="en-US" dirty="0" smtClean="0"/>
              <a:t>time</a:t>
            </a:r>
          </a:p>
          <a:p>
            <a:pPr marL="342900" lvl="2">
              <a:buFont typeface="Arial" pitchFamily="34" charset="0"/>
              <a:buChar char="•"/>
            </a:pPr>
            <a:r>
              <a:rPr lang="en-US" sz="1500" dirty="0"/>
              <a:t>The </a:t>
            </a:r>
            <a:r>
              <a:rPr lang="en-US" sz="1500" dirty="0"/>
              <a:t>ext3 </a:t>
            </a:r>
            <a:r>
              <a:rPr lang="en-US" sz="1500" dirty="0" err="1"/>
              <a:t>filesystem</a:t>
            </a:r>
            <a:r>
              <a:rPr lang="en-US" sz="1500" dirty="0"/>
              <a:t> includes support for access control lists (ACLs) which allow finger grained control of file system permissions than are possible with the standard three access categories that are normally provided. </a:t>
            </a:r>
            <a:endParaRPr lang="en-US" sz="1500" dirty="0"/>
          </a:p>
          <a:p>
            <a:pPr marL="342900" lvl="2">
              <a:buFont typeface="Arial" pitchFamily="34" charset="0"/>
              <a:buChar char="•"/>
            </a:pPr>
            <a:r>
              <a:rPr lang="en-US" sz="1500" dirty="0"/>
              <a:t>Many </a:t>
            </a:r>
            <a:r>
              <a:rPr lang="en-US" sz="1500" dirty="0" err="1"/>
              <a:t>filesystem</a:t>
            </a:r>
            <a:r>
              <a:rPr lang="en-US" sz="1500" dirty="0"/>
              <a:t> commands, such as </a:t>
            </a:r>
            <a:r>
              <a:rPr lang="en-US" sz="1500" b="1" dirty="0" err="1"/>
              <a:t>cp</a:t>
            </a:r>
            <a:r>
              <a:rPr lang="en-US" sz="1500" dirty="0"/>
              <a:t>, </a:t>
            </a:r>
            <a:r>
              <a:rPr lang="en-US" sz="1500" b="1" dirty="0"/>
              <a:t>mv</a:t>
            </a:r>
            <a:r>
              <a:rPr lang="en-US" sz="1500" dirty="0"/>
              <a:t>, and </a:t>
            </a:r>
            <a:r>
              <a:rPr lang="en-US" sz="1500" b="1" dirty="0"/>
              <a:t>tar, </a:t>
            </a:r>
            <a:r>
              <a:rPr lang="en-US" sz="1500" dirty="0"/>
              <a:t>have been modified to copy the associated ACLs for a file</a:t>
            </a:r>
            <a:r>
              <a:rPr lang="en-US" sz="1500" dirty="0"/>
              <a:t>.</a:t>
            </a:r>
          </a:p>
        </p:txBody>
      </p:sp>
    </p:spTree>
    <p:extLst>
      <p:ext uri="{BB962C8B-B14F-4D97-AF65-F5344CB8AC3E}">
        <p14:creationId xmlns:p14="http://schemas.microsoft.com/office/powerpoint/2010/main" val="37701395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Access Control Lists (ACLs</a:t>
            </a:r>
            <a:r>
              <a:rPr lang="en-US" b="1" dirty="0" smtClean="0"/>
              <a:t>)</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18</a:t>
            </a:fld>
            <a:endParaRPr lang="en-US"/>
          </a:p>
        </p:txBody>
      </p:sp>
      <p:sp>
        <p:nvSpPr>
          <p:cNvPr id="5" name="Content Placeholder 4"/>
          <p:cNvSpPr>
            <a:spLocks noGrp="1"/>
          </p:cNvSpPr>
          <p:nvPr>
            <p:ph sz="quarter" idx="1"/>
          </p:nvPr>
        </p:nvSpPr>
        <p:spPr/>
        <p:txBody>
          <a:bodyPr>
            <a:normAutofit fontScale="62500" lnSpcReduction="20000"/>
          </a:bodyPr>
          <a:lstStyle/>
          <a:p>
            <a:r>
              <a:rPr lang="en-US" sz="2100" dirty="0"/>
              <a:t>Before using ACLs for a file or directory, the partition for the file or directory must be mounted with ACL support. If it is a local ext3 file system, it can mounted with the following command:</a:t>
            </a:r>
          </a:p>
          <a:p>
            <a:endParaRPr lang="en-US" sz="2100" dirty="0"/>
          </a:p>
          <a:p>
            <a:r>
              <a:rPr lang="en-US" sz="2100" dirty="0"/>
              <a:t>mount -t ext3 -o </a:t>
            </a:r>
            <a:r>
              <a:rPr lang="en-US" sz="2100" dirty="0" err="1"/>
              <a:t>acl</a:t>
            </a:r>
            <a:r>
              <a:rPr lang="en-US" sz="2100" dirty="0"/>
              <a:t> </a:t>
            </a:r>
            <a:r>
              <a:rPr lang="en-US" sz="2100" i="1" dirty="0"/>
              <a:t>&lt;device-name&gt;</a:t>
            </a:r>
            <a:r>
              <a:rPr lang="en-US" sz="2100" dirty="0"/>
              <a:t> </a:t>
            </a:r>
            <a:r>
              <a:rPr lang="en-US" sz="2100" i="1" dirty="0"/>
              <a:t>&lt;partition&gt;</a:t>
            </a:r>
            <a:r>
              <a:rPr lang="en-US" sz="2100" dirty="0"/>
              <a:t> </a:t>
            </a:r>
          </a:p>
          <a:p>
            <a:pPr lvl="1"/>
            <a:r>
              <a:rPr lang="en-US" dirty="0" smtClean="0"/>
              <a:t>mount </a:t>
            </a:r>
            <a:r>
              <a:rPr lang="en-US" dirty="0"/>
              <a:t>-t ext3 -o </a:t>
            </a:r>
            <a:r>
              <a:rPr lang="en-US" dirty="0" err="1"/>
              <a:t>acl</a:t>
            </a:r>
            <a:r>
              <a:rPr lang="en-US" dirty="0"/>
              <a:t> /</a:t>
            </a:r>
            <a:r>
              <a:rPr lang="en-US" dirty="0" err="1"/>
              <a:t>dev</a:t>
            </a:r>
            <a:r>
              <a:rPr lang="en-US" dirty="0"/>
              <a:t>/VolGroup00/LogVol02 /work </a:t>
            </a:r>
          </a:p>
          <a:p>
            <a:endParaRPr lang="en-US" sz="2100" dirty="0"/>
          </a:p>
          <a:p>
            <a:r>
              <a:rPr lang="en-US" sz="2100" dirty="0"/>
              <a:t>Alternatively, if the partition is listed in the /</a:t>
            </a:r>
            <a:r>
              <a:rPr lang="en-US" sz="2100" dirty="0" err="1"/>
              <a:t>etc</a:t>
            </a:r>
            <a:r>
              <a:rPr lang="en-US" sz="2100" dirty="0"/>
              <a:t>/</a:t>
            </a:r>
            <a:r>
              <a:rPr lang="en-US" sz="2100" dirty="0" err="1"/>
              <a:t>fstab</a:t>
            </a:r>
            <a:r>
              <a:rPr lang="en-US" sz="2100" dirty="0"/>
              <a:t> file, the entry for the partition can include the </a:t>
            </a:r>
            <a:r>
              <a:rPr lang="en-US" sz="2100" dirty="0" err="1"/>
              <a:t>acl</a:t>
            </a:r>
            <a:r>
              <a:rPr lang="en-US" sz="2100" dirty="0"/>
              <a:t> </a:t>
            </a:r>
            <a:r>
              <a:rPr lang="en-US" sz="2100" dirty="0"/>
              <a:t>option:</a:t>
            </a:r>
          </a:p>
          <a:p>
            <a:pPr lvl="1"/>
            <a:r>
              <a:rPr lang="en-US" dirty="0" smtClean="0"/>
              <a:t>LABEL</a:t>
            </a:r>
            <a:r>
              <a:rPr lang="en-US" dirty="0"/>
              <a:t>=/work /work ext3 </a:t>
            </a:r>
            <a:r>
              <a:rPr lang="en-US" dirty="0" err="1"/>
              <a:t>acl</a:t>
            </a:r>
            <a:r>
              <a:rPr lang="en-US" dirty="0"/>
              <a:t> </a:t>
            </a:r>
            <a:r>
              <a:rPr lang="en-US" dirty="0" smtClean="0"/>
              <a:t>0 0</a:t>
            </a:r>
          </a:p>
          <a:p>
            <a:pPr lvl="1"/>
            <a:endParaRPr lang="en-US" dirty="0" smtClean="0"/>
          </a:p>
          <a:p>
            <a:r>
              <a:rPr lang="en-US" sz="2100" dirty="0"/>
              <a:t>Start from Red </a:t>
            </a:r>
            <a:r>
              <a:rPr lang="en-US" sz="2100" dirty="0"/>
              <a:t>Hat Enterprise Linux 5, </a:t>
            </a:r>
            <a:r>
              <a:rPr lang="en-US" sz="2100" dirty="0" err="1"/>
              <a:t>acl</a:t>
            </a:r>
            <a:r>
              <a:rPr lang="en-US" sz="2100" dirty="0"/>
              <a:t> is set as </a:t>
            </a:r>
            <a:r>
              <a:rPr lang="en-US" sz="2100" b="1" dirty="0"/>
              <a:t>default</a:t>
            </a:r>
            <a:r>
              <a:rPr lang="en-US" sz="2100" dirty="0"/>
              <a:t> mount option by the installer.</a:t>
            </a:r>
          </a:p>
          <a:p>
            <a:endParaRPr lang="en-US" dirty="0"/>
          </a:p>
        </p:txBody>
      </p:sp>
    </p:spTree>
    <p:extLst>
      <p:ext uri="{BB962C8B-B14F-4D97-AF65-F5344CB8AC3E}">
        <p14:creationId xmlns:p14="http://schemas.microsoft.com/office/powerpoint/2010/main" val="4372008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Understanding and setting up </a:t>
            </a:r>
            <a:r>
              <a:rPr lang="en-GB" b="1" dirty="0" smtClean="0"/>
              <a:t>ACL</a:t>
            </a:r>
            <a:endParaRPr lang="en-US" dirty="0"/>
          </a:p>
        </p:txBody>
      </p:sp>
      <p:sp>
        <p:nvSpPr>
          <p:cNvPr id="3" name="Footer Placeholder 2"/>
          <p:cNvSpPr>
            <a:spLocks noGrp="1"/>
          </p:cNvSpPr>
          <p:nvPr>
            <p:ph type="ftr" sz="quarter" idx="11"/>
          </p:nvPr>
        </p:nvSpPr>
        <p:spPr/>
        <p:txBody>
          <a:bodyPr/>
          <a:lstStyle/>
          <a:p>
            <a:r>
              <a:rPr lang="en-US" smtClean="0"/>
              <a:t>IT2533</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19</a:t>
            </a:fld>
            <a:endParaRPr lang="en-US"/>
          </a:p>
        </p:txBody>
      </p:sp>
      <p:sp>
        <p:nvSpPr>
          <p:cNvPr id="5" name="Content Placeholder 4"/>
          <p:cNvSpPr>
            <a:spLocks noGrp="1"/>
          </p:cNvSpPr>
          <p:nvPr>
            <p:ph sz="quarter" idx="1"/>
          </p:nvPr>
        </p:nvSpPr>
        <p:spPr/>
        <p:txBody>
          <a:bodyPr/>
          <a:lstStyle/>
          <a:p>
            <a:r>
              <a:rPr lang="en-US" sz="2100" dirty="0"/>
              <a:t>There are two types of ACLs</a:t>
            </a:r>
            <a:r>
              <a:rPr lang="en-US" sz="2100" dirty="0"/>
              <a:t>:</a:t>
            </a:r>
          </a:p>
          <a:p>
            <a:pPr lvl="1"/>
            <a:r>
              <a:rPr lang="en-US" i="1" u="sng" dirty="0"/>
              <a:t>access</a:t>
            </a:r>
            <a:r>
              <a:rPr lang="en-US" i="1" dirty="0"/>
              <a:t> </a:t>
            </a:r>
            <a:r>
              <a:rPr lang="en-US" dirty="0" smtClean="0"/>
              <a:t>ACLs : for files and directories</a:t>
            </a:r>
          </a:p>
          <a:p>
            <a:pPr lvl="2"/>
            <a:r>
              <a:rPr lang="en-US" dirty="0" smtClean="0"/>
              <a:t>The actual permission</a:t>
            </a:r>
          </a:p>
          <a:p>
            <a:pPr lvl="1"/>
            <a:r>
              <a:rPr lang="en-US" i="1" u="sng" dirty="0"/>
              <a:t>default</a:t>
            </a:r>
            <a:r>
              <a:rPr lang="en-US" dirty="0"/>
              <a:t> </a:t>
            </a:r>
            <a:r>
              <a:rPr lang="en-US" dirty="0" smtClean="0"/>
              <a:t>ACLs: only for directories</a:t>
            </a:r>
          </a:p>
          <a:p>
            <a:pPr lvl="2"/>
            <a:r>
              <a:rPr lang="en-US" dirty="0" smtClean="0"/>
              <a:t>If </a:t>
            </a:r>
            <a:r>
              <a:rPr lang="en-US" dirty="0"/>
              <a:t>a file within the directory does not have an access ACL, it uses the rules of the default </a:t>
            </a:r>
            <a:r>
              <a:rPr lang="en-US" dirty="0" smtClean="0"/>
              <a:t>ACL. </a:t>
            </a:r>
          </a:p>
          <a:p>
            <a:pPr lvl="2"/>
            <a:r>
              <a:rPr lang="en-US" dirty="0" smtClean="0"/>
              <a:t>Default </a:t>
            </a:r>
            <a:r>
              <a:rPr lang="en-US" dirty="0"/>
              <a:t>ACLs are optional.</a:t>
            </a:r>
          </a:p>
          <a:p>
            <a:pPr lvl="2"/>
            <a:endParaRPr lang="en-US" dirty="0"/>
          </a:p>
        </p:txBody>
      </p:sp>
    </p:spTree>
    <p:extLst>
      <p:ext uri="{BB962C8B-B14F-4D97-AF65-F5344CB8AC3E}">
        <p14:creationId xmlns:p14="http://schemas.microsoft.com/office/powerpoint/2010/main" val="1860302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ACL</a:t>
            </a:r>
            <a:endParaRPr lang="en-US" dirty="0"/>
          </a:p>
        </p:txBody>
      </p:sp>
      <p:sp>
        <p:nvSpPr>
          <p:cNvPr id="3" name="Footer Placeholder 2"/>
          <p:cNvSpPr>
            <a:spLocks noGrp="1"/>
          </p:cNvSpPr>
          <p:nvPr>
            <p:ph type="ftr" sz="quarter" idx="11"/>
          </p:nvPr>
        </p:nvSpPr>
        <p:spPr/>
        <p:txBody>
          <a:bodyPr/>
          <a:lstStyle/>
          <a:p>
            <a:r>
              <a:rPr lang="en-US" smtClean="0"/>
              <a:t>IT2533</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20</a:t>
            </a:fld>
            <a:endParaRPr lang="en-US"/>
          </a:p>
        </p:txBody>
      </p:sp>
      <p:sp>
        <p:nvSpPr>
          <p:cNvPr id="5" name="Content Placeholder 4"/>
          <p:cNvSpPr>
            <a:spLocks noGrp="1"/>
          </p:cNvSpPr>
          <p:nvPr>
            <p:ph sz="quarter" idx="1"/>
          </p:nvPr>
        </p:nvSpPr>
        <p:spPr/>
        <p:txBody>
          <a:bodyPr>
            <a:normAutofit/>
          </a:bodyPr>
          <a:lstStyle/>
          <a:p>
            <a:r>
              <a:rPr lang="en-US" sz="2100" dirty="0"/>
              <a:t>ACLs can be </a:t>
            </a:r>
            <a:r>
              <a:rPr lang="en-US" sz="2100" dirty="0"/>
              <a:t>configured:</a:t>
            </a:r>
          </a:p>
          <a:p>
            <a:pPr lvl="1"/>
            <a:r>
              <a:rPr lang="en-US" dirty="0" smtClean="0"/>
              <a:t>Per user</a:t>
            </a:r>
          </a:p>
          <a:p>
            <a:pPr lvl="1"/>
            <a:r>
              <a:rPr lang="en-US" dirty="0" smtClean="0"/>
              <a:t>Per group</a:t>
            </a:r>
          </a:p>
          <a:p>
            <a:pPr lvl="1"/>
            <a:r>
              <a:rPr lang="en-US" dirty="0" smtClean="0"/>
              <a:t>For </a:t>
            </a:r>
            <a:r>
              <a:rPr lang="en-US" dirty="0"/>
              <a:t>users not in the user group for the file</a:t>
            </a:r>
          </a:p>
          <a:p>
            <a:r>
              <a:rPr lang="en-US" sz="2100" dirty="0"/>
              <a:t>The </a:t>
            </a:r>
            <a:r>
              <a:rPr lang="en-US" sz="2100" u="sng" dirty="0" err="1"/>
              <a:t>setfacl</a:t>
            </a:r>
            <a:r>
              <a:rPr lang="en-US" sz="2100" dirty="0"/>
              <a:t> utility sets ACLs for files and directories. Use the -m option to add or modify the ACL of a file or directory:</a:t>
            </a:r>
          </a:p>
          <a:p>
            <a:pPr lvl="1"/>
            <a:r>
              <a:rPr lang="en-US" dirty="0" err="1"/>
              <a:t>setfacl</a:t>
            </a:r>
            <a:r>
              <a:rPr lang="en-US" dirty="0"/>
              <a:t> -m </a:t>
            </a:r>
            <a:r>
              <a:rPr lang="en-US" i="1" dirty="0"/>
              <a:t>&lt;rules&gt;</a:t>
            </a:r>
            <a:r>
              <a:rPr lang="en-US" dirty="0"/>
              <a:t> </a:t>
            </a:r>
            <a:r>
              <a:rPr lang="en-US" i="1" dirty="0"/>
              <a:t>&lt;files&gt;</a:t>
            </a:r>
          </a:p>
          <a:p>
            <a:endParaRPr lang="en-US" dirty="0"/>
          </a:p>
        </p:txBody>
      </p:sp>
    </p:spTree>
    <p:extLst>
      <p:ext uri="{BB962C8B-B14F-4D97-AF65-F5344CB8AC3E}">
        <p14:creationId xmlns:p14="http://schemas.microsoft.com/office/powerpoint/2010/main" val="39082393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Understanding and setting up </a:t>
            </a:r>
            <a:r>
              <a:rPr lang="en-GB" b="1" dirty="0" smtClean="0"/>
              <a:t>ACL</a:t>
            </a:r>
            <a:endParaRPr lang="en-US" dirty="0"/>
          </a:p>
        </p:txBody>
      </p:sp>
      <p:sp>
        <p:nvSpPr>
          <p:cNvPr id="3" name="Footer Placeholder 2"/>
          <p:cNvSpPr>
            <a:spLocks noGrp="1"/>
          </p:cNvSpPr>
          <p:nvPr>
            <p:ph type="ftr" sz="quarter" idx="11"/>
          </p:nvPr>
        </p:nvSpPr>
        <p:spPr/>
        <p:txBody>
          <a:bodyPr/>
          <a:lstStyle/>
          <a:p>
            <a:r>
              <a:rPr lang="en-US" smtClean="0"/>
              <a:t>IT2533</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21</a:t>
            </a:fld>
            <a:endParaRPr lang="en-US"/>
          </a:p>
        </p:txBody>
      </p:sp>
      <p:sp>
        <p:nvSpPr>
          <p:cNvPr id="5" name="Content Placeholder 4"/>
          <p:cNvSpPr>
            <a:spLocks noGrp="1"/>
          </p:cNvSpPr>
          <p:nvPr>
            <p:ph sz="quarter" idx="1"/>
          </p:nvPr>
        </p:nvSpPr>
        <p:spPr/>
        <p:txBody>
          <a:bodyPr>
            <a:normAutofit fontScale="77500" lnSpcReduction="20000"/>
          </a:bodyPr>
          <a:lstStyle/>
          <a:p>
            <a:r>
              <a:rPr lang="en-US" dirty="0"/>
              <a:t>Rules (</a:t>
            </a:r>
            <a:r>
              <a:rPr lang="en-US" i="1" dirty="0"/>
              <a:t>&lt;rules&gt;</a:t>
            </a:r>
            <a:r>
              <a:rPr lang="en-US" dirty="0"/>
              <a:t>) must be specified in the following formats. Multiple rules can be specified in the same command if they are separated by commas.</a:t>
            </a:r>
          </a:p>
          <a:p>
            <a:endParaRPr lang="en-US" dirty="0"/>
          </a:p>
          <a:p>
            <a:r>
              <a:rPr lang="en-US" dirty="0"/>
              <a:t>u:</a:t>
            </a:r>
            <a:r>
              <a:rPr lang="en-US" i="1" dirty="0"/>
              <a:t>&lt;uid&gt;</a:t>
            </a:r>
            <a:r>
              <a:rPr lang="en-US" dirty="0"/>
              <a:t>:</a:t>
            </a:r>
            <a:r>
              <a:rPr lang="en-US" i="1" dirty="0"/>
              <a:t>&lt;perms&gt;</a:t>
            </a:r>
            <a:r>
              <a:rPr lang="en-US" dirty="0"/>
              <a:t> Sets the access ACL for a user. The user name or UID may be specified. The user may be any valid user on the system.</a:t>
            </a:r>
          </a:p>
          <a:p>
            <a:endParaRPr lang="en-US" dirty="0"/>
          </a:p>
          <a:p>
            <a:r>
              <a:rPr lang="en-US" dirty="0"/>
              <a:t>g:</a:t>
            </a:r>
            <a:r>
              <a:rPr lang="en-US" i="1" dirty="0"/>
              <a:t>&lt;gid&gt;</a:t>
            </a:r>
            <a:r>
              <a:rPr lang="en-US" dirty="0"/>
              <a:t>:</a:t>
            </a:r>
            <a:r>
              <a:rPr lang="en-US" i="1" dirty="0"/>
              <a:t>&lt;perms&gt;</a:t>
            </a:r>
            <a:r>
              <a:rPr lang="en-US" dirty="0"/>
              <a:t> Sets the access ACL for a group. The group name or GID may be specified. The group may be any valid group on the system.</a:t>
            </a:r>
          </a:p>
          <a:p>
            <a:endParaRPr lang="en-US" dirty="0"/>
          </a:p>
          <a:p>
            <a:r>
              <a:rPr lang="en-US" dirty="0"/>
              <a:t>m:</a:t>
            </a:r>
            <a:r>
              <a:rPr lang="en-US" i="1" dirty="0"/>
              <a:t>&lt;perms&gt;</a:t>
            </a:r>
            <a:r>
              <a:rPr lang="en-US" dirty="0"/>
              <a:t> Sets the effective rights mask. The mask is the </a:t>
            </a:r>
            <a:r>
              <a:rPr lang="en-US" u="sng" dirty="0"/>
              <a:t>union</a:t>
            </a:r>
            <a:r>
              <a:rPr lang="en-US" dirty="0"/>
              <a:t> of all permissions of the owning group and all of the user and group entries.</a:t>
            </a:r>
          </a:p>
          <a:p>
            <a:endParaRPr lang="en-US" dirty="0"/>
          </a:p>
          <a:p>
            <a:r>
              <a:rPr lang="en-US" dirty="0"/>
              <a:t>o:</a:t>
            </a:r>
            <a:r>
              <a:rPr lang="en-US" i="1" dirty="0"/>
              <a:t>&lt;perms&gt;</a:t>
            </a:r>
            <a:r>
              <a:rPr lang="en-US" dirty="0"/>
              <a:t> Sets the access ACL for users other than the ones in the group for the file.</a:t>
            </a:r>
          </a:p>
          <a:p>
            <a:endParaRPr lang="en-US" dirty="0"/>
          </a:p>
        </p:txBody>
      </p:sp>
    </p:spTree>
    <p:extLst>
      <p:ext uri="{BB962C8B-B14F-4D97-AF65-F5344CB8AC3E}">
        <p14:creationId xmlns:p14="http://schemas.microsoft.com/office/powerpoint/2010/main" val="1488491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Understanding and setting up </a:t>
            </a:r>
            <a:r>
              <a:rPr lang="en-GB" b="1" dirty="0" smtClean="0"/>
              <a:t>ACL (cont.)</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22</a:t>
            </a:fld>
            <a:endParaRPr lang="en-US"/>
          </a:p>
        </p:txBody>
      </p:sp>
      <p:sp>
        <p:nvSpPr>
          <p:cNvPr id="5" name="Content Placeholder 4"/>
          <p:cNvSpPr>
            <a:spLocks noGrp="1"/>
          </p:cNvSpPr>
          <p:nvPr>
            <p:ph sz="quarter" idx="1"/>
          </p:nvPr>
        </p:nvSpPr>
        <p:spPr/>
        <p:txBody>
          <a:bodyPr>
            <a:normAutofit fontScale="55000" lnSpcReduction="20000"/>
          </a:bodyPr>
          <a:lstStyle/>
          <a:p>
            <a:r>
              <a:rPr lang="en-US" sz="2100" dirty="0"/>
              <a:t>White space is ignored. Permissions (</a:t>
            </a:r>
            <a:r>
              <a:rPr lang="en-US" sz="2100" i="1" dirty="0"/>
              <a:t>&lt;perms&gt;</a:t>
            </a:r>
            <a:r>
              <a:rPr lang="en-US" sz="2100" dirty="0"/>
              <a:t>) must be a combination of the </a:t>
            </a:r>
            <a:r>
              <a:rPr lang="en-US" sz="2100" u="sng" dirty="0"/>
              <a:t>characters</a:t>
            </a:r>
            <a:r>
              <a:rPr lang="en-US" sz="2100" dirty="0"/>
              <a:t> r, w, and x for read, write, and execute.</a:t>
            </a:r>
          </a:p>
          <a:p>
            <a:endParaRPr lang="en-US" sz="2100" dirty="0"/>
          </a:p>
          <a:p>
            <a:r>
              <a:rPr lang="en-US" sz="2100" dirty="0"/>
              <a:t>If a file or directory already has an ACL, and the </a:t>
            </a:r>
            <a:r>
              <a:rPr lang="en-US" sz="2100" dirty="0" err="1"/>
              <a:t>setfacl</a:t>
            </a:r>
            <a:r>
              <a:rPr lang="en-US" sz="2100" dirty="0"/>
              <a:t> command is used, the additional rules are added to the existing ACL or the existing rule is modified. For example, to give read and write permissions to user </a:t>
            </a:r>
            <a:r>
              <a:rPr lang="en-US" sz="2100" dirty="0" err="1"/>
              <a:t>andriod</a:t>
            </a:r>
            <a:r>
              <a:rPr lang="en-US" sz="2100" dirty="0"/>
              <a:t>:</a:t>
            </a:r>
          </a:p>
          <a:p>
            <a:endParaRPr lang="en-US" sz="2100" dirty="0"/>
          </a:p>
          <a:p>
            <a:r>
              <a:rPr lang="en-US" sz="2100" dirty="0" err="1"/>
              <a:t>setfacl</a:t>
            </a:r>
            <a:r>
              <a:rPr lang="en-US" sz="2100" dirty="0"/>
              <a:t> -m u:andriod:rw /project/</a:t>
            </a:r>
            <a:r>
              <a:rPr lang="en-US" sz="2100" dirty="0" err="1"/>
              <a:t>somefile</a:t>
            </a:r>
            <a:r>
              <a:rPr lang="en-US" sz="2100" dirty="0"/>
              <a:t> </a:t>
            </a:r>
          </a:p>
          <a:p>
            <a:endParaRPr lang="en-US" sz="2100" dirty="0"/>
          </a:p>
          <a:p>
            <a:r>
              <a:rPr lang="en-US" sz="2100" dirty="0"/>
              <a:t>To remove all the permissions for a user, group, or others, use the -x option and do not specify any permissions</a:t>
            </a:r>
            <a:r>
              <a:rPr lang="en-US" sz="2100" dirty="0"/>
              <a:t>:</a:t>
            </a:r>
            <a:endParaRPr lang="en-US" sz="2100" dirty="0"/>
          </a:p>
          <a:p>
            <a:r>
              <a:rPr lang="en-US" sz="2100" dirty="0" err="1"/>
              <a:t>setfacl</a:t>
            </a:r>
            <a:r>
              <a:rPr lang="en-US" sz="2100" dirty="0"/>
              <a:t> -x </a:t>
            </a:r>
            <a:r>
              <a:rPr lang="en-US" sz="2100" i="1" dirty="0"/>
              <a:t>&lt;rules&gt;</a:t>
            </a:r>
            <a:r>
              <a:rPr lang="en-US" sz="2100" dirty="0"/>
              <a:t> </a:t>
            </a:r>
            <a:r>
              <a:rPr lang="en-US" sz="2100" i="1" dirty="0"/>
              <a:t>&lt;files&gt;</a:t>
            </a:r>
            <a:r>
              <a:rPr lang="en-US" sz="2100" dirty="0"/>
              <a:t> For example, to remove all permissions from the user with UID 500:</a:t>
            </a:r>
          </a:p>
          <a:p>
            <a:r>
              <a:rPr lang="en-US" sz="2100" dirty="0" err="1"/>
              <a:t>setfacl</a:t>
            </a:r>
            <a:r>
              <a:rPr lang="en-US" sz="2100" dirty="0"/>
              <a:t> -x u:500 /project/</a:t>
            </a:r>
            <a:r>
              <a:rPr lang="en-US" sz="2100" dirty="0" err="1"/>
              <a:t>somefile</a:t>
            </a:r>
            <a:r>
              <a:rPr lang="en-US" sz="2100" dirty="0"/>
              <a:t> </a:t>
            </a:r>
            <a:endParaRPr lang="en-US" dirty="0"/>
          </a:p>
        </p:txBody>
      </p:sp>
    </p:spTree>
    <p:extLst>
      <p:ext uri="{BB962C8B-B14F-4D97-AF65-F5344CB8AC3E}">
        <p14:creationId xmlns:p14="http://schemas.microsoft.com/office/powerpoint/2010/main" val="889064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Setup Default </a:t>
            </a:r>
            <a:r>
              <a:rPr lang="en-GB" b="1" dirty="0" smtClean="0"/>
              <a:t>ACL</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23</a:t>
            </a:fld>
            <a:endParaRPr lang="en-US"/>
          </a:p>
        </p:txBody>
      </p:sp>
      <p:sp>
        <p:nvSpPr>
          <p:cNvPr id="5" name="Content Placeholder 4"/>
          <p:cNvSpPr>
            <a:spLocks noGrp="1"/>
          </p:cNvSpPr>
          <p:nvPr>
            <p:ph sz="quarter" idx="1"/>
          </p:nvPr>
        </p:nvSpPr>
        <p:spPr/>
        <p:txBody>
          <a:bodyPr/>
          <a:lstStyle/>
          <a:p>
            <a:r>
              <a:rPr lang="en-US" sz="2100" dirty="0"/>
              <a:t>To set a default ACL, add d: before the rule and specify a </a:t>
            </a:r>
            <a:r>
              <a:rPr lang="en-US" sz="2100" u="sng" dirty="0"/>
              <a:t>directory</a:t>
            </a:r>
            <a:r>
              <a:rPr lang="en-US" sz="2100" dirty="0"/>
              <a:t> instead of a file name.</a:t>
            </a:r>
          </a:p>
          <a:p>
            <a:r>
              <a:rPr lang="en-US" sz="2100" dirty="0"/>
              <a:t>For example, to set the default ACL for the /share/ directory to read and </a:t>
            </a:r>
            <a:r>
              <a:rPr lang="en-US" sz="2100" u="sng" dirty="0"/>
              <a:t>execute</a:t>
            </a:r>
            <a:r>
              <a:rPr lang="en-US" sz="2100" dirty="0"/>
              <a:t> for users not in the user group (an </a:t>
            </a:r>
            <a:r>
              <a:rPr lang="en-US" sz="2100" u="sng" dirty="0"/>
              <a:t>access</a:t>
            </a:r>
            <a:r>
              <a:rPr lang="en-US" sz="2100" dirty="0"/>
              <a:t> ACL for an individual file can override it):</a:t>
            </a:r>
          </a:p>
          <a:p>
            <a:endParaRPr lang="en-US" sz="2100" dirty="0"/>
          </a:p>
          <a:p>
            <a:pPr lvl="1"/>
            <a:r>
              <a:rPr lang="en-US" u="sng" dirty="0" err="1"/>
              <a:t>setfacl</a:t>
            </a:r>
            <a:r>
              <a:rPr lang="en-US" dirty="0"/>
              <a:t> -m d:o:rx /share </a:t>
            </a:r>
            <a:endParaRPr lang="en-GB" b="1" i="1" dirty="0"/>
          </a:p>
          <a:p>
            <a:endParaRPr lang="en-US" dirty="0"/>
          </a:p>
        </p:txBody>
      </p:sp>
    </p:spTree>
    <p:extLst>
      <p:ext uri="{BB962C8B-B14F-4D97-AF65-F5344CB8AC3E}">
        <p14:creationId xmlns:p14="http://schemas.microsoft.com/office/powerpoint/2010/main" val="858885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Viewing </a:t>
            </a:r>
            <a:r>
              <a:rPr lang="en-GB" b="1" dirty="0" smtClean="0"/>
              <a:t>ACL</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24</a:t>
            </a:fld>
            <a:endParaRPr lang="en-US"/>
          </a:p>
        </p:txBody>
      </p:sp>
      <p:sp>
        <p:nvSpPr>
          <p:cNvPr id="5" name="Content Placeholder 4"/>
          <p:cNvSpPr>
            <a:spLocks noGrp="1"/>
          </p:cNvSpPr>
          <p:nvPr>
            <p:ph sz="quarter" idx="1"/>
          </p:nvPr>
        </p:nvSpPr>
        <p:spPr/>
        <p:txBody>
          <a:bodyPr>
            <a:normAutofit fontScale="85000" lnSpcReduction="20000"/>
          </a:bodyPr>
          <a:lstStyle/>
          <a:p>
            <a:r>
              <a:rPr lang="en-US" sz="2100" dirty="0"/>
              <a:t>To determine the existing ACLs for a file or directory, use the </a:t>
            </a:r>
            <a:r>
              <a:rPr lang="en-US" sz="2100" dirty="0" err="1"/>
              <a:t>getfacl</a:t>
            </a:r>
            <a:r>
              <a:rPr lang="en-US" sz="2100" dirty="0"/>
              <a:t> command:</a:t>
            </a:r>
          </a:p>
          <a:p>
            <a:pPr lvl="1"/>
            <a:r>
              <a:rPr lang="en-US" dirty="0" err="1"/>
              <a:t>getfacl</a:t>
            </a:r>
            <a:r>
              <a:rPr lang="en-US" dirty="0"/>
              <a:t> </a:t>
            </a:r>
            <a:r>
              <a:rPr lang="en-US" i="1" dirty="0"/>
              <a:t>&lt;filename&gt;</a:t>
            </a:r>
            <a:r>
              <a:rPr lang="en-US" dirty="0"/>
              <a:t> It returns output similar to the following</a:t>
            </a:r>
            <a:r>
              <a:rPr lang="en-US" dirty="0" smtClean="0"/>
              <a:t>:</a:t>
            </a:r>
          </a:p>
          <a:p>
            <a:pPr lvl="1"/>
            <a:r>
              <a:rPr lang="en-US" dirty="0"/>
              <a:t># file: filename</a:t>
            </a:r>
            <a:br>
              <a:rPr lang="en-US" dirty="0"/>
            </a:br>
            <a:r>
              <a:rPr lang="en-US" dirty="0"/>
              <a:t># owner: </a:t>
            </a:r>
            <a:r>
              <a:rPr lang="en-US" dirty="0" err="1"/>
              <a:t>uid</a:t>
            </a:r>
            <a:r>
              <a:rPr lang="en-US" dirty="0"/>
              <a:t/>
            </a:r>
            <a:br>
              <a:rPr lang="en-US" dirty="0"/>
            </a:br>
            <a:r>
              <a:rPr lang="en-US" dirty="0"/>
              <a:t># group: </a:t>
            </a:r>
            <a:r>
              <a:rPr lang="en-US" dirty="0" err="1"/>
              <a:t>gid</a:t>
            </a:r>
            <a:r>
              <a:rPr lang="en-US" dirty="0"/>
              <a:t/>
            </a:r>
            <a:br>
              <a:rPr lang="en-US" dirty="0"/>
            </a:br>
            <a:r>
              <a:rPr lang="en-US" dirty="0"/>
              <a:t>user::perm</a:t>
            </a:r>
            <a:br>
              <a:rPr lang="en-US" dirty="0"/>
            </a:br>
            <a:r>
              <a:rPr lang="en-US" dirty="0" err="1"/>
              <a:t>user:uid:perm</a:t>
            </a:r>
            <a:r>
              <a:rPr lang="en-US" dirty="0"/>
              <a:t/>
            </a:r>
            <a:br>
              <a:rPr lang="en-US" dirty="0"/>
            </a:br>
            <a:r>
              <a:rPr lang="en-US" dirty="0"/>
              <a:t>group::perm</a:t>
            </a:r>
            <a:br>
              <a:rPr lang="en-US" dirty="0"/>
            </a:br>
            <a:r>
              <a:rPr lang="en-US" dirty="0" err="1"/>
              <a:t>group:gid:perm</a:t>
            </a:r>
            <a:r>
              <a:rPr lang="en-US" dirty="0"/>
              <a:t/>
            </a:r>
            <a:br>
              <a:rPr lang="en-US" dirty="0"/>
            </a:br>
            <a:r>
              <a:rPr lang="en-US" dirty="0" err="1"/>
              <a:t>mask:perm</a:t>
            </a:r>
            <a:r>
              <a:rPr lang="en-US" dirty="0"/>
              <a:t/>
            </a:r>
            <a:br>
              <a:rPr lang="en-US" dirty="0"/>
            </a:br>
            <a:r>
              <a:rPr lang="en-US" dirty="0" err="1"/>
              <a:t>other:perm</a:t>
            </a:r>
            <a:r>
              <a:rPr lang="en-US" dirty="0"/>
              <a:t/>
            </a:r>
            <a:br>
              <a:rPr lang="en-US" dirty="0"/>
            </a:br>
            <a:r>
              <a:rPr lang="en-US" dirty="0" err="1"/>
              <a:t>default:user</a:t>
            </a:r>
            <a:r>
              <a:rPr lang="en-US" dirty="0"/>
              <a:t>::perm</a:t>
            </a:r>
            <a:br>
              <a:rPr lang="en-US" dirty="0"/>
            </a:br>
            <a:r>
              <a:rPr lang="en-US" dirty="0" err="1"/>
              <a:t>default:user:uid:perm</a:t>
            </a:r>
            <a:r>
              <a:rPr lang="en-US" dirty="0"/>
              <a:t/>
            </a:r>
            <a:br>
              <a:rPr lang="en-US" dirty="0"/>
            </a:br>
            <a:r>
              <a:rPr lang="en-US" dirty="0" err="1"/>
              <a:t>default:group</a:t>
            </a:r>
            <a:r>
              <a:rPr lang="en-US" dirty="0"/>
              <a:t>::perm</a:t>
            </a:r>
            <a:br>
              <a:rPr lang="en-US" dirty="0"/>
            </a:br>
            <a:r>
              <a:rPr lang="en-US" dirty="0" err="1"/>
              <a:t>default:group:gid:perm</a:t>
            </a:r>
            <a:r>
              <a:rPr lang="en-US" dirty="0"/>
              <a:t/>
            </a:r>
            <a:br>
              <a:rPr lang="en-US" dirty="0"/>
            </a:br>
            <a:r>
              <a:rPr lang="en-US" dirty="0" err="1"/>
              <a:t>default:mask:perm</a:t>
            </a:r>
            <a:r>
              <a:rPr lang="en-US" dirty="0"/>
              <a:t/>
            </a:r>
            <a:br>
              <a:rPr lang="en-US" dirty="0"/>
            </a:br>
            <a:r>
              <a:rPr lang="en-US" dirty="0" err="1"/>
              <a:t>default:other:perm</a:t>
            </a:r>
            <a:endParaRPr lang="en-US" dirty="0"/>
          </a:p>
        </p:txBody>
      </p:sp>
    </p:spTree>
    <p:extLst>
      <p:ext uri="{BB962C8B-B14F-4D97-AF65-F5344CB8AC3E}">
        <p14:creationId xmlns:p14="http://schemas.microsoft.com/office/powerpoint/2010/main" val="1014896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25</a:t>
            </a:fld>
            <a:endParaRPr lang="en-US"/>
          </a:p>
        </p:txBody>
      </p:sp>
      <p:sp>
        <p:nvSpPr>
          <p:cNvPr id="5" name="Content Placeholder 4"/>
          <p:cNvSpPr>
            <a:spLocks noGrp="1"/>
          </p:cNvSpPr>
          <p:nvPr>
            <p:ph sz="quarter" idx="1"/>
          </p:nvPr>
        </p:nvSpPr>
        <p:spPr/>
        <p:txBody>
          <a:bodyPr/>
          <a:lstStyle/>
          <a:p>
            <a:pPr marL="0" lvl="1">
              <a:buFont typeface="Arial" pitchFamily="34" charset="0"/>
              <a:buChar char="•"/>
            </a:pPr>
            <a:r>
              <a:rPr lang="en-US" dirty="0"/>
              <a:t>Viewing :</a:t>
            </a:r>
          </a:p>
          <a:p>
            <a:pPr marL="342900" lvl="2"/>
            <a:r>
              <a:rPr lang="en-US" dirty="0"/>
              <a:t>$ </a:t>
            </a:r>
            <a:r>
              <a:rPr lang="en-US" b="1" dirty="0" err="1"/>
              <a:t>getfacl</a:t>
            </a:r>
            <a:r>
              <a:rPr lang="en-US" b="1" dirty="0"/>
              <a:t> filename</a:t>
            </a:r>
          </a:p>
          <a:p>
            <a:pPr marL="0" lvl="1">
              <a:buFont typeface="Arial" pitchFamily="34" charset="0"/>
              <a:buChar char="•"/>
            </a:pPr>
            <a:r>
              <a:rPr lang="en-US" dirty="0"/>
              <a:t>Modifying (Adding or Changing):</a:t>
            </a:r>
          </a:p>
          <a:p>
            <a:pPr marL="342900" lvl="2"/>
            <a:r>
              <a:rPr lang="en-US" dirty="0"/>
              <a:t>$</a:t>
            </a:r>
            <a:r>
              <a:rPr lang="en-US" b="1" dirty="0" err="1"/>
              <a:t>setfacl</a:t>
            </a:r>
            <a:r>
              <a:rPr lang="en-US" b="1" dirty="0"/>
              <a:t> –m </a:t>
            </a:r>
            <a:r>
              <a:rPr lang="en-US" b="1" dirty="0" smtClean="0"/>
              <a:t>u:user1: </a:t>
            </a:r>
            <a:r>
              <a:rPr lang="en-US" b="1" dirty="0" err="1"/>
              <a:t>rw</a:t>
            </a:r>
            <a:r>
              <a:rPr lang="en-US" b="1" dirty="0"/>
              <a:t> filename</a:t>
            </a:r>
          </a:p>
          <a:p>
            <a:pPr marL="0" lvl="1">
              <a:buFont typeface="Arial" pitchFamily="34" charset="0"/>
              <a:buChar char="•"/>
            </a:pPr>
            <a:r>
              <a:rPr lang="en-US" dirty="0"/>
              <a:t>Removing (Expunging):</a:t>
            </a:r>
          </a:p>
          <a:p>
            <a:pPr marL="342900" lvl="2"/>
            <a:r>
              <a:rPr lang="en-US" dirty="0"/>
              <a:t>$</a:t>
            </a:r>
            <a:r>
              <a:rPr lang="en-US" dirty="0" err="1"/>
              <a:t>setfacl</a:t>
            </a:r>
            <a:r>
              <a:rPr lang="en-US" dirty="0"/>
              <a:t> –x u:user1 filename</a:t>
            </a:r>
          </a:p>
          <a:p>
            <a:endParaRPr lang="en-US" dirty="0"/>
          </a:p>
        </p:txBody>
      </p:sp>
    </p:spTree>
    <p:extLst>
      <p:ext uri="{BB962C8B-B14F-4D97-AF65-F5344CB8AC3E}">
        <p14:creationId xmlns:p14="http://schemas.microsoft.com/office/powerpoint/2010/main" val="3222705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26</a:t>
            </a:fld>
            <a:endParaRPr lang="en-US"/>
          </a:p>
        </p:txBody>
      </p:sp>
      <p:sp>
        <p:nvSpPr>
          <p:cNvPr id="5" name="Content Placeholder 4"/>
          <p:cNvSpPr>
            <a:spLocks noGrp="1"/>
          </p:cNvSpPr>
          <p:nvPr>
            <p:ph sz="quarter" idx="1"/>
          </p:nvPr>
        </p:nvSpPr>
        <p:spPr/>
        <p:txBody>
          <a:bodyPr>
            <a:normAutofit/>
          </a:bodyPr>
          <a:lstStyle/>
          <a:p>
            <a:pPr marL="0" lvl="2"/>
            <a:r>
              <a:rPr lang="en-US" dirty="0"/>
              <a:t>Note that you can quickly see if there are ACLs defined on a file (or directory) looking at the </a:t>
            </a:r>
            <a:r>
              <a:rPr lang="en-US" b="1" dirty="0" err="1"/>
              <a:t>ls</a:t>
            </a:r>
            <a:r>
              <a:rPr lang="en-US" b="1" dirty="0"/>
              <a:t> –l</a:t>
            </a:r>
            <a:r>
              <a:rPr lang="en-US" dirty="0"/>
              <a:t> output, you will get a “+” sign appearing at the end of the permission columns.</a:t>
            </a:r>
          </a:p>
          <a:p>
            <a:pPr marL="0" lvl="2"/>
            <a:endParaRPr lang="en-US" dirty="0"/>
          </a:p>
          <a:p>
            <a:pPr marL="0" lvl="2"/>
            <a:r>
              <a:rPr lang="en-US" dirty="0"/>
              <a:t>[</a:t>
            </a:r>
            <a:r>
              <a:rPr lang="en-US" dirty="0" err="1"/>
              <a:t>student@stationX</a:t>
            </a:r>
            <a:r>
              <a:rPr lang="en-US" dirty="0"/>
              <a:t> ~]$ </a:t>
            </a:r>
            <a:r>
              <a:rPr lang="en-US" b="1" dirty="0" err="1"/>
              <a:t>ls</a:t>
            </a:r>
            <a:r>
              <a:rPr lang="en-US" b="1" dirty="0"/>
              <a:t> –l /shared</a:t>
            </a:r>
          </a:p>
          <a:p>
            <a:pPr marL="0" lvl="2"/>
            <a:r>
              <a:rPr lang="en-US" dirty="0"/>
              <a:t>-</a:t>
            </a:r>
            <a:r>
              <a:rPr lang="en-US" dirty="0" err="1"/>
              <a:t>rw</a:t>
            </a:r>
            <a:r>
              <a:rPr lang="en-US" dirty="0"/>
              <a:t>-</a:t>
            </a:r>
            <a:r>
              <a:rPr lang="en-US" dirty="0" err="1"/>
              <a:t>rwx</a:t>
            </a:r>
            <a:r>
              <a:rPr lang="en-US" dirty="0"/>
              <a:t>-r--+    1   student   </a:t>
            </a:r>
            <a:r>
              <a:rPr lang="en-US" dirty="0" err="1"/>
              <a:t>student</a:t>
            </a:r>
            <a:r>
              <a:rPr lang="en-US" dirty="0"/>
              <a:t>     0  2009-06-25  00:52 schedular.txt</a:t>
            </a:r>
          </a:p>
          <a:p>
            <a:pPr marL="0" lvl="2"/>
            <a:endParaRPr lang="en-US" b="1" dirty="0"/>
          </a:p>
          <a:p>
            <a:endParaRPr lang="en-US" dirty="0"/>
          </a:p>
        </p:txBody>
      </p:sp>
    </p:spTree>
    <p:extLst>
      <p:ext uri="{BB962C8B-B14F-4D97-AF65-F5344CB8AC3E}">
        <p14:creationId xmlns:p14="http://schemas.microsoft.com/office/powerpoint/2010/main" val="671738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Permission </a:t>
            </a:r>
            <a:r>
              <a:rPr lang="en-US" b="1" dirty="0" smtClean="0"/>
              <a:t>Precedence</a:t>
            </a:r>
            <a:endParaRPr lang="en-US" dirty="0"/>
          </a:p>
        </p:txBody>
      </p:sp>
      <p:sp>
        <p:nvSpPr>
          <p:cNvPr id="4" name="Slide Number Placeholder 3"/>
          <p:cNvSpPr>
            <a:spLocks noGrp="1"/>
          </p:cNvSpPr>
          <p:nvPr>
            <p:ph type="sldNum" sz="quarter" idx="12"/>
          </p:nvPr>
        </p:nvSpPr>
        <p:spPr/>
        <p:txBody>
          <a:bodyPr/>
          <a:lstStyle/>
          <a:p>
            <a:fld id="{99DA483C-B394-4922-93D1-88FBB798CB2A}" type="slidenum">
              <a:rPr lang="en-US" smtClean="0"/>
              <a:pPr/>
              <a:t>27</a:t>
            </a:fld>
            <a:endParaRPr lang="en-US"/>
          </a:p>
        </p:txBody>
      </p:sp>
      <p:sp>
        <p:nvSpPr>
          <p:cNvPr id="5" name="Content Placeholder 4"/>
          <p:cNvSpPr>
            <a:spLocks noGrp="1"/>
          </p:cNvSpPr>
          <p:nvPr>
            <p:ph sz="quarter" idx="1"/>
          </p:nvPr>
        </p:nvSpPr>
        <p:spPr/>
        <p:txBody>
          <a:bodyPr>
            <a:normAutofit fontScale="92500" lnSpcReduction="20000"/>
          </a:bodyPr>
          <a:lstStyle/>
          <a:p>
            <a:pPr marL="0" lvl="2">
              <a:buFont typeface="Arial" pitchFamily="34" charset="0"/>
              <a:buChar char="•"/>
            </a:pPr>
            <a:r>
              <a:rPr lang="en-US" dirty="0"/>
              <a:t>Three access categories: User, Group, and Other</a:t>
            </a:r>
          </a:p>
          <a:p>
            <a:pPr marL="0" lvl="2">
              <a:buFont typeface="Arial" pitchFamily="34" charset="0"/>
              <a:buChar char="•"/>
            </a:pPr>
            <a:r>
              <a:rPr lang="en-US" dirty="0"/>
              <a:t>Compare process UID to</a:t>
            </a:r>
          </a:p>
          <a:p>
            <a:pPr marL="342900" lvl="3">
              <a:buFont typeface="Arial" pitchFamily="34" charset="0"/>
              <a:buChar char="•"/>
            </a:pPr>
            <a:r>
              <a:rPr lang="en-US" dirty="0"/>
              <a:t>UID of file =&gt; user permissions apply</a:t>
            </a:r>
          </a:p>
          <a:p>
            <a:pPr marL="342900" lvl="3">
              <a:buFont typeface="Arial" pitchFamily="34" charset="0"/>
              <a:buChar char="•"/>
            </a:pPr>
            <a:r>
              <a:rPr lang="en-US" dirty="0"/>
              <a:t>ACL UID of file =&gt; ACL’s permissions apply</a:t>
            </a:r>
          </a:p>
          <a:p>
            <a:pPr marL="0" lvl="2">
              <a:buFont typeface="Arial" pitchFamily="34" charset="0"/>
              <a:buChar char="•"/>
            </a:pPr>
            <a:r>
              <a:rPr lang="en-US" dirty="0"/>
              <a:t>Otherwise, compare list of process GIDs to</a:t>
            </a:r>
          </a:p>
          <a:p>
            <a:pPr marL="342900" lvl="3">
              <a:buFont typeface="Arial" pitchFamily="34" charset="0"/>
              <a:buChar char="•"/>
            </a:pPr>
            <a:r>
              <a:rPr lang="en-US" dirty="0"/>
              <a:t>GID if file =&gt; group permissions apply</a:t>
            </a:r>
          </a:p>
          <a:p>
            <a:pPr marL="342900" lvl="3">
              <a:buFont typeface="Arial" pitchFamily="34" charset="0"/>
              <a:buChar char="•"/>
            </a:pPr>
            <a:r>
              <a:rPr lang="en-US" dirty="0"/>
              <a:t>ACL UID of file =&gt; ACL’s permission apply</a:t>
            </a:r>
          </a:p>
          <a:p>
            <a:pPr marL="342900" lvl="3">
              <a:buFont typeface="Arial" pitchFamily="34" charset="0"/>
              <a:buChar char="•"/>
            </a:pPr>
            <a:r>
              <a:rPr lang="en-US" dirty="0"/>
              <a:t>Since there can be multiple matches at this level, it is additive within this level</a:t>
            </a:r>
          </a:p>
          <a:p>
            <a:pPr marL="0" lvl="2">
              <a:buFont typeface="Arial" pitchFamily="34" charset="0"/>
              <a:buChar char="•"/>
            </a:pPr>
            <a:r>
              <a:rPr lang="en-US" dirty="0"/>
              <a:t>If neither match, other permissions </a:t>
            </a:r>
            <a:r>
              <a:rPr lang="en-US" dirty="0" smtClean="0"/>
              <a:t>apply</a:t>
            </a:r>
          </a:p>
          <a:p>
            <a:pPr marL="0" lvl="2">
              <a:buFont typeface="Arial" pitchFamily="34" charset="0"/>
              <a:buChar char="•"/>
            </a:pPr>
            <a:endParaRPr lang="en-US" dirty="0" smtClean="0"/>
          </a:p>
          <a:p>
            <a:pPr marL="0" lvl="2">
              <a:buFont typeface="Arial" pitchFamily="34" charset="0"/>
              <a:buChar char="•"/>
            </a:pPr>
            <a:r>
              <a:rPr lang="en-US" dirty="0" smtClean="0"/>
              <a:t>*When </a:t>
            </a:r>
            <a:r>
              <a:rPr lang="en-US" dirty="0"/>
              <a:t>determining whether a process should be granted user, group, or other permissions, a UID match takes precedence over a GID match. So if a file is owned by UID 500 and GID 600 and a process with the same UID and GID attempts to access it, the user permissions will be used, despite the fact that the GIDs also match.</a:t>
            </a:r>
          </a:p>
          <a:p>
            <a:pPr marL="0" lvl="2">
              <a:buFont typeface="Arial" pitchFamily="34" charset="0"/>
              <a:buChar char="•"/>
            </a:pPr>
            <a:endParaRPr lang="en-US" dirty="0"/>
          </a:p>
          <a:p>
            <a:endParaRPr lang="en-US" dirty="0"/>
          </a:p>
        </p:txBody>
      </p:sp>
    </p:spTree>
    <p:extLst>
      <p:ext uri="{BB962C8B-B14F-4D97-AF65-F5344CB8AC3E}">
        <p14:creationId xmlns:p14="http://schemas.microsoft.com/office/powerpoint/2010/main" val="4114988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SG" dirty="0" smtClean="0"/>
              <a:t>THE END</a:t>
            </a:r>
            <a:endParaRPr lang="en-SG" dirty="0"/>
          </a:p>
        </p:txBody>
      </p:sp>
      <p:sp>
        <p:nvSpPr>
          <p:cNvPr id="5" name="Text Placeholder 4"/>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5546352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192</TotalTime>
  <Words>2329</Words>
  <Application>Microsoft Office PowerPoint</Application>
  <PresentationFormat>On-screen Show (16:9)</PresentationFormat>
  <Paragraphs>247</Paragraphs>
  <Slides>28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Calibri Light</vt:lpstr>
      <vt:lpstr>Arial</vt:lpstr>
      <vt:lpstr>Calibri</vt:lpstr>
      <vt:lpstr>Celestial</vt:lpstr>
      <vt:lpstr>IT2757 Server and Services Security Management - LINUX ACL and FILE COLLABORATION</vt:lpstr>
      <vt:lpstr>Objectives of this unit:</vt:lpstr>
      <vt:lpstr>Viewing/Setting Ownership and Permissions (Recap)</vt:lpstr>
      <vt:lpstr>Example</vt:lpstr>
      <vt:lpstr>Umask Recap</vt:lpstr>
      <vt:lpstr>User Private Groups</vt:lpstr>
      <vt:lpstr>Shared Groups</vt:lpstr>
      <vt:lpstr>SUID and SGID</vt:lpstr>
      <vt:lpstr>setgid on directories</vt:lpstr>
      <vt:lpstr>Setting of SUID and SGID Example</vt:lpstr>
      <vt:lpstr>SUID Security issues </vt:lpstr>
      <vt:lpstr>Sticky Bit</vt:lpstr>
      <vt:lpstr>Sticky Bit</vt:lpstr>
      <vt:lpstr>Demo</vt:lpstr>
      <vt:lpstr>Demo</vt:lpstr>
      <vt:lpstr>Demo</vt:lpstr>
      <vt:lpstr>Access Control Lists (ACLs)</vt:lpstr>
      <vt:lpstr>Access Control Lists (ACLs)</vt:lpstr>
      <vt:lpstr>Understanding and setting up ACL</vt:lpstr>
      <vt:lpstr>Configure ACL</vt:lpstr>
      <vt:lpstr>Understanding and setting up ACL</vt:lpstr>
      <vt:lpstr>Understanding and setting up ACL (cont.)</vt:lpstr>
      <vt:lpstr>Setup Default ACL</vt:lpstr>
      <vt:lpstr>Viewing ACL</vt:lpstr>
      <vt:lpstr>Demo</vt:lpstr>
      <vt:lpstr>Demo</vt:lpstr>
      <vt:lpstr>Permission Precedence</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LAM SIMON</dc:creator>
  <cp:lastModifiedBy>LAM SIMON</cp:lastModifiedBy>
  <cp:revision>28</cp:revision>
  <dcterms:modified xsi:type="dcterms:W3CDTF">2018-04-06T06:13:47Z</dcterms:modified>
</cp:coreProperties>
</file>