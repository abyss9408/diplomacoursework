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5"/>
  </p:notesMasterIdLst>
  <p:sldIdLst>
    <p:sldId id="256" r:id="rId2"/>
    <p:sldId id="351" r:id="rId3"/>
    <p:sldId id="359" r:id="rId4"/>
    <p:sldId id="360" r:id="rId5"/>
    <p:sldId id="361" r:id="rId6"/>
    <p:sldId id="352" r:id="rId7"/>
    <p:sldId id="353" r:id="rId8"/>
    <p:sldId id="354" r:id="rId9"/>
    <p:sldId id="355" r:id="rId10"/>
    <p:sldId id="356" r:id="rId11"/>
    <p:sldId id="357" r:id="rId12"/>
    <p:sldId id="358" r:id="rId13"/>
    <p:sldId id="362" r:id="rId14"/>
    <p:sldId id="363" r:id="rId15"/>
    <p:sldId id="364" r:id="rId16"/>
    <p:sldId id="365" r:id="rId17"/>
    <p:sldId id="366" r:id="rId18"/>
    <p:sldId id="367" r:id="rId19"/>
    <p:sldId id="368" r:id="rId20"/>
    <p:sldId id="369" r:id="rId21"/>
    <p:sldId id="370" r:id="rId22"/>
    <p:sldId id="371" r:id="rId23"/>
    <p:sldId id="372" r:id="rId24"/>
    <p:sldId id="373" r:id="rId25"/>
    <p:sldId id="374" r:id="rId26"/>
    <p:sldId id="375" r:id="rId27"/>
    <p:sldId id="376" r:id="rId28"/>
    <p:sldId id="377" r:id="rId29"/>
    <p:sldId id="378" r:id="rId30"/>
    <p:sldId id="379" r:id="rId31"/>
    <p:sldId id="380" r:id="rId32"/>
    <p:sldId id="381" r:id="rId33"/>
    <p:sldId id="288" r:id="rId34"/>
  </p:sldIdLst>
  <p:sldSz cx="9144000" cy="5143500" type="screen16x9"/>
  <p:notesSz cx="6858000" cy="9144000"/>
  <p:embeddedFontLst>
    <p:embeddedFont>
      <p:font typeface="helvetica" panose="020B0604020202020204" pitchFamily="34" charset="0"/>
      <p:regular r:id="rId36"/>
      <p:bold r:id="rId37"/>
      <p:italic r:id="rId38"/>
      <p:boldItalic r:id="rId39"/>
    </p:embeddedFont>
    <p:embeddedFont>
      <p:font typeface="Calibri Light" panose="020F0302020204030204" pitchFamily="34" charset="0"/>
      <p:regular r:id="rId40"/>
      <p:italic r:id="rId41"/>
    </p:embeddedFont>
    <p:embeddedFont>
      <p:font typeface="Calibri" panose="020F0502020204030204" pitchFamily="34" charset="0"/>
      <p:regular r:id="rId42"/>
      <p:bold r:id="rId43"/>
      <p:italic r:id="rId44"/>
      <p:boldItalic r:id="rId45"/>
    </p:embeddedFont>
    <p:embeddedFont>
      <p:font typeface="Century Gothic" panose="020B0502020202020204" pitchFamily="34" charset="0"/>
      <p:regular r:id="rId46"/>
      <p:bold r:id="rId47"/>
      <p:italic r:id="rId48"/>
      <p:boldItalic r:id="rId49"/>
    </p:embeddedFont>
    <p:embeddedFont>
      <p:font typeface="宋体" panose="02010600030101010101" pitchFamily="2" charset="-122"/>
      <p:regular r:id="rId5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9E63B6-08C8-4444-B43B-6137E374DB1E}">
  <a:tblStyle styleId="{129E63B6-08C8-4444-B43B-6137E374DB1E}"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33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944722184"/>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nsa.gov/research/selinux/%E2%80%8E"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www.tizen.org/" TargetMode="External"/><Relationship Id="rId4" Type="http://schemas.openxmlformats.org/officeDocument/2006/relationships/hyperlink" Target="http://schaufler-ca.com/"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594314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12F4D4DB-A5EE-448B-A380-9890C9E63CA7}" type="slidenum">
              <a:rPr lang="en-US" smtClean="0"/>
              <a:pPr/>
              <a:t>3</a:t>
            </a:fld>
            <a:endParaRPr lang="en-US"/>
          </a:p>
        </p:txBody>
      </p:sp>
    </p:spTree>
    <p:extLst>
      <p:ext uri="{BB962C8B-B14F-4D97-AF65-F5344CB8AC3E}">
        <p14:creationId xmlns:p14="http://schemas.microsoft.com/office/powerpoint/2010/main" val="392175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AD2D9C-6DFD-4FC4-8375-093E872E01F6}" type="slidenum">
              <a:rPr lang="en-US"/>
              <a:pPr/>
              <a:t>4</a:t>
            </a:fld>
            <a:endParaRPr lang="en-US"/>
          </a:p>
        </p:txBody>
      </p:sp>
      <p:sp>
        <p:nvSpPr>
          <p:cNvPr id="998402" name="Rectangle 2"/>
          <p:cNvSpPr>
            <a:spLocks noGrp="1" noRot="1" noChangeAspect="1" noChangeArrowheads="1" noTextEdit="1"/>
          </p:cNvSpPr>
          <p:nvPr>
            <p:ph type="sldImg"/>
          </p:nvPr>
        </p:nvSpPr>
        <p:spPr>
          <a:xfrm>
            <a:off x="1344613" y="690563"/>
            <a:ext cx="4092575" cy="2303462"/>
          </a:xfrm>
          <a:ln/>
        </p:spPr>
      </p:sp>
      <p:sp>
        <p:nvSpPr>
          <p:cNvPr id="99840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093411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b="0" i="0" kern="1200" dirty="0" smtClean="0">
                <a:solidFill>
                  <a:schemeClr val="tx1"/>
                </a:solidFill>
                <a:effectLst/>
                <a:latin typeface="+mn-lt"/>
                <a:ea typeface="+mn-ea"/>
                <a:cs typeface="+mn-cs"/>
              </a:rPr>
              <a:t>The Linux Security Modules (LSM) API implements hooks at all security-critical points within the kernel.  A user of the framework (an “LSM”) can register with the API and receive callbacks from these hooks.  All security-relevant information is safely passed to the LSM, avoiding race conditions, and the LSM may deny the operation.  This is similar to the </a:t>
            </a:r>
            <a:r>
              <a:rPr lang="en-US" sz="1200" b="0" i="0" kern="1200" dirty="0" err="1" smtClean="0">
                <a:solidFill>
                  <a:schemeClr val="tx1"/>
                </a:solidFill>
                <a:effectLst/>
                <a:latin typeface="+mn-lt"/>
                <a:ea typeface="+mn-ea"/>
                <a:cs typeface="+mn-cs"/>
              </a:rPr>
              <a:t>Netfilter</a:t>
            </a:r>
            <a:r>
              <a:rPr lang="en-US" sz="1200" b="0" i="0" kern="1200" dirty="0" smtClean="0">
                <a:solidFill>
                  <a:schemeClr val="tx1"/>
                </a:solidFill>
                <a:effectLst/>
                <a:latin typeface="+mn-lt"/>
                <a:ea typeface="+mn-ea"/>
                <a:cs typeface="+mn-cs"/>
              </a:rPr>
              <a:t> hook-based API, although applied to the general kernel.</a:t>
            </a:r>
          </a:p>
          <a:p>
            <a:r>
              <a:rPr lang="en-US" sz="1200" b="0" i="0" kern="1200" dirty="0" smtClean="0">
                <a:solidFill>
                  <a:schemeClr val="tx1"/>
                </a:solidFill>
                <a:effectLst/>
                <a:latin typeface="+mn-lt"/>
                <a:ea typeface="+mn-ea"/>
                <a:cs typeface="+mn-cs"/>
              </a:rPr>
              <a:t>The LSM API allows different security models to be plugged into the kernel—typically access control frameworks.  To ensure compatibility with existing applications, the LSM hooks are placed so that the Unix DAC checks are performed first, and only if they succeed, is LSM code invoked.</a:t>
            </a:r>
          </a:p>
          <a:p>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Security Enhanced Linux</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SELinux</a:t>
            </a:r>
            <a:r>
              <a:rPr lang="en-US" sz="1200" b="0" i="0" kern="1200" dirty="0" smtClean="0">
                <a:solidFill>
                  <a:schemeClr val="tx1"/>
                </a:solidFill>
                <a:effectLst/>
                <a:latin typeface="+mn-lt"/>
                <a:ea typeface="+mn-ea"/>
                <a:cs typeface="+mn-cs"/>
              </a:rPr>
              <a:t>) is an implementation of fine-grained Mandatory Access Control (MAC) designed to meet a wide range of security requirements, from general purpose use, through to government and military systems which manage classified information.  MAC security differs from DAC in that the security policy is administered centrally, and users do not administer policy for their own resources.  This helps contain attacks which exploit </a:t>
            </a:r>
            <a:r>
              <a:rPr lang="en-US" sz="1200" b="0" i="0" kern="1200" dirty="0" err="1" smtClean="0">
                <a:solidFill>
                  <a:schemeClr val="tx1"/>
                </a:solidFill>
                <a:effectLst/>
                <a:latin typeface="+mn-lt"/>
                <a:ea typeface="+mn-ea"/>
                <a:cs typeface="+mn-cs"/>
              </a:rPr>
              <a:t>userland</a:t>
            </a:r>
            <a:r>
              <a:rPr lang="en-US" sz="1200" b="0" i="0" kern="1200" dirty="0" smtClean="0">
                <a:solidFill>
                  <a:schemeClr val="tx1"/>
                </a:solidFill>
                <a:effectLst/>
                <a:latin typeface="+mn-lt"/>
                <a:ea typeface="+mn-ea"/>
                <a:cs typeface="+mn-cs"/>
              </a:rPr>
              <a:t> software bugs and misconfiguration.</a:t>
            </a:r>
          </a:p>
          <a:p>
            <a:r>
              <a:rPr lang="en-US" sz="1200" b="0" i="0" kern="1200" dirty="0" smtClean="0">
                <a:solidFill>
                  <a:schemeClr val="tx1"/>
                </a:solidFill>
                <a:effectLst/>
                <a:latin typeface="+mn-lt"/>
                <a:ea typeface="+mn-ea"/>
                <a:cs typeface="+mn-cs"/>
              </a:rPr>
              <a:t>In </a:t>
            </a:r>
            <a:r>
              <a:rPr lang="en-US" sz="1200" b="0" i="0" kern="1200" dirty="0" err="1" smtClean="0">
                <a:solidFill>
                  <a:schemeClr val="tx1"/>
                </a:solidFill>
                <a:effectLst/>
                <a:latin typeface="+mn-lt"/>
                <a:ea typeface="+mn-ea"/>
                <a:cs typeface="+mn-cs"/>
              </a:rPr>
              <a:t>SELinux</a:t>
            </a:r>
            <a:r>
              <a:rPr lang="en-US" sz="1200" b="0" i="0" kern="1200" dirty="0" smtClean="0">
                <a:solidFill>
                  <a:schemeClr val="tx1"/>
                </a:solidFill>
                <a:effectLst/>
                <a:latin typeface="+mn-lt"/>
                <a:ea typeface="+mn-ea"/>
                <a:cs typeface="+mn-cs"/>
              </a:rPr>
              <a:t>, all objects on the system, such as files and processes, are assigned security labels.  All security-relevant interactions between entities on the system are hooked by LSM and passed to the </a:t>
            </a:r>
            <a:r>
              <a:rPr lang="en-US" sz="1200" b="0" i="0" kern="1200" dirty="0" err="1" smtClean="0">
                <a:solidFill>
                  <a:schemeClr val="tx1"/>
                </a:solidFill>
                <a:effectLst/>
                <a:latin typeface="+mn-lt"/>
                <a:ea typeface="+mn-ea"/>
                <a:cs typeface="+mn-cs"/>
              </a:rPr>
              <a:t>SELinux</a:t>
            </a:r>
            <a:r>
              <a:rPr lang="en-US" sz="1200" b="0" i="0" kern="1200" dirty="0" smtClean="0">
                <a:solidFill>
                  <a:schemeClr val="tx1"/>
                </a:solidFill>
                <a:effectLst/>
                <a:latin typeface="+mn-lt"/>
                <a:ea typeface="+mn-ea"/>
                <a:cs typeface="+mn-cs"/>
              </a:rPr>
              <a:t> module, which consults its security policy to determine whether the operation should continue.  The </a:t>
            </a:r>
            <a:r>
              <a:rPr lang="en-US" sz="1200" b="0" i="0" kern="1200" dirty="0" err="1" smtClean="0">
                <a:solidFill>
                  <a:schemeClr val="tx1"/>
                </a:solidFill>
                <a:effectLst/>
                <a:latin typeface="+mn-lt"/>
                <a:ea typeface="+mn-ea"/>
                <a:cs typeface="+mn-cs"/>
              </a:rPr>
              <a:t>SELinux</a:t>
            </a:r>
            <a:r>
              <a:rPr lang="en-US" sz="1200" b="0" i="0" kern="1200" dirty="0" smtClean="0">
                <a:solidFill>
                  <a:schemeClr val="tx1"/>
                </a:solidFill>
                <a:effectLst/>
                <a:latin typeface="+mn-lt"/>
                <a:ea typeface="+mn-ea"/>
                <a:cs typeface="+mn-cs"/>
              </a:rPr>
              <a:t> security policy is loaded from </a:t>
            </a:r>
            <a:r>
              <a:rPr lang="en-US" sz="1200" b="0" i="0" kern="1200" dirty="0" err="1" smtClean="0">
                <a:solidFill>
                  <a:schemeClr val="tx1"/>
                </a:solidFill>
                <a:effectLst/>
                <a:latin typeface="+mn-lt"/>
                <a:ea typeface="+mn-ea"/>
                <a:cs typeface="+mn-cs"/>
              </a:rPr>
              <a:t>userland</a:t>
            </a:r>
            <a:r>
              <a:rPr lang="en-US" sz="1200" b="0" i="0" kern="1200" dirty="0" smtClean="0">
                <a:solidFill>
                  <a:schemeClr val="tx1"/>
                </a:solidFill>
                <a:effectLst/>
                <a:latin typeface="+mn-lt"/>
                <a:ea typeface="+mn-ea"/>
                <a:cs typeface="+mn-cs"/>
              </a:rPr>
              <a:t>, and may be modified to meet a range of different security goals.  Many previous MAC schemes had fixed policies, which limited their application to general purpose computing.</a:t>
            </a:r>
          </a:p>
          <a:p>
            <a:r>
              <a:rPr lang="en-US" sz="1200" b="0" i="0" kern="1200" dirty="0" err="1" smtClean="0">
                <a:solidFill>
                  <a:schemeClr val="tx1"/>
                </a:solidFill>
                <a:effectLst/>
                <a:latin typeface="+mn-lt"/>
                <a:ea typeface="+mn-ea"/>
                <a:cs typeface="+mn-cs"/>
              </a:rPr>
              <a:t>SELinux</a:t>
            </a:r>
            <a:r>
              <a:rPr lang="en-US" sz="1200" b="0" i="0" kern="1200" dirty="0" smtClean="0">
                <a:solidFill>
                  <a:schemeClr val="tx1"/>
                </a:solidFill>
                <a:effectLst/>
                <a:latin typeface="+mn-lt"/>
                <a:ea typeface="+mn-ea"/>
                <a:cs typeface="+mn-cs"/>
              </a:rPr>
              <a:t> is implemented as a standard feature in Fedora-based distributions, and widely deployed.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t>
            </a:r>
            <a:r>
              <a:rPr lang="en-US" sz="1200" b="0" i="0" u="none" strike="noStrike" kern="1200" dirty="0" smtClean="0">
                <a:solidFill>
                  <a:schemeClr val="tx1"/>
                </a:solidFill>
                <a:effectLst/>
                <a:latin typeface="+mn-lt"/>
                <a:ea typeface="+mn-ea"/>
                <a:cs typeface="+mn-cs"/>
                <a:hlinkClick r:id="rId4"/>
              </a:rPr>
              <a:t>Smack</a:t>
            </a:r>
            <a:r>
              <a:rPr lang="en-US" sz="1200" b="0" i="0" kern="1200" dirty="0" smtClean="0">
                <a:solidFill>
                  <a:schemeClr val="tx1"/>
                </a:solidFill>
                <a:effectLst/>
                <a:latin typeface="+mn-lt"/>
                <a:ea typeface="+mn-ea"/>
                <a:cs typeface="+mn-cs"/>
              </a:rPr>
              <a:t> LSM was designed to provide a simple form of MAC security, in response to the relative complexity of </a:t>
            </a:r>
            <a:r>
              <a:rPr lang="en-US" sz="1200" b="0" i="0" kern="1200" dirty="0" err="1" smtClean="0">
                <a:solidFill>
                  <a:schemeClr val="tx1"/>
                </a:solidFill>
                <a:effectLst/>
                <a:latin typeface="+mn-lt"/>
                <a:ea typeface="+mn-ea"/>
                <a:cs typeface="+mn-cs"/>
              </a:rPr>
              <a:t>SELinux</a:t>
            </a:r>
            <a:r>
              <a:rPr lang="en-US" sz="1200" b="0" i="0" kern="1200" dirty="0" smtClean="0">
                <a:solidFill>
                  <a:schemeClr val="tx1"/>
                </a:solidFill>
                <a:effectLst/>
                <a:latin typeface="+mn-lt"/>
                <a:ea typeface="+mn-ea"/>
                <a:cs typeface="+mn-cs"/>
              </a:rPr>
              <a:t>.  It's also implemented as a label-based scheme with a customizable policy.  Smack is part of </a:t>
            </a:r>
            <a:r>
              <a:rPr lang="en-US" sz="1200" b="0" i="0" kern="1200" dirty="0" err="1" smtClean="0">
                <a:solidFill>
                  <a:schemeClr val="tx1"/>
                </a:solidFill>
                <a:effectLst/>
                <a:latin typeface="+mn-lt"/>
                <a:ea typeface="+mn-ea"/>
                <a:cs typeface="+mn-cs"/>
              </a:rPr>
              <a:t>the</a:t>
            </a:r>
            <a:r>
              <a:rPr lang="en-US" sz="1200" b="0" i="0" u="none" strike="noStrike" kern="1200" dirty="0" err="1" smtClean="0">
                <a:solidFill>
                  <a:schemeClr val="tx1"/>
                </a:solidFill>
                <a:effectLst/>
                <a:latin typeface="+mn-lt"/>
                <a:ea typeface="+mn-ea"/>
                <a:cs typeface="+mn-cs"/>
                <a:hlinkClick r:id="rId5"/>
              </a:rPr>
              <a:t>Tizen</a:t>
            </a:r>
            <a:r>
              <a:rPr lang="en-US" sz="1200" b="0" i="0" kern="1200" dirty="0" smtClean="0">
                <a:solidFill>
                  <a:schemeClr val="tx1"/>
                </a:solidFill>
                <a:effectLst/>
                <a:latin typeface="+mn-lt"/>
                <a:ea typeface="+mn-ea"/>
                <a:cs typeface="+mn-cs"/>
              </a:rPr>
              <a:t> security architecture and has seen adoption generally in the embedded space.</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12F4D4DB-A5EE-448B-A380-9890C9E63CA7}" type="slidenum">
              <a:rPr lang="en-US" smtClean="0"/>
              <a:pPr/>
              <a:t>5</a:t>
            </a:fld>
            <a:endParaRPr lang="en-US"/>
          </a:p>
        </p:txBody>
      </p:sp>
    </p:spTree>
    <p:extLst>
      <p:ext uri="{BB962C8B-B14F-4D97-AF65-F5344CB8AC3E}">
        <p14:creationId xmlns:p14="http://schemas.microsoft.com/office/powerpoint/2010/main" val="3981391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9054DD-0734-49BF-99CE-D056C6BD88CF}" type="slidenum">
              <a:rPr lang="en-US"/>
              <a:pPr/>
              <a:t>6</a:t>
            </a:fld>
            <a:endParaRPr lang="en-US" dirty="0"/>
          </a:p>
        </p:txBody>
      </p:sp>
      <p:sp>
        <p:nvSpPr>
          <p:cNvPr id="1048578" name="Rectangle 2"/>
          <p:cNvSpPr>
            <a:spLocks noGrp="1" noRot="1" noChangeAspect="1" noChangeArrowheads="1" noTextEdit="1"/>
          </p:cNvSpPr>
          <p:nvPr>
            <p:ph type="sldImg"/>
          </p:nvPr>
        </p:nvSpPr>
        <p:spPr>
          <a:xfrm>
            <a:off x="1127125" y="731838"/>
            <a:ext cx="4341813" cy="2443162"/>
          </a:xfrm>
          <a:ln/>
        </p:spPr>
      </p:sp>
      <p:sp>
        <p:nvSpPr>
          <p:cNvPr id="1048579"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895540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A4B164-4AFC-437F-A618-4FF96AA85C62}" type="slidenum">
              <a:rPr lang="en-US"/>
              <a:pPr/>
              <a:t>7</a:t>
            </a:fld>
            <a:endParaRPr lang="en-US" dirty="0"/>
          </a:p>
        </p:txBody>
      </p:sp>
      <p:sp>
        <p:nvSpPr>
          <p:cNvPr id="1064962" name="Rectangle 2"/>
          <p:cNvSpPr>
            <a:spLocks noGrp="1" noRot="1" noChangeAspect="1" noChangeArrowheads="1" noTextEdit="1"/>
          </p:cNvSpPr>
          <p:nvPr>
            <p:ph type="sldImg"/>
          </p:nvPr>
        </p:nvSpPr>
        <p:spPr>
          <a:xfrm>
            <a:off x="1127125" y="731838"/>
            <a:ext cx="4341813" cy="2443162"/>
          </a:xfrm>
          <a:ln/>
        </p:spPr>
      </p:sp>
      <p:sp>
        <p:nvSpPr>
          <p:cNvPr id="1064963"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684301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319A86-84DE-446A-93AC-F7AD02A21A51}" type="slidenum">
              <a:rPr lang="en-US"/>
              <a:pPr/>
              <a:t>8</a:t>
            </a:fld>
            <a:endParaRPr lang="en-US" dirty="0"/>
          </a:p>
        </p:txBody>
      </p:sp>
      <p:sp>
        <p:nvSpPr>
          <p:cNvPr id="1008642" name="Rectangle 2"/>
          <p:cNvSpPr>
            <a:spLocks noGrp="1" noRot="1" noChangeAspect="1" noChangeArrowheads="1" noTextEdit="1"/>
          </p:cNvSpPr>
          <p:nvPr>
            <p:ph type="sldImg"/>
          </p:nvPr>
        </p:nvSpPr>
        <p:spPr>
          <a:xfrm>
            <a:off x="1127125" y="731838"/>
            <a:ext cx="4341813" cy="2443162"/>
          </a:xfrm>
          <a:ln/>
        </p:spPr>
      </p:sp>
      <p:sp>
        <p:nvSpPr>
          <p:cNvPr id="1008643"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747548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2243DA-F175-4B86-9E50-C69A0164559F}" type="slidenum">
              <a:rPr lang="en-US"/>
              <a:pPr/>
              <a:t>9</a:t>
            </a:fld>
            <a:endParaRPr lang="en-US" dirty="0"/>
          </a:p>
        </p:txBody>
      </p:sp>
      <p:sp>
        <p:nvSpPr>
          <p:cNvPr id="1009666" name="Rectangle 2"/>
          <p:cNvSpPr>
            <a:spLocks noGrp="1" noRot="1" noChangeAspect="1" noChangeArrowheads="1" noTextEdit="1"/>
          </p:cNvSpPr>
          <p:nvPr>
            <p:ph type="sldImg"/>
          </p:nvPr>
        </p:nvSpPr>
        <p:spPr>
          <a:xfrm>
            <a:off x="1127125" y="731838"/>
            <a:ext cx="4341813" cy="2443162"/>
          </a:xfrm>
          <a:ln/>
        </p:spPr>
      </p:sp>
      <p:sp>
        <p:nvSpPr>
          <p:cNvPr id="1009667"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678660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3C977C-1D94-404F-A832-77474EAEE56A}" type="slidenum">
              <a:rPr lang="en-US"/>
              <a:pPr/>
              <a:t>11</a:t>
            </a:fld>
            <a:endParaRPr lang="en-US" dirty="0"/>
          </a:p>
        </p:txBody>
      </p:sp>
      <p:sp>
        <p:nvSpPr>
          <p:cNvPr id="1012738" name="Rectangle 2"/>
          <p:cNvSpPr>
            <a:spLocks noGrp="1" noRot="1" noChangeAspect="1" noChangeArrowheads="1" noTextEdit="1"/>
          </p:cNvSpPr>
          <p:nvPr>
            <p:ph type="sldImg"/>
          </p:nvPr>
        </p:nvSpPr>
        <p:spPr>
          <a:xfrm>
            <a:off x="1127125" y="731838"/>
            <a:ext cx="4341813" cy="2443162"/>
          </a:xfrm>
          <a:ln/>
        </p:spPr>
      </p:sp>
      <p:sp>
        <p:nvSpPr>
          <p:cNvPr id="1012739" name="Rectangle 3"/>
          <p:cNvSpPr>
            <a:spLocks noGrp="1" noChangeArrowheads="1"/>
          </p:cNvSpPr>
          <p:nvPr>
            <p:ph type="body" idx="1"/>
          </p:nvPr>
        </p:nvSpPr>
        <p:spPr/>
        <p:txBody>
          <a:bodyPr/>
          <a:lstStyle/>
          <a:p>
            <a:endParaRPr lang="en-GB" dirty="0"/>
          </a:p>
        </p:txBody>
      </p:sp>
    </p:spTree>
    <p:extLst>
      <p:ext uri="{BB962C8B-B14F-4D97-AF65-F5344CB8AC3E}">
        <p14:creationId xmlns:p14="http://schemas.microsoft.com/office/powerpoint/2010/main" val="1435949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2477BC-5839-485B-8B56-1216A05B55D4}" type="slidenum">
              <a:rPr lang="en-US" smtClean="0"/>
              <a:t>18</a:t>
            </a:fld>
            <a:endParaRPr lang="en-US"/>
          </a:p>
        </p:txBody>
      </p:sp>
    </p:spTree>
    <p:extLst>
      <p:ext uri="{BB962C8B-B14F-4D97-AF65-F5344CB8AC3E}">
        <p14:creationId xmlns:p14="http://schemas.microsoft.com/office/powerpoint/2010/main" val="2747243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SG" altLang="en-US" dirty="0"/>
          </a:p>
        </p:txBody>
      </p:sp>
      <p:sp>
        <p:nvSpPr>
          <p:cNvPr id="4" name="Slide Number Placeholder 3"/>
          <p:cNvSpPr>
            <a:spLocks noGrp="1"/>
          </p:cNvSpPr>
          <p:nvPr>
            <p:ph type="sldNum" sz="quarter" idx="10"/>
          </p:nvPr>
        </p:nvSpPr>
        <p:spPr/>
        <p:txBody>
          <a:bodyPr/>
          <a:lstStyle/>
          <a:p>
            <a:fld id="{342477BC-5839-485B-8B56-1216A05B55D4}" type="slidenum">
              <a:rPr lang="en-US" smtClean="0"/>
              <a:t>20</a:t>
            </a:fld>
            <a:endParaRPr lang="en-US"/>
          </a:p>
        </p:txBody>
      </p:sp>
    </p:spTree>
    <p:extLst>
      <p:ext uri="{BB962C8B-B14F-4D97-AF65-F5344CB8AC3E}">
        <p14:creationId xmlns:p14="http://schemas.microsoft.com/office/powerpoint/2010/main" val="8123740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971799" y="1473200"/>
            <a:ext cx="5398295" cy="1816098"/>
          </a:xfrm>
        </p:spPr>
        <p:txBody>
          <a:bodyPr anchor="b">
            <a:normAutofit/>
          </a:bodyPr>
          <a:lstStyle>
            <a:lvl1pPr algn="r">
              <a:defRPr sz="36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71799" y="3289300"/>
            <a:ext cx="5398295" cy="1054100"/>
          </a:xfrm>
        </p:spPr>
        <p:txBody>
          <a:bodyPr anchor="t">
            <a:normAutofit/>
          </a:bodyPr>
          <a:lstStyle>
            <a:lvl1pPr marL="0" indent="0" algn="r">
              <a:buNone/>
              <a:defRPr sz="1350" cap="all">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699419" y="4402932"/>
            <a:ext cx="1200150" cy="283369"/>
          </a:xfrm>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a:xfrm>
            <a:off x="2971799" y="4402932"/>
            <a:ext cx="3670469" cy="283369"/>
          </a:xfrm>
        </p:spPr>
        <p:txBody>
          <a:bodyPr/>
          <a:lstStyle/>
          <a:p>
            <a:endParaRPr lang="en-US" dirty="0"/>
          </a:p>
        </p:txBody>
      </p:sp>
      <p:sp>
        <p:nvSpPr>
          <p:cNvPr id="6" name="Slide Number Placeholder 5"/>
          <p:cNvSpPr>
            <a:spLocks noGrp="1"/>
          </p:cNvSpPr>
          <p:nvPr>
            <p:ph type="sldNum" sz="quarter" idx="12"/>
          </p:nvPr>
        </p:nvSpPr>
        <p:spPr>
          <a:xfrm>
            <a:off x="7956719" y="4402932"/>
            <a:ext cx="413375" cy="28336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1565128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70599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2481436"/>
            <a:ext cx="7598570" cy="1101600"/>
          </a:xfrm>
        </p:spPr>
        <p:txBody>
          <a:bodyPr anchor="b"/>
          <a:lstStyle>
            <a:lvl1pPr algn="l">
              <a:defRPr sz="3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49" y="3583036"/>
            <a:ext cx="7598571" cy="645300"/>
          </a:xfrm>
        </p:spPr>
        <p:txBody>
          <a:bodyPr anchor="t">
            <a:normAutofit/>
          </a:bodyPr>
          <a:lstStyle>
            <a:lvl1pPr marL="0" indent="0" algn="l">
              <a:buNone/>
              <a:defRPr sz="1500" cap="all">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832844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1606550"/>
            <a:ext cx="3746501" cy="273685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366421" y="1606551"/>
            <a:ext cx="3746499" cy="273685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3411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30252" y="1663700"/>
            <a:ext cx="3531791"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514351" y="2152651"/>
            <a:ext cx="3747692" cy="219074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572003" y="1670050"/>
            <a:ext cx="3542110"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367612" y="2152651"/>
            <a:ext cx="3746501" cy="219074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973141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963308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4335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555750"/>
            <a:ext cx="2760664" cy="1028700"/>
          </a:xfrm>
        </p:spPr>
        <p:txBody>
          <a:bodyPr anchor="b">
            <a:normAutofit/>
          </a:bodyPr>
          <a:lstStyle>
            <a:lvl1pPr algn="l">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3486151" y="457201"/>
            <a:ext cx="4626770" cy="38862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4350" y="2584450"/>
            <a:ext cx="2760664" cy="137160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1A9C2FF7-FDD2-4C4E-9C39-E1165898CA2B}" type="datetime1">
              <a:rPr lang="en-US" smtClean="0">
                <a:solidFill>
                  <a:srgbClr val="696464"/>
                </a:solidFill>
              </a:rPr>
              <a:pPr/>
              <a:t>4/6/2018</a:t>
            </a:fld>
            <a:endParaRPr lang="en-US">
              <a:solidFill>
                <a:srgbClr val="696464"/>
              </a:solidFill>
            </a:endParaRPr>
          </a:p>
        </p:txBody>
      </p:sp>
      <p:sp>
        <p:nvSpPr>
          <p:cNvPr id="6" name="Footer Placeholder 5"/>
          <p:cNvSpPr>
            <a:spLocks noGrp="1"/>
          </p:cNvSpPr>
          <p:nvPr>
            <p:ph type="ftr" sz="quarter" idx="11"/>
          </p:nvPr>
        </p:nvSpPr>
        <p:spPr/>
        <p:txBody>
          <a:bodyPr/>
          <a:lstStyle/>
          <a:p>
            <a:r>
              <a:rPr lang="en-US" smtClean="0">
                <a:solidFill>
                  <a:srgbClr val="696464"/>
                </a:solidFill>
              </a:rPr>
              <a:t>IT2533 Lecture</a:t>
            </a:r>
            <a:endParaRPr lang="en-US" dirty="0">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546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200150"/>
            <a:ext cx="4623490" cy="1028700"/>
          </a:xfrm>
        </p:spPr>
        <p:txBody>
          <a:bodyPr anchor="b">
            <a:normAutofit/>
          </a:bodyPr>
          <a:lstStyle>
            <a:lvl1pPr algn="l">
              <a:defRPr sz="21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2190" y="685800"/>
            <a:ext cx="2460731" cy="3429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14350" y="2228850"/>
            <a:ext cx="4623490" cy="13716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73793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3549649"/>
            <a:ext cx="7598570" cy="425054"/>
          </a:xfrm>
        </p:spPr>
        <p:txBody>
          <a:bodyPr anchor="b">
            <a:normAutofit/>
          </a:bodyPr>
          <a:lstStyle>
            <a:lvl1pPr algn="l">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699084"/>
            <a:ext cx="6569870" cy="23737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14351" y="3974702"/>
            <a:ext cx="7598570" cy="3702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68385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343149"/>
          </a:xfrm>
        </p:spPr>
        <p:txBody>
          <a:bodyPr anchor="ctr">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3257550"/>
            <a:ext cx="7598571"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468061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5" name="TextBox 14"/>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1" name="TextBox 10"/>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823406" y="2514600"/>
            <a:ext cx="7004388"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Edit Master text styles</a:t>
            </a:r>
          </a:p>
        </p:txBody>
      </p:sp>
      <p:sp>
        <p:nvSpPr>
          <p:cNvPr id="3" name="Text Placeholder 2"/>
          <p:cNvSpPr>
            <a:spLocks noGrp="1"/>
          </p:cNvSpPr>
          <p:nvPr>
            <p:ph type="body" idx="1"/>
          </p:nvPr>
        </p:nvSpPr>
        <p:spPr>
          <a:xfrm>
            <a:off x="515599" y="3257550"/>
            <a:ext cx="7614275"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331867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2" y="2481436"/>
            <a:ext cx="7598569" cy="11016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1" y="3583036"/>
            <a:ext cx="7598570"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5452885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3" name="TextBox 12"/>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4" name="TextBox 13"/>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6"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0" y="2914650"/>
            <a:ext cx="7601577" cy="666750"/>
          </a:xfrm>
        </p:spPr>
        <p:txBody>
          <a:bodyPr vert="horz" lIns="91440" tIns="45720" rIns="91440" bIns="45720" rtlCol="0" anchor="b">
            <a:normAutofit/>
          </a:bodyPr>
          <a:lstStyle>
            <a:lvl1pPr>
              <a:buNone/>
              <a:defRPr lang="en-US" sz="1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14349" y="3581400"/>
            <a:ext cx="7601577" cy="7620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3798750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0573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14351" y="2628900"/>
            <a:ext cx="7598571"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14350" y="3257550"/>
            <a:ext cx="7598571"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85088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514351" y="457201"/>
            <a:ext cx="7598569" cy="1092200"/>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744002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Vertical Title 1"/>
          <p:cNvSpPr>
            <a:spLocks noGrp="1"/>
          </p:cNvSpPr>
          <p:nvPr>
            <p:ph type="title" orient="vert"/>
          </p:nvPr>
        </p:nvSpPr>
        <p:spPr>
          <a:xfrm>
            <a:off x="6494006" y="457200"/>
            <a:ext cx="1618914" cy="38862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457200"/>
            <a:ext cx="5874087" cy="38862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805897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8"/>
        <p:cNvGrpSpPr/>
        <p:nvPr/>
      </p:nvGrpSpPr>
      <p:grpSpPr>
        <a:xfrm>
          <a:off x="0" y="0"/>
          <a:ext cx="0" cy="0"/>
          <a:chOff x="0" y="0"/>
          <a:chExt cx="0" cy="0"/>
        </a:xfrm>
      </p:grpSpPr>
      <p:sp>
        <p:nvSpPr>
          <p:cNvPr id="14" name="Shape 14"/>
          <p:cNvSpPr txBox="1">
            <a:spLocks noGrp="1"/>
          </p:cNvSpPr>
          <p:nvPr>
            <p:ph type="ctrTitle"/>
          </p:nvPr>
        </p:nvSpPr>
        <p:spPr>
          <a:xfrm>
            <a:off x="685800" y="2601425"/>
            <a:ext cx="5810400" cy="1159799"/>
          </a:xfrm>
          <a:prstGeom prst="rect">
            <a:avLst/>
          </a:prstGeom>
        </p:spPr>
        <p:txBody>
          <a:bodyPr lIns="91425" tIns="91425" rIns="91425" bIns="91425" anchor="b" anchorCtr="0"/>
          <a:lstStyle>
            <a:lvl1pPr lvl="0">
              <a:spcBef>
                <a:spcPts val="0"/>
              </a:spcBef>
              <a:buSzPct val="100000"/>
              <a:defRPr sz="4800"/>
            </a:lvl1pPr>
            <a:lvl2pPr lvl="1" algn="ctr">
              <a:spcBef>
                <a:spcPts val="0"/>
              </a:spcBef>
              <a:buSzPct val="100000"/>
              <a:defRPr sz="6000"/>
            </a:lvl2pPr>
            <a:lvl3pPr lvl="2" algn="ctr">
              <a:spcBef>
                <a:spcPts val="0"/>
              </a:spcBef>
              <a:buSzPct val="100000"/>
              <a:defRPr sz="6000"/>
            </a:lvl3pPr>
            <a:lvl4pPr lvl="3" algn="ctr">
              <a:spcBef>
                <a:spcPts val="0"/>
              </a:spcBef>
              <a:buSzPct val="100000"/>
              <a:defRPr sz="6000"/>
            </a:lvl4pPr>
            <a:lvl5pPr lvl="4" algn="ctr">
              <a:spcBef>
                <a:spcPts val="0"/>
              </a:spcBef>
              <a:buSzPct val="100000"/>
              <a:defRPr sz="6000"/>
            </a:lvl5pPr>
            <a:lvl6pPr lvl="5" algn="ctr">
              <a:spcBef>
                <a:spcPts val="0"/>
              </a:spcBef>
              <a:buSzPct val="100000"/>
              <a:defRPr sz="6000"/>
            </a:lvl6pPr>
            <a:lvl7pPr lvl="6" algn="ctr">
              <a:spcBef>
                <a:spcPts val="0"/>
              </a:spcBef>
              <a:buSzPct val="100000"/>
              <a:defRPr sz="6000"/>
            </a:lvl7pPr>
            <a:lvl8pPr lvl="7" algn="ctr">
              <a:spcBef>
                <a:spcPts val="0"/>
              </a:spcBef>
              <a:buSzPct val="100000"/>
              <a:defRPr sz="6000"/>
            </a:lvl8pPr>
            <a:lvl9pPr lvl="8" algn="ctr">
              <a:spcBef>
                <a:spcPts val="0"/>
              </a:spcBef>
              <a:buSzPct val="100000"/>
              <a:defRPr sz="6000"/>
            </a:lvl9pPr>
          </a:lstStyle>
          <a:p>
            <a:endParaRPr/>
          </a:p>
        </p:txBody>
      </p:sp>
    </p:spTree>
    <p:extLst>
      <p:ext uri="{BB962C8B-B14F-4D97-AF65-F5344CB8AC3E}">
        <p14:creationId xmlns:p14="http://schemas.microsoft.com/office/powerpoint/2010/main" val="147378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1" y="457201"/>
            <a:ext cx="7598569" cy="1092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1" y="1606551"/>
            <a:ext cx="7598569" cy="273685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42245" y="4402932"/>
            <a:ext cx="1200150"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4/6/2018</a:t>
            </a:fld>
            <a:endParaRPr lang="en-US" dirty="0"/>
          </a:p>
        </p:txBody>
      </p:sp>
      <p:sp>
        <p:nvSpPr>
          <p:cNvPr id="5" name="Footer Placeholder 4"/>
          <p:cNvSpPr>
            <a:spLocks noGrp="1"/>
          </p:cNvSpPr>
          <p:nvPr>
            <p:ph type="ftr" sz="quarter" idx="3"/>
          </p:nvPr>
        </p:nvSpPr>
        <p:spPr>
          <a:xfrm>
            <a:off x="514351" y="4402932"/>
            <a:ext cx="5870744" cy="283369"/>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699546" y="4402932"/>
            <a:ext cx="413375"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53195078"/>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ts val="0"/>
        </a:spcBef>
        <a:spcAft>
          <a:spcPts val="750"/>
        </a:spcAft>
        <a:buClr>
          <a:schemeClr val="tx1"/>
        </a:buClr>
        <a:buSzPct val="100000"/>
        <a:buFont typeface="Arial"/>
        <a:buChar char="•"/>
        <a:defRPr sz="1350" kern="1200" cap="none">
          <a:solidFill>
            <a:schemeClr val="tx1"/>
          </a:solidFill>
          <a:effectLst/>
          <a:latin typeface="+mn-lt"/>
          <a:ea typeface="+mn-ea"/>
          <a:cs typeface="+mn-cs"/>
        </a:defRPr>
      </a:lvl1pPr>
      <a:lvl2pPr marL="557213" indent="-214313" algn="l" defTabSz="342900" rtl="0" eaLnBrk="1" latinLnBrk="0" hangingPunct="1">
        <a:spcBef>
          <a:spcPts val="0"/>
        </a:spcBef>
        <a:spcAft>
          <a:spcPts val="750"/>
        </a:spcAft>
        <a:buClr>
          <a:schemeClr val="tx1"/>
        </a:buClr>
        <a:buSzPct val="100000"/>
        <a:buFont typeface="Arial"/>
        <a:buChar char="•"/>
        <a:defRPr sz="1200" kern="1200" cap="none">
          <a:solidFill>
            <a:schemeClr val="tx1"/>
          </a:solidFill>
          <a:effectLst/>
          <a:latin typeface="+mn-lt"/>
          <a:ea typeface="+mn-ea"/>
          <a:cs typeface="+mn-cs"/>
        </a:defRPr>
      </a:lvl2pPr>
      <a:lvl3pPr marL="900113" indent="-214313" algn="l" defTabSz="342900" rtl="0" eaLnBrk="1" latinLnBrk="0" hangingPunct="1">
        <a:spcBef>
          <a:spcPts val="0"/>
        </a:spcBef>
        <a:spcAft>
          <a:spcPts val="750"/>
        </a:spcAft>
        <a:buClr>
          <a:schemeClr val="tx1"/>
        </a:buClr>
        <a:buSzPct val="100000"/>
        <a:buFont typeface="Arial"/>
        <a:buChar char="•"/>
        <a:defRPr sz="1050" kern="1200" cap="none">
          <a:solidFill>
            <a:schemeClr val="tx1"/>
          </a:solidFill>
          <a:effectLst/>
          <a:latin typeface="+mn-lt"/>
          <a:ea typeface="+mn-ea"/>
          <a:cs typeface="+mn-cs"/>
        </a:defRPr>
      </a:lvl3pPr>
      <a:lvl4pPr marL="11572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4pPr>
      <a:lvl5pPr marL="15001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5pPr>
      <a:lvl6pPr marL="18859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6pPr>
      <a:lvl7pPr marL="22288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7pPr>
      <a:lvl8pPr marL="25717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8pPr>
      <a:lvl9pPr marL="29146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ctrTitle"/>
          </p:nvPr>
        </p:nvSpPr>
        <p:spPr>
          <a:xfrm>
            <a:off x="753266" y="2223754"/>
            <a:ext cx="7924800" cy="1159799"/>
          </a:xfrm>
          <a:prstGeom prst="rect">
            <a:avLst/>
          </a:prstGeom>
        </p:spPr>
        <p:txBody>
          <a:bodyPr lIns="91425" tIns="91425" rIns="91425" bIns="91425" anchor="b" anchorCtr="0">
            <a:noAutofit/>
          </a:bodyPr>
          <a:lstStyle/>
          <a:p>
            <a:pPr lvl="0">
              <a:spcBef>
                <a:spcPts val="0"/>
              </a:spcBef>
              <a:buNone/>
            </a:pPr>
            <a:r>
              <a:rPr lang="en" sz="2400" dirty="0" smtClean="0"/>
              <a:t>IT2757</a:t>
            </a:r>
            <a:br>
              <a:rPr lang="en" sz="2400" dirty="0" smtClean="0"/>
            </a:br>
            <a:r>
              <a:rPr lang="en" sz="2400" dirty="0" smtClean="0"/>
              <a:t>Server and Services Security Management</a:t>
            </a:r>
            <a:br>
              <a:rPr lang="en" sz="2400" dirty="0" smtClean="0"/>
            </a:br>
            <a:r>
              <a:rPr lang="en" sz="2400" dirty="0" smtClean="0"/>
              <a:t>- LINUX </a:t>
            </a:r>
            <a:r>
              <a:rPr lang="en" sz="2400" dirty="0" smtClean="0"/>
              <a:t>SID and GID</a:t>
            </a:r>
            <a:endParaRPr lang="en" sz="2400" dirty="0"/>
          </a:p>
        </p:txBody>
      </p:sp>
      <p:grpSp>
        <p:nvGrpSpPr>
          <p:cNvPr id="99" name="Shape 99"/>
          <p:cNvGrpSpPr/>
          <p:nvPr/>
        </p:nvGrpSpPr>
        <p:grpSpPr>
          <a:xfrm>
            <a:off x="753266" y="1029785"/>
            <a:ext cx="964540" cy="1011306"/>
            <a:chOff x="5961125" y="1623900"/>
            <a:chExt cx="427450" cy="448175"/>
          </a:xfrm>
        </p:grpSpPr>
        <p:sp>
          <p:nvSpPr>
            <p:cNvPr id="100" name="Shape 100"/>
            <p:cNvSpPr/>
            <p:nvPr/>
          </p:nvSpPr>
          <p:spPr>
            <a:xfrm>
              <a:off x="5961125" y="1678700"/>
              <a:ext cx="376925" cy="376925"/>
            </a:xfrm>
            <a:custGeom>
              <a:avLst/>
              <a:gdLst/>
              <a:ahLst/>
              <a:cxnLst/>
              <a:rect l="0" t="0" r="0" b="0"/>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1" name="Shape 101"/>
            <p:cNvSpPr/>
            <p:nvPr/>
          </p:nvSpPr>
          <p:spPr>
            <a:xfrm>
              <a:off x="6009825" y="1727425"/>
              <a:ext cx="279500" cy="279500"/>
            </a:xfrm>
            <a:custGeom>
              <a:avLst/>
              <a:gdLst/>
              <a:ahLst/>
              <a:cxnLst/>
              <a:rect l="0" t="0" r="0" b="0"/>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2" name="Shape 102"/>
            <p:cNvSpPr/>
            <p:nvPr/>
          </p:nvSpPr>
          <p:spPr>
            <a:xfrm>
              <a:off x="6107250" y="1824850"/>
              <a:ext cx="84650" cy="84650"/>
            </a:xfrm>
            <a:custGeom>
              <a:avLst/>
              <a:gdLst/>
              <a:ahLst/>
              <a:cxnLst/>
              <a:rect l="0" t="0" r="0" b="0"/>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3" name="Shape 103"/>
            <p:cNvSpPr/>
            <p:nvPr/>
          </p:nvSpPr>
          <p:spPr>
            <a:xfrm>
              <a:off x="6058550" y="1776125"/>
              <a:ext cx="182075" cy="182075"/>
            </a:xfrm>
            <a:custGeom>
              <a:avLst/>
              <a:gdLst/>
              <a:ahLst/>
              <a:cxnLst/>
              <a:rect l="0" t="0" r="0" b="0"/>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4" name="Shape 104"/>
            <p:cNvSpPr/>
            <p:nvPr/>
          </p:nvSpPr>
          <p:spPr>
            <a:xfrm>
              <a:off x="5971475" y="2001400"/>
              <a:ext cx="74925" cy="70675"/>
            </a:xfrm>
            <a:custGeom>
              <a:avLst/>
              <a:gdLst/>
              <a:ahLst/>
              <a:cxnLst/>
              <a:rect l="0" t="0" r="0" b="0"/>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5" name="Shape 105"/>
            <p:cNvSpPr/>
            <p:nvPr/>
          </p:nvSpPr>
          <p:spPr>
            <a:xfrm>
              <a:off x="6253375" y="2001400"/>
              <a:ext cx="74325" cy="70675"/>
            </a:xfrm>
            <a:custGeom>
              <a:avLst/>
              <a:gdLst/>
              <a:ahLst/>
              <a:cxnLst/>
              <a:rect l="0" t="0" r="0" b="0"/>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6" name="Shape 106"/>
            <p:cNvSpPr/>
            <p:nvPr/>
          </p:nvSpPr>
          <p:spPr>
            <a:xfrm>
              <a:off x="6137700" y="1623900"/>
              <a:ext cx="250875" cy="255150"/>
            </a:xfrm>
            <a:custGeom>
              <a:avLst/>
              <a:gdLst/>
              <a:ahLst/>
              <a:cxnLst/>
              <a:rect l="0" t="0" r="0" b="0"/>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7350" y="228600"/>
            <a:ext cx="5943600" cy="857250"/>
          </a:xfrm>
        </p:spPr>
        <p:txBody>
          <a:bodyPr>
            <a:normAutofit fontScale="90000"/>
          </a:bodyPr>
          <a:lstStyle/>
          <a:p>
            <a:r>
              <a:rPr lang="en-US" dirty="0" smtClean="0"/>
              <a:t>Background: History &amp; Evolution of Unix</a:t>
            </a:r>
            <a:endParaRPr lang="en-US" dirty="0"/>
          </a:p>
        </p:txBody>
      </p:sp>
      <p:sp>
        <p:nvSpPr>
          <p:cNvPr id="3" name="Content Placeholder 2"/>
          <p:cNvSpPr>
            <a:spLocks noGrp="1"/>
          </p:cNvSpPr>
          <p:nvPr>
            <p:ph idx="1"/>
          </p:nvPr>
        </p:nvSpPr>
        <p:spPr>
          <a:xfrm>
            <a:off x="1657350" y="1085850"/>
            <a:ext cx="6229350" cy="3543300"/>
          </a:xfrm>
        </p:spPr>
        <p:txBody>
          <a:bodyPr/>
          <a:lstStyle/>
          <a:p>
            <a:pPr marL="0" indent="0">
              <a:buNone/>
            </a:pPr>
            <a:r>
              <a:rPr lang="en-GB" dirty="0"/>
              <a:t>http</a:t>
            </a:r>
            <a:r>
              <a:rPr lang="en-GB" dirty="0"/>
              <a:t>://en.wikipedia.org/wiki/History_of_Unix#/</a:t>
            </a:r>
            <a:r>
              <a:rPr lang="en-GB" dirty="0"/>
              <a:t>media/File:Unix_history-simple.svg</a:t>
            </a:r>
          </a:p>
          <a:p>
            <a:endParaRPr lang="en-GB" sz="1200" dirty="0"/>
          </a:p>
          <a:p>
            <a:endParaRPr lang="en-US" sz="1200" dirty="0"/>
          </a:p>
        </p:txBody>
      </p:sp>
      <p:sp>
        <p:nvSpPr>
          <p:cNvPr id="4" name="Slide Number Placeholder 3"/>
          <p:cNvSpPr>
            <a:spLocks noGrp="1"/>
          </p:cNvSpPr>
          <p:nvPr>
            <p:ph type="sldNum" sz="quarter" idx="12"/>
          </p:nvPr>
        </p:nvSpPr>
        <p:spPr/>
        <p:txBody>
          <a:bodyPr/>
          <a:lstStyle/>
          <a:p>
            <a:fld id="{3AD0F5C9-508C-493F-9A2F-E019F4F76EE6}" type="slidenum">
              <a:rPr lang="en-US" smtClean="0"/>
              <a:pPr/>
              <a:t>2</a:t>
            </a:fld>
            <a:endParaRPr lang="en-US" dirty="0"/>
          </a:p>
        </p:txBody>
      </p:sp>
      <p:pic>
        <p:nvPicPr>
          <p:cNvPr id="5" name="Picture 4"/>
          <p:cNvPicPr>
            <a:picLocks noChangeAspect="1"/>
          </p:cNvPicPr>
          <p:nvPr/>
        </p:nvPicPr>
        <p:blipFill>
          <a:blip r:embed="rId2"/>
          <a:stretch>
            <a:fillRect/>
          </a:stretch>
        </p:blipFill>
        <p:spPr>
          <a:xfrm>
            <a:off x="1657350" y="1390632"/>
            <a:ext cx="5486400" cy="3659387"/>
          </a:xfrm>
          <a:prstGeom prst="rect">
            <a:avLst/>
          </a:prstGeom>
        </p:spPr>
      </p:pic>
    </p:spTree>
    <p:extLst>
      <p:ext uri="{BB962C8B-B14F-4D97-AF65-F5344CB8AC3E}">
        <p14:creationId xmlns:p14="http://schemas.microsoft.com/office/powerpoint/2010/main" val="18415643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15"/>
          <p:cNvSpPr>
            <a:spLocks noChangeArrowheads="1"/>
          </p:cNvSpPr>
          <p:nvPr/>
        </p:nvSpPr>
        <p:spPr bwMode="auto">
          <a:xfrm>
            <a:off x="1943100" y="1200150"/>
            <a:ext cx="3943350" cy="3829050"/>
          </a:xfrm>
          <a:prstGeom prst="ellipse">
            <a:avLst/>
          </a:prstGeom>
          <a:solidFill>
            <a:srgbClr val="99CCFF"/>
          </a:solidFill>
          <a:ln w="25400">
            <a:solidFill>
              <a:schemeClr val="bg1"/>
            </a:solidFill>
            <a:round/>
            <a:headEnd/>
            <a:tailEnd/>
          </a:ln>
          <a:effectLst/>
        </p:spPr>
        <p:txBody>
          <a:bodyPr wrap="none" anchor="ctr"/>
          <a:lstStyle/>
          <a:p>
            <a:endParaRPr lang="en-US" sz="1350"/>
          </a:p>
        </p:txBody>
      </p:sp>
      <p:sp>
        <p:nvSpPr>
          <p:cNvPr id="7" name="Rectangle 2"/>
          <p:cNvSpPr txBox="1">
            <a:spLocks noChangeArrowheads="1"/>
          </p:cNvSpPr>
          <p:nvPr/>
        </p:nvSpPr>
        <p:spPr>
          <a:xfrm>
            <a:off x="1600200" y="320279"/>
            <a:ext cx="6172200" cy="857250"/>
          </a:xfrm>
          <a:prstGeom prst="rect">
            <a:avLst/>
          </a:prstGeom>
        </p:spPr>
        <p:txBody>
          <a:bodyPr vert="horz" rtlCol="0" anchor="ctr">
            <a:norm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3075"/>
              <a:t>Architecture of Linux / UNIX</a:t>
            </a:r>
            <a:endParaRPr lang="en-US" sz="3075" dirty="0"/>
          </a:p>
        </p:txBody>
      </p:sp>
      <p:sp>
        <p:nvSpPr>
          <p:cNvPr id="8" name="Oval 3"/>
          <p:cNvSpPr>
            <a:spLocks noChangeArrowheads="1"/>
          </p:cNvSpPr>
          <p:nvPr/>
        </p:nvSpPr>
        <p:spPr bwMode="auto">
          <a:xfrm>
            <a:off x="2421731" y="1621631"/>
            <a:ext cx="3009900" cy="3009900"/>
          </a:xfrm>
          <a:prstGeom prst="ellipse">
            <a:avLst/>
          </a:prstGeom>
          <a:solidFill>
            <a:srgbClr val="3399FF"/>
          </a:solidFill>
          <a:ln w="25400">
            <a:solidFill>
              <a:schemeClr val="bg1"/>
            </a:solidFill>
            <a:round/>
            <a:headEnd/>
            <a:tailEnd/>
          </a:ln>
          <a:effectLst/>
        </p:spPr>
        <p:txBody>
          <a:bodyPr wrap="none" anchor="ctr"/>
          <a:lstStyle/>
          <a:p>
            <a:endParaRPr lang="en-US" sz="1350"/>
          </a:p>
        </p:txBody>
      </p:sp>
      <p:sp>
        <p:nvSpPr>
          <p:cNvPr id="9" name="Oval 4"/>
          <p:cNvSpPr>
            <a:spLocks noChangeArrowheads="1"/>
          </p:cNvSpPr>
          <p:nvPr/>
        </p:nvSpPr>
        <p:spPr bwMode="auto">
          <a:xfrm>
            <a:off x="2821781" y="1964531"/>
            <a:ext cx="2209800" cy="2266950"/>
          </a:xfrm>
          <a:prstGeom prst="ellipse">
            <a:avLst/>
          </a:prstGeom>
          <a:solidFill>
            <a:schemeClr val="accent2"/>
          </a:solidFill>
          <a:ln w="25400">
            <a:solidFill>
              <a:schemeClr val="bg1"/>
            </a:solidFill>
            <a:round/>
            <a:headEnd/>
            <a:tailEnd/>
          </a:ln>
          <a:effectLst/>
        </p:spPr>
        <p:txBody>
          <a:bodyPr wrap="none" anchor="ctr"/>
          <a:lstStyle/>
          <a:p>
            <a:endParaRPr lang="en-US" sz="1350"/>
          </a:p>
        </p:txBody>
      </p:sp>
      <p:sp>
        <p:nvSpPr>
          <p:cNvPr id="10" name="Oval 5"/>
          <p:cNvSpPr>
            <a:spLocks noChangeArrowheads="1"/>
          </p:cNvSpPr>
          <p:nvPr/>
        </p:nvSpPr>
        <p:spPr bwMode="auto">
          <a:xfrm>
            <a:off x="3164681" y="2364581"/>
            <a:ext cx="1524000" cy="1524000"/>
          </a:xfrm>
          <a:prstGeom prst="ellipse">
            <a:avLst/>
          </a:prstGeom>
          <a:solidFill>
            <a:srgbClr val="F39FD1"/>
          </a:solidFill>
          <a:ln w="25400">
            <a:solidFill>
              <a:schemeClr val="bg1"/>
            </a:solidFill>
            <a:round/>
            <a:headEnd/>
            <a:tailEnd/>
          </a:ln>
          <a:effectLst/>
        </p:spPr>
        <p:txBody>
          <a:bodyPr wrap="none" anchor="ctr"/>
          <a:lstStyle/>
          <a:p>
            <a:endParaRPr lang="en-US" sz="1350"/>
          </a:p>
        </p:txBody>
      </p:sp>
      <p:sp>
        <p:nvSpPr>
          <p:cNvPr id="11" name="Oval 6"/>
          <p:cNvSpPr>
            <a:spLocks noChangeArrowheads="1"/>
          </p:cNvSpPr>
          <p:nvPr/>
        </p:nvSpPr>
        <p:spPr bwMode="auto">
          <a:xfrm>
            <a:off x="3679031" y="2821781"/>
            <a:ext cx="495300" cy="552450"/>
          </a:xfrm>
          <a:prstGeom prst="ellipse">
            <a:avLst/>
          </a:prstGeom>
          <a:solidFill>
            <a:srgbClr val="FF3300"/>
          </a:solidFill>
          <a:ln w="25400">
            <a:solidFill>
              <a:schemeClr val="bg1"/>
            </a:solidFill>
            <a:round/>
            <a:headEnd/>
            <a:tailEnd/>
          </a:ln>
          <a:effectLst/>
        </p:spPr>
        <p:txBody>
          <a:bodyPr wrap="none" anchor="ctr"/>
          <a:lstStyle/>
          <a:p>
            <a:pPr marL="557213" indent="-214313"/>
            <a:endParaRPr lang="en-GB" sz="1350" u="sng">
              <a:solidFill>
                <a:srgbClr val="FF3300"/>
              </a:solidFill>
            </a:endParaRPr>
          </a:p>
        </p:txBody>
      </p:sp>
      <p:sp>
        <p:nvSpPr>
          <p:cNvPr id="12" name="Line 7"/>
          <p:cNvSpPr>
            <a:spLocks noChangeShapeType="1"/>
          </p:cNvSpPr>
          <p:nvPr/>
        </p:nvSpPr>
        <p:spPr bwMode="auto">
          <a:xfrm>
            <a:off x="5099447" y="2126456"/>
            <a:ext cx="798909" cy="0"/>
          </a:xfrm>
          <a:prstGeom prst="line">
            <a:avLst/>
          </a:prstGeom>
          <a:noFill/>
          <a:ln w="25400">
            <a:solidFill>
              <a:schemeClr val="tx1"/>
            </a:solidFill>
            <a:round/>
            <a:headEnd type="triangle" w="med" len="med"/>
            <a:tailEnd type="none" w="sm" len="sm"/>
          </a:ln>
          <a:effectLst/>
        </p:spPr>
        <p:txBody>
          <a:bodyPr/>
          <a:lstStyle/>
          <a:p>
            <a:endParaRPr lang="en-US" sz="1350"/>
          </a:p>
        </p:txBody>
      </p:sp>
      <p:sp>
        <p:nvSpPr>
          <p:cNvPr id="13" name="Line 8"/>
          <p:cNvSpPr>
            <a:spLocks noChangeShapeType="1"/>
          </p:cNvSpPr>
          <p:nvPr/>
        </p:nvSpPr>
        <p:spPr bwMode="auto">
          <a:xfrm>
            <a:off x="4870847" y="2469356"/>
            <a:ext cx="1027509" cy="0"/>
          </a:xfrm>
          <a:prstGeom prst="line">
            <a:avLst/>
          </a:prstGeom>
          <a:noFill/>
          <a:ln w="25400">
            <a:solidFill>
              <a:schemeClr val="tx1"/>
            </a:solidFill>
            <a:round/>
            <a:headEnd type="triangle" w="med" len="med"/>
            <a:tailEnd type="none" w="sm" len="sm"/>
          </a:ln>
          <a:effectLst/>
        </p:spPr>
        <p:txBody>
          <a:bodyPr/>
          <a:lstStyle/>
          <a:p>
            <a:endParaRPr lang="en-US" sz="1350"/>
          </a:p>
        </p:txBody>
      </p:sp>
      <p:sp>
        <p:nvSpPr>
          <p:cNvPr id="14" name="Line 9"/>
          <p:cNvSpPr>
            <a:spLocks noChangeShapeType="1"/>
          </p:cNvSpPr>
          <p:nvPr/>
        </p:nvSpPr>
        <p:spPr bwMode="auto">
          <a:xfrm>
            <a:off x="4642247" y="2812256"/>
            <a:ext cx="1256109" cy="0"/>
          </a:xfrm>
          <a:prstGeom prst="line">
            <a:avLst/>
          </a:prstGeom>
          <a:noFill/>
          <a:ln w="25400">
            <a:solidFill>
              <a:schemeClr val="tx1"/>
            </a:solidFill>
            <a:round/>
            <a:headEnd type="triangle" w="med" len="med"/>
            <a:tailEnd type="none" w="sm" len="sm"/>
          </a:ln>
          <a:effectLst/>
        </p:spPr>
        <p:txBody>
          <a:bodyPr/>
          <a:lstStyle/>
          <a:p>
            <a:endParaRPr lang="en-US" sz="1350"/>
          </a:p>
        </p:txBody>
      </p:sp>
      <p:sp>
        <p:nvSpPr>
          <p:cNvPr id="15" name="Line 10"/>
          <p:cNvSpPr>
            <a:spLocks noChangeShapeType="1"/>
          </p:cNvSpPr>
          <p:nvPr/>
        </p:nvSpPr>
        <p:spPr bwMode="auto">
          <a:xfrm>
            <a:off x="4185047" y="3155156"/>
            <a:ext cx="1713309" cy="0"/>
          </a:xfrm>
          <a:prstGeom prst="line">
            <a:avLst/>
          </a:prstGeom>
          <a:noFill/>
          <a:ln w="25400">
            <a:solidFill>
              <a:schemeClr val="tx1"/>
            </a:solidFill>
            <a:round/>
            <a:headEnd type="triangle" w="med" len="med"/>
            <a:tailEnd type="none" w="sm" len="sm"/>
          </a:ln>
          <a:effectLst/>
        </p:spPr>
        <p:txBody>
          <a:bodyPr/>
          <a:lstStyle/>
          <a:p>
            <a:endParaRPr lang="en-US" sz="1350"/>
          </a:p>
        </p:txBody>
      </p:sp>
      <p:sp>
        <p:nvSpPr>
          <p:cNvPr id="16" name="Rectangle 11"/>
          <p:cNvSpPr>
            <a:spLocks noChangeArrowheads="1"/>
          </p:cNvSpPr>
          <p:nvPr/>
        </p:nvSpPr>
        <p:spPr bwMode="auto">
          <a:xfrm>
            <a:off x="5886450" y="1943100"/>
            <a:ext cx="588302" cy="346731"/>
          </a:xfrm>
          <a:prstGeom prst="rect">
            <a:avLst/>
          </a:prstGeom>
          <a:noFill/>
          <a:ln w="9525">
            <a:noFill/>
            <a:miter lim="800000"/>
            <a:headEnd/>
            <a:tailEnd/>
          </a:ln>
          <a:effectLst/>
        </p:spPr>
        <p:txBody>
          <a:bodyPr wrap="none" lIns="69056" tIns="34529" rIns="69056" bIns="34529">
            <a:spAutoFit/>
          </a:bodyPr>
          <a:lstStyle/>
          <a:p>
            <a:pPr algn="l">
              <a:lnSpc>
                <a:spcPct val="100000"/>
              </a:lnSpc>
              <a:spcBef>
                <a:spcPct val="0"/>
              </a:spcBef>
            </a:pPr>
            <a:r>
              <a:rPr lang="en-GB"/>
              <a:t>Shell</a:t>
            </a:r>
          </a:p>
        </p:txBody>
      </p:sp>
      <p:sp>
        <p:nvSpPr>
          <p:cNvPr id="17" name="Rectangle 12"/>
          <p:cNvSpPr>
            <a:spLocks noChangeArrowheads="1"/>
          </p:cNvSpPr>
          <p:nvPr/>
        </p:nvSpPr>
        <p:spPr bwMode="auto">
          <a:xfrm>
            <a:off x="5886450" y="2286000"/>
            <a:ext cx="1680011" cy="346731"/>
          </a:xfrm>
          <a:prstGeom prst="rect">
            <a:avLst/>
          </a:prstGeom>
          <a:noFill/>
          <a:ln w="9525">
            <a:noFill/>
            <a:miter lim="800000"/>
            <a:headEnd/>
            <a:tailEnd/>
          </a:ln>
          <a:effectLst/>
        </p:spPr>
        <p:txBody>
          <a:bodyPr wrap="none" lIns="69056" tIns="34529" rIns="69056" bIns="34529">
            <a:spAutoFit/>
          </a:bodyPr>
          <a:lstStyle/>
          <a:p>
            <a:pPr algn="l">
              <a:lnSpc>
                <a:spcPct val="100000"/>
              </a:lnSpc>
              <a:spcBef>
                <a:spcPct val="0"/>
              </a:spcBef>
            </a:pPr>
            <a:r>
              <a:rPr lang="en-GB"/>
              <a:t>Standard Library</a:t>
            </a:r>
          </a:p>
        </p:txBody>
      </p:sp>
      <p:sp>
        <p:nvSpPr>
          <p:cNvPr id="18" name="Rectangle 13"/>
          <p:cNvSpPr>
            <a:spLocks noChangeArrowheads="1"/>
          </p:cNvSpPr>
          <p:nvPr/>
        </p:nvSpPr>
        <p:spPr bwMode="auto">
          <a:xfrm>
            <a:off x="5886450" y="2628900"/>
            <a:ext cx="741229" cy="346731"/>
          </a:xfrm>
          <a:prstGeom prst="rect">
            <a:avLst/>
          </a:prstGeom>
          <a:noFill/>
          <a:ln w="9525">
            <a:noFill/>
            <a:miter lim="800000"/>
            <a:headEnd/>
            <a:tailEnd/>
          </a:ln>
          <a:effectLst/>
        </p:spPr>
        <p:txBody>
          <a:bodyPr wrap="none" lIns="69056" tIns="34529" rIns="69056" bIns="34529">
            <a:spAutoFit/>
          </a:bodyPr>
          <a:lstStyle/>
          <a:p>
            <a:pPr algn="l">
              <a:lnSpc>
                <a:spcPct val="100000"/>
              </a:lnSpc>
              <a:spcBef>
                <a:spcPct val="0"/>
              </a:spcBef>
            </a:pPr>
            <a:r>
              <a:rPr lang="en-GB"/>
              <a:t>Kernel</a:t>
            </a:r>
          </a:p>
        </p:txBody>
      </p:sp>
      <p:sp>
        <p:nvSpPr>
          <p:cNvPr id="19" name="Rectangle 14"/>
          <p:cNvSpPr>
            <a:spLocks noChangeArrowheads="1"/>
          </p:cNvSpPr>
          <p:nvPr/>
        </p:nvSpPr>
        <p:spPr bwMode="auto">
          <a:xfrm>
            <a:off x="5886451" y="2971800"/>
            <a:ext cx="1058880" cy="346731"/>
          </a:xfrm>
          <a:prstGeom prst="rect">
            <a:avLst/>
          </a:prstGeom>
          <a:noFill/>
          <a:ln w="9525">
            <a:noFill/>
            <a:miter lim="800000"/>
            <a:headEnd/>
            <a:tailEnd/>
          </a:ln>
          <a:effectLst/>
        </p:spPr>
        <p:txBody>
          <a:bodyPr wrap="none" lIns="69056" tIns="34529" rIns="69056" bIns="34529">
            <a:spAutoFit/>
          </a:bodyPr>
          <a:lstStyle/>
          <a:p>
            <a:pPr algn="l">
              <a:lnSpc>
                <a:spcPct val="100000"/>
              </a:lnSpc>
              <a:spcBef>
                <a:spcPct val="0"/>
              </a:spcBef>
            </a:pPr>
            <a:r>
              <a:rPr lang="en-GB"/>
              <a:t>Hardware</a:t>
            </a:r>
          </a:p>
        </p:txBody>
      </p:sp>
      <p:sp>
        <p:nvSpPr>
          <p:cNvPr id="20" name="Line 16"/>
          <p:cNvSpPr>
            <a:spLocks noChangeShapeType="1"/>
          </p:cNvSpPr>
          <p:nvPr/>
        </p:nvSpPr>
        <p:spPr bwMode="auto">
          <a:xfrm>
            <a:off x="5385197" y="1783556"/>
            <a:ext cx="798909" cy="0"/>
          </a:xfrm>
          <a:prstGeom prst="line">
            <a:avLst/>
          </a:prstGeom>
          <a:noFill/>
          <a:ln w="25400">
            <a:solidFill>
              <a:schemeClr val="tx1"/>
            </a:solidFill>
            <a:round/>
            <a:headEnd type="triangle" w="med" len="med"/>
            <a:tailEnd type="none" w="sm" len="sm"/>
          </a:ln>
          <a:effectLst/>
        </p:spPr>
        <p:txBody>
          <a:bodyPr/>
          <a:lstStyle/>
          <a:p>
            <a:endParaRPr lang="en-US" sz="1350"/>
          </a:p>
        </p:txBody>
      </p:sp>
      <p:sp>
        <p:nvSpPr>
          <p:cNvPr id="21" name="Rectangle 17"/>
          <p:cNvSpPr>
            <a:spLocks noChangeArrowheads="1"/>
          </p:cNvSpPr>
          <p:nvPr/>
        </p:nvSpPr>
        <p:spPr bwMode="auto">
          <a:xfrm>
            <a:off x="6172201" y="1600200"/>
            <a:ext cx="1289584" cy="346731"/>
          </a:xfrm>
          <a:prstGeom prst="rect">
            <a:avLst/>
          </a:prstGeom>
          <a:noFill/>
          <a:ln w="9525">
            <a:noFill/>
            <a:miter lim="800000"/>
            <a:headEnd/>
            <a:tailEnd/>
          </a:ln>
          <a:effectLst/>
        </p:spPr>
        <p:txBody>
          <a:bodyPr wrap="none" lIns="69056" tIns="34529" rIns="69056" bIns="34529">
            <a:spAutoFit/>
          </a:bodyPr>
          <a:lstStyle/>
          <a:p>
            <a:pPr algn="l">
              <a:lnSpc>
                <a:spcPct val="100000"/>
              </a:lnSpc>
              <a:spcBef>
                <a:spcPct val="0"/>
              </a:spcBef>
            </a:pPr>
            <a:r>
              <a:rPr lang="en-GB"/>
              <a:t>Applications</a:t>
            </a:r>
          </a:p>
        </p:txBody>
      </p:sp>
      <p:sp>
        <p:nvSpPr>
          <p:cNvPr id="22" name="Footer Placeholder 1"/>
          <p:cNvSpPr txBox="1">
            <a:spLocks/>
          </p:cNvSpPr>
          <p:nvPr/>
        </p:nvSpPr>
        <p:spPr>
          <a:xfrm>
            <a:off x="4542354" y="4920258"/>
            <a:ext cx="1763011" cy="273844"/>
          </a:xfrm>
          <a:prstGeom prst="rect">
            <a:avLst/>
          </a:prstGeom>
        </p:spPr>
        <p:txBody>
          <a:bodyPr vert="horz" anchor="b"/>
          <a:lstStyle>
            <a:defPPr>
              <a:defRPr lang="en-US"/>
            </a:defPPr>
            <a:lvl1pPr marL="0" algn="r" defTabSz="914400" rtl="0" eaLnBrk="1" latinLnBrk="0" hangingPunct="1">
              <a:defRPr kumimoji="0"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50" dirty="0"/>
              <a:t>IT2533 </a:t>
            </a:r>
            <a:endParaRPr lang="en-US" sz="750" dirty="0"/>
          </a:p>
        </p:txBody>
      </p:sp>
      <p:sp>
        <p:nvSpPr>
          <p:cNvPr id="23" name="Slide Number Placeholder 2"/>
          <p:cNvSpPr txBox="1">
            <a:spLocks/>
          </p:cNvSpPr>
          <p:nvPr/>
        </p:nvSpPr>
        <p:spPr>
          <a:xfrm>
            <a:off x="7742754" y="4920258"/>
            <a:ext cx="274320" cy="273844"/>
          </a:xfrm>
          <a:prstGeom prst="rect">
            <a:avLst/>
          </a:prstGeom>
        </p:spPr>
        <p:txBody>
          <a:bodyPr vert="horz" anchor="b"/>
          <a:lstStyle>
            <a:defPPr>
              <a:defRPr lang="en-US"/>
            </a:defPPr>
            <a:lvl1pPr marL="0" algn="r" defTabSz="914400" rtl="0" eaLnBrk="1" latinLnBrk="0" hangingPunct="1">
              <a:defRPr kumimoji="0" sz="10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750"/>
              <a:pPr/>
              <a:t>3</a:t>
            </a:fld>
            <a:endParaRPr lang="en-US" sz="750"/>
          </a:p>
        </p:txBody>
      </p:sp>
    </p:spTree>
    <p:extLst>
      <p:ext uri="{BB962C8B-B14F-4D97-AF65-F5344CB8AC3E}">
        <p14:creationId xmlns:p14="http://schemas.microsoft.com/office/powerpoint/2010/main" val="6433721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r>
              <a:rPr lang="en-US" dirty="0"/>
              <a:t>Architecture of </a:t>
            </a:r>
            <a:r>
              <a:rPr lang="en-US" dirty="0" smtClean="0"/>
              <a:t>Linux / UNIX</a:t>
            </a:r>
            <a:endParaRPr lang="en-US" dirty="0"/>
          </a:p>
        </p:txBody>
      </p:sp>
      <p:sp>
        <p:nvSpPr>
          <p:cNvPr id="2" name="Footer Placeholder 1"/>
          <p:cNvSpPr>
            <a:spLocks noGrp="1"/>
          </p:cNvSpPr>
          <p:nvPr>
            <p:ph type="ftr" sz="quarter" idx="11"/>
          </p:nvPr>
        </p:nvSpPr>
        <p:spPr/>
        <p:txBody>
          <a:bodyPr/>
          <a:lstStyle/>
          <a:p>
            <a:r>
              <a:rPr lang="en-US" dirty="0" smtClean="0"/>
              <a:t>IT2533 Lecture</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898051" name="Rectangle 3"/>
          <p:cNvSpPr>
            <a:spLocks noGrp="1" noChangeArrowheads="1"/>
          </p:cNvSpPr>
          <p:nvPr>
            <p:ph sz="quarter" idx="1"/>
          </p:nvPr>
        </p:nvSpPr>
        <p:spPr/>
        <p:txBody>
          <a:bodyPr>
            <a:normAutofit fontScale="85000" lnSpcReduction="20000"/>
          </a:bodyPr>
          <a:lstStyle/>
          <a:p>
            <a:r>
              <a:rPr lang="en-US" sz="1800" dirty="0"/>
              <a:t>Hardware</a:t>
            </a:r>
          </a:p>
          <a:p>
            <a:pPr lvl="1"/>
            <a:r>
              <a:rPr lang="en-US" sz="1500" dirty="0"/>
              <a:t>CPU, memory, hard </a:t>
            </a:r>
            <a:r>
              <a:rPr lang="en-US" sz="1500" dirty="0"/>
              <a:t>disks</a:t>
            </a:r>
            <a:r>
              <a:rPr lang="en-US" sz="1500" dirty="0"/>
              <a:t> </a:t>
            </a:r>
            <a:r>
              <a:rPr lang="en-US" sz="1500" dirty="0"/>
              <a:t>and etc.</a:t>
            </a:r>
            <a:endParaRPr lang="en-US" sz="1500" dirty="0"/>
          </a:p>
          <a:p>
            <a:r>
              <a:rPr lang="en-US" sz="1800" dirty="0"/>
              <a:t>Kernel</a:t>
            </a:r>
          </a:p>
          <a:p>
            <a:pPr lvl="1"/>
            <a:r>
              <a:rPr lang="en-US" sz="1500" dirty="0"/>
              <a:t>Provide process management, memory management, I/O management, file management</a:t>
            </a:r>
          </a:p>
          <a:p>
            <a:pPr lvl="1"/>
            <a:r>
              <a:rPr lang="en-US" sz="1500" dirty="0"/>
              <a:t>Executed in protected Kernel mode</a:t>
            </a:r>
          </a:p>
          <a:p>
            <a:r>
              <a:rPr lang="en-US" sz="1800" dirty="0"/>
              <a:t>Standard Library</a:t>
            </a:r>
          </a:p>
          <a:p>
            <a:pPr lvl="1"/>
            <a:r>
              <a:rPr lang="en-US" sz="1500" dirty="0"/>
              <a:t>Open, close, read, write (file operations) and fork (create new processes) function calls</a:t>
            </a:r>
          </a:p>
          <a:p>
            <a:r>
              <a:rPr lang="en-US" sz="1800" dirty="0"/>
              <a:t>Shell (command line interpreter)</a:t>
            </a:r>
          </a:p>
          <a:p>
            <a:pPr lvl="1"/>
            <a:r>
              <a:rPr lang="en-US" sz="1500" dirty="0" err="1"/>
              <a:t>Ksh</a:t>
            </a:r>
            <a:r>
              <a:rPr lang="en-US" sz="1500" dirty="0"/>
              <a:t>, </a:t>
            </a:r>
            <a:r>
              <a:rPr lang="en-US" sz="1500" dirty="0" err="1"/>
              <a:t>csh</a:t>
            </a:r>
            <a:r>
              <a:rPr lang="en-US" sz="1500" dirty="0"/>
              <a:t>, </a:t>
            </a:r>
            <a:r>
              <a:rPr lang="en-US" sz="1500" dirty="0" err="1"/>
              <a:t>sh</a:t>
            </a:r>
            <a:r>
              <a:rPr lang="en-US" sz="1500" dirty="0"/>
              <a:t>, bash</a:t>
            </a:r>
          </a:p>
          <a:p>
            <a:r>
              <a:rPr lang="en-US" sz="1800" dirty="0"/>
              <a:t>Applications – GUI, web servers, </a:t>
            </a:r>
            <a:r>
              <a:rPr lang="en-US" sz="1800" dirty="0" err="1"/>
              <a:t>etc</a:t>
            </a:r>
            <a:endParaRPr lang="en-US" sz="1800" dirty="0"/>
          </a:p>
        </p:txBody>
      </p:sp>
    </p:spTree>
    <p:extLst>
      <p:ext uri="{BB962C8B-B14F-4D97-AF65-F5344CB8AC3E}">
        <p14:creationId xmlns:p14="http://schemas.microsoft.com/office/powerpoint/2010/main" val="8680627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Linux Security</a:t>
            </a:r>
            <a:endParaRPr lang="en-US" dirty="0"/>
          </a:p>
        </p:txBody>
      </p:sp>
      <p:sp>
        <p:nvSpPr>
          <p:cNvPr id="3" name="Footer Placeholder 2"/>
          <p:cNvSpPr>
            <a:spLocks noGrp="1"/>
          </p:cNvSpPr>
          <p:nvPr>
            <p:ph type="ftr" sz="quarter" idx="11"/>
          </p:nvPr>
        </p:nvSpPr>
        <p:spPr/>
        <p:txBody>
          <a:bodyPr/>
          <a:lstStyle/>
          <a:p>
            <a:r>
              <a:rPr lang="en-US" smtClean="0"/>
              <a:t>IT2533 Lecture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Content Placeholder 4"/>
          <p:cNvSpPr>
            <a:spLocks noGrp="1"/>
          </p:cNvSpPr>
          <p:nvPr>
            <p:ph sz="quarter" idx="1"/>
          </p:nvPr>
        </p:nvSpPr>
        <p:spPr/>
        <p:txBody>
          <a:bodyPr>
            <a:normAutofit fontScale="70000" lnSpcReduction="20000"/>
          </a:bodyPr>
          <a:lstStyle/>
          <a:p>
            <a:r>
              <a:rPr lang="en-US" dirty="0" smtClean="0"/>
              <a:t>Unix/Linux original DAC (</a:t>
            </a:r>
            <a:r>
              <a:rPr lang="en-US" dirty="0"/>
              <a:t>Discretionary Access </a:t>
            </a:r>
            <a:r>
              <a:rPr lang="en-US" dirty="0" smtClean="0"/>
              <a:t>Control)</a:t>
            </a:r>
            <a:endParaRPr lang="en-US" dirty="0"/>
          </a:p>
          <a:p>
            <a:pPr lvl="1"/>
            <a:r>
              <a:rPr lang="en-US" dirty="0" smtClean="0"/>
              <a:t>Owner sets policy.</a:t>
            </a:r>
          </a:p>
          <a:p>
            <a:pPr lvl="1"/>
            <a:r>
              <a:rPr lang="en-US" dirty="0" smtClean="0"/>
              <a:t>Policy is represented by permission bits.</a:t>
            </a:r>
          </a:p>
          <a:p>
            <a:pPr lvl="1"/>
            <a:r>
              <a:rPr lang="en-US" dirty="0"/>
              <a:t>Programs launched by a user run with all of the rights of that user, whether they need them or not</a:t>
            </a:r>
            <a:r>
              <a:rPr lang="en-US" dirty="0" smtClean="0"/>
              <a:t>.</a:t>
            </a:r>
          </a:p>
          <a:p>
            <a:pPr lvl="1"/>
            <a:r>
              <a:rPr lang="en-US" dirty="0"/>
              <a:t>There is also a </a:t>
            </a:r>
            <a:r>
              <a:rPr lang="en-US" b="1" i="1" dirty="0" err="1" smtClean="0"/>
              <a:t>superuser</a:t>
            </a:r>
            <a:r>
              <a:rPr lang="en-US" dirty="0" smtClean="0"/>
              <a:t>, which is not restricted by DAC at all.</a:t>
            </a:r>
            <a:r>
              <a:rPr lang="en-US" b="1" i="1" dirty="0" smtClean="0"/>
              <a:t> </a:t>
            </a:r>
            <a:endParaRPr lang="en-US" b="1" dirty="0" smtClean="0"/>
          </a:p>
          <a:p>
            <a:r>
              <a:rPr lang="en-US" dirty="0" smtClean="0"/>
              <a:t>Extended Security Features</a:t>
            </a:r>
          </a:p>
          <a:p>
            <a:pPr lvl="1"/>
            <a:r>
              <a:rPr lang="en-US" dirty="0" smtClean="0"/>
              <a:t>Access Control List (ACL)</a:t>
            </a:r>
          </a:p>
          <a:p>
            <a:pPr lvl="1"/>
            <a:r>
              <a:rPr lang="en-US" dirty="0" smtClean="0"/>
              <a:t>Network security: </a:t>
            </a:r>
            <a:r>
              <a:rPr lang="en-US" dirty="0" err="1" smtClean="0"/>
              <a:t>Netfilters</a:t>
            </a:r>
            <a:r>
              <a:rPr lang="en-US" dirty="0" smtClean="0"/>
              <a:t> with </a:t>
            </a:r>
            <a:r>
              <a:rPr lang="en-US" dirty="0" err="1" smtClean="0"/>
              <a:t>Iptables</a:t>
            </a:r>
            <a:endParaRPr lang="en-US" dirty="0" smtClean="0"/>
          </a:p>
          <a:p>
            <a:pPr lvl="1"/>
            <a:r>
              <a:rPr lang="en-US" dirty="0"/>
              <a:t>Linux Security </a:t>
            </a:r>
            <a:r>
              <a:rPr lang="en-US" dirty="0" smtClean="0"/>
              <a:t>Modules: </a:t>
            </a:r>
          </a:p>
          <a:p>
            <a:pPr lvl="2"/>
            <a:r>
              <a:rPr lang="en-US" dirty="0" err="1"/>
              <a:t>SELinux</a:t>
            </a:r>
            <a:r>
              <a:rPr lang="en-US" dirty="0"/>
              <a:t>: Supports Mandatory Access Control (MAC) </a:t>
            </a:r>
          </a:p>
          <a:p>
            <a:pPr lvl="2"/>
            <a:r>
              <a:rPr lang="en-US" dirty="0" smtClean="0"/>
              <a:t>Smack: Lightweight MAC in embedded system</a:t>
            </a:r>
          </a:p>
          <a:p>
            <a:pPr lvl="2"/>
            <a:r>
              <a:rPr lang="en-US" dirty="0" err="1"/>
              <a:t>AppArmor</a:t>
            </a:r>
            <a:r>
              <a:rPr lang="en-US" dirty="0"/>
              <a:t>: MAC with security policy applied to </a:t>
            </a:r>
            <a:r>
              <a:rPr lang="en-US" dirty="0" smtClean="0"/>
              <a:t>pathnames</a:t>
            </a:r>
          </a:p>
          <a:p>
            <a:pPr lvl="2"/>
            <a:r>
              <a:rPr lang="en-US" dirty="0" smtClean="0"/>
              <a:t>TOMOYO: Another path-based MAC</a:t>
            </a:r>
            <a:endParaRPr lang="en-US" dirty="0"/>
          </a:p>
          <a:p>
            <a:pPr lvl="1"/>
            <a:endParaRPr lang="en-US" dirty="0"/>
          </a:p>
        </p:txBody>
      </p:sp>
    </p:spTree>
    <p:extLst>
      <p:ext uri="{BB962C8B-B14F-4D97-AF65-F5344CB8AC3E}">
        <p14:creationId xmlns:p14="http://schemas.microsoft.com/office/powerpoint/2010/main" val="2762903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3F6A06B-E7C2-4C37-B992-9DCDFB282BDA}" type="slidenum">
              <a:rPr lang="en-US"/>
              <a:pPr/>
              <a:t>6</a:t>
            </a:fld>
            <a:endParaRPr lang="en-US" dirty="0"/>
          </a:p>
        </p:txBody>
      </p:sp>
      <p:sp>
        <p:nvSpPr>
          <p:cNvPr id="1042434" name="Rectangle 2"/>
          <p:cNvSpPr>
            <a:spLocks noGrp="1" noChangeArrowheads="1"/>
          </p:cNvSpPr>
          <p:nvPr>
            <p:ph type="title"/>
          </p:nvPr>
        </p:nvSpPr>
        <p:spPr/>
        <p:txBody>
          <a:bodyPr/>
          <a:lstStyle/>
          <a:p>
            <a:r>
              <a:rPr lang="en-US" sz="2100" dirty="0"/>
              <a:t>Background: A Typical Unix File System Hierarchy</a:t>
            </a:r>
            <a:endParaRPr lang="en-US" sz="2100" dirty="0"/>
          </a:p>
        </p:txBody>
      </p:sp>
      <p:sp>
        <p:nvSpPr>
          <p:cNvPr id="1042435" name="Rectangle 3"/>
          <p:cNvSpPr>
            <a:spLocks noGrp="1" noChangeArrowheads="1"/>
          </p:cNvSpPr>
          <p:nvPr>
            <p:ph type="body" idx="1"/>
          </p:nvPr>
        </p:nvSpPr>
        <p:spPr>
          <a:xfrm>
            <a:off x="1657350" y="1085850"/>
            <a:ext cx="6000750" cy="3657600"/>
          </a:xfrm>
        </p:spPr>
        <p:txBody>
          <a:bodyPr/>
          <a:lstStyle/>
          <a:p>
            <a:pPr marL="728663" indent="-728663">
              <a:lnSpc>
                <a:spcPct val="80000"/>
              </a:lnSpc>
              <a:buNone/>
            </a:pPr>
            <a:r>
              <a:rPr lang="en-US" sz="1800" dirty="0"/>
              <a:t>/	</a:t>
            </a:r>
            <a:r>
              <a:rPr lang="en-US" sz="1800" dirty="0"/>
              <a:t>UNIX </a:t>
            </a:r>
            <a:r>
              <a:rPr lang="en-US" sz="1800" dirty="0"/>
              <a:t>kernel programs and few startup scripts</a:t>
            </a:r>
          </a:p>
          <a:p>
            <a:pPr marL="728663" indent="-728663">
              <a:lnSpc>
                <a:spcPct val="80000"/>
              </a:lnSpc>
              <a:buNone/>
            </a:pPr>
            <a:r>
              <a:rPr lang="en-US" sz="1800" dirty="0"/>
              <a:t>/bin	</a:t>
            </a:r>
            <a:r>
              <a:rPr lang="en-US" sz="1800" dirty="0"/>
              <a:t>UNIX </a:t>
            </a:r>
            <a:r>
              <a:rPr lang="en-US" sz="1800" dirty="0"/>
              <a:t>core/basic command files</a:t>
            </a:r>
          </a:p>
          <a:p>
            <a:pPr marL="728663" indent="-728663">
              <a:lnSpc>
                <a:spcPct val="80000"/>
              </a:lnSpc>
              <a:buNone/>
            </a:pPr>
            <a:r>
              <a:rPr lang="en-US" sz="1800" dirty="0"/>
              <a:t>/etc	System and network administration command files</a:t>
            </a:r>
          </a:p>
          <a:p>
            <a:pPr marL="728663" indent="-728663">
              <a:lnSpc>
                <a:spcPct val="80000"/>
              </a:lnSpc>
              <a:buNone/>
            </a:pPr>
            <a:r>
              <a:rPr lang="en-US" sz="1800" dirty="0"/>
              <a:t>/dev	Device files map to different devices like memory, hard disks, keyboard, console and network interfaces</a:t>
            </a:r>
          </a:p>
          <a:p>
            <a:pPr marL="728663" indent="-728663">
              <a:lnSpc>
                <a:spcPct val="80000"/>
              </a:lnSpc>
              <a:buNone/>
            </a:pPr>
            <a:r>
              <a:rPr lang="en-US" sz="1800" dirty="0"/>
              <a:t>/tmp	temporary working files required by system and network administration commands, the only directory that read/write by any logon users</a:t>
            </a:r>
          </a:p>
          <a:p>
            <a:pPr marL="728663" indent="-728663">
              <a:lnSpc>
                <a:spcPct val="80000"/>
              </a:lnSpc>
              <a:buNone/>
            </a:pPr>
            <a:r>
              <a:rPr lang="en-US" sz="1800" dirty="0"/>
              <a:t>/usr	Most of the application software</a:t>
            </a:r>
          </a:p>
          <a:p>
            <a:pPr marL="728663" indent="-728663">
              <a:lnSpc>
                <a:spcPct val="80000"/>
              </a:lnSpc>
              <a:buNone/>
            </a:pPr>
            <a:r>
              <a:rPr lang="en-US" sz="1800" dirty="0"/>
              <a:t>/home user directories for users’ data</a:t>
            </a:r>
          </a:p>
          <a:p>
            <a:pPr marL="728663" indent="-728663">
              <a:lnSpc>
                <a:spcPct val="80000"/>
              </a:lnSpc>
              <a:buNone/>
            </a:pPr>
            <a:r>
              <a:rPr lang="en-US" sz="1800" dirty="0"/>
              <a:t>/opt	Third-party and-on software e.g. StarOffice</a:t>
            </a:r>
          </a:p>
          <a:p>
            <a:pPr marL="728663" indent="-728663">
              <a:lnSpc>
                <a:spcPct val="80000"/>
              </a:lnSpc>
              <a:buNone/>
            </a:pPr>
            <a:r>
              <a:rPr lang="en-US" sz="1800" dirty="0"/>
              <a:t>/var	Garden-variety administrative logs, mail and news</a:t>
            </a:r>
          </a:p>
        </p:txBody>
      </p:sp>
    </p:spTree>
    <p:extLst>
      <p:ext uri="{BB962C8B-B14F-4D97-AF65-F5344CB8AC3E}">
        <p14:creationId xmlns:p14="http://schemas.microsoft.com/office/powerpoint/2010/main" val="2915655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F02C4FB-BBF4-498C-B7DF-1BC06AA77BB1}" type="slidenum">
              <a:rPr lang="en-US"/>
              <a:pPr/>
              <a:t>7</a:t>
            </a:fld>
            <a:endParaRPr lang="en-US" dirty="0"/>
          </a:p>
        </p:txBody>
      </p:sp>
      <p:sp>
        <p:nvSpPr>
          <p:cNvPr id="1062914" name="Rectangle 2"/>
          <p:cNvSpPr>
            <a:spLocks noGrp="1" noChangeArrowheads="1"/>
          </p:cNvSpPr>
          <p:nvPr>
            <p:ph type="title"/>
          </p:nvPr>
        </p:nvSpPr>
        <p:spPr/>
        <p:txBody>
          <a:bodyPr/>
          <a:lstStyle/>
          <a:p>
            <a:r>
              <a:rPr lang="en-US" sz="2100" dirty="0"/>
              <a:t>Unix File Permissions Fundamentals </a:t>
            </a:r>
            <a:r>
              <a:rPr lang="en-US" sz="2100" i="1" dirty="0"/>
              <a:t>(revisited</a:t>
            </a:r>
            <a:r>
              <a:rPr lang="en-US" sz="2100" i="1" dirty="0"/>
              <a:t>)</a:t>
            </a:r>
          </a:p>
        </p:txBody>
      </p:sp>
      <p:sp>
        <p:nvSpPr>
          <p:cNvPr id="1062915" name="Rectangle 3"/>
          <p:cNvSpPr>
            <a:spLocks noGrp="1" noChangeArrowheads="1"/>
          </p:cNvSpPr>
          <p:nvPr>
            <p:ph type="body" idx="1"/>
          </p:nvPr>
        </p:nvSpPr>
        <p:spPr/>
        <p:txBody>
          <a:bodyPr>
            <a:noAutofit/>
          </a:bodyPr>
          <a:lstStyle/>
          <a:p>
            <a:pPr>
              <a:spcBef>
                <a:spcPts val="450"/>
              </a:spcBef>
            </a:pPr>
            <a:r>
              <a:rPr lang="en-US" sz="1800" dirty="0"/>
              <a:t>File permissions are </a:t>
            </a:r>
            <a:r>
              <a:rPr lang="en-US" sz="1800" b="1" dirty="0"/>
              <a:t>read(r), write(w) </a:t>
            </a:r>
            <a:r>
              <a:rPr lang="en-US" sz="1800" dirty="0"/>
              <a:t>and </a:t>
            </a:r>
            <a:r>
              <a:rPr lang="en-US" sz="1800" b="1" dirty="0"/>
              <a:t>execute(x)</a:t>
            </a:r>
            <a:endParaRPr lang="en-US" sz="1800" b="1" dirty="0"/>
          </a:p>
          <a:p>
            <a:pPr>
              <a:spcBef>
                <a:spcPts val="450"/>
              </a:spcBef>
            </a:pPr>
            <a:r>
              <a:rPr lang="en-US" sz="1800" dirty="0"/>
              <a:t>Each file or directory has a separate set of file </a:t>
            </a:r>
            <a:r>
              <a:rPr lang="en-US" sz="1800" dirty="0"/>
              <a:t>permissions</a:t>
            </a:r>
            <a:br>
              <a:rPr lang="en-US" sz="1800" dirty="0"/>
            </a:br>
            <a:endParaRPr lang="en-US" sz="1800" dirty="0"/>
          </a:p>
        </p:txBody>
      </p:sp>
      <p:sp>
        <p:nvSpPr>
          <p:cNvPr id="4" name="Rectangle 3"/>
          <p:cNvSpPr/>
          <p:nvPr/>
        </p:nvSpPr>
        <p:spPr>
          <a:xfrm>
            <a:off x="1277634" y="1977684"/>
            <a:ext cx="6426714" cy="369332"/>
          </a:xfrm>
          <a:prstGeom prst="rect">
            <a:avLst/>
          </a:prstGeom>
        </p:spPr>
        <p:txBody>
          <a:bodyPr wrap="square">
            <a:spAutoFit/>
          </a:bodyPr>
          <a:lstStyle/>
          <a:p>
            <a:r>
              <a:rPr lang="en-SG" dirty="0"/>
              <a:t>-</a:t>
            </a:r>
            <a:r>
              <a:rPr lang="en-SG" dirty="0"/>
              <a:t>rwxr-xr-x </a:t>
            </a:r>
            <a:r>
              <a:rPr lang="en-SG" dirty="0"/>
              <a:t>1 </a:t>
            </a:r>
            <a:r>
              <a:rPr lang="en-SG" dirty="0"/>
              <a:t>joe 19876 </a:t>
            </a:r>
            <a:r>
              <a:rPr lang="en-SG" dirty="0"/>
              <a:t>Apr 17 20	/usr/bin/passwd</a:t>
            </a:r>
          </a:p>
        </p:txBody>
      </p:sp>
      <p:sp>
        <p:nvSpPr>
          <p:cNvPr id="5" name="Left Brace 4"/>
          <p:cNvSpPr/>
          <p:nvPr/>
        </p:nvSpPr>
        <p:spPr>
          <a:xfrm rot="16200000">
            <a:off x="1642175" y="2134215"/>
            <a:ext cx="351039" cy="324036"/>
          </a:xfrm>
          <a:prstGeom prst="lef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350" dirty="0"/>
          </a:p>
        </p:txBody>
      </p:sp>
      <p:sp>
        <p:nvSpPr>
          <p:cNvPr id="9" name="Left Brace 8"/>
          <p:cNvSpPr/>
          <p:nvPr/>
        </p:nvSpPr>
        <p:spPr>
          <a:xfrm rot="16200000">
            <a:off x="1993214" y="2161277"/>
            <a:ext cx="351039" cy="270030"/>
          </a:xfrm>
          <a:prstGeom prst="lef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350" dirty="0"/>
          </a:p>
        </p:txBody>
      </p:sp>
      <p:sp>
        <p:nvSpPr>
          <p:cNvPr id="10" name="Left Brace 9"/>
          <p:cNvSpPr/>
          <p:nvPr/>
        </p:nvSpPr>
        <p:spPr>
          <a:xfrm rot="16200000">
            <a:off x="2263244" y="2161277"/>
            <a:ext cx="351039" cy="270030"/>
          </a:xfrm>
          <a:prstGeom prst="lef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350" dirty="0"/>
          </a:p>
        </p:txBody>
      </p:sp>
      <p:sp>
        <p:nvSpPr>
          <p:cNvPr id="8" name="Rectangle 7"/>
          <p:cNvSpPr/>
          <p:nvPr/>
        </p:nvSpPr>
        <p:spPr>
          <a:xfrm>
            <a:off x="2319005" y="3212853"/>
            <a:ext cx="2862318" cy="323165"/>
          </a:xfrm>
          <a:prstGeom prst="rect">
            <a:avLst/>
          </a:prstGeom>
        </p:spPr>
        <p:txBody>
          <a:bodyPr wrap="square">
            <a:spAutoFit/>
          </a:bodyPr>
          <a:lstStyle/>
          <a:p>
            <a:pPr algn="l"/>
            <a:r>
              <a:rPr lang="en-SG" sz="1500" dirty="0">
                <a:latin typeface="Century Gothic" panose="020B0502020202020204" pitchFamily="34" charset="0"/>
              </a:rPr>
              <a:t>Owner of the file or directory</a:t>
            </a:r>
          </a:p>
        </p:txBody>
      </p:sp>
      <p:cxnSp>
        <p:nvCxnSpPr>
          <p:cNvPr id="12" name="Elbow Connector 11"/>
          <p:cNvCxnSpPr>
            <a:stCxn id="8" idx="1"/>
            <a:endCxn id="5" idx="1"/>
          </p:cNvCxnSpPr>
          <p:nvPr/>
        </p:nvCxnSpPr>
        <p:spPr>
          <a:xfrm rot="10800000">
            <a:off x="1817694" y="2471753"/>
            <a:ext cx="501311" cy="879600"/>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2438763" y="2955002"/>
            <a:ext cx="5544582" cy="323165"/>
          </a:xfrm>
          <a:prstGeom prst="rect">
            <a:avLst/>
          </a:prstGeom>
        </p:spPr>
        <p:txBody>
          <a:bodyPr wrap="square">
            <a:spAutoFit/>
          </a:bodyPr>
          <a:lstStyle/>
          <a:p>
            <a:pPr algn="l"/>
            <a:r>
              <a:rPr lang="en-SG" sz="1500" dirty="0">
                <a:latin typeface="Century Gothic" panose="020B0502020202020204" pitchFamily="34" charset="0"/>
              </a:rPr>
              <a:t>Group members of the owner in the same </a:t>
            </a:r>
            <a:r>
              <a:rPr lang="en-SG" sz="1500" dirty="0">
                <a:latin typeface="Century Gothic" panose="020B0502020202020204" pitchFamily="34" charset="0"/>
              </a:rPr>
              <a:t>group directory</a:t>
            </a:r>
            <a:endParaRPr lang="en-SG" sz="1500" dirty="0">
              <a:latin typeface="Century Gothic" panose="020B0502020202020204" pitchFamily="34" charset="0"/>
            </a:endParaRPr>
          </a:p>
        </p:txBody>
      </p:sp>
      <p:cxnSp>
        <p:nvCxnSpPr>
          <p:cNvPr id="16" name="Elbow Connector 15"/>
          <p:cNvCxnSpPr>
            <a:stCxn id="15" idx="1"/>
            <a:endCxn id="9" idx="1"/>
          </p:cNvCxnSpPr>
          <p:nvPr/>
        </p:nvCxnSpPr>
        <p:spPr>
          <a:xfrm rot="10800000">
            <a:off x="2168733" y="2471811"/>
            <a:ext cx="270030" cy="621690"/>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681792" y="2666067"/>
            <a:ext cx="3942437" cy="553998"/>
          </a:xfrm>
          <a:prstGeom prst="rect">
            <a:avLst/>
          </a:prstGeom>
        </p:spPr>
        <p:txBody>
          <a:bodyPr wrap="square">
            <a:spAutoFit/>
          </a:bodyPr>
          <a:lstStyle/>
          <a:p>
            <a:pPr algn="l"/>
            <a:r>
              <a:rPr lang="en-SG" sz="1500" dirty="0">
                <a:latin typeface="Century Gothic" panose="020B0502020202020204" pitchFamily="34" charset="0"/>
              </a:rPr>
              <a:t>Others authenticated users of the system</a:t>
            </a:r>
          </a:p>
        </p:txBody>
      </p:sp>
      <p:cxnSp>
        <p:nvCxnSpPr>
          <p:cNvPr id="24" name="Elbow Connector 23"/>
          <p:cNvCxnSpPr>
            <a:stCxn id="20" idx="1"/>
            <a:endCxn id="10" idx="1"/>
          </p:cNvCxnSpPr>
          <p:nvPr/>
        </p:nvCxnSpPr>
        <p:spPr>
          <a:xfrm rot="10800000">
            <a:off x="2438763" y="2471811"/>
            <a:ext cx="243029" cy="332756"/>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437874" y="3497319"/>
            <a:ext cx="2322258" cy="1477328"/>
          </a:xfrm>
          <a:prstGeom prst="rect">
            <a:avLst/>
          </a:prstGeom>
        </p:spPr>
        <p:txBody>
          <a:bodyPr wrap="square">
            <a:spAutoFit/>
          </a:bodyPr>
          <a:lstStyle/>
          <a:p>
            <a:r>
              <a:rPr lang="en-SG" sz="1500" dirty="0">
                <a:latin typeface="Century Gothic" panose="020B0502020202020204" pitchFamily="34" charset="0"/>
              </a:rPr>
              <a:t>d  directory</a:t>
            </a:r>
          </a:p>
          <a:p>
            <a:r>
              <a:rPr lang="en-SG" sz="1500" dirty="0">
                <a:latin typeface="Century Gothic" panose="020B0502020202020204" pitchFamily="34" charset="0"/>
              </a:rPr>
              <a:t>l   symbolic link</a:t>
            </a:r>
          </a:p>
          <a:p>
            <a:r>
              <a:rPr lang="en-SG" sz="1500" dirty="0">
                <a:latin typeface="Century Gothic" panose="020B0502020202020204" pitchFamily="34" charset="0"/>
              </a:rPr>
              <a:t>b  block special</a:t>
            </a:r>
          </a:p>
          <a:p>
            <a:r>
              <a:rPr lang="en-SG" sz="1500" dirty="0">
                <a:latin typeface="Century Gothic" panose="020B0502020202020204" pitchFamily="34" charset="0"/>
              </a:rPr>
              <a:t>c  character special</a:t>
            </a:r>
          </a:p>
          <a:p>
            <a:r>
              <a:rPr lang="en-SG" sz="1500" dirty="0">
                <a:latin typeface="Century Gothic" panose="020B0502020202020204" pitchFamily="34" charset="0"/>
              </a:rPr>
              <a:t>p  named pipe special</a:t>
            </a:r>
          </a:p>
          <a:p>
            <a:r>
              <a:rPr lang="en-SG" sz="1500" dirty="0">
                <a:latin typeface="Century Gothic" panose="020B0502020202020204" pitchFamily="34" charset="0"/>
              </a:rPr>
              <a:t>s  local socket special</a:t>
            </a:r>
          </a:p>
        </p:txBody>
      </p:sp>
      <p:cxnSp>
        <p:nvCxnSpPr>
          <p:cNvPr id="33" name="Elbow Connector 32"/>
          <p:cNvCxnSpPr>
            <a:stCxn id="1062913" idx="1"/>
          </p:cNvCxnSpPr>
          <p:nvPr/>
        </p:nvCxnSpPr>
        <p:spPr>
          <a:xfrm rot="10800000">
            <a:off x="1547666" y="2136961"/>
            <a:ext cx="1512167" cy="2032629"/>
          </a:xfrm>
          <a:prstGeom prst="bentConnector2">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062913" name="Left Brace 1062912"/>
          <p:cNvSpPr/>
          <p:nvPr/>
        </p:nvSpPr>
        <p:spPr>
          <a:xfrm>
            <a:off x="3059832" y="3526116"/>
            <a:ext cx="432048" cy="12869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350" dirty="0"/>
          </a:p>
        </p:txBody>
      </p:sp>
    </p:spTree>
    <p:extLst>
      <p:ext uri="{BB962C8B-B14F-4D97-AF65-F5344CB8AC3E}">
        <p14:creationId xmlns:p14="http://schemas.microsoft.com/office/powerpoint/2010/main" val="29028541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9" name="Line 7"/>
          <p:cNvSpPr>
            <a:spLocks noChangeShapeType="1"/>
          </p:cNvSpPr>
          <p:nvPr/>
        </p:nvSpPr>
        <p:spPr bwMode="auto">
          <a:xfrm>
            <a:off x="3766584" y="2846868"/>
            <a:ext cx="748266" cy="10633"/>
          </a:xfrm>
          <a:prstGeom prst="line">
            <a:avLst/>
          </a:prstGeom>
          <a:noFill/>
          <a:ln w="57150">
            <a:solidFill>
              <a:schemeClr val="tx1"/>
            </a:solidFill>
            <a:round/>
            <a:headEnd/>
            <a:tailEnd type="triangle" w="med" len="med"/>
          </a:ln>
          <a:effectLst/>
        </p:spPr>
        <p:txBody>
          <a:bodyPr wrap="square" lIns="0" tIns="0" rIns="0" bIns="0">
            <a:spAutoFit/>
          </a:bodyPr>
          <a:lstStyle/>
          <a:p>
            <a:endParaRPr lang="en-US" sz="1350" dirty="0"/>
          </a:p>
        </p:txBody>
      </p:sp>
      <p:sp>
        <p:nvSpPr>
          <p:cNvPr id="14" name="Slide Number Placeholder 5"/>
          <p:cNvSpPr>
            <a:spLocks noGrp="1"/>
          </p:cNvSpPr>
          <p:nvPr>
            <p:ph type="sldNum" sz="quarter" idx="12"/>
          </p:nvPr>
        </p:nvSpPr>
        <p:spPr/>
        <p:txBody>
          <a:bodyPr/>
          <a:lstStyle/>
          <a:p>
            <a:fld id="{E13DCEE3-E9F1-4F1D-A07E-90A238946485}" type="slidenum">
              <a:rPr lang="en-US"/>
              <a:pPr/>
              <a:t>8</a:t>
            </a:fld>
            <a:endParaRPr lang="en-US" dirty="0"/>
          </a:p>
        </p:txBody>
      </p:sp>
      <p:sp>
        <p:nvSpPr>
          <p:cNvPr id="929794" name="Rectangle 2"/>
          <p:cNvSpPr>
            <a:spLocks noGrp="1" noChangeArrowheads="1"/>
          </p:cNvSpPr>
          <p:nvPr>
            <p:ph type="title"/>
          </p:nvPr>
        </p:nvSpPr>
        <p:spPr/>
        <p:txBody>
          <a:bodyPr/>
          <a:lstStyle/>
          <a:p>
            <a:r>
              <a:rPr lang="en-GB" sz="2100" dirty="0"/>
              <a:t>UNIX Operating System </a:t>
            </a:r>
            <a:r>
              <a:rPr lang="en-GB" sz="2100" dirty="0"/>
              <a:t>DAC Security </a:t>
            </a:r>
            <a:r>
              <a:rPr lang="en-GB" sz="2100" dirty="0"/>
              <a:t>Model</a:t>
            </a:r>
            <a:endParaRPr lang="en-US" sz="2100" dirty="0"/>
          </a:p>
        </p:txBody>
      </p:sp>
      <p:sp>
        <p:nvSpPr>
          <p:cNvPr id="929795" name="Rectangle 3"/>
          <p:cNvSpPr>
            <a:spLocks noGrp="1" noChangeArrowheads="1"/>
          </p:cNvSpPr>
          <p:nvPr>
            <p:ph type="body" idx="1"/>
          </p:nvPr>
        </p:nvSpPr>
        <p:spPr>
          <a:xfrm>
            <a:off x="1543050" y="1085850"/>
            <a:ext cx="5829300" cy="3657600"/>
          </a:xfrm>
        </p:spPr>
        <p:txBody>
          <a:bodyPr/>
          <a:lstStyle/>
          <a:p>
            <a:pPr>
              <a:buFontTx/>
              <a:buNone/>
            </a:pPr>
            <a:r>
              <a:rPr lang="en-US" u="sng" dirty="0"/>
              <a:t>Reference Monitor</a:t>
            </a:r>
          </a:p>
          <a:p>
            <a:pPr>
              <a:buFontTx/>
              <a:buNone/>
            </a:pPr>
            <a:r>
              <a:rPr lang="en-US" u="sng" dirty="0"/>
              <a:t>Concept</a:t>
            </a:r>
          </a:p>
        </p:txBody>
      </p:sp>
      <p:sp>
        <p:nvSpPr>
          <p:cNvPr id="929796" name="Rectangle 4"/>
          <p:cNvSpPr>
            <a:spLocks noChangeArrowheads="1"/>
          </p:cNvSpPr>
          <p:nvPr/>
        </p:nvSpPr>
        <p:spPr bwMode="auto">
          <a:xfrm>
            <a:off x="4514850" y="2753626"/>
            <a:ext cx="2800350" cy="207749"/>
          </a:xfrm>
          <a:prstGeom prst="rect">
            <a:avLst/>
          </a:prstGeom>
          <a:solidFill>
            <a:srgbClr val="F07800"/>
          </a:solidFill>
          <a:ln w="38100">
            <a:noFill/>
            <a:miter lim="800000"/>
            <a:headEnd/>
            <a:tailEnd/>
          </a:ln>
          <a:effectLst>
            <a:outerShdw blurRad="50800" dist="38100" dir="2700000" algn="tl" rotWithShape="0">
              <a:prstClr val="black">
                <a:alpha val="40000"/>
              </a:prstClr>
            </a:outerShdw>
          </a:effectLst>
          <a:scene3d>
            <a:camera prst="orthographicFront"/>
            <a:lightRig rig="legacyFlat3" dir="b"/>
          </a:scene3d>
          <a:sp3d extrusionH="430200" prstMaterial="legacyMatte">
            <a:bevelT w="13500" h="13500" prst="angle"/>
            <a:bevelB w="13500" h="13500" prst="angle"/>
            <a:extrusionClr>
              <a:srgbClr val="F07800"/>
            </a:extrusionClr>
          </a:sp3d>
        </p:spPr>
        <p:txBody>
          <a:bodyPr lIns="0" tIns="0" rIns="0" bIns="0" anchor="ctr">
            <a:spAutoFit/>
            <a:flatTx/>
          </a:bodyPr>
          <a:lstStyle/>
          <a:p>
            <a:endParaRPr lang="en-US" sz="1350" dirty="0"/>
          </a:p>
        </p:txBody>
      </p:sp>
      <p:sp>
        <p:nvSpPr>
          <p:cNvPr id="929797" name="Text Box 5"/>
          <p:cNvSpPr txBox="1">
            <a:spLocks noChangeArrowheads="1"/>
          </p:cNvSpPr>
          <p:nvPr/>
        </p:nvSpPr>
        <p:spPr bwMode="auto">
          <a:xfrm>
            <a:off x="4800599" y="2685285"/>
            <a:ext cx="3771900" cy="323165"/>
          </a:xfrm>
          <a:prstGeom prst="rect">
            <a:avLst/>
          </a:prstGeom>
          <a:noFill/>
          <a:ln w="9525">
            <a:noFill/>
            <a:miter lim="800000"/>
            <a:headEnd/>
            <a:tailEnd/>
          </a:ln>
          <a:effectLst/>
        </p:spPr>
        <p:txBody>
          <a:bodyPr lIns="0" tIns="0" rIns="0" bIns="0">
            <a:spAutoFit/>
          </a:bodyPr>
          <a:lstStyle/>
          <a:p>
            <a:pPr>
              <a:spcBef>
                <a:spcPct val="50000"/>
              </a:spcBef>
            </a:pPr>
            <a:r>
              <a:rPr lang="en-US" sz="2100" dirty="0"/>
              <a:t>Reference Monitor</a:t>
            </a:r>
          </a:p>
        </p:txBody>
      </p:sp>
      <p:sp>
        <p:nvSpPr>
          <p:cNvPr id="929798" name="Oval 6"/>
          <p:cNvSpPr>
            <a:spLocks noChangeArrowheads="1"/>
          </p:cNvSpPr>
          <p:nvPr/>
        </p:nvSpPr>
        <p:spPr bwMode="auto">
          <a:xfrm>
            <a:off x="1309687" y="2384071"/>
            <a:ext cx="2462213" cy="973782"/>
          </a:xfrm>
          <a:prstGeom prst="ellipse">
            <a:avLst/>
          </a:prstGeom>
          <a:solidFill>
            <a:srgbClr val="5F5F5F"/>
          </a:solidFill>
          <a:ln w="38100">
            <a:noFill/>
            <a:round/>
            <a:headEnd/>
            <a:tailEnd/>
          </a:ln>
          <a:effectLst>
            <a:outerShdw blurRad="50800" dist="38100" dir="2700000" algn="tl" rotWithShape="0">
              <a:prstClr val="black">
                <a:alpha val="40000"/>
              </a:prstClr>
            </a:outerShdw>
          </a:effectLst>
          <a:scene3d>
            <a:camera prst="orthographicFront"/>
            <a:lightRig rig="legacyFlat3" dir="b"/>
          </a:scene3d>
          <a:sp3d extrusionH="430200" prstMaterial="legacyMatte">
            <a:bevelT w="13500" h="13500" prst="angle"/>
            <a:bevelB w="13500" h="13500" prst="angle"/>
            <a:extrusionClr>
              <a:srgbClr val="5F5F5F"/>
            </a:extrusionClr>
          </a:sp3d>
        </p:spPr>
        <p:txBody>
          <a:bodyPr lIns="0" tIns="0" rIns="0" bIns="0" anchor="ctr">
            <a:spAutoFit/>
            <a:flatTx/>
          </a:bodyPr>
          <a:lstStyle/>
          <a:p>
            <a:r>
              <a:rPr lang="en-US" sz="1500" dirty="0">
                <a:latin typeface="Calibri" pitchFamily="34" charset="0"/>
              </a:rPr>
              <a:t>Subject</a:t>
            </a:r>
          </a:p>
          <a:p>
            <a:r>
              <a:rPr lang="en-US" sz="1500" dirty="0">
                <a:latin typeface="Calibri" pitchFamily="34" charset="0"/>
              </a:rPr>
              <a:t>(a process represents an owner in a group)</a:t>
            </a:r>
          </a:p>
        </p:txBody>
      </p:sp>
      <p:sp>
        <p:nvSpPr>
          <p:cNvPr id="929801" name="Line 9"/>
          <p:cNvSpPr>
            <a:spLocks noChangeShapeType="1"/>
          </p:cNvSpPr>
          <p:nvPr/>
        </p:nvSpPr>
        <p:spPr bwMode="auto">
          <a:xfrm>
            <a:off x="5943600" y="1885950"/>
            <a:ext cx="0" cy="400050"/>
          </a:xfrm>
          <a:prstGeom prst="line">
            <a:avLst/>
          </a:prstGeom>
          <a:noFill/>
          <a:ln w="38100">
            <a:solidFill>
              <a:schemeClr val="tx1"/>
            </a:solidFill>
            <a:round/>
            <a:headEnd type="triangle" w="med" len="med"/>
            <a:tailEnd type="triangle" w="med" len="med"/>
          </a:ln>
          <a:effectLst/>
        </p:spPr>
        <p:txBody>
          <a:bodyPr lIns="0" tIns="0" rIns="0" bIns="0">
            <a:spAutoFit/>
          </a:bodyPr>
          <a:lstStyle/>
          <a:p>
            <a:endParaRPr lang="en-US" sz="1350" dirty="0"/>
          </a:p>
        </p:txBody>
      </p:sp>
      <p:sp>
        <p:nvSpPr>
          <p:cNvPr id="929803" name="Oval 11"/>
          <p:cNvSpPr>
            <a:spLocks noChangeArrowheads="1"/>
          </p:cNvSpPr>
          <p:nvPr/>
        </p:nvSpPr>
        <p:spPr bwMode="auto">
          <a:xfrm>
            <a:off x="4171950" y="1237507"/>
            <a:ext cx="3486150" cy="649188"/>
          </a:xfrm>
          <a:prstGeom prst="ellipse">
            <a:avLst/>
          </a:prstGeom>
          <a:solidFill>
            <a:srgbClr val="FAD578"/>
          </a:solidFill>
          <a:ln w="38100">
            <a:noFill/>
            <a:round/>
            <a:headEnd/>
            <a:tailEnd/>
          </a:ln>
          <a:effectLst>
            <a:outerShdw blurRad="50800" dist="38100" dir="2700000" algn="tl" rotWithShape="0">
              <a:prstClr val="black">
                <a:alpha val="40000"/>
              </a:prstClr>
            </a:outerShdw>
          </a:effectLst>
          <a:scene3d>
            <a:camera prst="orthographicFront"/>
            <a:lightRig rig="legacyFlat3" dir="b"/>
          </a:scene3d>
          <a:sp3d extrusionH="430200" prstMaterial="legacyMatte">
            <a:bevelT w="13500" h="13500" prst="angle"/>
            <a:bevelB w="13500" h="13500" prst="angle"/>
            <a:extrusionClr>
              <a:srgbClr val="FAD578"/>
            </a:extrusionClr>
          </a:sp3d>
        </p:spPr>
        <p:txBody>
          <a:bodyPr wrap="square" lIns="0" tIns="0" rIns="0" bIns="0" anchor="ctr">
            <a:spAutoFit/>
            <a:flatTx/>
          </a:bodyPr>
          <a:lstStyle/>
          <a:p>
            <a:r>
              <a:rPr lang="en-US" sz="1500" dirty="0">
                <a:latin typeface="Calibri" pitchFamily="34" charset="0"/>
              </a:rPr>
              <a:t>Object Permissions </a:t>
            </a:r>
          </a:p>
          <a:p>
            <a:r>
              <a:rPr lang="en-US" sz="1500" dirty="0">
                <a:latin typeface="Calibri" pitchFamily="34" charset="0"/>
              </a:rPr>
              <a:t>(owner, group, others)</a:t>
            </a:r>
          </a:p>
        </p:txBody>
      </p:sp>
      <p:sp>
        <p:nvSpPr>
          <p:cNvPr id="929804" name="Oval 12"/>
          <p:cNvSpPr>
            <a:spLocks noChangeArrowheads="1"/>
          </p:cNvSpPr>
          <p:nvPr/>
        </p:nvSpPr>
        <p:spPr bwMode="auto">
          <a:xfrm>
            <a:off x="4114800" y="3885457"/>
            <a:ext cx="3657600" cy="649188"/>
          </a:xfrm>
          <a:prstGeom prst="ellipse">
            <a:avLst/>
          </a:prstGeom>
          <a:solidFill>
            <a:schemeClr val="accent1"/>
          </a:solidFill>
          <a:ln w="38100">
            <a:noFill/>
            <a:round/>
            <a:headEnd/>
            <a:tailEnd/>
          </a:ln>
          <a:effectLst>
            <a:outerShdw blurRad="50800" dist="38100" dir="2700000" algn="tl" rotWithShape="0">
              <a:prstClr val="black">
                <a:alpha val="40000"/>
              </a:prstClr>
            </a:outerShdw>
          </a:effectLst>
          <a:scene3d>
            <a:camera prst="orthographicFront"/>
            <a:lightRig rig="legacyFlat3" dir="b"/>
          </a:scene3d>
          <a:sp3d extrusionH="430200" prstMaterial="legacyMatte">
            <a:bevelT w="13500" h="13500" prst="angle"/>
            <a:bevelB w="13500" h="13500" prst="angle"/>
            <a:extrusionClr>
              <a:schemeClr val="accent1"/>
            </a:extrusionClr>
          </a:sp3d>
        </p:spPr>
        <p:txBody>
          <a:bodyPr lIns="0" tIns="0" rIns="0" bIns="0" anchor="ctr">
            <a:spAutoFit/>
            <a:flatTx/>
          </a:bodyPr>
          <a:lstStyle/>
          <a:p>
            <a:r>
              <a:rPr lang="en-US" sz="1500" dirty="0">
                <a:effectLst>
                  <a:outerShdw blurRad="38100" dist="38100" dir="2700000" algn="tl">
                    <a:srgbClr val="000000"/>
                  </a:outerShdw>
                </a:effectLst>
                <a:latin typeface="Calibri" pitchFamily="34" charset="0"/>
              </a:rPr>
              <a:t>Objects </a:t>
            </a:r>
          </a:p>
          <a:p>
            <a:r>
              <a:rPr lang="en-US" sz="1500" dirty="0">
                <a:effectLst>
                  <a:outerShdw blurRad="38100" dist="38100" dir="2700000" algn="tl">
                    <a:srgbClr val="000000"/>
                  </a:outerShdw>
                </a:effectLst>
                <a:latin typeface="Calibri" pitchFamily="34" charset="0"/>
              </a:rPr>
              <a:t>(files, directories)</a:t>
            </a:r>
          </a:p>
        </p:txBody>
      </p:sp>
      <p:sp>
        <p:nvSpPr>
          <p:cNvPr id="929805" name="Line 13"/>
          <p:cNvSpPr>
            <a:spLocks noChangeShapeType="1"/>
          </p:cNvSpPr>
          <p:nvPr/>
        </p:nvSpPr>
        <p:spPr bwMode="auto">
          <a:xfrm>
            <a:off x="6000750" y="3429000"/>
            <a:ext cx="0" cy="457200"/>
          </a:xfrm>
          <a:prstGeom prst="line">
            <a:avLst/>
          </a:prstGeom>
          <a:noFill/>
          <a:ln w="38100">
            <a:solidFill>
              <a:schemeClr val="tx1"/>
            </a:solidFill>
            <a:round/>
            <a:headEnd type="triangle" w="med" len="med"/>
            <a:tailEnd type="triangle" w="med" len="med"/>
          </a:ln>
          <a:effectLst/>
        </p:spPr>
        <p:txBody>
          <a:bodyPr lIns="0" tIns="0" rIns="0" bIns="0">
            <a:spAutoFit/>
          </a:bodyPr>
          <a:lstStyle/>
          <a:p>
            <a:endParaRPr lang="en-US" sz="1350" dirty="0"/>
          </a:p>
        </p:txBody>
      </p:sp>
    </p:spTree>
    <p:extLst>
      <p:ext uri="{BB962C8B-B14F-4D97-AF65-F5344CB8AC3E}">
        <p14:creationId xmlns:p14="http://schemas.microsoft.com/office/powerpoint/2010/main" val="17152095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B49611E-06CF-4964-A620-92EA501A2C09}" type="slidenum">
              <a:rPr lang="en-US"/>
              <a:pPr/>
              <a:t>9</a:t>
            </a:fld>
            <a:endParaRPr lang="en-US" dirty="0"/>
          </a:p>
        </p:txBody>
      </p:sp>
      <p:sp>
        <p:nvSpPr>
          <p:cNvPr id="940034" name="Rectangle 2"/>
          <p:cNvSpPr>
            <a:spLocks noGrp="1" noChangeArrowheads="1"/>
          </p:cNvSpPr>
          <p:nvPr>
            <p:ph type="title"/>
          </p:nvPr>
        </p:nvSpPr>
        <p:spPr/>
        <p:txBody>
          <a:bodyPr/>
          <a:lstStyle/>
          <a:p>
            <a:r>
              <a:rPr lang="en-US" dirty="0"/>
              <a:t>Reference Monitor</a:t>
            </a:r>
          </a:p>
        </p:txBody>
      </p:sp>
      <p:sp>
        <p:nvSpPr>
          <p:cNvPr id="940035" name="Rectangle 3"/>
          <p:cNvSpPr>
            <a:spLocks noGrp="1" noChangeArrowheads="1"/>
          </p:cNvSpPr>
          <p:nvPr>
            <p:ph type="body" idx="1"/>
          </p:nvPr>
        </p:nvSpPr>
        <p:spPr/>
        <p:txBody>
          <a:bodyPr>
            <a:normAutofit fontScale="92500"/>
          </a:bodyPr>
          <a:lstStyle/>
          <a:p>
            <a:pPr>
              <a:lnSpc>
                <a:spcPct val="90000"/>
              </a:lnSpc>
              <a:spcBef>
                <a:spcPts val="450"/>
              </a:spcBef>
              <a:spcAft>
                <a:spcPts val="450"/>
              </a:spcAft>
            </a:pPr>
            <a:r>
              <a:rPr lang="en-US" sz="1800" dirty="0"/>
              <a:t>UNIX Kernel performs the function of a reference monitor to provide access control to objects.</a:t>
            </a:r>
          </a:p>
          <a:p>
            <a:pPr>
              <a:lnSpc>
                <a:spcPct val="90000"/>
              </a:lnSpc>
              <a:spcBef>
                <a:spcPts val="450"/>
              </a:spcBef>
              <a:spcAft>
                <a:spcPts val="450"/>
              </a:spcAft>
            </a:pPr>
            <a:r>
              <a:rPr lang="en-US" sz="1800" dirty="0"/>
              <a:t>A subject, a process owned by a user and belongs to a group, needs to go through the reference monitor to access the required objects (UNIX system resources)</a:t>
            </a:r>
          </a:p>
          <a:p>
            <a:pPr>
              <a:lnSpc>
                <a:spcPct val="90000"/>
              </a:lnSpc>
              <a:spcBef>
                <a:spcPts val="450"/>
              </a:spcBef>
              <a:spcAft>
                <a:spcPts val="450"/>
              </a:spcAft>
            </a:pPr>
            <a:r>
              <a:rPr lang="en-US" sz="1800" dirty="0"/>
              <a:t>The reference monitor looks up the owner, group and others permissions of the object and grant/deny access of the process to the object</a:t>
            </a:r>
            <a:r>
              <a:rPr lang="en-US" sz="1800" dirty="0"/>
              <a:t>.</a:t>
            </a:r>
          </a:p>
          <a:p>
            <a:pPr lvl="1">
              <a:lnSpc>
                <a:spcPct val="90000"/>
              </a:lnSpc>
              <a:spcBef>
                <a:spcPts val="450"/>
              </a:spcBef>
              <a:spcAft>
                <a:spcPts val="450"/>
              </a:spcAft>
            </a:pPr>
            <a:r>
              <a:rPr lang="en-US" b="0" i="1" dirty="0" smtClean="0"/>
              <a:t>In Linux, SELinux enhanced traditional DAC model.</a:t>
            </a:r>
          </a:p>
          <a:p>
            <a:pPr>
              <a:lnSpc>
                <a:spcPct val="90000"/>
              </a:lnSpc>
              <a:spcBef>
                <a:spcPts val="450"/>
              </a:spcBef>
              <a:spcAft>
                <a:spcPts val="450"/>
              </a:spcAft>
            </a:pPr>
            <a:r>
              <a:rPr lang="en-US" sz="1800" dirty="0"/>
              <a:t>Reference Monitor is an requirement in Class B3 – Security Domains of </a:t>
            </a:r>
            <a:r>
              <a:rPr lang="en-SG" sz="1800" dirty="0"/>
              <a:t>Trusted Computer System Evaluation Criteria</a:t>
            </a:r>
            <a:endParaRPr lang="en-US" sz="1800" dirty="0"/>
          </a:p>
          <a:p>
            <a:pPr>
              <a:lnSpc>
                <a:spcPct val="90000"/>
              </a:lnSpc>
              <a:spcBef>
                <a:spcPts val="450"/>
              </a:spcBef>
              <a:spcAft>
                <a:spcPts val="450"/>
              </a:spcAft>
            </a:pPr>
            <a:endParaRPr lang="en-US" b="0" dirty="0"/>
          </a:p>
        </p:txBody>
      </p:sp>
    </p:spTree>
    <p:extLst>
      <p:ext uri="{BB962C8B-B14F-4D97-AF65-F5344CB8AC3E}">
        <p14:creationId xmlns:p14="http://schemas.microsoft.com/office/powerpoint/2010/main" val="36088551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Linux Security Module Architecture</a:t>
            </a:r>
            <a:endParaRPr lang="en-SG" dirty="0"/>
          </a:p>
        </p:txBody>
      </p:sp>
      <p:sp>
        <p:nvSpPr>
          <p:cNvPr id="4" name="Slide Number Placeholder 3"/>
          <p:cNvSpPr>
            <a:spLocks noGrp="1"/>
          </p:cNvSpPr>
          <p:nvPr>
            <p:ph type="sldNum" sz="quarter" idx="12"/>
          </p:nvPr>
        </p:nvSpPr>
        <p:spPr/>
        <p:txBody>
          <a:bodyPr/>
          <a:lstStyle/>
          <a:p>
            <a:fld id="{3AD0F5C9-508C-493F-9A2F-E019F4F76EE6}" type="slidenum">
              <a:rPr lang="en-US" smtClean="0"/>
              <a:pPr/>
              <a:t>10</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668" y="1318094"/>
            <a:ext cx="4804172" cy="33767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4057650" y="4463501"/>
            <a:ext cx="3429000" cy="230832"/>
          </a:xfrm>
          <a:prstGeom prst="rect">
            <a:avLst/>
          </a:prstGeom>
        </p:spPr>
        <p:txBody>
          <a:bodyPr>
            <a:spAutoFit/>
          </a:bodyPr>
          <a:lstStyle/>
          <a:p>
            <a:r>
              <a:rPr lang="en-SG" sz="900" dirty="0">
                <a:latin typeface="Calibri" panose="020F0502020204030204" pitchFamily="34" charset="0"/>
              </a:rPr>
              <a:t>http://www.kroah.com/linux/talks/ols_2002_lsm_paper/lsm.pdf</a:t>
            </a:r>
          </a:p>
        </p:txBody>
      </p:sp>
    </p:spTree>
    <p:extLst>
      <p:ext uri="{BB962C8B-B14F-4D97-AF65-F5344CB8AC3E}">
        <p14:creationId xmlns:p14="http://schemas.microsoft.com/office/powerpoint/2010/main" val="10378056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E4BEB2D-F70E-4281-BC52-4AEA07C2AE52}" type="slidenum">
              <a:rPr lang="en-US"/>
              <a:pPr/>
              <a:t>11</a:t>
            </a:fld>
            <a:endParaRPr lang="en-US" dirty="0"/>
          </a:p>
        </p:txBody>
      </p:sp>
      <p:sp>
        <p:nvSpPr>
          <p:cNvPr id="947202" name="Rectangle 2"/>
          <p:cNvSpPr>
            <a:spLocks noGrp="1" noChangeArrowheads="1"/>
          </p:cNvSpPr>
          <p:nvPr>
            <p:ph type="title"/>
          </p:nvPr>
        </p:nvSpPr>
        <p:spPr/>
        <p:txBody>
          <a:bodyPr/>
          <a:lstStyle/>
          <a:p>
            <a:r>
              <a:rPr lang="en-US" dirty="0" smtClean="0"/>
              <a:t>Typical User Login </a:t>
            </a:r>
            <a:r>
              <a:rPr lang="en-US" dirty="0"/>
              <a:t>Process</a:t>
            </a:r>
          </a:p>
        </p:txBody>
      </p:sp>
      <p:sp>
        <p:nvSpPr>
          <p:cNvPr id="947203" name="Rectangle 3"/>
          <p:cNvSpPr>
            <a:spLocks noGrp="1" noChangeArrowheads="1"/>
          </p:cNvSpPr>
          <p:nvPr>
            <p:ph type="body" idx="1"/>
          </p:nvPr>
        </p:nvSpPr>
        <p:spPr/>
        <p:txBody>
          <a:bodyPr>
            <a:normAutofit fontScale="85000" lnSpcReduction="20000"/>
          </a:bodyPr>
          <a:lstStyle/>
          <a:p>
            <a:pPr>
              <a:spcBef>
                <a:spcPts val="450"/>
              </a:spcBef>
            </a:pPr>
            <a:r>
              <a:rPr lang="en-US" sz="1800" dirty="0"/>
              <a:t>UNIX stores </a:t>
            </a:r>
            <a:r>
              <a:rPr lang="en-US" sz="1800" dirty="0"/>
              <a:t>hashed </a:t>
            </a:r>
            <a:r>
              <a:rPr lang="en-US" sz="1800" dirty="0"/>
              <a:t>passwords in </a:t>
            </a:r>
            <a:r>
              <a:rPr lang="en-US" sz="1800" dirty="0"/>
              <a:t>a password files /etc/shadow and allows only root to have read access</a:t>
            </a:r>
          </a:p>
          <a:p>
            <a:pPr lvl="1">
              <a:spcBef>
                <a:spcPts val="450"/>
              </a:spcBef>
            </a:pPr>
            <a:r>
              <a:rPr lang="en-US" sz="1500" i="1" dirty="0"/>
              <a:t>Each user can change his/her password through /etc/passwd program through using setuid</a:t>
            </a:r>
            <a:endParaRPr lang="en-US" sz="1500" i="1" dirty="0"/>
          </a:p>
          <a:p>
            <a:pPr>
              <a:spcBef>
                <a:spcPts val="450"/>
              </a:spcBef>
            </a:pPr>
            <a:r>
              <a:rPr lang="en-US" sz="1800" dirty="0"/>
              <a:t>When a user logs in </a:t>
            </a:r>
            <a:r>
              <a:rPr lang="en-US" sz="1800" dirty="0"/>
              <a:t>through the </a:t>
            </a:r>
            <a:r>
              <a:rPr lang="en-US" sz="1800" dirty="0"/>
              <a:t>login </a:t>
            </a:r>
            <a:r>
              <a:rPr lang="en-US" sz="1800" dirty="0"/>
              <a:t>process, </a:t>
            </a:r>
            <a:r>
              <a:rPr lang="en-US" sz="1800" dirty="0"/>
              <a:t>login </a:t>
            </a:r>
            <a:r>
              <a:rPr lang="en-US" sz="1800" dirty="0"/>
              <a:t>process asks </a:t>
            </a:r>
            <a:r>
              <a:rPr lang="en-US" sz="1800" dirty="0"/>
              <a:t>for a login name and a password. </a:t>
            </a:r>
            <a:endParaRPr lang="en-US" sz="1800" dirty="0"/>
          </a:p>
          <a:p>
            <a:pPr>
              <a:spcBef>
                <a:spcPts val="450"/>
              </a:spcBef>
            </a:pPr>
            <a:r>
              <a:rPr lang="en-US" sz="1800" dirty="0"/>
              <a:t>It </a:t>
            </a:r>
            <a:r>
              <a:rPr lang="en-US" sz="1800" dirty="0"/>
              <a:t>then </a:t>
            </a:r>
            <a:r>
              <a:rPr lang="en-US" sz="1800" dirty="0"/>
              <a:t>hashed the </a:t>
            </a:r>
            <a:r>
              <a:rPr lang="en-US" sz="1800" dirty="0"/>
              <a:t>user-entered password and compare it with the respective </a:t>
            </a:r>
            <a:r>
              <a:rPr lang="en-US" sz="1800" dirty="0"/>
              <a:t>hashed </a:t>
            </a:r>
            <a:r>
              <a:rPr lang="en-US" sz="1800" dirty="0"/>
              <a:t>passwords stored in </a:t>
            </a:r>
            <a:r>
              <a:rPr lang="en-US" sz="1800" dirty="0"/>
              <a:t>/etc/shadow.</a:t>
            </a:r>
            <a:endParaRPr lang="en-US" sz="1800" dirty="0"/>
          </a:p>
          <a:p>
            <a:pPr>
              <a:spcBef>
                <a:spcPts val="450"/>
              </a:spcBef>
            </a:pPr>
            <a:r>
              <a:rPr lang="en-US" sz="1800" dirty="0"/>
              <a:t>Storing </a:t>
            </a:r>
            <a:r>
              <a:rPr lang="en-US" sz="1800" dirty="0"/>
              <a:t>hashed </a:t>
            </a:r>
            <a:r>
              <a:rPr lang="en-US" sz="1800" dirty="0"/>
              <a:t>passwords is to prevent exposure of the original password</a:t>
            </a:r>
            <a:r>
              <a:rPr lang="en-US" sz="1800" dirty="0"/>
              <a:t>.</a:t>
            </a:r>
          </a:p>
          <a:p>
            <a:pPr>
              <a:spcBef>
                <a:spcPts val="450"/>
              </a:spcBef>
            </a:pPr>
            <a:r>
              <a:rPr lang="en-US" sz="1800" dirty="0"/>
              <a:t>56 bit “salt” is added to defend against ( or to delay) rainbow table attack.</a:t>
            </a:r>
            <a:endParaRPr lang="en-US" sz="1800" dirty="0"/>
          </a:p>
          <a:p>
            <a:pPr>
              <a:spcBef>
                <a:spcPts val="450"/>
              </a:spcBef>
            </a:pPr>
            <a:endParaRPr lang="en-US" b="0" dirty="0"/>
          </a:p>
        </p:txBody>
      </p:sp>
    </p:spTree>
    <p:extLst>
      <p:ext uri="{BB962C8B-B14F-4D97-AF65-F5344CB8AC3E}">
        <p14:creationId xmlns:p14="http://schemas.microsoft.com/office/powerpoint/2010/main" val="16092197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252" y="0"/>
            <a:ext cx="7598569" cy="1092200"/>
          </a:xfrm>
        </p:spPr>
        <p:txBody>
          <a:bodyPr/>
          <a:lstStyle/>
          <a:p>
            <a:r>
              <a:rPr lang="en-GB" dirty="0" smtClean="0"/>
              <a:t>Format of the entry in /etc/shadow</a:t>
            </a:r>
            <a:endParaRPr lang="en-SG" dirty="0"/>
          </a:p>
        </p:txBody>
      </p:sp>
      <p:sp>
        <p:nvSpPr>
          <p:cNvPr id="3" name="Content Placeholder 2"/>
          <p:cNvSpPr>
            <a:spLocks noGrp="1"/>
          </p:cNvSpPr>
          <p:nvPr>
            <p:ph idx="1"/>
          </p:nvPr>
        </p:nvSpPr>
        <p:spPr>
          <a:xfrm>
            <a:off x="1657350" y="971550"/>
            <a:ext cx="5829300" cy="3771900"/>
          </a:xfrm>
        </p:spPr>
        <p:txBody>
          <a:bodyPr>
            <a:normAutofit fontScale="92500" lnSpcReduction="10000"/>
          </a:bodyPr>
          <a:lstStyle/>
          <a:p>
            <a:pPr marL="0" indent="0">
              <a:buNone/>
            </a:pPr>
            <a:r>
              <a:rPr lang="en-GB" sz="1500" i="1" dirty="0"/>
              <a:t>username:passwd:last:may:must:warn:expire:disable:reserved</a:t>
            </a:r>
            <a:endParaRPr lang="en-GB" sz="1500" i="1" dirty="0"/>
          </a:p>
          <a:p>
            <a:r>
              <a:rPr lang="en-SG" dirty="0"/>
              <a:t>User </a:t>
            </a:r>
            <a:r>
              <a:rPr lang="en-SG" dirty="0"/>
              <a:t>login name</a:t>
            </a:r>
          </a:p>
          <a:p>
            <a:r>
              <a:rPr lang="en-SG" dirty="0"/>
              <a:t>salt and hashed password OR a status exception </a:t>
            </a:r>
            <a:r>
              <a:rPr lang="en-SG" dirty="0"/>
              <a:t>value</a:t>
            </a:r>
            <a:endParaRPr lang="en-SG" dirty="0"/>
          </a:p>
          <a:p>
            <a:pPr lvl="1"/>
            <a:r>
              <a:rPr lang="en-SG" sz="1350" dirty="0"/>
              <a:t>"$</a:t>
            </a:r>
            <a:r>
              <a:rPr lang="en-SG" sz="1350" dirty="0"/>
              <a:t>id$salt$encrypted", where "$id" is the hashing algorithm used </a:t>
            </a:r>
            <a:r>
              <a:rPr lang="en-SG" sz="1350" dirty="0"/>
              <a:t>(On </a:t>
            </a:r>
            <a:r>
              <a:rPr lang="en-SG" sz="1350" dirty="0"/>
              <a:t>linux, "$1$" stands for MD5, "$2$" is Blowfish, "$5$" is SHA-256 and "$6$" is SHA-512, </a:t>
            </a:r>
            <a:r>
              <a:rPr lang="en-SG" sz="1350" dirty="0"/>
              <a:t>etc. Other </a:t>
            </a:r>
            <a:r>
              <a:rPr lang="en-SG" sz="1350" dirty="0"/>
              <a:t>Unix may have different </a:t>
            </a:r>
            <a:r>
              <a:rPr lang="en-SG" sz="1350" dirty="0"/>
              <a:t>values).</a:t>
            </a:r>
          </a:p>
          <a:p>
            <a:pPr lvl="1"/>
            <a:r>
              <a:rPr lang="en-SG" sz="1350" dirty="0"/>
              <a:t>"</a:t>
            </a:r>
            <a:r>
              <a:rPr lang="en-SG" sz="1350" dirty="0"/>
              <a:t>NP" or "!" or null - No password, the account has no password.</a:t>
            </a:r>
          </a:p>
          <a:p>
            <a:pPr lvl="1"/>
            <a:r>
              <a:rPr lang="en-SG" sz="1350" dirty="0"/>
              <a:t>"LK" or "*" - the account is Locked, user will be unable to log-in</a:t>
            </a:r>
          </a:p>
          <a:p>
            <a:pPr lvl="1"/>
            <a:r>
              <a:rPr lang="en-SG" sz="1350" dirty="0"/>
              <a:t>"!!" - the password has expired</a:t>
            </a:r>
          </a:p>
          <a:p>
            <a:r>
              <a:rPr lang="en-SG" dirty="0"/>
              <a:t>Days since </a:t>
            </a:r>
            <a:r>
              <a:rPr lang="en-SG" dirty="0"/>
              <a:t>epoch (since Jan 1, 1970) </a:t>
            </a:r>
            <a:r>
              <a:rPr lang="en-SG" dirty="0"/>
              <a:t>of </a:t>
            </a:r>
            <a:r>
              <a:rPr lang="en-SG" u="sng" dirty="0"/>
              <a:t>last</a:t>
            </a:r>
            <a:r>
              <a:rPr lang="en-SG" dirty="0"/>
              <a:t> password change</a:t>
            </a:r>
          </a:p>
          <a:p>
            <a:r>
              <a:rPr lang="en-SG" dirty="0"/>
              <a:t>Days until </a:t>
            </a:r>
            <a:r>
              <a:rPr lang="en-SG" dirty="0"/>
              <a:t>password </a:t>
            </a:r>
            <a:r>
              <a:rPr lang="en-SG" u="sng" dirty="0"/>
              <a:t>may</a:t>
            </a:r>
            <a:r>
              <a:rPr lang="en-SG" dirty="0"/>
              <a:t> be changed</a:t>
            </a:r>
          </a:p>
          <a:p>
            <a:r>
              <a:rPr lang="en-SG" dirty="0"/>
              <a:t>Days </a:t>
            </a:r>
            <a:r>
              <a:rPr lang="en-SG" dirty="0"/>
              <a:t>before </a:t>
            </a:r>
            <a:r>
              <a:rPr lang="en-SG" dirty="0"/>
              <a:t>password </a:t>
            </a:r>
            <a:r>
              <a:rPr lang="en-SG" u="sng" dirty="0"/>
              <a:t>must</a:t>
            </a:r>
            <a:r>
              <a:rPr lang="en-SG" dirty="0"/>
              <a:t> be changed</a:t>
            </a:r>
            <a:endParaRPr lang="en-SG" dirty="0"/>
          </a:p>
          <a:p>
            <a:r>
              <a:rPr lang="en-SG" dirty="0"/>
              <a:t>Days </a:t>
            </a:r>
            <a:r>
              <a:rPr lang="en-SG" dirty="0"/>
              <a:t>to </a:t>
            </a:r>
            <a:r>
              <a:rPr lang="en-SG" u="sng" dirty="0"/>
              <a:t>warn</a:t>
            </a:r>
            <a:r>
              <a:rPr lang="en-SG" dirty="0"/>
              <a:t> users for password expiration</a:t>
            </a:r>
            <a:endParaRPr lang="en-SG" dirty="0"/>
          </a:p>
          <a:p>
            <a:r>
              <a:rPr lang="en-SG" dirty="0"/>
              <a:t>Days </a:t>
            </a:r>
            <a:r>
              <a:rPr lang="en-SG" dirty="0"/>
              <a:t>since Jan </a:t>
            </a:r>
            <a:r>
              <a:rPr lang="en-SG" dirty="0"/>
              <a:t>1, 1970 that </a:t>
            </a:r>
            <a:r>
              <a:rPr lang="en-SG" dirty="0"/>
              <a:t>the </a:t>
            </a:r>
            <a:r>
              <a:rPr lang="en-SG" dirty="0"/>
              <a:t>account has been disabled</a:t>
            </a:r>
          </a:p>
          <a:p>
            <a:pPr marL="0" indent="0">
              <a:buNone/>
            </a:pPr>
            <a:endParaRPr lang="en-SG" dirty="0"/>
          </a:p>
          <a:p>
            <a:pPr marL="0" indent="0">
              <a:buNone/>
            </a:pPr>
            <a:endParaRPr lang="en-SG" dirty="0"/>
          </a:p>
        </p:txBody>
      </p:sp>
      <p:sp>
        <p:nvSpPr>
          <p:cNvPr id="4" name="Slide Number Placeholder 3"/>
          <p:cNvSpPr>
            <a:spLocks noGrp="1"/>
          </p:cNvSpPr>
          <p:nvPr>
            <p:ph type="sldNum" sz="quarter" idx="12"/>
          </p:nvPr>
        </p:nvSpPr>
        <p:spPr/>
        <p:txBody>
          <a:bodyPr/>
          <a:lstStyle/>
          <a:p>
            <a:fld id="{0E5A7BE9-EEB9-4BDD-816B-D44678989846}" type="slidenum">
              <a:rPr lang="en-US" smtClean="0"/>
              <a:pPr/>
              <a:t>12</a:t>
            </a:fld>
            <a:endParaRPr lang="en-US" dirty="0"/>
          </a:p>
        </p:txBody>
      </p:sp>
    </p:spTree>
    <p:extLst>
      <p:ext uri="{BB962C8B-B14F-4D97-AF65-F5344CB8AC3E}">
        <p14:creationId xmlns:p14="http://schemas.microsoft.com/office/powerpoint/2010/main" val="7655214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28600"/>
            <a:ext cx="6172200" cy="857250"/>
          </a:xfrm>
        </p:spPr>
        <p:txBody>
          <a:bodyPr>
            <a:normAutofit/>
          </a:bodyPr>
          <a:lstStyle/>
          <a:p>
            <a:r>
              <a:rPr lang="en-US" sz="3300" dirty="0"/>
              <a:t>User and </a:t>
            </a:r>
            <a:r>
              <a:rPr lang="en-US" sz="3300" dirty="0"/>
              <a:t>Group Databases</a:t>
            </a:r>
            <a:endParaRPr lang="en-US" sz="3300"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13</a:t>
            </a:fld>
            <a:endParaRPr lang="en-US"/>
          </a:p>
        </p:txBody>
      </p:sp>
      <p:sp>
        <p:nvSpPr>
          <p:cNvPr id="3" name="Content Placeholder 2"/>
          <p:cNvSpPr>
            <a:spLocks noGrp="1"/>
          </p:cNvSpPr>
          <p:nvPr>
            <p:ph sz="quarter" idx="1"/>
          </p:nvPr>
        </p:nvSpPr>
        <p:spPr/>
        <p:txBody>
          <a:bodyPr>
            <a:normAutofit fontScale="92500" lnSpcReduction="10000"/>
          </a:bodyPr>
          <a:lstStyle/>
          <a:p>
            <a:pPr>
              <a:buFont typeface="Arial" pitchFamily="34" charset="0"/>
              <a:buChar char="•"/>
            </a:pPr>
            <a:r>
              <a:rPr lang="en-US" sz="1800" dirty="0"/>
              <a:t>User database: </a:t>
            </a:r>
            <a:r>
              <a:rPr lang="en-US" sz="1800" dirty="0"/>
              <a:t>/</a:t>
            </a:r>
            <a:r>
              <a:rPr lang="en-US" sz="1800" dirty="0" err="1"/>
              <a:t>etc</a:t>
            </a:r>
            <a:r>
              <a:rPr lang="en-US" sz="1800" dirty="0"/>
              <a:t>/</a:t>
            </a:r>
            <a:r>
              <a:rPr lang="en-US" sz="1800" dirty="0" err="1"/>
              <a:t>passwd</a:t>
            </a:r>
            <a:r>
              <a:rPr lang="en-US" sz="1800" dirty="0"/>
              <a:t>     and   /</a:t>
            </a:r>
            <a:r>
              <a:rPr lang="en-US" sz="1800" dirty="0" err="1"/>
              <a:t>etc</a:t>
            </a:r>
            <a:r>
              <a:rPr lang="en-US" sz="1800" dirty="0"/>
              <a:t>/shadow</a:t>
            </a:r>
            <a:endParaRPr lang="en-US" sz="1800" dirty="0"/>
          </a:p>
          <a:p>
            <a:pPr marL="435483" lvl="2" indent="-257175">
              <a:buFont typeface="Arial" pitchFamily="34" charset="0"/>
              <a:buChar char="•"/>
            </a:pPr>
            <a:r>
              <a:rPr lang="en-US" sz="1500" dirty="0"/>
              <a:t>Maps name to UID, GID, home directory, and login shell</a:t>
            </a:r>
          </a:p>
          <a:p>
            <a:pPr marL="435483" lvl="2" indent="-257175">
              <a:buFont typeface="Arial" pitchFamily="34" charset="0"/>
              <a:buChar char="•"/>
            </a:pPr>
            <a:r>
              <a:rPr lang="en-US" sz="1500" dirty="0"/>
              <a:t>Maps name to password and expiration</a:t>
            </a:r>
          </a:p>
          <a:p>
            <a:pPr marL="257175" indent="-257175">
              <a:buFont typeface="Arial" pitchFamily="34" charset="0"/>
              <a:buChar char="•"/>
            </a:pPr>
            <a:r>
              <a:rPr lang="en-US" sz="1800" dirty="0"/>
              <a:t> </a:t>
            </a:r>
            <a:r>
              <a:rPr lang="en-US" sz="1800" dirty="0"/>
              <a:t>Group database: </a:t>
            </a:r>
            <a:r>
              <a:rPr lang="en-US" sz="1800" dirty="0"/>
              <a:t>/</a:t>
            </a:r>
            <a:r>
              <a:rPr lang="en-US" sz="1800" dirty="0" err="1"/>
              <a:t>etc</a:t>
            </a:r>
            <a:r>
              <a:rPr lang="en-US" sz="1800" dirty="0"/>
              <a:t>/group and /</a:t>
            </a:r>
            <a:r>
              <a:rPr lang="en-US" sz="1800" dirty="0" err="1"/>
              <a:t>etc</a:t>
            </a:r>
            <a:r>
              <a:rPr lang="en-US" sz="1800" dirty="0"/>
              <a:t>/</a:t>
            </a:r>
            <a:r>
              <a:rPr lang="en-US" sz="1800" dirty="0" err="1"/>
              <a:t>gshadow</a:t>
            </a:r>
            <a:endParaRPr lang="en-US" sz="1800" dirty="0"/>
          </a:p>
          <a:p>
            <a:pPr marL="421767" lvl="1" indent="-257175">
              <a:buFont typeface="Arial" pitchFamily="34" charset="0"/>
              <a:buChar char="•"/>
            </a:pPr>
            <a:r>
              <a:rPr lang="en-US" sz="1500" dirty="0"/>
              <a:t>Maps group to GID and user members</a:t>
            </a:r>
          </a:p>
          <a:p>
            <a:pPr marL="421767" lvl="1" indent="-257175">
              <a:buFont typeface="Arial" pitchFamily="34" charset="0"/>
              <a:buChar char="•"/>
            </a:pPr>
            <a:r>
              <a:rPr lang="en-US" sz="1500" dirty="0"/>
              <a:t>Maps group to password and group administrators</a:t>
            </a:r>
          </a:p>
          <a:p>
            <a:pPr marL="421767" lvl="1" indent="-257175">
              <a:buFont typeface="Arial" pitchFamily="34" charset="0"/>
              <a:buChar char="•"/>
            </a:pPr>
            <a:endParaRPr lang="en-US" sz="1800" dirty="0"/>
          </a:p>
          <a:p>
            <a:pPr marL="257175" indent="-257175">
              <a:buFont typeface="Arial" pitchFamily="34" charset="0"/>
              <a:buChar char="•"/>
            </a:pPr>
            <a:r>
              <a:rPr lang="en-US" sz="1800" dirty="0"/>
              <a:t> Management</a:t>
            </a:r>
            <a:r>
              <a:rPr lang="en-US" sz="1800" dirty="0"/>
              <a:t>:  system-</a:t>
            </a:r>
            <a:r>
              <a:rPr lang="en-US" sz="1800" dirty="0" err="1"/>
              <a:t>config</a:t>
            </a:r>
            <a:r>
              <a:rPr lang="en-US" sz="1800" dirty="0"/>
              <a:t>-users and/or command line </a:t>
            </a:r>
            <a:r>
              <a:rPr lang="en-US" sz="1800" dirty="0"/>
              <a:t>tools</a:t>
            </a:r>
          </a:p>
          <a:p>
            <a:pPr marL="0" indent="0">
              <a:buNone/>
            </a:pPr>
            <a:endParaRPr lang="en-US" sz="1800" dirty="0"/>
          </a:p>
        </p:txBody>
      </p:sp>
    </p:spTree>
    <p:extLst>
      <p:ext uri="{BB962C8B-B14F-4D97-AF65-F5344CB8AC3E}">
        <p14:creationId xmlns:p14="http://schemas.microsoft.com/office/powerpoint/2010/main" val="6215453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28600"/>
            <a:ext cx="6172200" cy="857250"/>
          </a:xfrm>
        </p:spPr>
        <p:txBody>
          <a:bodyPr>
            <a:normAutofit/>
          </a:bodyPr>
          <a:lstStyle/>
          <a:p>
            <a:r>
              <a:rPr lang="en-US" sz="3300" dirty="0"/>
              <a:t>User and Group Databases</a:t>
            </a:r>
          </a:p>
        </p:txBody>
      </p:sp>
      <p:sp>
        <p:nvSpPr>
          <p:cNvPr id="4" name="Slide Number Placeholder 3"/>
          <p:cNvSpPr>
            <a:spLocks noGrp="1"/>
          </p:cNvSpPr>
          <p:nvPr>
            <p:ph type="sldNum" sz="quarter" idx="12"/>
          </p:nvPr>
        </p:nvSpPr>
        <p:spPr/>
        <p:txBody>
          <a:bodyPr/>
          <a:lstStyle/>
          <a:p>
            <a:fld id="{99DA483C-B394-4922-93D1-88FBB798CB2A}" type="slidenum">
              <a:rPr lang="en-US" smtClean="0"/>
              <a:pPr/>
              <a:t>14</a:t>
            </a:fld>
            <a:endParaRPr lang="en-US"/>
          </a:p>
        </p:txBody>
      </p:sp>
      <p:sp>
        <p:nvSpPr>
          <p:cNvPr id="3" name="Content Placeholder 2"/>
          <p:cNvSpPr>
            <a:spLocks noGrp="1"/>
          </p:cNvSpPr>
          <p:nvPr>
            <p:ph sz="quarter" idx="1"/>
          </p:nvPr>
        </p:nvSpPr>
        <p:spPr/>
        <p:txBody>
          <a:bodyPr>
            <a:normAutofit/>
          </a:bodyPr>
          <a:lstStyle/>
          <a:p>
            <a:pPr marL="257175" lvl="1" indent="-257175">
              <a:buFont typeface="Arial" pitchFamily="34" charset="0"/>
              <a:buChar char="•"/>
            </a:pPr>
            <a:r>
              <a:rPr lang="en-US" dirty="0" smtClean="0"/>
              <a:t>The /</a:t>
            </a:r>
            <a:r>
              <a:rPr lang="en-US" dirty="0" err="1" smtClean="0"/>
              <a:t>etc</a:t>
            </a:r>
            <a:r>
              <a:rPr lang="en-US" dirty="0" smtClean="0"/>
              <a:t>/</a:t>
            </a:r>
            <a:r>
              <a:rPr lang="en-US" dirty="0" err="1" smtClean="0"/>
              <a:t>passwd</a:t>
            </a:r>
            <a:r>
              <a:rPr lang="en-US" dirty="0" smtClean="0"/>
              <a:t> file contains seven fields.</a:t>
            </a:r>
          </a:p>
          <a:p>
            <a:pPr marL="257175" lvl="1" indent="-257175">
              <a:buFont typeface="Arial" pitchFamily="34" charset="0"/>
              <a:buChar char="•"/>
            </a:pPr>
            <a:endParaRPr lang="en-US" dirty="0" smtClean="0"/>
          </a:p>
          <a:p>
            <a:pPr marL="257175" lvl="1" indent="-257175">
              <a:buFont typeface="Arial" pitchFamily="34" charset="0"/>
              <a:buChar char="•"/>
            </a:pPr>
            <a:r>
              <a:rPr lang="en-US" dirty="0" smtClean="0"/>
              <a:t>The /</a:t>
            </a:r>
            <a:r>
              <a:rPr lang="en-US" dirty="0" err="1" smtClean="0"/>
              <a:t>etc</a:t>
            </a:r>
            <a:r>
              <a:rPr lang="en-US" dirty="0" smtClean="0"/>
              <a:t>/group  file contains four fields.</a:t>
            </a:r>
          </a:p>
          <a:p>
            <a:pPr marL="257175" lvl="1" indent="-257175">
              <a:buFont typeface="Arial" pitchFamily="34" charset="0"/>
              <a:buChar char="•"/>
            </a:pPr>
            <a:endParaRPr lang="en-US" dirty="0" smtClean="0"/>
          </a:p>
          <a:p>
            <a:pPr marL="257175" lvl="1" indent="-257175">
              <a:buFont typeface="Arial" pitchFamily="34" charset="0"/>
              <a:buChar char="•"/>
            </a:pPr>
            <a:r>
              <a:rPr lang="en-US" dirty="0" smtClean="0"/>
              <a:t>The /</a:t>
            </a:r>
            <a:r>
              <a:rPr lang="en-US" dirty="0" err="1" smtClean="0"/>
              <a:t>etc</a:t>
            </a:r>
            <a:r>
              <a:rPr lang="en-US" dirty="0" smtClean="0"/>
              <a:t>/shadow file is referenced when someone logs in: the file contains a mapping of a user name to a password. For example list of the fields, see the man page: shadow(5)</a:t>
            </a:r>
            <a:endParaRPr lang="en-US" dirty="0"/>
          </a:p>
        </p:txBody>
      </p:sp>
    </p:spTree>
    <p:extLst>
      <p:ext uri="{BB962C8B-B14F-4D97-AF65-F5344CB8AC3E}">
        <p14:creationId xmlns:p14="http://schemas.microsoft.com/office/powerpoint/2010/main" val="6677280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http://www.techotopia.com/images/f/f7/Fedora_linux_groups.jpg"/>
          <p:cNvPicPr>
            <a:picLocks noChangeAspect="1" noChangeArrowheads="1"/>
          </p:cNvPicPr>
          <p:nvPr/>
        </p:nvPicPr>
        <p:blipFill>
          <a:blip r:embed="rId2" cstate="print"/>
          <a:srcRect/>
          <a:stretch>
            <a:fillRect/>
          </a:stretch>
        </p:blipFill>
        <p:spPr bwMode="auto">
          <a:xfrm>
            <a:off x="1828800" y="1028700"/>
            <a:ext cx="5245741" cy="2571750"/>
          </a:xfrm>
          <a:prstGeom prst="rect">
            <a:avLst/>
          </a:prstGeom>
          <a:noFill/>
        </p:spPr>
      </p:pic>
      <p:sp>
        <p:nvSpPr>
          <p:cNvPr id="2" name="Footer Placeholder 1"/>
          <p:cNvSpPr>
            <a:spLocks noGrp="1"/>
          </p:cNvSpPr>
          <p:nvPr>
            <p:ph type="ftr" sz="quarter" idx="11"/>
          </p:nvPr>
        </p:nvSpPr>
        <p:spPr/>
        <p:txBody>
          <a:bodyPr/>
          <a:lstStyle/>
          <a:p>
            <a:r>
              <a:rPr lang="en-US" dirty="0" smtClean="0"/>
              <a:t>IT2533 Lecture</a:t>
            </a:r>
            <a:endParaRPr lang="en-US" dirty="0"/>
          </a:p>
        </p:txBody>
      </p:sp>
      <p:sp>
        <p:nvSpPr>
          <p:cNvPr id="3" name="Slide Number Placeholder 2"/>
          <p:cNvSpPr>
            <a:spLocks noGrp="1"/>
          </p:cNvSpPr>
          <p:nvPr>
            <p:ph type="sldNum" sz="quarter" idx="12"/>
          </p:nvPr>
        </p:nvSpPr>
        <p:spPr/>
        <p:txBody>
          <a:bodyPr/>
          <a:lstStyle/>
          <a:p>
            <a:fld id="{99DA483C-B394-4922-93D1-88FBB798CB2A}" type="slidenum">
              <a:rPr lang="en-US" smtClean="0"/>
              <a:pPr/>
              <a:t>15</a:t>
            </a:fld>
            <a:endParaRPr lang="en-US"/>
          </a:p>
        </p:txBody>
      </p:sp>
    </p:spTree>
    <p:extLst>
      <p:ext uri="{BB962C8B-B14F-4D97-AF65-F5344CB8AC3E}">
        <p14:creationId xmlns:p14="http://schemas.microsoft.com/office/powerpoint/2010/main" val="41733850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t>User and Group </a:t>
            </a:r>
            <a:r>
              <a:rPr lang="en-US" b="1" dirty="0" smtClean="0"/>
              <a:t>Databases</a:t>
            </a:r>
            <a:endParaRPr lang="en-US" dirty="0"/>
          </a:p>
        </p:txBody>
      </p:sp>
      <p:sp>
        <p:nvSpPr>
          <p:cNvPr id="3" name="Slide Number Placeholder 2"/>
          <p:cNvSpPr>
            <a:spLocks noGrp="1"/>
          </p:cNvSpPr>
          <p:nvPr>
            <p:ph type="sldNum" sz="quarter" idx="12"/>
          </p:nvPr>
        </p:nvSpPr>
        <p:spPr/>
        <p:txBody>
          <a:bodyPr/>
          <a:lstStyle/>
          <a:p>
            <a:fld id="{99DA483C-B394-4922-93D1-88FBB798CB2A}" type="slidenum">
              <a:rPr lang="en-US" smtClean="0"/>
              <a:pPr/>
              <a:t>16</a:t>
            </a:fld>
            <a:endParaRPr lang="en-US"/>
          </a:p>
        </p:txBody>
      </p:sp>
      <p:sp>
        <p:nvSpPr>
          <p:cNvPr id="5" name="Content Placeholder 4"/>
          <p:cNvSpPr>
            <a:spLocks noGrp="1"/>
          </p:cNvSpPr>
          <p:nvPr>
            <p:ph sz="quarter" idx="1"/>
          </p:nvPr>
        </p:nvSpPr>
        <p:spPr/>
        <p:txBody>
          <a:bodyPr>
            <a:normAutofit lnSpcReduction="10000"/>
          </a:bodyPr>
          <a:lstStyle/>
          <a:p>
            <a:pPr algn="ctr"/>
            <a:endParaRPr lang="en-US" b="1" dirty="0"/>
          </a:p>
          <a:p>
            <a:r>
              <a:rPr lang="en-US" sz="2100" b="1" dirty="0"/>
              <a:t>System Users and </a:t>
            </a:r>
            <a:r>
              <a:rPr lang="en-US" sz="2100" b="1" dirty="0"/>
              <a:t>Groups</a:t>
            </a:r>
            <a:endParaRPr lang="en-US" sz="2100" b="1" dirty="0"/>
          </a:p>
          <a:p>
            <a:pPr marL="420053" lvl="1">
              <a:buFont typeface="Arial" pitchFamily="34" charset="0"/>
              <a:buChar char="•"/>
            </a:pPr>
            <a:r>
              <a:rPr lang="en-US" dirty="0"/>
              <a:t>Root : UID=0, GID=0</a:t>
            </a:r>
          </a:p>
          <a:p>
            <a:pPr marL="420053" lvl="1">
              <a:buFont typeface="Arial" pitchFamily="34" charset="0"/>
              <a:buChar char="•"/>
            </a:pPr>
            <a:r>
              <a:rPr lang="en-US" dirty="0"/>
              <a:t>System user: 0&lt;UID&lt;500, 1&lt;GID&lt;500</a:t>
            </a:r>
          </a:p>
          <a:p>
            <a:pPr marL="420053" lvl="1">
              <a:buFont typeface="Arial" pitchFamily="34" charset="0"/>
              <a:buChar char="•"/>
            </a:pPr>
            <a:r>
              <a:rPr lang="en-US" dirty="0"/>
              <a:t>Normal User: UID start from 500, normally smaller than </a:t>
            </a:r>
            <a:r>
              <a:rPr lang="en-US" dirty="0" smtClean="0"/>
              <a:t>999</a:t>
            </a:r>
            <a:endParaRPr lang="en-US" sz="2100" dirty="0"/>
          </a:p>
          <a:p>
            <a:r>
              <a:rPr lang="en-US" sz="2100" b="1" dirty="0"/>
              <a:t>User Management </a:t>
            </a:r>
          </a:p>
          <a:p>
            <a:pPr lvl="1"/>
            <a:r>
              <a:rPr lang="en-US" dirty="0"/>
              <a:t>System-</a:t>
            </a:r>
            <a:r>
              <a:rPr lang="en-US" dirty="0" err="1"/>
              <a:t>config</a:t>
            </a:r>
            <a:r>
              <a:rPr lang="en-US" dirty="0"/>
              <a:t>-users is a graphical tools that can manage both users and groups in these databases. Command line tools will be presented over the next several pages (</a:t>
            </a:r>
            <a:r>
              <a:rPr lang="en-US" dirty="0" err="1"/>
              <a:t>useradd,passwd.usermod</a:t>
            </a:r>
            <a:r>
              <a:rPr lang="en-US" dirty="0"/>
              <a:t>, </a:t>
            </a:r>
            <a:r>
              <a:rPr lang="en-US" dirty="0" err="1"/>
              <a:t>userdel</a:t>
            </a:r>
            <a:r>
              <a:rPr lang="en-US" dirty="0"/>
              <a:t>, </a:t>
            </a:r>
            <a:r>
              <a:rPr lang="en-US" dirty="0" err="1"/>
              <a:t>chage</a:t>
            </a:r>
            <a:r>
              <a:rPr lang="en-US" dirty="0"/>
              <a:t>, </a:t>
            </a:r>
            <a:r>
              <a:rPr lang="en-US" dirty="0" err="1"/>
              <a:t>groupadd</a:t>
            </a:r>
            <a:r>
              <a:rPr lang="en-US" dirty="0"/>
              <a:t>, </a:t>
            </a:r>
            <a:r>
              <a:rPr lang="en-US" dirty="0" err="1"/>
              <a:t>groupdel</a:t>
            </a:r>
            <a:r>
              <a:rPr lang="en-US" dirty="0"/>
              <a:t>, </a:t>
            </a:r>
            <a:r>
              <a:rPr lang="en-US" dirty="0" err="1"/>
              <a:t>gpasswd</a:t>
            </a:r>
            <a:r>
              <a:rPr lang="en-US" dirty="0"/>
              <a:t>, etc.)</a:t>
            </a:r>
          </a:p>
          <a:p>
            <a:endParaRPr lang="en-US" dirty="0"/>
          </a:p>
        </p:txBody>
      </p:sp>
    </p:spTree>
    <p:extLst>
      <p:ext uri="{BB962C8B-B14F-4D97-AF65-F5344CB8AC3E}">
        <p14:creationId xmlns:p14="http://schemas.microsoft.com/office/powerpoint/2010/main" val="24753881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Adding a New User </a:t>
            </a:r>
            <a:r>
              <a:rPr lang="en-US" b="1" dirty="0" smtClean="0"/>
              <a:t>Account</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17</a:t>
            </a:fld>
            <a:endParaRPr lang="en-US"/>
          </a:p>
        </p:txBody>
      </p:sp>
      <p:sp>
        <p:nvSpPr>
          <p:cNvPr id="5" name="Content Placeholder 4"/>
          <p:cNvSpPr>
            <a:spLocks noGrp="1"/>
          </p:cNvSpPr>
          <p:nvPr>
            <p:ph sz="quarter" idx="1"/>
          </p:nvPr>
        </p:nvSpPr>
        <p:spPr/>
        <p:txBody>
          <a:bodyPr>
            <a:normAutofit/>
          </a:bodyPr>
          <a:lstStyle/>
          <a:p>
            <a:pPr>
              <a:buFont typeface="Arial" pitchFamily="34" charset="0"/>
              <a:buChar char="•"/>
            </a:pPr>
            <a:r>
              <a:rPr lang="en-US" sz="2100" b="1" dirty="0" err="1"/>
              <a:t>useradd</a:t>
            </a:r>
            <a:r>
              <a:rPr lang="en-US" sz="2100" b="1" dirty="0"/>
              <a:t> </a:t>
            </a:r>
            <a:r>
              <a:rPr lang="en-US" sz="2100" dirty="0"/>
              <a:t>[options] username</a:t>
            </a:r>
          </a:p>
          <a:p>
            <a:pPr>
              <a:buFont typeface="Arial" pitchFamily="34" charset="0"/>
              <a:buChar char="•"/>
            </a:pPr>
            <a:r>
              <a:rPr lang="en-US" sz="2100" dirty="0"/>
              <a:t>Set account password using </a:t>
            </a:r>
            <a:r>
              <a:rPr lang="en-US" sz="2100" b="1" dirty="0" err="1"/>
              <a:t>passwd</a:t>
            </a:r>
            <a:endParaRPr lang="en-US" sz="2100" b="1" dirty="0"/>
          </a:p>
          <a:p>
            <a:pPr>
              <a:buFont typeface="Arial" pitchFamily="34" charset="0"/>
              <a:buChar char="•"/>
            </a:pPr>
            <a:endParaRPr lang="en-US" sz="2100" b="1" dirty="0"/>
          </a:p>
          <a:p>
            <a:pPr lvl="1"/>
            <a:r>
              <a:rPr lang="en-US" dirty="0"/>
              <a:t>The command-line utility</a:t>
            </a:r>
            <a:r>
              <a:rPr lang="en-US" b="1" dirty="0"/>
              <a:t> </a:t>
            </a:r>
            <a:r>
              <a:rPr lang="en-US" b="1" dirty="0" err="1"/>
              <a:t>useradd</a:t>
            </a:r>
            <a:r>
              <a:rPr lang="en-US" b="1" dirty="0"/>
              <a:t> </a:t>
            </a:r>
            <a:r>
              <a:rPr lang="en-US" dirty="0"/>
              <a:t>provides a simple method for adding new users to the system</a:t>
            </a:r>
            <a:r>
              <a:rPr lang="en-US" dirty="0" smtClean="0"/>
              <a:t>:</a:t>
            </a:r>
            <a:endParaRPr lang="en-US" sz="2100" dirty="0"/>
          </a:p>
          <a:p>
            <a:pPr lvl="1"/>
            <a:r>
              <a:rPr lang="en-US" dirty="0"/>
              <a:t>[</a:t>
            </a:r>
            <a:r>
              <a:rPr lang="en-US" dirty="0" err="1"/>
              <a:t>root@stationX</a:t>
            </a:r>
            <a:r>
              <a:rPr lang="en-US" dirty="0"/>
              <a:t> ~] # </a:t>
            </a:r>
            <a:r>
              <a:rPr lang="en-US" b="1" dirty="0" err="1"/>
              <a:t>useradd</a:t>
            </a:r>
            <a:r>
              <a:rPr lang="en-US" b="1" dirty="0"/>
              <a:t> </a:t>
            </a:r>
            <a:r>
              <a:rPr lang="en-US" b="1" dirty="0" err="1" smtClean="0"/>
              <a:t>anthony</a:t>
            </a:r>
            <a:endParaRPr lang="en-US" sz="2100" dirty="0"/>
          </a:p>
          <a:p>
            <a:pPr lvl="1"/>
            <a:r>
              <a:rPr lang="en-US" dirty="0"/>
              <a:t>[</a:t>
            </a:r>
            <a:r>
              <a:rPr lang="en-US" dirty="0" err="1"/>
              <a:t>root@stationX</a:t>
            </a:r>
            <a:r>
              <a:rPr lang="en-US" dirty="0"/>
              <a:t> ~] # </a:t>
            </a:r>
            <a:r>
              <a:rPr lang="en-US" b="1" dirty="0" err="1"/>
              <a:t>passwd</a:t>
            </a:r>
            <a:r>
              <a:rPr lang="en-US" b="1" dirty="0"/>
              <a:t> </a:t>
            </a:r>
            <a:r>
              <a:rPr lang="en-US" b="1" dirty="0" err="1" smtClean="0"/>
              <a:t>anthony</a:t>
            </a:r>
            <a:endParaRPr lang="en-US" b="1" dirty="0" smtClean="0"/>
          </a:p>
          <a:p>
            <a:r>
              <a:rPr lang="en-US" altLang="zh-SG" dirty="0"/>
              <a:t>When </a:t>
            </a:r>
            <a:r>
              <a:rPr lang="en-US" altLang="zh-SG" dirty="0" smtClean="0"/>
              <a:t>adding an </a:t>
            </a:r>
            <a:r>
              <a:rPr lang="en-US" altLang="zh-SG" dirty="0"/>
              <a:t>account with </a:t>
            </a:r>
            <a:r>
              <a:rPr lang="en-US" altLang="zh-SG" b="1" dirty="0" err="1" smtClean="0"/>
              <a:t>useradd</a:t>
            </a:r>
            <a:r>
              <a:rPr lang="en-US" altLang="zh-SG" b="1" dirty="0" smtClean="0"/>
              <a:t>,</a:t>
            </a:r>
            <a:r>
              <a:rPr lang="en-US" altLang="zh-SG" dirty="0" smtClean="0"/>
              <a:t> </a:t>
            </a:r>
            <a:r>
              <a:rPr lang="en-US" altLang="zh-SG" dirty="0"/>
              <a:t>you should consider using the</a:t>
            </a:r>
            <a:r>
              <a:rPr lang="en-US" altLang="zh-SG" b="1" dirty="0"/>
              <a:t> </a:t>
            </a:r>
            <a:r>
              <a:rPr lang="en-US" altLang="zh-SG" b="1" dirty="0" smtClean="0"/>
              <a:t>–m </a:t>
            </a:r>
            <a:r>
              <a:rPr lang="en-US" altLang="zh-SG" dirty="0" smtClean="0"/>
              <a:t>option to create the user’s home folder.</a:t>
            </a:r>
            <a:endParaRPr lang="en-US" altLang="zh-SG" dirty="0"/>
          </a:p>
        </p:txBody>
      </p:sp>
    </p:spTree>
    <p:extLst>
      <p:ext uri="{BB962C8B-B14F-4D97-AF65-F5344CB8AC3E}">
        <p14:creationId xmlns:p14="http://schemas.microsoft.com/office/powerpoint/2010/main" val="552320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Adding a New User </a:t>
            </a:r>
            <a:r>
              <a:rPr lang="en-US" b="1" dirty="0" smtClean="0"/>
              <a:t>Account</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18</a:t>
            </a:fld>
            <a:endParaRPr lang="en-US"/>
          </a:p>
        </p:txBody>
      </p:sp>
      <p:sp>
        <p:nvSpPr>
          <p:cNvPr id="5" name="Content Placeholder 4"/>
          <p:cNvSpPr>
            <a:spLocks noGrp="1"/>
          </p:cNvSpPr>
          <p:nvPr>
            <p:ph sz="quarter" idx="1"/>
          </p:nvPr>
        </p:nvSpPr>
        <p:spPr/>
        <p:txBody>
          <a:bodyPr>
            <a:normAutofit/>
          </a:bodyPr>
          <a:lstStyle/>
          <a:p>
            <a:r>
              <a:rPr lang="en-US" dirty="0"/>
              <a:t>When you need to add several users, you can use the </a:t>
            </a:r>
            <a:r>
              <a:rPr lang="en-US" dirty="0" err="1"/>
              <a:t>newusers</a:t>
            </a:r>
            <a:r>
              <a:rPr lang="en-US" dirty="0"/>
              <a:t> command with a simple script file</a:t>
            </a:r>
            <a:r>
              <a:rPr lang="en-US" dirty="0" smtClean="0"/>
              <a:t>.</a:t>
            </a:r>
            <a:endParaRPr lang="en-US" dirty="0"/>
          </a:p>
          <a:p>
            <a:pPr lvl="2"/>
            <a:r>
              <a:rPr lang="en-US" dirty="0"/>
              <a:t>[</a:t>
            </a:r>
            <a:r>
              <a:rPr lang="en-US" dirty="0" err="1"/>
              <a:t>root@stationX</a:t>
            </a:r>
            <a:r>
              <a:rPr lang="en-US" dirty="0"/>
              <a:t> ~] # cat </a:t>
            </a:r>
            <a:r>
              <a:rPr lang="en-US" dirty="0" err="1"/>
              <a:t>myusers</a:t>
            </a:r>
            <a:endParaRPr lang="en-US" dirty="0"/>
          </a:p>
          <a:p>
            <a:pPr lvl="2"/>
            <a:r>
              <a:rPr lang="en-US" dirty="0"/>
              <a:t>Alice:password:500:500:Alice:/home/</a:t>
            </a:r>
            <a:r>
              <a:rPr lang="en-US" dirty="0" err="1"/>
              <a:t>alice</a:t>
            </a:r>
            <a:r>
              <a:rPr lang="en-US" dirty="0"/>
              <a:t>:/bin/bash</a:t>
            </a:r>
          </a:p>
          <a:p>
            <a:pPr lvl="2"/>
            <a:r>
              <a:rPr lang="en-US" dirty="0"/>
              <a:t>Bob:dooow0rd:501:501:Bob:/home/</a:t>
            </a:r>
            <a:r>
              <a:rPr lang="en-US" dirty="0" err="1"/>
              <a:t>bob:bin</a:t>
            </a:r>
            <a:r>
              <a:rPr lang="en-US" dirty="0"/>
              <a:t>/bash</a:t>
            </a:r>
          </a:p>
          <a:p>
            <a:pPr lvl="2"/>
            <a:r>
              <a:rPr lang="en-US" dirty="0"/>
              <a:t>[</a:t>
            </a:r>
            <a:r>
              <a:rPr lang="en-US" dirty="0" err="1"/>
              <a:t>root@stationX</a:t>
            </a:r>
            <a:r>
              <a:rPr lang="en-US" dirty="0"/>
              <a:t> ~] # </a:t>
            </a:r>
            <a:r>
              <a:rPr lang="en-US" b="1" dirty="0" err="1"/>
              <a:t>newusers</a:t>
            </a:r>
            <a:r>
              <a:rPr lang="en-US" b="1" dirty="0"/>
              <a:t> </a:t>
            </a:r>
            <a:r>
              <a:rPr lang="en-US" b="1" dirty="0" err="1" smtClean="0"/>
              <a:t>myusers</a:t>
            </a:r>
            <a:endParaRPr lang="en-US" b="1" dirty="0" smtClean="0"/>
          </a:p>
          <a:p>
            <a:pPr lvl="2"/>
            <a:endParaRPr lang="en-US" b="1" dirty="0"/>
          </a:p>
          <a:p>
            <a:r>
              <a:rPr lang="en-US" dirty="0" smtClean="0"/>
              <a:t>To configure whether or not use SHA or MD5 to generate password:</a:t>
            </a:r>
            <a:endParaRPr lang="en-US" dirty="0"/>
          </a:p>
          <a:p>
            <a:pPr lvl="1"/>
            <a:r>
              <a:rPr lang="en-US" dirty="0"/>
              <a:t>/</a:t>
            </a:r>
            <a:r>
              <a:rPr lang="en-US" dirty="0" err="1"/>
              <a:t>etc</a:t>
            </a:r>
            <a:r>
              <a:rPr lang="en-US" dirty="0"/>
              <a:t>/</a:t>
            </a:r>
            <a:r>
              <a:rPr lang="en-US" dirty="0" err="1"/>
              <a:t>login.defs</a:t>
            </a:r>
            <a:r>
              <a:rPr lang="en-US" dirty="0"/>
              <a:t> needs an entry like this:</a:t>
            </a:r>
          </a:p>
          <a:p>
            <a:pPr lvl="1"/>
            <a:r>
              <a:rPr lang="en-US" b="1" smtClean="0"/>
              <a:t>ENCRYPT_METHOD </a:t>
            </a:r>
            <a:r>
              <a:rPr lang="en-US" smtClean="0"/>
              <a:t>SHA512</a:t>
            </a:r>
            <a:endParaRPr lang="en-US" dirty="0"/>
          </a:p>
        </p:txBody>
      </p:sp>
    </p:spTree>
    <p:extLst>
      <p:ext uri="{BB962C8B-B14F-4D97-AF65-F5344CB8AC3E}">
        <p14:creationId xmlns:p14="http://schemas.microsoft.com/office/powerpoint/2010/main" val="25593221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Modifying / Deleting User </a:t>
            </a:r>
            <a:r>
              <a:rPr lang="en-US" b="1" dirty="0" smtClean="0"/>
              <a:t>Account</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19</a:t>
            </a:fld>
            <a:endParaRPr lang="en-US"/>
          </a:p>
        </p:txBody>
      </p:sp>
      <p:sp>
        <p:nvSpPr>
          <p:cNvPr id="5" name="Content Placeholder 4"/>
          <p:cNvSpPr>
            <a:spLocks noGrp="1"/>
          </p:cNvSpPr>
          <p:nvPr>
            <p:ph sz="quarter" idx="1"/>
          </p:nvPr>
        </p:nvSpPr>
        <p:spPr/>
        <p:txBody>
          <a:bodyPr/>
          <a:lstStyle/>
          <a:p>
            <a:pPr>
              <a:buFont typeface="Arial" pitchFamily="34" charset="0"/>
              <a:buChar char="•"/>
            </a:pPr>
            <a:r>
              <a:rPr lang="en-US" dirty="0"/>
              <a:t>To change fields in a user’s /</a:t>
            </a:r>
            <a:r>
              <a:rPr lang="en-US" dirty="0" err="1"/>
              <a:t>etc</a:t>
            </a:r>
            <a:r>
              <a:rPr lang="en-US" dirty="0"/>
              <a:t>/</a:t>
            </a:r>
            <a:r>
              <a:rPr lang="en-US" dirty="0" err="1"/>
              <a:t>passwd</a:t>
            </a:r>
            <a:r>
              <a:rPr lang="en-US" dirty="0"/>
              <a:t> entry you can:</a:t>
            </a:r>
          </a:p>
          <a:p>
            <a:pPr lvl="1">
              <a:buFont typeface="Arial" pitchFamily="34" charset="0"/>
              <a:buChar char="•"/>
            </a:pPr>
            <a:r>
              <a:rPr lang="en-US" dirty="0"/>
              <a:t> Edit the file by hand with </a:t>
            </a:r>
            <a:r>
              <a:rPr lang="en-US" dirty="0" err="1"/>
              <a:t>vipw</a:t>
            </a:r>
            <a:endParaRPr lang="en-US" dirty="0"/>
          </a:p>
          <a:p>
            <a:pPr lvl="1">
              <a:buFont typeface="Arial" pitchFamily="34" charset="0"/>
              <a:buChar char="•"/>
            </a:pPr>
            <a:r>
              <a:rPr lang="en-US" dirty="0"/>
              <a:t> Use </a:t>
            </a:r>
            <a:r>
              <a:rPr lang="en-US" b="1" dirty="0" err="1"/>
              <a:t>usermod</a:t>
            </a:r>
            <a:r>
              <a:rPr lang="en-US" b="1" dirty="0"/>
              <a:t> </a:t>
            </a:r>
            <a:r>
              <a:rPr lang="en-US" dirty="0"/>
              <a:t>[option] username</a:t>
            </a:r>
          </a:p>
          <a:p>
            <a:pPr lvl="1"/>
            <a:endParaRPr lang="en-US" dirty="0"/>
          </a:p>
          <a:p>
            <a:pPr>
              <a:buFont typeface="Arial" pitchFamily="34" charset="0"/>
              <a:buChar char="•"/>
            </a:pPr>
            <a:r>
              <a:rPr lang="en-US" dirty="0"/>
              <a:t> To remove a user either:</a:t>
            </a:r>
          </a:p>
          <a:p>
            <a:pPr lvl="1">
              <a:buFont typeface="Arial" pitchFamily="34" charset="0"/>
              <a:buChar char="•"/>
            </a:pPr>
            <a:r>
              <a:rPr lang="en-US" dirty="0"/>
              <a:t> Manually remove the user from /</a:t>
            </a:r>
            <a:r>
              <a:rPr lang="en-US" dirty="0" err="1"/>
              <a:t>etc</a:t>
            </a:r>
            <a:r>
              <a:rPr lang="en-US" dirty="0"/>
              <a:t>/</a:t>
            </a:r>
            <a:r>
              <a:rPr lang="en-US" dirty="0" err="1"/>
              <a:t>passwd</a:t>
            </a:r>
            <a:r>
              <a:rPr lang="en-US" dirty="0"/>
              <a:t>, /</a:t>
            </a:r>
            <a:r>
              <a:rPr lang="en-US" dirty="0" err="1"/>
              <a:t>etc</a:t>
            </a:r>
            <a:r>
              <a:rPr lang="en-US" dirty="0"/>
              <a:t>/group, /</a:t>
            </a:r>
            <a:r>
              <a:rPr lang="en-US" dirty="0" err="1"/>
              <a:t>etc</a:t>
            </a:r>
            <a:r>
              <a:rPr lang="en-US" dirty="0"/>
              <a:t>/</a:t>
            </a:r>
            <a:r>
              <a:rPr lang="en-US" dirty="0" err="1"/>
              <a:t>gshadow</a:t>
            </a:r>
            <a:r>
              <a:rPr lang="en-US" dirty="0"/>
              <a:t>, /</a:t>
            </a:r>
            <a:r>
              <a:rPr lang="en-US" dirty="0" err="1"/>
              <a:t>var</a:t>
            </a:r>
            <a:r>
              <a:rPr lang="en-US" dirty="0"/>
              <a:t>/spool/mail, etc.</a:t>
            </a:r>
          </a:p>
          <a:p>
            <a:pPr lvl="1">
              <a:buFont typeface="Arial" pitchFamily="34" charset="0"/>
              <a:buChar char="•"/>
            </a:pPr>
            <a:r>
              <a:rPr lang="en-US" dirty="0"/>
              <a:t> Use </a:t>
            </a:r>
            <a:r>
              <a:rPr lang="en-US" b="1" dirty="0" err="1"/>
              <a:t>userdel</a:t>
            </a:r>
            <a:r>
              <a:rPr lang="en-US" b="1" dirty="0"/>
              <a:t>[-r]</a:t>
            </a:r>
            <a:r>
              <a:rPr lang="en-US" dirty="0"/>
              <a:t> username</a:t>
            </a:r>
          </a:p>
          <a:p>
            <a:endParaRPr lang="en-US" dirty="0"/>
          </a:p>
        </p:txBody>
      </p:sp>
    </p:spTree>
    <p:extLst>
      <p:ext uri="{BB962C8B-B14F-4D97-AF65-F5344CB8AC3E}">
        <p14:creationId xmlns:p14="http://schemas.microsoft.com/office/powerpoint/2010/main" val="16357252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err="1" smtClean="0"/>
              <a:t>Usermod</a:t>
            </a:r>
            <a:r>
              <a:rPr lang="en-US" b="1" dirty="0" smtClean="0"/>
              <a:t> command</a:t>
            </a:r>
            <a:endParaRPr lang="en-US" dirty="0"/>
          </a:p>
        </p:txBody>
      </p:sp>
      <p:sp>
        <p:nvSpPr>
          <p:cNvPr id="3" name="Slide Number Placeholder 2"/>
          <p:cNvSpPr>
            <a:spLocks noGrp="1"/>
          </p:cNvSpPr>
          <p:nvPr>
            <p:ph type="sldNum" sz="quarter" idx="12"/>
          </p:nvPr>
        </p:nvSpPr>
        <p:spPr/>
        <p:txBody>
          <a:bodyPr/>
          <a:lstStyle/>
          <a:p>
            <a:fld id="{99DA483C-B394-4922-93D1-88FBB798CB2A}" type="slidenum">
              <a:rPr lang="en-US" smtClean="0"/>
              <a:pPr/>
              <a:t>20</a:t>
            </a:fld>
            <a:endParaRPr lang="en-US"/>
          </a:p>
        </p:txBody>
      </p:sp>
      <p:sp>
        <p:nvSpPr>
          <p:cNvPr id="5" name="Content Placeholder 4"/>
          <p:cNvSpPr>
            <a:spLocks noGrp="1"/>
          </p:cNvSpPr>
          <p:nvPr>
            <p:ph sz="quarter" idx="1"/>
          </p:nvPr>
        </p:nvSpPr>
        <p:spPr/>
        <p:txBody>
          <a:bodyPr>
            <a:normAutofit fontScale="92500" lnSpcReduction="20000"/>
          </a:bodyPr>
          <a:lstStyle/>
          <a:p>
            <a:r>
              <a:rPr lang="en-GB" sz="2100" dirty="0"/>
              <a:t>Command: </a:t>
            </a:r>
            <a:r>
              <a:rPr lang="en-GB" sz="2100" dirty="0" err="1"/>
              <a:t>usermod</a:t>
            </a:r>
            <a:r>
              <a:rPr lang="en-GB" sz="2100" dirty="0"/>
              <a:t> </a:t>
            </a:r>
            <a:r>
              <a:rPr lang="en-GB" sz="2100" dirty="0"/>
              <a:t>options</a:t>
            </a:r>
          </a:p>
          <a:p>
            <a:pPr lvl="1"/>
            <a:r>
              <a:rPr lang="en-US" b="1" dirty="0" smtClean="0"/>
              <a:t>-e </a:t>
            </a:r>
            <a:r>
              <a:rPr lang="en-US" dirty="0" smtClean="0"/>
              <a:t>date</a:t>
            </a:r>
            <a:r>
              <a:rPr lang="en-US" b="1" dirty="0" smtClean="0"/>
              <a:t> </a:t>
            </a:r>
            <a:endParaRPr lang="en-US" dirty="0" smtClean="0"/>
          </a:p>
          <a:p>
            <a:pPr lvl="2"/>
            <a:r>
              <a:rPr lang="en-US" dirty="0" smtClean="0"/>
              <a:t>Set </a:t>
            </a:r>
            <a:r>
              <a:rPr lang="en-US" dirty="0"/>
              <a:t>date on which the account will expire and be disabled. </a:t>
            </a:r>
          </a:p>
          <a:p>
            <a:pPr lvl="1"/>
            <a:r>
              <a:rPr lang="en-US" b="1" dirty="0"/>
              <a:t>-g</a:t>
            </a:r>
            <a:r>
              <a:rPr lang="en-US" dirty="0"/>
              <a:t> group </a:t>
            </a:r>
          </a:p>
          <a:p>
            <a:pPr lvl="2"/>
            <a:r>
              <a:rPr lang="en-US" dirty="0"/>
              <a:t>Change the primary group </a:t>
            </a:r>
          </a:p>
          <a:p>
            <a:pPr lvl="1"/>
            <a:r>
              <a:rPr lang="en-US" b="1" dirty="0"/>
              <a:t>-G </a:t>
            </a:r>
            <a:r>
              <a:rPr lang="en-US" dirty="0"/>
              <a:t>group,[. . .] </a:t>
            </a:r>
          </a:p>
          <a:p>
            <a:pPr lvl="2"/>
            <a:r>
              <a:rPr lang="en-US" dirty="0"/>
              <a:t>A comma separated list of All supplementary groups for the user. </a:t>
            </a:r>
          </a:p>
          <a:p>
            <a:pPr lvl="1"/>
            <a:r>
              <a:rPr lang="en-US" b="1" dirty="0"/>
              <a:t>-a –G </a:t>
            </a:r>
            <a:r>
              <a:rPr lang="en-US" dirty="0"/>
              <a:t>group</a:t>
            </a:r>
            <a:r>
              <a:rPr lang="en-US" b="1" dirty="0"/>
              <a:t> </a:t>
            </a:r>
            <a:endParaRPr lang="en-US" dirty="0"/>
          </a:p>
          <a:p>
            <a:pPr lvl="2"/>
            <a:r>
              <a:rPr lang="en-US" dirty="0"/>
              <a:t>Append the group to the user’s list if auxiliary groups. </a:t>
            </a:r>
            <a:endParaRPr lang="en-US" dirty="0" smtClean="0"/>
          </a:p>
          <a:p>
            <a:r>
              <a:rPr lang="en-US" dirty="0"/>
              <a:t>When adding user access to a supplementary group with the </a:t>
            </a:r>
            <a:r>
              <a:rPr lang="en-US" b="1" dirty="0"/>
              <a:t>–G </a:t>
            </a:r>
            <a:r>
              <a:rPr lang="en-US" dirty="0"/>
              <a:t> option, you must list all groups to which a user  belongs, or include the </a:t>
            </a:r>
            <a:r>
              <a:rPr lang="en-US" b="1" dirty="0"/>
              <a:t>–a </a:t>
            </a:r>
            <a:r>
              <a:rPr lang="en-US" dirty="0"/>
              <a:t>option to append the user</a:t>
            </a: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37891064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userdel</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21</a:t>
            </a:fld>
            <a:endParaRPr lang="en-US"/>
          </a:p>
        </p:txBody>
      </p:sp>
      <p:sp>
        <p:nvSpPr>
          <p:cNvPr id="5" name="Content Placeholder 4"/>
          <p:cNvSpPr>
            <a:spLocks noGrp="1"/>
          </p:cNvSpPr>
          <p:nvPr>
            <p:ph sz="quarter" idx="1"/>
          </p:nvPr>
        </p:nvSpPr>
        <p:spPr/>
        <p:txBody>
          <a:bodyPr/>
          <a:lstStyle/>
          <a:p>
            <a:r>
              <a:rPr lang="en-US" b="1" dirty="0" err="1"/>
              <a:t>userdel</a:t>
            </a:r>
            <a:r>
              <a:rPr lang="en-US" b="1" dirty="0"/>
              <a:t> </a:t>
            </a:r>
            <a:r>
              <a:rPr lang="en-US" dirty="0"/>
              <a:t> deletes a user from the system. It may be prudent to lock the user’s account first with </a:t>
            </a:r>
            <a:r>
              <a:rPr lang="en-US" b="1" dirty="0" err="1"/>
              <a:t>usermod</a:t>
            </a:r>
            <a:r>
              <a:rPr lang="en-US" b="1" dirty="0"/>
              <a:t> –L</a:t>
            </a:r>
            <a:r>
              <a:rPr lang="en-US" dirty="0"/>
              <a:t>, and to delay deletion of the user’s account until you are sure that  none of the files in the user’s home directory are still needed.</a:t>
            </a:r>
          </a:p>
          <a:p>
            <a:endParaRPr lang="en-US" b="1" dirty="0"/>
          </a:p>
          <a:p>
            <a:r>
              <a:rPr lang="en-US" dirty="0"/>
              <a:t>When deleting an account with </a:t>
            </a:r>
            <a:r>
              <a:rPr lang="en-US" b="1" dirty="0" err="1"/>
              <a:t>userdel</a:t>
            </a:r>
            <a:r>
              <a:rPr lang="en-US" b="1" dirty="0"/>
              <a:t>,</a:t>
            </a:r>
            <a:r>
              <a:rPr lang="en-US" dirty="0"/>
              <a:t> you should consider using the</a:t>
            </a:r>
            <a:r>
              <a:rPr lang="en-US" b="1" dirty="0"/>
              <a:t> –r </a:t>
            </a:r>
            <a:r>
              <a:rPr lang="en-US" dirty="0"/>
              <a:t>option.</a:t>
            </a:r>
          </a:p>
          <a:p>
            <a:endParaRPr lang="en-US" dirty="0" smtClean="0"/>
          </a:p>
        </p:txBody>
      </p:sp>
    </p:spTree>
    <p:extLst>
      <p:ext uri="{BB962C8B-B14F-4D97-AF65-F5344CB8AC3E}">
        <p14:creationId xmlns:p14="http://schemas.microsoft.com/office/powerpoint/2010/main" val="8819410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t>Group </a:t>
            </a:r>
            <a:r>
              <a:rPr lang="en-US" b="1" dirty="0" smtClean="0"/>
              <a:t>Add/Delete</a:t>
            </a:r>
            <a:endParaRPr lang="en-US" dirty="0"/>
          </a:p>
        </p:txBody>
      </p:sp>
      <p:sp>
        <p:nvSpPr>
          <p:cNvPr id="3" name="Slide Number Placeholder 2"/>
          <p:cNvSpPr>
            <a:spLocks noGrp="1"/>
          </p:cNvSpPr>
          <p:nvPr>
            <p:ph type="sldNum" sz="quarter" idx="12"/>
          </p:nvPr>
        </p:nvSpPr>
        <p:spPr/>
        <p:txBody>
          <a:bodyPr/>
          <a:lstStyle/>
          <a:p>
            <a:fld id="{99DA483C-B394-4922-93D1-88FBB798CB2A}" type="slidenum">
              <a:rPr lang="en-US" smtClean="0"/>
              <a:pPr/>
              <a:t>22</a:t>
            </a:fld>
            <a:endParaRPr lang="en-US"/>
          </a:p>
        </p:txBody>
      </p:sp>
      <p:sp>
        <p:nvSpPr>
          <p:cNvPr id="5" name="Content Placeholder 4"/>
          <p:cNvSpPr>
            <a:spLocks noGrp="1"/>
          </p:cNvSpPr>
          <p:nvPr>
            <p:ph sz="quarter" idx="1"/>
          </p:nvPr>
        </p:nvSpPr>
        <p:spPr/>
        <p:txBody>
          <a:bodyPr/>
          <a:lstStyle/>
          <a:p>
            <a:pPr>
              <a:buFont typeface="Arial" pitchFamily="34" charset="0"/>
              <a:buChar char="•"/>
            </a:pPr>
            <a:r>
              <a:rPr lang="en-US" sz="2100" dirty="0"/>
              <a:t>Creation </a:t>
            </a:r>
            <a:r>
              <a:rPr lang="en-US" sz="2100" dirty="0"/>
              <a:t>Group</a:t>
            </a:r>
          </a:p>
          <a:p>
            <a:pPr lvl="1">
              <a:buFont typeface="Arial" pitchFamily="34" charset="0"/>
              <a:buChar char="•"/>
            </a:pPr>
            <a:r>
              <a:rPr lang="en-US" b="1" dirty="0" err="1" smtClean="0"/>
              <a:t>groupadd</a:t>
            </a:r>
            <a:r>
              <a:rPr lang="en-US" b="1" dirty="0" smtClean="0"/>
              <a:t> </a:t>
            </a:r>
            <a:r>
              <a:rPr lang="en-US" b="1" dirty="0"/>
              <a:t>[-g </a:t>
            </a:r>
            <a:r>
              <a:rPr lang="en-US" dirty="0" err="1"/>
              <a:t>uid</a:t>
            </a:r>
            <a:r>
              <a:rPr lang="en-US" b="1" dirty="0"/>
              <a:t>] </a:t>
            </a:r>
            <a:r>
              <a:rPr lang="en-US" dirty="0" err="1" smtClean="0"/>
              <a:t>auxgroup</a:t>
            </a:r>
            <a:endParaRPr lang="en-US" sz="2100" dirty="0"/>
          </a:p>
          <a:p>
            <a:pPr>
              <a:buFont typeface="Arial" pitchFamily="34" charset="0"/>
              <a:buChar char="•"/>
            </a:pPr>
            <a:r>
              <a:rPr lang="en-US" sz="2100" dirty="0"/>
              <a:t>Add users to group (either):</a:t>
            </a:r>
          </a:p>
          <a:p>
            <a:pPr lvl="1">
              <a:buFont typeface="Arial" pitchFamily="34" charset="0"/>
              <a:buChar char="•"/>
            </a:pPr>
            <a:r>
              <a:rPr lang="en-US" dirty="0" smtClean="0"/>
              <a:t>#</a:t>
            </a:r>
            <a:r>
              <a:rPr lang="en-US" dirty="0" err="1"/>
              <a:t>usermod</a:t>
            </a:r>
            <a:r>
              <a:rPr lang="en-US" dirty="0"/>
              <a:t> –</a:t>
            </a:r>
            <a:r>
              <a:rPr lang="en-US" dirty="0" err="1"/>
              <a:t>aG</a:t>
            </a:r>
            <a:r>
              <a:rPr lang="en-US" dirty="0"/>
              <a:t> </a:t>
            </a:r>
            <a:r>
              <a:rPr lang="en-US" dirty="0" err="1"/>
              <a:t>auxgroup</a:t>
            </a:r>
            <a:r>
              <a:rPr lang="en-US" dirty="0"/>
              <a:t> username</a:t>
            </a:r>
          </a:p>
          <a:p>
            <a:pPr lvl="1">
              <a:buFont typeface="Arial" pitchFamily="34" charset="0"/>
              <a:buChar char="•"/>
            </a:pPr>
            <a:r>
              <a:rPr lang="en-US" dirty="0" smtClean="0"/>
              <a:t>#</a:t>
            </a:r>
            <a:r>
              <a:rPr lang="en-US" dirty="0" err="1"/>
              <a:t>gpassed</a:t>
            </a:r>
            <a:r>
              <a:rPr lang="en-US" dirty="0"/>
              <a:t> –a username </a:t>
            </a:r>
            <a:r>
              <a:rPr lang="en-US" dirty="0" err="1"/>
              <a:t>auxgroup</a:t>
            </a:r>
            <a:endParaRPr lang="en-US" dirty="0"/>
          </a:p>
          <a:p>
            <a:pPr lvl="1">
              <a:buFont typeface="Arial" pitchFamily="34" charset="0"/>
              <a:buChar char="•"/>
            </a:pPr>
            <a:r>
              <a:rPr lang="en-US" dirty="0" smtClean="0"/>
              <a:t>#</a:t>
            </a:r>
            <a:r>
              <a:rPr lang="en-US" dirty="0" err="1"/>
              <a:t>vigr</a:t>
            </a:r>
            <a:endParaRPr lang="en-US" dirty="0"/>
          </a:p>
          <a:p>
            <a:pPr>
              <a:buFont typeface="Arial" pitchFamily="34" charset="0"/>
              <a:buChar char="•"/>
            </a:pPr>
            <a:r>
              <a:rPr lang="en-US" sz="2100" dirty="0"/>
              <a:t> Rename/Delete: </a:t>
            </a:r>
            <a:r>
              <a:rPr lang="en-US" sz="2100" b="1" dirty="0" err="1"/>
              <a:t>groupmod</a:t>
            </a:r>
            <a:r>
              <a:rPr lang="en-US" sz="2100" b="1" dirty="0"/>
              <a:t> </a:t>
            </a:r>
            <a:r>
              <a:rPr lang="en-US" sz="2100" dirty="0"/>
              <a:t>and </a:t>
            </a:r>
            <a:r>
              <a:rPr lang="en-US" sz="2100" b="1" dirty="0" err="1"/>
              <a:t>groupdel</a:t>
            </a:r>
            <a:endParaRPr lang="en-US" sz="2100" b="1" dirty="0"/>
          </a:p>
          <a:p>
            <a:endParaRPr lang="en-US" dirty="0"/>
          </a:p>
        </p:txBody>
      </p:sp>
    </p:spTree>
    <p:extLst>
      <p:ext uri="{BB962C8B-B14F-4D97-AF65-F5344CB8AC3E}">
        <p14:creationId xmlns:p14="http://schemas.microsoft.com/office/powerpoint/2010/main" val="5748992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Add</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23</a:t>
            </a:fld>
            <a:endParaRPr lang="en-US"/>
          </a:p>
        </p:txBody>
      </p:sp>
      <p:sp>
        <p:nvSpPr>
          <p:cNvPr id="5" name="Content Placeholder 4"/>
          <p:cNvSpPr>
            <a:spLocks noGrp="1"/>
          </p:cNvSpPr>
          <p:nvPr>
            <p:ph sz="quarter" idx="1"/>
          </p:nvPr>
        </p:nvSpPr>
        <p:spPr/>
        <p:txBody>
          <a:bodyPr/>
          <a:lstStyle/>
          <a:p>
            <a:r>
              <a:rPr lang="en-US" sz="2100" dirty="0"/>
              <a:t>New groups  may be created by hand-editing the file /</a:t>
            </a:r>
            <a:r>
              <a:rPr lang="en-US" sz="2100" dirty="0" err="1"/>
              <a:t>etc</a:t>
            </a:r>
            <a:r>
              <a:rPr lang="en-US" sz="2100" dirty="0"/>
              <a:t>/group with </a:t>
            </a:r>
            <a:r>
              <a:rPr lang="en-US" sz="2100" dirty="0" err="1"/>
              <a:t>vigr</a:t>
            </a:r>
            <a:r>
              <a:rPr lang="en-US" sz="2100" dirty="0"/>
              <a:t> or by using </a:t>
            </a:r>
            <a:r>
              <a:rPr lang="en-US" sz="2100" b="1" dirty="0" err="1"/>
              <a:t>groupadd</a:t>
            </a:r>
            <a:r>
              <a:rPr lang="en-US" sz="2100" b="1" dirty="0"/>
              <a:t>. </a:t>
            </a:r>
            <a:r>
              <a:rPr lang="en-US" sz="2100" dirty="0"/>
              <a:t> The basic syntax for </a:t>
            </a:r>
            <a:r>
              <a:rPr lang="en-US" sz="2100" b="1" dirty="0" err="1"/>
              <a:t>groupadd</a:t>
            </a:r>
            <a:r>
              <a:rPr lang="en-US" sz="2100" dirty="0"/>
              <a:t> is very simple</a:t>
            </a:r>
            <a:r>
              <a:rPr lang="en-US" sz="2100" dirty="0"/>
              <a:t>:</a:t>
            </a:r>
            <a:endParaRPr lang="en-US" sz="2100" b="1" dirty="0"/>
          </a:p>
          <a:p>
            <a:r>
              <a:rPr lang="en-US" sz="2100" dirty="0"/>
              <a:t>[</a:t>
            </a:r>
            <a:r>
              <a:rPr lang="en-US" sz="2100" dirty="0" err="1"/>
              <a:t>root@stationX</a:t>
            </a:r>
            <a:r>
              <a:rPr lang="en-US" sz="2100" dirty="0"/>
              <a:t>  ~] # </a:t>
            </a:r>
            <a:r>
              <a:rPr lang="en-US" sz="2100" dirty="0" err="1"/>
              <a:t>groupadd</a:t>
            </a:r>
            <a:r>
              <a:rPr lang="en-US" sz="2100" dirty="0"/>
              <a:t> </a:t>
            </a:r>
            <a:r>
              <a:rPr lang="en-US" sz="2100" dirty="0" err="1"/>
              <a:t>groupname</a:t>
            </a:r>
            <a:endParaRPr lang="en-US" sz="2100" dirty="0"/>
          </a:p>
          <a:p>
            <a:r>
              <a:rPr lang="en-US" sz="2100" dirty="0"/>
              <a:t>[</a:t>
            </a:r>
            <a:r>
              <a:rPr lang="en-US" sz="2100" dirty="0" err="1"/>
              <a:t>root@stationX</a:t>
            </a:r>
            <a:r>
              <a:rPr lang="en-US" sz="2100" dirty="0"/>
              <a:t>  ~] # </a:t>
            </a:r>
            <a:r>
              <a:rPr lang="en-US" sz="2100" dirty="0" err="1"/>
              <a:t>groupadd</a:t>
            </a:r>
            <a:r>
              <a:rPr lang="en-US" sz="2100" dirty="0"/>
              <a:t> –g 201 </a:t>
            </a:r>
            <a:r>
              <a:rPr lang="en-US" sz="2100" dirty="0" err="1"/>
              <a:t>groupname</a:t>
            </a:r>
            <a:endParaRPr lang="en-US" sz="2100" dirty="0"/>
          </a:p>
          <a:p>
            <a:endParaRPr lang="en-US" dirty="0" smtClean="0"/>
          </a:p>
          <a:p>
            <a:pPr marL="0" indent="0">
              <a:buNone/>
            </a:pPr>
            <a:endParaRPr lang="en-US" dirty="0"/>
          </a:p>
        </p:txBody>
      </p:sp>
    </p:spTree>
    <p:extLst>
      <p:ext uri="{BB962C8B-B14F-4D97-AF65-F5344CB8AC3E}">
        <p14:creationId xmlns:p14="http://schemas.microsoft.com/office/powerpoint/2010/main" val="40053822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Password Aging </a:t>
            </a:r>
            <a:r>
              <a:rPr lang="en-US" b="1" dirty="0" smtClean="0"/>
              <a:t>Policies</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24</a:t>
            </a:fld>
            <a:endParaRPr lang="en-US"/>
          </a:p>
        </p:txBody>
      </p:sp>
      <p:sp>
        <p:nvSpPr>
          <p:cNvPr id="5" name="Content Placeholder 4"/>
          <p:cNvSpPr>
            <a:spLocks noGrp="1"/>
          </p:cNvSpPr>
          <p:nvPr>
            <p:ph sz="quarter" idx="1"/>
          </p:nvPr>
        </p:nvSpPr>
        <p:spPr/>
        <p:txBody>
          <a:bodyPr/>
          <a:lstStyle/>
          <a:p>
            <a:pPr marL="0" lvl="1"/>
            <a:endParaRPr lang="en-US" sz="1500" dirty="0"/>
          </a:p>
          <a:p>
            <a:pPr marL="0" lvl="1"/>
            <a:r>
              <a:rPr lang="en-US" sz="1500" dirty="0"/>
              <a:t>The </a:t>
            </a:r>
            <a:r>
              <a:rPr lang="en-US" sz="1500" b="1" dirty="0" err="1"/>
              <a:t>chage</a:t>
            </a:r>
            <a:r>
              <a:rPr lang="en-US" sz="1500" dirty="0"/>
              <a:t>  command is used to modify password aging. You may set the maximum amount of time that a password is considered valid before the system will force the user to change his password. </a:t>
            </a:r>
          </a:p>
          <a:p>
            <a:pPr marL="0" lvl="1"/>
            <a:endParaRPr lang="en-US" sz="1500" dirty="0"/>
          </a:p>
          <a:p>
            <a:pPr marL="0" lvl="1"/>
            <a:r>
              <a:rPr lang="en-US" sz="1500" dirty="0"/>
              <a:t>This prevents users from changing their password when required to by the system, and then changing it right back to the old value. </a:t>
            </a:r>
            <a:r>
              <a:rPr lang="en-US" sz="1500" b="1" dirty="0" err="1"/>
              <a:t>chage</a:t>
            </a:r>
            <a:r>
              <a:rPr lang="en-US" sz="1500" dirty="0"/>
              <a:t> changes the number of days between password changes and the date of the last password change. This information is used by the system to determine when a user must change her password. </a:t>
            </a:r>
          </a:p>
          <a:p>
            <a:endParaRPr lang="en-US" dirty="0"/>
          </a:p>
        </p:txBody>
      </p:sp>
    </p:spTree>
    <p:extLst>
      <p:ext uri="{BB962C8B-B14F-4D97-AF65-F5344CB8AC3E}">
        <p14:creationId xmlns:p14="http://schemas.microsoft.com/office/powerpoint/2010/main" val="28242115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smtClean="0"/>
              <a:t>Chage</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25</a:t>
            </a:fld>
            <a:endParaRPr lang="en-US"/>
          </a:p>
        </p:txBody>
      </p:sp>
      <p:sp>
        <p:nvSpPr>
          <p:cNvPr id="5" name="Content Placeholder 4"/>
          <p:cNvSpPr>
            <a:spLocks noGrp="1"/>
          </p:cNvSpPr>
          <p:nvPr>
            <p:ph sz="quarter" idx="1"/>
          </p:nvPr>
        </p:nvSpPr>
        <p:spPr/>
        <p:txBody>
          <a:bodyPr>
            <a:normAutofit fontScale="92500" lnSpcReduction="10000"/>
          </a:bodyPr>
          <a:lstStyle/>
          <a:p>
            <a:pPr marL="0" lvl="1"/>
            <a:r>
              <a:rPr lang="en-US" dirty="0"/>
              <a:t> [</a:t>
            </a:r>
            <a:r>
              <a:rPr lang="en-US" dirty="0" err="1"/>
              <a:t>root@stationX</a:t>
            </a:r>
            <a:r>
              <a:rPr lang="en-US" dirty="0"/>
              <a:t> ~] # </a:t>
            </a:r>
            <a:r>
              <a:rPr lang="en-US" dirty="0" err="1"/>
              <a:t>chage</a:t>
            </a:r>
            <a:r>
              <a:rPr lang="en-US" dirty="0"/>
              <a:t> [options] username</a:t>
            </a:r>
          </a:p>
          <a:p>
            <a:pPr marL="0" lvl="1"/>
            <a:endParaRPr lang="en-US" dirty="0"/>
          </a:p>
          <a:p>
            <a:pPr marL="0" lvl="1"/>
            <a:r>
              <a:rPr lang="en-US" dirty="0"/>
              <a:t>Common options used with the </a:t>
            </a:r>
            <a:r>
              <a:rPr lang="en-US" b="1" dirty="0" err="1"/>
              <a:t>chage</a:t>
            </a:r>
            <a:r>
              <a:rPr lang="en-US" dirty="0"/>
              <a:t> command:</a:t>
            </a:r>
          </a:p>
          <a:p>
            <a:pPr marL="411480" lvl="3"/>
            <a:r>
              <a:rPr lang="en-US" b="1" dirty="0"/>
              <a:t>-m </a:t>
            </a:r>
            <a:r>
              <a:rPr lang="en-US" dirty="0"/>
              <a:t>days	minimum days  between password changes</a:t>
            </a:r>
            <a:endParaRPr lang="en-US" b="1" dirty="0"/>
          </a:p>
          <a:p>
            <a:pPr marL="411480" lvl="3"/>
            <a:r>
              <a:rPr lang="en-US" b="1" dirty="0"/>
              <a:t>-M </a:t>
            </a:r>
            <a:r>
              <a:rPr lang="en-US" dirty="0"/>
              <a:t>days		maximum days between  password changes</a:t>
            </a:r>
            <a:endParaRPr lang="en-US" b="1" dirty="0"/>
          </a:p>
          <a:p>
            <a:pPr marL="411480" lvl="3"/>
            <a:r>
              <a:rPr lang="en-US" b="1" dirty="0"/>
              <a:t>-d </a:t>
            </a:r>
            <a:r>
              <a:rPr lang="en-US" dirty="0"/>
              <a:t>days </a:t>
            </a:r>
            <a:r>
              <a:rPr lang="en-US" b="1" dirty="0"/>
              <a:t>	</a:t>
            </a:r>
            <a:r>
              <a:rPr lang="en-US" dirty="0"/>
              <a:t>set the day when the password was last changed.</a:t>
            </a:r>
            <a:endParaRPr lang="en-US" b="1" dirty="0"/>
          </a:p>
          <a:p>
            <a:pPr marL="411480" lvl="3"/>
            <a:r>
              <a:rPr lang="en-US" b="1" dirty="0"/>
              <a:t>-E </a:t>
            </a:r>
            <a:r>
              <a:rPr lang="en-US" dirty="0"/>
              <a:t>date		expire the account on this date (</a:t>
            </a:r>
            <a:r>
              <a:rPr lang="en-US" dirty="0" err="1"/>
              <a:t>yyyy</a:t>
            </a:r>
            <a:r>
              <a:rPr lang="en-US" dirty="0"/>
              <a:t>-mm-</a:t>
            </a:r>
            <a:r>
              <a:rPr lang="en-US" dirty="0" err="1"/>
              <a:t>dd</a:t>
            </a:r>
            <a:r>
              <a:rPr lang="en-US" dirty="0"/>
              <a:t>  format)</a:t>
            </a:r>
            <a:endParaRPr lang="en-US" b="1" dirty="0"/>
          </a:p>
          <a:p>
            <a:pPr marL="0" lvl="1"/>
            <a:endParaRPr lang="en-US" dirty="0"/>
          </a:p>
          <a:p>
            <a:pPr marL="0" lvl="1"/>
            <a:r>
              <a:rPr lang="en-US" dirty="0"/>
              <a:t>[</a:t>
            </a:r>
            <a:r>
              <a:rPr lang="en-US" dirty="0" err="1"/>
              <a:t>root@stationX</a:t>
            </a:r>
            <a:r>
              <a:rPr lang="en-US" dirty="0"/>
              <a:t> ~] # </a:t>
            </a:r>
            <a:r>
              <a:rPr lang="en-US" dirty="0" err="1"/>
              <a:t>chage</a:t>
            </a:r>
            <a:r>
              <a:rPr lang="en-US" dirty="0"/>
              <a:t> </a:t>
            </a:r>
            <a:r>
              <a:rPr lang="en-US" dirty="0" smtClean="0"/>
              <a:t>username</a:t>
            </a:r>
          </a:p>
          <a:p>
            <a:pPr marL="0" lvl="1"/>
            <a:endParaRPr lang="en-US" dirty="0"/>
          </a:p>
          <a:p>
            <a:pPr marL="0" lvl="1"/>
            <a:r>
              <a:rPr lang="en-US" dirty="0" smtClean="0"/>
              <a:t>Demo</a:t>
            </a:r>
            <a:endParaRPr lang="en-US" dirty="0"/>
          </a:p>
          <a:p>
            <a:endParaRPr lang="en-US" dirty="0"/>
          </a:p>
        </p:txBody>
      </p:sp>
    </p:spTree>
    <p:extLst>
      <p:ext uri="{BB962C8B-B14F-4D97-AF65-F5344CB8AC3E}">
        <p14:creationId xmlns:p14="http://schemas.microsoft.com/office/powerpoint/2010/main" val="22966164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Quota </a:t>
            </a:r>
            <a:r>
              <a:rPr lang="en-US" b="1" dirty="0" smtClean="0"/>
              <a:t>System</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26</a:t>
            </a:fld>
            <a:endParaRPr lang="en-US"/>
          </a:p>
        </p:txBody>
      </p:sp>
      <p:sp>
        <p:nvSpPr>
          <p:cNvPr id="5" name="Content Placeholder 4"/>
          <p:cNvSpPr>
            <a:spLocks noGrp="1"/>
          </p:cNvSpPr>
          <p:nvPr>
            <p:ph sz="quarter" idx="1"/>
          </p:nvPr>
        </p:nvSpPr>
        <p:spPr/>
        <p:txBody>
          <a:bodyPr>
            <a:normAutofit fontScale="77500" lnSpcReduction="20000"/>
          </a:bodyPr>
          <a:lstStyle/>
          <a:p>
            <a:r>
              <a:rPr lang="en-US" sz="2100" dirty="0"/>
              <a:t>Quota allows you to specify limits on two aspects of disk storage: </a:t>
            </a:r>
          </a:p>
          <a:p>
            <a:pPr marL="420053" lvl="1">
              <a:buFont typeface="Arial" pitchFamily="34" charset="0"/>
              <a:buChar char="•"/>
            </a:pPr>
            <a:r>
              <a:rPr lang="en-US" dirty="0"/>
              <a:t>the number of </a:t>
            </a:r>
            <a:r>
              <a:rPr lang="en-US" dirty="0" err="1"/>
              <a:t>inodes</a:t>
            </a:r>
            <a:r>
              <a:rPr lang="en-US" dirty="0"/>
              <a:t> </a:t>
            </a:r>
          </a:p>
          <a:p>
            <a:pPr marL="420053" lvl="1">
              <a:buFont typeface="Arial" pitchFamily="34" charset="0"/>
              <a:buChar char="•"/>
            </a:pPr>
            <a:r>
              <a:rPr lang="en-US" dirty="0"/>
              <a:t>the number of disk </a:t>
            </a:r>
          </a:p>
          <a:p>
            <a:r>
              <a:rPr lang="en-US" sz="2100" dirty="0"/>
              <a:t>Quota is handled on a per user, per file system basis. If there is more than one file system which a user is expected to create files, then quota must be set for each file system separately</a:t>
            </a:r>
            <a:r>
              <a:rPr lang="en-GB" sz="2100" dirty="0"/>
              <a:t>.</a:t>
            </a:r>
          </a:p>
          <a:p>
            <a:pPr>
              <a:buFont typeface="Arial" pitchFamily="34" charset="0"/>
              <a:buChar char="•"/>
            </a:pPr>
            <a:r>
              <a:rPr lang="en-US" sz="2100" dirty="0"/>
              <a:t>Initialization </a:t>
            </a:r>
          </a:p>
          <a:p>
            <a:pPr lvl="1">
              <a:buFont typeface="Arial" pitchFamily="34" charset="0"/>
              <a:buChar char="•"/>
            </a:pPr>
            <a:r>
              <a:rPr lang="en-US" sz="1950" dirty="0"/>
              <a:t>Partition mount options: </a:t>
            </a:r>
            <a:r>
              <a:rPr lang="en-US" sz="1950" b="1" dirty="0" err="1"/>
              <a:t>usrquota</a:t>
            </a:r>
            <a:r>
              <a:rPr lang="en-US" sz="1950" b="1" dirty="0"/>
              <a:t>, </a:t>
            </a:r>
            <a:r>
              <a:rPr lang="en-US" sz="1950" b="1" dirty="0" err="1"/>
              <a:t>grpquota</a:t>
            </a:r>
            <a:endParaRPr lang="en-US" sz="1950" b="1" dirty="0"/>
          </a:p>
          <a:p>
            <a:pPr lvl="1">
              <a:buFont typeface="Arial" pitchFamily="34" charset="0"/>
              <a:buChar char="•"/>
            </a:pPr>
            <a:r>
              <a:rPr lang="en-US" sz="1950" dirty="0"/>
              <a:t>Initialize database: </a:t>
            </a:r>
            <a:r>
              <a:rPr lang="en-US" sz="1950" b="1" dirty="0" err="1"/>
              <a:t>quotacheck</a:t>
            </a:r>
            <a:r>
              <a:rPr lang="en-US" sz="1950" b="1" dirty="0"/>
              <a:t> –</a:t>
            </a:r>
            <a:r>
              <a:rPr lang="en-US" sz="1950" b="1" dirty="0" err="1"/>
              <a:t>cugm</a:t>
            </a:r>
            <a:r>
              <a:rPr lang="en-US" sz="1950" dirty="0"/>
              <a:t>/</a:t>
            </a:r>
            <a:r>
              <a:rPr lang="en-US" sz="1950" dirty="0" err="1"/>
              <a:t>filesystem</a:t>
            </a:r>
            <a:endParaRPr lang="en-US" sz="1950" dirty="0"/>
          </a:p>
          <a:p>
            <a:pPr lvl="1">
              <a:buFont typeface="Arial" pitchFamily="34" charset="0"/>
              <a:buChar char="•"/>
            </a:pPr>
            <a:r>
              <a:rPr lang="en-US" sz="1950" dirty="0"/>
              <a:t>Start or stop quotas: </a:t>
            </a:r>
            <a:r>
              <a:rPr lang="en-US" sz="1950" b="1" dirty="0" err="1"/>
              <a:t>quotaon</a:t>
            </a:r>
            <a:r>
              <a:rPr lang="en-US" sz="1950" b="1" dirty="0"/>
              <a:t>, </a:t>
            </a:r>
            <a:r>
              <a:rPr lang="en-US" sz="1950" b="1" dirty="0" err="1"/>
              <a:t>quotaoff</a:t>
            </a:r>
            <a:endParaRPr lang="en-US" sz="1950" b="1" dirty="0"/>
          </a:p>
          <a:p>
            <a:endParaRPr lang="en-US" dirty="0"/>
          </a:p>
        </p:txBody>
      </p:sp>
    </p:spTree>
    <p:extLst>
      <p:ext uri="{BB962C8B-B14F-4D97-AF65-F5344CB8AC3E}">
        <p14:creationId xmlns:p14="http://schemas.microsoft.com/office/powerpoint/2010/main" val="21412028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Configuring the Quota </a:t>
            </a:r>
            <a:r>
              <a:rPr lang="en-US" b="1" dirty="0" smtClean="0"/>
              <a:t>System</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27</a:t>
            </a:fld>
            <a:endParaRPr lang="en-US"/>
          </a:p>
        </p:txBody>
      </p:sp>
      <p:sp>
        <p:nvSpPr>
          <p:cNvPr id="5" name="Content Placeholder 4"/>
          <p:cNvSpPr>
            <a:spLocks noGrp="1"/>
          </p:cNvSpPr>
          <p:nvPr>
            <p:ph sz="quarter" idx="1"/>
          </p:nvPr>
        </p:nvSpPr>
        <p:spPr/>
        <p:txBody>
          <a:bodyPr/>
          <a:lstStyle/>
          <a:p>
            <a:pPr>
              <a:buFont typeface="Arial" pitchFamily="34" charset="0"/>
              <a:buChar char="•"/>
            </a:pPr>
            <a:r>
              <a:rPr lang="en-US" dirty="0"/>
              <a:t>Define partition options:</a:t>
            </a:r>
          </a:p>
          <a:p>
            <a:r>
              <a:rPr lang="en-US" dirty="0"/>
              <a:t>For a partition to implement quotas, it must be mounted with the </a:t>
            </a:r>
            <a:r>
              <a:rPr lang="en-US" dirty="0" err="1"/>
              <a:t>usrquota</a:t>
            </a:r>
            <a:r>
              <a:rPr lang="en-US" dirty="0"/>
              <a:t> or </a:t>
            </a:r>
            <a:r>
              <a:rPr lang="en-US" dirty="0" err="1"/>
              <a:t>grpquota</a:t>
            </a:r>
            <a:r>
              <a:rPr lang="en-US" dirty="0"/>
              <a:t> options. Edit /</a:t>
            </a:r>
            <a:r>
              <a:rPr lang="en-US" dirty="0" err="1"/>
              <a:t>etc</a:t>
            </a:r>
            <a:r>
              <a:rPr lang="en-US" dirty="0"/>
              <a:t>/</a:t>
            </a:r>
            <a:r>
              <a:rPr lang="en-US" dirty="0" err="1"/>
              <a:t>fstab</a:t>
            </a:r>
            <a:r>
              <a:rPr lang="en-US" dirty="0"/>
              <a:t>, adding the </a:t>
            </a:r>
            <a:r>
              <a:rPr lang="en-US" dirty="0" err="1"/>
              <a:t>usrquota</a:t>
            </a:r>
            <a:r>
              <a:rPr lang="en-US" dirty="0"/>
              <a:t> option to the /home partition</a:t>
            </a:r>
            <a:r>
              <a:rPr lang="en-US" dirty="0" smtClean="0"/>
              <a:t>:</a:t>
            </a:r>
          </a:p>
          <a:p>
            <a:endParaRPr lang="en-US" dirty="0"/>
          </a:p>
          <a:p>
            <a:endParaRPr lang="en-US" dirty="0" smtClean="0"/>
          </a:p>
          <a:p>
            <a:r>
              <a:rPr lang="en-US" dirty="0" smtClean="0"/>
              <a:t>Remount the file system. </a:t>
            </a:r>
          </a:p>
          <a:p>
            <a:pPr lvl="1"/>
            <a:r>
              <a:rPr lang="en-US" dirty="0" smtClean="0"/>
              <a:t>[</a:t>
            </a:r>
            <a:r>
              <a:rPr lang="en-US" dirty="0" err="1"/>
              <a:t>root@stationX</a:t>
            </a:r>
            <a:r>
              <a:rPr lang="en-US" dirty="0"/>
              <a:t>  ~] # mount –o </a:t>
            </a:r>
            <a:r>
              <a:rPr lang="en-US" dirty="0" err="1"/>
              <a:t>remount,rw</a:t>
            </a:r>
            <a:r>
              <a:rPr lang="en-US" dirty="0"/>
              <a:t> /</a:t>
            </a:r>
            <a:endParaRPr lang="en-US" sz="1350" dirty="0"/>
          </a:p>
          <a:p>
            <a:r>
              <a:rPr lang="en-US" dirty="0" smtClean="0"/>
              <a:t>However,  if the file system is in use, you have to reboot.</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267319509"/>
              </p:ext>
            </p:extLst>
          </p:nvPr>
        </p:nvGraphicFramePr>
        <p:xfrm>
          <a:off x="1617423" y="2637512"/>
          <a:ext cx="5829300" cy="520065"/>
        </p:xfrm>
        <a:graphic>
          <a:graphicData uri="http://schemas.openxmlformats.org/drawingml/2006/table">
            <a:tbl>
              <a:tblPr/>
              <a:tblGrid>
                <a:gridCol w="5829300">
                  <a:extLst>
                    <a:ext uri="{9D8B030D-6E8A-4147-A177-3AD203B41FA5}">
                      <a16:colId xmlns:a16="http://schemas.microsoft.com/office/drawing/2014/main" val="20000"/>
                    </a:ext>
                  </a:extLst>
                </a:gridCol>
              </a:tblGrid>
              <a:tr h="520065">
                <a:tc>
                  <a:txBody>
                    <a:bodyPr/>
                    <a:lstStyle/>
                    <a:p>
                      <a:r>
                        <a:rPr lang="en-US" sz="1000" dirty="0">
                          <a:solidFill>
                            <a:srgbClr val="000000"/>
                          </a:solidFill>
                          <a:effectLst/>
                          <a:latin typeface="helvetica"/>
                        </a:rPr>
                        <a:t>...</a:t>
                      </a:r>
                      <a:br>
                        <a:rPr lang="en-US" sz="1000" dirty="0">
                          <a:solidFill>
                            <a:srgbClr val="000000"/>
                          </a:solidFill>
                          <a:effectLst/>
                          <a:latin typeface="helvetica"/>
                        </a:rPr>
                      </a:br>
                      <a:r>
                        <a:rPr lang="en-US" sz="1000" dirty="0">
                          <a:solidFill>
                            <a:srgbClr val="000000"/>
                          </a:solidFill>
                          <a:effectLst/>
                          <a:latin typeface="helvetica"/>
                        </a:rPr>
                        <a:t>/</a:t>
                      </a:r>
                      <a:r>
                        <a:rPr lang="en-US" sz="1000" dirty="0" err="1">
                          <a:solidFill>
                            <a:srgbClr val="000000"/>
                          </a:solidFill>
                          <a:effectLst/>
                          <a:latin typeface="helvetica"/>
                        </a:rPr>
                        <a:t>dev</a:t>
                      </a:r>
                      <a:r>
                        <a:rPr lang="en-US" sz="1000" dirty="0">
                          <a:solidFill>
                            <a:srgbClr val="000000"/>
                          </a:solidFill>
                          <a:effectLst/>
                          <a:latin typeface="helvetica"/>
                        </a:rPr>
                        <a:t>/hda2 /home ext3 </a:t>
                      </a:r>
                      <a:r>
                        <a:rPr lang="en-US" sz="1000" dirty="0" err="1" smtClean="0">
                          <a:solidFill>
                            <a:srgbClr val="000000"/>
                          </a:solidFill>
                          <a:effectLst/>
                          <a:latin typeface="helvetica"/>
                        </a:rPr>
                        <a:t>defaults,usrquota,grpquota</a:t>
                      </a:r>
                      <a:r>
                        <a:rPr lang="en-US" sz="1000" dirty="0" smtClean="0">
                          <a:solidFill>
                            <a:srgbClr val="000000"/>
                          </a:solidFill>
                          <a:effectLst/>
                          <a:latin typeface="helvetica"/>
                        </a:rPr>
                        <a:t> 0 0...</a:t>
                      </a:r>
                      <a:r>
                        <a:rPr lang="en-US" sz="1000" dirty="0">
                          <a:solidFill>
                            <a:srgbClr val="000000"/>
                          </a:solidFill>
                          <a:effectLst/>
                          <a:latin typeface="helvetica"/>
                        </a:rPr>
                        <a:t/>
                      </a:r>
                      <a:br>
                        <a:rPr lang="en-US" sz="1000" dirty="0">
                          <a:solidFill>
                            <a:srgbClr val="000000"/>
                          </a:solidFill>
                          <a:effectLst/>
                          <a:latin typeface="helvetica"/>
                        </a:rPr>
                      </a:br>
                      <a:endParaRPr lang="en-US" sz="1000" dirty="0">
                        <a:solidFill>
                          <a:srgbClr val="000000"/>
                        </a:solidFill>
                        <a:effectLst/>
                        <a:latin typeface="helvetica"/>
                      </a:endParaRPr>
                    </a:p>
                  </a:txBody>
                  <a:tcPr marL="28575" marR="28575" marT="28575" marB="28575" anchor="ctr">
                    <a:lnL>
                      <a:noFill/>
                    </a:lnL>
                    <a:lnR>
                      <a:noFill/>
                    </a:lnR>
                    <a:lnT>
                      <a:noFill/>
                    </a:lnT>
                    <a:lnB>
                      <a:noFill/>
                    </a:lnB>
                    <a:solidFill>
                      <a:srgbClr val="C0C0C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540580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Configuring the Quota </a:t>
            </a:r>
            <a:r>
              <a:rPr lang="en-US" b="1" dirty="0" smtClean="0"/>
              <a:t>System</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28</a:t>
            </a:fld>
            <a:endParaRPr lang="en-US"/>
          </a:p>
        </p:txBody>
      </p:sp>
      <p:sp>
        <p:nvSpPr>
          <p:cNvPr id="5" name="Content Placeholder 4"/>
          <p:cNvSpPr>
            <a:spLocks noGrp="1"/>
          </p:cNvSpPr>
          <p:nvPr>
            <p:ph sz="quarter" idx="1"/>
          </p:nvPr>
        </p:nvSpPr>
        <p:spPr/>
        <p:txBody>
          <a:bodyPr>
            <a:normAutofit/>
          </a:bodyPr>
          <a:lstStyle/>
          <a:p>
            <a:pPr>
              <a:buFont typeface="Arial" pitchFamily="34" charset="0"/>
              <a:buChar char="•"/>
            </a:pPr>
            <a:r>
              <a:rPr lang="en-US" sz="2100" dirty="0"/>
              <a:t>Create/Update the database:</a:t>
            </a:r>
          </a:p>
          <a:p>
            <a:pPr lvl="1"/>
            <a:r>
              <a:rPr lang="en-US" dirty="0"/>
              <a:t>The disk usage database is stored within a partition’s top-level directory in specially named binary files, </a:t>
            </a:r>
            <a:r>
              <a:rPr lang="en-US" dirty="0" err="1"/>
              <a:t>aquota.user</a:t>
            </a:r>
            <a:r>
              <a:rPr lang="en-US" dirty="0"/>
              <a:t> and </a:t>
            </a:r>
            <a:r>
              <a:rPr lang="en-US" dirty="0" err="1"/>
              <a:t>aquota.group</a:t>
            </a:r>
            <a:r>
              <a:rPr lang="en-US" dirty="0"/>
              <a:t>. Use </a:t>
            </a:r>
            <a:r>
              <a:rPr lang="en-US" b="1" dirty="0" err="1"/>
              <a:t>quotacheck</a:t>
            </a:r>
            <a:r>
              <a:rPr lang="en-US" b="1" dirty="0"/>
              <a:t> –</a:t>
            </a:r>
            <a:r>
              <a:rPr lang="en-US" b="1" dirty="0" err="1" smtClean="0"/>
              <a:t>cmuga</a:t>
            </a:r>
            <a:r>
              <a:rPr lang="en-US" b="1" dirty="0" smtClean="0"/>
              <a:t> </a:t>
            </a:r>
            <a:r>
              <a:rPr lang="en-US" dirty="0"/>
              <a:t>to create a new user and group quota file. </a:t>
            </a:r>
          </a:p>
          <a:p>
            <a:pPr>
              <a:buFont typeface="Arial" pitchFamily="34" charset="0"/>
              <a:buChar char="•"/>
            </a:pPr>
            <a:r>
              <a:rPr lang="en-US" sz="2100" dirty="0"/>
              <a:t>Starting and stopping </a:t>
            </a:r>
            <a:r>
              <a:rPr lang="en-US" sz="2100" dirty="0"/>
              <a:t>quotas with </a:t>
            </a:r>
            <a:r>
              <a:rPr lang="en-US" sz="2100" b="1" dirty="0" err="1"/>
              <a:t>quotaon</a:t>
            </a:r>
            <a:r>
              <a:rPr lang="en-US" sz="2100" dirty="0"/>
              <a:t> and </a:t>
            </a:r>
            <a:r>
              <a:rPr lang="en-US" sz="2100" b="1" dirty="0" err="1"/>
              <a:t>quotaoff</a:t>
            </a:r>
            <a:r>
              <a:rPr lang="en-US" sz="2100" dirty="0"/>
              <a:t> </a:t>
            </a:r>
            <a:r>
              <a:rPr lang="en-US" sz="2100" dirty="0"/>
              <a:t>:</a:t>
            </a:r>
            <a:endParaRPr lang="en-US" sz="2100" dirty="0"/>
          </a:p>
          <a:p>
            <a:pPr lvl="1"/>
            <a:r>
              <a:rPr lang="en-US" dirty="0" smtClean="0"/>
              <a:t>[</a:t>
            </a:r>
            <a:r>
              <a:rPr lang="en-US" dirty="0" err="1"/>
              <a:t>root@stationX</a:t>
            </a:r>
            <a:r>
              <a:rPr lang="en-US" dirty="0"/>
              <a:t>  ~] # </a:t>
            </a:r>
            <a:r>
              <a:rPr lang="en-US" dirty="0" err="1"/>
              <a:t>quotaon</a:t>
            </a:r>
            <a:r>
              <a:rPr lang="en-US" dirty="0"/>
              <a:t> / (Noted here / represent a partition</a:t>
            </a:r>
            <a:r>
              <a:rPr lang="en-US" dirty="0" smtClean="0"/>
              <a:t>)</a:t>
            </a:r>
          </a:p>
          <a:p>
            <a:pPr marL="240030" lvl="1" indent="0">
              <a:buNone/>
            </a:pPr>
            <a:r>
              <a:rPr lang="en-SG" dirty="0" smtClean="0"/>
              <a:t>OR</a:t>
            </a:r>
            <a:endParaRPr lang="en-US" dirty="0"/>
          </a:p>
          <a:p>
            <a:pPr lvl="1"/>
            <a:r>
              <a:rPr lang="en-US" dirty="0"/>
              <a:t>[</a:t>
            </a:r>
            <a:r>
              <a:rPr lang="en-US" dirty="0" err="1"/>
              <a:t>root@stationX</a:t>
            </a:r>
            <a:r>
              <a:rPr lang="en-US" dirty="0"/>
              <a:t>  ~] # </a:t>
            </a:r>
            <a:r>
              <a:rPr lang="en-US" dirty="0" err="1"/>
              <a:t>quotaon</a:t>
            </a:r>
            <a:r>
              <a:rPr lang="en-US" dirty="0"/>
              <a:t> -a</a:t>
            </a:r>
          </a:p>
          <a:p>
            <a:pPr lvl="1"/>
            <a:r>
              <a:rPr lang="en-US" dirty="0"/>
              <a:t>These commands rarely need to be run in practice, because they are included within Red Hat Enterprise Linux initialization script </a:t>
            </a:r>
            <a:r>
              <a:rPr lang="en-US" b="1" dirty="0"/>
              <a:t>/</a:t>
            </a:r>
            <a:r>
              <a:rPr lang="en-US" b="1" dirty="0" err="1"/>
              <a:t>etc</a:t>
            </a:r>
            <a:r>
              <a:rPr lang="en-US" b="1" dirty="0"/>
              <a:t>/</a:t>
            </a:r>
            <a:r>
              <a:rPr lang="en-US" b="1" dirty="0" err="1"/>
              <a:t>rc.d</a:t>
            </a:r>
            <a:r>
              <a:rPr lang="en-US" b="1" dirty="0"/>
              <a:t>/</a:t>
            </a:r>
            <a:r>
              <a:rPr lang="en-US" b="1" dirty="0" err="1"/>
              <a:t>rc.sysinit</a:t>
            </a:r>
            <a:r>
              <a:rPr lang="en-US" dirty="0"/>
              <a:t>.</a:t>
            </a:r>
          </a:p>
          <a:p>
            <a:endParaRPr lang="en-US" dirty="0"/>
          </a:p>
        </p:txBody>
      </p:sp>
    </p:spTree>
    <p:extLst>
      <p:ext uri="{BB962C8B-B14F-4D97-AF65-F5344CB8AC3E}">
        <p14:creationId xmlns:p14="http://schemas.microsoft.com/office/powerpoint/2010/main" val="7033154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Managing </a:t>
            </a:r>
            <a:r>
              <a:rPr lang="en-US" b="1" dirty="0" smtClean="0"/>
              <a:t>Quota</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29</a:t>
            </a:fld>
            <a:endParaRPr lang="en-US"/>
          </a:p>
        </p:txBody>
      </p:sp>
      <p:sp>
        <p:nvSpPr>
          <p:cNvPr id="5" name="Content Placeholder 4"/>
          <p:cNvSpPr>
            <a:spLocks noGrp="1"/>
          </p:cNvSpPr>
          <p:nvPr>
            <p:ph sz="quarter" idx="1"/>
          </p:nvPr>
        </p:nvSpPr>
        <p:spPr/>
        <p:txBody>
          <a:bodyPr>
            <a:normAutofit fontScale="85000" lnSpcReduction="20000"/>
          </a:bodyPr>
          <a:lstStyle/>
          <a:p>
            <a:pPr>
              <a:buFont typeface="Arial" pitchFamily="34" charset="0"/>
              <a:buChar char="•"/>
            </a:pPr>
            <a:r>
              <a:rPr lang="en-US" sz="1800" dirty="0"/>
              <a:t>Configuration (Implementation)</a:t>
            </a:r>
          </a:p>
          <a:p>
            <a:pPr lvl="1">
              <a:buFont typeface="Arial" pitchFamily="34" charset="0"/>
              <a:buChar char="•"/>
            </a:pPr>
            <a:r>
              <a:rPr lang="en-US" dirty="0"/>
              <a:t>Edit quotas in vi editor: </a:t>
            </a:r>
            <a:r>
              <a:rPr lang="en-US" b="1" dirty="0" err="1"/>
              <a:t>edquota</a:t>
            </a:r>
            <a:r>
              <a:rPr lang="en-US" b="1" dirty="0"/>
              <a:t> username</a:t>
            </a:r>
          </a:p>
          <a:p>
            <a:pPr lvl="1">
              <a:buFont typeface="Arial" pitchFamily="34" charset="0"/>
              <a:buChar char="•"/>
            </a:pPr>
            <a:r>
              <a:rPr lang="en-US" dirty="0"/>
              <a:t>Edit from command: </a:t>
            </a:r>
          </a:p>
          <a:p>
            <a:pPr lvl="2">
              <a:buFont typeface="Arial" pitchFamily="34" charset="0"/>
              <a:buChar char="•"/>
            </a:pPr>
            <a:r>
              <a:rPr lang="en-US" sz="1800" b="1" dirty="0" err="1"/>
              <a:t>setquota</a:t>
            </a:r>
            <a:r>
              <a:rPr lang="en-US" sz="1800" b="1" dirty="0"/>
              <a:t> </a:t>
            </a:r>
            <a:r>
              <a:rPr lang="en-US" sz="1800" dirty="0"/>
              <a:t>username </a:t>
            </a:r>
            <a:r>
              <a:rPr lang="en-US" sz="1800" dirty="0" err="1"/>
              <a:t>BlkSoft</a:t>
            </a:r>
            <a:r>
              <a:rPr lang="en-US" sz="1800" dirty="0"/>
              <a:t> </a:t>
            </a:r>
            <a:r>
              <a:rPr lang="en-US" sz="1800" dirty="0" err="1"/>
              <a:t>BlkHard</a:t>
            </a:r>
            <a:r>
              <a:rPr lang="en-US" sz="1800" dirty="0"/>
              <a:t> </a:t>
            </a:r>
            <a:r>
              <a:rPr lang="en-US" sz="1800" dirty="0" err="1"/>
              <a:t>FileSoft</a:t>
            </a:r>
            <a:r>
              <a:rPr lang="en-US" sz="1800" dirty="0"/>
              <a:t> </a:t>
            </a:r>
            <a:r>
              <a:rPr lang="en-US" sz="1800" dirty="0" err="1"/>
              <a:t>FileHard</a:t>
            </a:r>
            <a:r>
              <a:rPr lang="en-US" sz="1800" dirty="0"/>
              <a:t> </a:t>
            </a:r>
            <a:r>
              <a:rPr lang="en-US" sz="1800" dirty="0" err="1"/>
              <a:t>filesys</a:t>
            </a:r>
            <a:endParaRPr lang="en-US" sz="1800" dirty="0"/>
          </a:p>
          <a:p>
            <a:pPr lvl="2">
              <a:buFont typeface="Arial" pitchFamily="34" charset="0"/>
              <a:buChar char="•"/>
            </a:pPr>
            <a:r>
              <a:rPr lang="en-US" sz="1800" dirty="0"/>
              <a:t>Example </a:t>
            </a:r>
            <a:r>
              <a:rPr lang="en-US" sz="1800" b="1" dirty="0" err="1"/>
              <a:t>setquota</a:t>
            </a:r>
            <a:r>
              <a:rPr lang="en-US" sz="1800" b="1" dirty="0"/>
              <a:t> eddy 4396 5120 40 50 /</a:t>
            </a:r>
          </a:p>
          <a:p>
            <a:pPr lvl="1"/>
            <a:endParaRPr lang="en-US" dirty="0"/>
          </a:p>
          <a:p>
            <a:pPr>
              <a:buFont typeface="Arial" pitchFamily="34" charset="0"/>
              <a:buChar char="•"/>
            </a:pPr>
            <a:r>
              <a:rPr lang="en-US" sz="1800" dirty="0"/>
              <a:t>Reporting</a:t>
            </a:r>
          </a:p>
          <a:p>
            <a:pPr lvl="1">
              <a:buFont typeface="Arial" pitchFamily="34" charset="0"/>
              <a:buChar char="•"/>
            </a:pPr>
            <a:r>
              <a:rPr lang="en-US" dirty="0"/>
              <a:t>User inspection: </a:t>
            </a:r>
            <a:r>
              <a:rPr lang="en-US" b="1" dirty="0"/>
              <a:t>quota</a:t>
            </a:r>
          </a:p>
          <a:p>
            <a:pPr lvl="1">
              <a:buFont typeface="Arial" pitchFamily="34" charset="0"/>
              <a:buChar char="•"/>
            </a:pPr>
            <a:r>
              <a:rPr lang="en-US" dirty="0"/>
              <a:t>Quota overviews: </a:t>
            </a:r>
            <a:r>
              <a:rPr lang="en-US" b="1" dirty="0" err="1"/>
              <a:t>repquota</a:t>
            </a:r>
            <a:endParaRPr lang="en-US" b="1" dirty="0"/>
          </a:p>
          <a:p>
            <a:pPr lvl="1">
              <a:buFont typeface="Arial" pitchFamily="34" charset="0"/>
              <a:buChar char="•"/>
            </a:pPr>
            <a:r>
              <a:rPr lang="en-US" dirty="0"/>
              <a:t>Miscellaneous utilities: </a:t>
            </a:r>
            <a:r>
              <a:rPr lang="en-US" b="1" dirty="0" err="1"/>
              <a:t>warnquota</a:t>
            </a:r>
            <a:endParaRPr lang="en-US" dirty="0"/>
          </a:p>
          <a:p>
            <a:endParaRPr lang="en-US" dirty="0"/>
          </a:p>
        </p:txBody>
      </p:sp>
    </p:spTree>
    <p:extLst>
      <p:ext uri="{BB962C8B-B14F-4D97-AF65-F5344CB8AC3E}">
        <p14:creationId xmlns:p14="http://schemas.microsoft.com/office/powerpoint/2010/main" val="33007337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Demo</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30</a:t>
            </a:fld>
            <a:endParaRPr lang="en-US"/>
          </a:p>
        </p:txBody>
      </p:sp>
    </p:spTree>
    <p:extLst>
      <p:ext uri="{BB962C8B-B14F-4D97-AF65-F5344CB8AC3E}">
        <p14:creationId xmlns:p14="http://schemas.microsoft.com/office/powerpoint/2010/main" val="39968831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Reflection</a:t>
            </a:r>
            <a:endParaRPr lang="en-SG" dirty="0"/>
          </a:p>
        </p:txBody>
      </p:sp>
      <p:sp>
        <p:nvSpPr>
          <p:cNvPr id="3" name="Slide Number Placeholder 2"/>
          <p:cNvSpPr>
            <a:spLocks noGrp="1"/>
          </p:cNvSpPr>
          <p:nvPr>
            <p:ph type="sldNum" sz="quarter" idx="12"/>
          </p:nvPr>
        </p:nvSpPr>
        <p:spPr/>
        <p:txBody>
          <a:bodyPr/>
          <a:lstStyle/>
          <a:p>
            <a:fld id="{99DA483C-B394-4922-93D1-88FBB798CB2A}" type="slidenum">
              <a:rPr lang="en-US" smtClean="0"/>
              <a:pPr/>
              <a:t>31</a:t>
            </a:fld>
            <a:endParaRPr lang="en-US"/>
          </a:p>
        </p:txBody>
      </p:sp>
      <p:sp>
        <p:nvSpPr>
          <p:cNvPr id="5" name="Content Placeholder 4"/>
          <p:cNvSpPr>
            <a:spLocks noGrp="1"/>
          </p:cNvSpPr>
          <p:nvPr>
            <p:ph sz="quarter" idx="1"/>
          </p:nvPr>
        </p:nvSpPr>
        <p:spPr/>
        <p:txBody>
          <a:bodyPr/>
          <a:lstStyle/>
          <a:p>
            <a:r>
              <a:rPr lang="en-GB" dirty="0" smtClean="0"/>
              <a:t>What are the different tasks in administration of users in Linux?</a:t>
            </a:r>
          </a:p>
          <a:p>
            <a:r>
              <a:rPr lang="en-GB" dirty="0" smtClean="0"/>
              <a:t>How each task be executed by Linux commands?</a:t>
            </a:r>
          </a:p>
          <a:p>
            <a:r>
              <a:rPr lang="en-GB" dirty="0" smtClean="0"/>
              <a:t>What is Linux </a:t>
            </a:r>
            <a:r>
              <a:rPr lang="en-GB" dirty="0" err="1"/>
              <a:t>f</a:t>
            </a:r>
            <a:r>
              <a:rPr lang="en-GB" dirty="0" err="1" smtClean="0"/>
              <a:t>ilesystem</a:t>
            </a:r>
            <a:r>
              <a:rPr lang="en-GB" dirty="0" smtClean="0"/>
              <a:t> quota?</a:t>
            </a:r>
          </a:p>
          <a:p>
            <a:r>
              <a:rPr lang="en-GB" dirty="0" smtClean="0"/>
              <a:t>How to setup the </a:t>
            </a:r>
            <a:r>
              <a:rPr lang="en-GB" dirty="0" err="1" smtClean="0"/>
              <a:t>filesystem</a:t>
            </a:r>
            <a:r>
              <a:rPr lang="en-GB" dirty="0" smtClean="0"/>
              <a:t> quota?</a:t>
            </a:r>
          </a:p>
          <a:p>
            <a:r>
              <a:rPr lang="en-GB" dirty="0" smtClean="0"/>
              <a:t>What are the tasks to manage the quota for each user?</a:t>
            </a:r>
            <a:endParaRPr lang="en-SG" dirty="0"/>
          </a:p>
        </p:txBody>
      </p:sp>
    </p:spTree>
    <p:extLst>
      <p:ext uri="{BB962C8B-B14F-4D97-AF65-F5344CB8AC3E}">
        <p14:creationId xmlns:p14="http://schemas.microsoft.com/office/powerpoint/2010/main" val="34266903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smtClean="0"/>
              <a:t>Summary</a:t>
            </a:r>
            <a:endParaRPr lang="en-SG"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32</a:t>
            </a:fld>
            <a:endParaRPr lang="en-US"/>
          </a:p>
        </p:txBody>
      </p:sp>
      <p:sp>
        <p:nvSpPr>
          <p:cNvPr id="2" name="Content Placeholder 1"/>
          <p:cNvSpPr>
            <a:spLocks noGrp="1"/>
          </p:cNvSpPr>
          <p:nvPr>
            <p:ph sz="quarter" idx="1"/>
          </p:nvPr>
        </p:nvSpPr>
        <p:spPr/>
        <p:txBody>
          <a:bodyPr/>
          <a:lstStyle/>
          <a:p>
            <a:pPr marL="259556">
              <a:buFont typeface="Arial" pitchFamily="34" charset="0"/>
              <a:buChar char="•"/>
            </a:pPr>
            <a:r>
              <a:rPr lang="en-US" sz="2100" dirty="0"/>
              <a:t>Manage user and group </a:t>
            </a:r>
            <a:r>
              <a:rPr lang="en-US" sz="2100" dirty="0"/>
              <a:t>accounts in Linux</a:t>
            </a:r>
            <a:endParaRPr lang="en-US" sz="2100" dirty="0"/>
          </a:p>
          <a:p>
            <a:pPr marL="259556">
              <a:buFont typeface="Arial" pitchFamily="34" charset="0"/>
              <a:buChar char="•"/>
            </a:pPr>
            <a:r>
              <a:rPr lang="en-US" sz="2100" dirty="0"/>
              <a:t>Manage file system quotas to protect availability of file system</a:t>
            </a:r>
            <a:endParaRPr lang="en-US" sz="2100" dirty="0"/>
          </a:p>
          <a:p>
            <a:endParaRPr lang="en-SG" dirty="0"/>
          </a:p>
        </p:txBody>
      </p:sp>
    </p:spTree>
    <p:extLst>
      <p:ext uri="{BB962C8B-B14F-4D97-AF65-F5344CB8AC3E}">
        <p14:creationId xmlns:p14="http://schemas.microsoft.com/office/powerpoint/2010/main" val="19088839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smtClean="0"/>
              <a:t>THE END</a:t>
            </a:r>
            <a:endParaRPr lang="en-SG" dirty="0"/>
          </a:p>
        </p:txBody>
      </p:sp>
      <p:sp>
        <p:nvSpPr>
          <p:cNvPr id="5" name="Text Placeholder 4"/>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5546352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197</TotalTime>
  <Words>1834</Words>
  <Application>Microsoft Office PowerPoint</Application>
  <PresentationFormat>On-screen Show (16:9)</PresentationFormat>
  <Paragraphs>289</Paragraphs>
  <Slides>33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helvetica</vt:lpstr>
      <vt:lpstr>Calibri Light</vt:lpstr>
      <vt:lpstr>Arial</vt:lpstr>
      <vt:lpstr>Calibri</vt:lpstr>
      <vt:lpstr>Century Gothic</vt:lpstr>
      <vt:lpstr>宋体</vt:lpstr>
      <vt:lpstr>Celestial</vt:lpstr>
      <vt:lpstr>IT2757 Server and Services Security Management - LINUX SID and GID</vt:lpstr>
      <vt:lpstr>Background: History &amp; Evolution of Unix</vt:lpstr>
      <vt:lpstr>PowerPoint Presentation</vt:lpstr>
      <vt:lpstr>Architecture of Linux / UNIX</vt:lpstr>
      <vt:lpstr>Linux Security</vt:lpstr>
      <vt:lpstr>Background: A Typical Unix File System Hierarchy</vt:lpstr>
      <vt:lpstr>Unix File Permissions Fundamentals (revisited)</vt:lpstr>
      <vt:lpstr>UNIX Operating System DAC Security Model</vt:lpstr>
      <vt:lpstr>Reference Monitor</vt:lpstr>
      <vt:lpstr>Linux Security Module Architecture</vt:lpstr>
      <vt:lpstr>Typical User Login Process</vt:lpstr>
      <vt:lpstr>Format of the entry in /etc/shadow</vt:lpstr>
      <vt:lpstr>User and Group Databases</vt:lpstr>
      <vt:lpstr>User and Group Databases</vt:lpstr>
      <vt:lpstr>PowerPoint Presentation</vt:lpstr>
      <vt:lpstr>User and Group Databases</vt:lpstr>
      <vt:lpstr>Adding a New User Account</vt:lpstr>
      <vt:lpstr>Adding a New User Account</vt:lpstr>
      <vt:lpstr>Modifying / Deleting User Account</vt:lpstr>
      <vt:lpstr>Usermod command</vt:lpstr>
      <vt:lpstr>userdel</vt:lpstr>
      <vt:lpstr>Group Add/Delete</vt:lpstr>
      <vt:lpstr>Group Add</vt:lpstr>
      <vt:lpstr>Password Aging Policies</vt:lpstr>
      <vt:lpstr>Chage</vt:lpstr>
      <vt:lpstr>The Quota System</vt:lpstr>
      <vt:lpstr>Configuring the Quota System</vt:lpstr>
      <vt:lpstr>Configuring the Quota System</vt:lpstr>
      <vt:lpstr>Managing Quota</vt:lpstr>
      <vt:lpstr>Demo</vt:lpstr>
      <vt:lpstr>Reflection</vt:lpstr>
      <vt:lpstr>Summary</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LAM SIMON</dc:creator>
  <cp:lastModifiedBy>LAM SIMON</cp:lastModifiedBy>
  <cp:revision>29</cp:revision>
  <dcterms:modified xsi:type="dcterms:W3CDTF">2018-04-06T06:22:15Z</dcterms:modified>
</cp:coreProperties>
</file>