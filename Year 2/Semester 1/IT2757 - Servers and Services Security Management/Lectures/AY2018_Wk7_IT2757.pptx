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4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288" r:id="rId33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35"/>
      <p:bold r:id="rId36"/>
      <p: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9E63B6-08C8-4444-B43B-6137E374DB1E}">
  <a:tblStyle styleId="{129E63B6-08C8-4444-B43B-6137E374DB1E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72218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14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15057E2E-415E-4D9B-8C6C-9B2003B3D581}" type="slidenum">
              <a:rPr lang="en-US" altLang="en-US">
                <a:latin typeface="Arial" panose="020B0604020202020204" pitchFamily="34" charset="0"/>
              </a:rPr>
              <a:pPr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DB6CE586-7FAA-49EE-89CD-392FD4BAA63D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4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02CB02DF-3ABF-4461-A913-75361D272160}" type="slidenum">
              <a:rPr lang="en-US" altLang="en-US">
                <a:latin typeface="Arial" panose="020B0604020202020204" pitchFamily="34" charset="0"/>
              </a:rPr>
              <a:pPr/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8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0BCCA7B7-D8FC-47D1-A5F9-056EF10F545D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228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89EE927A-7DC7-41F6-9148-2AE3255B4046}" type="slidenum">
              <a:rPr lang="en-US" altLang="en-US">
                <a:latin typeface="Arial" panose="020B0604020202020204" pitchFamily="34" charset="0"/>
              </a:rPr>
              <a:pPr/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789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69775049-92A3-47F4-919C-CC74D04F9073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43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2FBB5948-7C92-48B1-9EE1-D025F5D1C574}" type="slidenum">
              <a:rPr lang="en-US" altLang="en-US">
                <a:latin typeface="Arial" panose="020B0604020202020204" pitchFamily="34" charset="0"/>
              </a:rPr>
              <a:pPr/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7DD800F0-656F-46C6-B726-CE345A050514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0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0DE24EA8-AE05-48CD-A16F-F26545CD3210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3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4428F9CD-1760-41AF-9D91-944F5A38F156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984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22C3AF3-B79A-4FC7-9DA3-173D5C8F4173}" type="slidenum">
              <a:rPr lang="en-US" altLang="en-US">
                <a:latin typeface="Arial" panose="020B0604020202020204" pitchFamily="34" charset="0"/>
              </a:rPr>
              <a:pPr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BC1567F3-183A-41C9-A54E-F474AB1E8816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890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D8C22117-6014-40B6-B115-3CED15637489}" type="slidenum">
              <a:rPr lang="en-US" altLang="en-US">
                <a:latin typeface="Arial" panose="020B0604020202020204" pitchFamily="34" charset="0"/>
              </a:rPr>
              <a:pPr/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DFFB5168-D13B-454F-94E9-149BFD510A6F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37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25D1CE20-D2BE-4B00-BFE4-07DC3A87889A}" type="slidenum">
              <a:rPr lang="en-US" altLang="en-US">
                <a:latin typeface="Arial" panose="020B0604020202020204" pitchFamily="34" charset="0"/>
              </a:rPr>
              <a:pPr/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01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502E8815-D3E4-487C-B07A-983296BEE8DE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332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C9DC9A20-1FE5-4474-8B0A-ADFE9BBA1D04}" type="slidenum">
              <a:rPr lang="en-US" altLang="en-US">
                <a:latin typeface="Arial" panose="020B0604020202020204" pitchFamily="34" charset="0"/>
              </a:rPr>
              <a:pPr/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B8333D66-82F5-4C17-899A-95902D812D73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736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9259B9DA-5F08-4646-AA25-2A347F2E45A8}" type="slidenum">
              <a:rPr lang="en-US" altLang="en-US">
                <a:latin typeface="Arial" panose="020B0604020202020204" pitchFamily="34" charset="0"/>
              </a:rPr>
              <a:pPr/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505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05F342ED-2AAE-4924-9755-1EA5C5AAB1B2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5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73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775B9C95-0536-4D93-B1DD-C5697B9C8289}" type="slidenum">
              <a:rPr lang="en-US" altLang="en-US">
                <a:latin typeface="Arial" panose="020B0604020202020204" pitchFamily="34" charset="0"/>
              </a:rPr>
              <a:pPr/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6548CC6D-DE62-403F-98EF-7A9A4082E604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16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8FF1F0E-E036-4971-93FA-E32AB7525F2F}" type="slidenum">
              <a:rPr lang="en-US" altLang="en-US">
                <a:latin typeface="Arial" panose="020B0604020202020204" pitchFamily="34" charset="0"/>
              </a:rPr>
              <a:pPr/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57E94A70-77A1-4C9A-8F71-6FB0CC6509CA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658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8315BA4B-4DA3-4DDC-B30E-9AF197AFB1AC}" type="slidenum">
              <a:rPr lang="en-US" altLang="en-US">
                <a:latin typeface="Arial" panose="020B0604020202020204" pitchFamily="34" charset="0"/>
              </a:rPr>
              <a:pPr/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CEC73123-5E42-4F03-87E2-C033533F3A22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063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D7EE07DE-2C9E-470C-8162-89F6884CC99C}" type="slidenum">
              <a:rPr lang="en-US" altLang="en-US">
                <a:latin typeface="Arial" panose="020B0604020202020204" pitchFamily="34" charset="0"/>
              </a:rPr>
              <a:pPr/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54F236D1-0D24-4567-8BD0-2DAF385593C1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642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543382D1-9A48-4025-BE9C-61DB68B9217F}" type="slidenum">
              <a:rPr lang="en-US" altLang="en-US">
                <a:latin typeface="Arial" panose="020B0604020202020204" pitchFamily="34" charset="0"/>
              </a:rPr>
              <a:pPr/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21CA7E0D-4FDB-4467-A3C3-31193BEF459F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01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0B1267A6-05CF-4F33-B29C-EAF29BBAFDAF}" type="slidenum">
              <a:rPr lang="en-US" altLang="en-US">
                <a:latin typeface="Arial" panose="020B0604020202020204" pitchFamily="34" charset="0"/>
              </a:rPr>
              <a:pPr/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2B2676A6-7032-4A31-9AC2-A713EFA533A7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714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10818F3F-E8F1-4573-8C52-AF416AFFEBBA}" type="slidenum">
              <a:rPr lang="en-US" altLang="en-US">
                <a:latin typeface="Arial" panose="020B0604020202020204" pitchFamily="34" charset="0"/>
              </a:rPr>
              <a:pPr/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76DE1FB1-9E41-4D70-B7D2-A292D8EB50CE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715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429B397B-53CF-490F-AFED-2A005C07B61D}" type="slidenum">
              <a:rPr lang="en-US" altLang="en-US">
                <a:latin typeface="Arial" panose="020B0604020202020204" pitchFamily="34" charset="0"/>
              </a:rPr>
              <a:pPr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0FFCE5B0-E38D-4E9E-BC7B-6ADB691BACC0}" type="slidenum">
              <a:rPr lang="en-US" altLang="en-US" sz="1200">
                <a:latin typeface="Times New Roman" panose="02020603050405020304" pitchFamily="18" charset="0"/>
              </a:rPr>
              <a:pPr algn="r" eaLnBrk="1" hangingPunct="1"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5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59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28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1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14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30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2FF7-FDD2-4C4E-9C39-E1165898CA2B}" type="datetime1">
              <a:rPr lang="en-US" smtClean="0">
                <a:solidFill>
                  <a:srgbClr val="696464"/>
                </a:solidFill>
              </a:rPr>
              <a:pPr/>
              <a:t>4/6/2018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IT2533 Lecture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793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385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0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18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28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875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8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0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97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601425"/>
            <a:ext cx="5810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78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95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/>
          </p:nvPr>
        </p:nvSpPr>
        <p:spPr>
          <a:xfrm>
            <a:off x="753266" y="2223754"/>
            <a:ext cx="79248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 smtClean="0"/>
              <a:t>IT2757</a:t>
            </a:r>
            <a:br>
              <a:rPr lang="en" sz="2400" dirty="0" smtClean="0"/>
            </a:br>
            <a:r>
              <a:rPr lang="en" sz="2400" dirty="0" smtClean="0"/>
              <a:t>Server and Services Security Management</a:t>
            </a:r>
            <a:br>
              <a:rPr lang="en" sz="2400" dirty="0" smtClean="0"/>
            </a:br>
            <a:r>
              <a:rPr lang="en" sz="2400" dirty="0" smtClean="0"/>
              <a:t>- </a:t>
            </a:r>
            <a:r>
              <a:rPr lang="en" sz="2400" dirty="0" smtClean="0"/>
              <a:t>WINDOWS FIREWALL</a:t>
            </a:r>
            <a:endParaRPr lang="en" sz="2400" dirty="0"/>
          </a:p>
        </p:txBody>
      </p:sp>
      <p:grpSp>
        <p:nvGrpSpPr>
          <p:cNvPr id="99" name="Shape 99"/>
          <p:cNvGrpSpPr/>
          <p:nvPr/>
        </p:nvGrpSpPr>
        <p:grpSpPr>
          <a:xfrm>
            <a:off x="753266" y="1029785"/>
            <a:ext cx="964540" cy="1011306"/>
            <a:chOff x="5961125" y="1623900"/>
            <a:chExt cx="427450" cy="448175"/>
          </a:xfrm>
        </p:grpSpPr>
        <p:sp>
          <p:nvSpPr>
            <p:cNvPr id="100" name="Shape 10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Windows </a:t>
            </a:r>
            <a:r>
              <a:rPr lang="en-US" dirty="0" smtClean="0"/>
              <a:t> </a:t>
            </a:r>
            <a:r>
              <a:rPr lang="en-US" dirty="0" smtClean="0"/>
              <a:t>Firewall Topics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What is a firewall?</a:t>
            </a:r>
          </a:p>
          <a:p>
            <a:pPr eaLnBrk="1" hangingPunct="1">
              <a:defRPr/>
            </a:pPr>
            <a:r>
              <a:rPr lang="en-US" smtClean="0"/>
              <a:t>Firewall types</a:t>
            </a:r>
          </a:p>
          <a:p>
            <a:pPr eaLnBrk="1" hangingPunct="1">
              <a:defRPr/>
            </a:pPr>
            <a:r>
              <a:rPr lang="en-US" smtClean="0"/>
              <a:t>How a firewall works</a:t>
            </a:r>
          </a:p>
          <a:p>
            <a:pPr eaLnBrk="1" hangingPunct="1">
              <a:defRPr/>
            </a:pPr>
            <a:r>
              <a:rPr lang="en-US" smtClean="0"/>
              <a:t>Default firewall behavior</a:t>
            </a:r>
          </a:p>
          <a:p>
            <a:pPr eaLnBrk="1" hangingPunct="1">
              <a:defRPr/>
            </a:pPr>
            <a:r>
              <a:rPr lang="en-US" smtClean="0"/>
              <a:t>Windows 7 firewall features</a:t>
            </a:r>
          </a:p>
          <a:p>
            <a:pPr eaLnBrk="1" hangingPunct="1">
              <a:defRPr/>
            </a:pPr>
            <a:r>
              <a:rPr lang="en-US" smtClean="0"/>
              <a:t>Configuring Windows 7 firewall</a:t>
            </a:r>
          </a:p>
        </p:txBody>
      </p:sp>
    </p:spTree>
    <p:extLst>
      <p:ext uri="{BB962C8B-B14F-4D97-AF65-F5344CB8AC3E}">
        <p14:creationId xmlns:p14="http://schemas.microsoft.com/office/powerpoint/2010/main" val="123132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000"/>
              <a:t>What is a firewall?</a:t>
            </a:r>
            <a:br>
              <a:rPr lang="en-US" sz="3000"/>
            </a:br>
            <a:endParaRPr lang="en-US" sz="300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028701"/>
            <a:ext cx="6172200" cy="339447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 device that filters packets either coming into or going out of a device</a:t>
            </a:r>
          </a:p>
          <a:p>
            <a:pPr eaLnBrk="1" hangingPunct="1">
              <a:defRPr/>
            </a:pPr>
            <a:r>
              <a:rPr lang="en-US" dirty="0" smtClean="0"/>
              <a:t>Filtering can be based on IP, TCP, UDP and other criteria relating to a packet as well as authentication.  </a:t>
            </a:r>
          </a:p>
          <a:p>
            <a:pPr eaLnBrk="1" hangingPunct="1">
              <a:defRPr/>
            </a:pPr>
            <a:r>
              <a:rPr lang="en-US" dirty="0" smtClean="0"/>
              <a:t>Criteria contained in firewall rules.</a:t>
            </a:r>
          </a:p>
          <a:p>
            <a:pPr eaLnBrk="1" hangingPunct="1">
              <a:defRPr/>
            </a:pPr>
            <a:r>
              <a:rPr lang="en-US" dirty="0" smtClean="0"/>
              <a:t>Firewall rule is similar to an access control list statement</a:t>
            </a:r>
          </a:p>
          <a:p>
            <a:pPr lvl="1" eaLnBrk="1" hangingPunct="1">
              <a:defRPr/>
            </a:pPr>
            <a:r>
              <a:rPr lang="en-US" dirty="0" smtClean="0"/>
              <a:t>Example:  permit host 172.16.1.1 host 180.50.1.1 </a:t>
            </a:r>
            <a:r>
              <a:rPr lang="en-US" dirty="0" err="1" smtClean="0"/>
              <a:t>eq</a:t>
            </a:r>
            <a:r>
              <a:rPr lang="en-US" dirty="0" smtClean="0"/>
              <a:t> Telnet</a:t>
            </a:r>
          </a:p>
        </p:txBody>
      </p:sp>
    </p:spTree>
    <p:extLst>
      <p:ext uri="{BB962C8B-B14F-4D97-AF65-F5344CB8AC3E}">
        <p14:creationId xmlns:p14="http://schemas.microsoft.com/office/powerpoint/2010/main" val="397965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000"/>
              <a:t>Firewall Types</a:t>
            </a:r>
            <a:br>
              <a:rPr lang="en-US" sz="3000"/>
            </a:br>
            <a:endParaRPr lang="en-US" sz="300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Packet filtering vs stateful vs proxy</a:t>
            </a:r>
          </a:p>
          <a:p>
            <a:pPr lvl="1" eaLnBrk="1" hangingPunct="1">
              <a:defRPr/>
            </a:pPr>
            <a:r>
              <a:rPr lang="en-US" smtClean="0"/>
              <a:t>Packet filtering makes each filtering decision on a packet by packet basis without regard to previous packets in any directon</a:t>
            </a:r>
          </a:p>
          <a:p>
            <a:pPr lvl="1" eaLnBrk="1" hangingPunct="1">
              <a:defRPr/>
            </a:pPr>
            <a:r>
              <a:rPr lang="en-US" smtClean="0"/>
              <a:t>Stateful firewall keeps track of packet flows and filters based on flow information</a:t>
            </a:r>
          </a:p>
          <a:p>
            <a:pPr lvl="1" eaLnBrk="1" hangingPunct="1">
              <a:defRPr/>
            </a:pPr>
            <a:r>
              <a:rPr lang="en-US" smtClean="0"/>
              <a:t>Proxy firewall works on a per-application basis.  User sends to proxy, proxy creates new packet sourced from proxy</a:t>
            </a:r>
          </a:p>
          <a:p>
            <a:pPr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4963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Firewall Types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Network-based vs host-based</a:t>
            </a:r>
          </a:p>
          <a:p>
            <a:pPr lvl="1" eaLnBrk="1" hangingPunct="1">
              <a:defRPr/>
            </a:pPr>
            <a:r>
              <a:rPr lang="en-US" smtClean="0"/>
              <a:t>Network-based runs a router, multi-layer switch or dedicated firewall</a:t>
            </a:r>
          </a:p>
          <a:p>
            <a:pPr lvl="1" eaLnBrk="1" hangingPunct="1">
              <a:defRPr/>
            </a:pPr>
            <a:r>
              <a:rPr lang="en-US" smtClean="0"/>
              <a:t>Host-based firewall runs on computer running OS such as Windows 7 or UNIX</a:t>
            </a:r>
          </a:p>
          <a:p>
            <a:pPr eaLnBrk="1" hangingPunct="1">
              <a:defRPr/>
            </a:pPr>
            <a:r>
              <a:rPr lang="en-US" smtClean="0"/>
              <a:t>Hardware vs software firewall</a:t>
            </a:r>
          </a:p>
          <a:p>
            <a:pPr lvl="1" eaLnBrk="1" hangingPunct="1">
              <a:defRPr/>
            </a:pPr>
            <a:r>
              <a:rPr lang="en-US" smtClean="0"/>
              <a:t>Hardware firewall chassis designed for specifically to operate as a firewall; highest performance</a:t>
            </a:r>
          </a:p>
        </p:txBody>
      </p:sp>
    </p:spTree>
    <p:extLst>
      <p:ext uri="{BB962C8B-B14F-4D97-AF65-F5344CB8AC3E}">
        <p14:creationId xmlns:p14="http://schemas.microsoft.com/office/powerpoint/2010/main" val="427336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96772A75-C304-4859-84A3-B4041E8C1DC6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6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Windows Firewall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Host-based, stateful software firewall</a:t>
            </a:r>
          </a:p>
          <a:p>
            <a:pPr lvl="1" eaLnBrk="1" hangingPunct="1">
              <a:defRPr/>
            </a:pPr>
            <a:r>
              <a:rPr lang="en-US" smtClean="0"/>
              <a:t>Evaluates each packet as it arrives or leaves and determines whether that packet is allowed or denied based on flow</a:t>
            </a:r>
          </a:p>
          <a:p>
            <a:pPr eaLnBrk="1" hangingPunct="1">
              <a:defRPr/>
            </a:pPr>
            <a:r>
              <a:rPr lang="en-US" smtClean="0"/>
              <a:t>Windows 7 firewall is improved over XP version</a:t>
            </a:r>
          </a:p>
        </p:txBody>
      </p:sp>
    </p:spTree>
    <p:extLst>
      <p:ext uri="{BB962C8B-B14F-4D97-AF65-F5344CB8AC3E}">
        <p14:creationId xmlns:p14="http://schemas.microsoft.com/office/powerpoint/2010/main" val="20327243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Default Firewall Behavior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Default is to allow all outbound traffic and response inbound traffic; deny all other inbound traffic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5405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How Firewall Works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Incoming packet is inspected and compared against a list of allowed traffic. </a:t>
            </a:r>
          </a:p>
          <a:p>
            <a:pPr lvl="1" eaLnBrk="1" hangingPunct="1">
              <a:defRPr/>
            </a:pPr>
            <a:r>
              <a:rPr lang="en-US" smtClean="0"/>
              <a:t>If packet matches a list entry, packet passed to TCP/IP protocol for further processing. </a:t>
            </a:r>
          </a:p>
          <a:p>
            <a:pPr lvl="1" eaLnBrk="1" hangingPunct="1">
              <a:defRPr/>
            </a:pPr>
            <a:r>
              <a:rPr lang="en-US" smtClean="0"/>
              <a:t>If the packet does not match a list entry then packet is discarded</a:t>
            </a:r>
          </a:p>
          <a:p>
            <a:pPr lvl="2" eaLnBrk="1" hangingPunct="1">
              <a:defRPr/>
            </a:pPr>
            <a:r>
              <a:rPr lang="en-US" smtClean="0"/>
              <a:t>If logging is enabled, Windows creates an entry in the Firewall logging file </a:t>
            </a:r>
          </a:p>
        </p:txBody>
      </p:sp>
    </p:spTree>
    <p:extLst>
      <p:ext uri="{BB962C8B-B14F-4D97-AF65-F5344CB8AC3E}">
        <p14:creationId xmlns:p14="http://schemas.microsoft.com/office/powerpoint/2010/main" val="281076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How List is Populated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When enabled connection sends a packet, the firewall creates an entry in the list for response traffic. </a:t>
            </a:r>
          </a:p>
          <a:p>
            <a:pPr eaLnBrk="1" hangingPunct="1">
              <a:defRPr/>
            </a:pPr>
            <a:r>
              <a:rPr lang="en-US" smtClean="0"/>
              <a:t>Allow rules can be manually created with Advanced Security.</a:t>
            </a:r>
          </a:p>
        </p:txBody>
      </p:sp>
    </p:spTree>
    <p:extLst>
      <p:ext uri="{BB962C8B-B14F-4D97-AF65-F5344CB8AC3E}">
        <p14:creationId xmlns:p14="http://schemas.microsoft.com/office/powerpoint/2010/main" val="208099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FA57D2D7-7D8B-4AB7-8DE6-930A317720E9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10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Windows </a:t>
            </a:r>
            <a:r>
              <a:rPr lang="en-US" dirty="0" smtClean="0"/>
              <a:t>Firewall</a:t>
            </a:r>
            <a:endParaRPr lang="en-US" dirty="0" smtClean="0"/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Windows Firewall features</a:t>
            </a:r>
          </a:p>
          <a:p>
            <a:pPr lvl="1" eaLnBrk="1" hangingPunct="1">
              <a:defRPr/>
            </a:pPr>
            <a:r>
              <a:rPr lang="en-US" smtClean="0"/>
              <a:t>Inbound filtering</a:t>
            </a:r>
          </a:p>
          <a:p>
            <a:pPr lvl="1" eaLnBrk="1" hangingPunct="1">
              <a:defRPr/>
            </a:pPr>
            <a:r>
              <a:rPr lang="en-US" smtClean="0"/>
              <a:t>Outbound filtering</a:t>
            </a:r>
          </a:p>
          <a:p>
            <a:pPr lvl="1" eaLnBrk="1" hangingPunct="1">
              <a:defRPr/>
            </a:pPr>
            <a:r>
              <a:rPr lang="en-US" smtClean="0"/>
              <a:t>Firewall rules combined with IPsec rules</a:t>
            </a:r>
          </a:p>
          <a:p>
            <a:pPr lvl="1" eaLnBrk="1" hangingPunct="1">
              <a:defRPr/>
            </a:pPr>
            <a:r>
              <a:rPr lang="en-US" smtClean="0"/>
              <a:t>Support for complex rules</a:t>
            </a:r>
          </a:p>
          <a:p>
            <a:pPr lvl="1" eaLnBrk="1" hangingPunct="1">
              <a:defRPr/>
            </a:pPr>
            <a:r>
              <a:rPr lang="en-US" smtClean="0"/>
              <a:t>Support for logging</a:t>
            </a:r>
            <a:endParaRPr lang="en-US" b="1" smtClean="0"/>
          </a:p>
        </p:txBody>
      </p:sp>
    </p:spTree>
    <p:extLst>
      <p:ext uri="{BB962C8B-B14F-4D97-AF65-F5344CB8AC3E}">
        <p14:creationId xmlns:p14="http://schemas.microsoft.com/office/powerpoint/2010/main" val="12341323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Locations and the Firewall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2100" dirty="0"/>
              <a:t>Windows Firewall with Advanced Security is a network location aware application</a:t>
            </a:r>
          </a:p>
          <a:p>
            <a:pPr eaLnBrk="1" hangingPunct="1">
              <a:defRPr/>
            </a:pPr>
            <a:r>
              <a:rPr lang="en-US" sz="2100" dirty="0"/>
              <a:t>Windows </a:t>
            </a:r>
            <a:r>
              <a:rPr lang="en-US" sz="2100" dirty="0" smtClean="0"/>
              <a:t> </a:t>
            </a:r>
            <a:r>
              <a:rPr lang="en-US" sz="2100" dirty="0"/>
              <a:t>stores the firewall properties based on location types</a:t>
            </a:r>
          </a:p>
          <a:p>
            <a:pPr eaLnBrk="1" hangingPunct="1">
              <a:defRPr/>
            </a:pPr>
            <a:r>
              <a:rPr lang="en-US" sz="2100" dirty="0"/>
              <a:t>Configuration for each location type is called a profile</a:t>
            </a:r>
          </a:p>
          <a:p>
            <a:pPr lvl="1" eaLnBrk="1" hangingPunct="1">
              <a:defRPr/>
            </a:pPr>
            <a:r>
              <a:rPr lang="en-US" sz="1800" dirty="0"/>
              <a:t>In each profile you can:</a:t>
            </a:r>
          </a:p>
          <a:p>
            <a:pPr lvl="2" eaLnBrk="1" hangingPunct="1">
              <a:defRPr/>
            </a:pPr>
            <a:r>
              <a:rPr lang="en-US" sz="1500" dirty="0"/>
              <a:t>Enable or disable Windows Firewall</a:t>
            </a:r>
          </a:p>
          <a:p>
            <a:pPr lvl="2" eaLnBrk="1" hangingPunct="1">
              <a:defRPr/>
            </a:pPr>
            <a:r>
              <a:rPr lang="en-US" sz="1500" dirty="0"/>
              <a:t>Configure inbound and/or outbound connections</a:t>
            </a:r>
          </a:p>
          <a:p>
            <a:pPr lvl="2" eaLnBrk="1" hangingPunct="1">
              <a:defRPr/>
            </a:pPr>
            <a:r>
              <a:rPr lang="en-US" sz="1500" dirty="0"/>
              <a:t>Customize logging and other settings</a:t>
            </a:r>
          </a:p>
          <a:p>
            <a:pPr eaLnBrk="1" hangingPunct="1"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85065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Locations and Firewall Settings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As the network location connected to changes, the Windows Firewall profile changes. </a:t>
            </a:r>
          </a:p>
          <a:p>
            <a:pPr eaLnBrk="1" hangingPunct="1">
              <a:defRPr/>
            </a:pPr>
            <a:r>
              <a:rPr lang="en-US" smtClean="0"/>
              <a:t>Windows Firewall can therefore automatically allow incoming traffic for a specific desktop management tool when the computer is on a domain network but block similar traffic when the computer is connected to public or private networks. </a:t>
            </a:r>
          </a:p>
        </p:txBody>
      </p:sp>
    </p:spTree>
    <p:extLst>
      <p:ext uri="{BB962C8B-B14F-4D97-AF65-F5344CB8AC3E}">
        <p14:creationId xmlns:p14="http://schemas.microsoft.com/office/powerpoint/2010/main" val="1444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Locations and Firewall Settings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Location types: domain, public, and private.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 Domain - the connection is authenticated to a domain controller for the domain of which it is a member.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 By default, all other networks are initially classified as public networks.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User can identify the network as either public or private.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500"/>
              <a:t>Public profile: For use when in locations such as airports or coffee shops.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500"/>
              <a:t>Private profile: For use when connected at a home or office and behind an edge device.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500"/>
              <a:t>To classify a network as a private network, the user must have administrator credentials.</a:t>
            </a:r>
          </a:p>
        </p:txBody>
      </p:sp>
    </p:spTree>
    <p:extLst>
      <p:ext uri="{BB962C8B-B14F-4D97-AF65-F5344CB8AC3E}">
        <p14:creationId xmlns:p14="http://schemas.microsoft.com/office/powerpoint/2010/main" val="416285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Locations and Firewall Settings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While a computer may be connected to multiple network locations at the same time, only one profile can be active at a time. The active profile is determined as follows: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If all interfaces are authenticated to the domain controller for the domain of which the computer is a member, the domain profile is applied.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If at least one interface is connected to a private network location and all other interfaces are either authenticated to the domain controller or are connected to private network locations, the private profile is applied.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/>
              <a:t>Otherwise, the public profile is applied.</a:t>
            </a:r>
          </a:p>
        </p:txBody>
      </p:sp>
    </p:spTree>
    <p:extLst>
      <p:ext uri="{BB962C8B-B14F-4D97-AF65-F5344CB8AC3E}">
        <p14:creationId xmlns:p14="http://schemas.microsoft.com/office/powerpoint/2010/main" val="3893321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Configuring Windows Firewall</a:t>
            </a:r>
          </a:p>
        </p:txBody>
      </p:sp>
      <p:sp>
        <p:nvSpPr>
          <p:cNvPr id="79875" name="AutoShap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Control Panel – Windows Firewall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1714500"/>
            <a:ext cx="5486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7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4702E0E4-B6EF-4295-8076-BD7A1A7F71EC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16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-571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Basic Firewall Configuration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028700"/>
            <a:ext cx="64008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636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1B0046DF-0EE1-43A3-AEC7-D31949D12196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17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Allows you to configure more complex rules, outgoing filtering, and IPsec rules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739318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D54A3756-8D22-4965-91C9-83B356E9AC5E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18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278732"/>
            <a:ext cx="4974431" cy="3750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7407931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EA225CF8-FE29-490D-BE0E-EB6B5B46A5F9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19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141" y="1071562"/>
            <a:ext cx="3083719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Windows Firewall Properties</a:t>
            </a:r>
          </a:p>
        </p:txBody>
      </p:sp>
    </p:spTree>
    <p:extLst>
      <p:ext uri="{BB962C8B-B14F-4D97-AF65-F5344CB8AC3E}">
        <p14:creationId xmlns:p14="http://schemas.microsoft.com/office/powerpoint/2010/main" val="34715665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2E58D305-DC4A-4043-8613-E38F21C792C9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20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IPSec Settings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IPsec is a system for securing and authenticating IP-based network connections</a:t>
            </a:r>
          </a:p>
          <a:p>
            <a:pPr eaLnBrk="1" hangingPunct="1">
              <a:defRPr/>
            </a:pPr>
            <a:r>
              <a:rPr lang="en-US" smtClean="0"/>
              <a:t>IPsec defaults - you can configure</a:t>
            </a:r>
          </a:p>
          <a:p>
            <a:pPr lvl="2" eaLnBrk="1" hangingPunct="1">
              <a:defRPr/>
            </a:pPr>
            <a:r>
              <a:rPr lang="en-US" smtClean="0"/>
              <a:t>Key exchange protocols</a:t>
            </a:r>
          </a:p>
          <a:p>
            <a:pPr lvl="2" eaLnBrk="1" hangingPunct="1">
              <a:defRPr/>
            </a:pPr>
            <a:r>
              <a:rPr lang="en-US" smtClean="0"/>
              <a:t>Data protection protocols</a:t>
            </a:r>
          </a:p>
          <a:p>
            <a:pPr lvl="2" eaLnBrk="1" hangingPunct="1">
              <a:defRPr/>
            </a:pPr>
            <a:r>
              <a:rPr lang="en-US" smtClean="0"/>
              <a:t>Authentication Method</a:t>
            </a:r>
          </a:p>
        </p:txBody>
      </p:sp>
    </p:spTree>
    <p:extLst>
      <p:ext uri="{BB962C8B-B14F-4D97-AF65-F5344CB8AC3E}">
        <p14:creationId xmlns:p14="http://schemas.microsoft.com/office/powerpoint/2010/main" val="27779976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36739BCF-E7C1-4BA6-9ABE-CC0431B01305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21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914400"/>
            <a:ext cx="2374106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8864477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C2045EEF-4A8E-495A-B198-3C137E0E94F1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22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Advanced Firewall Configuration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View and Edit Firewall Rules</a:t>
            </a:r>
          </a:p>
          <a:p>
            <a:pPr lvl="1" eaLnBrk="1" hangingPunct="1">
              <a:defRPr/>
            </a:pPr>
            <a:r>
              <a:rPr lang="en-US" smtClean="0"/>
              <a:t>A large number of inbound and outbound rules are created by default in Windows Vista</a:t>
            </a:r>
          </a:p>
        </p:txBody>
      </p:sp>
    </p:spTree>
    <p:extLst>
      <p:ext uri="{BB962C8B-B14F-4D97-AF65-F5344CB8AC3E}">
        <p14:creationId xmlns:p14="http://schemas.microsoft.com/office/powerpoint/2010/main" val="11918623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35EBB2E7-F04E-4BBF-8955-59EDA954874A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23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032273"/>
            <a:ext cx="5780485" cy="393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3929533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0C67E351-58C8-4EF5-948E-88EE17B8D6F3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24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71650" y="10287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View and Edit Firewall Rules</a:t>
            </a:r>
          </a:p>
          <a:p>
            <a:pPr lvl="1" eaLnBrk="1" hangingPunct="1">
              <a:defRPr/>
            </a:pPr>
            <a:r>
              <a:rPr lang="en-US" smtClean="0"/>
              <a:t>You modify an existing rule by opening its properties</a:t>
            </a:r>
          </a:p>
          <a:p>
            <a:pPr eaLnBrk="1" hangingPunct="1">
              <a:defRPr/>
            </a:pPr>
            <a:r>
              <a:rPr lang="en-US" smtClean="0"/>
              <a:t>Tabs in the properties of an outbound rule</a:t>
            </a:r>
          </a:p>
          <a:p>
            <a:pPr lvl="2" eaLnBrk="1" hangingPunct="1">
              <a:defRPr/>
            </a:pPr>
            <a:r>
              <a:rPr lang="en-US" smtClean="0"/>
              <a:t>General</a:t>
            </a:r>
          </a:p>
          <a:p>
            <a:pPr lvl="2" eaLnBrk="1" hangingPunct="1">
              <a:defRPr/>
            </a:pPr>
            <a:r>
              <a:rPr lang="en-US" smtClean="0"/>
              <a:t>Programs and Services</a:t>
            </a:r>
          </a:p>
          <a:p>
            <a:pPr lvl="2" eaLnBrk="1" hangingPunct="1">
              <a:defRPr/>
            </a:pPr>
            <a:r>
              <a:rPr lang="en-US" smtClean="0"/>
              <a:t>Computers</a:t>
            </a:r>
          </a:p>
          <a:p>
            <a:pPr lvl="2" eaLnBrk="1" hangingPunct="1">
              <a:defRPr/>
            </a:pPr>
            <a:r>
              <a:rPr lang="en-US" smtClean="0"/>
              <a:t>Protocols and Ports</a:t>
            </a:r>
          </a:p>
          <a:p>
            <a:pPr lvl="2" eaLnBrk="1" hangingPunct="1">
              <a:defRPr/>
            </a:pPr>
            <a:r>
              <a:rPr lang="en-US" smtClean="0"/>
              <a:t>Scope</a:t>
            </a:r>
          </a:p>
          <a:p>
            <a:pPr lvl="2" eaLnBrk="1" hangingPunct="1">
              <a:defRPr/>
            </a:pPr>
            <a:r>
              <a:rPr lang="en-US" smtClean="0"/>
              <a:t>Advanced</a:t>
            </a:r>
          </a:p>
          <a:p>
            <a:pPr eaLnBrk="1" hangingPunct="1">
              <a:defRPr/>
            </a:pPr>
            <a:r>
              <a:rPr lang="en-US" smtClean="0"/>
              <a:t>Create New Firewall Rules</a:t>
            </a:r>
          </a:p>
          <a:p>
            <a:pPr lvl="1" eaLnBrk="1" hangingPunct="1">
              <a:defRPr/>
            </a:pPr>
            <a:r>
              <a:rPr lang="en-US" smtClean="0"/>
              <a:t>A wizard guides you through the process</a:t>
            </a:r>
          </a:p>
        </p:txBody>
      </p:sp>
    </p:spTree>
    <p:extLst>
      <p:ext uri="{BB962C8B-B14F-4D97-AF65-F5344CB8AC3E}">
        <p14:creationId xmlns:p14="http://schemas.microsoft.com/office/powerpoint/2010/main" val="4177110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486C2B9F-3C5A-4161-A22C-94E9B791AE42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25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1200150"/>
            <a:ext cx="4512469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4579681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E4BBCE6E-89AE-4C62-B2F2-29A9784607E1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26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Create New Firewall Rules</a:t>
            </a:r>
          </a:p>
          <a:p>
            <a:pPr lvl="1" eaLnBrk="1" hangingPunct="1">
              <a:defRPr/>
            </a:pPr>
            <a:r>
              <a:rPr lang="en-US" smtClean="0"/>
              <a:t>Rule types you can create with the Outbound Rule Wizard</a:t>
            </a:r>
          </a:p>
          <a:p>
            <a:pPr lvl="2" eaLnBrk="1" hangingPunct="1">
              <a:defRPr/>
            </a:pPr>
            <a:r>
              <a:rPr lang="en-US" smtClean="0"/>
              <a:t>Program</a:t>
            </a:r>
          </a:p>
          <a:p>
            <a:pPr lvl="2" eaLnBrk="1" hangingPunct="1">
              <a:defRPr/>
            </a:pPr>
            <a:r>
              <a:rPr lang="en-US" smtClean="0"/>
              <a:t>Port</a:t>
            </a:r>
          </a:p>
          <a:p>
            <a:pPr lvl="2" eaLnBrk="1" hangingPunct="1">
              <a:defRPr/>
            </a:pPr>
            <a:r>
              <a:rPr lang="en-US" smtClean="0"/>
              <a:t>Predefined</a:t>
            </a:r>
          </a:p>
          <a:p>
            <a:pPr lvl="2" eaLnBrk="1" hangingPunct="1">
              <a:defRPr/>
            </a:pPr>
            <a:r>
              <a:rPr lang="en-US" smtClean="0"/>
              <a:t>Custom</a:t>
            </a:r>
          </a:p>
          <a:p>
            <a:pPr lvl="1" eaLnBrk="1" hangingPunct="1">
              <a:defRPr/>
            </a:pPr>
            <a:r>
              <a:rPr lang="en-US" smtClean="0"/>
              <a:t>Actions for a rule</a:t>
            </a:r>
          </a:p>
          <a:p>
            <a:pPr lvl="2" eaLnBrk="1" hangingPunct="1">
              <a:defRPr/>
            </a:pPr>
            <a:r>
              <a:rPr lang="en-US" smtClean="0"/>
              <a:t>Allow the connection</a:t>
            </a:r>
          </a:p>
          <a:p>
            <a:pPr lvl="2" eaLnBrk="1" hangingPunct="1">
              <a:defRPr/>
            </a:pPr>
            <a:r>
              <a:rPr lang="en-US" smtClean="0"/>
              <a:t>Allow the connection if it is secure</a:t>
            </a:r>
          </a:p>
          <a:p>
            <a:pPr lvl="2" eaLnBrk="1" hangingPunct="1">
              <a:defRPr/>
            </a:pPr>
            <a:r>
              <a:rPr lang="en-US" smtClean="0"/>
              <a:t>Block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4067291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9FEA4DC8-DE3D-419F-8804-C45C0FBF7C02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27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1" y="895350"/>
            <a:ext cx="4698206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75140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1DD18D55-2973-440A-80A8-EB74ADA821B8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28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Create New Computer-Connection Security Rules</a:t>
            </a:r>
          </a:p>
          <a:p>
            <a:pPr lvl="1" eaLnBrk="1" hangingPunct="1">
              <a:defRPr/>
            </a:pPr>
            <a:r>
              <a:rPr lang="en-US" smtClean="0"/>
              <a:t>Use IPsec to authenticate and secure communication between two computers</a:t>
            </a:r>
          </a:p>
          <a:p>
            <a:pPr lvl="1" eaLnBrk="1" hangingPunct="1">
              <a:defRPr/>
            </a:pPr>
            <a:r>
              <a:rPr lang="en-US" smtClean="0"/>
              <a:t>Security rule types</a:t>
            </a:r>
          </a:p>
          <a:p>
            <a:pPr lvl="2" eaLnBrk="1" hangingPunct="1">
              <a:defRPr/>
            </a:pPr>
            <a:r>
              <a:rPr lang="en-US" smtClean="0"/>
              <a:t>Isolation</a:t>
            </a:r>
          </a:p>
          <a:p>
            <a:pPr lvl="2" eaLnBrk="1" hangingPunct="1">
              <a:defRPr/>
            </a:pPr>
            <a:r>
              <a:rPr lang="en-US" smtClean="0"/>
              <a:t>Authentication exemption</a:t>
            </a:r>
          </a:p>
          <a:p>
            <a:pPr lvl="2" eaLnBrk="1" hangingPunct="1">
              <a:defRPr/>
            </a:pPr>
            <a:r>
              <a:rPr lang="en-US" smtClean="0"/>
              <a:t>Server-to-server</a:t>
            </a:r>
          </a:p>
          <a:p>
            <a:pPr lvl="2" eaLnBrk="1" hangingPunct="1">
              <a:defRPr/>
            </a:pPr>
            <a:r>
              <a:rPr lang="en-US" smtClean="0"/>
              <a:t>Tunnel</a:t>
            </a:r>
          </a:p>
          <a:p>
            <a:pPr lvl="2" eaLnBrk="1" hangingPunct="1">
              <a:defRPr/>
            </a:pPr>
            <a:r>
              <a:rPr lang="en-US" smtClean="0"/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27821799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CAD81F2D-81E9-41DA-87EF-22C0C23B907F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29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3174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232" y="900112"/>
            <a:ext cx="4798219" cy="401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0"/>
            <a:ext cx="6057900" cy="8001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2614674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2084D209-0E42-405D-8AAE-8322D16373A7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30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17145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257300"/>
            <a:ext cx="622935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Monitor Windows Firewall Rules and Connections</a:t>
            </a:r>
          </a:p>
          <a:p>
            <a:pPr lvl="1" eaLnBrk="1" hangingPunct="1">
              <a:defRPr/>
            </a:pPr>
            <a:r>
              <a:rPr lang="en-US" smtClean="0"/>
              <a:t>Firewall node allows you to see rules that are enabled in one screen</a:t>
            </a:r>
          </a:p>
          <a:p>
            <a:pPr lvl="1" eaLnBrk="1" hangingPunct="1">
              <a:defRPr/>
            </a:pPr>
            <a:r>
              <a:rPr lang="en-US" smtClean="0"/>
              <a:t>Connection Security node allows you to see the computer connection security rules that are enabled and any security associations that are active</a:t>
            </a:r>
          </a:p>
          <a:p>
            <a:pPr lvl="1" eaLnBrk="1" hangingPunct="1">
              <a:defRPr/>
            </a:pPr>
            <a:r>
              <a:rPr lang="en-US" smtClean="0"/>
              <a:t>Security association</a:t>
            </a:r>
          </a:p>
          <a:p>
            <a:pPr lvl="2" eaLnBrk="1" hangingPunct="1">
              <a:defRPr/>
            </a:pPr>
            <a:r>
              <a:rPr lang="en-US" smtClean="0"/>
              <a:t>Rules for communication between two computers</a:t>
            </a:r>
          </a:p>
        </p:txBody>
      </p:sp>
    </p:spTree>
    <p:extLst>
      <p:ext uri="{BB962C8B-B14F-4D97-AF65-F5344CB8AC3E}">
        <p14:creationId xmlns:p14="http://schemas.microsoft.com/office/powerpoint/2010/main" val="1612010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 txBox="1">
            <a:spLocks noGrp="1"/>
          </p:cNvSpPr>
          <p:nvPr/>
        </p:nvSpPr>
        <p:spPr bwMode="auto">
          <a:xfrm>
            <a:off x="6057900" y="4743450"/>
            <a:ext cx="1543050" cy="285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fld id="{4862E203-826C-4A05-A1CA-7CE7A7F50A47}" type="slidenum">
              <a:rPr lang="en-US" altLang="en-US" sz="1050">
                <a:solidFill>
                  <a:srgbClr val="222222"/>
                </a:solidFill>
              </a:rPr>
              <a:pPr algn="r" eaLnBrk="1" hangingPunct="1"/>
              <a:t>31</a:t>
            </a:fld>
            <a:endParaRPr lang="en-US" altLang="en-US" sz="1050">
              <a:solidFill>
                <a:srgbClr val="222222"/>
              </a:solidFill>
            </a:endParaRP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952500"/>
            <a:ext cx="520065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3050" y="0"/>
            <a:ext cx="6057900" cy="8572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/>
              <a:t>Advanced Firewall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91649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4635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188</TotalTime>
  <Words>1015</Words>
  <Application>Microsoft Office PowerPoint</Application>
  <PresentationFormat>On-screen Show (16:9)</PresentationFormat>
  <Paragraphs>185</Paragraphs>
  <Slides>32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Garamond</vt:lpstr>
      <vt:lpstr>Calibri Light</vt:lpstr>
      <vt:lpstr>Arial</vt:lpstr>
      <vt:lpstr>Calibri</vt:lpstr>
      <vt:lpstr>Wingdings</vt:lpstr>
      <vt:lpstr>Times New Roman</vt:lpstr>
      <vt:lpstr>Celestial</vt:lpstr>
      <vt:lpstr>IT2757 Server and Services Security Management - WINDOWS FIREWALL</vt:lpstr>
      <vt:lpstr>Windows  Firewall Topics</vt:lpstr>
      <vt:lpstr>What is a firewall? </vt:lpstr>
      <vt:lpstr>Firewall Types </vt:lpstr>
      <vt:lpstr>Firewall Types</vt:lpstr>
      <vt:lpstr>Windows Firewall</vt:lpstr>
      <vt:lpstr>Default Firewall Behavior</vt:lpstr>
      <vt:lpstr>How Firewall Works</vt:lpstr>
      <vt:lpstr>How List is Populated</vt:lpstr>
      <vt:lpstr>Windows Firewall</vt:lpstr>
      <vt:lpstr>Locations and the Firewall</vt:lpstr>
      <vt:lpstr>Locations and Firewall Settings</vt:lpstr>
      <vt:lpstr>Locations and Firewall Settings</vt:lpstr>
      <vt:lpstr>Locations and Firewall Settings</vt:lpstr>
      <vt:lpstr>Configuring Windows Firewall</vt:lpstr>
      <vt:lpstr>Basic Firewall Configuration</vt:lpstr>
      <vt:lpstr>Advanced Firewall Configuration</vt:lpstr>
      <vt:lpstr>Advanced Firewall Configuration</vt:lpstr>
      <vt:lpstr>Windows Firewall Properties</vt:lpstr>
      <vt:lpstr>IPSec Settings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Advanced Firewall Configuration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LAM SIMON</dc:creator>
  <cp:lastModifiedBy>LAM SIMON</cp:lastModifiedBy>
  <cp:revision>27</cp:revision>
  <dcterms:modified xsi:type="dcterms:W3CDTF">2018-04-06T05:54:41Z</dcterms:modified>
</cp:coreProperties>
</file>