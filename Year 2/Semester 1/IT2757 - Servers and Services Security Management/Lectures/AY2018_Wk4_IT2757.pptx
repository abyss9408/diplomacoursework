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36"/>
      <p:italic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9E63B6-08C8-4444-B43B-6137E374DB1E}">
  <a:tblStyle styleId="{129E63B6-08C8-4444-B43B-6137E374DB1E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72218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31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5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59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284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1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14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308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2FF7-FDD2-4C4E-9C39-E1165898CA2B}" type="datetime1">
              <a:rPr lang="en-US" smtClean="0">
                <a:solidFill>
                  <a:srgbClr val="696464"/>
                </a:solidFill>
              </a:rPr>
              <a:pPr/>
              <a:t>5/8/2018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IT2533 Lecture</a:t>
            </a:r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6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793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385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806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3186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28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875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08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00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897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601425"/>
            <a:ext cx="5810400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6000"/>
            </a:lvl2pPr>
            <a:lvl3pPr lvl="2" algn="ctr">
              <a:spcBef>
                <a:spcPts val="0"/>
              </a:spcBef>
              <a:buSzPct val="100000"/>
              <a:defRPr sz="6000"/>
            </a:lvl3pPr>
            <a:lvl4pPr lvl="3" algn="ctr">
              <a:spcBef>
                <a:spcPts val="0"/>
              </a:spcBef>
              <a:buSzPct val="100000"/>
              <a:defRPr sz="6000"/>
            </a:lvl4pPr>
            <a:lvl5pPr lvl="4" algn="ctr">
              <a:spcBef>
                <a:spcPts val="0"/>
              </a:spcBef>
              <a:buSzPct val="100000"/>
              <a:defRPr sz="6000"/>
            </a:lvl5pPr>
            <a:lvl6pPr lvl="5" algn="ctr">
              <a:spcBef>
                <a:spcPts val="0"/>
              </a:spcBef>
              <a:buSzPct val="100000"/>
              <a:defRPr sz="6000"/>
            </a:lvl6pPr>
            <a:lvl7pPr lvl="6" algn="ctr">
              <a:spcBef>
                <a:spcPts val="0"/>
              </a:spcBef>
              <a:buSzPct val="100000"/>
              <a:defRPr sz="6000"/>
            </a:lvl7pPr>
            <a:lvl8pPr lvl="7" algn="ctr">
              <a:spcBef>
                <a:spcPts val="0"/>
              </a:spcBef>
              <a:buSzPct val="100000"/>
              <a:defRPr sz="6000"/>
            </a:lvl8pPr>
            <a:lvl9pPr lvl="8" algn="ctr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3783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6" y="171450"/>
            <a:ext cx="8431213" cy="481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1" y="1063228"/>
            <a:ext cx="4130675" cy="36802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64076" y="1063228"/>
            <a:ext cx="4132263" cy="3680222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4655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6" y="171450"/>
            <a:ext cx="8431213" cy="481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381001" y="1063228"/>
            <a:ext cx="4130675" cy="3680222"/>
          </a:xfrm>
        </p:spPr>
        <p:txBody>
          <a:bodyPr/>
          <a:lstStyle/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4076" y="1063228"/>
            <a:ext cx="4132263" cy="36802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404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95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/>
          </p:nvPr>
        </p:nvSpPr>
        <p:spPr>
          <a:xfrm>
            <a:off x="753266" y="2223754"/>
            <a:ext cx="79248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 smtClean="0"/>
              <a:t>IT2757</a:t>
            </a:r>
            <a:br>
              <a:rPr lang="en" sz="2400" dirty="0" smtClean="0"/>
            </a:br>
            <a:r>
              <a:rPr lang="en" sz="2400" dirty="0" smtClean="0"/>
              <a:t>Server and Services Security Management</a:t>
            </a:r>
            <a:br>
              <a:rPr lang="en" sz="2400" dirty="0" smtClean="0"/>
            </a:br>
            <a:r>
              <a:rPr lang="en" sz="2400" dirty="0" smtClean="0"/>
              <a:t>- SERvER TECHOLOGY AND CONCEPTS</a:t>
            </a:r>
            <a:endParaRPr lang="en" sz="2400" dirty="0"/>
          </a:p>
        </p:txBody>
      </p:sp>
      <p:grpSp>
        <p:nvGrpSpPr>
          <p:cNvPr id="99" name="Shape 99"/>
          <p:cNvGrpSpPr/>
          <p:nvPr/>
        </p:nvGrpSpPr>
        <p:grpSpPr>
          <a:xfrm>
            <a:off x="753266" y="1029785"/>
            <a:ext cx="964540" cy="1011306"/>
            <a:chOff x="5961125" y="1623900"/>
            <a:chExt cx="427450" cy="448175"/>
          </a:xfrm>
        </p:grpSpPr>
        <p:sp>
          <p:nvSpPr>
            <p:cNvPr id="100" name="Shape 100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0" t="0" r="0" b="0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0" t="0" r="0" b="0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0" t="0" r="0" b="0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0" t="0" r="0" b="0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0" t="0" r="0" b="0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0" t="0" r="0" b="0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600200" y="1885950"/>
            <a:ext cx="5829300" cy="481013"/>
          </a:xfrm>
        </p:spPr>
        <p:txBody>
          <a:bodyPr anchor="t">
            <a:normAutofit fontScale="90000"/>
          </a:bodyPr>
          <a:lstStyle/>
          <a:p>
            <a:r>
              <a:rPr lang="en-US" altLang="en-US" sz="3000"/>
              <a:t>Microsoft Active Directory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171700" y="2914650"/>
            <a:ext cx="4800600" cy="1314450"/>
          </a:xfrm>
        </p:spPr>
        <p:txBody>
          <a:bodyPr/>
          <a:lstStyle/>
          <a:p>
            <a:r>
              <a:rPr lang="en-US" altLang="en-US" sz="2400"/>
              <a:t>An Overview</a:t>
            </a:r>
          </a:p>
        </p:txBody>
      </p:sp>
    </p:spTree>
    <p:extLst>
      <p:ext uri="{BB962C8B-B14F-4D97-AF65-F5344CB8AC3E}">
        <p14:creationId xmlns:p14="http://schemas.microsoft.com/office/powerpoint/2010/main" val="294120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Active Directory?</a:t>
            </a:r>
          </a:p>
        </p:txBody>
      </p:sp>
      <p:sp>
        <p:nvSpPr>
          <p:cNvPr id="4403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Microsoft‘s new Directory Service</a:t>
            </a:r>
          </a:p>
          <a:p>
            <a:r>
              <a:rPr lang="en-US" altLang="en-US"/>
              <a:t>Called: ADS, NTDS</a:t>
            </a:r>
          </a:p>
          <a:p>
            <a:r>
              <a:rPr lang="en-US" altLang="en-US"/>
              <a:t>Successor to LAN Manager Domains</a:t>
            </a:r>
          </a:p>
          <a:p>
            <a:r>
              <a:rPr lang="en-US" altLang="en-US"/>
              <a:t>Goals</a:t>
            </a:r>
          </a:p>
          <a:p>
            <a:pPr lvl="1"/>
            <a:r>
              <a:rPr lang="en-US" altLang="en-US"/>
              <a:t>Open Standards</a:t>
            </a:r>
          </a:p>
          <a:p>
            <a:pPr lvl="1"/>
            <a:r>
              <a:rPr lang="en-US" altLang="en-US"/>
              <a:t>High Scalability</a:t>
            </a:r>
          </a:p>
          <a:p>
            <a:pPr lvl="1"/>
            <a:r>
              <a:rPr lang="en-US" altLang="en-US"/>
              <a:t>Simplified Administration</a:t>
            </a:r>
          </a:p>
          <a:p>
            <a:pPr lvl="1"/>
            <a:r>
              <a:rPr lang="en-US" altLang="en-US"/>
              <a:t>Compatibility to existing Windows NT systems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6183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 Standards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sz="2100"/>
              <a:t>LDAP</a:t>
            </a:r>
          </a:p>
          <a:p>
            <a:pPr lvl="1"/>
            <a:r>
              <a:rPr lang="en-US" altLang="en-US" sz="1800"/>
              <a:t>Low-Level API to Active Directory</a:t>
            </a:r>
          </a:p>
          <a:p>
            <a:r>
              <a:rPr lang="en-US" altLang="en-US" sz="2100"/>
              <a:t>X.500</a:t>
            </a:r>
          </a:p>
          <a:p>
            <a:pPr lvl="1"/>
            <a:r>
              <a:rPr lang="en-US" altLang="en-US" sz="1800"/>
              <a:t>Active Directory Structure</a:t>
            </a:r>
          </a:p>
          <a:p>
            <a:pPr lvl="1"/>
            <a:r>
              <a:rPr lang="en-US" altLang="en-US" sz="1800"/>
              <a:t>Not fully standard-compliant</a:t>
            </a:r>
          </a:p>
          <a:p>
            <a:r>
              <a:rPr lang="en-US" altLang="en-US" sz="2100"/>
              <a:t>DNS</a:t>
            </a:r>
          </a:p>
          <a:p>
            <a:pPr lvl="1"/>
            <a:r>
              <a:rPr lang="en-US" altLang="en-US" sz="1800"/>
              <a:t>Resource Location</a:t>
            </a:r>
          </a:p>
          <a:p>
            <a:pPr lvl="1"/>
            <a:r>
              <a:rPr lang="en-US" altLang="en-US" sz="1800"/>
              <a:t>Extensions, e. G. „Dynamic DNS“</a:t>
            </a:r>
          </a:p>
          <a:p>
            <a:r>
              <a:rPr lang="en-US" altLang="en-US" sz="2100"/>
              <a:t>Kerberos</a:t>
            </a:r>
          </a:p>
          <a:p>
            <a:pPr lvl="1"/>
            <a:r>
              <a:rPr lang="en-US" altLang="en-US" sz="180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98298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1" name="AutoShape 2091"/>
          <p:cNvSpPr>
            <a:spLocks noChangeArrowheads="1"/>
          </p:cNvSpPr>
          <p:nvPr/>
        </p:nvSpPr>
        <p:spPr bwMode="auto">
          <a:xfrm rot="8100000">
            <a:off x="5314950" y="2999185"/>
            <a:ext cx="2084785" cy="2076450"/>
          </a:xfrm>
          <a:prstGeom prst="rtTriangle">
            <a:avLst/>
          </a:prstGeom>
          <a:gradFill rotWithShape="0">
            <a:gsLst>
              <a:gs pos="0">
                <a:srgbClr val="CC99FF">
                  <a:gamma/>
                  <a:shade val="46275"/>
                  <a:invGamma/>
                </a:srgbClr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43010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Active Directory Structure</a:t>
            </a:r>
          </a:p>
        </p:txBody>
      </p:sp>
      <p:sp>
        <p:nvSpPr>
          <p:cNvPr id="43011" name="Rectangle 2051"/>
          <p:cNvSpPr>
            <a:spLocks noGrp="1" noChangeArrowheads="1"/>
          </p:cNvSpPr>
          <p:nvPr>
            <p:ph type="body" sz="half" idx="1"/>
          </p:nvPr>
        </p:nvSpPr>
        <p:spPr>
          <a:xfrm>
            <a:off x="1428750" y="1063228"/>
            <a:ext cx="3543300" cy="1337072"/>
          </a:xfrm>
        </p:spPr>
        <p:txBody>
          <a:bodyPr/>
          <a:lstStyle/>
          <a:p>
            <a:r>
              <a:rPr lang="en-US" altLang="en-US" sz="2100"/>
              <a:t>Hierarchical</a:t>
            </a:r>
          </a:p>
          <a:p>
            <a:r>
              <a:rPr lang="en-US" altLang="en-US" sz="2100"/>
              <a:t>Base object</a:t>
            </a:r>
            <a:br>
              <a:rPr lang="en-US" altLang="en-US" sz="2100"/>
            </a:br>
            <a:r>
              <a:rPr lang="en-US" altLang="en-US" sz="2100"/>
              <a:t>Domain</a:t>
            </a:r>
          </a:p>
        </p:txBody>
      </p:sp>
      <p:sp>
        <p:nvSpPr>
          <p:cNvPr id="43013" name="Oval 2053"/>
          <p:cNvSpPr>
            <a:spLocks noChangeArrowheads="1"/>
          </p:cNvSpPr>
          <p:nvPr/>
        </p:nvSpPr>
        <p:spPr bwMode="auto">
          <a:xfrm>
            <a:off x="6172200" y="2857500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grpSp>
        <p:nvGrpSpPr>
          <p:cNvPr id="43014" name="Group 2054"/>
          <p:cNvGrpSpPr>
            <a:grpSpLocks/>
          </p:cNvGrpSpPr>
          <p:nvPr/>
        </p:nvGrpSpPr>
        <p:grpSpPr bwMode="auto">
          <a:xfrm>
            <a:off x="4800600" y="1428750"/>
            <a:ext cx="1085850" cy="1081088"/>
            <a:chOff x="2194" y="1283"/>
            <a:chExt cx="983" cy="979"/>
          </a:xfrm>
        </p:grpSpPr>
        <p:sp>
          <p:nvSpPr>
            <p:cNvPr id="43015" name="AutoShape 2055"/>
            <p:cNvSpPr>
              <a:spLocks noChangeArrowheads="1"/>
            </p:cNvSpPr>
            <p:nvPr/>
          </p:nvSpPr>
          <p:spPr bwMode="auto">
            <a:xfrm rot="8100000">
              <a:off x="2194" y="1283"/>
              <a:ext cx="983" cy="979"/>
            </a:xfrm>
            <a:prstGeom prst="rtTriangle">
              <a:avLst/>
            </a:pr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43016" name="Text Box 2056"/>
            <p:cNvSpPr txBox="1">
              <a:spLocks noChangeArrowheads="1"/>
            </p:cNvSpPr>
            <p:nvPr/>
          </p:nvSpPr>
          <p:spPr bwMode="auto">
            <a:xfrm>
              <a:off x="2208" y="1488"/>
              <a:ext cx="91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350"/>
                <a:t>Domain</a:t>
              </a:r>
            </a:p>
          </p:txBody>
        </p:sp>
      </p:grpSp>
      <p:sp>
        <p:nvSpPr>
          <p:cNvPr id="43017" name="Text Box 2057"/>
          <p:cNvSpPr txBox="1">
            <a:spLocks noChangeArrowheads="1"/>
          </p:cNvSpPr>
          <p:nvPr/>
        </p:nvSpPr>
        <p:spPr bwMode="auto">
          <a:xfrm>
            <a:off x="5543550" y="3143250"/>
            <a:ext cx="1624013" cy="611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/>
              <a:t>Domain</a:t>
            </a:r>
          </a:p>
          <a:p>
            <a:pPr>
              <a:spcBef>
                <a:spcPct val="50000"/>
              </a:spcBef>
            </a:pPr>
            <a:endParaRPr lang="en-US" altLang="en-US" sz="1350"/>
          </a:p>
        </p:txBody>
      </p:sp>
      <p:sp>
        <p:nvSpPr>
          <p:cNvPr id="43018" name="Oval 2058"/>
          <p:cNvSpPr>
            <a:spLocks noChangeArrowheads="1"/>
          </p:cNvSpPr>
          <p:nvPr/>
        </p:nvSpPr>
        <p:spPr bwMode="auto">
          <a:xfrm>
            <a:off x="6572250" y="3314700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43019" name="Oval 2059"/>
          <p:cNvSpPr>
            <a:spLocks noChangeArrowheads="1"/>
          </p:cNvSpPr>
          <p:nvPr/>
        </p:nvSpPr>
        <p:spPr bwMode="auto">
          <a:xfrm>
            <a:off x="5657850" y="3314700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43020" name="Line 2060"/>
          <p:cNvSpPr>
            <a:spLocks noChangeShapeType="1"/>
          </p:cNvSpPr>
          <p:nvPr/>
        </p:nvSpPr>
        <p:spPr bwMode="auto">
          <a:xfrm flipH="1" flipV="1">
            <a:off x="6515100" y="3143250"/>
            <a:ext cx="147638" cy="200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21" name="Line 2061"/>
          <p:cNvSpPr>
            <a:spLocks noChangeShapeType="1"/>
          </p:cNvSpPr>
          <p:nvPr/>
        </p:nvSpPr>
        <p:spPr bwMode="auto">
          <a:xfrm flipH="1">
            <a:off x="6000750" y="3143250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22" name="computr2"/>
          <p:cNvSpPr>
            <a:spLocks noEditPoints="1" noChangeArrowheads="1"/>
          </p:cNvSpPr>
          <p:nvPr/>
        </p:nvSpPr>
        <p:spPr bwMode="auto">
          <a:xfrm>
            <a:off x="5257800" y="3886200"/>
            <a:ext cx="457200" cy="457200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 sz="1350"/>
          </a:p>
        </p:txBody>
      </p:sp>
      <p:sp>
        <p:nvSpPr>
          <p:cNvPr id="43023" name="printer2"/>
          <p:cNvSpPr>
            <a:spLocks noEditPoints="1" noChangeArrowheads="1"/>
          </p:cNvSpPr>
          <p:nvPr/>
        </p:nvSpPr>
        <p:spPr bwMode="auto">
          <a:xfrm>
            <a:off x="7029451" y="3886200"/>
            <a:ext cx="621506" cy="310754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 sz="1350"/>
          </a:p>
        </p:txBody>
      </p:sp>
      <p:graphicFrame>
        <p:nvGraphicFramePr>
          <p:cNvPr id="43024" name="Object 2064"/>
          <p:cNvGraphicFramePr>
            <a:graphicFrameLocks noChangeAspect="1"/>
          </p:cNvGraphicFramePr>
          <p:nvPr/>
        </p:nvGraphicFramePr>
        <p:xfrm>
          <a:off x="5829300" y="3886200"/>
          <a:ext cx="3595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Bitmap Image" r:id="rId3" imgW="142933" imgH="181096" progId="Paint.Picture">
                  <p:embed/>
                </p:oleObj>
              </mc:Choice>
              <mc:Fallback>
                <p:oleObj name="Bitmap Image" r:id="rId3" imgW="142933" imgH="181096" progId="Paint.Picture">
                  <p:embed/>
                  <p:pic>
                    <p:nvPicPr>
                      <p:cNvPr id="43024" name="Object 2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886200"/>
                        <a:ext cx="359569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2065"/>
          <p:cNvGraphicFramePr>
            <a:graphicFrameLocks noChangeAspect="1"/>
          </p:cNvGraphicFramePr>
          <p:nvPr/>
        </p:nvGraphicFramePr>
        <p:xfrm>
          <a:off x="6400800" y="3886200"/>
          <a:ext cx="400050" cy="379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Bitmap Image" r:id="rId5" imgW="190426" imgH="181096" progId="Paint.Picture">
                  <p:embed/>
                </p:oleObj>
              </mc:Choice>
              <mc:Fallback>
                <p:oleObj name="Bitmap Image" r:id="rId5" imgW="190426" imgH="181096" progId="Paint.Picture">
                  <p:embed/>
                  <p:pic>
                    <p:nvPicPr>
                      <p:cNvPr id="43025" name="Object 2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886200"/>
                        <a:ext cx="400050" cy="379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6" name="Text Box 2066"/>
          <p:cNvSpPr txBox="1">
            <a:spLocks noChangeArrowheads="1"/>
          </p:cNvSpPr>
          <p:nvPr/>
        </p:nvSpPr>
        <p:spPr bwMode="auto">
          <a:xfrm>
            <a:off x="5314950" y="4400550"/>
            <a:ext cx="22288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/>
              <a:t>Objects</a:t>
            </a:r>
          </a:p>
        </p:txBody>
      </p:sp>
      <p:sp>
        <p:nvSpPr>
          <p:cNvPr id="43027" name="Line 2067"/>
          <p:cNvSpPr>
            <a:spLocks noChangeShapeType="1"/>
          </p:cNvSpPr>
          <p:nvPr/>
        </p:nvSpPr>
        <p:spPr bwMode="auto">
          <a:xfrm flipH="1">
            <a:off x="5486400" y="3608785"/>
            <a:ext cx="225029" cy="27741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28" name="Line 2068"/>
          <p:cNvSpPr>
            <a:spLocks noChangeShapeType="1"/>
          </p:cNvSpPr>
          <p:nvPr/>
        </p:nvSpPr>
        <p:spPr bwMode="auto">
          <a:xfrm flipH="1">
            <a:off x="6572251" y="3654028"/>
            <a:ext cx="116681" cy="2321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29" name="Line 2069"/>
          <p:cNvSpPr>
            <a:spLocks noChangeShapeType="1"/>
          </p:cNvSpPr>
          <p:nvPr/>
        </p:nvSpPr>
        <p:spPr bwMode="auto">
          <a:xfrm>
            <a:off x="5941219" y="3645694"/>
            <a:ext cx="116681" cy="24050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30" name="Line 2070"/>
          <p:cNvSpPr>
            <a:spLocks noChangeShapeType="1"/>
          </p:cNvSpPr>
          <p:nvPr/>
        </p:nvSpPr>
        <p:spPr bwMode="auto">
          <a:xfrm>
            <a:off x="6918723" y="3604023"/>
            <a:ext cx="282178" cy="28217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31" name="Line 2071"/>
          <p:cNvSpPr>
            <a:spLocks noChangeShapeType="1"/>
          </p:cNvSpPr>
          <p:nvPr/>
        </p:nvSpPr>
        <p:spPr bwMode="auto">
          <a:xfrm>
            <a:off x="6113860" y="1971676"/>
            <a:ext cx="246459" cy="59293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grpSp>
        <p:nvGrpSpPr>
          <p:cNvPr id="43032" name="Group 2072"/>
          <p:cNvGrpSpPr>
            <a:grpSpLocks/>
          </p:cNvGrpSpPr>
          <p:nvPr/>
        </p:nvGrpSpPr>
        <p:grpSpPr bwMode="auto">
          <a:xfrm>
            <a:off x="4000500" y="2743200"/>
            <a:ext cx="1085850" cy="1081088"/>
            <a:chOff x="2194" y="1283"/>
            <a:chExt cx="983" cy="979"/>
          </a:xfrm>
        </p:grpSpPr>
        <p:sp>
          <p:nvSpPr>
            <p:cNvPr id="43033" name="AutoShape 2073"/>
            <p:cNvSpPr>
              <a:spLocks noChangeArrowheads="1"/>
            </p:cNvSpPr>
            <p:nvPr/>
          </p:nvSpPr>
          <p:spPr bwMode="auto">
            <a:xfrm rot="8100000">
              <a:off x="2194" y="1283"/>
              <a:ext cx="983" cy="979"/>
            </a:xfrm>
            <a:prstGeom prst="rtTriangle">
              <a:avLst/>
            </a:pr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43034" name="Text Box 2074"/>
            <p:cNvSpPr txBox="1">
              <a:spLocks noChangeArrowheads="1"/>
            </p:cNvSpPr>
            <p:nvPr/>
          </p:nvSpPr>
          <p:spPr bwMode="auto">
            <a:xfrm>
              <a:off x="2208" y="1488"/>
              <a:ext cx="91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350"/>
                <a:t>Domain</a:t>
              </a:r>
            </a:p>
          </p:txBody>
        </p:sp>
      </p:grpSp>
      <p:sp>
        <p:nvSpPr>
          <p:cNvPr id="43035" name="Line 2075"/>
          <p:cNvSpPr>
            <a:spLocks noChangeShapeType="1"/>
          </p:cNvSpPr>
          <p:nvPr/>
        </p:nvSpPr>
        <p:spPr bwMode="auto">
          <a:xfrm flipH="1">
            <a:off x="4550569" y="1977628"/>
            <a:ext cx="25004" cy="5369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36" name="Text Box 2076"/>
          <p:cNvSpPr txBox="1">
            <a:spLocks noChangeArrowheads="1"/>
          </p:cNvSpPr>
          <p:nvPr/>
        </p:nvSpPr>
        <p:spPr bwMode="auto">
          <a:xfrm>
            <a:off x="4743450" y="2114550"/>
            <a:ext cx="1257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Tree</a:t>
            </a:r>
          </a:p>
        </p:txBody>
      </p:sp>
      <p:grpSp>
        <p:nvGrpSpPr>
          <p:cNvPr id="43037" name="Group 2077"/>
          <p:cNvGrpSpPr>
            <a:grpSpLocks/>
          </p:cNvGrpSpPr>
          <p:nvPr/>
        </p:nvGrpSpPr>
        <p:grpSpPr bwMode="auto">
          <a:xfrm>
            <a:off x="1314450" y="4114800"/>
            <a:ext cx="1007269" cy="796529"/>
            <a:chOff x="672" y="3069"/>
            <a:chExt cx="846" cy="669"/>
          </a:xfrm>
        </p:grpSpPr>
        <p:sp>
          <p:nvSpPr>
            <p:cNvPr id="43038" name="AutoShape 2078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43039" name="Text Box 2079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grpSp>
        <p:nvGrpSpPr>
          <p:cNvPr id="43040" name="Group 2080"/>
          <p:cNvGrpSpPr>
            <a:grpSpLocks/>
          </p:cNvGrpSpPr>
          <p:nvPr/>
        </p:nvGrpSpPr>
        <p:grpSpPr bwMode="auto">
          <a:xfrm>
            <a:off x="2000250" y="3200400"/>
            <a:ext cx="1007269" cy="796529"/>
            <a:chOff x="672" y="3069"/>
            <a:chExt cx="846" cy="669"/>
          </a:xfrm>
        </p:grpSpPr>
        <p:sp>
          <p:nvSpPr>
            <p:cNvPr id="43041" name="AutoShape 2081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43042" name="Text Box 2082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grpSp>
        <p:nvGrpSpPr>
          <p:cNvPr id="43043" name="Group 2083"/>
          <p:cNvGrpSpPr>
            <a:grpSpLocks/>
          </p:cNvGrpSpPr>
          <p:nvPr/>
        </p:nvGrpSpPr>
        <p:grpSpPr bwMode="auto">
          <a:xfrm>
            <a:off x="2628900" y="4114800"/>
            <a:ext cx="1007269" cy="796529"/>
            <a:chOff x="672" y="3069"/>
            <a:chExt cx="846" cy="669"/>
          </a:xfrm>
        </p:grpSpPr>
        <p:sp>
          <p:nvSpPr>
            <p:cNvPr id="43044" name="AutoShape 2084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43045" name="Text Box 2085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sp>
        <p:nvSpPr>
          <p:cNvPr id="43046" name="Text Box 2086"/>
          <p:cNvSpPr txBox="1">
            <a:spLocks noChangeArrowheads="1"/>
          </p:cNvSpPr>
          <p:nvPr/>
        </p:nvSpPr>
        <p:spPr bwMode="auto">
          <a:xfrm>
            <a:off x="2228851" y="3829050"/>
            <a:ext cx="49064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350"/>
              <a:t>Tree</a:t>
            </a:r>
          </a:p>
        </p:txBody>
      </p:sp>
      <p:sp>
        <p:nvSpPr>
          <p:cNvPr id="43047" name="Line 2087"/>
          <p:cNvSpPr>
            <a:spLocks noChangeShapeType="1"/>
          </p:cNvSpPr>
          <p:nvPr/>
        </p:nvSpPr>
        <p:spPr bwMode="auto">
          <a:xfrm flipH="1">
            <a:off x="2546748" y="1196579"/>
            <a:ext cx="2793206" cy="184070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48" name="Line 2088"/>
          <p:cNvSpPr>
            <a:spLocks noChangeShapeType="1"/>
          </p:cNvSpPr>
          <p:nvPr/>
        </p:nvSpPr>
        <p:spPr bwMode="auto">
          <a:xfrm flipH="1">
            <a:off x="1853803" y="3604022"/>
            <a:ext cx="117872" cy="347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49" name="Line 2089"/>
          <p:cNvSpPr>
            <a:spLocks noChangeShapeType="1"/>
          </p:cNvSpPr>
          <p:nvPr/>
        </p:nvSpPr>
        <p:spPr bwMode="auto">
          <a:xfrm>
            <a:off x="3107531" y="3600451"/>
            <a:ext cx="67866" cy="3464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43050" name="Text Box 2090"/>
          <p:cNvSpPr txBox="1">
            <a:spLocks noChangeArrowheads="1"/>
          </p:cNvSpPr>
          <p:nvPr/>
        </p:nvSpPr>
        <p:spPr bwMode="auto">
          <a:xfrm>
            <a:off x="2800350" y="2286000"/>
            <a:ext cx="12001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500"/>
              <a:t>Forest</a:t>
            </a:r>
          </a:p>
        </p:txBody>
      </p:sp>
    </p:spTree>
    <p:extLst>
      <p:ext uri="{BB962C8B-B14F-4D97-AF65-F5344CB8AC3E}">
        <p14:creationId xmlns:p14="http://schemas.microsoft.com/office/powerpoint/2010/main" val="392505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16844" y="171450"/>
            <a:ext cx="6323410" cy="892969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Which objects does Active Directory contain?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„old Friends “</a:t>
            </a:r>
          </a:p>
          <a:p>
            <a:pPr lvl="1"/>
            <a:r>
              <a:rPr lang="en-US" altLang="en-US"/>
              <a:t>User</a:t>
            </a:r>
          </a:p>
          <a:p>
            <a:pPr lvl="1"/>
            <a:r>
              <a:rPr lang="en-US" altLang="en-US"/>
              <a:t>Group</a:t>
            </a:r>
          </a:p>
          <a:p>
            <a:pPr lvl="1"/>
            <a:r>
              <a:rPr lang="en-US" altLang="en-US"/>
              <a:t>Computer</a:t>
            </a:r>
          </a:p>
          <a:p>
            <a:r>
              <a:rPr lang="en-US" altLang="en-US"/>
              <a:t>New Elements</a:t>
            </a:r>
          </a:p>
          <a:p>
            <a:pPr lvl="1"/>
            <a:r>
              <a:rPr lang="en-US" altLang="en-US"/>
              <a:t>Distribution Lists</a:t>
            </a:r>
          </a:p>
          <a:p>
            <a:pPr lvl="1"/>
            <a:r>
              <a:rPr lang="en-US" altLang="en-US"/>
              <a:t>System Policies</a:t>
            </a:r>
          </a:p>
          <a:p>
            <a:r>
              <a:rPr lang="en-US" altLang="en-US"/>
              <a:t>Application defined custom objects</a:t>
            </a:r>
          </a:p>
          <a:p>
            <a:r>
              <a:rPr lang="en-US" altLang="en-US"/>
              <a:t>Described in the Schema</a:t>
            </a:r>
          </a:p>
        </p:txBody>
      </p:sp>
    </p:spTree>
    <p:extLst>
      <p:ext uri="{BB962C8B-B14F-4D97-AF65-F5344CB8AC3E}">
        <p14:creationId xmlns:p14="http://schemas.microsoft.com/office/powerpoint/2010/main" val="141140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the Schema?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Definition of all AD</a:t>
            </a:r>
          </a:p>
          <a:p>
            <a:pPr lvl="1"/>
            <a:r>
              <a:rPr lang="en-US" altLang="en-US"/>
              <a:t>Object-Types (Classes)</a:t>
            </a:r>
          </a:p>
          <a:p>
            <a:pPr lvl="1"/>
            <a:r>
              <a:rPr lang="en-US" altLang="en-US"/>
              <a:t>Attributes</a:t>
            </a:r>
          </a:p>
          <a:p>
            <a:pPr lvl="1"/>
            <a:r>
              <a:rPr lang="en-US" altLang="en-US"/>
              <a:t>Data-Types (Syntaxes)</a:t>
            </a:r>
          </a:p>
          <a:p>
            <a:r>
              <a:rPr lang="en-US" altLang="en-US"/>
              <a:t>Can be compared to a Database Schema</a:t>
            </a:r>
          </a:p>
          <a:p>
            <a:r>
              <a:rPr lang="en-US" altLang="en-US"/>
              <a:t>ONE consistent Schema inside a single Forest</a:t>
            </a:r>
          </a:p>
          <a:p>
            <a:r>
              <a:rPr lang="en-US" altLang="en-US"/>
              <a:t>Extensible</a:t>
            </a:r>
          </a:p>
        </p:txBody>
      </p:sp>
    </p:spTree>
    <p:extLst>
      <p:ext uri="{BB962C8B-B14F-4D97-AF65-F5344CB8AC3E}">
        <p14:creationId xmlns:p14="http://schemas.microsoft.com/office/powerpoint/2010/main" val="287884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Domain?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AD Base Element (Building Block)</a:t>
            </a:r>
          </a:p>
          <a:p>
            <a:r>
              <a:rPr lang="en-US" altLang="en-US"/>
              <a:t>NT 4 Compatible</a:t>
            </a:r>
          </a:p>
          <a:p>
            <a:r>
              <a:rPr lang="en-US" altLang="en-US"/>
              <a:t>Physically Implemented on Domain Controllers (DC)</a:t>
            </a:r>
          </a:p>
          <a:p>
            <a:r>
              <a:rPr lang="en-US" altLang="en-US"/>
              <a:t>Border for</a:t>
            </a:r>
          </a:p>
          <a:p>
            <a:pPr lvl="1"/>
            <a:r>
              <a:rPr lang="en-US" altLang="en-US"/>
              <a:t>Replication Traffic</a:t>
            </a:r>
          </a:p>
          <a:p>
            <a:pPr lvl="1"/>
            <a:r>
              <a:rPr lang="en-US" altLang="en-US"/>
              <a:t>System Policies</a:t>
            </a:r>
          </a:p>
          <a:p>
            <a:pPr lvl="1"/>
            <a:r>
              <a:rPr lang="en-US" altLang="en-US"/>
              <a:t>Administration</a:t>
            </a:r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 rot="8100000">
            <a:off x="6057900" y="3086100"/>
            <a:ext cx="1085850" cy="1081088"/>
          </a:xfrm>
          <a:prstGeom prst="rtTriangle">
            <a:avLst/>
          </a:prstGeom>
          <a:gradFill rotWithShape="0">
            <a:gsLst>
              <a:gs pos="0">
                <a:srgbClr val="CC99FF">
                  <a:gamma/>
                  <a:shade val="46275"/>
                  <a:invGamma/>
                </a:srgbClr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6073379" y="3312319"/>
            <a:ext cx="1007269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en-US" sz="1350"/>
              <a:t>Firma.de</a:t>
            </a:r>
          </a:p>
        </p:txBody>
      </p:sp>
    </p:spTree>
    <p:extLst>
      <p:ext uri="{BB962C8B-B14F-4D97-AF65-F5344CB8AC3E}">
        <p14:creationId xmlns:p14="http://schemas.microsoft.com/office/powerpoint/2010/main" val="37623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16844" y="171450"/>
            <a:ext cx="6323410" cy="892969"/>
          </a:xfrm>
        </p:spPr>
        <p:txBody>
          <a:bodyPr/>
          <a:lstStyle/>
          <a:p>
            <a:r>
              <a:rPr lang="en-US" altLang="en-US"/>
              <a:t>What is an Organizational Unit (OU)?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Implements a Structure inside a Domain</a:t>
            </a:r>
          </a:p>
          <a:p>
            <a:r>
              <a:rPr lang="en-US" altLang="en-US"/>
              <a:t>Can be nested as needed</a:t>
            </a:r>
          </a:p>
          <a:p>
            <a:r>
              <a:rPr lang="en-US" altLang="en-US"/>
              <a:t>Can </a:t>
            </a:r>
            <a:r>
              <a:rPr lang="en-US" altLang="en-US" u="sng"/>
              <a:t>not</a:t>
            </a:r>
            <a:r>
              <a:rPr lang="en-US" altLang="en-US"/>
              <a:t> be assigned any rights</a:t>
            </a:r>
          </a:p>
          <a:p>
            <a:r>
              <a:rPr lang="en-US" altLang="en-US"/>
              <a:t>Typically used for Administrative Reasons</a:t>
            </a:r>
          </a:p>
          <a:p>
            <a:pPr lvl="1"/>
            <a:r>
              <a:rPr lang="en-US" altLang="en-US"/>
              <a:t>e.g. System Policies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5257800" y="3486151"/>
            <a:ext cx="586979" cy="621506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900"/>
              <a:t>LA</a:t>
            </a: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H="1">
            <a:off x="5200651" y="4057650"/>
            <a:ext cx="173831" cy="16311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6343650" y="4171951"/>
            <a:ext cx="586979" cy="621506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900"/>
              <a:t>Admin</a:t>
            </a: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6686550" y="3486151"/>
            <a:ext cx="586979" cy="621506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900"/>
              <a:t>New York</a:t>
            </a: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5600700" y="4171951"/>
            <a:ext cx="586979" cy="621506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900"/>
              <a:t>Sales</a:t>
            </a: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4800600" y="4171951"/>
            <a:ext cx="586979" cy="621506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900"/>
              <a:t>Admin</a:t>
            </a: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7086600" y="4171951"/>
            <a:ext cx="586979" cy="621506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900"/>
              <a:t>Sales</a:t>
            </a:r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5738812" y="4032647"/>
            <a:ext cx="101204" cy="14168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>
            <a:off x="7143750" y="4057650"/>
            <a:ext cx="101204" cy="14168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 flipH="1">
            <a:off x="6654403" y="4032648"/>
            <a:ext cx="127397" cy="14882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</p:spTree>
    <p:extLst>
      <p:ext uri="{BB962C8B-B14F-4D97-AF65-F5344CB8AC3E}">
        <p14:creationId xmlns:p14="http://schemas.microsoft.com/office/powerpoint/2010/main" val="281939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Tree?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0" y="1143001"/>
            <a:ext cx="6311504" cy="3680222"/>
          </a:xfrm>
        </p:spPr>
        <p:txBody>
          <a:bodyPr/>
          <a:lstStyle/>
          <a:p>
            <a:r>
              <a:rPr lang="en-US" altLang="en-US"/>
              <a:t>Hierarchical Domain Structure inside a single Namespace</a:t>
            </a:r>
          </a:p>
          <a:p>
            <a:pPr lvl="1"/>
            <a:r>
              <a:rPr lang="en-US" altLang="en-US"/>
              <a:t>adiscon.com</a:t>
            </a:r>
          </a:p>
          <a:p>
            <a:pPr lvl="1"/>
            <a:r>
              <a:rPr lang="en-US" altLang="en-US"/>
              <a:t>la.adiscon.com</a:t>
            </a:r>
          </a:p>
          <a:p>
            <a:pPr lvl="1"/>
            <a:r>
              <a:rPr lang="en-US" altLang="en-US"/>
              <a:t>ny.adiscon.com</a:t>
            </a:r>
          </a:p>
          <a:p>
            <a:r>
              <a:rPr lang="en-US" altLang="en-US"/>
              <a:t>Transitive Trusts created automatically</a:t>
            </a:r>
          </a:p>
          <a:p>
            <a:r>
              <a:rPr lang="en-US" altLang="en-US"/>
              <a:t>Sub-Domain must be added to Root-Domain – otherwise there will be no tree!</a:t>
            </a:r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 rot="8100000">
            <a:off x="5456635" y="2686050"/>
            <a:ext cx="800100" cy="796529"/>
          </a:xfrm>
          <a:prstGeom prst="rtTriangle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5314950" y="2914650"/>
            <a:ext cx="1007269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750"/>
              <a:t>la.adiscon.com</a:t>
            </a:r>
          </a:p>
        </p:txBody>
      </p:sp>
      <p:grpSp>
        <p:nvGrpSpPr>
          <p:cNvPr id="7175" name="Group 7"/>
          <p:cNvGrpSpPr>
            <a:grpSpLocks/>
          </p:cNvGrpSpPr>
          <p:nvPr/>
        </p:nvGrpSpPr>
        <p:grpSpPr bwMode="auto">
          <a:xfrm>
            <a:off x="6000750" y="1771650"/>
            <a:ext cx="1007269" cy="796529"/>
            <a:chOff x="672" y="3069"/>
            <a:chExt cx="846" cy="669"/>
          </a:xfrm>
        </p:grpSpPr>
        <p:sp>
          <p:nvSpPr>
            <p:cNvPr id="7176" name="AutoShape 8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adiscon.com</a:t>
              </a:r>
            </a:p>
          </p:txBody>
        </p:sp>
      </p:grpSp>
      <p:sp>
        <p:nvSpPr>
          <p:cNvPr id="7179" name="AutoShape 11"/>
          <p:cNvSpPr>
            <a:spLocks noChangeArrowheads="1"/>
          </p:cNvSpPr>
          <p:nvPr/>
        </p:nvSpPr>
        <p:spPr bwMode="auto">
          <a:xfrm rot="8100000">
            <a:off x="6771085" y="2680098"/>
            <a:ext cx="800100" cy="796528"/>
          </a:xfrm>
          <a:prstGeom prst="rtTriangle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6686550" y="2914650"/>
            <a:ext cx="1007269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750"/>
              <a:t>ny.adiscon.com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6229351" y="2400300"/>
            <a:ext cx="49064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350"/>
              <a:t>Tree</a:t>
            </a:r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 flipH="1">
            <a:off x="5854303" y="2175272"/>
            <a:ext cx="117872" cy="347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7108031" y="2171701"/>
            <a:ext cx="67866" cy="3464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</p:spTree>
    <p:extLst>
      <p:ext uri="{BB962C8B-B14F-4D97-AF65-F5344CB8AC3E}">
        <p14:creationId xmlns:p14="http://schemas.microsoft.com/office/powerpoint/2010/main" val="168309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Forest?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Combination of Trees</a:t>
            </a:r>
          </a:p>
          <a:p>
            <a:r>
              <a:rPr lang="en-US" altLang="en-US"/>
              <a:t>Disjunct Namespaces</a:t>
            </a:r>
          </a:p>
          <a:p>
            <a:pPr lvl="1"/>
            <a:r>
              <a:rPr lang="en-US" altLang="en-US"/>
              <a:t>adiscon.de</a:t>
            </a:r>
          </a:p>
          <a:p>
            <a:pPr lvl="1"/>
            <a:r>
              <a:rPr lang="en-US" altLang="en-US"/>
              <a:t>adiscon.com</a:t>
            </a:r>
          </a:p>
          <a:p>
            <a:r>
              <a:rPr lang="en-US" altLang="en-US"/>
              <a:t>Transitive Trusts created automatically</a:t>
            </a:r>
          </a:p>
          <a:p>
            <a:r>
              <a:rPr lang="en-US" altLang="en-US"/>
              <a:t>There is one single tree-root!</a:t>
            </a:r>
          </a:p>
          <a:p>
            <a:r>
              <a:rPr lang="en-US" altLang="en-US"/>
              <a:t>Sub-Tree must be added to Root-Tree, otherwise no Forest will be created</a:t>
            </a:r>
          </a:p>
        </p:txBody>
      </p:sp>
    </p:spTree>
    <p:extLst>
      <p:ext uri="{BB962C8B-B14F-4D97-AF65-F5344CB8AC3E}">
        <p14:creationId xmlns:p14="http://schemas.microsoft.com/office/powerpoint/2010/main" val="3506219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8" name="Group 1030"/>
          <p:cNvGrpSpPr>
            <a:grpSpLocks/>
          </p:cNvGrpSpPr>
          <p:nvPr/>
        </p:nvGrpSpPr>
        <p:grpSpPr bwMode="auto">
          <a:xfrm>
            <a:off x="4800600" y="1718072"/>
            <a:ext cx="1085850" cy="1081088"/>
            <a:chOff x="2194" y="1283"/>
            <a:chExt cx="983" cy="979"/>
          </a:xfrm>
        </p:grpSpPr>
        <p:sp>
          <p:nvSpPr>
            <p:cNvPr id="54279" name="AutoShape 1031"/>
            <p:cNvSpPr>
              <a:spLocks noChangeArrowheads="1"/>
            </p:cNvSpPr>
            <p:nvPr/>
          </p:nvSpPr>
          <p:spPr bwMode="auto">
            <a:xfrm rot="8100000">
              <a:off x="2194" y="1283"/>
              <a:ext cx="983" cy="979"/>
            </a:xfrm>
            <a:prstGeom prst="rtTriangle">
              <a:avLst/>
            </a:pr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54280" name="Text Box 1032"/>
            <p:cNvSpPr txBox="1">
              <a:spLocks noChangeArrowheads="1"/>
            </p:cNvSpPr>
            <p:nvPr/>
          </p:nvSpPr>
          <p:spPr bwMode="auto">
            <a:xfrm>
              <a:off x="2208" y="1488"/>
              <a:ext cx="91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350"/>
                <a:t>Domain</a:t>
              </a:r>
            </a:p>
          </p:txBody>
        </p:sp>
      </p:grpSp>
      <p:sp>
        <p:nvSpPr>
          <p:cNvPr id="54317" name="Line 1069"/>
          <p:cNvSpPr>
            <a:spLocks noChangeShapeType="1"/>
          </p:cNvSpPr>
          <p:nvPr/>
        </p:nvSpPr>
        <p:spPr bwMode="auto">
          <a:xfrm>
            <a:off x="4800600" y="1143000"/>
            <a:ext cx="571500" cy="7429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Tree-Root</a:t>
            </a:r>
          </a:p>
        </p:txBody>
      </p:sp>
      <p:sp>
        <p:nvSpPr>
          <p:cNvPr id="54276" name="Rectangle 1028"/>
          <p:cNvSpPr>
            <a:spLocks noChangeArrowheads="1"/>
          </p:cNvSpPr>
          <p:nvPr/>
        </p:nvSpPr>
        <p:spPr bwMode="auto">
          <a:xfrm>
            <a:off x="407194" y="1363106"/>
            <a:ext cx="6457950" cy="133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6922" tIns="34529" rIns="136922" bIns="34529"/>
          <a:lstStyle>
            <a:lvl1pPr marL="476250" indent="-4762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4075" indent="-376238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31900" indent="-376238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252663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443163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9003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575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147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27196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1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First Domain installed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1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Single Schema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1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Absolutely vital!</a:t>
            </a:r>
          </a:p>
        </p:txBody>
      </p:sp>
      <p:sp>
        <p:nvSpPr>
          <p:cNvPr id="54315" name="AutoShape 1067"/>
          <p:cNvSpPr>
            <a:spLocks noChangeArrowheads="1"/>
          </p:cNvSpPr>
          <p:nvPr/>
        </p:nvSpPr>
        <p:spPr bwMode="auto">
          <a:xfrm rot="8100000">
            <a:off x="5314950" y="3288506"/>
            <a:ext cx="2084785" cy="2076450"/>
          </a:xfrm>
          <a:prstGeom prst="rtTriangle">
            <a:avLst/>
          </a:prstGeom>
          <a:gradFill rotWithShape="0">
            <a:gsLst>
              <a:gs pos="0">
                <a:srgbClr val="CC99FF">
                  <a:gamma/>
                  <a:shade val="46275"/>
                  <a:invGamma/>
                </a:srgbClr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54287" name="printer2"/>
          <p:cNvSpPr>
            <a:spLocks noEditPoints="1" noChangeArrowheads="1"/>
          </p:cNvSpPr>
          <p:nvPr/>
        </p:nvSpPr>
        <p:spPr bwMode="auto">
          <a:xfrm>
            <a:off x="7029451" y="4175523"/>
            <a:ext cx="621506" cy="310753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 sz="1350"/>
          </a:p>
        </p:txBody>
      </p:sp>
      <p:sp>
        <p:nvSpPr>
          <p:cNvPr id="54277" name="Oval 1029"/>
          <p:cNvSpPr>
            <a:spLocks noChangeArrowheads="1"/>
          </p:cNvSpPr>
          <p:nvPr/>
        </p:nvSpPr>
        <p:spPr bwMode="auto">
          <a:xfrm>
            <a:off x="6172200" y="3146823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54281" name="Text Box 1033"/>
          <p:cNvSpPr txBox="1">
            <a:spLocks noChangeArrowheads="1"/>
          </p:cNvSpPr>
          <p:nvPr/>
        </p:nvSpPr>
        <p:spPr bwMode="auto">
          <a:xfrm>
            <a:off x="5543550" y="3432572"/>
            <a:ext cx="162401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/>
              <a:t>Domain</a:t>
            </a:r>
          </a:p>
        </p:txBody>
      </p:sp>
      <p:sp>
        <p:nvSpPr>
          <p:cNvPr id="54282" name="Oval 1034"/>
          <p:cNvSpPr>
            <a:spLocks noChangeArrowheads="1"/>
          </p:cNvSpPr>
          <p:nvPr/>
        </p:nvSpPr>
        <p:spPr bwMode="auto">
          <a:xfrm>
            <a:off x="6572250" y="3604023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54283" name="Oval 1035"/>
          <p:cNvSpPr>
            <a:spLocks noChangeArrowheads="1"/>
          </p:cNvSpPr>
          <p:nvPr/>
        </p:nvSpPr>
        <p:spPr bwMode="auto">
          <a:xfrm>
            <a:off x="5657850" y="3604023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54284" name="Line 1036"/>
          <p:cNvSpPr>
            <a:spLocks noChangeShapeType="1"/>
          </p:cNvSpPr>
          <p:nvPr/>
        </p:nvSpPr>
        <p:spPr bwMode="auto">
          <a:xfrm flipH="1" flipV="1">
            <a:off x="6515100" y="3432572"/>
            <a:ext cx="147638" cy="200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85" name="Line 1037"/>
          <p:cNvSpPr>
            <a:spLocks noChangeShapeType="1"/>
          </p:cNvSpPr>
          <p:nvPr/>
        </p:nvSpPr>
        <p:spPr bwMode="auto">
          <a:xfrm flipH="1">
            <a:off x="6000750" y="3432572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86" name="computr2"/>
          <p:cNvSpPr>
            <a:spLocks noEditPoints="1" noChangeArrowheads="1"/>
          </p:cNvSpPr>
          <p:nvPr/>
        </p:nvSpPr>
        <p:spPr bwMode="auto">
          <a:xfrm>
            <a:off x="5257800" y="4175522"/>
            <a:ext cx="457200" cy="457200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 sz="1350"/>
          </a:p>
        </p:txBody>
      </p:sp>
      <p:graphicFrame>
        <p:nvGraphicFramePr>
          <p:cNvPr id="54288" name="Object 1040"/>
          <p:cNvGraphicFramePr>
            <a:graphicFrameLocks noChangeAspect="1"/>
          </p:cNvGraphicFramePr>
          <p:nvPr/>
        </p:nvGraphicFramePr>
        <p:xfrm>
          <a:off x="5829300" y="4175522"/>
          <a:ext cx="3595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Bitmap Image" r:id="rId3" imgW="142933" imgH="181096" progId="Paint.Picture">
                  <p:embed/>
                </p:oleObj>
              </mc:Choice>
              <mc:Fallback>
                <p:oleObj name="Bitmap Image" r:id="rId3" imgW="142933" imgH="181096" progId="Paint.Picture">
                  <p:embed/>
                  <p:pic>
                    <p:nvPicPr>
                      <p:cNvPr id="54288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4175522"/>
                        <a:ext cx="359569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9" name="Object 1041"/>
          <p:cNvGraphicFramePr>
            <a:graphicFrameLocks noChangeAspect="1"/>
          </p:cNvGraphicFramePr>
          <p:nvPr/>
        </p:nvGraphicFramePr>
        <p:xfrm>
          <a:off x="6400800" y="4175522"/>
          <a:ext cx="400050" cy="379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Bitmap Image" r:id="rId5" imgW="190426" imgH="181096" progId="Paint.Picture">
                  <p:embed/>
                </p:oleObj>
              </mc:Choice>
              <mc:Fallback>
                <p:oleObj name="Bitmap Image" r:id="rId5" imgW="190426" imgH="181096" progId="Paint.Picture">
                  <p:embed/>
                  <p:pic>
                    <p:nvPicPr>
                      <p:cNvPr id="54289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175522"/>
                        <a:ext cx="400050" cy="379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0" name="Text Box 1042"/>
          <p:cNvSpPr txBox="1">
            <a:spLocks noChangeArrowheads="1"/>
          </p:cNvSpPr>
          <p:nvPr/>
        </p:nvSpPr>
        <p:spPr bwMode="auto">
          <a:xfrm>
            <a:off x="5314950" y="4689872"/>
            <a:ext cx="22288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/>
              <a:t>Objects</a:t>
            </a:r>
          </a:p>
        </p:txBody>
      </p:sp>
      <p:sp>
        <p:nvSpPr>
          <p:cNvPr id="54291" name="Line 1043"/>
          <p:cNvSpPr>
            <a:spLocks noChangeShapeType="1"/>
          </p:cNvSpPr>
          <p:nvPr/>
        </p:nvSpPr>
        <p:spPr bwMode="auto">
          <a:xfrm flipH="1">
            <a:off x="5486400" y="3898106"/>
            <a:ext cx="225029" cy="27741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92" name="Line 1044"/>
          <p:cNvSpPr>
            <a:spLocks noChangeShapeType="1"/>
          </p:cNvSpPr>
          <p:nvPr/>
        </p:nvSpPr>
        <p:spPr bwMode="auto">
          <a:xfrm flipH="1">
            <a:off x="6572251" y="3943351"/>
            <a:ext cx="116681" cy="2321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93" name="Line 1045"/>
          <p:cNvSpPr>
            <a:spLocks noChangeShapeType="1"/>
          </p:cNvSpPr>
          <p:nvPr/>
        </p:nvSpPr>
        <p:spPr bwMode="auto">
          <a:xfrm>
            <a:off x="5941219" y="3935017"/>
            <a:ext cx="116681" cy="24050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94" name="Line 1046"/>
          <p:cNvSpPr>
            <a:spLocks noChangeShapeType="1"/>
          </p:cNvSpPr>
          <p:nvPr/>
        </p:nvSpPr>
        <p:spPr bwMode="auto">
          <a:xfrm>
            <a:off x="6918723" y="3893344"/>
            <a:ext cx="282178" cy="28217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295" name="Line 1047"/>
          <p:cNvSpPr>
            <a:spLocks noChangeShapeType="1"/>
          </p:cNvSpPr>
          <p:nvPr/>
        </p:nvSpPr>
        <p:spPr bwMode="auto">
          <a:xfrm>
            <a:off x="6113860" y="2260998"/>
            <a:ext cx="246459" cy="59293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grpSp>
        <p:nvGrpSpPr>
          <p:cNvPr id="54296" name="Group 1048"/>
          <p:cNvGrpSpPr>
            <a:grpSpLocks/>
          </p:cNvGrpSpPr>
          <p:nvPr/>
        </p:nvGrpSpPr>
        <p:grpSpPr bwMode="auto">
          <a:xfrm>
            <a:off x="4000500" y="3032522"/>
            <a:ext cx="1085850" cy="1081088"/>
            <a:chOff x="2194" y="1283"/>
            <a:chExt cx="983" cy="979"/>
          </a:xfrm>
        </p:grpSpPr>
        <p:sp>
          <p:nvSpPr>
            <p:cNvPr id="54297" name="AutoShape 1049"/>
            <p:cNvSpPr>
              <a:spLocks noChangeArrowheads="1"/>
            </p:cNvSpPr>
            <p:nvPr/>
          </p:nvSpPr>
          <p:spPr bwMode="auto">
            <a:xfrm rot="8100000">
              <a:off x="2194" y="1283"/>
              <a:ext cx="983" cy="979"/>
            </a:xfrm>
            <a:prstGeom prst="rtTriangle">
              <a:avLst/>
            </a:pr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54298" name="Text Box 1050"/>
            <p:cNvSpPr txBox="1">
              <a:spLocks noChangeArrowheads="1"/>
            </p:cNvSpPr>
            <p:nvPr/>
          </p:nvSpPr>
          <p:spPr bwMode="auto">
            <a:xfrm>
              <a:off x="2208" y="1488"/>
              <a:ext cx="91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350"/>
                <a:t>Domain</a:t>
              </a:r>
            </a:p>
          </p:txBody>
        </p:sp>
      </p:grpSp>
      <p:sp>
        <p:nvSpPr>
          <p:cNvPr id="54299" name="Line 1051"/>
          <p:cNvSpPr>
            <a:spLocks noChangeShapeType="1"/>
          </p:cNvSpPr>
          <p:nvPr/>
        </p:nvSpPr>
        <p:spPr bwMode="auto">
          <a:xfrm flipH="1">
            <a:off x="4550569" y="2266951"/>
            <a:ext cx="25004" cy="5369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300" name="Text Box 1052"/>
          <p:cNvSpPr txBox="1">
            <a:spLocks noChangeArrowheads="1"/>
          </p:cNvSpPr>
          <p:nvPr/>
        </p:nvSpPr>
        <p:spPr bwMode="auto">
          <a:xfrm>
            <a:off x="4743450" y="2403872"/>
            <a:ext cx="1257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Tree</a:t>
            </a:r>
          </a:p>
        </p:txBody>
      </p:sp>
      <p:grpSp>
        <p:nvGrpSpPr>
          <p:cNvPr id="54301" name="Group 1053"/>
          <p:cNvGrpSpPr>
            <a:grpSpLocks/>
          </p:cNvGrpSpPr>
          <p:nvPr/>
        </p:nvGrpSpPr>
        <p:grpSpPr bwMode="auto">
          <a:xfrm>
            <a:off x="1314450" y="4404123"/>
            <a:ext cx="1007269" cy="796528"/>
            <a:chOff x="672" y="3069"/>
            <a:chExt cx="846" cy="669"/>
          </a:xfrm>
        </p:grpSpPr>
        <p:sp>
          <p:nvSpPr>
            <p:cNvPr id="54302" name="AutoShape 1054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54303" name="Text Box 1055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grpSp>
        <p:nvGrpSpPr>
          <p:cNvPr id="54304" name="Group 1056"/>
          <p:cNvGrpSpPr>
            <a:grpSpLocks/>
          </p:cNvGrpSpPr>
          <p:nvPr/>
        </p:nvGrpSpPr>
        <p:grpSpPr bwMode="auto">
          <a:xfrm>
            <a:off x="2000250" y="3489723"/>
            <a:ext cx="1007269" cy="796528"/>
            <a:chOff x="672" y="3069"/>
            <a:chExt cx="846" cy="669"/>
          </a:xfrm>
        </p:grpSpPr>
        <p:sp>
          <p:nvSpPr>
            <p:cNvPr id="54305" name="AutoShape 1057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54306" name="Text Box 1058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grpSp>
        <p:nvGrpSpPr>
          <p:cNvPr id="54307" name="Group 1059"/>
          <p:cNvGrpSpPr>
            <a:grpSpLocks/>
          </p:cNvGrpSpPr>
          <p:nvPr/>
        </p:nvGrpSpPr>
        <p:grpSpPr bwMode="auto">
          <a:xfrm>
            <a:off x="2628900" y="4404123"/>
            <a:ext cx="1007269" cy="796528"/>
            <a:chOff x="672" y="3069"/>
            <a:chExt cx="846" cy="669"/>
          </a:xfrm>
        </p:grpSpPr>
        <p:sp>
          <p:nvSpPr>
            <p:cNvPr id="54308" name="AutoShape 1060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54309" name="Text Box 1061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sp>
        <p:nvSpPr>
          <p:cNvPr id="54310" name="Text Box 1062"/>
          <p:cNvSpPr txBox="1">
            <a:spLocks noChangeArrowheads="1"/>
          </p:cNvSpPr>
          <p:nvPr/>
        </p:nvSpPr>
        <p:spPr bwMode="auto">
          <a:xfrm>
            <a:off x="2228851" y="4118372"/>
            <a:ext cx="49064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350"/>
              <a:t>Tree</a:t>
            </a:r>
          </a:p>
        </p:txBody>
      </p:sp>
      <p:sp>
        <p:nvSpPr>
          <p:cNvPr id="54311" name="Line 1063"/>
          <p:cNvSpPr>
            <a:spLocks noChangeShapeType="1"/>
          </p:cNvSpPr>
          <p:nvPr/>
        </p:nvSpPr>
        <p:spPr bwMode="auto">
          <a:xfrm flipH="1">
            <a:off x="2546748" y="1485901"/>
            <a:ext cx="2793206" cy="184070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312" name="Line 1064"/>
          <p:cNvSpPr>
            <a:spLocks noChangeShapeType="1"/>
          </p:cNvSpPr>
          <p:nvPr/>
        </p:nvSpPr>
        <p:spPr bwMode="auto">
          <a:xfrm flipH="1">
            <a:off x="1853803" y="3893344"/>
            <a:ext cx="117872" cy="347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313" name="Line 1065"/>
          <p:cNvSpPr>
            <a:spLocks noChangeShapeType="1"/>
          </p:cNvSpPr>
          <p:nvPr/>
        </p:nvSpPr>
        <p:spPr bwMode="auto">
          <a:xfrm>
            <a:off x="3107531" y="3889772"/>
            <a:ext cx="67866" cy="3464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54314" name="Text Box 1066"/>
          <p:cNvSpPr txBox="1">
            <a:spLocks noChangeArrowheads="1"/>
          </p:cNvSpPr>
          <p:nvPr/>
        </p:nvSpPr>
        <p:spPr bwMode="auto">
          <a:xfrm>
            <a:off x="2800350" y="2575323"/>
            <a:ext cx="12001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500"/>
              <a:t>Forest</a:t>
            </a:r>
          </a:p>
        </p:txBody>
      </p:sp>
    </p:spTree>
    <p:extLst>
      <p:ext uri="{BB962C8B-B14F-4D97-AF65-F5344CB8AC3E}">
        <p14:creationId xmlns:p14="http://schemas.microsoft.com/office/powerpoint/2010/main" val="3019140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Modeling the physical Structure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 related to logical Structure</a:t>
            </a:r>
          </a:p>
          <a:p>
            <a:r>
              <a:rPr lang="en-US" altLang="en-US"/>
              <a:t>Modeled via „Sites“</a:t>
            </a:r>
          </a:p>
          <a:p>
            <a:r>
              <a:rPr lang="en-US" altLang="en-US"/>
              <a:t>A site is well connected via fast Network Links</a:t>
            </a:r>
          </a:p>
          <a:p>
            <a:r>
              <a:rPr lang="en-US" altLang="en-US"/>
              <a:t>One Site can home multiple Domains</a:t>
            </a:r>
          </a:p>
          <a:p>
            <a:r>
              <a:rPr lang="en-US" altLang="en-US"/>
              <a:t>One Domain can spread across many Sites</a:t>
            </a:r>
          </a:p>
          <a:p>
            <a:r>
              <a:rPr lang="en-US" altLang="en-US"/>
              <a:t>Domain Database is stored on Domain Controllers</a:t>
            </a:r>
          </a:p>
        </p:txBody>
      </p:sp>
    </p:spTree>
    <p:extLst>
      <p:ext uri="{BB962C8B-B14F-4D97-AF65-F5344CB8AC3E}">
        <p14:creationId xmlns:p14="http://schemas.microsoft.com/office/powerpoint/2010/main" val="4053618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95" name="Oval 1043"/>
          <p:cNvSpPr>
            <a:spLocks noChangeArrowheads="1"/>
          </p:cNvSpPr>
          <p:nvPr/>
        </p:nvSpPr>
        <p:spPr bwMode="auto">
          <a:xfrm>
            <a:off x="5086350" y="1943100"/>
            <a:ext cx="2514600" cy="2686050"/>
          </a:xfrm>
          <a:prstGeom prst="ellipse">
            <a:avLst/>
          </a:prstGeom>
          <a:solidFill>
            <a:srgbClr val="666699"/>
          </a:solidFill>
          <a:ln w="381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1350"/>
              <a:t>Site New York</a:t>
            </a:r>
          </a:p>
          <a:p>
            <a:endParaRPr lang="de-DE" altLang="en-US" sz="1350"/>
          </a:p>
        </p:txBody>
      </p:sp>
      <p:sp>
        <p:nvSpPr>
          <p:cNvPr id="75793" name="Oval 1041"/>
          <p:cNvSpPr>
            <a:spLocks noChangeArrowheads="1"/>
          </p:cNvSpPr>
          <p:nvPr/>
        </p:nvSpPr>
        <p:spPr bwMode="auto">
          <a:xfrm>
            <a:off x="2114550" y="1943100"/>
            <a:ext cx="2514600" cy="2686050"/>
          </a:xfrm>
          <a:prstGeom prst="ellipse">
            <a:avLst/>
          </a:prstGeom>
          <a:solidFill>
            <a:srgbClr val="C0C0C0"/>
          </a:solidFill>
          <a:ln w="381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de-DE" altLang="en-US" sz="1350"/>
              <a:t>Site LA</a:t>
            </a:r>
          </a:p>
          <a:p>
            <a:endParaRPr lang="de-DE" altLang="en-US" sz="1350"/>
          </a:p>
        </p:txBody>
      </p:sp>
      <p:sp>
        <p:nvSpPr>
          <p:cNvPr id="7577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Sample Site Structure</a:t>
            </a:r>
          </a:p>
        </p:txBody>
      </p:sp>
      <p:sp>
        <p:nvSpPr>
          <p:cNvPr id="75780" name="Rectangle 1028"/>
          <p:cNvSpPr>
            <a:spLocks noGrp="1" noChangeArrowheads="1"/>
          </p:cNvSpPr>
          <p:nvPr>
            <p:ph type="body" sz="half" idx="2"/>
          </p:nvPr>
        </p:nvSpPr>
        <p:spPr>
          <a:xfrm>
            <a:off x="1485900" y="800101"/>
            <a:ext cx="3200400" cy="82272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/>
              <a:t>Logical and physical Structure are totally independent of each other!</a:t>
            </a:r>
          </a:p>
        </p:txBody>
      </p:sp>
      <p:sp>
        <p:nvSpPr>
          <p:cNvPr id="75785" name="AutoShape 1033"/>
          <p:cNvSpPr>
            <a:spLocks noChangeArrowheads="1"/>
          </p:cNvSpPr>
          <p:nvPr/>
        </p:nvSpPr>
        <p:spPr bwMode="auto">
          <a:xfrm rot="8100000">
            <a:off x="3943350" y="1714500"/>
            <a:ext cx="1881188" cy="1872854"/>
          </a:xfrm>
          <a:prstGeom prst="rtTriangle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75786" name="Text Box 1034"/>
          <p:cNvSpPr txBox="1">
            <a:spLocks noChangeArrowheads="1"/>
          </p:cNvSpPr>
          <p:nvPr/>
        </p:nvSpPr>
        <p:spPr bwMode="auto">
          <a:xfrm>
            <a:off x="3543300" y="2400300"/>
            <a:ext cx="3093244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en-US" sz="1050"/>
              <a:t>Adiscon.com</a:t>
            </a:r>
          </a:p>
        </p:txBody>
      </p:sp>
      <p:grpSp>
        <p:nvGrpSpPr>
          <p:cNvPr id="75796" name="Group 1044"/>
          <p:cNvGrpSpPr>
            <a:grpSpLocks/>
          </p:cNvGrpSpPr>
          <p:nvPr/>
        </p:nvGrpSpPr>
        <p:grpSpPr bwMode="auto">
          <a:xfrm>
            <a:off x="6057900" y="3657600"/>
            <a:ext cx="1007269" cy="796529"/>
            <a:chOff x="3984" y="3024"/>
            <a:chExt cx="846" cy="669"/>
          </a:xfrm>
        </p:grpSpPr>
        <p:sp>
          <p:nvSpPr>
            <p:cNvPr id="75787" name="AutoShape 1035"/>
            <p:cNvSpPr>
              <a:spLocks noChangeArrowheads="1"/>
            </p:cNvSpPr>
            <p:nvPr/>
          </p:nvSpPr>
          <p:spPr bwMode="auto">
            <a:xfrm rot="8100000">
              <a:off x="4080" y="3024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5788" name="Text Box 1036"/>
            <p:cNvSpPr txBox="1">
              <a:spLocks noChangeArrowheads="1"/>
            </p:cNvSpPr>
            <p:nvPr/>
          </p:nvSpPr>
          <p:spPr bwMode="auto">
            <a:xfrm>
              <a:off x="3984" y="3216"/>
              <a:ext cx="846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altLang="en-US" sz="750"/>
                <a:t>sales.adiscon.com</a:t>
              </a:r>
            </a:p>
          </p:txBody>
        </p:sp>
      </p:grpSp>
      <p:sp>
        <p:nvSpPr>
          <p:cNvPr id="75782" name="AutoShape 1030"/>
          <p:cNvSpPr>
            <a:spLocks noChangeArrowheads="1"/>
          </p:cNvSpPr>
          <p:nvPr/>
        </p:nvSpPr>
        <p:spPr bwMode="auto">
          <a:xfrm rot="8100000">
            <a:off x="2999185" y="3596879"/>
            <a:ext cx="800100" cy="796528"/>
          </a:xfrm>
          <a:prstGeom prst="rtTriangle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75783" name="Text Box 1031"/>
          <p:cNvSpPr txBox="1">
            <a:spLocks noChangeArrowheads="1"/>
          </p:cNvSpPr>
          <p:nvPr/>
        </p:nvSpPr>
        <p:spPr bwMode="auto">
          <a:xfrm>
            <a:off x="2857500" y="3825479"/>
            <a:ext cx="1007269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en-US" sz="750"/>
              <a:t>sales.adiscon.com</a:t>
            </a:r>
          </a:p>
        </p:txBody>
      </p:sp>
      <p:sp>
        <p:nvSpPr>
          <p:cNvPr id="75790" name="Line 1038"/>
          <p:cNvSpPr>
            <a:spLocks noChangeShapeType="1"/>
          </p:cNvSpPr>
          <p:nvPr/>
        </p:nvSpPr>
        <p:spPr bwMode="auto">
          <a:xfrm flipH="1">
            <a:off x="3396854" y="2651523"/>
            <a:ext cx="158353" cy="78224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5797" name="Line 1045"/>
          <p:cNvSpPr>
            <a:spLocks noChangeShapeType="1"/>
          </p:cNvSpPr>
          <p:nvPr/>
        </p:nvSpPr>
        <p:spPr bwMode="auto">
          <a:xfrm>
            <a:off x="6211491" y="2643188"/>
            <a:ext cx="365522" cy="84653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</p:spTree>
    <p:extLst>
      <p:ext uri="{BB962C8B-B14F-4D97-AF65-F5344CB8AC3E}">
        <p14:creationId xmlns:p14="http://schemas.microsoft.com/office/powerpoint/2010/main" val="235946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Which Role can a Server have?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Member Server</a:t>
            </a:r>
          </a:p>
          <a:p>
            <a:r>
              <a:rPr lang="en-US" altLang="en-US"/>
              <a:t>Domain Controller</a:t>
            </a:r>
          </a:p>
          <a:p>
            <a:r>
              <a:rPr lang="en-US" altLang="en-US"/>
              <a:t>Global Catalog</a:t>
            </a:r>
          </a:p>
          <a:p>
            <a:r>
              <a:rPr lang="en-US" altLang="en-US"/>
              <a:t>FSMO </a:t>
            </a:r>
          </a:p>
          <a:p>
            <a:pPr lvl="1"/>
            <a:r>
              <a:rPr lang="en-US" altLang="en-US"/>
              <a:t>Special Roles carried out by only a limited set of Servers</a:t>
            </a:r>
          </a:p>
          <a:p>
            <a:pPr lvl="1"/>
            <a:r>
              <a:rPr lang="en-US" altLang="en-US"/>
              <a:t>e.g. PDC Emulator</a:t>
            </a:r>
          </a:p>
          <a:p>
            <a:pPr lvl="1"/>
            <a:r>
              <a:rPr lang="en-US" altLang="en-US"/>
              <a:t>e.g. Schema Master</a:t>
            </a:r>
          </a:p>
        </p:txBody>
      </p:sp>
    </p:spTree>
    <p:extLst>
      <p:ext uri="{BB962C8B-B14F-4D97-AF65-F5344CB8AC3E}">
        <p14:creationId xmlns:p14="http://schemas.microsoft.com/office/powerpoint/2010/main" val="126490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Domain-Controller?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Stores a physical Copy of the Active Directory Database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Currently a single Domain per DC supported!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ESE95 Database (MS Exchange)</a:t>
            </a:r>
          </a:p>
          <a:p>
            <a:pPr>
              <a:lnSpc>
                <a:spcPct val="80000"/>
              </a:lnSpc>
            </a:pPr>
            <a:r>
              <a:rPr lang="en-US" altLang="en-US"/>
              <a:t>Logon Services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Kerberos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LAN Manager Authentication</a:t>
            </a:r>
          </a:p>
          <a:p>
            <a:pPr>
              <a:lnSpc>
                <a:spcPct val="80000"/>
              </a:lnSpc>
            </a:pPr>
            <a:r>
              <a:rPr lang="en-US" altLang="en-US"/>
              <a:t>Recommendation: always have at least 2 Domain Controllers!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220" y="2079626"/>
            <a:ext cx="2552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3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Global Catalog Server?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Answers AD Search Queries</a:t>
            </a:r>
          </a:p>
          <a:p>
            <a:r>
              <a:rPr lang="en-US" altLang="en-US"/>
              <a:t>Must be present to successfully logon </a:t>
            </a:r>
          </a:p>
          <a:p>
            <a:r>
              <a:rPr lang="en-US" altLang="en-US"/>
              <a:t>Holds a copy of all Objects of the whole Forest…</a:t>
            </a:r>
          </a:p>
          <a:p>
            <a:r>
              <a:rPr lang="en-US" altLang="en-US"/>
              <a:t>...but holds only a subset of the Attributes</a:t>
            </a:r>
          </a:p>
          <a:p>
            <a:pPr lvl="1"/>
            <a:r>
              <a:rPr lang="en-US" altLang="en-US"/>
              <a:t>User definable </a:t>
            </a:r>
          </a:p>
          <a:p>
            <a:r>
              <a:rPr lang="en-US" altLang="en-US"/>
              <a:t>Recommendation: at least one GC per (larger) Site</a:t>
            </a:r>
          </a:p>
        </p:txBody>
      </p:sp>
    </p:spTree>
    <p:extLst>
      <p:ext uri="{BB962C8B-B14F-4D97-AF65-F5344CB8AC3E}">
        <p14:creationId xmlns:p14="http://schemas.microsoft.com/office/powerpoint/2010/main" val="1974206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 Master Replication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Updates can be applied to ANY Domain Controller</a:t>
            </a:r>
          </a:p>
          <a:p>
            <a:r>
              <a:rPr lang="en-US" altLang="en-US"/>
              <a:t>Will be Replicated to each other Domain Controls (inside that Domain) within 15 Minutes</a:t>
            </a:r>
          </a:p>
          <a:p>
            <a:r>
              <a:rPr lang="en-US" altLang="en-US"/>
              <a:t>Optimized Algorithm reduces Replication Traffic</a:t>
            </a:r>
          </a:p>
          <a:p>
            <a:r>
              <a:rPr lang="en-US" altLang="en-US" u="sng"/>
              <a:t>Not</a:t>
            </a:r>
            <a:r>
              <a:rPr lang="en-US" altLang="en-US"/>
              <a:t> time based (triggered on demand, only)!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564" y="3086100"/>
            <a:ext cx="2667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2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Intra-Sites Replication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All Domain Databases involved</a:t>
            </a:r>
          </a:p>
          <a:p>
            <a:r>
              <a:rPr lang="en-US" altLang="en-US"/>
              <a:t>Changes are transmitted compressed</a:t>
            </a:r>
          </a:p>
          <a:p>
            <a:r>
              <a:rPr lang="en-US" altLang="en-US"/>
              <a:t>via IP (RPC) or SMTP</a:t>
            </a:r>
          </a:p>
          <a:p>
            <a:pPr lvl="1"/>
            <a:r>
              <a:rPr lang="en-US" altLang="en-US"/>
              <a:t>SMTP not within a single domain!</a:t>
            </a:r>
          </a:p>
          <a:p>
            <a:r>
              <a:rPr lang="en-US" altLang="en-US"/>
              <a:t>Time Replication occurs can be configured</a:t>
            </a:r>
          </a:p>
          <a:p>
            <a:r>
              <a:rPr lang="en-US" altLang="en-US"/>
              <a:t>Volume of Replication Traffic can not be restricted!</a:t>
            </a:r>
          </a:p>
          <a:p>
            <a:r>
              <a:rPr lang="en-US" altLang="en-US"/>
              <a:t>Have an Eye on GCs!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78" y="2039523"/>
            <a:ext cx="3458342" cy="187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4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Mixed vs. Native Mode?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sz="2100"/>
              <a:t>Mixed Mode supports Coexistence with NT4</a:t>
            </a:r>
          </a:p>
          <a:p>
            <a:pPr lvl="1"/>
            <a:r>
              <a:rPr lang="en-US" altLang="en-US" sz="1800"/>
              <a:t>Default</a:t>
            </a:r>
          </a:p>
          <a:p>
            <a:pPr lvl="1"/>
            <a:r>
              <a:rPr lang="en-US" altLang="en-US" sz="1800"/>
              <a:t>NT 4 BDCs continue to work</a:t>
            </a:r>
          </a:p>
          <a:p>
            <a:pPr lvl="1"/>
            <a:r>
              <a:rPr lang="en-US" altLang="en-US" sz="1800"/>
              <a:t>Enables “Fallback Scenario” during Migration</a:t>
            </a:r>
          </a:p>
          <a:p>
            <a:r>
              <a:rPr lang="en-US" altLang="en-US" sz="2100"/>
              <a:t>Only Native Mode supports all AD Features</a:t>
            </a:r>
          </a:p>
          <a:p>
            <a:pPr lvl="1"/>
            <a:r>
              <a:rPr lang="en-US" altLang="en-US" sz="1800"/>
              <a:t>More than 40 MB Domain Database Size</a:t>
            </a:r>
          </a:p>
          <a:p>
            <a:pPr lvl="1"/>
            <a:r>
              <a:rPr lang="en-US" altLang="en-US" sz="1800"/>
              <a:t>Mostly problem-free „MoveTree“</a:t>
            </a:r>
          </a:p>
          <a:p>
            <a:pPr lvl="1"/>
            <a:r>
              <a:rPr lang="en-US" altLang="en-US" sz="1800"/>
              <a:t>Universal Groups, Group nesting</a:t>
            </a:r>
          </a:p>
          <a:p>
            <a:r>
              <a:rPr lang="en-US" altLang="en-US" sz="2100"/>
              <a:t>Once you have switched to Native Mode, there is no way back to Mixed Mode!</a:t>
            </a:r>
          </a:p>
        </p:txBody>
      </p:sp>
    </p:spTree>
    <p:extLst>
      <p:ext uri="{BB962C8B-B14F-4D97-AF65-F5344CB8AC3E}">
        <p14:creationId xmlns:p14="http://schemas.microsoft.com/office/powerpoint/2010/main" val="865522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Are there still Trusts available?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Old fashioned NT 4 Trusts can still be used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Work like always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No additional functionality</a:t>
            </a:r>
          </a:p>
          <a:p>
            <a:pPr>
              <a:lnSpc>
                <a:spcPct val="80000"/>
              </a:lnSpc>
            </a:pPr>
            <a:r>
              <a:rPr lang="en-US" altLang="en-US"/>
              <a:t>Most be used to connect different Forests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Be careful – no common Global Catalog!</a:t>
            </a:r>
          </a:p>
          <a:p>
            <a:pPr>
              <a:lnSpc>
                <a:spcPct val="80000"/>
              </a:lnSpc>
            </a:pPr>
            <a:r>
              <a:rPr lang="en-US" altLang="en-US"/>
              <a:t>Shortcut-Trusts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Connect frequently used Domains to each other (Performance Optimization)</a:t>
            </a:r>
          </a:p>
        </p:txBody>
      </p:sp>
    </p:spTree>
    <p:extLst>
      <p:ext uri="{BB962C8B-B14F-4D97-AF65-F5344CB8AC3E}">
        <p14:creationId xmlns:p14="http://schemas.microsoft.com/office/powerpoint/2010/main" val="652447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Shortcut-Trusts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314450" y="1085850"/>
            <a:ext cx="3314700" cy="1314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/>
              <a:t>Domain A users frequently access Domain B’s Resources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No Change in logical Structure</a:t>
            </a:r>
          </a:p>
        </p:txBody>
      </p:sp>
      <p:grpSp>
        <p:nvGrpSpPr>
          <p:cNvPr id="76805" name="Group 5"/>
          <p:cNvGrpSpPr>
            <a:grpSpLocks/>
          </p:cNvGrpSpPr>
          <p:nvPr/>
        </p:nvGrpSpPr>
        <p:grpSpPr bwMode="auto">
          <a:xfrm>
            <a:off x="4800600" y="1502569"/>
            <a:ext cx="1085850" cy="1081088"/>
            <a:chOff x="2194" y="1283"/>
            <a:chExt cx="983" cy="979"/>
          </a:xfrm>
        </p:grpSpPr>
        <p:sp>
          <p:nvSpPr>
            <p:cNvPr id="76806" name="AutoShape 6"/>
            <p:cNvSpPr>
              <a:spLocks noChangeArrowheads="1"/>
            </p:cNvSpPr>
            <p:nvPr/>
          </p:nvSpPr>
          <p:spPr bwMode="auto">
            <a:xfrm rot="8100000">
              <a:off x="2194" y="1283"/>
              <a:ext cx="983" cy="979"/>
            </a:xfrm>
            <a:prstGeom prst="rtTriangle">
              <a:avLst/>
            </a:pr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6807" name="Text Box 7"/>
            <p:cNvSpPr txBox="1">
              <a:spLocks noChangeArrowheads="1"/>
            </p:cNvSpPr>
            <p:nvPr/>
          </p:nvSpPr>
          <p:spPr bwMode="auto">
            <a:xfrm>
              <a:off x="2208" y="1488"/>
              <a:ext cx="91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350"/>
                <a:t>Domain</a:t>
              </a:r>
            </a:p>
          </p:txBody>
        </p:sp>
      </p:grpSp>
      <p:sp>
        <p:nvSpPr>
          <p:cNvPr id="76810" name="AutoShape 10"/>
          <p:cNvSpPr>
            <a:spLocks noChangeArrowheads="1"/>
          </p:cNvSpPr>
          <p:nvPr/>
        </p:nvSpPr>
        <p:spPr bwMode="auto">
          <a:xfrm rot="8100000">
            <a:off x="5314950" y="3073004"/>
            <a:ext cx="2084785" cy="2076450"/>
          </a:xfrm>
          <a:prstGeom prst="rtTriangle">
            <a:avLst/>
          </a:prstGeom>
          <a:gradFill rotWithShape="0">
            <a:gsLst>
              <a:gs pos="0">
                <a:srgbClr val="CC99FF">
                  <a:gamma/>
                  <a:shade val="46275"/>
                  <a:invGamma/>
                </a:srgbClr>
              </a:gs>
              <a:gs pos="100000">
                <a:srgbClr val="CC99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altLang="en-US" sz="1350"/>
          </a:p>
        </p:txBody>
      </p:sp>
      <p:sp>
        <p:nvSpPr>
          <p:cNvPr id="76811" name="printer2"/>
          <p:cNvSpPr>
            <a:spLocks noEditPoints="1" noChangeArrowheads="1"/>
          </p:cNvSpPr>
          <p:nvPr/>
        </p:nvSpPr>
        <p:spPr bwMode="auto">
          <a:xfrm>
            <a:off x="7029451" y="3960019"/>
            <a:ext cx="621506" cy="310754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 sz="1350"/>
          </a:p>
        </p:txBody>
      </p:sp>
      <p:sp>
        <p:nvSpPr>
          <p:cNvPr id="76812" name="Oval 12"/>
          <p:cNvSpPr>
            <a:spLocks noChangeArrowheads="1"/>
          </p:cNvSpPr>
          <p:nvPr/>
        </p:nvSpPr>
        <p:spPr bwMode="auto">
          <a:xfrm>
            <a:off x="6172200" y="2931319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76813" name="Text Box 13"/>
          <p:cNvSpPr txBox="1">
            <a:spLocks noChangeArrowheads="1"/>
          </p:cNvSpPr>
          <p:nvPr/>
        </p:nvSpPr>
        <p:spPr bwMode="auto">
          <a:xfrm>
            <a:off x="5543550" y="3217069"/>
            <a:ext cx="162401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en-US" sz="1350"/>
              <a:t>Domain</a:t>
            </a:r>
            <a:endParaRPr lang="en-US" altLang="en-US" sz="1350"/>
          </a:p>
        </p:txBody>
      </p:sp>
      <p:sp>
        <p:nvSpPr>
          <p:cNvPr id="76814" name="Oval 14"/>
          <p:cNvSpPr>
            <a:spLocks noChangeArrowheads="1"/>
          </p:cNvSpPr>
          <p:nvPr/>
        </p:nvSpPr>
        <p:spPr bwMode="auto">
          <a:xfrm>
            <a:off x="6572250" y="3388519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76815" name="Oval 15"/>
          <p:cNvSpPr>
            <a:spLocks noChangeArrowheads="1"/>
          </p:cNvSpPr>
          <p:nvPr/>
        </p:nvSpPr>
        <p:spPr bwMode="auto">
          <a:xfrm>
            <a:off x="5657850" y="3388519"/>
            <a:ext cx="400050" cy="350044"/>
          </a:xfrm>
          <a:prstGeom prst="ellipse">
            <a:avLst/>
          </a:prstGeom>
          <a:gradFill rotWithShape="0">
            <a:gsLst>
              <a:gs pos="0">
                <a:srgbClr val="339966">
                  <a:gamma/>
                  <a:shade val="46275"/>
                  <a:invGamma/>
                </a:srgbClr>
              </a:gs>
              <a:gs pos="100000">
                <a:srgbClr val="339966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900"/>
              <a:t>OU</a:t>
            </a:r>
          </a:p>
        </p:txBody>
      </p:sp>
      <p:sp>
        <p:nvSpPr>
          <p:cNvPr id="76816" name="Line 16"/>
          <p:cNvSpPr>
            <a:spLocks noChangeShapeType="1"/>
          </p:cNvSpPr>
          <p:nvPr/>
        </p:nvSpPr>
        <p:spPr bwMode="auto">
          <a:xfrm flipH="1" flipV="1">
            <a:off x="6515100" y="3217069"/>
            <a:ext cx="147638" cy="200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17" name="Line 17"/>
          <p:cNvSpPr>
            <a:spLocks noChangeShapeType="1"/>
          </p:cNvSpPr>
          <p:nvPr/>
        </p:nvSpPr>
        <p:spPr bwMode="auto">
          <a:xfrm flipH="1">
            <a:off x="6000750" y="3217069"/>
            <a:ext cx="2286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18" name="computr2"/>
          <p:cNvSpPr>
            <a:spLocks noEditPoints="1" noChangeArrowheads="1"/>
          </p:cNvSpPr>
          <p:nvPr/>
        </p:nvSpPr>
        <p:spPr bwMode="auto">
          <a:xfrm>
            <a:off x="5257800" y="3960019"/>
            <a:ext cx="457200" cy="457200"/>
          </a:xfrm>
          <a:custGeom>
            <a:avLst/>
            <a:gdLst>
              <a:gd name="T0" fmla="*/ 10800 w 21600"/>
              <a:gd name="T1" fmla="*/ 0 h 21600"/>
              <a:gd name="T2" fmla="*/ 10800 w 21600"/>
              <a:gd name="T3" fmla="*/ 21600 h 21600"/>
              <a:gd name="T4" fmla="*/ 17326 w 21600"/>
              <a:gd name="T5" fmla="*/ 0 h 21600"/>
              <a:gd name="T6" fmla="*/ 4274 w 21600"/>
              <a:gd name="T7" fmla="*/ 0 h 21600"/>
              <a:gd name="T8" fmla="*/ 4274 w 21600"/>
              <a:gd name="T9" fmla="*/ 11631 h 21600"/>
              <a:gd name="T10" fmla="*/ 17326 w 21600"/>
              <a:gd name="T11" fmla="*/ 11631 h 21600"/>
              <a:gd name="T12" fmla="*/ 4274 w 21600"/>
              <a:gd name="T13" fmla="*/ 5816 h 21600"/>
              <a:gd name="T14" fmla="*/ 17326 w 21600"/>
              <a:gd name="T15" fmla="*/ 5816 h 21600"/>
              <a:gd name="T16" fmla="*/ 18828 w 21600"/>
              <a:gd name="T17" fmla="*/ 15785 h 21600"/>
              <a:gd name="T18" fmla="*/ 2772 w 21600"/>
              <a:gd name="T19" fmla="*/ 15785 h 21600"/>
              <a:gd name="T20" fmla="*/ 6194 w 21600"/>
              <a:gd name="T21" fmla="*/ 1913 h 21600"/>
              <a:gd name="T22" fmla="*/ 15565 w 21600"/>
              <a:gd name="T23" fmla="*/ 974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21022" y="20295"/>
                </a:moveTo>
                <a:lnTo>
                  <a:pt x="18828" y="18396"/>
                </a:lnTo>
                <a:lnTo>
                  <a:pt x="18828" y="13174"/>
                </a:lnTo>
                <a:lnTo>
                  <a:pt x="15478" y="13174"/>
                </a:lnTo>
                <a:lnTo>
                  <a:pt x="15478" y="11631"/>
                </a:lnTo>
                <a:lnTo>
                  <a:pt x="17326" y="11631"/>
                </a:lnTo>
                <a:lnTo>
                  <a:pt x="17326" y="11156"/>
                </a:lnTo>
                <a:lnTo>
                  <a:pt x="17326" y="0"/>
                </a:lnTo>
                <a:lnTo>
                  <a:pt x="10858" y="0"/>
                </a:lnTo>
                <a:lnTo>
                  <a:pt x="4274" y="0"/>
                </a:lnTo>
                <a:lnTo>
                  <a:pt x="4274" y="11037"/>
                </a:lnTo>
                <a:lnTo>
                  <a:pt x="4274" y="11631"/>
                </a:lnTo>
                <a:lnTo>
                  <a:pt x="6122" y="11631"/>
                </a:lnTo>
                <a:lnTo>
                  <a:pt x="6122" y="13174"/>
                </a:lnTo>
                <a:lnTo>
                  <a:pt x="2772" y="13174"/>
                </a:lnTo>
                <a:lnTo>
                  <a:pt x="2772" y="18514"/>
                </a:lnTo>
                <a:lnTo>
                  <a:pt x="693" y="20295"/>
                </a:lnTo>
                <a:lnTo>
                  <a:pt x="462" y="20413"/>
                </a:lnTo>
                <a:lnTo>
                  <a:pt x="231" y="20651"/>
                </a:lnTo>
                <a:lnTo>
                  <a:pt x="116" y="20888"/>
                </a:lnTo>
                <a:lnTo>
                  <a:pt x="0" y="21125"/>
                </a:lnTo>
                <a:lnTo>
                  <a:pt x="0" y="21244"/>
                </a:lnTo>
                <a:lnTo>
                  <a:pt x="116" y="21363"/>
                </a:lnTo>
                <a:lnTo>
                  <a:pt x="116" y="21481"/>
                </a:lnTo>
                <a:lnTo>
                  <a:pt x="231" y="21481"/>
                </a:lnTo>
                <a:lnTo>
                  <a:pt x="347" y="21600"/>
                </a:lnTo>
                <a:lnTo>
                  <a:pt x="578" y="21600"/>
                </a:lnTo>
                <a:lnTo>
                  <a:pt x="693" y="21600"/>
                </a:lnTo>
                <a:lnTo>
                  <a:pt x="10858" y="21600"/>
                </a:lnTo>
                <a:lnTo>
                  <a:pt x="20907" y="21600"/>
                </a:lnTo>
                <a:lnTo>
                  <a:pt x="21138" y="21600"/>
                </a:lnTo>
                <a:lnTo>
                  <a:pt x="21253" y="21600"/>
                </a:lnTo>
                <a:lnTo>
                  <a:pt x="21369" y="21481"/>
                </a:lnTo>
                <a:lnTo>
                  <a:pt x="21484" y="21481"/>
                </a:lnTo>
                <a:lnTo>
                  <a:pt x="21600" y="21363"/>
                </a:lnTo>
                <a:lnTo>
                  <a:pt x="21600" y="21244"/>
                </a:lnTo>
                <a:lnTo>
                  <a:pt x="21600" y="21125"/>
                </a:lnTo>
                <a:lnTo>
                  <a:pt x="21484" y="20888"/>
                </a:lnTo>
                <a:lnTo>
                  <a:pt x="21369" y="20651"/>
                </a:lnTo>
                <a:lnTo>
                  <a:pt x="21253" y="20413"/>
                </a:lnTo>
                <a:lnTo>
                  <a:pt x="21022" y="20295"/>
                </a:lnTo>
                <a:close/>
              </a:path>
              <a:path w="21600" h="21600" extrusionOk="0">
                <a:moveTo>
                  <a:pt x="18019" y="18514"/>
                </a:moveTo>
                <a:lnTo>
                  <a:pt x="17326" y="17921"/>
                </a:lnTo>
                <a:lnTo>
                  <a:pt x="4389" y="17921"/>
                </a:lnTo>
                <a:lnTo>
                  <a:pt x="3696" y="18514"/>
                </a:lnTo>
                <a:lnTo>
                  <a:pt x="18019" y="18514"/>
                </a:lnTo>
                <a:close/>
              </a:path>
              <a:path w="21600" h="21600" extrusionOk="0">
                <a:moveTo>
                  <a:pt x="19174" y="19701"/>
                </a:moveTo>
                <a:lnTo>
                  <a:pt x="18481" y="19108"/>
                </a:lnTo>
                <a:lnTo>
                  <a:pt x="3119" y="19108"/>
                </a:lnTo>
                <a:lnTo>
                  <a:pt x="2426" y="19701"/>
                </a:lnTo>
                <a:lnTo>
                  <a:pt x="19174" y="19701"/>
                </a:lnTo>
                <a:close/>
              </a:path>
              <a:path w="21600" h="21600" extrusionOk="0">
                <a:moveTo>
                  <a:pt x="20560" y="20769"/>
                </a:moveTo>
                <a:lnTo>
                  <a:pt x="19867" y="20176"/>
                </a:lnTo>
                <a:lnTo>
                  <a:pt x="1848" y="20176"/>
                </a:lnTo>
                <a:lnTo>
                  <a:pt x="1155" y="20769"/>
                </a:lnTo>
                <a:lnTo>
                  <a:pt x="20560" y="20769"/>
                </a:lnTo>
                <a:close/>
              </a:path>
              <a:path w="21600" h="21600" extrusionOk="0">
                <a:moveTo>
                  <a:pt x="18828" y="18396"/>
                </a:moveTo>
                <a:lnTo>
                  <a:pt x="17442" y="17209"/>
                </a:lnTo>
                <a:lnTo>
                  <a:pt x="4158" y="17209"/>
                </a:lnTo>
                <a:lnTo>
                  <a:pt x="2772" y="18514"/>
                </a:lnTo>
                <a:moveTo>
                  <a:pt x="13168" y="14123"/>
                </a:moveTo>
                <a:lnTo>
                  <a:pt x="13168" y="14716"/>
                </a:lnTo>
                <a:lnTo>
                  <a:pt x="17788" y="14716"/>
                </a:lnTo>
                <a:lnTo>
                  <a:pt x="17788" y="14123"/>
                </a:lnTo>
                <a:lnTo>
                  <a:pt x="13168" y="14123"/>
                </a:lnTo>
                <a:close/>
              </a:path>
              <a:path w="21600" h="21600" extrusionOk="0">
                <a:moveTo>
                  <a:pt x="6122" y="1899"/>
                </a:moveTo>
                <a:lnTo>
                  <a:pt x="6122" y="9732"/>
                </a:lnTo>
                <a:lnTo>
                  <a:pt x="15478" y="9732"/>
                </a:lnTo>
                <a:lnTo>
                  <a:pt x="15478" y="1899"/>
                </a:lnTo>
                <a:lnTo>
                  <a:pt x="6122" y="1899"/>
                </a:lnTo>
                <a:moveTo>
                  <a:pt x="6122" y="11631"/>
                </a:moveTo>
                <a:lnTo>
                  <a:pt x="15478" y="11631"/>
                </a:lnTo>
                <a:lnTo>
                  <a:pt x="15478" y="13174"/>
                </a:lnTo>
                <a:lnTo>
                  <a:pt x="6122" y="13174"/>
                </a:lnTo>
                <a:lnTo>
                  <a:pt x="6122" y="11631"/>
                </a:ln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 sz="1350"/>
          </a:p>
        </p:txBody>
      </p:sp>
      <p:graphicFrame>
        <p:nvGraphicFramePr>
          <p:cNvPr id="76819" name="Object 19"/>
          <p:cNvGraphicFramePr>
            <a:graphicFrameLocks noChangeAspect="1"/>
          </p:cNvGraphicFramePr>
          <p:nvPr/>
        </p:nvGraphicFramePr>
        <p:xfrm>
          <a:off x="5829300" y="3960019"/>
          <a:ext cx="3595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Bitmap Image" r:id="rId3" imgW="142933" imgH="181096" progId="Paint.Picture">
                  <p:embed/>
                </p:oleObj>
              </mc:Choice>
              <mc:Fallback>
                <p:oleObj name="Bitmap Image" r:id="rId3" imgW="142933" imgH="181096" progId="Paint.Picture">
                  <p:embed/>
                  <p:pic>
                    <p:nvPicPr>
                      <p:cNvPr id="7681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960019"/>
                        <a:ext cx="359569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0" name="Object 20"/>
          <p:cNvGraphicFramePr>
            <a:graphicFrameLocks noChangeAspect="1"/>
          </p:cNvGraphicFramePr>
          <p:nvPr/>
        </p:nvGraphicFramePr>
        <p:xfrm>
          <a:off x="6400800" y="3960019"/>
          <a:ext cx="400050" cy="379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Bitmap Image" r:id="rId5" imgW="190426" imgH="181096" progId="Paint.Picture">
                  <p:embed/>
                </p:oleObj>
              </mc:Choice>
              <mc:Fallback>
                <p:oleObj name="Bitmap Image" r:id="rId5" imgW="190426" imgH="181096" progId="Paint.Picture">
                  <p:embed/>
                  <p:pic>
                    <p:nvPicPr>
                      <p:cNvPr id="768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960019"/>
                        <a:ext cx="400050" cy="379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1" name="Text Box 21"/>
          <p:cNvSpPr txBox="1">
            <a:spLocks noChangeArrowheads="1"/>
          </p:cNvSpPr>
          <p:nvPr/>
        </p:nvSpPr>
        <p:spPr bwMode="auto">
          <a:xfrm>
            <a:off x="5314950" y="4474369"/>
            <a:ext cx="222885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350"/>
              <a:t>Objects</a:t>
            </a:r>
          </a:p>
        </p:txBody>
      </p:sp>
      <p:sp>
        <p:nvSpPr>
          <p:cNvPr id="76822" name="Line 22"/>
          <p:cNvSpPr>
            <a:spLocks noChangeShapeType="1"/>
          </p:cNvSpPr>
          <p:nvPr/>
        </p:nvSpPr>
        <p:spPr bwMode="auto">
          <a:xfrm flipH="1">
            <a:off x="5486400" y="3682604"/>
            <a:ext cx="225029" cy="27741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23" name="Line 23"/>
          <p:cNvSpPr>
            <a:spLocks noChangeShapeType="1"/>
          </p:cNvSpPr>
          <p:nvPr/>
        </p:nvSpPr>
        <p:spPr bwMode="auto">
          <a:xfrm flipH="1">
            <a:off x="6572251" y="3727847"/>
            <a:ext cx="116681" cy="2321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24" name="Line 24"/>
          <p:cNvSpPr>
            <a:spLocks noChangeShapeType="1"/>
          </p:cNvSpPr>
          <p:nvPr/>
        </p:nvSpPr>
        <p:spPr bwMode="auto">
          <a:xfrm>
            <a:off x="5941219" y="3719513"/>
            <a:ext cx="116681" cy="24050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25" name="Line 25"/>
          <p:cNvSpPr>
            <a:spLocks noChangeShapeType="1"/>
          </p:cNvSpPr>
          <p:nvPr/>
        </p:nvSpPr>
        <p:spPr bwMode="auto">
          <a:xfrm>
            <a:off x="6918723" y="3677841"/>
            <a:ext cx="282178" cy="28217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26" name="Line 26"/>
          <p:cNvSpPr>
            <a:spLocks noChangeShapeType="1"/>
          </p:cNvSpPr>
          <p:nvPr/>
        </p:nvSpPr>
        <p:spPr bwMode="auto">
          <a:xfrm>
            <a:off x="6113860" y="2045494"/>
            <a:ext cx="246459" cy="59293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grpSp>
        <p:nvGrpSpPr>
          <p:cNvPr id="76827" name="Group 27"/>
          <p:cNvGrpSpPr>
            <a:grpSpLocks/>
          </p:cNvGrpSpPr>
          <p:nvPr/>
        </p:nvGrpSpPr>
        <p:grpSpPr bwMode="auto">
          <a:xfrm>
            <a:off x="4000500" y="2817019"/>
            <a:ext cx="1085850" cy="1081088"/>
            <a:chOff x="2194" y="1283"/>
            <a:chExt cx="983" cy="979"/>
          </a:xfrm>
        </p:grpSpPr>
        <p:sp>
          <p:nvSpPr>
            <p:cNvPr id="76828" name="AutoShape 28"/>
            <p:cNvSpPr>
              <a:spLocks noChangeArrowheads="1"/>
            </p:cNvSpPr>
            <p:nvPr/>
          </p:nvSpPr>
          <p:spPr bwMode="auto">
            <a:xfrm rot="8100000">
              <a:off x="2194" y="1283"/>
              <a:ext cx="983" cy="979"/>
            </a:xfrm>
            <a:prstGeom prst="rtTriangle">
              <a:avLst/>
            </a:prstGeom>
            <a:gradFill rotWithShape="0">
              <a:gsLst>
                <a:gs pos="0">
                  <a:srgbClr val="CC99FF">
                    <a:gamma/>
                    <a:shade val="46275"/>
                    <a:invGamma/>
                  </a:srgbClr>
                </a:gs>
                <a:gs pos="100000">
                  <a:srgbClr val="CC99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6829" name="Text Box 29"/>
            <p:cNvSpPr txBox="1">
              <a:spLocks noChangeArrowheads="1"/>
            </p:cNvSpPr>
            <p:nvPr/>
          </p:nvSpPr>
          <p:spPr bwMode="auto">
            <a:xfrm>
              <a:off x="2208" y="1488"/>
              <a:ext cx="91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de-DE" altLang="en-US" sz="1350"/>
                <a:t>Domain</a:t>
              </a:r>
              <a:r>
                <a:rPr lang="en-US" altLang="en-US" sz="1350"/>
                <a:t> A</a:t>
              </a:r>
            </a:p>
          </p:txBody>
        </p:sp>
      </p:grpSp>
      <p:sp>
        <p:nvSpPr>
          <p:cNvPr id="76830" name="Line 30"/>
          <p:cNvSpPr>
            <a:spLocks noChangeShapeType="1"/>
          </p:cNvSpPr>
          <p:nvPr/>
        </p:nvSpPr>
        <p:spPr bwMode="auto">
          <a:xfrm flipH="1">
            <a:off x="4550569" y="2051447"/>
            <a:ext cx="25004" cy="5369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31" name="Text Box 31"/>
          <p:cNvSpPr txBox="1">
            <a:spLocks noChangeArrowheads="1"/>
          </p:cNvSpPr>
          <p:nvPr/>
        </p:nvSpPr>
        <p:spPr bwMode="auto">
          <a:xfrm>
            <a:off x="4743450" y="2188369"/>
            <a:ext cx="1257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Tree</a:t>
            </a:r>
          </a:p>
        </p:txBody>
      </p:sp>
      <p:grpSp>
        <p:nvGrpSpPr>
          <p:cNvPr id="76832" name="Group 32"/>
          <p:cNvGrpSpPr>
            <a:grpSpLocks/>
          </p:cNvGrpSpPr>
          <p:nvPr/>
        </p:nvGrpSpPr>
        <p:grpSpPr bwMode="auto">
          <a:xfrm>
            <a:off x="1314450" y="4188619"/>
            <a:ext cx="1007269" cy="796529"/>
            <a:chOff x="672" y="3069"/>
            <a:chExt cx="846" cy="669"/>
          </a:xfrm>
        </p:grpSpPr>
        <p:sp>
          <p:nvSpPr>
            <p:cNvPr id="76833" name="AutoShape 33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6834" name="Text Box 34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grpSp>
        <p:nvGrpSpPr>
          <p:cNvPr id="76835" name="Group 35"/>
          <p:cNvGrpSpPr>
            <a:grpSpLocks/>
          </p:cNvGrpSpPr>
          <p:nvPr/>
        </p:nvGrpSpPr>
        <p:grpSpPr bwMode="auto">
          <a:xfrm>
            <a:off x="2000250" y="3274219"/>
            <a:ext cx="1007269" cy="796529"/>
            <a:chOff x="672" y="3069"/>
            <a:chExt cx="846" cy="669"/>
          </a:xfrm>
        </p:grpSpPr>
        <p:sp>
          <p:nvSpPr>
            <p:cNvPr id="76836" name="AutoShape 36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6837" name="Text Box 37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</a:t>
              </a:r>
            </a:p>
          </p:txBody>
        </p:sp>
      </p:grpSp>
      <p:grpSp>
        <p:nvGrpSpPr>
          <p:cNvPr id="76838" name="Group 38"/>
          <p:cNvGrpSpPr>
            <a:grpSpLocks/>
          </p:cNvGrpSpPr>
          <p:nvPr/>
        </p:nvGrpSpPr>
        <p:grpSpPr bwMode="auto">
          <a:xfrm>
            <a:off x="2628900" y="4188619"/>
            <a:ext cx="1007269" cy="796529"/>
            <a:chOff x="672" y="3069"/>
            <a:chExt cx="846" cy="669"/>
          </a:xfrm>
        </p:grpSpPr>
        <p:sp>
          <p:nvSpPr>
            <p:cNvPr id="76839" name="AutoShape 39"/>
            <p:cNvSpPr>
              <a:spLocks noChangeArrowheads="1"/>
            </p:cNvSpPr>
            <p:nvPr/>
          </p:nvSpPr>
          <p:spPr bwMode="auto">
            <a:xfrm rot="8100000">
              <a:off x="791" y="3069"/>
              <a:ext cx="672" cy="669"/>
            </a:xfrm>
            <a:prstGeom prst="rtTriangle">
              <a:avLst/>
            </a:prstGeom>
            <a:gradFill rotWithShape="0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endParaRPr lang="en-US" altLang="en-US" sz="1350"/>
            </a:p>
          </p:txBody>
        </p:sp>
        <p:sp>
          <p:nvSpPr>
            <p:cNvPr id="76840" name="Text Box 40"/>
            <p:cNvSpPr txBox="1">
              <a:spLocks noChangeArrowheads="1"/>
            </p:cNvSpPr>
            <p:nvPr/>
          </p:nvSpPr>
          <p:spPr bwMode="auto">
            <a:xfrm>
              <a:off x="672" y="3216"/>
              <a:ext cx="84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50"/>
                <a:t>Domain B</a:t>
              </a:r>
            </a:p>
          </p:txBody>
        </p:sp>
      </p:grpSp>
      <p:sp>
        <p:nvSpPr>
          <p:cNvPr id="76841" name="Text Box 41"/>
          <p:cNvSpPr txBox="1">
            <a:spLocks noChangeArrowheads="1"/>
          </p:cNvSpPr>
          <p:nvPr/>
        </p:nvSpPr>
        <p:spPr bwMode="auto">
          <a:xfrm>
            <a:off x="2228851" y="3902869"/>
            <a:ext cx="49064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350"/>
              <a:t>Tree</a:t>
            </a:r>
          </a:p>
        </p:txBody>
      </p:sp>
      <p:sp>
        <p:nvSpPr>
          <p:cNvPr id="76842" name="Line 42"/>
          <p:cNvSpPr>
            <a:spLocks noChangeShapeType="1"/>
          </p:cNvSpPr>
          <p:nvPr/>
        </p:nvSpPr>
        <p:spPr bwMode="auto">
          <a:xfrm flipH="1">
            <a:off x="2546748" y="1270398"/>
            <a:ext cx="2793206" cy="184070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43" name="Line 43"/>
          <p:cNvSpPr>
            <a:spLocks noChangeShapeType="1"/>
          </p:cNvSpPr>
          <p:nvPr/>
        </p:nvSpPr>
        <p:spPr bwMode="auto">
          <a:xfrm flipH="1">
            <a:off x="1853803" y="3677841"/>
            <a:ext cx="117872" cy="347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44" name="Line 44"/>
          <p:cNvSpPr>
            <a:spLocks noChangeShapeType="1"/>
          </p:cNvSpPr>
          <p:nvPr/>
        </p:nvSpPr>
        <p:spPr bwMode="auto">
          <a:xfrm>
            <a:off x="3107531" y="3674269"/>
            <a:ext cx="67866" cy="3464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45" name="Text Box 45"/>
          <p:cNvSpPr txBox="1">
            <a:spLocks noChangeArrowheads="1"/>
          </p:cNvSpPr>
          <p:nvPr/>
        </p:nvSpPr>
        <p:spPr bwMode="auto">
          <a:xfrm>
            <a:off x="2800350" y="2359819"/>
            <a:ext cx="12001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500"/>
              <a:t>Forest</a:t>
            </a:r>
          </a:p>
        </p:txBody>
      </p:sp>
      <p:sp>
        <p:nvSpPr>
          <p:cNvPr id="76846" name="Line 46"/>
          <p:cNvSpPr>
            <a:spLocks noChangeShapeType="1"/>
          </p:cNvSpPr>
          <p:nvPr/>
        </p:nvSpPr>
        <p:spPr bwMode="auto">
          <a:xfrm flipV="1">
            <a:off x="3429000" y="3371850"/>
            <a:ext cx="857250" cy="914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arrow" w="med" len="lg"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350"/>
          </a:p>
        </p:txBody>
      </p:sp>
      <p:sp>
        <p:nvSpPr>
          <p:cNvPr id="76847" name="Oval 47"/>
          <p:cNvSpPr>
            <a:spLocks noChangeArrowheads="1"/>
          </p:cNvSpPr>
          <p:nvPr/>
        </p:nvSpPr>
        <p:spPr bwMode="auto">
          <a:xfrm>
            <a:off x="2800350" y="2857500"/>
            <a:ext cx="2228850" cy="1828800"/>
          </a:xfrm>
          <a:prstGeom prst="ellipse">
            <a:avLst/>
          </a:prstGeom>
          <a:noFill/>
          <a:ln w="57150">
            <a:solidFill>
              <a:srgbClr val="00FF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</p:spTree>
    <p:extLst>
      <p:ext uri="{BB962C8B-B14F-4D97-AF65-F5344CB8AC3E}">
        <p14:creationId xmlns:p14="http://schemas.microsoft.com/office/powerpoint/2010/main" val="3393978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Vital for AD: DNS!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z="2100"/>
              <a:t>DNS is Active Directory’s Locator Service</a:t>
            </a:r>
          </a:p>
          <a:p>
            <a:r>
              <a:rPr lang="en-US" altLang="en-US" sz="2100"/>
              <a:t>Without correctly configured DNS no working Active Directory!</a:t>
            </a:r>
          </a:p>
          <a:p>
            <a:pPr lvl="1"/>
            <a:r>
              <a:rPr lang="en-US" altLang="en-US" sz="1800"/>
              <a:t>Currently TOP 1 Trouble spot</a:t>
            </a:r>
          </a:p>
          <a:p>
            <a:r>
              <a:rPr lang="en-US" altLang="en-US" sz="2100"/>
              <a:t>Can be hosted on non MS-DNS</a:t>
            </a:r>
          </a:p>
          <a:p>
            <a:pPr lvl="1"/>
            <a:r>
              <a:rPr lang="en-US" altLang="en-US" sz="1800"/>
              <a:t>Minimum BIND Version 8.1.2</a:t>
            </a:r>
          </a:p>
          <a:p>
            <a:pPr lvl="1"/>
            <a:r>
              <a:rPr lang="en-US" altLang="en-US" sz="1800"/>
              <a:t>No special Characters in Computer Names</a:t>
            </a:r>
          </a:p>
          <a:p>
            <a:pPr lvl="1"/>
            <a:r>
              <a:rPr lang="en-US" altLang="en-US" sz="1800"/>
              <a:t>Not really an option</a:t>
            </a:r>
          </a:p>
          <a:p>
            <a:pPr lvl="1"/>
            <a:r>
              <a:rPr lang="en-US" altLang="en-US" sz="1800"/>
              <a:t>Recommendation: delegate a separate “AD-Zone” on non-MS DNS and use MS-DNS for that zone – saves lots of Trouble!</a:t>
            </a:r>
          </a:p>
        </p:txBody>
      </p:sp>
    </p:spTree>
    <p:extLst>
      <p:ext uri="{BB962C8B-B14F-4D97-AF65-F5344CB8AC3E}">
        <p14:creationId xmlns:p14="http://schemas.microsoft.com/office/powerpoint/2010/main" val="1437093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Who is using Active Directory?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Windows 2000</a:t>
            </a:r>
          </a:p>
          <a:p>
            <a:pPr lvl="1"/>
            <a:r>
              <a:rPr lang="en-US" altLang="en-US"/>
              <a:t>Authentication</a:t>
            </a:r>
          </a:p>
          <a:p>
            <a:pPr lvl="1"/>
            <a:r>
              <a:rPr lang="en-US" altLang="en-US"/>
              <a:t>System Policies</a:t>
            </a:r>
          </a:p>
          <a:p>
            <a:r>
              <a:rPr lang="en-US" altLang="en-US"/>
              <a:t>Directory Enabled Applications</a:t>
            </a:r>
          </a:p>
          <a:p>
            <a:pPr lvl="1"/>
            <a:r>
              <a:rPr lang="en-US" altLang="en-US">
                <a:solidFill>
                  <a:schemeClr val="hlink"/>
                </a:solidFill>
              </a:rPr>
              <a:t>Please do not overlook them when planning your AD!</a:t>
            </a:r>
          </a:p>
        </p:txBody>
      </p:sp>
    </p:spTree>
    <p:extLst>
      <p:ext uri="{BB962C8B-B14F-4D97-AF65-F5344CB8AC3E}">
        <p14:creationId xmlns:p14="http://schemas.microsoft.com/office/powerpoint/2010/main" val="2331227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6844" y="171450"/>
            <a:ext cx="6323410" cy="892969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What are Directory-Enabled Applications?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Applications directly using and accessing the Active Directory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e.g. Exchange 2000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Many more expected!</a:t>
            </a:r>
          </a:p>
          <a:p>
            <a:pPr>
              <a:lnSpc>
                <a:spcPct val="80000"/>
              </a:lnSpc>
            </a:pPr>
            <a:r>
              <a:rPr lang="en-US" altLang="en-US"/>
              <a:t>Typically extend the Schema</a:t>
            </a:r>
          </a:p>
          <a:p>
            <a:pPr>
              <a:lnSpc>
                <a:spcPct val="80000"/>
              </a:lnSpc>
            </a:pPr>
            <a:r>
              <a:rPr lang="en-US" altLang="en-US"/>
              <a:t>May dramatically change usage pattern for Active Directory Resources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Replication Traffic</a:t>
            </a:r>
            <a:br>
              <a:rPr lang="en-US" altLang="en-US"/>
            </a:br>
            <a:r>
              <a:rPr lang="en-US" altLang="en-US"/>
              <a:t>(new Objects, Attributes)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AD Queries (GCs!)</a:t>
            </a:r>
          </a:p>
        </p:txBody>
      </p:sp>
    </p:spTree>
    <p:extLst>
      <p:ext uri="{BB962C8B-B14F-4D97-AF65-F5344CB8AC3E}">
        <p14:creationId xmlns:p14="http://schemas.microsoft.com/office/powerpoint/2010/main" val="3635086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Active Directory Security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Improved Authentication</a:t>
            </a:r>
          </a:p>
          <a:p>
            <a:r>
              <a:rPr lang="en-US" altLang="en-US"/>
              <a:t>Permissions applied via ACLs</a:t>
            </a:r>
          </a:p>
          <a:p>
            <a:pPr lvl="1"/>
            <a:r>
              <a:rPr lang="en-US" altLang="en-US"/>
              <a:t>To Objects as whole</a:t>
            </a:r>
          </a:p>
          <a:p>
            <a:pPr lvl="1"/>
            <a:r>
              <a:rPr lang="en-US" altLang="en-US"/>
              <a:t>To specific Attributes</a:t>
            </a:r>
          </a:p>
          <a:p>
            <a:r>
              <a:rPr lang="en-US" altLang="en-US"/>
              <a:t>Fine-Tuning of Access Permissions possible</a:t>
            </a:r>
          </a:p>
          <a:p>
            <a:r>
              <a:rPr lang="en-US" altLang="en-US"/>
              <a:t>Tool-Support to visualize Security Settings currently weak (try Visio!)</a:t>
            </a:r>
          </a:p>
        </p:txBody>
      </p:sp>
    </p:spTree>
    <p:extLst>
      <p:ext uri="{BB962C8B-B14F-4D97-AF65-F5344CB8AC3E}">
        <p14:creationId xmlns:p14="http://schemas.microsoft.com/office/powerpoint/2010/main" val="2823413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Kerberos?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2" y="1606551"/>
            <a:ext cx="3099004" cy="2736850"/>
          </a:xfrm>
        </p:spPr>
        <p:txBody>
          <a:bodyPr/>
          <a:lstStyle/>
          <a:p>
            <a:r>
              <a:rPr lang="en-US" altLang="en-US" dirty="0"/>
              <a:t>„age-old“ Internet-Standard - mature</a:t>
            </a:r>
          </a:p>
          <a:p>
            <a:r>
              <a:rPr lang="en-US" altLang="en-US" dirty="0"/>
              <a:t>Commonly used under Unix</a:t>
            </a:r>
          </a:p>
          <a:p>
            <a:r>
              <a:rPr lang="en-US" altLang="en-US" dirty="0"/>
              <a:t>Secure Authentication thanks to Encryption</a:t>
            </a:r>
          </a:p>
          <a:p>
            <a:r>
              <a:rPr lang="en-US" altLang="en-US" dirty="0"/>
              <a:t>Standard-Authentication Model under Windows 2000</a:t>
            </a:r>
          </a:p>
          <a:p>
            <a:r>
              <a:rPr lang="en-US" altLang="en-US" dirty="0"/>
              <a:t>Microsoft Kerberos not fully compatible to other Kerberos Implementations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123" y="457201"/>
            <a:ext cx="4948653" cy="420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83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Delegation of Administration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100"/>
              <a:t>Admin rights can be delegated to Users or Groups</a:t>
            </a:r>
          </a:p>
          <a:p>
            <a:pPr lvl="1">
              <a:lnSpc>
                <a:spcPct val="80000"/>
              </a:lnSpc>
            </a:pPr>
            <a:r>
              <a:rPr lang="en-US" altLang="en-US" sz="1800" u="sng"/>
              <a:t>NOT</a:t>
            </a:r>
            <a:r>
              <a:rPr lang="en-US" altLang="en-US" sz="1800"/>
              <a:t> to OUs!</a:t>
            </a:r>
          </a:p>
          <a:p>
            <a:pPr>
              <a:lnSpc>
                <a:spcPct val="80000"/>
              </a:lnSpc>
            </a:pPr>
            <a:r>
              <a:rPr lang="en-US" altLang="en-US" sz="2100"/>
              <a:t>Delegation via Wizards</a:t>
            </a:r>
          </a:p>
          <a:p>
            <a:pPr>
              <a:lnSpc>
                <a:spcPct val="80000"/>
              </a:lnSpc>
            </a:pPr>
            <a:r>
              <a:rPr lang="en-US" altLang="en-US" sz="2100"/>
              <a:t>Currently “Admin Nightmare” – very hard to detect who has rights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All objects must be viewed separately and manually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Currently no good tools – but expected to be available in the future</a:t>
            </a:r>
          </a:p>
          <a:p>
            <a:pPr lvl="1">
              <a:lnSpc>
                <a:spcPct val="80000"/>
              </a:lnSpc>
            </a:pPr>
            <a:r>
              <a:rPr lang="en-US" altLang="en-US" sz="1800"/>
              <a:t>Microsoft itself also plans to provide additional tools</a:t>
            </a:r>
          </a:p>
        </p:txBody>
      </p:sp>
    </p:spTree>
    <p:extLst>
      <p:ext uri="{BB962C8B-B14F-4D97-AF65-F5344CB8AC3E}">
        <p14:creationId xmlns:p14="http://schemas.microsoft.com/office/powerpoint/2010/main" val="2052362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 in Active Directory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From Top to Bottom</a:t>
            </a:r>
          </a:p>
          <a:p>
            <a:r>
              <a:rPr lang="en-US" altLang="en-US"/>
              <a:t>Inheritance can only be blocked completely</a:t>
            </a:r>
          </a:p>
          <a:p>
            <a:pPr lvl="1"/>
            <a:r>
              <a:rPr lang="en-US" altLang="en-US"/>
              <a:t>No IRF like Novell</a:t>
            </a:r>
          </a:p>
        </p:txBody>
      </p:sp>
    </p:spTree>
    <p:extLst>
      <p:ext uri="{BB962C8B-B14F-4D97-AF65-F5344CB8AC3E}">
        <p14:creationId xmlns:p14="http://schemas.microsoft.com/office/powerpoint/2010/main" val="905313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z="2100"/>
              <a:t>Basically, like under NT 4</a:t>
            </a:r>
          </a:p>
          <a:p>
            <a:pPr lvl="1"/>
            <a:r>
              <a:rPr lang="en-US" altLang="en-US" sz="1800"/>
              <a:t>Local Groups are assigned Permissions</a:t>
            </a:r>
          </a:p>
          <a:p>
            <a:pPr lvl="1"/>
            <a:r>
              <a:rPr lang="en-US" altLang="en-US" sz="1800"/>
              <a:t>Global Groups contain Users</a:t>
            </a:r>
          </a:p>
          <a:p>
            <a:pPr lvl="2"/>
            <a:r>
              <a:rPr lang="en-US" altLang="en-US" sz="1800"/>
              <a:t>From a single Domain</a:t>
            </a:r>
          </a:p>
          <a:p>
            <a:pPr lvl="2"/>
            <a:r>
              <a:rPr lang="en-US" altLang="en-US" sz="1800"/>
              <a:t>Global Groups are members in Local Groups for Permission assignment</a:t>
            </a:r>
          </a:p>
          <a:p>
            <a:r>
              <a:rPr lang="en-US" altLang="en-US" sz="2100"/>
              <a:t>New: Universal Groups</a:t>
            </a:r>
          </a:p>
          <a:p>
            <a:pPr lvl="1"/>
            <a:r>
              <a:rPr lang="en-US" altLang="en-US" sz="1800"/>
              <a:t>Can be used everywhere in every Domain (Permissions, Members)</a:t>
            </a:r>
          </a:p>
          <a:p>
            <a:pPr lvl="1"/>
            <a:r>
              <a:rPr lang="en-US" altLang="en-US" sz="1800"/>
              <a:t>Implemented via GC</a:t>
            </a:r>
          </a:p>
          <a:p>
            <a:pPr lvl="2"/>
            <a:r>
              <a:rPr lang="en-US" altLang="en-US" sz="1800"/>
              <a:t>Replication traffic limits usability</a:t>
            </a:r>
          </a:p>
        </p:txBody>
      </p:sp>
    </p:spTree>
    <p:extLst>
      <p:ext uri="{BB962C8B-B14F-4D97-AF65-F5344CB8AC3E}">
        <p14:creationId xmlns:p14="http://schemas.microsoft.com/office/powerpoint/2010/main" val="3689464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Active Directory Problem Spots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2100"/>
              <a:t>DNS Dependency</a:t>
            </a:r>
          </a:p>
          <a:p>
            <a:r>
              <a:rPr lang="en-US" altLang="en-US" sz="2100"/>
              <a:t>No „Merge-Tree“</a:t>
            </a:r>
          </a:p>
          <a:p>
            <a:r>
              <a:rPr lang="en-US" altLang="en-US" sz="2100"/>
              <a:t>No Partitioning (only a single Domain per Domain Controller) </a:t>
            </a:r>
          </a:p>
          <a:p>
            <a:r>
              <a:rPr lang="en-US" altLang="en-US" sz="2100"/>
              <a:t>Limited Tool-Support</a:t>
            </a:r>
          </a:p>
          <a:p>
            <a:r>
              <a:rPr lang="en-US" altLang="en-US" sz="2100"/>
              <a:t>Forest Global Schema</a:t>
            </a:r>
          </a:p>
          <a:p>
            <a:r>
              <a:rPr lang="en-US" altLang="en-US" sz="2100"/>
              <a:t>Schema-Modifications can not be undone</a:t>
            </a:r>
          </a:p>
          <a:p>
            <a:r>
              <a:rPr lang="en-US" altLang="en-US" sz="2100" i="1"/>
              <a:t>Issues will be addressed over time by Microsoft (keep in mind AD is Version 1.0!)</a:t>
            </a:r>
          </a:p>
        </p:txBody>
      </p:sp>
    </p:spTree>
    <p:extLst>
      <p:ext uri="{BB962C8B-B14F-4D97-AF65-F5344CB8AC3E}">
        <p14:creationId xmlns:p14="http://schemas.microsoft.com/office/powerpoint/2010/main" val="3037576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16844" y="171450"/>
            <a:ext cx="6323410" cy="892969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Importance of AD for Microsoft’s Strategy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Most important Product</a:t>
            </a:r>
          </a:p>
          <a:p>
            <a:r>
              <a:rPr lang="en-US" altLang="en-US"/>
              <a:t>All new Microsoft Products need or at least work better with Active Directory</a:t>
            </a:r>
          </a:p>
          <a:p>
            <a:pPr lvl="1"/>
            <a:r>
              <a:rPr lang="en-US" altLang="en-US"/>
              <a:t>Exchange 2000</a:t>
            </a:r>
          </a:p>
          <a:p>
            <a:pPr lvl="1"/>
            <a:r>
              <a:rPr lang="en-US" altLang="en-US"/>
              <a:t>SQL Server 2000</a:t>
            </a:r>
          </a:p>
          <a:p>
            <a:pPr lvl="1"/>
            <a:r>
              <a:rPr lang="en-US" altLang="en-US"/>
              <a:t>...</a:t>
            </a:r>
          </a:p>
          <a:p>
            <a:r>
              <a:rPr lang="en-US" altLang="en-US"/>
              <a:t>Bill Gates: „We have bet Microsoft on Active Directory.“</a:t>
            </a:r>
          </a:p>
        </p:txBody>
      </p:sp>
    </p:spTree>
    <p:extLst>
      <p:ext uri="{BB962C8B-B14F-4D97-AF65-F5344CB8AC3E}">
        <p14:creationId xmlns:p14="http://schemas.microsoft.com/office/powerpoint/2010/main" val="860150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THE END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4635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195</TotalTime>
  <Words>1156</Words>
  <Application>Microsoft Office PowerPoint</Application>
  <PresentationFormat>On-screen Show (16:9)</PresentationFormat>
  <Paragraphs>272</Paragraphs>
  <Slides>33</Slides>
  <Notes>1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Wingdings</vt:lpstr>
      <vt:lpstr>Arial</vt:lpstr>
      <vt:lpstr>Calibri Light</vt:lpstr>
      <vt:lpstr>Calibri</vt:lpstr>
      <vt:lpstr>Celestial</vt:lpstr>
      <vt:lpstr>Bitmap Image</vt:lpstr>
      <vt:lpstr>IT2757 Server and Services Security Management - SERvER TECHOLOGY AND CONCEPTS</vt:lpstr>
      <vt:lpstr>Microsoft Active Directory</vt:lpstr>
      <vt:lpstr>What is Active Directory?</vt:lpstr>
      <vt:lpstr>Open Standards</vt:lpstr>
      <vt:lpstr>Active Directory Structure</vt:lpstr>
      <vt:lpstr>Which objects does Active Directory contain?</vt:lpstr>
      <vt:lpstr>What is the Schema?</vt:lpstr>
      <vt:lpstr>What is a Domain?</vt:lpstr>
      <vt:lpstr>What is an Organizational Unit (OU)?</vt:lpstr>
      <vt:lpstr>What is a Tree?</vt:lpstr>
      <vt:lpstr>What is a Forest?</vt:lpstr>
      <vt:lpstr>The Tree-Root</vt:lpstr>
      <vt:lpstr>Modeling the physical Structure</vt:lpstr>
      <vt:lpstr>Sample Site Structure</vt:lpstr>
      <vt:lpstr>Which Role can a Server have?</vt:lpstr>
      <vt:lpstr>What is a Domain-Controller?</vt:lpstr>
      <vt:lpstr>What is a Global Catalog Server?</vt:lpstr>
      <vt:lpstr>Multi Master Replication</vt:lpstr>
      <vt:lpstr>Intra-Sites Replication</vt:lpstr>
      <vt:lpstr>Mixed vs. Native Mode?</vt:lpstr>
      <vt:lpstr>Are there still Trusts available?</vt:lpstr>
      <vt:lpstr>Shortcut-Trusts</vt:lpstr>
      <vt:lpstr>Vital for AD: DNS!</vt:lpstr>
      <vt:lpstr>Who is using Active Directory?</vt:lpstr>
      <vt:lpstr>What are Directory-Enabled Applications?</vt:lpstr>
      <vt:lpstr>Active Directory Security</vt:lpstr>
      <vt:lpstr>What is Kerberos?</vt:lpstr>
      <vt:lpstr>Delegation of Administration</vt:lpstr>
      <vt:lpstr>Inheritance in Active Directory</vt:lpstr>
      <vt:lpstr>Groups</vt:lpstr>
      <vt:lpstr>Active Directory Problem Spots</vt:lpstr>
      <vt:lpstr>Importance of AD for Microsoft’s Strategy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LAM SIMON</dc:creator>
  <cp:lastModifiedBy>LAM SIMON</cp:lastModifiedBy>
  <cp:revision>27</cp:revision>
  <dcterms:modified xsi:type="dcterms:W3CDTF">2018-05-08T02:32:19Z</dcterms:modified>
</cp:coreProperties>
</file>