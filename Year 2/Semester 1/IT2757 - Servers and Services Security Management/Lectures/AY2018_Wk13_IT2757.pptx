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1" r:id="rId1"/>
  </p:sldMasterIdLst>
  <p:notesMasterIdLst>
    <p:notesMasterId r:id="rId26"/>
  </p:notesMasterIdLst>
  <p:sldIdLst>
    <p:sldId id="256" r:id="rId2"/>
    <p:sldId id="351" r:id="rId3"/>
    <p:sldId id="352" r:id="rId4"/>
    <p:sldId id="353" r:id="rId5"/>
    <p:sldId id="354" r:id="rId6"/>
    <p:sldId id="355" r:id="rId7"/>
    <p:sldId id="356" r:id="rId8"/>
    <p:sldId id="357" r:id="rId9"/>
    <p:sldId id="358" r:id="rId10"/>
    <p:sldId id="359" r:id="rId11"/>
    <p:sldId id="360" r:id="rId12"/>
    <p:sldId id="361" r:id="rId13"/>
    <p:sldId id="362" r:id="rId14"/>
    <p:sldId id="363" r:id="rId15"/>
    <p:sldId id="364" r:id="rId16"/>
    <p:sldId id="365" r:id="rId17"/>
    <p:sldId id="366" r:id="rId18"/>
    <p:sldId id="367" r:id="rId19"/>
    <p:sldId id="368" r:id="rId20"/>
    <p:sldId id="369" r:id="rId21"/>
    <p:sldId id="370" r:id="rId22"/>
    <p:sldId id="371" r:id="rId23"/>
    <p:sldId id="372" r:id="rId24"/>
    <p:sldId id="288" r:id="rId25"/>
  </p:sldIdLst>
  <p:sldSz cx="9144000" cy="5143500" type="screen16x9"/>
  <p:notesSz cx="6858000" cy="9144000"/>
  <p:embeddedFontLst>
    <p:embeddedFont>
      <p:font typeface="Calibri Light" panose="020F0302020204030204" pitchFamily="34" charset="0"/>
      <p:regular r:id="rId27"/>
      <p:italic r:id="rId28"/>
    </p:embeddedFont>
    <p:embeddedFont>
      <p:font typeface="Calibri" panose="020F0502020204030204" pitchFamily="34" charset="0"/>
      <p:regular r:id="rId29"/>
      <p:bold r:id="rId30"/>
      <p:italic r:id="rId31"/>
      <p:boldItalic r:id="rId32"/>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29E63B6-08C8-4444-B43B-6137E374DB1E}">
  <a:tblStyle styleId="{129E63B6-08C8-4444-B43B-6137E374DB1E}" styleName="Table_0">
    <a:wholeTbl>
      <a:tcStyle>
        <a:tcBdr>
          <a:left>
            <a:ln w="9525" cap="flat" cmpd="sng">
              <a:solidFill>
                <a:srgbClr val="000000"/>
              </a:solidFill>
              <a:prstDash val="solid"/>
              <a:round/>
              <a:headEnd type="none" w="med" len="med"/>
              <a:tailEnd type="none" w="med" len="med"/>
            </a:ln>
          </a:left>
          <a:right>
            <a:ln w="9525" cap="flat" cmpd="sng">
              <a:solidFill>
                <a:srgbClr val="000000"/>
              </a:solidFill>
              <a:prstDash val="solid"/>
              <a:round/>
              <a:headEnd type="none" w="med" len="med"/>
              <a:tailEnd type="none" w="med" len="med"/>
            </a:ln>
          </a:right>
          <a:top>
            <a:ln w="9525" cap="flat" cmpd="sng">
              <a:solidFill>
                <a:srgbClr val="000000"/>
              </a:solidFill>
              <a:prstDash val="solid"/>
              <a:round/>
              <a:headEnd type="none" w="med" len="med"/>
              <a:tailEnd type="none" w="med" len="med"/>
            </a:ln>
          </a:top>
          <a:bottom>
            <a:ln w="9525" cap="flat" cmpd="sng">
              <a:solidFill>
                <a:srgbClr val="000000"/>
              </a:solidFill>
              <a:prstDash val="solid"/>
              <a:round/>
              <a:headEnd type="none" w="med" len="med"/>
              <a:tailEnd type="none" w="med" len="med"/>
            </a:ln>
          </a:bottom>
          <a:insideH>
            <a:ln w="9525" cap="flat" cmpd="sng">
              <a:solidFill>
                <a:srgbClr val="000000"/>
              </a:solidFill>
              <a:prstDash val="solid"/>
              <a:round/>
              <a:headEnd type="none" w="med" len="med"/>
              <a:tailEnd type="none" w="med" len="med"/>
            </a:ln>
          </a:insideH>
          <a:insideV>
            <a:ln w="9525" cap="flat" cmpd="sng">
              <a:solidFill>
                <a:srgbClr val="000000"/>
              </a:solidFill>
              <a:prstDash val="solid"/>
              <a:round/>
              <a:headEnd type="none" w="med" len="med"/>
              <a:tailEnd type="none" w="med" len="med"/>
            </a:ln>
          </a:insideV>
        </a:tcBdr>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53" d="100"/>
          <a:sy n="153" d="100"/>
        </p:scale>
        <p:origin x="336" y="1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Shape 3"/>
          <p:cNvSpPr>
            <a:spLocks noGrp="1" noRot="1" noChangeAspect="1"/>
          </p:cNvSpPr>
          <p:nvPr>
            <p:ph type="sldImg" idx="2"/>
          </p:nvPr>
        </p:nvSpPr>
        <p:spPr>
          <a:xfrm>
            <a:off x="381175" y="685800"/>
            <a:ext cx="6096299"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4" name="Shape 4"/>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lvl="0">
              <a:spcBef>
                <a:spcPts val="0"/>
              </a:spcBef>
              <a:defRPr sz="1100"/>
            </a:lvl1pPr>
            <a:lvl2pPr lvl="1">
              <a:spcBef>
                <a:spcPts val="0"/>
              </a:spcBef>
              <a:defRPr sz="1100"/>
            </a:lvl2pPr>
            <a:lvl3pPr lvl="2">
              <a:spcBef>
                <a:spcPts val="0"/>
              </a:spcBef>
              <a:defRPr sz="1100"/>
            </a:lvl3pPr>
            <a:lvl4pPr lvl="3">
              <a:spcBef>
                <a:spcPts val="0"/>
              </a:spcBef>
              <a:defRPr sz="1100"/>
            </a:lvl4pPr>
            <a:lvl5pPr lvl="4">
              <a:spcBef>
                <a:spcPts val="0"/>
              </a:spcBef>
              <a:defRPr sz="1100"/>
            </a:lvl5pPr>
            <a:lvl6pPr lvl="5">
              <a:spcBef>
                <a:spcPts val="0"/>
              </a:spcBef>
              <a:defRPr sz="1100"/>
            </a:lvl6pPr>
            <a:lvl7pPr lvl="6">
              <a:spcBef>
                <a:spcPts val="0"/>
              </a:spcBef>
              <a:defRPr sz="1100"/>
            </a:lvl7pPr>
            <a:lvl8pPr lvl="7">
              <a:spcBef>
                <a:spcPts val="0"/>
              </a:spcBef>
              <a:defRPr sz="1100"/>
            </a:lvl8pPr>
            <a:lvl9pPr lvl="8">
              <a:spcBef>
                <a:spcPts val="0"/>
              </a:spcBef>
              <a:defRPr sz="1100"/>
            </a:lvl9pPr>
          </a:lstStyle>
          <a:p>
            <a:endParaRPr/>
          </a:p>
        </p:txBody>
      </p:sp>
    </p:spTree>
    <p:extLst>
      <p:ext uri="{BB962C8B-B14F-4D97-AF65-F5344CB8AC3E}">
        <p14:creationId xmlns:p14="http://schemas.microsoft.com/office/powerpoint/2010/main" val="944722184"/>
      </p:ext>
    </p:extLst>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Shape 9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96" name="Shape 96"/>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a:p>
        </p:txBody>
      </p:sp>
    </p:spTree>
    <p:extLst>
      <p:ext uri="{BB962C8B-B14F-4D97-AF65-F5344CB8AC3E}">
        <p14:creationId xmlns:p14="http://schemas.microsoft.com/office/powerpoint/2010/main" val="35943146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50EAA1E-DDBC-42E6-9102-ABD68DBFB777}" type="slidenum">
              <a:rPr lang="en-US"/>
              <a:pPr/>
              <a:t>3</a:t>
            </a:fld>
            <a:endParaRPr lang="en-US"/>
          </a:p>
        </p:txBody>
      </p:sp>
      <p:sp>
        <p:nvSpPr>
          <p:cNvPr id="1029122" name="Rectangle 2"/>
          <p:cNvSpPr>
            <a:spLocks noGrp="1" noRot="1" noChangeAspect="1" noChangeArrowheads="1" noTextEdit="1"/>
          </p:cNvSpPr>
          <p:nvPr>
            <p:ph type="sldImg"/>
          </p:nvPr>
        </p:nvSpPr>
        <p:spPr>
          <a:xfrm>
            <a:off x="1355725" y="685800"/>
            <a:ext cx="4071938" cy="2290763"/>
          </a:xfrm>
          <a:ln/>
        </p:spPr>
      </p:sp>
      <p:sp>
        <p:nvSpPr>
          <p:cNvPr id="1029123" name="Rectangle 3"/>
          <p:cNvSpPr>
            <a:spLocks noGrp="1" noChangeArrowheads="1"/>
          </p:cNvSpPr>
          <p:nvPr>
            <p:ph type="body" idx="1"/>
          </p:nvPr>
        </p:nvSpPr>
        <p:spPr/>
        <p:txBody>
          <a:bodyPr/>
          <a:lstStyle/>
          <a:p>
            <a:endParaRPr lang="en-GB"/>
          </a:p>
        </p:txBody>
      </p:sp>
    </p:spTree>
    <p:extLst>
      <p:ext uri="{BB962C8B-B14F-4D97-AF65-F5344CB8AC3E}">
        <p14:creationId xmlns:p14="http://schemas.microsoft.com/office/powerpoint/2010/main" val="61610003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1619" cy="5142161"/>
          </a:xfrm>
          <a:prstGeom prst="rect">
            <a:avLst/>
          </a:prstGeom>
        </p:spPr>
      </p:pic>
      <p:sp>
        <p:nvSpPr>
          <p:cNvPr id="2" name="Title 1"/>
          <p:cNvSpPr>
            <a:spLocks noGrp="1"/>
          </p:cNvSpPr>
          <p:nvPr>
            <p:ph type="ctrTitle"/>
          </p:nvPr>
        </p:nvSpPr>
        <p:spPr>
          <a:xfrm>
            <a:off x="2971799" y="1473200"/>
            <a:ext cx="5398295" cy="1816098"/>
          </a:xfrm>
        </p:spPr>
        <p:txBody>
          <a:bodyPr anchor="b">
            <a:normAutofit/>
          </a:bodyPr>
          <a:lstStyle>
            <a:lvl1pPr algn="r">
              <a:defRPr sz="36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2971799" y="3289300"/>
            <a:ext cx="5398295" cy="1054100"/>
          </a:xfrm>
        </p:spPr>
        <p:txBody>
          <a:bodyPr anchor="t">
            <a:normAutofit/>
          </a:bodyPr>
          <a:lstStyle>
            <a:lvl1pPr marL="0" indent="0" algn="r">
              <a:buNone/>
              <a:defRPr sz="1350" cap="all">
                <a:solidFill>
                  <a:schemeClr val="tx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6699419" y="4402932"/>
            <a:ext cx="1200150" cy="283369"/>
          </a:xfrm>
        </p:spPr>
        <p:txBody>
          <a:bodyPr/>
          <a:lstStyle/>
          <a:p>
            <a:fld id="{B61BEF0D-F0BB-DE4B-95CE-6DB70DBA9567}" type="datetimeFigureOut">
              <a:rPr lang="en-US" dirty="0"/>
              <a:pPr/>
              <a:t>4/6/2018</a:t>
            </a:fld>
            <a:endParaRPr lang="en-US" dirty="0"/>
          </a:p>
        </p:txBody>
      </p:sp>
      <p:sp>
        <p:nvSpPr>
          <p:cNvPr id="5" name="Footer Placeholder 4"/>
          <p:cNvSpPr>
            <a:spLocks noGrp="1"/>
          </p:cNvSpPr>
          <p:nvPr>
            <p:ph type="ftr" sz="quarter" idx="11"/>
          </p:nvPr>
        </p:nvSpPr>
        <p:spPr>
          <a:xfrm>
            <a:off x="2971799" y="4402932"/>
            <a:ext cx="3670469" cy="283369"/>
          </a:xfrm>
        </p:spPr>
        <p:txBody>
          <a:bodyPr/>
          <a:lstStyle/>
          <a:p>
            <a:endParaRPr lang="en-US" dirty="0"/>
          </a:p>
        </p:txBody>
      </p:sp>
      <p:sp>
        <p:nvSpPr>
          <p:cNvPr id="6" name="Slide Number Placeholder 5"/>
          <p:cNvSpPr>
            <a:spLocks noGrp="1"/>
          </p:cNvSpPr>
          <p:nvPr>
            <p:ph type="sldNum" sz="quarter" idx="12"/>
          </p:nvPr>
        </p:nvSpPr>
        <p:spPr>
          <a:xfrm>
            <a:off x="7956719" y="4402932"/>
            <a:ext cx="413375" cy="283369"/>
          </a:xfrm>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315651285"/>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1619" cy="5142161"/>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nchor="ct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4/6/2018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587059908"/>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1619" cy="5142161"/>
          </a:xfrm>
          <a:prstGeom prst="rect">
            <a:avLst/>
          </a:prstGeom>
        </p:spPr>
      </p:pic>
      <p:sp>
        <p:nvSpPr>
          <p:cNvPr id="2" name="Title 1"/>
          <p:cNvSpPr>
            <a:spLocks noGrp="1"/>
          </p:cNvSpPr>
          <p:nvPr>
            <p:ph type="title"/>
          </p:nvPr>
        </p:nvSpPr>
        <p:spPr>
          <a:xfrm>
            <a:off x="514351" y="2481436"/>
            <a:ext cx="7598570" cy="1101600"/>
          </a:xfrm>
        </p:spPr>
        <p:txBody>
          <a:bodyPr anchor="b"/>
          <a:lstStyle>
            <a:lvl1pPr algn="l">
              <a:defRPr sz="30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514349" y="3583036"/>
            <a:ext cx="7598571" cy="645300"/>
          </a:xfrm>
        </p:spPr>
        <p:txBody>
          <a:bodyPr anchor="t">
            <a:normAutofit/>
          </a:bodyPr>
          <a:lstStyle>
            <a:lvl1pPr marL="0" indent="0" algn="l">
              <a:buNone/>
              <a:defRPr sz="1500" cap="all">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4/6/2018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218328444"/>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1619" cy="5142161"/>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514351" y="1606550"/>
            <a:ext cx="3746501" cy="2736851"/>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366421" y="1606551"/>
            <a:ext cx="3746499" cy="273685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4/6/2018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54341149"/>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730252" y="1663700"/>
            <a:ext cx="3531791" cy="432197"/>
          </a:xfrm>
        </p:spPr>
        <p:txBody>
          <a:bodyPr anchor="b">
            <a:noAutofit/>
          </a:bodyPr>
          <a:lstStyle>
            <a:lvl1pPr marL="0" indent="0">
              <a:buNone/>
              <a:defRPr sz="21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Edit Master text styles</a:t>
            </a:r>
          </a:p>
        </p:txBody>
      </p:sp>
      <p:sp>
        <p:nvSpPr>
          <p:cNvPr id="4" name="Content Placeholder 3"/>
          <p:cNvSpPr>
            <a:spLocks noGrp="1"/>
          </p:cNvSpPr>
          <p:nvPr>
            <p:ph sz="half" idx="2"/>
          </p:nvPr>
        </p:nvSpPr>
        <p:spPr>
          <a:xfrm>
            <a:off x="514351" y="2152651"/>
            <a:ext cx="3747692" cy="2190749"/>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572003" y="1670050"/>
            <a:ext cx="3542110" cy="432197"/>
          </a:xfrm>
        </p:spPr>
        <p:txBody>
          <a:bodyPr anchor="b">
            <a:noAutofit/>
          </a:bodyPr>
          <a:lstStyle>
            <a:lvl1pPr marL="0" indent="0">
              <a:buNone/>
              <a:defRPr sz="21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Edit Master text styles</a:t>
            </a:r>
          </a:p>
        </p:txBody>
      </p:sp>
      <p:sp>
        <p:nvSpPr>
          <p:cNvPr id="6" name="Content Placeholder 5"/>
          <p:cNvSpPr>
            <a:spLocks noGrp="1"/>
          </p:cNvSpPr>
          <p:nvPr>
            <p:ph sz="quarter" idx="4"/>
          </p:nvPr>
        </p:nvSpPr>
        <p:spPr>
          <a:xfrm>
            <a:off x="4367612" y="2152651"/>
            <a:ext cx="3746501" cy="2190749"/>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4/6/2018</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397314172"/>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1619" cy="5142161"/>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4/6/2018</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796330855"/>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1619" cy="5142161"/>
          </a:xfrm>
          <a:prstGeom prst="rect">
            <a:avLst/>
          </a:prstGeom>
        </p:spPr>
      </p:pic>
      <p:sp>
        <p:nvSpPr>
          <p:cNvPr id="2" name="Date Placeholder 1"/>
          <p:cNvSpPr>
            <a:spLocks noGrp="1"/>
          </p:cNvSpPr>
          <p:nvPr>
            <p:ph type="dt" sz="half" idx="10"/>
          </p:nvPr>
        </p:nvSpPr>
        <p:spPr/>
        <p:txBody>
          <a:bodyPr/>
          <a:lstStyle/>
          <a:p>
            <a:fld id="{B61BEF0D-F0BB-DE4B-95CE-6DB70DBA9567}" type="datetimeFigureOut">
              <a:rPr lang="en-US" dirty="0"/>
              <a:pPr/>
              <a:t>4/6/2018</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5943354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1619" cy="5142161"/>
          </a:xfrm>
          <a:prstGeom prst="rect">
            <a:avLst/>
          </a:prstGeom>
        </p:spPr>
      </p:pic>
      <p:sp>
        <p:nvSpPr>
          <p:cNvPr id="2" name="Title 1"/>
          <p:cNvSpPr>
            <a:spLocks noGrp="1"/>
          </p:cNvSpPr>
          <p:nvPr>
            <p:ph type="title"/>
          </p:nvPr>
        </p:nvSpPr>
        <p:spPr>
          <a:xfrm>
            <a:off x="514350" y="1555750"/>
            <a:ext cx="2760664" cy="1028700"/>
          </a:xfrm>
        </p:spPr>
        <p:txBody>
          <a:bodyPr anchor="b">
            <a:normAutofit/>
          </a:bodyPr>
          <a:lstStyle>
            <a:lvl1pPr algn="l">
              <a:defRPr sz="1800" b="0"/>
            </a:lvl1pPr>
          </a:lstStyle>
          <a:p>
            <a:r>
              <a:rPr lang="en-US" smtClean="0"/>
              <a:t>Click to edit Master title style</a:t>
            </a:r>
            <a:endParaRPr lang="en-US" dirty="0"/>
          </a:p>
        </p:txBody>
      </p:sp>
      <p:sp>
        <p:nvSpPr>
          <p:cNvPr id="3" name="Content Placeholder 2"/>
          <p:cNvSpPr>
            <a:spLocks noGrp="1"/>
          </p:cNvSpPr>
          <p:nvPr>
            <p:ph idx="1"/>
          </p:nvPr>
        </p:nvSpPr>
        <p:spPr>
          <a:xfrm>
            <a:off x="3486151" y="457201"/>
            <a:ext cx="4626770" cy="3886200"/>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514350" y="2584450"/>
            <a:ext cx="2760664" cy="1371600"/>
          </a:xfrm>
        </p:spPr>
        <p:txBody>
          <a:bodyPr anchor="t">
            <a:normAutofit/>
          </a:bodyPr>
          <a:lstStyle>
            <a:lvl1pPr marL="0" indent="0">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Edit Master text styles</a:t>
            </a:r>
          </a:p>
        </p:txBody>
      </p:sp>
      <p:sp>
        <p:nvSpPr>
          <p:cNvPr id="5" name="Date Placeholder 4"/>
          <p:cNvSpPr>
            <a:spLocks noGrp="1"/>
          </p:cNvSpPr>
          <p:nvPr>
            <p:ph type="dt" sz="half" idx="10"/>
          </p:nvPr>
        </p:nvSpPr>
        <p:spPr/>
        <p:txBody>
          <a:bodyPr/>
          <a:lstStyle/>
          <a:p>
            <a:fld id="{1A9C2FF7-FDD2-4C4E-9C39-E1165898CA2B}" type="datetime1">
              <a:rPr lang="en-US" smtClean="0">
                <a:solidFill>
                  <a:srgbClr val="696464"/>
                </a:solidFill>
              </a:rPr>
              <a:pPr/>
              <a:t>4/6/2018</a:t>
            </a:fld>
            <a:endParaRPr lang="en-US">
              <a:solidFill>
                <a:srgbClr val="696464"/>
              </a:solidFill>
            </a:endParaRPr>
          </a:p>
        </p:txBody>
      </p:sp>
      <p:sp>
        <p:nvSpPr>
          <p:cNvPr id="6" name="Footer Placeholder 5"/>
          <p:cNvSpPr>
            <a:spLocks noGrp="1"/>
          </p:cNvSpPr>
          <p:nvPr>
            <p:ph type="ftr" sz="quarter" idx="11"/>
          </p:nvPr>
        </p:nvSpPr>
        <p:spPr/>
        <p:txBody>
          <a:bodyPr/>
          <a:lstStyle/>
          <a:p>
            <a:r>
              <a:rPr lang="en-US" smtClean="0">
                <a:solidFill>
                  <a:srgbClr val="696464"/>
                </a:solidFill>
              </a:rPr>
              <a:t>IT2533 Lecture</a:t>
            </a:r>
            <a:endParaRPr lang="en-US" dirty="0">
              <a:solidFill>
                <a:srgbClr val="696464"/>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5654633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1619" cy="5142161"/>
          </a:xfrm>
          <a:prstGeom prst="rect">
            <a:avLst/>
          </a:prstGeom>
        </p:spPr>
      </p:pic>
      <p:sp>
        <p:nvSpPr>
          <p:cNvPr id="2" name="Title 1"/>
          <p:cNvSpPr>
            <a:spLocks noGrp="1"/>
          </p:cNvSpPr>
          <p:nvPr>
            <p:ph type="title"/>
          </p:nvPr>
        </p:nvSpPr>
        <p:spPr>
          <a:xfrm>
            <a:off x="514350" y="1200150"/>
            <a:ext cx="4623490" cy="1028700"/>
          </a:xfrm>
        </p:spPr>
        <p:txBody>
          <a:bodyPr anchor="b">
            <a:normAutofit/>
          </a:bodyPr>
          <a:lstStyle>
            <a:lvl1pPr algn="l">
              <a:defRPr sz="2100" b="0"/>
            </a:lvl1pPr>
          </a:lstStyle>
          <a:p>
            <a:r>
              <a:rPr lang="en-US" smtClean="0"/>
              <a:t>Click to edit Master title style</a:t>
            </a:r>
            <a:endParaRPr lang="en-US" dirty="0"/>
          </a:p>
        </p:txBody>
      </p:sp>
      <p:sp>
        <p:nvSpPr>
          <p:cNvPr id="14" name="Picture Placeholder 2"/>
          <p:cNvSpPr>
            <a:spLocks noGrp="1" noChangeAspect="1"/>
          </p:cNvSpPr>
          <p:nvPr>
            <p:ph type="pic" idx="1"/>
          </p:nvPr>
        </p:nvSpPr>
        <p:spPr>
          <a:xfrm>
            <a:off x="5652190" y="685800"/>
            <a:ext cx="2460731" cy="3429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smtClean="0"/>
              <a:t>Click icon to add picture</a:t>
            </a:r>
            <a:endParaRPr lang="en-US" dirty="0"/>
          </a:p>
        </p:txBody>
      </p:sp>
      <p:sp>
        <p:nvSpPr>
          <p:cNvPr id="4" name="Text Placeholder 3"/>
          <p:cNvSpPr>
            <a:spLocks noGrp="1"/>
          </p:cNvSpPr>
          <p:nvPr>
            <p:ph type="body" sz="half" idx="2"/>
          </p:nvPr>
        </p:nvSpPr>
        <p:spPr>
          <a:xfrm>
            <a:off x="514350" y="2228850"/>
            <a:ext cx="4623490" cy="1371600"/>
          </a:xfrm>
        </p:spPr>
        <p:txBody>
          <a:bodyPr anchor="t">
            <a:normAutofit/>
          </a:bodyPr>
          <a:lstStyle>
            <a:lvl1pPr marL="0" indent="0">
              <a:buNone/>
              <a:defRPr sz="13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4/6/2018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4017379326"/>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1619" cy="5142161"/>
          </a:xfrm>
          <a:prstGeom prst="rect">
            <a:avLst/>
          </a:prstGeom>
        </p:spPr>
      </p:pic>
      <p:sp>
        <p:nvSpPr>
          <p:cNvPr id="2" name="Title 1"/>
          <p:cNvSpPr>
            <a:spLocks noGrp="1"/>
          </p:cNvSpPr>
          <p:nvPr>
            <p:ph type="title"/>
          </p:nvPr>
        </p:nvSpPr>
        <p:spPr>
          <a:xfrm>
            <a:off x="514351" y="3549649"/>
            <a:ext cx="7598570" cy="425054"/>
          </a:xfrm>
        </p:spPr>
        <p:txBody>
          <a:bodyPr anchor="b">
            <a:normAutofit/>
          </a:bodyPr>
          <a:lstStyle>
            <a:lvl1pPr algn="l">
              <a:defRPr sz="18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028701" y="699084"/>
            <a:ext cx="6569870" cy="2373732"/>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smtClean="0"/>
              <a:t>Click icon to add picture</a:t>
            </a:r>
            <a:endParaRPr lang="en-US" dirty="0"/>
          </a:p>
        </p:txBody>
      </p:sp>
      <p:sp>
        <p:nvSpPr>
          <p:cNvPr id="4" name="Text Placeholder 3"/>
          <p:cNvSpPr>
            <a:spLocks noGrp="1"/>
          </p:cNvSpPr>
          <p:nvPr>
            <p:ph type="body" sz="half" idx="2"/>
          </p:nvPr>
        </p:nvSpPr>
        <p:spPr>
          <a:xfrm>
            <a:off x="514351" y="3974702"/>
            <a:ext cx="7598570" cy="37028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4/6/2018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956838570"/>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1619" cy="5142161"/>
          </a:xfrm>
          <a:prstGeom prst="rect">
            <a:avLst/>
          </a:prstGeom>
        </p:spPr>
      </p:pic>
      <p:sp>
        <p:nvSpPr>
          <p:cNvPr id="2" name="Title 1"/>
          <p:cNvSpPr>
            <a:spLocks noGrp="1"/>
          </p:cNvSpPr>
          <p:nvPr>
            <p:ph type="title"/>
          </p:nvPr>
        </p:nvSpPr>
        <p:spPr>
          <a:xfrm>
            <a:off x="514351" y="457201"/>
            <a:ext cx="7598570" cy="2343149"/>
          </a:xfrm>
        </p:spPr>
        <p:txBody>
          <a:bodyPr anchor="ctr">
            <a:normAutofit/>
          </a:bodyPr>
          <a:lstStyle>
            <a:lvl1pPr algn="l">
              <a:defRPr sz="2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514350" y="3257550"/>
            <a:ext cx="7598571" cy="1085850"/>
          </a:xfrm>
        </p:spPr>
        <p:txBody>
          <a:bodyPr anchor="ctr">
            <a:normAutofit/>
          </a:bodyPr>
          <a:lstStyle>
            <a:lvl1pPr marL="0" indent="0" algn="l">
              <a:buNone/>
              <a:defRPr sz="15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4/6/2018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544680617"/>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1619" cy="5142161"/>
          </a:xfrm>
          <a:prstGeom prst="rect">
            <a:avLst/>
          </a:prstGeom>
        </p:spPr>
      </p:pic>
      <p:sp>
        <p:nvSpPr>
          <p:cNvPr id="15" name="TextBox 14"/>
          <p:cNvSpPr txBox="1"/>
          <p:nvPr/>
        </p:nvSpPr>
        <p:spPr>
          <a:xfrm>
            <a:off x="7678400" y="2057400"/>
            <a:ext cx="457200" cy="438582"/>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6000" dirty="0">
                <a:solidFill>
                  <a:schemeClr val="tx1"/>
                </a:solidFill>
                <a:effectLst/>
              </a:rPr>
              <a:t>”</a:t>
            </a:r>
          </a:p>
        </p:txBody>
      </p:sp>
      <p:sp>
        <p:nvSpPr>
          <p:cNvPr id="11" name="TextBox 10"/>
          <p:cNvSpPr txBox="1"/>
          <p:nvPr/>
        </p:nvSpPr>
        <p:spPr>
          <a:xfrm>
            <a:off x="366206" y="617503"/>
            <a:ext cx="457200" cy="438582"/>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6000" dirty="0">
                <a:solidFill>
                  <a:schemeClr val="tx1"/>
                </a:solidFill>
                <a:effectLst/>
              </a:rPr>
              <a:t>“</a:t>
            </a:r>
          </a:p>
        </p:txBody>
      </p:sp>
      <p:sp>
        <p:nvSpPr>
          <p:cNvPr id="2" name="Title 1"/>
          <p:cNvSpPr>
            <a:spLocks noGrp="1"/>
          </p:cNvSpPr>
          <p:nvPr>
            <p:ph type="title"/>
          </p:nvPr>
        </p:nvSpPr>
        <p:spPr>
          <a:xfrm>
            <a:off x="744201" y="457201"/>
            <a:ext cx="7162799" cy="2057399"/>
          </a:xfrm>
        </p:spPr>
        <p:txBody>
          <a:bodyPr anchor="ctr">
            <a:normAutofit/>
          </a:bodyPr>
          <a:lstStyle>
            <a:lvl1pPr algn="l">
              <a:defRPr sz="24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823406" y="2514600"/>
            <a:ext cx="7004388" cy="285750"/>
          </a:xfrm>
        </p:spPr>
        <p:txBody>
          <a:bodyPr anchor="ctr"/>
          <a:lstStyle>
            <a:lvl1pPr marL="0" indent="0">
              <a:buFontTx/>
              <a:buNone/>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smtClean="0"/>
              <a:t>Edit Master text styles</a:t>
            </a:r>
          </a:p>
        </p:txBody>
      </p:sp>
      <p:sp>
        <p:nvSpPr>
          <p:cNvPr id="3" name="Text Placeholder 2"/>
          <p:cNvSpPr>
            <a:spLocks noGrp="1"/>
          </p:cNvSpPr>
          <p:nvPr>
            <p:ph type="body" idx="1"/>
          </p:nvPr>
        </p:nvSpPr>
        <p:spPr>
          <a:xfrm>
            <a:off x="515599" y="3257550"/>
            <a:ext cx="7614275" cy="1085850"/>
          </a:xfrm>
        </p:spPr>
        <p:txBody>
          <a:bodyPr anchor="ctr">
            <a:normAutofit/>
          </a:bodyPr>
          <a:lstStyle>
            <a:lvl1pPr marL="0" indent="0" algn="l">
              <a:buNone/>
              <a:defRPr sz="15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4/6/2018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4033318672"/>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1619" cy="5142161"/>
          </a:xfrm>
          <a:prstGeom prst="rect">
            <a:avLst/>
          </a:prstGeom>
        </p:spPr>
      </p:pic>
      <p:sp>
        <p:nvSpPr>
          <p:cNvPr id="2" name="Title 1"/>
          <p:cNvSpPr>
            <a:spLocks noGrp="1"/>
          </p:cNvSpPr>
          <p:nvPr>
            <p:ph type="title"/>
          </p:nvPr>
        </p:nvSpPr>
        <p:spPr>
          <a:xfrm>
            <a:off x="514352" y="2481436"/>
            <a:ext cx="7598569" cy="1101600"/>
          </a:xfrm>
        </p:spPr>
        <p:txBody>
          <a:bodyPr anchor="b">
            <a:normAutofit/>
          </a:bodyPr>
          <a:lstStyle>
            <a:lvl1pPr algn="l">
              <a:defRPr sz="2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514351" y="3583036"/>
            <a:ext cx="7598570" cy="645300"/>
          </a:xfrm>
        </p:spPr>
        <p:txBody>
          <a:bodyPr anchor="t">
            <a:normAutofit/>
          </a:bodyPr>
          <a:lstStyle>
            <a:lvl1pPr marL="0" indent="0" algn="l">
              <a:buNone/>
              <a:defRPr sz="15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4/6/2018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454528854"/>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1619" cy="5142161"/>
          </a:xfrm>
          <a:prstGeom prst="rect">
            <a:avLst/>
          </a:prstGeom>
        </p:spPr>
      </p:pic>
      <p:sp>
        <p:nvSpPr>
          <p:cNvPr id="13" name="TextBox 12"/>
          <p:cNvSpPr txBox="1"/>
          <p:nvPr/>
        </p:nvSpPr>
        <p:spPr>
          <a:xfrm>
            <a:off x="7678400" y="2057400"/>
            <a:ext cx="457200" cy="438582"/>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6000" dirty="0">
                <a:solidFill>
                  <a:schemeClr val="tx1"/>
                </a:solidFill>
                <a:effectLst/>
              </a:rPr>
              <a:t>”</a:t>
            </a:r>
          </a:p>
        </p:txBody>
      </p:sp>
      <p:sp>
        <p:nvSpPr>
          <p:cNvPr id="14" name="TextBox 13"/>
          <p:cNvSpPr txBox="1"/>
          <p:nvPr/>
        </p:nvSpPr>
        <p:spPr>
          <a:xfrm>
            <a:off x="366206" y="617503"/>
            <a:ext cx="457200" cy="438582"/>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6000" dirty="0">
                <a:solidFill>
                  <a:schemeClr val="tx1"/>
                </a:solidFill>
                <a:effectLst/>
              </a:rPr>
              <a:t>“</a:t>
            </a:r>
          </a:p>
        </p:txBody>
      </p:sp>
      <p:sp>
        <p:nvSpPr>
          <p:cNvPr id="16" name="Title 1"/>
          <p:cNvSpPr>
            <a:spLocks noGrp="1"/>
          </p:cNvSpPr>
          <p:nvPr>
            <p:ph type="title"/>
          </p:nvPr>
        </p:nvSpPr>
        <p:spPr>
          <a:xfrm>
            <a:off x="744201" y="457201"/>
            <a:ext cx="7162799" cy="2057399"/>
          </a:xfrm>
        </p:spPr>
        <p:txBody>
          <a:bodyPr anchor="ctr">
            <a:normAutofit/>
          </a:bodyPr>
          <a:lstStyle>
            <a:lvl1pPr algn="l">
              <a:defRPr sz="24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514350" y="2914650"/>
            <a:ext cx="7601577" cy="666750"/>
          </a:xfrm>
        </p:spPr>
        <p:txBody>
          <a:bodyPr vert="horz" lIns="91440" tIns="45720" rIns="91440" bIns="45720" rtlCol="0" anchor="b">
            <a:normAutofit/>
          </a:bodyPr>
          <a:lstStyle>
            <a:lvl1pPr>
              <a:buNone/>
              <a:defRPr lang="en-US" sz="1800" b="0" cap="none" dirty="0">
                <a:ln w="3175" cmpd="sng">
                  <a:noFill/>
                </a:ln>
                <a:solidFill>
                  <a:schemeClr val="tx1"/>
                </a:solidFill>
                <a:effectLst/>
              </a:defRPr>
            </a:lvl1pPr>
          </a:lstStyle>
          <a:p>
            <a:pPr marL="0" lvl="0">
              <a:spcBef>
                <a:spcPct val="0"/>
              </a:spcBef>
              <a:buNone/>
            </a:pPr>
            <a:r>
              <a:rPr lang="en-US" smtClean="0"/>
              <a:t>Edit Master text styles</a:t>
            </a:r>
          </a:p>
        </p:txBody>
      </p:sp>
      <p:sp>
        <p:nvSpPr>
          <p:cNvPr id="3" name="Text Placeholder 2"/>
          <p:cNvSpPr>
            <a:spLocks noGrp="1"/>
          </p:cNvSpPr>
          <p:nvPr>
            <p:ph type="body" idx="1"/>
          </p:nvPr>
        </p:nvSpPr>
        <p:spPr>
          <a:xfrm>
            <a:off x="514349" y="3581400"/>
            <a:ext cx="7601577" cy="762000"/>
          </a:xfrm>
        </p:spPr>
        <p:txBody>
          <a:bodyPr anchor="t">
            <a:normAutofit/>
          </a:bodyPr>
          <a:lstStyle>
            <a:lvl1pPr marL="0" indent="0" algn="l">
              <a:buNone/>
              <a:defRPr sz="135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4/6/2018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737987508"/>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1619" cy="5142161"/>
          </a:xfrm>
          <a:prstGeom prst="rect">
            <a:avLst/>
          </a:prstGeom>
        </p:spPr>
      </p:pic>
      <p:sp>
        <p:nvSpPr>
          <p:cNvPr id="2" name="Title 1"/>
          <p:cNvSpPr>
            <a:spLocks noGrp="1"/>
          </p:cNvSpPr>
          <p:nvPr>
            <p:ph type="title"/>
          </p:nvPr>
        </p:nvSpPr>
        <p:spPr>
          <a:xfrm>
            <a:off x="514351" y="457201"/>
            <a:ext cx="7598570" cy="2057399"/>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10" name="Text Placeholder 9"/>
          <p:cNvSpPr>
            <a:spLocks noGrp="1"/>
          </p:cNvSpPr>
          <p:nvPr>
            <p:ph type="body" sz="quarter" idx="13"/>
          </p:nvPr>
        </p:nvSpPr>
        <p:spPr>
          <a:xfrm>
            <a:off x="514351" y="2628900"/>
            <a:ext cx="7598571" cy="628650"/>
          </a:xfrm>
        </p:spPr>
        <p:txBody>
          <a:bodyPr vert="horz" lIns="91440" tIns="45720" rIns="91440" bIns="45720" rtlCol="0" anchor="b">
            <a:normAutofit/>
          </a:bodyPr>
          <a:lstStyle>
            <a:lvl1pPr>
              <a:buNone/>
              <a:defRPr lang="en-US" sz="2100" b="0" cap="none" dirty="0">
                <a:ln w="3175" cmpd="sng">
                  <a:noFill/>
                </a:ln>
                <a:solidFill>
                  <a:schemeClr val="tx1"/>
                </a:solidFill>
                <a:effectLst/>
              </a:defRPr>
            </a:lvl1pPr>
          </a:lstStyle>
          <a:p>
            <a:pPr marL="0" lvl="0">
              <a:spcBef>
                <a:spcPct val="0"/>
              </a:spcBef>
              <a:buNone/>
            </a:pPr>
            <a:r>
              <a:rPr lang="en-US" smtClean="0"/>
              <a:t>Edit Master text styles</a:t>
            </a:r>
          </a:p>
        </p:txBody>
      </p:sp>
      <p:sp>
        <p:nvSpPr>
          <p:cNvPr id="3" name="Text Placeholder 2"/>
          <p:cNvSpPr>
            <a:spLocks noGrp="1"/>
          </p:cNvSpPr>
          <p:nvPr>
            <p:ph type="body" idx="1"/>
          </p:nvPr>
        </p:nvSpPr>
        <p:spPr>
          <a:xfrm>
            <a:off x="514350" y="3257550"/>
            <a:ext cx="7598571" cy="1085850"/>
          </a:xfrm>
        </p:spPr>
        <p:txBody>
          <a:bodyPr anchor="t">
            <a:normAutofit/>
          </a:bodyPr>
          <a:lstStyle>
            <a:lvl1pPr marL="0" indent="0" algn="l">
              <a:buNone/>
              <a:defRPr sz="135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4/6/2018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75850880"/>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1619" cy="5142161"/>
          </a:xfrm>
          <a:prstGeom prst="rect">
            <a:avLst/>
          </a:prstGeom>
        </p:spPr>
      </p:pic>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4/6/2018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8" name="Title 1"/>
          <p:cNvSpPr>
            <a:spLocks noGrp="1"/>
          </p:cNvSpPr>
          <p:nvPr>
            <p:ph type="title"/>
          </p:nvPr>
        </p:nvSpPr>
        <p:spPr>
          <a:xfrm>
            <a:off x="514351" y="457201"/>
            <a:ext cx="7598569" cy="1092200"/>
          </a:xfrm>
        </p:spPr>
        <p:txBody>
          <a:bodyPr/>
          <a:lstStyle/>
          <a:p>
            <a:r>
              <a:rPr lang="en-US" smtClean="0"/>
              <a:t>Click to edit Master title style</a:t>
            </a:r>
            <a:endParaRPr lang="en-US" dirty="0"/>
          </a:p>
        </p:txBody>
      </p:sp>
    </p:spTree>
    <p:extLst>
      <p:ext uri="{BB962C8B-B14F-4D97-AF65-F5344CB8AC3E}">
        <p14:creationId xmlns:p14="http://schemas.microsoft.com/office/powerpoint/2010/main" val="47440023"/>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1619" cy="5142161"/>
          </a:xfrm>
          <a:prstGeom prst="rect">
            <a:avLst/>
          </a:prstGeom>
        </p:spPr>
      </p:pic>
      <p:sp>
        <p:nvSpPr>
          <p:cNvPr id="2" name="Vertical Title 1"/>
          <p:cNvSpPr>
            <a:spLocks noGrp="1"/>
          </p:cNvSpPr>
          <p:nvPr>
            <p:ph type="title" orient="vert"/>
          </p:nvPr>
        </p:nvSpPr>
        <p:spPr>
          <a:xfrm>
            <a:off x="6494006" y="457200"/>
            <a:ext cx="1618914" cy="388620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514350" y="457200"/>
            <a:ext cx="5874087" cy="3886200"/>
          </a:xfrm>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4/6/2018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880589749"/>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cSld name="Title">
    <p:spTree>
      <p:nvGrpSpPr>
        <p:cNvPr id="1" name="Shape 8"/>
        <p:cNvGrpSpPr/>
        <p:nvPr/>
      </p:nvGrpSpPr>
      <p:grpSpPr>
        <a:xfrm>
          <a:off x="0" y="0"/>
          <a:ext cx="0" cy="0"/>
          <a:chOff x="0" y="0"/>
          <a:chExt cx="0" cy="0"/>
        </a:xfrm>
      </p:grpSpPr>
      <p:sp>
        <p:nvSpPr>
          <p:cNvPr id="14" name="Shape 14"/>
          <p:cNvSpPr txBox="1">
            <a:spLocks noGrp="1"/>
          </p:cNvSpPr>
          <p:nvPr>
            <p:ph type="ctrTitle"/>
          </p:nvPr>
        </p:nvSpPr>
        <p:spPr>
          <a:xfrm>
            <a:off x="685800" y="2601425"/>
            <a:ext cx="5810400" cy="1159799"/>
          </a:xfrm>
          <a:prstGeom prst="rect">
            <a:avLst/>
          </a:prstGeom>
        </p:spPr>
        <p:txBody>
          <a:bodyPr lIns="91425" tIns="91425" rIns="91425" bIns="91425" anchor="b" anchorCtr="0"/>
          <a:lstStyle>
            <a:lvl1pPr lvl="0">
              <a:spcBef>
                <a:spcPts val="0"/>
              </a:spcBef>
              <a:buSzPct val="100000"/>
              <a:defRPr sz="4800"/>
            </a:lvl1pPr>
            <a:lvl2pPr lvl="1" algn="ctr">
              <a:spcBef>
                <a:spcPts val="0"/>
              </a:spcBef>
              <a:buSzPct val="100000"/>
              <a:defRPr sz="6000"/>
            </a:lvl2pPr>
            <a:lvl3pPr lvl="2" algn="ctr">
              <a:spcBef>
                <a:spcPts val="0"/>
              </a:spcBef>
              <a:buSzPct val="100000"/>
              <a:defRPr sz="6000"/>
            </a:lvl3pPr>
            <a:lvl4pPr lvl="3" algn="ctr">
              <a:spcBef>
                <a:spcPts val="0"/>
              </a:spcBef>
              <a:buSzPct val="100000"/>
              <a:defRPr sz="6000"/>
            </a:lvl4pPr>
            <a:lvl5pPr lvl="4" algn="ctr">
              <a:spcBef>
                <a:spcPts val="0"/>
              </a:spcBef>
              <a:buSzPct val="100000"/>
              <a:defRPr sz="6000"/>
            </a:lvl5pPr>
            <a:lvl6pPr lvl="5" algn="ctr">
              <a:spcBef>
                <a:spcPts val="0"/>
              </a:spcBef>
              <a:buSzPct val="100000"/>
              <a:defRPr sz="6000"/>
            </a:lvl6pPr>
            <a:lvl7pPr lvl="6" algn="ctr">
              <a:spcBef>
                <a:spcPts val="0"/>
              </a:spcBef>
              <a:buSzPct val="100000"/>
              <a:defRPr sz="6000"/>
            </a:lvl7pPr>
            <a:lvl8pPr lvl="7" algn="ctr">
              <a:spcBef>
                <a:spcPts val="0"/>
              </a:spcBef>
              <a:buSzPct val="100000"/>
              <a:defRPr sz="6000"/>
            </a:lvl8pPr>
            <a:lvl9pPr lvl="8" algn="ctr">
              <a:spcBef>
                <a:spcPts val="0"/>
              </a:spcBef>
              <a:buSzPct val="100000"/>
              <a:defRPr sz="6000"/>
            </a:lvl9pPr>
          </a:lstStyle>
          <a:p>
            <a:endParaRPr/>
          </a:p>
        </p:txBody>
      </p:sp>
    </p:spTree>
    <p:extLst>
      <p:ext uri="{BB962C8B-B14F-4D97-AF65-F5344CB8AC3E}">
        <p14:creationId xmlns:p14="http://schemas.microsoft.com/office/powerpoint/2010/main" val="14737830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14351" y="457201"/>
            <a:ext cx="7598569" cy="1092200"/>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514351" y="1606551"/>
            <a:ext cx="7598569" cy="2736850"/>
          </a:xfrm>
          <a:prstGeom prst="rect">
            <a:avLst/>
          </a:prstGeom>
        </p:spPr>
        <p:txBody>
          <a:bodyPr vert="horz" lIns="91440" tIns="45720" rIns="91440" bIns="45720" rtlCol="0"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6442245" y="4402932"/>
            <a:ext cx="1200150" cy="283369"/>
          </a:xfrm>
          <a:prstGeom prst="rect">
            <a:avLst/>
          </a:prstGeom>
        </p:spPr>
        <p:txBody>
          <a:bodyPr vert="horz" lIns="91440" tIns="45720" rIns="91440" bIns="45720" rtlCol="0" anchor="ctr"/>
          <a:lstStyle>
            <a:lvl1pPr algn="r">
              <a:defRPr sz="750" b="0" i="0">
                <a:solidFill>
                  <a:schemeClr val="tx1"/>
                </a:solidFill>
                <a:effectLst/>
                <a:latin typeface="+mn-lt"/>
              </a:defRPr>
            </a:lvl1pPr>
          </a:lstStyle>
          <a:p>
            <a:fld id="{B61BEF0D-F0BB-DE4B-95CE-6DB70DBA9567}" type="datetimeFigureOut">
              <a:rPr lang="en-US" dirty="0"/>
              <a:pPr/>
              <a:t>4/6/2018</a:t>
            </a:fld>
            <a:endParaRPr lang="en-US" dirty="0"/>
          </a:p>
        </p:txBody>
      </p:sp>
      <p:sp>
        <p:nvSpPr>
          <p:cNvPr id="5" name="Footer Placeholder 4"/>
          <p:cNvSpPr>
            <a:spLocks noGrp="1"/>
          </p:cNvSpPr>
          <p:nvPr>
            <p:ph type="ftr" sz="quarter" idx="3"/>
          </p:nvPr>
        </p:nvSpPr>
        <p:spPr>
          <a:xfrm>
            <a:off x="514351" y="4402932"/>
            <a:ext cx="5870744" cy="283369"/>
          </a:xfrm>
          <a:prstGeom prst="rect">
            <a:avLst/>
          </a:prstGeom>
        </p:spPr>
        <p:txBody>
          <a:bodyPr vert="horz" lIns="91440" tIns="45720" rIns="91440" bIns="45720" rtlCol="0" anchor="ctr"/>
          <a:lstStyle>
            <a:lvl1pPr algn="l">
              <a:defRPr sz="75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7699546" y="4402932"/>
            <a:ext cx="413375" cy="283369"/>
          </a:xfrm>
          <a:prstGeom prst="rect">
            <a:avLst/>
          </a:prstGeom>
        </p:spPr>
        <p:txBody>
          <a:bodyPr vert="horz" lIns="91440" tIns="45720" rIns="91440" bIns="45720" rtlCol="0" anchor="ctr"/>
          <a:lstStyle>
            <a:lvl1pPr algn="r">
              <a:defRPr sz="750" b="0" i="0">
                <a:solidFill>
                  <a:schemeClr val="tx1"/>
                </a:solidFill>
                <a:effectLst/>
                <a:latin typeface="+mn-lt"/>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2853195078"/>
      </p:ext>
    </p:extLst>
  </p:cSld>
  <p:clrMap bg1="dk1" tx1="lt1" bg2="dk2" tx2="lt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 id="2147483679" r:id="rId18"/>
  </p:sldLayoutIdLst>
  <p:hf sldNum="0" hdr="0" ftr="0" dt="0"/>
  <p:txStyles>
    <p:titleStyle>
      <a:lvl1pPr algn="l" defTabSz="342900" rtl="0" eaLnBrk="1" latinLnBrk="0" hangingPunct="1">
        <a:spcBef>
          <a:spcPct val="0"/>
        </a:spcBef>
        <a:buNone/>
        <a:defRPr sz="27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14313" indent="-214313" algn="l" defTabSz="342900" rtl="0" eaLnBrk="1" latinLnBrk="0" hangingPunct="1">
        <a:spcBef>
          <a:spcPts val="0"/>
        </a:spcBef>
        <a:spcAft>
          <a:spcPts val="750"/>
        </a:spcAft>
        <a:buClr>
          <a:schemeClr val="tx1"/>
        </a:buClr>
        <a:buSzPct val="100000"/>
        <a:buFont typeface="Arial"/>
        <a:buChar char="•"/>
        <a:defRPr sz="1350" kern="1200" cap="none">
          <a:solidFill>
            <a:schemeClr val="tx1"/>
          </a:solidFill>
          <a:effectLst/>
          <a:latin typeface="+mn-lt"/>
          <a:ea typeface="+mn-ea"/>
          <a:cs typeface="+mn-cs"/>
        </a:defRPr>
      </a:lvl1pPr>
      <a:lvl2pPr marL="557213" indent="-214313" algn="l" defTabSz="342900" rtl="0" eaLnBrk="1" latinLnBrk="0" hangingPunct="1">
        <a:spcBef>
          <a:spcPts val="0"/>
        </a:spcBef>
        <a:spcAft>
          <a:spcPts val="750"/>
        </a:spcAft>
        <a:buClr>
          <a:schemeClr val="tx1"/>
        </a:buClr>
        <a:buSzPct val="100000"/>
        <a:buFont typeface="Arial"/>
        <a:buChar char="•"/>
        <a:defRPr sz="1200" kern="1200" cap="none">
          <a:solidFill>
            <a:schemeClr val="tx1"/>
          </a:solidFill>
          <a:effectLst/>
          <a:latin typeface="+mn-lt"/>
          <a:ea typeface="+mn-ea"/>
          <a:cs typeface="+mn-cs"/>
        </a:defRPr>
      </a:lvl2pPr>
      <a:lvl3pPr marL="900113" indent="-214313" algn="l" defTabSz="342900" rtl="0" eaLnBrk="1" latinLnBrk="0" hangingPunct="1">
        <a:spcBef>
          <a:spcPts val="0"/>
        </a:spcBef>
        <a:spcAft>
          <a:spcPts val="750"/>
        </a:spcAft>
        <a:buClr>
          <a:schemeClr val="tx1"/>
        </a:buClr>
        <a:buSzPct val="100000"/>
        <a:buFont typeface="Arial"/>
        <a:buChar char="•"/>
        <a:defRPr sz="1050" kern="1200" cap="none">
          <a:solidFill>
            <a:schemeClr val="tx1"/>
          </a:solidFill>
          <a:effectLst/>
          <a:latin typeface="+mn-lt"/>
          <a:ea typeface="+mn-ea"/>
          <a:cs typeface="+mn-cs"/>
        </a:defRPr>
      </a:lvl3pPr>
      <a:lvl4pPr marL="1157288" indent="-128588" algn="l" defTabSz="342900" rtl="0" eaLnBrk="1" latinLnBrk="0" hangingPunct="1">
        <a:spcBef>
          <a:spcPts val="0"/>
        </a:spcBef>
        <a:spcAft>
          <a:spcPts val="750"/>
        </a:spcAft>
        <a:buClr>
          <a:schemeClr val="tx1"/>
        </a:buClr>
        <a:buSzPct val="100000"/>
        <a:buFont typeface="Arial"/>
        <a:buChar char="•"/>
        <a:defRPr sz="900" kern="1200" cap="none">
          <a:solidFill>
            <a:schemeClr val="tx1"/>
          </a:solidFill>
          <a:effectLst/>
          <a:latin typeface="+mn-lt"/>
          <a:ea typeface="+mn-ea"/>
          <a:cs typeface="+mn-cs"/>
        </a:defRPr>
      </a:lvl4pPr>
      <a:lvl5pPr marL="1500188" indent="-128588" algn="l" defTabSz="342900" rtl="0" eaLnBrk="1" latinLnBrk="0" hangingPunct="1">
        <a:spcBef>
          <a:spcPts val="0"/>
        </a:spcBef>
        <a:spcAft>
          <a:spcPts val="750"/>
        </a:spcAft>
        <a:buClr>
          <a:schemeClr val="tx1"/>
        </a:buClr>
        <a:buSzPct val="100000"/>
        <a:buFont typeface="Arial"/>
        <a:buChar char="•"/>
        <a:defRPr sz="900" kern="1200" cap="none">
          <a:solidFill>
            <a:schemeClr val="tx1"/>
          </a:solidFill>
          <a:effectLst/>
          <a:latin typeface="+mn-lt"/>
          <a:ea typeface="+mn-ea"/>
          <a:cs typeface="+mn-cs"/>
        </a:defRPr>
      </a:lvl5pPr>
      <a:lvl6pPr marL="1885950" indent="-171450" algn="l" defTabSz="342900" rtl="0" eaLnBrk="1" latinLnBrk="0" hangingPunct="1">
        <a:spcBef>
          <a:spcPts val="0"/>
        </a:spcBef>
        <a:spcAft>
          <a:spcPts val="750"/>
        </a:spcAft>
        <a:buClr>
          <a:schemeClr val="tx1"/>
        </a:buClr>
        <a:buSzPct val="100000"/>
        <a:buFont typeface="Arial"/>
        <a:buChar char="•"/>
        <a:defRPr sz="900" kern="1200" cap="none">
          <a:solidFill>
            <a:schemeClr val="tx1"/>
          </a:solidFill>
          <a:effectLst/>
          <a:latin typeface="+mn-lt"/>
          <a:ea typeface="+mn-ea"/>
          <a:cs typeface="+mn-cs"/>
        </a:defRPr>
      </a:lvl6pPr>
      <a:lvl7pPr marL="2228850" indent="-171450" algn="l" defTabSz="342900" rtl="0" eaLnBrk="1" latinLnBrk="0" hangingPunct="1">
        <a:spcBef>
          <a:spcPts val="0"/>
        </a:spcBef>
        <a:spcAft>
          <a:spcPts val="750"/>
        </a:spcAft>
        <a:buClr>
          <a:schemeClr val="tx1"/>
        </a:buClr>
        <a:buSzPct val="100000"/>
        <a:buFont typeface="Arial"/>
        <a:buChar char="•"/>
        <a:defRPr sz="900" kern="1200" cap="none">
          <a:solidFill>
            <a:schemeClr val="tx1"/>
          </a:solidFill>
          <a:effectLst/>
          <a:latin typeface="+mn-lt"/>
          <a:ea typeface="+mn-ea"/>
          <a:cs typeface="+mn-cs"/>
        </a:defRPr>
      </a:lvl7pPr>
      <a:lvl8pPr marL="2571750" indent="-171450" algn="l" defTabSz="342900" rtl="0" eaLnBrk="1" latinLnBrk="0" hangingPunct="1">
        <a:spcBef>
          <a:spcPts val="0"/>
        </a:spcBef>
        <a:spcAft>
          <a:spcPts val="750"/>
        </a:spcAft>
        <a:buClr>
          <a:schemeClr val="tx1"/>
        </a:buClr>
        <a:buSzPct val="100000"/>
        <a:buFont typeface="Arial"/>
        <a:buChar char="•"/>
        <a:defRPr sz="900" kern="1200" cap="none">
          <a:solidFill>
            <a:schemeClr val="tx1"/>
          </a:solidFill>
          <a:effectLst/>
          <a:latin typeface="+mn-lt"/>
          <a:ea typeface="+mn-ea"/>
          <a:cs typeface="+mn-cs"/>
        </a:defRPr>
      </a:lvl8pPr>
      <a:lvl9pPr marL="2914650" indent="-171450" algn="l" defTabSz="342900" rtl="0" eaLnBrk="1" latinLnBrk="0" hangingPunct="1">
        <a:spcBef>
          <a:spcPts val="0"/>
        </a:spcBef>
        <a:spcAft>
          <a:spcPts val="750"/>
        </a:spcAft>
        <a:buClr>
          <a:schemeClr val="tx1"/>
        </a:buClr>
        <a:buSzPct val="100000"/>
        <a:buFont typeface="Arial"/>
        <a:buChar char="•"/>
        <a:defRPr sz="900" kern="1200" cap="none">
          <a:solidFill>
            <a:schemeClr val="tx1"/>
          </a:solidFill>
          <a:effectLst/>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Shape 98"/>
          <p:cNvSpPr txBox="1">
            <a:spLocks noGrp="1"/>
          </p:cNvSpPr>
          <p:nvPr>
            <p:ph type="ctrTitle"/>
          </p:nvPr>
        </p:nvSpPr>
        <p:spPr>
          <a:xfrm>
            <a:off x="753266" y="2223754"/>
            <a:ext cx="7924800" cy="1159799"/>
          </a:xfrm>
          <a:prstGeom prst="rect">
            <a:avLst/>
          </a:prstGeom>
        </p:spPr>
        <p:txBody>
          <a:bodyPr lIns="91425" tIns="91425" rIns="91425" bIns="91425" anchor="b" anchorCtr="0">
            <a:noAutofit/>
          </a:bodyPr>
          <a:lstStyle/>
          <a:p>
            <a:pPr lvl="0">
              <a:spcBef>
                <a:spcPts val="0"/>
              </a:spcBef>
              <a:buNone/>
            </a:pPr>
            <a:r>
              <a:rPr lang="en" sz="2400" dirty="0" smtClean="0"/>
              <a:t>IT2757</a:t>
            </a:r>
            <a:br>
              <a:rPr lang="en" sz="2400" dirty="0" smtClean="0"/>
            </a:br>
            <a:r>
              <a:rPr lang="en" sz="2400" dirty="0" smtClean="0"/>
              <a:t>Server and Services Security Management</a:t>
            </a:r>
            <a:br>
              <a:rPr lang="en" sz="2400" dirty="0" smtClean="0"/>
            </a:br>
            <a:r>
              <a:rPr lang="en" sz="2400" dirty="0" smtClean="0"/>
              <a:t>- LINUX ACL and FILE COLLABORATION</a:t>
            </a:r>
            <a:endParaRPr lang="en" sz="2400" dirty="0"/>
          </a:p>
        </p:txBody>
      </p:sp>
      <p:grpSp>
        <p:nvGrpSpPr>
          <p:cNvPr id="99" name="Shape 99"/>
          <p:cNvGrpSpPr/>
          <p:nvPr/>
        </p:nvGrpSpPr>
        <p:grpSpPr>
          <a:xfrm>
            <a:off x="753266" y="1029785"/>
            <a:ext cx="964540" cy="1011306"/>
            <a:chOff x="5961125" y="1623900"/>
            <a:chExt cx="427450" cy="448175"/>
          </a:xfrm>
        </p:grpSpPr>
        <p:sp>
          <p:nvSpPr>
            <p:cNvPr id="100" name="Shape 100"/>
            <p:cNvSpPr/>
            <p:nvPr/>
          </p:nvSpPr>
          <p:spPr>
            <a:xfrm>
              <a:off x="5961125" y="1678700"/>
              <a:ext cx="376925" cy="376925"/>
            </a:xfrm>
            <a:custGeom>
              <a:avLst/>
              <a:gdLst/>
              <a:ahLst/>
              <a:cxnLst/>
              <a:rect l="0" t="0" r="0" b="0"/>
              <a:pathLst>
                <a:path w="15077" h="15077" fill="none" extrusionOk="0">
                  <a:moveTo>
                    <a:pt x="11813" y="1340"/>
                  </a:moveTo>
                  <a:lnTo>
                    <a:pt x="11813" y="1340"/>
                  </a:lnTo>
                  <a:lnTo>
                    <a:pt x="11350" y="1024"/>
                  </a:lnTo>
                  <a:lnTo>
                    <a:pt x="10863" y="780"/>
                  </a:lnTo>
                  <a:lnTo>
                    <a:pt x="10351" y="537"/>
                  </a:lnTo>
                  <a:lnTo>
                    <a:pt x="9816" y="342"/>
                  </a:lnTo>
                  <a:lnTo>
                    <a:pt x="9280" y="196"/>
                  </a:lnTo>
                  <a:lnTo>
                    <a:pt x="8720" y="98"/>
                  </a:lnTo>
                  <a:lnTo>
                    <a:pt x="8135" y="25"/>
                  </a:lnTo>
                  <a:lnTo>
                    <a:pt x="7551" y="1"/>
                  </a:lnTo>
                  <a:lnTo>
                    <a:pt x="7551" y="1"/>
                  </a:lnTo>
                  <a:lnTo>
                    <a:pt x="7161" y="1"/>
                  </a:lnTo>
                  <a:lnTo>
                    <a:pt x="6771" y="50"/>
                  </a:lnTo>
                  <a:lnTo>
                    <a:pt x="6406" y="98"/>
                  </a:lnTo>
                  <a:lnTo>
                    <a:pt x="6041" y="147"/>
                  </a:lnTo>
                  <a:lnTo>
                    <a:pt x="5675" y="244"/>
                  </a:lnTo>
                  <a:lnTo>
                    <a:pt x="5310" y="342"/>
                  </a:lnTo>
                  <a:lnTo>
                    <a:pt x="4969" y="464"/>
                  </a:lnTo>
                  <a:lnTo>
                    <a:pt x="4628" y="585"/>
                  </a:lnTo>
                  <a:lnTo>
                    <a:pt x="4287" y="731"/>
                  </a:lnTo>
                  <a:lnTo>
                    <a:pt x="3970" y="902"/>
                  </a:lnTo>
                  <a:lnTo>
                    <a:pt x="3654" y="1097"/>
                  </a:lnTo>
                  <a:lnTo>
                    <a:pt x="3337" y="1292"/>
                  </a:lnTo>
                  <a:lnTo>
                    <a:pt x="3045" y="1486"/>
                  </a:lnTo>
                  <a:lnTo>
                    <a:pt x="2753" y="1730"/>
                  </a:lnTo>
                  <a:lnTo>
                    <a:pt x="2485" y="1949"/>
                  </a:lnTo>
                  <a:lnTo>
                    <a:pt x="2217" y="2217"/>
                  </a:lnTo>
                  <a:lnTo>
                    <a:pt x="1973" y="2461"/>
                  </a:lnTo>
                  <a:lnTo>
                    <a:pt x="1730" y="2753"/>
                  </a:lnTo>
                  <a:lnTo>
                    <a:pt x="1510" y="3021"/>
                  </a:lnTo>
                  <a:lnTo>
                    <a:pt x="1291" y="3313"/>
                  </a:lnTo>
                  <a:lnTo>
                    <a:pt x="1096" y="3630"/>
                  </a:lnTo>
                  <a:lnTo>
                    <a:pt x="926" y="3946"/>
                  </a:lnTo>
                  <a:lnTo>
                    <a:pt x="755" y="4263"/>
                  </a:lnTo>
                  <a:lnTo>
                    <a:pt x="609" y="4604"/>
                  </a:lnTo>
                  <a:lnTo>
                    <a:pt x="463" y="4945"/>
                  </a:lnTo>
                  <a:lnTo>
                    <a:pt x="341" y="5286"/>
                  </a:lnTo>
                  <a:lnTo>
                    <a:pt x="244" y="5651"/>
                  </a:lnTo>
                  <a:lnTo>
                    <a:pt x="171" y="6016"/>
                  </a:lnTo>
                  <a:lnTo>
                    <a:pt x="98" y="6382"/>
                  </a:lnTo>
                  <a:lnTo>
                    <a:pt x="49" y="6771"/>
                  </a:lnTo>
                  <a:lnTo>
                    <a:pt x="25" y="7137"/>
                  </a:lnTo>
                  <a:lnTo>
                    <a:pt x="0" y="7526"/>
                  </a:lnTo>
                  <a:lnTo>
                    <a:pt x="0" y="7526"/>
                  </a:lnTo>
                  <a:lnTo>
                    <a:pt x="25" y="7916"/>
                  </a:lnTo>
                  <a:lnTo>
                    <a:pt x="49" y="8306"/>
                  </a:lnTo>
                  <a:lnTo>
                    <a:pt x="98" y="8671"/>
                  </a:lnTo>
                  <a:lnTo>
                    <a:pt x="171" y="9061"/>
                  </a:lnTo>
                  <a:lnTo>
                    <a:pt x="244" y="9426"/>
                  </a:lnTo>
                  <a:lnTo>
                    <a:pt x="341" y="9767"/>
                  </a:lnTo>
                  <a:lnTo>
                    <a:pt x="463" y="10132"/>
                  </a:lnTo>
                  <a:lnTo>
                    <a:pt x="609" y="10473"/>
                  </a:lnTo>
                  <a:lnTo>
                    <a:pt x="755" y="10790"/>
                  </a:lnTo>
                  <a:lnTo>
                    <a:pt x="926" y="11131"/>
                  </a:lnTo>
                  <a:lnTo>
                    <a:pt x="1096" y="11448"/>
                  </a:lnTo>
                  <a:lnTo>
                    <a:pt x="1291" y="11740"/>
                  </a:lnTo>
                  <a:lnTo>
                    <a:pt x="1510" y="12032"/>
                  </a:lnTo>
                  <a:lnTo>
                    <a:pt x="1730" y="12324"/>
                  </a:lnTo>
                  <a:lnTo>
                    <a:pt x="1973" y="12592"/>
                  </a:lnTo>
                  <a:lnTo>
                    <a:pt x="2217" y="12860"/>
                  </a:lnTo>
                  <a:lnTo>
                    <a:pt x="2485" y="13104"/>
                  </a:lnTo>
                  <a:lnTo>
                    <a:pt x="2753" y="13347"/>
                  </a:lnTo>
                  <a:lnTo>
                    <a:pt x="3045" y="13567"/>
                  </a:lnTo>
                  <a:lnTo>
                    <a:pt x="3337" y="13786"/>
                  </a:lnTo>
                  <a:lnTo>
                    <a:pt x="3654" y="13981"/>
                  </a:lnTo>
                  <a:lnTo>
                    <a:pt x="3970" y="14151"/>
                  </a:lnTo>
                  <a:lnTo>
                    <a:pt x="4287" y="14322"/>
                  </a:lnTo>
                  <a:lnTo>
                    <a:pt x="4628" y="14468"/>
                  </a:lnTo>
                  <a:lnTo>
                    <a:pt x="4969" y="14614"/>
                  </a:lnTo>
                  <a:lnTo>
                    <a:pt x="5310" y="14736"/>
                  </a:lnTo>
                  <a:lnTo>
                    <a:pt x="5675" y="14833"/>
                  </a:lnTo>
                  <a:lnTo>
                    <a:pt x="6041" y="14906"/>
                  </a:lnTo>
                  <a:lnTo>
                    <a:pt x="6406" y="14979"/>
                  </a:lnTo>
                  <a:lnTo>
                    <a:pt x="6771" y="15028"/>
                  </a:lnTo>
                  <a:lnTo>
                    <a:pt x="7161" y="15052"/>
                  </a:lnTo>
                  <a:lnTo>
                    <a:pt x="7551" y="15077"/>
                  </a:lnTo>
                  <a:lnTo>
                    <a:pt x="7551" y="15077"/>
                  </a:lnTo>
                  <a:lnTo>
                    <a:pt x="7940" y="15052"/>
                  </a:lnTo>
                  <a:lnTo>
                    <a:pt x="8306" y="15028"/>
                  </a:lnTo>
                  <a:lnTo>
                    <a:pt x="8695" y="14979"/>
                  </a:lnTo>
                  <a:lnTo>
                    <a:pt x="9061" y="14906"/>
                  </a:lnTo>
                  <a:lnTo>
                    <a:pt x="9426" y="14833"/>
                  </a:lnTo>
                  <a:lnTo>
                    <a:pt x="9791" y="14736"/>
                  </a:lnTo>
                  <a:lnTo>
                    <a:pt x="10132" y="14614"/>
                  </a:lnTo>
                  <a:lnTo>
                    <a:pt x="10473" y="14468"/>
                  </a:lnTo>
                  <a:lnTo>
                    <a:pt x="10814" y="14322"/>
                  </a:lnTo>
                  <a:lnTo>
                    <a:pt x="11131" y="14151"/>
                  </a:lnTo>
                  <a:lnTo>
                    <a:pt x="11447" y="13981"/>
                  </a:lnTo>
                  <a:lnTo>
                    <a:pt x="11764" y="13786"/>
                  </a:lnTo>
                  <a:lnTo>
                    <a:pt x="12056" y="13567"/>
                  </a:lnTo>
                  <a:lnTo>
                    <a:pt x="12348" y="13347"/>
                  </a:lnTo>
                  <a:lnTo>
                    <a:pt x="12616" y="13104"/>
                  </a:lnTo>
                  <a:lnTo>
                    <a:pt x="12884" y="12860"/>
                  </a:lnTo>
                  <a:lnTo>
                    <a:pt x="13128" y="12592"/>
                  </a:lnTo>
                  <a:lnTo>
                    <a:pt x="13371" y="12324"/>
                  </a:lnTo>
                  <a:lnTo>
                    <a:pt x="13591" y="12032"/>
                  </a:lnTo>
                  <a:lnTo>
                    <a:pt x="13785" y="11740"/>
                  </a:lnTo>
                  <a:lnTo>
                    <a:pt x="13980" y="11448"/>
                  </a:lnTo>
                  <a:lnTo>
                    <a:pt x="14175" y="11131"/>
                  </a:lnTo>
                  <a:lnTo>
                    <a:pt x="14346" y="10790"/>
                  </a:lnTo>
                  <a:lnTo>
                    <a:pt x="14492" y="10473"/>
                  </a:lnTo>
                  <a:lnTo>
                    <a:pt x="14613" y="10132"/>
                  </a:lnTo>
                  <a:lnTo>
                    <a:pt x="14735" y="9767"/>
                  </a:lnTo>
                  <a:lnTo>
                    <a:pt x="14857" y="9426"/>
                  </a:lnTo>
                  <a:lnTo>
                    <a:pt x="14930" y="9061"/>
                  </a:lnTo>
                  <a:lnTo>
                    <a:pt x="15003" y="8671"/>
                  </a:lnTo>
                  <a:lnTo>
                    <a:pt x="15052" y="8306"/>
                  </a:lnTo>
                  <a:lnTo>
                    <a:pt x="15076" y="7916"/>
                  </a:lnTo>
                  <a:lnTo>
                    <a:pt x="15076" y="7526"/>
                  </a:lnTo>
                  <a:lnTo>
                    <a:pt x="15076" y="7526"/>
                  </a:lnTo>
                  <a:lnTo>
                    <a:pt x="15052" y="6918"/>
                  </a:lnTo>
                  <a:lnTo>
                    <a:pt x="14979" y="6309"/>
                  </a:lnTo>
                  <a:lnTo>
                    <a:pt x="14857" y="5724"/>
                  </a:lnTo>
                  <a:lnTo>
                    <a:pt x="14687" y="5164"/>
                  </a:lnTo>
                  <a:lnTo>
                    <a:pt x="14492" y="4604"/>
                  </a:lnTo>
                  <a:lnTo>
                    <a:pt x="14248" y="4068"/>
                  </a:lnTo>
                  <a:lnTo>
                    <a:pt x="13956" y="3581"/>
                  </a:lnTo>
                  <a:lnTo>
                    <a:pt x="13615" y="3094"/>
                  </a:lnTo>
                </a:path>
              </a:pathLst>
            </a:custGeom>
            <a:noFill/>
            <a:ln w="19050" cap="rnd" cmpd="sng">
              <a:solidFill>
                <a:srgbClr val="18637B"/>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101" name="Shape 101"/>
            <p:cNvSpPr/>
            <p:nvPr/>
          </p:nvSpPr>
          <p:spPr>
            <a:xfrm>
              <a:off x="6009825" y="1727425"/>
              <a:ext cx="279500" cy="279500"/>
            </a:xfrm>
            <a:custGeom>
              <a:avLst/>
              <a:gdLst/>
              <a:ahLst/>
              <a:cxnLst/>
              <a:rect l="0" t="0" r="0" b="0"/>
              <a:pathLst>
                <a:path w="11180" h="11180" fill="none" extrusionOk="0">
                  <a:moveTo>
                    <a:pt x="10181" y="2387"/>
                  </a:moveTo>
                  <a:lnTo>
                    <a:pt x="10181" y="2387"/>
                  </a:lnTo>
                  <a:lnTo>
                    <a:pt x="10400" y="2728"/>
                  </a:lnTo>
                  <a:lnTo>
                    <a:pt x="10595" y="3093"/>
                  </a:lnTo>
                  <a:lnTo>
                    <a:pt x="10766" y="3483"/>
                  </a:lnTo>
                  <a:lnTo>
                    <a:pt x="10912" y="3873"/>
                  </a:lnTo>
                  <a:lnTo>
                    <a:pt x="11034" y="4287"/>
                  </a:lnTo>
                  <a:lnTo>
                    <a:pt x="11107" y="4701"/>
                  </a:lnTo>
                  <a:lnTo>
                    <a:pt x="11180" y="5139"/>
                  </a:lnTo>
                  <a:lnTo>
                    <a:pt x="11180" y="5577"/>
                  </a:lnTo>
                  <a:lnTo>
                    <a:pt x="11180" y="5577"/>
                  </a:lnTo>
                  <a:lnTo>
                    <a:pt x="11155" y="6162"/>
                  </a:lnTo>
                  <a:lnTo>
                    <a:pt x="11082" y="6722"/>
                  </a:lnTo>
                  <a:lnTo>
                    <a:pt x="10936" y="7234"/>
                  </a:lnTo>
                  <a:lnTo>
                    <a:pt x="10741" y="7769"/>
                  </a:lnTo>
                  <a:lnTo>
                    <a:pt x="10522" y="8257"/>
                  </a:lnTo>
                  <a:lnTo>
                    <a:pt x="10230" y="8695"/>
                  </a:lnTo>
                  <a:lnTo>
                    <a:pt x="9913" y="9133"/>
                  </a:lnTo>
                  <a:lnTo>
                    <a:pt x="9548" y="9523"/>
                  </a:lnTo>
                  <a:lnTo>
                    <a:pt x="9158" y="9888"/>
                  </a:lnTo>
                  <a:lnTo>
                    <a:pt x="8720" y="10205"/>
                  </a:lnTo>
                  <a:lnTo>
                    <a:pt x="8257" y="10497"/>
                  </a:lnTo>
                  <a:lnTo>
                    <a:pt x="7770" y="10741"/>
                  </a:lnTo>
                  <a:lnTo>
                    <a:pt x="7259" y="10911"/>
                  </a:lnTo>
                  <a:lnTo>
                    <a:pt x="6723" y="11057"/>
                  </a:lnTo>
                  <a:lnTo>
                    <a:pt x="6163" y="11155"/>
                  </a:lnTo>
                  <a:lnTo>
                    <a:pt x="5603" y="11179"/>
                  </a:lnTo>
                  <a:lnTo>
                    <a:pt x="5603" y="11179"/>
                  </a:lnTo>
                  <a:lnTo>
                    <a:pt x="5018" y="11155"/>
                  </a:lnTo>
                  <a:lnTo>
                    <a:pt x="4482" y="11057"/>
                  </a:lnTo>
                  <a:lnTo>
                    <a:pt x="3946" y="10911"/>
                  </a:lnTo>
                  <a:lnTo>
                    <a:pt x="3435" y="10741"/>
                  </a:lnTo>
                  <a:lnTo>
                    <a:pt x="2948" y="10497"/>
                  </a:lnTo>
                  <a:lnTo>
                    <a:pt x="2485" y="10205"/>
                  </a:lnTo>
                  <a:lnTo>
                    <a:pt x="2047" y="9888"/>
                  </a:lnTo>
                  <a:lnTo>
                    <a:pt x="1657" y="9523"/>
                  </a:lnTo>
                  <a:lnTo>
                    <a:pt x="1292" y="9133"/>
                  </a:lnTo>
                  <a:lnTo>
                    <a:pt x="975" y="8695"/>
                  </a:lnTo>
                  <a:lnTo>
                    <a:pt x="683" y="8257"/>
                  </a:lnTo>
                  <a:lnTo>
                    <a:pt x="464" y="7769"/>
                  </a:lnTo>
                  <a:lnTo>
                    <a:pt x="269" y="7234"/>
                  </a:lnTo>
                  <a:lnTo>
                    <a:pt x="123" y="6722"/>
                  </a:lnTo>
                  <a:lnTo>
                    <a:pt x="50" y="6162"/>
                  </a:lnTo>
                  <a:lnTo>
                    <a:pt x="1" y="5577"/>
                  </a:lnTo>
                  <a:lnTo>
                    <a:pt x="1" y="5577"/>
                  </a:lnTo>
                  <a:lnTo>
                    <a:pt x="50" y="5017"/>
                  </a:lnTo>
                  <a:lnTo>
                    <a:pt x="123" y="4457"/>
                  </a:lnTo>
                  <a:lnTo>
                    <a:pt x="269" y="3921"/>
                  </a:lnTo>
                  <a:lnTo>
                    <a:pt x="464" y="3410"/>
                  </a:lnTo>
                  <a:lnTo>
                    <a:pt x="683" y="2923"/>
                  </a:lnTo>
                  <a:lnTo>
                    <a:pt x="975" y="2460"/>
                  </a:lnTo>
                  <a:lnTo>
                    <a:pt x="1292" y="2046"/>
                  </a:lnTo>
                  <a:lnTo>
                    <a:pt x="1657" y="1632"/>
                  </a:lnTo>
                  <a:lnTo>
                    <a:pt x="2047" y="1267"/>
                  </a:lnTo>
                  <a:lnTo>
                    <a:pt x="2485" y="950"/>
                  </a:lnTo>
                  <a:lnTo>
                    <a:pt x="2948" y="682"/>
                  </a:lnTo>
                  <a:lnTo>
                    <a:pt x="3435" y="439"/>
                  </a:lnTo>
                  <a:lnTo>
                    <a:pt x="3946" y="244"/>
                  </a:lnTo>
                  <a:lnTo>
                    <a:pt x="4482" y="122"/>
                  </a:lnTo>
                  <a:lnTo>
                    <a:pt x="5018" y="25"/>
                  </a:lnTo>
                  <a:lnTo>
                    <a:pt x="5603" y="0"/>
                  </a:lnTo>
                  <a:lnTo>
                    <a:pt x="5603" y="0"/>
                  </a:lnTo>
                  <a:lnTo>
                    <a:pt x="6041" y="25"/>
                  </a:lnTo>
                  <a:lnTo>
                    <a:pt x="6479" y="73"/>
                  </a:lnTo>
                  <a:lnTo>
                    <a:pt x="6893" y="146"/>
                  </a:lnTo>
                  <a:lnTo>
                    <a:pt x="7307" y="268"/>
                  </a:lnTo>
                  <a:lnTo>
                    <a:pt x="7697" y="414"/>
                  </a:lnTo>
                  <a:lnTo>
                    <a:pt x="8087" y="585"/>
                  </a:lnTo>
                  <a:lnTo>
                    <a:pt x="8452" y="780"/>
                  </a:lnTo>
                  <a:lnTo>
                    <a:pt x="8793" y="999"/>
                  </a:lnTo>
                </a:path>
              </a:pathLst>
            </a:custGeom>
            <a:noFill/>
            <a:ln w="19050" cap="rnd" cmpd="sng">
              <a:solidFill>
                <a:srgbClr val="18637B"/>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102" name="Shape 102"/>
            <p:cNvSpPr/>
            <p:nvPr/>
          </p:nvSpPr>
          <p:spPr>
            <a:xfrm>
              <a:off x="6107250" y="1824850"/>
              <a:ext cx="84650" cy="84650"/>
            </a:xfrm>
            <a:custGeom>
              <a:avLst/>
              <a:gdLst/>
              <a:ahLst/>
              <a:cxnLst/>
              <a:rect l="0" t="0" r="0" b="0"/>
              <a:pathLst>
                <a:path w="3386" h="3386" fill="none" extrusionOk="0">
                  <a:moveTo>
                    <a:pt x="3362" y="1388"/>
                  </a:moveTo>
                  <a:lnTo>
                    <a:pt x="3362" y="1388"/>
                  </a:lnTo>
                  <a:lnTo>
                    <a:pt x="3386" y="1680"/>
                  </a:lnTo>
                  <a:lnTo>
                    <a:pt x="3386" y="1680"/>
                  </a:lnTo>
                  <a:lnTo>
                    <a:pt x="3386" y="1851"/>
                  </a:lnTo>
                  <a:lnTo>
                    <a:pt x="3362" y="2021"/>
                  </a:lnTo>
                  <a:lnTo>
                    <a:pt x="3313" y="2192"/>
                  </a:lnTo>
                  <a:lnTo>
                    <a:pt x="3264" y="2338"/>
                  </a:lnTo>
                  <a:lnTo>
                    <a:pt x="3191" y="2484"/>
                  </a:lnTo>
                  <a:lnTo>
                    <a:pt x="3118" y="2630"/>
                  </a:lnTo>
                  <a:lnTo>
                    <a:pt x="3021" y="2776"/>
                  </a:lnTo>
                  <a:lnTo>
                    <a:pt x="2899" y="2898"/>
                  </a:lnTo>
                  <a:lnTo>
                    <a:pt x="2777" y="2996"/>
                  </a:lnTo>
                  <a:lnTo>
                    <a:pt x="2655" y="3093"/>
                  </a:lnTo>
                  <a:lnTo>
                    <a:pt x="2509" y="3191"/>
                  </a:lnTo>
                  <a:lnTo>
                    <a:pt x="2363" y="3239"/>
                  </a:lnTo>
                  <a:lnTo>
                    <a:pt x="2217" y="3312"/>
                  </a:lnTo>
                  <a:lnTo>
                    <a:pt x="2046" y="3337"/>
                  </a:lnTo>
                  <a:lnTo>
                    <a:pt x="1876" y="3385"/>
                  </a:lnTo>
                  <a:lnTo>
                    <a:pt x="1706" y="3385"/>
                  </a:lnTo>
                  <a:lnTo>
                    <a:pt x="1706" y="3385"/>
                  </a:lnTo>
                  <a:lnTo>
                    <a:pt x="1535" y="3385"/>
                  </a:lnTo>
                  <a:lnTo>
                    <a:pt x="1365" y="3337"/>
                  </a:lnTo>
                  <a:lnTo>
                    <a:pt x="1194" y="3312"/>
                  </a:lnTo>
                  <a:lnTo>
                    <a:pt x="1048" y="3239"/>
                  </a:lnTo>
                  <a:lnTo>
                    <a:pt x="902" y="3191"/>
                  </a:lnTo>
                  <a:lnTo>
                    <a:pt x="756" y="3093"/>
                  </a:lnTo>
                  <a:lnTo>
                    <a:pt x="634" y="2996"/>
                  </a:lnTo>
                  <a:lnTo>
                    <a:pt x="512" y="2898"/>
                  </a:lnTo>
                  <a:lnTo>
                    <a:pt x="390" y="2776"/>
                  </a:lnTo>
                  <a:lnTo>
                    <a:pt x="293" y="2630"/>
                  </a:lnTo>
                  <a:lnTo>
                    <a:pt x="220" y="2484"/>
                  </a:lnTo>
                  <a:lnTo>
                    <a:pt x="147" y="2338"/>
                  </a:lnTo>
                  <a:lnTo>
                    <a:pt x="74" y="2192"/>
                  </a:lnTo>
                  <a:lnTo>
                    <a:pt x="49" y="2021"/>
                  </a:lnTo>
                  <a:lnTo>
                    <a:pt x="25" y="1851"/>
                  </a:lnTo>
                  <a:lnTo>
                    <a:pt x="1" y="1680"/>
                  </a:lnTo>
                  <a:lnTo>
                    <a:pt x="1" y="1680"/>
                  </a:lnTo>
                  <a:lnTo>
                    <a:pt x="25" y="1510"/>
                  </a:lnTo>
                  <a:lnTo>
                    <a:pt x="49" y="1340"/>
                  </a:lnTo>
                  <a:lnTo>
                    <a:pt x="74" y="1193"/>
                  </a:lnTo>
                  <a:lnTo>
                    <a:pt x="147" y="1023"/>
                  </a:lnTo>
                  <a:lnTo>
                    <a:pt x="220" y="877"/>
                  </a:lnTo>
                  <a:lnTo>
                    <a:pt x="293" y="731"/>
                  </a:lnTo>
                  <a:lnTo>
                    <a:pt x="390" y="609"/>
                  </a:lnTo>
                  <a:lnTo>
                    <a:pt x="512" y="487"/>
                  </a:lnTo>
                  <a:lnTo>
                    <a:pt x="634" y="390"/>
                  </a:lnTo>
                  <a:lnTo>
                    <a:pt x="756" y="292"/>
                  </a:lnTo>
                  <a:lnTo>
                    <a:pt x="902" y="195"/>
                  </a:lnTo>
                  <a:lnTo>
                    <a:pt x="1048" y="122"/>
                  </a:lnTo>
                  <a:lnTo>
                    <a:pt x="1194" y="73"/>
                  </a:lnTo>
                  <a:lnTo>
                    <a:pt x="1365" y="24"/>
                  </a:lnTo>
                  <a:lnTo>
                    <a:pt x="1535" y="0"/>
                  </a:lnTo>
                  <a:lnTo>
                    <a:pt x="1706" y="0"/>
                  </a:lnTo>
                  <a:lnTo>
                    <a:pt x="1706" y="0"/>
                  </a:lnTo>
                  <a:lnTo>
                    <a:pt x="1998" y="24"/>
                  </a:lnTo>
                </a:path>
              </a:pathLst>
            </a:custGeom>
            <a:noFill/>
            <a:ln w="19050" cap="rnd" cmpd="sng">
              <a:solidFill>
                <a:srgbClr val="18637B"/>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103" name="Shape 103"/>
            <p:cNvSpPr/>
            <p:nvPr/>
          </p:nvSpPr>
          <p:spPr>
            <a:xfrm>
              <a:off x="6058550" y="1776125"/>
              <a:ext cx="182075" cy="182075"/>
            </a:xfrm>
            <a:custGeom>
              <a:avLst/>
              <a:gdLst/>
              <a:ahLst/>
              <a:cxnLst/>
              <a:rect l="0" t="0" r="0" b="0"/>
              <a:pathLst>
                <a:path w="7283" h="7283" fill="none" extrusionOk="0">
                  <a:moveTo>
                    <a:pt x="5431" y="463"/>
                  </a:moveTo>
                  <a:lnTo>
                    <a:pt x="5431" y="463"/>
                  </a:lnTo>
                  <a:lnTo>
                    <a:pt x="5042" y="269"/>
                  </a:lnTo>
                  <a:lnTo>
                    <a:pt x="4823" y="195"/>
                  </a:lnTo>
                  <a:lnTo>
                    <a:pt x="4603" y="122"/>
                  </a:lnTo>
                  <a:lnTo>
                    <a:pt x="4360" y="74"/>
                  </a:lnTo>
                  <a:lnTo>
                    <a:pt x="4141" y="25"/>
                  </a:lnTo>
                  <a:lnTo>
                    <a:pt x="3897" y="1"/>
                  </a:lnTo>
                  <a:lnTo>
                    <a:pt x="3654" y="1"/>
                  </a:lnTo>
                  <a:lnTo>
                    <a:pt x="3654" y="1"/>
                  </a:lnTo>
                  <a:lnTo>
                    <a:pt x="3288" y="25"/>
                  </a:lnTo>
                  <a:lnTo>
                    <a:pt x="2923" y="74"/>
                  </a:lnTo>
                  <a:lnTo>
                    <a:pt x="2558" y="147"/>
                  </a:lnTo>
                  <a:lnTo>
                    <a:pt x="2241" y="293"/>
                  </a:lnTo>
                  <a:lnTo>
                    <a:pt x="1924" y="439"/>
                  </a:lnTo>
                  <a:lnTo>
                    <a:pt x="1608" y="609"/>
                  </a:lnTo>
                  <a:lnTo>
                    <a:pt x="1340" y="829"/>
                  </a:lnTo>
                  <a:lnTo>
                    <a:pt x="1072" y="1072"/>
                  </a:lnTo>
                  <a:lnTo>
                    <a:pt x="828" y="1316"/>
                  </a:lnTo>
                  <a:lnTo>
                    <a:pt x="633" y="1608"/>
                  </a:lnTo>
                  <a:lnTo>
                    <a:pt x="439" y="1900"/>
                  </a:lnTo>
                  <a:lnTo>
                    <a:pt x="293" y="2217"/>
                  </a:lnTo>
                  <a:lnTo>
                    <a:pt x="171" y="2558"/>
                  </a:lnTo>
                  <a:lnTo>
                    <a:pt x="73" y="2899"/>
                  </a:lnTo>
                  <a:lnTo>
                    <a:pt x="25" y="3264"/>
                  </a:lnTo>
                  <a:lnTo>
                    <a:pt x="0" y="3629"/>
                  </a:lnTo>
                  <a:lnTo>
                    <a:pt x="0" y="3629"/>
                  </a:lnTo>
                  <a:lnTo>
                    <a:pt x="25" y="4019"/>
                  </a:lnTo>
                  <a:lnTo>
                    <a:pt x="73" y="4360"/>
                  </a:lnTo>
                  <a:lnTo>
                    <a:pt x="171" y="4725"/>
                  </a:lnTo>
                  <a:lnTo>
                    <a:pt x="293" y="5066"/>
                  </a:lnTo>
                  <a:lnTo>
                    <a:pt x="439" y="5383"/>
                  </a:lnTo>
                  <a:lnTo>
                    <a:pt x="633" y="5675"/>
                  </a:lnTo>
                  <a:lnTo>
                    <a:pt x="828" y="5943"/>
                  </a:lnTo>
                  <a:lnTo>
                    <a:pt x="1072" y="6211"/>
                  </a:lnTo>
                  <a:lnTo>
                    <a:pt x="1340" y="6455"/>
                  </a:lnTo>
                  <a:lnTo>
                    <a:pt x="1608" y="6650"/>
                  </a:lnTo>
                  <a:lnTo>
                    <a:pt x="1924" y="6844"/>
                  </a:lnTo>
                  <a:lnTo>
                    <a:pt x="2241" y="6990"/>
                  </a:lnTo>
                  <a:lnTo>
                    <a:pt x="2558" y="7112"/>
                  </a:lnTo>
                  <a:lnTo>
                    <a:pt x="2923" y="7210"/>
                  </a:lnTo>
                  <a:lnTo>
                    <a:pt x="3288" y="7258"/>
                  </a:lnTo>
                  <a:lnTo>
                    <a:pt x="3654" y="7283"/>
                  </a:lnTo>
                  <a:lnTo>
                    <a:pt x="3654" y="7283"/>
                  </a:lnTo>
                  <a:lnTo>
                    <a:pt x="4019" y="7258"/>
                  </a:lnTo>
                  <a:lnTo>
                    <a:pt x="4384" y="7210"/>
                  </a:lnTo>
                  <a:lnTo>
                    <a:pt x="4725" y="7112"/>
                  </a:lnTo>
                  <a:lnTo>
                    <a:pt x="5066" y="6990"/>
                  </a:lnTo>
                  <a:lnTo>
                    <a:pt x="5383" y="6844"/>
                  </a:lnTo>
                  <a:lnTo>
                    <a:pt x="5675" y="6650"/>
                  </a:lnTo>
                  <a:lnTo>
                    <a:pt x="5967" y="6455"/>
                  </a:lnTo>
                  <a:lnTo>
                    <a:pt x="6235" y="6211"/>
                  </a:lnTo>
                  <a:lnTo>
                    <a:pt x="6454" y="5943"/>
                  </a:lnTo>
                  <a:lnTo>
                    <a:pt x="6674" y="5675"/>
                  </a:lnTo>
                  <a:lnTo>
                    <a:pt x="6844" y="5383"/>
                  </a:lnTo>
                  <a:lnTo>
                    <a:pt x="7014" y="5066"/>
                  </a:lnTo>
                  <a:lnTo>
                    <a:pt x="7136" y="4725"/>
                  </a:lnTo>
                  <a:lnTo>
                    <a:pt x="7209" y="4360"/>
                  </a:lnTo>
                  <a:lnTo>
                    <a:pt x="7282" y="4019"/>
                  </a:lnTo>
                  <a:lnTo>
                    <a:pt x="7282" y="3629"/>
                  </a:lnTo>
                  <a:lnTo>
                    <a:pt x="7282" y="3629"/>
                  </a:lnTo>
                  <a:lnTo>
                    <a:pt x="7282" y="3386"/>
                  </a:lnTo>
                  <a:lnTo>
                    <a:pt x="7258" y="3167"/>
                  </a:lnTo>
                  <a:lnTo>
                    <a:pt x="7234" y="2923"/>
                  </a:lnTo>
                  <a:lnTo>
                    <a:pt x="7161" y="2704"/>
                  </a:lnTo>
                  <a:lnTo>
                    <a:pt x="7112" y="2485"/>
                  </a:lnTo>
                  <a:lnTo>
                    <a:pt x="7014" y="2266"/>
                  </a:lnTo>
                  <a:lnTo>
                    <a:pt x="6820" y="1852"/>
                  </a:lnTo>
                </a:path>
              </a:pathLst>
            </a:custGeom>
            <a:noFill/>
            <a:ln w="19050" cap="rnd" cmpd="sng">
              <a:solidFill>
                <a:srgbClr val="18637B"/>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104" name="Shape 104"/>
            <p:cNvSpPr/>
            <p:nvPr/>
          </p:nvSpPr>
          <p:spPr>
            <a:xfrm>
              <a:off x="5971475" y="2001400"/>
              <a:ext cx="74925" cy="70675"/>
            </a:xfrm>
            <a:custGeom>
              <a:avLst/>
              <a:gdLst/>
              <a:ahLst/>
              <a:cxnLst/>
              <a:rect l="0" t="0" r="0" b="0"/>
              <a:pathLst>
                <a:path w="2997" h="2827" fill="none" extrusionOk="0">
                  <a:moveTo>
                    <a:pt x="1462" y="1"/>
                  </a:moveTo>
                  <a:lnTo>
                    <a:pt x="293" y="1170"/>
                  </a:lnTo>
                  <a:lnTo>
                    <a:pt x="293" y="1170"/>
                  </a:lnTo>
                  <a:lnTo>
                    <a:pt x="171" y="1316"/>
                  </a:lnTo>
                  <a:lnTo>
                    <a:pt x="74" y="1487"/>
                  </a:lnTo>
                  <a:lnTo>
                    <a:pt x="25" y="1657"/>
                  </a:lnTo>
                  <a:lnTo>
                    <a:pt x="1" y="1852"/>
                  </a:lnTo>
                  <a:lnTo>
                    <a:pt x="25" y="2047"/>
                  </a:lnTo>
                  <a:lnTo>
                    <a:pt x="74" y="2217"/>
                  </a:lnTo>
                  <a:lnTo>
                    <a:pt x="171" y="2388"/>
                  </a:lnTo>
                  <a:lnTo>
                    <a:pt x="293" y="2534"/>
                  </a:lnTo>
                  <a:lnTo>
                    <a:pt x="293" y="2534"/>
                  </a:lnTo>
                  <a:lnTo>
                    <a:pt x="439" y="2656"/>
                  </a:lnTo>
                  <a:lnTo>
                    <a:pt x="609" y="2753"/>
                  </a:lnTo>
                  <a:lnTo>
                    <a:pt x="804" y="2802"/>
                  </a:lnTo>
                  <a:lnTo>
                    <a:pt x="975" y="2826"/>
                  </a:lnTo>
                  <a:lnTo>
                    <a:pt x="975" y="2826"/>
                  </a:lnTo>
                  <a:lnTo>
                    <a:pt x="1170" y="2802"/>
                  </a:lnTo>
                  <a:lnTo>
                    <a:pt x="1340" y="2753"/>
                  </a:lnTo>
                  <a:lnTo>
                    <a:pt x="1511" y="2656"/>
                  </a:lnTo>
                  <a:lnTo>
                    <a:pt x="1681" y="2534"/>
                  </a:lnTo>
                  <a:lnTo>
                    <a:pt x="2850" y="1365"/>
                  </a:lnTo>
                  <a:lnTo>
                    <a:pt x="2850" y="1365"/>
                  </a:lnTo>
                  <a:lnTo>
                    <a:pt x="2996" y="1194"/>
                  </a:lnTo>
                </a:path>
              </a:pathLst>
            </a:custGeom>
            <a:noFill/>
            <a:ln w="19050" cap="rnd" cmpd="sng">
              <a:solidFill>
                <a:srgbClr val="18637B"/>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105" name="Shape 105"/>
            <p:cNvSpPr/>
            <p:nvPr/>
          </p:nvSpPr>
          <p:spPr>
            <a:xfrm>
              <a:off x="6253375" y="2001400"/>
              <a:ext cx="74325" cy="70675"/>
            </a:xfrm>
            <a:custGeom>
              <a:avLst/>
              <a:gdLst/>
              <a:ahLst/>
              <a:cxnLst/>
              <a:rect l="0" t="0" r="0" b="0"/>
              <a:pathLst>
                <a:path w="2973" h="2827" fill="none" extrusionOk="0">
                  <a:moveTo>
                    <a:pt x="1" y="1194"/>
                  </a:moveTo>
                  <a:lnTo>
                    <a:pt x="1" y="1194"/>
                  </a:lnTo>
                  <a:lnTo>
                    <a:pt x="123" y="1365"/>
                  </a:lnTo>
                  <a:lnTo>
                    <a:pt x="1316" y="2534"/>
                  </a:lnTo>
                  <a:lnTo>
                    <a:pt x="1316" y="2534"/>
                  </a:lnTo>
                  <a:lnTo>
                    <a:pt x="1462" y="2656"/>
                  </a:lnTo>
                  <a:lnTo>
                    <a:pt x="1633" y="2753"/>
                  </a:lnTo>
                  <a:lnTo>
                    <a:pt x="1827" y="2802"/>
                  </a:lnTo>
                  <a:lnTo>
                    <a:pt x="1998" y="2826"/>
                  </a:lnTo>
                  <a:lnTo>
                    <a:pt x="1998" y="2826"/>
                  </a:lnTo>
                  <a:lnTo>
                    <a:pt x="2193" y="2802"/>
                  </a:lnTo>
                  <a:lnTo>
                    <a:pt x="2363" y="2753"/>
                  </a:lnTo>
                  <a:lnTo>
                    <a:pt x="2534" y="2656"/>
                  </a:lnTo>
                  <a:lnTo>
                    <a:pt x="2704" y="2534"/>
                  </a:lnTo>
                  <a:lnTo>
                    <a:pt x="2704" y="2534"/>
                  </a:lnTo>
                  <a:lnTo>
                    <a:pt x="2826" y="2388"/>
                  </a:lnTo>
                  <a:lnTo>
                    <a:pt x="2923" y="2217"/>
                  </a:lnTo>
                  <a:lnTo>
                    <a:pt x="2972" y="2047"/>
                  </a:lnTo>
                  <a:lnTo>
                    <a:pt x="2972" y="1852"/>
                  </a:lnTo>
                  <a:lnTo>
                    <a:pt x="2972" y="1657"/>
                  </a:lnTo>
                  <a:lnTo>
                    <a:pt x="2923" y="1487"/>
                  </a:lnTo>
                  <a:lnTo>
                    <a:pt x="2826" y="1316"/>
                  </a:lnTo>
                  <a:lnTo>
                    <a:pt x="2704" y="1170"/>
                  </a:lnTo>
                  <a:lnTo>
                    <a:pt x="1535" y="1"/>
                  </a:lnTo>
                </a:path>
              </a:pathLst>
            </a:custGeom>
            <a:noFill/>
            <a:ln w="19050" cap="rnd" cmpd="sng">
              <a:solidFill>
                <a:srgbClr val="18637B"/>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106" name="Shape 106"/>
            <p:cNvSpPr/>
            <p:nvPr/>
          </p:nvSpPr>
          <p:spPr>
            <a:xfrm>
              <a:off x="6137700" y="1623900"/>
              <a:ext cx="250875" cy="255150"/>
            </a:xfrm>
            <a:custGeom>
              <a:avLst/>
              <a:gdLst/>
              <a:ahLst/>
              <a:cxnLst/>
              <a:rect l="0" t="0" r="0" b="0"/>
              <a:pathLst>
                <a:path w="10035" h="10206" fill="none" extrusionOk="0">
                  <a:moveTo>
                    <a:pt x="9718" y="2412"/>
                  </a:moveTo>
                  <a:lnTo>
                    <a:pt x="8671" y="2217"/>
                  </a:lnTo>
                  <a:lnTo>
                    <a:pt x="9694" y="1194"/>
                  </a:lnTo>
                  <a:lnTo>
                    <a:pt x="9694" y="1194"/>
                  </a:lnTo>
                  <a:lnTo>
                    <a:pt x="9767" y="1121"/>
                  </a:lnTo>
                  <a:lnTo>
                    <a:pt x="9815" y="1024"/>
                  </a:lnTo>
                  <a:lnTo>
                    <a:pt x="9840" y="951"/>
                  </a:lnTo>
                  <a:lnTo>
                    <a:pt x="9840" y="853"/>
                  </a:lnTo>
                  <a:lnTo>
                    <a:pt x="9840" y="756"/>
                  </a:lnTo>
                  <a:lnTo>
                    <a:pt x="9815" y="658"/>
                  </a:lnTo>
                  <a:lnTo>
                    <a:pt x="9767" y="585"/>
                  </a:lnTo>
                  <a:lnTo>
                    <a:pt x="9694" y="512"/>
                  </a:lnTo>
                  <a:lnTo>
                    <a:pt x="9694" y="512"/>
                  </a:lnTo>
                  <a:lnTo>
                    <a:pt x="9621" y="439"/>
                  </a:lnTo>
                  <a:lnTo>
                    <a:pt x="9548" y="391"/>
                  </a:lnTo>
                  <a:lnTo>
                    <a:pt x="9450" y="366"/>
                  </a:lnTo>
                  <a:lnTo>
                    <a:pt x="9353" y="366"/>
                  </a:lnTo>
                  <a:lnTo>
                    <a:pt x="9255" y="366"/>
                  </a:lnTo>
                  <a:lnTo>
                    <a:pt x="9182" y="391"/>
                  </a:lnTo>
                  <a:lnTo>
                    <a:pt x="9085" y="439"/>
                  </a:lnTo>
                  <a:lnTo>
                    <a:pt x="9012" y="512"/>
                  </a:lnTo>
                  <a:lnTo>
                    <a:pt x="7867" y="1657"/>
                  </a:lnTo>
                  <a:lnTo>
                    <a:pt x="7867" y="1657"/>
                  </a:lnTo>
                  <a:lnTo>
                    <a:pt x="7818" y="1487"/>
                  </a:lnTo>
                  <a:lnTo>
                    <a:pt x="7599" y="317"/>
                  </a:lnTo>
                  <a:lnTo>
                    <a:pt x="7599" y="317"/>
                  </a:lnTo>
                  <a:lnTo>
                    <a:pt x="7575" y="196"/>
                  </a:lnTo>
                  <a:lnTo>
                    <a:pt x="7526" y="98"/>
                  </a:lnTo>
                  <a:lnTo>
                    <a:pt x="7477" y="50"/>
                  </a:lnTo>
                  <a:lnTo>
                    <a:pt x="7404" y="1"/>
                  </a:lnTo>
                  <a:lnTo>
                    <a:pt x="7331" y="1"/>
                  </a:lnTo>
                  <a:lnTo>
                    <a:pt x="7234" y="25"/>
                  </a:lnTo>
                  <a:lnTo>
                    <a:pt x="7161" y="74"/>
                  </a:lnTo>
                  <a:lnTo>
                    <a:pt x="7063" y="147"/>
                  </a:lnTo>
                  <a:lnTo>
                    <a:pt x="5432" y="1754"/>
                  </a:lnTo>
                  <a:lnTo>
                    <a:pt x="5432" y="1754"/>
                  </a:lnTo>
                  <a:lnTo>
                    <a:pt x="5358" y="1852"/>
                  </a:lnTo>
                  <a:lnTo>
                    <a:pt x="5285" y="1974"/>
                  </a:lnTo>
                  <a:lnTo>
                    <a:pt x="5212" y="2120"/>
                  </a:lnTo>
                  <a:lnTo>
                    <a:pt x="5164" y="2242"/>
                  </a:lnTo>
                  <a:lnTo>
                    <a:pt x="5139" y="2388"/>
                  </a:lnTo>
                  <a:lnTo>
                    <a:pt x="5115" y="2534"/>
                  </a:lnTo>
                  <a:lnTo>
                    <a:pt x="5115" y="2680"/>
                  </a:lnTo>
                  <a:lnTo>
                    <a:pt x="5115" y="2802"/>
                  </a:lnTo>
                  <a:lnTo>
                    <a:pt x="5334" y="3971"/>
                  </a:lnTo>
                  <a:lnTo>
                    <a:pt x="5334" y="3971"/>
                  </a:lnTo>
                  <a:lnTo>
                    <a:pt x="5383" y="4141"/>
                  </a:lnTo>
                  <a:lnTo>
                    <a:pt x="147" y="9378"/>
                  </a:lnTo>
                  <a:lnTo>
                    <a:pt x="147" y="9378"/>
                  </a:lnTo>
                  <a:lnTo>
                    <a:pt x="73" y="9451"/>
                  </a:lnTo>
                  <a:lnTo>
                    <a:pt x="25" y="9548"/>
                  </a:lnTo>
                  <a:lnTo>
                    <a:pt x="0" y="9645"/>
                  </a:lnTo>
                  <a:lnTo>
                    <a:pt x="0" y="9718"/>
                  </a:lnTo>
                  <a:lnTo>
                    <a:pt x="0" y="9816"/>
                  </a:lnTo>
                  <a:lnTo>
                    <a:pt x="25" y="9913"/>
                  </a:lnTo>
                  <a:lnTo>
                    <a:pt x="73" y="9986"/>
                  </a:lnTo>
                  <a:lnTo>
                    <a:pt x="147" y="10059"/>
                  </a:lnTo>
                  <a:lnTo>
                    <a:pt x="147" y="10059"/>
                  </a:lnTo>
                  <a:lnTo>
                    <a:pt x="220" y="10133"/>
                  </a:lnTo>
                  <a:lnTo>
                    <a:pt x="293" y="10181"/>
                  </a:lnTo>
                  <a:lnTo>
                    <a:pt x="390" y="10206"/>
                  </a:lnTo>
                  <a:lnTo>
                    <a:pt x="488" y="10206"/>
                  </a:lnTo>
                  <a:lnTo>
                    <a:pt x="488" y="10206"/>
                  </a:lnTo>
                  <a:lnTo>
                    <a:pt x="585" y="10206"/>
                  </a:lnTo>
                  <a:lnTo>
                    <a:pt x="658" y="10181"/>
                  </a:lnTo>
                  <a:lnTo>
                    <a:pt x="755" y="10133"/>
                  </a:lnTo>
                  <a:lnTo>
                    <a:pt x="828" y="10059"/>
                  </a:lnTo>
                  <a:lnTo>
                    <a:pt x="6187" y="4726"/>
                  </a:lnTo>
                  <a:lnTo>
                    <a:pt x="7234" y="4896"/>
                  </a:lnTo>
                  <a:lnTo>
                    <a:pt x="7234" y="4896"/>
                  </a:lnTo>
                  <a:lnTo>
                    <a:pt x="7356" y="4921"/>
                  </a:lnTo>
                  <a:lnTo>
                    <a:pt x="7502" y="4921"/>
                  </a:lnTo>
                  <a:lnTo>
                    <a:pt x="7624" y="4896"/>
                  </a:lnTo>
                  <a:lnTo>
                    <a:pt x="7770" y="4848"/>
                  </a:lnTo>
                  <a:lnTo>
                    <a:pt x="7916" y="4799"/>
                  </a:lnTo>
                  <a:lnTo>
                    <a:pt x="8038" y="4750"/>
                  </a:lnTo>
                  <a:lnTo>
                    <a:pt x="8159" y="4677"/>
                  </a:lnTo>
                  <a:lnTo>
                    <a:pt x="8257" y="4580"/>
                  </a:lnTo>
                  <a:lnTo>
                    <a:pt x="9889" y="2948"/>
                  </a:lnTo>
                  <a:lnTo>
                    <a:pt x="9889" y="2948"/>
                  </a:lnTo>
                  <a:lnTo>
                    <a:pt x="9962" y="2875"/>
                  </a:lnTo>
                  <a:lnTo>
                    <a:pt x="10010" y="2777"/>
                  </a:lnTo>
                  <a:lnTo>
                    <a:pt x="10035" y="2704"/>
                  </a:lnTo>
                  <a:lnTo>
                    <a:pt x="10010" y="2607"/>
                  </a:lnTo>
                  <a:lnTo>
                    <a:pt x="9986" y="2558"/>
                  </a:lnTo>
                  <a:lnTo>
                    <a:pt x="9913" y="2485"/>
                  </a:lnTo>
                  <a:lnTo>
                    <a:pt x="9815" y="2436"/>
                  </a:lnTo>
                  <a:lnTo>
                    <a:pt x="9718" y="2412"/>
                  </a:lnTo>
                  <a:lnTo>
                    <a:pt x="9718" y="2412"/>
                  </a:lnTo>
                  <a:close/>
                </a:path>
              </a:pathLst>
            </a:custGeom>
            <a:noFill/>
            <a:ln w="19050" cap="rnd" cmpd="sng">
              <a:solidFill>
                <a:srgbClr val="18637B"/>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Access Control with </a:t>
            </a:r>
            <a:r>
              <a:rPr lang="en-US" dirty="0" err="1" smtClean="0"/>
              <a:t>netfilter</a:t>
            </a:r>
            <a:endParaRPr lang="en-US" dirty="0"/>
          </a:p>
        </p:txBody>
      </p:sp>
      <p:sp>
        <p:nvSpPr>
          <p:cNvPr id="4" name="Footer Placeholder 3"/>
          <p:cNvSpPr>
            <a:spLocks noGrp="1"/>
          </p:cNvSpPr>
          <p:nvPr>
            <p:ph type="ftr" sz="quarter" idx="11"/>
          </p:nvPr>
        </p:nvSpPr>
        <p:spPr/>
        <p:txBody>
          <a:bodyPr/>
          <a:lstStyle/>
          <a:p>
            <a:r>
              <a:rPr lang="en-SG" smtClean="0"/>
              <a:t>IT2533 2011 S2</a:t>
            </a:r>
            <a:endParaRPr lang="en-SG"/>
          </a:p>
        </p:txBody>
      </p:sp>
      <p:sp>
        <p:nvSpPr>
          <p:cNvPr id="5" name="Slide Number Placeholder 4"/>
          <p:cNvSpPr>
            <a:spLocks noGrp="1"/>
          </p:cNvSpPr>
          <p:nvPr>
            <p:ph type="sldNum" sz="quarter" idx="12"/>
          </p:nvPr>
        </p:nvSpPr>
        <p:spPr/>
        <p:txBody>
          <a:bodyPr/>
          <a:lstStyle/>
          <a:p>
            <a:fld id="{BB62441D-16CF-49D4-A1A7-3F336D7DA4F7}" type="slidenum">
              <a:rPr lang="en-SG" smtClean="0"/>
              <a:pPr/>
              <a:t>2</a:t>
            </a:fld>
            <a:endParaRPr lang="en-SG"/>
          </a:p>
        </p:txBody>
      </p:sp>
      <p:sp>
        <p:nvSpPr>
          <p:cNvPr id="2" name="Content Placeholder 1"/>
          <p:cNvSpPr>
            <a:spLocks noGrp="1"/>
          </p:cNvSpPr>
          <p:nvPr>
            <p:ph sz="quarter" idx="1"/>
          </p:nvPr>
        </p:nvSpPr>
        <p:spPr/>
        <p:txBody>
          <a:bodyPr/>
          <a:lstStyle/>
          <a:p>
            <a:r>
              <a:rPr lang="en-US" dirty="0" smtClean="0"/>
              <a:t>Upon completion of the following 2 units, you should be able to:</a:t>
            </a:r>
          </a:p>
          <a:p>
            <a:pPr marL="82296" indent="0">
              <a:buNone/>
            </a:pPr>
            <a:endParaRPr lang="en-US" dirty="0" smtClean="0"/>
          </a:p>
          <a:p>
            <a:pPr lvl="1">
              <a:buFont typeface="Wingdings" charset="2"/>
              <a:buChar char="v"/>
            </a:pPr>
            <a:r>
              <a:rPr lang="en-US" sz="2100" dirty="0"/>
              <a:t>Describe the </a:t>
            </a:r>
            <a:r>
              <a:rPr lang="en-US" sz="2100" dirty="0" err="1"/>
              <a:t>Netfilter</a:t>
            </a:r>
            <a:r>
              <a:rPr lang="en-US" sz="2100" dirty="0"/>
              <a:t> architecture</a:t>
            </a:r>
          </a:p>
          <a:p>
            <a:pPr lvl="1">
              <a:buFont typeface="Wingdings" charset="2"/>
              <a:buChar char="v"/>
            </a:pPr>
            <a:r>
              <a:rPr lang="en-US" sz="2100" dirty="0"/>
              <a:t>Configure packet filtering rules using GUI and CLI tools</a:t>
            </a:r>
          </a:p>
          <a:p>
            <a:pPr lvl="1">
              <a:buFont typeface="Wingdings" charset="2"/>
              <a:buChar char="v"/>
            </a:pPr>
            <a:r>
              <a:rPr lang="en-US" sz="2100" dirty="0"/>
              <a:t>Configure network address translation(NAT) rules</a:t>
            </a:r>
          </a:p>
          <a:p>
            <a:pPr lvl="1">
              <a:buFont typeface="Wingdings" charset="2"/>
              <a:buChar char="v"/>
            </a:pPr>
            <a:r>
              <a:rPr lang="en-US" sz="2100" dirty="0"/>
              <a:t>Filter and disable IPv6 traffic</a:t>
            </a:r>
            <a:endParaRPr lang="en-SG" sz="2100" dirty="0"/>
          </a:p>
          <a:p>
            <a:endParaRPr lang="en-US" dirty="0"/>
          </a:p>
        </p:txBody>
      </p:sp>
    </p:spTree>
    <p:extLst>
      <p:ext uri="{BB962C8B-B14F-4D97-AF65-F5344CB8AC3E}">
        <p14:creationId xmlns:p14="http://schemas.microsoft.com/office/powerpoint/2010/main" val="19178847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3586" name="Rectangle 2"/>
          <p:cNvSpPr>
            <a:spLocks noGrp="1" noChangeArrowheads="1"/>
          </p:cNvSpPr>
          <p:nvPr>
            <p:ph type="title"/>
          </p:nvPr>
        </p:nvSpPr>
        <p:spPr/>
        <p:txBody>
          <a:bodyPr/>
          <a:lstStyle/>
          <a:p>
            <a:r>
              <a:rPr lang="en-US" dirty="0" smtClean="0"/>
              <a:t>Access Control In UNIX</a:t>
            </a:r>
            <a:endParaRPr lang="en-US" dirty="0"/>
          </a:p>
        </p:txBody>
      </p:sp>
      <p:sp>
        <p:nvSpPr>
          <p:cNvPr id="6" name="Slide Number Placeholder 5"/>
          <p:cNvSpPr>
            <a:spLocks noGrp="1"/>
          </p:cNvSpPr>
          <p:nvPr>
            <p:ph type="sldNum" sz="quarter" idx="12"/>
          </p:nvPr>
        </p:nvSpPr>
        <p:spPr/>
        <p:txBody>
          <a:bodyPr/>
          <a:lstStyle/>
          <a:p>
            <a:fld id="{07928A4A-EBDE-4D20-8DC6-AEF4BC187603}" type="slidenum">
              <a:rPr lang="en-US"/>
              <a:pPr/>
              <a:t>3</a:t>
            </a:fld>
            <a:endParaRPr lang="en-US"/>
          </a:p>
        </p:txBody>
      </p:sp>
      <p:sp>
        <p:nvSpPr>
          <p:cNvPr id="963587" name="Rectangle 3"/>
          <p:cNvSpPr>
            <a:spLocks noGrp="1" noChangeArrowheads="1"/>
          </p:cNvSpPr>
          <p:nvPr>
            <p:ph sz="quarter" idx="1"/>
          </p:nvPr>
        </p:nvSpPr>
        <p:spPr>
          <a:xfrm>
            <a:off x="1657350" y="971550"/>
            <a:ext cx="3371850" cy="3657600"/>
          </a:xfrm>
        </p:spPr>
        <p:txBody>
          <a:bodyPr>
            <a:normAutofit/>
          </a:bodyPr>
          <a:lstStyle/>
          <a:p>
            <a:pPr>
              <a:lnSpc>
                <a:spcPct val="90000"/>
              </a:lnSpc>
            </a:pPr>
            <a:endParaRPr lang="en-SG" sz="1500" dirty="0"/>
          </a:p>
          <a:p>
            <a:pPr>
              <a:lnSpc>
                <a:spcPct val="90000"/>
              </a:lnSpc>
            </a:pPr>
            <a:r>
              <a:rPr lang="en-SG" sz="1500" dirty="0"/>
              <a:t>Firewall and </a:t>
            </a:r>
            <a:r>
              <a:rPr lang="en-SG" sz="1500" u="sng" dirty="0" err="1"/>
              <a:t>iptables</a:t>
            </a:r>
            <a:r>
              <a:rPr lang="en-SG" sz="1500" u="sng" dirty="0"/>
              <a:t> </a:t>
            </a:r>
            <a:r>
              <a:rPr lang="en-SG" sz="1500" dirty="0"/>
              <a:t>filters </a:t>
            </a:r>
            <a:r>
              <a:rPr lang="en-SG" sz="1500" dirty="0"/>
              <a:t>out unwelcome network packets within the kernel's network stack.</a:t>
            </a:r>
          </a:p>
          <a:p>
            <a:pPr>
              <a:lnSpc>
                <a:spcPct val="90000"/>
              </a:lnSpc>
            </a:pPr>
            <a:r>
              <a:rPr lang="en-SG" sz="1500" u="sng" dirty="0"/>
              <a:t>TCP </a:t>
            </a:r>
            <a:r>
              <a:rPr lang="en-SG" sz="1500" u="sng" dirty="0"/>
              <a:t>Wrappers </a:t>
            </a:r>
            <a:r>
              <a:rPr lang="en-SG" sz="1500" dirty="0"/>
              <a:t>add an additional layer of protection by </a:t>
            </a:r>
            <a:r>
              <a:rPr lang="en-SG" sz="1500" dirty="0"/>
              <a:t>defining which </a:t>
            </a:r>
            <a:r>
              <a:rPr lang="en-SG" sz="1500" dirty="0"/>
              <a:t>hosts are or are not allowed to connect to "wrapped" network services. One such </a:t>
            </a:r>
            <a:r>
              <a:rPr lang="en-SG" sz="1500" dirty="0"/>
              <a:t>wrapped network </a:t>
            </a:r>
            <a:r>
              <a:rPr lang="en-SG" sz="1500" dirty="0"/>
              <a:t>service is the xinetd </a:t>
            </a:r>
            <a:r>
              <a:rPr lang="en-SG" sz="1500" dirty="0"/>
              <a:t>superdeamon. </a:t>
            </a:r>
          </a:p>
          <a:p>
            <a:pPr>
              <a:lnSpc>
                <a:spcPct val="90000"/>
              </a:lnSpc>
            </a:pPr>
            <a:r>
              <a:rPr lang="en-SG" sz="1500" u="sng" dirty="0"/>
              <a:t>Xinetd </a:t>
            </a:r>
            <a:r>
              <a:rPr lang="en-SG" sz="1500" dirty="0"/>
              <a:t>is called a </a:t>
            </a:r>
            <a:r>
              <a:rPr lang="en-SG" sz="1500" dirty="0"/>
              <a:t>superdaemon </a:t>
            </a:r>
            <a:r>
              <a:rPr lang="en-SG" sz="1500" dirty="0"/>
              <a:t>because it </a:t>
            </a:r>
            <a:r>
              <a:rPr lang="en-SG" sz="1500" dirty="0"/>
              <a:t>controls connections </a:t>
            </a:r>
            <a:r>
              <a:rPr lang="en-SG" sz="1500" dirty="0"/>
              <a:t>to a subset of network services and further refines access control.</a:t>
            </a:r>
            <a:endParaRPr lang="en-US" sz="1500"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86350" y="1085850"/>
            <a:ext cx="2286000" cy="3579395"/>
          </a:xfrm>
          <a:prstGeom prst="rect">
            <a:avLst/>
          </a:prstGeom>
          <a:noFill/>
          <a:ln w="76200">
            <a:solidFill>
              <a:srgbClr val="C00000"/>
            </a:solidFill>
            <a:miter lim="800000"/>
            <a:headEnd/>
            <a:tailEnd/>
          </a:ln>
          <a:effectLst>
            <a:outerShdw blurRad="444500" dist="228600" dir="2700000" algn="ctr" rotWithShape="0">
              <a:schemeClr val="bg2"/>
            </a:outerShdw>
          </a:effectLst>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391738357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Firewall</a:t>
            </a:r>
            <a:br>
              <a:rPr lang="en-US" dirty="0" smtClean="0"/>
            </a:br>
            <a:r>
              <a:rPr lang="en-US" dirty="0" smtClean="0"/>
              <a:t>System-</a:t>
            </a:r>
            <a:r>
              <a:rPr lang="en-US" dirty="0" err="1" smtClean="0"/>
              <a:t>config</a:t>
            </a:r>
            <a:r>
              <a:rPr lang="en-US" dirty="0" smtClean="0"/>
              <a:t>-firewall</a:t>
            </a:r>
            <a:endParaRPr lang="en-SG" dirty="0"/>
          </a:p>
        </p:txBody>
      </p:sp>
      <p:sp>
        <p:nvSpPr>
          <p:cNvPr id="4" name="Footer Placeholder 3"/>
          <p:cNvSpPr>
            <a:spLocks noGrp="1"/>
          </p:cNvSpPr>
          <p:nvPr>
            <p:ph type="ftr" sz="quarter" idx="11"/>
          </p:nvPr>
        </p:nvSpPr>
        <p:spPr/>
        <p:txBody>
          <a:bodyPr/>
          <a:lstStyle/>
          <a:p>
            <a:r>
              <a:rPr lang="en-SG" smtClean="0"/>
              <a:t>IT2533 2011 S2</a:t>
            </a:r>
            <a:endParaRPr lang="en-SG"/>
          </a:p>
        </p:txBody>
      </p:sp>
      <p:sp>
        <p:nvSpPr>
          <p:cNvPr id="5" name="Slide Number Placeholder 4"/>
          <p:cNvSpPr>
            <a:spLocks noGrp="1"/>
          </p:cNvSpPr>
          <p:nvPr>
            <p:ph type="sldNum" sz="quarter" idx="12"/>
          </p:nvPr>
        </p:nvSpPr>
        <p:spPr/>
        <p:txBody>
          <a:bodyPr/>
          <a:lstStyle/>
          <a:p>
            <a:fld id="{BB62441D-16CF-49D4-A1A7-3F336D7DA4F7}" type="slidenum">
              <a:rPr lang="en-SG" smtClean="0"/>
              <a:pPr/>
              <a:t>4</a:t>
            </a:fld>
            <a:endParaRPr lang="en-SG"/>
          </a:p>
        </p:txBody>
      </p:sp>
      <p:sp>
        <p:nvSpPr>
          <p:cNvPr id="3" name="Content Placeholder 2"/>
          <p:cNvSpPr>
            <a:spLocks noGrp="1"/>
          </p:cNvSpPr>
          <p:nvPr>
            <p:ph sz="quarter" idx="1"/>
          </p:nvPr>
        </p:nvSpPr>
        <p:spPr/>
        <p:txBody>
          <a:bodyPr>
            <a:normAutofit fontScale="40000" lnSpcReduction="20000"/>
          </a:bodyPr>
          <a:lstStyle/>
          <a:p>
            <a:r>
              <a:rPr lang="en-US" sz="3300" dirty="0"/>
              <a:t>Provides a very basic GUI firewall interface</a:t>
            </a:r>
          </a:p>
          <a:p>
            <a:r>
              <a:rPr lang="en-US" sz="3300" dirty="0"/>
              <a:t>Hides much of the complexity, and functionality, of </a:t>
            </a:r>
            <a:r>
              <a:rPr lang="en-US" sz="3300" dirty="0" err="1"/>
              <a:t>Netfilter</a:t>
            </a:r>
            <a:endParaRPr lang="en-US" sz="3300" dirty="0"/>
          </a:p>
          <a:p>
            <a:r>
              <a:rPr lang="en-US" sz="3300" dirty="0"/>
              <a:t>System-&gt;Administration-&gt;Firewall</a:t>
            </a:r>
          </a:p>
          <a:p>
            <a:pPr>
              <a:buNone/>
            </a:pPr>
            <a:endParaRPr lang="en-US" dirty="0" smtClean="0"/>
          </a:p>
          <a:p>
            <a:pPr>
              <a:buNone/>
            </a:pPr>
            <a:r>
              <a:rPr lang="en-US" sz="2550" dirty="0"/>
              <a:t>	If all you need to do is allow traffic into specific ports for all hosts and deny traffic from anyone else, you can avoid the complexities of the </a:t>
            </a:r>
            <a:r>
              <a:rPr lang="en-US" sz="2550" dirty="0" err="1"/>
              <a:t>Netfilter</a:t>
            </a:r>
            <a:r>
              <a:rPr lang="en-US" sz="2550" dirty="0"/>
              <a:t> command-line interface by using system-</a:t>
            </a:r>
            <a:r>
              <a:rPr lang="en-US" sz="2550" dirty="0" err="1"/>
              <a:t>config</a:t>
            </a:r>
            <a:r>
              <a:rPr lang="en-US" sz="2550" dirty="0"/>
              <a:t>-firewall instead. </a:t>
            </a:r>
          </a:p>
          <a:p>
            <a:pPr>
              <a:buNone/>
            </a:pPr>
            <a:endParaRPr lang="en-US" sz="2550" dirty="0"/>
          </a:p>
          <a:p>
            <a:pPr>
              <a:buNone/>
            </a:pPr>
            <a:r>
              <a:rPr lang="en-US" sz="2550" dirty="0"/>
              <a:t>	This tool controls basic firewall and </a:t>
            </a:r>
            <a:r>
              <a:rPr lang="en-US" sz="2550" dirty="0" err="1"/>
              <a:t>SELinux</a:t>
            </a:r>
            <a:r>
              <a:rPr lang="en-US" sz="2550" dirty="0"/>
              <a:t> settings. For now we will focus on the firewall controls</a:t>
            </a:r>
          </a:p>
          <a:p>
            <a:pPr>
              <a:buNone/>
            </a:pPr>
            <a:endParaRPr lang="en-US" sz="2550" dirty="0"/>
          </a:p>
          <a:p>
            <a:pPr>
              <a:buNone/>
            </a:pPr>
            <a:r>
              <a:rPr lang="en-US" sz="2550" dirty="0"/>
              <a:t>	The first setting one sees on the Firewall Options tab controls whether the firewall is active at all or not. Below that, one may specify ports to allow traffic on. Any enabled port will accept traffic from any hosts. Commonly-used ports are represented by the names of the associated services with checkboxes that can be used to enable or disable them. Below that is an interface for adding non-standard TCP or UDP ports by number.</a:t>
            </a:r>
          </a:p>
        </p:txBody>
      </p:sp>
    </p:spTree>
    <p:extLst>
      <p:ext uri="{BB962C8B-B14F-4D97-AF65-F5344CB8AC3E}">
        <p14:creationId xmlns:p14="http://schemas.microsoft.com/office/powerpoint/2010/main" val="323598562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System-</a:t>
            </a:r>
            <a:r>
              <a:rPr lang="en-US" dirty="0" err="1" smtClean="0"/>
              <a:t>config</a:t>
            </a:r>
            <a:r>
              <a:rPr lang="en-US" dirty="0" smtClean="0"/>
              <a:t>-firewall</a:t>
            </a:r>
            <a:endParaRPr lang="en-US" dirty="0"/>
          </a:p>
        </p:txBody>
      </p:sp>
      <p:sp>
        <p:nvSpPr>
          <p:cNvPr id="4" name="Footer Placeholder 3"/>
          <p:cNvSpPr>
            <a:spLocks noGrp="1"/>
          </p:cNvSpPr>
          <p:nvPr>
            <p:ph type="ftr" sz="quarter" idx="11"/>
          </p:nvPr>
        </p:nvSpPr>
        <p:spPr/>
        <p:txBody>
          <a:bodyPr/>
          <a:lstStyle/>
          <a:p>
            <a:r>
              <a:rPr lang="en-SG" smtClean="0"/>
              <a:t>IT2533 2011 S2</a:t>
            </a:r>
            <a:endParaRPr lang="en-SG"/>
          </a:p>
        </p:txBody>
      </p:sp>
      <p:sp>
        <p:nvSpPr>
          <p:cNvPr id="5" name="Slide Number Placeholder 4"/>
          <p:cNvSpPr>
            <a:spLocks noGrp="1"/>
          </p:cNvSpPr>
          <p:nvPr>
            <p:ph type="sldNum" sz="quarter" idx="12"/>
          </p:nvPr>
        </p:nvSpPr>
        <p:spPr/>
        <p:txBody>
          <a:bodyPr/>
          <a:lstStyle/>
          <a:p>
            <a:fld id="{BB62441D-16CF-49D4-A1A7-3F336D7DA4F7}" type="slidenum">
              <a:rPr lang="en-SG" smtClean="0"/>
              <a:pPr/>
              <a:t>5</a:t>
            </a:fld>
            <a:endParaRPr lang="en-SG"/>
          </a:p>
        </p:txBody>
      </p:sp>
      <p:sp>
        <p:nvSpPr>
          <p:cNvPr id="2" name="Content Placeholder 1"/>
          <p:cNvSpPr>
            <a:spLocks noGrp="1"/>
          </p:cNvSpPr>
          <p:nvPr>
            <p:ph sz="quarter" idx="1"/>
          </p:nvPr>
        </p:nvSpPr>
        <p:spPr/>
        <p:txBody>
          <a:bodyPr>
            <a:normAutofit lnSpcReduction="10000"/>
          </a:bodyPr>
          <a:lstStyle/>
          <a:p>
            <a:pPr>
              <a:buNone/>
            </a:pPr>
            <a:r>
              <a:rPr lang="en-US" dirty="0" smtClean="0"/>
              <a:t>    When the firewall is enabled via GUI, the following rules are put into place:</a:t>
            </a:r>
          </a:p>
          <a:p>
            <a:pPr marL="468059" indent="-385763">
              <a:buFont typeface="+mj-lt"/>
              <a:buAutoNum type="circleNumDbPlain"/>
            </a:pPr>
            <a:endParaRPr lang="en-US" dirty="0" smtClean="0"/>
          </a:p>
          <a:p>
            <a:pPr marL="468059" indent="-385763">
              <a:buFont typeface="+mj-ea"/>
              <a:buAutoNum type="circleNumDbPlain"/>
            </a:pPr>
            <a:r>
              <a:rPr lang="en-US" dirty="0" smtClean="0"/>
              <a:t>Packets destined for the loopback device(lo) are accepted</a:t>
            </a:r>
          </a:p>
          <a:p>
            <a:pPr marL="468059" indent="-385763">
              <a:buFont typeface="+mj-ea"/>
              <a:buAutoNum type="circleNumDbPlain"/>
            </a:pPr>
            <a:r>
              <a:rPr lang="en-US" dirty="0" smtClean="0"/>
              <a:t>Packets destined for an enabled port are accepted from any source</a:t>
            </a:r>
          </a:p>
          <a:p>
            <a:pPr marL="468059" indent="-385763">
              <a:buFont typeface="+mj-ea"/>
              <a:buAutoNum type="circleNumDbPlain"/>
            </a:pPr>
            <a:r>
              <a:rPr lang="en-US" dirty="0" smtClean="0"/>
              <a:t>Packets that are responses to the packets you have sent, such as the response to an http request, are accepted</a:t>
            </a:r>
          </a:p>
          <a:p>
            <a:pPr marL="468059" indent="-385763">
              <a:buFont typeface="+mj-ea"/>
              <a:buAutoNum type="circleNumDbPlain"/>
            </a:pPr>
            <a:r>
              <a:rPr lang="en-US" dirty="0" smtClean="0"/>
              <a:t>ICMP packets are accepted</a:t>
            </a:r>
          </a:p>
          <a:p>
            <a:pPr marL="468059" indent="-385763">
              <a:buFont typeface="+mj-ea"/>
              <a:buAutoNum type="circleNumDbPlain"/>
            </a:pPr>
            <a:r>
              <a:rPr lang="en-US" dirty="0" smtClean="0"/>
              <a:t>Packets destined for a few utility services, such as the CUPS print server, are accepted.</a:t>
            </a:r>
          </a:p>
          <a:p>
            <a:pPr marL="468059" indent="-385763">
              <a:buFont typeface="+mj-ea"/>
              <a:buAutoNum type="circleNumDbPlain"/>
            </a:pPr>
            <a:r>
              <a:rPr lang="en-US" dirty="0" smtClean="0"/>
              <a:t>All other packets are rejected with an ICMP “Host Prohibited” message.</a:t>
            </a:r>
          </a:p>
          <a:p>
            <a:endParaRPr lang="en-US" dirty="0"/>
          </a:p>
        </p:txBody>
      </p:sp>
    </p:spTree>
    <p:extLst>
      <p:ext uri="{BB962C8B-B14F-4D97-AF65-F5344CB8AC3E}">
        <p14:creationId xmlns:p14="http://schemas.microsoft.com/office/powerpoint/2010/main" val="4078560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wipe(down)">
                                      <p:cBhvr>
                                        <p:cTn id="7" dur="500"/>
                                        <p:tgtEl>
                                          <p:spTgt spid="2">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
                                            <p:txEl>
                                              <p:pRg st="3" end="3"/>
                                            </p:txEl>
                                          </p:spTgt>
                                        </p:tgtEl>
                                        <p:attrNameLst>
                                          <p:attrName>style.visibility</p:attrName>
                                        </p:attrNameLst>
                                      </p:cBhvr>
                                      <p:to>
                                        <p:strVal val="visible"/>
                                      </p:to>
                                    </p:set>
                                    <p:animEffect transition="in" filter="wipe(down)">
                                      <p:cBhvr>
                                        <p:cTn id="12" dur="500"/>
                                        <p:tgtEl>
                                          <p:spTgt spid="2">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2">
                                            <p:txEl>
                                              <p:pRg st="4" end="4"/>
                                            </p:txEl>
                                          </p:spTgt>
                                        </p:tgtEl>
                                        <p:attrNameLst>
                                          <p:attrName>style.visibility</p:attrName>
                                        </p:attrNameLst>
                                      </p:cBhvr>
                                      <p:to>
                                        <p:strVal val="visible"/>
                                      </p:to>
                                    </p:set>
                                    <p:animEffect transition="in" filter="wipe(down)">
                                      <p:cBhvr>
                                        <p:cTn id="17" dur="500"/>
                                        <p:tgtEl>
                                          <p:spTgt spid="2">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2">
                                            <p:txEl>
                                              <p:pRg st="5" end="5"/>
                                            </p:txEl>
                                          </p:spTgt>
                                        </p:tgtEl>
                                        <p:attrNameLst>
                                          <p:attrName>style.visibility</p:attrName>
                                        </p:attrNameLst>
                                      </p:cBhvr>
                                      <p:to>
                                        <p:strVal val="visible"/>
                                      </p:to>
                                    </p:set>
                                    <p:animEffect transition="in" filter="wipe(down)">
                                      <p:cBhvr>
                                        <p:cTn id="22" dur="500"/>
                                        <p:tgtEl>
                                          <p:spTgt spid="2">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2">
                                            <p:txEl>
                                              <p:pRg st="6" end="6"/>
                                            </p:txEl>
                                          </p:spTgt>
                                        </p:tgtEl>
                                        <p:attrNameLst>
                                          <p:attrName>style.visibility</p:attrName>
                                        </p:attrNameLst>
                                      </p:cBhvr>
                                      <p:to>
                                        <p:strVal val="visible"/>
                                      </p:to>
                                    </p:set>
                                    <p:animEffect transition="in" filter="wipe(down)">
                                      <p:cBhvr>
                                        <p:cTn id="27" dur="500"/>
                                        <p:tgtEl>
                                          <p:spTgt spid="2">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2">
                                            <p:txEl>
                                              <p:pRg st="7" end="7"/>
                                            </p:txEl>
                                          </p:spTgt>
                                        </p:tgtEl>
                                        <p:attrNameLst>
                                          <p:attrName>style.visibility</p:attrName>
                                        </p:attrNameLst>
                                      </p:cBhvr>
                                      <p:to>
                                        <p:strVal val="visible"/>
                                      </p:to>
                                    </p:set>
                                    <p:animEffect transition="in" filter="wipe(down)">
                                      <p:cBhvr>
                                        <p:cTn id="32" dur="500"/>
                                        <p:tgtEl>
                                          <p:spTgt spid="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System-</a:t>
            </a:r>
            <a:r>
              <a:rPr lang="en-US" dirty="0" err="1" smtClean="0"/>
              <a:t>config</a:t>
            </a:r>
            <a:r>
              <a:rPr lang="en-US" dirty="0" smtClean="0"/>
              <a:t>-firewall</a:t>
            </a:r>
            <a:endParaRPr lang="en-US" dirty="0"/>
          </a:p>
        </p:txBody>
      </p:sp>
      <p:sp>
        <p:nvSpPr>
          <p:cNvPr id="4" name="Footer Placeholder 3"/>
          <p:cNvSpPr>
            <a:spLocks noGrp="1"/>
          </p:cNvSpPr>
          <p:nvPr>
            <p:ph type="ftr" sz="quarter" idx="11"/>
          </p:nvPr>
        </p:nvSpPr>
        <p:spPr/>
        <p:txBody>
          <a:bodyPr/>
          <a:lstStyle/>
          <a:p>
            <a:r>
              <a:rPr lang="en-SG" smtClean="0"/>
              <a:t>IT2533 2011 S2</a:t>
            </a:r>
            <a:endParaRPr lang="en-SG"/>
          </a:p>
        </p:txBody>
      </p:sp>
      <p:sp>
        <p:nvSpPr>
          <p:cNvPr id="5" name="Slide Number Placeholder 4"/>
          <p:cNvSpPr>
            <a:spLocks noGrp="1"/>
          </p:cNvSpPr>
          <p:nvPr>
            <p:ph type="sldNum" sz="quarter" idx="12"/>
          </p:nvPr>
        </p:nvSpPr>
        <p:spPr/>
        <p:txBody>
          <a:bodyPr/>
          <a:lstStyle/>
          <a:p>
            <a:fld id="{BB62441D-16CF-49D4-A1A7-3F336D7DA4F7}" type="slidenum">
              <a:rPr lang="en-SG" smtClean="0"/>
              <a:pPr/>
              <a:t>6</a:t>
            </a:fld>
            <a:endParaRPr lang="en-SG"/>
          </a:p>
        </p:txBody>
      </p:sp>
      <p:sp>
        <p:nvSpPr>
          <p:cNvPr id="2" name="Content Placeholder 1"/>
          <p:cNvSpPr>
            <a:spLocks noGrp="1"/>
          </p:cNvSpPr>
          <p:nvPr>
            <p:ph sz="quarter" idx="1"/>
          </p:nvPr>
        </p:nvSpPr>
        <p:spPr/>
        <p:txBody>
          <a:bodyPr>
            <a:normAutofit fontScale="40000" lnSpcReduction="20000"/>
          </a:bodyPr>
          <a:lstStyle/>
          <a:p>
            <a:pPr>
              <a:buFont typeface="Wingdings" charset="2"/>
              <a:buChar char="v"/>
            </a:pPr>
            <a:r>
              <a:rPr lang="en-US" sz="2475" dirty="0"/>
              <a:t>This configuration may be sufficient in many cases, but </a:t>
            </a:r>
            <a:r>
              <a:rPr lang="en-US" sz="2475" dirty="0" err="1"/>
              <a:t>Netfilter</a:t>
            </a:r>
            <a:r>
              <a:rPr lang="en-US" sz="2475" dirty="0"/>
              <a:t> supports much more finely-tuned configurations, such as accepting or rejecting packets based on the source host or network, which system-</a:t>
            </a:r>
            <a:r>
              <a:rPr lang="en-US" sz="2475" dirty="0" err="1"/>
              <a:t>config</a:t>
            </a:r>
            <a:r>
              <a:rPr lang="en-US" sz="2475" dirty="0"/>
              <a:t>-firewall does not allow for.</a:t>
            </a:r>
          </a:p>
          <a:p>
            <a:pPr>
              <a:buFont typeface="Wingdings" charset="2"/>
              <a:buChar char="v"/>
            </a:pPr>
            <a:endParaRPr lang="en-US" sz="2475" dirty="0"/>
          </a:p>
          <a:p>
            <a:pPr>
              <a:buFont typeface="Wingdings" charset="2"/>
              <a:buChar char="v"/>
            </a:pPr>
            <a:r>
              <a:rPr lang="en-US" sz="2475" dirty="0"/>
              <a:t>If system-</a:t>
            </a:r>
            <a:r>
              <a:rPr lang="en-US" sz="2475" dirty="0" err="1"/>
              <a:t>config</a:t>
            </a:r>
            <a:r>
              <a:rPr lang="en-US" sz="2475" dirty="0"/>
              <a:t>-firewall is executed in a non-graphical environment, or if system-</a:t>
            </a:r>
            <a:r>
              <a:rPr lang="en-US" sz="2475" dirty="0" err="1"/>
              <a:t>config</a:t>
            </a:r>
            <a:r>
              <a:rPr lang="en-US" sz="2475" dirty="0"/>
              <a:t>-firewall-</a:t>
            </a:r>
            <a:r>
              <a:rPr lang="en-US" sz="2475" dirty="0" err="1"/>
              <a:t>tui</a:t>
            </a:r>
            <a:r>
              <a:rPr lang="en-US" sz="2475" dirty="0"/>
              <a:t> is executed instead, a simpler, curses-based interface is presented. This interface can be navigated using the Tab key to move between fields and the spacebar toggle checkboxes and “click” buttons. </a:t>
            </a:r>
          </a:p>
          <a:p>
            <a:pPr marL="82296" indent="0">
              <a:buNone/>
            </a:pPr>
            <a:r>
              <a:rPr lang="en-US" sz="2475" dirty="0"/>
              <a:t>  </a:t>
            </a:r>
          </a:p>
          <a:p>
            <a:pPr>
              <a:buFont typeface="Wingdings" charset="2"/>
              <a:buChar char="v"/>
            </a:pPr>
            <a:r>
              <a:rPr lang="en-US" sz="2475" dirty="0"/>
              <a:t>The TUI interface even has a feature not present in the GUI interface the ability to designate “trusted” interfaces. If an interface is listed as trusted, all traffic received on that interface is allowed through the firewall. </a:t>
            </a:r>
          </a:p>
          <a:p>
            <a:pPr>
              <a:buFont typeface="Wingdings" charset="2"/>
              <a:buChar char="v"/>
            </a:pPr>
            <a:endParaRPr lang="en-US" sz="2475" dirty="0"/>
          </a:p>
          <a:p>
            <a:pPr>
              <a:buFont typeface="Wingdings" charset="2"/>
              <a:buChar char="v"/>
            </a:pPr>
            <a:r>
              <a:rPr lang="en-US" sz="2475" dirty="0"/>
              <a:t>Do note: Use this feature with caution! Just because a network is internal doesn’t mean that hostile traffic can’t come from it. Sometimes, your internal hosts may be used to attacked your server once the hosts have been hijacked by hackers.</a:t>
            </a:r>
          </a:p>
          <a:p>
            <a:pPr>
              <a:buNone/>
            </a:pPr>
            <a:endParaRPr lang="en-US" dirty="0"/>
          </a:p>
        </p:txBody>
      </p:sp>
    </p:spTree>
    <p:extLst>
      <p:ext uri="{BB962C8B-B14F-4D97-AF65-F5344CB8AC3E}">
        <p14:creationId xmlns:p14="http://schemas.microsoft.com/office/powerpoint/2010/main" val="315362110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Netfilter</a:t>
            </a:r>
            <a:r>
              <a:rPr lang="en-US" dirty="0" smtClean="0"/>
              <a:t> Overview</a:t>
            </a:r>
            <a:endParaRPr lang="en-SG" dirty="0"/>
          </a:p>
        </p:txBody>
      </p:sp>
      <p:sp>
        <p:nvSpPr>
          <p:cNvPr id="4" name="Footer Placeholder 3"/>
          <p:cNvSpPr>
            <a:spLocks noGrp="1"/>
          </p:cNvSpPr>
          <p:nvPr>
            <p:ph type="ftr" sz="quarter" idx="11"/>
          </p:nvPr>
        </p:nvSpPr>
        <p:spPr/>
        <p:txBody>
          <a:bodyPr/>
          <a:lstStyle/>
          <a:p>
            <a:r>
              <a:rPr lang="en-SG" smtClean="0"/>
              <a:t>IT2533 2011 S2</a:t>
            </a:r>
            <a:endParaRPr lang="en-SG"/>
          </a:p>
        </p:txBody>
      </p:sp>
      <p:sp>
        <p:nvSpPr>
          <p:cNvPr id="5" name="Slide Number Placeholder 4"/>
          <p:cNvSpPr>
            <a:spLocks noGrp="1"/>
          </p:cNvSpPr>
          <p:nvPr>
            <p:ph type="sldNum" sz="quarter" idx="12"/>
          </p:nvPr>
        </p:nvSpPr>
        <p:spPr/>
        <p:txBody>
          <a:bodyPr/>
          <a:lstStyle/>
          <a:p>
            <a:fld id="{BB62441D-16CF-49D4-A1A7-3F336D7DA4F7}" type="slidenum">
              <a:rPr lang="en-SG" smtClean="0"/>
              <a:pPr/>
              <a:t>7</a:t>
            </a:fld>
            <a:endParaRPr lang="en-SG"/>
          </a:p>
        </p:txBody>
      </p:sp>
      <p:sp>
        <p:nvSpPr>
          <p:cNvPr id="3" name="Content Placeholder 2"/>
          <p:cNvSpPr>
            <a:spLocks noGrp="1"/>
          </p:cNvSpPr>
          <p:nvPr>
            <p:ph sz="quarter" idx="1"/>
          </p:nvPr>
        </p:nvSpPr>
        <p:spPr/>
        <p:txBody>
          <a:bodyPr>
            <a:noAutofit/>
          </a:bodyPr>
          <a:lstStyle/>
          <a:p>
            <a:r>
              <a:rPr lang="en-US" sz="1200" u="sng" dirty="0"/>
              <a:t>Filtering in the kernel: no daemon</a:t>
            </a:r>
          </a:p>
          <a:p>
            <a:r>
              <a:rPr lang="en-US" sz="1200" dirty="0"/>
              <a:t>Access policies at layer 2(MAC),3(IP) &amp; 4(TCP/UDP) of the OSI reference Model</a:t>
            </a:r>
          </a:p>
          <a:p>
            <a:r>
              <a:rPr lang="en-US" sz="1200" dirty="0"/>
              <a:t>Only inspects packet headers</a:t>
            </a:r>
          </a:p>
          <a:p>
            <a:r>
              <a:rPr lang="en-US" sz="1200" dirty="0"/>
              <a:t>Consists of </a:t>
            </a:r>
            <a:r>
              <a:rPr lang="en-US" sz="1200" dirty="0" err="1"/>
              <a:t>netfilter</a:t>
            </a:r>
            <a:r>
              <a:rPr lang="en-US" sz="1200" dirty="0"/>
              <a:t> modules in kernel, and the </a:t>
            </a:r>
            <a:r>
              <a:rPr lang="en-US" sz="1200" dirty="0" err="1"/>
              <a:t>iptables</a:t>
            </a:r>
            <a:r>
              <a:rPr lang="en-US" sz="1200" dirty="0"/>
              <a:t> user-space software</a:t>
            </a:r>
          </a:p>
          <a:p>
            <a:endParaRPr lang="en-US" sz="1200" dirty="0"/>
          </a:p>
          <a:p>
            <a:pPr>
              <a:buNone/>
            </a:pPr>
            <a:r>
              <a:rPr lang="en-US" sz="1200" dirty="0"/>
              <a:t>	Filtering occurs in the kernel and at Open System </a:t>
            </a:r>
            <a:r>
              <a:rPr lang="en-US" sz="1200" dirty="0" err="1"/>
              <a:t>Interconnnection</a:t>
            </a:r>
            <a:r>
              <a:rPr lang="en-US" sz="1200" dirty="0"/>
              <a:t> (OSI) Layer “4” and below. It is very fast because only the packet headers are inspected. Inspection of packet contents can be useful for things like tests for protocol correctness, however this usually happens at layers above layer “4 ” , and involve user-space processes.</a:t>
            </a:r>
          </a:p>
          <a:p>
            <a:pPr>
              <a:buNone/>
            </a:pPr>
            <a:r>
              <a:rPr lang="en-US" sz="1200" dirty="0"/>
              <a:t>	Most of the packet filtering is provided by </a:t>
            </a:r>
            <a:r>
              <a:rPr lang="en-US" sz="1200" dirty="0" err="1"/>
              <a:t>Netfilter</a:t>
            </a:r>
            <a:r>
              <a:rPr lang="en-US" sz="1200" dirty="0"/>
              <a:t>/IP Tables at layers “3” and “4” (network and protocol). However it can also use the interface (</a:t>
            </a:r>
            <a:r>
              <a:rPr lang="en-US" sz="1200" dirty="0" err="1"/>
              <a:t>eg</a:t>
            </a:r>
            <a:r>
              <a:rPr lang="en-US" sz="1200" dirty="0"/>
              <a:t>. eth0), a layer “2” (data-link) attribute.</a:t>
            </a:r>
          </a:p>
        </p:txBody>
      </p:sp>
    </p:spTree>
    <p:extLst>
      <p:ext uri="{BB962C8B-B14F-4D97-AF65-F5344CB8AC3E}">
        <p14:creationId xmlns:p14="http://schemas.microsoft.com/office/powerpoint/2010/main" val="367939549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The packet filter framework</a:t>
            </a:r>
            <a:endParaRPr lang="en-US" dirty="0"/>
          </a:p>
        </p:txBody>
      </p:sp>
      <p:sp>
        <p:nvSpPr>
          <p:cNvPr id="4" name="Footer Placeholder 3"/>
          <p:cNvSpPr>
            <a:spLocks noGrp="1"/>
          </p:cNvSpPr>
          <p:nvPr>
            <p:ph type="ftr" sz="quarter" idx="11"/>
          </p:nvPr>
        </p:nvSpPr>
        <p:spPr/>
        <p:txBody>
          <a:bodyPr/>
          <a:lstStyle/>
          <a:p>
            <a:r>
              <a:rPr lang="en-SG" smtClean="0"/>
              <a:t>IT2533 2011 S2</a:t>
            </a:r>
            <a:endParaRPr lang="en-SG"/>
          </a:p>
        </p:txBody>
      </p:sp>
      <p:sp>
        <p:nvSpPr>
          <p:cNvPr id="5" name="Slide Number Placeholder 4"/>
          <p:cNvSpPr>
            <a:spLocks noGrp="1"/>
          </p:cNvSpPr>
          <p:nvPr>
            <p:ph type="sldNum" sz="quarter" idx="12"/>
          </p:nvPr>
        </p:nvSpPr>
        <p:spPr/>
        <p:txBody>
          <a:bodyPr/>
          <a:lstStyle/>
          <a:p>
            <a:fld id="{BB62441D-16CF-49D4-A1A7-3F336D7DA4F7}" type="slidenum">
              <a:rPr lang="en-SG" smtClean="0"/>
              <a:pPr/>
              <a:t>8</a:t>
            </a:fld>
            <a:endParaRPr lang="en-SG"/>
          </a:p>
        </p:txBody>
      </p:sp>
      <p:sp>
        <p:nvSpPr>
          <p:cNvPr id="2" name="Content Placeholder 1"/>
          <p:cNvSpPr>
            <a:spLocks noGrp="1"/>
          </p:cNvSpPr>
          <p:nvPr>
            <p:ph sz="quarter" idx="1"/>
          </p:nvPr>
        </p:nvSpPr>
        <p:spPr/>
        <p:txBody>
          <a:bodyPr/>
          <a:lstStyle/>
          <a:p>
            <a:pPr>
              <a:buNone/>
            </a:pPr>
            <a:r>
              <a:rPr lang="en-US" dirty="0" smtClean="0"/>
              <a:t>The packet filter framework on Linux is divided into two parts:</a:t>
            </a:r>
          </a:p>
          <a:p>
            <a:pPr>
              <a:buNone/>
            </a:pPr>
            <a:endParaRPr lang="en-US" dirty="0" smtClean="0"/>
          </a:p>
          <a:p>
            <a:r>
              <a:rPr lang="en-US" dirty="0" err="1" smtClean="0"/>
              <a:t>netfilter</a:t>
            </a:r>
            <a:r>
              <a:rPr lang="en-US" dirty="0" smtClean="0"/>
              <a:t>/</a:t>
            </a:r>
            <a:r>
              <a:rPr lang="en-US" dirty="0" err="1" smtClean="0"/>
              <a:t>Xtables</a:t>
            </a:r>
            <a:r>
              <a:rPr lang="en-US" dirty="0" smtClean="0"/>
              <a:t> — the kernel-space portion</a:t>
            </a:r>
          </a:p>
          <a:p>
            <a:r>
              <a:rPr lang="en-US" dirty="0" err="1" smtClean="0"/>
              <a:t>iptables</a:t>
            </a:r>
            <a:r>
              <a:rPr lang="en-US" dirty="0" smtClean="0"/>
              <a:t> — the user-space portion</a:t>
            </a:r>
          </a:p>
          <a:p>
            <a:pPr>
              <a:buNone/>
            </a:pPr>
            <a:endParaRPr lang="en-US" dirty="0" smtClean="0"/>
          </a:p>
          <a:p>
            <a:pPr marL="0" indent="0">
              <a:buNone/>
            </a:pPr>
            <a:r>
              <a:rPr lang="en-US" dirty="0" smtClean="0"/>
              <a:t>Generally speaking, we tend to refer to them collectively as just “</a:t>
            </a:r>
            <a:r>
              <a:rPr lang="en-US" dirty="0" err="1" smtClean="0"/>
              <a:t>iptables</a:t>
            </a:r>
            <a:r>
              <a:rPr lang="en-US" dirty="0" smtClean="0"/>
              <a:t>”.</a:t>
            </a:r>
            <a:endParaRPr lang="en-US" dirty="0"/>
          </a:p>
        </p:txBody>
      </p:sp>
    </p:spTree>
    <p:extLst>
      <p:ext uri="{BB962C8B-B14F-4D97-AF65-F5344CB8AC3E}">
        <p14:creationId xmlns:p14="http://schemas.microsoft.com/office/powerpoint/2010/main" val="256490802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Netfilter</a:t>
            </a:r>
            <a:r>
              <a:rPr lang="en-US" dirty="0" smtClean="0"/>
              <a:t> 3 Tables and 5 Chains</a:t>
            </a:r>
            <a:endParaRPr lang="en-SG" dirty="0"/>
          </a:p>
        </p:txBody>
      </p:sp>
      <p:sp>
        <p:nvSpPr>
          <p:cNvPr id="4" name="Footer Placeholder 3"/>
          <p:cNvSpPr>
            <a:spLocks noGrp="1"/>
          </p:cNvSpPr>
          <p:nvPr>
            <p:ph type="ftr" sz="quarter" idx="11"/>
          </p:nvPr>
        </p:nvSpPr>
        <p:spPr/>
        <p:txBody>
          <a:bodyPr/>
          <a:lstStyle/>
          <a:p>
            <a:r>
              <a:rPr lang="en-SG" smtClean="0"/>
              <a:t>IT2533 2011 S2</a:t>
            </a:r>
            <a:endParaRPr lang="en-SG"/>
          </a:p>
        </p:txBody>
      </p:sp>
      <p:sp>
        <p:nvSpPr>
          <p:cNvPr id="5" name="Slide Number Placeholder 4"/>
          <p:cNvSpPr>
            <a:spLocks noGrp="1"/>
          </p:cNvSpPr>
          <p:nvPr>
            <p:ph type="sldNum" sz="quarter" idx="12"/>
          </p:nvPr>
        </p:nvSpPr>
        <p:spPr/>
        <p:txBody>
          <a:bodyPr/>
          <a:lstStyle/>
          <a:p>
            <a:fld id="{BB62441D-16CF-49D4-A1A7-3F336D7DA4F7}" type="slidenum">
              <a:rPr lang="en-SG" smtClean="0"/>
              <a:pPr/>
              <a:t>9</a:t>
            </a:fld>
            <a:endParaRPr lang="en-SG"/>
          </a:p>
        </p:txBody>
      </p:sp>
      <p:sp>
        <p:nvSpPr>
          <p:cNvPr id="3" name="Content Placeholder 2"/>
          <p:cNvSpPr>
            <a:spLocks noGrp="1"/>
          </p:cNvSpPr>
          <p:nvPr>
            <p:ph sz="quarter" idx="1"/>
          </p:nvPr>
        </p:nvSpPr>
        <p:spPr/>
        <p:txBody>
          <a:bodyPr>
            <a:normAutofit lnSpcReduction="10000"/>
          </a:bodyPr>
          <a:lstStyle/>
          <a:p>
            <a:r>
              <a:rPr lang="en-US" sz="1500" dirty="0"/>
              <a:t>The filtering framework consists of the </a:t>
            </a:r>
            <a:r>
              <a:rPr lang="en-US" sz="1500" dirty="0"/>
              <a:t>5</a:t>
            </a:r>
            <a:r>
              <a:rPr lang="en-US" sz="1500" dirty="0"/>
              <a:t> built-in chains in kernel space. </a:t>
            </a:r>
          </a:p>
          <a:p>
            <a:endParaRPr lang="en-US" sz="1500" dirty="0"/>
          </a:p>
          <a:p>
            <a:r>
              <a:rPr lang="en-US" sz="1500" dirty="0"/>
              <a:t>The </a:t>
            </a:r>
            <a:r>
              <a:rPr lang="en-US" sz="1500" dirty="0"/>
              <a:t>3</a:t>
            </a:r>
            <a:r>
              <a:rPr lang="en-US" sz="1500" dirty="0"/>
              <a:t> tables reside in user space and hook into the chains. The tables hook into appropriate chains to relate to the role of the rules as follows.</a:t>
            </a:r>
          </a:p>
          <a:p>
            <a:pPr marL="82296" indent="0">
              <a:buNone/>
            </a:pPr>
            <a:endParaRPr lang="en-US" sz="1500" dirty="0"/>
          </a:p>
          <a:p>
            <a:pPr>
              <a:buNone/>
            </a:pPr>
            <a:r>
              <a:rPr lang="en-US" sz="1500" dirty="0"/>
              <a:t>Note: the names of the tables are case-sensitive and are in lower case.</a:t>
            </a:r>
          </a:p>
          <a:p>
            <a:pPr>
              <a:buNone/>
            </a:pPr>
            <a:endParaRPr lang="en-US" sz="1500" dirty="0"/>
          </a:p>
          <a:p>
            <a:pPr>
              <a:buNone/>
            </a:pPr>
            <a:r>
              <a:rPr lang="en-US" sz="1500" dirty="0"/>
              <a:t>	Additional chains (the so-called custom chains) can be created a runtime. The built-in chains are always present, even if, in some cases, they might not be used.</a:t>
            </a:r>
          </a:p>
        </p:txBody>
      </p:sp>
    </p:spTree>
    <p:extLst>
      <p:ext uri="{BB962C8B-B14F-4D97-AF65-F5344CB8AC3E}">
        <p14:creationId xmlns:p14="http://schemas.microsoft.com/office/powerpoint/2010/main" val="210092996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err="1" smtClean="0"/>
              <a:t>Netfilter</a:t>
            </a:r>
            <a:r>
              <a:rPr lang="en-US" dirty="0" smtClean="0"/>
              <a:t> Tables and Chains</a:t>
            </a:r>
            <a:endParaRPr lang="en-US" dirty="0"/>
          </a:p>
        </p:txBody>
      </p:sp>
      <p:sp>
        <p:nvSpPr>
          <p:cNvPr id="5" name="Footer Placeholder 4"/>
          <p:cNvSpPr>
            <a:spLocks noGrp="1"/>
          </p:cNvSpPr>
          <p:nvPr>
            <p:ph type="ftr" sz="quarter" idx="11"/>
          </p:nvPr>
        </p:nvSpPr>
        <p:spPr/>
        <p:txBody>
          <a:bodyPr/>
          <a:lstStyle/>
          <a:p>
            <a:r>
              <a:rPr lang="en-SG" smtClean="0"/>
              <a:t>IT2533 2011 S2</a:t>
            </a:r>
            <a:endParaRPr lang="en-SG"/>
          </a:p>
        </p:txBody>
      </p:sp>
      <p:sp>
        <p:nvSpPr>
          <p:cNvPr id="6" name="Slide Number Placeholder 5"/>
          <p:cNvSpPr>
            <a:spLocks noGrp="1"/>
          </p:cNvSpPr>
          <p:nvPr>
            <p:ph type="sldNum" sz="quarter" idx="12"/>
          </p:nvPr>
        </p:nvSpPr>
        <p:spPr/>
        <p:txBody>
          <a:bodyPr/>
          <a:lstStyle/>
          <a:p>
            <a:fld id="{BB62441D-16CF-49D4-A1A7-3F336D7DA4F7}" type="slidenum">
              <a:rPr lang="en-SG" smtClean="0"/>
              <a:pPr/>
              <a:t>10</a:t>
            </a:fld>
            <a:endParaRPr lang="en-SG"/>
          </a:p>
        </p:txBody>
      </p:sp>
      <p:sp>
        <p:nvSpPr>
          <p:cNvPr id="2" name="Content Placeholder 1"/>
          <p:cNvSpPr>
            <a:spLocks noGrp="1"/>
          </p:cNvSpPr>
          <p:nvPr>
            <p:ph sz="quarter" idx="1"/>
          </p:nvPr>
        </p:nvSpPr>
        <p:spPr/>
        <p:txBody>
          <a:bodyPr/>
          <a:lstStyle/>
          <a:p>
            <a:endParaRPr lang="en-US" dirty="0"/>
          </a:p>
        </p:txBody>
      </p:sp>
      <p:graphicFrame>
        <p:nvGraphicFramePr>
          <p:cNvPr id="4" name="Table 3"/>
          <p:cNvGraphicFramePr>
            <a:graphicFrameLocks noGrp="1"/>
          </p:cNvGraphicFramePr>
          <p:nvPr>
            <p:extLst/>
          </p:nvPr>
        </p:nvGraphicFramePr>
        <p:xfrm>
          <a:off x="1655676" y="1221600"/>
          <a:ext cx="5832648" cy="3078343"/>
        </p:xfrm>
        <a:graphic>
          <a:graphicData uri="http://schemas.openxmlformats.org/drawingml/2006/table">
            <a:tbl>
              <a:tblPr firstRow="1" bandRow="1">
                <a:tableStyleId>{5C22544A-7EE6-4342-B048-85BDC9FD1C3A}</a:tableStyleId>
              </a:tblPr>
              <a:tblGrid>
                <a:gridCol w="1102355">
                  <a:extLst>
                    <a:ext uri="{9D8B030D-6E8A-4147-A177-3AD203B41FA5}">
                      <a16:colId xmlns:a16="http://schemas.microsoft.com/office/drawing/2014/main" val="20000"/>
                    </a:ext>
                  </a:extLst>
                </a:gridCol>
                <a:gridCol w="4730293">
                  <a:extLst>
                    <a:ext uri="{9D8B030D-6E8A-4147-A177-3AD203B41FA5}">
                      <a16:colId xmlns:a16="http://schemas.microsoft.com/office/drawing/2014/main" val="20001"/>
                    </a:ext>
                  </a:extLst>
                </a:gridCol>
              </a:tblGrid>
              <a:tr h="304085">
                <a:tc>
                  <a:txBody>
                    <a:bodyPr/>
                    <a:lstStyle/>
                    <a:p>
                      <a:r>
                        <a:rPr lang="en-US" sz="1000" dirty="0" smtClean="0"/>
                        <a:t>Table</a:t>
                      </a:r>
                      <a:endParaRPr lang="en-SG" sz="1000" dirty="0"/>
                    </a:p>
                  </a:txBody>
                  <a:tcPr marL="68580" marR="68580" marT="34290" marB="34290"/>
                </a:tc>
                <a:tc>
                  <a:txBody>
                    <a:bodyPr/>
                    <a:lstStyle/>
                    <a:p>
                      <a:r>
                        <a:rPr lang="en-US" sz="1000" dirty="0" smtClean="0"/>
                        <a:t>Role</a:t>
                      </a:r>
                      <a:endParaRPr lang="en-SG" sz="1000" dirty="0"/>
                    </a:p>
                  </a:txBody>
                  <a:tcPr marL="68580" marR="68580" marT="34290" marB="34290"/>
                </a:tc>
                <a:extLst>
                  <a:ext uri="{0D108BD9-81ED-4DB2-BD59-A6C34878D82A}">
                    <a16:rowId xmlns:a16="http://schemas.microsoft.com/office/drawing/2014/main" val="10000"/>
                  </a:ext>
                </a:extLst>
              </a:tr>
              <a:tr h="524860">
                <a:tc>
                  <a:txBody>
                    <a:bodyPr/>
                    <a:lstStyle/>
                    <a:p>
                      <a:r>
                        <a:rPr lang="en-US" sz="1000" dirty="0" smtClean="0"/>
                        <a:t>filter</a:t>
                      </a:r>
                      <a:endParaRPr lang="en-SG" sz="1000" dirty="0"/>
                    </a:p>
                  </a:txBody>
                  <a:tcPr marL="68580" marR="68580" marT="34290" marB="34290"/>
                </a:tc>
                <a:tc>
                  <a:txBody>
                    <a:bodyPr/>
                    <a:lstStyle/>
                    <a:p>
                      <a:r>
                        <a:rPr lang="en-US" sz="1000" dirty="0" smtClean="0"/>
                        <a:t>The main</a:t>
                      </a:r>
                      <a:r>
                        <a:rPr lang="en-US" sz="1000" baseline="0" dirty="0" smtClean="0"/>
                        <a:t> packet filtering is performed in this table</a:t>
                      </a:r>
                      <a:endParaRPr lang="en-SG" sz="1000" dirty="0"/>
                    </a:p>
                  </a:txBody>
                  <a:tcPr marL="68580" marR="68580" marT="34290" marB="34290"/>
                </a:tc>
                <a:extLst>
                  <a:ext uri="{0D108BD9-81ED-4DB2-BD59-A6C34878D82A}">
                    <a16:rowId xmlns:a16="http://schemas.microsoft.com/office/drawing/2014/main" val="10001"/>
                  </a:ext>
                </a:extLst>
              </a:tr>
              <a:tr h="524860">
                <a:tc>
                  <a:txBody>
                    <a:bodyPr/>
                    <a:lstStyle/>
                    <a:p>
                      <a:r>
                        <a:rPr lang="en-US" sz="1000" dirty="0" err="1" smtClean="0"/>
                        <a:t>nat</a:t>
                      </a:r>
                      <a:endParaRPr lang="en-SG" sz="1000" dirty="0"/>
                    </a:p>
                  </a:txBody>
                  <a:tcPr marL="68580" marR="68580" marT="34290" marB="34290"/>
                </a:tc>
                <a:tc>
                  <a:txBody>
                    <a:bodyPr/>
                    <a:lstStyle/>
                    <a:p>
                      <a:r>
                        <a:rPr lang="en-US" sz="1000" dirty="0" smtClean="0"/>
                        <a:t>This is where network address translation(NAT)occurs</a:t>
                      </a:r>
                      <a:endParaRPr lang="en-SG" sz="1000" dirty="0"/>
                    </a:p>
                  </a:txBody>
                  <a:tcPr marL="68580" marR="68580" marT="34290" marB="34290"/>
                </a:tc>
                <a:extLst>
                  <a:ext uri="{0D108BD9-81ED-4DB2-BD59-A6C34878D82A}">
                    <a16:rowId xmlns:a16="http://schemas.microsoft.com/office/drawing/2014/main" val="10002"/>
                  </a:ext>
                </a:extLst>
              </a:tr>
              <a:tr h="749799">
                <a:tc>
                  <a:txBody>
                    <a:bodyPr/>
                    <a:lstStyle/>
                    <a:p>
                      <a:r>
                        <a:rPr lang="en-US" sz="1000" dirty="0" smtClean="0"/>
                        <a:t>mangle</a:t>
                      </a:r>
                      <a:endParaRPr lang="en-SG" sz="1000" dirty="0"/>
                    </a:p>
                  </a:txBody>
                  <a:tcPr marL="68580" marR="68580" marT="34290" marB="34290"/>
                </a:tc>
                <a:tc>
                  <a:txBody>
                    <a:bodyPr/>
                    <a:lstStyle/>
                    <a:p>
                      <a:r>
                        <a:rPr lang="en-US" sz="1000" dirty="0" smtClean="0"/>
                        <a:t>This is where a limited number of “special effects” can happen.</a:t>
                      </a:r>
                      <a:r>
                        <a:rPr lang="en-US" sz="1000" baseline="0" dirty="0" smtClean="0"/>
                        <a:t> This table is rarely used</a:t>
                      </a:r>
                      <a:endParaRPr lang="en-SG" sz="1000" dirty="0"/>
                    </a:p>
                  </a:txBody>
                  <a:tcPr marL="68580" marR="68580" marT="34290" marB="34290"/>
                </a:tc>
                <a:extLst>
                  <a:ext uri="{0D108BD9-81ED-4DB2-BD59-A6C34878D82A}">
                    <a16:rowId xmlns:a16="http://schemas.microsoft.com/office/drawing/2014/main" val="10003"/>
                  </a:ext>
                </a:extLst>
              </a:tr>
              <a:tr h="974739">
                <a:tc>
                  <a:txBody>
                    <a:bodyPr/>
                    <a:lstStyle/>
                    <a:p>
                      <a:r>
                        <a:rPr lang="en-US" sz="1000" dirty="0" err="1" smtClean="0"/>
                        <a:t>conntrack</a:t>
                      </a:r>
                      <a:r>
                        <a:rPr lang="en-US" sz="1000" dirty="0" smtClean="0"/>
                        <a:t> / raw</a:t>
                      </a:r>
                      <a:endParaRPr lang="en-SG" sz="1000" dirty="0"/>
                    </a:p>
                  </a:txBody>
                  <a:tcPr marL="68580" marR="68580" marT="34290" marB="34290"/>
                </a:tc>
                <a:tc>
                  <a:txBody>
                    <a:bodyPr/>
                    <a:lstStyle/>
                    <a:p>
                      <a:r>
                        <a:rPr lang="en-US" sz="1000" dirty="0" smtClean="0"/>
                        <a:t>This is not user accessible but maintains entries for </a:t>
                      </a:r>
                      <a:r>
                        <a:rPr lang="en-US" sz="1000" u="sng" dirty="0" smtClean="0"/>
                        <a:t>“</a:t>
                      </a:r>
                      <a:r>
                        <a:rPr lang="en-US" sz="1000" u="sng" dirty="0" err="1" smtClean="0"/>
                        <a:t>stateful</a:t>
                      </a:r>
                      <a:r>
                        <a:rPr lang="en-US" sz="1000" u="sng" dirty="0" smtClean="0"/>
                        <a:t>” </a:t>
                      </a:r>
                      <a:r>
                        <a:rPr lang="en-US" sz="1000" dirty="0" smtClean="0"/>
                        <a:t>packet inspection. This</a:t>
                      </a:r>
                      <a:r>
                        <a:rPr lang="en-US" sz="1000" baseline="0" dirty="0" smtClean="0"/>
                        <a:t> table uses the PREROUTING and OUTPUT chains</a:t>
                      </a:r>
                      <a:endParaRPr lang="en-SG" sz="1000" dirty="0"/>
                    </a:p>
                  </a:txBody>
                  <a:tcPr marL="68580" marR="68580" marT="34290" marB="34290"/>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89579040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err="1" smtClean="0"/>
              <a:t>Netfilter</a:t>
            </a:r>
            <a:r>
              <a:rPr lang="en-US" dirty="0" smtClean="0"/>
              <a:t> Packet Flow</a:t>
            </a:r>
            <a:endParaRPr lang="en-US" dirty="0"/>
          </a:p>
        </p:txBody>
      </p:sp>
      <p:sp>
        <p:nvSpPr>
          <p:cNvPr id="2" name="Footer Placeholder 1"/>
          <p:cNvSpPr>
            <a:spLocks noGrp="1"/>
          </p:cNvSpPr>
          <p:nvPr>
            <p:ph type="ftr" sz="quarter" idx="11"/>
          </p:nvPr>
        </p:nvSpPr>
        <p:spPr/>
        <p:txBody>
          <a:bodyPr/>
          <a:lstStyle/>
          <a:p>
            <a:r>
              <a:rPr lang="en-SG" smtClean="0"/>
              <a:t>IT2533 2011 S2</a:t>
            </a:r>
            <a:endParaRPr lang="en-SG"/>
          </a:p>
        </p:txBody>
      </p:sp>
      <p:sp>
        <p:nvSpPr>
          <p:cNvPr id="4" name="Slide Number Placeholder 3"/>
          <p:cNvSpPr>
            <a:spLocks noGrp="1"/>
          </p:cNvSpPr>
          <p:nvPr>
            <p:ph type="sldNum" sz="quarter" idx="12"/>
          </p:nvPr>
        </p:nvSpPr>
        <p:spPr/>
        <p:txBody>
          <a:bodyPr/>
          <a:lstStyle/>
          <a:p>
            <a:fld id="{BB62441D-16CF-49D4-A1A7-3F336D7DA4F7}" type="slidenum">
              <a:rPr lang="en-SG" smtClean="0"/>
              <a:pPr/>
              <a:t>11</a:t>
            </a:fld>
            <a:endParaRPr lang="en-SG"/>
          </a:p>
        </p:txBody>
      </p:sp>
      <p:pic>
        <p:nvPicPr>
          <p:cNvPr id="1026" name="Picture 2" descr="http://fengnet.com/book/Building.Secure.Servers.with.Linux/images/0596002173/figs/bssl_0306.gif"/>
          <p:cNvPicPr>
            <a:picLocks noChangeAspect="1" noChangeArrowheads="1"/>
          </p:cNvPicPr>
          <p:nvPr/>
        </p:nvPicPr>
        <p:blipFill>
          <a:blip r:embed="rId2" cstate="print"/>
          <a:srcRect/>
          <a:stretch>
            <a:fillRect/>
          </a:stretch>
        </p:blipFill>
        <p:spPr bwMode="auto">
          <a:xfrm>
            <a:off x="1331640" y="1329612"/>
            <a:ext cx="6480720" cy="3585320"/>
          </a:xfrm>
          <a:prstGeom prst="rect">
            <a:avLst/>
          </a:prstGeom>
          <a:noFill/>
        </p:spPr>
      </p:pic>
    </p:spTree>
    <p:extLst>
      <p:ext uri="{BB962C8B-B14F-4D97-AF65-F5344CB8AC3E}">
        <p14:creationId xmlns:p14="http://schemas.microsoft.com/office/powerpoint/2010/main" val="188974449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err="1" smtClean="0"/>
              <a:t>Netfilter</a:t>
            </a:r>
            <a:r>
              <a:rPr lang="en-US" dirty="0" smtClean="0"/>
              <a:t> Packet Flow using Built-in Chains</a:t>
            </a:r>
            <a:endParaRPr lang="en-SG" dirty="0"/>
          </a:p>
        </p:txBody>
      </p:sp>
      <p:sp>
        <p:nvSpPr>
          <p:cNvPr id="4" name="Footer Placeholder 3"/>
          <p:cNvSpPr>
            <a:spLocks noGrp="1"/>
          </p:cNvSpPr>
          <p:nvPr>
            <p:ph type="ftr" sz="quarter" idx="11"/>
          </p:nvPr>
        </p:nvSpPr>
        <p:spPr/>
        <p:txBody>
          <a:bodyPr/>
          <a:lstStyle/>
          <a:p>
            <a:r>
              <a:rPr lang="en-SG" smtClean="0"/>
              <a:t>IT2533 2011 S2</a:t>
            </a:r>
            <a:endParaRPr lang="en-SG"/>
          </a:p>
        </p:txBody>
      </p:sp>
      <p:sp>
        <p:nvSpPr>
          <p:cNvPr id="5" name="Slide Number Placeholder 4"/>
          <p:cNvSpPr>
            <a:spLocks noGrp="1"/>
          </p:cNvSpPr>
          <p:nvPr>
            <p:ph type="sldNum" sz="quarter" idx="12"/>
          </p:nvPr>
        </p:nvSpPr>
        <p:spPr/>
        <p:txBody>
          <a:bodyPr/>
          <a:lstStyle/>
          <a:p>
            <a:fld id="{BB62441D-16CF-49D4-A1A7-3F336D7DA4F7}" type="slidenum">
              <a:rPr lang="en-SG" smtClean="0"/>
              <a:pPr/>
              <a:t>12</a:t>
            </a:fld>
            <a:endParaRPr lang="en-SG"/>
          </a:p>
        </p:txBody>
      </p:sp>
      <p:sp>
        <p:nvSpPr>
          <p:cNvPr id="3" name="Content Placeholder 2"/>
          <p:cNvSpPr>
            <a:spLocks noGrp="1"/>
          </p:cNvSpPr>
          <p:nvPr>
            <p:ph sz="quarter" idx="1"/>
          </p:nvPr>
        </p:nvSpPr>
        <p:spPr/>
        <p:txBody>
          <a:bodyPr>
            <a:normAutofit/>
          </a:bodyPr>
          <a:lstStyle/>
          <a:p>
            <a:r>
              <a:rPr lang="en-US" dirty="0" smtClean="0"/>
              <a:t>Packet filtering takes place within the kernel at the five packet filtering points shown also known as Built-in Chains. Note the filtering points names are case-sensitive and are all in upper case.</a:t>
            </a:r>
          </a:p>
        </p:txBody>
      </p:sp>
    </p:spTree>
    <p:extLst>
      <p:ext uri="{BB962C8B-B14F-4D97-AF65-F5344CB8AC3E}">
        <p14:creationId xmlns:p14="http://schemas.microsoft.com/office/powerpoint/2010/main" val="99143054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err="1" smtClean="0"/>
              <a:t>Netfilter</a:t>
            </a:r>
            <a:r>
              <a:rPr lang="en-US" dirty="0" smtClean="0"/>
              <a:t> Packet Flow using Built-in Chains</a:t>
            </a:r>
            <a:endParaRPr lang="en-SG" dirty="0"/>
          </a:p>
        </p:txBody>
      </p:sp>
      <p:sp>
        <p:nvSpPr>
          <p:cNvPr id="4" name="Footer Placeholder 3"/>
          <p:cNvSpPr>
            <a:spLocks noGrp="1"/>
          </p:cNvSpPr>
          <p:nvPr>
            <p:ph type="ftr" sz="quarter" idx="11"/>
          </p:nvPr>
        </p:nvSpPr>
        <p:spPr/>
        <p:txBody>
          <a:bodyPr/>
          <a:lstStyle/>
          <a:p>
            <a:r>
              <a:rPr lang="en-SG" smtClean="0"/>
              <a:t>IT2533 2011 S2</a:t>
            </a:r>
            <a:endParaRPr lang="en-SG"/>
          </a:p>
        </p:txBody>
      </p:sp>
      <p:sp>
        <p:nvSpPr>
          <p:cNvPr id="5" name="Slide Number Placeholder 4"/>
          <p:cNvSpPr>
            <a:spLocks noGrp="1"/>
          </p:cNvSpPr>
          <p:nvPr>
            <p:ph type="sldNum" sz="quarter" idx="12"/>
          </p:nvPr>
        </p:nvSpPr>
        <p:spPr/>
        <p:txBody>
          <a:bodyPr/>
          <a:lstStyle/>
          <a:p>
            <a:fld id="{BB62441D-16CF-49D4-A1A7-3F336D7DA4F7}" type="slidenum">
              <a:rPr lang="en-SG" smtClean="0"/>
              <a:pPr/>
              <a:t>13</a:t>
            </a:fld>
            <a:endParaRPr lang="en-SG"/>
          </a:p>
        </p:txBody>
      </p:sp>
      <p:sp>
        <p:nvSpPr>
          <p:cNvPr id="3" name="Content Placeholder 2"/>
          <p:cNvSpPr>
            <a:spLocks noGrp="1"/>
          </p:cNvSpPr>
          <p:nvPr>
            <p:ph sz="quarter" idx="1"/>
          </p:nvPr>
        </p:nvSpPr>
        <p:spPr/>
        <p:txBody>
          <a:bodyPr>
            <a:normAutofit/>
          </a:bodyPr>
          <a:lstStyle/>
          <a:p>
            <a:pPr>
              <a:buNone/>
            </a:pPr>
            <a:endParaRPr lang="en-US" dirty="0" smtClean="0"/>
          </a:p>
          <a:p>
            <a:r>
              <a:rPr lang="en-US" dirty="0" smtClean="0"/>
              <a:t>PREROUTING Chain : This filtering point deals with packets first upon arrival (</a:t>
            </a:r>
            <a:r>
              <a:rPr lang="en-US" dirty="0" err="1" smtClean="0"/>
              <a:t>conntrack</a:t>
            </a:r>
            <a:r>
              <a:rPr lang="en-US" dirty="0" smtClean="0"/>
              <a:t> , mangle , </a:t>
            </a:r>
            <a:r>
              <a:rPr lang="en-US" dirty="0" err="1" smtClean="0"/>
              <a:t>nat</a:t>
            </a:r>
            <a:r>
              <a:rPr lang="en-US" dirty="0" smtClean="0"/>
              <a:t>). PREROUTING Chain is present in the </a:t>
            </a:r>
            <a:r>
              <a:rPr lang="en-US" i="1" dirty="0" err="1" smtClean="0"/>
              <a:t>conntrack</a:t>
            </a:r>
            <a:r>
              <a:rPr lang="en-US" i="1" dirty="0" smtClean="0"/>
              <a:t>, </a:t>
            </a:r>
            <a:r>
              <a:rPr lang="en-US" i="1" dirty="0" err="1" smtClean="0"/>
              <a:t>nat</a:t>
            </a:r>
            <a:r>
              <a:rPr lang="en-US" i="1" dirty="0" smtClean="0"/>
              <a:t> and mangle tables. Packets traverse this chain </a:t>
            </a:r>
            <a:r>
              <a:rPr lang="en-US" b="1" dirty="0" smtClean="0"/>
              <a:t>before a routing decision is made by the kernel.</a:t>
            </a:r>
            <a:endParaRPr lang="en-US" dirty="0" smtClean="0"/>
          </a:p>
          <a:p>
            <a:endParaRPr lang="en-US" dirty="0" smtClean="0"/>
          </a:p>
          <a:p>
            <a:pPr>
              <a:buNone/>
            </a:pPr>
            <a:endParaRPr lang="en-SG" dirty="0"/>
          </a:p>
        </p:txBody>
      </p:sp>
    </p:spTree>
    <p:extLst>
      <p:ext uri="{BB962C8B-B14F-4D97-AF65-F5344CB8AC3E}">
        <p14:creationId xmlns:p14="http://schemas.microsoft.com/office/powerpoint/2010/main" val="642223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err="1" smtClean="0"/>
              <a:t>Netfilter</a:t>
            </a:r>
            <a:r>
              <a:rPr lang="en-US" dirty="0" smtClean="0"/>
              <a:t> Packet Flow using Built-in Chains</a:t>
            </a:r>
            <a:endParaRPr lang="en-SG" dirty="0"/>
          </a:p>
        </p:txBody>
      </p:sp>
      <p:sp>
        <p:nvSpPr>
          <p:cNvPr id="4" name="Footer Placeholder 3"/>
          <p:cNvSpPr>
            <a:spLocks noGrp="1"/>
          </p:cNvSpPr>
          <p:nvPr>
            <p:ph type="ftr" sz="quarter" idx="11"/>
          </p:nvPr>
        </p:nvSpPr>
        <p:spPr/>
        <p:txBody>
          <a:bodyPr/>
          <a:lstStyle/>
          <a:p>
            <a:r>
              <a:rPr lang="en-SG" smtClean="0"/>
              <a:t>IT2533 2011 S2</a:t>
            </a:r>
            <a:endParaRPr lang="en-SG"/>
          </a:p>
        </p:txBody>
      </p:sp>
      <p:sp>
        <p:nvSpPr>
          <p:cNvPr id="5" name="Slide Number Placeholder 4"/>
          <p:cNvSpPr>
            <a:spLocks noGrp="1"/>
          </p:cNvSpPr>
          <p:nvPr>
            <p:ph type="sldNum" sz="quarter" idx="12"/>
          </p:nvPr>
        </p:nvSpPr>
        <p:spPr/>
        <p:txBody>
          <a:bodyPr/>
          <a:lstStyle/>
          <a:p>
            <a:fld id="{BB62441D-16CF-49D4-A1A7-3F336D7DA4F7}" type="slidenum">
              <a:rPr lang="en-SG" smtClean="0"/>
              <a:pPr/>
              <a:t>14</a:t>
            </a:fld>
            <a:endParaRPr lang="en-SG"/>
          </a:p>
        </p:txBody>
      </p:sp>
      <p:sp>
        <p:nvSpPr>
          <p:cNvPr id="3" name="Content Placeholder 2"/>
          <p:cNvSpPr>
            <a:spLocks noGrp="1"/>
          </p:cNvSpPr>
          <p:nvPr>
            <p:ph sz="quarter" idx="1"/>
          </p:nvPr>
        </p:nvSpPr>
        <p:spPr/>
        <p:txBody>
          <a:bodyPr>
            <a:normAutofit/>
          </a:bodyPr>
          <a:lstStyle/>
          <a:p>
            <a:endParaRPr lang="en-US" dirty="0" smtClean="0"/>
          </a:p>
          <a:p>
            <a:r>
              <a:rPr lang="en-US" dirty="0" smtClean="0"/>
              <a:t>FORWARD Chain:  This filtering point handles packets being routed through the local system (mangle, filter). FORWARD Chain  is present in the </a:t>
            </a:r>
            <a:r>
              <a:rPr lang="en-US" i="1" dirty="0" smtClean="0"/>
              <a:t>mangle and filter tables. Only packets that neither </a:t>
            </a:r>
            <a:r>
              <a:rPr lang="en-US" dirty="0" smtClean="0"/>
              <a:t>originate nor terminate at the local host traverse this chain.</a:t>
            </a:r>
          </a:p>
          <a:p>
            <a:pPr>
              <a:buNone/>
            </a:pPr>
            <a:endParaRPr lang="en-SG" dirty="0"/>
          </a:p>
        </p:txBody>
      </p:sp>
    </p:spTree>
    <p:extLst>
      <p:ext uri="{BB962C8B-B14F-4D97-AF65-F5344CB8AC3E}">
        <p14:creationId xmlns:p14="http://schemas.microsoft.com/office/powerpoint/2010/main" val="248382236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err="1" smtClean="0"/>
              <a:t>Netfilter</a:t>
            </a:r>
            <a:r>
              <a:rPr lang="en-US" dirty="0" smtClean="0"/>
              <a:t> Packet Flow using Built-in Chains</a:t>
            </a:r>
            <a:endParaRPr lang="en-SG" dirty="0"/>
          </a:p>
        </p:txBody>
      </p:sp>
      <p:sp>
        <p:nvSpPr>
          <p:cNvPr id="4" name="Footer Placeholder 3"/>
          <p:cNvSpPr>
            <a:spLocks noGrp="1"/>
          </p:cNvSpPr>
          <p:nvPr>
            <p:ph type="ftr" sz="quarter" idx="11"/>
          </p:nvPr>
        </p:nvSpPr>
        <p:spPr/>
        <p:txBody>
          <a:bodyPr/>
          <a:lstStyle/>
          <a:p>
            <a:r>
              <a:rPr lang="en-SG" smtClean="0"/>
              <a:t>IT2533 2011 S2</a:t>
            </a:r>
            <a:endParaRPr lang="en-SG"/>
          </a:p>
        </p:txBody>
      </p:sp>
      <p:sp>
        <p:nvSpPr>
          <p:cNvPr id="5" name="Slide Number Placeholder 4"/>
          <p:cNvSpPr>
            <a:spLocks noGrp="1"/>
          </p:cNvSpPr>
          <p:nvPr>
            <p:ph type="sldNum" sz="quarter" idx="12"/>
          </p:nvPr>
        </p:nvSpPr>
        <p:spPr/>
        <p:txBody>
          <a:bodyPr/>
          <a:lstStyle/>
          <a:p>
            <a:fld id="{BB62441D-16CF-49D4-A1A7-3F336D7DA4F7}" type="slidenum">
              <a:rPr lang="en-SG" smtClean="0"/>
              <a:pPr/>
              <a:t>15</a:t>
            </a:fld>
            <a:endParaRPr lang="en-SG"/>
          </a:p>
        </p:txBody>
      </p:sp>
      <p:sp>
        <p:nvSpPr>
          <p:cNvPr id="3" name="Content Placeholder 2"/>
          <p:cNvSpPr>
            <a:spLocks noGrp="1"/>
          </p:cNvSpPr>
          <p:nvPr>
            <p:ph sz="quarter" idx="1"/>
          </p:nvPr>
        </p:nvSpPr>
        <p:spPr/>
        <p:txBody>
          <a:bodyPr>
            <a:normAutofit/>
          </a:bodyPr>
          <a:lstStyle/>
          <a:p>
            <a:pPr>
              <a:buNone/>
            </a:pPr>
            <a:endParaRPr lang="en-US" dirty="0" smtClean="0"/>
          </a:p>
          <a:p>
            <a:r>
              <a:rPr lang="en-US" dirty="0" smtClean="0"/>
              <a:t>INPUT Chain: This filtering point handles packets destined for the local system, after the routing decision. INPUT Chain is present in the </a:t>
            </a:r>
            <a:r>
              <a:rPr lang="en-US" i="1" dirty="0" smtClean="0"/>
              <a:t>mangle and filter tables. </a:t>
            </a:r>
            <a:r>
              <a:rPr lang="en-US" dirty="0" smtClean="0"/>
              <a:t>Only packets terminating on </a:t>
            </a:r>
            <a:r>
              <a:rPr lang="en-US" dirty="0" err="1" smtClean="0"/>
              <a:t>localhost</a:t>
            </a:r>
            <a:r>
              <a:rPr lang="en-US" dirty="0" smtClean="0"/>
              <a:t> traverse this chain.</a:t>
            </a:r>
          </a:p>
          <a:p>
            <a:pPr>
              <a:buNone/>
            </a:pPr>
            <a:endParaRPr lang="en-US" dirty="0" smtClean="0"/>
          </a:p>
        </p:txBody>
      </p:sp>
    </p:spTree>
    <p:extLst>
      <p:ext uri="{BB962C8B-B14F-4D97-AF65-F5344CB8AC3E}">
        <p14:creationId xmlns:p14="http://schemas.microsoft.com/office/powerpoint/2010/main" val="192104156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err="1" smtClean="0"/>
              <a:t>Netfilter</a:t>
            </a:r>
            <a:r>
              <a:rPr lang="en-US" dirty="0" smtClean="0"/>
              <a:t> Packet Flow using Built-in Chains</a:t>
            </a:r>
            <a:endParaRPr lang="en-SG" dirty="0"/>
          </a:p>
        </p:txBody>
      </p:sp>
      <p:sp>
        <p:nvSpPr>
          <p:cNvPr id="4" name="Footer Placeholder 3"/>
          <p:cNvSpPr>
            <a:spLocks noGrp="1"/>
          </p:cNvSpPr>
          <p:nvPr>
            <p:ph type="ftr" sz="quarter" idx="11"/>
          </p:nvPr>
        </p:nvSpPr>
        <p:spPr/>
        <p:txBody>
          <a:bodyPr/>
          <a:lstStyle/>
          <a:p>
            <a:r>
              <a:rPr lang="en-SG" smtClean="0"/>
              <a:t>IT2533 2011 S2</a:t>
            </a:r>
            <a:endParaRPr lang="en-SG"/>
          </a:p>
        </p:txBody>
      </p:sp>
      <p:sp>
        <p:nvSpPr>
          <p:cNvPr id="5" name="Slide Number Placeholder 4"/>
          <p:cNvSpPr>
            <a:spLocks noGrp="1"/>
          </p:cNvSpPr>
          <p:nvPr>
            <p:ph type="sldNum" sz="quarter" idx="12"/>
          </p:nvPr>
        </p:nvSpPr>
        <p:spPr/>
        <p:txBody>
          <a:bodyPr/>
          <a:lstStyle/>
          <a:p>
            <a:fld id="{BB62441D-16CF-49D4-A1A7-3F336D7DA4F7}" type="slidenum">
              <a:rPr lang="en-SG" smtClean="0"/>
              <a:pPr/>
              <a:t>16</a:t>
            </a:fld>
            <a:endParaRPr lang="en-SG"/>
          </a:p>
        </p:txBody>
      </p:sp>
      <p:sp>
        <p:nvSpPr>
          <p:cNvPr id="3" name="Content Placeholder 2"/>
          <p:cNvSpPr>
            <a:spLocks noGrp="1"/>
          </p:cNvSpPr>
          <p:nvPr>
            <p:ph sz="quarter" idx="1"/>
          </p:nvPr>
        </p:nvSpPr>
        <p:spPr/>
        <p:txBody>
          <a:bodyPr>
            <a:normAutofit/>
          </a:bodyPr>
          <a:lstStyle/>
          <a:p>
            <a:pPr>
              <a:buNone/>
            </a:pPr>
            <a:endParaRPr lang="en-US" dirty="0" smtClean="0"/>
          </a:p>
          <a:p>
            <a:r>
              <a:rPr lang="en-US" dirty="0" smtClean="0"/>
              <a:t>OUTPUT Chain: This filtering point handles packets after they have left their sending process and prior to POSTROUTING (</a:t>
            </a:r>
            <a:r>
              <a:rPr lang="en-US" dirty="0" err="1" smtClean="0"/>
              <a:t>conntrack</a:t>
            </a:r>
            <a:r>
              <a:rPr lang="en-US" dirty="0" smtClean="0"/>
              <a:t>, mangle, </a:t>
            </a:r>
            <a:r>
              <a:rPr lang="en-US" dirty="0" err="1" smtClean="0"/>
              <a:t>nat</a:t>
            </a:r>
            <a:r>
              <a:rPr lang="en-US" dirty="0" smtClean="0"/>
              <a:t> ,filter). OUTPUT Chain is present in the </a:t>
            </a:r>
            <a:r>
              <a:rPr lang="en-US" i="1" dirty="0" err="1" smtClean="0"/>
              <a:t>conntrack</a:t>
            </a:r>
            <a:r>
              <a:rPr lang="en-US" i="1" dirty="0" smtClean="0"/>
              <a:t>, </a:t>
            </a:r>
            <a:r>
              <a:rPr lang="en-US" i="1" dirty="0" err="1" smtClean="0"/>
              <a:t>nat</a:t>
            </a:r>
            <a:r>
              <a:rPr lang="en-US" i="1" dirty="0" smtClean="0"/>
              <a:t>, mangle and filter tables. Only packets</a:t>
            </a:r>
            <a:r>
              <a:rPr lang="en-US" dirty="0" smtClean="0"/>
              <a:t> originating on </a:t>
            </a:r>
            <a:r>
              <a:rPr lang="en-US" dirty="0" err="1" smtClean="0"/>
              <a:t>localhost</a:t>
            </a:r>
            <a:r>
              <a:rPr lang="en-US" dirty="0" smtClean="0"/>
              <a:t> traverse this chain.</a:t>
            </a:r>
          </a:p>
          <a:p>
            <a:pPr>
              <a:buNone/>
            </a:pPr>
            <a:endParaRPr lang="en-US" dirty="0" smtClean="0"/>
          </a:p>
        </p:txBody>
      </p:sp>
    </p:spTree>
    <p:extLst>
      <p:ext uri="{BB962C8B-B14F-4D97-AF65-F5344CB8AC3E}">
        <p14:creationId xmlns:p14="http://schemas.microsoft.com/office/powerpoint/2010/main" val="133461163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err="1" smtClean="0"/>
              <a:t>Netfilter</a:t>
            </a:r>
            <a:r>
              <a:rPr lang="en-US" dirty="0" smtClean="0"/>
              <a:t> Packet Flow using Built-in Chains</a:t>
            </a:r>
            <a:endParaRPr lang="en-SG" dirty="0"/>
          </a:p>
        </p:txBody>
      </p:sp>
      <p:sp>
        <p:nvSpPr>
          <p:cNvPr id="4" name="Footer Placeholder 3"/>
          <p:cNvSpPr>
            <a:spLocks noGrp="1"/>
          </p:cNvSpPr>
          <p:nvPr>
            <p:ph type="ftr" sz="quarter" idx="11"/>
          </p:nvPr>
        </p:nvSpPr>
        <p:spPr/>
        <p:txBody>
          <a:bodyPr/>
          <a:lstStyle/>
          <a:p>
            <a:r>
              <a:rPr lang="en-SG" smtClean="0"/>
              <a:t>IT2533 2011 S2</a:t>
            </a:r>
            <a:endParaRPr lang="en-SG"/>
          </a:p>
        </p:txBody>
      </p:sp>
      <p:sp>
        <p:nvSpPr>
          <p:cNvPr id="5" name="Slide Number Placeholder 4"/>
          <p:cNvSpPr>
            <a:spLocks noGrp="1"/>
          </p:cNvSpPr>
          <p:nvPr>
            <p:ph type="sldNum" sz="quarter" idx="12"/>
          </p:nvPr>
        </p:nvSpPr>
        <p:spPr/>
        <p:txBody>
          <a:bodyPr/>
          <a:lstStyle/>
          <a:p>
            <a:fld id="{BB62441D-16CF-49D4-A1A7-3F336D7DA4F7}" type="slidenum">
              <a:rPr lang="en-SG" smtClean="0"/>
              <a:pPr/>
              <a:t>17</a:t>
            </a:fld>
            <a:endParaRPr lang="en-SG"/>
          </a:p>
        </p:txBody>
      </p:sp>
      <p:sp>
        <p:nvSpPr>
          <p:cNvPr id="3" name="Content Placeholder 2"/>
          <p:cNvSpPr>
            <a:spLocks noGrp="1"/>
          </p:cNvSpPr>
          <p:nvPr>
            <p:ph sz="quarter" idx="1"/>
          </p:nvPr>
        </p:nvSpPr>
        <p:spPr/>
        <p:txBody>
          <a:bodyPr>
            <a:normAutofit/>
          </a:bodyPr>
          <a:lstStyle/>
          <a:p>
            <a:pPr>
              <a:buNone/>
            </a:pPr>
            <a:endParaRPr lang="en-US" dirty="0" smtClean="0"/>
          </a:p>
          <a:p>
            <a:r>
              <a:rPr lang="en-US" dirty="0" smtClean="0"/>
              <a:t>POSTROUTING Chain: This filtering point handles packets immediately prior to leaving the system (mangle, </a:t>
            </a:r>
            <a:r>
              <a:rPr lang="en-US" dirty="0" err="1" smtClean="0"/>
              <a:t>nat</a:t>
            </a:r>
            <a:r>
              <a:rPr lang="en-US" dirty="0" smtClean="0"/>
              <a:t>). POSTROUTING Chain is present in the </a:t>
            </a:r>
            <a:r>
              <a:rPr lang="en-US" i="1" dirty="0" err="1" smtClean="0"/>
              <a:t>nat</a:t>
            </a:r>
            <a:r>
              <a:rPr lang="en-US" i="1" dirty="0" smtClean="0"/>
              <a:t> and mangle tables. Packets traverse this chain </a:t>
            </a:r>
            <a:r>
              <a:rPr lang="en-US" b="1" dirty="0" smtClean="0"/>
              <a:t>after a routing decision is made by the kernel.</a:t>
            </a:r>
          </a:p>
          <a:p>
            <a:pPr>
              <a:buNone/>
            </a:pPr>
            <a:endParaRPr lang="en-US" dirty="0" smtClean="0"/>
          </a:p>
        </p:txBody>
      </p:sp>
    </p:spTree>
    <p:extLst>
      <p:ext uri="{BB962C8B-B14F-4D97-AF65-F5344CB8AC3E}">
        <p14:creationId xmlns:p14="http://schemas.microsoft.com/office/powerpoint/2010/main" val="308991847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err="1" smtClean="0"/>
              <a:t>Netfilter</a:t>
            </a:r>
            <a:r>
              <a:rPr lang="en-US" dirty="0" smtClean="0"/>
              <a:t> Packet Flow using Built-in Chains</a:t>
            </a:r>
            <a:endParaRPr lang="en-SG" dirty="0"/>
          </a:p>
        </p:txBody>
      </p:sp>
      <p:sp>
        <p:nvSpPr>
          <p:cNvPr id="4" name="Footer Placeholder 3"/>
          <p:cNvSpPr>
            <a:spLocks noGrp="1"/>
          </p:cNvSpPr>
          <p:nvPr>
            <p:ph type="ftr" sz="quarter" idx="11"/>
          </p:nvPr>
        </p:nvSpPr>
        <p:spPr/>
        <p:txBody>
          <a:bodyPr/>
          <a:lstStyle/>
          <a:p>
            <a:r>
              <a:rPr lang="en-SG" smtClean="0"/>
              <a:t>IT2533 2011 S2</a:t>
            </a:r>
            <a:endParaRPr lang="en-SG"/>
          </a:p>
        </p:txBody>
      </p:sp>
      <p:sp>
        <p:nvSpPr>
          <p:cNvPr id="5" name="Slide Number Placeholder 4"/>
          <p:cNvSpPr>
            <a:spLocks noGrp="1"/>
          </p:cNvSpPr>
          <p:nvPr>
            <p:ph type="sldNum" sz="quarter" idx="12"/>
          </p:nvPr>
        </p:nvSpPr>
        <p:spPr/>
        <p:txBody>
          <a:bodyPr/>
          <a:lstStyle/>
          <a:p>
            <a:fld id="{BB62441D-16CF-49D4-A1A7-3F336D7DA4F7}" type="slidenum">
              <a:rPr lang="en-SG" smtClean="0"/>
              <a:pPr/>
              <a:t>18</a:t>
            </a:fld>
            <a:endParaRPr lang="en-SG"/>
          </a:p>
        </p:txBody>
      </p:sp>
      <p:sp>
        <p:nvSpPr>
          <p:cNvPr id="3" name="Content Placeholder 2"/>
          <p:cNvSpPr>
            <a:spLocks noGrp="1"/>
          </p:cNvSpPr>
          <p:nvPr>
            <p:ph sz="quarter" idx="1"/>
          </p:nvPr>
        </p:nvSpPr>
        <p:spPr/>
        <p:txBody>
          <a:bodyPr>
            <a:normAutofit/>
          </a:bodyPr>
          <a:lstStyle/>
          <a:p>
            <a:pPr>
              <a:buNone/>
            </a:pPr>
            <a:endParaRPr lang="en-US" dirty="0" smtClean="0"/>
          </a:p>
          <a:p>
            <a:r>
              <a:rPr lang="en-US" dirty="0" smtClean="0"/>
              <a:t>Routing Decision: If a packet’s destination address corresponds to the local system then packets are routed to be handled there, by a local process . If the packet is to be delivered to another system, and packet forwarding is enabled in the kernel (see /</a:t>
            </a:r>
            <a:r>
              <a:rPr lang="en-US" dirty="0" err="1" smtClean="0"/>
              <a:t>proc</a:t>
            </a:r>
            <a:r>
              <a:rPr lang="en-US" dirty="0" smtClean="0"/>
              <a:t>/sys/not/ipv4/</a:t>
            </a:r>
            <a:r>
              <a:rPr lang="en-US" dirty="0" err="1" smtClean="0"/>
              <a:t>ip_forward</a:t>
            </a:r>
            <a:r>
              <a:rPr lang="en-US" dirty="0" smtClean="0"/>
              <a:t>) the packets are directed in accordance with the routing table.</a:t>
            </a:r>
            <a:endParaRPr lang="en-SG" dirty="0"/>
          </a:p>
        </p:txBody>
      </p:sp>
    </p:spTree>
    <p:extLst>
      <p:ext uri="{BB962C8B-B14F-4D97-AF65-F5344CB8AC3E}">
        <p14:creationId xmlns:p14="http://schemas.microsoft.com/office/powerpoint/2010/main" val="94002099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Rule Matching features in </a:t>
            </a:r>
            <a:r>
              <a:rPr lang="en-US" dirty="0" err="1" smtClean="0"/>
              <a:t>netfilter</a:t>
            </a:r>
            <a:endParaRPr lang="en-SG" dirty="0"/>
          </a:p>
        </p:txBody>
      </p:sp>
      <p:sp>
        <p:nvSpPr>
          <p:cNvPr id="4" name="Footer Placeholder 3"/>
          <p:cNvSpPr>
            <a:spLocks noGrp="1"/>
          </p:cNvSpPr>
          <p:nvPr>
            <p:ph type="ftr" sz="quarter" idx="11"/>
          </p:nvPr>
        </p:nvSpPr>
        <p:spPr/>
        <p:txBody>
          <a:bodyPr/>
          <a:lstStyle/>
          <a:p>
            <a:r>
              <a:rPr lang="en-SG" smtClean="0"/>
              <a:t>IT2533 2011 S2</a:t>
            </a:r>
            <a:endParaRPr lang="en-SG"/>
          </a:p>
        </p:txBody>
      </p:sp>
      <p:sp>
        <p:nvSpPr>
          <p:cNvPr id="5" name="Slide Number Placeholder 4"/>
          <p:cNvSpPr>
            <a:spLocks noGrp="1"/>
          </p:cNvSpPr>
          <p:nvPr>
            <p:ph type="sldNum" sz="quarter" idx="12"/>
          </p:nvPr>
        </p:nvSpPr>
        <p:spPr/>
        <p:txBody>
          <a:bodyPr/>
          <a:lstStyle/>
          <a:p>
            <a:fld id="{BB62441D-16CF-49D4-A1A7-3F336D7DA4F7}" type="slidenum">
              <a:rPr lang="en-SG" smtClean="0"/>
              <a:pPr/>
              <a:t>19</a:t>
            </a:fld>
            <a:endParaRPr lang="en-SG"/>
          </a:p>
        </p:txBody>
      </p:sp>
      <p:sp>
        <p:nvSpPr>
          <p:cNvPr id="3" name="Content Placeholder 2"/>
          <p:cNvSpPr>
            <a:spLocks noGrp="1"/>
          </p:cNvSpPr>
          <p:nvPr>
            <p:ph sz="quarter" idx="1"/>
          </p:nvPr>
        </p:nvSpPr>
        <p:spPr/>
        <p:txBody>
          <a:bodyPr>
            <a:normAutofit fontScale="70000" lnSpcReduction="20000"/>
          </a:bodyPr>
          <a:lstStyle/>
          <a:p>
            <a:r>
              <a:rPr lang="en-US" sz="2700" dirty="0"/>
              <a:t>Rules in ordered list</a:t>
            </a:r>
          </a:p>
          <a:p>
            <a:r>
              <a:rPr lang="en-US" sz="2700" dirty="0"/>
              <a:t>Packets tested against each rule in turn</a:t>
            </a:r>
          </a:p>
          <a:p>
            <a:r>
              <a:rPr lang="en-US" sz="2700" dirty="0"/>
              <a:t>On first match, the target is evaluated: usually exists the chain</a:t>
            </a:r>
          </a:p>
          <a:p>
            <a:r>
              <a:rPr lang="en-US" sz="2700" dirty="0"/>
              <a:t>Rule may specify multiple criteria for match</a:t>
            </a:r>
          </a:p>
          <a:p>
            <a:r>
              <a:rPr lang="en-US" sz="2700" dirty="0"/>
              <a:t>Every criterion in a specification must be met for the rule to match(logical AND)</a:t>
            </a:r>
          </a:p>
          <a:p>
            <a:r>
              <a:rPr lang="en-US" sz="2700" dirty="0"/>
              <a:t>Chain Policy applies if no match</a:t>
            </a:r>
          </a:p>
          <a:p>
            <a:pPr>
              <a:buNone/>
            </a:pPr>
            <a:endParaRPr lang="en-US" dirty="0" smtClean="0"/>
          </a:p>
          <a:p>
            <a:pPr>
              <a:buNone/>
            </a:pPr>
            <a:r>
              <a:rPr lang="en-US" dirty="0" smtClean="0"/>
              <a:t>	</a:t>
            </a:r>
            <a:endParaRPr lang="en-SG" sz="2550" dirty="0"/>
          </a:p>
        </p:txBody>
      </p:sp>
    </p:spTree>
    <p:extLst>
      <p:ext uri="{BB962C8B-B14F-4D97-AF65-F5344CB8AC3E}">
        <p14:creationId xmlns:p14="http://schemas.microsoft.com/office/powerpoint/2010/main" val="264099226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Rule Targets</a:t>
            </a:r>
            <a:endParaRPr lang="en-SG" dirty="0"/>
          </a:p>
        </p:txBody>
      </p:sp>
      <p:sp>
        <p:nvSpPr>
          <p:cNvPr id="4" name="Footer Placeholder 3"/>
          <p:cNvSpPr>
            <a:spLocks noGrp="1"/>
          </p:cNvSpPr>
          <p:nvPr>
            <p:ph type="ftr" sz="quarter" idx="11"/>
          </p:nvPr>
        </p:nvSpPr>
        <p:spPr/>
        <p:txBody>
          <a:bodyPr/>
          <a:lstStyle/>
          <a:p>
            <a:r>
              <a:rPr lang="en-SG" smtClean="0"/>
              <a:t>IT2533 2011 S2</a:t>
            </a:r>
            <a:endParaRPr lang="en-SG"/>
          </a:p>
        </p:txBody>
      </p:sp>
      <p:sp>
        <p:nvSpPr>
          <p:cNvPr id="5" name="Slide Number Placeholder 4"/>
          <p:cNvSpPr>
            <a:spLocks noGrp="1"/>
          </p:cNvSpPr>
          <p:nvPr>
            <p:ph type="sldNum" sz="quarter" idx="12"/>
          </p:nvPr>
        </p:nvSpPr>
        <p:spPr/>
        <p:txBody>
          <a:bodyPr/>
          <a:lstStyle/>
          <a:p>
            <a:fld id="{BB62441D-16CF-49D4-A1A7-3F336D7DA4F7}" type="slidenum">
              <a:rPr lang="en-SG" smtClean="0"/>
              <a:pPr/>
              <a:t>20</a:t>
            </a:fld>
            <a:endParaRPr lang="en-SG"/>
          </a:p>
        </p:txBody>
      </p:sp>
      <p:sp>
        <p:nvSpPr>
          <p:cNvPr id="3" name="Content Placeholder 2"/>
          <p:cNvSpPr>
            <a:spLocks noGrp="1"/>
          </p:cNvSpPr>
          <p:nvPr>
            <p:ph sz="quarter" idx="1"/>
          </p:nvPr>
        </p:nvSpPr>
        <p:spPr/>
        <p:txBody>
          <a:bodyPr>
            <a:normAutofit fontScale="85000" lnSpcReduction="20000"/>
          </a:bodyPr>
          <a:lstStyle/>
          <a:p>
            <a:r>
              <a:rPr lang="en-US" dirty="0" smtClean="0"/>
              <a:t>Built-in </a:t>
            </a:r>
            <a:r>
              <a:rPr lang="en-US" dirty="0" err="1" smtClean="0"/>
              <a:t>tragets</a:t>
            </a:r>
            <a:r>
              <a:rPr lang="en-US" dirty="0" smtClean="0"/>
              <a:t>: DROP, ACCEPT</a:t>
            </a:r>
          </a:p>
          <a:p>
            <a:r>
              <a:rPr lang="en-US" dirty="0" smtClean="0"/>
              <a:t>Extension targets: LOG, REJECT, custom chain</a:t>
            </a:r>
          </a:p>
          <a:p>
            <a:pPr lvl="1"/>
            <a:r>
              <a:rPr lang="en-US" dirty="0" smtClean="0"/>
              <a:t>Reject sends a notice returned to sender</a:t>
            </a:r>
          </a:p>
          <a:p>
            <a:pPr lvl="1"/>
            <a:r>
              <a:rPr lang="en-US" dirty="0" smtClean="0"/>
              <a:t>LOG connects to system log kernel facility</a:t>
            </a:r>
          </a:p>
          <a:p>
            <a:pPr lvl="1"/>
            <a:r>
              <a:rPr lang="en-US" dirty="0" smtClean="0"/>
              <a:t>LOG match does not exit the chain</a:t>
            </a:r>
          </a:p>
          <a:p>
            <a:pPr lvl="1"/>
            <a:endParaRPr lang="en-US" dirty="0" smtClean="0"/>
          </a:p>
          <a:p>
            <a:r>
              <a:rPr lang="en-US" dirty="0" smtClean="0"/>
              <a:t>Target is optional, but no more than one per rule and defaults to the chain policy if absent</a:t>
            </a:r>
          </a:p>
          <a:p>
            <a:pPr>
              <a:buNone/>
            </a:pPr>
            <a:endParaRPr lang="en-US" dirty="0" smtClean="0"/>
          </a:p>
          <a:p>
            <a:pPr marL="0" indent="0">
              <a:buNone/>
            </a:pPr>
            <a:r>
              <a:rPr lang="en-US" dirty="0" smtClean="0"/>
              <a:t>Rule targets determine what action to take when a packet matches the rule’s selection criteria . Target names qualify the –j option of the </a:t>
            </a:r>
            <a:r>
              <a:rPr lang="en-US" dirty="0" err="1" smtClean="0"/>
              <a:t>iptables</a:t>
            </a:r>
            <a:r>
              <a:rPr lang="en-US" dirty="0" smtClean="0"/>
              <a:t> command(think j as in jump).A target can be built in (Base) target, a custom chain or extension target.</a:t>
            </a:r>
          </a:p>
          <a:p>
            <a:pPr>
              <a:buNone/>
            </a:pPr>
            <a:endParaRPr lang="en-US" dirty="0" smtClean="0"/>
          </a:p>
          <a:p>
            <a:pPr>
              <a:buNone/>
            </a:pPr>
            <a:r>
              <a:rPr lang="en-US" dirty="0" smtClean="0"/>
              <a:t>In the </a:t>
            </a:r>
            <a:r>
              <a:rPr lang="en-US" dirty="0" err="1" smtClean="0"/>
              <a:t>netfilter</a:t>
            </a:r>
            <a:r>
              <a:rPr lang="en-US" dirty="0" smtClean="0"/>
              <a:t> framework, it supports DROP and ACCEPT as the two base targets.</a:t>
            </a:r>
          </a:p>
        </p:txBody>
      </p:sp>
    </p:spTree>
    <p:extLst>
      <p:ext uri="{BB962C8B-B14F-4D97-AF65-F5344CB8AC3E}">
        <p14:creationId xmlns:p14="http://schemas.microsoft.com/office/powerpoint/2010/main" val="374012149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Rule Targets</a:t>
            </a:r>
            <a:endParaRPr lang="en-US" dirty="0"/>
          </a:p>
        </p:txBody>
      </p:sp>
      <p:sp>
        <p:nvSpPr>
          <p:cNvPr id="4" name="Footer Placeholder 3"/>
          <p:cNvSpPr>
            <a:spLocks noGrp="1"/>
          </p:cNvSpPr>
          <p:nvPr>
            <p:ph type="ftr" sz="quarter" idx="11"/>
          </p:nvPr>
        </p:nvSpPr>
        <p:spPr/>
        <p:txBody>
          <a:bodyPr/>
          <a:lstStyle/>
          <a:p>
            <a:r>
              <a:rPr lang="en-SG" smtClean="0"/>
              <a:t>IT2533 2011 S2</a:t>
            </a:r>
            <a:endParaRPr lang="en-SG"/>
          </a:p>
        </p:txBody>
      </p:sp>
      <p:sp>
        <p:nvSpPr>
          <p:cNvPr id="5" name="Slide Number Placeholder 4"/>
          <p:cNvSpPr>
            <a:spLocks noGrp="1"/>
          </p:cNvSpPr>
          <p:nvPr>
            <p:ph type="sldNum" sz="quarter" idx="12"/>
          </p:nvPr>
        </p:nvSpPr>
        <p:spPr/>
        <p:txBody>
          <a:bodyPr/>
          <a:lstStyle/>
          <a:p>
            <a:fld id="{BB62441D-16CF-49D4-A1A7-3F336D7DA4F7}" type="slidenum">
              <a:rPr lang="en-SG" smtClean="0"/>
              <a:pPr/>
              <a:t>21</a:t>
            </a:fld>
            <a:endParaRPr lang="en-SG"/>
          </a:p>
        </p:txBody>
      </p:sp>
      <p:sp>
        <p:nvSpPr>
          <p:cNvPr id="2" name="Content Placeholder 1"/>
          <p:cNvSpPr>
            <a:spLocks noGrp="1"/>
          </p:cNvSpPr>
          <p:nvPr>
            <p:ph sz="quarter" idx="1"/>
          </p:nvPr>
        </p:nvSpPr>
        <p:spPr/>
        <p:txBody>
          <a:bodyPr>
            <a:normAutofit fontScale="77500" lnSpcReduction="20000"/>
          </a:bodyPr>
          <a:lstStyle/>
          <a:p>
            <a:pPr>
              <a:buNone/>
            </a:pPr>
            <a:r>
              <a:rPr lang="en-US" dirty="0" smtClean="0"/>
              <a:t>	As with packet matching, additional target capability is added through extensions. Unlike packet matching extension targets are usually implemented in special purpose kernel modules.</a:t>
            </a:r>
          </a:p>
          <a:p>
            <a:pPr>
              <a:buNone/>
            </a:pPr>
            <a:endParaRPr lang="en-US" dirty="0" smtClean="0"/>
          </a:p>
          <a:p>
            <a:pPr>
              <a:buNone/>
            </a:pPr>
            <a:r>
              <a:rPr lang="en-US" dirty="0" smtClean="0"/>
              <a:t>	For example, the LOG target is implement through the </a:t>
            </a:r>
            <a:r>
              <a:rPr lang="en-US" dirty="0" err="1" smtClean="0"/>
              <a:t>ipt_LOG</a:t>
            </a:r>
            <a:r>
              <a:rPr lang="en-US" dirty="0" smtClean="0"/>
              <a:t> kernel module. All extension target modules have names starting with </a:t>
            </a:r>
            <a:r>
              <a:rPr lang="en-US" dirty="0" err="1" smtClean="0"/>
              <a:t>ipt</a:t>
            </a:r>
            <a:r>
              <a:rPr lang="en-US" dirty="0" smtClean="0"/>
              <a:t>_</a:t>
            </a:r>
          </a:p>
          <a:p>
            <a:pPr>
              <a:buNone/>
            </a:pPr>
            <a:endParaRPr lang="en-US" dirty="0" smtClean="0"/>
          </a:p>
          <a:p>
            <a:pPr>
              <a:buNone/>
            </a:pPr>
            <a:r>
              <a:rPr lang="en-US" dirty="0" smtClean="0"/>
              <a:t>	Most targets do not return that is if a packet matches a rule then checking of that packet ceases(the chain is exited). </a:t>
            </a:r>
          </a:p>
          <a:p>
            <a:pPr>
              <a:buNone/>
            </a:pPr>
            <a:endParaRPr lang="en-US" dirty="0" smtClean="0"/>
          </a:p>
          <a:p>
            <a:pPr>
              <a:buNone/>
            </a:pPr>
            <a:r>
              <a:rPr lang="en-US" dirty="0" smtClean="0"/>
              <a:t>	Some targets, like LOG do return after the target’s action </a:t>
            </a:r>
            <a:r>
              <a:rPr lang="en-US" dirty="0" err="1" smtClean="0"/>
              <a:t>action</a:t>
            </a:r>
            <a:r>
              <a:rPr lang="en-US" dirty="0" smtClean="0"/>
              <a:t> has been evaluated, control will pass back to the calling chain. There is, for convenience, a RETURN built in target.</a:t>
            </a:r>
          </a:p>
          <a:p>
            <a:pPr>
              <a:buNone/>
            </a:pPr>
            <a:endParaRPr lang="en-US" dirty="0" smtClean="0"/>
          </a:p>
          <a:p>
            <a:pPr>
              <a:buNone/>
            </a:pPr>
            <a:r>
              <a:rPr lang="en-US" dirty="0" smtClean="0"/>
              <a:t>	A match in the case of a rule with no target will simply increment a packet and a byte counters associated with that rule. The collection of packet statistics in this manner is probably the only use for rules with no target.</a:t>
            </a:r>
          </a:p>
          <a:p>
            <a:endParaRPr lang="en-US" dirty="0"/>
          </a:p>
        </p:txBody>
      </p:sp>
    </p:spTree>
    <p:extLst>
      <p:ext uri="{BB962C8B-B14F-4D97-AF65-F5344CB8AC3E}">
        <p14:creationId xmlns:p14="http://schemas.microsoft.com/office/powerpoint/2010/main" val="220672578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Simple Example</a:t>
            </a:r>
            <a:endParaRPr lang="en-SG" dirty="0"/>
          </a:p>
        </p:txBody>
      </p:sp>
      <p:sp>
        <p:nvSpPr>
          <p:cNvPr id="4" name="Footer Placeholder 3"/>
          <p:cNvSpPr>
            <a:spLocks noGrp="1"/>
          </p:cNvSpPr>
          <p:nvPr>
            <p:ph type="ftr" sz="quarter" idx="11"/>
          </p:nvPr>
        </p:nvSpPr>
        <p:spPr/>
        <p:txBody>
          <a:bodyPr/>
          <a:lstStyle/>
          <a:p>
            <a:r>
              <a:rPr lang="en-SG" smtClean="0"/>
              <a:t>IT2533 2011 S2</a:t>
            </a:r>
            <a:endParaRPr lang="en-SG"/>
          </a:p>
        </p:txBody>
      </p:sp>
      <p:sp>
        <p:nvSpPr>
          <p:cNvPr id="5" name="Slide Number Placeholder 4"/>
          <p:cNvSpPr>
            <a:spLocks noGrp="1"/>
          </p:cNvSpPr>
          <p:nvPr>
            <p:ph type="sldNum" sz="quarter" idx="12"/>
          </p:nvPr>
        </p:nvSpPr>
        <p:spPr/>
        <p:txBody>
          <a:bodyPr/>
          <a:lstStyle/>
          <a:p>
            <a:fld id="{BB62441D-16CF-49D4-A1A7-3F336D7DA4F7}" type="slidenum">
              <a:rPr lang="en-SG" smtClean="0"/>
              <a:pPr/>
              <a:t>22</a:t>
            </a:fld>
            <a:endParaRPr lang="en-SG"/>
          </a:p>
        </p:txBody>
      </p:sp>
      <p:sp>
        <p:nvSpPr>
          <p:cNvPr id="3" name="Content Placeholder 2"/>
          <p:cNvSpPr>
            <a:spLocks noGrp="1"/>
          </p:cNvSpPr>
          <p:nvPr>
            <p:ph sz="quarter" idx="1"/>
          </p:nvPr>
        </p:nvSpPr>
        <p:spPr/>
        <p:txBody>
          <a:bodyPr>
            <a:normAutofit fontScale="92500"/>
          </a:bodyPr>
          <a:lstStyle/>
          <a:p>
            <a:r>
              <a:rPr lang="en-US" dirty="0" smtClean="0"/>
              <a:t>An INPUT rule for the filter table:</a:t>
            </a:r>
          </a:p>
          <a:p>
            <a:pPr>
              <a:buNone/>
            </a:pPr>
            <a:endParaRPr lang="en-US" dirty="0" smtClean="0"/>
          </a:p>
          <a:p>
            <a:pPr algn="ctr">
              <a:buNone/>
            </a:pPr>
            <a:r>
              <a:rPr lang="en-US" dirty="0" err="1" smtClean="0"/>
              <a:t>iptables</a:t>
            </a:r>
            <a:r>
              <a:rPr lang="en-US" dirty="0" smtClean="0"/>
              <a:t> –t filter –A INPUT –s 192.168.10.1 –j DROP</a:t>
            </a:r>
          </a:p>
          <a:p>
            <a:pPr>
              <a:buNone/>
            </a:pPr>
            <a:endParaRPr lang="en-US" dirty="0" smtClean="0"/>
          </a:p>
          <a:p>
            <a:pPr>
              <a:buNone/>
            </a:pPr>
            <a:r>
              <a:rPr lang="en-US" dirty="0" smtClean="0"/>
              <a:t>	In this example , the ‘-A’ is for append, indicating that a single rule will be appended(in this case) to the INPUT chain of the filter table. This rule causes any packet with a source address(hence ‘-s’)of 192.168.10.1 to match and “jump” to it’s target which is DROP, causing the packet to be discarded.</a:t>
            </a:r>
          </a:p>
          <a:p>
            <a:pPr>
              <a:buNone/>
            </a:pPr>
            <a:endParaRPr lang="en-US" dirty="0" smtClean="0"/>
          </a:p>
          <a:p>
            <a:pPr>
              <a:buNone/>
            </a:pPr>
            <a:r>
              <a:rPr lang="en-US" dirty="0" smtClean="0"/>
              <a:t>	The </a:t>
            </a:r>
            <a:r>
              <a:rPr lang="en-US" dirty="0" err="1" smtClean="0"/>
              <a:t>iptables</a:t>
            </a:r>
            <a:r>
              <a:rPr lang="en-US" dirty="0" smtClean="0"/>
              <a:t> command provides the user-space door into all the kernel side capabilities of </a:t>
            </a:r>
            <a:r>
              <a:rPr lang="en-US" dirty="0" err="1" smtClean="0"/>
              <a:t>Netfilter</a:t>
            </a:r>
            <a:r>
              <a:rPr lang="en-US" dirty="0" smtClean="0"/>
              <a:t>. It is used for all rule administration, and is provided on Red Hat Enterprise Linux as part of the </a:t>
            </a:r>
            <a:r>
              <a:rPr lang="en-US" dirty="0" err="1" smtClean="0"/>
              <a:t>iptables</a:t>
            </a:r>
            <a:r>
              <a:rPr lang="en-US" dirty="0" smtClean="0"/>
              <a:t> RPM package.</a:t>
            </a:r>
          </a:p>
          <a:p>
            <a:pPr>
              <a:buNone/>
            </a:pPr>
            <a:endParaRPr lang="en-US" dirty="0" smtClean="0"/>
          </a:p>
        </p:txBody>
      </p:sp>
    </p:spTree>
    <p:extLst>
      <p:ext uri="{BB962C8B-B14F-4D97-AF65-F5344CB8AC3E}">
        <p14:creationId xmlns:p14="http://schemas.microsoft.com/office/powerpoint/2010/main" val="17432617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Simple Example</a:t>
            </a:r>
            <a:endParaRPr lang="en-US" dirty="0"/>
          </a:p>
        </p:txBody>
      </p:sp>
      <p:sp>
        <p:nvSpPr>
          <p:cNvPr id="4" name="Footer Placeholder 3"/>
          <p:cNvSpPr>
            <a:spLocks noGrp="1"/>
          </p:cNvSpPr>
          <p:nvPr>
            <p:ph type="ftr" sz="quarter" idx="11"/>
          </p:nvPr>
        </p:nvSpPr>
        <p:spPr/>
        <p:txBody>
          <a:bodyPr/>
          <a:lstStyle/>
          <a:p>
            <a:r>
              <a:rPr lang="en-SG" smtClean="0"/>
              <a:t>IT2533 2011 S2</a:t>
            </a:r>
            <a:endParaRPr lang="en-SG"/>
          </a:p>
        </p:txBody>
      </p:sp>
      <p:sp>
        <p:nvSpPr>
          <p:cNvPr id="5" name="Slide Number Placeholder 4"/>
          <p:cNvSpPr>
            <a:spLocks noGrp="1"/>
          </p:cNvSpPr>
          <p:nvPr>
            <p:ph type="sldNum" sz="quarter" idx="12"/>
          </p:nvPr>
        </p:nvSpPr>
        <p:spPr/>
        <p:txBody>
          <a:bodyPr/>
          <a:lstStyle/>
          <a:p>
            <a:fld id="{BB62441D-16CF-49D4-A1A7-3F336D7DA4F7}" type="slidenum">
              <a:rPr lang="en-SG" smtClean="0"/>
              <a:pPr/>
              <a:t>23</a:t>
            </a:fld>
            <a:endParaRPr lang="en-SG"/>
          </a:p>
        </p:txBody>
      </p:sp>
      <p:sp>
        <p:nvSpPr>
          <p:cNvPr id="2" name="Content Placeholder 1"/>
          <p:cNvSpPr>
            <a:spLocks noGrp="1"/>
          </p:cNvSpPr>
          <p:nvPr>
            <p:ph sz="quarter" idx="1"/>
          </p:nvPr>
        </p:nvSpPr>
        <p:spPr/>
        <p:txBody>
          <a:bodyPr>
            <a:normAutofit fontScale="55000" lnSpcReduction="20000"/>
          </a:bodyPr>
          <a:lstStyle/>
          <a:p>
            <a:pPr>
              <a:buNone/>
            </a:pPr>
            <a:r>
              <a:rPr lang="en-US" dirty="0" smtClean="0"/>
              <a:t>[</a:t>
            </a:r>
            <a:r>
              <a:rPr lang="en-US" dirty="0" err="1" smtClean="0"/>
              <a:t>root@stationX</a:t>
            </a:r>
            <a:r>
              <a:rPr lang="en-US" dirty="0" smtClean="0"/>
              <a:t> ~]# </a:t>
            </a:r>
            <a:r>
              <a:rPr lang="en-US" dirty="0" err="1" smtClean="0"/>
              <a:t>iptables</a:t>
            </a:r>
            <a:r>
              <a:rPr lang="en-US" dirty="0" smtClean="0"/>
              <a:t> –t filter –A INPUT –s 192.168.10.1 –j DROP</a:t>
            </a:r>
          </a:p>
          <a:p>
            <a:pPr>
              <a:buNone/>
            </a:pPr>
            <a:r>
              <a:rPr lang="en-US" dirty="0" smtClean="0"/>
              <a:t>[</a:t>
            </a:r>
            <a:r>
              <a:rPr lang="en-US" dirty="0" err="1" smtClean="0"/>
              <a:t>root@stationX</a:t>
            </a:r>
            <a:r>
              <a:rPr lang="en-US" dirty="0" smtClean="0"/>
              <a:t> ~]# </a:t>
            </a:r>
            <a:r>
              <a:rPr lang="en-US" dirty="0" err="1" smtClean="0"/>
              <a:t>iptables</a:t>
            </a:r>
            <a:r>
              <a:rPr lang="en-US" dirty="0" smtClean="0"/>
              <a:t>  -L INPUT</a:t>
            </a:r>
          </a:p>
          <a:p>
            <a:pPr>
              <a:buNone/>
            </a:pPr>
            <a:r>
              <a:rPr lang="en-US" dirty="0" smtClean="0"/>
              <a:t>Chain INPUT (policy ACCEPT)</a:t>
            </a:r>
          </a:p>
          <a:p>
            <a:pPr>
              <a:buNone/>
            </a:pPr>
            <a:r>
              <a:rPr lang="en-US" dirty="0" smtClean="0"/>
              <a:t>Target	port	opt	source			destination</a:t>
            </a:r>
          </a:p>
          <a:p>
            <a:pPr>
              <a:buNone/>
            </a:pPr>
            <a:r>
              <a:rPr lang="en-US" dirty="0" smtClean="0"/>
              <a:t>DROP	all	--	station1.example.com	anywhere</a:t>
            </a:r>
          </a:p>
          <a:p>
            <a:pPr>
              <a:buNone/>
            </a:pPr>
            <a:endParaRPr lang="en-US" dirty="0" smtClean="0"/>
          </a:p>
          <a:p>
            <a:pPr>
              <a:buNone/>
            </a:pPr>
            <a:r>
              <a:rPr lang="en-US" dirty="0" smtClean="0"/>
              <a:t>	The  above example shows the </a:t>
            </a:r>
            <a:r>
              <a:rPr lang="en-US" dirty="0" err="1" smtClean="0"/>
              <a:t>iptables</a:t>
            </a:r>
            <a:r>
              <a:rPr lang="en-US" dirty="0" smtClean="0"/>
              <a:t> listing of a rule corresponding to the rule added just before.</a:t>
            </a:r>
          </a:p>
          <a:p>
            <a:pPr>
              <a:buNone/>
            </a:pPr>
            <a:endParaRPr lang="en-US" dirty="0" smtClean="0"/>
          </a:p>
          <a:p>
            <a:pPr>
              <a:buNone/>
            </a:pPr>
            <a:r>
              <a:rPr lang="en-US" dirty="0" smtClean="0"/>
              <a:t>	NOTE that the rules are in effect immediately!</a:t>
            </a:r>
          </a:p>
          <a:p>
            <a:pPr>
              <a:buNone/>
            </a:pPr>
            <a:endParaRPr lang="en-US" dirty="0" smtClean="0"/>
          </a:p>
          <a:p>
            <a:pPr>
              <a:buNone/>
            </a:pPr>
            <a:r>
              <a:rPr lang="en-US" dirty="0" smtClean="0"/>
              <a:t>	Note , it was not necessary to specify the filter table in the command (more on that later). The table could have been explicit with –t filter in the command</a:t>
            </a:r>
          </a:p>
          <a:p>
            <a:pPr>
              <a:buNone/>
            </a:pPr>
            <a:endParaRPr lang="en-US" dirty="0" smtClean="0"/>
          </a:p>
          <a:p>
            <a:pPr>
              <a:buNone/>
            </a:pPr>
            <a:r>
              <a:rPr lang="en-US" dirty="0" smtClean="0"/>
              <a:t>	Our first consideration should be whether our system is mostly open (accepting most packets), or mostly closed (denying most packets).This tendency towards open or closed effects not only rules, but most importantly  the chain policy , in effect when no rule matches or is present . The effect is the target for the packet under inspection.</a:t>
            </a:r>
          </a:p>
          <a:p>
            <a:endParaRPr lang="en-US" dirty="0"/>
          </a:p>
        </p:txBody>
      </p:sp>
    </p:spTree>
    <p:extLst>
      <p:ext uri="{BB962C8B-B14F-4D97-AF65-F5344CB8AC3E}">
        <p14:creationId xmlns:p14="http://schemas.microsoft.com/office/powerpoint/2010/main" val="171362918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SG" dirty="0" smtClean="0"/>
              <a:t>THE END</a:t>
            </a:r>
            <a:endParaRPr lang="en-SG" dirty="0"/>
          </a:p>
        </p:txBody>
      </p:sp>
      <p:sp>
        <p:nvSpPr>
          <p:cNvPr id="5" name="Text Placeholder 4"/>
          <p:cNvSpPr>
            <a:spLocks noGrp="1"/>
          </p:cNvSpPr>
          <p:nvPr>
            <p:ph type="body" idx="1"/>
          </p:nvPr>
        </p:nvSpPr>
        <p:spPr/>
        <p:txBody>
          <a:bodyPr/>
          <a:lstStyle/>
          <a:p>
            <a:endParaRPr lang="en-SG" dirty="0"/>
          </a:p>
        </p:txBody>
      </p:sp>
    </p:spTree>
    <p:extLst>
      <p:ext uri="{BB962C8B-B14F-4D97-AF65-F5344CB8AC3E}">
        <p14:creationId xmlns:p14="http://schemas.microsoft.com/office/powerpoint/2010/main" val="55463529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ppt/theme/theme2.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TM03457452[[fn=Celestial]]</Template>
  <TotalTime>193</TotalTime>
  <Words>1321</Words>
  <Application>Microsoft Office PowerPoint</Application>
  <PresentationFormat>On-screen Show (16:9)</PresentationFormat>
  <Paragraphs>193</Paragraphs>
  <Slides>24</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Calibri Light</vt:lpstr>
      <vt:lpstr>Arial</vt:lpstr>
      <vt:lpstr>Calibri</vt:lpstr>
      <vt:lpstr>Wingdings</vt:lpstr>
      <vt:lpstr>Celestial</vt:lpstr>
      <vt:lpstr>IT2757 Server and Services Security Management - LINUX ACL and FILE COLLABORATION</vt:lpstr>
      <vt:lpstr>Access Control with netfilter</vt:lpstr>
      <vt:lpstr>Access Control In UNIX</vt:lpstr>
      <vt:lpstr>Firewall System-config-firewall</vt:lpstr>
      <vt:lpstr>System-config-firewall</vt:lpstr>
      <vt:lpstr>System-config-firewall</vt:lpstr>
      <vt:lpstr>Netfilter Overview</vt:lpstr>
      <vt:lpstr>The packet filter framework</vt:lpstr>
      <vt:lpstr>Netfilter 3 Tables and 5 Chains</vt:lpstr>
      <vt:lpstr>Netfilter Tables and Chains</vt:lpstr>
      <vt:lpstr>Netfilter Packet Flow</vt:lpstr>
      <vt:lpstr>Netfilter Packet Flow using Built-in Chains</vt:lpstr>
      <vt:lpstr>Netfilter Packet Flow using Built-in Chains</vt:lpstr>
      <vt:lpstr>Netfilter Packet Flow using Built-in Chains</vt:lpstr>
      <vt:lpstr>Netfilter Packet Flow using Built-in Chains</vt:lpstr>
      <vt:lpstr>Netfilter Packet Flow using Built-in Chains</vt:lpstr>
      <vt:lpstr>Netfilter Packet Flow using Built-in Chains</vt:lpstr>
      <vt:lpstr>Netfilter Packet Flow using Built-in Chains</vt:lpstr>
      <vt:lpstr>Rule Matching features in netfilter</vt:lpstr>
      <vt:lpstr>Rule Targets</vt:lpstr>
      <vt:lpstr>Rule Targets</vt:lpstr>
      <vt:lpstr>Simple Example</vt:lpstr>
      <vt:lpstr>Simple Example</vt:lpstr>
      <vt:lpstr>THE END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This is your presentation title</dc:title>
  <dc:creator>LAM SIMON</dc:creator>
  <cp:lastModifiedBy>LAM SIMON</cp:lastModifiedBy>
  <cp:revision>29</cp:revision>
  <dcterms:modified xsi:type="dcterms:W3CDTF">2018-04-06T06:26:47Z</dcterms:modified>
</cp:coreProperties>
</file>