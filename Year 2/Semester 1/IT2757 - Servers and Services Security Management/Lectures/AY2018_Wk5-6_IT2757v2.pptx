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56" r:id="rId2"/>
    <p:sldId id="312" r:id="rId3"/>
    <p:sldId id="260" r:id="rId4"/>
    <p:sldId id="316" r:id="rId5"/>
    <p:sldId id="317" r:id="rId6"/>
    <p:sldId id="318" r:id="rId7"/>
    <p:sldId id="319" r:id="rId8"/>
    <p:sldId id="320" r:id="rId9"/>
    <p:sldId id="329" r:id="rId10"/>
    <p:sldId id="330" r:id="rId11"/>
    <p:sldId id="323" r:id="rId12"/>
    <p:sldId id="324" r:id="rId13"/>
    <p:sldId id="325" r:id="rId14"/>
    <p:sldId id="326" r:id="rId15"/>
    <p:sldId id="327" r:id="rId16"/>
    <p:sldId id="328" r:id="rId17"/>
    <p:sldId id="258" r:id="rId18"/>
    <p:sldId id="315" r:id="rId19"/>
    <p:sldId id="261" r:id="rId20"/>
    <p:sldId id="313" r:id="rId21"/>
    <p:sldId id="262" r:id="rId22"/>
    <p:sldId id="263" r:id="rId23"/>
    <p:sldId id="26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21" d="100"/>
          <a:sy n="121" d="100"/>
        </p:scale>
        <p:origin x="10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4D0C6-F98C-41CC-A7EA-2970F5693303}" type="datetimeFigureOut">
              <a:rPr lang="en-SG" smtClean="0"/>
              <a:t>15/5/2018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D61FB8-0858-4243-945C-E7EE0A25349F}" type="slidenum">
              <a:rPr lang="en-SG" smtClean="0"/>
              <a:t>‹#›</a:t>
            </a:fld>
            <a:endParaRPr lang="en-SG"/>
          </a:p>
        </p:txBody>
      </p:sp>
    </p:spTree>
    <p:extLst>
      <p:ext uri="{BB962C8B-B14F-4D97-AF65-F5344CB8AC3E}">
        <p14:creationId xmlns:p14="http://schemas.microsoft.com/office/powerpoint/2010/main" val="288328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dt" sz="quarter" idx="1"/>
          </p:nvPr>
        </p:nvSpPr>
        <p:spPr>
          <a:noFill/>
        </p:spPr>
        <p:txBody>
          <a:bodyPr/>
          <a:lstStyle/>
          <a:p>
            <a:fld id="{97536F5C-4F5F-4948-8B68-66B141CC8C12}" type="datetime8">
              <a:rPr lang="en-US"/>
              <a:pPr/>
              <a:t>5/15/2018 4:32 PM</a:t>
            </a:fld>
            <a:endParaRPr lang="en-US" dirty="0"/>
          </a:p>
        </p:txBody>
      </p:sp>
      <p:sp>
        <p:nvSpPr>
          <p:cNvPr id="38915" name="Rectangle 6"/>
          <p:cNvSpPr>
            <a:spLocks noGrp="1" noChangeArrowheads="1"/>
          </p:cNvSpPr>
          <p:nvPr>
            <p:ph type="ftr" sz="quarter" idx="4"/>
          </p:nvPr>
        </p:nvSpPr>
        <p:spPr>
          <a:noFill/>
        </p:spPr>
        <p:txBody>
          <a:bodyPr/>
          <a:lstStyle/>
          <a:p>
            <a:r>
              <a:rPr lang="en-US" dirty="0"/>
              <a:t>© 2006 Microsoft Corporation. All rights reserved. Microsoft, Windows, Windows Vista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1200" dirty="0"/>
          </a:p>
        </p:txBody>
      </p:sp>
      <p:sp>
        <p:nvSpPr>
          <p:cNvPr id="38916" name="Rectangle 7"/>
          <p:cNvSpPr>
            <a:spLocks noGrp="1" noChangeArrowheads="1"/>
          </p:cNvSpPr>
          <p:nvPr>
            <p:ph type="sldNum" sz="quarter" idx="5"/>
          </p:nvPr>
        </p:nvSpPr>
        <p:spPr>
          <a:noFill/>
        </p:spPr>
        <p:txBody>
          <a:bodyPr/>
          <a:lstStyle/>
          <a:p>
            <a:fld id="{300F50E3-998F-4FC2-8728-D050483CC7AA}" type="slidenum">
              <a:rPr lang="en-US"/>
              <a:pPr/>
              <a:t>3</a:t>
            </a:fld>
            <a:endParaRPr lang="en-US" dirty="0"/>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p:txBody>
          <a:bodyPr/>
          <a:lstStyle/>
          <a:p>
            <a:pPr eaLnBrk="1" hangingPunct="1">
              <a:lnSpc>
                <a:spcPct val="70000"/>
              </a:lnSpc>
            </a:pPr>
            <a:endParaRPr lang="en-US" sz="1000" dirty="0" smtClean="0"/>
          </a:p>
        </p:txBody>
      </p:sp>
    </p:spTree>
    <p:extLst>
      <p:ext uri="{BB962C8B-B14F-4D97-AF65-F5344CB8AC3E}">
        <p14:creationId xmlns:p14="http://schemas.microsoft.com/office/powerpoint/2010/main" val="4063811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sp>
      <p:sp>
        <p:nvSpPr>
          <p:cNvPr id="3" name="Notes Placeholder 2"/>
          <p:cNvSpPr>
            <a:spLocks noGrp="1"/>
          </p:cNvSpPr>
          <p:nvPr>
            <p:ph type="body" idx="1"/>
          </p:nvPr>
        </p:nvSpPr>
        <p:spPr/>
        <p:txBody>
          <a:bodyPr>
            <a:normAutofit fontScale="40000" lnSpcReduction="20000"/>
          </a:bodyPr>
          <a:lstStyle/>
          <a:p>
            <a:pPr algn="l"/>
            <a:r>
              <a:rPr lang="en-SG" sz="1200" b="1" dirty="0" smtClean="0"/>
              <a:t>Cryptography</a:t>
            </a:r>
            <a:r>
              <a:rPr lang="en-SG" sz="1200" b="1" baseline="0" dirty="0" smtClean="0"/>
              <a:t> System – Terminology</a:t>
            </a:r>
          </a:p>
          <a:p>
            <a:pPr algn="l"/>
            <a:endParaRPr lang="en-SG" sz="1200" baseline="0" dirty="0" smtClean="0"/>
          </a:p>
          <a:p>
            <a:pPr algn="l">
              <a:spcBef>
                <a:spcPts val="0"/>
              </a:spcBef>
            </a:pPr>
            <a:r>
              <a:rPr lang="en-US" sz="1200" dirty="0" smtClean="0"/>
              <a:t>Cryptography</a:t>
            </a:r>
          </a:p>
          <a:p>
            <a:pPr lvl="1" algn="l">
              <a:spcBef>
                <a:spcPts val="0"/>
              </a:spcBef>
            </a:pPr>
            <a:r>
              <a:rPr lang="en-US" sz="1200" b="0" dirty="0" smtClean="0"/>
              <a:t>Art and science of achieving security by encoding messages to </a:t>
            </a:r>
            <a:r>
              <a:rPr lang="en-US" sz="1200" b="0" u="sng" dirty="0" smtClean="0"/>
              <a:t>make them non-readable</a:t>
            </a:r>
            <a:endParaRPr lang="en-US" sz="1200" dirty="0" smtClean="0"/>
          </a:p>
          <a:p>
            <a:pPr algn="l">
              <a:spcBef>
                <a:spcPts val="0"/>
              </a:spcBef>
            </a:pPr>
            <a:endParaRPr lang="en-US" sz="1200" dirty="0" smtClean="0"/>
          </a:p>
          <a:p>
            <a:pPr algn="l">
              <a:spcBef>
                <a:spcPts val="0"/>
              </a:spcBef>
            </a:pPr>
            <a:r>
              <a:rPr lang="en-US" sz="1200" dirty="0" smtClean="0"/>
              <a:t>Plain text</a:t>
            </a:r>
          </a:p>
          <a:p>
            <a:pPr lvl="1" algn="l">
              <a:spcBef>
                <a:spcPts val="0"/>
              </a:spcBef>
            </a:pPr>
            <a:r>
              <a:rPr lang="en-US" sz="1200" b="0" dirty="0" smtClean="0"/>
              <a:t>Also called as </a:t>
            </a:r>
            <a:r>
              <a:rPr lang="en-US" sz="1200" b="0" i="1" u="sng" dirty="0" smtClean="0"/>
              <a:t>clear text</a:t>
            </a:r>
            <a:endParaRPr lang="en-US" sz="1200" b="0" u="sng" dirty="0" smtClean="0"/>
          </a:p>
          <a:p>
            <a:pPr lvl="1" algn="l">
              <a:spcBef>
                <a:spcPts val="0"/>
              </a:spcBef>
            </a:pPr>
            <a:r>
              <a:rPr lang="en-US" sz="1200" b="0" dirty="0" smtClean="0"/>
              <a:t>Message that can be understood by the sender, the recipient and also anyone else who gets an access to the message</a:t>
            </a:r>
          </a:p>
          <a:p>
            <a:pPr algn="l">
              <a:spcBef>
                <a:spcPts val="0"/>
              </a:spcBef>
            </a:pPr>
            <a:endParaRPr lang="en-US" sz="1200" dirty="0" smtClean="0"/>
          </a:p>
          <a:p>
            <a:pPr algn="l">
              <a:spcBef>
                <a:spcPts val="0"/>
              </a:spcBef>
            </a:pPr>
            <a:r>
              <a:rPr lang="en-US" sz="1200" dirty="0" smtClean="0"/>
              <a:t>Cipher text</a:t>
            </a:r>
          </a:p>
          <a:p>
            <a:pPr lvl="1" algn="l">
              <a:spcBef>
                <a:spcPts val="0"/>
              </a:spcBef>
            </a:pPr>
            <a:r>
              <a:rPr lang="en-US" sz="1200" b="0" u="sng" dirty="0" smtClean="0"/>
              <a:t>Codified</a:t>
            </a:r>
            <a:r>
              <a:rPr lang="en-US" sz="1200" b="0" dirty="0" smtClean="0"/>
              <a:t> plain text using any suitable scheme</a:t>
            </a:r>
          </a:p>
          <a:p>
            <a:pPr algn="l">
              <a:spcBef>
                <a:spcPts val="0"/>
              </a:spcBef>
            </a:pPr>
            <a:endParaRPr lang="en-US" sz="1200" dirty="0" smtClean="0"/>
          </a:p>
          <a:p>
            <a:pPr algn="l">
              <a:spcBef>
                <a:spcPts val="0"/>
              </a:spcBef>
            </a:pPr>
            <a:r>
              <a:rPr lang="en-US" sz="1200" dirty="0" smtClean="0"/>
              <a:t>Encryption</a:t>
            </a:r>
          </a:p>
          <a:p>
            <a:pPr lvl="1" algn="l">
              <a:spcBef>
                <a:spcPts val="0"/>
              </a:spcBef>
            </a:pPr>
            <a:r>
              <a:rPr lang="en-US" sz="1200" b="0" dirty="0" smtClean="0"/>
              <a:t>Process of transforming </a:t>
            </a:r>
            <a:r>
              <a:rPr lang="en-US" sz="1200" b="0" u="sng" dirty="0" smtClean="0"/>
              <a:t>plain text to cipher text</a:t>
            </a:r>
          </a:p>
          <a:p>
            <a:pPr algn="l">
              <a:spcBef>
                <a:spcPts val="0"/>
              </a:spcBef>
            </a:pPr>
            <a:endParaRPr lang="en-US" sz="1200" dirty="0" smtClean="0"/>
          </a:p>
          <a:p>
            <a:pPr algn="l">
              <a:spcBef>
                <a:spcPts val="0"/>
              </a:spcBef>
            </a:pPr>
            <a:r>
              <a:rPr lang="en-US" sz="1200" dirty="0" smtClean="0"/>
              <a:t>Decryption</a:t>
            </a:r>
          </a:p>
          <a:p>
            <a:pPr lvl="1" algn="l">
              <a:spcBef>
                <a:spcPts val="0"/>
              </a:spcBef>
            </a:pPr>
            <a:r>
              <a:rPr lang="en-US" sz="1200" b="0" dirty="0" smtClean="0"/>
              <a:t>Process of transforming </a:t>
            </a:r>
            <a:r>
              <a:rPr lang="en-US" sz="1200" b="0" u="sng" dirty="0" smtClean="0"/>
              <a:t>cipher text to plain text</a:t>
            </a:r>
          </a:p>
          <a:p>
            <a:pPr algn="l"/>
            <a:endParaRPr lang="en-SG" sz="1200" dirty="0" smtClean="0"/>
          </a:p>
          <a:p>
            <a:pPr algn="l">
              <a:spcBef>
                <a:spcPts val="600"/>
              </a:spcBef>
            </a:pPr>
            <a:r>
              <a:rPr lang="en-US" sz="1200" dirty="0" smtClean="0"/>
              <a:t>Symmetric</a:t>
            </a:r>
            <a:r>
              <a:rPr lang="en-US" sz="1200" baseline="0" dirty="0" smtClean="0"/>
              <a:t> Cryptographic Algorithm</a:t>
            </a:r>
          </a:p>
          <a:p>
            <a:pPr algn="l">
              <a:spcBef>
                <a:spcPts val="600"/>
              </a:spcBef>
            </a:pPr>
            <a:r>
              <a:rPr lang="en-US" sz="1200" b="0" baseline="0" dirty="0" smtClean="0"/>
              <a:t>            </a:t>
            </a:r>
            <a:r>
              <a:rPr lang="en-US" sz="1200" b="0" dirty="0" smtClean="0"/>
              <a:t>A cryptographic algorithm that uses</a:t>
            </a:r>
            <a:r>
              <a:rPr lang="en-US" sz="1200" b="0" baseline="0" dirty="0" smtClean="0"/>
              <a:t> the same key to encrypt plain text to cipher text and to decrypt cipher text to plain text</a:t>
            </a:r>
            <a:endParaRPr lang="en-US" sz="1200" baseline="0" dirty="0" smtClean="0"/>
          </a:p>
          <a:p>
            <a:pPr algn="l">
              <a:spcBef>
                <a:spcPts val="600"/>
              </a:spcBef>
            </a:pPr>
            <a:endParaRPr lang="en-US" sz="1200" baseline="0" dirty="0" smtClean="0"/>
          </a:p>
          <a:p>
            <a:pPr algn="l">
              <a:spcBef>
                <a:spcPts val="600"/>
              </a:spcBef>
            </a:pPr>
            <a:r>
              <a:rPr lang="en-US" sz="1200" dirty="0" smtClean="0"/>
              <a:t>Asymmetric Keys</a:t>
            </a:r>
          </a:p>
          <a:p>
            <a:pPr lvl="1" algn="l">
              <a:spcBef>
                <a:spcPts val="600"/>
              </a:spcBef>
            </a:pPr>
            <a:r>
              <a:rPr lang="en-US" sz="1200" b="0" dirty="0" smtClean="0"/>
              <a:t>Two related keys, a </a:t>
            </a:r>
            <a:r>
              <a:rPr lang="en-US" sz="1200" b="0" u="sng" dirty="0" smtClean="0"/>
              <a:t>public</a:t>
            </a:r>
            <a:r>
              <a:rPr lang="en-US" sz="1200" b="0" dirty="0" smtClean="0"/>
              <a:t> key and a </a:t>
            </a:r>
            <a:r>
              <a:rPr lang="en-US" sz="1200" b="0" u="sng" dirty="0" smtClean="0"/>
              <a:t>private</a:t>
            </a:r>
            <a:r>
              <a:rPr lang="en-US" sz="1200" b="0" dirty="0" smtClean="0"/>
              <a:t> key, that are used to perform complementary operations, such as encryption and decryption or signature generation and signature verification.</a:t>
            </a:r>
          </a:p>
          <a:p>
            <a:pPr algn="l">
              <a:spcBef>
                <a:spcPts val="600"/>
              </a:spcBef>
            </a:pPr>
            <a:endParaRPr lang="en-US" sz="1200" dirty="0" smtClean="0"/>
          </a:p>
          <a:p>
            <a:pPr algn="l">
              <a:spcBef>
                <a:spcPts val="600"/>
              </a:spcBef>
            </a:pPr>
            <a:r>
              <a:rPr lang="en-US" sz="1200" dirty="0" smtClean="0"/>
              <a:t>Public Key Certificate</a:t>
            </a:r>
          </a:p>
          <a:p>
            <a:pPr lvl="1" algn="l">
              <a:spcBef>
                <a:spcPts val="600"/>
              </a:spcBef>
            </a:pPr>
            <a:r>
              <a:rPr lang="en-US" sz="1200" b="0" dirty="0" smtClean="0"/>
              <a:t>A digital document issued and digitally signed by the private key of a </a:t>
            </a:r>
            <a:r>
              <a:rPr lang="en-US" sz="1200" b="0" u="sng" dirty="0" smtClean="0"/>
              <a:t>Certification Authority</a:t>
            </a:r>
            <a:r>
              <a:rPr lang="en-US" sz="1200" b="0" dirty="0" smtClean="0"/>
              <a:t> that binds the name of a subscriber to a public key. The certificate indicates that the subscriber identified in the certificate has sole control and access to the corresponding private key.</a:t>
            </a:r>
          </a:p>
          <a:p>
            <a:pPr algn="l">
              <a:spcBef>
                <a:spcPts val="600"/>
              </a:spcBef>
            </a:pPr>
            <a:endParaRPr lang="en-US" sz="1200" dirty="0" smtClean="0"/>
          </a:p>
          <a:p>
            <a:pPr algn="l">
              <a:spcBef>
                <a:spcPts val="600"/>
              </a:spcBef>
            </a:pPr>
            <a:r>
              <a:rPr lang="en-US" sz="1200" dirty="0" smtClean="0"/>
              <a:t>Public Key (Asymmetric) Cryptographic Algorithm</a:t>
            </a:r>
          </a:p>
          <a:p>
            <a:pPr lvl="1" algn="l">
              <a:spcBef>
                <a:spcPts val="600"/>
              </a:spcBef>
            </a:pPr>
            <a:r>
              <a:rPr lang="en-US" sz="1200" b="0" dirty="0" smtClean="0"/>
              <a:t>A cryptographic algorithm that uses two related keys, a public key and a private key. The two keys have the property that deriving the private key from the public key is computationally infeasible.</a:t>
            </a:r>
          </a:p>
          <a:p>
            <a:pPr algn="l">
              <a:spcBef>
                <a:spcPts val="600"/>
              </a:spcBef>
            </a:pPr>
            <a:endParaRPr lang="en-US" sz="1200" dirty="0" smtClean="0"/>
          </a:p>
          <a:p>
            <a:pPr algn="l">
              <a:spcBef>
                <a:spcPts val="600"/>
              </a:spcBef>
            </a:pPr>
            <a:r>
              <a:rPr lang="en-US" sz="1200" dirty="0" smtClean="0"/>
              <a:t>Public Key Infrastructure (PKI)</a:t>
            </a:r>
          </a:p>
          <a:p>
            <a:pPr lvl="1" algn="l">
              <a:spcBef>
                <a:spcPts val="600"/>
              </a:spcBef>
            </a:pPr>
            <a:r>
              <a:rPr lang="en-US" sz="1200" b="0" dirty="0" smtClean="0"/>
              <a:t>A set of policies, processes, server platforms, software and workstations used for the purpose of administering certificates and public-private key pairs, including the ability to issue, maintain, and revoke public key certificates.</a:t>
            </a:r>
          </a:p>
          <a:p>
            <a:pPr algn="l"/>
            <a:endParaRPr lang="en-SG" sz="1200" dirty="0"/>
          </a:p>
        </p:txBody>
      </p:sp>
    </p:spTree>
    <p:extLst>
      <p:ext uri="{BB962C8B-B14F-4D97-AF65-F5344CB8AC3E}">
        <p14:creationId xmlns:p14="http://schemas.microsoft.com/office/powerpoint/2010/main" val="2387322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422275" y="1241425"/>
            <a:ext cx="5953125" cy="3349625"/>
          </a:xfrm>
          <a:ln/>
        </p:spPr>
      </p:sp>
      <p:sp>
        <p:nvSpPr>
          <p:cNvPr id="100355" name="Rectangle 3"/>
          <p:cNvSpPr>
            <a:spLocks noGrp="1" noChangeArrowheads="1"/>
          </p:cNvSpPr>
          <p:nvPr>
            <p:ph type="body" idx="1"/>
          </p:nvPr>
        </p:nvSpPr>
        <p:spPr/>
        <p:txBody>
          <a:bodyPr/>
          <a:lstStyle/>
          <a:p>
            <a:pPr algn="l"/>
            <a:r>
              <a:rPr lang="en-US" b="1" dirty="0" smtClean="0"/>
              <a:t>Cryptography System – Encryption and Decryption</a:t>
            </a:r>
          </a:p>
          <a:p>
            <a:pPr algn="l"/>
            <a:endParaRPr lang="en-US" dirty="0" smtClean="0"/>
          </a:p>
          <a:p>
            <a:pPr algn="l"/>
            <a:r>
              <a:rPr lang="en-SG" dirty="0" smtClean="0"/>
              <a:t>Cryptography</a:t>
            </a:r>
          </a:p>
          <a:p>
            <a:pPr algn="l"/>
            <a:r>
              <a:rPr lang="en-SG" dirty="0" smtClean="0"/>
              <a:t>Art and science of achieving security by encoding messages to make them non-readable</a:t>
            </a:r>
          </a:p>
          <a:p>
            <a:pPr algn="l"/>
            <a:endParaRPr lang="en-SG" dirty="0" smtClean="0"/>
          </a:p>
          <a:p>
            <a:pPr algn="l"/>
            <a:r>
              <a:rPr lang="en-SG" dirty="0" smtClean="0"/>
              <a:t>Plain text (Clear text)</a:t>
            </a:r>
          </a:p>
          <a:p>
            <a:pPr algn="l"/>
            <a:r>
              <a:rPr lang="en-SG" dirty="0" smtClean="0"/>
              <a:t>Message that can be understood by the sender, the recipient and also anyone else who gets an access to the message</a:t>
            </a:r>
          </a:p>
          <a:p>
            <a:pPr algn="l"/>
            <a:endParaRPr lang="en-SG" dirty="0" smtClean="0"/>
          </a:p>
          <a:p>
            <a:pPr algn="l"/>
            <a:r>
              <a:rPr lang="en-SG" dirty="0" smtClean="0"/>
              <a:t>Cipher text</a:t>
            </a:r>
          </a:p>
          <a:p>
            <a:pPr algn="l"/>
            <a:r>
              <a:rPr lang="en-SG" dirty="0" smtClean="0"/>
              <a:t>Codified plain text using any suitable scheme</a:t>
            </a:r>
          </a:p>
          <a:p>
            <a:pPr algn="l"/>
            <a:endParaRPr lang="en-SG" dirty="0" smtClean="0"/>
          </a:p>
          <a:p>
            <a:pPr algn="l"/>
            <a:r>
              <a:rPr lang="en-SG" dirty="0" smtClean="0"/>
              <a:t>Encryption</a:t>
            </a:r>
          </a:p>
          <a:p>
            <a:pPr algn="l"/>
            <a:r>
              <a:rPr lang="en-SG" dirty="0" smtClean="0"/>
              <a:t>Process of transforming plain text to cipher text</a:t>
            </a:r>
          </a:p>
          <a:p>
            <a:pPr algn="l"/>
            <a:endParaRPr lang="en-SG" dirty="0" smtClean="0"/>
          </a:p>
          <a:p>
            <a:pPr algn="l"/>
            <a:r>
              <a:rPr lang="en-SG" dirty="0" smtClean="0"/>
              <a:t>Decryption</a:t>
            </a:r>
          </a:p>
          <a:p>
            <a:pPr algn="l"/>
            <a:r>
              <a:rPr lang="en-SG" dirty="0" smtClean="0"/>
              <a:t>Process of transforming cipher text to plain text</a:t>
            </a:r>
            <a:endParaRPr lang="en-US" dirty="0"/>
          </a:p>
        </p:txBody>
      </p:sp>
    </p:spTree>
    <p:extLst>
      <p:ext uri="{BB962C8B-B14F-4D97-AF65-F5344CB8AC3E}">
        <p14:creationId xmlns:p14="http://schemas.microsoft.com/office/powerpoint/2010/main" val="3439060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422275" y="1241425"/>
            <a:ext cx="5953125" cy="3349625"/>
          </a:xfrm>
          <a:ln/>
        </p:spPr>
      </p:sp>
      <p:sp>
        <p:nvSpPr>
          <p:cNvPr id="10445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95729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Rot="1" noChangeAspect="1" noChangeArrowheads="1" noTextEdit="1"/>
          </p:cNvSpPr>
          <p:nvPr>
            <p:ph type="sldImg"/>
          </p:nvPr>
        </p:nvSpPr>
        <p:spPr>
          <a:xfrm>
            <a:off x="422275" y="1241425"/>
            <a:ext cx="5953125" cy="3349625"/>
          </a:xfrm>
          <a:ln/>
        </p:spPr>
      </p:sp>
      <p:sp>
        <p:nvSpPr>
          <p:cNvPr id="5632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268190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sp>
      <p:sp>
        <p:nvSpPr>
          <p:cNvPr id="3" name="Notes Placeholder 2"/>
          <p:cNvSpPr>
            <a:spLocks noGrp="1"/>
          </p:cNvSpPr>
          <p:nvPr>
            <p:ph type="body" idx="1"/>
          </p:nvPr>
        </p:nvSpPr>
        <p:spPr/>
        <p:txBody>
          <a:bodyPr/>
          <a:lstStyle/>
          <a:p>
            <a:pPr algn="l"/>
            <a:r>
              <a:rPr lang="en-US" b="1" dirty="0" smtClean="0"/>
              <a:t>Advanced Encryption Standard (AES)</a:t>
            </a:r>
            <a:endParaRPr lang="en-SG" b="1" dirty="0" smtClean="0"/>
          </a:p>
          <a:p>
            <a:pPr algn="l"/>
            <a:endParaRPr lang="en-SG" dirty="0" smtClean="0"/>
          </a:p>
          <a:p>
            <a:pPr algn="l"/>
            <a:r>
              <a:rPr lang="en-SG" dirty="0" smtClean="0"/>
              <a:t>DES become vulnerable as computing capability catch up - key size is too small.</a:t>
            </a:r>
            <a:r>
              <a:rPr lang="en-SG" baseline="0" dirty="0" smtClean="0"/>
              <a:t> A stronger</a:t>
            </a:r>
            <a:r>
              <a:rPr lang="en-SG" dirty="0" smtClean="0"/>
              <a:t> Triple-DES can</a:t>
            </a:r>
            <a:r>
              <a:rPr lang="en-SG" baseline="0" dirty="0" smtClean="0"/>
              <a:t> be used,</a:t>
            </a:r>
            <a:r>
              <a:rPr lang="en-SG" dirty="0" smtClean="0"/>
              <a:t> but it is slow with small block size</a:t>
            </a:r>
          </a:p>
          <a:p>
            <a:pPr algn="l"/>
            <a:endParaRPr lang="en-SG" dirty="0" smtClean="0"/>
          </a:p>
          <a:p>
            <a:pPr algn="l"/>
            <a:r>
              <a:rPr lang="en-SG" dirty="0" smtClean="0"/>
              <a:t>US NIST issued call for ciphers in 1997 to replace DES</a:t>
            </a:r>
          </a:p>
          <a:p>
            <a:pPr algn="l"/>
            <a:endParaRPr lang="en-SG" dirty="0" smtClean="0"/>
          </a:p>
          <a:p>
            <a:pPr algn="l"/>
            <a:r>
              <a:rPr lang="en-SG" dirty="0" smtClean="0"/>
              <a:t>15 candidates accepted in Jun 98 </a:t>
            </a:r>
          </a:p>
          <a:p>
            <a:pPr algn="l"/>
            <a:r>
              <a:rPr lang="en-SG" dirty="0" smtClean="0"/>
              <a:t>Five were shortlisted in Aug 99 </a:t>
            </a:r>
          </a:p>
          <a:p>
            <a:pPr algn="l"/>
            <a:endParaRPr lang="en-SG" dirty="0" smtClean="0"/>
          </a:p>
          <a:p>
            <a:pPr marL="228600" indent="-228600" algn="l">
              <a:buFont typeface="+mj-lt"/>
              <a:buAutoNum type="arabicPeriod"/>
            </a:pPr>
            <a:r>
              <a:rPr lang="en-SG" dirty="0" smtClean="0"/>
              <a:t>MARS (IBM) - complex, fast, high security margin </a:t>
            </a:r>
          </a:p>
          <a:p>
            <a:pPr marL="228600" indent="-228600" algn="l">
              <a:buFont typeface="+mj-lt"/>
              <a:buAutoNum type="arabicPeriod"/>
            </a:pPr>
            <a:endParaRPr lang="en-SG" dirty="0" smtClean="0"/>
          </a:p>
          <a:p>
            <a:pPr marL="228600" indent="-228600" algn="l">
              <a:buFont typeface="+mj-lt"/>
              <a:buAutoNum type="arabicPeriod"/>
            </a:pPr>
            <a:r>
              <a:rPr lang="en-SG" dirty="0" smtClean="0"/>
              <a:t>RC6 (USA) - v. simple, v. fast, low security margin </a:t>
            </a:r>
          </a:p>
          <a:p>
            <a:pPr marL="228600" indent="-228600" algn="l">
              <a:buFont typeface="+mj-lt"/>
              <a:buAutoNum type="arabicPeriod"/>
            </a:pPr>
            <a:endParaRPr lang="en-SG" dirty="0" smtClean="0"/>
          </a:p>
          <a:p>
            <a:pPr marL="228600" indent="-228600" algn="l">
              <a:buFont typeface="+mj-lt"/>
              <a:buAutoNum type="arabicPeriod"/>
            </a:pPr>
            <a:r>
              <a:rPr lang="en-SG" dirty="0" err="1" smtClean="0"/>
              <a:t>Rijndael</a:t>
            </a:r>
            <a:r>
              <a:rPr lang="en-SG" dirty="0" smtClean="0"/>
              <a:t> (Belgium) - clean, fast, good security margin </a:t>
            </a:r>
          </a:p>
          <a:p>
            <a:pPr marL="0" indent="0" algn="l">
              <a:buFont typeface="+mj-lt"/>
              <a:buNone/>
            </a:pPr>
            <a:r>
              <a:rPr lang="en-SG" dirty="0" smtClean="0"/>
              <a:t>	</a:t>
            </a:r>
            <a:r>
              <a:rPr lang="en-SG" dirty="0" err="1" smtClean="0"/>
              <a:t>Rijndael</a:t>
            </a:r>
            <a:r>
              <a:rPr lang="en-SG" dirty="0" smtClean="0"/>
              <a:t> was selected as the AES in Oct-2000</a:t>
            </a:r>
          </a:p>
          <a:p>
            <a:pPr marL="0" indent="0" algn="l">
              <a:buFont typeface="+mj-lt"/>
              <a:buNone/>
            </a:pPr>
            <a:endParaRPr lang="en-SG" dirty="0" smtClean="0"/>
          </a:p>
          <a:p>
            <a:pPr marL="228600" indent="-228600" algn="l">
              <a:buFont typeface="+mj-lt"/>
              <a:buAutoNum type="arabicPeriod" startAt="4"/>
            </a:pPr>
            <a:r>
              <a:rPr lang="en-SG" dirty="0" smtClean="0"/>
              <a:t>Serpent (Euro) - slow, clean, v. high security margin </a:t>
            </a:r>
          </a:p>
          <a:p>
            <a:pPr marL="228600" indent="-228600" algn="l">
              <a:buFont typeface="+mj-lt"/>
              <a:buAutoNum type="arabicPeriod" startAt="4"/>
            </a:pPr>
            <a:endParaRPr lang="en-SG" dirty="0" smtClean="0"/>
          </a:p>
          <a:p>
            <a:pPr marL="228600" indent="-228600" algn="l">
              <a:buFont typeface="+mj-lt"/>
              <a:buAutoNum type="arabicPeriod" startAt="4"/>
            </a:pPr>
            <a:r>
              <a:rPr lang="en-SG" dirty="0" err="1" smtClean="0"/>
              <a:t>Twofish</a:t>
            </a:r>
            <a:r>
              <a:rPr lang="en-SG" dirty="0" smtClean="0"/>
              <a:t> (USA) - complex, v. fast, high security margin </a:t>
            </a:r>
          </a:p>
          <a:p>
            <a:pPr algn="l"/>
            <a:endParaRPr lang="en-SG" dirty="0"/>
          </a:p>
        </p:txBody>
      </p:sp>
    </p:spTree>
    <p:extLst>
      <p:ext uri="{BB962C8B-B14F-4D97-AF65-F5344CB8AC3E}">
        <p14:creationId xmlns:p14="http://schemas.microsoft.com/office/powerpoint/2010/main" val="3793884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486F131-C76C-7049-8ED5-9F907653D1B9}" type="slidenum">
              <a:rPr lang="en-US"/>
              <a:pPr/>
              <a:t>13</a:t>
            </a:fld>
            <a:endParaRPr lang="en-US"/>
          </a:p>
        </p:txBody>
      </p:sp>
      <p:sp>
        <p:nvSpPr>
          <p:cNvPr id="901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365938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0623068-6773-F740-A4CB-416263A4619D}" type="slidenum">
              <a:rPr lang="en-US">
                <a:solidFill>
                  <a:prstClr val="black"/>
                </a:solidFill>
              </a:rPr>
              <a:pPr/>
              <a:t>14</a:t>
            </a:fld>
            <a:endParaRPr lang="en-US">
              <a:solidFill>
                <a:prstClr val="black"/>
              </a:solidFill>
            </a:endParaRPr>
          </a:p>
        </p:txBody>
      </p:sp>
      <p:sp>
        <p:nvSpPr>
          <p:cNvPr id="921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759321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6F4E7BD-F712-674F-8871-6BBD91E8D715}" type="slidenum">
              <a:rPr lang="en-US">
                <a:solidFill>
                  <a:prstClr val="black"/>
                </a:solidFill>
              </a:rPr>
              <a:pPr/>
              <a:t>15</a:t>
            </a:fld>
            <a:endParaRPr lang="en-US">
              <a:solidFill>
                <a:prstClr val="black"/>
              </a:solidFill>
            </a:endParaRPr>
          </a:p>
        </p:txBody>
      </p:sp>
      <p:sp>
        <p:nvSpPr>
          <p:cNvPr id="59394" name="Rectangle 2"/>
          <p:cNvSpPr>
            <a:spLocks noGrp="1" noRot="1" noChangeAspect="1" noChangeArrowheads="1" noTextEdit="1"/>
          </p:cNvSpPr>
          <p:nvPr>
            <p:ph type="sldImg"/>
          </p:nvPr>
        </p:nvSpPr>
        <p:spPr>
          <a:xfrm>
            <a:off x="381000" y="687388"/>
            <a:ext cx="6096000" cy="3429000"/>
          </a:xfrm>
          <a:ln/>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373213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A9FAFC9-6810-8F47-97FE-349DE017EF32}" type="slidenum">
              <a:rPr lang="en-US">
                <a:solidFill>
                  <a:prstClr val="black"/>
                </a:solidFill>
              </a:rPr>
              <a:pPr/>
              <a:t>16</a:t>
            </a:fld>
            <a:endParaRPr lang="en-US">
              <a:solidFill>
                <a:prstClr val="black"/>
              </a:solidFill>
            </a:endParaRPr>
          </a:p>
        </p:txBody>
      </p:sp>
      <p:sp>
        <p:nvSpPr>
          <p:cNvPr id="870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823188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17725" y="696913"/>
            <a:ext cx="2774950" cy="1562100"/>
          </a:xfrm>
        </p:spPr>
      </p:sp>
      <p:sp>
        <p:nvSpPr>
          <p:cNvPr id="3" name="Notes Placeholder 2"/>
          <p:cNvSpPr>
            <a:spLocks noGrp="1"/>
          </p:cNvSpPr>
          <p:nvPr>
            <p:ph type="body" idx="1"/>
          </p:nvPr>
        </p:nvSpPr>
        <p:spPr>
          <a:xfrm>
            <a:off x="701040" y="2205318"/>
            <a:ext cx="5608320" cy="6393852"/>
          </a:xfrm>
        </p:spPr>
        <p:txBody>
          <a:bodyPr>
            <a:normAutofit/>
          </a:bodyPr>
          <a:lstStyle/>
          <a:p>
            <a:pPr defTabSz="931774" eaLnBrk="1" fontAlgn="auto" hangingPunct="1">
              <a:lnSpc>
                <a:spcPct val="115000"/>
              </a:lnSpc>
              <a:spcBef>
                <a:spcPts val="0"/>
              </a:spcBef>
              <a:spcAft>
                <a:spcPts val="1019"/>
              </a:spcAft>
              <a:defRPr/>
            </a:pPr>
            <a:endParaRPr lang="en-US" dirty="0"/>
          </a:p>
        </p:txBody>
      </p:sp>
      <p:sp>
        <p:nvSpPr>
          <p:cNvPr id="4" name="Slide Number Placeholder 3"/>
          <p:cNvSpPr>
            <a:spLocks noGrp="1"/>
          </p:cNvSpPr>
          <p:nvPr>
            <p:ph type="sldNum" sz="quarter" idx="10"/>
          </p:nvPr>
        </p:nvSpPr>
        <p:spPr/>
        <p:txBody>
          <a:bodyPr/>
          <a:lstStyle/>
          <a:p>
            <a:fld id="{ABD38DB5-6728-4F7A-8380-7EB3348750F5}" type="slidenum">
              <a:rPr lang="en-US" smtClean="0"/>
              <a:pPr/>
              <a:t>19</a:t>
            </a:fld>
            <a:endParaRPr lang="en-US" dirty="0"/>
          </a:p>
        </p:txBody>
      </p:sp>
      <p:sp>
        <p:nvSpPr>
          <p:cNvPr id="8" name="Header Placeholder 7"/>
          <p:cNvSpPr>
            <a:spLocks noGrp="1"/>
          </p:cNvSpPr>
          <p:nvPr>
            <p:ph type="hdr" sz="quarter" idx="11"/>
          </p:nvPr>
        </p:nvSpPr>
        <p:spPr/>
        <p:txBody>
          <a:bodyPr/>
          <a:lstStyle/>
          <a:p>
            <a:r>
              <a:rPr lang="en-US" dirty="0" smtClean="0"/>
              <a:t>Microsoft Confidential: Preliminary Information: NDA Only</a:t>
            </a:r>
            <a:endParaRPr lang="en-US" dirty="0"/>
          </a:p>
        </p:txBody>
      </p:sp>
    </p:spTree>
    <p:extLst>
      <p:ext uri="{BB962C8B-B14F-4D97-AF65-F5344CB8AC3E}">
        <p14:creationId xmlns:p14="http://schemas.microsoft.com/office/powerpoint/2010/main" val="2820985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0" y="685800"/>
            <a:ext cx="2730500" cy="1536700"/>
          </a:xfrm>
        </p:spPr>
      </p:sp>
      <p:sp>
        <p:nvSpPr>
          <p:cNvPr id="3" name="Notes Placeholder 2"/>
          <p:cNvSpPr>
            <a:spLocks noGrp="1"/>
          </p:cNvSpPr>
          <p:nvPr>
            <p:ph type="body" idx="1"/>
          </p:nvPr>
        </p:nvSpPr>
        <p:spPr>
          <a:xfrm>
            <a:off x="685800" y="2169165"/>
            <a:ext cx="5486400" cy="6289035"/>
          </a:xfrm>
        </p:spPr>
        <p:txBody>
          <a:bodyPr>
            <a:normAutofit/>
          </a:bodyPr>
          <a:lstStyle/>
          <a:p>
            <a:pPr marL="0" marR="0">
              <a:lnSpc>
                <a:spcPct val="115000"/>
              </a:lnSpc>
              <a:spcBef>
                <a:spcPts val="0"/>
              </a:spcBef>
              <a:spcAft>
                <a:spcPts val="1000"/>
              </a:spcAft>
            </a:pPr>
            <a:endParaRPr lang="en-US" dirty="0"/>
          </a:p>
        </p:txBody>
      </p:sp>
      <p:sp>
        <p:nvSpPr>
          <p:cNvPr id="4" name="Slide Number Placeholder 3"/>
          <p:cNvSpPr>
            <a:spLocks noGrp="1"/>
          </p:cNvSpPr>
          <p:nvPr>
            <p:ph type="sldNum" sz="quarter" idx="10"/>
          </p:nvPr>
        </p:nvSpPr>
        <p:spPr/>
        <p:txBody>
          <a:bodyPr/>
          <a:lstStyle/>
          <a:p>
            <a:fld id="{ABD38DB5-6728-4F7A-8380-7EB3348750F5}" type="slidenum">
              <a:rPr lang="en-US" smtClean="0"/>
              <a:pPr/>
              <a:t>21</a:t>
            </a:fld>
            <a:endParaRPr lang="en-US" dirty="0"/>
          </a:p>
        </p:txBody>
      </p:sp>
      <p:sp>
        <p:nvSpPr>
          <p:cNvPr id="8" name="Header Placeholder 7"/>
          <p:cNvSpPr>
            <a:spLocks noGrp="1"/>
          </p:cNvSpPr>
          <p:nvPr>
            <p:ph type="hdr" sz="quarter" idx="11"/>
          </p:nvPr>
        </p:nvSpPr>
        <p:spPr/>
        <p:txBody>
          <a:bodyPr/>
          <a:lstStyle/>
          <a:p>
            <a:r>
              <a:rPr lang="en-US" dirty="0" smtClean="0"/>
              <a:t>Microsoft Confidential: Preliminary Information: NDA Only</a:t>
            </a:r>
            <a:endParaRPr lang="en-US" dirty="0"/>
          </a:p>
        </p:txBody>
      </p:sp>
    </p:spTree>
    <p:extLst>
      <p:ext uri="{BB962C8B-B14F-4D97-AF65-F5344CB8AC3E}">
        <p14:creationId xmlns:p14="http://schemas.microsoft.com/office/powerpoint/2010/main" val="2935674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5/15/2018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1" y="228600"/>
            <a:ext cx="11190817" cy="750888"/>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1" y="1420813"/>
            <a:ext cx="5490633" cy="21780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201834" y="1420814"/>
            <a:ext cx="5490633" cy="10128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201834" y="2586039"/>
            <a:ext cx="5490633" cy="10128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2903165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5/15/2018</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 id="2147483671"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pn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39.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43.png"/><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42.png"/><Relationship Id="rId5" Type="http://schemas.openxmlformats.org/officeDocument/2006/relationships/image" Target="../media/image40.emf"/><Relationship Id="rId10" Type="http://schemas.openxmlformats.org/officeDocument/2006/relationships/image" Target="../media/image44.png"/><Relationship Id="rId4" Type="http://schemas.openxmlformats.org/officeDocument/2006/relationships/oleObject" Target="../embeddings/oleObject2.bin"/><Relationship Id="rId9" Type="http://schemas.openxmlformats.org/officeDocument/2006/relationships/image" Target="../media/image41.emf"/></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smtClean="0"/>
              <a:t>Windows Server Security</a:t>
            </a:r>
            <a:endParaRPr lang="en-SG" dirty="0"/>
          </a:p>
        </p:txBody>
      </p:sp>
      <p:sp>
        <p:nvSpPr>
          <p:cNvPr id="3" name="Subtitle 2"/>
          <p:cNvSpPr>
            <a:spLocks noGrp="1"/>
          </p:cNvSpPr>
          <p:nvPr>
            <p:ph type="subTitle" idx="1"/>
          </p:nvPr>
        </p:nvSpPr>
        <p:spPr/>
        <p:txBody>
          <a:bodyPr/>
          <a:lstStyle/>
          <a:p>
            <a:r>
              <a:rPr lang="en-SG" smtClean="0"/>
              <a:t>ENCRYPTION AND APPLICATION CONTROL</a:t>
            </a:r>
            <a:endParaRPr lang="en-SG" dirty="0"/>
          </a:p>
        </p:txBody>
      </p:sp>
    </p:spTree>
    <p:extLst>
      <p:ext uri="{BB962C8B-B14F-4D97-AF65-F5344CB8AC3E}">
        <p14:creationId xmlns:p14="http://schemas.microsoft.com/office/powerpoint/2010/main" val="149730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Objectives</a:t>
            </a:r>
            <a:endParaRPr lang="en-SG" dirty="0"/>
          </a:p>
        </p:txBody>
      </p:sp>
      <p:sp>
        <p:nvSpPr>
          <p:cNvPr id="3" name="Content Placeholder 2"/>
          <p:cNvSpPr>
            <a:spLocks noGrp="1"/>
          </p:cNvSpPr>
          <p:nvPr>
            <p:ph idx="1"/>
          </p:nvPr>
        </p:nvSpPr>
        <p:spPr/>
        <p:txBody>
          <a:bodyPr/>
          <a:lstStyle/>
          <a:p>
            <a:r>
              <a:rPr lang="en-SG" dirty="0" smtClean="0"/>
              <a:t>Learn about Application Security through Application Whitelisting</a:t>
            </a:r>
          </a:p>
          <a:p>
            <a:r>
              <a:rPr lang="en-SG" dirty="0" smtClean="0"/>
              <a:t>Learn about Encryption</a:t>
            </a:r>
          </a:p>
          <a:p>
            <a:r>
              <a:rPr lang="en-SG" dirty="0" smtClean="0"/>
              <a:t>Learn about AppLocker and BitLocker tools</a:t>
            </a:r>
            <a:endParaRPr lang="en-SG" dirty="0"/>
          </a:p>
        </p:txBody>
      </p:sp>
    </p:spTree>
    <p:extLst>
      <p:ext uri="{BB962C8B-B14F-4D97-AF65-F5344CB8AC3E}">
        <p14:creationId xmlns:p14="http://schemas.microsoft.com/office/powerpoint/2010/main" val="4047342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149" descr="cooltools-shape"/>
          <p:cNvPicPr>
            <a:picLocks noChangeAspect="1" noChangeArrowheads="1"/>
          </p:cNvPicPr>
          <p:nvPr/>
        </p:nvPicPr>
        <p:blipFill>
          <a:blip r:embed="rId3" cstate="print"/>
          <a:srcRect/>
          <a:stretch>
            <a:fillRect/>
          </a:stretch>
        </p:blipFill>
        <p:spPr bwMode="auto">
          <a:xfrm>
            <a:off x="827756" y="993188"/>
            <a:ext cx="2238375" cy="5029200"/>
          </a:xfrm>
          <a:prstGeom prst="rect">
            <a:avLst/>
          </a:prstGeom>
          <a:noFill/>
          <a:ln w="12700" algn="ctr">
            <a:noFill/>
            <a:miter lim="800000"/>
            <a:headEnd/>
            <a:tailEnd/>
          </a:ln>
        </p:spPr>
      </p:pic>
      <p:pic>
        <p:nvPicPr>
          <p:cNvPr id="53" name="Picture 149" descr="cooltools-shape"/>
          <p:cNvPicPr>
            <a:picLocks noChangeAspect="1" noChangeArrowheads="1"/>
          </p:cNvPicPr>
          <p:nvPr/>
        </p:nvPicPr>
        <p:blipFill>
          <a:blip r:embed="rId3" cstate="print"/>
          <a:srcRect/>
          <a:stretch>
            <a:fillRect/>
          </a:stretch>
        </p:blipFill>
        <p:spPr bwMode="auto">
          <a:xfrm>
            <a:off x="3072481" y="993188"/>
            <a:ext cx="2238375" cy="5029200"/>
          </a:xfrm>
          <a:prstGeom prst="rect">
            <a:avLst/>
          </a:prstGeom>
          <a:noFill/>
          <a:ln w="12700" algn="ctr">
            <a:noFill/>
            <a:miter lim="800000"/>
            <a:headEnd/>
            <a:tailEnd/>
          </a:ln>
        </p:spPr>
      </p:pic>
      <p:pic>
        <p:nvPicPr>
          <p:cNvPr id="54" name="Picture 149" descr="cooltools-shape"/>
          <p:cNvPicPr>
            <a:picLocks noChangeAspect="1" noChangeArrowheads="1"/>
          </p:cNvPicPr>
          <p:nvPr/>
        </p:nvPicPr>
        <p:blipFill>
          <a:blip r:embed="rId3" cstate="print"/>
          <a:srcRect/>
          <a:stretch>
            <a:fillRect/>
          </a:stretch>
        </p:blipFill>
        <p:spPr bwMode="auto">
          <a:xfrm>
            <a:off x="5317206" y="993188"/>
            <a:ext cx="2238375" cy="5029200"/>
          </a:xfrm>
          <a:prstGeom prst="rect">
            <a:avLst/>
          </a:prstGeom>
          <a:noFill/>
          <a:ln w="12700" algn="ctr">
            <a:noFill/>
            <a:miter lim="800000"/>
            <a:headEnd/>
            <a:tailEnd/>
          </a:ln>
        </p:spPr>
      </p:pic>
      <p:pic>
        <p:nvPicPr>
          <p:cNvPr id="55" name="Picture 149" descr="cooltools-shape"/>
          <p:cNvPicPr>
            <a:picLocks noChangeAspect="1" noChangeArrowheads="1"/>
          </p:cNvPicPr>
          <p:nvPr/>
        </p:nvPicPr>
        <p:blipFill>
          <a:blip r:embed="rId3" cstate="print"/>
          <a:srcRect/>
          <a:stretch>
            <a:fillRect/>
          </a:stretch>
        </p:blipFill>
        <p:spPr bwMode="auto">
          <a:xfrm>
            <a:off x="7685756" y="993188"/>
            <a:ext cx="2238375" cy="5029200"/>
          </a:xfrm>
          <a:prstGeom prst="rect">
            <a:avLst/>
          </a:prstGeom>
          <a:noFill/>
          <a:ln w="12700" algn="ctr">
            <a:noFill/>
            <a:miter lim="800000"/>
            <a:headEnd/>
            <a:tailEnd/>
          </a:ln>
        </p:spPr>
      </p:pic>
      <p:sp>
        <p:nvSpPr>
          <p:cNvPr id="80" name="Rounded Rectangle 79"/>
          <p:cNvSpPr/>
          <p:nvPr/>
        </p:nvSpPr>
        <p:spPr bwMode="auto">
          <a:xfrm>
            <a:off x="1056356" y="1401750"/>
            <a:ext cx="1828800" cy="2514600"/>
          </a:xfrm>
          <a:prstGeom prst="roundRect">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sp>
        <p:nvSpPr>
          <p:cNvPr id="81" name="Rounded Rectangle 80"/>
          <p:cNvSpPr/>
          <p:nvPr/>
        </p:nvSpPr>
        <p:spPr bwMode="auto">
          <a:xfrm>
            <a:off x="3316956" y="1401750"/>
            <a:ext cx="1828800" cy="2514600"/>
          </a:xfrm>
          <a:prstGeom prst="round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sp>
        <p:nvSpPr>
          <p:cNvPr id="79" name="Rounded Rectangle 78"/>
          <p:cNvSpPr/>
          <p:nvPr/>
        </p:nvSpPr>
        <p:spPr bwMode="auto">
          <a:xfrm>
            <a:off x="5577556" y="1401750"/>
            <a:ext cx="1828800" cy="2514600"/>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sp>
        <p:nvSpPr>
          <p:cNvPr id="1529980" name="Text Box 124"/>
          <p:cNvSpPr txBox="1">
            <a:spLocks noChangeArrowheads="1"/>
          </p:cNvSpPr>
          <p:nvPr/>
        </p:nvSpPr>
        <p:spPr bwMode="auto">
          <a:xfrm>
            <a:off x="1056358" y="1544625"/>
            <a:ext cx="1828799" cy="923330"/>
          </a:xfrm>
          <a:prstGeom prst="rect">
            <a:avLst/>
          </a:prstGeom>
          <a:noFill/>
          <a:ln w="12700" algn="ctr">
            <a:noFill/>
            <a:miter lim="800000"/>
            <a:headEnd/>
            <a:tailEnd/>
          </a:ln>
          <a:effectLst/>
        </p:spPr>
        <p:txBody>
          <a:bodyPr vert="horz" wrap="square" lIns="91440" tIns="45720" rIns="91440" bIns="45720" numCol="1" anchor="t" anchorCtr="0" compatLnSpc="1">
            <a:prstTxWarp prst="textNoShape">
              <a:avLst/>
            </a:prstTxWarp>
            <a:spAutoFit/>
          </a:bodyPr>
          <a:lstStyle/>
          <a:p>
            <a:pPr algn="ctr" eaLnBrk="1" hangingPunct="1">
              <a:buFontTx/>
              <a:buNone/>
              <a:defRPr/>
            </a:pPr>
            <a:r>
              <a:rPr lang="en-US" dirty="0">
                <a:solidFill>
                  <a:srgbClr val="FFFF00"/>
                </a:solidFill>
                <a:effectLst>
                  <a:outerShdw blurRad="38100" dist="38100" dir="2700000" algn="tl">
                    <a:srgbClr val="000000"/>
                  </a:outerShdw>
                </a:effectLst>
              </a:rPr>
              <a:t>Fundamentally Secure Platform</a:t>
            </a:r>
          </a:p>
        </p:txBody>
      </p:sp>
      <p:sp>
        <p:nvSpPr>
          <p:cNvPr id="1529982" name="Text Box 126"/>
          <p:cNvSpPr txBox="1">
            <a:spLocks noChangeArrowheads="1"/>
          </p:cNvSpPr>
          <p:nvPr/>
        </p:nvSpPr>
        <p:spPr bwMode="auto">
          <a:xfrm>
            <a:off x="5552156" y="1544625"/>
            <a:ext cx="1828800" cy="923330"/>
          </a:xfrm>
          <a:prstGeom prst="rect">
            <a:avLst/>
          </a:prstGeom>
          <a:noFill/>
          <a:ln w="12700" algn="ctr">
            <a:noFill/>
            <a:miter lim="800000"/>
            <a:headEnd/>
            <a:tailEnd/>
          </a:ln>
          <a:effectLst/>
        </p:spPr>
        <p:txBody>
          <a:bodyPr vert="horz" wrap="square" lIns="91440" tIns="45720" rIns="91440" bIns="45720" numCol="1" anchor="t" anchorCtr="0" compatLnSpc="1">
            <a:prstTxWarp prst="textNoShape">
              <a:avLst/>
            </a:prstTxWarp>
            <a:spAutoFit/>
          </a:bodyPr>
          <a:lstStyle/>
          <a:p>
            <a:pPr algn="ctr" eaLnBrk="1" hangingPunct="1">
              <a:buFontTx/>
              <a:buNone/>
              <a:defRPr/>
            </a:pPr>
            <a:r>
              <a:rPr lang="en-US" dirty="0">
                <a:solidFill>
                  <a:srgbClr val="FFFF00"/>
                </a:solidFill>
                <a:effectLst>
                  <a:outerShdw blurRad="38100" dist="38100" dir="2700000" algn="tl">
                    <a:srgbClr val="000000"/>
                  </a:outerShdw>
                </a:effectLst>
              </a:rPr>
              <a:t>Protect Users &amp; Infrastructure</a:t>
            </a:r>
          </a:p>
        </p:txBody>
      </p:sp>
      <p:sp>
        <p:nvSpPr>
          <p:cNvPr id="1529983" name="Rectangle 127"/>
          <p:cNvSpPr>
            <a:spLocks noChangeArrowheads="1"/>
          </p:cNvSpPr>
          <p:nvPr/>
        </p:nvSpPr>
        <p:spPr bwMode="auto">
          <a:xfrm>
            <a:off x="980156" y="4144951"/>
            <a:ext cx="2057400" cy="18774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User Account Control</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Service Hardening</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Manageability and Auditing</a:t>
            </a:r>
          </a:p>
        </p:txBody>
      </p:sp>
      <p:sp>
        <p:nvSpPr>
          <p:cNvPr id="12303" name="Text Box 14"/>
          <p:cNvSpPr txBox="1">
            <a:spLocks noChangeArrowheads="1"/>
          </p:cNvSpPr>
          <p:nvPr/>
        </p:nvSpPr>
        <p:spPr bwMode="auto">
          <a:xfrm>
            <a:off x="1056356" y="1630351"/>
            <a:ext cx="1828800" cy="4616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eaLnBrk="1" hangingPunct="1">
              <a:buFontTx/>
              <a:buNone/>
            </a:pPr>
            <a:endParaRPr lang="en-US" sz="2400" dirty="0">
              <a:solidFill>
                <a:schemeClr val="accent1"/>
              </a:solidFill>
            </a:endParaRPr>
          </a:p>
        </p:txBody>
      </p:sp>
      <p:sp>
        <p:nvSpPr>
          <p:cNvPr id="12304" name="Text Box 16"/>
          <p:cNvSpPr txBox="1">
            <a:spLocks noChangeArrowheads="1"/>
          </p:cNvSpPr>
          <p:nvPr/>
        </p:nvSpPr>
        <p:spPr bwMode="auto">
          <a:xfrm>
            <a:off x="7565106" y="1630351"/>
            <a:ext cx="1600200" cy="4616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eaLnBrk="1" hangingPunct="1">
              <a:buFontTx/>
              <a:buNone/>
            </a:pPr>
            <a:endParaRPr lang="en-US" sz="2400" dirty="0">
              <a:solidFill>
                <a:schemeClr val="accent1"/>
              </a:solidFill>
            </a:endParaRPr>
          </a:p>
        </p:txBody>
      </p:sp>
      <p:sp>
        <p:nvSpPr>
          <p:cNvPr id="77" name="Text Box 42"/>
          <p:cNvSpPr txBox="1">
            <a:spLocks noChangeArrowheads="1"/>
          </p:cNvSpPr>
          <p:nvPr/>
        </p:nvSpPr>
        <p:spPr bwMode="auto">
          <a:xfrm>
            <a:off x="3342357" y="1544625"/>
            <a:ext cx="1752600" cy="923330"/>
          </a:xfrm>
          <a:prstGeom prst="rect">
            <a:avLst/>
          </a:prstGeom>
          <a:noFill/>
          <a:ln w="12700" algn="ctr">
            <a:noFill/>
            <a:miter lim="800000"/>
            <a:headEnd/>
            <a:tailEnd/>
          </a:ln>
          <a:effectLst/>
        </p:spPr>
        <p:txBody>
          <a:bodyPr vert="horz" wrap="square" lIns="91440" tIns="45720" rIns="91440" bIns="45720" numCol="1" anchor="t" anchorCtr="0" compatLnSpc="1">
            <a:prstTxWarp prst="textNoShape">
              <a:avLst/>
            </a:prstTxWarp>
            <a:spAutoFit/>
          </a:bodyPr>
          <a:lstStyle/>
          <a:p>
            <a:pPr algn="ctr" eaLnBrk="1" hangingPunct="1">
              <a:buFontTx/>
              <a:buNone/>
              <a:defRPr/>
            </a:pPr>
            <a:r>
              <a:rPr lang="en-US" dirty="0">
                <a:solidFill>
                  <a:srgbClr val="FFFF00"/>
                </a:solidFill>
                <a:effectLst>
                  <a:outerShdw blurRad="38100" dist="38100" dir="2700000" algn="tl">
                    <a:srgbClr val="000000"/>
                  </a:outerShdw>
                </a:effectLst>
              </a:rPr>
              <a:t>Securing Anywhere Access</a:t>
            </a:r>
          </a:p>
        </p:txBody>
      </p:sp>
      <p:grpSp>
        <p:nvGrpSpPr>
          <p:cNvPr id="2" name="Group 35"/>
          <p:cNvGrpSpPr/>
          <p:nvPr/>
        </p:nvGrpSpPr>
        <p:grpSpPr>
          <a:xfrm>
            <a:off x="1056356" y="2470931"/>
            <a:ext cx="1733550" cy="1138238"/>
            <a:chOff x="612775" y="2838450"/>
            <a:chExt cx="1733550" cy="1138238"/>
          </a:xfrm>
        </p:grpSpPr>
        <p:pic>
          <p:nvPicPr>
            <p:cNvPr id="12313" name="Picture 137" descr="blue disc M"/>
            <p:cNvPicPr>
              <a:picLocks noChangeAspect="1" noChangeArrowheads="1"/>
            </p:cNvPicPr>
            <p:nvPr/>
          </p:nvPicPr>
          <p:blipFill>
            <a:blip r:embed="rId5" cstate="print"/>
            <a:srcRect/>
            <a:stretch>
              <a:fillRect/>
            </a:stretch>
          </p:blipFill>
          <p:spPr bwMode="auto">
            <a:xfrm>
              <a:off x="612775" y="3297238"/>
              <a:ext cx="1733550" cy="679450"/>
            </a:xfrm>
            <a:prstGeom prst="rect">
              <a:avLst/>
            </a:prstGeom>
            <a:noFill/>
            <a:ln w="9525">
              <a:noFill/>
              <a:miter lim="800000"/>
              <a:headEnd/>
              <a:tailEnd/>
            </a:ln>
          </p:spPr>
        </p:pic>
        <p:pic>
          <p:nvPicPr>
            <p:cNvPr id="2051" name="Picture 3" descr="E:\DVD_ART34\Artwork_Imagery\Icons - Illustrations\_WINDOWS SERVER ICONS\Security\Lock locked secure security.png"/>
            <p:cNvPicPr>
              <a:picLocks noChangeAspect="1" noChangeArrowheads="1"/>
            </p:cNvPicPr>
            <p:nvPr/>
          </p:nvPicPr>
          <p:blipFill>
            <a:blip r:embed="rId6" cstate="print"/>
            <a:srcRect/>
            <a:stretch>
              <a:fillRect/>
            </a:stretch>
          </p:blipFill>
          <p:spPr bwMode="auto">
            <a:xfrm flipH="1">
              <a:off x="1447800" y="2971800"/>
              <a:ext cx="546735" cy="803434"/>
            </a:xfrm>
            <a:prstGeom prst="rect">
              <a:avLst/>
            </a:prstGeom>
            <a:noFill/>
          </p:spPr>
        </p:pic>
        <p:pic>
          <p:nvPicPr>
            <p:cNvPr id="12314" name="Picture 138" descr="developer Tools toolbox"/>
            <p:cNvPicPr>
              <a:picLocks noChangeAspect="1" noChangeArrowheads="1"/>
            </p:cNvPicPr>
            <p:nvPr/>
          </p:nvPicPr>
          <p:blipFill>
            <a:blip r:embed="rId7" cstate="print">
              <a:clrChange>
                <a:clrFrom>
                  <a:srgbClr val="373535"/>
                </a:clrFrom>
                <a:clrTo>
                  <a:srgbClr val="373535">
                    <a:alpha val="0"/>
                  </a:srgbClr>
                </a:clrTo>
              </a:clrChange>
            </a:blip>
            <a:srcRect/>
            <a:stretch>
              <a:fillRect/>
            </a:stretch>
          </p:blipFill>
          <p:spPr bwMode="auto">
            <a:xfrm>
              <a:off x="968375" y="2838450"/>
              <a:ext cx="620713" cy="933450"/>
            </a:xfrm>
            <a:prstGeom prst="rect">
              <a:avLst/>
            </a:prstGeom>
            <a:noFill/>
            <a:ln w="9525">
              <a:noFill/>
              <a:miter lim="800000"/>
              <a:headEnd/>
              <a:tailEnd/>
            </a:ln>
          </p:spPr>
        </p:pic>
      </p:grpSp>
      <p:sp>
        <p:nvSpPr>
          <p:cNvPr id="43" name="Title 39"/>
          <p:cNvSpPr>
            <a:spLocks noGrp="1"/>
          </p:cNvSpPr>
          <p:nvPr>
            <p:ph type="title"/>
          </p:nvPr>
        </p:nvSpPr>
        <p:spPr>
          <a:xfrm>
            <a:off x="1284955" y="80950"/>
            <a:ext cx="8458201" cy="1320800"/>
          </a:xfrm>
        </p:spPr>
        <p:txBody>
          <a:bodyPr>
            <a:normAutofit/>
          </a:bodyPr>
          <a:lstStyle/>
          <a:p>
            <a:r>
              <a:rPr dirty="0" smtClean="0"/>
              <a:t>Windows Enterprise Security</a:t>
            </a:r>
            <a:endParaRPr lang="en-US" sz="2400" dirty="0">
              <a:solidFill>
                <a:schemeClr val="tx1"/>
              </a:solidFill>
            </a:endParaRPr>
          </a:p>
        </p:txBody>
      </p:sp>
      <p:sp>
        <p:nvSpPr>
          <p:cNvPr id="46" name="Rounded Rectangle 45"/>
          <p:cNvSpPr/>
          <p:nvPr/>
        </p:nvSpPr>
        <p:spPr bwMode="auto">
          <a:xfrm>
            <a:off x="7838156" y="1401750"/>
            <a:ext cx="1828800" cy="25146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sp>
        <p:nvSpPr>
          <p:cNvPr id="47" name="Text Box 126"/>
          <p:cNvSpPr txBox="1">
            <a:spLocks noChangeArrowheads="1"/>
          </p:cNvSpPr>
          <p:nvPr/>
        </p:nvSpPr>
        <p:spPr bwMode="auto">
          <a:xfrm>
            <a:off x="7761956" y="1544626"/>
            <a:ext cx="1981200" cy="1200329"/>
          </a:xfrm>
          <a:prstGeom prst="rect">
            <a:avLst/>
          </a:prstGeom>
          <a:noFill/>
          <a:ln w="12700" algn="ctr">
            <a:noFill/>
            <a:miter lim="800000"/>
            <a:headEnd/>
            <a:tailEnd/>
          </a:ln>
          <a:effectLst/>
        </p:spPr>
        <p:txBody>
          <a:bodyPr vert="horz" wrap="square" lIns="91440" tIns="45720" rIns="91440" bIns="45720" numCol="1" anchor="t" anchorCtr="0" compatLnSpc="1">
            <a:prstTxWarp prst="textNoShape">
              <a:avLst/>
            </a:prstTxWarp>
            <a:spAutoFit/>
          </a:bodyPr>
          <a:lstStyle/>
          <a:p>
            <a:pPr algn="ctr" eaLnBrk="1" hangingPunct="1">
              <a:buFontTx/>
              <a:buNone/>
              <a:defRPr/>
            </a:pPr>
            <a:r>
              <a:rPr lang="en-US" dirty="0">
                <a:solidFill>
                  <a:srgbClr val="FFFF00"/>
                </a:solidFill>
                <a:effectLst>
                  <a:outerShdw blurRad="38100" dist="38100" dir="2700000" algn="tl">
                    <a:srgbClr val="000000"/>
                  </a:outerShdw>
                </a:effectLst>
              </a:rPr>
              <a:t>Protect Data from Unauthorized Viewing</a:t>
            </a:r>
          </a:p>
        </p:txBody>
      </p:sp>
      <p:grpSp>
        <p:nvGrpSpPr>
          <p:cNvPr id="3" name="Group 51"/>
          <p:cNvGrpSpPr/>
          <p:nvPr/>
        </p:nvGrpSpPr>
        <p:grpSpPr>
          <a:xfrm>
            <a:off x="8090507" y="2658555"/>
            <a:ext cx="1600200" cy="1143000"/>
            <a:chOff x="3429000" y="5486400"/>
            <a:chExt cx="1600200" cy="1143000"/>
          </a:xfrm>
        </p:grpSpPr>
        <p:pic>
          <p:nvPicPr>
            <p:cNvPr id="50" name="Picture 3" descr="C:\Program Files\Microsoft Resource DVD Artwork\DVD_ART\Artwork_Imagery\HARDWARE_IMAGERY\Photos - OEM Hardware\Computer\Vista Laptop\Gateway M680 laptop Vista Business.png"/>
            <p:cNvPicPr>
              <a:picLocks noChangeAspect="1" noChangeArrowheads="1"/>
            </p:cNvPicPr>
            <p:nvPr/>
          </p:nvPicPr>
          <p:blipFill>
            <a:blip r:embed="rId8" cstate="print"/>
            <a:srcRect r="-600" b="-6222"/>
            <a:stretch>
              <a:fillRect/>
            </a:stretch>
          </p:blipFill>
          <p:spPr bwMode="auto">
            <a:xfrm>
              <a:off x="3429000" y="5486400"/>
              <a:ext cx="1600200" cy="1143000"/>
            </a:xfrm>
            <a:prstGeom prst="rect">
              <a:avLst/>
            </a:prstGeom>
            <a:noFill/>
            <a:effectLst>
              <a:outerShdw blurRad="50800" dist="38100" dir="2700000" algn="tl" rotWithShape="0">
                <a:prstClr val="black">
                  <a:alpha val="40000"/>
                </a:prstClr>
              </a:outerShdw>
            </a:effectLst>
          </p:spPr>
        </p:pic>
        <p:pic>
          <p:nvPicPr>
            <p:cNvPr id="51" name="Picture 2" descr="\\eventsql\dvd\Online_ART\DVD_ART34\Artwork_Imagery\Icons - Illustrations\_WINDOWS VISTA ICONS\Keys secure security.png"/>
            <p:cNvPicPr>
              <a:picLocks noChangeAspect="1" noChangeArrowheads="1"/>
            </p:cNvPicPr>
            <p:nvPr/>
          </p:nvPicPr>
          <p:blipFill>
            <a:blip r:embed="rId9" cstate="print"/>
            <a:srcRect/>
            <a:stretch>
              <a:fillRect/>
            </a:stretch>
          </p:blipFill>
          <p:spPr bwMode="auto">
            <a:xfrm>
              <a:off x="3962400" y="5791200"/>
              <a:ext cx="645016" cy="631252"/>
            </a:xfrm>
            <a:prstGeom prst="rect">
              <a:avLst/>
            </a:prstGeom>
            <a:noFill/>
          </p:spPr>
        </p:pic>
      </p:grpSp>
      <p:sp>
        <p:nvSpPr>
          <p:cNvPr id="56" name="Rectangle 127"/>
          <p:cNvSpPr>
            <a:spLocks noChangeArrowheads="1"/>
          </p:cNvSpPr>
          <p:nvPr/>
        </p:nvSpPr>
        <p:spPr bwMode="auto">
          <a:xfrm>
            <a:off x="3189956" y="4144951"/>
            <a:ext cx="2057400" cy="138499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Network Security</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Network Access Protection</a:t>
            </a:r>
          </a:p>
          <a:p>
            <a:pPr marL="231775" indent="-231775">
              <a:spcBef>
                <a:spcPts val="1200"/>
              </a:spcBef>
              <a:buBlip>
                <a:blip r:embed="rId4"/>
              </a:buBlip>
              <a:defRPr/>
            </a:pPr>
            <a:r>
              <a:rPr lang="en-US" sz="1600" b="1" dirty="0">
                <a:effectLst>
                  <a:outerShdw blurRad="38100" dist="38100" dir="2700000" algn="tl">
                    <a:srgbClr val="000000"/>
                  </a:outerShdw>
                </a:effectLst>
                <a:sym typeface="Wingdings" pitchFamily="2" charset="2"/>
              </a:rPr>
              <a:t>DirectAccess</a:t>
            </a:r>
            <a:r>
              <a:rPr lang="en-US" sz="1600" b="1" baseline="30000" dirty="0">
                <a:effectLst>
                  <a:outerShdw blurRad="38100" dist="38100" dir="2700000" algn="tl">
                    <a:srgbClr val="000000"/>
                  </a:outerShdw>
                </a:effectLst>
                <a:sym typeface="Wingdings" pitchFamily="2" charset="2"/>
              </a:rPr>
              <a:t>TM</a:t>
            </a:r>
          </a:p>
        </p:txBody>
      </p:sp>
      <p:sp>
        <p:nvSpPr>
          <p:cNvPr id="57" name="Rectangle 127"/>
          <p:cNvSpPr>
            <a:spLocks noChangeArrowheads="1"/>
          </p:cNvSpPr>
          <p:nvPr/>
        </p:nvSpPr>
        <p:spPr bwMode="auto">
          <a:xfrm>
            <a:off x="5475956" y="4144951"/>
            <a:ext cx="2209800" cy="11387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231775" indent="-231775">
              <a:spcBef>
                <a:spcPts val="1200"/>
              </a:spcBef>
              <a:buBlip>
                <a:blip r:embed="rId4"/>
              </a:buBlip>
              <a:defRPr/>
            </a:pPr>
            <a:r>
              <a:rPr lang="en-US" sz="1600" b="1" dirty="0">
                <a:solidFill>
                  <a:srgbClr val="FFFF00"/>
                </a:solidFill>
                <a:effectLst>
                  <a:outerShdw blurRad="38100" dist="38100" dir="2700000" algn="tl">
                    <a:srgbClr val="000000"/>
                  </a:outerShdw>
                </a:effectLst>
                <a:sym typeface="Wingdings" pitchFamily="2" charset="2"/>
              </a:rPr>
              <a:t>AppLocker</a:t>
            </a:r>
            <a:r>
              <a:rPr lang="en-US" sz="1600" b="1" baseline="30000" dirty="0">
                <a:solidFill>
                  <a:srgbClr val="FFFF00"/>
                </a:solidFill>
                <a:effectLst>
                  <a:outerShdw blurRad="38100" dist="38100" dir="2700000" algn="tl">
                    <a:srgbClr val="000000"/>
                  </a:outerShdw>
                </a:effectLst>
                <a:sym typeface="Wingdings" pitchFamily="2" charset="2"/>
              </a:rPr>
              <a:t>TM</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Internet Explorer 8</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Data Recovery</a:t>
            </a:r>
          </a:p>
        </p:txBody>
      </p:sp>
      <p:sp>
        <p:nvSpPr>
          <p:cNvPr id="58" name="Rectangle 127"/>
          <p:cNvSpPr>
            <a:spLocks noChangeArrowheads="1"/>
          </p:cNvSpPr>
          <p:nvPr/>
        </p:nvSpPr>
        <p:spPr bwMode="auto">
          <a:xfrm>
            <a:off x="7685756" y="4144951"/>
            <a:ext cx="2057400" cy="11387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RMS</a:t>
            </a:r>
          </a:p>
          <a:p>
            <a:pPr marL="231775" indent="-231775">
              <a:spcBef>
                <a:spcPts val="1200"/>
              </a:spcBef>
              <a:buBlip>
                <a:blip r:embed="rId4"/>
              </a:buBlip>
              <a:defRPr/>
            </a:pPr>
            <a:r>
              <a:rPr lang="en-US" sz="1600" dirty="0">
                <a:effectLst>
                  <a:outerShdw blurRad="38100" dist="38100" dir="2700000" algn="tl">
                    <a:srgbClr val="000000"/>
                  </a:outerShdw>
                </a:effectLst>
                <a:sym typeface="Wingdings" pitchFamily="2" charset="2"/>
              </a:rPr>
              <a:t>EFS</a:t>
            </a:r>
          </a:p>
          <a:p>
            <a:pPr marL="231775" indent="-231775">
              <a:spcBef>
                <a:spcPts val="1200"/>
              </a:spcBef>
              <a:buBlip>
                <a:blip r:embed="rId4"/>
              </a:buBlip>
              <a:defRPr/>
            </a:pPr>
            <a:r>
              <a:rPr lang="en-US" sz="1600" dirty="0">
                <a:solidFill>
                  <a:srgbClr val="FFFF00"/>
                </a:solidFill>
                <a:effectLst>
                  <a:outerShdw blurRad="38100" dist="38100" dir="2700000" algn="tl">
                    <a:srgbClr val="000000"/>
                  </a:outerShdw>
                </a:effectLst>
                <a:sym typeface="Wingdings" pitchFamily="2" charset="2"/>
              </a:rPr>
              <a:t>BitLocker</a:t>
            </a:r>
            <a:r>
              <a:rPr lang="en-US" sz="1600" baseline="30000" dirty="0">
                <a:solidFill>
                  <a:srgbClr val="FFFF00"/>
                </a:solidFill>
                <a:effectLst>
                  <a:outerShdw blurRad="38100" dist="38100" dir="2700000" algn="tl">
                    <a:srgbClr val="000000"/>
                  </a:outerShdw>
                </a:effectLst>
                <a:sym typeface="Wingdings" pitchFamily="2" charset="2"/>
              </a:rPr>
              <a:t>TM</a:t>
            </a:r>
          </a:p>
        </p:txBody>
      </p:sp>
      <p:grpSp>
        <p:nvGrpSpPr>
          <p:cNvPr id="4" name="Group 63"/>
          <p:cNvGrpSpPr>
            <a:grpSpLocks noChangeAspect="1"/>
          </p:cNvGrpSpPr>
          <p:nvPr/>
        </p:nvGrpSpPr>
        <p:grpSpPr bwMode="auto">
          <a:xfrm>
            <a:off x="3418556" y="2428450"/>
            <a:ext cx="1706880" cy="1223203"/>
            <a:chOff x="2400" y="1368"/>
            <a:chExt cx="3368" cy="2794"/>
          </a:xfrm>
        </p:grpSpPr>
        <p:sp>
          <p:nvSpPr>
            <p:cNvPr id="60" name="Text Box 82"/>
            <p:cNvSpPr txBox="1">
              <a:spLocks noChangeArrowheads="1"/>
            </p:cNvSpPr>
            <p:nvPr/>
          </p:nvSpPr>
          <p:spPr bwMode="auto">
            <a:xfrm>
              <a:off x="4249" y="1392"/>
              <a:ext cx="1008" cy="773"/>
            </a:xfrm>
            <a:prstGeom prst="rect">
              <a:avLst/>
            </a:prstGeom>
            <a:noFill/>
            <a:ln w="9525">
              <a:noFill/>
              <a:miter lim="800000"/>
              <a:headEnd/>
              <a:tailEnd/>
            </a:ln>
          </p:spPr>
          <p:txBody>
            <a:bodyPr>
              <a:spAutoFit/>
            </a:bodyPr>
            <a:lstStyle/>
            <a:p>
              <a:pPr eaLnBrk="1" hangingPunct="1">
                <a:buFontTx/>
                <a:buNone/>
              </a:pPr>
              <a:endParaRPr lang="en-US" sz="1600" dirty="0">
                <a:solidFill>
                  <a:schemeClr val="accent1"/>
                </a:solidFill>
              </a:endParaRPr>
            </a:p>
          </p:txBody>
        </p:sp>
        <p:sp>
          <p:nvSpPr>
            <p:cNvPr id="61" name="Text Box 84"/>
            <p:cNvSpPr txBox="1">
              <a:spLocks noChangeArrowheads="1"/>
            </p:cNvSpPr>
            <p:nvPr/>
          </p:nvSpPr>
          <p:spPr bwMode="auto">
            <a:xfrm>
              <a:off x="2400" y="1392"/>
              <a:ext cx="912" cy="773"/>
            </a:xfrm>
            <a:prstGeom prst="rect">
              <a:avLst/>
            </a:prstGeom>
            <a:noFill/>
            <a:ln w="9525">
              <a:noFill/>
              <a:miter lim="800000"/>
              <a:headEnd/>
              <a:tailEnd/>
            </a:ln>
          </p:spPr>
          <p:txBody>
            <a:bodyPr>
              <a:spAutoFit/>
            </a:bodyPr>
            <a:lstStyle/>
            <a:p>
              <a:pPr eaLnBrk="1" hangingPunct="1">
                <a:buFontTx/>
                <a:buNone/>
              </a:pPr>
              <a:endParaRPr lang="en-US" sz="1600" dirty="0">
                <a:solidFill>
                  <a:schemeClr val="accent1"/>
                </a:solidFill>
              </a:endParaRPr>
            </a:p>
          </p:txBody>
        </p:sp>
        <p:sp>
          <p:nvSpPr>
            <p:cNvPr id="62" name="Text Box 15"/>
            <p:cNvSpPr txBox="1">
              <a:spLocks noChangeArrowheads="1"/>
            </p:cNvSpPr>
            <p:nvPr/>
          </p:nvSpPr>
          <p:spPr bwMode="auto">
            <a:xfrm>
              <a:off x="2400" y="1392"/>
              <a:ext cx="912" cy="773"/>
            </a:xfrm>
            <a:prstGeom prst="rect">
              <a:avLst/>
            </a:prstGeom>
            <a:noFill/>
            <a:ln w="9525">
              <a:noFill/>
              <a:miter lim="800000"/>
              <a:headEnd/>
              <a:tailEnd/>
            </a:ln>
          </p:spPr>
          <p:txBody>
            <a:bodyPr>
              <a:spAutoFit/>
            </a:bodyPr>
            <a:lstStyle/>
            <a:p>
              <a:pPr eaLnBrk="1" hangingPunct="1">
                <a:buFontTx/>
                <a:buNone/>
              </a:pPr>
              <a:endParaRPr lang="en-US" sz="1600" dirty="0">
                <a:solidFill>
                  <a:schemeClr val="accent1"/>
                </a:solidFill>
              </a:endParaRPr>
            </a:p>
          </p:txBody>
        </p:sp>
        <p:pic>
          <p:nvPicPr>
            <p:cNvPr id="63" name="Picture 22" descr="internet cloud"/>
            <p:cNvPicPr>
              <a:picLocks noChangeAspect="1" noChangeArrowheads="1"/>
            </p:cNvPicPr>
            <p:nvPr/>
          </p:nvPicPr>
          <p:blipFill>
            <a:blip r:embed="rId10" cstate="print"/>
            <a:srcRect/>
            <a:stretch>
              <a:fillRect/>
            </a:stretch>
          </p:blipFill>
          <p:spPr bwMode="auto">
            <a:xfrm>
              <a:off x="2523" y="1368"/>
              <a:ext cx="3245" cy="2794"/>
            </a:xfrm>
            <a:prstGeom prst="rect">
              <a:avLst/>
            </a:prstGeom>
            <a:noFill/>
            <a:ln w="9525">
              <a:noFill/>
              <a:miter lim="800000"/>
              <a:headEnd/>
              <a:tailEnd/>
            </a:ln>
          </p:spPr>
        </p:pic>
        <p:pic>
          <p:nvPicPr>
            <p:cNvPr id="64" name="Picture 25" descr="clear bubble"/>
            <p:cNvPicPr>
              <a:picLocks noChangeAspect="1" noChangeArrowheads="1"/>
            </p:cNvPicPr>
            <p:nvPr/>
          </p:nvPicPr>
          <p:blipFill>
            <a:blip r:embed="rId11" cstate="print"/>
            <a:srcRect/>
            <a:stretch>
              <a:fillRect/>
            </a:stretch>
          </p:blipFill>
          <p:spPr bwMode="auto">
            <a:xfrm>
              <a:off x="3000" y="3163"/>
              <a:ext cx="620" cy="377"/>
            </a:xfrm>
            <a:prstGeom prst="rect">
              <a:avLst/>
            </a:prstGeom>
            <a:noFill/>
            <a:ln w="9525">
              <a:noFill/>
              <a:miter lim="800000"/>
              <a:headEnd/>
              <a:tailEnd/>
            </a:ln>
          </p:spPr>
        </p:pic>
        <p:pic>
          <p:nvPicPr>
            <p:cNvPr id="65" name="Picture 26" descr="clear bubble"/>
            <p:cNvPicPr>
              <a:picLocks noChangeAspect="1" noChangeArrowheads="1"/>
            </p:cNvPicPr>
            <p:nvPr/>
          </p:nvPicPr>
          <p:blipFill>
            <a:blip r:embed="rId12" cstate="print"/>
            <a:srcRect/>
            <a:stretch>
              <a:fillRect/>
            </a:stretch>
          </p:blipFill>
          <p:spPr bwMode="auto">
            <a:xfrm>
              <a:off x="3622" y="1938"/>
              <a:ext cx="1881" cy="1145"/>
            </a:xfrm>
            <a:prstGeom prst="rect">
              <a:avLst/>
            </a:prstGeom>
            <a:noFill/>
            <a:ln w="9525">
              <a:noFill/>
              <a:miter lim="800000"/>
              <a:headEnd/>
              <a:tailEnd/>
            </a:ln>
          </p:spPr>
        </p:pic>
        <p:pic>
          <p:nvPicPr>
            <p:cNvPr id="66" name="Picture 27" descr="clear bubble"/>
            <p:cNvPicPr>
              <a:picLocks noChangeAspect="1" noChangeArrowheads="1"/>
            </p:cNvPicPr>
            <p:nvPr/>
          </p:nvPicPr>
          <p:blipFill>
            <a:blip r:embed="rId13" cstate="print"/>
            <a:srcRect/>
            <a:stretch>
              <a:fillRect/>
            </a:stretch>
          </p:blipFill>
          <p:spPr bwMode="auto">
            <a:xfrm>
              <a:off x="4260" y="2148"/>
              <a:ext cx="1160" cy="706"/>
            </a:xfrm>
            <a:prstGeom prst="rect">
              <a:avLst/>
            </a:prstGeom>
            <a:noFill/>
            <a:ln w="9525">
              <a:noFill/>
              <a:miter lim="800000"/>
              <a:headEnd/>
              <a:tailEnd/>
            </a:ln>
          </p:spPr>
        </p:pic>
        <p:pic>
          <p:nvPicPr>
            <p:cNvPr id="67" name="Picture 28" descr="building white w awning"/>
            <p:cNvPicPr>
              <a:picLocks noChangeAspect="1" noChangeArrowheads="1"/>
            </p:cNvPicPr>
            <p:nvPr/>
          </p:nvPicPr>
          <p:blipFill>
            <a:blip r:embed="rId14" cstate="print"/>
            <a:srcRect/>
            <a:stretch>
              <a:fillRect/>
            </a:stretch>
          </p:blipFill>
          <p:spPr bwMode="auto">
            <a:xfrm>
              <a:off x="3478" y="1866"/>
              <a:ext cx="316" cy="343"/>
            </a:xfrm>
            <a:prstGeom prst="rect">
              <a:avLst/>
            </a:prstGeom>
            <a:noFill/>
            <a:ln w="9525">
              <a:noFill/>
              <a:miter lim="800000"/>
              <a:headEnd/>
              <a:tailEnd/>
            </a:ln>
          </p:spPr>
        </p:pic>
        <p:pic>
          <p:nvPicPr>
            <p:cNvPr id="68" name="Picture 29" descr="house yellow"/>
            <p:cNvPicPr>
              <a:picLocks noChangeAspect="1" noChangeArrowheads="1"/>
            </p:cNvPicPr>
            <p:nvPr/>
          </p:nvPicPr>
          <p:blipFill>
            <a:blip r:embed="rId15" cstate="print"/>
            <a:srcRect/>
            <a:stretch>
              <a:fillRect/>
            </a:stretch>
          </p:blipFill>
          <p:spPr bwMode="auto">
            <a:xfrm>
              <a:off x="3287" y="2530"/>
              <a:ext cx="272" cy="272"/>
            </a:xfrm>
            <a:prstGeom prst="rect">
              <a:avLst/>
            </a:prstGeom>
            <a:noFill/>
            <a:ln w="9525">
              <a:noFill/>
              <a:miter lim="800000"/>
              <a:headEnd/>
              <a:tailEnd/>
            </a:ln>
          </p:spPr>
        </p:pic>
        <p:pic>
          <p:nvPicPr>
            <p:cNvPr id="69" name="Picture 30" descr="laptop"/>
            <p:cNvPicPr>
              <a:picLocks noChangeAspect="1" noChangeArrowheads="1"/>
            </p:cNvPicPr>
            <p:nvPr/>
          </p:nvPicPr>
          <p:blipFill>
            <a:blip r:embed="rId16" cstate="print"/>
            <a:srcRect/>
            <a:stretch>
              <a:fillRect/>
            </a:stretch>
          </p:blipFill>
          <p:spPr bwMode="auto">
            <a:xfrm>
              <a:off x="3595" y="2123"/>
              <a:ext cx="210" cy="163"/>
            </a:xfrm>
            <a:prstGeom prst="rect">
              <a:avLst/>
            </a:prstGeom>
            <a:noFill/>
            <a:ln w="9525">
              <a:noFill/>
              <a:miter lim="800000"/>
              <a:headEnd/>
              <a:tailEnd/>
            </a:ln>
          </p:spPr>
        </p:pic>
        <p:pic>
          <p:nvPicPr>
            <p:cNvPr id="71" name="Picture 31" descr="laptop"/>
            <p:cNvPicPr>
              <a:picLocks noChangeAspect="1" noChangeArrowheads="1"/>
            </p:cNvPicPr>
            <p:nvPr/>
          </p:nvPicPr>
          <p:blipFill>
            <a:blip r:embed="rId16" cstate="print"/>
            <a:srcRect/>
            <a:stretch>
              <a:fillRect/>
            </a:stretch>
          </p:blipFill>
          <p:spPr bwMode="auto">
            <a:xfrm>
              <a:off x="3335" y="2641"/>
              <a:ext cx="210" cy="163"/>
            </a:xfrm>
            <a:prstGeom prst="rect">
              <a:avLst/>
            </a:prstGeom>
            <a:noFill/>
            <a:ln w="9525">
              <a:noFill/>
              <a:miter lim="800000"/>
              <a:headEnd/>
              <a:tailEnd/>
            </a:ln>
          </p:spPr>
        </p:pic>
        <p:pic>
          <p:nvPicPr>
            <p:cNvPr id="72" name="Picture 32" descr="tv monitor"/>
            <p:cNvPicPr>
              <a:picLocks noChangeAspect="1" noChangeArrowheads="1"/>
            </p:cNvPicPr>
            <p:nvPr/>
          </p:nvPicPr>
          <p:blipFill>
            <a:blip r:embed="rId17" cstate="print"/>
            <a:srcRect/>
            <a:stretch>
              <a:fillRect/>
            </a:stretch>
          </p:blipFill>
          <p:spPr bwMode="auto">
            <a:xfrm>
              <a:off x="3239" y="3305"/>
              <a:ext cx="159" cy="143"/>
            </a:xfrm>
            <a:prstGeom prst="rect">
              <a:avLst/>
            </a:prstGeom>
            <a:noFill/>
            <a:ln w="9525">
              <a:noFill/>
              <a:miter lim="800000"/>
              <a:headEnd/>
              <a:tailEnd/>
            </a:ln>
          </p:spPr>
        </p:pic>
        <p:pic>
          <p:nvPicPr>
            <p:cNvPr id="78" name="Picture 33" descr="pc"/>
            <p:cNvPicPr>
              <a:picLocks noChangeAspect="1" noChangeArrowheads="1"/>
            </p:cNvPicPr>
            <p:nvPr/>
          </p:nvPicPr>
          <p:blipFill>
            <a:blip r:embed="rId18" cstate="print"/>
            <a:srcRect/>
            <a:stretch>
              <a:fillRect/>
            </a:stretch>
          </p:blipFill>
          <p:spPr bwMode="auto">
            <a:xfrm>
              <a:off x="3776" y="3205"/>
              <a:ext cx="352" cy="351"/>
            </a:xfrm>
            <a:prstGeom prst="rect">
              <a:avLst/>
            </a:prstGeom>
            <a:noFill/>
            <a:ln w="9525">
              <a:noFill/>
              <a:miter lim="800000"/>
              <a:headEnd/>
              <a:tailEnd/>
            </a:ln>
          </p:spPr>
        </p:pic>
        <p:pic>
          <p:nvPicPr>
            <p:cNvPr id="82" name="Picture 34" descr="scanner"/>
            <p:cNvPicPr>
              <a:picLocks noChangeAspect="1" noChangeArrowheads="1"/>
            </p:cNvPicPr>
            <p:nvPr/>
          </p:nvPicPr>
          <p:blipFill>
            <a:blip r:embed="rId19" cstate="print"/>
            <a:srcRect/>
            <a:stretch>
              <a:fillRect/>
            </a:stretch>
          </p:blipFill>
          <p:spPr bwMode="auto">
            <a:xfrm>
              <a:off x="4486" y="3268"/>
              <a:ext cx="244" cy="185"/>
            </a:xfrm>
            <a:prstGeom prst="rect">
              <a:avLst/>
            </a:prstGeom>
            <a:noFill/>
            <a:ln w="9525">
              <a:noFill/>
              <a:miter lim="800000"/>
              <a:headEnd/>
              <a:tailEnd/>
            </a:ln>
          </p:spPr>
        </p:pic>
        <p:pic>
          <p:nvPicPr>
            <p:cNvPr id="83" name="Picture 35" descr="Server"/>
            <p:cNvPicPr>
              <a:picLocks noChangeAspect="1" noChangeArrowheads="1"/>
            </p:cNvPicPr>
            <p:nvPr/>
          </p:nvPicPr>
          <p:blipFill>
            <a:blip r:embed="rId20" cstate="print"/>
            <a:srcRect/>
            <a:stretch>
              <a:fillRect/>
            </a:stretch>
          </p:blipFill>
          <p:spPr bwMode="auto">
            <a:xfrm>
              <a:off x="4148" y="2143"/>
              <a:ext cx="185" cy="272"/>
            </a:xfrm>
            <a:prstGeom prst="rect">
              <a:avLst/>
            </a:prstGeom>
            <a:noFill/>
            <a:ln w="9525">
              <a:noFill/>
              <a:miter lim="800000"/>
              <a:headEnd/>
              <a:tailEnd/>
            </a:ln>
          </p:spPr>
        </p:pic>
        <p:pic>
          <p:nvPicPr>
            <p:cNvPr id="84" name="Picture 36" descr="Server"/>
            <p:cNvPicPr>
              <a:picLocks noChangeAspect="1" noChangeArrowheads="1"/>
            </p:cNvPicPr>
            <p:nvPr/>
          </p:nvPicPr>
          <p:blipFill>
            <a:blip r:embed="rId20" cstate="print"/>
            <a:srcRect/>
            <a:stretch>
              <a:fillRect/>
            </a:stretch>
          </p:blipFill>
          <p:spPr bwMode="auto">
            <a:xfrm>
              <a:off x="3956" y="2530"/>
              <a:ext cx="185" cy="272"/>
            </a:xfrm>
            <a:prstGeom prst="rect">
              <a:avLst/>
            </a:prstGeom>
            <a:noFill/>
            <a:ln w="9525">
              <a:noFill/>
              <a:miter lim="800000"/>
              <a:headEnd/>
              <a:tailEnd/>
            </a:ln>
          </p:spPr>
        </p:pic>
        <p:pic>
          <p:nvPicPr>
            <p:cNvPr id="85" name="Picture 37" descr="Server"/>
            <p:cNvPicPr>
              <a:picLocks noChangeAspect="1" noChangeArrowheads="1"/>
            </p:cNvPicPr>
            <p:nvPr/>
          </p:nvPicPr>
          <p:blipFill>
            <a:blip r:embed="rId20" cstate="print"/>
            <a:srcRect/>
            <a:stretch>
              <a:fillRect/>
            </a:stretch>
          </p:blipFill>
          <p:spPr bwMode="auto">
            <a:xfrm>
              <a:off x="4195" y="2751"/>
              <a:ext cx="185" cy="272"/>
            </a:xfrm>
            <a:prstGeom prst="rect">
              <a:avLst/>
            </a:prstGeom>
            <a:noFill/>
            <a:ln w="9525">
              <a:noFill/>
              <a:miter lim="800000"/>
              <a:headEnd/>
              <a:tailEnd/>
            </a:ln>
          </p:spPr>
        </p:pic>
        <p:pic>
          <p:nvPicPr>
            <p:cNvPr id="86" name="Picture 38" descr="Server"/>
            <p:cNvPicPr>
              <a:picLocks noChangeAspect="1" noChangeArrowheads="1"/>
            </p:cNvPicPr>
            <p:nvPr/>
          </p:nvPicPr>
          <p:blipFill>
            <a:blip r:embed="rId21" cstate="print"/>
            <a:srcRect/>
            <a:stretch>
              <a:fillRect/>
            </a:stretch>
          </p:blipFill>
          <p:spPr bwMode="auto">
            <a:xfrm>
              <a:off x="4847" y="2316"/>
              <a:ext cx="178" cy="260"/>
            </a:xfrm>
            <a:prstGeom prst="rect">
              <a:avLst/>
            </a:prstGeom>
            <a:noFill/>
            <a:ln w="9525">
              <a:noFill/>
              <a:miter lim="800000"/>
              <a:headEnd/>
              <a:tailEnd/>
            </a:ln>
          </p:spPr>
        </p:pic>
        <p:pic>
          <p:nvPicPr>
            <p:cNvPr id="87" name="Picture 39" descr="Server"/>
            <p:cNvPicPr>
              <a:picLocks noChangeAspect="1" noChangeArrowheads="1"/>
            </p:cNvPicPr>
            <p:nvPr/>
          </p:nvPicPr>
          <p:blipFill>
            <a:blip r:embed="rId21" cstate="print"/>
            <a:srcRect/>
            <a:stretch>
              <a:fillRect/>
            </a:stretch>
          </p:blipFill>
          <p:spPr bwMode="auto">
            <a:xfrm>
              <a:off x="4911" y="2356"/>
              <a:ext cx="178" cy="260"/>
            </a:xfrm>
            <a:prstGeom prst="rect">
              <a:avLst/>
            </a:prstGeom>
            <a:noFill/>
            <a:ln w="9525">
              <a:noFill/>
              <a:miter lim="800000"/>
              <a:headEnd/>
              <a:tailEnd/>
            </a:ln>
          </p:spPr>
        </p:pic>
        <p:pic>
          <p:nvPicPr>
            <p:cNvPr id="88" name="Picture 40" descr="Server"/>
            <p:cNvPicPr>
              <a:picLocks noChangeAspect="1" noChangeArrowheads="1"/>
            </p:cNvPicPr>
            <p:nvPr/>
          </p:nvPicPr>
          <p:blipFill>
            <a:blip r:embed="rId21" cstate="print"/>
            <a:srcRect/>
            <a:stretch>
              <a:fillRect/>
            </a:stretch>
          </p:blipFill>
          <p:spPr bwMode="auto">
            <a:xfrm>
              <a:off x="4983" y="2396"/>
              <a:ext cx="178" cy="260"/>
            </a:xfrm>
            <a:prstGeom prst="rect">
              <a:avLst/>
            </a:prstGeom>
            <a:noFill/>
            <a:ln w="9525">
              <a:noFill/>
              <a:miter lim="800000"/>
              <a:headEnd/>
              <a:tailEnd/>
            </a:ln>
          </p:spPr>
        </p:pic>
        <p:pic>
          <p:nvPicPr>
            <p:cNvPr id="89" name="Picture 41" descr="pc"/>
            <p:cNvPicPr>
              <a:picLocks noChangeAspect="1" noChangeArrowheads="1"/>
            </p:cNvPicPr>
            <p:nvPr/>
          </p:nvPicPr>
          <p:blipFill>
            <a:blip r:embed="rId22" cstate="print"/>
            <a:srcRect/>
            <a:stretch>
              <a:fillRect/>
            </a:stretch>
          </p:blipFill>
          <p:spPr bwMode="auto">
            <a:xfrm>
              <a:off x="4332" y="2487"/>
              <a:ext cx="232" cy="231"/>
            </a:xfrm>
            <a:prstGeom prst="rect">
              <a:avLst/>
            </a:prstGeom>
            <a:noFill/>
            <a:ln w="9525">
              <a:noFill/>
              <a:miter lim="800000"/>
              <a:headEnd/>
              <a:tailEnd/>
            </a:ln>
          </p:spPr>
        </p:pic>
        <p:pic>
          <p:nvPicPr>
            <p:cNvPr id="90" name="Picture 42" descr="laptop"/>
            <p:cNvPicPr>
              <a:picLocks noChangeAspect="1" noChangeArrowheads="1"/>
            </p:cNvPicPr>
            <p:nvPr/>
          </p:nvPicPr>
          <p:blipFill>
            <a:blip r:embed="rId16" cstate="print"/>
            <a:srcRect/>
            <a:stretch>
              <a:fillRect/>
            </a:stretch>
          </p:blipFill>
          <p:spPr bwMode="auto">
            <a:xfrm>
              <a:off x="4587" y="2544"/>
              <a:ext cx="210" cy="163"/>
            </a:xfrm>
            <a:prstGeom prst="rect">
              <a:avLst/>
            </a:prstGeom>
            <a:noFill/>
            <a:ln w="9525">
              <a:noFill/>
              <a:miter lim="800000"/>
              <a:headEnd/>
              <a:tailEnd/>
            </a:ln>
          </p:spPr>
        </p:pic>
        <p:sp>
          <p:nvSpPr>
            <p:cNvPr id="91" name="Line 54"/>
            <p:cNvSpPr>
              <a:spLocks noChangeShapeType="1"/>
            </p:cNvSpPr>
            <p:nvPr/>
          </p:nvSpPr>
          <p:spPr bwMode="auto">
            <a:xfrm>
              <a:off x="3909" y="2143"/>
              <a:ext cx="171" cy="52"/>
            </a:xfrm>
            <a:prstGeom prst="line">
              <a:avLst/>
            </a:prstGeom>
            <a:noFill/>
            <a:ln w="12700">
              <a:solidFill>
                <a:schemeClr val="tx2"/>
              </a:solidFill>
              <a:round/>
              <a:headEnd type="triangle" w="med" len="med"/>
              <a:tailEnd type="triangle" w="med" len="med"/>
            </a:ln>
            <a:effectLst>
              <a:prstShdw prst="shdw17" dist="17961" dir="2700000">
                <a:schemeClr val="tx2">
                  <a:gamma/>
                  <a:shade val="60000"/>
                  <a:invGamma/>
                </a:schemeClr>
              </a:prstShdw>
            </a:effectLst>
          </p:spPr>
          <p:txBody>
            <a:bodyPr wrap="none" anchor="ctr"/>
            <a:lstStyle/>
            <a:p>
              <a:pPr>
                <a:defRPr/>
              </a:pPr>
              <a:endParaRPr lang="en-US" sz="1200" dirty="0"/>
            </a:p>
          </p:txBody>
        </p:sp>
        <p:sp>
          <p:nvSpPr>
            <p:cNvPr id="92" name="Line 55"/>
            <p:cNvSpPr>
              <a:spLocks noChangeShapeType="1"/>
            </p:cNvSpPr>
            <p:nvPr/>
          </p:nvSpPr>
          <p:spPr bwMode="auto">
            <a:xfrm>
              <a:off x="3574" y="2641"/>
              <a:ext cx="353" cy="0"/>
            </a:xfrm>
            <a:prstGeom prst="line">
              <a:avLst/>
            </a:prstGeom>
            <a:noFill/>
            <a:ln w="12700">
              <a:solidFill>
                <a:schemeClr val="tx2"/>
              </a:solidFill>
              <a:round/>
              <a:headEnd type="triangle" w="med" len="med"/>
              <a:tailEnd type="triangle" w="med" len="med"/>
            </a:ln>
            <a:effectLst>
              <a:prstShdw prst="shdw17" dist="17961" dir="2700000">
                <a:schemeClr val="tx2">
                  <a:gamma/>
                  <a:shade val="60000"/>
                  <a:invGamma/>
                </a:schemeClr>
              </a:prstShdw>
            </a:effectLst>
          </p:spPr>
          <p:txBody>
            <a:bodyPr wrap="none" anchor="ctr"/>
            <a:lstStyle/>
            <a:p>
              <a:pPr>
                <a:defRPr/>
              </a:pPr>
              <a:endParaRPr lang="en-US" sz="1200" dirty="0"/>
            </a:p>
          </p:txBody>
        </p:sp>
        <p:sp>
          <p:nvSpPr>
            <p:cNvPr id="93" name="Line 56"/>
            <p:cNvSpPr>
              <a:spLocks noChangeShapeType="1"/>
            </p:cNvSpPr>
            <p:nvPr/>
          </p:nvSpPr>
          <p:spPr bwMode="auto">
            <a:xfrm flipV="1">
              <a:off x="4061" y="3104"/>
              <a:ext cx="67" cy="108"/>
            </a:xfrm>
            <a:prstGeom prst="line">
              <a:avLst/>
            </a:prstGeom>
            <a:noFill/>
            <a:ln w="12700">
              <a:solidFill>
                <a:srgbClr val="FF0000"/>
              </a:solidFill>
              <a:round/>
              <a:headEnd/>
              <a:tailEnd type="triangle" w="med" len="med"/>
            </a:ln>
            <a:effectLst>
              <a:prstShdw prst="shdw17" dist="17961" dir="2700000">
                <a:srgbClr val="990000"/>
              </a:prstShdw>
            </a:effectLst>
          </p:spPr>
          <p:txBody>
            <a:bodyPr wrap="none" anchor="ctr"/>
            <a:lstStyle/>
            <a:p>
              <a:endParaRPr lang="en-US" sz="1200" dirty="0"/>
            </a:p>
          </p:txBody>
        </p:sp>
        <p:sp>
          <p:nvSpPr>
            <p:cNvPr id="94" name="Line 57"/>
            <p:cNvSpPr>
              <a:spLocks noChangeShapeType="1"/>
            </p:cNvSpPr>
            <p:nvPr/>
          </p:nvSpPr>
          <p:spPr bwMode="auto">
            <a:xfrm flipH="1">
              <a:off x="3656" y="3318"/>
              <a:ext cx="188" cy="1"/>
            </a:xfrm>
            <a:prstGeom prst="line">
              <a:avLst/>
            </a:prstGeom>
            <a:noFill/>
            <a:ln w="12700">
              <a:solidFill>
                <a:srgbClr val="FF0000"/>
              </a:solidFill>
              <a:round/>
              <a:headEnd/>
              <a:tailEnd type="triangle" w="med" len="med"/>
            </a:ln>
            <a:effectLst>
              <a:prstShdw prst="shdw17" dist="17961" dir="2700000">
                <a:srgbClr val="990000"/>
              </a:prstShdw>
            </a:effectLst>
          </p:spPr>
          <p:txBody>
            <a:bodyPr wrap="none" anchor="ctr"/>
            <a:lstStyle/>
            <a:p>
              <a:endParaRPr lang="en-US" sz="1200" dirty="0"/>
            </a:p>
          </p:txBody>
        </p:sp>
        <p:sp>
          <p:nvSpPr>
            <p:cNvPr id="95" name="Line 58"/>
            <p:cNvSpPr>
              <a:spLocks noChangeShapeType="1"/>
            </p:cNvSpPr>
            <p:nvPr/>
          </p:nvSpPr>
          <p:spPr bwMode="auto">
            <a:xfrm>
              <a:off x="4353" y="3075"/>
              <a:ext cx="114" cy="119"/>
            </a:xfrm>
            <a:prstGeom prst="line">
              <a:avLst/>
            </a:prstGeom>
            <a:noFill/>
            <a:ln w="12700">
              <a:solidFill>
                <a:schemeClr val="tx2"/>
              </a:solidFill>
              <a:round/>
              <a:headEnd type="triangle" w="med" len="med"/>
              <a:tailEnd type="triangle" w="med" len="med"/>
            </a:ln>
            <a:effectLst>
              <a:prstShdw prst="shdw17" dist="17961" dir="2700000">
                <a:schemeClr val="tx2">
                  <a:gamma/>
                  <a:shade val="60000"/>
                  <a:invGamma/>
                </a:schemeClr>
              </a:prstShdw>
            </a:effectLst>
          </p:spPr>
          <p:txBody>
            <a:bodyPr wrap="none" anchor="ctr"/>
            <a:lstStyle/>
            <a:p>
              <a:pPr>
                <a:defRPr/>
              </a:pPr>
              <a:endParaRPr lang="en-US" sz="1200" dirty="0"/>
            </a:p>
          </p:txBody>
        </p:sp>
        <p:sp>
          <p:nvSpPr>
            <p:cNvPr id="96" name="Line 59"/>
            <p:cNvSpPr>
              <a:spLocks noChangeShapeType="1"/>
            </p:cNvSpPr>
            <p:nvPr/>
          </p:nvSpPr>
          <p:spPr bwMode="auto">
            <a:xfrm flipV="1">
              <a:off x="4434" y="2749"/>
              <a:ext cx="347" cy="168"/>
            </a:xfrm>
            <a:prstGeom prst="line">
              <a:avLst/>
            </a:prstGeom>
            <a:noFill/>
            <a:ln w="12700">
              <a:solidFill>
                <a:schemeClr val="tx2"/>
              </a:solidFill>
              <a:round/>
              <a:headEnd type="triangle" w="med" len="med"/>
              <a:tailEnd type="triangle" w="med" len="med"/>
            </a:ln>
            <a:effectLst>
              <a:prstShdw prst="shdw17" dist="17961" dir="2700000">
                <a:schemeClr val="tx2">
                  <a:gamma/>
                  <a:shade val="60000"/>
                  <a:invGamma/>
                </a:schemeClr>
              </a:prstShdw>
            </a:effectLst>
          </p:spPr>
          <p:txBody>
            <a:bodyPr wrap="none" anchor="ctr"/>
            <a:lstStyle/>
            <a:p>
              <a:pPr>
                <a:defRPr/>
              </a:pPr>
              <a:endParaRPr lang="en-US" sz="1200" dirty="0"/>
            </a:p>
          </p:txBody>
        </p:sp>
        <p:sp>
          <p:nvSpPr>
            <p:cNvPr id="97" name="Line 60"/>
            <p:cNvSpPr>
              <a:spLocks noChangeShapeType="1"/>
            </p:cNvSpPr>
            <p:nvPr/>
          </p:nvSpPr>
          <p:spPr bwMode="auto">
            <a:xfrm>
              <a:off x="4195" y="2641"/>
              <a:ext cx="462" cy="5"/>
            </a:xfrm>
            <a:prstGeom prst="line">
              <a:avLst/>
            </a:prstGeom>
            <a:noFill/>
            <a:ln w="12700">
              <a:solidFill>
                <a:schemeClr val="hlink"/>
              </a:solidFill>
              <a:round/>
              <a:headEnd type="triangle" w="med" len="med"/>
              <a:tailEnd/>
            </a:ln>
            <a:effectLst>
              <a:prstShdw prst="shdw17" dist="17961" dir="2700000">
                <a:schemeClr val="hlink">
                  <a:gamma/>
                  <a:shade val="60000"/>
                  <a:invGamma/>
                </a:schemeClr>
              </a:prstShdw>
            </a:effectLst>
          </p:spPr>
          <p:txBody>
            <a:bodyPr wrap="none" anchor="ctr"/>
            <a:lstStyle/>
            <a:p>
              <a:pPr>
                <a:defRPr/>
              </a:pPr>
              <a:endParaRPr lang="en-US" sz="1200" dirty="0"/>
            </a:p>
          </p:txBody>
        </p:sp>
        <p:pic>
          <p:nvPicPr>
            <p:cNvPr id="99" name="Picture 61" descr="plus sign"/>
            <p:cNvPicPr>
              <a:picLocks noChangeAspect="1" noChangeArrowheads="1"/>
            </p:cNvPicPr>
            <p:nvPr/>
          </p:nvPicPr>
          <p:blipFill>
            <a:blip r:embed="rId23" cstate="print"/>
            <a:srcRect/>
            <a:stretch>
              <a:fillRect/>
            </a:stretch>
          </p:blipFill>
          <p:spPr bwMode="auto">
            <a:xfrm>
              <a:off x="4100" y="2963"/>
              <a:ext cx="175" cy="180"/>
            </a:xfrm>
            <a:prstGeom prst="rect">
              <a:avLst/>
            </a:prstGeom>
            <a:noFill/>
            <a:ln w="9525">
              <a:noFill/>
              <a:miter lim="800000"/>
              <a:headEnd/>
              <a:tailEnd/>
            </a:ln>
          </p:spPr>
        </p:pic>
        <p:pic>
          <p:nvPicPr>
            <p:cNvPr id="100" name="Picture 62" descr="Ann Disable"/>
            <p:cNvPicPr>
              <a:picLocks noChangeAspect="1" noChangeArrowheads="1"/>
            </p:cNvPicPr>
            <p:nvPr/>
          </p:nvPicPr>
          <p:blipFill>
            <a:blip r:embed="rId24" cstate="print"/>
            <a:srcRect/>
            <a:stretch>
              <a:fillRect/>
            </a:stretch>
          </p:blipFill>
          <p:spPr bwMode="auto">
            <a:xfrm>
              <a:off x="3493" y="3232"/>
              <a:ext cx="156" cy="156"/>
            </a:xfrm>
            <a:prstGeom prst="rect">
              <a:avLst/>
            </a:prstGeom>
            <a:noFill/>
            <a:ln w="9525">
              <a:noFill/>
              <a:miter lim="800000"/>
              <a:headEnd/>
              <a:tailEnd/>
            </a:ln>
          </p:spPr>
        </p:pic>
      </p:grpSp>
      <p:grpSp>
        <p:nvGrpSpPr>
          <p:cNvPr id="5" name="Group 100"/>
          <p:cNvGrpSpPr>
            <a:grpSpLocks noChangeAspect="1"/>
          </p:cNvGrpSpPr>
          <p:nvPr/>
        </p:nvGrpSpPr>
        <p:grpSpPr>
          <a:xfrm>
            <a:off x="5628356" y="2573706"/>
            <a:ext cx="1755648" cy="932688"/>
            <a:chOff x="5791200" y="2438400"/>
            <a:chExt cx="2438400" cy="1295400"/>
          </a:xfrm>
        </p:grpSpPr>
        <p:grpSp>
          <p:nvGrpSpPr>
            <p:cNvPr id="6" name="Group 25"/>
            <p:cNvGrpSpPr/>
            <p:nvPr/>
          </p:nvGrpSpPr>
          <p:grpSpPr>
            <a:xfrm>
              <a:off x="7505221" y="2455343"/>
              <a:ext cx="724376" cy="479899"/>
              <a:chOff x="1676401" y="1295400"/>
              <a:chExt cx="676274" cy="427046"/>
            </a:xfrm>
          </p:grpSpPr>
          <p:pic>
            <p:nvPicPr>
              <p:cNvPr id="115" name="Picture 5" descr="E:\DVD_ART34\Logos\Microsoft Office 2007 - all products\Outlook 2007\Office Outlook 2007 Product Icon.png"/>
              <p:cNvPicPr>
                <a:picLocks noChangeAspect="1" noChangeArrowheads="1"/>
              </p:cNvPicPr>
              <p:nvPr/>
            </p:nvPicPr>
            <p:blipFill>
              <a:blip r:embed="rId25" cstate="print"/>
              <a:srcRect/>
              <a:stretch>
                <a:fillRect/>
              </a:stretch>
            </p:blipFill>
            <p:spPr bwMode="auto">
              <a:xfrm>
                <a:off x="1676401" y="1295400"/>
                <a:ext cx="457200" cy="427046"/>
              </a:xfrm>
              <a:prstGeom prst="rect">
                <a:avLst/>
              </a:prstGeom>
              <a:noFill/>
            </p:spPr>
          </p:pic>
          <p:pic>
            <p:nvPicPr>
              <p:cNvPr id="116" name="Picture 5" descr="E:\DVD_ART34\Artwork_Imagery\Icons - Illustrations\_WINDOWS VISTA ICONS\Green Check checkmark okay.png"/>
              <p:cNvPicPr>
                <a:picLocks noChangeAspect="1" noChangeArrowheads="1"/>
              </p:cNvPicPr>
              <p:nvPr/>
            </p:nvPicPr>
            <p:blipFill>
              <a:blip r:embed="rId26" cstate="print"/>
              <a:srcRect/>
              <a:stretch>
                <a:fillRect/>
              </a:stretch>
            </p:blipFill>
            <p:spPr bwMode="auto">
              <a:xfrm>
                <a:off x="1981200" y="1295400"/>
                <a:ext cx="371475" cy="367886"/>
              </a:xfrm>
              <a:prstGeom prst="rect">
                <a:avLst/>
              </a:prstGeom>
              <a:noFill/>
            </p:spPr>
          </p:pic>
        </p:grpSp>
        <p:grpSp>
          <p:nvGrpSpPr>
            <p:cNvPr id="7" name="Group 20"/>
            <p:cNvGrpSpPr/>
            <p:nvPr/>
          </p:nvGrpSpPr>
          <p:grpSpPr>
            <a:xfrm>
              <a:off x="5791200" y="2438400"/>
              <a:ext cx="724380" cy="513785"/>
              <a:chOff x="228600" y="1752600"/>
              <a:chExt cx="676275" cy="457200"/>
            </a:xfrm>
          </p:grpSpPr>
          <p:pic>
            <p:nvPicPr>
              <p:cNvPr id="113" name="Picture 4" descr="E:\DVD_ART34\Logos\Microsoft Office 2007 - all products\Word 2007\Office Word 2007 Product Icon.png"/>
              <p:cNvPicPr>
                <a:picLocks noChangeAspect="1" noChangeArrowheads="1"/>
              </p:cNvPicPr>
              <p:nvPr/>
            </p:nvPicPr>
            <p:blipFill>
              <a:blip r:embed="rId27" cstate="print"/>
              <a:srcRect/>
              <a:stretch>
                <a:fillRect/>
              </a:stretch>
            </p:blipFill>
            <p:spPr bwMode="auto">
              <a:xfrm>
                <a:off x="228600" y="1752600"/>
                <a:ext cx="459641" cy="457200"/>
              </a:xfrm>
              <a:prstGeom prst="rect">
                <a:avLst/>
              </a:prstGeom>
              <a:noFill/>
            </p:spPr>
          </p:pic>
          <p:pic>
            <p:nvPicPr>
              <p:cNvPr id="114" name="Picture 5" descr="E:\DVD_ART34\Artwork_Imagery\Icons - Illustrations\_WINDOWS VISTA ICONS\Green Check checkmark okay.png"/>
              <p:cNvPicPr>
                <a:picLocks noChangeAspect="1" noChangeArrowheads="1"/>
              </p:cNvPicPr>
              <p:nvPr/>
            </p:nvPicPr>
            <p:blipFill>
              <a:blip r:embed="rId26" cstate="print"/>
              <a:srcRect/>
              <a:stretch>
                <a:fillRect/>
              </a:stretch>
            </p:blipFill>
            <p:spPr bwMode="auto">
              <a:xfrm>
                <a:off x="533400" y="1752600"/>
                <a:ext cx="371475" cy="367886"/>
              </a:xfrm>
              <a:prstGeom prst="rect">
                <a:avLst/>
              </a:prstGeom>
              <a:noFill/>
            </p:spPr>
          </p:pic>
        </p:grpSp>
        <p:grpSp>
          <p:nvGrpSpPr>
            <p:cNvPr id="8" name="Group 21"/>
            <p:cNvGrpSpPr/>
            <p:nvPr/>
          </p:nvGrpSpPr>
          <p:grpSpPr>
            <a:xfrm>
              <a:off x="6689021" y="2438400"/>
              <a:ext cx="724379" cy="513785"/>
              <a:chOff x="228600" y="3429000"/>
              <a:chExt cx="676275" cy="457200"/>
            </a:xfrm>
          </p:grpSpPr>
          <p:pic>
            <p:nvPicPr>
              <p:cNvPr id="111" name="Picture 6" descr="Adobe%20Reader%208.png"/>
              <p:cNvPicPr>
                <a:picLocks noChangeAspect="1"/>
              </p:cNvPicPr>
              <p:nvPr/>
            </p:nvPicPr>
            <p:blipFill>
              <a:blip r:embed="rId28" cstate="print"/>
              <a:stretch>
                <a:fillRect/>
              </a:stretch>
            </p:blipFill>
            <p:spPr>
              <a:xfrm>
                <a:off x="228600" y="3429000"/>
                <a:ext cx="457200" cy="457200"/>
              </a:xfrm>
              <a:prstGeom prst="rect">
                <a:avLst/>
              </a:prstGeom>
            </p:spPr>
          </p:pic>
          <p:pic>
            <p:nvPicPr>
              <p:cNvPr id="112" name="Picture 5" descr="E:\DVD_ART34\Artwork_Imagery\Icons - Illustrations\_WINDOWS VISTA ICONS\Green Check checkmark okay.png"/>
              <p:cNvPicPr>
                <a:picLocks noChangeAspect="1" noChangeArrowheads="1"/>
              </p:cNvPicPr>
              <p:nvPr/>
            </p:nvPicPr>
            <p:blipFill>
              <a:blip r:embed="rId26" cstate="print"/>
              <a:srcRect/>
              <a:stretch>
                <a:fillRect/>
              </a:stretch>
            </p:blipFill>
            <p:spPr bwMode="auto">
              <a:xfrm>
                <a:off x="533400" y="3429000"/>
                <a:ext cx="371475" cy="367886"/>
              </a:xfrm>
              <a:prstGeom prst="rect">
                <a:avLst/>
              </a:prstGeom>
              <a:noFill/>
            </p:spPr>
          </p:pic>
        </p:grpSp>
        <p:grpSp>
          <p:nvGrpSpPr>
            <p:cNvPr id="9" name="Group 55"/>
            <p:cNvGrpSpPr/>
            <p:nvPr/>
          </p:nvGrpSpPr>
          <p:grpSpPr>
            <a:xfrm>
              <a:off x="7086600" y="3124200"/>
              <a:ext cx="803380" cy="609600"/>
              <a:chOff x="5867399" y="4495800"/>
              <a:chExt cx="803380" cy="609600"/>
            </a:xfrm>
          </p:grpSpPr>
          <p:pic>
            <p:nvPicPr>
              <p:cNvPr id="109" name="Picture 18" descr="E:\DVD_ART34\Artwork_Imagery\Icons - Illustrations\software boxes\software CD product package.png"/>
              <p:cNvPicPr>
                <a:picLocks noChangeAspect="1" noChangeArrowheads="1"/>
              </p:cNvPicPr>
              <p:nvPr/>
            </p:nvPicPr>
            <p:blipFill>
              <a:blip r:embed="rId29" cstate="print"/>
              <a:srcRect/>
              <a:stretch>
                <a:fillRect/>
              </a:stretch>
            </p:blipFill>
            <p:spPr bwMode="auto">
              <a:xfrm>
                <a:off x="5867399" y="4495800"/>
                <a:ext cx="664075" cy="609600"/>
              </a:xfrm>
              <a:prstGeom prst="rect">
                <a:avLst/>
              </a:prstGeom>
              <a:noFill/>
            </p:spPr>
          </p:pic>
          <p:pic>
            <p:nvPicPr>
              <p:cNvPr id="110" name="Picture 6" descr="E:\DVD_ART34\Artwork_Imagery\Icons - Illustrations\_WINDOWS VISTA ICONS\Delete remove.png"/>
              <p:cNvPicPr>
                <a:picLocks noChangeAspect="1" noChangeArrowheads="1"/>
              </p:cNvPicPr>
              <p:nvPr/>
            </p:nvPicPr>
            <p:blipFill>
              <a:blip r:embed="rId30" cstate="print"/>
              <a:srcRect/>
              <a:stretch>
                <a:fillRect/>
              </a:stretch>
            </p:blipFill>
            <p:spPr bwMode="auto">
              <a:xfrm>
                <a:off x="6248400" y="4572000"/>
                <a:ext cx="422379" cy="411730"/>
              </a:xfrm>
              <a:prstGeom prst="rect">
                <a:avLst/>
              </a:prstGeom>
              <a:noFill/>
            </p:spPr>
          </p:pic>
        </p:grpSp>
        <p:grpSp>
          <p:nvGrpSpPr>
            <p:cNvPr id="10" name="Group 54"/>
            <p:cNvGrpSpPr/>
            <p:nvPr/>
          </p:nvGrpSpPr>
          <p:grpSpPr>
            <a:xfrm>
              <a:off x="6172200" y="3124200"/>
              <a:ext cx="727179" cy="609600"/>
              <a:chOff x="4495800" y="4495800"/>
              <a:chExt cx="727179" cy="609600"/>
            </a:xfrm>
          </p:grpSpPr>
          <p:pic>
            <p:nvPicPr>
              <p:cNvPr id="107" name="Picture 106" descr="Solitaire.png"/>
              <p:cNvPicPr>
                <a:picLocks noChangeAspect="1"/>
              </p:cNvPicPr>
              <p:nvPr/>
            </p:nvPicPr>
            <p:blipFill>
              <a:blip r:embed="rId31" cstate="print"/>
              <a:stretch>
                <a:fillRect/>
              </a:stretch>
            </p:blipFill>
            <p:spPr>
              <a:xfrm>
                <a:off x="4495800" y="4495800"/>
                <a:ext cx="609600" cy="609600"/>
              </a:xfrm>
              <a:prstGeom prst="rect">
                <a:avLst/>
              </a:prstGeom>
            </p:spPr>
          </p:pic>
          <p:pic>
            <p:nvPicPr>
              <p:cNvPr id="108" name="Picture 6" descr="E:\DVD_ART34\Artwork_Imagery\Icons - Illustrations\_WINDOWS VISTA ICONS\Delete remove.png"/>
              <p:cNvPicPr>
                <a:picLocks noChangeAspect="1" noChangeArrowheads="1"/>
              </p:cNvPicPr>
              <p:nvPr/>
            </p:nvPicPr>
            <p:blipFill>
              <a:blip r:embed="rId30" cstate="print"/>
              <a:srcRect/>
              <a:stretch>
                <a:fillRect/>
              </a:stretch>
            </p:blipFill>
            <p:spPr bwMode="auto">
              <a:xfrm>
                <a:off x="4800600" y="4572000"/>
                <a:ext cx="422379" cy="411730"/>
              </a:xfrm>
              <a:prstGeom prst="rect">
                <a:avLst/>
              </a:prstGeom>
              <a:noFill/>
            </p:spPr>
          </p:pic>
        </p:grpSp>
      </p:grpSp>
    </p:spTree>
    <p:extLst>
      <p:ext uri="{BB962C8B-B14F-4D97-AF65-F5344CB8AC3E}">
        <p14:creationId xmlns:p14="http://schemas.microsoft.com/office/powerpoint/2010/main" val="2535727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Encryption</a:t>
            </a:r>
            <a:endParaRPr lang="en-US" dirty="0"/>
          </a:p>
        </p:txBody>
      </p:sp>
      <p:sp>
        <p:nvSpPr>
          <p:cNvPr id="31747" name="Content Placeholder 2"/>
          <p:cNvSpPr>
            <a:spLocks noGrp="1"/>
          </p:cNvSpPr>
          <p:nvPr>
            <p:ph idx="1"/>
          </p:nvPr>
        </p:nvSpPr>
        <p:spPr/>
        <p:txBody>
          <a:bodyPr/>
          <a:lstStyle/>
          <a:p>
            <a:r>
              <a:rPr lang="en-US" altLang="en-US"/>
              <a:t>Encryption is the process of converting data into a format that cannot be read by another user. </a:t>
            </a:r>
          </a:p>
          <a:p>
            <a:r>
              <a:rPr lang="en-US" altLang="en-US"/>
              <a:t>Once a user has encrypted a file, it automatically remains encrypted when the file is stored on disk. </a:t>
            </a:r>
          </a:p>
          <a:p>
            <a:r>
              <a:rPr lang="en-US" altLang="en-US"/>
              <a:t>Decryption is the process of converting data from encrypted format back to its original format.</a:t>
            </a:r>
          </a:p>
          <a:p>
            <a:r>
              <a:rPr lang="en-US" altLang="en-US"/>
              <a:t>A key, which can be thought of as a password, is applied mathematical to plain text to provide cipher or encrypted text. </a:t>
            </a:r>
          </a:p>
          <a:p>
            <a:endParaRPr lang="en-US" altLang="en-US" smtClean="0"/>
          </a:p>
        </p:txBody>
      </p:sp>
    </p:spTree>
    <p:extLst>
      <p:ext uri="{BB962C8B-B14F-4D97-AF65-F5344CB8AC3E}">
        <p14:creationId xmlns:p14="http://schemas.microsoft.com/office/powerpoint/2010/main" val="2250588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Cryptography System - Terminology</a:t>
            </a:r>
            <a:endParaRPr lang="en-SG" dirty="0"/>
          </a:p>
        </p:txBody>
      </p:sp>
      <p:sp>
        <p:nvSpPr>
          <p:cNvPr id="3" name="Content Placeholder 2"/>
          <p:cNvSpPr>
            <a:spLocks noGrp="1"/>
          </p:cNvSpPr>
          <p:nvPr>
            <p:ph sz="half" idx="1"/>
          </p:nvPr>
        </p:nvSpPr>
        <p:spPr/>
        <p:txBody>
          <a:bodyPr>
            <a:normAutofit lnSpcReduction="10000"/>
          </a:bodyPr>
          <a:lstStyle/>
          <a:p>
            <a:r>
              <a:rPr lang="en-SG" sz="2700" dirty="0"/>
              <a:t>Cryptography</a:t>
            </a:r>
          </a:p>
          <a:p>
            <a:r>
              <a:rPr lang="en-SG" sz="2700" dirty="0"/>
              <a:t>Plain text</a:t>
            </a:r>
          </a:p>
          <a:p>
            <a:r>
              <a:rPr lang="en-SG" sz="2700" dirty="0"/>
              <a:t>Cipher text</a:t>
            </a:r>
          </a:p>
          <a:p>
            <a:r>
              <a:rPr lang="en-SG" sz="2700" dirty="0"/>
              <a:t>Encryption</a:t>
            </a:r>
          </a:p>
          <a:p>
            <a:r>
              <a:rPr lang="en-SG" sz="2700" dirty="0"/>
              <a:t>Decryption</a:t>
            </a:r>
          </a:p>
          <a:p>
            <a:r>
              <a:rPr lang="en-SG" sz="2700" dirty="0"/>
              <a:t>Symmetric Cryptographic Algorithm</a:t>
            </a:r>
          </a:p>
          <a:p>
            <a:pPr marL="0" indent="0">
              <a:buNone/>
            </a:pPr>
            <a:endParaRPr lang="en-SG" sz="2700" dirty="0"/>
          </a:p>
        </p:txBody>
      </p:sp>
      <p:sp>
        <p:nvSpPr>
          <p:cNvPr id="5" name="Content Placeholder 4"/>
          <p:cNvSpPr>
            <a:spLocks noGrp="1"/>
          </p:cNvSpPr>
          <p:nvPr>
            <p:ph sz="half" idx="2"/>
          </p:nvPr>
        </p:nvSpPr>
        <p:spPr/>
        <p:txBody>
          <a:bodyPr>
            <a:normAutofit lnSpcReduction="10000"/>
          </a:bodyPr>
          <a:lstStyle/>
          <a:p>
            <a:r>
              <a:rPr lang="en-SG" sz="2700" dirty="0"/>
              <a:t>Asymmetric Keys</a:t>
            </a:r>
          </a:p>
          <a:p>
            <a:r>
              <a:rPr lang="en-SG" sz="2700" dirty="0"/>
              <a:t>Public Key (Asymmetric) encryption</a:t>
            </a:r>
          </a:p>
          <a:p>
            <a:r>
              <a:rPr lang="en-SG" sz="2700" dirty="0"/>
              <a:t>Public Key (Asymmetric) Cryptographic Algorithm</a:t>
            </a:r>
          </a:p>
          <a:p>
            <a:r>
              <a:rPr lang="en-SG" sz="2700" dirty="0"/>
              <a:t>Public Key Infrastructure (PKI)</a:t>
            </a:r>
          </a:p>
        </p:txBody>
      </p:sp>
      <p:sp>
        <p:nvSpPr>
          <p:cNvPr id="4" name="Slide Number Placeholder 3"/>
          <p:cNvSpPr>
            <a:spLocks noGrp="1"/>
          </p:cNvSpPr>
          <p:nvPr>
            <p:ph type="sldNum" sz="quarter" idx="12"/>
          </p:nvPr>
        </p:nvSpPr>
        <p:spPr/>
        <p:txBody>
          <a:bodyPr/>
          <a:lstStyle/>
          <a:p>
            <a:fld id="{0F8FC8C6-3D81-4A4F-BCA7-F338AC57D498}" type="slidenum">
              <a:rPr lang="en-US" smtClean="0">
                <a:solidFill>
                  <a:prstClr val="black">
                    <a:tint val="75000"/>
                  </a:prstClr>
                </a:solidFill>
              </a:rPr>
              <a:pPr/>
              <a:t>5</a:t>
            </a:fld>
            <a:endParaRPr lang="en-US" dirty="0">
              <a:solidFill>
                <a:prstClr val="black">
                  <a:tint val="75000"/>
                </a:prstClr>
              </a:solidFill>
            </a:endParaRPr>
          </a:p>
        </p:txBody>
      </p:sp>
    </p:spTree>
    <p:extLst>
      <p:ext uri="{BB962C8B-B14F-4D97-AF65-F5344CB8AC3E}">
        <p14:creationId xmlns:p14="http://schemas.microsoft.com/office/powerpoint/2010/main" val="1121829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Encrypting Files </a:t>
            </a:r>
            <a:r>
              <a:rPr lang="en-US" dirty="0" smtClean="0"/>
              <a:t/>
            </a:r>
            <a:br>
              <a:rPr lang="en-US" dirty="0" smtClean="0"/>
            </a:br>
            <a:r>
              <a:rPr lang="en-US" dirty="0" smtClean="0"/>
              <a:t>with </a:t>
            </a:r>
            <a:r>
              <a:rPr lang="en-US" dirty="0"/>
              <a:t>BitLocker</a:t>
            </a:r>
          </a:p>
        </p:txBody>
      </p:sp>
      <p:sp>
        <p:nvSpPr>
          <p:cNvPr id="3" name="Content Placeholder 2"/>
          <p:cNvSpPr>
            <a:spLocks noGrp="1"/>
          </p:cNvSpPr>
          <p:nvPr>
            <p:ph idx="1"/>
          </p:nvPr>
        </p:nvSpPr>
        <p:spPr/>
        <p:txBody>
          <a:bodyPr>
            <a:normAutofit/>
          </a:bodyPr>
          <a:lstStyle/>
          <a:p>
            <a:pPr marL="0" indent="0">
              <a:buNone/>
            </a:pPr>
            <a:r>
              <a:rPr lang="en-US" dirty="0"/>
              <a:t>When you use BitLocker on fixed and removable data drives that are not the OS volume, you can use one of </a:t>
            </a:r>
            <a:r>
              <a:rPr lang="en-US" dirty="0" smtClean="0"/>
              <a:t>these:</a:t>
            </a:r>
            <a:endParaRPr lang="en-US" dirty="0"/>
          </a:p>
          <a:p>
            <a:r>
              <a:rPr lang="en-US" dirty="0" smtClean="0"/>
              <a:t>Password</a:t>
            </a:r>
            <a:endParaRPr lang="en-US" dirty="0"/>
          </a:p>
          <a:p>
            <a:r>
              <a:rPr lang="en-US" dirty="0" smtClean="0"/>
              <a:t>Smart </a:t>
            </a:r>
            <a:r>
              <a:rPr lang="en-US" dirty="0"/>
              <a:t>card</a:t>
            </a:r>
          </a:p>
          <a:p>
            <a:r>
              <a:rPr lang="en-US" dirty="0" smtClean="0"/>
              <a:t>Automatic Unlock</a:t>
            </a:r>
            <a:endParaRPr lang="en-US" dirty="0"/>
          </a:p>
        </p:txBody>
      </p:sp>
      <p:sp>
        <p:nvSpPr>
          <p:cNvPr id="4" name="Footer Placeholder 3"/>
          <p:cNvSpPr>
            <a:spLocks noGrp="1"/>
          </p:cNvSpPr>
          <p:nvPr>
            <p:ph type="ftr" sz="quarter" idx="11"/>
          </p:nvPr>
        </p:nvSpPr>
        <p:spPr/>
        <p:txBody>
          <a:bodyPr/>
          <a:lstStyle/>
          <a:p>
            <a:r>
              <a:rPr lang="en-US" dirty="0" smtClean="0"/>
              <a:t>© 2013 John Wiley &amp; Sons, Inc.</a:t>
            </a:r>
            <a:endParaRPr lang="en-US" dirty="0"/>
          </a:p>
        </p:txBody>
      </p:sp>
      <p:sp>
        <p:nvSpPr>
          <p:cNvPr id="5" name="Slide Number Placeholder 4"/>
          <p:cNvSpPr>
            <a:spLocks noGrp="1"/>
          </p:cNvSpPr>
          <p:nvPr>
            <p:ph type="sldNum" sz="quarter" idx="12"/>
          </p:nvPr>
        </p:nvSpPr>
        <p:spPr/>
        <p:txBody>
          <a:bodyPr/>
          <a:lstStyle/>
          <a:p>
            <a:fld id="{0FFCD9FE-85A8-4732-8641-B4CD942B9CFA}" type="slidenum">
              <a:rPr lang="en-US" smtClean="0"/>
              <a:pPr/>
              <a:t>6</a:t>
            </a:fld>
            <a:endParaRPr lang="en-US" dirty="0"/>
          </a:p>
        </p:txBody>
      </p:sp>
    </p:spTree>
    <p:extLst>
      <p:ext uri="{BB962C8B-B14F-4D97-AF65-F5344CB8AC3E}">
        <p14:creationId xmlns:p14="http://schemas.microsoft.com/office/powerpoint/2010/main" val="2272351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BitLocker Encryption</a:t>
            </a:r>
          </a:p>
        </p:txBody>
      </p:sp>
      <p:sp>
        <p:nvSpPr>
          <p:cNvPr id="3" name="Content Placeholder 2"/>
          <p:cNvSpPr>
            <a:spLocks noGrp="1"/>
          </p:cNvSpPr>
          <p:nvPr>
            <p:ph idx="1"/>
          </p:nvPr>
        </p:nvSpPr>
        <p:spPr/>
        <p:txBody>
          <a:bodyPr/>
          <a:lstStyle/>
          <a:p>
            <a:pPr lvl="0"/>
            <a:r>
              <a:rPr lang="en-US" dirty="0" smtClean="0"/>
              <a:t>Before </a:t>
            </a:r>
            <a:r>
              <a:rPr lang="en-US" dirty="0"/>
              <a:t>you can use BitLocker on a server running Windows Server 2012, you must first install </a:t>
            </a:r>
            <a:r>
              <a:rPr lang="en-US" dirty="0" err="1" smtClean="0"/>
              <a:t>BitLocker</a:t>
            </a:r>
            <a:r>
              <a:rPr lang="en-US" dirty="0" smtClean="0"/>
              <a:t> </a:t>
            </a:r>
            <a:r>
              <a:rPr lang="en-US" dirty="0"/>
              <a:t>using Server </a:t>
            </a:r>
            <a:r>
              <a:rPr lang="en-US" dirty="0" smtClean="0"/>
              <a:t>Manager.</a:t>
            </a:r>
          </a:p>
          <a:p>
            <a:pPr lvl="0"/>
            <a:r>
              <a:rPr lang="en-US" dirty="0" smtClean="0"/>
              <a:t>You </a:t>
            </a:r>
            <a:r>
              <a:rPr lang="en-US" dirty="0"/>
              <a:t>can then determine whether you have TPM and turn on BitLocker.</a:t>
            </a:r>
          </a:p>
        </p:txBody>
      </p:sp>
      <p:sp>
        <p:nvSpPr>
          <p:cNvPr id="4" name="Footer Placeholder 3"/>
          <p:cNvSpPr>
            <a:spLocks noGrp="1"/>
          </p:cNvSpPr>
          <p:nvPr>
            <p:ph type="ftr" sz="quarter" idx="11"/>
          </p:nvPr>
        </p:nvSpPr>
        <p:spPr/>
        <p:txBody>
          <a:bodyPr/>
          <a:lstStyle/>
          <a:p>
            <a:r>
              <a:rPr lang="en-US" dirty="0" smtClean="0"/>
              <a:t>© 2013 John Wiley &amp; Sons, Inc.</a:t>
            </a:r>
            <a:endParaRPr lang="en-US" dirty="0"/>
          </a:p>
        </p:txBody>
      </p:sp>
      <p:sp>
        <p:nvSpPr>
          <p:cNvPr id="5" name="Slide Number Placeholder 4"/>
          <p:cNvSpPr>
            <a:spLocks noGrp="1"/>
          </p:cNvSpPr>
          <p:nvPr>
            <p:ph type="sldNum" sz="quarter" idx="12"/>
          </p:nvPr>
        </p:nvSpPr>
        <p:spPr/>
        <p:txBody>
          <a:bodyPr/>
          <a:lstStyle/>
          <a:p>
            <a:fld id="{0FFCD9FE-85A8-4732-8641-B4CD942B9CFA}" type="slidenum">
              <a:rPr lang="en-US" smtClean="0"/>
              <a:pPr/>
              <a:t>7</a:t>
            </a:fld>
            <a:endParaRPr lang="en-US" dirty="0"/>
          </a:p>
        </p:txBody>
      </p:sp>
    </p:spTree>
    <p:extLst>
      <p:ext uri="{BB962C8B-B14F-4D97-AF65-F5344CB8AC3E}">
        <p14:creationId xmlns:p14="http://schemas.microsoft.com/office/powerpoint/2010/main" val="739871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47027" y="4520191"/>
            <a:ext cx="5092906" cy="1574808"/>
          </a:xfrm>
        </p:spPr>
        <p:txBody>
          <a:bodyPr/>
          <a:lstStyle/>
          <a:p>
            <a:r>
              <a:rPr lang="en-US" dirty="0"/>
              <a:t>Install BitLocker</a:t>
            </a:r>
          </a:p>
        </p:txBody>
      </p:sp>
      <p:sp>
        <p:nvSpPr>
          <p:cNvPr id="8" name="Text Placeholder 7"/>
          <p:cNvSpPr>
            <a:spLocks noGrp="1"/>
          </p:cNvSpPr>
          <p:nvPr>
            <p:ph type="body" sz="half" idx="2"/>
          </p:nvPr>
        </p:nvSpPr>
        <p:spPr>
          <a:xfrm>
            <a:off x="6239933" y="4758987"/>
            <a:ext cx="5084979" cy="1371600"/>
          </a:xfrm>
        </p:spPr>
        <p:txBody>
          <a:bodyPr/>
          <a:lstStyle/>
          <a:p>
            <a:r>
              <a:rPr lang="en-US" dirty="0"/>
              <a:t>Using the Select Features page</a:t>
            </a:r>
          </a:p>
        </p:txBody>
      </p:sp>
      <p:sp>
        <p:nvSpPr>
          <p:cNvPr id="4" name="Footer Placeholder 3"/>
          <p:cNvSpPr>
            <a:spLocks noGrp="1"/>
          </p:cNvSpPr>
          <p:nvPr>
            <p:ph type="ftr" sz="quarter" idx="11"/>
          </p:nvPr>
        </p:nvSpPr>
        <p:spPr/>
        <p:txBody>
          <a:bodyPr/>
          <a:lstStyle/>
          <a:p>
            <a:r>
              <a:rPr lang="en-US" dirty="0" smtClean="0"/>
              <a:t>© 2013 John Wiley &amp; Sons, Inc.</a:t>
            </a:r>
            <a:endParaRPr lang="en-US" dirty="0"/>
          </a:p>
        </p:txBody>
      </p:sp>
      <p:sp>
        <p:nvSpPr>
          <p:cNvPr id="5" name="Slide Number Placeholder 4"/>
          <p:cNvSpPr>
            <a:spLocks noGrp="1"/>
          </p:cNvSpPr>
          <p:nvPr>
            <p:ph type="sldNum" sz="quarter" idx="12"/>
          </p:nvPr>
        </p:nvSpPr>
        <p:spPr/>
        <p:txBody>
          <a:bodyPr/>
          <a:lstStyle/>
          <a:p>
            <a:fld id="{0FFCD9FE-85A8-4732-8641-B4CD942B9CFA}" type="slidenum">
              <a:rPr lang="en-US" smtClean="0"/>
              <a:pPr/>
              <a:t>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93" y="679572"/>
            <a:ext cx="6795618" cy="4814987"/>
          </a:xfrm>
          <a:prstGeom prst="rect">
            <a:avLst/>
          </a:prstGeom>
        </p:spPr>
      </p:pic>
    </p:spTree>
    <p:extLst>
      <p:ext uri="{BB962C8B-B14F-4D97-AF65-F5344CB8AC3E}">
        <p14:creationId xmlns:p14="http://schemas.microsoft.com/office/powerpoint/2010/main" val="186414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b="1" dirty="0"/>
              <a:t>Encryption and Decryption</a:t>
            </a:r>
          </a:p>
        </p:txBody>
      </p:sp>
      <p:sp>
        <p:nvSpPr>
          <p:cNvPr id="76803" name="Rectangle 3"/>
          <p:cNvSpPr>
            <a:spLocks noGrp="1" noChangeArrowheads="1"/>
          </p:cNvSpPr>
          <p:nvPr>
            <p:ph idx="1"/>
          </p:nvPr>
        </p:nvSpPr>
        <p:spPr/>
        <p:txBody>
          <a:bodyPr/>
          <a:lstStyle/>
          <a:p>
            <a:r>
              <a:rPr lang="en-US" dirty="0"/>
              <a:t>Encryption</a:t>
            </a:r>
          </a:p>
          <a:p>
            <a:pPr lvl="1"/>
            <a:r>
              <a:rPr lang="en-US" b="0" dirty="0"/>
              <a:t>Conversion of </a:t>
            </a:r>
            <a:r>
              <a:rPr lang="en-US" b="0" u="sng" dirty="0"/>
              <a:t>Plain Text to Cipher Text</a:t>
            </a:r>
          </a:p>
          <a:p>
            <a:endParaRPr lang="en-US" dirty="0" smtClean="0"/>
          </a:p>
          <a:p>
            <a:endParaRPr lang="en-US" dirty="0"/>
          </a:p>
          <a:p>
            <a:pPr marL="0" indent="0">
              <a:buNone/>
            </a:pPr>
            <a:endParaRPr lang="en-US" dirty="0"/>
          </a:p>
          <a:p>
            <a:r>
              <a:rPr lang="en-US" dirty="0" smtClean="0"/>
              <a:t>Decryption</a:t>
            </a:r>
            <a:endParaRPr lang="en-US" dirty="0"/>
          </a:p>
          <a:p>
            <a:pPr lvl="1"/>
            <a:r>
              <a:rPr lang="en-US" b="0" dirty="0"/>
              <a:t>Conversion of </a:t>
            </a:r>
            <a:r>
              <a:rPr lang="en-US" b="0" u="sng" dirty="0"/>
              <a:t>Cipher Text to Plain Text</a:t>
            </a:r>
          </a:p>
          <a:p>
            <a:pPr>
              <a:buNone/>
            </a:pPr>
            <a:endParaRPr lang="en-GB" dirty="0"/>
          </a:p>
          <a:p>
            <a:pPr lvl="1">
              <a:buNone/>
            </a:pPr>
            <a:endParaRPr lang="en-US" dirty="0"/>
          </a:p>
          <a:p>
            <a:pPr lvl="1"/>
            <a:endParaRPr lang="en-US" dirty="0"/>
          </a:p>
        </p:txBody>
      </p:sp>
      <p:sp>
        <p:nvSpPr>
          <p:cNvPr id="15" name="Slide Number Placeholder 3"/>
          <p:cNvSpPr>
            <a:spLocks noGrp="1"/>
          </p:cNvSpPr>
          <p:nvPr>
            <p:ph type="sldNum" sz="quarter" idx="12"/>
          </p:nvPr>
        </p:nvSpPr>
        <p:spPr/>
        <p:txBody>
          <a:bodyPr/>
          <a:lstStyle/>
          <a:p>
            <a:fld id="{0F8FC8C6-3D81-4A4F-BCA7-F338AC57D498}" type="slidenum">
              <a:rPr lang="en-US" smtClean="0"/>
              <a:pPr/>
              <a:t>9</a:t>
            </a:fld>
            <a:endParaRPr lang="en-US" dirty="0"/>
          </a:p>
        </p:txBody>
      </p:sp>
      <p:grpSp>
        <p:nvGrpSpPr>
          <p:cNvPr id="3" name="Group 2"/>
          <p:cNvGrpSpPr/>
          <p:nvPr/>
        </p:nvGrpSpPr>
        <p:grpSpPr>
          <a:xfrm>
            <a:off x="3176282" y="3025152"/>
            <a:ext cx="4800600" cy="1005680"/>
            <a:chOff x="1066800" y="2926294"/>
            <a:chExt cx="6400800" cy="1340906"/>
          </a:xfrm>
        </p:grpSpPr>
        <p:sp>
          <p:nvSpPr>
            <p:cNvPr id="5" name="Rectangle 7"/>
            <p:cNvSpPr>
              <a:spLocks noChangeArrowheads="1"/>
            </p:cNvSpPr>
            <p:nvPr/>
          </p:nvSpPr>
          <p:spPr bwMode="auto">
            <a:xfrm>
              <a:off x="1066800" y="2926294"/>
              <a:ext cx="6400800" cy="1340906"/>
            </a:xfrm>
            <a:prstGeom prst="rect">
              <a:avLst/>
            </a:prstGeom>
            <a:solidFill>
              <a:schemeClr val="bg1"/>
            </a:solidFill>
            <a:ln w="9525">
              <a:solidFill>
                <a:srgbClr val="000000"/>
              </a:solidFill>
              <a:miter lim="800000"/>
              <a:headEnd/>
              <a:tailEnd/>
            </a:ln>
          </p:spPr>
          <p:txBody>
            <a:bodyPr/>
            <a:lstStyle/>
            <a:p>
              <a:endParaRPr lang="en-GB" sz="3000" dirty="0">
                <a:latin typeface="Calibri" panose="020F0502020204030204" pitchFamily="34" charset="0"/>
              </a:endParaRPr>
            </a:p>
          </p:txBody>
        </p:sp>
        <p:sp>
          <p:nvSpPr>
            <p:cNvPr id="6" name="Text Box 8"/>
            <p:cNvSpPr txBox="1">
              <a:spLocks noChangeArrowheads="1"/>
            </p:cNvSpPr>
            <p:nvPr/>
          </p:nvSpPr>
          <p:spPr bwMode="auto">
            <a:xfrm>
              <a:off x="1479578" y="3292503"/>
              <a:ext cx="1302117" cy="396017"/>
            </a:xfrm>
            <a:prstGeom prst="rect">
              <a:avLst/>
            </a:prstGeom>
            <a:solidFill>
              <a:srgbClr val="FFFFFF"/>
            </a:solidFill>
            <a:ln w="9525">
              <a:solidFill>
                <a:srgbClr val="000000"/>
              </a:solidFill>
              <a:miter lim="800000"/>
              <a:headEnd/>
              <a:tailEnd/>
            </a:ln>
          </p:spPr>
          <p:txBody>
            <a:bodyPr/>
            <a:lstStyle/>
            <a:p>
              <a:pPr eaLnBrk="0" hangingPunct="0"/>
              <a:r>
                <a:rPr lang="en-US" sz="1350" b="1" dirty="0">
                  <a:solidFill>
                    <a:srgbClr val="FF0000"/>
                  </a:solidFill>
                  <a:latin typeface="Calibri" panose="020F0502020204030204" pitchFamily="34" charset="0"/>
                </a:rPr>
                <a:t>Hello John</a:t>
              </a:r>
            </a:p>
          </p:txBody>
        </p:sp>
        <p:sp>
          <p:nvSpPr>
            <p:cNvPr id="7" name="Line 9"/>
            <p:cNvSpPr>
              <a:spLocks noChangeShapeType="1"/>
            </p:cNvSpPr>
            <p:nvPr/>
          </p:nvSpPr>
          <p:spPr bwMode="auto">
            <a:xfrm>
              <a:off x="2788920" y="3490512"/>
              <a:ext cx="1107214" cy="0"/>
            </a:xfrm>
            <a:prstGeom prst="line">
              <a:avLst/>
            </a:prstGeom>
            <a:noFill/>
            <a:ln w="9525">
              <a:solidFill>
                <a:srgbClr val="000000"/>
              </a:solidFill>
              <a:round/>
              <a:headEnd/>
              <a:tailEnd type="triangle" w="med" len="med"/>
            </a:ln>
          </p:spPr>
          <p:txBody>
            <a:bodyPr/>
            <a:lstStyle/>
            <a:p>
              <a:endParaRPr lang="en-GB" sz="3000" dirty="0">
                <a:latin typeface="Calibri" panose="020F0502020204030204" pitchFamily="34" charset="0"/>
              </a:endParaRPr>
            </a:p>
          </p:txBody>
        </p:sp>
        <p:sp>
          <p:nvSpPr>
            <p:cNvPr id="8" name="Line 10"/>
            <p:cNvSpPr>
              <a:spLocks noChangeShapeType="1"/>
            </p:cNvSpPr>
            <p:nvPr/>
          </p:nvSpPr>
          <p:spPr bwMode="auto">
            <a:xfrm flipV="1">
              <a:off x="4383814" y="3490512"/>
              <a:ext cx="1213781" cy="0"/>
            </a:xfrm>
            <a:prstGeom prst="line">
              <a:avLst/>
            </a:prstGeom>
            <a:noFill/>
            <a:ln w="9525">
              <a:solidFill>
                <a:srgbClr val="000000"/>
              </a:solidFill>
              <a:round/>
              <a:headEnd/>
              <a:tailEnd type="triangle" w="med" len="med"/>
            </a:ln>
          </p:spPr>
          <p:txBody>
            <a:bodyPr/>
            <a:lstStyle/>
            <a:p>
              <a:endParaRPr lang="en-GB" sz="3000" dirty="0">
                <a:latin typeface="Calibri" panose="020F0502020204030204" pitchFamily="34" charset="0"/>
              </a:endParaRPr>
            </a:p>
          </p:txBody>
        </p:sp>
        <p:sp>
          <p:nvSpPr>
            <p:cNvPr id="9" name="Text Box 11"/>
            <p:cNvSpPr txBox="1">
              <a:spLocks noChangeArrowheads="1"/>
            </p:cNvSpPr>
            <p:nvPr/>
          </p:nvSpPr>
          <p:spPr bwMode="auto">
            <a:xfrm>
              <a:off x="5607926" y="3277311"/>
              <a:ext cx="1625600" cy="411210"/>
            </a:xfrm>
            <a:prstGeom prst="rect">
              <a:avLst/>
            </a:prstGeom>
            <a:solidFill>
              <a:srgbClr val="FFFFFF"/>
            </a:solidFill>
            <a:ln w="9525">
              <a:solidFill>
                <a:srgbClr val="000000"/>
              </a:solidFill>
              <a:miter lim="800000"/>
              <a:headEnd/>
              <a:tailEnd/>
            </a:ln>
          </p:spPr>
          <p:txBody>
            <a:bodyPr/>
            <a:lstStyle/>
            <a:p>
              <a:pPr algn="ctr" eaLnBrk="0" hangingPunct="0"/>
              <a:r>
                <a:rPr lang="en-US" sz="1350" b="1" dirty="0">
                  <a:solidFill>
                    <a:srgbClr val="FF0000"/>
                  </a:solidFill>
                  <a:latin typeface="Calibri" panose="020F0502020204030204" pitchFamily="34" charset="0"/>
                </a:rPr>
                <a:t>Ifmmp Kpio</a:t>
              </a:r>
            </a:p>
          </p:txBody>
        </p:sp>
        <p:sp>
          <p:nvSpPr>
            <p:cNvPr id="10" name="Oval 12"/>
            <p:cNvSpPr>
              <a:spLocks noChangeArrowheads="1"/>
            </p:cNvSpPr>
            <p:nvPr/>
          </p:nvSpPr>
          <p:spPr bwMode="auto">
            <a:xfrm>
              <a:off x="3896134" y="3317444"/>
              <a:ext cx="487680" cy="408109"/>
            </a:xfrm>
            <a:prstGeom prst="ellipse">
              <a:avLst/>
            </a:prstGeom>
            <a:solidFill>
              <a:srgbClr val="FFFFFF"/>
            </a:solidFill>
            <a:ln w="9525">
              <a:solidFill>
                <a:srgbClr val="000000"/>
              </a:solidFill>
              <a:round/>
              <a:headEnd/>
              <a:tailEnd/>
            </a:ln>
          </p:spPr>
          <p:txBody>
            <a:bodyPr/>
            <a:lstStyle/>
            <a:p>
              <a:endParaRPr lang="en-GB" sz="3000" dirty="0">
                <a:latin typeface="Calibri" panose="020F0502020204030204" pitchFamily="34" charset="0"/>
              </a:endParaRPr>
            </a:p>
          </p:txBody>
        </p:sp>
        <p:sp>
          <p:nvSpPr>
            <p:cNvPr id="11" name="Text Box 13"/>
            <p:cNvSpPr txBox="1">
              <a:spLocks noChangeArrowheads="1"/>
            </p:cNvSpPr>
            <p:nvPr/>
          </p:nvSpPr>
          <p:spPr bwMode="auto">
            <a:xfrm>
              <a:off x="3733574" y="3860833"/>
              <a:ext cx="1137920" cy="272072"/>
            </a:xfrm>
            <a:prstGeom prst="rect">
              <a:avLst/>
            </a:prstGeom>
            <a:noFill/>
            <a:ln w="9525">
              <a:noFill/>
              <a:miter lim="800000"/>
              <a:headEnd/>
              <a:tailEnd/>
            </a:ln>
          </p:spPr>
          <p:txBody>
            <a:bodyPr/>
            <a:lstStyle/>
            <a:p>
              <a:pPr eaLnBrk="0" hangingPunct="0"/>
              <a:r>
                <a:rPr lang="en-US" sz="1350" b="1" dirty="0">
                  <a:latin typeface="Calibri" panose="020F0502020204030204" pitchFamily="34" charset="0"/>
                </a:rPr>
                <a:t>Encrypt</a:t>
              </a:r>
            </a:p>
          </p:txBody>
        </p:sp>
        <p:sp>
          <p:nvSpPr>
            <p:cNvPr id="12" name="Text Box 14"/>
            <p:cNvSpPr txBox="1">
              <a:spLocks noChangeArrowheads="1"/>
            </p:cNvSpPr>
            <p:nvPr/>
          </p:nvSpPr>
          <p:spPr bwMode="auto">
            <a:xfrm>
              <a:off x="1665450" y="3860833"/>
              <a:ext cx="1137920" cy="272072"/>
            </a:xfrm>
            <a:prstGeom prst="rect">
              <a:avLst/>
            </a:prstGeom>
            <a:noFill/>
            <a:ln w="9525">
              <a:noFill/>
              <a:miter lim="800000"/>
              <a:headEnd/>
              <a:tailEnd/>
            </a:ln>
          </p:spPr>
          <p:txBody>
            <a:bodyPr/>
            <a:lstStyle/>
            <a:p>
              <a:pPr eaLnBrk="0" hangingPunct="0"/>
              <a:r>
                <a:rPr lang="en-US" sz="1350" b="1" dirty="0">
                  <a:latin typeface="Calibri" panose="020F0502020204030204" pitchFamily="34" charset="0"/>
                </a:rPr>
                <a:t>Plain text</a:t>
              </a:r>
            </a:p>
          </p:txBody>
        </p:sp>
        <p:sp>
          <p:nvSpPr>
            <p:cNvPr id="13" name="Text Box 15"/>
            <p:cNvSpPr txBox="1">
              <a:spLocks noChangeArrowheads="1"/>
            </p:cNvSpPr>
            <p:nvPr/>
          </p:nvSpPr>
          <p:spPr bwMode="auto">
            <a:xfrm>
              <a:off x="5934456" y="3860833"/>
              <a:ext cx="1243584" cy="272072"/>
            </a:xfrm>
            <a:prstGeom prst="rect">
              <a:avLst/>
            </a:prstGeom>
            <a:noFill/>
            <a:ln w="9525">
              <a:noFill/>
              <a:miter lim="800000"/>
              <a:headEnd/>
              <a:tailEnd/>
            </a:ln>
          </p:spPr>
          <p:txBody>
            <a:bodyPr/>
            <a:lstStyle/>
            <a:p>
              <a:pPr eaLnBrk="0" hangingPunct="0"/>
              <a:r>
                <a:rPr lang="en-US" sz="1350" b="1" dirty="0">
                  <a:latin typeface="Calibri" panose="020F0502020204030204" pitchFamily="34" charset="0"/>
                </a:rPr>
                <a:t>Cipher text</a:t>
              </a:r>
            </a:p>
          </p:txBody>
        </p:sp>
        <p:pic>
          <p:nvPicPr>
            <p:cNvPr id="2" name="Picture 1"/>
            <p:cNvPicPr>
              <a:picLocks noChangeAspect="1"/>
            </p:cNvPicPr>
            <p:nvPr/>
          </p:nvPicPr>
          <p:blipFill>
            <a:blip r:embed="rId3"/>
            <a:stretch>
              <a:fillRect/>
            </a:stretch>
          </p:blipFill>
          <p:spPr>
            <a:xfrm>
              <a:off x="3764385" y="2947124"/>
              <a:ext cx="727552" cy="387803"/>
            </a:xfrm>
            <a:prstGeom prst="rect">
              <a:avLst/>
            </a:prstGeom>
          </p:spPr>
        </p:pic>
      </p:grpSp>
      <p:grpSp>
        <p:nvGrpSpPr>
          <p:cNvPr id="18" name="Group 17"/>
          <p:cNvGrpSpPr/>
          <p:nvPr/>
        </p:nvGrpSpPr>
        <p:grpSpPr>
          <a:xfrm>
            <a:off x="3176282" y="5031137"/>
            <a:ext cx="4800600" cy="1005680"/>
            <a:chOff x="1066800" y="2926294"/>
            <a:chExt cx="6400800" cy="1340906"/>
          </a:xfrm>
        </p:grpSpPr>
        <p:sp>
          <p:nvSpPr>
            <p:cNvPr id="19" name="Rectangle 7"/>
            <p:cNvSpPr>
              <a:spLocks noChangeArrowheads="1"/>
            </p:cNvSpPr>
            <p:nvPr/>
          </p:nvSpPr>
          <p:spPr bwMode="auto">
            <a:xfrm>
              <a:off x="1066800" y="2926294"/>
              <a:ext cx="6400800" cy="1340906"/>
            </a:xfrm>
            <a:prstGeom prst="rect">
              <a:avLst/>
            </a:prstGeom>
            <a:solidFill>
              <a:srgbClr val="FFFFFF"/>
            </a:solidFill>
            <a:ln w="9525">
              <a:solidFill>
                <a:srgbClr val="000000"/>
              </a:solidFill>
              <a:miter lim="800000"/>
              <a:headEnd/>
              <a:tailEnd/>
            </a:ln>
          </p:spPr>
          <p:txBody>
            <a:bodyPr/>
            <a:lstStyle/>
            <a:p>
              <a:endParaRPr lang="en-GB" sz="3000" dirty="0">
                <a:latin typeface="Calibri" panose="020F0502020204030204" pitchFamily="34" charset="0"/>
              </a:endParaRPr>
            </a:p>
          </p:txBody>
        </p:sp>
        <p:sp>
          <p:nvSpPr>
            <p:cNvPr id="20" name="Text Box 8"/>
            <p:cNvSpPr txBox="1">
              <a:spLocks noChangeArrowheads="1"/>
            </p:cNvSpPr>
            <p:nvPr/>
          </p:nvSpPr>
          <p:spPr bwMode="auto">
            <a:xfrm>
              <a:off x="1462309" y="3382490"/>
              <a:ext cx="1323505" cy="360041"/>
            </a:xfrm>
            <a:prstGeom prst="rect">
              <a:avLst/>
            </a:prstGeom>
            <a:solidFill>
              <a:srgbClr val="FFFFFF"/>
            </a:solidFill>
            <a:ln w="9525">
              <a:solidFill>
                <a:srgbClr val="000000"/>
              </a:solidFill>
              <a:miter lim="800000"/>
              <a:headEnd/>
              <a:tailEnd/>
            </a:ln>
          </p:spPr>
          <p:txBody>
            <a:bodyPr/>
            <a:lstStyle/>
            <a:p>
              <a:r>
                <a:rPr lang="en-US" sz="1350" dirty="0" err="1">
                  <a:solidFill>
                    <a:srgbClr val="FF0000"/>
                  </a:solidFill>
                  <a:latin typeface="Calibri" panose="020F0502020204030204" pitchFamily="34" charset="0"/>
                </a:rPr>
                <a:t>Ifmmp</a:t>
              </a:r>
              <a:r>
                <a:rPr lang="en-US" sz="1350" dirty="0">
                  <a:solidFill>
                    <a:srgbClr val="FF0000"/>
                  </a:solidFill>
                  <a:latin typeface="Calibri" panose="020F0502020204030204" pitchFamily="34" charset="0"/>
                </a:rPr>
                <a:t> </a:t>
              </a:r>
              <a:r>
                <a:rPr lang="en-US" sz="1350" dirty="0" err="1">
                  <a:solidFill>
                    <a:srgbClr val="FF0000"/>
                  </a:solidFill>
                  <a:latin typeface="Calibri" panose="020F0502020204030204" pitchFamily="34" charset="0"/>
                </a:rPr>
                <a:t>Kpio</a:t>
              </a:r>
              <a:endParaRPr lang="en-US" sz="1350" dirty="0">
                <a:solidFill>
                  <a:srgbClr val="FF0000"/>
                </a:solidFill>
                <a:latin typeface="Calibri" panose="020F0502020204030204" pitchFamily="34" charset="0"/>
              </a:endParaRPr>
            </a:p>
          </p:txBody>
        </p:sp>
        <p:sp>
          <p:nvSpPr>
            <p:cNvPr id="21" name="Line 9"/>
            <p:cNvSpPr>
              <a:spLocks noChangeShapeType="1"/>
            </p:cNvSpPr>
            <p:nvPr/>
          </p:nvSpPr>
          <p:spPr bwMode="auto">
            <a:xfrm>
              <a:off x="2788920" y="3490512"/>
              <a:ext cx="1107214" cy="0"/>
            </a:xfrm>
            <a:prstGeom prst="line">
              <a:avLst/>
            </a:prstGeom>
            <a:noFill/>
            <a:ln w="9525">
              <a:solidFill>
                <a:srgbClr val="000000"/>
              </a:solidFill>
              <a:round/>
              <a:headEnd/>
              <a:tailEnd type="triangle" w="med" len="med"/>
            </a:ln>
          </p:spPr>
          <p:txBody>
            <a:bodyPr/>
            <a:lstStyle/>
            <a:p>
              <a:endParaRPr lang="en-GB" sz="3000" dirty="0">
                <a:latin typeface="Calibri" panose="020F0502020204030204" pitchFamily="34" charset="0"/>
              </a:endParaRPr>
            </a:p>
          </p:txBody>
        </p:sp>
        <p:sp>
          <p:nvSpPr>
            <p:cNvPr id="22" name="Line 10"/>
            <p:cNvSpPr>
              <a:spLocks noChangeShapeType="1"/>
            </p:cNvSpPr>
            <p:nvPr/>
          </p:nvSpPr>
          <p:spPr bwMode="auto">
            <a:xfrm flipV="1">
              <a:off x="4383814" y="3490512"/>
              <a:ext cx="1213781" cy="0"/>
            </a:xfrm>
            <a:prstGeom prst="line">
              <a:avLst/>
            </a:prstGeom>
            <a:noFill/>
            <a:ln w="9525">
              <a:solidFill>
                <a:srgbClr val="000000"/>
              </a:solidFill>
              <a:round/>
              <a:headEnd/>
              <a:tailEnd type="triangle" w="med" len="med"/>
            </a:ln>
          </p:spPr>
          <p:txBody>
            <a:bodyPr/>
            <a:lstStyle/>
            <a:p>
              <a:endParaRPr lang="en-GB" sz="3000" dirty="0">
                <a:latin typeface="Calibri" panose="020F0502020204030204" pitchFamily="34" charset="0"/>
              </a:endParaRPr>
            </a:p>
          </p:txBody>
        </p:sp>
        <p:sp>
          <p:nvSpPr>
            <p:cNvPr id="23" name="Text Box 11"/>
            <p:cNvSpPr txBox="1">
              <a:spLocks noChangeArrowheads="1"/>
            </p:cNvSpPr>
            <p:nvPr/>
          </p:nvSpPr>
          <p:spPr bwMode="auto">
            <a:xfrm>
              <a:off x="5612045" y="3317444"/>
              <a:ext cx="1625600" cy="408110"/>
            </a:xfrm>
            <a:prstGeom prst="rect">
              <a:avLst/>
            </a:prstGeom>
            <a:solidFill>
              <a:srgbClr val="FFFFFF"/>
            </a:solidFill>
            <a:ln w="9525">
              <a:solidFill>
                <a:srgbClr val="000000"/>
              </a:solidFill>
              <a:miter lim="800000"/>
              <a:headEnd/>
              <a:tailEnd/>
            </a:ln>
          </p:spPr>
          <p:txBody>
            <a:bodyPr/>
            <a:lstStyle/>
            <a:p>
              <a:r>
                <a:rPr lang="en-US" sz="1350" dirty="0">
                  <a:solidFill>
                    <a:srgbClr val="FF0000"/>
                  </a:solidFill>
                  <a:latin typeface="Calibri" panose="020F0502020204030204" pitchFamily="34" charset="0"/>
                </a:rPr>
                <a:t>Hello John</a:t>
              </a:r>
            </a:p>
          </p:txBody>
        </p:sp>
        <p:sp>
          <p:nvSpPr>
            <p:cNvPr id="24" name="Oval 12"/>
            <p:cNvSpPr>
              <a:spLocks noChangeArrowheads="1"/>
            </p:cNvSpPr>
            <p:nvPr/>
          </p:nvSpPr>
          <p:spPr bwMode="auto">
            <a:xfrm>
              <a:off x="3896134" y="3317444"/>
              <a:ext cx="487680" cy="408109"/>
            </a:xfrm>
            <a:prstGeom prst="ellipse">
              <a:avLst/>
            </a:prstGeom>
            <a:solidFill>
              <a:srgbClr val="FFFFFF"/>
            </a:solidFill>
            <a:ln w="9525">
              <a:solidFill>
                <a:srgbClr val="000000"/>
              </a:solidFill>
              <a:round/>
              <a:headEnd/>
              <a:tailEnd/>
            </a:ln>
          </p:spPr>
          <p:txBody>
            <a:bodyPr/>
            <a:lstStyle/>
            <a:p>
              <a:endParaRPr lang="en-GB" sz="3000" dirty="0">
                <a:latin typeface="Calibri" panose="020F0502020204030204" pitchFamily="34" charset="0"/>
              </a:endParaRPr>
            </a:p>
          </p:txBody>
        </p:sp>
        <p:sp>
          <p:nvSpPr>
            <p:cNvPr id="25" name="Text Box 13"/>
            <p:cNvSpPr txBox="1">
              <a:spLocks noChangeArrowheads="1"/>
            </p:cNvSpPr>
            <p:nvPr/>
          </p:nvSpPr>
          <p:spPr bwMode="auto">
            <a:xfrm>
              <a:off x="3733574" y="3860833"/>
              <a:ext cx="1137920" cy="272072"/>
            </a:xfrm>
            <a:prstGeom prst="rect">
              <a:avLst/>
            </a:prstGeom>
            <a:noFill/>
            <a:ln w="9525">
              <a:noFill/>
              <a:miter lim="800000"/>
              <a:headEnd/>
              <a:tailEnd/>
            </a:ln>
          </p:spPr>
          <p:txBody>
            <a:bodyPr/>
            <a:lstStyle/>
            <a:p>
              <a:pPr eaLnBrk="0" hangingPunct="0"/>
              <a:r>
                <a:rPr lang="en-US" sz="1350" dirty="0">
                  <a:latin typeface="Calibri" panose="020F0502020204030204" pitchFamily="34" charset="0"/>
                </a:rPr>
                <a:t>De</a:t>
              </a:r>
              <a:r>
                <a:rPr lang="en-US" sz="1350" b="1" dirty="0">
                  <a:latin typeface="Calibri" panose="020F0502020204030204" pitchFamily="34" charset="0"/>
                </a:rPr>
                <a:t>crypt</a:t>
              </a:r>
            </a:p>
          </p:txBody>
        </p:sp>
        <p:sp>
          <p:nvSpPr>
            <p:cNvPr id="26" name="Text Box 14"/>
            <p:cNvSpPr txBox="1">
              <a:spLocks noChangeArrowheads="1"/>
            </p:cNvSpPr>
            <p:nvPr/>
          </p:nvSpPr>
          <p:spPr bwMode="auto">
            <a:xfrm>
              <a:off x="1665449" y="3860833"/>
              <a:ext cx="1424769" cy="272072"/>
            </a:xfrm>
            <a:prstGeom prst="rect">
              <a:avLst/>
            </a:prstGeom>
            <a:noFill/>
            <a:ln w="9525">
              <a:noFill/>
              <a:miter lim="800000"/>
              <a:headEnd/>
              <a:tailEnd/>
            </a:ln>
          </p:spPr>
          <p:txBody>
            <a:bodyPr/>
            <a:lstStyle/>
            <a:p>
              <a:r>
                <a:rPr lang="en-US" sz="1350" dirty="0">
                  <a:latin typeface="Calibri" panose="020F0502020204030204" pitchFamily="34" charset="0"/>
                </a:rPr>
                <a:t>Cipher </a:t>
              </a:r>
              <a:r>
                <a:rPr lang="en-US" sz="1350" b="1" dirty="0">
                  <a:latin typeface="Calibri" panose="020F0502020204030204" pitchFamily="34" charset="0"/>
                </a:rPr>
                <a:t>text</a:t>
              </a:r>
            </a:p>
          </p:txBody>
        </p:sp>
        <p:sp>
          <p:nvSpPr>
            <p:cNvPr id="27" name="Text Box 15"/>
            <p:cNvSpPr txBox="1">
              <a:spLocks noChangeArrowheads="1"/>
            </p:cNvSpPr>
            <p:nvPr/>
          </p:nvSpPr>
          <p:spPr bwMode="auto">
            <a:xfrm>
              <a:off x="5934456" y="3860833"/>
              <a:ext cx="1243584" cy="272072"/>
            </a:xfrm>
            <a:prstGeom prst="rect">
              <a:avLst/>
            </a:prstGeom>
            <a:noFill/>
            <a:ln w="9525">
              <a:noFill/>
              <a:miter lim="800000"/>
              <a:headEnd/>
              <a:tailEnd/>
            </a:ln>
          </p:spPr>
          <p:txBody>
            <a:bodyPr/>
            <a:lstStyle/>
            <a:p>
              <a:pPr eaLnBrk="0" hangingPunct="0"/>
              <a:r>
                <a:rPr lang="en-US" sz="1350" b="1" dirty="0">
                  <a:latin typeface="Calibri" panose="020F0502020204030204" pitchFamily="34" charset="0"/>
                </a:rPr>
                <a:t>Plane text</a:t>
              </a:r>
            </a:p>
          </p:txBody>
        </p:sp>
        <p:pic>
          <p:nvPicPr>
            <p:cNvPr id="28" name="Picture 27"/>
            <p:cNvPicPr>
              <a:picLocks noChangeAspect="1"/>
            </p:cNvPicPr>
            <p:nvPr/>
          </p:nvPicPr>
          <p:blipFill>
            <a:blip r:embed="rId3"/>
            <a:stretch>
              <a:fillRect/>
            </a:stretch>
          </p:blipFill>
          <p:spPr>
            <a:xfrm>
              <a:off x="3768504" y="2949321"/>
              <a:ext cx="690633" cy="368124"/>
            </a:xfrm>
            <a:prstGeom prst="rect">
              <a:avLst/>
            </a:prstGeom>
          </p:spPr>
        </p:pic>
      </p:grpSp>
    </p:spTree>
    <p:extLst>
      <p:ext uri="{BB962C8B-B14F-4D97-AF65-F5344CB8AC3E}">
        <p14:creationId xmlns:p14="http://schemas.microsoft.com/office/powerpoint/2010/main" val="2533413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6803">
                                            <p:txEl>
                                              <p:pRg st="1" end="1"/>
                                            </p:txEl>
                                          </p:spTgt>
                                        </p:tgtEl>
                                        <p:attrNameLst>
                                          <p:attrName>style.visibility</p:attrName>
                                        </p:attrNameLst>
                                      </p:cBhvr>
                                      <p:to>
                                        <p:strVal val="visible"/>
                                      </p:to>
                                    </p:set>
                                    <p:animEffect transition="in" filter="wipe(left)">
                                      <p:cBhvr>
                                        <p:cTn id="10" dur="500"/>
                                        <p:tgtEl>
                                          <p:spTgt spid="7680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6803">
                                            <p:txEl>
                                              <p:pRg st="5" end="5"/>
                                            </p:txEl>
                                          </p:spTgt>
                                        </p:tgtEl>
                                        <p:attrNameLst>
                                          <p:attrName>style.visibility</p:attrName>
                                        </p:attrNameLst>
                                      </p:cBhvr>
                                      <p:to>
                                        <p:strVal val="visible"/>
                                      </p:to>
                                    </p:set>
                                    <p:animEffect transition="in" filter="wipe(left)">
                                      <p:cBhvr>
                                        <p:cTn id="15" dur="500"/>
                                        <p:tgtEl>
                                          <p:spTgt spid="76803">
                                            <p:txEl>
                                              <p:pRg st="5" end="5"/>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6803">
                                            <p:txEl>
                                              <p:pRg st="6" end="6"/>
                                            </p:txEl>
                                          </p:spTgt>
                                        </p:tgtEl>
                                        <p:attrNameLst>
                                          <p:attrName>style.visibility</p:attrName>
                                        </p:attrNameLst>
                                      </p:cBhvr>
                                      <p:to>
                                        <p:strVal val="visible"/>
                                      </p:to>
                                    </p:set>
                                    <p:animEffect transition="in" filter="wipe(left)">
                                      <p:cBhvr>
                                        <p:cTn id="18" dur="500"/>
                                        <p:tgtEl>
                                          <p:spTgt spid="768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dirty="0"/>
              <a:t>Types of Cryptography</a:t>
            </a:r>
          </a:p>
        </p:txBody>
      </p:sp>
      <p:sp>
        <p:nvSpPr>
          <p:cNvPr id="2" name="Content Placeholder 1"/>
          <p:cNvSpPr>
            <a:spLocks noGrp="1"/>
          </p:cNvSpPr>
          <p:nvPr>
            <p:ph idx="1"/>
          </p:nvPr>
        </p:nvSpPr>
        <p:spPr/>
        <p:txBody>
          <a:bodyPr>
            <a:normAutofit/>
          </a:bodyPr>
          <a:lstStyle/>
          <a:p>
            <a:pPr lvl="0" fontAlgn="base">
              <a:spcAft>
                <a:spcPct val="0"/>
              </a:spcAft>
              <a:buClr>
                <a:schemeClr val="folHlink"/>
              </a:buClr>
              <a:buSzPct val="60000"/>
              <a:buFont typeface="Wingdings" pitchFamily="2" charset="2"/>
              <a:buChar char="n"/>
              <a:defRPr/>
            </a:pPr>
            <a:r>
              <a:rPr lang="en-US" u="sng" dirty="0">
                <a:ea typeface="ＭＳ Ｐゴシック" pitchFamily="-65" charset="-128"/>
                <a:cs typeface="ＭＳ Ｐゴシック" pitchFamily="-65" charset="-128"/>
              </a:rPr>
              <a:t>Symmetric</a:t>
            </a:r>
            <a:r>
              <a:rPr lang="en-US" b="0" dirty="0">
                <a:ea typeface="ＭＳ Ｐゴシック" pitchFamily="-65" charset="-128"/>
                <a:cs typeface="ＭＳ Ｐゴシック" pitchFamily="-65" charset="-128"/>
              </a:rPr>
              <a:t> key cryptography uses the </a:t>
            </a:r>
            <a:r>
              <a:rPr lang="en-US" b="0" u="sng" dirty="0">
                <a:ea typeface="ＭＳ Ｐゴシック" pitchFamily="-65" charset="-128"/>
                <a:cs typeface="ＭＳ Ｐゴシック" pitchFamily="-65" charset="-128"/>
              </a:rPr>
              <a:t>same key </a:t>
            </a:r>
            <a:r>
              <a:rPr lang="en-US" b="0" dirty="0">
                <a:ea typeface="ＭＳ Ｐゴシック" pitchFamily="-65" charset="-128"/>
                <a:cs typeface="ＭＳ Ｐゴシック" pitchFamily="-65" charset="-128"/>
              </a:rPr>
              <a:t>for encryption and decryption</a:t>
            </a:r>
            <a:endParaRPr lang="en-US" dirty="0">
              <a:ea typeface="ＭＳ Ｐゴシック" pitchFamily="-65" charset="-128"/>
              <a:cs typeface="ＭＳ Ｐゴシック" pitchFamily="-65" charset="-128"/>
            </a:endParaRPr>
          </a:p>
          <a:p>
            <a:pPr lvl="0" fontAlgn="base">
              <a:spcAft>
                <a:spcPct val="0"/>
              </a:spcAft>
              <a:buClr>
                <a:schemeClr val="folHlink"/>
              </a:buClr>
              <a:buSzPct val="60000"/>
              <a:buFont typeface="Wingdings" pitchFamily="2" charset="2"/>
              <a:buChar char="n"/>
              <a:defRPr/>
            </a:pPr>
            <a:r>
              <a:rPr lang="en-US" u="sng" dirty="0">
                <a:ea typeface="ＭＳ Ｐゴシック" pitchFamily="-65" charset="-128"/>
                <a:cs typeface="ＭＳ Ｐゴシック" pitchFamily="-65" charset="-128"/>
              </a:rPr>
              <a:t>Asymmetric</a:t>
            </a:r>
            <a:r>
              <a:rPr lang="en-US" b="0" dirty="0">
                <a:ea typeface="ＭＳ Ｐゴシック" pitchFamily="-65" charset="-128"/>
                <a:cs typeface="ＭＳ Ｐゴシック" pitchFamily="-65" charset="-128"/>
              </a:rPr>
              <a:t> key cryptography uses </a:t>
            </a:r>
            <a:r>
              <a:rPr lang="en-US" b="0" u="sng" dirty="0">
                <a:ea typeface="ＭＳ Ｐゴシック" pitchFamily="-65" charset="-128"/>
                <a:cs typeface="ＭＳ Ｐゴシック" pitchFamily="-65" charset="-128"/>
              </a:rPr>
              <a:t>different keys </a:t>
            </a:r>
            <a:r>
              <a:rPr lang="en-US" b="0" dirty="0">
                <a:ea typeface="ＭＳ Ｐゴシック" pitchFamily="-65" charset="-128"/>
                <a:cs typeface="ＭＳ Ｐゴシック" pitchFamily="-65" charset="-128"/>
              </a:rPr>
              <a:t>for encryption and decryption</a:t>
            </a:r>
          </a:p>
          <a:p>
            <a:endParaRPr lang="en-US" sz="1500" dirty="0"/>
          </a:p>
        </p:txBody>
      </p:sp>
      <p:sp>
        <p:nvSpPr>
          <p:cNvPr id="16" name="Slide Number Placeholder 3"/>
          <p:cNvSpPr>
            <a:spLocks noGrp="1"/>
          </p:cNvSpPr>
          <p:nvPr>
            <p:ph type="sldNum" sz="quarter" idx="12"/>
          </p:nvPr>
        </p:nvSpPr>
        <p:spPr/>
        <p:txBody>
          <a:bodyPr/>
          <a:lstStyle/>
          <a:p>
            <a:fld id="{0F8FC8C6-3D81-4A4F-BCA7-F338AC57D498}" type="slidenum">
              <a:rPr lang="en-US" smtClean="0"/>
              <a:pPr/>
              <a:t>10</a:t>
            </a:fld>
            <a:endParaRPr lang="en-US" dirty="0"/>
          </a:p>
        </p:txBody>
      </p:sp>
      <p:sp>
        <p:nvSpPr>
          <p:cNvPr id="60420" name="Rectangle 4"/>
          <p:cNvSpPr>
            <a:spLocks noChangeArrowheads="1"/>
          </p:cNvSpPr>
          <p:nvPr/>
        </p:nvSpPr>
        <p:spPr bwMode="auto">
          <a:xfrm>
            <a:off x="2669381" y="2707481"/>
            <a:ext cx="6858000" cy="438582"/>
          </a:xfrm>
          <a:prstGeom prst="rect">
            <a:avLst/>
          </a:prstGeom>
          <a:noFill/>
          <a:ln w="9525">
            <a:noFill/>
            <a:miter lim="800000"/>
            <a:headEnd/>
            <a:tailEnd/>
          </a:ln>
          <a:effectLst/>
        </p:spPr>
        <p:txBody>
          <a:bodyPr>
            <a:spAutoFit/>
          </a:bodyPr>
          <a:lstStyle/>
          <a:p>
            <a:pPr algn="just"/>
            <a:r>
              <a:rPr lang="en-AU" sz="900" dirty="0">
                <a:cs typeface="Times New Roman" pitchFamily="18" charset="0"/>
              </a:rPr>
              <a:t> </a:t>
            </a:r>
            <a:endParaRPr lang="en-US" sz="900" dirty="0">
              <a:cs typeface="Times New Roman" pitchFamily="18" charset="0"/>
            </a:endParaRPr>
          </a:p>
          <a:p>
            <a:pPr eaLnBrk="0" hangingPunct="0"/>
            <a:endParaRPr lang="en-US" sz="1350" dirty="0"/>
          </a:p>
        </p:txBody>
      </p:sp>
      <p:grpSp>
        <p:nvGrpSpPr>
          <p:cNvPr id="14" name="Group 13"/>
          <p:cNvGrpSpPr/>
          <p:nvPr/>
        </p:nvGrpSpPr>
        <p:grpSpPr>
          <a:xfrm>
            <a:off x="3409950" y="3714750"/>
            <a:ext cx="5429250" cy="1828800"/>
            <a:chOff x="990600" y="4038600"/>
            <a:chExt cx="7239000" cy="2438400"/>
          </a:xfrm>
        </p:grpSpPr>
        <p:sp>
          <p:nvSpPr>
            <p:cNvPr id="60432" name="Rectangle 16"/>
            <p:cNvSpPr>
              <a:spLocks noChangeArrowheads="1"/>
            </p:cNvSpPr>
            <p:nvPr/>
          </p:nvSpPr>
          <p:spPr bwMode="auto">
            <a:xfrm>
              <a:off x="990600" y="4038600"/>
              <a:ext cx="7239000" cy="2438400"/>
            </a:xfrm>
            <a:prstGeom prst="rect">
              <a:avLst/>
            </a:prstGeom>
            <a:solidFill>
              <a:schemeClr val="bg1"/>
            </a:solidFill>
            <a:ln w="9525">
              <a:solidFill>
                <a:srgbClr val="000000"/>
              </a:solidFill>
              <a:miter lim="800000"/>
              <a:headEnd/>
              <a:tailEnd/>
            </a:ln>
            <a:effectLst/>
          </p:spPr>
          <p:txBody>
            <a:bodyPr/>
            <a:lstStyle/>
            <a:p>
              <a:endParaRPr lang="en-GB" sz="1350" dirty="0">
                <a:latin typeface="Calibri" panose="020F0502020204030204" pitchFamily="34" charset="0"/>
              </a:endParaRPr>
            </a:p>
          </p:txBody>
        </p:sp>
        <p:sp>
          <p:nvSpPr>
            <p:cNvPr id="60433" name="Text Box 17"/>
            <p:cNvSpPr txBox="1">
              <a:spLocks noChangeArrowheads="1"/>
            </p:cNvSpPr>
            <p:nvPr/>
          </p:nvSpPr>
          <p:spPr bwMode="auto">
            <a:xfrm>
              <a:off x="3048307" y="4114800"/>
              <a:ext cx="3385007" cy="515453"/>
            </a:xfrm>
            <a:prstGeom prst="rect">
              <a:avLst/>
            </a:prstGeom>
            <a:noFill/>
            <a:ln w="9525">
              <a:noFill/>
              <a:miter lim="800000"/>
              <a:headEnd/>
              <a:tailEnd/>
            </a:ln>
            <a:effectLst/>
          </p:spPr>
          <p:txBody>
            <a:bodyPr/>
            <a:lstStyle/>
            <a:p>
              <a:pPr algn="ctr" eaLnBrk="0" hangingPunct="0"/>
              <a:r>
                <a:rPr lang="en-US" sz="1500" b="1" dirty="0">
                  <a:latin typeface="Calibri" panose="020F0502020204030204" pitchFamily="34" charset="0"/>
                </a:rPr>
                <a:t>Cryptography techniques</a:t>
              </a:r>
            </a:p>
          </p:txBody>
        </p:sp>
        <p:sp>
          <p:nvSpPr>
            <p:cNvPr id="60434" name="Text Box 18"/>
            <p:cNvSpPr txBox="1">
              <a:spLocks noChangeArrowheads="1"/>
            </p:cNvSpPr>
            <p:nvPr/>
          </p:nvSpPr>
          <p:spPr bwMode="auto">
            <a:xfrm>
              <a:off x="1122993" y="5629004"/>
              <a:ext cx="3144207" cy="660899"/>
            </a:xfrm>
            <a:prstGeom prst="rect">
              <a:avLst/>
            </a:prstGeom>
            <a:noFill/>
            <a:ln w="9525">
              <a:noFill/>
              <a:miter lim="800000"/>
              <a:headEnd/>
              <a:tailEnd/>
            </a:ln>
            <a:effectLst/>
          </p:spPr>
          <p:txBody>
            <a:bodyPr/>
            <a:lstStyle/>
            <a:p>
              <a:pPr algn="ctr" eaLnBrk="0" hangingPunct="0"/>
              <a:r>
                <a:rPr lang="en-US" sz="1500" b="1" dirty="0">
                  <a:latin typeface="Calibri" panose="020F0502020204030204" pitchFamily="34" charset="0"/>
                </a:rPr>
                <a:t>Symmetric key </a:t>
              </a:r>
            </a:p>
            <a:p>
              <a:pPr algn="ctr" eaLnBrk="0" hangingPunct="0"/>
              <a:r>
                <a:rPr lang="en-US" sz="1500" b="1" dirty="0">
                  <a:latin typeface="Calibri" panose="020F0502020204030204" pitchFamily="34" charset="0"/>
                </a:rPr>
                <a:t>cryptography</a:t>
              </a:r>
            </a:p>
          </p:txBody>
        </p:sp>
        <p:sp>
          <p:nvSpPr>
            <p:cNvPr id="60435" name="Text Box 19"/>
            <p:cNvSpPr txBox="1">
              <a:spLocks noChangeArrowheads="1"/>
            </p:cNvSpPr>
            <p:nvPr/>
          </p:nvSpPr>
          <p:spPr bwMode="auto">
            <a:xfrm>
              <a:off x="4953000" y="5641118"/>
              <a:ext cx="2872688" cy="660899"/>
            </a:xfrm>
            <a:prstGeom prst="rect">
              <a:avLst/>
            </a:prstGeom>
            <a:noFill/>
            <a:ln w="9525">
              <a:noFill/>
              <a:miter lim="800000"/>
              <a:headEnd/>
              <a:tailEnd/>
            </a:ln>
            <a:effectLst/>
          </p:spPr>
          <p:txBody>
            <a:bodyPr/>
            <a:lstStyle/>
            <a:p>
              <a:pPr algn="ctr" eaLnBrk="0" hangingPunct="0"/>
              <a:r>
                <a:rPr lang="en-US" sz="1500" b="1" dirty="0">
                  <a:latin typeface="Calibri" panose="020F0502020204030204" pitchFamily="34" charset="0"/>
                </a:rPr>
                <a:t>Asymmetric key cryptography </a:t>
              </a:r>
            </a:p>
          </p:txBody>
        </p:sp>
        <p:sp>
          <p:nvSpPr>
            <p:cNvPr id="60436" name="Line 20"/>
            <p:cNvSpPr>
              <a:spLocks noChangeShapeType="1"/>
            </p:cNvSpPr>
            <p:nvPr/>
          </p:nvSpPr>
          <p:spPr bwMode="auto">
            <a:xfrm>
              <a:off x="4724542" y="4665250"/>
              <a:ext cx="0" cy="493991"/>
            </a:xfrm>
            <a:prstGeom prst="line">
              <a:avLst/>
            </a:prstGeom>
            <a:noFill/>
            <a:ln w="9525">
              <a:solidFill>
                <a:srgbClr val="000000"/>
              </a:solidFill>
              <a:round/>
              <a:headEnd/>
              <a:tailEnd/>
            </a:ln>
            <a:effectLst/>
          </p:spPr>
          <p:txBody>
            <a:bodyPr/>
            <a:lstStyle/>
            <a:p>
              <a:endParaRPr lang="en-GB" sz="1350" dirty="0">
                <a:latin typeface="Calibri" panose="020F0502020204030204" pitchFamily="34" charset="0"/>
              </a:endParaRPr>
            </a:p>
          </p:txBody>
        </p:sp>
        <p:sp>
          <p:nvSpPr>
            <p:cNvPr id="60437" name="Line 21"/>
            <p:cNvSpPr>
              <a:spLocks noChangeShapeType="1"/>
            </p:cNvSpPr>
            <p:nvPr/>
          </p:nvSpPr>
          <p:spPr bwMode="auto">
            <a:xfrm>
              <a:off x="2498538" y="5176739"/>
              <a:ext cx="3994241" cy="0"/>
            </a:xfrm>
            <a:prstGeom prst="line">
              <a:avLst/>
            </a:prstGeom>
            <a:noFill/>
            <a:ln w="9525">
              <a:solidFill>
                <a:srgbClr val="000000"/>
              </a:solidFill>
              <a:round/>
              <a:headEnd/>
              <a:tailEnd/>
            </a:ln>
            <a:effectLst/>
          </p:spPr>
          <p:txBody>
            <a:bodyPr/>
            <a:lstStyle/>
            <a:p>
              <a:endParaRPr lang="en-GB" sz="1350" dirty="0">
                <a:latin typeface="Calibri" panose="020F0502020204030204" pitchFamily="34" charset="0"/>
              </a:endParaRPr>
            </a:p>
          </p:txBody>
        </p:sp>
        <p:sp>
          <p:nvSpPr>
            <p:cNvPr id="60438" name="Line 22"/>
            <p:cNvSpPr>
              <a:spLocks noChangeShapeType="1"/>
            </p:cNvSpPr>
            <p:nvPr/>
          </p:nvSpPr>
          <p:spPr bwMode="auto">
            <a:xfrm>
              <a:off x="2492928" y="5188854"/>
              <a:ext cx="0" cy="493991"/>
            </a:xfrm>
            <a:prstGeom prst="line">
              <a:avLst/>
            </a:prstGeom>
            <a:noFill/>
            <a:ln w="9525">
              <a:solidFill>
                <a:srgbClr val="000000"/>
              </a:solidFill>
              <a:round/>
              <a:headEnd/>
              <a:tailEnd/>
            </a:ln>
            <a:effectLst/>
          </p:spPr>
          <p:txBody>
            <a:bodyPr/>
            <a:lstStyle/>
            <a:p>
              <a:endParaRPr lang="en-GB" sz="1350" dirty="0">
                <a:latin typeface="Calibri" panose="020F0502020204030204" pitchFamily="34" charset="0"/>
              </a:endParaRPr>
            </a:p>
          </p:txBody>
        </p:sp>
        <p:sp>
          <p:nvSpPr>
            <p:cNvPr id="60439" name="Line 23"/>
            <p:cNvSpPr>
              <a:spLocks noChangeShapeType="1"/>
            </p:cNvSpPr>
            <p:nvPr/>
          </p:nvSpPr>
          <p:spPr bwMode="auto">
            <a:xfrm>
              <a:off x="6487169" y="5190200"/>
              <a:ext cx="0" cy="493991"/>
            </a:xfrm>
            <a:prstGeom prst="line">
              <a:avLst/>
            </a:prstGeom>
            <a:noFill/>
            <a:ln w="9525">
              <a:solidFill>
                <a:srgbClr val="000000"/>
              </a:solidFill>
              <a:round/>
              <a:headEnd/>
              <a:tailEnd/>
            </a:ln>
            <a:effectLst/>
          </p:spPr>
          <p:txBody>
            <a:bodyPr/>
            <a:lstStyle/>
            <a:p>
              <a:endParaRPr lang="en-GB" sz="1350" dirty="0">
                <a:latin typeface="Calibri" panose="020F0502020204030204" pitchFamily="34" charset="0"/>
              </a:endParaRPr>
            </a:p>
          </p:txBody>
        </p:sp>
      </p:grpSp>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1401" y="4211043"/>
            <a:ext cx="645176" cy="708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descr="http://icons.iconseeker.com/png/fullsize/refresh-cl/system-key.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0500" y="4067463"/>
            <a:ext cx="881658" cy="881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72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Symmetric Algorithms</a:t>
            </a:r>
          </a:p>
        </p:txBody>
      </p:sp>
      <p:sp>
        <p:nvSpPr>
          <p:cNvPr id="21507" name="Rectangle 3"/>
          <p:cNvSpPr>
            <a:spLocks noGrp="1" noChangeArrowheads="1"/>
          </p:cNvSpPr>
          <p:nvPr>
            <p:ph idx="1"/>
          </p:nvPr>
        </p:nvSpPr>
        <p:spPr/>
        <p:txBody>
          <a:bodyPr>
            <a:normAutofit fontScale="92500" lnSpcReduction="20000"/>
          </a:bodyPr>
          <a:lstStyle/>
          <a:p>
            <a:pPr eaLnBrk="1" hangingPunct="1"/>
            <a:r>
              <a:rPr lang="en-US" dirty="0" smtClean="0"/>
              <a:t>International Data Encryption Algorithm (IDEA),</a:t>
            </a:r>
          </a:p>
          <a:p>
            <a:pPr lvl="1" eaLnBrk="1" hangingPunct="1"/>
            <a:r>
              <a:rPr lang="en-US" b="0" dirty="0" smtClean="0"/>
              <a:t>Block cipher – 128-bit key</a:t>
            </a:r>
          </a:p>
          <a:p>
            <a:pPr lvl="1"/>
            <a:r>
              <a:rPr lang="en-US" b="0" dirty="0" smtClean="0"/>
              <a:t>Pretty Good Privacy (PGP)</a:t>
            </a:r>
          </a:p>
          <a:p>
            <a:pPr eaLnBrk="1" hangingPunct="1"/>
            <a:r>
              <a:rPr lang="en-US" dirty="0" smtClean="0"/>
              <a:t>Rivest Cipher 4 (RC4), Stream cipher</a:t>
            </a:r>
          </a:p>
          <a:p>
            <a:pPr lvl="1"/>
            <a:r>
              <a:rPr lang="en-US" b="0" dirty="0" smtClean="0"/>
              <a:t>Wireless Equivalent Privacy (WEP)</a:t>
            </a:r>
            <a:r>
              <a:rPr lang="en-US" b="0" dirty="0"/>
              <a:t>, Wi-Fi Protected </a:t>
            </a:r>
            <a:r>
              <a:rPr lang="en-US" b="0" dirty="0" smtClean="0"/>
              <a:t>Access (</a:t>
            </a:r>
            <a:r>
              <a:rPr lang="en-US" b="0" dirty="0"/>
              <a:t>WPA) </a:t>
            </a:r>
            <a:r>
              <a:rPr lang="en-US" b="0" dirty="0" smtClean="0"/>
              <a:t>– Temporal </a:t>
            </a:r>
            <a:r>
              <a:rPr lang="en-US" b="0" dirty="0"/>
              <a:t>Key Integrity </a:t>
            </a:r>
            <a:r>
              <a:rPr lang="en-US" b="0" dirty="0" smtClean="0"/>
              <a:t>Protocol (TKIP), Transport Layer Security (TLS)</a:t>
            </a:r>
          </a:p>
          <a:p>
            <a:pPr eaLnBrk="1" hangingPunct="1"/>
            <a:r>
              <a:rPr lang="en-US" dirty="0" smtClean="0"/>
              <a:t>RC5, Block cipher</a:t>
            </a:r>
          </a:p>
          <a:p>
            <a:pPr lvl="1"/>
            <a:r>
              <a:rPr lang="en-US" b="0" dirty="0" smtClean="0"/>
              <a:t>RSA products such as BSAFE, JSAFE and S/MAIL</a:t>
            </a:r>
          </a:p>
          <a:p>
            <a:pPr eaLnBrk="1" hangingPunct="1"/>
            <a:r>
              <a:rPr lang="en-US" dirty="0" smtClean="0"/>
              <a:t>Blowfish, Block cipher</a:t>
            </a:r>
          </a:p>
          <a:p>
            <a:pPr lvl="1"/>
            <a:r>
              <a:rPr lang="en-US" b="0" dirty="0" smtClean="0"/>
              <a:t>OpenSSH, PuTTy</a:t>
            </a:r>
          </a:p>
          <a:p>
            <a:pPr eaLnBrk="1" hangingPunct="1"/>
            <a:r>
              <a:rPr lang="en-US" u="sng" dirty="0" smtClean="0"/>
              <a:t>Advanced Encryption Standard (AES)</a:t>
            </a:r>
          </a:p>
          <a:p>
            <a:pPr lvl="1"/>
            <a:r>
              <a:rPr lang="en-US" b="0" dirty="0" smtClean="0"/>
              <a:t>BitLocker, TrueCrypt, WPA2</a:t>
            </a:r>
          </a:p>
        </p:txBody>
      </p:sp>
      <p:sp>
        <p:nvSpPr>
          <p:cNvPr id="4" name="Slide Number Placeholder 3"/>
          <p:cNvSpPr>
            <a:spLocks noGrp="1"/>
          </p:cNvSpPr>
          <p:nvPr>
            <p:ph type="sldNum" sz="quarter" idx="12"/>
          </p:nvPr>
        </p:nvSpPr>
        <p:spPr>
          <a:xfrm>
            <a:off x="8610600" y="6374587"/>
            <a:ext cx="1600200" cy="273844"/>
          </a:xfrm>
        </p:spPr>
        <p:txBody>
          <a:bodyPr/>
          <a:lstStyle/>
          <a:p>
            <a:fld id="{0F8FC8C6-3D81-4A4F-BCA7-F338AC57D498}" type="slidenum">
              <a:rPr lang="en-US" smtClean="0"/>
              <a:pPr/>
              <a:t>11</a:t>
            </a:fld>
            <a:endParaRPr lang="en-US" dirty="0"/>
          </a:p>
        </p:txBody>
      </p:sp>
    </p:spTree>
    <p:extLst>
      <p:ext uri="{BB962C8B-B14F-4D97-AF65-F5344CB8AC3E}">
        <p14:creationId xmlns:p14="http://schemas.microsoft.com/office/powerpoint/2010/main" val="395329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Encryption Standard (AES)</a:t>
            </a:r>
          </a:p>
        </p:txBody>
      </p:sp>
      <p:sp>
        <p:nvSpPr>
          <p:cNvPr id="3" name="Content Placeholder 2"/>
          <p:cNvSpPr>
            <a:spLocks noGrp="1"/>
          </p:cNvSpPr>
          <p:nvPr>
            <p:ph idx="1"/>
          </p:nvPr>
        </p:nvSpPr>
        <p:spPr>
          <a:xfrm>
            <a:off x="1136469" y="5086350"/>
            <a:ext cx="10633165" cy="1455896"/>
          </a:xfrm>
        </p:spPr>
        <p:txBody>
          <a:bodyPr>
            <a:noAutofit/>
          </a:bodyPr>
          <a:lstStyle/>
          <a:p>
            <a:r>
              <a:rPr lang="en-US" dirty="0">
                <a:solidFill>
                  <a:srgbClr val="C00000"/>
                </a:solidFill>
              </a:rPr>
              <a:t>AES Demo in CryptTool educational software or at https://www.youtube.com/watch?v=mlzxpkdXP58</a:t>
            </a:r>
          </a:p>
        </p:txBody>
      </p:sp>
      <p:sp>
        <p:nvSpPr>
          <p:cNvPr id="4" name="Slide Number Placeholder 3"/>
          <p:cNvSpPr>
            <a:spLocks noGrp="1"/>
          </p:cNvSpPr>
          <p:nvPr>
            <p:ph type="sldNum" sz="quarter" idx="12"/>
          </p:nvPr>
        </p:nvSpPr>
        <p:spPr/>
        <p:txBody>
          <a:bodyPr/>
          <a:lstStyle/>
          <a:p>
            <a:fld id="{3AD0F5C9-508C-493F-9A2F-E019F4F76EE6}" type="slidenum">
              <a:rPr lang="en-US" smtClean="0"/>
              <a:pPr/>
              <a:t>12</a:t>
            </a:fld>
            <a:endParaRPr lang="en-US" dirty="0"/>
          </a:p>
        </p:txBody>
      </p:sp>
      <p:sp>
        <p:nvSpPr>
          <p:cNvPr id="5" name="Rectangle 3"/>
          <p:cNvSpPr>
            <a:spLocks noChangeArrowheads="1"/>
          </p:cNvSpPr>
          <p:nvPr/>
        </p:nvSpPr>
        <p:spPr bwMode="auto">
          <a:xfrm>
            <a:off x="4895850" y="2911078"/>
            <a:ext cx="1085850" cy="1028700"/>
          </a:xfrm>
          <a:prstGeom prst="rect">
            <a:avLst/>
          </a:prstGeom>
          <a:solidFill>
            <a:srgbClr val="F7C120"/>
          </a:solidFill>
          <a:ln w="25400">
            <a:solidFill>
              <a:srgbClr val="7F7F7F"/>
            </a:solidFill>
            <a:miter lim="800000"/>
            <a:headEnd/>
            <a:tailEnd/>
          </a:ln>
          <a:effectLst>
            <a:outerShdw blurRad="50800" dist="38100" dir="2700000" rotWithShape="0">
              <a:srgbClr val="808080">
                <a:alpha val="42999"/>
              </a:srgbClr>
            </a:outerShdw>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350" b="1" dirty="0">
                <a:latin typeface="Gill Sans MT" panose="020B0502020104020203" pitchFamily="34" charset="0"/>
              </a:rPr>
              <a:t>     </a:t>
            </a:r>
            <a:r>
              <a:rPr lang="en-US" altLang="en-US" sz="2100" b="1" dirty="0">
                <a:latin typeface="Gill Sans MT" panose="020B0502020104020203" pitchFamily="34" charset="0"/>
              </a:rPr>
              <a:t>AES</a:t>
            </a:r>
            <a:endParaRPr lang="en-GB" altLang="en-US" sz="2100" b="1" dirty="0">
              <a:latin typeface="Gill Sans MT" panose="020B0502020104020203" pitchFamily="34" charset="0"/>
            </a:endParaRPr>
          </a:p>
        </p:txBody>
      </p:sp>
      <p:sp>
        <p:nvSpPr>
          <p:cNvPr id="6" name="Text Box 4"/>
          <p:cNvSpPr txBox="1">
            <a:spLocks noChangeArrowheads="1"/>
          </p:cNvSpPr>
          <p:nvPr/>
        </p:nvSpPr>
        <p:spPr bwMode="auto">
          <a:xfrm>
            <a:off x="4724401" y="1996679"/>
            <a:ext cx="2226250" cy="369332"/>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Gill Sans MT" panose="020B0502020104020203" pitchFamily="34" charset="0"/>
              </a:rPr>
              <a:t>Plaintext (128 bits)</a:t>
            </a:r>
            <a:endParaRPr lang="en-GB" altLang="en-US" sz="1800" b="1" dirty="0">
              <a:latin typeface="Gill Sans MT" panose="020B0502020104020203" pitchFamily="34" charset="0"/>
            </a:endParaRPr>
          </a:p>
        </p:txBody>
      </p:sp>
      <p:sp>
        <p:nvSpPr>
          <p:cNvPr id="7" name="Text Box 5"/>
          <p:cNvSpPr txBox="1">
            <a:spLocks noChangeArrowheads="1"/>
          </p:cNvSpPr>
          <p:nvPr/>
        </p:nvSpPr>
        <p:spPr bwMode="auto">
          <a:xfrm>
            <a:off x="4383179" y="4511279"/>
            <a:ext cx="2503378" cy="369332"/>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Gill Sans MT" panose="020B0502020104020203" pitchFamily="34" charset="0"/>
              </a:rPr>
              <a:t>Ciphertext (128 bits) </a:t>
            </a:r>
            <a:endParaRPr lang="en-GB" altLang="en-US" sz="1800" b="1" dirty="0">
              <a:latin typeface="Gill Sans MT" panose="020B0502020104020203" pitchFamily="34" charset="0"/>
            </a:endParaRPr>
          </a:p>
        </p:txBody>
      </p:sp>
      <p:sp>
        <p:nvSpPr>
          <p:cNvPr id="8" name="Text Box 6"/>
          <p:cNvSpPr txBox="1">
            <a:spLocks noChangeArrowheads="1"/>
          </p:cNvSpPr>
          <p:nvPr/>
        </p:nvSpPr>
        <p:spPr bwMode="auto">
          <a:xfrm>
            <a:off x="6553202" y="3253979"/>
            <a:ext cx="2106987" cy="369332"/>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Gill Sans MT" panose="020B0502020104020203" pitchFamily="34" charset="0"/>
              </a:rPr>
              <a:t>Key (128-256 bits)</a:t>
            </a:r>
            <a:endParaRPr lang="en-GB" altLang="en-US" sz="1800" b="1" dirty="0">
              <a:latin typeface="Gill Sans MT" panose="020B0502020104020203" pitchFamily="34" charset="0"/>
            </a:endParaRPr>
          </a:p>
        </p:txBody>
      </p:sp>
      <p:sp>
        <p:nvSpPr>
          <p:cNvPr id="9" name="Down Arrow 8"/>
          <p:cNvSpPr/>
          <p:nvPr/>
        </p:nvSpPr>
        <p:spPr>
          <a:xfrm>
            <a:off x="5295900" y="2453878"/>
            <a:ext cx="342900" cy="40005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dirty="0"/>
          </a:p>
        </p:txBody>
      </p:sp>
      <p:sp>
        <p:nvSpPr>
          <p:cNvPr id="10" name="Down Arrow 9"/>
          <p:cNvSpPr/>
          <p:nvPr/>
        </p:nvSpPr>
        <p:spPr>
          <a:xfrm>
            <a:off x="5295900" y="3996928"/>
            <a:ext cx="342900" cy="40005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dirty="0"/>
          </a:p>
        </p:txBody>
      </p:sp>
      <p:sp>
        <p:nvSpPr>
          <p:cNvPr id="11" name="Left Arrow 10"/>
          <p:cNvSpPr/>
          <p:nvPr/>
        </p:nvSpPr>
        <p:spPr>
          <a:xfrm>
            <a:off x="6038850" y="3253978"/>
            <a:ext cx="457200" cy="342900"/>
          </a:xfrm>
          <a:prstGeom prst="left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dirty="0"/>
          </a:p>
        </p:txBody>
      </p:sp>
    </p:spTree>
    <p:extLst>
      <p:ext uri="{BB962C8B-B14F-4D97-AF65-F5344CB8AC3E}">
        <p14:creationId xmlns:p14="http://schemas.microsoft.com/office/powerpoint/2010/main" val="396094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905001" y="228601"/>
            <a:ext cx="8393113" cy="695325"/>
          </a:xfrm>
        </p:spPr>
        <p:txBody>
          <a:bodyPr>
            <a:normAutofit fontScale="90000"/>
          </a:bodyPr>
          <a:lstStyle/>
          <a:p>
            <a:r>
              <a:rPr lang="en-US" sz="4400"/>
              <a:t>BitLocker™ Drive Encryption</a:t>
            </a:r>
          </a:p>
        </p:txBody>
      </p:sp>
      <p:sp>
        <p:nvSpPr>
          <p:cNvPr id="49155" name="Rectangle 3"/>
          <p:cNvSpPr>
            <a:spLocks noGrp="1" noChangeArrowheads="1"/>
          </p:cNvSpPr>
          <p:nvPr>
            <p:ph idx="1"/>
          </p:nvPr>
        </p:nvSpPr>
        <p:spPr>
          <a:xfrm>
            <a:off x="1905000" y="1420813"/>
            <a:ext cx="8388350" cy="5086350"/>
          </a:xfrm>
        </p:spPr>
        <p:txBody>
          <a:bodyPr>
            <a:normAutofit fontScale="92500" lnSpcReduction="10000"/>
          </a:bodyPr>
          <a:lstStyle/>
          <a:p>
            <a:pPr marL="406400" indent="-406400"/>
            <a:r>
              <a:rPr lang="en-US" sz="2400" dirty="0" err="1"/>
              <a:t>BitLocker</a:t>
            </a:r>
            <a:r>
              <a:rPr lang="en-US" sz="2400" dirty="0"/>
              <a:t>™ Drive Encryption gives you improved data protection on your Windows</a:t>
            </a:r>
          </a:p>
          <a:p>
            <a:pPr marL="747713" lvl="1" indent="-339725"/>
            <a:r>
              <a:rPr lang="en-US" sz="2000" dirty="0"/>
              <a:t>Notebooks – Often stolen, easily lost in transit</a:t>
            </a:r>
          </a:p>
          <a:p>
            <a:pPr marL="747713" lvl="1" indent="-339725"/>
            <a:r>
              <a:rPr lang="en-US" sz="2000" dirty="0"/>
              <a:t>Desktops – Often stolen, difficult to safely decommission</a:t>
            </a:r>
          </a:p>
          <a:p>
            <a:pPr marL="747713" lvl="1" indent="-339725"/>
            <a:r>
              <a:rPr lang="en-US" sz="2000" dirty="0"/>
              <a:t>Servers – High value targets, often kept in insecure locations</a:t>
            </a:r>
          </a:p>
          <a:p>
            <a:pPr marL="747713" lvl="1" indent="-339725"/>
            <a:r>
              <a:rPr lang="en-US" sz="2000" dirty="0"/>
              <a:t>All three can contain very sensitive IP and customer data</a:t>
            </a:r>
          </a:p>
          <a:p>
            <a:pPr marL="406400" indent="-406400"/>
            <a:r>
              <a:rPr lang="en-US" sz="2400" dirty="0"/>
              <a:t>Designed to provide a </a:t>
            </a:r>
            <a:r>
              <a:rPr lang="en-US" sz="2400" b="1" dirty="0"/>
              <a:t>transparent user experience </a:t>
            </a:r>
            <a:r>
              <a:rPr lang="en-US" sz="2400" dirty="0"/>
              <a:t>that requires little to no interaction on a protected system</a:t>
            </a:r>
          </a:p>
          <a:p>
            <a:pPr marL="406400" indent="-406400"/>
            <a:r>
              <a:rPr lang="en-US" sz="2400" dirty="0"/>
              <a:t>Prevents thieves from using another OS or software hacking tool to break OS file and system protections</a:t>
            </a:r>
          </a:p>
          <a:p>
            <a:pPr marL="747713" lvl="1" indent="-339725"/>
            <a:r>
              <a:rPr lang="en-US" sz="2000" dirty="0"/>
              <a:t>Prevents offline viewing of user data and OS files</a:t>
            </a:r>
          </a:p>
          <a:p>
            <a:pPr marL="747713" lvl="1" indent="-339725"/>
            <a:r>
              <a:rPr lang="en-US" sz="2000" dirty="0"/>
              <a:t>Provides enhanced data protection and boot validation </a:t>
            </a:r>
            <a:br>
              <a:rPr lang="en-US" sz="2000" dirty="0"/>
            </a:br>
            <a:r>
              <a:rPr lang="en-US" sz="2000" dirty="0"/>
              <a:t>through use of a Trusted Platform Module (TPM)</a:t>
            </a:r>
          </a:p>
        </p:txBody>
      </p:sp>
      <p:sp>
        <p:nvSpPr>
          <p:cNvPr id="2" name="Footer Placeholder 1"/>
          <p:cNvSpPr>
            <a:spLocks noGrp="1"/>
          </p:cNvSpPr>
          <p:nvPr>
            <p:ph type="ftr" sz="quarter" idx="11"/>
          </p:nvPr>
        </p:nvSpPr>
        <p:spPr/>
        <p:txBody>
          <a:bodyPr/>
          <a:lstStyle/>
          <a:p>
            <a:r>
              <a:rPr lang="en-US" smtClean="0"/>
              <a:t>CS660 - Advanced Information Assurance - UMassAmherst </a:t>
            </a:r>
            <a:endParaRPr lang="en-US"/>
          </a:p>
        </p:txBody>
      </p:sp>
      <p:sp>
        <p:nvSpPr>
          <p:cNvPr id="3" name="Slide Number Placeholder 2"/>
          <p:cNvSpPr>
            <a:spLocks noGrp="1"/>
          </p:cNvSpPr>
          <p:nvPr>
            <p:ph type="sldNum" sz="quarter" idx="12"/>
          </p:nvPr>
        </p:nvSpPr>
        <p:spPr/>
        <p:txBody>
          <a:bodyPr/>
          <a:lstStyle/>
          <a:p>
            <a:fld id="{CF5F3735-DF36-BA4D-8B7B-6E770590AE69}" type="slidenum">
              <a:rPr lang="en-US" smtClean="0"/>
              <a:t>13</a:t>
            </a:fld>
            <a:endParaRPr lang="en-US"/>
          </a:p>
        </p:txBody>
      </p:sp>
    </p:spTree>
    <p:extLst>
      <p:ext uri="{BB962C8B-B14F-4D97-AF65-F5344CB8AC3E}">
        <p14:creationId xmlns:p14="http://schemas.microsoft.com/office/powerpoint/2010/main" val="3449918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905001" y="228601"/>
            <a:ext cx="8393113" cy="804863"/>
          </a:xfrm>
        </p:spPr>
        <p:txBody>
          <a:bodyPr>
            <a:normAutofit fontScale="90000"/>
          </a:bodyPr>
          <a:lstStyle/>
          <a:p>
            <a:r>
              <a:rPr lang="en-US" sz="3200"/>
              <a:t>BitLocker™ Drive Encryption Architecture</a:t>
            </a:r>
            <a:br>
              <a:rPr lang="en-US" sz="3200"/>
            </a:br>
            <a:r>
              <a:rPr lang="en-US" sz="2000">
                <a:solidFill>
                  <a:schemeClr val="accent1"/>
                </a:solidFill>
              </a:rPr>
              <a:t>Static Root of Trust Measurement of boot components</a:t>
            </a:r>
          </a:p>
        </p:txBody>
      </p:sp>
      <p:graphicFrame>
        <p:nvGraphicFramePr>
          <p:cNvPr id="57347" name="Object 3"/>
          <p:cNvGraphicFramePr>
            <a:graphicFrameLocks noGrp="1" noChangeAspect="1"/>
          </p:cNvGraphicFramePr>
          <p:nvPr>
            <p:ph sz="half" idx="4294967295"/>
          </p:nvPr>
        </p:nvGraphicFramePr>
        <p:xfrm>
          <a:off x="1947864" y="1447800"/>
          <a:ext cx="8720137" cy="4567238"/>
        </p:xfrm>
        <a:graphic>
          <a:graphicData uri="http://schemas.openxmlformats.org/presentationml/2006/ole">
            <mc:AlternateContent xmlns:mc="http://schemas.openxmlformats.org/markup-compatibility/2006">
              <mc:Choice xmlns:v="urn:schemas-microsoft-com:vml" Requires="v">
                <p:oleObj spid="_x0000_s3076" name="Visio" r:id="rId4" imgW="12554065" imgH="6394399" progId="Visio.Drawing.11">
                  <p:embed/>
                </p:oleObj>
              </mc:Choice>
              <mc:Fallback>
                <p:oleObj name="Visio" r:id="rId4" imgW="12554065" imgH="6394399" progId="Visio.Drawing.11">
                  <p:embed/>
                  <p:pic>
                    <p:nvPicPr>
                      <p:cNvPr id="5734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864" y="1447800"/>
                        <a:ext cx="8720137" cy="4567238"/>
                      </a:xfrm>
                      <a:prstGeom prst="rect">
                        <a:avLst/>
                      </a:prstGeom>
                      <a:noFill/>
                      <a:ln>
                        <a:noFill/>
                      </a:ln>
                      <a:effectLst/>
                      <a:extLst>
                        <a:ext uri="{909E8E84-426E-40dd-AFC4-6F175D3DCCD1}">
                          <a14:hiddenFill xmlns:a14="http://schemas.microsoft.com/office/drawing/2010/main" xmlns="">
                            <a:solidFill>
                              <a:schemeClr val="hlink"/>
                            </a:solidFill>
                          </a14:hiddenFill>
                        </a:ext>
                        <a:ext uri="{91240B29-F687-4f45-9708-019B960494DF}">
                          <a14:hiddenLine xmlns:a14="http://schemas.microsoft.com/office/drawing/2010/main" xmlns="" w="3175" cap="flat" cmpd="sng">
                            <a:solidFill>
                              <a:srgbClr val="FFFFFF"/>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3857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905001" y="228601"/>
            <a:ext cx="8393113" cy="695325"/>
          </a:xfrm>
        </p:spPr>
        <p:txBody>
          <a:bodyPr>
            <a:normAutofit fontScale="90000"/>
          </a:bodyPr>
          <a:lstStyle/>
          <a:p>
            <a:r>
              <a:rPr lang="en-US" sz="4400"/>
              <a:t>Disk Layout And Key Storage</a:t>
            </a:r>
          </a:p>
        </p:txBody>
      </p:sp>
      <p:sp>
        <p:nvSpPr>
          <p:cNvPr id="58371" name="Rectangle 3"/>
          <p:cNvSpPr>
            <a:spLocks noGrp="1" noChangeArrowheads="1"/>
          </p:cNvSpPr>
          <p:nvPr>
            <p:ph sz="half" idx="1"/>
          </p:nvPr>
        </p:nvSpPr>
        <p:spPr>
          <a:xfrm>
            <a:off x="1905001" y="1420814"/>
            <a:ext cx="4117975" cy="1990725"/>
          </a:xfrm>
        </p:spPr>
        <p:txBody>
          <a:bodyPr>
            <a:normAutofit fontScale="92500" lnSpcReduction="20000"/>
          </a:bodyPr>
          <a:lstStyle/>
          <a:p>
            <a:pPr marL="285750" indent="-285750">
              <a:buNone/>
            </a:pPr>
            <a:r>
              <a:rPr lang="en-US">
                <a:solidFill>
                  <a:schemeClr val="accent1"/>
                </a:solidFill>
              </a:rPr>
              <a:t>OS Volume</a:t>
            </a:r>
            <a:r>
              <a:rPr lang="en-US"/>
              <a:t> Contains</a:t>
            </a:r>
          </a:p>
          <a:p>
            <a:pPr marL="285750" indent="-285750"/>
            <a:r>
              <a:rPr lang="en-US"/>
              <a:t>Encrypted OS</a:t>
            </a:r>
          </a:p>
          <a:p>
            <a:pPr marL="285750" indent="-285750"/>
            <a:r>
              <a:rPr lang="en-US"/>
              <a:t>Encrypted Page File</a:t>
            </a:r>
          </a:p>
          <a:p>
            <a:pPr marL="285750" indent="-285750"/>
            <a:r>
              <a:rPr lang="en-US"/>
              <a:t>Encrypted Temp Files</a:t>
            </a:r>
          </a:p>
          <a:p>
            <a:pPr marL="285750" indent="-285750"/>
            <a:r>
              <a:rPr lang="en-US"/>
              <a:t>Encrypted Data</a:t>
            </a:r>
          </a:p>
          <a:p>
            <a:pPr marL="285750" indent="-285750"/>
            <a:r>
              <a:rPr lang="en-US"/>
              <a:t>Encrypted Hibernation File</a:t>
            </a:r>
          </a:p>
        </p:txBody>
      </p:sp>
      <p:sp>
        <p:nvSpPr>
          <p:cNvPr id="58372" name="Rectangle 4"/>
          <p:cNvSpPr>
            <a:spLocks noGrp="1" noChangeArrowheads="1"/>
          </p:cNvSpPr>
          <p:nvPr>
            <p:ph sz="half" idx="2"/>
          </p:nvPr>
        </p:nvSpPr>
        <p:spPr>
          <a:xfrm>
            <a:off x="6175376" y="1420814"/>
            <a:ext cx="4117975" cy="2320925"/>
          </a:xfrm>
        </p:spPr>
        <p:txBody>
          <a:bodyPr>
            <a:normAutofit fontScale="92500" lnSpcReduction="20000"/>
          </a:bodyPr>
          <a:lstStyle/>
          <a:p>
            <a:pPr marL="292100" indent="-292100">
              <a:buNone/>
            </a:pPr>
            <a:r>
              <a:rPr lang="en-US" i="1">
                <a:solidFill>
                  <a:schemeClr val="accent1"/>
                </a:solidFill>
              </a:rPr>
              <a:t>Where</a:t>
            </a:r>
            <a:r>
              <a:rPr lang="ja-JP" altLang="en-US" i="1">
                <a:solidFill>
                  <a:schemeClr val="accent1"/>
                </a:solidFill>
                <a:latin typeface="Arial"/>
              </a:rPr>
              <a:t>’</a:t>
            </a:r>
            <a:r>
              <a:rPr lang="en-US" i="1">
                <a:solidFill>
                  <a:schemeClr val="accent1"/>
                </a:solidFill>
              </a:rPr>
              <a:t>s the Encryption Key?</a:t>
            </a:r>
          </a:p>
          <a:p>
            <a:pPr marL="292100" indent="-292100">
              <a:buFont typeface="Wingdings" charset="0"/>
              <a:buAutoNum type="arabicPeriod"/>
            </a:pPr>
            <a:r>
              <a:rPr lang="en-US">
                <a:solidFill>
                  <a:schemeClr val="accent1"/>
                </a:solidFill>
              </a:rPr>
              <a:t>SRK</a:t>
            </a:r>
            <a:r>
              <a:rPr lang="en-US"/>
              <a:t> (Storage Root Key)</a:t>
            </a:r>
            <a:br>
              <a:rPr lang="en-US"/>
            </a:br>
            <a:r>
              <a:rPr lang="en-US"/>
              <a:t>contained in TPM </a:t>
            </a:r>
          </a:p>
          <a:p>
            <a:pPr marL="292100" indent="-292100">
              <a:buFont typeface="Wingdings" charset="0"/>
              <a:buAutoNum type="arabicPeriod"/>
            </a:pPr>
            <a:r>
              <a:rPr lang="en-US">
                <a:solidFill>
                  <a:schemeClr val="accent1"/>
                </a:solidFill>
              </a:rPr>
              <a:t>SRK</a:t>
            </a:r>
            <a:r>
              <a:rPr lang="en-US"/>
              <a:t> encrypts </a:t>
            </a:r>
            <a:r>
              <a:rPr lang="en-US">
                <a:solidFill>
                  <a:schemeClr val="accent1"/>
                </a:solidFill>
              </a:rPr>
              <a:t>FVEK</a:t>
            </a:r>
            <a:r>
              <a:rPr lang="en-US"/>
              <a:t> (Full Volume Encryption Key) protected by TPM/PIN/USB Storage Device</a:t>
            </a:r>
          </a:p>
          <a:p>
            <a:pPr marL="292100" indent="-292100">
              <a:buFont typeface="Wingdings" charset="0"/>
              <a:buAutoNum type="arabicPeriod"/>
            </a:pPr>
            <a:r>
              <a:rPr lang="en-US">
                <a:solidFill>
                  <a:schemeClr val="accent1"/>
                </a:solidFill>
              </a:rPr>
              <a:t>FVEK</a:t>
            </a:r>
            <a:r>
              <a:rPr lang="en-US"/>
              <a:t> stored (encrypted by </a:t>
            </a:r>
            <a:r>
              <a:rPr lang="en-US">
                <a:solidFill>
                  <a:schemeClr val="accent1"/>
                </a:solidFill>
              </a:rPr>
              <a:t>SRK</a:t>
            </a:r>
            <a:r>
              <a:rPr lang="en-US"/>
              <a:t>) on hard drive in the </a:t>
            </a:r>
            <a:r>
              <a:rPr lang="en-US">
                <a:solidFill>
                  <a:schemeClr val="accent1"/>
                </a:solidFill>
              </a:rPr>
              <a:t>OS Volume</a:t>
            </a:r>
          </a:p>
        </p:txBody>
      </p:sp>
      <p:graphicFrame>
        <p:nvGraphicFramePr>
          <p:cNvPr id="58373" name="Object 5"/>
          <p:cNvGraphicFramePr>
            <a:graphicFrameLocks noChangeAspect="1"/>
          </p:cNvGraphicFramePr>
          <p:nvPr>
            <p:extLst/>
          </p:nvPr>
        </p:nvGraphicFramePr>
        <p:xfrm>
          <a:off x="1911351" y="4086226"/>
          <a:ext cx="3217863" cy="2538413"/>
        </p:xfrm>
        <a:graphic>
          <a:graphicData uri="http://schemas.openxmlformats.org/presentationml/2006/ole">
            <mc:AlternateContent xmlns:mc="http://schemas.openxmlformats.org/markup-compatibility/2006">
              <mc:Choice xmlns:v="urn:schemas-microsoft-com:vml" Requires="v">
                <p:oleObj spid="_x0000_s4102" name="Chart" r:id="rId4" imgW="5153089" imgH="4067336" progId="MSGraph.Chart.8">
                  <p:embed followColorScheme="full"/>
                </p:oleObj>
              </mc:Choice>
              <mc:Fallback>
                <p:oleObj name="Chart" r:id="rId4" imgW="5153089" imgH="4067336" progId="MSGraph.Chart.8">
                  <p:embed followColorScheme="full"/>
                  <p:pic>
                    <p:nvPicPr>
                      <p:cNvPr id="58373" name="Object 5"/>
                      <p:cNvPicPr>
                        <a:picLocks noChangeAspect="1" noChangeArrowheads="1"/>
                      </p:cNvPicPr>
                      <p:nvPr/>
                    </p:nvPicPr>
                    <p:blipFill>
                      <a:blip r:embed="rId5"/>
                      <a:srcRect/>
                      <a:stretch>
                        <a:fillRect/>
                      </a:stretch>
                    </p:blipFill>
                    <p:spPr bwMode="auto">
                      <a:xfrm>
                        <a:off x="1911351" y="4086226"/>
                        <a:ext cx="3217863" cy="25384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107763" dir="2700000" algn="ctr" rotWithShape="0">
                                <a:srgbClr val="000000">
                                  <a:alpha val="50000"/>
                                </a:srgbClr>
                              </a:outerShdw>
                            </a:effectLst>
                          </a14:hiddenEffects>
                        </a:ext>
                      </a:extLst>
                    </p:spPr>
                  </p:pic>
                </p:oleObj>
              </mc:Fallback>
            </mc:AlternateContent>
          </a:graphicData>
        </a:graphic>
      </p:graphicFrame>
      <p:sp>
        <p:nvSpPr>
          <p:cNvPr id="58374" name="Text Box 6"/>
          <p:cNvSpPr txBox="1">
            <a:spLocks noChangeArrowheads="1"/>
          </p:cNvSpPr>
          <p:nvPr/>
        </p:nvSpPr>
        <p:spPr bwMode="auto">
          <a:xfrm>
            <a:off x="4098925" y="5248275"/>
            <a:ext cx="7239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defTabSz="914400" fontAlgn="base">
              <a:spcBef>
                <a:spcPct val="0"/>
              </a:spcBef>
              <a:spcAft>
                <a:spcPct val="0"/>
              </a:spcAft>
            </a:pPr>
            <a:r>
              <a:rPr lang="en-US" sz="1200" b="1">
                <a:solidFill>
                  <a:srgbClr val="000000"/>
                </a:solidFill>
                <a:latin typeface="Arial" charset="0"/>
                <a:ea typeface="ＭＳ Ｐゴシック" charset="0"/>
              </a:rPr>
              <a:t>System</a:t>
            </a:r>
          </a:p>
        </p:txBody>
      </p:sp>
      <p:sp>
        <p:nvSpPr>
          <p:cNvPr id="58375" name="Text Box 7"/>
          <p:cNvSpPr txBox="1">
            <a:spLocks noChangeArrowheads="1"/>
          </p:cNvSpPr>
          <p:nvPr/>
        </p:nvSpPr>
        <p:spPr bwMode="auto">
          <a:xfrm>
            <a:off x="2781300" y="4641851"/>
            <a:ext cx="1403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defTabSz="914400" fontAlgn="base">
              <a:spcBef>
                <a:spcPct val="0"/>
              </a:spcBef>
              <a:spcAft>
                <a:spcPct val="0"/>
              </a:spcAft>
            </a:pPr>
            <a:r>
              <a:rPr lang="en-US" b="1">
                <a:solidFill>
                  <a:srgbClr val="000000"/>
                </a:solidFill>
                <a:latin typeface="Arial" charset="0"/>
                <a:ea typeface="ＭＳ Ｐゴシック" charset="0"/>
              </a:rPr>
              <a:t>OS Volume</a:t>
            </a:r>
          </a:p>
        </p:txBody>
      </p:sp>
      <p:pic>
        <p:nvPicPr>
          <p:cNvPr id="58376" name="Picture 8" descr="top curving arrow teal pin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1800" y="4129089"/>
            <a:ext cx="4343400" cy="1042987"/>
          </a:xfrm>
          <a:prstGeom prst="rect">
            <a:avLst/>
          </a:prstGeom>
          <a:noFill/>
          <a:extLst>
            <a:ext uri="{909E8E84-426E-40dd-AFC4-6F175D3DCCD1}">
              <a14:hiddenFill xmlns:a14="http://schemas.microsoft.com/office/drawing/2010/main" xmlns="">
                <a:solidFill>
                  <a:srgbClr val="FFFFFF"/>
                </a:solidFill>
              </a14:hiddenFill>
            </a:ext>
          </a:extLst>
        </p:spPr>
      </p:pic>
      <p:pic>
        <p:nvPicPr>
          <p:cNvPr id="58377" name="Picture 9" descr="secure lock and ke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3189" y="4054476"/>
            <a:ext cx="581025" cy="835025"/>
          </a:xfrm>
          <a:prstGeom prst="rect">
            <a:avLst/>
          </a:prstGeom>
          <a:noFill/>
          <a:extLst>
            <a:ext uri="{909E8E84-426E-40dd-AFC4-6F175D3DCCD1}">
              <a14:hiddenFill xmlns:a14="http://schemas.microsoft.com/office/drawing/2010/main" xmlns="">
                <a:solidFill>
                  <a:srgbClr val="FFFFFF"/>
                </a:solidFill>
              </a14:hiddenFill>
            </a:ext>
          </a:extLst>
        </p:spPr>
      </p:pic>
      <p:sp>
        <p:nvSpPr>
          <p:cNvPr id="58378" name="Text Box 10"/>
          <p:cNvSpPr txBox="1">
            <a:spLocks noChangeArrowheads="1"/>
          </p:cNvSpPr>
          <p:nvPr/>
        </p:nvSpPr>
        <p:spPr bwMode="auto">
          <a:xfrm>
            <a:off x="5156200" y="5527676"/>
            <a:ext cx="3657600" cy="873125"/>
          </a:xfrm>
          <a:prstGeom prst="rect">
            <a:avLst/>
          </a:prstGeom>
          <a:noFill/>
          <a:ln>
            <a:noFill/>
          </a:ln>
          <a:effectLst/>
          <a:extLst>
            <a:ext uri="{909E8E84-426E-40dd-AFC4-6F175D3DCCD1}">
              <a14:hiddenFill xmlns:a14="http://schemas.microsoft.com/office/drawing/2010/main" xmlns="">
                <a:gradFill rotWithShape="1">
                  <a:gsLst>
                    <a:gs pos="0">
                      <a:schemeClr val="hlink"/>
                    </a:gs>
                    <a:gs pos="50000">
                      <a:schemeClr val="hlink">
                        <a:gamma/>
                        <a:tint val="53725"/>
                        <a:invGamma/>
                      </a:schemeClr>
                    </a:gs>
                    <a:gs pos="100000">
                      <a:schemeClr val="hlink"/>
                    </a:gs>
                  </a:gsLst>
                  <a:lin ang="2700000" scaled="1"/>
                </a:gradFill>
              </a14:hiddenFill>
            </a:ext>
            <a:ext uri="{91240B29-F687-4f45-9708-019B960494DF}">
              <a14:hiddenLine xmlns:a14="http://schemas.microsoft.com/office/drawing/2010/main" xmlns="" w="3175">
                <a:solidFill>
                  <a:srgbClr val="FFFFFF"/>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fontAlgn="base">
              <a:spcBef>
                <a:spcPct val="10000"/>
              </a:spcBef>
              <a:spcAft>
                <a:spcPct val="0"/>
              </a:spcAft>
            </a:pPr>
            <a:r>
              <a:rPr lang="en-US" sz="1600">
                <a:solidFill>
                  <a:srgbClr val="F2D468"/>
                </a:solidFill>
                <a:effectLst>
                  <a:outerShdw blurRad="38100" dist="38100" dir="2700000" algn="tl">
                    <a:srgbClr val="000000"/>
                  </a:outerShdw>
                </a:effectLst>
                <a:latin typeface="Arial" charset="0"/>
                <a:ea typeface="ＭＳ Ｐゴシック" charset="0"/>
              </a:rPr>
              <a:t>System Volume</a:t>
            </a:r>
            <a:r>
              <a:rPr lang="en-US" sz="1600">
                <a:solidFill>
                  <a:srgbClr val="FFFFFF"/>
                </a:solidFill>
                <a:effectLst>
                  <a:outerShdw blurRad="38100" dist="38100" dir="2700000" algn="tl">
                    <a:srgbClr val="000000"/>
                  </a:outerShdw>
                </a:effectLst>
                <a:latin typeface="Arial" charset="0"/>
                <a:ea typeface="ＭＳ Ｐゴシック" charset="0"/>
              </a:rPr>
              <a:t> Contains:</a:t>
            </a:r>
          </a:p>
          <a:p>
            <a:pPr defTabSz="914400" fontAlgn="base">
              <a:spcBef>
                <a:spcPct val="10000"/>
              </a:spcBef>
              <a:spcAft>
                <a:spcPct val="0"/>
              </a:spcAft>
            </a:pPr>
            <a:r>
              <a:rPr lang="en-US" sz="1600">
                <a:solidFill>
                  <a:srgbClr val="FFFFFF"/>
                </a:solidFill>
                <a:effectLst>
                  <a:outerShdw blurRad="38100" dist="38100" dir="2700000" algn="tl">
                    <a:srgbClr val="000000"/>
                  </a:outerShdw>
                </a:effectLst>
                <a:latin typeface="Arial" charset="0"/>
                <a:ea typeface="ＭＳ Ｐゴシック" charset="0"/>
              </a:rPr>
              <a:t>MBR, Boot manager, Boot Utilities</a:t>
            </a:r>
          </a:p>
          <a:p>
            <a:pPr defTabSz="914400" fontAlgn="base">
              <a:spcBef>
                <a:spcPct val="10000"/>
              </a:spcBef>
              <a:spcAft>
                <a:spcPct val="0"/>
              </a:spcAft>
            </a:pPr>
            <a:r>
              <a:rPr lang="en-US" sz="1600">
                <a:solidFill>
                  <a:srgbClr val="FFFFFF"/>
                </a:solidFill>
                <a:effectLst>
                  <a:outerShdw blurRad="38100" dist="38100" dir="2700000" algn="tl">
                    <a:srgbClr val="000000"/>
                  </a:outerShdw>
                </a:effectLst>
                <a:latin typeface="Arial" charset="0"/>
                <a:ea typeface="ＭＳ Ｐゴシック" charset="0"/>
              </a:rPr>
              <a:t>(Unencrypted, small)</a:t>
            </a:r>
          </a:p>
        </p:txBody>
      </p:sp>
      <p:grpSp>
        <p:nvGrpSpPr>
          <p:cNvPr id="58379" name="Group 11"/>
          <p:cNvGrpSpPr>
            <a:grpSpLocks/>
          </p:cNvGrpSpPr>
          <p:nvPr/>
        </p:nvGrpSpPr>
        <p:grpSpPr bwMode="auto">
          <a:xfrm>
            <a:off x="8653464" y="4433888"/>
            <a:ext cx="1087437" cy="488950"/>
            <a:chOff x="4272" y="2285"/>
            <a:chExt cx="912" cy="869"/>
          </a:xfrm>
        </p:grpSpPr>
        <p:graphicFrame>
          <p:nvGraphicFramePr>
            <p:cNvPr id="58380" name="Object 12"/>
            <p:cNvGraphicFramePr>
              <a:graphicFrameLocks noChangeAspect="1"/>
            </p:cNvGraphicFramePr>
            <p:nvPr/>
          </p:nvGraphicFramePr>
          <p:xfrm>
            <a:off x="4272" y="2285"/>
            <a:ext cx="912" cy="869"/>
          </p:xfrm>
          <a:graphic>
            <a:graphicData uri="http://schemas.openxmlformats.org/presentationml/2006/ole">
              <mc:AlternateContent xmlns:mc="http://schemas.openxmlformats.org/markup-compatibility/2006">
                <mc:Choice xmlns:v="urn:schemas-microsoft-com:vml" Requires="v">
                  <p:oleObj spid="_x0000_s4103" name="Visio" r:id="rId8" imgW="437434" imgH="416966" progId="Visio.Drawing.11">
                    <p:embed/>
                  </p:oleObj>
                </mc:Choice>
                <mc:Fallback>
                  <p:oleObj name="Visio" r:id="rId8" imgW="437434" imgH="416966" progId="Visio.Drawing.11">
                    <p:embed/>
                    <p:pic>
                      <p:nvPicPr>
                        <p:cNvPr id="5838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72" y="2285"/>
                          <a:ext cx="912" cy="8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12700" algn="ctr" rotWithShape="0">
                                  <a:schemeClr val="bg2">
                                    <a:alpha val="50000"/>
                                  </a:schemeClr>
                                </a:outerShdw>
                              </a:effectLst>
                            </a14:hiddenEffects>
                          </a:ext>
                        </a:extLst>
                      </p:spPr>
                    </p:pic>
                  </p:oleObj>
                </mc:Fallback>
              </mc:AlternateContent>
            </a:graphicData>
          </a:graphic>
        </p:graphicFrame>
        <p:pic>
          <p:nvPicPr>
            <p:cNvPr id="58381" name="Picture 13" descr="secure key"/>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0" y="2496"/>
              <a:ext cx="306" cy="306"/>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58382" name="Oval 14"/>
          <p:cNvSpPr>
            <a:spLocks noChangeArrowheads="1"/>
          </p:cNvSpPr>
          <p:nvPr/>
        </p:nvSpPr>
        <p:spPr bwMode="auto">
          <a:xfrm>
            <a:off x="4483100" y="4373563"/>
            <a:ext cx="228600" cy="228600"/>
          </a:xfrm>
          <a:prstGeom prst="ellipse">
            <a:avLst/>
          </a:prstGeom>
          <a:gradFill rotWithShape="1">
            <a:gsLst>
              <a:gs pos="0">
                <a:srgbClr val="66CC66"/>
              </a:gs>
              <a:gs pos="50000">
                <a:srgbClr val="66CC66">
                  <a:gamma/>
                  <a:tint val="53725"/>
                  <a:invGamma/>
                </a:srgbClr>
              </a:gs>
              <a:gs pos="100000">
                <a:srgbClr val="66CC66"/>
              </a:gs>
            </a:gsLst>
            <a:lin ang="2700000" scaled="1"/>
          </a:gradFill>
          <a:ln w="3175">
            <a:solidFill>
              <a:srgbClr val="FFFFFF"/>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914400" fontAlgn="base">
              <a:lnSpc>
                <a:spcPct val="90000"/>
              </a:lnSpc>
              <a:spcBef>
                <a:spcPct val="30000"/>
              </a:spcBef>
              <a:spcAft>
                <a:spcPct val="0"/>
              </a:spcAft>
            </a:pPr>
            <a:r>
              <a:rPr lang="en-US" b="1">
                <a:solidFill>
                  <a:srgbClr val="000000"/>
                </a:solidFill>
                <a:latin typeface="Arial" charset="0"/>
                <a:ea typeface="ＭＳ Ｐゴシック" charset="0"/>
              </a:rPr>
              <a:t>3</a:t>
            </a:r>
          </a:p>
        </p:txBody>
      </p:sp>
      <p:sp>
        <p:nvSpPr>
          <p:cNvPr id="58383" name="Oval 15"/>
          <p:cNvSpPr>
            <a:spLocks noChangeArrowheads="1"/>
          </p:cNvSpPr>
          <p:nvPr/>
        </p:nvSpPr>
        <p:spPr bwMode="auto">
          <a:xfrm>
            <a:off x="6348413" y="5006975"/>
            <a:ext cx="228600" cy="228600"/>
          </a:xfrm>
          <a:prstGeom prst="ellipse">
            <a:avLst/>
          </a:prstGeom>
          <a:gradFill rotWithShape="1">
            <a:gsLst>
              <a:gs pos="0">
                <a:srgbClr val="66CC66"/>
              </a:gs>
              <a:gs pos="50000">
                <a:srgbClr val="66CC66">
                  <a:gamma/>
                  <a:tint val="53725"/>
                  <a:invGamma/>
                </a:srgbClr>
              </a:gs>
              <a:gs pos="100000">
                <a:srgbClr val="66CC66"/>
              </a:gs>
            </a:gsLst>
            <a:lin ang="2700000" scaled="1"/>
          </a:gradFill>
          <a:ln w="3175">
            <a:solidFill>
              <a:srgbClr val="FFFFFF"/>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914400" fontAlgn="base">
              <a:lnSpc>
                <a:spcPct val="90000"/>
              </a:lnSpc>
              <a:spcBef>
                <a:spcPct val="30000"/>
              </a:spcBef>
              <a:spcAft>
                <a:spcPct val="0"/>
              </a:spcAft>
            </a:pPr>
            <a:r>
              <a:rPr lang="en-US" b="1">
                <a:solidFill>
                  <a:srgbClr val="000000"/>
                </a:solidFill>
                <a:latin typeface="Arial" charset="0"/>
                <a:ea typeface="ＭＳ Ｐゴシック" charset="0"/>
              </a:rPr>
              <a:t>2</a:t>
            </a:r>
          </a:p>
        </p:txBody>
      </p:sp>
      <p:sp>
        <p:nvSpPr>
          <p:cNvPr id="58384" name="Text Box 16"/>
          <p:cNvSpPr txBox="1">
            <a:spLocks noChangeArrowheads="1"/>
          </p:cNvSpPr>
          <p:nvPr/>
        </p:nvSpPr>
        <p:spPr bwMode="auto">
          <a:xfrm>
            <a:off x="6573839" y="4937126"/>
            <a:ext cx="8032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r" defTabSz="914400" fontAlgn="base">
              <a:spcBef>
                <a:spcPct val="50000"/>
              </a:spcBef>
              <a:spcAft>
                <a:spcPct val="0"/>
              </a:spcAft>
            </a:pPr>
            <a:r>
              <a:rPr lang="en-US">
                <a:solidFill>
                  <a:srgbClr val="FFFFFF"/>
                </a:solidFill>
                <a:effectLst>
                  <a:outerShdw blurRad="38100" dist="38100" dir="2700000" algn="tl">
                    <a:srgbClr val="000000"/>
                  </a:outerShdw>
                </a:effectLst>
                <a:latin typeface="Arial" charset="0"/>
                <a:ea typeface="ＭＳ Ｐゴシック" charset="0"/>
              </a:rPr>
              <a:t>FVEK</a:t>
            </a:r>
          </a:p>
        </p:txBody>
      </p:sp>
      <p:sp>
        <p:nvSpPr>
          <p:cNvPr id="58385" name="Oval 17"/>
          <p:cNvSpPr>
            <a:spLocks noChangeArrowheads="1"/>
          </p:cNvSpPr>
          <p:nvPr/>
        </p:nvSpPr>
        <p:spPr bwMode="auto">
          <a:xfrm>
            <a:off x="8802688" y="5006975"/>
            <a:ext cx="228600" cy="228600"/>
          </a:xfrm>
          <a:prstGeom prst="ellipse">
            <a:avLst/>
          </a:prstGeom>
          <a:gradFill rotWithShape="1">
            <a:gsLst>
              <a:gs pos="0">
                <a:srgbClr val="66CC66"/>
              </a:gs>
              <a:gs pos="50000">
                <a:srgbClr val="66CC66">
                  <a:gamma/>
                  <a:tint val="53725"/>
                  <a:invGamma/>
                </a:srgbClr>
              </a:gs>
              <a:gs pos="100000">
                <a:srgbClr val="66CC66"/>
              </a:gs>
            </a:gsLst>
            <a:lin ang="2700000" scaled="1"/>
          </a:gradFill>
          <a:ln w="3175">
            <a:solidFill>
              <a:srgbClr val="FFFFFF"/>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914400" fontAlgn="base">
              <a:lnSpc>
                <a:spcPct val="90000"/>
              </a:lnSpc>
              <a:spcBef>
                <a:spcPct val="30000"/>
              </a:spcBef>
              <a:spcAft>
                <a:spcPct val="0"/>
              </a:spcAft>
            </a:pPr>
            <a:r>
              <a:rPr lang="en-US" b="1">
                <a:solidFill>
                  <a:srgbClr val="000000"/>
                </a:solidFill>
                <a:latin typeface="Arial" charset="0"/>
                <a:ea typeface="ＭＳ Ｐゴシック" charset="0"/>
              </a:rPr>
              <a:t>1</a:t>
            </a:r>
          </a:p>
        </p:txBody>
      </p:sp>
      <p:sp>
        <p:nvSpPr>
          <p:cNvPr id="58386" name="Text Box 18"/>
          <p:cNvSpPr txBox="1">
            <a:spLocks noChangeArrowheads="1"/>
          </p:cNvSpPr>
          <p:nvPr/>
        </p:nvSpPr>
        <p:spPr bwMode="auto">
          <a:xfrm>
            <a:off x="9024938" y="4938713"/>
            <a:ext cx="1204912"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fontAlgn="base">
              <a:spcBef>
                <a:spcPct val="50000"/>
              </a:spcBef>
              <a:spcAft>
                <a:spcPct val="0"/>
              </a:spcAft>
            </a:pPr>
            <a:r>
              <a:rPr lang="en-US">
                <a:solidFill>
                  <a:srgbClr val="FFFFFF"/>
                </a:solidFill>
                <a:effectLst>
                  <a:outerShdw blurRad="38100" dist="38100" dir="2700000" algn="tl">
                    <a:srgbClr val="000000"/>
                  </a:outerShdw>
                </a:effectLst>
                <a:latin typeface="Arial" charset="0"/>
                <a:ea typeface="ＭＳ Ｐゴシック" charset="0"/>
              </a:rPr>
              <a:t>SRK</a:t>
            </a:r>
          </a:p>
        </p:txBody>
      </p:sp>
    </p:spTree>
    <p:extLst>
      <p:ext uri="{BB962C8B-B14F-4D97-AF65-F5344CB8AC3E}">
        <p14:creationId xmlns:p14="http://schemas.microsoft.com/office/powerpoint/2010/main" val="733637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1719264" y="1057276"/>
            <a:ext cx="4518025" cy="1006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fontAlgn="base">
              <a:spcBef>
                <a:spcPct val="0"/>
              </a:spcBef>
              <a:spcAft>
                <a:spcPct val="0"/>
              </a:spcAft>
            </a:pPr>
            <a:r>
              <a:rPr lang="en-US" sz="2000">
                <a:solidFill>
                  <a:srgbClr val="FFFFFF"/>
                </a:solidFill>
                <a:latin typeface="Arial" charset="0"/>
                <a:ea typeface="ＭＳ Ｐゴシック" charset="0"/>
              </a:rPr>
              <a:t>BitLocker™ offers a spectrum of protection, allowing an organization to customize according to its own needs</a:t>
            </a:r>
          </a:p>
        </p:txBody>
      </p:sp>
      <p:sp>
        <p:nvSpPr>
          <p:cNvPr id="86019" name="Rectangle 3"/>
          <p:cNvSpPr>
            <a:spLocks noGrp="1" noChangeArrowheads="1"/>
          </p:cNvSpPr>
          <p:nvPr>
            <p:ph type="title"/>
          </p:nvPr>
        </p:nvSpPr>
        <p:spPr/>
        <p:txBody>
          <a:bodyPr/>
          <a:lstStyle/>
          <a:p>
            <a:r>
              <a:rPr lang="en-US"/>
              <a:t>Spectrum of Protection</a:t>
            </a:r>
          </a:p>
        </p:txBody>
      </p:sp>
      <p:sp>
        <p:nvSpPr>
          <p:cNvPr id="86020" name="Rectangle 4"/>
          <p:cNvSpPr>
            <a:spLocks noChangeArrowheads="1"/>
          </p:cNvSpPr>
          <p:nvPr/>
        </p:nvSpPr>
        <p:spPr bwMode="auto">
          <a:xfrm>
            <a:off x="7483476" y="1601789"/>
            <a:ext cx="1901825" cy="4581525"/>
          </a:xfrm>
          <a:prstGeom prst="rect">
            <a:avLst/>
          </a:prstGeom>
          <a:solidFill>
            <a:srgbClr val="CCEC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tIns="137160" anchorCtr="1"/>
          <a:lstStyle/>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r>
              <a:rPr lang="en-US" sz="2200" b="1" u="sng">
                <a:solidFill>
                  <a:srgbClr val="000000"/>
                </a:solidFill>
                <a:latin typeface="Arial" charset="0"/>
                <a:ea typeface="ＭＳ Ｐゴシック" charset="0"/>
              </a:rPr>
              <a:t>TPM Only</a:t>
            </a:r>
            <a:endParaRPr lang="en-US" sz="2200" b="1">
              <a:solidFill>
                <a:srgbClr val="000000"/>
              </a:solidFill>
              <a:latin typeface="Arial" charset="0"/>
              <a:ea typeface="ＭＳ Ｐゴシック" charset="0"/>
            </a:endParaRPr>
          </a:p>
          <a:p>
            <a:pPr algn="ctr" defTabSz="914400" fontAlgn="base">
              <a:spcBef>
                <a:spcPct val="0"/>
              </a:spcBef>
              <a:spcAft>
                <a:spcPct val="0"/>
              </a:spcAft>
            </a:pPr>
            <a:r>
              <a:rPr lang="ja-JP" altLang="en-US" sz="1600" i="1">
                <a:solidFill>
                  <a:srgbClr val="000000"/>
                </a:solidFill>
                <a:latin typeface="Arial" charset="0"/>
                <a:ea typeface="ＭＳ Ｐゴシック" charset="0"/>
              </a:rPr>
              <a:t>“</a:t>
            </a:r>
            <a:r>
              <a:rPr lang="en-US" sz="1600" i="1">
                <a:solidFill>
                  <a:srgbClr val="000000"/>
                </a:solidFill>
                <a:latin typeface="Arial" charset="0"/>
                <a:ea typeface="ＭＳ Ｐゴシック" charset="0"/>
              </a:rPr>
              <a:t>What it is</a:t>
            </a:r>
            <a:r>
              <a:rPr lang="ja-JP" altLang="en-US" sz="1600" i="1">
                <a:solidFill>
                  <a:srgbClr val="000000"/>
                </a:solidFill>
                <a:latin typeface="Arial" charset="0"/>
                <a:ea typeface="ＭＳ Ｐゴシック" charset="0"/>
              </a:rPr>
              <a:t>”</a:t>
            </a:r>
            <a:endParaRPr lang="en-US" sz="1600" i="1">
              <a:solidFill>
                <a:srgbClr val="000000"/>
              </a:solidFill>
              <a:latin typeface="Arial" charset="0"/>
              <a:ea typeface="ＭＳ Ｐゴシック" charset="0"/>
            </a:endParaRPr>
          </a:p>
          <a:p>
            <a:pPr algn="ctr" defTabSz="914400" fontAlgn="base">
              <a:spcBef>
                <a:spcPct val="0"/>
              </a:spcBef>
              <a:spcAft>
                <a:spcPct val="0"/>
              </a:spcAft>
            </a:pPr>
            <a:endParaRPr lang="en-US" sz="1600" i="1" u="sng">
              <a:solidFill>
                <a:srgbClr val="000000"/>
              </a:solidFill>
              <a:latin typeface="Arial" charset="0"/>
              <a:ea typeface="ＭＳ Ｐゴシック" charset="0"/>
            </a:endParaRPr>
          </a:p>
          <a:p>
            <a:pPr algn="ctr" defTabSz="914400" fontAlgn="base">
              <a:spcBef>
                <a:spcPct val="0"/>
              </a:spcBef>
              <a:spcAft>
                <a:spcPct val="0"/>
              </a:spcAft>
            </a:pPr>
            <a:endParaRPr lang="en-US" sz="1600" i="1" u="sng">
              <a:solidFill>
                <a:srgbClr val="000000"/>
              </a:solidFill>
              <a:latin typeface="Arial" charset="0"/>
              <a:ea typeface="ＭＳ Ｐゴシック" charset="0"/>
            </a:endParaRPr>
          </a:p>
          <a:p>
            <a:pPr algn="ctr" defTabSz="914400" fontAlgn="base">
              <a:spcBef>
                <a:spcPct val="0"/>
              </a:spcBef>
              <a:spcAft>
                <a:spcPct val="0"/>
              </a:spcAft>
            </a:pPr>
            <a:endParaRPr lang="en-US" sz="1600" i="1" u="sng">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Protects Against:</a:t>
            </a:r>
          </a:p>
          <a:p>
            <a:pPr algn="ctr" defTabSz="914400" fontAlgn="base">
              <a:spcBef>
                <a:spcPct val="0"/>
              </a:spcBef>
              <a:spcAft>
                <a:spcPct val="0"/>
              </a:spcAft>
            </a:pPr>
            <a:r>
              <a:rPr lang="en-US" sz="1600">
                <a:solidFill>
                  <a:srgbClr val="000000"/>
                </a:solidFill>
                <a:latin typeface="Arial" charset="0"/>
                <a:ea typeface="ＭＳ Ｐゴシック" charset="0"/>
              </a:rPr>
              <a:t>Most SW attacks</a:t>
            </a:r>
          </a:p>
          <a:p>
            <a:pPr algn="ctr" defTabSz="914400" fontAlgn="base">
              <a:spcBef>
                <a:spcPct val="0"/>
              </a:spcBef>
              <a:spcAft>
                <a:spcPct val="0"/>
              </a:spcAft>
            </a:pPr>
            <a:r>
              <a:rPr lang="en-US" sz="1600" u="sng">
                <a:solidFill>
                  <a:srgbClr val="000000"/>
                </a:solidFill>
                <a:latin typeface="Arial" charset="0"/>
                <a:ea typeface="ＭＳ Ｐゴシック" charset="0"/>
              </a:rPr>
              <a:t>Vulnerable To:</a:t>
            </a:r>
          </a:p>
          <a:p>
            <a:pPr algn="ctr" defTabSz="914400" fontAlgn="base">
              <a:spcBef>
                <a:spcPct val="0"/>
              </a:spcBef>
              <a:spcAft>
                <a:spcPct val="0"/>
              </a:spcAft>
            </a:pPr>
            <a:r>
              <a:rPr lang="en-US" sz="1600">
                <a:solidFill>
                  <a:srgbClr val="000000"/>
                </a:solidFill>
                <a:latin typeface="Arial" charset="0"/>
                <a:ea typeface="ＭＳ Ｐゴシック" charset="0"/>
              </a:rPr>
              <a:t>Hardware attacks</a:t>
            </a:r>
          </a:p>
          <a:p>
            <a:pPr algn="ctr" defTabSz="914400" fontAlgn="base">
              <a:spcBef>
                <a:spcPct val="0"/>
              </a:spcBef>
              <a:spcAft>
                <a:spcPct val="0"/>
              </a:spcAft>
            </a:pPr>
            <a:endParaRPr lang="en-US" sz="1600" u="sng">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User Must:</a:t>
            </a:r>
          </a:p>
          <a:p>
            <a:pPr algn="ctr" defTabSz="914400" fontAlgn="base">
              <a:spcBef>
                <a:spcPct val="0"/>
              </a:spcBef>
              <a:spcAft>
                <a:spcPct val="0"/>
              </a:spcAft>
            </a:pPr>
            <a:r>
              <a:rPr lang="en-US" sz="1600">
                <a:solidFill>
                  <a:srgbClr val="000000"/>
                </a:solidFill>
                <a:latin typeface="Arial" charset="0"/>
                <a:ea typeface="ＭＳ Ｐゴシック" charset="0"/>
              </a:rPr>
              <a:t>N/A</a:t>
            </a:r>
          </a:p>
          <a:p>
            <a:pPr algn="ctr" defTabSz="914400" fontAlgn="base">
              <a:spcBef>
                <a:spcPct val="0"/>
              </a:spcBef>
              <a:spcAft>
                <a:spcPct val="0"/>
              </a:spcAft>
            </a:pPr>
            <a:r>
              <a:rPr lang="en-US" sz="1600">
                <a:solidFill>
                  <a:srgbClr val="000000"/>
                </a:solidFill>
                <a:latin typeface="Arial" charset="0"/>
                <a:ea typeface="ＭＳ Ｐゴシック" charset="0"/>
              </a:rPr>
              <a:t>No user impact</a:t>
            </a:r>
          </a:p>
          <a:p>
            <a:pPr algn="ctr" defTabSz="914400" fontAlgn="base">
              <a:spcBef>
                <a:spcPct val="0"/>
              </a:spcBef>
              <a:spcAft>
                <a:spcPct val="0"/>
              </a:spcAft>
            </a:pPr>
            <a:endParaRPr lang="en-US" sz="1600">
              <a:solidFill>
                <a:srgbClr val="000000"/>
              </a:solidFill>
              <a:latin typeface="Arial" charset="0"/>
              <a:ea typeface="ＭＳ Ｐゴシック" charset="0"/>
            </a:endParaRPr>
          </a:p>
        </p:txBody>
      </p:sp>
      <p:pic>
        <p:nvPicPr>
          <p:cNvPr id="860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7526" y="2032000"/>
            <a:ext cx="581025" cy="584200"/>
          </a:xfrm>
          <a:prstGeom prst="rect">
            <a:avLst/>
          </a:prstGeom>
          <a:noFill/>
          <a:ln>
            <a:noFill/>
          </a:ln>
          <a:effectLst/>
          <a:extLst>
            <a:ext uri="{909E8E84-426E-40dd-AFC4-6F175D3DCCD1}">
              <a14:hiddenFill xmlns:a14="http://schemas.microsoft.com/office/drawing/2010/main" xmlns="">
                <a:gradFill rotWithShape="0">
                  <a:gsLst>
                    <a:gs pos="0">
                      <a:schemeClr val="accent2">
                        <a:gamma/>
                        <a:shade val="56078"/>
                        <a:invGamma/>
                      </a:schemeClr>
                    </a:gs>
                    <a:gs pos="50000">
                      <a:schemeClr val="accent2"/>
                    </a:gs>
                    <a:gs pos="100000">
                      <a:schemeClr val="accent2">
                        <a:gamma/>
                        <a:shade val="56078"/>
                        <a:invGamma/>
                      </a:schemeClr>
                    </a:gs>
                  </a:gsLst>
                  <a:lin ang="2700000" scaled="1"/>
                </a:gradFill>
              </a14:hiddenFill>
            </a:ext>
            <a:ext uri="{91240B29-F687-4f45-9708-019B960494DF}">
              <a14:hiddenLine xmlns:a14="http://schemas.microsoft.com/office/drawing/2010/main" xmlns="" w="12700">
                <a:solidFill>
                  <a:schemeClr val="accent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6022" name="Rectangle 6"/>
          <p:cNvSpPr>
            <a:spLocks noChangeArrowheads="1"/>
          </p:cNvSpPr>
          <p:nvPr/>
        </p:nvSpPr>
        <p:spPr bwMode="auto">
          <a:xfrm>
            <a:off x="5580064" y="2178050"/>
            <a:ext cx="1901825" cy="4008438"/>
          </a:xfrm>
          <a:prstGeom prst="rect">
            <a:avLst/>
          </a:prstGeom>
          <a:solidFill>
            <a:srgbClr val="CCEC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1"/>
          <a:lstStyle/>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endParaRPr lang="en-US" sz="2200" b="1" u="sng">
              <a:solidFill>
                <a:srgbClr val="000000"/>
              </a:solidFill>
              <a:latin typeface="Arial" charset="0"/>
              <a:ea typeface="ＭＳ Ｐゴシック" charset="0"/>
            </a:endParaRPr>
          </a:p>
          <a:p>
            <a:pPr algn="ctr" defTabSz="914400" fontAlgn="base">
              <a:spcBef>
                <a:spcPct val="0"/>
              </a:spcBef>
              <a:spcAft>
                <a:spcPct val="0"/>
              </a:spcAft>
            </a:pPr>
            <a:r>
              <a:rPr lang="en-US" sz="2200" b="1" u="sng">
                <a:solidFill>
                  <a:srgbClr val="000000"/>
                </a:solidFill>
                <a:latin typeface="Arial" charset="0"/>
                <a:ea typeface="ＭＳ Ｐゴシック" charset="0"/>
              </a:rPr>
              <a:t>TPM + PIN</a:t>
            </a:r>
            <a:endParaRPr lang="en-US" sz="2200" b="1">
              <a:solidFill>
                <a:srgbClr val="000000"/>
              </a:solidFill>
              <a:latin typeface="Arial" charset="0"/>
              <a:ea typeface="ＭＳ Ｐゴシック" charset="0"/>
            </a:endParaRPr>
          </a:p>
          <a:p>
            <a:pPr algn="ctr" defTabSz="914400" fontAlgn="base">
              <a:spcBef>
                <a:spcPct val="0"/>
              </a:spcBef>
              <a:spcAft>
                <a:spcPct val="0"/>
              </a:spcAft>
            </a:pPr>
            <a:r>
              <a:rPr lang="ja-JP" altLang="en-US" sz="1600" i="1">
                <a:solidFill>
                  <a:srgbClr val="000000"/>
                </a:solidFill>
                <a:latin typeface="Arial" charset="0"/>
                <a:ea typeface="ＭＳ Ｐゴシック" charset="0"/>
              </a:rPr>
              <a:t>“</a:t>
            </a:r>
            <a:r>
              <a:rPr lang="en-US" sz="1600" i="1">
                <a:solidFill>
                  <a:srgbClr val="000000"/>
                </a:solidFill>
                <a:latin typeface="Arial" charset="0"/>
                <a:ea typeface="ＭＳ Ｐゴシック" charset="0"/>
              </a:rPr>
              <a:t>What it is + what you know</a:t>
            </a:r>
            <a:r>
              <a:rPr lang="ja-JP" altLang="en-US" sz="1600" i="1">
                <a:solidFill>
                  <a:srgbClr val="000000"/>
                </a:solidFill>
                <a:latin typeface="Arial" charset="0"/>
                <a:ea typeface="ＭＳ Ｐゴシック" charset="0"/>
              </a:rPr>
              <a:t>”</a:t>
            </a:r>
            <a:endParaRPr lang="en-US" sz="1600" i="1" u="sng">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Protects Against:</a:t>
            </a:r>
          </a:p>
          <a:p>
            <a:pPr algn="ctr" defTabSz="914400" fontAlgn="base">
              <a:spcBef>
                <a:spcPct val="0"/>
              </a:spcBef>
              <a:spcAft>
                <a:spcPct val="0"/>
              </a:spcAft>
            </a:pPr>
            <a:r>
              <a:rPr lang="en-US" sz="1600">
                <a:solidFill>
                  <a:srgbClr val="000000"/>
                </a:solidFill>
                <a:latin typeface="Arial" charset="0"/>
                <a:ea typeface="ＭＳ Ｐゴシック" charset="0"/>
              </a:rPr>
              <a:t>Many HW attacks</a:t>
            </a:r>
          </a:p>
          <a:p>
            <a:pPr algn="ctr" defTabSz="914400" fontAlgn="base">
              <a:spcBef>
                <a:spcPct val="0"/>
              </a:spcBef>
              <a:spcAft>
                <a:spcPct val="0"/>
              </a:spcAft>
            </a:pPr>
            <a:r>
              <a:rPr lang="en-US" sz="1600" u="sng">
                <a:solidFill>
                  <a:srgbClr val="000000"/>
                </a:solidFill>
                <a:latin typeface="Arial" charset="0"/>
                <a:ea typeface="ＭＳ Ｐゴシック" charset="0"/>
              </a:rPr>
              <a:t>Vulnerable To:</a:t>
            </a:r>
          </a:p>
          <a:p>
            <a:pPr algn="ctr" defTabSz="914400" fontAlgn="base">
              <a:spcBef>
                <a:spcPct val="0"/>
              </a:spcBef>
              <a:spcAft>
                <a:spcPct val="0"/>
              </a:spcAft>
            </a:pPr>
            <a:r>
              <a:rPr lang="en-US" sz="1600">
                <a:solidFill>
                  <a:srgbClr val="000000"/>
                </a:solidFill>
                <a:latin typeface="Arial" charset="0"/>
                <a:ea typeface="ＭＳ Ｐゴシック" charset="0"/>
              </a:rPr>
              <a:t>Hardware attacks</a:t>
            </a:r>
          </a:p>
          <a:p>
            <a:pPr algn="ctr" defTabSz="914400" fontAlgn="base">
              <a:spcBef>
                <a:spcPct val="0"/>
              </a:spcBef>
              <a:spcAft>
                <a:spcPct val="0"/>
              </a:spcAft>
            </a:pPr>
            <a:endParaRPr lang="en-US" sz="1600">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User Must:</a:t>
            </a:r>
          </a:p>
          <a:p>
            <a:pPr algn="ctr" defTabSz="914400" fontAlgn="base">
              <a:spcBef>
                <a:spcPct val="0"/>
              </a:spcBef>
              <a:spcAft>
                <a:spcPct val="0"/>
              </a:spcAft>
            </a:pPr>
            <a:r>
              <a:rPr lang="en-US" sz="1600">
                <a:solidFill>
                  <a:srgbClr val="000000"/>
                </a:solidFill>
                <a:latin typeface="Arial" charset="0"/>
                <a:ea typeface="ＭＳ Ｐゴシック" charset="0"/>
              </a:rPr>
              <a:t>Enter PIN to boot</a:t>
            </a:r>
          </a:p>
        </p:txBody>
      </p:sp>
      <p:pic>
        <p:nvPicPr>
          <p:cNvPr id="860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751" y="2628900"/>
            <a:ext cx="1590675" cy="577850"/>
          </a:xfrm>
          <a:prstGeom prst="rect">
            <a:avLst/>
          </a:prstGeom>
          <a:noFill/>
          <a:ln>
            <a:noFill/>
          </a:ln>
          <a:effectLst/>
          <a:extLst>
            <a:ext uri="{909E8E84-426E-40dd-AFC4-6F175D3DCCD1}">
              <a14:hiddenFill xmlns:a14="http://schemas.microsoft.com/office/drawing/2010/main" xmlns="">
                <a:gradFill rotWithShape="0">
                  <a:gsLst>
                    <a:gs pos="0">
                      <a:schemeClr val="accent2">
                        <a:gamma/>
                        <a:shade val="56078"/>
                        <a:invGamma/>
                      </a:schemeClr>
                    </a:gs>
                    <a:gs pos="50000">
                      <a:schemeClr val="accent2"/>
                    </a:gs>
                    <a:gs pos="100000">
                      <a:schemeClr val="accent2">
                        <a:gamma/>
                        <a:shade val="56078"/>
                        <a:invGamma/>
                      </a:schemeClr>
                    </a:gs>
                  </a:gsLst>
                  <a:lin ang="2700000" scaled="1"/>
                </a:gradFill>
              </a14:hiddenFill>
            </a:ext>
            <a:ext uri="{91240B29-F687-4f45-9708-019B960494DF}">
              <a14:hiddenLine xmlns:a14="http://schemas.microsoft.com/office/drawing/2010/main" xmlns="" w="12700">
                <a:solidFill>
                  <a:schemeClr val="accent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nvGrpSpPr>
          <p:cNvPr id="86024" name="Group 8"/>
          <p:cNvGrpSpPr>
            <a:grpSpLocks/>
          </p:cNvGrpSpPr>
          <p:nvPr/>
        </p:nvGrpSpPr>
        <p:grpSpPr bwMode="auto">
          <a:xfrm>
            <a:off x="3673476" y="2589214"/>
            <a:ext cx="1901825" cy="3595687"/>
            <a:chOff x="1348" y="1793"/>
            <a:chExt cx="1198" cy="2385"/>
          </a:xfrm>
        </p:grpSpPr>
        <p:sp>
          <p:nvSpPr>
            <p:cNvPr id="86025" name="Rectangle 9"/>
            <p:cNvSpPr>
              <a:spLocks noChangeArrowheads="1"/>
            </p:cNvSpPr>
            <p:nvPr/>
          </p:nvSpPr>
          <p:spPr bwMode="auto">
            <a:xfrm>
              <a:off x="1348" y="1793"/>
              <a:ext cx="1198" cy="2385"/>
            </a:xfrm>
            <a:prstGeom prst="rect">
              <a:avLst/>
            </a:prstGeom>
            <a:solidFill>
              <a:srgbClr val="CCEC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tIns="640080" anchorCtr="1"/>
            <a:lstStyle/>
            <a:p>
              <a:pPr algn="ctr" defTabSz="914400" fontAlgn="base">
                <a:spcBef>
                  <a:spcPct val="0"/>
                </a:spcBef>
                <a:spcAft>
                  <a:spcPct val="0"/>
                </a:spcAft>
              </a:pPr>
              <a:r>
                <a:rPr lang="en-US" sz="2200" b="1" u="sng">
                  <a:solidFill>
                    <a:srgbClr val="000000"/>
                  </a:solidFill>
                  <a:latin typeface="Arial" charset="0"/>
                  <a:ea typeface="ＭＳ Ｐゴシック" charset="0"/>
                </a:rPr>
                <a:t>USB Only</a:t>
              </a:r>
              <a:endParaRPr lang="en-US" sz="2200" b="1">
                <a:solidFill>
                  <a:srgbClr val="000000"/>
                </a:solidFill>
                <a:latin typeface="Arial" charset="0"/>
                <a:ea typeface="ＭＳ Ｐゴシック" charset="0"/>
              </a:endParaRPr>
            </a:p>
            <a:p>
              <a:pPr algn="ctr" defTabSz="914400" fontAlgn="base">
                <a:spcBef>
                  <a:spcPct val="0"/>
                </a:spcBef>
                <a:spcAft>
                  <a:spcPct val="0"/>
                </a:spcAft>
              </a:pPr>
              <a:r>
                <a:rPr lang="ja-JP" altLang="en-US" sz="1600" i="1">
                  <a:solidFill>
                    <a:srgbClr val="000000"/>
                  </a:solidFill>
                  <a:latin typeface="Arial" charset="0"/>
                  <a:ea typeface="ＭＳ Ｐゴシック" charset="0"/>
                </a:rPr>
                <a:t>“</a:t>
              </a:r>
              <a:r>
                <a:rPr lang="en-US" sz="1600" i="1">
                  <a:solidFill>
                    <a:srgbClr val="000000"/>
                  </a:solidFill>
                  <a:latin typeface="Arial" charset="0"/>
                  <a:ea typeface="ＭＳ Ｐゴシック" charset="0"/>
                </a:rPr>
                <a:t>What you have</a:t>
              </a:r>
              <a:r>
                <a:rPr lang="ja-JP" altLang="en-US" sz="1600" i="1">
                  <a:solidFill>
                    <a:srgbClr val="000000"/>
                  </a:solidFill>
                  <a:latin typeface="Arial" charset="0"/>
                  <a:ea typeface="ＭＳ Ｐゴシック" charset="0"/>
                </a:rPr>
                <a:t>”</a:t>
              </a:r>
              <a:endParaRPr lang="en-US" sz="1600" i="1">
                <a:solidFill>
                  <a:srgbClr val="000000"/>
                </a:solidFill>
                <a:latin typeface="Arial" charset="0"/>
                <a:ea typeface="ＭＳ Ｐゴシック" charset="0"/>
              </a:endParaRPr>
            </a:p>
            <a:p>
              <a:pPr algn="ctr" defTabSz="914400" fontAlgn="base">
                <a:spcBef>
                  <a:spcPct val="0"/>
                </a:spcBef>
                <a:spcAft>
                  <a:spcPct val="0"/>
                </a:spcAft>
              </a:pPr>
              <a:endParaRPr lang="en-US" sz="1600" i="1" u="sng">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Protects Against:</a:t>
              </a:r>
            </a:p>
            <a:p>
              <a:pPr algn="ctr" defTabSz="914400" fontAlgn="base">
                <a:spcBef>
                  <a:spcPct val="0"/>
                </a:spcBef>
                <a:spcAft>
                  <a:spcPct val="0"/>
                </a:spcAft>
              </a:pPr>
              <a:r>
                <a:rPr lang="en-US" sz="1600">
                  <a:solidFill>
                    <a:srgbClr val="000000"/>
                  </a:solidFill>
                  <a:latin typeface="Arial" charset="0"/>
                  <a:ea typeface="ＭＳ Ｐゴシック" charset="0"/>
                </a:rPr>
                <a:t>HW attacks</a:t>
              </a:r>
            </a:p>
            <a:p>
              <a:pPr algn="ctr" defTabSz="914400" fontAlgn="base">
                <a:spcBef>
                  <a:spcPct val="0"/>
                </a:spcBef>
                <a:spcAft>
                  <a:spcPct val="0"/>
                </a:spcAft>
              </a:pPr>
              <a:r>
                <a:rPr lang="en-US" sz="1600" u="sng">
                  <a:solidFill>
                    <a:srgbClr val="000000"/>
                  </a:solidFill>
                  <a:latin typeface="Arial" charset="0"/>
                  <a:ea typeface="ＭＳ Ｐゴシック" charset="0"/>
                </a:rPr>
                <a:t>Vulnerable To:</a:t>
              </a:r>
            </a:p>
            <a:p>
              <a:pPr algn="ctr" defTabSz="914400" fontAlgn="base">
                <a:spcBef>
                  <a:spcPct val="0"/>
                </a:spcBef>
                <a:spcAft>
                  <a:spcPct val="0"/>
                </a:spcAft>
              </a:pPr>
              <a:r>
                <a:rPr lang="en-US" sz="1600">
                  <a:solidFill>
                    <a:srgbClr val="000000"/>
                  </a:solidFill>
                  <a:latin typeface="Arial" charset="0"/>
                  <a:ea typeface="ＭＳ Ｐゴシック" charset="0"/>
                </a:rPr>
                <a:t>Stolen USB key</a:t>
              </a:r>
            </a:p>
            <a:p>
              <a:pPr algn="ctr" defTabSz="914400" fontAlgn="base">
                <a:spcBef>
                  <a:spcPct val="0"/>
                </a:spcBef>
                <a:spcAft>
                  <a:spcPct val="0"/>
                </a:spcAft>
              </a:pPr>
              <a:r>
                <a:rPr lang="en-US" sz="1600">
                  <a:solidFill>
                    <a:srgbClr val="000000"/>
                  </a:solidFill>
                  <a:latin typeface="Arial" charset="0"/>
                  <a:ea typeface="ＭＳ Ｐゴシック" charset="0"/>
                </a:rPr>
                <a:t>No boot validation</a:t>
              </a:r>
            </a:p>
            <a:p>
              <a:pPr algn="ctr" defTabSz="914400" fontAlgn="base">
                <a:spcBef>
                  <a:spcPct val="0"/>
                </a:spcBef>
                <a:spcAft>
                  <a:spcPct val="0"/>
                </a:spcAft>
              </a:pPr>
              <a:r>
                <a:rPr lang="en-US" sz="1600" u="sng">
                  <a:solidFill>
                    <a:srgbClr val="000000"/>
                  </a:solidFill>
                  <a:latin typeface="Arial" charset="0"/>
                  <a:ea typeface="ＭＳ Ｐゴシック" charset="0"/>
                </a:rPr>
                <a:t>User Must:</a:t>
              </a:r>
            </a:p>
            <a:p>
              <a:pPr algn="ctr" defTabSz="914400" fontAlgn="base">
                <a:spcBef>
                  <a:spcPct val="0"/>
                </a:spcBef>
                <a:spcAft>
                  <a:spcPct val="0"/>
                </a:spcAft>
              </a:pPr>
              <a:r>
                <a:rPr lang="en-US" sz="1600">
                  <a:solidFill>
                    <a:srgbClr val="000000"/>
                  </a:solidFill>
                  <a:latin typeface="Arial" charset="0"/>
                  <a:ea typeface="ＭＳ Ｐゴシック" charset="0"/>
                </a:rPr>
                <a:t>Protect USB key</a:t>
              </a:r>
              <a:endParaRPr lang="en-US" sz="1700" b="1">
                <a:solidFill>
                  <a:srgbClr val="FF3300"/>
                </a:solidFill>
                <a:latin typeface="Arial" charset="0"/>
                <a:ea typeface="ＭＳ Ｐゴシック" charset="0"/>
              </a:endParaRPr>
            </a:p>
          </p:txBody>
        </p:sp>
        <p:pic>
          <p:nvPicPr>
            <p:cNvPr id="8602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7" y="1836"/>
              <a:ext cx="528" cy="348"/>
            </a:xfrm>
            <a:prstGeom prst="rect">
              <a:avLst/>
            </a:prstGeom>
            <a:noFill/>
            <a:ln>
              <a:noFill/>
            </a:ln>
            <a:effectLst/>
            <a:extLst>
              <a:ext uri="{909E8E84-426E-40dd-AFC4-6F175D3DCCD1}">
                <a14:hiddenFill xmlns:a14="http://schemas.microsoft.com/office/drawing/2010/main" xmlns="">
                  <a:gradFill rotWithShape="0">
                    <a:gsLst>
                      <a:gs pos="0">
                        <a:schemeClr val="accent2">
                          <a:gamma/>
                          <a:shade val="56078"/>
                          <a:invGamma/>
                        </a:schemeClr>
                      </a:gs>
                      <a:gs pos="50000">
                        <a:schemeClr val="accent2"/>
                      </a:gs>
                      <a:gs pos="100000">
                        <a:schemeClr val="accent2">
                          <a:gamma/>
                          <a:shade val="56078"/>
                          <a:invGamma/>
                        </a:schemeClr>
                      </a:gs>
                    </a:gsLst>
                    <a:lin ang="2700000" scaled="1"/>
                  </a:gradFill>
                </a14:hiddenFill>
              </a:ext>
              <a:ext uri="{91240B29-F687-4f45-9708-019B960494DF}">
                <a14:hiddenLine xmlns:a14="http://schemas.microsoft.com/office/drawing/2010/main" xmlns="" w="12700">
                  <a:solidFill>
                    <a:schemeClr val="accent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86027" name="Group 11"/>
          <p:cNvGrpSpPr>
            <a:grpSpLocks/>
          </p:cNvGrpSpPr>
          <p:nvPr/>
        </p:nvGrpSpPr>
        <p:grpSpPr bwMode="auto">
          <a:xfrm>
            <a:off x="1771651" y="2587625"/>
            <a:ext cx="1901825" cy="3595688"/>
            <a:chOff x="3791" y="1204"/>
            <a:chExt cx="1198" cy="2385"/>
          </a:xfrm>
        </p:grpSpPr>
        <p:sp>
          <p:nvSpPr>
            <p:cNvPr id="86028" name="Rectangle 12"/>
            <p:cNvSpPr>
              <a:spLocks noChangeArrowheads="1"/>
            </p:cNvSpPr>
            <p:nvPr/>
          </p:nvSpPr>
          <p:spPr bwMode="auto">
            <a:xfrm>
              <a:off x="3791" y="1204"/>
              <a:ext cx="1198" cy="2385"/>
            </a:xfrm>
            <a:prstGeom prst="rect">
              <a:avLst/>
            </a:prstGeom>
            <a:solidFill>
              <a:srgbClr val="CCEC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tIns="640080" anchorCtr="1"/>
            <a:lstStyle/>
            <a:p>
              <a:pPr algn="ctr" defTabSz="914400" fontAlgn="base">
                <a:spcBef>
                  <a:spcPct val="0"/>
                </a:spcBef>
                <a:spcAft>
                  <a:spcPct val="0"/>
                </a:spcAft>
              </a:pPr>
              <a:r>
                <a:rPr lang="en-US" sz="2200" b="1" u="sng">
                  <a:solidFill>
                    <a:srgbClr val="000000"/>
                  </a:solidFill>
                  <a:latin typeface="Arial" charset="0"/>
                  <a:ea typeface="ＭＳ Ｐゴシック" charset="0"/>
                </a:rPr>
                <a:t>TPM + USB</a:t>
              </a:r>
              <a:endParaRPr lang="en-US" sz="2200" b="1">
                <a:solidFill>
                  <a:srgbClr val="000000"/>
                </a:solidFill>
                <a:latin typeface="Arial" charset="0"/>
                <a:ea typeface="ＭＳ Ｐゴシック" charset="0"/>
              </a:endParaRPr>
            </a:p>
            <a:p>
              <a:pPr algn="ctr" defTabSz="914400" fontAlgn="base">
                <a:spcBef>
                  <a:spcPct val="0"/>
                </a:spcBef>
                <a:spcAft>
                  <a:spcPct val="0"/>
                </a:spcAft>
              </a:pPr>
              <a:r>
                <a:rPr lang="ja-JP" altLang="en-US" sz="1600" i="1">
                  <a:solidFill>
                    <a:srgbClr val="000000"/>
                  </a:solidFill>
                  <a:latin typeface="Arial" charset="0"/>
                  <a:ea typeface="ＭＳ Ｐゴシック" charset="0"/>
                </a:rPr>
                <a:t>“</a:t>
              </a:r>
              <a:r>
                <a:rPr lang="en-US" sz="1600" i="1">
                  <a:solidFill>
                    <a:srgbClr val="000000"/>
                  </a:solidFill>
                  <a:latin typeface="Arial" charset="0"/>
                  <a:ea typeface="ＭＳ Ｐゴシック" charset="0"/>
                </a:rPr>
                <a:t>What it is + what you have</a:t>
              </a:r>
              <a:r>
                <a:rPr lang="ja-JP" altLang="en-US" sz="1600" i="1">
                  <a:solidFill>
                    <a:srgbClr val="000000"/>
                  </a:solidFill>
                  <a:latin typeface="Arial" charset="0"/>
                  <a:ea typeface="ＭＳ Ｐゴシック" charset="0"/>
                </a:rPr>
                <a:t>”</a:t>
              </a:r>
              <a:endParaRPr lang="en-US" sz="1600" i="1">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Protects Against:</a:t>
              </a:r>
            </a:p>
            <a:p>
              <a:pPr algn="ctr" defTabSz="914400" fontAlgn="base">
                <a:spcBef>
                  <a:spcPct val="0"/>
                </a:spcBef>
                <a:spcAft>
                  <a:spcPct val="0"/>
                </a:spcAft>
              </a:pPr>
              <a:r>
                <a:rPr lang="en-US" sz="1600">
                  <a:solidFill>
                    <a:srgbClr val="000000"/>
                  </a:solidFill>
                  <a:latin typeface="Arial" charset="0"/>
                  <a:ea typeface="ＭＳ Ｐゴシック" charset="0"/>
                </a:rPr>
                <a:t>HW attacks</a:t>
              </a:r>
            </a:p>
            <a:p>
              <a:pPr algn="ctr" defTabSz="914400" fontAlgn="base">
                <a:spcBef>
                  <a:spcPct val="0"/>
                </a:spcBef>
                <a:spcAft>
                  <a:spcPct val="0"/>
                </a:spcAft>
              </a:pPr>
              <a:r>
                <a:rPr lang="en-US" sz="1600" u="sng">
                  <a:solidFill>
                    <a:srgbClr val="000000"/>
                  </a:solidFill>
                  <a:latin typeface="Arial" charset="0"/>
                  <a:ea typeface="ＭＳ Ｐゴシック" charset="0"/>
                </a:rPr>
                <a:t>Vulnerable To:</a:t>
              </a:r>
            </a:p>
            <a:p>
              <a:pPr algn="ctr" defTabSz="914400" fontAlgn="base">
                <a:spcBef>
                  <a:spcPct val="0"/>
                </a:spcBef>
                <a:spcAft>
                  <a:spcPct val="0"/>
                </a:spcAft>
              </a:pPr>
              <a:r>
                <a:rPr lang="en-US" sz="1600">
                  <a:solidFill>
                    <a:srgbClr val="000000"/>
                  </a:solidFill>
                  <a:latin typeface="Arial" charset="0"/>
                  <a:ea typeface="ＭＳ Ｐゴシック" charset="0"/>
                </a:rPr>
                <a:t>Stolen USB key</a:t>
              </a:r>
            </a:p>
            <a:p>
              <a:pPr algn="ctr" defTabSz="914400" fontAlgn="base">
                <a:spcBef>
                  <a:spcPct val="0"/>
                </a:spcBef>
                <a:spcAft>
                  <a:spcPct val="0"/>
                </a:spcAft>
              </a:pPr>
              <a:endParaRPr lang="en-US" sz="1600">
                <a:solidFill>
                  <a:srgbClr val="000000"/>
                </a:solidFill>
                <a:latin typeface="Arial" charset="0"/>
                <a:ea typeface="ＭＳ Ｐゴシック" charset="0"/>
              </a:endParaRPr>
            </a:p>
            <a:p>
              <a:pPr algn="ctr" defTabSz="914400" fontAlgn="base">
                <a:spcBef>
                  <a:spcPct val="0"/>
                </a:spcBef>
                <a:spcAft>
                  <a:spcPct val="0"/>
                </a:spcAft>
              </a:pPr>
              <a:r>
                <a:rPr lang="en-US" sz="1600" u="sng">
                  <a:solidFill>
                    <a:srgbClr val="000000"/>
                  </a:solidFill>
                  <a:latin typeface="Arial" charset="0"/>
                  <a:ea typeface="ＭＳ Ｐゴシック" charset="0"/>
                </a:rPr>
                <a:t>User Must:</a:t>
              </a:r>
            </a:p>
            <a:p>
              <a:pPr algn="ctr" defTabSz="914400" fontAlgn="base">
                <a:spcBef>
                  <a:spcPct val="0"/>
                </a:spcBef>
                <a:spcAft>
                  <a:spcPct val="0"/>
                </a:spcAft>
              </a:pPr>
              <a:r>
                <a:rPr lang="en-US" sz="1600">
                  <a:solidFill>
                    <a:srgbClr val="000000"/>
                  </a:solidFill>
                  <a:latin typeface="Arial" charset="0"/>
                  <a:ea typeface="ＭＳ Ｐゴシック" charset="0"/>
                </a:rPr>
                <a:t>Protect USB key</a:t>
              </a:r>
              <a:endParaRPr lang="en-US" sz="1700" b="1">
                <a:solidFill>
                  <a:srgbClr val="FF3300"/>
                </a:solidFill>
                <a:latin typeface="Arial" charset="0"/>
                <a:ea typeface="ＭＳ Ｐゴシック" charset="0"/>
              </a:endParaRPr>
            </a:p>
          </p:txBody>
        </p:sp>
        <p:pic>
          <p:nvPicPr>
            <p:cNvPr id="8602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3" y="1243"/>
              <a:ext cx="990" cy="372"/>
            </a:xfrm>
            <a:prstGeom prst="rect">
              <a:avLst/>
            </a:prstGeom>
            <a:noFill/>
            <a:ln>
              <a:noFill/>
            </a:ln>
            <a:effectLst/>
            <a:extLst>
              <a:ext uri="{909E8E84-426E-40dd-AFC4-6F175D3DCCD1}">
                <a14:hiddenFill xmlns:a14="http://schemas.microsoft.com/office/drawing/2010/main" xmlns="">
                  <a:gradFill rotWithShape="0">
                    <a:gsLst>
                      <a:gs pos="0">
                        <a:schemeClr val="accent2">
                          <a:gamma/>
                          <a:shade val="56078"/>
                          <a:invGamma/>
                        </a:schemeClr>
                      </a:gs>
                      <a:gs pos="50000">
                        <a:schemeClr val="accent2"/>
                      </a:gs>
                      <a:gs pos="100000">
                        <a:schemeClr val="accent2">
                          <a:gamma/>
                          <a:shade val="56078"/>
                          <a:invGamma/>
                        </a:schemeClr>
                      </a:gs>
                    </a:gsLst>
                    <a:lin ang="2700000" scaled="1"/>
                  </a:gradFill>
                </a14:hiddenFill>
              </a:ext>
              <a:ext uri="{91240B29-F687-4f45-9708-019B960494DF}">
                <a14:hiddenLine xmlns:a14="http://schemas.microsoft.com/office/drawing/2010/main" xmlns="" w="12700">
                  <a:solidFill>
                    <a:schemeClr val="accent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sp>
        <p:nvSpPr>
          <p:cNvPr id="86030" name="AutoShape 14"/>
          <p:cNvSpPr>
            <a:spLocks noChangeArrowheads="1"/>
          </p:cNvSpPr>
          <p:nvPr/>
        </p:nvSpPr>
        <p:spPr bwMode="auto">
          <a:xfrm rot="10800000">
            <a:off x="9496426" y="484188"/>
            <a:ext cx="1000125" cy="5503862"/>
          </a:xfrm>
          <a:prstGeom prst="downArrow">
            <a:avLst>
              <a:gd name="adj1" fmla="val 50000"/>
              <a:gd name="adj2" fmla="val 76637"/>
            </a:avLst>
          </a:prstGeom>
          <a:gradFill rotWithShape="1">
            <a:gsLst>
              <a:gs pos="0">
                <a:srgbClr val="00FF00">
                  <a:gamma/>
                  <a:shade val="46275"/>
                  <a:invGamma/>
                </a:srgbClr>
              </a:gs>
              <a:gs pos="50000">
                <a:srgbClr val="00FF00"/>
              </a:gs>
              <a:gs pos="100000">
                <a:srgbClr val="00FF00">
                  <a:gamma/>
                  <a:shade val="46275"/>
                  <a:invGamma/>
                </a:srgbClr>
              </a:gs>
            </a:gsLst>
            <a:lin ang="18900000" scaled="1"/>
          </a:gradFill>
          <a:ln w="12700">
            <a:solidFill>
              <a:schemeClr val="bg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nchor="ctr"/>
          <a:lstStyle/>
          <a:p>
            <a:pPr algn="ctr" defTabSz="914400" fontAlgn="base">
              <a:spcBef>
                <a:spcPct val="0"/>
              </a:spcBef>
              <a:spcAft>
                <a:spcPct val="0"/>
              </a:spcAft>
            </a:pPr>
            <a:r>
              <a:rPr lang="en-US" b="1">
                <a:solidFill>
                  <a:srgbClr val="000000"/>
                </a:solidFill>
                <a:latin typeface="Arial" charset="0"/>
                <a:ea typeface="ＭＳ Ｐゴシック" charset="0"/>
              </a:rPr>
              <a:t>Ease of  Deployment / Maintenance</a:t>
            </a:r>
          </a:p>
        </p:txBody>
      </p:sp>
    </p:spTree>
    <p:extLst>
      <p:ext uri="{BB962C8B-B14F-4D97-AF65-F5344CB8AC3E}">
        <p14:creationId xmlns:p14="http://schemas.microsoft.com/office/powerpoint/2010/main" val="385679472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Application Control</a:t>
            </a:r>
            <a:endParaRPr lang="en-SG" dirty="0"/>
          </a:p>
        </p:txBody>
      </p:sp>
      <p:sp>
        <p:nvSpPr>
          <p:cNvPr id="3" name="Content Placeholder 2"/>
          <p:cNvSpPr>
            <a:spLocks noGrp="1"/>
          </p:cNvSpPr>
          <p:nvPr>
            <p:ph idx="1"/>
          </p:nvPr>
        </p:nvSpPr>
        <p:spPr/>
        <p:txBody>
          <a:bodyPr/>
          <a:lstStyle/>
          <a:p>
            <a:r>
              <a:rPr lang="en-SG" sz="3200" b="1" dirty="0"/>
              <a:t>Application control</a:t>
            </a:r>
            <a:r>
              <a:rPr lang="en-SG" sz="3200" dirty="0"/>
              <a:t> is a security practice that blocks or restricts unauthorized </a:t>
            </a:r>
            <a:r>
              <a:rPr lang="en-SG" sz="3200" b="1" dirty="0"/>
              <a:t>applications</a:t>
            </a:r>
            <a:r>
              <a:rPr lang="en-SG" sz="3200" dirty="0"/>
              <a:t> from executing in ways that put data at </a:t>
            </a:r>
            <a:r>
              <a:rPr lang="en-SG" sz="3200" dirty="0" smtClean="0"/>
              <a:t>risk</a:t>
            </a:r>
          </a:p>
          <a:p>
            <a:endParaRPr lang="en-SG" dirty="0"/>
          </a:p>
        </p:txBody>
      </p:sp>
      <p:sp>
        <p:nvSpPr>
          <p:cNvPr id="4" name="Slide Number Placeholder 3"/>
          <p:cNvSpPr>
            <a:spLocks noGrp="1"/>
          </p:cNvSpPr>
          <p:nvPr>
            <p:ph type="sldNum" sz="quarter" idx="12"/>
          </p:nvPr>
        </p:nvSpPr>
        <p:spPr/>
        <p:txBody>
          <a:bodyPr/>
          <a:lstStyle/>
          <a:p>
            <a:fld id="{0F8FC8C6-3D81-4A4F-BCA7-F338AC57D498}" type="slidenum">
              <a:rPr lang="en-US" smtClean="0"/>
              <a:pPr/>
              <a:t>17</a:t>
            </a:fld>
            <a:endParaRPr lang="en-US" dirty="0"/>
          </a:p>
        </p:txBody>
      </p:sp>
    </p:spTree>
    <p:extLst>
      <p:ext uri="{BB962C8B-B14F-4D97-AF65-F5344CB8AC3E}">
        <p14:creationId xmlns:p14="http://schemas.microsoft.com/office/powerpoint/2010/main" val="3014520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Application Control</a:t>
            </a:r>
            <a:endParaRPr lang="en-SG" dirty="0"/>
          </a:p>
        </p:txBody>
      </p:sp>
      <p:sp>
        <p:nvSpPr>
          <p:cNvPr id="3" name="Content Placeholder 2"/>
          <p:cNvSpPr>
            <a:spLocks noGrp="1"/>
          </p:cNvSpPr>
          <p:nvPr>
            <p:ph idx="1"/>
          </p:nvPr>
        </p:nvSpPr>
        <p:spPr/>
        <p:txBody>
          <a:bodyPr/>
          <a:lstStyle/>
          <a:p>
            <a:pPr defTabSz="914400" eaLnBrk="0" fontAlgn="base" hangingPunct="0">
              <a:spcBef>
                <a:spcPct val="0"/>
              </a:spcBef>
              <a:spcAft>
                <a:spcPct val="0"/>
              </a:spcAft>
              <a:buClrTx/>
              <a:buSzTx/>
            </a:pPr>
            <a:r>
              <a:rPr lang="en-US" altLang="en-US" dirty="0"/>
              <a:t>Prevent all other, unauthorized applications from executing – they may be malicious, untrusted, or simply unwanted </a:t>
            </a:r>
          </a:p>
          <a:p>
            <a:pPr defTabSz="914400" eaLnBrk="0" fontAlgn="base" hangingPunct="0">
              <a:spcBef>
                <a:spcPct val="0"/>
              </a:spcBef>
              <a:spcAft>
                <a:spcPct val="0"/>
              </a:spcAft>
              <a:buClrTx/>
              <a:buSzTx/>
            </a:pPr>
            <a:r>
              <a:rPr lang="en-US" altLang="en-US" dirty="0"/>
              <a:t>Eliminate unknown and unwanted applications in your network to reduce IT complexity and application risk </a:t>
            </a:r>
          </a:p>
          <a:p>
            <a:pPr defTabSz="914400" eaLnBrk="0" fontAlgn="base" hangingPunct="0">
              <a:spcBef>
                <a:spcPct val="0"/>
              </a:spcBef>
              <a:spcAft>
                <a:spcPct val="0"/>
              </a:spcAft>
              <a:buClrTx/>
              <a:buSzTx/>
            </a:pPr>
            <a:r>
              <a:rPr lang="en-US" altLang="en-US" dirty="0"/>
              <a:t>Reduce the risks and costs associated with malware </a:t>
            </a:r>
            <a:endParaRPr lang="en-US" altLang="en-US" dirty="0" smtClean="0"/>
          </a:p>
          <a:p>
            <a:pPr defTabSz="914400" eaLnBrk="0" fontAlgn="base" hangingPunct="0">
              <a:spcBef>
                <a:spcPct val="0"/>
              </a:spcBef>
              <a:spcAft>
                <a:spcPct val="0"/>
              </a:spcAft>
              <a:buClrTx/>
              <a:buSzTx/>
            </a:pPr>
            <a:r>
              <a:rPr lang="en-SG" dirty="0"/>
              <a:t>Improve your overall network </a:t>
            </a:r>
            <a:r>
              <a:rPr lang="en-SG" dirty="0" smtClean="0"/>
              <a:t>stability</a:t>
            </a:r>
          </a:p>
          <a:p>
            <a:pPr defTabSz="914400" eaLnBrk="0" fontAlgn="base" hangingPunct="0">
              <a:spcBef>
                <a:spcPct val="0"/>
              </a:spcBef>
              <a:spcAft>
                <a:spcPct val="0"/>
              </a:spcAft>
              <a:buClrTx/>
              <a:buSzTx/>
            </a:pPr>
            <a:r>
              <a:rPr lang="en-SG" dirty="0"/>
              <a:t>Identify all applications running within the endpoint </a:t>
            </a:r>
            <a:r>
              <a:rPr lang="en-SG" dirty="0" smtClean="0"/>
              <a:t>environment</a:t>
            </a:r>
          </a:p>
          <a:p>
            <a:pPr defTabSz="914400" eaLnBrk="0" fontAlgn="base" hangingPunct="0">
              <a:spcBef>
                <a:spcPct val="0"/>
              </a:spcBef>
              <a:spcAft>
                <a:spcPct val="0"/>
              </a:spcAft>
              <a:buClrTx/>
              <a:buSzTx/>
            </a:pPr>
            <a:r>
              <a:rPr lang="en-SG" dirty="0"/>
              <a:t>Protect against exploits of unpatched OS and third-party application vulnerabilities</a:t>
            </a:r>
          </a:p>
          <a:p>
            <a:pPr defTabSz="914400" eaLnBrk="0" fontAlgn="base" hangingPunct="0">
              <a:spcBef>
                <a:spcPct val="0"/>
              </a:spcBef>
              <a:spcAft>
                <a:spcPct val="0"/>
              </a:spcAft>
              <a:buClrTx/>
              <a:buSzTx/>
            </a:pPr>
            <a:endParaRPr lang="en-SG" altLang="en-US" dirty="0" smtClean="0"/>
          </a:p>
          <a:p>
            <a:pPr defTabSz="914400" eaLnBrk="0" fontAlgn="base" hangingPunct="0">
              <a:spcBef>
                <a:spcPct val="0"/>
              </a:spcBef>
              <a:spcAft>
                <a:spcPct val="0"/>
              </a:spcAft>
              <a:buClrTx/>
              <a:buSzTx/>
            </a:pPr>
            <a:endParaRPr lang="en-US" altLang="en-US" dirty="0"/>
          </a:p>
        </p:txBody>
      </p:sp>
    </p:spTree>
    <p:extLst>
      <p:ext uri="{BB962C8B-B14F-4D97-AF65-F5344CB8AC3E}">
        <p14:creationId xmlns:p14="http://schemas.microsoft.com/office/powerpoint/2010/main" val="3414659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p:cNvSpPr>
            <a:spLocks noGrp="1"/>
          </p:cNvSpPr>
          <p:nvPr>
            <p:ph type="title"/>
          </p:nvPr>
        </p:nvSpPr>
        <p:spPr>
          <a:xfrm>
            <a:off x="110534" y="230650"/>
            <a:ext cx="9404723" cy="1400530"/>
          </a:xfrm>
        </p:spPr>
        <p:txBody>
          <a:bodyPr>
            <a:noAutofit/>
          </a:bodyPr>
          <a:lstStyle/>
          <a:p>
            <a:r>
              <a:rPr lang="en-US" dirty="0" smtClean="0"/>
              <a:t>Application Control </a:t>
            </a:r>
            <a:r>
              <a:rPr lang="en-US" dirty="0"/>
              <a:t>in </a:t>
            </a:r>
            <a:r>
              <a:rPr lang="en-US" dirty="0" smtClean="0"/>
              <a:t>Windows</a:t>
            </a:r>
            <a:endParaRPr lang="en-US" dirty="0">
              <a:solidFill>
                <a:schemeClr val="tx1"/>
              </a:solidFill>
            </a:endParaRPr>
          </a:p>
        </p:txBody>
      </p:sp>
      <p:pic>
        <p:nvPicPr>
          <p:cNvPr id="12" name="Picture 11"/>
          <p:cNvPicPr>
            <a:picLocks noChangeAspect="1"/>
          </p:cNvPicPr>
          <p:nvPr/>
        </p:nvPicPr>
        <p:blipFill>
          <a:blip r:embed="rId3"/>
          <a:stretch>
            <a:fillRect/>
          </a:stretch>
        </p:blipFill>
        <p:spPr>
          <a:xfrm>
            <a:off x="2381601" y="812451"/>
            <a:ext cx="5652057" cy="6045549"/>
          </a:xfrm>
          <a:prstGeom prst="rect">
            <a:avLst/>
          </a:prstGeom>
        </p:spPr>
      </p:pic>
    </p:spTree>
    <p:extLst>
      <p:ext uri="{BB962C8B-B14F-4D97-AF65-F5344CB8AC3E}">
        <p14:creationId xmlns:p14="http://schemas.microsoft.com/office/powerpoint/2010/main" val="6611702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Application Control</a:t>
            </a:r>
            <a:endParaRPr lang="en-SG" dirty="0"/>
          </a:p>
        </p:txBody>
      </p:sp>
      <p:pic>
        <p:nvPicPr>
          <p:cNvPr id="3" name="Picture 2"/>
          <p:cNvPicPr>
            <a:picLocks noChangeAspect="1"/>
          </p:cNvPicPr>
          <p:nvPr/>
        </p:nvPicPr>
        <p:blipFill>
          <a:blip r:embed="rId2"/>
          <a:stretch>
            <a:fillRect/>
          </a:stretch>
        </p:blipFill>
        <p:spPr>
          <a:xfrm>
            <a:off x="2338254" y="1853248"/>
            <a:ext cx="6020435" cy="4740743"/>
          </a:xfrm>
          <a:prstGeom prst="rect">
            <a:avLst/>
          </a:prstGeom>
        </p:spPr>
      </p:pic>
    </p:spTree>
    <p:extLst>
      <p:ext uri="{BB962C8B-B14F-4D97-AF65-F5344CB8AC3E}">
        <p14:creationId xmlns:p14="http://schemas.microsoft.com/office/powerpoint/2010/main" val="1784457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ound Same Side Corner Rectangle 73"/>
          <p:cNvSpPr/>
          <p:nvPr/>
        </p:nvSpPr>
        <p:spPr>
          <a:xfrm rot="10800000">
            <a:off x="1762059" y="1696948"/>
            <a:ext cx="8515482" cy="5105400"/>
          </a:xfrm>
          <a:prstGeom prst="round2SameRect">
            <a:avLst>
              <a:gd name="adj1" fmla="val 11842"/>
              <a:gd name="adj2" fmla="val 15352"/>
            </a:avLst>
          </a:prstGeom>
          <a:gradFill>
            <a:gsLst>
              <a:gs pos="0">
                <a:schemeClr val="accent4">
                  <a:lumMod val="50000"/>
                </a:schemeClr>
              </a:gs>
              <a:gs pos="100000">
                <a:schemeClr val="accent4">
                  <a:lumMod val="75000"/>
                  <a:alpha val="12000"/>
                </a:schemeClr>
              </a:gs>
            </a:gsLst>
            <a:lin ang="5400000" scaled="0"/>
          </a:gradFill>
          <a:ln w="152400">
            <a:noFill/>
            <a:round/>
            <a:headEnd/>
            <a:tailEnd/>
          </a:ln>
        </p:spPr>
        <p:txBody>
          <a:bodyPr vert="horz" wrap="square" lIns="76197" tIns="38098" rIns="76197" bIns="38098" numCol="1" anchor="t" anchorCtr="0" compatLnSpc="1">
            <a:prstTxWarp prst="textNoShape">
              <a:avLst/>
            </a:prstTxWarp>
          </a:bodyPr>
          <a:lstStyle/>
          <a:p>
            <a:pPr defTabSz="914363" fontAlgn="base">
              <a:lnSpc>
                <a:spcPct val="90000"/>
              </a:lnSpc>
              <a:spcBef>
                <a:spcPct val="0"/>
              </a:spcBef>
              <a:spcAft>
                <a:spcPct val="0"/>
              </a:spcAft>
              <a:defRPr/>
            </a:pPr>
            <a:endParaRPr lang="en-US" dirty="0">
              <a:solidFill>
                <a:srgbClr val="FFFFFF"/>
              </a:solidFill>
              <a:latin typeface="Segoe"/>
            </a:endParaRPr>
          </a:p>
        </p:txBody>
      </p:sp>
      <p:sp>
        <p:nvSpPr>
          <p:cNvPr id="40" name="Title 39"/>
          <p:cNvSpPr>
            <a:spLocks noGrp="1"/>
          </p:cNvSpPr>
          <p:nvPr>
            <p:ph type="title"/>
          </p:nvPr>
        </p:nvSpPr>
        <p:spPr>
          <a:xfrm>
            <a:off x="319540" y="60436"/>
            <a:ext cx="9404723" cy="1400530"/>
          </a:xfrm>
        </p:spPr>
        <p:txBody>
          <a:bodyPr anchor="ctr">
            <a:normAutofit/>
          </a:bodyPr>
          <a:lstStyle/>
          <a:p>
            <a:r>
              <a:rPr dirty="0" err="1" smtClean="0"/>
              <a:t>AppLocker</a:t>
            </a:r>
            <a:endParaRPr lang="en-US" sz="2400" baseline="30000" dirty="0">
              <a:solidFill>
                <a:schemeClr val="tx1"/>
              </a:solidFill>
            </a:endParaRPr>
          </a:p>
        </p:txBody>
      </p:sp>
      <p:sp>
        <p:nvSpPr>
          <p:cNvPr id="88" name="Rounded Rectangle 87"/>
          <p:cNvSpPr/>
          <p:nvPr/>
        </p:nvSpPr>
        <p:spPr>
          <a:xfrm rot="5400000">
            <a:off x="5803629" y="-2576404"/>
            <a:ext cx="451260" cy="8382000"/>
          </a:xfrm>
          <a:prstGeom prst="roundRect">
            <a:avLst>
              <a:gd name="adj" fmla="val 30623"/>
            </a:avLst>
          </a:prstGeom>
          <a:ln>
            <a:headEnd/>
            <a:tailEnd/>
          </a:ln>
        </p:spPr>
        <p:style>
          <a:lnRef idx="0">
            <a:schemeClr val="accent1"/>
          </a:lnRef>
          <a:fillRef idx="3">
            <a:schemeClr val="accent1"/>
          </a:fillRef>
          <a:effectRef idx="3">
            <a:schemeClr val="accent1"/>
          </a:effectRef>
          <a:fontRef idx="minor">
            <a:schemeClr val="lt1"/>
          </a:fontRef>
        </p:style>
        <p:txBody>
          <a:bodyPr vert="horz" wrap="square" lIns="76197" tIns="38098" rIns="76197" bIns="38098" numCol="1" anchor="t" anchorCtr="0" compatLnSpc="1">
            <a:prstTxWarp prst="textNoShape">
              <a:avLst/>
            </a:prstTxWarp>
          </a:bodyPr>
          <a:lstStyle/>
          <a:p>
            <a:pPr defTabSz="914363" fontAlgn="base">
              <a:lnSpc>
                <a:spcPct val="90000"/>
              </a:lnSpc>
              <a:spcBef>
                <a:spcPct val="0"/>
              </a:spcBef>
              <a:spcAft>
                <a:spcPct val="0"/>
              </a:spcAft>
              <a:defRPr/>
            </a:pPr>
            <a:endParaRPr lang="en-US" dirty="0">
              <a:solidFill>
                <a:srgbClr val="FFFFFF"/>
              </a:solidFill>
              <a:latin typeface="Segoe"/>
            </a:endParaRPr>
          </a:p>
        </p:txBody>
      </p:sp>
      <p:sp>
        <p:nvSpPr>
          <p:cNvPr id="89" name="TextBox 11277"/>
          <p:cNvSpPr txBox="1">
            <a:spLocks noChangeArrowheads="1"/>
          </p:cNvSpPr>
          <p:nvPr/>
        </p:nvSpPr>
        <p:spPr bwMode="auto">
          <a:xfrm>
            <a:off x="1141477" y="1476097"/>
            <a:ext cx="8382000" cy="276999"/>
          </a:xfrm>
          <a:prstGeom prst="rect">
            <a:avLst/>
          </a:prstGeom>
          <a:noFill/>
          <a:ln w="9525">
            <a:noFill/>
            <a:miter lim="800000"/>
            <a:headEnd/>
            <a:tailEnd/>
          </a:ln>
        </p:spPr>
        <p:txBody>
          <a:bodyPr wrap="square" lIns="0" tIns="0" rIns="0" bIns="0" anchor="ctr">
            <a:spAutoFit/>
          </a:bodyPr>
          <a:lstStyle/>
          <a:p>
            <a:pPr algn="ctr" eaLnBrk="0" hangingPunct="0">
              <a:lnSpc>
                <a:spcPct val="90000"/>
              </a:lnSpc>
            </a:pPr>
            <a:r>
              <a:rPr lang="en-US" sz="2000" dirty="0">
                <a:effectLst>
                  <a:outerShdw blurRad="279400" algn="ctr" rotWithShape="0">
                    <a:prstClr val="black">
                      <a:alpha val="75000"/>
                    </a:prstClr>
                  </a:outerShdw>
                  <a:reflection blurRad="6350" stA="55000" endA="300" endPos="45500" dir="5400000" sy="-100000" algn="bl" rotWithShape="0"/>
                </a:effectLst>
                <a:latin typeface="Segoe Semibold" pitchFamily="34" charset="0"/>
              </a:rPr>
              <a:t>Technical Details</a:t>
            </a:r>
          </a:p>
        </p:txBody>
      </p:sp>
      <p:sp>
        <p:nvSpPr>
          <p:cNvPr id="42" name="Rectangle 41"/>
          <p:cNvSpPr/>
          <p:nvPr/>
        </p:nvSpPr>
        <p:spPr>
          <a:xfrm>
            <a:off x="1905000" y="1696948"/>
            <a:ext cx="8229600" cy="4642296"/>
          </a:xfrm>
          <a:prstGeom prst="rect">
            <a:avLst/>
          </a:prstGeom>
        </p:spPr>
        <p:txBody>
          <a:bodyPr wrap="square">
            <a:spAutoFit/>
          </a:bodyPr>
          <a:lstStyle/>
          <a:p>
            <a:pPr marL="287338" lvl="1" indent="-277813" defTabSz="914363" fontAlgn="base">
              <a:spcBef>
                <a:spcPts val="1200"/>
              </a:spcBef>
              <a:spcAft>
                <a:spcPts val="100"/>
              </a:spcAft>
              <a:buBlip>
                <a:blip r:embed="rId3"/>
              </a:buBlip>
              <a:defRPr/>
            </a:pPr>
            <a:r>
              <a:rPr lang="en-US" sz="2400" dirty="0">
                <a:solidFill>
                  <a:prstClr val="white"/>
                </a:solidFill>
              </a:rPr>
              <a:t>Simple Rule Structure: Allow, Exception &amp; Deny</a:t>
            </a:r>
          </a:p>
          <a:p>
            <a:pPr marL="287338" lvl="1" indent="-277813" defTabSz="914363" fontAlgn="base">
              <a:spcBef>
                <a:spcPts val="600"/>
              </a:spcBef>
              <a:spcAft>
                <a:spcPts val="100"/>
              </a:spcAft>
              <a:buBlip>
                <a:blip r:embed="rId3"/>
              </a:buBlip>
              <a:defRPr/>
            </a:pPr>
            <a:r>
              <a:rPr lang="en-US" sz="2400" dirty="0">
                <a:solidFill>
                  <a:prstClr val="white"/>
                </a:solidFill>
              </a:rPr>
              <a:t>Publisher Rules</a:t>
            </a:r>
          </a:p>
          <a:p>
            <a:pPr marL="744538" lvl="2" indent="-277813" defTabSz="914363" fontAlgn="base">
              <a:spcBef>
                <a:spcPts val="600"/>
              </a:spcBef>
              <a:spcAft>
                <a:spcPts val="100"/>
              </a:spcAft>
              <a:buBlip>
                <a:blip r:embed="rId3"/>
              </a:buBlip>
              <a:defRPr/>
            </a:pPr>
            <a:r>
              <a:rPr lang="en-US" sz="2000" dirty="0">
                <a:solidFill>
                  <a:prstClr val="white"/>
                </a:solidFill>
              </a:rPr>
              <a:t>Product Publisher, Name, Filename &amp; Version</a:t>
            </a:r>
          </a:p>
          <a:p>
            <a:pPr marL="287338" lvl="1" indent="-277813" defTabSz="914363" fontAlgn="base">
              <a:spcBef>
                <a:spcPts val="600"/>
              </a:spcBef>
              <a:spcAft>
                <a:spcPts val="100"/>
              </a:spcAft>
              <a:buBlip>
                <a:blip r:embed="rId3"/>
              </a:buBlip>
              <a:defRPr/>
            </a:pPr>
            <a:r>
              <a:rPr lang="en-US" sz="2400" dirty="0">
                <a:solidFill>
                  <a:prstClr val="white"/>
                </a:solidFill>
              </a:rPr>
              <a:t>Multiple Policies</a:t>
            </a:r>
          </a:p>
          <a:p>
            <a:pPr marL="744538" lvl="2" indent="-277813" defTabSz="914363" fontAlgn="base">
              <a:spcBef>
                <a:spcPts val="600"/>
              </a:spcBef>
              <a:spcAft>
                <a:spcPts val="100"/>
              </a:spcAft>
              <a:buBlip>
                <a:blip r:embed="rId3"/>
              </a:buBlip>
              <a:defRPr/>
            </a:pPr>
            <a:r>
              <a:rPr lang="en-US" sz="2000" dirty="0">
                <a:solidFill>
                  <a:prstClr val="white"/>
                </a:solidFill>
              </a:rPr>
              <a:t>Executables, installers, scripts &amp; DLLs</a:t>
            </a:r>
          </a:p>
          <a:p>
            <a:pPr marL="287338" lvl="1" indent="-277813" defTabSz="914363" fontAlgn="base">
              <a:spcBef>
                <a:spcPts val="600"/>
              </a:spcBef>
              <a:spcAft>
                <a:spcPts val="100"/>
              </a:spcAft>
              <a:buBlip>
                <a:blip r:embed="rId3"/>
              </a:buBlip>
              <a:defRPr/>
            </a:pPr>
            <a:r>
              <a:rPr lang="en-US" sz="2400" dirty="0">
                <a:solidFill>
                  <a:prstClr val="white"/>
                </a:solidFill>
              </a:rPr>
              <a:t>Rule creation tools &amp; wizard</a:t>
            </a:r>
          </a:p>
          <a:p>
            <a:pPr marL="744538" lvl="2" indent="-277813" defTabSz="914363" fontAlgn="base">
              <a:spcBef>
                <a:spcPts val="600"/>
              </a:spcBef>
              <a:spcAft>
                <a:spcPts val="100"/>
              </a:spcAft>
              <a:buBlip>
                <a:blip r:embed="rId3"/>
              </a:buBlip>
              <a:defRPr/>
            </a:pPr>
            <a:r>
              <a:rPr lang="en-US" sz="2000" dirty="0">
                <a:solidFill>
                  <a:prstClr val="white"/>
                </a:solidFill>
              </a:rPr>
              <a:t>Including </a:t>
            </a:r>
            <a:r>
              <a:rPr lang="en-US" sz="2000" dirty="0" err="1">
                <a:solidFill>
                  <a:prstClr val="white"/>
                </a:solidFill>
              </a:rPr>
              <a:t>PowerShell</a:t>
            </a:r>
            <a:r>
              <a:rPr lang="en-US" sz="2000" dirty="0">
                <a:solidFill>
                  <a:prstClr val="white"/>
                </a:solidFill>
              </a:rPr>
              <a:t> </a:t>
            </a:r>
            <a:r>
              <a:rPr lang="en-US" sz="2000" dirty="0" err="1">
                <a:solidFill>
                  <a:prstClr val="white"/>
                </a:solidFill>
              </a:rPr>
              <a:t>cmdlets</a:t>
            </a:r>
            <a:endParaRPr lang="en-US" sz="2000" dirty="0">
              <a:solidFill>
                <a:prstClr val="white"/>
              </a:solidFill>
            </a:endParaRPr>
          </a:p>
          <a:p>
            <a:pPr marL="287338" lvl="1" indent="-277813" defTabSz="914363" fontAlgn="base">
              <a:spcBef>
                <a:spcPts val="600"/>
              </a:spcBef>
              <a:spcAft>
                <a:spcPts val="100"/>
              </a:spcAft>
              <a:buBlip>
                <a:blip r:embed="rId3"/>
              </a:buBlip>
              <a:defRPr/>
            </a:pPr>
            <a:r>
              <a:rPr lang="en-US" sz="2400" dirty="0">
                <a:solidFill>
                  <a:prstClr val="white"/>
                </a:solidFill>
              </a:rPr>
              <a:t>Audit only mode</a:t>
            </a:r>
          </a:p>
          <a:p>
            <a:pPr marL="287338" lvl="1" indent="-277813" defTabSz="914363" fontAlgn="base">
              <a:spcBef>
                <a:spcPts val="600"/>
              </a:spcBef>
              <a:spcAft>
                <a:spcPts val="100"/>
              </a:spcAft>
              <a:buBlip>
                <a:blip r:embed="rId3"/>
              </a:buBlip>
              <a:defRPr/>
            </a:pPr>
            <a:r>
              <a:rPr lang="en-US" sz="2400" dirty="0">
                <a:solidFill>
                  <a:prstClr val="white"/>
                </a:solidFill>
              </a:rPr>
              <a:t>SKU Availability</a:t>
            </a:r>
          </a:p>
          <a:p>
            <a:pPr marL="744538" lvl="2" indent="-277813" defTabSz="914363" fontAlgn="base">
              <a:spcBef>
                <a:spcPts val="200"/>
              </a:spcBef>
              <a:spcAft>
                <a:spcPts val="100"/>
              </a:spcAft>
              <a:buBlip>
                <a:blip r:embed="rId3"/>
              </a:buBlip>
              <a:defRPr/>
            </a:pPr>
            <a:r>
              <a:rPr lang="en-US" sz="2000" dirty="0">
                <a:solidFill>
                  <a:prstClr val="white"/>
                </a:solidFill>
              </a:rPr>
              <a:t>AppLocker – Enterprise</a:t>
            </a:r>
          </a:p>
          <a:p>
            <a:pPr marL="744538" lvl="2" indent="-277813" defTabSz="914363" fontAlgn="base">
              <a:spcBef>
                <a:spcPts val="200"/>
              </a:spcBef>
              <a:spcAft>
                <a:spcPts val="100"/>
              </a:spcAft>
              <a:buBlip>
                <a:blip r:embed="rId3"/>
              </a:buBlip>
              <a:defRPr/>
            </a:pPr>
            <a:r>
              <a:rPr lang="en-US" sz="2000" dirty="0">
                <a:solidFill>
                  <a:prstClr val="white"/>
                </a:solidFill>
              </a:rPr>
              <a:t>Legacy SRP  – Business &amp; Enterprise</a:t>
            </a:r>
          </a:p>
        </p:txBody>
      </p:sp>
      <p:grpSp>
        <p:nvGrpSpPr>
          <p:cNvPr id="2" name="Group 25"/>
          <p:cNvGrpSpPr/>
          <p:nvPr/>
        </p:nvGrpSpPr>
        <p:grpSpPr>
          <a:xfrm>
            <a:off x="6934201" y="4038601"/>
            <a:ext cx="2915381" cy="2223479"/>
            <a:chOff x="5410200" y="4038600"/>
            <a:chExt cx="2915381" cy="2223479"/>
          </a:xfrm>
        </p:grpSpPr>
        <p:grpSp>
          <p:nvGrpSpPr>
            <p:cNvPr id="3" name="Group 22"/>
            <p:cNvGrpSpPr>
              <a:grpSpLocks noChangeAspect="1"/>
            </p:cNvGrpSpPr>
            <p:nvPr/>
          </p:nvGrpSpPr>
          <p:grpSpPr>
            <a:xfrm>
              <a:off x="5410200" y="4312920"/>
              <a:ext cx="2915381" cy="1949159"/>
              <a:chOff x="6019800" y="4876800"/>
              <a:chExt cx="2429484" cy="1624299"/>
            </a:xfrm>
          </p:grpSpPr>
          <p:grpSp>
            <p:nvGrpSpPr>
              <p:cNvPr id="4" name="Group 51"/>
              <p:cNvGrpSpPr/>
              <p:nvPr/>
            </p:nvGrpSpPr>
            <p:grpSpPr>
              <a:xfrm>
                <a:off x="6629400" y="4876800"/>
                <a:ext cx="1819884" cy="1624299"/>
                <a:chOff x="2286000" y="2133600"/>
                <a:chExt cx="1819884" cy="1624299"/>
              </a:xfrm>
            </p:grpSpPr>
            <p:pic>
              <p:nvPicPr>
                <p:cNvPr id="19" name="Picture 3" descr="E:\DVD_ART34\Artwork_Imagery\Shapes\Arrows\Curved\three way blue yellow green arrow.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10800000">
                  <a:off x="2286000" y="2133600"/>
                  <a:ext cx="1492250" cy="1122484"/>
                </a:xfrm>
                <a:prstGeom prst="rect">
                  <a:avLst/>
                </a:prstGeom>
                <a:noFill/>
              </p:spPr>
            </p:pic>
            <p:pic>
              <p:nvPicPr>
                <p:cNvPr id="21" name="Picture 10" descr="E:\DVD_ART34\Artwork_Imagery\Icons - Illustrations\_WINDOWS VISTA ICONS\Internet globe web world earth.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576320" y="2466752"/>
                  <a:ext cx="515620" cy="456181"/>
                </a:xfrm>
                <a:prstGeom prst="rect">
                  <a:avLst/>
                </a:prstGeom>
                <a:noFill/>
              </p:spPr>
            </p:pic>
            <p:pic>
              <p:nvPicPr>
                <p:cNvPr id="22" name="Picture 12" descr="E:\DVD_ART34\Artwork_Imagery\Icons - Illustrations\_MSN ICONS\MSN icon envelope email mail letter.p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562377" y="2971800"/>
                  <a:ext cx="543507" cy="786099"/>
                </a:xfrm>
                <a:prstGeom prst="rect">
                  <a:avLst/>
                </a:prstGeom>
                <a:noFill/>
              </p:spPr>
            </p:pic>
          </p:grpSp>
          <p:pic>
            <p:nvPicPr>
              <p:cNvPr id="17" name="Picture 17" descr="E:\DVD_ART34\Artwork_Imagery\Icons - Illustrations\_MISC ICONS\computer green healthy secure.pn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019800" y="5149146"/>
                <a:ext cx="914400" cy="671332"/>
              </a:xfrm>
              <a:prstGeom prst="rect">
                <a:avLst/>
              </a:prstGeom>
              <a:noFill/>
            </p:spPr>
          </p:pic>
          <p:pic>
            <p:nvPicPr>
              <p:cNvPr id="18" name="Picture 2" descr="E:\DVD_ART34\Artwork_Imagery\Icons - Illustrations\_WINDOWS VISTA ICONS\Users man woman people persons.png"/>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7086600" y="5105400"/>
                <a:ext cx="758825" cy="758825"/>
              </a:xfrm>
              <a:prstGeom prst="rect">
                <a:avLst/>
              </a:prstGeom>
              <a:noFill/>
            </p:spPr>
          </p:pic>
        </p:grpSp>
        <p:pic>
          <p:nvPicPr>
            <p:cNvPr id="24" name="Picture 3" descr="C:\Users\aheaton\Desktop\Artwork_Imagery\Icons - Illustrations\software boxes\software CD product package.png"/>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696200" y="4038600"/>
              <a:ext cx="616410" cy="565845"/>
            </a:xfrm>
            <a:prstGeom prst="rect">
              <a:avLst/>
            </a:prstGeom>
            <a:noFill/>
          </p:spPr>
        </p:pic>
      </p:grpSp>
    </p:spTree>
    <p:extLst>
      <p:ext uri="{BB962C8B-B14F-4D97-AF65-F5344CB8AC3E}">
        <p14:creationId xmlns:p14="http://schemas.microsoft.com/office/powerpoint/2010/main" val="10159618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smtClean="0"/>
              <a:t>AppLocker</a:t>
            </a:r>
            <a:endParaRPr lang="en-US" b="1" dirty="0"/>
          </a:p>
        </p:txBody>
      </p:sp>
      <p:sp>
        <p:nvSpPr>
          <p:cNvPr id="3" name="Content Placeholder 2"/>
          <p:cNvSpPr>
            <a:spLocks noGrp="1"/>
          </p:cNvSpPr>
          <p:nvPr>
            <p:ph idx="1"/>
          </p:nvPr>
        </p:nvSpPr>
        <p:spPr>
          <a:xfrm>
            <a:off x="646111" y="1256083"/>
            <a:ext cx="8946541" cy="4195481"/>
          </a:xfrm>
        </p:spPr>
        <p:txBody>
          <a:bodyPr>
            <a:noAutofit/>
          </a:bodyPr>
          <a:lstStyle/>
          <a:p>
            <a:r>
              <a:rPr lang="en-GB" sz="2400" dirty="0"/>
              <a:t>A mandatory style policy for applications, scripts, installer and DLLs – useful for “</a:t>
            </a:r>
            <a:r>
              <a:rPr lang="en-GB" sz="2400" b="1" dirty="0"/>
              <a:t>White Listing</a:t>
            </a:r>
            <a:r>
              <a:rPr lang="en-GB" sz="2400" dirty="0"/>
              <a:t>”</a:t>
            </a:r>
          </a:p>
          <a:p>
            <a:r>
              <a:rPr lang="en-GB" sz="2400" dirty="0"/>
              <a:t>Application Restriction Policy to prevent users from ( or allow) running certain types of applications</a:t>
            </a:r>
          </a:p>
          <a:p>
            <a:r>
              <a:rPr lang="en-GB" sz="2400" dirty="0"/>
              <a:t>Option to exercise “audit” before enforcing</a:t>
            </a:r>
          </a:p>
          <a:p>
            <a:r>
              <a:rPr lang="en-GB" sz="2400" dirty="0" err="1"/>
              <a:t>AppLocker</a:t>
            </a:r>
            <a:r>
              <a:rPr lang="en-GB" sz="2400" dirty="0"/>
              <a:t> rules include:</a:t>
            </a:r>
          </a:p>
          <a:p>
            <a:pPr lvl="1"/>
            <a:r>
              <a:rPr lang="en-GB" sz="2400" dirty="0"/>
              <a:t>Hash rules</a:t>
            </a:r>
          </a:p>
          <a:p>
            <a:pPr lvl="1"/>
            <a:r>
              <a:rPr lang="en-GB" sz="2400" dirty="0"/>
              <a:t>Path rules</a:t>
            </a:r>
          </a:p>
          <a:p>
            <a:pPr lvl="1"/>
            <a:r>
              <a:rPr lang="en-GB" sz="2400" dirty="0"/>
              <a:t>Publisher rules ( based on digital signature of original publisher of software)</a:t>
            </a:r>
          </a:p>
          <a:p>
            <a:r>
              <a:rPr lang="en-SG" i="1" dirty="0" err="1"/>
              <a:t>AppLocker</a:t>
            </a:r>
            <a:r>
              <a:rPr lang="en-SG" i="1" dirty="0"/>
              <a:t> rules cannot be enforced on computers running Windows 7 Pro.</a:t>
            </a:r>
            <a:endParaRPr lang="en-US" i="1" dirty="0"/>
          </a:p>
        </p:txBody>
      </p:sp>
      <p:sp>
        <p:nvSpPr>
          <p:cNvPr id="4" name="Slide Number Placeholder 3"/>
          <p:cNvSpPr>
            <a:spLocks noGrp="1"/>
          </p:cNvSpPr>
          <p:nvPr>
            <p:ph type="sldNum" sz="quarter" idx="12"/>
          </p:nvPr>
        </p:nvSpPr>
        <p:spPr/>
        <p:txBody>
          <a:bodyPr/>
          <a:lstStyle/>
          <a:p>
            <a:fld id="{0F8FC8C6-3D81-4A4F-BCA7-F338AC57D498}" type="slidenum">
              <a:rPr lang="en-US" smtClean="0"/>
              <a:pPr/>
              <a:t>22</a:t>
            </a:fld>
            <a:endParaRPr lang="en-US" dirty="0"/>
          </a:p>
        </p:txBody>
      </p:sp>
    </p:spTree>
    <p:extLst>
      <p:ext uri="{BB962C8B-B14F-4D97-AF65-F5344CB8AC3E}">
        <p14:creationId xmlns:p14="http://schemas.microsoft.com/office/powerpoint/2010/main" val="3461602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Accessing </a:t>
            </a:r>
            <a:r>
              <a:rPr lang="en-GB" b="1" dirty="0" err="1" smtClean="0"/>
              <a:t>AppLocker</a:t>
            </a:r>
            <a:endParaRPr lang="en-SG" b="1" dirty="0"/>
          </a:p>
        </p:txBody>
      </p:sp>
      <p:sp>
        <p:nvSpPr>
          <p:cNvPr id="3" name="Slide Number Placeholder 2"/>
          <p:cNvSpPr>
            <a:spLocks noGrp="1"/>
          </p:cNvSpPr>
          <p:nvPr>
            <p:ph type="sldNum" sz="quarter" idx="12"/>
          </p:nvPr>
        </p:nvSpPr>
        <p:spPr/>
        <p:txBody>
          <a:bodyPr/>
          <a:lstStyle/>
          <a:p>
            <a:fld id="{0F8FC8C6-3D81-4A4F-BCA7-F338AC57D498}" type="slidenum">
              <a:rPr lang="en-US" smtClean="0"/>
              <a:pPr/>
              <a:t>23</a:t>
            </a:fld>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53" y="1397964"/>
            <a:ext cx="7998824" cy="527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575722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35</TotalTime>
  <Words>1614</Words>
  <Application>Microsoft Office PowerPoint</Application>
  <PresentationFormat>Widescreen</PresentationFormat>
  <Paragraphs>304</Paragraphs>
  <Slides>23</Slides>
  <Notes>12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23</vt:i4>
      </vt:variant>
    </vt:vector>
  </HeadingPairs>
  <TitlesOfParts>
    <vt:vector size="37" baseType="lpstr">
      <vt:lpstr>メイリオ</vt:lpstr>
      <vt:lpstr>ＭＳ Ｐゴシック</vt:lpstr>
      <vt:lpstr>Segoe</vt:lpstr>
      <vt:lpstr>Segoe Semibold</vt:lpstr>
      <vt:lpstr>Arial</vt:lpstr>
      <vt:lpstr>Calibri</vt:lpstr>
      <vt:lpstr>Century Gothic</vt:lpstr>
      <vt:lpstr>Gill Sans MT</vt:lpstr>
      <vt:lpstr>Times New Roman</vt:lpstr>
      <vt:lpstr>Wingdings</vt:lpstr>
      <vt:lpstr>Wingdings 3</vt:lpstr>
      <vt:lpstr>Ion</vt:lpstr>
      <vt:lpstr>Visio</vt:lpstr>
      <vt:lpstr>Chart</vt:lpstr>
      <vt:lpstr>Windows Server Security</vt:lpstr>
      <vt:lpstr>Objectives</vt:lpstr>
      <vt:lpstr>Windows Enterprise Security</vt:lpstr>
      <vt:lpstr>Encryption</vt:lpstr>
      <vt:lpstr>Cryptography System - Terminology</vt:lpstr>
      <vt:lpstr>Encrypting Files  with BitLocker</vt:lpstr>
      <vt:lpstr>Configuring BitLocker Encryption</vt:lpstr>
      <vt:lpstr>Install BitLocker</vt:lpstr>
      <vt:lpstr>Encryption and Decryption</vt:lpstr>
      <vt:lpstr>Types of Cryptography</vt:lpstr>
      <vt:lpstr>Symmetric Algorithms</vt:lpstr>
      <vt:lpstr>Advanced Encryption Standard (AES)</vt:lpstr>
      <vt:lpstr>BitLocker™ Drive Encryption</vt:lpstr>
      <vt:lpstr>BitLocker™ Drive Encryption Architecture Static Root of Trust Measurement of boot components</vt:lpstr>
      <vt:lpstr>Disk Layout And Key Storage</vt:lpstr>
      <vt:lpstr>Spectrum of Protection</vt:lpstr>
      <vt:lpstr>Application Control</vt:lpstr>
      <vt:lpstr>Application Control</vt:lpstr>
      <vt:lpstr>Application Control in Windows</vt:lpstr>
      <vt:lpstr>Application Control</vt:lpstr>
      <vt:lpstr>AppLocker</vt:lpstr>
      <vt:lpstr>AppLocker</vt:lpstr>
      <vt:lpstr>Accessing AppLocker</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LAM SIMON</dc:creator>
  <cp:lastModifiedBy>LAM SIMON</cp:lastModifiedBy>
  <cp:revision>9</cp:revision>
  <dcterms:created xsi:type="dcterms:W3CDTF">2017-04-26T03:34:38Z</dcterms:created>
  <dcterms:modified xsi:type="dcterms:W3CDTF">2018-05-15T08:32:38Z</dcterms:modified>
</cp:coreProperties>
</file>