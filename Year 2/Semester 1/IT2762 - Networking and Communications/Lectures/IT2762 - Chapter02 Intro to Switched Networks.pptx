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0" r:id="rId1"/>
    <p:sldMasterId id="2147483945" r:id="rId2"/>
  </p:sldMasterIdLst>
  <p:notesMasterIdLst>
    <p:notesMasterId r:id="rId28"/>
  </p:notesMasterIdLst>
  <p:handoutMasterIdLst>
    <p:handoutMasterId r:id="rId29"/>
  </p:handoutMasterIdLst>
  <p:sldIdLst>
    <p:sldId id="500" r:id="rId3"/>
    <p:sldId id="541" r:id="rId4"/>
    <p:sldId id="782" r:id="rId5"/>
    <p:sldId id="785" r:id="rId6"/>
    <p:sldId id="788" r:id="rId7"/>
    <p:sldId id="790" r:id="rId8"/>
    <p:sldId id="791" r:id="rId9"/>
    <p:sldId id="808" r:id="rId10"/>
    <p:sldId id="792" r:id="rId11"/>
    <p:sldId id="809" r:id="rId12"/>
    <p:sldId id="810" r:id="rId13"/>
    <p:sldId id="796" r:id="rId14"/>
    <p:sldId id="797" r:id="rId15"/>
    <p:sldId id="794" r:id="rId16"/>
    <p:sldId id="811" r:id="rId17"/>
    <p:sldId id="812" r:id="rId18"/>
    <p:sldId id="795" r:id="rId19"/>
    <p:sldId id="800" r:id="rId20"/>
    <p:sldId id="802" r:id="rId21"/>
    <p:sldId id="813" r:id="rId22"/>
    <p:sldId id="803" r:id="rId23"/>
    <p:sldId id="814" r:id="rId24"/>
    <p:sldId id="804" r:id="rId25"/>
    <p:sldId id="783" r:id="rId26"/>
    <p:sldId id="805" r:id="rId27"/>
  </p:sldIdLst>
  <p:sldSz cx="9144000" cy="6858000" type="screen4x3"/>
  <p:notesSz cx="7010400" cy="9296400"/>
  <p:defaultTextStyle>
    <a:defPPr>
      <a:defRPr lang="en-US"/>
    </a:defPPr>
    <a:lvl1pPr algn="ctr" rtl="0" eaLnBrk="0" fontAlgn="base" hangingPunct="0">
      <a:lnSpc>
        <a:spcPct val="90000"/>
      </a:lnSpc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ctr" rtl="0" eaLnBrk="0" fontAlgn="base" hangingPunct="0">
      <a:lnSpc>
        <a:spcPct val="90000"/>
      </a:lnSpc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ctr" rtl="0" eaLnBrk="0" fontAlgn="base" hangingPunct="0">
      <a:lnSpc>
        <a:spcPct val="90000"/>
      </a:lnSpc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ctr" rtl="0" eaLnBrk="0" fontAlgn="base" hangingPunct="0">
      <a:lnSpc>
        <a:spcPct val="90000"/>
      </a:lnSpc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ctr" rtl="0" eaLnBrk="0" fontAlgn="base" hangingPunct="0">
      <a:lnSpc>
        <a:spcPct val="90000"/>
      </a:lnSpc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vittoria deloulay" initials="vd" lastIdx="7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C0C0C4"/>
    <a:srgbClr val="678DC5"/>
    <a:srgbClr val="3E67A4"/>
    <a:srgbClr val="3E8DC5"/>
    <a:srgbClr val="5F5F65"/>
    <a:srgbClr val="7E7E86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796" autoAdjust="0"/>
    <p:restoredTop sz="94374" autoAdjust="0"/>
  </p:normalViewPr>
  <p:slideViewPr>
    <p:cSldViewPr snapToGrid="0">
      <p:cViewPr varScale="1">
        <p:scale>
          <a:sx n="58" d="100"/>
          <a:sy n="58" d="100"/>
        </p:scale>
        <p:origin x="390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502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7596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11"/>
          <p:cNvSpPr>
            <a:spLocks noChangeArrowheads="1"/>
          </p:cNvSpPr>
          <p:nvPr/>
        </p:nvSpPr>
        <p:spPr bwMode="auto">
          <a:xfrm>
            <a:off x="6249988" y="8609013"/>
            <a:ext cx="449262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97283" name="Rectangle 12"/>
          <p:cNvSpPr>
            <a:spLocks noChangeArrowheads="1"/>
          </p:cNvSpPr>
          <p:nvPr/>
        </p:nvSpPr>
        <p:spPr bwMode="auto">
          <a:xfrm>
            <a:off x="57150" y="8785225"/>
            <a:ext cx="2619375" cy="347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5667" tIns="50185" rIns="95667" bIns="50185">
            <a:spAutoFit/>
          </a:bodyPr>
          <a:lstStyle/>
          <a:p>
            <a:pPr algn="l" defTabSz="611188">
              <a:lnSpc>
                <a:spcPct val="100000"/>
              </a:lnSpc>
              <a:tabLst>
                <a:tab pos="2387600" algn="l"/>
                <a:tab pos="4830763" algn="l"/>
              </a:tabLst>
              <a:defRPr/>
            </a:pPr>
            <a:r>
              <a:rPr lang="en-US" sz="800" dirty="0"/>
              <a:t>© 2006, Cisco Systems, Inc. All rights reserved.</a:t>
            </a:r>
          </a:p>
          <a:p>
            <a:pPr algn="l" defTabSz="611188">
              <a:lnSpc>
                <a:spcPct val="100000"/>
              </a:lnSpc>
              <a:tabLst>
                <a:tab pos="2387600" algn="l"/>
                <a:tab pos="4830763" algn="l"/>
              </a:tabLst>
              <a:defRPr/>
            </a:pPr>
            <a:r>
              <a:rPr lang="en-US" sz="800" dirty="0"/>
              <a:t>Presentation_ID.scr</a:t>
            </a:r>
          </a:p>
        </p:txBody>
      </p:sp>
      <p:sp>
        <p:nvSpPr>
          <p:cNvPr id="97284" name="Line 13"/>
          <p:cNvSpPr>
            <a:spLocks noChangeShapeType="1"/>
          </p:cNvSpPr>
          <p:nvPr/>
        </p:nvSpPr>
        <p:spPr bwMode="auto">
          <a:xfrm>
            <a:off x="152400" y="8799513"/>
            <a:ext cx="66532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97285" name="Rectangle 14"/>
          <p:cNvSpPr>
            <a:spLocks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819" tIns="0" rIns="18819" bIns="0" anchor="b"/>
          <a:lstStyle/>
          <a:p>
            <a:pPr algn="r" defTabSz="903288">
              <a:lnSpc>
                <a:spcPct val="100000"/>
              </a:lnSpc>
              <a:defRPr/>
            </a:pPr>
            <a:fld id="{BCC1ECAD-6CE1-4897-9CEF-F2ECC9BEA19E}" type="slidenum">
              <a:rPr lang="en-US" sz="800"/>
              <a:pPr algn="r" defTabSz="903288">
                <a:lnSpc>
                  <a:spcPct val="100000"/>
                </a:lnSpc>
                <a:defRPr/>
              </a:pPr>
              <a:t>‹#›</a:t>
            </a:fld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8058983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8"/>
          <p:cNvSpPr>
            <a:spLocks noChangeArrowheads="1"/>
          </p:cNvSpPr>
          <p:nvPr/>
        </p:nvSpPr>
        <p:spPr bwMode="auto">
          <a:xfrm>
            <a:off x="6249988" y="8609013"/>
            <a:ext cx="449262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51203" name="Rectangle 9"/>
          <p:cNvSpPr>
            <a:spLocks noChangeArrowheads="1"/>
          </p:cNvSpPr>
          <p:nvPr/>
        </p:nvSpPr>
        <p:spPr bwMode="auto">
          <a:xfrm>
            <a:off x="57150" y="8785225"/>
            <a:ext cx="2619375" cy="347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5667" tIns="50185" rIns="95667" bIns="50185">
            <a:spAutoFit/>
          </a:bodyPr>
          <a:lstStyle/>
          <a:p>
            <a:pPr algn="l" defTabSz="611188">
              <a:lnSpc>
                <a:spcPct val="100000"/>
              </a:lnSpc>
              <a:tabLst>
                <a:tab pos="2387600" algn="l"/>
                <a:tab pos="4830763" algn="l"/>
              </a:tabLst>
              <a:defRPr/>
            </a:pPr>
            <a:r>
              <a:rPr lang="en-US" sz="800" dirty="0"/>
              <a:t>© 2006, Cisco Systems, Inc. All rights reserved.</a:t>
            </a:r>
          </a:p>
          <a:p>
            <a:pPr algn="l" defTabSz="611188">
              <a:lnSpc>
                <a:spcPct val="100000"/>
              </a:lnSpc>
              <a:tabLst>
                <a:tab pos="2387600" algn="l"/>
                <a:tab pos="4830763" algn="l"/>
              </a:tabLst>
              <a:defRPr/>
            </a:pPr>
            <a:r>
              <a:rPr lang="en-US" sz="800" dirty="0"/>
              <a:t>Presentation_ID.scr</a:t>
            </a:r>
          </a:p>
        </p:txBody>
      </p:sp>
      <p:sp>
        <p:nvSpPr>
          <p:cNvPr id="51204" name="Line 10"/>
          <p:cNvSpPr>
            <a:spLocks noChangeShapeType="1"/>
          </p:cNvSpPr>
          <p:nvPr/>
        </p:nvSpPr>
        <p:spPr bwMode="auto">
          <a:xfrm>
            <a:off x="152400" y="8799513"/>
            <a:ext cx="66532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83307" name="Rectangle 11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8819" tIns="0" rIns="18819" bIns="0" numCol="1" anchor="b" anchorCtr="0" compatLnSpc="1">
            <a:prstTxWarp prst="textNoShape">
              <a:avLst/>
            </a:prstTxWarp>
          </a:bodyPr>
          <a:lstStyle>
            <a:lvl1pPr algn="r" defTabSz="903288">
              <a:lnSpc>
                <a:spcPct val="100000"/>
              </a:lnSpc>
              <a:defRPr sz="800"/>
            </a:lvl1pPr>
          </a:lstStyle>
          <a:p>
            <a:pPr>
              <a:defRPr/>
            </a:pPr>
            <a:fld id="{FB004549-1125-4930-988B-40FFE37DB1E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31750" name="Rectangle 12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3125" y="244475"/>
            <a:ext cx="5321300" cy="3990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183309" name="Rectangle 13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68350" y="4378325"/>
            <a:ext cx="5468938" cy="425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667" tIns="50185" rIns="95667" bIns="5018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Body Text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76630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112713" indent="-112713" algn="l" defTabSz="1020763" rtl="0" eaLnBrk="0" fontAlgn="base" hangingPunct="0">
      <a:lnSpc>
        <a:spcPct val="90000"/>
      </a:lnSpc>
      <a:spcBef>
        <a:spcPct val="50000"/>
      </a:spcBef>
      <a:spcAft>
        <a:spcPct val="0"/>
      </a:spcAft>
      <a:buSzPct val="100000"/>
      <a:buChar char="•"/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82600" indent="-120650" algn="l" defTabSz="1020763" rtl="0" eaLnBrk="0" fontAlgn="base" hangingPunct="0">
      <a:lnSpc>
        <a:spcPct val="90000"/>
      </a:lnSpc>
      <a:spcBef>
        <a:spcPct val="35000"/>
      </a:spcBef>
      <a:spcAft>
        <a:spcPct val="0"/>
      </a:spcAft>
      <a:buSzPct val="100000"/>
      <a:buChar char="•"/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66788" algn="l" defTabSz="1020763" rtl="0" eaLnBrk="0" fontAlgn="base" hangingPunct="0">
      <a:lnSpc>
        <a:spcPct val="90000"/>
      </a:lnSpc>
      <a:spcBef>
        <a:spcPct val="35000"/>
      </a:spcBef>
      <a:spcAft>
        <a:spcPct val="0"/>
      </a:spcAft>
      <a:buSzPct val="100000"/>
      <a:buChar char="•"/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449388" algn="l" defTabSz="1020763" rtl="0" eaLnBrk="0" fontAlgn="base" hangingPunct="0">
      <a:lnSpc>
        <a:spcPct val="90000"/>
      </a:lnSpc>
      <a:spcBef>
        <a:spcPct val="35000"/>
      </a:spcBef>
      <a:spcAft>
        <a:spcPct val="0"/>
      </a:spcAft>
      <a:buSzPct val="100000"/>
      <a:buChar char="•"/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931988" algn="l" defTabSz="1020763" rtl="0" eaLnBrk="0" fontAlgn="base" hangingPunct="0">
      <a:lnSpc>
        <a:spcPct val="90000"/>
      </a:lnSpc>
      <a:spcBef>
        <a:spcPct val="35000"/>
      </a:spcBef>
      <a:spcAft>
        <a:spcPct val="0"/>
      </a:spcAft>
      <a:buSzPct val="100000"/>
      <a:buChar char="•"/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9034988-36DD-4D34-B1CE-37AB851117A5}" type="slidenum">
              <a:rPr lang="en-US" smtClean="0"/>
              <a:pPr/>
              <a:t>1</a:t>
            </a:fld>
            <a:endParaRPr lang="en-US" dirty="0" smtClean="0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4813" y="4378325"/>
            <a:ext cx="6121400" cy="4252913"/>
          </a:xfrm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 b="1" dirty="0" smtClean="0"/>
              <a:t>Cisco Networking Academy program</a:t>
            </a:r>
          </a:p>
          <a:p>
            <a:pPr eaLnBrk="1" hangingPunct="1">
              <a:buFontTx/>
              <a:buNone/>
            </a:pPr>
            <a:r>
              <a:rPr lang="en-US" b="1" dirty="0" smtClean="0"/>
              <a:t>Routing &amp; Switching</a:t>
            </a:r>
          </a:p>
          <a:p>
            <a:pPr>
              <a:buFontTx/>
              <a:buNone/>
            </a:pPr>
            <a:r>
              <a:rPr lang="en-US" sz="1300" b="1" dirty="0" smtClean="0"/>
              <a:t>Chapter 1: Introduction to Switched Networks</a:t>
            </a:r>
            <a:endParaRPr lang="en-GB" b="1" dirty="0" smtClean="0"/>
          </a:p>
        </p:txBody>
      </p:sp>
    </p:spTree>
    <p:extLst>
      <p:ext uri="{BB962C8B-B14F-4D97-AF65-F5344CB8AC3E}">
        <p14:creationId xmlns:p14="http://schemas.microsoft.com/office/powerpoint/2010/main" val="20364062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70EE284-7961-42D5-9E4B-29540E276A78}" type="slidenum">
              <a:rPr lang="en-US" smtClean="0"/>
              <a:pPr/>
              <a:t>2</a:t>
            </a:fld>
            <a:endParaRPr lang="en-US" dirty="0" smtClean="0"/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 b="1" dirty="0" smtClean="0"/>
              <a:t>Chapter 1</a:t>
            </a:r>
          </a:p>
        </p:txBody>
      </p:sp>
    </p:spTree>
    <p:extLst>
      <p:ext uri="{BB962C8B-B14F-4D97-AF65-F5344CB8AC3E}">
        <p14:creationId xmlns:p14="http://schemas.microsoft.com/office/powerpoint/2010/main" val="22405446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2906053-E8A2-4DAD-B57C-C8945C1AD1DD}" type="slidenum">
              <a:rPr lang="en-US" smtClean="0"/>
              <a:pPr/>
              <a:t>3</a:t>
            </a:fld>
            <a:endParaRPr lang="en-US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 b="1" dirty="0" smtClean="0"/>
              <a:t>1.</a:t>
            </a:r>
          </a:p>
        </p:txBody>
      </p:sp>
    </p:spTree>
    <p:extLst>
      <p:ext uri="{BB962C8B-B14F-4D97-AF65-F5344CB8AC3E}">
        <p14:creationId xmlns:p14="http://schemas.microsoft.com/office/powerpoint/2010/main" val="41752569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2906053-E8A2-4DAD-B57C-C8945C1AD1DD}" type="slidenum">
              <a:rPr lang="en-US" smtClean="0"/>
              <a:pPr/>
              <a:t>4</a:t>
            </a:fld>
            <a:endParaRPr lang="en-US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 b="1" dirty="0" smtClean="0"/>
              <a:t>1.1.1.1 Growing</a:t>
            </a:r>
            <a:r>
              <a:rPr lang="en-US" b="1" baseline="0" dirty="0" smtClean="0"/>
              <a:t> Complexity of </a:t>
            </a:r>
            <a:r>
              <a:rPr lang="en-US" b="1" dirty="0" smtClean="0"/>
              <a:t>Networks</a:t>
            </a:r>
          </a:p>
          <a:p>
            <a:pPr>
              <a:buFontTx/>
              <a:buNone/>
            </a:pPr>
            <a:endParaRPr lang="en-US" b="1" dirty="0" smtClean="0"/>
          </a:p>
        </p:txBody>
      </p:sp>
    </p:spTree>
    <p:extLst>
      <p:ext uri="{BB962C8B-B14F-4D97-AF65-F5344CB8AC3E}">
        <p14:creationId xmlns:p14="http://schemas.microsoft.com/office/powerpoint/2010/main" val="5584295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2906053-E8A2-4DAD-B57C-C8945C1AD1DD}" type="slidenum">
              <a:rPr lang="en-US" smtClean="0"/>
              <a:pPr/>
              <a:t>5</a:t>
            </a:fld>
            <a:endParaRPr lang="en-US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 b="1" dirty="0" smtClean="0"/>
              <a:t>1.1.1.2 </a:t>
            </a:r>
            <a:r>
              <a:rPr lang="en-US" b="1" dirty="0" smtClean="0">
                <a:ea typeface="ＭＳ Ｐゴシック" pitchFamily="34" charset="-128"/>
              </a:rPr>
              <a:t>Elements Of A Converged Network</a:t>
            </a:r>
            <a:endParaRPr lang="en-US" b="1" dirty="0" smtClean="0"/>
          </a:p>
          <a:p>
            <a:pPr>
              <a:buFontTx/>
              <a:buNone/>
            </a:pPr>
            <a:endParaRPr lang="en-US" b="1" dirty="0" smtClean="0"/>
          </a:p>
        </p:txBody>
      </p:sp>
    </p:spTree>
    <p:extLst>
      <p:ext uri="{BB962C8B-B14F-4D97-AF65-F5344CB8AC3E}">
        <p14:creationId xmlns:p14="http://schemas.microsoft.com/office/powerpoint/2010/main" val="231500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2906053-E8A2-4DAD-B57C-C8945C1AD1DD}" type="slidenum">
              <a:rPr lang="en-US" smtClean="0"/>
              <a:pPr/>
              <a:t>6</a:t>
            </a:fld>
            <a:endParaRPr lang="en-US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112713" marR="0" indent="-112713" algn="l" defTabSz="1020763" rtl="0" eaLnBrk="0" fontAlgn="base" latinLnBrk="0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Tx/>
              <a:buSzPct val="100000"/>
              <a:buFontTx/>
              <a:buNone/>
              <a:tabLst/>
              <a:defRPr/>
            </a:pPr>
            <a:r>
              <a:rPr lang="en-US" b="1" dirty="0" smtClean="0"/>
              <a:t>1.1.1.3 </a:t>
            </a: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Borderless Switched Networks</a:t>
            </a:r>
            <a:endParaRPr lang="en-US" b="1" dirty="0" smtClean="0"/>
          </a:p>
          <a:p>
            <a:pPr>
              <a:buFontTx/>
              <a:buNone/>
            </a:pPr>
            <a:endParaRPr lang="en-US" b="1" dirty="0" smtClean="0"/>
          </a:p>
        </p:txBody>
      </p:sp>
    </p:spTree>
    <p:extLst>
      <p:ext uri="{BB962C8B-B14F-4D97-AF65-F5344CB8AC3E}">
        <p14:creationId xmlns:p14="http://schemas.microsoft.com/office/powerpoint/2010/main" val="2209811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2906053-E8A2-4DAD-B57C-C8945C1AD1DD}" type="slidenum">
              <a:rPr lang="en-US" smtClean="0"/>
              <a:pPr/>
              <a:t>7</a:t>
            </a:fld>
            <a:endParaRPr lang="en-US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112713" marR="0" indent="-112713" algn="l" defTabSz="1020763" rtl="0" eaLnBrk="0" fontAlgn="base" latinLnBrk="0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Tx/>
              <a:buSzPct val="100000"/>
              <a:buFontTx/>
              <a:buNone/>
              <a:tabLst/>
              <a:defRPr/>
            </a:pPr>
            <a:r>
              <a:rPr lang="en-US" b="1" dirty="0" smtClean="0"/>
              <a:t>1.1.1.4 </a:t>
            </a: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Hierarchy in the Borderless Switched Network</a:t>
            </a:r>
            <a:endParaRPr lang="en-US" b="1" dirty="0" smtClean="0"/>
          </a:p>
          <a:p>
            <a:pPr>
              <a:buFontTx/>
              <a:buNone/>
            </a:pPr>
            <a:endParaRPr lang="en-US" b="1" dirty="0" smtClean="0"/>
          </a:p>
        </p:txBody>
      </p:sp>
    </p:spTree>
    <p:extLst>
      <p:ext uri="{BB962C8B-B14F-4D97-AF65-F5344CB8AC3E}">
        <p14:creationId xmlns:p14="http://schemas.microsoft.com/office/powerpoint/2010/main" val="20306098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2906053-E8A2-4DAD-B57C-C8945C1AD1DD}" type="slidenum">
              <a:rPr lang="en-US" smtClean="0"/>
              <a:pPr/>
              <a:t>8</a:t>
            </a:fld>
            <a:endParaRPr lang="en-US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112713" marR="0" indent="-112713" algn="l" defTabSz="1020763" rtl="0" eaLnBrk="0" fontAlgn="base" latinLnBrk="0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Tx/>
              <a:buSzPct val="100000"/>
              <a:buFontTx/>
              <a:buNone/>
              <a:tabLst/>
              <a:defRPr/>
            </a:pPr>
            <a:r>
              <a:rPr lang="en-US" b="1" dirty="0" smtClean="0"/>
              <a:t>1.1.1.4 </a:t>
            </a: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Hierarchy in the Borderless Switched Network</a:t>
            </a:r>
            <a:endParaRPr lang="en-US" b="1" dirty="0" smtClean="0"/>
          </a:p>
          <a:p>
            <a:pPr>
              <a:buFontTx/>
              <a:buNone/>
            </a:pPr>
            <a:endParaRPr lang="en-US" b="1" dirty="0" smtClean="0"/>
          </a:p>
        </p:txBody>
      </p:sp>
    </p:spTree>
    <p:extLst>
      <p:ext uri="{BB962C8B-B14F-4D97-AF65-F5344CB8AC3E}">
        <p14:creationId xmlns:p14="http://schemas.microsoft.com/office/powerpoint/2010/main" val="2324383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2906053-E8A2-4DAD-B57C-C8945C1AD1DD}" type="slidenum">
              <a:rPr lang="en-US" smtClean="0"/>
              <a:pPr/>
              <a:t>9</a:t>
            </a:fld>
            <a:endParaRPr lang="en-US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indent="0" fontAlgn="base">
              <a:buNone/>
            </a:pP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1.1.1.5 Core, Distribution, Access</a:t>
            </a:r>
          </a:p>
        </p:txBody>
      </p:sp>
    </p:spTree>
    <p:extLst>
      <p:ext uri="{BB962C8B-B14F-4D97-AF65-F5344CB8AC3E}">
        <p14:creationId xmlns:p14="http://schemas.microsoft.com/office/powerpoint/2010/main" val="33655346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2906053-E8A2-4DAD-B57C-C8945C1AD1DD}" type="slidenum">
              <a:rPr lang="en-US" smtClean="0"/>
              <a:pPr/>
              <a:t>10</a:t>
            </a:fld>
            <a:endParaRPr lang="en-US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indent="0" fontAlgn="base">
              <a:buNone/>
            </a:pP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1.1.1.5 Core, Distribution, Access</a:t>
            </a:r>
          </a:p>
        </p:txBody>
      </p:sp>
    </p:spTree>
    <p:extLst>
      <p:ext uri="{BB962C8B-B14F-4D97-AF65-F5344CB8AC3E}">
        <p14:creationId xmlns:p14="http://schemas.microsoft.com/office/powerpoint/2010/main" val="1696223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2906053-E8A2-4DAD-B57C-C8945C1AD1DD}" type="slidenum">
              <a:rPr lang="en-US" smtClean="0"/>
              <a:pPr/>
              <a:t>11</a:t>
            </a:fld>
            <a:endParaRPr lang="en-US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indent="0" fontAlgn="base">
              <a:buNone/>
            </a:pP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1.1.1.5 Core, Distribution, Access</a:t>
            </a:r>
          </a:p>
        </p:txBody>
      </p:sp>
    </p:spTree>
    <p:extLst>
      <p:ext uri="{BB962C8B-B14F-4D97-AF65-F5344CB8AC3E}">
        <p14:creationId xmlns:p14="http://schemas.microsoft.com/office/powerpoint/2010/main" val="38491123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2906053-E8A2-4DAD-B57C-C8945C1AD1DD}" type="slidenum">
              <a:rPr lang="en-US" smtClean="0"/>
              <a:pPr/>
              <a:t>12</a:t>
            </a:fld>
            <a:endParaRPr lang="en-US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112713" marR="0" indent="-112713" algn="l" defTabSz="1020763" rtl="0" eaLnBrk="0" fontAlgn="base" latinLnBrk="0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Tx/>
              <a:buSzPct val="100000"/>
              <a:buFontTx/>
              <a:buNone/>
              <a:tabLst/>
              <a:defRPr/>
            </a:pPr>
            <a:r>
              <a:rPr lang="en-US" b="1" dirty="0" smtClean="0"/>
              <a:t>1.1.2.1 </a:t>
            </a: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Role of Switched Networks</a:t>
            </a:r>
            <a:endParaRPr lang="en-US" b="1" dirty="0" smtClean="0"/>
          </a:p>
          <a:p>
            <a:pPr>
              <a:buFontTx/>
              <a:buNone/>
            </a:pPr>
            <a:endParaRPr lang="en-US" b="1" dirty="0" smtClean="0"/>
          </a:p>
        </p:txBody>
      </p:sp>
    </p:spTree>
    <p:extLst>
      <p:ext uri="{BB962C8B-B14F-4D97-AF65-F5344CB8AC3E}">
        <p14:creationId xmlns:p14="http://schemas.microsoft.com/office/powerpoint/2010/main" val="237332076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2906053-E8A2-4DAD-B57C-C8945C1AD1DD}" type="slidenum">
              <a:rPr lang="en-US" smtClean="0"/>
              <a:pPr/>
              <a:t>13</a:t>
            </a:fld>
            <a:endParaRPr lang="en-US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112713" marR="0" indent="-112713" algn="l" defTabSz="1020763" rtl="0" eaLnBrk="0" fontAlgn="base" latinLnBrk="0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Tx/>
              <a:buSzPct val="100000"/>
              <a:buFontTx/>
              <a:buNone/>
              <a:tabLst/>
              <a:defRPr/>
            </a:pPr>
            <a:r>
              <a:rPr lang="en-US" b="1" dirty="0" smtClean="0"/>
              <a:t>1.1.2.2 </a:t>
            </a: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Form Factor</a:t>
            </a:r>
            <a:endParaRPr lang="en-US" b="1" dirty="0" smtClean="0"/>
          </a:p>
          <a:p>
            <a:pPr>
              <a:buFontTx/>
              <a:buNone/>
            </a:pPr>
            <a:endParaRPr lang="en-US" b="1" dirty="0" smtClean="0"/>
          </a:p>
        </p:txBody>
      </p:sp>
    </p:spTree>
    <p:extLst>
      <p:ext uri="{BB962C8B-B14F-4D97-AF65-F5344CB8AC3E}">
        <p14:creationId xmlns:p14="http://schemas.microsoft.com/office/powerpoint/2010/main" val="31276077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2906053-E8A2-4DAD-B57C-C8945C1AD1DD}" type="slidenum">
              <a:rPr lang="en-US" smtClean="0"/>
              <a:pPr/>
              <a:t>14</a:t>
            </a:fld>
            <a:endParaRPr lang="en-US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marR="0" indent="0" algn="l" defTabSz="1020763" rtl="0" eaLnBrk="0" fontAlgn="base" latinLnBrk="0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Tx/>
              <a:buSzPct val="100000"/>
              <a:buFontTx/>
              <a:buNone/>
              <a:tabLst/>
              <a:defRPr/>
            </a:pP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1.2.1.2 Dynamically Populating a Switch MAC Address Table</a:t>
            </a:r>
          </a:p>
        </p:txBody>
      </p:sp>
    </p:spTree>
    <p:extLst>
      <p:ext uri="{BB962C8B-B14F-4D97-AF65-F5344CB8AC3E}">
        <p14:creationId xmlns:p14="http://schemas.microsoft.com/office/powerpoint/2010/main" val="30168526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2906053-E8A2-4DAD-B57C-C8945C1AD1DD}" type="slidenum">
              <a:rPr lang="en-US" smtClean="0"/>
              <a:pPr/>
              <a:t>15</a:t>
            </a:fld>
            <a:endParaRPr lang="en-US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marR="0" indent="0" algn="l" defTabSz="1020763" rtl="0" eaLnBrk="0" fontAlgn="base" latinLnBrk="0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Tx/>
              <a:buSzPct val="100000"/>
              <a:buFontTx/>
              <a:buNone/>
              <a:tabLst/>
              <a:defRPr/>
            </a:pP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1.2.1.2 Dynamically Populating a Switch MAC Address Table</a:t>
            </a:r>
          </a:p>
        </p:txBody>
      </p:sp>
    </p:spTree>
    <p:extLst>
      <p:ext uri="{BB962C8B-B14F-4D97-AF65-F5344CB8AC3E}">
        <p14:creationId xmlns:p14="http://schemas.microsoft.com/office/powerpoint/2010/main" val="10482012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2906053-E8A2-4DAD-B57C-C8945C1AD1DD}" type="slidenum">
              <a:rPr lang="en-US" smtClean="0"/>
              <a:pPr/>
              <a:t>16</a:t>
            </a:fld>
            <a:endParaRPr lang="en-US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marR="0" indent="0" algn="l" defTabSz="1020763" rtl="0" eaLnBrk="0" fontAlgn="base" latinLnBrk="0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Tx/>
              <a:buSzPct val="100000"/>
              <a:buFontTx/>
              <a:buNone/>
              <a:tabLst/>
              <a:defRPr/>
            </a:pP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1.2.1.2 Dynamically Populating a Switch MAC Address Table</a:t>
            </a:r>
          </a:p>
        </p:txBody>
      </p:sp>
    </p:spTree>
    <p:extLst>
      <p:ext uri="{BB962C8B-B14F-4D97-AF65-F5344CB8AC3E}">
        <p14:creationId xmlns:p14="http://schemas.microsoft.com/office/powerpoint/2010/main" val="384685786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2906053-E8A2-4DAD-B57C-C8945C1AD1DD}" type="slidenum">
              <a:rPr lang="en-US" smtClean="0"/>
              <a:pPr/>
              <a:t>17</a:t>
            </a:fld>
            <a:endParaRPr lang="en-US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indent="0" fontAlgn="base">
              <a:buNone/>
            </a:pP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1.2.1.3 Switch Forwarding Methods</a:t>
            </a:r>
            <a:endParaRPr lang="en-US" sz="1200" b="1" i="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71537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2906053-E8A2-4DAD-B57C-C8945C1AD1DD}" type="slidenum">
              <a:rPr lang="en-US" smtClean="0"/>
              <a:pPr/>
              <a:t>18</a:t>
            </a:fld>
            <a:endParaRPr lang="en-US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marR="0" indent="0" algn="l" defTabSz="1020763" rtl="0" eaLnBrk="0" fontAlgn="base" latinLnBrk="0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Tx/>
              <a:buSzPct val="100000"/>
              <a:buFontTx/>
              <a:buNone/>
              <a:tabLst/>
              <a:defRPr/>
            </a:pP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1.2.1.4 Store-and-Forward Switching</a:t>
            </a:r>
          </a:p>
        </p:txBody>
      </p:sp>
    </p:spTree>
    <p:extLst>
      <p:ext uri="{BB962C8B-B14F-4D97-AF65-F5344CB8AC3E}">
        <p14:creationId xmlns:p14="http://schemas.microsoft.com/office/powerpoint/2010/main" val="182022371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2906053-E8A2-4DAD-B57C-C8945C1AD1DD}" type="slidenum">
              <a:rPr lang="en-US" smtClean="0"/>
              <a:pPr/>
              <a:t>19</a:t>
            </a:fld>
            <a:endParaRPr lang="en-US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marR="0" indent="0" algn="l" defTabSz="1020763" rtl="0" eaLnBrk="0" fontAlgn="base" latinLnBrk="0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Tx/>
              <a:buSzPct val="100000"/>
              <a:buFontTx/>
              <a:buNone/>
              <a:tabLst/>
              <a:defRPr/>
            </a:pP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1.2.2.1 Collision</a:t>
            </a:r>
            <a:r>
              <a:rPr lang="en-US" sz="1200" b="1" i="0" kern="1200" baseline="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 Domains</a:t>
            </a:r>
            <a:endParaRPr lang="en-US" sz="1200" b="1" i="0" kern="1200" dirty="0" smtClean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2965984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2906053-E8A2-4DAD-B57C-C8945C1AD1DD}" type="slidenum">
              <a:rPr lang="en-US" smtClean="0"/>
              <a:pPr/>
              <a:t>21</a:t>
            </a:fld>
            <a:endParaRPr lang="en-US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marR="0" indent="0" algn="l" defTabSz="1020763" rtl="0" eaLnBrk="0" fontAlgn="base" latinLnBrk="0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Tx/>
              <a:buSzPct val="100000"/>
              <a:buFontTx/>
              <a:buNone/>
              <a:tabLst/>
              <a:defRPr/>
            </a:pP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1.2.2.2 Broadcast</a:t>
            </a:r>
            <a:r>
              <a:rPr lang="en-US" sz="1200" b="1" i="0" kern="1200" baseline="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 Domains</a:t>
            </a:r>
            <a:endParaRPr lang="en-US" sz="1200" b="1" i="0" kern="1200" dirty="0" smtClean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3643576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2906053-E8A2-4DAD-B57C-C8945C1AD1DD}" type="slidenum">
              <a:rPr lang="en-US" smtClean="0"/>
              <a:pPr/>
              <a:t>23</a:t>
            </a:fld>
            <a:endParaRPr lang="en-US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1.2.2.4 Alleviating Network Congestion</a:t>
            </a:r>
            <a:endParaRPr lang="en-US" sz="1200" b="1" i="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7706092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D5F77EF-9F5D-4805-BD17-79024BE7C85C}" type="slidenum">
              <a:rPr lang="en-US" smtClean="0"/>
              <a:pPr/>
              <a:t>24</a:t>
            </a:fld>
            <a:endParaRPr lang="en-US" dirty="0" smtClean="0"/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 b="1" dirty="0" smtClean="0"/>
              <a:t>Chapter 1 Summary</a:t>
            </a:r>
          </a:p>
        </p:txBody>
      </p:sp>
    </p:spTree>
    <p:extLst>
      <p:ext uri="{BB962C8B-B14F-4D97-AF65-F5344CB8AC3E}">
        <p14:creationId xmlns:p14="http://schemas.microsoft.com/office/powerpoint/2010/main" val="263516224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D5F77EF-9F5D-4805-BD17-79024BE7C85C}" type="slidenum">
              <a:rPr lang="en-US" smtClean="0"/>
              <a:pPr/>
              <a:t>25</a:t>
            </a:fld>
            <a:endParaRPr lang="en-US" dirty="0" smtClean="0"/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 b="1" dirty="0" smtClean="0"/>
              <a:t>Chapter 1 Summary</a:t>
            </a:r>
          </a:p>
        </p:txBody>
      </p:sp>
    </p:spTree>
    <p:extLst>
      <p:ext uri="{BB962C8B-B14F-4D97-AF65-F5344CB8AC3E}">
        <p14:creationId xmlns:p14="http://schemas.microsoft.com/office/powerpoint/2010/main" val="8530181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PPt_CoverArt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893888"/>
            <a:ext cx="9140825" cy="2449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4498975" y="6670675"/>
            <a:ext cx="2347913" cy="190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82124" tIns="41061" rIns="82124" bIns="41061" anchor="b" anchorCtr="1">
            <a:spAutoFit/>
          </a:bodyPr>
          <a:lstStyle/>
          <a:p>
            <a:pPr algn="l" defTabSz="814388">
              <a:lnSpc>
                <a:spcPct val="100000"/>
              </a:lnSpc>
              <a:defRPr/>
            </a:pPr>
            <a:r>
              <a:rPr lang="en-US" sz="700" dirty="0">
                <a:solidFill>
                  <a:srgbClr val="D3D3D3"/>
                </a:solidFill>
              </a:rPr>
              <a:t>© 2007 – 2010, Cisco Systems, Inc. All rights reserved.</a:t>
            </a: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7123113" y="6672263"/>
            <a:ext cx="650875" cy="188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  <a:defRPr/>
            </a:pPr>
            <a:r>
              <a:rPr lang="en-US" sz="700" dirty="0">
                <a:solidFill>
                  <a:srgbClr val="D3D3D3"/>
                </a:solidFill>
              </a:rPr>
              <a:t>Cisco Public</a:t>
            </a: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193675" y="6562725"/>
            <a:ext cx="962025" cy="29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2124" tIns="41061" rIns="82124" bIns="41061" anchor="b">
            <a:spAutoFit/>
          </a:bodyPr>
          <a:lstStyle/>
          <a:p>
            <a:pPr algn="l" defTabSz="814388">
              <a:lnSpc>
                <a:spcPct val="100000"/>
              </a:lnSpc>
              <a:defRPr/>
            </a:pPr>
            <a:r>
              <a:rPr lang="en-US" sz="700" dirty="0">
                <a:solidFill>
                  <a:srgbClr val="D3D3D3"/>
                </a:solidFill>
              </a:rPr>
              <a:t>ITE PC v4.1</a:t>
            </a:r>
          </a:p>
          <a:p>
            <a:pPr algn="l" defTabSz="814388">
              <a:lnSpc>
                <a:spcPct val="100000"/>
              </a:lnSpc>
              <a:defRPr/>
            </a:pPr>
            <a:r>
              <a:rPr lang="en-US" sz="700" dirty="0" smtClean="0">
                <a:solidFill>
                  <a:srgbClr val="D3D3D3"/>
                </a:solidFill>
              </a:rPr>
              <a:t>Chapter 4</a:t>
            </a:r>
            <a:endParaRPr lang="en-US" sz="700" dirty="0">
              <a:solidFill>
                <a:srgbClr val="D3D3D3"/>
              </a:solidFill>
            </a:endParaRPr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8596313" y="6626225"/>
            <a:ext cx="320675" cy="2349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  <a:defRPr/>
            </a:pPr>
            <a:fld id="{C31C4615-7F19-455B-A5C4-EA1B3B194C81}" type="slidenum">
              <a:rPr lang="en-US" sz="1000">
                <a:solidFill>
                  <a:srgbClr val="D3D3D3"/>
                </a:solidFill>
              </a:rPr>
              <a:pPr algn="r" defTabSz="814388">
                <a:lnSpc>
                  <a:spcPct val="100000"/>
                </a:lnSpc>
                <a:defRPr/>
              </a:pPr>
              <a:t>‹#›</a:t>
            </a:fld>
            <a:endParaRPr lang="en-US" sz="1000" dirty="0">
              <a:solidFill>
                <a:srgbClr val="D3D3D3"/>
              </a:solidFill>
            </a:endParaRPr>
          </a:p>
        </p:txBody>
      </p:sp>
      <p:pic>
        <p:nvPicPr>
          <p:cNvPr id="9" name="Picture 9" descr="Cisco_NewLogo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483225" y="5940425"/>
            <a:ext cx="3354388" cy="474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10" descr="Cisco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46063" y="119063"/>
            <a:ext cx="1171575" cy="904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90247" name="Rectangle 7"/>
          <p:cNvSpPr>
            <a:spLocks noGrp="1" noChangeArrowheads="1"/>
          </p:cNvSpPr>
          <p:nvPr>
            <p:ph type="ctrTitle"/>
          </p:nvPr>
        </p:nvSpPr>
        <p:spPr bwMode="white">
          <a:xfrm>
            <a:off x="311150" y="2671763"/>
            <a:ext cx="3768725" cy="830262"/>
          </a:xfrm>
          <a:ln/>
        </p:spPr>
        <p:txBody>
          <a:bodyPr anchor="ctr"/>
          <a:lstStyle>
            <a:lvl1pPr>
              <a:defRPr sz="30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90248" name="Rectangle 8"/>
          <p:cNvSpPr>
            <a:spLocks noGrp="1" noChangeArrowheads="1"/>
          </p:cNvSpPr>
          <p:nvPr>
            <p:ph type="subTitle" idx="1"/>
          </p:nvPr>
        </p:nvSpPr>
        <p:spPr>
          <a:xfrm>
            <a:off x="311150" y="4672013"/>
            <a:ext cx="4103688" cy="658812"/>
          </a:xfrm>
          <a:ln/>
        </p:spPr>
        <p:txBody>
          <a:bodyPr/>
          <a:lstStyle>
            <a:lvl1pPr marL="0" indent="0">
              <a:lnSpc>
                <a:spcPct val="90000"/>
              </a:lnSpc>
              <a:buFont typeface="Wingdings" pitchFamily="2" charset="2"/>
              <a:buNone/>
              <a:defRPr sz="2000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5638" y="2014538"/>
            <a:ext cx="3894137" cy="35718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2175" y="2014538"/>
            <a:ext cx="3894138" cy="35718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5925" y="798513"/>
            <a:ext cx="2035175" cy="47879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5638" y="798513"/>
            <a:ext cx="5957887" cy="47879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638" y="798513"/>
            <a:ext cx="8145462" cy="8382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55638" y="2014538"/>
            <a:ext cx="7940675" cy="3571875"/>
          </a:xfrm>
        </p:spPr>
        <p:txBody>
          <a:bodyPr/>
          <a:lstStyle/>
          <a:p>
            <a:pPr lvl="0"/>
            <a:endParaRPr lang="en-US" noProof="0" dirty="0" smtClean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 descr="PPt_4face_021208.jp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911350"/>
            <a:ext cx="9144000" cy="2432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278"/>
          <p:cNvSpPr>
            <a:spLocks noChangeArrowheads="1"/>
          </p:cNvSpPr>
          <p:nvPr/>
        </p:nvSpPr>
        <p:spPr bwMode="auto">
          <a:xfrm>
            <a:off x="4498975" y="6672263"/>
            <a:ext cx="2022475" cy="188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82124" tIns="41061" rIns="82124" bIns="41061" anchor="b" anchorCtr="1">
            <a:spAutoFit/>
          </a:bodyPr>
          <a:lstStyle/>
          <a:p>
            <a:pPr algn="l" defTabSz="814388">
              <a:lnSpc>
                <a:spcPct val="100000"/>
              </a:lnSpc>
              <a:defRPr/>
            </a:pPr>
            <a:r>
              <a:rPr lang="en-US" sz="700" dirty="0">
                <a:solidFill>
                  <a:srgbClr val="D3D3D3"/>
                </a:solidFill>
              </a:rPr>
              <a:t>© 2008 Cisco Systems, Inc. All rights reserved.</a:t>
            </a:r>
          </a:p>
        </p:txBody>
      </p:sp>
      <p:sp>
        <p:nvSpPr>
          <p:cNvPr id="6" name="Rectangle 279"/>
          <p:cNvSpPr>
            <a:spLocks noChangeArrowheads="1"/>
          </p:cNvSpPr>
          <p:nvPr/>
        </p:nvSpPr>
        <p:spPr bwMode="auto">
          <a:xfrm>
            <a:off x="6896100" y="6672263"/>
            <a:ext cx="877888" cy="188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  <a:defRPr/>
            </a:pPr>
            <a:r>
              <a:rPr lang="en-US" sz="700" dirty="0">
                <a:solidFill>
                  <a:srgbClr val="D3D3D3"/>
                </a:solidFill>
              </a:rPr>
              <a:t>Cisco Confidential</a:t>
            </a:r>
          </a:p>
        </p:txBody>
      </p:sp>
      <p:sp>
        <p:nvSpPr>
          <p:cNvPr id="7" name="Rectangle 280"/>
          <p:cNvSpPr>
            <a:spLocks noChangeArrowheads="1"/>
          </p:cNvSpPr>
          <p:nvPr/>
        </p:nvSpPr>
        <p:spPr bwMode="auto">
          <a:xfrm>
            <a:off x="193675" y="6672263"/>
            <a:ext cx="962025" cy="188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2124" tIns="41061" rIns="82124" bIns="41061" anchor="b">
            <a:spAutoFit/>
          </a:bodyPr>
          <a:lstStyle/>
          <a:p>
            <a:pPr algn="l" defTabSz="814388">
              <a:lnSpc>
                <a:spcPct val="100000"/>
              </a:lnSpc>
              <a:defRPr/>
            </a:pPr>
            <a:r>
              <a:rPr lang="en-US" sz="700" dirty="0">
                <a:solidFill>
                  <a:srgbClr val="D3D3D3"/>
                </a:solidFill>
              </a:rPr>
              <a:t>Presentation_ID</a:t>
            </a:r>
          </a:p>
        </p:txBody>
      </p:sp>
      <p:sp>
        <p:nvSpPr>
          <p:cNvPr id="8" name="Rectangle 281"/>
          <p:cNvSpPr>
            <a:spLocks noChangeArrowheads="1"/>
          </p:cNvSpPr>
          <p:nvPr/>
        </p:nvSpPr>
        <p:spPr bwMode="auto">
          <a:xfrm>
            <a:off x="8596313" y="6626225"/>
            <a:ext cx="320675" cy="2349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  <a:defRPr/>
            </a:pPr>
            <a:fld id="{ACFA795C-7F0A-48D8-9FC3-F2BA5F8EB736}" type="slidenum">
              <a:rPr lang="en-US" sz="1000">
                <a:solidFill>
                  <a:srgbClr val="D3D3D3"/>
                </a:solidFill>
              </a:rPr>
              <a:pPr algn="r" defTabSz="814388">
                <a:lnSpc>
                  <a:spcPct val="100000"/>
                </a:lnSpc>
                <a:defRPr/>
              </a:pPr>
              <a:t>‹#›</a:t>
            </a:fld>
            <a:endParaRPr lang="en-US" sz="1000" dirty="0">
              <a:solidFill>
                <a:srgbClr val="D3D3D3"/>
              </a:solidFill>
            </a:endParaRPr>
          </a:p>
        </p:txBody>
      </p:sp>
      <p:pic>
        <p:nvPicPr>
          <p:cNvPr id="9" name="Picture 331" descr="Cisco_NewLogo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483225" y="5940425"/>
            <a:ext cx="3354388" cy="474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333" descr="Cisco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46063" y="119063"/>
            <a:ext cx="1171575" cy="904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69873" name="Rectangle 209"/>
          <p:cNvSpPr>
            <a:spLocks noGrp="1" noChangeArrowheads="1"/>
          </p:cNvSpPr>
          <p:nvPr>
            <p:ph type="ctrTitle"/>
          </p:nvPr>
        </p:nvSpPr>
        <p:spPr bwMode="white">
          <a:xfrm>
            <a:off x="311150" y="2671763"/>
            <a:ext cx="3768725" cy="830262"/>
          </a:xfrm>
          <a:ln/>
        </p:spPr>
        <p:txBody>
          <a:bodyPr anchor="ctr"/>
          <a:lstStyle>
            <a:lvl1pPr>
              <a:defRPr sz="30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69874" name="Rectangle 210"/>
          <p:cNvSpPr>
            <a:spLocks noGrp="1" noChangeArrowheads="1"/>
          </p:cNvSpPr>
          <p:nvPr>
            <p:ph type="subTitle" idx="1"/>
          </p:nvPr>
        </p:nvSpPr>
        <p:spPr>
          <a:xfrm>
            <a:off x="311150" y="4672013"/>
            <a:ext cx="4103688" cy="658812"/>
          </a:xfrm>
          <a:ln/>
        </p:spPr>
        <p:txBody>
          <a:bodyPr/>
          <a:lstStyle>
            <a:lvl1pPr marL="0" indent="0">
              <a:lnSpc>
                <a:spcPct val="90000"/>
              </a:lnSpc>
              <a:buFont typeface="Wingdings" pitchFamily="2" charset="2"/>
              <a:buNone/>
              <a:defRPr sz="2000" b="1">
                <a:solidFill>
                  <a:schemeClr val="bg2"/>
                </a:solidFill>
              </a:defRPr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5638" y="2014538"/>
            <a:ext cx="3894137" cy="35718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2175" y="2014538"/>
            <a:ext cx="3894138" cy="35718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 smtClean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5925" y="798513"/>
            <a:ext cx="2035175" cy="47879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5638" y="798513"/>
            <a:ext cx="5957887" cy="47879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image" Target="../media/image5.pn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55638" y="798513"/>
            <a:ext cx="8145462" cy="838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82124" tIns="41061" rIns="82124" bIns="41061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Slide Title</a:t>
            </a:r>
          </a:p>
        </p:txBody>
      </p:sp>
      <p:sp>
        <p:nvSpPr>
          <p:cNvPr id="1027" name="Rectangle 4"/>
          <p:cNvSpPr>
            <a:spLocks noChangeArrowheads="1"/>
          </p:cNvSpPr>
          <p:nvPr/>
        </p:nvSpPr>
        <p:spPr bwMode="auto">
          <a:xfrm>
            <a:off x="193675" y="6562725"/>
            <a:ext cx="962025" cy="29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2124" tIns="41061" rIns="82124" bIns="41061" anchor="b">
            <a:spAutoFit/>
          </a:bodyPr>
          <a:lstStyle/>
          <a:p>
            <a:pPr algn="l" defTabSz="814388">
              <a:lnSpc>
                <a:spcPct val="100000"/>
              </a:lnSpc>
              <a:defRPr/>
            </a:pPr>
            <a:r>
              <a:rPr lang="en-US" sz="700" dirty="0">
                <a:solidFill>
                  <a:srgbClr val="D3D3D3"/>
                </a:solidFill>
              </a:rPr>
              <a:t>ITE PC v4.1</a:t>
            </a:r>
          </a:p>
          <a:p>
            <a:pPr algn="l" defTabSz="814388">
              <a:lnSpc>
                <a:spcPct val="100000"/>
              </a:lnSpc>
              <a:defRPr/>
            </a:pPr>
            <a:r>
              <a:rPr lang="en-US" sz="700" dirty="0" smtClean="0">
                <a:solidFill>
                  <a:srgbClr val="D3D3D3"/>
                </a:solidFill>
              </a:rPr>
              <a:t>Chapter 4</a:t>
            </a:r>
            <a:endParaRPr lang="en-US" sz="700" dirty="0">
              <a:solidFill>
                <a:srgbClr val="D3D3D3"/>
              </a:solidFill>
            </a:endParaRPr>
          </a:p>
        </p:txBody>
      </p:sp>
      <p:sp>
        <p:nvSpPr>
          <p:cNvPr id="1028" name="Rectangle 5"/>
          <p:cNvSpPr>
            <a:spLocks noChangeArrowheads="1"/>
          </p:cNvSpPr>
          <p:nvPr/>
        </p:nvSpPr>
        <p:spPr bwMode="auto">
          <a:xfrm>
            <a:off x="8596313" y="6626225"/>
            <a:ext cx="320675" cy="2349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  <a:defRPr/>
            </a:pPr>
            <a:fld id="{58EC189E-ADD4-420E-B89E-1E32C54438D7}" type="slidenum">
              <a:rPr lang="en-US" sz="1000">
                <a:solidFill>
                  <a:srgbClr val="D3D3D3"/>
                </a:solidFill>
              </a:rPr>
              <a:pPr algn="r" defTabSz="814388">
                <a:lnSpc>
                  <a:spcPct val="100000"/>
                </a:lnSpc>
                <a:defRPr/>
              </a:pPr>
              <a:t>‹#›</a:t>
            </a:fld>
            <a:endParaRPr lang="en-US" sz="1000" dirty="0">
              <a:solidFill>
                <a:srgbClr val="D3D3D3"/>
              </a:solidFill>
            </a:endParaRPr>
          </a:p>
        </p:txBody>
      </p:sp>
      <p:sp>
        <p:nvSpPr>
          <p:cNvPr id="1029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655638" y="2014538"/>
            <a:ext cx="7940675" cy="3571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82124" tIns="41061" rIns="82124" bIns="4106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Body Text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pic>
        <p:nvPicPr>
          <p:cNvPr id="1030" name="Picture 7" descr="PPt_TopBand_Artwork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0" y="0"/>
            <a:ext cx="9140825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1" name="Rectangle 8"/>
          <p:cNvSpPr>
            <a:spLocks noChangeArrowheads="1"/>
          </p:cNvSpPr>
          <p:nvPr/>
        </p:nvSpPr>
        <p:spPr bwMode="auto">
          <a:xfrm>
            <a:off x="4498975" y="6670675"/>
            <a:ext cx="2347913" cy="190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82124" tIns="41061" rIns="82124" bIns="41061" anchor="b" anchorCtr="1">
            <a:spAutoFit/>
          </a:bodyPr>
          <a:lstStyle/>
          <a:p>
            <a:pPr algn="l" defTabSz="814388">
              <a:lnSpc>
                <a:spcPct val="100000"/>
              </a:lnSpc>
              <a:defRPr/>
            </a:pPr>
            <a:r>
              <a:rPr lang="en-US" sz="700" dirty="0">
                <a:solidFill>
                  <a:srgbClr val="D3D3D3"/>
                </a:solidFill>
              </a:rPr>
              <a:t>© 2007 – 2010, Cisco Systems, Inc. All rights reserved.</a:t>
            </a:r>
          </a:p>
        </p:txBody>
      </p:sp>
      <p:sp>
        <p:nvSpPr>
          <p:cNvPr id="1032" name="Rectangle 9"/>
          <p:cNvSpPr>
            <a:spLocks noChangeArrowheads="1"/>
          </p:cNvSpPr>
          <p:nvPr/>
        </p:nvSpPr>
        <p:spPr bwMode="auto">
          <a:xfrm>
            <a:off x="7123113" y="6672263"/>
            <a:ext cx="650875" cy="188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  <a:defRPr/>
            </a:pPr>
            <a:r>
              <a:rPr lang="en-US" sz="700" dirty="0">
                <a:solidFill>
                  <a:srgbClr val="D3D3D3"/>
                </a:solidFill>
              </a:rPr>
              <a:t>Cisco Public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455" r:id="rId1"/>
    <p:sldLayoutId id="2147484434" r:id="rId2"/>
    <p:sldLayoutId id="2147484435" r:id="rId3"/>
    <p:sldLayoutId id="2147484436" r:id="rId4"/>
    <p:sldLayoutId id="2147484437" r:id="rId5"/>
    <p:sldLayoutId id="2147484438" r:id="rId6"/>
    <p:sldLayoutId id="2147484439" r:id="rId7"/>
    <p:sldLayoutId id="2147484440" r:id="rId8"/>
    <p:sldLayoutId id="2147484441" r:id="rId9"/>
    <p:sldLayoutId id="2147484442" r:id="rId10"/>
    <p:sldLayoutId id="2147484443" r:id="rId11"/>
    <p:sldLayoutId id="2147484444" r:id="rId12"/>
  </p:sldLayoutIdLst>
  <p:timing>
    <p:tnLst>
      <p:par>
        <p:cTn id="1" dur="indefinite" restart="never" nodeType="tmRoot"/>
      </p:par>
    </p:tnLst>
  </p:timing>
  <p:txStyles>
    <p:titleStyle>
      <a:lvl1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+mj-lt"/>
          <a:ea typeface="+mj-ea"/>
          <a:cs typeface="+mj-cs"/>
        </a:defRPr>
      </a:lvl1pPr>
      <a:lvl2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2pPr>
      <a:lvl3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3pPr>
      <a:lvl4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4pPr>
      <a:lvl5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5pPr>
      <a:lvl6pPr marL="457200" algn="l" defTabSz="814388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6pPr>
      <a:lvl7pPr marL="914400" algn="l" defTabSz="814388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7pPr>
      <a:lvl8pPr marL="1371600" algn="l" defTabSz="814388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8pPr>
      <a:lvl9pPr marL="1828800" algn="l" defTabSz="814388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9pPr>
    </p:titleStyle>
    <p:bodyStyle>
      <a:lvl1pPr marL="236538" indent="-236538" algn="l" defTabSz="814388" rtl="0" eaLnBrk="0" fontAlgn="base" hangingPunct="0">
        <a:lnSpc>
          <a:spcPct val="95000"/>
        </a:lnSpc>
        <a:spcBef>
          <a:spcPct val="50000"/>
        </a:spcBef>
        <a:spcAft>
          <a:spcPct val="0"/>
        </a:spcAft>
        <a:buClr>
          <a:srgbClr val="708CA1"/>
        </a:buClr>
        <a:buFont typeface="Wingdings" pitchFamily="2" charset="2"/>
        <a:buChar char="§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74675" indent="-117475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2pPr>
      <a:lvl3pPr marL="914400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3pPr>
      <a:lvl4pPr marL="1254125" indent="117475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4pPr>
      <a:lvl5pPr marL="1604963" indent="223838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5pPr>
      <a:lvl6pPr marL="2062163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6pPr>
      <a:lvl7pPr marL="2519363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7pPr>
      <a:lvl8pPr marL="2976563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8pPr>
      <a:lvl9pPr marL="3433763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146"/>
          <p:cNvSpPr>
            <a:spLocks noGrp="1" noChangeArrowheads="1"/>
          </p:cNvSpPr>
          <p:nvPr>
            <p:ph type="title"/>
          </p:nvPr>
        </p:nvSpPr>
        <p:spPr bwMode="auto">
          <a:xfrm>
            <a:off x="655638" y="798513"/>
            <a:ext cx="8145462" cy="838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82124" tIns="41061" rIns="82124" bIns="41061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Slide Title</a:t>
            </a:r>
          </a:p>
        </p:txBody>
      </p:sp>
      <p:sp>
        <p:nvSpPr>
          <p:cNvPr id="2051" name="Rectangle 6281"/>
          <p:cNvSpPr>
            <a:spLocks noChangeArrowheads="1"/>
          </p:cNvSpPr>
          <p:nvPr/>
        </p:nvSpPr>
        <p:spPr bwMode="auto">
          <a:xfrm>
            <a:off x="193675" y="6672263"/>
            <a:ext cx="962025" cy="188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2124" tIns="41061" rIns="82124" bIns="41061" anchor="b">
            <a:spAutoFit/>
          </a:bodyPr>
          <a:lstStyle/>
          <a:p>
            <a:pPr algn="l" defTabSz="814388">
              <a:lnSpc>
                <a:spcPct val="100000"/>
              </a:lnSpc>
              <a:defRPr/>
            </a:pPr>
            <a:r>
              <a:rPr lang="en-US" sz="700" dirty="0">
                <a:solidFill>
                  <a:srgbClr val="D3D3D3"/>
                </a:solidFill>
              </a:rPr>
              <a:t>Presentation_ID</a:t>
            </a:r>
          </a:p>
        </p:txBody>
      </p:sp>
      <p:sp>
        <p:nvSpPr>
          <p:cNvPr id="2052" name="Rectangle 6282"/>
          <p:cNvSpPr>
            <a:spLocks noChangeArrowheads="1"/>
          </p:cNvSpPr>
          <p:nvPr/>
        </p:nvSpPr>
        <p:spPr bwMode="auto">
          <a:xfrm>
            <a:off x="8596313" y="6626225"/>
            <a:ext cx="320675" cy="2349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  <a:defRPr/>
            </a:pPr>
            <a:fld id="{85C5E045-6C48-46C0-92AE-30A8710B0BBD}" type="slidenum">
              <a:rPr lang="en-US" sz="1000">
                <a:solidFill>
                  <a:srgbClr val="D3D3D3"/>
                </a:solidFill>
              </a:rPr>
              <a:pPr algn="r" defTabSz="814388">
                <a:lnSpc>
                  <a:spcPct val="100000"/>
                </a:lnSpc>
                <a:defRPr/>
              </a:pPr>
              <a:t>‹#›</a:t>
            </a:fld>
            <a:endParaRPr lang="en-US" sz="1000" dirty="0">
              <a:solidFill>
                <a:srgbClr val="D3D3D3"/>
              </a:solidFill>
            </a:endParaRPr>
          </a:p>
        </p:txBody>
      </p:sp>
      <p:sp>
        <p:nvSpPr>
          <p:cNvPr id="2053" name="Rectangle 628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55638" y="2014538"/>
            <a:ext cx="7940675" cy="3571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82124" tIns="41061" rIns="82124" bIns="4106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Body Text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2054" name="Rectangle 6312"/>
          <p:cNvSpPr>
            <a:spLocks noChangeArrowheads="1"/>
          </p:cNvSpPr>
          <p:nvPr/>
        </p:nvSpPr>
        <p:spPr bwMode="auto">
          <a:xfrm>
            <a:off x="4498975" y="6672263"/>
            <a:ext cx="2022475" cy="188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82124" tIns="41061" rIns="82124" bIns="41061" anchor="b" anchorCtr="1">
            <a:spAutoFit/>
          </a:bodyPr>
          <a:lstStyle/>
          <a:p>
            <a:pPr algn="l" defTabSz="814388">
              <a:lnSpc>
                <a:spcPct val="100000"/>
              </a:lnSpc>
              <a:defRPr/>
            </a:pPr>
            <a:r>
              <a:rPr lang="en-US" sz="700" dirty="0">
                <a:solidFill>
                  <a:srgbClr val="D3D3D3"/>
                </a:solidFill>
              </a:rPr>
              <a:t>© 2008 Cisco Systems, Inc. All rights reserved.</a:t>
            </a:r>
          </a:p>
        </p:txBody>
      </p:sp>
      <p:sp>
        <p:nvSpPr>
          <p:cNvPr id="2055" name="Rectangle 6313"/>
          <p:cNvSpPr>
            <a:spLocks noChangeArrowheads="1"/>
          </p:cNvSpPr>
          <p:nvPr/>
        </p:nvSpPr>
        <p:spPr bwMode="auto">
          <a:xfrm>
            <a:off x="6896100" y="6672263"/>
            <a:ext cx="877888" cy="188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  <a:defRPr/>
            </a:pPr>
            <a:r>
              <a:rPr lang="en-US" sz="700" dirty="0">
                <a:solidFill>
                  <a:srgbClr val="D3D3D3"/>
                </a:solidFill>
              </a:rPr>
              <a:t>Cisco Confidential</a:t>
            </a:r>
          </a:p>
        </p:txBody>
      </p:sp>
      <p:pic>
        <p:nvPicPr>
          <p:cNvPr id="2056" name="Picture 8" descr="Rev08_Cisco_BrandBar10_060408.png"/>
          <p:cNvPicPr>
            <a:picLocks noChangeAspect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0" y="0"/>
            <a:ext cx="9144000" cy="341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456" r:id="rId1"/>
    <p:sldLayoutId id="2147484445" r:id="rId2"/>
    <p:sldLayoutId id="2147484446" r:id="rId3"/>
    <p:sldLayoutId id="2147484447" r:id="rId4"/>
    <p:sldLayoutId id="2147484448" r:id="rId5"/>
    <p:sldLayoutId id="2147484449" r:id="rId6"/>
    <p:sldLayoutId id="2147484450" r:id="rId7"/>
    <p:sldLayoutId id="2147484451" r:id="rId8"/>
    <p:sldLayoutId id="2147484452" r:id="rId9"/>
    <p:sldLayoutId id="2147484453" r:id="rId10"/>
    <p:sldLayoutId id="2147484454" r:id="rId11"/>
  </p:sldLayoutIdLst>
  <p:timing>
    <p:tnLst>
      <p:par>
        <p:cTn id="1" dur="indefinite" restart="never" nodeType="tmRoot"/>
      </p:par>
    </p:tnLst>
  </p:timing>
  <p:txStyles>
    <p:titleStyle>
      <a:lvl1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+mj-lt"/>
          <a:ea typeface="+mj-ea"/>
          <a:cs typeface="+mj-cs"/>
        </a:defRPr>
      </a:lvl1pPr>
      <a:lvl2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2pPr>
      <a:lvl3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3pPr>
      <a:lvl4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4pPr>
      <a:lvl5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5pPr>
      <a:lvl6pPr marL="457200" algn="l" defTabSz="814388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6pPr>
      <a:lvl7pPr marL="914400" algn="l" defTabSz="814388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7pPr>
      <a:lvl8pPr marL="1371600" algn="l" defTabSz="814388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8pPr>
      <a:lvl9pPr marL="1828800" algn="l" defTabSz="814388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9pPr>
    </p:titleStyle>
    <p:bodyStyle>
      <a:lvl1pPr marL="236538" indent="-236538" algn="l" defTabSz="814388" rtl="0" eaLnBrk="0" fontAlgn="base" hangingPunct="0">
        <a:lnSpc>
          <a:spcPct val="95000"/>
        </a:lnSpc>
        <a:spcBef>
          <a:spcPct val="50000"/>
        </a:spcBef>
        <a:spcAft>
          <a:spcPct val="0"/>
        </a:spcAft>
        <a:buClr>
          <a:srgbClr val="708CA1"/>
        </a:buClr>
        <a:buFont typeface="Wingdings" pitchFamily="2" charset="2"/>
        <a:buChar char="§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74675" indent="-117475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2pPr>
      <a:lvl3pPr marL="914400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3pPr>
      <a:lvl4pPr marL="1254125" indent="117475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4pPr>
      <a:lvl5pPr marL="1604963" indent="223838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5pPr>
      <a:lvl6pPr marL="2062163" algn="l" defTabSz="814388" rtl="0" eaLnBrk="1" fontAlgn="base" hangingPunct="1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6pPr>
      <a:lvl7pPr marL="2519363" algn="l" defTabSz="814388" rtl="0" eaLnBrk="1" fontAlgn="base" hangingPunct="1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7pPr>
      <a:lvl8pPr marL="2976563" algn="l" defTabSz="814388" rtl="0" eaLnBrk="1" fontAlgn="base" hangingPunct="1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8pPr>
      <a:lvl9pPr marL="3433763" algn="l" defTabSz="814388" rtl="0" eaLnBrk="1" fontAlgn="base" hangingPunct="1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11150" y="2263775"/>
            <a:ext cx="3854450" cy="1481138"/>
          </a:xfrm>
        </p:spPr>
        <p:txBody>
          <a:bodyPr/>
          <a:lstStyle/>
          <a:p>
            <a:pPr eaLnBrk="1" hangingPunct="1"/>
            <a:r>
              <a:rPr lang="en-US" sz="2800" smtClean="0"/>
              <a:t>Chapter 2: </a:t>
            </a:r>
            <a:r>
              <a:rPr lang="en-US" sz="2800" dirty="0" smtClean="0"/>
              <a:t>Introduction to Switched Networks</a:t>
            </a:r>
            <a:endParaRPr lang="en-US" sz="2800" dirty="0" smtClean="0">
              <a:solidFill>
                <a:schemeClr val="folHlink"/>
              </a:solidFill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11150" y="4672013"/>
            <a:ext cx="6788150" cy="658812"/>
          </a:xfrm>
        </p:spPr>
        <p:txBody>
          <a:bodyPr/>
          <a:lstStyle/>
          <a:p>
            <a:pPr eaLnBrk="1" hangingPunct="1"/>
            <a:r>
              <a:rPr lang="en-US" sz="2400" dirty="0" smtClean="0"/>
              <a:t>Routing and Switching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274638" y="493713"/>
            <a:ext cx="8145462" cy="838200"/>
          </a:xfrm>
        </p:spPr>
        <p:txBody>
          <a:bodyPr/>
          <a:lstStyle/>
          <a:p>
            <a:pPr eaLnBrk="1" hangingPunct="1"/>
            <a:r>
              <a:rPr lang="en-US" dirty="0" smtClean="0">
                <a:ea typeface="ＭＳ Ｐゴシック" pitchFamily="34" charset="-128"/>
              </a:rPr>
              <a:t>Chapter 1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747713" y="1601788"/>
            <a:ext cx="8131175" cy="4437062"/>
          </a:xfrm>
        </p:spPr>
        <p:txBody>
          <a:bodyPr/>
          <a:lstStyle/>
          <a:p>
            <a:pPr marL="0" indent="0" eaLnBrk="1" hangingPunct="1">
              <a:buFont typeface="Wingdings" pitchFamily="2" charset="2"/>
              <a:buNone/>
            </a:pPr>
            <a:r>
              <a:rPr lang="en-US" sz="2000" dirty="0" smtClean="0">
                <a:cs typeface="Arial" charset="0"/>
              </a:rPr>
              <a:t>1.0 Introduction</a:t>
            </a:r>
          </a:p>
          <a:p>
            <a:pPr marL="0" indent="0" eaLnBrk="1" hangingPunct="1">
              <a:buFont typeface="Wingdings" pitchFamily="2" charset="2"/>
              <a:buNone/>
            </a:pPr>
            <a:r>
              <a:rPr lang="en-US" sz="2000" dirty="0" smtClean="0">
                <a:cs typeface="Arial" charset="0"/>
              </a:rPr>
              <a:t>1.1 LAN Design</a:t>
            </a:r>
          </a:p>
          <a:p>
            <a:pPr marL="0" indent="0" eaLnBrk="1" hangingPunct="1">
              <a:buFont typeface="Wingdings" pitchFamily="2" charset="2"/>
              <a:buNone/>
            </a:pPr>
            <a:r>
              <a:rPr lang="en-US" sz="2000" dirty="0">
                <a:cs typeface="Arial" charset="0"/>
              </a:rPr>
              <a:t>1</a:t>
            </a:r>
            <a:r>
              <a:rPr lang="en-US" sz="2000" dirty="0" smtClean="0">
                <a:cs typeface="Arial" charset="0"/>
              </a:rPr>
              <a:t>.2 Switched Environment</a:t>
            </a:r>
          </a:p>
          <a:p>
            <a:pPr marL="0" indent="0" eaLnBrk="1" hangingPunct="1">
              <a:buFont typeface="Wingdings" pitchFamily="2" charset="2"/>
              <a:buNone/>
            </a:pPr>
            <a:r>
              <a:rPr lang="en-US" sz="2000" dirty="0" smtClean="0">
                <a:cs typeface="Arial" charset="0"/>
              </a:rPr>
              <a:t>1.3 Summary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274638" y="493713"/>
            <a:ext cx="8145462" cy="838200"/>
          </a:xfrm>
        </p:spPr>
        <p:txBody>
          <a:bodyPr/>
          <a:lstStyle/>
          <a:p>
            <a:pPr eaLnBrk="1" hangingPunct="1"/>
            <a:r>
              <a:rPr lang="en-US" dirty="0" smtClean="0">
                <a:ea typeface="ＭＳ Ｐゴシック" pitchFamily="34" charset="-128"/>
              </a:rPr>
              <a:t>Chapter 1: Objectives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719138" y="1471613"/>
            <a:ext cx="8131175" cy="4437062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 smtClean="0"/>
              <a:t>Upon completion of this chapter, you will be able to:</a:t>
            </a:r>
          </a:p>
          <a:p>
            <a:r>
              <a:rPr lang="en-US" sz="2000" dirty="0" smtClean="0"/>
              <a:t>Describe </a:t>
            </a:r>
            <a:r>
              <a:rPr lang="en-US" sz="2000" dirty="0"/>
              <a:t>convergence of data, </a:t>
            </a:r>
            <a:r>
              <a:rPr lang="en-US" sz="2000" dirty="0" smtClean="0"/>
              <a:t>voice, </a:t>
            </a:r>
            <a:r>
              <a:rPr lang="en-US" sz="2000" dirty="0"/>
              <a:t>and video in the context of switched </a:t>
            </a:r>
            <a:r>
              <a:rPr lang="en-US" sz="2000" dirty="0" smtClean="0"/>
              <a:t>networks.</a:t>
            </a:r>
            <a:endParaRPr lang="en-US" sz="2000" dirty="0"/>
          </a:p>
          <a:p>
            <a:r>
              <a:rPr lang="en-US" sz="2000" dirty="0"/>
              <a:t>Describe a switched network in a </a:t>
            </a:r>
            <a:r>
              <a:rPr lang="en-US" sz="2000" dirty="0" smtClean="0"/>
              <a:t>small-to-medium-sized business.</a:t>
            </a:r>
            <a:endParaRPr lang="en-US" sz="2000" dirty="0"/>
          </a:p>
          <a:p>
            <a:r>
              <a:rPr lang="en-US" sz="2000" dirty="0"/>
              <a:t>Explain the process of frame forwarding in a switched </a:t>
            </a:r>
            <a:r>
              <a:rPr lang="en-US" sz="2000" dirty="0" smtClean="0"/>
              <a:t>network.</a:t>
            </a:r>
            <a:endParaRPr lang="en-US" sz="2000" dirty="0"/>
          </a:p>
          <a:p>
            <a:r>
              <a:rPr lang="en-US" sz="2000" dirty="0"/>
              <a:t>Compare a collision domain to a broadcast </a:t>
            </a:r>
            <a:r>
              <a:rPr lang="en-US" sz="2000" dirty="0" smtClean="0"/>
              <a:t>domain.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289152" y="522741"/>
            <a:ext cx="8145462" cy="838200"/>
          </a:xfrm>
        </p:spPr>
        <p:txBody>
          <a:bodyPr/>
          <a:lstStyle/>
          <a:p>
            <a:pPr eaLnBrk="1" hangingPunct="1"/>
            <a:r>
              <a:rPr lang="en-US" sz="1800" dirty="0" smtClean="0">
                <a:ea typeface="ＭＳ Ｐゴシック" pitchFamily="34" charset="-128"/>
              </a:rPr>
              <a:t>Converged Networks</a:t>
            </a:r>
            <a:br>
              <a:rPr lang="en-US" sz="1800" dirty="0" smtClean="0">
                <a:ea typeface="ＭＳ Ｐゴシック" pitchFamily="34" charset="-128"/>
              </a:rPr>
            </a:br>
            <a:r>
              <a:rPr lang="en-US" dirty="0" smtClean="0">
                <a:ea typeface="ＭＳ Ｐゴシック" pitchFamily="34" charset="-128"/>
              </a:rPr>
              <a:t>Growing Complexity of Networks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28093" y="1768878"/>
            <a:ext cx="2947370" cy="4119561"/>
          </a:xfrm>
        </p:spPr>
        <p:txBody>
          <a:bodyPr/>
          <a:lstStyle/>
          <a:p>
            <a:r>
              <a:rPr lang="en-US" sz="2000" dirty="0"/>
              <a:t>Our digital world is </a:t>
            </a:r>
            <a:r>
              <a:rPr lang="en-US" sz="2000" dirty="0" smtClean="0"/>
              <a:t>changing.</a:t>
            </a:r>
          </a:p>
          <a:p>
            <a:r>
              <a:rPr lang="en-US" sz="2000" dirty="0" smtClean="0"/>
              <a:t>Information must be accessed from </a:t>
            </a:r>
            <a:r>
              <a:rPr lang="en-US" sz="2000" dirty="0"/>
              <a:t>anywhere in the </a:t>
            </a:r>
            <a:r>
              <a:rPr lang="en-US" sz="2000" dirty="0" smtClean="0"/>
              <a:t>world.</a:t>
            </a:r>
          </a:p>
          <a:p>
            <a:r>
              <a:rPr lang="en-US" sz="2000" dirty="0" smtClean="0"/>
              <a:t>Networks must be secure</a:t>
            </a:r>
            <a:r>
              <a:rPr lang="en-US" sz="2000" dirty="0"/>
              <a:t>, reliable, and highly </a:t>
            </a:r>
            <a:r>
              <a:rPr lang="en-US" sz="2000" dirty="0" smtClean="0"/>
              <a:t>available.</a:t>
            </a:r>
          </a:p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075" t="22935" r="18865" b="14985"/>
          <a:stretch/>
        </p:blipFill>
        <p:spPr bwMode="auto">
          <a:xfrm>
            <a:off x="3480179" y="1643497"/>
            <a:ext cx="5363570" cy="4921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63773" y="1514901"/>
            <a:ext cx="5022376" cy="5008729"/>
          </a:xfrm>
          <a:solidFill>
            <a:schemeClr val="bg1"/>
          </a:solidFill>
        </p:spPr>
        <p:txBody>
          <a:bodyPr/>
          <a:lstStyle/>
          <a:p>
            <a:r>
              <a:rPr lang="en-US" sz="2000" dirty="0" smtClean="0"/>
              <a:t>Collaboration is a modern requirement.</a:t>
            </a:r>
          </a:p>
          <a:p>
            <a:r>
              <a:rPr lang="en-US" sz="2000" dirty="0" smtClean="0"/>
              <a:t>To support collaboration, networks employ </a:t>
            </a:r>
            <a:r>
              <a:rPr lang="en-US" sz="2000" dirty="0"/>
              <a:t>c</a:t>
            </a:r>
            <a:r>
              <a:rPr lang="en-US" sz="2000" dirty="0" smtClean="0"/>
              <a:t>onverged solutions.</a:t>
            </a:r>
          </a:p>
          <a:p>
            <a:pPr marL="0" indent="0">
              <a:buNone/>
            </a:pPr>
            <a:r>
              <a:rPr lang="en-US" sz="2000" u="sng" dirty="0" err="1" smtClean="0"/>
              <a:t>Qn</a:t>
            </a:r>
            <a:r>
              <a:rPr lang="en-US" sz="2000" u="sng" dirty="0" smtClean="0"/>
              <a:t>: Define converged network.</a:t>
            </a:r>
          </a:p>
          <a:p>
            <a:pPr marL="0" indent="0">
              <a:buNone/>
            </a:pPr>
            <a:r>
              <a:rPr lang="en-US" sz="2000" dirty="0" smtClean="0"/>
              <a:t>__________________________________</a:t>
            </a:r>
          </a:p>
          <a:p>
            <a:pPr marL="0" indent="0">
              <a:buNone/>
            </a:pPr>
            <a:r>
              <a:rPr lang="en-US" sz="2000" dirty="0" smtClean="0"/>
              <a:t>__________________________________</a:t>
            </a:r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r>
              <a:rPr lang="en-US" sz="2000" u="sng" dirty="0" smtClean="0"/>
              <a:t>Benefits of a converged network</a:t>
            </a:r>
            <a:endParaRPr lang="en-US" sz="2000" u="sng" dirty="0"/>
          </a:p>
          <a:p>
            <a:pPr marL="457200" lvl="1" indent="-457200">
              <a:spcBef>
                <a:spcPct val="50000"/>
              </a:spcBef>
              <a:buFont typeface="+mj-lt"/>
              <a:buAutoNum type="arabicPeriod"/>
            </a:pPr>
            <a:r>
              <a:rPr lang="en-US" dirty="0" smtClean="0"/>
              <a:t>Only 1 </a:t>
            </a:r>
            <a:r>
              <a:rPr lang="en-US" dirty="0"/>
              <a:t>network to </a:t>
            </a:r>
            <a:r>
              <a:rPr lang="en-US" dirty="0" smtClean="0"/>
              <a:t>manage</a:t>
            </a:r>
            <a:endParaRPr lang="en-US" dirty="0"/>
          </a:p>
          <a:p>
            <a:pPr marL="457200" lvl="1" indent="-457200">
              <a:spcBef>
                <a:spcPct val="50000"/>
              </a:spcBef>
              <a:buFont typeface="+mj-lt"/>
              <a:buAutoNum type="arabicPeriod"/>
            </a:pPr>
            <a:r>
              <a:rPr lang="en-US" dirty="0" smtClean="0"/>
              <a:t>Cost savings to install just 1 network</a:t>
            </a:r>
            <a:endParaRPr lang="en-US" dirty="0"/>
          </a:p>
          <a:p>
            <a:pPr marL="457200" lvl="1" indent="-457200">
              <a:spcBef>
                <a:spcPct val="50000"/>
              </a:spcBef>
              <a:buFont typeface="+mj-lt"/>
              <a:buAutoNum type="arabicPeriod"/>
            </a:pPr>
            <a:r>
              <a:rPr lang="en-US" dirty="0"/>
              <a:t>Integrates IT </a:t>
            </a:r>
            <a:r>
              <a:rPr lang="en-US" dirty="0" smtClean="0"/>
              <a:t>management</a:t>
            </a:r>
            <a:endParaRPr lang="en-US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TextBox 3"/>
          <p:cNvSpPr txBox="1"/>
          <p:nvPr/>
        </p:nvSpPr>
        <p:spPr>
          <a:xfrm>
            <a:off x="272955" y="3029791"/>
            <a:ext cx="50633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SG" sz="2000" dirty="0" smtClean="0">
                <a:solidFill>
                  <a:srgbClr val="FF0000"/>
                </a:solidFill>
              </a:rPr>
              <a:t>A converged network combines voice,</a:t>
            </a:r>
          </a:p>
          <a:p>
            <a:pPr algn="l"/>
            <a:endParaRPr lang="en-SG" sz="2000" dirty="0" smtClean="0">
              <a:solidFill>
                <a:srgbClr val="FF0000"/>
              </a:solidFill>
            </a:endParaRPr>
          </a:p>
          <a:p>
            <a:pPr algn="l"/>
            <a:r>
              <a:rPr lang="en-SG" sz="2000" dirty="0" smtClean="0">
                <a:solidFill>
                  <a:srgbClr val="FF0000"/>
                </a:solidFill>
              </a:rPr>
              <a:t>video and data on 1 physical network.</a:t>
            </a:r>
            <a:endParaRPr lang="en-SG" sz="2000" dirty="0">
              <a:solidFill>
                <a:srgbClr val="FF0000"/>
              </a:solidFill>
            </a:endParaRPr>
          </a:p>
        </p:txBody>
      </p:sp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289152" y="522741"/>
            <a:ext cx="8145462" cy="838200"/>
          </a:xfrm>
        </p:spPr>
        <p:txBody>
          <a:bodyPr/>
          <a:lstStyle/>
          <a:p>
            <a:pPr eaLnBrk="1" hangingPunct="1"/>
            <a:r>
              <a:rPr lang="en-US" sz="1800" dirty="0" smtClean="0">
                <a:ea typeface="ＭＳ Ｐゴシック" pitchFamily="34" charset="-128"/>
              </a:rPr>
              <a:t>Converged Networks</a:t>
            </a:r>
            <a:br>
              <a:rPr lang="en-US" sz="1800" dirty="0" smtClean="0">
                <a:ea typeface="ＭＳ Ｐゴシック" pitchFamily="34" charset="-128"/>
              </a:rPr>
            </a:br>
            <a:r>
              <a:rPr lang="en-US" dirty="0">
                <a:ea typeface="ＭＳ Ｐゴシック" pitchFamily="34" charset="-128"/>
              </a:rPr>
              <a:t>A Converged </a:t>
            </a:r>
            <a:r>
              <a:rPr lang="en-US" dirty="0" smtClean="0">
                <a:ea typeface="ＭＳ Ｐゴシック" pitchFamily="34" charset="-128"/>
              </a:rPr>
              <a:t>Network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866" t="27066" r="26119" b="18487"/>
          <a:stretch/>
        </p:blipFill>
        <p:spPr bwMode="auto">
          <a:xfrm>
            <a:off x="5308977" y="1514901"/>
            <a:ext cx="3507475" cy="46675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31383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289152" y="522741"/>
            <a:ext cx="8145462" cy="838200"/>
          </a:xfrm>
        </p:spPr>
        <p:txBody>
          <a:bodyPr/>
          <a:lstStyle/>
          <a:p>
            <a:pPr eaLnBrk="1" hangingPunct="1"/>
            <a:r>
              <a:rPr lang="en-US" sz="1800" dirty="0" smtClean="0">
                <a:ea typeface="ＭＳ Ｐゴシック" pitchFamily="34" charset="-128"/>
              </a:rPr>
              <a:t>Converged Networks</a:t>
            </a:r>
            <a:br>
              <a:rPr lang="en-US" sz="1800" dirty="0" smtClean="0">
                <a:ea typeface="ＭＳ Ｐゴシック" pitchFamily="34" charset="-128"/>
              </a:rPr>
            </a:br>
            <a:r>
              <a:rPr lang="en-US" dirty="0" smtClean="0">
                <a:ea typeface="ＭＳ Ｐゴシック" pitchFamily="34" charset="-128"/>
              </a:rPr>
              <a:t>Borderless Switched Networks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67321" y="1560104"/>
            <a:ext cx="3493259" cy="4904715"/>
          </a:xfrm>
        </p:spPr>
        <p:txBody>
          <a:bodyPr/>
          <a:lstStyle/>
          <a:p>
            <a:r>
              <a:rPr lang="en-US" sz="2000" dirty="0" smtClean="0"/>
              <a:t>A well designed network </a:t>
            </a:r>
            <a:r>
              <a:rPr lang="en-US" sz="2000" dirty="0"/>
              <a:t>architecture </a:t>
            </a:r>
            <a:r>
              <a:rPr lang="en-US" sz="2000" dirty="0" smtClean="0"/>
              <a:t>allows an organization </a:t>
            </a:r>
            <a:r>
              <a:rPr lang="en-US" sz="2000" dirty="0"/>
              <a:t>to connect anyone, anywhere, anytime, </a:t>
            </a:r>
            <a:r>
              <a:rPr lang="en-US" sz="2000" dirty="0" smtClean="0"/>
              <a:t>on </a:t>
            </a:r>
            <a:r>
              <a:rPr lang="en-US" sz="2000" dirty="0"/>
              <a:t>any device securely, reliably, and </a:t>
            </a:r>
            <a:r>
              <a:rPr lang="en-US" sz="2000" dirty="0" smtClean="0"/>
              <a:t>seamlessly.</a:t>
            </a:r>
          </a:p>
          <a:p>
            <a:r>
              <a:rPr lang="en-US" sz="2000" dirty="0" smtClean="0"/>
              <a:t>An example is the Cisco Borderless Network which provides a framework to unify wired and wireless access, with policy and control across different device types.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716" t="29771" r="18866" b="17691"/>
          <a:stretch/>
        </p:blipFill>
        <p:spPr bwMode="auto">
          <a:xfrm>
            <a:off x="4069762" y="1542196"/>
            <a:ext cx="5074238" cy="39032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86519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277577" y="719511"/>
            <a:ext cx="8145462" cy="838200"/>
          </a:xfrm>
        </p:spPr>
        <p:txBody>
          <a:bodyPr/>
          <a:lstStyle/>
          <a:p>
            <a:pPr eaLnBrk="1" hangingPunct="1"/>
            <a:r>
              <a:rPr lang="en-US" sz="1800" dirty="0" smtClean="0">
                <a:ea typeface="ＭＳ Ｐゴシック" pitchFamily="34" charset="-128"/>
              </a:rPr>
              <a:t>Converged Networks</a:t>
            </a:r>
            <a:br>
              <a:rPr lang="en-US" sz="1800" dirty="0" smtClean="0">
                <a:ea typeface="ＭＳ Ｐゴシック" pitchFamily="34" charset="-128"/>
              </a:rPr>
            </a:br>
            <a:r>
              <a:rPr lang="en-US" dirty="0" smtClean="0"/>
              <a:t>Hierarchy </a:t>
            </a:r>
            <a:r>
              <a:rPr lang="en-US" dirty="0"/>
              <a:t>in the Borderless Switched </a:t>
            </a:r>
            <a:r>
              <a:rPr lang="en-US" dirty="0" smtClean="0"/>
              <a:t>Network</a:t>
            </a:r>
            <a:endParaRPr lang="en-US" dirty="0" smtClean="0">
              <a:ea typeface="ＭＳ Ｐゴシック" pitchFamily="34" charset="-128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36728" y="1791598"/>
            <a:ext cx="8202305" cy="4456801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Network design guidelines </a:t>
            </a:r>
            <a:r>
              <a:rPr lang="en-US" dirty="0"/>
              <a:t>are built upon </a:t>
            </a:r>
            <a:r>
              <a:rPr lang="en-US" dirty="0" smtClean="0"/>
              <a:t>the principles:</a:t>
            </a:r>
          </a:p>
          <a:p>
            <a:pPr marL="457200" lvl="1" indent="-457200">
              <a:spcBef>
                <a:spcPct val="50000"/>
              </a:spcBef>
              <a:buFont typeface="+mj-lt"/>
              <a:buAutoNum type="arabicPeriod"/>
            </a:pPr>
            <a:r>
              <a:rPr lang="en-US" sz="2400" u="sng" dirty="0" smtClean="0">
                <a:ea typeface="+mn-ea"/>
                <a:cs typeface="+mn-cs"/>
              </a:rPr>
              <a:t>Hierarchical</a:t>
            </a:r>
            <a:r>
              <a:rPr lang="en-US" sz="2400" dirty="0" smtClean="0">
                <a:ea typeface="+mn-ea"/>
                <a:cs typeface="+mn-cs"/>
              </a:rPr>
              <a:t> </a:t>
            </a:r>
            <a:r>
              <a:rPr lang="en-US" dirty="0"/>
              <a:t>– </a:t>
            </a:r>
            <a:r>
              <a:rPr lang="en-US" dirty="0" smtClean="0">
                <a:ea typeface="+mn-ea"/>
                <a:cs typeface="+mn-cs"/>
              </a:rPr>
              <a:t>tiered layers to simplify deployment, management and reducing fault domains at each tier</a:t>
            </a:r>
          </a:p>
          <a:p>
            <a:pPr marL="457200" lvl="1" indent="-457200">
              <a:spcBef>
                <a:spcPct val="50000"/>
              </a:spcBef>
              <a:buFont typeface="+mj-lt"/>
              <a:buAutoNum type="arabicPeriod"/>
            </a:pPr>
            <a:endParaRPr lang="en-US" dirty="0">
              <a:ea typeface="+mn-ea"/>
              <a:cs typeface="+mn-cs"/>
            </a:endParaRPr>
          </a:p>
          <a:p>
            <a:pPr marL="457200" lvl="1" indent="-457200">
              <a:spcBef>
                <a:spcPct val="50000"/>
              </a:spcBef>
              <a:buFont typeface="+mj-lt"/>
              <a:buAutoNum type="arabicPeriod"/>
            </a:pPr>
            <a:r>
              <a:rPr lang="en-US" sz="2400" u="sng" dirty="0" smtClean="0">
                <a:ea typeface="+mn-ea"/>
                <a:cs typeface="+mn-cs"/>
              </a:rPr>
              <a:t>Modularity</a:t>
            </a:r>
            <a:r>
              <a:rPr lang="en-US" sz="2400" dirty="0" smtClean="0">
                <a:ea typeface="+mn-ea"/>
                <a:cs typeface="+mn-cs"/>
              </a:rPr>
              <a:t> </a:t>
            </a:r>
            <a:r>
              <a:rPr lang="en-US" dirty="0" smtClean="0">
                <a:ea typeface="+mn-ea"/>
                <a:cs typeface="+mn-cs"/>
              </a:rPr>
              <a:t>– allows seamless expansion</a:t>
            </a:r>
          </a:p>
          <a:p>
            <a:pPr marL="457200" lvl="1" indent="-457200">
              <a:spcBef>
                <a:spcPct val="50000"/>
              </a:spcBef>
              <a:buFont typeface="+mj-lt"/>
              <a:buAutoNum type="arabicPeriod"/>
            </a:pPr>
            <a:endParaRPr lang="en-US" dirty="0">
              <a:ea typeface="+mn-ea"/>
              <a:cs typeface="+mn-cs"/>
            </a:endParaRPr>
          </a:p>
          <a:p>
            <a:pPr marL="457200" lvl="1" indent="-457200">
              <a:spcBef>
                <a:spcPct val="50000"/>
              </a:spcBef>
              <a:buFont typeface="+mj-lt"/>
              <a:buAutoNum type="arabicPeriod"/>
            </a:pPr>
            <a:r>
              <a:rPr lang="en-US" sz="2400" u="sng" dirty="0" smtClean="0">
                <a:ea typeface="+mn-ea"/>
                <a:cs typeface="+mn-cs"/>
              </a:rPr>
              <a:t>Resiliency</a:t>
            </a:r>
            <a:r>
              <a:rPr lang="en-US" sz="2400" dirty="0" smtClean="0">
                <a:ea typeface="+mn-ea"/>
                <a:cs typeface="+mn-cs"/>
              </a:rPr>
              <a:t> </a:t>
            </a:r>
            <a:r>
              <a:rPr lang="en-US" dirty="0" smtClean="0">
                <a:ea typeface="+mn-ea"/>
                <a:cs typeface="+mn-cs"/>
              </a:rPr>
              <a:t>– network is always on</a:t>
            </a:r>
          </a:p>
          <a:p>
            <a:pPr marL="457200" lvl="1" indent="-457200">
              <a:spcBef>
                <a:spcPct val="50000"/>
              </a:spcBef>
              <a:buFont typeface="+mj-lt"/>
              <a:buAutoNum type="arabicPeriod"/>
            </a:pPr>
            <a:endParaRPr lang="en-US" dirty="0">
              <a:ea typeface="+mn-ea"/>
              <a:cs typeface="+mn-cs"/>
            </a:endParaRPr>
          </a:p>
          <a:p>
            <a:pPr marL="457200" lvl="1" indent="-457200">
              <a:spcBef>
                <a:spcPct val="50000"/>
              </a:spcBef>
              <a:buFont typeface="+mj-lt"/>
              <a:buAutoNum type="arabicPeriod"/>
            </a:pPr>
            <a:r>
              <a:rPr lang="en-US" sz="2400" u="sng" dirty="0" smtClean="0">
                <a:ea typeface="+mn-ea"/>
                <a:cs typeface="+mn-cs"/>
              </a:rPr>
              <a:t>Flexibility</a:t>
            </a:r>
            <a:r>
              <a:rPr lang="en-US" sz="2400" dirty="0" smtClean="0">
                <a:ea typeface="+mn-ea"/>
                <a:cs typeface="+mn-cs"/>
              </a:rPr>
              <a:t> </a:t>
            </a:r>
            <a:r>
              <a:rPr lang="en-US" dirty="0" smtClean="0">
                <a:ea typeface="+mn-ea"/>
                <a:cs typeface="+mn-cs"/>
              </a:rPr>
              <a:t>– allows intelligent load sharing using all resources</a:t>
            </a:r>
            <a:endParaRPr lang="en-US" dirty="0">
              <a:ea typeface="+mn-ea"/>
              <a:cs typeface="+mn-cs"/>
            </a:endParaRPr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7127978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277577" y="719511"/>
            <a:ext cx="8145462" cy="838200"/>
          </a:xfrm>
        </p:spPr>
        <p:txBody>
          <a:bodyPr/>
          <a:lstStyle/>
          <a:p>
            <a:pPr eaLnBrk="1" hangingPunct="1"/>
            <a:r>
              <a:rPr lang="en-US" sz="1800" dirty="0" smtClean="0">
                <a:ea typeface="ＭＳ Ｐゴシック" pitchFamily="34" charset="-128"/>
              </a:rPr>
              <a:t>Converged Networks</a:t>
            </a:r>
            <a:br>
              <a:rPr lang="en-US" sz="1800" dirty="0" smtClean="0">
                <a:ea typeface="ＭＳ Ｐゴシック" pitchFamily="34" charset="-128"/>
              </a:rPr>
            </a:br>
            <a:r>
              <a:rPr lang="en-US" dirty="0" smtClean="0"/>
              <a:t>Hierarchy </a:t>
            </a:r>
            <a:r>
              <a:rPr lang="en-US" dirty="0"/>
              <a:t>in the Borderless Switched </a:t>
            </a:r>
            <a:r>
              <a:rPr lang="en-US" dirty="0" smtClean="0"/>
              <a:t>Network</a:t>
            </a:r>
            <a:endParaRPr lang="en-US" dirty="0" smtClean="0">
              <a:ea typeface="ＭＳ Ｐゴシック" pitchFamily="34" charset="-128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060" t="28020" r="23075" b="15144"/>
          <a:stretch/>
        </p:blipFill>
        <p:spPr bwMode="auto">
          <a:xfrm>
            <a:off x="379295" y="2483888"/>
            <a:ext cx="3755978" cy="3653635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5122" name="Picture 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92" t="27860" r="20577" b="25073"/>
          <a:stretch/>
        </p:blipFill>
        <p:spPr bwMode="auto">
          <a:xfrm>
            <a:off x="5066068" y="3352800"/>
            <a:ext cx="3747889" cy="2784723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263077" y="2004560"/>
            <a:ext cx="24945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2000" u="sng" dirty="0" smtClean="0"/>
              <a:t>3-tiered LAN Design</a:t>
            </a:r>
            <a:endParaRPr lang="en-SG" sz="2000" u="sng" dirty="0"/>
          </a:p>
        </p:txBody>
      </p:sp>
      <p:sp>
        <p:nvSpPr>
          <p:cNvPr id="9" name="TextBox 8"/>
          <p:cNvSpPr txBox="1"/>
          <p:nvPr/>
        </p:nvSpPr>
        <p:spPr>
          <a:xfrm>
            <a:off x="5066068" y="2483888"/>
            <a:ext cx="3747890" cy="8679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SG" sz="2000" u="sng" dirty="0"/>
              <a:t>2</a:t>
            </a:r>
            <a:r>
              <a:rPr lang="en-SG" sz="2000" u="sng" dirty="0" smtClean="0"/>
              <a:t>-tiered LAN Design</a:t>
            </a:r>
            <a:r>
              <a:rPr lang="en-SG" sz="2000" dirty="0" smtClean="0"/>
              <a:t> </a:t>
            </a:r>
            <a:r>
              <a:rPr lang="en-SG" sz="1800" dirty="0" smtClean="0"/>
              <a:t>which collapses core and distribution layers together</a:t>
            </a:r>
            <a:endParaRPr lang="en-SG" sz="1800" dirty="0"/>
          </a:p>
        </p:txBody>
      </p:sp>
    </p:spTree>
    <p:extLst>
      <p:ext uri="{BB962C8B-B14F-4D97-AF65-F5344CB8AC3E}">
        <p14:creationId xmlns:p14="http://schemas.microsoft.com/office/powerpoint/2010/main" val="699610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-146304" y="339861"/>
            <a:ext cx="9290304" cy="556251"/>
          </a:xfrm>
        </p:spPr>
        <p:txBody>
          <a:bodyPr/>
          <a:lstStyle/>
          <a:p>
            <a:pPr eaLnBrk="1" hangingPunct="1"/>
            <a:r>
              <a:rPr lang="en-US" sz="1800" dirty="0" smtClean="0">
                <a:ea typeface="ＭＳ Ｐゴシック" pitchFamily="34" charset="-128"/>
              </a:rPr>
              <a:t>Converged Networks - </a:t>
            </a:r>
            <a:r>
              <a:rPr lang="en-US" dirty="0" smtClean="0"/>
              <a:t>Core, Distribution, Access Layers</a:t>
            </a:r>
            <a:endParaRPr lang="en-US" dirty="0" smtClean="0">
              <a:ea typeface="ＭＳ Ｐゴシック" pitchFamily="34" charset="-128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896112"/>
            <a:ext cx="9144000" cy="60755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l">
              <a:buFont typeface="+mj-lt"/>
              <a:buAutoNum type="arabicPeriod"/>
            </a:pPr>
            <a:r>
              <a:rPr lang="en-SG" b="1" dirty="0" smtClean="0"/>
              <a:t>Access layer</a:t>
            </a:r>
          </a:p>
          <a:p>
            <a:pPr marL="914400" lvl="1" indent="-457200" algn="l">
              <a:buFont typeface="+mj-lt"/>
              <a:buAutoNum type="alphaLcParenR"/>
            </a:pPr>
            <a:r>
              <a:rPr lang="en-SG" dirty="0" smtClean="0"/>
              <a:t>The network edge where traffic enters / exits the network</a:t>
            </a:r>
          </a:p>
          <a:p>
            <a:pPr marL="914400" lvl="1" indent="-457200" algn="l">
              <a:buFont typeface="+mj-lt"/>
              <a:buAutoNum type="alphaLcParenR"/>
            </a:pPr>
            <a:r>
              <a:rPr lang="en-SG" dirty="0" smtClean="0"/>
              <a:t>Provides network access to the user</a:t>
            </a:r>
          </a:p>
          <a:p>
            <a:pPr marL="914400" lvl="1" indent="-457200" algn="l">
              <a:buFont typeface="+mj-lt"/>
              <a:buAutoNum type="alphaLcParenR"/>
            </a:pPr>
            <a:r>
              <a:rPr lang="en-SG" dirty="0" smtClean="0"/>
              <a:t>Connected to distribution layer switches</a:t>
            </a:r>
          </a:p>
          <a:p>
            <a:pPr algn="l"/>
            <a:endParaRPr lang="en-SG" dirty="0" smtClean="0"/>
          </a:p>
          <a:p>
            <a:pPr marL="457200" indent="-457200" algn="l">
              <a:buFont typeface="+mj-lt"/>
              <a:buAutoNum type="arabicPeriod" startAt="2"/>
            </a:pPr>
            <a:r>
              <a:rPr lang="en-SG" b="1" dirty="0" smtClean="0"/>
              <a:t>Distribution layer</a:t>
            </a:r>
          </a:p>
          <a:p>
            <a:pPr marL="914400" lvl="1" indent="-457200" algn="l">
              <a:buFont typeface="+mj-lt"/>
              <a:buAutoNum type="alphaLcParenR"/>
            </a:pPr>
            <a:r>
              <a:rPr lang="en-SG" dirty="0" smtClean="0"/>
              <a:t>Interface between access and core layer</a:t>
            </a:r>
          </a:p>
          <a:p>
            <a:pPr marL="914400" lvl="1" indent="-457200" algn="l">
              <a:buFont typeface="+mj-lt"/>
              <a:buAutoNum type="alphaLcParenR"/>
            </a:pPr>
            <a:r>
              <a:rPr lang="en-SG" dirty="0" smtClean="0"/>
              <a:t>Aggregates large-scale wiring closet networks</a:t>
            </a:r>
          </a:p>
          <a:p>
            <a:pPr marL="914400" lvl="1" indent="-457200" algn="l">
              <a:buFont typeface="+mj-lt"/>
              <a:buAutoNum type="alphaLcParenR"/>
            </a:pPr>
            <a:r>
              <a:rPr lang="en-SG" dirty="0" smtClean="0"/>
              <a:t>Aggregates Layer 2 broadcast domains and Layer 3 routing boundaries</a:t>
            </a:r>
          </a:p>
          <a:p>
            <a:pPr marL="914400" lvl="1" indent="-457200" algn="l">
              <a:buFont typeface="+mj-lt"/>
              <a:buAutoNum type="alphaLcParenR"/>
            </a:pPr>
            <a:r>
              <a:rPr lang="en-SG" dirty="0" smtClean="0"/>
              <a:t>Provides intelligent switching, routing and network access policy functions</a:t>
            </a:r>
          </a:p>
          <a:p>
            <a:pPr marL="914400" lvl="1" indent="-457200" algn="l">
              <a:buFont typeface="+mj-lt"/>
              <a:buAutoNum type="alphaLcParenR"/>
            </a:pPr>
            <a:r>
              <a:rPr lang="en-SG" dirty="0" smtClean="0"/>
              <a:t>Provides high-availability through redundant paths</a:t>
            </a:r>
          </a:p>
          <a:p>
            <a:pPr marL="914400" lvl="1" indent="-457200" algn="l">
              <a:buFont typeface="+mj-lt"/>
              <a:buAutoNum type="alphaLcParenR"/>
            </a:pPr>
            <a:endParaRPr lang="en-SG" dirty="0" smtClean="0"/>
          </a:p>
          <a:p>
            <a:pPr marL="457200" indent="-457200" algn="l">
              <a:buFont typeface="+mj-lt"/>
              <a:buAutoNum type="arabicPeriod" startAt="2"/>
            </a:pPr>
            <a:r>
              <a:rPr lang="en-SG" b="1" dirty="0" smtClean="0"/>
              <a:t>Core layer</a:t>
            </a:r>
          </a:p>
          <a:p>
            <a:pPr marL="914400" lvl="1" indent="-457200" algn="l">
              <a:buFont typeface="+mj-lt"/>
              <a:buAutoNum type="alphaLcParenR"/>
            </a:pPr>
            <a:r>
              <a:rPr lang="en-SG" dirty="0" smtClean="0"/>
              <a:t>The network backbone</a:t>
            </a:r>
          </a:p>
          <a:p>
            <a:pPr marL="914400" lvl="1" indent="-457200" algn="l">
              <a:buFont typeface="+mj-lt"/>
              <a:buAutoNum type="alphaLcParenR"/>
            </a:pPr>
            <a:r>
              <a:rPr lang="en-SG" dirty="0" smtClean="0"/>
              <a:t>Provides fault isolation and high-speed backbone connectivity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467774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864" y="2202158"/>
            <a:ext cx="4268792" cy="380285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289152" y="522741"/>
            <a:ext cx="8145462" cy="838200"/>
          </a:xfrm>
        </p:spPr>
        <p:txBody>
          <a:bodyPr/>
          <a:lstStyle/>
          <a:p>
            <a:pPr eaLnBrk="1" hangingPunct="1"/>
            <a:r>
              <a:rPr lang="en-US" sz="1800" dirty="0" smtClean="0">
                <a:ea typeface="ＭＳ Ｐゴシック" pitchFamily="34" charset="-128"/>
              </a:rPr>
              <a:t>Converged Networks</a:t>
            </a:r>
            <a:br>
              <a:rPr lang="en-US" sz="1800" dirty="0" smtClean="0">
                <a:ea typeface="ＭＳ Ｐゴシック" pitchFamily="34" charset="-128"/>
              </a:rPr>
            </a:br>
            <a:r>
              <a:rPr lang="en-US" dirty="0" smtClean="0"/>
              <a:t>Core, Distribution, Access Layers</a:t>
            </a:r>
            <a:endParaRPr lang="en-US" dirty="0" smtClean="0">
              <a:ea typeface="ＭＳ Ｐゴシック" pitchFamily="34" charset="-128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448" t="30408" r="18597" b="21194"/>
          <a:stretch/>
        </p:blipFill>
        <p:spPr bwMode="auto">
          <a:xfrm>
            <a:off x="4940489" y="2202158"/>
            <a:ext cx="4062005" cy="28387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313111" y="1515740"/>
            <a:ext cx="42995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2000" dirty="0" smtClean="0"/>
              <a:t>What type of LAN design are these?</a:t>
            </a:r>
            <a:endParaRPr lang="en-SG" sz="2000" dirty="0"/>
          </a:p>
        </p:txBody>
      </p:sp>
    </p:spTree>
    <p:extLst>
      <p:ext uri="{BB962C8B-B14F-4D97-AF65-F5344CB8AC3E}">
        <p14:creationId xmlns:p14="http://schemas.microsoft.com/office/powerpoint/2010/main" val="235210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289152" y="522741"/>
            <a:ext cx="8145462" cy="838200"/>
          </a:xfrm>
        </p:spPr>
        <p:txBody>
          <a:bodyPr/>
          <a:lstStyle/>
          <a:p>
            <a:pPr eaLnBrk="1" hangingPunct="1"/>
            <a:r>
              <a:rPr lang="en-US" sz="1800" dirty="0" smtClean="0">
                <a:ea typeface="ＭＳ Ｐゴシック" pitchFamily="34" charset="-128"/>
              </a:rPr>
              <a:t>Converged Networks</a:t>
            </a:r>
            <a:br>
              <a:rPr lang="en-US" sz="1800" dirty="0" smtClean="0">
                <a:ea typeface="ＭＳ Ｐゴシック" pitchFamily="34" charset="-128"/>
              </a:rPr>
            </a:br>
            <a:r>
              <a:rPr lang="en-US" dirty="0" smtClean="0"/>
              <a:t>Core, Distribution, Access Layers</a:t>
            </a:r>
            <a:endParaRPr lang="en-US" dirty="0" smtClean="0">
              <a:ea typeface="ＭＳ Ｐゴシック" pitchFamily="34" charset="-128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2727933"/>
              </p:ext>
            </p:extLst>
          </p:nvPr>
        </p:nvGraphicFramePr>
        <p:xfrm>
          <a:off x="491317" y="1888320"/>
          <a:ext cx="8352432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01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41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72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90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4274">
                <a:tc>
                  <a:txBody>
                    <a:bodyPr/>
                    <a:lstStyle/>
                    <a:p>
                      <a:r>
                        <a:rPr lang="en-SG" dirty="0" smtClean="0"/>
                        <a:t>Function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 smtClean="0"/>
                        <a:t>Core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 smtClean="0"/>
                        <a:t>Distribution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 smtClean="0"/>
                        <a:t>Access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6966">
                <a:tc>
                  <a:txBody>
                    <a:bodyPr/>
                    <a:lstStyle/>
                    <a:p>
                      <a:r>
                        <a:rPr lang="en-SG" dirty="0" smtClean="0"/>
                        <a:t>Supports Layer 2 broadcast domains and Layer 3 routing boundaries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6966">
                <a:tc>
                  <a:txBody>
                    <a:bodyPr/>
                    <a:lstStyle/>
                    <a:p>
                      <a:r>
                        <a:rPr lang="en-SG" dirty="0" smtClean="0"/>
                        <a:t>Provides direct, switched network connectivity to</a:t>
                      </a:r>
                      <a:r>
                        <a:rPr lang="en-SG" baseline="0" dirty="0" smtClean="0"/>
                        <a:t> users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6966">
                <a:tc>
                  <a:txBody>
                    <a:bodyPr/>
                    <a:lstStyle/>
                    <a:p>
                      <a:r>
                        <a:rPr lang="en-SG" dirty="0" smtClean="0"/>
                        <a:t>Helps</a:t>
                      </a:r>
                      <a:r>
                        <a:rPr lang="en-SG" baseline="0" dirty="0" smtClean="0"/>
                        <a:t> applications operate on the switched network safely and securely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4274">
                <a:tc>
                  <a:txBody>
                    <a:bodyPr/>
                    <a:lstStyle/>
                    <a:p>
                      <a:r>
                        <a:rPr lang="en-SG" dirty="0" smtClean="0"/>
                        <a:t>Includes</a:t>
                      </a:r>
                      <a:r>
                        <a:rPr lang="en-SG" baseline="0" dirty="0" smtClean="0"/>
                        <a:t> redundancy as an important feature for switched network access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6966">
                <a:tc>
                  <a:txBody>
                    <a:bodyPr/>
                    <a:lstStyle/>
                    <a:p>
                      <a:r>
                        <a:rPr lang="en-SG" dirty="0" smtClean="0"/>
                        <a:t>A collapsed design combines</a:t>
                      </a:r>
                      <a:r>
                        <a:rPr lang="en-SG" baseline="0" dirty="0" smtClean="0"/>
                        <a:t> this Layer with the Distribution Layer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6966">
                <a:tc>
                  <a:txBody>
                    <a:bodyPr/>
                    <a:lstStyle/>
                    <a:p>
                      <a:r>
                        <a:rPr lang="en-SG" dirty="0" smtClean="0"/>
                        <a:t>Provides fault isolation and high-speed backbone switch connectivity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13111" y="1515740"/>
            <a:ext cx="50129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2000" dirty="0" smtClean="0"/>
              <a:t>Which layer do these  functions belong to?</a:t>
            </a:r>
            <a:endParaRPr lang="en-SG" sz="2000" dirty="0"/>
          </a:p>
        </p:txBody>
      </p:sp>
      <p:sp>
        <p:nvSpPr>
          <p:cNvPr id="2" name="TextBox 1"/>
          <p:cNvSpPr txBox="1"/>
          <p:nvPr/>
        </p:nvSpPr>
        <p:spPr>
          <a:xfrm>
            <a:off x="313111" y="6174786"/>
            <a:ext cx="5010731" cy="3416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1800" b="1" i="1" dirty="0" smtClean="0">
                <a:solidFill>
                  <a:srgbClr val="FF0000"/>
                </a:solidFill>
              </a:rPr>
              <a:t>Answers in </a:t>
            </a:r>
            <a:r>
              <a:rPr lang="en-SG" sz="1800" b="1" i="1" dirty="0" err="1" smtClean="0">
                <a:solidFill>
                  <a:srgbClr val="FF0000"/>
                </a:solidFill>
              </a:rPr>
              <a:t>NetAcad</a:t>
            </a:r>
            <a:r>
              <a:rPr lang="en-SG" sz="1800" b="1" i="1" dirty="0" smtClean="0">
                <a:solidFill>
                  <a:srgbClr val="FF0000"/>
                </a:solidFill>
              </a:rPr>
              <a:t> Chapter 1.1.1.6 Activity</a:t>
            </a:r>
            <a:endParaRPr lang="en-SG" sz="1800" b="1" i="1" dirty="0">
              <a:solidFill>
                <a:srgbClr val="FF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748272" y="2212848"/>
            <a:ext cx="457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SG" sz="4000" dirty="0" smtClean="0">
                <a:solidFill>
                  <a:srgbClr val="FF0000"/>
                </a:solidFill>
              </a:rPr>
              <a:t>●</a:t>
            </a:r>
            <a:endParaRPr lang="en-SG" sz="4000" dirty="0">
              <a:solidFill>
                <a:srgbClr val="FF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977414" y="2859179"/>
            <a:ext cx="457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SG" sz="4000" dirty="0" smtClean="0">
                <a:solidFill>
                  <a:srgbClr val="FF0000"/>
                </a:solidFill>
              </a:rPr>
              <a:t>●</a:t>
            </a:r>
            <a:endParaRPr lang="en-SG" sz="4000" dirty="0">
              <a:solidFill>
                <a:srgbClr val="FF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748272" y="3505510"/>
            <a:ext cx="457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SG" sz="4000" dirty="0" smtClean="0">
                <a:solidFill>
                  <a:srgbClr val="FF0000"/>
                </a:solidFill>
              </a:rPr>
              <a:t>●</a:t>
            </a:r>
            <a:endParaRPr lang="en-SG" sz="4000" dirty="0">
              <a:solidFill>
                <a:srgbClr val="FF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748272" y="4151841"/>
            <a:ext cx="457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SG" sz="4000" dirty="0" smtClean="0">
                <a:solidFill>
                  <a:srgbClr val="FF0000"/>
                </a:solidFill>
              </a:rPr>
              <a:t>●</a:t>
            </a:r>
            <a:endParaRPr lang="en-SG" sz="4000" dirty="0">
              <a:solidFill>
                <a:srgbClr val="FF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529072" y="4798172"/>
            <a:ext cx="457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SG" sz="4000" dirty="0" smtClean="0">
                <a:solidFill>
                  <a:srgbClr val="FF0000"/>
                </a:solidFill>
              </a:rPr>
              <a:t>●</a:t>
            </a:r>
            <a:endParaRPr lang="en-SG" sz="4000" dirty="0">
              <a:solidFill>
                <a:srgbClr val="FF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516880" y="5444503"/>
            <a:ext cx="457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SG" sz="4000" dirty="0" smtClean="0">
                <a:solidFill>
                  <a:srgbClr val="FF0000"/>
                </a:solidFill>
              </a:rPr>
              <a:t>●</a:t>
            </a:r>
            <a:endParaRPr lang="en-SG" sz="4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4009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9" grpId="0"/>
      <p:bldP spid="10" grpId="0"/>
      <p:bldP spid="11" grpId="0"/>
      <p:bldP spid="1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289152" y="522741"/>
            <a:ext cx="8145462" cy="838200"/>
          </a:xfrm>
        </p:spPr>
        <p:txBody>
          <a:bodyPr/>
          <a:lstStyle/>
          <a:p>
            <a:pPr eaLnBrk="1" hangingPunct="1"/>
            <a:r>
              <a:rPr lang="en-US" sz="1800" dirty="0" smtClean="0">
                <a:ea typeface="ＭＳ Ｐゴシック" pitchFamily="34" charset="-128"/>
              </a:rPr>
              <a:t>Switched Networks</a:t>
            </a:r>
            <a:br>
              <a:rPr lang="en-US" sz="1800" dirty="0" smtClean="0">
                <a:ea typeface="ＭＳ Ｐゴシック" pitchFamily="34" charset="-128"/>
              </a:rPr>
            </a:br>
            <a:r>
              <a:rPr lang="en-US" sz="2800" dirty="0" smtClean="0"/>
              <a:t>Role </a:t>
            </a:r>
            <a:r>
              <a:rPr lang="en-US" sz="2800" dirty="0"/>
              <a:t>of Switched </a:t>
            </a:r>
            <a:r>
              <a:rPr lang="en-US" sz="2800" dirty="0" smtClean="0"/>
              <a:t>Networks</a:t>
            </a:r>
            <a:endParaRPr lang="en-US" sz="2800" dirty="0" smtClean="0">
              <a:ea typeface="ＭＳ Ｐゴシック" pitchFamily="34" charset="-128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83069" y="1791598"/>
            <a:ext cx="8110988" cy="4904715"/>
          </a:xfrm>
        </p:spPr>
        <p:txBody>
          <a:bodyPr/>
          <a:lstStyle/>
          <a:p>
            <a:r>
              <a:rPr lang="en-US" sz="2000" dirty="0"/>
              <a:t>Switching technologies are crucial to network </a:t>
            </a:r>
            <a:r>
              <a:rPr lang="en-US" sz="2000" dirty="0" smtClean="0"/>
              <a:t>design. </a:t>
            </a:r>
          </a:p>
          <a:p>
            <a:r>
              <a:rPr lang="en-US" sz="2000" dirty="0" smtClean="0"/>
              <a:t>Switching </a:t>
            </a:r>
            <a:r>
              <a:rPr lang="en-US" sz="2000" dirty="0"/>
              <a:t>allow traffic to be sent only where it is needed in most cases, using </a:t>
            </a:r>
            <a:r>
              <a:rPr lang="en-US" sz="2000" dirty="0" smtClean="0"/>
              <a:t>fast methods.</a:t>
            </a:r>
          </a:p>
          <a:p>
            <a:r>
              <a:rPr lang="en-US" sz="2000" dirty="0" smtClean="0"/>
              <a:t>A switched LAN:</a:t>
            </a:r>
          </a:p>
          <a:p>
            <a:pPr marL="681037" lvl="1" indent="-342900">
              <a:buFont typeface="Wingdings" pitchFamily="2" charset="2"/>
              <a:buChar char="§"/>
            </a:pPr>
            <a:r>
              <a:rPr lang="en-US" dirty="0" smtClean="0"/>
              <a:t>Allows </a:t>
            </a:r>
            <a:r>
              <a:rPr lang="en-US" dirty="0"/>
              <a:t>more </a:t>
            </a:r>
            <a:r>
              <a:rPr lang="en-US" dirty="0" smtClean="0"/>
              <a:t>flexibility to connect end devices</a:t>
            </a:r>
          </a:p>
          <a:p>
            <a:pPr marL="681037" lvl="1" indent="-342900">
              <a:buFont typeface="Wingdings" pitchFamily="2" charset="2"/>
              <a:buChar char="§"/>
            </a:pPr>
            <a:r>
              <a:rPr lang="en-US" dirty="0" smtClean="0"/>
              <a:t>Allows better traffic management</a:t>
            </a:r>
          </a:p>
          <a:p>
            <a:pPr marL="681037" lvl="1" indent="-342900">
              <a:buFont typeface="Wingdings" pitchFamily="2" charset="2"/>
              <a:buChar char="§"/>
            </a:pPr>
            <a:r>
              <a:rPr lang="en-US" dirty="0" smtClean="0"/>
              <a:t>Supports features like:- </a:t>
            </a:r>
          </a:p>
          <a:p>
            <a:pPr marL="1020762" lvl="2" indent="-342900">
              <a:buFont typeface="Wingdings" pitchFamily="2" charset="2"/>
              <a:buChar char="§"/>
            </a:pPr>
            <a:r>
              <a:rPr lang="en-US" dirty="0" smtClean="0"/>
              <a:t>quality </a:t>
            </a:r>
            <a:r>
              <a:rPr lang="en-US" dirty="0"/>
              <a:t>of </a:t>
            </a:r>
            <a:r>
              <a:rPr lang="en-US" dirty="0" smtClean="0"/>
              <a:t>service (</a:t>
            </a:r>
            <a:r>
              <a:rPr lang="en-US" dirty="0" err="1" smtClean="0"/>
              <a:t>QoS</a:t>
            </a:r>
            <a:r>
              <a:rPr lang="en-US" dirty="0" smtClean="0"/>
              <a:t>)</a:t>
            </a:r>
          </a:p>
          <a:p>
            <a:pPr marL="1020762" lvl="2" indent="-342900">
              <a:buFont typeface="Wingdings" pitchFamily="2" charset="2"/>
              <a:buChar char="§"/>
            </a:pPr>
            <a:r>
              <a:rPr lang="en-US" dirty="0" smtClean="0"/>
              <a:t>security</a:t>
            </a:r>
          </a:p>
          <a:p>
            <a:pPr marL="1020762" lvl="2" indent="-342900">
              <a:buFont typeface="Wingdings" pitchFamily="2" charset="2"/>
              <a:buChar char="§"/>
            </a:pPr>
            <a:r>
              <a:rPr lang="en-US" dirty="0" smtClean="0"/>
              <a:t>wireless networking</a:t>
            </a:r>
          </a:p>
          <a:p>
            <a:pPr marL="1020762" lvl="2" indent="-342900">
              <a:buFont typeface="Wingdings" pitchFamily="2" charset="2"/>
              <a:buChar char="§"/>
            </a:pPr>
            <a:r>
              <a:rPr lang="en-US" dirty="0" smtClean="0"/>
              <a:t>IP telephony</a:t>
            </a:r>
          </a:p>
          <a:p>
            <a:pPr marL="1020762" lvl="2" indent="-342900">
              <a:buFont typeface="Wingdings" pitchFamily="2" charset="2"/>
              <a:buChar char="§"/>
            </a:pPr>
            <a:r>
              <a:rPr lang="en-US" dirty="0" smtClean="0"/>
              <a:t>mobility </a:t>
            </a:r>
            <a:r>
              <a:rPr lang="en-US" dirty="0"/>
              <a:t>services</a:t>
            </a:r>
          </a:p>
          <a:p>
            <a:endParaRPr lang="en-US" dirty="0" smtClean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806" t="32322" r="19672" b="17696"/>
          <a:stretch/>
        </p:blipFill>
        <p:spPr bwMode="auto">
          <a:xfrm>
            <a:off x="5404514" y="3957850"/>
            <a:ext cx="3554946" cy="254530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9709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289152" y="522741"/>
            <a:ext cx="8145462" cy="838200"/>
          </a:xfrm>
        </p:spPr>
        <p:txBody>
          <a:bodyPr/>
          <a:lstStyle/>
          <a:p>
            <a:pPr eaLnBrk="1" hangingPunct="1"/>
            <a:r>
              <a:rPr lang="en-US" sz="1800" dirty="0" smtClean="0">
                <a:ea typeface="ＭＳ Ｐゴシック" pitchFamily="34" charset="-128"/>
              </a:rPr>
              <a:t>Switched Networks</a:t>
            </a:r>
            <a:br>
              <a:rPr lang="en-US" sz="1800" dirty="0" smtClean="0">
                <a:ea typeface="ＭＳ Ｐゴシック" pitchFamily="34" charset="-128"/>
              </a:rPr>
            </a:br>
            <a:r>
              <a:rPr lang="en-US" dirty="0" smtClean="0"/>
              <a:t>Form Factor</a:t>
            </a:r>
            <a:endParaRPr lang="en-US" dirty="0" smtClean="0">
              <a:ea typeface="ＭＳ Ｐゴシック" pitchFamily="34" charset="-12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83393" y="1487607"/>
            <a:ext cx="3862316" cy="1047914"/>
          </a:xfrm>
        </p:spPr>
        <p:txBody>
          <a:bodyPr/>
          <a:lstStyle/>
          <a:p>
            <a:pPr marL="0" indent="0" algn="r">
              <a:buNone/>
            </a:pPr>
            <a:r>
              <a:rPr lang="en-US" sz="1800" b="1" dirty="0" smtClean="0"/>
              <a:t>Fixed Configuration Switches</a:t>
            </a:r>
          </a:p>
          <a:p>
            <a:pPr marL="0" indent="0" algn="r">
              <a:buNone/>
            </a:pPr>
            <a:r>
              <a:rPr lang="en-US" sz="1800" dirty="0" smtClean="0"/>
              <a:t>Features / options are limited to what is available for that switch</a:t>
            </a:r>
            <a:endParaRPr lang="en-US" sz="1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21" t="15551" r="7445" b="43295"/>
          <a:stretch/>
        </p:blipFill>
        <p:spPr>
          <a:xfrm>
            <a:off x="5943600" y="1487607"/>
            <a:ext cx="2961565" cy="152565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1" t="11366" r="7998" b="34022"/>
          <a:stretch/>
        </p:blipFill>
        <p:spPr>
          <a:xfrm>
            <a:off x="397231" y="2634019"/>
            <a:ext cx="3813653" cy="248389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83" t="3920" r="6062" b="40874"/>
          <a:stretch/>
        </p:blipFill>
        <p:spPr>
          <a:xfrm>
            <a:off x="5561463" y="5063069"/>
            <a:ext cx="3343702" cy="1794931"/>
          </a:xfrm>
          <a:prstGeom prst="rect">
            <a:avLst/>
          </a:prstGeom>
        </p:spPr>
      </p:pic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4210884" y="3427069"/>
            <a:ext cx="4376379" cy="1636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82124" tIns="41061" rIns="82124" bIns="41061" numCol="1" anchor="t" anchorCtr="0" compatLnSpc="1">
            <a:prstTxWarp prst="textNoShape">
              <a:avLst/>
            </a:prstTxWarp>
          </a:bodyPr>
          <a:lstStyle>
            <a:lvl1pPr marL="236538" indent="-236538" algn="l" defTabSz="814388" rtl="0" eaLnBrk="0" fontAlgn="base" hangingPunct="0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rgbClr val="708CA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4675" indent="-117475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2pPr>
            <a:lvl3pPr marL="914400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3pPr>
            <a:lvl4pPr marL="1254125" indent="117475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4pPr>
            <a:lvl5pPr marL="1604963" indent="223838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5pPr>
            <a:lvl6pPr marL="20621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6pPr>
            <a:lvl7pPr marL="25193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7pPr>
            <a:lvl8pPr marL="29765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8pPr>
            <a:lvl9pPr marL="34337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en-US" sz="1800" b="1" kern="0" dirty="0" smtClean="0"/>
              <a:t>Modular Configuration Switches</a:t>
            </a:r>
          </a:p>
          <a:p>
            <a:pPr marL="0" indent="0">
              <a:buFont typeface="Wingdings" pitchFamily="2" charset="2"/>
              <a:buNone/>
            </a:pPr>
            <a:r>
              <a:rPr lang="en-US" sz="1800" kern="0" dirty="0" smtClean="0"/>
              <a:t>Begins with a chassis for installation of multiple modular line cards</a:t>
            </a:r>
            <a:endParaRPr lang="en-US" sz="1800" kern="0" dirty="0"/>
          </a:p>
        </p:txBody>
      </p:sp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518616" y="5661045"/>
            <a:ext cx="5042848" cy="119695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82124" tIns="41061" rIns="82124" bIns="41061" numCol="1" anchor="t" anchorCtr="0" compatLnSpc="1">
            <a:prstTxWarp prst="textNoShape">
              <a:avLst/>
            </a:prstTxWarp>
          </a:bodyPr>
          <a:lstStyle>
            <a:lvl1pPr marL="236538" indent="-236538" algn="l" defTabSz="814388" rtl="0" eaLnBrk="0" fontAlgn="base" hangingPunct="0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rgbClr val="708CA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4675" indent="-117475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2pPr>
            <a:lvl3pPr marL="914400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3pPr>
            <a:lvl4pPr marL="1254125" indent="117475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4pPr>
            <a:lvl5pPr marL="1604963" indent="223838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5pPr>
            <a:lvl6pPr marL="20621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6pPr>
            <a:lvl7pPr marL="25193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7pPr>
            <a:lvl8pPr marL="29765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8pPr>
            <a:lvl9pPr marL="34337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r">
              <a:buFont typeface="Wingdings" pitchFamily="2" charset="2"/>
              <a:buNone/>
            </a:pPr>
            <a:r>
              <a:rPr lang="en-US" sz="1800" b="1" kern="0" dirty="0" smtClean="0"/>
              <a:t>Stackable Configuration Switches</a:t>
            </a:r>
          </a:p>
          <a:p>
            <a:pPr marL="0" indent="0" algn="r">
              <a:buFont typeface="Wingdings" pitchFamily="2" charset="2"/>
              <a:buNone/>
            </a:pPr>
            <a:r>
              <a:rPr lang="en-US" sz="1800" kern="0" dirty="0" smtClean="0"/>
              <a:t>Interconnected using a special cable for high-bandwidth throughput between the switches. </a:t>
            </a:r>
            <a:endParaRPr lang="en-US" sz="1800" kern="0" dirty="0"/>
          </a:p>
        </p:txBody>
      </p:sp>
    </p:spTree>
    <p:extLst>
      <p:ext uri="{BB962C8B-B14F-4D97-AF65-F5344CB8AC3E}">
        <p14:creationId xmlns:p14="http://schemas.microsoft.com/office/powerpoint/2010/main" val="593104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358600" y="707936"/>
            <a:ext cx="8145462" cy="838200"/>
          </a:xfrm>
        </p:spPr>
        <p:txBody>
          <a:bodyPr/>
          <a:lstStyle/>
          <a:p>
            <a:pPr eaLnBrk="1" hangingPunct="1"/>
            <a:r>
              <a:rPr lang="en-US" sz="1800" dirty="0">
                <a:ea typeface="ＭＳ Ｐゴシック" pitchFamily="34" charset="-128"/>
              </a:rPr>
              <a:t>Frame Forwarding</a:t>
            </a:r>
            <a:r>
              <a:rPr lang="en-US" sz="1800" dirty="0" smtClean="0">
                <a:ea typeface="ＭＳ Ｐゴシック" pitchFamily="34" charset="-128"/>
              </a:rPr>
              <a:t/>
            </a:r>
            <a:br>
              <a:rPr lang="en-US" sz="1800" dirty="0" smtClean="0">
                <a:ea typeface="ＭＳ Ｐゴシック" pitchFamily="34" charset="-128"/>
              </a:rPr>
            </a:br>
            <a:r>
              <a:rPr lang="en-US" dirty="0" smtClean="0"/>
              <a:t>Dynamically </a:t>
            </a:r>
            <a:r>
              <a:rPr lang="en-US" dirty="0"/>
              <a:t>Populating a Switch MAC Address </a:t>
            </a:r>
            <a:r>
              <a:rPr lang="en-US" dirty="0" smtClean="0"/>
              <a:t>Table</a:t>
            </a:r>
            <a:endParaRPr lang="en-US" dirty="0" smtClean="0">
              <a:ea typeface="ＭＳ Ｐゴシック" pitchFamily="34" charset="-128"/>
            </a:endParaRPr>
          </a:p>
        </p:txBody>
      </p:sp>
      <p:sp>
        <p:nvSpPr>
          <p:cNvPr id="5" name="Content Placeholder 1"/>
          <p:cNvSpPr>
            <a:spLocks noGrp="1"/>
          </p:cNvSpPr>
          <p:nvPr>
            <p:ph idx="1"/>
          </p:nvPr>
        </p:nvSpPr>
        <p:spPr>
          <a:xfrm>
            <a:off x="350860" y="1856096"/>
            <a:ext cx="8183540" cy="4553394"/>
          </a:xfrm>
        </p:spPr>
        <p:txBody>
          <a:bodyPr/>
          <a:lstStyle/>
          <a:p>
            <a:pPr marL="342900" indent="-342900"/>
            <a:r>
              <a:rPr lang="en-US" sz="2000" dirty="0" smtClean="0"/>
              <a:t>Frame forwarding refers to the process where a switch transmits a frame from an </a:t>
            </a:r>
            <a:r>
              <a:rPr lang="en-US" sz="2000" u="sng" dirty="0" smtClean="0"/>
              <a:t>ingress</a:t>
            </a:r>
            <a:r>
              <a:rPr lang="en-US" sz="2000" dirty="0" smtClean="0"/>
              <a:t> port (incoming) through an </a:t>
            </a:r>
            <a:r>
              <a:rPr lang="en-US" sz="2000" u="sng" dirty="0" smtClean="0"/>
              <a:t>egress</a:t>
            </a:r>
            <a:r>
              <a:rPr lang="en-US" sz="2000" dirty="0" smtClean="0"/>
              <a:t> port (leaving)</a:t>
            </a:r>
          </a:p>
          <a:p>
            <a:pPr marL="342900" indent="-342900"/>
            <a:r>
              <a:rPr lang="en-US" sz="2000" dirty="0" smtClean="0"/>
              <a:t>A </a:t>
            </a:r>
            <a:r>
              <a:rPr lang="en-US" sz="2000" dirty="0"/>
              <a:t>switch must first learn which </a:t>
            </a:r>
            <a:r>
              <a:rPr lang="en-US" sz="2000" dirty="0" smtClean="0"/>
              <a:t>device exists </a:t>
            </a:r>
            <a:r>
              <a:rPr lang="en-US" sz="2000" dirty="0"/>
              <a:t>on each port </a:t>
            </a:r>
            <a:r>
              <a:rPr lang="en-US" sz="2000" dirty="0" smtClean="0"/>
              <a:t>before it can transmit </a:t>
            </a:r>
            <a:r>
              <a:rPr lang="en-US" sz="2000" dirty="0"/>
              <a:t>a </a:t>
            </a:r>
            <a:r>
              <a:rPr lang="en-US" sz="2000" dirty="0" smtClean="0"/>
              <a:t>frame.</a:t>
            </a:r>
            <a:endParaRPr lang="en-US" sz="2000" dirty="0"/>
          </a:p>
          <a:p>
            <a:pPr marL="342900" indent="-342900"/>
            <a:r>
              <a:rPr lang="en-US" sz="2000" dirty="0"/>
              <a:t>I</a:t>
            </a:r>
            <a:r>
              <a:rPr lang="en-US" sz="2000" dirty="0" smtClean="0"/>
              <a:t>t maintains a </a:t>
            </a:r>
            <a:r>
              <a:rPr lang="en-US" sz="2000" u="sng" dirty="0" smtClean="0"/>
              <a:t>MAC address table</a:t>
            </a:r>
            <a:r>
              <a:rPr lang="en-US" sz="2000" dirty="0" smtClean="0"/>
              <a:t> which maps the MAC address of a connected device to the Port number on the switch:</a:t>
            </a:r>
          </a:p>
          <a:p>
            <a:pPr marL="0" indent="0">
              <a:buNone/>
            </a:pPr>
            <a:endParaRPr lang="en-US" sz="2000" dirty="0"/>
          </a:p>
          <a:p>
            <a:pPr marL="342900" indent="-342900"/>
            <a:endParaRPr lang="en-US" sz="2000" dirty="0" smtClean="0"/>
          </a:p>
          <a:p>
            <a:pPr marL="342900" indent="-342900"/>
            <a:endParaRPr lang="en-US" sz="2000" dirty="0"/>
          </a:p>
          <a:p>
            <a:pPr marL="342900" indent="-342900"/>
            <a:endParaRPr lang="en-US" sz="2000" dirty="0" smtClean="0"/>
          </a:p>
          <a:p>
            <a:pPr marL="342900" indent="-342900"/>
            <a:endParaRPr lang="en-US" sz="1800" b="1" i="1" dirty="0" smtClean="0"/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40" t="61381" r="47148" b="12500"/>
          <a:stretch/>
        </p:blipFill>
        <p:spPr bwMode="auto">
          <a:xfrm>
            <a:off x="982639" y="4599291"/>
            <a:ext cx="3930555" cy="185904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43024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358600" y="707936"/>
            <a:ext cx="8145462" cy="838200"/>
          </a:xfrm>
        </p:spPr>
        <p:txBody>
          <a:bodyPr/>
          <a:lstStyle/>
          <a:p>
            <a:pPr eaLnBrk="1" hangingPunct="1"/>
            <a:r>
              <a:rPr lang="en-US" sz="1800" dirty="0">
                <a:ea typeface="ＭＳ Ｐゴシック" pitchFamily="34" charset="-128"/>
              </a:rPr>
              <a:t>Frame Forwarding</a:t>
            </a:r>
            <a:r>
              <a:rPr lang="en-US" sz="1800" dirty="0" smtClean="0">
                <a:ea typeface="ＭＳ Ｐゴシック" pitchFamily="34" charset="-128"/>
              </a:rPr>
              <a:t/>
            </a:r>
            <a:br>
              <a:rPr lang="en-US" sz="1800" dirty="0" smtClean="0">
                <a:ea typeface="ＭＳ Ｐゴシック" pitchFamily="34" charset="-128"/>
              </a:rPr>
            </a:br>
            <a:r>
              <a:rPr lang="en-US" dirty="0" smtClean="0"/>
              <a:t>Dynamically </a:t>
            </a:r>
            <a:r>
              <a:rPr lang="en-US" dirty="0"/>
              <a:t>Populating a Switch MAC Address </a:t>
            </a:r>
            <a:r>
              <a:rPr lang="en-US" dirty="0" smtClean="0"/>
              <a:t>Table</a:t>
            </a:r>
            <a:endParaRPr lang="en-US" dirty="0" smtClean="0">
              <a:ea typeface="ＭＳ Ｐゴシック" pitchFamily="34" charset="-128"/>
            </a:endParaRPr>
          </a:p>
        </p:txBody>
      </p:sp>
      <p:sp>
        <p:nvSpPr>
          <p:cNvPr id="5" name="Content Placeholder 1"/>
          <p:cNvSpPr>
            <a:spLocks noGrp="1"/>
          </p:cNvSpPr>
          <p:nvPr>
            <p:ph idx="1"/>
          </p:nvPr>
        </p:nvSpPr>
        <p:spPr>
          <a:xfrm>
            <a:off x="350859" y="1760561"/>
            <a:ext cx="8479242" cy="4485156"/>
          </a:xfrm>
        </p:spPr>
        <p:txBody>
          <a:bodyPr/>
          <a:lstStyle/>
          <a:p>
            <a:r>
              <a:rPr lang="en-SG" sz="2000" dirty="0" smtClean="0"/>
              <a:t>When the </a:t>
            </a:r>
            <a:r>
              <a:rPr lang="en-SG" sz="2000" dirty="0"/>
              <a:t>switch </a:t>
            </a:r>
            <a:r>
              <a:rPr lang="en-SG" sz="2000" u="sng" dirty="0"/>
              <a:t>receives</a:t>
            </a:r>
            <a:r>
              <a:rPr lang="en-SG" sz="2000" dirty="0"/>
              <a:t> </a:t>
            </a:r>
            <a:r>
              <a:rPr lang="en-SG" sz="2000" dirty="0" smtClean="0"/>
              <a:t>a frame on a port, it </a:t>
            </a:r>
            <a:r>
              <a:rPr lang="en-SG" sz="2000" dirty="0"/>
              <a:t>examines the </a:t>
            </a:r>
            <a:r>
              <a:rPr lang="en-SG" sz="2000" u="sng" dirty="0"/>
              <a:t>source MAC address</a:t>
            </a:r>
            <a:r>
              <a:rPr lang="en-SG" sz="2000" dirty="0"/>
              <a:t> and compares it to </a:t>
            </a:r>
            <a:r>
              <a:rPr lang="en-SG" sz="2000" dirty="0" smtClean="0"/>
              <a:t>the MAC </a:t>
            </a:r>
            <a:r>
              <a:rPr lang="en-SG" sz="2000" dirty="0"/>
              <a:t>address table.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SG" dirty="0"/>
              <a:t>If the </a:t>
            </a:r>
            <a:r>
              <a:rPr lang="en-SG" dirty="0" smtClean="0"/>
              <a:t>MAC address </a:t>
            </a:r>
            <a:r>
              <a:rPr lang="en-SG" dirty="0"/>
              <a:t>is </a:t>
            </a:r>
            <a:r>
              <a:rPr lang="en-SG" u="sng" dirty="0" smtClean="0"/>
              <a:t>not</a:t>
            </a:r>
            <a:r>
              <a:rPr lang="en-SG" dirty="0" smtClean="0"/>
              <a:t> </a:t>
            </a:r>
            <a:r>
              <a:rPr lang="en-SG" dirty="0"/>
              <a:t>in the </a:t>
            </a:r>
            <a:r>
              <a:rPr lang="en-SG" dirty="0" smtClean="0"/>
              <a:t>table</a:t>
            </a:r>
            <a:r>
              <a:rPr lang="en-SG" dirty="0"/>
              <a:t>, it </a:t>
            </a:r>
            <a:r>
              <a:rPr lang="en-SG" dirty="0" smtClean="0"/>
              <a:t>maps the </a:t>
            </a:r>
            <a:r>
              <a:rPr lang="en-SG" dirty="0"/>
              <a:t>source MAC address </a:t>
            </a:r>
            <a:r>
              <a:rPr lang="en-SG" dirty="0" smtClean="0"/>
              <a:t>to the </a:t>
            </a:r>
            <a:r>
              <a:rPr lang="en-SG" dirty="0"/>
              <a:t>ingress </a:t>
            </a:r>
            <a:r>
              <a:rPr lang="en-SG" dirty="0" smtClean="0"/>
              <a:t>port and adds it to the MAC address table.</a:t>
            </a:r>
            <a:endParaRPr lang="en-SG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SG" dirty="0"/>
              <a:t>If the MAC address table </a:t>
            </a:r>
            <a:r>
              <a:rPr lang="en-SG" u="sng" dirty="0"/>
              <a:t>already has an entry</a:t>
            </a:r>
            <a:r>
              <a:rPr lang="en-SG" dirty="0"/>
              <a:t> for that </a:t>
            </a:r>
            <a:r>
              <a:rPr lang="en-SG" dirty="0" smtClean="0"/>
              <a:t>source MAC, </a:t>
            </a:r>
            <a:r>
              <a:rPr lang="en-SG" dirty="0"/>
              <a:t>it resets the aging </a:t>
            </a:r>
            <a:r>
              <a:rPr lang="en-SG" dirty="0" smtClean="0"/>
              <a:t>timer. </a:t>
            </a:r>
            <a:r>
              <a:rPr lang="en-SG" dirty="0"/>
              <a:t>An entry </a:t>
            </a:r>
            <a:r>
              <a:rPr lang="en-SG" dirty="0" smtClean="0"/>
              <a:t>is </a:t>
            </a:r>
            <a:r>
              <a:rPr lang="en-SG" dirty="0"/>
              <a:t>typically kept for </a:t>
            </a:r>
            <a:r>
              <a:rPr lang="en-SG" dirty="0" smtClean="0"/>
              <a:t>five minutes.</a:t>
            </a:r>
            <a:endParaRPr lang="en-SG" dirty="0"/>
          </a:p>
          <a:p>
            <a:endParaRPr lang="en-SG" sz="1200" dirty="0" smtClean="0"/>
          </a:p>
          <a:p>
            <a:r>
              <a:rPr lang="en-SG" sz="2000" dirty="0" smtClean="0"/>
              <a:t>After </a:t>
            </a:r>
            <a:r>
              <a:rPr lang="en-SG" sz="2000" dirty="0"/>
              <a:t>the switch has recorded the source address information, the switch examines the </a:t>
            </a:r>
            <a:r>
              <a:rPr lang="en-SG" sz="2000" u="sng" dirty="0"/>
              <a:t>destination MAC address</a:t>
            </a:r>
            <a:r>
              <a:rPr lang="en-SG" sz="2000" dirty="0"/>
              <a:t>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SG" dirty="0"/>
              <a:t>If the </a:t>
            </a:r>
            <a:r>
              <a:rPr lang="en-SG" u="sng" dirty="0"/>
              <a:t>destination address is not in the </a:t>
            </a:r>
            <a:r>
              <a:rPr lang="en-SG" u="sng" dirty="0" smtClean="0"/>
              <a:t>table</a:t>
            </a:r>
            <a:r>
              <a:rPr lang="en-SG" dirty="0" smtClean="0"/>
              <a:t> </a:t>
            </a:r>
            <a:r>
              <a:rPr lang="en-SG" dirty="0"/>
              <a:t>or if </a:t>
            </a:r>
            <a:r>
              <a:rPr lang="en-SG" dirty="0" smtClean="0"/>
              <a:t>it</a:t>
            </a:r>
            <a:r>
              <a:rPr lang="en-SG" dirty="0"/>
              <a:t>s</a:t>
            </a:r>
            <a:r>
              <a:rPr lang="en-SG" dirty="0" smtClean="0"/>
              <a:t> </a:t>
            </a:r>
            <a:r>
              <a:rPr lang="en-SG" dirty="0"/>
              <a:t>a broadcast </a:t>
            </a:r>
            <a:r>
              <a:rPr lang="en-SG" dirty="0" smtClean="0"/>
              <a:t>address</a:t>
            </a:r>
            <a:r>
              <a:rPr lang="en-SG" dirty="0"/>
              <a:t>, </a:t>
            </a:r>
            <a:r>
              <a:rPr lang="en-SG" dirty="0" smtClean="0"/>
              <a:t>(as </a:t>
            </a:r>
            <a:r>
              <a:rPr lang="en-SG" dirty="0"/>
              <a:t>indicated by </a:t>
            </a:r>
            <a:r>
              <a:rPr lang="en-SG" dirty="0" smtClean="0"/>
              <a:t>all “F”), </a:t>
            </a:r>
            <a:r>
              <a:rPr lang="en-SG" dirty="0"/>
              <a:t>the switch floods the frame to all </a:t>
            </a:r>
            <a:r>
              <a:rPr lang="en-SG" u="sng" dirty="0" smtClean="0"/>
              <a:t>other</a:t>
            </a:r>
            <a:r>
              <a:rPr lang="en-SG" dirty="0" smtClean="0"/>
              <a:t> ports.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SG" dirty="0" smtClean="0"/>
              <a:t>If the destination address is in the table, it forwards the frame through the mapped port for that address.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292591" y="1097415"/>
            <a:ext cx="3659976" cy="5909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SG" sz="1800" b="1" i="1" dirty="0" smtClean="0">
                <a:solidFill>
                  <a:srgbClr val="FF0000"/>
                </a:solidFill>
              </a:rPr>
              <a:t>Switches learn MAC addresses </a:t>
            </a:r>
          </a:p>
          <a:p>
            <a:pPr algn="l"/>
            <a:r>
              <a:rPr lang="en-SG" sz="1800" b="1" i="1" dirty="0" smtClean="0">
                <a:solidFill>
                  <a:srgbClr val="FF0000"/>
                </a:solidFill>
              </a:rPr>
              <a:t>from incoming frames</a:t>
            </a:r>
            <a:endParaRPr lang="en-SG" sz="1800" b="1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8446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358600" y="707936"/>
            <a:ext cx="8145462" cy="838200"/>
          </a:xfrm>
        </p:spPr>
        <p:txBody>
          <a:bodyPr/>
          <a:lstStyle/>
          <a:p>
            <a:pPr eaLnBrk="1" hangingPunct="1"/>
            <a:r>
              <a:rPr lang="en-US" sz="1800" dirty="0">
                <a:ea typeface="ＭＳ Ｐゴシック" pitchFamily="34" charset="-128"/>
              </a:rPr>
              <a:t>Frame Forwarding</a:t>
            </a:r>
            <a:r>
              <a:rPr lang="en-US" sz="1800" dirty="0" smtClean="0">
                <a:ea typeface="ＭＳ Ｐゴシック" pitchFamily="34" charset="-128"/>
              </a:rPr>
              <a:t/>
            </a:r>
            <a:br>
              <a:rPr lang="en-US" sz="1800" dirty="0" smtClean="0">
                <a:ea typeface="ＭＳ Ｐゴシック" pitchFamily="34" charset="-128"/>
              </a:rPr>
            </a:br>
            <a:r>
              <a:rPr lang="en-US" dirty="0" smtClean="0"/>
              <a:t>Dynamically </a:t>
            </a:r>
            <a:r>
              <a:rPr lang="en-US" dirty="0"/>
              <a:t>Populating a Switch MAC Address </a:t>
            </a:r>
            <a:r>
              <a:rPr lang="en-US" dirty="0" smtClean="0"/>
              <a:t>Table</a:t>
            </a:r>
            <a:endParaRPr lang="en-US" dirty="0" smtClean="0">
              <a:ea typeface="ＭＳ Ｐゴシック" pitchFamily="34" charset="-128"/>
            </a:endParaRPr>
          </a:p>
        </p:txBody>
      </p:sp>
      <p:sp>
        <p:nvSpPr>
          <p:cNvPr id="5" name="Content Placeholder 1"/>
          <p:cNvSpPr>
            <a:spLocks noGrp="1"/>
          </p:cNvSpPr>
          <p:nvPr>
            <p:ph idx="1"/>
          </p:nvPr>
        </p:nvSpPr>
        <p:spPr>
          <a:xfrm>
            <a:off x="350859" y="1924334"/>
            <a:ext cx="8479242" cy="4485156"/>
          </a:xfrm>
        </p:spPr>
        <p:txBody>
          <a:bodyPr/>
          <a:lstStyle/>
          <a:p>
            <a:pPr marL="342900" indent="-342900"/>
            <a:endParaRPr lang="en-US" sz="1800" b="1" i="1" dirty="0" smtClean="0"/>
          </a:p>
          <a:p>
            <a:pPr marL="342900" indent="-342900"/>
            <a:endParaRPr lang="en-US" sz="1800" b="1" i="1" dirty="0"/>
          </a:p>
          <a:p>
            <a:pPr marL="342900" indent="-342900"/>
            <a:endParaRPr lang="en-US" sz="1800" b="1" i="1" dirty="0" smtClean="0"/>
          </a:p>
          <a:p>
            <a:pPr marL="342900" indent="-342900"/>
            <a:endParaRPr lang="en-US" sz="1800" b="1" i="1" dirty="0"/>
          </a:p>
          <a:p>
            <a:pPr marL="342900" indent="-342900"/>
            <a:endParaRPr lang="en-US" sz="1800" b="1" i="1" dirty="0" smtClean="0"/>
          </a:p>
          <a:p>
            <a:pPr marL="342900" indent="-342900"/>
            <a:endParaRPr lang="en-US" sz="1800" b="1" i="1" dirty="0" smtClean="0"/>
          </a:p>
          <a:p>
            <a:pPr marL="342900" indent="-342900"/>
            <a:endParaRPr lang="en-US" sz="1800" b="1" i="1" dirty="0"/>
          </a:p>
          <a:p>
            <a:pPr marL="342900" indent="-342900"/>
            <a:endParaRPr lang="en-US" sz="1800" b="1" i="1" dirty="0" smtClean="0"/>
          </a:p>
          <a:p>
            <a:pPr marL="342900" indent="-342900"/>
            <a:endParaRPr lang="en-US" sz="1800" b="1" i="1" dirty="0"/>
          </a:p>
          <a:p>
            <a:pPr marL="342900" indent="-342900"/>
            <a:endParaRPr lang="en-US" sz="1800" b="1" i="1" dirty="0" smtClean="0"/>
          </a:p>
          <a:p>
            <a:pPr marL="342900" indent="-342900"/>
            <a:endParaRPr lang="en-US" sz="1800" b="1" i="1" dirty="0"/>
          </a:p>
          <a:p>
            <a:pPr marL="0" indent="0">
              <a:buNone/>
            </a:pPr>
            <a:r>
              <a:rPr lang="en-US" sz="1800" b="1" i="1" dirty="0"/>
              <a:t>See </a:t>
            </a:r>
            <a:r>
              <a:rPr lang="en-US" sz="1800" b="1" i="1" dirty="0" err="1"/>
              <a:t>NetAcad</a:t>
            </a:r>
            <a:r>
              <a:rPr lang="en-US" sz="1800" b="1" i="1" dirty="0"/>
              <a:t> 1.2.1.2 </a:t>
            </a:r>
            <a:r>
              <a:rPr lang="en-US" sz="1800" b="1" i="1" dirty="0" smtClean="0"/>
              <a:t>for above illustration</a:t>
            </a:r>
            <a:endParaRPr lang="en-US" sz="2000" b="1" i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SG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910" t="29990" r="19135" b="19362"/>
          <a:stretch/>
        </p:blipFill>
        <p:spPr bwMode="auto">
          <a:xfrm>
            <a:off x="257269" y="1923340"/>
            <a:ext cx="2513228" cy="175637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120" t="33131" r="19104" b="20552"/>
          <a:stretch/>
        </p:blipFill>
        <p:spPr bwMode="auto">
          <a:xfrm>
            <a:off x="3043452" y="1923340"/>
            <a:ext cx="2756848" cy="176998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582" t="32798" r="19105" b="21384"/>
          <a:stretch/>
        </p:blipFill>
        <p:spPr bwMode="auto">
          <a:xfrm>
            <a:off x="6073254" y="1923340"/>
            <a:ext cx="2825540" cy="176998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8197" name="Picture 5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582" t="32631" r="18836" b="20885"/>
          <a:stretch/>
        </p:blipFill>
        <p:spPr bwMode="auto">
          <a:xfrm>
            <a:off x="6073254" y="4251217"/>
            <a:ext cx="2825540" cy="178354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8198" name="Picture 6"/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388" t="33630" r="18836" b="20552"/>
          <a:stretch/>
        </p:blipFill>
        <p:spPr bwMode="auto">
          <a:xfrm>
            <a:off x="3043452" y="4251218"/>
            <a:ext cx="2756848" cy="175088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8199" name="Picture 7"/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761" t="33298" r="18925" b="20719"/>
          <a:stretch/>
        </p:blipFill>
        <p:spPr bwMode="auto">
          <a:xfrm>
            <a:off x="257270" y="4251218"/>
            <a:ext cx="2513228" cy="175088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cxnSp>
        <p:nvCxnSpPr>
          <p:cNvPr id="6" name="Straight Arrow Connector 5"/>
          <p:cNvCxnSpPr/>
          <p:nvPr/>
        </p:nvCxnSpPr>
        <p:spPr bwMode="auto">
          <a:xfrm>
            <a:off x="2497540" y="1665027"/>
            <a:ext cx="3930556" cy="13648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8" name="Straight Arrow Connector 7"/>
          <p:cNvCxnSpPr/>
          <p:nvPr/>
        </p:nvCxnSpPr>
        <p:spPr bwMode="auto">
          <a:xfrm>
            <a:off x="7486024" y="3821373"/>
            <a:ext cx="0" cy="24566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7" name="Straight Arrow Connector 16"/>
          <p:cNvCxnSpPr/>
          <p:nvPr/>
        </p:nvCxnSpPr>
        <p:spPr bwMode="auto">
          <a:xfrm flipH="1">
            <a:off x="2593075" y="4067033"/>
            <a:ext cx="4026089" cy="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  <p:extLst>
      <p:ext uri="{BB962C8B-B14F-4D97-AF65-F5344CB8AC3E}">
        <p14:creationId xmlns:p14="http://schemas.microsoft.com/office/powerpoint/2010/main" val="2953690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289152" y="522741"/>
            <a:ext cx="8145462" cy="838200"/>
          </a:xfrm>
        </p:spPr>
        <p:txBody>
          <a:bodyPr/>
          <a:lstStyle/>
          <a:p>
            <a:pPr eaLnBrk="1" hangingPunct="1"/>
            <a:r>
              <a:rPr lang="en-US" sz="1800" dirty="0">
                <a:ea typeface="ＭＳ Ｐゴシック" pitchFamily="34" charset="-128"/>
              </a:rPr>
              <a:t>Frame Forwarding</a:t>
            </a:r>
            <a:r>
              <a:rPr lang="en-US" sz="1800" dirty="0" smtClean="0">
                <a:ea typeface="ＭＳ Ｐゴシック" pitchFamily="34" charset="-128"/>
              </a:rPr>
              <a:t/>
            </a:r>
            <a:br>
              <a:rPr lang="en-US" sz="1800" dirty="0" smtClean="0">
                <a:ea typeface="ＭＳ Ｐゴシック" pitchFamily="34" charset="-128"/>
              </a:rPr>
            </a:br>
            <a:r>
              <a:rPr lang="en-US" dirty="0" smtClean="0"/>
              <a:t>Switch </a:t>
            </a:r>
            <a:r>
              <a:rPr lang="en-US" dirty="0"/>
              <a:t>Forwarding </a:t>
            </a:r>
            <a:r>
              <a:rPr lang="en-US" dirty="0" smtClean="0"/>
              <a:t>Methods</a:t>
            </a:r>
            <a:endParaRPr lang="en-US" dirty="0" smtClean="0">
              <a:ea typeface="ＭＳ Ｐゴシック" pitchFamily="34" charset="-128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72955" y="1351127"/>
            <a:ext cx="8529851" cy="1089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SG" dirty="0" smtClean="0"/>
              <a:t>Switches generally use 2 types of forwarding methods:-</a:t>
            </a:r>
          </a:p>
          <a:p>
            <a:pPr algn="l"/>
            <a:endParaRPr lang="en-SG" dirty="0" smtClean="0"/>
          </a:p>
          <a:p>
            <a:pPr marL="914400" lvl="1" indent="-457200" algn="l">
              <a:buFont typeface="+mj-lt"/>
              <a:buAutoNum type="alphaLcParenR"/>
            </a:pPr>
            <a:endParaRPr lang="en-SG" dirty="0" smtClean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9450" y="1895891"/>
            <a:ext cx="3016154" cy="2017646"/>
          </a:xfrm>
          <a:prstGeom prst="rect">
            <a:avLst/>
          </a:prstGeom>
          <a:ln>
            <a:noFill/>
          </a:ln>
        </p:spPr>
      </p:pic>
      <p:sp>
        <p:nvSpPr>
          <p:cNvPr id="5" name="Rectangle 4"/>
          <p:cNvSpPr/>
          <p:nvPr/>
        </p:nvSpPr>
        <p:spPr>
          <a:xfrm>
            <a:off x="470848" y="1917692"/>
            <a:ext cx="4428698" cy="20867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l">
              <a:buFont typeface="+mj-lt"/>
              <a:buAutoNum type="arabicPeriod"/>
            </a:pPr>
            <a:r>
              <a:rPr lang="en-SG" dirty="0"/>
              <a:t>Store-and-Forward</a:t>
            </a: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n-SG" sz="2000" dirty="0"/>
              <a:t>Receives the entire frame</a:t>
            </a: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n-SG" sz="2000" dirty="0"/>
              <a:t>Computes and compare the </a:t>
            </a:r>
            <a:r>
              <a:rPr lang="en-SG" sz="2000" dirty="0" smtClean="0"/>
              <a:t>Frame Check Sequence (FCS) for </a:t>
            </a:r>
            <a:r>
              <a:rPr lang="en-SG" sz="2000" dirty="0"/>
              <a:t>error</a:t>
            </a: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n-SG" sz="2000" dirty="0"/>
              <a:t>Drop if frame is damaged otherwise forward it out</a:t>
            </a:r>
          </a:p>
        </p:txBody>
      </p:sp>
      <p:sp>
        <p:nvSpPr>
          <p:cNvPr id="7" name="Rectangle 6"/>
          <p:cNvSpPr/>
          <p:nvPr/>
        </p:nvSpPr>
        <p:spPr>
          <a:xfrm>
            <a:off x="4230806" y="4503760"/>
            <a:ext cx="4572000" cy="1809726"/>
          </a:xfrm>
          <a:prstGeom prst="rect">
            <a:avLst/>
          </a:prstGeom>
        </p:spPr>
        <p:txBody>
          <a:bodyPr>
            <a:spAutoFit/>
          </a:bodyPr>
          <a:lstStyle/>
          <a:p>
            <a:pPr marL="457200" indent="-457200" algn="l">
              <a:buFont typeface="+mj-lt"/>
              <a:buAutoNum type="arabicPeriod" startAt="2"/>
            </a:pPr>
            <a:r>
              <a:rPr lang="en-SG" dirty="0"/>
              <a:t>Cut-Through</a:t>
            </a: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n-SG" sz="2000" dirty="0"/>
              <a:t>Forwards the frame before it is entirely received</a:t>
            </a: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n-SG" sz="2000" dirty="0"/>
              <a:t>Minimally the destination address is read before forwarding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851" y="4503760"/>
            <a:ext cx="3159617" cy="207267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 bwMode="auto">
          <a:xfrm>
            <a:off x="150125" y="1773058"/>
            <a:ext cx="8748216" cy="2430451"/>
          </a:xfrm>
          <a:prstGeom prst="round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2124" tIns="41061" rIns="82124" bIns="41061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814388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2" name="Rounded Rectangle 11"/>
          <p:cNvSpPr/>
          <p:nvPr/>
        </p:nvSpPr>
        <p:spPr bwMode="auto">
          <a:xfrm>
            <a:off x="166045" y="4327506"/>
            <a:ext cx="8748216" cy="2430451"/>
          </a:xfrm>
          <a:prstGeom prst="round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2124" tIns="41061" rIns="82124" bIns="41061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814388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41875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289152" y="522741"/>
            <a:ext cx="8145462" cy="838200"/>
          </a:xfrm>
        </p:spPr>
        <p:txBody>
          <a:bodyPr/>
          <a:lstStyle/>
          <a:p>
            <a:pPr eaLnBrk="1" hangingPunct="1"/>
            <a:r>
              <a:rPr lang="en-US" sz="1800" dirty="0">
                <a:ea typeface="ＭＳ Ｐゴシック" pitchFamily="34" charset="-128"/>
              </a:rPr>
              <a:t>Frame Forwarding</a:t>
            </a:r>
            <a:r>
              <a:rPr lang="en-US" sz="1800" dirty="0" smtClean="0">
                <a:ea typeface="ＭＳ Ｐゴシック" pitchFamily="34" charset="-128"/>
              </a:rPr>
              <a:t/>
            </a:r>
            <a:br>
              <a:rPr lang="en-US" sz="1800" dirty="0" smtClean="0">
                <a:ea typeface="ＭＳ Ｐゴシック" pitchFamily="34" charset="-128"/>
              </a:rPr>
            </a:br>
            <a:r>
              <a:rPr lang="en-US" dirty="0"/>
              <a:t>Switch Forwarding Methods</a:t>
            </a:r>
            <a:endParaRPr lang="en-US" dirty="0" smtClean="0">
              <a:ea typeface="ＭＳ Ｐゴシック" pitchFamily="34" charset="-128"/>
            </a:endParaRPr>
          </a:p>
        </p:txBody>
      </p:sp>
      <p:sp>
        <p:nvSpPr>
          <p:cNvPr id="5" name="Content Placeholder 1"/>
          <p:cNvSpPr>
            <a:spLocks noGrp="1"/>
          </p:cNvSpPr>
          <p:nvPr>
            <p:ph idx="1"/>
          </p:nvPr>
        </p:nvSpPr>
        <p:spPr>
          <a:xfrm>
            <a:off x="350859" y="1417691"/>
            <a:ext cx="8370059" cy="5069583"/>
          </a:xfrm>
        </p:spPr>
        <p:txBody>
          <a:bodyPr/>
          <a:lstStyle/>
          <a:p>
            <a:pPr marL="342900" indent="-342900"/>
            <a:r>
              <a:rPr lang="en-US" dirty="0" smtClean="0"/>
              <a:t>Store-and-Forward method</a:t>
            </a:r>
          </a:p>
          <a:p>
            <a:pPr marL="1020762" lvl="2" indent="-342900">
              <a:buFont typeface="Wingdings" pitchFamily="2" charset="2"/>
              <a:buChar char="§"/>
            </a:pPr>
            <a:r>
              <a:rPr lang="en-US" sz="2400" dirty="0" smtClean="0"/>
              <a:t>Check </a:t>
            </a:r>
            <a:r>
              <a:rPr lang="en-US" sz="2400" dirty="0"/>
              <a:t>for errors (via FCS check)</a:t>
            </a:r>
          </a:p>
          <a:p>
            <a:pPr marL="1020762" lvl="2" indent="-342900">
              <a:buFont typeface="Wingdings" pitchFamily="2" charset="2"/>
              <a:buChar char="§"/>
            </a:pPr>
            <a:r>
              <a:rPr lang="en-US" sz="2400" dirty="0"/>
              <a:t>Perform </a:t>
            </a:r>
            <a:r>
              <a:rPr lang="en-US" sz="2400" dirty="0" smtClean="0"/>
              <a:t>automatic buffering</a:t>
            </a:r>
          </a:p>
          <a:p>
            <a:pPr marL="1020762" lvl="2" indent="-342900">
              <a:buFont typeface="Wingdings" pitchFamily="2" charset="2"/>
              <a:buChar char="§"/>
            </a:pPr>
            <a:r>
              <a:rPr lang="en-US" sz="2400" dirty="0" smtClean="0"/>
              <a:t>But slower</a:t>
            </a:r>
            <a:endParaRPr lang="en-US" sz="2400" dirty="0"/>
          </a:p>
          <a:p>
            <a:pPr marL="342900" indent="-342900"/>
            <a:endParaRPr lang="en-US" dirty="0" smtClean="0"/>
          </a:p>
          <a:p>
            <a:pPr marL="342900" indent="-342900"/>
            <a:r>
              <a:rPr lang="en-US" dirty="0" smtClean="0"/>
              <a:t>Cut-Through forwarding method</a:t>
            </a:r>
          </a:p>
          <a:p>
            <a:pPr marL="1020762" lvl="2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Very fast. Allows the switch to start forwarding in about 10 microseconds</a:t>
            </a:r>
          </a:p>
          <a:p>
            <a:pPr marL="1020762" lvl="2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But no </a:t>
            </a:r>
            <a:r>
              <a:rPr lang="en-US" sz="2400" dirty="0"/>
              <a:t>FCS </a:t>
            </a:r>
            <a:r>
              <a:rPr lang="en-US" sz="2400" dirty="0" smtClean="0"/>
              <a:t>check and no </a:t>
            </a:r>
            <a:r>
              <a:rPr lang="en-US" sz="2400" dirty="0"/>
              <a:t>automatic </a:t>
            </a:r>
            <a:r>
              <a:rPr lang="en-US" sz="2400" dirty="0" smtClean="0"/>
              <a:t>buffering</a:t>
            </a:r>
          </a:p>
          <a:p>
            <a:pPr marL="338137" lvl="1"/>
            <a:endParaRPr lang="en-US" b="1" i="1" dirty="0" smtClean="0"/>
          </a:p>
          <a:p>
            <a:pPr marL="338137" lvl="1"/>
            <a:endParaRPr lang="en-US" b="1" i="1" dirty="0"/>
          </a:p>
          <a:p>
            <a:pPr marL="338137" lvl="1"/>
            <a:endParaRPr lang="en-US" b="1" i="1" dirty="0" smtClean="0"/>
          </a:p>
          <a:p>
            <a:pPr marL="338137" lvl="1"/>
            <a:r>
              <a:rPr lang="en-US" sz="1800" b="1" i="1" dirty="0" smtClean="0"/>
              <a:t>See </a:t>
            </a:r>
            <a:r>
              <a:rPr lang="en-US" sz="1800" b="1" i="1" dirty="0" err="1"/>
              <a:t>NetAcad</a:t>
            </a:r>
            <a:r>
              <a:rPr lang="en-US" sz="1800" b="1" i="1" dirty="0"/>
              <a:t> </a:t>
            </a:r>
            <a:r>
              <a:rPr lang="en-US" sz="1800" b="1" i="1" dirty="0" smtClean="0"/>
              <a:t>1.2.1.6 </a:t>
            </a:r>
            <a:r>
              <a:rPr lang="en-US" sz="1800" b="1" i="1" dirty="0"/>
              <a:t>for </a:t>
            </a:r>
            <a:r>
              <a:rPr lang="en-US" sz="1800" b="1" i="1" dirty="0" smtClean="0"/>
              <a:t>activity learning</a:t>
            </a:r>
            <a:endParaRPr lang="en-US" b="1" i="1" dirty="0"/>
          </a:p>
          <a:p>
            <a:pPr marL="338137" lvl="1"/>
            <a:endParaRPr lang="en-US" dirty="0"/>
          </a:p>
          <a:p>
            <a:pPr marL="1020762" lvl="2" indent="-342900">
              <a:buFont typeface="Wingdings" pitchFamily="2" charset="2"/>
              <a:buChar char="§"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4265013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289152" y="522741"/>
            <a:ext cx="8145462" cy="838200"/>
          </a:xfrm>
        </p:spPr>
        <p:txBody>
          <a:bodyPr/>
          <a:lstStyle/>
          <a:p>
            <a:pPr eaLnBrk="1" hangingPunct="1"/>
            <a:r>
              <a:rPr lang="en-US" sz="1800" dirty="0" smtClean="0">
                <a:ea typeface="ＭＳ Ｐゴシック" pitchFamily="34" charset="-128"/>
              </a:rPr>
              <a:t>Switching Domains</a:t>
            </a:r>
            <a:br>
              <a:rPr lang="en-US" sz="1800" dirty="0" smtClean="0">
                <a:ea typeface="ＭＳ Ｐゴシック" pitchFamily="34" charset="-128"/>
              </a:rPr>
            </a:br>
            <a:r>
              <a:rPr lang="en-US" dirty="0" smtClean="0"/>
              <a:t>Collision Domains</a:t>
            </a:r>
            <a:endParaRPr lang="en-US" dirty="0" smtClean="0">
              <a:ea typeface="ＭＳ Ｐゴシック" pitchFamily="34" charset="-128"/>
            </a:endParaRPr>
          </a:p>
        </p:txBody>
      </p:sp>
      <p:sp>
        <p:nvSpPr>
          <p:cNvPr id="5" name="Content Placeholder 1"/>
          <p:cNvSpPr>
            <a:spLocks noGrp="1"/>
          </p:cNvSpPr>
          <p:nvPr>
            <p:ph idx="1"/>
          </p:nvPr>
        </p:nvSpPr>
        <p:spPr>
          <a:xfrm>
            <a:off x="0" y="3182112"/>
            <a:ext cx="5246623" cy="3675888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With the switch</a:t>
            </a:r>
            <a:r>
              <a:rPr lang="en-US" dirty="0"/>
              <a:t>, each port </a:t>
            </a:r>
            <a:r>
              <a:rPr lang="en-US" dirty="0" smtClean="0"/>
              <a:t>is a collision domain.</a:t>
            </a:r>
          </a:p>
          <a:p>
            <a:pPr marL="342900" indent="-342900"/>
            <a:r>
              <a:rPr lang="en-US" dirty="0"/>
              <a:t>A switch </a:t>
            </a:r>
            <a:r>
              <a:rPr lang="en-US" dirty="0" smtClean="0"/>
              <a:t>breaks a network into many smaller </a:t>
            </a:r>
            <a:r>
              <a:rPr lang="en-US" dirty="0"/>
              <a:t>collision </a:t>
            </a:r>
            <a:r>
              <a:rPr lang="en-US" dirty="0" smtClean="0"/>
              <a:t>domains</a:t>
            </a:r>
          </a:p>
          <a:p>
            <a:pPr marL="342900" indent="-342900"/>
            <a:r>
              <a:rPr lang="en-US" dirty="0" smtClean="0"/>
              <a:t>More bandwidth for devices</a:t>
            </a:r>
          </a:p>
          <a:p>
            <a:pPr marL="342900" indent="-342900"/>
            <a:r>
              <a:rPr lang="en-US" dirty="0" smtClean="0"/>
              <a:t>Collisions in 1 segment do not affect the other segments</a:t>
            </a:r>
          </a:p>
          <a:p>
            <a:pPr marL="342900" indent="-342900"/>
            <a:r>
              <a:rPr lang="en-US" dirty="0" smtClean="0"/>
              <a:t>“</a:t>
            </a:r>
            <a:r>
              <a:rPr lang="en-US" dirty="0" err="1" smtClean="0"/>
              <a:t>microsegmentation</a:t>
            </a:r>
            <a:r>
              <a:rPr lang="en-US" dirty="0" smtClean="0"/>
              <a:t>”</a:t>
            </a:r>
            <a:endParaRPr lang="en-US" dirty="0"/>
          </a:p>
          <a:p>
            <a:pPr marL="342900" indent="-342900"/>
            <a:endParaRPr lang="en-US" dirty="0" smtClean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881" t="38487" r="17075" b="33689"/>
          <a:stretch/>
        </p:blipFill>
        <p:spPr bwMode="auto">
          <a:xfrm>
            <a:off x="5117964" y="2120912"/>
            <a:ext cx="3692661" cy="141439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grpSp>
        <p:nvGrpSpPr>
          <p:cNvPr id="4" name="Group 3"/>
          <p:cNvGrpSpPr/>
          <p:nvPr/>
        </p:nvGrpSpPr>
        <p:grpSpPr>
          <a:xfrm>
            <a:off x="56465" y="1394363"/>
            <a:ext cx="4915141" cy="1754326"/>
            <a:chOff x="389956" y="4857607"/>
            <a:chExt cx="4915141" cy="1754326"/>
          </a:xfrm>
        </p:grpSpPr>
        <p:pic>
          <p:nvPicPr>
            <p:cNvPr id="9219" name="Picture 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9956" y="4897696"/>
              <a:ext cx="790575" cy="819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" name="Rectangle 1"/>
            <p:cNvSpPr/>
            <p:nvPr/>
          </p:nvSpPr>
          <p:spPr>
            <a:xfrm>
              <a:off x="1180533" y="4857607"/>
              <a:ext cx="4124564" cy="175432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indent="0" algn="l">
                <a:buNone/>
              </a:pPr>
              <a:r>
                <a:rPr lang="en-US" dirty="0"/>
                <a:t>Before the modern switch, a hub was used to connect end-devices together. </a:t>
              </a:r>
              <a:r>
                <a:rPr lang="en-US" u="sng" dirty="0"/>
                <a:t>All ports of a hub</a:t>
              </a:r>
              <a:r>
                <a:rPr lang="en-US" dirty="0"/>
                <a:t> belong to </a:t>
              </a:r>
              <a:r>
                <a:rPr lang="en-US" dirty="0" smtClean="0"/>
                <a:t>1 </a:t>
              </a:r>
              <a:r>
                <a:rPr lang="en-US" dirty="0"/>
                <a:t>collision domain.</a:t>
              </a:r>
            </a:p>
          </p:txBody>
        </p:sp>
      </p:grpSp>
      <p:sp>
        <p:nvSpPr>
          <p:cNvPr id="3" name="Rectangle 2"/>
          <p:cNvSpPr/>
          <p:nvPr/>
        </p:nvSpPr>
        <p:spPr>
          <a:xfrm>
            <a:off x="4238625" y="462679"/>
            <a:ext cx="4572000" cy="108952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 marL="0" indent="0">
              <a:buNone/>
            </a:pPr>
            <a:r>
              <a:rPr lang="en-US" dirty="0"/>
              <a:t>A collision domain is the network segment where devices must compete to communicate.</a:t>
            </a:r>
          </a:p>
        </p:txBody>
      </p:sp>
      <p:pic>
        <p:nvPicPr>
          <p:cNvPr id="9220" name="Picture 4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090" t="34178" r="16776" b="20718"/>
          <a:stretch/>
        </p:blipFill>
        <p:spPr bwMode="auto">
          <a:xfrm>
            <a:off x="5246622" y="4229750"/>
            <a:ext cx="3548637" cy="219834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9221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1481" y="3625172"/>
            <a:ext cx="1000125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5696713" y="3625172"/>
            <a:ext cx="2648454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800" i="1" u="sng" dirty="0" smtClean="0"/>
              <a:t>How many collision domains are there?</a:t>
            </a:r>
            <a:endParaRPr lang="en-SG" sz="1800" i="1" u="sng" dirty="0"/>
          </a:p>
        </p:txBody>
      </p:sp>
    </p:spTree>
    <p:extLst>
      <p:ext uri="{BB962C8B-B14F-4D97-AF65-F5344CB8AC3E}">
        <p14:creationId xmlns:p14="http://schemas.microsoft.com/office/powerpoint/2010/main" val="2702474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 smtClean="0"/>
              <a:t>Collision Domains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https://www.youtube.com/watch?v=_c1gqcr6Lcs</a:t>
            </a:r>
          </a:p>
        </p:txBody>
      </p:sp>
    </p:spTree>
    <p:extLst>
      <p:ext uri="{BB962C8B-B14F-4D97-AF65-F5344CB8AC3E}">
        <p14:creationId xmlns:p14="http://schemas.microsoft.com/office/powerpoint/2010/main" val="300133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289152" y="522741"/>
            <a:ext cx="8145462" cy="838200"/>
          </a:xfrm>
        </p:spPr>
        <p:txBody>
          <a:bodyPr/>
          <a:lstStyle/>
          <a:p>
            <a:pPr eaLnBrk="1" hangingPunct="1"/>
            <a:r>
              <a:rPr lang="en-US" sz="1800" dirty="0" smtClean="0">
                <a:ea typeface="ＭＳ Ｐゴシック" pitchFamily="34" charset="-128"/>
              </a:rPr>
              <a:t>Switching Domains</a:t>
            </a:r>
            <a:br>
              <a:rPr lang="en-US" sz="1800" dirty="0" smtClean="0">
                <a:ea typeface="ＭＳ Ｐゴシック" pitchFamily="34" charset="-128"/>
              </a:rPr>
            </a:br>
            <a:r>
              <a:rPr lang="en-US" dirty="0" smtClean="0"/>
              <a:t>Broadcast Domains</a:t>
            </a:r>
            <a:endParaRPr lang="en-US" dirty="0" smtClean="0">
              <a:ea typeface="ＭＳ Ｐゴシック" pitchFamily="34" charset="-128"/>
            </a:endParaRPr>
          </a:p>
        </p:txBody>
      </p:sp>
      <p:sp>
        <p:nvSpPr>
          <p:cNvPr id="5" name="Content Placeholder 1"/>
          <p:cNvSpPr>
            <a:spLocks noGrp="1"/>
          </p:cNvSpPr>
          <p:nvPr>
            <p:ph idx="1"/>
          </p:nvPr>
        </p:nvSpPr>
        <p:spPr>
          <a:xfrm>
            <a:off x="350860" y="2074460"/>
            <a:ext cx="8183540" cy="4335030"/>
          </a:xfrm>
        </p:spPr>
        <p:txBody>
          <a:bodyPr/>
          <a:lstStyle/>
          <a:p>
            <a:pPr marL="342900" indent="-342900"/>
            <a:r>
              <a:rPr lang="en-US" sz="2000" dirty="0" smtClean="0"/>
              <a:t>A frame with destination MAC address of all “F” is a </a:t>
            </a:r>
            <a:r>
              <a:rPr lang="en-US" sz="2000" smtClean="0"/>
              <a:t>broadcast frame (FFFF.FFFF.FFFF)</a:t>
            </a:r>
            <a:endParaRPr lang="en-US" sz="2000" dirty="0" smtClean="0"/>
          </a:p>
          <a:p>
            <a:pPr marL="342900" indent="-342900"/>
            <a:r>
              <a:rPr lang="en-US" sz="2000" dirty="0" smtClean="0"/>
              <a:t>A switch forwards </a:t>
            </a:r>
            <a:r>
              <a:rPr lang="en-US" sz="2000" dirty="0"/>
              <a:t>broadcast frames to all </a:t>
            </a:r>
            <a:r>
              <a:rPr lang="en-US" sz="2000" dirty="0" smtClean="0"/>
              <a:t>ports except  the port where the broadcast frame came from.</a:t>
            </a:r>
          </a:p>
          <a:p>
            <a:pPr marL="342900" indent="-342900"/>
            <a:r>
              <a:rPr lang="en-US" sz="2000" dirty="0" smtClean="0"/>
              <a:t>All ports of a switch (by default configuration), belong to the same broadcast domain.</a:t>
            </a:r>
          </a:p>
          <a:p>
            <a:pPr marL="342900" indent="-342900"/>
            <a:endParaRPr lang="en-US" dirty="0" smtClean="0"/>
          </a:p>
        </p:txBody>
      </p:sp>
      <p:sp>
        <p:nvSpPr>
          <p:cNvPr id="2" name="Rectangle 1"/>
          <p:cNvSpPr/>
          <p:nvPr/>
        </p:nvSpPr>
        <p:spPr>
          <a:xfrm>
            <a:off x="4305868" y="700594"/>
            <a:ext cx="4572000" cy="108952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 marL="0" indent="0">
              <a:buNone/>
            </a:pPr>
            <a:r>
              <a:rPr lang="en-US" dirty="0"/>
              <a:t>A broadcast domain is the extend of the network where a broadcast frame can be heard.</a:t>
            </a: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254" t="28324" r="37313" b="45352"/>
          <a:stretch/>
        </p:blipFill>
        <p:spPr bwMode="auto">
          <a:xfrm>
            <a:off x="5377219" y="4083953"/>
            <a:ext cx="3500650" cy="2548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" name="Straight Arrow Connector 3"/>
          <p:cNvCxnSpPr/>
          <p:nvPr/>
        </p:nvCxnSpPr>
        <p:spPr bwMode="auto">
          <a:xfrm>
            <a:off x="7438028" y="4400020"/>
            <a:ext cx="0" cy="47767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7438028" y="4342160"/>
            <a:ext cx="1508454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dirty="0" smtClean="0"/>
              <a:t>Broadcast frame sent</a:t>
            </a:r>
            <a:endParaRPr lang="en-SG" sz="1600" dirty="0"/>
          </a:p>
        </p:txBody>
      </p:sp>
    </p:spTree>
    <p:extLst>
      <p:ext uri="{BB962C8B-B14F-4D97-AF65-F5344CB8AC3E}">
        <p14:creationId xmlns:p14="http://schemas.microsoft.com/office/powerpoint/2010/main" val="1516970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 smtClean="0"/>
              <a:t>Broadcast Domains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https://www.youtube.com/watch?v=s3pq0bdZMz8</a:t>
            </a:r>
          </a:p>
        </p:txBody>
      </p:sp>
    </p:spTree>
    <p:extLst>
      <p:ext uri="{BB962C8B-B14F-4D97-AF65-F5344CB8AC3E}">
        <p14:creationId xmlns:p14="http://schemas.microsoft.com/office/powerpoint/2010/main" val="2761264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289152" y="522741"/>
            <a:ext cx="8145462" cy="838200"/>
          </a:xfrm>
        </p:spPr>
        <p:txBody>
          <a:bodyPr/>
          <a:lstStyle/>
          <a:p>
            <a:pPr eaLnBrk="1" hangingPunct="1"/>
            <a:r>
              <a:rPr lang="en-US" sz="1800" dirty="0" smtClean="0">
                <a:ea typeface="ＭＳ Ｐゴシック" pitchFamily="34" charset="-128"/>
              </a:rPr>
              <a:t>Switching Domains</a:t>
            </a:r>
            <a:br>
              <a:rPr lang="en-US" sz="1800" dirty="0" smtClean="0">
                <a:ea typeface="ＭＳ Ｐゴシック" pitchFamily="34" charset="-128"/>
              </a:rPr>
            </a:br>
            <a:r>
              <a:rPr lang="en-US" dirty="0"/>
              <a:t>Alleviating Network </a:t>
            </a:r>
            <a:r>
              <a:rPr lang="en-US" dirty="0" smtClean="0"/>
              <a:t>Congestion</a:t>
            </a:r>
            <a:endParaRPr lang="en-US" dirty="0" smtClean="0">
              <a:ea typeface="ＭＳ Ｐゴシック" pitchFamily="34" charset="-128"/>
            </a:endParaRPr>
          </a:p>
        </p:txBody>
      </p:sp>
      <p:sp>
        <p:nvSpPr>
          <p:cNvPr id="5" name="Content Placeholder 1"/>
          <p:cNvSpPr>
            <a:spLocks noGrp="1"/>
          </p:cNvSpPr>
          <p:nvPr>
            <p:ph idx="1"/>
          </p:nvPr>
        </p:nvSpPr>
        <p:spPr>
          <a:xfrm>
            <a:off x="350859" y="1504775"/>
            <a:ext cx="8256112" cy="4904715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 smtClean="0"/>
              <a:t>Switches help alleviate network congestion by: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Segmenting a </a:t>
            </a:r>
            <a:r>
              <a:rPr lang="en-US" dirty="0"/>
              <a:t>LAN into separate collision </a:t>
            </a:r>
            <a:r>
              <a:rPr lang="en-US" dirty="0" smtClean="0"/>
              <a:t>domains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P</a:t>
            </a:r>
            <a:r>
              <a:rPr lang="en-US" dirty="0" smtClean="0"/>
              <a:t>roviding </a:t>
            </a:r>
            <a:r>
              <a:rPr lang="en-US" dirty="0"/>
              <a:t>full-duplex communication between </a:t>
            </a:r>
            <a:r>
              <a:rPr lang="en-US" dirty="0" smtClean="0"/>
              <a:t>devices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Taking advantage of their high-port density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B</a:t>
            </a:r>
            <a:r>
              <a:rPr lang="en-US" dirty="0" smtClean="0"/>
              <a:t>uffering large frames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Employing high-speed ports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T</a:t>
            </a:r>
            <a:r>
              <a:rPr lang="en-US" dirty="0" smtClean="0"/>
              <a:t>aking advantage of their fast internal switching process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Having a low, per-port cost</a:t>
            </a:r>
          </a:p>
        </p:txBody>
      </p:sp>
    </p:spTree>
    <p:extLst>
      <p:ext uri="{BB962C8B-B14F-4D97-AF65-F5344CB8AC3E}">
        <p14:creationId xmlns:p14="http://schemas.microsoft.com/office/powerpoint/2010/main" val="2784685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274638" y="493713"/>
            <a:ext cx="8145462" cy="838200"/>
          </a:xfrm>
        </p:spPr>
        <p:txBody>
          <a:bodyPr/>
          <a:lstStyle/>
          <a:p>
            <a:pPr eaLnBrk="1" hangingPunct="1"/>
            <a:r>
              <a:rPr lang="en-US" smtClean="0">
                <a:ea typeface="ＭＳ Ｐゴシック" pitchFamily="34" charset="-128"/>
              </a:rPr>
              <a:t>Chapter </a:t>
            </a:r>
            <a:r>
              <a:rPr lang="en-US" smtClean="0">
                <a:ea typeface="ＭＳ Ｐゴシック" pitchFamily="34" charset="-128"/>
              </a:rPr>
              <a:t>2: </a:t>
            </a:r>
            <a:r>
              <a:rPr lang="en-US" dirty="0" smtClean="0">
                <a:ea typeface="ＭＳ Ｐゴシック" pitchFamily="34" charset="-128"/>
              </a:rPr>
              <a:t>Summary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274638" y="1471612"/>
            <a:ext cx="8575675" cy="4581715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In this chapter, you learned:</a:t>
            </a:r>
          </a:p>
          <a:p>
            <a:r>
              <a:rPr lang="en-US" dirty="0" smtClean="0"/>
              <a:t>The </a:t>
            </a:r>
            <a:r>
              <a:rPr lang="en-US" dirty="0"/>
              <a:t>trend in networks is towards convergence using a single set of wires and devices to handle voice, video, and data transmission</a:t>
            </a:r>
            <a:r>
              <a:rPr lang="en-US" dirty="0" smtClean="0"/>
              <a:t>.</a:t>
            </a:r>
          </a:p>
          <a:p>
            <a:r>
              <a:rPr lang="en-US" dirty="0" smtClean="0"/>
              <a:t>There are no more constraints due to physical offices or </a:t>
            </a:r>
            <a:r>
              <a:rPr lang="en-US" dirty="0"/>
              <a:t>geographic </a:t>
            </a:r>
            <a:r>
              <a:rPr lang="en-US" dirty="0" smtClean="0"/>
              <a:t>boundaries. </a:t>
            </a:r>
            <a:r>
              <a:rPr lang="en-US" dirty="0"/>
              <a:t>Resources must now be seamlessly available anytime and </a:t>
            </a:r>
            <a:r>
              <a:rPr lang="en-US" dirty="0" smtClean="0"/>
              <a:t>anywhere.</a:t>
            </a:r>
          </a:p>
          <a:p>
            <a:r>
              <a:rPr lang="en-US" dirty="0" smtClean="0"/>
              <a:t>A well-designed borderless network </a:t>
            </a:r>
            <a:r>
              <a:rPr lang="en-US" dirty="0"/>
              <a:t>architecture enables different elements, from access switches to wireless access points, to work together and allow users to access resources from any place at any time</a:t>
            </a:r>
            <a:r>
              <a:rPr lang="en-US" dirty="0" smtClean="0"/>
              <a:t>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292926" y="329121"/>
            <a:ext cx="8145462" cy="621855"/>
          </a:xfrm>
        </p:spPr>
        <p:txBody>
          <a:bodyPr/>
          <a:lstStyle/>
          <a:p>
            <a:pPr eaLnBrk="1" hangingPunct="1"/>
            <a:r>
              <a:rPr lang="en-US" dirty="0" smtClean="0">
                <a:ea typeface="ＭＳ Ｐゴシック" pitchFamily="34" charset="-128"/>
              </a:rPr>
              <a:t>Chapter </a:t>
            </a:r>
            <a:r>
              <a:rPr lang="en-US" dirty="0" smtClean="0">
                <a:ea typeface="ＭＳ Ｐゴシック" pitchFamily="34" charset="-128"/>
              </a:rPr>
              <a:t>2: </a:t>
            </a:r>
            <a:r>
              <a:rPr lang="en-US" dirty="0" smtClean="0">
                <a:ea typeface="ＭＳ Ｐゴシック" pitchFamily="34" charset="-128"/>
              </a:rPr>
              <a:t>Summary (cont.)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0" y="950976"/>
            <a:ext cx="9144000" cy="5907024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dirty="0" smtClean="0"/>
              <a:t>three-layer </a:t>
            </a:r>
            <a:r>
              <a:rPr lang="en-US" dirty="0"/>
              <a:t>hierarchical design model divides the network into core, </a:t>
            </a:r>
            <a:r>
              <a:rPr lang="en-US" dirty="0" smtClean="0"/>
              <a:t>distribution, </a:t>
            </a:r>
            <a:r>
              <a:rPr lang="en-US" dirty="0"/>
              <a:t>and access layers, and allows each portion of the network to be optimized for specific functionality. </a:t>
            </a:r>
            <a:endParaRPr lang="en-US" dirty="0" smtClean="0"/>
          </a:p>
          <a:p>
            <a:r>
              <a:rPr lang="en-US" dirty="0" smtClean="0"/>
              <a:t>It </a:t>
            </a:r>
            <a:r>
              <a:rPr lang="en-US" dirty="0"/>
              <a:t>provides modularity, resiliency, and flexibility, which provides a foundation that allows network designers to overlay security, mobility, and unified communication features. </a:t>
            </a:r>
            <a:endParaRPr lang="en-US" dirty="0" smtClean="0"/>
          </a:p>
          <a:p>
            <a:r>
              <a:rPr lang="en-US" dirty="0" smtClean="0"/>
              <a:t>Switches </a:t>
            </a:r>
            <a:r>
              <a:rPr lang="en-US" dirty="0"/>
              <a:t>use either store-and-forward or cut-through switching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US" dirty="0"/>
              <a:t>Every port on a switch forms a separate collision domain allowing for extremely </a:t>
            </a:r>
            <a:r>
              <a:rPr lang="en-US" dirty="0" smtClean="0"/>
              <a:t>high-speed, </a:t>
            </a:r>
            <a:r>
              <a:rPr lang="en-US" dirty="0"/>
              <a:t>full-duplex communication</a:t>
            </a:r>
            <a:r>
              <a:rPr lang="en-US" dirty="0" smtClean="0"/>
              <a:t>.</a:t>
            </a:r>
          </a:p>
          <a:p>
            <a:r>
              <a:rPr lang="en-US" dirty="0"/>
              <a:t>Switch ports do not block broadcasts and connecting switches </a:t>
            </a:r>
            <a:r>
              <a:rPr lang="en-US" dirty="0" smtClean="0"/>
              <a:t>can </a:t>
            </a:r>
            <a:r>
              <a:rPr lang="en-US" dirty="0"/>
              <a:t>extend the size of the broadcast </a:t>
            </a:r>
            <a:r>
              <a:rPr lang="en-US" dirty="0" smtClean="0"/>
              <a:t>domain, but may cause degraded </a:t>
            </a:r>
            <a:r>
              <a:rPr lang="en-US" dirty="0"/>
              <a:t>network </a:t>
            </a:r>
            <a:r>
              <a:rPr lang="en-US" dirty="0" smtClean="0"/>
              <a:t>performance. </a:t>
            </a:r>
            <a:endParaRPr lang="en-US" dirty="0"/>
          </a:p>
          <a:p>
            <a:pPr marL="0" indent="0">
              <a:buNone/>
            </a:pP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773989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PT-TMPLT-WHT_C">
  <a:themeElements>
    <a:clrScheme name="PPT-TMPLT-WHT_C 1">
      <a:dk1>
        <a:srgbClr val="000000"/>
      </a:dk1>
      <a:lt1>
        <a:srgbClr val="FFFFFF"/>
      </a:lt1>
      <a:dk2>
        <a:srgbClr val="0183B7"/>
      </a:dk2>
      <a:lt2>
        <a:srgbClr val="000000"/>
      </a:lt2>
      <a:accent1>
        <a:srgbClr val="0183B7"/>
      </a:accent1>
      <a:accent2>
        <a:srgbClr val="B21A1A"/>
      </a:accent2>
      <a:accent3>
        <a:srgbClr val="FFFFFF"/>
      </a:accent3>
      <a:accent4>
        <a:srgbClr val="000000"/>
      </a:accent4>
      <a:accent5>
        <a:srgbClr val="AAC1D8"/>
      </a:accent5>
      <a:accent6>
        <a:srgbClr val="A11616"/>
      </a:accent6>
      <a:hlink>
        <a:srgbClr val="83A2CF"/>
      </a:hlink>
      <a:folHlink>
        <a:srgbClr val="EFB525"/>
      </a:folHlink>
    </a:clrScheme>
    <a:fontScheme name="PPT-TMPLT-WHT_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82124" tIns="41061" rIns="82124" bIns="41061" numCol="1" anchor="ctr" anchorCtr="0" compatLnSpc="1">
        <a:prstTxWarp prst="textNoShape">
          <a:avLst/>
        </a:prstTxWarp>
        <a:spAutoFit/>
      </a:bodyPr>
      <a:lstStyle>
        <a:defPPr marL="0" marR="0" indent="0" algn="ctr" defTabSz="814388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82124" tIns="41061" rIns="82124" bIns="41061" numCol="1" anchor="ctr" anchorCtr="0" compatLnSpc="1">
        <a:prstTxWarp prst="textNoShape">
          <a:avLst/>
        </a:prstTxWarp>
        <a:spAutoFit/>
      </a:bodyPr>
      <a:lstStyle>
        <a:defPPr marL="0" marR="0" indent="0" algn="ctr" defTabSz="814388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PPT-TMPLT-WHT_C 1">
        <a:dk1>
          <a:srgbClr val="000000"/>
        </a:dk1>
        <a:lt1>
          <a:srgbClr val="FFFFFF"/>
        </a:lt1>
        <a:dk2>
          <a:srgbClr val="0183B7"/>
        </a:dk2>
        <a:lt2>
          <a:srgbClr val="000000"/>
        </a:lt2>
        <a:accent1>
          <a:srgbClr val="0183B7"/>
        </a:accent1>
        <a:accent2>
          <a:srgbClr val="B21A1A"/>
        </a:accent2>
        <a:accent3>
          <a:srgbClr val="FFFFFF"/>
        </a:accent3>
        <a:accent4>
          <a:srgbClr val="000000"/>
        </a:accent4>
        <a:accent5>
          <a:srgbClr val="AAC1D8"/>
        </a:accent5>
        <a:accent6>
          <a:srgbClr val="A11616"/>
        </a:accent6>
        <a:hlink>
          <a:srgbClr val="83A2CF"/>
        </a:hlink>
        <a:folHlink>
          <a:srgbClr val="EFB52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NetAcad-4F_PPT-WHT_060408">
  <a:themeElements>
    <a:clrScheme name="Oct_2006_Cisco White Template 1">
      <a:dk1>
        <a:srgbClr val="000000"/>
      </a:dk1>
      <a:lt1>
        <a:srgbClr val="FFFFFF"/>
      </a:lt1>
      <a:dk2>
        <a:srgbClr val="0183B7"/>
      </a:dk2>
      <a:lt2>
        <a:srgbClr val="000000"/>
      </a:lt2>
      <a:accent1>
        <a:srgbClr val="0183B7"/>
      </a:accent1>
      <a:accent2>
        <a:srgbClr val="B21A1A"/>
      </a:accent2>
      <a:accent3>
        <a:srgbClr val="FFFFFF"/>
      </a:accent3>
      <a:accent4>
        <a:srgbClr val="000000"/>
      </a:accent4>
      <a:accent5>
        <a:srgbClr val="AAC1D8"/>
      </a:accent5>
      <a:accent6>
        <a:srgbClr val="A11616"/>
      </a:accent6>
      <a:hlink>
        <a:srgbClr val="83A2CF"/>
      </a:hlink>
      <a:folHlink>
        <a:srgbClr val="EFB525"/>
      </a:folHlink>
    </a:clrScheme>
    <a:fontScheme name="Oct_2006_Cisco White 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82124" tIns="41061" rIns="82124" bIns="41061" numCol="1" anchor="ctr" anchorCtr="0" compatLnSpc="1">
        <a:prstTxWarp prst="textNoShape">
          <a:avLst/>
        </a:prstTxWarp>
        <a:spAutoFit/>
      </a:bodyPr>
      <a:lstStyle>
        <a:defPPr marL="0" marR="0" indent="0" algn="ctr" defTabSz="814388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82124" tIns="41061" rIns="82124" bIns="41061" numCol="1" anchor="ctr" anchorCtr="0" compatLnSpc="1">
        <a:prstTxWarp prst="textNoShape">
          <a:avLst/>
        </a:prstTxWarp>
        <a:spAutoFit/>
      </a:bodyPr>
      <a:lstStyle>
        <a:defPPr marL="0" marR="0" indent="0" algn="ctr" defTabSz="814388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Oct_2006_Cisco White Template 1">
        <a:dk1>
          <a:srgbClr val="000000"/>
        </a:dk1>
        <a:lt1>
          <a:srgbClr val="FFFFFF"/>
        </a:lt1>
        <a:dk2>
          <a:srgbClr val="0183B7"/>
        </a:dk2>
        <a:lt2>
          <a:srgbClr val="000000"/>
        </a:lt2>
        <a:accent1>
          <a:srgbClr val="0183B7"/>
        </a:accent1>
        <a:accent2>
          <a:srgbClr val="B21A1A"/>
        </a:accent2>
        <a:accent3>
          <a:srgbClr val="FFFFFF"/>
        </a:accent3>
        <a:accent4>
          <a:srgbClr val="000000"/>
        </a:accent4>
        <a:accent5>
          <a:srgbClr val="AAC1D8"/>
        </a:accent5>
        <a:accent6>
          <a:srgbClr val="A11616"/>
        </a:accent6>
        <a:hlink>
          <a:srgbClr val="83A2CF"/>
        </a:hlink>
        <a:folHlink>
          <a:srgbClr val="EFB52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21463</TotalTime>
  <Pages>28</Pages>
  <Words>1484</Words>
  <Application>Microsoft Office PowerPoint</Application>
  <PresentationFormat>On-screen Show (4:3)</PresentationFormat>
  <Paragraphs>241</Paragraphs>
  <Slides>25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ＭＳ Ｐゴシック</vt:lpstr>
      <vt:lpstr>Arial</vt:lpstr>
      <vt:lpstr>Wingdings</vt:lpstr>
      <vt:lpstr>PPT-TMPLT-WHT_C</vt:lpstr>
      <vt:lpstr>NetAcad-4F_PPT-WHT_060408</vt:lpstr>
      <vt:lpstr>Chapter 2: Introduction to Switched Networks</vt:lpstr>
      <vt:lpstr>Chapter 1</vt:lpstr>
      <vt:lpstr>Chapter 1: Objectives</vt:lpstr>
      <vt:lpstr>Converged Networks Growing Complexity of Networks</vt:lpstr>
      <vt:lpstr>Converged Networks A Converged Network</vt:lpstr>
      <vt:lpstr>Converged Networks Borderless Switched Networks</vt:lpstr>
      <vt:lpstr>Converged Networks Hierarchy in the Borderless Switched Network</vt:lpstr>
      <vt:lpstr>Converged Networks Hierarchy in the Borderless Switched Network</vt:lpstr>
      <vt:lpstr>Converged Networks - Core, Distribution, Access Layers</vt:lpstr>
      <vt:lpstr>Converged Networks Core, Distribution, Access Layers</vt:lpstr>
      <vt:lpstr>Converged Networks Core, Distribution, Access Layers</vt:lpstr>
      <vt:lpstr>Switched Networks Role of Switched Networks</vt:lpstr>
      <vt:lpstr>Switched Networks Form Factor</vt:lpstr>
      <vt:lpstr>Frame Forwarding Dynamically Populating a Switch MAC Address Table</vt:lpstr>
      <vt:lpstr>Frame Forwarding Dynamically Populating a Switch MAC Address Table</vt:lpstr>
      <vt:lpstr>Frame Forwarding Dynamically Populating a Switch MAC Address Table</vt:lpstr>
      <vt:lpstr>Frame Forwarding Switch Forwarding Methods</vt:lpstr>
      <vt:lpstr>Frame Forwarding Switch Forwarding Methods</vt:lpstr>
      <vt:lpstr>Switching Domains Collision Domains</vt:lpstr>
      <vt:lpstr>Collision Domains</vt:lpstr>
      <vt:lpstr>Switching Domains Broadcast Domains</vt:lpstr>
      <vt:lpstr>Broadcast Domains</vt:lpstr>
      <vt:lpstr>Switching Domains Alleviating Network Congestion</vt:lpstr>
      <vt:lpstr>Chapter 2: Summary</vt:lpstr>
      <vt:lpstr>Chapter 2: Summary (cont.)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ITE PC v4.0 Chapter 1</dc:title>
  <dc:creator>HOO BRYAN</dc:creator>
  <cp:lastModifiedBy>HOO BRYAN</cp:lastModifiedBy>
  <cp:revision>1231</cp:revision>
  <cp:lastPrinted>1999-01-27T00:54:54Z</cp:lastPrinted>
  <dcterms:created xsi:type="dcterms:W3CDTF">2006-10-23T15:07:30Z</dcterms:created>
  <dcterms:modified xsi:type="dcterms:W3CDTF">2018-03-22T08:59:46Z</dcterms:modified>
</cp:coreProperties>
</file>