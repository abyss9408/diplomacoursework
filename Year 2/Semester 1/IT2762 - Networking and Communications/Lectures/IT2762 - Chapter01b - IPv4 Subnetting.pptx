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0" r:id="rId1"/>
  </p:sldMasterIdLst>
  <p:notesMasterIdLst>
    <p:notesMasterId r:id="rId48"/>
  </p:notesMasterIdLst>
  <p:handoutMasterIdLst>
    <p:handoutMasterId r:id="rId49"/>
  </p:handoutMasterIdLst>
  <p:sldIdLst>
    <p:sldId id="386" r:id="rId2"/>
    <p:sldId id="547" r:id="rId3"/>
    <p:sldId id="436" r:id="rId4"/>
    <p:sldId id="451" r:id="rId5"/>
    <p:sldId id="531" r:id="rId6"/>
    <p:sldId id="549" r:id="rId7"/>
    <p:sldId id="550" r:id="rId8"/>
    <p:sldId id="452" r:id="rId9"/>
    <p:sldId id="454" r:id="rId10"/>
    <p:sldId id="456" r:id="rId11"/>
    <p:sldId id="532" r:id="rId12"/>
    <p:sldId id="556" r:id="rId13"/>
    <p:sldId id="458" r:id="rId14"/>
    <p:sldId id="533" r:id="rId15"/>
    <p:sldId id="507" r:id="rId16"/>
    <p:sldId id="557" r:id="rId17"/>
    <p:sldId id="459" r:id="rId18"/>
    <p:sldId id="460" r:id="rId19"/>
    <p:sldId id="551" r:id="rId20"/>
    <p:sldId id="534" r:id="rId21"/>
    <p:sldId id="461" r:id="rId22"/>
    <p:sldId id="568" r:id="rId23"/>
    <p:sldId id="552" r:id="rId24"/>
    <p:sldId id="482" r:id="rId25"/>
    <p:sldId id="565" r:id="rId26"/>
    <p:sldId id="566" r:id="rId27"/>
    <p:sldId id="535" r:id="rId28"/>
    <p:sldId id="536" r:id="rId29"/>
    <p:sldId id="518" r:id="rId30"/>
    <p:sldId id="483" r:id="rId31"/>
    <p:sldId id="567" r:id="rId32"/>
    <p:sldId id="558" r:id="rId33"/>
    <p:sldId id="559" r:id="rId34"/>
    <p:sldId id="560" r:id="rId35"/>
    <p:sldId id="562" r:id="rId36"/>
    <p:sldId id="537" r:id="rId37"/>
    <p:sldId id="569" r:id="rId38"/>
    <p:sldId id="570" r:id="rId39"/>
    <p:sldId id="571" r:id="rId40"/>
    <p:sldId id="572" r:id="rId41"/>
    <p:sldId id="573" r:id="rId42"/>
    <p:sldId id="574" r:id="rId43"/>
    <p:sldId id="575" r:id="rId44"/>
    <p:sldId id="492" r:id="rId45"/>
    <p:sldId id="546" r:id="rId46"/>
    <p:sldId id="543" r:id="rId47"/>
  </p:sldIdLst>
  <p:sldSz cx="9144000" cy="6858000" type="screen4x3"/>
  <p:notesSz cx="6854825" cy="9083675"/>
  <p:defaultTextStyle>
    <a:defPPr>
      <a:defRPr lang="en-US"/>
    </a:defPPr>
    <a:lvl1pPr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ctr" rtl="0" eaLnBrk="0" fontAlgn="base" hangingPunct="0">
      <a:lnSpc>
        <a:spcPct val="90000"/>
      </a:lnSpc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736">
          <p15:clr>
            <a:srgbClr val="A4A3A4"/>
          </p15:clr>
        </p15:guide>
        <p15:guide id="2" orient="horz" pos="864">
          <p15:clr>
            <a:srgbClr val="A4A3A4"/>
          </p15:clr>
        </p15:guide>
        <p15:guide id="3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61">
          <p15:clr>
            <a:srgbClr val="A4A3A4"/>
          </p15:clr>
        </p15:guide>
        <p15:guide id="2" pos="215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D2B4"/>
    <a:srgbClr val="35297D"/>
    <a:srgbClr val="00252E"/>
    <a:srgbClr val="FFFF9B"/>
    <a:srgbClr val="FFCC68"/>
    <a:srgbClr val="FFE59B"/>
    <a:srgbClr val="FF0000"/>
    <a:srgbClr val="0080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1FECB4D8-DB02-4DC6-A0A2-4F2EBAE1DC90}" styleName="Medium Style 1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3">
              <a:tint val="20000"/>
            </a:schemeClr>
          </a:solidFill>
        </a:fill>
      </a:tcStyle>
    </a:band1H>
    <a:band1V>
      <a:tcStyle>
        <a:tcBdr/>
        <a:fill>
          <a:solidFill>
            <a:schemeClr val="accent3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3"/>
          </a:solidFill>
        </a:fill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F5AB1C69-6EDB-4FF4-983F-18BD219EF322}" styleName="Medium Style 2 - Accent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0505E3EF-67EA-436B-97B2-0124C06EBD24}" styleName="Medium Style 4 - Accent 3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3"/>
              </a:solidFill>
            </a:ln>
          </a:top>
        </a:tcBdr>
        <a:fill>
          <a:solidFill>
            <a:schemeClr val="accent3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3">
              <a:tint val="20000"/>
            </a:schemeClr>
          </a:solidFill>
        </a:fill>
      </a:tcStyle>
    </a:firstRow>
  </a:tblStyle>
  <a:tblStyle styleId="{5FD0F851-EC5A-4D38-B0AD-8093EC10F338}" styleName="Light Style 1 - Accent 5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  <a:tblStyle styleId="{BDBED569-4797-4DF1-A0F4-6AAB3CD982D8}" styleName="Light Style 3 - Accent 5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5"/>
              </a:solidFill>
            </a:ln>
          </a:left>
          <a:right>
            <a:ln w="12700" cmpd="sng">
              <a:solidFill>
                <a:schemeClr val="accent5"/>
              </a:solidFill>
            </a:ln>
          </a:right>
          <a:top>
            <a:ln w="12700" cmpd="sng">
              <a:solidFill>
                <a:schemeClr val="accent5"/>
              </a:solidFill>
            </a:ln>
          </a:top>
          <a:bottom>
            <a:ln w="12700" cmpd="sng">
              <a:solidFill>
                <a:schemeClr val="accent5"/>
              </a:solidFill>
            </a:ln>
          </a:bottom>
          <a:insideH>
            <a:ln w="12700" cmpd="sng">
              <a:solidFill>
                <a:schemeClr val="accent5"/>
              </a:solidFill>
            </a:ln>
          </a:insideH>
          <a:insideV>
            <a:ln w="12700" cmpd="sng">
              <a:solidFill>
                <a:schemeClr val="accent5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20000"/>
            </a:schemeClr>
          </a:solidFill>
        </a:fill>
      </a:tcStyle>
    </a:band1H>
    <a:band1V>
      <a:tcStyle>
        <a:tcBdr/>
        <a:fill>
          <a:solidFill>
            <a:schemeClr val="accent5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5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5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22449" autoAdjust="0"/>
    <p:restoredTop sz="80897" autoAdjust="0"/>
  </p:normalViewPr>
  <p:slideViewPr>
    <p:cSldViewPr snapToGrid="0">
      <p:cViewPr varScale="1">
        <p:scale>
          <a:sx n="58" d="100"/>
          <a:sy n="58" d="100"/>
        </p:scale>
        <p:origin x="78" y="156"/>
      </p:cViewPr>
      <p:guideLst>
        <p:guide orient="horz" pos="2736"/>
        <p:guide orient="horz" pos="864"/>
        <p:guide pos="2880"/>
      </p:guideLst>
    </p:cSldViewPr>
  </p:slideViewPr>
  <p:outlineViewPr>
    <p:cViewPr>
      <p:scale>
        <a:sx n="33" d="100"/>
        <a:sy n="33" d="100"/>
      </p:scale>
      <p:origin x="0" y="0"/>
    </p:cViewPr>
    <p:sldLst>
      <p:sld r:id="rId1" collapse="1"/>
    </p:sldLst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13368"/>
    </p:cViewPr>
  </p:sorterViewPr>
  <p:notesViewPr>
    <p:cSldViewPr snapToGrid="0">
      <p:cViewPr varScale="1">
        <p:scale>
          <a:sx n="84" d="100"/>
          <a:sy n="84" d="100"/>
        </p:scale>
        <p:origin x="-1974" y="-78"/>
      </p:cViewPr>
      <p:guideLst>
        <p:guide orient="horz" pos="2861"/>
        <p:guide pos="2159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handoutMaster" Target="handoutMasters/handout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notesMaster" Target="notesMasters/notesMaster1.xml"/><Relationship Id="rId8" Type="http://schemas.openxmlformats.org/officeDocument/2006/relationships/slide" Target="slides/slide7.xml"/><Relationship Id="rId51" Type="http://schemas.openxmlformats.org/officeDocument/2006/relationships/viewProps" Target="viewProps.xml"/></Relationships>
</file>

<file path=ppt/_rels/viewProps.xml.rels><?xml version="1.0" encoding="UTF-8" standalone="yes"?>
<Relationships xmlns="http://schemas.openxmlformats.org/package/2006/relationships"><Relationship Id="rId1" Type="http://schemas.openxmlformats.org/officeDocument/2006/relationships/slide" Target="slides/slid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7" name="Line 5"/>
          <p:cNvSpPr>
            <a:spLocks noChangeShapeType="1"/>
          </p:cNvSpPr>
          <p:nvPr/>
        </p:nvSpPr>
        <p:spPr bwMode="auto">
          <a:xfrm>
            <a:off x="150813" y="8778875"/>
            <a:ext cx="6551612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5177331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3304" name="Rectangle 8"/>
          <p:cNvSpPr>
            <a:spLocks noChangeArrowheads="1"/>
          </p:cNvSpPr>
          <p:nvPr/>
        </p:nvSpPr>
        <p:spPr bwMode="auto">
          <a:xfrm>
            <a:off x="6111875" y="8410575"/>
            <a:ext cx="439738" cy="209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3306" name="Line 10"/>
          <p:cNvSpPr>
            <a:spLocks noChangeShapeType="1"/>
          </p:cNvSpPr>
          <p:nvPr/>
        </p:nvSpPr>
        <p:spPr bwMode="auto">
          <a:xfrm>
            <a:off x="149225" y="8599488"/>
            <a:ext cx="6503988" cy="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none" w="sm" len="sm"/>
            <a:tailEnd type="none" w="sm" len="sm"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183307" name="Rectangle 11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5797550" y="8480425"/>
            <a:ext cx="795338" cy="282575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18380" tIns="0" rIns="18380" bIns="0" numCol="1" anchor="b" anchorCtr="0" compatLnSpc="1">
            <a:prstTxWarp prst="textNoShape">
              <a:avLst/>
            </a:prstTxWarp>
          </a:bodyPr>
          <a:lstStyle>
            <a:lvl1pPr algn="r" defTabSz="881063">
              <a:lnSpc>
                <a:spcPct val="100000"/>
              </a:lnSpc>
              <a:defRPr sz="800"/>
            </a:lvl1pPr>
          </a:lstStyle>
          <a:p>
            <a:pPr>
              <a:defRPr/>
            </a:pPr>
            <a:fld id="{DBD39FDC-4C48-46C7-BED1-77E5C4AF41F9}" type="slidenum">
              <a:rPr lang="en-US"/>
              <a:pPr>
                <a:defRPr/>
              </a:pPr>
              <a:t>‹#›</a:t>
            </a:fld>
            <a:endParaRPr lang="en-US"/>
          </a:p>
        </p:txBody>
      </p:sp>
      <p:sp>
        <p:nvSpPr>
          <p:cNvPr id="77829" name="Rectangle 12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855663" y="239713"/>
            <a:ext cx="5200650" cy="3900487"/>
          </a:xfrm>
          <a:prstGeom prst="rect">
            <a:avLst/>
          </a:prstGeom>
          <a:noFill/>
          <a:ln w="127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83309" name="Rectangle 13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395288" y="4278313"/>
            <a:ext cx="5986462" cy="415448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3435" tIns="49014" rIns="93435" bIns="4901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Body Text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9635153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112713" indent="-112713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1pPr>
    <a:lvl2pPr marL="482600" indent="-120650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2pPr>
    <a:lvl3pPr marL="9667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3pPr>
    <a:lvl4pPr marL="14493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4pPr>
    <a:lvl5pPr marL="1931988" algn="l" defTabSz="1020763" rtl="0" eaLnBrk="0" fontAlgn="base" hangingPunct="0">
      <a:lnSpc>
        <a:spcPct val="90000"/>
      </a:lnSpc>
      <a:spcBef>
        <a:spcPct val="40000"/>
      </a:spcBef>
      <a:spcAft>
        <a:spcPct val="0"/>
      </a:spcAft>
      <a:buSzPct val="100000"/>
      <a:buChar char="•"/>
      <a:defRPr sz="14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8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9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0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1.xml"/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2.xml"/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3.xml"/><Relationship Id="rId1" Type="http://schemas.openxmlformats.org/officeDocument/2006/relationships/notesMaster" Target="../notesMasters/notesMaster1.xml"/></Relationships>
</file>

<file path=ppt/notesSlides/_rels/notesSlide3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4.xml"/><Relationship Id="rId1" Type="http://schemas.openxmlformats.org/officeDocument/2006/relationships/notesMaster" Target="../notesMasters/notesMaster1.xml"/></Relationships>
</file>

<file path=ppt/notesSlides/_rels/notesSlide3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85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3073B9C7-7677-410F-9464-4C00A4258230}" type="slidenum">
              <a:rPr lang="en-US" sz="800" smtClean="0"/>
              <a:pPr/>
              <a:t>1</a:t>
            </a:fld>
            <a:endParaRPr lang="en-US" sz="800" smtClean="0"/>
          </a:p>
        </p:txBody>
      </p:sp>
      <p:sp>
        <p:nvSpPr>
          <p:cNvPr id="788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858838" y="239713"/>
            <a:ext cx="5199062" cy="3898900"/>
          </a:xfrm>
          <a:ln/>
        </p:spPr>
      </p:sp>
      <p:sp>
        <p:nvSpPr>
          <p:cNvPr id="78852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396875" y="4278313"/>
            <a:ext cx="5984875" cy="4156075"/>
          </a:xfrm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smtClean="0"/>
          </a:p>
        </p:txBody>
      </p:sp>
    </p:spTree>
    <p:extLst>
      <p:ext uri="{BB962C8B-B14F-4D97-AF65-F5344CB8AC3E}">
        <p14:creationId xmlns:p14="http://schemas.microsoft.com/office/powerpoint/2010/main" val="1861197139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6C4ED933-0609-42C2-B4AD-FA80F37D0D01}" type="slidenum">
              <a:rPr lang="en-US" sz="800" smtClean="0"/>
              <a:pPr/>
              <a:t>2</a:t>
            </a:fld>
            <a:endParaRPr lang="en-US" sz="800" smtClean="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2322503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8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FDE4C451-9FDB-4D55-8635-8919F73D0D4E}" type="slidenum">
              <a:rPr lang="en-US" sz="800" smtClean="0"/>
              <a:pPr/>
              <a:t>3</a:t>
            </a:fld>
            <a:endParaRPr lang="en-US" sz="800" smtClean="0"/>
          </a:p>
        </p:txBody>
      </p:sp>
      <p:sp>
        <p:nvSpPr>
          <p:cNvPr id="808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09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2654646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FE493A3-03CD-4091-BC03-233C29F3028F}" type="slidenum">
              <a:rPr lang="en-US" sz="800" smtClean="0"/>
              <a:pPr/>
              <a:t>4</a:t>
            </a:fld>
            <a:endParaRPr lang="en-US" sz="800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58934329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FE493A3-03CD-4091-BC03-233C29F3028F}" type="slidenum">
              <a:rPr lang="en-US" sz="800" smtClean="0"/>
              <a:pPr/>
              <a:t>5</a:t>
            </a:fld>
            <a:endParaRPr lang="en-US" sz="800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6286781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FE493A3-03CD-4091-BC03-233C29F3028F}" type="slidenum">
              <a:rPr lang="en-US" sz="800" smtClean="0"/>
              <a:pPr/>
              <a:t>6</a:t>
            </a:fld>
            <a:endParaRPr lang="en-US" sz="800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0390294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29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FE493A3-03CD-4091-BC03-233C29F3028F}" type="slidenum">
              <a:rPr lang="en-US" sz="800" smtClean="0"/>
              <a:pPr/>
              <a:t>7</a:t>
            </a:fld>
            <a:endParaRPr lang="en-US" sz="800" smtClean="0"/>
          </a:p>
        </p:txBody>
      </p:sp>
      <p:sp>
        <p:nvSpPr>
          <p:cNvPr id="829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29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2280411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D80D4694-116A-433E-9832-15F6F969F0C6}" type="slidenum">
              <a:rPr lang="en-US" sz="800" smtClean="0"/>
              <a:pPr/>
              <a:t>8</a:t>
            </a:fld>
            <a:endParaRPr lang="en-US" sz="800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784389340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04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6A51B88-1753-4004-A04C-00ED6216B2F8}" type="slidenum">
              <a:rPr lang="en-US" sz="800" smtClean="0"/>
              <a:pPr/>
              <a:t>9</a:t>
            </a:fld>
            <a:endParaRPr lang="en-US" sz="800" smtClean="0"/>
          </a:p>
        </p:txBody>
      </p:sp>
      <p:sp>
        <p:nvSpPr>
          <p:cNvPr id="8704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704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14515348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09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049C3A1E-55A1-4DC3-B475-6C8E96BCB27D}" type="slidenum">
              <a:rPr lang="en-US" sz="800" smtClean="0"/>
              <a:pPr/>
              <a:t>10</a:t>
            </a:fld>
            <a:endParaRPr lang="en-US" sz="800" smtClean="0"/>
          </a:p>
        </p:txBody>
      </p:sp>
      <p:sp>
        <p:nvSpPr>
          <p:cNvPr id="8909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909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97997422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99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D80D4694-116A-433E-9832-15F6F969F0C6}" type="slidenum">
              <a:rPr lang="en-US" sz="800" smtClean="0"/>
              <a:pPr/>
              <a:t>11</a:t>
            </a:fld>
            <a:endParaRPr lang="en-US" sz="800" smtClean="0"/>
          </a:p>
        </p:txBody>
      </p:sp>
      <p:sp>
        <p:nvSpPr>
          <p:cNvPr id="8499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8499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69277655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7A6D2DEA-0987-4172-8ED6-155BC658D93F}" type="slidenum">
              <a:rPr lang="en-US" sz="800" smtClean="0"/>
              <a:pPr/>
              <a:t>13</a:t>
            </a:fld>
            <a:endParaRPr lang="en-US" sz="800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6883494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13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7A6D2DEA-0987-4172-8ED6-155BC658D93F}" type="slidenum">
              <a:rPr lang="en-US" sz="800" smtClean="0"/>
              <a:pPr/>
              <a:t>14</a:t>
            </a:fld>
            <a:endParaRPr lang="en-US" sz="800" smtClean="0"/>
          </a:p>
        </p:txBody>
      </p:sp>
      <p:sp>
        <p:nvSpPr>
          <p:cNvPr id="9113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114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699081778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62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19128F82-0769-4428-9BCD-1C4869178CA8}" type="slidenum">
              <a:rPr lang="en-US" sz="800" smtClean="0"/>
              <a:pPr/>
              <a:t>15</a:t>
            </a:fld>
            <a:endParaRPr lang="en-US" sz="800" smtClean="0"/>
          </a:p>
        </p:txBody>
      </p:sp>
      <p:sp>
        <p:nvSpPr>
          <p:cNvPr id="92163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2164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34083892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18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7E955357-FF20-4CBD-9144-20FEE95A732C}" type="slidenum">
              <a:rPr lang="en-US" sz="800" smtClean="0"/>
              <a:pPr/>
              <a:t>17</a:t>
            </a:fld>
            <a:endParaRPr lang="en-US" sz="800" smtClean="0"/>
          </a:p>
        </p:txBody>
      </p:sp>
      <p:sp>
        <p:nvSpPr>
          <p:cNvPr id="9318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318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406548561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E3D74A5-D3FC-48E7-96B7-4F68E1DF3B61}" type="slidenum">
              <a:rPr lang="en-US" sz="800" smtClean="0"/>
              <a:pPr/>
              <a:t>18</a:t>
            </a:fld>
            <a:endParaRPr lang="en-US" sz="800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00039241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E3D74A5-D3FC-48E7-96B7-4F68E1DF3B61}" type="slidenum">
              <a:rPr lang="en-US" sz="800" smtClean="0"/>
              <a:pPr/>
              <a:t>19</a:t>
            </a:fld>
            <a:endParaRPr lang="en-US" sz="800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958928555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21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E3D74A5-D3FC-48E7-96B7-4F68E1DF3B61}" type="slidenum">
              <a:rPr lang="en-US" sz="800" smtClean="0"/>
              <a:pPr/>
              <a:t>20</a:t>
            </a:fld>
            <a:endParaRPr lang="en-US" sz="800" smtClean="0"/>
          </a:p>
        </p:txBody>
      </p:sp>
      <p:sp>
        <p:nvSpPr>
          <p:cNvPr id="9421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421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482969764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234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916327D1-A364-4C9D-8F17-0F43D98E1BDF}" type="slidenum">
              <a:rPr lang="en-US" sz="800" smtClean="0"/>
              <a:pPr/>
              <a:t>21</a:t>
            </a:fld>
            <a:endParaRPr lang="en-US" sz="800" smtClean="0"/>
          </a:p>
        </p:txBody>
      </p:sp>
      <p:sp>
        <p:nvSpPr>
          <p:cNvPr id="95235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9523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53921541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4AD49023-CBC9-40E4-ABE3-113FA4B8194E}" type="slidenum">
              <a:rPr lang="en-US" sz="800" smtClean="0"/>
              <a:pPr/>
              <a:t>24</a:t>
            </a:fld>
            <a:endParaRPr lang="en-US" sz="800" smtClean="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dirty="0" smtClean="0"/>
              <a:t>Breaking up a network increases network performance</a:t>
            </a:r>
          </a:p>
          <a:p>
            <a:pPr lvl="1"/>
            <a:r>
              <a:rPr lang="en-GB" baseline="0" dirty="0" smtClean="0"/>
              <a:t>End devices broadcasting in a single large network can decrease network performance</a:t>
            </a:r>
          </a:p>
          <a:p>
            <a:r>
              <a:rPr lang="en-GB" baseline="0" dirty="0" smtClean="0"/>
              <a:t>Security purposes</a:t>
            </a:r>
          </a:p>
          <a:p>
            <a:r>
              <a:rPr lang="en-GB" baseline="0" dirty="0" smtClean="0"/>
              <a:t>Segregating by functions / </a:t>
            </a:r>
            <a:r>
              <a:rPr lang="en-GB" baseline="0" dirty="0" err="1" smtClean="0"/>
              <a:t>depts</a:t>
            </a:r>
            <a:endParaRPr lang="en-GB" baseline="0" dirty="0" smtClean="0"/>
          </a:p>
        </p:txBody>
      </p:sp>
    </p:spTree>
    <p:extLst>
      <p:ext uri="{BB962C8B-B14F-4D97-AF65-F5344CB8AC3E}">
        <p14:creationId xmlns:p14="http://schemas.microsoft.com/office/powerpoint/2010/main" val="1154247019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4AD49023-CBC9-40E4-ABE3-113FA4B8194E}" type="slidenum">
              <a:rPr lang="en-US" sz="800" smtClean="0"/>
              <a:pPr/>
              <a:t>27</a:t>
            </a:fld>
            <a:endParaRPr lang="en-US" sz="800" smtClean="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dirty="0" smtClean="0"/>
              <a:t>2 subnets, borrow 1 bit (subnet prefix /25)</a:t>
            </a:r>
          </a:p>
          <a:p>
            <a:r>
              <a:rPr lang="en-GB" dirty="0" smtClean="0"/>
              <a:t>4 subnets, borrow 2 bits (subnet prefix /26)</a:t>
            </a:r>
          </a:p>
          <a:p>
            <a:r>
              <a:rPr lang="en-GB" dirty="0" smtClean="0"/>
              <a:t>8 subnets,</a:t>
            </a:r>
            <a:r>
              <a:rPr lang="en-GB" baseline="0" dirty="0" smtClean="0"/>
              <a:t> borrow 3 bits</a:t>
            </a:r>
            <a:r>
              <a:rPr lang="en-GB" dirty="0" smtClean="0"/>
              <a:t> (subnet prefix /27)</a:t>
            </a:r>
            <a:endParaRPr lang="en-GB" baseline="0" dirty="0" smtClean="0"/>
          </a:p>
          <a:p>
            <a:r>
              <a:rPr lang="en-GB" baseline="0" dirty="0" smtClean="0"/>
              <a:t>16 subnets, borrow 4 bits</a:t>
            </a:r>
            <a:r>
              <a:rPr lang="en-GB" dirty="0" smtClean="0"/>
              <a:t> (subnet prefix /28)</a:t>
            </a:r>
            <a:endParaRPr lang="en-GB" baseline="0" dirty="0" smtClean="0"/>
          </a:p>
          <a:p>
            <a:r>
              <a:rPr lang="en-GB" baseline="0" dirty="0" smtClean="0"/>
              <a:t>32 subnets, borrow 5 bits</a:t>
            </a:r>
            <a:r>
              <a:rPr lang="en-GB" dirty="0" smtClean="0"/>
              <a:t> (subnet prefix /29)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22785557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97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4AD49023-CBC9-40E4-ABE3-113FA4B8194E}" type="slidenum">
              <a:rPr lang="en-US" sz="800" smtClean="0"/>
              <a:pPr/>
              <a:t>28</a:t>
            </a:fld>
            <a:endParaRPr lang="en-US" sz="800" smtClean="0"/>
          </a:p>
        </p:txBody>
      </p:sp>
      <p:sp>
        <p:nvSpPr>
          <p:cNvPr id="1269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69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GB" dirty="0" smtClean="0"/>
          </a:p>
          <a:p>
            <a:pPr marL="0" indent="0">
              <a:buNone/>
            </a:pP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24292357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902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1C0FD9D-BB26-4642-9599-D5122FB58734}" type="slidenum">
              <a:rPr lang="en-US" sz="800" smtClean="0"/>
              <a:pPr/>
              <a:t>29</a:t>
            </a:fld>
            <a:endParaRPr lang="en-US" sz="800" smtClean="0"/>
          </a:p>
        </p:txBody>
      </p:sp>
      <p:sp>
        <p:nvSpPr>
          <p:cNvPr id="12902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2902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dirty="0" smtClean="0"/>
              <a:t>Subnet 0, usable</a:t>
            </a:r>
            <a:r>
              <a:rPr lang="en-GB" baseline="0" dirty="0" smtClean="0"/>
              <a:t> address range 192.168.1.1 – 192.168.1.126</a:t>
            </a:r>
          </a:p>
          <a:p>
            <a:pPr marL="112713" marR="0" indent="-112713" algn="l" defTabSz="1020763" rtl="0" eaLnBrk="0" fontAlgn="base" latinLnBrk="0" hangingPunct="0">
              <a:lnSpc>
                <a:spcPct val="90000"/>
              </a:lnSpc>
              <a:spcBef>
                <a:spcPct val="40000"/>
              </a:spcBef>
              <a:spcAft>
                <a:spcPct val="0"/>
              </a:spcAft>
              <a:buClrTx/>
              <a:buSzPct val="100000"/>
              <a:buFontTx/>
              <a:buChar char="•"/>
              <a:tabLst/>
              <a:defRPr/>
            </a:pPr>
            <a:r>
              <a:rPr lang="en-GB" dirty="0" smtClean="0"/>
              <a:t>Subnet 1, usable</a:t>
            </a:r>
            <a:r>
              <a:rPr lang="en-GB" baseline="0" dirty="0" smtClean="0"/>
              <a:t> address range 192.168.1.129 – 192.168.1.254</a:t>
            </a:r>
            <a:endParaRPr lang="en-US" dirty="0" smtClean="0"/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28866725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E1438258-C8FF-47DF-B2C2-37BA6C9223C9}" type="slidenum">
              <a:rPr lang="en-US" sz="800" smtClean="0"/>
              <a:pPr/>
              <a:t>30</a:t>
            </a:fld>
            <a:endParaRPr lang="en-US" sz="800" smtClean="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dirty="0" smtClean="0"/>
              <a:t>To</a:t>
            </a:r>
            <a:r>
              <a:rPr lang="en-GB" baseline="0" dirty="0" smtClean="0"/>
              <a:t> provide 3 subnets, create 4 subnets</a:t>
            </a:r>
          </a:p>
          <a:p>
            <a:r>
              <a:rPr lang="en-GB" baseline="0" dirty="0" smtClean="0"/>
              <a:t>Borrow 2 bits, new prefix /18, subnet mask 255.255.192.0</a:t>
            </a:r>
          </a:p>
          <a:p>
            <a:r>
              <a:rPr lang="en-GB" baseline="0" dirty="0" smtClean="0"/>
              <a:t>Usable addresses per subnet is 2^14 -2 = 16382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893078858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050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E1438258-C8FF-47DF-B2C2-37BA6C9223C9}" type="slidenum">
              <a:rPr lang="en-US" sz="800" smtClean="0"/>
              <a:pPr/>
              <a:t>31</a:t>
            </a:fld>
            <a:endParaRPr lang="en-US" sz="800" smtClean="0"/>
          </a:p>
        </p:txBody>
      </p:sp>
      <p:sp>
        <p:nvSpPr>
          <p:cNvPr id="130051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0052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dirty="0" smtClean="0"/>
              <a:t>To</a:t>
            </a:r>
            <a:r>
              <a:rPr lang="en-GB" baseline="0" dirty="0" smtClean="0"/>
              <a:t> provide 3 subnets, create 4 subnets</a:t>
            </a:r>
          </a:p>
          <a:p>
            <a:r>
              <a:rPr lang="en-GB" baseline="0" dirty="0" smtClean="0"/>
              <a:t>Borrow 2 bits, new prefix /18, subnet mask 255.255.192.0</a:t>
            </a:r>
          </a:p>
          <a:p>
            <a:r>
              <a:rPr lang="en-GB" baseline="0" dirty="0" smtClean="0"/>
              <a:t>Usable addresses per subnet is 2^14 -2 = 16382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9525525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CA5AC96-FA2D-4025-8FD2-EE9BF5184DF6}" type="slidenum">
              <a:rPr lang="en-US" sz="800" smtClean="0"/>
              <a:pPr/>
              <a:t>36</a:t>
            </a:fld>
            <a:endParaRPr lang="en-US" sz="800" smtClean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dirty="0" smtClean="0"/>
              <a:t>And VLSM is easier to calculate compared to FLSM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86224428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CA5AC96-FA2D-4025-8FD2-EE9BF5184DF6}" type="slidenum">
              <a:rPr lang="en-US" sz="800" smtClean="0"/>
              <a:pPr/>
              <a:t>38</a:t>
            </a:fld>
            <a:endParaRPr lang="en-US" sz="800" smtClean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394289890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CA5AC96-FA2D-4025-8FD2-EE9BF5184DF6}" type="slidenum">
              <a:rPr lang="en-US" sz="800" smtClean="0"/>
              <a:pPr/>
              <a:t>39</a:t>
            </a:fld>
            <a:endParaRPr lang="en-US" sz="800" smtClean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1492542910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CA5AC96-FA2D-4025-8FD2-EE9BF5184DF6}" type="slidenum">
              <a:rPr lang="en-US" sz="800" smtClean="0"/>
              <a:pPr/>
              <a:t>40</a:t>
            </a:fld>
            <a:endParaRPr lang="en-US" sz="800" smtClean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0617623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CA5AC96-FA2D-4025-8FD2-EE9BF5184DF6}" type="slidenum">
              <a:rPr lang="en-US" sz="800" smtClean="0"/>
              <a:pPr/>
              <a:t>41</a:t>
            </a:fld>
            <a:endParaRPr lang="en-US" sz="800" smtClean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dirty="0" smtClean="0"/>
              <a:t>Next address block is 192.168.15.95 /27</a:t>
            </a:r>
          </a:p>
          <a:p>
            <a:r>
              <a:rPr lang="en-GB" dirty="0" smtClean="0"/>
              <a:t>Min # of host bits: 4</a:t>
            </a:r>
          </a:p>
          <a:p>
            <a:r>
              <a:rPr lang="en-GB" dirty="0" smtClean="0"/>
              <a:t>New prefix:</a:t>
            </a:r>
            <a:r>
              <a:rPr lang="en-GB" baseline="0" dirty="0" smtClean="0"/>
              <a:t> /28</a:t>
            </a:r>
          </a:p>
          <a:p>
            <a:r>
              <a:rPr lang="en-GB" baseline="0" dirty="0" smtClean="0"/>
              <a:t>New subnet address: 192.168.15.96/28</a:t>
            </a:r>
          </a:p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682795073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CA5AC96-FA2D-4025-8FD2-EE9BF5184DF6}" type="slidenum">
              <a:rPr lang="en-US" sz="800" smtClean="0"/>
              <a:pPr/>
              <a:t>42</a:t>
            </a:fld>
            <a:endParaRPr lang="en-US" sz="800" smtClean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r>
              <a:rPr lang="en-GB" dirty="0" smtClean="0"/>
              <a:t>The next block address for the WAN is 192.168.15.128 /28</a:t>
            </a:r>
          </a:p>
          <a:p>
            <a:r>
              <a:rPr lang="en-GB" dirty="0" smtClean="0"/>
              <a:t>Host bits required = 2</a:t>
            </a:r>
          </a:p>
          <a:p>
            <a:r>
              <a:rPr lang="en-GB" dirty="0" smtClean="0"/>
              <a:t>Subnet prefix = /30</a:t>
            </a:r>
          </a:p>
          <a:p>
            <a:r>
              <a:rPr lang="en-GB" dirty="0" smtClean="0"/>
              <a:t>Subnet address = 192.168.15.128 /30</a:t>
            </a:r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02986010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098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ACA5AC96-FA2D-4025-8FD2-EE9BF5184DF6}" type="slidenum">
              <a:rPr lang="en-US" sz="800" smtClean="0"/>
              <a:pPr/>
              <a:t>43</a:t>
            </a:fld>
            <a:endParaRPr lang="en-US" sz="800" smtClean="0"/>
          </a:p>
        </p:txBody>
      </p:sp>
      <p:sp>
        <p:nvSpPr>
          <p:cNvPr id="132099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210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10919545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6C4ED933-0609-42C2-B4AD-FA80F37D0D01}" type="slidenum">
              <a:rPr lang="en-US" sz="800" smtClean="0"/>
              <a:pPr/>
              <a:t>44</a:t>
            </a:fld>
            <a:endParaRPr lang="en-US" sz="800" smtClean="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844108485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146" name="Rectangle 11"/>
          <p:cNvSpPr>
            <a:spLocks noGrp="1" noChangeArrowheads="1"/>
          </p:cNvSpPr>
          <p:nvPr>
            <p:ph type="sldNum" sz="quarter" idx="5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 defTabSz="881063">
              <a:defRPr sz="2400">
                <a:solidFill>
                  <a:schemeClr val="tx1"/>
                </a:solidFill>
                <a:latin typeface="Arial" charset="0"/>
              </a:defRPr>
            </a:lvl1pPr>
            <a:lvl2pPr marL="742950" indent="-285750" defTabSz="881063">
              <a:defRPr sz="2400">
                <a:solidFill>
                  <a:schemeClr val="tx1"/>
                </a:solidFill>
                <a:latin typeface="Arial" charset="0"/>
              </a:defRPr>
            </a:lvl2pPr>
            <a:lvl3pPr marL="11430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3pPr>
            <a:lvl4pPr marL="16002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4pPr>
            <a:lvl5pPr marL="2057400" indent="-228600" defTabSz="881063">
              <a:defRPr sz="2400">
                <a:solidFill>
                  <a:schemeClr val="tx1"/>
                </a:solidFill>
                <a:latin typeface="Arial" charset="0"/>
              </a:defRPr>
            </a:lvl5pPr>
            <a:lvl6pPr marL="25146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6pPr>
            <a:lvl7pPr marL="29718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7pPr>
            <a:lvl8pPr marL="34290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8pPr>
            <a:lvl9pPr marL="3886200" indent="-228600" algn="ctr" defTabSz="881063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2400">
                <a:solidFill>
                  <a:schemeClr val="tx1"/>
                </a:solidFill>
                <a:latin typeface="Arial" charset="0"/>
              </a:defRPr>
            </a:lvl9pPr>
          </a:lstStyle>
          <a:p>
            <a:fld id="{6C4ED933-0609-42C2-B4AD-FA80F37D0D01}" type="slidenum">
              <a:rPr lang="en-US" sz="800" smtClean="0"/>
              <a:pPr/>
              <a:t>45</a:t>
            </a:fld>
            <a:endParaRPr lang="en-US" sz="800" smtClean="0"/>
          </a:p>
        </p:txBody>
      </p:sp>
      <p:sp>
        <p:nvSpPr>
          <p:cNvPr id="134147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ln/>
        </p:spPr>
      </p:sp>
      <p:sp>
        <p:nvSpPr>
          <p:cNvPr id="134148" name="Rectangle 3"/>
          <p:cNvSpPr>
            <a:spLocks noGrp="1" noChangeArrowheads="1"/>
          </p:cNvSpPr>
          <p:nvPr>
            <p:ph type="body" idx="1"/>
          </p:nvPr>
        </p:nvSpPr>
        <p:spPr>
          <a:noFill/>
          <a:ln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/>
          <a:p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20889896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ChangeArrowheads="1"/>
          </p:cNvSpPr>
          <p:nvPr/>
        </p:nvSpPr>
        <p:spPr bwMode="auto">
          <a:xfrm rot="16200000">
            <a:off x="3768725" y="-1665287"/>
            <a:ext cx="1606550" cy="9144000"/>
          </a:xfrm>
          <a:prstGeom prst="rect">
            <a:avLst/>
          </a:prstGeom>
          <a:solidFill>
            <a:srgbClr val="015F85"/>
          </a:solidFill>
          <a:ln w="9525" algn="ctr">
            <a:noFill/>
            <a:miter lim="800000"/>
            <a:headEnd/>
            <a:tailEnd/>
          </a:ln>
          <a:effectLst/>
        </p:spPr>
        <p:txBody>
          <a:bodyPr wrap="none" lIns="73025" tIns="36512" rIns="73025" bIns="36512" anchor="ctr"/>
          <a:lstStyle/>
          <a:p>
            <a:pPr>
              <a:defRPr/>
            </a:pPr>
            <a:endParaRPr lang="en-US"/>
          </a:p>
        </p:txBody>
      </p:sp>
      <p:sp>
        <p:nvSpPr>
          <p:cNvPr id="5" name="Rectangle 4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FEF16B2-A93B-43F0-AB32-DA1B339B6C34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pic>
        <p:nvPicPr>
          <p:cNvPr id="22" name="Picture 40" descr="logo_nyp.jpg"/>
          <p:cNvPicPr>
            <a:picLocks noChangeAspect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6353175"/>
            <a:ext cx="6477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957463" name="Rectangle 23"/>
          <p:cNvSpPr>
            <a:spLocks noGrp="1" noChangeArrowheads="1"/>
          </p:cNvSpPr>
          <p:nvPr>
            <p:ph type="ctrTitle"/>
          </p:nvPr>
        </p:nvSpPr>
        <p:spPr bwMode="white">
          <a:xfrm>
            <a:off x="1230313" y="2555875"/>
            <a:ext cx="6278562" cy="830263"/>
          </a:xfrm>
          <a:ln/>
        </p:spPr>
        <p:txBody>
          <a:bodyPr anchor="ctr"/>
          <a:lstStyle>
            <a:lvl1pPr>
              <a:defRPr sz="30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957464" name="Rectangle 24"/>
          <p:cNvSpPr>
            <a:spLocks noGrp="1" noChangeArrowheads="1"/>
          </p:cNvSpPr>
          <p:nvPr>
            <p:ph type="subTitle" idx="1"/>
          </p:nvPr>
        </p:nvSpPr>
        <p:spPr>
          <a:xfrm>
            <a:off x="650875" y="4733925"/>
            <a:ext cx="6940550" cy="419100"/>
          </a:xfrm>
          <a:ln/>
        </p:spPr>
        <p:txBody>
          <a:bodyPr/>
          <a:lstStyle>
            <a:lvl1pPr marL="0" indent="0">
              <a:lnSpc>
                <a:spcPct val="90000"/>
              </a:lnSpc>
              <a:buFont typeface="Wingdings" pitchFamily="2" charset="2"/>
              <a:buNone/>
              <a:defRPr sz="2000" b="1">
                <a:solidFill>
                  <a:schemeClr val="bg2"/>
                </a:solidFill>
              </a:defRPr>
            </a:lvl1pPr>
          </a:lstStyle>
          <a:p>
            <a:r>
              <a:rPr lang="en-US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408661403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/>
            </a:lvl1pPr>
            <a:lvl2pPr marL="800100" indent="-342900">
              <a:buFont typeface="Arial" pitchFamily="34" charset="0"/>
              <a:buChar char="•"/>
              <a:defRPr sz="2400"/>
            </a:lvl2pPr>
            <a:lvl3pPr marL="1257300" indent="-342900">
              <a:buFont typeface="Arial" pitchFamily="34" charset="0"/>
              <a:buChar char="•"/>
              <a:defRPr sz="2200"/>
            </a:lvl3pPr>
            <a:lvl4pPr marL="1597025" indent="-342900">
              <a:buFont typeface="Arial" pitchFamily="34" charset="0"/>
              <a:buChar char="•"/>
              <a:defRPr/>
            </a:lvl4pPr>
          </a:lstStyle>
          <a:p>
            <a:pPr lvl="0"/>
            <a:r>
              <a:rPr lang="en-US" dirty="0" smtClean="0"/>
              <a:t>Click to edit Master text styles</a:t>
            </a:r>
          </a:p>
          <a:p>
            <a:pPr lvl="1"/>
            <a:r>
              <a:rPr lang="en-US" dirty="0" smtClean="0"/>
              <a:t>Second level</a:t>
            </a:r>
          </a:p>
          <a:p>
            <a:pPr lvl="2"/>
            <a:r>
              <a:rPr lang="en-US" dirty="0" smtClean="0"/>
              <a:t>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378512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1312438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55638" y="1781175"/>
            <a:ext cx="3894137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02175" y="1781175"/>
            <a:ext cx="3894138" cy="3571875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721497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585631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449395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787627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778728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en-US" noProof="0" smtClean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0089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653023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765925" y="457200"/>
            <a:ext cx="2035175" cy="489585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5638" y="457200"/>
            <a:ext cx="5957887" cy="48958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311647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655638" y="457200"/>
            <a:ext cx="8145462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/>
          <a:p>
            <a:pPr lvl="0"/>
            <a:r>
              <a:rPr lang="en-US" smtClean="0"/>
              <a:t>Slide Title</a:t>
            </a:r>
          </a:p>
        </p:txBody>
      </p:sp>
      <p:sp>
        <p:nvSpPr>
          <p:cNvPr id="956420" name="Rectangle 4"/>
          <p:cNvSpPr>
            <a:spLocks noChangeArrowheads="1"/>
          </p:cNvSpPr>
          <p:nvPr/>
        </p:nvSpPr>
        <p:spPr bwMode="auto">
          <a:xfrm>
            <a:off x="0" y="0"/>
            <a:ext cx="9144000" cy="441325"/>
          </a:xfrm>
          <a:prstGeom prst="rect">
            <a:avLst/>
          </a:prstGeom>
          <a:solidFill>
            <a:srgbClr val="015F85"/>
          </a:solidFill>
          <a:ln w="25400" algn="ctr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>
              <a:defRPr/>
            </a:pPr>
            <a:endParaRPr lang="en-US"/>
          </a:p>
        </p:txBody>
      </p:sp>
      <p:sp>
        <p:nvSpPr>
          <p:cNvPr id="956424" name="Rectangle 8"/>
          <p:cNvSpPr>
            <a:spLocks noChangeArrowheads="1"/>
          </p:cNvSpPr>
          <p:nvPr/>
        </p:nvSpPr>
        <p:spPr bwMode="auto">
          <a:xfrm>
            <a:off x="8596313" y="6626225"/>
            <a:ext cx="320675" cy="234950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  <a:effectLst/>
        </p:spPr>
        <p:txBody>
          <a:bodyPr wrap="none" lIns="82124" tIns="41061" rIns="82124" bIns="41061" anchor="b">
            <a:spAutoFit/>
          </a:bodyPr>
          <a:lstStyle/>
          <a:p>
            <a:pPr algn="r" defTabSz="814388">
              <a:lnSpc>
                <a:spcPct val="100000"/>
              </a:lnSpc>
              <a:defRPr/>
            </a:pPr>
            <a:fld id="{8C5F450F-53CD-43AD-BBB0-50DAEBDD2855}" type="slidenum">
              <a:rPr lang="en-US" sz="1000">
                <a:solidFill>
                  <a:srgbClr val="D3D3D3"/>
                </a:solidFill>
              </a:rPr>
              <a:pPr algn="r" defTabSz="814388">
                <a:lnSpc>
                  <a:spcPct val="100000"/>
                </a:lnSpc>
                <a:defRPr/>
              </a:pPr>
              <a:t>‹#›</a:t>
            </a:fld>
            <a:endParaRPr lang="en-US" sz="1000">
              <a:solidFill>
                <a:srgbClr val="D3D3D3"/>
              </a:solidFill>
            </a:endParaRPr>
          </a:p>
        </p:txBody>
      </p:sp>
      <p:sp>
        <p:nvSpPr>
          <p:cNvPr id="1029" name="Rectangle 9"/>
          <p:cNvSpPr>
            <a:spLocks noGrp="1" noChangeArrowheads="1"/>
          </p:cNvSpPr>
          <p:nvPr>
            <p:ph type="body" idx="1"/>
          </p:nvPr>
        </p:nvSpPr>
        <p:spPr bwMode="auto">
          <a:xfrm>
            <a:off x="655638" y="1781175"/>
            <a:ext cx="7940675" cy="3571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dirty="0" smtClean="0"/>
              <a:t>Body Text</a:t>
            </a:r>
          </a:p>
          <a:p>
            <a:pPr lvl="1"/>
            <a:r>
              <a:rPr lang="en-US" dirty="0" smtClean="0"/>
              <a:t> Second Level</a:t>
            </a:r>
          </a:p>
          <a:p>
            <a:pPr lvl="2"/>
            <a:r>
              <a:rPr lang="en-US" dirty="0" smtClean="0"/>
              <a:t> Third Level</a:t>
            </a:r>
          </a:p>
          <a:p>
            <a:pPr lvl="3"/>
            <a:r>
              <a:rPr lang="en-US" dirty="0" smtClean="0"/>
              <a:t>Fourth Level</a:t>
            </a:r>
          </a:p>
          <a:p>
            <a:pPr lvl="4"/>
            <a:r>
              <a:rPr lang="en-US" dirty="0" smtClean="0"/>
              <a:t>Fifth Level</a:t>
            </a:r>
          </a:p>
        </p:txBody>
      </p:sp>
      <p:pic>
        <p:nvPicPr>
          <p:cNvPr id="1030" name="Picture 40" descr="logo_nyp.jpg"/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77800" y="6353175"/>
            <a:ext cx="647700" cy="32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801" r:id="rId1"/>
    <p:sldLayoutId id="2147483791" r:id="rId2"/>
    <p:sldLayoutId id="2147483792" r:id="rId3"/>
    <p:sldLayoutId id="2147483793" r:id="rId4"/>
    <p:sldLayoutId id="2147483794" r:id="rId5"/>
    <p:sldLayoutId id="2147483795" r:id="rId6"/>
    <p:sldLayoutId id="2147483796" r:id="rId7"/>
    <p:sldLayoutId id="2147483797" r:id="rId8"/>
    <p:sldLayoutId id="2147483798" r:id="rId9"/>
    <p:sldLayoutId id="2147483799" r:id="rId10"/>
    <p:sldLayoutId id="2147483800" r:id="rId11"/>
  </p:sldLayoutIdLst>
  <p:timing>
    <p:tnLst>
      <p:par>
        <p:cTn id="1" dur="indefinite" restart="never" nodeType="tmRoot"/>
      </p:par>
    </p:tnLst>
  </p:timing>
  <p:txStyles>
    <p:titleStyle>
      <a:lvl1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+mj-lt"/>
          <a:ea typeface="+mj-ea"/>
          <a:cs typeface="+mj-cs"/>
        </a:defRPr>
      </a:lvl1pPr>
      <a:lvl2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2pPr>
      <a:lvl3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3pPr>
      <a:lvl4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4pPr>
      <a:lvl5pPr algn="l" defTabSz="814388" rtl="0" eaLnBrk="0" fontAlgn="base" hangingPunct="0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5pPr>
      <a:lvl6pPr marL="4572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6pPr>
      <a:lvl7pPr marL="9144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7pPr>
      <a:lvl8pPr marL="13716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8pPr>
      <a:lvl9pPr marL="1828800" algn="l" defTabSz="814388" rtl="0" fontAlgn="base">
        <a:lnSpc>
          <a:spcPct val="90000"/>
        </a:lnSpc>
        <a:spcBef>
          <a:spcPct val="0"/>
        </a:spcBef>
        <a:spcAft>
          <a:spcPct val="0"/>
        </a:spcAft>
        <a:defRPr sz="3200" b="1">
          <a:solidFill>
            <a:schemeClr val="tx2"/>
          </a:solidFill>
          <a:latin typeface="Arial" charset="0"/>
        </a:defRPr>
      </a:lvl9pPr>
    </p:titleStyle>
    <p:bodyStyle>
      <a:lvl1pPr marL="236538" indent="-236538" algn="l" defTabSz="814388" rtl="0" eaLnBrk="0" fontAlgn="base" hangingPunct="0">
        <a:lnSpc>
          <a:spcPct val="95000"/>
        </a:lnSpc>
        <a:spcBef>
          <a:spcPct val="50000"/>
        </a:spcBef>
        <a:spcAft>
          <a:spcPct val="0"/>
        </a:spcAft>
        <a:buClr>
          <a:schemeClr val="tx2"/>
        </a:buClr>
        <a:buSzPct val="100000"/>
        <a:buFont typeface="Wingdings" pitchFamily="2" charset="2"/>
        <a:buChar char="§"/>
        <a:defRPr sz="2400">
          <a:solidFill>
            <a:schemeClr val="tx1"/>
          </a:solidFill>
          <a:latin typeface="+mn-lt"/>
          <a:ea typeface="+mn-ea"/>
          <a:cs typeface="+mn-cs"/>
        </a:defRPr>
      </a:lvl1pPr>
      <a:lvl2pPr marL="574675" indent="-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Font typeface="Arial" pitchFamily="34" charset="0"/>
        <a:buChar char="•"/>
        <a:defRPr sz="2000">
          <a:solidFill>
            <a:schemeClr val="tx1"/>
          </a:solidFill>
          <a:latin typeface="+mn-lt"/>
        </a:defRPr>
      </a:lvl2pPr>
      <a:lvl3pPr marL="914400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•"/>
        <a:defRPr sz="2000">
          <a:solidFill>
            <a:schemeClr val="tx1"/>
          </a:solidFill>
          <a:latin typeface="+mn-lt"/>
        </a:defRPr>
      </a:lvl3pPr>
      <a:lvl4pPr marL="1254125" indent="117475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–"/>
        <a:defRPr sz="2000">
          <a:solidFill>
            <a:schemeClr val="tx1"/>
          </a:solidFill>
          <a:latin typeface="+mn-lt"/>
        </a:defRPr>
      </a:lvl4pPr>
      <a:lvl5pPr marL="1604963" indent="223838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5pPr>
      <a:lvl6pPr marL="20621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6pPr>
      <a:lvl7pPr marL="25193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7pPr>
      <a:lvl8pPr marL="29765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8pPr>
      <a:lvl9pPr marL="3433763" algn="l" defTabSz="814388" rtl="0" eaLnBrk="0" fontAlgn="base" hangingPunct="0">
        <a:lnSpc>
          <a:spcPct val="95000"/>
        </a:lnSpc>
        <a:spcBef>
          <a:spcPct val="35000"/>
        </a:spcBef>
        <a:spcAft>
          <a:spcPct val="0"/>
        </a:spcAft>
        <a:buChar char="»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1.xml"/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2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3.xml"/><Relationship Id="rId1" Type="http://schemas.openxmlformats.org/officeDocument/2006/relationships/slideLayout" Target="../slideLayouts/slideLayout2.xml"/></Relationships>
</file>

<file path=ppt/slides/_rels/slide4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4.xml"/><Relationship Id="rId1" Type="http://schemas.openxmlformats.org/officeDocument/2006/relationships/slideLayout" Target="../slideLayouts/slideLayout2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Rectangle 2"/>
          <p:cNvSpPr>
            <a:spLocks noGrp="1" noChangeArrowheads="1"/>
          </p:cNvSpPr>
          <p:nvPr>
            <p:ph type="ctrTitle" sz="quarter"/>
          </p:nvPr>
        </p:nvSpPr>
        <p:spPr>
          <a:xfrm>
            <a:off x="422275" y="1928553"/>
            <a:ext cx="8008938" cy="1578235"/>
          </a:xfrm>
          <a:noFill/>
        </p:spPr>
        <p:txBody>
          <a:bodyPr/>
          <a:lstStyle/>
          <a:p>
            <a:pPr eaLnBrk="1" hangingPunct="1"/>
            <a:r>
              <a:rPr lang="en-CA" altLang="ja-JP" dirty="0" smtClean="0">
                <a:ea typeface="ＭＳ Ｐゴシック" pitchFamily="34" charset="-128"/>
              </a:rPr>
              <a:t>Addressing The Network – IPv4</a:t>
            </a:r>
            <a:br>
              <a:rPr lang="en-CA" altLang="ja-JP" dirty="0" smtClean="0">
                <a:ea typeface="ＭＳ Ｐゴシック" pitchFamily="34" charset="-128"/>
              </a:rPr>
            </a:br>
            <a:r>
              <a:rPr lang="en-CA" altLang="ja-JP" sz="1800" dirty="0" smtClean="0">
                <a:ea typeface="ＭＳ Ｐゴシック" pitchFamily="34" charset="-128"/>
              </a:rPr>
              <a:t/>
            </a:r>
            <a:br>
              <a:rPr lang="en-CA" altLang="ja-JP" sz="1800" dirty="0" smtClean="0">
                <a:ea typeface="ＭＳ Ｐゴシック" pitchFamily="34" charset="-128"/>
              </a:rPr>
            </a:br>
            <a:r>
              <a:rPr lang="en-CA" altLang="ja-JP" sz="1800" dirty="0" smtClean="0">
                <a:ea typeface="ＭＳ Ｐゴシック" pitchFamily="34" charset="-128"/>
              </a:rPr>
              <a:t>2018 </a:t>
            </a:r>
            <a:r>
              <a:rPr lang="en-CA" altLang="ja-JP" sz="1800" dirty="0" smtClean="0">
                <a:ea typeface="ＭＳ Ｐゴシック" pitchFamily="34" charset="-128"/>
              </a:rPr>
              <a:t>S1</a:t>
            </a:r>
            <a:endParaRPr lang="en-US" dirty="0" smtClean="0"/>
          </a:p>
        </p:txBody>
      </p:sp>
      <p:sp>
        <p:nvSpPr>
          <p:cNvPr id="3075" name="Rectangle 3"/>
          <p:cNvSpPr>
            <a:spLocks noGrp="1" noChangeArrowheads="1"/>
          </p:cNvSpPr>
          <p:nvPr>
            <p:ph type="subTitle" sz="quarter" idx="1"/>
          </p:nvPr>
        </p:nvSpPr>
        <p:spPr>
          <a:xfrm>
            <a:off x="650875" y="4733926"/>
            <a:ext cx="6940550" cy="370090"/>
          </a:xfrm>
          <a:noFill/>
        </p:spPr>
        <p:txBody>
          <a:bodyPr/>
          <a:lstStyle/>
          <a:p>
            <a:pPr>
              <a:lnSpc>
                <a:spcPct val="70000"/>
              </a:lnSpc>
            </a:pPr>
            <a:r>
              <a:rPr lang="en-CA" altLang="ja-JP" sz="1800" dirty="0" smtClean="0">
                <a:ea typeface="ＭＳ Ｐゴシック" pitchFamily="34" charset="-128"/>
              </a:rPr>
              <a:t>Diploma in </a:t>
            </a:r>
            <a:r>
              <a:rPr lang="en-CA" altLang="ja-JP" sz="1800" dirty="0" err="1" smtClean="0">
                <a:ea typeface="ＭＳ Ｐゴシック" pitchFamily="34" charset="-128"/>
              </a:rPr>
              <a:t>Infocomm</a:t>
            </a:r>
            <a:r>
              <a:rPr lang="en-CA" altLang="ja-JP" sz="1800" dirty="0" smtClean="0">
                <a:ea typeface="ＭＳ Ｐゴシック" pitchFamily="34" charset="-128"/>
              </a:rPr>
              <a:t> and </a:t>
            </a:r>
            <a:r>
              <a:rPr lang="en-CA" altLang="ja-JP" sz="1800" dirty="0" smtClean="0">
                <a:ea typeface="ＭＳ Ｐゴシック" pitchFamily="34" charset="-128"/>
              </a:rPr>
              <a:t>Security</a:t>
            </a:r>
            <a:endParaRPr lang="en-CA" altLang="ja-JP" sz="1800" dirty="0" smtClean="0">
              <a:ea typeface="ＭＳ Ｐゴシック" pitchFamily="34" charset="-128"/>
            </a:endParaRPr>
          </a:p>
          <a:p>
            <a:pPr>
              <a:lnSpc>
                <a:spcPct val="70000"/>
              </a:lnSpc>
            </a:pPr>
            <a:endParaRPr lang="en-CA" altLang="ja-JP" sz="1800" dirty="0" smtClean="0">
              <a:ea typeface="ＭＳ Ｐゴシック" pitchFamily="34" charset="-128"/>
            </a:endParaRPr>
          </a:p>
          <a:p>
            <a:pPr>
              <a:lnSpc>
                <a:spcPct val="70000"/>
              </a:lnSpc>
            </a:pPr>
            <a:r>
              <a:rPr lang="en-CA" altLang="ja-JP" sz="1800" dirty="0" smtClean="0">
                <a:ea typeface="ＭＳ Ｐゴシック" pitchFamily="34" charset="-128"/>
              </a:rPr>
              <a:t>IT2762 Networking and Communications</a:t>
            </a:r>
            <a:endParaRPr lang="en-US" sz="1800" dirty="0" smtClean="0"/>
          </a:p>
        </p:txBody>
      </p:sp>
      <p:sp>
        <p:nvSpPr>
          <p:cNvPr id="3076" name="Rectangle 4"/>
          <p:cNvSpPr>
            <a:spLocks noChangeArrowheads="1"/>
          </p:cNvSpPr>
          <p:nvPr/>
        </p:nvSpPr>
        <p:spPr bwMode="auto">
          <a:xfrm>
            <a:off x="312738" y="5691188"/>
            <a:ext cx="4103687" cy="65881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lIns="82124" tIns="41061" rIns="82124" bIns="41061"/>
          <a:lstStyle/>
          <a:p>
            <a:pPr algn="l" defTabSz="814388">
              <a:lnSpc>
                <a:spcPct val="70000"/>
              </a:lnSpc>
              <a:spcBef>
                <a:spcPct val="50000"/>
              </a:spcBef>
              <a:buClr>
                <a:schemeClr val="tx2"/>
              </a:buClr>
              <a:buSzPct val="100000"/>
              <a:buFont typeface="Wingdings" pitchFamily="2" charset="2"/>
              <a:buNone/>
            </a:pPr>
            <a:endParaRPr lang="en-US" b="1">
              <a:solidFill>
                <a:schemeClr val="bg2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567559"/>
            <a:ext cx="8488363" cy="756743"/>
          </a:xfrm>
        </p:spPr>
        <p:txBody>
          <a:bodyPr/>
          <a:lstStyle/>
          <a:p>
            <a:pPr eaLnBrk="1" hangingPunct="1"/>
            <a:r>
              <a:rPr lang="en-US" altLang="ja-JP" dirty="0" smtClean="0">
                <a:ea typeface="ＭＳ Ｐゴシック" pitchFamily="34" charset="-128"/>
              </a:rPr>
              <a:t>Overview</a:t>
            </a:r>
            <a:endParaRPr lang="en-US" dirty="0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513490"/>
            <a:ext cx="8645689" cy="4955573"/>
          </a:xfrm>
        </p:spPr>
        <p:txBody>
          <a:bodyPr/>
          <a:lstStyle/>
          <a:p>
            <a:r>
              <a:rPr lang="en-GB" sz="2400" dirty="0" smtClean="0"/>
              <a:t>Anatomy of an IPv4 address</a:t>
            </a:r>
          </a:p>
          <a:p>
            <a:r>
              <a:rPr lang="en-GB" sz="2400" dirty="0" smtClean="0"/>
              <a:t>Binary to Decimal and Decimal to Binary Conversion</a:t>
            </a:r>
          </a:p>
          <a:p>
            <a:r>
              <a:rPr lang="en-GB" sz="2400" dirty="0" smtClean="0"/>
              <a:t>3 Types of IPv4 Addresses</a:t>
            </a:r>
          </a:p>
          <a:p>
            <a:r>
              <a:rPr lang="en-GB" sz="2400" dirty="0" smtClean="0"/>
              <a:t>Calculate Network, Hosts and Broadcast </a:t>
            </a:r>
            <a:r>
              <a:rPr lang="en-GB" sz="2400" dirty="0"/>
              <a:t>A</a:t>
            </a:r>
            <a:r>
              <a:rPr lang="en-GB" sz="2400" dirty="0" smtClean="0"/>
              <a:t>ddresses</a:t>
            </a:r>
          </a:p>
          <a:p>
            <a:r>
              <a:rPr lang="en-GB" sz="2400" dirty="0" err="1" smtClean="0"/>
              <a:t>Subnetting</a:t>
            </a:r>
            <a:r>
              <a:rPr lang="en-GB" sz="2400" dirty="0" smtClean="0"/>
              <a:t> with FLSM</a:t>
            </a:r>
          </a:p>
          <a:p>
            <a:r>
              <a:rPr lang="en-GB" sz="2400" dirty="0" err="1" smtClean="0"/>
              <a:t>Subnetting</a:t>
            </a:r>
            <a:r>
              <a:rPr lang="en-GB" sz="2400" dirty="0" smtClean="0"/>
              <a:t> with VLSM</a:t>
            </a:r>
          </a:p>
          <a:p>
            <a:endParaRPr lang="en-GB" sz="2400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3144854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6448" y="1781175"/>
            <a:ext cx="8059865" cy="3571875"/>
          </a:xfrm>
        </p:spPr>
        <p:txBody>
          <a:bodyPr/>
          <a:lstStyle/>
          <a:p>
            <a:pPr marL="0" indent="0" algn="ctr">
              <a:buNone/>
            </a:pPr>
            <a:r>
              <a:rPr lang="en-GB" sz="5400" dirty="0" smtClean="0"/>
              <a:t>192  .  168  .  10  .   1 </a:t>
            </a:r>
          </a:p>
          <a:p>
            <a:pPr marL="0" indent="0" algn="ctr">
              <a:buNone/>
            </a:pPr>
            <a:endParaRPr lang="en-GB" sz="2800" dirty="0" smtClean="0"/>
          </a:p>
          <a:p>
            <a:pPr marL="0" indent="0" algn="ctr">
              <a:buNone/>
            </a:pPr>
            <a:r>
              <a:rPr lang="en-GB" sz="2800" dirty="0" smtClean="0"/>
              <a:t>11000000 . 10101000 . 00001010 . 00000001</a:t>
            </a:r>
          </a:p>
          <a:p>
            <a:pPr marL="0" indent="0" algn="ctr">
              <a:buNone/>
            </a:pPr>
            <a:endParaRPr lang="en-GB" sz="2800" dirty="0" smtClean="0"/>
          </a:p>
          <a:p>
            <a:pPr marL="0" indent="0" algn="ctr">
              <a:buNone/>
            </a:pPr>
            <a:endParaRPr lang="en-GB" sz="2800" dirty="0" smtClean="0"/>
          </a:p>
          <a:p>
            <a:pPr marL="0" indent="0" algn="r">
              <a:buNone/>
            </a:pPr>
            <a:r>
              <a:rPr lang="en-GB" sz="2400" i="1" dirty="0" smtClean="0"/>
              <a:t>assuming a network mask of 255.255.255.0</a:t>
            </a:r>
            <a:endParaRPr lang="en-US" sz="2400" i="1" dirty="0"/>
          </a:p>
        </p:txBody>
      </p:sp>
      <p:sp>
        <p:nvSpPr>
          <p:cNvPr id="512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smtClean="0">
                <a:ea typeface="ＭＳ Ｐゴシック" pitchFamily="34" charset="-128"/>
              </a:rPr>
              <a:t>The Anatomy of an IPv4 Address</a:t>
            </a:r>
            <a:endParaRPr lang="en-US" sz="2800" smtClean="0"/>
          </a:p>
        </p:txBody>
      </p:sp>
      <p:sp>
        <p:nvSpPr>
          <p:cNvPr id="4" name="Rounded Rectangle 3"/>
          <p:cNvSpPr/>
          <p:nvPr/>
        </p:nvSpPr>
        <p:spPr bwMode="auto">
          <a:xfrm>
            <a:off x="536448" y="1804416"/>
            <a:ext cx="2194560" cy="2944511"/>
          </a:xfrm>
          <a:prstGeom prst="roundRect">
            <a:avLst/>
          </a:prstGeom>
          <a:solidFill>
            <a:schemeClr val="accent1">
              <a:alpha val="2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2296" tIns="36576" rIns="82296" bIns="36576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dirty="0"/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dirty="0"/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dirty="0"/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an octet</a:t>
            </a:r>
            <a:endParaRPr kumimoji="0" lang="en-US" sz="2400" b="0" i="1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5" name="Rounded Rectangle 4"/>
          <p:cNvSpPr/>
          <p:nvPr/>
        </p:nvSpPr>
        <p:spPr bwMode="auto">
          <a:xfrm>
            <a:off x="536448" y="1511808"/>
            <a:ext cx="5888736" cy="2511552"/>
          </a:xfrm>
          <a:prstGeom prst="roundRect">
            <a:avLst/>
          </a:prstGeom>
          <a:solidFill>
            <a:srgbClr val="FFC000">
              <a:alpha val="20000"/>
            </a:srgbClr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2296" tIns="36576" rIns="82296" bIns="36576" numCol="1" rtlCol="0" anchor="t" anchorCtr="0" compatLnSpc="1">
            <a:prstTxWarp prst="textNoShape">
              <a:avLst/>
            </a:prstTxWarp>
            <a:no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GB" dirty="0"/>
          </a:p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GB" sz="2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  <a:p>
            <a:pPr marL="0" marR="0" indent="0" algn="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2400" b="0" i="1" u="none" strike="noStrike" cap="none" normalizeH="0" baseline="0" dirty="0" smtClean="0">
                <a:ln>
                  <a:noFill/>
                </a:ln>
                <a:solidFill>
                  <a:srgbClr val="FF0000"/>
                </a:solidFill>
                <a:effectLst/>
                <a:latin typeface="Arial" charset="0"/>
              </a:rPr>
              <a:t>network portion</a:t>
            </a:r>
            <a:endParaRPr kumimoji="0" lang="en-US" sz="2400" b="0" i="1" u="none" strike="noStrike" cap="none" normalizeH="0" baseline="0" dirty="0" smtClean="0">
              <a:ln>
                <a:noFill/>
              </a:ln>
              <a:solidFill>
                <a:srgbClr val="FF0000"/>
              </a:solidFill>
              <a:effectLst/>
              <a:latin typeface="Arial" charset="0"/>
            </a:endParaRPr>
          </a:p>
        </p:txBody>
      </p:sp>
      <p:sp>
        <p:nvSpPr>
          <p:cNvPr id="6" name="Rounded Rectangle 5"/>
          <p:cNvSpPr/>
          <p:nvPr/>
        </p:nvSpPr>
        <p:spPr bwMode="auto">
          <a:xfrm>
            <a:off x="6510528" y="1511808"/>
            <a:ext cx="2097024" cy="2511552"/>
          </a:xfrm>
          <a:prstGeom prst="roundRect">
            <a:avLst/>
          </a:prstGeom>
          <a:solidFill>
            <a:schemeClr val="accent2">
              <a:lumMod val="60000"/>
              <a:lumOff val="40000"/>
              <a:alpha val="20000"/>
            </a:schemeClr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2296" tIns="36576" rIns="82296" bIns="36576" numCol="1" rtlCol="0" anchor="t" anchorCtr="0" compatLnSpc="1">
            <a:prstTxWarp prst="textNoShape">
              <a:avLst/>
            </a:prstTxWarp>
            <a:noAutofit/>
          </a:bodyPr>
          <a:lstStyle/>
          <a:p>
            <a:pPr algn="r" defTabSz="814388"/>
            <a:endParaRPr lang="en-GB" i="1" dirty="0" smtClean="0">
              <a:solidFill>
                <a:srgbClr val="FF0000"/>
              </a:solidFill>
            </a:endParaRPr>
          </a:p>
          <a:p>
            <a:pPr algn="r" defTabSz="814388"/>
            <a:endParaRPr lang="en-GB" i="1" dirty="0">
              <a:solidFill>
                <a:srgbClr val="FF0000"/>
              </a:solidFill>
            </a:endParaRPr>
          </a:p>
          <a:p>
            <a:pPr algn="r" defTabSz="814388"/>
            <a:endParaRPr lang="en-GB" i="1" dirty="0" smtClean="0">
              <a:solidFill>
                <a:srgbClr val="FF0000"/>
              </a:solidFill>
            </a:endParaRPr>
          </a:p>
          <a:p>
            <a:pPr algn="r" defTabSz="814388"/>
            <a:r>
              <a:rPr lang="en-GB" i="1" dirty="0" smtClean="0">
                <a:solidFill>
                  <a:srgbClr val="FF0000"/>
                </a:solidFill>
              </a:rPr>
              <a:t>host portion</a:t>
            </a:r>
            <a:endParaRPr lang="en-US" i="1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Binary to Decimal Conversion</a:t>
            </a:r>
            <a:endParaRPr lang="en-US" sz="2800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106488"/>
            <a:ext cx="8629713" cy="5362575"/>
          </a:xfrm>
        </p:spPr>
        <p:txBody>
          <a:bodyPr/>
          <a:lstStyle/>
          <a:p>
            <a:r>
              <a:rPr lang="en-US" sz="2000" dirty="0" smtClean="0">
                <a:solidFill>
                  <a:schemeClr val="accent2"/>
                </a:solidFill>
              </a:rPr>
              <a:t>The Base 10 number system</a:t>
            </a:r>
          </a:p>
          <a:p>
            <a:pPr lvl="1"/>
            <a:r>
              <a:rPr lang="en-US" sz="1800" dirty="0" smtClean="0"/>
              <a:t> 245 is actually: </a:t>
            </a:r>
          </a:p>
          <a:p>
            <a:pPr lvl="2">
              <a:buNone/>
            </a:pPr>
            <a:r>
              <a:rPr lang="en-GB" sz="1800" dirty="0" smtClean="0"/>
              <a:t>		</a:t>
            </a:r>
            <a:endParaRPr lang="en-US" sz="1800" dirty="0" smtClean="0"/>
          </a:p>
          <a:p>
            <a:endParaRPr lang="en-US" sz="2000" dirty="0" smtClean="0">
              <a:solidFill>
                <a:schemeClr val="accent2"/>
              </a:solidFill>
            </a:endParaRPr>
          </a:p>
          <a:p>
            <a:endParaRPr lang="en-US" sz="2000" dirty="0">
              <a:solidFill>
                <a:schemeClr val="accent2"/>
              </a:solidFill>
            </a:endParaRPr>
          </a:p>
          <a:p>
            <a:r>
              <a:rPr lang="en-US" sz="2000" dirty="0" smtClean="0">
                <a:solidFill>
                  <a:schemeClr val="accent2"/>
                </a:solidFill>
              </a:rPr>
              <a:t>The Binary number system (or Base 2)</a:t>
            </a:r>
          </a:p>
          <a:p>
            <a:pPr lvl="1"/>
            <a:r>
              <a:rPr lang="en-US" sz="1800" dirty="0" smtClean="0"/>
              <a:t> only two digits: 0 and 1</a:t>
            </a:r>
          </a:p>
          <a:p>
            <a:pPr lvl="1"/>
            <a:r>
              <a:rPr lang="en-GB" sz="1800" dirty="0"/>
              <a:t> </a:t>
            </a:r>
            <a:r>
              <a:rPr lang="en-GB" sz="1800" dirty="0" smtClean="0"/>
              <a:t>let’s examine 1 octet, 1 1 1 0 0 1 0 1:-</a:t>
            </a:r>
          </a:p>
          <a:p>
            <a:pPr lvl="1"/>
            <a:endParaRPr lang="en-GB" sz="1800" dirty="0"/>
          </a:p>
          <a:p>
            <a:pPr lvl="1"/>
            <a:endParaRPr lang="en-GB" sz="1800" dirty="0" smtClean="0"/>
          </a:p>
          <a:p>
            <a:pPr lvl="1"/>
            <a:endParaRPr lang="en-GB" sz="1800" dirty="0"/>
          </a:p>
          <a:p>
            <a:pPr lvl="1"/>
            <a:endParaRPr lang="en-GB" sz="1800" dirty="0" smtClean="0"/>
          </a:p>
          <a:p>
            <a:pPr lvl="1"/>
            <a:r>
              <a:rPr lang="en-GB" sz="1800" dirty="0" smtClean="0"/>
              <a:t>Thus 11100101	= 128 + 64 + 32 + 4 + 1 </a:t>
            </a:r>
            <a:endParaRPr lang="en-US" sz="1800" dirty="0" smtClean="0"/>
          </a:p>
          <a:p>
            <a:pPr lvl="1" indent="0">
              <a:buFontTx/>
              <a:buNone/>
            </a:pPr>
            <a:r>
              <a:rPr lang="en-GB" sz="1800" dirty="0" smtClean="0"/>
              <a:t>			= 229</a:t>
            </a:r>
            <a:endParaRPr lang="en-US" sz="1800" dirty="0" smtClean="0"/>
          </a:p>
          <a:p>
            <a:pPr marL="0" indent="0">
              <a:buNone/>
            </a:pPr>
            <a:endParaRPr lang="en-US" sz="2000" dirty="0" smtClean="0">
              <a:solidFill>
                <a:schemeClr val="accent2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92301213"/>
              </p:ext>
            </p:extLst>
          </p:nvPr>
        </p:nvGraphicFramePr>
        <p:xfrm>
          <a:off x="2060448" y="4347464"/>
          <a:ext cx="6096000" cy="111252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7620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 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sz="1800" cap="small" dirty="0" smtClean="0"/>
                        <a:t>x 2</a:t>
                      </a:r>
                      <a:r>
                        <a:rPr lang="en-US" sz="1800" cap="small" baseline="30000" dirty="0" smtClean="0"/>
                        <a:t>7</a:t>
                      </a:r>
                      <a:endParaRPr lang="en-US" cap="smal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cap="small" dirty="0" smtClean="0"/>
                        <a:t>x 2</a:t>
                      </a:r>
                      <a:r>
                        <a:rPr lang="en-US" sz="1800" cap="small" baseline="30000" dirty="0" smtClean="0"/>
                        <a:t>6</a:t>
                      </a:r>
                      <a:endParaRPr lang="en-US" cap="smal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cap="small" dirty="0" smtClean="0"/>
                        <a:t>x 2</a:t>
                      </a:r>
                      <a:r>
                        <a:rPr lang="en-US" sz="1800" cap="small" baseline="30000" dirty="0" smtClean="0"/>
                        <a:t>5</a:t>
                      </a:r>
                      <a:endParaRPr lang="en-US" cap="smal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cap="small" dirty="0" smtClean="0"/>
                        <a:t>x 2</a:t>
                      </a:r>
                      <a:r>
                        <a:rPr lang="en-US" sz="1800" cap="small" baseline="30000" dirty="0" smtClean="0"/>
                        <a:t>4</a:t>
                      </a:r>
                      <a:endParaRPr lang="en-US" cap="smal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cap="small" dirty="0" smtClean="0"/>
                        <a:t>x 2</a:t>
                      </a:r>
                      <a:r>
                        <a:rPr lang="en-US" sz="1800" cap="small" baseline="30000" dirty="0" smtClean="0"/>
                        <a:t>3</a:t>
                      </a:r>
                      <a:endParaRPr lang="en-US" cap="smal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cap="small" dirty="0" smtClean="0"/>
                        <a:t>x 2</a:t>
                      </a:r>
                      <a:r>
                        <a:rPr lang="en-US" sz="1800" cap="small" baseline="30000" dirty="0" smtClean="0"/>
                        <a:t>2</a:t>
                      </a:r>
                      <a:endParaRPr lang="en-US" cap="smal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cap="small" dirty="0" smtClean="0"/>
                        <a:t>x 2</a:t>
                      </a:r>
                      <a:r>
                        <a:rPr lang="en-US" sz="1800" cap="small" baseline="30000" dirty="0" smtClean="0"/>
                        <a:t>1</a:t>
                      </a:r>
                      <a:endParaRPr lang="en-US" cap="small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sz="1800" cap="small" dirty="0" smtClean="0"/>
                        <a:t>x 2</a:t>
                      </a:r>
                      <a:r>
                        <a:rPr lang="en-US" sz="1800" cap="small" baseline="30000" dirty="0" smtClean="0"/>
                        <a:t>0</a:t>
                      </a:r>
                      <a:endParaRPr lang="en-US" cap="small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128 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64 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32 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 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 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4 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0 +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292601727"/>
              </p:ext>
            </p:extLst>
          </p:nvPr>
        </p:nvGraphicFramePr>
        <p:xfrm>
          <a:off x="3072384" y="1579880"/>
          <a:ext cx="3182112" cy="1151127"/>
        </p:xfrm>
        <a:graphic>
          <a:graphicData uri="http://schemas.openxmlformats.org/drawingml/2006/table">
            <a:tbl>
              <a:tblPr firstRow="1" bandRow="1">
                <a:tableStyleId>{8A107856-5554-42FB-B03E-39F5DBC370BA}</a:tableStyleId>
              </a:tblPr>
              <a:tblGrid>
                <a:gridCol w="10607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607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83709"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4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x 10</a:t>
                      </a:r>
                      <a:r>
                        <a:rPr lang="en-US" sz="1800" baseline="30000" dirty="0" smtClean="0"/>
                        <a:t>2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x 10</a:t>
                      </a:r>
                      <a:r>
                        <a:rPr lang="en-US" sz="1800" baseline="30000" dirty="0" smtClean="0"/>
                        <a:t>1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 smtClean="0"/>
                        <a:t>x 10</a:t>
                      </a:r>
                      <a:r>
                        <a:rPr lang="en-US" sz="1800" baseline="30000" dirty="0" smtClean="0"/>
                        <a:t>0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3709">
                <a:tc>
                  <a:txBody>
                    <a:bodyPr/>
                    <a:lstStyle/>
                    <a:p>
                      <a:r>
                        <a:rPr lang="en-GB" dirty="0" smtClean="0"/>
                        <a:t>200 +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40 +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5</a:t>
                      </a:r>
                      <a:endParaRPr lang="en-US" dirty="0">
                        <a:solidFill>
                          <a:schemeClr val="tx1"/>
                        </a:solidFill>
                      </a:endParaRPr>
                    </a:p>
                  </a:txBody>
                  <a:tcP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4" name="Rounded Rectangle 3"/>
          <p:cNvSpPr/>
          <p:nvPr/>
        </p:nvSpPr>
        <p:spPr bwMode="auto">
          <a:xfrm>
            <a:off x="2661314" y="1965278"/>
            <a:ext cx="4817660" cy="357545"/>
          </a:xfrm>
          <a:prstGeom prst="roundRect">
            <a:avLst/>
          </a:prstGeom>
          <a:solidFill>
            <a:srgbClr val="FFC000">
              <a:alpha val="20000"/>
            </a:srgbClr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2296" tIns="36576" rIns="82296" bIns="36576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GB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charset="0"/>
              </a:rPr>
              <a:t>Base 10</a:t>
            </a:r>
            <a:endParaRPr kumimoji="0" 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Binary to Decimal Conversion</a:t>
            </a:r>
            <a:endParaRPr lang="en-US" sz="2800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106488"/>
            <a:ext cx="8629713" cy="5362575"/>
          </a:xfrm>
        </p:spPr>
        <p:txBody>
          <a:bodyPr/>
          <a:lstStyle/>
          <a:p>
            <a:r>
              <a:rPr lang="en-GB" sz="2400" dirty="0">
                <a:solidFill>
                  <a:schemeClr val="accent2"/>
                </a:solidFill>
              </a:rPr>
              <a:t>To simplify conversion, these are </a:t>
            </a:r>
            <a:r>
              <a:rPr lang="en-GB" sz="2400" dirty="0" smtClean="0">
                <a:solidFill>
                  <a:schemeClr val="accent2"/>
                </a:solidFill>
              </a:rPr>
              <a:t>the individual </a:t>
            </a:r>
            <a:r>
              <a:rPr lang="en-GB" sz="2400" dirty="0">
                <a:solidFill>
                  <a:schemeClr val="accent2"/>
                </a:solidFill>
              </a:rPr>
              <a:t>values across an octet</a:t>
            </a:r>
            <a:r>
              <a:rPr lang="en-GB" sz="2400" dirty="0" smtClean="0">
                <a:solidFill>
                  <a:schemeClr val="accent2"/>
                </a:solidFill>
              </a:rPr>
              <a:t>:-</a:t>
            </a:r>
          </a:p>
          <a:p>
            <a:pPr marL="0" indent="0">
              <a:buNone/>
            </a:pPr>
            <a:r>
              <a:rPr lang="en-GB" sz="2400" dirty="0" smtClean="0">
                <a:solidFill>
                  <a:schemeClr val="accent2"/>
                </a:solidFill>
              </a:rPr>
              <a:t>	</a:t>
            </a:r>
            <a:r>
              <a:rPr lang="en-GB" sz="2400" dirty="0" smtClean="0"/>
              <a:t>128	64	32	16	8	4	2	1</a:t>
            </a:r>
          </a:p>
          <a:p>
            <a:endParaRPr lang="en-GB" sz="2400" dirty="0" smtClean="0">
              <a:solidFill>
                <a:schemeClr val="accent2"/>
              </a:solidFill>
            </a:endParaRPr>
          </a:p>
          <a:p>
            <a:r>
              <a:rPr lang="en-GB" sz="2400" dirty="0" smtClean="0">
                <a:solidFill>
                  <a:schemeClr val="accent2"/>
                </a:solidFill>
              </a:rPr>
              <a:t>Try converting these binary numbers:-</a:t>
            </a:r>
          </a:p>
          <a:p>
            <a:pPr marL="0" indent="0">
              <a:buNone/>
            </a:pPr>
            <a:r>
              <a:rPr lang="en-GB" sz="2400" dirty="0" smtClean="0"/>
              <a:t>	</a:t>
            </a:r>
            <a:r>
              <a:rPr lang="en-GB" sz="2400" dirty="0" err="1" smtClean="0"/>
              <a:t>i</a:t>
            </a:r>
            <a:r>
              <a:rPr lang="en-GB" sz="2400" dirty="0" smtClean="0"/>
              <a:t>.	00010001	=	</a:t>
            </a:r>
          </a:p>
          <a:p>
            <a:pPr marL="0" indent="0">
              <a:buNone/>
            </a:pPr>
            <a:r>
              <a:rPr lang="en-GB" sz="2400" dirty="0" smtClean="0"/>
              <a:t>	ii.	10010010	=	</a:t>
            </a:r>
          </a:p>
          <a:p>
            <a:pPr marL="0" indent="0">
              <a:buNone/>
            </a:pPr>
            <a:r>
              <a:rPr lang="en-GB" sz="2400" dirty="0" smtClean="0"/>
              <a:t>	iii.	11001100	=	</a:t>
            </a:r>
          </a:p>
          <a:p>
            <a:pPr marL="0" indent="0">
              <a:buNone/>
            </a:pPr>
            <a:r>
              <a:rPr lang="en-GB" sz="2400" dirty="0" smtClean="0"/>
              <a:t>	iv.	01100110	=	</a:t>
            </a:r>
          </a:p>
          <a:p>
            <a:pPr marL="0" indent="0">
              <a:buNone/>
            </a:pPr>
            <a:r>
              <a:rPr lang="en-GB" sz="2400" dirty="0" smtClean="0"/>
              <a:t>	v.	00011110	=	</a:t>
            </a:r>
          </a:p>
          <a:p>
            <a:pPr marL="0" indent="0">
              <a:buNone/>
            </a:pPr>
            <a:endParaRPr lang="en-GB" sz="16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GB" sz="1600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673306" y="3515703"/>
            <a:ext cx="1245476" cy="26571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17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146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204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102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30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89859510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Binary to Decimal Conversion</a:t>
            </a:r>
            <a:endParaRPr lang="en-US" sz="2800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173421" y="1106488"/>
            <a:ext cx="8781393" cy="5362575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 smtClean="0"/>
              <a:t>	128	64	32	16	8	4	2	1</a:t>
            </a:r>
          </a:p>
          <a:p>
            <a:pPr marL="0" indent="0">
              <a:buNone/>
            </a:pPr>
            <a:r>
              <a:rPr lang="en-GB" sz="2000" b="1" dirty="0" smtClean="0">
                <a:solidFill>
                  <a:schemeClr val="accent2"/>
                </a:solidFill>
              </a:rPr>
              <a:t>My personal tips:-</a:t>
            </a:r>
          </a:p>
          <a:p>
            <a:pPr marL="0" indent="0">
              <a:buNone/>
            </a:pPr>
            <a:r>
              <a:rPr lang="en-GB" sz="2000" b="1" dirty="0" smtClean="0">
                <a:solidFill>
                  <a:schemeClr val="accent2"/>
                </a:solidFill>
              </a:rPr>
              <a:t>- An octet which consists of 0s followed by all 1s, has the value before the last 0 occurrence:-</a:t>
            </a:r>
          </a:p>
          <a:p>
            <a:pPr marL="0" indent="0">
              <a:buNone/>
            </a:pPr>
            <a:r>
              <a:rPr lang="en-GB" sz="2000" dirty="0" smtClean="0">
                <a:solidFill>
                  <a:schemeClr val="accent2"/>
                </a:solidFill>
              </a:rPr>
              <a:t>Example: 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	</a:t>
            </a:r>
            <a:r>
              <a:rPr lang="en-GB" sz="2000" dirty="0" smtClean="0">
                <a:solidFill>
                  <a:schemeClr val="accent2"/>
                </a:solidFill>
              </a:rPr>
              <a:t>0001 1111, look at the 3</a:t>
            </a:r>
            <a:r>
              <a:rPr lang="en-GB" sz="2000" baseline="30000" dirty="0" smtClean="0">
                <a:solidFill>
                  <a:schemeClr val="accent2"/>
                </a:solidFill>
              </a:rPr>
              <a:t>rd</a:t>
            </a:r>
            <a:r>
              <a:rPr lang="en-GB" sz="2000" dirty="0" smtClean="0">
                <a:solidFill>
                  <a:schemeClr val="accent2"/>
                </a:solidFill>
              </a:rPr>
              <a:t> 0 which is 32. This octet is 31.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	</a:t>
            </a:r>
            <a:r>
              <a:rPr lang="en-GB" sz="2000" dirty="0" smtClean="0">
                <a:solidFill>
                  <a:schemeClr val="accent2"/>
                </a:solidFill>
              </a:rPr>
              <a:t>0000 0111, look at the 5</a:t>
            </a:r>
            <a:r>
              <a:rPr lang="en-GB" sz="2000" baseline="30000" dirty="0" smtClean="0">
                <a:solidFill>
                  <a:schemeClr val="accent2"/>
                </a:solidFill>
              </a:rPr>
              <a:t>th</a:t>
            </a:r>
            <a:r>
              <a:rPr lang="en-GB" sz="2000" dirty="0" smtClean="0">
                <a:solidFill>
                  <a:schemeClr val="accent2"/>
                </a:solidFill>
              </a:rPr>
              <a:t> 0 which is 8. This octet is 7.</a:t>
            </a:r>
          </a:p>
          <a:p>
            <a:pPr marL="457200" indent="-457200">
              <a:buAutoNum type="arabicPeriod"/>
            </a:pPr>
            <a:endParaRPr lang="en-GB" sz="2000" dirty="0" smtClean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GB" sz="2000" dirty="0" smtClean="0">
                <a:solidFill>
                  <a:schemeClr val="accent2"/>
                </a:solidFill>
              </a:rPr>
              <a:t>- </a:t>
            </a:r>
            <a:r>
              <a:rPr lang="en-GB" sz="2000" b="1" dirty="0" smtClean="0">
                <a:solidFill>
                  <a:schemeClr val="accent2"/>
                </a:solidFill>
              </a:rPr>
              <a:t>Octets with only one occurrence of 0, use 255 - (value of the 0 occurrence):-</a:t>
            </a:r>
          </a:p>
          <a:p>
            <a:pPr marL="0" indent="0">
              <a:buNone/>
            </a:pPr>
            <a:r>
              <a:rPr lang="en-GB" sz="2000" dirty="0" smtClean="0">
                <a:solidFill>
                  <a:schemeClr val="accent2"/>
                </a:solidFill>
              </a:rPr>
              <a:t>Example: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	</a:t>
            </a:r>
            <a:r>
              <a:rPr lang="en-GB" sz="2000" dirty="0" smtClean="0">
                <a:solidFill>
                  <a:schemeClr val="accent2"/>
                </a:solidFill>
              </a:rPr>
              <a:t>1011 1111, value of 0 occurrence is 64, octet = 255 – 64 = 191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	</a:t>
            </a:r>
            <a:r>
              <a:rPr lang="en-GB" sz="2000" dirty="0" smtClean="0">
                <a:solidFill>
                  <a:schemeClr val="accent2"/>
                </a:solidFill>
              </a:rPr>
              <a:t>1111 0111, value of 0 occurrence is 8, octet = 255 - 8 = 247 </a:t>
            </a:r>
            <a:endParaRPr lang="en-GB" sz="20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66400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Binary to Decimal Conversion</a:t>
            </a:r>
            <a:endParaRPr lang="en-US" sz="2800" dirty="0" smtClean="0"/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106488"/>
            <a:ext cx="8629713" cy="5362575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 smtClean="0">
                <a:solidFill>
                  <a:schemeClr val="accent2"/>
                </a:solidFill>
              </a:rPr>
              <a:t>	</a:t>
            </a:r>
            <a:r>
              <a:rPr lang="en-GB" sz="2000" dirty="0" smtClean="0"/>
              <a:t>128	64	32	16	8	4	2	1</a:t>
            </a:r>
          </a:p>
          <a:p>
            <a:pPr marL="0" indent="0">
              <a:buNone/>
            </a:pPr>
            <a:r>
              <a:rPr lang="en-GB" sz="2000" b="1" dirty="0" smtClean="0">
                <a:solidFill>
                  <a:schemeClr val="accent2"/>
                </a:solidFill>
              </a:rPr>
              <a:t>- Subnet masks are always 1s followed by 0s. I remember these numbers by heart:-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	</a:t>
            </a:r>
            <a:r>
              <a:rPr lang="en-GB" sz="2000" dirty="0" smtClean="0">
                <a:solidFill>
                  <a:schemeClr val="accent2"/>
                </a:solidFill>
              </a:rPr>
              <a:t>10000000 = </a:t>
            </a:r>
            <a:r>
              <a:rPr lang="en-GB" sz="2000" b="1" dirty="0" smtClean="0">
                <a:solidFill>
                  <a:schemeClr val="accent2"/>
                </a:solidFill>
              </a:rPr>
              <a:t>128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	</a:t>
            </a:r>
            <a:r>
              <a:rPr lang="en-GB" sz="2000" dirty="0" smtClean="0">
                <a:solidFill>
                  <a:schemeClr val="accent2"/>
                </a:solidFill>
              </a:rPr>
              <a:t>11000000 = </a:t>
            </a:r>
            <a:r>
              <a:rPr lang="en-GB" sz="2000" b="1" dirty="0" smtClean="0">
                <a:solidFill>
                  <a:schemeClr val="accent2"/>
                </a:solidFill>
              </a:rPr>
              <a:t>192</a:t>
            </a:r>
            <a:r>
              <a:rPr lang="en-GB" sz="2000" dirty="0" smtClean="0">
                <a:solidFill>
                  <a:schemeClr val="accent2"/>
                </a:solidFill>
              </a:rPr>
              <a:t> (128 + 64)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	</a:t>
            </a:r>
            <a:r>
              <a:rPr lang="en-GB" sz="2000" dirty="0" smtClean="0">
                <a:solidFill>
                  <a:schemeClr val="accent2"/>
                </a:solidFill>
              </a:rPr>
              <a:t>11100000 = </a:t>
            </a:r>
            <a:r>
              <a:rPr lang="en-GB" sz="2000" b="1" dirty="0" smtClean="0">
                <a:solidFill>
                  <a:schemeClr val="accent2"/>
                </a:solidFill>
              </a:rPr>
              <a:t>224</a:t>
            </a:r>
            <a:r>
              <a:rPr lang="en-GB" sz="2000" dirty="0" smtClean="0">
                <a:solidFill>
                  <a:schemeClr val="accent2"/>
                </a:solidFill>
              </a:rPr>
              <a:t> (128 + 64 +32)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	</a:t>
            </a:r>
            <a:r>
              <a:rPr lang="en-GB" sz="2000" dirty="0" smtClean="0">
                <a:solidFill>
                  <a:schemeClr val="accent2"/>
                </a:solidFill>
              </a:rPr>
              <a:t>11110000 = </a:t>
            </a:r>
            <a:r>
              <a:rPr lang="en-GB" sz="2000" b="1" dirty="0" smtClean="0">
                <a:solidFill>
                  <a:schemeClr val="accent2"/>
                </a:solidFill>
              </a:rPr>
              <a:t>240</a:t>
            </a:r>
            <a:r>
              <a:rPr lang="en-GB" sz="2000" dirty="0" smtClean="0">
                <a:solidFill>
                  <a:schemeClr val="accent2"/>
                </a:solidFill>
              </a:rPr>
              <a:t> (128 + 64 + 32 + 16)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	</a:t>
            </a:r>
            <a:r>
              <a:rPr lang="en-GB" sz="2000" dirty="0" smtClean="0">
                <a:solidFill>
                  <a:schemeClr val="accent2"/>
                </a:solidFill>
              </a:rPr>
              <a:t>11111000 = </a:t>
            </a:r>
            <a:r>
              <a:rPr lang="en-GB" sz="2000" b="1" dirty="0" smtClean="0">
                <a:solidFill>
                  <a:schemeClr val="accent2"/>
                </a:solidFill>
              </a:rPr>
              <a:t>248</a:t>
            </a:r>
            <a:r>
              <a:rPr lang="en-GB" sz="2000" dirty="0" smtClean="0">
                <a:solidFill>
                  <a:schemeClr val="accent2"/>
                </a:solidFill>
              </a:rPr>
              <a:t> (128 + 64 + 32 + 16 + 8)</a:t>
            </a:r>
          </a:p>
          <a:p>
            <a:pPr marL="0" indent="0">
              <a:buNone/>
            </a:pPr>
            <a:r>
              <a:rPr lang="en-GB" sz="2000" dirty="0">
                <a:solidFill>
                  <a:schemeClr val="accent2"/>
                </a:solidFill>
              </a:rPr>
              <a:t>	</a:t>
            </a:r>
            <a:r>
              <a:rPr lang="en-GB" sz="2000" dirty="0" smtClean="0">
                <a:solidFill>
                  <a:schemeClr val="accent2"/>
                </a:solidFill>
              </a:rPr>
              <a:t>11111100 = </a:t>
            </a:r>
            <a:r>
              <a:rPr lang="en-GB" sz="2000" b="1" dirty="0" smtClean="0">
                <a:solidFill>
                  <a:schemeClr val="accent2"/>
                </a:solidFill>
              </a:rPr>
              <a:t>252</a:t>
            </a:r>
            <a:r>
              <a:rPr lang="en-GB" sz="2000" dirty="0" smtClean="0">
                <a:solidFill>
                  <a:schemeClr val="accent2"/>
                </a:solidFill>
              </a:rPr>
              <a:t> (128 + 64 + 32 + 16 + 8 + 4)</a:t>
            </a:r>
            <a:endParaRPr lang="en-GB" sz="2000" dirty="0">
              <a:solidFill>
                <a:schemeClr val="accent2"/>
              </a:solidFill>
            </a:endParaRPr>
          </a:p>
          <a:p>
            <a:pPr marL="0" indent="0">
              <a:buNone/>
            </a:pPr>
            <a:endParaRPr lang="en-GB" sz="2000" dirty="0">
              <a:solidFill>
                <a:schemeClr val="accent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6781960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Binary to Decimal Conversion</a:t>
            </a:r>
            <a:endParaRPr lang="en-US" sz="2800" dirty="0" smtClean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718" y="1147191"/>
            <a:ext cx="7940675" cy="4863465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 smtClean="0">
                <a:solidFill>
                  <a:schemeClr val="accent2"/>
                </a:solidFill>
              </a:rPr>
              <a:t>	</a:t>
            </a:r>
            <a:r>
              <a:rPr lang="en-GB" sz="2000" dirty="0" smtClean="0"/>
              <a:t>128	64	32	16	8	4	2	1</a:t>
            </a:r>
          </a:p>
          <a:p>
            <a:r>
              <a:rPr lang="en-GB" sz="2400" dirty="0" smtClean="0">
                <a:solidFill>
                  <a:schemeClr val="accent2"/>
                </a:solidFill>
              </a:rPr>
              <a:t>Now try an IP address:-</a:t>
            </a:r>
          </a:p>
          <a:p>
            <a:pPr marL="0" indent="0">
              <a:buNone/>
            </a:pPr>
            <a:endParaRPr lang="en-GB" sz="2400" dirty="0"/>
          </a:p>
          <a:p>
            <a:pPr marL="0" indent="0">
              <a:buNone/>
            </a:pPr>
            <a:r>
              <a:rPr lang="en-GB" sz="2400" dirty="0" smtClean="0"/>
              <a:t>	10101100 . 00010000 . 00110000 . 00010100</a:t>
            </a:r>
          </a:p>
          <a:p>
            <a:pPr marL="0" indent="0">
              <a:buNone/>
            </a:pPr>
            <a:r>
              <a:rPr lang="en-GB" sz="2400" dirty="0"/>
              <a:t>	</a:t>
            </a:r>
            <a:endParaRPr lang="en-GB" sz="2400" dirty="0" smtClean="0">
              <a:solidFill>
                <a:srgbClr val="C00000"/>
              </a:solidFill>
            </a:endParaRPr>
          </a:p>
          <a:p>
            <a:endParaRPr lang="en-GB" sz="2400" dirty="0" smtClean="0">
              <a:solidFill>
                <a:schemeClr val="accent2"/>
              </a:solidFill>
            </a:endParaRPr>
          </a:p>
          <a:p>
            <a:endParaRPr lang="en-GB" sz="2400" dirty="0" smtClean="0">
              <a:solidFill>
                <a:schemeClr val="accent2"/>
              </a:solidFill>
            </a:endParaRPr>
          </a:p>
          <a:p>
            <a:r>
              <a:rPr lang="en-GB" sz="2400" dirty="0" smtClean="0">
                <a:solidFill>
                  <a:schemeClr val="accent2"/>
                </a:solidFill>
              </a:rPr>
              <a:t>More practice </a:t>
            </a:r>
            <a:r>
              <a:rPr lang="en-GB" sz="2400" dirty="0">
                <a:solidFill>
                  <a:schemeClr val="accent2"/>
                </a:solidFill>
              </a:rPr>
              <a:t>at Section 6.1.3.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65580" y="3627005"/>
            <a:ext cx="1983235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b="1" dirty="0" smtClean="0">
                <a:solidFill>
                  <a:srgbClr val="C00000"/>
                </a:solidFill>
              </a:rPr>
              <a:t>172.16.48.20</a:t>
            </a:r>
            <a:endParaRPr lang="en-US" b="1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Decimal to Binary Conversion</a:t>
            </a:r>
            <a:endParaRPr lang="en-US" sz="2800" dirty="0" smtClean="0"/>
          </a:p>
        </p:txBody>
      </p:sp>
      <p:sp>
        <p:nvSpPr>
          <p:cNvPr id="5" name="Rectangle 3"/>
          <p:cNvSpPr txBox="1">
            <a:spLocks noChangeArrowheads="1"/>
          </p:cNvSpPr>
          <p:nvPr/>
        </p:nvSpPr>
        <p:spPr bwMode="auto">
          <a:xfrm>
            <a:off x="749300" y="1106488"/>
            <a:ext cx="8102091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2pPr>
            <a:lvl3pPr marL="1257300" indent="-3429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597025" indent="-3429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GB" sz="2000" kern="0" smtClean="0"/>
              <a:t>	</a:t>
            </a:r>
            <a:r>
              <a:rPr lang="en-GB" sz="1800" kern="0" smtClean="0"/>
              <a:t>128	64	32	16	8	4	2	1</a:t>
            </a:r>
          </a:p>
          <a:p>
            <a:r>
              <a:rPr lang="en-GB" sz="1800" kern="0" smtClean="0"/>
              <a:t>Beginning from the left, find the first positional value that is </a:t>
            </a:r>
            <a:r>
              <a:rPr lang="en-GB" sz="1800" kern="0" smtClean="0">
                <a:solidFill>
                  <a:srgbClr val="C00000"/>
                </a:solidFill>
              </a:rPr>
              <a:t>SMALLER THAN or EQUAL</a:t>
            </a:r>
            <a:r>
              <a:rPr lang="en-GB" sz="1800" kern="0" smtClean="0"/>
              <a:t> to what you want to convert</a:t>
            </a:r>
          </a:p>
          <a:p>
            <a:r>
              <a:rPr lang="en-GB" sz="1800" kern="0" smtClean="0"/>
              <a:t>Subtract the current value from the positional value and move to the next bit to compare again</a:t>
            </a:r>
          </a:p>
          <a:p>
            <a:pPr marL="0" indent="0">
              <a:buFont typeface="Wingdings" pitchFamily="2" charset="2"/>
              <a:buNone/>
            </a:pPr>
            <a:r>
              <a:rPr lang="en-GB" sz="1800" kern="0" smtClean="0"/>
              <a:t>Example: convert 35 to binary</a:t>
            </a:r>
          </a:p>
          <a:p>
            <a:pPr lvl="1"/>
            <a:r>
              <a:rPr lang="en-GB" sz="1800" kern="0" smtClean="0"/>
              <a:t>At bit 8, compare 35 with the positional value of 128. Since it is smaller, set bit 8 to 0</a:t>
            </a:r>
          </a:p>
          <a:p>
            <a:pPr lvl="1"/>
            <a:r>
              <a:rPr lang="en-GB" sz="1800" kern="0" smtClean="0"/>
              <a:t>At bit 7, 35 is still smaller than 64. So bit 7 is 0</a:t>
            </a:r>
          </a:p>
          <a:p>
            <a:pPr lvl="1"/>
            <a:r>
              <a:rPr lang="en-GB" sz="1800" kern="0" smtClean="0"/>
              <a:t>At bit 6, 35 is bigger than 32. So bit 6 is 1. Remainder is 35 – 32 = 3</a:t>
            </a:r>
          </a:p>
          <a:p>
            <a:pPr lvl="1"/>
            <a:r>
              <a:rPr lang="en-GB" sz="1800" kern="0" smtClean="0"/>
              <a:t>At bit 5, 3 is smaller than 16. So bit 5 is 0</a:t>
            </a:r>
          </a:p>
          <a:p>
            <a:pPr lvl="1"/>
            <a:r>
              <a:rPr lang="en-GB" sz="1800" kern="0" smtClean="0"/>
              <a:t>At bit 4, 3 is smaller than 8. So bit 4 is 0</a:t>
            </a:r>
          </a:p>
          <a:p>
            <a:pPr lvl="1"/>
            <a:r>
              <a:rPr lang="en-GB" sz="1800" kern="0" smtClean="0"/>
              <a:t>At bit 3, 3 is smaller than 4. So bit 3 is 0</a:t>
            </a:r>
          </a:p>
          <a:p>
            <a:pPr lvl="1"/>
            <a:r>
              <a:rPr lang="en-GB" sz="1800" kern="0" smtClean="0"/>
              <a:t>At bit 2, 3 is bigger than 2. So bit 2 is 1. Remainer is 3 – 2 = 1</a:t>
            </a:r>
          </a:p>
          <a:p>
            <a:pPr lvl="1"/>
            <a:r>
              <a:rPr lang="en-GB" sz="1800" kern="0" smtClean="0"/>
              <a:t>At bit 1, 1 is equal to 1. So bit 1 is 1.</a:t>
            </a:r>
          </a:p>
          <a:p>
            <a:pPr lvl="1"/>
            <a:r>
              <a:rPr lang="en-GB" sz="1800" b="1" kern="0" smtClean="0"/>
              <a:t>So 35 in binary is 00100011</a:t>
            </a:r>
            <a:r>
              <a:rPr lang="en-GB" sz="1800" kern="0" smtClean="0"/>
              <a:t>.	</a:t>
            </a:r>
          </a:p>
          <a:p>
            <a:pPr lvl="1"/>
            <a:endParaRPr lang="en-GB" sz="2000" kern="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6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smtClean="0">
                <a:ea typeface="ＭＳ Ｐゴシック" pitchFamily="34" charset="-128"/>
              </a:rPr>
              <a:t>Decimal to Binary Conversions</a:t>
            </a:r>
            <a:endParaRPr lang="en-US" sz="2800" smtClean="0"/>
          </a:p>
        </p:txBody>
      </p:sp>
      <p:sp>
        <p:nvSpPr>
          <p:cNvPr id="7" name="Rectangle 3"/>
          <p:cNvSpPr txBox="1">
            <a:spLocks noChangeArrowheads="1"/>
          </p:cNvSpPr>
          <p:nvPr/>
        </p:nvSpPr>
        <p:spPr bwMode="auto">
          <a:xfrm>
            <a:off x="246063" y="1106488"/>
            <a:ext cx="8629713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GB" sz="2000" dirty="0" smtClean="0">
                <a:solidFill>
                  <a:schemeClr val="accent2"/>
                </a:solidFill>
              </a:rPr>
              <a:t>	</a:t>
            </a:r>
            <a:r>
              <a:rPr lang="en-GB" sz="2000" dirty="0" smtClean="0"/>
              <a:t>128	64	32	16	8	4	2	1</a:t>
            </a:r>
          </a:p>
          <a:p>
            <a:r>
              <a:rPr lang="en-GB" dirty="0" smtClean="0">
                <a:solidFill>
                  <a:schemeClr val="accent2"/>
                </a:solidFill>
              </a:rPr>
              <a:t>Try converting these decimals to binary:-</a:t>
            </a:r>
          </a:p>
          <a:p>
            <a:pPr marL="0" indent="0">
              <a:buFont typeface="Wingdings" pitchFamily="2" charset="2"/>
              <a:buNone/>
            </a:pPr>
            <a:r>
              <a:rPr lang="en-GB" dirty="0" smtClean="0"/>
              <a:t>	</a:t>
            </a:r>
            <a:r>
              <a:rPr lang="en-GB" dirty="0" err="1" smtClean="0"/>
              <a:t>i</a:t>
            </a:r>
            <a:r>
              <a:rPr lang="en-GB" dirty="0" smtClean="0"/>
              <a:t>.	16	=	</a:t>
            </a:r>
          </a:p>
          <a:p>
            <a:pPr marL="0" indent="0">
              <a:buFont typeface="Wingdings" pitchFamily="2" charset="2"/>
              <a:buNone/>
            </a:pPr>
            <a:r>
              <a:rPr lang="en-GB" dirty="0" smtClean="0"/>
              <a:t>	ii.	30	=	</a:t>
            </a:r>
          </a:p>
          <a:p>
            <a:pPr marL="0" indent="0">
              <a:buFont typeface="Wingdings" pitchFamily="2" charset="2"/>
              <a:buNone/>
            </a:pPr>
            <a:r>
              <a:rPr lang="en-GB" dirty="0" smtClean="0"/>
              <a:t>	iii.	63	=	</a:t>
            </a:r>
          </a:p>
          <a:p>
            <a:pPr marL="0" indent="0">
              <a:buFont typeface="Wingdings" pitchFamily="2" charset="2"/>
              <a:buNone/>
            </a:pPr>
            <a:r>
              <a:rPr lang="en-GB" dirty="0" smtClean="0"/>
              <a:t>	iv.	172	=	</a:t>
            </a:r>
          </a:p>
          <a:p>
            <a:pPr marL="0" indent="0">
              <a:buFont typeface="Wingdings" pitchFamily="2" charset="2"/>
              <a:buNone/>
            </a:pPr>
            <a:r>
              <a:rPr lang="en-GB" dirty="0" smtClean="0"/>
              <a:t>	v.	224	=	</a:t>
            </a:r>
          </a:p>
          <a:p>
            <a:pPr marL="0" indent="0">
              <a:buFont typeface="Wingdings" pitchFamily="2" charset="2"/>
              <a:buNone/>
            </a:pPr>
            <a:r>
              <a:rPr lang="en-GB" dirty="0"/>
              <a:t>	</a:t>
            </a:r>
            <a:r>
              <a:rPr lang="en-GB" dirty="0" smtClean="0"/>
              <a:t>vi.	252	=	</a:t>
            </a:r>
          </a:p>
          <a:p>
            <a:pPr marL="0" indent="0">
              <a:buFont typeface="Wingdings" pitchFamily="2" charset="2"/>
              <a:buNone/>
            </a:pPr>
            <a:endParaRPr lang="en-GB" sz="1800" dirty="0" smtClean="0">
              <a:solidFill>
                <a:schemeClr val="accent2"/>
              </a:solidFill>
            </a:endParaRPr>
          </a:p>
          <a:p>
            <a:pPr marL="0" indent="0">
              <a:buFont typeface="Wingdings" pitchFamily="2" charset="2"/>
              <a:buNone/>
            </a:pPr>
            <a:endParaRPr lang="en-GB" sz="1800" dirty="0">
              <a:solidFill>
                <a:schemeClr val="accent2"/>
              </a:solidFill>
            </a:endParaRPr>
          </a:p>
        </p:txBody>
      </p:sp>
      <p:sp>
        <p:nvSpPr>
          <p:cNvPr id="2" name="TextBox 1"/>
          <p:cNvSpPr txBox="1"/>
          <p:nvPr/>
        </p:nvSpPr>
        <p:spPr>
          <a:xfrm>
            <a:off x="3118190" y="2065254"/>
            <a:ext cx="1641795" cy="320600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0001 0000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0001 1110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0011 1111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1010 1100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1110 0000</a:t>
            </a:r>
          </a:p>
          <a:p>
            <a:pPr>
              <a:lnSpc>
                <a:spcPct val="100000"/>
              </a:lnSpc>
              <a:spcBef>
                <a:spcPts val="700"/>
              </a:spcBef>
              <a:spcAft>
                <a:spcPts val="700"/>
              </a:spcAft>
            </a:pPr>
            <a:r>
              <a:rPr lang="en-GB" dirty="0" smtClean="0">
                <a:solidFill>
                  <a:srgbClr val="C00000"/>
                </a:solidFill>
              </a:rPr>
              <a:t>1111 1100</a:t>
            </a:r>
            <a:endParaRPr lang="en-US" dirty="0">
              <a:solidFill>
                <a:srgbClr val="C0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400" smtClean="0">
                <a:ea typeface="ＭＳ Ｐゴシック" pitchFamily="34" charset="-128"/>
              </a:rPr>
              <a:t>Binary to Decimal Conversation</a:t>
            </a:r>
            <a:endParaRPr lang="en-US" sz="2400" smtClean="0"/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>
          <a:xfrm>
            <a:off x="533718" y="1147191"/>
            <a:ext cx="7940675" cy="4863465"/>
          </a:xfrm>
        </p:spPr>
        <p:txBody>
          <a:bodyPr/>
          <a:lstStyle/>
          <a:p>
            <a:pPr marL="0" indent="0">
              <a:buNone/>
            </a:pPr>
            <a:r>
              <a:rPr lang="en-GB" sz="2000" dirty="0" smtClean="0">
                <a:solidFill>
                  <a:schemeClr val="accent2"/>
                </a:solidFill>
              </a:rPr>
              <a:t>	</a:t>
            </a:r>
            <a:r>
              <a:rPr lang="en-GB" sz="2000" dirty="0" smtClean="0"/>
              <a:t>128	64	32	16	8	4	2	1</a:t>
            </a:r>
          </a:p>
          <a:p>
            <a:endParaRPr lang="en-GB" sz="2400" dirty="0" smtClean="0">
              <a:solidFill>
                <a:schemeClr val="accent2"/>
              </a:solidFill>
            </a:endParaRPr>
          </a:p>
          <a:p>
            <a:r>
              <a:rPr lang="en-GB" sz="2400" dirty="0" smtClean="0">
                <a:solidFill>
                  <a:schemeClr val="accent2"/>
                </a:solidFill>
              </a:rPr>
              <a:t>Now try an IP address:-</a:t>
            </a:r>
          </a:p>
          <a:p>
            <a:pPr marL="0" indent="0">
              <a:buNone/>
            </a:pPr>
            <a:r>
              <a:rPr lang="en-GB" sz="2400" dirty="0"/>
              <a:t>	</a:t>
            </a:r>
            <a:r>
              <a:rPr lang="en-GB" sz="2400" dirty="0" smtClean="0"/>
              <a:t>	192.168.100.3</a:t>
            </a:r>
          </a:p>
          <a:p>
            <a:endParaRPr lang="en-GB" sz="2400" dirty="0" smtClean="0"/>
          </a:p>
          <a:p>
            <a:endParaRPr lang="en-GB" sz="2400" dirty="0"/>
          </a:p>
          <a:p>
            <a:pPr marL="457200" lvl="1" indent="0">
              <a:buNone/>
            </a:pPr>
            <a:endParaRPr lang="en-GB" dirty="0" smtClean="0"/>
          </a:p>
          <a:p>
            <a:r>
              <a:rPr lang="en-GB" sz="2400" dirty="0" smtClean="0">
                <a:solidFill>
                  <a:schemeClr val="accent2"/>
                </a:solidFill>
              </a:rPr>
              <a:t>More practice </a:t>
            </a:r>
            <a:r>
              <a:rPr lang="en-GB" sz="2400" dirty="0">
                <a:solidFill>
                  <a:schemeClr val="accent2"/>
                </a:solidFill>
              </a:rPr>
              <a:t>at Section </a:t>
            </a:r>
            <a:r>
              <a:rPr lang="en-GB" sz="2400" dirty="0" smtClean="0">
                <a:solidFill>
                  <a:schemeClr val="accent2"/>
                </a:solidFill>
              </a:rPr>
              <a:t>6.1.5.</a:t>
            </a:r>
            <a:endParaRPr lang="en-GB" sz="2400" dirty="0">
              <a:solidFill>
                <a:schemeClr val="accent2"/>
              </a:solidFill>
            </a:endParaRPr>
          </a:p>
        </p:txBody>
      </p:sp>
      <p:sp>
        <p:nvSpPr>
          <p:cNvPr id="3" name="TextBox 2"/>
          <p:cNvSpPr txBox="1"/>
          <p:nvPr/>
        </p:nvSpPr>
        <p:spPr>
          <a:xfrm>
            <a:off x="1371894" y="3752193"/>
            <a:ext cx="5859746" cy="4247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dirty="0" smtClean="0">
                <a:solidFill>
                  <a:srgbClr val="C00000"/>
                </a:solidFill>
              </a:rPr>
              <a:t>11000000.10101000.01100100.00000011</a:t>
            </a:r>
            <a:endParaRPr lang="en-US" dirty="0">
              <a:solidFill>
                <a:srgbClr val="C0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26703062"/>
      </p:ext>
    </p:extLst>
  </p:cSld>
  <p:clrMapOvr>
    <a:masterClrMapping/>
  </p:clrMapOvr>
  <p:transition/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1575954" y="2568650"/>
            <a:ext cx="582999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>
                <a:solidFill>
                  <a:schemeClr val="accent1">
                    <a:lumMod val="75000"/>
                  </a:schemeClr>
                </a:solidFill>
              </a:rPr>
              <a:t>Types of IPv4 Addresses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015957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Types of Addresses in an IPv4 Network</a:t>
            </a:r>
            <a:endParaRPr lang="en-US" sz="2800" dirty="0" smtClean="0"/>
          </a:p>
        </p:txBody>
      </p:sp>
      <p:sp>
        <p:nvSpPr>
          <p:cNvPr id="1843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106488"/>
            <a:ext cx="8641905" cy="5362575"/>
          </a:xfrm>
        </p:spPr>
        <p:txBody>
          <a:bodyPr/>
          <a:lstStyle/>
          <a:p>
            <a:pPr marL="0" indent="0">
              <a:buNone/>
            </a:pPr>
            <a:endParaRPr lang="en-US" sz="2400" dirty="0" smtClean="0">
              <a:solidFill>
                <a:schemeClr val="accent2"/>
              </a:solidFill>
            </a:endParaRPr>
          </a:p>
          <a:p>
            <a:pPr marL="0" indent="0">
              <a:buNone/>
            </a:pPr>
            <a:r>
              <a:rPr lang="en-US" sz="2400" dirty="0" smtClean="0">
                <a:solidFill>
                  <a:schemeClr val="accent2"/>
                </a:solidFill>
              </a:rPr>
              <a:t>In the IPv4 network, there are 3 types of addresses:</a:t>
            </a:r>
          </a:p>
          <a:p>
            <a:pPr indent="0"/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Network address</a:t>
            </a:r>
          </a:p>
          <a:p>
            <a:pPr lvl="1" indent="0"/>
            <a:r>
              <a:rPr lang="en-US" sz="2000" dirty="0" smtClean="0"/>
              <a:t> The address that refers to the particular network</a:t>
            </a:r>
          </a:p>
          <a:p>
            <a:pPr indent="0"/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Broadcast address</a:t>
            </a:r>
          </a:p>
          <a:p>
            <a:pPr lvl="1" indent="0"/>
            <a:r>
              <a:rPr lang="en-US" sz="2000" dirty="0" smtClean="0"/>
              <a:t> A special address used to send data to all hosts in the particular network</a:t>
            </a:r>
          </a:p>
          <a:p>
            <a:pPr indent="0"/>
            <a:r>
              <a:rPr lang="en-US" dirty="0" smtClean="0">
                <a:solidFill>
                  <a:srgbClr val="FF0000"/>
                </a:solidFill>
              </a:rPr>
              <a:t> </a:t>
            </a:r>
            <a:r>
              <a:rPr lang="en-US" sz="2400" dirty="0">
                <a:solidFill>
                  <a:schemeClr val="accent2"/>
                </a:solidFill>
              </a:rPr>
              <a:t>Host addresses</a:t>
            </a:r>
          </a:p>
          <a:p>
            <a:pPr lvl="1" indent="0"/>
            <a:r>
              <a:rPr lang="en-US" sz="2000" dirty="0" smtClean="0"/>
              <a:t> The usable addresses that are assigned to the end devices in the particular network</a:t>
            </a:r>
          </a:p>
          <a:p>
            <a:pPr marL="0" indent="0">
              <a:buNone/>
            </a:pPr>
            <a:endParaRPr lang="en-US" sz="2400" dirty="0" smtClean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tangle 3"/>
          <p:cNvSpPr txBox="1">
            <a:spLocks noChangeArrowheads="1"/>
          </p:cNvSpPr>
          <p:nvPr/>
        </p:nvSpPr>
        <p:spPr bwMode="auto">
          <a:xfrm>
            <a:off x="246063" y="1106488"/>
            <a:ext cx="8641905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2pPr>
            <a:lvl3pPr marL="1257300" indent="-3429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597025" indent="-3429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kern="0" dirty="0" smtClean="0">
                <a:solidFill>
                  <a:srgbClr val="C00000"/>
                </a:solidFill>
              </a:rPr>
              <a:t>Network Addresses</a:t>
            </a:r>
          </a:p>
          <a:p>
            <a:pPr lvl="1"/>
            <a:r>
              <a:rPr lang="en-US" sz="2000" kern="0" dirty="0" smtClean="0"/>
              <a:t>Examples: 	</a:t>
            </a:r>
            <a:r>
              <a:rPr lang="en-US" sz="2000" kern="0" dirty="0" smtClean="0">
                <a:sym typeface="Wingdings" pitchFamily="2" charset="2"/>
              </a:rPr>
              <a:t>10.0.0.0 / 8</a:t>
            </a:r>
          </a:p>
          <a:p>
            <a:pPr marL="0" indent="0">
              <a:buFont typeface="Wingdings" pitchFamily="2" charset="2"/>
              <a:buNone/>
            </a:pPr>
            <a:r>
              <a:rPr lang="en-GB" sz="2000" kern="0" dirty="0" smtClean="0">
                <a:sym typeface="Wingdings" pitchFamily="2" charset="2"/>
              </a:rPr>
              <a:t>			172.16.0.0 / 16</a:t>
            </a:r>
          </a:p>
          <a:p>
            <a:pPr marL="0" indent="0">
              <a:buFont typeface="Wingdings" pitchFamily="2" charset="2"/>
              <a:buNone/>
            </a:pPr>
            <a:r>
              <a:rPr lang="en-GB" sz="2000" kern="0" dirty="0" smtClean="0">
                <a:sym typeface="Wingdings" pitchFamily="2" charset="2"/>
              </a:rPr>
              <a:t>			192.168.1.128 / 26</a:t>
            </a:r>
            <a:endParaRPr lang="en-US" sz="2000" kern="0" dirty="0" smtClean="0">
              <a:sym typeface="Wingdings" pitchFamily="2" charset="2"/>
            </a:endParaRPr>
          </a:p>
          <a:p>
            <a:r>
              <a:rPr lang="en-US" sz="2400" kern="0" dirty="0" smtClean="0"/>
              <a:t>The network address is the </a:t>
            </a:r>
            <a:r>
              <a:rPr lang="en-US" sz="2400" b="1" kern="0" dirty="0" smtClean="0">
                <a:solidFill>
                  <a:srgbClr val="C00000"/>
                </a:solidFill>
              </a:rPr>
              <a:t>first</a:t>
            </a:r>
            <a:r>
              <a:rPr lang="en-US" sz="2400" kern="0" dirty="0" smtClean="0">
                <a:solidFill>
                  <a:srgbClr val="C00000"/>
                </a:solidFill>
              </a:rPr>
              <a:t> </a:t>
            </a:r>
            <a:r>
              <a:rPr lang="en-US" sz="2400" kern="0" dirty="0" smtClean="0"/>
              <a:t>address for that network and is used to represent that network</a:t>
            </a:r>
          </a:p>
          <a:p>
            <a:r>
              <a:rPr lang="en-GB" sz="2400" kern="0" dirty="0" smtClean="0"/>
              <a:t>The bits in the host portion of a network address are all 0s</a:t>
            </a:r>
          </a:p>
          <a:p>
            <a:r>
              <a:rPr lang="en-GB" sz="2400" kern="0" dirty="0" smtClean="0"/>
              <a:t>From a network address, the </a:t>
            </a:r>
            <a:r>
              <a:rPr lang="en-GB" sz="2400" kern="0" dirty="0" smtClean="0">
                <a:solidFill>
                  <a:srgbClr val="C00000"/>
                </a:solidFill>
              </a:rPr>
              <a:t>usable host addresses </a:t>
            </a:r>
            <a:r>
              <a:rPr lang="en-GB" sz="2400" kern="0" dirty="0" smtClean="0"/>
              <a:t>and the </a:t>
            </a:r>
            <a:r>
              <a:rPr lang="en-GB" sz="2400" kern="0" dirty="0" smtClean="0">
                <a:solidFill>
                  <a:srgbClr val="C00000"/>
                </a:solidFill>
              </a:rPr>
              <a:t>broadcast address </a:t>
            </a:r>
            <a:r>
              <a:rPr lang="en-GB" sz="2400" kern="0" dirty="0" smtClean="0"/>
              <a:t>can be calculated</a:t>
            </a:r>
            <a:endParaRPr lang="en-US" sz="2400" kern="0" dirty="0"/>
          </a:p>
        </p:txBody>
      </p:sp>
      <p:sp>
        <p:nvSpPr>
          <p:cNvPr id="1843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Types of Addresses in an IPv4 Network</a:t>
            </a:r>
            <a:endParaRPr lang="en-US" sz="2800" dirty="0" smtClean="0"/>
          </a:p>
        </p:txBody>
      </p:sp>
      <p:sp>
        <p:nvSpPr>
          <p:cNvPr id="4" name="TextBox 3"/>
          <p:cNvSpPr txBox="1"/>
          <p:nvPr/>
        </p:nvSpPr>
        <p:spPr>
          <a:xfrm>
            <a:off x="5591150" y="1407838"/>
            <a:ext cx="177965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2000" dirty="0" smtClean="0">
                <a:solidFill>
                  <a:srgbClr val="C00000"/>
                </a:solidFill>
              </a:rPr>
              <a:t>network prefix</a:t>
            </a:r>
            <a:endParaRPr lang="en-US" sz="2000" dirty="0">
              <a:solidFill>
                <a:srgbClr val="C00000"/>
              </a:solidFill>
            </a:endParaRPr>
          </a:p>
        </p:txBody>
      </p:sp>
      <p:sp>
        <p:nvSpPr>
          <p:cNvPr id="5" name="Freeform 4"/>
          <p:cNvSpPr/>
          <p:nvPr/>
        </p:nvSpPr>
        <p:spPr bwMode="auto">
          <a:xfrm>
            <a:off x="4632960" y="1405256"/>
            <a:ext cx="938784" cy="764920"/>
          </a:xfrm>
          <a:custGeom>
            <a:avLst/>
            <a:gdLst>
              <a:gd name="connsiteX0" fmla="*/ 938784 w 938784"/>
              <a:gd name="connsiteY0" fmla="*/ 191896 h 764920"/>
              <a:gd name="connsiteX1" fmla="*/ 524256 w 938784"/>
              <a:gd name="connsiteY1" fmla="*/ 33400 h 764920"/>
              <a:gd name="connsiteX2" fmla="*/ 0 w 938784"/>
              <a:gd name="connsiteY2" fmla="*/ 764920 h 7649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938784" h="764920">
                <a:moveTo>
                  <a:pt x="938784" y="191896"/>
                </a:moveTo>
                <a:cubicBezTo>
                  <a:pt x="809752" y="64896"/>
                  <a:pt x="680720" y="-62104"/>
                  <a:pt x="524256" y="33400"/>
                </a:cubicBezTo>
                <a:cubicBezTo>
                  <a:pt x="367792" y="128904"/>
                  <a:pt x="69088" y="643000"/>
                  <a:pt x="0" y="764920"/>
                </a:cubicBezTo>
              </a:path>
            </a:pathLst>
          </a:cu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2296" tIns="36576" rIns="82296" bIns="36576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  <p:sp>
        <p:nvSpPr>
          <p:cNvPr id="10" name="Rounded Rectangle 9"/>
          <p:cNvSpPr/>
          <p:nvPr/>
        </p:nvSpPr>
        <p:spPr bwMode="auto">
          <a:xfrm rot="19049113">
            <a:off x="4194996" y="1364322"/>
            <a:ext cx="375273" cy="1611706"/>
          </a:xfrm>
          <a:prstGeom prst="roundRect">
            <a:avLst/>
          </a:prstGeom>
          <a:solidFill>
            <a:srgbClr val="FFC000">
              <a:alpha val="20000"/>
            </a:srgbClr>
          </a:solidFill>
          <a:ln w="19050" cap="flat" cmpd="sng" algn="ctr">
            <a:noFill/>
            <a:prstDash val="solid"/>
            <a:round/>
            <a:headEnd type="none" w="med" len="med"/>
            <a:tailEnd type="triangle" w="med" len="med"/>
          </a:ln>
          <a:effectLst/>
        </p:spPr>
        <p:txBody>
          <a:bodyPr vert="horz" wrap="square" lIns="82296" tIns="36576" rIns="82296" bIns="36576" numCol="1" rtlCol="0" anchor="t" anchorCtr="0" compatLnSpc="1">
            <a:prstTxWarp prst="textNoShape">
              <a:avLst/>
            </a:prstTxWarp>
            <a:spAutoFit/>
          </a:bodyPr>
          <a:lstStyle/>
          <a:p>
            <a:pPr marL="0" marR="0" indent="0" algn="ctr" defTabSz="814388" rtl="0" eaLnBrk="0" fontAlgn="base" latinLnBrk="0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sz="2400" b="0" i="0" u="none" strike="noStrike" cap="none" normalizeH="0" baseline="0" smtClean="0">
              <a:ln>
                <a:noFill/>
              </a:ln>
              <a:solidFill>
                <a:schemeClr val="tx1"/>
              </a:solidFill>
              <a:effectLst/>
              <a:latin typeface="Arial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5346310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8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Types of Addresses in an IPv4 Network</a:t>
            </a:r>
            <a:endParaRPr lang="en-US" sz="2800" dirty="0" smtClean="0"/>
          </a:p>
        </p:txBody>
      </p:sp>
      <p:sp>
        <p:nvSpPr>
          <p:cNvPr id="1945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106488"/>
            <a:ext cx="8654097" cy="5362575"/>
          </a:xfrm>
        </p:spPr>
        <p:txBody>
          <a:bodyPr/>
          <a:lstStyle/>
          <a:p>
            <a:r>
              <a:rPr lang="en-US" sz="2400" dirty="0">
                <a:solidFill>
                  <a:srgbClr val="C00000"/>
                </a:solidFill>
              </a:rPr>
              <a:t>Broadcast </a:t>
            </a:r>
            <a:r>
              <a:rPr lang="en-US" sz="2400" dirty="0" smtClean="0">
                <a:solidFill>
                  <a:srgbClr val="C00000"/>
                </a:solidFill>
              </a:rPr>
              <a:t>Address</a:t>
            </a:r>
          </a:p>
          <a:p>
            <a:pPr lvl="1"/>
            <a:r>
              <a:rPr lang="en-US" sz="2000" dirty="0" smtClean="0"/>
              <a:t>Is a </a:t>
            </a:r>
            <a:r>
              <a:rPr lang="en-US" sz="2000" u="sng" dirty="0" smtClean="0"/>
              <a:t>special address</a:t>
            </a:r>
            <a:r>
              <a:rPr lang="en-US" sz="2000" dirty="0" smtClean="0"/>
              <a:t> for communication to all hosts in that network</a:t>
            </a:r>
          </a:p>
          <a:p>
            <a:pPr lvl="1"/>
            <a:r>
              <a:rPr lang="en-US" sz="2000" dirty="0" smtClean="0"/>
              <a:t>It is the </a:t>
            </a:r>
            <a:r>
              <a:rPr lang="en-US" sz="2000" b="1" dirty="0" smtClean="0">
                <a:solidFill>
                  <a:srgbClr val="C00000"/>
                </a:solidFill>
              </a:rPr>
              <a:t>last</a:t>
            </a:r>
            <a:r>
              <a:rPr lang="en-US" sz="2000" dirty="0" smtClean="0">
                <a:solidFill>
                  <a:srgbClr val="C00000"/>
                </a:solidFill>
              </a:rPr>
              <a:t> </a:t>
            </a:r>
            <a:r>
              <a:rPr lang="en-US" sz="2000" dirty="0" smtClean="0"/>
              <a:t>(or highest) address in the that network</a:t>
            </a:r>
            <a:endParaRPr lang="en-US" sz="2000" dirty="0"/>
          </a:p>
          <a:p>
            <a:pPr lvl="1"/>
            <a:r>
              <a:rPr lang="en-GB" sz="2000" dirty="0"/>
              <a:t>The bits in the host portion of a network address are all 1s</a:t>
            </a:r>
          </a:p>
          <a:p>
            <a:pPr lvl="1"/>
            <a:r>
              <a:rPr lang="en-GB" sz="2000" dirty="0" smtClean="0"/>
              <a:t>Example: f</a:t>
            </a:r>
            <a:r>
              <a:rPr lang="en-US" sz="2000" dirty="0" smtClean="0"/>
              <a:t>or network 192.168.1.0 / 24, the broadcast address would be 192.168.1.255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Host Addresses</a:t>
            </a:r>
          </a:p>
          <a:p>
            <a:pPr lvl="1"/>
            <a:r>
              <a:rPr lang="en-US" sz="2000" dirty="0" smtClean="0"/>
              <a:t>These are the addresses between the network address and the broadcast address </a:t>
            </a:r>
          </a:p>
          <a:p>
            <a:pPr lvl="1"/>
            <a:r>
              <a:rPr lang="en-US" sz="2000" dirty="0" smtClean="0"/>
              <a:t>These are the </a:t>
            </a:r>
            <a:r>
              <a:rPr lang="en-US" sz="2000" b="1" dirty="0" smtClean="0">
                <a:solidFill>
                  <a:srgbClr val="FF0000"/>
                </a:solidFill>
              </a:rPr>
              <a:t>usable</a:t>
            </a:r>
            <a:r>
              <a:rPr lang="en-US" sz="2000" dirty="0" smtClean="0"/>
              <a:t> addresses assigned to devices</a:t>
            </a:r>
          </a:p>
          <a:p>
            <a:pPr lvl="1"/>
            <a:endParaRPr lang="en-GB" sz="2000" dirty="0"/>
          </a:p>
          <a:p>
            <a:pPr marL="457200" lvl="1" indent="0">
              <a:buNone/>
            </a:pPr>
            <a:endParaRPr lang="en-US" sz="2000" dirty="0" smtClean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136571105"/>
              </p:ext>
            </p:extLst>
          </p:nvPr>
        </p:nvGraphicFramePr>
        <p:xfrm>
          <a:off x="1064523" y="5218370"/>
          <a:ext cx="7478976" cy="1010920"/>
        </p:xfrm>
        <a:graphic>
          <a:graphicData uri="http://schemas.openxmlformats.org/drawingml/2006/table">
            <a:tbl>
              <a:tblPr firstRow="1" bandRow="1">
                <a:tableStyleId>{5FD0F851-EC5A-4D38-B0AD-8093EC10F338}</a:tableStyleId>
              </a:tblPr>
              <a:tblGrid>
                <a:gridCol w="249299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9299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9299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Network Address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Usable</a:t>
                      </a:r>
                      <a:r>
                        <a:rPr lang="en-GB" sz="1800" baseline="0" dirty="0" smtClean="0"/>
                        <a:t> Addresses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Broadcast</a:t>
                      </a:r>
                      <a:r>
                        <a:rPr lang="en-GB" sz="1800" baseline="0" dirty="0" smtClean="0"/>
                        <a:t> Address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192.168.1.0 /24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192.168.1.1</a:t>
                      </a:r>
                      <a:r>
                        <a:rPr lang="en-GB" sz="1800" baseline="0" dirty="0" smtClean="0"/>
                        <a:t> – 192.168.1.254</a:t>
                      </a:r>
                      <a:endParaRPr lang="en-US" sz="18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800" dirty="0" smtClean="0"/>
                        <a:t>192.168.1.255</a:t>
                      </a:r>
                      <a:endParaRPr lang="en-US" sz="18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1860778" y="2568650"/>
            <a:ext cx="526035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GB" sz="4000" dirty="0" smtClean="0">
                <a:solidFill>
                  <a:schemeClr val="accent1">
                    <a:lumMod val="75000"/>
                  </a:schemeClr>
                </a:solidFill>
              </a:rPr>
              <a:t>Calculating Addresses</a:t>
            </a:r>
            <a:endParaRPr lang="en-US" sz="4000" dirty="0">
              <a:solidFill>
                <a:schemeClr val="accent1">
                  <a:lumMod val="75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0885186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IPv4 Network: </a:t>
            </a:r>
            <a:r>
              <a:rPr lang="en-US" sz="2800" dirty="0" smtClean="0"/>
              <a:t>Network Prefixes</a:t>
            </a:r>
          </a:p>
        </p:txBody>
      </p:sp>
      <p:sp>
        <p:nvSpPr>
          <p:cNvPr id="2048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106488"/>
            <a:ext cx="8515800" cy="5362575"/>
          </a:xfrm>
        </p:spPr>
        <p:txBody>
          <a:bodyPr/>
          <a:lstStyle/>
          <a:p>
            <a:r>
              <a:rPr lang="en-US" sz="2000" dirty="0" smtClean="0"/>
              <a:t>The network prefix is the number of bits that represents the network portion of the address.</a:t>
            </a:r>
          </a:p>
          <a:p>
            <a:r>
              <a:rPr lang="en-GB" sz="2000" dirty="0" smtClean="0"/>
              <a:t>The remainder of the network address represents the host bits.</a:t>
            </a:r>
            <a:endParaRPr lang="en-US" sz="2000" dirty="0" smtClean="0"/>
          </a:p>
          <a:p>
            <a:pPr marL="0" indent="0">
              <a:buNone/>
            </a:pPr>
            <a:r>
              <a:rPr lang="en-US" sz="2000" dirty="0" smtClean="0"/>
              <a:t>Example: </a:t>
            </a:r>
          </a:p>
          <a:p>
            <a:pPr marL="0" indent="0">
              <a:buNone/>
            </a:pPr>
            <a:r>
              <a:rPr lang="en-US" sz="2000" dirty="0"/>
              <a:t>	</a:t>
            </a:r>
            <a:r>
              <a:rPr lang="en-US" sz="2000" dirty="0" smtClean="0"/>
              <a:t>172.16.4.0 /</a:t>
            </a:r>
            <a:r>
              <a:rPr lang="en-US" sz="2000" dirty="0"/>
              <a:t>24	</a:t>
            </a:r>
          </a:p>
          <a:p>
            <a:pPr lvl="1"/>
            <a:r>
              <a:rPr lang="en-US" sz="2000" dirty="0" smtClean="0"/>
              <a:t>The first 24 bits represents the network portion</a:t>
            </a:r>
          </a:p>
          <a:p>
            <a:pPr lvl="1"/>
            <a:r>
              <a:rPr lang="en-US" sz="2000" dirty="0" smtClean="0"/>
              <a:t>The remaining 8 bits represents the host portion</a:t>
            </a:r>
            <a:endParaRPr lang="en-US" sz="2000" dirty="0"/>
          </a:p>
          <a:p>
            <a:pPr lvl="1"/>
            <a:endParaRPr lang="en-US" sz="2000" dirty="0" smtClean="0"/>
          </a:p>
          <a:p>
            <a:r>
              <a:rPr lang="en-US" sz="2000" dirty="0"/>
              <a:t>A different prefix would change the host range and broadcast address for </a:t>
            </a:r>
            <a:r>
              <a:rPr lang="en-US" sz="2000" dirty="0" smtClean="0"/>
              <a:t>each subnet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3"/>
          <p:cNvSpPr txBox="1">
            <a:spLocks noChangeArrowheads="1"/>
          </p:cNvSpPr>
          <p:nvPr/>
        </p:nvSpPr>
        <p:spPr bwMode="auto">
          <a:xfrm>
            <a:off x="246063" y="1011238"/>
            <a:ext cx="8665925" cy="53625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t" anchorCtr="0" compatLnSpc="1">
            <a:prstTxWarp prst="textNoShape">
              <a:avLst/>
            </a:prstTxWarp>
          </a:bodyPr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800100" indent="-3429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  <a:defRPr sz="2400">
                <a:solidFill>
                  <a:schemeClr val="tx1"/>
                </a:solidFill>
                <a:latin typeface="+mn-lt"/>
              </a:defRPr>
            </a:lvl2pPr>
            <a:lvl3pPr marL="1257300" indent="-3429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  <a:defRPr sz="2200">
                <a:solidFill>
                  <a:schemeClr val="tx1"/>
                </a:solidFill>
                <a:latin typeface="+mn-lt"/>
              </a:defRPr>
            </a:lvl3pPr>
            <a:lvl4pPr marL="1597025" indent="-3429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pPr marL="0" indent="0">
              <a:buFont typeface="Wingdings" pitchFamily="2" charset="2"/>
              <a:buNone/>
            </a:pPr>
            <a:r>
              <a:rPr lang="en-US" sz="2400" kern="0" dirty="0" smtClean="0">
                <a:solidFill>
                  <a:srgbClr val="FF0000"/>
                </a:solidFill>
              </a:rPr>
              <a:t>Given an IP address: 172.16.20.140 /25</a:t>
            </a:r>
          </a:p>
          <a:p>
            <a:r>
              <a:rPr lang="en-US" sz="2400" kern="0" dirty="0" smtClean="0">
                <a:solidFill>
                  <a:schemeClr val="accent2"/>
                </a:solidFill>
              </a:rPr>
              <a:t>To calculate Network Address for this network: </a:t>
            </a:r>
            <a:r>
              <a:rPr lang="en-US" sz="2400" kern="0" dirty="0" smtClean="0"/>
              <a:t>  </a:t>
            </a:r>
            <a:endParaRPr lang="en-GB" sz="2000" kern="0" dirty="0" smtClean="0"/>
          </a:p>
          <a:p>
            <a:pPr indent="0"/>
            <a:r>
              <a:rPr lang="en-GB" sz="2000" kern="0" dirty="0" smtClean="0"/>
              <a:t> Set the bits in the host portion to “0”</a:t>
            </a:r>
          </a:p>
          <a:p>
            <a:pPr lvl="1" indent="0"/>
            <a:r>
              <a:rPr lang="en-GB" sz="2000" kern="0" dirty="0" smtClean="0"/>
              <a:t>The prefix “/25” shows that the network portion ends on the 25th bit</a:t>
            </a:r>
          </a:p>
          <a:p>
            <a:pPr lvl="1" indent="0"/>
            <a:r>
              <a:rPr lang="en-GB" sz="2000" kern="0" dirty="0" smtClean="0"/>
              <a:t>Thus, the host portion starts on the 26</a:t>
            </a:r>
            <a:r>
              <a:rPr lang="en-GB" sz="2000" kern="0" baseline="30000" dirty="0" smtClean="0"/>
              <a:t>th</a:t>
            </a:r>
            <a:r>
              <a:rPr lang="en-GB" sz="2000" kern="0" dirty="0" smtClean="0"/>
              <a:t> to the 32</a:t>
            </a:r>
            <a:r>
              <a:rPr lang="en-GB" sz="2000" kern="0" baseline="30000" dirty="0" smtClean="0"/>
              <a:t>nd</a:t>
            </a:r>
            <a:r>
              <a:rPr lang="en-GB" sz="2000" kern="0" dirty="0" smtClean="0"/>
              <a:t> bit</a:t>
            </a:r>
          </a:p>
          <a:p>
            <a:pPr lvl="1" indent="0"/>
            <a:r>
              <a:rPr lang="en-GB" sz="2000" kern="0" dirty="0" smtClean="0"/>
              <a:t>Bit 25 falls within the 4</a:t>
            </a:r>
            <a:r>
              <a:rPr lang="en-GB" sz="2000" kern="0" baseline="30000" dirty="0" smtClean="0"/>
              <a:t>th</a:t>
            </a:r>
            <a:r>
              <a:rPr lang="en-GB" sz="2000" kern="0" dirty="0" smtClean="0"/>
              <a:t> octet</a:t>
            </a:r>
          </a:p>
          <a:p>
            <a:pPr lvl="1" indent="0"/>
            <a:r>
              <a:rPr lang="en-GB" sz="2000" kern="0" dirty="0" smtClean="0"/>
              <a:t>Convert the 4</a:t>
            </a:r>
            <a:r>
              <a:rPr lang="en-GB" sz="2000" kern="0" baseline="30000" dirty="0" smtClean="0"/>
              <a:t>th</a:t>
            </a:r>
            <a:r>
              <a:rPr lang="en-GB" sz="2000" kern="0" dirty="0" smtClean="0"/>
              <a:t> octet value, 140 to binary and mark the separation:</a:t>
            </a:r>
          </a:p>
          <a:p>
            <a:pPr lvl="1" indent="0">
              <a:buFont typeface="Arial" pitchFamily="34" charset="0"/>
              <a:buNone/>
            </a:pPr>
            <a:endParaRPr lang="en-GB" sz="2000" kern="0" dirty="0" smtClean="0"/>
          </a:p>
          <a:p>
            <a:pPr lvl="1" indent="0"/>
            <a:endParaRPr lang="en-GB" sz="2000" kern="0" dirty="0" smtClean="0"/>
          </a:p>
          <a:p>
            <a:pPr lvl="1" indent="0"/>
            <a:endParaRPr lang="en-GB" sz="2000" kern="0" dirty="0" smtClean="0"/>
          </a:p>
          <a:p>
            <a:pPr lvl="1" indent="0"/>
            <a:r>
              <a:rPr lang="en-GB" sz="2000" kern="0" dirty="0" smtClean="0"/>
              <a:t>Setting the host bits to 0 makes it 10000000, which is 128</a:t>
            </a:r>
            <a:endParaRPr lang="en-US" sz="2000" kern="0" dirty="0" smtClean="0"/>
          </a:p>
          <a:p>
            <a:pPr lvl="1" indent="0"/>
            <a:r>
              <a:rPr lang="en-US" sz="2000" kern="0" dirty="0" smtClean="0"/>
              <a:t>Thus, the network address is </a:t>
            </a:r>
            <a:r>
              <a:rPr lang="en-US" sz="2000" kern="0" dirty="0" smtClean="0">
                <a:solidFill>
                  <a:srgbClr val="FF0000"/>
                </a:solidFill>
              </a:rPr>
              <a:t>172.16.20.128 /25</a:t>
            </a:r>
          </a:p>
          <a:p>
            <a:pPr lvl="1" indent="0"/>
            <a:r>
              <a:rPr lang="en-GB" sz="2000" kern="0" dirty="0" smtClean="0"/>
              <a:t> We’ll use this network address in the next slide</a:t>
            </a:r>
            <a:endParaRPr lang="en-US" sz="2000" kern="0" dirty="0" smtClean="0"/>
          </a:p>
          <a:p>
            <a:endParaRPr lang="en-US" sz="2000" kern="0" dirty="0" smtClean="0">
              <a:solidFill>
                <a:schemeClr val="accent2"/>
              </a:solidFill>
            </a:endParaRPr>
          </a:p>
        </p:txBody>
      </p:sp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400" smtClean="0">
                <a:ea typeface="ＭＳ Ｐゴシック" pitchFamily="34" charset="-128"/>
              </a:rPr>
              <a:t>Calculating Network, Hosts, and Broadcast Address</a:t>
            </a:r>
            <a:endParaRPr lang="en-US" sz="2400" smtClean="0"/>
          </a:p>
        </p:txBody>
      </p:sp>
      <p:grpSp>
        <p:nvGrpSpPr>
          <p:cNvPr id="9" name="Group 8"/>
          <p:cNvGrpSpPr/>
          <p:nvPr/>
        </p:nvGrpSpPr>
        <p:grpSpPr>
          <a:xfrm>
            <a:off x="371000" y="4067503"/>
            <a:ext cx="3518902" cy="993228"/>
            <a:chOff x="371000" y="4067503"/>
            <a:chExt cx="3518902" cy="993228"/>
          </a:xfrm>
        </p:grpSpPr>
        <p:cxnSp>
          <p:nvCxnSpPr>
            <p:cNvPr id="5" name="Straight Connector 4"/>
            <p:cNvCxnSpPr/>
            <p:nvPr/>
          </p:nvCxnSpPr>
          <p:spPr bwMode="auto">
            <a:xfrm>
              <a:off x="2112580" y="4067503"/>
              <a:ext cx="0" cy="993228"/>
            </a:xfrm>
            <a:prstGeom prst="line">
              <a:avLst/>
            </a:prstGeom>
            <a:noFill/>
            <a:ln w="2540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  <p:cxnSp>
          <p:nvCxnSpPr>
            <p:cNvPr id="3" name="Straight Arrow Connector 2"/>
            <p:cNvCxnSpPr/>
            <p:nvPr/>
          </p:nvCxnSpPr>
          <p:spPr bwMode="auto">
            <a:xfrm flipH="1">
              <a:off x="1213945" y="4303986"/>
              <a:ext cx="788276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4" name="TextBox 3"/>
            <p:cNvSpPr txBox="1"/>
            <p:nvPr/>
          </p:nvSpPr>
          <p:spPr>
            <a:xfrm>
              <a:off x="371000" y="4379451"/>
              <a:ext cx="1082348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 smtClean="0">
                  <a:solidFill>
                    <a:srgbClr val="FF0000"/>
                  </a:solidFill>
                </a:rPr>
                <a:t>network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  <p:cxnSp>
          <p:nvCxnSpPr>
            <p:cNvPr id="8" name="Straight Arrow Connector 7"/>
            <p:cNvCxnSpPr/>
            <p:nvPr/>
          </p:nvCxnSpPr>
          <p:spPr bwMode="auto">
            <a:xfrm>
              <a:off x="2186153" y="4298726"/>
              <a:ext cx="872357" cy="0"/>
            </a:xfrm>
            <a:prstGeom prst="straightConnector1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arrow"/>
            </a:ln>
            <a:effectLst/>
          </p:spPr>
        </p:cxnSp>
        <p:sp>
          <p:nvSpPr>
            <p:cNvPr id="10" name="TextBox 9"/>
            <p:cNvSpPr txBox="1"/>
            <p:nvPr/>
          </p:nvSpPr>
          <p:spPr>
            <a:xfrm>
              <a:off x="3221129" y="4177124"/>
              <a:ext cx="66877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 smtClean="0">
                  <a:solidFill>
                    <a:srgbClr val="FF0000"/>
                  </a:solidFill>
                </a:rPr>
                <a:t>host</a:t>
              </a:r>
              <a:endParaRPr lang="en-US" sz="2000" dirty="0">
                <a:solidFill>
                  <a:srgbClr val="FF0000"/>
                </a:solidFill>
              </a:endParaRP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859402" y="4364719"/>
              <a:ext cx="1377493" cy="3693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2000" dirty="0" smtClean="0"/>
                <a:t>1 0001100</a:t>
              </a:r>
              <a:endParaRPr lang="en-US" sz="2000" dirty="0"/>
            </a:p>
          </p:txBody>
        </p:sp>
      </p:grp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400" smtClean="0">
                <a:ea typeface="ＭＳ Ｐゴシック" pitchFamily="34" charset="-128"/>
              </a:rPr>
              <a:t>Calculating Network, Hosts, and Broadcast Address</a:t>
            </a:r>
            <a:endParaRPr lang="en-US" sz="240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418897"/>
            <a:ext cx="8665925" cy="4954916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>
                <a:solidFill>
                  <a:srgbClr val="FF0000"/>
                </a:solidFill>
              </a:rPr>
              <a:t>Continuing with the IP address: 172.16.20.140 /25</a:t>
            </a:r>
          </a:p>
          <a:p>
            <a:endParaRPr lang="en-GB" sz="2400" dirty="0" smtClean="0">
              <a:solidFill>
                <a:schemeClr val="accent2"/>
              </a:solidFill>
            </a:endParaRPr>
          </a:p>
          <a:p>
            <a:r>
              <a:rPr lang="en-US" sz="2400" dirty="0" smtClean="0">
                <a:solidFill>
                  <a:schemeClr val="accent2"/>
                </a:solidFill>
              </a:rPr>
              <a:t>To calculate the First Host Address</a:t>
            </a:r>
            <a:r>
              <a:rPr lang="en-US" sz="2400" dirty="0" smtClean="0"/>
              <a:t>: </a:t>
            </a:r>
          </a:p>
          <a:p>
            <a:pPr indent="0"/>
            <a:r>
              <a:rPr lang="en-US" sz="2000" dirty="0" smtClean="0"/>
              <a:t>This is </a:t>
            </a:r>
            <a:r>
              <a:rPr lang="en-US" sz="2000" dirty="0"/>
              <a:t>always one greater than the </a:t>
            </a:r>
            <a:r>
              <a:rPr lang="en-US" sz="2000" dirty="0">
                <a:solidFill>
                  <a:srgbClr val="FF0000"/>
                </a:solidFill>
              </a:rPr>
              <a:t>network address </a:t>
            </a:r>
          </a:p>
          <a:p>
            <a:pPr lvl="1" indent="0"/>
            <a:r>
              <a:rPr lang="en-GB" sz="2000" dirty="0" smtClean="0"/>
              <a:t>From the </a:t>
            </a:r>
            <a:r>
              <a:rPr lang="en-GB" sz="2000" dirty="0" smtClean="0">
                <a:solidFill>
                  <a:srgbClr val="FF0000"/>
                </a:solidFill>
              </a:rPr>
              <a:t>network</a:t>
            </a:r>
            <a:r>
              <a:rPr lang="en-GB" sz="2000" dirty="0" smtClean="0"/>
              <a:t> address, set only the last host bit to “1” (1000000</a:t>
            </a:r>
            <a:r>
              <a:rPr lang="en-GB" sz="2000" dirty="0" smtClean="0">
                <a:solidFill>
                  <a:srgbClr val="FF0000"/>
                </a:solidFill>
              </a:rPr>
              <a:t>1</a:t>
            </a:r>
            <a:r>
              <a:rPr lang="en-GB" sz="2000" dirty="0" smtClean="0"/>
              <a:t>)</a:t>
            </a:r>
            <a:endParaRPr lang="en-US" sz="2000" dirty="0" smtClean="0"/>
          </a:p>
          <a:p>
            <a:pPr lvl="1" indent="0"/>
            <a:r>
              <a:rPr lang="en-US" sz="2000" dirty="0" smtClean="0"/>
              <a:t>Thus, the first (lowest) host address is 172.16.20.129</a:t>
            </a:r>
          </a:p>
        </p:txBody>
      </p:sp>
    </p:spTree>
    <p:extLst>
      <p:ext uri="{BB962C8B-B14F-4D97-AF65-F5344CB8AC3E}">
        <p14:creationId xmlns:p14="http://schemas.microsoft.com/office/powerpoint/2010/main" val="184074107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06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400" smtClean="0">
                <a:ea typeface="ＭＳ Ｐゴシック" pitchFamily="34" charset="-128"/>
              </a:rPr>
              <a:t>Calculating Network, Hosts, and Broadcast Address</a:t>
            </a:r>
            <a:endParaRPr lang="en-US" sz="2400" smtClean="0"/>
          </a:p>
        </p:txBody>
      </p:sp>
      <p:sp>
        <p:nvSpPr>
          <p:cNvPr id="2150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011238"/>
            <a:ext cx="8597686" cy="5362575"/>
          </a:xfrm>
        </p:spPr>
        <p:txBody>
          <a:bodyPr/>
          <a:lstStyle/>
          <a:p>
            <a:pPr marL="0" indent="0">
              <a:buNone/>
            </a:pPr>
            <a:r>
              <a:rPr lang="en-US" sz="2400" dirty="0" smtClean="0">
                <a:solidFill>
                  <a:srgbClr val="FF0000"/>
                </a:solidFill>
              </a:rPr>
              <a:t>Continuing with the IP address: 172.16.20.140 /25</a:t>
            </a:r>
          </a:p>
          <a:p>
            <a:endParaRPr lang="en-US" sz="2400" dirty="0" smtClean="0">
              <a:solidFill>
                <a:schemeClr val="accent2"/>
              </a:solidFill>
            </a:endParaRPr>
          </a:p>
          <a:p>
            <a:r>
              <a:rPr lang="en-US" sz="2400" dirty="0" smtClean="0">
                <a:solidFill>
                  <a:schemeClr val="accent2"/>
                </a:solidFill>
              </a:rPr>
              <a:t>Broadcast Address</a:t>
            </a:r>
            <a:endParaRPr lang="en-US" sz="2400" dirty="0" smtClean="0"/>
          </a:p>
          <a:p>
            <a:pPr indent="0"/>
            <a:r>
              <a:rPr lang="en-GB" sz="2000" dirty="0"/>
              <a:t> Set the host portion bits to </a:t>
            </a:r>
            <a:r>
              <a:rPr lang="en-GB" sz="2000" dirty="0" smtClean="0"/>
              <a:t>“1”</a:t>
            </a:r>
            <a:endParaRPr lang="en-GB" sz="2000" dirty="0"/>
          </a:p>
          <a:p>
            <a:pPr lvl="1" indent="0"/>
            <a:r>
              <a:rPr lang="en-GB" sz="2000" dirty="0"/>
              <a:t>Setting </a:t>
            </a:r>
            <a:r>
              <a:rPr lang="en-GB" sz="2000" dirty="0" smtClean="0"/>
              <a:t>all the </a:t>
            </a:r>
            <a:r>
              <a:rPr lang="en-GB" sz="2000" dirty="0"/>
              <a:t>host bits to </a:t>
            </a:r>
            <a:r>
              <a:rPr lang="en-GB" sz="2000" dirty="0" smtClean="0"/>
              <a:t>1 </a:t>
            </a:r>
            <a:r>
              <a:rPr lang="en-GB" sz="2000" dirty="0"/>
              <a:t>makes it </a:t>
            </a:r>
            <a:r>
              <a:rPr lang="en-GB" sz="2000" dirty="0" smtClean="0"/>
              <a:t>11111111, </a:t>
            </a:r>
            <a:r>
              <a:rPr lang="en-GB" sz="2000" dirty="0"/>
              <a:t>which is </a:t>
            </a:r>
            <a:r>
              <a:rPr lang="en-GB" sz="2000" dirty="0" smtClean="0"/>
              <a:t>255</a:t>
            </a:r>
            <a:endParaRPr lang="en-US" sz="2000" dirty="0"/>
          </a:p>
          <a:p>
            <a:pPr lvl="1" indent="0"/>
            <a:r>
              <a:rPr lang="en-US" sz="2000" dirty="0" smtClean="0"/>
              <a:t>Thus, the broadcast address is 172.16.20.255</a:t>
            </a:r>
          </a:p>
          <a:p>
            <a:pPr lvl="1" indent="0"/>
            <a:endParaRPr lang="en-US" sz="1800" dirty="0" smtClean="0"/>
          </a:p>
          <a:p>
            <a:r>
              <a:rPr lang="en-US" sz="2400" dirty="0" smtClean="0">
                <a:solidFill>
                  <a:schemeClr val="accent2"/>
                </a:solidFill>
              </a:rPr>
              <a:t>Last Host Address:</a:t>
            </a:r>
          </a:p>
          <a:p>
            <a:pPr indent="0"/>
            <a:r>
              <a:rPr lang="en-US" sz="2000" dirty="0" smtClean="0"/>
              <a:t> This is </a:t>
            </a:r>
            <a:r>
              <a:rPr lang="en-US" sz="2000" dirty="0"/>
              <a:t>always one less than the </a:t>
            </a:r>
            <a:r>
              <a:rPr lang="en-US" sz="2000" dirty="0">
                <a:solidFill>
                  <a:srgbClr val="FF0000"/>
                </a:solidFill>
              </a:rPr>
              <a:t>broadcast </a:t>
            </a:r>
            <a:r>
              <a:rPr lang="en-US" sz="2000" dirty="0" smtClean="0">
                <a:solidFill>
                  <a:srgbClr val="FF0000"/>
                </a:solidFill>
              </a:rPr>
              <a:t>address</a:t>
            </a:r>
          </a:p>
          <a:p>
            <a:pPr lvl="1" indent="0"/>
            <a:r>
              <a:rPr lang="en-GB" sz="2000" dirty="0"/>
              <a:t>From the </a:t>
            </a:r>
            <a:r>
              <a:rPr lang="en-GB" sz="2000" dirty="0" smtClean="0">
                <a:solidFill>
                  <a:srgbClr val="FF0000"/>
                </a:solidFill>
              </a:rPr>
              <a:t>broadcast</a:t>
            </a:r>
            <a:r>
              <a:rPr lang="en-GB" sz="2000" dirty="0" smtClean="0"/>
              <a:t> address</a:t>
            </a:r>
            <a:r>
              <a:rPr lang="en-GB" sz="2000" dirty="0"/>
              <a:t>, set only the last host bit to </a:t>
            </a:r>
            <a:r>
              <a:rPr lang="en-GB" sz="2000" dirty="0" smtClean="0"/>
              <a:t>“0” (1111111</a:t>
            </a:r>
            <a:r>
              <a:rPr lang="en-GB" sz="2000" dirty="0" smtClean="0">
                <a:solidFill>
                  <a:srgbClr val="FF0000"/>
                </a:solidFill>
              </a:rPr>
              <a:t>0</a:t>
            </a:r>
            <a:r>
              <a:rPr lang="en-GB" sz="2000" dirty="0" smtClean="0"/>
              <a:t>)</a:t>
            </a:r>
            <a:endParaRPr lang="en-US" sz="2000" dirty="0"/>
          </a:p>
          <a:p>
            <a:pPr lvl="1" indent="0"/>
            <a:r>
              <a:rPr lang="en-US" sz="2000" dirty="0"/>
              <a:t>Thus, the </a:t>
            </a:r>
            <a:r>
              <a:rPr lang="en-US" sz="2000" dirty="0" smtClean="0"/>
              <a:t>last (highest) </a:t>
            </a:r>
            <a:r>
              <a:rPr lang="en-US" sz="2000" dirty="0"/>
              <a:t>host address is </a:t>
            </a:r>
            <a:r>
              <a:rPr lang="en-US" sz="2000" dirty="0" smtClean="0"/>
              <a:t>172.16.20.254</a:t>
            </a:r>
            <a:endParaRPr lang="en-US" sz="2000" dirty="0"/>
          </a:p>
        </p:txBody>
      </p:sp>
      <p:grpSp>
        <p:nvGrpSpPr>
          <p:cNvPr id="13" name="Group 12"/>
          <p:cNvGrpSpPr/>
          <p:nvPr/>
        </p:nvGrpSpPr>
        <p:grpSpPr>
          <a:xfrm>
            <a:off x="4579325" y="1466196"/>
            <a:ext cx="3528380" cy="1403131"/>
            <a:chOff x="4579325" y="1466196"/>
            <a:chExt cx="3528380" cy="1403131"/>
          </a:xfrm>
        </p:grpSpPr>
        <p:grpSp>
          <p:nvGrpSpPr>
            <p:cNvPr id="11" name="Group 10"/>
            <p:cNvGrpSpPr/>
            <p:nvPr/>
          </p:nvGrpSpPr>
          <p:grpSpPr>
            <a:xfrm>
              <a:off x="4588803" y="1466196"/>
              <a:ext cx="3518902" cy="1403131"/>
              <a:chOff x="4415377" y="1371600"/>
              <a:chExt cx="3518902" cy="1403131"/>
            </a:xfrm>
          </p:grpSpPr>
          <p:grpSp>
            <p:nvGrpSpPr>
              <p:cNvPr id="4" name="Group 3"/>
              <p:cNvGrpSpPr/>
              <p:nvPr/>
            </p:nvGrpSpPr>
            <p:grpSpPr>
              <a:xfrm>
                <a:off x="4415377" y="1588830"/>
                <a:ext cx="3518902" cy="993228"/>
                <a:chOff x="371000" y="4067503"/>
                <a:chExt cx="3518902" cy="993228"/>
              </a:xfrm>
            </p:grpSpPr>
            <p:cxnSp>
              <p:nvCxnSpPr>
                <p:cNvPr id="5" name="Straight Connector 4"/>
                <p:cNvCxnSpPr/>
                <p:nvPr/>
              </p:nvCxnSpPr>
              <p:spPr bwMode="auto">
                <a:xfrm>
                  <a:off x="2112580" y="4067503"/>
                  <a:ext cx="0" cy="993228"/>
                </a:xfrm>
                <a:prstGeom prst="line">
                  <a:avLst/>
                </a:prstGeom>
                <a:noFill/>
                <a:ln w="2540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none" w="med" len="med"/>
                </a:ln>
                <a:effectLst/>
              </p:spPr>
            </p:cxnSp>
            <p:cxnSp>
              <p:nvCxnSpPr>
                <p:cNvPr id="6" name="Straight Arrow Connector 5"/>
                <p:cNvCxnSpPr/>
                <p:nvPr/>
              </p:nvCxnSpPr>
              <p:spPr bwMode="auto">
                <a:xfrm flipH="1">
                  <a:off x="1213945" y="4303986"/>
                  <a:ext cx="788276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7" name="TextBox 6"/>
                <p:cNvSpPr txBox="1"/>
                <p:nvPr/>
              </p:nvSpPr>
              <p:spPr>
                <a:xfrm>
                  <a:off x="371000" y="4379451"/>
                  <a:ext cx="1082348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000" dirty="0" smtClean="0">
                      <a:solidFill>
                        <a:srgbClr val="FF0000"/>
                      </a:solidFill>
                    </a:rPr>
                    <a:t>network</a:t>
                  </a:r>
                  <a:endParaRPr lang="en-US" sz="2000" dirty="0">
                    <a:solidFill>
                      <a:srgbClr val="FF0000"/>
                    </a:solidFill>
                  </a:endParaRPr>
                </a:p>
              </p:txBody>
            </p:sp>
            <p:cxnSp>
              <p:nvCxnSpPr>
                <p:cNvPr id="8" name="Straight Arrow Connector 7"/>
                <p:cNvCxnSpPr/>
                <p:nvPr/>
              </p:nvCxnSpPr>
              <p:spPr bwMode="auto">
                <a:xfrm>
                  <a:off x="2186153" y="4298726"/>
                  <a:ext cx="872357" cy="0"/>
                </a:xfrm>
                <a:prstGeom prst="straightConnector1">
                  <a:avLst/>
                </a:prstGeom>
                <a:noFill/>
                <a:ln w="19050" cap="flat" cmpd="sng" algn="ctr">
                  <a:solidFill>
                    <a:srgbClr val="FF0000"/>
                  </a:solidFill>
                  <a:prstDash val="solid"/>
                  <a:round/>
                  <a:headEnd type="none" w="med" len="med"/>
                  <a:tailEnd type="arrow"/>
                </a:ln>
                <a:effectLst/>
              </p:spPr>
            </p:cxnSp>
            <p:sp>
              <p:nvSpPr>
                <p:cNvPr id="9" name="TextBox 8"/>
                <p:cNvSpPr txBox="1"/>
                <p:nvPr/>
              </p:nvSpPr>
              <p:spPr>
                <a:xfrm>
                  <a:off x="3221129" y="4177124"/>
                  <a:ext cx="66877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000" dirty="0" smtClean="0">
                      <a:solidFill>
                        <a:srgbClr val="FF0000"/>
                      </a:solidFill>
                    </a:rPr>
                    <a:t>host</a:t>
                  </a:r>
                  <a:endParaRPr lang="en-US" sz="2000" dirty="0">
                    <a:solidFill>
                      <a:srgbClr val="FF0000"/>
                    </a:solidFill>
                  </a:endParaRPr>
                </a:p>
              </p:txBody>
            </p:sp>
            <p:sp>
              <p:nvSpPr>
                <p:cNvPr id="10" name="TextBox 9"/>
                <p:cNvSpPr txBox="1"/>
                <p:nvPr/>
              </p:nvSpPr>
              <p:spPr>
                <a:xfrm>
                  <a:off x="1859402" y="4364719"/>
                  <a:ext cx="1377493" cy="369332"/>
                </a:xfrm>
                <a:prstGeom prst="rect">
                  <a:avLst/>
                </a:prstGeom>
                <a:noFill/>
              </p:spPr>
              <p:txBody>
                <a:bodyPr wrap="none" rtlCol="0">
                  <a:spAutoFit/>
                </a:bodyPr>
                <a:lstStyle/>
                <a:p>
                  <a:r>
                    <a:rPr lang="en-GB" sz="2000" dirty="0" smtClean="0"/>
                    <a:t>1 0001100</a:t>
                  </a:r>
                  <a:endParaRPr lang="en-US" sz="2000" dirty="0"/>
                </a:p>
              </p:txBody>
            </p:sp>
          </p:grpSp>
          <p:sp>
            <p:nvSpPr>
              <p:cNvPr id="3" name="Rounded Rectangle 2"/>
              <p:cNvSpPr/>
              <p:nvPr/>
            </p:nvSpPr>
            <p:spPr bwMode="auto">
              <a:xfrm>
                <a:off x="4415377" y="1371600"/>
                <a:ext cx="3518902" cy="1403131"/>
              </a:xfrm>
              <a:prstGeom prst="roundRect">
                <a:avLst/>
              </a:prstGeom>
              <a:noFill/>
              <a:ln w="19050" cap="flat" cmpd="sng" algn="ctr">
                <a:solidFill>
                  <a:srgbClr val="FF0000"/>
                </a:solidFill>
                <a:prstDash val="solid"/>
                <a:round/>
                <a:headEnd type="none" w="med" len="med"/>
                <a:tailEnd type="triangle" w="med" len="med"/>
              </a:ln>
              <a:effectLst/>
            </p:spPr>
            <p:txBody>
              <a:bodyPr vert="horz" wrap="square" lIns="82296" tIns="36576" rIns="82296" bIns="36576" numCol="1" rtlCol="0" anchor="t" anchorCtr="0" compatLnSpc="1">
                <a:prstTxWarp prst="textNoShape">
                  <a:avLst/>
                </a:prstTxWarp>
                <a:spAutoFit/>
              </a:bodyPr>
              <a:lstStyle/>
              <a:p>
                <a:pPr marL="0" marR="0" indent="0" algn="ctr" defTabSz="814388" rtl="0" eaLnBrk="0" fontAlgn="base" latinLnBrk="0" hangingPunct="0">
                  <a:lnSpc>
                    <a:spcPct val="90000"/>
                  </a:lnSpc>
                  <a:spcBef>
                    <a:spcPct val="0"/>
                  </a:spcBef>
                  <a:spcAft>
                    <a:spcPct val="0"/>
                  </a:spcAft>
                  <a:buClrTx/>
                  <a:buSzTx/>
                  <a:buFontTx/>
                  <a:buNone/>
                  <a:tabLst/>
                </a:pPr>
                <a:endParaRPr kumimoji="0" lang="en-US" sz="2400" b="0" i="0" u="none" strike="noStrike" cap="none" normalizeH="0" baseline="0" smtClean="0">
                  <a:ln>
                    <a:noFill/>
                  </a:ln>
                  <a:solidFill>
                    <a:schemeClr val="tx1"/>
                  </a:solidFill>
                  <a:effectLst/>
                  <a:latin typeface="Arial" charset="0"/>
                </a:endParaRPr>
              </a:p>
            </p:txBody>
          </p:sp>
        </p:grpSp>
        <p:sp>
          <p:nvSpPr>
            <p:cNvPr id="12" name="TextBox 11"/>
            <p:cNvSpPr txBox="1"/>
            <p:nvPr/>
          </p:nvSpPr>
          <p:spPr>
            <a:xfrm>
              <a:off x="4579325" y="1477788"/>
              <a:ext cx="1595309" cy="341632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GB" sz="1800" b="1" i="1" dirty="0" smtClean="0">
                  <a:solidFill>
                    <a:srgbClr val="C00000"/>
                  </a:solidFill>
                </a:rPr>
                <a:t>140 in binary</a:t>
              </a:r>
              <a:endParaRPr lang="en-US" sz="1800" b="1" i="1" dirty="0">
                <a:solidFill>
                  <a:srgbClr val="C00000"/>
                </a:solidFill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7137379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30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400" smtClean="0">
                <a:ea typeface="ＭＳ Ｐゴシック" pitchFamily="34" charset="-128"/>
              </a:rPr>
              <a:t>Calculating Network, Hosts, and Broadcast Address</a:t>
            </a:r>
            <a:endParaRPr lang="en-US" sz="2400" smtClean="0"/>
          </a:p>
        </p:txBody>
      </p:sp>
      <p:sp>
        <p:nvSpPr>
          <p:cNvPr id="2253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106488"/>
            <a:ext cx="8543095" cy="5362575"/>
          </a:xfrm>
        </p:spPr>
        <p:txBody>
          <a:bodyPr/>
          <a:lstStyle/>
          <a:p>
            <a:r>
              <a:rPr lang="en-GB" sz="2400" dirty="0" smtClean="0">
                <a:solidFill>
                  <a:schemeClr val="accent2"/>
                </a:solidFill>
              </a:rPr>
              <a:t>Thus for the IP </a:t>
            </a:r>
            <a:r>
              <a:rPr lang="en-GB" sz="2400" dirty="0">
                <a:solidFill>
                  <a:schemeClr val="accent2"/>
                </a:solidFill>
              </a:rPr>
              <a:t>address 172.16.20.140 /25</a:t>
            </a:r>
          </a:p>
          <a:p>
            <a:endParaRPr lang="en-GB" sz="2400" dirty="0">
              <a:solidFill>
                <a:srgbClr val="008000"/>
              </a:solidFill>
            </a:endParaRPr>
          </a:p>
          <a:p>
            <a:endParaRPr lang="en-US" sz="2400" dirty="0" smtClean="0">
              <a:solidFill>
                <a:srgbClr val="008000"/>
              </a:solidFill>
            </a:endParaRPr>
          </a:p>
          <a:p>
            <a:r>
              <a:rPr lang="en-GB" sz="2400" dirty="0"/>
              <a:t>Try this:	</a:t>
            </a:r>
            <a:r>
              <a:rPr lang="en-GB" sz="2400" dirty="0" smtClean="0"/>
              <a:t>10.10.20.4 </a:t>
            </a:r>
            <a:r>
              <a:rPr lang="en-GB" sz="2400" dirty="0"/>
              <a:t>/</a:t>
            </a:r>
            <a:r>
              <a:rPr lang="en-GB" sz="2400" dirty="0" smtClean="0"/>
              <a:t>20</a:t>
            </a:r>
            <a:endParaRPr lang="en-GB" sz="2400" dirty="0"/>
          </a:p>
          <a:p>
            <a:pPr lvl="1"/>
            <a:r>
              <a:rPr lang="en-GB" dirty="0">
                <a:ea typeface="+mn-ea"/>
                <a:cs typeface="+mn-cs"/>
              </a:rPr>
              <a:t>Network address:	</a:t>
            </a:r>
          </a:p>
          <a:p>
            <a:pPr lvl="1"/>
            <a:r>
              <a:rPr lang="en-GB" dirty="0">
                <a:ea typeface="+mn-ea"/>
                <a:cs typeface="+mn-cs"/>
              </a:rPr>
              <a:t>1st address:	</a:t>
            </a:r>
          </a:p>
          <a:p>
            <a:pPr lvl="1"/>
            <a:r>
              <a:rPr lang="en-GB" dirty="0">
                <a:ea typeface="+mn-ea"/>
                <a:cs typeface="+mn-cs"/>
              </a:rPr>
              <a:t>Last address: </a:t>
            </a:r>
            <a:r>
              <a:rPr lang="en-GB" dirty="0" smtClean="0">
                <a:ea typeface="+mn-ea"/>
                <a:cs typeface="+mn-cs"/>
              </a:rPr>
              <a:t>	</a:t>
            </a:r>
            <a:endParaRPr lang="en-GB" dirty="0">
              <a:ea typeface="+mn-ea"/>
              <a:cs typeface="+mn-cs"/>
            </a:endParaRPr>
          </a:p>
          <a:p>
            <a:pPr lvl="1"/>
            <a:r>
              <a:rPr lang="en-GB" dirty="0">
                <a:ea typeface="+mn-ea"/>
                <a:cs typeface="+mn-cs"/>
              </a:rPr>
              <a:t>Broadcast address</a:t>
            </a:r>
            <a:r>
              <a:rPr lang="en-GB" dirty="0" smtClean="0">
                <a:ea typeface="+mn-ea"/>
                <a:cs typeface="+mn-cs"/>
              </a:rPr>
              <a:t>:</a:t>
            </a:r>
          </a:p>
          <a:p>
            <a:pPr lvl="1"/>
            <a:endParaRPr lang="en-GB" dirty="0">
              <a:ea typeface="+mn-ea"/>
              <a:cs typeface="+mn-cs"/>
            </a:endParaRPr>
          </a:p>
          <a:p>
            <a:r>
              <a:rPr lang="en-GB" sz="2400" dirty="0" smtClean="0">
                <a:solidFill>
                  <a:schemeClr val="accent2"/>
                </a:solidFill>
              </a:rPr>
              <a:t>More </a:t>
            </a:r>
            <a:r>
              <a:rPr lang="en-GB" sz="2400" dirty="0">
                <a:solidFill>
                  <a:schemeClr val="accent2"/>
                </a:solidFill>
              </a:rPr>
              <a:t>practice at Section </a:t>
            </a:r>
            <a:r>
              <a:rPr lang="en-GB" sz="2400" dirty="0" smtClean="0">
                <a:solidFill>
                  <a:schemeClr val="accent2"/>
                </a:solidFill>
              </a:rPr>
              <a:t>6.2.2.</a:t>
            </a:r>
            <a:endParaRPr lang="en-GB" sz="2400" dirty="0">
              <a:solidFill>
                <a:schemeClr val="accent2"/>
              </a:solidFill>
            </a:endParaRPr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90277621"/>
              </p:ext>
            </p:extLst>
          </p:nvPr>
        </p:nvGraphicFramePr>
        <p:xfrm>
          <a:off x="450376" y="1707587"/>
          <a:ext cx="8325135" cy="74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8364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664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7504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Network </a:t>
                      </a:r>
                      <a:r>
                        <a:rPr lang="en-GB" dirty="0" err="1" smtClean="0"/>
                        <a:t>Addr</a:t>
                      </a:r>
                      <a:r>
                        <a:rPr lang="en-GB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Usable </a:t>
                      </a:r>
                      <a:r>
                        <a:rPr lang="en-GB" dirty="0" err="1" smtClean="0"/>
                        <a:t>Addr</a:t>
                      </a:r>
                      <a:r>
                        <a:rPr lang="en-GB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Broadcast</a:t>
                      </a:r>
                      <a:r>
                        <a:rPr lang="en-GB" baseline="0" dirty="0" smtClean="0"/>
                        <a:t> </a:t>
                      </a:r>
                      <a:r>
                        <a:rPr lang="en-GB" baseline="0" dirty="0" err="1" smtClean="0"/>
                        <a:t>Addr</a:t>
                      </a:r>
                      <a:r>
                        <a:rPr lang="en-GB" baseline="0" dirty="0" smtClean="0"/>
                        <a:t>.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172.16.20.128 /25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172.16.20.129 – 172.16.20.254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172.16.20.255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3729676" y="3105274"/>
            <a:ext cx="21531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dirty="0" smtClean="0">
                <a:solidFill>
                  <a:srgbClr val="C00000"/>
                </a:solidFill>
              </a:rPr>
              <a:t>10.10.16.0 /20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740144" y="3548044"/>
            <a:ext cx="1983235" cy="145680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dirty="0" smtClean="0">
                <a:solidFill>
                  <a:srgbClr val="C00000"/>
                </a:solidFill>
              </a:rPr>
              <a:t>10.10.16.1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dirty="0" smtClean="0">
                <a:solidFill>
                  <a:srgbClr val="C00000"/>
                </a:solidFill>
              </a:rPr>
              <a:t>10.10.31.254</a:t>
            </a:r>
          </a:p>
          <a:p>
            <a:pPr algn="l">
              <a:lnSpc>
                <a:spcPct val="100000"/>
              </a:lnSpc>
              <a:spcBef>
                <a:spcPts val="500"/>
              </a:spcBef>
              <a:spcAft>
                <a:spcPts val="500"/>
              </a:spcAft>
            </a:pPr>
            <a:r>
              <a:rPr lang="en-GB" dirty="0" smtClean="0">
                <a:solidFill>
                  <a:srgbClr val="C00000"/>
                </a:solidFill>
              </a:rPr>
              <a:t>10.10.31.255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SG" dirty="0" smtClean="0"/>
              <a:t>Questions</a:t>
            </a:r>
            <a:endParaRPr lang="en-SG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SG" sz="2400" dirty="0" smtClean="0"/>
              <a:t>What kind of address is 10.0.2.192 /26? </a:t>
            </a:r>
          </a:p>
          <a:p>
            <a:pPr lvl="1"/>
            <a:r>
              <a:rPr lang="en-SG" dirty="0" smtClean="0">
                <a:solidFill>
                  <a:srgbClr val="FF0000"/>
                </a:solidFill>
              </a:rPr>
              <a:t>ANS: network address</a:t>
            </a:r>
            <a:endParaRPr lang="en-SG" sz="2400" dirty="0" smtClean="0"/>
          </a:p>
          <a:p>
            <a:r>
              <a:rPr lang="en-SG" sz="2400" dirty="0" smtClean="0"/>
              <a:t>Does 172.20.1.130 belong to network 172.20.1.0 /25?</a:t>
            </a:r>
          </a:p>
          <a:p>
            <a:pPr lvl="1"/>
            <a:r>
              <a:rPr lang="en-SG" dirty="0">
                <a:solidFill>
                  <a:srgbClr val="FF0000"/>
                </a:solidFill>
              </a:rPr>
              <a:t>ANS: No, the last usable address for network </a:t>
            </a:r>
            <a:r>
              <a:rPr lang="en-SG" dirty="0" smtClean="0">
                <a:solidFill>
                  <a:srgbClr val="FF0000"/>
                </a:solidFill>
              </a:rPr>
              <a:t>172.20.1.0 /</a:t>
            </a:r>
            <a:r>
              <a:rPr lang="en-SG" dirty="0">
                <a:solidFill>
                  <a:srgbClr val="FF0000"/>
                </a:solidFill>
              </a:rPr>
              <a:t>25 is </a:t>
            </a:r>
            <a:r>
              <a:rPr lang="en-SG" dirty="0" smtClean="0">
                <a:solidFill>
                  <a:srgbClr val="FF0000"/>
                </a:solidFill>
              </a:rPr>
              <a:t>172.20.1.126</a:t>
            </a:r>
            <a:endParaRPr lang="en-SG" sz="2400" dirty="0" smtClean="0"/>
          </a:p>
          <a:p>
            <a:r>
              <a:rPr lang="en-SG" sz="2400" dirty="0" smtClean="0"/>
              <a:t>What is the 1</a:t>
            </a:r>
            <a:r>
              <a:rPr lang="en-SG" sz="2400" baseline="30000" dirty="0" smtClean="0"/>
              <a:t>st</a:t>
            </a:r>
            <a:r>
              <a:rPr lang="en-SG" sz="2400" dirty="0" smtClean="0"/>
              <a:t> usable address for the network that has IP address 10.20.0.10 /12?</a:t>
            </a:r>
          </a:p>
          <a:p>
            <a:pPr lvl="1"/>
            <a:r>
              <a:rPr lang="en-SG" dirty="0">
                <a:solidFill>
                  <a:srgbClr val="FF0000"/>
                </a:solidFill>
              </a:rPr>
              <a:t>ANS: by setting host bits to 0 to find the network address, the following address will be the 1st usable address, which is 10.16.0.1.</a:t>
            </a:r>
          </a:p>
          <a:p>
            <a:pPr marL="0" indent="0">
              <a:buNone/>
            </a:pPr>
            <a:endParaRPr lang="en-SG" sz="2400" dirty="0"/>
          </a:p>
        </p:txBody>
      </p:sp>
    </p:spTree>
    <p:extLst>
      <p:ext uri="{BB962C8B-B14F-4D97-AF65-F5344CB8AC3E}">
        <p14:creationId xmlns:p14="http://schemas.microsoft.com/office/powerpoint/2010/main" val="375435835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Subnetting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FLSM </a:t>
            </a:r>
            <a:r>
              <a:rPr lang="en-GB" dirty="0" err="1" smtClean="0"/>
              <a:t>subnetting</a:t>
            </a:r>
            <a:endParaRPr lang="en-GB" dirty="0" smtClean="0"/>
          </a:p>
          <a:p>
            <a:endParaRPr lang="en-GB" dirty="0" smtClean="0"/>
          </a:p>
          <a:p>
            <a:r>
              <a:rPr lang="en-GB" dirty="0" smtClean="0"/>
              <a:t>VLSM </a:t>
            </a:r>
            <a:r>
              <a:rPr lang="en-GB" dirty="0" err="1" smtClean="0"/>
              <a:t>subnetting</a:t>
            </a:r>
            <a:endParaRPr lang="en-GB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779988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292772"/>
            <a:ext cx="8584038" cy="5176291"/>
          </a:xfrm>
        </p:spPr>
        <p:txBody>
          <a:bodyPr/>
          <a:lstStyle/>
          <a:p>
            <a:r>
              <a:rPr lang="en-US" sz="2400" dirty="0" err="1" smtClean="0"/>
              <a:t>Subnetting</a:t>
            </a:r>
            <a:r>
              <a:rPr lang="en-US" sz="2400" dirty="0" smtClean="0"/>
              <a:t> allows you to create multiple logical networks to exist within a single address block</a:t>
            </a:r>
            <a:endParaRPr lang="en-US" sz="2400" dirty="0"/>
          </a:p>
          <a:p>
            <a:pPr>
              <a:lnSpc>
                <a:spcPct val="100000"/>
              </a:lnSpc>
              <a:spcBef>
                <a:spcPts val="1200"/>
              </a:spcBef>
            </a:pPr>
            <a:endParaRPr lang="en-GB" sz="2400" dirty="0" smtClean="0"/>
          </a:p>
          <a:p>
            <a:pPr>
              <a:lnSpc>
                <a:spcPct val="100000"/>
              </a:lnSpc>
              <a:spcBef>
                <a:spcPts val="1200"/>
              </a:spcBef>
            </a:pPr>
            <a:r>
              <a:rPr lang="en-GB" sz="2400" dirty="0" smtClean="0"/>
              <a:t>Unrealistic to use a single network </a:t>
            </a:r>
          </a:p>
          <a:p>
            <a:pPr marL="0" indent="0">
              <a:lnSpc>
                <a:spcPct val="100000"/>
              </a:lnSpc>
              <a:spcBef>
                <a:spcPts val="0"/>
              </a:spcBef>
              <a:buNone/>
            </a:pPr>
            <a:r>
              <a:rPr lang="en-GB" sz="2400" dirty="0" smtClean="0"/>
              <a:t>without subnets. Why?</a:t>
            </a:r>
          </a:p>
          <a:p>
            <a:endParaRPr lang="en-GB" sz="2400" dirty="0" smtClean="0"/>
          </a:p>
          <a:p>
            <a:r>
              <a:rPr lang="en-GB" sz="2400" dirty="0" smtClean="0"/>
              <a:t>Given a network address block and prefix, how can we subnet it?</a:t>
            </a:r>
            <a:endParaRPr lang="en-US" sz="2400" dirty="0"/>
          </a:p>
          <a:p>
            <a:pPr lvl="1"/>
            <a:r>
              <a:rPr lang="en-US" sz="2000" dirty="0" smtClean="0"/>
              <a:t>We “borrow” bits from the host portion</a:t>
            </a:r>
          </a:p>
          <a:p>
            <a:pPr lvl="1"/>
            <a:r>
              <a:rPr lang="en-GB" sz="2000" dirty="0" smtClean="0"/>
              <a:t>The “borrowed” bits goes into the network portion and the host portion becomes </a:t>
            </a:r>
            <a:r>
              <a:rPr lang="en-GB" sz="2000" dirty="0"/>
              <a:t>smaller</a:t>
            </a:r>
          </a:p>
          <a:p>
            <a:pPr lvl="1"/>
            <a:endParaRPr lang="en-GB" sz="2000" dirty="0" smtClean="0"/>
          </a:p>
        </p:txBody>
      </p:sp>
      <p:pic>
        <p:nvPicPr>
          <p:cNvPr id="2050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2430" t="20972" r="31831" b="41724"/>
          <a:stretch/>
        </p:blipFill>
        <p:spPr bwMode="auto">
          <a:xfrm>
            <a:off x="5801709" y="1686910"/>
            <a:ext cx="2822029" cy="238059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Basic </a:t>
            </a:r>
            <a:r>
              <a:rPr lang="en-US" altLang="ja-JP" sz="2800" dirty="0" err="1" smtClean="0">
                <a:ea typeface="ＭＳ Ｐゴシック" pitchFamily="34" charset="-128"/>
              </a:rPr>
              <a:t>Subnetting</a:t>
            </a:r>
            <a:endParaRPr lang="en-US" sz="28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5638" y="1529255"/>
            <a:ext cx="7940675" cy="3823795"/>
          </a:xfrm>
        </p:spPr>
        <p:txBody>
          <a:bodyPr/>
          <a:lstStyle/>
          <a:p>
            <a:r>
              <a:rPr lang="en-GB" sz="2000" dirty="0" smtClean="0"/>
              <a:t>To illustrate, using network </a:t>
            </a:r>
            <a:r>
              <a:rPr lang="en-GB" sz="2000" dirty="0"/>
              <a:t>address </a:t>
            </a:r>
            <a:r>
              <a:rPr lang="en-GB" sz="2000" dirty="0" smtClean="0"/>
              <a:t>block 192.168.10.0 </a:t>
            </a:r>
            <a:r>
              <a:rPr lang="en-GB" sz="2000" dirty="0"/>
              <a:t>/24</a:t>
            </a:r>
          </a:p>
          <a:p>
            <a:pPr lvl="2"/>
            <a:endParaRPr lang="en-GB" sz="2000" dirty="0" smtClean="0"/>
          </a:p>
          <a:p>
            <a:pPr lvl="2"/>
            <a:endParaRPr lang="en-GB" sz="2000" dirty="0" smtClean="0"/>
          </a:p>
          <a:p>
            <a:pPr lvl="2"/>
            <a:endParaRPr lang="en-GB" sz="2000" dirty="0" smtClean="0"/>
          </a:p>
          <a:p>
            <a:r>
              <a:rPr lang="en-GB" sz="2000" dirty="0" smtClean="0"/>
              <a:t>If we borrow </a:t>
            </a:r>
            <a:r>
              <a:rPr lang="en-GB" sz="2000" dirty="0"/>
              <a:t>2 bits from the </a:t>
            </a:r>
            <a:r>
              <a:rPr lang="en-GB" sz="2000" dirty="0" smtClean="0"/>
              <a:t>host portion, </a:t>
            </a:r>
            <a:r>
              <a:rPr lang="en-GB" sz="2000" dirty="0"/>
              <a:t>the subnet address becomes:-</a:t>
            </a:r>
          </a:p>
          <a:p>
            <a:pPr marL="914400" lvl="2" indent="0">
              <a:buNone/>
            </a:pPr>
            <a:r>
              <a:rPr lang="en-GB" sz="2000" dirty="0" smtClean="0"/>
              <a:t>	192.168.10.0 </a:t>
            </a:r>
            <a:r>
              <a:rPr lang="en-GB" sz="2000" dirty="0"/>
              <a:t>/</a:t>
            </a:r>
            <a:r>
              <a:rPr lang="en-GB" sz="2000" dirty="0" smtClean="0"/>
              <a:t>26 </a:t>
            </a:r>
            <a:r>
              <a:rPr lang="en-GB" sz="1600" i="1" dirty="0" smtClean="0"/>
              <a:t>(/26 is subnet mask 255.255.255.192)</a:t>
            </a:r>
            <a:endParaRPr lang="en-GB" sz="2000" i="1" dirty="0" smtClean="0"/>
          </a:p>
          <a:p>
            <a:endParaRPr lang="en-GB" sz="2000" dirty="0" smtClean="0"/>
          </a:p>
          <a:p>
            <a:r>
              <a:rPr lang="en-GB" sz="2000" dirty="0" smtClean="0"/>
              <a:t>In binary form, we shifted the separator 2 bits into the host portion</a:t>
            </a:r>
            <a:endParaRPr lang="en-GB" sz="2000" dirty="0"/>
          </a:p>
          <a:p>
            <a:endParaRPr lang="en-US" sz="2000" dirty="0"/>
          </a:p>
        </p:txBody>
      </p:sp>
      <p:sp>
        <p:nvSpPr>
          <p:cNvPr id="5" name="TextBox 4"/>
          <p:cNvSpPr txBox="1"/>
          <p:nvPr/>
        </p:nvSpPr>
        <p:spPr>
          <a:xfrm>
            <a:off x="2536035" y="2396356"/>
            <a:ext cx="3013402" cy="7571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GB" dirty="0" smtClean="0"/>
              <a:t>192.168.10.0</a:t>
            </a:r>
          </a:p>
          <a:p>
            <a:pPr algn="l"/>
            <a:r>
              <a:rPr lang="en-GB" dirty="0" smtClean="0"/>
              <a:t>      </a:t>
            </a:r>
            <a:r>
              <a:rPr lang="en-GB" sz="2000" i="1" dirty="0" smtClean="0">
                <a:solidFill>
                  <a:srgbClr val="FF0000"/>
                </a:solidFill>
              </a:rPr>
              <a:t>network     host</a:t>
            </a:r>
            <a:endParaRPr lang="en-US" sz="2000" i="1" dirty="0">
              <a:solidFill>
                <a:srgbClr val="FF0000"/>
              </a:solidFill>
            </a:endParaRPr>
          </a:p>
        </p:txBody>
      </p:sp>
      <p:cxnSp>
        <p:nvCxnSpPr>
          <p:cNvPr id="7" name="Straight Connector 6"/>
          <p:cNvCxnSpPr/>
          <p:nvPr/>
        </p:nvCxnSpPr>
        <p:spPr bwMode="auto">
          <a:xfrm>
            <a:off x="4209369" y="2112577"/>
            <a:ext cx="0" cy="930165"/>
          </a:xfrm>
          <a:prstGeom prst="line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" name="Straight Arrow Connector 8"/>
          <p:cNvCxnSpPr/>
          <p:nvPr/>
        </p:nvCxnSpPr>
        <p:spPr bwMode="auto">
          <a:xfrm flipH="1">
            <a:off x="3011188" y="2112577"/>
            <a:ext cx="961697" cy="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cxnSp>
        <p:nvCxnSpPr>
          <p:cNvPr id="11" name="Straight Arrow Connector 10"/>
          <p:cNvCxnSpPr/>
          <p:nvPr/>
        </p:nvCxnSpPr>
        <p:spPr bwMode="auto">
          <a:xfrm>
            <a:off x="4363183" y="2112577"/>
            <a:ext cx="997062" cy="0"/>
          </a:xfrm>
          <a:prstGeom prst="straightConnector1">
            <a:avLst/>
          </a:prstGeom>
          <a:noFill/>
          <a:ln w="19050" cap="flat" cmpd="sng" algn="ctr">
            <a:solidFill>
              <a:srgbClr val="FF0000"/>
            </a:solidFill>
            <a:prstDash val="solid"/>
            <a:round/>
            <a:headEnd type="none" w="med" len="med"/>
            <a:tailEnd type="arrow"/>
          </a:ln>
          <a:effectLst/>
        </p:spPr>
      </p:cxnSp>
      <p:grpSp>
        <p:nvGrpSpPr>
          <p:cNvPr id="18" name="Group 17"/>
          <p:cNvGrpSpPr/>
          <p:nvPr/>
        </p:nvGrpSpPr>
        <p:grpSpPr>
          <a:xfrm>
            <a:off x="1261257" y="5160586"/>
            <a:ext cx="6858000" cy="998872"/>
            <a:chOff x="740979" y="4703372"/>
            <a:chExt cx="6858000" cy="998872"/>
          </a:xfrm>
        </p:grpSpPr>
        <p:sp>
          <p:nvSpPr>
            <p:cNvPr id="13" name="TextBox 12"/>
            <p:cNvSpPr txBox="1"/>
            <p:nvPr/>
          </p:nvSpPr>
          <p:spPr>
            <a:xfrm>
              <a:off x="740979" y="4945114"/>
              <a:ext cx="6858000" cy="75713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/>
              <a:r>
                <a:rPr lang="en-GB" dirty="0" smtClean="0"/>
                <a:t>11000000.10101000.00001010.00000000</a:t>
              </a:r>
            </a:p>
            <a:p>
              <a:pPr algn="l"/>
              <a:r>
                <a:rPr lang="en-GB" dirty="0" smtClean="0"/>
                <a:t>                                            </a:t>
              </a:r>
              <a:r>
                <a:rPr lang="en-GB" sz="2000" i="1" dirty="0" smtClean="0">
                  <a:solidFill>
                    <a:srgbClr val="FF0000"/>
                  </a:solidFill>
                </a:rPr>
                <a:t>network     host</a:t>
              </a:r>
              <a:endParaRPr lang="en-US" sz="2000" i="1" dirty="0">
                <a:solidFill>
                  <a:srgbClr val="FF0000"/>
                </a:solidFill>
              </a:endParaRPr>
            </a:p>
          </p:txBody>
        </p:sp>
        <p:cxnSp>
          <p:nvCxnSpPr>
            <p:cNvPr id="17" name="Straight Connector 16"/>
            <p:cNvCxnSpPr/>
            <p:nvPr/>
          </p:nvCxnSpPr>
          <p:spPr bwMode="auto">
            <a:xfrm>
              <a:off x="5446969" y="4703372"/>
              <a:ext cx="0" cy="930165"/>
            </a:xfrm>
            <a:prstGeom prst="line">
              <a:avLst/>
            </a:prstGeom>
            <a:noFill/>
            <a:ln w="19050" cap="flat" cmpd="sng" algn="ctr">
              <a:solidFill>
                <a:srgbClr val="FF0000"/>
              </a:solidFill>
              <a:prstDash val="solid"/>
              <a:round/>
              <a:headEnd type="none" w="med" len="med"/>
              <a:tailEnd type="none" w="med" len="med"/>
            </a:ln>
            <a:effectLst/>
          </p:spPr>
        </p:cxnSp>
      </p:grpSp>
      <p:sp>
        <p:nvSpPr>
          <p:cNvPr id="20" name="Rectangle 2"/>
          <p:cNvSpPr txBox="1">
            <a:spLocks noChangeArrowheads="1"/>
          </p:cNvSpPr>
          <p:nvPr/>
        </p:nvSpPr>
        <p:spPr bwMode="auto">
          <a:xfrm>
            <a:off x="276225" y="211138"/>
            <a:ext cx="84883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5pPr>
            <a:lvl6pPr marL="4572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6pPr>
            <a:lvl7pPr marL="9144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Basic </a:t>
            </a:r>
            <a:r>
              <a:rPr lang="en-US" altLang="ja-JP" sz="2800" dirty="0" err="1" smtClean="0">
                <a:ea typeface="ＭＳ Ｐゴシック" pitchFamily="34" charset="-128"/>
              </a:rPr>
              <a:t>Subnetting</a:t>
            </a:r>
            <a:endParaRPr lang="en-US" sz="2800" dirty="0" smtClean="0"/>
          </a:p>
        </p:txBody>
      </p:sp>
    </p:spTree>
    <p:extLst>
      <p:ext uri="{BB962C8B-B14F-4D97-AF65-F5344CB8AC3E}">
        <p14:creationId xmlns:p14="http://schemas.microsoft.com/office/powerpoint/2010/main" val="5350066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 txBox="1">
            <a:spLocks noChangeArrowheads="1"/>
          </p:cNvSpPr>
          <p:nvPr/>
        </p:nvSpPr>
        <p:spPr bwMode="auto">
          <a:xfrm>
            <a:off x="276225" y="211138"/>
            <a:ext cx="8488363" cy="8382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 algn="ctr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82124" tIns="41061" rIns="82124" bIns="41061" numCol="1" anchor="b" anchorCtr="0" compatLnSpc="1">
            <a:prstTxWarp prst="textNoShape">
              <a:avLst/>
            </a:prstTxWarp>
          </a:bodyPr>
          <a:lstStyle>
            <a:lvl1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+mj-lt"/>
                <a:ea typeface="+mj-ea"/>
                <a:cs typeface="+mj-cs"/>
              </a:defRPr>
            </a:lvl1pPr>
            <a:lvl2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2pPr>
            <a:lvl3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3pPr>
            <a:lvl4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4pPr>
            <a:lvl5pPr algn="l" defTabSz="814388" rtl="0" eaLnBrk="0" fontAlgn="base" hangingPunct="0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5pPr>
            <a:lvl6pPr marL="4572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6pPr>
            <a:lvl7pPr marL="9144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7pPr>
            <a:lvl8pPr marL="13716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8pPr>
            <a:lvl9pPr marL="1828800" algn="l" defTabSz="814388" rtl="0" fontAlgn="base">
              <a:lnSpc>
                <a:spcPct val="90000"/>
              </a:lnSpc>
              <a:spcBef>
                <a:spcPct val="0"/>
              </a:spcBef>
              <a:spcAft>
                <a:spcPct val="0"/>
              </a:spcAft>
              <a:defRPr sz="3200" b="1">
                <a:solidFill>
                  <a:schemeClr val="tx2"/>
                </a:solidFill>
                <a:latin typeface="Arial" charset="0"/>
              </a:defRPr>
            </a:lvl9pPr>
          </a:lstStyle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Basic </a:t>
            </a:r>
            <a:r>
              <a:rPr lang="en-US" altLang="ja-JP" sz="2800" dirty="0" err="1" smtClean="0">
                <a:ea typeface="ＭＳ Ｐゴシック" pitchFamily="34" charset="-128"/>
              </a:rPr>
              <a:t>Subnetting</a:t>
            </a:r>
            <a:endParaRPr lang="en-US" sz="2800" dirty="0" smtClean="0"/>
          </a:p>
        </p:txBody>
      </p:sp>
      <p:sp>
        <p:nvSpPr>
          <p:cNvPr id="4" name="Content Placeholder 2"/>
          <p:cNvSpPr txBox="1">
            <a:spLocks/>
          </p:cNvSpPr>
          <p:nvPr/>
        </p:nvSpPr>
        <p:spPr>
          <a:xfrm>
            <a:off x="655638" y="1529255"/>
            <a:ext cx="8108950" cy="4398579"/>
          </a:xfrm>
          <a:prstGeom prst="rect">
            <a:avLst/>
          </a:prstGeom>
        </p:spPr>
        <p:txBody>
          <a:bodyPr/>
          <a:lstStyle>
            <a:lvl1pPr marL="236538" indent="-236538" algn="l" defTabSz="814388" rtl="0" eaLnBrk="0" fontAlgn="base" hangingPunct="0">
              <a:lnSpc>
                <a:spcPct val="95000"/>
              </a:lnSpc>
              <a:spcBef>
                <a:spcPct val="50000"/>
              </a:spcBef>
              <a:spcAft>
                <a:spcPct val="0"/>
              </a:spcAft>
              <a:buClr>
                <a:schemeClr val="tx2"/>
              </a:buClr>
              <a:buSzPct val="100000"/>
              <a:buFont typeface="Wingdings" pitchFamily="2" charset="2"/>
              <a:buChar char="§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574675" indent="-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Font typeface="Arial" pitchFamily="34" charset="0"/>
              <a:buChar char="•"/>
              <a:defRPr sz="2000">
                <a:solidFill>
                  <a:schemeClr val="tx1"/>
                </a:solidFill>
                <a:latin typeface="+mn-lt"/>
              </a:defRPr>
            </a:lvl2pPr>
            <a:lvl3pPr marL="914400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•"/>
              <a:defRPr sz="2000">
                <a:solidFill>
                  <a:schemeClr val="tx1"/>
                </a:solidFill>
                <a:latin typeface="+mn-lt"/>
              </a:defRPr>
            </a:lvl3pPr>
            <a:lvl4pPr marL="1254125" indent="117475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–"/>
              <a:defRPr sz="2000">
                <a:solidFill>
                  <a:schemeClr val="tx1"/>
                </a:solidFill>
                <a:latin typeface="+mn-lt"/>
              </a:defRPr>
            </a:lvl4pPr>
            <a:lvl5pPr marL="1604963" indent="223838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5pPr>
            <a:lvl6pPr marL="20621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6pPr>
            <a:lvl7pPr marL="25193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7pPr>
            <a:lvl8pPr marL="29765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8pPr>
            <a:lvl9pPr marL="3433763" algn="l" defTabSz="814388" rtl="0" eaLnBrk="0" fontAlgn="base" hangingPunct="0">
              <a:lnSpc>
                <a:spcPct val="95000"/>
              </a:lnSpc>
              <a:spcBef>
                <a:spcPct val="35000"/>
              </a:spcBef>
              <a:spcAft>
                <a:spcPct val="0"/>
              </a:spcAft>
              <a:buChar char="»"/>
              <a:defRPr sz="2000">
                <a:solidFill>
                  <a:schemeClr val="tx1"/>
                </a:solidFill>
                <a:latin typeface="+mn-lt"/>
              </a:defRPr>
            </a:lvl9pPr>
          </a:lstStyle>
          <a:p>
            <a:r>
              <a:rPr lang="en-GB" dirty="0" smtClean="0"/>
              <a:t>We can name the first subnet as subnet 0</a:t>
            </a:r>
          </a:p>
          <a:p>
            <a:r>
              <a:rPr lang="en-GB" dirty="0" smtClean="0"/>
              <a:t>From the subnet address of subnet 0, we can calculate:-</a:t>
            </a:r>
          </a:p>
          <a:p>
            <a:pPr lvl="1"/>
            <a:r>
              <a:rPr lang="en-GB" dirty="0" smtClean="0"/>
              <a:t>the usable IP address range </a:t>
            </a:r>
          </a:p>
          <a:p>
            <a:pPr lvl="1"/>
            <a:r>
              <a:rPr lang="en-GB" dirty="0" smtClean="0"/>
              <a:t>the broadcast address</a:t>
            </a:r>
          </a:p>
          <a:p>
            <a:endParaRPr lang="en-GB" dirty="0" smtClean="0"/>
          </a:p>
          <a:p>
            <a:r>
              <a:rPr lang="en-GB" dirty="0" smtClean="0"/>
              <a:t>From here, we move on to calculate the subsequent subnets:-</a:t>
            </a:r>
          </a:p>
          <a:p>
            <a:pPr lvl="1"/>
            <a:r>
              <a:rPr lang="en-GB" dirty="0" smtClean="0"/>
              <a:t>Subnet 1</a:t>
            </a:r>
          </a:p>
          <a:p>
            <a:pPr lvl="1"/>
            <a:r>
              <a:rPr lang="en-GB" dirty="0" smtClean="0"/>
              <a:t>Subnet 2</a:t>
            </a:r>
          </a:p>
          <a:p>
            <a:pPr lvl="1"/>
            <a:r>
              <a:rPr lang="en-GB" dirty="0" smtClean="0"/>
              <a:t>Subnet 3</a:t>
            </a:r>
          </a:p>
          <a:p>
            <a:endParaRPr lang="en-GB" sz="2000" dirty="0" smtClean="0"/>
          </a:p>
          <a:p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2231779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Basic </a:t>
            </a:r>
            <a:r>
              <a:rPr lang="en-US" altLang="ja-JP" sz="2800" dirty="0" err="1" smtClean="0">
                <a:ea typeface="ＭＳ Ｐゴシック" pitchFamily="34" charset="-128"/>
              </a:rPr>
              <a:t>Subnetting</a:t>
            </a:r>
            <a:endParaRPr lang="en-US" sz="2800" dirty="0" smtClean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371600"/>
            <a:ext cx="8584038" cy="5097463"/>
          </a:xfrm>
        </p:spPr>
        <p:txBody>
          <a:bodyPr/>
          <a:lstStyle/>
          <a:p>
            <a:r>
              <a:rPr lang="en-GB" sz="2400" dirty="0" smtClean="0"/>
              <a:t>So </a:t>
            </a:r>
            <a:r>
              <a:rPr lang="en-GB" sz="2400" dirty="0"/>
              <a:t>how many bits should we “borrow</a:t>
            </a:r>
            <a:r>
              <a:rPr lang="en-GB" sz="2400" dirty="0" smtClean="0"/>
              <a:t>”?</a:t>
            </a:r>
          </a:p>
          <a:p>
            <a:pPr lvl="1"/>
            <a:r>
              <a:rPr lang="en-GB" sz="2000" dirty="0" smtClean="0"/>
              <a:t>It depends on how many subnets we want to create</a:t>
            </a:r>
            <a:endParaRPr lang="en-GB" sz="2000" dirty="0"/>
          </a:p>
          <a:p>
            <a:pPr lvl="1"/>
            <a:endParaRPr lang="en-GB" sz="2000" b="1" dirty="0" smtClean="0"/>
          </a:p>
          <a:p>
            <a:pPr marL="457200" lvl="1" indent="0">
              <a:buNone/>
            </a:pPr>
            <a:r>
              <a:rPr lang="en-GB" sz="2000" b="1" dirty="0"/>
              <a:t>	</a:t>
            </a:r>
            <a:r>
              <a:rPr lang="en-GB" sz="2000" b="1" dirty="0" smtClean="0"/>
              <a:t># </a:t>
            </a:r>
            <a:r>
              <a:rPr lang="en-GB" sz="2000" b="1" dirty="0"/>
              <a:t>of subnets = 2</a:t>
            </a:r>
            <a:r>
              <a:rPr lang="en-GB" sz="2000" b="1" baseline="30000" dirty="0"/>
              <a:t>n</a:t>
            </a:r>
            <a:r>
              <a:rPr lang="en-GB" sz="2000" b="1" dirty="0"/>
              <a:t> </a:t>
            </a:r>
            <a:r>
              <a:rPr lang="en-GB" sz="2000" dirty="0"/>
              <a:t>where </a:t>
            </a:r>
            <a:r>
              <a:rPr lang="en-GB" sz="2000" b="1" dirty="0"/>
              <a:t>n</a:t>
            </a:r>
            <a:r>
              <a:rPr lang="en-GB" sz="2000" dirty="0"/>
              <a:t> is the number of bits </a:t>
            </a:r>
            <a:r>
              <a:rPr lang="en-GB" sz="2000" dirty="0" smtClean="0"/>
              <a:t>borrowed</a:t>
            </a:r>
            <a:endParaRPr lang="en-US" sz="2000" dirty="0"/>
          </a:p>
          <a:p>
            <a:pPr>
              <a:lnSpc>
                <a:spcPct val="100000"/>
              </a:lnSpc>
            </a:pPr>
            <a:endParaRPr lang="en-GB" sz="1000" dirty="0" smtClean="0"/>
          </a:p>
          <a:p>
            <a:r>
              <a:rPr lang="en-GB" sz="2400" dirty="0" smtClean="0"/>
              <a:t>Example: given a network address block </a:t>
            </a:r>
            <a:r>
              <a:rPr lang="en-GB" sz="2400" dirty="0" smtClean="0">
                <a:solidFill>
                  <a:srgbClr val="C00000"/>
                </a:solidFill>
              </a:rPr>
              <a:t>192.168.10.0 /24</a:t>
            </a:r>
          </a:p>
          <a:p>
            <a:pPr lvl="1"/>
            <a:r>
              <a:rPr lang="en-GB" sz="2000" dirty="0"/>
              <a:t>To create 2</a:t>
            </a:r>
            <a:r>
              <a:rPr lang="en-GB" sz="2000" dirty="0" smtClean="0"/>
              <a:t> </a:t>
            </a:r>
            <a:r>
              <a:rPr lang="en-GB" sz="2000" dirty="0"/>
              <a:t>subnets, </a:t>
            </a:r>
            <a:r>
              <a:rPr lang="en-GB" sz="2000" dirty="0" smtClean="0"/>
              <a:t>n = 1</a:t>
            </a:r>
          </a:p>
          <a:p>
            <a:pPr lvl="2"/>
            <a:r>
              <a:rPr lang="en-GB" sz="1800" dirty="0" smtClean="0"/>
              <a:t>borrow 1 bit (subnet prefix /25)</a:t>
            </a:r>
            <a:endParaRPr lang="en-GB" sz="1800" dirty="0"/>
          </a:p>
          <a:p>
            <a:pPr lvl="1"/>
            <a:r>
              <a:rPr lang="en-GB" sz="2000" dirty="0" smtClean="0"/>
              <a:t>To create 4 subnets, n = </a:t>
            </a:r>
            <a:r>
              <a:rPr lang="en-GB" sz="2000" dirty="0"/>
              <a:t>2</a:t>
            </a:r>
            <a:endParaRPr lang="en-GB" sz="2000" dirty="0" smtClean="0"/>
          </a:p>
          <a:p>
            <a:pPr lvl="2"/>
            <a:r>
              <a:rPr lang="en-GB" sz="1800" dirty="0" smtClean="0"/>
              <a:t>borrow  2 bits (</a:t>
            </a:r>
            <a:r>
              <a:rPr lang="en-GB" sz="1800" dirty="0"/>
              <a:t>subnet prefix </a:t>
            </a:r>
            <a:r>
              <a:rPr lang="en-GB" sz="1800" dirty="0" smtClean="0"/>
              <a:t>/26)</a:t>
            </a:r>
          </a:p>
          <a:p>
            <a:pPr lvl="1"/>
            <a:r>
              <a:rPr lang="en-GB" sz="2000" dirty="0" smtClean="0"/>
              <a:t>To create 6 subnets, NOT POSSIBLE </a:t>
            </a:r>
          </a:p>
          <a:p>
            <a:pPr lvl="1"/>
            <a:r>
              <a:rPr lang="en-GB" sz="2000" dirty="0" smtClean="0"/>
              <a:t>To create 8 subnets, n = </a:t>
            </a:r>
            <a:r>
              <a:rPr lang="en-GB" sz="2000" dirty="0"/>
              <a:t>3</a:t>
            </a:r>
            <a:endParaRPr lang="en-GB" sz="2000" dirty="0" smtClean="0"/>
          </a:p>
          <a:p>
            <a:pPr lvl="2"/>
            <a:r>
              <a:rPr lang="en-GB" sz="1800" dirty="0" smtClean="0"/>
              <a:t>borrow 3 bits </a:t>
            </a:r>
            <a:r>
              <a:rPr lang="en-GB" sz="1800" dirty="0"/>
              <a:t>(subnet prefix </a:t>
            </a:r>
            <a:r>
              <a:rPr lang="en-GB" sz="1800" dirty="0" smtClean="0"/>
              <a:t>/27)</a:t>
            </a:r>
          </a:p>
        </p:txBody>
      </p:sp>
    </p:spTree>
    <p:extLst>
      <p:ext uri="{BB962C8B-B14F-4D97-AF65-F5344CB8AC3E}">
        <p14:creationId xmlns:p14="http://schemas.microsoft.com/office/powerpoint/2010/main" val="15713640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27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smtClean="0">
                <a:ea typeface="ＭＳ Ｐゴシック" pitchFamily="34" charset="-128"/>
              </a:rPr>
              <a:t>Basic </a:t>
            </a:r>
            <a:r>
              <a:rPr lang="en-US" altLang="ja-JP" sz="2800" dirty="0" err="1" smtClean="0">
                <a:ea typeface="ＭＳ Ｐゴシック" pitchFamily="34" charset="-128"/>
              </a:rPr>
              <a:t>Subnetting</a:t>
            </a:r>
            <a:endParaRPr lang="en-US" sz="2800" dirty="0" smtClean="0"/>
          </a:p>
        </p:txBody>
      </p:sp>
      <p:sp>
        <p:nvSpPr>
          <p:cNvPr id="5427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466193"/>
            <a:ext cx="8756048" cy="5002870"/>
          </a:xfrm>
        </p:spPr>
        <p:txBody>
          <a:bodyPr/>
          <a:lstStyle/>
          <a:p>
            <a:r>
              <a:rPr lang="en-GB" sz="2400" dirty="0" smtClean="0"/>
              <a:t>How </a:t>
            </a:r>
            <a:r>
              <a:rPr lang="en-GB" sz="2400" dirty="0"/>
              <a:t>many </a:t>
            </a:r>
            <a:r>
              <a:rPr lang="en-GB" sz="2400" dirty="0" smtClean="0"/>
              <a:t>usable host addresses are there in each subnet?</a:t>
            </a:r>
            <a:endParaRPr lang="en-GB" sz="2400" dirty="0"/>
          </a:p>
          <a:p>
            <a:pPr lvl="1"/>
            <a:r>
              <a:rPr lang="en-GB" sz="2000" dirty="0"/>
              <a:t># of </a:t>
            </a:r>
            <a:r>
              <a:rPr lang="en-GB" sz="2000" dirty="0" smtClean="0"/>
              <a:t>usable addresses </a:t>
            </a:r>
            <a:r>
              <a:rPr lang="en-GB" sz="2000" dirty="0"/>
              <a:t>= </a:t>
            </a:r>
            <a:r>
              <a:rPr lang="en-GB" sz="2000" b="1" dirty="0" smtClean="0"/>
              <a:t>2</a:t>
            </a:r>
            <a:r>
              <a:rPr lang="en-GB" sz="2000" b="1" baseline="30000" dirty="0"/>
              <a:t>h</a:t>
            </a:r>
            <a:r>
              <a:rPr lang="en-GB" sz="2000" b="1" dirty="0" smtClean="0"/>
              <a:t> - 2 </a:t>
            </a:r>
            <a:r>
              <a:rPr lang="en-GB" sz="2000" dirty="0" smtClean="0"/>
              <a:t>where </a:t>
            </a:r>
            <a:r>
              <a:rPr lang="en-GB" sz="2000" b="1" dirty="0"/>
              <a:t>h</a:t>
            </a:r>
            <a:r>
              <a:rPr lang="en-GB" sz="2000" dirty="0" smtClean="0"/>
              <a:t> </a:t>
            </a:r>
            <a:r>
              <a:rPr lang="en-GB" sz="2000" dirty="0"/>
              <a:t>is the </a:t>
            </a:r>
            <a:r>
              <a:rPr lang="en-GB" sz="2000" dirty="0" smtClean="0"/>
              <a:t># of </a:t>
            </a:r>
            <a:r>
              <a:rPr lang="en-GB" sz="2000" b="1" dirty="0" smtClean="0">
                <a:solidFill>
                  <a:srgbClr val="FF0000"/>
                </a:solidFill>
              </a:rPr>
              <a:t>hosts</a:t>
            </a:r>
            <a:r>
              <a:rPr lang="en-GB" sz="2000" dirty="0" smtClean="0">
                <a:solidFill>
                  <a:srgbClr val="FF0000"/>
                </a:solidFill>
              </a:rPr>
              <a:t> </a:t>
            </a:r>
            <a:r>
              <a:rPr lang="en-GB" sz="2000" dirty="0" smtClean="0"/>
              <a:t>bits</a:t>
            </a:r>
          </a:p>
          <a:p>
            <a:pPr lvl="1"/>
            <a:r>
              <a:rPr lang="en-GB" sz="2000" dirty="0" smtClean="0"/>
              <a:t>Why “- 2”?</a:t>
            </a:r>
          </a:p>
          <a:p>
            <a:r>
              <a:rPr lang="en-GB" sz="2400" dirty="0" smtClean="0"/>
              <a:t>Example</a:t>
            </a:r>
            <a:r>
              <a:rPr lang="en-GB" sz="2400" dirty="0"/>
              <a:t>: </a:t>
            </a:r>
            <a:r>
              <a:rPr lang="en-GB" sz="2400" dirty="0" smtClean="0"/>
              <a:t>using the network address </a:t>
            </a:r>
            <a:r>
              <a:rPr lang="en-GB" sz="2400" dirty="0"/>
              <a:t>block </a:t>
            </a:r>
            <a:r>
              <a:rPr lang="en-GB" sz="2400" dirty="0">
                <a:solidFill>
                  <a:srgbClr val="C00000"/>
                </a:solidFill>
              </a:rPr>
              <a:t>192.168.10.0 /24</a:t>
            </a:r>
          </a:p>
          <a:p>
            <a:pPr lvl="1"/>
            <a:r>
              <a:rPr lang="en-GB" sz="2000" dirty="0" smtClean="0"/>
              <a:t>If we borrowing </a:t>
            </a:r>
            <a:r>
              <a:rPr lang="en-GB" sz="2000" dirty="0"/>
              <a:t>1 </a:t>
            </a:r>
            <a:r>
              <a:rPr lang="en-GB" sz="2000" dirty="0" smtClean="0"/>
              <a:t>bit to create 2 subnets, </a:t>
            </a:r>
          </a:p>
          <a:p>
            <a:pPr lvl="2"/>
            <a:r>
              <a:rPr lang="en-GB" sz="1800" dirty="0" smtClean="0"/>
              <a:t>subnet 0 address: 192.168.10.0/25</a:t>
            </a:r>
          </a:p>
          <a:p>
            <a:pPr lvl="3"/>
            <a:r>
              <a:rPr lang="en-GB" sz="1800" dirty="0"/>
              <a:t># of host bits = 32 – 25 = 7</a:t>
            </a:r>
          </a:p>
          <a:p>
            <a:pPr lvl="3"/>
            <a:r>
              <a:rPr lang="en-GB" sz="1800" dirty="0"/>
              <a:t># of host addresses = 2</a:t>
            </a:r>
            <a:r>
              <a:rPr lang="en-GB" sz="1800" baseline="30000" dirty="0"/>
              <a:t>7</a:t>
            </a:r>
            <a:r>
              <a:rPr lang="en-GB" sz="1800" dirty="0"/>
              <a:t> – 2 = </a:t>
            </a:r>
            <a:r>
              <a:rPr lang="en-GB" sz="1800" dirty="0" smtClean="0"/>
              <a:t>126</a:t>
            </a:r>
          </a:p>
          <a:p>
            <a:pPr lvl="3"/>
            <a:endParaRPr lang="en-GB" sz="1800" dirty="0"/>
          </a:p>
          <a:p>
            <a:pPr lvl="1"/>
            <a:r>
              <a:rPr lang="en-GB" sz="2000" dirty="0" smtClean="0"/>
              <a:t>If we borrow 2 bits to create 4 subnets</a:t>
            </a:r>
          </a:p>
          <a:p>
            <a:pPr lvl="2"/>
            <a:r>
              <a:rPr lang="en-GB" sz="1800" dirty="0" smtClean="0"/>
              <a:t>subnet 0 address</a:t>
            </a:r>
            <a:r>
              <a:rPr lang="en-GB" sz="1800" dirty="0"/>
              <a:t>: </a:t>
            </a:r>
            <a:r>
              <a:rPr lang="en-GB" sz="1800" dirty="0" smtClean="0"/>
              <a:t>192.168.10.0/26</a:t>
            </a:r>
          </a:p>
          <a:p>
            <a:pPr lvl="3"/>
            <a:r>
              <a:rPr lang="en-GB" sz="1800" dirty="0" smtClean="0"/>
              <a:t># of host bits = 32 – 26 = 6</a:t>
            </a:r>
            <a:endParaRPr lang="en-GB" sz="1800" dirty="0"/>
          </a:p>
          <a:p>
            <a:pPr lvl="3"/>
            <a:r>
              <a:rPr lang="en-GB" sz="1800" dirty="0" smtClean="0"/>
              <a:t># of host addresses = 2</a:t>
            </a:r>
            <a:r>
              <a:rPr lang="en-GB" sz="1800" baseline="30000" dirty="0" smtClean="0"/>
              <a:t>6</a:t>
            </a:r>
            <a:r>
              <a:rPr lang="en-GB" sz="1800" dirty="0" smtClean="0"/>
              <a:t> </a:t>
            </a:r>
            <a:r>
              <a:rPr lang="en-GB" sz="1800" dirty="0"/>
              <a:t>– 2 = </a:t>
            </a:r>
            <a:r>
              <a:rPr lang="en-GB" sz="1800" dirty="0" smtClean="0"/>
              <a:t>62</a:t>
            </a:r>
            <a:endParaRPr lang="en-GB" sz="1800" dirty="0"/>
          </a:p>
          <a:p>
            <a:pPr lvl="2"/>
            <a:endParaRPr lang="en-GB" sz="1800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53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smtClean="0">
                <a:ea typeface="ＭＳ Ｐゴシック" pitchFamily="34" charset="-128"/>
              </a:rPr>
              <a:t>Basic Subnetting (2 subnets)</a:t>
            </a:r>
            <a:endParaRPr lang="en-US" sz="2800" smtClean="0">
              <a:ea typeface="ＭＳ Ｐゴシック" pitchFamily="34" charset="-128"/>
            </a:endParaRPr>
          </a:p>
        </p:txBody>
      </p:sp>
      <p:sp>
        <p:nvSpPr>
          <p:cNvPr id="5632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106488"/>
            <a:ext cx="8582627" cy="5362575"/>
          </a:xfrm>
        </p:spPr>
        <p:txBody>
          <a:bodyPr/>
          <a:lstStyle/>
          <a:p>
            <a:r>
              <a:rPr lang="en-US" sz="2400" dirty="0" err="1" smtClean="0"/>
              <a:t>RouterA</a:t>
            </a:r>
            <a:r>
              <a:rPr lang="en-US" sz="2400" dirty="0" smtClean="0"/>
              <a:t> has two interfaces to interconnect two networks </a:t>
            </a:r>
            <a:endParaRPr lang="en-US" dirty="0" smtClean="0"/>
          </a:p>
          <a:p>
            <a:r>
              <a:rPr lang="en-US" sz="2400" dirty="0" smtClean="0"/>
              <a:t>Given an </a:t>
            </a:r>
            <a:r>
              <a:rPr lang="en-US" sz="2400" dirty="0" err="1" smtClean="0"/>
              <a:t>addr</a:t>
            </a:r>
            <a:r>
              <a:rPr lang="en-US" sz="2400" dirty="0" smtClean="0"/>
              <a:t>. block </a:t>
            </a:r>
            <a:r>
              <a:rPr lang="en-US" sz="2400" b="1" dirty="0" smtClean="0"/>
              <a:t>192.168.1.0 /24</a:t>
            </a:r>
            <a:r>
              <a:rPr lang="en-US" sz="2400" dirty="0" smtClean="0"/>
              <a:t>, let’s create 2 subnets</a:t>
            </a:r>
          </a:p>
          <a:p>
            <a:r>
              <a:rPr lang="en-US" sz="2400" dirty="0" smtClean="0"/>
              <a:t>We borrow one bit from the host portion</a:t>
            </a:r>
          </a:p>
          <a:p>
            <a:pPr lvl="1"/>
            <a:r>
              <a:rPr lang="en-US" sz="2000" dirty="0" smtClean="0"/>
              <a:t>The subnet prefix becomes /25 for each subnet</a:t>
            </a:r>
          </a:p>
          <a:p>
            <a:pPr lvl="1"/>
            <a:r>
              <a:rPr lang="en-US" sz="2000" dirty="0" smtClean="0"/>
              <a:t>The subnet mask in decimal is </a:t>
            </a:r>
            <a:r>
              <a:rPr lang="en-US" sz="2000" dirty="0" smtClean="0">
                <a:ea typeface="+mn-ea"/>
                <a:cs typeface="+mn-cs"/>
              </a:rPr>
              <a:t>255.255.255.128</a:t>
            </a:r>
            <a:endParaRPr lang="en-US" sz="2000" dirty="0">
              <a:ea typeface="+mn-ea"/>
              <a:cs typeface="+mn-cs"/>
            </a:endParaRPr>
          </a:p>
          <a:p>
            <a:r>
              <a:rPr lang="en-GB" sz="2400" dirty="0"/>
              <a:t>Thus the subnet information is:-</a:t>
            </a:r>
            <a:endParaRPr lang="en-US" sz="2400" dirty="0"/>
          </a:p>
        </p:txBody>
      </p:sp>
      <p:graphicFrame>
        <p:nvGraphicFramePr>
          <p:cNvPr id="2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84191318"/>
              </p:ext>
            </p:extLst>
          </p:nvPr>
        </p:nvGraphicFramePr>
        <p:xfrm>
          <a:off x="283777" y="4786618"/>
          <a:ext cx="8639505" cy="1112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3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4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Subnet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Subnet </a:t>
                      </a:r>
                      <a:r>
                        <a:rPr lang="en-GB" dirty="0" err="1" smtClean="0"/>
                        <a:t>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Usable </a:t>
                      </a:r>
                      <a:r>
                        <a:rPr lang="en-GB" dirty="0" err="1" smtClean="0"/>
                        <a:t>addr</a:t>
                      </a:r>
                      <a:r>
                        <a:rPr lang="en-GB" dirty="0" smtClean="0"/>
                        <a:t> range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Broadcast </a:t>
                      </a:r>
                      <a:r>
                        <a:rPr lang="en-GB" dirty="0" err="1" smtClean="0"/>
                        <a:t>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192.168.1.0</a:t>
                      </a:r>
                      <a:r>
                        <a:rPr lang="en-GB" baseline="0" dirty="0" smtClean="0"/>
                        <a:t> /25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192.168.1.1 - 192.168.1.126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192.168.1.127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192.168.1.128 /25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192.168.1.129 - 192.168.1.254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192.168.1.255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pic>
        <p:nvPicPr>
          <p:cNvPr id="3075" name="Picture 3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483202" y="2894943"/>
            <a:ext cx="1114425" cy="12573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098" name="Picture 2"/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7112" t="20206" r="52802" b="62168"/>
          <a:stretch/>
        </p:blipFill>
        <p:spPr bwMode="auto">
          <a:xfrm>
            <a:off x="7504384" y="583324"/>
            <a:ext cx="1229711" cy="129277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</p:pic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ja-JP" sz="2800" dirty="0" smtClean="0">
                <a:ea typeface="ＭＳ Ｐゴシック" pitchFamily="34" charset="-128"/>
              </a:rPr>
              <a:t>Basic </a:t>
            </a:r>
            <a:r>
              <a:rPr lang="en-US" altLang="ja-JP" sz="2800" dirty="0" err="1" smtClean="0">
                <a:ea typeface="ＭＳ Ｐゴシック" pitchFamily="34" charset="-128"/>
              </a:rPr>
              <a:t>Subnetting</a:t>
            </a:r>
            <a:r>
              <a:rPr lang="en-US" altLang="ja-JP" sz="2800" dirty="0" smtClean="0">
                <a:ea typeface="ＭＳ Ｐゴシック" pitchFamily="34" charset="-128"/>
              </a:rPr>
              <a:t> (3 subnets)</a:t>
            </a:r>
            <a:endParaRPr lang="en-US" sz="2800" dirty="0" smtClean="0">
              <a:ea typeface="ＭＳ Ｐゴシック" pitchFamily="34" charset="-128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876097"/>
            <a:ext cx="8598392" cy="4592966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 smtClean="0"/>
              <a:t>How about a local network that requires 3 subnets, given an address block 172.16.0.0 /16?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US" sz="2000" dirty="0" smtClean="0"/>
              <a:t>To provide 3 subnets, we need to create 4 subnets</a:t>
            </a:r>
          </a:p>
          <a:p>
            <a:pPr lvl="1">
              <a:lnSpc>
                <a:spcPct val="150000"/>
              </a:lnSpc>
            </a:pPr>
            <a:r>
              <a:rPr lang="en-GB" sz="1600" dirty="0" smtClean="0"/>
              <a:t># of subnets = 2</a:t>
            </a:r>
            <a:r>
              <a:rPr lang="en-GB" sz="1600" baseline="30000" dirty="0" smtClean="0"/>
              <a:t>n</a:t>
            </a:r>
            <a:endParaRPr lang="en-US" sz="1600" baseline="30000" dirty="0"/>
          </a:p>
          <a:p>
            <a:pPr>
              <a:lnSpc>
                <a:spcPct val="100000"/>
              </a:lnSpc>
            </a:pPr>
            <a:r>
              <a:rPr lang="en-US" sz="2000" dirty="0" smtClean="0"/>
              <a:t>We borrow 2 bits to get a new prefix of /18 (or a subnet mask of 255.255.192.0)</a:t>
            </a:r>
          </a:p>
          <a:p>
            <a:pPr>
              <a:lnSpc>
                <a:spcPct val="150000"/>
              </a:lnSpc>
            </a:pPr>
            <a:r>
              <a:rPr lang="en-GB" sz="2000" dirty="0" smtClean="0"/>
              <a:t>How many usable addresses are there in each subnet? </a:t>
            </a:r>
          </a:p>
          <a:p>
            <a:pPr lvl="1">
              <a:lnSpc>
                <a:spcPct val="150000"/>
              </a:lnSpc>
            </a:pPr>
            <a:r>
              <a:rPr lang="en-GB" sz="1600" dirty="0" smtClean="0"/>
              <a:t>14 host bits</a:t>
            </a:r>
          </a:p>
          <a:p>
            <a:pPr lvl="1">
              <a:lnSpc>
                <a:spcPct val="150000"/>
              </a:lnSpc>
            </a:pPr>
            <a:r>
              <a:rPr lang="en-GB" sz="1600" dirty="0" smtClean="0"/>
              <a:t># of usable addresses </a:t>
            </a:r>
            <a:r>
              <a:rPr lang="en-GB" sz="1600" dirty="0"/>
              <a:t>= </a:t>
            </a:r>
            <a:r>
              <a:rPr lang="en-GB" sz="1600" dirty="0" smtClean="0"/>
              <a:t>2</a:t>
            </a:r>
            <a:r>
              <a:rPr lang="en-GB" sz="1600" baseline="30000" dirty="0" smtClean="0"/>
              <a:t>h</a:t>
            </a:r>
            <a:r>
              <a:rPr lang="en-GB" sz="1600" dirty="0" smtClean="0"/>
              <a:t> – 2 </a:t>
            </a:r>
            <a:r>
              <a:rPr lang="en-GB" sz="1600" dirty="0"/>
              <a:t>= </a:t>
            </a:r>
            <a:r>
              <a:rPr lang="en-GB" sz="1600" dirty="0" smtClean="0"/>
              <a:t>2</a:t>
            </a:r>
            <a:r>
              <a:rPr lang="en-GB" sz="1600" baseline="30000" dirty="0" smtClean="0"/>
              <a:t>14</a:t>
            </a:r>
            <a:r>
              <a:rPr lang="en-GB" sz="1600" dirty="0" smtClean="0"/>
              <a:t> </a:t>
            </a:r>
            <a:r>
              <a:rPr lang="en-GB" sz="1600" dirty="0"/>
              <a:t>– </a:t>
            </a:r>
            <a:r>
              <a:rPr lang="en-GB" sz="1600" dirty="0" smtClean="0"/>
              <a:t>2 = 16382</a:t>
            </a:r>
          </a:p>
          <a:p>
            <a:pPr>
              <a:lnSpc>
                <a:spcPct val="150000"/>
              </a:lnSpc>
            </a:pPr>
            <a:r>
              <a:rPr lang="en-GB" sz="2000" dirty="0" smtClean="0"/>
              <a:t>Thus, the subnet 0 address would be 172.16.0.0/18</a:t>
            </a:r>
            <a:endParaRPr lang="en-US" sz="2000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346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>
              <a:lnSpc>
                <a:spcPct val="150000"/>
              </a:lnSpc>
            </a:pPr>
            <a:r>
              <a:rPr lang="en-US" altLang="ja-JP" sz="2800" dirty="0" smtClean="0">
                <a:ea typeface="ＭＳ Ｐゴシック" pitchFamily="34" charset="-128"/>
              </a:rPr>
              <a:t>Basic </a:t>
            </a:r>
            <a:r>
              <a:rPr lang="en-US" altLang="ja-JP" sz="2800" dirty="0" err="1" smtClean="0">
                <a:ea typeface="ＭＳ Ｐゴシック" pitchFamily="34" charset="-128"/>
              </a:rPr>
              <a:t>Subnetting</a:t>
            </a:r>
            <a:r>
              <a:rPr lang="en-US" altLang="ja-JP" sz="2800" dirty="0" smtClean="0">
                <a:ea typeface="ＭＳ Ｐゴシック" pitchFamily="34" charset="-128"/>
              </a:rPr>
              <a:t> (3 subnets)</a:t>
            </a:r>
            <a:endParaRPr lang="en-US" sz="2800" dirty="0" smtClean="0">
              <a:ea typeface="ＭＳ Ｐゴシック" pitchFamily="34" charset="-128"/>
            </a:endParaRPr>
          </a:p>
        </p:txBody>
      </p:sp>
      <p:sp>
        <p:nvSpPr>
          <p:cNvPr id="57347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3" y="1106488"/>
            <a:ext cx="8598392" cy="5362575"/>
          </a:xfrm>
        </p:spPr>
        <p:txBody>
          <a:bodyPr/>
          <a:lstStyle/>
          <a:p>
            <a:pPr>
              <a:lnSpc>
                <a:spcPct val="100000"/>
              </a:lnSpc>
            </a:pPr>
            <a:r>
              <a:rPr lang="en-US" sz="2000" dirty="0" smtClean="0"/>
              <a:t>Starting with Subnet 0, derive the usable IP address range and broadcast address</a:t>
            </a:r>
            <a:endParaRPr lang="en-US" sz="2000" dirty="0"/>
          </a:p>
          <a:p>
            <a:pPr>
              <a:lnSpc>
                <a:spcPct val="150000"/>
              </a:lnSpc>
            </a:pPr>
            <a:r>
              <a:rPr lang="en-GB" sz="2000" dirty="0" smtClean="0"/>
              <a:t>Subnet 1 continues from where Subnet 0 end off</a:t>
            </a:r>
          </a:p>
          <a:p>
            <a:pPr lvl="1">
              <a:lnSpc>
                <a:spcPct val="150000"/>
              </a:lnSpc>
            </a:pPr>
            <a:r>
              <a:rPr lang="en-GB" sz="1600" dirty="0" smtClean="0"/>
              <a:t>Subnet 0 end off at the broadcast address 172.16.63.255</a:t>
            </a:r>
          </a:p>
          <a:p>
            <a:pPr lvl="1">
              <a:lnSpc>
                <a:spcPct val="150000"/>
              </a:lnSpc>
            </a:pPr>
            <a:r>
              <a:rPr lang="en-GB" sz="1600" dirty="0" smtClean="0"/>
              <a:t>Subnet 1 begins at the subnet 1 address 172.16.64.0 /18</a:t>
            </a:r>
          </a:p>
          <a:p>
            <a:pPr>
              <a:lnSpc>
                <a:spcPct val="150000"/>
              </a:lnSpc>
            </a:pPr>
            <a:r>
              <a:rPr lang="en-GB" sz="2000" dirty="0" smtClean="0"/>
              <a:t>Repeat for Subnet 2 and 3</a:t>
            </a:r>
            <a:endParaRPr lang="en-US" sz="2000" dirty="0" smtClean="0"/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462758"/>
              </p:ext>
            </p:extLst>
          </p:nvPr>
        </p:nvGraphicFramePr>
        <p:xfrm>
          <a:off x="362604" y="4045605"/>
          <a:ext cx="8639505" cy="1854200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00308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25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9463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3853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Subnet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Subnet </a:t>
                      </a:r>
                      <a:r>
                        <a:rPr lang="en-GB" dirty="0" err="1" smtClean="0"/>
                        <a:t>addr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Usable </a:t>
                      </a:r>
                      <a:r>
                        <a:rPr lang="en-GB" dirty="0" err="1" smtClean="0"/>
                        <a:t>addr</a:t>
                      </a:r>
                      <a:r>
                        <a:rPr lang="en-GB" dirty="0" smtClean="0"/>
                        <a:t> range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dirty="0" smtClean="0"/>
                        <a:t>Broadcast </a:t>
                      </a:r>
                      <a:r>
                        <a:rPr lang="en-GB" dirty="0" err="1" smtClean="0"/>
                        <a:t>addr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0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172.16.0.0 /18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172.16.0.1 – 172.16.63.254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172.16.63.255</a:t>
                      </a:r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1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dirty="0" smtClean="0"/>
                        <a:t>172.16.64.0 /18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2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GB" dirty="0" smtClean="0"/>
                        <a:t>3</a:t>
                      </a:r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1310622" y="4477403"/>
            <a:ext cx="7802136" cy="144962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>
              <a:lnSpc>
                <a:spcPct val="70000"/>
              </a:lnSpc>
            </a:pPr>
            <a:r>
              <a:rPr lang="en-GB" sz="1800" dirty="0" smtClean="0"/>
              <a:t>                                              </a:t>
            </a:r>
          </a:p>
          <a:p>
            <a:pPr algn="l">
              <a:lnSpc>
                <a:spcPct val="70000"/>
              </a:lnSpc>
            </a:pPr>
            <a:endParaRPr lang="en-GB" sz="1800" dirty="0" smtClean="0"/>
          </a:p>
          <a:p>
            <a:pPr algn="l">
              <a:lnSpc>
                <a:spcPct val="70000"/>
              </a:lnSpc>
            </a:pPr>
            <a:r>
              <a:rPr lang="en-GB" sz="1800" dirty="0" smtClean="0"/>
              <a:t>		     172.16.64.1 – 172.16.127.254        172.16.127.255</a:t>
            </a:r>
          </a:p>
          <a:p>
            <a:pPr algn="l">
              <a:lnSpc>
                <a:spcPct val="70000"/>
              </a:lnSpc>
            </a:pPr>
            <a:endParaRPr lang="en-GB" sz="1800" dirty="0" smtClean="0"/>
          </a:p>
          <a:p>
            <a:pPr algn="l">
              <a:lnSpc>
                <a:spcPct val="70000"/>
              </a:lnSpc>
            </a:pPr>
            <a:r>
              <a:rPr lang="en-GB" sz="1800" dirty="0" smtClean="0"/>
              <a:t>172.16.128.0 /18       172.16.128.1 </a:t>
            </a:r>
            <a:r>
              <a:rPr lang="en-GB" sz="1800" dirty="0"/>
              <a:t>– </a:t>
            </a:r>
            <a:r>
              <a:rPr lang="en-GB" sz="1800" dirty="0" smtClean="0"/>
              <a:t>172.16.191.254      172.16.191.255</a:t>
            </a:r>
            <a:endParaRPr lang="en-GB" sz="1800" dirty="0"/>
          </a:p>
          <a:p>
            <a:pPr algn="l">
              <a:lnSpc>
                <a:spcPct val="70000"/>
              </a:lnSpc>
            </a:pPr>
            <a:endParaRPr lang="en-GB" sz="1800" dirty="0" smtClean="0"/>
          </a:p>
          <a:p>
            <a:pPr algn="l">
              <a:lnSpc>
                <a:spcPct val="70000"/>
              </a:lnSpc>
            </a:pPr>
            <a:r>
              <a:rPr lang="en-GB" sz="1800" dirty="0" smtClean="0"/>
              <a:t>172.16.192.0 /18       172.16.192.1 </a:t>
            </a:r>
            <a:r>
              <a:rPr lang="en-GB" sz="1800" dirty="0"/>
              <a:t>– </a:t>
            </a:r>
            <a:r>
              <a:rPr lang="en-GB" sz="1800" dirty="0" smtClean="0"/>
              <a:t>172.16.255.254      172.16.255.255</a:t>
            </a:r>
            <a:endParaRPr lang="en-GB" sz="1800" dirty="0"/>
          </a:p>
        </p:txBody>
      </p:sp>
    </p:spTree>
    <p:extLst>
      <p:ext uri="{BB962C8B-B14F-4D97-AF65-F5344CB8AC3E}">
        <p14:creationId xmlns:p14="http://schemas.microsoft.com/office/powerpoint/2010/main" val="204712217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Today’s Practical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/>
              <a:t>Lab 1a: IPv4 Address </a:t>
            </a:r>
            <a:r>
              <a:rPr lang="en-GB" sz="2400" dirty="0" err="1" smtClean="0"/>
              <a:t>Subnetting</a:t>
            </a:r>
            <a:r>
              <a:rPr lang="en-GB" sz="2400" dirty="0" smtClean="0"/>
              <a:t> Part 1</a:t>
            </a:r>
          </a:p>
          <a:p>
            <a:pPr lvl="1"/>
            <a:r>
              <a:rPr lang="en-GB" sz="2000" dirty="0" smtClean="0"/>
              <a:t>Determining network information</a:t>
            </a:r>
          </a:p>
          <a:p>
            <a:pPr marL="0" indent="0">
              <a:buNone/>
            </a:pPr>
            <a:endParaRPr lang="en-GB" sz="2400" dirty="0" smtClean="0"/>
          </a:p>
          <a:p>
            <a:r>
              <a:rPr lang="en-GB" sz="2400" dirty="0" smtClean="0"/>
              <a:t>Lab 1b: Subnet and Router Configuration</a:t>
            </a:r>
          </a:p>
          <a:p>
            <a:pPr lvl="1"/>
            <a:r>
              <a:rPr lang="en-GB" sz="2000" dirty="0" smtClean="0"/>
              <a:t>FLSM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016959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This Week’s Task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sz="3200" dirty="0" smtClean="0"/>
          </a:p>
          <a:p>
            <a:r>
              <a:rPr lang="en-GB" sz="3200" dirty="0" smtClean="0"/>
              <a:t>Revise CCNA 1: Network Fundamentals</a:t>
            </a:r>
          </a:p>
          <a:p>
            <a:pPr lvl="1"/>
            <a:r>
              <a:rPr lang="en-GB" sz="2800" dirty="0" smtClean="0"/>
              <a:t>Chapter </a:t>
            </a:r>
            <a:r>
              <a:rPr lang="en-GB" sz="2800" dirty="0"/>
              <a:t>6</a:t>
            </a:r>
            <a:r>
              <a:rPr lang="en-GB" sz="2800" dirty="0" smtClean="0"/>
              <a:t>: Addressing the Network IPv4</a:t>
            </a:r>
            <a:endParaRPr lang="en-GB" sz="32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166246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What’s On Next Week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dirty="0" smtClean="0"/>
              <a:t>Revision on IPv4 Address – VLSM</a:t>
            </a:r>
          </a:p>
          <a:p>
            <a:pPr lvl="1"/>
            <a:r>
              <a:rPr lang="en-GB" sz="2000" dirty="0" smtClean="0"/>
              <a:t>Practical: Lab 1c (with VLSM rather than FLSM)</a:t>
            </a:r>
          </a:p>
          <a:p>
            <a:endParaRPr lang="en-GB" sz="2400" dirty="0" smtClean="0"/>
          </a:p>
          <a:p>
            <a:r>
              <a:rPr lang="en-GB" sz="2400" dirty="0" smtClean="0"/>
              <a:t>CCNA 3: LAN Switching and Wireless</a:t>
            </a:r>
          </a:p>
          <a:p>
            <a:r>
              <a:rPr lang="en-GB" sz="2400" dirty="0" smtClean="0"/>
              <a:t>Lecture:-</a:t>
            </a:r>
          </a:p>
          <a:p>
            <a:pPr lvl="1"/>
            <a:r>
              <a:rPr lang="en-GB" sz="2000" dirty="0" smtClean="0"/>
              <a:t>Chapter 2: Basic Switch Concepts &amp; Configuration</a:t>
            </a:r>
          </a:p>
          <a:p>
            <a:r>
              <a:rPr lang="en-GB" sz="2400" dirty="0" smtClean="0"/>
              <a:t>Tasks:-</a:t>
            </a:r>
          </a:p>
          <a:p>
            <a:pPr lvl="1"/>
            <a:r>
              <a:rPr lang="en-GB" sz="2000" dirty="0"/>
              <a:t>Read CCNA 3: Chapter 2 Basic Switch Concepts &amp; </a:t>
            </a:r>
            <a:r>
              <a:rPr lang="en-GB" sz="2000" dirty="0" smtClean="0"/>
              <a:t>Configuration</a:t>
            </a:r>
          </a:p>
        </p:txBody>
      </p:sp>
    </p:spTree>
    <p:extLst>
      <p:ext uri="{BB962C8B-B14F-4D97-AF65-F5344CB8AC3E}">
        <p14:creationId xmlns:p14="http://schemas.microsoft.com/office/powerpoint/2010/main" val="19166483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err="1" smtClean="0"/>
              <a:t>Subnetting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dirty="0" smtClean="0"/>
              <a:t>VLSM </a:t>
            </a:r>
            <a:r>
              <a:rPr lang="en-GB" dirty="0" err="1" smtClean="0"/>
              <a:t>subnetting</a:t>
            </a:r>
            <a:endParaRPr lang="en-GB" dirty="0" smtClean="0"/>
          </a:p>
          <a:p>
            <a:pPr lvl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9156745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err="1" smtClean="0">
                <a:ea typeface="ＭＳ Ｐゴシック" pitchFamily="34" charset="-128"/>
              </a:rPr>
              <a:t>Subnetting</a:t>
            </a:r>
            <a:r>
              <a:rPr lang="en-US" altLang="ja-JP" sz="2800" dirty="0" smtClean="0">
                <a:ea typeface="ＭＳ Ｐゴシック" pitchFamily="34" charset="-128"/>
              </a:rPr>
              <a:t> – VLSM</a:t>
            </a:r>
            <a:endParaRPr lang="en-US" sz="2800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106488"/>
            <a:ext cx="8645689" cy="5362575"/>
          </a:xfrm>
        </p:spPr>
        <p:txBody>
          <a:bodyPr/>
          <a:lstStyle/>
          <a:p>
            <a:r>
              <a:rPr lang="en-GB" sz="2400" dirty="0" smtClean="0"/>
              <a:t>In traditional FLSM </a:t>
            </a:r>
            <a:r>
              <a:rPr lang="en-GB" sz="2400" dirty="0" err="1" smtClean="0"/>
              <a:t>subnetting</a:t>
            </a:r>
            <a:r>
              <a:rPr lang="en-GB" sz="2400" dirty="0" smtClean="0"/>
              <a:t>, the size of all the fixed blocks of subnets are determined by:-</a:t>
            </a:r>
          </a:p>
          <a:p>
            <a:pPr lvl="1"/>
            <a:r>
              <a:rPr lang="en-GB" sz="2000" dirty="0" smtClean="0"/>
              <a:t>the largest subnet needed</a:t>
            </a:r>
          </a:p>
          <a:p>
            <a:pPr lvl="1"/>
            <a:r>
              <a:rPr lang="en-GB" sz="2000" dirty="0" smtClean="0"/>
              <a:t>the number of subnets needed</a:t>
            </a:r>
          </a:p>
          <a:p>
            <a:r>
              <a:rPr lang="en-GB" sz="2400" dirty="0" smtClean="0"/>
              <a:t>If any of the subnets require only a few addresses, the rest of the addresses in that subnet are wasted</a:t>
            </a:r>
          </a:p>
          <a:p>
            <a:endParaRPr lang="en-GB" sz="2400" dirty="0" smtClean="0"/>
          </a:p>
          <a:p>
            <a:r>
              <a:rPr lang="en-US" sz="2400" dirty="0" smtClean="0">
                <a:solidFill>
                  <a:srgbClr val="C00000"/>
                </a:solidFill>
              </a:rPr>
              <a:t>Variable </a:t>
            </a:r>
            <a:r>
              <a:rPr lang="en-US" sz="2400" dirty="0">
                <a:solidFill>
                  <a:srgbClr val="C00000"/>
                </a:solidFill>
              </a:rPr>
              <a:t>Length Subnet Mask (VLSM) was designed to </a:t>
            </a:r>
            <a:r>
              <a:rPr lang="en-US" sz="2400" dirty="0" smtClean="0">
                <a:solidFill>
                  <a:srgbClr val="C00000"/>
                </a:solidFill>
              </a:rPr>
              <a:t>maximize addressing efficiency</a:t>
            </a:r>
          </a:p>
          <a:p>
            <a:r>
              <a:rPr lang="en-US" sz="2400" dirty="0" smtClean="0">
                <a:solidFill>
                  <a:srgbClr val="C00000"/>
                </a:solidFill>
              </a:rPr>
              <a:t>Using VLSM addressing, always </a:t>
            </a:r>
            <a:r>
              <a:rPr lang="en-US" sz="2400" dirty="0">
                <a:solidFill>
                  <a:srgbClr val="C00000"/>
                </a:solidFill>
              </a:rPr>
              <a:t>begin with the largest </a:t>
            </a:r>
            <a:r>
              <a:rPr lang="en-US" sz="2400" dirty="0" smtClean="0">
                <a:solidFill>
                  <a:srgbClr val="C00000"/>
                </a:solidFill>
              </a:rPr>
              <a:t>requirement to the smallest requirements (the WAN links)</a:t>
            </a:r>
          </a:p>
          <a:p>
            <a:endParaRPr lang="en-GB" sz="2400" dirty="0" smtClean="0"/>
          </a:p>
        </p:txBody>
      </p:sp>
    </p:spTree>
    <p:extLst>
      <p:ext uri="{BB962C8B-B14F-4D97-AF65-F5344CB8AC3E}">
        <p14:creationId xmlns:p14="http://schemas.microsoft.com/office/powerpoint/2010/main" val="160094570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hangingPunct="1"/>
            <a:r>
              <a:rPr lang="en-US" altLang="ja-JP" sz="2800" dirty="0" err="1" smtClean="0">
                <a:ea typeface="ＭＳ Ｐゴシック" pitchFamily="34" charset="-128"/>
              </a:rPr>
              <a:t>Subnetting</a:t>
            </a:r>
            <a:r>
              <a:rPr lang="en-US" altLang="ja-JP" sz="2800" dirty="0" smtClean="0">
                <a:ea typeface="ＭＳ Ｐゴシック" pitchFamily="34" charset="-128"/>
              </a:rPr>
              <a:t> – VLSM</a:t>
            </a:r>
            <a:endParaRPr lang="en-US" sz="2800" dirty="0" smtClean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sz="2000" dirty="0" smtClean="0"/>
              <a:t>You have been allocated the network address </a:t>
            </a:r>
            <a:r>
              <a:rPr lang="en-GB" sz="2000" dirty="0" smtClean="0"/>
              <a:t>192.168.15.0 </a:t>
            </a:r>
            <a:r>
              <a:rPr lang="en-GB" sz="2000" dirty="0"/>
              <a:t>/</a:t>
            </a:r>
            <a:r>
              <a:rPr lang="en-GB" sz="2000" dirty="0" smtClean="0"/>
              <a:t>24. Given these network requirements, use VLSM to allocate subnets</a:t>
            </a:r>
            <a:r>
              <a:rPr lang="en-US" sz="2000" dirty="0"/>
              <a:t> </a:t>
            </a:r>
            <a:r>
              <a:rPr lang="en-US" sz="2000" dirty="0" smtClean="0"/>
              <a:t>for these networks:-</a:t>
            </a:r>
          </a:p>
          <a:p>
            <a:pPr marL="849312" lvl="1" indent="-285750">
              <a:lnSpc>
                <a:spcPct val="150000"/>
              </a:lnSpc>
            </a:pPr>
            <a:r>
              <a:rPr lang="en-US" sz="2000" dirty="0" err="1" smtClean="0"/>
              <a:t>AtlantaHQ</a:t>
            </a:r>
            <a:r>
              <a:rPr lang="en-US" sz="2000" dirty="0" smtClean="0"/>
              <a:t> (58 hosts)</a:t>
            </a:r>
            <a:endParaRPr lang="en-US" sz="2000" dirty="0"/>
          </a:p>
          <a:p>
            <a:pPr marL="849312" lvl="1" indent="-285750">
              <a:lnSpc>
                <a:spcPct val="150000"/>
              </a:lnSpc>
            </a:pPr>
            <a:r>
              <a:rPr lang="en-US" sz="2000" dirty="0" err="1"/>
              <a:t>SydneyHQ</a:t>
            </a:r>
            <a:r>
              <a:rPr lang="en-US" sz="2000" dirty="0"/>
              <a:t> (10 hosts)</a:t>
            </a:r>
          </a:p>
          <a:p>
            <a:pPr marL="849312" lvl="1" indent="-285750">
              <a:lnSpc>
                <a:spcPct val="150000"/>
              </a:lnSpc>
            </a:pPr>
            <a:r>
              <a:rPr lang="en-US" sz="2000" dirty="0" err="1" smtClean="0"/>
              <a:t>PerthHQ</a:t>
            </a:r>
            <a:r>
              <a:rPr lang="en-US" sz="2000" dirty="0" smtClean="0"/>
              <a:t> (26 hosts)</a:t>
            </a:r>
            <a:endParaRPr lang="en-US" sz="2000" dirty="0"/>
          </a:p>
          <a:p>
            <a:pPr marL="849312" lvl="1" indent="-285750">
              <a:lnSpc>
                <a:spcPct val="150000"/>
              </a:lnSpc>
            </a:pPr>
            <a:r>
              <a:rPr lang="en-US" sz="2000" dirty="0" err="1" smtClean="0"/>
              <a:t>CorpusHQ</a:t>
            </a:r>
            <a:r>
              <a:rPr lang="en-US" sz="2000" dirty="0" smtClean="0"/>
              <a:t> (10 hosts)</a:t>
            </a:r>
            <a:endParaRPr lang="en-US" sz="2000" dirty="0"/>
          </a:p>
          <a:p>
            <a:pPr marL="849312" lvl="1" indent="-285750">
              <a:lnSpc>
                <a:spcPct val="150000"/>
              </a:lnSpc>
            </a:pPr>
            <a:r>
              <a:rPr lang="en-US" sz="2000" dirty="0"/>
              <a:t>WAN </a:t>
            </a:r>
            <a:r>
              <a:rPr lang="en-US" sz="2000" dirty="0" smtClean="0"/>
              <a:t>link 1 (2 hosts) </a:t>
            </a:r>
            <a:endParaRPr lang="en-US" sz="2000" dirty="0"/>
          </a:p>
          <a:p>
            <a:pPr marL="849312" lvl="1" indent="-285750">
              <a:lnSpc>
                <a:spcPct val="150000"/>
              </a:lnSpc>
            </a:pPr>
            <a:r>
              <a:rPr lang="en-US" sz="2000" dirty="0"/>
              <a:t>WAN link </a:t>
            </a:r>
            <a:r>
              <a:rPr lang="en-US" sz="2000" dirty="0" smtClean="0"/>
              <a:t>2 (2 hosts)</a:t>
            </a:r>
            <a:endParaRPr lang="en-US" sz="2000" dirty="0"/>
          </a:p>
          <a:p>
            <a:pPr marL="849312" lvl="1" indent="-285750">
              <a:lnSpc>
                <a:spcPct val="150000"/>
              </a:lnSpc>
            </a:pPr>
            <a:r>
              <a:rPr lang="en-US" sz="2000" dirty="0"/>
              <a:t>WAN link </a:t>
            </a:r>
            <a:r>
              <a:rPr lang="en-US" sz="2000" dirty="0" smtClean="0"/>
              <a:t>3 (2 hosts)</a:t>
            </a:r>
            <a:endParaRPr lang="en-GB" sz="2000" dirty="0"/>
          </a:p>
        </p:txBody>
      </p:sp>
    </p:spTree>
    <p:extLst>
      <p:ext uri="{BB962C8B-B14F-4D97-AF65-F5344CB8AC3E}">
        <p14:creationId xmlns:p14="http://schemas.microsoft.com/office/powerpoint/2010/main" val="384909372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err="1">
                <a:ea typeface="ＭＳ Ｐゴシック" pitchFamily="34" charset="-128"/>
              </a:rPr>
              <a:t>Subnetting</a:t>
            </a:r>
            <a:r>
              <a:rPr lang="en-US" altLang="ja-JP" sz="2800" dirty="0">
                <a:ea typeface="ＭＳ Ｐゴシック" pitchFamily="34" charset="-128"/>
              </a:rPr>
              <a:t> – VLSM</a:t>
            </a:r>
            <a:endParaRPr lang="en-US" sz="2800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549400"/>
            <a:ext cx="8645689" cy="4919663"/>
          </a:xfrm>
        </p:spPr>
        <p:txBody>
          <a:bodyPr/>
          <a:lstStyle/>
          <a:p>
            <a:r>
              <a:rPr lang="en-GB" sz="2000" b="1" dirty="0" smtClean="0"/>
              <a:t>Step 1: </a:t>
            </a:r>
            <a:r>
              <a:rPr lang="en-GB" sz="2000" dirty="0" smtClean="0"/>
              <a:t>Set up a table with the subnet name or number, subnet address /prefix, usable address range and the broadcast address fields</a:t>
            </a:r>
          </a:p>
          <a:p>
            <a:r>
              <a:rPr lang="en-GB" sz="2000" b="1" dirty="0" smtClean="0"/>
              <a:t>Step 2: </a:t>
            </a:r>
            <a:r>
              <a:rPr lang="en-GB" sz="2000" dirty="0" smtClean="0"/>
              <a:t>List the subnets in the order from the largest to the smallest hosts requirements:-</a:t>
            </a:r>
          </a:p>
          <a:p>
            <a:endParaRPr lang="en-GB" sz="2400" dirty="0"/>
          </a:p>
          <a:p>
            <a:endParaRPr lang="en-GB" sz="2400" dirty="0" smtClean="0"/>
          </a:p>
          <a:p>
            <a:endParaRPr lang="en-GB" sz="2400" dirty="0"/>
          </a:p>
          <a:p>
            <a:endParaRPr lang="en-GB" sz="2400" dirty="0" smtClean="0"/>
          </a:p>
          <a:p>
            <a:pPr marL="457200" lvl="1" indent="0">
              <a:buNone/>
            </a:pPr>
            <a:endParaRPr lang="en-US" sz="2000" dirty="0" smtClean="0"/>
          </a:p>
          <a:p>
            <a:endParaRPr lang="en-GB" sz="2400" dirty="0" smtClean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804079362"/>
              </p:ext>
            </p:extLst>
          </p:nvPr>
        </p:nvGraphicFramePr>
        <p:xfrm>
          <a:off x="220714" y="3383498"/>
          <a:ext cx="8734100" cy="2654743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23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9004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05207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Subnet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Subnet </a:t>
                      </a:r>
                      <a:r>
                        <a:rPr lang="en-GB" sz="1400" dirty="0" err="1" smtClean="0"/>
                        <a:t>Addr</a:t>
                      </a:r>
                      <a:r>
                        <a:rPr lang="en-GB" sz="1400" dirty="0" smtClean="0"/>
                        <a:t>/Prefix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 Usable </a:t>
                      </a:r>
                      <a:r>
                        <a:rPr lang="en-GB" sz="1400" dirty="0" err="1" smtClean="0"/>
                        <a:t>Addr</a:t>
                      </a:r>
                      <a:r>
                        <a:rPr lang="en-GB" sz="1400" dirty="0" smtClean="0"/>
                        <a:t> Range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Broadcast </a:t>
                      </a:r>
                      <a:r>
                        <a:rPr lang="en-GB" sz="1400" dirty="0" err="1" smtClean="0"/>
                        <a:t>Addr</a:t>
                      </a:r>
                      <a:endParaRPr lang="en-GB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564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err="1" smtClean="0"/>
                        <a:t>AtlantaHQ</a:t>
                      </a:r>
                      <a:r>
                        <a:rPr lang="en-GB" sz="1400" b="1" dirty="0" smtClean="0"/>
                        <a:t> – 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4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5648">
                <a:tc>
                  <a:txBody>
                    <a:bodyPr/>
                    <a:lstStyle/>
                    <a:p>
                      <a:r>
                        <a:rPr lang="en-GB" sz="1400" b="1" dirty="0" err="1" smtClean="0"/>
                        <a:t>PerthHQ</a:t>
                      </a:r>
                      <a:r>
                        <a:rPr lang="en-GB" sz="1400" b="1" dirty="0" smtClean="0"/>
                        <a:t> – 26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564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err="1" smtClean="0"/>
                        <a:t>SydneyHQ</a:t>
                      </a:r>
                      <a:r>
                        <a:rPr lang="en-GB" sz="1400" b="1" dirty="0" smtClean="0"/>
                        <a:t>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564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err="1" smtClean="0"/>
                        <a:t>CorpusHQ</a:t>
                      </a:r>
                      <a:r>
                        <a:rPr lang="en-GB" sz="1400" b="1" dirty="0" smtClean="0"/>
                        <a:t>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564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smtClean="0"/>
                        <a:t>WAN1 –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564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smtClean="0"/>
                        <a:t>WAN2 –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35648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smtClean="0"/>
                        <a:t>WAN3</a:t>
                      </a:r>
                      <a:r>
                        <a:rPr lang="en-GB" sz="1400" b="1" baseline="0" dirty="0" smtClean="0"/>
                        <a:t> </a:t>
                      </a:r>
                      <a:r>
                        <a:rPr lang="en-GB" sz="1400" b="1" dirty="0" smtClean="0"/>
                        <a:t>–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4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08166984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err="1">
                <a:ea typeface="ＭＳ Ｐゴシック" pitchFamily="34" charset="-128"/>
              </a:rPr>
              <a:t>Subnetting</a:t>
            </a:r>
            <a:r>
              <a:rPr lang="en-US" altLang="ja-JP" sz="2800" dirty="0">
                <a:ea typeface="ＭＳ Ｐゴシック" pitchFamily="34" charset="-128"/>
              </a:rPr>
              <a:t> – VLSM</a:t>
            </a:r>
            <a:endParaRPr lang="en-US" sz="2800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106488"/>
            <a:ext cx="8645689" cy="5362575"/>
          </a:xfrm>
        </p:spPr>
        <p:txBody>
          <a:bodyPr/>
          <a:lstStyle/>
          <a:p>
            <a:r>
              <a:rPr lang="en-GB" sz="2400" dirty="0" smtClean="0"/>
              <a:t>Begin with the 1</a:t>
            </a:r>
            <a:r>
              <a:rPr lang="en-GB" sz="2400" baseline="30000" dirty="0" smtClean="0"/>
              <a:t>st</a:t>
            </a:r>
            <a:r>
              <a:rPr lang="en-GB" sz="2400" dirty="0" smtClean="0"/>
              <a:t> subnet:-</a:t>
            </a:r>
          </a:p>
          <a:p>
            <a:pPr lvl="1"/>
            <a:r>
              <a:rPr lang="en-GB" sz="2000" dirty="0" smtClean="0"/>
              <a:t>How many </a:t>
            </a:r>
            <a:r>
              <a:rPr lang="en-GB" sz="2000" b="1" dirty="0" smtClean="0"/>
              <a:t>minimum</a:t>
            </a:r>
            <a:r>
              <a:rPr lang="en-GB" sz="2000" dirty="0" smtClean="0"/>
              <a:t> # of host bits needed to meet requirement?</a:t>
            </a:r>
          </a:p>
          <a:p>
            <a:pPr marL="457200" lvl="1" indent="0">
              <a:buNone/>
            </a:pPr>
            <a:r>
              <a:rPr lang="en-GB" sz="2000" dirty="0" smtClean="0"/>
              <a:t>		</a:t>
            </a:r>
            <a:r>
              <a:rPr lang="en-GB" sz="2000" smtClean="0"/>
              <a:t>2</a:t>
            </a:r>
            <a:r>
              <a:rPr lang="en-GB" sz="2000" baseline="30000" smtClean="0"/>
              <a:t>h</a:t>
            </a:r>
            <a:r>
              <a:rPr lang="en-GB" sz="2000" smtClean="0"/>
              <a:t> -2 ≥ </a:t>
            </a:r>
            <a:r>
              <a:rPr lang="en-GB" sz="2000" dirty="0" smtClean="0"/>
              <a:t>host requirements</a:t>
            </a:r>
            <a:endParaRPr lang="en-GB" sz="2000" dirty="0"/>
          </a:p>
          <a:p>
            <a:pPr marL="457200" lvl="1" indent="0">
              <a:buNone/>
            </a:pPr>
            <a:r>
              <a:rPr lang="en-GB" sz="2000" dirty="0" smtClean="0"/>
              <a:t> 		h = </a:t>
            </a:r>
            <a:r>
              <a:rPr lang="en-GB" sz="2000" u="sng" dirty="0" smtClean="0"/>
              <a:t> </a:t>
            </a:r>
            <a:r>
              <a:rPr lang="en-GB" sz="2000" b="1" u="sng" dirty="0" smtClean="0">
                <a:solidFill>
                  <a:srgbClr val="FF0000"/>
                </a:solidFill>
              </a:rPr>
              <a:t>6</a:t>
            </a:r>
            <a:r>
              <a:rPr lang="en-GB" sz="2000" u="sng" dirty="0" smtClean="0"/>
              <a:t> </a:t>
            </a:r>
            <a:r>
              <a:rPr lang="en-GB" sz="2000" dirty="0" smtClean="0"/>
              <a:t>	because 2</a:t>
            </a:r>
            <a:r>
              <a:rPr lang="en-GB" sz="2000" b="1" baseline="30000" dirty="0" smtClean="0">
                <a:solidFill>
                  <a:srgbClr val="FF0000"/>
                </a:solidFill>
              </a:rPr>
              <a:t>6</a:t>
            </a:r>
            <a:r>
              <a:rPr lang="en-GB" sz="2000" dirty="0" smtClean="0"/>
              <a:t> - 2 = </a:t>
            </a:r>
            <a:r>
              <a:rPr lang="en-GB" sz="2000" dirty="0"/>
              <a:t>62, which is </a:t>
            </a:r>
            <a:r>
              <a:rPr lang="en-GB" sz="2000" dirty="0" smtClean="0"/>
              <a:t>≥ requirements of 58</a:t>
            </a:r>
          </a:p>
          <a:p>
            <a:pPr lvl="1"/>
            <a:r>
              <a:rPr lang="en-GB" sz="2000" dirty="0" smtClean="0"/>
              <a:t>What is the new prefix?  /26 because there are only 6 host bits</a:t>
            </a:r>
          </a:p>
          <a:p>
            <a:pPr lvl="1"/>
            <a:r>
              <a:rPr lang="en-GB" sz="2000" dirty="0" smtClean="0"/>
              <a:t>What is the subnet address for the subnet 0? </a:t>
            </a:r>
          </a:p>
          <a:p>
            <a:pPr marL="457200" lvl="1" indent="0">
              <a:buNone/>
            </a:pPr>
            <a:r>
              <a:rPr lang="en-GB" sz="2000" dirty="0"/>
              <a:t>	</a:t>
            </a:r>
            <a:r>
              <a:rPr lang="en-GB" sz="2000" dirty="0" smtClean="0"/>
              <a:t>	</a:t>
            </a:r>
            <a:r>
              <a:rPr lang="en-GB" sz="1600" dirty="0" smtClean="0"/>
              <a:t>from the starting address block 192.168.15.0,</a:t>
            </a:r>
          </a:p>
          <a:p>
            <a:pPr marL="457200" lvl="1" indent="0">
              <a:buNone/>
            </a:pPr>
            <a:r>
              <a:rPr lang="en-GB" sz="1600" dirty="0"/>
              <a:t>	</a:t>
            </a:r>
            <a:r>
              <a:rPr lang="en-GB" sz="1600" dirty="0" smtClean="0"/>
              <a:t>	adding the new prefix becomes 192.168.15.0 /26</a:t>
            </a:r>
          </a:p>
          <a:p>
            <a:pPr lvl="1"/>
            <a:r>
              <a:rPr lang="en-GB" sz="2000" dirty="0" smtClean="0"/>
              <a:t>Calculate the usable addresses and broadcast address</a:t>
            </a:r>
          </a:p>
          <a:p>
            <a:pPr lvl="1"/>
            <a:endParaRPr lang="en-US" sz="2000" dirty="0" smtClean="0"/>
          </a:p>
          <a:p>
            <a:endParaRPr lang="en-GB" sz="2400" dirty="0" smtClean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4643009"/>
              </p:ext>
            </p:extLst>
          </p:nvPr>
        </p:nvGraphicFramePr>
        <p:xfrm>
          <a:off x="220714" y="4833970"/>
          <a:ext cx="8734100" cy="105294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23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8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9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85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Subnet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Subnet </a:t>
                      </a:r>
                      <a:r>
                        <a:rPr lang="en-GB" sz="1600" dirty="0" err="1" smtClean="0"/>
                        <a:t>Addr</a:t>
                      </a:r>
                      <a:r>
                        <a:rPr lang="en-GB" sz="1600" dirty="0" smtClean="0"/>
                        <a:t>/Prefix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 Usable </a:t>
                      </a:r>
                      <a:r>
                        <a:rPr lang="en-GB" sz="1600" dirty="0" err="1" smtClean="0"/>
                        <a:t>Addr</a:t>
                      </a:r>
                      <a:r>
                        <a:rPr lang="en-GB" sz="1600" dirty="0" smtClean="0"/>
                        <a:t> Range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Broadcast </a:t>
                      </a:r>
                      <a:r>
                        <a:rPr lang="en-GB" sz="1600" dirty="0" err="1" smtClean="0"/>
                        <a:t>Addr</a:t>
                      </a:r>
                      <a:endParaRPr lang="en-GB" sz="16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 smtClean="0"/>
                        <a:t>AtlantaHQ</a:t>
                      </a:r>
                      <a:r>
                        <a:rPr lang="en-GB" sz="1600" dirty="0" smtClean="0"/>
                        <a:t> – 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192.168.15.0 </a:t>
                      </a:r>
                      <a:r>
                        <a:rPr lang="en-GB" sz="1600" b="1" kern="1200" dirty="0" smtClean="0">
                          <a:solidFill>
                            <a:srgbClr val="FF0000"/>
                          </a:solidFill>
                          <a:latin typeface="+mn-lt"/>
                          <a:ea typeface="+mn-ea"/>
                          <a:cs typeface="+mn-cs"/>
                        </a:rPr>
                        <a:t>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2" name="TextBox 1"/>
          <p:cNvSpPr txBox="1"/>
          <p:nvPr/>
        </p:nvSpPr>
        <p:spPr>
          <a:xfrm>
            <a:off x="3945838" y="5407574"/>
            <a:ext cx="4265911" cy="5416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fontAlgn="t" hangingPunct="1"/>
            <a:r>
              <a:rPr lang="en-GB" sz="1600" dirty="0">
                <a:latin typeface="+mn-lt"/>
              </a:rPr>
              <a:t>192.168.15.1 </a:t>
            </a:r>
            <a:r>
              <a:rPr lang="en-GB" sz="1600" dirty="0" smtClean="0">
                <a:latin typeface="+mn-lt"/>
              </a:rPr>
              <a:t>–		</a:t>
            </a:r>
            <a:r>
              <a:rPr lang="en-GB" sz="1600" dirty="0" smtClean="0"/>
              <a:t>192.168.15.63</a:t>
            </a:r>
            <a:endParaRPr lang="en-US" sz="1600" dirty="0"/>
          </a:p>
          <a:p>
            <a:pPr algn="l" eaLnBrk="1" fontAlgn="t" hangingPunct="1"/>
            <a:r>
              <a:rPr lang="en-GB" sz="1600" dirty="0" smtClean="0">
                <a:latin typeface="+mn-lt"/>
              </a:rPr>
              <a:t>192.168.15.62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0988811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0"/>
    </mc:Choice>
    <mc:Fallback xmlns="">
      <p:transition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err="1">
                <a:ea typeface="ＭＳ Ｐゴシック" pitchFamily="34" charset="-128"/>
              </a:rPr>
              <a:t>Subnetting</a:t>
            </a:r>
            <a:r>
              <a:rPr lang="en-US" altLang="ja-JP" sz="2800" dirty="0">
                <a:ea typeface="ＭＳ Ｐゴシック" pitchFamily="34" charset="-128"/>
              </a:rPr>
              <a:t> – VLSM</a:t>
            </a:r>
            <a:endParaRPr lang="en-US" sz="2800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106488"/>
            <a:ext cx="8645689" cy="5362575"/>
          </a:xfrm>
        </p:spPr>
        <p:txBody>
          <a:bodyPr/>
          <a:lstStyle/>
          <a:p>
            <a:r>
              <a:rPr lang="en-GB" sz="1800" dirty="0" smtClean="0"/>
              <a:t>The broadcast address of the last block is 192.168.15.63 /26</a:t>
            </a:r>
          </a:p>
          <a:p>
            <a:r>
              <a:rPr lang="en-GB" sz="1800" dirty="0" smtClean="0"/>
              <a:t>Thus the next address block to use is 192.168.15.64 /26</a:t>
            </a:r>
          </a:p>
          <a:p>
            <a:endParaRPr lang="en-GB" sz="1800" dirty="0" smtClean="0"/>
          </a:p>
          <a:p>
            <a:r>
              <a:rPr lang="en-GB" sz="2000" dirty="0" smtClean="0"/>
              <a:t>Approach the 2</a:t>
            </a:r>
            <a:r>
              <a:rPr lang="en-GB" sz="2000" baseline="30000" dirty="0" smtClean="0"/>
              <a:t>nd</a:t>
            </a:r>
            <a:r>
              <a:rPr lang="en-GB" sz="2000" dirty="0" smtClean="0"/>
              <a:t> subnet (</a:t>
            </a:r>
            <a:r>
              <a:rPr lang="en-GB" sz="2000" dirty="0" err="1" smtClean="0"/>
              <a:t>PerthHQ</a:t>
            </a:r>
            <a:r>
              <a:rPr lang="en-GB" sz="2000" dirty="0" smtClean="0"/>
              <a:t> – 26):-</a:t>
            </a:r>
          </a:p>
          <a:p>
            <a:pPr lvl="1"/>
            <a:r>
              <a:rPr lang="en-GB" sz="1800" dirty="0" smtClean="0"/>
              <a:t>How many </a:t>
            </a:r>
            <a:r>
              <a:rPr lang="en-GB" sz="1800" b="1" dirty="0" smtClean="0"/>
              <a:t>minimum</a:t>
            </a:r>
            <a:r>
              <a:rPr lang="en-GB" sz="1800" dirty="0" smtClean="0"/>
              <a:t> host bits needed to meet requirement? </a:t>
            </a:r>
            <a:r>
              <a:rPr lang="en-GB" sz="1800" u="sng" dirty="0" smtClean="0"/>
              <a:t> 5 </a:t>
            </a:r>
          </a:p>
          <a:p>
            <a:pPr lvl="1"/>
            <a:r>
              <a:rPr lang="en-GB" sz="1800" dirty="0" smtClean="0"/>
              <a:t>What is the new prefix? </a:t>
            </a:r>
            <a:r>
              <a:rPr lang="en-GB" sz="1800" u="sng" dirty="0" smtClean="0"/>
              <a:t>/27</a:t>
            </a:r>
            <a:r>
              <a:rPr lang="en-GB" sz="1800" dirty="0" smtClean="0"/>
              <a:t>, (</a:t>
            </a:r>
            <a:r>
              <a:rPr lang="en-GB" sz="1600" dirty="0" smtClean="0"/>
              <a:t>because there are 5 host bits)</a:t>
            </a:r>
          </a:p>
          <a:p>
            <a:pPr lvl="1"/>
            <a:r>
              <a:rPr lang="en-GB" sz="1800" dirty="0" smtClean="0"/>
              <a:t>What is the subnet address? 192.168.15.64 /27</a:t>
            </a:r>
          </a:p>
          <a:p>
            <a:pPr lvl="1"/>
            <a:r>
              <a:rPr lang="en-GB" sz="1800" dirty="0" smtClean="0"/>
              <a:t>Calculate the usable addresses and broadcast address</a:t>
            </a:r>
          </a:p>
          <a:p>
            <a:endParaRPr lang="en-US" dirty="0" smtClean="0"/>
          </a:p>
          <a:p>
            <a:endParaRPr lang="en-GB" sz="24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41089102"/>
              </p:ext>
            </p:extLst>
          </p:nvPr>
        </p:nvGraphicFramePr>
        <p:xfrm>
          <a:off x="215459" y="4434557"/>
          <a:ext cx="8734100" cy="163206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23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022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75896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34906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85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Subnet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Subnet </a:t>
                      </a:r>
                      <a:r>
                        <a:rPr lang="en-GB" sz="1600" dirty="0" err="1" smtClean="0"/>
                        <a:t>Addr</a:t>
                      </a:r>
                      <a:r>
                        <a:rPr lang="en-GB" sz="1600" dirty="0" smtClean="0"/>
                        <a:t>/Prefix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 Usable </a:t>
                      </a:r>
                      <a:r>
                        <a:rPr lang="en-GB" sz="1600" dirty="0" err="1" smtClean="0"/>
                        <a:t>Addr</a:t>
                      </a:r>
                      <a:r>
                        <a:rPr lang="en-GB" sz="1600" dirty="0" smtClean="0"/>
                        <a:t> Range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Broadcast </a:t>
                      </a:r>
                      <a:r>
                        <a:rPr lang="en-GB" sz="1600" dirty="0" err="1" smtClean="0"/>
                        <a:t>Addr</a:t>
                      </a:r>
                      <a:endParaRPr lang="en-GB" sz="16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 smtClean="0"/>
                        <a:t>AtlantaHQ</a:t>
                      </a:r>
                      <a:r>
                        <a:rPr lang="en-GB" sz="1600" dirty="0" smtClean="0"/>
                        <a:t> – 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192.168.15.0 </a:t>
                      </a:r>
                      <a:r>
                        <a:rPr lang="en-GB" sz="1600" b="1" dirty="0" smtClean="0">
                          <a:solidFill>
                            <a:srgbClr val="FF0000"/>
                          </a:solidFill>
                        </a:rPr>
                        <a:t>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192.168.15.1 – 192.168.15.62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192.168.15.63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 smtClean="0"/>
                        <a:t>PerthHQ</a:t>
                      </a:r>
                      <a:r>
                        <a:rPr lang="en-GB" sz="1600" dirty="0" smtClean="0"/>
                        <a:t> –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192.168.15.64 </a:t>
                      </a:r>
                      <a:r>
                        <a:rPr lang="en-GB" sz="1600" b="1" dirty="0" smtClean="0">
                          <a:solidFill>
                            <a:srgbClr val="FF0000"/>
                          </a:solidFill>
                        </a:rPr>
                        <a:t>/27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3851226" y="5575311"/>
            <a:ext cx="4265911" cy="5355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fontAlgn="t" hangingPunct="1"/>
            <a:r>
              <a:rPr lang="en-GB" sz="1600" dirty="0" smtClean="0">
                <a:latin typeface="+mn-lt"/>
              </a:rPr>
              <a:t>192.168.15.65 –		</a:t>
            </a:r>
            <a:r>
              <a:rPr lang="en-GB" sz="1600" dirty="0" smtClean="0"/>
              <a:t>192.168.15.95</a:t>
            </a:r>
            <a:endParaRPr lang="en-US" sz="1600" dirty="0"/>
          </a:p>
          <a:p>
            <a:pPr algn="l" eaLnBrk="1" fontAlgn="t" hangingPunct="1"/>
            <a:r>
              <a:rPr lang="en-GB" sz="1600" dirty="0" smtClean="0">
                <a:latin typeface="+mn-lt"/>
              </a:rPr>
              <a:t>192.168.15.94</a:t>
            </a:r>
            <a:endParaRPr lang="en-US" sz="160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25874903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err="1">
                <a:ea typeface="ＭＳ Ｐゴシック" pitchFamily="34" charset="-128"/>
              </a:rPr>
              <a:t>Subnetting</a:t>
            </a:r>
            <a:r>
              <a:rPr lang="en-US" altLang="ja-JP" sz="2800" dirty="0">
                <a:ea typeface="ＭＳ Ｐゴシック" pitchFamily="34" charset="-128"/>
              </a:rPr>
              <a:t> – VLSM</a:t>
            </a:r>
            <a:endParaRPr lang="en-US" sz="2800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340069"/>
            <a:ext cx="8645689" cy="5128994"/>
          </a:xfrm>
        </p:spPr>
        <p:txBody>
          <a:bodyPr/>
          <a:lstStyle/>
          <a:p>
            <a:r>
              <a:rPr lang="en-GB" sz="2000" dirty="0" smtClean="0"/>
              <a:t>Approach </a:t>
            </a:r>
            <a:r>
              <a:rPr lang="en-GB" sz="2000" dirty="0"/>
              <a:t>the </a:t>
            </a:r>
            <a:r>
              <a:rPr lang="en-GB" sz="2000" dirty="0" smtClean="0"/>
              <a:t>3</a:t>
            </a:r>
            <a:r>
              <a:rPr lang="en-GB" sz="2000" baseline="30000" dirty="0" smtClean="0"/>
              <a:t>rd</a:t>
            </a:r>
            <a:r>
              <a:rPr lang="en-GB" sz="2000" dirty="0" smtClean="0"/>
              <a:t> subnet (</a:t>
            </a:r>
            <a:r>
              <a:rPr lang="en-GB" sz="2000" dirty="0" err="1" smtClean="0"/>
              <a:t>SydneyHQ</a:t>
            </a:r>
            <a:r>
              <a:rPr lang="en-GB" sz="2000" dirty="0" smtClean="0"/>
              <a:t> </a:t>
            </a:r>
            <a:r>
              <a:rPr lang="en-GB" sz="2000" dirty="0"/>
              <a:t>– </a:t>
            </a:r>
            <a:r>
              <a:rPr lang="en-GB" sz="2000" dirty="0" smtClean="0"/>
              <a:t>10):-</a:t>
            </a:r>
            <a:endParaRPr lang="en-GB" sz="2000" dirty="0"/>
          </a:p>
          <a:p>
            <a:pPr lvl="1"/>
            <a:r>
              <a:rPr lang="en-GB" sz="1800" dirty="0"/>
              <a:t>How many </a:t>
            </a:r>
            <a:r>
              <a:rPr lang="en-GB" sz="1800" b="1" dirty="0" smtClean="0"/>
              <a:t>minimum</a:t>
            </a:r>
            <a:r>
              <a:rPr lang="en-GB" sz="1800" dirty="0" smtClean="0"/>
              <a:t> # of host </a:t>
            </a:r>
            <a:r>
              <a:rPr lang="en-GB" sz="1800" dirty="0"/>
              <a:t>bits needed to meet requirement? </a:t>
            </a:r>
            <a:r>
              <a:rPr lang="en-GB" sz="1800" dirty="0" smtClean="0"/>
              <a:t>4</a:t>
            </a:r>
            <a:endParaRPr lang="en-GB" sz="1800" u="sng" dirty="0"/>
          </a:p>
          <a:p>
            <a:pPr lvl="1"/>
            <a:r>
              <a:rPr lang="en-GB" sz="1800" dirty="0"/>
              <a:t>What is the new prefix? </a:t>
            </a:r>
            <a:r>
              <a:rPr lang="en-GB" sz="1800" dirty="0" smtClean="0"/>
              <a:t>/28</a:t>
            </a:r>
            <a:endParaRPr lang="en-GB" sz="1800" dirty="0"/>
          </a:p>
          <a:p>
            <a:pPr lvl="1"/>
            <a:r>
              <a:rPr lang="en-GB" sz="1800" dirty="0"/>
              <a:t>What is the </a:t>
            </a:r>
            <a:r>
              <a:rPr lang="en-GB" sz="1800" dirty="0" smtClean="0"/>
              <a:t>subnet address? 192.168.15.96</a:t>
            </a:r>
            <a:endParaRPr lang="en-GB" sz="1800" dirty="0"/>
          </a:p>
          <a:p>
            <a:pPr lvl="1"/>
            <a:r>
              <a:rPr lang="en-GB" sz="1800" dirty="0"/>
              <a:t>Calculate the usable addresses and broadcast </a:t>
            </a:r>
            <a:r>
              <a:rPr lang="en-GB" sz="1800" dirty="0" smtClean="0"/>
              <a:t>address</a:t>
            </a:r>
          </a:p>
          <a:p>
            <a:endParaRPr lang="en-GB" sz="2400" dirty="0" smtClean="0"/>
          </a:p>
          <a:p>
            <a:endParaRPr lang="en-GB" sz="2400" dirty="0"/>
          </a:p>
          <a:p>
            <a:endParaRPr lang="en-GB" sz="2400" dirty="0" smtClean="0"/>
          </a:p>
          <a:p>
            <a:endParaRPr lang="en-GB" sz="2400" dirty="0"/>
          </a:p>
          <a:p>
            <a:endParaRPr lang="en-GB" sz="2400" dirty="0" smtClean="0"/>
          </a:p>
          <a:p>
            <a:r>
              <a:rPr lang="en-GB" sz="2000" dirty="0" smtClean="0"/>
              <a:t>Do </a:t>
            </a:r>
            <a:r>
              <a:rPr lang="en-GB" sz="2000" dirty="0"/>
              <a:t>the same for the 4</a:t>
            </a:r>
            <a:r>
              <a:rPr lang="en-GB" sz="2000" baseline="30000" dirty="0"/>
              <a:t>th</a:t>
            </a:r>
            <a:r>
              <a:rPr lang="en-GB" sz="2000" dirty="0"/>
              <a:t> subnet (</a:t>
            </a:r>
            <a:r>
              <a:rPr lang="en-GB" sz="2000" dirty="0" err="1"/>
              <a:t>CorpusHQ</a:t>
            </a:r>
            <a:r>
              <a:rPr lang="en-GB" sz="2000" dirty="0"/>
              <a:t> – 10)</a:t>
            </a:r>
          </a:p>
          <a:p>
            <a:endParaRPr lang="en-GB" sz="2400" dirty="0"/>
          </a:p>
          <a:p>
            <a:endParaRPr lang="en-US" dirty="0" smtClean="0"/>
          </a:p>
          <a:p>
            <a:endParaRPr lang="en-GB" sz="2400" dirty="0" smtClean="0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67651142"/>
              </p:ext>
            </p:extLst>
          </p:nvPr>
        </p:nvGraphicFramePr>
        <p:xfrm>
          <a:off x="210199" y="3546401"/>
          <a:ext cx="8734100" cy="2000595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2385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82354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31931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54768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85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Subnet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Subnet </a:t>
                      </a:r>
                      <a:r>
                        <a:rPr lang="en-GB" sz="1600" dirty="0" err="1" smtClean="0"/>
                        <a:t>Addr</a:t>
                      </a:r>
                      <a:r>
                        <a:rPr lang="en-GB" sz="1600" dirty="0" smtClean="0"/>
                        <a:t>/Prefix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 Usable </a:t>
                      </a:r>
                      <a:r>
                        <a:rPr lang="en-GB" sz="1600" dirty="0" err="1" smtClean="0"/>
                        <a:t>Addr</a:t>
                      </a:r>
                      <a:r>
                        <a:rPr lang="en-GB" sz="1600" dirty="0" smtClean="0"/>
                        <a:t> Range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Broadcast </a:t>
                      </a:r>
                      <a:r>
                        <a:rPr lang="en-GB" sz="1600" dirty="0" err="1" smtClean="0"/>
                        <a:t>Addr</a:t>
                      </a:r>
                      <a:endParaRPr lang="en-GB" sz="16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 smtClean="0"/>
                        <a:t>AtlantaHQ</a:t>
                      </a:r>
                      <a:r>
                        <a:rPr lang="en-GB" sz="1600" dirty="0" smtClean="0"/>
                        <a:t> – 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192.168.15.0 /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192.168.15.1 – 192.168.15.62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192.168.15.63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 smtClean="0"/>
                        <a:t>PerthHQ</a:t>
                      </a:r>
                      <a:r>
                        <a:rPr lang="en-GB" sz="1600" dirty="0" smtClean="0"/>
                        <a:t> – 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192.168.15.64 /27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192.168.15.65</a:t>
                      </a:r>
                      <a:r>
                        <a:rPr lang="en-GB" sz="1600" baseline="0" dirty="0" smtClean="0"/>
                        <a:t> – 192.168.15.94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192.168.15.95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 smtClean="0"/>
                        <a:t>SydneyHQ</a:t>
                      </a:r>
                      <a:r>
                        <a:rPr lang="en-GB" sz="1600" dirty="0" smtClean="0"/>
                        <a:t>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17470" y="5180257"/>
            <a:ext cx="6837834" cy="3139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fontAlgn="t" hangingPunct="1"/>
            <a:r>
              <a:rPr lang="en-GB" sz="1600" dirty="0" smtClean="0">
                <a:latin typeface="+mn-lt"/>
              </a:rPr>
              <a:t>192.168.15.96 /28	192.168.15.97 – 192.168.15.110       </a:t>
            </a:r>
            <a:r>
              <a:rPr lang="en-GB" sz="1600" dirty="0" smtClean="0"/>
              <a:t>192.168.15.111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97308021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err="1">
                <a:ea typeface="ＭＳ Ｐゴシック" pitchFamily="34" charset="-128"/>
              </a:rPr>
              <a:t>Subnetting</a:t>
            </a:r>
            <a:r>
              <a:rPr lang="en-US" altLang="ja-JP" sz="2800" dirty="0">
                <a:ea typeface="ＭＳ Ｐゴシック" pitchFamily="34" charset="-128"/>
              </a:rPr>
              <a:t> – VLSM</a:t>
            </a:r>
            <a:endParaRPr lang="en-US" sz="2800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355834"/>
            <a:ext cx="8645689" cy="5097463"/>
          </a:xfrm>
        </p:spPr>
        <p:txBody>
          <a:bodyPr/>
          <a:lstStyle/>
          <a:p>
            <a:r>
              <a:rPr lang="en-GB" sz="1800" dirty="0" smtClean="0"/>
              <a:t>Each WAN link subnet must be treated individually.</a:t>
            </a:r>
          </a:p>
          <a:p>
            <a:r>
              <a:rPr lang="en-GB" sz="1800" dirty="0" smtClean="0"/>
              <a:t>Approach the 5</a:t>
            </a:r>
            <a:r>
              <a:rPr lang="en-GB" sz="1800" baseline="30000" dirty="0" smtClean="0"/>
              <a:t>th</a:t>
            </a:r>
            <a:r>
              <a:rPr lang="en-GB" sz="1800" dirty="0" smtClean="0"/>
              <a:t> subnet (WAN1– 2):-</a:t>
            </a:r>
          </a:p>
          <a:p>
            <a:pPr lvl="1"/>
            <a:r>
              <a:rPr lang="en-GB" sz="1600" dirty="0" smtClean="0"/>
              <a:t>How many minimum # host bits needed to meet requirement? 2</a:t>
            </a:r>
            <a:endParaRPr lang="en-GB" sz="1600" u="sng" dirty="0" smtClean="0"/>
          </a:p>
          <a:p>
            <a:pPr lvl="1"/>
            <a:r>
              <a:rPr lang="en-GB" sz="1600" dirty="0" smtClean="0"/>
              <a:t>What is the prefix? /30</a:t>
            </a:r>
          </a:p>
          <a:p>
            <a:pPr lvl="1"/>
            <a:r>
              <a:rPr lang="en-GB" sz="1600" dirty="0" smtClean="0"/>
              <a:t>What is the subnet address? 192.168.15.128</a:t>
            </a:r>
          </a:p>
          <a:p>
            <a:pPr lvl="1"/>
            <a:r>
              <a:rPr lang="en-GB" sz="1600" dirty="0" smtClean="0"/>
              <a:t>Calculate the usable addresses and broadcast address</a:t>
            </a:r>
          </a:p>
          <a:p>
            <a:pPr lvl="1"/>
            <a:endParaRPr lang="en-GB" sz="1600" dirty="0" smtClean="0"/>
          </a:p>
          <a:p>
            <a:pPr lvl="1"/>
            <a:endParaRPr lang="en-GB" sz="1600" dirty="0" smtClean="0"/>
          </a:p>
          <a:p>
            <a:pPr lvl="1"/>
            <a:endParaRPr lang="en-GB" sz="1600" dirty="0"/>
          </a:p>
          <a:p>
            <a:pPr lvl="1"/>
            <a:endParaRPr lang="en-GB" sz="1600" dirty="0" smtClean="0"/>
          </a:p>
          <a:p>
            <a:pPr lvl="1"/>
            <a:endParaRPr lang="en-GB" sz="1600" dirty="0" smtClean="0"/>
          </a:p>
          <a:p>
            <a:pPr lvl="1"/>
            <a:endParaRPr lang="en-GB" sz="1600" dirty="0"/>
          </a:p>
          <a:p>
            <a:r>
              <a:rPr lang="en-GB" sz="1800" dirty="0" smtClean="0"/>
              <a:t>Do the same for the 6</a:t>
            </a:r>
            <a:r>
              <a:rPr lang="en-GB" sz="1800" baseline="30000" dirty="0" smtClean="0"/>
              <a:t>th</a:t>
            </a:r>
            <a:r>
              <a:rPr lang="en-GB" sz="1800" dirty="0" smtClean="0"/>
              <a:t> and 7</a:t>
            </a:r>
            <a:r>
              <a:rPr lang="en-GB" sz="1800" baseline="30000" dirty="0" smtClean="0"/>
              <a:t>th</a:t>
            </a:r>
            <a:r>
              <a:rPr lang="en-GB" sz="1800" dirty="0" smtClean="0"/>
              <a:t> WAN links subnets.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02987764"/>
              </p:ext>
            </p:extLst>
          </p:nvPr>
        </p:nvGraphicFramePr>
        <p:xfrm>
          <a:off x="210199" y="3656774"/>
          <a:ext cx="8734100" cy="1378503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60283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2323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24244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86558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30853"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Subnet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Subnet </a:t>
                      </a:r>
                      <a:r>
                        <a:rPr lang="en-GB" sz="1600" dirty="0" err="1" smtClean="0"/>
                        <a:t>Addr</a:t>
                      </a:r>
                      <a:r>
                        <a:rPr lang="en-GB" sz="1600" dirty="0" smtClean="0"/>
                        <a:t>/Prefix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 Usable </a:t>
                      </a:r>
                      <a:r>
                        <a:rPr lang="en-GB" sz="1600" dirty="0" err="1" smtClean="0"/>
                        <a:t>Addr</a:t>
                      </a:r>
                      <a:r>
                        <a:rPr lang="en-GB" sz="1600" dirty="0" smtClean="0"/>
                        <a:t> Range</a:t>
                      </a:r>
                      <a:endParaRPr lang="en-US" sz="16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Broadcast </a:t>
                      </a:r>
                      <a:r>
                        <a:rPr lang="en-GB" sz="1600" dirty="0" err="1" smtClean="0"/>
                        <a:t>Addr</a:t>
                      </a:r>
                      <a:endParaRPr lang="en-GB" sz="16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err="1" smtClean="0"/>
                        <a:t>CorpusHQ</a:t>
                      </a:r>
                      <a:r>
                        <a:rPr lang="en-GB" sz="1600" dirty="0" smtClean="0"/>
                        <a:t>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192.168.15.112/28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192.168.15.113 – 192.168.15.126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600" dirty="0" smtClean="0"/>
                        <a:t>192.168.15.127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3825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WAN1 –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GB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1817470" y="4187022"/>
            <a:ext cx="6997428" cy="7571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l" eaLnBrk="1" fontAlgn="t" hangingPunct="1"/>
            <a:endParaRPr lang="en-GB" sz="1600" dirty="0" smtClean="0"/>
          </a:p>
          <a:p>
            <a:pPr algn="l" eaLnBrk="1" fontAlgn="t" hangingPunct="1"/>
            <a:endParaRPr lang="en-GB" sz="1600" dirty="0"/>
          </a:p>
          <a:p>
            <a:pPr algn="l" eaLnBrk="1" fontAlgn="t" hangingPunct="1"/>
            <a:r>
              <a:rPr lang="en-GB" sz="1600" dirty="0" smtClean="0"/>
              <a:t>192.168.15.128 /30	   192.168.15.129 – 192.168.15.130     192.168.15.131</a:t>
            </a:r>
            <a:endParaRPr lang="en-US" sz="1600" dirty="0"/>
          </a:p>
        </p:txBody>
      </p:sp>
    </p:spTree>
    <p:extLst>
      <p:ext uri="{BB962C8B-B14F-4D97-AF65-F5344CB8AC3E}">
        <p14:creationId xmlns:p14="http://schemas.microsoft.com/office/powerpoint/2010/main" val="37742171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</p:bldLst>
  </p:timing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394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err="1">
                <a:ea typeface="ＭＳ Ｐゴシック" pitchFamily="34" charset="-128"/>
              </a:rPr>
              <a:t>Subnetting</a:t>
            </a:r>
            <a:r>
              <a:rPr lang="en-US" altLang="ja-JP" sz="2800" dirty="0">
                <a:ea typeface="ＭＳ Ｐゴシック" pitchFamily="34" charset="-128"/>
              </a:rPr>
              <a:t> – VLSM</a:t>
            </a:r>
            <a:endParaRPr lang="en-US" sz="2800" dirty="0" smtClean="0"/>
          </a:p>
        </p:txBody>
      </p:sp>
      <p:sp>
        <p:nvSpPr>
          <p:cNvPr id="59395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106488"/>
            <a:ext cx="8645689" cy="5362575"/>
          </a:xfrm>
        </p:spPr>
        <p:txBody>
          <a:bodyPr/>
          <a:lstStyle/>
          <a:p>
            <a:r>
              <a:rPr lang="en-GB" sz="2400" dirty="0" smtClean="0"/>
              <a:t>The entire table is:-</a:t>
            </a:r>
          </a:p>
          <a:p>
            <a:endParaRPr lang="en-GB" sz="2400" dirty="0"/>
          </a:p>
          <a:p>
            <a:endParaRPr lang="en-GB" sz="2400" dirty="0" smtClean="0"/>
          </a:p>
          <a:p>
            <a:pPr marL="457200" lvl="1" indent="0">
              <a:buNone/>
            </a:pPr>
            <a:endParaRPr lang="en-US" sz="2000" dirty="0" smtClean="0"/>
          </a:p>
          <a:p>
            <a:endParaRPr lang="en-GB" sz="2400" dirty="0" smtClean="0"/>
          </a:p>
        </p:txBody>
      </p:sp>
      <p:graphicFrame>
        <p:nvGraphicFramePr>
          <p:cNvPr id="8" name="Table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030161239"/>
              </p:ext>
            </p:extLst>
          </p:nvPr>
        </p:nvGraphicFramePr>
        <p:xfrm>
          <a:off x="220714" y="1964558"/>
          <a:ext cx="8734100" cy="3821163"/>
        </p:xfrm>
        <a:graphic>
          <a:graphicData uri="http://schemas.openxmlformats.org/drawingml/2006/table">
            <a:tbl>
              <a:tblPr firstRow="1" bandRow="1">
                <a:tableStyleId>{BDBED569-4797-4DF1-A0F4-6AAB3CD982D8}</a:tableStyleId>
              </a:tblPr>
              <a:tblGrid>
                <a:gridCol w="12770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3375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405352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798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406707"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Subnet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Subnet </a:t>
                      </a:r>
                      <a:r>
                        <a:rPr lang="en-GB" sz="1400" dirty="0" err="1" smtClean="0"/>
                        <a:t>Addr</a:t>
                      </a:r>
                      <a:r>
                        <a:rPr lang="en-GB" sz="1400" dirty="0" smtClean="0"/>
                        <a:t>/Prefix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GB" sz="1400" dirty="0" smtClean="0"/>
                        <a:t> Usable </a:t>
                      </a:r>
                      <a:r>
                        <a:rPr lang="en-GB" sz="1400" dirty="0" err="1" smtClean="0"/>
                        <a:t>Addr</a:t>
                      </a:r>
                      <a:r>
                        <a:rPr lang="en-GB" sz="1400" dirty="0" smtClean="0"/>
                        <a:t> Range</a:t>
                      </a:r>
                      <a:endParaRPr lang="en-US" sz="1400" b="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dirty="0" smtClean="0"/>
                        <a:t>Broadcast </a:t>
                      </a:r>
                      <a:r>
                        <a:rPr lang="en-GB" sz="1400" dirty="0" err="1" smtClean="0"/>
                        <a:t>Addr</a:t>
                      </a:r>
                      <a:endParaRPr lang="en-GB" sz="14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4727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err="1" smtClean="0"/>
                        <a:t>AtlantaHQ</a:t>
                      </a:r>
                      <a:r>
                        <a:rPr lang="en-GB" sz="1400" b="1" dirty="0" smtClean="0"/>
                        <a:t> – 58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192.168.15.0 /26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</a:t>
                      </a:r>
                      <a:r>
                        <a:rPr lang="en-GB" sz="1600" baseline="0" dirty="0" smtClean="0"/>
                        <a:t> – 192.168.15.62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smtClean="0"/>
                        <a:t>192.168.15.63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47272">
                <a:tc>
                  <a:txBody>
                    <a:bodyPr/>
                    <a:lstStyle/>
                    <a:p>
                      <a:r>
                        <a:rPr lang="en-GB" sz="1400" b="1" dirty="0" err="1" smtClean="0"/>
                        <a:t>PerthHQ</a:t>
                      </a:r>
                      <a:r>
                        <a:rPr lang="en-GB" sz="1400" b="1" dirty="0" smtClean="0"/>
                        <a:t> – 26</a:t>
                      </a:r>
                      <a:endParaRPr lang="en-US" sz="1400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1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192.168.15.64 /27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192.168.15.65</a:t>
                      </a:r>
                      <a:r>
                        <a:rPr lang="en-GB" sz="1600" baseline="0" dirty="0" smtClean="0"/>
                        <a:t> – 192.168.15.94</a:t>
                      </a:r>
                      <a:endParaRPr lang="en-US" sz="1600" dirty="0" smtClean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600" dirty="0" smtClean="0"/>
                        <a:t>192.168.15.95</a:t>
                      </a:r>
                      <a:endParaRPr lang="en-US" sz="1600" dirty="0" smtClean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4727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err="1" smtClean="0"/>
                        <a:t>SydneyHQ</a:t>
                      </a:r>
                      <a:r>
                        <a:rPr lang="en-GB" sz="1400" b="1" dirty="0" smtClean="0"/>
                        <a:t>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192.168.15.96 /28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192.168.15.97</a:t>
                      </a:r>
                      <a:r>
                        <a:rPr lang="en-GB" sz="1600" baseline="0" dirty="0" smtClean="0"/>
                        <a:t> – 192.168.15.110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192.168.15.111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4727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err="1" smtClean="0"/>
                        <a:t>CorpusHQ</a:t>
                      </a:r>
                      <a:r>
                        <a:rPr lang="en-GB" sz="1400" b="1" dirty="0" smtClean="0"/>
                        <a:t> – 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192.168.15.112 /28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192.168.15.113</a:t>
                      </a:r>
                      <a:r>
                        <a:rPr lang="en-GB" sz="1600" baseline="0" dirty="0" smtClean="0"/>
                        <a:t> – 192.168.15.126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192.168.15.127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4727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smtClean="0"/>
                        <a:t>WAN1 –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192.168.15.128 /30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192.168.15.129</a:t>
                      </a:r>
                      <a:r>
                        <a:rPr lang="en-GB" sz="1600" baseline="0" dirty="0" smtClean="0"/>
                        <a:t> – 192.168.15.130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192.168.15.131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4727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smtClean="0"/>
                        <a:t>WAN2 –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192.168.15.132 /30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192.168.15.133</a:t>
                      </a:r>
                      <a:r>
                        <a:rPr lang="en-GB" sz="1600" baseline="0" dirty="0" smtClean="0"/>
                        <a:t> – 192.168.15.134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192.168.15.135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47272">
                <a:tc>
                  <a:txBody>
                    <a:bodyPr/>
                    <a:lstStyle/>
                    <a:p>
                      <a:pPr marL="0" marR="0" lvl="1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GB" sz="1400" b="1" dirty="0" smtClean="0"/>
                        <a:t>WAN3</a:t>
                      </a:r>
                      <a:r>
                        <a:rPr lang="en-GB" sz="1400" b="1" baseline="0" dirty="0" smtClean="0"/>
                        <a:t> </a:t>
                      </a:r>
                      <a:r>
                        <a:rPr lang="en-GB" sz="1400" b="1" dirty="0" smtClean="0"/>
                        <a:t>– 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192.168.15.136 /30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192.168.15.137</a:t>
                      </a:r>
                      <a:r>
                        <a:rPr lang="en-GB" sz="1600" baseline="0" dirty="0" smtClean="0"/>
                        <a:t> – 192.168.15.138</a:t>
                      </a:r>
                      <a:endParaRPr lang="en-US" sz="16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GB" sz="1600" dirty="0" smtClean="0"/>
                        <a:t>192.168.15.139</a:t>
                      </a:r>
                      <a:endParaRPr lang="en-US" sz="16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5594532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211138"/>
            <a:ext cx="8488363" cy="838200"/>
          </a:xfrm>
        </p:spPr>
        <p:txBody>
          <a:bodyPr/>
          <a:lstStyle/>
          <a:p>
            <a:pPr eaLnBrk="1" hangingPunct="1"/>
            <a:r>
              <a:rPr lang="en-US" altLang="ja-JP" sz="2800" dirty="0" err="1" smtClean="0">
                <a:ea typeface="ＭＳ Ｐゴシック" pitchFamily="34" charset="-128"/>
              </a:rPr>
              <a:t>Practise</a:t>
            </a:r>
            <a:r>
              <a:rPr lang="en-US" altLang="ja-JP" sz="2800" dirty="0" smtClean="0">
                <a:ea typeface="ＭＳ Ｐゴシック" pitchFamily="34" charset="-128"/>
              </a:rPr>
              <a:t>, </a:t>
            </a:r>
            <a:r>
              <a:rPr lang="en-US" altLang="ja-JP" sz="2800" dirty="0" err="1" smtClean="0">
                <a:ea typeface="ＭＳ Ｐゴシック" pitchFamily="34" charset="-128"/>
              </a:rPr>
              <a:t>Practise</a:t>
            </a:r>
            <a:r>
              <a:rPr lang="en-US" altLang="ja-JP" sz="2800" dirty="0" smtClean="0">
                <a:ea typeface="ＭＳ Ｐゴシック" pitchFamily="34" charset="-128"/>
              </a:rPr>
              <a:t> and </a:t>
            </a:r>
            <a:r>
              <a:rPr lang="en-US" altLang="ja-JP" sz="2800" dirty="0" err="1" smtClean="0">
                <a:ea typeface="ＭＳ Ｐゴシック" pitchFamily="34" charset="-128"/>
              </a:rPr>
              <a:t>Practise</a:t>
            </a:r>
            <a:endParaRPr lang="en-US" sz="2800" dirty="0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106488"/>
            <a:ext cx="8645689" cy="5362575"/>
          </a:xfrm>
        </p:spPr>
        <p:txBody>
          <a:bodyPr/>
          <a:lstStyle/>
          <a:p>
            <a:r>
              <a:rPr lang="en-US" sz="2400" dirty="0" smtClean="0"/>
              <a:t>Host addressing practice exercises at</a:t>
            </a:r>
          </a:p>
          <a:p>
            <a:pPr lvl="1"/>
            <a:r>
              <a:rPr lang="en-GB" dirty="0" smtClean="0"/>
              <a:t>6.5.4	Determining the Network Address</a:t>
            </a:r>
          </a:p>
          <a:p>
            <a:pPr lvl="1"/>
            <a:r>
              <a:rPr lang="en-GB" dirty="0" smtClean="0"/>
              <a:t>6.5.5	Calculating the Number of Hosts</a:t>
            </a:r>
          </a:p>
          <a:p>
            <a:pPr lvl="1"/>
            <a:r>
              <a:rPr lang="en-GB" dirty="0" smtClean="0"/>
              <a:t>6.5.6	Determining Valid Addresses for Hosts</a:t>
            </a:r>
          </a:p>
          <a:p>
            <a:endParaRPr lang="en-GB" sz="2400" dirty="0" smtClean="0"/>
          </a:p>
          <a:p>
            <a:endParaRPr lang="en-GB" sz="2400" dirty="0"/>
          </a:p>
          <a:p>
            <a:endParaRPr lang="en-GB" sz="2400" dirty="0" smtClean="0"/>
          </a:p>
          <a:p>
            <a:endParaRPr lang="en-GB" sz="2400" dirty="0" smtClean="0"/>
          </a:p>
          <a:p>
            <a:pPr lvl="1"/>
            <a:endParaRPr lang="en-US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42" name="Rectangle 2"/>
          <p:cNvSpPr>
            <a:spLocks noGrp="1" noChangeArrowheads="1"/>
          </p:cNvSpPr>
          <p:nvPr>
            <p:ph type="title"/>
          </p:nvPr>
        </p:nvSpPr>
        <p:spPr>
          <a:xfrm>
            <a:off x="276225" y="567559"/>
            <a:ext cx="8488363" cy="756743"/>
          </a:xfrm>
        </p:spPr>
        <p:txBody>
          <a:bodyPr/>
          <a:lstStyle/>
          <a:p>
            <a:pPr eaLnBrk="1" hangingPunct="1"/>
            <a:r>
              <a:rPr lang="en-US" altLang="ja-JP" dirty="0" smtClean="0">
                <a:ea typeface="ＭＳ Ｐゴシック" pitchFamily="34" charset="-128"/>
              </a:rPr>
              <a:t>Summary</a:t>
            </a:r>
            <a:endParaRPr lang="en-US" dirty="0" smtClean="0"/>
          </a:p>
        </p:txBody>
      </p:sp>
      <p:sp>
        <p:nvSpPr>
          <p:cNvPr id="614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246062" y="1513490"/>
            <a:ext cx="8645689" cy="4955573"/>
          </a:xfrm>
        </p:spPr>
        <p:txBody>
          <a:bodyPr/>
          <a:lstStyle/>
          <a:p>
            <a:r>
              <a:rPr lang="en-GB" sz="2400" dirty="0" smtClean="0"/>
              <a:t>Anatomy of an IPv4 address</a:t>
            </a:r>
          </a:p>
          <a:p>
            <a:r>
              <a:rPr lang="en-GB" sz="2400" dirty="0" smtClean="0"/>
              <a:t>Binary to Decimal; Decimal to Binary Conversion</a:t>
            </a:r>
          </a:p>
          <a:p>
            <a:r>
              <a:rPr lang="en-GB" sz="2400" dirty="0" smtClean="0"/>
              <a:t>3 Types of IPv4 addresses</a:t>
            </a:r>
          </a:p>
          <a:p>
            <a:pPr lvl="1"/>
            <a:r>
              <a:rPr lang="en-GB" sz="2000" dirty="0" smtClean="0"/>
              <a:t>Network, usable hosts and Broadcast</a:t>
            </a:r>
          </a:p>
          <a:p>
            <a:r>
              <a:rPr lang="en-GB" sz="2400" dirty="0" smtClean="0"/>
              <a:t>Calculate Network, Host and Broadcast addresses</a:t>
            </a:r>
          </a:p>
          <a:p>
            <a:r>
              <a:rPr lang="en-GB" sz="2400" dirty="0" err="1" smtClean="0"/>
              <a:t>Subnetting</a:t>
            </a:r>
            <a:r>
              <a:rPr lang="en-GB" sz="2400" dirty="0" smtClean="0"/>
              <a:t> with FLSM </a:t>
            </a:r>
          </a:p>
          <a:p>
            <a:r>
              <a:rPr lang="en-GB" sz="2400" dirty="0" err="1" smtClean="0"/>
              <a:t>Subnetting</a:t>
            </a:r>
            <a:r>
              <a:rPr lang="en-GB" sz="2400" dirty="0" smtClean="0"/>
              <a:t> with VLSM</a:t>
            </a:r>
          </a:p>
          <a:p>
            <a:endParaRPr lang="en-GB" sz="2400" dirty="0" smtClean="0"/>
          </a:p>
          <a:p>
            <a:pPr lvl="1"/>
            <a:endParaRPr lang="en-US" dirty="0" smtClean="0"/>
          </a:p>
        </p:txBody>
      </p:sp>
    </p:spTree>
    <p:extLst>
      <p:ext uri="{BB962C8B-B14F-4D97-AF65-F5344CB8AC3E}">
        <p14:creationId xmlns:p14="http://schemas.microsoft.com/office/powerpoint/2010/main" val="27881376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/>
              <a:t>Today’s Practical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sz="2400" smtClean="0"/>
              <a:t>Lab 1c: Subnet </a:t>
            </a:r>
            <a:r>
              <a:rPr lang="en-GB" sz="2400" dirty="0" smtClean="0"/>
              <a:t>and Router Configuration</a:t>
            </a:r>
          </a:p>
          <a:p>
            <a:pPr lvl="1"/>
            <a:r>
              <a:rPr lang="en-GB" sz="2000" dirty="0" smtClean="0"/>
              <a:t>VLSM</a:t>
            </a:r>
            <a:endParaRPr lang="en-US" sz="2000" dirty="0"/>
          </a:p>
        </p:txBody>
      </p:sp>
    </p:spTree>
    <p:extLst>
      <p:ext uri="{BB962C8B-B14F-4D97-AF65-F5344CB8AC3E}">
        <p14:creationId xmlns:p14="http://schemas.microsoft.com/office/powerpoint/2010/main" val="35463216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2006_Title/Bullet_Cisco White Temp">
  <a:themeElements>
    <a:clrScheme name="2006_Title/Bullet_Cisco White Temp 1">
      <a:dk1>
        <a:srgbClr val="000000"/>
      </a:dk1>
      <a:lt1>
        <a:srgbClr val="FFFFFF"/>
      </a:lt1>
      <a:dk2>
        <a:srgbClr val="0183B7"/>
      </a:dk2>
      <a:lt2>
        <a:srgbClr val="8E8E95"/>
      </a:lt2>
      <a:accent1>
        <a:srgbClr val="0183B7"/>
      </a:accent1>
      <a:accent2>
        <a:srgbClr val="B21A1A"/>
      </a:accent2>
      <a:accent3>
        <a:srgbClr val="FFFFFF"/>
      </a:accent3>
      <a:accent4>
        <a:srgbClr val="000000"/>
      </a:accent4>
      <a:accent5>
        <a:srgbClr val="AAC1D8"/>
      </a:accent5>
      <a:accent6>
        <a:srgbClr val="A11616"/>
      </a:accent6>
      <a:hlink>
        <a:srgbClr val="83A2CF"/>
      </a:hlink>
      <a:folHlink>
        <a:srgbClr val="EFB525"/>
      </a:folHlink>
    </a:clrScheme>
    <a:fontScheme name="2006_Title/Bullet_Cisco White Temp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82296" tIns="36576" rIns="82296" bIns="36576" numCol="1" anchor="t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19050" cap="flat" cmpd="sng" algn="ctr">
          <a:solidFill>
            <a:srgbClr val="FF0000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square" lIns="82296" tIns="36576" rIns="82296" bIns="36576" numCol="1" anchor="t" anchorCtr="0" compatLnSpc="1">
        <a:prstTxWarp prst="textNoShape">
          <a:avLst/>
        </a:prstTxWarp>
        <a:spAutoFit/>
      </a:bodyPr>
      <a:lstStyle>
        <a:defPPr marL="0" marR="0" indent="0" algn="ctr" defTabSz="814388" rtl="0" eaLnBrk="0" fontAlgn="base" latinLnBrk="0" hangingPunct="0">
          <a:lnSpc>
            <a:spcPct val="9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4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charset="0"/>
          </a:defRPr>
        </a:defPPr>
      </a:lstStyle>
    </a:lnDef>
  </a:objectDefaults>
  <a:extraClrSchemeLst>
    <a:extraClrScheme>
      <a:clrScheme name="2006_Title/Bullet_Cisco White Temp 1">
        <a:dk1>
          <a:srgbClr val="000000"/>
        </a:dk1>
        <a:lt1>
          <a:srgbClr val="FFFFFF"/>
        </a:lt1>
        <a:dk2>
          <a:srgbClr val="0183B7"/>
        </a:dk2>
        <a:lt2>
          <a:srgbClr val="8E8E95"/>
        </a:lt2>
        <a:accent1>
          <a:srgbClr val="0183B7"/>
        </a:accent1>
        <a:accent2>
          <a:srgbClr val="B21A1A"/>
        </a:accent2>
        <a:accent3>
          <a:srgbClr val="FFFFFF"/>
        </a:accent3>
        <a:accent4>
          <a:srgbClr val="000000"/>
        </a:accent4>
        <a:accent5>
          <a:srgbClr val="AAC1D8"/>
        </a:accent5>
        <a:accent6>
          <a:srgbClr val="A11616"/>
        </a:accent6>
        <a:hlink>
          <a:srgbClr val="83A2CF"/>
        </a:hlink>
        <a:folHlink>
          <a:srgbClr val="EFB525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919191"/>
      </a:lt2>
      <a:accent1>
        <a:srgbClr val="618FFD"/>
      </a:accent1>
      <a:accent2>
        <a:srgbClr val="00AE00"/>
      </a:accent2>
      <a:accent3>
        <a:srgbClr val="FFFFFF"/>
      </a:accent3>
      <a:accent4>
        <a:srgbClr val="000000"/>
      </a:accent4>
      <a:accent5>
        <a:srgbClr val="B7C6FE"/>
      </a:accent5>
      <a:accent6>
        <a:srgbClr val="009D00"/>
      </a:accent6>
      <a:hlink>
        <a:srgbClr val="FC0128"/>
      </a:hlink>
      <a:folHlink>
        <a:srgbClr val="CECECE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Ciscopresentationwhite.10.3.06</Template>
  <TotalTime>9095</TotalTime>
  <Pages>28</Pages>
  <Words>2427</Words>
  <Application>Microsoft Office PowerPoint</Application>
  <PresentationFormat>On-screen Show (4:3)</PresentationFormat>
  <Paragraphs>660</Paragraphs>
  <Slides>46</Slides>
  <Notes>34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50" baseType="lpstr">
      <vt:lpstr>ＭＳ Ｐゴシック</vt:lpstr>
      <vt:lpstr>Arial</vt:lpstr>
      <vt:lpstr>Wingdings</vt:lpstr>
      <vt:lpstr>2006_Title/Bullet_Cisco White Temp</vt:lpstr>
      <vt:lpstr>Addressing The Network – IPv4  2018 S1</vt:lpstr>
      <vt:lpstr>Overview</vt:lpstr>
      <vt:lpstr>The Anatomy of an IPv4 Address</vt:lpstr>
      <vt:lpstr>Binary to Decimal Conversion</vt:lpstr>
      <vt:lpstr>Binary to Decimal Conversion</vt:lpstr>
      <vt:lpstr>Binary to Decimal Conversion</vt:lpstr>
      <vt:lpstr>Binary to Decimal Conversion</vt:lpstr>
      <vt:lpstr>Binary to Decimal Conversion</vt:lpstr>
      <vt:lpstr>Decimal to Binary Conversion</vt:lpstr>
      <vt:lpstr>Decimal to Binary Conversions</vt:lpstr>
      <vt:lpstr>Binary to Decimal Conversation</vt:lpstr>
      <vt:lpstr>PowerPoint Presentation</vt:lpstr>
      <vt:lpstr>Types of Addresses in an IPv4 Network</vt:lpstr>
      <vt:lpstr>Types of Addresses in an IPv4 Network</vt:lpstr>
      <vt:lpstr>Types of Addresses in an IPv4 Network</vt:lpstr>
      <vt:lpstr>PowerPoint Presentation</vt:lpstr>
      <vt:lpstr>IPv4 Network: Network Prefixes</vt:lpstr>
      <vt:lpstr>Calculating Network, Hosts, and Broadcast Address</vt:lpstr>
      <vt:lpstr>Calculating Network, Hosts, and Broadcast Address</vt:lpstr>
      <vt:lpstr>Calculating Network, Hosts, and Broadcast Address</vt:lpstr>
      <vt:lpstr>Calculating Network, Hosts, and Broadcast Address</vt:lpstr>
      <vt:lpstr>Questions</vt:lpstr>
      <vt:lpstr>Subnetting</vt:lpstr>
      <vt:lpstr>Basic Subnetting</vt:lpstr>
      <vt:lpstr>PowerPoint Presentation</vt:lpstr>
      <vt:lpstr>PowerPoint Presentation</vt:lpstr>
      <vt:lpstr>Basic Subnetting</vt:lpstr>
      <vt:lpstr>Basic Subnetting</vt:lpstr>
      <vt:lpstr>Basic Subnetting (2 subnets)</vt:lpstr>
      <vt:lpstr>Basic Subnetting (3 subnets)</vt:lpstr>
      <vt:lpstr>Basic Subnetting (3 subnets)</vt:lpstr>
      <vt:lpstr>Today’s Practical</vt:lpstr>
      <vt:lpstr>This Week’s Task</vt:lpstr>
      <vt:lpstr>What’s On Next Week</vt:lpstr>
      <vt:lpstr>Subnetting</vt:lpstr>
      <vt:lpstr>Subnetting – VLSM</vt:lpstr>
      <vt:lpstr>Subnetting – VLSM</vt:lpstr>
      <vt:lpstr>Subnetting – VLSM</vt:lpstr>
      <vt:lpstr>Subnetting – VLSM</vt:lpstr>
      <vt:lpstr>Subnetting – VLSM</vt:lpstr>
      <vt:lpstr>Subnetting – VLSM</vt:lpstr>
      <vt:lpstr>Subnetting – VLSM</vt:lpstr>
      <vt:lpstr>Subnetting – VLSM</vt:lpstr>
      <vt:lpstr>Practise, Practise and Practise</vt:lpstr>
      <vt:lpstr>Summary</vt:lpstr>
      <vt:lpstr>Today’s Practical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NYP IT7541 IPv4 Revision</dc:title>
  <dc:creator>TAN WEE CHUAN</dc:creator>
  <cp:lastModifiedBy>HOO BRYAN</cp:lastModifiedBy>
  <cp:revision>558</cp:revision>
  <cp:lastPrinted>2012-04-15T00:46:48Z</cp:lastPrinted>
  <dcterms:created xsi:type="dcterms:W3CDTF">2002-08-27T12:04:17Z</dcterms:created>
  <dcterms:modified xsi:type="dcterms:W3CDTF">2018-03-22T09:00:55Z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Jenita Bangloy">
    <vt:lpwstr>12.21.01 - Copyright date changed to 2002</vt:lpwstr>
  </property>
  <property fmtid="{D5CDD505-2E9C-101B-9397-08002B2CF9AE}" pid="3" name="Jenita ">
    <vt:lpwstr>12.21.01 - Line tool now defaults to 3 points size and black color. Previous version created white line which is not visible</vt:lpwstr>
  </property>
  <property fmtid="{D5CDD505-2E9C-101B-9397-08002B2CF9AE}" pid="4" name="JBangloy">
    <vt:lpwstr>12.21.01 - All remaining Helvetica changed to Arial</vt:lpwstr>
  </property>
</Properties>
</file>