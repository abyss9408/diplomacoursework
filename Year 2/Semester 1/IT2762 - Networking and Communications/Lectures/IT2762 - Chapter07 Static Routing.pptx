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  <p:sldMasterId id="2147483945" r:id="rId2"/>
  </p:sldMasterIdLst>
  <p:notesMasterIdLst>
    <p:notesMasterId r:id="rId25"/>
  </p:notesMasterIdLst>
  <p:handoutMasterIdLst>
    <p:handoutMasterId r:id="rId26"/>
  </p:handoutMasterIdLst>
  <p:sldIdLst>
    <p:sldId id="500" r:id="rId3"/>
    <p:sldId id="541" r:id="rId4"/>
    <p:sldId id="821" r:id="rId5"/>
    <p:sldId id="825" r:id="rId6"/>
    <p:sldId id="888" r:id="rId7"/>
    <p:sldId id="889" r:id="rId8"/>
    <p:sldId id="828" r:id="rId9"/>
    <p:sldId id="833" r:id="rId10"/>
    <p:sldId id="835" r:id="rId11"/>
    <p:sldId id="830" r:id="rId12"/>
    <p:sldId id="840" r:id="rId13"/>
    <p:sldId id="838" r:id="rId14"/>
    <p:sldId id="890" r:id="rId15"/>
    <p:sldId id="891" r:id="rId16"/>
    <p:sldId id="842" r:id="rId17"/>
    <p:sldId id="846" r:id="rId18"/>
    <p:sldId id="849" r:id="rId19"/>
    <p:sldId id="847" r:id="rId20"/>
    <p:sldId id="856" r:id="rId21"/>
    <p:sldId id="865" r:id="rId22"/>
    <p:sldId id="866" r:id="rId23"/>
    <p:sldId id="824" r:id="rId24"/>
  </p:sldIdLst>
  <p:sldSz cx="9144000" cy="6858000" type="screen4x3"/>
  <p:notesSz cx="7010400" cy="9296400"/>
  <p:defaultTextStyle>
    <a:defPPr>
      <a:defRPr lang="en-US"/>
    </a:defPPr>
    <a:lvl1pPr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ane Gibbons" initials="JG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0C4"/>
    <a:srgbClr val="678DC5"/>
    <a:srgbClr val="3E67A4"/>
    <a:srgbClr val="3E8DC5"/>
    <a:srgbClr val="5F5F65"/>
    <a:srgbClr val="7E7E86"/>
    <a:srgbClr val="FFFFFF"/>
    <a:srgbClr val="8E8E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76" autoAdjust="0"/>
    <p:restoredTop sz="92507" autoAdjust="0"/>
  </p:normalViewPr>
  <p:slideViewPr>
    <p:cSldViewPr snapToGrid="0">
      <p:cViewPr>
        <p:scale>
          <a:sx n="70" d="100"/>
          <a:sy n="70" d="100"/>
        </p:scale>
        <p:origin x="-330" y="-2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022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1.xml"/><Relationship Id="rId13" Type="http://schemas.openxmlformats.org/officeDocument/2006/relationships/slide" Target="slides/slide16.xml"/><Relationship Id="rId18" Type="http://schemas.openxmlformats.org/officeDocument/2006/relationships/slide" Target="slides/slide21.xml"/><Relationship Id="rId3" Type="http://schemas.openxmlformats.org/officeDocument/2006/relationships/slide" Target="slides/slide6.xml"/><Relationship Id="rId7" Type="http://schemas.openxmlformats.org/officeDocument/2006/relationships/slide" Target="slides/slide10.xml"/><Relationship Id="rId12" Type="http://schemas.openxmlformats.org/officeDocument/2006/relationships/slide" Target="slides/slide15.xml"/><Relationship Id="rId17" Type="http://schemas.openxmlformats.org/officeDocument/2006/relationships/slide" Target="slides/slide20.xml"/><Relationship Id="rId2" Type="http://schemas.openxmlformats.org/officeDocument/2006/relationships/slide" Target="slides/slide5.xml"/><Relationship Id="rId16" Type="http://schemas.openxmlformats.org/officeDocument/2006/relationships/slide" Target="slides/slide19.xml"/><Relationship Id="rId1" Type="http://schemas.openxmlformats.org/officeDocument/2006/relationships/slide" Target="slides/slide4.xml"/><Relationship Id="rId6" Type="http://schemas.openxmlformats.org/officeDocument/2006/relationships/slide" Target="slides/slide9.xml"/><Relationship Id="rId11" Type="http://schemas.openxmlformats.org/officeDocument/2006/relationships/slide" Target="slides/slide14.xml"/><Relationship Id="rId5" Type="http://schemas.openxmlformats.org/officeDocument/2006/relationships/slide" Target="slides/slide8.xml"/><Relationship Id="rId15" Type="http://schemas.openxmlformats.org/officeDocument/2006/relationships/slide" Target="slides/slide18.xml"/><Relationship Id="rId10" Type="http://schemas.openxmlformats.org/officeDocument/2006/relationships/slide" Target="slides/slide13.xml"/><Relationship Id="rId4" Type="http://schemas.openxmlformats.org/officeDocument/2006/relationships/slide" Target="slides/slide7.xml"/><Relationship Id="rId9" Type="http://schemas.openxmlformats.org/officeDocument/2006/relationships/slide" Target="slides/slide12.xml"/><Relationship Id="rId14" Type="http://schemas.openxmlformats.org/officeDocument/2006/relationships/slide" Target="slides/slide1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1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7283" name="Rectangle 12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© 2006, Cisco Systems, Inc. All rights reserved.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Presentation_ID.scr</a:t>
            </a:r>
          </a:p>
        </p:txBody>
      </p:sp>
      <p:sp>
        <p:nvSpPr>
          <p:cNvPr id="97284" name="Line 13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7285" name="Rectangle 14"/>
          <p:cNvSpPr>
            <a:spLocks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819" tIns="0" rIns="18819" bIns="0" anchor="b"/>
          <a:lstStyle/>
          <a:p>
            <a:pPr algn="r" defTabSz="903288">
              <a:lnSpc>
                <a:spcPct val="100000"/>
              </a:lnSpc>
              <a:defRPr/>
            </a:pPr>
            <a:fld id="{DA18195A-CB64-47E2-B402-53696444ACC8}" type="slidenum">
              <a:rPr lang="en-US" sz="800"/>
              <a:pPr algn="r" defTabSz="903288">
                <a:lnSpc>
                  <a:spcPct val="100000"/>
                </a:lnSpc>
                <a:defRPr/>
              </a:pPr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5365603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8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51203" name="Rectangle 9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© 2006, Cisco Systems, Inc. All rights reserved.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Presentation_ID.scr</a:t>
            </a:r>
          </a:p>
        </p:txBody>
      </p:sp>
      <p:sp>
        <p:nvSpPr>
          <p:cNvPr id="51204" name="Line 10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83307" name="Rectangle 1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819" tIns="0" rIns="18819" bIns="0" numCol="1" anchor="b" anchorCtr="0" compatLnSpc="1">
            <a:prstTxWarp prst="textNoShape">
              <a:avLst/>
            </a:prstTxWarp>
          </a:bodyPr>
          <a:lstStyle>
            <a:lvl1pPr algn="r" defTabSz="903288">
              <a:lnSpc>
                <a:spcPct val="100000"/>
              </a:lnSpc>
              <a:defRPr sz="800"/>
            </a:lvl1pPr>
          </a:lstStyle>
          <a:p>
            <a:pPr>
              <a:defRPr/>
            </a:pPr>
            <a:fld id="{1C615CF7-9F59-4C8A-B650-E68E69E0FCF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4278" name="Rectangle 1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3125" y="244475"/>
            <a:ext cx="5321300" cy="3990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83309" name="Rectangle 1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68350" y="4378325"/>
            <a:ext cx="5468938" cy="425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67" tIns="50185" rIns="95667" bIns="501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Body Text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6782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1020763" rtl="0" eaLnBrk="0" fontAlgn="base" hangingPunct="0">
      <a:lnSpc>
        <a:spcPct val="90000"/>
      </a:lnSpc>
      <a:spcBef>
        <a:spcPct val="50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82600" indent="-120650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667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4493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9319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1347AE-0112-4774-B739-631BBB092071}" type="slidenum">
              <a:rPr lang="en-US" smtClean="0"/>
              <a:pPr/>
              <a:t>1</a:t>
            </a:fld>
            <a:endParaRPr lang="en-US" smtClean="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Cisco Networking Academy program</a:t>
            </a:r>
          </a:p>
          <a:p>
            <a:pPr>
              <a:buFontTx/>
              <a:buNone/>
            </a:pPr>
            <a:r>
              <a:rPr lang="en-US" b="1" dirty="0" smtClean="0"/>
              <a:t>Routing</a:t>
            </a:r>
            <a:r>
              <a:rPr lang="en-US" b="1" baseline="0" dirty="0" smtClean="0"/>
              <a:t> Protocols</a:t>
            </a:r>
            <a:endParaRPr lang="en-US" b="1" dirty="0" smtClean="0"/>
          </a:p>
          <a:p>
            <a:pPr>
              <a:buFontTx/>
              <a:buNone/>
            </a:pPr>
            <a:r>
              <a:rPr lang="en-US" sz="1300" b="1" dirty="0" smtClean="0"/>
              <a:t>Chapter 6: Static Routing</a:t>
            </a:r>
            <a:endParaRPr lang="en-GB" b="1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13E50C7-A33A-4B96-B5B8-3BD9C10BC48C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Chapter 6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6.1.1.1 Reach Remote Networks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6.1.1.2 Why Use Static Routing?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6.1.1.2 Why Use Static Routing?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7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6.1.2.1 Static Route Applications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6.2.1.1 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ip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route Command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9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6.2.1.3 Configure a Next-Hop Static Route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10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6.1.2.3 Default Static Route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11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6.2.2.2 Configure a Default Static Route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12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6.2.1.6 Verify a Static Route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13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6.2.1.6 Verify a Static Route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14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6.2.1.6 Verify a Static Route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15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6.2.3.1 The 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ipv6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route Command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16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6.2.3.3 Configure a Next-Hop Static 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IPv6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Route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17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6.2.4.2 Configure a Default Static 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IPv6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Route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18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6.2.3.6 Verify 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IPv6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Static Routes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19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6.3.2.2 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CIDR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and Route Summarization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20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6.4.1.2 Calculate a Summary Route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21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6.4.1.3 Summary Static Route Example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Chapter 6 Summary</a:t>
            </a:r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7FA372-31D3-4433-A73B-79DE0EBFB8F4}" type="slidenum">
              <a:rPr lang="en-US" smtClean="0"/>
              <a:pPr/>
              <a:t>22</a:t>
            </a:fld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_CoverArt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93888"/>
            <a:ext cx="9140825" cy="244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2007 – 2010, Cisco Systems, Inc. All rights reserved.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Public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Chapter 1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8549DCE3-6259-4D7A-B1A4-505BEFE2CF19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pic>
        <p:nvPicPr>
          <p:cNvPr id="9" name="Picture 9" descr="Cisco_New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0" descr="Cisc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90247" name="Rectangle 7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9024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798513"/>
            <a:ext cx="8145462" cy="838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55638" y="2014538"/>
            <a:ext cx="7940675" cy="3571875"/>
          </a:xfrm>
        </p:spPr>
        <p:txBody>
          <a:bodyPr/>
          <a:lstStyle/>
          <a:p>
            <a:pPr lvl="0"/>
            <a:endParaRPr lang="en-US" noProof="0" dirty="0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PPt_4face_021208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911350"/>
            <a:ext cx="9144000" cy="243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78"/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6" name="Rectangle 279"/>
          <p:cNvSpPr>
            <a:spLocks noChangeArrowheads="1"/>
          </p:cNvSpPr>
          <p:nvPr/>
        </p:nvSpPr>
        <p:spPr bwMode="auto">
          <a:xfrm>
            <a:off x="6896100" y="6672263"/>
            <a:ext cx="877888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Confidential</a:t>
            </a:r>
          </a:p>
        </p:txBody>
      </p:sp>
      <p:sp>
        <p:nvSpPr>
          <p:cNvPr id="7" name="Rectangle 280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8" name="Rectangle 281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68B39EAB-15C0-47DB-80CA-636A5D3D8FC3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pic>
        <p:nvPicPr>
          <p:cNvPr id="9" name="Picture 331" descr="Cisco_New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33" descr="Cisc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9873" name="Rectangle 209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69874" name="Rectangle 210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</a:t>
            </a:r>
          </a:p>
        </p:txBody>
      </p:sp>
      <p:sp>
        <p:nvSpPr>
          <p:cNvPr id="1027" name="Rectangle 4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Chapter 1</a:t>
            </a:r>
          </a:p>
        </p:txBody>
      </p:sp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934F42D9-89E1-4620-9E58-D735D372F12F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2014538"/>
            <a:ext cx="7940675" cy="3571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 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pic>
        <p:nvPicPr>
          <p:cNvPr id="1030" name="Picture 7" descr="PPt_TopBand_Artwork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08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2007 – 2010, Cisco Systems, Inc. All rights reserved.</a:t>
            </a:r>
          </a:p>
        </p:txBody>
      </p:sp>
      <p:sp>
        <p:nvSpPr>
          <p:cNvPr id="1032" name="Rectangle 9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30" r:id="rId1"/>
    <p:sldLayoutId id="2147484509" r:id="rId2"/>
    <p:sldLayoutId id="2147484510" r:id="rId3"/>
    <p:sldLayoutId id="2147484511" r:id="rId4"/>
    <p:sldLayoutId id="2147484512" r:id="rId5"/>
    <p:sldLayoutId id="2147484513" r:id="rId6"/>
    <p:sldLayoutId id="2147484514" r:id="rId7"/>
    <p:sldLayoutId id="2147484515" r:id="rId8"/>
    <p:sldLayoutId id="2147484516" r:id="rId9"/>
    <p:sldLayoutId id="2147484517" r:id="rId10"/>
    <p:sldLayoutId id="2147484518" r:id="rId11"/>
    <p:sldLayoutId id="2147484519" r:id="rId12"/>
  </p:sldLayoutIdLst>
  <p:timing>
    <p:tnLst>
      <p:par>
        <p:cTn id="1" dur="indefinite" restart="never" nodeType="tmRoot"/>
      </p:par>
    </p:tnLst>
  </p:timing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5pPr>
      <a:lvl6pPr marL="4572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5pPr>
      <a:lvl6pPr marL="20621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146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</a:t>
            </a:r>
          </a:p>
        </p:txBody>
      </p:sp>
      <p:sp>
        <p:nvSpPr>
          <p:cNvPr id="2051" name="Rectangle 6281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2052" name="Rectangle 6282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9C83DDDE-9DCD-477B-857E-9601FF96A69C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sp>
        <p:nvSpPr>
          <p:cNvPr id="2053" name="Rectangle 628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2014538"/>
            <a:ext cx="7940675" cy="3571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 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54" name="Rectangle 6312"/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2055" name="Rectangle 6313"/>
          <p:cNvSpPr>
            <a:spLocks noChangeArrowheads="1"/>
          </p:cNvSpPr>
          <p:nvPr/>
        </p:nvSpPr>
        <p:spPr bwMode="auto">
          <a:xfrm>
            <a:off x="6896100" y="6672263"/>
            <a:ext cx="877888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Confidential</a:t>
            </a:r>
          </a:p>
        </p:txBody>
      </p:sp>
      <p:pic>
        <p:nvPicPr>
          <p:cNvPr id="2056" name="Picture 8" descr="Rev08_Cisco_BrandBar10_060408.png"/>
          <p:cNvPicPr>
            <a:picLocks noChangeAspect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31" r:id="rId1"/>
    <p:sldLayoutId id="2147484520" r:id="rId2"/>
    <p:sldLayoutId id="2147484521" r:id="rId3"/>
    <p:sldLayoutId id="2147484522" r:id="rId4"/>
    <p:sldLayoutId id="2147484523" r:id="rId5"/>
    <p:sldLayoutId id="2147484524" r:id="rId6"/>
    <p:sldLayoutId id="2147484525" r:id="rId7"/>
    <p:sldLayoutId id="2147484526" r:id="rId8"/>
    <p:sldLayoutId id="2147484527" r:id="rId9"/>
    <p:sldLayoutId id="2147484528" r:id="rId10"/>
    <p:sldLayoutId id="2147484529" r:id="rId11"/>
  </p:sldLayoutIdLst>
  <p:timing>
    <p:tnLst>
      <p:par>
        <p:cTn id="1" dur="indefinite" restart="never" nodeType="tmRoot"/>
      </p:par>
    </p:tnLst>
  </p:timing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5pPr>
      <a:lvl6pPr marL="4572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5pPr>
      <a:lvl6pPr marL="20621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n-US" sz="2800" dirty="0" smtClean="0"/>
              <a:t>Chapter 6: Static Routing</a:t>
            </a:r>
            <a:br>
              <a:rPr lang="en-US" sz="2800" dirty="0" smtClean="0"/>
            </a:br>
            <a:endParaRPr lang="en-US" sz="2800" dirty="0" smtClean="0">
              <a:solidFill>
                <a:schemeClr val="folHlink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6788150" cy="658812"/>
          </a:xfrm>
        </p:spPr>
        <p:txBody>
          <a:bodyPr/>
          <a:lstStyle/>
          <a:p>
            <a:pPr eaLnBrk="1" hangingPunct="1"/>
            <a:r>
              <a:rPr lang="en-US" sz="2400" dirty="0" smtClean="0"/>
              <a:t>Routing and Switching Essentials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74638" y="493713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pitchFamily="34" charset="-128"/>
              </a:rPr>
              <a:t>Chapter 6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747713" y="1601788"/>
            <a:ext cx="8131175" cy="4437062"/>
          </a:xfrm>
        </p:spPr>
        <p:txBody>
          <a:bodyPr/>
          <a:lstStyle/>
          <a:p>
            <a:pPr eaLnBrk="1" hangingPunct="1"/>
            <a:r>
              <a:rPr lang="en-US" dirty="0" smtClean="0">
                <a:cs typeface="Arial" charset="0"/>
              </a:rPr>
              <a:t>Static Routing Implementation</a:t>
            </a:r>
          </a:p>
          <a:p>
            <a:pPr eaLnBrk="1" hangingPunct="1"/>
            <a:r>
              <a:rPr lang="en-US" dirty="0" smtClean="0">
                <a:cs typeface="Arial" charset="0"/>
              </a:rPr>
              <a:t>Configure Static and Default IPv4 and IPv6 Routes</a:t>
            </a:r>
          </a:p>
          <a:p>
            <a:pPr eaLnBrk="1" hangingPunct="1"/>
            <a:r>
              <a:rPr lang="en-US" dirty="0" smtClean="0">
                <a:cs typeface="Arial" charset="0"/>
              </a:rPr>
              <a:t>Configure Summary Static IPv4 Routes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627063" y="434975"/>
            <a:ext cx="8145462" cy="838200"/>
          </a:xfrm>
        </p:spPr>
        <p:txBody>
          <a:bodyPr/>
          <a:lstStyle/>
          <a:p>
            <a:r>
              <a:rPr lang="en-US" dirty="0" smtClean="0"/>
              <a:t>Chapter 6: Objectives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655638" y="1303338"/>
            <a:ext cx="8197850" cy="4575175"/>
          </a:xfrm>
        </p:spPr>
        <p:txBody>
          <a:bodyPr/>
          <a:lstStyle/>
          <a:p>
            <a:r>
              <a:rPr lang="en-US" dirty="0" smtClean="0"/>
              <a:t>Explain the advantages and disadvantages of static routing.</a:t>
            </a:r>
          </a:p>
          <a:p>
            <a:r>
              <a:rPr lang="en-US" dirty="0" smtClean="0"/>
              <a:t>Explain the purpose of different types of static routes.</a:t>
            </a:r>
          </a:p>
          <a:p>
            <a:r>
              <a:rPr lang="en-US" dirty="0" smtClean="0"/>
              <a:t>Configure IPv4 and IPv6 network static routes by specifying a next-hop address or exit interface.</a:t>
            </a:r>
          </a:p>
          <a:p>
            <a:r>
              <a:rPr lang="en-US" dirty="0" smtClean="0"/>
              <a:t>Configure an IPv4 and IPv6 default static routes.</a:t>
            </a:r>
          </a:p>
          <a:p>
            <a:r>
              <a:rPr lang="en-US" dirty="0"/>
              <a:t>Configure an IPv4 and IPv6 summary network address to reduce the number of routing table updates.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/>
              <a:t>Static Routing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Reach Remote Networks</a:t>
            </a:r>
            <a:endParaRPr lang="en-US" dirty="0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8915" name="Content Placeholder 5"/>
          <p:cNvSpPr>
            <a:spLocks noGrp="1"/>
          </p:cNvSpPr>
          <p:nvPr>
            <p:ph idx="1"/>
          </p:nvPr>
        </p:nvSpPr>
        <p:spPr>
          <a:xfrm>
            <a:off x="554038" y="1565275"/>
            <a:ext cx="7940675" cy="43862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A </a:t>
            </a:r>
            <a:r>
              <a:rPr lang="en-US" dirty="0"/>
              <a:t>router can learn about remote networks in one of two ways:</a:t>
            </a:r>
          </a:p>
          <a:p>
            <a:pPr marL="461963" indent="-342900">
              <a:buFont typeface="Arial"/>
              <a:buChar char="•"/>
            </a:pPr>
            <a:r>
              <a:rPr lang="en-US" b="1" dirty="0" smtClean="0"/>
              <a:t>Manually</a:t>
            </a:r>
            <a:endParaRPr lang="en-US" dirty="0"/>
          </a:p>
          <a:p>
            <a:pPr marL="800100" lvl="1" indent="-342900">
              <a:buFont typeface="Arial"/>
              <a:buChar char="•"/>
            </a:pPr>
            <a:r>
              <a:rPr lang="en-US" dirty="0" smtClean="0"/>
              <a:t>Remote </a:t>
            </a:r>
            <a:r>
              <a:rPr lang="en-US" dirty="0"/>
              <a:t>networks are </a:t>
            </a:r>
            <a:r>
              <a:rPr lang="en-US" u="sng" dirty="0"/>
              <a:t>manually entered</a:t>
            </a:r>
            <a:r>
              <a:rPr lang="en-US" dirty="0"/>
              <a:t> into the </a:t>
            </a:r>
            <a:r>
              <a:rPr lang="en-US" dirty="0" smtClean="0"/>
              <a:t>routing </a:t>
            </a:r>
            <a:r>
              <a:rPr lang="en-US" dirty="0"/>
              <a:t>table </a:t>
            </a:r>
            <a:r>
              <a:rPr lang="en-US" dirty="0" smtClean="0"/>
              <a:t>of a router by the network administrator.</a:t>
            </a:r>
          </a:p>
          <a:p>
            <a:pPr marL="800100" lvl="1" indent="-342900">
              <a:buFont typeface="Arial"/>
              <a:buChar char="•"/>
            </a:pPr>
            <a:r>
              <a:rPr lang="en-US" dirty="0" smtClean="0"/>
              <a:t>These are called </a:t>
            </a:r>
            <a:r>
              <a:rPr lang="en-US" u="sng" dirty="0" smtClean="0"/>
              <a:t>static </a:t>
            </a:r>
            <a:r>
              <a:rPr lang="en-US" u="sng" dirty="0"/>
              <a:t>routes</a:t>
            </a:r>
            <a:r>
              <a:rPr lang="en-US" dirty="0"/>
              <a:t>.</a:t>
            </a:r>
          </a:p>
          <a:p>
            <a:pPr marL="461963" indent="-342900">
              <a:buFont typeface="Arial"/>
              <a:buChar char="•"/>
            </a:pPr>
            <a:r>
              <a:rPr lang="en-US" b="1" dirty="0" smtClean="0"/>
              <a:t>Dynamically</a:t>
            </a:r>
            <a:endParaRPr lang="en-US" dirty="0"/>
          </a:p>
          <a:p>
            <a:pPr marL="800100" lvl="1" indent="-342900">
              <a:buFont typeface="Arial"/>
              <a:buChar char="•"/>
            </a:pPr>
            <a:r>
              <a:rPr lang="en-US" dirty="0" smtClean="0"/>
              <a:t>Remote </a:t>
            </a:r>
            <a:r>
              <a:rPr lang="en-US" dirty="0"/>
              <a:t>routes </a:t>
            </a:r>
            <a:r>
              <a:rPr lang="en-US" dirty="0" smtClean="0"/>
              <a:t>are </a:t>
            </a:r>
            <a:r>
              <a:rPr lang="en-US" u="sng" dirty="0" smtClean="0"/>
              <a:t>automatically </a:t>
            </a:r>
            <a:r>
              <a:rPr lang="en-US" u="sng" dirty="0"/>
              <a:t>learned</a:t>
            </a:r>
            <a:r>
              <a:rPr lang="en-US" dirty="0"/>
              <a:t> </a:t>
            </a:r>
            <a:r>
              <a:rPr lang="en-US" dirty="0" smtClean="0"/>
              <a:t>between routers configured to communicate through a </a:t>
            </a:r>
            <a:r>
              <a:rPr lang="en-US" u="sng" dirty="0" smtClean="0"/>
              <a:t>dynamic </a:t>
            </a:r>
            <a:r>
              <a:rPr lang="en-US" u="sng" dirty="0"/>
              <a:t>routing protocol</a:t>
            </a:r>
            <a:r>
              <a:rPr lang="en-US" dirty="0"/>
              <a:t>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47380548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06" y="489754"/>
            <a:ext cx="8145462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/>
              <a:t>Static Routing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Static vs Dynamic Routing</a:t>
            </a:r>
            <a:endParaRPr lang="en-US" dirty="0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6879" y="1883391"/>
            <a:ext cx="8405235" cy="4458032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Advantages</a:t>
            </a:r>
            <a:r>
              <a:rPr lang="en-US" dirty="0" smtClean="0"/>
              <a:t> of using static </a:t>
            </a:r>
            <a:r>
              <a:rPr lang="en-US" dirty="0"/>
              <a:t>routing </a:t>
            </a:r>
            <a:r>
              <a:rPr lang="en-US" dirty="0" smtClean="0"/>
              <a:t>over </a:t>
            </a:r>
            <a:r>
              <a:rPr lang="en-US" dirty="0"/>
              <a:t>dynamic </a:t>
            </a:r>
            <a:r>
              <a:rPr lang="en-US" dirty="0" smtClean="0"/>
              <a:t>routing: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More secure</a:t>
            </a:r>
          </a:p>
          <a:p>
            <a:pPr marL="795337" lvl="1" indent="-457200">
              <a:buFont typeface="Arial" panose="020B0604020202020204" pitchFamily="34" charset="0"/>
              <a:buChar char="•"/>
            </a:pPr>
            <a:r>
              <a:rPr lang="en-US" dirty="0" smtClean="0"/>
              <a:t>static </a:t>
            </a:r>
            <a:r>
              <a:rPr lang="en-US" dirty="0"/>
              <a:t>routes are not advertised over the </a:t>
            </a:r>
            <a:r>
              <a:rPr lang="en-US" dirty="0" smtClean="0"/>
              <a:t>network.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No extra resources needed</a:t>
            </a:r>
          </a:p>
          <a:p>
            <a:pPr marL="795337" lvl="1" indent="-457200">
              <a:buFont typeface="Arial" panose="020B0604020202020204" pitchFamily="34" charset="0"/>
              <a:buChar char="•"/>
            </a:pPr>
            <a:r>
              <a:rPr lang="en-US" dirty="0" smtClean="0"/>
              <a:t>static routes use </a:t>
            </a:r>
            <a:r>
              <a:rPr lang="en-US" dirty="0"/>
              <a:t>less bandwidth than dynamic routing </a:t>
            </a:r>
            <a:r>
              <a:rPr lang="en-US" dirty="0" smtClean="0"/>
              <a:t>protocols.</a:t>
            </a:r>
          </a:p>
          <a:p>
            <a:pPr marL="795337" lvl="1" indent="-457200">
              <a:buFont typeface="Arial" panose="020B0604020202020204" pitchFamily="34" charset="0"/>
              <a:buChar char="•"/>
            </a:pPr>
            <a:r>
              <a:rPr lang="en-US" dirty="0" smtClean="0"/>
              <a:t>no CPU </a:t>
            </a:r>
            <a:r>
              <a:rPr lang="en-US" dirty="0"/>
              <a:t>cycles are used to calculate and communicate routes.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Predictable</a:t>
            </a:r>
          </a:p>
          <a:p>
            <a:pPr marL="795337" lvl="1" indent="-457200">
              <a:buFont typeface="Arial" panose="020B0604020202020204" pitchFamily="34" charset="0"/>
              <a:buChar char="•"/>
            </a:pPr>
            <a:r>
              <a:rPr lang="en-US" dirty="0" smtClean="0"/>
              <a:t>The path for that static route is always the same.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710063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06" y="489754"/>
            <a:ext cx="8145462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/>
              <a:t>Static Routing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Static vs Dynamic Routing</a:t>
            </a:r>
            <a:endParaRPr lang="en-US" dirty="0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6879" y="1774209"/>
            <a:ext cx="8405235" cy="4567214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Disadvantages</a:t>
            </a:r>
            <a:r>
              <a:rPr lang="en-US" dirty="0" smtClean="0"/>
              <a:t> </a:t>
            </a:r>
            <a:r>
              <a:rPr lang="en-US" dirty="0"/>
              <a:t>of using static routing over dynamic </a:t>
            </a:r>
            <a:r>
              <a:rPr lang="en-US" dirty="0" smtClean="0"/>
              <a:t>routing: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Configuration Complexity</a:t>
            </a:r>
          </a:p>
          <a:p>
            <a:pPr marL="795337" lvl="1" indent="-457200">
              <a:buFont typeface="Arial" panose="020B0604020202020204" pitchFamily="34" charset="0"/>
              <a:buChar char="•"/>
            </a:pPr>
            <a:r>
              <a:rPr lang="en-US" dirty="0"/>
              <a:t>Initial configuration and maintenance is time-consuming</a:t>
            </a:r>
            <a:r>
              <a:rPr lang="en-US" dirty="0" smtClean="0"/>
              <a:t>.</a:t>
            </a:r>
          </a:p>
          <a:p>
            <a:pPr marL="795337" lvl="1" indent="-457200">
              <a:buFont typeface="Arial" panose="020B0604020202020204" pitchFamily="34" charset="0"/>
              <a:buChar char="•"/>
            </a:pPr>
            <a:r>
              <a:rPr lang="en-US" dirty="0"/>
              <a:t>Requires </a:t>
            </a:r>
            <a:r>
              <a:rPr lang="en-US" dirty="0" smtClean="0"/>
              <a:t>knowledge </a:t>
            </a:r>
            <a:r>
              <a:rPr lang="en-US" dirty="0"/>
              <a:t>of the whole network for </a:t>
            </a:r>
            <a:r>
              <a:rPr lang="en-US" dirty="0" smtClean="0"/>
              <a:t>implementation.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Topology Changes</a:t>
            </a:r>
          </a:p>
          <a:p>
            <a:pPr marL="795337" lvl="1" indent="-457200">
              <a:buFont typeface="Arial" panose="020B0604020202020204" pitchFamily="34" charset="0"/>
              <a:buChar char="•"/>
            </a:pPr>
            <a:r>
              <a:rPr lang="en-US" dirty="0">
                <a:ea typeface="+mn-ea"/>
                <a:cs typeface="+mn-cs"/>
              </a:rPr>
              <a:t>Administrator intervention is required to maintain changing route information.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Suitable only for simple topologies</a:t>
            </a:r>
          </a:p>
          <a:p>
            <a:pPr marL="795337" lvl="1" indent="-457200">
              <a:buFont typeface="Arial" panose="020B0604020202020204" pitchFamily="34" charset="0"/>
              <a:buChar char="•"/>
            </a:pPr>
            <a:r>
              <a:rPr lang="en-US" dirty="0">
                <a:ea typeface="+mn-ea"/>
                <a:cs typeface="+mn-cs"/>
              </a:rPr>
              <a:t>Does not scale well with </a:t>
            </a:r>
            <a:r>
              <a:rPr lang="en-US" dirty="0" smtClean="0">
                <a:ea typeface="+mn-ea"/>
                <a:cs typeface="+mn-cs"/>
              </a:rPr>
              <a:t>large networks as maintenance becomes difficult.</a:t>
            </a:r>
          </a:p>
          <a:p>
            <a:pPr marL="795337" lvl="1" indent="-457200">
              <a:buFont typeface="Arial" panose="020B0604020202020204" pitchFamily="34" charset="0"/>
              <a:buChar char="•"/>
            </a:pPr>
            <a:r>
              <a:rPr lang="en-US" dirty="0"/>
              <a:t>Configuration </a:t>
            </a:r>
            <a:r>
              <a:rPr lang="en-US" dirty="0" smtClean="0"/>
              <a:t>can be error-prone</a:t>
            </a:r>
            <a:r>
              <a:rPr lang="en-US" dirty="0"/>
              <a:t>, especially in large networks.</a:t>
            </a:r>
            <a:endParaRPr lang="en-US" dirty="0">
              <a:ea typeface="+mn-ea"/>
              <a:cs typeface="+mn-cs"/>
            </a:endParaRP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64309726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/>
              <a:t>Types of Static Routes</a:t>
            </a:r>
            <a:br>
              <a:rPr lang="en-US" sz="1800" dirty="0" smtClean="0"/>
            </a:br>
            <a:r>
              <a:rPr lang="en-US" dirty="0" smtClean="0"/>
              <a:t>Static Route Applications</a:t>
            </a:r>
            <a:endParaRPr lang="en-US" dirty="0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8915" name="Content Placeholder 5"/>
          <p:cNvSpPr>
            <a:spLocks noGrp="1"/>
          </p:cNvSpPr>
          <p:nvPr>
            <p:ph idx="1"/>
          </p:nvPr>
        </p:nvSpPr>
        <p:spPr>
          <a:xfrm>
            <a:off x="554039" y="1565275"/>
            <a:ext cx="7972444" cy="4386263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/>
              <a:t>Static Routes are often used to: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Provide a Gateway of Last Resort (default static route) for a </a:t>
            </a:r>
            <a:r>
              <a:rPr lang="en-US" sz="2000" u="sng" dirty="0"/>
              <a:t>stub </a:t>
            </a:r>
            <a:r>
              <a:rPr lang="en-US" sz="2000" u="sng" dirty="0" smtClean="0"/>
              <a:t>network</a:t>
            </a:r>
            <a:r>
              <a:rPr lang="en-US" sz="2000" dirty="0"/>
              <a:t> </a:t>
            </a:r>
            <a:endParaRPr lang="en-US" sz="20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Route </a:t>
            </a:r>
            <a:r>
              <a:rPr lang="en-US" sz="2000" u="sng" dirty="0" smtClean="0"/>
              <a:t>to a specific network</a:t>
            </a:r>
            <a:r>
              <a:rPr lang="en-US" sz="20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Reduce </a:t>
            </a:r>
            <a:r>
              <a:rPr lang="en-US" sz="2000" dirty="0"/>
              <a:t>the number of routes advertised by </a:t>
            </a:r>
            <a:r>
              <a:rPr lang="en-US" sz="2000" u="sng" dirty="0"/>
              <a:t>summarizing several contiguous networks as one static </a:t>
            </a:r>
            <a:r>
              <a:rPr lang="en-US" sz="2000" u="sng" dirty="0" smtClean="0"/>
              <a:t>route</a:t>
            </a:r>
            <a:r>
              <a:rPr lang="en-US" sz="2000" dirty="0" smtClean="0"/>
              <a:t>.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Create a backup route in case a primary route link </a:t>
            </a:r>
            <a:r>
              <a:rPr lang="en-US" sz="2000" dirty="0" smtClean="0"/>
              <a:t>fails.</a:t>
            </a: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14" t="35082" r="17558" b="18672"/>
          <a:stretch/>
        </p:blipFill>
        <p:spPr bwMode="auto">
          <a:xfrm>
            <a:off x="323169" y="4346370"/>
            <a:ext cx="3441312" cy="22088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5" name="Content Placeholder 1"/>
          <p:cNvPicPr>
            <a:picLocks noChangeAspect="1"/>
          </p:cNvPicPr>
          <p:nvPr/>
        </p:nvPicPr>
        <p:blipFill rotWithShape="1">
          <a:blip r:embed="rId4"/>
          <a:srcRect l="4168" t="30645" r="8345" b="7627"/>
          <a:stretch/>
        </p:blipFill>
        <p:spPr bwMode="auto">
          <a:xfrm>
            <a:off x="3974479" y="4453247"/>
            <a:ext cx="5015139" cy="2101933"/>
          </a:xfrm>
          <a:prstGeom prst="rect">
            <a:avLst/>
          </a:prstGeom>
          <a:noFill/>
          <a:ln w="9525" algn="ctr">
            <a:solidFill>
              <a:schemeClr val="accent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57618537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/>
              <a:t>Configure IPv4 Static Routes</a:t>
            </a:r>
            <a:br>
              <a:rPr lang="en-US" sz="1800" dirty="0" smtClean="0"/>
            </a:br>
            <a:r>
              <a:rPr lang="en-US" dirty="0" smtClean="0"/>
              <a:t>Command: </a:t>
            </a:r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smtClean="0"/>
              <a:t>route</a:t>
            </a:r>
            <a:endParaRPr lang="en-US" dirty="0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0124" y="1495485"/>
            <a:ext cx="8993875" cy="5216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dirty="0" smtClean="0"/>
              <a:t>To </a:t>
            </a:r>
            <a:r>
              <a:rPr lang="en-US" dirty="0"/>
              <a:t>configure a </a:t>
            </a:r>
            <a:r>
              <a:rPr lang="en-US" dirty="0" smtClean="0"/>
              <a:t>static </a:t>
            </a:r>
            <a:r>
              <a:rPr lang="en-US" dirty="0"/>
              <a:t>route:</a:t>
            </a:r>
          </a:p>
          <a:p>
            <a:pPr marL="0" indent="0" algn="l">
              <a:buNone/>
              <a:defRPr/>
            </a:pPr>
            <a:endParaRPr lang="en-US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>
              <a:buNone/>
              <a:defRPr/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)#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route </a:t>
            </a:r>
            <a:r>
              <a:rPr lang="en-US" sz="2000" b="1" i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network</a:t>
            </a:r>
            <a:r>
              <a:rPr lang="en-US" sz="2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i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mask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{</a:t>
            </a:r>
            <a:r>
              <a:rPr lang="en-US" sz="2000" b="1" i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next-hop-</a:t>
            </a:r>
            <a:r>
              <a:rPr lang="en-US" sz="2000" b="1" i="1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| </a:t>
            </a:r>
            <a:r>
              <a:rPr lang="en-US" sz="2000" b="1" i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exit-</a:t>
            </a:r>
            <a:r>
              <a:rPr lang="en-US" sz="2000" b="1" i="1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algn="l" eaLnBrk="1" hangingPunct="1">
              <a:buFont typeface="Wingdings" pitchFamily="2" charset="2"/>
              <a:buNone/>
              <a:defRPr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 eaLnBrk="1" hangingPunct="1">
              <a:buFont typeface="Wingdings" pitchFamily="2" charset="2"/>
              <a:buNone/>
              <a:defRPr/>
            </a:pPr>
            <a:r>
              <a:rPr lang="en-US" sz="1800" b="1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Network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	destination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network address to be 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added</a:t>
            </a:r>
          </a:p>
          <a:p>
            <a:pPr marL="0" indent="0" algn="l" eaLnBrk="1" hangingPunct="1">
              <a:buFont typeface="Wingdings" pitchFamily="2" charset="2"/>
              <a:buNone/>
              <a:defRPr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 eaLnBrk="1" hangingPunct="1">
              <a:buFont typeface="Wingdings" pitchFamily="2" charset="2"/>
              <a:buNone/>
              <a:defRPr/>
            </a:pPr>
            <a:r>
              <a:rPr 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Mask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		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subnet mask of the destination network</a:t>
            </a:r>
          </a:p>
          <a:p>
            <a:pPr marL="0" indent="0" algn="l" eaLnBrk="1" hangingPunct="1">
              <a:buFont typeface="Wingdings" pitchFamily="2" charset="2"/>
              <a:buNone/>
              <a:defRPr/>
            </a:pPr>
            <a:endParaRPr 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 eaLnBrk="1" hangingPunct="1">
              <a:buFont typeface="Wingdings" pitchFamily="2" charset="2"/>
              <a:buNone/>
              <a:defRPr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Either</a:t>
            </a:r>
          </a:p>
          <a:p>
            <a:pPr marL="0" indent="0" algn="l" eaLnBrk="1" hangingPunct="1">
              <a:buFont typeface="Wingdings" pitchFamily="2" charset="2"/>
              <a:buNone/>
              <a:defRPr/>
            </a:pPr>
            <a:r>
              <a:rPr lang="en-US" sz="1800" b="1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next-hop-</a:t>
            </a:r>
            <a:r>
              <a:rPr lang="en-US" sz="1800" b="1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	the IP address of the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neighbour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router 				interface to send the packet</a:t>
            </a:r>
          </a:p>
          <a:p>
            <a:pPr marL="0" indent="0" algn="l" eaLnBrk="1" hangingPunct="1">
              <a:buFont typeface="Wingdings" pitchFamily="2" charset="2"/>
              <a:buNone/>
              <a:defRPr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</a:p>
          <a:p>
            <a:pPr marL="0" indent="0" algn="l" eaLnBrk="1" hangingPunct="1">
              <a:buFont typeface="Wingdings" pitchFamily="2" charset="2"/>
              <a:buNone/>
              <a:defRPr/>
            </a:pPr>
            <a:r>
              <a:rPr 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sz="1800" b="1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xit-</a:t>
            </a:r>
            <a:r>
              <a:rPr lang="en-US" sz="1800" b="1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	the local interface id of this router to send 			the packet</a:t>
            </a:r>
          </a:p>
          <a:p>
            <a:pPr marL="0" indent="0" algn="l" eaLnBrk="1" hangingPunct="1">
              <a:buFont typeface="Wingdings" pitchFamily="2" charset="2"/>
              <a:buNone/>
              <a:defRPr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 eaLnBrk="1" hangingPunct="1">
              <a:buFont typeface="Wingdings" pitchFamily="2" charset="2"/>
              <a:buNone/>
              <a:defRPr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Example:</a:t>
            </a:r>
          </a:p>
          <a:p>
            <a:pPr marL="0" indent="0" algn="l" eaLnBrk="1" hangingPunct="1">
              <a:buFont typeface="Wingdings" pitchFamily="2" charset="2"/>
              <a:buNone/>
              <a:defRPr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 eaLnBrk="1" hangingPunct="1">
              <a:buFont typeface="Wingdings" pitchFamily="2" charset="2"/>
              <a:buNone/>
              <a:defRPr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route </a:t>
            </a:r>
            <a:r>
              <a:rPr lang="en-US" sz="1800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10.20.30.0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255.255.255.0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192.168.1.2</a:t>
            </a:r>
          </a:p>
          <a:p>
            <a:pPr marL="0" indent="0" algn="l" eaLnBrk="1" hangingPunct="1">
              <a:buFont typeface="Wingdings" pitchFamily="2" charset="2"/>
              <a:buNone/>
              <a:defRPr/>
            </a:pPr>
            <a:endParaRPr lang="en-US" sz="1800" u="sng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 eaLnBrk="1" hangingPunct="1">
              <a:buFont typeface="Wingdings" pitchFamily="2" charset="2"/>
              <a:buNone/>
              <a:defRPr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route </a:t>
            </a:r>
            <a:r>
              <a:rPr lang="en-US" sz="18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10.20.30.0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255.255.255.0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S0/0/0</a:t>
            </a:r>
            <a:endParaRPr lang="en-US" sz="1800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407773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/>
              <a:t>Configure IPv4 Static Routes</a:t>
            </a:r>
            <a:br>
              <a:rPr lang="en-US" sz="1800" dirty="0" smtClean="0"/>
            </a:br>
            <a:r>
              <a:rPr lang="en-US" dirty="0" smtClean="0"/>
              <a:t>Configure a Network Static Route</a:t>
            </a:r>
            <a:endParaRPr lang="en-US" dirty="0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t="6543" b="39505"/>
          <a:stretch/>
        </p:blipFill>
        <p:spPr>
          <a:xfrm>
            <a:off x="3119801" y="1337474"/>
            <a:ext cx="5887721" cy="285537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8915" name="Content Placeholder 5"/>
          <p:cNvSpPr>
            <a:spLocks noGrp="1"/>
          </p:cNvSpPr>
          <p:nvPr>
            <p:ph idx="1"/>
          </p:nvPr>
        </p:nvSpPr>
        <p:spPr>
          <a:xfrm>
            <a:off x="0" y="4192844"/>
            <a:ext cx="9007522" cy="1921353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  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route </a:t>
            </a:r>
            <a:r>
              <a:rPr lang="en-US" sz="2000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172.16.1.0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255.255.255.0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S0/0/0</a:t>
            </a:r>
          </a:p>
          <a:p>
            <a:pPr marL="0" indent="0"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)#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route </a:t>
            </a:r>
            <a:r>
              <a:rPr lang="en-US" sz="2000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192.168.1.0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255.255.255.0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S0/0/0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)#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route </a:t>
            </a:r>
            <a:r>
              <a:rPr lang="en-US" sz="2000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192.168.2.0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255.255.255.0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172.16.2.2</a:t>
            </a:r>
            <a:endParaRPr lang="en-US" sz="2000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197891" y="2608858"/>
            <a:ext cx="302297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000" dirty="0"/>
              <a:t>For router R1 to know how to forward packets to PC2 and PC3, the remote networks need to be added:-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290" y="5622877"/>
            <a:ext cx="83433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000" dirty="0" smtClean="0"/>
              <a:t>Similar configuration has to be done on routers R2 and R3 in order for all the PCs  to communicate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35270089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Configure IPv4 Static Routes</a:t>
            </a:r>
            <a:br>
              <a:rPr lang="en-US" sz="1800" dirty="0" smtClean="0"/>
            </a:br>
            <a:r>
              <a:rPr lang="en-US" dirty="0"/>
              <a:t>C</a:t>
            </a:r>
            <a:r>
              <a:rPr lang="en-US" dirty="0" smtClean="0"/>
              <a:t>onfigure a Default Static Route</a:t>
            </a:r>
            <a:endParaRPr lang="en-US" dirty="0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8915" name="Content Placeholder 5"/>
          <p:cNvSpPr>
            <a:spLocks noGrp="1"/>
          </p:cNvSpPr>
          <p:nvPr>
            <p:ph idx="1"/>
          </p:nvPr>
        </p:nvSpPr>
        <p:spPr>
          <a:xfrm>
            <a:off x="354842" y="1565275"/>
            <a:ext cx="8461612" cy="4386263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A default static </a:t>
            </a:r>
            <a:r>
              <a:rPr lang="en-US" dirty="0" smtClean="0"/>
              <a:t>route:- </a:t>
            </a:r>
          </a:p>
          <a:p>
            <a:pPr algn="just"/>
            <a:r>
              <a:rPr lang="en-US" dirty="0" smtClean="0"/>
              <a:t>is </a:t>
            </a:r>
            <a:r>
              <a:rPr lang="en-US" dirty="0"/>
              <a:t>a route that matches all packets. </a:t>
            </a:r>
            <a:endParaRPr lang="en-US" dirty="0" smtClean="0"/>
          </a:p>
          <a:p>
            <a:pPr algn="just"/>
            <a:r>
              <a:rPr lang="en-US" dirty="0" smtClean="0"/>
              <a:t>identifies </a:t>
            </a:r>
            <a:r>
              <a:rPr lang="en-US" dirty="0"/>
              <a:t>the gateway IP address </a:t>
            </a:r>
            <a:r>
              <a:rPr lang="en-US" dirty="0" smtClean="0"/>
              <a:t>for packets that has no match in the </a:t>
            </a:r>
            <a:r>
              <a:rPr lang="en-US" smtClean="0"/>
              <a:t>routing table. </a:t>
            </a:r>
            <a:endParaRPr lang="en-US" dirty="0" smtClean="0"/>
          </a:p>
          <a:p>
            <a:pPr algn="just"/>
            <a:r>
              <a:rPr lang="en-US" dirty="0" smtClean="0"/>
              <a:t>is </a:t>
            </a:r>
            <a:r>
              <a:rPr lang="en-US" dirty="0"/>
              <a:t>simply a static route with 0.0.0.0/0 as the destination </a:t>
            </a:r>
            <a:r>
              <a:rPr lang="en-US" dirty="0" smtClean="0"/>
              <a:t>address.</a:t>
            </a:r>
          </a:p>
          <a:p>
            <a:pPr>
              <a:defRPr/>
            </a:pPr>
            <a:endParaRPr lang="en-US" dirty="0" smtClean="0"/>
          </a:p>
          <a:p>
            <a:pPr marL="0" indent="0">
              <a:buNone/>
              <a:defRPr/>
            </a:pPr>
            <a:r>
              <a:rPr lang="en-US" dirty="0" smtClean="0"/>
              <a:t>To </a:t>
            </a:r>
            <a:r>
              <a:rPr lang="en-US" dirty="0"/>
              <a:t>configure a </a:t>
            </a:r>
            <a:r>
              <a:rPr lang="en-US" dirty="0" smtClean="0"/>
              <a:t>default static </a:t>
            </a:r>
            <a:r>
              <a:rPr lang="en-US" dirty="0"/>
              <a:t>route:</a:t>
            </a:r>
          </a:p>
          <a:p>
            <a:pPr marL="0" indent="0">
              <a:buNone/>
              <a:defRPr/>
            </a:pPr>
            <a:r>
              <a:rPr lang="en-US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en-US" sz="18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)#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route </a:t>
            </a:r>
            <a:r>
              <a:rPr lang="en-US" sz="1800" b="1" i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0.0.0.0</a:t>
            </a:r>
            <a:r>
              <a:rPr lang="en-US" sz="1800" b="1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i="1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0.0.0.0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{</a:t>
            </a:r>
            <a:r>
              <a:rPr lang="en-US" sz="1800" b="1" i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next-hop-</a:t>
            </a:r>
            <a:r>
              <a:rPr lang="en-US" sz="1800" b="1" i="1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| </a:t>
            </a:r>
            <a:r>
              <a:rPr lang="en-US" sz="1800" b="1" i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exit-</a:t>
            </a:r>
            <a:r>
              <a:rPr lang="en-US" sz="1800" b="1" i="1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algn="just"/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539567348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/>
              <a:t>Configure IPv4 Default Routes</a:t>
            </a:r>
            <a:br>
              <a:rPr lang="en-US" sz="1800" dirty="0" smtClean="0"/>
            </a:br>
            <a:r>
              <a:rPr lang="en-US" dirty="0" smtClean="0"/>
              <a:t>Configure a Default Static Route</a:t>
            </a:r>
            <a:endParaRPr lang="en-US" dirty="0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9776" y="1926474"/>
            <a:ext cx="3022979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000" dirty="0" smtClean="0"/>
              <a:t>Using router R3 as example.</a:t>
            </a:r>
          </a:p>
          <a:p>
            <a:pPr marL="0" indent="0" algn="just">
              <a:buNone/>
            </a:pPr>
            <a:endParaRPr lang="en-US" sz="2000" dirty="0" smtClean="0"/>
          </a:p>
          <a:p>
            <a:pPr marL="0" indent="0" algn="just">
              <a:buNone/>
            </a:pPr>
            <a:r>
              <a:rPr lang="en-US" sz="2000" dirty="0" smtClean="0"/>
              <a:t>Configuring router R3 with a default static route to route all unknown packets  through the S0/0/1 exit interface as shown:-</a:t>
            </a:r>
            <a:endParaRPr lang="en-US" sz="2000" dirty="0"/>
          </a:p>
        </p:txBody>
      </p:sp>
      <p:sp>
        <p:nvSpPr>
          <p:cNvPr id="5" name="Content Placeholder 5"/>
          <p:cNvSpPr txBox="1">
            <a:spLocks/>
          </p:cNvSpPr>
          <p:nvPr/>
        </p:nvSpPr>
        <p:spPr bwMode="auto">
          <a:xfrm>
            <a:off x="375312" y="4534044"/>
            <a:ext cx="8632210" cy="19213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R3(</a:t>
            </a:r>
            <a:r>
              <a:rPr lang="en-US" sz="20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  </a:t>
            </a:r>
            <a:r>
              <a:rPr lang="en-US" sz="20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route </a:t>
            </a:r>
            <a:r>
              <a:rPr lang="en-US" sz="2000" u="sng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0.0.0.0</a:t>
            </a:r>
            <a:r>
              <a:rPr 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u="sng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0.0.0.0</a:t>
            </a:r>
            <a:r>
              <a:rPr 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u="sng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S0/0/1</a:t>
            </a:r>
          </a:p>
          <a:p>
            <a:pPr marL="0" indent="0">
              <a:buFont typeface="Wingdings" pitchFamily="2" charset="2"/>
              <a:buNone/>
            </a:pPr>
            <a:endParaRPr lang="en-US" kern="0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8523" y="1437987"/>
            <a:ext cx="5688999" cy="29429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cxnSp>
        <p:nvCxnSpPr>
          <p:cNvPr id="8" name="Straight Arrow Connector 7"/>
          <p:cNvCxnSpPr/>
          <p:nvPr/>
        </p:nvCxnSpPr>
        <p:spPr bwMode="auto">
          <a:xfrm flipH="1">
            <a:off x="5718412" y="3916907"/>
            <a:ext cx="1228298" cy="6171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467237328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/>
              <a:t>Configure IPv4 Static Routes</a:t>
            </a:r>
            <a:br>
              <a:rPr lang="en-US" sz="1800" dirty="0" smtClean="0"/>
            </a:br>
            <a:r>
              <a:rPr lang="en-US" dirty="0" smtClean="0"/>
              <a:t>Verify a Static Route (running-</a:t>
            </a:r>
            <a:r>
              <a:rPr lang="en-US" dirty="0" err="1" smtClean="0"/>
              <a:t>config</a:t>
            </a:r>
            <a:r>
              <a:rPr lang="en-US" dirty="0"/>
              <a:t>)</a:t>
            </a:r>
            <a:endParaRPr lang="en-US" dirty="0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8915" name="Content Placeholder 5"/>
          <p:cNvSpPr>
            <a:spLocks noGrp="1"/>
          </p:cNvSpPr>
          <p:nvPr>
            <p:ph idx="1"/>
          </p:nvPr>
        </p:nvSpPr>
        <p:spPr>
          <a:xfrm>
            <a:off x="554038" y="1565275"/>
            <a:ext cx="7940675" cy="438626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smtClean="0"/>
              <a:t>Check the configured static routes in the running-</a:t>
            </a:r>
            <a:r>
              <a:rPr lang="en-US" dirty="0" err="1" smtClean="0"/>
              <a:t>config</a:t>
            </a:r>
            <a:r>
              <a:rPr lang="en-US" dirty="0" smtClean="0"/>
              <a:t> file using </a:t>
            </a:r>
            <a:r>
              <a:rPr lang="en-US" dirty="0" smtClean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#show running-</a:t>
            </a:r>
            <a:r>
              <a:rPr lang="en-US" dirty="0" err="1" smtClean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config</a:t>
            </a:r>
            <a:endParaRPr lang="en-US" dirty="0" smtClean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smtClean="0"/>
              <a:t>The static route entries will be shown in the file</a:t>
            </a:r>
          </a:p>
          <a:p>
            <a:pPr marL="795337" lvl="1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795337" lvl="1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419668" y="3151092"/>
            <a:ext cx="6066430" cy="31947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SG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R1# show run</a:t>
            </a:r>
          </a:p>
          <a:p>
            <a:pPr algn="l"/>
            <a:endParaRPr lang="en-SG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&lt;-- </a:t>
            </a: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output omitted --&gt;</a:t>
            </a:r>
            <a:endParaRPr lang="en-SG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interface </a:t>
            </a: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Vlan1</a:t>
            </a: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no </a:t>
            </a:r>
            <a:r>
              <a:rPr lang="en-SG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address</a:t>
            </a: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shutdown</a:t>
            </a: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  <a:p>
            <a:pPr algn="l"/>
            <a:r>
              <a:rPr lang="en-SG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classless</a:t>
            </a:r>
          </a:p>
          <a:p>
            <a:pPr algn="l"/>
            <a:r>
              <a:rPr lang="en-SG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route 172.16.1.0 255.255.255.0 Serial0/0/0 </a:t>
            </a:r>
          </a:p>
          <a:p>
            <a:pPr algn="l"/>
            <a:r>
              <a:rPr lang="en-SG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route 192.168.1.0 255.255.255.0 Serial0/0/0 </a:t>
            </a:r>
          </a:p>
          <a:p>
            <a:pPr algn="l"/>
            <a:r>
              <a:rPr lang="en-SG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route 192.168.2.0 255.255.255.0 172.16.2.2 </a:t>
            </a: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  <a:p>
            <a:pPr algn="l"/>
            <a:r>
              <a:rPr lang="en-SG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flow-export version 9</a:t>
            </a:r>
          </a:p>
          <a:p>
            <a:pPr algn="l"/>
            <a:r>
              <a:rPr lang="en-SG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&lt;-- output omitted --&gt;</a:t>
            </a:r>
            <a:endParaRPr lang="en-SG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47743" y="3195935"/>
            <a:ext cx="24559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sz="2000" u="sng" dirty="0" smtClean="0"/>
              <a:t>Question:</a:t>
            </a:r>
          </a:p>
          <a:p>
            <a:pPr algn="l"/>
            <a:endParaRPr lang="en-SG" sz="2000" dirty="0"/>
          </a:p>
          <a:p>
            <a:pPr algn="l"/>
            <a:r>
              <a:rPr lang="en-SG" sz="2000" dirty="0" smtClean="0"/>
              <a:t>How do you remove a wrong static route?</a:t>
            </a:r>
            <a:endParaRPr lang="en-SG" sz="2000" dirty="0"/>
          </a:p>
        </p:txBody>
      </p:sp>
      <p:sp>
        <p:nvSpPr>
          <p:cNvPr id="4" name="Rounded Rectangle 3"/>
          <p:cNvSpPr/>
          <p:nvPr/>
        </p:nvSpPr>
        <p:spPr bwMode="auto">
          <a:xfrm>
            <a:off x="0" y="4926842"/>
            <a:ext cx="6919415" cy="736979"/>
          </a:xfrm>
          <a:prstGeom prst="round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301720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/>
              <a:t>Configure IPv4 Static Routes</a:t>
            </a:r>
            <a:br>
              <a:rPr lang="en-US" sz="1800" dirty="0" smtClean="0"/>
            </a:br>
            <a:r>
              <a:rPr lang="en-US" dirty="0" smtClean="0"/>
              <a:t>Verify a Static Route (routing table)</a:t>
            </a:r>
            <a:endParaRPr lang="en-US" dirty="0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8915" name="Content Placeholder 5"/>
          <p:cNvSpPr>
            <a:spLocks noGrp="1"/>
          </p:cNvSpPr>
          <p:nvPr>
            <p:ph idx="1"/>
          </p:nvPr>
        </p:nvSpPr>
        <p:spPr>
          <a:xfrm>
            <a:off x="341194" y="1565275"/>
            <a:ext cx="8434316" cy="438626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smtClean="0"/>
              <a:t>Check </a:t>
            </a:r>
            <a:r>
              <a:rPr lang="en-US" dirty="0"/>
              <a:t>the routing </a:t>
            </a:r>
            <a:r>
              <a:rPr lang="en-US" dirty="0" smtClean="0"/>
              <a:t>table using </a:t>
            </a:r>
            <a:r>
              <a:rPr lang="en-US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#show </a:t>
            </a:r>
            <a:r>
              <a:rPr lang="en-US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ip</a:t>
            </a:r>
            <a:r>
              <a:rPr lang="en-US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route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smtClean="0"/>
              <a:t>The static route entries are marked with the route source code “S”.</a:t>
            </a:r>
            <a:endParaRPr lang="en-US" dirty="0"/>
          </a:p>
          <a:p>
            <a:pPr marL="795337" lvl="1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77420" y="2837194"/>
            <a:ext cx="7315201" cy="275152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SG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R1#show </a:t>
            </a:r>
            <a:r>
              <a:rPr lang="en-SG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route</a:t>
            </a:r>
          </a:p>
          <a:p>
            <a:pPr algn="l"/>
            <a:r>
              <a:rPr lang="en-SG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&lt;-- output omitted --&gt;</a:t>
            </a:r>
            <a:endParaRPr lang="en-SG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Gateway of last resort </a:t>
            </a:r>
            <a:r>
              <a:rPr lang="en-SG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is not set</a:t>
            </a:r>
          </a:p>
          <a:p>
            <a:pPr algn="l"/>
            <a:endParaRPr lang="en-SG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172.16.0.0/16 </a:t>
            </a: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is variably </a:t>
            </a:r>
            <a:r>
              <a:rPr lang="en-SG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subnetted</a:t>
            </a: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5 subnets, 2 masks</a:t>
            </a:r>
          </a:p>
          <a:p>
            <a:pPr algn="l"/>
            <a:r>
              <a:rPr lang="en-SG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 172.16.1.0/24 is directly connected, Serial0/0/0</a:t>
            </a: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 172.16.2.0/24 is directly connected, Serial0/0/0</a:t>
            </a: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 172.16.2.1/32 is directly connected, Serial0/0/0</a:t>
            </a: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 172.16.3.0/24 is directly connected, GigabitEthernet0/0</a:t>
            </a: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 172.16.3.1/32 is directly connected, GigabitEthernet0/0</a:t>
            </a:r>
          </a:p>
          <a:p>
            <a:pPr algn="l"/>
            <a:r>
              <a:rPr lang="en-SG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 192.168.1.0/24 is directly connected, Serial0/0/0</a:t>
            </a:r>
          </a:p>
          <a:p>
            <a:pPr algn="l"/>
            <a:r>
              <a:rPr lang="en-SG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 192.168.2.0/24 [1/0] via </a:t>
            </a:r>
            <a:r>
              <a:rPr lang="en-SG" sz="16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172.16.2.2</a:t>
            </a:r>
            <a:endParaRPr lang="en-SG" sz="16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92688" y="5367117"/>
            <a:ext cx="2146742" cy="10895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800" dirty="0" smtClean="0"/>
              <a:t>Using exit interface</a:t>
            </a:r>
          </a:p>
          <a:p>
            <a:pPr algn="l"/>
            <a:endParaRPr lang="en-SG" sz="1800" dirty="0"/>
          </a:p>
          <a:p>
            <a:pPr algn="l"/>
            <a:endParaRPr lang="en-SG" sz="1800" dirty="0" smtClean="0"/>
          </a:p>
          <a:p>
            <a:pPr algn="l"/>
            <a:r>
              <a:rPr lang="en-SG" sz="1800" dirty="0" smtClean="0"/>
              <a:t>Using next-hop IP</a:t>
            </a:r>
            <a:endParaRPr lang="en-SG" sz="1800" dirty="0"/>
          </a:p>
        </p:txBody>
      </p:sp>
      <p:sp>
        <p:nvSpPr>
          <p:cNvPr id="12" name="Freeform 11"/>
          <p:cNvSpPr/>
          <p:nvPr/>
        </p:nvSpPr>
        <p:spPr bwMode="auto">
          <a:xfrm>
            <a:off x="6605516" y="3835021"/>
            <a:ext cx="1951630" cy="1532096"/>
          </a:xfrm>
          <a:custGeom>
            <a:avLst/>
            <a:gdLst>
              <a:gd name="connsiteX0" fmla="*/ 1446663 w 1743780"/>
              <a:gd name="connsiteY0" fmla="*/ 1050878 h 1050878"/>
              <a:gd name="connsiteX1" fmla="*/ 1637732 w 1743780"/>
              <a:gd name="connsiteY1" fmla="*/ 245660 h 1050878"/>
              <a:gd name="connsiteX2" fmla="*/ 0 w 1743780"/>
              <a:gd name="connsiteY2" fmla="*/ 0 h 1050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43780" h="1050878">
                <a:moveTo>
                  <a:pt x="1446663" y="1050878"/>
                </a:moveTo>
                <a:cubicBezTo>
                  <a:pt x="1662753" y="735842"/>
                  <a:pt x="1878843" y="420806"/>
                  <a:pt x="1637732" y="245660"/>
                </a:cubicBezTo>
                <a:cubicBezTo>
                  <a:pt x="1396621" y="70514"/>
                  <a:pt x="698310" y="35257"/>
                  <a:pt x="0" y="0"/>
                </a:cubicBez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squar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4" name="Straight Arrow Connector 13"/>
          <p:cNvCxnSpPr>
            <a:stCxn id="12" idx="0"/>
          </p:cNvCxnSpPr>
          <p:nvPr/>
        </p:nvCxnSpPr>
        <p:spPr bwMode="auto">
          <a:xfrm flipH="1" flipV="1">
            <a:off x="6605516" y="4981433"/>
            <a:ext cx="1619098" cy="38568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 flipH="1" flipV="1">
            <a:off x="4792639" y="5174275"/>
            <a:ext cx="2100049" cy="96721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900826156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/>
              <a:t>Configure IPv4 Static Routes</a:t>
            </a:r>
            <a:br>
              <a:rPr lang="en-US" sz="1800" dirty="0" smtClean="0"/>
            </a:br>
            <a:r>
              <a:rPr lang="en-US" dirty="0" smtClean="0"/>
              <a:t>Verify a Static Route (routing table)</a:t>
            </a:r>
            <a:endParaRPr lang="en-US" dirty="0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8915" name="Content Placeholder 5"/>
          <p:cNvSpPr>
            <a:spLocks noGrp="1"/>
          </p:cNvSpPr>
          <p:nvPr>
            <p:ph idx="1"/>
          </p:nvPr>
        </p:nvSpPr>
        <p:spPr>
          <a:xfrm>
            <a:off x="341194" y="1565275"/>
            <a:ext cx="8434316" cy="43862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A default static route entry is marked “S*”.</a:t>
            </a:r>
            <a:endParaRPr lang="en-US" dirty="0"/>
          </a:p>
          <a:p>
            <a:pPr marL="795337" lvl="1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266130" y="2333685"/>
            <a:ext cx="8454789" cy="275152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SG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R1#show </a:t>
            </a:r>
            <a:r>
              <a:rPr lang="en-SG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route</a:t>
            </a:r>
          </a:p>
          <a:p>
            <a:pPr algn="l"/>
            <a:r>
              <a:rPr lang="en-SG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&lt;-- output omitted --&gt;</a:t>
            </a:r>
            <a:endParaRPr lang="en-SG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SG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Gateway of last resort is 0.0.0.0 to network 0.0.0.0</a:t>
            </a:r>
          </a:p>
          <a:p>
            <a:pPr algn="l"/>
            <a:endParaRPr lang="en-SG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192.168.1.0/24 is variably </a:t>
            </a:r>
            <a:r>
              <a:rPr lang="en-SG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subnetted</a:t>
            </a: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2 subnets, 2 masks</a:t>
            </a: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 192.168.1.0/24 is directly connected, Serial0/0/1</a:t>
            </a: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 192.168.1.1/32 is directly connected, Serial0/0/1</a:t>
            </a: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192.168.2.0/24 is variably </a:t>
            </a:r>
            <a:r>
              <a:rPr lang="en-SG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subnetted</a:t>
            </a: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2 subnets, 2 masks</a:t>
            </a: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 192.168.2.0/24 is directly connected, GigabitEthernet0/0</a:t>
            </a: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 192.168.2.1/32 is directly connected, GigabitEthernet0/0</a:t>
            </a:r>
          </a:p>
          <a:p>
            <a:pPr algn="l"/>
            <a:r>
              <a:rPr lang="en-SG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S* 0.0.0.0/0 is directly connected, </a:t>
            </a:r>
            <a:r>
              <a:rPr lang="en-SG" sz="16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Serial0/0/1</a:t>
            </a:r>
            <a:endParaRPr lang="en-SG" sz="16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777989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/>
              <a:t>Configure IPv6 Static Routes</a:t>
            </a:r>
            <a:br>
              <a:rPr lang="en-US" sz="1800" dirty="0" smtClean="0"/>
            </a:br>
            <a:r>
              <a:rPr lang="en-US" dirty="0" smtClean="0"/>
              <a:t>The ipv6 route Command</a:t>
            </a:r>
            <a:endParaRPr lang="en-US" dirty="0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8915" name="Content Placeholder 5"/>
          <p:cNvSpPr>
            <a:spLocks noGrp="1"/>
          </p:cNvSpPr>
          <p:nvPr>
            <p:ph idx="1"/>
          </p:nvPr>
        </p:nvSpPr>
        <p:spPr>
          <a:xfrm>
            <a:off x="554038" y="1565275"/>
            <a:ext cx="7940675" cy="4386263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For IPv6 networks</a:t>
            </a:r>
            <a:r>
              <a:rPr lang="en-US" dirty="0" smtClean="0"/>
              <a:t>, most parameters </a:t>
            </a:r>
            <a:r>
              <a:rPr lang="en-US" dirty="0"/>
              <a:t>are identical to the IPv4 version of the </a:t>
            </a:r>
            <a:r>
              <a:rPr lang="en-US" dirty="0" smtClean="0"/>
              <a:t>command:-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Examples:-</a:t>
            </a:r>
          </a:p>
          <a:p>
            <a:pPr marL="0" indent="0"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ipv6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route </a:t>
            </a:r>
            <a:r>
              <a:rPr lang="en-US" sz="2000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2001:db8:acad:3::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2000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s0/0/0</a:t>
            </a:r>
          </a:p>
          <a:p>
            <a:pPr marL="0" indent="0"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ipv6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route </a:t>
            </a:r>
            <a:r>
              <a:rPr lang="en-US" sz="2000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2001:db8:acad:5::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2001:db8:acad:5</a:t>
            </a:r>
            <a:r>
              <a:rPr lang="en-US" sz="2000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::2</a:t>
            </a:r>
            <a:endParaRPr lang="en-US" sz="2000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51" y="2432989"/>
            <a:ext cx="80645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251404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/>
              <a:t>Configure IPv6 Static Routes</a:t>
            </a:r>
            <a:br>
              <a:rPr lang="en-US" sz="1800" dirty="0" smtClean="0"/>
            </a:br>
            <a:r>
              <a:rPr lang="en-US" dirty="0" smtClean="0"/>
              <a:t>Configure a Static IPv6 Route</a:t>
            </a:r>
            <a:endParaRPr lang="en-US" dirty="0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2334" t="8809" r="361" b="33777"/>
          <a:stretch/>
        </p:blipFill>
        <p:spPr>
          <a:xfrm>
            <a:off x="1856119" y="1405718"/>
            <a:ext cx="5622877" cy="3016158"/>
          </a:xfrm>
        </p:spPr>
      </p:pic>
      <p:pic>
        <p:nvPicPr>
          <p:cNvPr id="4" name="Content Placeholder 1"/>
          <p:cNvPicPr>
            <a:picLocks noChangeAspect="1"/>
          </p:cNvPicPr>
          <p:nvPr/>
        </p:nvPicPr>
        <p:blipFill rotWithShape="1">
          <a:blip r:embed="rId3"/>
          <a:srcRect l="5964" t="70986" r="6066" b="14667"/>
          <a:stretch/>
        </p:blipFill>
        <p:spPr bwMode="auto">
          <a:xfrm>
            <a:off x="177421" y="4326335"/>
            <a:ext cx="6903620" cy="10235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" name="Content Placeholder 1"/>
          <p:cNvPicPr>
            <a:picLocks noChangeAspect="1"/>
          </p:cNvPicPr>
          <p:nvPr/>
        </p:nvPicPr>
        <p:blipFill rotWithShape="1">
          <a:blip r:embed="rId4"/>
          <a:srcRect l="5931" t="71695" r="5973" b="14781"/>
          <a:stretch/>
        </p:blipFill>
        <p:spPr bwMode="auto">
          <a:xfrm>
            <a:off x="1883866" y="5527360"/>
            <a:ext cx="7082670" cy="9962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665572" y="5648549"/>
            <a:ext cx="646331" cy="4247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SG" dirty="0" smtClean="0"/>
              <a:t>OR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88413595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/>
              <a:t>Configure IPv6 Default Routes</a:t>
            </a:r>
            <a:br>
              <a:rPr lang="en-US" sz="1800" dirty="0" smtClean="0"/>
            </a:br>
            <a:r>
              <a:rPr lang="en-US" dirty="0" smtClean="0"/>
              <a:t>Configure a Default Static IPv6 Route</a:t>
            </a:r>
            <a:endParaRPr lang="en-US" dirty="0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856" t="8186" r="2186" b="25850"/>
          <a:stretch/>
        </p:blipFill>
        <p:spPr>
          <a:xfrm>
            <a:off x="1525780" y="1624083"/>
            <a:ext cx="6338097" cy="3671248"/>
          </a:xfrm>
        </p:spPr>
      </p:pic>
      <p:pic>
        <p:nvPicPr>
          <p:cNvPr id="4" name="Content Placeholder 1"/>
          <p:cNvPicPr>
            <a:picLocks noChangeAspect="1"/>
          </p:cNvPicPr>
          <p:nvPr/>
        </p:nvPicPr>
        <p:blipFill rotWithShape="1">
          <a:blip r:embed="rId3"/>
          <a:srcRect l="3991" t="86543" r="3290" b="3500"/>
          <a:stretch/>
        </p:blipFill>
        <p:spPr bwMode="auto">
          <a:xfrm>
            <a:off x="232000" y="5315803"/>
            <a:ext cx="8732442" cy="79839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42799387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/>
              <a:t>Configure IPv6 Static Routes</a:t>
            </a:r>
            <a:br>
              <a:rPr lang="en-US" sz="1800" dirty="0" smtClean="0"/>
            </a:br>
            <a:r>
              <a:rPr lang="en-US" dirty="0" smtClean="0"/>
              <a:t>Verify IPv6 Static Routes</a:t>
            </a:r>
            <a:endParaRPr lang="en-US" dirty="0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8915" name="Content Placeholder 5"/>
          <p:cNvSpPr>
            <a:spLocks noGrp="1"/>
          </p:cNvSpPr>
          <p:nvPr>
            <p:ph idx="1"/>
          </p:nvPr>
        </p:nvSpPr>
        <p:spPr>
          <a:xfrm>
            <a:off x="554038" y="1551627"/>
            <a:ext cx="7940675" cy="43862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Verify IPv6 </a:t>
            </a:r>
            <a:r>
              <a:rPr lang="en-US" dirty="0"/>
              <a:t>static routes </a:t>
            </a:r>
            <a:r>
              <a:rPr lang="en-US" dirty="0" smtClean="0"/>
              <a:t>using:</a:t>
            </a:r>
            <a:endParaRPr lang="en-US" dirty="0"/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 show running-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 show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ipv6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route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93334900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Configure IPv4 Summary Routes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dirty="0" smtClean="0"/>
              <a:t>CIDR and Route Summarization</a:t>
            </a:r>
            <a:endParaRPr lang="en-US" dirty="0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1" t="42152" r="18150" b="24693"/>
          <a:stretch/>
        </p:blipFill>
        <p:spPr bwMode="auto">
          <a:xfrm>
            <a:off x="3125363" y="1255591"/>
            <a:ext cx="5813948" cy="2715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50124" y="3337689"/>
            <a:ext cx="86117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sz="2000" u="sng" dirty="0" smtClean="0"/>
              <a:t>Notes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SG" sz="2000" dirty="0" smtClean="0"/>
              <a:t>There are 4 remote networks that R1 needs to reach.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SG" sz="2000" dirty="0" smtClean="0"/>
              <a:t>To do so using static routes, R1 can have these 4 static routes inserted into its routing table (172.21.0.0/16 to 172.23.0.0/16)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SG" sz="2000" u="sng" dirty="0" smtClean="0"/>
              <a:t>Note that these 4 static routes use the same exit interface or next-hop IP address.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SG" sz="2000" i="1" dirty="0" smtClean="0"/>
          </a:p>
          <a:p>
            <a:pPr algn="l"/>
            <a:r>
              <a:rPr lang="en-SG" sz="2000" i="1" u="sng" dirty="0" smtClean="0"/>
              <a:t>Question</a:t>
            </a:r>
          </a:p>
          <a:p>
            <a:pPr algn="l"/>
            <a:r>
              <a:rPr lang="en-SG" sz="2000" i="1" dirty="0" smtClean="0"/>
              <a:t>Is there a better way other than to insert these 4 static routes?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SG" sz="2000" dirty="0" smtClean="0"/>
              <a:t>Calculate 1 </a:t>
            </a:r>
            <a:r>
              <a:rPr lang="en-SG" sz="2000" u="sng" dirty="0" smtClean="0"/>
              <a:t>summary static route</a:t>
            </a:r>
            <a:r>
              <a:rPr lang="en-SG" sz="2000" dirty="0" smtClean="0"/>
              <a:t> that can summarise these 4 static routes and insert this summary static route instead.</a:t>
            </a:r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3160856883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/>
              <a:t>Configure IPv4 Summary Routes</a:t>
            </a:r>
            <a:br>
              <a:rPr lang="en-US" sz="1800" dirty="0" smtClean="0"/>
            </a:br>
            <a:r>
              <a:rPr lang="en-US" dirty="0" smtClean="0"/>
              <a:t>Calculate a Summary Route</a:t>
            </a:r>
            <a:endParaRPr lang="en-US" dirty="0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500" t="7335" r="-680"/>
          <a:stretch/>
        </p:blipFill>
        <p:spPr>
          <a:xfrm>
            <a:off x="218339" y="1342100"/>
            <a:ext cx="6305266" cy="5331659"/>
          </a:xfrm>
        </p:spPr>
      </p:pic>
    </p:spTree>
    <p:extLst>
      <p:ext uri="{BB962C8B-B14F-4D97-AF65-F5344CB8AC3E}">
        <p14:creationId xmlns:p14="http://schemas.microsoft.com/office/powerpoint/2010/main" val="1156474625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/>
              <a:t>Configure IPv4 Summary Routes</a:t>
            </a:r>
            <a:br>
              <a:rPr lang="en-US" sz="1800" dirty="0" smtClean="0"/>
            </a:br>
            <a:r>
              <a:rPr lang="en-US" dirty="0" smtClean="0"/>
              <a:t>Summary Static Route Example</a:t>
            </a:r>
            <a:endParaRPr lang="en-US" dirty="0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1" t="42152" r="18150" b="24693"/>
          <a:stretch/>
        </p:blipFill>
        <p:spPr bwMode="auto">
          <a:xfrm>
            <a:off x="3125363" y="1255591"/>
            <a:ext cx="5813948" cy="2715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320722" y="4160008"/>
            <a:ext cx="844114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)#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route </a:t>
            </a:r>
            <a:r>
              <a:rPr lang="en-US" sz="2000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172.20.0.0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255.252.0.0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s0/0/0</a:t>
            </a:r>
          </a:p>
          <a:p>
            <a:pPr marL="0" indent="0" algn="l">
              <a:buNone/>
            </a:pPr>
            <a:endParaRPr lang="en-US" sz="2000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>
              <a:buNone/>
            </a:pPr>
            <a:r>
              <a:rPr lang="en-US" sz="2000" dirty="0" smtClean="0">
                <a:latin typeface="+mn-lt"/>
                <a:cs typeface="Courier New" panose="02070309020205020404" pitchFamily="49" charset="0"/>
              </a:rPr>
              <a:t>OR using next-hop IP address</a:t>
            </a:r>
          </a:p>
          <a:p>
            <a:pPr marL="0" indent="0" algn="l">
              <a:buNone/>
            </a:pPr>
            <a:endParaRPr lang="en-US" sz="2000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)#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route </a:t>
            </a:r>
            <a:r>
              <a:rPr lang="en-US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172.20.0.0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255.252.0.0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u="sng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172.19.0.2</a:t>
            </a:r>
            <a:endParaRPr lang="en-US" sz="2000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>
              <a:buNone/>
            </a:pPr>
            <a:endParaRPr lang="en-US" sz="2000" dirty="0">
              <a:latin typeface="+mn-lt"/>
              <a:cs typeface="Courier New" panose="02070309020205020404" pitchFamily="49" charset="0"/>
            </a:endParaRPr>
          </a:p>
          <a:p>
            <a:pPr marL="0" indent="0" algn="l">
              <a:buNone/>
            </a:pPr>
            <a:r>
              <a:rPr lang="en-US" sz="2000" dirty="0">
                <a:latin typeface="+mn-lt"/>
                <a:cs typeface="Courier New" panose="02070309020205020404" pitchFamily="49" charset="0"/>
              </a:rPr>
              <a:t>Note that if the 4 static routes have been pre-configured already, they must be removed in order for the summary route to take </a:t>
            </a:r>
            <a:r>
              <a:rPr lang="en-US" sz="2000" dirty="0" smtClean="0">
                <a:latin typeface="+mn-lt"/>
                <a:cs typeface="Courier New" panose="02070309020205020404" pitchFamily="49" charset="0"/>
              </a:rPr>
              <a:t>effect.</a:t>
            </a:r>
            <a:endParaRPr lang="en-US" sz="2000" dirty="0">
              <a:latin typeface="+mn-lt"/>
              <a:cs typeface="Courier New" panose="02070309020205020404" pitchFamily="49" charset="0"/>
            </a:endParaRPr>
          </a:p>
          <a:p>
            <a:pPr marL="0" indent="0" algn="l">
              <a:buNone/>
            </a:pPr>
            <a:endParaRPr lang="en-US" sz="2000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381138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>
          <a:xfrm>
            <a:off x="641350" y="347663"/>
            <a:ext cx="8145463" cy="838200"/>
          </a:xfrm>
        </p:spPr>
        <p:txBody>
          <a:bodyPr/>
          <a:lstStyle/>
          <a:p>
            <a:r>
              <a:rPr lang="en-US" dirty="0" smtClean="0"/>
              <a:t>Chapter 6: Summary</a:t>
            </a:r>
          </a:p>
        </p:txBody>
      </p:sp>
      <p:sp>
        <p:nvSpPr>
          <p:cNvPr id="52227" name="Content Placeholder 2"/>
          <p:cNvSpPr>
            <a:spLocks noGrp="1"/>
          </p:cNvSpPr>
          <p:nvPr>
            <p:ph idx="1"/>
          </p:nvPr>
        </p:nvSpPr>
        <p:spPr>
          <a:xfrm>
            <a:off x="232013" y="1317625"/>
            <a:ext cx="8748214" cy="5315187"/>
          </a:xfrm>
        </p:spPr>
        <p:txBody>
          <a:bodyPr/>
          <a:lstStyle/>
          <a:p>
            <a:r>
              <a:rPr lang="en-US" dirty="0" smtClean="0"/>
              <a:t>Static </a:t>
            </a:r>
            <a:r>
              <a:rPr lang="en-US" dirty="0"/>
              <a:t>routes can be configured with a next-hop IP address, which is commonly the IP address of the next-hop </a:t>
            </a:r>
            <a:r>
              <a:rPr lang="en-US" dirty="0" smtClean="0"/>
              <a:t>router</a:t>
            </a:r>
          </a:p>
          <a:p>
            <a:r>
              <a:rPr lang="en-US" dirty="0" smtClean="0"/>
              <a:t>Static routes can also be configured using the router exit interface</a:t>
            </a:r>
          </a:p>
          <a:p>
            <a:r>
              <a:rPr lang="en-US" dirty="0" smtClean="0"/>
              <a:t>Static </a:t>
            </a:r>
            <a:r>
              <a:rPr lang="en-US" dirty="0"/>
              <a:t>routes have a default administrative distance of "1". </a:t>
            </a:r>
            <a:endParaRPr lang="en-US" dirty="0" smtClean="0"/>
          </a:p>
          <a:p>
            <a:r>
              <a:rPr lang="en-US" dirty="0" smtClean="0"/>
              <a:t>Several </a:t>
            </a:r>
            <a:r>
              <a:rPr lang="en-US" dirty="0"/>
              <a:t>static routes can be </a:t>
            </a:r>
            <a:r>
              <a:rPr lang="en-US" dirty="0" err="1" smtClean="0"/>
              <a:t>summarised</a:t>
            </a:r>
            <a:r>
              <a:rPr lang="en-US" dirty="0" smtClean="0"/>
              <a:t> and configured </a:t>
            </a:r>
            <a:r>
              <a:rPr lang="en-US" dirty="0"/>
              <a:t>as a single summary </a:t>
            </a:r>
            <a:r>
              <a:rPr lang="en-US" dirty="0" smtClean="0"/>
              <a:t>route provided the exit interface is the same. </a:t>
            </a:r>
            <a:endParaRPr lang="en-US" dirty="0"/>
          </a:p>
          <a:p>
            <a:r>
              <a:rPr lang="en-US" dirty="0"/>
              <a:t>The ultimate summary route is a default route, configured with a 0.0.0.0 network address and a 0.0.0.0 subnet mask. </a:t>
            </a:r>
          </a:p>
          <a:p>
            <a:r>
              <a:rPr lang="en-US" dirty="0"/>
              <a:t>If there is </a:t>
            </a:r>
            <a:r>
              <a:rPr lang="en-US" dirty="0" smtClean="0"/>
              <a:t>no specific </a:t>
            </a:r>
            <a:r>
              <a:rPr lang="en-US" dirty="0"/>
              <a:t>match in the routing </a:t>
            </a:r>
            <a:r>
              <a:rPr lang="en-US" dirty="0" smtClean="0"/>
              <a:t>table except for the default route, </a:t>
            </a:r>
            <a:r>
              <a:rPr lang="en-US" dirty="0"/>
              <a:t>the </a:t>
            </a:r>
            <a:r>
              <a:rPr lang="en-US" dirty="0" smtClean="0"/>
              <a:t>router will use the </a:t>
            </a:r>
            <a:r>
              <a:rPr lang="en-US" dirty="0"/>
              <a:t>default route to forward the packet to another router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-TMPLT-WHT_C">
  <a:themeElements>
    <a:clrScheme name="PPT-TMPLT-WHT_C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PPT-TMPLT-WHT_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PT-TMPLT-WHT_C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NetAcad-4F_PPT-WHT_060408">
  <a:themeElements>
    <a:clrScheme name="Oct_2006_Cisco White Template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Oct_2006_Cisco Whit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ct_2006_Cisco White Template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18925</TotalTime>
  <Pages>28</Pages>
  <Words>1239</Words>
  <Application>Microsoft Office PowerPoint</Application>
  <PresentationFormat>On-screen Show (4:3)</PresentationFormat>
  <Paragraphs>219</Paragraphs>
  <Slides>22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PPT-TMPLT-WHT_C</vt:lpstr>
      <vt:lpstr>NetAcad-4F_PPT-WHT_060408</vt:lpstr>
      <vt:lpstr>Chapter 6: Static Routing </vt:lpstr>
      <vt:lpstr>Chapter 6</vt:lpstr>
      <vt:lpstr>Chapter 6: Objectives</vt:lpstr>
      <vt:lpstr>Static Routing Reach Remote Networks</vt:lpstr>
      <vt:lpstr>Static Routing Static vs Dynamic Routing</vt:lpstr>
      <vt:lpstr>Static Routing Static vs Dynamic Routing</vt:lpstr>
      <vt:lpstr>Types of Static Routes Static Route Applications</vt:lpstr>
      <vt:lpstr>Configure IPv4 Static Routes Command: ip route</vt:lpstr>
      <vt:lpstr>Configure IPv4 Static Routes Configure a Network Static Route</vt:lpstr>
      <vt:lpstr> Configure IPv4 Static Routes Configure a Default Static Route</vt:lpstr>
      <vt:lpstr>Configure IPv4 Default Routes Configure a Default Static Route</vt:lpstr>
      <vt:lpstr>Configure IPv4 Static Routes Verify a Static Route (running-config)</vt:lpstr>
      <vt:lpstr>Configure IPv4 Static Routes Verify a Static Route (routing table)</vt:lpstr>
      <vt:lpstr>Configure IPv4 Static Routes Verify a Static Route (routing table)</vt:lpstr>
      <vt:lpstr>Configure IPv6 Static Routes The ipv6 route Command</vt:lpstr>
      <vt:lpstr>Configure IPv6 Static Routes Configure a Static IPv6 Route</vt:lpstr>
      <vt:lpstr>Configure IPv6 Default Routes Configure a Default Static IPv6 Route</vt:lpstr>
      <vt:lpstr>Configure IPv6 Static Routes Verify IPv6 Static Routes</vt:lpstr>
      <vt:lpstr>Configure IPv4 Summary Routes CIDR and Route Summarization</vt:lpstr>
      <vt:lpstr>Configure IPv4 Summary Routes Calculate a Summary Route</vt:lpstr>
      <vt:lpstr>Configure IPv4 Summary Routes Summary Static Route Example</vt:lpstr>
      <vt:lpstr>Chapter 6: 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CCNA5.0 Instructor PPT</dc:title>
  <cp:lastModifiedBy>aclimer</cp:lastModifiedBy>
  <cp:revision>1056</cp:revision>
  <cp:lastPrinted>1999-01-27T00:54:54Z</cp:lastPrinted>
  <dcterms:created xsi:type="dcterms:W3CDTF">2006-10-23T15:07:30Z</dcterms:created>
  <dcterms:modified xsi:type="dcterms:W3CDTF">2015-05-14T05:46:17Z</dcterms:modified>
</cp:coreProperties>
</file>