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59"/>
  </p:notesMasterIdLst>
  <p:handoutMasterIdLst>
    <p:handoutMasterId r:id="rId60"/>
  </p:handoutMasterIdLst>
  <p:sldIdLst>
    <p:sldId id="500" r:id="rId3"/>
    <p:sldId id="541" r:id="rId4"/>
    <p:sldId id="627" r:id="rId5"/>
    <p:sldId id="846" r:id="rId6"/>
    <p:sldId id="710" r:id="rId7"/>
    <p:sldId id="736" r:id="rId8"/>
    <p:sldId id="737" r:id="rId9"/>
    <p:sldId id="847" r:id="rId10"/>
    <p:sldId id="738" r:id="rId11"/>
    <p:sldId id="739" r:id="rId12"/>
    <p:sldId id="711" r:id="rId13"/>
    <p:sldId id="854" r:id="rId14"/>
    <p:sldId id="855" r:id="rId15"/>
    <p:sldId id="856" r:id="rId16"/>
    <p:sldId id="740" r:id="rId17"/>
    <p:sldId id="848" r:id="rId18"/>
    <p:sldId id="857" r:id="rId19"/>
    <p:sldId id="741" r:id="rId20"/>
    <p:sldId id="858" r:id="rId21"/>
    <p:sldId id="853" r:id="rId22"/>
    <p:sldId id="777" r:id="rId23"/>
    <p:sldId id="778" r:id="rId24"/>
    <p:sldId id="743" r:id="rId25"/>
    <p:sldId id="859" r:id="rId26"/>
    <p:sldId id="714" r:id="rId27"/>
    <p:sldId id="780" r:id="rId28"/>
    <p:sldId id="744" r:id="rId29"/>
    <p:sldId id="781" r:id="rId30"/>
    <p:sldId id="724" r:id="rId31"/>
    <p:sldId id="860" r:id="rId32"/>
    <p:sldId id="861" r:id="rId33"/>
    <p:sldId id="862" r:id="rId34"/>
    <p:sldId id="863" r:id="rId35"/>
    <p:sldId id="864" r:id="rId36"/>
    <p:sldId id="865" r:id="rId37"/>
    <p:sldId id="866" r:id="rId38"/>
    <p:sldId id="867" r:id="rId39"/>
    <p:sldId id="868" r:id="rId40"/>
    <p:sldId id="869" r:id="rId41"/>
    <p:sldId id="870" r:id="rId42"/>
    <p:sldId id="871" r:id="rId43"/>
    <p:sldId id="872" r:id="rId44"/>
    <p:sldId id="873" r:id="rId45"/>
    <p:sldId id="874" r:id="rId46"/>
    <p:sldId id="875" r:id="rId47"/>
    <p:sldId id="876" r:id="rId48"/>
    <p:sldId id="877" r:id="rId49"/>
    <p:sldId id="878" r:id="rId50"/>
    <p:sldId id="879" r:id="rId51"/>
    <p:sldId id="880" r:id="rId52"/>
    <p:sldId id="881" r:id="rId53"/>
    <p:sldId id="882" r:id="rId54"/>
    <p:sldId id="883" r:id="rId55"/>
    <p:sldId id="884" r:id="rId56"/>
    <p:sldId id="885" r:id="rId57"/>
    <p:sldId id="886" r:id="rId58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0C0C4"/>
    <a:srgbClr val="678DC5"/>
    <a:srgbClr val="3E67A4"/>
    <a:srgbClr val="3E8DC5"/>
    <a:srgbClr val="5F5F65"/>
    <a:srgbClr val="7E7E86"/>
    <a:srgbClr val="8E8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6346" autoAdjust="0"/>
    <p:restoredTop sz="90213" autoAdjust="0"/>
  </p:normalViewPr>
  <p:slideViewPr>
    <p:cSldViewPr snapToGrid="0">
      <p:cViewPr varScale="1">
        <p:scale>
          <a:sx n="62" d="100"/>
          <a:sy n="62" d="100"/>
        </p:scale>
        <p:origin x="90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5669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6.xml"/><Relationship Id="rId18" Type="http://schemas.openxmlformats.org/officeDocument/2006/relationships/slide" Target="slides/slide21.xml"/><Relationship Id="rId26" Type="http://schemas.openxmlformats.org/officeDocument/2006/relationships/slide" Target="slides/slide29.xml"/><Relationship Id="rId39" Type="http://schemas.openxmlformats.org/officeDocument/2006/relationships/slide" Target="slides/slide45.xml"/><Relationship Id="rId3" Type="http://schemas.openxmlformats.org/officeDocument/2006/relationships/slide" Target="slides/slide6.xml"/><Relationship Id="rId21" Type="http://schemas.openxmlformats.org/officeDocument/2006/relationships/slide" Target="slides/slide24.xml"/><Relationship Id="rId34" Type="http://schemas.openxmlformats.org/officeDocument/2006/relationships/slide" Target="slides/slide39.xml"/><Relationship Id="rId42" Type="http://schemas.openxmlformats.org/officeDocument/2006/relationships/slide" Target="slides/slide48.xml"/><Relationship Id="rId47" Type="http://schemas.openxmlformats.org/officeDocument/2006/relationships/slide" Target="slides/slide53.xml"/><Relationship Id="rId50" Type="http://schemas.openxmlformats.org/officeDocument/2006/relationships/slide" Target="slides/slide56.xml"/><Relationship Id="rId7" Type="http://schemas.openxmlformats.org/officeDocument/2006/relationships/slide" Target="slides/slide10.xml"/><Relationship Id="rId12" Type="http://schemas.openxmlformats.org/officeDocument/2006/relationships/slide" Target="slides/slide15.xml"/><Relationship Id="rId17" Type="http://schemas.openxmlformats.org/officeDocument/2006/relationships/slide" Target="slides/slide20.xml"/><Relationship Id="rId25" Type="http://schemas.openxmlformats.org/officeDocument/2006/relationships/slide" Target="slides/slide28.xml"/><Relationship Id="rId33" Type="http://schemas.openxmlformats.org/officeDocument/2006/relationships/slide" Target="slides/slide38.xml"/><Relationship Id="rId38" Type="http://schemas.openxmlformats.org/officeDocument/2006/relationships/slide" Target="slides/slide44.xml"/><Relationship Id="rId46" Type="http://schemas.openxmlformats.org/officeDocument/2006/relationships/slide" Target="slides/slide52.xml"/><Relationship Id="rId2" Type="http://schemas.openxmlformats.org/officeDocument/2006/relationships/slide" Target="slides/slide5.xml"/><Relationship Id="rId16" Type="http://schemas.openxmlformats.org/officeDocument/2006/relationships/slide" Target="slides/slide19.xml"/><Relationship Id="rId20" Type="http://schemas.openxmlformats.org/officeDocument/2006/relationships/slide" Target="slides/slide23.xml"/><Relationship Id="rId29" Type="http://schemas.openxmlformats.org/officeDocument/2006/relationships/slide" Target="slides/slide34.xml"/><Relationship Id="rId41" Type="http://schemas.openxmlformats.org/officeDocument/2006/relationships/slide" Target="slides/slide47.xml"/><Relationship Id="rId1" Type="http://schemas.openxmlformats.org/officeDocument/2006/relationships/slide" Target="slides/slide3.xml"/><Relationship Id="rId6" Type="http://schemas.openxmlformats.org/officeDocument/2006/relationships/slide" Target="slides/slide9.xml"/><Relationship Id="rId11" Type="http://schemas.openxmlformats.org/officeDocument/2006/relationships/slide" Target="slides/slide14.xml"/><Relationship Id="rId24" Type="http://schemas.openxmlformats.org/officeDocument/2006/relationships/slide" Target="slides/slide27.xml"/><Relationship Id="rId32" Type="http://schemas.openxmlformats.org/officeDocument/2006/relationships/slide" Target="slides/slide37.xml"/><Relationship Id="rId37" Type="http://schemas.openxmlformats.org/officeDocument/2006/relationships/slide" Target="slides/slide43.xml"/><Relationship Id="rId40" Type="http://schemas.openxmlformats.org/officeDocument/2006/relationships/slide" Target="slides/slide46.xml"/><Relationship Id="rId45" Type="http://schemas.openxmlformats.org/officeDocument/2006/relationships/slide" Target="slides/slide51.xml"/><Relationship Id="rId5" Type="http://schemas.openxmlformats.org/officeDocument/2006/relationships/slide" Target="slides/slide8.xml"/><Relationship Id="rId15" Type="http://schemas.openxmlformats.org/officeDocument/2006/relationships/slide" Target="slides/slide18.xml"/><Relationship Id="rId23" Type="http://schemas.openxmlformats.org/officeDocument/2006/relationships/slide" Target="slides/slide26.xml"/><Relationship Id="rId28" Type="http://schemas.openxmlformats.org/officeDocument/2006/relationships/slide" Target="slides/slide33.xml"/><Relationship Id="rId36" Type="http://schemas.openxmlformats.org/officeDocument/2006/relationships/slide" Target="slides/slide42.xml"/><Relationship Id="rId49" Type="http://schemas.openxmlformats.org/officeDocument/2006/relationships/slide" Target="slides/slide55.xml"/><Relationship Id="rId10" Type="http://schemas.openxmlformats.org/officeDocument/2006/relationships/slide" Target="slides/slide13.xml"/><Relationship Id="rId19" Type="http://schemas.openxmlformats.org/officeDocument/2006/relationships/slide" Target="slides/slide22.xml"/><Relationship Id="rId31" Type="http://schemas.openxmlformats.org/officeDocument/2006/relationships/slide" Target="slides/slide36.xml"/><Relationship Id="rId44" Type="http://schemas.openxmlformats.org/officeDocument/2006/relationships/slide" Target="slides/slide50.xml"/><Relationship Id="rId4" Type="http://schemas.openxmlformats.org/officeDocument/2006/relationships/slide" Target="slides/slide7.xml"/><Relationship Id="rId9" Type="http://schemas.openxmlformats.org/officeDocument/2006/relationships/slide" Target="slides/slide12.xml"/><Relationship Id="rId14" Type="http://schemas.openxmlformats.org/officeDocument/2006/relationships/slide" Target="slides/slide17.xml"/><Relationship Id="rId22" Type="http://schemas.openxmlformats.org/officeDocument/2006/relationships/slide" Target="slides/slide25.xml"/><Relationship Id="rId27" Type="http://schemas.openxmlformats.org/officeDocument/2006/relationships/slide" Target="slides/slide31.xml"/><Relationship Id="rId30" Type="http://schemas.openxmlformats.org/officeDocument/2006/relationships/slide" Target="slides/slide35.xml"/><Relationship Id="rId35" Type="http://schemas.openxmlformats.org/officeDocument/2006/relationships/slide" Target="slides/slide41.xml"/><Relationship Id="rId43" Type="http://schemas.openxmlformats.org/officeDocument/2006/relationships/slide" Target="slides/slide49.xml"/><Relationship Id="rId48" Type="http://schemas.openxmlformats.org/officeDocument/2006/relationships/slide" Target="slides/slide54.xml"/><Relationship Id="rId8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Presentation_ID.scr</a:t>
            </a:r>
          </a:p>
        </p:txBody>
      </p:sp>
      <p:sp>
        <p:nvSpPr>
          <p:cNvPr id="512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</a:pPr>
            <a:fld id="{22244E67-557B-7741-B9F5-F61AA18495DF}" type="slidenum">
              <a:rPr lang="en-US" sz="800"/>
              <a:pPr algn="r" defTabSz="903288">
                <a:lnSpc>
                  <a:spcPct val="100000"/>
                </a:lnSpc>
              </a:p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181015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Presentation_ID.scr</a:t>
            </a:r>
          </a:p>
        </p:txBody>
      </p:sp>
      <p:sp>
        <p:nvSpPr>
          <p:cNvPr id="6148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 smtClean="0">
                <a:cs typeface="+mn-cs"/>
              </a:defRPr>
            </a:lvl1pPr>
          </a:lstStyle>
          <a:p>
            <a:pPr>
              <a:defRPr/>
            </a:pPr>
            <a:fld id="{F4CE0E46-7F05-B940-8356-5580BE265E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1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646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D9030C1-C977-B14B-8EB7-BA2B30FCDB63}" type="slidenum">
              <a:rPr lang="en-US" sz="800"/>
              <a:pPr/>
              <a:t>1</a:t>
            </a:fld>
            <a:endParaRPr lang="en-US" sz="80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Cisco Networking Academy program</a:t>
            </a:r>
          </a:p>
          <a:p>
            <a:pPr>
              <a:buFontTx/>
              <a:buNone/>
            </a:pPr>
            <a:r>
              <a:rPr lang="en-US" b="1" dirty="0"/>
              <a:t>Introduction</a:t>
            </a:r>
            <a:r>
              <a:rPr lang="en-US" b="1" baseline="0" dirty="0"/>
              <a:t> to Networks</a:t>
            </a:r>
            <a:endParaRPr lang="en-US" b="1" dirty="0"/>
          </a:p>
          <a:p>
            <a:pPr>
              <a:buFontTx/>
              <a:buNone/>
            </a:pPr>
            <a:r>
              <a:rPr lang="en-US" sz="1300" b="1" dirty="0"/>
              <a:t>Chapter 8: IP Addressing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241099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C9B772C-9A16-E444-84E4-86EFFD35BFA2}" type="slidenum">
              <a:rPr lang="en-US" sz="800"/>
              <a:pPr/>
              <a:t>2</a:t>
            </a:fld>
            <a:endParaRPr lang="en-US" sz="80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Chapter 8 Sections</a:t>
            </a:r>
          </a:p>
        </p:txBody>
      </p:sp>
    </p:spTree>
    <p:extLst>
      <p:ext uri="{BB962C8B-B14F-4D97-AF65-F5344CB8AC3E}">
        <p14:creationId xmlns:p14="http://schemas.microsoft.com/office/powerpoint/2010/main" val="186073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0E95DDD-08EC-884D-B2FB-3B087C3B17BA}" type="slidenum">
              <a:rPr lang="en-US" sz="800"/>
              <a:pPr/>
              <a:t>3</a:t>
            </a:fld>
            <a:endParaRPr lang="en-US" sz="800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Chapter</a:t>
            </a:r>
            <a:r>
              <a:rPr lang="en-US" baseline="0" dirty="0"/>
              <a:t> 8 Objectives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953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8.1 IPv4 Network Addresses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524539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E859D19-92DA-A548-BF2C-F95AABC3A619}" type="slidenum">
              <a:rPr lang="en-US" sz="800"/>
              <a:pPr/>
              <a:t>5</a:t>
            </a:fld>
            <a:endParaRPr lang="en-US" sz="8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8.1.1.1  Binary Notation</a:t>
            </a:r>
          </a:p>
        </p:txBody>
      </p:sp>
    </p:spTree>
    <p:extLst>
      <p:ext uri="{BB962C8B-B14F-4D97-AF65-F5344CB8AC3E}">
        <p14:creationId xmlns:p14="http://schemas.microsoft.com/office/powerpoint/2010/main" val="2372054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B085E8B-D399-554D-A2F9-428D37D8558B}" type="slidenum">
              <a:rPr lang="en-US" sz="800"/>
              <a:pPr/>
              <a:t>6</a:t>
            </a:fld>
            <a:endParaRPr lang="en-US" sz="80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8.1.1.2  Binary Number System</a:t>
            </a:r>
          </a:p>
        </p:txBody>
      </p:sp>
    </p:spTree>
    <p:extLst>
      <p:ext uri="{BB962C8B-B14F-4D97-AF65-F5344CB8AC3E}">
        <p14:creationId xmlns:p14="http://schemas.microsoft.com/office/powerpoint/2010/main" val="1785858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574A9B6-3F6D-3B47-A0D1-43AF6B391162}" type="slidenum">
              <a:rPr lang="en-US" sz="800"/>
              <a:pPr/>
              <a:t>7</a:t>
            </a:fld>
            <a:endParaRPr lang="en-US" sz="800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8.1.1.3  Converting a Binary Address to Decimal</a:t>
            </a:r>
          </a:p>
        </p:txBody>
      </p:sp>
    </p:spTree>
    <p:extLst>
      <p:ext uri="{BB962C8B-B14F-4D97-AF65-F5344CB8AC3E}">
        <p14:creationId xmlns:p14="http://schemas.microsoft.com/office/powerpoint/2010/main" val="4071392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574A9B6-3F6D-3B47-A0D1-43AF6B391162}" type="slidenum">
              <a:rPr lang="en-US" sz="800"/>
              <a:pPr/>
              <a:t>8</a:t>
            </a:fld>
            <a:endParaRPr lang="en-US" sz="800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Section 8.1.1.3 &amp; 8.1.1.4  Converting a Binary Address to Decimal</a:t>
            </a:r>
          </a:p>
        </p:txBody>
      </p:sp>
    </p:spTree>
    <p:extLst>
      <p:ext uri="{BB962C8B-B14F-4D97-AF65-F5344CB8AC3E}">
        <p14:creationId xmlns:p14="http://schemas.microsoft.com/office/powerpoint/2010/main" val="1753147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9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8.1.1.5  Converting from Decimal to Binary</a:t>
            </a:r>
          </a:p>
        </p:txBody>
      </p:sp>
    </p:spTree>
    <p:extLst>
      <p:ext uri="{BB962C8B-B14F-4D97-AF65-F5344CB8AC3E}">
        <p14:creationId xmlns:p14="http://schemas.microsoft.com/office/powerpoint/2010/main" val="584276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5B83846-9024-7C4F-A163-5F8E27AA2519}" type="slidenum">
              <a:rPr lang="en-US" sz="800"/>
              <a:pPr/>
              <a:t>10</a:t>
            </a:fld>
            <a:endParaRPr lang="en-US" sz="80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8.1.1.6  Converting from Decimal to Binary (Cont.)</a:t>
            </a:r>
          </a:p>
        </p:txBody>
      </p:sp>
    </p:spTree>
    <p:extLst>
      <p:ext uri="{BB962C8B-B14F-4D97-AF65-F5344CB8AC3E}">
        <p14:creationId xmlns:p14="http://schemas.microsoft.com/office/powerpoint/2010/main" val="4218967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8CB8B7B-A862-E446-99E3-A3C8F6158C07}" type="slidenum">
              <a:rPr lang="en-US" sz="800"/>
              <a:pPr/>
              <a:t>11</a:t>
            </a:fld>
            <a:endParaRPr lang="en-US" sz="800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8.1.2.1  Network Portion and Host</a:t>
            </a:r>
            <a:r>
              <a:rPr lang="en-US" baseline="0" dirty="0"/>
              <a:t> Portion of an IPv4 Address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46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8CB8B7B-A862-E446-99E3-A3C8F6158C07}" type="slidenum">
              <a:rPr lang="en-US" sz="800"/>
              <a:pPr/>
              <a:t>12</a:t>
            </a:fld>
            <a:endParaRPr lang="en-US" sz="800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8.1.2.1  Network Portion and Host</a:t>
            </a:r>
            <a:r>
              <a:rPr lang="en-US" baseline="0" dirty="0"/>
              <a:t> Portion of an IPv4 Address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79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8CB8B7B-A862-E446-99E3-A3C8F6158C07}" type="slidenum">
              <a:rPr lang="en-US" sz="800"/>
              <a:pPr/>
              <a:t>13</a:t>
            </a:fld>
            <a:endParaRPr lang="en-US" sz="800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8.1.2.1  Network Portion and Host</a:t>
            </a:r>
            <a:r>
              <a:rPr lang="en-US" baseline="0" dirty="0"/>
              <a:t> Portion of an IPv4 Address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134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8CB8B7B-A862-E446-99E3-A3C8F6158C07}" type="slidenum">
              <a:rPr lang="en-US" sz="800"/>
              <a:pPr/>
              <a:t>14</a:t>
            </a:fld>
            <a:endParaRPr lang="en-US" sz="800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8.1.2.1  Network Portion and Host</a:t>
            </a:r>
            <a:r>
              <a:rPr lang="en-US" baseline="0" dirty="0"/>
              <a:t> Portion of an IPv4 Address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6618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960854F-6099-C645-9633-B44CFEAB8F51}" type="slidenum">
              <a:rPr lang="en-US" sz="800"/>
              <a:pPr/>
              <a:t>15</a:t>
            </a:fld>
            <a:endParaRPr lang="en-US" sz="800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8.1.2.2  Examining the Prefix Length</a:t>
            </a:r>
          </a:p>
        </p:txBody>
      </p:sp>
    </p:spTree>
    <p:extLst>
      <p:ext uri="{BB962C8B-B14F-4D97-AF65-F5344CB8AC3E}">
        <p14:creationId xmlns:p14="http://schemas.microsoft.com/office/powerpoint/2010/main" val="26660640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960854F-6099-C645-9633-B44CFEAB8F51}" type="slidenum">
              <a:rPr lang="en-US" sz="800"/>
              <a:pPr/>
              <a:t>16</a:t>
            </a:fld>
            <a:endParaRPr lang="en-US" sz="800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8.1.2.2  Examining the Prefix Length (cont.)</a:t>
            </a:r>
          </a:p>
        </p:txBody>
      </p:sp>
    </p:spTree>
    <p:extLst>
      <p:ext uri="{BB962C8B-B14F-4D97-AF65-F5344CB8AC3E}">
        <p14:creationId xmlns:p14="http://schemas.microsoft.com/office/powerpoint/2010/main" val="1291662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960854F-6099-C645-9633-B44CFEAB8F51}" type="slidenum">
              <a:rPr lang="en-US" sz="800"/>
              <a:pPr/>
              <a:t>17</a:t>
            </a:fld>
            <a:endParaRPr lang="en-US" sz="800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8.1.2.2  Examining the Prefix Length (cont.)</a:t>
            </a:r>
          </a:p>
        </p:txBody>
      </p:sp>
    </p:spTree>
    <p:extLst>
      <p:ext uri="{BB962C8B-B14F-4D97-AF65-F5344CB8AC3E}">
        <p14:creationId xmlns:p14="http://schemas.microsoft.com/office/powerpoint/2010/main" val="27443209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2E39C6E-D319-AF40-9A28-E04C69946ADE}" type="slidenum">
              <a:rPr lang="en-US" sz="800"/>
              <a:pPr/>
              <a:t>18</a:t>
            </a:fld>
            <a:endParaRPr lang="en-US" sz="80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8.1.2.3  IPv4 Network, Host and Broadcast Address</a:t>
            </a:r>
          </a:p>
        </p:txBody>
      </p:sp>
    </p:spTree>
    <p:extLst>
      <p:ext uri="{BB962C8B-B14F-4D97-AF65-F5344CB8AC3E}">
        <p14:creationId xmlns:p14="http://schemas.microsoft.com/office/powerpoint/2010/main" val="40339409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2E39C6E-D319-AF40-9A28-E04C69946ADE}" type="slidenum">
              <a:rPr lang="en-US" sz="800"/>
              <a:pPr/>
              <a:t>19</a:t>
            </a:fld>
            <a:endParaRPr lang="en-US" sz="80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8.1.2.3  IPv4 Network, Host and Broadcast Address</a:t>
            </a:r>
          </a:p>
        </p:txBody>
      </p:sp>
    </p:spTree>
    <p:extLst>
      <p:ext uri="{BB962C8B-B14F-4D97-AF65-F5344CB8AC3E}">
        <p14:creationId xmlns:p14="http://schemas.microsoft.com/office/powerpoint/2010/main" val="10632758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17FB9E6-8694-144F-93D6-FB3ABD0E94A0}" type="slidenum">
              <a:rPr lang="en-US" sz="800"/>
              <a:pPr/>
              <a:t>20</a:t>
            </a:fld>
            <a:endParaRPr lang="en-US" sz="80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8.1.3.1  Assigning a Static IPv4 Address to a Host</a:t>
            </a:r>
          </a:p>
        </p:txBody>
      </p:sp>
    </p:spTree>
    <p:extLst>
      <p:ext uri="{BB962C8B-B14F-4D97-AF65-F5344CB8AC3E}">
        <p14:creationId xmlns:p14="http://schemas.microsoft.com/office/powerpoint/2010/main" val="8840320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17FB9E6-8694-144F-93D6-FB3ABD0E94A0}" type="slidenum">
              <a:rPr lang="en-US" sz="800"/>
              <a:pPr/>
              <a:t>21</a:t>
            </a:fld>
            <a:endParaRPr lang="en-US" sz="80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8.1.3.2 Assigning a Dynamic</a:t>
            </a:r>
            <a:r>
              <a:rPr lang="en-US" baseline="0" dirty="0"/>
              <a:t> IPv4 Address to a Host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5702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17FB9E6-8694-144F-93D6-FB3ABD0E94A0}" type="slidenum">
              <a:rPr lang="en-US" sz="800"/>
              <a:pPr/>
              <a:t>22</a:t>
            </a:fld>
            <a:endParaRPr lang="en-US" sz="80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8.1.3.3  Unicast Transmission</a:t>
            </a:r>
          </a:p>
        </p:txBody>
      </p:sp>
    </p:spTree>
    <p:extLst>
      <p:ext uri="{BB962C8B-B14F-4D97-AF65-F5344CB8AC3E}">
        <p14:creationId xmlns:p14="http://schemas.microsoft.com/office/powerpoint/2010/main" val="34148000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D993268-E953-2F42-8C5E-336561899F89}" type="slidenum">
              <a:rPr lang="en-US" sz="800"/>
              <a:pPr/>
              <a:t>23</a:t>
            </a:fld>
            <a:endParaRPr lang="en-US" sz="800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8.1.3.4  Broadcast Transmission</a:t>
            </a:r>
          </a:p>
        </p:txBody>
      </p:sp>
    </p:spTree>
    <p:extLst>
      <p:ext uri="{BB962C8B-B14F-4D97-AF65-F5344CB8AC3E}">
        <p14:creationId xmlns:p14="http://schemas.microsoft.com/office/powerpoint/2010/main" val="37361290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D993268-E953-2F42-8C5E-336561899F89}" type="slidenum">
              <a:rPr lang="en-US" sz="800"/>
              <a:pPr/>
              <a:t>24</a:t>
            </a:fld>
            <a:endParaRPr lang="en-US" sz="800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8.1.3.4  Broadcast Transmission</a:t>
            </a:r>
          </a:p>
        </p:txBody>
      </p:sp>
    </p:spTree>
    <p:extLst>
      <p:ext uri="{BB962C8B-B14F-4D97-AF65-F5344CB8AC3E}">
        <p14:creationId xmlns:p14="http://schemas.microsoft.com/office/powerpoint/2010/main" val="30499198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FC451AD-8F12-D142-8818-C70BDAC90EDF}" type="slidenum">
              <a:rPr lang="en-US" sz="800"/>
              <a:pPr/>
              <a:t>25</a:t>
            </a:fld>
            <a:endParaRPr lang="en-US" sz="800"/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8.1.4.1  Public and Private IPv4 Addresses</a:t>
            </a:r>
          </a:p>
        </p:txBody>
      </p:sp>
    </p:spTree>
    <p:extLst>
      <p:ext uri="{BB962C8B-B14F-4D97-AF65-F5344CB8AC3E}">
        <p14:creationId xmlns:p14="http://schemas.microsoft.com/office/powerpoint/2010/main" val="31815925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FC451AD-8F12-D142-8818-C70BDAC90EDF}" type="slidenum">
              <a:rPr lang="en-US" sz="800"/>
              <a:pPr/>
              <a:t>26</a:t>
            </a:fld>
            <a:endParaRPr lang="en-US" sz="800"/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8.1.4.3  Special Use IPv4 Addresses</a:t>
            </a:r>
          </a:p>
        </p:txBody>
      </p:sp>
    </p:spTree>
    <p:extLst>
      <p:ext uri="{BB962C8B-B14F-4D97-AF65-F5344CB8AC3E}">
        <p14:creationId xmlns:p14="http://schemas.microsoft.com/office/powerpoint/2010/main" val="17635104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B8A5DA9-7DB1-7248-9C05-61318208F4DE}" type="slidenum">
              <a:rPr lang="en-US" sz="800"/>
              <a:pPr/>
              <a:t>27</a:t>
            </a:fld>
            <a:endParaRPr lang="en-US" sz="800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8.1.4.4  Legacy </a:t>
            </a:r>
            <a:r>
              <a:rPr lang="en-US" dirty="0" err="1"/>
              <a:t>Classful</a:t>
            </a:r>
            <a:r>
              <a:rPr lang="en-US" dirty="0"/>
              <a:t> Addressing</a:t>
            </a:r>
          </a:p>
        </p:txBody>
      </p:sp>
    </p:spTree>
    <p:extLst>
      <p:ext uri="{BB962C8B-B14F-4D97-AF65-F5344CB8AC3E}">
        <p14:creationId xmlns:p14="http://schemas.microsoft.com/office/powerpoint/2010/main" val="17038749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B8A5DA9-7DB1-7248-9C05-61318208F4DE}" type="slidenum">
              <a:rPr lang="en-US" sz="800"/>
              <a:pPr/>
              <a:t>28</a:t>
            </a:fld>
            <a:endParaRPr lang="en-US" sz="800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8.1.4.4  Legacy </a:t>
            </a:r>
            <a:r>
              <a:rPr lang="en-US" dirty="0" err="1"/>
              <a:t>Classful</a:t>
            </a:r>
            <a:r>
              <a:rPr lang="en-US" dirty="0"/>
              <a:t> Addressing (cont.)</a:t>
            </a:r>
          </a:p>
        </p:txBody>
      </p:sp>
    </p:spTree>
    <p:extLst>
      <p:ext uri="{BB962C8B-B14F-4D97-AF65-F5344CB8AC3E}">
        <p14:creationId xmlns:p14="http://schemas.microsoft.com/office/powerpoint/2010/main" val="9445502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A7AF211-02D4-CA4C-B739-BDD3E82BAC44}" type="slidenum">
              <a:rPr lang="en-US" sz="800"/>
              <a:pPr/>
              <a:t>29</a:t>
            </a:fld>
            <a:endParaRPr lang="en-US" sz="800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2001907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D9030C1-C977-B14B-8EB7-BA2B30FCDB63}" type="slidenum">
              <a:rPr lang="en-US" sz="800"/>
              <a:pPr/>
              <a:t>30</a:t>
            </a:fld>
            <a:endParaRPr lang="en-US" sz="80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Cisco Networking Academy program</a:t>
            </a:r>
          </a:p>
          <a:p>
            <a:pPr>
              <a:buFontTx/>
              <a:buNone/>
            </a:pPr>
            <a:r>
              <a:rPr lang="en-US" b="1" dirty="0"/>
              <a:t>Introduction</a:t>
            </a:r>
            <a:r>
              <a:rPr lang="en-US" b="1" baseline="0" dirty="0"/>
              <a:t> to Networks</a:t>
            </a:r>
            <a:endParaRPr lang="en-US" b="1" dirty="0"/>
          </a:p>
          <a:p>
            <a:pPr>
              <a:buFontTx/>
              <a:buNone/>
            </a:pPr>
            <a:r>
              <a:rPr lang="en-US" sz="1300" b="1" dirty="0"/>
              <a:t>Chapter 8: IP Addressing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9834589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0E95DDD-08EC-884D-B2FB-3B087C3B17BA}" type="slidenum">
              <a:rPr lang="en-US" sz="800"/>
              <a:pPr/>
              <a:t>31</a:t>
            </a:fld>
            <a:endParaRPr lang="en-US" sz="800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Chapter</a:t>
            </a:r>
            <a:r>
              <a:rPr lang="en-US" baseline="0" dirty="0"/>
              <a:t> 8 Objectives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0258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8.2 IPv6 Network Addresses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0899313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1A4364D-7D8A-FF42-B132-A95366D63434}" type="slidenum">
              <a:rPr lang="en-US" sz="800"/>
              <a:pPr/>
              <a:t>33</a:t>
            </a:fld>
            <a:endParaRPr lang="en-US" sz="800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8.2.1.1  The Need for IPv6</a:t>
            </a:r>
          </a:p>
        </p:txBody>
      </p:sp>
    </p:spTree>
    <p:extLst>
      <p:ext uri="{BB962C8B-B14F-4D97-AF65-F5344CB8AC3E}">
        <p14:creationId xmlns:p14="http://schemas.microsoft.com/office/powerpoint/2010/main" val="2095905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FA6E3D4-1973-8345-B700-18055B1FEF99}" type="slidenum">
              <a:rPr lang="en-US" sz="800"/>
              <a:pPr/>
              <a:t>34</a:t>
            </a:fld>
            <a:endParaRPr lang="en-US" sz="80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8.2.2.1  Hexadecimal Number System</a:t>
            </a:r>
          </a:p>
        </p:txBody>
      </p:sp>
    </p:spTree>
    <p:extLst>
      <p:ext uri="{BB962C8B-B14F-4D97-AF65-F5344CB8AC3E}">
        <p14:creationId xmlns:p14="http://schemas.microsoft.com/office/powerpoint/2010/main" val="22283809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FA6E3D4-1973-8345-B700-18055B1FEF99}" type="slidenum">
              <a:rPr lang="en-US" sz="800"/>
              <a:pPr/>
              <a:t>35</a:t>
            </a:fld>
            <a:endParaRPr lang="en-US" sz="80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8.2.2.1  Hexadecimal Number System (cont.)</a:t>
            </a:r>
          </a:p>
        </p:txBody>
      </p:sp>
    </p:spTree>
    <p:extLst>
      <p:ext uri="{BB962C8B-B14F-4D97-AF65-F5344CB8AC3E}">
        <p14:creationId xmlns:p14="http://schemas.microsoft.com/office/powerpoint/2010/main" val="7017946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B7DDF54-6F0F-7949-9A6F-AE3E2DFFAA6B}" type="slidenum">
              <a:rPr lang="en-US" sz="800"/>
              <a:pPr/>
              <a:t>36</a:t>
            </a:fld>
            <a:endParaRPr lang="en-US" sz="80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8.2.2.2  IPv</a:t>
            </a:r>
            <a:r>
              <a:rPr lang="en-US" baseline="0" dirty="0"/>
              <a:t>6 Address Representation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503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/>
              <a:pPr/>
              <a:t>37</a:t>
            </a:fld>
            <a:endParaRPr lang="en-US" sz="80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8.2.2.3  Rule 1 – Omitting</a:t>
            </a:r>
            <a:r>
              <a:rPr lang="en-US" baseline="0" dirty="0"/>
              <a:t> Leading 0s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0460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/>
              <a:pPr/>
              <a:t>38</a:t>
            </a:fld>
            <a:endParaRPr lang="en-US" sz="80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8.2.2.4  Rule 2 – Omitting All 0 Segments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0408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/>
              <a:pPr/>
              <a:t>39</a:t>
            </a:fld>
            <a:endParaRPr lang="en-US" sz="80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8.2.2.4  Rule 2</a:t>
            </a:r>
            <a:r>
              <a:rPr lang="en-US" baseline="0" dirty="0"/>
              <a:t> – Omitting All 0 Segments (cont.)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8777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41</a:t>
            </a:fld>
            <a:endParaRPr lang="en-US" sz="8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8.2.3.2  IPv6 Prefix Length</a:t>
            </a:r>
          </a:p>
        </p:txBody>
      </p:sp>
    </p:spTree>
    <p:extLst>
      <p:ext uri="{BB962C8B-B14F-4D97-AF65-F5344CB8AC3E}">
        <p14:creationId xmlns:p14="http://schemas.microsoft.com/office/powerpoint/2010/main" val="38823861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42</a:t>
            </a:fld>
            <a:endParaRPr lang="en-US" sz="8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8.2.3.1  IPv6</a:t>
            </a:r>
            <a:r>
              <a:rPr lang="en-US" baseline="0" dirty="0"/>
              <a:t> Address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4788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43</a:t>
            </a:fld>
            <a:endParaRPr lang="en-US" sz="8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8.2.3.1/8.2.3.3  IPv6</a:t>
            </a:r>
            <a:r>
              <a:rPr lang="en-US" baseline="0" dirty="0"/>
              <a:t> Unicast Addresses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8737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44</a:t>
            </a:fld>
            <a:endParaRPr lang="en-US" sz="8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8.2.3.3  IPv6 Unicast Addresses (cont.)</a:t>
            </a:r>
          </a:p>
        </p:txBody>
      </p:sp>
    </p:spTree>
    <p:extLst>
      <p:ext uri="{BB962C8B-B14F-4D97-AF65-F5344CB8AC3E}">
        <p14:creationId xmlns:p14="http://schemas.microsoft.com/office/powerpoint/2010/main" val="165539711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45</a:t>
            </a:fld>
            <a:endParaRPr lang="en-US" sz="8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8.2.3.3</a:t>
            </a:r>
            <a:r>
              <a:rPr lang="en-US" baseline="0" dirty="0"/>
              <a:t>  IPv6 Unicast Addresses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5970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46</a:t>
            </a:fld>
            <a:endParaRPr lang="en-US" sz="8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8.2.3.3  IPv6 Unicast</a:t>
            </a:r>
            <a:r>
              <a:rPr lang="en-US" baseline="0" dirty="0"/>
              <a:t> Addresses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61567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47</a:t>
            </a:fld>
            <a:endParaRPr lang="en-US" sz="8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8.2.3.3  IPv6 Unicast</a:t>
            </a:r>
            <a:r>
              <a:rPr lang="en-US" baseline="0" dirty="0"/>
              <a:t> Addresses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7898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48</a:t>
            </a:fld>
            <a:endParaRPr lang="en-US" sz="8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8.2.3.4  IPv6 Link-Local Unicast Addresses</a:t>
            </a:r>
          </a:p>
        </p:txBody>
      </p:sp>
    </p:spTree>
    <p:extLst>
      <p:ext uri="{BB962C8B-B14F-4D97-AF65-F5344CB8AC3E}">
        <p14:creationId xmlns:p14="http://schemas.microsoft.com/office/powerpoint/2010/main" val="147038692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49</a:t>
            </a:fld>
            <a:endParaRPr lang="en-US" sz="8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8.2.3.4  IPv6 Link-Local Unicast Addresses</a:t>
            </a:r>
          </a:p>
        </p:txBody>
      </p:sp>
    </p:spTree>
    <p:extLst>
      <p:ext uri="{BB962C8B-B14F-4D97-AF65-F5344CB8AC3E}">
        <p14:creationId xmlns:p14="http://schemas.microsoft.com/office/powerpoint/2010/main" val="10434746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50</a:t>
            </a:fld>
            <a:endParaRPr lang="en-US" sz="8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8.2.4.1  Structure</a:t>
            </a:r>
            <a:r>
              <a:rPr lang="en-US" baseline="0" dirty="0"/>
              <a:t> of an IPv6 Global Unicast Address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6980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51</a:t>
            </a:fld>
            <a:endParaRPr lang="en-US" sz="8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8.2.4.1  Structure</a:t>
            </a:r>
            <a:r>
              <a:rPr lang="en-US" baseline="0" dirty="0"/>
              <a:t> of an IPv6 Global Unicast Address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770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52</a:t>
            </a:fld>
            <a:endParaRPr lang="en-US" sz="8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8.2.4.1  Structure</a:t>
            </a:r>
            <a:r>
              <a:rPr lang="en-US" baseline="0" dirty="0"/>
              <a:t> of an IPv6 Global Unicast Address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48429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53</a:t>
            </a:fld>
            <a:endParaRPr lang="en-US" sz="8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8.2.4.5  </a:t>
            </a:r>
            <a:r>
              <a:rPr lang="en-US" sz="1200" dirty="0">
                <a:latin typeface="Arial" charset="0"/>
              </a:rPr>
              <a:t>EUI-64 Process or Randomly Generated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2945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54</a:t>
            </a:fld>
            <a:endParaRPr lang="en-US" sz="8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8.2.4.5  </a:t>
            </a:r>
            <a:r>
              <a:rPr lang="en-US" sz="1200" dirty="0">
                <a:latin typeface="Arial" charset="0"/>
              </a:rPr>
              <a:t>EUI-64 Process or Randomly Generated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64013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55</a:t>
            </a:fld>
            <a:endParaRPr lang="en-US" sz="8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8.2.4.6  Dynamic</a:t>
            </a:r>
            <a:r>
              <a:rPr lang="en-US" baseline="0" dirty="0"/>
              <a:t> Link-local Addresses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94828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A7AF211-02D4-CA4C-B739-BDD3E82BAC44}" type="slidenum">
              <a:rPr lang="en-US" sz="800"/>
              <a:pPr/>
              <a:t>56</a:t>
            </a:fld>
            <a:endParaRPr lang="en-US" sz="800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430102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C7FBAF0-BCF5-8741-945F-3C6763791038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5402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0229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638" y="1687390"/>
            <a:ext cx="7940675" cy="4720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097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15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894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027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836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85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499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190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752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766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74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7F1BC4EF-034A-F647-AA58-B71D58802FDB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84885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04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2851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231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373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0848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5695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4253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7491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8629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160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28856D66-2D7E-BA44-8BF8-F720D8CAD36C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193868" y="394392"/>
            <a:ext cx="8772157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3075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3076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6084AB3D-AE30-934E-B0BC-A74C2CCEE444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sp>
        <p:nvSpPr>
          <p:cNvPr id="3077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3109" y="1379492"/>
            <a:ext cx="8733677" cy="5086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8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3079" name="Rectangle 6313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3080" name="Picture 8" descr="Rev08_Cisco_BrandBar10_060408.png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7160" y="2263775"/>
            <a:ext cx="4389120" cy="1481138"/>
          </a:xfrm>
        </p:spPr>
        <p:txBody>
          <a:bodyPr/>
          <a:lstStyle/>
          <a:p>
            <a:pPr eaLnBrk="1" hangingPunct="1"/>
            <a:r>
              <a:rPr lang="en-US" sz="2800" dirty="0" err="1" smtClean="0">
                <a:latin typeface="Arial" charset="0"/>
              </a:rPr>
              <a:t>Lec</a:t>
            </a:r>
            <a:r>
              <a:rPr lang="en-US" sz="2800" dirty="0">
                <a:latin typeface="Arial" charset="0"/>
              </a:rPr>
              <a:t> </a:t>
            </a:r>
            <a:r>
              <a:rPr lang="en-US" sz="2800" dirty="0" smtClean="0">
                <a:latin typeface="Arial" charset="0"/>
              </a:rPr>
              <a:t>1</a:t>
            </a:r>
            <a:r>
              <a:rPr lang="en-US" sz="2800" smtClean="0">
                <a:latin typeface="Arial" charset="0"/>
              </a:rPr>
              <a:t>: IPv4 </a:t>
            </a:r>
            <a:r>
              <a:rPr lang="en-US" sz="2800" smtClean="0">
                <a:latin typeface="Arial" charset="0"/>
              </a:rPr>
              <a:t>Addressing</a:t>
            </a:r>
            <a:endParaRPr lang="en-US" sz="2800" dirty="0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sz="2400" dirty="0">
                <a:latin typeface="Arial" charset="0"/>
              </a:rPr>
              <a:t>Introduction to Networks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73127"/>
            <a:ext cx="8772157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</a:rPr>
              <a:t>Topics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436388" y="1520456"/>
            <a:ext cx="8186618" cy="500924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sz="2000" dirty="0">
                <a:latin typeface="Arial" charset="0"/>
              </a:rPr>
              <a:t>8.0  Introduction</a:t>
            </a:r>
          </a:p>
          <a:p>
            <a:pPr marL="0" indent="0" eaLnBrk="1" hangingPunct="1">
              <a:buNone/>
            </a:pPr>
            <a:r>
              <a:rPr lang="en-US" sz="2000" dirty="0">
                <a:latin typeface="Arial" charset="0"/>
              </a:rPr>
              <a:t>8.1  IPv4 Network Addresses</a:t>
            </a:r>
          </a:p>
          <a:p>
            <a:pPr marL="0" indent="0" eaLnBrk="1" hangingPunct="1">
              <a:buNone/>
            </a:pPr>
            <a:r>
              <a:rPr lang="en-US" sz="2000" dirty="0">
                <a:latin typeface="Arial" charset="0"/>
              </a:rPr>
              <a:t>8.2  IPv6 Network Addresses</a:t>
            </a:r>
          </a:p>
          <a:p>
            <a:pPr marL="0" indent="0" eaLnBrk="1" hangingPunct="1">
              <a:buNone/>
            </a:pPr>
            <a:r>
              <a:rPr lang="en-US" sz="2000" dirty="0">
                <a:latin typeface="Arial" charset="0"/>
              </a:rPr>
              <a:t>8.3  Connectivity Verification</a:t>
            </a:r>
          </a:p>
          <a:p>
            <a:pPr marL="0" indent="0" eaLnBrk="1" hangingPunct="1">
              <a:buNone/>
            </a:pPr>
            <a:r>
              <a:rPr lang="en-US" sz="2000" dirty="0">
                <a:latin typeface="Arial" charset="0"/>
              </a:rPr>
              <a:t>8.4 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71355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/>
            </a:r>
            <a:br>
              <a:rPr lang="en-US" sz="1800" dirty="0">
                <a:latin typeface="Arial" charset="0"/>
              </a:rPr>
            </a:br>
            <a:r>
              <a:rPr lang="en-US" dirty="0">
                <a:latin typeface="Arial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36" y="1379492"/>
            <a:ext cx="8335459" cy="5086416"/>
          </a:xfrm>
        </p:spPr>
        <p:txBody>
          <a:bodyPr/>
          <a:lstStyle/>
          <a:p>
            <a:pPr marL="0" lvl="1" indent="0">
              <a:spcBef>
                <a:spcPts val="600"/>
              </a:spcBef>
            </a:pPr>
            <a:r>
              <a:rPr lang="en-US" b="1" dirty="0">
                <a:latin typeface="Arial" charset="0"/>
              </a:rPr>
              <a:t>** Chapter 8 in CCNA R&amp;S: Introduction to Networks 1</a:t>
            </a:r>
          </a:p>
          <a:p>
            <a:pPr marL="0" indent="0">
              <a:spcBef>
                <a:spcPts val="600"/>
              </a:spcBef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Upon completion of this chapter, you will be able to: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Describe the structure of an IPv4 address.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Describe the purpose of the subnet mask.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Compare the characteristics and uses of the unicast, broadcast, and multicast IPv4 addresses.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Compare the use of public address space and private address space.</a:t>
            </a:r>
          </a:p>
          <a:p>
            <a:pPr>
              <a:spcBef>
                <a:spcPts val="600"/>
              </a:spcBef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  <a:p>
            <a:pPr>
              <a:spcBef>
                <a:spcPts val="600"/>
              </a:spcBef>
            </a:pPr>
            <a:r>
              <a:rPr lang="en-US" sz="2000" dirty="0"/>
              <a:t>Describe the role of ICMP in an IP network. (Include IPv4 and IPv6.)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Use ping and </a:t>
            </a:r>
            <a:r>
              <a:rPr lang="en-US" sz="2000" dirty="0" err="1"/>
              <a:t>traceroute</a:t>
            </a:r>
            <a:r>
              <a:rPr lang="en-US" sz="2000" dirty="0"/>
              <a:t> utilities to test network connectivity.</a:t>
            </a:r>
          </a:p>
          <a:p>
            <a:pPr>
              <a:spcBef>
                <a:spcPts val="600"/>
              </a:spcBef>
            </a:pPr>
            <a:endParaRPr lang="en-US" sz="2000" dirty="0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400" dirty="0"/>
              <a:t>8.1 IPv4 Network Addresses</a:t>
            </a:r>
            <a:endParaRPr lang="en-US" sz="2400" dirty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912309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447555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Address Structure</a:t>
            </a:r>
            <a:br>
              <a:rPr lang="en-US" sz="1800" dirty="0">
                <a:latin typeface="Arial" charset="0"/>
              </a:rPr>
            </a:br>
            <a:r>
              <a:rPr lang="en-US" dirty="0">
                <a:latin typeface="Arial" charset="0"/>
              </a:rPr>
              <a:t>Represented in Dotted Decimal Format</a:t>
            </a:r>
          </a:p>
        </p:txBody>
      </p:sp>
      <p:sp>
        <p:nvSpPr>
          <p:cNvPr id="6" name="Rounded Rectangle 5"/>
          <p:cNvSpPr/>
          <p:nvPr/>
        </p:nvSpPr>
        <p:spPr bwMode="auto">
          <a:xfrm>
            <a:off x="536448" y="1804416"/>
            <a:ext cx="2194560" cy="2944511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82296" tIns="36576" rIns="82296" bIns="36576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dirty="0"/>
          </a:p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dirty="0"/>
          </a:p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dirty="0"/>
          </a:p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an octet</a:t>
            </a:r>
            <a:endParaRPr kumimoji="0" lang="en-US" sz="24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536448" y="1314450"/>
            <a:ext cx="5888736" cy="2708910"/>
          </a:xfrm>
          <a:prstGeom prst="roundRect">
            <a:avLst/>
          </a:prstGeom>
          <a:solidFill>
            <a:srgbClr val="FFC000">
              <a:alpha val="20000"/>
            </a:srgbClr>
          </a:solidFill>
          <a:ln w="1905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82296" tIns="36576" rIns="82296" bIns="36576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network portion</a:t>
            </a:r>
            <a:endParaRPr kumimoji="0" lang="en-US" sz="2400" b="0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6510528" y="1314450"/>
            <a:ext cx="2097024" cy="270891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82296" tIns="36576" rIns="82296" bIns="36576" numCol="1" rtlCol="0" anchor="t" anchorCtr="0" compatLnSpc="1">
            <a:prstTxWarp prst="textNoShape">
              <a:avLst/>
            </a:prstTxWarp>
            <a:noAutofit/>
          </a:bodyPr>
          <a:lstStyle/>
          <a:p>
            <a:pPr algn="r" defTabSz="814388"/>
            <a:r>
              <a:rPr lang="en-GB" i="1" dirty="0">
                <a:solidFill>
                  <a:srgbClr val="FF0000"/>
                </a:solidFill>
              </a:rPr>
              <a:t>host portion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9" name="Content Placeholder 1"/>
          <p:cNvSpPr txBox="1">
            <a:spLocks/>
          </p:cNvSpPr>
          <p:nvPr/>
        </p:nvSpPr>
        <p:spPr bwMode="auto">
          <a:xfrm>
            <a:off x="536448" y="1781175"/>
            <a:ext cx="8059865" cy="4869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charset="0"/>
              <a:buNone/>
            </a:pPr>
            <a:r>
              <a:rPr lang="en-GB" sz="5400" dirty="0"/>
              <a:t>   192    168     10       1 </a:t>
            </a:r>
          </a:p>
          <a:p>
            <a:pPr marL="0" indent="0" algn="ctr">
              <a:buFont typeface="Wingdings" charset="0"/>
              <a:buNone/>
            </a:pPr>
            <a:endParaRPr lang="en-GB" sz="2800" dirty="0"/>
          </a:p>
          <a:p>
            <a:pPr marL="0" indent="0" algn="ctr">
              <a:buFont typeface="Wingdings" charset="0"/>
              <a:buNone/>
            </a:pPr>
            <a:r>
              <a:rPr lang="en-GB" sz="2800" dirty="0"/>
              <a:t>11000000 . 10101000 . 00001010 . 00000001</a:t>
            </a:r>
          </a:p>
          <a:p>
            <a:pPr algn="r">
              <a:buFont typeface="Arial" charset="0"/>
              <a:buChar char="•"/>
            </a:pPr>
            <a:endParaRPr lang="en-GB" sz="2000" i="1" dirty="0"/>
          </a:p>
          <a:p>
            <a:pPr marL="0" indent="0" algn="r">
              <a:buNone/>
            </a:pPr>
            <a:r>
              <a:rPr lang="en-GB" sz="2000" i="1" dirty="0"/>
              <a:t>* assuming a network mask of 255.255.255.0</a:t>
            </a:r>
          </a:p>
          <a:p>
            <a:pPr marL="457200" indent="-457200">
              <a:buAutoNum type="alphaLcPeriod"/>
            </a:pPr>
            <a:r>
              <a:rPr lang="en-US" sz="2000" i="1" dirty="0"/>
              <a:t>How many bits in an IPv4 address? ________</a:t>
            </a:r>
          </a:p>
          <a:p>
            <a:pPr marL="457200" indent="-457200">
              <a:buAutoNum type="alphaLcPeriod"/>
            </a:pPr>
            <a:r>
              <a:rPr lang="en-US" sz="2000" i="1" dirty="0"/>
              <a:t>How many octets are there? ________</a:t>
            </a:r>
          </a:p>
          <a:p>
            <a:pPr marL="457200" indent="-457200">
              <a:buAutoNum type="alphaLcPeriod"/>
            </a:pPr>
            <a:r>
              <a:rPr lang="en-US" sz="2000" i="1" dirty="0"/>
              <a:t>How many bits are there in an octet? ________</a:t>
            </a:r>
          </a:p>
          <a:p>
            <a:pPr marL="457200" indent="-457200">
              <a:buAutoNum type="alphaLcPeriod"/>
            </a:pPr>
            <a:r>
              <a:rPr lang="en-US" sz="2000" i="1" dirty="0"/>
              <a:t>What is the decimal range of each octet? ________</a:t>
            </a: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6459474" y="1314450"/>
            <a:ext cx="0" cy="313879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Oval 10"/>
          <p:cNvSpPr/>
          <p:nvPr/>
        </p:nvSpPr>
        <p:spPr bwMode="auto">
          <a:xfrm>
            <a:off x="2622692" y="2361887"/>
            <a:ext cx="102870" cy="102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2628138" y="3701670"/>
            <a:ext cx="102870" cy="102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4514945" y="3701670"/>
            <a:ext cx="102870" cy="102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6407658" y="3657030"/>
            <a:ext cx="102870" cy="102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6410716" y="2371014"/>
            <a:ext cx="102870" cy="102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4512973" y="2371014"/>
            <a:ext cx="102870" cy="102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44011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Address Structure</a:t>
            </a:r>
            <a:br>
              <a:rPr lang="en-US" sz="1800" dirty="0">
                <a:latin typeface="Arial" charset="0"/>
              </a:rPr>
            </a:br>
            <a:r>
              <a:rPr lang="en-US" dirty="0">
                <a:latin typeface="Arial" charset="0"/>
              </a:rPr>
              <a:t>Binary Number System</a:t>
            </a: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683" y="2390424"/>
            <a:ext cx="6982187" cy="3824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564076" y="1522494"/>
            <a:ext cx="7867403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</a:rPr>
              <a:t>The Binary number system (or Base 2)</a:t>
            </a:r>
          </a:p>
          <a:p>
            <a:pPr marL="742950" lvl="1" indent="-285750" algn="l">
              <a:buFont typeface="Arial" pitchFamily="34" charset="0"/>
              <a:buChar char="•"/>
            </a:pPr>
            <a:r>
              <a:rPr lang="en-US" sz="1800" dirty="0"/>
              <a:t> only two digits: 0 and 1</a:t>
            </a:r>
          </a:p>
          <a:p>
            <a:pPr marL="742950" lvl="1" indent="-285750" algn="l">
              <a:buFont typeface="Arial" pitchFamily="34" charset="0"/>
              <a:buChar char="•"/>
            </a:pPr>
            <a:r>
              <a:rPr lang="en-GB" sz="1800" dirty="0"/>
              <a:t> let’s examine 1 octet in an IPv4 address, 1 1 0 0 0 0 0 0:-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47059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Address Structure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Converting a Binary Address to Decimal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0323" y="1569720"/>
            <a:ext cx="8124077" cy="4896188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Practice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046" y="1965096"/>
            <a:ext cx="6195271" cy="1329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333" y="4169246"/>
            <a:ext cx="6144984" cy="118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387708" y="3256335"/>
            <a:ext cx="4574907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So 10110000 = 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7708" y="5353821"/>
            <a:ext cx="443794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So 11111111 = 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9195" y="3189250"/>
            <a:ext cx="785793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dirty="0">
                <a:solidFill>
                  <a:srgbClr val="FF0000"/>
                </a:solidFill>
              </a:rPr>
              <a:t>176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0302" y="5272598"/>
            <a:ext cx="785793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dirty="0">
                <a:solidFill>
                  <a:srgbClr val="FF0000"/>
                </a:solidFill>
              </a:rPr>
              <a:t>255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47059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Address Structure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Converting a Binary Address to Decimal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6"/>
          <a:stretch/>
        </p:blipFill>
        <p:spPr bwMode="auto">
          <a:xfrm>
            <a:off x="190005" y="1407793"/>
            <a:ext cx="8597735" cy="4993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190005" y="3206338"/>
            <a:ext cx="8835242" cy="593766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reeform 2"/>
          <p:cNvSpPr/>
          <p:nvPr/>
        </p:nvSpPr>
        <p:spPr bwMode="auto">
          <a:xfrm>
            <a:off x="74120" y="3823855"/>
            <a:ext cx="3595355" cy="2052263"/>
          </a:xfrm>
          <a:custGeom>
            <a:avLst/>
            <a:gdLst>
              <a:gd name="connsiteX0" fmla="*/ 258389 w 3595355"/>
              <a:gd name="connsiteY0" fmla="*/ 0 h 2052263"/>
              <a:gd name="connsiteX1" fmla="*/ 341516 w 3595355"/>
              <a:gd name="connsiteY1" fmla="*/ 1840675 h 2052263"/>
              <a:gd name="connsiteX2" fmla="*/ 3595355 w 3595355"/>
              <a:gd name="connsiteY2" fmla="*/ 2030680 h 2052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95355" h="2052263">
                <a:moveTo>
                  <a:pt x="258389" y="0"/>
                </a:moveTo>
                <a:cubicBezTo>
                  <a:pt x="21872" y="751114"/>
                  <a:pt x="-214645" y="1502228"/>
                  <a:pt x="341516" y="1840675"/>
                </a:cubicBezTo>
                <a:cubicBezTo>
                  <a:pt x="897677" y="2179122"/>
                  <a:pt x="3058986" y="2002971"/>
                  <a:pt x="3595355" y="2030680"/>
                </a:cubicBezTo>
              </a:path>
            </a:pathLst>
          </a:cu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545315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437301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Address Structure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Converting from Decimal to Binary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640" y="1407792"/>
            <a:ext cx="5817870" cy="515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900052" y="2579267"/>
            <a:ext cx="2549435" cy="4247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168 = ? In binary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5820" y="1407792"/>
            <a:ext cx="38392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2000" dirty="0">
                <a:solidFill>
                  <a:srgbClr val="FF0000"/>
                </a:solidFill>
              </a:rPr>
              <a:t>Converting decimal to binary is a series of steps starting from the leftmost bit of the octet</a:t>
            </a: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44011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Address Structure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sz="2800" dirty="0">
                <a:latin typeface="Arial" charset="0"/>
              </a:rPr>
              <a:t>Converting from Decimal to Binary (Cont.)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358" y="1721173"/>
            <a:ext cx="6108002" cy="44815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338182" y="312730"/>
            <a:ext cx="8632593" cy="896038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Subnet Mask</a:t>
            </a:r>
            <a:br>
              <a:rPr lang="en-US" sz="1800" dirty="0">
                <a:latin typeface="Arial" charset="0"/>
              </a:rPr>
            </a:br>
            <a:r>
              <a:rPr lang="en-US" sz="2400" dirty="0">
                <a:latin typeface="Arial" charset="0"/>
              </a:rPr>
              <a:t>Network Portion and Host Portion of an IPv4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73238" y="1437368"/>
            <a:ext cx="816624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itchFamily="2" charset="2"/>
              <a:buChar char="§"/>
            </a:pPr>
            <a:r>
              <a:rPr lang="en-US" sz="2000" dirty="0"/>
              <a:t>To define the network and host portion of an address, a separate 32-bit pattern called a </a:t>
            </a:r>
            <a:r>
              <a:rPr lang="en-US" sz="2000" u="sng" dirty="0"/>
              <a:t>subnet mask</a:t>
            </a:r>
            <a:r>
              <a:rPr lang="en-US" sz="2000" dirty="0"/>
              <a:t> is used.</a:t>
            </a:r>
          </a:p>
          <a:p>
            <a:pPr algn="l"/>
            <a:endParaRPr lang="en-US" sz="2000" dirty="0"/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dirty="0"/>
              <a:t>The subnet mask does not actually contain the network or host portion of an IPv4 address, it just tells you where to look for these portions in a given IPv4 address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80" y="3289834"/>
            <a:ext cx="5485039" cy="322510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308780" y="5070764"/>
            <a:ext cx="5502240" cy="1444179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32223" y="3289834"/>
            <a:ext cx="30930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SG" sz="2000" dirty="0"/>
              <a:t>Subnet mask appears in binary as a series of 1s followed by a series of 0s. </a:t>
            </a:r>
          </a:p>
          <a:p>
            <a:pPr algn="l"/>
            <a:endParaRPr lang="en-SG" sz="2000" dirty="0"/>
          </a:p>
          <a:p>
            <a:pPr marL="342900" indent="-342900" algn="l">
              <a:buFont typeface="Arial" pitchFamily="34" charset="0"/>
              <a:buChar char="•"/>
            </a:pPr>
            <a:r>
              <a:rPr lang="en-SG" sz="2000" dirty="0"/>
              <a:t>The network divide (dash line) for the IP address is where the series of 1s meet the 0s in the subnet mask.</a:t>
            </a: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338182" y="312730"/>
            <a:ext cx="8632593" cy="896038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Subnet Mask</a:t>
            </a:r>
            <a:br>
              <a:rPr lang="en-US" sz="1800" dirty="0">
                <a:latin typeface="Arial" charset="0"/>
              </a:rPr>
            </a:br>
            <a:r>
              <a:rPr lang="en-US" sz="2400" dirty="0">
                <a:latin typeface="Arial" charset="0"/>
              </a:rPr>
              <a:t>Network Portion and Host Portion of an IPv4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73238" y="1437368"/>
            <a:ext cx="81662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dirty="0"/>
              <a:t>Example 1:	IPv4 address:	10.20.30.40</a:t>
            </a:r>
          </a:p>
          <a:p>
            <a:pPr algn="l"/>
            <a:r>
              <a:rPr lang="en-US" sz="2000" dirty="0"/>
              <a:t>		Subnet mask:	255.255.0.0 (or /16)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32154"/>
              </p:ext>
            </p:extLst>
          </p:nvPr>
        </p:nvGraphicFramePr>
        <p:xfrm>
          <a:off x="373238" y="2691398"/>
          <a:ext cx="84145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IPv4 address: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10.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20.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30.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(in binary):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00001010.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00010100.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00011110.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00101000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Subnet mask: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255.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255.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(in binary):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11111111.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11111111.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00000000.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 bwMode="auto">
          <a:xfrm>
            <a:off x="5415148" y="2299252"/>
            <a:ext cx="0" cy="194022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3194107" y="2299252"/>
            <a:ext cx="1800493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800" dirty="0">
                <a:solidFill>
                  <a:srgbClr val="FF0000"/>
                </a:solidFill>
              </a:rPr>
              <a:t>Network portion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142" y="2299252"/>
            <a:ext cx="1428596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800" dirty="0">
                <a:solidFill>
                  <a:srgbClr val="FF0000"/>
                </a:solidFill>
              </a:rPr>
              <a:t>Host portion</a:t>
            </a:r>
          </a:p>
        </p:txBody>
      </p:sp>
      <p:cxnSp>
        <p:nvCxnSpPr>
          <p:cNvPr id="11" name="Straight Arrow Connector 10"/>
          <p:cNvCxnSpPr/>
          <p:nvPr/>
        </p:nvCxnSpPr>
        <p:spPr bwMode="auto">
          <a:xfrm flipH="1">
            <a:off x="4607626" y="2291934"/>
            <a:ext cx="676893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rot="10800000" flipH="1">
            <a:off x="5569523" y="2278076"/>
            <a:ext cx="676893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TextBox 1"/>
          <p:cNvSpPr txBox="1"/>
          <p:nvPr/>
        </p:nvSpPr>
        <p:spPr>
          <a:xfrm>
            <a:off x="373238" y="4773881"/>
            <a:ext cx="83788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2000" dirty="0"/>
              <a:t>Representing the subnet mask as a subnet prefix: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SG" sz="2000" dirty="0"/>
              <a:t>Subnet mask is in dotted decimal format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SG" sz="2000" dirty="0"/>
              <a:t>It can also be represented in a prefix format such as /16 as in this example above by counting the number of 1s in the binary form of the subnet mask</a:t>
            </a:r>
          </a:p>
          <a:p>
            <a:pPr marL="342900" indent="-342900" algn="l">
              <a:buFont typeface="Arial" pitchFamily="34" charset="0"/>
              <a:buChar char="•"/>
            </a:pP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48642352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338182" y="312730"/>
            <a:ext cx="8632593" cy="896038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Subnet Mask</a:t>
            </a:r>
            <a:br>
              <a:rPr lang="en-US" sz="1800" dirty="0">
                <a:latin typeface="Arial" charset="0"/>
              </a:rPr>
            </a:br>
            <a:r>
              <a:rPr lang="en-US" sz="2400" dirty="0">
                <a:latin typeface="Arial" charset="0"/>
              </a:rPr>
              <a:t>Network Portion and Host Portion of an IPv4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73238" y="1437368"/>
            <a:ext cx="81662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dirty="0"/>
              <a:t>Example 2:	IPv4 address:	10.20.30.40</a:t>
            </a:r>
          </a:p>
          <a:p>
            <a:pPr algn="l"/>
            <a:r>
              <a:rPr lang="en-US" sz="2000" dirty="0"/>
              <a:t>		Subnet mask:	255.255.240.0 (or /20)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057830"/>
              </p:ext>
            </p:extLst>
          </p:nvPr>
        </p:nvGraphicFramePr>
        <p:xfrm>
          <a:off x="373238" y="2691398"/>
          <a:ext cx="84145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IPv4 address: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10.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20.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30.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(in binary):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00001010.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00010100.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0001 1110.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00101000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Subnet mask: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255.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255.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240.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(in binary):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11111111.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11111111.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1111</a:t>
                      </a:r>
                      <a:r>
                        <a:rPr lang="en-SG" baseline="0" dirty="0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 bwMode="auto">
          <a:xfrm>
            <a:off x="6210773" y="2299252"/>
            <a:ext cx="0" cy="194022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3989732" y="2299252"/>
            <a:ext cx="1800493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800" dirty="0">
                <a:solidFill>
                  <a:srgbClr val="FF0000"/>
                </a:solidFill>
              </a:rPr>
              <a:t>Network portion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8767" y="2299252"/>
            <a:ext cx="1428596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800" dirty="0">
                <a:solidFill>
                  <a:srgbClr val="FF0000"/>
                </a:solidFill>
              </a:rPr>
              <a:t>Host portion</a:t>
            </a:r>
          </a:p>
        </p:txBody>
      </p:sp>
      <p:cxnSp>
        <p:nvCxnSpPr>
          <p:cNvPr id="11" name="Straight Arrow Connector 10"/>
          <p:cNvCxnSpPr/>
          <p:nvPr/>
        </p:nvCxnSpPr>
        <p:spPr bwMode="auto">
          <a:xfrm flipH="1">
            <a:off x="5403251" y="2291934"/>
            <a:ext cx="676893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rot="10800000" flipH="1">
            <a:off x="6365148" y="2278076"/>
            <a:ext cx="676893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63531487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338182" y="312730"/>
            <a:ext cx="8632593" cy="896038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Subnet Mask</a:t>
            </a:r>
            <a:br>
              <a:rPr lang="en-US" sz="1800" dirty="0">
                <a:latin typeface="Arial" charset="0"/>
              </a:rPr>
            </a:br>
            <a:r>
              <a:rPr lang="en-US" sz="2400" dirty="0">
                <a:latin typeface="Arial" charset="0"/>
              </a:rPr>
              <a:t>Network Portion and Host Portion of an IPv4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73238" y="1437368"/>
            <a:ext cx="81662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dirty="0"/>
              <a:t>Example 3:	IPv4 address:	10.20.30.40 </a:t>
            </a:r>
            <a:r>
              <a:rPr lang="en-US" sz="2000" b="1" u="sng" dirty="0"/>
              <a:t>/24</a:t>
            </a:r>
          </a:p>
          <a:p>
            <a:pPr algn="l"/>
            <a:r>
              <a:rPr lang="en-US" sz="2000" dirty="0"/>
              <a:t>		Subnet mask:	_______________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716405"/>
              </p:ext>
            </p:extLst>
          </p:nvPr>
        </p:nvGraphicFramePr>
        <p:xfrm>
          <a:off x="373238" y="2691398"/>
          <a:ext cx="84145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IPv4 address: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10.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20.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30.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(in binary):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00001010.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00010100.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00011110.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00101000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Subnet mask: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255.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255.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255.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(in binary):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11111111.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11111111.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1111</a:t>
                      </a:r>
                      <a:r>
                        <a:rPr lang="en-SG" baseline="0" dirty="0">
                          <a:solidFill>
                            <a:srgbClr val="FF0000"/>
                          </a:solidFill>
                        </a:rPr>
                        <a:t>1111</a:t>
                      </a:r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 bwMode="auto">
          <a:xfrm>
            <a:off x="7113273" y="2299252"/>
            <a:ext cx="0" cy="194022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892232" y="2299252"/>
            <a:ext cx="1800493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800" dirty="0">
                <a:solidFill>
                  <a:srgbClr val="FF0000"/>
                </a:solidFill>
              </a:rPr>
              <a:t>Network portion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1267" y="2299252"/>
            <a:ext cx="1428596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800" dirty="0">
                <a:solidFill>
                  <a:srgbClr val="FF0000"/>
                </a:solidFill>
              </a:rPr>
              <a:t>Host portion</a:t>
            </a:r>
          </a:p>
        </p:txBody>
      </p:sp>
      <p:cxnSp>
        <p:nvCxnSpPr>
          <p:cNvPr id="11" name="Straight Arrow Connector 10"/>
          <p:cNvCxnSpPr/>
          <p:nvPr/>
        </p:nvCxnSpPr>
        <p:spPr bwMode="auto">
          <a:xfrm flipH="1">
            <a:off x="6305751" y="2291934"/>
            <a:ext cx="676893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rot="10800000" flipH="1">
            <a:off x="7267648" y="2278076"/>
            <a:ext cx="676893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TextBox 1"/>
          <p:cNvSpPr txBox="1"/>
          <p:nvPr/>
        </p:nvSpPr>
        <p:spPr>
          <a:xfrm>
            <a:off x="4132913" y="1714367"/>
            <a:ext cx="182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dirty="0">
                <a:solidFill>
                  <a:srgbClr val="FF0000"/>
                </a:solidFill>
              </a:rPr>
              <a:t>255.255.255.0</a:t>
            </a:r>
          </a:p>
        </p:txBody>
      </p:sp>
    </p:spTree>
    <p:extLst>
      <p:ext uri="{BB962C8B-B14F-4D97-AF65-F5344CB8AC3E}">
        <p14:creationId xmlns:p14="http://schemas.microsoft.com/office/powerpoint/2010/main" val="73967956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406821"/>
            <a:ext cx="8483685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Subnet Mask</a:t>
            </a:r>
            <a:br>
              <a:rPr lang="en-US" sz="1800" dirty="0">
                <a:latin typeface="Arial" charset="0"/>
              </a:rPr>
            </a:br>
            <a:r>
              <a:rPr lang="en-US" dirty="0">
                <a:latin typeface="Arial" charset="0"/>
              </a:rPr>
              <a:t>Examining the Prefix Length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1" b="59452"/>
          <a:stretch/>
        </p:blipFill>
        <p:spPr bwMode="auto">
          <a:xfrm>
            <a:off x="297022" y="1258785"/>
            <a:ext cx="8435522" cy="264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56" b="30172"/>
          <a:stretch/>
        </p:blipFill>
        <p:spPr bwMode="auto">
          <a:xfrm>
            <a:off x="297022" y="3966356"/>
            <a:ext cx="8401202" cy="2054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465"/>
          <a:stretch/>
        </p:blipFill>
        <p:spPr bwMode="auto">
          <a:xfrm>
            <a:off x="331255" y="1877886"/>
            <a:ext cx="8173643" cy="2022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463283" y="452541"/>
            <a:ext cx="8483685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Subnet Mask</a:t>
            </a:r>
            <a:br>
              <a:rPr lang="en-US" sz="1800" dirty="0">
                <a:latin typeface="Arial" charset="0"/>
              </a:rPr>
            </a:br>
            <a:r>
              <a:rPr lang="en-US" dirty="0">
                <a:latin typeface="Arial" charset="0"/>
              </a:rPr>
              <a:t>Examining the Prefix Length (cont.)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49" b="44658"/>
          <a:stretch/>
        </p:blipFill>
        <p:spPr bwMode="auto">
          <a:xfrm>
            <a:off x="331255" y="4147199"/>
            <a:ext cx="816236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8" b="82932"/>
          <a:stretch/>
        </p:blipFill>
        <p:spPr bwMode="auto">
          <a:xfrm>
            <a:off x="319381" y="1496289"/>
            <a:ext cx="8185518" cy="546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5947207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463283" y="452541"/>
            <a:ext cx="8483685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Subnet Mask</a:t>
            </a:r>
            <a:br>
              <a:rPr lang="en-US" sz="1800" dirty="0">
                <a:latin typeface="Arial" charset="0"/>
              </a:rPr>
            </a:br>
            <a:r>
              <a:rPr lang="en-US" dirty="0">
                <a:latin typeface="Arial" charset="0"/>
              </a:rPr>
              <a:t>Examining the Prefix Length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5636" y="1389425"/>
            <a:ext cx="817022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SG" sz="2000" dirty="0"/>
              <a:t>Network address is the first address of a network/subnet:-</a:t>
            </a:r>
          </a:p>
          <a:p>
            <a:pPr marL="800100" lvl="1" indent="-342900" algn="l">
              <a:buFont typeface="Arial" pitchFamily="34" charset="0"/>
              <a:buChar char="•"/>
            </a:pPr>
            <a:r>
              <a:rPr lang="en-SG" sz="2000" dirty="0"/>
              <a:t>Host bits are all 0</a:t>
            </a:r>
          </a:p>
          <a:p>
            <a:pPr marL="800100" lvl="1" indent="-342900" algn="l">
              <a:buFont typeface="Arial" pitchFamily="34" charset="0"/>
              <a:buChar char="•"/>
            </a:pPr>
            <a:r>
              <a:rPr lang="en-SG" sz="2000" dirty="0"/>
              <a:t>This address is an identity address for the subnet</a:t>
            </a:r>
          </a:p>
          <a:p>
            <a:pPr marL="800100" lvl="1" indent="-342900" algn="l">
              <a:buFont typeface="Arial" pitchFamily="34" charset="0"/>
              <a:buChar char="•"/>
            </a:pPr>
            <a:r>
              <a:rPr lang="en-SG" sz="2000" dirty="0"/>
              <a:t>CANNOT be assigned to network interfaces</a:t>
            </a:r>
          </a:p>
          <a:p>
            <a:pPr marL="342900" indent="-342900" algn="l">
              <a:buFont typeface="Arial" pitchFamily="34" charset="0"/>
              <a:buChar char="•"/>
            </a:pPr>
            <a:endParaRPr lang="en-SG" sz="2000" dirty="0"/>
          </a:p>
          <a:p>
            <a:pPr marL="342900" indent="-342900" algn="l">
              <a:buFont typeface="Arial" pitchFamily="34" charset="0"/>
              <a:buChar char="•"/>
            </a:pPr>
            <a:r>
              <a:rPr lang="en-SG" sz="2000" dirty="0"/>
              <a:t>Broadcast address is the last address of a network/subnet:-</a:t>
            </a:r>
          </a:p>
          <a:p>
            <a:pPr marL="800100" lvl="1" indent="-342900" algn="l">
              <a:buFont typeface="Arial" pitchFamily="34" charset="0"/>
              <a:buChar char="•"/>
            </a:pPr>
            <a:r>
              <a:rPr lang="en-SG" sz="2000" dirty="0"/>
              <a:t>Host bits are all 1</a:t>
            </a:r>
          </a:p>
          <a:p>
            <a:pPr marL="800100" lvl="1" indent="-342900" algn="l">
              <a:buFont typeface="Arial" pitchFamily="34" charset="0"/>
              <a:buChar char="•"/>
            </a:pPr>
            <a:r>
              <a:rPr lang="en-SG" sz="2000" dirty="0"/>
              <a:t>This address is used to send data to all hosts</a:t>
            </a:r>
          </a:p>
          <a:p>
            <a:pPr marL="800100" lvl="1" indent="-342900" algn="l">
              <a:buFont typeface="Arial" pitchFamily="34" charset="0"/>
              <a:buChar char="•"/>
            </a:pPr>
            <a:r>
              <a:rPr lang="en-SG" sz="2000" dirty="0"/>
              <a:t>CANNOT be assigned to network interfaces</a:t>
            </a:r>
          </a:p>
          <a:p>
            <a:pPr marL="342900" indent="-342900" algn="l">
              <a:buFont typeface="Arial" pitchFamily="34" charset="0"/>
              <a:buChar char="•"/>
            </a:pPr>
            <a:endParaRPr lang="en-SG" sz="2000" dirty="0"/>
          </a:p>
          <a:p>
            <a:pPr marL="342900" indent="-342900" algn="l">
              <a:buFont typeface="Arial" pitchFamily="34" charset="0"/>
              <a:buChar char="•"/>
            </a:pPr>
            <a:r>
              <a:rPr lang="en-SG" sz="2000" dirty="0"/>
              <a:t>First to Last host address:-</a:t>
            </a:r>
          </a:p>
          <a:p>
            <a:pPr marL="800100" lvl="1" indent="-342900" algn="l">
              <a:buFont typeface="Arial" pitchFamily="34" charset="0"/>
              <a:buChar char="•"/>
            </a:pPr>
            <a:r>
              <a:rPr lang="en-SG" sz="2000" dirty="0"/>
              <a:t>The usable range which can be assigned to network interfaces</a:t>
            </a:r>
          </a:p>
          <a:p>
            <a:pPr algn="l"/>
            <a:endParaRPr lang="en-SG" sz="2000" dirty="0"/>
          </a:p>
          <a:p>
            <a:pPr algn="l"/>
            <a:r>
              <a:rPr lang="en-SG" sz="2000" b="1" dirty="0"/>
              <a:t>Observation:-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SG" sz="2000" dirty="0"/>
              <a:t>Subnet mask / prefix determines the size of the subnet: </a:t>
            </a:r>
          </a:p>
          <a:p>
            <a:pPr marL="800100" lvl="1" indent="-342900" algn="l">
              <a:buFont typeface="Arial" pitchFamily="34" charset="0"/>
              <a:buChar char="•"/>
            </a:pPr>
            <a:r>
              <a:rPr lang="en-SG" sz="2000" dirty="0"/>
              <a:t>the bigger the prefix number, the small the subnet</a:t>
            </a:r>
          </a:p>
          <a:p>
            <a:pPr marL="342900" indent="-342900" algn="l">
              <a:buFont typeface="Arial" pitchFamily="34" charset="0"/>
              <a:buChar char="•"/>
            </a:pPr>
            <a:endParaRPr lang="en-SG" sz="2000" dirty="0"/>
          </a:p>
          <a:p>
            <a:pPr marL="342900" indent="-342900" algn="l">
              <a:buFont typeface="Arial" pitchFamily="34" charset="0"/>
              <a:buChar char="•"/>
            </a:pPr>
            <a:r>
              <a:rPr lang="en-SG" sz="2000" dirty="0"/>
              <a:t>To find the size of the subnet:-</a:t>
            </a:r>
          </a:p>
          <a:p>
            <a:pPr marL="800100" lvl="1" indent="-342900" algn="l">
              <a:buFont typeface="Arial" pitchFamily="34" charset="0"/>
              <a:buChar char="•"/>
            </a:pPr>
            <a:r>
              <a:rPr lang="en-SG" sz="2000" dirty="0"/>
              <a:t>Number of usable hosts = 2^(number of host bits) - 2</a:t>
            </a:r>
          </a:p>
        </p:txBody>
      </p:sp>
    </p:spTree>
    <p:extLst>
      <p:ext uri="{BB962C8B-B14F-4D97-AF65-F5344CB8AC3E}">
        <p14:creationId xmlns:p14="http://schemas.microsoft.com/office/powerpoint/2010/main" val="2165361528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55"/>
          <a:stretch/>
        </p:blipFill>
        <p:spPr bwMode="auto">
          <a:xfrm>
            <a:off x="640081" y="1142442"/>
            <a:ext cx="3810000" cy="2698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6391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Subnet Mask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IPv4 Network, Host, and Broadcast 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1" y="1981200"/>
            <a:ext cx="321563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10.1.1.0/24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99573"/>
              </p:ext>
            </p:extLst>
          </p:nvPr>
        </p:nvGraphicFramePr>
        <p:xfrm>
          <a:off x="475012" y="3487057"/>
          <a:ext cx="8324605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3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SG" dirty="0"/>
                        <a:t>Network Portion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Host 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Type of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All 0s -&gt; </a:t>
                      </a:r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Network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0s and 1s in host portion </a:t>
                      </a:r>
                    </a:p>
                    <a:p>
                      <a:r>
                        <a:rPr lang="en-SG" dirty="0"/>
                        <a:t>-&gt;</a:t>
                      </a:r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 Host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11111111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All 1s -&gt; </a:t>
                      </a:r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Broadcast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55"/>
          <a:stretch/>
        </p:blipFill>
        <p:spPr bwMode="auto">
          <a:xfrm>
            <a:off x="640081" y="1142442"/>
            <a:ext cx="3810000" cy="2698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6391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Subnet Mask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IPv4 Network, Host, and Broadcast 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1" y="1981200"/>
            <a:ext cx="321563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10.1.1.0/24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88062"/>
              </p:ext>
            </p:extLst>
          </p:nvPr>
        </p:nvGraphicFramePr>
        <p:xfrm>
          <a:off x="475012" y="3487057"/>
          <a:ext cx="8324605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3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SG" dirty="0"/>
                        <a:t>Network Portion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Host 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Type of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SG" baseline="30000" dirty="0">
                          <a:solidFill>
                            <a:srgbClr val="FF0000"/>
                          </a:solidFill>
                        </a:rPr>
                        <a:t>st</a:t>
                      </a:r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 host</a:t>
                      </a:r>
                      <a:r>
                        <a:rPr lang="en-SG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11111110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Last host </a:t>
                      </a:r>
                      <a:r>
                        <a:rPr lang="en-SG" baseline="0" dirty="0">
                          <a:solidFill>
                            <a:srgbClr val="FF0000"/>
                          </a:solidFill>
                        </a:rPr>
                        <a:t>address</a:t>
                      </a:r>
                      <a:endParaRPr lang="en-SG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8827480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406810" y="39439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Unicast, Broadcast, and Multicast</a:t>
            </a:r>
            <a:br>
              <a:rPr lang="en-US" sz="1800" dirty="0">
                <a:latin typeface="Arial" charset="0"/>
              </a:rPr>
            </a:br>
            <a:r>
              <a:rPr lang="en-US" dirty="0">
                <a:latin typeface="Arial" charset="0"/>
              </a:rPr>
              <a:t>Assigning a Static IPv4 Address to a 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335" y="1675594"/>
            <a:ext cx="359092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LAN Interface 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6518" y="1679570"/>
            <a:ext cx="426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Configuring a Static IPv4 Address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18"/>
          <a:stretch/>
        </p:blipFill>
        <p:spPr bwMode="auto">
          <a:xfrm>
            <a:off x="541334" y="1975877"/>
            <a:ext cx="3742567" cy="4887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3177" y="1975877"/>
            <a:ext cx="4449626" cy="4819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937679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42487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Unicast, Broadcast, and Multicast</a:t>
            </a:r>
            <a:br>
              <a:rPr lang="en-US" sz="1800" dirty="0">
                <a:latin typeface="Arial" charset="0"/>
              </a:rPr>
            </a:br>
            <a:r>
              <a:rPr lang="en-US" sz="2800" dirty="0">
                <a:latin typeface="Arial" charset="0"/>
              </a:rPr>
              <a:t>Assigning a Dynamic IPv4 Address to a Host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2514" y="5152571"/>
            <a:ext cx="8244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DHCP – The preferred method of assigning IPv4 addresses to hosts on large networks because it reduces the burden on network support staff and virtually eliminates entry errors.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10" y="1447347"/>
            <a:ext cx="3943335" cy="3488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45" y="1447347"/>
            <a:ext cx="4772025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139691" y="3527368"/>
            <a:ext cx="2641600" cy="4247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Verification</a:t>
            </a:r>
          </a:p>
        </p:txBody>
      </p:sp>
    </p:spTree>
    <p:extLst>
      <p:ext uri="{BB962C8B-B14F-4D97-AF65-F5344CB8AC3E}">
        <p14:creationId xmlns:p14="http://schemas.microsoft.com/office/powerpoint/2010/main" val="3124235014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310883" y="40963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Unicast, Broadcast, and Multicast</a:t>
            </a:r>
            <a:br>
              <a:rPr lang="en-US" sz="1800" dirty="0">
                <a:latin typeface="Arial" charset="0"/>
              </a:rPr>
            </a:br>
            <a:r>
              <a:rPr lang="en-US" sz="2800" dirty="0">
                <a:latin typeface="Arial" charset="0"/>
              </a:rPr>
              <a:t>Unicast Transmission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6571" y="2327425"/>
            <a:ext cx="29881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#1 Unicast</a:t>
            </a:r>
            <a:r>
              <a:rPr lang="en-US" sz="2000" dirty="0"/>
              <a:t> – the process of sending a packet from one host to an individual host.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464" y="2234613"/>
            <a:ext cx="5171999" cy="40562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10" name="Straight Arrow Connector 9"/>
          <p:cNvCxnSpPr/>
          <p:nvPr/>
        </p:nvCxnSpPr>
        <p:spPr bwMode="auto">
          <a:xfrm flipV="1">
            <a:off x="4437741" y="4145280"/>
            <a:ext cx="1140099" cy="5807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6984997" y="4127977"/>
            <a:ext cx="885371" cy="5950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306158" y="1422561"/>
            <a:ext cx="8715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In an IPv4 network, the hosts can communicate one of three different ways:</a:t>
            </a:r>
          </a:p>
          <a:p>
            <a:pPr algn="l"/>
            <a:r>
              <a:rPr lang="en-US" sz="2000" b="1" dirty="0"/>
              <a:t>Unicast</a:t>
            </a:r>
            <a:r>
              <a:rPr lang="en-US" sz="2000" dirty="0"/>
              <a:t>, Broadcast, and Multicast</a:t>
            </a:r>
          </a:p>
        </p:txBody>
      </p:sp>
    </p:spTree>
    <p:extLst>
      <p:ext uri="{BB962C8B-B14F-4D97-AF65-F5344CB8AC3E}">
        <p14:creationId xmlns:p14="http://schemas.microsoft.com/office/powerpoint/2010/main" val="1020686650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345697" y="39439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Unicast, Broadcast, and Multicast</a:t>
            </a:r>
            <a:br>
              <a:rPr lang="en-US" sz="1800" dirty="0">
                <a:latin typeface="Arial" charset="0"/>
              </a:rPr>
            </a:br>
            <a:r>
              <a:rPr lang="en-US" dirty="0">
                <a:latin typeface="Arial" charset="0"/>
              </a:rPr>
              <a:t>Broadcast Transmission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0324" y="1357275"/>
            <a:ext cx="8364548" cy="1013187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In an IPv4 network, the hosts can communicate one of three different ways: Unicast, </a:t>
            </a:r>
            <a:r>
              <a:rPr lang="en-US" sz="2000" b="1" dirty="0"/>
              <a:t>Broadcast</a:t>
            </a:r>
            <a:r>
              <a:rPr lang="en-US" sz="2000" dirty="0"/>
              <a:t>, and Multicast.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3868057" y="4009578"/>
            <a:ext cx="1103085" cy="8853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3708400" y="4355736"/>
            <a:ext cx="449943" cy="12428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482858" y="3786663"/>
            <a:ext cx="228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NOTE</a:t>
            </a:r>
            <a:r>
              <a:rPr lang="en-US" sz="2000" dirty="0"/>
              <a:t>: Routers do not forward a limited broadcast!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570" y="2778044"/>
            <a:ext cx="3483429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dirty="0"/>
              <a:t>Directed broadcast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dirty="0"/>
              <a:t>Destination 172.16.4.255 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dirty="0"/>
              <a:t>Hosts within the 172.16.4.0/24 network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266" y="2340107"/>
            <a:ext cx="5175605" cy="40031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13" name="Straight Arrow Connector 12"/>
          <p:cNvCxnSpPr/>
          <p:nvPr/>
        </p:nvCxnSpPr>
        <p:spPr bwMode="auto">
          <a:xfrm>
            <a:off x="6711136" y="4341693"/>
            <a:ext cx="457198" cy="11657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H="1">
            <a:off x="5954840" y="4585739"/>
            <a:ext cx="349896" cy="9216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V="1">
            <a:off x="4301764" y="4002109"/>
            <a:ext cx="1480458" cy="7837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Rectangle 2"/>
          <p:cNvSpPr/>
          <p:nvPr/>
        </p:nvSpPr>
        <p:spPr>
          <a:xfrm>
            <a:off x="441961" y="2340107"/>
            <a:ext cx="29565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000" b="1" dirty="0"/>
              <a:t>#2 Broadcast</a:t>
            </a:r>
            <a:r>
              <a:rPr lang="en-US" sz="2000" dirty="0"/>
              <a:t> – the process of sending a packet from one host to all hosts in the network. 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617" y="4979306"/>
            <a:ext cx="30680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Directed broadcast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/>
              <a:t>Destination 172.16.4.255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/>
              <a:t>Hosts within the 172.16.4.0/24 network</a:t>
            </a:r>
          </a:p>
        </p:txBody>
      </p:sp>
      <p:cxnSp>
        <p:nvCxnSpPr>
          <p:cNvPr id="18" name="Straight Arrow Connector 17"/>
          <p:cNvCxnSpPr/>
          <p:nvPr/>
        </p:nvCxnSpPr>
        <p:spPr bwMode="auto">
          <a:xfrm>
            <a:off x="6937354" y="4027278"/>
            <a:ext cx="995363" cy="7586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36" t="28398" r="18338" b="20000"/>
          <a:stretch/>
        </p:blipFill>
        <p:spPr bwMode="auto">
          <a:xfrm>
            <a:off x="3638394" y="2182216"/>
            <a:ext cx="5505606" cy="4423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345697" y="39439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Unicast, Broadcast, and Multicast</a:t>
            </a:r>
            <a:br>
              <a:rPr lang="en-US" sz="1800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Multicast</a:t>
            </a:r>
            <a:r>
              <a:rPr lang="en-US" dirty="0">
                <a:latin typeface="Arial" charset="0"/>
              </a:rPr>
              <a:t> Transmission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0324" y="1357275"/>
            <a:ext cx="8364548" cy="1013187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In an IPv4 network, the hosts can communicate one of three different ways: Unicast, Broadcast, and </a:t>
            </a:r>
            <a:r>
              <a:rPr lang="en-US" sz="2000" b="1" dirty="0"/>
              <a:t>Multicast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6711136" y="4341693"/>
            <a:ext cx="457198" cy="11657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6391197" y="4325052"/>
            <a:ext cx="0" cy="10663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V="1">
            <a:off x="4301764" y="4002109"/>
            <a:ext cx="1480458" cy="7837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Rectangle 2"/>
          <p:cNvSpPr/>
          <p:nvPr/>
        </p:nvSpPr>
        <p:spPr>
          <a:xfrm>
            <a:off x="441961" y="2340107"/>
            <a:ext cx="295656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000" b="1" dirty="0"/>
              <a:t>#3 Multicast</a:t>
            </a:r>
            <a:r>
              <a:rPr lang="en-US" sz="2000" dirty="0"/>
              <a:t> – the process of sending a packet from one host to a group of hosts in the network which subscribes to a special range of addresses know as multicast addresses. </a:t>
            </a:r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/>
              <a:t>In this example, the multicast address is 224.10.10.5</a:t>
            </a:r>
          </a:p>
        </p:txBody>
      </p:sp>
    </p:spTree>
    <p:extLst>
      <p:ext uri="{BB962C8B-B14F-4D97-AF65-F5344CB8AC3E}">
        <p14:creationId xmlns:p14="http://schemas.microsoft.com/office/powerpoint/2010/main" val="1708066566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387083" y="39439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Types of IPv4 Address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Public and Private IPv4 Addresses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8323" y="1470932"/>
            <a:ext cx="8382251" cy="5086416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Private address blocks:</a:t>
            </a:r>
          </a:p>
          <a:p>
            <a:r>
              <a:rPr lang="en-US" sz="2000" dirty="0"/>
              <a:t>Hosts that do not require </a:t>
            </a:r>
            <a:r>
              <a:rPr lang="en-US" sz="2000" u="sng" dirty="0"/>
              <a:t>direct</a:t>
            </a:r>
            <a:r>
              <a:rPr lang="en-US" sz="2000" dirty="0"/>
              <a:t> access to the Internet can use private addresses</a:t>
            </a:r>
          </a:p>
          <a:p>
            <a:pPr marL="685800" lvl="1" indent="-228600">
              <a:buFont typeface="Wingdings" panose="05000000000000000000" pitchFamily="2" charset="2"/>
              <a:buChar char="§"/>
            </a:pPr>
            <a:r>
              <a:rPr lang="en-US" dirty="0"/>
              <a:t>10.0.0.0 to 10.255.255.255 (10.0.0.0/8)</a:t>
            </a:r>
          </a:p>
          <a:p>
            <a:pPr marL="685800" lvl="1" indent="-228600">
              <a:buFont typeface="Wingdings" panose="05000000000000000000" pitchFamily="2" charset="2"/>
              <a:buChar char="§"/>
            </a:pPr>
            <a:r>
              <a:rPr lang="en-US" dirty="0"/>
              <a:t>172.16.0.0 to 172.31.255.255 (172.16.0.0/12)</a:t>
            </a:r>
          </a:p>
          <a:p>
            <a:pPr marL="685800" lvl="1" indent="-228600">
              <a:buFont typeface="Wingdings" panose="05000000000000000000" pitchFamily="2" charset="2"/>
              <a:buChar char="§"/>
            </a:pPr>
            <a:r>
              <a:rPr lang="en-US" dirty="0"/>
              <a:t>192.168.0.0 to 192.168.255.255 (192.168.0.0/16)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Public address blocks:</a:t>
            </a:r>
          </a:p>
          <a:p>
            <a:pPr marL="236538" lvl="1" indent="-236538">
              <a:spcBef>
                <a:spcPct val="50000"/>
              </a:spcBef>
              <a:buFont typeface="Wingdings" charset="0"/>
              <a:buChar char="§"/>
            </a:pPr>
            <a:r>
              <a:rPr lang="en-US" sz="2000" dirty="0"/>
              <a:t>Most of the other addresses are publicly accessible from the Internet</a:t>
            </a:r>
          </a:p>
          <a:p>
            <a:pPr marL="236538" lvl="1" indent="-236538">
              <a:spcBef>
                <a:spcPct val="50000"/>
              </a:spcBef>
              <a:buFont typeface="Wingdings" charset="0"/>
              <a:buChar char="§"/>
            </a:pPr>
            <a:r>
              <a:rPr lang="en-US" dirty="0"/>
              <a:t>Some address blocks are set aside for special purpose (see next slide)</a:t>
            </a:r>
          </a:p>
          <a:p>
            <a:pPr marL="347663" indent="-22860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7915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Types of IPv4 Address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Special Use IPv4 Addresses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6240" y="1371600"/>
            <a:ext cx="8351520" cy="5319486"/>
          </a:xfrm>
        </p:spPr>
        <p:txBody>
          <a:bodyPr/>
          <a:lstStyle/>
          <a:p>
            <a:r>
              <a:rPr lang="en-US" sz="2000" b="1" dirty="0"/>
              <a:t>Network and Broadcast addresses</a:t>
            </a:r>
            <a:r>
              <a:rPr lang="en-US" sz="2000" dirty="0"/>
              <a:t> – within each network the first and last addresses cannot be assigned to hosts</a:t>
            </a:r>
          </a:p>
          <a:p>
            <a:r>
              <a:rPr lang="en-US" sz="2000" b="1" dirty="0"/>
              <a:t>Loopback address</a:t>
            </a:r>
            <a:r>
              <a:rPr lang="en-US" sz="2000" dirty="0"/>
              <a:t> – 127.0.0.1 a special address that hosts use to direct traffic to themselves (addresses 127.0.0.0 to 127.255.255.255 are reserved)</a:t>
            </a:r>
          </a:p>
          <a:p>
            <a:r>
              <a:rPr lang="en-US" sz="2000" b="1" dirty="0"/>
              <a:t>Link-Local address</a:t>
            </a:r>
            <a:r>
              <a:rPr lang="en-US" sz="2000" dirty="0"/>
              <a:t> – 169.254.0.0 to 169.254.255.255 (169.254.0.0/16) addresses can be automatically assigned to the local host</a:t>
            </a:r>
          </a:p>
          <a:p>
            <a:r>
              <a:rPr lang="en-US" sz="2000" b="1" dirty="0"/>
              <a:t>TEST-NET addresses</a:t>
            </a:r>
            <a:r>
              <a:rPr lang="en-US" sz="2000" dirty="0"/>
              <a:t> – 192.0.2.0 to 192.0.2.255 (192.0.2.0/24) set aside for teaching and learning purposes, used in documentation and network examples</a:t>
            </a:r>
          </a:p>
          <a:p>
            <a:r>
              <a:rPr lang="en-US" sz="2000" b="1" dirty="0"/>
              <a:t>Experimental addresses</a:t>
            </a:r>
            <a:r>
              <a:rPr lang="en-US" sz="2000" dirty="0"/>
              <a:t> – 240.0.0.0 to 255.255.255.254 are listed as reserved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560924210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310184" y="427755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Types of IPv4 Address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Legacy </a:t>
            </a:r>
            <a:r>
              <a:rPr lang="en-US" dirty="0" err="1">
                <a:latin typeface="Arial" charset="0"/>
              </a:rPr>
              <a:t>Classful</a:t>
            </a:r>
            <a:r>
              <a:rPr lang="en-US" dirty="0">
                <a:latin typeface="Arial" charset="0"/>
              </a:rPr>
              <a:t> Addressing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24" y="1265955"/>
            <a:ext cx="8441930" cy="5225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351246" y="39439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Types of IPv4 Address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Legacy </a:t>
            </a:r>
            <a:r>
              <a:rPr lang="en-US" dirty="0" err="1">
                <a:latin typeface="Arial" charset="0"/>
              </a:rPr>
              <a:t>Classful</a:t>
            </a:r>
            <a:r>
              <a:rPr lang="en-US" dirty="0">
                <a:latin typeface="Arial" charset="0"/>
              </a:rPr>
              <a:t> Addressing (cont.)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6486" y="1654629"/>
            <a:ext cx="859245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/>
              <a:t>Problems of legacy </a:t>
            </a:r>
            <a:r>
              <a:rPr lang="en-US" sz="2000" b="1" dirty="0" err="1"/>
              <a:t>classful</a:t>
            </a:r>
            <a:r>
              <a:rPr lang="en-US" sz="2000" b="1" dirty="0"/>
              <a:t> addressing:-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000" dirty="0"/>
              <a:t>There are not more than 128 Class A blocks, 16,384 Class B blocks and 2,097,150 Class C blocks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000" dirty="0"/>
              <a:t>Insufficient for modern world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000" dirty="0"/>
              <a:t>A company that needs 260 addresses will be assigned a Class B block which leads to wastage of many addresses</a:t>
            </a:r>
          </a:p>
          <a:p>
            <a:pPr marL="342900" indent="-342900" algn="l">
              <a:buFont typeface="Arial" pitchFamily="34" charset="0"/>
              <a:buChar char="•"/>
            </a:pPr>
            <a:endParaRPr lang="en-US" sz="2000" dirty="0"/>
          </a:p>
          <a:p>
            <a:pPr marL="342900" indent="-342900" algn="l">
              <a:buFont typeface="Arial" pitchFamily="34" charset="0"/>
              <a:buChar char="•"/>
            </a:pPr>
            <a:endParaRPr lang="en-US" sz="2000" b="1" dirty="0"/>
          </a:p>
          <a:p>
            <a:pPr algn="l"/>
            <a:r>
              <a:rPr lang="en-US" sz="2000" b="1" dirty="0"/>
              <a:t>Classless Addressing</a:t>
            </a:r>
            <a:endParaRPr lang="en-US" sz="2000" dirty="0"/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/>
              <a:t>Formal name is Classless Inter-Domain Routing (CIDR, pronounced “cider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/>
              <a:t>Created a new set of standards that allowed service providers to allocate IPv4 addresses on any address bit boundary (prefix length) instead of only by a class A, B, or C address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80867561"/>
      </p:ext>
    </p:extLst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9439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 Addressing</a:t>
            </a:r>
            <a:br>
              <a:rPr lang="en-US" sz="1800" dirty="0">
                <a:latin typeface="Arial" charset="0"/>
              </a:rPr>
            </a:br>
            <a:r>
              <a:rPr lang="en-US" dirty="0">
                <a:latin typeface="Arial" charset="0"/>
              </a:rPr>
              <a:t>Summary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0323" y="1508760"/>
            <a:ext cx="8352677" cy="4957148"/>
          </a:xfrm>
        </p:spPr>
        <p:txBody>
          <a:bodyPr/>
          <a:lstStyle/>
          <a:p>
            <a:r>
              <a:rPr lang="en-US" sz="2000" dirty="0"/>
              <a:t>IP addresses are hierarchical with network, </a:t>
            </a:r>
            <a:r>
              <a:rPr lang="en-US" sz="2000" dirty="0" err="1"/>
              <a:t>subnetwork</a:t>
            </a:r>
            <a:r>
              <a:rPr lang="en-US" sz="2000" dirty="0"/>
              <a:t>, and host portions. </a:t>
            </a:r>
          </a:p>
          <a:p>
            <a:r>
              <a:rPr lang="en-US" sz="2000" dirty="0"/>
              <a:t>An IP address can represent a complete network, a host, or the broadcast address of the network.</a:t>
            </a:r>
          </a:p>
          <a:p>
            <a:r>
              <a:rPr lang="en-US" sz="2000" dirty="0"/>
              <a:t>The subnet mask or prefix is used to determine the network portion of an IP address. </a:t>
            </a:r>
          </a:p>
          <a:p>
            <a:r>
              <a:rPr lang="en-US" sz="2000" dirty="0"/>
              <a:t>DHCP enables the automatic assignment of addressing information such as IP address, subnet mask, default gateway, and other configuration information.</a:t>
            </a:r>
          </a:p>
          <a:p>
            <a:r>
              <a:rPr lang="en-US" sz="2000" dirty="0"/>
              <a:t>IPv4 hosts can communicate one of three different ways: unicast, broadcast, and multicast. </a:t>
            </a:r>
          </a:p>
          <a:p>
            <a:r>
              <a:rPr lang="en-US" sz="2000" dirty="0"/>
              <a:t>The private IPv4 address blocks are: 10.0.0.0/8, 172.16.0.0/12, and 192.168.0.0/16.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7160" y="2263775"/>
            <a:ext cx="4229100" cy="1481138"/>
          </a:xfrm>
        </p:spPr>
        <p:txBody>
          <a:bodyPr/>
          <a:lstStyle/>
          <a:p>
            <a:pPr eaLnBrk="1" hangingPunct="1"/>
            <a:r>
              <a:rPr lang="en-US" sz="2800" dirty="0" err="1">
                <a:latin typeface="Arial" charset="0"/>
              </a:rPr>
              <a:t>Lec</a:t>
            </a:r>
            <a:r>
              <a:rPr lang="en-US" sz="2800" dirty="0">
                <a:latin typeface="Arial" charset="0"/>
              </a:rPr>
              <a:t> 1</a:t>
            </a:r>
            <a:r>
              <a:rPr lang="en-US" sz="2800" dirty="0" smtClean="0">
                <a:latin typeface="Arial" charset="0"/>
              </a:rPr>
              <a:t>: IPv6 </a:t>
            </a:r>
            <a:r>
              <a:rPr lang="en-US" sz="2800" dirty="0" smtClean="0">
                <a:latin typeface="Arial" charset="0"/>
              </a:rPr>
              <a:t>Addressing</a:t>
            </a:r>
            <a:endParaRPr lang="en-US" sz="2800" dirty="0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sz="2400" dirty="0">
                <a:latin typeface="Arial" charset="0"/>
              </a:rPr>
              <a:t>Introduction to Networks</a:t>
            </a:r>
          </a:p>
        </p:txBody>
      </p:sp>
    </p:spTree>
    <p:extLst>
      <p:ext uri="{BB962C8B-B14F-4D97-AF65-F5344CB8AC3E}">
        <p14:creationId xmlns:p14="http://schemas.microsoft.com/office/powerpoint/2010/main" val="1086232418"/>
      </p:ext>
    </p:extLst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71355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/>
            </a:r>
            <a:br>
              <a:rPr lang="en-US" sz="1800" dirty="0">
                <a:latin typeface="Arial" charset="0"/>
              </a:rPr>
            </a:br>
            <a:r>
              <a:rPr lang="en-US" dirty="0">
                <a:latin typeface="Arial" charset="0"/>
              </a:rPr>
              <a:t>Lecture 9: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36" y="1379492"/>
            <a:ext cx="8335459" cy="5086416"/>
          </a:xfrm>
        </p:spPr>
        <p:txBody>
          <a:bodyPr/>
          <a:lstStyle/>
          <a:p>
            <a:pPr marL="0" lvl="1" indent="0">
              <a:spcBef>
                <a:spcPts val="600"/>
              </a:spcBef>
            </a:pPr>
            <a:r>
              <a:rPr lang="en-US" b="1" dirty="0">
                <a:latin typeface="Arial" charset="0"/>
              </a:rPr>
              <a:t>** Chapter 8 in CCNA R&amp;S: Introduction to Networks 1</a:t>
            </a:r>
          </a:p>
          <a:p>
            <a:pPr marL="0" indent="0">
              <a:spcBef>
                <a:spcPts val="600"/>
              </a:spcBef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Upon completion of this lecture, you will be able to: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Explain the need for IPv6 addressing.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Describe the representation of an IPv6 address.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Describe types of IPv6 network addresses.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Configure global unicast addresses.</a:t>
            </a:r>
          </a:p>
          <a:p>
            <a:pPr>
              <a:spcBef>
                <a:spcPts val="60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55003255"/>
      </p:ext>
    </p:extLst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400" dirty="0"/>
              <a:t>9.1  </a:t>
            </a:r>
            <a:r>
              <a:rPr lang="en-US" sz="2400" dirty="0">
                <a:latin typeface="Arial" charset="0"/>
              </a:rPr>
              <a:t>IPv6 Network Addresses</a:t>
            </a:r>
            <a:endParaRPr lang="en-US" sz="2400" dirty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019297"/>
      </p:ext>
    </p:extLst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9439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IPv4 Issues</a:t>
            </a:r>
            <a:br>
              <a:rPr lang="en-US" sz="1800" dirty="0">
                <a:latin typeface="Arial" charset="0"/>
              </a:rPr>
            </a:br>
            <a:r>
              <a:rPr lang="en-US" dirty="0">
                <a:latin typeface="Arial" charset="0"/>
              </a:rPr>
              <a:t>The Need for IPv6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 bwMode="auto">
          <a:xfrm>
            <a:off x="453080" y="1401470"/>
            <a:ext cx="8277748" cy="5086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dirty="0"/>
              <a:t>IPv6 is designed to be the successor to IPv4.</a:t>
            </a:r>
          </a:p>
          <a:p>
            <a:r>
              <a:rPr lang="en-US" sz="2000" dirty="0"/>
              <a:t>Depletion of IPv4 address space has been the motivating factor for moving to IPv6.</a:t>
            </a:r>
          </a:p>
          <a:p>
            <a:r>
              <a:rPr lang="en-US" sz="2000" dirty="0"/>
              <a:t>Projections show that all five RIRs (Regional Internet Registry) will run out of IPv4 addresses between 2015 and 2020.</a:t>
            </a:r>
          </a:p>
          <a:p>
            <a:r>
              <a:rPr lang="en-US" sz="2000" dirty="0"/>
              <a:t>With an increasing Internet population, a limited IPv4 address space, issues with NAT (Network Address Translation) and an Internet of things, the time has come to begin the transition to IPv6!</a:t>
            </a:r>
          </a:p>
          <a:p>
            <a:r>
              <a:rPr lang="en-US" sz="2000" dirty="0"/>
              <a:t>IPv4 has a theoretical maximum of 4.3 billion addresses, plus private addresses in combination with NAT. </a:t>
            </a:r>
          </a:p>
          <a:p>
            <a:r>
              <a:rPr lang="en-US" sz="2000" dirty="0"/>
              <a:t>IPv6 larger 128-bit address space provides for 340 </a:t>
            </a:r>
            <a:r>
              <a:rPr lang="en-US" sz="2000" dirty="0" err="1"/>
              <a:t>undecillion</a:t>
            </a:r>
            <a:r>
              <a:rPr lang="en-US" sz="2000" dirty="0"/>
              <a:t> addresses.</a:t>
            </a:r>
            <a:endParaRPr lang="en-US" sz="2000" b="1" dirty="0"/>
          </a:p>
          <a:p>
            <a:pPr marL="0" indent="0">
              <a:buFont typeface="Wingdings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68046785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6391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IPv6 Addressing</a:t>
            </a:r>
            <a:br>
              <a:rPr lang="en-US" sz="1800" dirty="0">
                <a:latin typeface="Arial" charset="0"/>
              </a:rPr>
            </a:br>
            <a:r>
              <a:rPr lang="en-US" dirty="0">
                <a:latin typeface="Arial" charset="0"/>
              </a:rPr>
              <a:t>Hexadecimal Number System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0749" y="1771584"/>
            <a:ext cx="3154931" cy="5086416"/>
          </a:xfrm>
        </p:spPr>
        <p:txBody>
          <a:bodyPr/>
          <a:lstStyle/>
          <a:p>
            <a:r>
              <a:rPr lang="en-US" sz="2000" dirty="0"/>
              <a:t>Hexadecimal is a base sixteen system.</a:t>
            </a:r>
          </a:p>
          <a:p>
            <a:r>
              <a:rPr lang="en-US" sz="2000" dirty="0"/>
              <a:t>Base 16 numbering system uses the numbers 0 to 9 and the letters A to F.</a:t>
            </a:r>
          </a:p>
          <a:p>
            <a:r>
              <a:rPr lang="en-US" sz="2000" dirty="0"/>
              <a:t>Four bits (half of a byte) can be represented with a single hexadecimal value.</a:t>
            </a:r>
          </a:p>
          <a:p>
            <a:endParaRPr lang="en-US" sz="2000" dirty="0"/>
          </a:p>
        </p:txBody>
      </p:sp>
      <p:grpSp>
        <p:nvGrpSpPr>
          <p:cNvPr id="6" name="Group 5"/>
          <p:cNvGrpSpPr/>
          <p:nvPr/>
        </p:nvGrpSpPr>
        <p:grpSpPr>
          <a:xfrm>
            <a:off x="3922804" y="1341120"/>
            <a:ext cx="4600575" cy="5286375"/>
            <a:chOff x="675958" y="886099"/>
            <a:chExt cx="4600575" cy="5286375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958" y="886099"/>
              <a:ext cx="1533525" cy="52863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483" y="914674"/>
              <a:ext cx="3067050" cy="525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32830990"/>
      </p:ext>
    </p:extLst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9439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IPv6 Addressing</a:t>
            </a:r>
            <a:br>
              <a:rPr lang="en-US" sz="1800" dirty="0">
                <a:latin typeface="Arial" charset="0"/>
              </a:rPr>
            </a:br>
            <a:r>
              <a:rPr lang="en-US" dirty="0">
                <a:latin typeface="Arial" charset="0"/>
              </a:rPr>
              <a:t>Hexadecimal Number System (cont.)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6469" y="1771584"/>
            <a:ext cx="3342891" cy="2023176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Look at the binary bit patterns that match the decimal and hexadecimal values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147685" y="1530221"/>
            <a:ext cx="4029529" cy="5080130"/>
            <a:chOff x="1894523" y="598488"/>
            <a:chExt cx="4610100" cy="6126480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4523" y="600393"/>
              <a:ext cx="1514475" cy="61245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998" y="598488"/>
              <a:ext cx="3095625" cy="6096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59523801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40963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IPv6 Addressing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IPv6 Address Representation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509" y="1478280"/>
            <a:ext cx="8443211" cy="5094308"/>
          </a:xfrm>
        </p:spPr>
        <p:txBody>
          <a:bodyPr/>
          <a:lstStyle/>
          <a:p>
            <a:r>
              <a:rPr lang="en-US" sz="2000" dirty="0"/>
              <a:t>128 bits long and written as a string of </a:t>
            </a:r>
            <a:r>
              <a:rPr lang="en-US" sz="2000" u="sng" dirty="0"/>
              <a:t>hexadecimal</a:t>
            </a:r>
            <a:r>
              <a:rPr lang="en-US" sz="2000" dirty="0"/>
              <a:t> digits</a:t>
            </a:r>
          </a:p>
          <a:p>
            <a:r>
              <a:rPr lang="en-US" sz="2000" dirty="0"/>
              <a:t>Each hexadecimal digit represents 4 bits </a:t>
            </a:r>
          </a:p>
          <a:p>
            <a:r>
              <a:rPr lang="en-US" sz="2000" dirty="0"/>
              <a:t>Therefore there are 32 hexadecimal digits in total. Example:-</a:t>
            </a:r>
          </a:p>
          <a:p>
            <a:pPr marL="0" lvl="1" indent="0"/>
            <a:endParaRPr lang="en-US" sz="2400" b="1" dirty="0">
              <a:latin typeface="Courier New" pitchFamily="49" charset="0"/>
              <a:ea typeface="Times New Roman"/>
              <a:cs typeface="Courier New" pitchFamily="49" charset="0"/>
            </a:endParaRPr>
          </a:p>
          <a:p>
            <a:pPr marL="0" lvl="1" indent="0" algn="ctr"/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2001:0DB8:0000:1111:0000:0000:0000:0200</a:t>
            </a:r>
          </a:p>
          <a:p>
            <a:pPr marL="0" lvl="1" indent="0" algn="ctr"/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FE80:0000:0000:0000:0123:4567:89AB:CDEF</a:t>
            </a:r>
          </a:p>
          <a:p>
            <a:pPr marL="457200" lvl="1" indent="0"/>
            <a:endParaRPr lang="en-US" b="1" dirty="0">
              <a:latin typeface="Courier New" pitchFamily="49" charset="0"/>
              <a:ea typeface="Times New Roman"/>
              <a:cs typeface="Courier New" pitchFamily="49" charset="0"/>
            </a:endParaRPr>
          </a:p>
          <a:p>
            <a:r>
              <a:rPr lang="en-US" sz="2000" dirty="0"/>
              <a:t>An IPv6 address has 8 </a:t>
            </a:r>
            <a:r>
              <a:rPr lang="en-US" sz="2000" dirty="0" err="1"/>
              <a:t>hextets</a:t>
            </a:r>
            <a:r>
              <a:rPr lang="en-US" sz="2000" dirty="0"/>
              <a:t> separated by </a:t>
            </a:r>
            <a:r>
              <a:rPr lang="en-US" sz="2000" b="1" dirty="0"/>
              <a:t>“:”</a:t>
            </a:r>
          </a:p>
          <a:p>
            <a:r>
              <a:rPr lang="en-US" sz="2000" dirty="0"/>
              <a:t>Each </a:t>
            </a:r>
            <a:r>
              <a:rPr lang="en-US" sz="2000" dirty="0" err="1"/>
              <a:t>hextet</a:t>
            </a:r>
            <a:r>
              <a:rPr lang="en-US" sz="2000" dirty="0"/>
              <a:t> is 16 bits long or 4 hexadecimal digits</a:t>
            </a:r>
          </a:p>
          <a:p>
            <a:r>
              <a:rPr lang="en-US" sz="2000" dirty="0"/>
              <a:t>Hex digits are case insensitive</a:t>
            </a:r>
            <a:endParaRPr lang="en-US" sz="2000" b="1" dirty="0"/>
          </a:p>
          <a:p>
            <a:endParaRPr lang="en-US" sz="2000" dirty="0"/>
          </a:p>
        </p:txBody>
      </p:sp>
      <p:sp>
        <p:nvSpPr>
          <p:cNvPr id="3" name="Rounded Rectangle 2"/>
          <p:cNvSpPr/>
          <p:nvPr/>
        </p:nvSpPr>
        <p:spPr bwMode="auto">
          <a:xfrm>
            <a:off x="914400" y="2861949"/>
            <a:ext cx="902525" cy="1710046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861949"/>
            <a:ext cx="100540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800" dirty="0">
                <a:solidFill>
                  <a:srgbClr val="FF0000"/>
                </a:solidFill>
              </a:rPr>
              <a:t>a </a:t>
            </a:r>
            <a:r>
              <a:rPr lang="en-SG" sz="1800" dirty="0" err="1">
                <a:solidFill>
                  <a:srgbClr val="FF0000"/>
                </a:solidFill>
              </a:rPr>
              <a:t>hextet</a:t>
            </a:r>
            <a:endParaRPr lang="en-SG" dirty="0">
              <a:solidFill>
                <a:srgbClr val="FF0000"/>
              </a:solidFill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83175" y="4213535"/>
            <a:ext cx="4678872" cy="367566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SG" sz="1800" i="1" dirty="0">
                <a:solidFill>
                  <a:srgbClr val="FF0000"/>
                </a:solidFill>
              </a:rPr>
              <a:t>This </a:t>
            </a:r>
            <a:r>
              <a:rPr lang="en-SG" sz="1800" i="1" dirty="0" err="1">
                <a:solidFill>
                  <a:srgbClr val="FF0000"/>
                </a:solidFill>
              </a:rPr>
              <a:t>hextet</a:t>
            </a:r>
            <a:r>
              <a:rPr lang="en-SG" sz="1800" i="1" dirty="0">
                <a:solidFill>
                  <a:srgbClr val="FF0000"/>
                </a:solidFill>
              </a:rPr>
              <a:t> in binary 0010 0000 0000 0001</a:t>
            </a:r>
          </a:p>
        </p:txBody>
      </p:sp>
    </p:spTree>
    <p:extLst>
      <p:ext uri="{BB962C8B-B14F-4D97-AF65-F5344CB8AC3E}">
        <p14:creationId xmlns:p14="http://schemas.microsoft.com/office/powerpoint/2010/main" val="4248948786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433415" y="47059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Compressing an IPv6 Addressing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Rule 1- Omitting Leading 0s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72189" y="1478280"/>
            <a:ext cx="8275571" cy="4987628"/>
          </a:xfrm>
        </p:spPr>
        <p:txBody>
          <a:bodyPr/>
          <a:lstStyle/>
          <a:p>
            <a:r>
              <a:rPr lang="en-US" sz="2000" dirty="0"/>
              <a:t>Leading 0s (zeros) in a </a:t>
            </a:r>
            <a:r>
              <a:rPr lang="en-US" sz="2000" dirty="0" err="1"/>
              <a:t>hextet</a:t>
            </a:r>
            <a:r>
              <a:rPr lang="en-US" sz="2000" dirty="0"/>
              <a:t> can be omitted Example:-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01AB can be represented as 1AB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09F0 can be represented as 9F0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0A00 can be represented as A00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00AB can be represented as AB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0000 can be represented as 0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75" y="4122509"/>
            <a:ext cx="8086470" cy="1323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2878321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42487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Compressing an IPv6 Addressing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Rule 2 - Omitting Segments with All-0s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6720" y="1539240"/>
            <a:ext cx="8443866" cy="4970210"/>
          </a:xfrm>
        </p:spPr>
        <p:txBody>
          <a:bodyPr/>
          <a:lstStyle/>
          <a:p>
            <a:r>
              <a:rPr lang="en-US" sz="2000" dirty="0"/>
              <a:t>Can only be used </a:t>
            </a:r>
            <a:r>
              <a:rPr lang="en-US" sz="2000" b="1" u="sng" dirty="0"/>
              <a:t>ONCE</a:t>
            </a:r>
          </a:p>
          <a:p>
            <a:r>
              <a:rPr lang="en-US" sz="2000" dirty="0"/>
              <a:t>A double colon (::) can replace any continuous string of 0s across one or more </a:t>
            </a:r>
            <a:r>
              <a:rPr lang="en-US" sz="2000" dirty="0" err="1"/>
              <a:t>hextets</a:t>
            </a:r>
            <a:endParaRPr lang="en-US" sz="2000" dirty="0"/>
          </a:p>
          <a:p>
            <a:r>
              <a:rPr lang="en-US" sz="2000" dirty="0"/>
              <a:t>Known as the </a:t>
            </a:r>
            <a:r>
              <a:rPr lang="en-US" sz="2000" i="1" dirty="0"/>
              <a:t>compressed format.</a:t>
            </a:r>
            <a:endParaRPr lang="en-US" sz="2000" dirty="0"/>
          </a:p>
          <a:p>
            <a:r>
              <a:rPr lang="en-US" sz="2000" dirty="0"/>
              <a:t>Example:-</a:t>
            </a:r>
          </a:p>
          <a:p>
            <a:pPr marL="0" indent="0">
              <a:buNone/>
            </a:pPr>
            <a:r>
              <a:rPr lang="en-US" sz="2000" dirty="0"/>
              <a:t>	Preferred	2001:</a:t>
            </a:r>
            <a:r>
              <a:rPr lang="en-US" sz="2000" b="1" dirty="0">
                <a:solidFill>
                  <a:srgbClr val="FF0000"/>
                </a:solidFill>
              </a:rPr>
              <a:t>0000</a:t>
            </a:r>
            <a:r>
              <a:rPr lang="en-US" sz="2000" dirty="0"/>
              <a:t>:000A:1000:</a:t>
            </a:r>
            <a:r>
              <a:rPr lang="en-US" sz="2000" b="1" dirty="0">
                <a:solidFill>
                  <a:srgbClr val="FF0000"/>
                </a:solidFill>
              </a:rPr>
              <a:t>0000:0000:0000</a:t>
            </a:r>
            <a:r>
              <a:rPr lang="en-US" sz="2000" dirty="0"/>
              <a:t>:0100</a:t>
            </a:r>
          </a:p>
          <a:p>
            <a:pPr marL="0" indent="0">
              <a:buNone/>
            </a:pPr>
            <a:r>
              <a:rPr lang="en-US" sz="2000" dirty="0"/>
              <a:t>	Compressed	2001::A:1000:0:0:0:100</a:t>
            </a:r>
          </a:p>
          <a:p>
            <a:pPr marL="0" indent="0">
              <a:buNone/>
            </a:pPr>
            <a:r>
              <a:rPr lang="en-US" sz="2000" dirty="0"/>
              <a:t>Or	Compressed	2001:0:A:1000::100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u="sng" dirty="0"/>
              <a:t>Incorrect</a:t>
            </a:r>
            <a:r>
              <a:rPr lang="en-US" sz="2000" dirty="0"/>
              <a:t> compressed format:	2001::A:1000::100 </a:t>
            </a:r>
          </a:p>
          <a:p>
            <a:pPr marL="0" indent="0">
              <a:buNone/>
            </a:pPr>
            <a:r>
              <a:rPr lang="en-US" sz="2000" dirty="0"/>
              <a:t>					(cannot use “::” more than once)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94396545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45535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Compressing an IPv6 Addressing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Rule 2 – More examples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198" y="1531917"/>
            <a:ext cx="7488754" cy="3111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ontent Placeholder 1"/>
          <p:cNvSpPr>
            <a:spLocks noGrp="1"/>
          </p:cNvSpPr>
          <p:nvPr>
            <p:ph idx="1"/>
          </p:nvPr>
        </p:nvSpPr>
        <p:spPr>
          <a:xfrm>
            <a:off x="196657" y="1771584"/>
            <a:ext cx="2039813" cy="5086416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Example #1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Example #2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979" y="4868883"/>
            <a:ext cx="7183673" cy="1337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0793062"/>
      </p:ext>
    </p:extLst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Compressing an IPv6 Addressing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What is the Compressed format for these IPv6 addresses:-</a:t>
            </a:r>
          </a:p>
          <a:p>
            <a:pPr marL="0" indent="0">
              <a:buNone/>
            </a:pPr>
            <a:r>
              <a:rPr lang="en-SG" dirty="0"/>
              <a:t>	</a:t>
            </a:r>
          </a:p>
          <a:p>
            <a:pPr marL="0" indent="0">
              <a:buNone/>
            </a:pPr>
            <a:r>
              <a:rPr lang="en-SG" sz="2000" dirty="0"/>
              <a:t>	Preferred	2012:ABCD:EF01:2345:0678:0910:AAAA:BBBB</a:t>
            </a:r>
          </a:p>
          <a:p>
            <a:pPr marL="0" indent="0">
              <a:buNone/>
            </a:pPr>
            <a:r>
              <a:rPr lang="en-SG" sz="2000" dirty="0"/>
              <a:t>	Compressed</a:t>
            </a:r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r>
              <a:rPr lang="en-SG" sz="2000" dirty="0"/>
              <a:t>	Preferred	1129:0000:2233:4455:6677:0000:0000:0100</a:t>
            </a:r>
          </a:p>
          <a:p>
            <a:pPr marL="0" indent="0">
              <a:buNone/>
            </a:pPr>
            <a:r>
              <a:rPr lang="en-SG" sz="2000" dirty="0"/>
              <a:t>	Compressed	</a:t>
            </a:r>
            <a:endParaRPr lang="en-SG" dirty="0"/>
          </a:p>
          <a:p>
            <a:pPr marL="0" indent="0">
              <a:buNone/>
            </a:pPr>
            <a:r>
              <a:rPr lang="en-SG" dirty="0"/>
              <a:t>	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1724" y="2900136"/>
            <a:ext cx="5517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dirty="0">
                <a:solidFill>
                  <a:srgbClr val="FF0000"/>
                </a:solidFill>
              </a:rPr>
              <a:t>2012:ABCD:EF01:2345: 678: 910:AAAA:BBBB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53579" y="4240069"/>
            <a:ext cx="40984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2000" dirty="0">
                <a:solidFill>
                  <a:srgbClr val="FF0000"/>
                </a:solidFill>
              </a:rPr>
              <a:t>1129:0:2233:4455:6677::100</a:t>
            </a:r>
          </a:p>
          <a:p>
            <a:pPr algn="l"/>
            <a:endParaRPr lang="en-SG" sz="2000" dirty="0">
              <a:solidFill>
                <a:srgbClr val="FF0000"/>
              </a:solidFill>
            </a:endParaRPr>
          </a:p>
          <a:p>
            <a:pPr algn="l"/>
            <a:r>
              <a:rPr lang="en-SG" sz="2000" dirty="0">
                <a:solidFill>
                  <a:srgbClr val="FF0000"/>
                </a:solidFill>
              </a:rPr>
              <a:t>Or</a:t>
            </a:r>
          </a:p>
          <a:p>
            <a:pPr algn="l"/>
            <a:endParaRPr lang="en-SG" sz="2000" dirty="0">
              <a:solidFill>
                <a:srgbClr val="FF0000"/>
              </a:solidFill>
            </a:endParaRPr>
          </a:p>
          <a:p>
            <a:pPr algn="l"/>
            <a:r>
              <a:rPr lang="en-SG" sz="2000" dirty="0">
                <a:solidFill>
                  <a:srgbClr val="FF0000"/>
                </a:solidFill>
              </a:rPr>
              <a:t>1129::2233:4455:6677:0:0:100</a:t>
            </a:r>
          </a:p>
        </p:txBody>
      </p:sp>
    </p:spTree>
    <p:extLst>
      <p:ext uri="{BB962C8B-B14F-4D97-AF65-F5344CB8AC3E}">
        <p14:creationId xmlns:p14="http://schemas.microsoft.com/office/powerpoint/2010/main" val="261517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6391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IPv6 Prefix Length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1229" y="1325880"/>
            <a:ext cx="8382251" cy="4895098"/>
          </a:xfrm>
        </p:spPr>
        <p:txBody>
          <a:bodyPr/>
          <a:lstStyle/>
          <a:p>
            <a:r>
              <a:rPr lang="en-US" sz="2000" dirty="0"/>
              <a:t>IPv6 </a:t>
            </a:r>
            <a:r>
              <a:rPr lang="en-US" sz="2000" b="1" u="sng" dirty="0"/>
              <a:t>does not use</a:t>
            </a:r>
            <a:r>
              <a:rPr lang="en-US" sz="2000" dirty="0"/>
              <a:t> the dotted-decimal subnet mask notation</a:t>
            </a:r>
          </a:p>
          <a:p>
            <a:r>
              <a:rPr lang="en-US" sz="2000" dirty="0"/>
              <a:t>Prefix length indicates the network portion of an IPv6 address using the following format: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IPv6 address / </a:t>
            </a:r>
            <a:r>
              <a:rPr lang="en-US" b="1" u="sng" dirty="0"/>
              <a:t>prefix length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Prefix length can range from 0 to 128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Typical prefix length is /64 for LAN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 err="1"/>
              <a:t>Eg</a:t>
            </a:r>
            <a:r>
              <a:rPr lang="en-US" dirty="0"/>
              <a:t>: </a:t>
            </a:r>
            <a:r>
              <a:rPr lang="en-US" b="1" u="sng" dirty="0"/>
              <a:t>2001:0DB8:000A::/64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189" y="3990876"/>
            <a:ext cx="6475165" cy="2671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2990325"/>
      </p:ext>
    </p:extLst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9439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IPv6 Address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5994" y="1781629"/>
            <a:ext cx="8432800" cy="4952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dirty="0"/>
              <a:t>IPv6 has 3 types of addresses: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Unicast: 	</a:t>
            </a:r>
            <a:r>
              <a:rPr lang="en-SG" dirty="0"/>
              <a:t>An IPv6 unicast address uniquely identifies an 			interface on an IPv6-enabled device.</a:t>
            </a:r>
            <a:endParaRPr lang="en-US" dirty="0"/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endParaRPr lang="en-US" dirty="0"/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Multicast:	</a:t>
            </a:r>
            <a:r>
              <a:rPr lang="en-SG" dirty="0"/>
              <a:t>An IPv6 multicast address is used to send a 			single IPv6 packet to multiple destinations.</a:t>
            </a:r>
            <a:endParaRPr lang="en-US" dirty="0"/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endParaRPr lang="en-US" dirty="0"/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en-US" dirty="0" err="1"/>
              <a:t>Anycast</a:t>
            </a:r>
            <a:r>
              <a:rPr lang="en-US" dirty="0"/>
              <a:t>:	</a:t>
            </a:r>
            <a:r>
              <a:rPr lang="en-SG" dirty="0"/>
              <a:t>An IPv6 </a:t>
            </a:r>
            <a:r>
              <a:rPr lang="en-SG" dirty="0" err="1"/>
              <a:t>anycast</a:t>
            </a:r>
            <a:r>
              <a:rPr lang="en-SG" dirty="0"/>
              <a:t> address is a unicast address 			assigned to multiple devices. A packet sent to 			an </a:t>
            </a:r>
            <a:r>
              <a:rPr lang="en-SG" dirty="0" err="1"/>
              <a:t>anycast</a:t>
            </a:r>
            <a:r>
              <a:rPr lang="en-SG" dirty="0"/>
              <a:t> address is routed to the nearest 			device having that address. </a:t>
            </a: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  <a:p>
            <a:pPr algn="l">
              <a:spcBef>
                <a:spcPts val="600"/>
              </a:spcBef>
            </a:pPr>
            <a:r>
              <a:rPr lang="en-US" b="1" dirty="0"/>
              <a:t>Note</a:t>
            </a:r>
            <a:r>
              <a:rPr lang="en-US" dirty="0"/>
              <a:t>: IPv6 does not have broadcast addresses.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43667269"/>
      </p:ext>
    </p:extLst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6391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IPv6 Unicast Addresses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37506" y="1502229"/>
            <a:ext cx="2529445" cy="500644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Unicast</a:t>
            </a:r>
            <a:r>
              <a:rPr lang="en-US" dirty="0"/>
              <a:t>  </a:t>
            </a:r>
          </a:p>
          <a:p>
            <a:pPr marL="342900" lvl="1" indent="-342900" defTabSz="457200">
              <a:buFont typeface="Wingdings" panose="05000000000000000000" pitchFamily="2" charset="2"/>
              <a:buChar char="§"/>
            </a:pPr>
            <a:r>
              <a:rPr lang="en-US" u="sng" dirty="0"/>
              <a:t>Uniquely</a:t>
            </a:r>
            <a:r>
              <a:rPr lang="en-US" dirty="0"/>
              <a:t> identifies an interface on a IPv6-enabled device</a:t>
            </a:r>
          </a:p>
          <a:p>
            <a:pPr marL="342900" lvl="1" indent="-342900" defTabSz="4572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lvl="1" indent="-342900" defTabSz="457200">
              <a:buFont typeface="Wingdings" panose="05000000000000000000" pitchFamily="2" charset="2"/>
              <a:buChar char="§"/>
            </a:pPr>
            <a:r>
              <a:rPr lang="en-US" dirty="0"/>
              <a:t>A packet sent to a unicast address is received by the interface that is assigned that address. 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002" y="1900053"/>
            <a:ext cx="6243548" cy="46086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8498827"/>
      </p:ext>
    </p:extLst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76748" y="39439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IPv6 Unicast Addresses (cont.)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8" t="3789" r="2372" b="2380"/>
          <a:stretch/>
        </p:blipFill>
        <p:spPr bwMode="auto">
          <a:xfrm>
            <a:off x="2185060" y="1577288"/>
            <a:ext cx="6495802" cy="4995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80402" y="2388877"/>
            <a:ext cx="364058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dirty="0"/>
              <a:t>There are 6 types of IPv6 unicast addresses</a:t>
            </a:r>
          </a:p>
        </p:txBody>
      </p:sp>
    </p:spTree>
    <p:extLst>
      <p:ext uri="{BB962C8B-B14F-4D97-AF65-F5344CB8AC3E}">
        <p14:creationId xmlns:p14="http://schemas.microsoft.com/office/powerpoint/2010/main" val="1149477873"/>
      </p:ext>
    </p:extLst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8" t="3789" r="2372" b="2380"/>
          <a:stretch/>
        </p:blipFill>
        <p:spPr bwMode="auto">
          <a:xfrm>
            <a:off x="5264386" y="1197278"/>
            <a:ext cx="3677732" cy="2828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6391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IPv6 Unicast Addresses (cont.)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1880" y="1576552"/>
            <a:ext cx="8412731" cy="489836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1. Global Unicast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Similar to a public IPv4 address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u="sng" dirty="0"/>
              <a:t>Globally unique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u="sng" dirty="0"/>
              <a:t>Internet routable</a:t>
            </a:r>
            <a:r>
              <a:rPr lang="en-US" dirty="0"/>
              <a:t> addresses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Can be configured statically or dynamically 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2. Link-local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Used to communicate with other devices </a:t>
            </a:r>
            <a:r>
              <a:rPr lang="en-US" u="sng" dirty="0"/>
              <a:t>on the same subnet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u="sng" dirty="0"/>
              <a:t>Not routable</a:t>
            </a:r>
            <a:r>
              <a:rPr lang="en-US" dirty="0"/>
              <a:t> beyond the subnet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7103253" y="1104404"/>
            <a:ext cx="1838866" cy="100940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056816"/>
      </p:ext>
    </p:extLst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8" t="3789" r="2372" b="2380"/>
          <a:stretch/>
        </p:blipFill>
        <p:spPr bwMode="auto">
          <a:xfrm>
            <a:off x="5264386" y="1446653"/>
            <a:ext cx="3677732" cy="2828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 bwMode="auto">
          <a:xfrm>
            <a:off x="7103253" y="2351279"/>
            <a:ext cx="1838866" cy="100940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76748" y="34867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IPv6 Unicast Addresses (cont.)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6469" y="1432560"/>
            <a:ext cx="8336531" cy="4931747"/>
          </a:xfrm>
        </p:spPr>
        <p:txBody>
          <a:bodyPr/>
          <a:lstStyle/>
          <a:p>
            <a:pPr marL="228600" indent="-228600">
              <a:buNone/>
            </a:pPr>
            <a:r>
              <a:rPr lang="en-US" sz="2000" b="1" dirty="0"/>
              <a:t>3. Loopback (::1/128)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dirty="0"/>
              <a:t>Used by a host to send a packet to itself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u="sng" dirty="0"/>
              <a:t>Cannot</a:t>
            </a:r>
            <a:r>
              <a:rPr lang="en-US" dirty="0"/>
              <a:t> be assigned to a physical interface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dirty="0"/>
              <a:t>All-0s except for the last bit</a:t>
            </a:r>
          </a:p>
          <a:p>
            <a:pPr marL="228600" indent="-228600">
              <a:buNone/>
            </a:pPr>
            <a:endParaRPr lang="en-US" sz="2000" b="1" dirty="0"/>
          </a:p>
          <a:p>
            <a:pPr marL="228600" indent="-228600">
              <a:buNone/>
            </a:pPr>
            <a:r>
              <a:rPr lang="en-US" sz="2000" b="1" dirty="0"/>
              <a:t>4. Unspecified Address (::/128)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dirty="0"/>
              <a:t>All-0’s address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u="sng" dirty="0"/>
              <a:t>Cannot</a:t>
            </a:r>
            <a:r>
              <a:rPr lang="en-US" dirty="0"/>
              <a:t> be assigned to an interface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dirty="0"/>
              <a:t>Used as a source address when the device does not yet have a permanent IPv6 address or when the source of the packet is irrelevant to the destination.</a:t>
            </a:r>
          </a:p>
        </p:txBody>
      </p:sp>
    </p:spTree>
    <p:extLst>
      <p:ext uri="{BB962C8B-B14F-4D97-AF65-F5344CB8AC3E}">
        <p14:creationId xmlns:p14="http://schemas.microsoft.com/office/powerpoint/2010/main" val="2886567828"/>
      </p:ext>
    </p:extLst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8" t="3789" r="2372" b="2380"/>
          <a:stretch/>
        </p:blipFill>
        <p:spPr bwMode="auto">
          <a:xfrm>
            <a:off x="5264386" y="1446653"/>
            <a:ext cx="3677732" cy="2828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6391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IPv6 Unicast Addresses (cont.)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4979" y="1465942"/>
            <a:ext cx="8321291" cy="4898365"/>
          </a:xfrm>
        </p:spPr>
        <p:txBody>
          <a:bodyPr/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5. Unique Local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Similar to private addresses for IPv4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Used for local addressing within a site or </a:t>
            </a:r>
            <a:r>
              <a:rPr lang="en-US"/>
              <a:t>between </a:t>
            </a:r>
          </a:p>
          <a:p>
            <a:pPr marL="457200" lvl="1" indent="0"/>
            <a:r>
              <a:rPr lang="en-US"/>
              <a:t>a </a:t>
            </a:r>
            <a:r>
              <a:rPr lang="en-US" dirty="0"/>
              <a:t>limited number of sites.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In the range of </a:t>
            </a:r>
            <a:r>
              <a:rPr lang="en-US" b="1" u="sng" dirty="0"/>
              <a:t>FC00::/7 to FDFF::/7</a:t>
            </a:r>
            <a:endParaRPr lang="en-US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6. IPv4 Embedded (not covered in this course)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Used to help transition from IPv4 to IPv6.</a:t>
            </a:r>
            <a:endParaRPr lang="en-US" dirty="0">
              <a:effectLst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103252" y="3325082"/>
            <a:ext cx="1838866" cy="100940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651278"/>
      </p:ext>
    </p:extLst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6391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IPv6 Link-Local Unicast Address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6720" y="1466404"/>
            <a:ext cx="8168640" cy="4856999"/>
          </a:xfrm>
        </p:spPr>
        <p:txBody>
          <a:bodyPr/>
          <a:lstStyle/>
          <a:p>
            <a:r>
              <a:rPr lang="en-US" sz="2000" dirty="0"/>
              <a:t>IPv6-enabled network interfaces can have more than 1 address.</a:t>
            </a:r>
          </a:p>
          <a:p>
            <a:pPr marL="236538" lvl="1" indent="-236538">
              <a:spcBef>
                <a:spcPct val="50000"/>
              </a:spcBef>
              <a:buFont typeface="Wingdings" charset="0"/>
              <a:buChar char="§"/>
            </a:pPr>
            <a:r>
              <a:rPr lang="en-US" sz="2000" dirty="0"/>
              <a:t>A link-local address is a </a:t>
            </a:r>
            <a:r>
              <a:rPr lang="en-US" sz="2000" u="sng" dirty="0"/>
              <a:t>MANDATORY</a:t>
            </a:r>
            <a:r>
              <a:rPr lang="en-US" sz="2000" dirty="0"/>
              <a:t> address and is </a:t>
            </a:r>
            <a:r>
              <a:rPr lang="en-SG" dirty="0"/>
              <a:t>automatically configured on all IPv6 enabled interfaces</a:t>
            </a:r>
            <a:endParaRPr lang="en-US" sz="2000" dirty="0"/>
          </a:p>
          <a:p>
            <a:r>
              <a:rPr lang="en-US" sz="2000" dirty="0"/>
              <a:t>It is used to communicate with other IPv6 devices in that subnet</a:t>
            </a:r>
          </a:p>
          <a:p>
            <a:r>
              <a:rPr lang="en-US" sz="2000" dirty="0"/>
              <a:t>The address is: FE80::X/10 (first 10 bits are </a:t>
            </a:r>
            <a:r>
              <a:rPr lang="en-US" sz="2000" b="1" dirty="0">
                <a:solidFill>
                  <a:srgbClr val="FF0000"/>
                </a:solidFill>
              </a:rPr>
              <a:t>1111 1110 10</a:t>
            </a:r>
            <a:r>
              <a:rPr lang="en-US" sz="2000" dirty="0"/>
              <a:t>00)</a:t>
            </a:r>
          </a:p>
          <a:p>
            <a:endParaRPr lang="en-US" sz="20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919" y="4252599"/>
            <a:ext cx="6600095" cy="21450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675822"/>
      </p:ext>
    </p:extLst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416652" y="37915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IPv6 Link-Local Unicast Address (cont.)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20" y="1545052"/>
            <a:ext cx="248793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Note: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1. Packets with source or destination link-local address cannot be routed beyond the link from where the packet originated.</a:t>
            </a:r>
            <a:endParaRPr lang="en-US" dirty="0"/>
          </a:p>
          <a:p>
            <a:pPr lvl="1" indent="-457200" algn="l">
              <a:buFontTx/>
              <a:buAutoNum type="arabicPeriod"/>
            </a:pPr>
            <a:endParaRPr lang="en-US" sz="2000" dirty="0"/>
          </a:p>
          <a:p>
            <a:pPr marL="0" lvl="1" algn="l"/>
            <a:r>
              <a:rPr lang="en-US" sz="2000" dirty="0"/>
              <a:t>=&gt; routers do not forward </a:t>
            </a:r>
            <a:r>
              <a:rPr lang="en-SG" sz="2000" dirty="0"/>
              <a:t>packets containing link-local addresses.</a:t>
            </a:r>
          </a:p>
          <a:p>
            <a:pPr marL="457200" indent="-457200" algn="l">
              <a:buAutoNum type="arabicPeriod"/>
            </a:pPr>
            <a:endParaRPr lang="en-US" sz="20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645" y="1504046"/>
            <a:ext cx="5179105" cy="5098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396195"/>
      </p:ext>
    </p:extLst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30925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IPv6 Global Unicast Address</a:t>
            </a:r>
            <a:endParaRPr lang="en-US" sz="2400" dirty="0">
              <a:latin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4309" y="1414160"/>
            <a:ext cx="838925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Currently, only global unicast addresses with the first three bits of 001 ( 2000::/3) have being assigned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04" y="2450969"/>
            <a:ext cx="7535679" cy="35984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214727"/>
      </p:ext>
    </p:extLst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4486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IPv6 Global Unicast Address (cont.)</a:t>
            </a:r>
            <a:endParaRPr lang="en-US" sz="2400" dirty="0">
              <a:latin typeface="Arial" charset="0"/>
            </a:endParaRPr>
          </a:p>
        </p:txBody>
      </p:sp>
      <p:sp>
        <p:nvSpPr>
          <p:cNvPr id="6" name="Content Placeholder 1"/>
          <p:cNvSpPr>
            <a:spLocks noGrp="1"/>
          </p:cNvSpPr>
          <p:nvPr>
            <p:ph idx="1"/>
          </p:nvPr>
        </p:nvSpPr>
        <p:spPr>
          <a:xfrm>
            <a:off x="381001" y="1470748"/>
            <a:ext cx="8260080" cy="87592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A global unicast address has three parts: Global Routing Prefix, Subnet ID, and Interface ID.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81000" y="2346670"/>
            <a:ext cx="8382000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lvl="0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b="1" kern="0" dirty="0">
                <a:solidFill>
                  <a:srgbClr val="000000"/>
                </a:solidFill>
                <a:latin typeface="Arial"/>
              </a:rPr>
              <a:t>Global Routing Prefix</a:t>
            </a:r>
            <a:r>
              <a:rPr lang="en-US" sz="2000" kern="0" dirty="0">
                <a:solidFill>
                  <a:srgbClr val="000000"/>
                </a:solidFill>
                <a:latin typeface="Arial"/>
              </a:rPr>
              <a:t> is the prefix or </a:t>
            </a:r>
            <a:r>
              <a:rPr lang="en-US" sz="2000" u="sng" kern="0" dirty="0">
                <a:solidFill>
                  <a:srgbClr val="000000"/>
                </a:solidFill>
                <a:latin typeface="Arial"/>
              </a:rPr>
              <a:t>network portion</a:t>
            </a:r>
            <a:r>
              <a:rPr lang="en-US" sz="2000" kern="0" dirty="0">
                <a:solidFill>
                  <a:srgbClr val="000000"/>
                </a:solidFill>
                <a:latin typeface="Arial"/>
              </a:rPr>
              <a:t> of the address assigned by the provider (like ISP) to a customer or site</a:t>
            </a:r>
          </a:p>
          <a:p>
            <a:pPr marL="236538" lvl="0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kern="0" dirty="0">
                <a:solidFill>
                  <a:srgbClr val="000000"/>
                </a:solidFill>
                <a:latin typeface="Arial"/>
              </a:rPr>
              <a:t>Currently, RIRs assign a /48 global routing prefix to customers</a:t>
            </a:r>
          </a:p>
          <a:p>
            <a:pPr marL="236538" lvl="0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kern="0" dirty="0">
                <a:solidFill>
                  <a:srgbClr val="000000"/>
                </a:solidFill>
                <a:latin typeface="Arial"/>
              </a:rPr>
              <a:t>2001:0DB8:ACAD::/48 has a prefix that indicates that the first 48 bits (2001:0DB8:ACAD) is the network portion.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844" y="4526279"/>
            <a:ext cx="5751196" cy="1842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078" y="4222470"/>
            <a:ext cx="22955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2416003"/>
      </p:ext>
    </p:extLst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28009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IPv6 Global Unicast Address (cont.)</a:t>
            </a:r>
            <a:endParaRPr lang="en-US" sz="2400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6720" y="1396060"/>
            <a:ext cx="8520066" cy="5086416"/>
          </a:xfrm>
        </p:spPr>
        <p:txBody>
          <a:bodyPr/>
          <a:lstStyle/>
          <a:p>
            <a:r>
              <a:rPr lang="en-US" sz="2000" b="1" dirty="0"/>
              <a:t>Subnet ID</a:t>
            </a:r>
            <a:r>
              <a:rPr lang="en-US" sz="2000" dirty="0"/>
              <a:t> is used by a site to identify subnets within</a:t>
            </a:r>
          </a:p>
          <a:p>
            <a:r>
              <a:rPr lang="en-US" sz="2000" b="1" dirty="0"/>
              <a:t>Interface ID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Equivalent to the host portion of an IPv4 address.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Used because a single host may have multiple interfaces, each having one or more IPv6 addresses.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4765" y="3352798"/>
            <a:ext cx="4400550" cy="3267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4479608"/>
            <a:ext cx="2571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345602"/>
      </p:ext>
    </p:extLst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91988" y="39439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/>
            </a:r>
            <a:br>
              <a:rPr lang="en-US" sz="1800" dirty="0">
                <a:latin typeface="Arial" charset="0"/>
              </a:rPr>
            </a:br>
            <a:r>
              <a:rPr lang="en-US" sz="1800" dirty="0">
                <a:latin typeface="Arial" charset="0"/>
              </a:rPr>
              <a:t/>
            </a:r>
            <a:br>
              <a:rPr lang="en-US" sz="1800" dirty="0">
                <a:latin typeface="Arial" charset="0"/>
              </a:rPr>
            </a:br>
            <a:r>
              <a:rPr lang="en-US" sz="1800" dirty="0">
                <a:latin typeface="Arial" charset="0"/>
              </a:rPr>
              <a:t/>
            </a:r>
            <a:br>
              <a:rPr lang="en-US" sz="1800" dirty="0">
                <a:latin typeface="Arial" charset="0"/>
              </a:rPr>
            </a:br>
            <a:r>
              <a:rPr lang="en-US" sz="1800" dirty="0">
                <a:latin typeface="Arial" charset="0"/>
              </a:rPr>
              <a:t/>
            </a:r>
            <a:br>
              <a:rPr lang="en-US" sz="1800" dirty="0">
                <a:latin typeface="Arial" charset="0"/>
              </a:rPr>
            </a:br>
            <a:r>
              <a:rPr lang="en-US" sz="1800" dirty="0">
                <a:latin typeface="Arial" charset="0"/>
              </a:rPr>
              <a:t/>
            </a:r>
            <a:br>
              <a:rPr lang="en-US" sz="1800" dirty="0">
                <a:latin typeface="Arial" charset="0"/>
              </a:rPr>
            </a:br>
            <a:r>
              <a:rPr lang="en-US" sz="1800" dirty="0">
                <a:latin typeface="Arial" charset="0"/>
              </a:rPr>
              <a:t/>
            </a:r>
            <a:br>
              <a:rPr lang="en-US" sz="1800" dirty="0">
                <a:latin typeface="Arial" charset="0"/>
              </a:rPr>
            </a:br>
            <a:r>
              <a:rPr lang="en-US" sz="1800" dirty="0">
                <a:latin typeface="Arial" charset="0"/>
              </a:rPr>
              <a:t/>
            </a:r>
            <a:br>
              <a:rPr lang="en-US" sz="1800" dirty="0">
                <a:latin typeface="Arial" charset="0"/>
              </a:rPr>
            </a:br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sz="2800" dirty="0">
                <a:latin typeface="Arial" charset="0"/>
              </a:rPr>
              <a:t>The Interface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7" y="1475102"/>
            <a:ext cx="830580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+mn-lt"/>
              </a:rPr>
              <a:t>The 64-bit Interface ID can be assigned using:-</a:t>
            </a:r>
          </a:p>
          <a:p>
            <a:pPr algn="l"/>
            <a:endParaRPr lang="en-US" sz="2000" dirty="0">
              <a:latin typeface="+mn-lt"/>
            </a:endParaRPr>
          </a:p>
          <a:p>
            <a:pPr algn="l"/>
            <a:r>
              <a:rPr lang="en-US" sz="2000" dirty="0">
                <a:latin typeface="+mn-lt"/>
              </a:rPr>
              <a:t>1. </a:t>
            </a:r>
            <a:r>
              <a:rPr lang="en-US" sz="2000" b="1" dirty="0">
                <a:latin typeface="+mn-lt"/>
              </a:rPr>
              <a:t>EUI-64 (Extended Unique Identifier)</a:t>
            </a:r>
          </a:p>
          <a:p>
            <a:pPr marL="693738" lvl="1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Uses the MAC address (48-bit) by inserting another 16 bits in the middle to create a 64-bit Interface ID</a:t>
            </a:r>
          </a:p>
          <a:p>
            <a:pPr marL="693738" lvl="1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The 7</a:t>
            </a:r>
            <a:r>
              <a:rPr lang="en-US" sz="2000" baseline="30000" dirty="0"/>
              <a:t>th</a:t>
            </a:r>
            <a:r>
              <a:rPr lang="en-US" sz="2000" dirty="0"/>
              <a:t> bit (aka. Universally/Locally bit) is reversed (0-&gt;1 or 1-&gt;0)</a:t>
            </a:r>
          </a:p>
          <a:p>
            <a:pPr marL="693738" lvl="1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FFFE is inserted after the 24</a:t>
            </a:r>
            <a:r>
              <a:rPr lang="en-US" sz="2000" baseline="30000" dirty="0"/>
              <a:t>th</a:t>
            </a:r>
            <a:r>
              <a:rPr lang="en-US" sz="2000" dirty="0"/>
              <a:t> bit</a:t>
            </a:r>
          </a:p>
          <a:p>
            <a:pPr marL="693738" lvl="1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endParaRPr lang="en-US" sz="2000" dirty="0"/>
          </a:p>
          <a:p>
            <a:pPr algn="l"/>
            <a:endParaRPr lang="en-US" sz="2000" dirty="0">
              <a:latin typeface="+mn-lt"/>
            </a:endParaRPr>
          </a:p>
          <a:p>
            <a:pPr algn="l"/>
            <a:r>
              <a:rPr lang="en-US" sz="2000" dirty="0">
                <a:latin typeface="+mn-lt"/>
              </a:rPr>
              <a:t>2. </a:t>
            </a:r>
            <a:r>
              <a:rPr lang="en-US" sz="2000" b="1" dirty="0"/>
              <a:t>Randomly Generated</a:t>
            </a:r>
          </a:p>
          <a:p>
            <a:pPr marL="693738" lvl="1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Windows (Vista onwards) uses a randomly generated Interface ID instead of one created with EUI-64</a:t>
            </a:r>
          </a:p>
          <a:p>
            <a:pPr marL="693738" lvl="1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Windows XP (and earlier) used EUI-64</a:t>
            </a:r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14158170"/>
      </p:ext>
    </p:extLst>
  </p:cSld>
  <p:clrMapOvr>
    <a:masterClrMapping/>
  </p:clrMapOvr>
  <p:transition spd="med"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850" y="1383250"/>
            <a:ext cx="5949615" cy="50241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91988" y="394392"/>
            <a:ext cx="8772157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>
                <a:latin typeface="Arial" charset="0"/>
              </a:rPr>
              <a:t/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/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/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/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/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/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/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>IPv6 Unicast Addresses</a:t>
            </a:r>
            <a:r>
              <a:rPr lang="en-US">
                <a:latin typeface="Arial" charset="0"/>
              </a:rPr>
              <a:t/>
            </a:r>
            <a:br>
              <a:rPr lang="en-US">
                <a:latin typeface="Arial" charset="0"/>
              </a:rPr>
            </a:br>
            <a:r>
              <a:rPr lang="en-US" sz="2800">
                <a:latin typeface="Arial" charset="0"/>
              </a:rPr>
              <a:t>The Interface ID</a:t>
            </a:r>
            <a:endParaRPr lang="en-US" sz="28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053701"/>
      </p:ext>
    </p:extLst>
  </p:cSld>
  <p:clrMapOvr>
    <a:masterClrMapping/>
  </p:clrMapOvr>
  <p:transition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46268" y="394392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IPv6 Enabled End Device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34053" y="1358506"/>
            <a:ext cx="8230828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r>
              <a:rPr lang="en-US" sz="2000" dirty="0">
                <a:latin typeface="+mn-lt"/>
              </a:rPr>
              <a:t>When the network interface of a device is enabled and connected:- </a:t>
            </a:r>
          </a:p>
          <a:p>
            <a:pPr marL="457200" indent="-457200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en-US" sz="2000" dirty="0">
                <a:latin typeface="+mn-lt"/>
              </a:rPr>
              <a:t>it </a:t>
            </a:r>
            <a:r>
              <a:rPr lang="en-US" sz="2000" dirty="0"/>
              <a:t>automatically generates a link-local IPv6 address: FE80::X (where X is the Interface ID)</a:t>
            </a:r>
          </a:p>
          <a:p>
            <a:pPr marL="457200" indent="-457200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endParaRPr lang="en-US" sz="2000" dirty="0">
              <a:latin typeface="+mn-lt"/>
            </a:endParaRPr>
          </a:p>
          <a:p>
            <a:pPr marL="457200" indent="-457200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endParaRPr lang="en-US" sz="2000" dirty="0">
              <a:latin typeface="+mn-lt"/>
            </a:endParaRPr>
          </a:p>
          <a:p>
            <a:pPr marL="457200" indent="-457200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endParaRPr lang="en-US" sz="2000" dirty="0">
              <a:latin typeface="+mn-lt"/>
            </a:endParaRPr>
          </a:p>
          <a:p>
            <a:pPr marL="457200" indent="-457200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endParaRPr lang="en-US" sz="2000" dirty="0">
              <a:latin typeface="+mn-lt"/>
            </a:endParaRPr>
          </a:p>
          <a:p>
            <a:pPr marL="457200" indent="-457200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en-US" sz="2000" dirty="0">
                <a:latin typeface="+mn-lt"/>
              </a:rPr>
              <a:t>For the global unicast address, it can be set</a:t>
            </a:r>
            <a:r>
              <a:rPr lang="en-US" sz="2000" dirty="0"/>
              <a:t> either </a:t>
            </a:r>
            <a:r>
              <a:rPr lang="en-US" sz="2000" dirty="0">
                <a:latin typeface="+mn-lt"/>
              </a:rPr>
              <a:t>:-</a:t>
            </a:r>
          </a:p>
          <a:p>
            <a:pPr marL="693738" lvl="1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>
                <a:latin typeface="+mn-lt"/>
              </a:rPr>
              <a:t>Statically by the user (does not scale well in large sites)</a:t>
            </a:r>
          </a:p>
          <a:p>
            <a:pPr marL="693738" lvl="1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>
                <a:latin typeface="+mn-lt"/>
              </a:rPr>
              <a:t>Dynamically through network services (SLAAC, DHCPv6)</a:t>
            </a:r>
          </a:p>
          <a:p>
            <a:pPr marL="693738" lvl="1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endParaRPr lang="en-US" sz="2000" dirty="0">
              <a:effectLst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005" y="2179525"/>
            <a:ext cx="4215742" cy="16898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6309263"/>
      </p:ext>
    </p:extLst>
  </p:cSld>
  <p:clrMapOvr>
    <a:masterClrMapping/>
  </p:clrMapOvr>
  <p:transition spd="med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/>
          <p:cNvSpPr>
            <a:spLocks noGrp="1" noChangeArrowheads="1"/>
          </p:cNvSpPr>
          <p:nvPr>
            <p:ph type="title"/>
          </p:nvPr>
        </p:nvSpPr>
        <p:spPr>
          <a:xfrm>
            <a:off x="371843" y="394392"/>
            <a:ext cx="8772157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</a:rPr>
              <a:t>Summary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0324" y="1464159"/>
            <a:ext cx="8294290" cy="5086416"/>
          </a:xfrm>
        </p:spPr>
        <p:txBody>
          <a:bodyPr/>
          <a:lstStyle/>
          <a:p>
            <a:r>
              <a:rPr lang="en-US" sz="2000" dirty="0"/>
              <a:t>Each IPv6 address has 128 bits verses the 32 bits in an IPv4 address. </a:t>
            </a:r>
          </a:p>
          <a:p>
            <a:r>
              <a:rPr lang="en-US" sz="2000" dirty="0"/>
              <a:t>The prefix length is used to indicate the network portion of an IPv6 address using the following format: IPv6 address/prefix length. </a:t>
            </a:r>
          </a:p>
          <a:p>
            <a:r>
              <a:rPr lang="en-US" sz="2000" dirty="0"/>
              <a:t>There are three types of IPv6 addresses: unicast, multicast and </a:t>
            </a:r>
            <a:r>
              <a:rPr lang="en-US" sz="2000" dirty="0" err="1"/>
              <a:t>anycast</a:t>
            </a:r>
            <a:r>
              <a:rPr lang="en-US" sz="2000" dirty="0"/>
              <a:t>. </a:t>
            </a:r>
          </a:p>
          <a:p>
            <a:r>
              <a:rPr lang="en-US" sz="2000" dirty="0"/>
              <a:t>An IPv6 link-local address enables a device to communicate with other IPv6-enabled devices on the same link and only on that link (subnet). </a:t>
            </a:r>
          </a:p>
          <a:p>
            <a:r>
              <a:rPr lang="en-US" sz="2000" dirty="0"/>
              <a:t>Packets with a source or destination link-local address cannot be routed beyond the link from where the packet originated. </a:t>
            </a:r>
          </a:p>
          <a:p>
            <a:r>
              <a:rPr lang="en-US" sz="2000" dirty="0"/>
              <a:t>IPv6 link-local addresses are in the FE80::/10 range.</a:t>
            </a:r>
          </a:p>
          <a:p>
            <a:r>
              <a:rPr lang="en-US" sz="2000" dirty="0"/>
              <a:t>IPv6 global unicast addresses currently assigned are 2000::/3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62123190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14724</TotalTime>
  <Pages>28</Pages>
  <Words>2983</Words>
  <Application>Microsoft Office PowerPoint</Application>
  <PresentationFormat>On-screen Show (4:3)</PresentationFormat>
  <Paragraphs>589</Paragraphs>
  <Slides>56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ＭＳ Ｐゴシック</vt:lpstr>
      <vt:lpstr>Arial</vt:lpstr>
      <vt:lpstr>Courier New</vt:lpstr>
      <vt:lpstr>Times New Roman</vt:lpstr>
      <vt:lpstr>Wingdings</vt:lpstr>
      <vt:lpstr>PPT-TMPLT-WHT_C</vt:lpstr>
      <vt:lpstr>NetAcad-4F_PPT-WHT_060408</vt:lpstr>
      <vt:lpstr>Lec 1: IPv4 Addressing</vt:lpstr>
      <vt:lpstr>Topics</vt:lpstr>
      <vt:lpstr> Objectives</vt:lpstr>
      <vt:lpstr>8.1 IPv4 Network Addresses</vt:lpstr>
      <vt:lpstr>IPv4 Address Structure Represented in Dotted Decimal Format</vt:lpstr>
      <vt:lpstr>IPv4 Address Structure Binary Number System</vt:lpstr>
      <vt:lpstr>IPv4 Address Structure Converting a Binary Address to Decimal</vt:lpstr>
      <vt:lpstr>IPv4 Address Structure Converting a Binary Address to Decimal</vt:lpstr>
      <vt:lpstr>IPv4 Address Structure Converting from Decimal to Binary</vt:lpstr>
      <vt:lpstr>IPv4 Address Structure Converting from Decimal to Binary (Cont.)</vt:lpstr>
      <vt:lpstr>IPv4 Subnet Mask Network Portion and Host Portion of an IPv4 Address</vt:lpstr>
      <vt:lpstr>IPv4 Subnet Mask Network Portion and Host Portion of an IPv4 Address</vt:lpstr>
      <vt:lpstr>IPv4 Subnet Mask Network Portion and Host Portion of an IPv4 Address</vt:lpstr>
      <vt:lpstr>IPv4 Subnet Mask Network Portion and Host Portion of an IPv4 Address</vt:lpstr>
      <vt:lpstr>IPv4 Subnet Mask Examining the Prefix Length</vt:lpstr>
      <vt:lpstr>IPv4 Subnet Mask Examining the Prefix Length (cont.)</vt:lpstr>
      <vt:lpstr>IPv4 Subnet Mask Examining the Prefix Length (cont.)</vt:lpstr>
      <vt:lpstr>IPv4 Subnet Mask IPv4 Network, Host, and Broadcast Address</vt:lpstr>
      <vt:lpstr>IPv4 Subnet Mask IPv4 Network, Host, and Broadcast Address</vt:lpstr>
      <vt:lpstr>IPv4 Unicast, Broadcast, and Multicast Assigning a Static IPv4 Address to a Host</vt:lpstr>
      <vt:lpstr>IPv4 Unicast, Broadcast, and Multicast Assigning a Dynamic IPv4 Address to a Host</vt:lpstr>
      <vt:lpstr>IPv4 Unicast, Broadcast, and Multicast Unicast Transmission</vt:lpstr>
      <vt:lpstr>IPv4 Unicast, Broadcast, and Multicast Broadcast Transmission</vt:lpstr>
      <vt:lpstr>IPv4 Unicast, Broadcast, and Multicast Multicast Transmission</vt:lpstr>
      <vt:lpstr>Types of IPv4 Address Public and Private IPv4 Addresses</vt:lpstr>
      <vt:lpstr>Types of IPv4 Address Special Use IPv4 Addresses</vt:lpstr>
      <vt:lpstr>Types of IPv4 Address Legacy Classful Addressing</vt:lpstr>
      <vt:lpstr>Types of IPv4 Address Legacy Classful Addressing (cont.)</vt:lpstr>
      <vt:lpstr>IP Addressing Summary</vt:lpstr>
      <vt:lpstr>Lec 1: IPv6 Addressing</vt:lpstr>
      <vt:lpstr> Lecture 9: Objectives</vt:lpstr>
      <vt:lpstr>9.1  IPv6 Network Addresses</vt:lpstr>
      <vt:lpstr>IPv4 Issues The Need for IPv6</vt:lpstr>
      <vt:lpstr>IPv6 Addressing Hexadecimal Number System</vt:lpstr>
      <vt:lpstr>IPv6 Addressing Hexadecimal Number System (cont.)</vt:lpstr>
      <vt:lpstr>IPv6 Addressing IPv6 Address Representation</vt:lpstr>
      <vt:lpstr>Compressing an IPv6 Addressing Rule 1- Omitting Leading 0s</vt:lpstr>
      <vt:lpstr>Compressing an IPv6 Addressing Rule 2 - Omitting Segments with All-0s</vt:lpstr>
      <vt:lpstr>Compressing an IPv6 Addressing Rule 2 – More examples</vt:lpstr>
      <vt:lpstr>Compressing an IPv6 Addressing</vt:lpstr>
      <vt:lpstr>Types of IPv6 Addresses IPv6 Prefix Length</vt:lpstr>
      <vt:lpstr>Types of IPv6 Addresses IPv6 Address Types</vt:lpstr>
      <vt:lpstr>Types of IPv6 Addresses IPv6 Unicast Addresses</vt:lpstr>
      <vt:lpstr>Types of IPv6 Addresses IPv6 Unicast Addresses (cont.)</vt:lpstr>
      <vt:lpstr>Types of IPv6 Addresses IPv6 Unicast Addresses (cont.)</vt:lpstr>
      <vt:lpstr>Types of IPv6 Addresses IPv6 Unicast Addresses (cont.)</vt:lpstr>
      <vt:lpstr>Types of IPv6 Addresses IPv6 Unicast Addresses (cont.)</vt:lpstr>
      <vt:lpstr>Types of IPv6 Addresses IPv6 Link-Local Unicast Address</vt:lpstr>
      <vt:lpstr>Types of IPv6 Addresses IPv6 Link-Local Unicast Address (cont.)</vt:lpstr>
      <vt:lpstr>IPv6 Unicast Addresses IPv6 Global Unicast Address</vt:lpstr>
      <vt:lpstr>IPv6 Unicast Addresses IPv6 Global Unicast Address (cont.)</vt:lpstr>
      <vt:lpstr>IPv6 Unicast Addresses IPv6 Global Unicast Address (cont.)</vt:lpstr>
      <vt:lpstr>       IPv6 Unicast Addresses The Interface ID</vt:lpstr>
      <vt:lpstr>PowerPoint Presentation</vt:lpstr>
      <vt:lpstr>IPv6 Unicast Addresses IPv6 Enabled End Device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Karen Alderson</dc:creator>
  <cp:lastModifiedBy>HOO BRYAN</cp:lastModifiedBy>
  <cp:revision>926</cp:revision>
  <cp:lastPrinted>1999-01-27T00:54:54Z</cp:lastPrinted>
  <dcterms:created xsi:type="dcterms:W3CDTF">2006-10-23T15:07:30Z</dcterms:created>
  <dcterms:modified xsi:type="dcterms:W3CDTF">2018-04-13T12:01:23Z</dcterms:modified>
</cp:coreProperties>
</file>