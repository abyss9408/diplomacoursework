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28"/>
  </p:notesMasterIdLst>
  <p:handoutMasterIdLst>
    <p:handoutMasterId r:id="rId29"/>
  </p:handoutMasterIdLst>
  <p:sldIdLst>
    <p:sldId id="500" r:id="rId3"/>
    <p:sldId id="541" r:id="rId4"/>
    <p:sldId id="782" r:id="rId5"/>
    <p:sldId id="792" r:id="rId6"/>
    <p:sldId id="794" r:id="rId7"/>
    <p:sldId id="785" r:id="rId8"/>
    <p:sldId id="843" r:id="rId9"/>
    <p:sldId id="790" r:id="rId10"/>
    <p:sldId id="836" r:id="rId11"/>
    <p:sldId id="837" r:id="rId12"/>
    <p:sldId id="797" r:id="rId13"/>
    <p:sldId id="838" r:id="rId14"/>
    <p:sldId id="813" r:id="rId15"/>
    <p:sldId id="819" r:id="rId16"/>
    <p:sldId id="821" r:id="rId17"/>
    <p:sldId id="839" r:id="rId18"/>
    <p:sldId id="840" r:id="rId19"/>
    <p:sldId id="841" r:id="rId20"/>
    <p:sldId id="844" r:id="rId21"/>
    <p:sldId id="845" r:id="rId22"/>
    <p:sldId id="846" r:id="rId23"/>
    <p:sldId id="829" r:id="rId24"/>
    <p:sldId id="830" r:id="rId25"/>
    <p:sldId id="831" r:id="rId26"/>
    <p:sldId id="783" r:id="rId27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ttoria deloulay" initials="vd" lastIdx="18" clrIdx="0"/>
  <p:cmAuthor id="1" name="carykell" initials="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0C4"/>
    <a:srgbClr val="678DC5"/>
    <a:srgbClr val="3E67A4"/>
    <a:srgbClr val="3E8DC5"/>
    <a:srgbClr val="5F5F65"/>
    <a:srgbClr val="7E7E8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49" autoAdjust="0"/>
    <p:restoredTop sz="81556" autoAdjust="0"/>
  </p:normalViewPr>
  <p:slideViewPr>
    <p:cSldViewPr snapToGrid="0">
      <p:cViewPr varScale="1">
        <p:scale>
          <a:sx n="50" d="100"/>
          <a:sy n="50" d="100"/>
        </p:scale>
        <p:origin x="60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BCC1ECAD-6CE1-4897-9CEF-F2ECC9BEA19E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05898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FB004549-1125-4930-988B-40FFE37DB1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17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034988-36DD-4D34-B1CE-37AB851117A5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Routing &amp; Switching</a:t>
            </a:r>
          </a:p>
          <a:p>
            <a:pPr>
              <a:buFontTx/>
              <a:buNone/>
            </a:pPr>
            <a:r>
              <a:rPr lang="en-US" sz="1300" b="1" dirty="0" smtClean="0"/>
              <a:t>Chapter 2: </a:t>
            </a:r>
            <a:r>
              <a:rPr lang="en-US" sz="1400" b="1" dirty="0" smtClean="0"/>
              <a:t>Basic Switching Concepts and Configuration</a:t>
            </a:r>
            <a:endParaRPr lang="en-GB" b="1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0EE284-7961-42D5-9E4B-29540E276A78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2.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b="1" dirty="0" smtClean="0"/>
              <a:t>2.1.2.1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Duplex Communication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2.1.2.3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Auto-MDIX Feature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2.1.1.1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Switch Boot Sequence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2.1.1.1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Switch Boot Sequence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b="1" dirty="0" smtClean="0"/>
              <a:t>2.1.1.4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Preparing for Basic Switch Management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b="1" dirty="0" smtClean="0"/>
              <a:t>2.1.1.4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Preparing for Basic Switch Management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b="1" dirty="0" smtClean="0"/>
              <a:t>2.1.1.4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Preparing for Basic Switch Management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2.1.2.4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Verifying Switch Port Configuration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2.1.2.4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Verifying Switch Port Configuration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2.2.2.4</a:t>
            </a:r>
            <a:r>
              <a:rPr lang="en-US" b="1" baseline="0" dirty="0" smtClean="0"/>
              <a:t>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Leveraging Telnet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2.2.4.1</a:t>
            </a:r>
            <a:r>
              <a:rPr lang="en-US" b="1" baseline="0" dirty="0" smtClean="0"/>
              <a:t>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Secure Unused Ports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2.2.4.3</a:t>
            </a:r>
            <a:r>
              <a:rPr lang="en-US" b="1" baseline="0" dirty="0" smtClean="0"/>
              <a:t> </a:t>
            </a:r>
            <a:r>
              <a:rPr lang="en-US" b="1" dirty="0" smtClean="0"/>
              <a:t>Port Security: Operation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1pPr>
            <a:lvl2pPr marL="743086" indent="-285802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2pPr>
            <a:lvl3pPr marL="1143209" indent="-228641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3pPr>
            <a:lvl4pPr marL="1600493" indent="-228641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4pPr>
            <a:lvl5pPr marL="2057775" indent="-228641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5pPr>
            <a:lvl6pPr marL="2515059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6pPr>
            <a:lvl7pPr marL="2972343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7pPr>
            <a:lvl8pPr marL="3429626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8pPr>
            <a:lvl9pPr marL="3886909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9pPr>
          </a:lstStyle>
          <a:p>
            <a:fld id="{66621F09-76D7-46B8-98B0-11A3442327F0}" type="slidenum">
              <a:rPr lang="en-GB" sz="1200">
                <a:solidFill>
                  <a:srgbClr val="000000"/>
                </a:solidFill>
              </a:rPr>
              <a:pPr/>
              <a:t>16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8499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8200" cy="348773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35251" y="4417180"/>
            <a:ext cx="5141489" cy="41853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1pPr>
            <a:lvl2pPr marL="743086" indent="-285802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2pPr>
            <a:lvl3pPr marL="1143209" indent="-228641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3pPr>
            <a:lvl4pPr marL="1600493" indent="-228641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4pPr>
            <a:lvl5pPr marL="2057775" indent="-228641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5pPr>
            <a:lvl6pPr marL="2515059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6pPr>
            <a:lvl7pPr marL="2972343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7pPr>
            <a:lvl8pPr marL="3429626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8pPr>
            <a:lvl9pPr marL="3886909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9pPr>
          </a:lstStyle>
          <a:p>
            <a:fld id="{66621F09-76D7-46B8-98B0-11A3442327F0}" type="slidenum">
              <a:rPr lang="en-GB" sz="1200">
                <a:solidFill>
                  <a:srgbClr val="000000"/>
                </a:solidFill>
              </a:rPr>
              <a:pPr/>
              <a:t>17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8499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8200" cy="348773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35251" y="4417180"/>
            <a:ext cx="5141489" cy="41853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lnSpc>
                <a:spcPct val="93000"/>
              </a:lnSpc>
              <a:spcBef>
                <a:spcPts val="450"/>
              </a:spcBef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</a:pPr>
            <a:r>
              <a:rPr lang="en-GB" dirty="0" smtClean="0">
                <a:cs typeface="Tahoma" charset="0"/>
              </a:rPr>
              <a:t>Note: </a:t>
            </a:r>
            <a:r>
              <a:rPr lang="en-GB" b="1" dirty="0" err="1" smtClean="0">
                <a:cs typeface="Tahoma" charset="0"/>
              </a:rPr>
              <a:t>switchport</a:t>
            </a:r>
            <a:r>
              <a:rPr lang="en-GB" b="1" dirty="0" smtClean="0">
                <a:cs typeface="Tahoma" charset="0"/>
              </a:rPr>
              <a:t> port-security</a:t>
            </a:r>
            <a:r>
              <a:rPr lang="en-GB" dirty="0" smtClean="0">
                <a:cs typeface="Tahoma" charset="0"/>
              </a:rPr>
              <a:t> without keywords enable port security on the interface.</a:t>
            </a:r>
          </a:p>
          <a:p>
            <a:pPr eaLnBrk="1" hangingPunct="1">
              <a:lnSpc>
                <a:spcPct val="93000"/>
              </a:lnSpc>
              <a:spcBef>
                <a:spcPts val="450"/>
              </a:spcBef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</a:pPr>
            <a:r>
              <a:rPr lang="en-GB" dirty="0" smtClean="0">
                <a:cs typeface="Tahoma" charset="0"/>
              </a:rPr>
              <a:t>     Defaults are:  maximum number of secure MAC </a:t>
            </a:r>
            <a:r>
              <a:rPr lang="en-GB" dirty="0" err="1" smtClean="0">
                <a:cs typeface="Tahoma" charset="0"/>
              </a:rPr>
              <a:t>addrs</a:t>
            </a:r>
            <a:r>
              <a:rPr lang="en-GB" dirty="0" smtClean="0">
                <a:cs typeface="Tahoma" charset="0"/>
              </a:rPr>
              <a:t> is 1.</a:t>
            </a:r>
          </a:p>
          <a:p>
            <a:pPr eaLnBrk="1" hangingPunct="1">
              <a:lnSpc>
                <a:spcPct val="93000"/>
              </a:lnSpc>
              <a:spcBef>
                <a:spcPts val="450"/>
              </a:spcBef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</a:pPr>
            <a:r>
              <a:rPr lang="en-GB" dirty="0" smtClean="0">
                <a:cs typeface="Tahoma" charset="0"/>
              </a:rPr>
              <a:t>                          sticky learning is disabled.</a:t>
            </a:r>
          </a:p>
          <a:p>
            <a:pPr eaLnBrk="1" hangingPunct="1">
              <a:lnSpc>
                <a:spcPct val="93000"/>
              </a:lnSpc>
              <a:spcBef>
                <a:spcPts val="450"/>
              </a:spcBef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</a:pPr>
            <a:r>
              <a:rPr lang="en-GB" dirty="0" smtClean="0">
                <a:cs typeface="Tahoma" charset="0"/>
              </a:rPr>
              <a:t>                          violation is shutdown.</a:t>
            </a:r>
          </a:p>
          <a:p>
            <a:pPr eaLnBrk="1" hangingPunct="1">
              <a:lnSpc>
                <a:spcPct val="93000"/>
              </a:lnSpc>
              <a:spcBef>
                <a:spcPts val="450"/>
              </a:spcBef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</a:pPr>
            <a:r>
              <a:rPr lang="en-GB" dirty="0" smtClean="0">
                <a:cs typeface="Tahoma" charset="0"/>
              </a:rPr>
              <a:t>Sticky – mac address that is learned is placed in the configuration file (don’t lose it).</a:t>
            </a:r>
          </a:p>
          <a:p>
            <a:pPr eaLnBrk="1" hangingPunct="1">
              <a:lnSpc>
                <a:spcPct val="93000"/>
              </a:lnSpc>
              <a:spcBef>
                <a:spcPts val="450"/>
              </a:spcBef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</a:pPr>
            <a:r>
              <a:rPr lang="en-GB" dirty="0" smtClean="0">
                <a:cs typeface="Tahoma" charset="0"/>
              </a:rPr>
              <a:t>Port security can only be configured on static access ports. (Not on dynamic, dynamic access, or trunk ports).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1pPr>
            <a:lvl2pPr marL="743086" indent="-285802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2pPr>
            <a:lvl3pPr marL="1143209" indent="-228641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3pPr>
            <a:lvl4pPr marL="1600493" indent="-228641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4pPr>
            <a:lvl5pPr marL="2057775" indent="-228641"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5pPr>
            <a:lvl6pPr marL="2515059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6pPr>
            <a:lvl7pPr marL="2972343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7pPr>
            <a:lvl8pPr marL="3429626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8pPr>
            <a:lvl9pPr marL="3886909" indent="-228641" defTabSz="45728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9pPr>
          </a:lstStyle>
          <a:p>
            <a:fld id="{480DD21C-0CD8-4D63-A219-B42270B3F5F4}" type="slidenum">
              <a:rPr lang="en-GB" sz="1200">
                <a:solidFill>
                  <a:srgbClr val="000000"/>
                </a:solidFill>
              </a:rPr>
              <a:pPr/>
              <a:t>18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86019" name="Text Box 1"/>
          <p:cNvSpPr txBox="1">
            <a:spLocks noChangeArrowheads="1"/>
          </p:cNvSpPr>
          <p:nvPr/>
        </p:nvSpPr>
        <p:spPr bwMode="auto">
          <a:xfrm>
            <a:off x="3972825" y="8832772"/>
            <a:ext cx="3039163" cy="465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3257" tIns="46449" rIns="93257" bIns="46449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9pPr>
          </a:lstStyle>
          <a:p>
            <a:pPr algn="r"/>
            <a:fld id="{0F199849-C42F-4F87-96BB-77D336327DD3}" type="slidenum">
              <a:rPr lang="en-GB" sz="1200">
                <a:solidFill>
                  <a:srgbClr val="000000"/>
                </a:solidFill>
              </a:rPr>
              <a:pPr algn="r"/>
              <a:t>18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86020" name="Text Box 2"/>
          <p:cNvSpPr txBox="1">
            <a:spLocks noChangeArrowheads="1"/>
          </p:cNvSpPr>
          <p:nvPr/>
        </p:nvSpPr>
        <p:spPr bwMode="auto">
          <a:xfrm>
            <a:off x="0" y="8832772"/>
            <a:ext cx="3039163" cy="465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3257" tIns="46449" rIns="93257" bIns="46449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9pPr>
          </a:lstStyle>
          <a:p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86021" name="Text Box 3"/>
          <p:cNvSpPr txBox="1">
            <a:spLocks noChangeArrowheads="1"/>
          </p:cNvSpPr>
          <p:nvPr/>
        </p:nvSpPr>
        <p:spPr bwMode="auto">
          <a:xfrm>
            <a:off x="0" y="0"/>
            <a:ext cx="3039163" cy="465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3257" tIns="46449" rIns="93257" bIns="46449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9pPr>
          </a:lstStyle>
          <a:p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86022" name="Text Box 4"/>
          <p:cNvSpPr txBox="1">
            <a:spLocks noChangeArrowheads="1"/>
          </p:cNvSpPr>
          <p:nvPr/>
        </p:nvSpPr>
        <p:spPr bwMode="auto">
          <a:xfrm>
            <a:off x="3972825" y="0"/>
            <a:ext cx="3039163" cy="465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3257" tIns="46449" rIns="93257" bIns="46449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9pPr>
          </a:lstStyle>
          <a:p>
            <a:pPr algn="r"/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86023" name="Text Box 5"/>
          <p:cNvSpPr txBox="1">
            <a:spLocks noChangeArrowheads="1"/>
          </p:cNvSpPr>
          <p:nvPr/>
        </p:nvSpPr>
        <p:spPr bwMode="auto">
          <a:xfrm>
            <a:off x="1181368" y="697032"/>
            <a:ext cx="4649252" cy="348674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1457" tIns="45728" rIns="91457" bIns="45728" anchor="ctr"/>
          <a:lstStyle>
            <a:lvl1pPr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>
                <a:solidFill>
                  <a:schemeClr val="bg1"/>
                </a:solidFill>
                <a:latin typeface="Times New Roman" pitchFamily="16" charset="0"/>
                <a:cs typeface="Tahoma" charset="0"/>
              </a:defRPr>
            </a:lvl9pPr>
          </a:lstStyle>
          <a:p>
            <a:endParaRPr lang="en-US"/>
          </a:p>
        </p:txBody>
      </p:sp>
      <p:sp>
        <p:nvSpPr>
          <p:cNvPr id="86024" name="Text Box 6"/>
          <p:cNvSpPr>
            <a:spLocks noGrp="1" noChangeArrowheads="1"/>
          </p:cNvSpPr>
          <p:nvPr>
            <p:ph type="body"/>
          </p:nvPr>
        </p:nvSpPr>
        <p:spPr>
          <a:xfrm>
            <a:off x="935251" y="4417179"/>
            <a:ext cx="5141489" cy="4183777"/>
          </a:xfrm>
          <a:solidFill>
            <a:srgbClr val="FFFFFF"/>
          </a:solidFill>
          <a:ln w="9360">
            <a:solidFill>
              <a:srgbClr val="000000"/>
            </a:solidFill>
            <a:miter lim="800000"/>
          </a:ln>
        </p:spPr>
        <p:txBody>
          <a:bodyPr lIns="90016" tIns="46809" rIns="90016" bIns="46809"/>
          <a:lstStyle/>
          <a:p>
            <a:pPr eaLnBrk="1" hangingPunct="1">
              <a:lnSpc>
                <a:spcPct val="93000"/>
              </a:lnSpc>
              <a:spcBef>
                <a:spcPts val="450"/>
              </a:spcBef>
              <a:tabLst>
                <a:tab pos="0" algn="l"/>
                <a:tab pos="914566" algn="l"/>
                <a:tab pos="1829134" algn="l"/>
                <a:tab pos="2743700" algn="l"/>
                <a:tab pos="3658268" algn="l"/>
                <a:tab pos="4572834" algn="l"/>
                <a:tab pos="5487402" algn="l"/>
                <a:tab pos="6401968" algn="l"/>
                <a:tab pos="7316536" algn="l"/>
                <a:tab pos="8231102" algn="l"/>
                <a:tab pos="9145669" algn="l"/>
                <a:tab pos="10060236" algn="l"/>
              </a:tabLst>
            </a:pPr>
            <a:endParaRPr lang="en-GB" dirty="0" smtClean="0">
              <a:cs typeface="Tahoma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2.2.4.7</a:t>
            </a:r>
            <a:r>
              <a:rPr lang="en-US" b="1" baseline="0" dirty="0" smtClean="0"/>
              <a:t> </a:t>
            </a:r>
            <a:r>
              <a:rPr lang="en-US" b="1" dirty="0" smtClean="0"/>
              <a:t>Ports in Error Disabled</a:t>
            </a:r>
            <a:r>
              <a:rPr lang="en-US" b="1" baseline="0" dirty="0" smtClean="0"/>
              <a:t> State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2.2.4.7</a:t>
            </a:r>
            <a:r>
              <a:rPr lang="en-US" b="1" baseline="0" dirty="0" smtClean="0"/>
              <a:t> </a:t>
            </a:r>
            <a:r>
              <a:rPr lang="en-US" b="1" dirty="0" smtClean="0"/>
              <a:t>Ports In Error Disabled</a:t>
            </a:r>
            <a:r>
              <a:rPr lang="en-US" b="1" baseline="0" dirty="0" smtClean="0"/>
              <a:t> State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2.2.4.7</a:t>
            </a:r>
            <a:r>
              <a:rPr lang="en-US" b="1" baseline="0" dirty="0" smtClean="0"/>
              <a:t> </a:t>
            </a:r>
            <a:r>
              <a:rPr lang="en-US" b="1" dirty="0" smtClean="0"/>
              <a:t>Ports In Error Disabled</a:t>
            </a:r>
            <a:r>
              <a:rPr lang="en-US" b="1" baseline="0" dirty="0" smtClean="0"/>
              <a:t> State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F77EF-9F5D-4805-BD17-79024BE7C85C}" type="slidenum">
              <a:rPr lang="en-US" smtClean="0"/>
              <a:pPr/>
              <a:t>25</a:t>
            </a:fld>
            <a:endParaRPr lang="en-US" dirty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2 Summary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C31C4615-7F19-455B-A5C4-EA1B3B194C81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ACFA795C-7F0A-48D8-9FC3-F2BA5F8EB736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58EC189E-ADD4-420E-B89E-1E32C54438D7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34" r:id="rId2"/>
    <p:sldLayoutId id="2147484435" r:id="rId3"/>
    <p:sldLayoutId id="2147484436" r:id="rId4"/>
    <p:sldLayoutId id="2147484437" r:id="rId5"/>
    <p:sldLayoutId id="2147484438" r:id="rId6"/>
    <p:sldLayoutId id="2147484439" r:id="rId7"/>
    <p:sldLayoutId id="2147484440" r:id="rId8"/>
    <p:sldLayoutId id="2147484441" r:id="rId9"/>
    <p:sldLayoutId id="2147484442" r:id="rId10"/>
    <p:sldLayoutId id="2147484443" r:id="rId11"/>
    <p:sldLayoutId id="2147484444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5C5E045-6C48-46C0-92AE-30A8710B0BBD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smtClean="0"/>
              <a:t>Chapter 3a</a:t>
            </a:r>
            <a:r>
              <a:rPr lang="en-US" sz="2800" dirty="0" smtClean="0"/>
              <a:t>: Basic Switching Concepts and Configuration (I)</a:t>
            </a:r>
            <a:endParaRPr lang="en-US" sz="2800" dirty="0" smtClean="0">
              <a:solidFill>
                <a:schemeClr val="folHlink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Routing and Switching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638" y="493713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2a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47713" y="1601788"/>
            <a:ext cx="8131175" cy="4437062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2.0 Introduction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2.1 Basic Switch Configuration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>
                <a:cs typeface="Arial" charset="0"/>
              </a:rPr>
              <a:t>2</a:t>
            </a:r>
            <a:r>
              <a:rPr lang="en-US" sz="2000" dirty="0" smtClean="0">
                <a:cs typeface="Arial" charset="0"/>
              </a:rPr>
              <a:t>.2 Switch Security: Management and Implementation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4638" y="493713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2a: Objectives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19138" y="1471613"/>
            <a:ext cx="8131175" cy="443706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Upon completion of this chapter, you will be able to:</a:t>
            </a:r>
          </a:p>
          <a:p>
            <a:r>
              <a:rPr lang="en-US" sz="2000" dirty="0" smtClean="0"/>
              <a:t>Configure initial settings on a Cisco switch.</a:t>
            </a:r>
          </a:p>
          <a:p>
            <a:r>
              <a:rPr lang="en-US" sz="2000" dirty="0" smtClean="0"/>
              <a:t>Configure switch ports to meet network requirements.</a:t>
            </a:r>
          </a:p>
          <a:p>
            <a:r>
              <a:rPr lang="en-US" sz="2000" dirty="0" smtClean="0"/>
              <a:t>Configure the management switch virtual interface.</a:t>
            </a:r>
          </a:p>
          <a:p>
            <a:r>
              <a:rPr lang="en-US" sz="2000" dirty="0" smtClean="0"/>
              <a:t>Configure the port security feature to restrict network access.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3501" y="498262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/>
              <a:t>Switch Ports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Duplex Communication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78217" y="1536867"/>
            <a:ext cx="7940675" cy="3571875"/>
          </a:xfrm>
        </p:spPr>
        <p:txBody>
          <a:bodyPr/>
          <a:lstStyle/>
          <a:p>
            <a:r>
              <a:rPr lang="en-SG" dirty="0" smtClean="0"/>
              <a:t>Full-Duplex Communication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dirty="0" smtClean="0"/>
              <a:t>Bi-directional, both ends of the connection can send and receive data simultaneously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SG" sz="1100" dirty="0" smtClean="0"/>
          </a:p>
          <a:p>
            <a:r>
              <a:rPr lang="en-SG" dirty="0" smtClean="0"/>
              <a:t>Half-Duplex Communication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dirty="0" err="1" smtClean="0"/>
              <a:t>Uni</a:t>
            </a:r>
            <a:r>
              <a:rPr lang="en-SG" dirty="0" smtClean="0"/>
              <a:t>-directional, sending and receiving does not occur at the same time.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dirty="0" smtClean="0"/>
              <a:t>Only seen in legacy hardware like hubs. End devices use CSMA/CD to reduce collisions.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SG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S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96"/>
          <a:stretch/>
        </p:blipFill>
        <p:spPr bwMode="auto">
          <a:xfrm>
            <a:off x="4626591" y="5138387"/>
            <a:ext cx="4340773" cy="11869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68" b="62010"/>
          <a:stretch/>
        </p:blipFill>
        <p:spPr bwMode="auto">
          <a:xfrm>
            <a:off x="207778" y="5138387"/>
            <a:ext cx="4144270" cy="11869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149773" y="5224399"/>
            <a:ext cx="69923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i="1" dirty="0" smtClean="0"/>
              <a:t>hub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421931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/>
              <a:t>Switch Ports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Auto-MDIX Feature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0376" y="1527768"/>
            <a:ext cx="8202305" cy="4879748"/>
          </a:xfrm>
        </p:spPr>
        <p:txBody>
          <a:bodyPr/>
          <a:lstStyle/>
          <a:p>
            <a:r>
              <a:rPr lang="en-US" sz="2000" dirty="0"/>
              <a:t>Ethernet </a:t>
            </a:r>
            <a:r>
              <a:rPr lang="en-US" sz="2000" b="1" u="sng" dirty="0" smtClean="0"/>
              <a:t>straight-through</a:t>
            </a:r>
            <a:r>
              <a:rPr lang="en-US" sz="2000" dirty="0" smtClean="0"/>
              <a:t> </a:t>
            </a:r>
            <a:r>
              <a:rPr lang="en-US" sz="2000" dirty="0"/>
              <a:t>cables </a:t>
            </a:r>
            <a:r>
              <a:rPr lang="en-US" sz="2000" dirty="0" smtClean="0"/>
              <a:t>are used to connect different types of devices (PC to switch, switch to router)</a:t>
            </a:r>
          </a:p>
          <a:p>
            <a:r>
              <a:rPr lang="en-US" sz="2000" dirty="0" smtClean="0"/>
              <a:t>Ethernet </a:t>
            </a:r>
            <a:r>
              <a:rPr lang="en-US" sz="2000" b="1" u="sng" dirty="0" smtClean="0"/>
              <a:t>crossover</a:t>
            </a:r>
            <a:r>
              <a:rPr lang="en-US" sz="2000" dirty="0" smtClean="0"/>
              <a:t> cables are used to connect same types of devices (PC to PC, switch to switch, router to router)</a:t>
            </a:r>
          </a:p>
          <a:p>
            <a:r>
              <a:rPr lang="en-US" sz="2000" u="sng" dirty="0" smtClean="0"/>
              <a:t>Exception</a:t>
            </a:r>
            <a:r>
              <a:rPr lang="en-US" sz="2000" dirty="0" smtClean="0"/>
              <a:t>: PC to router requires a crossover cable.</a:t>
            </a:r>
          </a:p>
          <a:p>
            <a:endParaRPr lang="en-US" sz="2000" dirty="0"/>
          </a:p>
          <a:p>
            <a:r>
              <a:rPr lang="en-US" sz="2000" dirty="0" smtClean="0"/>
              <a:t>Modern switches are equipped with a feature called “</a:t>
            </a:r>
            <a:r>
              <a:rPr lang="en-US" sz="2000" b="1" dirty="0" smtClean="0"/>
              <a:t>Automatic Medium-Dependent Interface Crossover</a:t>
            </a:r>
            <a:r>
              <a:rPr lang="en-US" sz="2000" dirty="0" smtClean="0"/>
              <a:t>” (</a:t>
            </a:r>
            <a:r>
              <a:rPr lang="en-US" sz="2000" b="1" dirty="0" smtClean="0"/>
              <a:t>auto-MDIX</a:t>
            </a:r>
            <a:r>
              <a:rPr lang="en-US" sz="2000" dirty="0" smtClean="0"/>
              <a:t>) such that it doesn’t matter anymore whether a straight or crossover cable is used</a:t>
            </a:r>
          </a:p>
          <a:p>
            <a:r>
              <a:rPr lang="en-US" sz="2000" dirty="0"/>
              <a:t>When auto-MDIX is enabled, the </a:t>
            </a:r>
            <a:r>
              <a:rPr lang="en-US" sz="2000" dirty="0" smtClean="0"/>
              <a:t>port interface automatically </a:t>
            </a:r>
            <a:r>
              <a:rPr lang="en-US" sz="2000" dirty="0"/>
              <a:t>detects </a:t>
            </a:r>
            <a:r>
              <a:rPr lang="en-US" sz="2000" dirty="0" smtClean="0"/>
              <a:t>the type of cable and appropriately configures </a:t>
            </a:r>
            <a:r>
              <a:rPr lang="en-US" sz="2000" dirty="0"/>
              <a:t>the </a:t>
            </a:r>
            <a:r>
              <a:rPr lang="en-US" sz="2000" dirty="0" smtClean="0"/>
              <a:t>connection.</a:t>
            </a:r>
          </a:p>
        </p:txBody>
      </p:sp>
    </p:spTree>
    <p:extLst>
      <p:ext uri="{BB962C8B-B14F-4D97-AF65-F5344CB8AC3E}">
        <p14:creationId xmlns:p14="http://schemas.microsoft.com/office/powerpoint/2010/main" val="113784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Basic Switch Configuration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Switch Boot Sequence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4024" y="1651688"/>
            <a:ext cx="8132290" cy="476276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When a switch is powered on, it goes through the following boot sequence:-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Power-on self test (POST).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Runs the boot loader software which does these:-</a:t>
            </a:r>
            <a:endParaRPr lang="en-US" sz="2000" dirty="0"/>
          </a:p>
          <a:p>
            <a:pPr marL="795337" lvl="1" indent="-457200">
              <a:buFont typeface="+mj-lt"/>
              <a:buAutoNum type="alphaLcParenR"/>
            </a:pPr>
            <a:r>
              <a:rPr lang="en-US" dirty="0" smtClean="0">
                <a:ea typeface="+mn-ea"/>
                <a:cs typeface="+mn-cs"/>
              </a:rPr>
              <a:t>Perform low-level </a:t>
            </a:r>
            <a:r>
              <a:rPr lang="en-US" dirty="0">
                <a:ea typeface="+mn-ea"/>
                <a:cs typeface="+mn-cs"/>
              </a:rPr>
              <a:t>CPU </a:t>
            </a:r>
            <a:r>
              <a:rPr lang="en-US" dirty="0" smtClean="0">
                <a:ea typeface="+mn-ea"/>
                <a:cs typeface="+mn-cs"/>
              </a:rPr>
              <a:t>initialization</a:t>
            </a:r>
          </a:p>
          <a:p>
            <a:pPr marL="795337" lvl="1" indent="-457200">
              <a:buFont typeface="+mj-lt"/>
              <a:buAutoNum type="alphaLcParenR"/>
            </a:pPr>
            <a:r>
              <a:rPr lang="en-US" sz="2000" dirty="0" smtClean="0"/>
              <a:t>Initialize the flash file system</a:t>
            </a:r>
          </a:p>
          <a:p>
            <a:pPr marL="795337" lvl="1" indent="-457200">
              <a:buFont typeface="+mj-lt"/>
              <a:buAutoNum type="alphaLcParenR"/>
            </a:pPr>
            <a:r>
              <a:rPr lang="en-US" sz="2000" dirty="0" smtClean="0"/>
              <a:t>Locate and load the IOS operating </a:t>
            </a:r>
            <a:r>
              <a:rPr lang="en-US" sz="2000" dirty="0"/>
              <a:t>system </a:t>
            </a:r>
            <a:r>
              <a:rPr lang="en-US" sz="2000" dirty="0" smtClean="0"/>
              <a:t>software </a:t>
            </a:r>
            <a:r>
              <a:rPr lang="en-US" sz="2000" dirty="0"/>
              <a:t>image </a:t>
            </a:r>
            <a:r>
              <a:rPr lang="en-US" sz="2000" dirty="0" smtClean="0"/>
              <a:t>into </a:t>
            </a:r>
            <a:r>
              <a:rPr lang="en-US" sz="2000" dirty="0"/>
              <a:t>memory and </a:t>
            </a:r>
            <a:r>
              <a:rPr lang="en-US" sz="2000" dirty="0" smtClean="0"/>
              <a:t>passes control </a:t>
            </a:r>
            <a:r>
              <a:rPr lang="en-US" sz="2000" dirty="0"/>
              <a:t>of the switch over to the </a:t>
            </a:r>
            <a:r>
              <a:rPr lang="en-US" sz="2000" dirty="0" smtClean="0"/>
              <a:t>IOS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</a:t>
            </a:r>
            <a:r>
              <a:rPr lang="en-US" sz="2000" dirty="0" smtClean="0"/>
              <a:t>IOS then initializes the interfaces based on the startup-</a:t>
            </a:r>
            <a:r>
              <a:rPr lang="en-US" sz="2000" dirty="0" err="1" smtClean="0"/>
              <a:t>config</a:t>
            </a:r>
            <a:r>
              <a:rPr lang="en-US" sz="2000" dirty="0" smtClean="0"/>
              <a:t> stored in NVRAM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Basic Switch Configuration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Basic Switch Configuration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4024" y="1460310"/>
            <a:ext cx="8132290" cy="4954138"/>
          </a:xfrm>
        </p:spPr>
        <p:txBody>
          <a:bodyPr/>
          <a:lstStyle/>
          <a:p>
            <a:r>
              <a:rPr lang="en-US" sz="2000" dirty="0" smtClean="0"/>
              <a:t>Secure the switch with these basic switch configuration:-</a:t>
            </a:r>
          </a:p>
          <a:p>
            <a:endParaRPr lang="en-US" sz="1600" b="1" u="sng" kern="1200" dirty="0">
              <a:latin typeface="Arial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2263" y="1897756"/>
            <a:ext cx="8079474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SG" sz="1600" b="1" u="sng" dirty="0">
                <a:cs typeface="Courier New" panose="02070309020205020404" pitchFamily="49" charset="0"/>
              </a:rPr>
              <a:t>Step 1: Go to the Global Configuration Mode</a:t>
            </a:r>
          </a:p>
          <a:p>
            <a:pPr algn="l"/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Switch&gt;enable</a:t>
            </a:r>
          </a:p>
          <a:p>
            <a:pPr algn="l"/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Switch#configure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terminal</a:t>
            </a:r>
          </a:p>
          <a:p>
            <a:pPr algn="l"/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u="sng" dirty="0">
                <a:cs typeface="Courier New" panose="02070309020205020404" pitchFamily="49" charset="0"/>
              </a:rPr>
              <a:t>Step </a:t>
            </a:r>
            <a:r>
              <a:rPr lang="en-SG" sz="1600" b="1" u="sng" dirty="0" smtClean="0">
                <a:cs typeface="Courier New" panose="02070309020205020404" pitchFamily="49" charset="0"/>
              </a:rPr>
              <a:t>2: Secure the Privileged Exec Mode with a password</a:t>
            </a:r>
            <a:endParaRPr lang="en-SG" sz="1600" b="1" u="sng" dirty="0">
              <a:cs typeface="Courier New" panose="02070309020205020404" pitchFamily="49" charset="0"/>
            </a:endParaRPr>
          </a:p>
          <a:p>
            <a:pPr algn="l"/>
            <a:endParaRPr lang="en-SG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)#enable secret </a:t>
            </a:r>
            <a:r>
              <a:rPr lang="en-SG" sz="18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enable-password</a:t>
            </a:r>
          </a:p>
          <a:p>
            <a:pPr algn="l"/>
            <a:endParaRPr lang="en-SG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u="sng" dirty="0">
                <a:cs typeface="Courier New" panose="02070309020205020404" pitchFamily="49" charset="0"/>
              </a:rPr>
              <a:t>Step 3: Secure the </a:t>
            </a:r>
            <a:r>
              <a:rPr lang="en-SG" sz="1600" b="1" u="sng" dirty="0" smtClean="0">
                <a:cs typeface="Courier New" panose="02070309020205020404" pitchFamily="49" charset="0"/>
              </a:rPr>
              <a:t>Console with </a:t>
            </a:r>
            <a:r>
              <a:rPr lang="en-SG" sz="1600" b="1" u="sng" dirty="0">
                <a:cs typeface="Courier New" panose="02070309020205020404" pitchFamily="49" charset="0"/>
              </a:rPr>
              <a:t>a password</a:t>
            </a:r>
          </a:p>
          <a:p>
            <a:pPr algn="l"/>
            <a:endParaRPr lang="en-SG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)#line console 0</a:t>
            </a: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-line)#password </a:t>
            </a:r>
            <a:r>
              <a:rPr lang="en-SG" sz="18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console-password</a:t>
            </a: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-line)#login</a:t>
            </a:r>
          </a:p>
          <a:p>
            <a:pPr algn="l"/>
            <a:endParaRPr lang="en-SG" sz="1800" i="1" u="sng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u="sng" dirty="0">
                <a:cs typeface="Courier New" panose="02070309020205020404" pitchFamily="49" charset="0"/>
              </a:rPr>
              <a:t>Step 4: Secure the Virtual Terminal with a password</a:t>
            </a:r>
          </a:p>
          <a:p>
            <a:pPr algn="l"/>
            <a:endParaRPr lang="en-SG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)#line 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vty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0 15</a:t>
            </a:r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-line)#password </a:t>
            </a:r>
            <a:r>
              <a:rPr lang="en-SG" sz="18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telnet-password</a:t>
            </a:r>
            <a:endParaRPr lang="en-SG" sz="1800" i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-line)#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09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Basic Switch Configuration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Configure a Switch for Remote Access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5638" y="1419464"/>
            <a:ext cx="7940675" cy="5111965"/>
          </a:xfrm>
        </p:spPr>
        <p:txBody>
          <a:bodyPr/>
          <a:lstStyle/>
          <a:p>
            <a:r>
              <a:rPr lang="en-US" sz="2000" u="sng" dirty="0" smtClean="0"/>
              <a:t>To remotely manage a switch over the network</a:t>
            </a:r>
            <a:r>
              <a:rPr lang="en-US" sz="2000" dirty="0" smtClean="0"/>
              <a:t>, it must be configured with an </a:t>
            </a:r>
            <a:r>
              <a:rPr lang="en-US" sz="2000" u="sng" dirty="0" smtClean="0"/>
              <a:t>IP address</a:t>
            </a:r>
            <a:r>
              <a:rPr lang="en-US" sz="2000" dirty="0" smtClean="0"/>
              <a:t> and a </a:t>
            </a:r>
            <a:r>
              <a:rPr lang="en-US" sz="2000" u="sng" dirty="0" smtClean="0"/>
              <a:t>subnet mask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If the </a:t>
            </a:r>
            <a:r>
              <a:rPr lang="en-US" sz="2000" dirty="0"/>
              <a:t>switch is to be managed from a different </a:t>
            </a:r>
            <a:r>
              <a:rPr lang="en-US" sz="2000" dirty="0" smtClean="0"/>
              <a:t>network, the </a:t>
            </a:r>
            <a:r>
              <a:rPr lang="en-US" sz="2000" u="sng" dirty="0" smtClean="0"/>
              <a:t>default gateway address</a:t>
            </a:r>
            <a:r>
              <a:rPr lang="en-US" sz="2000" dirty="0" smtClean="0"/>
              <a:t> must </a:t>
            </a:r>
            <a:r>
              <a:rPr lang="en-US" sz="2000" dirty="0"/>
              <a:t>also be </a:t>
            </a:r>
            <a:r>
              <a:rPr lang="en-US" sz="2000" dirty="0" smtClean="0"/>
              <a:t>configured.</a:t>
            </a:r>
          </a:p>
          <a:p>
            <a:r>
              <a:rPr lang="en-US" sz="2000" dirty="0" smtClean="0"/>
              <a:t>This configuration is configured on the switch to a </a:t>
            </a:r>
            <a:r>
              <a:rPr lang="en-US" sz="2000" u="sng" dirty="0" smtClean="0"/>
              <a:t>Switch Virtual interface (SVI)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</p:txBody>
      </p:sp>
      <p:grpSp>
        <p:nvGrpSpPr>
          <p:cNvPr id="3" name="Group 2"/>
          <p:cNvGrpSpPr/>
          <p:nvPr/>
        </p:nvGrpSpPr>
        <p:grpSpPr>
          <a:xfrm>
            <a:off x="3386706" y="3828530"/>
            <a:ext cx="5525284" cy="2677237"/>
            <a:chOff x="861867" y="3985145"/>
            <a:chExt cx="5525284" cy="2677237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224" t="40153" r="17075" b="48684"/>
            <a:stretch/>
          </p:blipFill>
          <p:spPr bwMode="auto">
            <a:xfrm>
              <a:off x="2470245" y="4850646"/>
              <a:ext cx="3916906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69" t="36821" r="43581" b="19361"/>
            <a:stretch/>
          </p:blipFill>
          <p:spPr bwMode="auto">
            <a:xfrm>
              <a:off x="861867" y="3985145"/>
              <a:ext cx="1608378" cy="2677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090" t="67949" r="20746" b="19361"/>
            <a:stretch/>
          </p:blipFill>
          <p:spPr bwMode="auto">
            <a:xfrm>
              <a:off x="2336393" y="5885898"/>
              <a:ext cx="1610075" cy="775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TextBox 6"/>
          <p:cNvSpPr txBox="1"/>
          <p:nvPr/>
        </p:nvSpPr>
        <p:spPr>
          <a:xfrm>
            <a:off x="368488" y="4131103"/>
            <a:ext cx="2702257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SG" sz="2000" i="1" dirty="0" smtClean="0"/>
              <a:t>For a new or reset switch in the default state, a console cable allows you to access the command line. </a:t>
            </a:r>
            <a:endParaRPr lang="en-SG" sz="2000" i="1" dirty="0"/>
          </a:p>
        </p:txBody>
      </p:sp>
      <p:sp>
        <p:nvSpPr>
          <p:cNvPr id="8" name="TextBox 7"/>
          <p:cNvSpPr txBox="1"/>
          <p:nvPr/>
        </p:nvSpPr>
        <p:spPr>
          <a:xfrm>
            <a:off x="5281684" y="3828530"/>
            <a:ext cx="1671853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 smtClean="0"/>
              <a:t>RS232 port in Packet Tracer</a:t>
            </a:r>
            <a:endParaRPr lang="en-SG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1399521" y="5914836"/>
            <a:ext cx="2177223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 smtClean="0"/>
              <a:t>Console port in Packet Tracer</a:t>
            </a:r>
            <a:endParaRPr lang="en-SG" sz="1800" dirty="0"/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3386706" y="6116956"/>
            <a:ext cx="380076" cy="933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>
            <a:off x="4326340" y="4123995"/>
            <a:ext cx="1091821" cy="4207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09717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02" t="29661" r="60197" b="46850"/>
          <a:stretch/>
        </p:blipFill>
        <p:spPr bwMode="auto">
          <a:xfrm>
            <a:off x="7285950" y="1132765"/>
            <a:ext cx="1571447" cy="1501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Basic Switch Configuration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Configure a Switch for Remote Access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3899" y="1409368"/>
            <a:ext cx="8407020" cy="5244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SG" sz="1600" b="1" u="sng" dirty="0" smtClean="0">
                <a:latin typeface="+mn-lt"/>
                <a:cs typeface="Courier New" panose="02070309020205020404" pitchFamily="49" charset="0"/>
              </a:rPr>
              <a:t>Step 1: Go to the Global Configuration Mode</a:t>
            </a: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Switch&gt;enable</a:t>
            </a:r>
          </a:p>
          <a:p>
            <a:pPr algn="l"/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Switch#configure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terminal</a:t>
            </a: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u="sng" dirty="0">
                <a:latin typeface="+mn-lt"/>
                <a:cs typeface="Courier New" panose="02070309020205020404" pitchFamily="49" charset="0"/>
              </a:rPr>
              <a:t>Step 2: Create the SVI based on the assigned VLAN number (in this example, 99</a:t>
            </a:r>
            <a:r>
              <a:rPr lang="en-SG" sz="1600" b="1" u="sng" dirty="0" smtClean="0">
                <a:latin typeface="+mn-lt"/>
                <a:cs typeface="Courier New" panose="02070309020205020404" pitchFamily="49" charset="0"/>
              </a:rPr>
              <a:t>. But the default VLAN is 1).  </a:t>
            </a:r>
            <a:r>
              <a:rPr lang="en-SG" sz="1600" b="1" u="sng" dirty="0">
                <a:latin typeface="+mn-lt"/>
                <a:cs typeface="Courier New" panose="02070309020205020404" pitchFamily="49" charset="0"/>
              </a:rPr>
              <a:t>Assign an IP address and subnet mask.</a:t>
            </a: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)#interface 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99</a:t>
            </a:r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address 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172.16.99.5 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-if)#no shutdown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u="sng" dirty="0">
                <a:latin typeface="+mn-lt"/>
                <a:cs typeface="Courier New" panose="02070309020205020404" pitchFamily="49" charset="0"/>
              </a:rPr>
              <a:t>Step 3: Assign the default gateway </a:t>
            </a:r>
            <a:r>
              <a:rPr lang="en-SG" sz="1600" b="1" u="sng" dirty="0" smtClean="0">
                <a:latin typeface="+mn-lt"/>
                <a:cs typeface="Courier New" panose="02070309020205020404" pitchFamily="49" charset="0"/>
              </a:rPr>
              <a:t>for switch to </a:t>
            </a:r>
            <a:r>
              <a:rPr lang="en-SG" sz="1600" b="1" u="sng" dirty="0">
                <a:latin typeface="+mn-lt"/>
                <a:cs typeface="Courier New" panose="02070309020205020404" pitchFamily="49" charset="0"/>
              </a:rPr>
              <a:t>be managed from another network</a:t>
            </a: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default-gateway 172.16.99.1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)#exit</a:t>
            </a: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u="sng" dirty="0">
                <a:latin typeface="+mn-lt"/>
                <a:cs typeface="Courier New" panose="02070309020205020404" pitchFamily="49" charset="0"/>
              </a:rPr>
              <a:t>Step 4: Save your </a:t>
            </a:r>
            <a:r>
              <a:rPr lang="en-SG" sz="1600" b="1" u="sng" dirty="0" err="1">
                <a:latin typeface="+mn-lt"/>
                <a:cs typeface="Courier New" panose="02070309020205020404" pitchFamily="49" charset="0"/>
              </a:rPr>
              <a:t>config</a:t>
            </a:r>
            <a:r>
              <a:rPr lang="en-SG" sz="1600" b="1" u="sng" dirty="0">
                <a:latin typeface="+mn-lt"/>
                <a:cs typeface="Courier New" panose="02070309020205020404" pitchFamily="49" charset="0"/>
              </a:rPr>
              <a:t> and check your configuration</a:t>
            </a: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Switch#copy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running-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startup-config</a:t>
            </a:r>
            <a:endParaRPr lang="en-SG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Switch#show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running-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54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002" y="1937993"/>
            <a:ext cx="2268836" cy="3679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0796" y="1459173"/>
            <a:ext cx="8420123" cy="3571875"/>
          </a:xfrm>
        </p:spPr>
        <p:txBody>
          <a:bodyPr/>
          <a:lstStyle/>
          <a:p>
            <a:r>
              <a:rPr lang="en-SG" sz="2000" dirty="0" smtClean="0"/>
              <a:t>For the SVI to be functional, the assigned VLAN must eventually be created and a switch port associated with the VLAN  </a:t>
            </a:r>
          </a:p>
          <a:p>
            <a:pPr marL="0" indent="0">
              <a:buNone/>
            </a:pPr>
            <a:r>
              <a:rPr lang="en-SG" sz="1800" i="1" dirty="0" smtClean="0"/>
              <a:t>(VLANs will be covered in the next chapter)</a:t>
            </a:r>
            <a:endParaRPr lang="en-SG" sz="2000" i="1" dirty="0" smtClean="0"/>
          </a:p>
          <a:p>
            <a:pPr marL="0" indent="0">
              <a:buNone/>
            </a:pP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99</a:t>
            </a:r>
          </a:p>
          <a:p>
            <a:pPr marL="0" indent="0">
              <a:buNone/>
            </a:pP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config-vlan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)#exit</a:t>
            </a:r>
          </a:p>
          <a:p>
            <a:pPr marL="0" indent="0">
              <a:buNone/>
            </a:pP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)#interface fa0/1</a:t>
            </a:r>
          </a:p>
          <a:p>
            <a:pPr marL="0" indent="0">
              <a:buNone/>
            </a:pP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mode access</a:t>
            </a:r>
          </a:p>
          <a:p>
            <a:pPr marL="0" indent="0">
              <a:buNone/>
            </a:pP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access </a:t>
            </a:r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99</a:t>
            </a:r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SG" sz="2000" dirty="0" smtClean="0"/>
              <a:t>Configure the basic device configuration (passwords security)</a:t>
            </a:r>
          </a:p>
          <a:p>
            <a:pPr marL="0" indent="0">
              <a:buNone/>
            </a:pP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)#line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vty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0 15</a:t>
            </a:r>
          </a:p>
          <a:p>
            <a:pPr marL="0" indent="0">
              <a:buNone/>
            </a:pP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-line)#password cisco</a:t>
            </a:r>
          </a:p>
          <a:p>
            <a:pPr marL="0" indent="0">
              <a:buNone/>
            </a:pP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)#login</a:t>
            </a:r>
          </a:p>
          <a:p>
            <a:r>
              <a:rPr lang="en-SG" sz="2000" dirty="0" smtClean="0"/>
              <a:t>The switch can now be accessed via a remote access protocol such as Telnet or SSH (needs additional </a:t>
            </a:r>
            <a:r>
              <a:rPr lang="en-SG" sz="2000" dirty="0" err="1" smtClean="0"/>
              <a:t>config</a:t>
            </a:r>
            <a:r>
              <a:rPr lang="en-SG" sz="2000" dirty="0" smtClean="0"/>
              <a:t>) to the SVI IP address.</a:t>
            </a:r>
            <a:endParaRPr lang="en-SG" sz="2000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0795" y="525438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Basic Switch Configuration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Configure a Switch for Remote Access</a:t>
            </a:r>
            <a:endParaRPr lang="en-US"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403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Basic Switch Configuration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Verifying Switch Configuration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8866" y="1502902"/>
            <a:ext cx="7983938" cy="5383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600" b="1" u="sng" dirty="0" smtClean="0">
                <a:cs typeface="Courier New" panose="02070309020205020404" pitchFamily="49" charset="0"/>
              </a:rPr>
              <a:t>(A) Checking the Running-</a:t>
            </a:r>
            <a:r>
              <a:rPr lang="en-SG" sz="1600" b="1" u="sng" dirty="0" err="1" smtClean="0">
                <a:cs typeface="Courier New" panose="02070309020205020404" pitchFamily="49" charset="0"/>
              </a:rPr>
              <a:t>Config</a:t>
            </a:r>
            <a:r>
              <a:rPr lang="en-SG" sz="1600" b="1" u="sng" dirty="0" smtClean="0">
                <a:cs typeface="Courier New" panose="02070309020205020404" pitchFamily="49" charset="0"/>
              </a:rPr>
              <a:t> file</a:t>
            </a:r>
            <a:endParaRPr lang="en-SG" sz="1600" b="1" u="sng" dirty="0">
              <a:cs typeface="Courier New" panose="02070309020205020404" pitchFamily="49" charset="0"/>
            </a:endParaRP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Switch#</a:t>
            </a:r>
            <a:r>
              <a:rPr lang="en-SG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running-</a:t>
            </a:r>
            <a:r>
              <a:rPr lang="en-SG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en-SG" sz="1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&lt;-- top section omitted --&gt;</a:t>
            </a:r>
            <a:endParaRPr lang="en-SG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Vlan1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no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address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shutdown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algn="l"/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Vlan99</a:t>
            </a:r>
          </a:p>
          <a:p>
            <a:pPr algn="l"/>
            <a:r>
              <a:rPr lang="en-SG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address </a:t>
            </a:r>
            <a:r>
              <a:rPr lang="en-SG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172.16.99.5 </a:t>
            </a:r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algn="l"/>
            <a:r>
              <a:rPr lang="en-SG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default-gateway </a:t>
            </a:r>
            <a:r>
              <a:rPr lang="en-SG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172.16.99.1</a:t>
            </a:r>
            <a:endParaRPr lang="en-SG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line con 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algn="l"/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</a:t>
            </a:r>
            <a:r>
              <a:rPr lang="en-SG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vty</a:t>
            </a:r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0 4</a:t>
            </a:r>
          </a:p>
          <a:p>
            <a:pPr algn="l"/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pPr algn="l"/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pPr algn="l"/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</a:t>
            </a:r>
            <a:r>
              <a:rPr lang="en-SG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vty</a:t>
            </a:r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5 15</a:t>
            </a:r>
          </a:p>
          <a:p>
            <a:pPr algn="l"/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pPr algn="l"/>
            <a:r>
              <a:rPr lang="en-SG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SG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ogin</a:t>
            </a: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ounded Rectangle 3"/>
          <p:cNvSpPr/>
          <p:nvPr/>
        </p:nvSpPr>
        <p:spPr bwMode="auto">
          <a:xfrm>
            <a:off x="122830" y="3166281"/>
            <a:ext cx="5609230" cy="64144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122830" y="3878239"/>
            <a:ext cx="4455994" cy="475398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136476" y="4995081"/>
            <a:ext cx="4333164" cy="1351128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223" y="3289110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i="1" dirty="0" smtClean="0"/>
              <a:t>SVI configuration</a:t>
            </a:r>
            <a:endParaRPr lang="en-SG" sz="20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4822394" y="3984305"/>
            <a:ext cx="3005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i="1" dirty="0" smtClean="0"/>
              <a:t>Default gateway address</a:t>
            </a:r>
            <a:endParaRPr lang="en-SG" sz="2000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4578824" y="4995081"/>
            <a:ext cx="1858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i="1" dirty="0" smtClean="0"/>
              <a:t>Telnet enabled</a:t>
            </a:r>
            <a:endParaRPr lang="en-SG" sz="2000" i="1" dirty="0"/>
          </a:p>
        </p:txBody>
      </p:sp>
    </p:spTree>
    <p:extLst>
      <p:ext uri="{BB962C8B-B14F-4D97-AF65-F5344CB8AC3E}">
        <p14:creationId xmlns:p14="http://schemas.microsoft.com/office/powerpoint/2010/main" val="70479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Basic Switch Configuration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Verifying Switch Configuration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5660" y="1502902"/>
            <a:ext cx="8666328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600" b="1" u="sng" dirty="0" smtClean="0">
                <a:cs typeface="Courier New" panose="02070309020205020404" pitchFamily="49" charset="0"/>
              </a:rPr>
              <a:t>(</a:t>
            </a:r>
            <a:r>
              <a:rPr lang="en-SG" sz="1600" b="1" u="sng" dirty="0">
                <a:cs typeface="Courier New" panose="02070309020205020404" pitchFamily="49" charset="0"/>
              </a:rPr>
              <a:t>B) Checking the Port Interface Status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Switch#</a:t>
            </a:r>
            <a:r>
              <a:rPr lang="en-SG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SG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interface </a:t>
            </a:r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brief</a:t>
            </a:r>
          </a:p>
          <a:p>
            <a:pPr algn="l"/>
            <a:endParaRPr lang="en-SG" sz="1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Interface 	  IP-Address   OK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Method 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Status              Protocol</a:t>
            </a:r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FastEthernet0/1  unassigned   YES 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manual up 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             up</a:t>
            </a:r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FastEthernet0/2 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unassigned   YES 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manual down 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down</a:t>
            </a:r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&lt;-- </a:t>
            </a:r>
            <a:r>
              <a:rPr lang="en-SG" sz="16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mid </a:t>
            </a:r>
            <a:r>
              <a:rPr lang="en-SG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section omitted --&gt;</a:t>
            </a: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Vlan1		  unassigned   YES 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manual administratively down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down</a:t>
            </a:r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Vlan99 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172.16.99.5  YES 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manual up 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SG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</a:t>
            </a:r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u="sng" dirty="0" smtClean="0">
                <a:cs typeface="Courier New" panose="02070309020205020404" pitchFamily="49" charset="0"/>
              </a:rPr>
              <a:t>(C) </a:t>
            </a:r>
            <a:r>
              <a:rPr lang="en-SG" sz="1600" b="1" u="sng" dirty="0">
                <a:cs typeface="Courier New" panose="02070309020205020404" pitchFamily="49" charset="0"/>
              </a:rPr>
              <a:t>Checking </a:t>
            </a:r>
            <a:r>
              <a:rPr lang="en-SG" sz="1600" b="1" u="sng" dirty="0" smtClean="0">
                <a:cs typeface="Courier New" panose="02070309020205020404" pitchFamily="49" charset="0"/>
              </a:rPr>
              <a:t>the MAC address table</a:t>
            </a:r>
            <a:endParaRPr lang="en-SG" sz="1600" b="1" u="sng" dirty="0">
              <a:cs typeface="Courier New" panose="02070309020205020404" pitchFamily="49" charset="0"/>
            </a:endParaRPr>
          </a:p>
          <a:p>
            <a:pPr algn="l"/>
            <a:r>
              <a:rPr lang="en-SG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Switch#show</a:t>
            </a:r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mac-address-table </a:t>
            </a:r>
          </a:p>
          <a:p>
            <a:pPr algn="l"/>
            <a:endParaRPr lang="en-SG" sz="1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Mac </a:t>
            </a:r>
            <a:r>
              <a:rPr lang="en-SG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Address Table</a:t>
            </a:r>
          </a:p>
          <a:p>
            <a:pPr algn="l"/>
            <a:r>
              <a:rPr lang="en-SG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</a:t>
            </a:r>
          </a:p>
          <a:p>
            <a:pPr algn="l"/>
            <a:r>
              <a:rPr lang="en-SG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Mac Address </a:t>
            </a:r>
            <a:r>
              <a:rPr lang="en-SG" sz="1600" b="1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SG" sz="16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    Ports</a:t>
            </a:r>
            <a:endParaRPr lang="en-SG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 ----------- -------- -----</a:t>
            </a:r>
          </a:p>
          <a:p>
            <a:pPr algn="l"/>
            <a:endParaRPr lang="en-SG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 0001.c9a9.c942 </a:t>
            </a:r>
            <a:r>
              <a:rPr lang="en-SG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DYNAMIC </a:t>
            </a:r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Fa0/2</a:t>
            </a:r>
          </a:p>
          <a:p>
            <a:pPr algn="l"/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99 </a:t>
            </a:r>
            <a:r>
              <a:rPr lang="en-SG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0001.4272.ac90 STATIC </a:t>
            </a:r>
            <a:r>
              <a:rPr lang="en-SG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Fa0/1</a:t>
            </a:r>
            <a:endParaRPr lang="en-SG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000" y="4235525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i="1" dirty="0" smtClean="0"/>
              <a:t>SVI is up/up</a:t>
            </a:r>
            <a:endParaRPr lang="en-SG" sz="2000" i="1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 flipV="1">
            <a:off x="5669000" y="3809476"/>
            <a:ext cx="390606" cy="3168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6823881" y="3703263"/>
            <a:ext cx="1078173" cy="5322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50674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002" y="2934270"/>
            <a:ext cx="2268836" cy="3679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/>
              <a:t>Security Concerns in LANs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Switch Remote Access using Telnet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0496" y="1404938"/>
            <a:ext cx="7940675" cy="487974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439838" y="1397684"/>
            <a:ext cx="8163733" cy="48797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dirty="0" smtClean="0"/>
              <a:t>Telnet can be exploited:</a:t>
            </a:r>
            <a:endParaRPr lang="en-US" sz="2000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Brute force password attack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Telnet DOS </a:t>
            </a:r>
            <a:r>
              <a:rPr lang="en-US" dirty="0" smtClean="0"/>
              <a:t>attack</a:t>
            </a:r>
            <a:endParaRPr lang="en-US" sz="2000" i="1" dirty="0" smtClean="0"/>
          </a:p>
          <a:p>
            <a:r>
              <a:rPr lang="en-US" sz="2000" i="1" dirty="0" smtClean="0"/>
              <a:t>Telnet is insecure and replaced by SSH (secure shell). For learning purpose, we will still use </a:t>
            </a:r>
            <a:r>
              <a:rPr lang="en-US" sz="2000" i="1" dirty="0"/>
              <a:t>Telnet for </a:t>
            </a:r>
            <a:r>
              <a:rPr lang="en-US" sz="2000" i="1" dirty="0" smtClean="0"/>
              <a:t>remote access to a switch</a:t>
            </a:r>
          </a:p>
          <a:p>
            <a:pPr marL="0" indent="0">
              <a:buNone/>
            </a:pPr>
            <a:endParaRPr lang="en-US" sz="2000" dirty="0" smtClean="0"/>
          </a:p>
          <a:p>
            <a:pPr marL="800100" lvl="1" indent="-342900">
              <a:buFont typeface="Arial" pitchFamily="34" charset="0"/>
              <a:buChar char="•"/>
            </a:pPr>
            <a:endParaRPr lang="en-US" dirty="0" smtClean="0"/>
          </a:p>
          <a:p>
            <a:endParaRPr lang="en-US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8" r="20597" b="33644"/>
          <a:stretch/>
        </p:blipFill>
        <p:spPr bwMode="auto">
          <a:xfrm>
            <a:off x="439838" y="3411939"/>
            <a:ext cx="5545976" cy="3201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149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/>
              <a:t>Switch Port Security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Secure Unused Ports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623888"/>
            <a:ext cx="7940675" cy="487974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533626" y="1489849"/>
            <a:ext cx="8286524" cy="48797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dirty="0" smtClean="0"/>
              <a:t>Switch ports are </a:t>
            </a:r>
            <a:r>
              <a:rPr lang="en-US" sz="2000" u="sng" dirty="0" smtClean="0"/>
              <a:t>enabled by default</a:t>
            </a:r>
          </a:p>
          <a:p>
            <a:r>
              <a:rPr lang="en-US" sz="2000" dirty="0" smtClean="0"/>
              <a:t>Disabling (shutdown) </a:t>
            </a:r>
            <a:r>
              <a:rPr lang="en-US" sz="2000" u="sng" dirty="0" smtClean="0"/>
              <a:t>unused</a:t>
            </a:r>
            <a:r>
              <a:rPr lang="en-US" sz="2000" dirty="0" smtClean="0"/>
              <a:t> ports is a simple and efficient security guideline.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155" y="2648825"/>
            <a:ext cx="5414007" cy="3878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205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/>
              <a:t>Switch Port Security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Port Security: Operation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0496" y="1404938"/>
            <a:ext cx="7940675" cy="487974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341193" y="1397684"/>
            <a:ext cx="8625385" cy="48797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dirty="0" smtClean="0"/>
              <a:t>Another way to secure a port is to configure a feature called Port Security</a:t>
            </a:r>
          </a:p>
          <a:p>
            <a:r>
              <a:rPr lang="en-US" sz="2000" dirty="0" smtClean="0"/>
              <a:t>Port security limits the </a:t>
            </a:r>
            <a:r>
              <a:rPr lang="en-US" sz="2000" dirty="0"/>
              <a:t>number of valid MAC addresses </a:t>
            </a:r>
            <a:r>
              <a:rPr lang="en-US" sz="2000" dirty="0" smtClean="0"/>
              <a:t>allowed and checks the </a:t>
            </a:r>
            <a:r>
              <a:rPr lang="en-US" sz="2000" dirty="0"/>
              <a:t>MAC addresses of </a:t>
            </a:r>
            <a:r>
              <a:rPr lang="en-US" sz="2000" dirty="0" smtClean="0"/>
              <a:t>devices before allowing access.</a:t>
            </a:r>
          </a:p>
          <a:p>
            <a:r>
              <a:rPr lang="en-US" sz="2000" dirty="0" smtClean="0"/>
              <a:t>Any attempt </a:t>
            </a:r>
            <a:r>
              <a:rPr lang="en-US" sz="2000" dirty="0"/>
              <a:t>to connect by unknown MAC addresses </a:t>
            </a:r>
            <a:r>
              <a:rPr lang="en-US" sz="2000" dirty="0" smtClean="0"/>
              <a:t>causes a violation.</a:t>
            </a:r>
          </a:p>
          <a:p>
            <a:r>
              <a:rPr lang="en-US" sz="2000" dirty="0" smtClean="0"/>
              <a:t>Secure MAC addresses can be configured in 3 ways: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u="sng" dirty="0"/>
              <a:t>Static secure MAC </a:t>
            </a:r>
            <a:r>
              <a:rPr lang="en-US" u="sng" dirty="0" smtClean="0"/>
              <a:t>addresses</a:t>
            </a:r>
          </a:p>
          <a:p>
            <a:pPr marL="1254125" lvl="2" indent="-457200">
              <a:buFont typeface="Arial" panose="020B0604020202020204" pitchFamily="34" charset="0"/>
              <a:buChar char="•"/>
            </a:pPr>
            <a:r>
              <a:rPr lang="en-US" sz="1800" dirty="0" smtClean="0"/>
              <a:t>Manually specified  by a network administrator </a:t>
            </a:r>
          </a:p>
          <a:p>
            <a:pPr marL="1254125" lvl="2" indent="-457200">
              <a:buFont typeface="Arial" panose="020B0604020202020204" pitchFamily="34" charset="0"/>
              <a:buChar char="•"/>
            </a:pPr>
            <a:r>
              <a:rPr lang="en-US" sz="1800" dirty="0" smtClean="0"/>
              <a:t>Stored in running-</a:t>
            </a:r>
            <a:r>
              <a:rPr lang="en-US" sz="1800" dirty="0" err="1" smtClean="0"/>
              <a:t>config</a:t>
            </a:r>
            <a:r>
              <a:rPr lang="en-US" sz="1800" dirty="0" smtClean="0"/>
              <a:t> and the MAC address table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u="sng" dirty="0" smtClean="0"/>
              <a:t>Dynamic </a:t>
            </a:r>
            <a:r>
              <a:rPr lang="en-US" u="sng" dirty="0"/>
              <a:t>secure MAC </a:t>
            </a:r>
            <a:r>
              <a:rPr lang="en-US" u="sng" dirty="0" smtClean="0"/>
              <a:t>addresses</a:t>
            </a:r>
          </a:p>
          <a:p>
            <a:pPr marL="1254125" lvl="2" indent="-457200">
              <a:buFont typeface="Arial" panose="020B0604020202020204" pitchFamily="34" charset="0"/>
              <a:buChar char="•"/>
            </a:pPr>
            <a:r>
              <a:rPr lang="en-US" sz="1800" dirty="0" smtClean="0"/>
              <a:t>Learned dynamically and stored in MAC address table only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u="sng" dirty="0" smtClean="0"/>
              <a:t>Sticky </a:t>
            </a:r>
            <a:r>
              <a:rPr lang="en-US" u="sng" dirty="0"/>
              <a:t>secure MAC </a:t>
            </a:r>
            <a:r>
              <a:rPr lang="en-US" u="sng" dirty="0" smtClean="0"/>
              <a:t>addresses</a:t>
            </a:r>
          </a:p>
          <a:p>
            <a:pPr marL="1254125" lvl="2" indent="-457200">
              <a:buFont typeface="Arial" panose="020B0604020202020204" pitchFamily="34" charset="0"/>
              <a:buChar char="•"/>
            </a:pPr>
            <a:r>
              <a:rPr lang="en-US" sz="1800" dirty="0" smtClean="0"/>
              <a:t>Learned dynamically</a:t>
            </a:r>
          </a:p>
          <a:p>
            <a:pPr marL="1254125" lvl="2" indent="-457200">
              <a:buFont typeface="Arial" panose="020B0604020202020204" pitchFamily="34" charset="0"/>
              <a:buChar char="•"/>
            </a:pPr>
            <a:r>
              <a:rPr lang="en-US" sz="1800" dirty="0"/>
              <a:t>Stored in running-</a:t>
            </a:r>
            <a:r>
              <a:rPr lang="en-US" sz="1800" dirty="0" err="1"/>
              <a:t>config</a:t>
            </a:r>
            <a:r>
              <a:rPr lang="en-US" sz="1800" dirty="0"/>
              <a:t> and the MAC address table</a:t>
            </a:r>
          </a:p>
        </p:txBody>
      </p:sp>
    </p:spTree>
    <p:extLst>
      <p:ext uri="{BB962C8B-B14F-4D97-AF65-F5344CB8AC3E}">
        <p14:creationId xmlns:p14="http://schemas.microsoft.com/office/powerpoint/2010/main" val="176176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360940"/>
            <a:ext cx="8229600" cy="5192259"/>
          </a:xfrm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smtClean="0"/>
              <a:t>Port security is </a:t>
            </a:r>
            <a:r>
              <a:rPr lang="en-GB" sz="2000" u="sng" dirty="0" smtClean="0"/>
              <a:t>disabled by default </a:t>
            </a:r>
            <a:r>
              <a:rPr lang="en-GB" sz="2000" dirty="0" smtClean="0"/>
              <a:t>and must be manually enabled on each port</a:t>
            </a:r>
          </a:p>
          <a:p>
            <a:pPr eaLnBrk="1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smtClean="0"/>
              <a:t>Port security generally involves:-</a:t>
            </a:r>
          </a:p>
          <a:p>
            <a:pPr marL="800100" lvl="1" indent="-342900" eaLnBrk="1" hangingPunct="1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/>
              <a:t>Setting the number of MAC addresses allowed on a port interface</a:t>
            </a:r>
          </a:p>
          <a:p>
            <a:pPr marL="800100" lvl="1" indent="-342900" eaLnBrk="1" hangingPunct="1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/>
              <a:t>Specifying 1 of 3 types of violation action to be taken</a:t>
            </a:r>
          </a:p>
          <a:p>
            <a:pPr eaLnBrk="1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smtClean="0"/>
              <a:t>Configured on </a:t>
            </a:r>
            <a:r>
              <a:rPr lang="en-GB" sz="2000" b="1" dirty="0" smtClean="0">
                <a:solidFill>
                  <a:srgbClr val="FF0000"/>
                </a:solidFill>
              </a:rPr>
              <a:t>access ports </a:t>
            </a:r>
            <a:r>
              <a:rPr lang="en-GB" sz="2000" dirty="0" smtClean="0"/>
              <a:t>only</a:t>
            </a:r>
            <a:endParaRPr lang="en-GB" sz="900" dirty="0" smtClean="0"/>
          </a:p>
          <a:p>
            <a:pPr eaLnBrk="1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smtClean="0"/>
              <a:t>Security </a:t>
            </a:r>
            <a:r>
              <a:rPr lang="en-GB" sz="2000" dirty="0"/>
              <a:t>violation modes</a:t>
            </a:r>
            <a:r>
              <a:rPr lang="en-GB" sz="2000" dirty="0" smtClean="0"/>
              <a:t>:-</a:t>
            </a:r>
            <a:endParaRPr lang="en-GB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32" t="48461" r="16874" b="33605"/>
          <a:stretch/>
        </p:blipFill>
        <p:spPr bwMode="auto">
          <a:xfrm>
            <a:off x="2097348" y="4394579"/>
            <a:ext cx="6128424" cy="1719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89152" y="522741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kern="0" dirty="0" smtClean="0"/>
              <a:t>Switch Port Security</a:t>
            </a:r>
            <a:r>
              <a:rPr lang="en-US" sz="1800" kern="0" dirty="0" smtClean="0">
                <a:ea typeface="ＭＳ Ｐゴシック" pitchFamily="34" charset="-128"/>
              </a:rPr>
              <a:t/>
            </a:r>
            <a:br>
              <a:rPr lang="en-US" sz="1800" kern="0" dirty="0" smtClean="0">
                <a:ea typeface="ＭＳ Ｐゴシック" pitchFamily="34" charset="-128"/>
              </a:rPr>
            </a:br>
            <a:r>
              <a:rPr lang="en-US" kern="0" dirty="0" smtClean="0"/>
              <a:t>Port Security: Operation</a:t>
            </a:r>
            <a:endParaRPr lang="en-US" kern="0" dirty="0" smtClean="0">
              <a:ea typeface="ＭＳ Ｐゴシック" pitchFamily="34" charset="-128"/>
            </a:endParaRPr>
          </a:p>
        </p:txBody>
      </p:sp>
      <p:sp>
        <p:nvSpPr>
          <p:cNvPr id="4" name="Rounded Rectangle 3"/>
          <p:cNvSpPr/>
          <p:nvPr/>
        </p:nvSpPr>
        <p:spPr bwMode="auto">
          <a:xfrm>
            <a:off x="2097348" y="4189864"/>
            <a:ext cx="1025785" cy="2238232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281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542196"/>
            <a:ext cx="8686800" cy="4970060"/>
          </a:xfrm>
        </p:spPr>
        <p:txBody>
          <a:bodyPr lIns="90000" tIns="46800" rIns="90000" bIns="46800"/>
          <a:lstStyle/>
          <a:p>
            <a:pPr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smtClean="0"/>
              <a:t>To </a:t>
            </a:r>
            <a:r>
              <a:rPr lang="en-GB" sz="2000" dirty="0"/>
              <a:t>enable </a:t>
            </a:r>
            <a:r>
              <a:rPr lang="en-GB" sz="2000" dirty="0" smtClean="0"/>
              <a:t>port security on </a:t>
            </a:r>
            <a:r>
              <a:rPr lang="en-GB" sz="2000" u="sng" dirty="0"/>
              <a:t>an access port interface</a:t>
            </a:r>
            <a:r>
              <a:rPr lang="en-GB" sz="2000" dirty="0"/>
              <a:t>:-</a:t>
            </a:r>
          </a:p>
          <a:p>
            <a:pPr marL="457200" lvl="1" indent="0" eaLnBrk="1" hangingPunct="1"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dirty="0" smtClean="0"/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)#interface </a:t>
            </a:r>
            <a:r>
              <a:rPr lang="en-GB" sz="1600" i="1" u="sng" dirty="0" smtClean="0">
                <a:latin typeface="Courier New" pitchFamily="49" charset="0"/>
                <a:cs typeface="Courier New" pitchFamily="49" charset="0"/>
              </a:rPr>
              <a:t>fa0/1</a:t>
            </a: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-if)#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mode access</a:t>
            </a: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-if)#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port-security</a:t>
            </a: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-if)#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port-security mac-address </a:t>
            </a:r>
            <a:r>
              <a:rPr lang="en-GB" sz="1600" i="1" u="sng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 MAC | </a:t>
            </a:r>
            <a:r>
              <a:rPr lang="en-GB" sz="1600" i="1" u="sng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sticky ]</a:t>
            </a:r>
            <a:endParaRPr lang="en-GB" sz="1600" i="1" u="sng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-if)#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port-security maximum </a:t>
            </a:r>
            <a:r>
              <a:rPr lang="en-GB" sz="1600" i="1" u="sng" dirty="0" smtClean="0">
                <a:latin typeface="Courier New" pitchFamily="49" charset="0"/>
                <a:cs typeface="Courier New" pitchFamily="49" charset="0"/>
              </a:rPr>
              <a:t>max-#</a:t>
            </a:r>
            <a:endParaRPr lang="en-GB" sz="1600" i="1" u="sng" dirty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-if)#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port-security 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violation </a:t>
            </a:r>
            <a:r>
              <a:rPr lang="en-GB" sz="1600" i="1" u="sng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 protect | restrict | shutdown ]</a:t>
            </a: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i="1" u="sng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-if)#</a:t>
            </a:r>
            <a:r>
              <a:rPr lang="en-GB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port-security ?</a:t>
            </a:r>
            <a:endParaRPr lang="en-GB" sz="1600" b="1" i="1" u="sng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1"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 smtClean="0">
              <a:solidFill>
                <a:srgbClr val="FF0000"/>
              </a:solidFill>
            </a:endParaRPr>
          </a:p>
          <a:p>
            <a:pPr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 smtClean="0">
              <a:solidFill>
                <a:srgbClr val="FF0000"/>
              </a:solidFill>
            </a:endParaRPr>
          </a:p>
        </p:txBody>
      </p:sp>
      <p:sp>
        <p:nvSpPr>
          <p:cNvPr id="2" name="Rounded Rectangle 1"/>
          <p:cNvSpPr/>
          <p:nvPr/>
        </p:nvSpPr>
        <p:spPr bwMode="auto">
          <a:xfrm>
            <a:off x="0" y="3060376"/>
            <a:ext cx="5791200" cy="533400"/>
          </a:xfrm>
          <a:prstGeom prst="roundRect">
            <a:avLst/>
          </a:prstGeom>
          <a:solidFill>
            <a:srgbClr val="FFC000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  <a:cs typeface="Tahoma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42621" y="3113645"/>
            <a:ext cx="2497800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400" i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(This command enables</a:t>
            </a:r>
          </a:p>
          <a:p>
            <a:pPr algn="l"/>
            <a:r>
              <a:rPr lang="en-GB" sz="1400" i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port-security on the port)</a:t>
            </a:r>
            <a:endParaRPr lang="en-US" sz="1400" i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Oval 3"/>
          <p:cNvSpPr/>
          <p:nvPr/>
        </p:nvSpPr>
        <p:spPr bwMode="auto">
          <a:xfrm>
            <a:off x="4683063" y="5464876"/>
            <a:ext cx="409903" cy="5360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2296" tIns="36576" rIns="82296" bIns="36576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42621" y="5520772"/>
            <a:ext cx="2274982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400" i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Use “?” to view options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289152" y="522741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kern="0" dirty="0" smtClean="0"/>
              <a:t>Switch Port Security</a:t>
            </a:r>
            <a:r>
              <a:rPr lang="en-US" sz="1800" kern="0" dirty="0" smtClean="0">
                <a:ea typeface="ＭＳ Ｐゴシック" pitchFamily="34" charset="-128"/>
              </a:rPr>
              <a:t/>
            </a:r>
            <a:br>
              <a:rPr lang="en-US" sz="1800" kern="0" dirty="0" smtClean="0">
                <a:ea typeface="ＭＳ Ｐゴシック" pitchFamily="34" charset="-128"/>
              </a:rPr>
            </a:br>
            <a:r>
              <a:rPr lang="en-US" kern="0" dirty="0" smtClean="0"/>
              <a:t>Port Security: Operation</a:t>
            </a:r>
            <a:endParaRPr lang="en-US" kern="0"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16112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33608" r="8558" b="36418"/>
          <a:stretch/>
        </p:blipFill>
        <p:spPr bwMode="auto">
          <a:xfrm>
            <a:off x="1671308" y="5021939"/>
            <a:ext cx="5470636" cy="14846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359096"/>
            <a:ext cx="8153400" cy="4724400"/>
          </a:xfrm>
        </p:spPr>
        <p:txBody>
          <a:bodyPr lIns="90000" tIns="46800" rIns="90000" bIns="46800"/>
          <a:lstStyle/>
          <a:p>
            <a:pPr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dirty="0" smtClean="0"/>
              <a:t>To verify port security:-</a:t>
            </a:r>
          </a:p>
          <a:p>
            <a:pPr lvl="1"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show port-security interface </a:t>
            </a:r>
            <a:r>
              <a:rPr lang="en-GB" sz="1600" b="1" i="1" u="sng" dirty="0" err="1" smtClean="0">
                <a:latin typeface="Courier New" pitchFamily="49" charset="0"/>
                <a:cs typeface="Courier New" pitchFamily="49" charset="0"/>
              </a:rPr>
              <a:t>interface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lvl="1"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/>
          </a:p>
          <a:p>
            <a:pPr lvl="1"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 smtClean="0"/>
          </a:p>
          <a:p>
            <a:pPr lvl="1"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/>
          </a:p>
          <a:p>
            <a:pPr lvl="1"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 smtClean="0"/>
          </a:p>
          <a:p>
            <a:pPr lvl="1"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/>
          </a:p>
          <a:p>
            <a:pPr lvl="1"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 smtClean="0"/>
          </a:p>
          <a:p>
            <a:pPr lvl="1"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/>
          </a:p>
          <a:p>
            <a:pPr lvl="1"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#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show port-security address</a:t>
            </a:r>
          </a:p>
          <a:p>
            <a:pPr eaLnBrk="1" hangingPunct="1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 smtClean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3111226" y="5831249"/>
            <a:ext cx="1295400" cy="228600"/>
          </a:xfrm>
          <a:prstGeom prst="roundRect">
            <a:avLst/>
          </a:prstGeom>
          <a:solidFill>
            <a:srgbClr val="FFC000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  <a:cs typeface="Tahoma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43494" y="2121096"/>
            <a:ext cx="3942906" cy="2349088"/>
            <a:chOff x="1243940" y="1918112"/>
            <a:chExt cx="3942906" cy="2349088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7" t="44403" r="46574" b="18540"/>
            <a:stretch/>
          </p:blipFill>
          <p:spPr bwMode="auto">
            <a:xfrm>
              <a:off x="1243940" y="1918112"/>
              <a:ext cx="3848486" cy="2349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Rounded Rectangle 9"/>
            <p:cNvSpPr/>
            <p:nvPr/>
          </p:nvSpPr>
          <p:spPr bwMode="auto">
            <a:xfrm>
              <a:off x="3505200" y="2476500"/>
              <a:ext cx="1681646" cy="114300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200" rtl="0" eaLnBrk="0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6" charset="0"/>
                <a:cs typeface="Tahoma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 bwMode="auto">
            <a:xfrm>
              <a:off x="3505200" y="3162300"/>
              <a:ext cx="1681646" cy="95250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200" rtl="0" eaLnBrk="0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6" charset="0"/>
                <a:cs typeface="Tahoma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486400" y="2578296"/>
            <a:ext cx="30551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600" dirty="0" smtClean="0">
                <a:solidFill>
                  <a:schemeClr val="tx1"/>
                </a:solidFill>
              </a:rPr>
              <a:t>Port security default mode:-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GB" sz="1600" dirty="0" smtClean="0">
                <a:solidFill>
                  <a:schemeClr val="tx1"/>
                </a:solidFill>
              </a:rPr>
              <a:t>Sticky learning is </a:t>
            </a:r>
            <a:r>
              <a:rPr lang="en-GB" sz="1600" b="1" dirty="0">
                <a:solidFill>
                  <a:srgbClr val="FF0000"/>
                </a:solidFill>
              </a:rPr>
              <a:t>disabled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GB" sz="1600" dirty="0" smtClean="0">
                <a:solidFill>
                  <a:schemeClr val="tx1"/>
                </a:solidFill>
              </a:rPr>
              <a:t>Max addresses is </a:t>
            </a:r>
            <a:r>
              <a:rPr lang="en-GB" sz="1600" b="1" dirty="0" smtClean="0">
                <a:solidFill>
                  <a:srgbClr val="FF0000"/>
                </a:solidFill>
              </a:rPr>
              <a:t>1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GB" sz="1600" dirty="0" smtClean="0">
                <a:solidFill>
                  <a:schemeClr val="tx1"/>
                </a:solidFill>
              </a:rPr>
              <a:t>Violation mode is </a:t>
            </a:r>
            <a:r>
              <a:rPr lang="en-GB" sz="1600" b="1" dirty="0" smtClean="0">
                <a:solidFill>
                  <a:srgbClr val="FF0000"/>
                </a:solidFill>
              </a:rPr>
              <a:t>shutdown</a:t>
            </a:r>
          </a:p>
          <a:p>
            <a:pPr marL="342900" indent="-342900" algn="l">
              <a:buAutoNum type="alphaLcPeriod"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82842" y="4091619"/>
            <a:ext cx="238835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 smtClean="0">
                <a:solidFill>
                  <a:srgbClr val="FF0000"/>
                </a:solidFill>
              </a:rPr>
              <a:t>Sticky secure MAC; MAC will be in running-</a:t>
            </a:r>
            <a:r>
              <a:rPr lang="en-GB" sz="1600" i="1" dirty="0" err="1" smtClean="0">
                <a:solidFill>
                  <a:srgbClr val="FF0000"/>
                </a:solidFill>
              </a:rPr>
              <a:t>config</a:t>
            </a:r>
            <a:r>
              <a:rPr lang="en-GB" sz="1600" i="1" dirty="0" smtClean="0">
                <a:solidFill>
                  <a:srgbClr val="FF0000"/>
                </a:solidFill>
              </a:rPr>
              <a:t> as well</a:t>
            </a:r>
            <a:endParaRPr lang="en-US" sz="1600" i="1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>
            <a:stCxn id="6" idx="2"/>
          </p:cNvCxnSpPr>
          <p:nvPr/>
        </p:nvCxnSpPr>
        <p:spPr bwMode="auto">
          <a:xfrm flipH="1">
            <a:off x="4094328" y="4848749"/>
            <a:ext cx="2882693" cy="10968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289152" y="522741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kern="0" dirty="0" smtClean="0"/>
              <a:t>Switch Port Security</a:t>
            </a:r>
            <a:r>
              <a:rPr lang="en-US" sz="1800" kern="0" dirty="0" smtClean="0">
                <a:ea typeface="ＭＳ Ｐゴシック" pitchFamily="34" charset="-128"/>
              </a:rPr>
              <a:t/>
            </a:r>
            <a:br>
              <a:rPr lang="en-US" sz="1800" kern="0" dirty="0" smtClean="0">
                <a:ea typeface="ＭＳ Ｐゴシック" pitchFamily="34" charset="-128"/>
              </a:rPr>
            </a:br>
            <a:r>
              <a:rPr lang="en-US" kern="0" dirty="0" smtClean="0"/>
              <a:t>Port Security: Verify</a:t>
            </a:r>
            <a:endParaRPr lang="en-US" kern="0"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61332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17" t="30216" r="20862" b="46688"/>
          <a:stretch/>
        </p:blipFill>
        <p:spPr bwMode="auto">
          <a:xfrm>
            <a:off x="4246292" y="4951840"/>
            <a:ext cx="4729655" cy="17463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473999"/>
            <a:ext cx="9144000" cy="3496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 smtClean="0">
                <a:latin typeface="+mn-lt"/>
                <a:cs typeface="Courier New" pitchFamily="49" charset="0"/>
              </a:rPr>
              <a:t>Example: Manually configuring port fa0/18 for PC1 access only</a:t>
            </a: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 smtClean="0">
              <a:latin typeface="Courier New" pitchFamily="49" charset="0"/>
              <a:cs typeface="Courier New" pitchFamily="49" charset="0"/>
            </a:endParaRP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 smtClean="0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)#interface 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fa0/18</a:t>
            </a: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 smtClean="0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-if)#</a:t>
            </a:r>
            <a:r>
              <a:rPr lang="en-GB" sz="1800" dirty="0" err="1" smtClean="0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 mode access</a:t>
            </a: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-if)#</a:t>
            </a:r>
            <a:r>
              <a:rPr lang="en-GB" sz="1800" dirty="0" err="1" smtClean="0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 port-security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-if)#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port-security mac-address 0025.83e6.4b01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-if)#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port-security violation shutdown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>
              <a:latin typeface="Courier New" pitchFamily="49" charset="0"/>
              <a:cs typeface="Courier New" pitchFamily="49" charset="0"/>
            </a:endParaRP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latin typeface="+mn-lt"/>
                <a:cs typeface="Courier New" pitchFamily="49" charset="0"/>
              </a:rPr>
              <a:t>Q1: Where would you verify this MAC address?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>
              <a:latin typeface="+mn-lt"/>
              <a:cs typeface="Courier New" pitchFamily="49" charset="0"/>
            </a:endParaRP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latin typeface="+mn-lt"/>
                <a:cs typeface="Courier New" pitchFamily="49" charset="0"/>
              </a:rPr>
              <a:t>Q2: What happens when the switch is rebooted but the running-</a:t>
            </a:r>
            <a:r>
              <a:rPr lang="en-GB" sz="1800" dirty="0" err="1" smtClean="0">
                <a:latin typeface="+mn-lt"/>
                <a:cs typeface="Courier New" pitchFamily="49" charset="0"/>
              </a:rPr>
              <a:t>config</a:t>
            </a:r>
            <a:r>
              <a:rPr lang="en-GB" sz="1800" dirty="0" smtClean="0">
                <a:latin typeface="+mn-lt"/>
                <a:cs typeface="Courier New" pitchFamily="49" charset="0"/>
              </a:rPr>
              <a:t> file has not been saved to the </a:t>
            </a:r>
            <a:r>
              <a:rPr lang="en-GB" sz="1800" dirty="0" err="1" smtClean="0">
                <a:latin typeface="+mn-lt"/>
                <a:cs typeface="Courier New" pitchFamily="49" charset="0"/>
              </a:rPr>
              <a:t>startup-config</a:t>
            </a:r>
            <a:r>
              <a:rPr lang="en-GB" sz="1800" dirty="0" smtClean="0">
                <a:latin typeface="+mn-lt"/>
                <a:cs typeface="Courier New" pitchFamily="49" charset="0"/>
              </a:rPr>
              <a:t> file?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89152" y="522741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kern="0" dirty="0" smtClean="0"/>
              <a:t>Switch Port Security</a:t>
            </a:r>
            <a:r>
              <a:rPr lang="en-US" sz="1800" kern="0" dirty="0" smtClean="0">
                <a:ea typeface="ＭＳ Ｐゴシック" pitchFamily="34" charset="-128"/>
              </a:rPr>
              <a:t/>
            </a:r>
            <a:br>
              <a:rPr lang="en-US" sz="1800" kern="0" dirty="0" smtClean="0">
                <a:ea typeface="ＭＳ Ｐゴシック" pitchFamily="34" charset="-128"/>
              </a:rPr>
            </a:br>
            <a:r>
              <a:rPr lang="en-US" kern="0" dirty="0" smtClean="0"/>
              <a:t>Port Security: Static Secure </a:t>
            </a:r>
            <a:r>
              <a:rPr lang="en-US" kern="0" dirty="0" err="1" smtClean="0"/>
              <a:t>Config</a:t>
            </a:r>
            <a:endParaRPr lang="en-US" kern="0"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613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17" t="30216" r="20862" b="46688"/>
          <a:stretch/>
        </p:blipFill>
        <p:spPr bwMode="auto">
          <a:xfrm>
            <a:off x="4361883" y="1420364"/>
            <a:ext cx="4729655" cy="17463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3425" y="3182464"/>
            <a:ext cx="868679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latin typeface="+mn-lt"/>
                <a:cs typeface="Courier New" pitchFamily="49" charset="0"/>
              </a:rPr>
              <a:t>Example: Configure port Fa0/18 to allow any first 2 PCs to access the port with violation set to “protect”</a:t>
            </a: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 smtClean="0">
              <a:latin typeface="Courier New" pitchFamily="49" charset="0"/>
              <a:cs typeface="Courier New" pitchFamily="49" charset="0"/>
            </a:endParaRP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 smtClean="0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)#interface 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fa0/18</a:t>
            </a: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)#</a:t>
            </a:r>
            <a:r>
              <a:rPr lang="en-GB" sz="1800" dirty="0" err="1" smtClean="0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 mode access</a:t>
            </a: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)#</a:t>
            </a:r>
            <a:r>
              <a:rPr lang="en-GB" sz="1800" dirty="0" err="1" smtClean="0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 port-security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)#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port-security maximum 2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)#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port-security violation protect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>
              <a:latin typeface="Courier New" pitchFamily="49" charset="0"/>
              <a:cs typeface="Courier New" pitchFamily="49" charset="0"/>
            </a:endParaRP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89152" y="522741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kern="0" dirty="0" smtClean="0"/>
              <a:t>Switch Port Security</a:t>
            </a:r>
            <a:r>
              <a:rPr lang="en-US" sz="1800" kern="0" dirty="0" smtClean="0">
                <a:ea typeface="ＭＳ Ｐゴシック" pitchFamily="34" charset="-128"/>
              </a:rPr>
              <a:t/>
            </a:r>
            <a:br>
              <a:rPr lang="en-US" sz="1800" kern="0" dirty="0" smtClean="0">
                <a:ea typeface="ＭＳ Ｐゴシック" pitchFamily="34" charset="-128"/>
              </a:rPr>
            </a:br>
            <a:r>
              <a:rPr lang="en-US" kern="0" dirty="0" smtClean="0"/>
              <a:t>Port Security: Dynamic Secure </a:t>
            </a:r>
            <a:r>
              <a:rPr lang="en-US" kern="0" dirty="0" err="1" smtClean="0"/>
              <a:t>Config</a:t>
            </a:r>
            <a:endParaRPr lang="en-US" kern="0"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905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17" t="30216" r="20862" b="46688"/>
          <a:stretch/>
        </p:blipFill>
        <p:spPr bwMode="auto">
          <a:xfrm>
            <a:off x="4246292" y="4951840"/>
            <a:ext cx="4729655" cy="17463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9152" y="1473999"/>
            <a:ext cx="8686795" cy="3236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 smtClean="0">
                <a:latin typeface="+mn-lt"/>
                <a:cs typeface="Courier New" pitchFamily="49" charset="0"/>
              </a:rPr>
              <a:t>Example: Configuring port fa0/18 to learn the MAC address of PC1 and any 2</a:t>
            </a:r>
            <a:r>
              <a:rPr lang="en-GB" sz="2000" b="1" baseline="30000" dirty="0" smtClean="0">
                <a:latin typeface="+mn-lt"/>
                <a:cs typeface="Courier New" pitchFamily="49" charset="0"/>
              </a:rPr>
              <a:t>nd</a:t>
            </a:r>
            <a:r>
              <a:rPr lang="en-GB" sz="2000" b="1" dirty="0" smtClean="0">
                <a:latin typeface="+mn-lt"/>
                <a:cs typeface="Courier New" pitchFamily="49" charset="0"/>
              </a:rPr>
              <a:t> PC after PC1</a:t>
            </a: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 smtClean="0">
              <a:latin typeface="Courier New" pitchFamily="49" charset="0"/>
              <a:cs typeface="Courier New" pitchFamily="49" charset="0"/>
            </a:endParaRP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 smtClean="0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)#interface 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fa0/18</a:t>
            </a: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)#</a:t>
            </a:r>
            <a:r>
              <a:rPr lang="en-GB" sz="1800" dirty="0" err="1" smtClean="0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 mode access</a:t>
            </a:r>
          </a:p>
          <a:p>
            <a:pPr marL="0" indent="0" algn="l" eaLnBrk="1" hangingPunct="1">
              <a:spcBef>
                <a:spcPts val="3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)#</a:t>
            </a:r>
            <a:r>
              <a:rPr lang="en-GB" sz="1800" dirty="0" err="1" smtClean="0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 port-security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)#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port-security mac-address sticky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)#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port-security maximum 2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S1(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)#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switchport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dirty="0" smtClean="0">
                <a:latin typeface="Courier New" pitchFamily="49" charset="0"/>
                <a:cs typeface="Courier New" pitchFamily="49" charset="0"/>
              </a:rPr>
              <a:t>port-security violation shutdown</a:t>
            </a: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>
              <a:latin typeface="Courier New" pitchFamily="49" charset="0"/>
              <a:cs typeface="Courier New" pitchFamily="49" charset="0"/>
            </a:endParaRPr>
          </a:p>
          <a:p>
            <a:pPr algn="l" eaLnBrk="1" hangingPunct="1">
              <a:spcBef>
                <a:spcPts val="3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latin typeface="+mn-lt"/>
                <a:cs typeface="Courier New" pitchFamily="49" charset="0"/>
              </a:rPr>
              <a:t>Q1: Where would you verify these 2 MAC addresses?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89152" y="522741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kern="0" dirty="0" smtClean="0"/>
              <a:t>Switch Port Security</a:t>
            </a:r>
            <a:r>
              <a:rPr lang="en-US" sz="1800" kern="0" dirty="0" smtClean="0">
                <a:ea typeface="ＭＳ Ｐゴシック" pitchFamily="34" charset="-128"/>
              </a:rPr>
              <a:t/>
            </a:r>
            <a:br>
              <a:rPr lang="en-US" sz="1800" kern="0" dirty="0" smtClean="0">
                <a:ea typeface="ＭＳ Ｐゴシック" pitchFamily="34" charset="-128"/>
              </a:rPr>
            </a:br>
            <a:r>
              <a:rPr lang="en-US" kern="0" dirty="0" smtClean="0"/>
              <a:t>Port Security: Sticky Secure </a:t>
            </a:r>
            <a:r>
              <a:rPr lang="en-US" kern="0" dirty="0" err="1" smtClean="0"/>
              <a:t>Config</a:t>
            </a:r>
            <a:endParaRPr lang="en-US" kern="0"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965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56" y="3496001"/>
            <a:ext cx="7418151" cy="2863340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/>
              <a:t>Switch Port Security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Ports in Error Disabled State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0496" y="1404938"/>
            <a:ext cx="7940675" cy="300740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662896" y="1397685"/>
            <a:ext cx="7940675" cy="26457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dirty="0" smtClean="0"/>
              <a:t>A device with a different MAC address accessing the port will trigger a security violation causing an </a:t>
            </a:r>
            <a:r>
              <a:rPr lang="en-US" sz="2000" u="sng" dirty="0" smtClean="0"/>
              <a:t>error-disabled</a:t>
            </a:r>
            <a:r>
              <a:rPr lang="en-US" sz="2000" dirty="0" smtClean="0"/>
              <a:t> state on the port which shuts down the port.</a:t>
            </a:r>
          </a:p>
          <a:p>
            <a:r>
              <a:rPr lang="en-US" sz="2000" dirty="0" smtClean="0"/>
              <a:t>The switch communicates these events through console messages.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312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34" y="2249714"/>
            <a:ext cx="7362767" cy="4437383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/>
              <a:t>Switch Port Security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Ports in Error Disabled State (cont.)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0496" y="1404938"/>
            <a:ext cx="7940675" cy="300740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662896" y="1397685"/>
            <a:ext cx="7940675" cy="8520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dirty="0" smtClean="0"/>
              <a:t>The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show interface </a:t>
            </a:r>
            <a:r>
              <a:rPr lang="en-US" sz="2000" dirty="0" smtClean="0"/>
              <a:t>command also reveals a switch port on error disabled state.</a:t>
            </a:r>
            <a:endParaRPr lang="en-US" sz="2000" dirty="0"/>
          </a:p>
        </p:txBody>
      </p:sp>
      <p:sp>
        <p:nvSpPr>
          <p:cNvPr id="3" name="Rounded Rectangle 2"/>
          <p:cNvSpPr/>
          <p:nvPr/>
        </p:nvSpPr>
        <p:spPr bwMode="auto">
          <a:xfrm>
            <a:off x="3794078" y="3862317"/>
            <a:ext cx="2265528" cy="286603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59606" y="3710152"/>
            <a:ext cx="215026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 smtClean="0"/>
              <a:t>As opposed to “Secure-up”</a:t>
            </a:r>
            <a:endParaRPr lang="en-SG" sz="1800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1869744" y="2947917"/>
            <a:ext cx="1610436" cy="327546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20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/>
              <a:t>Switch Port Security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Ports in Error Disabled State (cont.)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0496" y="1404938"/>
            <a:ext cx="7940675" cy="300740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512425" y="1536581"/>
            <a:ext cx="7940675" cy="8520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dirty="0" smtClean="0"/>
              <a:t>To </a:t>
            </a:r>
            <a:r>
              <a:rPr lang="en-US" sz="2000" dirty="0"/>
              <a:t>re-enable </a:t>
            </a:r>
            <a:r>
              <a:rPr lang="en-US" sz="2000" dirty="0" smtClean="0"/>
              <a:t>an error-disabled port, shutdown and bring the port back up as shown:-</a:t>
            </a:r>
            <a:endParaRPr lang="en-US" sz="2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4" y="2490842"/>
            <a:ext cx="8783723" cy="341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895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74638" y="493713"/>
            <a:ext cx="8145462" cy="8382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</a:t>
            </a:r>
            <a:r>
              <a:rPr lang="en-US" smtClean="0">
                <a:ea typeface="ＭＳ Ｐゴシック" pitchFamily="34" charset="-128"/>
              </a:rPr>
              <a:t>3a</a:t>
            </a:r>
            <a:r>
              <a:rPr lang="en-US" dirty="0" smtClean="0">
                <a:ea typeface="ＭＳ Ｐゴシック" pitchFamily="34" charset="-128"/>
              </a:rPr>
              <a:t>: Summary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19138" y="1471613"/>
            <a:ext cx="8131175" cy="443706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In this chapter, you learned: </a:t>
            </a:r>
          </a:p>
          <a:p>
            <a:r>
              <a:rPr lang="en-US" sz="2000" dirty="0" smtClean="0"/>
              <a:t>Cisco LAN switch boot sequence.</a:t>
            </a:r>
          </a:p>
          <a:p>
            <a:r>
              <a:rPr lang="en-US" sz="2000" dirty="0" smtClean="0"/>
              <a:t>How to remotely access and manage a Cisco LAN switch</a:t>
            </a:r>
            <a:endParaRPr lang="en-US" sz="2000" dirty="0"/>
          </a:p>
          <a:p>
            <a:r>
              <a:rPr lang="en-US" sz="2000" dirty="0" smtClean="0"/>
              <a:t>Cisco LAN switch port duplex modes.</a:t>
            </a:r>
            <a:endParaRPr lang="en-US" sz="2000" dirty="0"/>
          </a:p>
          <a:p>
            <a:r>
              <a:rPr lang="en-US" sz="2000" dirty="0" smtClean="0"/>
              <a:t>Cisco LAN switch </a:t>
            </a:r>
            <a:r>
              <a:rPr lang="en-US" sz="2000" dirty="0"/>
              <a:t>port </a:t>
            </a:r>
            <a:r>
              <a:rPr lang="en-US" sz="2000" dirty="0" smtClean="0"/>
              <a:t>security, violation modes, and actions.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27590</TotalTime>
  <Pages>28</Pages>
  <Words>1597</Words>
  <Application>Microsoft Office PowerPoint</Application>
  <PresentationFormat>On-screen Show (4:3)</PresentationFormat>
  <Paragraphs>317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ＭＳ Ｐゴシック</vt:lpstr>
      <vt:lpstr>Arial</vt:lpstr>
      <vt:lpstr>Courier New</vt:lpstr>
      <vt:lpstr>Tahoma</vt:lpstr>
      <vt:lpstr>Times New Roman</vt:lpstr>
      <vt:lpstr>Verdana</vt:lpstr>
      <vt:lpstr>Wingdings</vt:lpstr>
      <vt:lpstr>PPT-TMPLT-WHT_C</vt:lpstr>
      <vt:lpstr>NetAcad-4F_PPT-WHT_060408</vt:lpstr>
      <vt:lpstr>Chapter 3a: Basic Switching Concepts and Configuration (I)</vt:lpstr>
      <vt:lpstr>Chapter 2a</vt:lpstr>
      <vt:lpstr>Chapter 2a: Objectives</vt:lpstr>
      <vt:lpstr>Switch Ports Duplex Communication</vt:lpstr>
      <vt:lpstr>Switch Ports Auto-MDIX Feature</vt:lpstr>
      <vt:lpstr>Basic Switch Configuration Switch Boot Sequence</vt:lpstr>
      <vt:lpstr>Basic Switch Configuration Basic Switch Configuration</vt:lpstr>
      <vt:lpstr>Basic Switch Configuration Configure a Switch for Remote Access</vt:lpstr>
      <vt:lpstr>Basic Switch Configuration Configure a Switch for Remote Access</vt:lpstr>
      <vt:lpstr>Basic Switch Configuration Configure a Switch for Remote Access</vt:lpstr>
      <vt:lpstr>Basic Switch Configuration Verifying Switch Configuration</vt:lpstr>
      <vt:lpstr>Basic Switch Configuration Verifying Switch Configuration</vt:lpstr>
      <vt:lpstr>Security Concerns in LANs Switch Remote Access using Telnet</vt:lpstr>
      <vt:lpstr>Switch Port Security Secure Unused Ports</vt:lpstr>
      <vt:lpstr>Switch Port Security Port Security: Operation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Switch Port Security Ports in Error Disabled State</vt:lpstr>
      <vt:lpstr>Switch Port Security Ports in Error Disabled State (cont.)</vt:lpstr>
      <vt:lpstr>Switch Port Security Ports in Error Disabled State (cont.)</vt:lpstr>
      <vt:lpstr>Chapter 3a: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cp:lastModifiedBy>HOO BRYAN</cp:lastModifiedBy>
  <cp:revision>1331</cp:revision>
  <cp:lastPrinted>1999-01-27T00:54:54Z</cp:lastPrinted>
  <dcterms:created xsi:type="dcterms:W3CDTF">2006-10-23T15:07:30Z</dcterms:created>
  <dcterms:modified xsi:type="dcterms:W3CDTF">2018-03-22T08:59:32Z</dcterms:modified>
</cp:coreProperties>
</file>