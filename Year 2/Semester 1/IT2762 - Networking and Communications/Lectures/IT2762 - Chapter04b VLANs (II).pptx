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30"/>
  </p:notesMasterIdLst>
  <p:handoutMasterIdLst>
    <p:handoutMasterId r:id="rId31"/>
  </p:handoutMasterIdLst>
  <p:sldIdLst>
    <p:sldId id="500" r:id="rId3"/>
    <p:sldId id="541" r:id="rId4"/>
    <p:sldId id="782" r:id="rId5"/>
    <p:sldId id="832" r:id="rId6"/>
    <p:sldId id="792" r:id="rId7"/>
    <p:sldId id="834" r:id="rId8"/>
    <p:sldId id="793" r:id="rId9"/>
    <p:sldId id="794" r:id="rId10"/>
    <p:sldId id="835" r:id="rId11"/>
    <p:sldId id="837" r:id="rId12"/>
    <p:sldId id="838" r:id="rId13"/>
    <p:sldId id="839" r:id="rId14"/>
    <p:sldId id="796" r:id="rId15"/>
    <p:sldId id="845" r:id="rId16"/>
    <p:sldId id="809" r:id="rId17"/>
    <p:sldId id="840" r:id="rId18"/>
    <p:sldId id="841" r:id="rId19"/>
    <p:sldId id="812" r:id="rId20"/>
    <p:sldId id="842" r:id="rId21"/>
    <p:sldId id="808" r:id="rId22"/>
    <p:sldId id="844" r:id="rId23"/>
    <p:sldId id="815" r:id="rId24"/>
    <p:sldId id="843" r:id="rId25"/>
    <p:sldId id="816" r:id="rId26"/>
    <p:sldId id="817" r:id="rId27"/>
    <p:sldId id="818" r:id="rId28"/>
    <p:sldId id="783" r:id="rId29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9" clrIdx="0"/>
  <p:cmAuthor id="1" name="carykell" initials="c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75" autoAdjust="0"/>
    <p:restoredTop sz="87310" autoAdjust="0"/>
  </p:normalViewPr>
  <p:slideViewPr>
    <p:cSldViewPr snapToGrid="0">
      <p:cViewPr varScale="1">
        <p:scale>
          <a:sx n="62" d="100"/>
          <a:sy n="62" d="100"/>
        </p:scale>
        <p:origin x="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1560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</a:p>
          <a:p>
            <a:pPr>
              <a:buFontTx/>
              <a:buNone/>
            </a:pPr>
            <a:r>
              <a:rPr lang="en-US" sz="1300" b="1" dirty="0" smtClean="0"/>
              <a:t>Chapter 3: VLANs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4128805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119926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 Objectives</a:t>
            </a:r>
          </a:p>
        </p:txBody>
      </p:sp>
    </p:spTree>
    <p:extLst>
      <p:ext uri="{BB962C8B-B14F-4D97-AF65-F5344CB8AC3E}">
        <p14:creationId xmlns:p14="http://schemas.microsoft.com/office/powerpoint/2010/main" val="2694708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sz="1300" b="1" dirty="0" smtClean="0"/>
              <a:t>Routing &amp; Switching</a:t>
            </a:r>
            <a:endParaRPr lang="en-US" sz="1300" b="1" baseline="0" dirty="0" smtClean="0"/>
          </a:p>
          <a:p>
            <a:pPr>
              <a:buFontTx/>
              <a:buNone/>
            </a:pPr>
            <a:r>
              <a:rPr lang="en-US" sz="1300" b="1" dirty="0" smtClean="0"/>
              <a:t>Chapter 3: VLANs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781359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3.2.1.1 VLAN </a:t>
            </a:r>
            <a:r>
              <a:rPr lang="en-US" b="1" dirty="0" smtClean="0">
                <a:ea typeface="ＭＳ Ｐゴシック" pitchFamily="34" charset="-128"/>
              </a:rPr>
              <a:t>Ranges On Catalyst Switches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192293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3.2.1.2 </a:t>
            </a:r>
            <a:r>
              <a:rPr lang="en-US" b="1" dirty="0" smtClean="0">
                <a:ea typeface="ＭＳ Ｐゴシック" pitchFamily="34" charset="-128"/>
              </a:rPr>
              <a:t>Creating a VLAN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141158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3.2.1.3 </a:t>
            </a:r>
            <a:r>
              <a:rPr lang="en-US" b="1" dirty="0" smtClean="0">
                <a:ea typeface="ＭＳ Ｐゴシック" pitchFamily="34" charset="-128"/>
              </a:rPr>
              <a:t>Assigning Ports To VLANs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6750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3.2.1.6 </a:t>
            </a:r>
            <a:r>
              <a:rPr lang="en-US" b="1" dirty="0" smtClean="0">
                <a:ea typeface="ＭＳ Ｐゴシック" pitchFamily="34" charset="-128"/>
              </a:rPr>
              <a:t>Verifying VLAN Information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39078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3.2.1.6 </a:t>
            </a:r>
            <a:r>
              <a:rPr lang="en-US" b="1" dirty="0" smtClean="0">
                <a:ea typeface="ＭＳ Ｐゴシック" pitchFamily="34" charset="-128"/>
              </a:rPr>
              <a:t>Verifying VLAN Information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142156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3.2.1.6 </a:t>
            </a:r>
            <a:r>
              <a:rPr lang="en-US" b="1" dirty="0" smtClean="0">
                <a:ea typeface="ＭＳ Ｐゴシック" pitchFamily="34" charset="-128"/>
              </a:rPr>
              <a:t>Verifying VLAN Information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531383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3.2.1.6 </a:t>
            </a:r>
            <a:r>
              <a:rPr lang="en-US" b="1" dirty="0" smtClean="0">
                <a:ea typeface="ＭＳ Ｐゴシック" pitchFamily="34" charset="-128"/>
              </a:rPr>
              <a:t>Verifying VLAN Information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45305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3.2.1.4 </a:t>
            </a:r>
            <a:r>
              <a:rPr lang="en-US" b="1" dirty="0" smtClean="0">
                <a:ea typeface="ＭＳ Ｐゴシック" pitchFamily="34" charset="-128"/>
              </a:rPr>
              <a:t>Changing VLAN Port Membership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524464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3.2.1.5 </a:t>
            </a:r>
            <a:r>
              <a:rPr lang="en-US" b="1" dirty="0" smtClean="0">
                <a:ea typeface="ＭＳ Ｐゴシック" pitchFamily="34" charset="-128"/>
              </a:rPr>
              <a:t>Deleting VLANs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550376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3.2.2.1 </a:t>
            </a:r>
            <a:r>
              <a:rPr lang="en-US" b="1" dirty="0" smtClean="0">
                <a:ea typeface="ＭＳ Ｐゴシック" pitchFamily="34" charset="-128"/>
              </a:rPr>
              <a:t>Configuring IEEE 802.1q Trunk Links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99382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3.2.2.1 </a:t>
            </a:r>
            <a:r>
              <a:rPr lang="en-US" b="1" dirty="0" smtClean="0">
                <a:ea typeface="ＭＳ Ｐゴシック" pitchFamily="34" charset="-128"/>
              </a:rPr>
              <a:t>Configuring IEEE 802.1q Trunk Links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186258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3.2.2.1 </a:t>
            </a:r>
            <a:r>
              <a:rPr lang="en-US" b="1" dirty="0" smtClean="0">
                <a:ea typeface="ＭＳ Ｐゴシック" pitchFamily="34" charset="-128"/>
              </a:rPr>
              <a:t>Configuring IEEE 802.1q Trunk Links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7092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3.2.2.3 </a:t>
            </a:r>
            <a:r>
              <a:rPr lang="en-US" b="1" dirty="0" smtClean="0">
                <a:ea typeface="ＭＳ Ｐゴシック" pitchFamily="34" charset="-128"/>
              </a:rPr>
              <a:t>Verifying Trunk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24669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3.2.2.3 </a:t>
            </a:r>
            <a:r>
              <a:rPr lang="en-US" b="1" dirty="0" smtClean="0">
                <a:ea typeface="ＭＳ Ｐゴシック" pitchFamily="34" charset="-128"/>
              </a:rPr>
              <a:t>Verifying Trunk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228909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3.2.2.2 </a:t>
            </a:r>
            <a:r>
              <a:rPr lang="en-US" b="1" dirty="0" smtClean="0">
                <a:ea typeface="ＭＳ Ｐゴシック" pitchFamily="34" charset="-128"/>
              </a:rPr>
              <a:t>Resetting the Trunk To Default State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59144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3.2.3.2 </a:t>
            </a:r>
            <a:r>
              <a:rPr lang="en-US" sz="1200" b="1" dirty="0" smtClean="0">
                <a:ea typeface="ＭＳ Ｐゴシック" pitchFamily="34" charset="-128"/>
              </a:rPr>
              <a:t>Introduction to DTP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659523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3.2.4.1 IP </a:t>
            </a:r>
            <a:r>
              <a:rPr lang="en-US" sz="1200" b="1" dirty="0" smtClean="0">
                <a:ea typeface="ＭＳ Ｐゴシック" pitchFamily="34" charset="-128"/>
              </a:rPr>
              <a:t>Addressing Issues with VLAN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951611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3.2.4.1 IP </a:t>
            </a:r>
            <a:r>
              <a:rPr lang="en-US" sz="1200" b="1" dirty="0" smtClean="0">
                <a:ea typeface="ＭＳ Ｐゴシック" pitchFamily="34" charset="-128"/>
              </a:rPr>
              <a:t>Addressing Issues with VLAN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23797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3.2.4.2 </a:t>
            </a:r>
            <a:r>
              <a:rPr lang="en-US" sz="1200" b="1" dirty="0" smtClean="0">
                <a:ea typeface="ＭＳ Ｐゴシック" pitchFamily="34" charset="-128"/>
              </a:rPr>
              <a:t>Missing VLANs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729675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3.2.4.3 </a:t>
            </a:r>
            <a:r>
              <a:rPr lang="en-US" sz="1200" b="1" dirty="0" smtClean="0">
                <a:ea typeface="ＭＳ Ｐゴシック" pitchFamily="34" charset="-128"/>
              </a:rPr>
              <a:t>Introduction to Troubleshooting Trunks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095258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3.2.4.4 </a:t>
            </a:r>
            <a:r>
              <a:rPr lang="en-US" sz="1200" b="1" dirty="0" smtClean="0">
                <a:ea typeface="ＭＳ Ｐゴシック" pitchFamily="34" charset="-128"/>
              </a:rPr>
              <a:t>Common Problems With Trunks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703339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27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 Summary</a:t>
            </a:r>
          </a:p>
        </p:txBody>
      </p:sp>
    </p:spTree>
    <p:extLst>
      <p:ext uri="{BB962C8B-B14F-4D97-AF65-F5344CB8AC3E}">
        <p14:creationId xmlns:p14="http://schemas.microsoft.com/office/powerpoint/2010/main" val="89433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Chapter </a:t>
            </a:r>
            <a:r>
              <a:rPr lang="en-US" sz="2800" dirty="0" smtClean="0"/>
              <a:t>4b</a:t>
            </a:r>
            <a:r>
              <a:rPr lang="en-US" sz="2800" dirty="0" smtClean="0"/>
              <a:t>: VLANs (II)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&amp; Switching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765" y="363085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3b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03762" y="1520042"/>
            <a:ext cx="8392000" cy="4506933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3.1 VLAN Segmentation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>
                <a:cs typeface="Arial" charset="0"/>
              </a:rPr>
              <a:t>3.2 VLAN Implementation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0893" y="339334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3b: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1263" y="1401288"/>
            <a:ext cx="8312728" cy="4519262"/>
          </a:xfrm>
        </p:spPr>
        <p:txBody>
          <a:bodyPr/>
          <a:lstStyle/>
          <a:p>
            <a:r>
              <a:rPr lang="en-US" sz="2000" dirty="0" smtClean="0"/>
              <a:t>Explain the purpose of  VLANs in a switched network.</a:t>
            </a:r>
          </a:p>
          <a:p>
            <a:r>
              <a:rPr lang="en-US" sz="2000" dirty="0"/>
              <a:t>Analyze how a switch forwards </a:t>
            </a:r>
            <a:r>
              <a:rPr lang="en-US" sz="2000" dirty="0" smtClean="0"/>
              <a:t>frames based on VLAN configuration </a:t>
            </a:r>
            <a:r>
              <a:rPr lang="en-US" sz="2000" dirty="0"/>
              <a:t>in a </a:t>
            </a:r>
            <a:r>
              <a:rPr lang="en-US" sz="2000" dirty="0" smtClean="0"/>
              <a:t>multi-switched environment.</a:t>
            </a:r>
            <a:endParaRPr lang="en-US" sz="2000" dirty="0"/>
          </a:p>
          <a:p>
            <a:r>
              <a:rPr lang="en-US" b="1" dirty="0"/>
              <a:t>Configure a switch port to be assigned to a </a:t>
            </a:r>
            <a:r>
              <a:rPr lang="en-US" b="1" dirty="0" smtClean="0"/>
              <a:t>VLAN based on requirements.</a:t>
            </a:r>
            <a:endParaRPr lang="en-US" b="1" dirty="0"/>
          </a:p>
          <a:p>
            <a:r>
              <a:rPr lang="en-US" b="1" dirty="0"/>
              <a:t>Configure a trunk port on a LAN switch.</a:t>
            </a:r>
          </a:p>
          <a:p>
            <a:r>
              <a:rPr lang="en-US" b="1" dirty="0" smtClean="0"/>
              <a:t>Troubleshoot </a:t>
            </a:r>
            <a:r>
              <a:rPr lang="en-US" b="1" dirty="0"/>
              <a:t>VLAN and trunk configurations in a switched </a:t>
            </a:r>
            <a:r>
              <a:rPr lang="en-US" b="1"/>
              <a:t>network</a:t>
            </a:r>
            <a:r>
              <a:rPr lang="en-US" b="1" smtClean="0"/>
              <a:t>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3</a:t>
            </a:r>
            <a:r>
              <a:rPr lang="en-US" sz="2400" dirty="0" smtClean="0"/>
              <a:t>.2 VLAN Implementations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47877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780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Ranges on Catalyst Switches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1507" y="1436914"/>
            <a:ext cx="8463516" cy="4891315"/>
          </a:xfrm>
        </p:spPr>
        <p:txBody>
          <a:bodyPr/>
          <a:lstStyle/>
          <a:p>
            <a:r>
              <a:rPr lang="en-US" sz="2000" dirty="0" smtClean="0"/>
              <a:t>Cisco Catalyst </a:t>
            </a:r>
            <a:r>
              <a:rPr lang="en-US" sz="2000" dirty="0"/>
              <a:t>2960 and 3560 Series switches support over 4,000 </a:t>
            </a:r>
            <a:r>
              <a:rPr lang="en-US" sz="2000" dirty="0" smtClean="0"/>
              <a:t>VLANs.</a:t>
            </a:r>
          </a:p>
          <a:p>
            <a:r>
              <a:rPr lang="en-US" sz="2000" dirty="0" smtClean="0"/>
              <a:t>VLANs are split into two categories: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b="1" dirty="0" smtClean="0"/>
              <a:t>Normal range VLANs</a:t>
            </a:r>
          </a:p>
          <a:p>
            <a:pPr marL="1139825" lvl="2" indent="-342900">
              <a:buFont typeface="Arial" pitchFamily="34" charset="0"/>
              <a:buChar char="•"/>
            </a:pPr>
            <a:r>
              <a:rPr lang="en-US" dirty="0" smtClean="0"/>
              <a:t>VLAN numbers from 1 to 1,005</a:t>
            </a:r>
          </a:p>
          <a:p>
            <a:pPr marL="1139825" lvl="2" indent="-342900">
              <a:buFont typeface="Arial" pitchFamily="34" charset="0"/>
              <a:buChar char="•"/>
            </a:pPr>
            <a:r>
              <a:rPr lang="en-US" b="1" dirty="0" smtClean="0"/>
              <a:t>Configurations stored </a:t>
            </a:r>
            <a:r>
              <a:rPr lang="en-US" b="1" dirty="0"/>
              <a:t>in </a:t>
            </a:r>
            <a:r>
              <a:rPr lang="en-US" b="1" dirty="0" smtClean="0"/>
              <a:t>the vlan.dat (in the flash memory)</a:t>
            </a:r>
          </a:p>
          <a:p>
            <a:pPr marL="1139825" lvl="2" indent="-342900">
              <a:buFont typeface="Arial" pitchFamily="34" charset="0"/>
              <a:buChar char="•"/>
            </a:pP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 smtClean="0"/>
              <a:t>Extended Range VLANs</a:t>
            </a:r>
            <a:endParaRPr lang="en-US" dirty="0"/>
          </a:p>
          <a:p>
            <a:pPr marL="1139825" lvl="2" indent="-342900">
              <a:buFont typeface="Arial" pitchFamily="34" charset="0"/>
              <a:buChar char="•"/>
            </a:pPr>
            <a:r>
              <a:rPr lang="en-US" dirty="0" smtClean="0"/>
              <a:t>VLAN </a:t>
            </a:r>
            <a:r>
              <a:rPr lang="en-US" dirty="0"/>
              <a:t>numbers from </a:t>
            </a:r>
            <a:r>
              <a:rPr lang="en-US" dirty="0" smtClean="0"/>
              <a:t>1,006 to 4,096</a:t>
            </a:r>
          </a:p>
          <a:p>
            <a:pPr marL="1139825" lvl="2" indent="-342900">
              <a:buFont typeface="Arial" pitchFamily="34" charset="0"/>
              <a:buChar char="•"/>
            </a:pPr>
            <a:r>
              <a:rPr lang="en-US" dirty="0" smtClean="0"/>
              <a:t>Configurations stored </a:t>
            </a:r>
            <a:r>
              <a:rPr lang="en-US" dirty="0"/>
              <a:t>in </a:t>
            </a:r>
            <a:r>
              <a:rPr lang="en-US" dirty="0" smtClean="0"/>
              <a:t>the running configuration (NVRAM)</a:t>
            </a:r>
          </a:p>
          <a:p>
            <a:pPr marL="1139825" lvl="2" indent="-342900">
              <a:buFont typeface="Arial" pitchFamily="34" charset="0"/>
              <a:buChar char="•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883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3516359"/>
            <a:ext cx="49149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15978" y="3985147"/>
            <a:ext cx="1390189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G" sz="1800" dirty="0" smtClean="0"/>
              <a:t>Trunk port</a:t>
            </a:r>
          </a:p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r>
              <a:rPr lang="en-SG" sz="1800" dirty="0" smtClean="0"/>
              <a:t>Access port</a:t>
            </a:r>
            <a:endParaRPr lang="en-SG" sz="1800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6706167" y="4142921"/>
            <a:ext cx="115494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6706167" y="4142921"/>
            <a:ext cx="653671" cy="120700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6196084" y="5074677"/>
            <a:ext cx="218364" cy="64373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55" y="1502801"/>
            <a:ext cx="7940675" cy="3571875"/>
          </a:xfrm>
        </p:spPr>
        <p:txBody>
          <a:bodyPr/>
          <a:lstStyle/>
          <a:p>
            <a:pPr marL="0" indent="0">
              <a:buNone/>
            </a:pPr>
            <a:r>
              <a:rPr lang="en-SG" dirty="0" smtClean="0"/>
              <a:t>VLAN configuration for switches consists of these steps:</a:t>
            </a:r>
          </a:p>
          <a:p>
            <a:pPr marL="457200" indent="-457200">
              <a:buAutoNum type="arabicPeriod"/>
            </a:pPr>
            <a:r>
              <a:rPr lang="en-SG" dirty="0" smtClean="0"/>
              <a:t>Create VLANs</a:t>
            </a:r>
          </a:p>
          <a:p>
            <a:pPr marL="457200" indent="-457200">
              <a:buAutoNum type="arabicPeriod"/>
            </a:pPr>
            <a:r>
              <a:rPr lang="en-SG" dirty="0" smtClean="0"/>
              <a:t>Assign switch ports to the respective VLANs</a:t>
            </a:r>
          </a:p>
          <a:p>
            <a:pPr marL="457200" indent="-457200">
              <a:buAutoNum type="arabicPeriod"/>
            </a:pPr>
            <a:r>
              <a:rPr lang="en-SG" dirty="0" smtClean="0"/>
              <a:t>Verify configuration and test</a:t>
            </a:r>
          </a:p>
          <a:p>
            <a:pPr marL="457200" indent="-457200">
              <a:buAutoNum type="arabicPeriod"/>
            </a:pPr>
            <a:r>
              <a:rPr lang="en-SG" dirty="0" smtClean="0"/>
              <a:t>Delete / Modify where necessary</a:t>
            </a:r>
            <a:endParaRPr lang="en-SG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84155" y="498990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>
                <a:ea typeface="ＭＳ Ｐゴシック" pitchFamily="34" charset="-128"/>
              </a:rPr>
              <a:t>VLAN Assignment</a:t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>
                <a:ea typeface="ＭＳ Ｐゴシック" pitchFamily="34" charset="-128"/>
              </a:rPr>
              <a:t>Configuring VLANs in Switches</a:t>
            </a:r>
          </a:p>
        </p:txBody>
      </p:sp>
    </p:spTree>
    <p:extLst>
      <p:ext uri="{BB962C8B-B14F-4D97-AF65-F5344CB8AC3E}">
        <p14:creationId xmlns:p14="http://schemas.microsoft.com/office/powerpoint/2010/main" val="138747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3516359"/>
            <a:ext cx="49149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55" y="49899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Creating a VLAN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955" y="3516359"/>
            <a:ext cx="46474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xample:-</a:t>
            </a:r>
          </a:p>
          <a:p>
            <a:pPr algn="l"/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20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name Student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exit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15978" y="3985147"/>
            <a:ext cx="1390189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r>
              <a:rPr lang="en-SG" sz="1800" dirty="0" smtClean="0"/>
              <a:t>Access port</a:t>
            </a:r>
            <a:endParaRPr lang="en-SG" sz="1800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196084" y="5074677"/>
            <a:ext cx="218364" cy="64373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4" t="34155" r="19581" b="49351"/>
          <a:stretch/>
        </p:blipFill>
        <p:spPr bwMode="auto">
          <a:xfrm>
            <a:off x="272954" y="1446661"/>
            <a:ext cx="7959927" cy="1937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13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888" y="3985147"/>
            <a:ext cx="4197112" cy="274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44218" y="4144265"/>
            <a:ext cx="175733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r>
              <a:rPr lang="en-SG" sz="1800" dirty="0" smtClean="0"/>
              <a:t>Access port</a:t>
            </a:r>
            <a:endParaRPr lang="en-SG" sz="1800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6600425" y="5233794"/>
            <a:ext cx="182513" cy="54972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72955" y="3859404"/>
            <a:ext cx="4810035" cy="2834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xample:-</a:t>
            </a: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S1#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interface fa0/18</a:t>
            </a: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acc</a:t>
            </a:r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acc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20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exit</a:t>
            </a: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Note: To configure several interfaces at once,</a:t>
            </a:r>
          </a:p>
          <a:p>
            <a:pPr algn="l"/>
            <a:r>
              <a:rPr lang="en-SG" sz="1800" dirty="0" smtClean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Use #interface range fa0/x – fa0/y</a:t>
            </a:r>
          </a:p>
          <a:p>
            <a:pPr algn="l"/>
            <a:r>
              <a:rPr lang="en-SG" sz="1800" dirty="0" smtClean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OR #interface range fa0/x,fa0/y,fa0/z</a:t>
            </a:r>
            <a:endParaRPr lang="en-SG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30" y="47524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Assigning Ports to VLANs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2" t="32489" r="19492" b="41065"/>
          <a:stretch/>
        </p:blipFill>
        <p:spPr bwMode="auto">
          <a:xfrm>
            <a:off x="382137" y="1296537"/>
            <a:ext cx="6919416" cy="2542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06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VLAN Information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729" y="1419368"/>
            <a:ext cx="8393373" cy="4085159"/>
          </a:xfrm>
        </p:spPr>
        <p:txBody>
          <a:bodyPr/>
          <a:lstStyle/>
          <a:p>
            <a:r>
              <a:rPr lang="en-SG" dirty="0" smtClean="0"/>
              <a:t>Verify VLAN configuration using these commands:-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 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brief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 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running-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dirty="0" smtClean="0"/>
              <a:t>Before creating VLAN (default):-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334369" y="3148094"/>
            <a:ext cx="8632210" cy="31947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S1#show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brief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VLAN Name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    Status    Ports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---- -------------------------------- ---------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default                          active     Fa0/1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Fa0/2, Fa0/3, Fa0/4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Fa0/5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Fa0/6, Fa0/7, Fa0/8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Fa0/9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Fa0/10, Fa0/11, Fa0/12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Fa0/13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Fa0/14, Fa0/15, Fa0/16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Fa0/17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Fa0/18, Fa0/19, Fa0/20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Fa0/21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Fa0/22, Fa0/23, Fa0/24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Gig0/1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Gig0/2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1002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	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1003 token-ring-default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1004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1005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8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VLAN Information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729" y="1419368"/>
            <a:ext cx="8393373" cy="4085159"/>
          </a:xfrm>
        </p:spPr>
        <p:txBody>
          <a:bodyPr/>
          <a:lstStyle/>
          <a:p>
            <a:r>
              <a:rPr lang="en-SG" dirty="0" smtClean="0"/>
              <a:t>After creating VLAN and before assigning the port:-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334369" y="2001682"/>
            <a:ext cx="8632210" cy="34440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S1#show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brief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VLAN Name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    Status    Ports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---- -------------------------------- ---------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default                          active     Fa0/1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Fa0/2, Fa0/3, Fa0/4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Fa0/5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Fa0/6, Fa0/7, Fa0/8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Fa0/9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Fa0/10, Fa0/11, Fa0/12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Fa0/13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Fa0/14, Fa0/15, Fa0/16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Fa0/17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Fa0/18, Fa0/19, Fa0/20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Fa0/21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Fa0/22, Fa0/23, Fa0/24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Gig0/1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Gig0/2</a:t>
            </a:r>
          </a:p>
          <a:p>
            <a:pPr algn="l"/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   Student			    active</a:t>
            </a:r>
            <a:endParaRPr lang="en-S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1002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	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1003 token-ring-default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1004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1005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20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VLAN Information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729" y="1419368"/>
            <a:ext cx="8393373" cy="4085159"/>
          </a:xfrm>
        </p:spPr>
        <p:txBody>
          <a:bodyPr/>
          <a:lstStyle/>
          <a:p>
            <a:r>
              <a:rPr lang="en-SG" dirty="0" smtClean="0"/>
              <a:t>After assigning the port to VLAN 20:-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334369" y="2001682"/>
            <a:ext cx="8632210" cy="34440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S1#show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brief</a:t>
            </a: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VLAN Name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    Status    Ports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---- -------------------------------- ---------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default                          active     Fa0/1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Fa0/2, Fa0/3, Fa0/4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Fa0/5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Fa0/6, Fa0/7, Fa0/8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Fa0/9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Fa0/10, Fa0/11, Fa0/12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Fa0/13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Fa0/14, Fa0/15, Fa0/16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Fa0/17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Fa0/19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Fa0/20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Fa0/21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Fa0/22, Fa0/23, Fa0/24</a:t>
            </a:r>
          </a:p>
          <a:p>
            <a:pPr algn="l"/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     Gig0/1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Gig0/2</a:t>
            </a:r>
          </a:p>
          <a:p>
            <a:pPr algn="l"/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   Student			    active	Fa0/18</a:t>
            </a:r>
            <a:endParaRPr lang="en-S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1002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	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1003 token-ring-default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1004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fddinet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1005 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trnet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-default </a:t>
            </a:r>
            <a:r>
              <a:rPr lang="en-S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active </a:t>
            </a:r>
            <a:endParaRPr lang="en-S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51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VLAN Information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729" y="1419368"/>
            <a:ext cx="8393373" cy="4085159"/>
          </a:xfrm>
        </p:spPr>
        <p:txBody>
          <a:bodyPr/>
          <a:lstStyle/>
          <a:p>
            <a:r>
              <a:rPr lang="en-SG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show running-</a:t>
            </a:r>
            <a:r>
              <a:rPr lang="en-SG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SG" dirty="0"/>
          </a:p>
          <a:p>
            <a:endParaRPr lang="en-SG" dirty="0" smtClean="0"/>
          </a:p>
          <a:p>
            <a:endParaRPr lang="en-SG" dirty="0"/>
          </a:p>
          <a:p>
            <a:endParaRPr lang="en-SG" dirty="0" smtClean="0"/>
          </a:p>
          <a:p>
            <a:endParaRPr lang="en-SG" dirty="0"/>
          </a:p>
          <a:p>
            <a:endParaRPr lang="en-SG" dirty="0" smtClean="0"/>
          </a:p>
          <a:p>
            <a:r>
              <a:rPr lang="en-SG" dirty="0" smtClean="0"/>
              <a:t>Note that VLANs created can’t be seen in running-</a:t>
            </a:r>
            <a:r>
              <a:rPr lang="en-SG" dirty="0" err="1" smtClean="0"/>
              <a:t>config</a:t>
            </a:r>
            <a:r>
              <a:rPr lang="en-SG" dirty="0" smtClean="0"/>
              <a:t>. You need to use 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# show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brief</a:t>
            </a:r>
            <a:r>
              <a:rPr lang="en-SG" dirty="0" smtClean="0"/>
              <a:t>.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334369" y="2001682"/>
            <a:ext cx="8632210" cy="23429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S1#show </a:t>
            </a:r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FastEthernet0/18</a:t>
            </a:r>
          </a:p>
          <a:p>
            <a:pPr algn="l"/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access </a:t>
            </a:r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20</a:t>
            </a:r>
          </a:p>
          <a:p>
            <a:pPr algn="l"/>
            <a:r>
              <a:rPr lang="en-SG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mode access</a:t>
            </a:r>
          </a:p>
          <a:p>
            <a:pPr algn="l"/>
            <a:endParaRPr lang="en-SG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output omitted --&gt;</a:t>
            </a:r>
          </a:p>
        </p:txBody>
      </p:sp>
    </p:spTree>
    <p:extLst>
      <p:ext uri="{BB962C8B-B14F-4D97-AF65-F5344CB8AC3E}">
        <p14:creationId xmlns:p14="http://schemas.microsoft.com/office/powerpoint/2010/main" val="292923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54" y="451489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Changing VLAN Port Membership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4841" y="1686324"/>
            <a:ext cx="84070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SG" sz="2000" dirty="0" smtClean="0"/>
              <a:t>If the port has been re-assigned to another VLAN, you need to:-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sz="2000" dirty="0" smtClean="0"/>
              <a:t>Check that the new VLAN has been created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sz="2000" dirty="0" smtClean="0"/>
              <a:t>At the interface, set the new access VLAN (example VLAN 30):-</a:t>
            </a:r>
          </a:p>
          <a:p>
            <a:pPr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fa0/18</a:t>
            </a:r>
          </a:p>
          <a:p>
            <a:pPr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access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</a:p>
          <a:p>
            <a:pPr marL="457200" indent="-457200" algn="l">
              <a:buFont typeface="+mj-lt"/>
              <a:buAutoNum type="arabicPeriod"/>
            </a:pPr>
            <a:endParaRPr lang="en-SG" sz="2000" dirty="0" smtClean="0"/>
          </a:p>
          <a:p>
            <a:pPr marL="457200" indent="-457200" algn="l">
              <a:buFont typeface="+mj-lt"/>
              <a:buAutoNum type="arabicPeriod"/>
            </a:pPr>
            <a:r>
              <a:rPr lang="en-SG" sz="2000" dirty="0" smtClean="0"/>
              <a:t>To reset the port to VLAN 1 (back to default state):-</a:t>
            </a:r>
          </a:p>
          <a:p>
            <a:pPr algn="l"/>
            <a:endParaRPr lang="en-SG" sz="2000" dirty="0"/>
          </a:p>
          <a:p>
            <a:pPr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S1(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fa0/18</a:t>
            </a:r>
          </a:p>
          <a:p>
            <a:pPr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S1(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access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2000" dirty="0"/>
          </a:p>
          <a:p>
            <a:pPr lvl="1" algn="l"/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57201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6" y="46336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Deleting VLANs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841" y="1686324"/>
            <a:ext cx="84070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If a VLAN is no longer needed, delete it by:-</a:t>
            </a:r>
          </a:p>
          <a:p>
            <a:pPr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no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Always check after doing a configuration. What command allows you to see that the </a:t>
            </a:r>
            <a:r>
              <a:rPr lang="en-SG" sz="2000" dirty="0" err="1" smtClean="0"/>
              <a:t>vlan</a:t>
            </a:r>
            <a:r>
              <a:rPr lang="en-SG" sz="2000" dirty="0" smtClean="0"/>
              <a:t> has been deleted?</a:t>
            </a:r>
          </a:p>
          <a:p>
            <a:pPr algn="l"/>
            <a:endParaRPr lang="en-SG" sz="2000" dirty="0"/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S1(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S1# __________________________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/>
          </a:p>
          <a:p>
            <a:pPr algn="l"/>
            <a:r>
              <a:rPr lang="en-SG" sz="2000" dirty="0" smtClean="0"/>
              <a:t>(Challenge</a:t>
            </a:r>
            <a:r>
              <a:rPr lang="en-SG" sz="2000" dirty="0"/>
              <a:t>) </a:t>
            </a:r>
            <a:endParaRPr lang="en-SG" sz="2000" dirty="0" smtClean="0"/>
          </a:p>
          <a:p>
            <a:pPr algn="l"/>
            <a:r>
              <a:rPr lang="en-SG" sz="2000" dirty="0" smtClean="0"/>
              <a:t>Ports Fa0/1 to Fa0/10 are assigned to VLAN 10. PCs are connected to these 10 ports and can communicate. </a:t>
            </a:r>
          </a:p>
          <a:p>
            <a:pPr algn="l"/>
            <a:r>
              <a:rPr lang="en-SG" sz="2000" dirty="0" smtClean="0"/>
              <a:t>What happens when you delete VLAN 10?</a:t>
            </a:r>
          </a:p>
          <a:p>
            <a:pPr algn="l"/>
            <a:endParaRPr lang="en-SG" sz="2000" dirty="0" smtClean="0"/>
          </a:p>
          <a:p>
            <a:pPr algn="l"/>
            <a:r>
              <a:rPr lang="en-SG" sz="2000" dirty="0" smtClean="0"/>
              <a:t>(try simulating it with Packet Tracer)</a:t>
            </a:r>
            <a:endParaRPr lang="en-SG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3284113" y="3438659"/>
            <a:ext cx="189319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smtClean="0">
                <a:solidFill>
                  <a:srgbClr val="00B050"/>
                </a:solidFill>
              </a:rPr>
              <a:t>exit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4861" y="4035785"/>
            <a:ext cx="27947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B050"/>
                </a:solidFill>
              </a:rPr>
              <a:t>s</a:t>
            </a:r>
            <a:r>
              <a:rPr lang="en-SG" dirty="0" smtClean="0">
                <a:solidFill>
                  <a:srgbClr val="00B050"/>
                </a:solidFill>
              </a:rPr>
              <a:t>how </a:t>
            </a:r>
            <a:r>
              <a:rPr lang="en-SG" dirty="0" err="1" smtClean="0">
                <a:solidFill>
                  <a:srgbClr val="00B050"/>
                </a:solidFill>
              </a:rPr>
              <a:t>vlan</a:t>
            </a:r>
            <a:r>
              <a:rPr lang="en-SG" dirty="0" smtClean="0">
                <a:solidFill>
                  <a:srgbClr val="00B050"/>
                </a:solidFill>
              </a:rPr>
              <a:t> brief</a:t>
            </a:r>
            <a:endParaRPr lang="en-S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6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692" y="46336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IEEE 802.1q Trunk Links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3516359"/>
            <a:ext cx="49149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78459" y="3985147"/>
            <a:ext cx="1227708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G" sz="1800" dirty="0" smtClean="0"/>
              <a:t>Trunk port</a:t>
            </a:r>
          </a:p>
          <a:p>
            <a:pPr algn="r"/>
            <a:endParaRPr lang="en-SG" sz="1800" dirty="0" smtClean="0"/>
          </a:p>
          <a:p>
            <a:pPr algn="r"/>
            <a:endParaRPr lang="en-SG" sz="1800" dirty="0" smtClean="0"/>
          </a:p>
          <a:p>
            <a:pPr algn="r"/>
            <a:endParaRPr lang="en-SG" sz="1800" dirty="0"/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6706167" y="4142921"/>
            <a:ext cx="115494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6706167" y="4142921"/>
            <a:ext cx="653671" cy="120700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54841" y="1686324"/>
            <a:ext cx="84070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Trunk links are links between switches and it allows multiple VLANs to traverse the link using the IEEE 802.1q frame tagging protocol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To configure a trunk link, the trunk ports on both ends need to be configured. Referring to the network diagram, these ports must be configured:-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Switch S1 port Fa0/1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Switch S2 port Fa0/1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15653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692" y="46336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IEEE 802.1q Trunk Links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01" y="1448931"/>
            <a:ext cx="7722011" cy="348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16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287" y="3381026"/>
            <a:ext cx="49149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4841" y="1399721"/>
            <a:ext cx="84070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SG" sz="2000" dirty="0" smtClean="0"/>
              <a:t>Identify the assigned Native VLAN (if available)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SG" sz="2000" dirty="0" smtClean="0"/>
              <a:t>Identify whether the trunk will permit some or all VLANs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SG" sz="2000" dirty="0" smtClean="0"/>
              <a:t>Configure Switch S1 port Fa0/1 to be a trunk port with the native VLAN (if available, in this example, 99):-</a:t>
            </a:r>
          </a:p>
          <a:p>
            <a:pPr algn="l"/>
            <a:endParaRPr lang="en-SG" sz="2000" dirty="0" smtClean="0"/>
          </a:p>
          <a:p>
            <a:pPr indent="-457200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  <a:endParaRPr lang="en-SG" sz="2000" i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457200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 fa0/1</a:t>
            </a:r>
          </a:p>
          <a:p>
            <a:pPr indent="-457200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mode trunk</a:t>
            </a:r>
          </a:p>
          <a:p>
            <a:pPr indent="-457200"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trunk native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99 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SG" sz="2000" dirty="0"/>
          </a:p>
          <a:p>
            <a:pPr marL="457200" indent="-457200" algn="l">
              <a:buFont typeface="+mj-lt"/>
              <a:buAutoNum type="arabicPeriod" startAt="4"/>
            </a:pPr>
            <a:r>
              <a:rPr lang="en-SG" sz="2000" dirty="0" smtClean="0"/>
              <a:t>Configure </a:t>
            </a:r>
            <a:r>
              <a:rPr lang="en-SG" sz="2000" dirty="0"/>
              <a:t>Switch </a:t>
            </a:r>
            <a:r>
              <a:rPr lang="en-SG" sz="2000" dirty="0" smtClean="0"/>
              <a:t>S2 </a:t>
            </a:r>
            <a:r>
              <a:rPr lang="en-SG" sz="2000" dirty="0"/>
              <a:t>port Fa0/1 </a:t>
            </a:r>
            <a:r>
              <a:rPr lang="en-SG" sz="2000" dirty="0" smtClean="0"/>
              <a:t>similarly</a:t>
            </a:r>
            <a:endParaRPr lang="en-SG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692" y="46336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IEEE 802.1q Trunk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8024" y="5647038"/>
            <a:ext cx="122764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G" sz="1800" dirty="0" smtClean="0"/>
              <a:t>Trunk port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 flipV="1">
            <a:off x="7975571" y="4312693"/>
            <a:ext cx="446276" cy="122829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 flipV="1">
            <a:off x="7547212" y="5377790"/>
            <a:ext cx="874635" cy="16320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05941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3531" y="48711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Trunk Configuration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7"/>
          <a:stretch/>
        </p:blipFill>
        <p:spPr bwMode="auto">
          <a:xfrm>
            <a:off x="1569363" y="1569493"/>
            <a:ext cx="5715000" cy="506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603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3531" y="48711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Trunk Configuration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7"/>
          <a:stretch/>
        </p:blipFill>
        <p:spPr bwMode="auto">
          <a:xfrm>
            <a:off x="3060916" y="1377523"/>
            <a:ext cx="5823777" cy="5163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2735" y="1473057"/>
            <a:ext cx="2367886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Always verify trunk configuration</a:t>
            </a:r>
            <a:r>
              <a:rPr lang="en-SG" dirty="0" smtClean="0"/>
              <a:t>:</a:t>
            </a:r>
          </a:p>
          <a:p>
            <a:pPr algn="l"/>
            <a:endParaRPr lang="en-SG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SG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SG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interfaces </a:t>
            </a:r>
            <a:r>
              <a:rPr lang="en-SG" sz="1800" b="1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interface-id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endParaRPr lang="en-SG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Switch# </a:t>
            </a:r>
            <a:r>
              <a:rPr lang="en-SG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running-</a:t>
            </a:r>
            <a:r>
              <a:rPr lang="en-SG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45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2280" y="451489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 Assignment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Resetting the Trunk To Default State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"/>
          <a:stretch/>
        </p:blipFill>
        <p:spPr bwMode="auto">
          <a:xfrm>
            <a:off x="2807559" y="1310186"/>
            <a:ext cx="6215133" cy="546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2735" y="1473057"/>
            <a:ext cx="23678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SG" sz="2000" dirty="0" smtClean="0"/>
              <a:t>To remove a trunk configuration from an interface…</a:t>
            </a:r>
          </a:p>
          <a:p>
            <a:pPr algn="l"/>
            <a:endParaRPr lang="en-SG" sz="2000" dirty="0"/>
          </a:p>
          <a:p>
            <a:pPr algn="l"/>
            <a:endParaRPr lang="en-SG" sz="2000" dirty="0"/>
          </a:p>
          <a:p>
            <a:pPr algn="l"/>
            <a:r>
              <a:rPr lang="en-SG" sz="2000" dirty="0"/>
              <a:t>Always verify your configuration.</a:t>
            </a:r>
          </a:p>
          <a:p>
            <a:pPr algn="l"/>
            <a:endParaRPr lang="en-SG" sz="2000" dirty="0"/>
          </a:p>
          <a:p>
            <a:pPr algn="l"/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38351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732" y="3888850"/>
            <a:ext cx="6569393" cy="265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6697" y="47524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Dynamic Trunking Protocol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Negotiated Interface Modes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1260" y="1313440"/>
            <a:ext cx="8094911" cy="2122091"/>
          </a:xfrm>
        </p:spPr>
        <p:txBody>
          <a:bodyPr/>
          <a:lstStyle/>
          <a:p>
            <a:r>
              <a:rPr lang="en-US" sz="2000" dirty="0" smtClean="0"/>
              <a:t>Cisco Catalyst 2960 and 3560 support the following trunk modes: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 err="1"/>
              <a:t>S</a:t>
            </a:r>
            <a:r>
              <a:rPr lang="en-US" dirty="0" err="1" smtClean="0"/>
              <a:t>witchport</a:t>
            </a:r>
            <a:r>
              <a:rPr lang="en-US" dirty="0" smtClean="0"/>
              <a:t> mode dynamic auto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 err="1"/>
              <a:t>S</a:t>
            </a:r>
            <a:r>
              <a:rPr lang="en-US" dirty="0" err="1" smtClean="0"/>
              <a:t>witchport</a:t>
            </a:r>
            <a:r>
              <a:rPr lang="en-US" dirty="0" smtClean="0"/>
              <a:t> </a:t>
            </a:r>
            <a:r>
              <a:rPr lang="en-US" dirty="0"/>
              <a:t>mode dynamic </a:t>
            </a:r>
            <a:r>
              <a:rPr lang="en-US" dirty="0" smtClean="0"/>
              <a:t>desirable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 err="1"/>
              <a:t>S</a:t>
            </a:r>
            <a:r>
              <a:rPr lang="en-US" dirty="0" err="1" smtClean="0"/>
              <a:t>witchport</a:t>
            </a:r>
            <a:r>
              <a:rPr lang="en-US" dirty="0" smtClean="0"/>
              <a:t> </a:t>
            </a:r>
            <a:r>
              <a:rPr lang="en-US" dirty="0"/>
              <a:t>mode </a:t>
            </a:r>
            <a:r>
              <a:rPr lang="en-US" dirty="0" smtClean="0"/>
              <a:t>trunk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 err="1"/>
              <a:t>S</a:t>
            </a:r>
            <a:r>
              <a:rPr lang="en-US" dirty="0" err="1" smtClean="0"/>
              <a:t>witchport</a:t>
            </a:r>
            <a:r>
              <a:rPr lang="en-US" dirty="0" smtClean="0"/>
              <a:t> nonegotiate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67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72280" y="451489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>
                <a:ea typeface="ＭＳ Ｐゴシック" pitchFamily="34" charset="-128"/>
              </a:rPr>
              <a:t>VLAN Assignment</a:t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>
                <a:ea typeface="ＭＳ Ｐゴシック" pitchFamily="34" charset="-128"/>
              </a:rPr>
              <a:t>Try it…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866900"/>
            <a:ext cx="89630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72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8715" y="47524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Troubleshooting VLANs and Trunks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IP Addressing Issues with VLAN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7512" y="1401289"/>
            <a:ext cx="8142413" cy="2530764"/>
          </a:xfrm>
        </p:spPr>
        <p:txBody>
          <a:bodyPr/>
          <a:lstStyle/>
          <a:p>
            <a:r>
              <a:rPr lang="en-US" sz="2000" dirty="0" smtClean="0"/>
              <a:t>A VLAN is an IP network on its own.</a:t>
            </a:r>
          </a:p>
          <a:p>
            <a:r>
              <a:rPr lang="en-US" sz="2000" dirty="0" smtClean="0"/>
              <a:t>All devices </a:t>
            </a:r>
            <a:r>
              <a:rPr lang="en-US" sz="2000" dirty="0"/>
              <a:t>within a VLAN </a:t>
            </a:r>
            <a:r>
              <a:rPr lang="en-US" sz="2000" dirty="0" smtClean="0"/>
              <a:t>can communicate</a:t>
            </a:r>
            <a:r>
              <a:rPr lang="en-US" sz="2000" dirty="0"/>
              <a:t>.</a:t>
            </a:r>
            <a:endParaRPr lang="en-US" sz="2000" dirty="0" smtClean="0"/>
          </a:p>
          <a:p>
            <a:r>
              <a:rPr lang="en-US" sz="2000" dirty="0" smtClean="0"/>
              <a:t>The figure shows that PC1 cannot communicate to the server. What is wrong? </a:t>
            </a:r>
            <a:r>
              <a:rPr lang="en-US" sz="2000" i="1" dirty="0" smtClean="0"/>
              <a:t>(hint: see the IP address)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732" y="3138985"/>
            <a:ext cx="5707494" cy="3480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560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0252" y="49899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Troubleshooting VLANs and Trunks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Missing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518" y="1399661"/>
            <a:ext cx="7940675" cy="2484889"/>
          </a:xfrm>
        </p:spPr>
        <p:txBody>
          <a:bodyPr/>
          <a:lstStyle/>
          <a:p>
            <a:r>
              <a:rPr lang="en-US" sz="2000" dirty="0" smtClean="0"/>
              <a:t>If all the IP addresses mismatches have been solved, but the device still cannot connect, check if the VLAN exists in the switch.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"/>
          <a:stretch/>
        </p:blipFill>
        <p:spPr bwMode="auto">
          <a:xfrm>
            <a:off x="887105" y="2199714"/>
            <a:ext cx="6593134" cy="4443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35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5002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Troubleshooting VLANs and Trunks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Introduction to Troubleshooting Trunks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"/>
          <a:stretch/>
        </p:blipFill>
        <p:spPr bwMode="auto">
          <a:xfrm>
            <a:off x="446136" y="1401289"/>
            <a:ext cx="7843680" cy="490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408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0404" y="48711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Troubleshooting VLANs and Trunks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Common Problems with Trunks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4716" y="1535992"/>
            <a:ext cx="8189913" cy="4619147"/>
          </a:xfrm>
        </p:spPr>
        <p:txBody>
          <a:bodyPr/>
          <a:lstStyle/>
          <a:p>
            <a:r>
              <a:rPr lang="en-US" sz="2000" dirty="0"/>
              <a:t>Trunking issues are usually associated with incorrect configurations. </a:t>
            </a:r>
            <a:endParaRPr lang="en-US" sz="2000" dirty="0" smtClean="0"/>
          </a:p>
          <a:p>
            <a:r>
              <a:rPr lang="en-US" sz="2000" dirty="0" smtClean="0"/>
              <a:t>The most common type of trunk configuration errors are: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Native VLAN </a:t>
            </a:r>
            <a:r>
              <a:rPr lang="en-US" dirty="0" smtClean="0"/>
              <a:t>mismatches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i="1" dirty="0" smtClean="0"/>
              <a:t>native VLANs must match across a switch network</a:t>
            </a:r>
            <a:endParaRPr lang="en-US" dirty="0"/>
          </a:p>
          <a:p>
            <a:pPr marL="1254125" lvl="2" indent="-4572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Trunk mode </a:t>
            </a:r>
            <a:r>
              <a:rPr lang="en-US" dirty="0" smtClean="0"/>
              <a:t>mismatches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dirty="0" smtClean="0"/>
              <a:t>s</a:t>
            </a:r>
            <a:r>
              <a:rPr lang="en-US" i="1" dirty="0" smtClean="0"/>
              <a:t>witch port must be configured as trunk at both ends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Allowed </a:t>
            </a:r>
            <a:r>
              <a:rPr lang="en-US" dirty="0"/>
              <a:t>VLANs on </a:t>
            </a:r>
            <a:r>
              <a:rPr lang="en-US" dirty="0" smtClean="0"/>
              <a:t>trunks</a:t>
            </a:r>
          </a:p>
          <a:p>
            <a:pPr marL="1254125" lvl="2" indent="-457200">
              <a:buFont typeface="Arial" panose="020B0604020202020204" pitchFamily="34" charset="0"/>
              <a:buChar char="•"/>
            </a:pPr>
            <a:r>
              <a:rPr lang="en-US" dirty="0" smtClean="0"/>
              <a:t>was </a:t>
            </a:r>
            <a:r>
              <a:rPr lang="en-US" i="1" dirty="0" smtClean="0"/>
              <a:t>additional configuration made to allow only certain VLANs?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17142" y="481838"/>
            <a:ext cx="8145462" cy="83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</a:t>
            </a:r>
            <a:r>
              <a:rPr lang="en-US" smtClean="0">
                <a:ea typeface="ＭＳ Ｐゴシック" pitchFamily="34" charset="-128"/>
              </a:rPr>
              <a:t>4b: </a:t>
            </a:r>
            <a:r>
              <a:rPr lang="en-US" dirty="0" smtClean="0">
                <a:ea typeface="ＭＳ Ｐゴシック" pitchFamily="34" charset="-128"/>
              </a:rPr>
              <a:t>Summary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22514" y="1436914"/>
            <a:ext cx="8327799" cy="447176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This </a:t>
            </a:r>
            <a:r>
              <a:rPr lang="en-US" sz="2000" dirty="0" smtClean="0"/>
              <a:t>chapter:</a:t>
            </a:r>
          </a:p>
          <a:p>
            <a:r>
              <a:rPr lang="en-US" sz="2000" dirty="0" smtClean="0"/>
              <a:t>Introduced VLANs and their types</a:t>
            </a:r>
          </a:p>
          <a:p>
            <a:r>
              <a:rPr lang="en-US" sz="2000" dirty="0" smtClean="0"/>
              <a:t>Described the connection between VLANs and broadcast domains</a:t>
            </a:r>
          </a:p>
          <a:p>
            <a:r>
              <a:rPr lang="en-US" sz="2000" dirty="0" smtClean="0"/>
              <a:t>Discussed IEEE </a:t>
            </a:r>
            <a:r>
              <a:rPr lang="en-US" sz="2000" dirty="0"/>
              <a:t>802.1Q frame tagging </a:t>
            </a:r>
            <a:r>
              <a:rPr lang="en-US" sz="2000" dirty="0" smtClean="0"/>
              <a:t>and how it enables </a:t>
            </a:r>
            <a:r>
              <a:rPr lang="en-US" sz="2000" dirty="0"/>
              <a:t>differentiation between Ethernet frames associated with distinct VLANs as they traverse common trunk links.</a:t>
            </a:r>
          </a:p>
          <a:p>
            <a:r>
              <a:rPr lang="en-US" sz="2000" dirty="0" smtClean="0"/>
              <a:t>Examined </a:t>
            </a:r>
            <a:r>
              <a:rPr lang="en-US" sz="2000" dirty="0"/>
              <a:t>the configuration, verification, and troubleshooting of VLANs </a:t>
            </a:r>
            <a:r>
              <a:rPr lang="en-US" sz="2000"/>
              <a:t>and </a:t>
            </a:r>
            <a:r>
              <a:rPr lang="en-US" sz="2000" smtClean="0"/>
              <a:t>trunks.</a:t>
            </a:r>
            <a:endParaRPr lang="en-US" sz="2000" dirty="0"/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27741</TotalTime>
  <Pages>28</Pages>
  <Words>948</Words>
  <Application>Microsoft Office PowerPoint</Application>
  <PresentationFormat>On-screen Show (4:3)</PresentationFormat>
  <Paragraphs>289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ＭＳ Ｐゴシック</vt:lpstr>
      <vt:lpstr>Arial</vt:lpstr>
      <vt:lpstr>Courier New</vt:lpstr>
      <vt:lpstr>Wingdings</vt:lpstr>
      <vt:lpstr>PPT-TMPLT-WHT_C</vt:lpstr>
      <vt:lpstr>NetAcad-4F_PPT-WHT_060408</vt:lpstr>
      <vt:lpstr>Chapter 4b: VLANs (II)</vt:lpstr>
      <vt:lpstr>Chapter 3b</vt:lpstr>
      <vt:lpstr>Chapter 3b: Objectives</vt:lpstr>
      <vt:lpstr>3.2 VLAN Implementations</vt:lpstr>
      <vt:lpstr>VLAN Assignment VLAN Ranges on Catalyst Switches</vt:lpstr>
      <vt:lpstr>PowerPoint Presentation</vt:lpstr>
      <vt:lpstr>VLAN Assignment Creating a VLAN</vt:lpstr>
      <vt:lpstr>VLAN Assignment Assigning Ports to VLANs</vt:lpstr>
      <vt:lpstr>VLAN Assignment Verifying VLAN Information</vt:lpstr>
      <vt:lpstr>VLAN Assignment Verifying VLAN Information</vt:lpstr>
      <vt:lpstr>VLAN Assignment Verifying VLAN Information</vt:lpstr>
      <vt:lpstr>VLAN Assignment Verifying VLAN Information</vt:lpstr>
      <vt:lpstr>VLAN Assignment Changing VLAN Port Membership</vt:lpstr>
      <vt:lpstr>VLAN Assignment Deleting VLANs</vt:lpstr>
      <vt:lpstr>VLAN Assignment Configuring IEEE 802.1q Trunk Links</vt:lpstr>
      <vt:lpstr>VLAN Assignment Configuring IEEE 802.1q Trunk Links</vt:lpstr>
      <vt:lpstr>VLAN Assignment Configuring IEEE 802.1q Trunk Links</vt:lpstr>
      <vt:lpstr>VLAN Assignment Verifying Trunk Configuration</vt:lpstr>
      <vt:lpstr>VLAN Assignment Verifying Trunk Configuration</vt:lpstr>
      <vt:lpstr>VLAN Assignment Resetting the Trunk To Default State</vt:lpstr>
      <vt:lpstr>Dynamic Trunking Protocol Negotiated Interface Modes</vt:lpstr>
      <vt:lpstr>PowerPoint Presentation</vt:lpstr>
      <vt:lpstr>Troubleshooting VLANs and Trunks IP Addressing Issues with VLAN</vt:lpstr>
      <vt:lpstr>Troubleshooting VLANs and Trunks Missing VLANs</vt:lpstr>
      <vt:lpstr>Troubleshooting VLANs and Trunks Introduction to Troubleshooting Trunks</vt:lpstr>
      <vt:lpstr>Troubleshooting VLANs and Trunks Common Problems with Trunks</vt:lpstr>
      <vt:lpstr>Chapter 4b: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aclimer</dc:creator>
  <cp:lastModifiedBy>HOO BRYAN</cp:lastModifiedBy>
  <cp:revision>1359</cp:revision>
  <cp:lastPrinted>1999-01-27T00:54:54Z</cp:lastPrinted>
  <dcterms:created xsi:type="dcterms:W3CDTF">2006-10-23T15:07:30Z</dcterms:created>
  <dcterms:modified xsi:type="dcterms:W3CDTF">2018-03-22T08:58:43Z</dcterms:modified>
</cp:coreProperties>
</file>