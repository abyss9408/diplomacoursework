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33"/>
  </p:notesMasterIdLst>
  <p:handoutMasterIdLst>
    <p:handoutMasterId r:id="rId34"/>
  </p:handoutMasterIdLst>
  <p:sldIdLst>
    <p:sldId id="500" r:id="rId3"/>
    <p:sldId id="541" r:id="rId4"/>
    <p:sldId id="782" r:id="rId5"/>
    <p:sldId id="820" r:id="rId6"/>
    <p:sldId id="785" r:id="rId7"/>
    <p:sldId id="786" r:id="rId8"/>
    <p:sldId id="823" r:id="rId9"/>
    <p:sldId id="789" r:id="rId10"/>
    <p:sldId id="788" r:id="rId11"/>
    <p:sldId id="792" r:id="rId12"/>
    <p:sldId id="790" r:id="rId13"/>
    <p:sldId id="824" r:id="rId14"/>
    <p:sldId id="793" r:id="rId15"/>
    <p:sldId id="795" r:id="rId16"/>
    <p:sldId id="787" r:id="rId17"/>
    <p:sldId id="826" r:id="rId18"/>
    <p:sldId id="825" r:id="rId19"/>
    <p:sldId id="799" r:id="rId20"/>
    <p:sldId id="831" r:id="rId21"/>
    <p:sldId id="832" r:id="rId22"/>
    <p:sldId id="829" r:id="rId23"/>
    <p:sldId id="830" r:id="rId24"/>
    <p:sldId id="821" r:id="rId25"/>
    <p:sldId id="802" r:id="rId26"/>
    <p:sldId id="804" r:id="rId27"/>
    <p:sldId id="827" r:id="rId28"/>
    <p:sldId id="828" r:id="rId29"/>
    <p:sldId id="822" r:id="rId30"/>
    <p:sldId id="810" r:id="rId31"/>
    <p:sldId id="783" r:id="rId32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ttoria deloulay" initials="vd" lastIdx="9" clrIdx="0"/>
  <p:cmAuthor id="1" name="carykell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4"/>
    <a:srgbClr val="678DC5"/>
    <a:srgbClr val="3E67A4"/>
    <a:srgbClr val="3E8DC5"/>
    <a:srgbClr val="5F5F65"/>
    <a:srgbClr val="7E7E8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49" autoAdjust="0"/>
    <p:restoredTop sz="92075" autoAdjust="0"/>
  </p:normalViewPr>
  <p:slideViewPr>
    <p:cSldViewPr snapToGrid="0">
      <p:cViewPr varScale="1">
        <p:scale>
          <a:sx n="57" d="100"/>
          <a:sy n="57" d="100"/>
        </p:scale>
        <p:origin x="4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1.xml"/><Relationship Id="rId2" Type="http://schemas.openxmlformats.org/officeDocument/2006/relationships/slide" Target="slides/slide20.xml"/><Relationship Id="rId1" Type="http://schemas.openxmlformats.org/officeDocument/2006/relationships/slide" Target="slides/slide19.xml"/><Relationship Id="rId4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BCC1ECAD-6CE1-4897-9CEF-F2ECC9BEA19E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05898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FB004549-1125-4930-988B-40FFE37DB1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17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034988-36DD-4D34-B1CE-37AB851117A5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Routing &amp; Switching</a:t>
            </a:r>
          </a:p>
          <a:p>
            <a:pPr>
              <a:buFontTx/>
              <a:buNone/>
            </a:pPr>
            <a:r>
              <a:rPr lang="en-US" sz="1300" b="1" dirty="0" smtClean="0"/>
              <a:t>Chapter 5:</a:t>
            </a:r>
            <a:r>
              <a:rPr lang="en-US" sz="1400" dirty="0" smtClean="0"/>
              <a:t> </a:t>
            </a:r>
            <a:r>
              <a:rPr lang="en-US" sz="1400" b="1" dirty="0" smtClean="0"/>
              <a:t>Inter-VLAN Routing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1784299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0EE284-7961-42D5-9E4B-29540E276A78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2330910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5 Objectives</a:t>
            </a:r>
          </a:p>
        </p:txBody>
      </p:sp>
    </p:spTree>
    <p:extLst>
      <p:ext uri="{BB962C8B-B14F-4D97-AF65-F5344CB8AC3E}">
        <p14:creationId xmlns:p14="http://schemas.microsoft.com/office/powerpoint/2010/main" val="536262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>
              <a:buFontTx/>
              <a:buNone/>
            </a:pPr>
            <a:r>
              <a:rPr lang="en-US" sz="1300" b="1" dirty="0" smtClean="0"/>
              <a:t>Routing &amp; Switching</a:t>
            </a:r>
            <a:endParaRPr lang="en-US" sz="1300" b="1" baseline="0" dirty="0" smtClean="0"/>
          </a:p>
          <a:p>
            <a:pPr>
              <a:buFontTx/>
              <a:buNone/>
            </a:pPr>
            <a:r>
              <a:rPr lang="en-US" sz="1300" b="1" dirty="0" smtClean="0"/>
              <a:t>Chapter 5: Inter-</a:t>
            </a:r>
            <a:r>
              <a:rPr lang="en-US" sz="1300" b="1" dirty="0" err="1" smtClean="0"/>
              <a:t>VLAN</a:t>
            </a:r>
            <a:r>
              <a:rPr lang="en-US" sz="1300" b="1" dirty="0" smtClean="0"/>
              <a:t> Routing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541838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5.1.1.1 </a:t>
            </a:r>
            <a:r>
              <a:rPr lang="en-US" b="1" dirty="0" smtClean="0">
                <a:ea typeface="ＭＳ Ｐゴシック" pitchFamily="34" charset="-128"/>
              </a:rPr>
              <a:t>What is Inter-VLAN routing?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565190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5.1.1.2 </a:t>
            </a:r>
            <a:r>
              <a:rPr lang="en-US" b="1" dirty="0" smtClean="0">
                <a:ea typeface="ＭＳ Ｐゴシック" pitchFamily="34" charset="-128"/>
              </a:rPr>
              <a:t>Legacy Inter-VLAN Routing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493496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5.1.1.2 </a:t>
            </a:r>
            <a:r>
              <a:rPr lang="en-US" b="1" dirty="0" smtClean="0">
                <a:ea typeface="ＭＳ Ｐゴシック" pitchFamily="34" charset="-128"/>
              </a:rPr>
              <a:t>Legacy Inter-VLAN Routing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441698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5.1.2.1 </a:t>
            </a:r>
            <a:r>
              <a:rPr lang="en-US" sz="1200" b="1" dirty="0" smtClean="0">
                <a:ea typeface="ＭＳ Ｐゴシック" pitchFamily="34" charset="-128"/>
              </a:rPr>
              <a:t>Configure Legacy Inter-VLAN Routing:</a:t>
            </a:r>
            <a:r>
              <a:rPr lang="en-US" sz="1200" b="1" baseline="0" dirty="0" smtClean="0">
                <a:ea typeface="ＭＳ Ｐゴシック" pitchFamily="34" charset="-128"/>
              </a:rPr>
              <a:t> Preparation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724959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5.1.1.4 </a:t>
            </a:r>
            <a:r>
              <a:rPr lang="en-US" b="1" dirty="0" smtClean="0">
                <a:ea typeface="ＭＳ Ｐゴシック" pitchFamily="34" charset="-128"/>
              </a:rPr>
              <a:t>Multilayer Switch Inter-VLAN Routing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405010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5.1.2.1 </a:t>
            </a:r>
            <a:r>
              <a:rPr lang="en-US" sz="1200" b="1" dirty="0" smtClean="0">
                <a:ea typeface="ＭＳ Ｐゴシック" pitchFamily="34" charset="-128"/>
              </a:rPr>
              <a:t>Configure Legacy Inter-VLAN Routing:</a:t>
            </a:r>
            <a:r>
              <a:rPr lang="en-US" sz="1200" b="1" baseline="0" dirty="0" smtClean="0">
                <a:ea typeface="ＭＳ Ｐゴシック" pitchFamily="34" charset="-128"/>
              </a:rPr>
              <a:t> Preparation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138890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5.1.2.2 </a:t>
            </a:r>
            <a:r>
              <a:rPr lang="en-US" sz="1200" b="1" dirty="0" smtClean="0">
                <a:ea typeface="ＭＳ Ｐゴシック" pitchFamily="34" charset="-128"/>
              </a:rPr>
              <a:t>Configure Legacy Inter-VLAN Routing: Switch Configuration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620894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5.1.2.2 </a:t>
            </a:r>
            <a:r>
              <a:rPr lang="en-US" sz="1200" b="1" dirty="0" smtClean="0">
                <a:ea typeface="ＭＳ Ｐゴシック" pitchFamily="34" charset="-128"/>
              </a:rPr>
              <a:t>Configure Legacy Inter-VLAN Routing: Switch Configuration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008027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6.1.3.1 </a:t>
            </a:r>
            <a:r>
              <a:rPr lang="en-US" sz="1200" b="1" dirty="0" smtClean="0">
                <a:ea typeface="ＭＳ Ｐゴシック" pitchFamily="34" charset="-128"/>
              </a:rPr>
              <a:t>Configure Router-On-A-Stick:</a:t>
            </a:r>
            <a:r>
              <a:rPr lang="en-US" sz="1200" b="1" baseline="0" dirty="0" smtClean="0">
                <a:ea typeface="ＭＳ Ｐゴシック" pitchFamily="34" charset="-128"/>
              </a:rPr>
              <a:t> Preparation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148592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6.1.3.2 </a:t>
            </a:r>
            <a:r>
              <a:rPr lang="en-US" sz="1200" b="1" dirty="0" smtClean="0">
                <a:ea typeface="ＭＳ Ｐゴシック" pitchFamily="34" charset="-128"/>
              </a:rPr>
              <a:t>Configure Router-on-a-Stick: Switch Configuration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205669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5.1.1.3 </a:t>
            </a:r>
            <a:r>
              <a:rPr lang="en-US" b="1" dirty="0" smtClean="0">
                <a:ea typeface="ＭＳ Ｐゴシック" pitchFamily="34" charset="-128"/>
              </a:rPr>
              <a:t>Router-on-a-Stick Inter-VLAN Routing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714285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6.1.3.2 </a:t>
            </a:r>
            <a:r>
              <a:rPr lang="en-US" sz="1200" b="1" dirty="0" smtClean="0">
                <a:ea typeface="ＭＳ Ｐゴシック" pitchFamily="34" charset="-128"/>
              </a:rPr>
              <a:t>Configure Router-on-a-Stick: Switch Configuration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034820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6.1.3.2 </a:t>
            </a:r>
            <a:r>
              <a:rPr lang="en-US" sz="1200" b="1" dirty="0" smtClean="0">
                <a:ea typeface="ＭＳ Ｐゴシック" pitchFamily="34" charset="-128"/>
              </a:rPr>
              <a:t>Configure Router-on-a-Stick: Switch Configuration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9642084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6.1.3.4 </a:t>
            </a:r>
            <a:r>
              <a:rPr lang="en-US" sz="1200" b="1" dirty="0" smtClean="0">
                <a:ea typeface="ＭＳ Ｐゴシック" pitchFamily="34" charset="-128"/>
              </a:rPr>
              <a:t>Configure Router-on-a-Stick: </a:t>
            </a:r>
            <a:r>
              <a:rPr lang="en-US" b="1" dirty="0" smtClean="0">
                <a:ea typeface="ＭＳ Ｐゴシック" pitchFamily="34" charset="-128"/>
              </a:rPr>
              <a:t>Verifying Subinterfaces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508512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6.3.3.4 - Configure Router-on-a Stick: Verifying </a:t>
            </a:r>
            <a:r>
              <a:rPr lang="en-US" dirty="0" err="1">
                <a:latin typeface="Arial" charset="0"/>
              </a:rPr>
              <a:t>Subinterfaces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84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20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6.3.2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6.3.3.4 - Configure Router-on-a Stick: Verifying </a:t>
            </a:r>
            <a:r>
              <a:rPr lang="en-US" dirty="0" err="1">
                <a:latin typeface="Arial" charset="0"/>
              </a:rPr>
              <a:t>Subinterfaces</a:t>
            </a:r>
            <a:r>
              <a:rPr lang="en-US" dirty="0">
                <a:latin typeface="Arial" charset="0"/>
              </a:rPr>
              <a:t> (cont.)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403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21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6.3.1 – Inter-VLAN Routing</a:t>
            </a:r>
            <a:r>
              <a:rPr lang="en-US" baseline="0" dirty="0">
                <a:latin typeface="Arial" charset="0"/>
              </a:rPr>
              <a:t> Operation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6.3.1.4 -</a:t>
            </a:r>
            <a:r>
              <a:rPr lang="en-US" baseline="0" dirty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Identify the Types of Inter-VLAN Routing</a:t>
            </a:r>
            <a:r>
              <a:rPr lang="en-US" baseline="0" dirty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05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22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6.3.1 – Inter-VLAN Routing</a:t>
            </a:r>
            <a:r>
              <a:rPr lang="en-US" baseline="0" dirty="0">
                <a:latin typeface="Arial" charset="0"/>
              </a:rPr>
              <a:t> Operation</a:t>
            </a:r>
            <a:endParaRPr lang="en-U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6.3.1.4 -</a:t>
            </a:r>
            <a:r>
              <a:rPr lang="en-US" baseline="0" dirty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Identify the Types of Inter-VLAN Routing</a:t>
            </a:r>
            <a:r>
              <a:rPr lang="en-US" baseline="0" dirty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Activity (cont.)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5378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23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>
              <a:buFontTx/>
              <a:buNone/>
            </a:pPr>
            <a:r>
              <a:rPr lang="en-US" sz="1300" b="1" dirty="0" smtClean="0"/>
              <a:t>Routing &amp; Switching</a:t>
            </a:r>
            <a:endParaRPr lang="en-US" sz="1300" b="1" baseline="0" dirty="0" smtClean="0"/>
          </a:p>
          <a:p>
            <a:pPr>
              <a:buFontTx/>
              <a:buNone/>
            </a:pPr>
            <a:r>
              <a:rPr lang="en-US" sz="1300" b="1" dirty="0" smtClean="0"/>
              <a:t>Chapter 5: Inter-</a:t>
            </a:r>
            <a:r>
              <a:rPr lang="en-US" sz="1300" b="1" dirty="0" err="1" smtClean="0"/>
              <a:t>VLAN</a:t>
            </a:r>
            <a:r>
              <a:rPr lang="en-US" sz="1300" b="1" dirty="0" smtClean="0"/>
              <a:t> Routing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19946598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6.2.1.1 </a:t>
            </a:r>
            <a:r>
              <a:rPr lang="en-US" b="1" dirty="0" smtClean="0">
                <a:ea typeface="ＭＳ Ｐゴシック" pitchFamily="34" charset="-128"/>
              </a:rPr>
              <a:t>Switch Port Issues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950338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>
                <a:ea typeface="ＭＳ Ｐゴシック" pitchFamily="34" charset="-128"/>
              </a:rPr>
              <a:t>6.2.1.4 Verify Router Configuration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8993271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6.2.2.1 </a:t>
            </a:r>
            <a:r>
              <a:rPr lang="en-US" b="1" dirty="0" smtClean="0">
                <a:ea typeface="ＭＳ Ｐゴシック" pitchFamily="34" charset="-128"/>
              </a:rPr>
              <a:t>Errors with IP Address and Subnet Masks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4494325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6.2.2.1 </a:t>
            </a:r>
            <a:r>
              <a:rPr lang="en-US" b="1" dirty="0" smtClean="0">
                <a:ea typeface="ＭＳ Ｐゴシック" pitchFamily="34" charset="-128"/>
              </a:rPr>
              <a:t>Errors with IP Address and Subnet Masks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6503010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28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>
              <a:buFontTx/>
              <a:buNone/>
            </a:pPr>
            <a:r>
              <a:rPr lang="en-US" sz="1300" b="1" dirty="0" smtClean="0"/>
              <a:t>Routing &amp; Switching</a:t>
            </a:r>
            <a:endParaRPr lang="en-US" sz="1300" b="1" baseline="0" dirty="0" smtClean="0"/>
          </a:p>
          <a:p>
            <a:pPr>
              <a:buFontTx/>
              <a:buNone/>
            </a:pPr>
            <a:r>
              <a:rPr lang="en-US" sz="1300" b="1" dirty="0" smtClean="0"/>
              <a:t>Chapter 5: Inter-</a:t>
            </a:r>
            <a:r>
              <a:rPr lang="en-US" sz="1300" b="1" dirty="0" err="1" smtClean="0"/>
              <a:t>VLAN</a:t>
            </a:r>
            <a:r>
              <a:rPr lang="en-US" sz="1300" b="1" dirty="0" smtClean="0"/>
              <a:t> Routing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31531622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5.3.1.2 </a:t>
            </a:r>
            <a:r>
              <a:rPr lang="en-US" b="1" dirty="0" smtClean="0">
                <a:ea typeface="ＭＳ Ｐゴシック" pitchFamily="34" charset="-128"/>
              </a:rPr>
              <a:t>Inter-VLAN Routing with Switch</a:t>
            </a:r>
            <a:r>
              <a:rPr lang="en-US" b="1" baseline="0" dirty="0" smtClean="0">
                <a:ea typeface="ＭＳ Ｐゴシック" pitchFamily="34" charset="-128"/>
              </a:rPr>
              <a:t> Virtual Interfaces</a:t>
            </a:r>
          </a:p>
        </p:txBody>
      </p:sp>
    </p:spTree>
    <p:extLst>
      <p:ext uri="{BB962C8B-B14F-4D97-AF65-F5344CB8AC3E}">
        <p14:creationId xmlns:p14="http://schemas.microsoft.com/office/powerpoint/2010/main" val="4864733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F77EF-9F5D-4805-BD17-79024BE7C85C}" type="slidenum">
              <a:rPr lang="en-US" smtClean="0"/>
              <a:pPr/>
              <a:t>30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5 Summary</a:t>
            </a:r>
          </a:p>
        </p:txBody>
      </p:sp>
    </p:spTree>
    <p:extLst>
      <p:ext uri="{BB962C8B-B14F-4D97-AF65-F5344CB8AC3E}">
        <p14:creationId xmlns:p14="http://schemas.microsoft.com/office/powerpoint/2010/main" val="395699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C31C4615-7F19-455B-A5C4-EA1B3B194C81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ACFA795C-7F0A-48D8-9FC3-F2BA5F8EB736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58EC189E-ADD4-420E-B89E-1E32C54438D7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34" r:id="rId2"/>
    <p:sldLayoutId id="2147484435" r:id="rId3"/>
    <p:sldLayoutId id="2147484436" r:id="rId4"/>
    <p:sldLayoutId id="2147484437" r:id="rId5"/>
    <p:sldLayoutId id="2147484438" r:id="rId6"/>
    <p:sldLayoutId id="2147484439" r:id="rId7"/>
    <p:sldLayoutId id="2147484440" r:id="rId8"/>
    <p:sldLayoutId id="2147484441" r:id="rId9"/>
    <p:sldLayoutId id="2147484442" r:id="rId10"/>
    <p:sldLayoutId id="2147484443" r:id="rId11"/>
    <p:sldLayoutId id="21474844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C5E045-6C48-46C0-92AE-30A8710B0BBD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dirty="0" smtClean="0"/>
              <a:t>Chapter 5: Inter-VLAN Routing</a:t>
            </a:r>
            <a:endParaRPr lang="en-US" sz="2800" dirty="0" smtClean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Routing &amp; Switching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3324" y="479199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5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29998" y="1500188"/>
            <a:ext cx="8131175" cy="4437062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5.1  Inter-VLAN Routing Configuration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5.2 Troubleshooting Inter-VLAN Routing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5.3 Layer 3 Switching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5.4 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6238" y="479199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5: Objectives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35430" y="1465943"/>
            <a:ext cx="8400370" cy="4529817"/>
          </a:xfrm>
        </p:spPr>
        <p:txBody>
          <a:bodyPr/>
          <a:lstStyle/>
          <a:p>
            <a:r>
              <a:rPr lang="en-US" sz="2000" dirty="0" smtClean="0"/>
              <a:t>Describe the three primary options for enabling inter-VLAN routing.</a:t>
            </a:r>
          </a:p>
          <a:p>
            <a:r>
              <a:rPr lang="en-US" sz="2000" dirty="0" smtClean="0"/>
              <a:t>Configure legacy inter-VLAN routing.</a:t>
            </a:r>
          </a:p>
          <a:p>
            <a:r>
              <a:rPr lang="en-US" sz="2000" dirty="0" smtClean="0"/>
              <a:t>Configure router-on-a-stick inter-VLAN routing.</a:t>
            </a:r>
          </a:p>
          <a:p>
            <a:r>
              <a:rPr lang="en-US" sz="2000" dirty="0" smtClean="0"/>
              <a:t>Troubleshoot common inter-VLAN configuration issues.</a:t>
            </a:r>
          </a:p>
          <a:p>
            <a:r>
              <a:rPr lang="en-US" sz="2000" dirty="0" smtClean="0"/>
              <a:t>Troubleshoot common IP addressing issues in an inter-VLAN-routed environment.</a:t>
            </a:r>
          </a:p>
          <a:p>
            <a:r>
              <a:rPr lang="en-US" sz="2000" dirty="0" smtClean="0"/>
              <a:t>Explain advantages of Layer 3 switching.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 smtClean="0"/>
              <a:t>5.1 </a:t>
            </a:r>
            <a:r>
              <a:rPr lang="en-US" sz="2400" dirty="0"/>
              <a:t>Inter-VLAN Routing Configuration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73624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5266" y="479198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Inter-VLAN Routing Operation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What is Inter-VLAN routing?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4385" y="1463006"/>
            <a:ext cx="7940675" cy="3571875"/>
          </a:xfrm>
        </p:spPr>
        <p:txBody>
          <a:bodyPr/>
          <a:lstStyle/>
          <a:p>
            <a:r>
              <a:rPr lang="en-US" sz="1800" dirty="0" smtClean="0"/>
              <a:t>Layer 2 switches cannot forward traffic between VLANs (different subnets).</a:t>
            </a:r>
          </a:p>
          <a:p>
            <a:r>
              <a:rPr lang="en-US" sz="1800" dirty="0" smtClean="0"/>
              <a:t>To route traffic between different VLANs, a router is required.</a:t>
            </a:r>
          </a:p>
          <a:p>
            <a:r>
              <a:rPr lang="en-US" sz="1800" dirty="0" smtClean="0"/>
              <a:t>Inter-VLAN routing is the </a:t>
            </a:r>
            <a:r>
              <a:rPr lang="en-US" sz="1800" u="sng" dirty="0" smtClean="0"/>
              <a:t>process to forward network traffic from one VLAN to another, using a router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544" y="3201119"/>
            <a:ext cx="5447355" cy="34478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67657" y="4397829"/>
            <a:ext cx="245291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800" i="1" dirty="0" smtClean="0"/>
              <a:t>Question:</a:t>
            </a:r>
          </a:p>
          <a:p>
            <a:pPr algn="l"/>
            <a:r>
              <a:rPr lang="en-SG" sz="1800" i="1" dirty="0" smtClean="0"/>
              <a:t>Where is the default gateway for</a:t>
            </a:r>
          </a:p>
          <a:p>
            <a:pPr marL="342900" indent="-342900" algn="l">
              <a:buAutoNum type="arabicPeriod"/>
            </a:pPr>
            <a:r>
              <a:rPr lang="en-SG" sz="1800" i="1" dirty="0" smtClean="0"/>
              <a:t>PC1?</a:t>
            </a:r>
          </a:p>
          <a:p>
            <a:pPr marL="342900" indent="-342900" algn="l">
              <a:buAutoNum type="arabicPeriod"/>
            </a:pPr>
            <a:r>
              <a:rPr lang="en-SG" sz="1800" i="1" dirty="0" smtClean="0"/>
              <a:t>PC3?</a:t>
            </a:r>
            <a:endParaRPr lang="en-SG" sz="18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5266" y="508227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Inter-VLAN Routing Operation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Inter-VLAN Routing Options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70" t="30815" r="14858" b="20000"/>
          <a:stretch/>
        </p:blipFill>
        <p:spPr bwMode="auto">
          <a:xfrm>
            <a:off x="507996" y="1378857"/>
            <a:ext cx="3873742" cy="26416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24" t="34042" r="15429" b="20244"/>
          <a:stretch/>
        </p:blipFill>
        <p:spPr bwMode="auto">
          <a:xfrm>
            <a:off x="4611352" y="1378857"/>
            <a:ext cx="4216777" cy="26416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90" t="38444" r="14761" b="22614"/>
          <a:stretch/>
        </p:blipFill>
        <p:spPr bwMode="auto">
          <a:xfrm>
            <a:off x="4040283" y="4175220"/>
            <a:ext cx="4804228" cy="25637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0935" y="1407891"/>
            <a:ext cx="56137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smtClean="0"/>
              <a:t>(1)</a:t>
            </a:r>
            <a:endParaRPr lang="en-SG" dirty="0"/>
          </a:p>
        </p:txBody>
      </p:sp>
      <p:sp>
        <p:nvSpPr>
          <p:cNvPr id="9" name="TextBox 8"/>
          <p:cNvSpPr txBox="1"/>
          <p:nvPr/>
        </p:nvSpPr>
        <p:spPr>
          <a:xfrm>
            <a:off x="4611352" y="1378857"/>
            <a:ext cx="56137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smtClean="0"/>
              <a:t>(2)</a:t>
            </a:r>
            <a:endParaRPr lang="en-SG" dirty="0"/>
          </a:p>
        </p:txBody>
      </p:sp>
      <p:sp>
        <p:nvSpPr>
          <p:cNvPr id="10" name="TextBox 9"/>
          <p:cNvSpPr txBox="1"/>
          <p:nvPr/>
        </p:nvSpPr>
        <p:spPr>
          <a:xfrm>
            <a:off x="4035961" y="5244724"/>
            <a:ext cx="56137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smtClean="0"/>
              <a:t>(3)</a:t>
            </a:r>
            <a:endParaRPr lang="en-SG" dirty="0"/>
          </a:p>
        </p:txBody>
      </p:sp>
      <p:sp>
        <p:nvSpPr>
          <p:cNvPr id="11" name="TextBox 10"/>
          <p:cNvSpPr txBox="1"/>
          <p:nvPr/>
        </p:nvSpPr>
        <p:spPr>
          <a:xfrm>
            <a:off x="188685" y="4175219"/>
            <a:ext cx="3653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AutoNum type="arabicParenBoth"/>
            </a:pPr>
            <a:r>
              <a:rPr lang="en-SG" u="sng" dirty="0" smtClean="0"/>
              <a:t>Legacy</a:t>
            </a:r>
            <a:endParaRPr lang="en-SG" dirty="0" smtClean="0"/>
          </a:p>
          <a:p>
            <a:pPr marL="457200" indent="-457200" algn="l">
              <a:buAutoNum type="arabicParenBoth"/>
            </a:pPr>
            <a:endParaRPr lang="en-SG" dirty="0" smtClean="0"/>
          </a:p>
          <a:p>
            <a:pPr marL="457200" indent="-457200" algn="l">
              <a:buAutoNum type="arabicParenBoth"/>
            </a:pPr>
            <a:r>
              <a:rPr lang="en-SG" u="sng" dirty="0" smtClean="0"/>
              <a:t>Router-on-a-Stick</a:t>
            </a:r>
            <a:endParaRPr lang="en-SG" dirty="0" smtClean="0"/>
          </a:p>
          <a:p>
            <a:pPr marL="457200" indent="-457200" algn="l">
              <a:buAutoNum type="arabicParenBoth"/>
            </a:pPr>
            <a:endParaRPr lang="en-SG" dirty="0" smtClean="0"/>
          </a:p>
          <a:p>
            <a:pPr marL="457200" indent="-457200" algn="l">
              <a:buAutoNum type="arabicParenBoth"/>
            </a:pPr>
            <a:r>
              <a:rPr lang="en-SG" u="sng" dirty="0" smtClean="0"/>
              <a:t>Multilayer switch</a:t>
            </a:r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157412" y="6364599"/>
            <a:ext cx="1928733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i="1" dirty="0" smtClean="0"/>
              <a:t>See </a:t>
            </a:r>
            <a:r>
              <a:rPr lang="en-SG" sz="1800" i="1" dirty="0" err="1" smtClean="0"/>
              <a:t>NetAcad</a:t>
            </a:r>
            <a:r>
              <a:rPr lang="en-SG" sz="1800" i="1" dirty="0" smtClean="0"/>
              <a:t> 5.1</a:t>
            </a:r>
            <a:endParaRPr lang="en-SG" sz="1800" i="1" dirty="0"/>
          </a:p>
        </p:txBody>
      </p:sp>
    </p:spTree>
    <p:extLst>
      <p:ext uri="{BB962C8B-B14F-4D97-AF65-F5344CB8AC3E}">
        <p14:creationId xmlns:p14="http://schemas.microsoft.com/office/powerpoint/2010/main" val="292045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5266" y="508227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Inter-VLAN Routing Operation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Legacy Inter-VLAN Routing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9314" y="1930400"/>
            <a:ext cx="8636000" cy="4557486"/>
          </a:xfrm>
        </p:spPr>
        <p:txBody>
          <a:bodyPr/>
          <a:lstStyle/>
          <a:p>
            <a:r>
              <a:rPr lang="en-US" dirty="0" smtClean="0"/>
              <a:t>Previously, routers with many multiple interfaces were used to route traffic between VLANs.</a:t>
            </a:r>
          </a:p>
          <a:p>
            <a:r>
              <a:rPr lang="en-US" dirty="0" smtClean="0"/>
              <a:t>Each VLAN connects to a different </a:t>
            </a:r>
            <a:r>
              <a:rPr lang="en-US" dirty="0"/>
              <a:t>router physical interface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Packets arriving at the router through one interface for that VLAN, is routed and leave through another interface for the other VLAN.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i="1" u="sng" dirty="0" smtClean="0"/>
              <a:t>Question</a:t>
            </a:r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Large networks with many VLANs. Is this method feasible??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4566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781" y="508227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Configure Legacy Inter-VLAN Routing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Legacy Inter-VLAN Routing </a:t>
            </a:r>
            <a:r>
              <a:rPr lang="en-US" dirty="0" err="1" smtClean="0">
                <a:ea typeface="ＭＳ Ｐゴシック" pitchFamily="34" charset="-128"/>
              </a:rPr>
              <a:t>Config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7928" y="1521063"/>
            <a:ext cx="7940675" cy="502488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Legacy inter-VLAN routing requires routers to have multiple physical </a:t>
            </a:r>
            <a:r>
              <a:rPr lang="en-US" dirty="0" smtClean="0"/>
              <a:t>interfaces.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Each one of the router’s physical </a:t>
            </a:r>
            <a:r>
              <a:rPr lang="en-US" dirty="0"/>
              <a:t>interfaces </a:t>
            </a:r>
            <a:r>
              <a:rPr lang="en-US" dirty="0" smtClean="0"/>
              <a:t>is connected </a:t>
            </a:r>
            <a:r>
              <a:rPr lang="en-US" dirty="0"/>
              <a:t>to a unique </a:t>
            </a:r>
            <a:r>
              <a:rPr lang="en-US" dirty="0" smtClean="0"/>
              <a:t>VLAN.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/>
              <a:t>Each interface is also configured with an IP address for the subnet associated with the particular </a:t>
            </a:r>
            <a:r>
              <a:rPr lang="en-US" u="sng" dirty="0" smtClean="0"/>
              <a:t>VLAN.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 smtClean="0"/>
              <a:t>The switch port is configured as an ACCESS port for that VLAN.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End devices use </a:t>
            </a:r>
            <a:r>
              <a:rPr lang="en-US" dirty="0"/>
              <a:t>the router </a:t>
            </a:r>
            <a:r>
              <a:rPr lang="en-US" dirty="0" smtClean="0"/>
              <a:t>interface IP address for that VLAN as the Default Gateway.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4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781" y="46468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Inter-VLAN Routing Operation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Multilayer Switch Inter-VLAN Routing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2442" y="1506548"/>
            <a:ext cx="8314187" cy="5024880"/>
          </a:xfrm>
        </p:spPr>
        <p:txBody>
          <a:bodyPr/>
          <a:lstStyle/>
          <a:p>
            <a:r>
              <a:rPr lang="en-US" dirty="0" smtClean="0"/>
              <a:t>Switches are typically Layer 2 network devices, thus supporting only Layer 2 functions.</a:t>
            </a:r>
          </a:p>
          <a:p>
            <a:r>
              <a:rPr lang="en-US" u="sng" dirty="0" smtClean="0"/>
              <a:t>Multilayer</a:t>
            </a:r>
            <a:r>
              <a:rPr lang="en-US" dirty="0" smtClean="0"/>
              <a:t> </a:t>
            </a:r>
            <a:r>
              <a:rPr lang="en-US" dirty="0"/>
              <a:t>switches </a:t>
            </a:r>
            <a:r>
              <a:rPr lang="en-US" dirty="0" smtClean="0"/>
              <a:t>support both Layer </a:t>
            </a:r>
            <a:r>
              <a:rPr lang="en-US" dirty="0"/>
              <a:t>2 and Layer 3 </a:t>
            </a:r>
            <a:r>
              <a:rPr lang="en-US" dirty="0" smtClean="0"/>
              <a:t>functions, replacing the need for dedicated routers.</a:t>
            </a:r>
          </a:p>
          <a:p>
            <a:r>
              <a:rPr lang="en-US" dirty="0" smtClean="0"/>
              <a:t>A multilayer switch </a:t>
            </a:r>
            <a:r>
              <a:rPr lang="en-US" dirty="0"/>
              <a:t>understands network-layer PDUs; </a:t>
            </a:r>
            <a:r>
              <a:rPr lang="en-US" dirty="0" smtClean="0"/>
              <a:t>acting like a </a:t>
            </a:r>
            <a:r>
              <a:rPr lang="en-US" dirty="0"/>
              <a:t>router </a:t>
            </a:r>
            <a:r>
              <a:rPr lang="en-US" dirty="0" smtClean="0"/>
              <a:t>routing packets </a:t>
            </a:r>
            <a:r>
              <a:rPr lang="en-US" dirty="0"/>
              <a:t>between its interfaces.</a:t>
            </a:r>
          </a:p>
          <a:p>
            <a:r>
              <a:rPr lang="en-US" dirty="0" smtClean="0"/>
              <a:t>Thus multilayer </a:t>
            </a:r>
            <a:r>
              <a:rPr lang="en-US" dirty="0"/>
              <a:t>switches </a:t>
            </a:r>
            <a:r>
              <a:rPr lang="en-US" dirty="0" smtClean="0"/>
              <a:t>also support </a:t>
            </a:r>
            <a:r>
              <a:rPr lang="en-US" dirty="0"/>
              <a:t>dynamic routing and inter-VLAN </a:t>
            </a:r>
            <a:r>
              <a:rPr lang="en-US" dirty="0" smtClean="0"/>
              <a:t>routing.</a:t>
            </a:r>
          </a:p>
          <a:p>
            <a:r>
              <a:rPr lang="en-US" dirty="0" smtClean="0"/>
              <a:t>A multilayer switch </a:t>
            </a:r>
            <a:r>
              <a:rPr lang="en-US" u="sng" dirty="0" smtClean="0"/>
              <a:t>routes traffic at hardware speed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This routing process is a suitable and scalable solution. 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59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18607" y="4211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Configure Legacy Inter-VLAN Routing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Legacy Inter-VLAN Routing </a:t>
            </a:r>
            <a:r>
              <a:rPr lang="en-US" dirty="0" err="1">
                <a:ea typeface="ＭＳ Ｐゴシック" pitchFamily="34" charset="-128"/>
              </a:rPr>
              <a:t>Config</a:t>
            </a:r>
            <a:endParaRPr lang="en-US" dirty="0" smtClean="0">
              <a:ea typeface="ＭＳ Ｐゴシック" pitchFamily="34" charset="-128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07" y="1425085"/>
            <a:ext cx="8506787" cy="49367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58441" y="2284089"/>
            <a:ext cx="298992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SG" sz="2000" dirty="0" smtClean="0"/>
              <a:t>Access port for VLAN 10</a:t>
            </a:r>
            <a:endParaRPr lang="en-SG" sz="2000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3151235" y="2607223"/>
            <a:ext cx="912765" cy="4407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470736" y="2220685"/>
            <a:ext cx="2989921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SG" sz="2000" dirty="0" smtClean="0"/>
              <a:t>Access port for VLAN 30</a:t>
            </a:r>
            <a:endParaRPr lang="en-SG" sz="2000" dirty="0"/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>
            <a:off x="4934857" y="2607222"/>
            <a:ext cx="938625" cy="4407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13542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61724" y="435656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Configure Legacy Inter-VLAN Routing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Switch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492" y="3802742"/>
            <a:ext cx="6186309" cy="31470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10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config-vlan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</a:p>
          <a:p>
            <a:pPr algn="l"/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config-vlan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range fa0/4,fa0/11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mode access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access 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10</a:t>
            </a:r>
          </a:p>
          <a:p>
            <a:pPr algn="l"/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range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fa0/5,fa0/6</a:t>
            </a: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mode access</a:t>
            </a: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access 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pPr algn="l"/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321" y="1265428"/>
            <a:ext cx="4862993" cy="28221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75771" y="1378859"/>
            <a:ext cx="36285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u="sng" dirty="0" smtClean="0"/>
              <a:t>STEP 1: Configure the Switch</a:t>
            </a:r>
          </a:p>
          <a:p>
            <a:pPr algn="l"/>
            <a:endParaRPr lang="en-SG" sz="2000" dirty="0" smtClean="0"/>
          </a:p>
          <a:p>
            <a:pPr marL="457200" indent="-457200" algn="l">
              <a:buFont typeface="+mj-lt"/>
              <a:buAutoNum type="alphaLcParenR"/>
            </a:pPr>
            <a:r>
              <a:rPr lang="en-SG" sz="2000" dirty="0" smtClean="0"/>
              <a:t>Create the VLANs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SG" sz="2000" dirty="0" smtClean="0"/>
              <a:t>Configure the ports as </a:t>
            </a:r>
            <a:r>
              <a:rPr lang="en-SG" sz="2000" u="sng" dirty="0" smtClean="0"/>
              <a:t>ACCESS</a:t>
            </a:r>
            <a:r>
              <a:rPr lang="en-SG" sz="2000" dirty="0" smtClean="0"/>
              <a:t> ports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SG" sz="2000" dirty="0" smtClean="0"/>
              <a:t>Configure the ports for that VLAN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0864" y="4426856"/>
            <a:ext cx="2204450" cy="14219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SG" i="1" u="sng" dirty="0" smtClean="0"/>
              <a:t>Question</a:t>
            </a:r>
            <a:endParaRPr lang="en-SG" i="1" dirty="0" smtClean="0"/>
          </a:p>
          <a:p>
            <a:pPr algn="l"/>
            <a:r>
              <a:rPr lang="en-SG" i="1" dirty="0" smtClean="0"/>
              <a:t>How to check your configuration?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255972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61724" y="435656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Configure Legacy Inter-VLAN Routing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Router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771" y="4296227"/>
            <a:ext cx="7263527" cy="23160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g0/0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add 172.17.10.1 255.255.255.0</a:t>
            </a: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-if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)#no shutdown</a:t>
            </a:r>
          </a:p>
          <a:p>
            <a:pPr algn="l"/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g0/1</a:t>
            </a: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add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172.17.30.1 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-if)#no shutdown</a:t>
            </a:r>
          </a:p>
          <a:p>
            <a:pPr algn="l"/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321" y="1265428"/>
            <a:ext cx="4862993" cy="28221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75771" y="1378859"/>
            <a:ext cx="36285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u="sng" dirty="0" smtClean="0"/>
              <a:t>STEP 2: Configure the Router</a:t>
            </a:r>
          </a:p>
          <a:p>
            <a:pPr algn="l"/>
            <a:endParaRPr lang="en-SG" sz="2000" dirty="0" smtClean="0"/>
          </a:p>
          <a:p>
            <a:pPr algn="l"/>
            <a:r>
              <a:rPr lang="en-SG" sz="2000" dirty="0" smtClean="0"/>
              <a:t>Configure the router interfaces with the default gateway IP address for that VLAN</a:t>
            </a:r>
          </a:p>
        </p:txBody>
      </p:sp>
    </p:spTree>
    <p:extLst>
      <p:ext uri="{BB962C8B-B14F-4D97-AF65-F5344CB8AC3E}">
        <p14:creationId xmlns:p14="http://schemas.microsoft.com/office/powerpoint/2010/main" val="10002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0752" y="43565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Configure Router-on-a-Stick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err="1" smtClean="0">
                <a:ea typeface="ＭＳ Ｐゴシック" pitchFamily="34" charset="-128"/>
              </a:rPr>
              <a:t>Router-on-a-Stick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Config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36914"/>
            <a:ext cx="8418286" cy="505097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Router-on-a-Stick uses </a:t>
            </a:r>
            <a:r>
              <a:rPr lang="en-US" u="sng" dirty="0"/>
              <a:t>VLAN trunking</a:t>
            </a:r>
            <a:r>
              <a:rPr lang="en-US" dirty="0"/>
              <a:t> and </a:t>
            </a:r>
            <a:r>
              <a:rPr lang="en-US" u="sng" dirty="0" smtClean="0"/>
              <a:t>subinterfaces</a:t>
            </a:r>
            <a:r>
              <a:rPr lang="en-US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VLAN trunking allows 1 router physical interface to route traffic for </a:t>
            </a:r>
            <a:r>
              <a:rPr lang="en-US" dirty="0" smtClean="0"/>
              <a:t>many VLANs.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The router physical </a:t>
            </a:r>
            <a:r>
              <a:rPr lang="en-US" dirty="0"/>
              <a:t>interface </a:t>
            </a:r>
            <a:r>
              <a:rPr lang="en-US" dirty="0" smtClean="0"/>
              <a:t>must </a:t>
            </a:r>
            <a:r>
              <a:rPr lang="en-US" dirty="0"/>
              <a:t>be connected to a </a:t>
            </a:r>
            <a:r>
              <a:rPr lang="en-US" u="sng" dirty="0"/>
              <a:t>trunk link on the adjacent </a:t>
            </a:r>
            <a:r>
              <a:rPr lang="en-US" u="sng" dirty="0" smtClean="0"/>
              <a:t>switch</a:t>
            </a:r>
            <a:r>
              <a:rPr lang="en-US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On the router, </a:t>
            </a:r>
            <a:r>
              <a:rPr lang="en-US" dirty="0" err="1"/>
              <a:t>subinterfaces</a:t>
            </a:r>
            <a:r>
              <a:rPr lang="en-US" dirty="0"/>
              <a:t> for each unique VLAN are created </a:t>
            </a:r>
            <a:r>
              <a:rPr lang="en-US" dirty="0" smtClean="0"/>
              <a:t>on that physical interface.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Each subinterface is </a:t>
            </a:r>
            <a:r>
              <a:rPr lang="en-US" dirty="0" smtClean="0"/>
              <a:t>then:- </a:t>
            </a:r>
          </a:p>
          <a:p>
            <a:pPr marL="795337" lvl="1" indent="-457200">
              <a:buFont typeface="+mj-lt"/>
              <a:buAutoNum type="alphaLcParenR"/>
            </a:pPr>
            <a:r>
              <a:rPr lang="en-US" sz="2400" dirty="0" smtClean="0"/>
              <a:t>assigned </a:t>
            </a:r>
            <a:r>
              <a:rPr lang="en-US" sz="2400" dirty="0"/>
              <a:t>an IP address specific to </a:t>
            </a:r>
            <a:r>
              <a:rPr lang="en-US" sz="2400" dirty="0" smtClean="0"/>
              <a:t>that VLAN, </a:t>
            </a:r>
            <a:r>
              <a:rPr lang="en-US" sz="2400" dirty="0"/>
              <a:t>and </a:t>
            </a:r>
            <a:endParaRPr lang="en-US" sz="2400" dirty="0" smtClean="0"/>
          </a:p>
          <a:p>
            <a:pPr marL="795337" lvl="1" indent="-457200">
              <a:buFont typeface="+mj-lt"/>
              <a:buAutoNum type="alphaLcParenR"/>
            </a:pPr>
            <a:r>
              <a:rPr lang="en-US" sz="2400" dirty="0" smtClean="0"/>
              <a:t>configured </a:t>
            </a:r>
            <a:r>
              <a:rPr lang="en-US" sz="2400" dirty="0"/>
              <a:t>to tag frames for that </a:t>
            </a:r>
            <a:r>
              <a:rPr lang="en-US" sz="2400" dirty="0" smtClean="0"/>
              <a:t>VLAN.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5820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6237" y="45017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Configure </a:t>
            </a:r>
            <a:r>
              <a:rPr lang="en-US" sz="1800" dirty="0" smtClean="0">
                <a:ea typeface="ＭＳ Ｐゴシック" pitchFamily="34" charset="-128"/>
              </a:rPr>
              <a:t>Router-on-a-Stick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err="1">
                <a:ea typeface="ＭＳ Ｐゴシック" pitchFamily="34" charset="-128"/>
              </a:rPr>
              <a:t>Router-on-a-Stick</a:t>
            </a:r>
            <a:r>
              <a:rPr lang="en-US" dirty="0">
                <a:ea typeface="ＭＳ Ｐゴシック" pitchFamily="34" charset="-128"/>
              </a:rPr>
              <a:t> </a:t>
            </a:r>
            <a:r>
              <a:rPr lang="en-US" dirty="0" err="1">
                <a:ea typeface="ＭＳ Ｐゴシック" pitchFamily="34" charset="-128"/>
              </a:rPr>
              <a:t>Config</a:t>
            </a:r>
            <a:endParaRPr lang="en-US" dirty="0" smtClean="0">
              <a:ea typeface="ＭＳ Ｐゴシック" pitchFamily="34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4" r="9557" b="38567"/>
          <a:stretch/>
        </p:blipFill>
        <p:spPr bwMode="auto">
          <a:xfrm>
            <a:off x="667656" y="1619474"/>
            <a:ext cx="7984552" cy="45926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8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8809" y="46468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Inter-VLAN Routing Operation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Router-on-a-Stick Inter-VLAN Routing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7928" y="1579120"/>
            <a:ext cx="8052929" cy="5024880"/>
          </a:xfrm>
        </p:spPr>
        <p:txBody>
          <a:bodyPr/>
          <a:lstStyle/>
          <a:p>
            <a:r>
              <a:rPr lang="en-US" dirty="0"/>
              <a:t>Only one </a:t>
            </a:r>
            <a:r>
              <a:rPr lang="en-US" dirty="0" smtClean="0"/>
              <a:t>router </a:t>
            </a:r>
            <a:r>
              <a:rPr lang="en-US" dirty="0"/>
              <a:t>physical interface is used.</a:t>
            </a:r>
          </a:p>
          <a:p>
            <a:r>
              <a:rPr lang="en-US" dirty="0" smtClean="0"/>
              <a:t>The physical interfaces is configured as a 802.1Q trunk port so that it can understand VLAN tags.</a:t>
            </a:r>
          </a:p>
          <a:p>
            <a:r>
              <a:rPr lang="en-US" u="sng" dirty="0" smtClean="0"/>
              <a:t>Logical</a:t>
            </a:r>
            <a:r>
              <a:rPr lang="en-US" dirty="0" smtClean="0"/>
              <a:t> </a:t>
            </a:r>
            <a:r>
              <a:rPr lang="en-US" dirty="0" err="1" smtClean="0"/>
              <a:t>subinterfaces</a:t>
            </a:r>
            <a:r>
              <a:rPr lang="en-US" dirty="0" smtClean="0"/>
              <a:t> are then created; </a:t>
            </a:r>
            <a:r>
              <a:rPr lang="en-US" u="sng" dirty="0" smtClean="0"/>
              <a:t>one </a:t>
            </a:r>
            <a:r>
              <a:rPr lang="en-US" u="sng" dirty="0" err="1" smtClean="0"/>
              <a:t>subinterface</a:t>
            </a:r>
            <a:r>
              <a:rPr lang="en-US" u="sng" dirty="0" smtClean="0"/>
              <a:t> per VLAN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Each subinterface is configured with an IP address from that VLAN it represents.</a:t>
            </a:r>
          </a:p>
          <a:p>
            <a:r>
              <a:rPr lang="en-US" dirty="0" smtClean="0"/>
              <a:t>VLAN members (hosts) are configured to use the </a:t>
            </a:r>
            <a:r>
              <a:rPr lang="en-US" u="sng" dirty="0" smtClean="0"/>
              <a:t>subinterface address as a default gateway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01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6237" y="45017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Configure </a:t>
            </a:r>
            <a:r>
              <a:rPr lang="en-US" sz="1800" dirty="0" smtClean="0">
                <a:ea typeface="ＭＳ Ｐゴシック" pitchFamily="34" charset="-128"/>
              </a:rPr>
              <a:t>Router-on-a-Stick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Switch Configuration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4" r="9557" b="38567"/>
          <a:stretch/>
        </p:blipFill>
        <p:spPr bwMode="auto">
          <a:xfrm>
            <a:off x="4369746" y="1184047"/>
            <a:ext cx="4527512" cy="26041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0285" y="4383316"/>
            <a:ext cx="787908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10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config-vlan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</a:p>
          <a:p>
            <a:pPr algn="l"/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config-vlan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fa0/5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mode trunk</a:t>
            </a:r>
          </a:p>
          <a:p>
            <a:pPr algn="l"/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switchport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trunk native </a:t>
            </a:r>
            <a:r>
              <a:rPr lang="en-SG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b="1" i="1" u="sn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SG" sz="2000" b="1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771" y="1378859"/>
            <a:ext cx="39540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u="sng" dirty="0" smtClean="0"/>
              <a:t>STEP 1: Configure the Switch</a:t>
            </a:r>
          </a:p>
          <a:p>
            <a:pPr algn="l"/>
            <a:endParaRPr lang="en-SG" sz="2000" dirty="0" smtClean="0"/>
          </a:p>
          <a:p>
            <a:pPr marL="457200" indent="-457200" algn="l">
              <a:buFont typeface="+mj-lt"/>
              <a:buAutoNum type="alphaLcParenR"/>
            </a:pPr>
            <a:r>
              <a:rPr lang="en-SG" sz="2000" dirty="0" smtClean="0"/>
              <a:t>Create the VLANs</a:t>
            </a:r>
          </a:p>
          <a:p>
            <a:pPr marL="457200" indent="-457200" algn="l">
              <a:buFont typeface="+mj-lt"/>
              <a:buAutoNum type="alphaLcParenR"/>
            </a:pPr>
            <a:endParaRPr lang="en-SG" sz="2000" dirty="0" smtClean="0"/>
          </a:p>
          <a:p>
            <a:pPr marL="457200" indent="-457200" algn="l">
              <a:buFont typeface="+mj-lt"/>
              <a:buAutoNum type="alphaLcParenR"/>
            </a:pPr>
            <a:r>
              <a:rPr lang="en-SG" sz="2000" dirty="0" smtClean="0"/>
              <a:t>Configure the port as a </a:t>
            </a:r>
            <a:r>
              <a:rPr lang="en-SG" sz="2000" u="sng" dirty="0" smtClean="0"/>
              <a:t>TRUNK</a:t>
            </a:r>
            <a:r>
              <a:rPr lang="en-SG" sz="2000" dirty="0" smtClean="0"/>
              <a:t> port</a:t>
            </a:r>
          </a:p>
          <a:p>
            <a:pPr marL="457200" indent="-457200" algn="l">
              <a:buFont typeface="+mj-lt"/>
              <a:buAutoNum type="alphaLcParenR"/>
            </a:pPr>
            <a:endParaRPr lang="en-SG" sz="2000" dirty="0" smtClean="0"/>
          </a:p>
          <a:p>
            <a:pPr marL="457200" indent="-457200" algn="l">
              <a:buFont typeface="+mj-lt"/>
              <a:buAutoNum type="alphaLcParenR"/>
            </a:pPr>
            <a:r>
              <a:rPr lang="en-SG" sz="2000" dirty="0" smtClean="0"/>
              <a:t>Add the native VLAN if available</a:t>
            </a:r>
          </a:p>
        </p:txBody>
      </p:sp>
    </p:spTree>
    <p:extLst>
      <p:ext uri="{BB962C8B-B14F-4D97-AF65-F5344CB8AC3E}">
        <p14:creationId xmlns:p14="http://schemas.microsoft.com/office/powerpoint/2010/main" val="174335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6237" y="45017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Configure </a:t>
            </a:r>
            <a:r>
              <a:rPr lang="en-US" sz="1800" dirty="0" smtClean="0">
                <a:ea typeface="ＭＳ Ｐゴシック" pitchFamily="34" charset="-128"/>
              </a:rPr>
              <a:t>Router-on-a-Stick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Router </a:t>
            </a:r>
            <a:r>
              <a:rPr lang="en-US" dirty="0" err="1" smtClean="0">
                <a:ea typeface="ＭＳ Ｐゴシック" pitchFamily="34" charset="-128"/>
              </a:rPr>
              <a:t>Subinterface</a:t>
            </a:r>
            <a:r>
              <a:rPr lang="en-US" dirty="0" smtClean="0">
                <a:ea typeface="ＭＳ Ｐゴシック" pitchFamily="34" charset="-128"/>
              </a:rPr>
              <a:t> Configuration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4" r="9557" b="38567"/>
          <a:stretch/>
        </p:blipFill>
        <p:spPr bwMode="auto">
          <a:xfrm>
            <a:off x="4775200" y="1459547"/>
            <a:ext cx="4122058" cy="23709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5771" y="3903089"/>
            <a:ext cx="7263527" cy="28700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g0/0.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-if)#encapsulation dot1q 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add 172.17.10.1 255.255.255.0</a:t>
            </a:r>
          </a:p>
          <a:p>
            <a:pPr algn="l"/>
            <a:endParaRPr lang="en-SG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g0/0.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endParaRPr lang="en-SG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-if)#encapsulation dot1q 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endParaRPr lang="en-SG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add 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172.17.30.1 255.255.255.0</a:t>
            </a:r>
          </a:p>
          <a:p>
            <a:pPr algn="l"/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-if)#</a:t>
            </a:r>
            <a:r>
              <a:rPr lang="en-SG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g0/0</a:t>
            </a:r>
            <a:endParaRPr lang="en-SG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-if</a:t>
            </a:r>
            <a:r>
              <a:rPr lang="en-SG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SG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endParaRPr lang="en-SG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5771" y="1378859"/>
            <a:ext cx="4499429" cy="233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800" u="sng" dirty="0" smtClean="0"/>
              <a:t>STEP 2: Configure the Router</a:t>
            </a:r>
          </a:p>
          <a:p>
            <a:pPr algn="l"/>
            <a:endParaRPr lang="en-SG" sz="1800" dirty="0" smtClean="0"/>
          </a:p>
          <a:p>
            <a:pPr marL="457200" indent="-457200" algn="l">
              <a:buFont typeface="+mj-lt"/>
              <a:buAutoNum type="alphaLcParenR"/>
            </a:pPr>
            <a:r>
              <a:rPr lang="en-SG" sz="1800" dirty="0" smtClean="0"/>
              <a:t>Create the </a:t>
            </a:r>
            <a:r>
              <a:rPr lang="en-SG" sz="1800" dirty="0" err="1" smtClean="0"/>
              <a:t>subinterface</a:t>
            </a:r>
            <a:r>
              <a:rPr lang="en-SG" sz="1800" dirty="0" smtClean="0"/>
              <a:t> using the VLAN ID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SG" sz="1800" dirty="0" smtClean="0"/>
              <a:t>Enable encapsulation for that VLAN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SG" sz="1800" dirty="0" smtClean="0"/>
              <a:t>Assign the IP address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SG" sz="1800" dirty="0" smtClean="0"/>
              <a:t>Repeat for next </a:t>
            </a:r>
            <a:r>
              <a:rPr lang="en-SG" sz="1800" dirty="0" err="1" smtClean="0"/>
              <a:t>subinterface</a:t>
            </a:r>
            <a:r>
              <a:rPr lang="en-SG" sz="1800" dirty="0" smtClean="0"/>
              <a:t> until all done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SG" sz="1800" dirty="0" smtClean="0"/>
              <a:t>Go to the main interface and enable it</a:t>
            </a:r>
          </a:p>
        </p:txBody>
      </p:sp>
    </p:spTree>
    <p:extLst>
      <p:ext uri="{BB962C8B-B14F-4D97-AF65-F5344CB8AC3E}">
        <p14:creationId xmlns:p14="http://schemas.microsoft.com/office/powerpoint/2010/main" val="250266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5802" y="46468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Configure Router-on-a-Stick</a:t>
            </a:r>
            <a:r>
              <a:rPr lang="en-US" sz="1800" dirty="0">
                <a:ea typeface="ＭＳ Ｐゴシック" pitchFamily="34" charset="-128"/>
              </a:rPr>
              <a:t/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Verifying Subinterfaces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2857" y="1640114"/>
            <a:ext cx="8316687" cy="441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dirty="0" smtClean="0"/>
              <a:t>To verify your router configuration, use these commands:-</a:t>
            </a:r>
          </a:p>
          <a:p>
            <a:pPr algn="l"/>
            <a:endParaRPr lang="en-SG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R1# show </a:t>
            </a:r>
            <a:r>
              <a:rPr lang="en-S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interface brief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R1# show </a:t>
            </a:r>
            <a:r>
              <a:rPr lang="en-S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S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show running-</a:t>
            </a:r>
            <a:r>
              <a:rPr lang="en-SG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en-S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dirty="0"/>
          </a:p>
          <a:p>
            <a:pPr algn="l"/>
            <a:r>
              <a:rPr lang="en-SG" i="1" u="sng" dirty="0" smtClean="0"/>
              <a:t>Question</a:t>
            </a:r>
          </a:p>
          <a:p>
            <a:pPr algn="l"/>
            <a:r>
              <a:rPr lang="en-SG" i="1" dirty="0" smtClean="0"/>
              <a:t>What will you see using the above commands?</a:t>
            </a:r>
            <a:endParaRPr lang="en-SG" i="1" dirty="0"/>
          </a:p>
          <a:p>
            <a:pPr algn="l"/>
            <a:endParaRPr lang="en-SG" dirty="0" smtClean="0"/>
          </a:p>
          <a:p>
            <a:pPr algn="l"/>
            <a:r>
              <a:rPr lang="en-SG" dirty="0" smtClean="0"/>
              <a:t>Lastly, use an ICMP packet to check that PCs in different VLANs can communicate.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0989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39588" y="350520"/>
            <a:ext cx="8772157" cy="1232592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Configure Router-on-a-Stick Inter-VLAN Routing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Configure Router-on-a Stick: Verifying </a:t>
            </a:r>
            <a:r>
              <a:rPr lang="en-US" dirty="0" err="1">
                <a:latin typeface="Arial" charset="0"/>
              </a:rPr>
              <a:t>Subinterfaces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802" y="1734483"/>
            <a:ext cx="8370449" cy="47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75336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39588" y="350520"/>
            <a:ext cx="8772157" cy="1232592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Configure Router-on-a-Stick Inter-VLAN Routing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Configure Router-on-a Stick: Verifying </a:t>
            </a:r>
            <a:r>
              <a:rPr lang="en-US" dirty="0" err="1">
                <a:latin typeface="Arial" charset="0"/>
              </a:rPr>
              <a:t>Subinterfaces</a:t>
            </a:r>
            <a:r>
              <a:rPr lang="en-US" dirty="0">
                <a:latin typeface="Arial" charset="0"/>
              </a:rPr>
              <a:t> (cont.)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248" y="1795463"/>
            <a:ext cx="6045792" cy="4587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00401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96240"/>
            <a:ext cx="8772157" cy="1232592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Inter-VLAN Routing Operation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Identify the Types of Inter-VLAN Routing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Activity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844040"/>
            <a:ext cx="8752915" cy="4482332"/>
          </a:xfrm>
        </p:spPr>
        <p:txBody>
          <a:bodyPr/>
          <a:lstStyle/>
          <a:p>
            <a:r>
              <a:rPr lang="en-US" sz="2000" dirty="0"/>
              <a:t>Legacy or Router-on-a-Stick?</a:t>
            </a:r>
            <a:endParaRPr lang="en-US" sz="1600" dirty="0"/>
          </a:p>
          <a:p>
            <a:endParaRPr lang="en-US" sz="2000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630805"/>
            <a:ext cx="619125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817074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96240"/>
            <a:ext cx="8772157" cy="1232592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Inter-VLAN Routing Operation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Identify the Types of Inter-VLAN Routing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Activity (cont.)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844040"/>
            <a:ext cx="8752915" cy="4482332"/>
          </a:xfrm>
        </p:spPr>
        <p:txBody>
          <a:bodyPr/>
          <a:lstStyle/>
          <a:p>
            <a:r>
              <a:rPr lang="en-US" sz="2000" dirty="0"/>
              <a:t>Legacy or Router-on-a-Stick?</a:t>
            </a:r>
            <a:endParaRPr lang="en-US" sz="1600" dirty="0"/>
          </a:p>
          <a:p>
            <a:endParaRPr lang="en-US" sz="2000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008" y="2648903"/>
            <a:ext cx="7056865" cy="3188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7551664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 smtClean="0"/>
              <a:t>6.2 </a:t>
            </a:r>
            <a:r>
              <a:rPr lang="en-US" sz="2400" dirty="0"/>
              <a:t>Troubleshoot Inter-VLAN Routing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4792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556" y="1451429"/>
            <a:ext cx="7951562" cy="5036457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b="1" u="sng" dirty="0" smtClean="0"/>
              <a:t>Legacy Inter-VLAN routing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Check that the router ports and switch ports are correct.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 smtClean="0"/>
              <a:t>Check </a:t>
            </a:r>
            <a:r>
              <a:rPr lang="en-US" sz="2000" dirty="0"/>
              <a:t>that the switch </a:t>
            </a:r>
            <a:r>
              <a:rPr lang="en-US" sz="2000" dirty="0" smtClean="0"/>
              <a:t>ports connect </a:t>
            </a:r>
            <a:r>
              <a:rPr lang="en-US" sz="2000" dirty="0"/>
              <a:t>to the router interfaces are </a:t>
            </a:r>
            <a:r>
              <a:rPr lang="en-US" sz="2000" u="sng" dirty="0"/>
              <a:t>in </a:t>
            </a:r>
            <a:r>
              <a:rPr lang="en-US" sz="2000" u="sng" dirty="0" smtClean="0"/>
              <a:t>ACCESS </a:t>
            </a:r>
            <a:r>
              <a:rPr lang="en-US" sz="2000" u="sng" dirty="0"/>
              <a:t>mode</a:t>
            </a:r>
            <a:r>
              <a:rPr lang="en-US" sz="2000" dirty="0"/>
              <a:t> </a:t>
            </a:r>
            <a:r>
              <a:rPr lang="en-US" sz="2000" dirty="0" smtClean="0"/>
              <a:t>and </a:t>
            </a:r>
            <a:r>
              <a:rPr lang="en-US" sz="2000" u="sng" dirty="0" smtClean="0"/>
              <a:t>configured </a:t>
            </a:r>
            <a:r>
              <a:rPr lang="en-US" sz="2000" u="sng" dirty="0"/>
              <a:t>with the correct </a:t>
            </a:r>
            <a:r>
              <a:rPr lang="en-US" sz="2000" u="sng" dirty="0" smtClean="0"/>
              <a:t>VLAN</a:t>
            </a:r>
            <a:r>
              <a:rPr lang="en-US" sz="2000" dirty="0" smtClean="0"/>
              <a:t>.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 smtClean="0"/>
              <a:t>Use the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switchport access vlan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appropriate 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vlan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2000" dirty="0" smtClean="0"/>
              <a:t>command to correct any erroneous VLAN port assignment.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000" b="1" u="sng" dirty="0" smtClean="0"/>
              <a:t>Router-on-a-Stick Inter-VLAN </a:t>
            </a:r>
            <a:r>
              <a:rPr lang="en-US" sz="2000" b="1" u="sng" dirty="0"/>
              <a:t>routing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Check that the router </a:t>
            </a:r>
            <a:r>
              <a:rPr lang="en-US" sz="2000" dirty="0" smtClean="0"/>
              <a:t>port </a:t>
            </a:r>
            <a:r>
              <a:rPr lang="en-US" sz="2000" dirty="0"/>
              <a:t>and switch </a:t>
            </a:r>
            <a:r>
              <a:rPr lang="en-US" sz="2000" dirty="0" smtClean="0"/>
              <a:t>port is correct.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 smtClean="0"/>
              <a:t>Check that the switch port is configured as a </a:t>
            </a:r>
            <a:r>
              <a:rPr lang="en-US" sz="2000" u="sng" dirty="0" smtClean="0"/>
              <a:t>TRUNK</a:t>
            </a:r>
            <a:r>
              <a:rPr lang="en-US" sz="2000" dirty="0" smtClean="0"/>
              <a:t> link.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 smtClean="0"/>
              <a:t>Use the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switchport mode trunk </a:t>
            </a:r>
            <a:r>
              <a:rPr lang="en-US" sz="2000" dirty="0" smtClean="0"/>
              <a:t>command to correct the switch port as a trunk.</a:t>
            </a:r>
          </a:p>
          <a:p>
            <a:pPr algn="just"/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41555" y="493945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Inter-VLAN</a:t>
            </a:r>
            <a:r>
              <a:rPr lang="en-US" sz="1800" dirty="0">
                <a:ea typeface="ＭＳ Ｐゴシック" pitchFamily="34" charset="-128"/>
              </a:rPr>
              <a:t> </a:t>
            </a:r>
            <a:r>
              <a:rPr lang="en-US" sz="1800" dirty="0" smtClean="0">
                <a:ea typeface="ＭＳ Ｐゴシック" pitchFamily="34" charset="-128"/>
              </a:rPr>
              <a:t>Configuration Issues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Switch Port Issues</a:t>
            </a:r>
          </a:p>
        </p:txBody>
      </p:sp>
    </p:spTree>
    <p:extLst>
      <p:ext uri="{BB962C8B-B14F-4D97-AF65-F5344CB8AC3E}">
        <p14:creationId xmlns:p14="http://schemas.microsoft.com/office/powerpoint/2010/main" val="423098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102" y="3318168"/>
            <a:ext cx="5900938" cy="318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8805" y="1553949"/>
            <a:ext cx="7940675" cy="5024880"/>
          </a:xfrm>
        </p:spPr>
        <p:txBody>
          <a:bodyPr/>
          <a:lstStyle/>
          <a:p>
            <a:pPr algn="just"/>
            <a:r>
              <a:rPr lang="en-US" sz="2000" dirty="0"/>
              <a:t>With router-on-a-stick configurations, a common problem is assigning the wrong VLAN ID to the </a:t>
            </a:r>
            <a:r>
              <a:rPr lang="en-US" sz="2000" dirty="0" smtClean="0"/>
              <a:t>subinterface.</a:t>
            </a:r>
          </a:p>
          <a:p>
            <a:pPr algn="just"/>
            <a:r>
              <a:rPr lang="en-US" sz="2000" dirty="0" smtClean="0"/>
              <a:t>The #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show interface </a:t>
            </a:r>
            <a:r>
              <a:rPr lang="en-US" sz="2000" dirty="0"/>
              <a:t>and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#show running-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/>
              <a:t>commands can help detect this problem.</a:t>
            </a:r>
          </a:p>
          <a:p>
            <a:pPr algn="just"/>
            <a:r>
              <a:rPr lang="en-US" sz="2000" dirty="0"/>
              <a:t> </a:t>
            </a:r>
            <a:r>
              <a:rPr lang="en-US" sz="2000" dirty="0" smtClean="0"/>
              <a:t>To </a:t>
            </a:r>
            <a:r>
              <a:rPr lang="en-US" sz="2000" dirty="0"/>
              <a:t>fix the </a:t>
            </a:r>
            <a:r>
              <a:rPr lang="en-US" sz="2000" dirty="0" smtClean="0"/>
              <a:t>problem, go to the </a:t>
            </a:r>
            <a:r>
              <a:rPr lang="en-US" sz="2000" dirty="0" err="1" smtClean="0"/>
              <a:t>subinterface</a:t>
            </a:r>
            <a:r>
              <a:rPr lang="en-US" sz="2000" dirty="0" smtClean="0"/>
              <a:t> and correct using #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encapsulation dot1q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i="1" dirty="0" err="1" smtClean="0">
                <a:latin typeface="Courier New" pitchFamily="49" charset="0"/>
                <a:cs typeface="Courier New" pitchFamily="49" charset="0"/>
              </a:rPr>
              <a:t>vlan_id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dirty="0" smtClean="0"/>
              <a:t>.</a:t>
            </a:r>
            <a:endParaRPr lang="en-US" sz="20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96412" y="530001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Inter-VLAN</a:t>
            </a:r>
            <a:r>
              <a:rPr lang="en-US" sz="1800" dirty="0">
                <a:ea typeface="ＭＳ Ｐゴシック" pitchFamily="34" charset="-128"/>
              </a:rPr>
              <a:t> </a:t>
            </a:r>
            <a:r>
              <a:rPr lang="en-US" sz="1800" dirty="0" smtClean="0">
                <a:ea typeface="ＭＳ Ｐゴシック" pitchFamily="34" charset="-128"/>
              </a:rPr>
              <a:t>Configuration Issues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Router Configuration Issues</a:t>
            </a:r>
          </a:p>
        </p:txBody>
      </p:sp>
    </p:spTree>
    <p:extLst>
      <p:ext uri="{BB962C8B-B14F-4D97-AF65-F5344CB8AC3E}">
        <p14:creationId xmlns:p14="http://schemas.microsoft.com/office/powerpoint/2010/main" val="270488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12526" y="508459"/>
            <a:ext cx="8368617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IP Addressing Issues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Errors with IP Address and Subnet Masks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69" y="1683431"/>
            <a:ext cx="5881493" cy="389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32762" y="2058797"/>
            <a:ext cx="28825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AutoNum type="arabicPeriod"/>
            </a:pPr>
            <a:r>
              <a:rPr lang="en-SG" sz="2000" dirty="0" smtClean="0"/>
              <a:t>What model is this?</a:t>
            </a:r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endParaRPr lang="en-SG" sz="2000" dirty="0"/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r>
              <a:rPr lang="en-SG" sz="2000" dirty="0" smtClean="0"/>
              <a:t>What is wrong?</a:t>
            </a:r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endParaRPr lang="en-SG" sz="2000" dirty="0"/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r>
              <a:rPr lang="en-SG" sz="2000" dirty="0" smtClean="0"/>
              <a:t>How to correct?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53619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89" y="2023569"/>
            <a:ext cx="5862673" cy="34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12526" y="508459"/>
            <a:ext cx="8368617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IP Addressing Issues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Errors with IP Address and Subnet Masks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2762" y="2058797"/>
            <a:ext cx="28825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AutoNum type="arabicPeriod"/>
            </a:pPr>
            <a:r>
              <a:rPr lang="en-SG" sz="2000" dirty="0" smtClean="0"/>
              <a:t>What model is this?</a:t>
            </a:r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endParaRPr lang="en-SG" sz="2000" dirty="0"/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r>
              <a:rPr lang="en-SG" sz="2000" dirty="0" smtClean="0"/>
              <a:t>What is wrong?</a:t>
            </a:r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endParaRPr lang="en-SG" sz="2000" dirty="0"/>
          </a:p>
          <a:p>
            <a:pPr marL="457200" indent="-457200" algn="l">
              <a:buAutoNum type="arabicPeriod"/>
            </a:pPr>
            <a:endParaRPr lang="en-SG" sz="2000" dirty="0" smtClean="0"/>
          </a:p>
          <a:p>
            <a:pPr marL="457200" indent="-457200" algn="l">
              <a:buAutoNum type="arabicPeriod"/>
            </a:pPr>
            <a:r>
              <a:rPr lang="en-SG" sz="2000" dirty="0" smtClean="0"/>
              <a:t>How to correct?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87376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 smtClean="0"/>
              <a:t>5.3 </a:t>
            </a:r>
            <a:r>
              <a:rPr lang="en-US" sz="2400" dirty="0"/>
              <a:t>Layer 3 Switching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9037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069" y="1535578"/>
            <a:ext cx="7940675" cy="5024880"/>
          </a:xfrm>
        </p:spPr>
        <p:txBody>
          <a:bodyPr/>
          <a:lstStyle/>
          <a:p>
            <a:r>
              <a:rPr lang="en-US" dirty="0"/>
              <a:t>Layer 3 switches </a:t>
            </a:r>
            <a:r>
              <a:rPr lang="en-US" dirty="0" smtClean="0"/>
              <a:t>have </a:t>
            </a:r>
            <a:r>
              <a:rPr lang="en-US" dirty="0"/>
              <a:t>packet-switching </a:t>
            </a:r>
            <a:r>
              <a:rPr lang="en-US" dirty="0" smtClean="0"/>
              <a:t>throughput </a:t>
            </a:r>
            <a:r>
              <a:rPr lang="en-US" dirty="0"/>
              <a:t>in the millions of packets per second (</a:t>
            </a:r>
            <a:r>
              <a:rPr lang="en-US" dirty="0" err="1" smtClean="0"/>
              <a:t>pps</a:t>
            </a:r>
            <a:r>
              <a:rPr lang="en-US" dirty="0" smtClean="0"/>
              <a:t>) at hardware speed.</a:t>
            </a:r>
          </a:p>
          <a:p>
            <a:r>
              <a:rPr lang="en-US" dirty="0" smtClean="0"/>
              <a:t>Routing can be transferred to core and distribution devices with little to no impact on network performance.</a:t>
            </a:r>
          </a:p>
          <a:p>
            <a:r>
              <a:rPr lang="en-US" dirty="0" smtClean="0"/>
              <a:t>Layer </a:t>
            </a:r>
            <a:r>
              <a:rPr lang="en-US" dirty="0"/>
              <a:t>3 </a:t>
            </a:r>
            <a:r>
              <a:rPr lang="en-US" dirty="0" smtClean="0"/>
              <a:t>routed </a:t>
            </a:r>
            <a:r>
              <a:rPr lang="en-US" dirty="0"/>
              <a:t>ports are normally implemented </a:t>
            </a:r>
            <a:r>
              <a:rPr lang="en-US" dirty="0" smtClean="0"/>
              <a:t>at the </a:t>
            </a:r>
            <a:r>
              <a:rPr lang="en-US" dirty="0"/>
              <a:t>distribution and the core </a:t>
            </a:r>
            <a:r>
              <a:rPr lang="en-US" dirty="0" smtClean="0"/>
              <a:t>layer. This model is less dependent on spanning tree, because there are no loops in the Layer 2 portion of the topology.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56069" y="508917"/>
            <a:ext cx="8310560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defTabSz="782638" eaLnBrk="1" hangingPunct="1"/>
            <a:r>
              <a:rPr lang="en-US" sz="1800" dirty="0" smtClean="0">
                <a:ea typeface="ＭＳ Ｐゴシック" pitchFamily="34" charset="-128"/>
              </a:rPr>
              <a:t>Layer 3 Switching Operation and Configuration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sz="2700" dirty="0" smtClean="0">
                <a:ea typeface="ＭＳ Ｐゴシック" pitchFamily="34" charset="-128"/>
              </a:rPr>
              <a:t>Inter-VLAN Routing with Switch Virtual Interfaces</a:t>
            </a:r>
          </a:p>
        </p:txBody>
      </p:sp>
    </p:spTree>
    <p:extLst>
      <p:ext uri="{BB962C8B-B14F-4D97-AF65-F5344CB8AC3E}">
        <p14:creationId xmlns:p14="http://schemas.microsoft.com/office/powerpoint/2010/main" val="320269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48810" y="45017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</a:t>
            </a:r>
            <a:r>
              <a:rPr lang="en-US" dirty="0" smtClean="0">
                <a:ea typeface="ＭＳ Ｐゴシック" pitchFamily="34" charset="-128"/>
              </a:rPr>
              <a:t>6: </a:t>
            </a:r>
            <a:r>
              <a:rPr lang="en-US" dirty="0" smtClean="0">
                <a:ea typeface="ＭＳ Ｐゴシック" pitchFamily="34" charset="-128"/>
              </a:rPr>
              <a:t>Summary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7029" y="1494972"/>
            <a:ext cx="7910286" cy="450078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This chapter described and explained the following concepts:</a:t>
            </a:r>
          </a:p>
          <a:p>
            <a:r>
              <a:rPr lang="en-US" sz="2000" dirty="0" smtClean="0"/>
              <a:t>Inter-VLAN routing, </a:t>
            </a:r>
            <a:r>
              <a:rPr lang="en-US" sz="2000" dirty="0"/>
              <a:t>the process of routing traffic between different VLANs, using either a dedicated router or a multilayer </a:t>
            </a:r>
            <a:r>
              <a:rPr lang="en-US" sz="2000" dirty="0" smtClean="0"/>
              <a:t>switch</a:t>
            </a:r>
          </a:p>
          <a:p>
            <a:r>
              <a:rPr lang="en-US" sz="2000" dirty="0" smtClean="0"/>
              <a:t>Legacy, router-on-a-stick, and multilayer switch </a:t>
            </a:r>
            <a:r>
              <a:rPr lang="en-US" sz="2000" dirty="0"/>
              <a:t>inter-VLAN </a:t>
            </a:r>
            <a:r>
              <a:rPr lang="en-US" sz="2000" dirty="0" smtClean="0"/>
              <a:t>routing</a:t>
            </a:r>
            <a:endParaRPr lang="en-US" sz="2000" dirty="0"/>
          </a:p>
          <a:p>
            <a:r>
              <a:rPr lang="en-US" sz="2000" dirty="0"/>
              <a:t>Common errors involving VLAN, </a:t>
            </a:r>
            <a:r>
              <a:rPr lang="en-US" sz="2000" dirty="0" smtClean="0"/>
              <a:t>access or trunk </a:t>
            </a:r>
            <a:r>
              <a:rPr lang="en-US" sz="2000" dirty="0"/>
              <a:t>and IP </a:t>
            </a:r>
            <a:r>
              <a:rPr lang="en-US" sz="2000" dirty="0" smtClean="0"/>
              <a:t>addressing issues</a:t>
            </a:r>
            <a:endParaRPr lang="en-US" sz="2000" dirty="0"/>
          </a:p>
          <a:p>
            <a:r>
              <a:rPr lang="en-US" sz="2000" dirty="0" smtClean="0"/>
              <a:t>Troubleshooting </a:t>
            </a:r>
            <a:r>
              <a:rPr lang="en-US" sz="2000" dirty="0"/>
              <a:t>inter-VLAN </a:t>
            </a:r>
            <a:r>
              <a:rPr lang="en-US" sz="2000" dirty="0" smtClean="0"/>
              <a:t>routing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19676</TotalTime>
  <Pages>28</Pages>
  <Words>1479</Words>
  <Application>Microsoft Office PowerPoint</Application>
  <PresentationFormat>On-screen Show (4:3)</PresentationFormat>
  <Paragraphs>278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ＭＳ Ｐゴシック</vt:lpstr>
      <vt:lpstr>Arial</vt:lpstr>
      <vt:lpstr>Courier New</vt:lpstr>
      <vt:lpstr>Wingdings</vt:lpstr>
      <vt:lpstr>PPT-TMPLT-WHT_C</vt:lpstr>
      <vt:lpstr>NetAcad-4F_PPT-WHT_060408</vt:lpstr>
      <vt:lpstr>Chapter 5: Inter-VLAN Routing</vt:lpstr>
      <vt:lpstr>Chapter 5</vt:lpstr>
      <vt:lpstr>Chapter 5: Objectives</vt:lpstr>
      <vt:lpstr>5.1 Inter-VLAN Routing Configuration</vt:lpstr>
      <vt:lpstr>Inter-VLAN Routing Operation What is Inter-VLAN routing?</vt:lpstr>
      <vt:lpstr>Inter-VLAN Routing Operation Inter-VLAN Routing Options</vt:lpstr>
      <vt:lpstr>Inter-VLAN Routing Operation Legacy Inter-VLAN Routing</vt:lpstr>
      <vt:lpstr>Configure Legacy Inter-VLAN Routing Legacy Inter-VLAN Routing Config</vt:lpstr>
      <vt:lpstr>Inter-VLAN Routing Operation Multilayer Switch Inter-VLAN Routing</vt:lpstr>
      <vt:lpstr>Configure Legacy Inter-VLAN Routing Legacy Inter-VLAN Routing Config</vt:lpstr>
      <vt:lpstr>Configure Legacy Inter-VLAN Routing Switch Configuration</vt:lpstr>
      <vt:lpstr>Configure Legacy Inter-VLAN Routing Router Configuration</vt:lpstr>
      <vt:lpstr>Configure Router-on-a-Stick Router-on-a-Stick Config</vt:lpstr>
      <vt:lpstr>Configure Router-on-a-Stick Router-on-a-Stick Config</vt:lpstr>
      <vt:lpstr>Inter-VLAN Routing Operation Router-on-a-Stick Inter-VLAN Routing</vt:lpstr>
      <vt:lpstr>Configure Router-on-a-Stick Switch Configuration</vt:lpstr>
      <vt:lpstr>Configure Router-on-a-Stick Router Subinterface Configuration</vt:lpstr>
      <vt:lpstr>Configure Router-on-a-Stick Verifying Subinterfaces</vt:lpstr>
      <vt:lpstr>Configure Router-on-a-Stick Inter-VLAN Routing Configure Router-on-a Stick: Verifying Subinterfaces</vt:lpstr>
      <vt:lpstr>Configure Router-on-a-Stick Inter-VLAN Routing Configure Router-on-a Stick: Verifying Subinterfaces (cont.)</vt:lpstr>
      <vt:lpstr>Inter-VLAN Routing Operation Identify the Types of Inter-VLAN Routing Activity</vt:lpstr>
      <vt:lpstr>Inter-VLAN Routing Operation Identify the Types of Inter-VLAN Routing Activity (cont.)</vt:lpstr>
      <vt:lpstr>6.2 Troubleshoot Inter-VLAN Routing</vt:lpstr>
      <vt:lpstr>PowerPoint Presentation</vt:lpstr>
      <vt:lpstr>PowerPoint Presentation</vt:lpstr>
      <vt:lpstr>PowerPoint Presentation</vt:lpstr>
      <vt:lpstr>PowerPoint Presentation</vt:lpstr>
      <vt:lpstr>5.3 Layer 3 Switching</vt:lpstr>
      <vt:lpstr>PowerPoint Presentation</vt:lpstr>
      <vt:lpstr>Chapter 6: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cp:lastModifiedBy>HOO BRYAN</cp:lastModifiedBy>
  <cp:revision>1322</cp:revision>
  <cp:lastPrinted>1999-01-27T00:54:54Z</cp:lastPrinted>
  <dcterms:created xsi:type="dcterms:W3CDTF">2006-10-23T15:07:30Z</dcterms:created>
  <dcterms:modified xsi:type="dcterms:W3CDTF">2018-03-22T08:58:17Z</dcterms:modified>
</cp:coreProperties>
</file>