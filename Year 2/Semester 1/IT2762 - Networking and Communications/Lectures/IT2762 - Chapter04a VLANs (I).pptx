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4"/>
  </p:notesMasterIdLst>
  <p:handoutMasterIdLst>
    <p:handoutMasterId r:id="rId25"/>
  </p:handoutMasterIdLst>
  <p:sldIdLst>
    <p:sldId id="500" r:id="rId3"/>
    <p:sldId id="541" r:id="rId4"/>
    <p:sldId id="782" r:id="rId5"/>
    <p:sldId id="831" r:id="rId6"/>
    <p:sldId id="839" r:id="rId7"/>
    <p:sldId id="786" r:id="rId8"/>
    <p:sldId id="785" r:id="rId9"/>
    <p:sldId id="834" r:id="rId10"/>
    <p:sldId id="836" r:id="rId11"/>
    <p:sldId id="787" r:id="rId12"/>
    <p:sldId id="803" r:id="rId13"/>
    <p:sldId id="790" r:id="rId14"/>
    <p:sldId id="837" r:id="rId15"/>
    <p:sldId id="835" r:id="rId16"/>
    <p:sldId id="840" r:id="rId17"/>
    <p:sldId id="801" r:id="rId18"/>
    <p:sldId id="802" r:id="rId19"/>
    <p:sldId id="804" r:id="rId20"/>
    <p:sldId id="805" r:id="rId21"/>
    <p:sldId id="806" r:id="rId22"/>
    <p:sldId id="783" r:id="rId23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ttoria deloulay" initials="vd" lastIdx="9" clrIdx="0"/>
  <p:cmAuthor id="1" name="carykell" initials="c" lastIdx="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4"/>
    <a:srgbClr val="678DC5"/>
    <a:srgbClr val="3E67A4"/>
    <a:srgbClr val="3E8DC5"/>
    <a:srgbClr val="5F5F65"/>
    <a:srgbClr val="7E7E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87310" autoAdjust="0"/>
  </p:normalViewPr>
  <p:slideViewPr>
    <p:cSldViewPr snapToGrid="0">
      <p:cViewPr varScale="1">
        <p:scale>
          <a:sx n="62" d="100"/>
          <a:sy n="62" d="100"/>
        </p:scale>
        <p:origin x="1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5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BCC1ECAD-6CE1-4897-9CEF-F2ECC9BEA19E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05898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FB004549-1125-4930-988B-40FFE37DB1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7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034988-36DD-4D34-B1CE-37AB851117A5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Routing &amp; Switching</a:t>
            </a:r>
          </a:p>
          <a:p>
            <a:pPr>
              <a:buFontTx/>
              <a:buNone/>
            </a:pPr>
            <a:r>
              <a:rPr lang="en-US" sz="1300" b="1" dirty="0" smtClean="0"/>
              <a:t>Chapter 3: VLANs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4000045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0EE284-7961-42D5-9E4B-29540E276A78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4292878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3 Objectives</a:t>
            </a:r>
          </a:p>
        </p:txBody>
      </p:sp>
    </p:spTree>
    <p:extLst>
      <p:ext uri="{BB962C8B-B14F-4D97-AF65-F5344CB8AC3E}">
        <p14:creationId xmlns:p14="http://schemas.microsoft.com/office/powerpoint/2010/main" val="44598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>
              <a:buFontTx/>
              <a:buNone/>
            </a:pPr>
            <a:r>
              <a:rPr lang="en-US" sz="1300" b="1" dirty="0" smtClean="0"/>
              <a:t>Routing &amp; Switching</a:t>
            </a:r>
            <a:endParaRPr lang="en-US" sz="1300" b="1" baseline="0" dirty="0" smtClean="0"/>
          </a:p>
          <a:p>
            <a:pPr>
              <a:buFontTx/>
              <a:buNone/>
            </a:pPr>
            <a:r>
              <a:rPr lang="en-US" sz="1300" b="1" dirty="0" smtClean="0"/>
              <a:t>Chapter 3: VLANs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16670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3.1.1.1 VLAN Definitions</a:t>
            </a:r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93465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3.1.1.1 VLAN Definitions</a:t>
            </a:r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210611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3.1.1.1 VLAN Definitions</a:t>
            </a:r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818653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3.1.1.2 </a:t>
            </a:r>
            <a:r>
              <a:rPr lang="en-US" b="1" dirty="0" smtClean="0">
                <a:ea typeface="ＭＳ Ｐゴシック" pitchFamily="34" charset="-128"/>
              </a:rPr>
              <a:t>Benefits of VLANs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345863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3.1.1.2 </a:t>
            </a:r>
            <a:r>
              <a:rPr lang="en-US" b="1" dirty="0" smtClean="0">
                <a:ea typeface="ＭＳ Ｐゴシック" pitchFamily="34" charset="-128"/>
              </a:rPr>
              <a:t>Benefits of VLANs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90992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3.1.1.2 </a:t>
            </a:r>
            <a:r>
              <a:rPr lang="en-US" b="1" dirty="0" smtClean="0">
                <a:ea typeface="ＭＳ Ｐゴシック" pitchFamily="34" charset="-128"/>
              </a:rPr>
              <a:t>Benefits of VLANs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045070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3.1.2.2 </a:t>
            </a:r>
            <a:r>
              <a:rPr lang="en-US" sz="1200" b="1" dirty="0" smtClean="0">
                <a:ea typeface="ＭＳ Ｐゴシック" pitchFamily="34" charset="-128"/>
              </a:rPr>
              <a:t>Controlling Broadcast Domains with VLANs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066027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3.1.1.3 </a:t>
            </a:r>
            <a:r>
              <a:rPr lang="en-US" b="1" dirty="0" smtClean="0">
                <a:ea typeface="ＭＳ Ｐゴシック" pitchFamily="34" charset="-128"/>
              </a:rPr>
              <a:t>Types of VLANs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137751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3.1.1.3 </a:t>
            </a:r>
            <a:r>
              <a:rPr lang="en-US" b="1" dirty="0" smtClean="0">
                <a:ea typeface="ＭＳ Ｐゴシック" pitchFamily="34" charset="-128"/>
              </a:rPr>
              <a:t>Types of VLANs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002618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3.1.1.3 </a:t>
            </a:r>
            <a:r>
              <a:rPr lang="en-US" b="1" dirty="0" smtClean="0">
                <a:ea typeface="ＭＳ Ｐゴシック" pitchFamily="34" charset="-128"/>
              </a:rPr>
              <a:t>Types of VLANs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522956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3.1.2.1 </a:t>
            </a:r>
            <a:r>
              <a:rPr lang="en-US" b="1" dirty="0" smtClean="0">
                <a:ea typeface="ＭＳ Ｐゴシック" pitchFamily="34" charset="-128"/>
              </a:rPr>
              <a:t>VLAN Trunks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917825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3.1.2.1 </a:t>
            </a:r>
            <a:r>
              <a:rPr lang="en-US" b="1" dirty="0" smtClean="0">
                <a:ea typeface="ＭＳ Ｐゴシック" pitchFamily="34" charset="-128"/>
              </a:rPr>
              <a:t>VLAN Trunks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504437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3.1.2.3 </a:t>
            </a:r>
            <a:r>
              <a:rPr lang="en-US" sz="1200" b="1" dirty="0" smtClean="0">
                <a:ea typeface="ＭＳ Ｐゴシック" pitchFamily="34" charset="-128"/>
              </a:rPr>
              <a:t>Tagging Ethernet Frames for VLAN Identification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262392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3.1.2.3 </a:t>
            </a:r>
            <a:r>
              <a:rPr lang="en-US" sz="1200" b="1" dirty="0" smtClean="0">
                <a:ea typeface="ＭＳ Ｐゴシック" pitchFamily="34" charset="-128"/>
              </a:rPr>
              <a:t>Tagging Ethernet Frames for VLAN Identification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275614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3.1.2.4 </a:t>
            </a:r>
            <a:r>
              <a:rPr lang="en-US" sz="1200" b="1" dirty="0" smtClean="0">
                <a:ea typeface="ＭＳ Ｐゴシック" pitchFamily="34" charset="-128"/>
              </a:rPr>
              <a:t>Native VLANs and 802.1Q Tagging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114988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F77EF-9F5D-4805-BD17-79024BE7C85C}" type="slidenum">
              <a:rPr lang="en-US" smtClean="0"/>
              <a:pPr/>
              <a:t>21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3 Summary</a:t>
            </a:r>
          </a:p>
        </p:txBody>
      </p:sp>
    </p:spTree>
    <p:extLst>
      <p:ext uri="{BB962C8B-B14F-4D97-AF65-F5344CB8AC3E}">
        <p14:creationId xmlns:p14="http://schemas.microsoft.com/office/powerpoint/2010/main" val="4003535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C31C4615-7F19-455B-A5C4-EA1B3B194C81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ACFA795C-7F0A-48D8-9FC3-F2BA5F8EB736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58EC189E-ADD4-420E-B89E-1E32C54438D7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C5E045-6C48-46C0-92AE-30A8710B0BBD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 smtClean="0"/>
              <a:t>Chapter </a:t>
            </a:r>
            <a:r>
              <a:rPr lang="en-US" sz="2800" dirty="0" smtClean="0"/>
              <a:t>4a</a:t>
            </a:r>
            <a:r>
              <a:rPr lang="en-US" sz="2800" dirty="0" smtClean="0"/>
              <a:t>: VLANs (I)</a:t>
            </a:r>
            <a:endParaRPr lang="en-US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Routing &amp; Switching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765" y="363085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3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03762" y="1520042"/>
            <a:ext cx="8392000" cy="4506933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>
                <a:cs typeface="Arial" charset="0"/>
              </a:rPr>
              <a:t>3.1 VLAN Segmentation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3.2 VLAN Implementation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sz="2000" dirty="0" smtClean="0">
              <a:cs typeface="Arial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0893" y="339334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3a: 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1263" y="1401288"/>
            <a:ext cx="8312728" cy="4519262"/>
          </a:xfrm>
        </p:spPr>
        <p:txBody>
          <a:bodyPr/>
          <a:lstStyle/>
          <a:p>
            <a:r>
              <a:rPr lang="en-US" sz="2000" b="1" dirty="0"/>
              <a:t>Explain the purpose of  VLANs in a switched network.</a:t>
            </a:r>
          </a:p>
          <a:p>
            <a:r>
              <a:rPr lang="en-US" sz="2000" b="1" dirty="0"/>
              <a:t>Analyze how a switch forwards frames based on VLAN configuration in a multi-switched environment.</a:t>
            </a:r>
          </a:p>
          <a:p>
            <a:r>
              <a:rPr lang="en-US" sz="2000" dirty="0"/>
              <a:t>Configure a switch port to be assigned to a VLAN based on requirements.</a:t>
            </a:r>
          </a:p>
          <a:p>
            <a:r>
              <a:rPr lang="en-US" sz="2000" dirty="0"/>
              <a:t>Configure a trunk port on a LAN switch.</a:t>
            </a:r>
          </a:p>
          <a:p>
            <a:r>
              <a:rPr lang="en-US" sz="2000" dirty="0"/>
              <a:t>Troubleshoot VLAN and trunk configurations in a switched network.</a:t>
            </a:r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 smtClean="0"/>
              <a:t>3.1 VLAN Segmentation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891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780" y="48711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VLAN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62" y="1447800"/>
            <a:ext cx="8229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u="sng" dirty="0" smtClean="0"/>
              <a:t>Scenario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You’re designing a network for a company spread over 3 floors of a building.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The company requires 3 subnets: IT, HR and Sales, and each floor has at least 1 PC belong to each of the 3 subnets.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If VLANs don’t exist, how would you do it?</a:t>
            </a:r>
            <a:endParaRPr lang="en-SG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265" y="3202126"/>
            <a:ext cx="5334905" cy="3301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3285" y="4682068"/>
            <a:ext cx="2711302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800" dirty="0" smtClean="0"/>
              <a:t>What are some possible problems?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600" dirty="0" smtClean="0"/>
              <a:t>Cabling across floors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600" dirty="0" smtClean="0"/>
              <a:t>Router has limited ports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310782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780" y="48711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VLAN Definitions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492" y="2620105"/>
            <a:ext cx="5158641" cy="4051137"/>
          </a:xfrm>
          <a:ln>
            <a:noFill/>
            <a:bevel/>
          </a:ln>
        </p:spPr>
      </p:pic>
      <p:sp>
        <p:nvSpPr>
          <p:cNvPr id="4" name="TextBox 3"/>
          <p:cNvSpPr txBox="1"/>
          <p:nvPr/>
        </p:nvSpPr>
        <p:spPr>
          <a:xfrm>
            <a:off x="380962" y="1447800"/>
            <a:ext cx="8229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dirty="0" smtClean="0"/>
              <a:t>With VLANs, all the PCs on 1 floor can be connected to the switch at that level.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dirty="0" smtClean="0"/>
              <a:t>Each switch port can then be configured for that VLAN access only.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dirty="0" smtClean="0"/>
          </a:p>
        </p:txBody>
      </p:sp>
    </p:spTree>
    <p:extLst>
      <p:ext uri="{BB962C8B-B14F-4D97-AF65-F5344CB8AC3E}">
        <p14:creationId xmlns:p14="http://schemas.microsoft.com/office/powerpoint/2010/main" val="22424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14" t="29062" r="16206" b="31484"/>
          <a:stretch/>
        </p:blipFill>
        <p:spPr bwMode="auto">
          <a:xfrm>
            <a:off x="3874467" y="431963"/>
            <a:ext cx="5269533" cy="291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282" y="47524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VLAN Definitions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63013" y="3386978"/>
            <a:ext cx="7940675" cy="3194126"/>
          </a:xfrm>
        </p:spPr>
        <p:txBody>
          <a:bodyPr/>
          <a:lstStyle/>
          <a:p>
            <a:pPr marL="0" indent="0">
              <a:buNone/>
            </a:pPr>
            <a:r>
              <a:rPr lang="en-US" sz="2000" b="1" u="sng" dirty="0" smtClean="0"/>
              <a:t>What is a VLAN </a:t>
            </a:r>
          </a:p>
          <a:p>
            <a:r>
              <a:rPr lang="en-US" sz="2000" dirty="0" smtClean="0"/>
              <a:t>It is an independent subnet and broadcast domain.</a:t>
            </a:r>
          </a:p>
          <a:p>
            <a:r>
              <a:rPr lang="en-US" sz="2000" dirty="0" smtClean="0"/>
              <a:t>It allows hosts to be physically separated but yet share the same infrastructure.</a:t>
            </a:r>
          </a:p>
          <a:p>
            <a:r>
              <a:rPr lang="en-US" sz="2000" dirty="0" smtClean="0"/>
              <a:t>Multiple VLANs can be created and can co-exist in the same infrastructure.</a:t>
            </a:r>
          </a:p>
          <a:p>
            <a:r>
              <a:rPr lang="en-US" sz="2000" dirty="0" smtClean="0"/>
              <a:t>It can be named for easy identification</a:t>
            </a:r>
          </a:p>
          <a:p>
            <a:r>
              <a:rPr lang="en-US" sz="2000" dirty="0" smtClean="0"/>
              <a:t>For VLANs to communicate, a router is needed (Chapter 5).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14" t="29062" r="16206" b="31484"/>
          <a:stretch/>
        </p:blipFill>
        <p:spPr bwMode="auto">
          <a:xfrm>
            <a:off x="4020208" y="875808"/>
            <a:ext cx="5123792" cy="2831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Benefits of VLANs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3139" y="1472540"/>
            <a:ext cx="8091364" cy="495122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000" b="1" dirty="0" smtClean="0"/>
          </a:p>
          <a:p>
            <a:pPr marL="457200" indent="-457200">
              <a:buFont typeface="+mj-lt"/>
              <a:buAutoNum type="arabicPeriod"/>
            </a:pPr>
            <a:endParaRPr lang="en-US" sz="2000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Security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Cost reduction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b="1" dirty="0"/>
              <a:t>Better performance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 smtClean="0"/>
              <a:t>Shrink </a:t>
            </a:r>
            <a:r>
              <a:rPr lang="en-US" sz="2000" b="1" dirty="0"/>
              <a:t>broadcast domains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/>
              <a:t>Improved IT staff efficiency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/>
              <a:t>Simpler project and application management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88609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14" t="29062" r="16206" b="31484"/>
          <a:stretch/>
        </p:blipFill>
        <p:spPr bwMode="auto">
          <a:xfrm>
            <a:off x="3578773" y="3664187"/>
            <a:ext cx="5123792" cy="2831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Benefits of VLANs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3139" y="1472540"/>
            <a:ext cx="8091364" cy="495122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800" dirty="0"/>
              <a:t>Groups </a:t>
            </a:r>
            <a:r>
              <a:rPr lang="en-SG" sz="1800" dirty="0" smtClean="0"/>
              <a:t>with sensitive </a:t>
            </a:r>
            <a:r>
              <a:rPr lang="en-SG" sz="1800" dirty="0"/>
              <a:t>data </a:t>
            </a:r>
            <a:r>
              <a:rPr lang="en-SG" sz="1800" dirty="0" smtClean="0"/>
              <a:t>can be separated </a:t>
            </a:r>
            <a:r>
              <a:rPr lang="en-SG" sz="1800" dirty="0"/>
              <a:t>from the rest of the </a:t>
            </a:r>
            <a:r>
              <a:rPr lang="en-SG" sz="1800" dirty="0" smtClean="0"/>
              <a:t>network. Example, computers on </a:t>
            </a:r>
            <a:r>
              <a:rPr lang="en-SG" sz="1800" dirty="0"/>
              <a:t>VLAN 10 </a:t>
            </a:r>
            <a:r>
              <a:rPr lang="en-SG" sz="1800" dirty="0" smtClean="0"/>
              <a:t>are separated </a:t>
            </a:r>
            <a:r>
              <a:rPr lang="en-SG" sz="1800" dirty="0"/>
              <a:t>from </a:t>
            </a:r>
            <a:r>
              <a:rPr lang="en-SG" sz="1800" dirty="0" smtClean="0"/>
              <a:t>traffic on VLAN 20.</a:t>
            </a: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Cost reduction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800" dirty="0" smtClean="0"/>
              <a:t>Reduced </a:t>
            </a:r>
            <a:r>
              <a:rPr lang="en-SG" sz="1800" dirty="0"/>
              <a:t>need for expensive network upgrades and </a:t>
            </a:r>
            <a:r>
              <a:rPr lang="en-SG" sz="1800" dirty="0" smtClean="0"/>
              <a:t>efficient </a:t>
            </a:r>
            <a:r>
              <a:rPr lang="en-SG" sz="1800" dirty="0"/>
              <a:t>use of existing bandwidth and uplinks</a:t>
            </a:r>
            <a:r>
              <a:rPr lang="en-SG" sz="1600" dirty="0" smtClean="0"/>
              <a:t>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30037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14" t="29062" r="16206" b="31484"/>
          <a:stretch/>
        </p:blipFill>
        <p:spPr bwMode="auto">
          <a:xfrm>
            <a:off x="3294993" y="3279227"/>
            <a:ext cx="5849007" cy="3231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Benefits of VLANs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3138" y="1472540"/>
            <a:ext cx="8680861" cy="5172959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b="1" dirty="0" smtClean="0"/>
              <a:t>Better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800" dirty="0" smtClean="0"/>
              <a:t>Divides </a:t>
            </a:r>
            <a:r>
              <a:rPr lang="en-SG" sz="1800" dirty="0"/>
              <a:t>flat Layer 2 networks into multiple logical workgroups (broadcast domains) </a:t>
            </a:r>
            <a:r>
              <a:rPr lang="en-SG" sz="1800" dirty="0" smtClean="0"/>
              <a:t>reducing </a:t>
            </a:r>
            <a:r>
              <a:rPr lang="en-SG" sz="1800" dirty="0"/>
              <a:t>unnecessary traffic on the network and boosts performance</a:t>
            </a:r>
            <a:r>
              <a:rPr lang="en-SG" sz="1600" dirty="0"/>
              <a:t>. </a:t>
            </a:r>
            <a:endParaRPr lang="en-US" sz="1600" dirty="0"/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/>
              <a:t>Shrink broadcast </a:t>
            </a:r>
            <a:r>
              <a:rPr lang="en-US" sz="2000" b="1" dirty="0" smtClean="0"/>
              <a:t>domains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 smtClean="0"/>
              <a:t>Improved </a:t>
            </a:r>
            <a:r>
              <a:rPr lang="en-US" sz="2000" b="1" dirty="0"/>
              <a:t>IT staff </a:t>
            </a:r>
            <a:r>
              <a:rPr lang="en-US" sz="2000" b="1" dirty="0" smtClean="0"/>
              <a:t>efficiency</a:t>
            </a:r>
            <a:endParaRPr lang="en-US" sz="2000" b="1" dirty="0"/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/>
              <a:t>Simpler project and application </a:t>
            </a:r>
            <a:r>
              <a:rPr lang="en-US" sz="2000" b="1" dirty="0" smtClean="0"/>
              <a:t>management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8965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14" t="29062" r="16206" b="31484"/>
          <a:stretch/>
        </p:blipFill>
        <p:spPr bwMode="auto">
          <a:xfrm>
            <a:off x="2275517" y="2715904"/>
            <a:ext cx="6868484" cy="379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029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VLANs in a Multi-Switched Environment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sz="3000" dirty="0" smtClean="0">
                <a:ea typeface="ＭＳ Ｐゴシック" pitchFamily="34" charset="-128"/>
              </a:rPr>
              <a:t>Controlling Broadcast Domains with VLANs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3762" y="1484415"/>
            <a:ext cx="8178038" cy="4713185"/>
          </a:xfrm>
        </p:spPr>
        <p:txBody>
          <a:bodyPr/>
          <a:lstStyle/>
          <a:p>
            <a:r>
              <a:rPr lang="en-US" sz="2000" dirty="0" smtClean="0"/>
              <a:t>A VLAN is a broadcast domain of its own.</a:t>
            </a:r>
          </a:p>
          <a:p>
            <a:r>
              <a:rPr lang="en-US" sz="2000" dirty="0" smtClean="0"/>
              <a:t>A broadcast frame sent by a device in a specific VLAN is forwarded within that VLAN only thus limiting the reach of the broadcast frame and their impact in the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6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030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Types of VLANs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2248" y="1543793"/>
            <a:ext cx="8607973" cy="486632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Data </a:t>
            </a:r>
            <a:r>
              <a:rPr lang="en-US" sz="2000" b="1" dirty="0" smtClean="0"/>
              <a:t>VLAN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Default VLAN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b="1" dirty="0"/>
              <a:t>Native VLAN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 smtClean="0"/>
              <a:t>Management VLAN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 smtClean="0"/>
              <a:t>Voice VLAN</a:t>
            </a: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endParaRPr lang="en-US" sz="2000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4" t="8579" r="3335" b="32381"/>
          <a:stretch/>
        </p:blipFill>
        <p:spPr>
          <a:xfrm>
            <a:off x="2796558" y="3529340"/>
            <a:ext cx="6192970" cy="2929518"/>
          </a:xfrm>
          <a:prstGeom prst="rect">
            <a:avLst/>
          </a:prstGeom>
          <a:ln>
            <a:solidFill>
              <a:schemeClr val="accent1"/>
            </a:solidFill>
            <a:bevel/>
          </a:ln>
        </p:spPr>
      </p:pic>
    </p:spTree>
    <p:extLst>
      <p:ext uri="{BB962C8B-B14F-4D97-AF65-F5344CB8AC3E}">
        <p14:creationId xmlns:p14="http://schemas.microsoft.com/office/powerpoint/2010/main" val="130990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030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Types of VLANs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2248" y="1543793"/>
            <a:ext cx="8607973" cy="486632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Data </a:t>
            </a:r>
            <a:r>
              <a:rPr lang="en-US" sz="2000" b="1" dirty="0" smtClean="0"/>
              <a:t>VLAN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800" dirty="0" smtClean="0"/>
              <a:t>Data VLANs carry </a:t>
            </a:r>
            <a:r>
              <a:rPr lang="en-SG" sz="1800" dirty="0"/>
              <a:t>user-generated </a:t>
            </a:r>
            <a:r>
              <a:rPr lang="en-SG" sz="1800" dirty="0" smtClean="0"/>
              <a:t>traffic and </a:t>
            </a:r>
            <a:r>
              <a:rPr lang="en-SG" sz="1800" dirty="0"/>
              <a:t>are used to separate the network into groups of users.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800" dirty="0" smtClean="0"/>
              <a:t>Voice </a:t>
            </a:r>
            <a:r>
              <a:rPr lang="en-SG" sz="1800" dirty="0"/>
              <a:t>and management traffic </a:t>
            </a:r>
            <a:r>
              <a:rPr lang="en-SG" sz="1800" dirty="0" smtClean="0"/>
              <a:t>should not be on data VLANs and are usually separated into other VLANs. </a:t>
            </a:r>
          </a:p>
          <a:p>
            <a:pPr marL="576263" indent="-457200">
              <a:buFont typeface="+mj-lt"/>
              <a:buAutoNum type="arabicPeriod"/>
            </a:pPr>
            <a:r>
              <a:rPr lang="en-US" sz="2000" b="1" dirty="0" smtClean="0"/>
              <a:t>Default VLAN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800" dirty="0"/>
              <a:t>All switch ports </a:t>
            </a:r>
            <a:r>
              <a:rPr lang="en-SG" sz="1800" dirty="0" smtClean="0"/>
              <a:t>are part </a:t>
            </a:r>
            <a:r>
              <a:rPr lang="en-SG" sz="1800" dirty="0"/>
              <a:t>of the default VLAN </a:t>
            </a:r>
            <a:r>
              <a:rPr lang="en-SG" sz="1800" dirty="0" smtClean="0"/>
              <a:t>in a default switch configuration</a:t>
            </a:r>
            <a:r>
              <a:rPr lang="en-SG" sz="1800" dirty="0"/>
              <a:t> </a:t>
            </a:r>
            <a:r>
              <a:rPr lang="en-SG" sz="1800" dirty="0" smtClean="0"/>
              <a:t>(same </a:t>
            </a:r>
            <a:r>
              <a:rPr lang="en-SG" sz="1800" dirty="0"/>
              <a:t>broadcast </a:t>
            </a:r>
            <a:r>
              <a:rPr lang="en-SG" sz="1800" dirty="0" smtClean="0"/>
              <a:t>domain).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800" dirty="0" smtClean="0"/>
              <a:t>VLAN 1 is the default </a:t>
            </a:r>
          </a:p>
          <a:p>
            <a:pPr marL="457200" lvl="1" indent="0"/>
            <a:r>
              <a:rPr lang="en-SG" sz="1800" dirty="0" smtClean="0"/>
              <a:t>VLAN</a:t>
            </a:r>
            <a:r>
              <a:rPr lang="en-SG" sz="1800" dirty="0"/>
              <a:t> </a:t>
            </a:r>
            <a:r>
              <a:rPr lang="en-SG" sz="1800" dirty="0" smtClean="0"/>
              <a:t>and cannot be </a:t>
            </a:r>
          </a:p>
          <a:p>
            <a:pPr marL="457200" lvl="1" indent="0"/>
            <a:r>
              <a:rPr lang="en-SG" sz="1800" dirty="0" smtClean="0"/>
              <a:t>renamed or deleted.</a:t>
            </a:r>
            <a:endParaRPr lang="en-SG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4" t="8579" r="3335" b="32381"/>
          <a:stretch/>
        </p:blipFill>
        <p:spPr>
          <a:xfrm>
            <a:off x="3972910" y="4334132"/>
            <a:ext cx="4918847" cy="2326808"/>
          </a:xfrm>
          <a:prstGeom prst="rect">
            <a:avLst/>
          </a:prstGeom>
          <a:ln>
            <a:solidFill>
              <a:schemeClr val="accent1"/>
            </a:solidFill>
            <a:bevel/>
          </a:ln>
        </p:spPr>
      </p:pic>
    </p:spTree>
    <p:extLst>
      <p:ext uri="{BB962C8B-B14F-4D97-AF65-F5344CB8AC3E}">
        <p14:creationId xmlns:p14="http://schemas.microsoft.com/office/powerpoint/2010/main" val="84860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030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Overview of VLANs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Types of VLANs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2248" y="1543793"/>
            <a:ext cx="8607973" cy="4866324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b="1" dirty="0" smtClean="0"/>
              <a:t>Native </a:t>
            </a:r>
            <a:r>
              <a:rPr lang="en-US" sz="2000" b="1" dirty="0"/>
              <a:t>VLAN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dirty="0" smtClean="0"/>
              <a:t>Links </a:t>
            </a:r>
            <a:r>
              <a:rPr lang="en-SG" dirty="0"/>
              <a:t>between switches </a:t>
            </a:r>
            <a:r>
              <a:rPr lang="en-SG" dirty="0" smtClean="0"/>
              <a:t>are known as </a:t>
            </a:r>
            <a:r>
              <a:rPr lang="en-SG" u="sng" dirty="0"/>
              <a:t>t</a:t>
            </a:r>
            <a:r>
              <a:rPr lang="en-SG" u="sng" dirty="0" smtClean="0"/>
              <a:t>runk links</a:t>
            </a:r>
            <a:r>
              <a:rPr lang="en-SG" dirty="0" smtClean="0"/>
              <a:t> and the ports are known as </a:t>
            </a:r>
            <a:r>
              <a:rPr lang="en-SG" u="sng" dirty="0"/>
              <a:t>t</a:t>
            </a:r>
            <a:r>
              <a:rPr lang="en-SG" u="sng" dirty="0" smtClean="0"/>
              <a:t>runk ports</a:t>
            </a:r>
            <a:r>
              <a:rPr lang="en-SG" dirty="0" smtClean="0"/>
              <a:t>. Trunk links carry traffic across switches from multiple VLANs by tagging the VLAN ID to the traffic.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dirty="0" smtClean="0"/>
              <a:t>But some legacy LAN traffic may not have any VLAN ID (untagged and doesn’t belong to any pre-defined VLAN). Such traffic are placed on </a:t>
            </a:r>
            <a:r>
              <a:rPr lang="en-SG" dirty="0"/>
              <a:t>the native </a:t>
            </a:r>
            <a:r>
              <a:rPr lang="en-SG" dirty="0" smtClean="0"/>
              <a:t>VLAN.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sz="1800" i="1" dirty="0" smtClean="0"/>
              <a:t>More on trunk links and trunk ports later in the chapter.</a:t>
            </a:r>
            <a:endParaRPr lang="en-SG" i="1" dirty="0"/>
          </a:p>
          <a:p>
            <a:pPr marL="457200" indent="-457200">
              <a:buFont typeface="+mj-lt"/>
              <a:buAutoNum type="arabicPeriod" startAt="4"/>
            </a:pPr>
            <a:r>
              <a:rPr lang="en-US" sz="2000" b="1" dirty="0" smtClean="0"/>
              <a:t>Management VLAN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SG" dirty="0" smtClean="0"/>
              <a:t>Network management traffic to </a:t>
            </a:r>
            <a:r>
              <a:rPr lang="en-SG" dirty="0"/>
              <a:t>access </a:t>
            </a:r>
            <a:r>
              <a:rPr lang="en-SG" dirty="0" smtClean="0"/>
              <a:t>and configure network devices such as switches and routers.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SG" sz="2000" b="1" dirty="0"/>
              <a:t>Voice </a:t>
            </a:r>
            <a:r>
              <a:rPr lang="en-SG" sz="2000" b="1" dirty="0" smtClean="0"/>
              <a:t>VLAN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The voice VLAN </a:t>
            </a:r>
            <a:r>
              <a:rPr lang="en-US" dirty="0" smtClean="0"/>
              <a:t>is for IP </a:t>
            </a:r>
            <a:r>
              <a:rPr lang="en-US" dirty="0"/>
              <a:t>voice traffic from </a:t>
            </a:r>
            <a:r>
              <a:rPr lang="en-US" dirty="0" smtClean="0"/>
              <a:t>IP phones.</a:t>
            </a:r>
            <a:endParaRPr lang="en-US" dirty="0"/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0154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52" t="33963" r="2758" b="30784"/>
          <a:stretch/>
        </p:blipFill>
        <p:spPr bwMode="auto">
          <a:xfrm>
            <a:off x="609601" y="2109720"/>
            <a:ext cx="5638799" cy="20550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04" y="1314029"/>
            <a:ext cx="8309710" cy="3571875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 smtClean="0"/>
              <a:t>A trunk is a </a:t>
            </a:r>
            <a:r>
              <a:rPr lang="en-GB" sz="2400" dirty="0" smtClean="0">
                <a:solidFill>
                  <a:srgbClr val="FF0000"/>
                </a:solidFill>
              </a:rPr>
              <a:t>point-to-point link </a:t>
            </a:r>
            <a:r>
              <a:rPr lang="en-GB" sz="2400" dirty="0" smtClean="0"/>
              <a:t>between two network devices that carries more than 1 VLAN</a:t>
            </a:r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2" t="35491" r="2931" b="28181"/>
          <a:stretch/>
        </p:blipFill>
        <p:spPr bwMode="auto">
          <a:xfrm>
            <a:off x="2057400" y="4243320"/>
            <a:ext cx="6547946" cy="24374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14800" y="3429000"/>
            <a:ext cx="2025426" cy="435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Without trunks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5174" y="6041175"/>
            <a:ext cx="1725665" cy="435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With a trunk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07905" y="463365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kern="0" dirty="0" smtClean="0">
                <a:ea typeface="ＭＳ Ｐゴシック" pitchFamily="34" charset="-128"/>
              </a:rPr>
              <a:t>VLANs in a Multi-Switched Environment</a:t>
            </a:r>
            <a:br>
              <a:rPr lang="en-US" sz="1800" kern="0" dirty="0" smtClean="0">
                <a:ea typeface="ＭＳ Ｐゴシック" pitchFamily="34" charset="-128"/>
              </a:rPr>
            </a:br>
            <a:r>
              <a:rPr lang="en-US" kern="0" dirty="0" smtClean="0">
                <a:ea typeface="ＭＳ Ｐゴシック" pitchFamily="34" charset="-128"/>
              </a:rPr>
              <a:t>VLAN Trunks</a:t>
            </a:r>
          </a:p>
        </p:txBody>
      </p:sp>
    </p:spTree>
    <p:extLst>
      <p:ext uri="{BB962C8B-B14F-4D97-AF65-F5344CB8AC3E}">
        <p14:creationId xmlns:p14="http://schemas.microsoft.com/office/powerpoint/2010/main" val="327337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449717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VLANs in a Multi-Switched Environment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VLAN Trunks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3139" y="1413163"/>
            <a:ext cx="8118660" cy="4962567"/>
          </a:xfrm>
        </p:spPr>
        <p:txBody>
          <a:bodyPr/>
          <a:lstStyle/>
          <a:p>
            <a:r>
              <a:rPr lang="en-US" sz="2000" dirty="0" smtClean="0"/>
              <a:t>A VLAN trunk link connects 2 network devices together.</a:t>
            </a:r>
          </a:p>
          <a:p>
            <a:r>
              <a:rPr lang="en-US" sz="2000" dirty="0" smtClean="0"/>
              <a:t>A VLAN trunk carries traffic </a:t>
            </a:r>
            <a:r>
              <a:rPr lang="en-US" sz="2000" dirty="0"/>
              <a:t>from one VLAN </a:t>
            </a:r>
            <a:r>
              <a:rPr lang="en-US" sz="2000" dirty="0" smtClean="0"/>
              <a:t>or more.</a:t>
            </a:r>
          </a:p>
          <a:p>
            <a:r>
              <a:rPr lang="en-US" sz="2000" dirty="0" smtClean="0"/>
              <a:t>A </a:t>
            </a:r>
            <a:r>
              <a:rPr lang="en-US" sz="2000" dirty="0"/>
              <a:t>VLAN trunk </a:t>
            </a:r>
            <a:r>
              <a:rPr lang="en-US" sz="2000" dirty="0" smtClean="0"/>
              <a:t>is usually established between switches so that devices in the same VLAN can communicate, even if physically connected to different switches.</a:t>
            </a:r>
          </a:p>
          <a:p>
            <a:endParaRPr lang="en-US" dirty="0" smtClean="0"/>
          </a:p>
          <a:p>
            <a:r>
              <a:rPr lang="en-US" i="1" dirty="0" smtClean="0"/>
              <a:t>How does a switch know what VLAN a frame belongs to when it reaches the other end of the trunk link? </a:t>
            </a:r>
          </a:p>
          <a:p>
            <a:pPr lvl="1"/>
            <a:r>
              <a:rPr lang="en-US" i="1" dirty="0" smtClean="0"/>
              <a:t>Answer: </a:t>
            </a:r>
            <a:r>
              <a:rPr lang="en-US" i="1" smtClean="0"/>
              <a:t>IEEE 802.1q </a:t>
            </a:r>
            <a:r>
              <a:rPr lang="en-US" i="1" dirty="0" smtClean="0"/>
              <a:t>frame tagging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9740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5" y="510866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VLANs in a Multi-Switched Environment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VLAN Trunks (cont.)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69" y="1235360"/>
            <a:ext cx="7557247" cy="5151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629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06" y="49899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VLANs in a Multi-</a:t>
            </a:r>
            <a:r>
              <a:rPr lang="en-US" sz="1800" dirty="0">
                <a:ea typeface="ＭＳ Ｐゴシック" pitchFamily="34" charset="-128"/>
              </a:rPr>
              <a:t>S</a:t>
            </a:r>
            <a:r>
              <a:rPr lang="en-US" sz="1800" dirty="0" smtClean="0">
                <a:ea typeface="ＭＳ Ｐゴシック" pitchFamily="34" charset="-128"/>
              </a:rPr>
              <a:t>witched Environment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sz="2700" dirty="0" smtClean="0">
                <a:ea typeface="ＭＳ Ｐゴシック" pitchFamily="34" charset="-128"/>
              </a:rPr>
              <a:t>Tagging Ethernet Frames for VLAN Identification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5637" y="1401288"/>
            <a:ext cx="8087096" cy="5361050"/>
          </a:xfrm>
        </p:spPr>
        <p:txBody>
          <a:bodyPr/>
          <a:lstStyle/>
          <a:p>
            <a:r>
              <a:rPr lang="en-US" sz="2000" dirty="0" smtClean="0"/>
              <a:t>Frame tagging is the process of adding a VLAN identification  header to a frame before transmitting the frame through a trunk link.</a:t>
            </a:r>
          </a:p>
          <a:p>
            <a:r>
              <a:rPr lang="en-US" sz="2000" dirty="0" smtClean="0"/>
              <a:t>It is done so that the frame can be identified to the correct VLAN when it reaches the other end of the trunk link.</a:t>
            </a:r>
          </a:p>
          <a:p>
            <a:r>
              <a:rPr lang="en-US" sz="2000" dirty="0" smtClean="0"/>
              <a:t>A switch tags a VLAN ID to the frame before placing it into trunk link.</a:t>
            </a:r>
          </a:p>
          <a:p>
            <a:r>
              <a:rPr lang="en-US" sz="2000" dirty="0" smtClean="0"/>
              <a:t>On arrival, the other switch reads and removes the tag before forwarding the frame through its non-trunk ports for that VLAN.</a:t>
            </a:r>
          </a:p>
        </p:txBody>
      </p:sp>
    </p:spTree>
    <p:extLst>
      <p:ext uri="{BB962C8B-B14F-4D97-AF65-F5344CB8AC3E}">
        <p14:creationId xmlns:p14="http://schemas.microsoft.com/office/powerpoint/2010/main" val="64489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030" y="46336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VLANs in a Multi-Switched Environment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sz="2700" dirty="0" smtClean="0">
                <a:ea typeface="ＭＳ Ｐゴシック" pitchFamily="34" charset="-128"/>
              </a:rPr>
              <a:t>Tagging Ethernet Frames for VLAN Identification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85" y="1439027"/>
            <a:ext cx="7746943" cy="4986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649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2280" y="46336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VLANs in a Multi-Switched Environment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sz="2700" dirty="0" smtClean="0">
                <a:ea typeface="ＭＳ Ｐゴシック" pitchFamily="34" charset="-128"/>
              </a:rPr>
              <a:t>Native VLANs and 802.1Q Tagging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6259" y="1436914"/>
            <a:ext cx="8065883" cy="4876800"/>
          </a:xfrm>
        </p:spPr>
        <p:txBody>
          <a:bodyPr/>
          <a:lstStyle/>
          <a:p>
            <a:r>
              <a:rPr lang="en-US" sz="2000" dirty="0" smtClean="0"/>
              <a:t>Frames that do not have any VLAN ID belong to the native VLAN.</a:t>
            </a:r>
          </a:p>
          <a:p>
            <a:r>
              <a:rPr lang="en-US" sz="2000" dirty="0" smtClean="0"/>
              <a:t>These frames remain untagged and are placed in the native VLAN when forwarded.</a:t>
            </a:r>
          </a:p>
          <a:p>
            <a:r>
              <a:rPr lang="en-US" sz="2000" dirty="0" smtClean="0"/>
              <a:t>In Cisco switches, the native VLAN is VLAN 1, by default.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02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17142" y="481838"/>
            <a:ext cx="8145462" cy="8382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</a:t>
            </a:r>
            <a:r>
              <a:rPr lang="en-US" smtClean="0">
                <a:ea typeface="ＭＳ Ｐゴシック" pitchFamily="34" charset="-128"/>
              </a:rPr>
              <a:t>4a</a:t>
            </a:r>
            <a:r>
              <a:rPr lang="en-US" dirty="0" smtClean="0">
                <a:ea typeface="ＭＳ Ｐゴシック" pitchFamily="34" charset="-128"/>
              </a:rPr>
              <a:t>: Summary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22514" y="1436914"/>
            <a:ext cx="8327799" cy="447176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This </a:t>
            </a:r>
            <a:r>
              <a:rPr lang="en-US" sz="2000" dirty="0" smtClean="0"/>
              <a:t>chapter:</a:t>
            </a:r>
          </a:p>
          <a:p>
            <a:r>
              <a:rPr lang="en-US" sz="2000" dirty="0" smtClean="0"/>
              <a:t>Introduced VLANs and their types</a:t>
            </a:r>
          </a:p>
          <a:p>
            <a:r>
              <a:rPr lang="en-US" sz="2000" dirty="0" smtClean="0"/>
              <a:t>Described the connection between VLANs and broadcast domains</a:t>
            </a:r>
          </a:p>
          <a:p>
            <a:r>
              <a:rPr lang="en-US" sz="2000" dirty="0" smtClean="0"/>
              <a:t>Discussed IEEE </a:t>
            </a:r>
            <a:r>
              <a:rPr lang="en-US" sz="2000" dirty="0"/>
              <a:t>802.1Q frame tagging </a:t>
            </a:r>
            <a:r>
              <a:rPr lang="en-US" sz="2000" dirty="0" smtClean="0"/>
              <a:t>and how it enables </a:t>
            </a:r>
            <a:r>
              <a:rPr lang="en-US" sz="2000" dirty="0"/>
              <a:t>differentiation between Ethernet frames associated with distinct VLANs as they traverse common trunk links.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27162</TotalTime>
  <Pages>28</Pages>
  <Words>1022</Words>
  <Application>Microsoft Office PowerPoint</Application>
  <PresentationFormat>On-screen Show (4:3)</PresentationFormat>
  <Paragraphs>148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ＭＳ Ｐゴシック</vt:lpstr>
      <vt:lpstr>Arial</vt:lpstr>
      <vt:lpstr>Wingdings</vt:lpstr>
      <vt:lpstr>PPT-TMPLT-WHT_C</vt:lpstr>
      <vt:lpstr>NetAcad-4F_PPT-WHT_060408</vt:lpstr>
      <vt:lpstr>Chapter 4a: VLANs (I)</vt:lpstr>
      <vt:lpstr>Chapter 3</vt:lpstr>
      <vt:lpstr>Chapter 3a: Objectives</vt:lpstr>
      <vt:lpstr>3.1 VLAN Segmentation</vt:lpstr>
      <vt:lpstr>Overview of VLANs VLAN Definitions</vt:lpstr>
      <vt:lpstr>Overview of VLANs VLAN Definitions</vt:lpstr>
      <vt:lpstr>Overview of VLANs VLAN Definitions</vt:lpstr>
      <vt:lpstr>Overview of VLANs Benefits of VLANs</vt:lpstr>
      <vt:lpstr>Overview of VLANs Benefits of VLANs</vt:lpstr>
      <vt:lpstr>Overview of VLANs Benefits of VLANs</vt:lpstr>
      <vt:lpstr>VLANs in a Multi-Switched Environment Controlling Broadcast Domains with VLANs</vt:lpstr>
      <vt:lpstr>Overview of VLANs Types of VLANs</vt:lpstr>
      <vt:lpstr>Overview of VLANs Types of VLANs</vt:lpstr>
      <vt:lpstr>Overview of VLANs Types of VLANs</vt:lpstr>
      <vt:lpstr>PowerPoint Presentation</vt:lpstr>
      <vt:lpstr>VLANs in a Multi-Switched Environment VLAN Trunks</vt:lpstr>
      <vt:lpstr>VLANs in a Multi-Switched Environment VLAN Trunks (cont.)</vt:lpstr>
      <vt:lpstr>VLANs in a Multi-Switched Environment Tagging Ethernet Frames for VLAN Identification</vt:lpstr>
      <vt:lpstr>VLANs in a Multi-Switched Environment Tagging Ethernet Frames for VLAN Identification</vt:lpstr>
      <vt:lpstr>VLANs in a Multi-Switched Environment Native VLANs and 802.1Q Tagging</vt:lpstr>
      <vt:lpstr>Chapter 4a: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HOO BRYAN</cp:lastModifiedBy>
  <cp:revision>1303</cp:revision>
  <cp:lastPrinted>1999-01-27T00:54:54Z</cp:lastPrinted>
  <dcterms:created xsi:type="dcterms:W3CDTF">2006-10-23T15:07:30Z</dcterms:created>
  <dcterms:modified xsi:type="dcterms:W3CDTF">2018-03-22T08:59:04Z</dcterms:modified>
</cp:coreProperties>
</file>