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2">
  <p:sldMasterIdLst>
    <p:sldMasterId id="2147483660" r:id="rId1"/>
    <p:sldMasterId id="2147483945" r:id="rId2"/>
  </p:sldMasterIdLst>
  <p:notesMasterIdLst>
    <p:notesMasterId r:id="rId35"/>
  </p:notesMasterIdLst>
  <p:handoutMasterIdLst>
    <p:handoutMasterId r:id="rId36"/>
  </p:handoutMasterIdLst>
  <p:sldIdLst>
    <p:sldId id="500" r:id="rId3"/>
    <p:sldId id="541" r:id="rId4"/>
    <p:sldId id="821" r:id="rId5"/>
    <p:sldId id="808" r:id="rId6"/>
    <p:sldId id="830" r:id="rId7"/>
    <p:sldId id="831" r:id="rId8"/>
    <p:sldId id="829" r:id="rId9"/>
    <p:sldId id="827" r:id="rId10"/>
    <p:sldId id="839" r:id="rId11"/>
    <p:sldId id="840" r:id="rId12"/>
    <p:sldId id="841" r:id="rId13"/>
    <p:sldId id="843" r:id="rId14"/>
    <p:sldId id="842" r:id="rId15"/>
    <p:sldId id="844" r:id="rId16"/>
    <p:sldId id="845" r:id="rId17"/>
    <p:sldId id="846" r:id="rId18"/>
    <p:sldId id="828" r:id="rId19"/>
    <p:sldId id="848" r:id="rId20"/>
    <p:sldId id="855" r:id="rId21"/>
    <p:sldId id="859" r:id="rId22"/>
    <p:sldId id="861" r:id="rId23"/>
    <p:sldId id="863" r:id="rId24"/>
    <p:sldId id="911" r:id="rId25"/>
    <p:sldId id="912" r:id="rId26"/>
    <p:sldId id="864" r:id="rId27"/>
    <p:sldId id="906" r:id="rId28"/>
    <p:sldId id="865" r:id="rId29"/>
    <p:sldId id="866" r:id="rId30"/>
    <p:sldId id="867" r:id="rId31"/>
    <p:sldId id="868" r:id="rId32"/>
    <p:sldId id="913" r:id="rId33"/>
    <p:sldId id="824" r:id="rId34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0C0C4"/>
    <a:srgbClr val="678DC5"/>
    <a:srgbClr val="3E67A4"/>
    <a:srgbClr val="3E8DC5"/>
    <a:srgbClr val="5F5F65"/>
    <a:srgbClr val="7E7E86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6" autoAdjust="0"/>
    <p:restoredTop sz="94380" autoAdjust="0"/>
  </p:normalViewPr>
  <p:slideViewPr>
    <p:cSldViewPr snapToGrid="0">
      <p:cViewPr varScale="1">
        <p:scale>
          <a:sx n="65" d="100"/>
          <a:sy n="65" d="100"/>
        </p:scale>
        <p:origin x="172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30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26" Type="http://schemas.openxmlformats.org/officeDocument/2006/relationships/slide" Target="slides/slide29.xml"/><Relationship Id="rId3" Type="http://schemas.openxmlformats.org/officeDocument/2006/relationships/slide" Target="slides/slide6.xml"/><Relationship Id="rId21" Type="http://schemas.openxmlformats.org/officeDocument/2006/relationships/slide" Target="slides/slide24.xml"/><Relationship Id="rId7" Type="http://schemas.openxmlformats.org/officeDocument/2006/relationships/slide" Target="slides/slide10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5" Type="http://schemas.openxmlformats.org/officeDocument/2006/relationships/slide" Target="slides/slide28.xml"/><Relationship Id="rId2" Type="http://schemas.openxmlformats.org/officeDocument/2006/relationships/slide" Target="slides/slide5.xml"/><Relationship Id="rId16" Type="http://schemas.openxmlformats.org/officeDocument/2006/relationships/slide" Target="slides/slide19.xml"/><Relationship Id="rId20" Type="http://schemas.openxmlformats.org/officeDocument/2006/relationships/slide" Target="slides/slide23.xml"/><Relationship Id="rId1" Type="http://schemas.openxmlformats.org/officeDocument/2006/relationships/slide" Target="slides/slide4.xml"/><Relationship Id="rId6" Type="http://schemas.openxmlformats.org/officeDocument/2006/relationships/slide" Target="slides/slide9.xml"/><Relationship Id="rId11" Type="http://schemas.openxmlformats.org/officeDocument/2006/relationships/slide" Target="slides/slide14.xml"/><Relationship Id="rId24" Type="http://schemas.openxmlformats.org/officeDocument/2006/relationships/slide" Target="slides/slide27.xml"/><Relationship Id="rId5" Type="http://schemas.openxmlformats.org/officeDocument/2006/relationships/slide" Target="slides/slide8.xml"/><Relationship Id="rId15" Type="http://schemas.openxmlformats.org/officeDocument/2006/relationships/slide" Target="slides/slide18.xml"/><Relationship Id="rId23" Type="http://schemas.openxmlformats.org/officeDocument/2006/relationships/slide" Target="slides/slide26.xml"/><Relationship Id="rId10" Type="http://schemas.openxmlformats.org/officeDocument/2006/relationships/slide" Target="slides/slide13.xml"/><Relationship Id="rId19" Type="http://schemas.openxmlformats.org/officeDocument/2006/relationships/slide" Target="slides/slide22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7.xml"/><Relationship Id="rId22" Type="http://schemas.openxmlformats.org/officeDocument/2006/relationships/slide" Target="slides/slide25.xml"/><Relationship Id="rId27" Type="http://schemas.openxmlformats.org/officeDocument/2006/relationships/slide" Target="slides/slide3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DA18195A-CB64-47E2-B402-53696444ACC8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365603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1C615CF7-9F59-4C8A-B650-E68E69E0FC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4278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678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1347AE-0112-4774-B739-631BBB092071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4067287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3E50C7-A33A-4B96-B5B8-3BD9C10BC48C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051463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7.1.1.1 The Evolution of Dynamic Routing Protocols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082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7.1.1.2 Purpose of Dynamic Routing Protocols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736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7.1.1.2 Purpose of Dynamic Routing Protocols (cont.)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518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7.1.1.3 The Role of Dynamic Routing Protocols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319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7.1.3.1 Dynamic Routing Protocol Operation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480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7.1.3.2 Cold Start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577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7.1.3.3 Network Discovery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647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7.1.3.3 Network Discovery (cont.)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390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7.1.3.3 Network Discovery (cont.)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7269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7.1.3.4 Exchanging the Routing Information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0813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7.1.3.4 Exchanging the Routing Information (cont.)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637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7.1.3.4 Exchanging the Routing Information (cont.)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147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7.1.3.5 Achieving Convergence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175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7.1.4.1 Classifying Routing Protocols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28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7.1.4.2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IGP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EGP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Routing Protocols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4614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7.1.4.8 Routing Protocol Metrics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2087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7.2.2.1 Routing Information Protocol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54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7.3.1.1 Router </a:t>
            </a:r>
            <a:r>
              <a:rPr lang="fr-FR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RIP</a:t>
            </a: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Configuration Mode</a:t>
            </a:r>
          </a:p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7.3.1.2 Advertising Networks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32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7.3.1.3 Examining Default RIP Settings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012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7.3.1.3 Examining Default RIP Settings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8882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7.5.1.3 Remote Network Entries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9075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7.3.1.4 Enabling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RIPv2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1438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7.3.1.5 Disabling Auto Summarization</a:t>
            </a:r>
          </a:p>
        </p:txBody>
      </p:sp>
    </p:spTree>
    <p:extLst>
      <p:ext uri="{BB962C8B-B14F-4D97-AF65-F5344CB8AC3E}">
        <p14:creationId xmlns:p14="http://schemas.microsoft.com/office/powerpoint/2010/main" val="3648651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7.3.1.6 Configuring Passive Interfaces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2134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7.3.1.7 Propagating a Default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4967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7.3.2.1 Advertising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Networks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5321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7.3.2.2 Examining the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RIPng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Configuration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5503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Chapter 7 Summary</a:t>
            </a: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7FA372-31D3-4433-A73B-79DE0EBFB8F4}" type="slidenum">
              <a:rPr lang="en-US" smtClean="0"/>
              <a:pPr/>
              <a:t>32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21242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49DCE3-6259-4D7A-B1A4-505BEFE2CF19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68B39EAB-15C0-47DB-80CA-636A5D3D8FC3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934F42D9-89E1-4620-9E58-D735D372F12F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0" r:id="rId1"/>
    <p:sldLayoutId id="2147484509" r:id="rId2"/>
    <p:sldLayoutId id="2147484510" r:id="rId3"/>
    <p:sldLayoutId id="2147484511" r:id="rId4"/>
    <p:sldLayoutId id="2147484512" r:id="rId5"/>
    <p:sldLayoutId id="2147484513" r:id="rId6"/>
    <p:sldLayoutId id="2147484514" r:id="rId7"/>
    <p:sldLayoutId id="2147484515" r:id="rId8"/>
    <p:sldLayoutId id="2147484516" r:id="rId9"/>
    <p:sldLayoutId id="2147484517" r:id="rId10"/>
    <p:sldLayoutId id="2147484518" r:id="rId11"/>
    <p:sldLayoutId id="2147484519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9C83DDDE-9DCD-477B-857E-9601FF96A69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 smtClean="0"/>
              <a:t>Chapter 7: Routing Dynamically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IT2762 NETCOM</a:t>
            </a:r>
          </a:p>
          <a:p>
            <a:pPr eaLnBrk="1" hangingPunct="1"/>
            <a:r>
              <a:rPr lang="en-US" sz="2400" smtClean="0"/>
              <a:t>2018 </a:t>
            </a:r>
            <a:r>
              <a:rPr lang="en-US" sz="2400" dirty="0" smtClean="0"/>
              <a:t>S1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7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47713" y="1601788"/>
            <a:ext cx="8131175" cy="4437062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7.1 Dynamic Routing Protocols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7.2 Distance Vector Dynamic Routing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7.3 RIP and </a:t>
            </a:r>
            <a:r>
              <a:rPr lang="en-US" dirty="0" err="1" smtClean="0">
                <a:cs typeface="Arial" charset="0"/>
              </a:rPr>
              <a:t>RIPng</a:t>
            </a:r>
            <a:r>
              <a:rPr lang="en-US" dirty="0" smtClean="0">
                <a:cs typeface="Arial" charset="0"/>
              </a:rPr>
              <a:t> Routing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7.4 Link-State Dynamic Routing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7.5 The Routing Table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7.6 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27063" y="434975"/>
            <a:ext cx="8145462" cy="838200"/>
          </a:xfrm>
        </p:spPr>
        <p:txBody>
          <a:bodyPr/>
          <a:lstStyle/>
          <a:p>
            <a:r>
              <a:rPr lang="en-US" dirty="0" smtClean="0"/>
              <a:t>Chapter 7: Objectives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84667" y="1477509"/>
            <a:ext cx="8197850" cy="4575175"/>
          </a:xfrm>
        </p:spPr>
        <p:txBody>
          <a:bodyPr/>
          <a:lstStyle/>
          <a:p>
            <a:r>
              <a:rPr lang="en-US" sz="2000" dirty="0"/>
              <a:t>Explain the basic operation of dynamic routing protocols.</a:t>
            </a:r>
          </a:p>
          <a:p>
            <a:r>
              <a:rPr lang="en-US" sz="2000" dirty="0"/>
              <a:t>Compare and contrast dynamic and static routing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 smtClean="0"/>
              <a:t>Categorize routing </a:t>
            </a:r>
            <a:r>
              <a:rPr lang="en-US" sz="2000" dirty="0"/>
              <a:t>protocols.</a:t>
            </a:r>
          </a:p>
          <a:p>
            <a:r>
              <a:rPr lang="en-US" sz="2000" dirty="0"/>
              <a:t>Describe the process by which distance vector routing protocols learn about other networks.</a:t>
            </a:r>
          </a:p>
          <a:p>
            <a:r>
              <a:rPr lang="en-US" sz="2000" dirty="0"/>
              <a:t>Identify the types of distance-vector routing protocols.</a:t>
            </a:r>
          </a:p>
          <a:p>
            <a:r>
              <a:rPr lang="en-CA" sz="2000" dirty="0"/>
              <a:t>Configure </a:t>
            </a:r>
            <a:r>
              <a:rPr lang="en-CA" sz="2000" dirty="0" smtClean="0"/>
              <a:t>and verify the </a:t>
            </a:r>
            <a:r>
              <a:rPr lang="en-CA" sz="2000" dirty="0"/>
              <a:t>RIP routing protocol.</a:t>
            </a:r>
          </a:p>
          <a:p>
            <a:r>
              <a:rPr lang="en-CA" sz="2000" dirty="0"/>
              <a:t>Configure and verify the </a:t>
            </a:r>
            <a:r>
              <a:rPr lang="en-CA" sz="2000" dirty="0" err="1"/>
              <a:t>RIPng</a:t>
            </a:r>
            <a:r>
              <a:rPr lang="en-CA" sz="2000" dirty="0"/>
              <a:t> routing protocol</a:t>
            </a:r>
            <a:r>
              <a:rPr lang="en-CA" sz="2000" dirty="0" smtClean="0"/>
              <a:t>.</a:t>
            </a:r>
          </a:p>
          <a:p>
            <a:r>
              <a:rPr lang="en-US" sz="2000" dirty="0"/>
              <a:t>Determine the route source, administrative distance, and metric for a given route.</a:t>
            </a:r>
          </a:p>
          <a:p>
            <a:endParaRPr lang="en-US" sz="2000" dirty="0"/>
          </a:p>
          <a:p>
            <a:endParaRPr lang="en-CA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Dynamic Routing Protocol Operation</a:t>
            </a:r>
            <a:br>
              <a:rPr lang="en-US" sz="1800" dirty="0" smtClean="0"/>
            </a:br>
            <a:r>
              <a:rPr lang="en-US" sz="2800" dirty="0" smtClean="0"/>
              <a:t>The Evolution of Dynamic Routing Protocols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799771"/>
            <a:ext cx="7940675" cy="4151767"/>
          </a:xfrm>
        </p:spPr>
        <p:txBody>
          <a:bodyPr/>
          <a:lstStyle/>
          <a:p>
            <a:r>
              <a:rPr lang="en-CA" dirty="0" smtClean="0"/>
              <a:t>Dynamic routing protocols have been used in </a:t>
            </a:r>
            <a:r>
              <a:rPr lang="en-CA" dirty="0"/>
              <a:t>networks since the </a:t>
            </a:r>
            <a:r>
              <a:rPr lang="en-CA" dirty="0" smtClean="0"/>
              <a:t>late 1980s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smtClean="0"/>
              <a:t>RIP (Routing Information Protocol) version 1 in 1988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smtClean="0"/>
              <a:t>Updated to RIPv2 as networks become complex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smtClean="0"/>
              <a:t>With increasing network complexity, newer protocols emerge</a:t>
            </a:r>
            <a:endParaRPr lang="en-US" dirty="0"/>
          </a:p>
          <a:p>
            <a:r>
              <a:rPr lang="en-CA" dirty="0" smtClean="0"/>
              <a:t>Newer versions support </a:t>
            </a:r>
            <a:r>
              <a:rPr lang="en-CA" dirty="0"/>
              <a:t>IPv6 </a:t>
            </a:r>
            <a:r>
              <a:rPr lang="en-CA" dirty="0" smtClean="0"/>
              <a:t>networks</a:t>
            </a:r>
            <a:r>
              <a:rPr lang="en-CA" dirty="0"/>
              <a:t> 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34" b="11628"/>
          <a:stretch/>
        </p:blipFill>
        <p:spPr bwMode="auto">
          <a:xfrm>
            <a:off x="343502" y="4773881"/>
            <a:ext cx="8246876" cy="165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Dynamic Routing Protocol Operation</a:t>
            </a:r>
            <a:br>
              <a:rPr lang="en-US" sz="1800" dirty="0" smtClean="0"/>
            </a:br>
            <a:r>
              <a:rPr lang="en-US" sz="2800" dirty="0" smtClean="0"/>
              <a:t>Purpose of Dynamic Routing Protocols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25010" y="1698171"/>
            <a:ext cx="7940675" cy="4542972"/>
          </a:xfrm>
        </p:spPr>
        <p:txBody>
          <a:bodyPr/>
          <a:lstStyle/>
          <a:p>
            <a:pPr marL="0" indent="0" algn="just">
              <a:buNone/>
            </a:pPr>
            <a:r>
              <a:rPr lang="en-CA" dirty="0"/>
              <a:t>Routing </a:t>
            </a:r>
            <a:r>
              <a:rPr lang="en-CA" dirty="0" smtClean="0"/>
              <a:t>protocols are used </a:t>
            </a:r>
            <a:r>
              <a:rPr lang="en-CA" dirty="0"/>
              <a:t>to facilitate the exchange of routing information between </a:t>
            </a:r>
            <a:r>
              <a:rPr lang="en-CA" dirty="0" smtClean="0"/>
              <a:t>routers. Each routing protocol consists of a set of processes, algorithms and messages that are used to exchange routing information.</a:t>
            </a:r>
          </a:p>
          <a:p>
            <a:pPr marL="0" indent="0">
              <a:buNone/>
            </a:pPr>
            <a:endParaRPr lang="en-CA" sz="1100" dirty="0" smtClean="0"/>
          </a:p>
          <a:p>
            <a:pPr marL="0" indent="0">
              <a:buNone/>
            </a:pPr>
            <a:r>
              <a:rPr lang="en-CA" dirty="0" smtClean="0"/>
              <a:t>The purpose of dynamic routing protocols:</a:t>
            </a:r>
            <a:endParaRPr lang="en-US" dirty="0" smtClean="0"/>
          </a:p>
          <a:p>
            <a:pPr marL="795337" lvl="1" indent="-457200">
              <a:buFont typeface="+mj-lt"/>
              <a:buAutoNum type="arabicPeriod"/>
            </a:pPr>
            <a:r>
              <a:rPr lang="en-CA" sz="2400" dirty="0" smtClean="0"/>
              <a:t>Discover remote networks</a:t>
            </a:r>
            <a:endParaRPr lang="en-US" sz="2400" dirty="0" smtClean="0"/>
          </a:p>
          <a:p>
            <a:pPr marL="795337" lvl="1" indent="-457200">
              <a:buFont typeface="+mj-lt"/>
              <a:buAutoNum type="arabicPeriod"/>
            </a:pPr>
            <a:r>
              <a:rPr lang="en-CA" sz="2400" dirty="0" smtClean="0"/>
              <a:t>Maintain up-to-date routing information</a:t>
            </a:r>
            <a:endParaRPr lang="en-US" sz="2400" dirty="0" smtClean="0"/>
          </a:p>
          <a:p>
            <a:pPr marL="795337" lvl="1" indent="-457200">
              <a:buFont typeface="+mj-lt"/>
              <a:buAutoNum type="arabicPeriod"/>
            </a:pPr>
            <a:r>
              <a:rPr lang="en-CA" sz="2400" dirty="0" smtClean="0"/>
              <a:t>Choose the best path to destination networks</a:t>
            </a:r>
            <a:endParaRPr lang="en-US" sz="2400" dirty="0" smtClean="0"/>
          </a:p>
          <a:p>
            <a:pPr marL="795337" lvl="1" indent="-457200">
              <a:buFont typeface="+mj-lt"/>
              <a:buAutoNum type="arabicPeriod"/>
            </a:pPr>
            <a:r>
              <a:rPr lang="en-CA" sz="2400" dirty="0" smtClean="0"/>
              <a:t>Find a new best path if the current path is no longer available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0956752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Dynamic Routing Protocol Operation</a:t>
            </a:r>
            <a:br>
              <a:rPr lang="en-US" sz="1800" dirty="0" smtClean="0"/>
            </a:b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Purpose</a:t>
            </a:r>
            <a:r>
              <a:rPr lang="en-US" sz="2800" dirty="0" smtClean="0"/>
              <a:t> of Dynamic Routing Protocols (cont.)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39524" y="1683657"/>
            <a:ext cx="7940675" cy="4731657"/>
          </a:xfrm>
        </p:spPr>
        <p:txBody>
          <a:bodyPr/>
          <a:lstStyle/>
          <a:p>
            <a:pPr marL="0" indent="0">
              <a:buNone/>
            </a:pPr>
            <a:r>
              <a:rPr lang="en-CA" dirty="0" smtClean="0"/>
              <a:t>Main components </a:t>
            </a:r>
            <a:r>
              <a:rPr lang="en-CA" dirty="0"/>
              <a:t>of dynamic routing protocols include:</a:t>
            </a:r>
            <a:endParaRPr lang="en-US" dirty="0"/>
          </a:p>
          <a:p>
            <a:pPr lvl="0"/>
            <a:r>
              <a:rPr lang="en-CA" b="1" dirty="0"/>
              <a:t>Data structures -</a:t>
            </a:r>
            <a:r>
              <a:rPr lang="en-CA" dirty="0"/>
              <a:t> Routing protocols typically use tables or databases for its operations. This information is kept in RAM.  </a:t>
            </a:r>
            <a:endParaRPr lang="en-US" dirty="0"/>
          </a:p>
          <a:p>
            <a:pPr lvl="0"/>
            <a:r>
              <a:rPr lang="en-CA" b="1" dirty="0"/>
              <a:t>Routing protocol messages -</a:t>
            </a:r>
            <a:r>
              <a:rPr lang="en-CA" dirty="0"/>
              <a:t> Routing protocols use various types of messages to discover </a:t>
            </a:r>
            <a:r>
              <a:rPr lang="en-CA" dirty="0" smtClean="0"/>
              <a:t>neighboring </a:t>
            </a:r>
            <a:r>
              <a:rPr lang="en-CA" dirty="0"/>
              <a:t>routers, exchange routing information, and </a:t>
            </a:r>
            <a:r>
              <a:rPr lang="en-CA" dirty="0" smtClean="0"/>
              <a:t>to </a:t>
            </a:r>
            <a:r>
              <a:rPr lang="en-CA" dirty="0"/>
              <a:t>learn and </a:t>
            </a:r>
            <a:r>
              <a:rPr lang="en-CA" dirty="0" smtClean="0"/>
              <a:t>update accurate </a:t>
            </a:r>
            <a:r>
              <a:rPr lang="en-CA" dirty="0"/>
              <a:t>information about the network. </a:t>
            </a:r>
            <a:endParaRPr lang="en-US" dirty="0"/>
          </a:p>
          <a:p>
            <a:pPr lvl="0"/>
            <a:r>
              <a:rPr lang="en-CA" b="1" dirty="0"/>
              <a:t>Algorithm -</a:t>
            </a:r>
            <a:r>
              <a:rPr lang="en-CA" dirty="0"/>
              <a:t> </a:t>
            </a:r>
            <a:r>
              <a:rPr lang="en-CA" dirty="0" smtClean="0"/>
              <a:t>Routing </a:t>
            </a:r>
            <a:r>
              <a:rPr lang="en-CA" dirty="0"/>
              <a:t>protocols use algorithms </a:t>
            </a:r>
            <a:r>
              <a:rPr lang="en-CA" dirty="0" smtClean="0"/>
              <a:t>to determine best paths to destination networks.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4446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Dynamic Routing Protocol Operation</a:t>
            </a:r>
            <a:br>
              <a:rPr lang="en-US" sz="1800" dirty="0" smtClean="0"/>
            </a:br>
            <a:r>
              <a:rPr lang="en-US" sz="2800" dirty="0" smtClean="0"/>
              <a:t>The Role of Dynamic Routing Protocols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0571" y="1529025"/>
            <a:ext cx="7924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A" dirty="0" smtClean="0"/>
              <a:t>Advantages of using dynamic routing: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2000" dirty="0" smtClean="0"/>
              <a:t>Routers will automatically share routing information 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2000" dirty="0" smtClean="0"/>
              <a:t>Dynamically determine </a:t>
            </a:r>
            <a:r>
              <a:rPr lang="en-CA" sz="2000" dirty="0"/>
              <a:t>the best </a:t>
            </a:r>
            <a:r>
              <a:rPr lang="en-CA" sz="2000" dirty="0" smtClean="0"/>
              <a:t>path to known destination networks and add </a:t>
            </a:r>
            <a:r>
              <a:rPr lang="en-CA" sz="2000" dirty="0"/>
              <a:t>this information to </a:t>
            </a:r>
            <a:r>
              <a:rPr lang="en-CA" sz="2000" dirty="0" smtClean="0"/>
              <a:t>its routing tables</a:t>
            </a:r>
            <a:endParaRPr lang="en-US" sz="2000" dirty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2000" dirty="0" smtClean="0"/>
              <a:t>Require less </a:t>
            </a:r>
            <a:r>
              <a:rPr lang="en-CA" sz="2000" dirty="0"/>
              <a:t>administrative overhead </a:t>
            </a:r>
            <a:r>
              <a:rPr lang="en-CA" sz="2000" dirty="0" smtClean="0"/>
              <a:t>compared </a:t>
            </a:r>
            <a:r>
              <a:rPr lang="en-CA" sz="2000" dirty="0"/>
              <a:t>to static </a:t>
            </a:r>
            <a:r>
              <a:rPr lang="en-CA" sz="2000" dirty="0" smtClean="0"/>
              <a:t>routing which must be maintained manually</a:t>
            </a:r>
          </a:p>
          <a:p>
            <a:pPr algn="l"/>
            <a:endParaRPr lang="en-CA" dirty="0" smtClean="0"/>
          </a:p>
          <a:p>
            <a:pPr algn="l"/>
            <a:r>
              <a:rPr lang="en-CA" dirty="0" smtClean="0"/>
              <a:t>Disadvantages of using dynamic routing:</a:t>
            </a:r>
          </a:p>
          <a:p>
            <a:pPr marL="342900" indent="-342900" algn="l">
              <a:buClr>
                <a:srgbClr val="678DC5"/>
              </a:buClr>
              <a:buFont typeface="Wingdings" pitchFamily="2" charset="2"/>
              <a:buChar char="§"/>
            </a:pPr>
            <a:r>
              <a:rPr lang="en-CA" sz="2000" dirty="0" smtClean="0"/>
              <a:t>Requires additional CPU, RAM and </a:t>
            </a:r>
            <a:r>
              <a:rPr lang="en-CA" sz="2000" dirty="0"/>
              <a:t>network </a:t>
            </a:r>
            <a:r>
              <a:rPr lang="en-CA" sz="2000" dirty="0" smtClean="0"/>
              <a:t>bandwidth</a:t>
            </a:r>
          </a:p>
          <a:p>
            <a:pPr marL="342900" indent="-342900" algn="l">
              <a:buClr>
                <a:srgbClr val="678DC5"/>
              </a:buClr>
              <a:buFont typeface="Wingdings" pitchFamily="2" charset="2"/>
              <a:buChar char="§"/>
            </a:pPr>
            <a:r>
              <a:rPr lang="en-CA" sz="2000" dirty="0" smtClean="0"/>
              <a:t>Less secure compared to static routing</a:t>
            </a:r>
          </a:p>
          <a:p>
            <a:pPr marL="342900" indent="-342900" algn="l">
              <a:buClr>
                <a:srgbClr val="678DC5"/>
              </a:buClr>
              <a:buFont typeface="Wingdings" pitchFamily="2" charset="2"/>
              <a:buChar char="§"/>
            </a:pPr>
            <a:r>
              <a:rPr lang="en-CA" sz="2000" dirty="0" smtClean="0"/>
              <a:t>Can be more complex to implement</a:t>
            </a:r>
          </a:p>
          <a:p>
            <a:pPr marL="342900" indent="-342900" algn="l">
              <a:buClr>
                <a:srgbClr val="678DC5"/>
              </a:buClr>
              <a:buFont typeface="Wingdings" pitchFamily="2" charset="2"/>
              <a:buChar char="§"/>
            </a:pPr>
            <a:r>
              <a:rPr lang="en-CA" sz="2000" dirty="0" smtClean="0"/>
              <a:t>Certain network scenarios are more suitable for use with static routing</a:t>
            </a:r>
          </a:p>
          <a:p>
            <a:pPr algn="l">
              <a:buClr>
                <a:srgbClr val="678DC5"/>
              </a:buClr>
            </a:pPr>
            <a:endParaRPr lang="en-CA" sz="2000" dirty="0" smtClean="0"/>
          </a:p>
          <a:p>
            <a:pPr algn="l">
              <a:buClr>
                <a:srgbClr val="678DC5"/>
              </a:buClr>
            </a:pPr>
            <a:r>
              <a:rPr lang="en-CA" u="sng" dirty="0"/>
              <a:t>Networks typically use a combination of both static and dynamic routing.</a:t>
            </a:r>
            <a:endParaRPr lang="en-US" u="sng" dirty="0"/>
          </a:p>
          <a:p>
            <a:pPr algn="l">
              <a:buClr>
                <a:srgbClr val="678DC5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569640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Dynamic Routing Protocol Operation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492704"/>
            <a:ext cx="7940675" cy="5365296"/>
          </a:xfrm>
        </p:spPr>
        <p:txBody>
          <a:bodyPr/>
          <a:lstStyle/>
          <a:p>
            <a:pPr marL="0" indent="0">
              <a:buNone/>
            </a:pPr>
            <a:r>
              <a:rPr lang="en-CA" sz="2000" dirty="0" smtClean="0"/>
              <a:t>In </a:t>
            </a:r>
            <a:r>
              <a:rPr lang="en-CA" sz="2000" dirty="0"/>
              <a:t>general, the operations of a dynamic routing protocol can be described as follows: 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CA" sz="2000" dirty="0" smtClean="0"/>
              <a:t>The </a:t>
            </a:r>
            <a:r>
              <a:rPr lang="en-CA" sz="2000" dirty="0"/>
              <a:t>router sends and receives routing messages on its interfaces. 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CA" sz="2000" dirty="0" smtClean="0"/>
              <a:t>The </a:t>
            </a:r>
            <a:r>
              <a:rPr lang="en-CA" sz="2000" dirty="0"/>
              <a:t>router shares routing messages and routing information with other routers that are using the same routing protocol. 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CA" sz="2000" dirty="0" smtClean="0"/>
              <a:t>Routers </a:t>
            </a:r>
            <a:r>
              <a:rPr lang="en-CA" sz="2000" dirty="0"/>
              <a:t>exchange routing information to learn about remote networks.  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CA" sz="2000" dirty="0" smtClean="0"/>
              <a:t>When </a:t>
            </a:r>
            <a:r>
              <a:rPr lang="en-CA" sz="2000" dirty="0"/>
              <a:t>a router detects a topology change the routing protocol can advertise this change to other routers. </a:t>
            </a: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The next few slides show the operation of a dynamic routing protocol…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121202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Cold Start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39264" y="972810"/>
            <a:ext cx="2950358" cy="532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/>
              <a:t>R1 adds the </a:t>
            </a:r>
            <a:r>
              <a:rPr lang="en-US" sz="1800" dirty="0" smtClean="0"/>
              <a:t>directly connected networks 10.1.0.0 on interface Fa0/0 </a:t>
            </a:r>
            <a:r>
              <a:rPr lang="en-US" sz="1800" dirty="0"/>
              <a:t>and 10.2.0.0 </a:t>
            </a:r>
            <a:r>
              <a:rPr lang="en-US" sz="1800" dirty="0" smtClean="0"/>
              <a:t>on S0/0/0 to its routing table.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/>
              <a:t>R2 adds </a:t>
            </a:r>
            <a:r>
              <a:rPr lang="en-US" sz="1800" dirty="0" smtClean="0"/>
              <a:t>the directly connected networks </a:t>
            </a:r>
            <a:r>
              <a:rPr lang="en-US" sz="1800" dirty="0"/>
              <a:t>10.2.0.0 network </a:t>
            </a:r>
            <a:r>
              <a:rPr lang="en-US" sz="1800" dirty="0" smtClean="0"/>
              <a:t>on interface S0/0/0 </a:t>
            </a:r>
            <a:r>
              <a:rPr lang="en-US" sz="1800" dirty="0"/>
              <a:t>and 10.3.0.0 </a:t>
            </a:r>
            <a:r>
              <a:rPr lang="en-US" sz="1800" dirty="0" smtClean="0"/>
              <a:t>on </a:t>
            </a:r>
            <a:r>
              <a:rPr lang="en-US" sz="1800" dirty="0"/>
              <a:t>interface S0/0/1 to its routing </a:t>
            </a:r>
            <a:r>
              <a:rPr lang="en-US" sz="1800" dirty="0" smtClean="0"/>
              <a:t>table.</a:t>
            </a:r>
            <a:endParaRPr lang="en-US" sz="1800" dirty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R3 </a:t>
            </a:r>
            <a:r>
              <a:rPr lang="en-US" sz="1800" dirty="0"/>
              <a:t>adds the directly connected networks 10.3.0.0 </a:t>
            </a:r>
            <a:r>
              <a:rPr lang="en-US" sz="1800" dirty="0" smtClean="0"/>
              <a:t>on interface S0/0/1 </a:t>
            </a:r>
            <a:r>
              <a:rPr lang="en-US" sz="1800" dirty="0"/>
              <a:t>and 10.4.0.0 </a:t>
            </a:r>
            <a:r>
              <a:rPr lang="en-US" sz="1800" dirty="0" smtClean="0"/>
              <a:t>on </a:t>
            </a:r>
            <a:r>
              <a:rPr lang="en-US" sz="1800" dirty="0"/>
              <a:t>interface Fa0/0 to its routing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736" y="1733723"/>
            <a:ext cx="380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Routers configured with RIPv2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34" t="24500" r="15844" b="28674"/>
          <a:stretch/>
        </p:blipFill>
        <p:spPr bwMode="auto">
          <a:xfrm>
            <a:off x="168736" y="2103055"/>
            <a:ext cx="5593331" cy="33580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77999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Network Discovery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78286" y="1351515"/>
            <a:ext cx="3098800" cy="488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CA" sz="2000" dirty="0" smtClean="0"/>
              <a:t>Router R1</a:t>
            </a:r>
            <a:r>
              <a:rPr lang="en-CA" sz="2000" dirty="0"/>
              <a:t>: </a:t>
            </a:r>
            <a:endParaRPr lang="en-US" sz="2000" dirty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1800" dirty="0"/>
              <a:t>Sends an update about network 10.1.0.0 out the </a:t>
            </a:r>
            <a:r>
              <a:rPr lang="en-CA" sz="1800" dirty="0" smtClean="0"/>
              <a:t>S0/0/0 interface</a:t>
            </a:r>
            <a:endParaRPr lang="en-US" sz="1800" dirty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1800" dirty="0" smtClean="0"/>
              <a:t>Sends </a:t>
            </a:r>
            <a:r>
              <a:rPr lang="en-CA" sz="1800" dirty="0"/>
              <a:t>an update about network 10.2.0.0 out the </a:t>
            </a:r>
            <a:r>
              <a:rPr lang="en-CA" sz="1800" dirty="0" smtClean="0"/>
              <a:t>Fa0/0 interface</a:t>
            </a:r>
            <a:endParaRPr lang="en-US" sz="1800" dirty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1800" dirty="0" smtClean="0"/>
              <a:t>Receives </a:t>
            </a:r>
            <a:r>
              <a:rPr lang="en-CA" sz="1800" dirty="0"/>
              <a:t>update from </a:t>
            </a:r>
            <a:r>
              <a:rPr lang="en-CA" sz="1800" dirty="0" smtClean="0"/>
              <a:t>router R2 </a:t>
            </a:r>
            <a:r>
              <a:rPr lang="en-CA" sz="1800" dirty="0"/>
              <a:t>about network 10.3.0.0 with </a:t>
            </a:r>
            <a:r>
              <a:rPr lang="en-CA" sz="1800" dirty="0" smtClean="0"/>
              <a:t>metric </a:t>
            </a:r>
            <a:r>
              <a:rPr lang="en-CA" sz="1800" dirty="0"/>
              <a:t>of </a:t>
            </a:r>
            <a:r>
              <a:rPr lang="en-CA" sz="1800" dirty="0" smtClean="0"/>
              <a:t>1</a:t>
            </a:r>
            <a:endParaRPr lang="en-US" sz="1800" dirty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1800" dirty="0" smtClean="0"/>
              <a:t>Stores </a:t>
            </a:r>
            <a:r>
              <a:rPr lang="en-CA" sz="1800" dirty="0"/>
              <a:t>network 10.3.0.0 in the routing table with </a:t>
            </a:r>
            <a:r>
              <a:rPr lang="en-CA" sz="1800" dirty="0" smtClean="0"/>
              <a:t>metric </a:t>
            </a:r>
            <a:r>
              <a:rPr lang="en-CA" sz="1800" dirty="0"/>
              <a:t>of </a:t>
            </a:r>
            <a:r>
              <a:rPr lang="en-CA" sz="1800" dirty="0" smtClean="0"/>
              <a:t>1 and reachable from exit interface S0/0/0</a:t>
            </a:r>
            <a:endParaRPr lang="en-US" sz="1800" dirty="0"/>
          </a:p>
          <a:p>
            <a:pPr algn="l"/>
            <a:r>
              <a:rPr lang="en-CA" sz="2000" dirty="0"/>
              <a:t> </a:t>
            </a:r>
            <a:endParaRPr lang="en-US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92" y="2099158"/>
            <a:ext cx="5545819" cy="38148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8736" y="1733723"/>
            <a:ext cx="380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Routers configured with RIPv2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254113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Network Discovery (cont.)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16268" y="686223"/>
            <a:ext cx="3243943" cy="610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CA" sz="2000" dirty="0" smtClean="0"/>
              <a:t>Router R2</a:t>
            </a:r>
            <a:r>
              <a:rPr lang="en-CA" sz="2000" dirty="0"/>
              <a:t>: </a:t>
            </a:r>
            <a:endParaRPr lang="en-US" sz="2000" dirty="0"/>
          </a:p>
          <a:p>
            <a:pPr marL="342900" lvl="0" indent="-342900" algn="l">
              <a:buFont typeface="Wingdings" pitchFamily="2" charset="2"/>
              <a:buChar char="§"/>
            </a:pPr>
            <a:r>
              <a:rPr lang="en-CA" sz="1800" dirty="0"/>
              <a:t>Sends an update about network 10.3.0.0 out the </a:t>
            </a:r>
            <a:r>
              <a:rPr lang="en-CA" sz="1800" dirty="0" smtClean="0"/>
              <a:t>S0/0/0 interface</a:t>
            </a:r>
          </a:p>
          <a:p>
            <a:pPr marL="342900" lvl="0" indent="-342900" algn="l">
              <a:buFont typeface="Wingdings" pitchFamily="2" charset="2"/>
              <a:buChar char="§"/>
            </a:pPr>
            <a:endParaRPr lang="en-US" sz="1800" dirty="0"/>
          </a:p>
          <a:p>
            <a:pPr marL="342900" lvl="0" indent="-342900" algn="l">
              <a:buFont typeface="Wingdings" pitchFamily="2" charset="2"/>
              <a:buChar char="§"/>
            </a:pPr>
            <a:r>
              <a:rPr lang="en-CA" sz="1800" dirty="0"/>
              <a:t>Sends an update about network 10.2.0.0 out the </a:t>
            </a:r>
            <a:r>
              <a:rPr lang="en-CA" sz="1800" dirty="0" smtClean="0"/>
              <a:t>S </a:t>
            </a:r>
            <a:r>
              <a:rPr lang="en-CA" sz="1800" dirty="0"/>
              <a:t>0/0/1 interface</a:t>
            </a:r>
            <a:endParaRPr lang="en-US" sz="1800" dirty="0"/>
          </a:p>
          <a:p>
            <a:pPr marL="342900" lvl="0" indent="-342900" algn="l"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Font typeface="Wingdings" pitchFamily="2" charset="2"/>
              <a:buChar char="§"/>
            </a:pPr>
            <a:r>
              <a:rPr lang="en-CA" sz="1800" dirty="0" smtClean="0"/>
              <a:t>Receives </a:t>
            </a:r>
            <a:r>
              <a:rPr lang="en-CA" sz="1800" dirty="0"/>
              <a:t>an update from R1 about network 10.1.0.0 with </a:t>
            </a:r>
            <a:r>
              <a:rPr lang="en-CA" sz="1800" dirty="0" smtClean="0"/>
              <a:t>metric </a:t>
            </a:r>
            <a:r>
              <a:rPr lang="en-CA" sz="1800" dirty="0"/>
              <a:t>of 1</a:t>
            </a:r>
            <a:endParaRPr lang="en-US" sz="1800" dirty="0"/>
          </a:p>
          <a:p>
            <a:pPr marL="342900" lvl="0" indent="-342900" algn="l"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Font typeface="Wingdings" pitchFamily="2" charset="2"/>
              <a:buChar char="§"/>
            </a:pPr>
            <a:r>
              <a:rPr lang="en-CA" sz="1800" dirty="0" smtClean="0"/>
              <a:t>Stores </a:t>
            </a:r>
            <a:r>
              <a:rPr lang="en-CA" sz="1800" dirty="0"/>
              <a:t>network 10.1.0.0 in the routing table with </a:t>
            </a:r>
            <a:r>
              <a:rPr lang="en-CA" sz="1800" dirty="0" smtClean="0"/>
              <a:t>metric </a:t>
            </a:r>
            <a:r>
              <a:rPr lang="en-CA" sz="1800" dirty="0"/>
              <a:t>of 1</a:t>
            </a:r>
            <a:endParaRPr lang="en-US" sz="1800" dirty="0"/>
          </a:p>
          <a:p>
            <a:pPr marL="342900" lvl="0" indent="-342900" algn="l"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Font typeface="Wingdings" pitchFamily="2" charset="2"/>
              <a:buChar char="§"/>
            </a:pPr>
            <a:r>
              <a:rPr lang="en-CA" sz="1800" dirty="0" smtClean="0"/>
              <a:t>Receives </a:t>
            </a:r>
            <a:r>
              <a:rPr lang="en-CA" sz="1800" dirty="0"/>
              <a:t>an update from R3 about network 10.4.0.0 with </a:t>
            </a:r>
            <a:r>
              <a:rPr lang="en-CA" sz="1800" dirty="0" smtClean="0"/>
              <a:t>metric </a:t>
            </a:r>
            <a:r>
              <a:rPr lang="en-CA" sz="1800" dirty="0"/>
              <a:t>of 1</a:t>
            </a:r>
            <a:endParaRPr lang="en-US" sz="1800" dirty="0"/>
          </a:p>
          <a:p>
            <a:pPr marL="342900" lvl="0" indent="-342900" algn="l"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Font typeface="Wingdings" pitchFamily="2" charset="2"/>
              <a:buChar char="§"/>
            </a:pPr>
            <a:r>
              <a:rPr lang="en-CA" sz="1800" dirty="0" smtClean="0"/>
              <a:t>Stores </a:t>
            </a:r>
            <a:r>
              <a:rPr lang="en-CA" sz="1800" dirty="0"/>
              <a:t>network 10.4.0.0 in the routing table with </a:t>
            </a:r>
            <a:r>
              <a:rPr lang="en-CA" sz="1800" dirty="0" smtClean="0"/>
              <a:t>metric </a:t>
            </a:r>
            <a:r>
              <a:rPr lang="en-CA" sz="1800" dirty="0"/>
              <a:t>of </a:t>
            </a:r>
            <a:r>
              <a:rPr lang="en-CA" sz="1800" dirty="0" smtClean="0"/>
              <a:t>1</a:t>
            </a:r>
            <a:endParaRPr lang="en-US" sz="1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92" y="2099158"/>
            <a:ext cx="5545819" cy="38148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8736" y="1733723"/>
            <a:ext cx="380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Routers configured with RIPv2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745436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Network Discovery (cont.)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30782" y="1020319"/>
            <a:ext cx="3113315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2000" dirty="0"/>
          </a:p>
          <a:p>
            <a:pPr algn="l"/>
            <a:r>
              <a:rPr lang="en-CA" sz="2000" dirty="0"/>
              <a:t>R3: </a:t>
            </a:r>
            <a:endParaRPr lang="en-US" sz="2000" dirty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1800" dirty="0"/>
              <a:t>Sends an update about network 10.4.0.0 out the </a:t>
            </a:r>
            <a:r>
              <a:rPr lang="en-CA" sz="1800" dirty="0" smtClean="0"/>
              <a:t>S0/0/1 interface</a:t>
            </a:r>
            <a:endParaRPr lang="en-US" sz="1800" dirty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1800" dirty="0" smtClean="0"/>
              <a:t>Sends </a:t>
            </a:r>
            <a:r>
              <a:rPr lang="en-CA" sz="1800" dirty="0"/>
              <a:t>an update about network 10.3.0.0 out the </a:t>
            </a:r>
            <a:r>
              <a:rPr lang="en-CA" sz="1800" dirty="0" smtClean="0"/>
              <a:t>Fa0/0</a:t>
            </a:r>
            <a:endParaRPr lang="en-US" sz="1800" dirty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1800" dirty="0" smtClean="0"/>
              <a:t>Receives </a:t>
            </a:r>
            <a:r>
              <a:rPr lang="en-CA" sz="1800" dirty="0"/>
              <a:t>an update from R2 about network 10.2.0.0 with </a:t>
            </a:r>
            <a:r>
              <a:rPr lang="en-CA" sz="1800" dirty="0" smtClean="0"/>
              <a:t>metric </a:t>
            </a:r>
            <a:r>
              <a:rPr lang="en-CA" sz="1800" dirty="0"/>
              <a:t>of </a:t>
            </a:r>
            <a:r>
              <a:rPr lang="en-CA" sz="1800" dirty="0" smtClean="0"/>
              <a:t>1</a:t>
            </a:r>
            <a:endParaRPr lang="en-US" sz="1800" dirty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CA" sz="1800" dirty="0" smtClean="0"/>
          </a:p>
          <a:p>
            <a:pPr marL="342900" lvl="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1800" dirty="0" smtClean="0"/>
              <a:t>Stores </a:t>
            </a:r>
            <a:r>
              <a:rPr lang="en-CA" sz="1800" dirty="0"/>
              <a:t>network 10.2.0.0 in the routing table with </a:t>
            </a:r>
            <a:r>
              <a:rPr lang="en-CA" sz="1800" dirty="0" smtClean="0"/>
              <a:t>metric </a:t>
            </a:r>
            <a:r>
              <a:rPr lang="en-CA" sz="1800" dirty="0"/>
              <a:t>of 1</a:t>
            </a:r>
            <a:endParaRPr lang="en-US" sz="1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92" y="2099158"/>
            <a:ext cx="5545819" cy="38148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8736" y="1733723"/>
            <a:ext cx="380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Routers configured with RIPv2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9460018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" r="2879"/>
          <a:stretch/>
        </p:blipFill>
        <p:spPr bwMode="auto">
          <a:xfrm>
            <a:off x="168735" y="2103055"/>
            <a:ext cx="5068283" cy="366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Exchanging Routing Information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20145" y="1430118"/>
            <a:ext cx="3823853" cy="5106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 smtClean="0"/>
              <a:t>Router R1</a:t>
            </a:r>
            <a:r>
              <a:rPr lang="en-US" sz="2000" dirty="0"/>
              <a:t>:</a:t>
            </a:r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/>
              <a:t>Sends an update about network </a:t>
            </a:r>
            <a:r>
              <a:rPr lang="en-US" sz="1800" dirty="0" smtClean="0"/>
              <a:t>10.1.0.0 </a:t>
            </a:r>
            <a:r>
              <a:rPr lang="en-US" sz="1800" dirty="0"/>
              <a:t>out the </a:t>
            </a:r>
            <a:r>
              <a:rPr lang="en-US" sz="1800" dirty="0" smtClean="0"/>
              <a:t>S0/0/0 </a:t>
            </a:r>
            <a:r>
              <a:rPr lang="en-US" sz="1800" dirty="0"/>
              <a:t>interface</a:t>
            </a:r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Sends </a:t>
            </a:r>
            <a:r>
              <a:rPr lang="en-US" sz="1800" dirty="0"/>
              <a:t>an update about networks </a:t>
            </a:r>
            <a:r>
              <a:rPr lang="en-US" sz="1800" dirty="0" smtClean="0"/>
              <a:t>10.2.0.0 </a:t>
            </a:r>
            <a:r>
              <a:rPr lang="en-US" sz="1800" dirty="0"/>
              <a:t>and </a:t>
            </a:r>
            <a:r>
              <a:rPr lang="en-US" sz="1800" dirty="0" smtClean="0"/>
              <a:t>10.3.0.0 </a:t>
            </a:r>
            <a:r>
              <a:rPr lang="en-US" sz="1800" dirty="0"/>
              <a:t>out the </a:t>
            </a:r>
            <a:r>
              <a:rPr lang="en-US" sz="1800" dirty="0" smtClean="0"/>
              <a:t>Fa0/0 interface</a:t>
            </a:r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/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/>
              <a:t>Receives an update from R2 about network 10.3.0.0 with metric of </a:t>
            </a:r>
            <a:r>
              <a:rPr lang="en-US" sz="1800" dirty="0" smtClean="0"/>
              <a:t>1 and 10.4.0.0 </a:t>
            </a:r>
            <a:r>
              <a:rPr lang="en-US" sz="1800" dirty="0"/>
              <a:t>with </a:t>
            </a:r>
            <a:r>
              <a:rPr lang="en-US" sz="1800" dirty="0" smtClean="0"/>
              <a:t>metric </a:t>
            </a:r>
            <a:r>
              <a:rPr lang="en-US" sz="1800" dirty="0"/>
              <a:t>of 2</a:t>
            </a:r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Stores </a:t>
            </a:r>
            <a:r>
              <a:rPr lang="en-US" sz="1800" dirty="0"/>
              <a:t>network </a:t>
            </a:r>
            <a:r>
              <a:rPr lang="en-US" sz="1800" dirty="0" smtClean="0"/>
              <a:t>10.4.0.0 </a:t>
            </a:r>
            <a:r>
              <a:rPr lang="en-US" sz="1800" dirty="0"/>
              <a:t>in the routing table </a:t>
            </a:r>
            <a:r>
              <a:rPr lang="en-US" sz="1800" dirty="0" smtClean="0"/>
              <a:t>with </a:t>
            </a:r>
            <a:r>
              <a:rPr lang="en-US" sz="1800" dirty="0"/>
              <a:t>metric of </a:t>
            </a:r>
            <a:r>
              <a:rPr lang="en-US" sz="1800" dirty="0" smtClean="0"/>
              <a:t>2</a:t>
            </a:r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/>
          </a:p>
          <a:p>
            <a:pPr marL="285750" indent="-28575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No change about network 10.3.0.0 </a:t>
            </a:r>
            <a:r>
              <a:rPr lang="en-US" sz="1800" dirty="0"/>
              <a:t>with </a:t>
            </a:r>
            <a:r>
              <a:rPr lang="en-US" sz="1800" dirty="0" smtClean="0"/>
              <a:t>metric </a:t>
            </a:r>
            <a:r>
              <a:rPr lang="en-US" sz="1800" dirty="0"/>
              <a:t>of 1</a:t>
            </a:r>
            <a:r>
              <a:rPr lang="en-US" sz="1800" dirty="0" smtClean="0"/>
              <a:t>. So </a:t>
            </a:r>
            <a:r>
              <a:rPr lang="en-US" sz="1800" dirty="0"/>
              <a:t>routing information remains the </a:t>
            </a:r>
            <a:r>
              <a:rPr lang="en-US" sz="1800" dirty="0" smtClean="0"/>
              <a:t>same</a:t>
            </a: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168736" y="1733723"/>
            <a:ext cx="380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Routers configured with RIPv2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2884230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Exchanging Routing Information (cont.)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2021" y="1488041"/>
            <a:ext cx="3811979" cy="460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 smtClean="0"/>
              <a:t>Router R2</a:t>
            </a:r>
            <a:r>
              <a:rPr lang="en-US" sz="2000" dirty="0"/>
              <a:t>: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/>
              <a:t>Sends an update about networks </a:t>
            </a:r>
            <a:r>
              <a:rPr lang="en-US" sz="1800" dirty="0" smtClean="0"/>
              <a:t>10.3.0.0 </a:t>
            </a:r>
            <a:r>
              <a:rPr lang="en-US" sz="1800" dirty="0"/>
              <a:t>and </a:t>
            </a:r>
            <a:r>
              <a:rPr lang="en-US" sz="1800" dirty="0" smtClean="0"/>
              <a:t>10.4.0.0 </a:t>
            </a:r>
            <a:r>
              <a:rPr lang="en-US" sz="1800" dirty="0"/>
              <a:t>out </a:t>
            </a:r>
            <a:r>
              <a:rPr lang="en-US" sz="1800" dirty="0" smtClean="0"/>
              <a:t>S0/0/0 </a:t>
            </a:r>
            <a:r>
              <a:rPr lang="en-US" sz="1800" dirty="0"/>
              <a:t>interface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Sends </a:t>
            </a:r>
            <a:r>
              <a:rPr lang="en-US" sz="1800" dirty="0"/>
              <a:t>an update about networks </a:t>
            </a:r>
            <a:r>
              <a:rPr lang="en-US" sz="1800" dirty="0" smtClean="0"/>
              <a:t>10.1.0.0 </a:t>
            </a:r>
            <a:r>
              <a:rPr lang="en-US" sz="1800" dirty="0"/>
              <a:t>and </a:t>
            </a:r>
            <a:r>
              <a:rPr lang="en-US" sz="1800" dirty="0" smtClean="0"/>
              <a:t>10.2.0.0 </a:t>
            </a:r>
            <a:r>
              <a:rPr lang="en-US" sz="1800" dirty="0"/>
              <a:t>out </a:t>
            </a:r>
            <a:r>
              <a:rPr lang="en-US" sz="1800" dirty="0" smtClean="0"/>
              <a:t>S0/0/1 </a:t>
            </a:r>
            <a:r>
              <a:rPr lang="en-US" sz="1800" dirty="0"/>
              <a:t>interface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Receives </a:t>
            </a:r>
            <a:r>
              <a:rPr lang="en-US" sz="1800" dirty="0"/>
              <a:t>an update from R1 about network </a:t>
            </a:r>
            <a:r>
              <a:rPr lang="en-US" sz="1800" dirty="0" smtClean="0"/>
              <a:t>10.1.0.0</a:t>
            </a:r>
            <a:r>
              <a:rPr lang="en-US" sz="1800" dirty="0"/>
              <a:t>. N</a:t>
            </a:r>
            <a:r>
              <a:rPr lang="en-US" sz="1800" dirty="0" smtClean="0"/>
              <a:t>o  </a:t>
            </a:r>
            <a:r>
              <a:rPr lang="en-US" sz="1800" dirty="0"/>
              <a:t>change</a:t>
            </a:r>
            <a:r>
              <a:rPr lang="en-US" sz="1800" dirty="0" smtClean="0"/>
              <a:t>; so </a:t>
            </a:r>
            <a:r>
              <a:rPr lang="en-US" sz="1800" dirty="0"/>
              <a:t>the routing information remains the same.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Receives </a:t>
            </a:r>
            <a:r>
              <a:rPr lang="en-US" sz="1800" dirty="0"/>
              <a:t>an update from R3 about network </a:t>
            </a:r>
            <a:r>
              <a:rPr lang="en-US" sz="1800" dirty="0" smtClean="0"/>
              <a:t>10.4.0.0</a:t>
            </a:r>
            <a:r>
              <a:rPr lang="en-US" sz="1800" dirty="0"/>
              <a:t>. </a:t>
            </a:r>
            <a:r>
              <a:rPr lang="en-US" sz="1800" dirty="0" smtClean="0"/>
              <a:t>No </a:t>
            </a:r>
            <a:r>
              <a:rPr lang="en-US" sz="1800" dirty="0"/>
              <a:t>change; </a:t>
            </a:r>
            <a:r>
              <a:rPr lang="en-US" sz="1800" dirty="0" smtClean="0"/>
              <a:t>so the </a:t>
            </a:r>
            <a:r>
              <a:rPr lang="en-US" sz="1800" dirty="0"/>
              <a:t>routing information remains the same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" r="2879"/>
          <a:stretch/>
        </p:blipFill>
        <p:spPr bwMode="auto">
          <a:xfrm>
            <a:off x="168735" y="2103055"/>
            <a:ext cx="5068283" cy="366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8736" y="1733723"/>
            <a:ext cx="380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Routers configured with RIPv2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320929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Exchanging Routing Information (cont.)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2021" y="1542229"/>
            <a:ext cx="3811979" cy="5106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 smtClean="0"/>
              <a:t>Router R3</a:t>
            </a:r>
            <a:r>
              <a:rPr lang="en-US" sz="2000" dirty="0"/>
              <a:t>: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/>
              <a:t>Sends an update about network </a:t>
            </a:r>
            <a:r>
              <a:rPr lang="en-US" sz="1800" dirty="0" smtClean="0"/>
              <a:t>10.4.0.0 </a:t>
            </a:r>
            <a:r>
              <a:rPr lang="en-US" sz="1800" dirty="0"/>
              <a:t>out </a:t>
            </a:r>
            <a:r>
              <a:rPr lang="en-US" sz="1800" dirty="0" smtClean="0"/>
              <a:t>S0/0/1 </a:t>
            </a:r>
            <a:r>
              <a:rPr lang="en-US" sz="1800" dirty="0"/>
              <a:t>interface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Sends </a:t>
            </a:r>
            <a:r>
              <a:rPr lang="en-US" sz="1800" dirty="0"/>
              <a:t>an update about networks </a:t>
            </a:r>
            <a:r>
              <a:rPr lang="en-US" sz="1800" dirty="0" smtClean="0"/>
              <a:t>10.2.0.0 </a:t>
            </a:r>
            <a:r>
              <a:rPr lang="en-US" sz="1800" dirty="0"/>
              <a:t>and </a:t>
            </a:r>
            <a:r>
              <a:rPr lang="en-US" sz="1800" dirty="0" smtClean="0"/>
              <a:t>10.3.0.0 </a:t>
            </a:r>
            <a:r>
              <a:rPr lang="en-US" sz="1800" dirty="0"/>
              <a:t>out </a:t>
            </a:r>
            <a:r>
              <a:rPr lang="en-US" sz="1800" dirty="0" smtClean="0"/>
              <a:t>Fa0/0 </a:t>
            </a:r>
            <a:r>
              <a:rPr lang="en-US" sz="1800" dirty="0"/>
              <a:t>interface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Receives </a:t>
            </a:r>
            <a:r>
              <a:rPr lang="en-US" sz="1800" dirty="0"/>
              <a:t>an update from R2 about network </a:t>
            </a:r>
            <a:r>
              <a:rPr lang="en-US" sz="1800" dirty="0" smtClean="0"/>
              <a:t>10.1.0.0 </a:t>
            </a:r>
            <a:r>
              <a:rPr lang="en-US" sz="1800" dirty="0"/>
              <a:t>with </a:t>
            </a:r>
            <a:r>
              <a:rPr lang="en-US" sz="1800" dirty="0" smtClean="0"/>
              <a:t>metric </a:t>
            </a:r>
            <a:r>
              <a:rPr lang="en-US" sz="1800" dirty="0"/>
              <a:t>of 2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Stores </a:t>
            </a:r>
            <a:r>
              <a:rPr lang="en-US" sz="1800" dirty="0"/>
              <a:t>network </a:t>
            </a:r>
            <a:r>
              <a:rPr lang="en-US" sz="1800" dirty="0" smtClean="0"/>
              <a:t>10.1.0.0 </a:t>
            </a:r>
            <a:r>
              <a:rPr lang="en-US" sz="1800" dirty="0"/>
              <a:t>in the routing table with </a:t>
            </a:r>
            <a:r>
              <a:rPr lang="en-US" sz="1800" dirty="0" smtClean="0"/>
              <a:t>metric </a:t>
            </a:r>
            <a:r>
              <a:rPr lang="en-US" sz="1800" dirty="0"/>
              <a:t>of 2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Same </a:t>
            </a:r>
            <a:r>
              <a:rPr lang="en-US" sz="1800" dirty="0"/>
              <a:t>update from R2 contains information about network </a:t>
            </a:r>
            <a:r>
              <a:rPr lang="en-US" sz="1800" dirty="0" smtClean="0"/>
              <a:t>10.2.0.0 </a:t>
            </a:r>
            <a:r>
              <a:rPr lang="en-US" sz="1800" dirty="0"/>
              <a:t>with </a:t>
            </a:r>
            <a:r>
              <a:rPr lang="en-US" sz="1800" dirty="0" smtClean="0"/>
              <a:t>metric </a:t>
            </a:r>
            <a:r>
              <a:rPr lang="en-US" sz="1800" dirty="0"/>
              <a:t>of 1. </a:t>
            </a:r>
            <a:r>
              <a:rPr lang="en-US" sz="1800" dirty="0" smtClean="0"/>
              <a:t>No </a:t>
            </a:r>
            <a:r>
              <a:rPr lang="en-US" sz="1800" dirty="0"/>
              <a:t>change; </a:t>
            </a:r>
            <a:r>
              <a:rPr lang="en-US" sz="1800" dirty="0" smtClean="0"/>
              <a:t>so the </a:t>
            </a:r>
            <a:r>
              <a:rPr lang="en-US" sz="1800" dirty="0"/>
              <a:t>routing information remains the same.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" r="2879"/>
          <a:stretch/>
        </p:blipFill>
        <p:spPr bwMode="auto">
          <a:xfrm>
            <a:off x="168735" y="2103055"/>
            <a:ext cx="5068283" cy="366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8736" y="1733723"/>
            <a:ext cx="380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Routers configured with RIPv2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001021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Routing Protocol Operating Fundamentals</a:t>
            </a:r>
            <a:br>
              <a:rPr lang="en-US" sz="1800" dirty="0" smtClean="0"/>
            </a:br>
            <a:r>
              <a:rPr lang="en-US" sz="2800" dirty="0" smtClean="0"/>
              <a:t>Achieving Convergence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7371" y="1745429"/>
            <a:ext cx="836022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CA" sz="2000" dirty="0" smtClean="0"/>
              <a:t>The network is </a:t>
            </a:r>
            <a:r>
              <a:rPr lang="en-CA" sz="2000" u="sng" dirty="0" smtClean="0"/>
              <a:t>converged</a:t>
            </a:r>
            <a:r>
              <a:rPr lang="en-CA" sz="2000" dirty="0" smtClean="0"/>
              <a:t> </a:t>
            </a:r>
            <a:r>
              <a:rPr lang="en-CA" sz="2000" dirty="0"/>
              <a:t>when </a:t>
            </a:r>
            <a:r>
              <a:rPr lang="en-CA" sz="2000" u="sng" dirty="0"/>
              <a:t>all routers have complete and accurate information about the entire </a:t>
            </a:r>
            <a:r>
              <a:rPr lang="en-CA" sz="2000" u="sng" dirty="0" smtClean="0"/>
              <a:t>network</a:t>
            </a:r>
            <a:r>
              <a:rPr lang="en-CA" sz="2000" dirty="0" smtClean="0"/>
              <a:t>:</a:t>
            </a:r>
          </a:p>
          <a:p>
            <a:pPr marL="342900" indent="-342900" algn="l">
              <a:buFont typeface="Wingdings" pitchFamily="2" charset="2"/>
              <a:buChar char="§"/>
            </a:pPr>
            <a:endParaRPr lang="en-CA" sz="2000" dirty="0"/>
          </a:p>
          <a:p>
            <a:pPr marL="342900" indent="-342900" algn="l">
              <a:buFont typeface="Wingdings" pitchFamily="2" charset="2"/>
              <a:buChar char="§"/>
            </a:pPr>
            <a:r>
              <a:rPr lang="en-CA" sz="2000" dirty="0" smtClean="0"/>
              <a:t>Convergence </a:t>
            </a:r>
            <a:r>
              <a:rPr lang="en-CA" sz="2000" dirty="0"/>
              <a:t>time is the time it takes routers to share information, calculate best paths, and update their routing </a:t>
            </a:r>
            <a:r>
              <a:rPr lang="en-CA" sz="2000" dirty="0" smtClean="0"/>
              <a:t>tables.</a:t>
            </a:r>
          </a:p>
          <a:p>
            <a:pPr marL="342900" indent="-342900" algn="l">
              <a:buFont typeface="Wingdings" pitchFamily="2" charset="2"/>
              <a:buChar char="§"/>
            </a:pPr>
            <a:endParaRPr lang="en-CA" sz="2000" dirty="0"/>
          </a:p>
          <a:p>
            <a:pPr marL="342900" indent="-342900" algn="l">
              <a:buFont typeface="Wingdings" pitchFamily="2" charset="2"/>
              <a:buChar char="§"/>
            </a:pPr>
            <a:r>
              <a:rPr lang="en-CA" sz="2000" dirty="0" smtClean="0"/>
              <a:t>A </a:t>
            </a:r>
            <a:r>
              <a:rPr lang="en-CA" sz="2000" dirty="0"/>
              <a:t>network is not completely operable until the network has </a:t>
            </a:r>
            <a:r>
              <a:rPr lang="en-CA" sz="2000" dirty="0" smtClean="0"/>
              <a:t>converged.</a:t>
            </a:r>
            <a:endParaRPr lang="en-US" sz="2000" dirty="0"/>
          </a:p>
          <a:p>
            <a:pPr algn="l"/>
            <a:r>
              <a:rPr lang="en-CA" sz="2000" dirty="0"/>
              <a:t> </a:t>
            </a:r>
            <a:endParaRPr lang="en-US" sz="2000" dirty="0"/>
          </a:p>
          <a:p>
            <a:pPr marL="342900" indent="-342900" algn="l">
              <a:buFont typeface="Wingdings" pitchFamily="2" charset="2"/>
              <a:buChar char="§"/>
            </a:pPr>
            <a:r>
              <a:rPr lang="en-CA" sz="2000" dirty="0"/>
              <a:t>Convergence properties include the speed of propagation of routing information and the calculation of optimal </a:t>
            </a:r>
            <a:r>
              <a:rPr lang="en-CA" sz="2000" dirty="0" smtClean="0"/>
              <a:t>paths.</a:t>
            </a:r>
            <a:endParaRPr lang="en-US" sz="2000" dirty="0"/>
          </a:p>
          <a:p>
            <a:pPr marL="342900" indent="-342900" algn="l">
              <a:buFont typeface="Wingdings" pitchFamily="2" charset="2"/>
              <a:buChar char="§"/>
            </a:pPr>
            <a:endParaRPr lang="en-CA" sz="2000" dirty="0" smtClean="0"/>
          </a:p>
          <a:p>
            <a:pPr marL="342900" indent="-342900" algn="l">
              <a:buFont typeface="Wingdings" pitchFamily="2" charset="2"/>
              <a:buChar char="§"/>
            </a:pPr>
            <a:r>
              <a:rPr lang="en-CA" sz="2000" dirty="0" smtClean="0"/>
              <a:t>Generally</a:t>
            </a:r>
            <a:r>
              <a:rPr lang="en-CA" sz="2000" dirty="0"/>
              <a:t>, older protocols, such as RIP, are slow to converge, whereas modern protocols, such as EIGRP and OSPF, converge more quickly.  </a:t>
            </a:r>
            <a:endParaRPr lang="en-US" sz="2000" dirty="0"/>
          </a:p>
          <a:p>
            <a:pPr algn="l"/>
            <a:r>
              <a:rPr lang="en-CA" sz="2000" dirty="0"/>
              <a:t>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837892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 bwMode="auto">
          <a:xfrm>
            <a:off x="199100" y="4793088"/>
            <a:ext cx="2674716" cy="19110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Types of Routing Protocols</a:t>
            </a:r>
            <a:br>
              <a:rPr lang="en-US" sz="1800" dirty="0" smtClean="0"/>
            </a:br>
            <a:r>
              <a:rPr lang="en-US" sz="2800" dirty="0" smtClean="0"/>
              <a:t>Classifying Routing Protocols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9"/>
          <a:stretch/>
        </p:blipFill>
        <p:spPr bwMode="auto">
          <a:xfrm>
            <a:off x="3478021" y="1471859"/>
            <a:ext cx="5464086" cy="48675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Rounded Rectangle 1"/>
          <p:cNvSpPr/>
          <p:nvPr/>
        </p:nvSpPr>
        <p:spPr bwMode="auto">
          <a:xfrm>
            <a:off x="2968815" y="5189521"/>
            <a:ext cx="2505709" cy="332504"/>
          </a:xfrm>
          <a:prstGeom prst="roundRect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116" y="1831627"/>
            <a:ext cx="2674700" cy="474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600" b="1" u="sng" dirty="0" err="1" smtClean="0"/>
              <a:t>Classful</a:t>
            </a:r>
            <a:r>
              <a:rPr lang="en-SG" sz="1600" b="1" u="sng" dirty="0" smtClean="0"/>
              <a:t> routing protocols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600" dirty="0"/>
              <a:t>Subnet </a:t>
            </a:r>
            <a:r>
              <a:rPr lang="en-SG" sz="1600" dirty="0" smtClean="0"/>
              <a:t>masks </a:t>
            </a:r>
            <a:r>
              <a:rPr lang="en-SG" sz="1600" u="sng" dirty="0"/>
              <a:t>not</a:t>
            </a:r>
            <a:r>
              <a:rPr lang="en-SG" sz="1600" dirty="0"/>
              <a:t> sent in routing updates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600" dirty="0" smtClean="0"/>
              <a:t>Used when networks were assigned by Class A/B/C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600" dirty="0" smtClean="0"/>
              <a:t>Do not support VLSM and CIDR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600" dirty="0" smtClean="0"/>
              <a:t>Do not support </a:t>
            </a:r>
            <a:r>
              <a:rPr lang="en-SG" sz="1600" dirty="0" err="1" smtClean="0"/>
              <a:t>discontiguous</a:t>
            </a:r>
            <a:r>
              <a:rPr lang="en-SG" sz="1600" dirty="0" smtClean="0"/>
              <a:t> networks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SG" sz="1600" dirty="0"/>
          </a:p>
          <a:p>
            <a:pPr algn="l"/>
            <a:endParaRPr lang="en-SG" sz="1600" dirty="0" smtClean="0"/>
          </a:p>
          <a:p>
            <a:pPr algn="l"/>
            <a:endParaRPr lang="en-SG" sz="1600" dirty="0" smtClean="0"/>
          </a:p>
          <a:p>
            <a:pPr algn="l"/>
            <a:r>
              <a:rPr lang="en-SG" sz="1600" b="1" u="sng" dirty="0" smtClean="0"/>
              <a:t>Classless </a:t>
            </a:r>
            <a:r>
              <a:rPr lang="en-SG" sz="1600" b="1" u="sng" dirty="0"/>
              <a:t>routing protocols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600" dirty="0"/>
              <a:t>Subnet </a:t>
            </a:r>
            <a:r>
              <a:rPr lang="en-SG" sz="1600" dirty="0" smtClean="0"/>
              <a:t>masks are sent </a:t>
            </a:r>
            <a:r>
              <a:rPr lang="en-SG" sz="1600" dirty="0"/>
              <a:t>in routing </a:t>
            </a:r>
            <a:r>
              <a:rPr lang="en-SG" sz="1600" dirty="0" smtClean="0"/>
              <a:t>updates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600" dirty="0" smtClean="0"/>
              <a:t>Thus support VLSM/ CIDR/ </a:t>
            </a:r>
            <a:r>
              <a:rPr lang="en-SG" sz="1600" dirty="0" err="1" smtClean="0"/>
              <a:t>discontiguous</a:t>
            </a:r>
            <a:r>
              <a:rPr lang="en-SG" sz="1600" dirty="0" smtClean="0"/>
              <a:t> networks</a:t>
            </a:r>
            <a:endParaRPr lang="en-SG" sz="1600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2873816" y="4476997"/>
            <a:ext cx="332506" cy="62939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Rounded Rectangle 7"/>
          <p:cNvSpPr/>
          <p:nvPr/>
        </p:nvSpPr>
        <p:spPr bwMode="auto">
          <a:xfrm>
            <a:off x="3002467" y="5888170"/>
            <a:ext cx="4122728" cy="381999"/>
          </a:xfrm>
          <a:prstGeom prst="roundRect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9116" y="1831627"/>
            <a:ext cx="2674700" cy="26453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2446317" y="5748629"/>
            <a:ext cx="522498" cy="19554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80019962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Types of Routing Protocols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2800" dirty="0"/>
              <a:t>IGP and EGP Routing Protocols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33" y="2505694"/>
            <a:ext cx="6055097" cy="41919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246421" y="2727467"/>
            <a:ext cx="2766950" cy="358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dirty="0"/>
              <a:t>Interior Gateway Protocols (IGP) </a:t>
            </a:r>
            <a:r>
              <a:rPr lang="en-US" sz="1800" dirty="0"/>
              <a:t>- </a:t>
            </a: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Used </a:t>
            </a:r>
            <a:r>
              <a:rPr lang="en-US" sz="1800" dirty="0"/>
              <a:t>for routing within an </a:t>
            </a:r>
            <a:r>
              <a:rPr lang="en-US" sz="1800" dirty="0" smtClean="0"/>
              <a:t>AS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Include </a:t>
            </a:r>
            <a:r>
              <a:rPr lang="en-US" sz="1800" dirty="0"/>
              <a:t>RIP, EIGRP, OSPF, </a:t>
            </a:r>
            <a:r>
              <a:rPr lang="en-US" sz="1800" dirty="0" smtClean="0"/>
              <a:t>IS-IS</a:t>
            </a:r>
            <a:endParaRPr lang="en-US" sz="1800" dirty="0"/>
          </a:p>
          <a:p>
            <a:pPr algn="l"/>
            <a:endParaRPr lang="en-US" sz="1800" b="1" dirty="0" smtClean="0"/>
          </a:p>
          <a:p>
            <a:pPr algn="l"/>
            <a:r>
              <a:rPr lang="en-US" sz="1800" b="1" dirty="0" smtClean="0"/>
              <a:t>Exterior </a:t>
            </a:r>
            <a:r>
              <a:rPr lang="en-US" sz="1800" b="1" dirty="0"/>
              <a:t>Gateway Protocols (EGP) </a:t>
            </a:r>
            <a:r>
              <a:rPr lang="en-US" sz="1800" dirty="0"/>
              <a:t>- </a:t>
            </a:r>
            <a:endParaRPr lang="en-US" sz="18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 smtClean="0"/>
              <a:t>Used </a:t>
            </a:r>
            <a:r>
              <a:rPr lang="en-US" sz="1800" dirty="0"/>
              <a:t>for routing between </a:t>
            </a:r>
            <a:r>
              <a:rPr lang="en-US" sz="1800" dirty="0" smtClean="0"/>
              <a:t>AS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1800" dirty="0"/>
              <a:t>O</a:t>
            </a:r>
            <a:r>
              <a:rPr lang="en-US" sz="1800" dirty="0" smtClean="0"/>
              <a:t>fficial </a:t>
            </a:r>
            <a:r>
              <a:rPr lang="en-US" sz="1800" dirty="0"/>
              <a:t>routing protocol used by the </a:t>
            </a:r>
            <a:r>
              <a:rPr lang="en-US" sz="1800" dirty="0" smtClean="0"/>
              <a:t>Internet</a:t>
            </a:r>
            <a:endParaRPr lang="en-US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451262" y="1492442"/>
            <a:ext cx="8300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dirty="0"/>
              <a:t>An </a:t>
            </a:r>
            <a:r>
              <a:rPr lang="en-SG" sz="2000" u="sng" dirty="0" smtClean="0"/>
              <a:t>Autonomous System </a:t>
            </a:r>
            <a:r>
              <a:rPr lang="en-SG" sz="2000" u="sng" dirty="0"/>
              <a:t>(AS)</a:t>
            </a:r>
            <a:r>
              <a:rPr lang="en-SG" sz="2000" dirty="0"/>
              <a:t> is a collection of routers under a common administration </a:t>
            </a:r>
            <a:r>
              <a:rPr lang="en-SG" sz="2000" dirty="0" smtClean="0"/>
              <a:t>such </a:t>
            </a:r>
            <a:r>
              <a:rPr lang="en-SG" sz="2000" dirty="0"/>
              <a:t>as a company or </a:t>
            </a:r>
            <a:r>
              <a:rPr lang="en-SG" sz="2000" dirty="0" smtClean="0"/>
              <a:t>organization</a:t>
            </a:r>
            <a:r>
              <a:rPr lang="en-SG" sz="2000" dirty="0"/>
              <a:t>. </a:t>
            </a:r>
            <a:r>
              <a:rPr lang="en-SG" sz="2000" dirty="0" smtClean="0"/>
              <a:t>Also </a:t>
            </a:r>
            <a:r>
              <a:rPr lang="en-SG" sz="2000" dirty="0"/>
              <a:t>known as a routing domain. </a:t>
            </a:r>
            <a:r>
              <a:rPr lang="en-SG" sz="2000" dirty="0" smtClean="0"/>
              <a:t>An example is NYP’s internal network.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155071931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05" t="37547" r="20987" b="20583"/>
          <a:stretch/>
        </p:blipFill>
        <p:spPr bwMode="auto">
          <a:xfrm>
            <a:off x="3800104" y="3291642"/>
            <a:ext cx="5213267" cy="342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Types of Routing Protocols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2800" dirty="0" smtClean="0"/>
              <a:t>Routing Protocol Metrics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401122" y="1472540"/>
            <a:ext cx="760548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CA" dirty="0"/>
              <a:t>A metric is a measurable value that is assigned by </a:t>
            </a:r>
            <a:r>
              <a:rPr lang="en-CA" dirty="0" smtClean="0"/>
              <a:t>a </a:t>
            </a:r>
            <a:r>
              <a:rPr lang="en-CA" dirty="0"/>
              <a:t>routing protocol to different </a:t>
            </a:r>
            <a:r>
              <a:rPr lang="en-CA" dirty="0" smtClean="0"/>
              <a:t>possible routes </a:t>
            </a:r>
            <a:r>
              <a:rPr lang="en-CA" dirty="0"/>
              <a:t>based on the usefulness of that </a:t>
            </a:r>
            <a:r>
              <a:rPr lang="en-CA" dirty="0" smtClean="0"/>
              <a:t>route</a:t>
            </a:r>
            <a:r>
              <a:rPr lang="en-CA" dirty="0"/>
              <a:t>.</a:t>
            </a:r>
            <a:endParaRPr lang="en-CA" dirty="0" smtClean="0"/>
          </a:p>
          <a:p>
            <a:pPr algn="l"/>
            <a:endParaRPr lang="en-CA" dirty="0" smtClean="0"/>
          </a:p>
          <a:p>
            <a:pPr algn="l"/>
            <a:r>
              <a:rPr lang="en-CA" dirty="0" smtClean="0"/>
              <a:t>It is then used:-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2000" dirty="0" smtClean="0"/>
              <a:t>To determine </a:t>
            </a:r>
            <a:r>
              <a:rPr lang="en-CA" sz="2000" dirty="0"/>
              <a:t>the overall “cost” </a:t>
            </a:r>
            <a:r>
              <a:rPr lang="en-US" sz="2000" dirty="0"/>
              <a:t> </a:t>
            </a:r>
            <a:r>
              <a:rPr lang="en-CA" sz="2000" dirty="0"/>
              <a:t>of </a:t>
            </a:r>
            <a:endParaRPr lang="en-CA" sz="2000" dirty="0" smtClean="0"/>
          </a:p>
          <a:p>
            <a:pPr algn="l">
              <a:buClr>
                <a:schemeClr val="accent5">
                  <a:lumMod val="75000"/>
                </a:schemeClr>
              </a:buClr>
            </a:pPr>
            <a:r>
              <a:rPr lang="en-CA" sz="2000" dirty="0" smtClean="0"/>
              <a:t>a </a:t>
            </a:r>
            <a:r>
              <a:rPr lang="en-CA" sz="2000" dirty="0"/>
              <a:t>path from source to </a:t>
            </a:r>
            <a:r>
              <a:rPr lang="en-CA" sz="2000" dirty="0" smtClean="0"/>
              <a:t>destination.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CA" sz="20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CA" sz="2000" dirty="0" smtClean="0"/>
              <a:t>By the routing protocol to </a:t>
            </a:r>
            <a:r>
              <a:rPr lang="en-CA" sz="2000" dirty="0"/>
              <a:t>determine </a:t>
            </a:r>
            <a:endParaRPr lang="en-CA" sz="2000" dirty="0" smtClean="0"/>
          </a:p>
          <a:p>
            <a:pPr algn="l">
              <a:buClr>
                <a:schemeClr val="accent5">
                  <a:lumMod val="75000"/>
                </a:schemeClr>
              </a:buClr>
            </a:pPr>
            <a:r>
              <a:rPr lang="en-CA" sz="2000" dirty="0" smtClean="0"/>
              <a:t>the </a:t>
            </a:r>
            <a:r>
              <a:rPr lang="en-CA" sz="2000" u="sng" dirty="0" smtClean="0"/>
              <a:t>best</a:t>
            </a:r>
            <a:r>
              <a:rPr lang="en-CA" sz="2000" dirty="0" smtClean="0"/>
              <a:t> path with </a:t>
            </a:r>
            <a:r>
              <a:rPr lang="en-CA" sz="2000" dirty="0"/>
              <a:t>the lowest </a:t>
            </a:r>
            <a:r>
              <a:rPr lang="en-CA" sz="2000" dirty="0" smtClean="0"/>
              <a:t>cost.</a:t>
            </a:r>
            <a:endParaRPr lang="en-US" dirty="0"/>
          </a:p>
          <a:p>
            <a:pPr algn="l">
              <a:buClr>
                <a:schemeClr val="accent5">
                  <a:lumMod val="75000"/>
                </a:schemeClr>
              </a:buClr>
            </a:pPr>
            <a:endParaRPr lang="en-US" sz="2000" dirty="0" smtClean="0"/>
          </a:p>
          <a:p>
            <a:pPr algn="l">
              <a:buClr>
                <a:schemeClr val="accent5">
                  <a:lumMod val="75000"/>
                </a:schemeClr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026405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68750" y="513505"/>
            <a:ext cx="8145462" cy="838200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Types of Distance Vector Routing Protocols</a:t>
            </a:r>
            <a:br>
              <a:rPr lang="en-US" sz="1800" dirty="0" smtClean="0"/>
            </a:br>
            <a:r>
              <a:rPr lang="en-US" sz="2800" dirty="0" smtClean="0"/>
              <a:t>Routing Information Protocol (RIP)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55638" y="1408907"/>
            <a:ext cx="7940675" cy="3571875"/>
          </a:xfrm>
        </p:spPr>
        <p:txBody>
          <a:bodyPr/>
          <a:lstStyle/>
          <a:p>
            <a:r>
              <a:rPr lang="en-SG" sz="2000" dirty="0" smtClean="0"/>
              <a:t>Characteristics of RIP:-</a:t>
            </a:r>
          </a:p>
          <a:p>
            <a:pPr marL="795337" lvl="1" indent="-457200">
              <a:buFont typeface="+mj-lt"/>
              <a:buAutoNum type="alphaLcParenR"/>
            </a:pPr>
            <a:r>
              <a:rPr lang="en-SG" sz="1800" dirty="0" smtClean="0"/>
              <a:t>Uses hop count as a metric with 15 as maximum value. </a:t>
            </a:r>
            <a:r>
              <a:rPr lang="en-SG" sz="1800" dirty="0"/>
              <a:t>A hop count of 16 indicates an unreachable route</a:t>
            </a:r>
            <a:r>
              <a:rPr lang="en-SG" sz="1800" dirty="0" smtClean="0"/>
              <a:t>.</a:t>
            </a:r>
          </a:p>
          <a:p>
            <a:pPr marL="795337" lvl="1" indent="-457200">
              <a:buFont typeface="+mj-lt"/>
              <a:buAutoNum type="alphaLcParenR"/>
            </a:pPr>
            <a:r>
              <a:rPr lang="en-SG" sz="1800" dirty="0" smtClean="0"/>
              <a:t>Routing updates are sent every 30 seconds. </a:t>
            </a:r>
          </a:p>
          <a:p>
            <a:pPr marL="795337" lvl="1" indent="-457200">
              <a:buFont typeface="+mj-lt"/>
              <a:buAutoNum type="alphaLcParenR"/>
            </a:pPr>
            <a:r>
              <a:rPr lang="en-SG" sz="1800" dirty="0" smtClean="0"/>
              <a:t>Uses UDP as transport protocol on port 520.</a:t>
            </a:r>
          </a:p>
          <a:p>
            <a:pPr marL="795337" lvl="1" indent="-457200">
              <a:buFont typeface="+mj-lt"/>
              <a:buAutoNum type="alphaLcParenR"/>
            </a:pPr>
            <a:r>
              <a:rPr lang="en-SG" sz="1800" dirty="0" smtClean="0"/>
              <a:t>Administrative Distance (AD) is 120.</a:t>
            </a:r>
          </a:p>
          <a:p>
            <a:pPr marL="795337" lvl="1" indent="-457200">
              <a:buFont typeface="+mj-lt"/>
              <a:buAutoNum type="alphaLcParenR"/>
            </a:pPr>
            <a:endParaRPr lang="en-SG" sz="1800" dirty="0" smtClean="0"/>
          </a:p>
          <a:p>
            <a:r>
              <a:rPr lang="en-SG" sz="2000" dirty="0" smtClean="0"/>
              <a:t>Some differences between RIPv1 and RIPv2:-</a:t>
            </a:r>
            <a:endParaRPr lang="en-SG" sz="2000" dirty="0"/>
          </a:p>
          <a:p>
            <a:pPr marL="457200" indent="-457200">
              <a:buFont typeface="+mj-lt"/>
              <a:buAutoNum type="alphaLcParenR"/>
            </a:pPr>
            <a:endParaRPr lang="en-SG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195157"/>
              </p:ext>
            </p:extLst>
          </p:nvPr>
        </p:nvGraphicFramePr>
        <p:xfrm>
          <a:off x="657101" y="4361782"/>
          <a:ext cx="7857507" cy="223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6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066">
                <a:tc>
                  <a:txBody>
                    <a:bodyPr/>
                    <a:lstStyle/>
                    <a:p>
                      <a:endParaRPr lang="en-SG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RIPv1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RIPv2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010">
                <a:tc>
                  <a:txBody>
                    <a:bodyPr/>
                    <a:lstStyle/>
                    <a:p>
                      <a:r>
                        <a:rPr lang="en-SG" sz="1800" dirty="0" smtClean="0"/>
                        <a:t>Routing updates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dirty="0" smtClean="0"/>
                        <a:t>Broadcast </a:t>
                      </a:r>
                      <a:r>
                        <a:rPr lang="en-SG" sz="1800" baseline="0" dirty="0" smtClean="0"/>
                        <a:t>updates </a:t>
                      </a:r>
                      <a:r>
                        <a:rPr lang="en-SG" sz="1800" dirty="0" smtClean="0"/>
                        <a:t>to 255.255.255.255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dirty="0" smtClean="0"/>
                        <a:t>Multicast updates to 224.0.0.9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066">
                <a:tc>
                  <a:txBody>
                    <a:bodyPr/>
                    <a:lstStyle/>
                    <a:p>
                      <a:r>
                        <a:rPr lang="en-SG" sz="1800" dirty="0" smtClean="0"/>
                        <a:t>Supports</a:t>
                      </a:r>
                      <a:r>
                        <a:rPr lang="en-SG" sz="1800" baseline="0" dirty="0" smtClean="0"/>
                        <a:t> VLSM and CIDR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dirty="0" smtClean="0"/>
                        <a:t>No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b="1" dirty="0" smtClean="0"/>
                        <a:t>Yes</a:t>
                      </a:r>
                      <a:endParaRPr lang="en-SG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066">
                <a:tc>
                  <a:txBody>
                    <a:bodyPr/>
                    <a:lstStyle/>
                    <a:p>
                      <a:r>
                        <a:rPr lang="en-SG" sz="1800" dirty="0" smtClean="0"/>
                        <a:t>Supports summarization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dirty="0" smtClean="0"/>
                        <a:t>No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b="1" dirty="0" smtClean="0"/>
                        <a:t>Yes</a:t>
                      </a:r>
                      <a:endParaRPr lang="en-SG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066">
                <a:tc>
                  <a:txBody>
                    <a:bodyPr/>
                    <a:lstStyle/>
                    <a:p>
                      <a:r>
                        <a:rPr lang="en-SG" sz="1800" dirty="0" smtClean="0"/>
                        <a:t>Supports authentication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dirty="0" smtClean="0"/>
                        <a:t>No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b="1" dirty="0" smtClean="0"/>
                        <a:t>Yes</a:t>
                      </a:r>
                      <a:endParaRPr lang="en-SG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3829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42"/>
          <a:stretch/>
        </p:blipFill>
        <p:spPr bwMode="auto">
          <a:xfrm>
            <a:off x="887832" y="1046115"/>
            <a:ext cx="7205241" cy="2362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9" t="58668" r="38178" b="23185"/>
          <a:stretch/>
        </p:blipFill>
        <p:spPr bwMode="auto">
          <a:xfrm>
            <a:off x="285077" y="3408234"/>
            <a:ext cx="3871356" cy="817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91475" y="3431307"/>
            <a:ext cx="3550644" cy="18651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 algn="l">
              <a:buAutoNum type="arabicPeriod"/>
            </a:pPr>
            <a:r>
              <a:rPr lang="en-SG" sz="1600" dirty="0" smtClean="0"/>
              <a:t>Advertise using the keyword “</a:t>
            </a:r>
            <a:r>
              <a:rPr lang="en-SG" sz="1600" b="1" u="sng" dirty="0" smtClean="0"/>
              <a:t>network</a:t>
            </a:r>
            <a:r>
              <a:rPr lang="en-SG" sz="1600" dirty="0" smtClean="0"/>
              <a:t>”.</a:t>
            </a:r>
          </a:p>
          <a:p>
            <a:pPr marL="342900" indent="-342900" algn="l">
              <a:buAutoNum type="arabicPeriod"/>
            </a:pPr>
            <a:endParaRPr lang="en-SG" sz="1600" dirty="0" smtClean="0"/>
          </a:p>
          <a:p>
            <a:pPr marL="342900" indent="-342900" algn="l">
              <a:buAutoNum type="arabicPeriod"/>
            </a:pPr>
            <a:r>
              <a:rPr lang="en-SG" sz="1600" dirty="0" smtClean="0"/>
              <a:t>Advertise only </a:t>
            </a:r>
            <a:r>
              <a:rPr lang="en-SG" sz="1600" b="1" u="sng" dirty="0" smtClean="0"/>
              <a:t>directly connected networks</a:t>
            </a:r>
            <a:r>
              <a:rPr lang="en-SG" sz="1600" dirty="0" smtClean="0"/>
              <a:t>.</a:t>
            </a:r>
          </a:p>
          <a:p>
            <a:pPr marL="342900" indent="-342900" algn="l">
              <a:buAutoNum type="arabicPeriod"/>
            </a:pPr>
            <a:endParaRPr lang="en-SG" sz="1600" dirty="0" smtClean="0"/>
          </a:p>
          <a:p>
            <a:pPr marL="342900" indent="-342900" algn="l">
              <a:buAutoNum type="arabicPeriod"/>
            </a:pPr>
            <a:r>
              <a:rPr lang="en-SG" sz="1600" dirty="0" smtClean="0"/>
              <a:t>Advertise using the </a:t>
            </a:r>
            <a:r>
              <a:rPr lang="en-SG" sz="1600" b="1" u="sng" dirty="0" err="1" smtClean="0"/>
              <a:t>classful</a:t>
            </a:r>
            <a:r>
              <a:rPr lang="en-SG" sz="1600" b="1" dirty="0" smtClean="0"/>
              <a:t> </a:t>
            </a:r>
            <a:r>
              <a:rPr lang="en-SG" sz="1600" dirty="0" smtClean="0"/>
              <a:t>network address.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9110"/>
            <a:ext cx="8456613" cy="1113514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RIP Protocol</a:t>
            </a:r>
            <a:br>
              <a:rPr lang="en-US" sz="1800" dirty="0" smtClean="0"/>
            </a:br>
            <a:r>
              <a:rPr lang="en-US" sz="2800" dirty="0"/>
              <a:t>Configuring </a:t>
            </a:r>
            <a:r>
              <a:rPr lang="en-US" sz="2800" dirty="0" smtClean="0"/>
              <a:t>RIPv1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79147" y="5504377"/>
            <a:ext cx="4085090" cy="8733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R2(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R2(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-router)#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R2(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-router)#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R2(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-router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2983" y="5629026"/>
            <a:ext cx="4085090" cy="6740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R3(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R3(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-router)#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R3(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-router)#</a:t>
            </a:r>
          </a:p>
        </p:txBody>
      </p:sp>
      <p:cxnSp>
        <p:nvCxnSpPr>
          <p:cNvPr id="9" name="Straight Arrow Connector 8"/>
          <p:cNvCxnSpPr>
            <a:stCxn id="2" idx="1"/>
            <a:endCxn id="5" idx="3"/>
          </p:cNvCxnSpPr>
          <p:nvPr/>
        </p:nvCxnSpPr>
        <p:spPr bwMode="auto">
          <a:xfrm flipH="1" flipV="1">
            <a:off x="4156433" y="3816803"/>
            <a:ext cx="1235042" cy="54706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82722258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9" y="350985"/>
            <a:ext cx="8456613" cy="885372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RIP Protocol</a:t>
            </a:r>
            <a:br>
              <a:rPr lang="en-US" sz="1800" dirty="0" smtClean="0"/>
            </a:br>
            <a:r>
              <a:rPr lang="en-US" sz="2800" dirty="0" smtClean="0"/>
              <a:t>Verifying RIP Settings</a:t>
            </a:r>
            <a:endParaRPr 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34" t="29719" r="19819" b="11568"/>
          <a:stretch/>
        </p:blipFill>
        <p:spPr bwMode="auto">
          <a:xfrm>
            <a:off x="3611819" y="1710046"/>
            <a:ext cx="5354041" cy="4536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5632" y="1496308"/>
            <a:ext cx="302993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800" dirty="0" smtClean="0"/>
              <a:t>To check RIP configuration, use </a:t>
            </a:r>
          </a:p>
          <a:p>
            <a:pPr algn="l"/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SG" sz="1800" b="1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protocols</a:t>
            </a:r>
          </a:p>
          <a:p>
            <a:pPr marL="457200" indent="-457200" algn="l">
              <a:buAutoNum type="arabicPeriod"/>
            </a:pPr>
            <a:endParaRPr lang="en-SG" sz="1800" dirty="0" smtClean="0"/>
          </a:p>
          <a:p>
            <a:pPr marL="457200" indent="-457200" algn="l">
              <a:buAutoNum type="arabicPeriod"/>
            </a:pPr>
            <a:r>
              <a:rPr lang="en-SG" sz="1800" dirty="0" smtClean="0"/>
              <a:t>RIP is enabled</a:t>
            </a:r>
          </a:p>
          <a:p>
            <a:pPr marL="457200" indent="-457200" algn="l">
              <a:buAutoNum type="arabicPeriod"/>
            </a:pPr>
            <a:endParaRPr lang="en-SG" sz="1800" dirty="0" smtClean="0"/>
          </a:p>
          <a:p>
            <a:pPr marL="457200" indent="-457200" algn="l">
              <a:buAutoNum type="arabicPeriod"/>
            </a:pPr>
            <a:r>
              <a:rPr lang="en-SG" sz="1800" dirty="0" smtClean="0"/>
              <a:t>The timers used by RIP</a:t>
            </a:r>
          </a:p>
          <a:p>
            <a:pPr marL="457200" indent="-457200" algn="l">
              <a:buAutoNum type="arabicPeriod"/>
            </a:pPr>
            <a:endParaRPr lang="en-SG" sz="1800" dirty="0" smtClean="0"/>
          </a:p>
          <a:p>
            <a:pPr marL="457200" indent="-457200" algn="l">
              <a:buAutoNum type="arabicPeriod"/>
            </a:pPr>
            <a:r>
              <a:rPr lang="en-SG" sz="1800" dirty="0" smtClean="0"/>
              <a:t>The RIP version configured</a:t>
            </a:r>
          </a:p>
          <a:p>
            <a:pPr marL="457200" indent="-457200" algn="l">
              <a:buAutoNum type="arabicPeriod"/>
            </a:pPr>
            <a:endParaRPr lang="en-SG" sz="1800" dirty="0" smtClean="0"/>
          </a:p>
          <a:p>
            <a:pPr marL="457200" indent="-457200" algn="l">
              <a:buAutoNum type="arabicPeriod"/>
            </a:pPr>
            <a:r>
              <a:rPr lang="en-SG" sz="1800" dirty="0" smtClean="0"/>
              <a:t>Status of automatic summarisation</a:t>
            </a:r>
          </a:p>
          <a:p>
            <a:pPr marL="457200" indent="-457200" algn="l">
              <a:buAutoNum type="arabicPeriod"/>
            </a:pPr>
            <a:endParaRPr lang="en-SG" sz="1800" dirty="0" smtClean="0"/>
          </a:p>
          <a:p>
            <a:pPr marL="457200" indent="-457200" algn="l">
              <a:buAutoNum type="arabicPeriod"/>
            </a:pPr>
            <a:r>
              <a:rPr lang="en-SG" sz="1800" dirty="0" smtClean="0"/>
              <a:t>The networks advertised</a:t>
            </a:r>
          </a:p>
          <a:p>
            <a:pPr marL="457200" indent="-457200" algn="l">
              <a:buAutoNum type="arabicPeriod"/>
            </a:pPr>
            <a:endParaRPr lang="en-SG" sz="1800" dirty="0" smtClean="0"/>
          </a:p>
          <a:p>
            <a:pPr marL="457200" indent="-457200" algn="l">
              <a:buAutoNum type="arabicPeriod"/>
            </a:pPr>
            <a:r>
              <a:rPr lang="en-SG" sz="1800" dirty="0" smtClean="0"/>
              <a:t>The RIP neighbours and next-hop IP address</a:t>
            </a:r>
            <a:endParaRPr lang="en-SG" sz="1800" dirty="0"/>
          </a:p>
        </p:txBody>
      </p:sp>
    </p:spTree>
    <p:extLst>
      <p:ext uri="{BB962C8B-B14F-4D97-AF65-F5344CB8AC3E}">
        <p14:creationId xmlns:p14="http://schemas.microsoft.com/office/powerpoint/2010/main" val="408947830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974" y="350985"/>
            <a:ext cx="8456613" cy="885372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RIP Protocol</a:t>
            </a:r>
            <a:br>
              <a:rPr lang="en-US" sz="1800" dirty="0" smtClean="0"/>
            </a:br>
            <a:r>
              <a:rPr lang="en-US" sz="2800" dirty="0" smtClean="0"/>
              <a:t>Verifying Routing Table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96881" y="1496308"/>
            <a:ext cx="8514608" cy="200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2000" dirty="0" smtClean="0"/>
              <a:t>To check the routing table, use 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SG" sz="20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SG" sz="2000" b="1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20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2000" dirty="0" smtClean="0"/>
              <a:t>When the network has converged, the router will show the remote network routes learnt from the neighbour routers (shown below with the route code “R”)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SG" sz="2000" dirty="0"/>
          </a:p>
          <a:p>
            <a:pPr algn="l"/>
            <a:endParaRPr lang="en-SG" sz="180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38" y="3222936"/>
            <a:ext cx="7057759" cy="28691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8584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24" y="493485"/>
            <a:ext cx="8456613" cy="885372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Parts of an IPv4 Route Entry</a:t>
            </a:r>
            <a:br>
              <a:rPr lang="en-US" sz="1800" dirty="0" smtClean="0"/>
            </a:br>
            <a:r>
              <a:rPr lang="en-US" sz="2800" dirty="0" smtClean="0"/>
              <a:t>Remote Network Entries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67" t="38707" r="15844" b="25050"/>
          <a:stretch/>
        </p:blipFill>
        <p:spPr bwMode="auto">
          <a:xfrm>
            <a:off x="736268" y="2125684"/>
            <a:ext cx="7725611" cy="3610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68807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6252" y="359126"/>
            <a:ext cx="8145462" cy="838200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RIP Protocol</a:t>
            </a:r>
            <a:br>
              <a:rPr lang="en-US" sz="1800" dirty="0" smtClean="0"/>
            </a:br>
            <a:r>
              <a:rPr lang="en-US" sz="2800" dirty="0" smtClean="0"/>
              <a:t>Enabling RIPv2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0007" y="1477200"/>
            <a:ext cx="7940675" cy="3571875"/>
          </a:xfrm>
        </p:spPr>
        <p:txBody>
          <a:bodyPr/>
          <a:lstStyle/>
          <a:p>
            <a:r>
              <a:rPr lang="en-SG" sz="2000" dirty="0" smtClean="0"/>
              <a:t>By default, RIP starts in version 1. It sends routing updates in version 1 format but it is able to read both version 1 and 2 routing updates</a:t>
            </a:r>
          </a:p>
          <a:p>
            <a:r>
              <a:rPr lang="en-SG" sz="2000" dirty="0" smtClean="0"/>
              <a:t>To enable RIP in version 2:-</a:t>
            </a:r>
          </a:p>
          <a:p>
            <a:pPr marL="1017587" lvl="3"/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SG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router rip </a:t>
            </a:r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7587" lvl="3"/>
            <a:r>
              <a:rPr lang="en-SG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-router)# </a:t>
            </a:r>
            <a:r>
              <a:rPr lang="en-SG" sz="18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version 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endParaRPr lang="en-SG" sz="2000" dirty="0" smtClean="0"/>
          </a:p>
          <a:p>
            <a:r>
              <a:rPr lang="en-SG" sz="2000" dirty="0" smtClean="0"/>
              <a:t>To check, again use 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SG" sz="1800" b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8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protocols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84" y="4630821"/>
            <a:ext cx="6543675" cy="1800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 bwMode="auto">
          <a:xfrm>
            <a:off x="5130140" y="4773881"/>
            <a:ext cx="676894" cy="534389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6682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RIP Protocol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2800" dirty="0" smtClean="0"/>
              <a:t>Disabling Auto Summarization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20912" y="1436915"/>
            <a:ext cx="8273143" cy="5299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dirty="0" smtClean="0"/>
              <a:t>By default, RIPv2 </a:t>
            </a:r>
            <a:r>
              <a:rPr lang="en-US" sz="2000" dirty="0"/>
              <a:t>automatically summarizes networks at major network </a:t>
            </a:r>
            <a:r>
              <a:rPr lang="en-US" sz="2000" dirty="0" smtClean="0"/>
              <a:t>boundaries (a router that has interfaces with different class of addresses).</a:t>
            </a:r>
          </a:p>
          <a:p>
            <a:pPr algn="l">
              <a:buClr>
                <a:schemeClr val="accent5">
                  <a:lumMod val="75000"/>
                </a:schemeClr>
              </a:buClr>
            </a:pPr>
            <a:endParaRPr lang="en-US" sz="20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dirty="0" smtClean="0"/>
              <a:t>Causes routing problem for </a:t>
            </a:r>
            <a:r>
              <a:rPr lang="en-US" sz="2000" dirty="0" err="1" smtClean="0"/>
              <a:t>discontiguous</a:t>
            </a:r>
            <a:r>
              <a:rPr lang="en-US" sz="2000" dirty="0" smtClean="0"/>
              <a:t> networks and should be disabled:-</a:t>
            </a:r>
          </a:p>
          <a:p>
            <a:pPr algn="l">
              <a:buClr>
                <a:schemeClr val="accent5">
                  <a:lumMod val="75000"/>
                </a:schemeClr>
              </a:buClr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)# router rip </a:t>
            </a:r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Clr>
                <a:schemeClr val="accent5">
                  <a:lumMod val="75000"/>
                </a:schemeClr>
              </a:buClr>
            </a:pP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Router(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-router)# 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 auto-summary</a:t>
            </a:r>
            <a:endParaRPr lang="en-SG" sz="1800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Clr>
                <a:schemeClr val="accent5">
                  <a:lumMod val="75000"/>
                </a:schemeClr>
              </a:buClr>
            </a:pPr>
            <a:endParaRPr lang="en-US" sz="20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dirty="0" smtClean="0"/>
              <a:t>Once </a:t>
            </a:r>
            <a:r>
              <a:rPr lang="en-US" sz="2000" dirty="0"/>
              <a:t>disabled, </a:t>
            </a:r>
            <a:r>
              <a:rPr lang="en-US" sz="2000" b="1" dirty="0"/>
              <a:t> </a:t>
            </a:r>
            <a:r>
              <a:rPr lang="en-US" sz="2000" b="1" u="sng" dirty="0" smtClean="0"/>
              <a:t>#</a:t>
            </a:r>
            <a:r>
              <a:rPr lang="en-US" sz="2000" b="1" u="sng" dirty="0" smtClean="0">
                <a:latin typeface="Courier New" pitchFamily="49" charset="0"/>
                <a:cs typeface="Courier New" pitchFamily="49" charset="0"/>
              </a:rPr>
              <a:t>show </a:t>
            </a:r>
            <a:r>
              <a:rPr lang="en-US" sz="2000" b="1" u="sng" dirty="0" err="1">
                <a:latin typeface="Courier New" pitchFamily="49" charset="0"/>
                <a:cs typeface="Courier New" pitchFamily="49" charset="0"/>
              </a:rPr>
              <a:t>ip</a:t>
            </a:r>
            <a:r>
              <a:rPr lang="en-US" sz="2000" b="1" u="sng" dirty="0">
                <a:latin typeface="Courier New" pitchFamily="49" charset="0"/>
                <a:cs typeface="Courier New" pitchFamily="49" charset="0"/>
              </a:rPr>
              <a:t> protocols</a:t>
            </a:r>
            <a:r>
              <a:rPr lang="en-US" sz="2000" b="1" dirty="0"/>
              <a:t> </a:t>
            </a:r>
            <a:r>
              <a:rPr lang="en-US" sz="2000" dirty="0" smtClean="0"/>
              <a:t>now </a:t>
            </a:r>
            <a:r>
              <a:rPr lang="en-US" sz="2000" dirty="0"/>
              <a:t>states that automatic network summarization is </a:t>
            </a:r>
            <a:r>
              <a:rPr lang="en-US" sz="2000" u="sng" dirty="0"/>
              <a:t>not in effect</a:t>
            </a:r>
            <a:r>
              <a:rPr lang="en-US" sz="2000" dirty="0"/>
              <a:t>.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20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dirty="0" smtClean="0"/>
              <a:t>RIPv2 </a:t>
            </a:r>
            <a:r>
              <a:rPr lang="en-US" sz="2000" dirty="0"/>
              <a:t>now includes all subnets and their appropriate masks in its routing updates. </a:t>
            </a:r>
            <a:r>
              <a:rPr lang="en-US" sz="2000" b="1" u="sng" dirty="0" smtClean="0">
                <a:latin typeface="Courier New" pitchFamily="49" charset="0"/>
                <a:cs typeface="Courier New" pitchFamily="49" charset="0"/>
              </a:rPr>
              <a:t>#show </a:t>
            </a:r>
            <a:r>
              <a:rPr lang="en-US" sz="2000" b="1" u="sng" dirty="0" err="1">
                <a:latin typeface="Courier New" pitchFamily="49" charset="0"/>
                <a:cs typeface="Courier New" pitchFamily="49" charset="0"/>
              </a:rPr>
              <a:t>ip</a:t>
            </a:r>
            <a:r>
              <a:rPr lang="en-US" sz="2000" b="1" u="sng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u="sng" dirty="0" smtClean="0">
                <a:latin typeface="Courier New" pitchFamily="49" charset="0"/>
                <a:cs typeface="Courier New" pitchFamily="49" charset="0"/>
              </a:rPr>
              <a:t>route</a:t>
            </a:r>
            <a:r>
              <a:rPr lang="en-US" sz="2000" dirty="0" smtClean="0"/>
              <a:t> will display each individually learnt subnets without summarizing them.</a:t>
            </a:r>
            <a:endParaRPr lang="en-US" sz="2000" dirty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20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dirty="0" smtClean="0"/>
              <a:t>Note: this </a:t>
            </a:r>
            <a:r>
              <a:rPr lang="en-US" sz="2000" dirty="0"/>
              <a:t>command has </a:t>
            </a:r>
            <a:r>
              <a:rPr lang="en-US" sz="2000" u="sng" dirty="0"/>
              <a:t>no effect when using </a:t>
            </a:r>
            <a:r>
              <a:rPr lang="en-US" sz="2000" u="sng" dirty="0" smtClean="0"/>
              <a:t>RIPv1</a:t>
            </a:r>
            <a:r>
              <a:rPr lang="en-US" sz="2000" dirty="0" smtClean="0"/>
              <a:t>.</a:t>
            </a:r>
          </a:p>
          <a:p>
            <a:pPr algn="l"/>
            <a:endParaRPr lang="en-US" sz="2000" dirty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9971814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24" y="493485"/>
            <a:ext cx="8456613" cy="885372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RIP Protocol</a:t>
            </a:r>
            <a:br>
              <a:rPr lang="en-US" sz="1800" dirty="0" smtClean="0"/>
            </a:br>
            <a:r>
              <a:rPr lang="en-US" sz="2800" dirty="0" smtClean="0"/>
              <a:t>Configuring Passive Interfaces</a:t>
            </a:r>
            <a:endParaRPr lang="en-US" sz="2800" dirty="0"/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738" y="1529938"/>
            <a:ext cx="5468289" cy="215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6020" y="1529938"/>
            <a:ext cx="34557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Should routing updates be sent to a PC? </a:t>
            </a:r>
          </a:p>
          <a:p>
            <a:pPr algn="l"/>
            <a:r>
              <a:rPr lang="en-US" sz="2000" dirty="0" smtClean="0"/>
              <a:t>ANS: ____________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 smtClean="0"/>
              <a:t>Sending </a:t>
            </a:r>
            <a:r>
              <a:rPr lang="en-US" sz="2000" dirty="0"/>
              <a:t>out </a:t>
            </a:r>
            <a:r>
              <a:rPr lang="en-US" sz="2000" dirty="0" smtClean="0"/>
              <a:t>unnecessary </a:t>
            </a:r>
            <a:r>
              <a:rPr lang="en-US" sz="2000" dirty="0"/>
              <a:t>updates </a:t>
            </a:r>
            <a:r>
              <a:rPr lang="en-US" sz="2000" dirty="0" smtClean="0"/>
              <a:t>impacts </a:t>
            </a:r>
            <a:r>
              <a:rPr lang="en-US" sz="2000" dirty="0"/>
              <a:t>the network in three ways: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dirty="0"/>
              <a:t>Wasted Bandwidth 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dirty="0" smtClean="0"/>
              <a:t>Wasted Resources</a:t>
            </a:r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dirty="0" smtClean="0"/>
              <a:t>Security </a:t>
            </a:r>
            <a:r>
              <a:rPr lang="en-US" sz="2000" dirty="0"/>
              <a:t>Risk </a:t>
            </a: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56260" y="4726379"/>
            <a:ext cx="832460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To disable routing updates being sent to the </a:t>
            </a:r>
            <a:r>
              <a:rPr lang="en-US" sz="2000" dirty="0" smtClean="0"/>
              <a:t>LAN, </a:t>
            </a:r>
            <a:r>
              <a:rPr lang="en-US" sz="2000" dirty="0"/>
              <a:t>using </a:t>
            </a:r>
            <a:r>
              <a:rPr lang="en-US" sz="2000" dirty="0" smtClean="0"/>
              <a:t>router R1 </a:t>
            </a:r>
            <a:r>
              <a:rPr lang="en-US" sz="2000" dirty="0"/>
              <a:t>as example</a:t>
            </a:r>
            <a:r>
              <a:rPr lang="en-US" sz="2000" dirty="0" smtClean="0"/>
              <a:t>:-</a:t>
            </a:r>
          </a:p>
          <a:p>
            <a:pPr lvl="2" algn="l">
              <a:buClr>
                <a:schemeClr val="accent5">
                  <a:lumMod val="75000"/>
                </a:schemeClr>
              </a:buClr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)# router rip</a:t>
            </a:r>
          </a:p>
          <a:p>
            <a:pPr lvl="2" algn="l">
              <a:buClr>
                <a:schemeClr val="accent5">
                  <a:lumMod val="75000"/>
                </a:schemeClr>
              </a:buClr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1(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-router)# </a:t>
            </a:r>
            <a:r>
              <a:rPr lang="en-SG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passive-interface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g0/0 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Clr>
                <a:schemeClr val="accent5">
                  <a:lumMod val="75000"/>
                </a:schemeClr>
              </a:buClr>
            </a:pPr>
            <a:endParaRPr lang="en-US" sz="2000" dirty="0" smtClean="0"/>
          </a:p>
          <a:p>
            <a:pPr marL="342900" indent="-342900" algn="l"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To check: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#show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protocols </a:t>
            </a:r>
            <a:r>
              <a:rPr lang="en-US" sz="2000" dirty="0" smtClean="0"/>
              <a:t>will list the configured passive interface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676697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7922" y="350981"/>
            <a:ext cx="8456613" cy="885372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RIP Protocol</a:t>
            </a:r>
            <a:br>
              <a:rPr lang="en-US" sz="1800" dirty="0" smtClean="0"/>
            </a:br>
            <a:r>
              <a:rPr lang="en-US" sz="2800" dirty="0" smtClean="0"/>
              <a:t>Propagating a Default Route</a:t>
            </a:r>
            <a:endParaRPr lang="en-US" sz="28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700" y="1285728"/>
            <a:ext cx="5807544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7506" y="1864426"/>
            <a:ext cx="8692737" cy="4773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dirty="0" smtClean="0"/>
              <a:t>Router R1 is on the edge</a:t>
            </a:r>
          </a:p>
          <a:p>
            <a:pPr algn="l"/>
            <a:r>
              <a:rPr lang="en-SG" sz="2000" dirty="0" smtClean="0"/>
              <a:t>of the network and </a:t>
            </a:r>
          </a:p>
          <a:p>
            <a:pPr algn="l"/>
            <a:r>
              <a:rPr lang="en-SG" sz="2000" dirty="0" smtClean="0"/>
              <a:t>connected to an ISP </a:t>
            </a:r>
          </a:p>
          <a:p>
            <a:pPr algn="l"/>
            <a:r>
              <a:rPr lang="en-SG" sz="2000" dirty="0" smtClean="0"/>
              <a:t>for Internet access.</a:t>
            </a:r>
          </a:p>
          <a:p>
            <a:pPr algn="l"/>
            <a:endParaRPr lang="en-SG" sz="2000" dirty="0" smtClean="0"/>
          </a:p>
          <a:p>
            <a:pPr algn="l"/>
            <a:r>
              <a:rPr lang="en-SG" sz="2000" dirty="0" smtClean="0"/>
              <a:t>For R1 to route packets to the Internet,</a:t>
            </a:r>
          </a:p>
          <a:p>
            <a:pPr algn="l"/>
            <a:r>
              <a:rPr lang="en-SG" sz="2000" dirty="0" smtClean="0"/>
              <a:t>a </a:t>
            </a:r>
            <a:r>
              <a:rPr lang="en-SG" sz="2000" u="sng" dirty="0" smtClean="0"/>
              <a:t>default static route</a:t>
            </a:r>
            <a:r>
              <a:rPr lang="en-SG" sz="2000" dirty="0" smtClean="0"/>
              <a:t> needs to be configured:-</a:t>
            </a:r>
          </a:p>
          <a:p>
            <a:pPr algn="l"/>
            <a:endParaRPr lang="en-SG" sz="2000" dirty="0" smtClean="0"/>
          </a:p>
          <a:p>
            <a:pPr algn="l"/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s0/0/1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8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209.165.200.226</a:t>
            </a:r>
          </a:p>
          <a:p>
            <a:pPr algn="l"/>
            <a:endParaRPr lang="en-SG" sz="2000" dirty="0"/>
          </a:p>
          <a:p>
            <a:pPr algn="l"/>
            <a:r>
              <a:rPr lang="en-SG" sz="2000" dirty="0" smtClean="0"/>
              <a:t>Then use RIP to inform the other routers of this default route through R1:-</a:t>
            </a:r>
          </a:p>
          <a:p>
            <a:pPr algn="l"/>
            <a:endParaRPr lang="en-SG" sz="2000" dirty="0"/>
          </a:p>
          <a:p>
            <a:pPr lvl="1" algn="l"/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)# router rip</a:t>
            </a:r>
          </a:p>
          <a:p>
            <a:pPr lvl="1" algn="l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1(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-router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default-information originate</a:t>
            </a:r>
          </a:p>
          <a:p>
            <a:pPr lvl="1" algn="l"/>
            <a:endParaRPr lang="en-SG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/>
              <a:t>Check the routing table (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  <a:r>
              <a:rPr lang="en-SG" sz="2000" dirty="0" smtClean="0"/>
              <a:t>) at R2 and R3 to find a default route in the direction to R1.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19530575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24" y="493485"/>
            <a:ext cx="8456613" cy="885372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</a:t>
            </a:r>
            <a:r>
              <a:rPr lang="en-US" sz="1800" dirty="0" err="1" smtClean="0"/>
              <a:t>RIPng</a:t>
            </a:r>
            <a:r>
              <a:rPr lang="en-US" sz="1800" dirty="0" smtClean="0"/>
              <a:t> Protocol</a:t>
            </a:r>
            <a:br>
              <a:rPr lang="en-US" sz="1800" dirty="0" smtClean="0"/>
            </a:br>
            <a:r>
              <a:rPr lang="en-US" sz="2800" dirty="0" smtClean="0"/>
              <a:t>Advertising IPv6 Networks</a:t>
            </a:r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04" y="1602180"/>
            <a:ext cx="57626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80758" y="3265711"/>
            <a:ext cx="4061362" cy="32501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SG" sz="1800" dirty="0" smtClean="0"/>
              <a:t>IPv6 networks has a different approach for configuration:-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16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600" dirty="0" smtClean="0"/>
              <a:t>Step 1 – enable IPv6 routing </a:t>
            </a:r>
          </a:p>
          <a:p>
            <a:pPr algn="l"/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#ipv6 unicast-routing</a:t>
            </a:r>
            <a:endParaRPr lang="en-SG" sz="16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16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600" dirty="0" smtClean="0"/>
              <a:t>Step 2 – enable ipv6 for RIP (note that [domain-name] is case-sensitive)</a:t>
            </a:r>
          </a:p>
          <a:p>
            <a:pPr algn="l"/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ipv6 router rip </a:t>
            </a:r>
            <a:r>
              <a:rPr lang="en-SG" sz="16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[domain-name]</a:t>
            </a:r>
            <a:endParaRPr lang="en-SG" sz="1600" u="sng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16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600" dirty="0" smtClean="0"/>
              <a:t>Step 3 – enable RIP on each active interface</a:t>
            </a:r>
          </a:p>
          <a:p>
            <a:pPr algn="l"/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#ipv6 rip </a:t>
            </a:r>
            <a:r>
              <a:rPr lang="en-SG" sz="1600" b="1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[domain-name]</a:t>
            </a:r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enable</a:t>
            </a:r>
            <a:endParaRPr lang="en-SG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6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9374" y="3582966"/>
            <a:ext cx="415851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ipv6 unicast-routing</a:t>
            </a:r>
          </a:p>
          <a:p>
            <a:pPr algn="l"/>
            <a:endParaRPr lang="en-SG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ipv6 router rip RIP-AS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config-rtr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exit</a:t>
            </a:r>
          </a:p>
          <a:p>
            <a:pPr algn="l"/>
            <a:endParaRPr lang="en-SG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interface g0/0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 ipv6 rip RIP-AS enable</a:t>
            </a:r>
          </a:p>
          <a:p>
            <a:pPr algn="l"/>
            <a:endParaRPr lang="en-SG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)# interface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 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ipv6 rip RIP-AS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80406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24" y="493485"/>
            <a:ext cx="8456613" cy="885372"/>
          </a:xfrm>
        </p:spPr>
        <p:txBody>
          <a:bodyPr/>
          <a:lstStyle/>
          <a:p>
            <a:pPr eaLnBrk="1" hangingPunct="1">
              <a:tabLst>
                <a:tab pos="4803775" algn="l"/>
              </a:tabLst>
              <a:defRPr/>
            </a:pPr>
            <a:r>
              <a:rPr lang="en-US" sz="1800" dirty="0" smtClean="0"/>
              <a:t>Configuring the </a:t>
            </a:r>
            <a:r>
              <a:rPr lang="en-US" sz="1800" dirty="0" err="1" smtClean="0"/>
              <a:t>RIPng</a:t>
            </a:r>
            <a:r>
              <a:rPr lang="en-US" sz="1800" dirty="0" smtClean="0"/>
              <a:t> Protocol</a:t>
            </a:r>
            <a:br>
              <a:rPr lang="en-US" sz="1800" dirty="0" smtClean="0"/>
            </a:br>
            <a:r>
              <a:rPr lang="en-US" sz="2800" dirty="0" smtClean="0"/>
              <a:t>Examining the </a:t>
            </a:r>
            <a:r>
              <a:rPr lang="en-US" sz="2800" dirty="0" err="1" smtClean="0"/>
              <a:t>RIPng</a:t>
            </a:r>
            <a:r>
              <a:rPr lang="en-US" sz="2800" dirty="0" smtClean="0"/>
              <a:t> Configuration</a:t>
            </a:r>
            <a:endParaRPr lang="en-US" sz="2800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" t="23202" r="24741" b="13728"/>
          <a:stretch/>
        </p:blipFill>
        <p:spPr bwMode="auto">
          <a:xfrm>
            <a:off x="356259" y="3259090"/>
            <a:ext cx="3705101" cy="175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2" t="13894" r="6424" b="5489"/>
          <a:stretch/>
        </p:blipFill>
        <p:spPr bwMode="auto">
          <a:xfrm>
            <a:off x="4607626" y="3085252"/>
            <a:ext cx="4319695" cy="3493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1921" y="2093264"/>
            <a:ext cx="4055919" cy="7663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dirty="0" smtClean="0"/>
              <a:t>To verify </a:t>
            </a:r>
            <a:r>
              <a:rPr lang="en-SG" dirty="0" err="1" smtClean="0"/>
              <a:t>RIPng</a:t>
            </a:r>
            <a:r>
              <a:rPr lang="en-SG" dirty="0" smtClean="0"/>
              <a:t> settings:-</a:t>
            </a:r>
          </a:p>
          <a:p>
            <a:pPr algn="l"/>
            <a:r>
              <a:rPr lang="en-S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show ip</a:t>
            </a:r>
            <a:r>
              <a:rPr lang="en-SG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v6</a:t>
            </a:r>
            <a:r>
              <a:rPr lang="en-S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protocols</a:t>
            </a:r>
            <a:endParaRPr lang="en-S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39946" y="2162539"/>
            <a:ext cx="336778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dirty="0" smtClean="0"/>
              <a:t>To check routing table:-</a:t>
            </a:r>
          </a:p>
          <a:p>
            <a:pPr algn="l"/>
            <a:r>
              <a:rPr lang="en-S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show ip</a:t>
            </a:r>
            <a:r>
              <a:rPr lang="en-SG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v6</a:t>
            </a:r>
            <a:r>
              <a:rPr lang="en-S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  <a:endParaRPr lang="en-S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81921" y="1900052"/>
            <a:ext cx="4164448" cy="4773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488873" y="1898077"/>
            <a:ext cx="4536374" cy="4773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3083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628" y="394752"/>
            <a:ext cx="8145462" cy="838200"/>
          </a:xfrm>
        </p:spPr>
        <p:txBody>
          <a:bodyPr/>
          <a:lstStyle/>
          <a:p>
            <a:r>
              <a:rPr lang="en-SG" sz="2800" dirty="0" smtClean="0"/>
              <a:t>Summary of RIP configuration commands</a:t>
            </a:r>
            <a:endParaRPr lang="en-S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138" y="1389413"/>
            <a:ext cx="8217724" cy="5058887"/>
          </a:xfrm>
        </p:spPr>
        <p:txBody>
          <a:bodyPr/>
          <a:lstStyle/>
          <a:p>
            <a:pPr marL="0" indent="0">
              <a:buNone/>
            </a:pPr>
            <a:r>
              <a:rPr lang="en-SG" sz="1400" u="sng" dirty="0">
                <a:cs typeface="Courier New" panose="02070309020205020404" pitchFamily="49" charset="0"/>
              </a:rPr>
              <a:t>(A) RIP configuration</a:t>
            </a:r>
          </a:p>
          <a:p>
            <a:pPr marL="0" indent="0">
              <a:buNone/>
            </a:pP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router rip</a:t>
            </a:r>
          </a:p>
          <a:p>
            <a:pPr marL="0" indent="0">
              <a:buNone/>
            </a:pP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-router)# version 2</a:t>
            </a:r>
          </a:p>
          <a:p>
            <a:pPr marL="0" indent="0">
              <a:buNone/>
            </a:pP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-router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no auto-summary</a:t>
            </a:r>
          </a:p>
          <a:p>
            <a:pPr marL="0" indent="0">
              <a:buNone/>
            </a:pP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-router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network 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SG" sz="1400" i="1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classful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-network-</a:t>
            </a:r>
            <a:r>
              <a:rPr lang="en-SG" sz="1400" i="1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en-SG" sz="1400" u="sng" dirty="0" smtClean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SG" sz="1400" u="sng" dirty="0" smtClean="0">
                <a:cs typeface="Courier New" panose="02070309020205020404" pitchFamily="49" charset="0"/>
              </a:rPr>
              <a:t>(</a:t>
            </a:r>
            <a:r>
              <a:rPr lang="en-SG" sz="1400" u="sng" dirty="0">
                <a:cs typeface="Courier New" panose="02070309020205020404" pitchFamily="49" charset="0"/>
              </a:rPr>
              <a:t>B) Propagating a default static route using RIP</a:t>
            </a:r>
          </a:p>
          <a:p>
            <a:pPr marL="0" indent="0">
              <a:buNone/>
            </a:pP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 0.0.0.0 0.0.0.0 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[exit-</a:t>
            </a:r>
            <a:r>
              <a:rPr lang="en-SG" sz="1400" i="1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[next-hop-IP]</a:t>
            </a:r>
            <a:endParaRPr lang="en-SG" sz="1400" i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)# router rip</a:t>
            </a:r>
          </a:p>
          <a:p>
            <a:pPr marL="0" indent="0">
              <a:buNone/>
            </a:pP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-router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default-information originate</a:t>
            </a:r>
          </a:p>
          <a:p>
            <a:pPr marL="0" indent="0">
              <a:buNone/>
            </a:pPr>
            <a:endParaRPr lang="en-SG" sz="1400" b="1" u="sng" dirty="0" smtClean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SG" sz="1400" u="sng" dirty="0" smtClean="0">
                <a:cs typeface="Courier New" panose="02070309020205020404" pitchFamily="49" charset="0"/>
              </a:rPr>
              <a:t>(C) </a:t>
            </a:r>
            <a:r>
              <a:rPr lang="en-SG" sz="1400" u="sng" dirty="0" err="1" smtClean="0">
                <a:cs typeface="Courier New" panose="02070309020205020404" pitchFamily="49" charset="0"/>
              </a:rPr>
              <a:t>RIPng</a:t>
            </a:r>
            <a:r>
              <a:rPr lang="en-SG" sz="1400" u="sng" dirty="0" smtClean="0">
                <a:cs typeface="Courier New" panose="02070309020205020404" pitchFamily="49" charset="0"/>
              </a:rPr>
              <a:t> configuration</a:t>
            </a:r>
          </a:p>
          <a:p>
            <a:pPr marL="0" indent="0">
              <a:buNone/>
            </a:pP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ipv6 unicast-routing</a:t>
            </a:r>
          </a:p>
          <a:p>
            <a:pPr marL="0" indent="0">
              <a:buNone/>
            </a:pP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ipv6 router rip 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[domain-name]</a:t>
            </a:r>
          </a:p>
          <a:p>
            <a:pPr marL="0" indent="0">
              <a:buNone/>
            </a:pP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config-rtr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exit</a:t>
            </a:r>
          </a:p>
          <a:p>
            <a:pPr marL="0" indent="0">
              <a:buNone/>
            </a:pP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interface 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SG" sz="1400" i="1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-ID]</a:t>
            </a:r>
          </a:p>
          <a:p>
            <a:pPr marL="0" indent="0">
              <a:buNone/>
            </a:pP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Router(</a:t>
            </a:r>
            <a:r>
              <a:rPr lang="en-SG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 ipv6 rip </a:t>
            </a:r>
            <a:r>
              <a:rPr lang="en-SG" sz="1400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[domain-name</a:t>
            </a:r>
            <a:r>
              <a:rPr lang="en-SG" sz="14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enable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353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41350" y="347663"/>
            <a:ext cx="8145463" cy="838200"/>
          </a:xfrm>
        </p:spPr>
        <p:txBody>
          <a:bodyPr/>
          <a:lstStyle/>
          <a:p>
            <a:r>
              <a:rPr lang="en-US" dirty="0" smtClean="0"/>
              <a:t>Chapter 7: Summary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546761" y="1210750"/>
            <a:ext cx="8082643" cy="5417004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Dynamic routing </a:t>
            </a:r>
            <a:r>
              <a:rPr lang="en-US" sz="2000" dirty="0" smtClean="0"/>
              <a:t>protocols: </a:t>
            </a:r>
          </a:p>
          <a:p>
            <a:r>
              <a:rPr lang="en-US" sz="2000" dirty="0"/>
              <a:t>U</a:t>
            </a:r>
            <a:r>
              <a:rPr lang="en-US" sz="2000" dirty="0" smtClean="0"/>
              <a:t>sed </a:t>
            </a:r>
            <a:r>
              <a:rPr lang="en-US" sz="2000" dirty="0"/>
              <a:t>by routers to automatically learn about remote networks from other </a:t>
            </a:r>
            <a:r>
              <a:rPr lang="en-US" sz="2000" dirty="0" smtClean="0"/>
              <a:t>routers</a:t>
            </a:r>
            <a:endParaRPr lang="en-US" sz="2000" dirty="0"/>
          </a:p>
          <a:p>
            <a:r>
              <a:rPr lang="en-CA" sz="2000" dirty="0"/>
              <a:t>P</a:t>
            </a:r>
            <a:r>
              <a:rPr lang="en-CA" sz="2000" dirty="0" smtClean="0"/>
              <a:t>urpose includes</a:t>
            </a:r>
            <a:r>
              <a:rPr lang="en-CA" sz="2000" dirty="0"/>
              <a:t>: </a:t>
            </a:r>
            <a:r>
              <a:rPr lang="en-CA" sz="2000" dirty="0" smtClean="0"/>
              <a:t>to discover remote </a:t>
            </a:r>
            <a:r>
              <a:rPr lang="en-CA" sz="2000" dirty="0"/>
              <a:t>networks, </a:t>
            </a:r>
            <a:r>
              <a:rPr lang="en-CA" sz="2000" dirty="0" smtClean="0"/>
              <a:t>maintain </a:t>
            </a:r>
            <a:r>
              <a:rPr lang="en-CA" sz="2000" dirty="0"/>
              <a:t>up-to-date routing information, </a:t>
            </a:r>
            <a:r>
              <a:rPr lang="en-CA" sz="2000" dirty="0" smtClean="0"/>
              <a:t>choose </a:t>
            </a:r>
            <a:r>
              <a:rPr lang="en-CA" sz="2000" dirty="0"/>
              <a:t>the best path to destination networks, and </a:t>
            </a:r>
            <a:r>
              <a:rPr lang="en-CA" sz="2000" dirty="0" smtClean="0"/>
              <a:t>to </a:t>
            </a:r>
            <a:r>
              <a:rPr lang="en-CA" sz="2000" dirty="0"/>
              <a:t>find a new best path if the current path is no longer </a:t>
            </a:r>
            <a:r>
              <a:rPr lang="en-CA" sz="2000" dirty="0" smtClean="0"/>
              <a:t>available</a:t>
            </a:r>
            <a:endParaRPr lang="en-US" sz="2000" dirty="0"/>
          </a:p>
          <a:p>
            <a:r>
              <a:rPr lang="en-CA" sz="2000" dirty="0"/>
              <a:t>B</a:t>
            </a:r>
            <a:r>
              <a:rPr lang="en-CA" sz="2000" dirty="0" smtClean="0"/>
              <a:t>est </a:t>
            </a:r>
            <a:r>
              <a:rPr lang="en-CA" sz="2000" dirty="0"/>
              <a:t>choice for large networks </a:t>
            </a:r>
            <a:r>
              <a:rPr lang="en-CA" sz="2000" dirty="0" smtClean="0"/>
              <a:t>but </a:t>
            </a:r>
            <a:r>
              <a:rPr lang="en-CA" sz="2000" dirty="0"/>
              <a:t>static routing is better for stub networks</a:t>
            </a:r>
            <a:r>
              <a:rPr lang="en-CA" sz="2000" dirty="0" smtClean="0"/>
              <a:t>.</a:t>
            </a:r>
            <a:endParaRPr lang="en-US" sz="2000" dirty="0"/>
          </a:p>
          <a:p>
            <a:r>
              <a:rPr lang="en-US" sz="2000" dirty="0"/>
              <a:t>F</a:t>
            </a:r>
            <a:r>
              <a:rPr lang="en-US" sz="2000" dirty="0" smtClean="0"/>
              <a:t>unction to </a:t>
            </a:r>
            <a:r>
              <a:rPr lang="en-US" sz="2000" dirty="0"/>
              <a:t>inform other routers about </a:t>
            </a:r>
            <a:r>
              <a:rPr lang="en-US" sz="2000" dirty="0" smtClean="0"/>
              <a:t>changes </a:t>
            </a:r>
            <a:r>
              <a:rPr lang="en-US" sz="2000" dirty="0"/>
              <a:t> </a:t>
            </a:r>
          </a:p>
          <a:p>
            <a:r>
              <a:rPr lang="en-US" sz="2000" dirty="0" smtClean="0"/>
              <a:t>Can be </a:t>
            </a:r>
            <a:r>
              <a:rPr lang="en-US" sz="2000" dirty="0"/>
              <a:t>classified as either </a:t>
            </a:r>
            <a:r>
              <a:rPr lang="en-US" sz="2000" dirty="0" err="1"/>
              <a:t>classful</a:t>
            </a:r>
            <a:r>
              <a:rPr lang="en-US" sz="2000" dirty="0"/>
              <a:t> </a:t>
            </a:r>
            <a:r>
              <a:rPr lang="en-US" sz="2000" dirty="0" smtClean="0"/>
              <a:t>vs classless</a:t>
            </a:r>
            <a:r>
              <a:rPr lang="en-US" sz="2000" dirty="0"/>
              <a:t>, distance-vector </a:t>
            </a:r>
            <a:r>
              <a:rPr lang="en-US" sz="2000" dirty="0" smtClean="0"/>
              <a:t>vs  </a:t>
            </a:r>
            <a:r>
              <a:rPr lang="en-US" sz="2000" dirty="0"/>
              <a:t>link-state, and </a:t>
            </a:r>
            <a:r>
              <a:rPr lang="en-US" sz="2000" dirty="0" smtClean="0"/>
              <a:t>interior vs exterior </a:t>
            </a:r>
            <a:r>
              <a:rPr lang="en-US" sz="2000" dirty="0"/>
              <a:t>gateway </a:t>
            </a:r>
            <a:r>
              <a:rPr lang="en-US" sz="2000" dirty="0" smtClean="0"/>
              <a:t>protocol</a:t>
            </a:r>
          </a:p>
          <a:p>
            <a:r>
              <a:rPr lang="en-US" sz="2000" dirty="0"/>
              <a:t>Metrics are used to determine the best path or shortest path to reach a destination network</a:t>
            </a:r>
          </a:p>
          <a:p>
            <a:r>
              <a:rPr lang="en-US" sz="2000" dirty="0"/>
              <a:t>Different routing protocols may use different  (hops, bandwidth, delay, reliability, and load)</a:t>
            </a:r>
          </a:p>
          <a:p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16357</TotalTime>
  <Pages>28</Pages>
  <Words>2113</Words>
  <Application>Microsoft Office PowerPoint</Application>
  <PresentationFormat>On-screen Show (4:3)</PresentationFormat>
  <Paragraphs>393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ＭＳ Ｐゴシック</vt:lpstr>
      <vt:lpstr>Arial</vt:lpstr>
      <vt:lpstr>Courier New</vt:lpstr>
      <vt:lpstr>Wingdings</vt:lpstr>
      <vt:lpstr>PPT-TMPLT-WHT_C</vt:lpstr>
      <vt:lpstr>NetAcad-4F_PPT-WHT_060408</vt:lpstr>
      <vt:lpstr>Chapter 7: Routing Dynamically</vt:lpstr>
      <vt:lpstr>Chapter 7</vt:lpstr>
      <vt:lpstr>Chapter 7: Objectives</vt:lpstr>
      <vt:lpstr>Dynamic Routing Protocol Operation The Evolution of Dynamic Routing Protocols</vt:lpstr>
      <vt:lpstr>Dynamic Routing Protocol Operation Purpose of Dynamic Routing Protocols</vt:lpstr>
      <vt:lpstr>Dynamic Routing Protocol Operation Purpose of Dynamic Routing Protocols (cont.)</vt:lpstr>
      <vt:lpstr>Dynamic Routing Protocol Operation The Role of Dynamic Routing Protocols</vt:lpstr>
      <vt:lpstr>Routing Protocol Operating Fundamentals Dynamic Routing Protocol Operation</vt:lpstr>
      <vt:lpstr>Routing Protocol Operating Fundamentals Cold Start</vt:lpstr>
      <vt:lpstr>Routing Protocol Operating Fundamentals Network Discovery</vt:lpstr>
      <vt:lpstr>Routing Protocol Operating Fundamentals Network Discovery (cont.)</vt:lpstr>
      <vt:lpstr>Routing Protocol Operating Fundamentals Network Discovery (cont.)</vt:lpstr>
      <vt:lpstr>Routing Protocol Operating Fundamentals Exchanging Routing Information</vt:lpstr>
      <vt:lpstr>Routing Protocol Operating Fundamentals Exchanging Routing Information (cont.)</vt:lpstr>
      <vt:lpstr>Routing Protocol Operating Fundamentals Exchanging Routing Information (cont.)</vt:lpstr>
      <vt:lpstr>Routing Protocol Operating Fundamentals Achieving Convergence</vt:lpstr>
      <vt:lpstr>Types of Routing Protocols Classifying Routing Protocols</vt:lpstr>
      <vt:lpstr>Types of Routing Protocols IGP and EGP Routing Protocols</vt:lpstr>
      <vt:lpstr>Types of Routing Protocols Routing Protocol Metrics</vt:lpstr>
      <vt:lpstr>Types of Distance Vector Routing Protocols Routing Information Protocol (RIP)</vt:lpstr>
      <vt:lpstr>Configuring the RIP Protocol Configuring RIPv1</vt:lpstr>
      <vt:lpstr>Configuring the RIP Protocol Verifying RIP Settings</vt:lpstr>
      <vt:lpstr>Configuring the RIP Protocol Verifying Routing Table</vt:lpstr>
      <vt:lpstr>Parts of an IPv4 Route Entry Remote Network Entries</vt:lpstr>
      <vt:lpstr>Configuring the RIP Protocol Enabling RIPv2</vt:lpstr>
      <vt:lpstr>Configuring the RIP Protocol Disabling Auto Summarization</vt:lpstr>
      <vt:lpstr>Configuring the RIP Protocol Configuring Passive Interfaces</vt:lpstr>
      <vt:lpstr>Configuring the RIP Protocol Propagating a Default Route</vt:lpstr>
      <vt:lpstr>Configuring the RIPng Protocol Advertising IPv6 Networks</vt:lpstr>
      <vt:lpstr>Configuring the RIPng Protocol Examining the RIPng Configuration</vt:lpstr>
      <vt:lpstr>Summary of RIP configuration commands</vt:lpstr>
      <vt:lpstr>Chapter 7: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CCNA5.0 Instructor PPT</dc:title>
  <dc:creator>Karen Alderson</dc:creator>
  <cp:lastModifiedBy>HOO BRYAN</cp:lastModifiedBy>
  <cp:revision>1132</cp:revision>
  <cp:lastPrinted>1999-01-27T00:54:54Z</cp:lastPrinted>
  <dcterms:created xsi:type="dcterms:W3CDTF">2006-10-23T15:07:30Z</dcterms:created>
  <dcterms:modified xsi:type="dcterms:W3CDTF">2018-06-05T06:59:06Z</dcterms:modified>
</cp:coreProperties>
</file>