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 id="2147483945" r:id="rId2"/>
  </p:sldMasterIdLst>
  <p:notesMasterIdLst>
    <p:notesMasterId r:id="rId17"/>
  </p:notesMasterIdLst>
  <p:handoutMasterIdLst>
    <p:handoutMasterId r:id="rId18"/>
  </p:handoutMasterIdLst>
  <p:sldIdLst>
    <p:sldId id="500" r:id="rId3"/>
    <p:sldId id="782" r:id="rId4"/>
    <p:sldId id="802" r:id="rId5"/>
    <p:sldId id="803" r:id="rId6"/>
    <p:sldId id="805" r:id="rId7"/>
    <p:sldId id="804" r:id="rId8"/>
    <p:sldId id="806" r:id="rId9"/>
    <p:sldId id="807" r:id="rId10"/>
    <p:sldId id="811" r:id="rId11"/>
    <p:sldId id="810" r:id="rId12"/>
    <p:sldId id="813" r:id="rId13"/>
    <p:sldId id="814" r:id="rId14"/>
    <p:sldId id="815" r:id="rId15"/>
    <p:sldId id="783" r:id="rId16"/>
  </p:sldIdLst>
  <p:sldSz cx="9144000" cy="6858000" type="screen4x3"/>
  <p:notesSz cx="7010400" cy="9296400"/>
  <p:defaultTextStyle>
    <a:defPPr>
      <a:defRPr lang="en-US"/>
    </a:defPPr>
    <a:lvl1pPr algn="ctr" rtl="0" eaLnBrk="0" fontAlgn="base" hangingPunct="0">
      <a:lnSpc>
        <a:spcPct val="90000"/>
      </a:lnSpc>
      <a:spcBef>
        <a:spcPct val="0"/>
      </a:spcBef>
      <a:spcAft>
        <a:spcPct val="0"/>
      </a:spcAft>
      <a:defRPr sz="2400" kern="1200">
        <a:solidFill>
          <a:schemeClr val="tx1"/>
        </a:solidFill>
        <a:latin typeface="Arial" charset="0"/>
        <a:ea typeface="+mn-ea"/>
        <a:cs typeface="+mn-cs"/>
      </a:defRPr>
    </a:lvl1pPr>
    <a:lvl2pPr marL="4572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2pPr>
    <a:lvl3pPr marL="9144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3pPr>
    <a:lvl4pPr marL="13716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4pPr>
    <a:lvl5pPr marL="18288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ttoria deloulay" initials="vd" lastIdx="18" clrIdx="0"/>
  <p:cmAuthor id="1" name="carykell" initials="c"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0C0C4"/>
    <a:srgbClr val="678DC5"/>
    <a:srgbClr val="3E67A4"/>
    <a:srgbClr val="3E8DC5"/>
    <a:srgbClr val="5F5F65"/>
    <a:srgbClr val="7E7E8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49" autoAdjust="0"/>
    <p:restoredTop sz="84254" autoAdjust="0"/>
  </p:normalViewPr>
  <p:slideViewPr>
    <p:cSldViewPr snapToGrid="0">
      <p:cViewPr varScale="1">
        <p:scale>
          <a:sx n="52" d="100"/>
          <a:sy n="52" d="100"/>
        </p:scale>
        <p:origin x="570" y="60"/>
      </p:cViewPr>
      <p:guideLst>
        <p:guide orient="horz" pos="2160"/>
        <p:guide pos="2880"/>
      </p:guideLst>
    </p:cSldViewPr>
  </p:slideViewPr>
  <p:outlineViewPr>
    <p:cViewPr>
      <p:scale>
        <a:sx n="33" d="100"/>
        <a:sy n="33" d="100"/>
      </p:scale>
      <p:origin x="0" y="5022"/>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11"/>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97283" name="Rectangle 12"/>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97284" name="Line 13"/>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97285" name="Rectangle 14"/>
          <p:cNvSpPr>
            <a:spLocks noChangeArrowheads="1"/>
          </p:cNvSpPr>
          <p:nvPr/>
        </p:nvSpPr>
        <p:spPr bwMode="auto">
          <a:xfrm>
            <a:off x="5929313" y="8680450"/>
            <a:ext cx="812800" cy="287338"/>
          </a:xfrm>
          <a:prstGeom prst="rect">
            <a:avLst/>
          </a:prstGeom>
          <a:noFill/>
          <a:ln w="9525">
            <a:noFill/>
            <a:miter lim="800000"/>
            <a:headEnd/>
            <a:tailEnd/>
          </a:ln>
        </p:spPr>
        <p:txBody>
          <a:bodyPr lIns="18819" tIns="0" rIns="18819" bIns="0" anchor="b"/>
          <a:lstStyle/>
          <a:p>
            <a:pPr algn="r" defTabSz="903288">
              <a:lnSpc>
                <a:spcPct val="100000"/>
              </a:lnSpc>
              <a:defRPr/>
            </a:pPr>
            <a:fld id="{BCC1ECAD-6CE1-4897-9CEF-F2ECC9BEA19E}" type="slidenum">
              <a:rPr lang="en-US" sz="800"/>
              <a:pPr algn="r" defTabSz="903288">
                <a:lnSpc>
                  <a:spcPct val="100000"/>
                </a:lnSpc>
                <a:defRPr/>
              </a:pPr>
              <a:t>‹#›</a:t>
            </a:fld>
            <a:endParaRPr lang="en-US" sz="800" dirty="0"/>
          </a:p>
        </p:txBody>
      </p:sp>
    </p:spTree>
    <p:extLst>
      <p:ext uri="{BB962C8B-B14F-4D97-AF65-F5344CB8AC3E}">
        <p14:creationId xmlns:p14="http://schemas.microsoft.com/office/powerpoint/2010/main" val="2805898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8"/>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51203" name="Rectangle 9"/>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51204" name="Line 10"/>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headEnd/>
            <a:tailEnd/>
          </a:ln>
          <a:effectLst/>
        </p:spPr>
        <p:txBody>
          <a:bodyPr vert="horz" wrap="square" lIns="18819" tIns="0" rIns="18819" bIns="0" numCol="1" anchor="b" anchorCtr="0" compatLnSpc="1">
            <a:prstTxWarp prst="textNoShape">
              <a:avLst/>
            </a:prstTxWarp>
          </a:bodyPr>
          <a:lstStyle>
            <a:lvl1pPr algn="r" defTabSz="903288">
              <a:lnSpc>
                <a:spcPct val="100000"/>
              </a:lnSpc>
              <a:defRPr sz="800"/>
            </a:lvl1pPr>
          </a:lstStyle>
          <a:p>
            <a:pPr>
              <a:defRPr/>
            </a:pPr>
            <a:fld id="{FB004549-1125-4930-988B-40FFE37DB1EA}" type="slidenum">
              <a:rPr lang="en-US"/>
              <a:pPr>
                <a:defRPr/>
              </a:pPr>
              <a:t>‹#›</a:t>
            </a:fld>
            <a:endParaRPr lang="en-US" dirty="0"/>
          </a:p>
        </p:txBody>
      </p:sp>
      <p:sp>
        <p:nvSpPr>
          <p:cNvPr id="31750" name="Rectangle 12"/>
          <p:cNvSpPr>
            <a:spLocks noGrp="1" noRot="1" noChangeAspect="1" noChangeArrowheads="1" noTextEdit="1"/>
          </p:cNvSpPr>
          <p:nvPr>
            <p:ph type="sldImg" idx="2"/>
          </p:nvPr>
        </p:nvSpPr>
        <p:spPr bwMode="auto">
          <a:xfrm>
            <a:off x="873125" y="244475"/>
            <a:ext cx="5321300" cy="3990975"/>
          </a:xfrm>
          <a:prstGeom prst="rect">
            <a:avLst/>
          </a:prstGeom>
          <a:noFill/>
          <a:ln w="12700">
            <a:solidFill>
              <a:schemeClr val="tx1"/>
            </a:solidFill>
            <a:miter lim="800000"/>
            <a:headEnd/>
            <a:tailEnd/>
          </a:ln>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headEnd/>
            <a:tailEnd/>
          </a:ln>
          <a:effectLst/>
        </p:spPr>
        <p:txBody>
          <a:bodyPr vert="horz" wrap="square" lIns="95667" tIns="50185" rIns="95667" bIns="50185" numCol="1" anchor="t" anchorCtr="0" compatLnSpc="1">
            <a:prstTxWarp prst="textNoShape">
              <a:avLst/>
            </a:prstTxWarp>
          </a:bodyPr>
          <a:lstStyle/>
          <a:p>
            <a:pPr lvl="0"/>
            <a:r>
              <a:rPr lang="en-US" noProof="0" smtClean="0"/>
              <a:t>Body Text</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extLst>
      <p:ext uri="{BB962C8B-B14F-4D97-AF65-F5344CB8AC3E}">
        <p14:creationId xmlns:p14="http://schemas.microsoft.com/office/powerpoint/2010/main" val="117663086"/>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50000"/>
      </a:spcBef>
      <a:spcAft>
        <a:spcPct val="0"/>
      </a:spcAft>
      <a:buSzPct val="100000"/>
      <a:buChar char="•"/>
      <a:defRPr sz="1200" kern="1200">
        <a:solidFill>
          <a:schemeClr val="tx1"/>
        </a:solidFill>
        <a:latin typeface="Arial" charset="0"/>
        <a:ea typeface="+mn-ea"/>
        <a:cs typeface="+mn-cs"/>
      </a:defRPr>
    </a:lvl1pPr>
    <a:lvl2pPr marL="482600" indent="-120650"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2pPr>
    <a:lvl3pPr marL="9667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3pPr>
    <a:lvl4pPr marL="14493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4pPr>
    <a:lvl5pPr marL="19319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1"/>
          <p:cNvSpPr>
            <a:spLocks noGrp="1" noChangeArrowheads="1"/>
          </p:cNvSpPr>
          <p:nvPr>
            <p:ph type="sldNum" sz="quarter" idx="5"/>
          </p:nvPr>
        </p:nvSpPr>
        <p:spPr>
          <a:noFill/>
        </p:spPr>
        <p:txBody>
          <a:bodyPr/>
          <a:lstStyle/>
          <a:p>
            <a:fld id="{F9034988-36DD-4D34-B1CE-37AB851117A5}" type="slidenum">
              <a:rPr lang="en-US" smtClean="0"/>
              <a:pPr/>
              <a:t>1</a:t>
            </a:fld>
            <a:endParaRPr lang="en-US" dirty="0"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xfrm>
            <a:off x="404813" y="4378325"/>
            <a:ext cx="6121400" cy="4252913"/>
          </a:xfrm>
          <a:noFill/>
          <a:ln/>
        </p:spPr>
        <p:txBody>
          <a:bodyPr/>
          <a:lstStyle/>
          <a:p>
            <a:pPr>
              <a:buFontTx/>
              <a:buNone/>
            </a:pPr>
            <a:r>
              <a:rPr lang="en-US" b="1" dirty="0" smtClean="0"/>
              <a:t>Cisco Networking Academy program</a:t>
            </a:r>
          </a:p>
          <a:p>
            <a:pPr eaLnBrk="1" hangingPunct="1">
              <a:buFontTx/>
              <a:buNone/>
            </a:pPr>
            <a:r>
              <a:rPr lang="en-US" b="1" dirty="0" smtClean="0"/>
              <a:t>Routing &amp; Switching</a:t>
            </a:r>
          </a:p>
          <a:p>
            <a:pPr>
              <a:buFontTx/>
              <a:buNone/>
            </a:pPr>
            <a:r>
              <a:rPr lang="en-US" sz="1300" b="1" dirty="0" smtClean="0"/>
              <a:t>Chapter 2: Introduction to Switched Networks</a:t>
            </a:r>
            <a:endParaRPr lang="en-GB" b="1"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r>
              <a:rPr lang="en-US" b="1" dirty="0" smtClean="0"/>
              <a:t>2.2.1.1 </a:t>
            </a:r>
            <a:r>
              <a:rPr lang="en-US" sz="1200" b="1" i="0" kern="1200" dirty="0" err="1" smtClean="0">
                <a:solidFill>
                  <a:schemeClr val="tx1"/>
                </a:solidFill>
                <a:effectLst/>
                <a:latin typeface="Arial" charset="0"/>
                <a:ea typeface="+mn-ea"/>
                <a:cs typeface="+mn-cs"/>
              </a:rPr>
              <a:t>SSH</a:t>
            </a:r>
            <a:r>
              <a:rPr lang="en-US" sz="1200" b="1" i="0" kern="1200" dirty="0" smtClean="0">
                <a:solidFill>
                  <a:schemeClr val="tx1"/>
                </a:solidFill>
                <a:effectLst/>
                <a:latin typeface="Arial" charset="0"/>
                <a:ea typeface="+mn-ea"/>
                <a:cs typeface="+mn-cs"/>
              </a:rPr>
              <a:t> Operation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r>
              <a:rPr lang="en-US" b="1" dirty="0" smtClean="0"/>
              <a:t>2.2.1.2 Configuring </a:t>
            </a:r>
            <a:r>
              <a:rPr lang="en-US" sz="1200" b="1" i="0" kern="1200" dirty="0" err="1" smtClean="0">
                <a:solidFill>
                  <a:schemeClr val="tx1"/>
                </a:solidFill>
                <a:effectLst/>
                <a:latin typeface="Arial" charset="0"/>
                <a:ea typeface="+mn-ea"/>
                <a:cs typeface="+mn-cs"/>
              </a:rPr>
              <a:t>SSH</a:t>
            </a:r>
            <a:endParaRPr lang="en-US" sz="1200" b="1" i="0" kern="1200" dirty="0" smtClean="0">
              <a:solidFill>
                <a:schemeClr val="tx1"/>
              </a:solidFill>
              <a:effectLst/>
              <a:latin typeface="Arial"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5</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r>
              <a:rPr lang="en-US" b="1" dirty="0" smtClean="0"/>
              <a:t>2.2.1.1 </a:t>
            </a:r>
            <a:r>
              <a:rPr lang="en-US" sz="1200" b="1" i="0" kern="1200" dirty="0" err="1" smtClean="0">
                <a:solidFill>
                  <a:schemeClr val="tx1"/>
                </a:solidFill>
                <a:effectLst/>
                <a:latin typeface="Arial" charset="0"/>
                <a:ea typeface="+mn-ea"/>
                <a:cs typeface="+mn-cs"/>
              </a:rPr>
              <a:t>SSH</a:t>
            </a:r>
            <a:r>
              <a:rPr lang="en-US" sz="1200" b="1" i="0" kern="1200" dirty="0" smtClean="0">
                <a:solidFill>
                  <a:schemeClr val="tx1"/>
                </a:solidFill>
                <a:effectLst/>
                <a:latin typeface="Arial" charset="0"/>
                <a:ea typeface="+mn-ea"/>
                <a:cs typeface="+mn-cs"/>
              </a:rPr>
              <a:t> Operation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6</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r>
              <a:rPr lang="en-US" b="1" dirty="0" smtClean="0"/>
              <a:t>2.2.1.2 Verifying </a:t>
            </a:r>
            <a:r>
              <a:rPr lang="en-US" sz="1200" b="1" i="0" kern="1200" dirty="0" err="1" smtClean="0">
                <a:solidFill>
                  <a:schemeClr val="tx1"/>
                </a:solidFill>
                <a:effectLst/>
                <a:latin typeface="Arial" charset="0"/>
                <a:ea typeface="+mn-ea"/>
                <a:cs typeface="+mn-cs"/>
              </a:rPr>
              <a:t>SSH</a:t>
            </a:r>
            <a:endParaRPr lang="en-US" sz="1200" b="1" i="0" kern="1200" dirty="0" smtClean="0">
              <a:solidFill>
                <a:schemeClr val="tx1"/>
              </a:solidFill>
              <a:effectLst/>
              <a:latin typeface="Arial" charset="0"/>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7</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2.2.2.1 </a:t>
            </a:r>
            <a:r>
              <a:rPr lang="en-US" sz="1200" b="1" i="0" kern="1200" dirty="0" smtClean="0">
                <a:solidFill>
                  <a:schemeClr val="tx1"/>
                </a:solidFill>
                <a:effectLst/>
                <a:latin typeface="Arial" charset="0"/>
                <a:ea typeface="+mn-ea"/>
                <a:cs typeface="+mn-cs"/>
              </a:rPr>
              <a:t>MAC Address Flooding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8</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2.2.2.1 </a:t>
            </a:r>
            <a:r>
              <a:rPr lang="en-US" sz="1200" b="1" i="0" kern="1200" dirty="0" smtClean="0">
                <a:solidFill>
                  <a:schemeClr val="tx1"/>
                </a:solidFill>
                <a:effectLst/>
                <a:latin typeface="Arial" charset="0"/>
                <a:ea typeface="+mn-ea"/>
                <a:cs typeface="+mn-cs"/>
              </a:rPr>
              <a:t>MAC Address Flooding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9</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2.2.2.2</a:t>
            </a:r>
            <a:r>
              <a:rPr lang="en-US" b="1" baseline="0" dirty="0" smtClean="0"/>
              <a:t> </a:t>
            </a:r>
            <a:r>
              <a:rPr lang="en-US" sz="1200" b="1" i="0" kern="1200" dirty="0" smtClean="0">
                <a:solidFill>
                  <a:schemeClr val="tx1"/>
                </a:solidFill>
                <a:effectLst/>
                <a:latin typeface="Arial" charset="0"/>
                <a:ea typeface="+mn-ea"/>
                <a:cs typeface="+mn-cs"/>
              </a:rPr>
              <a:t>DHCP Spoofing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10</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2.2.2.2</a:t>
            </a:r>
            <a:r>
              <a:rPr lang="en-US" b="1" baseline="0" dirty="0" smtClean="0"/>
              <a:t> </a:t>
            </a:r>
            <a:r>
              <a:rPr lang="en-US" sz="1200" b="1" i="0" kern="1200" dirty="0" smtClean="0">
                <a:solidFill>
                  <a:schemeClr val="tx1"/>
                </a:solidFill>
                <a:effectLst/>
                <a:latin typeface="Arial" charset="0"/>
                <a:ea typeface="+mn-ea"/>
                <a:cs typeface="+mn-cs"/>
              </a:rPr>
              <a:t>DHCP Spoof Attack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11</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2.2.2.4</a:t>
            </a:r>
            <a:r>
              <a:rPr lang="en-US" b="1" baseline="0" dirty="0" smtClean="0"/>
              <a:t> </a:t>
            </a:r>
            <a:r>
              <a:rPr lang="en-US" sz="1200" b="1" i="0" kern="1200" dirty="0" smtClean="0">
                <a:solidFill>
                  <a:schemeClr val="tx1"/>
                </a:solidFill>
                <a:effectLst/>
                <a:latin typeface="Arial" charset="0"/>
                <a:ea typeface="+mn-ea"/>
                <a:cs typeface="+mn-cs"/>
              </a:rPr>
              <a:t>Leveraging Telnet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12</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2.2.2.4</a:t>
            </a:r>
            <a:r>
              <a:rPr lang="en-US" b="1" baseline="0" dirty="0" smtClean="0"/>
              <a:t> </a:t>
            </a:r>
            <a:r>
              <a:rPr lang="en-US" sz="1200" b="1" i="0" kern="1200" dirty="0" smtClean="0">
                <a:solidFill>
                  <a:schemeClr val="tx1"/>
                </a:solidFill>
                <a:effectLst/>
                <a:latin typeface="Arial" charset="0"/>
                <a:ea typeface="+mn-ea"/>
                <a:cs typeface="+mn-cs"/>
              </a:rPr>
              <a:t>Leveraging Telnet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13</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2.2.3.1</a:t>
            </a:r>
            <a:r>
              <a:rPr lang="en-US" b="1" baseline="0" dirty="0" smtClean="0"/>
              <a:t> </a:t>
            </a:r>
            <a:r>
              <a:rPr lang="en-US" sz="1200" b="1" i="0" kern="1200" dirty="0" smtClean="0">
                <a:solidFill>
                  <a:schemeClr val="tx1"/>
                </a:solidFill>
                <a:effectLst/>
                <a:latin typeface="Arial" charset="0"/>
                <a:ea typeface="+mn-ea"/>
                <a:cs typeface="+mn-cs"/>
              </a:rPr>
              <a:t>10 Best Practices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1"/>
          <p:cNvSpPr>
            <a:spLocks noGrp="1" noChangeArrowheads="1"/>
          </p:cNvSpPr>
          <p:nvPr>
            <p:ph type="sldNum" sz="quarter" idx="5"/>
          </p:nvPr>
        </p:nvSpPr>
        <p:spPr>
          <a:noFill/>
        </p:spPr>
        <p:txBody>
          <a:bodyPr/>
          <a:lstStyle/>
          <a:p>
            <a:fld id="{3D5F77EF-9F5D-4805-BD17-79024BE7C85C}" type="slidenum">
              <a:rPr lang="en-US" smtClean="0"/>
              <a:pPr/>
              <a:t>14</a:t>
            </a:fld>
            <a:endParaRPr lang="en-US" dirty="0"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a:buFontTx/>
              <a:buNone/>
            </a:pPr>
            <a:r>
              <a:rPr lang="en-US" b="1" dirty="0" smtClean="0"/>
              <a:t>Chapter 2 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Pt_CoverArt1"/>
          <p:cNvPicPr>
            <a:picLocks noChangeAspect="1" noChangeArrowheads="1"/>
          </p:cNvPicPr>
          <p:nvPr/>
        </p:nvPicPr>
        <p:blipFill>
          <a:blip r:embed="rId2" cstate="print"/>
          <a:srcRect/>
          <a:stretch>
            <a:fillRect/>
          </a:stretch>
        </p:blipFill>
        <p:spPr bwMode="auto">
          <a:xfrm>
            <a:off x="0" y="1893888"/>
            <a:ext cx="9140825" cy="2449512"/>
          </a:xfrm>
          <a:prstGeom prst="rect">
            <a:avLst/>
          </a:prstGeom>
          <a:noFill/>
          <a:ln w="9525">
            <a:noFill/>
            <a:miter lim="800000"/>
            <a:headEnd/>
            <a:tailEnd/>
          </a:ln>
        </p:spPr>
      </p:pic>
      <p:sp>
        <p:nvSpPr>
          <p:cNvPr id="5" name="Rectangle 3"/>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6" name="Rectangle 4"/>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
        <p:nvSpPr>
          <p:cNvPr id="7" name="Rectangle 5"/>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smtClean="0">
                <a:solidFill>
                  <a:srgbClr val="D3D3D3"/>
                </a:solidFill>
              </a:rPr>
              <a:t>Chapter 4</a:t>
            </a:r>
            <a:endParaRPr lang="en-US" sz="700" dirty="0">
              <a:solidFill>
                <a:srgbClr val="D3D3D3"/>
              </a:solidFill>
            </a:endParaRPr>
          </a:p>
        </p:txBody>
      </p:sp>
      <p:sp>
        <p:nvSpPr>
          <p:cNvPr id="8" name="Rectangle 6"/>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C31C4615-7F19-455B-A5C4-EA1B3B194C81}" type="slidenum">
              <a:rPr lang="en-US" sz="1000">
                <a:solidFill>
                  <a:srgbClr val="D3D3D3"/>
                </a:solidFill>
              </a:rPr>
              <a:pPr algn="r" defTabSz="814388">
                <a:lnSpc>
                  <a:spcPct val="100000"/>
                </a:lnSpc>
                <a:defRPr/>
              </a:pPr>
              <a:t>‹#›</a:t>
            </a:fld>
            <a:endParaRPr lang="en-US" sz="1000" dirty="0">
              <a:solidFill>
                <a:srgbClr val="D3D3D3"/>
              </a:solidFill>
            </a:endParaRPr>
          </a:p>
        </p:txBody>
      </p:sp>
      <p:pic>
        <p:nvPicPr>
          <p:cNvPr id="9" name="Picture 9"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0" name="Picture 10"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a:ln w="9525">
            <a:noFill/>
            <a:miter lim="800000"/>
            <a:headEnd/>
            <a:tailEnd/>
          </a:ln>
        </p:spPr>
      </p:pic>
      <p:sp>
        <p:nvSpPr>
          <p:cNvPr id="1290247"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1290248"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55638" y="2014538"/>
            <a:ext cx="7940675" cy="3571875"/>
          </a:xfrm>
        </p:spPr>
        <p:txBody>
          <a:bodyPr/>
          <a:lstStyle/>
          <a:p>
            <a:pPr lvl="0"/>
            <a:endParaRPr lang="en-US" noProof="0" dirty="0"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Pt_4face_021208.jpg"/>
          <p:cNvPicPr>
            <a:picLocks noChangeAspect="1"/>
          </p:cNvPicPr>
          <p:nvPr/>
        </p:nvPicPr>
        <p:blipFill>
          <a:blip r:embed="rId2" cstate="print"/>
          <a:srcRect/>
          <a:stretch>
            <a:fillRect/>
          </a:stretch>
        </p:blipFill>
        <p:spPr bwMode="auto">
          <a:xfrm>
            <a:off x="0" y="1911350"/>
            <a:ext cx="9144000" cy="2432050"/>
          </a:xfrm>
          <a:prstGeom prst="rect">
            <a:avLst/>
          </a:prstGeom>
          <a:noFill/>
          <a:ln w="9525">
            <a:noFill/>
            <a:miter lim="800000"/>
            <a:headEnd/>
            <a:tailEnd/>
          </a:ln>
        </p:spPr>
      </p:pic>
      <p:sp>
        <p:nvSpPr>
          <p:cNvPr id="5" name="Rectangle 278"/>
          <p:cNvSpPr>
            <a:spLocks noChangeArrowheads="1"/>
          </p:cNvSpPr>
          <p:nvPr/>
        </p:nvSpPr>
        <p:spPr bwMode="auto">
          <a:xfrm>
            <a:off x="4498975" y="6672263"/>
            <a:ext cx="2022475" cy="188912"/>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2008 Cisco Systems, Inc. All rights reserved.</a:t>
            </a:r>
          </a:p>
        </p:txBody>
      </p:sp>
      <p:sp>
        <p:nvSpPr>
          <p:cNvPr id="6" name="Rectangle 279"/>
          <p:cNvSpPr>
            <a:spLocks noChangeArrowheads="1"/>
          </p:cNvSpPr>
          <p:nvPr/>
        </p:nvSpPr>
        <p:spPr bwMode="auto">
          <a:xfrm>
            <a:off x="6896100" y="6672263"/>
            <a:ext cx="877888"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Confidential</a:t>
            </a:r>
          </a:p>
        </p:txBody>
      </p:sp>
      <p:sp>
        <p:nvSpPr>
          <p:cNvPr id="7" name="Rectangle 280"/>
          <p:cNvSpPr>
            <a:spLocks noChangeArrowheads="1"/>
          </p:cNvSpPr>
          <p:nvPr/>
        </p:nvSpPr>
        <p:spPr bwMode="auto">
          <a:xfrm>
            <a:off x="193675" y="6672263"/>
            <a:ext cx="962025" cy="188912"/>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Presentation_ID</a:t>
            </a:r>
          </a:p>
        </p:txBody>
      </p:sp>
      <p:sp>
        <p:nvSpPr>
          <p:cNvPr id="8" name="Rectangle 281"/>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ACFA795C-7F0A-48D8-9FC3-F2BA5F8EB736}" type="slidenum">
              <a:rPr lang="en-US" sz="1000">
                <a:solidFill>
                  <a:srgbClr val="D3D3D3"/>
                </a:solidFill>
              </a:rPr>
              <a:pPr algn="r" defTabSz="814388">
                <a:lnSpc>
                  <a:spcPct val="100000"/>
                </a:lnSpc>
                <a:defRPr/>
              </a:pPr>
              <a:t>‹#›</a:t>
            </a:fld>
            <a:endParaRPr lang="en-US" sz="1000" dirty="0">
              <a:solidFill>
                <a:srgbClr val="D3D3D3"/>
              </a:solidFill>
            </a:endParaRPr>
          </a:p>
        </p:txBody>
      </p:sp>
      <p:pic>
        <p:nvPicPr>
          <p:cNvPr id="9" name="Picture 331"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0" name="Picture 333"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a:ln w="9525">
            <a:noFill/>
            <a:miter lim="800000"/>
            <a:headEnd/>
            <a:tailEnd/>
          </a:ln>
        </p:spPr>
      </p:pic>
      <p:sp>
        <p:nvSpPr>
          <p:cNvPr id="369873" name="Rectangle 209"/>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smtClean="0"/>
              <a:t>Click to edit Master title style</a:t>
            </a:r>
            <a:endParaRPr lang="en-US"/>
          </a:p>
        </p:txBody>
      </p:sp>
      <p:sp>
        <p:nvSpPr>
          <p:cNvPr id="369874" name="Rectangle 210"/>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smtClean="0"/>
              <a:t>Click to edit Master subtitle style</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798513"/>
            <a:ext cx="8145462"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027" name="Rectangle 4"/>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smtClean="0">
                <a:solidFill>
                  <a:srgbClr val="D3D3D3"/>
                </a:solidFill>
              </a:rPr>
              <a:t>Chapter 4</a:t>
            </a:r>
            <a:endParaRPr lang="en-US" sz="700" dirty="0">
              <a:solidFill>
                <a:srgbClr val="D3D3D3"/>
              </a:solidFill>
            </a:endParaRPr>
          </a:p>
        </p:txBody>
      </p:sp>
      <p:sp>
        <p:nvSpPr>
          <p:cNvPr id="1028" name="Rectangle 5"/>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58EC189E-ADD4-420E-B89E-1E32C54438D7}" type="slidenum">
              <a:rPr lang="en-US" sz="1000">
                <a:solidFill>
                  <a:srgbClr val="D3D3D3"/>
                </a:solidFill>
              </a:rPr>
              <a:pPr algn="r" defTabSz="814388">
                <a:lnSpc>
                  <a:spcPct val="100000"/>
                </a:lnSpc>
                <a:defRPr/>
              </a:pPr>
              <a:t>‹#›</a:t>
            </a:fld>
            <a:endParaRPr lang="en-US" sz="1000" dirty="0">
              <a:solidFill>
                <a:srgbClr val="D3D3D3"/>
              </a:solidFill>
            </a:endParaRPr>
          </a:p>
        </p:txBody>
      </p:sp>
      <p:sp>
        <p:nvSpPr>
          <p:cNvPr id="1029" name="Rectangle 6"/>
          <p:cNvSpPr>
            <a:spLocks noGrp="1" noChangeArrowheads="1"/>
          </p:cNvSpPr>
          <p:nvPr>
            <p:ph type="body" idx="1"/>
          </p:nvPr>
        </p:nvSpPr>
        <p:spPr bwMode="auto">
          <a:xfrm>
            <a:off x="655638" y="2014538"/>
            <a:ext cx="7940675" cy="3571875"/>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030" name="Picture 7" descr="PPt_TopBand_Artwork"/>
          <p:cNvPicPr>
            <a:picLocks noChangeAspect="1" noChangeArrowheads="1"/>
          </p:cNvPicPr>
          <p:nvPr/>
        </p:nvPicPr>
        <p:blipFill>
          <a:blip r:embed="rId14" cstate="print"/>
          <a:srcRect/>
          <a:stretch>
            <a:fillRect/>
          </a:stretch>
        </p:blipFill>
        <p:spPr bwMode="auto">
          <a:xfrm>
            <a:off x="0" y="0"/>
            <a:ext cx="9140825" cy="685800"/>
          </a:xfrm>
          <a:prstGeom prst="rect">
            <a:avLst/>
          </a:prstGeom>
          <a:noFill/>
          <a:ln w="9525">
            <a:noFill/>
            <a:miter lim="800000"/>
            <a:headEnd/>
            <a:tailEnd/>
          </a:ln>
        </p:spPr>
      </p:pic>
      <p:sp>
        <p:nvSpPr>
          <p:cNvPr id="1031" name="Rectangle 8"/>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1032" name="Rectangle 9"/>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Tree>
  </p:cSld>
  <p:clrMap bg1="lt1" tx1="dk1" bg2="lt2" tx2="dk2" accent1="accent1" accent2="accent2" accent3="accent3" accent4="accent4" accent5="accent5" accent6="accent6" hlink="hlink" folHlink="folHlink"/>
  <p:sldLayoutIdLst>
    <p:sldLayoutId id="2147484455" r:id="rId1"/>
    <p:sldLayoutId id="2147484434" r:id="rId2"/>
    <p:sldLayoutId id="2147484435" r:id="rId3"/>
    <p:sldLayoutId id="2147484436" r:id="rId4"/>
    <p:sldLayoutId id="2147484437" r:id="rId5"/>
    <p:sldLayoutId id="2147484438" r:id="rId6"/>
    <p:sldLayoutId id="2147484439" r:id="rId7"/>
    <p:sldLayoutId id="2147484440" r:id="rId8"/>
    <p:sldLayoutId id="2147484441" r:id="rId9"/>
    <p:sldLayoutId id="2147484442" r:id="rId10"/>
    <p:sldLayoutId id="2147484443" r:id="rId11"/>
    <p:sldLayoutId id="2147484444" r:id="rId12"/>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0" fontAlgn="base" hangingPunct="0">
        <a:lnSpc>
          <a:spcPct val="95000"/>
        </a:lnSpc>
        <a:spcBef>
          <a:spcPct val="35000"/>
        </a:spcBef>
        <a:spcAft>
          <a:spcPct val="0"/>
        </a:spcAft>
        <a:buClr>
          <a:srgbClr val="708CA1"/>
        </a:buClr>
        <a:defRPr sz="2000">
          <a:solidFill>
            <a:schemeClr val="tx1"/>
          </a:solidFill>
          <a:latin typeface="+mn-lt"/>
        </a:defRPr>
      </a:lvl6pPr>
      <a:lvl7pPr marL="2519363" algn="l" defTabSz="814388" rtl="0" eaLnBrk="0" fontAlgn="base" hangingPunct="0">
        <a:lnSpc>
          <a:spcPct val="95000"/>
        </a:lnSpc>
        <a:spcBef>
          <a:spcPct val="35000"/>
        </a:spcBef>
        <a:spcAft>
          <a:spcPct val="0"/>
        </a:spcAft>
        <a:buClr>
          <a:srgbClr val="708CA1"/>
        </a:buClr>
        <a:defRPr sz="2000">
          <a:solidFill>
            <a:schemeClr val="tx1"/>
          </a:solidFill>
          <a:latin typeface="+mn-lt"/>
        </a:defRPr>
      </a:lvl7pPr>
      <a:lvl8pPr marL="2976563" algn="l" defTabSz="814388" rtl="0" eaLnBrk="0" fontAlgn="base" hangingPunct="0">
        <a:lnSpc>
          <a:spcPct val="95000"/>
        </a:lnSpc>
        <a:spcBef>
          <a:spcPct val="35000"/>
        </a:spcBef>
        <a:spcAft>
          <a:spcPct val="0"/>
        </a:spcAft>
        <a:buClr>
          <a:srgbClr val="708CA1"/>
        </a:buClr>
        <a:defRPr sz="2000">
          <a:solidFill>
            <a:schemeClr val="tx1"/>
          </a:solidFill>
          <a:latin typeface="+mn-lt"/>
        </a:defRPr>
      </a:lvl8pPr>
      <a:lvl9pPr marL="3433763" algn="l" defTabSz="814388"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6146"/>
          <p:cNvSpPr>
            <a:spLocks noGrp="1" noChangeArrowheads="1"/>
          </p:cNvSpPr>
          <p:nvPr>
            <p:ph type="title"/>
          </p:nvPr>
        </p:nvSpPr>
        <p:spPr bwMode="auto">
          <a:xfrm>
            <a:off x="655638" y="798513"/>
            <a:ext cx="8145462"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2051" name="Rectangle 6281"/>
          <p:cNvSpPr>
            <a:spLocks noChangeArrowheads="1"/>
          </p:cNvSpPr>
          <p:nvPr/>
        </p:nvSpPr>
        <p:spPr bwMode="auto">
          <a:xfrm>
            <a:off x="193675" y="6672263"/>
            <a:ext cx="962025" cy="188912"/>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Presentation_ID</a:t>
            </a:r>
          </a:p>
        </p:txBody>
      </p:sp>
      <p:sp>
        <p:nvSpPr>
          <p:cNvPr id="2052" name="Rectangle 6282"/>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85C5E045-6C48-46C0-92AE-30A8710B0BBD}" type="slidenum">
              <a:rPr lang="en-US" sz="1000">
                <a:solidFill>
                  <a:srgbClr val="D3D3D3"/>
                </a:solidFill>
              </a:rPr>
              <a:pPr algn="r" defTabSz="814388">
                <a:lnSpc>
                  <a:spcPct val="100000"/>
                </a:lnSpc>
                <a:defRPr/>
              </a:pPr>
              <a:t>‹#›</a:t>
            </a:fld>
            <a:endParaRPr lang="en-US" sz="1000" dirty="0">
              <a:solidFill>
                <a:srgbClr val="D3D3D3"/>
              </a:solidFill>
            </a:endParaRPr>
          </a:p>
        </p:txBody>
      </p:sp>
      <p:sp>
        <p:nvSpPr>
          <p:cNvPr id="2053" name="Rectangle 6284"/>
          <p:cNvSpPr>
            <a:spLocks noGrp="1" noChangeArrowheads="1"/>
          </p:cNvSpPr>
          <p:nvPr>
            <p:ph type="body" idx="1"/>
          </p:nvPr>
        </p:nvSpPr>
        <p:spPr bwMode="auto">
          <a:xfrm>
            <a:off x="655638" y="2014538"/>
            <a:ext cx="7940675" cy="3571875"/>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4" name="Rectangle 6312"/>
          <p:cNvSpPr>
            <a:spLocks noChangeArrowheads="1"/>
          </p:cNvSpPr>
          <p:nvPr/>
        </p:nvSpPr>
        <p:spPr bwMode="auto">
          <a:xfrm>
            <a:off x="4498975" y="6672263"/>
            <a:ext cx="2022475" cy="188912"/>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2008 Cisco Systems, Inc. All rights reserved.</a:t>
            </a:r>
          </a:p>
        </p:txBody>
      </p:sp>
      <p:sp>
        <p:nvSpPr>
          <p:cNvPr id="2055" name="Rectangle 6313"/>
          <p:cNvSpPr>
            <a:spLocks noChangeArrowheads="1"/>
          </p:cNvSpPr>
          <p:nvPr/>
        </p:nvSpPr>
        <p:spPr bwMode="auto">
          <a:xfrm>
            <a:off x="6896100" y="6672263"/>
            <a:ext cx="877888"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Confidential</a:t>
            </a:r>
          </a:p>
        </p:txBody>
      </p:sp>
      <p:pic>
        <p:nvPicPr>
          <p:cNvPr id="2056" name="Picture 8" descr="Rev08_Cisco_BrandBar10_060408.png"/>
          <p:cNvPicPr>
            <a:picLocks noChangeAspect="1"/>
          </p:cNvPicPr>
          <p:nvPr/>
        </p:nvPicPr>
        <p:blipFill>
          <a:blip r:embed="rId13" cstate="print"/>
          <a:srcRect/>
          <a:stretch>
            <a:fillRect/>
          </a:stretch>
        </p:blipFill>
        <p:spPr bwMode="auto">
          <a:xfrm>
            <a:off x="0" y="0"/>
            <a:ext cx="9144000" cy="3413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456" r:id="rId1"/>
    <p:sldLayoutId id="2147484445" r:id="rId2"/>
    <p:sldLayoutId id="2147484446" r:id="rId3"/>
    <p:sldLayoutId id="2147484447" r:id="rId4"/>
    <p:sldLayoutId id="2147484448" r:id="rId5"/>
    <p:sldLayoutId id="2147484449" r:id="rId6"/>
    <p:sldLayoutId id="2147484450" r:id="rId7"/>
    <p:sldLayoutId id="2147484451" r:id="rId8"/>
    <p:sldLayoutId id="2147484452" r:id="rId9"/>
    <p:sldLayoutId id="2147484453" r:id="rId10"/>
    <p:sldLayoutId id="2147484454" r:id="rId11"/>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eaLnBrk="1" fontAlgn="base" hangingPunct="1">
        <a:lnSpc>
          <a:spcPct val="90000"/>
        </a:lnSpc>
        <a:spcBef>
          <a:spcPct val="0"/>
        </a:spcBef>
        <a:spcAft>
          <a:spcPct val="0"/>
        </a:spcAft>
        <a:defRPr sz="3200" b="1">
          <a:solidFill>
            <a:srgbClr val="708CA1"/>
          </a:solidFill>
          <a:latin typeface="Arial" charset="0"/>
        </a:defRPr>
      </a:lvl6pPr>
      <a:lvl7pPr marL="914400" algn="l" defTabSz="814388" rtl="0" eaLnBrk="1" fontAlgn="base" hangingPunct="1">
        <a:lnSpc>
          <a:spcPct val="90000"/>
        </a:lnSpc>
        <a:spcBef>
          <a:spcPct val="0"/>
        </a:spcBef>
        <a:spcAft>
          <a:spcPct val="0"/>
        </a:spcAft>
        <a:defRPr sz="3200" b="1">
          <a:solidFill>
            <a:srgbClr val="708CA1"/>
          </a:solidFill>
          <a:latin typeface="Arial" charset="0"/>
        </a:defRPr>
      </a:lvl7pPr>
      <a:lvl8pPr marL="1371600" algn="l" defTabSz="814388" rtl="0" eaLnBrk="1" fontAlgn="base" hangingPunct="1">
        <a:lnSpc>
          <a:spcPct val="90000"/>
        </a:lnSpc>
        <a:spcBef>
          <a:spcPct val="0"/>
        </a:spcBef>
        <a:spcAft>
          <a:spcPct val="0"/>
        </a:spcAft>
        <a:defRPr sz="3200" b="1">
          <a:solidFill>
            <a:srgbClr val="708CA1"/>
          </a:solidFill>
          <a:latin typeface="Arial" charset="0"/>
        </a:defRPr>
      </a:lvl8pPr>
      <a:lvl9pPr marL="1828800" algn="l" defTabSz="814388" rtl="0" eaLnBrk="1" fontAlgn="base" hangingPunct="1">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eaLnBrk="1" hangingPunct="1"/>
            <a:r>
              <a:rPr lang="en-US" sz="2800" smtClean="0"/>
              <a:t>Chapter 3b</a:t>
            </a:r>
            <a:r>
              <a:rPr lang="en-US" sz="2800" dirty="0"/>
              <a:t>: Basic Switching Concepts and Configuration (</a:t>
            </a:r>
            <a:r>
              <a:rPr lang="en-US" sz="2800" dirty="0" smtClean="0"/>
              <a:t>II)</a:t>
            </a:r>
            <a:endParaRPr lang="en-US" sz="2800" dirty="0" smtClean="0">
              <a:solidFill>
                <a:schemeClr val="folHlink"/>
              </a:solidFill>
            </a:endParaRPr>
          </a:p>
        </p:txBody>
      </p:sp>
      <p:sp>
        <p:nvSpPr>
          <p:cNvPr id="5123" name="Rectangle 3"/>
          <p:cNvSpPr>
            <a:spLocks noGrp="1" noChangeArrowheads="1"/>
          </p:cNvSpPr>
          <p:nvPr>
            <p:ph type="subTitle" idx="1"/>
          </p:nvPr>
        </p:nvSpPr>
        <p:spPr>
          <a:xfrm>
            <a:off x="311150" y="4672013"/>
            <a:ext cx="6788150" cy="658812"/>
          </a:xfrm>
        </p:spPr>
        <p:txBody>
          <a:bodyPr/>
          <a:lstStyle/>
          <a:p>
            <a:pPr eaLnBrk="1" hangingPunct="1"/>
            <a:r>
              <a:rPr lang="en-US" sz="2400" dirty="0" smtClean="0"/>
              <a:t>Routing and Switching</a:t>
            </a:r>
          </a:p>
        </p:txBody>
      </p:sp>
    </p:spTree>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74638" y="493713"/>
            <a:ext cx="8145462" cy="838200"/>
          </a:xfrm>
        </p:spPr>
        <p:txBody>
          <a:bodyPr/>
          <a:lstStyle/>
          <a:p>
            <a:pPr eaLnBrk="1" hangingPunct="1"/>
            <a:r>
              <a:rPr lang="en-US" dirty="0" smtClean="0">
                <a:ea typeface="ＭＳ Ｐゴシック" pitchFamily="34" charset="-128"/>
              </a:rPr>
              <a:t>Chapter 2b: Objectives</a:t>
            </a:r>
          </a:p>
        </p:txBody>
      </p:sp>
      <p:sp>
        <p:nvSpPr>
          <p:cNvPr id="6147" name="Rectangle 3"/>
          <p:cNvSpPr>
            <a:spLocks noGrp="1" noChangeArrowheads="1"/>
          </p:cNvSpPr>
          <p:nvPr>
            <p:ph idx="1"/>
          </p:nvPr>
        </p:nvSpPr>
        <p:spPr>
          <a:xfrm>
            <a:off x="719138" y="1471613"/>
            <a:ext cx="8131175" cy="4437062"/>
          </a:xfrm>
        </p:spPr>
        <p:txBody>
          <a:bodyPr/>
          <a:lstStyle/>
          <a:p>
            <a:pPr marL="0" indent="0">
              <a:buNone/>
            </a:pPr>
            <a:r>
              <a:rPr lang="en-US" sz="2000" dirty="0" smtClean="0"/>
              <a:t>Upon completion of this chapter, you will be able to:</a:t>
            </a:r>
          </a:p>
          <a:p>
            <a:r>
              <a:rPr lang="en-US" sz="2000" dirty="0" smtClean="0"/>
              <a:t>Describe basic security attacks in a switched environment.</a:t>
            </a:r>
          </a:p>
          <a:p>
            <a:r>
              <a:rPr lang="en-US" sz="2000" dirty="0" smtClean="0"/>
              <a:t>Describe security best practices in a switched environment.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Secure Remote Access</a:t>
            </a:r>
            <a:r>
              <a:rPr lang="en-US" sz="1800" dirty="0" smtClean="0">
                <a:ea typeface="ＭＳ Ｐゴシック" pitchFamily="34" charset="-128"/>
              </a:rPr>
              <a:t/>
            </a:r>
            <a:br>
              <a:rPr lang="en-US" sz="1800" dirty="0" smtClean="0">
                <a:ea typeface="ＭＳ Ｐゴシック" pitchFamily="34" charset="-128"/>
              </a:rPr>
            </a:br>
            <a:r>
              <a:rPr lang="en-US" dirty="0" err="1" smtClean="0"/>
              <a:t>SSH</a:t>
            </a:r>
            <a:r>
              <a:rPr lang="en-US" dirty="0" smtClean="0"/>
              <a:t> Operation</a:t>
            </a:r>
            <a:endParaRPr lang="en-US" dirty="0" smtClean="0">
              <a:ea typeface="ＭＳ Ｐゴシック" pitchFamily="34" charset="-128"/>
            </a:endParaRPr>
          </a:p>
        </p:txBody>
      </p:sp>
      <p:sp>
        <p:nvSpPr>
          <p:cNvPr id="2" name="Content Placeholder 1"/>
          <p:cNvSpPr>
            <a:spLocks noGrp="1"/>
          </p:cNvSpPr>
          <p:nvPr>
            <p:ph idx="1"/>
          </p:nvPr>
        </p:nvSpPr>
        <p:spPr>
          <a:xfrm>
            <a:off x="510496" y="1733266"/>
            <a:ext cx="7940675" cy="4551420"/>
          </a:xfrm>
        </p:spPr>
        <p:txBody>
          <a:bodyPr/>
          <a:lstStyle/>
          <a:p>
            <a:r>
              <a:rPr lang="en-US" sz="2000" dirty="0"/>
              <a:t>Secure Shell (SSH) is a protocol that provides a secure </a:t>
            </a:r>
            <a:r>
              <a:rPr lang="en-US" sz="2000" dirty="0" smtClean="0"/>
              <a:t>(encrypted), command-line based connection </a:t>
            </a:r>
            <a:r>
              <a:rPr lang="en-US" sz="2000" dirty="0"/>
              <a:t>to a remote </a:t>
            </a:r>
            <a:r>
              <a:rPr lang="en-US" sz="2000" dirty="0" smtClean="0"/>
              <a:t>device.</a:t>
            </a:r>
          </a:p>
          <a:p>
            <a:r>
              <a:rPr lang="en-US" sz="2000" dirty="0" smtClean="0"/>
              <a:t>SSH is commonly used in UNIX-based systems and is supported on Cisco IOS software.</a:t>
            </a:r>
          </a:p>
          <a:p>
            <a:r>
              <a:rPr lang="en-US" sz="2000" dirty="0" smtClean="0"/>
              <a:t>SSH </a:t>
            </a:r>
            <a:r>
              <a:rPr lang="en-US" sz="2000" dirty="0"/>
              <a:t>should replace Telnet for </a:t>
            </a:r>
            <a:r>
              <a:rPr lang="en-US" sz="2000" dirty="0" smtClean="0"/>
              <a:t>management connections because Telnet traffic transmits username and password in plaintext.</a:t>
            </a:r>
          </a:p>
          <a:p>
            <a:r>
              <a:rPr lang="en-US" sz="2000" dirty="0" smtClean="0"/>
              <a:t>SSH uses TCP </a:t>
            </a:r>
            <a:r>
              <a:rPr lang="en-US" sz="2000" dirty="0"/>
              <a:t>port </a:t>
            </a:r>
            <a:r>
              <a:rPr lang="en-US" sz="2000" dirty="0" smtClean="0"/>
              <a:t>22</a:t>
            </a:r>
            <a:r>
              <a:rPr lang="en-US" sz="2000" dirty="0"/>
              <a:t> </a:t>
            </a:r>
            <a:r>
              <a:rPr lang="en-US" sz="2000" dirty="0" smtClean="0"/>
              <a:t>while Telnet use TCP </a:t>
            </a:r>
            <a:r>
              <a:rPr lang="en-US" sz="2000" dirty="0"/>
              <a:t>port </a:t>
            </a:r>
            <a:r>
              <a:rPr lang="en-US" sz="2000" dirty="0" smtClean="0"/>
              <a:t>23.</a:t>
            </a:r>
          </a:p>
        </p:txBody>
      </p:sp>
    </p:spTree>
    <p:extLst>
      <p:ext uri="{BB962C8B-B14F-4D97-AF65-F5344CB8AC3E}">
        <p14:creationId xmlns:p14="http://schemas.microsoft.com/office/powerpoint/2010/main" val="21360199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Secure Remote Access</a:t>
            </a:r>
            <a:r>
              <a:rPr lang="en-US" sz="1800" dirty="0" smtClean="0">
                <a:ea typeface="ＭＳ Ｐゴシック" pitchFamily="34" charset="-128"/>
              </a:rPr>
              <a:t/>
            </a:r>
            <a:br>
              <a:rPr lang="en-US" sz="1800" dirty="0" smtClean="0">
                <a:ea typeface="ＭＳ Ｐゴシック" pitchFamily="34" charset="-128"/>
              </a:rPr>
            </a:br>
            <a:r>
              <a:rPr lang="en-US" dirty="0" smtClean="0"/>
              <a:t>Configuring </a:t>
            </a:r>
            <a:r>
              <a:rPr lang="en-US" dirty="0" err="1" smtClean="0"/>
              <a:t>SSH</a:t>
            </a:r>
            <a:endParaRPr lang="en-US" dirty="0" smtClean="0">
              <a:ea typeface="ＭＳ Ｐゴシック" pitchFamily="34" charset="-128"/>
            </a:endParaRPr>
          </a:p>
        </p:txBody>
      </p:sp>
      <p:sp>
        <p:nvSpPr>
          <p:cNvPr id="2" name="Content Placeholder 1"/>
          <p:cNvSpPr>
            <a:spLocks noGrp="1"/>
          </p:cNvSpPr>
          <p:nvPr>
            <p:ph idx="1"/>
          </p:nvPr>
        </p:nvSpPr>
        <p:spPr>
          <a:xfrm>
            <a:off x="510496" y="1404938"/>
            <a:ext cx="7940675" cy="4879748"/>
          </a:xfrm>
        </p:spPr>
        <p:txBody>
          <a:bodyPr/>
          <a:lstStyle/>
          <a:p>
            <a:pPr marL="0" indent="0">
              <a:buNone/>
            </a:pPr>
            <a:r>
              <a:rPr lang="en-US" dirty="0" smtClean="0"/>
              <a:t> </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6925" t="31488" r="18866" b="10865"/>
          <a:stretch/>
        </p:blipFill>
        <p:spPr bwMode="auto">
          <a:xfrm>
            <a:off x="504966" y="1610432"/>
            <a:ext cx="5213445" cy="47221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886320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Secure Remote Access</a:t>
            </a:r>
            <a:r>
              <a:rPr lang="en-US" sz="1800" dirty="0" smtClean="0">
                <a:ea typeface="ＭＳ Ｐゴシック" pitchFamily="34" charset="-128"/>
              </a:rPr>
              <a:t/>
            </a:r>
            <a:br>
              <a:rPr lang="en-US" sz="1800" dirty="0" smtClean="0">
                <a:ea typeface="ＭＳ Ｐゴシック" pitchFamily="34" charset="-128"/>
              </a:rPr>
            </a:br>
            <a:r>
              <a:rPr lang="en-US" dirty="0" smtClean="0"/>
              <a:t>SSH Access</a:t>
            </a:r>
            <a:endParaRPr lang="en-US" dirty="0" smtClean="0">
              <a:ea typeface="ＭＳ Ｐゴシック" pitchFamily="34" charset="-128"/>
            </a:endParaRPr>
          </a:p>
        </p:txBody>
      </p:sp>
      <p:sp>
        <p:nvSpPr>
          <p:cNvPr id="2" name="Content Placeholder 1"/>
          <p:cNvSpPr>
            <a:spLocks noGrp="1"/>
          </p:cNvSpPr>
          <p:nvPr>
            <p:ph idx="1"/>
          </p:nvPr>
        </p:nvSpPr>
        <p:spPr>
          <a:xfrm>
            <a:off x="382683" y="1441332"/>
            <a:ext cx="7940675" cy="3571875"/>
          </a:xfrm>
        </p:spPr>
        <p:txBody>
          <a:bodyPr/>
          <a:lstStyle/>
          <a:p>
            <a:r>
              <a:rPr lang="en-SG" sz="2000" dirty="0" smtClean="0"/>
              <a:t>A SSH software (</a:t>
            </a:r>
            <a:r>
              <a:rPr lang="en-SG" sz="2000" dirty="0" err="1" smtClean="0"/>
              <a:t>eg</a:t>
            </a:r>
            <a:r>
              <a:rPr lang="en-SG" sz="2000" dirty="0" smtClean="0"/>
              <a:t>. Putty) is required to remotely access the Cisco device via the virtual terminal</a:t>
            </a:r>
            <a:endParaRPr lang="en-SG" sz="2000" dirty="0"/>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9164" t="29990" r="22532" b="10458"/>
          <a:stretch/>
        </p:blipFill>
        <p:spPr bwMode="auto">
          <a:xfrm>
            <a:off x="409432" y="2274302"/>
            <a:ext cx="3684895" cy="416744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44448" t="29799" r="18298" b="13221"/>
          <a:stretch/>
        </p:blipFill>
        <p:spPr bwMode="auto">
          <a:xfrm>
            <a:off x="4258979" y="2661313"/>
            <a:ext cx="4598417" cy="378043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2814552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Secure Remote Access</a:t>
            </a:r>
            <a:r>
              <a:rPr lang="en-US" sz="1800" dirty="0" smtClean="0">
                <a:ea typeface="ＭＳ Ｐゴシック" pitchFamily="34" charset="-128"/>
              </a:rPr>
              <a:t/>
            </a:r>
            <a:br>
              <a:rPr lang="en-US" sz="1800" dirty="0" smtClean="0">
                <a:ea typeface="ＭＳ Ｐゴシック" pitchFamily="34" charset="-128"/>
              </a:rPr>
            </a:br>
            <a:r>
              <a:rPr lang="en-US" dirty="0" smtClean="0"/>
              <a:t>Verifying </a:t>
            </a:r>
            <a:r>
              <a:rPr lang="en-US" dirty="0" err="1" smtClean="0"/>
              <a:t>SSH</a:t>
            </a:r>
            <a:endParaRPr lang="en-US" dirty="0" smtClean="0">
              <a:ea typeface="ＭＳ Ｐゴシック" pitchFamily="34" charset="-128"/>
            </a:endParaRP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4238" t="30488" r="17881" b="12198"/>
          <a:stretch/>
        </p:blipFill>
        <p:spPr bwMode="auto">
          <a:xfrm>
            <a:off x="464024" y="1624083"/>
            <a:ext cx="5773003" cy="469483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7049326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Security Concerns in LANs</a:t>
            </a:r>
            <a:r>
              <a:rPr lang="en-US" sz="1800" dirty="0" smtClean="0">
                <a:ea typeface="ＭＳ Ｐゴシック" pitchFamily="34" charset="-128"/>
              </a:rPr>
              <a:t/>
            </a:r>
            <a:br>
              <a:rPr lang="en-US" sz="1800" dirty="0" smtClean="0">
                <a:ea typeface="ＭＳ Ｐゴシック" pitchFamily="34" charset="-128"/>
              </a:rPr>
            </a:br>
            <a:r>
              <a:rPr lang="en-US" dirty="0" smtClean="0"/>
              <a:t>MAC Address Flooding </a:t>
            </a:r>
            <a:endParaRPr lang="en-US" dirty="0" smtClean="0">
              <a:ea typeface="ＭＳ Ｐゴシック" pitchFamily="34" charset="-128"/>
            </a:endParaRPr>
          </a:p>
        </p:txBody>
      </p:sp>
      <p:sp>
        <p:nvSpPr>
          <p:cNvPr id="2" name="Content Placeholder 1"/>
          <p:cNvSpPr>
            <a:spLocks noGrp="1"/>
          </p:cNvSpPr>
          <p:nvPr>
            <p:ph idx="1"/>
          </p:nvPr>
        </p:nvSpPr>
        <p:spPr>
          <a:xfrm>
            <a:off x="510496" y="1404938"/>
            <a:ext cx="7940675" cy="4879748"/>
          </a:xfrm>
        </p:spPr>
        <p:txBody>
          <a:bodyPr/>
          <a:lstStyle/>
          <a:p>
            <a:pPr marL="0" indent="0">
              <a:buNone/>
            </a:pPr>
            <a:r>
              <a:rPr lang="en-US" dirty="0" smtClean="0"/>
              <a:t> </a:t>
            </a:r>
          </a:p>
        </p:txBody>
      </p:sp>
      <p:sp>
        <p:nvSpPr>
          <p:cNvPr id="5" name="Content Placeholder 1"/>
          <p:cNvSpPr txBox="1">
            <a:spLocks/>
          </p:cNvSpPr>
          <p:nvPr/>
        </p:nvSpPr>
        <p:spPr bwMode="auto">
          <a:xfrm>
            <a:off x="408252" y="1470523"/>
            <a:ext cx="8408201" cy="4879748"/>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r>
              <a:rPr lang="en-US" sz="2000" dirty="0" smtClean="0"/>
              <a:t>A switch automatically populates its MAC address table from incoming traffic into its ports.</a:t>
            </a:r>
          </a:p>
          <a:p>
            <a:r>
              <a:rPr lang="en-US" sz="2000" dirty="0" smtClean="0"/>
              <a:t>It broadcasts traffic through all other ports if the destination MAC is not in the MAC address table.</a:t>
            </a:r>
          </a:p>
          <a:p>
            <a:pPr marL="742950" lvl="1" indent="-285750">
              <a:buFont typeface="Arial" panose="020B0604020202020204" pitchFamily="34" charset="0"/>
              <a:buChar char="•"/>
            </a:pPr>
            <a:r>
              <a:rPr lang="en-US" sz="1800" dirty="0" smtClean="0"/>
              <a:t>When this happens, the switch is acting like a hub. </a:t>
            </a:r>
          </a:p>
          <a:p>
            <a:pPr marL="742950" lvl="1" indent="-285750">
              <a:buFont typeface="Arial" panose="020B0604020202020204" pitchFamily="34" charset="0"/>
              <a:buChar char="•"/>
            </a:pPr>
            <a:r>
              <a:rPr lang="en-US" sz="1800" dirty="0" smtClean="0"/>
              <a:t>Unicast traffic can be seen by all devices connected to the switch.</a:t>
            </a:r>
          </a:p>
          <a:p>
            <a:endParaRPr lang="en-US" sz="2000" dirty="0" smtClean="0"/>
          </a:p>
          <a:p>
            <a:endParaRPr lang="en-US" sz="2000" dirty="0"/>
          </a:p>
          <a:p>
            <a:endParaRPr lang="en-US" sz="2000" dirty="0"/>
          </a:p>
          <a:p>
            <a:endParaRPr lang="en-US" dirty="0" smtClean="0"/>
          </a:p>
        </p:txBody>
      </p:sp>
    </p:spTree>
    <p:extLst>
      <p:ext uri="{BB962C8B-B14F-4D97-AF65-F5344CB8AC3E}">
        <p14:creationId xmlns:p14="http://schemas.microsoft.com/office/powerpoint/2010/main" val="16648475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Security Concerns in LANs</a:t>
            </a:r>
            <a:r>
              <a:rPr lang="en-US" sz="1800" dirty="0" smtClean="0">
                <a:ea typeface="ＭＳ Ｐゴシック" pitchFamily="34" charset="-128"/>
              </a:rPr>
              <a:t/>
            </a:r>
            <a:br>
              <a:rPr lang="en-US" sz="1800" dirty="0" smtClean="0">
                <a:ea typeface="ＭＳ Ｐゴシック" pitchFamily="34" charset="-128"/>
              </a:rPr>
            </a:br>
            <a:r>
              <a:rPr lang="en-US" dirty="0" smtClean="0"/>
              <a:t>MAC Address Flooding (cont.) </a:t>
            </a:r>
            <a:endParaRPr lang="en-US" dirty="0" smtClean="0">
              <a:ea typeface="ＭＳ Ｐゴシック" pitchFamily="34" charset="-128"/>
            </a:endParaRPr>
          </a:p>
        </p:txBody>
      </p:sp>
      <p:sp>
        <p:nvSpPr>
          <p:cNvPr id="2" name="Content Placeholder 1"/>
          <p:cNvSpPr>
            <a:spLocks noGrp="1"/>
          </p:cNvSpPr>
          <p:nvPr>
            <p:ph idx="1"/>
          </p:nvPr>
        </p:nvSpPr>
        <p:spPr>
          <a:xfrm>
            <a:off x="510496" y="1404938"/>
            <a:ext cx="7940675" cy="4879748"/>
          </a:xfrm>
        </p:spPr>
        <p:txBody>
          <a:bodyPr/>
          <a:lstStyle/>
          <a:p>
            <a:pPr marL="0" indent="0">
              <a:buNone/>
            </a:pPr>
            <a:r>
              <a:rPr lang="en-US" dirty="0" smtClean="0"/>
              <a:t> </a:t>
            </a:r>
          </a:p>
        </p:txBody>
      </p:sp>
      <p:sp>
        <p:nvSpPr>
          <p:cNvPr id="5" name="Content Placeholder 1"/>
          <p:cNvSpPr txBox="1">
            <a:spLocks/>
          </p:cNvSpPr>
          <p:nvPr/>
        </p:nvSpPr>
        <p:spPr bwMode="auto">
          <a:xfrm>
            <a:off x="396678" y="1441130"/>
            <a:ext cx="7940675" cy="4879748"/>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119063" indent="0">
              <a:buNone/>
            </a:pPr>
            <a:r>
              <a:rPr lang="en-US" sz="2000" dirty="0"/>
              <a:t>An attacker wanting to gain access to actual network traffic can exploit this behavior by using a PC connected to the network and running a MAC flooding software.</a:t>
            </a:r>
          </a:p>
          <a:p>
            <a:pPr marL="742950" lvl="1" indent="-285750">
              <a:buFont typeface="Arial" panose="020B0604020202020204" pitchFamily="34" charset="0"/>
              <a:buChar char="•"/>
            </a:pPr>
            <a:r>
              <a:rPr lang="en-US" sz="1800" dirty="0" smtClean="0"/>
              <a:t>The </a:t>
            </a:r>
            <a:r>
              <a:rPr lang="en-US" sz="1800" dirty="0"/>
              <a:t>software generates and sends out frames with fake source MAC addresses to the switch port.</a:t>
            </a:r>
          </a:p>
          <a:p>
            <a:pPr marL="742950" lvl="1" indent="-285750">
              <a:buFont typeface="Arial" panose="020B0604020202020204" pitchFamily="34" charset="0"/>
              <a:buChar char="•"/>
            </a:pPr>
            <a:r>
              <a:rPr lang="en-US" sz="1800" dirty="0"/>
              <a:t>The switch adds the fake MAC address to its MAC address table, taking note of the port the frames arrived.</a:t>
            </a:r>
          </a:p>
          <a:p>
            <a:pPr marL="742950" lvl="1" indent="-285750">
              <a:buFont typeface="Arial" panose="020B0604020202020204" pitchFamily="34" charset="0"/>
              <a:buChar char="•"/>
            </a:pPr>
            <a:r>
              <a:rPr lang="en-US" sz="1800" dirty="0"/>
              <a:t>Eventually the MAC address table is full with fake MAC addresses with no more room for actual devices present in the network and, therefore, never finds their MAC addresses in the CAM table.</a:t>
            </a:r>
          </a:p>
          <a:p>
            <a:pPr marL="742950" lvl="1" indent="-285750">
              <a:buFont typeface="Arial" panose="020B0604020202020204" pitchFamily="34" charset="0"/>
              <a:buChar char="•"/>
            </a:pPr>
            <a:r>
              <a:rPr lang="en-US" sz="1800" dirty="0"/>
              <a:t>All frames are now forwarded to all ports, allowing the attacker to access traffic to other hosts</a:t>
            </a:r>
            <a:r>
              <a:rPr lang="en-US" sz="1800" dirty="0" smtClean="0"/>
              <a:t>.</a:t>
            </a:r>
            <a:endParaRPr lang="en-US" sz="1800" dirty="0"/>
          </a:p>
          <a:p>
            <a:pPr marL="404813" indent="-285750">
              <a:buFont typeface="Arial" panose="020B0604020202020204" pitchFamily="34" charset="0"/>
              <a:buChar char="•"/>
            </a:pPr>
            <a:endParaRPr lang="en-US" sz="2200" dirty="0"/>
          </a:p>
          <a:p>
            <a:pPr marL="404813" indent="-285750">
              <a:buFont typeface="Arial" panose="020B0604020202020204" pitchFamily="34" charset="0"/>
              <a:buChar char="•"/>
            </a:pPr>
            <a:r>
              <a:rPr lang="en-US" sz="2200" dirty="0" smtClean="0"/>
              <a:t>How can we mitigate this kind of attack? </a:t>
            </a:r>
          </a:p>
          <a:p>
            <a:pPr marL="742950" lvl="1" indent="-285750">
              <a:buFont typeface="Arial" panose="020B0604020202020204" pitchFamily="34" charset="0"/>
              <a:buChar char="•"/>
            </a:pPr>
            <a:r>
              <a:rPr lang="en-US" sz="1800" dirty="0" smtClean="0"/>
              <a:t>Answer: _______ security</a:t>
            </a:r>
          </a:p>
        </p:txBody>
      </p:sp>
    </p:spTree>
    <p:extLst>
      <p:ext uri="{BB962C8B-B14F-4D97-AF65-F5344CB8AC3E}">
        <p14:creationId xmlns:p14="http://schemas.microsoft.com/office/powerpoint/2010/main" val="5457737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Security Concerns in LANs</a:t>
            </a:r>
            <a:r>
              <a:rPr lang="en-US" sz="1800" dirty="0" smtClean="0">
                <a:ea typeface="ＭＳ Ｐゴシック" pitchFamily="34" charset="-128"/>
              </a:rPr>
              <a:t/>
            </a:r>
            <a:br>
              <a:rPr lang="en-US" sz="1800" dirty="0" smtClean="0">
                <a:ea typeface="ＭＳ Ｐゴシック" pitchFamily="34" charset="-128"/>
              </a:rPr>
            </a:br>
            <a:r>
              <a:rPr lang="en-US" dirty="0" err="1" smtClean="0"/>
              <a:t>DHCP</a:t>
            </a:r>
            <a:r>
              <a:rPr lang="en-US" dirty="0" smtClean="0"/>
              <a:t> Spoofing</a:t>
            </a:r>
            <a:endParaRPr lang="en-US" dirty="0" smtClean="0">
              <a:ea typeface="ＭＳ Ｐゴシック" pitchFamily="34" charset="-128"/>
            </a:endParaRPr>
          </a:p>
        </p:txBody>
      </p:sp>
      <p:sp>
        <p:nvSpPr>
          <p:cNvPr id="2" name="Content Placeholder 1"/>
          <p:cNvSpPr>
            <a:spLocks noGrp="1"/>
          </p:cNvSpPr>
          <p:nvPr>
            <p:ph idx="1"/>
          </p:nvPr>
        </p:nvSpPr>
        <p:spPr>
          <a:xfrm>
            <a:off x="510496" y="1404938"/>
            <a:ext cx="7940675" cy="4879748"/>
          </a:xfrm>
        </p:spPr>
        <p:txBody>
          <a:bodyPr/>
          <a:lstStyle/>
          <a:p>
            <a:pPr marL="0" indent="0">
              <a:buNone/>
            </a:pPr>
            <a:r>
              <a:rPr lang="en-US" dirty="0" smtClean="0"/>
              <a:t> </a:t>
            </a:r>
          </a:p>
        </p:txBody>
      </p:sp>
      <p:sp>
        <p:nvSpPr>
          <p:cNvPr id="5" name="Content Placeholder 1"/>
          <p:cNvSpPr txBox="1">
            <a:spLocks/>
          </p:cNvSpPr>
          <p:nvPr/>
        </p:nvSpPr>
        <p:spPr bwMode="auto">
          <a:xfrm>
            <a:off x="373529" y="1528675"/>
            <a:ext cx="8333743" cy="4879748"/>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r>
              <a:rPr lang="en-US" sz="2000" dirty="0" smtClean="0"/>
              <a:t>DHCP is a network protocol used to automatically assign IP information to DHCP-enabled devices</a:t>
            </a:r>
          </a:p>
          <a:p>
            <a:r>
              <a:rPr lang="en-US" sz="2000" dirty="0"/>
              <a:t>Two types of </a:t>
            </a:r>
            <a:r>
              <a:rPr lang="en-US" sz="2000" dirty="0" err="1"/>
              <a:t>DHCP</a:t>
            </a:r>
            <a:r>
              <a:rPr lang="en-US" sz="2000" dirty="0"/>
              <a:t> attacks </a:t>
            </a:r>
            <a:r>
              <a:rPr lang="en-US" sz="2000" dirty="0" smtClean="0"/>
              <a:t>are:</a:t>
            </a:r>
          </a:p>
          <a:p>
            <a:pPr marL="914400" lvl="1" indent="-457200">
              <a:buFont typeface="+mj-lt"/>
              <a:buAutoNum type="arabicPeriod"/>
            </a:pPr>
            <a:r>
              <a:rPr lang="en-US" dirty="0"/>
              <a:t>DHCP starvation</a:t>
            </a:r>
          </a:p>
          <a:p>
            <a:pPr marL="1254125" lvl="2" indent="-457200">
              <a:buFont typeface="Arial" panose="020B0604020202020204" pitchFamily="34" charset="0"/>
              <a:buChar char="•"/>
            </a:pPr>
            <a:r>
              <a:rPr lang="en-SG" sz="1800" dirty="0" smtClean="0"/>
              <a:t>An </a:t>
            </a:r>
            <a:r>
              <a:rPr lang="en-SG" sz="1800" dirty="0"/>
              <a:t>attacker floods the DHCP server with DHCP requests to use up all </a:t>
            </a:r>
            <a:r>
              <a:rPr lang="en-SG" sz="1800" dirty="0" smtClean="0"/>
              <a:t>available </a:t>
            </a:r>
            <a:r>
              <a:rPr lang="en-SG" sz="1800" dirty="0"/>
              <a:t>IP addresses that the DHCP server can issue. </a:t>
            </a:r>
            <a:endParaRPr lang="en-SG" sz="1800" dirty="0" smtClean="0"/>
          </a:p>
          <a:p>
            <a:pPr marL="1254125" lvl="2" indent="-457200">
              <a:buFont typeface="Arial" panose="020B0604020202020204" pitchFamily="34" charset="0"/>
              <a:buChar char="•"/>
            </a:pPr>
            <a:r>
              <a:rPr lang="en-SG" sz="1800" dirty="0" smtClean="0"/>
              <a:t>As a result, </a:t>
            </a:r>
            <a:r>
              <a:rPr lang="en-SG" sz="1800" dirty="0"/>
              <a:t>the server cannot issue any more </a:t>
            </a:r>
            <a:r>
              <a:rPr lang="en-SG" sz="1800" dirty="0" smtClean="0"/>
              <a:t>IP addresses.</a:t>
            </a:r>
            <a:endParaRPr lang="en-US" sz="1800" dirty="0" smtClean="0"/>
          </a:p>
          <a:p>
            <a:pPr marL="914400" lvl="1" indent="-457200">
              <a:buFont typeface="+mj-lt"/>
              <a:buAutoNum type="arabicPeriod"/>
            </a:pPr>
            <a:r>
              <a:rPr lang="en-US" dirty="0" smtClean="0"/>
              <a:t>DHCP spoofing</a:t>
            </a:r>
          </a:p>
          <a:p>
            <a:pPr marL="1139825" lvl="2" indent="-342900">
              <a:buFont typeface="Arial" panose="020B0604020202020204" pitchFamily="34" charset="0"/>
              <a:buChar char="•"/>
            </a:pPr>
            <a:r>
              <a:rPr lang="en-US" sz="1800" dirty="0"/>
              <a:t>a fake DHCP server is placed in the network to issue DHCP addresses to </a:t>
            </a:r>
            <a:r>
              <a:rPr lang="en-US" sz="1800" dirty="0" smtClean="0"/>
              <a:t>clients which diverts </a:t>
            </a:r>
            <a:r>
              <a:rPr lang="en-SG" sz="1800" dirty="0" smtClean="0"/>
              <a:t>clients </a:t>
            </a:r>
            <a:r>
              <a:rPr lang="en-SG" sz="1800" dirty="0"/>
              <a:t>to use false Domain Name System (DNS</a:t>
            </a:r>
            <a:r>
              <a:rPr lang="en-SG" sz="1800" dirty="0" smtClean="0"/>
              <a:t>) under </a:t>
            </a:r>
            <a:r>
              <a:rPr lang="en-SG" sz="1800" dirty="0"/>
              <a:t>the control of the attacker, as their default gateway.</a:t>
            </a:r>
            <a:endParaRPr lang="en-US" sz="1800" dirty="0"/>
          </a:p>
          <a:p>
            <a:pPr marL="461963" lvl="2" indent="-342900">
              <a:spcBef>
                <a:spcPct val="50000"/>
              </a:spcBef>
              <a:buFont typeface="Arial" panose="020B0604020202020204" pitchFamily="34" charset="0"/>
              <a:buChar char="•"/>
            </a:pPr>
            <a:r>
              <a:rPr lang="en-US" dirty="0"/>
              <a:t>DHCP starvation is often used before a DHCP spoofing attack to deny </a:t>
            </a:r>
            <a:r>
              <a:rPr lang="en-US" dirty="0" smtClean="0"/>
              <a:t>end users service to </a:t>
            </a:r>
            <a:r>
              <a:rPr lang="en-US" dirty="0"/>
              <a:t>the legitimate DHCP server.</a:t>
            </a:r>
          </a:p>
          <a:p>
            <a:pPr marL="461963" indent="-342900">
              <a:buFont typeface="Arial" panose="020B0604020202020204" pitchFamily="34" charset="0"/>
              <a:buChar char="•"/>
            </a:pPr>
            <a:endParaRPr lang="en-US" dirty="0" smtClean="0"/>
          </a:p>
          <a:p>
            <a:pPr marL="1139825" lvl="2" indent="-342900">
              <a:buFont typeface="Arial" panose="020B0604020202020204" pitchFamily="34" charset="0"/>
              <a:buChar char="•"/>
            </a:pPr>
            <a:endParaRPr lang="en-US" dirty="0"/>
          </a:p>
        </p:txBody>
      </p:sp>
    </p:spTree>
    <p:extLst>
      <p:ext uri="{BB962C8B-B14F-4D97-AF65-F5344CB8AC3E}">
        <p14:creationId xmlns:p14="http://schemas.microsoft.com/office/powerpoint/2010/main" val="13148060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220" y="1478956"/>
            <a:ext cx="5917467" cy="4108459"/>
          </a:xfrm>
          <a:prstGeom prst="rect">
            <a:avLst/>
          </a:prstGeom>
        </p:spPr>
      </p:pic>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Security Concerns in LANs</a:t>
            </a:r>
            <a:r>
              <a:rPr lang="en-US" sz="1800" dirty="0" smtClean="0">
                <a:ea typeface="ＭＳ Ｐゴシック" pitchFamily="34" charset="-128"/>
              </a:rPr>
              <a:t/>
            </a:r>
            <a:br>
              <a:rPr lang="en-US" sz="1800" dirty="0" smtClean="0">
                <a:ea typeface="ＭＳ Ｐゴシック" pitchFamily="34" charset="-128"/>
              </a:rPr>
            </a:br>
            <a:r>
              <a:rPr lang="en-US" dirty="0" smtClean="0"/>
              <a:t>DHCP Spoof Attack</a:t>
            </a:r>
            <a:endParaRPr lang="en-US" dirty="0" smtClean="0">
              <a:ea typeface="ＭＳ Ｐゴシック" pitchFamily="34" charset="-128"/>
            </a:endParaRPr>
          </a:p>
        </p:txBody>
      </p:sp>
      <p:sp>
        <p:nvSpPr>
          <p:cNvPr id="2" name="Content Placeholder 1"/>
          <p:cNvSpPr>
            <a:spLocks noGrp="1"/>
          </p:cNvSpPr>
          <p:nvPr>
            <p:ph idx="1"/>
          </p:nvPr>
        </p:nvSpPr>
        <p:spPr>
          <a:xfrm>
            <a:off x="510496" y="1404938"/>
            <a:ext cx="7940675" cy="4879748"/>
          </a:xfrm>
        </p:spPr>
        <p:txBody>
          <a:bodyPr/>
          <a:lstStyle/>
          <a:p>
            <a:pPr marL="0" indent="0">
              <a:buNone/>
            </a:pPr>
            <a:r>
              <a:rPr lang="en-US" dirty="0" smtClean="0"/>
              <a:t> </a:t>
            </a:r>
          </a:p>
        </p:txBody>
      </p:sp>
    </p:spTree>
    <p:extLst>
      <p:ext uri="{BB962C8B-B14F-4D97-AF65-F5344CB8AC3E}">
        <p14:creationId xmlns:p14="http://schemas.microsoft.com/office/powerpoint/2010/main" val="38734192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Security Concerns in LANs</a:t>
            </a:r>
            <a:r>
              <a:rPr lang="en-US" sz="1800" dirty="0" smtClean="0">
                <a:ea typeface="ＭＳ Ｐゴシック" pitchFamily="34" charset="-128"/>
              </a:rPr>
              <a:t/>
            </a:r>
            <a:br>
              <a:rPr lang="en-US" sz="1800" dirty="0" smtClean="0">
                <a:ea typeface="ＭＳ Ｐゴシック" pitchFamily="34" charset="-128"/>
              </a:rPr>
            </a:br>
            <a:r>
              <a:rPr lang="en-US" dirty="0" smtClean="0"/>
              <a:t>Leveraging Telnet</a:t>
            </a:r>
            <a:endParaRPr lang="en-US" dirty="0" smtClean="0">
              <a:ea typeface="ＭＳ Ｐゴシック" pitchFamily="34" charset="-128"/>
            </a:endParaRPr>
          </a:p>
        </p:txBody>
      </p:sp>
      <p:sp>
        <p:nvSpPr>
          <p:cNvPr id="2" name="Content Placeholder 1"/>
          <p:cNvSpPr>
            <a:spLocks noGrp="1"/>
          </p:cNvSpPr>
          <p:nvPr>
            <p:ph idx="1"/>
          </p:nvPr>
        </p:nvSpPr>
        <p:spPr>
          <a:xfrm>
            <a:off x="510496" y="1404938"/>
            <a:ext cx="7940675" cy="4879748"/>
          </a:xfrm>
        </p:spPr>
        <p:txBody>
          <a:bodyPr/>
          <a:lstStyle/>
          <a:p>
            <a:pPr marL="0" indent="0">
              <a:buNone/>
            </a:pPr>
            <a:r>
              <a:rPr lang="en-US" dirty="0" smtClean="0"/>
              <a:t> </a:t>
            </a:r>
          </a:p>
        </p:txBody>
      </p:sp>
      <p:sp>
        <p:nvSpPr>
          <p:cNvPr id="5" name="Content Placeholder 1"/>
          <p:cNvSpPr txBox="1">
            <a:spLocks/>
          </p:cNvSpPr>
          <p:nvPr/>
        </p:nvSpPr>
        <p:spPr bwMode="auto">
          <a:xfrm>
            <a:off x="439838" y="1397684"/>
            <a:ext cx="8163733" cy="4879748"/>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r>
              <a:rPr lang="en-US" sz="2000" dirty="0" smtClean="0"/>
              <a:t>The Telnet </a:t>
            </a:r>
            <a:r>
              <a:rPr lang="en-US" sz="2000" dirty="0"/>
              <a:t>protocol is </a:t>
            </a:r>
            <a:r>
              <a:rPr lang="en-US" sz="2000" dirty="0" smtClean="0"/>
              <a:t>insecure and should be replaced by SSH.</a:t>
            </a:r>
          </a:p>
          <a:p>
            <a:r>
              <a:rPr lang="en-US" sz="2000" dirty="0" smtClean="0"/>
              <a:t>An attacker can use Telnet as part of other attacks:</a:t>
            </a:r>
          </a:p>
          <a:p>
            <a:pPr marL="742950" lvl="1" indent="-285750">
              <a:buFont typeface="Arial" pitchFamily="34" charset="0"/>
              <a:buChar char="•"/>
            </a:pPr>
            <a:r>
              <a:rPr lang="en-US" dirty="0" smtClean="0"/>
              <a:t>Information is transmitted in </a:t>
            </a:r>
            <a:r>
              <a:rPr lang="en-US" smtClean="0"/>
              <a:t>clear text</a:t>
            </a:r>
          </a:p>
          <a:p>
            <a:pPr marL="742950" lvl="1" indent="-285750">
              <a:buFont typeface="Arial" pitchFamily="34" charset="0"/>
              <a:buChar char="•"/>
            </a:pPr>
            <a:r>
              <a:rPr lang="en-US" dirty="0" smtClean="0"/>
              <a:t>Brute force password attack </a:t>
            </a:r>
          </a:p>
          <a:p>
            <a:pPr marL="742950" lvl="1" indent="-285750">
              <a:buFont typeface="Arial" pitchFamily="34" charset="0"/>
              <a:buChar char="•"/>
            </a:pPr>
            <a:r>
              <a:rPr lang="en-US" dirty="0" smtClean="0"/>
              <a:t>Telnet </a:t>
            </a:r>
            <a:r>
              <a:rPr lang="en-US" dirty="0" err="1" smtClean="0"/>
              <a:t>DoS</a:t>
            </a:r>
            <a:r>
              <a:rPr lang="en-US" dirty="0" smtClean="0"/>
              <a:t> attack</a:t>
            </a:r>
          </a:p>
          <a:p>
            <a:r>
              <a:rPr lang="en-US" sz="2000" dirty="0" smtClean="0"/>
              <a:t>When passwords cannot be captured, attackers will try as many combinations of characters as possible. This attempt to guess the password is known as brute force password attack.</a:t>
            </a:r>
          </a:p>
          <a:p>
            <a:r>
              <a:rPr lang="en-US" sz="2000" dirty="0" smtClean="0"/>
              <a:t>Telnet can be used to test the guessed password against the system.</a:t>
            </a:r>
          </a:p>
          <a:p>
            <a:pPr marL="800100" lvl="1" indent="-342900">
              <a:buFont typeface="Arial" pitchFamily="34" charset="0"/>
              <a:buChar char="•"/>
            </a:pPr>
            <a:endParaRPr lang="en-US" dirty="0" smtClean="0"/>
          </a:p>
          <a:p>
            <a:endParaRPr lang="en-US" dirty="0" smtClean="0"/>
          </a:p>
        </p:txBody>
      </p:sp>
    </p:spTree>
    <p:extLst>
      <p:ext uri="{BB962C8B-B14F-4D97-AF65-F5344CB8AC3E}">
        <p14:creationId xmlns:p14="http://schemas.microsoft.com/office/powerpoint/2010/main" val="31914977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Security Concerns in LANs</a:t>
            </a:r>
            <a:r>
              <a:rPr lang="en-US" sz="1800" dirty="0" smtClean="0">
                <a:ea typeface="ＭＳ Ｐゴシック" pitchFamily="34" charset="-128"/>
              </a:rPr>
              <a:t/>
            </a:r>
            <a:br>
              <a:rPr lang="en-US" sz="1800" dirty="0" smtClean="0">
                <a:ea typeface="ＭＳ Ｐゴシック" pitchFamily="34" charset="-128"/>
              </a:rPr>
            </a:br>
            <a:r>
              <a:rPr lang="en-US" dirty="0" smtClean="0"/>
              <a:t>Leveraging Telnet (cont.)</a:t>
            </a:r>
            <a:endParaRPr lang="en-US" dirty="0" smtClean="0">
              <a:ea typeface="ＭＳ Ｐゴシック" pitchFamily="34" charset="-128"/>
            </a:endParaRPr>
          </a:p>
        </p:txBody>
      </p:sp>
      <p:sp>
        <p:nvSpPr>
          <p:cNvPr id="2" name="Content Placeholder 1"/>
          <p:cNvSpPr>
            <a:spLocks noGrp="1"/>
          </p:cNvSpPr>
          <p:nvPr>
            <p:ph idx="1"/>
          </p:nvPr>
        </p:nvSpPr>
        <p:spPr>
          <a:xfrm>
            <a:off x="510496" y="1404938"/>
            <a:ext cx="7940675" cy="4879748"/>
          </a:xfrm>
        </p:spPr>
        <p:txBody>
          <a:bodyPr/>
          <a:lstStyle/>
          <a:p>
            <a:pPr marL="0" indent="0">
              <a:buNone/>
            </a:pPr>
            <a:r>
              <a:rPr lang="en-US" dirty="0" smtClean="0"/>
              <a:t> </a:t>
            </a:r>
          </a:p>
        </p:txBody>
      </p:sp>
      <p:sp>
        <p:nvSpPr>
          <p:cNvPr id="5" name="Content Placeholder 1"/>
          <p:cNvSpPr txBox="1">
            <a:spLocks/>
          </p:cNvSpPr>
          <p:nvPr/>
        </p:nvSpPr>
        <p:spPr bwMode="auto">
          <a:xfrm>
            <a:off x="454552" y="1397684"/>
            <a:ext cx="7940675" cy="4879748"/>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r>
              <a:rPr lang="en-US" sz="2000" dirty="0" smtClean="0"/>
              <a:t>In </a:t>
            </a:r>
            <a:r>
              <a:rPr lang="en-US" sz="2000" dirty="0"/>
              <a:t>a Telnet </a:t>
            </a:r>
            <a:r>
              <a:rPr lang="en-US" sz="2000" dirty="0" err="1"/>
              <a:t>DoS</a:t>
            </a:r>
            <a:r>
              <a:rPr lang="en-US" sz="2000" dirty="0"/>
              <a:t> attack, the attacker exploits a flaw in the Telnet server software running on the switch that renders the Telnet service </a:t>
            </a:r>
            <a:r>
              <a:rPr lang="en-US" sz="2000" dirty="0" smtClean="0"/>
              <a:t>unavailable.</a:t>
            </a:r>
          </a:p>
          <a:p>
            <a:r>
              <a:rPr lang="en-US" sz="2000" dirty="0" smtClean="0"/>
              <a:t>This </a:t>
            </a:r>
            <a:r>
              <a:rPr lang="en-US" sz="2000" dirty="0"/>
              <a:t>sort of attack prevents an administrator from remotely accessing switch management </a:t>
            </a:r>
            <a:r>
              <a:rPr lang="en-US" sz="2000" dirty="0" smtClean="0"/>
              <a:t>functions.</a:t>
            </a:r>
          </a:p>
          <a:p>
            <a:r>
              <a:rPr lang="en-US" sz="2000" dirty="0" smtClean="0"/>
              <a:t>This </a:t>
            </a:r>
            <a:r>
              <a:rPr lang="en-US" sz="2000" dirty="0"/>
              <a:t>can be combined with other direct attacks on the network as part of a coordinated attempt to prevent the network administrator from accessing core devices during the breach.</a:t>
            </a:r>
          </a:p>
          <a:p>
            <a:r>
              <a:rPr lang="en-US" sz="2000" dirty="0"/>
              <a:t>Vulnerabilities in the Telnet service that permit </a:t>
            </a:r>
            <a:r>
              <a:rPr lang="en-US" sz="2000" dirty="0" err="1"/>
              <a:t>DoS</a:t>
            </a:r>
            <a:r>
              <a:rPr lang="en-US" sz="2000" dirty="0"/>
              <a:t> attacks to occur are usually addressed in security patches that are included in newer Cisco </a:t>
            </a:r>
            <a:r>
              <a:rPr lang="en-US" sz="2000" dirty="0" err="1"/>
              <a:t>IOS</a:t>
            </a:r>
            <a:r>
              <a:rPr lang="en-US" sz="2000" dirty="0"/>
              <a:t> revisions.</a:t>
            </a:r>
          </a:p>
          <a:p>
            <a:endParaRPr lang="en-US" dirty="0" smtClean="0"/>
          </a:p>
          <a:p>
            <a:endParaRPr lang="en-US" dirty="0" smtClean="0"/>
          </a:p>
        </p:txBody>
      </p:sp>
    </p:spTree>
    <p:extLst>
      <p:ext uri="{BB962C8B-B14F-4D97-AF65-F5344CB8AC3E}">
        <p14:creationId xmlns:p14="http://schemas.microsoft.com/office/powerpoint/2010/main" val="20081107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9152" y="522741"/>
            <a:ext cx="8145462" cy="838200"/>
          </a:xfrm>
        </p:spPr>
        <p:txBody>
          <a:bodyPr/>
          <a:lstStyle/>
          <a:p>
            <a:pPr eaLnBrk="1" hangingPunct="1"/>
            <a:r>
              <a:rPr lang="en-US" sz="1800" dirty="0" smtClean="0"/>
              <a:t>Security Best Practices</a:t>
            </a:r>
            <a:r>
              <a:rPr lang="en-US" sz="1800" dirty="0" smtClean="0">
                <a:ea typeface="ＭＳ Ｐゴシック" pitchFamily="34" charset="-128"/>
              </a:rPr>
              <a:t/>
            </a:r>
            <a:br>
              <a:rPr lang="en-US" sz="1800" dirty="0" smtClean="0">
                <a:ea typeface="ＭＳ Ｐゴシック" pitchFamily="34" charset="-128"/>
              </a:rPr>
            </a:br>
            <a:r>
              <a:rPr lang="en-US" dirty="0" smtClean="0"/>
              <a:t>10 Best Practices</a:t>
            </a:r>
            <a:endParaRPr lang="en-US" dirty="0" smtClean="0">
              <a:ea typeface="ＭＳ Ｐゴシック" pitchFamily="34" charset="-128"/>
            </a:endParaRPr>
          </a:p>
        </p:txBody>
      </p:sp>
      <p:sp>
        <p:nvSpPr>
          <p:cNvPr id="2" name="Content Placeholder 1"/>
          <p:cNvSpPr>
            <a:spLocks noGrp="1"/>
          </p:cNvSpPr>
          <p:nvPr>
            <p:ph idx="1"/>
          </p:nvPr>
        </p:nvSpPr>
        <p:spPr>
          <a:xfrm>
            <a:off x="510496" y="1404938"/>
            <a:ext cx="7940675" cy="4879748"/>
          </a:xfrm>
        </p:spPr>
        <p:txBody>
          <a:bodyPr/>
          <a:lstStyle/>
          <a:p>
            <a:pPr marL="0" indent="0">
              <a:buNone/>
            </a:pPr>
            <a:r>
              <a:rPr lang="en-US" dirty="0" smtClean="0"/>
              <a:t> </a:t>
            </a:r>
          </a:p>
        </p:txBody>
      </p:sp>
      <p:sp>
        <p:nvSpPr>
          <p:cNvPr id="5" name="Content Placeholder 1"/>
          <p:cNvSpPr txBox="1">
            <a:spLocks/>
          </p:cNvSpPr>
          <p:nvPr/>
        </p:nvSpPr>
        <p:spPr bwMode="auto">
          <a:xfrm>
            <a:off x="442977" y="1406406"/>
            <a:ext cx="7940675" cy="4879748"/>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r>
              <a:rPr lang="en-US" sz="2000" dirty="0"/>
              <a:t>Develop a written security policy for the </a:t>
            </a:r>
            <a:r>
              <a:rPr lang="en-US" sz="2000" dirty="0" smtClean="0"/>
              <a:t>organization.</a:t>
            </a:r>
            <a:endParaRPr lang="en-US" sz="2000" dirty="0"/>
          </a:p>
          <a:p>
            <a:r>
              <a:rPr lang="en-US" sz="2000" dirty="0"/>
              <a:t>Shut down unused services and </a:t>
            </a:r>
            <a:r>
              <a:rPr lang="en-US" sz="2000" dirty="0" smtClean="0"/>
              <a:t>ports.</a:t>
            </a:r>
            <a:endParaRPr lang="en-US" sz="2000" dirty="0"/>
          </a:p>
          <a:p>
            <a:r>
              <a:rPr lang="en-US" sz="2000" dirty="0"/>
              <a:t>Use strong passwords and change them </a:t>
            </a:r>
            <a:r>
              <a:rPr lang="en-US" sz="2000" dirty="0" smtClean="0"/>
              <a:t>often.</a:t>
            </a:r>
            <a:endParaRPr lang="en-US" sz="2000" dirty="0"/>
          </a:p>
          <a:p>
            <a:r>
              <a:rPr lang="en-US" sz="2000" dirty="0"/>
              <a:t>Control physical access to </a:t>
            </a:r>
            <a:r>
              <a:rPr lang="en-US" sz="2000" dirty="0" smtClean="0"/>
              <a:t>devices.</a:t>
            </a:r>
            <a:endParaRPr lang="en-US" sz="2000" dirty="0"/>
          </a:p>
          <a:p>
            <a:r>
              <a:rPr lang="en-US" sz="2000" dirty="0" smtClean="0"/>
              <a:t>Use HTTPS instead of HTTP.</a:t>
            </a:r>
            <a:endParaRPr lang="en-US" sz="2000" dirty="0"/>
          </a:p>
          <a:p>
            <a:r>
              <a:rPr lang="en-US" sz="2000" dirty="0"/>
              <a:t>Perform </a:t>
            </a:r>
            <a:r>
              <a:rPr lang="en-US" sz="2000" dirty="0" smtClean="0"/>
              <a:t>backup operations on </a:t>
            </a:r>
            <a:r>
              <a:rPr lang="en-US" sz="2000" dirty="0"/>
              <a:t>a regular basis.</a:t>
            </a:r>
          </a:p>
          <a:p>
            <a:r>
              <a:rPr lang="en-US" sz="2000" dirty="0"/>
              <a:t>Educate employees about social engineering </a:t>
            </a:r>
            <a:r>
              <a:rPr lang="en-US" sz="2000" dirty="0" smtClean="0"/>
              <a:t>attacks.</a:t>
            </a:r>
            <a:endParaRPr lang="en-US" sz="2000" dirty="0"/>
          </a:p>
          <a:p>
            <a:r>
              <a:rPr lang="en-US" sz="2000" dirty="0"/>
              <a:t>Encrypt and password-protect sensitive </a:t>
            </a:r>
            <a:r>
              <a:rPr lang="en-US" sz="2000" dirty="0" smtClean="0"/>
              <a:t>data.</a:t>
            </a:r>
            <a:endParaRPr lang="en-US" sz="2000" dirty="0"/>
          </a:p>
          <a:p>
            <a:r>
              <a:rPr lang="en-US" sz="2000" dirty="0"/>
              <a:t>Implement </a:t>
            </a:r>
            <a:r>
              <a:rPr lang="en-US" sz="2000" dirty="0" smtClean="0"/>
              <a:t>firewalls</a:t>
            </a:r>
            <a:r>
              <a:rPr lang="en-US" sz="2000" dirty="0"/>
              <a:t>.</a:t>
            </a:r>
          </a:p>
          <a:p>
            <a:r>
              <a:rPr lang="en-US" sz="2000" dirty="0"/>
              <a:t>Keep software </a:t>
            </a:r>
            <a:r>
              <a:rPr lang="en-US" sz="2000" dirty="0" smtClean="0"/>
              <a:t>up-to-date.</a:t>
            </a:r>
            <a:endParaRPr lang="en-US" sz="2000" dirty="0"/>
          </a:p>
          <a:p>
            <a:endParaRPr lang="en-US" dirty="0" smtClean="0"/>
          </a:p>
          <a:p>
            <a:endParaRPr lang="en-US" dirty="0" smtClean="0"/>
          </a:p>
        </p:txBody>
      </p:sp>
    </p:spTree>
    <p:extLst>
      <p:ext uri="{BB962C8B-B14F-4D97-AF65-F5344CB8AC3E}">
        <p14:creationId xmlns:p14="http://schemas.microsoft.com/office/powerpoint/2010/main" val="33645668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74638" y="493713"/>
            <a:ext cx="8145462" cy="838200"/>
          </a:xfrm>
        </p:spPr>
        <p:txBody>
          <a:bodyPr/>
          <a:lstStyle/>
          <a:p>
            <a:pPr eaLnBrk="1" hangingPunct="1"/>
            <a:r>
              <a:rPr lang="en-US" smtClean="0">
                <a:ea typeface="ＭＳ Ｐゴシック" pitchFamily="34" charset="-128"/>
              </a:rPr>
              <a:t>Chapter </a:t>
            </a:r>
            <a:r>
              <a:rPr lang="en-US" smtClean="0">
                <a:ea typeface="ＭＳ Ｐゴシック" pitchFamily="34" charset="-128"/>
              </a:rPr>
              <a:t>3b</a:t>
            </a:r>
            <a:r>
              <a:rPr lang="en-US" dirty="0" smtClean="0">
                <a:ea typeface="ＭＳ Ｐゴシック" pitchFamily="34" charset="-128"/>
              </a:rPr>
              <a:t>: Summary</a:t>
            </a:r>
          </a:p>
        </p:txBody>
      </p:sp>
      <p:sp>
        <p:nvSpPr>
          <p:cNvPr id="6147" name="Rectangle 3"/>
          <p:cNvSpPr>
            <a:spLocks noGrp="1" noChangeArrowheads="1"/>
          </p:cNvSpPr>
          <p:nvPr>
            <p:ph idx="1"/>
          </p:nvPr>
        </p:nvSpPr>
        <p:spPr>
          <a:xfrm>
            <a:off x="719138" y="1471613"/>
            <a:ext cx="8131175" cy="4437062"/>
          </a:xfrm>
        </p:spPr>
        <p:txBody>
          <a:bodyPr/>
          <a:lstStyle/>
          <a:p>
            <a:pPr marL="0" indent="0">
              <a:buNone/>
            </a:pPr>
            <a:r>
              <a:rPr lang="en-US" sz="2000" dirty="0" smtClean="0"/>
              <a:t>In this chapter, you learned: </a:t>
            </a:r>
          </a:p>
          <a:p>
            <a:r>
              <a:rPr lang="en-US" sz="2000" dirty="0" smtClean="0"/>
              <a:t>SSH is a secure replacement for Telnet</a:t>
            </a:r>
          </a:p>
          <a:p>
            <a:r>
              <a:rPr lang="en-US" sz="2000" dirty="0" smtClean="0"/>
              <a:t>The basic attacks </a:t>
            </a:r>
            <a:r>
              <a:rPr lang="en-US" sz="2000" smtClean="0"/>
              <a:t>on network devices</a:t>
            </a:r>
            <a:endParaRPr lang="en-US" sz="2000" dirty="0" smtClean="0"/>
          </a:p>
          <a:p>
            <a:r>
              <a:rPr lang="en-US" sz="2000" dirty="0" smtClean="0"/>
              <a:t>Best </a:t>
            </a:r>
            <a:r>
              <a:rPr lang="en-US" sz="2000" dirty="0"/>
              <a:t>practices </a:t>
            </a:r>
            <a:r>
              <a:rPr lang="en-US" sz="2000" dirty="0" smtClean="0"/>
              <a:t>for switched networks.</a:t>
            </a:r>
            <a:endParaRPr lang="en-US" sz="2000" dirty="0"/>
          </a:p>
          <a:p>
            <a:pPr marL="0" indent="0" eaLnBrk="1" hangingPunct="1">
              <a:buFont typeface="Wingdings" pitchFamily="2" charset="2"/>
              <a:buNone/>
              <a:defRPr/>
            </a:pPr>
            <a:endParaRPr lang="en-US" dirty="0" smtClean="0">
              <a:cs typeface="Arial"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etAcad-4F_PPT-WHT_060408">
  <a:themeElements>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ct_2006_Cisco Whit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18403</TotalTime>
  <Pages>28</Pages>
  <Words>839</Words>
  <Application>Microsoft Office PowerPoint</Application>
  <PresentationFormat>On-screen Show (4:3)</PresentationFormat>
  <Paragraphs>108</Paragraphs>
  <Slides>14</Slides>
  <Notes>14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ＭＳ Ｐゴシック</vt:lpstr>
      <vt:lpstr>Arial</vt:lpstr>
      <vt:lpstr>Wingdings</vt:lpstr>
      <vt:lpstr>PPT-TMPLT-WHT_C</vt:lpstr>
      <vt:lpstr>NetAcad-4F_PPT-WHT_060408</vt:lpstr>
      <vt:lpstr>Chapter 3b: Basic Switching Concepts and Configuration (II)</vt:lpstr>
      <vt:lpstr>Chapter 2b: Objectives</vt:lpstr>
      <vt:lpstr>Secure Remote Access SSH Operation</vt:lpstr>
      <vt:lpstr>Secure Remote Access Configuring SSH</vt:lpstr>
      <vt:lpstr>Secure Remote Access SSH Access</vt:lpstr>
      <vt:lpstr>Secure Remote Access Verifying SSH</vt:lpstr>
      <vt:lpstr>Security Concerns in LANs MAC Address Flooding </vt:lpstr>
      <vt:lpstr>Security Concerns in LANs MAC Address Flooding (cont.) </vt:lpstr>
      <vt:lpstr>Security Concerns in LANs DHCP Spoofing</vt:lpstr>
      <vt:lpstr>Security Concerns in LANs DHCP Spoof Attack</vt:lpstr>
      <vt:lpstr>Security Concerns in LANs Leveraging Telnet</vt:lpstr>
      <vt:lpstr>Security Concerns in LANs Leveraging Telnet (cont.)</vt:lpstr>
      <vt:lpstr>Security Best Practices 10 Best Practices</vt:lpstr>
      <vt:lpstr>Chapter 3b: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 PC v4.0 Chapter 1</dc:title>
  <cp:lastModifiedBy>HOO BRYAN</cp:lastModifiedBy>
  <cp:revision>1247</cp:revision>
  <cp:lastPrinted>1999-01-27T00:54:54Z</cp:lastPrinted>
  <dcterms:created xsi:type="dcterms:W3CDTF">2006-10-23T15:07:30Z</dcterms:created>
  <dcterms:modified xsi:type="dcterms:W3CDTF">2018-03-22T08:59:19Z</dcterms:modified>
</cp:coreProperties>
</file>