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1" r:id="rId1"/>
  </p:sldMasterIdLst>
  <p:notesMasterIdLst>
    <p:notesMasterId r:id="rId10"/>
  </p:notesMasterIdLst>
  <p:handoutMasterIdLst>
    <p:handoutMasterId r:id="rId11"/>
  </p:handoutMasterIdLst>
  <p:sldIdLst>
    <p:sldId id="256" r:id="rId2"/>
    <p:sldId id="311" r:id="rId3"/>
    <p:sldId id="312" r:id="rId4"/>
    <p:sldId id="313" r:id="rId5"/>
    <p:sldId id="314" r:id="rId6"/>
    <p:sldId id="315" r:id="rId7"/>
    <p:sldId id="322" r:id="rId8"/>
    <p:sldId id="323" r:id="rId9"/>
  </p:sldIdLst>
  <p:sldSz cx="9144000" cy="6858000" type="screen4x3"/>
  <p:notesSz cx="7099300" cy="10234613"/>
  <p:defaultTextStyle>
    <a:defPPr>
      <a:defRPr lang="en-GB"/>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990033"/>
    <a:srgbClr val="CC33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09" autoAdjust="0"/>
    <p:restoredTop sz="78374" autoAdjust="0"/>
  </p:normalViewPr>
  <p:slideViewPr>
    <p:cSldViewPr>
      <p:cViewPr varScale="1">
        <p:scale>
          <a:sx n="71" d="100"/>
          <a:sy n="71" d="100"/>
        </p:scale>
        <p:origin x="1002"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6" d="100"/>
          <a:sy n="46" d="100"/>
        </p:scale>
        <p:origin x="-2050" y="-96"/>
      </p:cViewPr>
      <p:guideLst>
        <p:guide orient="horz" pos="3223"/>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vl1pPr>
          </a:lstStyle>
          <a:p>
            <a:r>
              <a:rPr lang="en-SG" dirty="0" smtClean="0"/>
              <a:t>NYP | School of IT | ITP271 Web Applications Development</a:t>
            </a:r>
            <a:endParaRPr lang="en-US" dirty="0"/>
          </a:p>
        </p:txBody>
      </p:sp>
      <p:sp>
        <p:nvSpPr>
          <p:cNvPr id="34819" name="Rectangle 3"/>
          <p:cNvSpPr>
            <a:spLocks noGrp="1" noChangeArrowheads="1"/>
          </p:cNvSpPr>
          <p:nvPr>
            <p:ph type="dt" sz="quarter" idx="1"/>
          </p:nvPr>
        </p:nvSpPr>
        <p:spPr bwMode="auto">
          <a:xfrm>
            <a:off x="4021294"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vl1pPr>
          </a:lstStyle>
          <a:p>
            <a:endParaRPr lang="en-US"/>
          </a:p>
        </p:txBody>
      </p:sp>
      <p:sp>
        <p:nvSpPr>
          <p:cNvPr id="34820" name="Rectangle 4"/>
          <p:cNvSpPr>
            <a:spLocks noGrp="1" noChangeArrowheads="1"/>
          </p:cNvSpPr>
          <p:nvPr>
            <p:ph type="ftr" sz="quarter" idx="2"/>
          </p:nvPr>
        </p:nvSpPr>
        <p:spPr bwMode="auto">
          <a:xfrm>
            <a:off x="0"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vl1pPr>
          </a:lstStyle>
          <a:p>
            <a:r>
              <a:rPr lang="en-SG" smtClean="0"/>
              <a:t>Copyright © Nanyang Polytechnic. All Rights Reserve.</a:t>
            </a:r>
            <a:endParaRPr lang="en-US"/>
          </a:p>
        </p:txBody>
      </p:sp>
      <p:sp>
        <p:nvSpPr>
          <p:cNvPr id="34821" name="Rectangle 5"/>
          <p:cNvSpPr>
            <a:spLocks noGrp="1" noChangeArrowheads="1"/>
          </p:cNvSpPr>
          <p:nvPr>
            <p:ph type="sldNum" sz="quarter" idx="3"/>
          </p:nvPr>
        </p:nvSpPr>
        <p:spPr bwMode="auto">
          <a:xfrm>
            <a:off x="4021294"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fld id="{D9CB5D22-CA85-4AEF-AD92-341C62BB1691}" type="slidenum">
              <a:rPr lang="en-GB"/>
              <a:pPr/>
              <a:t>‹#›</a:t>
            </a:fld>
            <a:endParaRPr lang="en-GB"/>
          </a:p>
        </p:txBody>
      </p:sp>
    </p:spTree>
    <p:extLst>
      <p:ext uri="{BB962C8B-B14F-4D97-AF65-F5344CB8AC3E}">
        <p14:creationId xmlns:p14="http://schemas.microsoft.com/office/powerpoint/2010/main" val="3063522478"/>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vl1pPr>
          </a:lstStyle>
          <a:p>
            <a:r>
              <a:rPr lang="en-SG" dirty="0" smtClean="0"/>
              <a:t>NYP | School of IT | ITP271 Web Applications Development</a:t>
            </a:r>
            <a:endParaRPr lang="en-US" dirty="0"/>
          </a:p>
        </p:txBody>
      </p:sp>
      <p:sp>
        <p:nvSpPr>
          <p:cNvPr id="47107" name="Rectangle 3"/>
          <p:cNvSpPr>
            <a:spLocks noGrp="1" noChangeArrowheads="1"/>
          </p:cNvSpPr>
          <p:nvPr>
            <p:ph type="dt" idx="1"/>
          </p:nvPr>
        </p:nvSpPr>
        <p:spPr bwMode="auto">
          <a:xfrm>
            <a:off x="4021294"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vl1pPr>
          </a:lstStyle>
          <a:p>
            <a:endParaRPr lang="en-US"/>
          </a:p>
        </p:txBody>
      </p:sp>
      <p:sp>
        <p:nvSpPr>
          <p:cNvPr id="17412"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709930" y="4861441"/>
            <a:ext cx="5679440" cy="4605576"/>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47110" name="Rectangle 6"/>
          <p:cNvSpPr>
            <a:spLocks noGrp="1" noChangeArrowheads="1"/>
          </p:cNvSpPr>
          <p:nvPr>
            <p:ph type="ftr" sz="quarter" idx="4"/>
          </p:nvPr>
        </p:nvSpPr>
        <p:spPr bwMode="auto">
          <a:xfrm>
            <a:off x="0"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vl1pPr>
          </a:lstStyle>
          <a:p>
            <a:r>
              <a:rPr lang="en-SG" smtClean="0"/>
              <a:t>Copyright © Nanyang Polytechnic. All Rights Reserve.</a:t>
            </a:r>
            <a:endParaRPr lang="en-US"/>
          </a:p>
        </p:txBody>
      </p:sp>
      <p:sp>
        <p:nvSpPr>
          <p:cNvPr id="47111" name="Rectangle 7"/>
          <p:cNvSpPr>
            <a:spLocks noGrp="1" noChangeArrowheads="1"/>
          </p:cNvSpPr>
          <p:nvPr>
            <p:ph type="sldNum" sz="quarter" idx="5"/>
          </p:nvPr>
        </p:nvSpPr>
        <p:spPr bwMode="auto">
          <a:xfrm>
            <a:off x="4021294"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fld id="{0ABB98EA-6246-485E-841E-BF45FF02CE45}" type="slidenum">
              <a:rPr lang="en-GB"/>
              <a:pPr/>
              <a:t>‹#›</a:t>
            </a:fld>
            <a:endParaRPr lang="en-GB"/>
          </a:p>
        </p:txBody>
      </p:sp>
    </p:spTree>
    <p:extLst>
      <p:ext uri="{BB962C8B-B14F-4D97-AF65-F5344CB8AC3E}">
        <p14:creationId xmlns:p14="http://schemas.microsoft.com/office/powerpoint/2010/main" val="3428063662"/>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0ABB98EA-6246-485E-841E-BF45FF02CE45}" type="slidenum">
              <a:rPr lang="en-GB" smtClean="0"/>
              <a:pPr/>
              <a:t>1</a:t>
            </a:fld>
            <a:endParaRPr lang="en-GB"/>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Header Placeholder 5"/>
          <p:cNvSpPr>
            <a:spLocks noGrp="1"/>
          </p:cNvSpPr>
          <p:nvPr>
            <p:ph type="hdr" sz="quarter" idx="12"/>
          </p:nvPr>
        </p:nvSpPr>
        <p:spPr/>
        <p:txBody>
          <a:bodyPr/>
          <a:lstStyle/>
          <a:p>
            <a:r>
              <a:rPr lang="en-SG" dirty="0" smtClean="0"/>
              <a:t>NYP | School of IT | ITP271 Web Applications Development</a:t>
            </a:r>
            <a:endParaRPr lang="en-US" dirty="0"/>
          </a:p>
        </p:txBody>
      </p:sp>
    </p:spTree>
    <p:extLst>
      <p:ext uri="{BB962C8B-B14F-4D97-AF65-F5344CB8AC3E}">
        <p14:creationId xmlns:p14="http://schemas.microsoft.com/office/powerpoint/2010/main" val="3397025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0ABB98EA-6246-485E-841E-BF45FF02CE45}" type="slidenum">
              <a:rPr lang="en-GB" smtClean="0"/>
              <a:pPr/>
              <a:t>7</a:t>
            </a:fld>
            <a:endParaRPr lang="en-GB"/>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Header Placeholder 5"/>
          <p:cNvSpPr>
            <a:spLocks noGrp="1"/>
          </p:cNvSpPr>
          <p:nvPr>
            <p:ph type="hdr" sz="quarter" idx="12"/>
          </p:nvPr>
        </p:nvSpPr>
        <p:spPr/>
        <p:txBody>
          <a:bodyPr/>
          <a:lstStyle/>
          <a:p>
            <a:r>
              <a:rPr lang="en-SG" dirty="0" smtClean="0"/>
              <a:t>NYP | School of IT | ITP271 Web Applications Development</a:t>
            </a:r>
            <a:endParaRPr lang="en-US" dirty="0"/>
          </a:p>
        </p:txBody>
      </p:sp>
    </p:spTree>
    <p:extLst>
      <p:ext uri="{BB962C8B-B14F-4D97-AF65-F5344CB8AC3E}">
        <p14:creationId xmlns:p14="http://schemas.microsoft.com/office/powerpoint/2010/main" val="1130970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SG" smtClean="0"/>
              <a:t>NYP | School of IT | ITP271 Web Applications Development</a:t>
            </a:r>
            <a:endParaRPr lang="en-US" dirty="0"/>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Slide Number Placeholder 5"/>
          <p:cNvSpPr>
            <a:spLocks noGrp="1"/>
          </p:cNvSpPr>
          <p:nvPr>
            <p:ph type="sldNum" sz="quarter" idx="12"/>
          </p:nvPr>
        </p:nvSpPr>
        <p:spPr/>
        <p:txBody>
          <a:bodyPr/>
          <a:lstStyle/>
          <a:p>
            <a:fld id="{0ABB98EA-6246-485E-841E-BF45FF02CE45}" type="slidenum">
              <a:rPr lang="en-GB" smtClean="0"/>
              <a:pPr/>
              <a:t>8</a:t>
            </a:fld>
            <a:endParaRPr lang="en-GB"/>
          </a:p>
        </p:txBody>
      </p:sp>
    </p:spTree>
    <p:extLst>
      <p:ext uri="{BB962C8B-B14F-4D97-AF65-F5344CB8AC3E}">
        <p14:creationId xmlns:p14="http://schemas.microsoft.com/office/powerpoint/2010/main" val="1339812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Slide Number Placeholder 5"/>
          <p:cNvSpPr>
            <a:spLocks noGrp="1"/>
          </p:cNvSpPr>
          <p:nvPr>
            <p:ph type="sldNum" sz="quarter" idx="12"/>
          </p:nvPr>
        </p:nvSpPr>
        <p:spPr/>
        <p:txBody>
          <a:bodyPr/>
          <a:lstStyle/>
          <a:p>
            <a:fld id="{A3337DE5-ED37-4362-883D-EB99F29D0BD1}" type="slidenum">
              <a:rPr lang="en-US" smtClean="0"/>
              <a:pPr/>
              <a:t>‹#›</a:t>
            </a:fld>
            <a:endParaRPr lang="en-US"/>
          </a:p>
        </p:txBody>
      </p:sp>
    </p:spTree>
    <p:extLst>
      <p:ext uri="{BB962C8B-B14F-4D97-AF65-F5344CB8AC3E}">
        <p14:creationId xmlns:p14="http://schemas.microsoft.com/office/powerpoint/2010/main" val="535459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Slide Number Placeholder 5"/>
          <p:cNvSpPr>
            <a:spLocks noGrp="1"/>
          </p:cNvSpPr>
          <p:nvPr>
            <p:ph type="sldNum" sz="quarter" idx="12"/>
          </p:nvPr>
        </p:nvSpPr>
        <p:spPr/>
        <p:txBody>
          <a:bodyPr/>
          <a:lstStyle/>
          <a:p>
            <a:fld id="{AB4AE280-AA84-48CF-B7DB-4C255992DD42}" type="slidenum">
              <a:rPr lang="en-US" smtClean="0"/>
              <a:pPr/>
              <a:t>‹#›</a:t>
            </a:fld>
            <a:endParaRPr lang="en-US"/>
          </a:p>
        </p:txBody>
      </p:sp>
    </p:spTree>
    <p:extLst>
      <p:ext uri="{BB962C8B-B14F-4D97-AF65-F5344CB8AC3E}">
        <p14:creationId xmlns:p14="http://schemas.microsoft.com/office/powerpoint/2010/main" val="341569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Slide Number Placeholder 5"/>
          <p:cNvSpPr>
            <a:spLocks noGrp="1"/>
          </p:cNvSpPr>
          <p:nvPr>
            <p:ph type="sldNum" sz="quarter" idx="12"/>
          </p:nvPr>
        </p:nvSpPr>
        <p:spPr/>
        <p:txBody>
          <a:bodyPr/>
          <a:lstStyle/>
          <a:p>
            <a:fld id="{7F6ED9B8-049F-4794-83E1-1D8A49E8B3D8}" type="slidenum">
              <a:rPr lang="en-US" smtClean="0"/>
              <a:pPr/>
              <a:t>‹#›</a:t>
            </a:fld>
            <a:endParaRPr lang="en-US"/>
          </a:p>
        </p:txBody>
      </p:sp>
    </p:spTree>
    <p:extLst>
      <p:ext uri="{BB962C8B-B14F-4D97-AF65-F5344CB8AC3E}">
        <p14:creationId xmlns:p14="http://schemas.microsoft.com/office/powerpoint/2010/main" val="1609731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SG" smtClean="0"/>
              <a:t>Copyright © Nanyang Polytechnic. All Rights Reserve.</a:t>
            </a:r>
            <a:endParaRPr lang="en-US"/>
          </a:p>
        </p:txBody>
      </p:sp>
      <p:sp>
        <p:nvSpPr>
          <p:cNvPr id="7" name="Slide Number Placeholder 6"/>
          <p:cNvSpPr>
            <a:spLocks noGrp="1"/>
          </p:cNvSpPr>
          <p:nvPr>
            <p:ph type="sldNum" sz="quarter" idx="12"/>
          </p:nvPr>
        </p:nvSpPr>
        <p:spPr/>
        <p:txBody>
          <a:bodyPr/>
          <a:lstStyle/>
          <a:p>
            <a:fld id="{811CB0A6-7657-44A0-860E-14279085BE05}" type="slidenum">
              <a:rPr lang="en-US" smtClean="0"/>
              <a:pPr/>
              <a:t>‹#›</a:t>
            </a:fld>
            <a:endParaRPr lang="en-US"/>
          </a:p>
        </p:txBody>
      </p:sp>
    </p:spTree>
    <p:extLst>
      <p:ext uri="{BB962C8B-B14F-4D97-AF65-F5344CB8AC3E}">
        <p14:creationId xmlns:p14="http://schemas.microsoft.com/office/powerpoint/2010/main" val="3900650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SG" smtClean="0"/>
              <a:t>Copyright © Nanyang Polytechnic. All Rights Reserve.</a:t>
            </a:r>
            <a:endParaRPr lang="en-US"/>
          </a:p>
        </p:txBody>
      </p:sp>
      <p:sp>
        <p:nvSpPr>
          <p:cNvPr id="9" name="Slide Number Placeholder 8"/>
          <p:cNvSpPr>
            <a:spLocks noGrp="1"/>
          </p:cNvSpPr>
          <p:nvPr>
            <p:ph type="sldNum" sz="quarter" idx="12"/>
          </p:nvPr>
        </p:nvSpPr>
        <p:spPr/>
        <p:txBody>
          <a:bodyPr/>
          <a:lstStyle/>
          <a:p>
            <a:fld id="{CB6DDA22-91A1-4AE6-A800-A2E04C55DEAD}" type="slidenum">
              <a:rPr lang="en-US" smtClean="0"/>
              <a:pPr/>
              <a:t>‹#›</a:t>
            </a:fld>
            <a:endParaRPr lang="en-US"/>
          </a:p>
        </p:txBody>
      </p:sp>
    </p:spTree>
    <p:extLst>
      <p:ext uri="{BB962C8B-B14F-4D97-AF65-F5344CB8AC3E}">
        <p14:creationId xmlns:p14="http://schemas.microsoft.com/office/powerpoint/2010/main" val="1445653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SG" smtClean="0"/>
              <a:t>Copyright © Nanyang Polytechnic. All Rights Reserve.</a:t>
            </a:r>
            <a:endParaRPr lang="en-US"/>
          </a:p>
        </p:txBody>
      </p:sp>
      <p:sp>
        <p:nvSpPr>
          <p:cNvPr id="5" name="Slide Number Placeholder 4"/>
          <p:cNvSpPr>
            <a:spLocks noGrp="1"/>
          </p:cNvSpPr>
          <p:nvPr>
            <p:ph type="sldNum" sz="quarter" idx="12"/>
          </p:nvPr>
        </p:nvSpPr>
        <p:spPr/>
        <p:txBody>
          <a:bodyPr/>
          <a:lstStyle/>
          <a:p>
            <a:fld id="{D7D1E241-DFFC-425B-847B-50EAE3C30EF3}" type="slidenum">
              <a:rPr lang="en-US" smtClean="0"/>
              <a:pPr/>
              <a:t>‹#›</a:t>
            </a:fld>
            <a:endParaRPr lang="en-US"/>
          </a:p>
        </p:txBody>
      </p:sp>
    </p:spTree>
    <p:extLst>
      <p:ext uri="{BB962C8B-B14F-4D97-AF65-F5344CB8AC3E}">
        <p14:creationId xmlns:p14="http://schemas.microsoft.com/office/powerpoint/2010/main" val="3766117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SG" smtClean="0"/>
              <a:t>Copyright © Nanyang Polytechnic. All Rights Reserve.</a:t>
            </a:r>
            <a:endParaRPr lang="en-US"/>
          </a:p>
        </p:txBody>
      </p:sp>
      <p:sp>
        <p:nvSpPr>
          <p:cNvPr id="4" name="Slide Number Placeholder 3"/>
          <p:cNvSpPr>
            <a:spLocks noGrp="1"/>
          </p:cNvSpPr>
          <p:nvPr>
            <p:ph type="sldNum" sz="quarter" idx="12"/>
          </p:nvPr>
        </p:nvSpPr>
        <p:spPr/>
        <p:txBody>
          <a:bodyPr/>
          <a:lstStyle/>
          <a:p>
            <a:fld id="{86231744-24AE-481C-BED4-2AC1E459CBA1}" type="slidenum">
              <a:rPr lang="en-US" smtClean="0"/>
              <a:pPr/>
              <a:t>‹#›</a:t>
            </a:fld>
            <a:endParaRPr lang="en-US"/>
          </a:p>
        </p:txBody>
      </p:sp>
    </p:spTree>
    <p:extLst>
      <p:ext uri="{BB962C8B-B14F-4D97-AF65-F5344CB8AC3E}">
        <p14:creationId xmlns:p14="http://schemas.microsoft.com/office/powerpoint/2010/main" val="210489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SG" smtClean="0"/>
              <a:t>Copyright © Nanyang Polytechnic. All Rights Reserve.</a:t>
            </a:r>
            <a:endParaRPr lang="en-US"/>
          </a:p>
        </p:txBody>
      </p:sp>
      <p:sp>
        <p:nvSpPr>
          <p:cNvPr id="7" name="Slide Number Placeholder 6"/>
          <p:cNvSpPr>
            <a:spLocks noGrp="1"/>
          </p:cNvSpPr>
          <p:nvPr>
            <p:ph type="sldNum" sz="quarter" idx="12"/>
          </p:nvPr>
        </p:nvSpPr>
        <p:spPr/>
        <p:txBody>
          <a:bodyPr/>
          <a:lstStyle/>
          <a:p>
            <a:fld id="{BA1ED296-C0E3-447C-A177-253A1E8E1DF3}" type="slidenum">
              <a:rPr lang="en-US" smtClean="0"/>
              <a:pPr/>
              <a:t>‹#›</a:t>
            </a:fld>
            <a:endParaRPr lang="en-US"/>
          </a:p>
        </p:txBody>
      </p:sp>
    </p:spTree>
    <p:extLst>
      <p:ext uri="{BB962C8B-B14F-4D97-AF65-F5344CB8AC3E}">
        <p14:creationId xmlns:p14="http://schemas.microsoft.com/office/powerpoint/2010/main" val="129850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SG" smtClean="0"/>
              <a:t>Copyright © Nanyang Polytechnic. All Rights Reserve.</a:t>
            </a:r>
            <a:endParaRPr lang="en-US"/>
          </a:p>
        </p:txBody>
      </p:sp>
      <p:sp>
        <p:nvSpPr>
          <p:cNvPr id="7" name="Slide Number Placeholder 6"/>
          <p:cNvSpPr>
            <a:spLocks noGrp="1"/>
          </p:cNvSpPr>
          <p:nvPr>
            <p:ph type="sldNum" sz="quarter" idx="12"/>
          </p:nvPr>
        </p:nvSpPr>
        <p:spPr/>
        <p:txBody>
          <a:bodyPr/>
          <a:lstStyle/>
          <a:p>
            <a:fld id="{EED31C7C-4F19-4EFE-851B-EA57C30962AC}" type="slidenum">
              <a:rPr lang="en-US" smtClean="0"/>
              <a:pPr/>
              <a:t>‹#›</a:t>
            </a:fld>
            <a:endParaRPr lang="en-US"/>
          </a:p>
        </p:txBody>
      </p:sp>
    </p:spTree>
    <p:extLst>
      <p:ext uri="{BB962C8B-B14F-4D97-AF65-F5344CB8AC3E}">
        <p14:creationId xmlns:p14="http://schemas.microsoft.com/office/powerpoint/2010/main" val="3070342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Slide Number Placeholder 5"/>
          <p:cNvSpPr>
            <a:spLocks noGrp="1"/>
          </p:cNvSpPr>
          <p:nvPr>
            <p:ph type="sldNum" sz="quarter" idx="12"/>
          </p:nvPr>
        </p:nvSpPr>
        <p:spPr/>
        <p:txBody>
          <a:bodyPr/>
          <a:lstStyle/>
          <a:p>
            <a:fld id="{BD839686-F023-4ADD-8697-1F7EA8D60F23}" type="slidenum">
              <a:rPr lang="en-US" smtClean="0"/>
              <a:pPr/>
              <a:t>‹#›</a:t>
            </a:fld>
            <a:endParaRPr lang="en-US"/>
          </a:p>
        </p:txBody>
      </p:sp>
    </p:spTree>
    <p:extLst>
      <p:ext uri="{BB962C8B-B14F-4D97-AF65-F5344CB8AC3E}">
        <p14:creationId xmlns:p14="http://schemas.microsoft.com/office/powerpoint/2010/main" val="1383916517"/>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Slide Number Placeholder 5"/>
          <p:cNvSpPr>
            <a:spLocks noGrp="1"/>
          </p:cNvSpPr>
          <p:nvPr>
            <p:ph type="sldNum" sz="quarter" idx="12"/>
          </p:nvPr>
        </p:nvSpPr>
        <p:spPr/>
        <p:txBody>
          <a:bodyPr/>
          <a:lstStyle/>
          <a:p>
            <a:fld id="{BD839686-F023-4ADD-8697-1F7EA8D60F23}"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21162759"/>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Slide Number Placeholder 5"/>
          <p:cNvSpPr>
            <a:spLocks noGrp="1"/>
          </p:cNvSpPr>
          <p:nvPr>
            <p:ph type="sldNum" sz="quarter" idx="12"/>
          </p:nvPr>
        </p:nvSpPr>
        <p:spPr/>
        <p:txBody>
          <a:bodyPr/>
          <a:lstStyle/>
          <a:p>
            <a:fld id="{BD839686-F023-4ADD-8697-1F7EA8D60F23}" type="slidenum">
              <a:rPr lang="en-US" smtClean="0"/>
              <a:pPr/>
              <a:t>‹#›</a:t>
            </a:fld>
            <a:endParaRPr lang="en-US"/>
          </a:p>
        </p:txBody>
      </p:sp>
    </p:spTree>
    <p:extLst>
      <p:ext uri="{BB962C8B-B14F-4D97-AF65-F5344CB8AC3E}">
        <p14:creationId xmlns:p14="http://schemas.microsoft.com/office/powerpoint/2010/main" val="2789670920"/>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Slide Number Placeholder 5"/>
          <p:cNvSpPr>
            <a:spLocks noGrp="1"/>
          </p:cNvSpPr>
          <p:nvPr>
            <p:ph type="sldNum" sz="quarter" idx="12"/>
          </p:nvPr>
        </p:nvSpPr>
        <p:spPr/>
        <p:txBody>
          <a:bodyPr/>
          <a:lstStyle/>
          <a:p>
            <a:fld id="{BD839686-F023-4ADD-8697-1F7EA8D60F23}"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38674076"/>
      </p:ext>
    </p:extLst>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Slide Number Placeholder 5"/>
          <p:cNvSpPr>
            <a:spLocks noGrp="1"/>
          </p:cNvSpPr>
          <p:nvPr>
            <p:ph type="sldNum" sz="quarter" idx="12"/>
          </p:nvPr>
        </p:nvSpPr>
        <p:spPr/>
        <p:txBody>
          <a:bodyPr/>
          <a:lstStyle/>
          <a:p>
            <a:fld id="{BD839686-F023-4ADD-8697-1F7EA8D60F23}" type="slidenum">
              <a:rPr lang="en-US" smtClean="0"/>
              <a:pPr/>
              <a:t>‹#›</a:t>
            </a:fld>
            <a:endParaRPr lang="en-US"/>
          </a:p>
        </p:txBody>
      </p:sp>
    </p:spTree>
    <p:extLst>
      <p:ext uri="{BB962C8B-B14F-4D97-AF65-F5344CB8AC3E}">
        <p14:creationId xmlns:p14="http://schemas.microsoft.com/office/powerpoint/2010/main" val="3130415507"/>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Slide Number Placeholder 5"/>
          <p:cNvSpPr>
            <a:spLocks noGrp="1"/>
          </p:cNvSpPr>
          <p:nvPr>
            <p:ph type="sldNum" sz="quarter" idx="12"/>
          </p:nvPr>
        </p:nvSpPr>
        <p:spPr/>
        <p:txBody>
          <a:bodyPr/>
          <a:lstStyle/>
          <a:p>
            <a:fld id="{C4D08F67-DF65-465B-B7E4-341764CDF610}" type="slidenum">
              <a:rPr lang="en-US" smtClean="0"/>
              <a:pPr/>
              <a:t>‹#›</a:t>
            </a:fld>
            <a:endParaRPr lang="en-US"/>
          </a:p>
        </p:txBody>
      </p:sp>
    </p:spTree>
    <p:extLst>
      <p:ext uri="{BB962C8B-B14F-4D97-AF65-F5344CB8AC3E}">
        <p14:creationId xmlns:p14="http://schemas.microsoft.com/office/powerpoint/2010/main" val="13177971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SG" smtClean="0"/>
              <a:t>Copyright © Nanyang Polytechnic. All Rights Reserve.</a:t>
            </a:r>
            <a:endParaRPr lang="en-US"/>
          </a:p>
        </p:txBody>
      </p:sp>
      <p:sp>
        <p:nvSpPr>
          <p:cNvPr id="6" name="Slide Number Placeholder 5"/>
          <p:cNvSpPr>
            <a:spLocks noGrp="1"/>
          </p:cNvSpPr>
          <p:nvPr>
            <p:ph type="sldNum" sz="quarter" idx="12"/>
          </p:nvPr>
        </p:nvSpPr>
        <p:spPr/>
        <p:txBody>
          <a:bodyPr/>
          <a:lstStyle/>
          <a:p>
            <a:fld id="{A3718F75-D956-4C19-B595-43101EF8F99C}" type="slidenum">
              <a:rPr lang="en-US" smtClean="0"/>
              <a:pPr/>
              <a:t>‹#›</a:t>
            </a:fld>
            <a:endParaRPr lang="en-US"/>
          </a:p>
        </p:txBody>
      </p:sp>
    </p:spTree>
    <p:extLst>
      <p:ext uri="{BB962C8B-B14F-4D97-AF65-F5344CB8AC3E}">
        <p14:creationId xmlns:p14="http://schemas.microsoft.com/office/powerpoint/2010/main" val="331265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SG" smtClean="0"/>
              <a:t>Copyright © Nanyang Polytechnic. All Rights Reserve.</a:t>
            </a:r>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D839686-F023-4ADD-8697-1F7EA8D60F23}" type="slidenum">
              <a:rPr lang="en-US" smtClean="0"/>
              <a:pPr/>
              <a:t>‹#›</a:t>
            </a:fld>
            <a:endParaRPr lang="en-US"/>
          </a:p>
        </p:txBody>
      </p:sp>
      <p:sp>
        <p:nvSpPr>
          <p:cNvPr id="18" name="TextBox 17"/>
          <p:cNvSpPr txBox="1"/>
          <p:nvPr userDrawn="1"/>
        </p:nvSpPr>
        <p:spPr>
          <a:xfrm>
            <a:off x="0" y="1554480"/>
            <a:ext cx="533400" cy="5303520"/>
          </a:xfrm>
          <a:prstGeom prst="rect">
            <a:avLst/>
          </a:prstGeom>
          <a:solidFill>
            <a:schemeClr val="accent1"/>
          </a:solidFill>
        </p:spPr>
        <p:txBody>
          <a:bodyPr vert="eaVert" wrap="none" lIns="36000" tIns="108000" rIns="36000" bIns="36000" rtlCol="0" anchor="ctr" anchorCtr="0">
            <a:noAutofit/>
          </a:bodyPr>
          <a:lstStyle/>
          <a:p>
            <a:r>
              <a:rPr lang="en-GB" b="1" dirty="0" smtClean="0">
                <a:solidFill>
                  <a:schemeClr val="bg1"/>
                </a:solidFill>
                <a:latin typeface="Arial" pitchFamily="34" charset="0"/>
                <a:cs typeface="Arial" pitchFamily="34" charset="0"/>
              </a:rPr>
              <a:t>NYP</a:t>
            </a:r>
            <a:r>
              <a:rPr lang="en-GB" b="1" baseline="0" dirty="0" smtClean="0">
                <a:solidFill>
                  <a:schemeClr val="bg1"/>
                </a:solidFill>
                <a:latin typeface="Arial" pitchFamily="34" charset="0"/>
                <a:cs typeface="Arial" pitchFamily="34" charset="0"/>
              </a:rPr>
              <a:t> :: School of IT :: DEI :: ITP271 :: AY2014S1</a:t>
            </a:r>
            <a:endParaRPr lang="en-SG"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144131472"/>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normAutofit fontScale="90000"/>
          </a:bodyPr>
          <a:lstStyle/>
          <a:p>
            <a:pPr>
              <a:defRPr/>
            </a:pPr>
            <a:r>
              <a:rPr lang="en-GB" dirty="0" smtClean="0"/>
              <a:t>Lecture A04 – Page flow navigation</a:t>
            </a:r>
            <a:r>
              <a:rPr lang="en-GB" dirty="0"/>
              <a:t/>
            </a:r>
            <a:br>
              <a:rPr lang="en-GB" dirty="0"/>
            </a:br>
            <a:endParaRPr lang="en-GB" dirty="0" smtClean="0"/>
          </a:p>
        </p:txBody>
      </p:sp>
      <p:sp>
        <p:nvSpPr>
          <p:cNvPr id="4" name="Rectangle 3"/>
          <p:cNvSpPr>
            <a:spLocks noGrp="1" noChangeArrowheads="1"/>
          </p:cNvSpPr>
          <p:nvPr>
            <p:ph type="subTitle" idx="1"/>
          </p:nvPr>
        </p:nvSpPr>
        <p:spPr/>
        <p:txBody>
          <a:bodyPr>
            <a:normAutofit/>
          </a:bodyPr>
          <a:lstStyle/>
          <a:p>
            <a:r>
              <a:rPr lang="en-GB" dirty="0" smtClean="0"/>
              <a:t> </a:t>
            </a:r>
            <a:br>
              <a:rPr lang="en-GB" dirty="0" smtClean="0"/>
            </a:br>
            <a:r>
              <a:rPr lang="en-GB" dirty="0" smtClean="0"/>
              <a:t>ITP271 :: Web Application Development &amp; Project</a:t>
            </a:r>
          </a:p>
        </p:txBody>
      </p:sp>
      <p:sp>
        <p:nvSpPr>
          <p:cNvPr id="2" name="Footer Placeholder 1"/>
          <p:cNvSpPr>
            <a:spLocks noGrp="1"/>
          </p:cNvSpPr>
          <p:nvPr>
            <p:ph type="ftr" sz="quarter" idx="11"/>
          </p:nvPr>
        </p:nvSpPr>
        <p:spPr/>
        <p:txBody>
          <a:bodyPr/>
          <a:lstStyle/>
          <a:p>
            <a:r>
              <a:rPr lang="en-SG" smtClean="0"/>
              <a:t>Copyright © Nanyang Polytechnic. All Rights Reserve.</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Overview</a:t>
            </a:r>
            <a:endParaRPr lang="en-US" dirty="0"/>
          </a:p>
        </p:txBody>
      </p:sp>
      <p:sp>
        <p:nvSpPr>
          <p:cNvPr id="3" name="Content Placeholder 2"/>
          <p:cNvSpPr>
            <a:spLocks noGrp="1"/>
          </p:cNvSpPr>
          <p:nvPr>
            <p:ph idx="1"/>
          </p:nvPr>
        </p:nvSpPr>
        <p:spPr/>
        <p:txBody>
          <a:bodyPr/>
          <a:lstStyle/>
          <a:p>
            <a:pPr>
              <a:defRPr/>
            </a:pPr>
            <a:r>
              <a:rPr lang="en-US" dirty="0" err="1" smtClean="0"/>
              <a:t>Server.Transfer</a:t>
            </a:r>
            <a:endParaRPr lang="en-US" dirty="0" smtClean="0"/>
          </a:p>
          <a:p>
            <a:pPr>
              <a:defRPr/>
            </a:pPr>
            <a:r>
              <a:rPr lang="en-US" dirty="0" err="1" smtClean="0"/>
              <a:t>PreviousPage</a:t>
            </a:r>
            <a:endParaRPr lang="en-US" dirty="0" smtClean="0"/>
          </a:p>
        </p:txBody>
      </p:sp>
      <p:sp>
        <p:nvSpPr>
          <p:cNvPr id="4" name="Footer Placeholder 3"/>
          <p:cNvSpPr>
            <a:spLocks noGrp="1"/>
          </p:cNvSpPr>
          <p:nvPr>
            <p:ph type="ftr" sz="quarter" idx="11"/>
          </p:nvPr>
        </p:nvSpPr>
        <p:spPr/>
        <p:txBody>
          <a:bodyPr/>
          <a:lstStyle/>
          <a:p>
            <a:r>
              <a:rPr lang="en-SG" smtClean="0"/>
              <a:t>Copyright © Nanyang Polytechnic. All Rights Reserve.</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err="1" smtClean="0"/>
              <a:t>Server.Transfer</a:t>
            </a:r>
            <a:endParaRPr lang="en-US" dirty="0"/>
          </a:p>
        </p:txBody>
      </p:sp>
      <p:sp>
        <p:nvSpPr>
          <p:cNvPr id="3" name="Content Placeholder 2"/>
          <p:cNvSpPr>
            <a:spLocks noGrp="1"/>
          </p:cNvSpPr>
          <p:nvPr>
            <p:ph idx="1"/>
          </p:nvPr>
        </p:nvSpPr>
        <p:spPr/>
        <p:txBody>
          <a:bodyPr/>
          <a:lstStyle/>
          <a:p>
            <a:r>
              <a:rPr lang="en-US" dirty="0" smtClean="0"/>
              <a:t>To redirect to another page in .NET we can make use of </a:t>
            </a:r>
            <a:r>
              <a:rPr lang="en-US" dirty="0" err="1" smtClean="0"/>
              <a:t>Server.Transfer</a:t>
            </a:r>
            <a:r>
              <a:rPr lang="en-US" dirty="0" smtClean="0"/>
              <a:t>(…)</a:t>
            </a:r>
          </a:p>
          <a:p>
            <a:r>
              <a:rPr lang="en-US" dirty="0" smtClean="0"/>
              <a:t>Advantage</a:t>
            </a:r>
          </a:p>
          <a:p>
            <a:pPr lvl="1"/>
            <a:r>
              <a:rPr lang="en-US" dirty="0" smtClean="0"/>
              <a:t>Ease of use</a:t>
            </a:r>
          </a:p>
          <a:p>
            <a:r>
              <a:rPr lang="en-US" dirty="0" smtClean="0"/>
              <a:t>Disadvantage</a:t>
            </a:r>
          </a:p>
          <a:p>
            <a:pPr lvl="1"/>
            <a:r>
              <a:rPr lang="en-US" dirty="0" smtClean="0"/>
              <a:t>Tight coupling between pages when we make use of </a:t>
            </a:r>
            <a:r>
              <a:rPr lang="en-US" dirty="0" err="1" smtClean="0"/>
              <a:t>PreviousPage</a:t>
            </a:r>
            <a:r>
              <a:rPr lang="en-US" dirty="0" smtClean="0"/>
              <a:t> to get control’s value in web form.</a:t>
            </a:r>
          </a:p>
          <a:p>
            <a:pPr lvl="1"/>
            <a:endParaRPr lang="en-US" dirty="0" smtClean="0"/>
          </a:p>
        </p:txBody>
      </p:sp>
      <p:sp>
        <p:nvSpPr>
          <p:cNvPr id="4" name="Footer Placeholder 3"/>
          <p:cNvSpPr>
            <a:spLocks noGrp="1"/>
          </p:cNvSpPr>
          <p:nvPr>
            <p:ph type="ftr" sz="quarter" idx="11"/>
          </p:nvPr>
        </p:nvSpPr>
        <p:spPr/>
        <p:txBody>
          <a:bodyPr/>
          <a:lstStyle/>
          <a:p>
            <a:r>
              <a:rPr lang="en-SG" smtClean="0"/>
              <a:t>Copyright © Nanyang Polytechnic. All Rights Reserve.</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a:t>
            </a:r>
            <a:endParaRPr lang="en-US" dirty="0"/>
          </a:p>
        </p:txBody>
      </p:sp>
      <p:sp>
        <p:nvSpPr>
          <p:cNvPr id="3" name="Content Placeholder 2"/>
          <p:cNvSpPr>
            <a:spLocks noGrp="1"/>
          </p:cNvSpPr>
          <p:nvPr>
            <p:ph idx="1"/>
          </p:nvPr>
        </p:nvSpPr>
        <p:spPr/>
        <p:txBody>
          <a:bodyPr/>
          <a:lstStyle/>
          <a:p>
            <a:pPr>
              <a:buFont typeface="Wingdings" pitchFamily="2" charset="2"/>
              <a:buNone/>
            </a:pPr>
            <a:r>
              <a:rPr lang="en-US" smtClean="0"/>
              <a:t>To redirect to a web page, Feedback.aspx, </a:t>
            </a:r>
          </a:p>
          <a:p>
            <a:pPr>
              <a:buFont typeface="Wingdings" pitchFamily="2" charset="2"/>
              <a:buNone/>
            </a:pPr>
            <a:endParaRPr lang="en-US" smtClean="0"/>
          </a:p>
          <a:p>
            <a:pPr lvl="1">
              <a:buFont typeface="Wingdings" pitchFamily="2" charset="2"/>
              <a:buNone/>
            </a:pPr>
            <a:r>
              <a:rPr lang="en-US" smtClean="0"/>
              <a:t>Server.Transfer(“Feedback.aspx”);</a:t>
            </a:r>
          </a:p>
        </p:txBody>
      </p:sp>
      <p:sp>
        <p:nvSpPr>
          <p:cNvPr id="4" name="Footer Placeholder 3"/>
          <p:cNvSpPr>
            <a:spLocks noGrp="1"/>
          </p:cNvSpPr>
          <p:nvPr>
            <p:ph type="ftr" sz="quarter" idx="11"/>
          </p:nvPr>
        </p:nvSpPr>
        <p:spPr/>
        <p:txBody>
          <a:bodyPr/>
          <a:lstStyle/>
          <a:p>
            <a:r>
              <a:rPr lang="en-SG" smtClean="0"/>
              <a:t>Copyright © Nanyang Polytechnic. All Rights Reserve.</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err="1" smtClean="0"/>
              <a:t>PreviousPage</a:t>
            </a:r>
            <a:endParaRPr lang="en-US" dirty="0"/>
          </a:p>
        </p:txBody>
      </p:sp>
      <p:sp>
        <p:nvSpPr>
          <p:cNvPr id="3" name="Content Placeholder 2"/>
          <p:cNvSpPr>
            <a:spLocks noGrp="1"/>
          </p:cNvSpPr>
          <p:nvPr>
            <p:ph idx="1"/>
          </p:nvPr>
        </p:nvSpPr>
        <p:spPr>
          <a:xfrm>
            <a:off x="457200" y="1600200"/>
            <a:ext cx="8229600" cy="4953000"/>
          </a:xfrm>
        </p:spPr>
        <p:txBody>
          <a:bodyPr/>
          <a:lstStyle/>
          <a:p>
            <a:r>
              <a:rPr lang="en-US" dirty="0" err="1" smtClean="0"/>
              <a:t>PreviousPage</a:t>
            </a:r>
            <a:r>
              <a:rPr lang="en-US" dirty="0" smtClean="0"/>
              <a:t> is an object created by .NET where the caller uses </a:t>
            </a:r>
            <a:r>
              <a:rPr lang="en-US" dirty="0" err="1" smtClean="0"/>
              <a:t>Server.Transfer</a:t>
            </a:r>
            <a:r>
              <a:rPr lang="en-US" dirty="0" smtClean="0"/>
              <a:t>(…)</a:t>
            </a:r>
          </a:p>
          <a:p>
            <a:r>
              <a:rPr lang="en-US" dirty="0" err="1" smtClean="0"/>
              <a:t>PreviousPage</a:t>
            </a:r>
            <a:r>
              <a:rPr lang="en-US" dirty="0" smtClean="0"/>
              <a:t> allows us to find controls in the caller page.</a:t>
            </a:r>
          </a:p>
          <a:p>
            <a:pPr lvl="1"/>
            <a:r>
              <a:rPr lang="en-US" dirty="0" smtClean="0"/>
              <a:t>we can obtain Master Page object</a:t>
            </a:r>
          </a:p>
          <a:p>
            <a:pPr lvl="1"/>
            <a:r>
              <a:rPr lang="en-US" dirty="0" smtClean="0"/>
              <a:t>And all others control in web form</a:t>
            </a:r>
          </a:p>
          <a:p>
            <a:r>
              <a:rPr lang="en-US" dirty="0" smtClean="0"/>
              <a:t>This object is available ONCE only when a page is called by the caller with </a:t>
            </a:r>
            <a:r>
              <a:rPr lang="en-US" dirty="0" err="1" smtClean="0"/>
              <a:t>Server.Transfer</a:t>
            </a:r>
            <a:r>
              <a:rPr lang="en-US" dirty="0" smtClean="0"/>
              <a:t>(…)</a:t>
            </a:r>
          </a:p>
        </p:txBody>
      </p:sp>
      <p:sp>
        <p:nvSpPr>
          <p:cNvPr id="4" name="Footer Placeholder 3"/>
          <p:cNvSpPr>
            <a:spLocks noGrp="1"/>
          </p:cNvSpPr>
          <p:nvPr>
            <p:ph type="ftr" sz="quarter" idx="11"/>
          </p:nvPr>
        </p:nvSpPr>
        <p:spPr/>
        <p:txBody>
          <a:bodyPr/>
          <a:lstStyle/>
          <a:p>
            <a:r>
              <a:rPr lang="en-SG" smtClean="0"/>
              <a:t>Copyright © Nanyang Polytechnic. All Rights Reserve.</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err="1" smtClean="0"/>
              <a:t>PreviousPage</a:t>
            </a:r>
            <a:endParaRPr lang="en-US" dirty="0"/>
          </a:p>
        </p:txBody>
      </p:sp>
      <p:sp>
        <p:nvSpPr>
          <p:cNvPr id="3" name="Content Placeholder 2"/>
          <p:cNvSpPr>
            <a:spLocks noGrp="1"/>
          </p:cNvSpPr>
          <p:nvPr>
            <p:ph idx="1"/>
          </p:nvPr>
        </p:nvSpPr>
        <p:spPr/>
        <p:txBody>
          <a:bodyPr/>
          <a:lstStyle/>
          <a:p>
            <a:r>
              <a:rPr lang="en-US" dirty="0" smtClean="0"/>
              <a:t>To obtain the master page</a:t>
            </a:r>
          </a:p>
          <a:p>
            <a:pPr marL="971550" lvl="1" indent="-514350">
              <a:buFont typeface="Wingdings" pitchFamily="2" charset="2"/>
              <a:buNone/>
            </a:pPr>
            <a:r>
              <a:rPr lang="en-US" dirty="0" err="1" smtClean="0">
                <a:solidFill>
                  <a:schemeClr val="bg2">
                    <a:lumMod val="50000"/>
                  </a:schemeClr>
                </a:solidFill>
                <a:effectLst>
                  <a:outerShdw blurRad="38100" dist="38100" dir="2700000" algn="tl">
                    <a:srgbClr val="FFFFFF"/>
                  </a:outerShdw>
                </a:effectLst>
              </a:rPr>
              <a:t>PreviousPage.Master</a:t>
            </a:r>
            <a:endParaRPr lang="en-US" dirty="0" smtClean="0">
              <a:solidFill>
                <a:schemeClr val="bg2">
                  <a:lumMod val="50000"/>
                </a:schemeClr>
              </a:solidFill>
              <a:effectLst>
                <a:outerShdw blurRad="38100" dist="38100" dir="2700000" algn="tl">
                  <a:srgbClr val="FFFFFF"/>
                </a:outerShdw>
              </a:effectLst>
            </a:endParaRPr>
          </a:p>
          <a:p>
            <a:r>
              <a:rPr lang="en-US" dirty="0" smtClean="0"/>
              <a:t>To find control object in Master page</a:t>
            </a:r>
          </a:p>
          <a:p>
            <a:pPr marL="971550" lvl="1" indent="-514350">
              <a:buFont typeface="Wingdings" pitchFamily="2" charset="2"/>
              <a:buNone/>
            </a:pPr>
            <a:r>
              <a:rPr lang="en-US" dirty="0" err="1" smtClean="0">
                <a:solidFill>
                  <a:schemeClr val="bg2">
                    <a:lumMod val="50000"/>
                  </a:schemeClr>
                </a:solidFill>
                <a:effectLst>
                  <a:outerShdw blurRad="38100" dist="38100" dir="2700000" algn="tl">
                    <a:srgbClr val="FFFFFF"/>
                  </a:outerShdw>
                </a:effectLst>
              </a:rPr>
              <a:t>PreviousPage.Master.FindControl</a:t>
            </a:r>
            <a:r>
              <a:rPr lang="en-US" dirty="0" smtClean="0">
                <a:solidFill>
                  <a:schemeClr val="bg2">
                    <a:lumMod val="50000"/>
                  </a:schemeClr>
                </a:solidFill>
                <a:effectLst>
                  <a:outerShdw blurRad="38100" dist="38100" dir="2700000" algn="tl">
                    <a:srgbClr val="FFFFFF"/>
                  </a:outerShdw>
                </a:effectLst>
              </a:rPr>
              <a:t>(…)</a:t>
            </a:r>
          </a:p>
          <a:p>
            <a:r>
              <a:rPr lang="en-US" dirty="0" smtClean="0"/>
              <a:t>To find control object in Previous page without master page</a:t>
            </a:r>
          </a:p>
          <a:p>
            <a:pPr marL="971550" lvl="1" indent="-514350">
              <a:buFont typeface="Wingdings" pitchFamily="2" charset="2"/>
              <a:buNone/>
            </a:pPr>
            <a:r>
              <a:rPr lang="en-US" dirty="0" err="1" smtClean="0">
                <a:solidFill>
                  <a:schemeClr val="bg2">
                    <a:lumMod val="50000"/>
                  </a:schemeClr>
                </a:solidFill>
                <a:effectLst>
                  <a:outerShdw blurRad="38100" dist="38100" dir="2700000" algn="tl">
                    <a:srgbClr val="FFFFFF"/>
                  </a:outerShdw>
                </a:effectLst>
              </a:rPr>
              <a:t>PreviousPage.FindControl</a:t>
            </a:r>
            <a:r>
              <a:rPr lang="en-US" dirty="0" smtClean="0">
                <a:solidFill>
                  <a:schemeClr val="bg2">
                    <a:lumMod val="50000"/>
                  </a:schemeClr>
                </a:solidFill>
                <a:effectLst>
                  <a:outerShdw blurRad="38100" dist="38100" dir="2700000" algn="tl">
                    <a:srgbClr val="FFFFFF"/>
                  </a:outerShdw>
                </a:effectLst>
              </a:rPr>
              <a:t>(…)</a:t>
            </a:r>
            <a:endParaRPr lang="en-US" dirty="0" smtClean="0">
              <a:solidFill>
                <a:schemeClr val="bg2">
                  <a:lumMod val="50000"/>
                </a:schemeClr>
              </a:solidFill>
            </a:endParaRPr>
          </a:p>
        </p:txBody>
      </p:sp>
      <p:sp>
        <p:nvSpPr>
          <p:cNvPr id="4" name="Footer Placeholder 3"/>
          <p:cNvSpPr>
            <a:spLocks noGrp="1"/>
          </p:cNvSpPr>
          <p:nvPr>
            <p:ph type="ftr" sz="quarter" idx="11"/>
          </p:nvPr>
        </p:nvSpPr>
        <p:spPr/>
        <p:txBody>
          <a:bodyPr/>
          <a:lstStyle/>
          <a:p>
            <a:r>
              <a:rPr lang="en-SG" smtClean="0"/>
              <a:t>Copyright © Nanyang Polytechnic. All Rights Reserve.</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Summary</a:t>
            </a:r>
            <a:endParaRPr lang="en-US" dirty="0"/>
          </a:p>
        </p:txBody>
      </p:sp>
      <p:sp>
        <p:nvSpPr>
          <p:cNvPr id="3" name="Content Placeholder 2"/>
          <p:cNvSpPr>
            <a:spLocks noGrp="1"/>
          </p:cNvSpPr>
          <p:nvPr>
            <p:ph idx="1"/>
          </p:nvPr>
        </p:nvSpPr>
        <p:spPr/>
        <p:txBody>
          <a:bodyPr/>
          <a:lstStyle/>
          <a:p>
            <a:pPr>
              <a:buFont typeface="Wingdings" pitchFamily="2" charset="2"/>
              <a:buNone/>
            </a:pPr>
            <a:r>
              <a:rPr lang="en-US" dirty="0" smtClean="0"/>
              <a:t>In the practical, we will learn how to use the what we have learned</a:t>
            </a:r>
          </a:p>
          <a:p>
            <a:pPr>
              <a:buFont typeface="Wingdings" pitchFamily="2" charset="2"/>
              <a:buNone/>
            </a:pPr>
            <a:endParaRPr lang="en-US" dirty="0" smtClean="0"/>
          </a:p>
          <a:p>
            <a:r>
              <a:rPr lang="en-US" dirty="0" err="1" smtClean="0"/>
              <a:t>Server.Transfer</a:t>
            </a:r>
            <a:endParaRPr lang="en-US" dirty="0" smtClean="0"/>
          </a:p>
          <a:p>
            <a:r>
              <a:rPr lang="en-US" smtClean="0"/>
              <a:t>PreviousPage</a:t>
            </a:r>
            <a:endParaRPr lang="en-US" dirty="0" smtClean="0"/>
          </a:p>
        </p:txBody>
      </p:sp>
      <p:sp>
        <p:nvSpPr>
          <p:cNvPr id="4" name="Footer Placeholder 3"/>
          <p:cNvSpPr>
            <a:spLocks noGrp="1"/>
          </p:cNvSpPr>
          <p:nvPr>
            <p:ph type="ftr" sz="quarter" idx="11"/>
          </p:nvPr>
        </p:nvSpPr>
        <p:spPr/>
        <p:txBody>
          <a:bodyPr/>
          <a:lstStyle/>
          <a:p>
            <a:r>
              <a:rPr lang="en-SG" smtClean="0"/>
              <a:t>Copyright © Nanyang Polytechnic. All Rights Reserve.</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Server.Transfer</a:t>
            </a:r>
            <a:r>
              <a:rPr lang="en-US" dirty="0" smtClean="0"/>
              <a:t> or </a:t>
            </a:r>
            <a:r>
              <a:rPr lang="en-US" dirty="0" err="1" smtClean="0"/>
              <a:t>Response.Redirect</a:t>
            </a:r>
            <a:r>
              <a:rPr lang="en-US" dirty="0" smtClean="0"/>
              <a:t> </a:t>
            </a:r>
            <a:endParaRPr lang="en-US" dirty="0"/>
          </a:p>
        </p:txBody>
      </p:sp>
      <p:sp>
        <p:nvSpPr>
          <p:cNvPr id="3" name="Content Placeholder 2"/>
          <p:cNvSpPr>
            <a:spLocks noGrp="1"/>
          </p:cNvSpPr>
          <p:nvPr>
            <p:ph idx="1"/>
          </p:nvPr>
        </p:nvSpPr>
        <p:spPr/>
        <p:txBody>
          <a:bodyPr>
            <a:normAutofit fontScale="70000" lnSpcReduction="20000"/>
          </a:bodyPr>
          <a:lstStyle/>
          <a:p>
            <a:r>
              <a:rPr lang="en-US" dirty="0" err="1"/>
              <a:t>Response.Redirect</a:t>
            </a:r>
            <a:r>
              <a:rPr lang="en-US" dirty="0"/>
              <a:t> simply sends a message (HTTP 302) down to the browser.</a:t>
            </a:r>
          </a:p>
          <a:p>
            <a:endParaRPr lang="en-US" dirty="0"/>
          </a:p>
          <a:p>
            <a:r>
              <a:rPr lang="en-US" dirty="0" err="1"/>
              <a:t>Server.Transfer</a:t>
            </a:r>
            <a:r>
              <a:rPr lang="en-US" dirty="0"/>
              <a:t> happens without the browser knowing anything, the browser request a page, but the server returns the content of </a:t>
            </a:r>
            <a:r>
              <a:rPr lang="en-US" dirty="0" smtClean="0"/>
              <a:t>another.</a:t>
            </a:r>
          </a:p>
          <a:p>
            <a:endParaRPr lang="en-US" dirty="0"/>
          </a:p>
          <a:p>
            <a:r>
              <a:rPr lang="en-US" dirty="0"/>
              <a:t>Firstly, transferring to another page using </a:t>
            </a:r>
            <a:r>
              <a:rPr lang="en-US" dirty="0" err="1"/>
              <a:t>Server.Transfer</a:t>
            </a:r>
            <a:r>
              <a:rPr lang="en-US" dirty="0"/>
              <a:t> conserves server resources. Instead of telling the browser to redirect, it simply changes the "focus" on the Web server and transfers the request. This means you don't get quite as many HTTP requests coming through, which therefore eases the pressure on your Web server and makes your applications run faster.</a:t>
            </a:r>
          </a:p>
          <a:p>
            <a:endParaRPr lang="en-US" dirty="0"/>
          </a:p>
          <a:p>
            <a:r>
              <a:rPr lang="en-US" dirty="0"/>
              <a:t>But </a:t>
            </a:r>
            <a:r>
              <a:rPr lang="en-US" dirty="0" smtClean="0"/>
              <a:t> because </a:t>
            </a:r>
            <a:r>
              <a:rPr lang="en-US" dirty="0"/>
              <a:t>the "transfer" process can work on only those sites running on the server; you can't use </a:t>
            </a:r>
            <a:r>
              <a:rPr lang="en-US" dirty="0" err="1"/>
              <a:t>Server.Transfer</a:t>
            </a:r>
            <a:r>
              <a:rPr lang="en-US" dirty="0"/>
              <a:t> to send the user to an external site. Only </a:t>
            </a:r>
            <a:r>
              <a:rPr lang="en-US" dirty="0" err="1"/>
              <a:t>Response.Redirect</a:t>
            </a:r>
            <a:r>
              <a:rPr lang="en-US" dirty="0"/>
              <a:t> can do that</a:t>
            </a:r>
            <a:r>
              <a:rPr lang="en-US" dirty="0" smtClean="0"/>
              <a:t>.</a:t>
            </a:r>
          </a:p>
          <a:p>
            <a:endParaRPr lang="en-US" dirty="0"/>
          </a:p>
          <a:p>
            <a:r>
              <a:rPr lang="en-US" dirty="0" smtClean="0"/>
              <a:t>Source: http</a:t>
            </a:r>
            <a:r>
              <a:rPr lang="en-US" dirty="0"/>
              <a:t>://stackoverflow.com/questions/224569/server-transfer-vs-response-redirect</a:t>
            </a:r>
          </a:p>
        </p:txBody>
      </p:sp>
      <p:sp>
        <p:nvSpPr>
          <p:cNvPr id="4" name="Footer Placeholder 3"/>
          <p:cNvSpPr>
            <a:spLocks noGrp="1"/>
          </p:cNvSpPr>
          <p:nvPr>
            <p:ph type="ftr" sz="quarter" idx="11"/>
          </p:nvPr>
        </p:nvSpPr>
        <p:spPr/>
        <p:txBody>
          <a:bodyPr/>
          <a:lstStyle/>
          <a:p>
            <a:r>
              <a:rPr lang="en-SG" smtClean="0"/>
              <a:t>Copyright © Nanyang Polytechnic. All Rights Reserve.</a:t>
            </a:r>
            <a:endParaRPr lang="en-US"/>
          </a:p>
        </p:txBody>
      </p:sp>
    </p:spTree>
    <p:extLst>
      <p:ext uri="{BB962C8B-B14F-4D97-AF65-F5344CB8AC3E}">
        <p14:creationId xmlns:p14="http://schemas.microsoft.com/office/powerpoint/2010/main" val="282617331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1996</TotalTime>
  <Words>444</Words>
  <Application>Microsoft Office PowerPoint</Application>
  <PresentationFormat>On-screen Show (4:3)</PresentationFormat>
  <Paragraphs>60</Paragraphs>
  <Slides>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Trebuchet MS</vt:lpstr>
      <vt:lpstr>Wingdings</vt:lpstr>
      <vt:lpstr>Wingdings 3</vt:lpstr>
      <vt:lpstr>Facet</vt:lpstr>
      <vt:lpstr>Lecture A04 – Page flow navigation </vt:lpstr>
      <vt:lpstr>Overview</vt:lpstr>
      <vt:lpstr>Server.Transfer</vt:lpstr>
      <vt:lpstr>Example</vt:lpstr>
      <vt:lpstr>PreviousPage</vt:lpstr>
      <vt:lpstr>PreviousPage</vt:lpstr>
      <vt:lpstr>Summary</vt:lpstr>
      <vt:lpstr>Server.Transfer or Response.Redirect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LEE B K JOYCE</dc:creator>
  <cp:lastModifiedBy>tommy low</cp:lastModifiedBy>
  <cp:revision>346</cp:revision>
  <cp:lastPrinted>1601-01-01T00:00:00Z</cp:lastPrinted>
  <dcterms:created xsi:type="dcterms:W3CDTF">1601-01-01T00:00:00Z</dcterms:created>
  <dcterms:modified xsi:type="dcterms:W3CDTF">2017-04-19T19:36:45Z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