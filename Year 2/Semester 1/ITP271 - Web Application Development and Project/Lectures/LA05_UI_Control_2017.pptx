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9" r:id="rId1"/>
  </p:sldMasterIdLst>
  <p:notesMasterIdLst>
    <p:notesMasterId r:id="rId17"/>
  </p:notesMasterIdLst>
  <p:handoutMasterIdLst>
    <p:handoutMasterId r:id="rId18"/>
  </p:handoutMasterIdLst>
  <p:sldIdLst>
    <p:sldId id="256" r:id="rId2"/>
    <p:sldId id="311" r:id="rId3"/>
    <p:sldId id="326" r:id="rId4"/>
    <p:sldId id="331" r:id="rId5"/>
    <p:sldId id="324" r:id="rId6"/>
    <p:sldId id="327" r:id="rId7"/>
    <p:sldId id="330" r:id="rId8"/>
    <p:sldId id="313" r:id="rId9"/>
    <p:sldId id="314" r:id="rId10"/>
    <p:sldId id="315" r:id="rId11"/>
    <p:sldId id="316" r:id="rId12"/>
    <p:sldId id="317" r:id="rId13"/>
    <p:sldId id="318" r:id="rId14"/>
    <p:sldId id="322" r:id="rId15"/>
    <p:sldId id="312" r:id="rId16"/>
  </p:sldIdLst>
  <p:sldSz cx="9144000" cy="6858000" type="screen4x3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990033"/>
    <a:srgbClr val="CC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8" autoAdjust="0"/>
    <p:restoredTop sz="94270" autoAdjust="0"/>
  </p:normalViewPr>
  <p:slideViewPr>
    <p:cSldViewPr>
      <p:cViewPr varScale="1">
        <p:scale>
          <a:sx n="85" d="100"/>
          <a:sy n="85" d="100"/>
        </p:scale>
        <p:origin x="64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 smtClean="0"/>
            </a:lvl1pPr>
          </a:lstStyle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 smtClean="0"/>
            </a:lvl1pPr>
          </a:lstStyle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21BD5998-94F8-4854-9EF8-DB52035827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52953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 smtClean="0"/>
            </a:lvl1pPr>
          </a:lstStyle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 smtClean="0"/>
            </a:lvl1pPr>
          </a:lstStyle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A052C041-678E-47F6-8B01-1F12E05F4D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478332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52C041-678E-47F6-8B01-1F12E05F4D2E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208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52C041-678E-47F6-8B01-1F12E05F4D2E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265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674DBD-769A-4E72-A248-BD102BAE36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345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2F864E-D560-44A9-A022-DCF9729D1D2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0" y="1554480"/>
            <a:ext cx="533400" cy="5303520"/>
          </a:xfrm>
          <a:prstGeom prst="rect">
            <a:avLst/>
          </a:prstGeom>
          <a:solidFill>
            <a:schemeClr val="accent1"/>
          </a:solidFill>
        </p:spPr>
        <p:txBody>
          <a:bodyPr vert="eaVert" wrap="none" lIns="36000" tIns="108000" rIns="36000" bIns="36000" rtlCol="0" anchor="ctr" anchorCtr="0">
            <a:noAutofit/>
          </a:bodyPr>
          <a:lstStyle/>
          <a:p>
            <a:r>
              <a:rPr lang="en-GB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NYP</a:t>
            </a:r>
            <a:r>
              <a:rPr lang="en-GB" b="1" baseline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:: School of IT :: DEI :: ITP271 :: AY2013S1</a:t>
            </a:r>
            <a:endParaRPr lang="en-SG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30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A48EF9-AA60-4FDF-A849-0BF1FA5340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501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91D9D-44B8-4BC9-9B16-CEFFA85FDE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7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2E4ED7-70E9-4848-9D37-9C26ADCB6ED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554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0C0EFB-1A25-4008-93A3-C5712BF770E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41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F09B2-F2D3-4ACE-9FD0-52092CBC0B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3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3593BC-D136-4EDF-9399-0F72940B7C8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93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FD6A1F-F0A5-4BBB-860C-C68A5BCE692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49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66C655-D5B6-46F0-91EE-B27171D19DF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82485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66C655-D5B6-46F0-91EE-B27171D19DF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8974305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66C655-D5B6-46F0-91EE-B27171D19DF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007251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66C655-D5B6-46F0-91EE-B27171D19DF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5261723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66C655-D5B6-46F0-91EE-B27171D19DF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6280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3776DA-1D90-4C76-9567-F86AE162AA5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30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44998-C160-44A9-BEBD-3E8E7623454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3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1466C655-D5B6-46F0-91EE-B27171D19DF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44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smtClean="0"/>
              <a:t>Lecture LA05 </a:t>
            </a:r>
            <a:br>
              <a:rPr lang="en-GB" smtClean="0"/>
            </a:br>
            <a:r>
              <a:rPr lang="en-GB" smtClean="0"/>
              <a:t>UI </a:t>
            </a:r>
            <a:r>
              <a:rPr lang="en-GB" dirty="0" smtClean="0"/>
              <a:t>Control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b="1" dirty="0" smtClean="0"/>
              <a:t>ITP271 </a:t>
            </a:r>
            <a:r>
              <a:rPr lang="en-GB" b="1" dirty="0"/>
              <a:t>:: Web Application </a:t>
            </a:r>
            <a:r>
              <a:rPr lang="en-GB" b="1" dirty="0" smtClean="0"/>
              <a:t>Development &amp; Project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Label</a:t>
            </a:r>
          </a:p>
          <a:p>
            <a:pPr>
              <a:defRPr/>
            </a:pPr>
            <a:r>
              <a:rPr lang="en-US" dirty="0" smtClean="0"/>
              <a:t>Text Box</a:t>
            </a:r>
          </a:p>
          <a:p>
            <a:pPr>
              <a:defRPr/>
            </a:pPr>
            <a:r>
              <a:rPr lang="en-US" dirty="0" err="1"/>
              <a:t>DropDownList</a:t>
            </a:r>
            <a:endParaRPr lang="en-US" dirty="0"/>
          </a:p>
          <a:p>
            <a:pPr>
              <a:defRPr/>
            </a:pPr>
            <a:r>
              <a:rPr lang="en-US" dirty="0" err="1" smtClean="0"/>
              <a:t>AdRotator</a:t>
            </a:r>
            <a:endParaRPr lang="en-US" dirty="0" smtClean="0"/>
          </a:p>
          <a:p>
            <a:pPr>
              <a:defRPr/>
            </a:pPr>
            <a:r>
              <a:rPr lang="en-US" dirty="0" smtClean="0"/>
              <a:t>Table</a:t>
            </a:r>
          </a:p>
          <a:p>
            <a:pPr>
              <a:defRPr/>
            </a:pPr>
            <a:r>
              <a:rPr lang="en-US" dirty="0" smtClean="0"/>
              <a:t>Image</a:t>
            </a:r>
          </a:p>
          <a:p>
            <a:pPr>
              <a:defRPr/>
            </a:pPr>
            <a:r>
              <a:rPr lang="en-US" dirty="0" smtClean="0"/>
              <a:t>Menu</a:t>
            </a:r>
          </a:p>
          <a:p>
            <a:pPr>
              <a:defRPr/>
            </a:pPr>
            <a:r>
              <a:rPr lang="en-US" dirty="0" err="1" smtClean="0"/>
              <a:t>SiteMapPath</a:t>
            </a:r>
            <a:endParaRPr lang="en-US" dirty="0" smtClean="0"/>
          </a:p>
          <a:p>
            <a:pPr>
              <a:defRPr/>
            </a:pPr>
            <a:r>
              <a:rPr lang="en-US" dirty="0" err="1" smtClean="0"/>
              <a:t>RadioButtonList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Server UI control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ASP.NET constructs web page that is made up of web server UI control</a:t>
            </a:r>
          </a:p>
          <a:p>
            <a:r>
              <a:rPr lang="en-US" dirty="0" smtClean="0"/>
              <a:t>UI control describes  the look and feel and behavior of your page event</a:t>
            </a:r>
          </a:p>
          <a:p>
            <a:r>
              <a:rPr lang="en-US" dirty="0" smtClean="0"/>
              <a:t>UI control uses asp: markup tag</a:t>
            </a:r>
          </a:p>
          <a:p>
            <a:pPr lvl="1">
              <a:buNone/>
            </a:pPr>
            <a:r>
              <a:rPr lang="en-US" sz="2000" dirty="0" smtClean="0"/>
              <a:t>&lt;</a:t>
            </a:r>
            <a:r>
              <a:rPr lang="en-US" sz="2000" dirty="0" err="1" smtClean="0"/>
              <a:t>asp:Label</a:t>
            </a:r>
            <a:r>
              <a:rPr lang="en-US" sz="2000" dirty="0" smtClean="0"/>
              <a:t> ID="Label3" </a:t>
            </a:r>
            <a:r>
              <a:rPr lang="en-US" sz="2000" dirty="0" err="1" smtClean="0"/>
              <a:t>runat</a:t>
            </a:r>
            <a:r>
              <a:rPr lang="en-US" sz="2000" dirty="0" smtClean="0"/>
              <a:t>="server" Text="User Id"&gt;&lt;/</a:t>
            </a:r>
            <a:r>
              <a:rPr lang="en-US" sz="2000" dirty="0" err="1" smtClean="0"/>
              <a:t>asp:Label</a:t>
            </a:r>
            <a:r>
              <a:rPr lang="en-US" sz="2000" dirty="0" smtClean="0"/>
              <a:t>&gt;</a:t>
            </a:r>
            <a:endParaRPr lang="en-US" sz="20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en-US" smtClean="0"/>
              <a:t>IT1568   Copyrights © Nanyang Polytechnic</a:t>
            </a:r>
            <a:endParaRPr lang="en-GB"/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648494" y="4991100"/>
            <a:ext cx="1142206" cy="1531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2030061" y="4191000"/>
            <a:ext cx="2313340" cy="15322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5486400" y="4343400"/>
            <a:ext cx="260924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2000" y="5638800"/>
            <a:ext cx="2172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Web Server control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953000" y="5257800"/>
            <a:ext cx="114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Attribute or Property </a:t>
            </a:r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828800" y="4191000"/>
            <a:ext cx="762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71600" y="48768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Type of control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5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Server UI control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Every UI control will have a set of attributes</a:t>
            </a:r>
          </a:p>
          <a:p>
            <a:r>
              <a:rPr lang="en-US" dirty="0" smtClean="0"/>
              <a:t>ID attribute is used to name the control. It is a good practice to give a meaningful name to the control to ease the programming.</a:t>
            </a:r>
          </a:p>
          <a:p>
            <a:r>
              <a:rPr lang="en-US" dirty="0" smtClean="0"/>
              <a:t>You can directly assign the value to the attribute via Visual Studio Property pane.</a:t>
            </a:r>
          </a:p>
          <a:p>
            <a:r>
              <a:rPr lang="en-US" dirty="0" smtClean="0"/>
              <a:t>Many time we may need to programmatically assign or get the value of the property</a:t>
            </a:r>
          </a:p>
          <a:p>
            <a:endParaRPr lang="en-US" sz="20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en-US" smtClean="0"/>
              <a:t>IT1568   Copyrights © Nanyang Polytechnic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04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Label</a:t>
            </a:r>
            <a:endParaRPr lang="en-SG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598" y="2160590"/>
            <a:ext cx="7924801" cy="3880773"/>
          </a:xfrm>
        </p:spPr>
        <p:txBody>
          <a:bodyPr/>
          <a:lstStyle/>
          <a:p>
            <a:r>
              <a:rPr lang="en-SG" dirty="0"/>
              <a:t>Display text in the browser</a:t>
            </a:r>
          </a:p>
          <a:p>
            <a:r>
              <a:rPr lang="en-SG" dirty="0"/>
              <a:t>You can place the content to be displayed in the text attribute of the control</a:t>
            </a:r>
          </a:p>
          <a:p>
            <a:r>
              <a:rPr lang="en-SG" dirty="0"/>
              <a:t>&lt;</a:t>
            </a:r>
            <a:r>
              <a:rPr lang="en-SG" dirty="0" err="1"/>
              <a:t>asp:Label</a:t>
            </a:r>
            <a:r>
              <a:rPr lang="en-SG" dirty="0"/>
              <a:t> ID="</a:t>
            </a:r>
            <a:r>
              <a:rPr lang="en-SG" dirty="0" err="1"/>
              <a:t>Lblmsg</a:t>
            </a:r>
            <a:r>
              <a:rPr lang="en-SG" dirty="0"/>
              <a:t>" </a:t>
            </a:r>
            <a:r>
              <a:rPr lang="en-SG" dirty="0" err="1"/>
              <a:t>runat</a:t>
            </a:r>
            <a:r>
              <a:rPr lang="en-SG" dirty="0"/>
              <a:t>="server" Text=“Name required "&gt; &lt;/</a:t>
            </a:r>
            <a:r>
              <a:rPr lang="en-SG" dirty="0" err="1"/>
              <a:t>asp:Label</a:t>
            </a:r>
            <a:r>
              <a:rPr lang="en-SG" dirty="0"/>
              <a:t>&gt;</a:t>
            </a:r>
          </a:p>
          <a:p>
            <a:r>
              <a:rPr lang="en-SG" dirty="0"/>
              <a:t>You can also provide content via programmatic means in your code behind page</a:t>
            </a:r>
          </a:p>
          <a:p>
            <a:r>
              <a:rPr lang="en-SG" dirty="0" err="1"/>
              <a:t>Lblmsg.Text</a:t>
            </a:r>
            <a:r>
              <a:rPr lang="en-SG" dirty="0"/>
              <a:t> = “Name required”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3581400" cy="457200"/>
          </a:xfrm>
          <a:prstGeom prst="rect">
            <a:avLst/>
          </a:prstGeom>
          <a:solidFill>
            <a:schemeClr val="accent2">
              <a:lumMod val="20000"/>
              <a:lumOff val="80000"/>
              <a:alpha val="29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/>
          <p:cNvSpPr/>
          <p:nvPr/>
        </p:nvSpPr>
        <p:spPr>
          <a:xfrm>
            <a:off x="4800600" y="3218566"/>
            <a:ext cx="2717200" cy="336697"/>
          </a:xfrm>
          <a:prstGeom prst="rect">
            <a:avLst/>
          </a:prstGeom>
          <a:solidFill>
            <a:schemeClr val="accent2">
              <a:lumMod val="20000"/>
              <a:lumOff val="80000"/>
              <a:alpha val="29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15855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Textbox server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Provides a text box for user to input text</a:t>
            </a:r>
          </a:p>
          <a:p>
            <a:pPr lvl="1">
              <a:buNone/>
            </a:pPr>
            <a:r>
              <a:rPr lang="en-US" sz="1800" dirty="0" smtClean="0"/>
              <a:t>&lt;</a:t>
            </a:r>
            <a:r>
              <a:rPr lang="en-US" sz="1800" dirty="0" err="1" smtClean="0"/>
              <a:t>asp:TextBox</a:t>
            </a:r>
            <a:r>
              <a:rPr lang="en-US" sz="1800" dirty="0" smtClean="0"/>
              <a:t> ID="</a:t>
            </a:r>
            <a:r>
              <a:rPr lang="en-US" sz="1800" dirty="0" err="1" smtClean="0"/>
              <a:t>txtPassword</a:t>
            </a:r>
            <a:r>
              <a:rPr lang="en-US" sz="1800" dirty="0" smtClean="0"/>
              <a:t>" </a:t>
            </a:r>
            <a:r>
              <a:rPr lang="en-US" sz="1800" dirty="0" err="1" smtClean="0"/>
              <a:t>runat</a:t>
            </a:r>
            <a:r>
              <a:rPr lang="en-US" sz="1800" dirty="0" smtClean="0"/>
              <a:t>="server" </a:t>
            </a:r>
            <a:r>
              <a:rPr lang="en-US" sz="1800" dirty="0" err="1" smtClean="0"/>
              <a:t>TextMode</a:t>
            </a:r>
            <a:r>
              <a:rPr lang="en-US" sz="1800" dirty="0" smtClean="0"/>
              <a:t>="Password"&gt; &lt;/</a:t>
            </a:r>
            <a:r>
              <a:rPr lang="en-US" sz="1800" dirty="0" err="1" smtClean="0"/>
              <a:t>asp:TextBox</a:t>
            </a:r>
            <a:r>
              <a:rPr lang="en-US" sz="1800" dirty="0" smtClean="0"/>
              <a:t>&gt;</a:t>
            </a:r>
          </a:p>
          <a:p>
            <a:r>
              <a:rPr lang="en-US" dirty="0" smtClean="0"/>
              <a:t>Important attribute for textbox :</a:t>
            </a:r>
          </a:p>
          <a:p>
            <a:pPr lvl="1"/>
            <a:r>
              <a:rPr lang="en-US" dirty="0" err="1" smtClean="0"/>
              <a:t>TextMode</a:t>
            </a:r>
            <a:r>
              <a:rPr lang="en-US" dirty="0" smtClean="0"/>
              <a:t> – “Password”  will encode input as ****</a:t>
            </a:r>
          </a:p>
          <a:p>
            <a:pPr lvl="1">
              <a:buNone/>
            </a:pPr>
            <a:r>
              <a:rPr lang="en-US" dirty="0" smtClean="0"/>
              <a:t>			   “Multiline”  create multi line text</a:t>
            </a:r>
          </a:p>
          <a:p>
            <a:pPr lvl="1"/>
            <a:r>
              <a:rPr lang="en-US" dirty="0" smtClean="0"/>
              <a:t>Text – </a:t>
            </a:r>
          </a:p>
          <a:p>
            <a:pPr lvl="2"/>
            <a:r>
              <a:rPr lang="en-US" dirty="0" smtClean="0"/>
              <a:t>get the value from text box  </a:t>
            </a:r>
          </a:p>
          <a:p>
            <a:pPr marL="685800" lvl="2" indent="0">
              <a:buNone/>
            </a:pPr>
            <a:r>
              <a:rPr lang="en-US" sz="2000" dirty="0" smtClean="0"/>
              <a:t>	If (</a:t>
            </a:r>
            <a:r>
              <a:rPr lang="en-US" sz="2000" dirty="0" err="1" smtClean="0"/>
              <a:t>txtPassword.Text</a:t>
            </a:r>
            <a:r>
              <a:rPr lang="en-US" sz="2000" dirty="0" smtClean="0"/>
              <a:t> = = " " )</a:t>
            </a:r>
          </a:p>
          <a:p>
            <a:pPr marL="685800" lvl="2" indent="0">
              <a:buNone/>
            </a:pPr>
            <a:endParaRPr lang="en-US" sz="2000" dirty="0" smtClean="0"/>
          </a:p>
          <a:p>
            <a:pPr lvl="2"/>
            <a:r>
              <a:rPr lang="en-US" sz="2000" dirty="0" smtClean="0"/>
              <a:t>Assign value to text box from database or object</a:t>
            </a:r>
          </a:p>
          <a:p>
            <a:pPr marL="1143000" lvl="3" indent="0">
              <a:buNone/>
            </a:pPr>
            <a:r>
              <a:rPr lang="en-US" dirty="0" err="1" smtClean="0"/>
              <a:t>txtName.Text</a:t>
            </a:r>
            <a:r>
              <a:rPr lang="en-US" dirty="0" smtClean="0"/>
              <a:t> = customer.name</a:t>
            </a:r>
          </a:p>
          <a:p>
            <a:pPr lvl="1">
              <a:buNone/>
            </a:pP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en-US" smtClean="0"/>
              <a:t>IT1568   Copyrights © Nanyang Polytechnic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891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Dropdown </a:t>
            </a:r>
            <a:r>
              <a:rPr lang="en-US" dirty="0"/>
              <a:t>list server control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76400"/>
            <a:ext cx="8153400" cy="4648200"/>
          </a:xfrm>
        </p:spPr>
        <p:txBody>
          <a:bodyPr>
            <a:normAutofit/>
          </a:bodyPr>
          <a:lstStyle/>
          <a:p>
            <a:r>
              <a:rPr lang="en-US" dirty="0" smtClean="0"/>
              <a:t>Display list of item for user to select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Dropdown list can be a collection of items specified in property</a:t>
            </a:r>
          </a:p>
          <a:p>
            <a:pPr lvl="1">
              <a:buNone/>
            </a:pPr>
            <a:r>
              <a:rPr lang="en-US" sz="1700" dirty="0" smtClean="0"/>
              <a:t>&lt;</a:t>
            </a:r>
            <a:r>
              <a:rPr lang="en-US" sz="1700" dirty="0" err="1" smtClean="0"/>
              <a:t>asp:DropDownList</a:t>
            </a:r>
            <a:r>
              <a:rPr lang="en-US" sz="1700" dirty="0" smtClean="0"/>
              <a:t> ID="</a:t>
            </a:r>
            <a:r>
              <a:rPr lang="en-US" sz="1700" dirty="0" err="1" smtClean="0"/>
              <a:t>ddlCountry</a:t>
            </a:r>
            <a:r>
              <a:rPr lang="en-US" sz="1700" dirty="0" smtClean="0"/>
              <a:t>" </a:t>
            </a:r>
            <a:r>
              <a:rPr lang="en-US" sz="1700" dirty="0" err="1" smtClean="0"/>
              <a:t>runat</a:t>
            </a:r>
            <a:r>
              <a:rPr lang="en-US" sz="1700" dirty="0" smtClean="0"/>
              <a:t>="server" </a:t>
            </a:r>
          </a:p>
          <a:p>
            <a:pPr lvl="1">
              <a:buNone/>
            </a:pPr>
            <a:r>
              <a:rPr lang="en-US" sz="1700" dirty="0" smtClean="0"/>
              <a:t>                    &lt;</a:t>
            </a:r>
            <a:r>
              <a:rPr lang="en-US" sz="1700" dirty="0" err="1" smtClean="0"/>
              <a:t>asp:ListItem</a:t>
            </a:r>
            <a:r>
              <a:rPr lang="en-US" sz="1700" dirty="0" smtClean="0"/>
              <a:t>&gt;Singapore&lt;/</a:t>
            </a:r>
            <a:r>
              <a:rPr lang="en-US" sz="1700" dirty="0" err="1" smtClean="0"/>
              <a:t>asp:ListItem</a:t>
            </a:r>
            <a:r>
              <a:rPr lang="en-US" sz="1700" dirty="0" smtClean="0"/>
              <a:t>&gt;</a:t>
            </a:r>
          </a:p>
          <a:p>
            <a:pPr lvl="1">
              <a:buNone/>
            </a:pPr>
            <a:r>
              <a:rPr lang="en-US" sz="1700" dirty="0" smtClean="0"/>
              <a:t>                    &lt;</a:t>
            </a:r>
            <a:r>
              <a:rPr lang="en-US" sz="1700" dirty="0" err="1" smtClean="0"/>
              <a:t>asp:ListItem</a:t>
            </a:r>
            <a:r>
              <a:rPr lang="en-US" sz="1700" dirty="0" smtClean="0"/>
              <a:t>&gt;Malaysia&lt;/</a:t>
            </a:r>
            <a:r>
              <a:rPr lang="en-US" sz="1700" dirty="0" err="1" smtClean="0"/>
              <a:t>asp:ListItem</a:t>
            </a:r>
            <a:r>
              <a:rPr lang="en-US" sz="1700" dirty="0" smtClean="0"/>
              <a:t>&gt;</a:t>
            </a:r>
          </a:p>
          <a:p>
            <a:pPr lvl="1">
              <a:buNone/>
            </a:pPr>
            <a:r>
              <a:rPr lang="en-US" sz="1700" dirty="0" smtClean="0"/>
              <a:t>                    &lt;</a:t>
            </a:r>
            <a:r>
              <a:rPr lang="en-US" sz="1700" dirty="0" err="1" smtClean="0"/>
              <a:t>asp:ListItem</a:t>
            </a:r>
            <a:r>
              <a:rPr lang="en-US" sz="1700" dirty="0" smtClean="0"/>
              <a:t>&gt;Indonesia&lt;/</a:t>
            </a:r>
            <a:r>
              <a:rPr lang="en-US" sz="1700" dirty="0" err="1" smtClean="0"/>
              <a:t>asp:ListItem</a:t>
            </a:r>
            <a:r>
              <a:rPr lang="en-US" sz="1700" dirty="0" smtClean="0"/>
              <a:t>&gt;</a:t>
            </a:r>
          </a:p>
          <a:p>
            <a:pPr lvl="1">
              <a:buNone/>
            </a:pPr>
            <a:r>
              <a:rPr lang="en-US" sz="1700" dirty="0" smtClean="0"/>
              <a:t>&lt;/</a:t>
            </a:r>
            <a:r>
              <a:rPr lang="en-US" sz="1700" dirty="0" err="1" smtClean="0"/>
              <a:t>asp:DropDownList</a:t>
            </a:r>
            <a:r>
              <a:rPr lang="en-US" sz="1400" dirty="0" smtClean="0"/>
              <a:t>&gt;</a:t>
            </a:r>
          </a:p>
          <a:p>
            <a:r>
              <a:rPr lang="en-US" dirty="0" smtClean="0"/>
              <a:t>Usually we program the code to get the selected item </a:t>
            </a:r>
          </a:p>
          <a:p>
            <a:pPr>
              <a:buNone/>
            </a:pPr>
            <a:r>
              <a:rPr lang="en-US" sz="1800" dirty="0" smtClean="0"/>
              <a:t>		String Item = </a:t>
            </a:r>
            <a:r>
              <a:rPr lang="en-US" sz="1800" dirty="0" err="1" smtClean="0"/>
              <a:t>ddlCountry.SelectedItem.Text</a:t>
            </a:r>
            <a:r>
              <a:rPr lang="en-US" sz="1800" dirty="0" smtClean="0"/>
              <a:t>     or</a:t>
            </a:r>
          </a:p>
          <a:p>
            <a:pPr>
              <a:buNone/>
            </a:pPr>
            <a:r>
              <a:rPr lang="en-US" sz="1800" dirty="0" smtClean="0"/>
              <a:t>         	String </a:t>
            </a:r>
            <a:r>
              <a:rPr lang="en-US" sz="1800" dirty="0" err="1" smtClean="0"/>
              <a:t>ItemValue</a:t>
            </a:r>
            <a:r>
              <a:rPr lang="en-US" sz="1800" dirty="0" smtClean="0"/>
              <a:t> = </a:t>
            </a:r>
            <a:r>
              <a:rPr lang="en-US" sz="1800" dirty="0" err="1" smtClean="0"/>
              <a:t>ddlCountry.SelectedItem.Value</a:t>
            </a:r>
            <a:r>
              <a:rPr lang="en-US" sz="1800" dirty="0" smtClean="0"/>
              <a:t> or</a:t>
            </a:r>
          </a:p>
          <a:p>
            <a:pPr>
              <a:buNone/>
            </a:pPr>
            <a:r>
              <a:rPr lang="en-US" sz="1800" dirty="0" smtClean="0"/>
              <a:t>         	</a:t>
            </a:r>
            <a:r>
              <a:rPr lang="en-US" sz="1800" dirty="0" err="1" smtClean="0"/>
              <a:t>int</a:t>
            </a:r>
            <a:r>
              <a:rPr lang="en-US" sz="1800" dirty="0" smtClean="0"/>
              <a:t>       </a:t>
            </a:r>
            <a:r>
              <a:rPr lang="en-US" sz="1800" dirty="0" err="1" smtClean="0"/>
              <a:t>ItemIdx</a:t>
            </a:r>
            <a:r>
              <a:rPr lang="en-US" sz="1800" dirty="0" smtClean="0"/>
              <a:t> = </a:t>
            </a:r>
            <a:r>
              <a:rPr lang="en-US" sz="1800" dirty="0" err="1" smtClean="0"/>
              <a:t>ddlCountry.SelectedIndex</a:t>
            </a:r>
            <a:r>
              <a:rPr lang="en-US" sz="1800" dirty="0" smtClean="0"/>
              <a:t> </a:t>
            </a:r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en-US" smtClean="0"/>
              <a:t>IT1568   Copyrights © Nanyang Polytechnic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920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AdRotator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Display different advertisement image each time the page is loaded</a:t>
            </a:r>
          </a:p>
          <a:p>
            <a:pPr>
              <a:defRPr/>
            </a:pPr>
            <a:r>
              <a:rPr lang="en-US" dirty="0" smtClean="0"/>
              <a:t>The advertisement page is described in a xml file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Ad XML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66234"/>
            <a:ext cx="8229600" cy="388077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sz="1800" dirty="0" smtClean="0"/>
              <a:t>&lt;?xml version="1.0" encoding="utf-8" ?&gt;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800" dirty="0" smtClean="0"/>
              <a:t>&lt;Advertisements&gt;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800" dirty="0" smtClean="0"/>
              <a:t>  &lt;Ad&gt;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800" dirty="0" smtClean="0"/>
              <a:t>    &lt;</a:t>
            </a:r>
            <a:r>
              <a:rPr lang="en-US" sz="1800" dirty="0" err="1" smtClean="0"/>
              <a:t>ImageUrl</a:t>
            </a:r>
            <a:r>
              <a:rPr lang="en-US" sz="1800" dirty="0" smtClean="0"/>
              <a:t>&gt;images/calculatorfinal.jpg&lt;/</a:t>
            </a:r>
            <a:r>
              <a:rPr lang="en-US" sz="1800" dirty="0" err="1" smtClean="0"/>
              <a:t>ImageUrl</a:t>
            </a:r>
            <a:r>
              <a:rPr lang="en-US" sz="1800" dirty="0" smtClean="0"/>
              <a:t>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800" dirty="0" smtClean="0"/>
              <a:t>    &lt;</a:t>
            </a:r>
            <a:r>
              <a:rPr lang="en-US" sz="1800" dirty="0" err="1" smtClean="0"/>
              <a:t>NavigateUrl</a:t>
            </a:r>
            <a:r>
              <a:rPr lang="en-US" sz="1800" dirty="0" smtClean="0"/>
              <a:t>&gt;http://</a:t>
            </a:r>
            <a:r>
              <a:rPr lang="en-US" sz="1800" dirty="0" smtClean="0"/>
              <a:t>www.realtimeindicators.com/calculators.html</a:t>
            </a:r>
          </a:p>
          <a:p>
            <a:pPr>
              <a:buFont typeface="Wingdings" pitchFamily="2" charset="2"/>
              <a:buNone/>
              <a:defRPr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sz="1800" dirty="0" smtClean="0"/>
              <a:t>&lt;/</a:t>
            </a:r>
            <a:r>
              <a:rPr lang="en-US" sz="1800" dirty="0" smtClean="0"/>
              <a:t>NavigateUrl&gt;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800" dirty="0" smtClean="0"/>
              <a:t>    &lt;</a:t>
            </a:r>
            <a:r>
              <a:rPr lang="en-US" sz="1800" dirty="0" err="1" smtClean="0"/>
              <a:t>AlternateText</a:t>
            </a:r>
            <a:r>
              <a:rPr lang="en-US" sz="1800" dirty="0" smtClean="0"/>
              <a:t>&gt;Calculators&lt;/</a:t>
            </a:r>
            <a:r>
              <a:rPr lang="en-US" sz="1800" dirty="0" err="1" smtClean="0"/>
              <a:t>AlternateText</a:t>
            </a:r>
            <a:r>
              <a:rPr lang="en-US" sz="1800" dirty="0" smtClean="0"/>
              <a:t>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800" dirty="0" smtClean="0"/>
              <a:t>    &lt;Impressions&gt;50&lt;/Impressions&gt;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800" dirty="0" smtClean="0"/>
              <a:t>    &lt;Keyword&gt;General Calculator&lt;/Keyword&gt;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800" dirty="0" smtClean="0"/>
              <a:t>  &lt;/Ad&gt;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800" dirty="0" smtClean="0"/>
              <a:t>&lt;Advertisements&gt;</a:t>
            </a:r>
          </a:p>
          <a:p>
            <a:pPr>
              <a:buFont typeface="Wingdings" pitchFamily="2" charset="2"/>
              <a:buNone/>
              <a:defRPr/>
            </a:pPr>
            <a:endParaRPr lang="en-US" sz="18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AdRotator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pic>
        <p:nvPicPr>
          <p:cNvPr id="717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524000"/>
            <a:ext cx="3429000" cy="4865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Allow more properties setting compare to the HTML table</a:t>
            </a:r>
          </a:p>
          <a:p>
            <a:pPr>
              <a:defRPr/>
            </a:pPr>
            <a:r>
              <a:rPr lang="en-US" dirty="0" smtClean="0"/>
              <a:t>Can make use of Theme</a:t>
            </a:r>
          </a:p>
          <a:p>
            <a:pPr>
              <a:defRPr/>
            </a:pPr>
            <a:r>
              <a:rPr lang="en-US" dirty="0" smtClean="0"/>
              <a:t>Table control is used in conjunction with table row and table cell control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Table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4600" y="2057400"/>
          <a:ext cx="6096000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682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TableCell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TableCell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TableCell</a:t>
                      </a:r>
                      <a:endParaRPr lang="en-US" sz="1800" dirty="0"/>
                    </a:p>
                  </a:txBody>
                  <a:tcPr marT="45700" marB="45700"/>
                </a:tc>
              </a:tr>
              <a:tr h="370682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TableCell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TableCell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TableCell</a:t>
                      </a:r>
                      <a:endParaRPr lang="en-US" sz="1800" dirty="0"/>
                    </a:p>
                  </a:txBody>
                  <a:tcPr marT="45700" marB="45700"/>
                </a:tc>
              </a:tr>
            </a:tbl>
          </a:graphicData>
        </a:graphic>
      </p:graphicFrame>
      <p:sp>
        <p:nvSpPr>
          <p:cNvPr id="9233" name="Rectangle 4"/>
          <p:cNvSpPr>
            <a:spLocks noChangeArrowheads="1"/>
          </p:cNvSpPr>
          <p:nvPr/>
        </p:nvSpPr>
        <p:spPr bwMode="auto">
          <a:xfrm>
            <a:off x="609600" y="1945341"/>
            <a:ext cx="1198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dirty="0" err="1"/>
              <a:t>TableRow</a:t>
            </a:r>
            <a:endParaRPr lang="en-US" dirty="0"/>
          </a:p>
        </p:txBody>
      </p:sp>
      <p:cxnSp>
        <p:nvCxnSpPr>
          <p:cNvPr id="9234" name="Straight Arrow Connector 6"/>
          <p:cNvCxnSpPr>
            <a:cxnSpLocks noChangeShapeType="1"/>
          </p:cNvCxnSpPr>
          <p:nvPr/>
        </p:nvCxnSpPr>
        <p:spPr bwMode="auto">
          <a:xfrm>
            <a:off x="1524000" y="2156011"/>
            <a:ext cx="935037" cy="444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35" name="Straight Arrow Connector 10"/>
          <p:cNvCxnSpPr>
            <a:cxnSpLocks noChangeShapeType="1"/>
          </p:cNvCxnSpPr>
          <p:nvPr/>
        </p:nvCxnSpPr>
        <p:spPr bwMode="auto">
          <a:xfrm>
            <a:off x="1685365" y="2142938"/>
            <a:ext cx="858837" cy="4254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36" name="Rectangle 11"/>
          <p:cNvSpPr>
            <a:spLocks noChangeArrowheads="1"/>
          </p:cNvSpPr>
          <p:nvPr/>
        </p:nvSpPr>
        <p:spPr bwMode="auto">
          <a:xfrm>
            <a:off x="609600" y="3429000"/>
            <a:ext cx="80010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/>
            <a:r>
              <a:rPr lang="en-US" sz="2400" dirty="0">
                <a:latin typeface="+mn-lt"/>
                <a:cs typeface="Calibri" pitchFamily="34" charset="0"/>
              </a:rPr>
              <a:t>row = new </a:t>
            </a:r>
            <a:r>
              <a:rPr lang="en-US" sz="2400" dirty="0" err="1">
                <a:latin typeface="+mn-lt"/>
                <a:cs typeface="Calibri" pitchFamily="34" charset="0"/>
              </a:rPr>
              <a:t>TableRow</a:t>
            </a:r>
            <a:r>
              <a:rPr lang="en-US" sz="2400" dirty="0">
                <a:latin typeface="+mn-lt"/>
                <a:cs typeface="Calibri" pitchFamily="34" charset="0"/>
              </a:rPr>
              <a:t>();</a:t>
            </a:r>
          </a:p>
          <a:p>
            <a:r>
              <a:rPr lang="en-US" sz="2400" dirty="0" err="1" smtClean="0">
                <a:latin typeface="+mn-lt"/>
                <a:cs typeface="Calibri" pitchFamily="34" charset="0"/>
              </a:rPr>
              <a:t>TableRate.Rows.Add</a:t>
            </a:r>
            <a:r>
              <a:rPr lang="en-US" sz="2400" dirty="0" smtClean="0">
                <a:latin typeface="+mn-lt"/>
                <a:cs typeface="Calibri" pitchFamily="34" charset="0"/>
              </a:rPr>
              <a:t>(row</a:t>
            </a:r>
            <a:r>
              <a:rPr lang="en-US" sz="2400" dirty="0">
                <a:latin typeface="+mn-lt"/>
                <a:cs typeface="Calibri" pitchFamily="34" charset="0"/>
              </a:rPr>
              <a:t>);       </a:t>
            </a:r>
            <a:r>
              <a:rPr lang="en-US" sz="2400" dirty="0" smtClean="0">
                <a:latin typeface="+mn-lt"/>
                <a:cs typeface="Calibri" pitchFamily="34" charset="0"/>
              </a:rPr>
              <a:t>// </a:t>
            </a:r>
            <a:r>
              <a:rPr lang="en-US" sz="2400" dirty="0">
                <a:latin typeface="+mn-lt"/>
                <a:cs typeface="Calibri" pitchFamily="34" charset="0"/>
              </a:rPr>
              <a:t>add the row into the table</a:t>
            </a:r>
          </a:p>
          <a:p>
            <a:endParaRPr lang="en-US" sz="2400" dirty="0">
              <a:latin typeface="+mn-lt"/>
              <a:cs typeface="Calibri" pitchFamily="34" charset="0"/>
            </a:endParaRPr>
          </a:p>
          <a:p>
            <a:r>
              <a:rPr lang="en-US" sz="2400" dirty="0" smtClean="0">
                <a:latin typeface="+mn-lt"/>
                <a:cs typeface="Calibri" pitchFamily="34" charset="0"/>
              </a:rPr>
              <a:t>cell </a:t>
            </a:r>
            <a:r>
              <a:rPr lang="en-US" sz="2400" dirty="0">
                <a:latin typeface="+mn-lt"/>
                <a:cs typeface="Calibri" pitchFamily="34" charset="0"/>
              </a:rPr>
              <a:t>= new </a:t>
            </a:r>
            <a:r>
              <a:rPr lang="en-US" sz="2400" dirty="0" err="1">
                <a:latin typeface="+mn-lt"/>
                <a:cs typeface="Calibri" pitchFamily="34" charset="0"/>
              </a:rPr>
              <a:t>TableCell</a:t>
            </a:r>
            <a:r>
              <a:rPr lang="en-US" sz="2400" dirty="0">
                <a:latin typeface="+mn-lt"/>
                <a:cs typeface="Calibri" pitchFamily="34" charset="0"/>
              </a:rPr>
              <a:t>();</a:t>
            </a:r>
          </a:p>
          <a:p>
            <a:r>
              <a:rPr lang="en-US" sz="2400" dirty="0" err="1" smtClean="0">
                <a:latin typeface="+mn-lt"/>
                <a:cs typeface="Calibri" pitchFamily="34" charset="0"/>
              </a:rPr>
              <a:t>cell.Text</a:t>
            </a:r>
            <a:r>
              <a:rPr lang="en-US" sz="2400" dirty="0" smtClean="0">
                <a:latin typeface="+mn-lt"/>
                <a:cs typeface="Calibri" pitchFamily="34" charset="0"/>
              </a:rPr>
              <a:t> </a:t>
            </a:r>
            <a:r>
              <a:rPr lang="en-US" sz="2400" dirty="0">
                <a:latin typeface="+mn-lt"/>
                <a:cs typeface="Calibri" pitchFamily="34" charset="0"/>
              </a:rPr>
              <a:t>= "Employee Age(years)";</a:t>
            </a:r>
          </a:p>
          <a:p>
            <a:r>
              <a:rPr lang="en-US" sz="2400" dirty="0" err="1" smtClean="0">
                <a:latin typeface="+mn-lt"/>
                <a:cs typeface="Calibri" pitchFamily="34" charset="0"/>
              </a:rPr>
              <a:t>row.Cells.Add</a:t>
            </a:r>
            <a:r>
              <a:rPr lang="en-US" sz="2400" dirty="0" smtClean="0">
                <a:latin typeface="+mn-lt"/>
                <a:cs typeface="Calibri" pitchFamily="34" charset="0"/>
              </a:rPr>
              <a:t>(cell</a:t>
            </a:r>
            <a:r>
              <a:rPr lang="en-US" sz="2400" dirty="0">
                <a:latin typeface="+mn-lt"/>
                <a:cs typeface="Calibri" pitchFamily="34" charset="0"/>
              </a:rPr>
              <a:t>); </a:t>
            </a:r>
            <a:r>
              <a:rPr lang="en-US" sz="2400" dirty="0" smtClean="0">
                <a:latin typeface="+mn-lt"/>
                <a:cs typeface="Calibri" pitchFamily="34" charset="0"/>
              </a:rPr>
              <a:t>              // </a:t>
            </a:r>
            <a:r>
              <a:rPr lang="en-US" sz="2400" dirty="0">
                <a:latin typeface="+mn-lt"/>
                <a:cs typeface="Calibri" pitchFamily="34" charset="0"/>
              </a:rPr>
              <a:t>add the cell into the row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Image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Just drag and drop a image control and set the </a:t>
            </a:r>
            <a:r>
              <a:rPr lang="en-US" dirty="0" err="1" smtClean="0"/>
              <a:t>ImageUrl</a:t>
            </a:r>
            <a:r>
              <a:rPr lang="en-US" dirty="0" smtClean="0"/>
              <a:t> property to image source</a:t>
            </a:r>
          </a:p>
          <a:p>
            <a:r>
              <a:rPr lang="en-GB" dirty="0" smtClean="0"/>
              <a:t>Dynamically we could also assign the image to the </a:t>
            </a:r>
            <a:r>
              <a:rPr lang="en-GB" dirty="0" err="1" smtClean="0"/>
              <a:t>ImageUrl</a:t>
            </a:r>
            <a:r>
              <a:rPr lang="en-GB" dirty="0" smtClean="0"/>
              <a:t>. </a:t>
            </a:r>
            <a:r>
              <a:rPr lang="en-GB" dirty="0" err="1" smtClean="0"/>
              <a:t>Eg</a:t>
            </a:r>
            <a:r>
              <a:rPr lang="en-GB" dirty="0" smtClean="0"/>
              <a:t> in shopping cart the products images can be retrieved from server</a:t>
            </a:r>
            <a:endParaRPr lang="en-SG" dirty="0"/>
          </a:p>
        </p:txBody>
      </p:sp>
      <p:pic>
        <p:nvPicPr>
          <p:cNvPr id="13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76400"/>
            <a:ext cx="4271963" cy="441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10244" name="Oval 4"/>
          <p:cNvSpPr>
            <a:spLocks noChangeArrowheads="1"/>
          </p:cNvSpPr>
          <p:nvPr/>
        </p:nvSpPr>
        <p:spPr bwMode="auto">
          <a:xfrm>
            <a:off x="6248400" y="5334000"/>
            <a:ext cx="2743200" cy="4572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RadioButtonList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A Group of exclusive radio button</a:t>
            </a:r>
          </a:p>
          <a:p>
            <a:pPr>
              <a:defRPr/>
            </a:pPr>
            <a:r>
              <a:rPr lang="en-US" dirty="0" smtClean="0"/>
              <a:t>Only one button can be selected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 smtClean="0"/>
              <a:t>Usually we check the value of radio button that is clicked.</a:t>
            </a:r>
          </a:p>
          <a:p>
            <a:pPr lvl="1">
              <a:defRPr/>
            </a:pPr>
            <a:r>
              <a:rPr lang="en-SG" dirty="0"/>
              <a:t>if (</a:t>
            </a:r>
            <a:r>
              <a:rPr lang="en-SG" dirty="0" err="1"/>
              <a:t>RadioButtonListWageCap.SelectedValue</a:t>
            </a:r>
            <a:r>
              <a:rPr lang="en-SG" dirty="0"/>
              <a:t> == "Yes")</a:t>
            </a:r>
          </a:p>
          <a:p>
            <a:pPr marL="365760" lvl="1" indent="0">
              <a:buNone/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pic>
        <p:nvPicPr>
          <p:cNvPr id="1434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047" y="2895600"/>
            <a:ext cx="3348038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Control</a:t>
            </a:r>
          </a:p>
          <a:p>
            <a:pPr>
              <a:defRPr/>
            </a:pPr>
            <a:r>
              <a:rPr lang="en-US" smtClean="0"/>
              <a:t>Initialize Control Dynamically</a:t>
            </a:r>
          </a:p>
          <a:p>
            <a:pPr>
              <a:defRPr/>
            </a:pPr>
            <a:endParaRPr lang="en-US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1967</TotalTime>
  <Words>717</Words>
  <Application>Microsoft Office PowerPoint</Application>
  <PresentationFormat>On-screen Show (4:3)</PresentationFormat>
  <Paragraphs>124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Trebuchet MS</vt:lpstr>
      <vt:lpstr>Wingdings</vt:lpstr>
      <vt:lpstr>Wingdings 3</vt:lpstr>
      <vt:lpstr>Facet</vt:lpstr>
      <vt:lpstr>Lecture LA05  UI Control</vt:lpstr>
      <vt:lpstr>Overview</vt:lpstr>
      <vt:lpstr>Web Server UI control</vt:lpstr>
      <vt:lpstr>Web Server UI control</vt:lpstr>
      <vt:lpstr>Label</vt:lpstr>
      <vt:lpstr>Textbox server control</vt:lpstr>
      <vt:lpstr> Dropdown list server control </vt:lpstr>
      <vt:lpstr>AdRotator</vt:lpstr>
      <vt:lpstr>Ad XML file</vt:lpstr>
      <vt:lpstr>AdRotator</vt:lpstr>
      <vt:lpstr>Table</vt:lpstr>
      <vt:lpstr>Table</vt:lpstr>
      <vt:lpstr>Image</vt:lpstr>
      <vt:lpstr>RadioButtonList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PHUA VINCENT</dc:creator>
  <cp:lastModifiedBy>tommy low</cp:lastModifiedBy>
  <cp:revision>299</cp:revision>
  <cp:lastPrinted>2012-04-06T13:16:04Z</cp:lastPrinted>
  <dcterms:created xsi:type="dcterms:W3CDTF">1601-01-01T00:00:00Z</dcterms:created>
  <dcterms:modified xsi:type="dcterms:W3CDTF">2018-05-03T09:15:30Z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