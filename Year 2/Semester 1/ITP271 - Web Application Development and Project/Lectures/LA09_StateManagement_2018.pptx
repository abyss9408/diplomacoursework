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5" r:id="rId1"/>
  </p:sldMasterIdLst>
  <p:notesMasterIdLst>
    <p:notesMasterId r:id="rId20"/>
  </p:notesMasterIdLst>
  <p:handoutMasterIdLst>
    <p:handoutMasterId r:id="rId21"/>
  </p:handoutMasterIdLst>
  <p:sldIdLst>
    <p:sldId id="256" r:id="rId2"/>
    <p:sldId id="324" r:id="rId3"/>
    <p:sldId id="332" r:id="rId4"/>
    <p:sldId id="335" r:id="rId5"/>
    <p:sldId id="336" r:id="rId6"/>
    <p:sldId id="334" r:id="rId7"/>
    <p:sldId id="326" r:id="rId8"/>
    <p:sldId id="327" r:id="rId9"/>
    <p:sldId id="338" r:id="rId10"/>
    <p:sldId id="337" r:id="rId11"/>
    <p:sldId id="339" r:id="rId12"/>
    <p:sldId id="340" r:id="rId13"/>
    <p:sldId id="330" r:id="rId14"/>
    <p:sldId id="331" r:id="rId15"/>
    <p:sldId id="341" r:id="rId16"/>
    <p:sldId id="329" r:id="rId17"/>
    <p:sldId id="322" r:id="rId18"/>
    <p:sldId id="323" r:id="rId19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990033"/>
    <a:srgbClr val="FFFF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9" autoAdjust="0"/>
    <p:restoredTop sz="94131" autoAdjust="0"/>
  </p:normalViewPr>
  <p:slideViewPr>
    <p:cSldViewPr>
      <p:cViewPr varScale="1">
        <p:scale>
          <a:sx n="85" d="100"/>
          <a:sy n="85" d="100"/>
        </p:scale>
        <p:origin x="59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2218" y="-82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185CB0D0-C812-48DE-9063-3C1273E547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6661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A1D389FC-E2B0-4036-8D23-AEA686E19C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88053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D389FC-E2B0-4036-8D23-AEA686E19CFE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492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D389FC-E2B0-4036-8D23-AEA686E19CFE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478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ITP271 Web Applications Development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D389FC-E2B0-4036-8D23-AEA686E19CFE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271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4B07D-FF3F-4DE8-955C-9F89891542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72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5AFDB-492E-4AE1-8CD4-AF88D0A3012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6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C0CDA7-988E-49A9-8215-0CA28EA1B4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0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124C5B-BB9D-4BA8-A9D1-B031856802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3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3CE116-1D2B-40D7-A527-65BD37C83A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7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D2FAE7-B6BC-4401-8A5E-3B40F1CA40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50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E438B-4AEA-407B-8472-9D9F88CD13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7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988D6E-C058-4FDF-8537-BB536B18EC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7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40E061-0FCD-44D9-B67F-2B82E2A21D2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96DC02-2D0C-4DCE-B3CC-4A936E2672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50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96DC02-2D0C-4DCE-B3CC-4A936E2672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6670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96DC02-2D0C-4DCE-B3CC-4A936E2672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14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96DC02-2D0C-4DCE-B3CC-4A936E2672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4555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96DC02-2D0C-4DCE-B3CC-4A936E2672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20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965FBB-E657-4796-9F39-CADEE855B1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87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8EF68-3A5B-45D2-8148-F716CB63341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45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A996DC02-2D0C-4DCE-B3CC-4A936E2672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9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  <p:sldLayoutId id="2147483900" r:id="rId15"/>
    <p:sldLayoutId id="214748390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vt1BnSwRv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vt1BnSwRvo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earnvisualstudio.net/content/videos/vwd2k5ee_04_understanding_web_application_state.asp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GB" dirty="0" smtClean="0"/>
              <a:t>Lecture LA09: </a:t>
            </a:r>
            <a:r>
              <a:rPr lang="en-US" dirty="0" smtClean="0"/>
              <a:t>State </a:t>
            </a:r>
            <a:r>
              <a:rPr lang="en-US" dirty="0"/>
              <a:t>Management</a:t>
            </a:r>
            <a:br>
              <a:rPr lang="en-US" dirty="0"/>
            </a:br>
            <a:endParaRPr lang="en-GB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dirty="0" smtClean="0"/>
              <a:t>ITP271 </a:t>
            </a:r>
            <a:r>
              <a:rPr lang="en-GB" dirty="0"/>
              <a:t>:: Web Application </a:t>
            </a:r>
            <a:r>
              <a:rPr lang="en-GB" dirty="0" smtClean="0"/>
              <a:t>Development &amp; Project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dirty="0" smtClean="0"/>
              <a:t>Today we will learn how to use the following State Management objects</a:t>
            </a:r>
          </a:p>
          <a:p>
            <a:pPr>
              <a:defRPr/>
            </a:pPr>
            <a:r>
              <a:rPr lang="en-US" dirty="0" smtClean="0"/>
              <a:t>View State</a:t>
            </a:r>
          </a:p>
          <a:p>
            <a:pPr>
              <a:defRPr/>
            </a:pPr>
            <a:r>
              <a:rPr lang="en-US" dirty="0" smtClean="0"/>
              <a:t>Session</a:t>
            </a:r>
          </a:p>
          <a:p>
            <a:pPr>
              <a:defRPr/>
            </a:pPr>
            <a:r>
              <a:rPr lang="en-US" dirty="0" smtClean="0"/>
              <a:t>Application</a:t>
            </a:r>
          </a:p>
          <a:p>
            <a:pPr>
              <a:defRPr/>
            </a:pPr>
            <a:r>
              <a:rPr lang="en-US" dirty="0" smtClean="0"/>
              <a:t>Request &amp; Response</a:t>
            </a:r>
          </a:p>
          <a:p>
            <a:pPr marL="0" indent="0">
              <a:buNone/>
              <a:defRPr/>
            </a:pPr>
            <a:r>
              <a:rPr lang="en-US" dirty="0" smtClean="0"/>
              <a:t>The </a:t>
            </a:r>
            <a:r>
              <a:rPr lang="en-US" dirty="0" err="1" smtClean="0"/>
              <a:t>PreviousPage</a:t>
            </a:r>
            <a:r>
              <a:rPr lang="en-US" dirty="0" smtClean="0"/>
              <a:t> object in last lesson is also one of the statement management</a:t>
            </a:r>
            <a:endParaRPr lang="en-US" dirty="0"/>
          </a:p>
          <a:p>
            <a:pPr>
              <a:buFont typeface="Wingdings" pitchFamily="2" charset="2"/>
              <a:buNone/>
              <a:defRPr/>
            </a:pP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View State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70000"/>
            <a:ext cx="6858000" cy="3880773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ViewState</a:t>
            </a:r>
            <a:r>
              <a:rPr lang="en-US" dirty="0" smtClean="0"/>
              <a:t> of a </a:t>
            </a:r>
            <a:r>
              <a:rPr lang="en-US" dirty="0" err="1" smtClean="0"/>
              <a:t>webform</a:t>
            </a:r>
            <a:r>
              <a:rPr lang="en-US" dirty="0" smtClean="0"/>
              <a:t> is available within that </a:t>
            </a:r>
            <a:r>
              <a:rPr lang="en-US" dirty="0" err="1" smtClean="0"/>
              <a:t>webform</a:t>
            </a:r>
            <a:endParaRPr lang="en-US" altLang="zh-CN" dirty="0">
              <a:ea typeface="SimSun" pitchFamily="2" charset="-122"/>
            </a:endParaRPr>
          </a:p>
          <a:p>
            <a:r>
              <a:rPr lang="en-US" altLang="zh-CN" dirty="0" err="1" smtClean="0">
                <a:ea typeface="SimSun" pitchFamily="2" charset="-122"/>
              </a:rPr>
              <a:t>ViewState</a:t>
            </a:r>
            <a:r>
              <a:rPr lang="en-US" altLang="zh-CN" dirty="0" smtClean="0">
                <a:ea typeface="SimSun" pitchFamily="2" charset="-122"/>
              </a:rPr>
              <a:t> is stored on the page in a hidden field called _</a:t>
            </a:r>
            <a:r>
              <a:rPr lang="en-US" altLang="zh-CN" dirty="0" err="1" smtClean="0">
                <a:ea typeface="SimSun" pitchFamily="2" charset="-122"/>
              </a:rPr>
              <a:t>ViewState</a:t>
            </a:r>
            <a:r>
              <a:rPr lang="en-US" altLang="zh-CN" dirty="0" smtClean="0">
                <a:ea typeface="SimSun" pitchFamily="2" charset="-122"/>
              </a:rPr>
              <a:t>. Hence, if you navigate to another page, or the browser is closed, the view state is lost</a:t>
            </a:r>
            <a:endParaRPr lang="en-US" altLang="zh-CN" dirty="0">
              <a:ea typeface="SimSun" pitchFamily="2" charset="-122"/>
            </a:endParaRPr>
          </a:p>
          <a:p>
            <a:r>
              <a:rPr lang="en-US" altLang="zh-CN" dirty="0" err="1" smtClean="0">
                <a:ea typeface="SimSun" pitchFamily="2" charset="-122"/>
              </a:rPr>
              <a:t>ViewState</a:t>
            </a:r>
            <a:r>
              <a:rPr lang="en-US" altLang="zh-CN" dirty="0" smtClean="0">
                <a:ea typeface="SimSun" pitchFamily="2" charset="-122"/>
              </a:rPr>
              <a:t> is used by all asp.net controls to retain their state across </a:t>
            </a:r>
            <a:r>
              <a:rPr lang="en-US" altLang="zh-CN" dirty="0" err="1" smtClean="0">
                <a:ea typeface="SimSun" pitchFamily="2" charset="-122"/>
              </a:rPr>
              <a:t>postback</a:t>
            </a:r>
            <a:endParaRPr lang="en-US" altLang="zh-CN" dirty="0" smtClean="0">
              <a:ea typeface="SimSun" pitchFamily="2" charset="-122"/>
            </a:endParaRPr>
          </a:p>
          <a:p>
            <a:endParaRPr lang="en-US" altLang="zh-CN" dirty="0">
              <a:ea typeface="SimSun" pitchFamily="2" charset="-122"/>
            </a:endParaRPr>
          </a:p>
          <a:p>
            <a:endParaRPr lang="en-US" altLang="zh-CN" dirty="0" smtClean="0">
              <a:ea typeface="SimSun" pitchFamily="2" charset="-122"/>
            </a:endParaRPr>
          </a:p>
          <a:p>
            <a:r>
              <a:rPr lang="en-US" altLang="zh-CN" dirty="0" smtClean="0">
                <a:ea typeface="SimSun" pitchFamily="2" charset="-122"/>
              </a:rPr>
              <a:t>View State Explained</a:t>
            </a:r>
          </a:p>
          <a:p>
            <a:pPr lvl="1"/>
            <a:r>
              <a:rPr lang="en-US" altLang="zh-CN" dirty="0" smtClean="0">
                <a:ea typeface="SimSun" pitchFamily="2" charset="-122"/>
              </a:rPr>
              <a:t>https</a:t>
            </a:r>
            <a:r>
              <a:rPr lang="en-US" altLang="zh-CN" dirty="0">
                <a:ea typeface="SimSun" pitchFamily="2" charset="-122"/>
              </a:rPr>
              <a:t>://</a:t>
            </a:r>
            <a:r>
              <a:rPr lang="en-US" altLang="zh-CN" dirty="0" smtClean="0">
                <a:ea typeface="SimSun" pitchFamily="2" charset="-122"/>
              </a:rPr>
              <a:t>www.youtube.com/watch?v=Lvt1BnSwRvo</a:t>
            </a:r>
          </a:p>
          <a:p>
            <a:pPr lvl="1"/>
            <a:r>
              <a:rPr lang="en-US" altLang="zh-CN" dirty="0" smtClean="0">
                <a:ea typeface="SimSun" pitchFamily="2" charset="-122"/>
              </a:rPr>
              <a:t>1-9min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7467600" y="152400"/>
            <a:ext cx="914400" cy="91440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7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Store value to </a:t>
            </a:r>
            <a:r>
              <a:rPr lang="en-GB" dirty="0" err="1" smtClean="0"/>
              <a:t>ViewState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dirty="0" smtClean="0"/>
              <a:t>Sample code to store </a:t>
            </a:r>
            <a:r>
              <a:rPr lang="en-GB" dirty="0" err="1" smtClean="0"/>
              <a:t>loadCnt</a:t>
            </a:r>
            <a:r>
              <a:rPr lang="en-GB" dirty="0" smtClean="0"/>
              <a:t> instance to View State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1050400" y="2743200"/>
            <a:ext cx="7102999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dirty="0"/>
              <a:t> </a:t>
            </a:r>
            <a:r>
              <a:rPr lang="en-SG" sz="2400" dirty="0" err="1"/>
              <a:t>Pgloadcnt</a:t>
            </a:r>
            <a:r>
              <a:rPr lang="en-SG" sz="2400" dirty="0"/>
              <a:t> = 0;</a:t>
            </a:r>
          </a:p>
          <a:p>
            <a:r>
              <a:rPr lang="en-SG" sz="2400" dirty="0"/>
              <a:t> </a:t>
            </a:r>
            <a:r>
              <a:rPr lang="en-SG" sz="2400" dirty="0" err="1" smtClean="0"/>
              <a:t>Pgloadcnt</a:t>
            </a:r>
            <a:r>
              <a:rPr lang="en-SG" sz="2400" dirty="0"/>
              <a:t>++   ;</a:t>
            </a:r>
          </a:p>
          <a:p>
            <a:r>
              <a:rPr lang="en-SG" sz="2400" dirty="0"/>
              <a:t> </a:t>
            </a:r>
            <a:r>
              <a:rPr lang="en-SG" sz="2400" dirty="0" err="1" smtClean="0">
                <a:solidFill>
                  <a:srgbClr val="990033"/>
                </a:solidFill>
              </a:rPr>
              <a:t>ViewState</a:t>
            </a:r>
            <a:r>
              <a:rPr lang="en-SG" sz="2400" dirty="0">
                <a:solidFill>
                  <a:srgbClr val="990033"/>
                </a:solidFill>
              </a:rPr>
              <a:t>["</a:t>
            </a:r>
            <a:r>
              <a:rPr lang="en-SG" sz="2400" dirty="0" err="1">
                <a:solidFill>
                  <a:srgbClr val="990033"/>
                </a:solidFill>
              </a:rPr>
              <a:t>loadCnt</a:t>
            </a:r>
            <a:r>
              <a:rPr lang="en-SG" sz="2400" dirty="0">
                <a:solidFill>
                  <a:srgbClr val="990033"/>
                </a:solidFill>
              </a:rPr>
              <a:t>"] = </a:t>
            </a:r>
            <a:r>
              <a:rPr lang="en-SG" sz="2400" dirty="0" err="1">
                <a:solidFill>
                  <a:srgbClr val="990033"/>
                </a:solidFill>
              </a:rPr>
              <a:t>Pgloadcnt.ToString</a:t>
            </a:r>
            <a:r>
              <a:rPr lang="en-SG" sz="2400" dirty="0" smtClean="0">
                <a:solidFill>
                  <a:srgbClr val="990033"/>
                </a:solidFill>
              </a:rPr>
              <a:t>();</a:t>
            </a:r>
            <a:endParaRPr lang="en-SG" sz="2400" dirty="0">
              <a:solidFill>
                <a:srgbClr val="990033"/>
              </a:solidFill>
            </a:endParaRPr>
          </a:p>
          <a:p>
            <a:endParaRPr lang="en-SG" sz="2400" dirty="0"/>
          </a:p>
        </p:txBody>
      </p:sp>
      <p:sp>
        <p:nvSpPr>
          <p:cNvPr id="5" name="5-Point Star 4"/>
          <p:cNvSpPr/>
          <p:nvPr/>
        </p:nvSpPr>
        <p:spPr>
          <a:xfrm>
            <a:off x="7467600" y="152400"/>
            <a:ext cx="914400" cy="91440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3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Retrieve value from </a:t>
            </a:r>
            <a:r>
              <a:rPr lang="en-GB" dirty="0" err="1" smtClean="0"/>
              <a:t>ViewState</a:t>
            </a:r>
            <a:endParaRPr lang="en-SG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dirty="0"/>
              <a:t>Sample code to store </a:t>
            </a:r>
            <a:r>
              <a:rPr lang="en-GB" dirty="0" err="1"/>
              <a:t>loadCnt</a:t>
            </a:r>
            <a:r>
              <a:rPr lang="en-GB" dirty="0"/>
              <a:t> instance to View State</a:t>
            </a:r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1295400" y="2590800"/>
            <a:ext cx="60960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sz="2400" dirty="0"/>
              <a:t>string </a:t>
            </a:r>
            <a:r>
              <a:rPr lang="en-SG" sz="2400" dirty="0" err="1"/>
              <a:t>strview</a:t>
            </a:r>
            <a:r>
              <a:rPr lang="en-SG" sz="2400" dirty="0"/>
              <a:t> = (string)</a:t>
            </a:r>
            <a:r>
              <a:rPr lang="en-SG" sz="2400" dirty="0" err="1"/>
              <a:t>ViewState</a:t>
            </a:r>
            <a:r>
              <a:rPr lang="en-SG" sz="2400" dirty="0"/>
              <a:t>["</a:t>
            </a:r>
            <a:r>
              <a:rPr lang="en-SG" sz="2400" dirty="0" err="1"/>
              <a:t>loadCnt</a:t>
            </a:r>
            <a:r>
              <a:rPr lang="en-SG" sz="2400" dirty="0"/>
              <a:t>"];</a:t>
            </a:r>
          </a:p>
          <a:p>
            <a:endParaRPr lang="en-SG" sz="2400" dirty="0"/>
          </a:p>
        </p:txBody>
      </p:sp>
      <p:sp>
        <p:nvSpPr>
          <p:cNvPr id="6" name="5-Point Star 5"/>
          <p:cNvSpPr/>
          <p:nvPr/>
        </p:nvSpPr>
        <p:spPr>
          <a:xfrm>
            <a:off x="7467600" y="152400"/>
            <a:ext cx="914400" cy="91440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35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 of View State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609599" y="1281289"/>
            <a:ext cx="6347714" cy="3880773"/>
          </a:xfrm>
        </p:spPr>
        <p:txBody>
          <a:bodyPr/>
          <a:lstStyle/>
          <a:p>
            <a:r>
              <a:rPr lang="en-US" dirty="0"/>
              <a:t>Increases the size of information flow between server and client.</a:t>
            </a:r>
          </a:p>
          <a:p>
            <a:r>
              <a:rPr lang="en-US" dirty="0"/>
              <a:t>Although </a:t>
            </a:r>
            <a:r>
              <a:rPr lang="en-US" dirty="0" err="1"/>
              <a:t>ViewState</a:t>
            </a:r>
            <a:r>
              <a:rPr lang="en-US" dirty="0"/>
              <a:t> information is encoded, the best security is not to send anything sensitive information to client</a:t>
            </a:r>
          </a:p>
          <a:p>
            <a:r>
              <a:rPr lang="en-US" dirty="0" err="1"/>
              <a:t>ViewState</a:t>
            </a:r>
            <a:r>
              <a:rPr lang="en-US" dirty="0"/>
              <a:t> information needs to be encoded and decoded thus a performance cost that need to be considered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8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Session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6347714" cy="27432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Maintain state</a:t>
            </a:r>
          </a:p>
          <a:p>
            <a:pPr lvl="1">
              <a:defRPr/>
            </a:pPr>
            <a:r>
              <a:rPr lang="en-US" dirty="0" smtClean="0"/>
              <a:t>Server’s memory</a:t>
            </a:r>
          </a:p>
          <a:p>
            <a:pPr lvl="1">
              <a:defRPr/>
            </a:pPr>
            <a:r>
              <a:rPr lang="en-US" dirty="0" smtClean="0"/>
              <a:t>State is maintain across multiple web pages by a unique </a:t>
            </a:r>
            <a:r>
              <a:rPr lang="en-US" dirty="0" err="1" smtClean="0"/>
              <a:t>SessionID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When a user access a page with a browser, that user is given a </a:t>
            </a:r>
            <a:r>
              <a:rPr lang="en-US" dirty="0" err="1" smtClean="0"/>
              <a:t>SessionID</a:t>
            </a:r>
            <a:r>
              <a:rPr lang="en-US" dirty="0" smtClean="0"/>
              <a:t> by the server until the browser is closed.</a:t>
            </a:r>
          </a:p>
          <a:p>
            <a:pPr lvl="1">
              <a:defRPr/>
            </a:pPr>
            <a:r>
              <a:rPr lang="en-US" dirty="0" smtClean="0"/>
              <a:t>The </a:t>
            </a:r>
            <a:r>
              <a:rPr lang="en-US" dirty="0" err="1" smtClean="0"/>
              <a:t>SessionID</a:t>
            </a:r>
            <a:r>
              <a:rPr lang="en-US" dirty="0" smtClean="0"/>
              <a:t> is saved in the user’s computer as a cookie in the browser.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5800" y="4114800"/>
            <a:ext cx="6347714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en-US" dirty="0" smtClean="0"/>
              <a:t>Session State Explained</a:t>
            </a:r>
          </a:p>
          <a:p>
            <a:pPr lvl="1" fontAlgn="auto">
              <a:defRPr/>
            </a:pP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www.youtube.com/watch?v=Lvt1BnSwRvo</a:t>
            </a:r>
            <a:endParaRPr lang="en-US" dirty="0" smtClean="0"/>
          </a:p>
          <a:p>
            <a:pPr lvl="1" fontAlgn="auto">
              <a:defRPr/>
            </a:pPr>
            <a:r>
              <a:rPr lang="en-US" dirty="0" smtClean="0"/>
              <a:t>9.30min – 16min</a:t>
            </a:r>
          </a:p>
          <a:p>
            <a:pPr fontAlgn="auto">
              <a:defRPr/>
            </a:pPr>
            <a:endParaRPr lang="en-US" dirty="0" smtClean="0"/>
          </a:p>
        </p:txBody>
      </p:sp>
      <p:sp>
        <p:nvSpPr>
          <p:cNvPr id="5" name="5-Point Star 4"/>
          <p:cNvSpPr/>
          <p:nvPr/>
        </p:nvSpPr>
        <p:spPr>
          <a:xfrm>
            <a:off x="7467600" y="152400"/>
            <a:ext cx="914400" cy="91440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733800"/>
            <a:ext cx="6347714" cy="388077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Disadvantages</a:t>
            </a:r>
          </a:p>
          <a:p>
            <a:pPr lvl="1">
              <a:defRPr/>
            </a:pPr>
            <a:r>
              <a:rPr lang="en-US" dirty="0" smtClean="0"/>
              <a:t>Store State in server’s memory, could be a problem if there are many objects stored and many users accessing the application.</a:t>
            </a:r>
          </a:p>
          <a:p>
            <a:pPr lvl="1">
              <a:defRPr/>
            </a:pPr>
            <a:r>
              <a:rPr lang="en-US" dirty="0" smtClean="0"/>
              <a:t>Not strongly type, i.e. compiler cannot check the type of object stored.</a:t>
            </a:r>
          </a:p>
          <a:p>
            <a:pPr lvl="1">
              <a:defRPr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838200" y="1432679"/>
            <a:ext cx="8077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Session State Variables are available across all pages, but only for a given single session. </a:t>
            </a:r>
            <a:endParaRPr lang="en-GB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Session </a:t>
            </a:r>
            <a:r>
              <a:rPr lang="en-GB" dirty="0"/>
              <a:t>variables are like single-user global </a:t>
            </a:r>
            <a:r>
              <a:rPr lang="en-GB" dirty="0" smtClean="0"/>
              <a:t>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Session </a:t>
            </a:r>
            <a:r>
              <a:rPr lang="en-GB" dirty="0"/>
              <a:t>state variables are Stored on the web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Session state variables are cleared, when user session time-out. But this is configurable in </a:t>
            </a:r>
            <a:r>
              <a:rPr lang="en-GB" dirty="0" err="1"/>
              <a:t>web.config</a:t>
            </a:r>
            <a:r>
              <a:rPr lang="en-GB" dirty="0"/>
              <a:t>. Default set as 20 min</a:t>
            </a:r>
          </a:p>
          <a:p>
            <a:pPr lvl="1"/>
            <a:endParaRPr lang="en-SG" dirty="0"/>
          </a:p>
        </p:txBody>
      </p:sp>
      <p:sp>
        <p:nvSpPr>
          <p:cNvPr id="5" name="5-Point Star 4"/>
          <p:cNvSpPr/>
          <p:nvPr/>
        </p:nvSpPr>
        <p:spPr>
          <a:xfrm>
            <a:off x="7467600" y="152400"/>
            <a:ext cx="914400" cy="91440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Configuring Session Timeout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Session timeout value can be specified in the </a:t>
            </a:r>
            <a:r>
              <a:rPr lang="en-GB" dirty="0" err="1" smtClean="0"/>
              <a:t>web.config</a:t>
            </a:r>
            <a:r>
              <a:rPr lang="en-GB" dirty="0" smtClean="0"/>
              <a:t> file</a:t>
            </a:r>
          </a:p>
          <a:p>
            <a:r>
              <a:rPr lang="en-GB" dirty="0" smtClean="0"/>
              <a:t>It indicate the time (in minutes) that the session can be idle before it is abandoned</a:t>
            </a:r>
          </a:p>
          <a:p>
            <a:r>
              <a:rPr lang="en-GB" dirty="0" smtClean="0"/>
              <a:t>Configure session timeout using &lt;</a:t>
            </a:r>
            <a:r>
              <a:rPr lang="en-GB" dirty="0" err="1" smtClean="0"/>
              <a:t>sessionState</a:t>
            </a:r>
            <a:r>
              <a:rPr lang="en-GB" dirty="0" smtClean="0"/>
              <a:t>&gt; attribute</a:t>
            </a:r>
          </a:p>
          <a:p>
            <a:r>
              <a:rPr lang="en-GB" dirty="0" err="1" smtClean="0"/>
              <a:t>Eg</a:t>
            </a:r>
            <a:r>
              <a:rPr lang="en-GB" dirty="0" smtClean="0"/>
              <a:t> </a:t>
            </a:r>
          </a:p>
          <a:p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1524000" y="5144852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&lt;</a:t>
            </a:r>
            <a:r>
              <a:rPr lang="en-GB" sz="2800" dirty="0" err="1" smtClean="0"/>
              <a:t>sessionState</a:t>
            </a:r>
            <a:r>
              <a:rPr lang="en-GB" sz="2800" dirty="0" smtClean="0"/>
              <a:t> timeout=“40”/&gt;</a:t>
            </a:r>
            <a:endParaRPr lang="en-SG" sz="2800" dirty="0"/>
          </a:p>
        </p:txBody>
      </p:sp>
      <p:sp>
        <p:nvSpPr>
          <p:cNvPr id="5" name="5-Point Star 4"/>
          <p:cNvSpPr/>
          <p:nvPr/>
        </p:nvSpPr>
        <p:spPr>
          <a:xfrm>
            <a:off x="7467600" y="152400"/>
            <a:ext cx="914400" cy="91440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77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Store value to session variable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GB" dirty="0" smtClean="0"/>
              <a:t>Sample code to create a session variable  </a:t>
            </a:r>
          </a:p>
          <a:p>
            <a:pPr lvl="1"/>
            <a:endParaRPr lang="en-GB" dirty="0"/>
          </a:p>
          <a:p>
            <a:pPr lvl="1"/>
            <a:endParaRPr lang="en-GB" dirty="0" smtClean="0"/>
          </a:p>
          <a:p>
            <a:pPr lvl="1"/>
            <a:endParaRPr lang="en-GB" dirty="0"/>
          </a:p>
          <a:p>
            <a:pPr lvl="1"/>
            <a:endParaRPr lang="en-GB" dirty="0" smtClean="0"/>
          </a:p>
          <a:p>
            <a:pPr lvl="1"/>
            <a:endParaRPr lang="en-GB" dirty="0"/>
          </a:p>
          <a:p>
            <a:pPr lvl="1"/>
            <a:endParaRPr lang="en-GB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71600" y="2531316"/>
            <a:ext cx="7239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sz="2400" dirty="0" err="1" smtClean="0">
                <a:solidFill>
                  <a:srgbClr val="990033"/>
                </a:solidFill>
              </a:rPr>
              <a:t>Session.add</a:t>
            </a:r>
            <a:r>
              <a:rPr lang="en-SG" sz="2400" dirty="0" smtClean="0">
                <a:solidFill>
                  <a:srgbClr val="990033"/>
                </a:solidFill>
              </a:rPr>
              <a:t>(“</a:t>
            </a:r>
            <a:r>
              <a:rPr lang="en-SG" sz="2400" dirty="0" err="1" smtClean="0">
                <a:solidFill>
                  <a:srgbClr val="990033"/>
                </a:solidFill>
              </a:rPr>
              <a:t>ssuser</a:t>
            </a:r>
            <a:r>
              <a:rPr lang="en-SG" sz="2400" dirty="0" smtClean="0">
                <a:solidFill>
                  <a:srgbClr val="990033"/>
                </a:solidFill>
              </a:rPr>
              <a:t>“,  </a:t>
            </a:r>
            <a:r>
              <a:rPr lang="en-SG" sz="2400" dirty="0" err="1" smtClean="0">
                <a:solidFill>
                  <a:srgbClr val="990033"/>
                </a:solidFill>
              </a:rPr>
              <a:t>txtboxloginid.Text</a:t>
            </a:r>
            <a:r>
              <a:rPr lang="en-SG" sz="2400" dirty="0" smtClean="0">
                <a:solidFill>
                  <a:srgbClr val="990033"/>
                </a:solidFill>
              </a:rPr>
              <a:t>);</a:t>
            </a:r>
          </a:p>
          <a:p>
            <a:r>
              <a:rPr lang="en-GB" sz="2400" dirty="0" smtClean="0">
                <a:solidFill>
                  <a:srgbClr val="990033"/>
                </a:solidFill>
              </a:rPr>
              <a:t>or</a:t>
            </a:r>
          </a:p>
          <a:p>
            <a:r>
              <a:rPr lang="en-GB" sz="2400" dirty="0" smtClean="0">
                <a:solidFill>
                  <a:srgbClr val="990033"/>
                </a:solidFill>
              </a:rPr>
              <a:t>Session[“</a:t>
            </a:r>
            <a:r>
              <a:rPr lang="en-GB" sz="2400" dirty="0" err="1" smtClean="0">
                <a:solidFill>
                  <a:srgbClr val="990033"/>
                </a:solidFill>
              </a:rPr>
              <a:t>ssuser</a:t>
            </a:r>
            <a:r>
              <a:rPr lang="en-GB" sz="2400" dirty="0" smtClean="0">
                <a:solidFill>
                  <a:srgbClr val="990033"/>
                </a:solidFill>
              </a:rPr>
              <a:t>”] = </a:t>
            </a:r>
            <a:r>
              <a:rPr lang="en-GB" sz="2400" dirty="0" err="1" smtClean="0">
                <a:solidFill>
                  <a:srgbClr val="990033"/>
                </a:solidFill>
              </a:rPr>
              <a:t>txtboxloginid.Text</a:t>
            </a:r>
            <a:r>
              <a:rPr lang="en-GB" sz="2400" dirty="0" smtClean="0">
                <a:solidFill>
                  <a:srgbClr val="990033"/>
                </a:solidFill>
              </a:rPr>
              <a:t>;</a:t>
            </a:r>
            <a:endParaRPr lang="en-SG" sz="2400" dirty="0">
              <a:solidFill>
                <a:srgbClr val="990033"/>
              </a:solidFill>
            </a:endParaRPr>
          </a:p>
        </p:txBody>
      </p:sp>
      <p:sp>
        <p:nvSpPr>
          <p:cNvPr id="5" name="5-Point Star 4"/>
          <p:cNvSpPr/>
          <p:nvPr/>
        </p:nvSpPr>
        <p:spPr>
          <a:xfrm>
            <a:off x="7467600" y="152400"/>
            <a:ext cx="914400" cy="91440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54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Retrieve value from session</a:t>
            </a:r>
            <a:endParaRPr lang="en-SG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1000" y="1360489"/>
            <a:ext cx="6347714" cy="3880773"/>
          </a:xfrm>
        </p:spPr>
        <p:txBody>
          <a:bodyPr/>
          <a:lstStyle/>
          <a:p>
            <a:pPr lvl="1"/>
            <a:r>
              <a:rPr lang="en-GB" dirty="0" smtClean="0"/>
              <a:t>Retrieve the session variable and cast it to the correct data type</a:t>
            </a:r>
          </a:p>
          <a:p>
            <a:pPr lvl="1"/>
            <a:r>
              <a:rPr lang="en-GB" dirty="0" smtClean="0"/>
              <a:t>Sample </a:t>
            </a:r>
            <a:r>
              <a:rPr lang="en-GB" dirty="0"/>
              <a:t>code to </a:t>
            </a:r>
            <a:r>
              <a:rPr lang="en-GB" dirty="0" smtClean="0"/>
              <a:t>retrieve session</a:t>
            </a:r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762000" y="2885376"/>
            <a:ext cx="709556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sz="2400" dirty="0"/>
              <a:t>string </a:t>
            </a:r>
            <a:r>
              <a:rPr lang="en-SG" sz="2400" dirty="0" err="1" smtClean="0"/>
              <a:t>LoginUser</a:t>
            </a:r>
            <a:r>
              <a:rPr lang="en-SG" sz="2400" dirty="0" smtClean="0"/>
              <a:t> </a:t>
            </a:r>
            <a:r>
              <a:rPr lang="en-SG" sz="2400" dirty="0"/>
              <a:t>= </a:t>
            </a:r>
            <a:r>
              <a:rPr lang="en-SG" sz="2400" dirty="0" smtClean="0"/>
              <a:t>(String)Session[“</a:t>
            </a:r>
            <a:r>
              <a:rPr lang="en-SG" sz="2400" dirty="0" err="1" smtClean="0"/>
              <a:t>ssuserName</a:t>
            </a:r>
            <a:r>
              <a:rPr lang="en-SG" sz="2400" dirty="0" smtClean="0"/>
              <a:t>”];</a:t>
            </a:r>
            <a:endParaRPr lang="en-SG" sz="2400" dirty="0"/>
          </a:p>
          <a:p>
            <a:r>
              <a:rPr lang="en-GB" sz="2400" dirty="0" err="1" smtClean="0"/>
              <a:t>Int</a:t>
            </a:r>
            <a:r>
              <a:rPr lang="en-GB" sz="2400" dirty="0" smtClean="0"/>
              <a:t> </a:t>
            </a:r>
            <a:r>
              <a:rPr lang="en-GB" sz="2400" dirty="0" err="1" smtClean="0"/>
              <a:t>loancnt</a:t>
            </a:r>
            <a:r>
              <a:rPr lang="en-GB" sz="2400" dirty="0" smtClean="0"/>
              <a:t> = (</a:t>
            </a:r>
            <a:r>
              <a:rPr lang="en-GB" sz="2400" dirty="0" err="1" smtClean="0"/>
              <a:t>int</a:t>
            </a:r>
            <a:r>
              <a:rPr lang="en-GB" sz="2400" dirty="0" smtClean="0"/>
              <a:t>)Session[“</a:t>
            </a:r>
            <a:r>
              <a:rPr lang="en-GB" sz="2400" dirty="0" err="1" smtClean="0"/>
              <a:t>ssloadcount</a:t>
            </a:r>
            <a:r>
              <a:rPr lang="en-GB" sz="2400" dirty="0" smtClean="0"/>
              <a:t>”];</a:t>
            </a:r>
            <a:endParaRPr lang="en-SG" sz="2400" dirty="0"/>
          </a:p>
        </p:txBody>
      </p:sp>
      <p:sp>
        <p:nvSpPr>
          <p:cNvPr id="6" name="5-Point Star 5"/>
          <p:cNvSpPr/>
          <p:nvPr/>
        </p:nvSpPr>
        <p:spPr>
          <a:xfrm>
            <a:off x="7467600" y="152400"/>
            <a:ext cx="914400" cy="91440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07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Delete session object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To remove a specific session object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To remove all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687461"/>
            <a:ext cx="53340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sz="2400" dirty="0" smtClean="0"/>
              <a:t>      </a:t>
            </a:r>
            <a:r>
              <a:rPr lang="en-SG" sz="2400" dirty="0" err="1" smtClean="0"/>
              <a:t>Session.Remove</a:t>
            </a:r>
            <a:r>
              <a:rPr lang="en-SG" sz="2400" dirty="0"/>
              <a:t>(“</a:t>
            </a:r>
            <a:r>
              <a:rPr lang="en-SG" sz="2400" dirty="0" err="1"/>
              <a:t>cartvalue</a:t>
            </a:r>
            <a:r>
              <a:rPr lang="en-SG" sz="2400" dirty="0"/>
              <a:t>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3870143"/>
            <a:ext cx="53340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en-GB" sz="2400" dirty="0" err="1"/>
              <a:t>Session.Abandon</a:t>
            </a:r>
            <a:r>
              <a:rPr lang="en-GB" sz="2400" dirty="0"/>
              <a:t>();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7467600" y="152400"/>
            <a:ext cx="914400" cy="91440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32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Request &amp; Response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667000"/>
            <a:ext cx="6347714" cy="388077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In previous lab, we learnt about using </a:t>
            </a:r>
            <a:r>
              <a:rPr lang="en-US" dirty="0" err="1" smtClean="0"/>
              <a:t>Server.Transfer</a:t>
            </a:r>
            <a:r>
              <a:rPr lang="en-US" dirty="0" smtClean="0"/>
              <a:t>(…) and </a:t>
            </a:r>
            <a:r>
              <a:rPr lang="en-US" dirty="0" err="1" smtClean="0"/>
              <a:t>PreviousPage</a:t>
            </a:r>
            <a:r>
              <a:rPr lang="en-US" dirty="0" smtClean="0"/>
              <a:t> to obtain values in the caller page.</a:t>
            </a:r>
          </a:p>
          <a:p>
            <a:pPr>
              <a:defRPr/>
            </a:pPr>
            <a:r>
              <a:rPr lang="en-US" dirty="0" smtClean="0"/>
              <a:t>In the conventional ways, we can make use of Request &amp; Response which make use of HTTP, the protocol for web to store and retrieve state value.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Request &amp; Response Query 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Query string is the string data appended at the end of a URL.</a:t>
            </a:r>
          </a:p>
          <a:p>
            <a:pPr>
              <a:defRPr/>
            </a:pPr>
            <a:r>
              <a:rPr lang="en-US" dirty="0" smtClean="0"/>
              <a:t>State information are passed between pages using “name-value” pair as string</a:t>
            </a:r>
          </a:p>
          <a:p>
            <a:pPr>
              <a:defRPr/>
            </a:pPr>
            <a:r>
              <a:rPr lang="en-US" dirty="0" smtClean="0"/>
              <a:t>Query string is used to store </a:t>
            </a:r>
            <a:r>
              <a:rPr lang="en-US" dirty="0" err="1" smtClean="0"/>
              <a:t>nonsensitive</a:t>
            </a:r>
            <a:r>
              <a:rPr lang="en-US" dirty="0" smtClean="0"/>
              <a:t> and </a:t>
            </a:r>
            <a:r>
              <a:rPr lang="en-US" dirty="0" err="1" smtClean="0"/>
              <a:t>nonconfidential</a:t>
            </a:r>
            <a:r>
              <a:rPr lang="en-US" dirty="0" smtClean="0"/>
              <a:t> data such search data, page number</a:t>
            </a:r>
          </a:p>
          <a:p>
            <a:pPr>
              <a:defRPr/>
            </a:pPr>
            <a:r>
              <a:rPr lang="en-US" dirty="0" smtClean="0"/>
              <a:t>Example</a:t>
            </a:r>
          </a:p>
          <a:p>
            <a:pPr lvl="1">
              <a:defRPr/>
            </a:pPr>
            <a:r>
              <a:rPr lang="en-US" dirty="0" err="1" smtClean="0"/>
              <a:t>Response.Redirect</a:t>
            </a:r>
            <a:r>
              <a:rPr lang="en-US" dirty="0" smtClean="0"/>
              <a:t>(“</a:t>
            </a:r>
            <a:r>
              <a:rPr lang="en-US" dirty="0" err="1" smtClean="0"/>
              <a:t>feedbacksummary.aspx</a:t>
            </a:r>
            <a:r>
              <a:rPr lang="en-US" dirty="0" err="1" smtClean="0">
                <a:solidFill>
                  <a:srgbClr val="990033"/>
                </a:solidFill>
              </a:rPr>
              <a:t>?</a:t>
            </a:r>
            <a:r>
              <a:rPr lang="en-US" dirty="0" err="1" smtClean="0"/>
              <a:t>comment</a:t>
            </a:r>
            <a:r>
              <a:rPr lang="en-US" dirty="0" smtClean="0"/>
              <a:t>=“+</a:t>
            </a:r>
            <a:r>
              <a:rPr lang="en-US" dirty="0" err="1" smtClean="0"/>
              <a:t>comment.Text</a:t>
            </a:r>
            <a:r>
              <a:rPr lang="en-US" dirty="0" smtClean="0"/>
              <a:t>+</a:t>
            </a:r>
            <a:r>
              <a:rPr lang="en-SG" dirty="0" smtClean="0"/>
              <a:t> "</a:t>
            </a:r>
            <a:r>
              <a:rPr lang="en-SG" dirty="0" smtClean="0">
                <a:solidFill>
                  <a:srgbClr val="990033"/>
                </a:solidFill>
              </a:rPr>
              <a:t>&amp;</a:t>
            </a:r>
            <a:r>
              <a:rPr lang="en-SG" dirty="0" err="1"/>
              <a:t>LastName</a:t>
            </a:r>
            <a:r>
              <a:rPr lang="en-SG" dirty="0"/>
              <a:t>=" </a:t>
            </a:r>
            <a:r>
              <a:rPr lang="en-SG" dirty="0" smtClean="0"/>
              <a:t>+</a:t>
            </a:r>
            <a:r>
              <a:rPr lang="en-SG" dirty="0" err="1" smtClean="0"/>
              <a:t>ln.Text</a:t>
            </a:r>
            <a:r>
              <a:rPr lang="en-SG" dirty="0" smtClean="0"/>
              <a:t> </a:t>
            </a:r>
            <a:r>
              <a:rPr lang="en-US" dirty="0" smtClean="0"/>
              <a:t>);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943600" y="3318707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800000"/>
                </a:solidFill>
              </a:rPr>
              <a:t>? Indicate start of query string</a:t>
            </a:r>
            <a:endParaRPr lang="en-SG" dirty="0">
              <a:solidFill>
                <a:srgbClr val="80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410200" y="3688039"/>
            <a:ext cx="1752600" cy="10363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22500" y="6251849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&amp; join another query string data</a:t>
            </a:r>
            <a:endParaRPr lang="en-SG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2861212" y="5133186"/>
            <a:ext cx="525975" cy="10175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Retrieve query string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Sample</a:t>
            </a:r>
          </a:p>
          <a:p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1066800" y="2590800"/>
            <a:ext cx="6400800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 smtClean="0"/>
          </a:p>
          <a:p>
            <a:pPr algn="ctr"/>
            <a:endParaRPr lang="en-GB" dirty="0"/>
          </a:p>
          <a:p>
            <a:pPr algn="ctr"/>
            <a:r>
              <a:rPr lang="en-GB" sz="2800" dirty="0" err="1" smtClean="0"/>
              <a:t>Request.QueryString</a:t>
            </a:r>
            <a:r>
              <a:rPr lang="en-GB" sz="2800" dirty="0" smtClean="0"/>
              <a:t>[“</a:t>
            </a:r>
            <a:r>
              <a:rPr lang="en-GB" sz="2800" dirty="0" err="1" smtClean="0"/>
              <a:t>userName</a:t>
            </a:r>
            <a:r>
              <a:rPr lang="en-GB" sz="2800" dirty="0" smtClean="0"/>
              <a:t>”];</a:t>
            </a:r>
          </a:p>
          <a:p>
            <a:pPr algn="ctr"/>
            <a:endParaRPr lang="en-GB" sz="2800" dirty="0"/>
          </a:p>
          <a:p>
            <a:pPr algn="ctr"/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96157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Application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47800"/>
            <a:ext cx="6347714" cy="54102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Stored in web server</a:t>
            </a:r>
          </a:p>
          <a:p>
            <a:pPr>
              <a:defRPr/>
            </a:pPr>
            <a:r>
              <a:rPr lang="en-US" dirty="0" smtClean="0"/>
              <a:t>State </a:t>
            </a:r>
            <a:r>
              <a:rPr lang="en-US" dirty="0" smtClean="0"/>
              <a:t>is maintained throughout until application shut down</a:t>
            </a:r>
            <a:r>
              <a:rPr lang="en-US" dirty="0" smtClean="0"/>
              <a:t>. 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Shared by all users accessing the application</a:t>
            </a:r>
            <a:r>
              <a:rPr lang="en-US" dirty="0" smtClean="0"/>
              <a:t>. </a:t>
            </a:r>
          </a:p>
          <a:p>
            <a:pPr>
              <a:defRPr/>
            </a:pPr>
            <a:r>
              <a:rPr lang="en-US" dirty="0" smtClean="0"/>
              <a:t>Multi-user global data.</a:t>
            </a:r>
          </a:p>
          <a:p>
            <a:pPr>
              <a:defRPr/>
            </a:pPr>
            <a:r>
              <a:rPr lang="en-US" dirty="0" smtClean="0"/>
              <a:t>Application variable is cleared when the process hosting the application is restarted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598" y="3545286"/>
            <a:ext cx="6347714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endParaRPr lang="en-US" dirty="0" smtClean="0"/>
          </a:p>
          <a:p>
            <a:pPr fontAlgn="auto">
              <a:defRPr/>
            </a:pPr>
            <a:r>
              <a:rPr lang="en-US" dirty="0" smtClean="0"/>
              <a:t>Application </a:t>
            </a:r>
            <a:r>
              <a:rPr lang="en-US" dirty="0" smtClean="0"/>
              <a:t>State Explained</a:t>
            </a:r>
          </a:p>
          <a:p>
            <a:pPr lvl="1" fontAlgn="auto">
              <a:defRPr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www.youtube.com/watch?v=Lvt1BnSwRvo</a:t>
            </a:r>
            <a:endParaRPr lang="en-US" dirty="0" smtClean="0"/>
          </a:p>
          <a:p>
            <a:pPr lvl="1" fontAlgn="auto">
              <a:defRPr/>
            </a:pPr>
            <a:r>
              <a:rPr lang="en-US" dirty="0" smtClean="0"/>
              <a:t>21min – 27min</a:t>
            </a:r>
          </a:p>
          <a:p>
            <a:pPr fontAlgn="auto">
              <a:defRPr/>
            </a:pPr>
            <a:endParaRPr lang="en-US" dirty="0" smtClean="0"/>
          </a:p>
        </p:txBody>
      </p:sp>
      <p:sp>
        <p:nvSpPr>
          <p:cNvPr id="5" name="5-Point Star 4"/>
          <p:cNvSpPr/>
          <p:nvPr/>
        </p:nvSpPr>
        <p:spPr>
          <a:xfrm>
            <a:off x="7467600" y="152400"/>
            <a:ext cx="914400" cy="91440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dirty="0" smtClean="0"/>
              <a:t>We learned about a subset of State Management provided by .NET 2.0 namely</a:t>
            </a:r>
          </a:p>
          <a:p>
            <a:pPr>
              <a:defRPr/>
            </a:pPr>
            <a:r>
              <a:rPr lang="en-US" dirty="0" err="1" smtClean="0"/>
              <a:t>ViewState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Session</a:t>
            </a:r>
          </a:p>
          <a:p>
            <a:pPr>
              <a:defRPr/>
            </a:pPr>
            <a:r>
              <a:rPr lang="en-US" dirty="0" smtClean="0"/>
              <a:t>Application</a:t>
            </a:r>
          </a:p>
          <a:p>
            <a:pPr>
              <a:defRPr/>
            </a:pPr>
            <a:r>
              <a:rPr lang="en-US" dirty="0" smtClean="0"/>
              <a:t>Request &amp; Response</a:t>
            </a:r>
          </a:p>
          <a:p>
            <a:pPr>
              <a:buFont typeface="Wingdings" pitchFamily="2" charset="2"/>
              <a:buNone/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 smtClean="0"/>
              <a:t>Other State Management Objects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Profile</a:t>
            </a:r>
          </a:p>
          <a:p>
            <a:pPr>
              <a:defRPr/>
            </a:pPr>
            <a:r>
              <a:rPr lang="en-US" smtClean="0"/>
              <a:t>Trace</a:t>
            </a:r>
          </a:p>
          <a:p>
            <a:pPr>
              <a:defRPr/>
            </a:pPr>
            <a:r>
              <a:rPr lang="en-US" smtClean="0"/>
              <a:t>Form</a:t>
            </a:r>
          </a:p>
          <a:p>
            <a:pPr>
              <a:defRPr/>
            </a:pPr>
            <a:r>
              <a:rPr lang="en-US" smtClean="0"/>
              <a:t>Others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mtClean="0"/>
              <a:t>You can learn more about Web State </a:t>
            </a:r>
            <a:r>
              <a:rPr lang="en-US" smtClean="0">
                <a:hlinkClick r:id="rId2"/>
              </a:rPr>
              <a:t>here</a:t>
            </a:r>
            <a:r>
              <a:rPr lang="en-US" smtClean="0"/>
              <a:t>.</a:t>
            </a:r>
          </a:p>
          <a:p>
            <a:pPr>
              <a:defRPr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2837</TotalTime>
  <Words>801</Words>
  <Application>Microsoft Office PowerPoint</Application>
  <PresentationFormat>On-screen Show (4:3)</PresentationFormat>
  <Paragraphs>124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SimSun</vt:lpstr>
      <vt:lpstr>Arial</vt:lpstr>
      <vt:lpstr>Trebuchet MS</vt:lpstr>
      <vt:lpstr>Wingdings</vt:lpstr>
      <vt:lpstr>Wingdings 3</vt:lpstr>
      <vt:lpstr>Facet</vt:lpstr>
      <vt:lpstr>Lecture LA09: State Management </vt:lpstr>
      <vt:lpstr>Overview</vt:lpstr>
      <vt:lpstr>View State</vt:lpstr>
      <vt:lpstr>Store value to ViewState</vt:lpstr>
      <vt:lpstr>Retrieve value from ViewState</vt:lpstr>
      <vt:lpstr>Limitation of View State</vt:lpstr>
      <vt:lpstr>Session State</vt:lpstr>
      <vt:lpstr>Session</vt:lpstr>
      <vt:lpstr>Configuring Session Timeout</vt:lpstr>
      <vt:lpstr>Store value to session variable</vt:lpstr>
      <vt:lpstr>Retrieve value from session</vt:lpstr>
      <vt:lpstr>Delete session object</vt:lpstr>
      <vt:lpstr>Request &amp; Response</vt:lpstr>
      <vt:lpstr>Request &amp; Response Query String</vt:lpstr>
      <vt:lpstr>Retrieve query string</vt:lpstr>
      <vt:lpstr>Application State</vt:lpstr>
      <vt:lpstr>Summary</vt:lpstr>
      <vt:lpstr>Other State Management Objects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 B K JOYCE</dc:creator>
  <cp:lastModifiedBy>tommy low</cp:lastModifiedBy>
  <cp:revision>408</cp:revision>
  <cp:lastPrinted>1601-01-01T00:00:00Z</cp:lastPrinted>
  <dcterms:created xsi:type="dcterms:W3CDTF">1601-01-01T00:00:00Z</dcterms:created>
  <dcterms:modified xsi:type="dcterms:W3CDTF">2018-05-03T09:13:18Z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