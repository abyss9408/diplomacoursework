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1"/>
  </p:sldMasterIdLst>
  <p:notesMasterIdLst>
    <p:notesMasterId r:id="rId14"/>
  </p:notesMasterIdLst>
  <p:handoutMasterIdLst>
    <p:handoutMasterId r:id="rId15"/>
  </p:handoutMasterIdLst>
  <p:sldIdLst>
    <p:sldId id="256" r:id="rId2"/>
    <p:sldId id="311" r:id="rId3"/>
    <p:sldId id="323" r:id="rId4"/>
    <p:sldId id="324" r:id="rId5"/>
    <p:sldId id="325" r:id="rId6"/>
    <p:sldId id="326" r:id="rId7"/>
    <p:sldId id="327" r:id="rId8"/>
    <p:sldId id="331" r:id="rId9"/>
    <p:sldId id="330" r:id="rId10"/>
    <p:sldId id="328" r:id="rId11"/>
    <p:sldId id="329" r:id="rId12"/>
    <p:sldId id="322" r:id="rId13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800000"/>
    <a:srgbClr val="FFFF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9" autoAdjust="0"/>
    <p:restoredTop sz="78374" autoAdjust="0"/>
  </p:normalViewPr>
  <p:slideViewPr>
    <p:cSldViewPr>
      <p:cViewPr varScale="1">
        <p:scale>
          <a:sx n="71" d="100"/>
          <a:sy n="71" d="100"/>
        </p:scale>
        <p:origin x="100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1694" y="-77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/>
              <a:t>NYP | School of IT | </a:t>
            </a:r>
            <a:r>
              <a:rPr lang="en-SG" dirty="0" smtClean="0"/>
              <a:t>ITP271 </a:t>
            </a:r>
            <a:r>
              <a:rPr lang="en-SG" dirty="0"/>
              <a:t>Web Applications Development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r>
              <a:rPr lang="en-SG" dirty="0"/>
              <a:t>Copyright © Nanyang Polytechnic. All Rights </a:t>
            </a:r>
            <a:r>
              <a:rPr lang="en-SG" dirty="0" smtClean="0"/>
              <a:t>Reserve</a:t>
            </a:r>
            <a:endParaRPr lang="en-US" dirty="0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8ABB5382-1FDB-4C1E-9BDF-6975412AA4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547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7A5DF4C9-E3FB-4DCD-8209-4BA8786843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7389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E05945-AC41-483D-ADD7-04023A723D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3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D2A6EF-CEF4-4B09-9547-99E4523CE3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3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FB2E0-FE6D-47FA-B73D-E2D044AD9E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0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14C970-FA33-4D4E-B4AD-2D8C416808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2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E02EF0-9D59-4297-BCA6-0F9F634EB9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BDAD42-2501-4B64-88E9-33FFCBE760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2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CC9F6-468C-4115-A292-333A3697CE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9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05401-F76B-4D43-8346-74DD72EC23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4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7FA127-6751-4C0D-B214-0F0AAF0C50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0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5463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38977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2579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08193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811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85936-DD10-4997-92D0-24E3A0B1AE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49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C9C8D2-2991-4F90-84C0-39BA179483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6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F3BCB1A9-BCA0-4292-ACDD-4D2338F01C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5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404532"/>
            <a:ext cx="6718005" cy="1646302"/>
          </a:xfrm>
        </p:spPr>
        <p:txBody>
          <a:bodyPr/>
          <a:lstStyle/>
          <a:p>
            <a:pPr>
              <a:defRPr/>
            </a:pPr>
            <a:r>
              <a:rPr lang="en-GB" dirty="0" smtClean="0"/>
              <a:t>Lecture 11: File IO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smtClean="0"/>
              <a:t>ITP271 Web Applications Development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E05945-AC41-483D-ADD7-04023A723D6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I/O - namespace System.IO</a:t>
            </a:r>
          </a:p>
          <a:p>
            <a:r>
              <a:rPr lang="en-US" dirty="0" smtClean="0"/>
              <a:t>Reading, writing, or manipulating files and directories.</a:t>
            </a:r>
          </a:p>
          <a:p>
            <a:r>
              <a:rPr lang="en-US" dirty="0" smtClean="0"/>
              <a:t>Allow synchronous and asynchronous reading from and writing to data streams and files.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BinaryReader</a:t>
            </a:r>
            <a:r>
              <a:rPr lang="en-US" b="1" dirty="0" smtClean="0"/>
              <a:t> </a:t>
            </a:r>
            <a:r>
              <a:rPr lang="en-US" dirty="0" smtClean="0"/>
              <a:t>and </a:t>
            </a:r>
            <a:r>
              <a:rPr lang="en-US" b="1" dirty="0" err="1" smtClean="0"/>
              <a:t>BinaryWriter</a:t>
            </a:r>
            <a:r>
              <a:rPr lang="en-US" dirty="0" smtClean="0"/>
              <a:t> – read and write primitive </a:t>
            </a:r>
            <a:r>
              <a:rPr lang="en-US" dirty="0" err="1" smtClean="0"/>
              <a:t>datatypes</a:t>
            </a:r>
            <a:r>
              <a:rPr lang="en-US" dirty="0" smtClean="0"/>
              <a:t> as binary values</a:t>
            </a:r>
          </a:p>
          <a:p>
            <a:r>
              <a:rPr lang="en-US" b="1" dirty="0" smtClean="0"/>
              <a:t>Directory</a:t>
            </a:r>
            <a:r>
              <a:rPr lang="en-US" dirty="0" smtClean="0"/>
              <a:t> - contains </a:t>
            </a:r>
            <a:r>
              <a:rPr lang="en-US" b="1" dirty="0" smtClean="0"/>
              <a:t>static</a:t>
            </a:r>
            <a:r>
              <a:rPr lang="en-US" dirty="0" smtClean="0"/>
              <a:t> methods to create, move, and enumerate directories and subdirectories.</a:t>
            </a:r>
          </a:p>
          <a:p>
            <a:pPr lvl="1"/>
            <a:r>
              <a:rPr lang="en-US" dirty="0" smtClean="0"/>
              <a:t>Directory or file names must be provided for most operations.</a:t>
            </a:r>
          </a:p>
          <a:p>
            <a:r>
              <a:rPr lang="en-US" b="1" dirty="0" err="1" smtClean="0"/>
              <a:t>DirectoryInfo</a:t>
            </a:r>
            <a:r>
              <a:rPr lang="en-US" dirty="0" smtClean="0"/>
              <a:t> - contains </a:t>
            </a:r>
            <a:r>
              <a:rPr lang="en-US" b="1" dirty="0" smtClean="0"/>
              <a:t>instance</a:t>
            </a:r>
            <a:r>
              <a:rPr lang="en-US" dirty="0" smtClean="0"/>
              <a:t> methods to create, move, and enumerate directories and subdirectories.</a:t>
            </a:r>
          </a:p>
          <a:p>
            <a:pPr lvl="1"/>
            <a:r>
              <a:rPr lang="en-US" dirty="0" smtClean="0"/>
              <a:t>Instantiated with the name/path of the target directory or file.</a:t>
            </a:r>
          </a:p>
          <a:p>
            <a:pPr lvl="1"/>
            <a:r>
              <a:rPr lang="en-US" dirty="0" smtClean="0"/>
              <a:t>Thereafter, all operations apply to that specific directory or file.</a:t>
            </a:r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File</a:t>
            </a:r>
            <a:r>
              <a:rPr lang="en-US" dirty="0" smtClean="0"/>
              <a:t> - contains </a:t>
            </a:r>
            <a:r>
              <a:rPr lang="en-US" b="1" dirty="0" smtClean="0"/>
              <a:t>static</a:t>
            </a:r>
            <a:r>
              <a:rPr lang="en-US" dirty="0" smtClean="0"/>
              <a:t> methods to create, copy, delete, move, and open files, and assists in the creation of </a:t>
            </a:r>
            <a:r>
              <a:rPr lang="en-US" dirty="0" err="1" smtClean="0"/>
              <a:t>FileStream</a:t>
            </a:r>
            <a:r>
              <a:rPr lang="en-US" dirty="0" smtClean="0"/>
              <a:t> objects.</a:t>
            </a:r>
          </a:p>
          <a:p>
            <a:r>
              <a:rPr lang="en-US" b="1" dirty="0" err="1" smtClean="0"/>
              <a:t>FileInfo</a:t>
            </a:r>
            <a:r>
              <a:rPr lang="en-US" dirty="0" smtClean="0"/>
              <a:t> - contains </a:t>
            </a:r>
            <a:r>
              <a:rPr lang="en-US" b="1" dirty="0" smtClean="0"/>
              <a:t>instance</a:t>
            </a:r>
            <a:r>
              <a:rPr lang="en-US" dirty="0" smtClean="0"/>
              <a:t> methods to create, copy, delete, move, and open files, and assists in the creation of </a:t>
            </a:r>
            <a:r>
              <a:rPr lang="en-US" dirty="0" err="1" smtClean="0"/>
              <a:t>FileStream</a:t>
            </a:r>
            <a:r>
              <a:rPr lang="en-US" dirty="0" smtClean="0"/>
              <a:t> objects.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BufferedStream</a:t>
            </a:r>
            <a:r>
              <a:rPr lang="en-US" dirty="0" smtClean="0"/>
              <a:t> - Offers a temporary location to read or write info; later it can be moved to permanent storage.</a:t>
            </a:r>
          </a:p>
          <a:p>
            <a:r>
              <a:rPr lang="en-US" b="1" dirty="0" err="1" smtClean="0"/>
              <a:t>FileStream</a:t>
            </a:r>
            <a:r>
              <a:rPr lang="en-US" dirty="0" smtClean="0"/>
              <a:t> - suitable for file-based streaming (random file access). The </a:t>
            </a:r>
            <a:r>
              <a:rPr lang="en-US" dirty="0" err="1" smtClean="0"/>
              <a:t>FileStream</a:t>
            </a:r>
            <a:r>
              <a:rPr lang="en-US" dirty="0" smtClean="0"/>
              <a:t> class can open a file in one of the two modes, either </a:t>
            </a:r>
            <a:r>
              <a:rPr lang="en-US" i="1" dirty="0" smtClean="0"/>
              <a:t>synchronously</a:t>
            </a:r>
            <a:r>
              <a:rPr lang="en-US" dirty="0" smtClean="0"/>
              <a:t> (Read and Write methods) or </a:t>
            </a:r>
            <a:r>
              <a:rPr lang="en-US" i="1" dirty="0" smtClean="0"/>
              <a:t>asynchronously</a:t>
            </a:r>
            <a:r>
              <a:rPr lang="en-US" dirty="0" smtClean="0"/>
              <a:t> (</a:t>
            </a:r>
            <a:r>
              <a:rPr lang="en-US" dirty="0" err="1" smtClean="0"/>
              <a:t>BeginRead</a:t>
            </a:r>
            <a:r>
              <a:rPr lang="en-US" dirty="0" smtClean="0"/>
              <a:t> and </a:t>
            </a:r>
            <a:r>
              <a:rPr lang="en-US" dirty="0" err="1" smtClean="0"/>
              <a:t>BeginWrite</a:t>
            </a:r>
            <a:r>
              <a:rPr lang="en-US" dirty="0" smtClean="0"/>
              <a:t> methods).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MemoryStream</a:t>
            </a:r>
            <a:r>
              <a:rPr lang="en-US" dirty="0" smtClean="0"/>
              <a:t> - streams that have memory as a backing store instead of a disk or a network connection.</a:t>
            </a:r>
          </a:p>
          <a:p>
            <a:r>
              <a:rPr lang="en-US" b="1" dirty="0" err="1" smtClean="0"/>
              <a:t>StreamReader</a:t>
            </a:r>
            <a:r>
              <a:rPr lang="en-US" dirty="0" smtClean="0"/>
              <a:t> and </a:t>
            </a:r>
            <a:r>
              <a:rPr lang="en-US" b="1" dirty="0" err="1" smtClean="0"/>
              <a:t>StreamWriter</a:t>
            </a:r>
            <a:r>
              <a:rPr lang="en-US" dirty="0" smtClean="0"/>
              <a:t> - read and write characters from a byte stream in a particular encoding.</a:t>
            </a:r>
          </a:p>
          <a:p>
            <a:r>
              <a:rPr lang="en-US" b="1" dirty="0" err="1" smtClean="0"/>
              <a:t>StringReader</a:t>
            </a:r>
            <a:r>
              <a:rPr lang="en-US" dirty="0" smtClean="0"/>
              <a:t> and </a:t>
            </a:r>
            <a:r>
              <a:rPr lang="en-US" b="1" dirty="0" err="1" smtClean="0"/>
              <a:t>StringWriter</a:t>
            </a:r>
            <a:r>
              <a:rPr lang="en-US" dirty="0" smtClean="0"/>
              <a:t> - read and write characters from and to a string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DirectoryInfo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 smtClean="0"/>
              <a:t>Creating a directory in another directory:</a:t>
            </a:r>
          </a:p>
          <a:p>
            <a:pPr>
              <a:buNone/>
            </a:pPr>
            <a:r>
              <a:rPr lang="en-US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// To create a directory </a:t>
            </a:r>
          </a:p>
          <a:p>
            <a:pPr>
              <a:buNone/>
            </a:pPr>
            <a:r>
              <a:rPr lang="en-US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DirectoryInfo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dir;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dir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DirectoryInfo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"C:\\test"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None/>
            </a:pPr>
            <a:r>
              <a:rPr lang="en-US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// To create a subdirectory</a:t>
            </a:r>
          </a:p>
          <a:p>
            <a:pPr>
              <a:buNone/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dir.CreateSubdirectory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Dotnet</a:t>
            </a:r>
            <a:r>
              <a:rPr lang="en-US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Refer to the documentation for other available methods.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FileInfo</a:t>
            </a:r>
            <a:r>
              <a:rPr lang="en-US" dirty="0" smtClean="0"/>
              <a:t> – Create a new file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Create a new file in a directory</a:t>
            </a:r>
          </a:p>
          <a:p>
            <a:pPr>
              <a:buNone/>
            </a:pPr>
            <a:r>
              <a:rPr lang="en-US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en-US" b="1" dirty="0">
              <a:solidFill>
                <a:srgbClr val="92D05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SG" dirty="0" smtClean="0"/>
              <a:t>   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 smtClean="0"/>
              <a:t>   </a:t>
            </a:r>
            <a:r>
              <a:rPr lang="en-SG" dirty="0" err="1" smtClean="0"/>
              <a:t>fPath</a:t>
            </a:r>
            <a:r>
              <a:rPr lang="en-SG" dirty="0" smtClean="0"/>
              <a:t> </a:t>
            </a:r>
            <a:r>
              <a:rPr lang="en-SG" dirty="0"/>
              <a:t>= </a:t>
            </a:r>
            <a:r>
              <a:rPr lang="en-SG" dirty="0" err="1"/>
              <a:t>Server.MapPath</a:t>
            </a:r>
            <a:r>
              <a:rPr lang="en-SG" dirty="0" smtClean="0"/>
              <a:t>("~/error"); 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   </a:t>
            </a:r>
            <a:r>
              <a:rPr lang="en-SG" dirty="0" err="1" smtClean="0"/>
              <a:t>fName</a:t>
            </a:r>
            <a:r>
              <a:rPr lang="en-SG" dirty="0" smtClean="0"/>
              <a:t> </a:t>
            </a:r>
            <a:r>
              <a:rPr lang="en-SG" dirty="0"/>
              <a:t>= </a:t>
            </a:r>
            <a:r>
              <a:rPr lang="en-SG" dirty="0" smtClean="0"/>
              <a:t> </a:t>
            </a:r>
            <a:r>
              <a:rPr lang="en-SG" dirty="0" err="1" smtClean="0"/>
              <a:t>fPath</a:t>
            </a:r>
            <a:r>
              <a:rPr lang="en-SG" dirty="0" smtClean="0"/>
              <a:t> </a:t>
            </a:r>
            <a:r>
              <a:rPr lang="en-SG" dirty="0"/>
              <a:t>+ </a:t>
            </a:r>
            <a:r>
              <a:rPr lang="en-SG" dirty="0" smtClean="0"/>
              <a:t>"/tracking"  + </a:t>
            </a:r>
            <a:r>
              <a:rPr lang="en-SG" dirty="0"/>
              <a:t>".log</a:t>
            </a:r>
            <a:r>
              <a:rPr lang="en-SG" dirty="0" smtClean="0"/>
              <a:t>";</a:t>
            </a:r>
          </a:p>
          <a:p>
            <a:pPr marL="0" indent="0">
              <a:buNone/>
            </a:pPr>
            <a:r>
              <a:rPr lang="en-SG" dirty="0"/>
              <a:t> </a:t>
            </a:r>
            <a:r>
              <a:rPr lang="en-SG" dirty="0" smtClean="0"/>
              <a:t>  </a:t>
            </a:r>
            <a:r>
              <a:rPr lang="en-SG" dirty="0" err="1" smtClean="0"/>
              <a:t>FileInfo</a:t>
            </a:r>
            <a:r>
              <a:rPr lang="en-SG" dirty="0" smtClean="0"/>
              <a:t> </a:t>
            </a:r>
            <a:r>
              <a:rPr lang="en-SG" dirty="0" smtClean="0">
                <a:solidFill>
                  <a:srgbClr val="CC3300"/>
                </a:solidFill>
              </a:rPr>
              <a:t>fi</a:t>
            </a:r>
            <a:r>
              <a:rPr lang="en-SG" dirty="0" smtClean="0"/>
              <a:t> = new </a:t>
            </a:r>
            <a:r>
              <a:rPr lang="en-SG" dirty="0" err="1" smtClean="0"/>
              <a:t>FileInfo</a:t>
            </a:r>
            <a:r>
              <a:rPr lang="en-SG" dirty="0" smtClean="0"/>
              <a:t>(</a:t>
            </a:r>
            <a:r>
              <a:rPr lang="en-SG" dirty="0" err="1" smtClean="0"/>
              <a:t>fName</a:t>
            </a:r>
            <a:r>
              <a:rPr lang="en-SG" dirty="0" smtClean="0"/>
              <a:t>);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</a:t>
            </a:r>
            <a:r>
              <a:rPr lang="en-SG" dirty="0" err="1" smtClean="0"/>
              <a:t>StreamWriter</a:t>
            </a:r>
            <a:r>
              <a:rPr lang="en-SG" dirty="0" smtClean="0"/>
              <a:t> </a:t>
            </a:r>
            <a:r>
              <a:rPr lang="en-SG" dirty="0" err="1"/>
              <a:t>wtr</a:t>
            </a:r>
            <a:r>
              <a:rPr lang="en-SG" dirty="0"/>
              <a:t> </a:t>
            </a:r>
            <a:r>
              <a:rPr lang="en-SG" dirty="0" smtClean="0"/>
              <a:t>;</a:t>
            </a:r>
          </a:p>
          <a:p>
            <a:pPr marL="0" indent="0">
              <a:buNone/>
            </a:pPr>
            <a:r>
              <a:rPr lang="en-SG" dirty="0" smtClean="0"/>
              <a:t>   if ( </a:t>
            </a:r>
            <a:r>
              <a:rPr lang="en-SG" dirty="0" smtClean="0">
                <a:solidFill>
                  <a:srgbClr val="CC3300"/>
                </a:solidFill>
              </a:rPr>
              <a:t>!</a:t>
            </a:r>
            <a:r>
              <a:rPr lang="en-SG" dirty="0" err="1" smtClean="0">
                <a:solidFill>
                  <a:srgbClr val="CC3300"/>
                </a:solidFill>
              </a:rPr>
              <a:t>fi.Exists</a:t>
            </a:r>
            <a:r>
              <a:rPr lang="en-SG" dirty="0" smtClean="0">
                <a:solidFill>
                  <a:srgbClr val="CC3300"/>
                </a:solidFill>
              </a:rPr>
              <a:t> </a:t>
            </a:r>
            <a:r>
              <a:rPr lang="en-SG" dirty="0" smtClean="0"/>
              <a:t>)</a:t>
            </a:r>
            <a:endParaRPr lang="en-SG" dirty="0"/>
          </a:p>
          <a:p>
            <a:pPr marL="0" indent="0">
              <a:buNone/>
            </a:pPr>
            <a:r>
              <a:rPr lang="en-GB" dirty="0" smtClean="0"/>
              <a:t>       </a:t>
            </a:r>
            <a:r>
              <a:rPr lang="en-SG" dirty="0" err="1" smtClean="0"/>
              <a:t>wtr</a:t>
            </a:r>
            <a:r>
              <a:rPr lang="en-SG" dirty="0" smtClean="0"/>
              <a:t> </a:t>
            </a:r>
            <a:r>
              <a:rPr lang="en-SG" dirty="0"/>
              <a:t>= </a:t>
            </a:r>
            <a:r>
              <a:rPr lang="en-SG" dirty="0" err="1" smtClean="0"/>
              <a:t>fi.</a:t>
            </a:r>
            <a:r>
              <a:rPr lang="en-SG" dirty="0" err="1" smtClean="0">
                <a:solidFill>
                  <a:srgbClr val="CC3300"/>
                </a:solidFill>
              </a:rPr>
              <a:t>CreateText</a:t>
            </a:r>
            <a:r>
              <a:rPr lang="en-SG" dirty="0"/>
              <a:t>();</a:t>
            </a:r>
          </a:p>
          <a:p>
            <a:pPr marL="0" indent="0">
              <a:buNone/>
            </a:pPr>
            <a:endParaRPr lang="en-SG" dirty="0" smtClean="0"/>
          </a:p>
          <a:p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FD2A6EF-CEF4-4B09-9547-99E4523CE32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38200" y="1427480"/>
            <a:ext cx="7924800" cy="502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 smtClean="0"/>
              <a:t>Server.MapPath</a:t>
            </a:r>
            <a:r>
              <a:rPr lang="en-GB" sz="2400" b="1" dirty="0" smtClean="0"/>
              <a:t> return the physical path of the application</a:t>
            </a:r>
            <a:endParaRPr lang="en-SG" sz="24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908509" y="2748280"/>
            <a:ext cx="6976311" cy="4572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smtClean="0"/>
              <a:t>~/error  subdirectory of the  application directory 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87993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FileInfo</a:t>
            </a:r>
            <a:r>
              <a:rPr lang="en-US" dirty="0" smtClean="0"/>
              <a:t> – Add on to existing file</a:t>
            </a:r>
            <a:endParaRPr lang="en-S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Append text to an existing file</a:t>
            </a:r>
            <a:endParaRPr lang="en-SG" dirty="0"/>
          </a:p>
          <a:p>
            <a:pPr>
              <a:buNone/>
            </a:pPr>
            <a:r>
              <a:rPr lang="en-US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To </a:t>
            </a:r>
            <a:r>
              <a:rPr lang="en-US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append text in existing file </a:t>
            </a:r>
          </a:p>
          <a:p>
            <a:pPr>
              <a:buNone/>
            </a:pPr>
            <a:r>
              <a:rPr lang="en-SG" dirty="0" smtClean="0"/>
              <a:t>   </a:t>
            </a:r>
            <a:r>
              <a:rPr lang="en-SG" dirty="0" err="1" smtClean="0"/>
              <a:t>fPath</a:t>
            </a:r>
            <a:r>
              <a:rPr lang="en-SG" dirty="0" smtClean="0"/>
              <a:t> </a:t>
            </a:r>
            <a:r>
              <a:rPr lang="en-SG" dirty="0"/>
              <a:t>= </a:t>
            </a:r>
            <a:r>
              <a:rPr lang="en-SG" dirty="0" err="1"/>
              <a:t>Server.MapPath</a:t>
            </a:r>
            <a:r>
              <a:rPr lang="en-SG" dirty="0" smtClean="0"/>
              <a:t>("~/error");</a:t>
            </a:r>
          </a:p>
          <a:p>
            <a:pPr>
              <a:buNone/>
            </a:pPr>
            <a:r>
              <a:rPr lang="en-SG" dirty="0"/>
              <a:t> </a:t>
            </a:r>
            <a:r>
              <a:rPr lang="en-SG" dirty="0" smtClean="0"/>
              <a:t>  </a:t>
            </a:r>
            <a:r>
              <a:rPr lang="en-SG" dirty="0" err="1" smtClean="0"/>
              <a:t>fName</a:t>
            </a:r>
            <a:r>
              <a:rPr lang="en-SG" dirty="0" smtClean="0"/>
              <a:t> = </a:t>
            </a:r>
            <a:r>
              <a:rPr lang="en-SG" dirty="0" err="1" smtClean="0"/>
              <a:t>f</a:t>
            </a:r>
            <a:r>
              <a:rPr lang="en-SG" dirty="0" err="1"/>
              <a:t>Path</a:t>
            </a:r>
            <a:r>
              <a:rPr lang="en-SG" dirty="0"/>
              <a:t> + "/tracking"  + ".</a:t>
            </a:r>
            <a:r>
              <a:rPr lang="en-SG" dirty="0" smtClean="0"/>
              <a:t>log“;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   </a:t>
            </a:r>
            <a:r>
              <a:rPr lang="en-SG" dirty="0" err="1" smtClean="0"/>
              <a:t>FileInfo</a:t>
            </a:r>
            <a:r>
              <a:rPr lang="en-SG" dirty="0" smtClean="0"/>
              <a:t> </a:t>
            </a:r>
            <a:r>
              <a:rPr lang="en-SG" dirty="0" smtClean="0">
                <a:solidFill>
                  <a:srgbClr val="CC3300"/>
                </a:solidFill>
              </a:rPr>
              <a:t>fi </a:t>
            </a:r>
            <a:r>
              <a:rPr lang="en-SG" dirty="0" smtClean="0"/>
              <a:t>= </a:t>
            </a:r>
            <a:r>
              <a:rPr lang="en-SG" dirty="0"/>
              <a:t>new </a:t>
            </a:r>
            <a:r>
              <a:rPr lang="en-SG" dirty="0" err="1"/>
              <a:t>FileInfo</a:t>
            </a:r>
            <a:r>
              <a:rPr lang="en-SG" dirty="0"/>
              <a:t>(</a:t>
            </a:r>
            <a:r>
              <a:rPr lang="en-SG" dirty="0" err="1"/>
              <a:t>fName</a:t>
            </a:r>
            <a:r>
              <a:rPr lang="en-SG" dirty="0"/>
              <a:t>);</a:t>
            </a:r>
            <a:endParaRPr lang="en-SG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</a:t>
            </a:r>
            <a:r>
              <a:rPr lang="en-SG" dirty="0" err="1" smtClean="0"/>
              <a:t>StreamWriter</a:t>
            </a:r>
            <a:r>
              <a:rPr lang="en-SG" dirty="0" smtClean="0"/>
              <a:t> </a:t>
            </a:r>
            <a:r>
              <a:rPr lang="en-SG" dirty="0" err="1"/>
              <a:t>wtr</a:t>
            </a:r>
            <a:r>
              <a:rPr lang="en-SG" dirty="0"/>
              <a:t> </a:t>
            </a:r>
            <a:r>
              <a:rPr lang="en-SG" dirty="0" smtClean="0"/>
              <a:t>;</a:t>
            </a:r>
          </a:p>
          <a:p>
            <a:pPr marL="0" indent="0">
              <a:buNone/>
            </a:pPr>
            <a:r>
              <a:rPr lang="en-SG" dirty="0" smtClean="0"/>
              <a:t>   if (</a:t>
            </a:r>
            <a:r>
              <a:rPr lang="en-SG" dirty="0" err="1" smtClean="0">
                <a:solidFill>
                  <a:srgbClr val="CC3300"/>
                </a:solidFill>
              </a:rPr>
              <a:t>fi.Exists</a:t>
            </a:r>
            <a:r>
              <a:rPr lang="en-SG" dirty="0" smtClean="0"/>
              <a:t>)</a:t>
            </a:r>
            <a:endParaRPr lang="en-SG" dirty="0"/>
          </a:p>
          <a:p>
            <a:pPr marL="0" indent="0">
              <a:buNone/>
            </a:pPr>
            <a:r>
              <a:rPr lang="en-GB" dirty="0" smtClean="0"/>
              <a:t>      </a:t>
            </a:r>
            <a:r>
              <a:rPr lang="en-SG" dirty="0" err="1" smtClean="0"/>
              <a:t>wtr</a:t>
            </a:r>
            <a:r>
              <a:rPr lang="en-SG" dirty="0" smtClean="0"/>
              <a:t> </a:t>
            </a:r>
            <a:r>
              <a:rPr lang="en-SG" dirty="0"/>
              <a:t>= </a:t>
            </a:r>
            <a:r>
              <a:rPr lang="en-SG" dirty="0" err="1" smtClean="0"/>
              <a:t>fi.</a:t>
            </a:r>
            <a:r>
              <a:rPr lang="en-SG" dirty="0" err="1" smtClean="0">
                <a:solidFill>
                  <a:srgbClr val="CC3300"/>
                </a:solidFill>
              </a:rPr>
              <a:t>AppendText</a:t>
            </a:r>
            <a:r>
              <a:rPr lang="en-SG" dirty="0"/>
              <a:t>();</a:t>
            </a:r>
          </a:p>
          <a:p>
            <a:pPr marL="0" indent="0">
              <a:buNone/>
            </a:pPr>
            <a:endParaRPr lang="en-SG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FD2A6EF-CEF4-4B09-9547-99E4523CE32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to a 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FileInfo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file;</a:t>
            </a:r>
          </a:p>
          <a:p>
            <a:pPr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file = </a:t>
            </a: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FileInfo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"C:\\test.txt"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None/>
            </a:pPr>
            <a:r>
              <a:rPr lang="en-US" sz="2800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StreamWriter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wtr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file.CreateText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8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"Some strings"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wtr.WriteLine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None/>
            </a:pP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wtr.Close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from a 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 err="1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StreamReader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rdr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File.OpenText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"C:\\stuff.txt"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input =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((input =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rdr.ReadLine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()) != null)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Response.Write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(input);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buNone/>
            </a:pP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rdr.Close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quite a number of classes in System.IO and in our lab we will make use of the following:</a:t>
            </a:r>
          </a:p>
          <a:p>
            <a:pPr lvl="1"/>
            <a:r>
              <a:rPr lang="en-US" dirty="0" err="1" smtClean="0"/>
              <a:t>FileInfo</a:t>
            </a:r>
            <a:endParaRPr lang="en-US" dirty="0" smtClean="0"/>
          </a:p>
          <a:p>
            <a:pPr lvl="1"/>
            <a:r>
              <a:rPr lang="en-US" dirty="0" err="1" smtClean="0"/>
              <a:t>DirectoryInfo</a:t>
            </a:r>
            <a:endParaRPr lang="en-US" dirty="0" smtClean="0"/>
          </a:p>
          <a:p>
            <a:pPr lvl="1"/>
            <a:r>
              <a:rPr lang="en-US" dirty="0" err="1" smtClean="0"/>
              <a:t>StreamWriter</a:t>
            </a:r>
            <a:endParaRPr lang="en-US" dirty="0" smtClean="0"/>
          </a:p>
          <a:p>
            <a:pPr lvl="1"/>
            <a:r>
              <a:rPr lang="en-US" dirty="0" err="1" smtClean="0"/>
              <a:t>StreamReader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Nanyang Polytechnic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FD2A6EF-CEF4-4B09-9547-99E4523CE32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2767</TotalTime>
  <Words>612</Words>
  <Application>Microsoft Office PowerPoint</Application>
  <PresentationFormat>On-screen Show (4:3)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Trebuchet MS</vt:lpstr>
      <vt:lpstr>Wingdings 3</vt:lpstr>
      <vt:lpstr>Facet</vt:lpstr>
      <vt:lpstr>Lecture 11: File IO</vt:lpstr>
      <vt:lpstr>Overview</vt:lpstr>
      <vt:lpstr>Key Classes</vt:lpstr>
      <vt:lpstr>Key Classes</vt:lpstr>
      <vt:lpstr>Key Classes</vt:lpstr>
      <vt:lpstr>Key Classes</vt:lpstr>
      <vt:lpstr>DirectoryInfo</vt:lpstr>
      <vt:lpstr>FileInfo – Create a new file</vt:lpstr>
      <vt:lpstr>FileInfo – Add on to existing file</vt:lpstr>
      <vt:lpstr>Writing to a Text File</vt:lpstr>
      <vt:lpstr>Reading from a Text File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450</cp:revision>
  <cp:lastPrinted>2012-07-03T08:37:07Z</cp:lastPrinted>
  <dcterms:created xsi:type="dcterms:W3CDTF">1601-01-01T00:00:00Z</dcterms:created>
  <dcterms:modified xsi:type="dcterms:W3CDTF">2017-04-05T07:19:51Z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