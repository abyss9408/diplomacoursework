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1" r:id="rId1"/>
  </p:sldMasterIdLst>
  <p:notesMasterIdLst>
    <p:notesMasterId r:id="rId10"/>
  </p:notesMasterIdLst>
  <p:handoutMasterIdLst>
    <p:handoutMasterId r:id="rId11"/>
  </p:handoutMasterIdLst>
  <p:sldIdLst>
    <p:sldId id="256" r:id="rId2"/>
    <p:sldId id="316" r:id="rId3"/>
    <p:sldId id="317" r:id="rId4"/>
    <p:sldId id="318" r:id="rId5"/>
    <p:sldId id="319" r:id="rId6"/>
    <p:sldId id="320" r:id="rId7"/>
    <p:sldId id="321" r:id="rId8"/>
    <p:sldId id="322" r:id="rId9"/>
  </p:sldIdLst>
  <p:sldSz cx="9144000" cy="6858000" type="screen4x3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990033"/>
    <a:srgbClr val="CC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9" autoAdjust="0"/>
    <p:restoredTop sz="78374" autoAdjust="0"/>
  </p:normalViewPr>
  <p:slideViewPr>
    <p:cSldViewPr>
      <p:cViewPr varScale="1">
        <p:scale>
          <a:sx n="60" d="100"/>
          <a:sy n="60" d="100"/>
        </p:scale>
        <p:origin x="90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6" d="100"/>
          <a:sy n="46" d="100"/>
        </p:scale>
        <p:origin x="-2050" y="-96"/>
      </p:cViewPr>
      <p:guideLst>
        <p:guide orient="horz" pos="3223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/>
            </a:lvl1pPr>
          </a:lstStyle>
          <a:p>
            <a:r>
              <a:rPr lang="en-SG" dirty="0" smtClean="0"/>
              <a:t>NYP | School of IT | ITP271 Web Applications Development</a:t>
            </a:r>
            <a:endParaRPr 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endParaRPr lang="en-US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/>
            </a:lvl1pPr>
          </a:lstStyle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fld id="{D9CB5D22-CA85-4AEF-AD92-341C62BB169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522478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/>
            </a:lvl1pPr>
          </a:lstStyle>
          <a:p>
            <a:r>
              <a:rPr lang="en-SG" dirty="0" smtClean="0"/>
              <a:t>NYP | School of IT | ITP271 Web Applications Development</a:t>
            </a:r>
            <a:endParaRPr 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/>
            </a:lvl1pPr>
          </a:lstStyle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fld id="{0ABB98EA-6246-485E-841E-BF45FF02CE4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063662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BB98EA-6246-485E-841E-BF45FF02CE45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SG" dirty="0" smtClean="0"/>
              <a:t>NYP | School of IT | ITP271 Web Applications Development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025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BB98EA-6246-485E-841E-BF45FF02CE45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SG" dirty="0" smtClean="0"/>
              <a:t>NYP | School of IT | ITP271 Web Applications Development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970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37DE5-ED37-4362-883D-EB99F29D0B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6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E280-AA84-48CF-B7DB-4C255992DD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4896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ED9B8-049F-4794-83E1-1D8A49E8B3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767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B0A6-7657-44A0-860E-14279085BE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465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DDA22-91A1-4AE6-A800-A2E04C55DE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194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E241-DFFC-425B-847B-50EAE3C30E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567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1744-24AE-481C-BED4-2AC1E459CB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580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ED296-C0E3-447C-A177-253A1E8E1D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030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1C7C-4F19-4EFE-851B-EA57C30962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386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9686-F023-4ADD-8697-1F7EA8D60F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09999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9686-F023-4ADD-8697-1F7EA8D60F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4725901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9686-F023-4ADD-8697-1F7EA8D60F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228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9686-F023-4ADD-8697-1F7EA8D60F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9510888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9686-F023-4ADD-8697-1F7EA8D60F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37506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08F67-DF65-465B-B7E4-341764CDF6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941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18F75-D956-4C19-B595-43101EF8F9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926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D839686-F023-4ADD-8697-1F7EA8D60F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0" y="1554480"/>
            <a:ext cx="533400" cy="5303520"/>
          </a:xfrm>
          <a:prstGeom prst="rect">
            <a:avLst/>
          </a:prstGeom>
          <a:solidFill>
            <a:schemeClr val="accent1"/>
          </a:solidFill>
        </p:spPr>
        <p:txBody>
          <a:bodyPr vert="eaVert" wrap="none" lIns="36000" tIns="108000" rIns="36000" bIns="36000" rtlCol="0" anchor="ctr" anchorCtr="0">
            <a:noAutofit/>
          </a:bodyPr>
          <a:lstStyle/>
          <a:p>
            <a:r>
              <a:rPr lang="en-GB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NYP</a:t>
            </a:r>
            <a:r>
              <a:rPr lang="en-GB" b="1" baseline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:: School of IT :: DCS: ITP271 : AY2017S1</a:t>
            </a:r>
            <a:endParaRPr lang="en-SG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29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GB" smtClean="0"/>
              <a:t>Lecture LA08 </a:t>
            </a:r>
            <a:r>
              <a:rPr lang="en-GB" dirty="0" smtClean="0"/>
              <a:t>– </a:t>
            </a:r>
            <a:r>
              <a:rPr lang="en-GB" dirty="0" err="1" smtClean="0"/>
              <a:t>GridView</a:t>
            </a:r>
            <a:r>
              <a:rPr lang="en-GB" dirty="0" smtClean="0"/>
              <a:t> </a:t>
            </a:r>
            <a:r>
              <a:rPr lang="en-GB" dirty="0"/>
              <a:t/>
            </a:r>
            <a:br>
              <a:rPr lang="en-GB" dirty="0"/>
            </a:br>
            <a:endParaRPr lang="en-GB" dirty="0" smtClean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400751"/>
            <a:ext cx="5826719" cy="1096899"/>
          </a:xfrm>
        </p:spPr>
        <p:txBody>
          <a:bodyPr>
            <a:normAutofit/>
          </a:bodyPr>
          <a:lstStyle/>
          <a:p>
            <a:r>
              <a:rPr lang="en-GB" dirty="0" smtClean="0"/>
              <a:t>ITP271 : Web Application Development &amp; Project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GridView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2800" dirty="0" err="1" smtClean="0"/>
              <a:t>GridView</a:t>
            </a:r>
            <a:r>
              <a:rPr lang="en-US" sz="2800" dirty="0" smtClean="0"/>
              <a:t> can display Collection List objects with minimum coding too.</a:t>
            </a:r>
          </a:p>
          <a:p>
            <a:pPr>
              <a:defRPr/>
            </a:pPr>
            <a:r>
              <a:rPr lang="en-US" sz="2800" dirty="0" smtClean="0"/>
              <a:t>It uses reflection or introspection of object where it displays the value using object property method.</a:t>
            </a:r>
          </a:p>
          <a:p>
            <a:pPr>
              <a:defRPr/>
            </a:pPr>
            <a:r>
              <a:rPr lang="en-US" sz="2800" dirty="0" smtClean="0"/>
              <a:t>It handles the primitive data type automatically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GridView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Example </a:t>
            </a:r>
            <a:r>
              <a:rPr lang="en-US" dirty="0" err="1" smtClean="0"/>
              <a:t>UserFeedback</a:t>
            </a:r>
            <a:r>
              <a:rPr lang="en-US" dirty="0" smtClean="0"/>
              <a:t> object has the following property which returns a string value</a:t>
            </a:r>
          </a:p>
          <a:p>
            <a:pPr lvl="1">
              <a:defRPr/>
            </a:pPr>
            <a:r>
              <a:rPr lang="en-US" dirty="0" smtClean="0"/>
              <a:t>Comment</a:t>
            </a:r>
          </a:p>
          <a:p>
            <a:pPr lvl="1">
              <a:defRPr/>
            </a:pPr>
            <a:r>
              <a:rPr lang="en-US" dirty="0" smtClean="0"/>
              <a:t>Email</a:t>
            </a:r>
          </a:p>
          <a:p>
            <a:pPr lvl="1">
              <a:defRPr/>
            </a:pPr>
            <a:r>
              <a:rPr lang="en-US" dirty="0" smtClean="0"/>
              <a:t>Grade</a:t>
            </a:r>
          </a:p>
          <a:p>
            <a:pPr>
              <a:defRPr/>
            </a:pPr>
            <a:r>
              <a:rPr lang="en-US" dirty="0" err="1" smtClean="0"/>
              <a:t>GridView</a:t>
            </a:r>
            <a:r>
              <a:rPr lang="en-US" dirty="0" smtClean="0"/>
              <a:t> </a:t>
            </a:r>
            <a:r>
              <a:rPr lang="en-US" dirty="0" err="1" smtClean="0"/>
              <a:t>willl</a:t>
            </a:r>
            <a:r>
              <a:rPr lang="en-US" dirty="0" smtClean="0"/>
              <a:t> automatically display the above property and using its property name as heading text.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GridView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Customisation</a:t>
            </a:r>
            <a:r>
              <a:rPr lang="en-US" dirty="0" smtClean="0"/>
              <a:t> of </a:t>
            </a:r>
            <a:r>
              <a:rPr lang="en-US" dirty="0" err="1" smtClean="0"/>
              <a:t>GridView</a:t>
            </a:r>
            <a:r>
              <a:rPr lang="en-US" dirty="0" smtClean="0"/>
              <a:t> Heading and column sequence</a:t>
            </a:r>
          </a:p>
          <a:p>
            <a:r>
              <a:rPr lang="en-US" dirty="0" err="1" smtClean="0"/>
              <a:t>TemplateField</a:t>
            </a:r>
            <a:endParaRPr lang="en-US" dirty="0" smtClean="0"/>
          </a:p>
          <a:p>
            <a:r>
              <a:rPr lang="en-US" dirty="0" err="1" smtClean="0"/>
              <a:t>ItemTemplate</a:t>
            </a:r>
            <a:endParaRPr lang="en-US" dirty="0" smtClean="0"/>
          </a:p>
          <a:p>
            <a:r>
              <a:rPr lang="en-US" dirty="0" smtClean="0"/>
              <a:t>&lt;%#</a:t>
            </a:r>
            <a:r>
              <a:rPr lang="en-US" dirty="0" err="1" smtClean="0"/>
              <a:t>Eval</a:t>
            </a:r>
            <a:r>
              <a:rPr lang="en-US" dirty="0" smtClean="0"/>
              <a:t>(…)%&gt;</a:t>
            </a:r>
          </a:p>
          <a:p>
            <a:r>
              <a:rPr lang="en-US" dirty="0" smtClean="0"/>
              <a:t>Disable Auto-generated fields</a:t>
            </a:r>
          </a:p>
          <a:p>
            <a:r>
              <a:rPr lang="en-US" dirty="0" smtClean="0"/>
              <a:t>Format </a:t>
            </a:r>
            <a:r>
              <a:rPr lang="en-US" dirty="0" err="1" smtClean="0"/>
              <a:t>GridView</a:t>
            </a:r>
            <a:endParaRPr lang="en-US" dirty="0" smtClean="0"/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TemplateField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pic>
        <p:nvPicPr>
          <p:cNvPr id="133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62200"/>
            <a:ext cx="8458200" cy="305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ItemTemplate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pic>
        <p:nvPicPr>
          <p:cNvPr id="1433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76400"/>
            <a:ext cx="8694738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Eval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9663" y="196557"/>
            <a:ext cx="6347714" cy="3880773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Eval</a:t>
            </a:r>
            <a:r>
              <a:rPr lang="en-US" dirty="0" smtClean="0"/>
              <a:t> function lets us evaluate a method call</a:t>
            </a:r>
          </a:p>
          <a:p>
            <a:pPr>
              <a:defRPr/>
            </a:pPr>
            <a:r>
              <a:rPr lang="en-US" dirty="0" smtClean="0"/>
              <a:t>The parameter refers to the property name of an object.</a:t>
            </a:r>
          </a:p>
          <a:p>
            <a:pPr>
              <a:defRPr/>
            </a:pPr>
            <a:r>
              <a:rPr lang="en-US" dirty="0" smtClean="0"/>
              <a:t>&lt;%#</a:t>
            </a:r>
            <a:r>
              <a:rPr lang="en-US" dirty="0" err="1" smtClean="0"/>
              <a:t>Eval</a:t>
            </a:r>
            <a:r>
              <a:rPr lang="en-US" dirty="0" smtClean="0"/>
              <a:t>(“Comment”)%&gt;</a:t>
            </a:r>
          </a:p>
          <a:p>
            <a:pPr>
              <a:defRPr/>
            </a:pPr>
            <a:r>
              <a:rPr lang="en-US" dirty="0" smtClean="0"/>
              <a:t>In the lab exercise, </a:t>
            </a:r>
            <a:r>
              <a:rPr lang="en-US" dirty="0" err="1" smtClean="0"/>
              <a:t>GridView</a:t>
            </a:r>
            <a:r>
              <a:rPr lang="en-US" dirty="0" smtClean="0"/>
              <a:t> is bind to List&lt;</a:t>
            </a:r>
            <a:r>
              <a:rPr lang="en-US" dirty="0" err="1" smtClean="0"/>
              <a:t>UserFeedback</a:t>
            </a:r>
            <a:r>
              <a:rPr lang="en-US" dirty="0" smtClean="0"/>
              <a:t>&gt; collection, the preceding </a:t>
            </a:r>
            <a:r>
              <a:rPr lang="en-US" dirty="0" err="1" smtClean="0"/>
              <a:t>Eval</a:t>
            </a:r>
            <a:r>
              <a:rPr lang="en-US" dirty="0" smtClean="0"/>
              <a:t> calls the Comment property in </a:t>
            </a:r>
            <a:r>
              <a:rPr lang="en-US" dirty="0" err="1" smtClean="0"/>
              <a:t>UserFeedback</a:t>
            </a:r>
            <a:r>
              <a:rPr lang="en-US" dirty="0" smtClean="0"/>
              <a:t> object.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88" y="3404559"/>
            <a:ext cx="4703320" cy="3137660"/>
          </a:xfrm>
          <a:prstGeom prst="rect">
            <a:avLst/>
          </a:prstGeom>
          <a:effectLst>
            <a:outerShdw blurRad="50800" dist="38100" dir="15000000" sx="106000" sy="106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510988" y="2899496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UserFeedback.cs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3224628"/>
            <a:ext cx="5333841" cy="2344172"/>
          </a:xfrm>
          <a:prstGeom prst="rect">
            <a:avLst/>
          </a:prstGeom>
          <a:effectLst>
            <a:outerShdw blurRad="50800" dist="50800" dir="1680000" sx="105000" sy="105000" algn="ctr" rotWithShape="0">
              <a:srgbClr val="000000">
                <a:alpha val="43137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3276600" y="2846940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Feedback.aspx.cs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78377"/>
            <a:ext cx="2670533" cy="134793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dirty="0" smtClean="0"/>
              <a:t>In the practical, we will learn how to use the what we have learned</a:t>
            </a:r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r>
              <a:rPr lang="en-US" dirty="0" smtClean="0"/>
              <a:t>Binding </a:t>
            </a:r>
            <a:r>
              <a:rPr lang="en-US" dirty="0" err="1" smtClean="0"/>
              <a:t>GridView</a:t>
            </a:r>
            <a:r>
              <a:rPr lang="en-US" dirty="0" smtClean="0"/>
              <a:t> to List Collection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2055</TotalTime>
  <Words>283</Words>
  <Application>Microsoft Office PowerPoint</Application>
  <PresentationFormat>On-screen Show (4:3)</PresentationFormat>
  <Paragraphs>46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Trebuchet MS</vt:lpstr>
      <vt:lpstr>Wingdings</vt:lpstr>
      <vt:lpstr>Wingdings 3</vt:lpstr>
      <vt:lpstr>Facet</vt:lpstr>
      <vt:lpstr>Lecture LA08 – GridView  </vt:lpstr>
      <vt:lpstr>GridView</vt:lpstr>
      <vt:lpstr>GridView</vt:lpstr>
      <vt:lpstr>GridView</vt:lpstr>
      <vt:lpstr>TemplateField</vt:lpstr>
      <vt:lpstr>ItemTemplate</vt:lpstr>
      <vt:lpstr>Eval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 B K JOYCE</dc:creator>
  <cp:lastModifiedBy>tommy low</cp:lastModifiedBy>
  <cp:revision>349</cp:revision>
  <cp:lastPrinted>1601-01-01T00:00:00Z</cp:lastPrinted>
  <dcterms:created xsi:type="dcterms:W3CDTF">1601-01-01T00:00:00Z</dcterms:created>
  <dcterms:modified xsi:type="dcterms:W3CDTF">2018-05-03T10:16:30Z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