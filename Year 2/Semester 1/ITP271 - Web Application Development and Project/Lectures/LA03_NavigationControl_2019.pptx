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1"/>
  </p:sldMasterIdLst>
  <p:notesMasterIdLst>
    <p:notesMasterId r:id="rId13"/>
  </p:notesMasterIdLst>
  <p:handoutMasterIdLst>
    <p:handoutMasterId r:id="rId14"/>
  </p:handoutMasterIdLst>
  <p:sldIdLst>
    <p:sldId id="256" r:id="rId2"/>
    <p:sldId id="308" r:id="rId3"/>
    <p:sldId id="286" r:id="rId4"/>
    <p:sldId id="309" r:id="rId5"/>
    <p:sldId id="288" r:id="rId6"/>
    <p:sldId id="295" r:id="rId7"/>
    <p:sldId id="296" r:id="rId8"/>
    <p:sldId id="316" r:id="rId9"/>
    <p:sldId id="314" r:id="rId10"/>
    <p:sldId id="313" r:id="rId11"/>
    <p:sldId id="282" r:id="rId12"/>
  </p:sldIdLst>
  <p:sldSz cx="9144000" cy="6858000" type="screen4x3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87037" autoAdjust="0"/>
  </p:normalViewPr>
  <p:slideViewPr>
    <p:cSldViewPr>
      <p:cViewPr varScale="1">
        <p:scale>
          <a:sx n="94" d="100"/>
          <a:sy n="94" d="100"/>
        </p:scale>
        <p:origin x="36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 smtClean="0"/>
            </a:lvl1pPr>
          </a:lstStyle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705" y="1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 smtClean="0"/>
            </a:lvl1pPr>
          </a:lstStyle>
          <a:p>
            <a:pPr>
              <a:defRPr/>
            </a:pPr>
            <a:fld id="{C3064CBC-7E95-46A4-ACF4-9657E28FF528}" type="datetimeFigureOut">
              <a:rPr lang="en-US"/>
              <a:pPr>
                <a:defRPr/>
              </a:pPr>
              <a:t>3/19/2015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0514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 smtClean="0"/>
            </a:lvl1pPr>
          </a:lstStyle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705" y="9720514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 smtClean="0"/>
            </a:lvl1pPr>
          </a:lstStyle>
          <a:p>
            <a:pPr>
              <a:defRPr/>
            </a:pPr>
            <a:fld id="{0EE5350C-F10C-434C-A60A-981614345A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827157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 smtClean="0"/>
            </a:lvl1pPr>
          </a:lstStyle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705" y="1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 smtClean="0"/>
            </a:lvl1pPr>
          </a:lstStyle>
          <a:p>
            <a:pPr>
              <a:defRPr/>
            </a:pPr>
            <a:fld id="{41580734-80BF-49C2-BE2A-F7A911FDF0C0}" type="datetimeFigureOut">
              <a:rPr lang="en-US"/>
              <a:pPr>
                <a:defRPr/>
              </a:pPr>
              <a:t>3/19/2015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0600" y="766763"/>
            <a:ext cx="511810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en-GB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3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GB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0514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 smtClean="0"/>
            </a:lvl1pPr>
          </a:lstStyle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705" y="9720514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 smtClean="0"/>
            </a:lvl1pPr>
          </a:lstStyle>
          <a:p>
            <a:pPr>
              <a:defRPr/>
            </a:pPr>
            <a:fld id="{732EF09C-7BA3-4F11-81D8-3D2C4EF6F0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493127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32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532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BA692635-988D-46A5-97F0-FC11C48930FE}" type="slidenum">
              <a:rPr lang="en-GB"/>
              <a:pPr/>
              <a:t>1</a:t>
            </a:fld>
            <a:endParaRPr lang="en-GB"/>
          </a:p>
        </p:txBody>
      </p:sp>
      <p:sp>
        <p:nvSpPr>
          <p:cNvPr id="2" name="Header Placeholder 1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531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EF09C-7BA3-4F11-81D8-3D2C4EF6F034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062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EF09C-7BA3-4F11-81D8-3D2C4EF6F034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3948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EF09C-7BA3-4F11-81D8-3D2C4EF6F034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0413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EF09C-7BA3-4F11-81D8-3D2C4EF6F034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781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EF09C-7BA3-4F11-81D8-3D2C4EF6F034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020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EF09C-7BA3-4F11-81D8-3D2C4EF6F034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777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EF09C-7BA3-4F11-81D8-3D2C4EF6F034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63758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EF09C-7BA3-4F11-81D8-3D2C4EF6F034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3485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EF09C-7BA3-4F11-81D8-3D2C4EF6F034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61274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NYP | School of IT | DEI | ITP271 - Web App. </a:t>
            </a:r>
            <a:r>
              <a:rPr lang="en-SG" dirty="0" err="1" smtClean="0"/>
              <a:t>Devt</a:t>
            </a:r>
            <a:r>
              <a:rPr lang="en-SG" dirty="0" smtClean="0"/>
              <a:t>. | AY2012S1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2EF09C-7BA3-4F11-81D8-3D2C4EF6F034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66953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1E36A2-005A-4847-B8C8-6111212F187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758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136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2F5F03-B4E8-4E76-8D15-D7A02B37F4C9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92013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02767A-A270-463C-AD5A-DA16FD021511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792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63043C-AF02-47A6-94E6-79D56287DC34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6445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8C0C68-B833-4A28-9581-90FD1A7807D2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914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5A0A89-AF74-4C9C-B2AE-829383CACADC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3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18F198-7A44-49F2-A1CA-74A9994943CD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1780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06FB8D-AC8E-4E10-B261-5C6A7007C7E1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104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E46547-8DC5-46FA-A8FB-B59967E582D3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5148345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E46547-8DC5-46FA-A8FB-B59967E582D3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21694986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E46547-8DC5-46FA-A8FB-B59967E582D3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7152168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E46547-8DC5-46FA-A8FB-B59967E582D3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33296930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EE46547-8DC5-46FA-A8FB-B59967E582D3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0110064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E5C373-9E86-4EA7-BCD1-61494BB31586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89467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E49699-FA81-4F7B-A192-822E9B328783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325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2EE46547-8DC5-46FA-A8FB-B59967E582D3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7261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marR="0"/>
            <a:r>
              <a:rPr lang="en-GB" smtClean="0"/>
              <a:t>Lecture LA03:</a:t>
            </a:r>
            <a:br>
              <a:rPr lang="en-GB" smtClean="0"/>
            </a:br>
            <a:r>
              <a:rPr lang="en-GB" smtClean="0"/>
              <a:t>  </a:t>
            </a:r>
            <a:r>
              <a:rPr lang="en-GB" dirty="0" smtClean="0"/>
              <a:t>Site Navigation 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GB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GB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</a:br>
            <a:r>
              <a:rPr lang="en-GB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ITP271 </a:t>
            </a:r>
            <a:r>
              <a:rPr lang="en-GB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:: Web Application </a:t>
            </a:r>
            <a:r>
              <a:rPr lang="en-GB" b="1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Development </a:t>
            </a:r>
            <a:r>
              <a:rPr lang="en-GB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&amp; Project</a:t>
            </a:r>
            <a:endParaRPr lang="en-GB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1E36A2-005A-4847-B8C8-6111212F187C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Introduction to Web Site Navigation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mtClean="0"/>
              <a:t>Instead of hard coding navigation links in html as in previous example, it is better to store them in files for easy maintenance.</a:t>
            </a:r>
          </a:p>
          <a:p>
            <a:r>
              <a:rPr lang="en-GB" smtClean="0"/>
              <a:t>In ASP.NET, site information is stored in an XML site map file, which, by default, has the file name web.sitemap </a:t>
            </a:r>
            <a:endParaRPr lang="en-GB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F48F64A-3213-44A5-A96A-9F4815EC7DC2}" type="slidenum">
              <a:rPr lang="en-GB" smtClean="0"/>
              <a:pPr/>
              <a:t>2</a:t>
            </a:fld>
            <a:endParaRPr lang="en-GB"/>
          </a:p>
        </p:txBody>
      </p:sp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4572000"/>
            <a:ext cx="8458200" cy="1088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smtClean="0"/>
              <a:t>Introduction to Web Site Navigation</a:t>
            </a:r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  <p:sp>
        <p:nvSpPr>
          <p:cNvPr id="20484" name="AutoShape 4"/>
          <p:cNvSpPr>
            <a:spLocks noChangeArrowheads="1"/>
          </p:cNvSpPr>
          <p:nvPr/>
        </p:nvSpPr>
        <p:spPr bwMode="auto">
          <a:xfrm>
            <a:off x="304800" y="2286000"/>
            <a:ext cx="1447800" cy="1143000"/>
          </a:xfrm>
          <a:prstGeom prst="flowChartPunchedTape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2000">
                <a:solidFill>
                  <a:schemeClr val="bg1"/>
                </a:solidFill>
              </a:rPr>
              <a:t>Web.sitemap</a:t>
            </a:r>
          </a:p>
          <a:p>
            <a:pPr algn="ctr"/>
            <a:r>
              <a:rPr lang="en-GB" sz="2000">
                <a:solidFill>
                  <a:schemeClr val="bg1"/>
                </a:solidFill>
              </a:rPr>
              <a:t>File</a:t>
            </a:r>
          </a:p>
        </p:txBody>
      </p:sp>
      <p:sp>
        <p:nvSpPr>
          <p:cNvPr id="20485" name="AutoShape 5"/>
          <p:cNvSpPr>
            <a:spLocks noChangeArrowheads="1"/>
          </p:cNvSpPr>
          <p:nvPr/>
        </p:nvSpPr>
        <p:spPr bwMode="auto">
          <a:xfrm>
            <a:off x="2286000" y="2514600"/>
            <a:ext cx="2438400" cy="533400"/>
          </a:xfrm>
          <a:prstGeom prst="roundRect">
            <a:avLst>
              <a:gd name="adj" fmla="val 16667"/>
            </a:avLst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en-GB" sz="2000">
              <a:solidFill>
                <a:schemeClr val="bg1"/>
              </a:solidFill>
            </a:endParaRPr>
          </a:p>
          <a:p>
            <a:pPr algn="ctr"/>
            <a:r>
              <a:rPr lang="en-GB" sz="2000">
                <a:solidFill>
                  <a:schemeClr val="bg1"/>
                </a:solidFill>
              </a:rPr>
              <a:t>XMLSiteMapProvider</a:t>
            </a:r>
          </a:p>
          <a:p>
            <a:pPr algn="ctr"/>
            <a:endParaRPr lang="en-GB" sz="2800"/>
          </a:p>
        </p:txBody>
      </p:sp>
      <p:sp>
        <p:nvSpPr>
          <p:cNvPr id="20486" name="Line 6"/>
          <p:cNvSpPr>
            <a:spLocks noChangeShapeType="1"/>
          </p:cNvSpPr>
          <p:nvPr/>
        </p:nvSpPr>
        <p:spPr bwMode="auto">
          <a:xfrm>
            <a:off x="1752600" y="2819400"/>
            <a:ext cx="5334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20487" name="Oval 7"/>
          <p:cNvSpPr>
            <a:spLocks noChangeArrowheads="1"/>
          </p:cNvSpPr>
          <p:nvPr/>
        </p:nvSpPr>
        <p:spPr bwMode="auto">
          <a:xfrm>
            <a:off x="5105400" y="2514600"/>
            <a:ext cx="1143000" cy="685800"/>
          </a:xfrm>
          <a:prstGeom prst="ellipse">
            <a:avLst/>
          </a:prstGeom>
          <a:solidFill>
            <a:srgbClr val="00008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 sz="2000">
                <a:solidFill>
                  <a:schemeClr val="bg1"/>
                </a:solidFill>
              </a:rPr>
              <a:t>SiteMap</a:t>
            </a:r>
          </a:p>
          <a:p>
            <a:pPr algn="ctr"/>
            <a:r>
              <a:rPr lang="en-GB" sz="2000">
                <a:solidFill>
                  <a:schemeClr val="bg1"/>
                </a:solidFill>
              </a:rPr>
              <a:t>Api</a:t>
            </a:r>
          </a:p>
        </p:txBody>
      </p:sp>
      <p:sp>
        <p:nvSpPr>
          <p:cNvPr id="20488" name="Line 8"/>
          <p:cNvSpPr>
            <a:spLocks noChangeShapeType="1"/>
          </p:cNvSpPr>
          <p:nvPr/>
        </p:nvSpPr>
        <p:spPr bwMode="auto">
          <a:xfrm>
            <a:off x="4724400" y="2819400"/>
            <a:ext cx="381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6477000" y="2438400"/>
            <a:ext cx="2286000" cy="2133600"/>
          </a:xfrm>
          <a:prstGeom prst="rect">
            <a:avLst/>
          </a:prstGeom>
          <a:solidFill>
            <a:srgbClr val="00008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490" name="AutoShape 10"/>
          <p:cNvSpPr>
            <a:spLocks noChangeArrowheads="1"/>
          </p:cNvSpPr>
          <p:nvPr/>
        </p:nvSpPr>
        <p:spPr bwMode="auto">
          <a:xfrm>
            <a:off x="6553200" y="2590800"/>
            <a:ext cx="2133600" cy="381000"/>
          </a:xfrm>
          <a:prstGeom prst="roundRect">
            <a:avLst>
              <a:gd name="adj" fmla="val 16667"/>
            </a:avLst>
          </a:prstGeom>
          <a:solidFill>
            <a:srgbClr val="33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SiteMapDataSource</a:t>
            </a:r>
          </a:p>
        </p:txBody>
      </p:sp>
      <p:sp>
        <p:nvSpPr>
          <p:cNvPr id="20491" name="Line 11"/>
          <p:cNvSpPr>
            <a:spLocks noChangeShapeType="1"/>
          </p:cNvSpPr>
          <p:nvPr/>
        </p:nvSpPr>
        <p:spPr bwMode="auto">
          <a:xfrm>
            <a:off x="6248400" y="2819400"/>
            <a:ext cx="3048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20492" name="AutoShape 12"/>
          <p:cNvSpPr>
            <a:spLocks noChangeArrowheads="1"/>
          </p:cNvSpPr>
          <p:nvPr/>
        </p:nvSpPr>
        <p:spPr bwMode="auto">
          <a:xfrm>
            <a:off x="7162800" y="4038600"/>
            <a:ext cx="990600" cy="381000"/>
          </a:xfrm>
          <a:prstGeom prst="roundRect">
            <a:avLst>
              <a:gd name="adj" fmla="val 16667"/>
            </a:avLst>
          </a:prstGeom>
          <a:solidFill>
            <a:srgbClr val="33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TreeView</a:t>
            </a:r>
          </a:p>
        </p:txBody>
      </p:sp>
      <p:sp>
        <p:nvSpPr>
          <p:cNvPr id="20493" name="AutoShape 13"/>
          <p:cNvSpPr>
            <a:spLocks noChangeArrowheads="1"/>
          </p:cNvSpPr>
          <p:nvPr/>
        </p:nvSpPr>
        <p:spPr bwMode="auto">
          <a:xfrm>
            <a:off x="7696200" y="3429000"/>
            <a:ext cx="990600" cy="381000"/>
          </a:xfrm>
          <a:prstGeom prst="roundRect">
            <a:avLst>
              <a:gd name="adj" fmla="val 16667"/>
            </a:avLst>
          </a:prstGeom>
          <a:solidFill>
            <a:srgbClr val="33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Menu</a:t>
            </a:r>
          </a:p>
        </p:txBody>
      </p:sp>
      <p:sp>
        <p:nvSpPr>
          <p:cNvPr id="20494" name="AutoShape 14"/>
          <p:cNvSpPr>
            <a:spLocks noChangeArrowheads="1"/>
          </p:cNvSpPr>
          <p:nvPr/>
        </p:nvSpPr>
        <p:spPr bwMode="auto">
          <a:xfrm>
            <a:off x="6629400" y="3352800"/>
            <a:ext cx="914400" cy="533400"/>
          </a:xfrm>
          <a:prstGeom prst="roundRect">
            <a:avLst>
              <a:gd name="adj" fmla="val 16667"/>
            </a:avLst>
          </a:prstGeom>
          <a:solidFill>
            <a:srgbClr val="33CC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r>
              <a:rPr lang="en-GB"/>
              <a:t>SiteMap</a:t>
            </a:r>
          </a:p>
          <a:p>
            <a:pPr algn="ctr"/>
            <a:r>
              <a:rPr lang="en-GB"/>
              <a:t> Path</a:t>
            </a:r>
          </a:p>
        </p:txBody>
      </p:sp>
      <p:sp>
        <p:nvSpPr>
          <p:cNvPr id="20495" name="Line 15"/>
          <p:cNvSpPr>
            <a:spLocks noChangeShapeType="1"/>
          </p:cNvSpPr>
          <p:nvPr/>
        </p:nvSpPr>
        <p:spPr bwMode="auto">
          <a:xfrm>
            <a:off x="7086600" y="2971800"/>
            <a:ext cx="0" cy="3810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20496" name="Line 16"/>
          <p:cNvSpPr>
            <a:spLocks noChangeShapeType="1"/>
          </p:cNvSpPr>
          <p:nvPr/>
        </p:nvSpPr>
        <p:spPr bwMode="auto">
          <a:xfrm>
            <a:off x="7620000" y="2971800"/>
            <a:ext cx="0" cy="10668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20497" name="Line 17"/>
          <p:cNvSpPr>
            <a:spLocks noChangeShapeType="1"/>
          </p:cNvSpPr>
          <p:nvPr/>
        </p:nvSpPr>
        <p:spPr bwMode="auto">
          <a:xfrm>
            <a:off x="8153400" y="2971800"/>
            <a:ext cx="0" cy="4572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20498" name="Text Box 18"/>
          <p:cNvSpPr txBox="1">
            <a:spLocks noChangeArrowheads="1"/>
          </p:cNvSpPr>
          <p:nvPr/>
        </p:nvSpPr>
        <p:spPr bwMode="auto">
          <a:xfrm>
            <a:off x="152400" y="3505200"/>
            <a:ext cx="2057400" cy="650875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XML file defining structure of web site</a:t>
            </a:r>
          </a:p>
        </p:txBody>
      </p:sp>
      <p:sp>
        <p:nvSpPr>
          <p:cNvPr id="20499" name="Text Box 19"/>
          <p:cNvSpPr txBox="1">
            <a:spLocks noChangeArrowheads="1"/>
          </p:cNvSpPr>
          <p:nvPr/>
        </p:nvSpPr>
        <p:spPr bwMode="auto">
          <a:xfrm>
            <a:off x="2438400" y="3505200"/>
            <a:ext cx="2286000" cy="120015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SiteMap Provider that reads from sitemap file and generating a sitemap object</a:t>
            </a:r>
          </a:p>
        </p:txBody>
      </p:sp>
      <p:sp>
        <p:nvSpPr>
          <p:cNvPr id="20500" name="Text Box 20"/>
          <p:cNvSpPr txBox="1">
            <a:spLocks noChangeArrowheads="1"/>
          </p:cNvSpPr>
          <p:nvPr/>
        </p:nvSpPr>
        <p:spPr bwMode="auto">
          <a:xfrm>
            <a:off x="6477000" y="4648200"/>
            <a:ext cx="2286000" cy="1200150"/>
          </a:xfrm>
          <a:prstGeom prst="rect">
            <a:avLst/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SiteMapDataSource uses sitemap object and provides site info to navigation controls</a:t>
            </a:r>
          </a:p>
        </p:txBody>
      </p:sp>
      <p:sp>
        <p:nvSpPr>
          <p:cNvPr id="20501" name="AutoShape 21"/>
          <p:cNvSpPr>
            <a:spLocks/>
          </p:cNvSpPr>
          <p:nvPr/>
        </p:nvSpPr>
        <p:spPr bwMode="auto">
          <a:xfrm>
            <a:off x="6248400" y="3352800"/>
            <a:ext cx="76200" cy="1219200"/>
          </a:xfrm>
          <a:prstGeom prst="leftBrace">
            <a:avLst>
              <a:gd name="adj1" fmla="val 1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0502" name="Text Box 22"/>
          <p:cNvSpPr txBox="1">
            <a:spLocks noChangeArrowheads="1"/>
          </p:cNvSpPr>
          <p:nvPr/>
        </p:nvSpPr>
        <p:spPr bwMode="auto">
          <a:xfrm rot="-5400000">
            <a:off x="5051425" y="4060825"/>
            <a:ext cx="1905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600"/>
              <a:t>Navigation Controls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How to create a site map file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  <p:pic>
        <p:nvPicPr>
          <p:cNvPr id="2150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1828800"/>
            <a:ext cx="6459538" cy="425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0" name="Oval 5"/>
          <p:cNvSpPr>
            <a:spLocks noChangeArrowheads="1"/>
          </p:cNvSpPr>
          <p:nvPr/>
        </p:nvSpPr>
        <p:spPr bwMode="auto">
          <a:xfrm>
            <a:off x="2895600" y="3352800"/>
            <a:ext cx="990600" cy="304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Line 6"/>
          <p:cNvSpPr>
            <a:spLocks noChangeShapeType="1"/>
          </p:cNvSpPr>
          <p:nvPr/>
        </p:nvSpPr>
        <p:spPr bwMode="auto">
          <a:xfrm flipH="1" flipV="1">
            <a:off x="3733800" y="3616325"/>
            <a:ext cx="762000" cy="13716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SG"/>
          </a:p>
        </p:txBody>
      </p:sp>
      <p:sp>
        <p:nvSpPr>
          <p:cNvPr id="21512" name="Text Box 7"/>
          <p:cNvSpPr txBox="1">
            <a:spLocks noChangeArrowheads="1"/>
          </p:cNvSpPr>
          <p:nvPr/>
        </p:nvSpPr>
        <p:spPr bwMode="auto">
          <a:xfrm>
            <a:off x="4419600" y="4835525"/>
            <a:ext cx="2819400" cy="650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Choose Web Site</a:t>
            </a:r>
            <a:r>
              <a:rPr lang="en-GB">
                <a:sym typeface="Wingdings" pitchFamily="2" charset="2"/>
              </a:rPr>
              <a:t></a:t>
            </a:r>
            <a:r>
              <a:rPr lang="en-GB"/>
              <a:t> Add New Item-</a:t>
            </a:r>
            <a:r>
              <a:rPr lang="en-GB">
                <a:sym typeface="Wingdings" pitchFamily="2" charset="2"/>
              </a:rPr>
              <a:t>Site Map</a:t>
            </a:r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Defining a Site Map</a:t>
            </a:r>
          </a:p>
        </p:txBody>
      </p:sp>
      <p:sp>
        <p:nvSpPr>
          <p:cNvPr id="22531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mtClean="0"/>
              <a:t>A site map</a:t>
            </a:r>
          </a:p>
          <a:p>
            <a:pPr lvl="1"/>
            <a:r>
              <a:rPr lang="en-GB" smtClean="0"/>
              <a:t>Begins with &lt;siteMap&gt; element</a:t>
            </a:r>
          </a:p>
          <a:p>
            <a:pPr lvl="1"/>
            <a:r>
              <a:rPr lang="en-GB" smtClean="0"/>
              <a:t>Begins with a Single &lt;siteMapNode&gt;. All other nodes are child of this node</a:t>
            </a:r>
          </a:p>
          <a:p>
            <a:pPr lvl="1"/>
            <a:r>
              <a:rPr lang="en-GB" smtClean="0"/>
              <a:t>Cannot have duplicate URLs. This is because URLs are used for indexing</a:t>
            </a:r>
          </a:p>
          <a:p>
            <a:pPr lvl="1"/>
            <a:endParaRPr lang="en-GB" dirty="0" smtClean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F48F64A-3213-44A5-A96A-9F4815EC7DC2}" type="slidenum">
              <a:rPr lang="en-GB" smtClean="0"/>
              <a:pPr/>
              <a:t>5</a:t>
            </a:fld>
            <a:endParaRPr lang="en-GB"/>
          </a:p>
        </p:txBody>
      </p:sp>
      <p:pic>
        <p:nvPicPr>
          <p:cNvPr id="22533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4497705"/>
            <a:ext cx="8458200" cy="19030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4" name="Text Box 5"/>
          <p:cNvSpPr txBox="1">
            <a:spLocks noChangeArrowheads="1"/>
          </p:cNvSpPr>
          <p:nvPr/>
        </p:nvSpPr>
        <p:spPr bwMode="auto">
          <a:xfrm>
            <a:off x="3124200" y="3902538"/>
            <a:ext cx="2667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000"/>
              <a:t>Web.siteMap file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mtClean="0"/>
              <a:t>How to bind a web page to a site map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Drag a </a:t>
            </a:r>
            <a:r>
              <a:rPr lang="en-GB" dirty="0" err="1" smtClean="0"/>
              <a:t>SiteMapDataSource</a:t>
            </a:r>
            <a:r>
              <a:rPr lang="en-GB" dirty="0" smtClean="0"/>
              <a:t> from </a:t>
            </a:r>
            <a:r>
              <a:rPr lang="en-GB" dirty="0" err="1" smtClean="0"/>
              <a:t>ToolBox</a:t>
            </a:r>
            <a:r>
              <a:rPr lang="en-GB" dirty="0" smtClean="0"/>
              <a:t> into web form. This control will automatically reference site information from </a:t>
            </a:r>
            <a:r>
              <a:rPr lang="en-GB" dirty="0" err="1" smtClean="0"/>
              <a:t>web.sitemap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Drag a navigational control (shown here is a Menu) from </a:t>
            </a:r>
            <a:r>
              <a:rPr lang="en-GB" dirty="0" err="1" smtClean="0"/>
              <a:t>ToolBox</a:t>
            </a:r>
            <a:r>
              <a:rPr lang="en-GB" dirty="0" smtClean="0"/>
              <a:t> and make reference to </a:t>
            </a:r>
            <a:r>
              <a:rPr lang="en-GB" dirty="0" err="1" smtClean="0"/>
              <a:t>SiteMapDataSource</a:t>
            </a:r>
            <a:endParaRPr lang="en-GB" dirty="0" smtClean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S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BF48F64A-3213-44A5-A96A-9F4815EC7DC2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23557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3429000"/>
            <a:ext cx="3505200" cy="330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558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00600" y="1600200"/>
            <a:ext cx="2171700" cy="164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9" name="Oval 6"/>
          <p:cNvSpPr>
            <a:spLocks noChangeArrowheads="1"/>
          </p:cNvSpPr>
          <p:nvPr/>
        </p:nvSpPr>
        <p:spPr bwMode="auto">
          <a:xfrm>
            <a:off x="6553200" y="5448300"/>
            <a:ext cx="1371600" cy="228600"/>
          </a:xfrm>
          <a:prstGeom prst="ellipse">
            <a:avLst/>
          </a:prstGeom>
          <a:solidFill>
            <a:schemeClr val="accent1">
              <a:alpha val="0"/>
            </a:schemeClr>
          </a:solidFill>
          <a:ln w="1587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smtClean="0"/>
              <a:t>How to bind a web page to a site map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mtClean="0"/>
              <a:t>Typically, since navigational controls such as Treeview and Menu appears on every web page, these controls are used with Master Pages</a:t>
            </a: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  <p:pic>
        <p:nvPicPr>
          <p:cNvPr id="2458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3581400"/>
            <a:ext cx="2743200" cy="142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582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38600" y="3124200"/>
            <a:ext cx="4152900" cy="330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83" name="Text Box 8"/>
          <p:cNvSpPr txBox="1">
            <a:spLocks noChangeArrowheads="1"/>
          </p:cNvSpPr>
          <p:nvPr/>
        </p:nvSpPr>
        <p:spPr bwMode="auto">
          <a:xfrm>
            <a:off x="762000" y="5029200"/>
            <a:ext cx="2667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Navigational Controls</a:t>
            </a:r>
          </a:p>
        </p:txBody>
      </p:sp>
      <p:sp>
        <p:nvSpPr>
          <p:cNvPr id="24584" name="Text Box 9"/>
          <p:cNvSpPr txBox="1">
            <a:spLocks noChangeArrowheads="1"/>
          </p:cNvSpPr>
          <p:nvPr/>
        </p:nvSpPr>
        <p:spPr bwMode="auto">
          <a:xfrm>
            <a:off x="4648200" y="6324600"/>
            <a:ext cx="4038600" cy="37623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/>
              <a:t>Menu bound to SiteMapDataSource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SiteMapPath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524000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Display the path of the web page within a web application</a:t>
            </a:r>
            <a:endParaRPr lang="en-US" dirty="0"/>
          </a:p>
        </p:txBody>
      </p:sp>
      <p:pic>
        <p:nvPicPr>
          <p:cNvPr id="133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124200"/>
            <a:ext cx="631348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91700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Menu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SG" dirty="0" smtClean="0"/>
              <a:t>Develop displayed </a:t>
            </a:r>
            <a:r>
              <a:rPr lang="en-SG" dirty="0"/>
              <a:t>menus </a:t>
            </a:r>
            <a:r>
              <a:rPr lang="en-SG" dirty="0" smtClean="0"/>
              <a:t>for web page</a:t>
            </a:r>
            <a:endParaRPr lang="en-US" dirty="0" smtClean="0"/>
          </a:p>
          <a:p>
            <a:pPr>
              <a:defRPr/>
            </a:pPr>
            <a:r>
              <a:rPr lang="en-US" dirty="0" smtClean="0"/>
              <a:t>Bind the sitemap to </a:t>
            </a:r>
            <a:r>
              <a:rPr lang="en-US" dirty="0" err="1" smtClean="0"/>
              <a:t>SiteMapDataSource</a:t>
            </a:r>
            <a:endParaRPr lang="en-US" dirty="0" smtClean="0"/>
          </a:p>
          <a:p>
            <a:pPr>
              <a:defRPr/>
            </a:pPr>
            <a:r>
              <a:rPr lang="en-US" dirty="0" smtClean="0"/>
              <a:t>Menu then uses the </a:t>
            </a:r>
            <a:r>
              <a:rPr lang="en-US" dirty="0" err="1" smtClean="0"/>
              <a:t>SiteMapDataSource</a:t>
            </a:r>
            <a:endParaRPr lang="en-US" dirty="0" smtClean="0"/>
          </a:p>
          <a:p>
            <a:pPr>
              <a:defRPr/>
            </a:pPr>
            <a:endParaRPr lang="en-US" dirty="0" smtClean="0"/>
          </a:p>
        </p:txBody>
      </p:sp>
      <p:pic>
        <p:nvPicPr>
          <p:cNvPr id="4" name="Picture 3"/>
          <p:cNvPicPr/>
          <p:nvPr/>
        </p:nvPicPr>
        <p:blipFill>
          <a:blip r:embed="rId3" cstate="print"/>
          <a:srcRect t="11911" r="56429" b="47368"/>
          <a:stretch>
            <a:fillRect/>
          </a:stretch>
        </p:blipFill>
        <p:spPr bwMode="auto">
          <a:xfrm>
            <a:off x="637540" y="3454400"/>
            <a:ext cx="3429000" cy="226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AutoShape 2"/>
          <p:cNvSpPr>
            <a:spLocks noChangeArrowheads="1"/>
          </p:cNvSpPr>
          <p:nvPr/>
        </p:nvSpPr>
        <p:spPr bwMode="auto">
          <a:xfrm>
            <a:off x="1143000" y="4495800"/>
            <a:ext cx="2268000" cy="361950"/>
          </a:xfrm>
          <a:prstGeom prst="curvedUpArrow">
            <a:avLst>
              <a:gd name="adj1" fmla="val 43441"/>
              <a:gd name="adj2" fmla="val 132897"/>
              <a:gd name="adj3" fmla="val 34648"/>
            </a:avLst>
          </a:prstGeom>
          <a:solidFill>
            <a:srgbClr val="FFFFFF"/>
          </a:solidFill>
          <a:ln w="31750">
            <a:solidFill>
              <a:srgbClr val="C0504D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6868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/>
          </a:p>
        </p:txBody>
      </p:sp>
      <p:pic>
        <p:nvPicPr>
          <p:cNvPr id="6" name="Picture 5"/>
          <p:cNvPicPr/>
          <p:nvPr/>
        </p:nvPicPr>
        <p:blipFill>
          <a:blip r:embed="rId4" cstate="print"/>
          <a:srcRect l="16945" t="34172" r="43305" b="32687"/>
          <a:stretch>
            <a:fillRect/>
          </a:stretch>
        </p:blipFill>
        <p:spPr bwMode="auto">
          <a:xfrm>
            <a:off x="4419600" y="3479800"/>
            <a:ext cx="3733800" cy="200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Oval 6"/>
          <p:cNvSpPr/>
          <p:nvPr/>
        </p:nvSpPr>
        <p:spPr>
          <a:xfrm>
            <a:off x="6629400" y="4419600"/>
            <a:ext cx="1371600" cy="257175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66071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Further reading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3200" dirty="0">
                <a:latin typeface="Times New Roman" pitchFamily="18" charset="0"/>
              </a:rPr>
              <a:t>ASP.NET Site Navigation </a:t>
            </a:r>
            <a:r>
              <a:rPr lang="en-US" sz="3200" dirty="0" smtClean="0">
                <a:latin typeface="Times New Roman" pitchFamily="18" charset="0"/>
              </a:rPr>
              <a:t>Overview</a:t>
            </a:r>
          </a:p>
          <a:p>
            <a:r>
              <a:rPr lang="en-US" sz="2400" dirty="0">
                <a:latin typeface="Times New Roman" pitchFamily="18" charset="0"/>
              </a:rPr>
              <a:t>msdn2.microsoft.com/en-us/library/e468hxky.aspx </a:t>
            </a:r>
          </a:p>
          <a:p>
            <a:pPr marL="0" lvl="0" indent="0">
              <a:buNone/>
            </a:pPr>
            <a:endParaRPr lang="en-US" sz="3200" dirty="0">
              <a:latin typeface="Times New Roman" pitchFamily="18" charset="0"/>
            </a:endParaRPr>
          </a:p>
          <a:p>
            <a:endParaRPr lang="en-S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0A25E844-0FC8-4723-AE36-2D9BEBF0E919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9608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End of Lecture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 sitemap to create navigation</a:t>
            </a:r>
          </a:p>
          <a:p>
            <a:pPr marL="0" indent="0">
              <a:buNone/>
            </a:pPr>
            <a:r>
              <a:rPr lang="en-US" smtClean="0"/>
              <a:t> </a:t>
            </a:r>
            <a:endParaRPr lang="en-US" dirty="0" smtClean="0"/>
          </a:p>
          <a:p>
            <a:endParaRPr 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SG" smtClean="0"/>
              <a:t>Copyright © Nanyang Polytechnic. All rights reserved.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fld id="{BF48F64A-3213-44A5-A96A-9F4815EC7DC2}" type="slidenum">
              <a:rPr lang="en-GB" smtClean="0"/>
              <a:pPr>
                <a:defRPr/>
              </a:pPr>
              <a:t>11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837</TotalTime>
  <Words>683</Words>
  <Application>Microsoft Office PowerPoint</Application>
  <PresentationFormat>On-screen Show (4:3)</PresentationFormat>
  <Paragraphs>100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Lecture LA03:   Site Navigation </vt:lpstr>
      <vt:lpstr>Introduction to Web Site Navigation</vt:lpstr>
      <vt:lpstr>Introduction to Web Site Navigation</vt:lpstr>
      <vt:lpstr>How to create a site map file</vt:lpstr>
      <vt:lpstr>Defining a Site Map</vt:lpstr>
      <vt:lpstr>How to bind a web page to a site map</vt:lpstr>
      <vt:lpstr>How to bind a web page to a site map</vt:lpstr>
      <vt:lpstr>SiteMapPath</vt:lpstr>
      <vt:lpstr>Menu</vt:lpstr>
      <vt:lpstr>Further reading</vt:lpstr>
      <vt:lpstr>End of Lecture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Vincent</dc:creator>
  <cp:lastModifiedBy>tommy low</cp:lastModifiedBy>
  <cp:revision>66</cp:revision>
  <cp:lastPrinted>2012-04-06T13:11:49Z</cp:lastPrinted>
  <dcterms:created xsi:type="dcterms:W3CDTF">1601-01-01T00:00:00Z</dcterms:created>
  <dcterms:modified xsi:type="dcterms:W3CDTF">2015-03-19T06:33:45Z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