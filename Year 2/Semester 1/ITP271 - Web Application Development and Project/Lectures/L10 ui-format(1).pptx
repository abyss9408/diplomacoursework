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3" r:id="rId1"/>
  </p:sldMasterIdLst>
  <p:notesMasterIdLst>
    <p:notesMasterId r:id="rId21"/>
  </p:notesMasterIdLst>
  <p:handoutMasterIdLst>
    <p:handoutMasterId r:id="rId22"/>
  </p:handoutMasterIdLst>
  <p:sldIdLst>
    <p:sldId id="256" r:id="rId2"/>
    <p:sldId id="311" r:id="rId3"/>
    <p:sldId id="323" r:id="rId4"/>
    <p:sldId id="324" r:id="rId5"/>
    <p:sldId id="327" r:id="rId6"/>
    <p:sldId id="328" r:id="rId7"/>
    <p:sldId id="329" r:id="rId8"/>
    <p:sldId id="325" r:id="rId9"/>
    <p:sldId id="326" r:id="rId10"/>
    <p:sldId id="331" r:id="rId11"/>
    <p:sldId id="332" r:id="rId12"/>
    <p:sldId id="330" r:id="rId13"/>
    <p:sldId id="333" r:id="rId14"/>
    <p:sldId id="339" r:id="rId15"/>
    <p:sldId id="334" r:id="rId16"/>
    <p:sldId id="335" r:id="rId17"/>
    <p:sldId id="336" r:id="rId18"/>
    <p:sldId id="337" r:id="rId19"/>
    <p:sldId id="322" r:id="rId20"/>
  </p:sldIdLst>
  <p:sldSz cx="9144000" cy="6858000" type="screen4x3"/>
  <p:notesSz cx="7099300" cy="102346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33"/>
    <a:srgbClr val="800000"/>
    <a:srgbClr val="FFFF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9" autoAdjust="0"/>
    <p:restoredTop sz="78374" autoAdjust="0"/>
  </p:normalViewPr>
  <p:slideViewPr>
    <p:cSldViewPr>
      <p:cViewPr varScale="1">
        <p:scale>
          <a:sx n="74" d="100"/>
          <a:sy n="74" d="100"/>
        </p:scale>
        <p:origin x="79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843" y="-82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6" tIns="49523" rIns="99046" bIns="49523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/>
            </a:lvl1pPr>
          </a:lstStyle>
          <a:p>
            <a:pPr>
              <a:defRPr/>
            </a:pPr>
            <a:r>
              <a:rPr lang="en-SG" dirty="0"/>
              <a:t>NYP | School of IT | </a:t>
            </a:r>
            <a:r>
              <a:rPr lang="en-SG" dirty="0" smtClean="0"/>
              <a:t>ITP271 </a:t>
            </a:r>
            <a:r>
              <a:rPr lang="en-SG" dirty="0"/>
              <a:t>Web Applications Development</a:t>
            </a: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296" y="2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6" tIns="49523" rIns="99046" bIns="4952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721108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6" tIns="49523" rIns="99046" bIns="49523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smtClean="0"/>
            </a:lvl1pPr>
          </a:lstStyle>
          <a:p>
            <a:pPr>
              <a:defRPr/>
            </a:pPr>
            <a:r>
              <a:rPr lang="en-SG" dirty="0"/>
              <a:t>Copyright © Nanyang Polytechnic. All Rights </a:t>
            </a:r>
            <a:r>
              <a:rPr lang="en-SG" dirty="0" smtClean="0"/>
              <a:t>Reserve</a:t>
            </a:r>
            <a:endParaRPr lang="en-US" dirty="0"/>
          </a:p>
        </p:txBody>
      </p:sp>
      <p:sp>
        <p:nvSpPr>
          <p:cNvPr id="348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296" y="9721108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6" tIns="49523" rIns="99046" bIns="4952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E023C7D9-0354-4539-89F7-017FD6ECC5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18702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6" tIns="49523" rIns="99046" bIns="49523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6" y="2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6" tIns="49523" rIns="99046" bIns="4952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1" y="4861443"/>
            <a:ext cx="567944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6" tIns="49523" rIns="99046" bIns="495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1108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6" tIns="49523" rIns="99046" bIns="49523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6" y="9721108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6" tIns="49523" rIns="99046" bIns="4952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08CA7178-6D16-4BA7-B5FA-2D71747A1A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0075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CA7178-6D16-4BA7-B5FA-2D71747A1A89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482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CA7178-6D16-4BA7-B5FA-2D71747A1A89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3628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CA7178-6D16-4BA7-B5FA-2D71747A1A89}" type="slidenum">
              <a:rPr lang="en-GB" smtClean="0"/>
              <a:pPr>
                <a:defRPr/>
              </a:pPr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163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Resource</a:t>
            </a:r>
            <a:r>
              <a:rPr lang="en-GB" baseline="0" dirty="0" smtClean="0"/>
              <a:t>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CA7178-6D16-4BA7-B5FA-2D71747A1A89}" type="slidenum">
              <a:rPr lang="en-GB" smtClean="0"/>
              <a:pPr>
                <a:defRPr/>
              </a:pPr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381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A6F2C6-B0BA-4928-A726-BC27F891C25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434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A0861E-C698-49F7-930B-0958B47FE90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854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745C96-1EE7-428A-A237-A051AD904EE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187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4E0804-259D-4DA8-944B-E8EC9E0E2A1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639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7887F9-F016-4976-A06C-ECD92C933BB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74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60DB9-D9D2-4E16-B132-8698A0AF26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843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F4F44D-32DC-47E0-9E27-9D3C8D296BC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10A686-F0BE-49E3-8FC5-6CC0630BA48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851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1D4237-52A1-4F0E-B943-A774BF8A67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63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ABFEE4-AE0E-4B54-A483-AD5D62D0DA4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71977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ABFEE4-AE0E-4B54-A483-AD5D62D0DA4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55440342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ABFEE4-AE0E-4B54-A483-AD5D62D0DA4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41844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ABFEE4-AE0E-4B54-A483-AD5D62D0DA4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6263462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ABFEE4-AE0E-4B54-A483-AD5D62D0DA4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817082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9F1A23-88D3-4A92-B8B8-9A531DB1336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7700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4F6BFE-CB19-4343-8A4A-8C0908998A5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130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D2ABFEE4-AE0E-4B54-A483-AD5D62D0DA4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420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  <p:sldLayoutId id="2147483944" r:id="rId11"/>
    <p:sldLayoutId id="2147483945" r:id="rId12"/>
    <p:sldLayoutId id="2147483946" r:id="rId13"/>
    <p:sldLayoutId id="2147483947" r:id="rId14"/>
    <p:sldLayoutId id="2147483948" r:id="rId15"/>
    <p:sldLayoutId id="2147483949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msdn.microsoft.com/en-us/library/dwhawy9k(v=vs.100).aspx" TargetMode="External"/><Relationship Id="rId2" Type="http://schemas.openxmlformats.org/officeDocument/2006/relationships/hyperlink" Target="http://msdn.microsoft.com/en-us/library/w7x1y988(v=vs.100).aspx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GB" dirty="0" smtClean="0"/>
              <a:t>Lecture 10: UI Format (</a:t>
            </a:r>
            <a:r>
              <a:rPr lang="en-US" dirty="0" smtClean="0"/>
              <a:t>Globalization and Localization)</a:t>
            </a:r>
            <a:endParaRPr lang="en-GB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dirty="0" smtClean="0"/>
              <a:t>ITP271 </a:t>
            </a:r>
            <a:r>
              <a:rPr lang="en-GB" dirty="0" smtClean="0"/>
              <a:t>Web Applications </a:t>
            </a:r>
            <a:r>
              <a:rPr lang="en-GB" dirty="0" smtClean="0"/>
              <a:t>Development &amp; Project</a:t>
            </a:r>
            <a:endParaRPr lang="en-GB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A6F2C6-B0BA-4928-A726-BC27F891C252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last topic is about making your application more friendly to different language and culture, this is known as Globalization and Localization.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5A0861E-C698-49F7-930B-0958B47FE904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Globalization is the process of designing applications that can adapt to different cultures.</a:t>
            </a:r>
          </a:p>
          <a:p>
            <a:r>
              <a:rPr lang="en-US" dirty="0" smtClean="0"/>
              <a:t>Localization is the process of translating resources for a specific culture.</a:t>
            </a:r>
          </a:p>
          <a:p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5A0861E-C698-49F7-930B-0958B47FE904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 the Past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common approach is to create multiple copies of the same website and translate each copy into different language.</a:t>
            </a:r>
          </a:p>
          <a:p>
            <a:r>
              <a:rPr lang="en-US" dirty="0" smtClean="0"/>
              <a:t>This make maintenance a nightmare; a simple changes requires changes in each copy of the website.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5A0861E-C698-49F7-930B-0958B47FE904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Culturally Dependent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Message needs to be translated</a:t>
            </a:r>
          </a:p>
          <a:p>
            <a:r>
              <a:rPr lang="en-US" smtClean="0"/>
              <a:t>Date and Time – different country uses different format e.g. US – M/D/Y, SG – D/M/Y </a:t>
            </a:r>
          </a:p>
          <a:p>
            <a:r>
              <a:rPr lang="en-US" smtClean="0"/>
              <a:t>Comparing of string</a:t>
            </a:r>
          </a:p>
          <a:p>
            <a:r>
              <a:rPr lang="en-US" smtClean="0"/>
              <a:t>Sorting of string e.g. chinese can be sorted based on strokes, pinying</a:t>
            </a:r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5A0861E-C698-49F7-930B-0958B47FE904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Culturally Dependent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Numbers – different country uses different format e.g. 10000.45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US (10,000.45) 	</a:t>
            </a:r>
          </a:p>
          <a:p>
            <a:pPr marL="0" indent="0">
              <a:buNone/>
            </a:pPr>
            <a:r>
              <a:rPr lang="en-US" dirty="0" smtClean="0"/>
              <a:t>	French </a:t>
            </a:r>
            <a:r>
              <a:rPr lang="en-US" dirty="0"/>
              <a:t>(10 000,45) </a:t>
            </a:r>
            <a:r>
              <a:rPr lang="en-US" dirty="0" smtClean="0"/>
              <a:t> 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French uses ‘,’ as the decimal separator and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space as thousand separator</a:t>
            </a:r>
          </a:p>
          <a:p>
            <a:r>
              <a:rPr lang="en-US" dirty="0" smtClean="0"/>
              <a:t>Calendar – Gregorian or Non-Gregorian</a:t>
            </a:r>
          </a:p>
          <a:p>
            <a:r>
              <a:rPr lang="en-US" dirty="0" smtClean="0"/>
              <a:t>Currencies</a:t>
            </a:r>
          </a:p>
          <a:p>
            <a:r>
              <a:rPr lang="en-US" dirty="0" smtClean="0"/>
              <a:t>Label on GUI Components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5A0861E-C698-49F7-930B-0958B47FE904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Culturally Dependent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Last Name or Surname or Family Name?</a:t>
            </a:r>
          </a:p>
          <a:p>
            <a:r>
              <a:rPr lang="en-US" smtClean="0"/>
              <a:t>Last Name or First Name comes first?</a:t>
            </a:r>
          </a:p>
          <a:p>
            <a:r>
              <a:rPr lang="en-US" smtClean="0"/>
              <a:t>Measurements </a:t>
            </a:r>
          </a:p>
          <a:p>
            <a:r>
              <a:rPr lang="en-US" smtClean="0"/>
              <a:t>Phone numbers </a:t>
            </a:r>
          </a:p>
          <a:p>
            <a:r>
              <a:rPr lang="en-US" smtClean="0"/>
              <a:t>Honorifics and personal titles </a:t>
            </a:r>
          </a:p>
          <a:p>
            <a:r>
              <a:rPr lang="en-US" smtClean="0"/>
              <a:t>Postal addresses </a:t>
            </a:r>
          </a:p>
          <a:p>
            <a:r>
              <a:rPr lang="en-US" smtClean="0"/>
              <a:t>Page layouts</a:t>
            </a:r>
          </a:p>
          <a:p>
            <a:r>
              <a:rPr lang="en-US" smtClean="0"/>
              <a:t>Others…</a:t>
            </a:r>
          </a:p>
          <a:p>
            <a:endParaRPr lang="en-US" smtClean="0"/>
          </a:p>
          <a:p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5A0861E-C698-49F7-930B-0958B47FE904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With .NET we are able to globalize and localize a website with no or minimum coding.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5A0861E-C698-49F7-930B-0958B47FE904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Things to Consider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When we develop application we need to consider the following</a:t>
            </a:r>
          </a:p>
          <a:p>
            <a:pPr lvl="1"/>
            <a:r>
              <a:rPr lang="en-US" smtClean="0"/>
              <a:t>Do we auto detect the language setting?</a:t>
            </a:r>
          </a:p>
          <a:p>
            <a:pPr lvl="1"/>
            <a:r>
              <a:rPr lang="en-US" smtClean="0"/>
              <a:t>Or do we let user specify their preferred language?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5A0861E-C698-49F7-930B-0958B47FE904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Localization – Setting Culture 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Culture : identify a geographical location and language spoken in that location</a:t>
            </a:r>
          </a:p>
          <a:p>
            <a:pPr lvl="1"/>
            <a:r>
              <a:rPr lang="en-US" dirty="0" smtClean="0"/>
              <a:t>Is used to determine how strings such as dates, numerals, and currency amounts are formatted.</a:t>
            </a:r>
          </a:p>
          <a:p>
            <a:pPr lvl="1"/>
            <a:r>
              <a:rPr lang="en-US" dirty="0" smtClean="0"/>
              <a:t>It is also used to determines how values are compared and sorted.</a:t>
            </a:r>
          </a:p>
          <a:p>
            <a:pPr lvl="1"/>
            <a:r>
              <a:rPr lang="en-US" dirty="0" smtClean="0"/>
              <a:t>A culture name is declared with </a:t>
            </a:r>
            <a:r>
              <a:rPr lang="en-US" b="1" i="1" dirty="0" smtClean="0">
                <a:solidFill>
                  <a:srgbClr val="990033"/>
                </a:solidFill>
              </a:rPr>
              <a:t>language</a:t>
            </a:r>
            <a:r>
              <a:rPr lang="en-US" dirty="0" smtClean="0">
                <a:solidFill>
                  <a:srgbClr val="990033"/>
                </a:solidFill>
              </a:rPr>
              <a:t>-</a:t>
            </a:r>
            <a:r>
              <a:rPr lang="en-US" b="1" i="1" dirty="0" smtClean="0">
                <a:solidFill>
                  <a:srgbClr val="990033"/>
                </a:solidFill>
              </a:rPr>
              <a:t>country</a:t>
            </a:r>
          </a:p>
          <a:p>
            <a:pPr lvl="1"/>
            <a:r>
              <a:rPr lang="en-US" dirty="0" smtClean="0"/>
              <a:t>The language follows the 2 letters RFC 1766 language code in lower case</a:t>
            </a:r>
          </a:p>
          <a:p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5A0861E-C698-49F7-930B-0958B47FE904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Localization – Setting Culture 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country code follows the 2 letters RFC 3066 country codes in upper case</a:t>
            </a:r>
          </a:p>
          <a:p>
            <a:r>
              <a:rPr lang="en-US" dirty="0" smtClean="0"/>
              <a:t>Common culture names:</a:t>
            </a:r>
          </a:p>
          <a:p>
            <a:pPr lvl="1"/>
            <a:r>
              <a:rPr lang="en-US" dirty="0" smtClean="0"/>
              <a:t>de-DE = German (Germany)</a:t>
            </a:r>
          </a:p>
          <a:p>
            <a:pPr lvl="1"/>
            <a:r>
              <a:rPr lang="en-US" dirty="0" smtClean="0"/>
              <a:t>en-US = English (United States)</a:t>
            </a:r>
          </a:p>
          <a:p>
            <a:pPr lvl="1"/>
            <a:r>
              <a:rPr lang="en-US" dirty="0" err="1" smtClean="0"/>
              <a:t>zh</a:t>
            </a:r>
            <a:r>
              <a:rPr lang="en-US" dirty="0" smtClean="0"/>
              <a:t>-CN = Chinese (China)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5A0861E-C698-49F7-930B-0958B47FE904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Localization – Setting </a:t>
            </a:r>
            <a:r>
              <a:rPr lang="en-US" dirty="0" err="1" smtClean="0"/>
              <a:t>UICulture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UICulture</a:t>
            </a:r>
            <a:endParaRPr lang="en-US" dirty="0" smtClean="0"/>
          </a:p>
          <a:p>
            <a:pPr lvl="1"/>
            <a:r>
              <a:rPr lang="en-US" dirty="0" smtClean="0"/>
              <a:t>Is used to specify which resource files are loaded for the page.</a:t>
            </a:r>
          </a:p>
          <a:p>
            <a:pPr lvl="1"/>
            <a:r>
              <a:rPr lang="en-US" dirty="0" smtClean="0"/>
              <a:t>Resource files contain all the text content of your pages translated into a particular language.</a:t>
            </a:r>
          </a:p>
          <a:p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5A0861E-C698-49F7-930B-0958B47FE904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 Culture &amp; </a:t>
            </a:r>
            <a:r>
              <a:rPr lang="en-US" dirty="0" err="1" smtClean="0"/>
              <a:t>UICulture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Culture/</a:t>
            </a:r>
            <a:r>
              <a:rPr lang="en-US" dirty="0" err="1" smtClean="0"/>
              <a:t>UICulture</a:t>
            </a:r>
            <a:r>
              <a:rPr lang="en-US" dirty="0" smtClean="0"/>
              <a:t> can be set at </a:t>
            </a:r>
            <a:r>
              <a:rPr lang="en-US" dirty="0" smtClean="0">
                <a:solidFill>
                  <a:srgbClr val="990033"/>
                </a:solidFill>
              </a:rPr>
              <a:t>application level </a:t>
            </a:r>
            <a:r>
              <a:rPr lang="en-US" dirty="0" smtClean="0"/>
              <a:t>in </a:t>
            </a:r>
            <a:r>
              <a:rPr lang="en-US" dirty="0" err="1" smtClean="0"/>
              <a:t>web.config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5A0861E-C698-49F7-930B-0958B47FE90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90600" y="2743200"/>
            <a:ext cx="7315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SG" sz="2400" dirty="0" smtClean="0"/>
          </a:p>
          <a:p>
            <a:r>
              <a:rPr lang="en-SG" sz="2400" dirty="0" smtClean="0"/>
              <a:t>&lt;</a:t>
            </a:r>
            <a:r>
              <a:rPr lang="en-SG" sz="2400" dirty="0" err="1"/>
              <a:t>system.web</a:t>
            </a:r>
            <a:r>
              <a:rPr lang="en-SG" sz="2400" dirty="0"/>
              <a:t>&gt;</a:t>
            </a:r>
          </a:p>
          <a:p>
            <a:r>
              <a:rPr lang="en-SG" sz="2400" dirty="0" smtClean="0"/>
              <a:t>    &lt;</a:t>
            </a:r>
            <a:r>
              <a:rPr lang="en-SG" sz="2400" dirty="0"/>
              <a:t>globalization </a:t>
            </a:r>
            <a:r>
              <a:rPr lang="fr-FR" sz="2400" dirty="0" smtClean="0"/>
              <a:t>culture</a:t>
            </a:r>
            <a:r>
              <a:rPr lang="fr-FR" sz="2400" dirty="0"/>
              <a:t>="</a:t>
            </a:r>
            <a:r>
              <a:rPr lang="fr-FR" sz="2400" dirty="0" smtClean="0">
                <a:solidFill>
                  <a:srgbClr val="0070C0"/>
                </a:solidFill>
              </a:rPr>
              <a:t>en-GB</a:t>
            </a:r>
            <a:r>
              <a:rPr lang="fr-FR" sz="2400" dirty="0"/>
              <a:t>"</a:t>
            </a:r>
            <a:r>
              <a:rPr lang="fr-FR" sz="2400" dirty="0" smtClean="0"/>
              <a:t>   </a:t>
            </a:r>
          </a:p>
          <a:p>
            <a:r>
              <a:rPr lang="fr-FR" sz="2400" dirty="0"/>
              <a:t> </a:t>
            </a:r>
            <a:r>
              <a:rPr lang="fr-FR" sz="2400" dirty="0" smtClean="0"/>
              <a:t>      	</a:t>
            </a:r>
            <a:r>
              <a:rPr lang="fr-FR" sz="2400" dirty="0" err="1" smtClean="0"/>
              <a:t>uiCulture</a:t>
            </a:r>
            <a:r>
              <a:rPr lang="fr-FR" sz="2400" dirty="0"/>
              <a:t>="</a:t>
            </a:r>
            <a:r>
              <a:rPr lang="fr-FR" sz="2400" dirty="0">
                <a:solidFill>
                  <a:srgbClr val="0070C0"/>
                </a:solidFill>
              </a:rPr>
              <a:t>en-GB</a:t>
            </a:r>
            <a:r>
              <a:rPr lang="fr-FR" sz="2400" dirty="0"/>
              <a:t>"/&gt;</a:t>
            </a:r>
          </a:p>
          <a:p>
            <a:r>
              <a:rPr lang="en-SG" sz="2400" dirty="0"/>
              <a:t>  &lt;/</a:t>
            </a:r>
            <a:r>
              <a:rPr lang="en-SG" sz="2400" dirty="0" err="1"/>
              <a:t>system.web</a:t>
            </a:r>
            <a:r>
              <a:rPr lang="en-SG" sz="2400" dirty="0"/>
              <a:t>&gt;</a:t>
            </a:r>
          </a:p>
          <a:p>
            <a:endParaRPr lang="en-SG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Setting Culture Name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culture can be set at </a:t>
            </a:r>
            <a:r>
              <a:rPr lang="en-US" dirty="0" smtClean="0">
                <a:solidFill>
                  <a:srgbClr val="990033"/>
                </a:solidFill>
              </a:rPr>
              <a:t>page level</a:t>
            </a:r>
          </a:p>
          <a:p>
            <a:pPr lvl="1"/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&lt;%@ Page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Culture="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zh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-CN"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UICulture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zh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-CN"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Language="C#"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AutoEventWireup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="true"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CodeFile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Default.aspx.cs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" Inherits="_Default" %&gt;</a:t>
            </a:r>
          </a:p>
          <a:p>
            <a:r>
              <a:rPr lang="en-US" dirty="0" smtClean="0"/>
              <a:t>Set it </a:t>
            </a:r>
            <a:r>
              <a:rPr lang="en-US" dirty="0" smtClean="0">
                <a:solidFill>
                  <a:srgbClr val="990033"/>
                </a:solidFill>
              </a:rPr>
              <a:t>programmatically </a:t>
            </a:r>
            <a:r>
              <a:rPr lang="en-US" dirty="0" smtClean="0"/>
              <a:t>(C#) as follow:</a:t>
            </a:r>
          </a:p>
          <a:p>
            <a:pPr lvl="1"/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Page.UICulture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= "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zh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-CN";</a:t>
            </a:r>
          </a:p>
          <a:p>
            <a:pPr lvl="1"/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Page.Culture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= "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zh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-CN";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5A0861E-C698-49F7-930B-0958B47FE90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011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Resource 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 smtClean="0"/>
              <a:t>Resource file are typically used to support locale-specific setting</a:t>
            </a:r>
          </a:p>
          <a:p>
            <a:pPr>
              <a:defRPr/>
            </a:pPr>
            <a:r>
              <a:rPr lang="en-US" dirty="0" smtClean="0"/>
              <a:t>Resources contain the translated text and which file is loaded depend on </a:t>
            </a:r>
            <a:r>
              <a:rPr lang="en-US" dirty="0" err="1" smtClean="0"/>
              <a:t>UICulture</a:t>
            </a:r>
            <a:r>
              <a:rPr lang="en-US" dirty="0" smtClean="0"/>
              <a:t> whereas Culture affect only formatting for Date, Number, Sorting etc…</a:t>
            </a:r>
          </a:p>
          <a:p>
            <a:pPr>
              <a:defRPr/>
            </a:pPr>
            <a:r>
              <a:rPr lang="en-US" dirty="0" smtClean="0"/>
              <a:t>There are two type of resources:</a:t>
            </a:r>
          </a:p>
          <a:p>
            <a:pPr lvl="1">
              <a:defRPr/>
            </a:pPr>
            <a:r>
              <a:rPr lang="en-US" dirty="0" smtClean="0"/>
              <a:t>Local – resource file only used by a SINGLE page</a:t>
            </a:r>
          </a:p>
          <a:p>
            <a:pPr lvl="1">
              <a:defRPr/>
            </a:pPr>
            <a:r>
              <a:rPr lang="en-US" dirty="0" smtClean="0"/>
              <a:t>Global – resource file used for ALL pages in the web site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F5A0861E-C698-49F7-930B-0958B47FE904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Local Resource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local resource file must be created in the “</a:t>
            </a:r>
            <a:r>
              <a:rPr lang="en-US" dirty="0" err="1" smtClean="0">
                <a:solidFill>
                  <a:srgbClr val="0070C0"/>
                </a:solidFill>
              </a:rPr>
              <a:t>App_LocalResources</a:t>
            </a:r>
            <a:r>
              <a:rPr lang="en-US" dirty="0" smtClean="0"/>
              <a:t>” sub-folder in the root folder of web page to be translated.</a:t>
            </a:r>
          </a:p>
          <a:p>
            <a:r>
              <a:rPr lang="en-US" dirty="0" err="1" smtClean="0"/>
              <a:t>E.g</a:t>
            </a:r>
            <a:r>
              <a:rPr lang="en-US" dirty="0" smtClean="0"/>
              <a:t>: If Default.aspx in located in </a:t>
            </a:r>
            <a:r>
              <a:rPr lang="en-US" dirty="0" smtClean="0">
                <a:solidFill>
                  <a:srgbClr val="C00000"/>
                </a:solidFill>
              </a:rPr>
              <a:t>c:\app\</a:t>
            </a:r>
            <a:r>
              <a:rPr lang="en-US" dirty="0" smtClean="0"/>
              <a:t>, we will create resource file used by Default.aspx in </a:t>
            </a:r>
            <a:r>
              <a:rPr lang="en-US" dirty="0" smtClean="0">
                <a:solidFill>
                  <a:srgbClr val="C00000"/>
                </a:solidFill>
              </a:rPr>
              <a:t>c:\app\</a:t>
            </a:r>
            <a:r>
              <a:rPr lang="en-US" dirty="0" smtClean="0">
                <a:solidFill>
                  <a:srgbClr val="0070C0"/>
                </a:solidFill>
              </a:rPr>
              <a:t>App_LocalResources\</a:t>
            </a:r>
            <a:r>
              <a:rPr lang="en-US" dirty="0" smtClean="0"/>
              <a:t>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5A0861E-C698-49F7-930B-0958B47FE904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Local Resource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8302752" cy="4495800"/>
          </a:xfrm>
        </p:spPr>
        <p:txBody>
          <a:bodyPr>
            <a:normAutofit/>
          </a:bodyPr>
          <a:lstStyle/>
          <a:p>
            <a:r>
              <a:rPr lang="en-US" dirty="0" smtClean="0"/>
              <a:t>If we want to create a default language and Chinese resource for </a:t>
            </a:r>
            <a:r>
              <a:rPr lang="en-US" dirty="0" smtClean="0">
                <a:solidFill>
                  <a:srgbClr val="00B050"/>
                </a:solidFill>
              </a:rPr>
              <a:t>Default.aspx </a:t>
            </a:r>
            <a:r>
              <a:rPr lang="en-US" dirty="0" smtClean="0"/>
              <a:t>we need to name the resource file as:</a:t>
            </a:r>
          </a:p>
          <a:p>
            <a:pPr lvl="1"/>
            <a:r>
              <a:rPr lang="en-US" dirty="0" err="1" smtClean="0">
                <a:solidFill>
                  <a:srgbClr val="00B050"/>
                </a:solidFill>
              </a:rPr>
              <a:t>Default.aspx.</a:t>
            </a:r>
            <a:r>
              <a:rPr lang="en-US" dirty="0" err="1" smtClean="0">
                <a:solidFill>
                  <a:srgbClr val="0070C0"/>
                </a:solidFill>
              </a:rPr>
              <a:t>resx</a:t>
            </a:r>
            <a:r>
              <a:rPr lang="en-US" dirty="0" smtClean="0"/>
              <a:t>, and</a:t>
            </a:r>
          </a:p>
          <a:p>
            <a:pPr lvl="1"/>
            <a:r>
              <a:rPr lang="en-US" dirty="0" err="1" smtClean="0">
                <a:solidFill>
                  <a:srgbClr val="00B050"/>
                </a:solidFill>
              </a:rPr>
              <a:t>Default.aspx.</a:t>
            </a:r>
            <a:r>
              <a:rPr lang="en-US" dirty="0" err="1" smtClean="0">
                <a:solidFill>
                  <a:srgbClr val="C00000"/>
                </a:solidFill>
              </a:rPr>
              <a:t>zh-CN.</a:t>
            </a:r>
            <a:r>
              <a:rPr lang="en-US" dirty="0" err="1" smtClean="0">
                <a:solidFill>
                  <a:srgbClr val="0070C0"/>
                </a:solidFill>
              </a:rPr>
              <a:t>resx</a:t>
            </a:r>
            <a:r>
              <a:rPr lang="en-US" dirty="0" smtClean="0"/>
              <a:t> respectively.</a:t>
            </a:r>
          </a:p>
          <a:p>
            <a:r>
              <a:rPr lang="en-US" dirty="0" smtClean="0"/>
              <a:t>To obtain a value from the local resource we code (C#) as follow (where "</a:t>
            </a:r>
            <a:r>
              <a:rPr lang="en-US" dirty="0" err="1" smtClean="0"/>
              <a:t>NumberFormat</a:t>
            </a:r>
            <a:r>
              <a:rPr lang="en-US" dirty="0" smtClean="0"/>
              <a:t> is the name of the Resource):</a:t>
            </a:r>
          </a:p>
          <a:p>
            <a:pPr lvl="1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GetLocalResourceObject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NumberFormat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");</a:t>
            </a:r>
          </a:p>
          <a:p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5A0861E-C698-49F7-930B-0958B47FE904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Global Resource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Global resource files they must be located in folder with name “</a:t>
            </a:r>
            <a:r>
              <a:rPr lang="en-US" dirty="0" err="1" smtClean="0">
                <a:solidFill>
                  <a:srgbClr val="0070C0"/>
                </a:solidFill>
              </a:rPr>
              <a:t>App_GlobalResources</a:t>
            </a:r>
            <a:r>
              <a:rPr lang="en-US" dirty="0" smtClean="0"/>
              <a:t>”</a:t>
            </a:r>
          </a:p>
          <a:p>
            <a:r>
              <a:rPr lang="en-US" dirty="0" smtClean="0"/>
              <a:t>If we created a file with name “</a:t>
            </a:r>
            <a:r>
              <a:rPr lang="en-US" dirty="0" err="1" smtClean="0"/>
              <a:t>Resource.resx</a:t>
            </a:r>
            <a:r>
              <a:rPr lang="en-US" dirty="0" smtClean="0"/>
              <a:t>” which has a resource named “Title”</a:t>
            </a:r>
          </a:p>
          <a:p>
            <a:r>
              <a:rPr lang="en-US" dirty="0" smtClean="0"/>
              <a:t>To obtain the value, we code (C#) as follow:</a:t>
            </a:r>
          </a:p>
          <a:p>
            <a:pPr lvl="1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GetGlobalResourceObject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("Resource", "Title");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5A0861E-C698-49F7-930B-0958B47FE904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Globalization and Localization is a huge topics, more information can be found at:</a:t>
            </a:r>
          </a:p>
          <a:p>
            <a:pPr lvl="1"/>
            <a:r>
              <a:rPr lang="en-US" dirty="0" smtClean="0">
                <a:hlinkClick r:id="rId2"/>
              </a:rPr>
              <a:t>Best Practices</a:t>
            </a:r>
            <a:endParaRPr lang="en-US" dirty="0" smtClean="0"/>
          </a:p>
          <a:p>
            <a:pPr lvl="1"/>
            <a:r>
              <a:rPr lang="en-US" dirty="0" smtClean="0">
                <a:hlinkClick r:id="rId3"/>
              </a:rPr>
              <a:t>Standard Numeric Format String</a:t>
            </a:r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2011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5A0861E-C698-49F7-930B-0958B47FE904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3532</TotalTime>
  <Words>845</Words>
  <Application>Microsoft Office PowerPoint</Application>
  <PresentationFormat>On-screen Show (4:3)</PresentationFormat>
  <Paragraphs>138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Courier New</vt:lpstr>
      <vt:lpstr>Trebuchet MS</vt:lpstr>
      <vt:lpstr>Wingdings 3</vt:lpstr>
      <vt:lpstr>Facet</vt:lpstr>
      <vt:lpstr>Lecture 10: UI Format (Globalization and Localization)</vt:lpstr>
      <vt:lpstr>Overview</vt:lpstr>
      <vt:lpstr>Definition</vt:lpstr>
      <vt:lpstr>In the Past</vt:lpstr>
      <vt:lpstr>Culturally Dependent Data</vt:lpstr>
      <vt:lpstr>Culturally Dependent Data</vt:lpstr>
      <vt:lpstr>Culturally Dependent Data</vt:lpstr>
      <vt:lpstr>.NET</vt:lpstr>
      <vt:lpstr>Things to Consider</vt:lpstr>
      <vt:lpstr>Localization – Setting Culture  </vt:lpstr>
      <vt:lpstr>Localization – Setting Culture  </vt:lpstr>
      <vt:lpstr>Localization – Setting UICulture</vt:lpstr>
      <vt:lpstr>Setting Culture &amp; UICulture</vt:lpstr>
      <vt:lpstr>Setting Culture Name</vt:lpstr>
      <vt:lpstr>Resource Files</vt:lpstr>
      <vt:lpstr>Local Resource File</vt:lpstr>
      <vt:lpstr>Local Resource File</vt:lpstr>
      <vt:lpstr>Global Resource</vt:lpstr>
      <vt:lpstr>Summary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Vincent</dc:creator>
  <cp:lastModifiedBy>tommy low</cp:lastModifiedBy>
  <cp:revision>478</cp:revision>
  <cp:lastPrinted>2012-07-03T08:28:41Z</cp:lastPrinted>
  <dcterms:created xsi:type="dcterms:W3CDTF">1601-01-01T00:00:00Z</dcterms:created>
  <dcterms:modified xsi:type="dcterms:W3CDTF">2015-03-20T02:12:31Z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