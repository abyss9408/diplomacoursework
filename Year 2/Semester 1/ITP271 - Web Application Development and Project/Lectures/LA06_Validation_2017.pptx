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notesMasterIdLst>
    <p:notesMasterId r:id="rId17"/>
  </p:notesMasterIdLst>
  <p:handoutMasterIdLst>
    <p:handoutMasterId r:id="rId18"/>
  </p:handoutMasterIdLst>
  <p:sldIdLst>
    <p:sldId id="256" r:id="rId2"/>
    <p:sldId id="311" r:id="rId3"/>
    <p:sldId id="322" r:id="rId4"/>
    <p:sldId id="323" r:id="rId5"/>
    <p:sldId id="324" r:id="rId6"/>
    <p:sldId id="325" r:id="rId7"/>
    <p:sldId id="313" r:id="rId8"/>
    <p:sldId id="314" r:id="rId9"/>
    <p:sldId id="315" r:id="rId10"/>
    <p:sldId id="321" r:id="rId11"/>
    <p:sldId id="318" r:id="rId12"/>
    <p:sldId id="316" r:id="rId13"/>
    <p:sldId id="317" r:id="rId14"/>
    <p:sldId id="319" r:id="rId15"/>
    <p:sldId id="320" r:id="rId16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990033"/>
    <a:srgbClr val="CC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8" autoAdjust="0"/>
    <p:restoredTop sz="78374" autoAdjust="0"/>
  </p:normalViewPr>
  <p:slideViewPr>
    <p:cSldViewPr>
      <p:cViewPr varScale="1">
        <p:scale>
          <a:sx n="74" d="100"/>
          <a:sy n="74" d="100"/>
        </p:scale>
        <p:origin x="85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-2050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SG" dirty="0"/>
              <a:t>NYP | School of IT | </a:t>
            </a:r>
            <a:r>
              <a:rPr lang="en-SG" dirty="0" smtClean="0"/>
              <a:t>ITP271 </a:t>
            </a:r>
            <a:r>
              <a:rPr lang="en-SG" dirty="0"/>
              <a:t>Web Applications Development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5B46E-BDF1-42C8-910D-7177821DFA3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447390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107"/>
            <a:ext cx="3244849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FE5DC-BA07-4430-9831-FD6FE48C7793}" type="slidenum">
              <a:rPr lang="en-SG" smtClean="0"/>
              <a:t>‹#›</a:t>
            </a:fld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0530642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</p:spPr>
        <p:txBody>
          <a:bodyPr/>
          <a:lstStyle/>
          <a:p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33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12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</p:spPr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44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</p:spPr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84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</p:spPr>
        <p:txBody>
          <a:bodyPr/>
          <a:lstStyle/>
          <a:p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39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</p:spPr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73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71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AD24BD-025F-4FA4-BC3F-E5B2EDFC70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0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7226FE-A8B5-46EE-AE66-04450368ECA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A5084B-4455-418C-B5C5-DD616608E28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8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D41D92-50DA-4F2E-B9DD-18645F48A23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EE6A9A-3B1D-4EE9-B37A-6783F43CAB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42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CBCCE8-CC45-4A74-AF98-CFA36D5047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2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E7ABA5-F292-4E98-82ED-1D47217328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4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D195B-5C70-4B5D-BE1F-152489D52A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5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96CEDE-CD1E-4613-815A-2DAAB731AC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0480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96CEDE-CD1E-4613-815A-2DAAB731AC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789091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96CEDE-CD1E-4613-815A-2DAAB731AC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83252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96CEDE-CD1E-4613-815A-2DAAB731AC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107758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96CEDE-CD1E-4613-815A-2DAAB731AC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22319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A22DC5-7FFB-4D4C-8533-17FE9A896E5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31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D934D8-8B70-4435-BB6C-28BF10B6C9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2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5696CEDE-CD1E-4613-815A-2DAAB731AC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2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888" r:id="rId15"/>
    <p:sldLayoutId id="2147483889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adsoftware.com.au/articles/regexlearnsyntax.aspx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/>
              <a:t>Lecture </a:t>
            </a:r>
            <a:r>
              <a:rPr lang="en-GB" dirty="0" smtClean="0"/>
              <a:t>LA06: </a:t>
            </a:r>
            <a:r>
              <a:rPr lang="en-GB" dirty="0" smtClean="0"/>
              <a:t>Validation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 smtClean="0"/>
              <a:t>ITP271 Web Applications Development &amp; Project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AD24BD-025F-4FA4-BC3F-E5B2EDFC70F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Validators</a:t>
            </a:r>
          </a:p>
          <a:p>
            <a:pPr lvl="1"/>
            <a:r>
              <a:rPr lang="en-US" smtClean="0"/>
              <a:t>RequiredFieldValidator</a:t>
            </a:r>
          </a:p>
          <a:p>
            <a:pPr lvl="1"/>
            <a:r>
              <a:rPr lang="en-US" smtClean="0"/>
              <a:t>RangeValidator</a:t>
            </a:r>
          </a:p>
          <a:p>
            <a:pPr lvl="1"/>
            <a:r>
              <a:rPr lang="en-US" smtClean="0"/>
              <a:t>RegularExpressionValidator</a:t>
            </a:r>
          </a:p>
          <a:p>
            <a:pPr lvl="1"/>
            <a:r>
              <a:rPr lang="en-US" smtClean="0"/>
              <a:t>CompareValidator</a:t>
            </a:r>
          </a:p>
          <a:p>
            <a:pPr lvl="1"/>
            <a:r>
              <a:rPr lang="en-US" smtClean="0"/>
              <a:t>ValidationSummary</a:t>
            </a:r>
            <a:endParaRPr lang="en-US" dirty="0" smtClean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dirty="0" smtClean="0"/>
              <a:t>Validation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Web applications are constructed to provide or gather information.</a:t>
            </a:r>
          </a:p>
          <a:p>
            <a:r>
              <a:rPr lang="en-US" dirty="0" smtClean="0"/>
              <a:t>Collect valid data should be important when constructing a web application</a:t>
            </a:r>
          </a:p>
          <a:p>
            <a:r>
              <a:rPr lang="en-US" dirty="0" smtClean="0"/>
              <a:t>Validation is a set of rules that applied to the data collected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1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Cause Validation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89567"/>
            <a:ext cx="4648200" cy="4572000"/>
          </a:xfrm>
        </p:spPr>
        <p:txBody>
          <a:bodyPr>
            <a:normAutofit/>
          </a:bodyPr>
          <a:lstStyle/>
          <a:p>
            <a:r>
              <a:rPr lang="en-US" dirty="0" smtClean="0"/>
              <a:t>Validation occurs when button, image button or link button is clicked.</a:t>
            </a:r>
          </a:p>
          <a:p>
            <a:r>
              <a:rPr lang="en-US" dirty="0" smtClean="0"/>
              <a:t>If your page contains multiple buttons, every button will invoke the validation.</a:t>
            </a:r>
          </a:p>
          <a:p>
            <a:r>
              <a:rPr lang="en-US" dirty="0" smtClean="0"/>
              <a:t>Set </a:t>
            </a:r>
            <a:r>
              <a:rPr lang="en-US" dirty="0" err="1" smtClean="0"/>
              <a:t>CauseValidation</a:t>
            </a:r>
            <a:r>
              <a:rPr lang="en-US" dirty="0" smtClean="0"/>
              <a:t> property in the button control to enable or disable the validation.  </a:t>
            </a:r>
            <a:endParaRPr lang="en-US" dirty="0"/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3" cstate="print"/>
          <a:srcRect l="21458" t="31874" r="26842" b="30880"/>
          <a:stretch>
            <a:fillRect/>
          </a:stretch>
        </p:blipFill>
        <p:spPr bwMode="auto">
          <a:xfrm>
            <a:off x="5105400" y="1905000"/>
            <a:ext cx="37338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DA5084B-4455-418C-B5C5-DD616608E28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181600" y="4648200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Unable the validation for View Term button  by setting </a:t>
            </a:r>
            <a:r>
              <a:rPr lang="en-US" dirty="0" err="1" smtClean="0"/>
              <a:t>CauseValidation</a:t>
            </a:r>
            <a:r>
              <a:rPr lang="en-US" dirty="0" smtClean="0"/>
              <a:t> property to ‘False’ for View Term Button</a:t>
            </a:r>
            <a:endParaRPr lang="en-US" dirty="0"/>
          </a:p>
        </p:txBody>
      </p:sp>
      <p:cxnSp>
        <p:nvCxnSpPr>
          <p:cNvPr id="9" name="Elbow Connector 8"/>
          <p:cNvCxnSpPr/>
          <p:nvPr/>
        </p:nvCxnSpPr>
        <p:spPr>
          <a:xfrm rot="16200000" flipH="1">
            <a:off x="7581900" y="4076700"/>
            <a:ext cx="838200" cy="304800"/>
          </a:xfrm>
          <a:prstGeom prst="bentConnector3">
            <a:avLst>
              <a:gd name="adj1" fmla="val 303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03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ASP.NET Validation Server Control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2236871"/>
              </p:ext>
            </p:extLst>
          </p:nvPr>
        </p:nvGraphicFramePr>
        <p:xfrm>
          <a:off x="838200" y="1828800"/>
          <a:ext cx="7848600" cy="4602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/>
                <a:gridCol w="48006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Validation Control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Usage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RequiredField</a:t>
                      </a:r>
                      <a:r>
                        <a:rPr lang="en-US" sz="2000" baseline="0" dirty="0" err="1" smtClean="0"/>
                        <a:t>Validator</a:t>
                      </a:r>
                      <a:endParaRPr lang="en-US" sz="2000" dirty="0" smtClean="0"/>
                    </a:p>
                    <a:p>
                      <a:pPr algn="l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Ensure</a:t>
                      </a:r>
                      <a:r>
                        <a:rPr lang="en-US" sz="2000" baseline="0" dirty="0" smtClean="0"/>
                        <a:t> user does not skip input</a:t>
                      </a:r>
                      <a:endParaRPr lang="en-US" sz="2000" dirty="0" smtClean="0"/>
                    </a:p>
                    <a:p>
                      <a:pPr algn="l"/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CompareValidator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Compare</a:t>
                      </a:r>
                      <a:r>
                        <a:rPr lang="en-US" sz="2000" baseline="0" dirty="0" smtClean="0"/>
                        <a:t> between user input and other item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RangeValidator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Check user</a:t>
                      </a:r>
                      <a:r>
                        <a:rPr lang="en-US" sz="2000" baseline="0" dirty="0" smtClean="0"/>
                        <a:t> input base on lower and upper range defined in the control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RegularExpressionValidator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Check</a:t>
                      </a:r>
                      <a:r>
                        <a:rPr lang="en-US" sz="2000" baseline="0" dirty="0" smtClean="0"/>
                        <a:t> user input match a pattern defined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CustomValidator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Check</a:t>
                      </a:r>
                      <a:r>
                        <a:rPr lang="en-US" sz="2000" baseline="0" dirty="0" smtClean="0"/>
                        <a:t> user entry using costumed code validation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ValidationSummary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Display all error message in one specific spot</a:t>
                      </a:r>
                      <a:r>
                        <a:rPr lang="en-US" sz="2000" baseline="0" dirty="0" smtClean="0"/>
                        <a:t> on the page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0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924801" cy="1320800"/>
          </a:xfrm>
        </p:spPr>
        <p:txBody>
          <a:bodyPr>
            <a:normAutofit/>
          </a:bodyPr>
          <a:lstStyle/>
          <a:p>
            <a:r>
              <a:rPr lang="en-GB" dirty="0" smtClean="0"/>
              <a:t>Attribute of validation server control</a:t>
            </a:r>
            <a:endParaRPr lang="en-SG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43276"/>
              </p:ext>
            </p:extLst>
          </p:nvPr>
        </p:nvGraphicFramePr>
        <p:xfrm>
          <a:off x="457200" y="1280768"/>
          <a:ext cx="8305801" cy="5125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72343"/>
                <a:gridCol w="6033458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Control</a:t>
                      </a:r>
                      <a:endParaRPr lang="en-SG" dirty="0"/>
                    </a:p>
                  </a:txBody>
                  <a:tcPr marL="71197" marR="71197"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Description</a:t>
                      </a:r>
                      <a:endParaRPr lang="en-SG" dirty="0"/>
                    </a:p>
                  </a:txBody>
                  <a:tcPr marL="71197" marR="71197"/>
                </a:tc>
              </a:tr>
              <a:tr h="370840">
                <a:tc>
                  <a:txBody>
                    <a:bodyPr/>
                    <a:lstStyle/>
                    <a:p>
                      <a:pPr marL="0" lvl="1"/>
                      <a:r>
                        <a:rPr lang="en-US" dirty="0" err="1" smtClean="0"/>
                        <a:t>ControlToValidate</a:t>
                      </a:r>
                      <a:endParaRPr lang="en-US" dirty="0" smtClean="0"/>
                    </a:p>
                  </a:txBody>
                  <a:tcPr marL="71197" marR="7119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 smtClean="0"/>
                        <a:t>The ID of the input control that the validation control will evaluate.</a:t>
                      </a:r>
                      <a:endParaRPr lang="en-SG" dirty="0"/>
                    </a:p>
                  </a:txBody>
                  <a:tcPr marL="71197" marR="71197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Display</a:t>
                      </a:r>
                      <a:endParaRPr lang="en-SG" dirty="0"/>
                    </a:p>
                  </a:txBody>
                  <a:tcPr marL="71197" marR="71197"/>
                </a:tc>
                <a:tc>
                  <a:txBody>
                    <a:bodyPr/>
                    <a:lstStyle/>
                    <a:p>
                      <a:r>
                        <a:rPr lang="en-SG" b="1" dirty="0" smtClean="0"/>
                        <a:t>None</a:t>
                      </a:r>
                      <a:r>
                        <a:rPr lang="en-SG" dirty="0" smtClean="0"/>
                        <a:t> — The </a:t>
                      </a:r>
                      <a:r>
                        <a:rPr lang="en-SG" dirty="0" err="1" smtClean="0"/>
                        <a:t>validationcontrol</a:t>
                      </a:r>
                      <a:r>
                        <a:rPr lang="en-SG" dirty="0" smtClean="0"/>
                        <a:t> is never displayed inline.  </a:t>
                      </a:r>
                    </a:p>
                    <a:p>
                      <a:r>
                        <a:rPr lang="en-SG" b="1" dirty="0" smtClean="0"/>
                        <a:t>Static</a:t>
                      </a:r>
                      <a:r>
                        <a:rPr lang="en-SG" dirty="0" smtClean="0"/>
                        <a:t> — The validation control displays an error message if validation fails. Space is reserved on the page for the message even if the input passes validation</a:t>
                      </a:r>
                    </a:p>
                    <a:p>
                      <a:r>
                        <a:rPr lang="en-SG" b="1" dirty="0" smtClean="0"/>
                        <a:t>Dynamic</a:t>
                      </a:r>
                      <a:r>
                        <a:rPr lang="en-SG" dirty="0" smtClean="0"/>
                        <a:t> — The validation control displays an error message if validation fails. Space is</a:t>
                      </a:r>
                      <a:r>
                        <a:rPr lang="en-SG" baseline="0" dirty="0" smtClean="0"/>
                        <a:t> not reserved if input passes validation</a:t>
                      </a:r>
                      <a:r>
                        <a:rPr lang="en-SG" dirty="0" smtClean="0"/>
                        <a:t>.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/>
                    </a:p>
                  </a:txBody>
                  <a:tcPr marL="71197" marR="71197"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ErrorMessage</a:t>
                      </a:r>
                      <a:endParaRPr lang="en-US" dirty="0" smtClean="0"/>
                    </a:p>
                  </a:txBody>
                  <a:tcPr marL="71197" marR="7119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 smtClean="0"/>
                        <a:t>The error message to display in the Validation control if validation fails.  </a:t>
                      </a:r>
                      <a:endParaRPr lang="en-SG" dirty="0"/>
                    </a:p>
                  </a:txBody>
                  <a:tcPr marL="71197" marR="71197"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Text</a:t>
                      </a:r>
                    </a:p>
                  </a:txBody>
                  <a:tcPr marL="71197" marR="7119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 smtClean="0"/>
                        <a:t>When set, this message is displayed in the validation control when validation fails.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 smtClean="0"/>
                        <a:t>If this property is not set, the text specified in the </a:t>
                      </a:r>
                      <a:r>
                        <a:rPr lang="en-SG" b="1" dirty="0" err="1" smtClean="0"/>
                        <a:t>ErrorMessage</a:t>
                      </a:r>
                      <a:r>
                        <a:rPr lang="en-SG" dirty="0" smtClean="0"/>
                        <a:t> property is displayed in the control</a:t>
                      </a:r>
                      <a:endParaRPr lang="en-SG" dirty="0"/>
                    </a:p>
                  </a:txBody>
                  <a:tcPr marL="71197" marR="71197"/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2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RequiredFieldValidator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24000"/>
            <a:ext cx="6347714" cy="3880773"/>
          </a:xfrm>
        </p:spPr>
        <p:txBody>
          <a:bodyPr/>
          <a:lstStyle/>
          <a:p>
            <a:r>
              <a:rPr lang="en-US" dirty="0" smtClean="0"/>
              <a:t>When a textbox control is bind to this validator, user must enter some value into the text box.</a:t>
            </a:r>
          </a:p>
          <a:p>
            <a:r>
              <a:rPr lang="en-US" dirty="0" smtClean="0"/>
              <a:t>Important setting</a:t>
            </a:r>
          </a:p>
          <a:p>
            <a:pPr lvl="1"/>
            <a:r>
              <a:rPr lang="en-US" dirty="0" err="1" smtClean="0"/>
              <a:t>ControlToValidate</a:t>
            </a:r>
            <a:endParaRPr lang="en-US" dirty="0" smtClean="0"/>
          </a:p>
          <a:p>
            <a:pPr lvl="1"/>
            <a:r>
              <a:rPr lang="en-US" dirty="0" err="1" smtClean="0"/>
              <a:t>ErrorMessage</a:t>
            </a:r>
            <a:endParaRPr lang="en-US" dirty="0" smtClean="0"/>
          </a:p>
          <a:p>
            <a:pPr lvl="1"/>
            <a:r>
              <a:rPr lang="en-US" dirty="0" smtClean="0"/>
              <a:t>Display</a:t>
            </a:r>
          </a:p>
          <a:p>
            <a:pPr lvl="1"/>
            <a:r>
              <a:rPr lang="en-US" dirty="0" smtClean="0"/>
              <a:t>Text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588455"/>
            <a:ext cx="4497388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RangeValidator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Use to ensure input control values is within a range of specified minimum and maximum value</a:t>
            </a:r>
          </a:p>
          <a:p>
            <a:r>
              <a:rPr lang="en-US" smtClean="0"/>
              <a:t>Important setting</a:t>
            </a:r>
          </a:p>
          <a:p>
            <a:pPr lvl="1"/>
            <a:r>
              <a:rPr lang="en-US" smtClean="0"/>
              <a:t>ControlToValidate</a:t>
            </a:r>
          </a:p>
          <a:p>
            <a:pPr lvl="1"/>
            <a:r>
              <a:rPr lang="en-US" smtClean="0"/>
              <a:t>ErrorMessage</a:t>
            </a:r>
          </a:p>
          <a:p>
            <a:pPr lvl="1"/>
            <a:r>
              <a:rPr lang="en-US" smtClean="0"/>
              <a:t>Display</a:t>
            </a:r>
          </a:p>
          <a:p>
            <a:pPr lvl="1"/>
            <a:r>
              <a:rPr lang="en-US" smtClean="0"/>
              <a:t>Min and Max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614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2590800"/>
            <a:ext cx="3581400" cy="404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RegularExpressionValidator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very flexible validator that make use of regular expression</a:t>
            </a:r>
          </a:p>
          <a:p>
            <a:r>
              <a:rPr lang="en-US" smtClean="0"/>
              <a:t>Important setting</a:t>
            </a:r>
          </a:p>
          <a:p>
            <a:pPr lvl="1"/>
            <a:r>
              <a:rPr lang="en-US" smtClean="0"/>
              <a:t>ControlToValidate</a:t>
            </a:r>
          </a:p>
          <a:p>
            <a:pPr lvl="1"/>
            <a:r>
              <a:rPr lang="en-US" smtClean="0"/>
              <a:t>ErrorMessage</a:t>
            </a:r>
          </a:p>
          <a:p>
            <a:pPr lvl="1"/>
            <a:r>
              <a:rPr lang="en-US" smtClean="0"/>
              <a:t>Display</a:t>
            </a:r>
          </a:p>
          <a:p>
            <a:pPr lvl="1"/>
            <a:r>
              <a:rPr lang="en-US" smtClean="0"/>
              <a:t>ValidationExpression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2764763"/>
            <a:ext cx="4189412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RegularExpressionValidator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are Regular Expressions?</a:t>
            </a:r>
          </a:p>
          <a:p>
            <a:r>
              <a:rPr lang="en-US" dirty="0" smtClean="0"/>
              <a:t>Regular Expressions are a powerful pattern matching language. </a:t>
            </a:r>
          </a:p>
          <a:p>
            <a:r>
              <a:rPr lang="en-US" dirty="0" smtClean="0"/>
              <a:t>Regular Expressions allow you to apply a pattern to an input string and return a list of the matches within the text. </a:t>
            </a:r>
          </a:p>
          <a:p>
            <a:r>
              <a:rPr lang="en-US" dirty="0" smtClean="0"/>
              <a:t>Regular expressions also allow text to be replaced using replacement patterns.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RegularExpressionValidator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Visual Studio comes default with a number of validation expression for e.g. email, zip code etc.</a:t>
            </a:r>
          </a:p>
          <a:p>
            <a:r>
              <a:rPr lang="en-US" smtClean="0"/>
              <a:t>Example U.S Social Security Number</a:t>
            </a:r>
          </a:p>
          <a:p>
            <a:pPr lvl="1"/>
            <a:r>
              <a:rPr lang="en-US" smtClean="0"/>
              <a:t>\d{3}-\d{2}-\d{4}</a:t>
            </a:r>
          </a:p>
          <a:p>
            <a:pPr lvl="1"/>
            <a:r>
              <a:rPr lang="en-US" smtClean="0"/>
              <a:t>The above expression use on a text box make sure user enters the following format NNN-NN-NNNN i.e. 3 digits – 2 digits – 4 digits</a:t>
            </a:r>
          </a:p>
          <a:p>
            <a:pPr lvl="1"/>
            <a:endParaRPr lang="en-US" smtClean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CompareValidator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Use to compare the value of a control with:</a:t>
            </a:r>
          </a:p>
          <a:p>
            <a:pPr lvl="1"/>
            <a:r>
              <a:rPr lang="en-US" smtClean="0"/>
              <a:t>Value of another control (ControlToValidate property), OR</a:t>
            </a:r>
          </a:p>
          <a:p>
            <a:pPr lvl="1"/>
            <a:r>
              <a:rPr lang="en-US" smtClean="0"/>
              <a:t>Value in ValueToCompare property</a:t>
            </a:r>
          </a:p>
          <a:p>
            <a:r>
              <a:rPr lang="en-US" smtClean="0"/>
              <a:t>Important setting</a:t>
            </a:r>
          </a:p>
          <a:p>
            <a:pPr lvl="1"/>
            <a:r>
              <a:rPr lang="en-US" smtClean="0"/>
              <a:t>ControlToValidate</a:t>
            </a:r>
          </a:p>
          <a:p>
            <a:pPr lvl="1"/>
            <a:r>
              <a:rPr lang="en-US" smtClean="0"/>
              <a:t>ErrorMessage</a:t>
            </a:r>
          </a:p>
          <a:p>
            <a:pPr lvl="1"/>
            <a:r>
              <a:rPr lang="en-US" smtClean="0"/>
              <a:t>Display</a:t>
            </a:r>
          </a:p>
          <a:p>
            <a:pPr lvl="1"/>
            <a:r>
              <a:rPr lang="en-US" smtClean="0"/>
              <a:t>Operator</a:t>
            </a:r>
          </a:p>
          <a:p>
            <a:pPr lvl="2"/>
            <a:r>
              <a:rPr lang="en-US" smtClean="0"/>
              <a:t>Valid if this is TRUE</a:t>
            </a:r>
          </a:p>
          <a:p>
            <a:pPr lvl="1"/>
            <a:r>
              <a:rPr lang="en-US" smtClean="0"/>
              <a:t>Type</a:t>
            </a:r>
          </a:p>
          <a:p>
            <a:pPr lvl="1"/>
            <a:r>
              <a:rPr lang="en-US" smtClean="0"/>
              <a:t>ControlToCompare</a:t>
            </a:r>
          </a:p>
          <a:p>
            <a:pPr lvl="1"/>
            <a:r>
              <a:rPr lang="en-US" smtClean="0"/>
              <a:t>ValueToCompare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10244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6165850" y="2362200"/>
            <a:ext cx="2978150" cy="4038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ValidationSummary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76400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 smtClean="0"/>
              <a:t>Displays all the </a:t>
            </a:r>
            <a:r>
              <a:rPr lang="en-US" dirty="0" err="1" smtClean="0"/>
              <a:t>ErrorMessages</a:t>
            </a:r>
            <a:r>
              <a:rPr lang="en-US" dirty="0" smtClean="0"/>
              <a:t> of all validators within the web form.</a:t>
            </a:r>
          </a:p>
          <a:p>
            <a:r>
              <a:rPr lang="en-US" dirty="0" smtClean="0"/>
              <a:t>If a </a:t>
            </a:r>
            <a:r>
              <a:rPr lang="en-US" dirty="0" err="1" smtClean="0"/>
              <a:t>ValidationSummary</a:t>
            </a:r>
            <a:r>
              <a:rPr lang="en-US" dirty="0" smtClean="0"/>
              <a:t> control is present on the page, all Validators will display their </a:t>
            </a:r>
            <a:r>
              <a:rPr lang="en-US" dirty="0" err="1" smtClean="0"/>
              <a:t>ErrorMessage</a:t>
            </a:r>
            <a:r>
              <a:rPr lang="en-US" dirty="0" smtClean="0"/>
              <a:t> property in 2 places.</a:t>
            </a:r>
          </a:p>
          <a:p>
            <a:pPr lvl="1"/>
            <a:r>
              <a:rPr lang="en-US" dirty="0" smtClean="0"/>
              <a:t>In their own location.</a:t>
            </a:r>
          </a:p>
          <a:p>
            <a:pPr lvl="1"/>
            <a:r>
              <a:rPr lang="en-US" dirty="0" smtClean="0"/>
              <a:t>In the validation summary.</a:t>
            </a:r>
          </a:p>
          <a:p>
            <a:r>
              <a:rPr lang="en-US" dirty="0" smtClean="0"/>
              <a:t>To prevent Validators from displaying the </a:t>
            </a:r>
            <a:r>
              <a:rPr lang="en-US" dirty="0" err="1" smtClean="0"/>
              <a:t>ErrorMessages</a:t>
            </a:r>
            <a:r>
              <a:rPr lang="en-US" dirty="0" smtClean="0"/>
              <a:t> in both places, set the Text property of the validator (usually) to a symbol like '*' or number to indicate the location of the error.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With validator controls, we can validate user input without complex coding.</a:t>
            </a:r>
          </a:p>
          <a:p>
            <a:r>
              <a:rPr lang="en-US" smtClean="0"/>
              <a:t>In the lab, we will continue with our previous lab where we create a feedback form and use the validators to validate user input.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3"/>
              </a:rPr>
              <a:t>Regular Expression</a:t>
            </a:r>
            <a:endParaRPr lang="en-US" smtClean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5CE11C-9031-4C8E-B0E7-2249BB469A8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2148</TotalTime>
  <Words>928</Words>
  <Application>Microsoft Office PowerPoint</Application>
  <PresentationFormat>On-screen Show (4:3)</PresentationFormat>
  <Paragraphs>146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Lecture LA06: Validation</vt:lpstr>
      <vt:lpstr>Overview</vt:lpstr>
      <vt:lpstr>Validation</vt:lpstr>
      <vt:lpstr>Cause Validation </vt:lpstr>
      <vt:lpstr>ASP.NET Validation Server Control</vt:lpstr>
      <vt:lpstr>Attribute of validation server control</vt:lpstr>
      <vt:lpstr>RequiredFieldValidator</vt:lpstr>
      <vt:lpstr>RangeValidator</vt:lpstr>
      <vt:lpstr>RegularExpressionValidator</vt:lpstr>
      <vt:lpstr>RegularExpressionValidator</vt:lpstr>
      <vt:lpstr>RegularExpressionValidator</vt:lpstr>
      <vt:lpstr>CompareValidator</vt:lpstr>
      <vt:lpstr>ValidationSummary</vt:lpstr>
      <vt:lpstr>Summary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</dc:creator>
  <cp:lastModifiedBy>tommy low</cp:lastModifiedBy>
  <cp:revision>318</cp:revision>
  <cp:lastPrinted>2012-04-07T07:38:38Z</cp:lastPrinted>
  <dcterms:created xsi:type="dcterms:W3CDTF">1601-01-01T00:00:00Z</dcterms:created>
  <dcterms:modified xsi:type="dcterms:W3CDTF">2015-03-19T09:22:28Z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