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notesMasterIdLst>
    <p:notesMasterId r:id="rId20"/>
  </p:notesMasterIdLst>
  <p:handoutMasterIdLst>
    <p:handoutMasterId r:id="rId21"/>
  </p:handoutMasterIdLst>
  <p:sldIdLst>
    <p:sldId id="256" r:id="rId2"/>
    <p:sldId id="275" r:id="rId3"/>
    <p:sldId id="310" r:id="rId4"/>
    <p:sldId id="299" r:id="rId5"/>
    <p:sldId id="311" r:id="rId6"/>
    <p:sldId id="312" r:id="rId7"/>
    <p:sldId id="303" r:id="rId8"/>
    <p:sldId id="301" r:id="rId9"/>
    <p:sldId id="302" r:id="rId10"/>
    <p:sldId id="304" r:id="rId11"/>
    <p:sldId id="300" r:id="rId12"/>
    <p:sldId id="306" r:id="rId13"/>
    <p:sldId id="307" r:id="rId14"/>
    <p:sldId id="308" r:id="rId15"/>
    <p:sldId id="297" r:id="rId16"/>
    <p:sldId id="298" r:id="rId17"/>
    <p:sldId id="289" r:id="rId18"/>
    <p:sldId id="285" r:id="rId19"/>
  </p:sldIdLst>
  <p:sldSz cx="9144000" cy="6858000" type="screen4x3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990033"/>
    <a:srgbClr val="CC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8" autoAdjust="0"/>
    <p:restoredTop sz="78374" autoAdjust="0"/>
  </p:normalViewPr>
  <p:slideViewPr>
    <p:cSldViewPr>
      <p:cViewPr varScale="1">
        <p:scale>
          <a:sx n="79" d="100"/>
          <a:sy n="79" d="100"/>
        </p:scale>
        <p:origin x="84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/>
            </a:lvl1pPr>
          </a:lstStyle>
          <a:p>
            <a:pPr>
              <a:defRPr/>
            </a:pPr>
            <a:r>
              <a:rPr lang="en-SG" smtClean="0"/>
              <a:t>NYP | School of IT | DEI | IT2751 - Web App. Devt. | AY2012S1</a:t>
            </a:r>
            <a:endParaRPr lang="en-GB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/>
            </a:lvl1pPr>
          </a:lstStyle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2D2168D3-B031-4ED9-AA26-8B59907871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913371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/>
            </a:lvl1pPr>
          </a:lstStyle>
          <a:p>
            <a:pPr>
              <a:defRPr/>
            </a:pPr>
            <a:r>
              <a:rPr lang="en-SG" smtClean="0"/>
              <a:t>NYP | School of IT | DEI | IT2751 - Web App. Devt. | AY2012S1</a:t>
            </a:r>
            <a:endParaRPr lang="en-GB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/>
            </a:lvl1pPr>
          </a:lstStyle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02DECB09-9FEC-4D9F-8D9B-3C9491313A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23676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2DECB09-9FEC-4D9F-8D9B-3C9491313A3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NYP | School of IT | DEI | IT2751 - Web App. Devt. | AY2012S1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2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2DECB09-9FEC-4D9F-8D9B-3C9491313A38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NYP | School of IT | DEI | IT2751 - Web App. Devt. | AY2012S1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108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2DECB09-9FEC-4D9F-8D9B-3C9491313A38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NYP | School of IT | DEI | IT2751 - Web App. Devt. | AY2012S1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935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B97B13-17D6-4BA7-B2B2-59D945474F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299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BF8BE4-7C7F-4CA4-82BC-760ED01B430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75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1A061B-DE01-4B03-877E-042844B69B7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77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077F60-0A5D-40A5-AF63-39B8C65BF3B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28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08753D-B82B-43CF-AF62-B227B3C5918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3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E12A94-6C86-44CB-9160-22A42FCF78E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02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D03733-75AB-4413-87F2-A76A6E46DE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52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97DDF-9D2D-4DCD-9243-42981830529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9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D0CC96-67D6-4B26-97A4-797155345B5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3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571BBA-0707-45F4-8326-862A3944CFF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3771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571BBA-0707-45F4-8326-862A3944CFF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0980953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571BBA-0707-45F4-8326-862A3944CFF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65324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571BBA-0707-45F4-8326-862A3944CFF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1648088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571BBA-0707-45F4-8326-862A3944CFF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12809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557BFA-1F08-4C25-B819-90E9FC58032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36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8DFF5-F8AF-4843-8C00-A0FCDCD4396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53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A571BBA-0707-45F4-8326-862A3944CFF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48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msdn.microsoft.com/en-us/library/system.convert.aspx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msdn.microsoft.com/en-us/library/6a71f45d(v=VS.100).aspx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msdn.microsoft.com/en-us/library/system.collections.generic.aspx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Lecture A02: CSHARP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Web Application Development &amp; Project (ITP271)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Copyright © </a:t>
            </a:r>
            <a:r>
              <a:rPr lang="en-SG" dirty="0" err="1" smtClean="0"/>
              <a:t>Nanyang</a:t>
            </a:r>
            <a:r>
              <a:rPr lang="en-SG" dirty="0" smtClean="0"/>
              <a:t>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B97B13-17D6-4BA7-B2B2-59D945474F3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C#</a:t>
            </a:r>
            <a:endParaRPr lang="en-US" dirty="0" smtClean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 Oriented</a:t>
            </a:r>
          </a:p>
          <a:p>
            <a:r>
              <a:rPr lang="en-US" dirty="0" smtClean="0"/>
              <a:t>Case sensitive</a:t>
            </a:r>
          </a:p>
          <a:p>
            <a:r>
              <a:rPr lang="en-US" dirty="0" smtClean="0"/>
              <a:t>A strongly typed language</a:t>
            </a:r>
          </a:p>
          <a:p>
            <a:pPr lvl="1"/>
            <a:r>
              <a:rPr lang="en-US" smtClean="0"/>
              <a:t>Strict about data types</a:t>
            </a: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56BF8BE4-7C7F-4CA4-82BC-760ED01B430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Garbage Collection</a:t>
            </a:r>
          </a:p>
          <a:p>
            <a:r>
              <a:rPr lang="en-US" dirty="0" smtClean="0"/>
              <a:t>Single super-classing</a:t>
            </a:r>
          </a:p>
          <a:p>
            <a:r>
              <a:rPr lang="en-US" dirty="0" smtClean="0"/>
              <a:t>Interfaces</a:t>
            </a:r>
          </a:p>
          <a:p>
            <a:r>
              <a:rPr lang="en-US" dirty="0" smtClean="0"/>
              <a:t>Exception</a:t>
            </a:r>
          </a:p>
          <a:p>
            <a:r>
              <a:rPr lang="en-US" dirty="0" smtClean="0"/>
              <a:t>Byte code</a:t>
            </a:r>
          </a:p>
          <a:p>
            <a:r>
              <a:rPr lang="en-US" dirty="0" smtClean="0"/>
              <a:t>Almost all features from Java, yet it has new features which Java is learning and implementing from learning from C#</a:t>
            </a:r>
          </a:p>
          <a:p>
            <a:pPr lvl="1"/>
            <a:r>
              <a:rPr lang="en-US" dirty="0" smtClean="0"/>
              <a:t>A good sign for the programming language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56BF8BE4-7C7F-4CA4-82BC-760ED01B430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Variable Declaration and Type Conversion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string name = "John";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age = 34;</a:t>
            </a:r>
          </a:p>
          <a:p>
            <a:endParaRPr lang="en-US" dirty="0" smtClean="0"/>
          </a:p>
          <a:p>
            <a:r>
              <a:rPr lang="en-US" dirty="0" smtClean="0"/>
              <a:t>Convert </a:t>
            </a:r>
            <a:r>
              <a:rPr lang="en-US" dirty="0" err="1" smtClean="0"/>
              <a:t>int</a:t>
            </a:r>
            <a:r>
              <a:rPr lang="en-US" dirty="0" smtClean="0"/>
              <a:t> to string: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Label1.Text =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age.ToString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Convert string to 16 bit </a:t>
            </a:r>
            <a:r>
              <a:rPr lang="en-US" dirty="0" err="1" smtClean="0"/>
              <a:t>int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age = Convert.ToInt16("34");</a:t>
            </a: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56BF8BE4-7C7F-4CA4-82BC-760ED01B430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Variable Declaration and Type Conversion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Other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Convert</a:t>
            </a:r>
            <a:r>
              <a:rPr lang="en-US" dirty="0" smtClean="0"/>
              <a:t> methods: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.ToInt32()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.ToInt64()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ToDouble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.ToInt32()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ToDateTime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1"/>
            <a:r>
              <a:rPr lang="en-US" dirty="0" smtClean="0"/>
              <a:t>More…</a:t>
            </a:r>
          </a:p>
          <a:p>
            <a:pPr lvl="1"/>
            <a:r>
              <a:rPr lang="en-US" dirty="0" smtClean="0"/>
              <a:t>For details and more info, see: </a:t>
            </a:r>
            <a:r>
              <a:rPr lang="en-SG" dirty="0" smtClean="0">
                <a:hlinkClick r:id="rId2"/>
              </a:rPr>
              <a:t>http://msdn.microsoft.com/en-us/library/system.convert.aspx</a:t>
            </a: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56BF8BE4-7C7F-4CA4-82BC-760ED01B430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C# provides a large set of operators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56BF8BE4-7C7F-4CA4-82BC-760ED01B4306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90600" y="2209800"/>
          <a:ext cx="6096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 smtClean="0"/>
                        <a:t>Operator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smtClean="0"/>
                        <a:t>Description</a:t>
                      </a:r>
                      <a:endParaRPr lang="en-SG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 smtClean="0"/>
                        <a:t>&amp;&amp;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smtClean="0"/>
                        <a:t>Conditional</a:t>
                      </a:r>
                      <a:r>
                        <a:rPr lang="en-SG" baseline="0" dirty="0" smtClean="0"/>
                        <a:t> AND</a:t>
                      </a:r>
                      <a:endParaRPr lang="en-SG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 smtClean="0"/>
                        <a:t>II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smtClean="0"/>
                        <a:t>Conditional OR</a:t>
                      </a:r>
                      <a:endParaRPr lang="en-SG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 smtClean="0"/>
                        <a:t>new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smtClean="0"/>
                        <a:t>Create</a:t>
                      </a:r>
                      <a:r>
                        <a:rPr lang="en-SG" baseline="0" dirty="0" smtClean="0"/>
                        <a:t> new object</a:t>
                      </a:r>
                      <a:endParaRPr lang="en-SG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 smtClean="0"/>
                        <a:t>==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smtClean="0"/>
                        <a:t>Equal</a:t>
                      </a:r>
                      <a:endParaRPr lang="en-SG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 smtClean="0"/>
                        <a:t>!=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smtClean="0"/>
                        <a:t>Not</a:t>
                      </a:r>
                      <a:r>
                        <a:rPr lang="en-SG" baseline="0" dirty="0" smtClean="0"/>
                        <a:t> equal</a:t>
                      </a:r>
                      <a:endParaRPr lang="en-SG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 smtClean="0"/>
                        <a:t>&gt; 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smtClean="0"/>
                        <a:t>Greater than</a:t>
                      </a:r>
                      <a:endParaRPr lang="en-SG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 smtClean="0"/>
                        <a:t>&lt;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smtClean="0"/>
                        <a:t>Lesser than</a:t>
                      </a:r>
                      <a:endParaRPr lang="en-SG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 smtClean="0"/>
                        <a:t>&gt;=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smtClean="0"/>
                        <a:t>Greater</a:t>
                      </a:r>
                      <a:r>
                        <a:rPr lang="en-SG" baseline="0" dirty="0" smtClean="0"/>
                        <a:t> than</a:t>
                      </a:r>
                      <a:r>
                        <a:rPr lang="en-SG" dirty="0" smtClean="0"/>
                        <a:t> or equal</a:t>
                      </a:r>
                      <a:endParaRPr lang="en-SG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 smtClean="0"/>
                        <a:t>&lt;=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smtClean="0"/>
                        <a:t>Less than or equal</a:t>
                      </a:r>
                      <a:endParaRPr lang="en-SG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Example:</a:t>
            </a:r>
          </a:p>
          <a:p>
            <a:pPr lvl="1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if(user == "Zak" &amp;&amp;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itemsBought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&gt; 0)</a:t>
            </a:r>
          </a:p>
          <a:p>
            <a:pPr lvl="1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// do process order…</a:t>
            </a:r>
          </a:p>
          <a:p>
            <a:pPr lvl="1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>
              <a:buNone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/>
              <a:t>For more C# operators, see: </a:t>
            </a:r>
            <a:r>
              <a:rPr lang="en-SG" dirty="0" smtClean="0">
                <a:hlinkClick r:id="rId2"/>
              </a:rPr>
              <a:t>http://msdn.microsoft.com/en-us/library/6a71f45d(v=VS.100).aspx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56BF8BE4-7C7F-4CA4-82BC-760ED01B4306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Conditional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itchFamily="2" charset="2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if(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userName.Text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== "Zak") </a:t>
            </a:r>
            <a:r>
              <a:rPr lang="en-US" sz="33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  <a:sym typeface="Wingdings"/>
              </a:rPr>
              <a:t></a:t>
            </a:r>
            <a:endParaRPr lang="en-US" b="1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Common mistake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if(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userName.Text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= "Zak") </a:t>
            </a:r>
            <a:r>
              <a:rPr lang="en-US" sz="33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Wingdings"/>
              </a:rPr>
              <a:t></a:t>
            </a:r>
            <a:endParaRPr lang="en-US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 smtClean="0"/>
              <a:t>The above is incorrect:</a:t>
            </a:r>
          </a:p>
          <a:p>
            <a:pPr lvl="1">
              <a:defRPr/>
            </a:pPr>
            <a:r>
              <a:rPr lang="en-US" dirty="0" smtClean="0"/>
              <a:t>Single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dirty="0" smtClean="0"/>
              <a:t>is an assignment operator... we're setting the value of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userName.Text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/>
              <a:t>to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"Zak"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None/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56BF8BE4-7C7F-4CA4-82BC-760ED01B430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10244" name="Oval 3"/>
          <p:cNvSpPr>
            <a:spLocks noChangeArrowheads="1"/>
          </p:cNvSpPr>
          <p:nvPr/>
        </p:nvSpPr>
        <p:spPr bwMode="auto">
          <a:xfrm>
            <a:off x="3048000" y="3657600"/>
            <a:ext cx="609600" cy="5334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Conditional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switch(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userName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case "Zak":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Response.Redirect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("ZakPage.aspx");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break;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case "Mark":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Response.Redirect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("MarkPage.aspx");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break;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default: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Response.Redirect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("ErrPage.aspx");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break;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56BF8BE4-7C7F-4CA4-82BC-760ED01B4306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Beside the common loops </a:t>
            </a:r>
          </a:p>
          <a:p>
            <a:pPr lvl="1"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do while </a:t>
            </a:r>
          </a:p>
          <a:p>
            <a:pPr lvl="1"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for</a:t>
            </a:r>
          </a:p>
          <a:p>
            <a:pPr lvl="1"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while </a:t>
            </a:r>
          </a:p>
          <a:p>
            <a:pPr>
              <a:defRPr/>
            </a:pPr>
            <a:r>
              <a:rPr lang="en-US" dirty="0" smtClean="0"/>
              <a:t>We can use </a:t>
            </a:r>
          </a:p>
          <a:p>
            <a:pPr lvl="1">
              <a:defRPr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foreach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defRPr/>
            </a:pPr>
            <a:r>
              <a:rPr lang="en-US" dirty="0" smtClean="0"/>
              <a:t>Useful for iterating a collection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56BF8BE4-7C7F-4CA4-82BC-760ED01B430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Collection Generic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Namespace: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System.Collections.Generic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 smtClean="0"/>
              <a:t>Create strongly typed lists that provide better type safety and performance than non-generic strongly typed Collections</a:t>
            </a:r>
          </a:p>
          <a:p>
            <a:pPr>
              <a:defRPr/>
            </a:pPr>
            <a:r>
              <a:rPr lang="en-US" dirty="0" smtClean="0"/>
              <a:t>Some common types of Collections</a:t>
            </a:r>
          </a:p>
          <a:p>
            <a:pPr lvl="1"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Dictionary</a:t>
            </a:r>
          </a:p>
          <a:p>
            <a:pPr lvl="1"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List</a:t>
            </a:r>
          </a:p>
          <a:p>
            <a:pPr lvl="1">
              <a:defRPr/>
            </a:pPr>
            <a:r>
              <a:rPr lang="en-US" dirty="0" smtClean="0"/>
              <a:t>For more types of Collections, see: </a:t>
            </a:r>
            <a:r>
              <a:rPr lang="en-SG" dirty="0" smtClean="0">
                <a:hlinkClick r:id="rId2"/>
              </a:rPr>
              <a:t>http://msdn.microsoft.com/en-us/library/system.collections.generic.aspx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56BF8BE4-7C7F-4CA4-82BC-760ED01B430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// create a List of string objects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List&lt;string&gt;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listString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new List&lt;string&gt;();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listString.Add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(“John”);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listString.Add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(“Zak”);</a:t>
            </a:r>
          </a:p>
          <a:p>
            <a:pPr>
              <a:buFont typeface="Wingdings" pitchFamily="2" charset="2"/>
              <a:buNone/>
              <a:defRPr/>
            </a:pPr>
            <a:endParaRPr lang="en-US" sz="24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// sort it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listString.sort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Font typeface="Wingdings" pitchFamily="2" charset="2"/>
              <a:buNone/>
              <a:defRPr/>
            </a:pPr>
            <a:endParaRPr lang="en-US" sz="2400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// get first item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first =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listString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[0];</a:t>
            </a:r>
          </a:p>
          <a:p>
            <a:pPr>
              <a:buFont typeface="Wingdings" pitchFamily="2" charset="2"/>
              <a:buNone/>
              <a:defRPr/>
            </a:pPr>
            <a:endParaRPr lang="en-US" sz="2400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56BF8BE4-7C7F-4CA4-82BC-760ED01B430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foreach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foreach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(string name in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arrayString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if(name == “Zak”)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  // do something…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56BF8BE4-7C7F-4CA4-82BC-760ED01B4306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Properties and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Properties</a:t>
            </a:r>
          </a:p>
          <a:p>
            <a:pPr lvl="1">
              <a:defRPr/>
            </a:pPr>
            <a:r>
              <a:rPr lang="en-US" smtClean="0"/>
              <a:t>Hold specific information relevant to the class</a:t>
            </a:r>
          </a:p>
          <a:p>
            <a:pPr lvl="1">
              <a:defRPr/>
            </a:pPr>
            <a:r>
              <a:rPr lang="en-US" smtClean="0">
                <a:latin typeface="Courier New" pitchFamily="49" charset="0"/>
                <a:cs typeface="Courier New" pitchFamily="49" charset="0"/>
              </a:rPr>
              <a:t>labelName.Text</a:t>
            </a:r>
          </a:p>
          <a:p>
            <a:pPr>
              <a:defRPr/>
            </a:pPr>
            <a:r>
              <a:rPr lang="en-US" smtClean="0"/>
              <a:t>Methods</a:t>
            </a:r>
          </a:p>
          <a:p>
            <a:pPr lvl="1">
              <a:defRPr/>
            </a:pPr>
            <a:r>
              <a:rPr lang="en-US" smtClean="0"/>
              <a:t>Also known as functions</a:t>
            </a:r>
          </a:p>
          <a:p>
            <a:pPr lvl="1">
              <a:defRPr/>
            </a:pPr>
            <a:r>
              <a:rPr lang="en-US" smtClean="0">
                <a:latin typeface="Courier New" pitchFamily="49" charset="0"/>
                <a:cs typeface="Courier New" pitchFamily="49" charset="0"/>
              </a:rPr>
              <a:t>DateTime.Now.ToShortDateString();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56BF8BE4-7C7F-4CA4-82BC-760ED01B430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Properties and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following is a method implementation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56BF8BE4-7C7F-4CA4-82BC-760ED01B4306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 l="15000" t="52083" r="49250" b="36458"/>
          <a:stretch>
            <a:fillRect/>
          </a:stretch>
        </p:blipFill>
        <p:spPr bwMode="auto">
          <a:xfrm>
            <a:off x="990600" y="2209800"/>
            <a:ext cx="79248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Properties and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The following is a Property implementation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56BF8BE4-7C7F-4CA4-82BC-760ED01B430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 l="15625" t="30208" r="53912" b="31713"/>
          <a:stretch>
            <a:fillRect/>
          </a:stretch>
        </p:blipFill>
        <p:spPr bwMode="auto">
          <a:xfrm>
            <a:off x="990600" y="2209800"/>
            <a:ext cx="5181601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ular Callout 8"/>
          <p:cNvSpPr/>
          <p:nvPr/>
        </p:nvSpPr>
        <p:spPr>
          <a:xfrm>
            <a:off x="5181600" y="3048000"/>
            <a:ext cx="2971800" cy="349702"/>
          </a:xfrm>
          <a:prstGeom prst="wedgeRectCallout">
            <a:avLst>
              <a:gd name="adj1" fmla="val -98035"/>
              <a:gd name="adj2" fmla="val 5948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r>
              <a:rPr lang="en-SG" dirty="0" smtClean="0"/>
              <a:t>Name of property</a:t>
            </a:r>
            <a:endParaRPr lang="en-SG" dirty="0"/>
          </a:p>
        </p:txBody>
      </p:sp>
      <p:sp>
        <p:nvSpPr>
          <p:cNvPr id="18436" name="Oval 3"/>
          <p:cNvSpPr>
            <a:spLocks noChangeArrowheads="1"/>
          </p:cNvSpPr>
          <p:nvPr/>
        </p:nvSpPr>
        <p:spPr bwMode="auto">
          <a:xfrm>
            <a:off x="2743200" y="3276600"/>
            <a:ext cx="1143000" cy="4572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Properties and Methods</a:t>
            </a:r>
            <a:endParaRPr lang="en-US" dirty="0" smtClean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15890" t="32203" r="51835" b="32343"/>
          <a:stretch>
            <a:fillRect/>
          </a:stretch>
        </p:blipFill>
        <p:spPr bwMode="auto">
          <a:xfrm>
            <a:off x="762002" y="1676404"/>
            <a:ext cx="6295949" cy="414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56BF8BE4-7C7F-4CA4-82BC-760ED01B430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6" name="Rectangular Callout 15"/>
          <p:cNvSpPr/>
          <p:nvPr/>
        </p:nvSpPr>
        <p:spPr>
          <a:xfrm>
            <a:off x="5486400" y="1413303"/>
            <a:ext cx="2971800" cy="1180699"/>
          </a:xfrm>
          <a:prstGeom prst="wedgeRectCallout">
            <a:avLst>
              <a:gd name="adj1" fmla="val -40972"/>
              <a:gd name="adj2" fmla="val 9612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r>
              <a:rPr lang="en-SG" dirty="0" smtClean="0"/>
              <a:t>Visual Studio's </a:t>
            </a:r>
            <a:r>
              <a:rPr lang="en-SG" dirty="0" err="1" smtClean="0"/>
              <a:t>Intellisense</a:t>
            </a:r>
            <a:r>
              <a:rPr lang="en-SG" dirty="0" smtClean="0"/>
              <a:t> providing code hints: listing the available methods and properties.</a:t>
            </a:r>
            <a:endParaRPr lang="en-SG" dirty="0"/>
          </a:p>
        </p:txBody>
      </p:sp>
      <p:sp>
        <p:nvSpPr>
          <p:cNvPr id="17" name="Rectangular Callout 16"/>
          <p:cNvSpPr/>
          <p:nvPr/>
        </p:nvSpPr>
        <p:spPr>
          <a:xfrm>
            <a:off x="381000" y="4301699"/>
            <a:ext cx="1981200" cy="349702"/>
          </a:xfrm>
          <a:prstGeom prst="wedgeRectCallout">
            <a:avLst>
              <a:gd name="adj1" fmla="val 62525"/>
              <a:gd name="adj2" fmla="val -667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SG" dirty="0" smtClean="0"/>
              <a:t>Property icon</a:t>
            </a:r>
            <a:endParaRPr lang="en-SG" dirty="0"/>
          </a:p>
        </p:txBody>
      </p:sp>
      <p:sp>
        <p:nvSpPr>
          <p:cNvPr id="19" name="Rectangular Callout 18"/>
          <p:cNvSpPr/>
          <p:nvPr/>
        </p:nvSpPr>
        <p:spPr>
          <a:xfrm>
            <a:off x="381000" y="4800600"/>
            <a:ext cx="1981200" cy="349702"/>
          </a:xfrm>
          <a:prstGeom prst="wedgeRectCallout">
            <a:avLst>
              <a:gd name="adj1" fmla="val 62525"/>
              <a:gd name="adj2" fmla="val -667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SG" dirty="0" smtClean="0"/>
              <a:t>Method icon</a:t>
            </a:r>
            <a:endParaRPr lang="en-S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>
                <a:ea typeface="SimSun" pitchFamily="2" charset="-122"/>
              </a:rPr>
              <a:t>Summary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Review of C#</a:t>
            </a:r>
          </a:p>
          <a:p>
            <a:pPr lvl="1" eaLnBrk="1" hangingPunct="1">
              <a:defRPr/>
            </a:pPr>
            <a:r>
              <a:rPr lang="en-US" dirty="0" smtClean="0"/>
              <a:t>Property and Methods</a:t>
            </a:r>
          </a:p>
          <a:p>
            <a:pPr lvl="1">
              <a:defRPr/>
            </a:pPr>
            <a:r>
              <a:rPr lang="en-US" smtClean="0"/>
              <a:t>Generic </a:t>
            </a:r>
            <a:r>
              <a:rPr lang="en-US" smtClean="0"/>
              <a:t>Collection</a:t>
            </a: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56BF8BE4-7C7F-4CA4-82BC-760ED01B430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1355</TotalTime>
  <Words>680</Words>
  <Application>Microsoft Office PowerPoint</Application>
  <PresentationFormat>On-screen Show (4:3)</PresentationFormat>
  <Paragraphs>181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SimSun</vt:lpstr>
      <vt:lpstr>Arial</vt:lpstr>
      <vt:lpstr>Courier New</vt:lpstr>
      <vt:lpstr>Trebuchet MS</vt:lpstr>
      <vt:lpstr>Wingdings</vt:lpstr>
      <vt:lpstr>Wingdings 3</vt:lpstr>
      <vt:lpstr>Facet</vt:lpstr>
      <vt:lpstr>Lecture A02: CSHARP</vt:lpstr>
      <vt:lpstr>C#</vt:lpstr>
      <vt:lpstr>Features</vt:lpstr>
      <vt:lpstr>Variable Declaration and Type Conversion</vt:lpstr>
      <vt:lpstr>Variable Declaration and Type Conversion</vt:lpstr>
      <vt:lpstr>Operators</vt:lpstr>
      <vt:lpstr>Operators</vt:lpstr>
      <vt:lpstr>Conditional Logic</vt:lpstr>
      <vt:lpstr>Conditional Logic</vt:lpstr>
      <vt:lpstr>Loops</vt:lpstr>
      <vt:lpstr>Collection Generic</vt:lpstr>
      <vt:lpstr>List</vt:lpstr>
      <vt:lpstr>foreach Loop</vt:lpstr>
      <vt:lpstr>Properties and Methods</vt:lpstr>
      <vt:lpstr>Properties and Methods</vt:lpstr>
      <vt:lpstr>Properties and Methods</vt:lpstr>
      <vt:lpstr>Properties and Methods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</dc:creator>
  <cp:lastModifiedBy>tommy low</cp:lastModifiedBy>
  <cp:revision>265</cp:revision>
  <cp:lastPrinted>2012-04-06T13:01:28Z</cp:lastPrinted>
  <dcterms:created xsi:type="dcterms:W3CDTF">1601-01-01T00:00:00Z</dcterms:created>
  <dcterms:modified xsi:type="dcterms:W3CDTF">2017-04-04T06:20:26Z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