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1" r:id="rId1"/>
  </p:sldMasterIdLst>
  <p:notesMasterIdLst>
    <p:notesMasterId r:id="rId14"/>
  </p:notesMasterIdLst>
  <p:handoutMasterIdLst>
    <p:handoutMasterId r:id="rId15"/>
  </p:handoutMasterIdLst>
  <p:sldIdLst>
    <p:sldId id="256" r:id="rId2"/>
    <p:sldId id="311" r:id="rId3"/>
    <p:sldId id="312" r:id="rId4"/>
    <p:sldId id="314" r:id="rId5"/>
    <p:sldId id="318" r:id="rId6"/>
    <p:sldId id="320" r:id="rId7"/>
    <p:sldId id="317" r:id="rId8"/>
    <p:sldId id="321" r:id="rId9"/>
    <p:sldId id="322" r:id="rId10"/>
    <p:sldId id="323" r:id="rId11"/>
    <p:sldId id="285" r:id="rId12"/>
    <p:sldId id="324" r:id="rId13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990033"/>
    <a:srgbClr val="CC33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96" autoAdjust="0"/>
    <p:restoredTop sz="78374" autoAdjust="0"/>
  </p:normalViewPr>
  <p:slideViewPr>
    <p:cSldViewPr>
      <p:cViewPr varScale="1">
        <p:scale>
          <a:sx n="71" d="100"/>
          <a:sy n="71" d="100"/>
        </p:scale>
        <p:origin x="105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295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34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295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1A4F1FA-13AD-49BA-877A-871037F595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5648471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5" y="1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1" y="4861442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5" y="9721107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070" tIns="47535" rIns="95070" bIns="4753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D651B1-AFE5-4597-BAF7-AA35536516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151964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D651B1-AFE5-4597-BAF7-AA355365169C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7393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D651B1-AFE5-4597-BAF7-AA355365169C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26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16F479-9F40-4D36-9896-7D03B7BEDAE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4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27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4F24B1-FB9F-4284-8CC3-CDECEF51948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85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0BEF9B-C4D9-4E27-A421-818F0730386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7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BA9849-4BA1-414F-99CF-9E00705878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4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18FDFE-9781-4DEB-B605-D4FD9B2DA9C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21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B4BFC9-CD8F-43FE-B43E-066DD6F2FBB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52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7485154-C2AF-425F-A504-0FCEC0311D8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028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899ECC-9AEA-43FD-BA6D-073AEF37112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88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6A58A-892E-40F7-900E-98C617392E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6217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6A58A-892E-40F7-900E-98C617392E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2486155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6A58A-892E-40F7-900E-98C617392E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58156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6A58A-892E-40F7-900E-98C617392E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527872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66A58A-892E-40F7-900E-98C617392E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0132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640BF12-090F-4F95-A55D-02727483DB7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DB458F-BBBC-495D-8C81-AE465D9A5EE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2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9566A58A-892E-40F7-900E-98C617392E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2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  <p:sldLayoutId id="2147483813" r:id="rId12"/>
    <p:sldLayoutId id="2147483814" r:id="rId13"/>
    <p:sldLayoutId id="2147483815" r:id="rId14"/>
    <p:sldLayoutId id="2147483816" r:id="rId15"/>
    <p:sldLayoutId id="2147483817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hortcutworld.com/en/Visual-Studio/2015/win/all#link_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/>
              <a:t>Lecture A04:</a:t>
            </a:r>
            <a:br>
              <a:rPr lang="en-GB" dirty="0" smtClean="0"/>
            </a:br>
            <a:r>
              <a:rPr lang="en-GB" dirty="0" smtClean="0"/>
              <a:t>Error Handling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GB" b="1" dirty="0" smtClean="0"/>
              <a:t>ITP271 :: Web Application Development </a:t>
            </a:r>
            <a:r>
              <a:rPr lang="en-GB" b="1" smtClean="0"/>
              <a:t>&amp; Project</a:t>
            </a:r>
            <a:endParaRPr lang="en-GB" b="1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16F479-9F40-4D36-9896-7D03B7BEDAE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Dealing with Errors</a:t>
            </a:r>
          </a:p>
          <a:p>
            <a:pPr>
              <a:defRPr/>
            </a:pPr>
            <a:r>
              <a:rPr lang="en-SG" dirty="0" smtClean="0"/>
              <a:t>ASP.NET Error Handling</a:t>
            </a:r>
          </a:p>
          <a:p>
            <a:pPr lvl="1">
              <a:defRPr/>
            </a:pPr>
            <a:r>
              <a:rPr lang="en-SG" dirty="0" smtClean="0"/>
              <a:t>Customised Default Error Page</a:t>
            </a:r>
          </a:p>
          <a:p>
            <a:pPr lvl="1">
              <a:defRPr/>
            </a:pPr>
            <a:r>
              <a:rPr lang="en-SG" dirty="0" smtClean="0"/>
              <a:t>C# Exception Handling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Dealing with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SG" dirty="0" smtClean="0"/>
              <a:t>There are many possible errors that can happen in any application</a:t>
            </a:r>
          </a:p>
          <a:p>
            <a:pPr lvl="1"/>
            <a:r>
              <a:rPr lang="en-SG" dirty="0" smtClean="0"/>
              <a:t>Not all have a specific solution</a:t>
            </a:r>
          </a:p>
          <a:p>
            <a:pPr lvl="1"/>
            <a:r>
              <a:rPr lang="en-SG" dirty="0" smtClean="0"/>
              <a:t>Not all are predictable</a:t>
            </a:r>
          </a:p>
          <a:p>
            <a:r>
              <a:rPr lang="en-SG" dirty="0" smtClean="0"/>
              <a:t>Handle ALL errors in a user-friendly manner and as informative as possible</a:t>
            </a:r>
          </a:p>
          <a:p>
            <a:pPr lvl="1"/>
            <a:r>
              <a:rPr lang="en-SG" dirty="0" smtClean="0"/>
              <a:t>Reduce user's frustrations and increase likelihood of staying/returning</a:t>
            </a:r>
          </a:p>
          <a:p>
            <a:r>
              <a:rPr lang="en-SG" dirty="0" smtClean="0"/>
              <a:t>Create specific responses for errors that can be:</a:t>
            </a:r>
          </a:p>
          <a:p>
            <a:pPr lvl="1"/>
            <a:r>
              <a:rPr lang="en-SG" dirty="0" smtClean="0"/>
              <a:t>Predicted</a:t>
            </a:r>
          </a:p>
          <a:p>
            <a:pPr lvl="1"/>
            <a:r>
              <a:rPr lang="en-SG" dirty="0" smtClean="0"/>
              <a:t>Has a specific solution</a:t>
            </a:r>
          </a:p>
          <a:p>
            <a:r>
              <a:rPr lang="en-SG" dirty="0" smtClean="0"/>
              <a:t>Create generic responses for errors that:</a:t>
            </a:r>
          </a:p>
          <a:p>
            <a:pPr lvl="1"/>
            <a:r>
              <a:rPr lang="en-SG" dirty="0" smtClean="0"/>
              <a:t>Cannot be predicted,</a:t>
            </a:r>
          </a:p>
          <a:p>
            <a:pPr lvl="1"/>
            <a:r>
              <a:rPr lang="en-SG" dirty="0" smtClean="0"/>
              <a:t>Has no specific solution</a:t>
            </a:r>
          </a:p>
          <a:p>
            <a:endParaRPr lang="en-SG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Error Handling in ASP.NET Web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Generic Error Handling</a:t>
            </a:r>
          </a:p>
          <a:p>
            <a:pPr lvl="1"/>
            <a:r>
              <a:rPr lang="en-US" dirty="0" err="1" smtClean="0"/>
              <a:t>Customised</a:t>
            </a:r>
            <a:r>
              <a:rPr lang="en-US" dirty="0" smtClean="0"/>
              <a:t> Default Error Page</a:t>
            </a:r>
          </a:p>
          <a:p>
            <a:r>
              <a:rPr lang="en-US" dirty="0" smtClean="0"/>
              <a:t>Specific Error Handling</a:t>
            </a:r>
          </a:p>
          <a:p>
            <a:pPr lvl="1"/>
            <a:r>
              <a:rPr lang="en-US" dirty="0" smtClean="0"/>
              <a:t>C# Except Handling: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try… catch </a:t>
            </a:r>
            <a:r>
              <a:rPr lang="en-US" dirty="0" smtClean="0"/>
              <a:t>statement</a:t>
            </a:r>
          </a:p>
          <a:p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smtClean="0"/>
              <a:t>Customised Default Error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generic web page to display a user-friendly message to the user</a:t>
            </a:r>
          </a:p>
          <a:p>
            <a:r>
              <a:rPr lang="en-US" dirty="0" smtClean="0"/>
              <a:t>Handles errors that are:</a:t>
            </a:r>
          </a:p>
          <a:p>
            <a:pPr lvl="1"/>
            <a:r>
              <a:rPr lang="en-US" dirty="0" smtClean="0"/>
              <a:t>Unhandled</a:t>
            </a:r>
          </a:p>
          <a:p>
            <a:pPr lvl="1"/>
            <a:r>
              <a:rPr lang="en-US" dirty="0" smtClean="0"/>
              <a:t>Not predicted</a:t>
            </a:r>
          </a:p>
          <a:p>
            <a:pPr lvl="1"/>
            <a:r>
              <a:rPr lang="en-US" dirty="0" smtClean="0"/>
              <a:t>Has no solution</a:t>
            </a:r>
          </a:p>
          <a:p>
            <a:r>
              <a:rPr lang="en-US" dirty="0" smtClean="0"/>
              <a:t>Usually a .html page (instead of .</a:t>
            </a:r>
            <a:r>
              <a:rPr lang="en-US" dirty="0" err="1" smtClean="0"/>
              <a:t>aspx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Advantage: Will still work even if the ASP.NET module/engine of the web server is not functioning</a:t>
            </a:r>
          </a:p>
          <a:p>
            <a:pPr lvl="1"/>
            <a:r>
              <a:rPr lang="en-US" dirty="0" smtClean="0"/>
              <a:t>Disadvantage: Not able to use ASP.NET features like Master Pages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 smtClean="0"/>
              <a:t>Customised Default Error Page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 smtClean="0"/>
              <a:t>ASP.NET default error page</a:t>
            </a:r>
          </a:p>
          <a:p>
            <a:endParaRPr lang="en-SG" dirty="0" smtClean="0"/>
          </a:p>
          <a:p>
            <a:endParaRPr lang="en-SG" dirty="0" smtClean="0"/>
          </a:p>
          <a:p>
            <a:endParaRPr lang="en-SG" dirty="0" smtClean="0"/>
          </a:p>
          <a:p>
            <a:endParaRPr lang="en-SG" dirty="0" smtClean="0"/>
          </a:p>
          <a:p>
            <a:r>
              <a:rPr lang="en-SG" dirty="0" smtClean="0"/>
              <a:t>Customised Default Error Page</a:t>
            </a:r>
            <a:endParaRPr lang="en-SG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 t="13755" b="54790"/>
          <a:stretch>
            <a:fillRect/>
          </a:stretch>
        </p:blipFill>
        <p:spPr bwMode="auto">
          <a:xfrm>
            <a:off x="1066800" y="2209800"/>
            <a:ext cx="5732145" cy="1828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t="12500" r="55000" b="74734"/>
          <a:stretch>
            <a:fillRect/>
          </a:stretch>
        </p:blipFill>
        <p:spPr bwMode="auto">
          <a:xfrm>
            <a:off x="1066800" y="4800601"/>
            <a:ext cx="7162800" cy="12191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C# Exception Handling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C# code encounters an error, it will </a:t>
            </a:r>
            <a:r>
              <a:rPr lang="en-US" b="1" dirty="0" smtClean="0"/>
              <a:t>throw an exception</a:t>
            </a:r>
          </a:p>
          <a:p>
            <a:r>
              <a:rPr lang="en-US" dirty="0" smtClean="0"/>
              <a:t>We use the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try… catch </a:t>
            </a:r>
            <a:r>
              <a:rPr lang="en-US" dirty="0" smtClean="0"/>
              <a:t>statement to </a:t>
            </a:r>
            <a:r>
              <a:rPr lang="en-US" b="1" dirty="0" smtClean="0"/>
              <a:t>catch the exception </a:t>
            </a:r>
            <a:r>
              <a:rPr lang="en-US" dirty="0" smtClean="0"/>
              <a:t>and write code to handle it</a:t>
            </a:r>
          </a:p>
          <a:p>
            <a:r>
              <a:rPr lang="en-US" dirty="0" smtClean="0"/>
              <a:t>(</a:t>
            </a:r>
            <a:r>
              <a:rPr lang="en-US" b="1" dirty="0" smtClean="0"/>
              <a:t>Throwing</a:t>
            </a:r>
            <a:r>
              <a:rPr lang="en-US" dirty="0" smtClean="0"/>
              <a:t> and </a:t>
            </a:r>
            <a:r>
              <a:rPr lang="en-US" b="1" dirty="0" smtClean="0"/>
              <a:t>Catching Exceptions </a:t>
            </a:r>
            <a:r>
              <a:rPr lang="en-US" dirty="0" smtClean="0"/>
              <a:t>are the standard way of handling errors in current versions of many mainstream programming languages)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try… catch Statement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SG" dirty="0" smtClean="0"/>
              <a:t>Format: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// normal program code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catch ([type of exception] ex1)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// error handling code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catch ([type of exception] ex2)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// error handling code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SG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try… catch Statement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SG" dirty="0" smtClean="0"/>
              <a:t>Example: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try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age = Convert.Int32(</a:t>
            </a:r>
            <a:r>
              <a:rPr lang="en-SG" dirty="0" err="1" smtClean="0">
                <a:latin typeface="Courier New" pitchFamily="49" charset="0"/>
                <a:cs typeface="Courier New" pitchFamily="49" charset="0"/>
              </a:rPr>
              <a:t>tbAge.Text</a:t>
            </a:r>
            <a:r>
              <a:rPr lang="en-SG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catch (</a:t>
            </a:r>
            <a:r>
              <a:rPr lang="en-SG" dirty="0" err="1" smtClean="0">
                <a:latin typeface="Courier New" pitchFamily="49" charset="0"/>
                <a:cs typeface="Courier New" pitchFamily="49" charset="0"/>
              </a:rPr>
              <a:t>FormatException</a:t>
            </a:r>
            <a:r>
              <a:rPr lang="en-SG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SG" dirty="0" err="1" smtClean="0">
                <a:latin typeface="Courier New" pitchFamily="49" charset="0"/>
                <a:cs typeface="Courier New" pitchFamily="49" charset="0"/>
              </a:rPr>
              <a:t>fmtEx</a:t>
            </a:r>
            <a:r>
              <a:rPr lang="en-SG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SG" dirty="0" err="1" smtClean="0">
                <a:latin typeface="Courier New" pitchFamily="49" charset="0"/>
                <a:cs typeface="Courier New" pitchFamily="49" charset="0"/>
              </a:rPr>
              <a:t>lblErrMsg.Text</a:t>
            </a:r>
            <a:r>
              <a:rPr lang="en-SG" dirty="0" smtClean="0">
                <a:latin typeface="Courier New" pitchFamily="49" charset="0"/>
                <a:cs typeface="Courier New" pitchFamily="49" charset="0"/>
              </a:rPr>
              <a:t> = "Please enter a number.";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catch (Exception ex)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en-SG" dirty="0" err="1" smtClean="0">
                <a:latin typeface="Courier New" pitchFamily="49" charset="0"/>
                <a:cs typeface="Courier New" pitchFamily="49" charset="0"/>
              </a:rPr>
              <a:t>lblErrMsg.Text</a:t>
            </a:r>
            <a:r>
              <a:rPr lang="en-SG" dirty="0" smtClean="0">
                <a:latin typeface="Courier New" pitchFamily="49" charset="0"/>
                <a:cs typeface="Courier New" pitchFamily="49" charset="0"/>
              </a:rPr>
              <a:t> = "Unknown error. Please try again.";</a:t>
            </a:r>
          </a:p>
          <a:p>
            <a:pPr>
              <a:buNone/>
            </a:pPr>
            <a:r>
              <a:rPr lang="en-SG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SG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604" y="1105435"/>
            <a:ext cx="6347713" cy="1320800"/>
          </a:xfrm>
        </p:spPr>
        <p:txBody>
          <a:bodyPr/>
          <a:lstStyle/>
          <a:p>
            <a:r>
              <a:rPr lang="en-US" dirty="0" smtClean="0"/>
              <a:t>How to DEBUG in ASP.NET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351" y="4731994"/>
            <a:ext cx="6347714" cy="836373"/>
          </a:xfrm>
        </p:spPr>
        <p:txBody>
          <a:bodyPr/>
          <a:lstStyle/>
          <a:p>
            <a:r>
              <a:rPr lang="en-US" dirty="0"/>
              <a:t>https://</a:t>
            </a:r>
            <a:r>
              <a:rPr lang="en-US" dirty="0" smtClean="0"/>
              <a:t>www.youtube.com/watch?v=FKAOHtxiloA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30940" y="4407628"/>
            <a:ext cx="6832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Roboto" panose="02000000000000000000" pitchFamily="2" charset="0"/>
              </a:rPr>
              <a:t>Breakpoint Configuration Experience in Visual Studio 2015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999564" y="2561275"/>
            <a:ext cx="7315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https://www.youtube.com/watch?v=GPnTiFxkn9Y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9564" y="2261514"/>
            <a:ext cx="68325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How to debug code in Visual Studio</a:t>
            </a:r>
          </a:p>
        </p:txBody>
      </p:sp>
    </p:spTree>
    <p:extLst>
      <p:ext uri="{BB962C8B-B14F-4D97-AF65-F5344CB8AC3E}">
        <p14:creationId xmlns:p14="http://schemas.microsoft.com/office/powerpoint/2010/main" val="900975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mtClean="0">
                <a:ea typeface="SimSun" pitchFamily="2" charset="-122"/>
              </a:rPr>
              <a:t>Summary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SG" dirty="0" smtClean="0"/>
              <a:t>Handle ALL errors</a:t>
            </a:r>
          </a:p>
          <a:p>
            <a:pPr lvl="1">
              <a:defRPr/>
            </a:pPr>
            <a:r>
              <a:rPr lang="en-SG" dirty="0" smtClean="0"/>
              <a:t>Create specific responses for predictable errors that have specific solutions</a:t>
            </a:r>
          </a:p>
          <a:p>
            <a:pPr lvl="1">
              <a:defRPr/>
            </a:pPr>
            <a:r>
              <a:rPr lang="en-SG" dirty="0" smtClean="0"/>
              <a:t>Create generic response for unpredictable errors or errors that do not have a specific solution.</a:t>
            </a:r>
          </a:p>
          <a:p>
            <a:pPr>
              <a:defRPr/>
            </a:pPr>
            <a:r>
              <a:rPr lang="en-SG" dirty="0" smtClean="0"/>
              <a:t>Customised Default Error Page</a:t>
            </a:r>
          </a:p>
          <a:p>
            <a:pPr>
              <a:defRPr/>
            </a:pPr>
            <a:r>
              <a:rPr lang="en-SG" dirty="0" smtClean="0"/>
              <a:t>C# Exception Handling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Debugger Shortcut Keys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8001001" cy="3880773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shortcutworld.com/en/Visual-Studio/2015/win/all#link_5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What shortcut to start debugger and run the application?</a:t>
            </a:r>
          </a:p>
          <a:p>
            <a:r>
              <a:rPr lang="en-US" dirty="0" smtClean="0"/>
              <a:t>What is the shortcut key to continue execution?</a:t>
            </a:r>
          </a:p>
          <a:p>
            <a:r>
              <a:rPr lang="en-US" dirty="0" smtClean="0"/>
              <a:t>What is the shortcut key to step into?</a:t>
            </a:r>
          </a:p>
          <a:p>
            <a:r>
              <a:rPr lang="en-US" dirty="0"/>
              <a:t>What is the shortcut key to step </a:t>
            </a:r>
            <a:r>
              <a:rPr lang="en-US" dirty="0" smtClean="0"/>
              <a:t>over?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2F579E-58AA-4F42-B4DF-9B7ECD7E1B8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15242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3168</TotalTime>
  <Words>622</Words>
  <Application>Microsoft Office PowerPoint</Application>
  <PresentationFormat>On-screen Show (4:3)</PresentationFormat>
  <Paragraphs>120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SimSun</vt:lpstr>
      <vt:lpstr>Arial</vt:lpstr>
      <vt:lpstr>Courier New</vt:lpstr>
      <vt:lpstr>Roboto</vt:lpstr>
      <vt:lpstr>Trebuchet MS</vt:lpstr>
      <vt:lpstr>Wingdings 3</vt:lpstr>
      <vt:lpstr>Facet</vt:lpstr>
      <vt:lpstr>Lecture A04: Error Handling</vt:lpstr>
      <vt:lpstr>Overview</vt:lpstr>
      <vt:lpstr>Dealing with Errors</vt:lpstr>
      <vt:lpstr>Error Handling in ASP.NET Web Applications</vt:lpstr>
      <vt:lpstr>Customised Default Error Page</vt:lpstr>
      <vt:lpstr>Customised Default Error Page</vt:lpstr>
      <vt:lpstr>C# Exception Handling</vt:lpstr>
      <vt:lpstr>try… catch Statement</vt:lpstr>
      <vt:lpstr>try… catch Statement</vt:lpstr>
      <vt:lpstr>How to DEBUG in ASP.NET</vt:lpstr>
      <vt:lpstr>Summary</vt:lpstr>
      <vt:lpstr>Debugger Shortcut Keys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285</cp:revision>
  <cp:lastPrinted>2012-04-06T13:14:08Z</cp:lastPrinted>
  <dcterms:created xsi:type="dcterms:W3CDTF">1601-01-01T00:00:00Z</dcterms:created>
  <dcterms:modified xsi:type="dcterms:W3CDTF">2017-04-05T02:33:30Z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