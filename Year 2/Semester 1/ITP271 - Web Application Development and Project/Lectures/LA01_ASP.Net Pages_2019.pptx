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82" r:id="rId4"/>
    <p:sldId id="283" r:id="rId5"/>
    <p:sldId id="284" r:id="rId6"/>
    <p:sldId id="292" r:id="rId7"/>
    <p:sldId id="258" r:id="rId8"/>
    <p:sldId id="277" r:id="rId9"/>
    <p:sldId id="259" r:id="rId10"/>
    <p:sldId id="286" r:id="rId11"/>
    <p:sldId id="287" r:id="rId12"/>
    <p:sldId id="285" r:id="rId13"/>
    <p:sldId id="261" r:id="rId14"/>
    <p:sldId id="281" r:id="rId15"/>
    <p:sldId id="278" r:id="rId16"/>
    <p:sldId id="288" r:id="rId17"/>
    <p:sldId id="289" r:id="rId18"/>
    <p:sldId id="290" r:id="rId19"/>
    <p:sldId id="291" r:id="rId20"/>
    <p:sldId id="272" r:id="rId21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990033"/>
    <a:srgbClr val="0000FF"/>
    <a:srgbClr val="FFFF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50" autoAdjust="0"/>
    <p:restoredTop sz="86797" autoAdjust="0"/>
  </p:normalViewPr>
  <p:slideViewPr>
    <p:cSldViewPr>
      <p:cViewPr varScale="1">
        <p:scale>
          <a:sx n="101" d="100"/>
          <a:sy n="101" d="100"/>
        </p:scale>
        <p:origin x="108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5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GB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5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219CBDA-CA3E-41AE-B9C3-82412CD5580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53208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5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GB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1" y="4861442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5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4ADCAF8-F052-42F0-8B46-E964AD5089E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4372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DCAF8-F052-42F0-8B46-E964AD5089E4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SG" smtClean="0"/>
              <a:t>NYP | School of IT | DEI | IT2751 - Web App. Devt. | AY2012S1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516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In this module,</a:t>
            </a:r>
            <a:r>
              <a:rPr lang="en-GB" baseline="0" dirty="0" smtClean="0"/>
              <a:t> it will cover more on Web server controls</a:t>
            </a:r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CAF8-F052-42F0-8B46-E964AD5089E4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003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CAF8-F052-42F0-8B46-E964AD5089E4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399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CAF8-F052-42F0-8B46-E964AD5089E4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822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SG" smtClean="0"/>
              <a:t>NYP | School of IT | DEI | IT2751 - Web App. Devt. | AY2012S1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CAF8-F052-42F0-8B46-E964AD5089E4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97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C8F3-FE8B-451C-95B3-19C773C054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5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A474C-CEF8-4755-B397-E936DE3EAD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0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4FD4-06E7-45C0-A493-272177BF90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2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98679-4849-4004-964A-D73C1315A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8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5C190-A76C-42E8-B058-3F216AB26A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9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0342-3238-4098-8133-1C915C8D51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7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6B23-4A47-4F7E-90EA-72C2152101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14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D34F6-3B1B-41CD-9363-358E27AB43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2FB52-ACCF-4F07-810C-8926F1A0AC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6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6A4-4B13-4B8A-9B17-A8FC31240A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44787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6A4-4B13-4B8A-9B17-A8FC31240A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2879206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6A4-4B13-4B8A-9B17-A8FC31240A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4348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6A4-4B13-4B8A-9B17-A8FC31240A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3038778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BD6A4-4B13-4B8A-9B17-A8FC31240A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83349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C6364-0C3F-4E94-AB48-60B7E921D9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63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74ED4-769F-432A-80C4-74526C97F9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5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2BD6A4-4B13-4B8A-9B17-A8FC31240A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0" y="1554480"/>
            <a:ext cx="533400" cy="5303520"/>
          </a:xfrm>
          <a:prstGeom prst="rect">
            <a:avLst/>
          </a:prstGeom>
          <a:solidFill>
            <a:schemeClr val="accent1"/>
          </a:solidFill>
        </p:spPr>
        <p:txBody>
          <a:bodyPr vert="eaVert" wrap="none" lIns="36000" tIns="108000" rIns="36000" bIns="36000" rtlCol="0" anchor="ctr" anchorCtr="0">
            <a:no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NYP</a:t>
            </a:r>
            <a:r>
              <a:rPr lang="en-GB" b="1" baseline="0" dirty="0" smtClean="0">
                <a:solidFill>
                  <a:schemeClr val="bg1"/>
                </a:solidFill>
              </a:rPr>
              <a:t> :: School of IT :: </a:t>
            </a:r>
            <a:r>
              <a:rPr lang="en-GB" b="1" baseline="0" dirty="0" smtClean="0">
                <a:solidFill>
                  <a:schemeClr val="bg1"/>
                </a:solidFill>
              </a:rPr>
              <a:t>DCS </a:t>
            </a:r>
            <a:r>
              <a:rPr lang="en-GB" b="1" baseline="0" dirty="0" smtClean="0">
                <a:solidFill>
                  <a:schemeClr val="bg1"/>
                </a:solidFill>
              </a:rPr>
              <a:t>:: </a:t>
            </a:r>
            <a:r>
              <a:rPr lang="en-GB" b="1" baseline="0" dirty="0" smtClean="0">
                <a:solidFill>
                  <a:schemeClr val="bg1"/>
                </a:solidFill>
              </a:rPr>
              <a:t>ITP271: AY2017S1</a:t>
            </a:r>
            <a:endParaRPr lang="en-SG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97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asp.net/default.asp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Lecture LA01: ASP.NET Pages</a:t>
            </a: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ITP271: Web Application Development </a:t>
            </a:r>
            <a:r>
              <a:rPr lang="en-GB" smtClean="0"/>
              <a:t>&amp; Project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2893207" y="228600"/>
            <a:ext cx="5641193" cy="2590800"/>
          </a:xfrm>
        </p:spPr>
        <p:txBody>
          <a:bodyPr/>
          <a:lstStyle/>
          <a:p>
            <a:r>
              <a:rPr lang="en-US" dirty="0" smtClean="0"/>
              <a:t>To make sense of ASP.NET pages, we need to understand the following:</a:t>
            </a:r>
          </a:p>
          <a:p>
            <a:pPr lvl="1"/>
            <a:r>
              <a:rPr lang="en-US" dirty="0" smtClean="0"/>
              <a:t>Introduce ASP.NET</a:t>
            </a:r>
          </a:p>
          <a:p>
            <a:pPr lvl="1"/>
            <a:r>
              <a:rPr lang="en-US" dirty="0" smtClean="0"/>
              <a:t>ASP.NET Framework</a:t>
            </a:r>
            <a:endParaRPr lang="en-US" dirty="0"/>
          </a:p>
          <a:p>
            <a:pPr lvl="1"/>
            <a:r>
              <a:rPr lang="en-US" dirty="0" smtClean="0"/>
              <a:t>ASP.NET Web Form</a:t>
            </a:r>
          </a:p>
          <a:p>
            <a:pPr lvl="2"/>
            <a:r>
              <a:rPr lang="en-US" dirty="0" smtClean="0"/>
              <a:t>Page </a:t>
            </a:r>
            <a:r>
              <a:rPr lang="en-US" dirty="0" err="1" smtClean="0"/>
              <a:t>directives,Server</a:t>
            </a:r>
            <a:r>
              <a:rPr lang="en-US" dirty="0" smtClean="0"/>
              <a:t> Control, Web </a:t>
            </a:r>
            <a:r>
              <a:rPr lang="en-US" dirty="0" smtClean="0"/>
              <a:t>Page Code Model</a:t>
            </a:r>
            <a:endParaRPr lang="en-US" dirty="0"/>
          </a:p>
          <a:p>
            <a:pPr lvl="1"/>
            <a:r>
              <a:rPr lang="en-US" dirty="0" smtClean="0"/>
              <a:t>ASP.NET Event Handler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5575"/>
            <a:ext cx="8373916" cy="4162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What is ASP.NET?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ASP.NET is a server-side programming technology that enables scripts (embedded in web pages) and code (written in C#, VB.NET or J#) to be executed by an Internet server</a:t>
            </a:r>
          </a:p>
          <a:p>
            <a:pPr lvl="1"/>
            <a:r>
              <a:rPr lang="en-US" dirty="0" smtClean="0"/>
              <a:t>ASP.NET is a program that runs inside Internet </a:t>
            </a:r>
            <a:r>
              <a:rPr lang="en-US" dirty="0"/>
              <a:t>Information Services </a:t>
            </a:r>
            <a:r>
              <a:rPr lang="en-US" dirty="0" smtClean="0"/>
              <a:t>(IIS)</a:t>
            </a:r>
          </a:p>
          <a:p>
            <a:pPr lvl="1" eaLnBrk="1" hangingPunct="1"/>
            <a:r>
              <a:rPr lang="en-US" dirty="0" smtClean="0"/>
              <a:t>ASP.NET is a Microsoft Technology</a:t>
            </a:r>
          </a:p>
          <a:p>
            <a:pPr lvl="1" eaLnBrk="1" hangingPunct="1">
              <a:buFontTx/>
              <a:buNone/>
            </a:pPr>
            <a:endParaRPr lang="en-US" sz="2400" dirty="0" smtClean="0"/>
          </a:p>
          <a:p>
            <a:pPr lvl="1" eaLnBrk="1" hangingPunct="1">
              <a:buFontTx/>
              <a:buNone/>
            </a:pPr>
            <a:r>
              <a:rPr lang="en-US" sz="2400" dirty="0" smtClean="0"/>
              <a:t>Check it </a:t>
            </a:r>
            <a:r>
              <a:rPr lang="en-US" sz="2400" dirty="0" smtClean="0"/>
              <a:t>out .NET 2015 Improvements:</a:t>
            </a:r>
            <a:endParaRPr lang="en-US" sz="2400" dirty="0" smtClean="0">
              <a:hlinkClick r:id="rId2"/>
            </a:endParaRPr>
          </a:p>
          <a:p>
            <a:pPr lvl="1">
              <a:buNone/>
            </a:pPr>
            <a:r>
              <a:rPr lang="en-US" sz="2400" dirty="0"/>
              <a:t>https://www.youtube.com/watch?v=I6SU7UTaA3E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016" y="6172200"/>
            <a:ext cx="609600" cy="521208"/>
          </a:xfrm>
          <a:prstGeom prst="rect">
            <a:avLst/>
          </a:prstGeom>
        </p:spPr>
        <p:txBody>
          <a:bodyPr/>
          <a:lstStyle/>
          <a:p>
            <a:fld id="{9EEB6684-8788-4EEF-9BB4-60E53AB22F2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3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14808"/>
            <a:ext cx="6347713" cy="1320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 smtClean="0"/>
              <a:t>.NET Framework</a:t>
            </a:r>
            <a:endParaRPr lang="en-US" sz="360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09600" y="775208"/>
            <a:ext cx="8863584" cy="158699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1600" dirty="0" smtClean="0"/>
              <a:t>The .NET Framework is the infrastructure for the Microsoft .NET development platform</a:t>
            </a:r>
          </a:p>
          <a:p>
            <a:pPr eaLnBrk="1" hangingPunct="1"/>
            <a:endParaRPr lang="en-US" sz="1200" dirty="0" smtClean="0"/>
          </a:p>
          <a:p>
            <a:pPr eaLnBrk="1" hangingPunct="1"/>
            <a:r>
              <a:rPr lang="en-US" sz="1600" dirty="0" smtClean="0"/>
              <a:t>The .NET Framework is an environment for building, deploying, and running Web applications and Web Services, as well as Windows desktop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016" y="6172200"/>
            <a:ext cx="609600" cy="521208"/>
          </a:xfrm>
          <a:prstGeom prst="rect">
            <a:avLst/>
          </a:prstGeom>
        </p:spPr>
        <p:txBody>
          <a:bodyPr/>
          <a:lstStyle/>
          <a:p>
            <a:fld id="{9EEB6684-8788-4EEF-9BB4-60E53AB22F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3" y="2339775"/>
            <a:ext cx="773015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5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.NET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600" dirty="0" smtClean="0"/>
              <a:t>The .NET Framework consists of 3 main parts: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smtClean="0"/>
              <a:t>Programming languages: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C# (Pronounced “C sharp”)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Visual Basic (VB.NET)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J# (Pronounced “J sharp”)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smtClean="0"/>
              <a:t>Server technologies and client technologies: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ASP .NET (Active Server Pages)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Windows Forms (Windows desktop solutions)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Compact Framework (PDA / Mobile solutions)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smtClean="0"/>
              <a:t>Development environments</a:t>
            </a:r>
            <a:r>
              <a:rPr lang="en-US" sz="2400" dirty="0" smtClean="0"/>
              <a:t>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Visual Studio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200" dirty="0" smtClean="0"/>
              <a:t>Visual Web Developer Express (free version of Visual Studio with less features)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016" y="6172200"/>
            <a:ext cx="609600" cy="521208"/>
          </a:xfrm>
          <a:prstGeom prst="rect">
            <a:avLst/>
          </a:prstGeom>
        </p:spPr>
        <p:txBody>
          <a:bodyPr/>
          <a:lstStyle/>
          <a:p>
            <a:fld id="{9EEB6684-8788-4EEF-9BB4-60E53AB22F2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921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5.0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0000"/>
            <a:ext cx="773064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4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Web Form</a:t>
            </a:r>
            <a:endParaRPr 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 ASP.NET Web Form consists of the following:</a:t>
            </a:r>
          </a:p>
          <a:p>
            <a:pPr lvl="1"/>
            <a:r>
              <a:rPr lang="en-US" dirty="0" smtClean="0"/>
              <a:t>Web content page </a:t>
            </a:r>
          </a:p>
          <a:p>
            <a:pPr lvl="2"/>
            <a:r>
              <a:rPr lang="en-US" dirty="0" smtClean="0"/>
              <a:t>Directive</a:t>
            </a:r>
          </a:p>
          <a:p>
            <a:pPr lvl="2"/>
            <a:r>
              <a:rPr lang="en-US" dirty="0"/>
              <a:t>ASP.NET server controls</a:t>
            </a:r>
          </a:p>
          <a:p>
            <a:pPr lvl="2"/>
            <a:r>
              <a:rPr lang="en-US" dirty="0" smtClean="0"/>
              <a:t>Literal </a:t>
            </a:r>
            <a:r>
              <a:rPr lang="en-US" dirty="0"/>
              <a:t>text and HTML </a:t>
            </a:r>
            <a:r>
              <a:rPr lang="en-US" dirty="0" smtClean="0"/>
              <a:t>tags</a:t>
            </a:r>
          </a:p>
          <a:p>
            <a:pPr lvl="2"/>
            <a:r>
              <a:rPr lang="en-US" dirty="0" smtClean="0"/>
              <a:t>Client side java script</a:t>
            </a:r>
            <a:endParaRPr lang="en-US" dirty="0"/>
          </a:p>
          <a:p>
            <a:pPr lvl="1"/>
            <a:r>
              <a:rPr lang="en-US" dirty="0" smtClean="0"/>
              <a:t>Programming logic for the page </a:t>
            </a:r>
          </a:p>
          <a:p>
            <a:r>
              <a:rPr lang="en-US" dirty="0" smtClean="0"/>
              <a:t>It is basically a text file that have the .</a:t>
            </a:r>
            <a:r>
              <a:rPr lang="en-US" dirty="0" err="1" smtClean="0"/>
              <a:t>aspx</a:t>
            </a:r>
            <a:r>
              <a:rPr lang="en-US" dirty="0" smtClean="0"/>
              <a:t> file name extension and we can develop our web application using Visual Basic (VB) or C#.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Web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ASPX source code of design page</a:t>
            </a:r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72403"/>
            <a:ext cx="7162800" cy="402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ular Callout 9"/>
          <p:cNvSpPr/>
          <p:nvPr/>
        </p:nvSpPr>
        <p:spPr>
          <a:xfrm>
            <a:off x="6580323" y="2417847"/>
            <a:ext cx="2402237" cy="349702"/>
          </a:xfrm>
          <a:prstGeom prst="wedgeRectCallout">
            <a:avLst>
              <a:gd name="adj1" fmla="val -114766"/>
              <a:gd name="adj2" fmla="val -549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SG" dirty="0" smtClean="0"/>
              <a:t>Page Directive</a:t>
            </a:r>
            <a:endParaRPr lang="en-SG" dirty="0"/>
          </a:p>
        </p:txBody>
      </p:sp>
      <p:sp>
        <p:nvSpPr>
          <p:cNvPr id="17" name="Rectangular Callout 16"/>
          <p:cNvSpPr/>
          <p:nvPr/>
        </p:nvSpPr>
        <p:spPr>
          <a:xfrm>
            <a:off x="6629400" y="3841298"/>
            <a:ext cx="2402237" cy="349702"/>
          </a:xfrm>
          <a:prstGeom prst="wedgeRectCallout">
            <a:avLst>
              <a:gd name="adj1" fmla="val -201936"/>
              <a:gd name="adj2" fmla="val -6644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SG" dirty="0" smtClean="0"/>
              <a:t>HTML</a:t>
            </a:r>
            <a:endParaRPr lang="en-SG" dirty="0"/>
          </a:p>
        </p:txBody>
      </p:sp>
      <p:sp>
        <p:nvSpPr>
          <p:cNvPr id="18" name="Rectangular Callout 17"/>
          <p:cNvSpPr/>
          <p:nvPr/>
        </p:nvSpPr>
        <p:spPr>
          <a:xfrm>
            <a:off x="6571123" y="3187295"/>
            <a:ext cx="2402237" cy="349702"/>
          </a:xfrm>
          <a:prstGeom prst="wedgeRectCallout">
            <a:avLst>
              <a:gd name="adj1" fmla="val -64234"/>
              <a:gd name="adj2" fmla="val -115865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SG" dirty="0" smtClean="0"/>
              <a:t>ASP Control</a:t>
            </a:r>
            <a:endParaRPr lang="en-S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Directives</a:t>
            </a:r>
            <a:endParaRPr 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Directives specify settings that are used by the page when the compilers process ASP.NET </a:t>
            </a:r>
            <a:r>
              <a:rPr lang="en-SG" dirty="0" smtClean="0"/>
              <a:t>pages. Mainly:</a:t>
            </a:r>
          </a:p>
          <a:p>
            <a:r>
              <a:rPr lang="en-US" dirty="0" smtClean="0"/>
              <a:t>Programming Language used </a:t>
            </a:r>
          </a:p>
          <a:p>
            <a:r>
              <a:rPr lang="en-US" dirty="0" smtClean="0"/>
              <a:t>Master page used</a:t>
            </a:r>
          </a:p>
          <a:p>
            <a:r>
              <a:rPr lang="en-US" dirty="0" smtClean="0"/>
              <a:t>Name of back end code file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Server Controls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153400" cy="4495800"/>
          </a:xfrm>
        </p:spPr>
        <p:txBody>
          <a:bodyPr>
            <a:normAutofit/>
          </a:bodyPr>
          <a:lstStyle/>
          <a:p>
            <a:r>
              <a:rPr lang="en-US" dirty="0" smtClean="0"/>
              <a:t>Three </a:t>
            </a:r>
            <a:r>
              <a:rPr lang="en-US" dirty="0"/>
              <a:t>basic types</a:t>
            </a:r>
          </a:p>
          <a:p>
            <a:pPr lvl="1"/>
            <a:r>
              <a:rPr lang="en-US" b="1" dirty="0" smtClean="0"/>
              <a:t>Web Server Controls</a:t>
            </a:r>
          </a:p>
          <a:p>
            <a:pPr lvl="2"/>
            <a:r>
              <a:rPr lang="en-US" dirty="0" smtClean="0"/>
              <a:t>Basic web control such as Textbox, Button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2"/>
            <a:r>
              <a:rPr lang="en-US" dirty="0" smtClean="0"/>
              <a:t>Validation control</a:t>
            </a:r>
          </a:p>
          <a:p>
            <a:pPr lvl="2"/>
            <a:r>
              <a:rPr lang="en-US" dirty="0" smtClean="0"/>
              <a:t>Rich control such as Calendar, </a:t>
            </a:r>
            <a:r>
              <a:rPr lang="en-US" dirty="0" err="1" smtClean="0"/>
              <a:t>AdRotator</a:t>
            </a:r>
            <a:r>
              <a:rPr lang="en-US" dirty="0" smtClean="0"/>
              <a:t>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2"/>
            <a:r>
              <a:rPr lang="en-US" dirty="0" smtClean="0"/>
              <a:t>List control supports binding to data collection</a:t>
            </a:r>
            <a:endParaRPr lang="en-US" dirty="0"/>
          </a:p>
          <a:p>
            <a:pPr lvl="1"/>
            <a:r>
              <a:rPr lang="en-US" b="1" dirty="0"/>
              <a:t>HTML </a:t>
            </a:r>
            <a:r>
              <a:rPr lang="en-US" b="1" dirty="0" smtClean="0"/>
              <a:t>Controls</a:t>
            </a:r>
          </a:p>
          <a:p>
            <a:pPr lvl="2"/>
            <a:r>
              <a:rPr lang="en-SG" dirty="0" err="1" smtClean="0"/>
              <a:t>HyperText</a:t>
            </a:r>
            <a:r>
              <a:rPr lang="en-SG" dirty="0" smtClean="0"/>
              <a:t> </a:t>
            </a:r>
            <a:r>
              <a:rPr lang="en-SG" dirty="0" err="1"/>
              <a:t>Markup</a:t>
            </a:r>
            <a:r>
              <a:rPr lang="en-SG" dirty="0"/>
              <a:t> Language (HTML) elements that include a </a:t>
            </a:r>
            <a:r>
              <a:rPr lang="en-SG" b="1" dirty="0" err="1"/>
              <a:t>runat</a:t>
            </a:r>
            <a:r>
              <a:rPr lang="en-SG" b="1" dirty="0"/>
              <a:t>=server</a:t>
            </a:r>
            <a:r>
              <a:rPr lang="en-SG" dirty="0"/>
              <a:t> attribute</a:t>
            </a:r>
            <a:endParaRPr lang="en-US" dirty="0"/>
          </a:p>
          <a:p>
            <a:pPr lvl="1"/>
            <a:r>
              <a:rPr lang="en-US" dirty="0" smtClean="0"/>
              <a:t> </a:t>
            </a:r>
            <a:r>
              <a:rPr lang="en-US" b="1" dirty="0" smtClean="0"/>
              <a:t>User Control</a:t>
            </a:r>
          </a:p>
          <a:p>
            <a:pPr lvl="2"/>
            <a:r>
              <a:rPr lang="en-SG" dirty="0" smtClean="0"/>
              <a:t>Reuse </a:t>
            </a:r>
            <a:r>
              <a:rPr lang="en-SG" dirty="0"/>
              <a:t>the user interface of </a:t>
            </a:r>
            <a:r>
              <a:rPr lang="en-SG" dirty="0" smtClean="0"/>
              <a:t>Web </a:t>
            </a:r>
            <a:r>
              <a:rPr lang="en-SG" dirty="0"/>
              <a:t>Form </a:t>
            </a:r>
            <a:endParaRPr lang="en-US" dirty="0"/>
          </a:p>
          <a:p>
            <a:endParaRPr lang="en-US" b="1" dirty="0">
              <a:solidFill>
                <a:srgbClr val="0000FF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66800" y="1981200"/>
            <a:ext cx="6477000" cy="1981200"/>
          </a:xfrm>
          <a:prstGeom prst="rect">
            <a:avLst/>
          </a:prstGeom>
          <a:solidFill>
            <a:schemeClr val="accent1">
              <a:lumMod val="20000"/>
              <a:lumOff val="80000"/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046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Server Controls</a:t>
            </a:r>
            <a:endParaRPr lang="en-US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Easy to </a:t>
            </a:r>
            <a:r>
              <a:rPr lang="en-US" dirty="0"/>
              <a:t>read/write to HTML element properties </a:t>
            </a:r>
          </a:p>
          <a:p>
            <a:r>
              <a:rPr lang="en-US" dirty="0"/>
              <a:t>It retain properties value by default using a mechanism known as View State. </a:t>
            </a:r>
          </a:p>
          <a:p>
            <a:r>
              <a:rPr lang="en-US" dirty="0"/>
              <a:t>Many controls can be bound to data with minimum coding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8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ASP.NET Web Page Code </a:t>
            </a:r>
            <a:r>
              <a:rPr lang="en-SG" dirty="0" smtClean="0"/>
              <a:t>Model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Programming logic for the </a:t>
            </a:r>
            <a:r>
              <a:rPr lang="en-SG" dirty="0" smtClean="0"/>
              <a:t>page includes </a:t>
            </a:r>
            <a:r>
              <a:rPr lang="en-SG" dirty="0"/>
              <a:t>event handlers and other code</a:t>
            </a:r>
            <a:endParaRPr lang="en-SG" dirty="0" smtClean="0"/>
          </a:p>
          <a:p>
            <a:r>
              <a:rPr lang="en-SG" dirty="0" smtClean="0"/>
              <a:t>ASP.NET </a:t>
            </a:r>
            <a:r>
              <a:rPr lang="en-SG" dirty="0"/>
              <a:t>provides two </a:t>
            </a:r>
            <a:endParaRPr lang="en-SG" dirty="0" smtClean="0"/>
          </a:p>
          <a:p>
            <a:pPr lvl="1"/>
            <a:r>
              <a:rPr lang="en-SG" dirty="0" smtClean="0"/>
              <a:t>Single-file </a:t>
            </a:r>
            <a:r>
              <a:rPr lang="en-SG" dirty="0"/>
              <a:t>page model </a:t>
            </a:r>
            <a:r>
              <a:rPr lang="en-SG" dirty="0" smtClean="0"/>
              <a:t>and</a:t>
            </a:r>
          </a:p>
          <a:p>
            <a:pPr lvl="1"/>
            <a:r>
              <a:rPr lang="en-SG" dirty="0"/>
              <a:t>Code-behind page model.</a:t>
            </a:r>
          </a:p>
          <a:p>
            <a:pPr lvl="1"/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2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Behind Page Model</a:t>
            </a:r>
            <a:endParaRPr 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349708"/>
            <a:ext cx="8229600" cy="388077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ASP.NET 2.0 and later offer a code behind file for each page to separate content and logic</a:t>
            </a:r>
          </a:p>
          <a:p>
            <a:r>
              <a:rPr lang="en-US" sz="2400" dirty="0" smtClean="0"/>
              <a:t>Code behind file is named with the extension of </a:t>
            </a:r>
            <a:r>
              <a:rPr lang="en-US" sz="2400" dirty="0" err="1" smtClean="0"/>
              <a:t>aspx.cs</a:t>
            </a:r>
            <a:r>
              <a:rPr lang="en-US" sz="2400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r>
              <a:rPr lang="en-SG" sz="2400" dirty="0" smtClean="0"/>
              <a:t>Code-behind file contains class definition for the page </a:t>
            </a:r>
            <a:r>
              <a:rPr lang="en-US" sz="2400" dirty="0" smtClean="0"/>
              <a:t> </a:t>
            </a:r>
          </a:p>
          <a:p>
            <a:pPr marL="365760" lvl="1" indent="0">
              <a:buNone/>
            </a:pPr>
            <a:r>
              <a:rPr lang="en-SG" dirty="0" smtClean="0">
                <a:solidFill>
                  <a:schemeClr val="tx1"/>
                </a:solidFill>
              </a:rPr>
              <a:t>This is what </a:t>
            </a:r>
            <a:r>
              <a:rPr lang="en-SG" dirty="0" err="1" smtClean="0">
                <a:solidFill>
                  <a:srgbClr val="990033"/>
                </a:solidFill>
              </a:rPr>
              <a:t>Default.aspx.cs</a:t>
            </a:r>
            <a:r>
              <a:rPr lang="en-SG" dirty="0" smtClean="0">
                <a:solidFill>
                  <a:srgbClr val="990033"/>
                </a:solidFill>
              </a:rPr>
              <a:t> </a:t>
            </a:r>
            <a:r>
              <a:rPr lang="en-SG" dirty="0" smtClean="0">
                <a:solidFill>
                  <a:schemeClr val="tx1"/>
                </a:solidFill>
              </a:rPr>
              <a:t>looks like: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dirty="0" smtClean="0"/>
              <a:t>Copyright © Nanyang Polytechnic. All rights reserved.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38200" y="2670508"/>
            <a:ext cx="7620000" cy="861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SG" sz="1600" dirty="0"/>
              <a:t>&lt;%@ Page Title="Home Page" Language="C#" </a:t>
            </a:r>
            <a:r>
              <a:rPr lang="en-SG" sz="1600" dirty="0" smtClean="0"/>
              <a:t> </a:t>
            </a:r>
            <a:r>
              <a:rPr lang="en-SG" sz="1600" dirty="0" err="1" smtClean="0"/>
              <a:t>AutoEventWireup</a:t>
            </a:r>
            <a:r>
              <a:rPr lang="en-SG" sz="1600" dirty="0"/>
              <a:t>="true"</a:t>
            </a:r>
          </a:p>
          <a:p>
            <a:r>
              <a:rPr lang="en-SG" sz="1600" dirty="0"/>
              <a:t>    </a:t>
            </a:r>
            <a:r>
              <a:rPr lang="en-SG" sz="1600" dirty="0" err="1">
                <a:solidFill>
                  <a:srgbClr val="990033"/>
                </a:solidFill>
              </a:rPr>
              <a:t>CodeFile</a:t>
            </a:r>
            <a:r>
              <a:rPr lang="en-SG" sz="1600" dirty="0">
                <a:solidFill>
                  <a:srgbClr val="990033"/>
                </a:solidFill>
              </a:rPr>
              <a:t>="</a:t>
            </a:r>
            <a:r>
              <a:rPr lang="en-SG" sz="1600" dirty="0" err="1">
                <a:solidFill>
                  <a:srgbClr val="990033"/>
                </a:solidFill>
              </a:rPr>
              <a:t>Default.aspx.cs</a:t>
            </a:r>
            <a:r>
              <a:rPr lang="en-SG" sz="1600" dirty="0"/>
              <a:t>" Inherits</a:t>
            </a:r>
            <a:r>
              <a:rPr lang="en-SG" sz="1600" dirty="0">
                <a:solidFill>
                  <a:schemeClr val="accent5">
                    <a:lumMod val="75000"/>
                  </a:schemeClr>
                </a:solidFill>
              </a:rPr>
              <a:t>="_Default</a:t>
            </a:r>
            <a:r>
              <a:rPr lang="en-SG" sz="1600" dirty="0"/>
              <a:t>" %&gt;</a:t>
            </a:r>
          </a:p>
          <a:p>
            <a:endParaRPr lang="en-SG" dirty="0"/>
          </a:p>
        </p:txBody>
      </p:sp>
      <p:sp>
        <p:nvSpPr>
          <p:cNvPr id="3" name="TextBox 2"/>
          <p:cNvSpPr txBox="1"/>
          <p:nvPr/>
        </p:nvSpPr>
        <p:spPr>
          <a:xfrm>
            <a:off x="697355" y="4427623"/>
            <a:ext cx="7391400" cy="2123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1600" dirty="0"/>
              <a:t>public partial class </a:t>
            </a:r>
            <a:r>
              <a:rPr lang="en-SG" sz="1600" dirty="0">
                <a:solidFill>
                  <a:schemeClr val="accent5">
                    <a:lumMod val="75000"/>
                  </a:schemeClr>
                </a:solidFill>
              </a:rPr>
              <a:t>_Default</a:t>
            </a:r>
            <a:r>
              <a:rPr lang="en-SG" sz="1600" dirty="0"/>
              <a:t> : </a:t>
            </a:r>
            <a:r>
              <a:rPr lang="en-SG" sz="1600" dirty="0" err="1"/>
              <a:t>System.Web.UI.Page</a:t>
            </a:r>
            <a:endParaRPr lang="en-SG" sz="1600" dirty="0"/>
          </a:p>
          <a:p>
            <a:r>
              <a:rPr lang="en-SG" sz="1600" dirty="0"/>
              <a:t>{</a:t>
            </a:r>
          </a:p>
          <a:p>
            <a:r>
              <a:rPr lang="en-SG" sz="1600" dirty="0"/>
              <a:t>    protected void </a:t>
            </a:r>
            <a:r>
              <a:rPr lang="en-SG" sz="1600" dirty="0" err="1"/>
              <a:t>Page_Load</a:t>
            </a:r>
            <a:r>
              <a:rPr lang="en-SG" sz="1600" dirty="0"/>
              <a:t>(object sender, </a:t>
            </a:r>
            <a:r>
              <a:rPr lang="en-SG" sz="1600" dirty="0" err="1"/>
              <a:t>EventArgs</a:t>
            </a:r>
            <a:r>
              <a:rPr lang="en-SG" sz="1600" dirty="0"/>
              <a:t> e)</a:t>
            </a:r>
          </a:p>
          <a:p>
            <a:r>
              <a:rPr lang="en-SG" sz="1600" dirty="0"/>
              <a:t>    {</a:t>
            </a:r>
          </a:p>
          <a:p>
            <a:r>
              <a:rPr lang="en-SG" sz="1600" dirty="0"/>
              <a:t>        </a:t>
            </a:r>
            <a:r>
              <a:rPr lang="en-SG" sz="1600" dirty="0" smtClean="0"/>
              <a:t> </a:t>
            </a:r>
            <a:endParaRPr lang="en-SG" sz="1600" dirty="0"/>
          </a:p>
          <a:p>
            <a:r>
              <a:rPr lang="en-SG" sz="1600" dirty="0"/>
              <a:t>    }</a:t>
            </a:r>
          </a:p>
          <a:p>
            <a:r>
              <a:rPr lang="en-SG" sz="1600" dirty="0"/>
              <a:t>}</a:t>
            </a:r>
          </a:p>
          <a:p>
            <a:endParaRPr lang="en-SG" dirty="0"/>
          </a:p>
        </p:txBody>
      </p:sp>
      <p:sp>
        <p:nvSpPr>
          <p:cNvPr id="9" name="Left Arrow 8"/>
          <p:cNvSpPr/>
          <p:nvPr/>
        </p:nvSpPr>
        <p:spPr>
          <a:xfrm>
            <a:off x="6583804" y="5320638"/>
            <a:ext cx="1295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936356" y="4810574"/>
            <a:ext cx="120764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The .</a:t>
            </a:r>
            <a:r>
              <a:rPr lang="en-US" dirty="0" err="1" smtClean="0"/>
              <a:t>cs</a:t>
            </a:r>
            <a:r>
              <a:rPr lang="en-US" dirty="0" smtClean="0"/>
              <a:t> page contains only </a:t>
            </a:r>
            <a:r>
              <a:rPr lang="en-US" dirty="0" err="1" smtClean="0"/>
              <a:t>c#</a:t>
            </a:r>
            <a:r>
              <a:rPr lang="en-US" dirty="0" smtClean="0"/>
              <a:t> code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File Page Model</a:t>
            </a:r>
            <a:endParaRPr 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 smtClean="0"/>
              <a:t>block for inserting application logic code within the .</a:t>
            </a:r>
            <a:r>
              <a:rPr lang="en-US" dirty="0" err="1" smtClean="0"/>
              <a:t>aspx</a:t>
            </a:r>
            <a:r>
              <a:rPr lang="en-US" dirty="0" smtClean="0"/>
              <a:t> page.</a:t>
            </a:r>
          </a:p>
          <a:p>
            <a:pPr lvl="1"/>
            <a:r>
              <a:rPr lang="en-US" dirty="0" smtClean="0"/>
              <a:t>Starts with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en-US" b="1" dirty="0" err="1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runat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="server"&gt;</a:t>
            </a:r>
          </a:p>
          <a:p>
            <a:pPr lvl="1"/>
            <a:r>
              <a:rPr lang="en-US" dirty="0" smtClean="0"/>
              <a:t>Ends with </a:t>
            </a:r>
            <a:r>
              <a:rPr lang="en-US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lvl="1"/>
            <a:r>
              <a:rPr lang="en-US" dirty="0" smtClean="0"/>
              <a:t>Code is in the language declared in the Page Directive.</a:t>
            </a:r>
          </a:p>
          <a:p>
            <a:pPr lvl="1"/>
            <a:r>
              <a:rPr lang="en-US" dirty="0" smtClean="0"/>
              <a:t>Code </a:t>
            </a:r>
            <a:r>
              <a:rPr lang="en-US" dirty="0"/>
              <a:t>in </a:t>
            </a:r>
            <a:r>
              <a:rPr lang="en-US" b="1" dirty="0"/>
              <a:t>Code Declaration Block </a:t>
            </a:r>
            <a:r>
              <a:rPr lang="en-US" dirty="0"/>
              <a:t>is executed </a:t>
            </a:r>
            <a:r>
              <a:rPr lang="en-US" b="1" dirty="0"/>
              <a:t>only when it is triggered or </a:t>
            </a:r>
            <a:r>
              <a:rPr lang="en-US" b="1" dirty="0" smtClean="0"/>
              <a:t>called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Not a good practice</a:t>
            </a:r>
            <a:r>
              <a:rPr lang="en-US" dirty="0" smtClean="0"/>
              <a:t>, but something you should know about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2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334037"/>
            <a:ext cx="7543801" cy="1320800"/>
          </a:xfrm>
        </p:spPr>
        <p:txBody>
          <a:bodyPr/>
          <a:lstStyle/>
          <a:p>
            <a:r>
              <a:rPr lang="en-US" dirty="0" smtClean="0"/>
              <a:t>Example </a:t>
            </a:r>
            <a:r>
              <a:rPr lang="en-US" dirty="0"/>
              <a:t>-Single File Page Model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15694" t="15740" r="49723" b="49538"/>
          <a:stretch>
            <a:fillRect/>
          </a:stretch>
        </p:blipFill>
        <p:spPr bwMode="auto">
          <a:xfrm>
            <a:off x="914400" y="1295400"/>
            <a:ext cx="6324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076325" y="2286000"/>
            <a:ext cx="6172200" cy="1981200"/>
          </a:xfrm>
          <a:prstGeom prst="rect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Left Arrow 1"/>
          <p:cNvSpPr/>
          <p:nvPr/>
        </p:nvSpPr>
        <p:spPr>
          <a:xfrm>
            <a:off x="6400800" y="3505199"/>
            <a:ext cx="1295400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05751" y="3352799"/>
            <a:ext cx="8382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Insert </a:t>
            </a:r>
            <a:r>
              <a:rPr lang="en-US" dirty="0" err="1" smtClean="0"/>
              <a:t>c#</a:t>
            </a:r>
            <a:r>
              <a:rPr lang="en-US" dirty="0" smtClean="0"/>
              <a:t> code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ASP.NET Event Handler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447800"/>
            <a:ext cx="6347714" cy="3880773"/>
          </a:xfrm>
        </p:spPr>
        <p:txBody>
          <a:bodyPr/>
          <a:lstStyle/>
          <a:p>
            <a:r>
              <a:rPr lang="en-GB" dirty="0" smtClean="0"/>
              <a:t>Event are caused by user action</a:t>
            </a:r>
          </a:p>
          <a:p>
            <a:r>
              <a:rPr lang="en-SG" dirty="0"/>
              <a:t>An Event Handler is a subroutine that executes code for a given </a:t>
            </a:r>
            <a:r>
              <a:rPr lang="en-SG" dirty="0" smtClean="0"/>
              <a:t>event</a:t>
            </a:r>
          </a:p>
          <a:p>
            <a:pPr>
              <a:lnSpc>
                <a:spcPct val="90000"/>
              </a:lnSpc>
            </a:pPr>
            <a:r>
              <a:rPr lang="en-US" dirty="0"/>
              <a:t>Event handlers are automatically named with format</a:t>
            </a:r>
          </a:p>
          <a:p>
            <a:pPr lvl="1">
              <a:lnSpc>
                <a:spcPct val="90000"/>
              </a:lnSpc>
            </a:pP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ObjectName_EventName</a:t>
            </a: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dirty="0" smtClean="0"/>
              <a:t>Copyright © Nanyang Polytechnic. All rights reserved.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 l="73718" t="54273" b="6838"/>
          <a:stretch>
            <a:fillRect/>
          </a:stretch>
        </p:blipFill>
        <p:spPr bwMode="auto">
          <a:xfrm>
            <a:off x="2362200" y="3472360"/>
            <a:ext cx="3450243" cy="334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ounded Rectangular Callout 6"/>
          <p:cNvSpPr/>
          <p:nvPr/>
        </p:nvSpPr>
        <p:spPr>
          <a:xfrm>
            <a:off x="4730659" y="4806386"/>
            <a:ext cx="1843285" cy="1120572"/>
          </a:xfrm>
          <a:prstGeom prst="wedgeRoundRectCallout">
            <a:avLst>
              <a:gd name="adj1" fmla="val -28817"/>
              <a:gd name="adj2" fmla="val -78065"/>
              <a:gd name="adj3" fmla="val 16667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Event-handling</a:t>
            </a:r>
          </a:p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Method / function</a:t>
            </a:r>
            <a:endParaRPr lang="en-US" b="1" dirty="0" smtClean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1075429" y="5011381"/>
            <a:ext cx="1448084" cy="623272"/>
          </a:xfrm>
          <a:prstGeom prst="wedgeRoundRectCallout">
            <a:avLst>
              <a:gd name="adj1" fmla="val 44680"/>
              <a:gd name="adj2" fmla="val -119045"/>
              <a:gd name="adj3" fmla="val 16667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300364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8153400" cy="1320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ASP.NET Event-Handling Methods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7924800" cy="510235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It is a </a:t>
            </a:r>
            <a:r>
              <a:rPr lang="en-US" dirty="0"/>
              <a:t>set of statements beginning with a function header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Method </a:t>
            </a:r>
            <a:r>
              <a:rPr lang="en-US" dirty="0"/>
              <a:t>statements are enclosed in braces </a:t>
            </a:r>
            <a:r>
              <a:rPr lang="en-US" dirty="0">
                <a:solidFill>
                  <a:srgbClr val="800000"/>
                </a:solidFill>
              </a:rPr>
              <a:t>{}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Basic event-handling method syntax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For example</a:t>
            </a:r>
          </a:p>
          <a:p>
            <a:pPr marL="628650" indent="-1588">
              <a:buNone/>
            </a:pP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protected void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mButton_Click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object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sender, </a:t>
            </a:r>
            <a:r>
              <a:rPr lang="en-US" sz="1600" b="1" dirty="0" err="1" smtClean="0">
                <a:solidFill>
                  <a:srgbClr val="669999"/>
                </a:solidFill>
                <a:latin typeface="Courier New" pitchFamily="49" charset="0"/>
                <a:cs typeface="Courier New" pitchFamily="49" charset="0"/>
              </a:rPr>
              <a:t>EventArgs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e)</a:t>
            </a:r>
          </a:p>
          <a:p>
            <a:pPr marL="628650" indent="-1588">
              <a:buNone/>
            </a:pP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628650" indent="-1588"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sz="1600" b="1" dirty="0" smtClean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Do something</a:t>
            </a:r>
            <a:endParaRPr lang="en-US" sz="1600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628650" indent="-1588">
              <a:buNone/>
            </a:pPr>
            <a:r>
              <a:rPr lang="en-US" sz="1600" b="1" dirty="0" smtClean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628650" indent="-1588">
              <a:buNone/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29016" y="6172200"/>
            <a:ext cx="609600" cy="521208"/>
          </a:xfrm>
          <a:prstGeom prst="rect">
            <a:avLst/>
          </a:prstGeom>
        </p:spPr>
        <p:txBody>
          <a:bodyPr/>
          <a:lstStyle/>
          <a:p>
            <a:fld id="{9EEB6684-8788-4EEF-9BB4-60E53AB22F2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2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7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76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 err="1" smtClean="0"/>
              <a:t>Page_Load</a:t>
            </a:r>
            <a:r>
              <a:rPr lang="en-SG" b="1" dirty="0" smtClean="0"/>
              <a:t> </a:t>
            </a:r>
            <a:r>
              <a:rPr lang="en-SG" b="1" dirty="0"/>
              <a:t>Event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 smtClean="0"/>
              <a:t>Page_Load</a:t>
            </a:r>
            <a:r>
              <a:rPr lang="en-SG" dirty="0" smtClean="0"/>
              <a:t> </a:t>
            </a:r>
            <a:r>
              <a:rPr lang="en-SG" dirty="0"/>
              <a:t>event is triggered when a page </a:t>
            </a:r>
            <a:r>
              <a:rPr lang="en-SG" dirty="0" smtClean="0"/>
              <a:t>loads the content </a:t>
            </a:r>
          </a:p>
          <a:p>
            <a:r>
              <a:rPr lang="en-SG" dirty="0" smtClean="0"/>
              <a:t>ASP.NET </a:t>
            </a:r>
            <a:r>
              <a:rPr lang="en-SG" dirty="0"/>
              <a:t>will automatically call the subroutine </a:t>
            </a:r>
            <a:r>
              <a:rPr lang="en-SG" dirty="0" err="1" smtClean="0"/>
              <a:t>Page_Load</a:t>
            </a:r>
            <a:r>
              <a:rPr lang="en-SG" dirty="0" smtClean="0"/>
              <a:t> 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800" y="3733800"/>
            <a:ext cx="58674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 protected void </a:t>
            </a:r>
            <a:r>
              <a:rPr lang="en-SG" dirty="0" err="1"/>
              <a:t>Page_Load</a:t>
            </a:r>
            <a:r>
              <a:rPr lang="en-SG" dirty="0"/>
              <a:t>(object sender, </a:t>
            </a:r>
            <a:r>
              <a:rPr lang="en-SG" dirty="0" err="1"/>
              <a:t>EventArgs</a:t>
            </a:r>
            <a:r>
              <a:rPr lang="en-SG" dirty="0"/>
              <a:t> e)</a:t>
            </a:r>
          </a:p>
          <a:p>
            <a:r>
              <a:rPr lang="en-SG" dirty="0"/>
              <a:t>    {</a:t>
            </a:r>
          </a:p>
          <a:p>
            <a:r>
              <a:rPr lang="en-SG" dirty="0"/>
              <a:t>    </a:t>
            </a:r>
            <a:r>
              <a:rPr lang="en-SG" dirty="0" smtClean="0"/>
              <a:t>     </a:t>
            </a:r>
            <a:r>
              <a:rPr lang="en-SG" dirty="0"/>
              <a:t>lbl1.Text="The date and time is " &amp; now</a:t>
            </a:r>
            <a:r>
              <a:rPr lang="en-SG" dirty="0" smtClean="0"/>
              <a:t>()     ;</a:t>
            </a:r>
          </a:p>
          <a:p>
            <a:r>
              <a:rPr lang="en-GB" dirty="0" smtClean="0"/>
              <a:t>    }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65387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Postback</a:t>
            </a:r>
            <a:r>
              <a:rPr lang="en-GB" dirty="0" smtClean="0"/>
              <a:t> 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</a:t>
            </a:r>
            <a:r>
              <a:rPr lang="en-SG" dirty="0" err="1"/>
              <a:t>Page_Load</a:t>
            </a:r>
            <a:r>
              <a:rPr lang="en-SG" dirty="0"/>
              <a:t> </a:t>
            </a:r>
            <a:r>
              <a:rPr lang="en-SG" dirty="0" smtClean="0"/>
              <a:t>event </a:t>
            </a:r>
            <a:r>
              <a:rPr lang="en-SG" dirty="0"/>
              <a:t>runs EVERY time the page is loaded</a:t>
            </a:r>
            <a:r>
              <a:rPr lang="en-SG" dirty="0" smtClean="0"/>
              <a:t>.</a:t>
            </a:r>
          </a:p>
          <a:p>
            <a:r>
              <a:rPr lang="en-SG" dirty="0" smtClean="0"/>
              <a:t>If you want to execute the code in the page load only the First time, you can use Page.</a:t>
            </a:r>
            <a:r>
              <a:rPr lang="en-SG" dirty="0"/>
              <a:t> </a:t>
            </a:r>
            <a:r>
              <a:rPr lang="en-SG" dirty="0" err="1" smtClean="0"/>
              <a:t>IsPostBack</a:t>
            </a:r>
            <a:r>
              <a:rPr lang="en-SG" dirty="0" smtClean="0"/>
              <a:t> property</a:t>
            </a:r>
          </a:p>
          <a:p>
            <a:r>
              <a:rPr lang="en-GB" dirty="0" smtClean="0"/>
              <a:t>If </a:t>
            </a:r>
            <a:r>
              <a:rPr lang="en-GB" dirty="0" err="1" smtClean="0"/>
              <a:t>IsPostBack</a:t>
            </a:r>
            <a:r>
              <a:rPr lang="en-GB" dirty="0" smtClean="0"/>
              <a:t> property is false, means that the page is loaded for the first time</a:t>
            </a:r>
            <a:endParaRPr lang="en-SG" dirty="0"/>
          </a:p>
          <a:p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4953000"/>
            <a:ext cx="66294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dirty="0"/>
              <a:t>if (</a:t>
            </a:r>
            <a:r>
              <a:rPr lang="en-SG" dirty="0" err="1"/>
              <a:t>IsPostBack</a:t>
            </a:r>
            <a:r>
              <a:rPr lang="en-SG" dirty="0"/>
              <a:t> == false)</a:t>
            </a:r>
          </a:p>
          <a:p>
            <a:r>
              <a:rPr lang="en-SG" dirty="0"/>
              <a:t>        </a:t>
            </a:r>
            <a:r>
              <a:rPr lang="en-SG" dirty="0" smtClean="0"/>
              <a:t>{   </a:t>
            </a:r>
            <a:r>
              <a:rPr lang="en-SG" dirty="0" err="1"/>
              <a:t>ageList</a:t>
            </a:r>
            <a:r>
              <a:rPr lang="en-SG" dirty="0"/>
              <a:t> = new List&lt;</a:t>
            </a:r>
            <a:r>
              <a:rPr lang="en-SG" dirty="0" err="1"/>
              <a:t>ListItem</a:t>
            </a:r>
            <a:r>
              <a:rPr lang="en-SG" dirty="0"/>
              <a:t>&gt;();</a:t>
            </a:r>
          </a:p>
          <a:p>
            <a:r>
              <a:rPr lang="en-SG" dirty="0"/>
              <a:t>            </a:t>
            </a:r>
            <a:r>
              <a:rPr lang="en-SG" dirty="0" err="1"/>
              <a:t>ageList.Add</a:t>
            </a:r>
            <a:r>
              <a:rPr lang="en-SG" dirty="0"/>
              <a:t>(new </a:t>
            </a:r>
            <a:r>
              <a:rPr lang="en-SG" dirty="0" err="1"/>
              <a:t>ListItem</a:t>
            </a:r>
            <a:r>
              <a:rPr lang="en-SG" dirty="0"/>
              <a:t>("35 </a:t>
            </a:r>
            <a:r>
              <a:rPr lang="en-SG" dirty="0" smtClean="0"/>
              <a:t>- 45", </a:t>
            </a:r>
            <a:r>
              <a:rPr lang="en-SG" dirty="0"/>
              <a:t>"35"));</a:t>
            </a:r>
          </a:p>
          <a:p>
            <a:r>
              <a:rPr lang="en-SG" dirty="0"/>
              <a:t>            </a:t>
            </a:r>
            <a:r>
              <a:rPr lang="en-SG" dirty="0" err="1"/>
              <a:t>ageList.Add</a:t>
            </a:r>
            <a:r>
              <a:rPr lang="en-SG" dirty="0"/>
              <a:t>(new </a:t>
            </a:r>
            <a:r>
              <a:rPr lang="en-SG" dirty="0" err="1"/>
              <a:t>ListItem</a:t>
            </a:r>
            <a:r>
              <a:rPr lang="en-SG" dirty="0"/>
              <a:t>("</a:t>
            </a:r>
            <a:r>
              <a:rPr lang="en-SG" dirty="0" smtClean="0"/>
              <a:t>Above 45</a:t>
            </a:r>
            <a:r>
              <a:rPr lang="en-SG" dirty="0"/>
              <a:t>", </a:t>
            </a:r>
            <a:r>
              <a:rPr lang="en-SG" dirty="0" smtClean="0"/>
              <a:t>“45"));</a:t>
            </a:r>
          </a:p>
          <a:p>
            <a:r>
              <a:rPr lang="en-GB" dirty="0"/>
              <a:t> </a:t>
            </a:r>
            <a:r>
              <a:rPr lang="en-GB" dirty="0" smtClean="0"/>
              <a:t>        }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6673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covered</a:t>
            </a:r>
          </a:p>
          <a:p>
            <a:pPr lvl="1"/>
            <a:r>
              <a:rPr lang="en-US" dirty="0" smtClean="0"/>
              <a:t>ASP Page </a:t>
            </a:r>
            <a:r>
              <a:rPr lang="en-US" dirty="0"/>
              <a:t>structure</a:t>
            </a:r>
          </a:p>
          <a:p>
            <a:pPr lvl="1"/>
            <a:r>
              <a:rPr lang="en-US" dirty="0" smtClean="0"/>
              <a:t>Web Page Coding Model</a:t>
            </a:r>
          </a:p>
          <a:p>
            <a:pPr lvl="1"/>
            <a:r>
              <a:rPr lang="en-US" smtClean="0"/>
              <a:t>ASP.NET Event Handler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above provides us with foundation to </a:t>
            </a:r>
            <a:r>
              <a:rPr lang="en-US" dirty="0" smtClean="0"/>
              <a:t>understand ASP.NET web pages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1790</TotalTime>
  <Words>1164</Words>
  <Application>Microsoft Office PowerPoint</Application>
  <PresentationFormat>On-screen Show (4:3)</PresentationFormat>
  <Paragraphs>173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Lecture LA01: ASP.NET Pages</vt:lpstr>
      <vt:lpstr>Overview</vt:lpstr>
      <vt:lpstr>What is ASP.NET?</vt:lpstr>
      <vt:lpstr>.NET Framework</vt:lpstr>
      <vt:lpstr>.NET Framework</vt:lpstr>
      <vt:lpstr>ASP.NET 5.0</vt:lpstr>
      <vt:lpstr>ASP.NET Web Form</vt:lpstr>
      <vt:lpstr>ASP.NET Web Form</vt:lpstr>
      <vt:lpstr>Page Directives</vt:lpstr>
      <vt:lpstr>Server Controls</vt:lpstr>
      <vt:lpstr>Advantages of Server Controls</vt:lpstr>
      <vt:lpstr>ASP.NET Web Page Code Model</vt:lpstr>
      <vt:lpstr>Code Behind Page Model</vt:lpstr>
      <vt:lpstr>Single File Page Model</vt:lpstr>
      <vt:lpstr>Example -Single File Page Model</vt:lpstr>
      <vt:lpstr>ASP.NET Event Handler</vt:lpstr>
      <vt:lpstr>ASP.NET Event-Handling Methods</vt:lpstr>
      <vt:lpstr>Page_Load Event</vt:lpstr>
      <vt:lpstr>Postback 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265</cp:revision>
  <cp:lastPrinted>2012-04-09T06:22:01Z</cp:lastPrinted>
  <dcterms:created xsi:type="dcterms:W3CDTF">1601-01-01T00:00:00Z</dcterms:created>
  <dcterms:modified xsi:type="dcterms:W3CDTF">2017-04-04T06:19:49Z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