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8" r:id="rId3"/>
    <p:sldId id="257" r:id="rId4"/>
    <p:sldId id="263" r:id="rId5"/>
    <p:sldId id="265" r:id="rId6"/>
    <p:sldId id="337" r:id="rId7"/>
    <p:sldId id="338" r:id="rId8"/>
    <p:sldId id="266" r:id="rId9"/>
    <p:sldId id="267" r:id="rId10"/>
    <p:sldId id="268" r:id="rId11"/>
    <p:sldId id="269" r:id="rId12"/>
    <p:sldId id="319" r:id="rId13"/>
    <p:sldId id="347" r:id="rId14"/>
    <p:sldId id="297" r:id="rId15"/>
    <p:sldId id="310" r:id="rId16"/>
    <p:sldId id="280" r:id="rId17"/>
    <p:sldId id="313" r:id="rId18"/>
    <p:sldId id="314" r:id="rId19"/>
    <p:sldId id="334" r:id="rId20"/>
    <p:sldId id="317" r:id="rId21"/>
    <p:sldId id="315" r:id="rId22"/>
    <p:sldId id="335" r:id="rId23"/>
    <p:sldId id="316" r:id="rId24"/>
    <p:sldId id="336" r:id="rId25"/>
    <p:sldId id="320" r:id="rId26"/>
    <p:sldId id="311" r:id="rId27"/>
    <p:sldId id="321" r:id="rId28"/>
    <p:sldId id="318" r:id="rId29"/>
    <p:sldId id="322" r:id="rId30"/>
    <p:sldId id="340" r:id="rId31"/>
    <p:sldId id="341" r:id="rId32"/>
    <p:sldId id="344" r:id="rId33"/>
    <p:sldId id="323" r:id="rId34"/>
    <p:sldId id="339" r:id="rId35"/>
    <p:sldId id="342" r:id="rId36"/>
    <p:sldId id="343" r:id="rId37"/>
    <p:sldId id="346" r:id="rId38"/>
    <p:sldId id="345" r:id="rId39"/>
    <p:sldId id="348" r:id="rId40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7037" autoAdjust="0"/>
  </p:normalViewPr>
  <p:slideViewPr>
    <p:cSldViewPr>
      <p:cViewPr varScale="1">
        <p:scale>
          <a:sx n="91" d="100"/>
          <a:sy n="91" d="100"/>
        </p:scale>
        <p:origin x="5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70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C3064CBC-7E95-46A4-ACF4-9657E28FF528}" type="datetimeFigureOut">
              <a:rPr lang="en-US"/>
              <a:pPr>
                <a:defRPr/>
              </a:pPr>
              <a:t>04-Apr-17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705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0EE5350C-F10C-434C-A60A-981614345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27157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70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41580734-80BF-49C2-BE2A-F7A911FDF0C0}" type="datetimeFigureOut">
              <a:rPr lang="en-US"/>
              <a:pPr>
                <a:defRPr/>
              </a:pPr>
              <a:t>04-Apr-17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n-GB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705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732EF09C-7BA3-4F11-81D8-3D2C4EF6F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49312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A692635-988D-46A5-97F0-FC11C48930FE}" type="slidenum">
              <a:rPr lang="en-GB"/>
              <a:pPr/>
              <a:t>1</a:t>
            </a:fld>
            <a:endParaRPr lang="en-GB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45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31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43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34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2F5F03-B4E8-4E76-8D15-D7A02B37F4C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28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2767A-A270-463C-AD5A-DA16FD02151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691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043C-AF02-47A6-94E6-79D56287DC3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66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8C0C68-B833-4A28-9581-90FD1A7807D2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5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5A0A89-AF74-4C9C-B2AE-829383CACAD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34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8F198-7A44-49F2-A1CA-74A9994943CD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3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06FB8D-AC8E-4E10-B261-5C6A7007C7E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58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00386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9158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6871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187482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88820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E5C373-9E86-4EA7-BCD1-61494BB3158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862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49699-FA81-4F7B-A192-822E9B32878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18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1"/>
            <a:ext cx="4038600" cy="4302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1"/>
            <a:ext cx="4038600" cy="4302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A69A8-2B87-4A08-A2B9-CAFBC283C6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98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22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bootswatch.com/" TargetMode="Externa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R="0"/>
            <a:r>
              <a:rPr lang="en-GB" smtClean="0"/>
              <a:t>Lecture LA03</a:t>
            </a:r>
            <a:r>
              <a:rPr lang="en-GB" dirty="0" smtClean="0"/>
              <a:t>: Master Page, CSS and Bootstrap 3.0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ITP271 </a:t>
            </a:r>
            <a:r>
              <a:rPr lang="en-GB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:: Web Application </a:t>
            </a:r>
            <a:r>
              <a:rPr lang="en-GB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Development &amp; Project</a:t>
            </a:r>
            <a:endParaRPr lang="en-GB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Contents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Master Pages</a:t>
            </a:r>
          </a:p>
          <a:p>
            <a:r>
              <a:rPr lang="en-GB" dirty="0" smtClean="0"/>
              <a:t>Web Site Navigation </a:t>
            </a:r>
          </a:p>
          <a:p>
            <a:r>
              <a:rPr lang="en-GB" dirty="0" smtClean="0"/>
              <a:t>Cascading Style Sheets</a:t>
            </a:r>
          </a:p>
          <a:p>
            <a:r>
              <a:rPr lang="en-GB" dirty="0" smtClean="0"/>
              <a:t>Bootstrap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well design web site will have a consistent look and feel such as :</a:t>
            </a:r>
          </a:p>
          <a:p>
            <a:pPr lvl="1"/>
            <a:r>
              <a:rPr lang="en-GB" dirty="0" smtClean="0"/>
              <a:t>A common header and menu system for entire site</a:t>
            </a:r>
          </a:p>
          <a:p>
            <a:pPr lvl="1"/>
            <a:r>
              <a:rPr lang="en-GB" dirty="0" smtClean="0"/>
              <a:t>A bar on the left side for navigation</a:t>
            </a:r>
          </a:p>
          <a:p>
            <a:pPr lvl="1"/>
            <a:r>
              <a:rPr lang="en-GB" dirty="0" smtClean="0"/>
              <a:t>A footer providing copyright information</a:t>
            </a:r>
          </a:p>
          <a:p>
            <a:r>
              <a:rPr lang="en-GB" dirty="0" smtClean="0"/>
              <a:t>Instead of duplicating the above features on every web page, a better approach would be to define them in a template, and have web pages use these templates.</a:t>
            </a:r>
          </a:p>
          <a:p>
            <a:pPr lvl="1"/>
            <a:r>
              <a:rPr lang="en-GB" dirty="0" smtClean="0"/>
              <a:t>In ASP.NET, these templates are called Master Pages.</a:t>
            </a:r>
          </a:p>
          <a:p>
            <a:pPr lvl="1"/>
            <a:endParaRPr lang="en-GB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a Master Page works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dirty="0" smtClean="0"/>
              <a:t>Copyright © </a:t>
            </a:r>
            <a:r>
              <a:rPr lang="en-SG" dirty="0" err="1" smtClean="0"/>
              <a:t>Nanyang</a:t>
            </a:r>
            <a:r>
              <a:rPr lang="en-SG" dirty="0" smtClean="0"/>
              <a:t> Polytechnic. All rights reserved.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24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62201"/>
            <a:ext cx="4038600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5" name="Rectangle 17"/>
          <p:cNvSpPr>
            <a:spLocks noChangeArrowheads="1"/>
          </p:cNvSpPr>
          <p:nvPr/>
        </p:nvSpPr>
        <p:spPr bwMode="auto">
          <a:xfrm>
            <a:off x="990601" y="1752600"/>
            <a:ext cx="3746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Define a Master Page which contains common elements for entire web site</a:t>
            </a:r>
          </a:p>
        </p:txBody>
      </p:sp>
      <p:sp>
        <p:nvSpPr>
          <p:cNvPr id="10246" name="Oval 18"/>
          <p:cNvSpPr>
            <a:spLocks noChangeArrowheads="1"/>
          </p:cNvSpPr>
          <p:nvPr/>
        </p:nvSpPr>
        <p:spPr bwMode="auto">
          <a:xfrm>
            <a:off x="609600" y="1905000"/>
            <a:ext cx="3810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0247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362201"/>
            <a:ext cx="4032251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20"/>
          <p:cNvSpPr>
            <a:spLocks noChangeArrowheads="1"/>
          </p:cNvSpPr>
          <p:nvPr/>
        </p:nvSpPr>
        <p:spPr bwMode="auto">
          <a:xfrm>
            <a:off x="5486400" y="1752600"/>
            <a:ext cx="3048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dirty="0"/>
              <a:t>Reference </a:t>
            </a:r>
            <a:r>
              <a:rPr lang="en-GB" dirty="0" smtClean="0"/>
              <a:t>to Master </a:t>
            </a:r>
            <a:r>
              <a:rPr lang="en-GB" dirty="0"/>
              <a:t>Page from </a:t>
            </a:r>
            <a:r>
              <a:rPr lang="en-GB" dirty="0" smtClean="0"/>
              <a:t>ASPX pages</a:t>
            </a:r>
            <a:endParaRPr lang="en-GB" dirty="0"/>
          </a:p>
        </p:txBody>
      </p:sp>
      <p:sp>
        <p:nvSpPr>
          <p:cNvPr id="10249" name="Oval 21"/>
          <p:cNvSpPr>
            <a:spLocks noChangeArrowheads="1"/>
          </p:cNvSpPr>
          <p:nvPr/>
        </p:nvSpPr>
        <p:spPr bwMode="auto">
          <a:xfrm>
            <a:off x="5029200" y="1905000"/>
            <a:ext cx="3810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250" name="Line 23"/>
          <p:cNvSpPr>
            <a:spLocks noChangeShapeType="1"/>
          </p:cNvSpPr>
          <p:nvPr/>
        </p:nvSpPr>
        <p:spPr bwMode="auto">
          <a:xfrm flipH="1">
            <a:off x="4572000" y="3352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0251" name="Line 24"/>
          <p:cNvSpPr>
            <a:spLocks noChangeShapeType="1"/>
          </p:cNvSpPr>
          <p:nvPr/>
        </p:nvSpPr>
        <p:spPr bwMode="auto">
          <a:xfrm flipH="1">
            <a:off x="6858000" y="4267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pic>
        <p:nvPicPr>
          <p:cNvPr id="10252" name="Picture 2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4648201"/>
            <a:ext cx="3733800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" name="Rectangle 26"/>
          <p:cNvSpPr>
            <a:spLocks noChangeArrowheads="1"/>
          </p:cNvSpPr>
          <p:nvPr/>
        </p:nvSpPr>
        <p:spPr bwMode="auto">
          <a:xfrm>
            <a:off x="5943600" y="6140451"/>
            <a:ext cx="3048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dirty="0" smtClean="0"/>
              <a:t>Resulting output </a:t>
            </a:r>
            <a:r>
              <a:rPr lang="en-GB" dirty="0"/>
              <a:t>in browser</a:t>
            </a:r>
          </a:p>
        </p:txBody>
      </p:sp>
      <p:sp>
        <p:nvSpPr>
          <p:cNvPr id="10254" name="Oval 27"/>
          <p:cNvSpPr>
            <a:spLocks noChangeArrowheads="1"/>
          </p:cNvSpPr>
          <p:nvPr/>
        </p:nvSpPr>
        <p:spPr bwMode="auto">
          <a:xfrm>
            <a:off x="5562600" y="6172200"/>
            <a:ext cx="3810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a Master Page works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Areas where the custom contents of the ASP.NET Web Pages are to appear are marked out or 'reserved' by </a:t>
            </a:r>
            <a:r>
              <a:rPr lang="en-GB" dirty="0" err="1" smtClean="0"/>
              <a:t>ContentPlaceHolder</a:t>
            </a:r>
            <a:r>
              <a:rPr lang="en-GB" dirty="0" smtClean="0"/>
              <a:t> controls.</a:t>
            </a:r>
          </a:p>
          <a:p>
            <a:endParaRPr lang="en-GB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-304800" y="3048001"/>
            <a:ext cx="342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505200"/>
            <a:ext cx="556180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How a Master Page works</a:t>
            </a:r>
            <a:endParaRPr lang="en-GB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Master </a:t>
            </a:r>
            <a:r>
              <a:rPr lang="en-GB" dirty="0" smtClean="0"/>
              <a:t>Pages can be nested.</a:t>
            </a:r>
          </a:p>
          <a:p>
            <a:pPr lvl="1"/>
            <a:r>
              <a:rPr lang="en-GB" dirty="0" smtClean="0"/>
              <a:t>I.e. a Master Page can also have a Master Page</a:t>
            </a:r>
          </a:p>
          <a:p>
            <a:pPr lvl="1"/>
            <a:r>
              <a:rPr lang="en-GB" dirty="0" smtClean="0"/>
              <a:t>This allows for one main Master Page that has the Headers and Footers, and additional child Master Pages for different sections of the website.</a:t>
            </a:r>
          </a:p>
          <a:p>
            <a:r>
              <a:rPr lang="en-GB" dirty="0" smtClean="0"/>
              <a:t>When a new Master Page is created, by default, only 2 </a:t>
            </a:r>
            <a:r>
              <a:rPr lang="en-GB" dirty="0" err="1" smtClean="0"/>
              <a:t>ContentPlaceHolders</a:t>
            </a:r>
            <a:r>
              <a:rPr lang="en-GB" dirty="0" smtClean="0"/>
              <a:t> are created:</a:t>
            </a:r>
          </a:p>
          <a:p>
            <a:pPr lvl="1"/>
            <a:r>
              <a:rPr lang="en-GB" dirty="0" smtClean="0"/>
              <a:t>One for the head element of the page</a:t>
            </a:r>
          </a:p>
          <a:p>
            <a:pPr lvl="1"/>
            <a:r>
              <a:rPr lang="en-GB" dirty="0" smtClean="0"/>
              <a:t>One for the body element of the page</a:t>
            </a:r>
          </a:p>
          <a:p>
            <a:r>
              <a:rPr lang="en-GB" dirty="0" smtClean="0"/>
              <a:t>However, additional </a:t>
            </a:r>
            <a:r>
              <a:rPr lang="en-GB" dirty="0" err="1" smtClean="0"/>
              <a:t>ContentPlaceHolders</a:t>
            </a:r>
            <a:r>
              <a:rPr lang="en-GB" dirty="0" smtClean="0"/>
              <a:t> may be created in the same Master Page.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-304800" y="3048001"/>
            <a:ext cx="342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mtClean="0"/>
              <a:t>How to create a Master Page</a:t>
            </a:r>
          </a:p>
        </p:txBody>
      </p:sp>
      <p:pic>
        <p:nvPicPr>
          <p:cNvPr id="9" name="Content Placeholder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435" y="2160588"/>
            <a:ext cx="5830742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-304800" y="3048001"/>
            <a:ext cx="3429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2485063" y="2817813"/>
            <a:ext cx="1143000" cy="381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H="1" flipV="1">
            <a:off x="3886200" y="2806290"/>
            <a:ext cx="76200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SG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572000" y="4025490"/>
            <a:ext cx="28194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Choose Web Site</a:t>
            </a:r>
            <a:r>
              <a:rPr lang="en-GB" altLang="en-US">
                <a:sym typeface="Wingdings" pitchFamily="2" charset="2"/>
              </a:rPr>
              <a:t></a:t>
            </a:r>
            <a:r>
              <a:rPr lang="en-GB" altLang="en-US"/>
              <a:t> Add New Item-</a:t>
            </a:r>
            <a:r>
              <a:rPr lang="en-GB" altLang="en-US">
                <a:sym typeface="Wingdings" pitchFamily="2" charset="2"/>
              </a:rPr>
              <a:t>Master Page</a:t>
            </a:r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mtClean="0"/>
              <a:t>Codes generated in a Master Page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828800"/>
            <a:ext cx="8237539" cy="403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609600" y="1752600"/>
            <a:ext cx="762000" cy="381000"/>
          </a:xfrm>
          <a:prstGeom prst="ellipse">
            <a:avLst/>
          </a:prstGeom>
          <a:solidFill>
            <a:srgbClr val="CCFFCC">
              <a:alpha val="0"/>
            </a:srgb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7"/>
          <p:cNvSpPr>
            <a:spLocks noChangeShapeType="1"/>
          </p:cNvSpPr>
          <p:nvPr/>
        </p:nvSpPr>
        <p:spPr bwMode="auto">
          <a:xfrm flipH="1" flipV="1">
            <a:off x="1371600" y="1981200"/>
            <a:ext cx="2209800" cy="914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3505200" y="2819401"/>
            <a:ext cx="3429000" cy="369332"/>
          </a:xfrm>
          <a:prstGeom prst="rect">
            <a:avLst/>
          </a:prstGeom>
          <a:solidFill>
            <a:srgbClr val="CCFFCC">
              <a:alpha val="9294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Code starts with a Master directive</a:t>
            </a:r>
          </a:p>
        </p:txBody>
      </p:sp>
      <p:sp>
        <p:nvSpPr>
          <p:cNvPr id="13320" name="Line 9"/>
          <p:cNvSpPr>
            <a:spLocks noChangeShapeType="1"/>
          </p:cNvSpPr>
          <p:nvPr/>
        </p:nvSpPr>
        <p:spPr bwMode="auto">
          <a:xfrm flipH="1" flipV="1">
            <a:off x="4724400" y="5638800"/>
            <a:ext cx="9144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5638800" y="5867401"/>
            <a:ext cx="3429000" cy="9255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ContentPlaceHolder is where contents from Content Pages is placed at runtime</a:t>
            </a:r>
          </a:p>
        </p:txBody>
      </p:sp>
      <p:sp>
        <p:nvSpPr>
          <p:cNvPr id="13322" name="AutoShape 12"/>
          <p:cNvSpPr>
            <a:spLocks noChangeArrowheads="1"/>
          </p:cNvSpPr>
          <p:nvPr/>
        </p:nvSpPr>
        <p:spPr bwMode="auto">
          <a:xfrm>
            <a:off x="914400" y="5257800"/>
            <a:ext cx="3962400" cy="3810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mtClean="0"/>
              <a:t>How to create a Content Page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400" smtClean="0"/>
              <a:t>A content page is actually just a normal aspx Web Form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38401"/>
            <a:ext cx="4419600" cy="293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2057400" y="4876800"/>
            <a:ext cx="1219200" cy="3048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5867400" y="2819401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1" y="2514600"/>
            <a:ext cx="3738563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5" name="Line 9"/>
          <p:cNvSpPr>
            <a:spLocks noChangeShapeType="1"/>
          </p:cNvSpPr>
          <p:nvPr/>
        </p:nvSpPr>
        <p:spPr bwMode="auto">
          <a:xfrm flipV="1">
            <a:off x="1981200" y="51816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1524000" y="5486401"/>
            <a:ext cx="2667000" cy="36933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Make sure this is checked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6629400" y="2743200"/>
            <a:ext cx="1219200" cy="609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 flipV="1">
            <a:off x="5943600" y="3352800"/>
            <a:ext cx="10668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181600" y="5334001"/>
            <a:ext cx="3352800" cy="64633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Select one of the Master Pages to be associated with the Web 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mtClean="0"/>
              <a:t>How to create a Content Page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pic>
        <p:nvPicPr>
          <p:cNvPr id="15364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7351" y="2152650"/>
            <a:ext cx="8370888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2209800" y="2895601"/>
            <a:ext cx="381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5366" name="Oval 5"/>
          <p:cNvSpPr>
            <a:spLocks noChangeArrowheads="1"/>
          </p:cNvSpPr>
          <p:nvPr/>
        </p:nvSpPr>
        <p:spPr bwMode="auto">
          <a:xfrm>
            <a:off x="533400" y="2514600"/>
            <a:ext cx="6629400" cy="6858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4191000" y="2133600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5368" name="Text Box 7"/>
          <p:cNvSpPr txBox="1">
            <a:spLocks noChangeArrowheads="1"/>
          </p:cNvSpPr>
          <p:nvPr/>
        </p:nvSpPr>
        <p:spPr bwMode="auto">
          <a:xfrm>
            <a:off x="1600200" y="1752600"/>
            <a:ext cx="6705600" cy="36933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Master Page is dimmed and cannot be edited in a Content Page</a:t>
            </a:r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 flipH="1" flipV="1">
            <a:off x="4648200" y="5486400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09600" y="5916614"/>
            <a:ext cx="8077200" cy="78483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/>
              <a:t>This Content element is associated with the ContentPlaceHolder of the Master Page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/>
              <a:t>Text entered within this Content will apppear within the content start and end tags</a:t>
            </a:r>
          </a:p>
        </p:txBody>
      </p:sp>
      <p:sp>
        <p:nvSpPr>
          <p:cNvPr id="15371" name="AutoShape 12"/>
          <p:cNvSpPr>
            <a:spLocks noChangeArrowheads="1"/>
          </p:cNvSpPr>
          <p:nvPr/>
        </p:nvSpPr>
        <p:spPr bwMode="auto">
          <a:xfrm>
            <a:off x="1905000" y="3276600"/>
            <a:ext cx="6781800" cy="22098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mtClean="0"/>
              <a:t>Codes generated in a Content Page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pic>
        <p:nvPicPr>
          <p:cNvPr id="16388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19400"/>
            <a:ext cx="914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6389" name="Line 4"/>
          <p:cNvSpPr>
            <a:spLocks noChangeShapeType="1"/>
          </p:cNvSpPr>
          <p:nvPr/>
        </p:nvSpPr>
        <p:spPr bwMode="auto">
          <a:xfrm flipV="1">
            <a:off x="2438400" y="3276600"/>
            <a:ext cx="45720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304800" y="4800601"/>
            <a:ext cx="4191000" cy="64633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This Title will over ride that defined in Master Page</a:t>
            </a:r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 flipH="1">
            <a:off x="4114800" y="2362200"/>
            <a:ext cx="1295400" cy="609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6392" name="Text Box 7"/>
          <p:cNvSpPr txBox="1">
            <a:spLocks noChangeArrowheads="1"/>
          </p:cNvSpPr>
          <p:nvPr/>
        </p:nvSpPr>
        <p:spPr bwMode="auto">
          <a:xfrm>
            <a:off x="4038600" y="1981201"/>
            <a:ext cx="4191000" cy="36933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Master Page associated with this Page</a:t>
            </a:r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 flipH="1" flipV="1">
            <a:off x="4191000" y="3505200"/>
            <a:ext cx="1752600" cy="1295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6394" name="Text Box 9"/>
          <p:cNvSpPr txBox="1">
            <a:spLocks noChangeArrowheads="1"/>
          </p:cNvSpPr>
          <p:nvPr/>
        </p:nvSpPr>
        <p:spPr bwMode="auto">
          <a:xfrm>
            <a:off x="4800600" y="4800601"/>
            <a:ext cx="3733800" cy="92333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This is the ID defined for the ContentPlaceHolder in the Master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1"/>
            <a:ext cx="4648200" cy="4302125"/>
          </a:xfrm>
        </p:spPr>
        <p:txBody>
          <a:bodyPr/>
          <a:lstStyle/>
          <a:p>
            <a:r>
              <a:rPr lang="en-GB" sz="2400" smtClean="0"/>
              <a:t>Two web forms (Default.aspx and Products.aspx referencing the same Master Page)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798638"/>
            <a:ext cx="3962400" cy="239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4405314"/>
            <a:ext cx="3886200" cy="22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3505201"/>
            <a:ext cx="4114800" cy="191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Line 7"/>
          <p:cNvSpPr>
            <a:spLocks noChangeShapeType="1"/>
          </p:cNvSpPr>
          <p:nvPr/>
        </p:nvSpPr>
        <p:spPr bwMode="auto">
          <a:xfrm flipV="1">
            <a:off x="4267200" y="34290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7417" name="Line 8"/>
          <p:cNvSpPr>
            <a:spLocks noChangeShapeType="1"/>
          </p:cNvSpPr>
          <p:nvPr/>
        </p:nvSpPr>
        <p:spPr bwMode="auto">
          <a:xfrm>
            <a:off x="4267200" y="4572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17418" name="Text Box 9"/>
          <p:cNvSpPr txBox="1">
            <a:spLocks noChangeArrowheads="1"/>
          </p:cNvSpPr>
          <p:nvPr/>
        </p:nvSpPr>
        <p:spPr bwMode="auto">
          <a:xfrm>
            <a:off x="1143000" y="53340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MasterPage2.Master</a:t>
            </a:r>
          </a:p>
        </p:txBody>
      </p:sp>
      <p:sp>
        <p:nvSpPr>
          <p:cNvPr id="17419" name="Text Box 10"/>
          <p:cNvSpPr txBox="1">
            <a:spLocks noChangeArrowheads="1"/>
          </p:cNvSpPr>
          <p:nvPr/>
        </p:nvSpPr>
        <p:spPr bwMode="auto">
          <a:xfrm>
            <a:off x="6324600" y="3551238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Default.aspx</a:t>
            </a:r>
          </a:p>
        </p:txBody>
      </p:sp>
      <p:sp>
        <p:nvSpPr>
          <p:cNvPr id="17420" name="Text Box 11"/>
          <p:cNvSpPr txBox="1">
            <a:spLocks noChangeArrowheads="1"/>
          </p:cNvSpPr>
          <p:nvPr/>
        </p:nvSpPr>
        <p:spPr bwMode="auto">
          <a:xfrm>
            <a:off x="6400800" y="5943601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Products.aspx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09600"/>
            <a:ext cx="4876801" cy="1320800"/>
          </a:xfrm>
        </p:spPr>
        <p:txBody>
          <a:bodyPr/>
          <a:lstStyle/>
          <a:p>
            <a:pPr algn="ctr"/>
            <a:r>
              <a:rPr lang="en-US" dirty="0" err="1" smtClean="0"/>
              <a:t>Masterpages</a:t>
            </a:r>
            <a:r>
              <a:rPr lang="en-US" dirty="0" smtClean="0"/>
              <a:t> explained in 10 minutes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https://www.youtube.com/watch?v=33sBZanzlII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06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GB" smtClean="0"/>
              <a:t>Cascading Style Sheets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Introduction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962400"/>
            <a:ext cx="8229600" cy="22860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mtClean="0"/>
              <a:t>Earlier, we have seen tables and other elements such as span being formatted individually. </a:t>
            </a:r>
          </a:p>
          <a:p>
            <a:pPr>
              <a:lnSpc>
                <a:spcPct val="90000"/>
              </a:lnSpc>
            </a:pPr>
            <a:r>
              <a:rPr lang="en-GB" smtClean="0"/>
              <a:t>This leads to maintenance problems; A better approach is to keep such formats and styles externally in a Cascading Style Sheet file 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2" y="1828800"/>
            <a:ext cx="7993063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mtClean="0"/>
              <a:t>What are Cascading Style Sheets?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Cascading Style Sheets (CSS) is a standard defined by W3C, and not an ASP.NET technology.</a:t>
            </a:r>
          </a:p>
          <a:p>
            <a:r>
              <a:rPr lang="en-GB" smtClean="0"/>
              <a:t>CSS is a mechanism for adding styles (such as fonts, colours, spacing) to web pages</a:t>
            </a:r>
          </a:p>
          <a:p>
            <a:r>
              <a:rPr lang="en-GB" smtClean="0"/>
              <a:t>CSS is bandwidth friendly; A Single CSS file can control the appearance of thousands of web pages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1"/>
            <a:ext cx="82296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The CSS syntax is made up of three parts: a selector, a property and a value: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 lvl="1">
              <a:lnSpc>
                <a:spcPct val="90000"/>
              </a:lnSpc>
            </a:pPr>
            <a:r>
              <a:rPr lang="en-US" smtClean="0"/>
              <a:t>Examples: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body {color: black}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p {font-family: "sans serif"} 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p {text-align:center;color:red}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857500" y="3513138"/>
            <a:ext cx="3591048" cy="38779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sz="2400">
                <a:latin typeface="Arial" charset="0"/>
              </a:rPr>
              <a:t>selector {property: value}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4076700" y="3038476"/>
            <a:ext cx="1317990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Arial" charset="0"/>
              </a:rPr>
              <a:t>attribute to set</a:t>
            </a:r>
          </a:p>
        </p:txBody>
      </p:sp>
      <p:sp>
        <p:nvSpPr>
          <p:cNvPr id="28679" name="Line 6"/>
          <p:cNvSpPr>
            <a:spLocks noChangeShapeType="1"/>
          </p:cNvSpPr>
          <p:nvPr/>
        </p:nvSpPr>
        <p:spPr bwMode="auto">
          <a:xfrm flipH="1" flipV="1">
            <a:off x="3543300" y="38766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8680" name="Line 7"/>
          <p:cNvSpPr>
            <a:spLocks noChangeShapeType="1"/>
          </p:cNvSpPr>
          <p:nvPr/>
        </p:nvSpPr>
        <p:spPr bwMode="auto">
          <a:xfrm>
            <a:off x="4686300" y="3343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8681" name="Line 8"/>
          <p:cNvSpPr>
            <a:spLocks noChangeShapeType="1"/>
          </p:cNvSpPr>
          <p:nvPr/>
        </p:nvSpPr>
        <p:spPr bwMode="auto">
          <a:xfrm flipV="1">
            <a:off x="6057900" y="38766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auto">
          <a:xfrm>
            <a:off x="5219700" y="4105276"/>
            <a:ext cx="1566454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Arial" charset="0"/>
              </a:rPr>
              <a:t>value of  property</a:t>
            </a:r>
          </a:p>
        </p:txBody>
      </p:sp>
      <p:sp>
        <p:nvSpPr>
          <p:cNvPr id="28683" name="Rectangle 10"/>
          <p:cNvSpPr>
            <a:spLocks noChangeArrowheads="1"/>
          </p:cNvSpPr>
          <p:nvPr/>
        </p:nvSpPr>
        <p:spPr bwMode="auto">
          <a:xfrm>
            <a:off x="2247900" y="4105276"/>
            <a:ext cx="2673874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Arial" charset="0"/>
              </a:rPr>
              <a:t>normally the HTML element/tag</a:t>
            </a:r>
          </a:p>
        </p:txBody>
      </p:sp>
      <p:sp>
        <p:nvSpPr>
          <p:cNvPr id="28684" name="Rectangle 11"/>
          <p:cNvSpPr>
            <a:spLocks noChangeArrowheads="1"/>
          </p:cNvSpPr>
          <p:nvPr/>
        </p:nvSpPr>
        <p:spPr bwMode="auto">
          <a:xfrm>
            <a:off x="5334001" y="5257800"/>
            <a:ext cx="3089275" cy="523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Arial" charset="0"/>
              </a:rPr>
              <a:t>If  the value is multiple words, put quotes around the value</a:t>
            </a:r>
          </a:p>
        </p:txBody>
      </p:sp>
      <p:sp>
        <p:nvSpPr>
          <p:cNvPr id="28685" name="Line 12"/>
          <p:cNvSpPr>
            <a:spLocks noChangeShapeType="1"/>
          </p:cNvSpPr>
          <p:nvPr/>
        </p:nvSpPr>
        <p:spPr bwMode="auto">
          <a:xfrm flipH="1" flipV="1">
            <a:off x="4572000" y="54102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 flipH="1" flipV="1">
            <a:off x="3810000" y="5943600"/>
            <a:ext cx="1524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8687" name="Rectangle 14"/>
          <p:cNvSpPr>
            <a:spLocks noChangeArrowheads="1"/>
          </p:cNvSpPr>
          <p:nvPr/>
        </p:nvSpPr>
        <p:spPr bwMode="auto">
          <a:xfrm>
            <a:off x="5299076" y="5867401"/>
            <a:ext cx="3159125" cy="8002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Arial" charset="0"/>
              </a:rPr>
              <a:t>If more than one property is defined, separate each property with a semicolon</a:t>
            </a:r>
            <a:r>
              <a:rPr lang="en-US">
                <a:latin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Inheritance</a:t>
            </a:r>
          </a:p>
          <a:p>
            <a:pPr lvl="1"/>
            <a:r>
              <a:rPr lang="en-US" smtClean="0"/>
              <a:t>When one element is nested inside another, the nested element will inherit the properties assigned to the containing element. 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962400" y="4191001"/>
            <a:ext cx="4876800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Arial" charset="0"/>
              </a:rPr>
              <a:t>A font declared in the body will be inherited by all text, unless another font is declared for a specific nested element</a:t>
            </a: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438402" y="5181600"/>
            <a:ext cx="3865161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h1 {font-family: Georgia, sans-serif;}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4114801" y="5791201"/>
            <a:ext cx="4679951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en-US" sz="1400">
                <a:latin typeface="Arial" charset="0"/>
              </a:rPr>
              <a:t>All &lt;h1&gt; tags will be set to Georgia, leaving text within other elements unchanged from the body declaration of Verdana.</a:t>
            </a: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2438400" y="3657601"/>
            <a:ext cx="3505200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body {font-family: Verdana, serif;}</a:t>
            </a:r>
            <a:endParaRPr lang="en-GB"/>
          </a:p>
        </p:txBody>
      </p:sp>
      <p:sp>
        <p:nvSpPr>
          <p:cNvPr id="29705" name="Line 10"/>
          <p:cNvSpPr>
            <a:spLocks noChangeShapeType="1"/>
          </p:cNvSpPr>
          <p:nvPr/>
        </p:nvSpPr>
        <p:spPr bwMode="auto">
          <a:xfrm flipH="1" flipV="1">
            <a:off x="3505200" y="3962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9706" name="Line 11"/>
          <p:cNvSpPr>
            <a:spLocks noChangeShapeType="1"/>
          </p:cNvSpPr>
          <p:nvPr/>
        </p:nvSpPr>
        <p:spPr bwMode="auto">
          <a:xfrm flipH="1" flipV="1">
            <a:off x="2743200" y="55626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9600" y="1828801"/>
            <a:ext cx="41148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&lt;html&gt;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&lt;head&gt;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&lt;link rel="stylesheet" 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type="text/css" href="sample.css" /&gt;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&lt;/head&gt;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&lt;body&gt;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&lt;h1&gt;Header H1 is blue&lt;/h1&gt;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&lt;h2&gt;Header H2 color is inherited&lt;/h2&gt;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&lt;/body&gt;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&lt;/html&gt; 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0726" name="Rectangle 10"/>
          <p:cNvSpPr>
            <a:spLocks noChangeArrowheads="1"/>
          </p:cNvSpPr>
          <p:nvPr/>
        </p:nvSpPr>
        <p:spPr bwMode="auto">
          <a:xfrm>
            <a:off x="914400" y="4724500"/>
            <a:ext cx="2362200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>
                <a:latin typeface="Arial" charset="0"/>
              </a:rPr>
              <a:t>Sample.html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5105401"/>
            <a:ext cx="25146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body {</a:t>
            </a:r>
            <a:r>
              <a:rPr lang="en-GB" dirty="0" err="1"/>
              <a:t>color</a:t>
            </a:r>
            <a:r>
              <a:rPr lang="en-GB" dirty="0"/>
              <a:t>: red}</a:t>
            </a:r>
          </a:p>
          <a:p>
            <a:pPr>
              <a:defRPr/>
            </a:pPr>
            <a:r>
              <a:rPr lang="en-GB" dirty="0"/>
              <a:t>h1 {</a:t>
            </a:r>
            <a:r>
              <a:rPr lang="en-GB" dirty="0" err="1"/>
              <a:t>color</a:t>
            </a:r>
            <a:r>
              <a:rPr lang="en-GB" dirty="0"/>
              <a:t>: blue}</a:t>
            </a:r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838200" y="5791300"/>
            <a:ext cx="2362200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>
                <a:latin typeface="Arial" charset="0"/>
              </a:rPr>
              <a:t>Sample.css</a:t>
            </a:r>
          </a:p>
        </p:txBody>
      </p:sp>
      <p:pic>
        <p:nvPicPr>
          <p:cNvPr id="307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438400"/>
            <a:ext cx="374332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5105400" y="3962401"/>
            <a:ext cx="3657600" cy="7381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>
                <a:latin typeface="Arial" charset="0"/>
              </a:rPr>
              <a:t>H1 color property is defined in CSS while H2 color property is inherited from color property of Body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46276"/>
            <a:ext cx="8229600" cy="4530725"/>
          </a:xfrm>
        </p:spPr>
        <p:txBody>
          <a:bodyPr/>
          <a:lstStyle/>
          <a:p>
            <a:r>
              <a:rPr lang="en-US" dirty="0" smtClean="0"/>
              <a:t>Class Selector</a:t>
            </a:r>
          </a:p>
          <a:p>
            <a:pPr lvl="1"/>
            <a:r>
              <a:rPr lang="en-US" dirty="0" smtClean="0"/>
              <a:t>A Class Selector allows different styles to be defined for the same HTML element</a:t>
            </a:r>
          </a:p>
          <a:p>
            <a:endParaRPr lang="en-US" dirty="0" smtClean="0"/>
          </a:p>
          <a:p>
            <a:endParaRPr lang="en-US" dirty="0" smtClean="0"/>
          </a:p>
          <a:p>
            <a:pPr lvl="1">
              <a:buFont typeface="Wingdings" pitchFamily="2" charset="2"/>
              <a:buNone/>
            </a:pPr>
            <a:r>
              <a:rPr lang="en-US" dirty="0" smtClean="0"/>
              <a:t>	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1828800" y="4800640"/>
            <a:ext cx="4267200" cy="110799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&lt;p class=“left"&gt;Left-aligned.&lt;/p&gt;</a:t>
            </a:r>
          </a:p>
          <a:p>
            <a:r>
              <a:rPr lang="en-US">
                <a:latin typeface="Arial" charset="0"/>
              </a:rPr>
              <a:t>&lt;p class="center"&gt;Center-aligned.&lt;/p&gt; </a:t>
            </a:r>
          </a:p>
          <a:p>
            <a:endParaRPr lang="en-US">
              <a:latin typeface="Arial" charset="0"/>
            </a:endParaRP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5029200" y="48768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2667000" y="3429040"/>
            <a:ext cx="2819400" cy="110799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dirty="0">
              <a:latin typeface="Arial" charset="0"/>
            </a:endParaRPr>
          </a:p>
          <a:p>
            <a:r>
              <a:rPr lang="en-US" dirty="0" err="1">
                <a:latin typeface="Arial" charset="0"/>
              </a:rPr>
              <a:t>p.left</a:t>
            </a:r>
            <a:r>
              <a:rPr lang="en-US" dirty="0">
                <a:latin typeface="Arial" charset="0"/>
              </a:rPr>
              <a:t> {text-align: </a:t>
            </a:r>
            <a:r>
              <a:rPr lang="en-US" dirty="0" smtClean="0">
                <a:latin typeface="Arial" charset="0"/>
              </a:rPr>
              <a:t>left}</a:t>
            </a:r>
            <a:endParaRPr lang="en-US" dirty="0">
              <a:latin typeface="Arial" charset="0"/>
            </a:endParaRPr>
          </a:p>
          <a:p>
            <a:r>
              <a:rPr lang="en-US" dirty="0" err="1">
                <a:latin typeface="Arial" charset="0"/>
              </a:rPr>
              <a:t>p.center</a:t>
            </a:r>
            <a:r>
              <a:rPr lang="en-US" dirty="0">
                <a:latin typeface="Arial" charset="0"/>
              </a:rPr>
              <a:t> {text-align: center}</a:t>
            </a:r>
          </a:p>
          <a:p>
            <a:r>
              <a:rPr lang="en-US" dirty="0">
                <a:latin typeface="Arial" charset="0"/>
              </a:rPr>
              <a:t> </a:t>
            </a:r>
          </a:p>
        </p:txBody>
      </p:sp>
      <p:sp>
        <p:nvSpPr>
          <p:cNvPr id="31752" name="Line 9"/>
          <p:cNvSpPr>
            <a:spLocks noChangeShapeType="1"/>
          </p:cNvSpPr>
          <p:nvPr/>
        </p:nvSpPr>
        <p:spPr bwMode="auto">
          <a:xfrm flipH="1">
            <a:off x="5638800" y="48768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31753" name="Rectangle 10"/>
          <p:cNvSpPr>
            <a:spLocks noChangeArrowheads="1"/>
          </p:cNvSpPr>
          <p:nvPr/>
        </p:nvSpPr>
        <p:spPr bwMode="auto">
          <a:xfrm>
            <a:off x="6477000" y="4389439"/>
            <a:ext cx="2362200" cy="739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>
                <a:latin typeface="Arial" charset="0"/>
              </a:rPr>
              <a:t>Same element but one is left aligned while another is centre aligned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46276"/>
            <a:ext cx="8229600" cy="4530725"/>
          </a:xfrm>
        </p:spPr>
        <p:txBody>
          <a:bodyPr/>
          <a:lstStyle/>
          <a:p>
            <a:r>
              <a:rPr lang="en-US" smtClean="0"/>
              <a:t>Grouping</a:t>
            </a:r>
          </a:p>
          <a:p>
            <a:pPr lvl="1"/>
            <a:r>
              <a:rPr lang="en-US" smtClean="0"/>
              <a:t>Selectors can be grouped: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endParaRPr lang="en-US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2209800" y="3200401"/>
            <a:ext cx="3565525" cy="833438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pt-BR">
              <a:latin typeface="Arial" charset="0"/>
            </a:endParaRPr>
          </a:p>
          <a:p>
            <a:pPr algn="ctr"/>
            <a:r>
              <a:rPr lang="pt-BR">
                <a:latin typeface="Arial" charset="0"/>
              </a:rPr>
              <a:t>h1,h2,h3,h4,h5,h6 {color: blue</a:t>
            </a:r>
            <a:r>
              <a:rPr lang="en-US">
                <a:latin typeface="Arial" charset="0"/>
              </a:rPr>
              <a:t>} </a:t>
            </a:r>
          </a:p>
          <a:p>
            <a:pPr algn="ctr"/>
            <a:endParaRPr lang="en-US">
              <a:latin typeface="Arial" charset="0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5715000" y="4192915"/>
            <a:ext cx="2362200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>
                <a:latin typeface="Arial" charset="0"/>
              </a:rPr>
              <a:t>All header elements will be displayed in blue </a:t>
            </a:r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 flipH="1" flipV="1">
            <a:off x="3505200" y="3733800"/>
            <a:ext cx="2209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pic>
        <p:nvPicPr>
          <p:cNvPr id="3379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828801"/>
            <a:ext cx="31337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8" name="Date Placeholder 3"/>
          <p:cNvSpPr txBox="1">
            <a:spLocks/>
          </p:cNvSpPr>
          <p:nvPr/>
        </p:nvSpPr>
        <p:spPr bwMode="auto">
          <a:xfrm>
            <a:off x="457200" y="6248400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1000">
                <a:latin typeface="Arial" charset="0"/>
              </a:rPr>
              <a:t>IT2756   Copyrights © Nanyang Polytechnic</a:t>
            </a:r>
            <a:endParaRPr lang="en-GB" sz="1000"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828801"/>
            <a:ext cx="54864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&lt;html&gt;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&lt;head&gt;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&lt;link rel="stylesheet" 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type="text/css" href="sample.css" /&gt;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&lt;/head&gt;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&lt;body&gt;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&lt;h1&gt;Header H1 is blue&lt;/h1&gt;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&lt;h2&gt;Header H2 color is inherited&lt;/h2&gt;</a:t>
            </a:r>
          </a:p>
          <a:p>
            <a:pPr>
              <a:defRPr/>
            </a:pPr>
            <a:r>
              <a:rPr lang="en-GB" b="1">
                <a:solidFill>
                  <a:srgbClr val="000000"/>
                </a:solidFill>
              </a:rPr>
              <a:t>&lt;p&gt;Default Paragraph&lt;/p&gt;</a:t>
            </a:r>
          </a:p>
          <a:p>
            <a:pPr>
              <a:defRPr/>
            </a:pPr>
            <a:r>
              <a:rPr lang="en-GB" b="1">
                <a:solidFill>
                  <a:srgbClr val="000000"/>
                </a:solidFill>
              </a:rPr>
              <a:t>&lt;p class="left" &gt;Left Aligned 100 px Paragraph&lt;/p&gt;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&lt;/body&gt;</a:t>
            </a:r>
          </a:p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&lt;/html&gt; 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3800" name="Rectangle 10"/>
          <p:cNvSpPr>
            <a:spLocks noChangeArrowheads="1"/>
          </p:cNvSpPr>
          <p:nvPr/>
        </p:nvSpPr>
        <p:spPr bwMode="auto">
          <a:xfrm>
            <a:off x="914400" y="5638900"/>
            <a:ext cx="2362200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>
                <a:latin typeface="Arial" charset="0"/>
              </a:rPr>
              <a:t>Sample.html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2600" y="4572001"/>
            <a:ext cx="3048000" cy="923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body {</a:t>
            </a:r>
            <a:r>
              <a:rPr lang="en-GB" dirty="0" err="1"/>
              <a:t>color</a:t>
            </a:r>
            <a:r>
              <a:rPr lang="en-GB" dirty="0"/>
              <a:t>: red}</a:t>
            </a:r>
          </a:p>
          <a:p>
            <a:pPr>
              <a:defRPr/>
            </a:pPr>
            <a:r>
              <a:rPr lang="en-GB" dirty="0"/>
              <a:t>h1 {</a:t>
            </a:r>
            <a:r>
              <a:rPr lang="en-GB" dirty="0" err="1"/>
              <a:t>color</a:t>
            </a:r>
            <a:r>
              <a:rPr lang="en-GB" dirty="0"/>
              <a:t>: blue}</a:t>
            </a:r>
          </a:p>
          <a:p>
            <a:pPr>
              <a:defRPr/>
            </a:pPr>
            <a:r>
              <a:rPr lang="en-GB" b="1" dirty="0" err="1"/>
              <a:t>p.left</a:t>
            </a:r>
            <a:r>
              <a:rPr lang="en-GB" b="1" dirty="0"/>
              <a:t> {margin-left: 100px}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5638800" y="5791300"/>
            <a:ext cx="2362200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>
                <a:latin typeface="Arial" charset="0"/>
              </a:rPr>
              <a:t>Sample.css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Id Selector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IDs are similar to Classes, except once a specific id has been declared it cannot be used again within the same HTML file.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In general,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 IDs are used to style the layout elements of a page that will only be needed once</a:t>
            </a:r>
          </a:p>
          <a:p>
            <a:pPr lvl="2">
              <a:lnSpc>
                <a:spcPct val="90000"/>
              </a:lnSpc>
            </a:pPr>
            <a:r>
              <a:rPr lang="en-US" smtClean="0"/>
              <a:t>Classes are used to style text and such that may be declared multiple times.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3657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Id Selector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Id Selectors starts with a #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Guideline: Use ID instead of Classes for styling your web site for example, side menu, banner </a:t>
            </a:r>
            <a:r>
              <a:rPr lang="en-US" dirty="0" err="1" smtClean="0"/>
              <a:t>etc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5738112" y="3166206"/>
            <a:ext cx="2438400" cy="646331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&lt;div id=“menu1"&gt; &lt;/div&gt;</a:t>
            </a:r>
            <a:endParaRPr lang="en-GB"/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5367495" y="1635034"/>
            <a:ext cx="2667000" cy="1200329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dirty="0"/>
              <a:t>#menu1{ </a:t>
            </a:r>
            <a:br>
              <a:rPr lang="en-US" dirty="0"/>
            </a:br>
            <a:r>
              <a:rPr lang="en-US" dirty="0"/>
              <a:t>  width: 80%;</a:t>
            </a:r>
            <a:br>
              <a:rPr lang="en-US" dirty="0"/>
            </a:br>
            <a:r>
              <a:rPr lang="en-US" dirty="0"/>
              <a:t>  margin: auto;</a:t>
            </a:r>
            <a:br>
              <a:rPr lang="en-US" dirty="0"/>
            </a:br>
            <a:r>
              <a:rPr lang="en-US" dirty="0"/>
              <a:t>  padding: 20px;</a:t>
            </a:r>
            <a:br>
              <a:rPr lang="en-US" dirty="0"/>
            </a:br>
            <a:r>
              <a:rPr lang="en-US" dirty="0"/>
              <a:t>} 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762000" y="2971801"/>
            <a:ext cx="42672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/>
              <a:t>id selector is chosen for the “menu1" division over a class, because it  is used once within this file.</a:t>
            </a:r>
            <a:endParaRPr lang="en-GB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5029200" y="3276600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CSS Basics</a:t>
            </a:r>
            <a:endParaRPr lang="en-GB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Referencing a CSS file</a:t>
            </a:r>
          </a:p>
          <a:p>
            <a:pPr lvl="1"/>
            <a:r>
              <a:rPr lang="en-GB" smtClean="0"/>
              <a:t>To reference a CSS file from a HTML or aspx file,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1600200" y="3352801"/>
            <a:ext cx="5715000" cy="8334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r>
              <a:rPr lang="en-US"/>
              <a:t>&lt;head&gt;</a:t>
            </a:r>
          </a:p>
          <a:p>
            <a:r>
              <a:rPr lang="en-US"/>
              <a:t>&lt;link rel="stylesheet" type="text/css“ href=“sitestyle.css" /&gt;</a:t>
            </a:r>
          </a:p>
          <a:p>
            <a:r>
              <a:rPr lang="en-US"/>
              <a:t>&lt;/head&gt;</a:t>
            </a:r>
            <a:r>
              <a:rPr lang="en-GB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 smtClean="0"/>
              <a:t>Cascading Style Sheets : Example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pic>
        <p:nvPicPr>
          <p:cNvPr id="3789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6461" y="1930400"/>
            <a:ext cx="7467600" cy="427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7239000" y="6324600"/>
            <a:ext cx="1447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/>
              <a:t>Demo MasterPage</a:t>
            </a:r>
            <a:endParaRPr lang="en-GB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GB" dirty="0" smtClean="0"/>
              <a:t>Bootstrap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R="0"/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mtClean="0"/>
              <a:t>Cascading Style Sheets : Example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  <p:pic>
        <p:nvPicPr>
          <p:cNvPr id="3891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888902"/>
            <a:ext cx="9124951" cy="29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Text Box 5"/>
          <p:cNvSpPr txBox="1">
            <a:spLocks noChangeArrowheads="1"/>
          </p:cNvSpPr>
          <p:nvPr/>
        </p:nvSpPr>
        <p:spPr bwMode="auto">
          <a:xfrm>
            <a:off x="2362200" y="4876801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Partial CSS file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Bootstrap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09598" y="1524000"/>
            <a:ext cx="6347714" cy="388077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Bootstrap is the most popular HTML, CSS, and JavaScript framework for developing responsive, mobile-first web sites.</a:t>
            </a:r>
          </a:p>
          <a:p>
            <a:r>
              <a:rPr lang="en-US" sz="2400" dirty="0"/>
              <a:t>Bootstrap is completely </a:t>
            </a:r>
            <a:r>
              <a:rPr lang="en-US" sz="2400" dirty="0" smtClean="0"/>
              <a:t>free </a:t>
            </a:r>
          </a:p>
          <a:p>
            <a:r>
              <a:rPr lang="en-GB" sz="2400" dirty="0" smtClean="0"/>
              <a:t>All </a:t>
            </a:r>
            <a:r>
              <a:rPr lang="en-GB" sz="2400" dirty="0" err="1" smtClean="0"/>
              <a:t>ASP.Net</a:t>
            </a:r>
            <a:r>
              <a:rPr lang="en-GB" sz="2400" dirty="0" smtClean="0"/>
              <a:t> web templates are built on Bootstrap framework (CSS, Styling, Fonts)</a:t>
            </a:r>
          </a:p>
          <a:p>
            <a:r>
              <a:rPr lang="en-US" sz="2400" dirty="0"/>
              <a:t>ASP.NET templates let you build a responsive Web site that looks good on mobile devices, tablets and PCs. The templates use the Bootstrap CSS Framework, which makes it really easy to build a responsive Web site and has great theming support</a:t>
            </a:r>
            <a:endParaRPr lang="en-GB" sz="2400" b="1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347713" cy="1320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Bootstrap framework takes care of different device layouts. </a:t>
            </a:r>
            <a:r>
              <a:rPr lang="en-US" dirty="0" err="1" smtClean="0"/>
              <a:t>Eg</a:t>
            </a:r>
            <a:r>
              <a:rPr lang="en-US" dirty="0" smtClean="0"/>
              <a:t>. Laptop, Tablet or Mobile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48" y="2159926"/>
            <a:ext cx="5166612" cy="388143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55150"/>
            <a:ext cx="2310898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01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347713" cy="1320800"/>
          </a:xfrm>
        </p:spPr>
        <p:txBody>
          <a:bodyPr>
            <a:normAutofit/>
          </a:bodyPr>
          <a:lstStyle/>
          <a:p>
            <a:r>
              <a:rPr lang="en-US" dirty="0" smtClean="0"/>
              <a:t>Use Chrome or IE to test your app on the different devices.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342488"/>
            <a:ext cx="4256093" cy="3881437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205141" y="1981200"/>
            <a:ext cx="2491060" cy="38862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In chrome –</a:t>
            </a:r>
          </a:p>
          <a:p>
            <a:pPr fontAlgn="auto">
              <a:spcAft>
                <a:spcPts val="0"/>
              </a:spcAft>
            </a:pPr>
            <a:endParaRPr lang="en-US" dirty="0" smtClean="0"/>
          </a:p>
          <a:p>
            <a:pPr marL="742950" indent="-742950" fontAlgn="auto">
              <a:spcAft>
                <a:spcPts val="0"/>
              </a:spcAft>
              <a:buAutoNum type="arabicParenR"/>
            </a:pPr>
            <a:r>
              <a:rPr lang="en-US" dirty="0" smtClean="0"/>
              <a:t>Right click – Inspect element</a:t>
            </a:r>
          </a:p>
          <a:p>
            <a:pPr marL="742950" indent="-742950" fontAlgn="auto">
              <a:spcAft>
                <a:spcPts val="0"/>
              </a:spcAft>
              <a:buAutoNum type="arabicParenR"/>
            </a:pPr>
            <a:endParaRPr lang="en-US" dirty="0" smtClean="0"/>
          </a:p>
          <a:p>
            <a:pPr marL="742950" indent="-742950" fontAlgn="auto">
              <a:spcAft>
                <a:spcPts val="0"/>
              </a:spcAft>
              <a:buAutoNum type="arabicParenR"/>
            </a:pPr>
            <a:r>
              <a:rPr lang="en-US" dirty="0" smtClean="0"/>
              <a:t>Click on the </a:t>
            </a:r>
            <a:r>
              <a:rPr lang="en-US" dirty="0" err="1" smtClean="0"/>
              <a:t>Handphone</a:t>
            </a:r>
            <a:r>
              <a:rPr lang="en-US" dirty="0" smtClean="0"/>
              <a:t> icon to launch the emulator tab. After that choose the appropriate device to test your app output on different devices.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2894133"/>
            <a:ext cx="381001" cy="43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80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Bootstrap uses a Grid System Framework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799" y="1295401"/>
            <a:ext cx="6801683" cy="1600200"/>
          </a:xfrm>
        </p:spPr>
        <p:txBody>
          <a:bodyPr/>
          <a:lstStyle/>
          <a:p>
            <a:r>
              <a:rPr lang="en-US" dirty="0" smtClean="0"/>
              <a:t>This is necessary for a responsive design (i.e. To cater for different layout demands of different sized devices.</a:t>
            </a:r>
          </a:p>
          <a:p>
            <a:r>
              <a:rPr lang="en-US" dirty="0"/>
              <a:t>http://getbootstrap.com/examples/grid/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2556799"/>
            <a:ext cx="6877884" cy="363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98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 smtClean="0"/>
              <a:t>Example 1 – Columns (4-4-4)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Copyright © </a:t>
            </a:r>
            <a:r>
              <a:rPr lang="en-SG" dirty="0" err="1" smtClean="0"/>
              <a:t>Nanyang</a:t>
            </a:r>
            <a:r>
              <a:rPr lang="en-SG" dirty="0" smtClean="0"/>
              <a:t> Polytechnic.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1325880"/>
            <a:ext cx="5880042" cy="4448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788" y="4114800"/>
            <a:ext cx="7108508" cy="2590800"/>
          </a:xfrm>
          <a:prstGeom prst="rect">
            <a:avLst/>
          </a:prstGeom>
          <a:effectLst>
            <a:glow rad="393700">
              <a:schemeClr val="accent1">
                <a:alpha val="40000"/>
              </a:schemeClr>
            </a:glow>
            <a:outerShdw blurRad="50800" dist="76200" dir="2880000" algn="ctr" rotWithShape="0">
              <a:schemeClr val="tx2">
                <a:lumMod val="60000"/>
                <a:lumOff val="40000"/>
                <a:alpha val="91000"/>
              </a:schemeClr>
            </a:outerShdw>
            <a:softEdge rad="0"/>
          </a:effectLst>
        </p:spPr>
      </p:pic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5014696" y="1508125"/>
            <a:ext cx="4038600" cy="2307563"/>
          </a:xfrm>
        </p:spPr>
        <p:txBody>
          <a:bodyPr>
            <a:normAutofit/>
          </a:bodyPr>
          <a:lstStyle/>
          <a:p>
            <a:r>
              <a:rPr lang="en-US" sz="2000" dirty="0"/>
              <a:t>Bootstrap </a:t>
            </a:r>
            <a:r>
              <a:rPr lang="en-US" sz="2000" dirty="0" smtClean="0"/>
              <a:t>uses predefined CSS classes</a:t>
            </a:r>
          </a:p>
          <a:p>
            <a:r>
              <a:rPr lang="en-US" sz="2000" dirty="0" smtClean="0"/>
              <a:t>Here, we define different column</a:t>
            </a:r>
            <a:r>
              <a:rPr lang="en-GB" sz="2000" dirty="0" smtClean="0"/>
              <a:t> sizes to make up the 12 column grid system</a:t>
            </a:r>
            <a:endParaRPr lang="en-US" sz="2000" dirty="0" smtClean="0"/>
          </a:p>
        </p:txBody>
      </p:sp>
      <p:sp>
        <p:nvSpPr>
          <p:cNvPr id="8" name="Oval 7"/>
          <p:cNvSpPr/>
          <p:nvPr/>
        </p:nvSpPr>
        <p:spPr>
          <a:xfrm>
            <a:off x="685800" y="2590800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85800" y="3352392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85800" y="4182224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 smtClean="0"/>
              <a:t>Example 2 – Columns (2-8-2)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Copyright © </a:t>
            </a:r>
            <a:r>
              <a:rPr lang="en-SG" dirty="0" err="1" smtClean="0"/>
              <a:t>Nanyang</a:t>
            </a:r>
            <a:r>
              <a:rPr lang="en-SG" dirty="0" smtClean="0"/>
              <a:t> Polytechnic.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1"/>
            <a:ext cx="5432835" cy="4187580"/>
          </a:xfrm>
          <a:prstGeom prst="rect">
            <a:avLst/>
          </a:prstGeom>
        </p:spPr>
      </p:pic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5545697" y="1251830"/>
            <a:ext cx="3291104" cy="2307563"/>
          </a:xfrm>
        </p:spPr>
        <p:txBody>
          <a:bodyPr>
            <a:normAutofit/>
          </a:bodyPr>
          <a:lstStyle/>
          <a:p>
            <a:r>
              <a:rPr lang="en-US" sz="2000" dirty="0"/>
              <a:t>Bootstrap </a:t>
            </a:r>
            <a:r>
              <a:rPr lang="en-US" sz="2000" dirty="0" smtClean="0"/>
              <a:t>uses predefined CSS classes</a:t>
            </a:r>
          </a:p>
          <a:p>
            <a:r>
              <a:rPr lang="en-US" sz="2000" dirty="0" smtClean="0"/>
              <a:t>Here, we define different column</a:t>
            </a:r>
            <a:r>
              <a:rPr lang="en-GB" sz="2000" dirty="0" smtClean="0"/>
              <a:t> sizes to make up the 12 column grid system</a:t>
            </a:r>
            <a:endParaRPr lang="en-US" sz="2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038600"/>
            <a:ext cx="6311047" cy="2552048"/>
          </a:xfrm>
          <a:prstGeom prst="rect">
            <a:avLst/>
          </a:prstGeom>
          <a:effectLst>
            <a:glow rad="241300">
              <a:schemeClr val="accent1">
                <a:alpha val="40000"/>
              </a:schemeClr>
            </a:glow>
            <a:outerShdw blurRad="266700" dist="800100" dir="2940000" sx="62000" sy="62000" algn="ctr" rotWithShape="0">
              <a:schemeClr val="tx2">
                <a:lumMod val="60000"/>
                <a:lumOff val="40000"/>
                <a:alpha val="83000"/>
              </a:schemeClr>
            </a:outerShdw>
          </a:effectLst>
        </p:spPr>
      </p:pic>
      <p:sp>
        <p:nvSpPr>
          <p:cNvPr id="10" name="Oval 9"/>
          <p:cNvSpPr/>
          <p:nvPr/>
        </p:nvSpPr>
        <p:spPr>
          <a:xfrm>
            <a:off x="1148235" y="2040378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32128" y="2699187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11948" y="3397478"/>
            <a:ext cx="9906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3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sz="4000" dirty="0" smtClean="0"/>
              <a:t>Bootstrap Resources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Copyright © </a:t>
            </a:r>
            <a:r>
              <a:rPr lang="en-SG" dirty="0" err="1" smtClean="0"/>
              <a:t>Nanyang</a:t>
            </a:r>
            <a:r>
              <a:rPr lang="en-SG" dirty="0" smtClean="0"/>
              <a:t> Polytechnic.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51830"/>
            <a:ext cx="8151001" cy="2307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Different CSS / Style sets for your Website.</a:t>
            </a:r>
            <a:endParaRPr lang="en-US" sz="2000" dirty="0" smtClean="0">
              <a:hlinkClick r:id="rId2"/>
            </a:endParaRPr>
          </a:p>
          <a:p>
            <a:r>
              <a:rPr lang="en-US" sz="2000" dirty="0" smtClean="0">
                <a:hlinkClick r:id="rId2"/>
              </a:rPr>
              <a:t>https</a:t>
            </a:r>
            <a:r>
              <a:rPr lang="en-US" sz="2000" dirty="0">
                <a:hlinkClick r:id="rId2"/>
              </a:rPr>
              <a:t>://bootswatch.com</a:t>
            </a:r>
            <a:r>
              <a:rPr lang="en-US" sz="2000" dirty="0" smtClean="0">
                <a:hlinkClick r:id="rId2"/>
              </a:rPr>
              <a:t>/</a:t>
            </a:r>
            <a:r>
              <a:rPr lang="en-US" sz="2000" dirty="0" smtClean="0"/>
              <a:t>         </a:t>
            </a:r>
          </a:p>
          <a:p>
            <a:r>
              <a:rPr lang="en-US" sz="2000" dirty="0" smtClean="0"/>
              <a:t>Just download and replace bootstrap.css in content folder to change styles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7" y="2971194"/>
            <a:ext cx="4980433" cy="403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are bootstrap stored in Web App Project?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967" y="1670304"/>
            <a:ext cx="2905125" cy="490537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project / App that you create on </a:t>
            </a:r>
            <a:r>
              <a:rPr lang="en-US" dirty="0" err="1" smtClean="0"/>
              <a:t>.net</a:t>
            </a:r>
            <a:r>
              <a:rPr lang="en-US" dirty="0" smtClean="0"/>
              <a:t> already have the bootstrap package installed.</a:t>
            </a:r>
          </a:p>
          <a:p>
            <a:r>
              <a:rPr lang="en-US" dirty="0"/>
              <a:t> </a:t>
            </a:r>
            <a:r>
              <a:rPr lang="en-US" dirty="0" smtClean="0"/>
              <a:t>Otherwise you can download as bootstrap package and install it in your project. The package contains the following folders:</a:t>
            </a:r>
          </a:p>
          <a:p>
            <a:pPr lvl="1"/>
            <a:r>
              <a:rPr lang="en-US" dirty="0" smtClean="0"/>
              <a:t>Fonts  - containing the fonts used by your CSS theme</a:t>
            </a:r>
          </a:p>
          <a:p>
            <a:pPr lvl="1"/>
            <a:r>
              <a:rPr lang="en-US" dirty="0" smtClean="0"/>
              <a:t>Content – all the </a:t>
            </a:r>
            <a:r>
              <a:rPr lang="en-US" dirty="0" err="1" smtClean="0"/>
              <a:t>Css</a:t>
            </a:r>
            <a:r>
              <a:rPr lang="en-US" dirty="0" smtClean="0"/>
              <a:t> definition for your web app</a:t>
            </a:r>
          </a:p>
          <a:p>
            <a:pPr lvl="1"/>
            <a:r>
              <a:rPr lang="en-US" dirty="0" smtClean="0"/>
              <a:t>Scripts – </a:t>
            </a:r>
            <a:r>
              <a:rPr lang="en-US" dirty="0" err="1" smtClean="0"/>
              <a:t>Javascript</a:t>
            </a:r>
            <a:r>
              <a:rPr lang="en-US" dirty="0" smtClean="0"/>
              <a:t> files/</a:t>
            </a:r>
            <a:r>
              <a:rPr lang="en-US" dirty="0" err="1" smtClean="0"/>
              <a:t>Jquery</a:t>
            </a:r>
            <a:r>
              <a:rPr lang="en-US" dirty="0" smtClean="0"/>
              <a:t> files associated with the interactive parts of your web app.</a:t>
            </a:r>
          </a:p>
          <a:p>
            <a:pPr lvl="1"/>
            <a:r>
              <a:rPr lang="en-US" dirty="0" err="1" smtClean="0"/>
              <a:t>App_code</a:t>
            </a:r>
            <a:r>
              <a:rPr lang="en-US" dirty="0" smtClean="0"/>
              <a:t> – will contain some files (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BundleConfig.cs</a:t>
            </a:r>
            <a:r>
              <a:rPr lang="en-US" dirty="0" smtClean="0"/>
              <a:t>) that consolidates all the CSS and JS files to optimize your web app performance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899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useful?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40755" y="1219200"/>
            <a:ext cx="4038600" cy="4302125"/>
          </a:xfrm>
        </p:spPr>
        <p:txBody>
          <a:bodyPr/>
          <a:lstStyle/>
          <a:p>
            <a:r>
              <a:rPr lang="en-US" dirty="0" smtClean="0"/>
              <a:t>Define </a:t>
            </a:r>
            <a:r>
              <a:rPr lang="en-US" dirty="0" err="1" smtClean="0"/>
              <a:t>Glyphicons</a:t>
            </a:r>
            <a:endParaRPr lang="en-US" dirty="0" smtClean="0"/>
          </a:p>
          <a:p>
            <a:r>
              <a:rPr lang="en-US" dirty="0" smtClean="0"/>
              <a:t>Define Layout (using the column grid systems)</a:t>
            </a:r>
          </a:p>
          <a:p>
            <a:r>
              <a:rPr lang="en-US" dirty="0" smtClean="0"/>
              <a:t>Define your table, form, button styles</a:t>
            </a:r>
          </a:p>
          <a:p>
            <a:r>
              <a:rPr lang="en-US" dirty="0" smtClean="0"/>
              <a:t>Dealing with images – to auto resize due to different layouts</a:t>
            </a:r>
          </a:p>
          <a:p>
            <a:r>
              <a:rPr lang="en-US" dirty="0" smtClean="0"/>
              <a:t>Validation states, interactive components, and many more</a:t>
            </a:r>
          </a:p>
          <a:p>
            <a:endParaRPr lang="en-US" dirty="0"/>
          </a:p>
          <a:p>
            <a:r>
              <a:rPr lang="en-US" dirty="0"/>
              <a:t>Explore more at http://getbootstrap.com/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63830" y="3480725"/>
            <a:ext cx="3129230" cy="27432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18" y="249160"/>
            <a:ext cx="3576455" cy="28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8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get bootstrap?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26601461"/>
              </p:ext>
            </p:extLst>
          </p:nvPr>
        </p:nvGraphicFramePr>
        <p:xfrm>
          <a:off x="404114" y="1295401"/>
          <a:ext cx="65532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4450081"/>
                <a:gridCol w="792479"/>
              </a:tblGrid>
              <a:tr h="746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http://getbootstrap.com/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528795" y="4765705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https://www.youtube.com/watch?v=GU6EWzBGo64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1206" y="3103568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https://youtu.be/314m7YBRFvQ?list=PL6n9fhu94yhXd4xnk-j5FGhHjUv1LsF0V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04114" y="2378299"/>
            <a:ext cx="8229600" cy="6697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Why Bootstrap? 6min 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90976" y="4045695"/>
            <a:ext cx="8229600" cy="6697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Why Explained? 5min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01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A69A8-2B87-4A08-A2B9-CAFBC283C6ED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Wait there’s more! Introducing</a:t>
            </a:r>
            <a:br>
              <a:rPr lang="en-US" dirty="0" smtClean="0"/>
            </a:br>
            <a:r>
              <a:rPr lang="en-US" dirty="0" smtClean="0"/>
              <a:t>Materialize 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9816" y="2330114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https://www.youtube.com/watch?v=sDARfYsFRd0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76" y="1027927"/>
            <a:ext cx="4062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  <a:latin typeface="Calibri" panose="020F0502020204030204" pitchFamily="34" charset="0"/>
              </a:rPr>
              <a:t>http://materializecss.com/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76" y="3682007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https://www.youtube.com/watch?v=13DOUHwH-iM</a:t>
            </a:r>
          </a:p>
        </p:txBody>
      </p:sp>
      <p:sp>
        <p:nvSpPr>
          <p:cNvPr id="12" name="Title 6"/>
          <p:cNvSpPr txBox="1">
            <a:spLocks/>
          </p:cNvSpPr>
          <p:nvPr/>
        </p:nvSpPr>
        <p:spPr>
          <a:xfrm>
            <a:off x="86710" y="2897750"/>
            <a:ext cx="7848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Examples sites using Materialize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49816" y="5006113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https://www.youtube.com/watch?v=nsKi9xPU-AE</a:t>
            </a:r>
          </a:p>
        </p:txBody>
      </p:sp>
      <p:sp>
        <p:nvSpPr>
          <p:cNvPr id="14" name="Title 6"/>
          <p:cNvSpPr txBox="1">
            <a:spLocks/>
          </p:cNvSpPr>
          <p:nvPr/>
        </p:nvSpPr>
        <p:spPr>
          <a:xfrm>
            <a:off x="152400" y="4250838"/>
            <a:ext cx="9906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How about a Carousel?</a:t>
            </a:r>
            <a:endParaRPr lang="en-US" dirty="0"/>
          </a:p>
        </p:txBody>
      </p:sp>
      <p:sp>
        <p:nvSpPr>
          <p:cNvPr id="15" name="Title 6"/>
          <p:cNvSpPr txBox="1">
            <a:spLocks/>
          </p:cNvSpPr>
          <p:nvPr/>
        </p:nvSpPr>
        <p:spPr>
          <a:xfrm>
            <a:off x="76200" y="1744161"/>
            <a:ext cx="7848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006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1036</TotalTime>
  <Words>2057</Words>
  <Application>Microsoft Office PowerPoint</Application>
  <PresentationFormat>On-screen Show (4:3)</PresentationFormat>
  <Paragraphs>313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Lecture LA03: Master Page, CSS and Bootstrap 3.0</vt:lpstr>
      <vt:lpstr>Contents</vt:lpstr>
      <vt:lpstr>Introduction</vt:lpstr>
      <vt:lpstr>How a Master Page works</vt:lpstr>
      <vt:lpstr>How a Master Page works</vt:lpstr>
      <vt:lpstr>How a Master Page works</vt:lpstr>
      <vt:lpstr>How to create a Master Page</vt:lpstr>
      <vt:lpstr>Codes generated in a Master Page</vt:lpstr>
      <vt:lpstr>How to create a Content Page</vt:lpstr>
      <vt:lpstr>How to create a Content Page</vt:lpstr>
      <vt:lpstr>Codes generated in a Content Page</vt:lpstr>
      <vt:lpstr>Example</vt:lpstr>
      <vt:lpstr>Masterpages explained in 10 minutes</vt:lpstr>
      <vt:lpstr>Cascading Style Sheets</vt:lpstr>
      <vt:lpstr>Introduction</vt:lpstr>
      <vt:lpstr>What are Cascading Style Sheets?</vt:lpstr>
      <vt:lpstr>CSS Basics</vt:lpstr>
      <vt:lpstr>CSS Basics</vt:lpstr>
      <vt:lpstr>Example</vt:lpstr>
      <vt:lpstr>CSS Basics</vt:lpstr>
      <vt:lpstr>CSS Basics</vt:lpstr>
      <vt:lpstr>Example</vt:lpstr>
      <vt:lpstr>CSS Basics</vt:lpstr>
      <vt:lpstr>CSS Basics</vt:lpstr>
      <vt:lpstr>CSS Basics</vt:lpstr>
      <vt:lpstr>Cascading Style Sheets : Example</vt:lpstr>
      <vt:lpstr>Bootstrap</vt:lpstr>
      <vt:lpstr>Cascading Style Sheets : Example</vt:lpstr>
      <vt:lpstr>What is Bootstrap</vt:lpstr>
      <vt:lpstr>Bootstrap framework takes care of different device layouts. Eg. Laptop, Tablet or Mobile</vt:lpstr>
      <vt:lpstr>Use Chrome or IE to test your app on the different devices.</vt:lpstr>
      <vt:lpstr>Bootstrap uses a Grid System Framework  </vt:lpstr>
      <vt:lpstr>Example 1 – Columns (4-4-4)</vt:lpstr>
      <vt:lpstr>Example 2 – Columns (2-8-2)</vt:lpstr>
      <vt:lpstr>Bootstrap Resources</vt:lpstr>
      <vt:lpstr>Where are bootstrap stored in Web App Project?</vt:lpstr>
      <vt:lpstr>How useful?</vt:lpstr>
      <vt:lpstr>Where to get bootstrap?</vt:lpstr>
      <vt:lpstr>Wait there’s more! Introducing Materialize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77</cp:revision>
  <cp:lastPrinted>2012-04-06T13:07:51Z</cp:lastPrinted>
  <dcterms:created xsi:type="dcterms:W3CDTF">1601-01-01T00:00:00Z</dcterms:created>
  <dcterms:modified xsi:type="dcterms:W3CDTF">2017-04-04T07:13:26Z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