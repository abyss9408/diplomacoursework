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82" r:id="rId6"/>
    <p:sldId id="258" r:id="rId7"/>
    <p:sldId id="285" r:id="rId8"/>
    <p:sldId id="286" r:id="rId9"/>
    <p:sldId id="287" r:id="rId10"/>
    <p:sldId id="288" r:id="rId11"/>
    <p:sldId id="289" r:id="rId12"/>
    <p:sldId id="291" r:id="rId13"/>
    <p:sldId id="290" r:id="rId14"/>
    <p:sldId id="293" r:id="rId15"/>
    <p:sldId id="294" r:id="rId16"/>
    <p:sldId id="292" r:id="rId17"/>
    <p:sldId id="284" r:id="rId18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2" autoAdjust="0"/>
  </p:normalViewPr>
  <p:slideViewPr>
    <p:cSldViewPr snapToObjects="1">
      <p:cViewPr varScale="1">
        <p:scale>
          <a:sx n="79" d="100"/>
          <a:sy n="79" d="100"/>
        </p:scale>
        <p:origin x="13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4" d="100"/>
          <a:sy n="54" d="100"/>
        </p:scale>
        <p:origin x="-2850" y="-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 smtClean="0"/>
              <a:t>Topic 1 – Introduction</a:t>
            </a:r>
          </a:p>
          <a:p>
            <a:r>
              <a:rPr lang="en-US" sz="1100" dirty="0" smtClean="0"/>
              <a:t>AY2012 S2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 smtClean="0"/>
              <a:t>Page </a:t>
            </a:r>
            <a:fld id="{614830C6-7046-4E73-B492-EB73775AC0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-5905"/>
            <a:ext cx="6784975" cy="38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28" tIns="47964" rIns="95928" bIns="4796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51805" y="641977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94003" y="257009"/>
            <a:ext cx="1745436" cy="266142"/>
          </a:xfrm>
          <a:prstGeom prst="rect">
            <a:avLst/>
          </a:prstGeom>
          <a:noFill/>
        </p:spPr>
        <p:txBody>
          <a:bodyPr wrap="none" lIns="95928" tIns="47964" rIns="95928" bIns="47964" rtlCol="0">
            <a:spAutoFit/>
          </a:bodyPr>
          <a:lstStyle/>
          <a:p>
            <a:r>
              <a:rPr lang="en-US" sz="1100" dirty="0" smtClean="0"/>
              <a:t>IT3522 Operations Security</a:t>
            </a:r>
            <a:endParaRPr lang="en-US" sz="1100" dirty="0"/>
          </a:p>
        </p:txBody>
      </p:sp>
      <p:pic>
        <p:nvPicPr>
          <p:cNvPr id="2" name="Picture 1" descr="Corporate NYP Logo_Horizontal_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0" y="209539"/>
            <a:ext cx="1219200" cy="2865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77280" y="8905056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49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AB120-A64C-4DD7-98EB-8987E88416F3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95C9-DA15-4933-A48E-633206A8F3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6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45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14290"/>
            <a:ext cx="8064896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>
            <a:lvl1pPr>
              <a:buClr>
                <a:schemeClr val="tx1"/>
              </a:buClr>
              <a:defRPr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/>
            </a:lvl2pPr>
            <a:lvl3pPr>
              <a:buClr>
                <a:schemeClr val="tx1"/>
              </a:buClr>
              <a:defRPr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/>
            </a:lvl4pPr>
            <a:lvl5pPr>
              <a:buClr>
                <a:schemeClr val="tx1"/>
              </a:buClr>
              <a:defRPr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9551" y="908720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551" y="1124744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53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12160" y="6416675"/>
            <a:ext cx="205575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39551" y="6416675"/>
            <a:ext cx="537659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30042" y="6400800"/>
            <a:ext cx="474406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539552" y="512763"/>
            <a:ext cx="806489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39552" y="1784350"/>
            <a:ext cx="80648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72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hyperlink" Target="16-17%20BCP%202.5.3%20Planning,%20Testing,%20and%20Operational%20Continuity%20-%20CompTIA%20Security+%20SY0-301_%202.5%20-%20YouTube%20%5b480p%5d.flv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0" y="100608"/>
            <a:ext cx="8611344" cy="1600200"/>
          </a:xfrm>
        </p:spPr>
        <p:txBody>
          <a:bodyPr/>
          <a:lstStyle/>
          <a:p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IT2775 </a:t>
            </a:r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Operations Security</a:t>
            </a:r>
            <a:r>
              <a:rPr lang="en-GB" sz="3600" dirty="0" smtClean="0">
                <a:latin typeface="+mj-lt"/>
              </a:rPr>
              <a:t/>
            </a:r>
            <a:br>
              <a:rPr lang="en-GB" sz="3600" dirty="0" smtClean="0">
                <a:latin typeface="+mj-lt"/>
              </a:rPr>
            </a:br>
            <a:r>
              <a:rPr lang="en-GB" sz="3600" dirty="0" smtClean="0">
                <a:latin typeface="+mj-lt"/>
              </a:rPr>
              <a:t>BCP: Continuity and Review</a:t>
            </a:r>
            <a:endParaRPr lang="en-GB" sz="3600" dirty="0">
              <a:latin typeface="+mj-lt"/>
            </a:endParaRPr>
          </a:p>
        </p:txBody>
      </p:sp>
      <p:pic>
        <p:nvPicPr>
          <p:cNvPr id="28674" name="Picture 2" descr="http://staffportal.nyp.edu.sg/portal/page/portal/COMPublicPageGroup/PublicPage/nyp_logo/corporate_nyp_logo-horizontal/Corporate-NYP-Logo_Horizonta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6237312"/>
            <a:ext cx="2428875" cy="571501"/>
          </a:xfrm>
          <a:prstGeom prst="rect">
            <a:avLst/>
          </a:prstGeom>
          <a:noFill/>
        </p:spPr>
      </p:pic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7" name="Picture 3" descr="D:\Downloads\1. Acad\IT3522 Operations Security\Lectures\Reference\Images\9 BCP 3\Wk 13 Image  Business Continuity Planning &amp; Disaster Recovery 3_112886m_attempt_2013-07-16-16-52-51_wk13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67744" y="1577599"/>
            <a:ext cx="4310062" cy="39955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Objectives</a:t>
            </a:r>
            <a:endParaRPr lang="en-SG" dirty="0">
              <a:latin typeface="+mj-lt"/>
            </a:endParaRPr>
          </a:p>
        </p:txBody>
      </p:sp>
      <p:sp>
        <p:nvSpPr>
          <p:cNvPr id="2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SG" dirty="0" smtClean="0"/>
              <a:t>P3. Business Continuity Phase (what, when)</a:t>
            </a:r>
          </a:p>
          <a:p>
            <a:pPr lvl="1"/>
            <a:r>
              <a:rPr lang="en-SG" dirty="0" smtClean="0"/>
              <a:t>Recovery validation (3 areas)</a:t>
            </a:r>
          </a:p>
          <a:p>
            <a:pPr lvl="1"/>
            <a:r>
              <a:rPr lang="en-SG" dirty="0" smtClean="0"/>
              <a:t>Business continuity checklist (3 areas)</a:t>
            </a:r>
          </a:p>
          <a:p>
            <a:r>
              <a:rPr lang="en-SG" dirty="0" smtClean="0"/>
              <a:t>P4. Review Phase (why, when)</a:t>
            </a:r>
          </a:p>
          <a:p>
            <a:pPr lvl="1"/>
            <a:r>
              <a:rPr lang="en-SG" dirty="0" smtClean="0"/>
              <a:t>BCP Testing</a:t>
            </a:r>
          </a:p>
          <a:p>
            <a:pPr lvl="1"/>
            <a:r>
              <a:rPr lang="en-SG" dirty="0" smtClean="0"/>
              <a:t>BCP Audit</a:t>
            </a:r>
          </a:p>
          <a:p>
            <a:endParaRPr lang="en-SG" dirty="0" smtClean="0"/>
          </a:p>
          <a:p>
            <a:endParaRPr lang="en-GB" dirty="0" smtClean="0"/>
          </a:p>
        </p:txBody>
      </p:sp>
      <p:pic>
        <p:nvPicPr>
          <p:cNvPr id="2050" name="Picture 2" descr="D:\Downloads\1. Acad\IT3522 Operations Security\Lectures\Reference\Images\8 BCP 2\Wk 12 Image  Business Continuity Planning &amp; Disaster Recovery 2_113324z_attempt_2013-07-16-16-31-58_CartoonPlanB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453" y="3429000"/>
            <a:ext cx="4868019" cy="29078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P3. Business Continuity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What: Steps to ensure business can operate “normally” are defined.</a:t>
            </a:r>
          </a:p>
          <a:p>
            <a:r>
              <a:rPr lang="en-SG" dirty="0" smtClean="0"/>
              <a:t>When: After recovery phase, when effects of disruption had been addressed</a:t>
            </a:r>
          </a:p>
          <a:p>
            <a:r>
              <a:rPr lang="en-SG" dirty="0" smtClean="0"/>
              <a:t>It includes …</a:t>
            </a:r>
          </a:p>
          <a:p>
            <a:pPr lvl="1"/>
            <a:r>
              <a:rPr lang="en-SG" dirty="0" smtClean="0"/>
              <a:t>Resume operations from a temporary location</a:t>
            </a:r>
          </a:p>
          <a:p>
            <a:pPr lvl="1"/>
            <a:r>
              <a:rPr lang="en-SG" dirty="0" smtClean="0"/>
              <a:t>Workarounds to be implemented</a:t>
            </a:r>
          </a:p>
          <a:p>
            <a:pPr lvl="1"/>
            <a:r>
              <a:rPr lang="en-SG" dirty="0" smtClean="0"/>
              <a:t>Manual methods to be used during interim period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P3. Business Continuity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Final steps in the phase will address:</a:t>
            </a:r>
          </a:p>
          <a:p>
            <a:pPr lvl="1"/>
            <a:r>
              <a:rPr lang="en-SG" dirty="0" smtClean="0"/>
              <a:t>Move back to repaired facility (permanent location)</a:t>
            </a:r>
          </a:p>
          <a:p>
            <a:pPr lvl="1"/>
            <a:r>
              <a:rPr lang="en-SG" dirty="0" smtClean="0"/>
              <a:t>Reintegrate or synchronize data</a:t>
            </a:r>
          </a:p>
          <a:p>
            <a:pPr lvl="1"/>
            <a:r>
              <a:rPr lang="en-SG" dirty="0" smtClean="0"/>
              <a:t>Transition back to normal operations</a:t>
            </a:r>
          </a:p>
          <a:p>
            <a:r>
              <a:rPr lang="en-SG" dirty="0" smtClean="0"/>
              <a:t>Upon returning to the repaired facility, validation of recovery is needed to ensure</a:t>
            </a:r>
          </a:p>
          <a:p>
            <a:pPr lvl="1"/>
            <a:r>
              <a:rPr lang="en-SG" dirty="0" smtClean="0"/>
              <a:t>data integrity </a:t>
            </a:r>
          </a:p>
          <a:p>
            <a:pPr lvl="1"/>
            <a:r>
              <a:rPr lang="en-SG" dirty="0" smtClean="0"/>
              <a:t>system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P3. Business Continuity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Recovery Validation</a:t>
            </a:r>
          </a:p>
          <a:p>
            <a:pPr lvl="1"/>
            <a:r>
              <a:rPr lang="en-SG" dirty="0" smtClean="0"/>
              <a:t>Data Validation - process of validating recovered data to ensure that they have been recovered completely and are current.</a:t>
            </a:r>
          </a:p>
          <a:p>
            <a:pPr lvl="1"/>
            <a:r>
              <a:rPr lang="en-SG" dirty="0" smtClean="0"/>
              <a:t>Functionality Validation - process of validating all system functionalities has been tested and the system is ready to return to normal operations.</a:t>
            </a:r>
          </a:p>
          <a:p>
            <a:pPr lvl="1"/>
            <a:r>
              <a:rPr lang="en-SG" dirty="0"/>
              <a:t>Concurrent Operations - process of concurrently running a system at two separate locations. This is done until we are satisfied that the recovered system is operating correctly and reliably.</a:t>
            </a:r>
          </a:p>
          <a:p>
            <a:pPr marL="454025" lvl="1" indent="0">
              <a:buNone/>
            </a:pPr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P3. Business Continuity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Business Continuity Checklist</a:t>
            </a:r>
          </a:p>
          <a:p>
            <a:pPr lvl="1"/>
            <a:r>
              <a:rPr lang="en-SG" dirty="0" smtClean="0"/>
              <a:t>Resuming Operations</a:t>
            </a:r>
          </a:p>
          <a:p>
            <a:pPr lvl="2"/>
            <a:r>
              <a:rPr lang="en-SG" dirty="0" smtClean="0"/>
              <a:t>If original location is feasible, resume operations there so that there is no need for an alternate site.</a:t>
            </a:r>
          </a:p>
          <a:p>
            <a:pPr lvl="2"/>
            <a:r>
              <a:rPr lang="en-SG" dirty="0" smtClean="0"/>
              <a:t>Ensure IT and other infrastructure are in place.</a:t>
            </a:r>
          </a:p>
          <a:p>
            <a:pPr lvl="2"/>
            <a:r>
              <a:rPr lang="en-SG" dirty="0" smtClean="0"/>
              <a:t>Review BCP/DR plan to identify critical business processes which need to be included.</a:t>
            </a:r>
          </a:p>
          <a:p>
            <a:pPr lvl="2"/>
            <a:r>
              <a:rPr lang="en-SG" dirty="0" smtClean="0"/>
              <a:t>Review BCP/DR plan to update Maximum Tolerable Downtime (MTD).</a:t>
            </a:r>
          </a:p>
          <a:p>
            <a:pPr lvl="2"/>
            <a:r>
              <a:rPr lang="en-SG" dirty="0" smtClean="0"/>
              <a:t>Adjust plans for resuming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P3. Business Continuity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Business Continuity Checklist</a:t>
            </a:r>
          </a:p>
          <a:p>
            <a:pPr lvl="1"/>
            <a:r>
              <a:rPr lang="en-SG" dirty="0" smtClean="0"/>
              <a:t>Human resources</a:t>
            </a:r>
          </a:p>
          <a:p>
            <a:pPr lvl="2"/>
            <a:r>
              <a:rPr lang="en-SG" dirty="0" smtClean="0"/>
              <a:t>Ensure employees are accounted for.</a:t>
            </a:r>
          </a:p>
          <a:p>
            <a:pPr lvl="2"/>
            <a:r>
              <a:rPr lang="en-SG" dirty="0" smtClean="0"/>
              <a:t>Identify personnel issues (medical, insurance) resulting from the disruption.</a:t>
            </a:r>
          </a:p>
          <a:p>
            <a:pPr lvl="2"/>
            <a:r>
              <a:rPr lang="en-SG" dirty="0" smtClean="0"/>
              <a:t>Develop status report for crisis management team.</a:t>
            </a:r>
          </a:p>
          <a:p>
            <a:pPr lvl="1"/>
            <a:r>
              <a:rPr lang="en-SG" dirty="0" smtClean="0"/>
              <a:t>Insurance and legal</a:t>
            </a:r>
          </a:p>
          <a:p>
            <a:pPr lvl="2"/>
            <a:r>
              <a:rPr lang="en-SG" dirty="0" smtClean="0"/>
              <a:t>Review insurance and notify insurance company.</a:t>
            </a:r>
          </a:p>
          <a:p>
            <a:pPr lvl="2"/>
            <a:r>
              <a:rPr lang="en-SG" dirty="0" smtClean="0"/>
              <a:t>Conduct assessment of damage.</a:t>
            </a:r>
          </a:p>
          <a:p>
            <a:pPr lvl="2"/>
            <a:r>
              <a:rPr lang="en-SG" dirty="0" smtClean="0"/>
              <a:t>Develop status report for CMT.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Why: </a:t>
            </a:r>
          </a:p>
          <a:p>
            <a:pPr lvl="1"/>
            <a:r>
              <a:rPr lang="en-SG" dirty="0" smtClean="0"/>
              <a:t>To ensure that BCP is still current and relevant due to changes in the business environment.</a:t>
            </a:r>
          </a:p>
          <a:p>
            <a:r>
              <a:rPr lang="en-SG" dirty="0" smtClean="0"/>
              <a:t>When: Business environment changes</a:t>
            </a:r>
          </a:p>
          <a:p>
            <a:pPr lvl="1"/>
            <a:r>
              <a:rPr lang="en-SG" dirty="0" smtClean="0"/>
              <a:t>Corporate changes (mergers, restructuring, etc)</a:t>
            </a:r>
          </a:p>
          <a:p>
            <a:pPr lvl="1"/>
            <a:r>
              <a:rPr lang="en-SG" dirty="0" smtClean="0"/>
              <a:t>Legal/Regulatory/Compliance changes</a:t>
            </a:r>
          </a:p>
          <a:p>
            <a:pPr lvl="1"/>
            <a:r>
              <a:rPr lang="en-SG" dirty="0" smtClean="0"/>
              <a:t>Operations changes</a:t>
            </a:r>
          </a:p>
          <a:p>
            <a:pPr lvl="1"/>
            <a:r>
              <a:rPr lang="en-SG" dirty="0" smtClean="0"/>
              <a:t>Technology changes</a:t>
            </a:r>
          </a:p>
          <a:p>
            <a:pPr lvl="1"/>
            <a:r>
              <a:rPr lang="en-SG" dirty="0" smtClean="0"/>
              <a:t>Occurs even if BCP is not activated.</a:t>
            </a:r>
          </a:p>
        </p:txBody>
      </p:sp>
      <p:pic>
        <p:nvPicPr>
          <p:cNvPr id="1026" name="Picture 2" descr="D:\Downloads\1. Acad\IT3522 Operations Security\Lectures\Reference\Images\4. CM\Wk 5 Image  Configuration and Change Management_111338r_attempt_2013-05-14-00-22-15_images (1)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5098" y="4077072"/>
            <a:ext cx="2419350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Review should include the following:</a:t>
            </a:r>
          </a:p>
          <a:p>
            <a:pPr lvl="1"/>
            <a:r>
              <a:rPr lang="en-SG" dirty="0" smtClean="0"/>
              <a:t>Operational, technical and security requirements</a:t>
            </a:r>
          </a:p>
          <a:p>
            <a:pPr lvl="1"/>
            <a:r>
              <a:rPr lang="en-SG" dirty="0" smtClean="0"/>
              <a:t>Alternate and offsite facility requirements</a:t>
            </a:r>
          </a:p>
          <a:p>
            <a:pPr lvl="1"/>
            <a:r>
              <a:rPr lang="en-SG" dirty="0" smtClean="0"/>
              <a:t>Hardware, software, and other equipment (types, specifications, and amount)</a:t>
            </a:r>
          </a:p>
          <a:p>
            <a:pPr lvl="1"/>
            <a:r>
              <a:rPr lang="en-SG" dirty="0" smtClean="0"/>
              <a:t>Contact information of team members (often change due to staff turnover)</a:t>
            </a:r>
          </a:p>
          <a:p>
            <a:pPr lvl="1"/>
            <a:r>
              <a:rPr lang="en-SG" dirty="0" smtClean="0"/>
              <a:t>Vendors </a:t>
            </a:r>
            <a:r>
              <a:rPr lang="en-SG" smtClean="0"/>
              <a:t>(include </a:t>
            </a:r>
            <a:r>
              <a:rPr lang="en-SG" dirty="0" smtClean="0"/>
              <a:t>alternate and offsite vendor POCs)</a:t>
            </a:r>
          </a:p>
          <a:p>
            <a:pPr lvl="1"/>
            <a:r>
              <a:rPr lang="en-SG" dirty="0" smtClean="0"/>
              <a:t>Vital records (electronic and hardcopy)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Workflow of BCP Review</a:t>
            </a:r>
          </a:p>
        </p:txBody>
      </p:sp>
      <p:pic>
        <p:nvPicPr>
          <p:cNvPr id="6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2600" y="1917240"/>
            <a:ext cx="5140325" cy="4536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5940156" y="1268760"/>
            <a:ext cx="2520276" cy="378000"/>
            <a:chOff x="6438520" y="4971363"/>
            <a:chExt cx="2035622" cy="378000"/>
          </a:xfrm>
        </p:grpSpPr>
        <p:sp>
          <p:nvSpPr>
            <p:cNvPr id="8" name="TextBox 7"/>
            <p:cNvSpPr txBox="1"/>
            <p:nvPr/>
          </p:nvSpPr>
          <p:spPr>
            <a:xfrm>
              <a:off x="6840090" y="4973026"/>
              <a:ext cx="163405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Plan, Test, Continue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9" name="Picture 3" descr="C:\Users\jamesg\AppData\Local\Microsoft\Windows\Temporary Internet Files\Content.IE5\AEEX0XL3\MP900430958[1].jpg">
              <a:hlinkClick r:id="rId4" action="ppaction://hlinkfile"/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800" dirty="0" smtClean="0"/>
              <a:t>BCP Testing Objectives</a:t>
            </a:r>
          </a:p>
          <a:p>
            <a:pPr lvl="1"/>
            <a:r>
              <a:rPr lang="en-SG" sz="2400" dirty="0" smtClean="0"/>
              <a:t>Check for understanding of processes and procedures.</a:t>
            </a:r>
          </a:p>
          <a:p>
            <a:pPr lvl="1"/>
            <a:r>
              <a:rPr lang="en-SG" sz="2400" dirty="0" smtClean="0"/>
              <a:t>Validate the integration of tasks across departments.</a:t>
            </a:r>
          </a:p>
          <a:p>
            <a:pPr lvl="1"/>
            <a:r>
              <a:rPr lang="en-SG" sz="2400" dirty="0" smtClean="0"/>
              <a:t>Confirm the steps for each phase of the plan’s execution.</a:t>
            </a:r>
          </a:p>
          <a:p>
            <a:pPr lvl="1"/>
            <a:r>
              <a:rPr lang="en-SG" sz="2400" dirty="0" smtClean="0"/>
              <a:t>Determine that right resources have been allocated.</a:t>
            </a:r>
          </a:p>
          <a:p>
            <a:pPr lvl="1"/>
            <a:r>
              <a:rPr lang="en-SG" sz="2400" dirty="0" smtClean="0"/>
              <a:t>Familiarize all parties on process and flow of information.</a:t>
            </a:r>
          </a:p>
          <a:p>
            <a:pPr lvl="1"/>
            <a:r>
              <a:rPr lang="en-SG" sz="2400" dirty="0" smtClean="0"/>
              <a:t>Identify gaps or weaknesses in the plan.</a:t>
            </a:r>
          </a:p>
          <a:p>
            <a:pPr lvl="1"/>
            <a:r>
              <a:rPr lang="en-SG" sz="2400" dirty="0" smtClean="0"/>
              <a:t>Determine cost and feasibility.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4125460" cy="5112568"/>
          </a:xfrm>
        </p:spPr>
        <p:txBody>
          <a:bodyPr/>
          <a:lstStyle/>
          <a:p>
            <a:r>
              <a:rPr lang="en-SG" sz="2800" dirty="0" smtClean="0"/>
              <a:t>BCP Testing examples</a:t>
            </a:r>
          </a:p>
          <a:p>
            <a:pPr lvl="1"/>
            <a:r>
              <a:rPr lang="en-SG" sz="2400" dirty="0" smtClean="0"/>
              <a:t>Notification procedures</a:t>
            </a:r>
          </a:p>
          <a:p>
            <a:pPr lvl="1"/>
            <a:r>
              <a:rPr lang="en-SG" sz="2400" dirty="0" smtClean="0"/>
              <a:t>Internal and external connectivity</a:t>
            </a:r>
          </a:p>
          <a:p>
            <a:pPr lvl="1"/>
            <a:r>
              <a:rPr lang="en-SG" sz="2400" dirty="0" smtClean="0"/>
              <a:t>Recovery on alternate platform from backup media</a:t>
            </a:r>
          </a:p>
          <a:p>
            <a:pPr lvl="1"/>
            <a:r>
              <a:rPr lang="en-SG" sz="2400" dirty="0" smtClean="0"/>
              <a:t>System performance using alternate equipment</a:t>
            </a:r>
          </a:p>
          <a:p>
            <a:pPr lvl="1"/>
            <a:r>
              <a:rPr lang="en-SG" sz="2400" dirty="0" smtClean="0"/>
              <a:t>Restoration of normal operations</a:t>
            </a:r>
          </a:p>
        </p:txBody>
      </p:sp>
      <p:pic>
        <p:nvPicPr>
          <p:cNvPr id="6" name="Picture 2" descr="D:\Downloads\1. Acad\IT3522 Operations Security\Lectures\Reference\Images\7 BCP\Wk 11 Image  Business Continuity Planning &amp; Disaster Recovery_112886m_attempt_2013-07-16-16-50-20_wk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9992" y="1412776"/>
            <a:ext cx="4478988" cy="4592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P4. Review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BCP Audit:</a:t>
            </a:r>
          </a:p>
          <a:p>
            <a:pPr lvl="1"/>
            <a:r>
              <a:rPr lang="en-SG" dirty="0" smtClean="0"/>
              <a:t>Auditing is an impartial review to see if the plan meets the overall needs of the organization.</a:t>
            </a:r>
          </a:p>
          <a:p>
            <a:pPr lvl="1"/>
            <a:r>
              <a:rPr lang="en-SG" dirty="0" smtClean="0"/>
              <a:t>Auditing a BCP is NOT testing the plan.</a:t>
            </a:r>
          </a:p>
          <a:p>
            <a:pPr lvl="1"/>
            <a:r>
              <a:rPr lang="en-SG" dirty="0" smtClean="0"/>
              <a:t>Audit plan should include :</a:t>
            </a:r>
          </a:p>
          <a:p>
            <a:pPr lvl="2"/>
            <a:r>
              <a:rPr lang="en-SG" dirty="0" smtClean="0"/>
              <a:t>Audit scope, timeline, requirements and constraints</a:t>
            </a:r>
          </a:p>
          <a:p>
            <a:pPr lvl="2"/>
            <a:r>
              <a:rPr lang="en-SG" dirty="0" smtClean="0"/>
              <a:t>Review corporate risks and risk management strategies</a:t>
            </a:r>
          </a:p>
          <a:p>
            <a:pPr lvl="2"/>
            <a:r>
              <a:rPr lang="en-SG" dirty="0" smtClean="0"/>
              <a:t>Review business impact</a:t>
            </a:r>
          </a:p>
          <a:p>
            <a:pPr lvl="2"/>
            <a:r>
              <a:rPr lang="en-SG" dirty="0" smtClean="0"/>
              <a:t>Review BCP development plan and activities</a:t>
            </a:r>
          </a:p>
          <a:p>
            <a:pPr lvl="2"/>
            <a:r>
              <a:rPr lang="en-SG" dirty="0" smtClean="0"/>
              <a:t>Review BCP test plans and activities</a:t>
            </a:r>
          </a:p>
          <a:p>
            <a:pPr lvl="2"/>
            <a:r>
              <a:rPr lang="en-SG" dirty="0" smtClean="0"/>
              <a:t>Review BCP training plans and activities</a:t>
            </a:r>
          </a:p>
          <a:p>
            <a:pPr lvl="2"/>
            <a:r>
              <a:rPr lang="en-SG" dirty="0" smtClean="0"/>
              <a:t>Review BCP change management, update processes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7488832" cy="914400"/>
          </a:xfrm>
        </p:spPr>
        <p:txBody>
          <a:bodyPr/>
          <a:lstStyle/>
          <a:p>
            <a:r>
              <a:rPr lang="en-GB" dirty="0" smtClean="0"/>
              <a:t>Summary</a:t>
            </a:r>
            <a:endParaRPr lang="en-SG" dirty="0">
              <a:latin typeface="+mj-lt"/>
            </a:endParaRPr>
          </a:p>
        </p:txBody>
      </p:sp>
      <p:sp>
        <p:nvSpPr>
          <p:cNvPr id="19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SG" dirty="0" smtClean="0"/>
              <a:t>P3. Business Continuity Phase (what, when)</a:t>
            </a:r>
          </a:p>
          <a:p>
            <a:pPr lvl="1"/>
            <a:r>
              <a:rPr lang="en-SG" dirty="0" smtClean="0"/>
              <a:t>Recovery validation (3 areas)</a:t>
            </a:r>
          </a:p>
          <a:p>
            <a:pPr lvl="2"/>
            <a:r>
              <a:rPr lang="en-SG" dirty="0" smtClean="0"/>
              <a:t>Concurrent Ops, Data  Validation, Functionality Validation</a:t>
            </a:r>
          </a:p>
          <a:p>
            <a:pPr lvl="1"/>
            <a:r>
              <a:rPr lang="en-SG" dirty="0" smtClean="0"/>
              <a:t>Business continuity checklist (3 areas)</a:t>
            </a:r>
          </a:p>
          <a:p>
            <a:pPr lvl="2"/>
            <a:r>
              <a:rPr lang="en-SG" dirty="0" smtClean="0"/>
              <a:t>Resuming Ops, Human Resources, Insurance/Legal</a:t>
            </a:r>
          </a:p>
          <a:p>
            <a:r>
              <a:rPr lang="en-SG" dirty="0" smtClean="0"/>
              <a:t>P4. Review Phase (why, when)</a:t>
            </a:r>
          </a:p>
          <a:p>
            <a:pPr lvl="1"/>
            <a:r>
              <a:rPr lang="en-SG" dirty="0" smtClean="0"/>
              <a:t>BCP Testing</a:t>
            </a:r>
          </a:p>
          <a:p>
            <a:pPr lvl="1"/>
            <a:r>
              <a:rPr lang="en-SG" dirty="0" smtClean="0"/>
              <a:t>BCP Audit</a:t>
            </a:r>
          </a:p>
          <a:p>
            <a:endParaRPr lang="en-SG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7F9582DE2E34698E4DD99897B51E5" ma:contentTypeVersion="" ma:contentTypeDescription="Create a new document." ma:contentTypeScope="" ma:versionID="dd33e23194071e0c573bb55de309d7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6B1ABA4-B368-4916-8F32-060C062799D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B14A821-34DD-4553-9EBD-060DD84E1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0D4067-A443-4F28-BB83-C699D1A850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15155</TotalTime>
  <Words>722</Words>
  <Application>Microsoft Office PowerPoint</Application>
  <PresentationFormat>On-screen Show (4:3)</PresentationFormat>
  <Paragraphs>117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Myriad Pro Cond</vt:lpstr>
      <vt:lpstr>Calibri</vt:lpstr>
      <vt:lpstr>Wingdings</vt:lpstr>
      <vt:lpstr>Wingdings 2</vt:lpstr>
      <vt:lpstr>Wingdings 3</vt:lpstr>
      <vt:lpstr>DIS</vt:lpstr>
      <vt:lpstr>IT2775 Operations Security BCP: Continuity and Review</vt:lpstr>
      <vt:lpstr>Objectives</vt:lpstr>
      <vt:lpstr>P3. Business Continuity Phase</vt:lpstr>
      <vt:lpstr>P3. Business Continuity Phase</vt:lpstr>
      <vt:lpstr>P3. Business Continuity Phase</vt:lpstr>
      <vt:lpstr>P3. Business Continuity Phase</vt:lpstr>
      <vt:lpstr>P3. Business Continuity Phase</vt:lpstr>
      <vt:lpstr>P4. Review Phase</vt:lpstr>
      <vt:lpstr>P4. Review Phase</vt:lpstr>
      <vt:lpstr>P4. Review Phase</vt:lpstr>
      <vt:lpstr>P4. Review Phase</vt:lpstr>
      <vt:lpstr>P4. Review Phase</vt:lpstr>
      <vt:lpstr>P4. Review Phase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IT3522 Operations Security Wk 1: Introduction </dc:title>
  <cp:lastModifiedBy>HENG YIAK POR</cp:lastModifiedBy>
  <cp:revision>375</cp:revision>
  <cp:lastPrinted>2011-04-20T01:51:48Z</cp:lastPrinted>
  <dcterms:created xsi:type="dcterms:W3CDTF">2010-10-03T07:18:45Z</dcterms:created>
  <dcterms:modified xsi:type="dcterms:W3CDTF">2017-08-30T06:40:02Z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0x010100B6A7F9582DE2E34698E4DD99897B51E5</vt:lpwstr>
  </property>
</Properties>
</file>