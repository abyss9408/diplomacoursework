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9"/>
  </p:notesMasterIdLst>
  <p:handoutMasterIdLst>
    <p:handoutMasterId r:id="rId20"/>
  </p:handoutMasterIdLst>
  <p:sldIdLst>
    <p:sldId id="256" r:id="rId5"/>
    <p:sldId id="282" r:id="rId6"/>
    <p:sldId id="258" r:id="rId7"/>
    <p:sldId id="284" r:id="rId8"/>
    <p:sldId id="285" r:id="rId9"/>
    <p:sldId id="286" r:id="rId10"/>
    <p:sldId id="293" r:id="rId11"/>
    <p:sldId id="287" r:id="rId12"/>
    <p:sldId id="288" r:id="rId13"/>
    <p:sldId id="289" r:id="rId14"/>
    <p:sldId id="290" r:id="rId15"/>
    <p:sldId id="291" r:id="rId16"/>
    <p:sldId id="292" r:id="rId17"/>
    <p:sldId id="283" r:id="rId18"/>
  </p:sldIdLst>
  <p:sldSz cx="9144000" cy="6858000" type="screen4x3"/>
  <p:notesSz cx="7315200" cy="9601200"/>
  <p:custShowLst>
    <p:custShow name="BCP1(Printable)" id="0">
      <p:sldLst>
        <p:sld r:id="rId5"/>
        <p:sld r:id="rId6"/>
        <p:sld r:id="rId7"/>
        <p:sld r:id="rId8"/>
        <p:sld r:id="rId9"/>
        <p:sld r:id="rId10"/>
        <p:sld r:id="rId12"/>
        <p:sld r:id="rId13"/>
        <p:sld r:id="rId14"/>
        <p:sld r:id="rId15"/>
        <p:sld r:id="rId16"/>
        <p:sld r:id="rId17"/>
        <p:sld r:id="rId18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86562" autoAdjust="0"/>
  </p:normalViewPr>
  <p:slideViewPr>
    <p:cSldViewPr snapToObjects="1">
      <p:cViewPr varScale="1">
        <p:scale>
          <a:sx n="79" d="100"/>
          <a:sy n="79" d="100"/>
        </p:scale>
        <p:origin x="133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4" d="100"/>
          <a:sy n="54" d="100"/>
        </p:scale>
        <p:origin x="-2850" y="-84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8D2778-0FC3-4BC1-A906-BE460624508C}" type="doc">
      <dgm:prSet loTypeId="urn:microsoft.com/office/officeart/2005/8/layout/hProcess9" loCatId="process" qsTypeId="urn:microsoft.com/office/officeart/2005/8/quickstyle/3d5" qsCatId="3D" csTypeId="urn:microsoft.com/office/officeart/2005/8/colors/colorful5" csCatId="colorful" phldr="1"/>
      <dgm:spPr/>
    </dgm:pt>
    <dgm:pt modelId="{FE1F544E-2BEB-40AA-B52D-AF71C3DEC274}">
      <dgm:prSet phldrT="[Text]"/>
      <dgm:spPr/>
      <dgm:t>
        <a:bodyPr/>
        <a:lstStyle/>
        <a:p>
          <a:r>
            <a:rPr lang="en-GB" b="1" dirty="0" smtClean="0"/>
            <a:t>P1. </a:t>
          </a:r>
          <a:r>
            <a:rPr lang="en-GB" b="1" u="sng" dirty="0" smtClean="0"/>
            <a:t>Activation</a:t>
          </a:r>
          <a:endParaRPr lang="en-US" b="1" u="sng" dirty="0"/>
        </a:p>
      </dgm:t>
    </dgm:pt>
    <dgm:pt modelId="{D64643A4-5D4E-4E26-BC01-B68ED4C9EC20}" type="parTrans" cxnId="{ADEE367E-7B3A-474C-8929-0974EAF0D93C}">
      <dgm:prSet/>
      <dgm:spPr/>
      <dgm:t>
        <a:bodyPr/>
        <a:lstStyle/>
        <a:p>
          <a:endParaRPr lang="en-US" b="1"/>
        </a:p>
      </dgm:t>
    </dgm:pt>
    <dgm:pt modelId="{5FD4AFA7-55FF-4934-B5C4-56C9FD448E4A}" type="sibTrans" cxnId="{ADEE367E-7B3A-474C-8929-0974EAF0D93C}">
      <dgm:prSet/>
      <dgm:spPr/>
      <dgm:t>
        <a:bodyPr/>
        <a:lstStyle/>
        <a:p>
          <a:endParaRPr lang="en-US" b="1"/>
        </a:p>
      </dgm:t>
    </dgm:pt>
    <dgm:pt modelId="{D9F1C94B-4737-45A9-8A34-928F81670EA5}">
      <dgm:prSet phldrT="[Text]"/>
      <dgm:spPr/>
      <dgm:t>
        <a:bodyPr/>
        <a:lstStyle/>
        <a:p>
          <a:r>
            <a:rPr lang="en-GB" b="1" dirty="0" smtClean="0"/>
            <a:t>P3. </a:t>
          </a:r>
          <a:r>
            <a:rPr lang="en-GB" b="1" u="sng" dirty="0" smtClean="0"/>
            <a:t>Business Continuity</a:t>
          </a:r>
          <a:endParaRPr lang="en-US" b="1" u="sng" dirty="0"/>
        </a:p>
      </dgm:t>
    </dgm:pt>
    <dgm:pt modelId="{2AD437DF-2F7C-40BF-ADE2-1F307F7A73DB}" type="parTrans" cxnId="{111C76D6-E858-47F2-953E-4C7CB05037BE}">
      <dgm:prSet/>
      <dgm:spPr/>
      <dgm:t>
        <a:bodyPr/>
        <a:lstStyle/>
        <a:p>
          <a:endParaRPr lang="en-US" b="1"/>
        </a:p>
      </dgm:t>
    </dgm:pt>
    <dgm:pt modelId="{69E99707-E85B-4D8C-A2A6-0A961B317C93}" type="sibTrans" cxnId="{111C76D6-E858-47F2-953E-4C7CB05037BE}">
      <dgm:prSet/>
      <dgm:spPr/>
      <dgm:t>
        <a:bodyPr/>
        <a:lstStyle/>
        <a:p>
          <a:endParaRPr lang="en-US" b="1"/>
        </a:p>
      </dgm:t>
    </dgm:pt>
    <dgm:pt modelId="{1CB7FFC5-DCA9-4C77-B293-64BC6CBAD89A}">
      <dgm:prSet phldrT="[Text]"/>
      <dgm:spPr/>
      <dgm:t>
        <a:bodyPr/>
        <a:lstStyle/>
        <a:p>
          <a:r>
            <a:rPr lang="en-GB" b="1" dirty="0" smtClean="0"/>
            <a:t>P4. R</a:t>
          </a:r>
          <a:r>
            <a:rPr lang="en-GB" b="1" u="sng" dirty="0" smtClean="0"/>
            <a:t>eview</a:t>
          </a:r>
          <a:endParaRPr lang="en-US" b="1" u="sng" dirty="0"/>
        </a:p>
      </dgm:t>
    </dgm:pt>
    <dgm:pt modelId="{0B52458D-2CAF-4DDA-9408-9E4550CF8F38}" type="parTrans" cxnId="{D262ECBC-C525-4906-AF30-6F56A0EC5B37}">
      <dgm:prSet/>
      <dgm:spPr/>
      <dgm:t>
        <a:bodyPr/>
        <a:lstStyle/>
        <a:p>
          <a:endParaRPr lang="en-US" b="1"/>
        </a:p>
      </dgm:t>
    </dgm:pt>
    <dgm:pt modelId="{7E30F50F-70F9-4FFE-A8B9-6A8FF2E0C291}" type="sibTrans" cxnId="{D262ECBC-C525-4906-AF30-6F56A0EC5B37}">
      <dgm:prSet/>
      <dgm:spPr/>
      <dgm:t>
        <a:bodyPr/>
        <a:lstStyle/>
        <a:p>
          <a:endParaRPr lang="en-US" b="1"/>
        </a:p>
      </dgm:t>
    </dgm:pt>
    <dgm:pt modelId="{DEF10FFB-BD1F-44BF-8C12-F4BB59254BF3}">
      <dgm:prSet phldrT="[Text]"/>
      <dgm:spPr/>
      <dgm:t>
        <a:bodyPr/>
        <a:lstStyle/>
        <a:p>
          <a:r>
            <a:rPr lang="en-GB" b="1" dirty="0" smtClean="0"/>
            <a:t>P2. </a:t>
          </a:r>
          <a:r>
            <a:rPr lang="en-GB" b="1" u="sng" dirty="0" smtClean="0"/>
            <a:t>Recovery</a:t>
          </a:r>
          <a:endParaRPr lang="en-US" b="1" u="sng" dirty="0"/>
        </a:p>
      </dgm:t>
    </dgm:pt>
    <dgm:pt modelId="{10073A24-BD4A-40EB-B8BB-16C40C60542F}" type="parTrans" cxnId="{D9CFCED0-55B6-4201-9F70-8A7F4A681B8C}">
      <dgm:prSet/>
      <dgm:spPr/>
      <dgm:t>
        <a:bodyPr/>
        <a:lstStyle/>
        <a:p>
          <a:endParaRPr lang="en-US" b="1"/>
        </a:p>
      </dgm:t>
    </dgm:pt>
    <dgm:pt modelId="{DAC61657-7DD5-458F-A6C5-BC45CAC2786A}" type="sibTrans" cxnId="{D9CFCED0-55B6-4201-9F70-8A7F4A681B8C}">
      <dgm:prSet/>
      <dgm:spPr/>
      <dgm:t>
        <a:bodyPr/>
        <a:lstStyle/>
        <a:p>
          <a:endParaRPr lang="en-US" b="1"/>
        </a:p>
      </dgm:t>
    </dgm:pt>
    <dgm:pt modelId="{64A79AC3-CAD7-467D-A638-EE960E8FB7B8}" type="pres">
      <dgm:prSet presAssocID="{978D2778-0FC3-4BC1-A906-BE460624508C}" presName="CompostProcess" presStyleCnt="0">
        <dgm:presLayoutVars>
          <dgm:dir/>
          <dgm:resizeHandles val="exact"/>
        </dgm:presLayoutVars>
      </dgm:prSet>
      <dgm:spPr/>
    </dgm:pt>
    <dgm:pt modelId="{47A86C62-C576-474D-80B1-FABC70CFDCD1}" type="pres">
      <dgm:prSet presAssocID="{978D2778-0FC3-4BC1-A906-BE460624508C}" presName="arrow" presStyleLbl="bgShp" presStyleIdx="0" presStyleCnt="1" custLinFactNeighborY="2174"/>
      <dgm:spPr>
        <a:solidFill>
          <a:srgbClr val="FEB80A"/>
        </a:solidFill>
      </dgm:spPr>
    </dgm:pt>
    <dgm:pt modelId="{34C359E2-40D4-499A-BE8A-059082C2143D}" type="pres">
      <dgm:prSet presAssocID="{978D2778-0FC3-4BC1-A906-BE460624508C}" presName="linearProcess" presStyleCnt="0"/>
      <dgm:spPr/>
    </dgm:pt>
    <dgm:pt modelId="{D6B9CC40-7D36-4853-96A2-6D30695C96C3}" type="pres">
      <dgm:prSet presAssocID="{FE1F544E-2BEB-40AA-B52D-AF71C3DEC274}" presName="text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831F827-589A-4B63-9A74-BDE2F8F66BBC}" type="pres">
      <dgm:prSet presAssocID="{5FD4AFA7-55FF-4934-B5C4-56C9FD448E4A}" presName="sibTrans" presStyleCnt="0"/>
      <dgm:spPr/>
    </dgm:pt>
    <dgm:pt modelId="{75C3E3E6-AA39-43B0-A211-D2FDEE010F5C}" type="pres">
      <dgm:prSet presAssocID="{DEF10FFB-BD1F-44BF-8C12-F4BB59254BF3}" presName="text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B0AC058-3D43-48B7-8838-FA26896A873E}" type="pres">
      <dgm:prSet presAssocID="{DAC61657-7DD5-458F-A6C5-BC45CAC2786A}" presName="sibTrans" presStyleCnt="0"/>
      <dgm:spPr/>
    </dgm:pt>
    <dgm:pt modelId="{6A60B644-F879-4736-9B7C-2C172E331FEC}" type="pres">
      <dgm:prSet presAssocID="{D9F1C94B-4737-45A9-8A34-928F81670EA5}" presName="text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D740B8-6563-4E95-B4B0-E7350C07761D}" type="pres">
      <dgm:prSet presAssocID="{69E99707-E85B-4D8C-A2A6-0A961B317C93}" presName="sibTrans" presStyleCnt="0"/>
      <dgm:spPr/>
    </dgm:pt>
    <dgm:pt modelId="{C9E3CD60-EC6C-4E04-984C-A18C86F82B61}" type="pres">
      <dgm:prSet presAssocID="{1CB7FFC5-DCA9-4C77-B293-64BC6CBAD89A}" presName="text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262ECBC-C525-4906-AF30-6F56A0EC5B37}" srcId="{978D2778-0FC3-4BC1-A906-BE460624508C}" destId="{1CB7FFC5-DCA9-4C77-B293-64BC6CBAD89A}" srcOrd="3" destOrd="0" parTransId="{0B52458D-2CAF-4DDA-9408-9E4550CF8F38}" sibTransId="{7E30F50F-70F9-4FFE-A8B9-6A8FF2E0C291}"/>
    <dgm:cxn modelId="{ADEE367E-7B3A-474C-8929-0974EAF0D93C}" srcId="{978D2778-0FC3-4BC1-A906-BE460624508C}" destId="{FE1F544E-2BEB-40AA-B52D-AF71C3DEC274}" srcOrd="0" destOrd="0" parTransId="{D64643A4-5D4E-4E26-BC01-B68ED4C9EC20}" sibTransId="{5FD4AFA7-55FF-4934-B5C4-56C9FD448E4A}"/>
    <dgm:cxn modelId="{9F2FA196-6861-43DC-9C7A-89997F27DE36}" type="presOf" srcId="{978D2778-0FC3-4BC1-A906-BE460624508C}" destId="{64A79AC3-CAD7-467D-A638-EE960E8FB7B8}" srcOrd="0" destOrd="0" presId="urn:microsoft.com/office/officeart/2005/8/layout/hProcess9"/>
    <dgm:cxn modelId="{9E74AC99-7724-46AA-B271-3C1C14C27FAA}" type="presOf" srcId="{1CB7FFC5-DCA9-4C77-B293-64BC6CBAD89A}" destId="{C9E3CD60-EC6C-4E04-984C-A18C86F82B61}" srcOrd="0" destOrd="0" presId="urn:microsoft.com/office/officeart/2005/8/layout/hProcess9"/>
    <dgm:cxn modelId="{AABCAFF6-8EE6-4B2E-A2A4-0115AC3F2F3E}" type="presOf" srcId="{FE1F544E-2BEB-40AA-B52D-AF71C3DEC274}" destId="{D6B9CC40-7D36-4853-96A2-6D30695C96C3}" srcOrd="0" destOrd="0" presId="urn:microsoft.com/office/officeart/2005/8/layout/hProcess9"/>
    <dgm:cxn modelId="{824323D2-E367-4627-AE44-550B20E2C8FD}" type="presOf" srcId="{DEF10FFB-BD1F-44BF-8C12-F4BB59254BF3}" destId="{75C3E3E6-AA39-43B0-A211-D2FDEE010F5C}" srcOrd="0" destOrd="0" presId="urn:microsoft.com/office/officeart/2005/8/layout/hProcess9"/>
    <dgm:cxn modelId="{D9CFCED0-55B6-4201-9F70-8A7F4A681B8C}" srcId="{978D2778-0FC3-4BC1-A906-BE460624508C}" destId="{DEF10FFB-BD1F-44BF-8C12-F4BB59254BF3}" srcOrd="1" destOrd="0" parTransId="{10073A24-BD4A-40EB-B8BB-16C40C60542F}" sibTransId="{DAC61657-7DD5-458F-A6C5-BC45CAC2786A}"/>
    <dgm:cxn modelId="{7DBB99C7-4470-4CA5-8801-D449D6F6ADE1}" type="presOf" srcId="{D9F1C94B-4737-45A9-8A34-928F81670EA5}" destId="{6A60B644-F879-4736-9B7C-2C172E331FEC}" srcOrd="0" destOrd="0" presId="urn:microsoft.com/office/officeart/2005/8/layout/hProcess9"/>
    <dgm:cxn modelId="{111C76D6-E858-47F2-953E-4C7CB05037BE}" srcId="{978D2778-0FC3-4BC1-A906-BE460624508C}" destId="{D9F1C94B-4737-45A9-8A34-928F81670EA5}" srcOrd="2" destOrd="0" parTransId="{2AD437DF-2F7C-40BF-ADE2-1F307F7A73DB}" sibTransId="{69E99707-E85B-4D8C-A2A6-0A961B317C93}"/>
    <dgm:cxn modelId="{488C4DFF-BCB2-42D0-8B7F-29ED59477C7F}" type="presParOf" srcId="{64A79AC3-CAD7-467D-A638-EE960E8FB7B8}" destId="{47A86C62-C576-474D-80B1-FABC70CFDCD1}" srcOrd="0" destOrd="0" presId="urn:microsoft.com/office/officeart/2005/8/layout/hProcess9"/>
    <dgm:cxn modelId="{86F8A1B1-547F-482D-840A-E1B897ACAE75}" type="presParOf" srcId="{64A79AC3-CAD7-467D-A638-EE960E8FB7B8}" destId="{34C359E2-40D4-499A-BE8A-059082C2143D}" srcOrd="1" destOrd="0" presId="urn:microsoft.com/office/officeart/2005/8/layout/hProcess9"/>
    <dgm:cxn modelId="{A122AF26-33E5-4064-8A3D-D25F8D9CE7D1}" type="presParOf" srcId="{34C359E2-40D4-499A-BE8A-059082C2143D}" destId="{D6B9CC40-7D36-4853-96A2-6D30695C96C3}" srcOrd="0" destOrd="0" presId="urn:microsoft.com/office/officeart/2005/8/layout/hProcess9"/>
    <dgm:cxn modelId="{B1A52B9D-E775-4F21-A00C-C32FAC752CD9}" type="presParOf" srcId="{34C359E2-40D4-499A-BE8A-059082C2143D}" destId="{A831F827-589A-4B63-9A74-BDE2F8F66BBC}" srcOrd="1" destOrd="0" presId="urn:microsoft.com/office/officeart/2005/8/layout/hProcess9"/>
    <dgm:cxn modelId="{C151EC3F-EDCB-4EE5-9154-490340D4CDE8}" type="presParOf" srcId="{34C359E2-40D4-499A-BE8A-059082C2143D}" destId="{75C3E3E6-AA39-43B0-A211-D2FDEE010F5C}" srcOrd="2" destOrd="0" presId="urn:microsoft.com/office/officeart/2005/8/layout/hProcess9"/>
    <dgm:cxn modelId="{08E245BC-D760-4F5B-A91B-2CA649BB03BB}" type="presParOf" srcId="{34C359E2-40D4-499A-BE8A-059082C2143D}" destId="{CB0AC058-3D43-48B7-8838-FA26896A873E}" srcOrd="3" destOrd="0" presId="urn:microsoft.com/office/officeart/2005/8/layout/hProcess9"/>
    <dgm:cxn modelId="{30D28CF2-FCBD-4D43-B4D8-D8BDE25EA9F5}" type="presParOf" srcId="{34C359E2-40D4-499A-BE8A-059082C2143D}" destId="{6A60B644-F879-4736-9B7C-2C172E331FEC}" srcOrd="4" destOrd="0" presId="urn:microsoft.com/office/officeart/2005/8/layout/hProcess9"/>
    <dgm:cxn modelId="{3D0005BE-2DE6-4C4D-9780-6BB75044DD78}" type="presParOf" srcId="{34C359E2-40D4-499A-BE8A-059082C2143D}" destId="{0FD740B8-6563-4E95-B4B0-E7350C07761D}" srcOrd="5" destOrd="0" presId="urn:microsoft.com/office/officeart/2005/8/layout/hProcess9"/>
    <dgm:cxn modelId="{B07156FF-7740-497D-81C9-41E72E6B7312}" type="presParOf" srcId="{34C359E2-40D4-499A-BE8A-059082C2143D}" destId="{C9E3CD60-EC6C-4E04-984C-A18C86F82B61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C59DC2-C01E-4DCF-817B-3D6C0A6F61A5}" type="doc">
      <dgm:prSet loTypeId="urn:microsoft.com/office/officeart/2005/8/layout/vList5" loCatId="list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7FB75CD-6849-4A99-9A60-FF9631C2B375}">
      <dgm:prSet custT="1"/>
      <dgm:spPr/>
      <dgm:t>
        <a:bodyPr/>
        <a:lstStyle/>
        <a:p>
          <a:r>
            <a:rPr lang="en-GB" sz="1600" dirty="0" smtClean="0"/>
            <a:t>e.g. Lawyer, </a:t>
          </a:r>
          <a:r>
            <a:rPr lang="en-US" sz="1600" dirty="0" smtClean="0"/>
            <a:t>public affairs representatives, administrative assistants, procurement specialists, etc</a:t>
          </a:r>
          <a:endParaRPr lang="en-GB" sz="1600" dirty="0" smtClean="0"/>
        </a:p>
      </dgm:t>
    </dgm:pt>
    <dgm:pt modelId="{A5A97A20-F8B3-4AE0-9189-7831EE724CE0}">
      <dgm:prSet custT="1"/>
      <dgm:spPr/>
      <dgm:t>
        <a:bodyPr/>
        <a:lstStyle/>
        <a:p>
          <a:r>
            <a:rPr lang="en-GB" sz="1600" dirty="0" smtClean="0"/>
            <a:t>Assist in the planning phases of the BCP and when plan is activated.</a:t>
          </a:r>
        </a:p>
      </dgm:t>
    </dgm:pt>
    <dgm:pt modelId="{438218B5-31A0-468A-A223-89F4E306184D}">
      <dgm:prSet custT="1"/>
      <dgm:spPr/>
      <dgm:t>
        <a:bodyPr/>
        <a:lstStyle/>
        <a:p>
          <a:r>
            <a:rPr lang="en-GB" sz="2000" b="1" dirty="0" smtClean="0"/>
            <a:t>Supporting Team Members</a:t>
          </a:r>
        </a:p>
      </dgm:t>
    </dgm:pt>
    <dgm:pt modelId="{46DE626B-D60F-4BF6-9C4F-1BD53C09559C}" type="sibTrans" cxnId="{B7A779C6-AD2B-4D40-A8B0-EF2819267FE4}">
      <dgm:prSet/>
      <dgm:spPr/>
      <dgm:t>
        <a:bodyPr/>
        <a:lstStyle/>
        <a:p>
          <a:endParaRPr lang="en-US" sz="2400"/>
        </a:p>
      </dgm:t>
    </dgm:pt>
    <dgm:pt modelId="{C08F6612-AB59-4A15-AF22-2AA174ACF1E0}" type="parTrans" cxnId="{B7A779C6-AD2B-4D40-A8B0-EF2819267FE4}">
      <dgm:prSet/>
      <dgm:spPr/>
      <dgm:t>
        <a:bodyPr/>
        <a:lstStyle/>
        <a:p>
          <a:endParaRPr lang="en-US" sz="2400"/>
        </a:p>
      </dgm:t>
    </dgm:pt>
    <dgm:pt modelId="{B7B00D79-FCC8-45F7-A132-C4E44264F4AB}" type="sibTrans" cxnId="{87F72A3C-3CE4-4E1F-9AAA-1B084852C49E}">
      <dgm:prSet/>
      <dgm:spPr/>
      <dgm:t>
        <a:bodyPr/>
        <a:lstStyle/>
        <a:p>
          <a:endParaRPr lang="en-US" sz="2400"/>
        </a:p>
      </dgm:t>
    </dgm:pt>
    <dgm:pt modelId="{3249B423-9897-492D-A155-EB63B2F4BE14}" type="parTrans" cxnId="{87F72A3C-3CE4-4E1F-9AAA-1B084852C49E}">
      <dgm:prSet/>
      <dgm:spPr/>
      <dgm:t>
        <a:bodyPr/>
        <a:lstStyle/>
        <a:p>
          <a:endParaRPr lang="en-US" sz="2400"/>
        </a:p>
      </dgm:t>
    </dgm:pt>
    <dgm:pt modelId="{3AE11D6A-5813-428F-AA8B-C0A3E64B1945}" type="sibTrans" cxnId="{055B48F3-AC39-4AFA-B28C-5B4863BE946E}">
      <dgm:prSet/>
      <dgm:spPr/>
      <dgm:t>
        <a:bodyPr/>
        <a:lstStyle/>
        <a:p>
          <a:endParaRPr lang="en-US" sz="2400"/>
        </a:p>
      </dgm:t>
    </dgm:pt>
    <dgm:pt modelId="{05FC9E2B-A46E-4B72-9ECB-C48BB888E8A7}" type="parTrans" cxnId="{055B48F3-AC39-4AFA-B28C-5B4863BE946E}">
      <dgm:prSet/>
      <dgm:spPr/>
      <dgm:t>
        <a:bodyPr/>
        <a:lstStyle/>
        <a:p>
          <a:endParaRPr lang="en-US" sz="2400"/>
        </a:p>
      </dgm:t>
    </dgm:pt>
    <dgm:pt modelId="{B7944800-856F-4ABB-961C-4C756329F918}">
      <dgm:prSet custT="1"/>
      <dgm:spPr/>
      <dgm:t>
        <a:bodyPr/>
        <a:lstStyle/>
        <a:p>
          <a:r>
            <a:rPr lang="en-GB" sz="1600" smtClean="0"/>
            <a:t>Identify </a:t>
          </a:r>
          <a:r>
            <a:rPr lang="en-GB" sz="1600" dirty="0" smtClean="0"/>
            <a:t>business impact and effectively determine ways to protect business processes from risk.</a:t>
          </a:r>
        </a:p>
      </dgm:t>
    </dgm:pt>
    <dgm:pt modelId="{1DF11C5D-A347-4356-9352-C5531DD4D39D}">
      <dgm:prSet custT="1"/>
      <dgm:spPr/>
      <dgm:t>
        <a:bodyPr/>
        <a:lstStyle/>
        <a:p>
          <a:r>
            <a:rPr lang="en-GB" sz="1600" dirty="0" smtClean="0"/>
            <a:t>Experts in business process in organization.</a:t>
          </a:r>
        </a:p>
      </dgm:t>
    </dgm:pt>
    <dgm:pt modelId="{6B8AEF0A-740B-4A4E-8228-071F1DB40FE5}">
      <dgm:prSet custT="1"/>
      <dgm:spPr/>
      <dgm:t>
        <a:bodyPr/>
        <a:lstStyle/>
        <a:p>
          <a:r>
            <a:rPr lang="en-GB" sz="2000" b="1" dirty="0" smtClean="0"/>
            <a:t>Business Process Team Members</a:t>
          </a:r>
        </a:p>
      </dgm:t>
    </dgm:pt>
    <dgm:pt modelId="{783C4B06-74EE-461B-A20E-CA6E683939A2}" type="sibTrans" cxnId="{1F11C3BE-236E-46BA-B7F2-C7C6AA8A09B0}">
      <dgm:prSet/>
      <dgm:spPr/>
      <dgm:t>
        <a:bodyPr/>
        <a:lstStyle/>
        <a:p>
          <a:endParaRPr lang="en-US" sz="2400"/>
        </a:p>
      </dgm:t>
    </dgm:pt>
    <dgm:pt modelId="{A41727AA-4973-4E47-B96B-3F8E05FBBB29}" type="parTrans" cxnId="{1F11C3BE-236E-46BA-B7F2-C7C6AA8A09B0}">
      <dgm:prSet/>
      <dgm:spPr/>
      <dgm:t>
        <a:bodyPr/>
        <a:lstStyle/>
        <a:p>
          <a:endParaRPr lang="en-US" sz="2400"/>
        </a:p>
      </dgm:t>
    </dgm:pt>
    <dgm:pt modelId="{DD996989-DB22-40AF-9762-4C2B3BB448C2}" type="sibTrans" cxnId="{EC0AD25F-3E60-4A7D-AD16-FD4E58A1FDFC}">
      <dgm:prSet/>
      <dgm:spPr/>
      <dgm:t>
        <a:bodyPr/>
        <a:lstStyle/>
        <a:p>
          <a:endParaRPr lang="en-US" sz="2400"/>
        </a:p>
      </dgm:t>
    </dgm:pt>
    <dgm:pt modelId="{27E3AF1E-6D19-47A8-8B2E-5EEB580E6586}" type="parTrans" cxnId="{EC0AD25F-3E60-4A7D-AD16-FD4E58A1FDFC}">
      <dgm:prSet/>
      <dgm:spPr/>
      <dgm:t>
        <a:bodyPr/>
        <a:lstStyle/>
        <a:p>
          <a:endParaRPr lang="en-US" sz="2400"/>
        </a:p>
      </dgm:t>
    </dgm:pt>
    <dgm:pt modelId="{6C80A19E-8AA0-4605-81D1-2EBE66EA761B}" type="sibTrans" cxnId="{27AADD21-A672-4833-BB35-84AF96290EF9}">
      <dgm:prSet/>
      <dgm:spPr/>
      <dgm:t>
        <a:bodyPr/>
        <a:lstStyle/>
        <a:p>
          <a:endParaRPr lang="en-US" sz="2400"/>
        </a:p>
      </dgm:t>
    </dgm:pt>
    <dgm:pt modelId="{6B9301A5-5B5C-42E9-8A99-7AEFE7C0F0E2}" type="parTrans" cxnId="{27AADD21-A672-4833-BB35-84AF96290EF9}">
      <dgm:prSet/>
      <dgm:spPr/>
      <dgm:t>
        <a:bodyPr/>
        <a:lstStyle/>
        <a:p>
          <a:endParaRPr lang="en-US" sz="2400"/>
        </a:p>
      </dgm:t>
    </dgm:pt>
    <dgm:pt modelId="{2F831A40-60A9-4116-B91F-1C71DC4E29CF}">
      <dgm:prSet custT="1"/>
      <dgm:spPr/>
      <dgm:t>
        <a:bodyPr/>
        <a:lstStyle/>
        <a:p>
          <a:r>
            <a:rPr lang="en-US" sz="1600" dirty="0" smtClean="0"/>
            <a:t>e.g. System administrators, database administrators, storage engineers, security professionals, application specialists, etc</a:t>
          </a:r>
        </a:p>
      </dgm:t>
    </dgm:pt>
    <dgm:pt modelId="{C794F0B2-706C-4D33-B3C5-279A6BBB44FA}">
      <dgm:prSet custT="1"/>
      <dgm:spPr/>
      <dgm:t>
        <a:bodyPr/>
        <a:lstStyle/>
        <a:p>
          <a:r>
            <a:rPr lang="en-GB" sz="1600" dirty="0" smtClean="0"/>
            <a:t>Technological solutions to incorporate as part of BCP.</a:t>
          </a:r>
          <a:endParaRPr lang="en-US" sz="1600" dirty="0" smtClean="0"/>
        </a:p>
      </dgm:t>
    </dgm:pt>
    <dgm:pt modelId="{A5503079-ED1A-449B-BDFC-21ADBF7AB6BF}">
      <dgm:prSet custT="1"/>
      <dgm:spPr/>
      <dgm:t>
        <a:bodyPr/>
        <a:lstStyle/>
        <a:p>
          <a:r>
            <a:rPr lang="en-GB" sz="2000" b="1" dirty="0" smtClean="0"/>
            <a:t>Technical Team Members</a:t>
          </a:r>
          <a:endParaRPr lang="en-US" sz="2000" b="1" dirty="0" smtClean="0"/>
        </a:p>
      </dgm:t>
    </dgm:pt>
    <dgm:pt modelId="{6911FEB9-944C-4200-B4B1-E621A6AAEE9A}" type="sibTrans" cxnId="{09FB6601-2C7E-44C2-95B1-DB800ACA07AA}">
      <dgm:prSet/>
      <dgm:spPr/>
      <dgm:t>
        <a:bodyPr/>
        <a:lstStyle/>
        <a:p>
          <a:endParaRPr lang="en-US" sz="2400"/>
        </a:p>
      </dgm:t>
    </dgm:pt>
    <dgm:pt modelId="{44D76D76-79A3-4E19-B254-CDDBC87DF07B}" type="parTrans" cxnId="{09FB6601-2C7E-44C2-95B1-DB800ACA07AA}">
      <dgm:prSet/>
      <dgm:spPr/>
      <dgm:t>
        <a:bodyPr/>
        <a:lstStyle/>
        <a:p>
          <a:endParaRPr lang="en-US" sz="2400"/>
        </a:p>
      </dgm:t>
    </dgm:pt>
    <dgm:pt modelId="{58E2751B-18AE-4A6B-90EA-30AB684FBEFF}" type="sibTrans" cxnId="{F50549A0-A938-4684-9180-7C29131D63C4}">
      <dgm:prSet/>
      <dgm:spPr/>
      <dgm:t>
        <a:bodyPr/>
        <a:lstStyle/>
        <a:p>
          <a:endParaRPr lang="en-US" sz="2400"/>
        </a:p>
      </dgm:t>
    </dgm:pt>
    <dgm:pt modelId="{BF5D8839-F3E8-4C0E-B68C-45FE901C0000}" type="parTrans" cxnId="{F50549A0-A938-4684-9180-7C29131D63C4}">
      <dgm:prSet/>
      <dgm:spPr/>
      <dgm:t>
        <a:bodyPr/>
        <a:lstStyle/>
        <a:p>
          <a:endParaRPr lang="en-US" sz="2400"/>
        </a:p>
      </dgm:t>
    </dgm:pt>
    <dgm:pt modelId="{09200482-3E32-4D5B-940A-02E632827454}" type="sibTrans" cxnId="{2821F73A-80CE-4EEB-ADBF-2429BC9A20E1}">
      <dgm:prSet/>
      <dgm:spPr/>
      <dgm:t>
        <a:bodyPr/>
        <a:lstStyle/>
        <a:p>
          <a:endParaRPr lang="en-US" sz="2400"/>
        </a:p>
      </dgm:t>
    </dgm:pt>
    <dgm:pt modelId="{3014A695-D73C-4ECB-9EF4-EAA88C0EBC2A}" type="parTrans" cxnId="{2821F73A-80CE-4EEB-ADBF-2429BC9A20E1}">
      <dgm:prSet/>
      <dgm:spPr/>
      <dgm:t>
        <a:bodyPr/>
        <a:lstStyle/>
        <a:p>
          <a:endParaRPr lang="en-US" sz="2400"/>
        </a:p>
      </dgm:t>
    </dgm:pt>
    <dgm:pt modelId="{32946BA6-122C-47F0-9FA7-581364917AAE}">
      <dgm:prSet phldrT="[Text]" custT="1"/>
      <dgm:spPr/>
      <dgm:t>
        <a:bodyPr/>
        <a:lstStyle/>
        <a:p>
          <a:r>
            <a:rPr lang="en-GB" sz="1600" dirty="0" smtClean="0"/>
            <a:t>Lead the team in executing BCP, collect info on incident</a:t>
          </a:r>
          <a:endParaRPr lang="en-US" sz="1600" dirty="0"/>
        </a:p>
      </dgm:t>
    </dgm:pt>
    <dgm:pt modelId="{760B424F-FCEE-454B-B2CC-0632CC84DEFB}">
      <dgm:prSet phldrT="[Text]" custT="1"/>
      <dgm:spPr/>
      <dgm:t>
        <a:bodyPr/>
        <a:lstStyle/>
        <a:p>
          <a:r>
            <a:rPr lang="en-GB" sz="2000" b="1" dirty="0" smtClean="0"/>
            <a:t>Team Leaders</a:t>
          </a:r>
          <a:endParaRPr lang="en-US" sz="2000" b="1" dirty="0"/>
        </a:p>
      </dgm:t>
    </dgm:pt>
    <dgm:pt modelId="{FAFB4EDD-F191-4875-95A5-C6A162F59064}" type="sibTrans" cxnId="{DEA20AE7-9528-4AB0-929D-615D1ACD0B75}">
      <dgm:prSet/>
      <dgm:spPr/>
      <dgm:t>
        <a:bodyPr/>
        <a:lstStyle/>
        <a:p>
          <a:endParaRPr lang="en-US" sz="2400"/>
        </a:p>
      </dgm:t>
    </dgm:pt>
    <dgm:pt modelId="{E567DAD7-2826-45C8-814E-9E6D4834BDB4}" type="parTrans" cxnId="{DEA20AE7-9528-4AB0-929D-615D1ACD0B75}">
      <dgm:prSet/>
      <dgm:spPr/>
      <dgm:t>
        <a:bodyPr/>
        <a:lstStyle/>
        <a:p>
          <a:endParaRPr lang="en-US" sz="2400"/>
        </a:p>
      </dgm:t>
    </dgm:pt>
    <dgm:pt modelId="{8629454D-44D5-45C3-89FC-D68B6E7ABBA7}" type="sibTrans" cxnId="{F391C9DA-4FDE-42F7-9524-AAB8A6386CF7}">
      <dgm:prSet/>
      <dgm:spPr/>
      <dgm:t>
        <a:bodyPr/>
        <a:lstStyle/>
        <a:p>
          <a:endParaRPr lang="en-US" sz="2400"/>
        </a:p>
      </dgm:t>
    </dgm:pt>
    <dgm:pt modelId="{B13E0173-20CF-45FA-802C-03ADC09E7139}" type="parTrans" cxnId="{F391C9DA-4FDE-42F7-9524-AAB8A6386CF7}">
      <dgm:prSet/>
      <dgm:spPr/>
      <dgm:t>
        <a:bodyPr/>
        <a:lstStyle/>
        <a:p>
          <a:endParaRPr lang="en-US" sz="2400"/>
        </a:p>
      </dgm:t>
    </dgm:pt>
    <dgm:pt modelId="{6087BC60-D383-4A86-8F50-16F24FF50191}">
      <dgm:prSet phldrT="[Text]" custT="1"/>
      <dgm:spPr/>
      <dgm:t>
        <a:bodyPr/>
        <a:lstStyle/>
        <a:p>
          <a:r>
            <a:rPr lang="en-US" sz="1600" dirty="0" smtClean="0"/>
            <a:t>Make decisions or escalate to senior management</a:t>
          </a:r>
          <a:endParaRPr lang="en-US" sz="1600" dirty="0"/>
        </a:p>
      </dgm:t>
    </dgm:pt>
    <dgm:pt modelId="{96EF0537-9DC0-456B-9A9B-CA7EFE29A3E2}" type="parTrans" cxnId="{B822FD05-FED3-4B02-BDC2-F81136DFD4D3}">
      <dgm:prSet/>
      <dgm:spPr/>
      <dgm:t>
        <a:bodyPr/>
        <a:lstStyle/>
        <a:p>
          <a:endParaRPr lang="en-GB"/>
        </a:p>
      </dgm:t>
    </dgm:pt>
    <dgm:pt modelId="{0FFDCDFA-A1B4-41B2-BFFE-A4F92FC41AD3}" type="sibTrans" cxnId="{B822FD05-FED3-4B02-BDC2-F81136DFD4D3}">
      <dgm:prSet/>
      <dgm:spPr/>
      <dgm:t>
        <a:bodyPr/>
        <a:lstStyle/>
        <a:p>
          <a:endParaRPr lang="en-GB"/>
        </a:p>
      </dgm:t>
    </dgm:pt>
    <dgm:pt modelId="{B9B9023B-2B07-4C7A-8A34-E3BFF4F9C0C0}" type="pres">
      <dgm:prSet presAssocID="{82C59DC2-C01E-4DCF-817B-3D6C0A6F61A5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D072E59-17C4-4310-80D4-3136762FF991}" type="pres">
      <dgm:prSet presAssocID="{760B424F-FCEE-454B-B2CC-0632CC84DEFB}" presName="linNode" presStyleCnt="0"/>
      <dgm:spPr/>
    </dgm:pt>
    <dgm:pt modelId="{72B001E8-277D-4B3E-ACF1-F401DE20F1F0}" type="pres">
      <dgm:prSet presAssocID="{760B424F-FCEE-454B-B2CC-0632CC84DEFB}" presName="parentText" presStyleLbl="node1" presStyleIdx="0" presStyleCnt="4" custScaleX="59465" custLinFactNeighborX="-1464" custLinFactNeighborY="-20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146C9E-2767-45EE-9D2C-F3AFF115D116}" type="pres">
      <dgm:prSet presAssocID="{760B424F-FCEE-454B-B2CC-0632CC84DEFB}" presName="descendantText" presStyleLbl="alignAccFollowNode1" presStyleIdx="0" presStyleCnt="4" custScaleX="1229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3169F4-C27A-4E6F-B978-9E849F244760}" type="pres">
      <dgm:prSet presAssocID="{FAFB4EDD-F191-4875-95A5-C6A162F59064}" presName="sp" presStyleCnt="0"/>
      <dgm:spPr/>
    </dgm:pt>
    <dgm:pt modelId="{04F23B02-15D5-4E04-A164-13D917249B82}" type="pres">
      <dgm:prSet presAssocID="{A5503079-ED1A-449B-BDFC-21ADBF7AB6BF}" presName="linNode" presStyleCnt="0"/>
      <dgm:spPr/>
    </dgm:pt>
    <dgm:pt modelId="{707F92B6-6E72-4F68-AB09-035545A19AA4}" type="pres">
      <dgm:prSet presAssocID="{A5503079-ED1A-449B-BDFC-21ADBF7AB6BF}" presName="parentText" presStyleLbl="node1" presStyleIdx="1" presStyleCnt="4" custScaleX="5946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009D7E-87C3-4050-B264-B166F5D7FF73}" type="pres">
      <dgm:prSet presAssocID="{A5503079-ED1A-449B-BDFC-21ADBF7AB6BF}" presName="descendantText" presStyleLbl="alignAccFollowNode1" presStyleIdx="1" presStyleCnt="4" custScaleX="1229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22B0EE1-D19B-4D28-AB81-DE871F86281F}" type="pres">
      <dgm:prSet presAssocID="{6911FEB9-944C-4200-B4B1-E621A6AAEE9A}" presName="sp" presStyleCnt="0"/>
      <dgm:spPr/>
    </dgm:pt>
    <dgm:pt modelId="{7BE2D9DB-0DCD-48D9-B1E9-BD6065C3E9A8}" type="pres">
      <dgm:prSet presAssocID="{6B8AEF0A-740B-4A4E-8228-071F1DB40FE5}" presName="linNode" presStyleCnt="0"/>
      <dgm:spPr/>
    </dgm:pt>
    <dgm:pt modelId="{84C8B117-8235-4EC3-AD32-4274421C3645}" type="pres">
      <dgm:prSet presAssocID="{6B8AEF0A-740B-4A4E-8228-071F1DB40FE5}" presName="parentText" presStyleLbl="node1" presStyleIdx="2" presStyleCnt="4" custScaleX="5946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04A57D7-F96B-4400-B35B-7317BCD9CD40}" type="pres">
      <dgm:prSet presAssocID="{6B8AEF0A-740B-4A4E-8228-071F1DB40FE5}" presName="descendantText" presStyleLbl="alignAccFollowNode1" presStyleIdx="2" presStyleCnt="4" custScaleX="1229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E5377D3-173C-4F55-9C7B-D891A06673C7}" type="pres">
      <dgm:prSet presAssocID="{783C4B06-74EE-461B-A20E-CA6E683939A2}" presName="sp" presStyleCnt="0"/>
      <dgm:spPr/>
    </dgm:pt>
    <dgm:pt modelId="{84D36E8F-F4AB-479C-AA87-6A157B7E68BB}" type="pres">
      <dgm:prSet presAssocID="{438218B5-31A0-468A-A223-89F4E306184D}" presName="linNode" presStyleCnt="0"/>
      <dgm:spPr/>
    </dgm:pt>
    <dgm:pt modelId="{08D5B9AD-CCA7-4F7A-A0BE-4F23AD38F5DE}" type="pres">
      <dgm:prSet presAssocID="{438218B5-31A0-468A-A223-89F4E306184D}" presName="parentText" presStyleLbl="node1" presStyleIdx="3" presStyleCnt="4" custScaleX="5946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DABACA-AC6D-48B1-ACB4-A01C08B89A29}" type="pres">
      <dgm:prSet presAssocID="{438218B5-31A0-468A-A223-89F4E306184D}" presName="descendantText" presStyleLbl="alignAccFollowNode1" presStyleIdx="3" presStyleCnt="4" custScaleX="1229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391C9DA-4FDE-42F7-9524-AAB8A6386CF7}" srcId="{760B424F-FCEE-454B-B2CC-0632CC84DEFB}" destId="{32946BA6-122C-47F0-9FA7-581364917AAE}" srcOrd="0" destOrd="0" parTransId="{B13E0173-20CF-45FA-802C-03ADC09E7139}" sibTransId="{8629454D-44D5-45C3-89FC-D68B6E7ABBA7}"/>
    <dgm:cxn modelId="{1B89FE05-89BA-411D-9550-5897A2535D8C}" type="presOf" srcId="{6B8AEF0A-740B-4A4E-8228-071F1DB40FE5}" destId="{84C8B117-8235-4EC3-AD32-4274421C3645}" srcOrd="0" destOrd="0" presId="urn:microsoft.com/office/officeart/2005/8/layout/vList5"/>
    <dgm:cxn modelId="{27AADD21-A672-4833-BB35-84AF96290EF9}" srcId="{6B8AEF0A-740B-4A4E-8228-071F1DB40FE5}" destId="{1DF11C5D-A347-4356-9352-C5531DD4D39D}" srcOrd="0" destOrd="0" parTransId="{6B9301A5-5B5C-42E9-8A99-7AEFE7C0F0E2}" sibTransId="{6C80A19E-8AA0-4605-81D1-2EBE66EA761B}"/>
    <dgm:cxn modelId="{37005FCB-5B05-4003-9164-5F88FE324B1B}" type="presOf" srcId="{57FB75CD-6849-4A99-9A60-FF9631C2B375}" destId="{E1DABACA-AC6D-48B1-ACB4-A01C08B89A29}" srcOrd="0" destOrd="1" presId="urn:microsoft.com/office/officeart/2005/8/layout/vList5"/>
    <dgm:cxn modelId="{9D3654E1-40C1-4F84-B103-F68B9CEC72AD}" type="presOf" srcId="{A5503079-ED1A-449B-BDFC-21ADBF7AB6BF}" destId="{707F92B6-6E72-4F68-AB09-035545A19AA4}" srcOrd="0" destOrd="0" presId="urn:microsoft.com/office/officeart/2005/8/layout/vList5"/>
    <dgm:cxn modelId="{1F11C3BE-236E-46BA-B7F2-C7C6AA8A09B0}" srcId="{82C59DC2-C01E-4DCF-817B-3D6C0A6F61A5}" destId="{6B8AEF0A-740B-4A4E-8228-071F1DB40FE5}" srcOrd="2" destOrd="0" parTransId="{A41727AA-4973-4E47-B96B-3F8E05FBBB29}" sibTransId="{783C4B06-74EE-461B-A20E-CA6E683939A2}"/>
    <dgm:cxn modelId="{F50549A0-A938-4684-9180-7C29131D63C4}" srcId="{A5503079-ED1A-449B-BDFC-21ADBF7AB6BF}" destId="{2F831A40-60A9-4116-B91F-1C71DC4E29CF}" srcOrd="1" destOrd="0" parTransId="{BF5D8839-F3E8-4C0E-B68C-45FE901C0000}" sibTransId="{58E2751B-18AE-4A6B-90EA-30AB684FBEFF}"/>
    <dgm:cxn modelId="{35ACB3E9-734F-4A93-92BE-60A0D209B433}" type="presOf" srcId="{6087BC60-D383-4A86-8F50-16F24FF50191}" destId="{F4146C9E-2767-45EE-9D2C-F3AFF115D116}" srcOrd="0" destOrd="1" presId="urn:microsoft.com/office/officeart/2005/8/layout/vList5"/>
    <dgm:cxn modelId="{B822FD05-FED3-4B02-BDC2-F81136DFD4D3}" srcId="{760B424F-FCEE-454B-B2CC-0632CC84DEFB}" destId="{6087BC60-D383-4A86-8F50-16F24FF50191}" srcOrd="1" destOrd="0" parTransId="{96EF0537-9DC0-456B-9A9B-CA7EFE29A3E2}" sibTransId="{0FFDCDFA-A1B4-41B2-BFFE-A4F92FC41AD3}"/>
    <dgm:cxn modelId="{87F72A3C-3CE4-4E1F-9AAA-1B084852C49E}" srcId="{438218B5-31A0-468A-A223-89F4E306184D}" destId="{57FB75CD-6849-4A99-9A60-FF9631C2B375}" srcOrd="1" destOrd="0" parTransId="{3249B423-9897-492D-A155-EB63B2F4BE14}" sibTransId="{B7B00D79-FCC8-45F7-A132-C4E44264F4AB}"/>
    <dgm:cxn modelId="{B7A779C6-AD2B-4D40-A8B0-EF2819267FE4}" srcId="{82C59DC2-C01E-4DCF-817B-3D6C0A6F61A5}" destId="{438218B5-31A0-468A-A223-89F4E306184D}" srcOrd="3" destOrd="0" parTransId="{C08F6612-AB59-4A15-AF22-2AA174ACF1E0}" sibTransId="{46DE626B-D60F-4BF6-9C4F-1BD53C09559C}"/>
    <dgm:cxn modelId="{EC0AD25F-3E60-4A7D-AD16-FD4E58A1FDFC}" srcId="{6B8AEF0A-740B-4A4E-8228-071F1DB40FE5}" destId="{B7944800-856F-4ABB-961C-4C756329F918}" srcOrd="1" destOrd="0" parTransId="{27E3AF1E-6D19-47A8-8B2E-5EEB580E6586}" sibTransId="{DD996989-DB22-40AF-9762-4C2B3BB448C2}"/>
    <dgm:cxn modelId="{2821F73A-80CE-4EEB-ADBF-2429BC9A20E1}" srcId="{A5503079-ED1A-449B-BDFC-21ADBF7AB6BF}" destId="{C794F0B2-706C-4D33-B3C5-279A6BBB44FA}" srcOrd="0" destOrd="0" parTransId="{3014A695-D73C-4ECB-9EF4-EAA88C0EBC2A}" sibTransId="{09200482-3E32-4D5B-940A-02E632827454}"/>
    <dgm:cxn modelId="{E4D4316C-FD87-4AF9-83E3-5230D698F86B}" type="presOf" srcId="{A5A97A20-F8B3-4AE0-9189-7831EE724CE0}" destId="{E1DABACA-AC6D-48B1-ACB4-A01C08B89A29}" srcOrd="0" destOrd="0" presId="urn:microsoft.com/office/officeart/2005/8/layout/vList5"/>
    <dgm:cxn modelId="{C98E141E-3677-4025-8F6A-90760F530C49}" type="presOf" srcId="{760B424F-FCEE-454B-B2CC-0632CC84DEFB}" destId="{72B001E8-277D-4B3E-ACF1-F401DE20F1F0}" srcOrd="0" destOrd="0" presId="urn:microsoft.com/office/officeart/2005/8/layout/vList5"/>
    <dgm:cxn modelId="{17F1DEA4-1936-4B0C-ADE6-20EEAD6B50DC}" type="presOf" srcId="{32946BA6-122C-47F0-9FA7-581364917AAE}" destId="{F4146C9E-2767-45EE-9D2C-F3AFF115D116}" srcOrd="0" destOrd="0" presId="urn:microsoft.com/office/officeart/2005/8/layout/vList5"/>
    <dgm:cxn modelId="{19EA5C79-430E-45D9-BA5F-1CD6C35A34D0}" type="presOf" srcId="{2F831A40-60A9-4116-B91F-1C71DC4E29CF}" destId="{51009D7E-87C3-4050-B264-B166F5D7FF73}" srcOrd="0" destOrd="1" presId="urn:microsoft.com/office/officeart/2005/8/layout/vList5"/>
    <dgm:cxn modelId="{DEA20AE7-9528-4AB0-929D-615D1ACD0B75}" srcId="{82C59DC2-C01E-4DCF-817B-3D6C0A6F61A5}" destId="{760B424F-FCEE-454B-B2CC-0632CC84DEFB}" srcOrd="0" destOrd="0" parTransId="{E567DAD7-2826-45C8-814E-9E6D4834BDB4}" sibTransId="{FAFB4EDD-F191-4875-95A5-C6A162F59064}"/>
    <dgm:cxn modelId="{79F5CD54-6B39-4DDD-B715-2560BE724F56}" type="presOf" srcId="{B7944800-856F-4ABB-961C-4C756329F918}" destId="{704A57D7-F96B-4400-B35B-7317BCD9CD40}" srcOrd="0" destOrd="1" presId="urn:microsoft.com/office/officeart/2005/8/layout/vList5"/>
    <dgm:cxn modelId="{300738C5-9B5E-4106-8886-79F79EB14B66}" type="presOf" srcId="{1DF11C5D-A347-4356-9352-C5531DD4D39D}" destId="{704A57D7-F96B-4400-B35B-7317BCD9CD40}" srcOrd="0" destOrd="0" presId="urn:microsoft.com/office/officeart/2005/8/layout/vList5"/>
    <dgm:cxn modelId="{56956FAD-E2AE-4D7B-AFEB-B91587334AA9}" type="presOf" srcId="{438218B5-31A0-468A-A223-89F4E306184D}" destId="{08D5B9AD-CCA7-4F7A-A0BE-4F23AD38F5DE}" srcOrd="0" destOrd="0" presId="urn:microsoft.com/office/officeart/2005/8/layout/vList5"/>
    <dgm:cxn modelId="{32DDE533-6ADB-4166-89A1-E8DC0DE23FAE}" type="presOf" srcId="{C794F0B2-706C-4D33-B3C5-279A6BBB44FA}" destId="{51009D7E-87C3-4050-B264-B166F5D7FF73}" srcOrd="0" destOrd="0" presId="urn:microsoft.com/office/officeart/2005/8/layout/vList5"/>
    <dgm:cxn modelId="{055B48F3-AC39-4AFA-B28C-5B4863BE946E}" srcId="{438218B5-31A0-468A-A223-89F4E306184D}" destId="{A5A97A20-F8B3-4AE0-9189-7831EE724CE0}" srcOrd="0" destOrd="0" parTransId="{05FC9E2B-A46E-4B72-9ECB-C48BB888E8A7}" sibTransId="{3AE11D6A-5813-428F-AA8B-C0A3E64B1945}"/>
    <dgm:cxn modelId="{2A5DD52C-A840-4894-B176-CF686B2C6482}" type="presOf" srcId="{82C59DC2-C01E-4DCF-817B-3D6C0A6F61A5}" destId="{B9B9023B-2B07-4C7A-8A34-E3BFF4F9C0C0}" srcOrd="0" destOrd="0" presId="urn:microsoft.com/office/officeart/2005/8/layout/vList5"/>
    <dgm:cxn modelId="{09FB6601-2C7E-44C2-95B1-DB800ACA07AA}" srcId="{82C59DC2-C01E-4DCF-817B-3D6C0A6F61A5}" destId="{A5503079-ED1A-449B-BDFC-21ADBF7AB6BF}" srcOrd="1" destOrd="0" parTransId="{44D76D76-79A3-4E19-B254-CDDBC87DF07B}" sibTransId="{6911FEB9-944C-4200-B4B1-E621A6AAEE9A}"/>
    <dgm:cxn modelId="{6FF2C164-F009-45D6-A2B2-57CF5AC1DD3D}" type="presParOf" srcId="{B9B9023B-2B07-4C7A-8A34-E3BFF4F9C0C0}" destId="{6D072E59-17C4-4310-80D4-3136762FF991}" srcOrd="0" destOrd="0" presId="urn:microsoft.com/office/officeart/2005/8/layout/vList5"/>
    <dgm:cxn modelId="{40BEE745-9580-44EF-A326-9DC57AE06B86}" type="presParOf" srcId="{6D072E59-17C4-4310-80D4-3136762FF991}" destId="{72B001E8-277D-4B3E-ACF1-F401DE20F1F0}" srcOrd="0" destOrd="0" presId="urn:microsoft.com/office/officeart/2005/8/layout/vList5"/>
    <dgm:cxn modelId="{F37A9224-D5AB-4888-A726-3D6504FBEC10}" type="presParOf" srcId="{6D072E59-17C4-4310-80D4-3136762FF991}" destId="{F4146C9E-2767-45EE-9D2C-F3AFF115D116}" srcOrd="1" destOrd="0" presId="urn:microsoft.com/office/officeart/2005/8/layout/vList5"/>
    <dgm:cxn modelId="{C01A57EE-70DC-401B-8DA0-B31A47DEBE85}" type="presParOf" srcId="{B9B9023B-2B07-4C7A-8A34-E3BFF4F9C0C0}" destId="{293169F4-C27A-4E6F-B978-9E849F244760}" srcOrd="1" destOrd="0" presId="urn:microsoft.com/office/officeart/2005/8/layout/vList5"/>
    <dgm:cxn modelId="{CAD49109-CA54-4CCF-8BBA-A5920DEF9DD4}" type="presParOf" srcId="{B9B9023B-2B07-4C7A-8A34-E3BFF4F9C0C0}" destId="{04F23B02-15D5-4E04-A164-13D917249B82}" srcOrd="2" destOrd="0" presId="urn:microsoft.com/office/officeart/2005/8/layout/vList5"/>
    <dgm:cxn modelId="{32880A27-2A65-463D-9B99-0BB713873933}" type="presParOf" srcId="{04F23B02-15D5-4E04-A164-13D917249B82}" destId="{707F92B6-6E72-4F68-AB09-035545A19AA4}" srcOrd="0" destOrd="0" presId="urn:microsoft.com/office/officeart/2005/8/layout/vList5"/>
    <dgm:cxn modelId="{1F2E669F-7DDB-4578-A99F-3F42C44B983D}" type="presParOf" srcId="{04F23B02-15D5-4E04-A164-13D917249B82}" destId="{51009D7E-87C3-4050-B264-B166F5D7FF73}" srcOrd="1" destOrd="0" presId="urn:microsoft.com/office/officeart/2005/8/layout/vList5"/>
    <dgm:cxn modelId="{42850730-1148-42A7-B394-D2FAAD47E705}" type="presParOf" srcId="{B9B9023B-2B07-4C7A-8A34-E3BFF4F9C0C0}" destId="{122B0EE1-D19B-4D28-AB81-DE871F86281F}" srcOrd="3" destOrd="0" presId="urn:microsoft.com/office/officeart/2005/8/layout/vList5"/>
    <dgm:cxn modelId="{95AE7E48-ACDE-4E53-BF5E-CFC7BE68C4FD}" type="presParOf" srcId="{B9B9023B-2B07-4C7A-8A34-E3BFF4F9C0C0}" destId="{7BE2D9DB-0DCD-48D9-B1E9-BD6065C3E9A8}" srcOrd="4" destOrd="0" presId="urn:microsoft.com/office/officeart/2005/8/layout/vList5"/>
    <dgm:cxn modelId="{B62EE65F-16F9-4F99-8A46-16432DF5B695}" type="presParOf" srcId="{7BE2D9DB-0DCD-48D9-B1E9-BD6065C3E9A8}" destId="{84C8B117-8235-4EC3-AD32-4274421C3645}" srcOrd="0" destOrd="0" presId="urn:microsoft.com/office/officeart/2005/8/layout/vList5"/>
    <dgm:cxn modelId="{B2506397-12B4-44FD-A962-C2C4D3B5E346}" type="presParOf" srcId="{7BE2D9DB-0DCD-48D9-B1E9-BD6065C3E9A8}" destId="{704A57D7-F96B-4400-B35B-7317BCD9CD40}" srcOrd="1" destOrd="0" presId="urn:microsoft.com/office/officeart/2005/8/layout/vList5"/>
    <dgm:cxn modelId="{CDC8C2C7-893B-495B-AED1-2E8EBCBF7B74}" type="presParOf" srcId="{B9B9023B-2B07-4C7A-8A34-E3BFF4F9C0C0}" destId="{DE5377D3-173C-4F55-9C7B-D891A06673C7}" srcOrd="5" destOrd="0" presId="urn:microsoft.com/office/officeart/2005/8/layout/vList5"/>
    <dgm:cxn modelId="{0AC2AE51-F56C-40F6-97BF-134318F8FFF6}" type="presParOf" srcId="{B9B9023B-2B07-4C7A-8A34-E3BFF4F9C0C0}" destId="{84D36E8F-F4AB-479C-AA87-6A157B7E68BB}" srcOrd="6" destOrd="0" presId="urn:microsoft.com/office/officeart/2005/8/layout/vList5"/>
    <dgm:cxn modelId="{E4D5E36A-CC2A-4656-ABDE-15D3CD0643D0}" type="presParOf" srcId="{84D36E8F-F4AB-479C-AA87-6A157B7E68BB}" destId="{08D5B9AD-CCA7-4F7A-A0BE-4F23AD38F5DE}" srcOrd="0" destOrd="0" presId="urn:microsoft.com/office/officeart/2005/8/layout/vList5"/>
    <dgm:cxn modelId="{1B585A58-5F68-4F18-B917-9DFF9F98F42B}" type="presParOf" srcId="{84D36E8F-F4AB-479C-AA87-6A157B7E68BB}" destId="{E1DABACA-AC6D-48B1-ACB4-A01C08B89A2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A86C62-C576-474D-80B1-FABC70CFDCD1}">
      <dsp:nvSpPr>
        <dsp:cNvPr id="0" name=""/>
        <dsp:cNvSpPr/>
      </dsp:nvSpPr>
      <dsp:spPr>
        <a:xfrm>
          <a:off x="508634" y="0"/>
          <a:ext cx="5764530" cy="3505200"/>
        </a:xfrm>
        <a:prstGeom prst="rightArrow">
          <a:avLst/>
        </a:prstGeom>
        <a:solidFill>
          <a:srgbClr val="FEB80A"/>
        </a:solidFill>
        <a:ln>
          <a:noFill/>
        </a:ln>
        <a:effectLst/>
        <a:sp3d z="-400500" extrusionH="63500" contourW="12700" prstMaterial="matte">
          <a:contourClr>
            <a:schemeClr val="lt1">
              <a:tint val="5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B9CC40-7D36-4853-96A2-6D30695C96C3}">
      <dsp:nvSpPr>
        <dsp:cNvPr id="0" name=""/>
        <dsp:cNvSpPr/>
      </dsp:nvSpPr>
      <dsp:spPr>
        <a:xfrm>
          <a:off x="3394" y="1051559"/>
          <a:ext cx="1632532" cy="14020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300" b="1" kern="1200" dirty="0" smtClean="0"/>
            <a:t>P1. </a:t>
          </a:r>
          <a:r>
            <a:rPr lang="en-GB" sz="2300" b="1" u="sng" kern="1200" dirty="0" smtClean="0"/>
            <a:t>Activation</a:t>
          </a:r>
          <a:endParaRPr lang="en-US" sz="2300" b="1" u="sng" kern="1200" dirty="0"/>
        </a:p>
      </dsp:txBody>
      <dsp:txXfrm>
        <a:off x="71838" y="1120003"/>
        <a:ext cx="1495644" cy="1265192"/>
      </dsp:txXfrm>
    </dsp:sp>
    <dsp:sp modelId="{75C3E3E6-AA39-43B0-A211-D2FDEE010F5C}">
      <dsp:nvSpPr>
        <dsp:cNvPr id="0" name=""/>
        <dsp:cNvSpPr/>
      </dsp:nvSpPr>
      <dsp:spPr>
        <a:xfrm>
          <a:off x="1717553" y="1051559"/>
          <a:ext cx="1632532" cy="1402080"/>
        </a:xfrm>
        <a:prstGeom prst="roundRect">
          <a:avLst/>
        </a:prstGeom>
        <a:solidFill>
          <a:schemeClr val="accent5">
            <a:hueOff val="-1032173"/>
            <a:satOff val="10348"/>
            <a:lumOff val="-719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300" b="1" kern="1200" dirty="0" smtClean="0"/>
            <a:t>P2. </a:t>
          </a:r>
          <a:r>
            <a:rPr lang="en-GB" sz="2300" b="1" u="sng" kern="1200" dirty="0" smtClean="0"/>
            <a:t>Recovery</a:t>
          </a:r>
          <a:endParaRPr lang="en-US" sz="2300" b="1" u="sng" kern="1200" dirty="0"/>
        </a:p>
      </dsp:txBody>
      <dsp:txXfrm>
        <a:off x="1785997" y="1120003"/>
        <a:ext cx="1495644" cy="1265192"/>
      </dsp:txXfrm>
    </dsp:sp>
    <dsp:sp modelId="{6A60B644-F879-4736-9B7C-2C172E331FEC}">
      <dsp:nvSpPr>
        <dsp:cNvPr id="0" name=""/>
        <dsp:cNvSpPr/>
      </dsp:nvSpPr>
      <dsp:spPr>
        <a:xfrm>
          <a:off x="3431713" y="1051559"/>
          <a:ext cx="1632532" cy="1402080"/>
        </a:xfrm>
        <a:prstGeom prst="roundRect">
          <a:avLst/>
        </a:prstGeom>
        <a:solidFill>
          <a:schemeClr val="accent5">
            <a:hueOff val="-2064345"/>
            <a:satOff val="20696"/>
            <a:lumOff val="-14379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300" b="1" kern="1200" dirty="0" smtClean="0"/>
            <a:t>P3. </a:t>
          </a:r>
          <a:r>
            <a:rPr lang="en-GB" sz="2300" b="1" u="sng" kern="1200" dirty="0" smtClean="0"/>
            <a:t>Business Continuity</a:t>
          </a:r>
          <a:endParaRPr lang="en-US" sz="2300" b="1" u="sng" kern="1200" dirty="0"/>
        </a:p>
      </dsp:txBody>
      <dsp:txXfrm>
        <a:off x="3500157" y="1120003"/>
        <a:ext cx="1495644" cy="1265192"/>
      </dsp:txXfrm>
    </dsp:sp>
    <dsp:sp modelId="{C9E3CD60-EC6C-4E04-984C-A18C86F82B61}">
      <dsp:nvSpPr>
        <dsp:cNvPr id="0" name=""/>
        <dsp:cNvSpPr/>
      </dsp:nvSpPr>
      <dsp:spPr>
        <a:xfrm>
          <a:off x="5145872" y="1051559"/>
          <a:ext cx="1632532" cy="1402080"/>
        </a:xfrm>
        <a:prstGeom prst="roundRect">
          <a:avLst/>
        </a:prstGeom>
        <a:solidFill>
          <a:schemeClr val="accent5">
            <a:hueOff val="-3096518"/>
            <a:satOff val="31044"/>
            <a:lumOff val="-21569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300" b="1" kern="1200" dirty="0" smtClean="0"/>
            <a:t>P4. R</a:t>
          </a:r>
          <a:r>
            <a:rPr lang="en-GB" sz="2300" b="1" u="sng" kern="1200" dirty="0" smtClean="0"/>
            <a:t>eview</a:t>
          </a:r>
          <a:endParaRPr lang="en-US" sz="2300" b="1" u="sng" kern="1200" dirty="0"/>
        </a:p>
      </dsp:txBody>
      <dsp:txXfrm>
        <a:off x="5214316" y="1120003"/>
        <a:ext cx="1495644" cy="12651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146C9E-2767-45EE-9D2C-F3AFF115D116}">
      <dsp:nvSpPr>
        <dsp:cNvPr id="0" name=""/>
        <dsp:cNvSpPr/>
      </dsp:nvSpPr>
      <dsp:spPr>
        <a:xfrm rot="5400000">
          <a:off x="4556548" y="-2714198"/>
          <a:ext cx="776561" cy="6403135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0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5">
              <a:tint val="40000"/>
              <a:alpha val="90000"/>
              <a:hueOff val="0"/>
              <a:satOff val="0"/>
              <a:lumOff val="0"/>
              <a:alphaOff val="0"/>
              <a:alpha val="45000"/>
              <a:satMod val="120000"/>
            </a:schemeClr>
          </a:glo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600" kern="1200" dirty="0" smtClean="0"/>
            <a:t>Lead the team in executing BCP, collect info on incident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Make decisions or escalate to senior management</a:t>
          </a:r>
          <a:endParaRPr lang="en-US" sz="1600" kern="1200" dirty="0"/>
        </a:p>
      </dsp:txBody>
      <dsp:txXfrm rot="-5400000">
        <a:off x="1743262" y="136997"/>
        <a:ext cx="6365226" cy="700743"/>
      </dsp:txXfrm>
    </dsp:sp>
    <dsp:sp modelId="{72B001E8-277D-4B3E-ACF1-F401DE20F1F0}">
      <dsp:nvSpPr>
        <dsp:cNvPr id="0" name=""/>
        <dsp:cNvSpPr/>
      </dsp:nvSpPr>
      <dsp:spPr>
        <a:xfrm>
          <a:off x="0" y="0"/>
          <a:ext cx="1742410" cy="970701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48000"/>
                <a:satMod val="138000"/>
              </a:schemeClr>
            </a:gs>
            <a:gs pos="25000">
              <a:schemeClr val="accent5">
                <a:hueOff val="0"/>
                <a:satOff val="0"/>
                <a:lumOff val="0"/>
                <a:alphaOff val="0"/>
                <a:tint val="85000"/>
              </a:schemeClr>
            </a:gs>
            <a:gs pos="40000">
              <a:schemeClr val="accent5">
                <a:hueOff val="0"/>
                <a:satOff val="0"/>
                <a:lumOff val="0"/>
                <a:alphaOff val="0"/>
                <a:tint val="9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tint val="93000"/>
              </a:schemeClr>
            </a:gs>
            <a:gs pos="60000">
              <a:schemeClr val="accent5">
                <a:hueOff val="0"/>
                <a:satOff val="0"/>
                <a:lumOff val="0"/>
                <a:alphaOff val="0"/>
                <a:tint val="92000"/>
              </a:schemeClr>
            </a:gs>
            <a:gs pos="75000">
              <a:schemeClr val="accent5">
                <a:hueOff val="0"/>
                <a:satOff val="0"/>
                <a:lumOff val="0"/>
                <a:alphaOff val="0"/>
                <a:tint val="83000"/>
                <a:satMod val="108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48000"/>
                <a:satMod val="150000"/>
              </a:schemeClr>
            </a:gs>
          </a:gsLst>
          <a:lin ang="5400000" scaled="0"/>
        </a:gradFill>
        <a:ln>
          <a:noFill/>
        </a:ln>
        <a:effectLst>
          <a:glow rad="63500">
            <a:schemeClr val="accent5">
              <a:hueOff val="0"/>
              <a:satOff val="0"/>
              <a:lumOff val="0"/>
              <a:alphaOff val="0"/>
              <a:alpha val="45000"/>
              <a:satMod val="12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b="1" kern="1200" dirty="0" smtClean="0"/>
            <a:t>Team Leaders</a:t>
          </a:r>
          <a:endParaRPr lang="en-US" sz="2000" b="1" kern="1200" dirty="0"/>
        </a:p>
      </dsp:txBody>
      <dsp:txXfrm>
        <a:off x="47386" y="47386"/>
        <a:ext cx="1647638" cy="875929"/>
      </dsp:txXfrm>
    </dsp:sp>
    <dsp:sp modelId="{51009D7E-87C3-4050-B264-B166F5D7FF73}">
      <dsp:nvSpPr>
        <dsp:cNvPr id="0" name=""/>
        <dsp:cNvSpPr/>
      </dsp:nvSpPr>
      <dsp:spPr>
        <a:xfrm rot="5400000">
          <a:off x="4556548" y="-1694961"/>
          <a:ext cx="776561" cy="6403135"/>
        </a:xfrm>
        <a:prstGeom prst="round2SameRect">
          <a:avLst/>
        </a:prstGeom>
        <a:solidFill>
          <a:schemeClr val="accent5">
            <a:tint val="40000"/>
            <a:alpha val="90000"/>
            <a:hueOff val="-1210906"/>
            <a:satOff val="-1122"/>
            <a:lumOff val="-1036"/>
            <a:alphaOff val="0"/>
          </a:schemeClr>
        </a:solidFill>
        <a:ln w="12000" cap="flat" cmpd="sng" algn="ctr">
          <a:solidFill>
            <a:schemeClr val="accent5">
              <a:tint val="40000"/>
              <a:alpha val="90000"/>
              <a:hueOff val="-1210906"/>
              <a:satOff val="-1122"/>
              <a:lumOff val="-1036"/>
              <a:alphaOff val="0"/>
            </a:schemeClr>
          </a:solidFill>
          <a:prstDash val="solid"/>
        </a:ln>
        <a:effectLst>
          <a:glow rad="63500">
            <a:schemeClr val="accent5">
              <a:tint val="40000"/>
              <a:alpha val="90000"/>
              <a:hueOff val="-1210906"/>
              <a:satOff val="-1122"/>
              <a:lumOff val="-1036"/>
              <a:alphaOff val="0"/>
              <a:alpha val="45000"/>
              <a:satMod val="120000"/>
            </a:schemeClr>
          </a:glo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600" kern="1200" dirty="0" smtClean="0"/>
            <a:t>Technological solutions to incorporate as part of BCP.</a:t>
          </a:r>
          <a:endParaRPr lang="en-US" sz="1600" kern="1200" dirty="0" smtClean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e.g. System administrators, database administrators, storage engineers, security professionals, application specialists, etc</a:t>
          </a:r>
        </a:p>
      </dsp:txBody>
      <dsp:txXfrm rot="-5400000">
        <a:off x="1743262" y="1156234"/>
        <a:ext cx="6365226" cy="700743"/>
      </dsp:txXfrm>
    </dsp:sp>
    <dsp:sp modelId="{707F92B6-6E72-4F68-AB09-035545A19AA4}">
      <dsp:nvSpPr>
        <dsp:cNvPr id="0" name=""/>
        <dsp:cNvSpPr/>
      </dsp:nvSpPr>
      <dsp:spPr>
        <a:xfrm>
          <a:off x="851" y="1021254"/>
          <a:ext cx="1742410" cy="970701"/>
        </a:xfrm>
        <a:prstGeom prst="roundRect">
          <a:avLst/>
        </a:prstGeom>
        <a:gradFill rotWithShape="0">
          <a:gsLst>
            <a:gs pos="0">
              <a:schemeClr val="accent5">
                <a:hueOff val="-1032173"/>
                <a:satOff val="10348"/>
                <a:lumOff val="-7190"/>
                <a:alphaOff val="0"/>
                <a:tint val="48000"/>
                <a:satMod val="138000"/>
              </a:schemeClr>
            </a:gs>
            <a:gs pos="25000">
              <a:schemeClr val="accent5">
                <a:hueOff val="-1032173"/>
                <a:satOff val="10348"/>
                <a:lumOff val="-7190"/>
                <a:alphaOff val="0"/>
                <a:tint val="85000"/>
              </a:schemeClr>
            </a:gs>
            <a:gs pos="40000">
              <a:schemeClr val="accent5">
                <a:hueOff val="-1032173"/>
                <a:satOff val="10348"/>
                <a:lumOff val="-7190"/>
                <a:alphaOff val="0"/>
                <a:tint val="92000"/>
              </a:schemeClr>
            </a:gs>
            <a:gs pos="50000">
              <a:schemeClr val="accent5">
                <a:hueOff val="-1032173"/>
                <a:satOff val="10348"/>
                <a:lumOff val="-7190"/>
                <a:alphaOff val="0"/>
                <a:tint val="93000"/>
              </a:schemeClr>
            </a:gs>
            <a:gs pos="60000">
              <a:schemeClr val="accent5">
                <a:hueOff val="-1032173"/>
                <a:satOff val="10348"/>
                <a:lumOff val="-7190"/>
                <a:alphaOff val="0"/>
                <a:tint val="92000"/>
              </a:schemeClr>
            </a:gs>
            <a:gs pos="75000">
              <a:schemeClr val="accent5">
                <a:hueOff val="-1032173"/>
                <a:satOff val="10348"/>
                <a:lumOff val="-7190"/>
                <a:alphaOff val="0"/>
                <a:tint val="83000"/>
                <a:satMod val="108000"/>
              </a:schemeClr>
            </a:gs>
            <a:gs pos="100000">
              <a:schemeClr val="accent5">
                <a:hueOff val="-1032173"/>
                <a:satOff val="10348"/>
                <a:lumOff val="-7190"/>
                <a:alphaOff val="0"/>
                <a:tint val="48000"/>
                <a:satMod val="150000"/>
              </a:schemeClr>
            </a:gs>
          </a:gsLst>
          <a:lin ang="5400000" scaled="0"/>
        </a:gradFill>
        <a:ln>
          <a:noFill/>
        </a:ln>
        <a:effectLst>
          <a:glow rad="63500">
            <a:schemeClr val="accent5">
              <a:hueOff val="-1032173"/>
              <a:satOff val="10348"/>
              <a:lumOff val="-7190"/>
              <a:alphaOff val="0"/>
              <a:alpha val="45000"/>
              <a:satMod val="12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b="1" kern="1200" dirty="0" smtClean="0"/>
            <a:t>Technical Team Members</a:t>
          </a:r>
          <a:endParaRPr lang="en-US" sz="2000" b="1" kern="1200" dirty="0" smtClean="0"/>
        </a:p>
      </dsp:txBody>
      <dsp:txXfrm>
        <a:off x="48237" y="1068640"/>
        <a:ext cx="1647638" cy="875929"/>
      </dsp:txXfrm>
    </dsp:sp>
    <dsp:sp modelId="{704A57D7-F96B-4400-B35B-7317BCD9CD40}">
      <dsp:nvSpPr>
        <dsp:cNvPr id="0" name=""/>
        <dsp:cNvSpPr/>
      </dsp:nvSpPr>
      <dsp:spPr>
        <a:xfrm rot="5400000">
          <a:off x="4556548" y="-675725"/>
          <a:ext cx="776561" cy="6403135"/>
        </a:xfrm>
        <a:prstGeom prst="round2SameRect">
          <a:avLst/>
        </a:prstGeom>
        <a:solidFill>
          <a:schemeClr val="accent5">
            <a:tint val="40000"/>
            <a:alpha val="90000"/>
            <a:hueOff val="-2421813"/>
            <a:satOff val="-2243"/>
            <a:lumOff val="-2073"/>
            <a:alphaOff val="0"/>
          </a:schemeClr>
        </a:solidFill>
        <a:ln w="12000" cap="flat" cmpd="sng" algn="ctr">
          <a:solidFill>
            <a:schemeClr val="accent5">
              <a:tint val="40000"/>
              <a:alpha val="90000"/>
              <a:hueOff val="-2421813"/>
              <a:satOff val="-2243"/>
              <a:lumOff val="-2073"/>
              <a:alphaOff val="0"/>
            </a:schemeClr>
          </a:solidFill>
          <a:prstDash val="solid"/>
        </a:ln>
        <a:effectLst>
          <a:glow rad="63500">
            <a:schemeClr val="accent5">
              <a:tint val="40000"/>
              <a:alpha val="90000"/>
              <a:hueOff val="-2421813"/>
              <a:satOff val="-2243"/>
              <a:lumOff val="-2073"/>
              <a:alphaOff val="0"/>
              <a:alpha val="45000"/>
              <a:satMod val="120000"/>
            </a:schemeClr>
          </a:glo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600" kern="1200" dirty="0" smtClean="0"/>
            <a:t>Experts in business process in organization.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600" kern="1200" smtClean="0"/>
            <a:t>Identify </a:t>
          </a:r>
          <a:r>
            <a:rPr lang="en-GB" sz="1600" kern="1200" dirty="0" smtClean="0"/>
            <a:t>business impact and effectively determine ways to protect business processes from risk.</a:t>
          </a:r>
        </a:p>
      </dsp:txBody>
      <dsp:txXfrm rot="-5400000">
        <a:off x="1743262" y="2175470"/>
        <a:ext cx="6365226" cy="700743"/>
      </dsp:txXfrm>
    </dsp:sp>
    <dsp:sp modelId="{84C8B117-8235-4EC3-AD32-4274421C3645}">
      <dsp:nvSpPr>
        <dsp:cNvPr id="0" name=""/>
        <dsp:cNvSpPr/>
      </dsp:nvSpPr>
      <dsp:spPr>
        <a:xfrm>
          <a:off x="851" y="2040491"/>
          <a:ext cx="1742410" cy="970701"/>
        </a:xfrm>
        <a:prstGeom prst="roundRect">
          <a:avLst/>
        </a:prstGeom>
        <a:gradFill rotWithShape="0">
          <a:gsLst>
            <a:gs pos="0">
              <a:schemeClr val="accent5">
                <a:hueOff val="-2064345"/>
                <a:satOff val="20696"/>
                <a:lumOff val="-14379"/>
                <a:alphaOff val="0"/>
                <a:tint val="48000"/>
                <a:satMod val="138000"/>
              </a:schemeClr>
            </a:gs>
            <a:gs pos="25000">
              <a:schemeClr val="accent5">
                <a:hueOff val="-2064345"/>
                <a:satOff val="20696"/>
                <a:lumOff val="-14379"/>
                <a:alphaOff val="0"/>
                <a:tint val="85000"/>
              </a:schemeClr>
            </a:gs>
            <a:gs pos="40000">
              <a:schemeClr val="accent5">
                <a:hueOff val="-2064345"/>
                <a:satOff val="20696"/>
                <a:lumOff val="-14379"/>
                <a:alphaOff val="0"/>
                <a:tint val="92000"/>
              </a:schemeClr>
            </a:gs>
            <a:gs pos="50000">
              <a:schemeClr val="accent5">
                <a:hueOff val="-2064345"/>
                <a:satOff val="20696"/>
                <a:lumOff val="-14379"/>
                <a:alphaOff val="0"/>
                <a:tint val="93000"/>
              </a:schemeClr>
            </a:gs>
            <a:gs pos="60000">
              <a:schemeClr val="accent5">
                <a:hueOff val="-2064345"/>
                <a:satOff val="20696"/>
                <a:lumOff val="-14379"/>
                <a:alphaOff val="0"/>
                <a:tint val="92000"/>
              </a:schemeClr>
            </a:gs>
            <a:gs pos="75000">
              <a:schemeClr val="accent5">
                <a:hueOff val="-2064345"/>
                <a:satOff val="20696"/>
                <a:lumOff val="-14379"/>
                <a:alphaOff val="0"/>
                <a:tint val="83000"/>
                <a:satMod val="108000"/>
              </a:schemeClr>
            </a:gs>
            <a:gs pos="100000">
              <a:schemeClr val="accent5">
                <a:hueOff val="-2064345"/>
                <a:satOff val="20696"/>
                <a:lumOff val="-14379"/>
                <a:alphaOff val="0"/>
                <a:tint val="48000"/>
                <a:satMod val="150000"/>
              </a:schemeClr>
            </a:gs>
          </a:gsLst>
          <a:lin ang="5400000" scaled="0"/>
        </a:gradFill>
        <a:ln>
          <a:noFill/>
        </a:ln>
        <a:effectLst>
          <a:glow rad="63500">
            <a:schemeClr val="accent5">
              <a:hueOff val="-2064345"/>
              <a:satOff val="20696"/>
              <a:lumOff val="-14379"/>
              <a:alphaOff val="0"/>
              <a:alpha val="45000"/>
              <a:satMod val="12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b="1" kern="1200" dirty="0" smtClean="0"/>
            <a:t>Business Process Team Members</a:t>
          </a:r>
        </a:p>
      </dsp:txBody>
      <dsp:txXfrm>
        <a:off x="48237" y="2087877"/>
        <a:ext cx="1647638" cy="875929"/>
      </dsp:txXfrm>
    </dsp:sp>
    <dsp:sp modelId="{E1DABACA-AC6D-48B1-ACB4-A01C08B89A29}">
      <dsp:nvSpPr>
        <dsp:cNvPr id="0" name=""/>
        <dsp:cNvSpPr/>
      </dsp:nvSpPr>
      <dsp:spPr>
        <a:xfrm rot="5400000">
          <a:off x="4556548" y="343511"/>
          <a:ext cx="776561" cy="6403135"/>
        </a:xfrm>
        <a:prstGeom prst="round2SameRect">
          <a:avLst/>
        </a:prstGeom>
        <a:solidFill>
          <a:schemeClr val="accent5">
            <a:tint val="40000"/>
            <a:alpha val="90000"/>
            <a:hueOff val="-3632719"/>
            <a:satOff val="-3365"/>
            <a:lumOff val="-3109"/>
            <a:alphaOff val="0"/>
          </a:schemeClr>
        </a:solidFill>
        <a:ln w="12000" cap="flat" cmpd="sng" algn="ctr">
          <a:solidFill>
            <a:schemeClr val="accent5">
              <a:tint val="40000"/>
              <a:alpha val="90000"/>
              <a:hueOff val="-3632719"/>
              <a:satOff val="-3365"/>
              <a:lumOff val="-3109"/>
              <a:alphaOff val="0"/>
            </a:schemeClr>
          </a:solidFill>
          <a:prstDash val="solid"/>
        </a:ln>
        <a:effectLst>
          <a:glow rad="63500">
            <a:schemeClr val="accent5">
              <a:tint val="40000"/>
              <a:alpha val="90000"/>
              <a:hueOff val="-3632719"/>
              <a:satOff val="-3365"/>
              <a:lumOff val="-3109"/>
              <a:alphaOff val="0"/>
              <a:alpha val="45000"/>
              <a:satMod val="120000"/>
            </a:schemeClr>
          </a:glo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600" kern="1200" dirty="0" smtClean="0"/>
            <a:t>Assist in the planning phases of the BCP and when plan is activated.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600" kern="1200" dirty="0" smtClean="0"/>
            <a:t>e.g. Lawyer, </a:t>
          </a:r>
          <a:r>
            <a:rPr lang="en-US" sz="1600" kern="1200" dirty="0" smtClean="0"/>
            <a:t>public affairs representatives, administrative assistants, procurement specialists, etc</a:t>
          </a:r>
          <a:endParaRPr lang="en-GB" sz="1600" kern="1200" dirty="0" smtClean="0"/>
        </a:p>
      </dsp:txBody>
      <dsp:txXfrm rot="-5400000">
        <a:off x="1743262" y="3194707"/>
        <a:ext cx="6365226" cy="700743"/>
      </dsp:txXfrm>
    </dsp:sp>
    <dsp:sp modelId="{08D5B9AD-CCA7-4F7A-A0BE-4F23AD38F5DE}">
      <dsp:nvSpPr>
        <dsp:cNvPr id="0" name=""/>
        <dsp:cNvSpPr/>
      </dsp:nvSpPr>
      <dsp:spPr>
        <a:xfrm>
          <a:off x="851" y="3059728"/>
          <a:ext cx="1742410" cy="970701"/>
        </a:xfrm>
        <a:prstGeom prst="roundRect">
          <a:avLst/>
        </a:prstGeom>
        <a:gradFill rotWithShape="0">
          <a:gsLst>
            <a:gs pos="0">
              <a:schemeClr val="accent5">
                <a:hueOff val="-3096518"/>
                <a:satOff val="31044"/>
                <a:lumOff val="-21569"/>
                <a:alphaOff val="0"/>
                <a:tint val="48000"/>
                <a:satMod val="138000"/>
              </a:schemeClr>
            </a:gs>
            <a:gs pos="25000">
              <a:schemeClr val="accent5">
                <a:hueOff val="-3096518"/>
                <a:satOff val="31044"/>
                <a:lumOff val="-21569"/>
                <a:alphaOff val="0"/>
                <a:tint val="85000"/>
              </a:schemeClr>
            </a:gs>
            <a:gs pos="40000">
              <a:schemeClr val="accent5">
                <a:hueOff val="-3096518"/>
                <a:satOff val="31044"/>
                <a:lumOff val="-21569"/>
                <a:alphaOff val="0"/>
                <a:tint val="92000"/>
              </a:schemeClr>
            </a:gs>
            <a:gs pos="50000">
              <a:schemeClr val="accent5">
                <a:hueOff val="-3096518"/>
                <a:satOff val="31044"/>
                <a:lumOff val="-21569"/>
                <a:alphaOff val="0"/>
                <a:tint val="93000"/>
              </a:schemeClr>
            </a:gs>
            <a:gs pos="60000">
              <a:schemeClr val="accent5">
                <a:hueOff val="-3096518"/>
                <a:satOff val="31044"/>
                <a:lumOff val="-21569"/>
                <a:alphaOff val="0"/>
                <a:tint val="92000"/>
              </a:schemeClr>
            </a:gs>
            <a:gs pos="75000">
              <a:schemeClr val="accent5">
                <a:hueOff val="-3096518"/>
                <a:satOff val="31044"/>
                <a:lumOff val="-21569"/>
                <a:alphaOff val="0"/>
                <a:tint val="83000"/>
                <a:satMod val="108000"/>
              </a:schemeClr>
            </a:gs>
            <a:gs pos="100000">
              <a:schemeClr val="accent5">
                <a:hueOff val="-3096518"/>
                <a:satOff val="31044"/>
                <a:lumOff val="-21569"/>
                <a:alphaOff val="0"/>
                <a:tint val="48000"/>
                <a:satMod val="150000"/>
              </a:schemeClr>
            </a:gs>
          </a:gsLst>
          <a:lin ang="5400000" scaled="0"/>
        </a:gradFill>
        <a:ln>
          <a:noFill/>
        </a:ln>
        <a:effectLst>
          <a:glow rad="63500">
            <a:schemeClr val="accent5">
              <a:hueOff val="-3096518"/>
              <a:satOff val="31044"/>
              <a:lumOff val="-21569"/>
              <a:alphaOff val="0"/>
              <a:alpha val="45000"/>
              <a:satMod val="12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b="1" kern="1200" dirty="0" smtClean="0"/>
            <a:t>Supporting Team Members</a:t>
          </a:r>
        </a:p>
      </dsp:txBody>
      <dsp:txXfrm>
        <a:off x="48237" y="3107114"/>
        <a:ext cx="1647638" cy="8759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 smtClean="0"/>
              <a:t>Topic 1 – Introduction</a:t>
            </a:r>
          </a:p>
          <a:p>
            <a:r>
              <a:rPr lang="en-US" sz="1100" dirty="0" smtClean="0"/>
              <a:t>AY2012 S2</a:t>
            </a:r>
            <a:endParaRPr lang="en-US" sz="11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en-US" dirty="0" smtClean="0"/>
              <a:t>Page </a:t>
            </a:r>
            <a:fld id="{614830C6-7046-4E73-B492-EB73775AC04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-5905"/>
            <a:ext cx="6784975" cy="383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28" tIns="47964" rIns="95928" bIns="47964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51805" y="641977"/>
            <a:ext cx="5828774" cy="17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94003" y="257009"/>
            <a:ext cx="1745436" cy="266142"/>
          </a:xfrm>
          <a:prstGeom prst="rect">
            <a:avLst/>
          </a:prstGeom>
          <a:noFill/>
        </p:spPr>
        <p:txBody>
          <a:bodyPr wrap="none" lIns="95928" tIns="47964" rIns="95928" bIns="47964" rtlCol="0">
            <a:spAutoFit/>
          </a:bodyPr>
          <a:lstStyle/>
          <a:p>
            <a:r>
              <a:rPr lang="en-US" sz="1100" dirty="0" smtClean="0"/>
              <a:t>IT3522 Operations Security</a:t>
            </a:r>
            <a:endParaRPr lang="en-US" sz="1100" dirty="0"/>
          </a:p>
        </p:txBody>
      </p:sp>
      <p:pic>
        <p:nvPicPr>
          <p:cNvPr id="2" name="Picture 1" descr="Corporate NYP Logo_Horizontal_4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80" y="209539"/>
            <a:ext cx="1219200" cy="286512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777280" y="8905056"/>
            <a:ext cx="5828774" cy="17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5349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E8AB120-A64C-4DD7-98EB-8987E88416F3}" type="datetimeFigureOut">
              <a:rPr lang="en-US" smtClean="0"/>
              <a:pPr/>
              <a:t>8/30/2017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29F95C9-DA15-4933-A48E-633206A8F3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610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459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3962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214290"/>
            <a:ext cx="8064896" cy="9144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5112568"/>
          </a:xfrm>
        </p:spPr>
        <p:txBody>
          <a:bodyPr/>
          <a:lstStyle>
            <a:lvl1pPr>
              <a:buClr>
                <a:schemeClr val="tx1"/>
              </a:buClr>
              <a:defRPr baseline="0">
                <a:solidFill>
                  <a:srgbClr val="000099"/>
                </a:solidFill>
              </a:defRPr>
            </a:lvl1pPr>
            <a:lvl2pPr>
              <a:buClr>
                <a:srgbClr val="000099"/>
              </a:buClr>
              <a:buFont typeface="Wingdings" pitchFamily="2" charset="2"/>
              <a:buChar char="§"/>
              <a:defRPr/>
            </a:lvl2pPr>
            <a:lvl3pPr>
              <a:buClr>
                <a:schemeClr val="tx1"/>
              </a:buClr>
              <a:defRPr>
                <a:solidFill>
                  <a:srgbClr val="000099"/>
                </a:solidFill>
              </a:defRPr>
            </a:lvl3pPr>
            <a:lvl4pPr>
              <a:buClr>
                <a:srgbClr val="000099"/>
              </a:buClr>
              <a:defRPr/>
            </a:lvl4pPr>
            <a:lvl5pPr>
              <a:buClr>
                <a:schemeClr val="tx1"/>
              </a:buClr>
              <a:defRPr>
                <a:solidFill>
                  <a:srgbClr val="000099"/>
                </a:solidFill>
              </a:defRPr>
            </a:lvl5pPr>
            <a:extLst/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BB470A-1477-F74A-AB3B-D252E13D486E}" type="datetimeFigureOut">
              <a:rPr lang="en-US" smtClean="0"/>
              <a:pPr/>
              <a:t>8/30/2017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59AD15-9CBF-D543-B946-C48CBB65F3E1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539551" y="908720"/>
            <a:ext cx="806489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344" y="1770503"/>
            <a:ext cx="4038600" cy="4525963"/>
          </a:xfrm>
        </p:spPr>
        <p:txBody>
          <a:bodyPr/>
          <a:lstStyle>
            <a:lvl1pPr>
              <a:buClr>
                <a:schemeClr val="tx1"/>
              </a:buClr>
              <a:defRPr sz="2800" baseline="0">
                <a:solidFill>
                  <a:srgbClr val="000099"/>
                </a:solidFill>
              </a:defRPr>
            </a:lvl1pPr>
            <a:lvl2pPr>
              <a:buClr>
                <a:srgbClr val="000099"/>
              </a:buClr>
              <a:buFont typeface="Wingdings" pitchFamily="2" charset="2"/>
              <a:buChar char="§"/>
              <a:defRPr sz="2400" baseline="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000">
                <a:solidFill>
                  <a:srgbClr val="000099"/>
                </a:solidFill>
              </a:defRPr>
            </a:lvl3pPr>
            <a:lvl4pPr>
              <a:buClr>
                <a:srgbClr val="000099"/>
              </a:buClr>
              <a:defRPr sz="1800"/>
            </a:lvl4pPr>
            <a:lvl5pPr>
              <a:buClr>
                <a:schemeClr val="tx1"/>
              </a:buClr>
              <a:defRPr sz="1800">
                <a:solidFill>
                  <a:srgbClr val="000099"/>
                </a:solidFill>
              </a:defRPr>
            </a:lvl5pPr>
            <a:extLst/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344" y="1770503"/>
            <a:ext cx="4038600" cy="4525963"/>
          </a:xfrm>
        </p:spPr>
        <p:txBody>
          <a:bodyPr/>
          <a:lstStyle>
            <a:lvl1pPr>
              <a:buClr>
                <a:schemeClr val="tx1"/>
              </a:buClr>
              <a:defRPr sz="2800" baseline="0">
                <a:solidFill>
                  <a:srgbClr val="000099"/>
                </a:solidFill>
              </a:defRPr>
            </a:lvl1pPr>
            <a:lvl2pPr>
              <a:buClr>
                <a:srgbClr val="000099"/>
              </a:buClr>
              <a:buFont typeface="Wingdings" pitchFamily="2" charset="2"/>
              <a:buChar char="§"/>
              <a:defRPr sz="2400" baseline="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000">
                <a:solidFill>
                  <a:srgbClr val="000099"/>
                </a:solidFill>
              </a:defRPr>
            </a:lvl3pPr>
            <a:lvl4pPr>
              <a:buClr>
                <a:srgbClr val="000099"/>
              </a:buClr>
              <a:defRPr sz="1800"/>
            </a:lvl4pPr>
            <a:lvl5pPr>
              <a:buClr>
                <a:schemeClr val="tx1"/>
              </a:buClr>
              <a:defRPr sz="1800">
                <a:solidFill>
                  <a:srgbClr val="000099"/>
                </a:solidFill>
              </a:defRPr>
            </a:lvl5pPr>
            <a:extLst/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BB470A-1477-F74A-AB3B-D252E13D486E}" type="datetimeFigureOut">
              <a:rPr lang="en-US" smtClean="0"/>
              <a:pPr/>
              <a:t>8/30/2017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59AD15-9CBF-D543-B946-C48CBB65F3E1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539551" y="1124744"/>
            <a:ext cx="806489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16" name="Rectangle 20"/>
          <p:cNvSpPr>
            <a:spLocks noGrp="1" noChangeArrowheads="1"/>
          </p:cNvSpPr>
          <p:nvPr>
            <p:ph type="ctrTitle"/>
          </p:nvPr>
        </p:nvSpPr>
        <p:spPr>
          <a:xfrm>
            <a:off x="1828800" y="2133600"/>
            <a:ext cx="7315200" cy="1600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55317" name="Rectangle 21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7526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dirty="0" smtClean="0"/>
              <a:t>Click to edit Master subtitle style</a:t>
            </a:r>
            <a:endParaRPr lang="en-GB" dirty="0"/>
          </a:p>
        </p:txBody>
      </p:sp>
      <p:sp>
        <p:nvSpPr>
          <p:cNvPr id="5" name="Rectangle 22"/>
          <p:cNvSpPr>
            <a:spLocks noGrp="1" noChangeArrowheads="1"/>
          </p:cNvSpPr>
          <p:nvPr>
            <p:ph type="dt" sz="half" idx="10"/>
          </p:nvPr>
        </p:nvSpPr>
        <p:spPr>
          <a:xfrm>
            <a:off x="1371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12BB470A-1477-F74A-AB3B-D252E13D486E}" type="datetimeFigureOut">
              <a:rPr lang="en-US" smtClean="0"/>
              <a:pPr/>
              <a:t>8/30/2017</a:t>
            </a:fld>
            <a:endParaRPr lang="en-US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1"/>
          </p:nvPr>
        </p:nvSpPr>
        <p:spPr>
          <a:xfrm>
            <a:off x="3733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2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86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459AD15-9CBF-D543-B946-C48CBB65F3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12160" y="6416675"/>
            <a:ext cx="2055758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fld id="{12BB470A-1477-F74A-AB3B-D252E13D486E}" type="datetimeFigureOut">
              <a:rPr lang="en-US" smtClean="0"/>
              <a:pPr/>
              <a:t>8/30/2017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39551" y="6416675"/>
            <a:ext cx="5376597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30042" y="6400800"/>
            <a:ext cx="474406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fld id="{A459AD15-9CBF-D543-B946-C48CBB65F3E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39" name="Title Placeholder 21"/>
          <p:cNvSpPr>
            <a:spLocks noGrp="1"/>
          </p:cNvSpPr>
          <p:nvPr>
            <p:ph type="title"/>
          </p:nvPr>
        </p:nvSpPr>
        <p:spPr bwMode="auto">
          <a:xfrm>
            <a:off x="539552" y="512763"/>
            <a:ext cx="8064896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40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539552" y="1784350"/>
            <a:ext cx="8064896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72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9pPr>
      <a:extLst/>
    </p:titleStyle>
    <p:bodyStyle>
      <a:lvl1pPr marL="411163" indent="-342900" algn="l" rtl="0" eaLnBrk="1" fontAlgn="base" hangingPunct="1">
        <a:spcBef>
          <a:spcPts val="700"/>
        </a:spcBef>
        <a:spcAft>
          <a:spcPct val="0"/>
        </a:spcAft>
        <a:buClr>
          <a:schemeClr val="tx2"/>
        </a:buClr>
        <a:buSzPct val="95000"/>
        <a:buFont typeface="Wingdings" pitchFamily="2" charset="2"/>
        <a:buChar char=""/>
        <a:defRPr sz="3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739775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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5363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 2" pitchFamily="18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475" indent="-228600" algn="l" rtl="0" eaLnBrk="1" fontAlgn="base" hangingPunct="1">
        <a:spcBef>
          <a:spcPct val="20000"/>
        </a:spcBef>
        <a:spcAft>
          <a:spcPct val="0"/>
        </a:spcAft>
        <a:buClr>
          <a:srgbClr val="FEB80A"/>
        </a:buClr>
        <a:buFont typeface="Wingdings 3" pitchFamily="18" charset="2"/>
        <a:buChar char="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138" indent="-209550" algn="l" rtl="0" eaLnBrk="1" fontAlgn="base" hangingPunct="1">
        <a:spcBef>
          <a:spcPct val="20000"/>
        </a:spcBef>
        <a:spcAft>
          <a:spcPct val="0"/>
        </a:spcAft>
        <a:buClr>
          <a:srgbClr val="FEB80A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14-17%20BCP%202.5.4%20Disaster%20Recovery%20and%20Succession%20Planning%20-%20CompTIA%20Security+%20SY0-301_%202.5%20-%20YouTube%20%5b480p%5d.flv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14-17%20BCP%202.5.1%20Business%20Impact%20Analysis%20-%20CompTIA%20Security+%20SY0-301_%202.5%20-%20YouTube%20%5b480p%5d.flv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20" y="100608"/>
            <a:ext cx="8611344" cy="1600200"/>
          </a:xfrm>
        </p:spPr>
        <p:txBody>
          <a:bodyPr/>
          <a:lstStyle/>
          <a:p>
            <a:r>
              <a:rPr lang="en-GB" sz="3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IT2775 </a:t>
            </a:r>
            <a:r>
              <a:rPr lang="en-GB" sz="3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Operations Security</a:t>
            </a:r>
            <a:r>
              <a:rPr lang="en-GB" sz="3600" dirty="0" smtClean="0">
                <a:latin typeface="+mj-lt"/>
              </a:rPr>
              <a:t/>
            </a:r>
            <a:br>
              <a:rPr lang="en-GB" sz="3600" dirty="0" smtClean="0">
                <a:latin typeface="+mj-lt"/>
              </a:rPr>
            </a:br>
            <a:r>
              <a:rPr lang="en-GB" sz="3600" dirty="0" smtClean="0">
                <a:latin typeface="+mj-lt"/>
              </a:rPr>
              <a:t>Business Continuity Planning</a:t>
            </a:r>
            <a:endParaRPr lang="en-GB" sz="3600" dirty="0">
              <a:latin typeface="+mj-lt"/>
            </a:endParaRPr>
          </a:p>
        </p:txBody>
      </p:sp>
      <p:pic>
        <p:nvPicPr>
          <p:cNvPr id="28674" name="Picture 2" descr="http://staffportal.nyp.edu.sg/portal/page/portal/COMPublicPageGroup/PublicPage/nyp_logo/corporate_nyp_logo-horizontal/Corporate-NYP-Logo_Horizontal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9512" y="6237312"/>
            <a:ext cx="2428875" cy="571501"/>
          </a:xfrm>
          <a:prstGeom prst="rect">
            <a:avLst/>
          </a:prstGeom>
          <a:noFill/>
        </p:spPr>
      </p:pic>
      <p:sp>
        <p:nvSpPr>
          <p:cNvPr id="10" name="Subtitle 9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1" name="Picture 10" descr="https://encrypted-tbn0.gstatic.com/images?q=tbn:ANd9GcSUnaVuOAtotYX0C9QTCrCtzZzRBFi9qOFAkJv3YRviCIHXVPIkWA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556792"/>
            <a:ext cx="5288632" cy="4318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7544" y="214290"/>
            <a:ext cx="8496944" cy="914400"/>
          </a:xfrm>
        </p:spPr>
        <p:txBody>
          <a:bodyPr/>
          <a:lstStyle/>
          <a:p>
            <a:r>
              <a:rPr lang="en-GB" dirty="0" smtClean="0"/>
              <a:t>Objectives</a:t>
            </a:r>
            <a:endParaRPr lang="en-SG" dirty="0">
              <a:latin typeface="+mj-lt"/>
            </a:endParaRPr>
          </a:p>
        </p:txBody>
      </p:sp>
      <p:sp>
        <p:nvSpPr>
          <p:cNvPr id="7" name="Content Placeholder 4"/>
          <p:cNvSpPr>
            <a:spLocks noGrp="1"/>
          </p:cNvSpPr>
          <p:nvPr>
            <p:ph idx="1"/>
          </p:nvPr>
        </p:nvSpPr>
        <p:spPr>
          <a:xfrm>
            <a:off x="539552" y="1340768"/>
            <a:ext cx="8064896" cy="4896544"/>
          </a:xfrm>
        </p:spPr>
        <p:txBody>
          <a:bodyPr/>
          <a:lstStyle/>
          <a:p>
            <a:r>
              <a:rPr lang="en-GB" dirty="0" smtClean="0"/>
              <a:t>BCP/ DR (goals, why, phases)</a:t>
            </a:r>
          </a:p>
          <a:p>
            <a:r>
              <a:rPr lang="en-US" dirty="0" smtClean="0"/>
              <a:t>BCP Teams</a:t>
            </a:r>
          </a:p>
          <a:p>
            <a:r>
              <a:rPr lang="en-US" dirty="0" smtClean="0"/>
              <a:t>Team Training</a:t>
            </a:r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+mj-lt"/>
              </a:rPr>
              <a:t>Goals of BCP &amp; DR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smtClean="0"/>
              <a:t>BCP: To maintain continual business operations despite disasters/disruptive events.</a:t>
            </a:r>
          </a:p>
          <a:p>
            <a:r>
              <a:rPr lang="en-SG" dirty="0" smtClean="0"/>
              <a:t>DR: To get business back to normal operations promptly after a disruptive event (disaster).</a:t>
            </a:r>
          </a:p>
          <a:p>
            <a:pPr>
              <a:buNone/>
            </a:pPr>
            <a:endParaRPr lang="en-SG" dirty="0"/>
          </a:p>
        </p:txBody>
      </p:sp>
      <p:grpSp>
        <p:nvGrpSpPr>
          <p:cNvPr id="6" name="Group 5"/>
          <p:cNvGrpSpPr/>
          <p:nvPr/>
        </p:nvGrpSpPr>
        <p:grpSpPr>
          <a:xfrm>
            <a:off x="5645240" y="3573016"/>
            <a:ext cx="2383144" cy="387292"/>
            <a:chOff x="6438520" y="4962071"/>
            <a:chExt cx="1924862" cy="387292"/>
          </a:xfrm>
        </p:grpSpPr>
        <p:sp>
          <p:nvSpPr>
            <p:cNvPr id="7" name="TextBox 6"/>
            <p:cNvSpPr txBox="1"/>
            <p:nvPr/>
          </p:nvSpPr>
          <p:spPr>
            <a:xfrm>
              <a:off x="6845648" y="4962071"/>
              <a:ext cx="1517734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FFFF00"/>
                  </a:solidFill>
                </a:rPr>
                <a:t>Disaster Recovery</a:t>
              </a:r>
              <a:endParaRPr lang="en-GB" dirty="0">
                <a:solidFill>
                  <a:srgbClr val="FFFF00"/>
                </a:solidFill>
              </a:endParaRPr>
            </a:p>
          </p:txBody>
        </p:sp>
        <p:pic>
          <p:nvPicPr>
            <p:cNvPr id="8" name="Picture 3" descr="C:\Users\jamesg\AppData\Local\Microsoft\Windows\Temporary Internet Files\Content.IE5\AEEX0XL3\MP900430958[1].jpg">
              <a:hlinkClick r:id="rId3" action="ppaction://hlinkfile"/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438520" y="4971363"/>
              <a:ext cx="392738" cy="378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+mj-lt"/>
              </a:rPr>
              <a:t>Relationshi</a:t>
            </a:r>
            <a:r>
              <a:rPr lang="en-GB" dirty="0" smtClean="0"/>
              <a:t>p Between</a:t>
            </a:r>
            <a:r>
              <a:rPr lang="en-GB" dirty="0" smtClean="0">
                <a:latin typeface="+mj-lt"/>
              </a:rPr>
              <a:t> BCP &amp; DR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 dirty="0" smtClean="0"/>
          </a:p>
          <a:p>
            <a:endParaRPr lang="en-SG" dirty="0" smtClean="0"/>
          </a:p>
          <a:p>
            <a:endParaRPr lang="en-SG" dirty="0" smtClean="0"/>
          </a:p>
          <a:p>
            <a:endParaRPr lang="en-SG" dirty="0" smtClean="0"/>
          </a:p>
          <a:p>
            <a:endParaRPr lang="en-SG" dirty="0" smtClean="0"/>
          </a:p>
          <a:p>
            <a:r>
              <a:rPr lang="en-SG" dirty="0" smtClean="0"/>
              <a:t>DR is usually a part of BCP and deals with the impact immediately after the event.</a:t>
            </a:r>
          </a:p>
          <a:p>
            <a:r>
              <a:rPr lang="en-SG" dirty="0" smtClean="0"/>
              <a:t>DR involves stopping the effects of the disaster as quickly as possible and addressing the immediate aftermath of the disaster.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7736" y="1674326"/>
            <a:ext cx="9121140" cy="160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+mj-lt"/>
              </a:rPr>
              <a:t>Why BCP?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 smtClean="0"/>
              <a:t>Business interruptions cost time and money. </a:t>
            </a:r>
          </a:p>
          <a:p>
            <a:endParaRPr lang="en-GB" sz="2800" dirty="0" smtClean="0"/>
          </a:p>
          <a:p>
            <a:r>
              <a:rPr lang="en-GB" sz="2800" dirty="0" smtClean="0"/>
              <a:t>Customers’ needs not satisfied =&gt; go elsewhere.</a:t>
            </a:r>
          </a:p>
          <a:p>
            <a:pPr lvl="1"/>
            <a:r>
              <a:rPr lang="en-GB" sz="2400" dirty="0" smtClean="0"/>
              <a:t>Difficult to win back lost customers, especially if the cost of switching providers is high.</a:t>
            </a:r>
          </a:p>
          <a:p>
            <a:endParaRPr lang="en-GB" sz="2800" dirty="0" smtClean="0"/>
          </a:p>
          <a:p>
            <a:r>
              <a:rPr lang="en-GB" sz="2800" dirty="0" smtClean="0"/>
              <a:t>DR alone is not sufficient, business continuity is required as well.</a:t>
            </a:r>
            <a:endParaRPr lang="en-US" sz="2800" dirty="0"/>
          </a:p>
        </p:txBody>
      </p:sp>
      <p:grpSp>
        <p:nvGrpSpPr>
          <p:cNvPr id="6" name="Group 5"/>
          <p:cNvGrpSpPr/>
          <p:nvPr/>
        </p:nvGrpSpPr>
        <p:grpSpPr>
          <a:xfrm>
            <a:off x="5364089" y="5589240"/>
            <a:ext cx="3240361" cy="378000"/>
            <a:chOff x="6438520" y="4971363"/>
            <a:chExt cx="2617233" cy="378000"/>
          </a:xfrm>
        </p:grpSpPr>
        <p:sp>
          <p:nvSpPr>
            <p:cNvPr id="7" name="TextBox 6"/>
            <p:cNvSpPr txBox="1"/>
            <p:nvPr/>
          </p:nvSpPr>
          <p:spPr>
            <a:xfrm>
              <a:off x="6840090" y="4973026"/>
              <a:ext cx="2215663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FFFF00"/>
                  </a:solidFill>
                </a:rPr>
                <a:t>Business Impact Analysis</a:t>
              </a:r>
              <a:endParaRPr lang="en-GB" dirty="0">
                <a:solidFill>
                  <a:srgbClr val="FFFF00"/>
                </a:solidFill>
              </a:endParaRPr>
            </a:p>
          </p:txBody>
        </p:sp>
        <p:pic>
          <p:nvPicPr>
            <p:cNvPr id="8" name="Picture 3" descr="C:\Users\jamesg\AppData\Local\Microsoft\Windows\Temporary Internet Files\Content.IE5\AEEX0XL3\MP900430958[1].jpg">
              <a:hlinkClick r:id="rId3" action="ppaction://hlinkfile"/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438520" y="4971363"/>
              <a:ext cx="392738" cy="378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+mj-lt"/>
              </a:rPr>
              <a:t>Phases of BCP?</a:t>
            </a:r>
            <a:endParaRPr lang="en-SG" dirty="0">
              <a:latin typeface="+mj-lt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/>
        </p:nvGraphicFramePr>
        <p:xfrm>
          <a:off x="1143000" y="2438400"/>
          <a:ext cx="6781800" cy="350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8220075" y="6400800"/>
            <a:ext cx="457200" cy="365125"/>
          </a:xfrm>
        </p:spPr>
        <p:txBody>
          <a:bodyPr/>
          <a:lstStyle/>
          <a:p>
            <a:pPr>
              <a:defRPr/>
            </a:pPr>
            <a:fld id="{B2B2D882-0C88-421D-B585-2DA2B2272D2A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9" name="Line Callout 2 8"/>
          <p:cNvSpPr/>
          <p:nvPr/>
        </p:nvSpPr>
        <p:spPr>
          <a:xfrm>
            <a:off x="304800" y="5029200"/>
            <a:ext cx="4648200" cy="990600"/>
          </a:xfrm>
          <a:prstGeom prst="borderCallout2">
            <a:avLst>
              <a:gd name="adj1" fmla="val -1162"/>
              <a:gd name="adj2" fmla="val 77671"/>
              <a:gd name="adj3" fmla="val -17494"/>
              <a:gd name="adj4" fmla="val 81120"/>
              <a:gd name="adj5" fmla="val -51194"/>
              <a:gd name="adj6" fmla="val 81013"/>
            </a:avLst>
          </a:prstGeom>
          <a:solidFill>
            <a:srgbClr val="FF3300">
              <a:alpha val="75000"/>
            </a:srgbClr>
          </a:solidFill>
          <a:ln>
            <a:tailEnd type="oval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GB" sz="1400" b="1" dirty="0" smtClean="0"/>
              <a:t>Salvage equipment and assess situation or damage.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b="1" dirty="0" smtClean="0"/>
              <a:t>Determine which recovery steps to take to get operations up and running again.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b="1" dirty="0" smtClean="0"/>
              <a:t>Activate alternative computing facilities.</a:t>
            </a:r>
            <a:endParaRPr lang="en-US" sz="1400" b="1" dirty="0" smtClean="0"/>
          </a:p>
        </p:txBody>
      </p:sp>
      <p:sp>
        <p:nvSpPr>
          <p:cNvPr id="10" name="Line Callout 2 9"/>
          <p:cNvSpPr/>
          <p:nvPr/>
        </p:nvSpPr>
        <p:spPr>
          <a:xfrm>
            <a:off x="3886200" y="1524000"/>
            <a:ext cx="5029200" cy="1143000"/>
          </a:xfrm>
          <a:prstGeom prst="borderCallout2">
            <a:avLst>
              <a:gd name="adj1" fmla="val 99406"/>
              <a:gd name="adj2" fmla="val 48271"/>
              <a:gd name="adj3" fmla="val 131099"/>
              <a:gd name="adj4" fmla="val 48116"/>
              <a:gd name="adj5" fmla="val 203398"/>
              <a:gd name="adj6" fmla="val 29369"/>
            </a:avLst>
          </a:prstGeom>
          <a:solidFill>
            <a:srgbClr val="0070C0">
              <a:alpha val="75000"/>
            </a:srgbClr>
          </a:solidFill>
          <a:ln>
            <a:tailEnd type="oval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GB" sz="1400" b="1" dirty="0" smtClean="0"/>
              <a:t>How to resume operations from temporary location?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b="1" dirty="0" smtClean="0"/>
              <a:t>What workarounds are to be implemented?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b="1" dirty="0" smtClean="0"/>
              <a:t>Any manual methods required during this period?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b="1" dirty="0" smtClean="0"/>
              <a:t>Final steps in the phase - how to reintegrate or synchronize data when normal operations resume?</a:t>
            </a:r>
            <a:endParaRPr lang="en-US" sz="1400" b="1" dirty="0" smtClean="0"/>
          </a:p>
        </p:txBody>
      </p:sp>
      <p:sp>
        <p:nvSpPr>
          <p:cNvPr id="11" name="Line Callout 2 10"/>
          <p:cNvSpPr/>
          <p:nvPr/>
        </p:nvSpPr>
        <p:spPr>
          <a:xfrm>
            <a:off x="5181600" y="5638800"/>
            <a:ext cx="3733800" cy="990600"/>
          </a:xfrm>
          <a:prstGeom prst="borderCallout2">
            <a:avLst>
              <a:gd name="adj1" fmla="val -923"/>
              <a:gd name="adj2" fmla="val 46732"/>
              <a:gd name="adj3" fmla="val -32801"/>
              <a:gd name="adj4" fmla="val 39518"/>
              <a:gd name="adj5" fmla="val -67272"/>
              <a:gd name="adj6" fmla="val 39700"/>
            </a:avLst>
          </a:prstGeom>
          <a:solidFill>
            <a:srgbClr val="00B050">
              <a:alpha val="75000"/>
            </a:srgbClr>
          </a:solidFill>
          <a:ln>
            <a:tailEnd type="oval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GB" sz="1400" b="1" dirty="0" smtClean="0"/>
              <a:t>Maintenance phase will occur whether or not you ever activate your BC/DR plan.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b="1" dirty="0" smtClean="0"/>
              <a:t>Need to review on periodic basis to ensure it is current and relevant. </a:t>
            </a:r>
            <a:endParaRPr lang="en-US" sz="1400" b="1" dirty="0" smtClean="0"/>
          </a:p>
        </p:txBody>
      </p:sp>
      <p:sp>
        <p:nvSpPr>
          <p:cNvPr id="12" name="Line Callout 2 11"/>
          <p:cNvSpPr/>
          <p:nvPr/>
        </p:nvSpPr>
        <p:spPr>
          <a:xfrm>
            <a:off x="228600" y="1752600"/>
            <a:ext cx="2819400" cy="1143000"/>
          </a:xfrm>
          <a:prstGeom prst="borderCallout2">
            <a:avLst>
              <a:gd name="adj1" fmla="val 100060"/>
              <a:gd name="adj2" fmla="val 50152"/>
              <a:gd name="adj3" fmla="val 140100"/>
              <a:gd name="adj4" fmla="val 49792"/>
              <a:gd name="adj5" fmla="val 163367"/>
              <a:gd name="adj6" fmla="val 59489"/>
            </a:avLst>
          </a:prstGeom>
          <a:solidFill>
            <a:srgbClr val="C00000">
              <a:alpha val="75000"/>
            </a:srgbClr>
          </a:solidFill>
          <a:ln>
            <a:tailEnd type="oval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GB" sz="1400" b="1" dirty="0" smtClean="0"/>
              <a:t>When to trigger activation?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b="1" dirty="0" smtClean="0"/>
              <a:t>Who to activate?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b="1" dirty="0" smtClean="0"/>
              <a:t>Activate part of the plan or entire plan?</a:t>
            </a:r>
            <a:endParaRPr lang="en-US" sz="1400" b="1" dirty="0" smtClean="0"/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 descr="http://www.nirsoft.net/utils/bluescreen1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8334"/>
            <a:ext cx="9144000" cy="6858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8067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+mj-lt"/>
              </a:rPr>
              <a:t>BCP Team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sz="2800" dirty="0" smtClean="0"/>
              <a:t>Most critical to form the right BCP team. </a:t>
            </a:r>
          </a:p>
          <a:p>
            <a:pPr lvl="1"/>
            <a:r>
              <a:rPr lang="en-SG" sz="2400" dirty="0" smtClean="0"/>
              <a:t>Have the right balance of leadership, technical skills and business process knowledge.</a:t>
            </a:r>
          </a:p>
        </p:txBody>
      </p:sp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4612127"/>
              </p:ext>
            </p:extLst>
          </p:nvPr>
        </p:nvGraphicFramePr>
        <p:xfrm>
          <a:off x="539552" y="2564904"/>
          <a:ext cx="8147248" cy="4032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Other Related Teams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sz="2800" dirty="0" smtClean="0"/>
              <a:t>Crisis Management Team (CMT)</a:t>
            </a:r>
          </a:p>
          <a:p>
            <a:pPr lvl="1"/>
            <a:r>
              <a:rPr lang="en-SG" sz="2400" dirty="0" smtClean="0"/>
              <a:t>Who: Members are cross-departmental representatives in the organization.</a:t>
            </a:r>
          </a:p>
          <a:p>
            <a:pPr lvl="1"/>
            <a:r>
              <a:rPr lang="en-SG" sz="2400" dirty="0" smtClean="0"/>
              <a:t>What: </a:t>
            </a:r>
          </a:p>
          <a:p>
            <a:pPr lvl="2"/>
            <a:r>
              <a:rPr lang="en-SG" sz="2200" dirty="0" smtClean="0"/>
              <a:t>Decide course of action to deal with disruption. Escalate to senior management when necessary.</a:t>
            </a:r>
          </a:p>
          <a:p>
            <a:pPr lvl="2"/>
            <a:r>
              <a:rPr lang="en-SG" sz="2200" dirty="0" smtClean="0"/>
              <a:t>Manage and monitor progress of BCP/DR. </a:t>
            </a:r>
          </a:p>
          <a:p>
            <a:pPr lvl="2"/>
            <a:r>
              <a:rPr lang="en-SG" sz="2200" dirty="0" smtClean="0"/>
              <a:t>Delegate tasks and distribute use of resources.</a:t>
            </a:r>
          </a:p>
          <a:p>
            <a:pPr lvl="2"/>
            <a:r>
              <a:rPr lang="en-SG" sz="2200" dirty="0" smtClean="0"/>
              <a:t>Coordinate efforts internally and externally.</a:t>
            </a:r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Other Related Teams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sz="2800" dirty="0" smtClean="0"/>
              <a:t>Damage Assessment Team (DAT)</a:t>
            </a:r>
          </a:p>
          <a:p>
            <a:pPr lvl="1"/>
            <a:r>
              <a:rPr lang="en-SG" sz="2400" dirty="0" smtClean="0"/>
              <a:t>Comprised of people from key departments such as facilities, IT, HR and operations.</a:t>
            </a:r>
          </a:p>
          <a:p>
            <a:pPr lvl="1"/>
            <a:r>
              <a:rPr lang="en-SG" sz="2400" dirty="0" smtClean="0"/>
              <a:t>To assess the damage due to the disaster or disruption.</a:t>
            </a:r>
          </a:p>
          <a:p>
            <a:r>
              <a:rPr lang="en-SG" sz="2800" dirty="0" smtClean="0"/>
              <a:t>Emergency Response Team (ERT)</a:t>
            </a:r>
          </a:p>
          <a:p>
            <a:pPr lvl="1"/>
            <a:r>
              <a:rPr lang="en-SG" sz="2400" dirty="0" smtClean="0"/>
              <a:t>ERT respond to actual emergencies </a:t>
            </a:r>
          </a:p>
          <a:p>
            <a:pPr lvl="1"/>
            <a:r>
              <a:rPr lang="en-SG" sz="2400" dirty="0" smtClean="0"/>
              <a:t>Needs to be trained.</a:t>
            </a:r>
          </a:p>
          <a:p>
            <a:pPr lvl="1"/>
            <a:r>
              <a:rPr lang="en-SG" sz="2400" dirty="0" smtClean="0"/>
              <a:t>ERT leader: Responsible for activating and coordinating emergency response plan. Member of CMT.</a:t>
            </a:r>
          </a:p>
          <a:p>
            <a:pPr lvl="1"/>
            <a:r>
              <a:rPr lang="en-SG" sz="2400" dirty="0" smtClean="0"/>
              <a:t>ERT members: Support the emergency response with their specialized expertise.</a:t>
            </a:r>
          </a:p>
          <a:p>
            <a:pPr lvl="2"/>
            <a:r>
              <a:rPr lang="en-SG" sz="2200" dirty="0" smtClean="0"/>
              <a:t>E.g. Responsible for monitoring network security must know how to stop the problem in the event of a breach.</a:t>
            </a:r>
          </a:p>
          <a:p>
            <a:endParaRPr lang="en-SG" sz="2800" dirty="0" smtClean="0"/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BCP Training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sz="2800" dirty="0" smtClean="0"/>
              <a:t>BCP teams should already have the necessary technical knowledge and skills.</a:t>
            </a:r>
          </a:p>
          <a:p>
            <a:pPr lvl="1"/>
            <a:r>
              <a:rPr lang="en-SG" sz="2400" dirty="0" smtClean="0"/>
              <a:t>Preparation is to apply these knowledge and skills in the context of an emergency.</a:t>
            </a:r>
          </a:p>
          <a:p>
            <a:endParaRPr lang="en-SG" sz="2800" dirty="0" smtClean="0"/>
          </a:p>
          <a:p>
            <a:r>
              <a:rPr lang="en-SG" sz="2800" dirty="0" smtClean="0"/>
              <a:t>Team can be prepared and trained as follows</a:t>
            </a:r>
          </a:p>
          <a:p>
            <a:pPr marL="911225" lvl="1" indent="-457200">
              <a:buFont typeface="+mj-lt"/>
              <a:buAutoNum type="arabicPeriod"/>
            </a:pPr>
            <a:r>
              <a:rPr lang="en-SG" sz="2400" dirty="0" smtClean="0"/>
              <a:t>Paper simulations</a:t>
            </a:r>
          </a:p>
          <a:p>
            <a:pPr marL="911225" lvl="1" indent="-457200">
              <a:buFont typeface="+mj-lt"/>
              <a:buAutoNum type="arabicPeriod"/>
            </a:pPr>
            <a:r>
              <a:rPr lang="en-SG" sz="2400" dirty="0" smtClean="0"/>
              <a:t>Real simulations</a:t>
            </a:r>
          </a:p>
          <a:p>
            <a:pPr marL="911225" lvl="1" indent="-457200">
              <a:buFont typeface="+mj-lt"/>
              <a:buAutoNum type="arabicPeriod"/>
            </a:pPr>
            <a:r>
              <a:rPr lang="en-SG" sz="2400" dirty="0" smtClean="0"/>
              <a:t>Drills (announced and unannounced)</a:t>
            </a:r>
          </a:p>
          <a:p>
            <a:endParaRPr lang="en-SG" sz="2800" dirty="0" smtClean="0"/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BCP Training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39552" y="908720"/>
            <a:ext cx="8064896" cy="5112568"/>
          </a:xfrm>
        </p:spPr>
        <p:txBody>
          <a:bodyPr/>
          <a:lstStyle/>
          <a:p>
            <a:pPr marL="582613" indent="-514350">
              <a:buFont typeface="+mj-lt"/>
              <a:buAutoNum type="arabicPeriod"/>
            </a:pPr>
            <a:r>
              <a:rPr lang="en-SG" sz="2800" smtClean="0"/>
              <a:t>Paper Simulations</a:t>
            </a:r>
            <a:endParaRPr lang="en-SG" sz="2800" dirty="0" smtClean="0"/>
          </a:p>
          <a:p>
            <a:pPr marL="911225" lvl="1" indent="-457200"/>
            <a:r>
              <a:rPr lang="en-SG" sz="2400" dirty="0" smtClean="0"/>
              <a:t>Meeting-based simulation of incident. Sometimes called table-top exercise.</a:t>
            </a:r>
          </a:p>
          <a:p>
            <a:pPr marL="911225" lvl="1" indent="-457200"/>
            <a:r>
              <a:rPr lang="en-SG" sz="2400" dirty="0" smtClean="0"/>
              <a:t>Trainer will describe on simulated incident.</a:t>
            </a:r>
          </a:p>
          <a:p>
            <a:pPr marL="911225" lvl="1" indent="-457200"/>
            <a:r>
              <a:rPr lang="en-SG" sz="2400" dirty="0" smtClean="0"/>
              <a:t>Each member to describe the actions to be taken.</a:t>
            </a:r>
          </a:p>
          <a:p>
            <a:pPr marL="639763" indent="-514350">
              <a:buFont typeface="+mj-lt"/>
              <a:buAutoNum type="arabicPeriod"/>
            </a:pPr>
            <a:r>
              <a:rPr lang="en-SG" sz="2800" dirty="0" smtClean="0"/>
              <a:t>Real Simulations</a:t>
            </a:r>
          </a:p>
          <a:p>
            <a:pPr marL="968375" lvl="1" indent="-514350"/>
            <a:r>
              <a:rPr lang="en-SG" sz="2400" dirty="0" smtClean="0"/>
              <a:t>Team goes to actual site to do incident response.</a:t>
            </a:r>
          </a:p>
          <a:p>
            <a:pPr marL="968375" lvl="1" indent="-514350"/>
            <a:r>
              <a:rPr lang="en-SG" sz="2400" dirty="0" smtClean="0"/>
              <a:t>Systems are turned off to simulate real disaster.</a:t>
            </a:r>
          </a:p>
          <a:p>
            <a:pPr marL="968375" lvl="1" indent="-514350"/>
            <a:r>
              <a:rPr lang="en-SG" sz="2400" dirty="0" smtClean="0"/>
              <a:t>Where required, remote sites are activated.</a:t>
            </a:r>
          </a:p>
          <a:p>
            <a:pPr marL="968375" lvl="1" indent="-514350"/>
            <a:r>
              <a:rPr lang="en-SG" sz="2400" dirty="0" smtClean="0"/>
              <a:t>Expensive training as activity will require disruption to actual business activity.</a:t>
            </a:r>
          </a:p>
          <a:p>
            <a:pPr marL="968375" lvl="1" indent="-514350"/>
            <a:r>
              <a:rPr lang="en-SG" sz="2400" dirty="0" smtClean="0"/>
              <a:t>Done after all paper-based training to test out plan and iron out ground issues not present in paper simulations.</a:t>
            </a:r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BCP Training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5112568"/>
          </a:xfrm>
        </p:spPr>
        <p:txBody>
          <a:bodyPr/>
          <a:lstStyle/>
          <a:p>
            <a:pPr marL="582613" indent="-514350">
              <a:buFont typeface="+mj-lt"/>
              <a:buAutoNum type="arabicPeriod" startAt="3"/>
            </a:pPr>
            <a:r>
              <a:rPr lang="en-SG" sz="2800" dirty="0" smtClean="0"/>
              <a:t>Drills (announced &amp; unannounced)</a:t>
            </a:r>
          </a:p>
          <a:p>
            <a:pPr lvl="1"/>
            <a:r>
              <a:rPr lang="en-US" sz="2400" dirty="0" smtClean="0"/>
              <a:t>Short or no notice of disaster drill.</a:t>
            </a:r>
          </a:p>
          <a:p>
            <a:pPr lvl="1"/>
            <a:r>
              <a:rPr lang="en-US" sz="2400" dirty="0" smtClean="0"/>
              <a:t>Great time to do actual timing to evaluate speed of response.</a:t>
            </a:r>
          </a:p>
          <a:p>
            <a:pPr lvl="1"/>
            <a:r>
              <a:rPr lang="en-US" sz="2400" dirty="0" smtClean="0"/>
              <a:t>To be as realistic as possible, a few people should be aware of the drill’s existence.</a:t>
            </a:r>
          </a:p>
        </p:txBody>
      </p:sp>
      <p:pic>
        <p:nvPicPr>
          <p:cNvPr id="1026" name="Picture 2" descr="D:\Downloads\1. Acad\IT3522 Operations Security\Lectures\Reference\Images\9 BCP 3\Wk 13 Image  Business Continuity Planning &amp; Disaster Recovery 3_111338r_attempt_2013-07-16-16-52-07_Week 1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43562" y="3564458"/>
            <a:ext cx="2600846" cy="260084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7544" y="214290"/>
            <a:ext cx="7488832" cy="914400"/>
          </a:xfrm>
        </p:spPr>
        <p:txBody>
          <a:bodyPr/>
          <a:lstStyle/>
          <a:p>
            <a:r>
              <a:rPr lang="en-GB" dirty="0" smtClean="0"/>
              <a:t>Summary</a:t>
            </a:r>
            <a:endParaRPr lang="en-SG" dirty="0">
              <a:latin typeface="+mj-lt"/>
            </a:endParaRPr>
          </a:p>
        </p:txBody>
      </p:sp>
      <p:sp>
        <p:nvSpPr>
          <p:cNvPr id="7" name="Content Placeholder 4"/>
          <p:cNvSpPr>
            <a:spLocks noGrp="1"/>
          </p:cNvSpPr>
          <p:nvPr>
            <p:ph idx="1"/>
          </p:nvPr>
        </p:nvSpPr>
        <p:spPr>
          <a:xfrm>
            <a:off x="539552" y="1340768"/>
            <a:ext cx="8064896" cy="4896544"/>
          </a:xfrm>
        </p:spPr>
        <p:txBody>
          <a:bodyPr/>
          <a:lstStyle/>
          <a:p>
            <a:r>
              <a:rPr lang="en-GB" dirty="0" smtClean="0"/>
              <a:t>BCP/ DR (goals, why, phases)</a:t>
            </a:r>
          </a:p>
          <a:p>
            <a:r>
              <a:rPr lang="en-US" dirty="0" smtClean="0"/>
              <a:t>BCP Teams</a:t>
            </a:r>
          </a:p>
          <a:p>
            <a:r>
              <a:rPr lang="en-US" dirty="0" smtClean="0"/>
              <a:t>BCP Training</a:t>
            </a:r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IS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A7F9582DE2E34698E4DD99897B51E5" ma:contentTypeVersion="" ma:contentTypeDescription="Create a new document." ma:contentTypeScope="" ma:versionID="dd33e23194071e0c573bb55de309d7be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3e687d5f98ee29b9cfcc2ff24550dc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B253FE9-0E89-4C3E-8566-0BD1D2BBFB5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B2FE2E1-1F7B-4BEA-8D4E-B879954BAD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E0FF38B-E11F-48F6-9B18-BE87956B255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15176</TotalTime>
  <Words>784</Words>
  <Application>Microsoft Office PowerPoint</Application>
  <PresentationFormat>On-screen Show (4:3)</PresentationFormat>
  <Paragraphs>118</Paragraphs>
  <Slides>14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  <vt:variant>
        <vt:lpstr>Custom Shows</vt:lpstr>
      </vt:variant>
      <vt:variant>
        <vt:i4>1</vt:i4>
      </vt:variant>
    </vt:vector>
  </HeadingPairs>
  <TitlesOfParts>
    <vt:vector size="21" baseType="lpstr">
      <vt:lpstr>Myriad Pro Cond</vt:lpstr>
      <vt:lpstr>Calibri</vt:lpstr>
      <vt:lpstr>Wingdings</vt:lpstr>
      <vt:lpstr>Wingdings 2</vt:lpstr>
      <vt:lpstr>Wingdings 3</vt:lpstr>
      <vt:lpstr>DIS</vt:lpstr>
      <vt:lpstr>IT2775 Operations Security Business Continuity Planning</vt:lpstr>
      <vt:lpstr>Objectives</vt:lpstr>
      <vt:lpstr>Goals of BCP &amp; DR</vt:lpstr>
      <vt:lpstr>Relationship Between BCP &amp; DR</vt:lpstr>
      <vt:lpstr>Why BCP?</vt:lpstr>
      <vt:lpstr>Phases of BCP?</vt:lpstr>
      <vt:lpstr>PowerPoint Presentation</vt:lpstr>
      <vt:lpstr>BCP Team</vt:lpstr>
      <vt:lpstr>Other Related Teams</vt:lpstr>
      <vt:lpstr>Other Related Teams</vt:lpstr>
      <vt:lpstr>BCP Training</vt:lpstr>
      <vt:lpstr>BCP Training</vt:lpstr>
      <vt:lpstr>BCP Training</vt:lpstr>
      <vt:lpstr>Summary</vt:lpstr>
      <vt:lpstr>BCP1(Printable)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IT3522 Operations Security Wk 1: Introduction </dc:title>
  <cp:lastModifiedBy>HENG YIAK POR</cp:lastModifiedBy>
  <cp:revision>395</cp:revision>
  <cp:lastPrinted>2011-04-20T01:51:48Z</cp:lastPrinted>
  <dcterms:created xsi:type="dcterms:W3CDTF">2010-10-03T07:18:45Z</dcterms:created>
  <dcterms:modified xsi:type="dcterms:W3CDTF">2017-08-30T06:39:07Z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0x010100B6A7F9582DE2E34698E4DD99897B51E5</vt:lpwstr>
  </property>
</Properties>
</file>