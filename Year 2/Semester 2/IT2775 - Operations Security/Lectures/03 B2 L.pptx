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handoutMasterIdLst>
    <p:handoutMasterId r:id="rId28"/>
  </p:handoutMasterIdLst>
  <p:sldIdLst>
    <p:sldId id="256" r:id="rId5"/>
    <p:sldId id="282" r:id="rId6"/>
    <p:sldId id="258" r:id="rId7"/>
    <p:sldId id="285" r:id="rId8"/>
    <p:sldId id="287" r:id="rId9"/>
    <p:sldId id="288" r:id="rId10"/>
    <p:sldId id="289" r:id="rId11"/>
    <p:sldId id="291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4" r:id="rId20"/>
    <p:sldId id="303" r:id="rId21"/>
    <p:sldId id="305" r:id="rId22"/>
    <p:sldId id="292" r:id="rId23"/>
    <p:sldId id="293" r:id="rId24"/>
    <p:sldId id="294" r:id="rId25"/>
    <p:sldId id="295" r:id="rId26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502" autoAdjust="0"/>
  </p:normalViewPr>
  <p:slideViewPr>
    <p:cSldViewPr snapToObjects="1">
      <p:cViewPr varScale="1">
        <p:scale>
          <a:sx n="79" d="100"/>
          <a:sy n="79" d="100"/>
        </p:scale>
        <p:origin x="133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4" d="100"/>
          <a:sy n="54" d="100"/>
        </p:scale>
        <p:origin x="-2850" y="-84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452E03-019B-42E3-85F3-806D6DE7E8AA}" type="doc">
      <dgm:prSet loTypeId="urn:microsoft.com/office/officeart/2005/8/layout/radial5" loCatId="cycle" qsTypeId="urn:microsoft.com/office/officeart/2005/8/quickstyle/3d6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F533AF0-5EB5-4963-9FA5-7D1F39EEB72E}">
      <dgm:prSet phldrT="[Text]" custT="1"/>
      <dgm:spPr/>
      <dgm:t>
        <a:bodyPr/>
        <a:lstStyle/>
        <a:p>
          <a:r>
            <a:rPr lang="en-GB" sz="1800" b="1" dirty="0" smtClean="0">
              <a:solidFill>
                <a:schemeClr val="tx1"/>
              </a:solidFill>
            </a:rPr>
            <a:t>Organization</a:t>
          </a:r>
          <a:endParaRPr lang="en-US" sz="1800" b="1" dirty="0">
            <a:solidFill>
              <a:schemeClr val="tx1"/>
            </a:solidFill>
          </a:endParaRPr>
        </a:p>
      </dgm:t>
    </dgm:pt>
    <dgm:pt modelId="{536CA9B5-AF5A-4191-BBCC-8D5B960DC7C4}" type="parTrans" cxnId="{0C8CF404-95CB-4E60-8F4A-9E0AF696678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6336E894-680C-4E91-BAD6-4484B7EA1570}" type="sibTrans" cxnId="{0C8CF404-95CB-4E60-8F4A-9E0AF696678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129B8B1A-FBF1-4194-BD27-3164E8213200}">
      <dgm:prSet phldrT="[Text]" custT="1"/>
      <dgm:spPr>
        <a:solidFill>
          <a:srgbClr val="A92727"/>
        </a:solidFill>
      </dgm:spPr>
      <dgm:t>
        <a:bodyPr/>
        <a:lstStyle/>
        <a:p>
          <a:r>
            <a:rPr lang="en-GB" sz="1800" b="1" dirty="0" smtClean="0"/>
            <a:t>Employees</a:t>
          </a:r>
          <a:endParaRPr lang="en-US" sz="1800" b="1" dirty="0"/>
        </a:p>
      </dgm:t>
    </dgm:pt>
    <dgm:pt modelId="{2A4478EA-0C24-4A60-9606-18C667D58A99}" type="parTrans" cxnId="{9A16783B-555D-476C-9F8A-E5E0A255BD16}">
      <dgm:prSet/>
      <dgm:spPr>
        <a:solidFill>
          <a:srgbClr val="A92727"/>
        </a:solidFill>
      </dgm:spPr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EBBACFE5-789B-4F3D-9A8D-27515CDC563E}" type="sibTrans" cxnId="{9A16783B-555D-476C-9F8A-E5E0A255BD16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57F41BFB-3C64-47A9-BFEA-43F2D9FDE2B9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800" b="1" dirty="0" smtClean="0"/>
            <a:t>Customers</a:t>
          </a:r>
          <a:endParaRPr lang="en-US" sz="1800" b="1" dirty="0"/>
        </a:p>
      </dgm:t>
    </dgm:pt>
    <dgm:pt modelId="{D9912B80-D3C8-4DCA-A2F6-85319F465C16}" type="parTrans" cxnId="{9DF99D3A-A0E5-4873-B79A-6DC27B41232D}">
      <dgm:prSet/>
      <dgm:spPr>
        <a:solidFill>
          <a:srgbClr val="7030A0"/>
        </a:solidFill>
      </dgm:spPr>
      <dgm:t>
        <a:bodyPr/>
        <a:lstStyle/>
        <a:p>
          <a:endParaRPr lang="en-US" b="1">
            <a:solidFill>
              <a:schemeClr val="bg1"/>
            </a:solidFill>
          </a:endParaRPr>
        </a:p>
      </dgm:t>
    </dgm:pt>
    <dgm:pt modelId="{CD41F70C-7E86-4C31-9A0B-D5792B91361C}" type="sibTrans" cxnId="{9DF99D3A-A0E5-4873-B79A-6DC27B41232D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9199DBB-0F7D-4630-BF69-5B905655F260}">
      <dgm:prSet phldrT="[Text]" custT="1"/>
      <dgm:spPr>
        <a:solidFill>
          <a:srgbClr val="7030A0"/>
        </a:solidFill>
      </dgm:spPr>
      <dgm:t>
        <a:bodyPr/>
        <a:lstStyle/>
        <a:p>
          <a:r>
            <a:rPr lang="en-GB" sz="1800" b="1" dirty="0" smtClean="0"/>
            <a:t>Vendors</a:t>
          </a:r>
          <a:endParaRPr lang="en-US" sz="1800" b="1" dirty="0"/>
        </a:p>
      </dgm:t>
    </dgm:pt>
    <dgm:pt modelId="{AF2EA61E-043E-43B2-A10A-10E6FD6C9F82}" type="parTrans" cxnId="{1BD71D39-DAFB-4730-805A-1AABFE864D44}">
      <dgm:prSet/>
      <dgm:spPr>
        <a:solidFill>
          <a:srgbClr val="7030A0"/>
        </a:solidFill>
      </dgm:spPr>
      <dgm:t>
        <a:bodyPr/>
        <a:lstStyle/>
        <a:p>
          <a:endParaRPr lang="en-US" b="1">
            <a:solidFill>
              <a:schemeClr val="bg1"/>
            </a:solidFill>
          </a:endParaRPr>
        </a:p>
      </dgm:t>
    </dgm:pt>
    <dgm:pt modelId="{39CE2B3B-FE00-4DCB-82D2-D1DD12FB2C56}" type="sibTrans" cxnId="{1BD71D39-DAFB-4730-805A-1AABFE864D44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4A9BD8CE-E126-4E61-A41B-573B99BAA8D8}">
      <dgm:prSet phldrT="[Text]" custT="1"/>
      <dgm:spPr>
        <a:solidFill>
          <a:srgbClr val="A92727"/>
        </a:solidFill>
      </dgm:spPr>
      <dgm:t>
        <a:bodyPr/>
        <a:lstStyle/>
        <a:p>
          <a:r>
            <a:rPr lang="en-GB" sz="1800" b="1" dirty="0" smtClean="0"/>
            <a:t>Shareholders</a:t>
          </a:r>
          <a:endParaRPr lang="en-US" sz="1800" b="1" dirty="0"/>
        </a:p>
      </dgm:t>
    </dgm:pt>
    <dgm:pt modelId="{D9BE8EF6-14AD-42E4-9C38-F5D1AF7634A7}" type="parTrans" cxnId="{9B3F7F7D-6C65-4D0F-A100-C731FC5F7D9B}">
      <dgm:prSet/>
      <dgm:spPr>
        <a:solidFill>
          <a:srgbClr val="A92727"/>
        </a:solidFill>
      </dgm:spPr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43CB8233-D495-4F3E-BBF8-221B4A199792}" type="sibTrans" cxnId="{9B3F7F7D-6C65-4D0F-A100-C731FC5F7D9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C2F91E8E-DD19-4371-9F7E-CA111678FF67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sz="1800" b="1" dirty="0" smtClean="0"/>
            <a:t>Public</a:t>
          </a:r>
          <a:endParaRPr lang="en-US" sz="1800" b="1" dirty="0"/>
        </a:p>
      </dgm:t>
    </dgm:pt>
    <dgm:pt modelId="{A58FA45F-1730-4E6C-A4F5-4791C9760141}" type="parTrans" cxnId="{481EB4DB-0255-466E-8DEF-383A88BA9AD3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b="1">
            <a:solidFill>
              <a:schemeClr val="bg1"/>
            </a:solidFill>
          </a:endParaRPr>
        </a:p>
      </dgm:t>
    </dgm:pt>
    <dgm:pt modelId="{3C1416D1-53BD-4257-902C-CF3C66C5842A}" type="sibTrans" cxnId="{481EB4DB-0255-466E-8DEF-383A88BA9AD3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09A5028C-B0B5-4FA3-805E-CB42F14DBDCF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GB" sz="1800" b="1" dirty="0" smtClean="0"/>
            <a:t>Media</a:t>
          </a:r>
          <a:endParaRPr lang="en-US" sz="1800" b="1" dirty="0"/>
        </a:p>
      </dgm:t>
    </dgm:pt>
    <dgm:pt modelId="{5FE2EEF2-CA29-4E7D-A8DE-AEF724134D27}" type="parTrans" cxnId="{48743975-05DE-455C-81CE-5C357B253BCB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endParaRPr lang="en-US" b="1">
            <a:solidFill>
              <a:schemeClr val="bg1"/>
            </a:solidFill>
          </a:endParaRPr>
        </a:p>
      </dgm:t>
    </dgm:pt>
    <dgm:pt modelId="{E75D97FB-5402-4F5D-9713-27BE7823F9F4}" type="sibTrans" cxnId="{48743975-05DE-455C-81CE-5C357B253BCB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FB6A8E89-4964-4418-B594-56A4BC91C1F9}">
      <dgm:prSet phldrT="[Text]" custT="1"/>
      <dgm:spPr/>
      <dgm:t>
        <a:bodyPr/>
        <a:lstStyle/>
        <a:p>
          <a:r>
            <a:rPr lang="en-GB" sz="1800" b="1" dirty="0" smtClean="0"/>
            <a:t>Law Enforcement Agencies</a:t>
          </a:r>
          <a:endParaRPr lang="en-US" sz="1800" b="1" dirty="0"/>
        </a:p>
      </dgm:t>
    </dgm:pt>
    <dgm:pt modelId="{C1AF3999-D454-4B6B-B39C-4581DBEDFD1F}" type="parTrans" cxnId="{690696FB-7244-4920-973C-E21003113EF2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39F287E5-E8E6-41A1-B2DC-10295C3791A0}" type="sibTrans" cxnId="{690696FB-7244-4920-973C-E21003113EF2}">
      <dgm:prSet/>
      <dgm:spPr/>
      <dgm:t>
        <a:bodyPr/>
        <a:lstStyle/>
        <a:p>
          <a:endParaRPr lang="en-US" b="1">
            <a:solidFill>
              <a:schemeClr val="tx1"/>
            </a:solidFill>
          </a:endParaRPr>
        </a:p>
      </dgm:t>
    </dgm:pt>
    <dgm:pt modelId="{57021008-5A77-4B76-9C96-0BEDC157CEBB}" type="pres">
      <dgm:prSet presAssocID="{24452E03-019B-42E3-85F3-806D6DE7E8AA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53DEF0B-C07B-4B4B-8CD8-E1D7964E5AED}" type="pres">
      <dgm:prSet presAssocID="{1F533AF0-5EB5-4963-9FA5-7D1F39EEB72E}" presName="centerShape" presStyleLbl="node0" presStyleIdx="0" presStyleCnt="1" custScaleX="151938" custScaleY="83668"/>
      <dgm:spPr/>
      <dgm:t>
        <a:bodyPr/>
        <a:lstStyle/>
        <a:p>
          <a:endParaRPr lang="en-US"/>
        </a:p>
      </dgm:t>
    </dgm:pt>
    <dgm:pt modelId="{1095B8A4-3780-4091-B3F7-02A71ED5B0A0}" type="pres">
      <dgm:prSet presAssocID="{2A4478EA-0C24-4A60-9606-18C667D58A99}" presName="parTrans" presStyleLbl="sibTrans2D1" presStyleIdx="0" presStyleCnt="7" custScaleX="158654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995891F9-82A3-42E8-B4FC-41E6C07C037B}" type="pres">
      <dgm:prSet presAssocID="{2A4478EA-0C24-4A60-9606-18C667D58A99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A0FA88C3-EB31-4620-B7A3-A1A4C6065883}" type="pres">
      <dgm:prSet presAssocID="{129B8B1A-FBF1-4194-BD27-3164E8213200}" presName="node" presStyleLbl="node1" presStyleIdx="0" presStyleCnt="7" custScaleX="162169" custScaleY="85134" custRadScaleRad="1051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D56486-1CB0-492F-AB27-0221DBDE2D94}" type="pres">
      <dgm:prSet presAssocID="{D9912B80-D3C8-4DCA-A2F6-85319F465C16}" presName="parTrans" presStyleLbl="sibTrans2D1" presStyleIdx="1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BBE0C2B6-89AF-4B23-B267-41A1A709223A}" type="pres">
      <dgm:prSet presAssocID="{D9912B80-D3C8-4DCA-A2F6-85319F465C16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5917D0A8-4927-4D9F-9E3E-480CB181E29F}" type="pres">
      <dgm:prSet presAssocID="{57F41BFB-3C64-47A9-BFEA-43F2D9FDE2B9}" presName="node" presStyleLbl="node1" presStyleIdx="1" presStyleCnt="7" custScaleX="162169" custScaleY="85134" custRadScaleRad="138456" custRadScaleInc="309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6E2433-82F4-43A7-8DC4-3D5B50BE7F19}" type="pres">
      <dgm:prSet presAssocID="{AF2EA61E-043E-43B2-A10A-10E6FD6C9F82}" presName="parTrans" presStyleLbl="sibTrans2D1" presStyleIdx="2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7F979115-B21F-475C-A8EF-2F3B2C272A13}" type="pres">
      <dgm:prSet presAssocID="{AF2EA61E-043E-43B2-A10A-10E6FD6C9F82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2935A941-3B8E-4493-86D5-3DC226C8D5B8}" type="pres">
      <dgm:prSet presAssocID="{09199DBB-0F7D-4630-BF69-5B905655F260}" presName="node" presStyleLbl="node1" presStyleIdx="2" presStyleCnt="7" custScaleX="162169" custScaleY="85134" custRadScaleRad="163247" custRadScaleInc="-2800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C21C9F-C410-4000-84C8-B89B949F0D33}" type="pres">
      <dgm:prSet presAssocID="{D9BE8EF6-14AD-42E4-9C38-F5D1AF7634A7}" presName="parTrans" presStyleLbl="sibTrans2D1" presStyleIdx="3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821FDF2C-92CA-4CEB-AB78-952EA3C50CA6}" type="pres">
      <dgm:prSet presAssocID="{D9BE8EF6-14AD-42E4-9C38-F5D1AF7634A7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1CC5FA54-65E1-4DFF-944C-1436C5F08316}" type="pres">
      <dgm:prSet presAssocID="{4A9BD8CE-E126-4E61-A41B-573B99BAA8D8}" presName="node" presStyleLbl="node1" presStyleIdx="3" presStyleCnt="7" custScaleX="162169" custScaleY="85134" custRadScaleRad="117691" custRadScaleInc="-4525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D1B3E8-8F13-4D4D-AE58-6037A6EB5127}" type="pres">
      <dgm:prSet presAssocID="{A58FA45F-1730-4E6C-A4F5-4791C9760141}" presName="parTrans" presStyleLbl="sibTrans2D1" presStyleIdx="4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2FAC43DE-23BD-4F72-8D41-1626B86E883F}" type="pres">
      <dgm:prSet presAssocID="{A58FA45F-1730-4E6C-A4F5-4791C9760141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4A2324A6-DCBF-4013-BE21-4F002D921561}" type="pres">
      <dgm:prSet presAssocID="{C2F91E8E-DD19-4371-9F7E-CA111678FF67}" presName="node" presStyleLbl="node1" presStyleIdx="4" presStyleCnt="7" custScaleX="162169" custScaleY="85134" custRadScaleRad="114043" custRadScaleInc="2005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4016A72-232D-412F-987F-2D7AD8AD0857}" type="pres">
      <dgm:prSet presAssocID="{5FE2EEF2-CA29-4E7D-A8DE-AEF724134D27}" presName="parTrans" presStyleLbl="sibTrans2D1" presStyleIdx="5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55C92D49-366F-4ABB-8C41-139C205B66F9}" type="pres">
      <dgm:prSet presAssocID="{5FE2EEF2-CA29-4E7D-A8DE-AEF724134D27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82E49BD7-2B91-409A-BF63-CFF0B4244106}" type="pres">
      <dgm:prSet presAssocID="{09A5028C-B0B5-4FA3-805E-CB42F14DBDCF}" presName="node" presStyleLbl="node1" presStyleIdx="5" presStyleCnt="7" custScaleX="162169" custScaleY="85134" custRadScaleRad="159973" custRadScaleInc="160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002CD51-CD4A-4A32-B449-BC51BD04F5E0}" type="pres">
      <dgm:prSet presAssocID="{C1AF3999-D454-4B6B-B39C-4581DBEDFD1F}" presName="parTrans" presStyleLbl="sibTrans2D1" presStyleIdx="6" presStyleCnt="7" custScaleX="173065"/>
      <dgm:spPr>
        <a:prstGeom prst="leftRightArrow">
          <a:avLst/>
        </a:prstGeom>
      </dgm:spPr>
      <dgm:t>
        <a:bodyPr/>
        <a:lstStyle/>
        <a:p>
          <a:endParaRPr lang="en-US"/>
        </a:p>
      </dgm:t>
    </dgm:pt>
    <dgm:pt modelId="{A4233043-56E1-4BCE-8218-FD5F350CDC2D}" type="pres">
      <dgm:prSet presAssocID="{C1AF3999-D454-4B6B-B39C-4581DBEDFD1F}" presName="connectorText" presStyleLbl="sibTrans2D1" presStyleIdx="6" presStyleCnt="7"/>
      <dgm:spPr/>
      <dgm:t>
        <a:bodyPr/>
        <a:lstStyle/>
        <a:p>
          <a:endParaRPr lang="en-US"/>
        </a:p>
      </dgm:t>
    </dgm:pt>
    <dgm:pt modelId="{8C938A1E-3BF8-4C20-A72D-063D662457E4}" type="pres">
      <dgm:prSet presAssocID="{FB6A8E89-4964-4418-B594-56A4BC91C1F9}" presName="node" presStyleLbl="node1" presStyleIdx="6" presStyleCnt="7" custScaleX="162169" custScaleY="85134" custRadScaleRad="132532" custRadScaleInc="-3346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8DA6856-859C-4296-8418-6F6F29A8E39B}" type="presOf" srcId="{1F533AF0-5EB5-4963-9FA5-7D1F39EEB72E}" destId="{853DEF0B-C07B-4B4B-8CD8-E1D7964E5AED}" srcOrd="0" destOrd="0" presId="urn:microsoft.com/office/officeart/2005/8/layout/radial5"/>
    <dgm:cxn modelId="{1AECEDA5-4412-4434-A055-21BB0542C901}" type="presOf" srcId="{5FE2EEF2-CA29-4E7D-A8DE-AEF724134D27}" destId="{55C92D49-366F-4ABB-8C41-139C205B66F9}" srcOrd="1" destOrd="0" presId="urn:microsoft.com/office/officeart/2005/8/layout/radial5"/>
    <dgm:cxn modelId="{EB3099AE-4A7C-423B-8924-EDEFA9F22D8D}" type="presOf" srcId="{24452E03-019B-42E3-85F3-806D6DE7E8AA}" destId="{57021008-5A77-4B76-9C96-0BEDC157CEBB}" srcOrd="0" destOrd="0" presId="urn:microsoft.com/office/officeart/2005/8/layout/radial5"/>
    <dgm:cxn modelId="{1FDCF8EE-B5C3-4B57-A327-AFFF243327D8}" type="presOf" srcId="{D9BE8EF6-14AD-42E4-9C38-F5D1AF7634A7}" destId="{821FDF2C-92CA-4CEB-AB78-952EA3C50CA6}" srcOrd="1" destOrd="0" presId="urn:microsoft.com/office/officeart/2005/8/layout/radial5"/>
    <dgm:cxn modelId="{481EB4DB-0255-466E-8DEF-383A88BA9AD3}" srcId="{1F533AF0-5EB5-4963-9FA5-7D1F39EEB72E}" destId="{C2F91E8E-DD19-4371-9F7E-CA111678FF67}" srcOrd="4" destOrd="0" parTransId="{A58FA45F-1730-4E6C-A4F5-4791C9760141}" sibTransId="{3C1416D1-53BD-4257-902C-CF3C66C5842A}"/>
    <dgm:cxn modelId="{4897FABA-76A7-48E3-B8FE-2F2BE4B753ED}" type="presOf" srcId="{2A4478EA-0C24-4A60-9606-18C667D58A99}" destId="{995891F9-82A3-42E8-B4FC-41E6C07C037B}" srcOrd="1" destOrd="0" presId="urn:microsoft.com/office/officeart/2005/8/layout/radial5"/>
    <dgm:cxn modelId="{A21859D3-D1EA-40B6-B93C-2F4C4BEE1650}" type="presOf" srcId="{D9BE8EF6-14AD-42E4-9C38-F5D1AF7634A7}" destId="{65C21C9F-C410-4000-84C8-B89B949F0D33}" srcOrd="0" destOrd="0" presId="urn:microsoft.com/office/officeart/2005/8/layout/radial5"/>
    <dgm:cxn modelId="{9A16783B-555D-476C-9F8A-E5E0A255BD16}" srcId="{1F533AF0-5EB5-4963-9FA5-7D1F39EEB72E}" destId="{129B8B1A-FBF1-4194-BD27-3164E8213200}" srcOrd="0" destOrd="0" parTransId="{2A4478EA-0C24-4A60-9606-18C667D58A99}" sibTransId="{EBBACFE5-789B-4F3D-9A8D-27515CDC563E}"/>
    <dgm:cxn modelId="{4B280F15-E860-45B5-8446-26FD9DCCC5EE}" type="presOf" srcId="{FB6A8E89-4964-4418-B594-56A4BC91C1F9}" destId="{8C938A1E-3BF8-4C20-A72D-063D662457E4}" srcOrd="0" destOrd="0" presId="urn:microsoft.com/office/officeart/2005/8/layout/radial5"/>
    <dgm:cxn modelId="{5089C8DB-726B-4BE8-B7E4-350A9BB95447}" type="presOf" srcId="{57F41BFB-3C64-47A9-BFEA-43F2D9FDE2B9}" destId="{5917D0A8-4927-4D9F-9E3E-480CB181E29F}" srcOrd="0" destOrd="0" presId="urn:microsoft.com/office/officeart/2005/8/layout/radial5"/>
    <dgm:cxn modelId="{155C09CD-8130-4209-8666-B179F4209EF7}" type="presOf" srcId="{AF2EA61E-043E-43B2-A10A-10E6FD6C9F82}" destId="{3D6E2433-82F4-43A7-8DC4-3D5B50BE7F19}" srcOrd="0" destOrd="0" presId="urn:microsoft.com/office/officeart/2005/8/layout/radial5"/>
    <dgm:cxn modelId="{690696FB-7244-4920-973C-E21003113EF2}" srcId="{1F533AF0-5EB5-4963-9FA5-7D1F39EEB72E}" destId="{FB6A8E89-4964-4418-B594-56A4BC91C1F9}" srcOrd="6" destOrd="0" parTransId="{C1AF3999-D454-4B6B-B39C-4581DBEDFD1F}" sibTransId="{39F287E5-E8E6-41A1-B2DC-10295C3791A0}"/>
    <dgm:cxn modelId="{1BD71D39-DAFB-4730-805A-1AABFE864D44}" srcId="{1F533AF0-5EB5-4963-9FA5-7D1F39EEB72E}" destId="{09199DBB-0F7D-4630-BF69-5B905655F260}" srcOrd="2" destOrd="0" parTransId="{AF2EA61E-043E-43B2-A10A-10E6FD6C9F82}" sibTransId="{39CE2B3B-FE00-4DCB-82D2-D1DD12FB2C56}"/>
    <dgm:cxn modelId="{999DE81C-D160-4C19-90AB-8491CFD0252D}" type="presOf" srcId="{09A5028C-B0B5-4FA3-805E-CB42F14DBDCF}" destId="{82E49BD7-2B91-409A-BF63-CFF0B4244106}" srcOrd="0" destOrd="0" presId="urn:microsoft.com/office/officeart/2005/8/layout/radial5"/>
    <dgm:cxn modelId="{31CFFB34-E655-48FD-A2DD-B40CD4FCAD63}" type="presOf" srcId="{C1AF3999-D454-4B6B-B39C-4581DBEDFD1F}" destId="{3002CD51-CD4A-4A32-B449-BC51BD04F5E0}" srcOrd="0" destOrd="0" presId="urn:microsoft.com/office/officeart/2005/8/layout/radial5"/>
    <dgm:cxn modelId="{0C8CF404-95CB-4E60-8F4A-9E0AF6966783}" srcId="{24452E03-019B-42E3-85F3-806D6DE7E8AA}" destId="{1F533AF0-5EB5-4963-9FA5-7D1F39EEB72E}" srcOrd="0" destOrd="0" parTransId="{536CA9B5-AF5A-4191-BBCC-8D5B960DC7C4}" sibTransId="{6336E894-680C-4E91-BAD6-4484B7EA1570}"/>
    <dgm:cxn modelId="{A3136AAB-C3CB-442A-BB78-1082C84ADC19}" type="presOf" srcId="{2A4478EA-0C24-4A60-9606-18C667D58A99}" destId="{1095B8A4-3780-4091-B3F7-02A71ED5B0A0}" srcOrd="0" destOrd="0" presId="urn:microsoft.com/office/officeart/2005/8/layout/radial5"/>
    <dgm:cxn modelId="{9482E876-9309-4019-A844-2E2DBE9D3015}" type="presOf" srcId="{5FE2EEF2-CA29-4E7D-A8DE-AEF724134D27}" destId="{74016A72-232D-412F-987F-2D7AD8AD0857}" srcOrd="0" destOrd="0" presId="urn:microsoft.com/office/officeart/2005/8/layout/radial5"/>
    <dgm:cxn modelId="{AF37C2C9-079A-4399-9F7C-2BDD84EF0989}" type="presOf" srcId="{4A9BD8CE-E126-4E61-A41B-573B99BAA8D8}" destId="{1CC5FA54-65E1-4DFF-944C-1436C5F08316}" srcOrd="0" destOrd="0" presId="urn:microsoft.com/office/officeart/2005/8/layout/radial5"/>
    <dgm:cxn modelId="{5E5BABF2-62CD-4F96-96E1-E3B829037E61}" type="presOf" srcId="{D9912B80-D3C8-4DCA-A2F6-85319F465C16}" destId="{26D56486-1CB0-492F-AB27-0221DBDE2D94}" srcOrd="0" destOrd="0" presId="urn:microsoft.com/office/officeart/2005/8/layout/radial5"/>
    <dgm:cxn modelId="{EE44F9B6-5705-4A6D-BA50-18C5BB101CE3}" type="presOf" srcId="{AF2EA61E-043E-43B2-A10A-10E6FD6C9F82}" destId="{7F979115-B21F-475C-A8EF-2F3B2C272A13}" srcOrd="1" destOrd="0" presId="urn:microsoft.com/office/officeart/2005/8/layout/radial5"/>
    <dgm:cxn modelId="{9DF99D3A-A0E5-4873-B79A-6DC27B41232D}" srcId="{1F533AF0-5EB5-4963-9FA5-7D1F39EEB72E}" destId="{57F41BFB-3C64-47A9-BFEA-43F2D9FDE2B9}" srcOrd="1" destOrd="0" parTransId="{D9912B80-D3C8-4DCA-A2F6-85319F465C16}" sibTransId="{CD41F70C-7E86-4C31-9A0B-D5792B91361C}"/>
    <dgm:cxn modelId="{2B237484-6A44-42BE-AD13-FABD433BF301}" type="presOf" srcId="{129B8B1A-FBF1-4194-BD27-3164E8213200}" destId="{A0FA88C3-EB31-4620-B7A3-A1A4C6065883}" srcOrd="0" destOrd="0" presId="urn:microsoft.com/office/officeart/2005/8/layout/radial5"/>
    <dgm:cxn modelId="{A5441DFE-4AEB-440B-AF9C-8A2CD0B4AF14}" type="presOf" srcId="{C1AF3999-D454-4B6B-B39C-4581DBEDFD1F}" destId="{A4233043-56E1-4BCE-8218-FD5F350CDC2D}" srcOrd="1" destOrd="0" presId="urn:microsoft.com/office/officeart/2005/8/layout/radial5"/>
    <dgm:cxn modelId="{32DF7D3D-75FC-47CA-B0FB-5FBAE857168E}" type="presOf" srcId="{C2F91E8E-DD19-4371-9F7E-CA111678FF67}" destId="{4A2324A6-DCBF-4013-BE21-4F002D921561}" srcOrd="0" destOrd="0" presId="urn:microsoft.com/office/officeart/2005/8/layout/radial5"/>
    <dgm:cxn modelId="{48743975-05DE-455C-81CE-5C357B253BCB}" srcId="{1F533AF0-5EB5-4963-9FA5-7D1F39EEB72E}" destId="{09A5028C-B0B5-4FA3-805E-CB42F14DBDCF}" srcOrd="5" destOrd="0" parTransId="{5FE2EEF2-CA29-4E7D-A8DE-AEF724134D27}" sibTransId="{E75D97FB-5402-4F5D-9713-27BE7823F9F4}"/>
    <dgm:cxn modelId="{249CA8E1-FCD6-468E-9A8A-83D1BA05413E}" type="presOf" srcId="{09199DBB-0F7D-4630-BF69-5B905655F260}" destId="{2935A941-3B8E-4493-86D5-3DC226C8D5B8}" srcOrd="0" destOrd="0" presId="urn:microsoft.com/office/officeart/2005/8/layout/radial5"/>
    <dgm:cxn modelId="{08C49468-A190-4C28-9DDE-011B14B53A43}" type="presOf" srcId="{A58FA45F-1730-4E6C-A4F5-4791C9760141}" destId="{BCD1B3E8-8F13-4D4D-AE58-6037A6EB5127}" srcOrd="0" destOrd="0" presId="urn:microsoft.com/office/officeart/2005/8/layout/radial5"/>
    <dgm:cxn modelId="{9B3F7F7D-6C65-4D0F-A100-C731FC5F7D9B}" srcId="{1F533AF0-5EB5-4963-9FA5-7D1F39EEB72E}" destId="{4A9BD8CE-E126-4E61-A41B-573B99BAA8D8}" srcOrd="3" destOrd="0" parTransId="{D9BE8EF6-14AD-42E4-9C38-F5D1AF7634A7}" sibTransId="{43CB8233-D495-4F3E-BBF8-221B4A199792}"/>
    <dgm:cxn modelId="{D55BE3BB-3B92-48B3-AB49-E9E5B826D013}" type="presOf" srcId="{A58FA45F-1730-4E6C-A4F5-4791C9760141}" destId="{2FAC43DE-23BD-4F72-8D41-1626B86E883F}" srcOrd="1" destOrd="0" presId="urn:microsoft.com/office/officeart/2005/8/layout/radial5"/>
    <dgm:cxn modelId="{7931894D-D901-4F4F-9DF6-BE726B9FCB98}" type="presOf" srcId="{D9912B80-D3C8-4DCA-A2F6-85319F465C16}" destId="{BBE0C2B6-89AF-4B23-B267-41A1A709223A}" srcOrd="1" destOrd="0" presId="urn:microsoft.com/office/officeart/2005/8/layout/radial5"/>
    <dgm:cxn modelId="{D4C9ECA6-50FF-4C33-B48C-B7C6921D2DEA}" type="presParOf" srcId="{57021008-5A77-4B76-9C96-0BEDC157CEBB}" destId="{853DEF0B-C07B-4B4B-8CD8-E1D7964E5AED}" srcOrd="0" destOrd="0" presId="urn:microsoft.com/office/officeart/2005/8/layout/radial5"/>
    <dgm:cxn modelId="{F9208C3A-6A9B-42AC-AA3B-96DBB64AF1C2}" type="presParOf" srcId="{57021008-5A77-4B76-9C96-0BEDC157CEBB}" destId="{1095B8A4-3780-4091-B3F7-02A71ED5B0A0}" srcOrd="1" destOrd="0" presId="urn:microsoft.com/office/officeart/2005/8/layout/radial5"/>
    <dgm:cxn modelId="{9A367E04-DEB2-4A9B-A3B5-992D03803956}" type="presParOf" srcId="{1095B8A4-3780-4091-B3F7-02A71ED5B0A0}" destId="{995891F9-82A3-42E8-B4FC-41E6C07C037B}" srcOrd="0" destOrd="0" presId="urn:microsoft.com/office/officeart/2005/8/layout/radial5"/>
    <dgm:cxn modelId="{31E11C48-083B-4EE5-A6D0-F450F0A2B6B5}" type="presParOf" srcId="{57021008-5A77-4B76-9C96-0BEDC157CEBB}" destId="{A0FA88C3-EB31-4620-B7A3-A1A4C6065883}" srcOrd="2" destOrd="0" presId="urn:microsoft.com/office/officeart/2005/8/layout/radial5"/>
    <dgm:cxn modelId="{1C5226BB-BE45-4A98-8E9A-A4CDDE0B8C07}" type="presParOf" srcId="{57021008-5A77-4B76-9C96-0BEDC157CEBB}" destId="{26D56486-1CB0-492F-AB27-0221DBDE2D94}" srcOrd="3" destOrd="0" presId="urn:microsoft.com/office/officeart/2005/8/layout/radial5"/>
    <dgm:cxn modelId="{529ED419-6E40-4E88-A956-3A9EE9ABCA46}" type="presParOf" srcId="{26D56486-1CB0-492F-AB27-0221DBDE2D94}" destId="{BBE0C2B6-89AF-4B23-B267-41A1A709223A}" srcOrd="0" destOrd="0" presId="urn:microsoft.com/office/officeart/2005/8/layout/radial5"/>
    <dgm:cxn modelId="{41AB468D-3179-4014-A18F-B33989B3805A}" type="presParOf" srcId="{57021008-5A77-4B76-9C96-0BEDC157CEBB}" destId="{5917D0A8-4927-4D9F-9E3E-480CB181E29F}" srcOrd="4" destOrd="0" presId="urn:microsoft.com/office/officeart/2005/8/layout/radial5"/>
    <dgm:cxn modelId="{4798BD8E-9324-42E6-A6E8-FBE572EA6B4B}" type="presParOf" srcId="{57021008-5A77-4B76-9C96-0BEDC157CEBB}" destId="{3D6E2433-82F4-43A7-8DC4-3D5B50BE7F19}" srcOrd="5" destOrd="0" presId="urn:microsoft.com/office/officeart/2005/8/layout/radial5"/>
    <dgm:cxn modelId="{81D554E2-8178-4351-9324-BB66905C637E}" type="presParOf" srcId="{3D6E2433-82F4-43A7-8DC4-3D5B50BE7F19}" destId="{7F979115-B21F-475C-A8EF-2F3B2C272A13}" srcOrd="0" destOrd="0" presId="urn:microsoft.com/office/officeart/2005/8/layout/radial5"/>
    <dgm:cxn modelId="{5DC540D3-2E43-4607-AC56-9F0BB5256647}" type="presParOf" srcId="{57021008-5A77-4B76-9C96-0BEDC157CEBB}" destId="{2935A941-3B8E-4493-86D5-3DC226C8D5B8}" srcOrd="6" destOrd="0" presId="urn:microsoft.com/office/officeart/2005/8/layout/radial5"/>
    <dgm:cxn modelId="{F3FD63A4-9144-4EF8-AE0F-86B3794ED87D}" type="presParOf" srcId="{57021008-5A77-4B76-9C96-0BEDC157CEBB}" destId="{65C21C9F-C410-4000-84C8-B89B949F0D33}" srcOrd="7" destOrd="0" presId="urn:microsoft.com/office/officeart/2005/8/layout/radial5"/>
    <dgm:cxn modelId="{6D02B365-6AE4-4A43-A972-76DA57D3B726}" type="presParOf" srcId="{65C21C9F-C410-4000-84C8-B89B949F0D33}" destId="{821FDF2C-92CA-4CEB-AB78-952EA3C50CA6}" srcOrd="0" destOrd="0" presId="urn:microsoft.com/office/officeart/2005/8/layout/radial5"/>
    <dgm:cxn modelId="{10B31BE7-FF26-40CB-80D9-17169D65AC86}" type="presParOf" srcId="{57021008-5A77-4B76-9C96-0BEDC157CEBB}" destId="{1CC5FA54-65E1-4DFF-944C-1436C5F08316}" srcOrd="8" destOrd="0" presId="urn:microsoft.com/office/officeart/2005/8/layout/radial5"/>
    <dgm:cxn modelId="{5092B529-6744-490E-8B3D-772AE557FE32}" type="presParOf" srcId="{57021008-5A77-4B76-9C96-0BEDC157CEBB}" destId="{BCD1B3E8-8F13-4D4D-AE58-6037A6EB5127}" srcOrd="9" destOrd="0" presId="urn:microsoft.com/office/officeart/2005/8/layout/radial5"/>
    <dgm:cxn modelId="{9C3556E0-9743-4D59-BBE1-50C46B7BC30F}" type="presParOf" srcId="{BCD1B3E8-8F13-4D4D-AE58-6037A6EB5127}" destId="{2FAC43DE-23BD-4F72-8D41-1626B86E883F}" srcOrd="0" destOrd="0" presId="urn:microsoft.com/office/officeart/2005/8/layout/radial5"/>
    <dgm:cxn modelId="{F81FBAC9-B1FB-46BE-8274-D3CCB482D9C7}" type="presParOf" srcId="{57021008-5A77-4B76-9C96-0BEDC157CEBB}" destId="{4A2324A6-DCBF-4013-BE21-4F002D921561}" srcOrd="10" destOrd="0" presId="urn:microsoft.com/office/officeart/2005/8/layout/radial5"/>
    <dgm:cxn modelId="{9F6D7E5C-12A2-4C1C-A8DD-76A94008629C}" type="presParOf" srcId="{57021008-5A77-4B76-9C96-0BEDC157CEBB}" destId="{74016A72-232D-412F-987F-2D7AD8AD0857}" srcOrd="11" destOrd="0" presId="urn:microsoft.com/office/officeart/2005/8/layout/radial5"/>
    <dgm:cxn modelId="{D7E0DA9A-A580-4171-BC20-4AD689E04F3A}" type="presParOf" srcId="{74016A72-232D-412F-987F-2D7AD8AD0857}" destId="{55C92D49-366F-4ABB-8C41-139C205B66F9}" srcOrd="0" destOrd="0" presId="urn:microsoft.com/office/officeart/2005/8/layout/radial5"/>
    <dgm:cxn modelId="{F195B603-6FF0-41BC-9EE3-44F7D1A13BDE}" type="presParOf" srcId="{57021008-5A77-4B76-9C96-0BEDC157CEBB}" destId="{82E49BD7-2B91-409A-BF63-CFF0B4244106}" srcOrd="12" destOrd="0" presId="urn:microsoft.com/office/officeart/2005/8/layout/radial5"/>
    <dgm:cxn modelId="{874AC1DF-FDC8-4451-8C8A-14BC47B6F6E2}" type="presParOf" srcId="{57021008-5A77-4B76-9C96-0BEDC157CEBB}" destId="{3002CD51-CD4A-4A32-B449-BC51BD04F5E0}" srcOrd="13" destOrd="0" presId="urn:microsoft.com/office/officeart/2005/8/layout/radial5"/>
    <dgm:cxn modelId="{9527A2E6-350E-4545-AF2C-01DC72770CE7}" type="presParOf" srcId="{3002CD51-CD4A-4A32-B449-BC51BD04F5E0}" destId="{A4233043-56E1-4BCE-8218-FD5F350CDC2D}" srcOrd="0" destOrd="0" presId="urn:microsoft.com/office/officeart/2005/8/layout/radial5"/>
    <dgm:cxn modelId="{4CD650D2-0B58-488B-A77E-EA3F33B8594C}" type="presParOf" srcId="{57021008-5A77-4B76-9C96-0BEDC157CEBB}" destId="{8C938A1E-3BF8-4C20-A72D-063D662457E4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DEF0B-C07B-4B4B-8CD8-E1D7964E5AED}">
      <dsp:nvSpPr>
        <dsp:cNvPr id="0" name=""/>
        <dsp:cNvSpPr/>
      </dsp:nvSpPr>
      <dsp:spPr>
        <a:xfrm>
          <a:off x="3326763" y="1853762"/>
          <a:ext cx="2033272" cy="11196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glow rad="63500">
            <a:schemeClr val="accent2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>
              <a:solidFill>
                <a:schemeClr val="tx1"/>
              </a:solidFill>
            </a:rPr>
            <a:t>Organization</a:t>
          </a:r>
          <a:endParaRPr lang="en-US" sz="1800" b="1" kern="1200" dirty="0">
            <a:solidFill>
              <a:schemeClr val="tx1"/>
            </a:solidFill>
          </a:endParaRPr>
        </a:p>
      </dsp:txBody>
      <dsp:txXfrm>
        <a:off x="3624529" y="2017733"/>
        <a:ext cx="1437740" cy="791724"/>
      </dsp:txXfrm>
    </dsp:sp>
    <dsp:sp modelId="{1095B8A4-3780-4091-B3F7-02A71ED5B0A0}">
      <dsp:nvSpPr>
        <dsp:cNvPr id="0" name=""/>
        <dsp:cNvSpPr/>
      </dsp:nvSpPr>
      <dsp:spPr>
        <a:xfrm rot="16200000">
          <a:off x="3995120" y="1224497"/>
          <a:ext cx="696559" cy="454996"/>
        </a:xfrm>
        <a:prstGeom prst="leftRightArrow">
          <a:avLst/>
        </a:prstGeom>
        <a:solidFill>
          <a:srgbClr val="A92727"/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tx1"/>
            </a:solidFill>
          </a:endParaRPr>
        </a:p>
      </dsp:txBody>
      <dsp:txXfrm>
        <a:off x="4063370" y="1383746"/>
        <a:ext cx="560060" cy="272998"/>
      </dsp:txXfrm>
    </dsp:sp>
    <dsp:sp modelId="{A0FA88C3-EB31-4620-B7A3-A1A4C6065883}">
      <dsp:nvSpPr>
        <dsp:cNvPr id="0" name=""/>
        <dsp:cNvSpPr/>
      </dsp:nvSpPr>
      <dsp:spPr>
        <a:xfrm>
          <a:off x="3366816" y="22"/>
          <a:ext cx="1953167" cy="1025356"/>
        </a:xfrm>
        <a:prstGeom prst="ellipse">
          <a:avLst/>
        </a:prstGeom>
        <a:solidFill>
          <a:srgbClr val="A92727"/>
        </a:solidFill>
        <a:ln>
          <a:noFill/>
        </a:ln>
        <a:effectLst>
          <a:glow rad="63500">
            <a:schemeClr val="accent3">
              <a:hueOff val="0"/>
              <a:satOff val="0"/>
              <a:lumOff val="0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Employees</a:t>
          </a:r>
          <a:endParaRPr lang="en-US" sz="1800" b="1" kern="1200" dirty="0"/>
        </a:p>
      </dsp:txBody>
      <dsp:txXfrm>
        <a:off x="3652851" y="150182"/>
        <a:ext cx="1381097" cy="725036"/>
      </dsp:txXfrm>
    </dsp:sp>
    <dsp:sp modelId="{26D56486-1CB0-492F-AB27-0221DBDE2D94}">
      <dsp:nvSpPr>
        <dsp:cNvPr id="0" name=""/>
        <dsp:cNvSpPr/>
      </dsp:nvSpPr>
      <dsp:spPr>
        <a:xfrm rot="19762611">
          <a:off x="4996868" y="1542786"/>
          <a:ext cx="866616" cy="454996"/>
        </a:xfrm>
        <a:prstGeom prst="leftRightArrow">
          <a:avLst/>
        </a:prstGeom>
        <a:solidFill>
          <a:srgbClr val="7030A0"/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1500320"/>
              <a:satOff val="136"/>
              <a:lumOff val="-1438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bg1"/>
            </a:solidFill>
          </a:endParaRPr>
        </a:p>
      </dsp:txBody>
      <dsp:txXfrm>
        <a:off x="5006386" y="1668551"/>
        <a:ext cx="730117" cy="272998"/>
      </dsp:txXfrm>
    </dsp:sp>
    <dsp:sp modelId="{5917D0A8-4927-4D9F-9E3E-480CB181E29F}">
      <dsp:nvSpPr>
        <dsp:cNvPr id="0" name=""/>
        <dsp:cNvSpPr/>
      </dsp:nvSpPr>
      <dsp:spPr>
        <a:xfrm>
          <a:off x="5520286" y="626184"/>
          <a:ext cx="1953167" cy="1025356"/>
        </a:xfrm>
        <a:prstGeom prst="ellipse">
          <a:avLst/>
        </a:prstGeom>
        <a:solidFill>
          <a:srgbClr val="7030A0"/>
        </a:solidFill>
        <a:ln>
          <a:noFill/>
        </a:ln>
        <a:effectLst>
          <a:glow rad="63500">
            <a:schemeClr val="accent3">
              <a:hueOff val="1500320"/>
              <a:satOff val="136"/>
              <a:lumOff val="-1438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Customers</a:t>
          </a:r>
          <a:endParaRPr lang="en-US" sz="1800" b="1" kern="1200" dirty="0"/>
        </a:p>
      </dsp:txBody>
      <dsp:txXfrm>
        <a:off x="5806321" y="776344"/>
        <a:ext cx="1381097" cy="725036"/>
      </dsp:txXfrm>
    </dsp:sp>
    <dsp:sp modelId="{3D6E2433-82F4-43A7-8DC4-3D5B50BE7F19}">
      <dsp:nvSpPr>
        <dsp:cNvPr id="0" name=""/>
        <dsp:cNvSpPr/>
      </dsp:nvSpPr>
      <dsp:spPr>
        <a:xfrm rot="339305">
          <a:off x="5367542" y="2332046"/>
          <a:ext cx="899554" cy="454996"/>
        </a:xfrm>
        <a:prstGeom prst="leftRightArrow">
          <a:avLst/>
        </a:prstGeom>
        <a:solidFill>
          <a:srgbClr val="7030A0"/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3000641"/>
              <a:satOff val="271"/>
              <a:lumOff val="-2877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bg1"/>
            </a:solidFill>
          </a:endParaRPr>
        </a:p>
      </dsp:txBody>
      <dsp:txXfrm>
        <a:off x="5367874" y="2416320"/>
        <a:ext cx="763055" cy="272998"/>
      </dsp:txXfrm>
    </dsp:sp>
    <dsp:sp modelId="{2935A941-3B8E-4493-86D5-3DC226C8D5B8}">
      <dsp:nvSpPr>
        <dsp:cNvPr id="0" name=""/>
        <dsp:cNvSpPr/>
      </dsp:nvSpPr>
      <dsp:spPr>
        <a:xfrm>
          <a:off x="6303006" y="2191663"/>
          <a:ext cx="1953167" cy="1025356"/>
        </a:xfrm>
        <a:prstGeom prst="ellipse">
          <a:avLst/>
        </a:prstGeom>
        <a:solidFill>
          <a:srgbClr val="7030A0"/>
        </a:solidFill>
        <a:ln>
          <a:noFill/>
        </a:ln>
        <a:effectLst>
          <a:glow rad="63500">
            <a:schemeClr val="accent3">
              <a:hueOff val="3000641"/>
              <a:satOff val="271"/>
              <a:lumOff val="-2877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Vendors</a:t>
          </a:r>
          <a:endParaRPr lang="en-US" sz="1800" b="1" kern="1200" dirty="0"/>
        </a:p>
      </dsp:txBody>
      <dsp:txXfrm>
        <a:off x="6589041" y="2341823"/>
        <a:ext cx="1381097" cy="725036"/>
      </dsp:txXfrm>
    </dsp:sp>
    <dsp:sp modelId="{65C21C9F-C410-4000-84C8-B89B949F0D33}">
      <dsp:nvSpPr>
        <dsp:cNvPr id="0" name=""/>
        <dsp:cNvSpPr/>
      </dsp:nvSpPr>
      <dsp:spPr>
        <a:xfrm rot="3158892">
          <a:off x="4592782" y="3041183"/>
          <a:ext cx="806482" cy="454996"/>
        </a:xfrm>
        <a:prstGeom prst="leftRightArrow">
          <a:avLst/>
        </a:prstGeom>
        <a:solidFill>
          <a:srgbClr val="A92727"/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4500961"/>
              <a:satOff val="407"/>
              <a:lumOff val="-4315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tx1"/>
            </a:solidFill>
          </a:endParaRPr>
        </a:p>
      </dsp:txBody>
      <dsp:txXfrm>
        <a:off x="4619624" y="3077929"/>
        <a:ext cx="669983" cy="272998"/>
      </dsp:txXfrm>
    </dsp:sp>
    <dsp:sp modelId="{1CC5FA54-65E1-4DFF-944C-1436C5F08316}">
      <dsp:nvSpPr>
        <dsp:cNvPr id="0" name=""/>
        <dsp:cNvSpPr/>
      </dsp:nvSpPr>
      <dsp:spPr>
        <a:xfrm>
          <a:off x="4657382" y="3591854"/>
          <a:ext cx="1953167" cy="1025356"/>
        </a:xfrm>
        <a:prstGeom prst="ellipse">
          <a:avLst/>
        </a:prstGeom>
        <a:solidFill>
          <a:srgbClr val="A92727"/>
        </a:solidFill>
        <a:ln>
          <a:noFill/>
        </a:ln>
        <a:effectLst>
          <a:glow rad="63500">
            <a:schemeClr val="accent3">
              <a:hueOff val="4500961"/>
              <a:satOff val="407"/>
              <a:lumOff val="-4315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Shareholders</a:t>
          </a:r>
          <a:endParaRPr lang="en-US" sz="1800" b="1" kern="1200" dirty="0"/>
        </a:p>
      </dsp:txBody>
      <dsp:txXfrm>
        <a:off x="4943417" y="3742014"/>
        <a:ext cx="1381097" cy="725036"/>
      </dsp:txXfrm>
    </dsp:sp>
    <dsp:sp modelId="{BCD1B3E8-8F13-4D4D-AE58-6037A6EB5127}">
      <dsp:nvSpPr>
        <dsp:cNvPr id="0" name=""/>
        <dsp:cNvSpPr/>
      </dsp:nvSpPr>
      <dsp:spPr>
        <a:xfrm rot="7293542">
          <a:off x="3429315" y="3057695"/>
          <a:ext cx="757463" cy="454996"/>
        </a:xfrm>
        <a:prstGeom prst="leftRightArrow">
          <a:avLst/>
        </a:prstGeom>
        <a:solidFill>
          <a:schemeClr val="accent1">
            <a:lumMod val="75000"/>
          </a:schemeClr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6001281"/>
              <a:satOff val="542"/>
              <a:lumOff val="-5754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bg1"/>
            </a:solidFill>
          </a:endParaRPr>
        </a:p>
      </dsp:txBody>
      <dsp:txXfrm rot="10800000">
        <a:off x="3533285" y="3090539"/>
        <a:ext cx="620964" cy="272998"/>
      </dsp:txXfrm>
    </dsp:sp>
    <dsp:sp modelId="{4A2324A6-DCBF-4013-BE21-4F002D921561}">
      <dsp:nvSpPr>
        <dsp:cNvPr id="0" name=""/>
        <dsp:cNvSpPr/>
      </dsp:nvSpPr>
      <dsp:spPr>
        <a:xfrm>
          <a:off x="2309175" y="3622843"/>
          <a:ext cx="1953167" cy="1025356"/>
        </a:xfrm>
        <a:prstGeom prst="ellipse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63500">
            <a:schemeClr val="accent3">
              <a:hueOff val="6001281"/>
              <a:satOff val="542"/>
              <a:lumOff val="-5754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Public</a:t>
          </a:r>
          <a:endParaRPr lang="en-US" sz="1800" b="1" kern="1200" dirty="0"/>
        </a:p>
      </dsp:txBody>
      <dsp:txXfrm>
        <a:off x="2595210" y="3773003"/>
        <a:ext cx="1381097" cy="725036"/>
      </dsp:txXfrm>
    </dsp:sp>
    <dsp:sp modelId="{74016A72-232D-412F-987F-2D7AD8AD0857}">
      <dsp:nvSpPr>
        <dsp:cNvPr id="0" name=""/>
        <dsp:cNvSpPr/>
      </dsp:nvSpPr>
      <dsp:spPr>
        <a:xfrm rot="10276539">
          <a:off x="2470848" y="2406433"/>
          <a:ext cx="873455" cy="454996"/>
        </a:xfrm>
        <a:prstGeom prst="leftRightArrow">
          <a:avLst/>
        </a:prstGeom>
        <a:solidFill>
          <a:schemeClr val="accent1">
            <a:lumMod val="75000"/>
          </a:schemeClr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7501601"/>
              <a:satOff val="678"/>
              <a:lumOff val="-7192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bg1"/>
            </a:solidFill>
          </a:endParaRPr>
        </a:p>
      </dsp:txBody>
      <dsp:txXfrm rot="10800000">
        <a:off x="2606557" y="2487080"/>
        <a:ext cx="736956" cy="272998"/>
      </dsp:txXfrm>
    </dsp:sp>
    <dsp:sp modelId="{82E49BD7-2B91-409A-BF63-CFF0B4244106}">
      <dsp:nvSpPr>
        <dsp:cNvPr id="0" name=""/>
        <dsp:cNvSpPr/>
      </dsp:nvSpPr>
      <dsp:spPr>
        <a:xfrm>
          <a:off x="508894" y="2339483"/>
          <a:ext cx="1953167" cy="1025356"/>
        </a:xfrm>
        <a:prstGeom prst="ellipse">
          <a:avLst/>
        </a:prstGeom>
        <a:solidFill>
          <a:schemeClr val="accent1">
            <a:lumMod val="75000"/>
          </a:schemeClr>
        </a:solidFill>
        <a:ln>
          <a:noFill/>
        </a:ln>
        <a:effectLst>
          <a:glow rad="63500">
            <a:schemeClr val="accent3">
              <a:hueOff val="7501601"/>
              <a:satOff val="678"/>
              <a:lumOff val="-7192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Media</a:t>
          </a:r>
          <a:endParaRPr lang="en-US" sz="1800" b="1" kern="1200" dirty="0"/>
        </a:p>
      </dsp:txBody>
      <dsp:txXfrm>
        <a:off x="794929" y="2489643"/>
        <a:ext cx="1381097" cy="725036"/>
      </dsp:txXfrm>
    </dsp:sp>
    <dsp:sp modelId="{3002CD51-CD4A-4A32-B449-BC51BD04F5E0}">
      <dsp:nvSpPr>
        <dsp:cNvPr id="0" name=""/>
        <dsp:cNvSpPr/>
      </dsp:nvSpPr>
      <dsp:spPr>
        <a:xfrm rot="12597938">
          <a:off x="2915400" y="1581173"/>
          <a:ext cx="757579" cy="454996"/>
        </a:xfrm>
        <a:prstGeom prst="leftRightArrow">
          <a:avLst/>
        </a:prstGeom>
        <a:solidFill>
          <a:schemeClr val="accent3">
            <a:hueOff val="9001922"/>
            <a:satOff val="813"/>
            <a:lumOff val="-8631"/>
            <a:alphaOff val="0"/>
          </a:schemeClr>
        </a:solidFill>
        <a:ln w="12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glow rad="63500">
            <a:schemeClr val="accent3">
              <a:hueOff val="9001922"/>
              <a:satOff val="813"/>
              <a:lumOff val="-8631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z="-25400" prstMaterial="plastic">
          <a:bevelT w="25400" h="25400"/>
          <a:bevelB w="25400" h="2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900" b="1" kern="1200">
            <a:solidFill>
              <a:schemeClr val="tx1"/>
            </a:solidFill>
          </a:endParaRPr>
        </a:p>
      </dsp:txBody>
      <dsp:txXfrm rot="10800000">
        <a:off x="3042776" y="1706261"/>
        <a:ext cx="621080" cy="272998"/>
      </dsp:txXfrm>
    </dsp:sp>
    <dsp:sp modelId="{8C938A1E-3BF8-4C20-A72D-063D662457E4}">
      <dsp:nvSpPr>
        <dsp:cNvPr id="0" name=""/>
        <dsp:cNvSpPr/>
      </dsp:nvSpPr>
      <dsp:spPr>
        <a:xfrm>
          <a:off x="1291618" y="704460"/>
          <a:ext cx="1953167" cy="1025356"/>
        </a:xfrm>
        <a:prstGeom prst="ellipse">
          <a:avLst/>
        </a:prstGeom>
        <a:solidFill>
          <a:schemeClr val="accent3">
            <a:hueOff val="9001922"/>
            <a:satOff val="813"/>
            <a:lumOff val="-8631"/>
            <a:alphaOff val="0"/>
          </a:schemeClr>
        </a:solidFill>
        <a:ln>
          <a:noFill/>
        </a:ln>
        <a:effectLst>
          <a:glow rad="63500">
            <a:schemeClr val="accent3">
              <a:hueOff val="9001922"/>
              <a:satOff val="813"/>
              <a:lumOff val="-8631"/>
              <a:alphaOff val="0"/>
              <a:alpha val="45000"/>
              <a:satMod val="120000"/>
            </a:schemeClr>
          </a:glow>
        </a:effectLst>
        <a:scene3d>
          <a:camera prst="orthographicFront" fov="0">
            <a:rot lat="0" lon="0" rev="0"/>
          </a:camera>
          <a:lightRig rig="brightRoom" dir="tl">
            <a:rot lat="0" lon="0" rev="8700000"/>
          </a:lightRig>
        </a:scene3d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800" b="1" kern="1200" dirty="0" smtClean="0"/>
            <a:t>Law Enforcement Agencies</a:t>
          </a:r>
          <a:endParaRPr lang="en-US" sz="1800" b="1" kern="1200" dirty="0"/>
        </a:p>
      </dsp:txBody>
      <dsp:txXfrm>
        <a:off x="1577653" y="854620"/>
        <a:ext cx="1381097" cy="725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 smtClean="0"/>
              <a:t>Topic 1 – Introduction</a:t>
            </a:r>
          </a:p>
          <a:p>
            <a:r>
              <a:rPr lang="en-US" sz="1100" dirty="0" smtClean="0"/>
              <a:t>AY2012 S2</a:t>
            </a: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dirty="0" smtClean="0"/>
              <a:t>Page </a:t>
            </a:r>
            <a:fld id="{614830C6-7046-4E73-B492-EB73775AC0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-5905"/>
            <a:ext cx="6784975" cy="383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28" tIns="47964" rIns="95928" bIns="47964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51805" y="641977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94003" y="257009"/>
            <a:ext cx="1745436" cy="266142"/>
          </a:xfrm>
          <a:prstGeom prst="rect">
            <a:avLst/>
          </a:prstGeom>
          <a:noFill/>
        </p:spPr>
        <p:txBody>
          <a:bodyPr wrap="none" lIns="95928" tIns="47964" rIns="95928" bIns="47964" rtlCol="0">
            <a:spAutoFit/>
          </a:bodyPr>
          <a:lstStyle/>
          <a:p>
            <a:r>
              <a:rPr lang="en-US" sz="1100" dirty="0" smtClean="0"/>
              <a:t>IT3522 Operations Security</a:t>
            </a:r>
            <a:endParaRPr lang="en-US" sz="1100" dirty="0"/>
          </a:p>
        </p:txBody>
      </p:sp>
      <p:pic>
        <p:nvPicPr>
          <p:cNvPr id="2" name="Picture 1" descr="Corporate NYP Logo_Horizontal_40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80" y="209539"/>
            <a:ext cx="1219200" cy="286512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777280" y="8905056"/>
            <a:ext cx="5828774" cy="1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349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E8AB120-A64C-4DD7-98EB-8987E88416F3}" type="datetimeFigureOut">
              <a:rPr lang="en-US" smtClean="0"/>
              <a:pPr/>
              <a:t>8/30/2017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29F95C9-DA15-4933-A48E-633206A8F3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10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459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9F95C9-DA15-4933-A48E-633206A8F399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067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14290"/>
            <a:ext cx="8064896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>
            <a:lvl1pPr>
              <a:buClr>
                <a:schemeClr val="tx1"/>
              </a:buClr>
              <a:defRPr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/>
            </a:lvl2pPr>
            <a:lvl3pPr>
              <a:buClr>
                <a:schemeClr val="tx1"/>
              </a:buClr>
              <a:defRPr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/>
            </a:lvl4pPr>
            <a:lvl5pPr>
              <a:buClr>
                <a:schemeClr val="tx1"/>
              </a:buClr>
              <a:defRPr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39551" y="908720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4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5344" y="1770503"/>
            <a:ext cx="4038600" cy="4525963"/>
          </a:xfrm>
        </p:spPr>
        <p:txBody>
          <a:bodyPr/>
          <a:lstStyle>
            <a:lvl1pPr>
              <a:buClr>
                <a:schemeClr val="tx1"/>
              </a:buClr>
              <a:defRPr sz="2800" baseline="0">
                <a:solidFill>
                  <a:srgbClr val="000099"/>
                </a:solidFill>
              </a:defRPr>
            </a:lvl1pPr>
            <a:lvl2pPr>
              <a:buClr>
                <a:srgbClr val="000099"/>
              </a:buClr>
              <a:buFont typeface="Wingdings" pitchFamily="2" charset="2"/>
              <a:buChar char="§"/>
              <a:defRPr sz="2400" baseline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000">
                <a:solidFill>
                  <a:srgbClr val="000099"/>
                </a:solidFill>
              </a:defRPr>
            </a:lvl3pPr>
            <a:lvl4pPr>
              <a:buClr>
                <a:srgbClr val="000099"/>
              </a:buClr>
              <a:defRPr sz="1800"/>
            </a:lvl4pPr>
            <a:lvl5pPr>
              <a:buClr>
                <a:schemeClr val="tx1"/>
              </a:buClr>
              <a:defRPr sz="1800">
                <a:solidFill>
                  <a:srgbClr val="000099"/>
                </a:solidFill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539551" y="1124744"/>
            <a:ext cx="806489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Grp="1" noChangeArrowheads="1"/>
          </p:cNvSpPr>
          <p:nvPr>
            <p:ph type="ctrTitle"/>
          </p:nvPr>
        </p:nvSpPr>
        <p:spPr>
          <a:xfrm>
            <a:off x="1828800" y="2133600"/>
            <a:ext cx="7315200" cy="1600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55317" name="Rectangle 21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7526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 smtClean="0"/>
              <a:t>Click to edit Master subtitle style</a:t>
            </a:r>
            <a:endParaRPr lang="en-GB" dirty="0"/>
          </a:p>
        </p:txBody>
      </p:sp>
      <p:sp>
        <p:nvSpPr>
          <p:cNvPr id="5" name="Rectangle 22"/>
          <p:cNvSpPr>
            <a:spLocks noGrp="1" noChangeArrowheads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 dirty="0"/>
          </a:p>
        </p:txBody>
      </p:sp>
      <p:sp>
        <p:nvSpPr>
          <p:cNvPr id="6" name="Rectangle 23"/>
          <p:cNvSpPr>
            <a:spLocks noGrp="1" noChangeArrowheads="1"/>
          </p:cNvSpPr>
          <p:nvPr>
            <p:ph type="ftr" sz="quarter" idx="11"/>
          </p:nvPr>
        </p:nvSpPr>
        <p:spPr>
          <a:xfrm>
            <a:off x="3733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12160" y="6416675"/>
            <a:ext cx="205575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fld id="{12BB470A-1477-F74A-AB3B-D252E13D486E}" type="datetimeFigureOut">
              <a:rPr lang="en-US" smtClean="0"/>
              <a:pPr/>
              <a:t>8/30/2017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39551" y="6416675"/>
            <a:ext cx="537659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30042" y="6400800"/>
            <a:ext cx="474406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fld id="{A459AD15-9CBF-D543-B946-C48CBB65F3E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39" name="Title Placeholder 21"/>
          <p:cNvSpPr>
            <a:spLocks noGrp="1"/>
          </p:cNvSpPr>
          <p:nvPr>
            <p:ph type="title"/>
          </p:nvPr>
        </p:nvSpPr>
        <p:spPr bwMode="auto">
          <a:xfrm>
            <a:off x="539552" y="512763"/>
            <a:ext cx="8064896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40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539552" y="1784350"/>
            <a:ext cx="8064896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72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 b="1">
          <a:solidFill>
            <a:srgbClr val="51DAFF"/>
          </a:solidFill>
          <a:latin typeface="Myriad Pro Cond"/>
        </a:defRPr>
      </a:lvl9pPr>
      <a:extLst/>
    </p:titleStyle>
    <p:bodyStyle>
      <a:lvl1pPr marL="411163" indent="-342900" algn="l" rtl="0" eaLnBrk="1" fontAlgn="base" hangingPunct="1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itchFamily="2" charset="2"/>
        <a:buChar char=""/>
        <a:defRPr sz="3000" kern="120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739775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363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3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38" indent="-209550" algn="l" rtl="0" eaLnBrk="1" fontAlgn="base" hangingPunct="1">
        <a:spcBef>
          <a:spcPct val="20000"/>
        </a:spcBef>
        <a:spcAft>
          <a:spcPct val="0"/>
        </a:spcAft>
        <a:buClr>
          <a:srgbClr val="FEB80A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15-17%20BCP%202.7.5%20Recovery%20Time%20Objectives%20-%20CompTIA%20Security+%20SY0-301_%202.7%20-%20YouTube%20%5b480p%5d.flv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15-17%20BCP%202.7.4%20Cold%20Site,%20Hot%20Site,%20and%20Warm%20Site%20-%20CompTIA%20Security+%20SY0-301_%202.7%20-%20YouTube%20%5b480p%5d.flv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20" y="100608"/>
            <a:ext cx="8611344" cy="1600200"/>
          </a:xfrm>
        </p:spPr>
        <p:txBody>
          <a:bodyPr/>
          <a:lstStyle/>
          <a:p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IT2775 </a:t>
            </a:r>
            <a:r>
              <a:rPr lang="en-GB" sz="36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Operations Security</a:t>
            </a:r>
            <a:r>
              <a:rPr lang="en-GB" sz="3600" dirty="0" smtClean="0">
                <a:latin typeface="+mj-lt"/>
              </a:rPr>
              <a:t/>
            </a:r>
            <a:br>
              <a:rPr lang="en-GB" sz="3600" dirty="0" smtClean="0">
                <a:latin typeface="+mj-lt"/>
              </a:rPr>
            </a:br>
            <a:r>
              <a:rPr lang="en-GB" sz="3600" dirty="0" smtClean="0">
                <a:latin typeface="+mj-lt"/>
              </a:rPr>
              <a:t>BCP: Activation and Recovery</a:t>
            </a:r>
            <a:endParaRPr lang="en-GB" sz="3600" dirty="0">
              <a:latin typeface="+mj-lt"/>
            </a:endParaRPr>
          </a:p>
        </p:txBody>
      </p:sp>
      <p:pic>
        <p:nvPicPr>
          <p:cNvPr id="28674" name="Picture 2" descr="http://staffportal.nyp.edu.sg/portal/page/portal/COMPublicPageGroup/PublicPage/nyp_logo/corporate_nyp_logo-horizontal/Corporate-NYP-Logo_Horizontal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9512" y="6237312"/>
            <a:ext cx="2428875" cy="571501"/>
          </a:xfrm>
          <a:prstGeom prst="rect">
            <a:avLst/>
          </a:prstGeom>
          <a:noFill/>
        </p:spPr>
      </p:pic>
      <p:sp>
        <p:nvSpPr>
          <p:cNvPr id="10" name="Subtitle 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1026" name="Picture 2" descr="D:\Downloads\1. Acad\IT3522 Operations Security\Lectures\Reference\Images\8 BCP 2\Wk 12 Image  Business Continuity Planning &amp; Disaster Recovery 2_112886m_attempt_2013-07-16-16-52-19_wk12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70886" y="1772816"/>
            <a:ext cx="4505370" cy="417497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Objectives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P1. Activation Phase</a:t>
            </a:r>
          </a:p>
          <a:p>
            <a:pPr lvl="1"/>
            <a:r>
              <a:rPr lang="en-GB" dirty="0" smtClean="0"/>
              <a:t>Initial Response</a:t>
            </a:r>
          </a:p>
          <a:p>
            <a:pPr lvl="2"/>
            <a:r>
              <a:rPr lang="en-GB" dirty="0" smtClean="0"/>
              <a:t>Activation Triggers: Disruption Severity Levels</a:t>
            </a:r>
          </a:p>
          <a:p>
            <a:pPr lvl="1"/>
            <a:r>
              <a:rPr lang="en-GB" dirty="0" smtClean="0"/>
              <a:t>Damage Assessment</a:t>
            </a:r>
          </a:p>
          <a:p>
            <a:pPr lvl="1"/>
            <a:r>
              <a:rPr lang="en-GB" dirty="0" smtClean="0"/>
              <a:t>Disaster Declaration</a:t>
            </a:r>
          </a:p>
          <a:p>
            <a:r>
              <a:rPr lang="en-SG" dirty="0" smtClean="0"/>
              <a:t>P2. Recovery Phase</a:t>
            </a:r>
          </a:p>
          <a:p>
            <a:pPr lvl="1"/>
            <a:r>
              <a:rPr lang="en-SG" dirty="0" smtClean="0"/>
              <a:t>Recovery checklist</a:t>
            </a:r>
          </a:p>
          <a:p>
            <a:pPr lvl="1"/>
            <a:r>
              <a:rPr lang="en-SG" dirty="0" smtClean="0"/>
              <a:t>Recovery procedure</a:t>
            </a:r>
          </a:p>
          <a:p>
            <a:pPr lvl="1"/>
            <a:r>
              <a:rPr lang="en-SG" dirty="0" smtClean="0"/>
              <a:t>IT Recovery and CIRT responsibilities</a:t>
            </a:r>
          </a:p>
          <a:p>
            <a:endParaRPr lang="en-SG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P1. Activation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When: Addresses the time during and immediately after a business disruption</a:t>
            </a:r>
          </a:p>
          <a:p>
            <a:r>
              <a:rPr lang="en-SG" dirty="0" smtClean="0"/>
              <a:t>Who: Decision should be made by member(s) of senior management, preferably someone who is familiar with the plan.</a:t>
            </a:r>
          </a:p>
          <a:p>
            <a:r>
              <a:rPr lang="en-SG" dirty="0" smtClean="0"/>
              <a:t>What: Phase includes…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Initial Response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Damage Assessment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Disaster Declaration</a:t>
            </a:r>
          </a:p>
          <a:p>
            <a:endParaRPr lang="en-SG" dirty="0" smtClean="0"/>
          </a:p>
          <a:p>
            <a:pPr>
              <a:buNone/>
            </a:pPr>
            <a:endParaRPr lang="en-SG" dirty="0"/>
          </a:p>
        </p:txBody>
      </p:sp>
      <p:pic>
        <p:nvPicPr>
          <p:cNvPr id="6" name="Picture 5" descr="http://blog.timesunion.com/womenatwork/files/2013/02/emergencyplan-iStock_000019123965Large-600x39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406" y="3933056"/>
            <a:ext cx="4125081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P1. Activation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82613" indent="-514350">
              <a:buFont typeface="+mj-lt"/>
              <a:buAutoNum type="arabicPeriod"/>
            </a:pPr>
            <a:r>
              <a:rPr lang="en-SG" dirty="0" smtClean="0"/>
              <a:t>Initial Response: </a:t>
            </a:r>
          </a:p>
          <a:p>
            <a:pPr lvl="1"/>
            <a:r>
              <a:rPr lang="en-SG" dirty="0" smtClean="0"/>
              <a:t>Receive initial notification of possible, impending, or in-progress disruption.</a:t>
            </a:r>
          </a:p>
          <a:p>
            <a:pPr lvl="1"/>
            <a:r>
              <a:rPr lang="en-SG" dirty="0" smtClean="0"/>
              <a:t>Alert appropriate emergency response organizations (fire, police, etc.), if needed.</a:t>
            </a:r>
          </a:p>
          <a:p>
            <a:pPr lvl="1"/>
            <a:r>
              <a:rPr lang="en-SG" dirty="0" smtClean="0"/>
              <a:t>Retrieve BCP plan, mobilize DAT and CMT.</a:t>
            </a:r>
          </a:p>
          <a:p>
            <a:pPr lvl="1"/>
            <a:r>
              <a:rPr lang="en-SG" dirty="0" smtClean="0"/>
              <a:t>Assess severity level, determine appropriate BCP action plan based on </a:t>
            </a:r>
            <a:r>
              <a:rPr lang="en-SG" u="sng" dirty="0" smtClean="0"/>
              <a:t>activation triggers</a:t>
            </a:r>
            <a:r>
              <a:rPr lang="en-SG" dirty="0" smtClean="0"/>
              <a:t>.</a:t>
            </a:r>
          </a:p>
          <a:p>
            <a:pPr lvl="1"/>
            <a:r>
              <a:rPr lang="en-SG" dirty="0" smtClean="0"/>
              <a:t>Notify appropriate BCP team members.</a:t>
            </a:r>
          </a:p>
          <a:p>
            <a:pPr lvl="1"/>
            <a:r>
              <a:rPr lang="en-SG" dirty="0" smtClean="0"/>
              <a:t>Prepare preliminary event report or log. </a:t>
            </a:r>
          </a:p>
          <a:p>
            <a:pPr lvl="1"/>
            <a:r>
              <a:rPr lang="en-SG" dirty="0" smtClean="0"/>
              <a:t>Communicate with appropriate parties.</a:t>
            </a:r>
          </a:p>
          <a:p>
            <a:pPr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P1. Activation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Activation Triggers: </a:t>
            </a:r>
          </a:p>
          <a:p>
            <a:pPr lvl="1"/>
            <a:r>
              <a:rPr lang="en-SG" dirty="0" smtClean="0"/>
              <a:t>Defined in BCP to aid decision on when and how to activate plan.</a:t>
            </a:r>
          </a:p>
          <a:p>
            <a:pPr lvl="1"/>
            <a:r>
              <a:rPr lang="en-GB" sz="2400" dirty="0" smtClean="0"/>
              <a:t>Circumstances and severity level before activating BCP.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Major</a:t>
            </a:r>
          </a:p>
          <a:p>
            <a:pPr lvl="2"/>
            <a:r>
              <a:rPr lang="en-SG" dirty="0" smtClean="0"/>
              <a:t>Disrupts all/almost all of the business-critical functions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Intermediate</a:t>
            </a:r>
          </a:p>
          <a:p>
            <a:pPr lvl="2"/>
            <a:r>
              <a:rPr lang="en-SG" dirty="0" smtClean="0"/>
              <a:t>Disrupts some business-critical functions but not all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Minor</a:t>
            </a:r>
          </a:p>
          <a:p>
            <a:pPr lvl="2"/>
            <a:r>
              <a:rPr lang="en-SG" dirty="0" smtClean="0"/>
              <a:t>Normal operations can still continue. </a:t>
            </a:r>
          </a:p>
          <a:p>
            <a:pPr lvl="2"/>
            <a:r>
              <a:rPr lang="en-SG" dirty="0" smtClean="0"/>
              <a:t>Business-critical functions available </a:t>
            </a:r>
            <a:r>
              <a:rPr lang="en-SG" smtClean="0"/>
              <a:t>for some </a:t>
            </a:r>
            <a:r>
              <a:rPr lang="en-SG" dirty="0" smtClean="0"/>
              <a:t>time.</a:t>
            </a:r>
          </a:p>
          <a:p>
            <a:endParaRPr lang="en-SG" dirty="0" smtClean="0"/>
          </a:p>
          <a:p>
            <a:pPr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P1. Activation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424936" cy="5112568"/>
          </a:xfrm>
        </p:spPr>
        <p:txBody>
          <a:bodyPr/>
          <a:lstStyle/>
          <a:p>
            <a:pPr marL="582613" indent="-514350">
              <a:buFont typeface="+mj-lt"/>
              <a:buAutoNum type="arabicPeriod" startAt="2"/>
            </a:pPr>
            <a:r>
              <a:rPr lang="en-SG" dirty="0" smtClean="0"/>
              <a:t>Damage Assessment </a:t>
            </a:r>
          </a:p>
          <a:p>
            <a:pPr lvl="1"/>
            <a:r>
              <a:rPr lang="en-SG" dirty="0" smtClean="0"/>
              <a:t>Notified of disruption, review preliminary report.</a:t>
            </a:r>
          </a:p>
          <a:p>
            <a:pPr lvl="1"/>
            <a:r>
              <a:rPr lang="en-SG" dirty="0" smtClean="0"/>
              <a:t>Assess structural damage, impact to health and safety.</a:t>
            </a:r>
          </a:p>
          <a:p>
            <a:pPr lvl="1"/>
            <a:r>
              <a:rPr lang="en-SG" dirty="0" smtClean="0"/>
              <a:t>Determine extent and severity of disruption to operations, assess potential financial loss.</a:t>
            </a:r>
          </a:p>
          <a:p>
            <a:pPr lvl="1"/>
            <a:r>
              <a:rPr lang="en-SG" dirty="0" smtClean="0"/>
              <a:t>Follow up actions based on severity level.</a:t>
            </a:r>
          </a:p>
          <a:p>
            <a:pPr lvl="2"/>
            <a:r>
              <a:rPr lang="en-SG" dirty="0" smtClean="0"/>
              <a:t>Minor disruption: </a:t>
            </a:r>
          </a:p>
          <a:p>
            <a:pPr lvl="3"/>
            <a:r>
              <a:rPr lang="en-SG" dirty="0" smtClean="0"/>
              <a:t>No further action, monitor situation.</a:t>
            </a:r>
          </a:p>
          <a:p>
            <a:pPr lvl="2"/>
            <a:r>
              <a:rPr lang="en-SG" dirty="0" smtClean="0"/>
              <a:t>Intermediate or Major disruption: </a:t>
            </a:r>
          </a:p>
          <a:p>
            <a:pPr lvl="3"/>
            <a:r>
              <a:rPr lang="en-SG" dirty="0" smtClean="0"/>
              <a:t>Prepare final assessment report, notify BCP team of findings.</a:t>
            </a:r>
          </a:p>
          <a:p>
            <a:pPr lvl="3"/>
            <a:r>
              <a:rPr lang="en-SG" dirty="0" smtClean="0"/>
              <a:t>Declare disaster and update event logs</a:t>
            </a:r>
          </a:p>
          <a:p>
            <a:pPr lvl="1"/>
            <a:r>
              <a:rPr lang="en-SG" dirty="0" smtClean="0"/>
              <a:t>Communicate with appropriate parties.</a:t>
            </a:r>
          </a:p>
          <a:p>
            <a:pPr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P1. Activation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424936" cy="5112568"/>
          </a:xfrm>
        </p:spPr>
        <p:txBody>
          <a:bodyPr/>
          <a:lstStyle/>
          <a:p>
            <a:pPr marL="582613" indent="-514350">
              <a:buFont typeface="+mj-lt"/>
              <a:buAutoNum type="arabicPeriod" startAt="3"/>
            </a:pPr>
            <a:r>
              <a:rPr lang="en-SG" dirty="0" smtClean="0"/>
              <a:t>Disaster Declaration</a:t>
            </a:r>
          </a:p>
          <a:p>
            <a:pPr lvl="1"/>
            <a:r>
              <a:rPr lang="en-SG" dirty="0" smtClean="0"/>
              <a:t>Review disaster level assessment, impact and other data gathered during initial response.</a:t>
            </a:r>
          </a:p>
          <a:p>
            <a:pPr lvl="1"/>
            <a:r>
              <a:rPr lang="en-SG" dirty="0" smtClean="0"/>
              <a:t>Activate BCP teams if not already activated.</a:t>
            </a:r>
          </a:p>
          <a:p>
            <a:pPr lvl="1"/>
            <a:r>
              <a:rPr lang="en-SG" dirty="0" smtClean="0"/>
              <a:t>Review recovery options based on assessment.</a:t>
            </a:r>
          </a:p>
          <a:p>
            <a:pPr lvl="1"/>
            <a:r>
              <a:rPr lang="en-SG" dirty="0" smtClean="0"/>
              <a:t>Select best option(s), plan for the execution.</a:t>
            </a:r>
          </a:p>
          <a:p>
            <a:pPr lvl="1"/>
            <a:r>
              <a:rPr lang="en-SG" dirty="0" smtClean="0"/>
              <a:t>Notify management and CMT.</a:t>
            </a:r>
          </a:p>
          <a:p>
            <a:pPr lvl="1"/>
            <a:r>
              <a:rPr lang="en-SG" dirty="0" smtClean="0"/>
              <a:t>Prepare a disaster declaration statement for employees, BCP team and community contacts.</a:t>
            </a:r>
          </a:p>
          <a:p>
            <a:pPr lvl="1"/>
            <a:r>
              <a:rPr lang="en-SG" dirty="0" smtClean="0"/>
              <a:t>Monitor progress, document results in event log.</a:t>
            </a:r>
          </a:p>
          <a:p>
            <a:pPr lvl="1"/>
            <a:r>
              <a:rPr lang="en-SG" dirty="0" smtClean="0"/>
              <a:t>Communicate with appropriate parties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dirty="0" smtClean="0"/>
              <a:t>Communicate With Appropriate Parties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SG" dirty="0" smtClean="0"/>
              <a:t>Communicate Relevant Information</a:t>
            </a:r>
          </a:p>
          <a:p>
            <a:pPr lvl="1"/>
            <a:r>
              <a:rPr lang="en-SG" dirty="0" smtClean="0"/>
              <a:t>Critical to build understanding with all parties especially for incidents of sensitive nature.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152400" y="2286000"/>
          <a:ext cx="8686800" cy="464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Activation Example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424936" cy="5112568"/>
          </a:xfrm>
        </p:spPr>
        <p:txBody>
          <a:bodyPr/>
          <a:lstStyle/>
          <a:p>
            <a:r>
              <a:rPr lang="en-SG" dirty="0" smtClean="0"/>
              <a:t>A power outage to a portion of the data centre event has occurred.</a:t>
            </a:r>
          </a:p>
          <a:p>
            <a:pPr lvl="1"/>
            <a:r>
              <a:rPr lang="en-SG" dirty="0" smtClean="0"/>
              <a:t>Day-to-day operations are disrupted.</a:t>
            </a:r>
          </a:p>
          <a:p>
            <a:endParaRPr lang="en-SG" dirty="0" smtClean="0"/>
          </a:p>
          <a:p>
            <a:r>
              <a:rPr lang="en-SG" dirty="0" smtClean="0"/>
              <a:t>Initial assessment by employees on the scene.</a:t>
            </a:r>
          </a:p>
          <a:p>
            <a:pPr lvl="1"/>
            <a:r>
              <a:rPr lang="en-SG" dirty="0" smtClean="0"/>
              <a:t>A portion of the network is or may be out of services</a:t>
            </a:r>
          </a:p>
          <a:p>
            <a:pPr lvl="1"/>
            <a:r>
              <a:rPr lang="en-SG" dirty="0" smtClean="0"/>
              <a:t>1 or more critical servers are or may be out of service</a:t>
            </a:r>
          </a:p>
          <a:p>
            <a:pPr lvl="1"/>
            <a:r>
              <a:rPr lang="en-SG" dirty="0" smtClean="0"/>
              <a:t>A portion of the physical facility has been impacted</a:t>
            </a:r>
          </a:p>
          <a:p>
            <a:pPr lvl="1"/>
            <a:r>
              <a:rPr lang="en-SG" dirty="0" smtClean="0"/>
              <a:t>Unable to resume normal operations within 2 hours.</a:t>
            </a:r>
          </a:p>
          <a:p>
            <a:endParaRPr lang="en-SG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Activation Example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424936" cy="5112568"/>
          </a:xfrm>
        </p:spPr>
        <p:txBody>
          <a:bodyPr/>
          <a:lstStyle/>
          <a:p>
            <a:r>
              <a:rPr lang="en-SG" dirty="0" smtClean="0"/>
              <a:t>If disruption appears to be intermediate on initial assessment, within 2 hours …</a:t>
            </a:r>
          </a:p>
          <a:p>
            <a:pPr lvl="1"/>
            <a:r>
              <a:rPr lang="en-SG" dirty="0" smtClean="0"/>
              <a:t>Gather information from emergency responders</a:t>
            </a:r>
          </a:p>
          <a:p>
            <a:pPr lvl="1"/>
            <a:r>
              <a:rPr lang="en-SG" dirty="0" smtClean="0"/>
              <a:t>Activate damage assessment team</a:t>
            </a:r>
          </a:p>
          <a:p>
            <a:pPr lvl="1"/>
            <a:r>
              <a:rPr lang="en-SG" dirty="0" smtClean="0"/>
              <a:t>Notify crisis management team to standby</a:t>
            </a:r>
          </a:p>
          <a:p>
            <a:r>
              <a:rPr lang="en-SG" dirty="0" smtClean="0"/>
              <a:t>After 2 hours from event notification, gather initial evaluation from damage assessment team (DAT).</a:t>
            </a:r>
          </a:p>
          <a:p>
            <a:r>
              <a:rPr lang="en-SG" dirty="0" smtClean="0"/>
              <a:t>After 3 hours, notify crisis management team (CMT) to activate or stand down.</a:t>
            </a:r>
          </a:p>
          <a:p>
            <a:r>
              <a:rPr lang="en-SG" dirty="0" smtClean="0"/>
              <a:t>Within 3 hours, execute BCP if assessment indicates intermediate or major disruption.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What: Specific steps taken to get operations up and running again are defined in this phase.</a:t>
            </a:r>
          </a:p>
          <a:p>
            <a:pPr lvl="1"/>
            <a:r>
              <a:rPr lang="en-SG" dirty="0" smtClean="0"/>
              <a:t>Evacuating facility</a:t>
            </a:r>
          </a:p>
          <a:p>
            <a:pPr lvl="1"/>
            <a:r>
              <a:rPr lang="en-SG" dirty="0" smtClean="0"/>
              <a:t>Remove equipment that can be salvaged</a:t>
            </a:r>
          </a:p>
          <a:p>
            <a:pPr lvl="1"/>
            <a:r>
              <a:rPr lang="en-SG" dirty="0" smtClean="0"/>
              <a:t>Assess situation or damage</a:t>
            </a:r>
          </a:p>
          <a:p>
            <a:pPr lvl="1"/>
            <a:r>
              <a:rPr lang="en-SG" dirty="0" smtClean="0"/>
              <a:t>Determine which recovery steps to execute</a:t>
            </a:r>
          </a:p>
          <a:p>
            <a:pPr lvl="1"/>
            <a:r>
              <a:rPr lang="en-SG" dirty="0" smtClean="0"/>
              <a:t>Alternate computing facilities may be activated</a:t>
            </a:r>
          </a:p>
          <a:p>
            <a:r>
              <a:rPr lang="en-SG" dirty="0" smtClean="0"/>
              <a:t>How: </a:t>
            </a:r>
          </a:p>
          <a:p>
            <a:pPr lvl="1"/>
            <a:r>
              <a:rPr lang="en-SG" dirty="0" smtClean="0"/>
              <a:t>Recovery checklist: What are the items to recover?</a:t>
            </a:r>
          </a:p>
          <a:p>
            <a:pPr lvl="1"/>
            <a:r>
              <a:rPr lang="en-SG" dirty="0" smtClean="0"/>
              <a:t>Recovery procedures: How to recover item?</a:t>
            </a:r>
          </a:p>
          <a:p>
            <a:pPr>
              <a:buNone/>
            </a:pPr>
            <a:endParaRPr lang="en-SG" dirty="0"/>
          </a:p>
        </p:txBody>
      </p:sp>
      <p:grpSp>
        <p:nvGrpSpPr>
          <p:cNvPr id="9" name="Group 8"/>
          <p:cNvGrpSpPr/>
          <p:nvPr/>
        </p:nvGrpSpPr>
        <p:grpSpPr>
          <a:xfrm>
            <a:off x="5724133" y="6147344"/>
            <a:ext cx="3096341" cy="378000"/>
            <a:chOff x="6438520" y="4971363"/>
            <a:chExt cx="2500909" cy="378000"/>
          </a:xfrm>
        </p:grpSpPr>
        <p:sp>
          <p:nvSpPr>
            <p:cNvPr id="10" name="TextBox 9"/>
            <p:cNvSpPr txBox="1"/>
            <p:nvPr/>
          </p:nvSpPr>
          <p:spPr>
            <a:xfrm>
              <a:off x="6840090" y="4973026"/>
              <a:ext cx="2099339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Recovery Time Objectives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11" name="Picture 3" descr="C:\Users\jamesg\AppData\Local\Microsoft\Windows\Temporary Internet Files\Content.IE5\AEEX0XL3\MP900430958[1].jpg">
              <a:hlinkClick r:id="rId3" action="ppaction://hlinkfile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Recovery Checklist </a:t>
            </a:r>
          </a:p>
          <a:p>
            <a:pPr lvl="1"/>
            <a:r>
              <a:rPr lang="en-SG" dirty="0" smtClean="0"/>
              <a:t>To guide various teams on what to look out for during the recovery process.</a:t>
            </a:r>
          </a:p>
          <a:p>
            <a:pPr lvl="1"/>
            <a:r>
              <a:rPr lang="en-SG" dirty="0" smtClean="0"/>
              <a:t>Useful to divide into specific areas</a:t>
            </a:r>
          </a:p>
          <a:p>
            <a:pPr lvl="2"/>
            <a:r>
              <a:rPr lang="en-SG" dirty="0" smtClean="0"/>
              <a:t>Infrastructure</a:t>
            </a:r>
          </a:p>
          <a:p>
            <a:pPr lvl="2"/>
            <a:r>
              <a:rPr lang="en-SG" dirty="0" smtClean="0"/>
              <a:t>Applications</a:t>
            </a:r>
          </a:p>
          <a:p>
            <a:pPr lvl="2"/>
            <a:r>
              <a:rPr lang="en-SG" dirty="0" smtClean="0"/>
              <a:t>Office-area and end-user recovery</a:t>
            </a:r>
          </a:p>
          <a:p>
            <a:pPr lvl="2"/>
            <a:r>
              <a:rPr lang="en-SG" dirty="0" smtClean="0"/>
              <a:t>Business process recovery</a:t>
            </a:r>
          </a:p>
          <a:p>
            <a:pPr lvl="2"/>
            <a:r>
              <a:rPr lang="en-SG" dirty="0" smtClean="0"/>
              <a:t>Manufacturing, productions, operations recovery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Recovery Procedures</a:t>
            </a:r>
          </a:p>
          <a:p>
            <a:pPr lvl="1"/>
            <a:r>
              <a:rPr lang="en-SG" dirty="0" smtClean="0"/>
              <a:t>step-by-step documentation to guide recovery of a specific item or asset.</a:t>
            </a:r>
          </a:p>
          <a:p>
            <a:pPr lvl="1"/>
            <a:r>
              <a:rPr lang="en-SG" dirty="0" smtClean="0"/>
              <a:t>How:</a:t>
            </a:r>
          </a:p>
          <a:p>
            <a:pPr lvl="2"/>
            <a:r>
              <a:rPr lang="en-SG" dirty="0" smtClean="0"/>
              <a:t>created for the particular setup in the organization – no standard procedure.</a:t>
            </a:r>
          </a:p>
          <a:p>
            <a:pPr lvl="2"/>
            <a:r>
              <a:rPr lang="en-SG" dirty="0" smtClean="0"/>
              <a:t>assigned to the appropriate recovery team.</a:t>
            </a:r>
          </a:p>
          <a:p>
            <a:pPr lvl="2"/>
            <a:r>
              <a:rPr lang="en-SG" dirty="0" smtClean="0"/>
              <a:t>written in a straightforward and clear manner.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List of recovery procedures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Obtain authorization to access damaged facilities and/or geographic area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Notify internal and external business partners associated with the system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Obtain necessary office supplies and work space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Obtain and install necessary hardware components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Obtain and load backup media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Restore OS, application software to known state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Test system functionality including security controls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Connect system to network/other external systems</a:t>
            </a:r>
          </a:p>
          <a:p>
            <a:pPr marL="968375" lvl="1" indent="-514350">
              <a:buFont typeface="+mj-lt"/>
              <a:buAutoNum type="arabicPeriod"/>
            </a:pPr>
            <a:r>
              <a:rPr lang="en-SG" dirty="0" smtClean="0"/>
              <a:t>Operate alternate setup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Sample recovery procedure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81" t="33197" r="10942" b="29918"/>
          <a:stretch/>
        </p:blipFill>
        <p:spPr bwMode="auto">
          <a:xfrm>
            <a:off x="304800" y="2362200"/>
            <a:ext cx="8548793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IT Recovery</a:t>
            </a:r>
          </a:p>
          <a:p>
            <a:pPr lvl="1"/>
            <a:r>
              <a:rPr lang="en-SG" dirty="0" smtClean="0"/>
              <a:t>Requires specialized knowledge and training.</a:t>
            </a:r>
          </a:p>
          <a:p>
            <a:pPr lvl="1"/>
            <a:r>
              <a:rPr lang="en-SG" dirty="0" smtClean="0"/>
              <a:t>Organizations employ Computer Incident Response Team (CIRT) for this. CIRT Responsibilities:</a:t>
            </a:r>
          </a:p>
          <a:p>
            <a:pPr marL="1223963" lvl="2" indent="-457200">
              <a:buFont typeface="+mj-lt"/>
              <a:buAutoNum type="arabicPeriod"/>
            </a:pPr>
            <a:r>
              <a:rPr lang="en-SG" dirty="0" smtClean="0"/>
              <a:t>Monitor</a:t>
            </a:r>
          </a:p>
          <a:p>
            <a:pPr marL="1489075" lvl="3" indent="-457200"/>
            <a:r>
              <a:rPr lang="en-SG" dirty="0" smtClean="0"/>
              <a:t>Monitor IT infrastructure for abnormal events or incidents that may require  response.</a:t>
            </a:r>
          </a:p>
          <a:p>
            <a:pPr marL="1223963" lvl="2" indent="-457200">
              <a:buFont typeface="+mj-lt"/>
              <a:buAutoNum type="arabicPeriod"/>
            </a:pPr>
            <a:r>
              <a:rPr lang="en-SG" dirty="0" smtClean="0"/>
              <a:t>Alert and mobilize</a:t>
            </a:r>
          </a:p>
          <a:p>
            <a:pPr marL="1489075" lvl="3" indent="-457200"/>
            <a:r>
              <a:rPr lang="en-SG" dirty="0" smtClean="0"/>
              <a:t>Once an event is suspected /confirmed, need to mobilize appropriate team members for action.</a:t>
            </a:r>
          </a:p>
          <a:p>
            <a:pPr marL="1489075" lvl="3" indent="-457200"/>
            <a:r>
              <a:rPr lang="en-SG" dirty="0" smtClean="0"/>
              <a:t>May include shutting down servers, applications such as email servers and services.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P2. Recovery Phase</a:t>
            </a:r>
            <a:endParaRPr lang="en-SG" dirty="0">
              <a:latin typeface="+mj-lt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23963" lvl="2" indent="-457200">
              <a:buFont typeface="+mj-lt"/>
              <a:buAutoNum type="arabicPeriod" startAt="3"/>
            </a:pPr>
            <a:r>
              <a:rPr lang="en-SG" dirty="0" smtClean="0"/>
              <a:t>Assess and stabilize</a:t>
            </a:r>
          </a:p>
          <a:p>
            <a:pPr marL="1489075" lvl="3" indent="-457200"/>
            <a:r>
              <a:rPr lang="en-SG" dirty="0" smtClean="0"/>
              <a:t>Assess the damages and take steps to contain them to bring about stability to the situation.</a:t>
            </a:r>
          </a:p>
          <a:p>
            <a:pPr marL="1489075" lvl="3" indent="-457200"/>
            <a:r>
              <a:rPr lang="en-SG" dirty="0" smtClean="0"/>
              <a:t>Typically the longest phase due to complexity.</a:t>
            </a:r>
          </a:p>
          <a:p>
            <a:pPr marL="1489075" lvl="3" indent="-457200"/>
            <a:r>
              <a:rPr lang="en-SG" dirty="0" smtClean="0"/>
              <a:t>Take into account Maximum Tolerable Downtime (MTD).</a:t>
            </a:r>
          </a:p>
          <a:p>
            <a:pPr marL="1223963" lvl="2" indent="-457200">
              <a:buFont typeface="+mj-lt"/>
              <a:buAutoNum type="arabicPeriod" startAt="3"/>
            </a:pPr>
            <a:r>
              <a:rPr lang="en-SG" dirty="0" smtClean="0"/>
              <a:t>Resolve</a:t>
            </a:r>
          </a:p>
          <a:p>
            <a:pPr marL="1489075" lvl="3" indent="-457200"/>
            <a:r>
              <a:rPr lang="en-SG" dirty="0" smtClean="0"/>
              <a:t>Take steps to resolve the issues caused by the event. </a:t>
            </a:r>
          </a:p>
          <a:p>
            <a:pPr marL="1489075" lvl="3" indent="-457200"/>
            <a:r>
              <a:rPr lang="en-SG" dirty="0" smtClean="0"/>
              <a:t>Exact steps depend on the nature of the damage and the resources that are available at that time.</a:t>
            </a:r>
          </a:p>
          <a:p>
            <a:pPr marL="1223963" lvl="2" indent="-457200">
              <a:buFont typeface="+mj-lt"/>
              <a:buAutoNum type="arabicPeriod" startAt="3"/>
            </a:pPr>
            <a:r>
              <a:rPr lang="en-SG" dirty="0" smtClean="0"/>
              <a:t>Review</a:t>
            </a:r>
          </a:p>
          <a:p>
            <a:pPr marL="1489075" lvl="3" indent="-457200"/>
            <a:r>
              <a:rPr lang="en-SG" dirty="0" smtClean="0"/>
              <a:t>Study and assessed what has happened and document of lessons learnt for future reference/training.</a:t>
            </a:r>
          </a:p>
          <a:p>
            <a:pPr marL="1489075" lvl="3" indent="-457200"/>
            <a:endParaRPr lang="en-SG" dirty="0" smtClean="0"/>
          </a:p>
          <a:p>
            <a:pPr marL="1223963" lvl="2" indent="-457200"/>
            <a:endParaRPr lang="en-SG" dirty="0" smtClean="0"/>
          </a:p>
          <a:p>
            <a:pPr marL="1223963" lvl="2" indent="-457200">
              <a:buFont typeface="+mj-lt"/>
              <a:buAutoNum type="arabicPeriod" startAt="3"/>
            </a:pPr>
            <a:endParaRPr lang="en-SG" dirty="0" smtClean="0"/>
          </a:p>
          <a:p>
            <a:pPr marL="1223963" lvl="2" indent="-514350">
              <a:buFont typeface="+mj-lt"/>
              <a:buAutoNum type="arabicPeriod" startAt="3"/>
            </a:pPr>
            <a:endParaRPr lang="en-SG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5724133" y="6093296"/>
            <a:ext cx="2664291" cy="378000"/>
            <a:chOff x="6438520" y="4971363"/>
            <a:chExt cx="2151943" cy="378000"/>
          </a:xfrm>
        </p:grpSpPr>
        <p:sp>
          <p:nvSpPr>
            <p:cNvPr id="10" name="TextBox 9"/>
            <p:cNvSpPr txBox="1"/>
            <p:nvPr/>
          </p:nvSpPr>
          <p:spPr>
            <a:xfrm>
              <a:off x="6840089" y="4973026"/>
              <a:ext cx="175037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>
                  <a:solidFill>
                    <a:srgbClr val="FFFF00"/>
                  </a:solidFill>
                </a:rPr>
                <a:t>Hot, Warm, Cold Site</a:t>
              </a:r>
              <a:endParaRPr lang="en-GB" dirty="0">
                <a:solidFill>
                  <a:srgbClr val="FFFF00"/>
                </a:solidFill>
              </a:endParaRPr>
            </a:p>
          </p:txBody>
        </p:sp>
        <p:pic>
          <p:nvPicPr>
            <p:cNvPr id="11" name="Picture 3" descr="C:\Users\jamesg\AppData\Local\Microsoft\Windows\Temporary Internet Files\Content.IE5\AEEX0XL3\MP900430958[1].jpg">
              <a:hlinkClick r:id="rId3" action="ppaction://hlinkfile"/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38520" y="4971363"/>
              <a:ext cx="392738" cy="37800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GB" smtClean="0"/>
              <a:t>Summary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r>
              <a:rPr lang="en-GB" dirty="0" smtClean="0"/>
              <a:t>P1. Activation Phase</a:t>
            </a:r>
          </a:p>
          <a:p>
            <a:pPr lvl="1"/>
            <a:r>
              <a:rPr lang="en-GB" dirty="0" smtClean="0"/>
              <a:t>Initial Response</a:t>
            </a:r>
          </a:p>
          <a:p>
            <a:pPr lvl="2"/>
            <a:r>
              <a:rPr lang="en-GB" dirty="0" smtClean="0"/>
              <a:t>Activation Triggers: Disruption Severity Levels</a:t>
            </a:r>
          </a:p>
          <a:p>
            <a:pPr lvl="1"/>
            <a:r>
              <a:rPr lang="en-GB" dirty="0" smtClean="0"/>
              <a:t>Damage Assessment</a:t>
            </a:r>
          </a:p>
          <a:p>
            <a:pPr lvl="1"/>
            <a:r>
              <a:rPr lang="en-GB" dirty="0" smtClean="0"/>
              <a:t>Disaster Declaration</a:t>
            </a:r>
          </a:p>
          <a:p>
            <a:r>
              <a:rPr lang="en-SG" dirty="0" smtClean="0"/>
              <a:t>P2. Recovery Phase</a:t>
            </a:r>
          </a:p>
          <a:p>
            <a:pPr lvl="1"/>
            <a:r>
              <a:rPr lang="en-SG" dirty="0" smtClean="0"/>
              <a:t>Recovery checklist</a:t>
            </a:r>
          </a:p>
          <a:p>
            <a:pPr lvl="1"/>
            <a:r>
              <a:rPr lang="en-SG" dirty="0" smtClean="0"/>
              <a:t>Recovery procedure</a:t>
            </a:r>
          </a:p>
          <a:p>
            <a:pPr lvl="1"/>
            <a:r>
              <a:rPr lang="en-SG" dirty="0" smtClean="0"/>
              <a:t>IT Recovery and CIRT responsibilities</a:t>
            </a:r>
          </a:p>
          <a:p>
            <a:endParaRPr lang="en-SG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SG" dirty="0" smtClean="0">
                <a:latin typeface="+mj-lt"/>
              </a:rPr>
              <a:t>Additional References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SG" dirty="0" smtClean="0">
                <a:latin typeface="+mj-lt"/>
              </a:rPr>
              <a:t>Disruption Severity Levels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rabicPeriod"/>
            </a:pPr>
            <a:r>
              <a:rPr lang="en-SG" dirty="0" smtClean="0"/>
              <a:t>Major Disruption</a:t>
            </a:r>
            <a:endParaRPr lang="en-GB" dirty="0" smtClean="0"/>
          </a:p>
          <a:p>
            <a:pPr lvl="1"/>
            <a:r>
              <a:rPr lang="en-SG" dirty="0" smtClean="0"/>
              <a:t>Low likelihood but high business impact.</a:t>
            </a:r>
          </a:p>
          <a:p>
            <a:pPr lvl="1"/>
            <a:r>
              <a:rPr lang="en-SG" dirty="0" smtClean="0"/>
              <a:t>Disrupts all or most of the critical business processes/functions of the organization. </a:t>
            </a:r>
          </a:p>
          <a:p>
            <a:pPr lvl="1"/>
            <a:r>
              <a:rPr lang="en-SG" dirty="0" smtClean="0"/>
              <a:t>Typically, all or majority of the systems and equipment have failed or are inaccessible. </a:t>
            </a:r>
          </a:p>
          <a:p>
            <a:pPr lvl="1"/>
            <a:r>
              <a:rPr lang="en-SG" dirty="0" smtClean="0"/>
              <a:t>Examples include earthquake, tsunami, war</a:t>
            </a:r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SG" dirty="0" smtClean="0"/>
              <a:t>Disruption Severity </a:t>
            </a:r>
            <a:r>
              <a:rPr lang="en-SG" dirty="0" smtClean="0">
                <a:latin typeface="+mj-lt"/>
              </a:rPr>
              <a:t>Levels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rabicPeriod" startAt="2"/>
            </a:pPr>
            <a:r>
              <a:rPr lang="en-SG" dirty="0" smtClean="0"/>
              <a:t>Intermediate Disruption</a:t>
            </a:r>
            <a:endParaRPr lang="en-GB" dirty="0" smtClean="0"/>
          </a:p>
          <a:p>
            <a:pPr lvl="1"/>
            <a:r>
              <a:rPr lang="en-SG" dirty="0" smtClean="0"/>
              <a:t>Likely to occur more frequently than major incidents but less than a minor incident. </a:t>
            </a:r>
          </a:p>
          <a:p>
            <a:pPr lvl="1"/>
            <a:r>
              <a:rPr lang="en-SG" dirty="0" smtClean="0"/>
              <a:t>Impact is between major and minor incident.</a:t>
            </a:r>
          </a:p>
          <a:p>
            <a:pPr lvl="1"/>
            <a:r>
              <a:rPr lang="en-SG" dirty="0" smtClean="0"/>
              <a:t>Some operations will experience significant disruption, such as entire systems or multiple systems failing or becoming unavailable.</a:t>
            </a:r>
          </a:p>
          <a:p>
            <a:pPr lvl="1"/>
            <a:r>
              <a:rPr lang="en-SG" dirty="0" smtClean="0"/>
              <a:t>Examples include a fire or flood in the building that impacts IT systems and equipment.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14290"/>
            <a:ext cx="8496944" cy="914400"/>
          </a:xfrm>
        </p:spPr>
        <p:txBody>
          <a:bodyPr/>
          <a:lstStyle/>
          <a:p>
            <a:r>
              <a:rPr lang="en-SG" dirty="0" smtClean="0"/>
              <a:t>Disruption Severity </a:t>
            </a:r>
            <a:r>
              <a:rPr lang="en-SG" dirty="0" smtClean="0">
                <a:latin typeface="+mj-lt"/>
              </a:rPr>
              <a:t>Levels</a:t>
            </a:r>
            <a:endParaRPr lang="en-SG" dirty="0">
              <a:latin typeface="+mj-lt"/>
            </a:endParaRPr>
          </a:p>
        </p:txBody>
      </p:sp>
      <p:sp>
        <p:nvSpPr>
          <p:cNvPr id="8" name="Content Placeholder 4"/>
          <p:cNvSpPr>
            <a:spLocks noGrp="1"/>
          </p:cNvSpPr>
          <p:nvPr>
            <p:ph idx="1"/>
          </p:nvPr>
        </p:nvSpPr>
        <p:spPr>
          <a:xfrm>
            <a:off x="539552" y="1124744"/>
            <a:ext cx="8064896" cy="5112568"/>
          </a:xfrm>
        </p:spPr>
        <p:txBody>
          <a:bodyPr/>
          <a:lstStyle/>
          <a:p>
            <a:pPr marL="582613" indent="-514350">
              <a:buFont typeface="+mj-lt"/>
              <a:buAutoNum type="arabicPeriod" startAt="3"/>
            </a:pPr>
            <a:r>
              <a:rPr lang="en-SG" dirty="0" smtClean="0"/>
              <a:t>Minor Disruption</a:t>
            </a:r>
            <a:endParaRPr lang="en-GB" dirty="0" smtClean="0"/>
          </a:p>
          <a:p>
            <a:pPr lvl="1"/>
            <a:r>
              <a:rPr lang="en-SG" dirty="0" smtClean="0"/>
              <a:t>High likelihood but the associated impact is low. </a:t>
            </a:r>
          </a:p>
          <a:p>
            <a:pPr lvl="1"/>
            <a:r>
              <a:rPr lang="en-SG" dirty="0" smtClean="0"/>
              <a:t>Effects are typically isolated to a component, system or segment of critical business function. </a:t>
            </a:r>
          </a:p>
          <a:p>
            <a:pPr lvl="1"/>
            <a:r>
              <a:rPr lang="en-SG" dirty="0" smtClean="0"/>
              <a:t>Normal operations can often continue, almost uninterrupted, in the face of a minor disruption.</a:t>
            </a:r>
          </a:p>
          <a:p>
            <a:pPr lvl="1"/>
            <a:r>
              <a:rPr lang="en-SG" dirty="0" smtClean="0"/>
              <a:t>Critical business functions still continues for some period of time after this type of disruption. </a:t>
            </a:r>
          </a:p>
          <a:p>
            <a:pPr lvl="1"/>
            <a:r>
              <a:rPr lang="en-SG" dirty="0" smtClean="0"/>
              <a:t>BCP/DR plans are rarely activated but there may be examples where minor incidents should be addressed by the activation of part of a BCP.</a:t>
            </a:r>
          </a:p>
        </p:txBody>
      </p:sp>
    </p:spTree>
    <p:extLst>
      <p:ext uri="{BB962C8B-B14F-4D97-AF65-F5344CB8AC3E}">
        <p14:creationId xmlns:p14="http://schemas.microsoft.com/office/powerpoint/2010/main" val="2290199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">
  <a:themeElements>
    <a:clrScheme name="Me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A7F9582DE2E34698E4DD99897B51E5" ma:contentTypeVersion="" ma:contentTypeDescription="Create a new document." ma:contentTypeScope="" ma:versionID="dd33e23194071e0c573bb55de309d7be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3e687d5f98ee29b9cfcc2ff24550d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7AFF8A-9A29-4C98-AEFC-EE040E859C9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1BFBBF-DC06-4BA6-A895-329E6D208A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B6C2BB2-0C7E-4472-BCAC-27C6D6AC16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15263</TotalTime>
  <Words>1212</Words>
  <Application>Microsoft Office PowerPoint</Application>
  <PresentationFormat>On-screen Show (4:3)</PresentationFormat>
  <Paragraphs>202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Myriad Pro Cond</vt:lpstr>
      <vt:lpstr>Calibri</vt:lpstr>
      <vt:lpstr>Wingdings</vt:lpstr>
      <vt:lpstr>Wingdings 2</vt:lpstr>
      <vt:lpstr>Wingdings 3</vt:lpstr>
      <vt:lpstr>DIS</vt:lpstr>
      <vt:lpstr>IT2775 Operations Security BCP: Activation and Recovery</vt:lpstr>
      <vt:lpstr>Objectives</vt:lpstr>
      <vt:lpstr>P1. Activation Phase</vt:lpstr>
      <vt:lpstr>P1. Activation Phase</vt:lpstr>
      <vt:lpstr>P1. Activation Phase</vt:lpstr>
      <vt:lpstr>P1. Activation Phase</vt:lpstr>
      <vt:lpstr>P1. Activation Phase</vt:lpstr>
      <vt:lpstr>Communicate With Appropriate Parties</vt:lpstr>
      <vt:lpstr>Activation Example</vt:lpstr>
      <vt:lpstr>Activation Example</vt:lpstr>
      <vt:lpstr>P2. Recovery Phase</vt:lpstr>
      <vt:lpstr>P2. Recovery Phase</vt:lpstr>
      <vt:lpstr>P2. Recovery Phase</vt:lpstr>
      <vt:lpstr>P2. Recovery Phase</vt:lpstr>
      <vt:lpstr>P2. Recovery Phase</vt:lpstr>
      <vt:lpstr>P2. Recovery Phase</vt:lpstr>
      <vt:lpstr>P2. Recovery Phase</vt:lpstr>
      <vt:lpstr>Summary</vt:lpstr>
      <vt:lpstr>Additional References</vt:lpstr>
      <vt:lpstr>Disruption Severity Levels</vt:lpstr>
      <vt:lpstr>Disruption Severity Levels</vt:lpstr>
      <vt:lpstr>Disruption Severity Levels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IT3522 Operations Security Wk 1: Introduction </dc:title>
  <cp:lastModifiedBy>HENG YIAK POR</cp:lastModifiedBy>
  <cp:revision>423</cp:revision>
  <cp:lastPrinted>2011-04-20T01:51:48Z</cp:lastPrinted>
  <dcterms:created xsi:type="dcterms:W3CDTF">2010-10-03T07:18:45Z</dcterms:created>
  <dcterms:modified xsi:type="dcterms:W3CDTF">2017-08-30T06:39:26Z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0x010100B6A7F9582DE2E34698E4DD99897B51E5</vt:lpwstr>
  </property>
</Properties>
</file>