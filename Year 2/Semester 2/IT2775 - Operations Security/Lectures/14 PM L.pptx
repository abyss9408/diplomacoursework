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56" r:id="rId5"/>
    <p:sldId id="282" r:id="rId6"/>
    <p:sldId id="284" r:id="rId7"/>
    <p:sldId id="296" r:id="rId8"/>
    <p:sldId id="258" r:id="rId9"/>
    <p:sldId id="285" r:id="rId10"/>
    <p:sldId id="286" r:id="rId11"/>
    <p:sldId id="297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8" r:id="rId20"/>
    <p:sldId id="294" r:id="rId21"/>
    <p:sldId id="295" r:id="rId22"/>
    <p:sldId id="283" r:id="rId23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02" autoAdjust="0"/>
  </p:normalViewPr>
  <p:slideViewPr>
    <p:cSldViewPr snapToObjects="1">
      <p:cViewPr varScale="1">
        <p:scale>
          <a:sx n="79" d="100"/>
          <a:sy n="79" d="100"/>
        </p:scale>
        <p:origin x="133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4" d="100"/>
          <a:sy n="54" d="100"/>
        </p:scale>
        <p:origin x="-2850" y="-84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 smtClean="0"/>
              <a:t>Topic 1 – Introduction</a:t>
            </a:r>
          </a:p>
          <a:p>
            <a:r>
              <a:rPr lang="en-US" sz="1100" dirty="0" smtClean="0"/>
              <a:t>AY2012 S2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dirty="0" smtClean="0"/>
              <a:t>Page </a:t>
            </a:r>
            <a:fld id="{614830C6-7046-4E73-B492-EB73775AC0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-5905"/>
            <a:ext cx="6784975" cy="383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28" tIns="47964" rIns="95928" bIns="4796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51805" y="641977"/>
            <a:ext cx="5828774" cy="1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94003" y="257009"/>
            <a:ext cx="1745436" cy="266142"/>
          </a:xfrm>
          <a:prstGeom prst="rect">
            <a:avLst/>
          </a:prstGeom>
          <a:noFill/>
        </p:spPr>
        <p:txBody>
          <a:bodyPr wrap="none" lIns="95928" tIns="47964" rIns="95928" bIns="47964" rtlCol="0">
            <a:spAutoFit/>
          </a:bodyPr>
          <a:lstStyle/>
          <a:p>
            <a:r>
              <a:rPr lang="en-US" sz="1100" dirty="0" smtClean="0"/>
              <a:t>IT3522 Operations Security</a:t>
            </a:r>
            <a:endParaRPr lang="en-US" sz="1100" dirty="0"/>
          </a:p>
        </p:txBody>
      </p:sp>
      <p:pic>
        <p:nvPicPr>
          <p:cNvPr id="2" name="Picture 1" descr="Corporate NYP Logo_Horizontal_4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80" y="209539"/>
            <a:ext cx="1219200" cy="28651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777280" y="8905056"/>
            <a:ext cx="5828774" cy="1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349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E8AB120-A64C-4DD7-98EB-8987E88416F3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29F95C9-DA15-4933-A48E-633206A8F3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1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5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14290"/>
            <a:ext cx="8064896" cy="914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>
            <a:lvl1pPr>
              <a:buClr>
                <a:schemeClr val="tx1"/>
              </a:buClr>
              <a:defRPr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/>
            </a:lvl2pPr>
            <a:lvl3pPr>
              <a:buClr>
                <a:schemeClr val="tx1"/>
              </a:buClr>
              <a:defRPr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/>
            </a:lvl4pPr>
            <a:lvl5pPr>
              <a:buClr>
                <a:schemeClr val="tx1"/>
              </a:buClr>
              <a:defRPr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39551" y="908720"/>
            <a:ext cx="806489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3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 sz="2800"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 sz="2400" baseline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 sz="1800"/>
            </a:lvl4pPr>
            <a:lvl5pPr>
              <a:buClr>
                <a:schemeClr val="tx1"/>
              </a:buClr>
              <a:defRPr sz="1800"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3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 sz="2800"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 sz="2400" baseline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 sz="1800"/>
            </a:lvl4pPr>
            <a:lvl5pPr>
              <a:buClr>
                <a:schemeClr val="tx1"/>
              </a:buClr>
              <a:defRPr sz="1800"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39551" y="1124744"/>
            <a:ext cx="806489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16" name="Rectangle 20"/>
          <p:cNvSpPr>
            <a:spLocks noGrp="1" noChangeArrowheads="1"/>
          </p:cNvSpPr>
          <p:nvPr>
            <p:ph type="ctrTitle"/>
          </p:nvPr>
        </p:nvSpPr>
        <p:spPr>
          <a:xfrm>
            <a:off x="1828800" y="2133600"/>
            <a:ext cx="7315200" cy="1600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55317" name="Rectangle 2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xfrm>
            <a:off x="3733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12160" y="6416675"/>
            <a:ext cx="205575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39551" y="6416675"/>
            <a:ext cx="5376597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30042" y="6400800"/>
            <a:ext cx="474406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9" name="Title Placeholder 21"/>
          <p:cNvSpPr>
            <a:spLocks noGrp="1"/>
          </p:cNvSpPr>
          <p:nvPr>
            <p:ph type="title"/>
          </p:nvPr>
        </p:nvSpPr>
        <p:spPr bwMode="auto">
          <a:xfrm>
            <a:off x="539552" y="512763"/>
            <a:ext cx="8064896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4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39552" y="1784350"/>
            <a:ext cx="806489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72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9pPr>
      <a:extLst/>
    </p:titleStyle>
    <p:bodyStyle>
      <a:lvl1pPr marL="411163" indent="-342900" algn="l" rtl="0" eaLnBrk="1" fontAlgn="base" hangingPunct="1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itchFamily="2" charset="2"/>
        <a:buChar char=""/>
        <a:defRPr sz="3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39775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hyperlink" Target="08%20-%20Up%20in%20the%20Air.mp4" TargetMode="Externa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cialintelligencehr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20" y="100608"/>
            <a:ext cx="8611344" cy="1600200"/>
          </a:xfrm>
        </p:spPr>
        <p:txBody>
          <a:bodyPr/>
          <a:lstStyle/>
          <a:p>
            <a:r>
              <a:rPr lang="en-GB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IT2775 </a:t>
            </a:r>
            <a:r>
              <a:rPr lang="en-GB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Operations Security</a:t>
            </a:r>
            <a:r>
              <a:rPr lang="en-GB" sz="3600" dirty="0" smtClean="0">
                <a:latin typeface="+mj-lt"/>
              </a:rPr>
              <a:t/>
            </a:r>
            <a:br>
              <a:rPr lang="en-GB" sz="3600" dirty="0" smtClean="0">
                <a:latin typeface="+mj-lt"/>
              </a:rPr>
            </a:br>
            <a:r>
              <a:rPr lang="en-GB" sz="3600" dirty="0" smtClean="0">
                <a:latin typeface="+mj-lt"/>
              </a:rPr>
              <a:t>Personnel Management</a:t>
            </a:r>
            <a:endParaRPr lang="en-GB" sz="3600" dirty="0">
              <a:latin typeface="+mj-lt"/>
            </a:endParaRPr>
          </a:p>
        </p:txBody>
      </p:sp>
      <p:pic>
        <p:nvPicPr>
          <p:cNvPr id="28674" name="Picture 2" descr="http://staffportal.nyp.edu.sg/portal/page/portal/COMPublicPageGroup/PublicPage/nyp_logo/corporate_nyp_logo-horizontal/Corporate-NYP-Logo_Horizontal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512" y="6237312"/>
            <a:ext cx="2428875" cy="571501"/>
          </a:xfrm>
          <a:prstGeom prst="rect">
            <a:avLst/>
          </a:prstGeom>
          <a:noFill/>
        </p:spPr>
      </p:pic>
      <p:sp>
        <p:nvSpPr>
          <p:cNvPr id="10" name="Subtitle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Picture 10" descr="http://www.tadacademy.com/cmsproject/wp-content/uploads/2012/04/Personnel-Management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1" t="41484"/>
          <a:stretch>
            <a:fillRect/>
          </a:stretch>
        </p:blipFill>
        <p:spPr bwMode="auto">
          <a:xfrm>
            <a:off x="1259632" y="2132856"/>
            <a:ext cx="6408712" cy="33123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/>
          <p:cNvGrpSpPr/>
          <p:nvPr/>
        </p:nvGrpSpPr>
        <p:grpSpPr>
          <a:xfrm>
            <a:off x="7106533" y="5589240"/>
            <a:ext cx="1929963" cy="378000"/>
            <a:chOff x="6438520" y="4971363"/>
            <a:chExt cx="1558828" cy="378000"/>
          </a:xfrm>
        </p:grpSpPr>
        <p:sp>
          <p:nvSpPr>
            <p:cNvPr id="13" name="TextBox 12"/>
            <p:cNvSpPr txBox="1"/>
            <p:nvPr/>
          </p:nvSpPr>
          <p:spPr>
            <a:xfrm>
              <a:off x="6840092" y="4973026"/>
              <a:ext cx="115725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Up In The Air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14" name="Picture 3" descr="C:\Users\jamesg\AppData\Local\Microsoft\Windows\Temporary Internet Files\Content.IE5\AEEX0XL3\MP900430958[1].jpg">
              <a:hlinkClick r:id="rId5" action="ppaction://hlinkfile"/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438520" y="4971363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Objectives</a:t>
            </a:r>
            <a:endParaRPr lang="en-SG" dirty="0">
              <a:latin typeface="+mj-lt"/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SG" dirty="0" smtClean="0"/>
              <a:t>Pre-Employment</a:t>
            </a:r>
          </a:p>
          <a:p>
            <a:pPr lvl="1"/>
            <a:r>
              <a:rPr lang="en-SG" dirty="0" smtClean="0"/>
              <a:t>Hiring (4 practices)</a:t>
            </a:r>
          </a:p>
          <a:p>
            <a:r>
              <a:rPr lang="en-SG" dirty="0" smtClean="0"/>
              <a:t>During Employment</a:t>
            </a:r>
          </a:p>
          <a:p>
            <a:pPr lvl="1"/>
            <a:r>
              <a:rPr lang="en-SG" dirty="0" smtClean="0"/>
              <a:t>Employee Handbook</a:t>
            </a:r>
          </a:p>
          <a:p>
            <a:pPr lvl="1"/>
            <a:r>
              <a:rPr lang="en-SG" dirty="0" smtClean="0"/>
              <a:t>Performance Evaluation</a:t>
            </a:r>
          </a:p>
          <a:p>
            <a:pPr lvl="1"/>
            <a:r>
              <a:rPr lang="en-SG" dirty="0" smtClean="0"/>
              <a:t>Promotion</a:t>
            </a:r>
          </a:p>
          <a:p>
            <a:pPr lvl="1"/>
            <a:r>
              <a:rPr lang="en-SG" dirty="0" smtClean="0"/>
              <a:t>Scheduling and Reporting</a:t>
            </a:r>
          </a:p>
          <a:p>
            <a:r>
              <a:rPr lang="en-SG" dirty="0" smtClean="0"/>
              <a:t>Post-Employment</a:t>
            </a:r>
          </a:p>
          <a:p>
            <a:pPr lvl="1"/>
            <a:r>
              <a:rPr lang="en-SG" dirty="0" smtClean="0"/>
              <a:t>Termination (controls)</a:t>
            </a:r>
          </a:p>
          <a:p>
            <a:endParaRPr lang="en-GB" dirty="0" smtClean="0"/>
          </a:p>
        </p:txBody>
      </p:sp>
      <p:sp>
        <p:nvSpPr>
          <p:cNvPr id="9" name="Content Placeholder 4"/>
          <p:cNvSpPr txBox="1">
            <a:spLocks/>
          </p:cNvSpPr>
          <p:nvPr/>
        </p:nvSpPr>
        <p:spPr bwMode="auto">
          <a:xfrm>
            <a:off x="5220072" y="1052736"/>
            <a:ext cx="3536776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11163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itchFamily="2" charset="2"/>
              <a:buChar char=""/>
              <a:tabLst/>
              <a:defRPr/>
            </a:pPr>
            <a:endParaRPr kumimoji="0" lang="en-SG" sz="30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11163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itchFamily="2" charset="2"/>
              <a:buChar char=""/>
              <a:tabLst/>
              <a:defRPr/>
            </a:pPr>
            <a:endParaRPr lang="en-SG" sz="3000" dirty="0" smtClean="0">
              <a:solidFill>
                <a:srgbClr val="000099"/>
              </a:solidFill>
            </a:endParaRPr>
          </a:p>
          <a:p>
            <a:pPr marL="411163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itchFamily="2" charset="2"/>
              <a:buChar char=""/>
              <a:tabLst/>
              <a:defRPr/>
            </a:pPr>
            <a:endParaRPr lang="en-SG" sz="3000" dirty="0" smtClean="0">
              <a:solidFill>
                <a:srgbClr val="000099"/>
              </a:solidFill>
            </a:endParaRPr>
          </a:p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Training</a:t>
            </a:r>
          </a:p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Reducing Job Dependencies</a:t>
            </a:r>
          </a:p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Required Vacations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Personnel Management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What: Organization’s policies and procedures for hiring, promotion, retention &amp; termination.</a:t>
            </a:r>
          </a:p>
          <a:p>
            <a:r>
              <a:rPr lang="en-SG" dirty="0" smtClean="0"/>
              <a:t>Why:</a:t>
            </a:r>
          </a:p>
          <a:p>
            <a:pPr lvl="1"/>
            <a:r>
              <a:rPr lang="en-SG" dirty="0" smtClean="0"/>
              <a:t>Staff as Insiders: Staff with ill intentions can overcome security controls.</a:t>
            </a:r>
          </a:p>
          <a:p>
            <a:pPr lvl="1"/>
            <a:r>
              <a:rPr lang="en-SG" dirty="0" smtClean="0"/>
              <a:t>Staff Competency: Effectiveness of IS operations.</a:t>
            </a:r>
          </a:p>
          <a:p>
            <a:pPr lvl="1"/>
            <a:r>
              <a:rPr lang="en-SG" dirty="0" smtClean="0"/>
              <a:t>Staff Development: Ability to evolve and improve operations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Pre-Employment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Hiring Practices</a:t>
            </a:r>
          </a:p>
          <a:p>
            <a:pPr lvl="1"/>
            <a:r>
              <a:rPr lang="en-GB" dirty="0" smtClean="0"/>
              <a:t>Background Checks</a:t>
            </a:r>
          </a:p>
          <a:p>
            <a:pPr lvl="1"/>
            <a:r>
              <a:rPr lang="en-GB" dirty="0" smtClean="0"/>
              <a:t>Confidentiality Agreements</a:t>
            </a:r>
          </a:p>
          <a:p>
            <a:pPr lvl="1"/>
            <a:r>
              <a:rPr lang="en-GB" dirty="0" smtClean="0"/>
              <a:t>Conflict of Interest Agreements</a:t>
            </a:r>
          </a:p>
          <a:p>
            <a:pPr lvl="1"/>
            <a:r>
              <a:rPr lang="en-GB" dirty="0" smtClean="0"/>
              <a:t>Non-Compete Agreements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Pre-Employment: Hiring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Why: Choose the most competent candidate.</a:t>
            </a:r>
          </a:p>
          <a:p>
            <a:pPr lvl="1"/>
            <a:r>
              <a:rPr lang="en-SG" dirty="0" smtClean="0"/>
              <a:t>Regulations: Comply with local laws; may ease or impede the hiring of the best candidate.</a:t>
            </a:r>
          </a:p>
          <a:p>
            <a:r>
              <a:rPr lang="en-SG" dirty="0" smtClean="0"/>
              <a:t>How: Through hiring practices</a:t>
            </a:r>
          </a:p>
          <a:p>
            <a:pPr marL="741600" lvl="1" indent="-284400">
              <a:buFont typeface="+mj-lt"/>
              <a:buAutoNum type="arabicPeriod"/>
            </a:pPr>
            <a:r>
              <a:rPr lang="en-SG" dirty="0" smtClean="0"/>
              <a:t>Background checks</a:t>
            </a:r>
          </a:p>
          <a:p>
            <a:pPr lvl="2"/>
            <a:r>
              <a:rPr lang="en-SG" dirty="0" smtClean="0"/>
              <a:t>info about candidate’s general information, such as family, financial history, behaviour, etc.</a:t>
            </a:r>
          </a:p>
          <a:p>
            <a:pPr lvl="2"/>
            <a:r>
              <a:rPr lang="en-SG" dirty="0" smtClean="0"/>
              <a:t>may include profiling candidate on social networks.</a:t>
            </a:r>
          </a:p>
          <a:p>
            <a:pPr lvl="3"/>
            <a:r>
              <a:rPr lang="en-SG" dirty="0" smtClean="0"/>
              <a:t>Offered as a service by HR companies as part of the hiring process. (</a:t>
            </a:r>
            <a:r>
              <a:rPr lang="en-SG" dirty="0" smtClean="0">
                <a:hlinkClick r:id="rId3"/>
              </a:rPr>
              <a:t>http://www.socialintelligencehr.com</a:t>
            </a:r>
            <a:r>
              <a:rPr lang="en-SG" dirty="0" smtClean="0"/>
              <a:t>)</a:t>
            </a:r>
          </a:p>
          <a:p>
            <a:pPr lvl="3"/>
            <a:r>
              <a:rPr lang="en-SG" dirty="0" smtClean="0"/>
              <a:t>E.g. Employee fired for </a:t>
            </a:r>
            <a:r>
              <a:rPr lang="en-SG" dirty="0" err="1" smtClean="0"/>
              <a:t>Facebook</a:t>
            </a:r>
            <a:r>
              <a:rPr lang="en-SG" dirty="0" smtClean="0"/>
              <a:t> remarks</a:t>
            </a:r>
          </a:p>
          <a:p>
            <a:pPr>
              <a:buNone/>
            </a:pPr>
            <a:endParaRPr lang="en-SG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6786449" y="5517232"/>
            <a:ext cx="1241935" cy="378000"/>
            <a:chOff x="6438520" y="4971363"/>
            <a:chExt cx="1003109" cy="378000"/>
          </a:xfrm>
        </p:grpSpPr>
        <p:sp>
          <p:nvSpPr>
            <p:cNvPr id="7" name="TextBox 6"/>
            <p:cNvSpPr txBox="1"/>
            <p:nvPr/>
          </p:nvSpPr>
          <p:spPr>
            <a:xfrm>
              <a:off x="6840095" y="4973026"/>
              <a:ext cx="601534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NTUC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8" name="Picture 3" descr="C:\Users\jamesg\AppData\Local\Microsoft\Windows\Temporary Internet Files\Content.IE5\AEEX0XL3\MP900430958[1]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438520" y="4971363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Pre-Employment: Hiring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1600" lvl="1" indent="-284400">
              <a:buFont typeface="+mj-lt"/>
              <a:buAutoNum type="arabicPeriod" startAt="2"/>
            </a:pPr>
            <a:r>
              <a:rPr lang="en-GB" dirty="0" smtClean="0"/>
              <a:t>Confidentiality agreements</a:t>
            </a:r>
            <a:endParaRPr lang="en-SG" dirty="0" smtClean="0"/>
          </a:p>
          <a:p>
            <a:pPr lvl="2"/>
            <a:r>
              <a:rPr lang="en-GB" dirty="0" smtClean="0"/>
              <a:t>May be a legal requirement in some industries.</a:t>
            </a:r>
          </a:p>
          <a:p>
            <a:pPr lvl="2"/>
            <a:r>
              <a:rPr lang="en-GB" dirty="0" smtClean="0"/>
              <a:t>If required, </a:t>
            </a:r>
            <a:endParaRPr lang="en-SG" dirty="0" smtClean="0"/>
          </a:p>
          <a:p>
            <a:pPr lvl="3"/>
            <a:r>
              <a:rPr lang="en-GB" dirty="0" smtClean="0"/>
              <a:t>inform potential candidates of the need to sign such agreements. </a:t>
            </a:r>
          </a:p>
          <a:p>
            <a:pPr lvl="3"/>
            <a:r>
              <a:rPr lang="en-GB" dirty="0" smtClean="0"/>
              <a:t>their willingness indicates acceptance of job responsibilities. </a:t>
            </a:r>
          </a:p>
          <a:p>
            <a:pPr lvl="2"/>
            <a:r>
              <a:rPr lang="en-GB" dirty="0" smtClean="0"/>
              <a:t>E.g. Official Secrets Act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4788021" y="4059112"/>
            <a:ext cx="2592291" cy="378000"/>
            <a:chOff x="6438520" y="5032416"/>
            <a:chExt cx="2093790" cy="378000"/>
          </a:xfrm>
        </p:grpSpPr>
        <p:sp>
          <p:nvSpPr>
            <p:cNvPr id="7" name="TextBox 6"/>
            <p:cNvSpPr txBox="1"/>
            <p:nvPr/>
          </p:nvSpPr>
          <p:spPr>
            <a:xfrm>
              <a:off x="6840097" y="5041084"/>
              <a:ext cx="1692213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Sharing with spouse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8" name="Picture 3" descr="C:\Users\jamesg\AppData\Local\Microsoft\Windows\Temporary Internet Files\Content.IE5\AEEX0XL3\MP900430958[1]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38520" y="5032416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Pre-Employment: Hiring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1600" lvl="1" indent="-284400">
              <a:buFont typeface="+mj-lt"/>
              <a:buAutoNum type="arabicPeriod" startAt="3"/>
            </a:pPr>
            <a:r>
              <a:rPr lang="en-SG" dirty="0" smtClean="0"/>
              <a:t>Conflict of interest agreements</a:t>
            </a:r>
          </a:p>
          <a:p>
            <a:pPr marL="997200" lvl="2" indent="-248400"/>
            <a:r>
              <a:rPr lang="en-SG" dirty="0" smtClean="0"/>
              <a:t>Not to carry out or be part of any activities which may have a conflict of interest.</a:t>
            </a:r>
          </a:p>
          <a:p>
            <a:pPr marL="997200" lvl="2" indent="-248400"/>
            <a:r>
              <a:rPr lang="en-SG" dirty="0" smtClean="0"/>
              <a:t>E.g. Indulging in unhealthy lifestyle while working for a sports and wellness company.</a:t>
            </a:r>
          </a:p>
          <a:p>
            <a:pPr marL="997200" lvl="2" indent="-248400">
              <a:buNone/>
            </a:pPr>
            <a:endParaRPr lang="en-SG" dirty="0" smtClean="0"/>
          </a:p>
          <a:p>
            <a:pPr marL="741600" lvl="1" indent="-284400">
              <a:buFont typeface="+mj-lt"/>
              <a:buAutoNum type="arabicPeriod" startAt="3"/>
            </a:pPr>
            <a:r>
              <a:rPr lang="en-SG" dirty="0" smtClean="0"/>
              <a:t>Non-compete agreements</a:t>
            </a:r>
          </a:p>
          <a:p>
            <a:pPr lvl="2"/>
            <a:r>
              <a:rPr lang="en-SG" dirty="0" smtClean="0"/>
              <a:t>Not to start work with competitor companies for a stated duration should staff leaves the organization. </a:t>
            </a:r>
          </a:p>
          <a:p>
            <a:pPr lvl="2"/>
            <a:r>
              <a:rPr lang="en-SG" dirty="0" smtClean="0"/>
              <a:t>E.g. Official Secrets Act</a:t>
            </a:r>
          </a:p>
          <a:p>
            <a:pPr>
              <a:buNone/>
            </a:pPr>
            <a:endParaRPr lang="en-SG" dirty="0" smtClean="0"/>
          </a:p>
          <a:p>
            <a:pPr marL="968375" lvl="1" indent="-514350">
              <a:buFont typeface="+mj-lt"/>
              <a:buAutoNum type="arabicPeriod" startAt="3"/>
            </a:pPr>
            <a:endParaRPr lang="en-SG" dirty="0" smtClean="0"/>
          </a:p>
          <a:p>
            <a:pPr marL="968375" lvl="1" indent="-514350">
              <a:buFont typeface="+mj-lt"/>
              <a:buAutoNum type="arabicPeriod" startAt="3"/>
            </a:pPr>
            <a:endParaRPr lang="en-SG" dirty="0" smtClean="0"/>
          </a:p>
          <a:p>
            <a:pPr marL="1489075" lvl="3" indent="-514350"/>
            <a:endParaRPr lang="en-SG" dirty="0" smtClean="0"/>
          </a:p>
        </p:txBody>
      </p:sp>
      <p:grpSp>
        <p:nvGrpSpPr>
          <p:cNvPr id="2" name="Group 5"/>
          <p:cNvGrpSpPr/>
          <p:nvPr/>
        </p:nvGrpSpPr>
        <p:grpSpPr>
          <a:xfrm>
            <a:off x="5274266" y="5139232"/>
            <a:ext cx="1890023" cy="378000"/>
            <a:chOff x="6438520" y="4971363"/>
            <a:chExt cx="1526569" cy="378000"/>
          </a:xfrm>
        </p:grpSpPr>
        <p:sp>
          <p:nvSpPr>
            <p:cNvPr id="7" name="TextBox 6"/>
            <p:cNvSpPr txBox="1"/>
            <p:nvPr/>
          </p:nvSpPr>
          <p:spPr>
            <a:xfrm>
              <a:off x="6840096" y="4973026"/>
              <a:ext cx="1124993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Foreign </a:t>
              </a:r>
              <a:r>
                <a:rPr lang="en-US" dirty="0" err="1" smtClean="0">
                  <a:solidFill>
                    <a:srgbClr val="FFFF00"/>
                  </a:solidFill>
                </a:rPr>
                <a:t>Govt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8" name="Picture 3" descr="C:\Users\jamesg\AppData\Local\Microsoft\Windows\Temporary Internet Files\Content.IE5\AEEX0XL3\MP900430958[1]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38520" y="4971363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During Employment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512" y="1770503"/>
            <a:ext cx="4683720" cy="4525963"/>
          </a:xfrm>
        </p:spPr>
        <p:txBody>
          <a:bodyPr/>
          <a:lstStyle/>
          <a:p>
            <a:pPr lvl="1" defTabSz="914400"/>
            <a:r>
              <a:rPr lang="en-SG" sz="2600" dirty="0"/>
              <a:t>Employee Handbook</a:t>
            </a:r>
          </a:p>
          <a:p>
            <a:pPr lvl="1" defTabSz="914400"/>
            <a:r>
              <a:rPr lang="en-SG" sz="2600" dirty="0"/>
              <a:t>Performance Evaluation</a:t>
            </a:r>
          </a:p>
          <a:p>
            <a:pPr lvl="1" defTabSz="914400"/>
            <a:r>
              <a:rPr lang="en-SG" sz="2600" dirty="0"/>
              <a:t>Promotion</a:t>
            </a:r>
          </a:p>
          <a:p>
            <a:pPr lvl="1" defTabSz="914400"/>
            <a:r>
              <a:rPr lang="en-SG" sz="2600" dirty="0"/>
              <a:t>Scheduling and Reporting</a:t>
            </a:r>
          </a:p>
          <a:p>
            <a:pPr marL="68263" indent="0">
              <a:buNone/>
            </a:pPr>
            <a:endParaRPr lang="en-GB" sz="2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95936" y="1773801"/>
            <a:ext cx="4882008" cy="4114512"/>
          </a:xfrm>
        </p:spPr>
        <p:txBody>
          <a:bodyPr/>
          <a:lstStyle/>
          <a:p>
            <a:pPr lvl="1"/>
            <a:r>
              <a:rPr lang="en-SG" sz="2600" dirty="0"/>
              <a:t>Training</a:t>
            </a:r>
          </a:p>
          <a:p>
            <a:pPr lvl="1"/>
            <a:r>
              <a:rPr lang="en-SG" sz="2600" dirty="0"/>
              <a:t>Reducing Job Dependencies</a:t>
            </a:r>
          </a:p>
          <a:p>
            <a:pPr lvl="1"/>
            <a:r>
              <a:rPr lang="en-SG" sz="2600" dirty="0"/>
              <a:t>Required </a:t>
            </a:r>
            <a:r>
              <a:rPr lang="en-SG" sz="2600" dirty="0" smtClean="0"/>
              <a:t>Vacations</a:t>
            </a:r>
            <a:endParaRPr lang="en-SG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Employment: Employee Handbook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1584176"/>
          </a:xfrm>
        </p:spPr>
        <p:txBody>
          <a:bodyPr/>
          <a:lstStyle/>
          <a:p>
            <a:r>
              <a:rPr lang="en-SG" dirty="0" smtClean="0"/>
              <a:t>What: reference material for staff to be aware of the various aspects of their employment.</a:t>
            </a:r>
          </a:p>
          <a:p>
            <a:pPr>
              <a:buBlip>
                <a:blip r:embed="rId3"/>
              </a:buBlip>
            </a:pPr>
            <a:r>
              <a:rPr lang="en-SG" dirty="0" smtClean="0"/>
              <a:t>Does not prevent non-compliant behaviour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51520" y="2719462"/>
            <a:ext cx="5256584" cy="3229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397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GB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Organization’s expectations</a:t>
            </a:r>
          </a:p>
          <a:p>
            <a:pPr marL="7397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GB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HR policies</a:t>
            </a: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 benefits</a:t>
            </a: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Vacation policies</a:t>
            </a: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Overtime rules</a:t>
            </a: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Outside employment</a:t>
            </a:r>
          </a:p>
          <a:p>
            <a:pPr marL="7397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GB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Performance evaluations</a:t>
            </a: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4860032" y="2708920"/>
            <a:ext cx="4283968" cy="4021907"/>
          </a:xfrm>
          <a:prstGeom prst="rect">
            <a:avLst/>
          </a:prstGeom>
        </p:spPr>
        <p:txBody>
          <a:bodyPr/>
          <a:lstStyle/>
          <a:p>
            <a:pPr marL="2825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  <a:defRPr/>
            </a:pPr>
            <a:r>
              <a:rPr lang="en-GB" sz="2600" dirty="0"/>
              <a:t>Security </a:t>
            </a:r>
            <a:r>
              <a:rPr lang="en-GB" sz="2600" dirty="0" smtClean="0"/>
              <a:t>policies/procedures</a:t>
            </a:r>
            <a:endParaRPr lang="en-GB" sz="2600" dirty="0"/>
          </a:p>
          <a:p>
            <a:pPr marL="282575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  <a:defRPr/>
            </a:pPr>
            <a:r>
              <a:rPr lang="en-GB" sz="2600" dirty="0" smtClean="0"/>
              <a:t>Emergency procedures</a:t>
            </a:r>
          </a:p>
          <a:p>
            <a:pPr marL="282575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  <a:defRPr/>
            </a:pPr>
            <a:r>
              <a:rPr lang="en-GB" sz="2600" dirty="0" smtClean="0"/>
              <a:t>Disciplinary actions for:</a:t>
            </a:r>
          </a:p>
          <a:p>
            <a:pPr marL="538163" lvl="1" indent="-228600" defTabSz="9144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itchFamily="18" charset="2"/>
              <a:buChar char=""/>
              <a:defRPr/>
            </a:pPr>
            <a:r>
              <a:rPr lang="en-GB" sz="2400" dirty="0" smtClean="0">
                <a:solidFill>
                  <a:srgbClr val="000099"/>
                </a:solidFill>
              </a:rPr>
              <a:t>Excessive absence</a:t>
            </a:r>
          </a:p>
          <a:p>
            <a:pPr marL="538163" lvl="1" indent="-228600" defTabSz="9144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itchFamily="18" charset="2"/>
              <a:buChar char=""/>
              <a:defRPr/>
            </a:pPr>
            <a:r>
              <a:rPr lang="en-GB" sz="2400" dirty="0" smtClean="0">
                <a:solidFill>
                  <a:srgbClr val="000099"/>
                </a:solidFill>
              </a:rPr>
              <a:t>Breach of confidentiality/security</a:t>
            </a:r>
          </a:p>
          <a:p>
            <a:pPr marL="538163" lvl="1" indent="-228600" defTabSz="9144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itchFamily="18" charset="2"/>
              <a:buChar char=""/>
              <a:defRPr/>
            </a:pPr>
            <a:r>
              <a:rPr lang="en-GB" sz="2400" dirty="0" smtClean="0">
                <a:solidFill>
                  <a:srgbClr val="000099"/>
                </a:solidFill>
              </a:rPr>
              <a:t>Non-compliance of policies</a:t>
            </a:r>
          </a:p>
          <a:p>
            <a:pPr marL="80963" indent="-228600" defTabSz="9144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itchFamily="18" charset="2"/>
              <a:buChar char=""/>
              <a:defRPr/>
            </a:pP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115616" y="6147344"/>
            <a:ext cx="4752529" cy="378000"/>
            <a:chOff x="1331640" y="6147344"/>
            <a:chExt cx="4752529" cy="378000"/>
          </a:xfrm>
        </p:grpSpPr>
        <p:sp>
          <p:nvSpPr>
            <p:cNvPr id="8" name="TextBox 7"/>
            <p:cNvSpPr txBox="1"/>
            <p:nvPr/>
          </p:nvSpPr>
          <p:spPr>
            <a:xfrm>
              <a:off x="1828827" y="6149007"/>
              <a:ext cx="4255342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What’s the equivalent for students in NYP?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11" name="Picture 3" descr="C:\Users\jamesg\AppData\Local\Microsoft\Windows\Temporary Internet Files\Content.IE5\AEEX0XL3\MP900430958[1]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331640" y="6147344"/>
              <a:ext cx="486243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Employment: Performance Evaluations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84576"/>
          </a:xfrm>
        </p:spPr>
        <p:txBody>
          <a:bodyPr/>
          <a:lstStyle/>
          <a:p>
            <a:r>
              <a:rPr lang="en-SG" dirty="0" smtClean="0"/>
              <a:t>Why: feedback to staff on how they are doing</a:t>
            </a:r>
          </a:p>
          <a:p>
            <a:pPr lvl="1"/>
            <a:r>
              <a:rPr lang="en-SG" dirty="0" smtClean="0"/>
              <a:t>standard and regular feature for all staff</a:t>
            </a:r>
          </a:p>
          <a:p>
            <a:r>
              <a:rPr lang="en-SG" dirty="0" smtClean="0"/>
              <a:t>What: periodic review of staff’s performance</a:t>
            </a:r>
          </a:p>
          <a:p>
            <a:r>
              <a:rPr lang="en-SG" dirty="0" smtClean="0"/>
              <a:t>How:</a:t>
            </a:r>
          </a:p>
          <a:p>
            <a:pPr lvl="1"/>
            <a:r>
              <a:rPr lang="en-SG" dirty="0" smtClean="0"/>
              <a:t>assess  against objective goals mutually set by supervisor (needs) and staff (aspirations)</a:t>
            </a:r>
          </a:p>
          <a:p>
            <a:pPr lvl="1"/>
            <a:r>
              <a:rPr lang="en-SG" dirty="0" smtClean="0"/>
              <a:t>deal with cases of staff dissatisfaction</a:t>
            </a:r>
          </a:p>
          <a:p>
            <a:r>
              <a:rPr lang="en-SG" dirty="0" smtClean="0"/>
              <a:t>Outcomes: </a:t>
            </a:r>
          </a:p>
          <a:p>
            <a:pPr lvl="1"/>
            <a:r>
              <a:rPr lang="en-SG" dirty="0"/>
              <a:t>s</a:t>
            </a:r>
            <a:r>
              <a:rPr lang="en-SG" dirty="0" smtClean="0"/>
              <a:t>alary increments, bonuses and promotions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Employment: Promotion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84576"/>
          </a:xfrm>
        </p:spPr>
        <p:txBody>
          <a:bodyPr/>
          <a:lstStyle/>
          <a:p>
            <a:r>
              <a:rPr lang="en-SG" dirty="0" smtClean="0"/>
              <a:t>Promotion policies should be</a:t>
            </a:r>
          </a:p>
          <a:p>
            <a:pPr lvl="1"/>
            <a:r>
              <a:rPr lang="en-SG" dirty="0" smtClean="0"/>
              <a:t>fair and understood by staff</a:t>
            </a:r>
          </a:p>
          <a:p>
            <a:pPr lvl="1"/>
            <a:r>
              <a:rPr lang="en-SG" dirty="0" smtClean="0"/>
              <a:t>objective and consider the staff’s performance, education, experience and level of responsibility</a:t>
            </a:r>
          </a:p>
          <a:p>
            <a:r>
              <a:rPr lang="en-SG" dirty="0" smtClean="0"/>
              <a:t>Benefits:</a:t>
            </a:r>
          </a:p>
          <a:p>
            <a:pPr lvl="1"/>
            <a:r>
              <a:rPr lang="en-SG" dirty="0" smtClean="0"/>
              <a:t>helps to ensure compliant behaviour</a:t>
            </a:r>
          </a:p>
          <a:p>
            <a:pPr lvl="1"/>
            <a:r>
              <a:rPr lang="en-SG" dirty="0" smtClean="0"/>
              <a:t>encourage staff to perform beyond expectations</a:t>
            </a:r>
          </a:p>
          <a:p>
            <a:pPr lvl="1"/>
            <a:r>
              <a:rPr lang="en-SG" dirty="0" smtClean="0"/>
              <a:t>increase the effectiveness of operations</a:t>
            </a:r>
          </a:p>
          <a:p>
            <a:pPr marL="968375" lvl="1" indent="-514350">
              <a:buNone/>
            </a:pPr>
            <a:endParaRPr lang="en-SG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5652117" y="1682848"/>
            <a:ext cx="2592291" cy="378000"/>
            <a:chOff x="6438520" y="4971363"/>
            <a:chExt cx="2093790" cy="378000"/>
          </a:xfrm>
        </p:grpSpPr>
        <p:sp>
          <p:nvSpPr>
            <p:cNvPr id="7" name="TextBox 6"/>
            <p:cNvSpPr txBox="1"/>
            <p:nvPr/>
          </p:nvSpPr>
          <p:spPr>
            <a:xfrm>
              <a:off x="6840097" y="4973026"/>
              <a:ext cx="1692213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Google‘s HR policy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8" name="Picture 3" descr="C:\Users\jamesg\AppData\Local\Microsoft\Windows\Temporary Internet Files\Content.IE5\AEEX0XL3\MP900430958[1]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38520" y="4971363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Employment: Training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84576"/>
          </a:xfrm>
        </p:spPr>
        <p:txBody>
          <a:bodyPr/>
          <a:lstStyle/>
          <a:p>
            <a:r>
              <a:rPr lang="en-SG" dirty="0" smtClean="0"/>
              <a:t>Why:</a:t>
            </a:r>
          </a:p>
          <a:p>
            <a:pPr lvl="1"/>
            <a:r>
              <a:rPr lang="en-SG" dirty="0" smtClean="0"/>
              <a:t>Changes in technology</a:t>
            </a:r>
          </a:p>
          <a:p>
            <a:pPr lvl="1"/>
            <a:r>
              <a:rPr lang="en-SG" dirty="0" smtClean="0"/>
              <a:t>Lack of expertise in an area</a:t>
            </a:r>
          </a:p>
          <a:p>
            <a:pPr lvl="1"/>
            <a:r>
              <a:rPr lang="en-SG" dirty="0" smtClean="0"/>
              <a:t>Acquired new hardware or software</a:t>
            </a:r>
          </a:p>
          <a:p>
            <a:r>
              <a:rPr lang="en-SG" dirty="0" smtClean="0"/>
              <a:t>How:</a:t>
            </a:r>
          </a:p>
          <a:p>
            <a:pPr lvl="1"/>
            <a:r>
              <a:rPr lang="en-SG" dirty="0" smtClean="0"/>
              <a:t>Formal training courses</a:t>
            </a:r>
          </a:p>
          <a:p>
            <a:pPr lvl="1"/>
            <a:r>
              <a:rPr lang="en-SG" dirty="0" smtClean="0"/>
              <a:t>Conferences or seminars</a:t>
            </a:r>
          </a:p>
          <a:p>
            <a:pPr lvl="1"/>
            <a:r>
              <a:rPr lang="en-SG" dirty="0" smtClean="0"/>
              <a:t>On the job training</a:t>
            </a:r>
          </a:p>
          <a:p>
            <a:pPr marL="639763" indent="-514350"/>
            <a:endParaRPr lang="en-SG" dirty="0" smtClean="0"/>
          </a:p>
          <a:p>
            <a:pPr marL="968375" lvl="1" indent="-514350"/>
            <a:endParaRPr lang="en-SG" dirty="0" smtClean="0"/>
          </a:p>
          <a:p>
            <a:pPr marL="968375" lvl="1" indent="-514350"/>
            <a:endParaRPr lang="en-SG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Employment: Reducing Dependencies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84576"/>
          </a:xfrm>
        </p:spPr>
        <p:txBody>
          <a:bodyPr/>
          <a:lstStyle/>
          <a:p>
            <a:r>
              <a:rPr lang="en-SG" dirty="0" smtClean="0"/>
              <a:t>What: Minimize reliance on single staff to perform a critical job function.</a:t>
            </a:r>
          </a:p>
          <a:p>
            <a:pPr lvl="1"/>
            <a:r>
              <a:rPr lang="en-SG" dirty="0" smtClean="0"/>
              <a:t>When staff is unavailable, the critical job function cannot be performed due to lack of expertise.</a:t>
            </a:r>
          </a:p>
          <a:p>
            <a:pPr lvl="1"/>
            <a:r>
              <a:rPr lang="en-SG" dirty="0" smtClean="0"/>
              <a:t>Provides opportunity for staff to carry out unauthorized activities without supervision.</a:t>
            </a:r>
          </a:p>
          <a:p>
            <a:r>
              <a:rPr lang="en-SG" dirty="0" smtClean="0"/>
              <a:t>Outcomes: </a:t>
            </a:r>
          </a:p>
          <a:p>
            <a:pPr lvl="1"/>
            <a:r>
              <a:rPr lang="en-SG" dirty="0" smtClean="0"/>
              <a:t>Cross-train to ensure &gt; 1 staff is competent. </a:t>
            </a:r>
          </a:p>
          <a:p>
            <a:pPr lvl="1"/>
            <a:r>
              <a:rPr lang="en-SG" dirty="0" smtClean="0"/>
              <a:t>Key functions need to have separation of duties, e.g. approval by a superior.</a:t>
            </a:r>
          </a:p>
          <a:p>
            <a:pPr marL="968375" lvl="1" indent="-514350"/>
            <a:endParaRPr lang="en-SG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Employment: Required Vacations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84576"/>
          </a:xfrm>
        </p:spPr>
        <p:txBody>
          <a:bodyPr/>
          <a:lstStyle/>
          <a:p>
            <a:r>
              <a:rPr lang="en-SG" dirty="0" smtClean="0"/>
              <a:t>Why: </a:t>
            </a:r>
          </a:p>
          <a:p>
            <a:pPr lvl="1"/>
            <a:r>
              <a:rPr lang="en-SG" dirty="0"/>
              <a:t>R</a:t>
            </a:r>
            <a:r>
              <a:rPr lang="en-SG" dirty="0" smtClean="0"/>
              <a:t>educes likelihood of fraudulent (improper/illegal) activities. </a:t>
            </a:r>
          </a:p>
          <a:p>
            <a:r>
              <a:rPr lang="en-SG" dirty="0" smtClean="0"/>
              <a:t>How: </a:t>
            </a:r>
          </a:p>
          <a:p>
            <a:pPr lvl="1"/>
            <a:r>
              <a:rPr lang="en-SG" dirty="0" smtClean="0"/>
              <a:t>Staff may be required to take compulsory vacation while another staff takes over the job function.</a:t>
            </a:r>
          </a:p>
          <a:p>
            <a:pPr lvl="1"/>
            <a:r>
              <a:rPr lang="en-SG" dirty="0" smtClean="0"/>
              <a:t>Alternatively, have regular job rotations to detect discrepancies.</a:t>
            </a:r>
          </a:p>
          <a:p>
            <a:r>
              <a:rPr lang="en-SG" dirty="0" smtClean="0"/>
              <a:t>Outcomes: </a:t>
            </a:r>
          </a:p>
          <a:p>
            <a:pPr lvl="1"/>
            <a:r>
              <a:rPr lang="en-SG" dirty="0"/>
              <a:t>F</a:t>
            </a:r>
            <a:r>
              <a:rPr lang="en-SG" dirty="0" smtClean="0"/>
              <a:t>raudulent activities can be discovered when the replacement staff takes over the job duties. </a:t>
            </a:r>
          </a:p>
          <a:p>
            <a:pPr marL="968375" lvl="1" indent="-514350"/>
            <a:endParaRPr lang="en-SG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Employment: Scheduling and Reporting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84576"/>
          </a:xfrm>
        </p:spPr>
        <p:txBody>
          <a:bodyPr/>
          <a:lstStyle/>
          <a:p>
            <a:r>
              <a:rPr lang="en-SG" dirty="0" smtClean="0"/>
              <a:t>Scheduling: Critical function to ensure continuous operations  </a:t>
            </a:r>
          </a:p>
          <a:p>
            <a:pPr lvl="1"/>
            <a:r>
              <a:rPr lang="en-SG" dirty="0" smtClean="0"/>
              <a:t>especially for 24x7 operations staff </a:t>
            </a:r>
          </a:p>
          <a:p>
            <a:pPr lvl="1"/>
            <a:r>
              <a:rPr lang="en-SG" dirty="0"/>
              <a:t>n</a:t>
            </a:r>
            <a:r>
              <a:rPr lang="en-SG" dirty="0" smtClean="0"/>
              <a:t>eed to cater for last minute replacements, e.g. MC.</a:t>
            </a:r>
          </a:p>
          <a:p>
            <a:pPr lvl="1">
              <a:buNone/>
            </a:pPr>
            <a:endParaRPr lang="en-SG" dirty="0" smtClean="0"/>
          </a:p>
          <a:p>
            <a:r>
              <a:rPr lang="en-SG" dirty="0" smtClean="0"/>
              <a:t>Reporting: Capture accurate information for management to determine if  </a:t>
            </a:r>
          </a:p>
          <a:p>
            <a:pPr lvl="1"/>
            <a:r>
              <a:rPr lang="en-SG" dirty="0" smtClean="0"/>
              <a:t>staffing is adequate</a:t>
            </a:r>
          </a:p>
          <a:p>
            <a:pPr lvl="1"/>
            <a:r>
              <a:rPr lang="en-SG" dirty="0" smtClean="0"/>
              <a:t>operation is running smoothly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Post-Employment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Termination controls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Post Employment: Termination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84576"/>
          </a:xfrm>
        </p:spPr>
        <p:txBody>
          <a:bodyPr/>
          <a:lstStyle/>
          <a:p>
            <a:r>
              <a:rPr lang="en-SG" dirty="0" smtClean="0"/>
              <a:t>Why:</a:t>
            </a:r>
          </a:p>
          <a:p>
            <a:pPr lvl="1"/>
            <a:r>
              <a:rPr lang="en-SG" dirty="0" smtClean="0"/>
              <a:t>Provide adequate protection for organization’s business and information assets.</a:t>
            </a:r>
          </a:p>
          <a:p>
            <a:r>
              <a:rPr lang="en-SG" dirty="0" smtClean="0"/>
              <a:t>How:</a:t>
            </a:r>
          </a:p>
          <a:p>
            <a:pPr lvl="1"/>
            <a:r>
              <a:rPr lang="en-SG" dirty="0" smtClean="0"/>
              <a:t>Establish policies to clearly define steps for employee termination.</a:t>
            </a:r>
          </a:p>
          <a:p>
            <a:pPr lvl="1"/>
            <a:r>
              <a:rPr lang="en-SG" dirty="0" smtClean="0"/>
              <a:t>Should address voluntary and involuntary termination.</a:t>
            </a:r>
          </a:p>
          <a:p>
            <a:pPr lvl="2"/>
            <a:r>
              <a:rPr lang="en-SG" dirty="0" smtClean="0"/>
              <a:t>For involuntary termination, staff should be escorted from the premises, if required.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Post Employment: Termination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84576"/>
          </a:xfrm>
        </p:spPr>
        <p:txBody>
          <a:bodyPr/>
          <a:lstStyle/>
          <a:p>
            <a:r>
              <a:rPr lang="en-SG" dirty="0" smtClean="0"/>
              <a:t>Typical control procedures include:</a:t>
            </a:r>
          </a:p>
          <a:p>
            <a:pPr lvl="1"/>
            <a:r>
              <a:rPr lang="en-SG" dirty="0" smtClean="0"/>
              <a:t>Return of all access keys and ID cards.</a:t>
            </a:r>
          </a:p>
          <a:p>
            <a:pPr lvl="1"/>
            <a:r>
              <a:rPr lang="en-SG" dirty="0" smtClean="0"/>
              <a:t>Deletion of assigned logon IDs and passwords.</a:t>
            </a:r>
          </a:p>
          <a:p>
            <a:pPr lvl="1"/>
            <a:r>
              <a:rPr lang="en-SG" dirty="0" smtClean="0"/>
              <a:t>Notification of appropriate staff and security personnel.</a:t>
            </a:r>
          </a:p>
          <a:p>
            <a:pPr lvl="1"/>
            <a:r>
              <a:rPr lang="en-SG" dirty="0" smtClean="0"/>
              <a:t>Arrangement of final pay routines.</a:t>
            </a:r>
          </a:p>
          <a:p>
            <a:pPr lvl="1"/>
            <a:r>
              <a:rPr lang="en-SG" dirty="0" smtClean="0"/>
              <a:t>Performance of termination interview.</a:t>
            </a:r>
          </a:p>
          <a:p>
            <a:pPr lvl="1"/>
            <a:r>
              <a:rPr lang="en-SG" dirty="0" smtClean="0"/>
              <a:t>Return of all company property.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84166" y="4509120"/>
            <a:ext cx="2088234" cy="378000"/>
            <a:chOff x="6438520" y="4971363"/>
            <a:chExt cx="1686664" cy="378000"/>
          </a:xfrm>
        </p:grpSpPr>
        <p:sp>
          <p:nvSpPr>
            <p:cNvPr id="7" name="TextBox 6"/>
            <p:cNvSpPr txBox="1"/>
            <p:nvPr/>
          </p:nvSpPr>
          <p:spPr>
            <a:xfrm>
              <a:off x="6840097" y="4973026"/>
              <a:ext cx="1285087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Exit Clearance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8" name="Picture 3" descr="C:\Users\jamesg\AppData\Local\Microsoft\Windows\Temporary Internet Files\Content.IE5\AEEX0XL3\MP900430958[1]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38520" y="4971363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7488832" cy="914400"/>
          </a:xfrm>
        </p:spPr>
        <p:txBody>
          <a:bodyPr/>
          <a:lstStyle/>
          <a:p>
            <a:r>
              <a:rPr lang="en-GB" dirty="0" smtClean="0"/>
              <a:t>Summary</a:t>
            </a:r>
            <a:endParaRPr lang="en-SG" dirty="0">
              <a:latin typeface="+mj-lt"/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SG" dirty="0" smtClean="0"/>
              <a:t>Pre-Employment</a:t>
            </a:r>
          </a:p>
          <a:p>
            <a:pPr lvl="1"/>
            <a:r>
              <a:rPr lang="en-SG" dirty="0" smtClean="0"/>
              <a:t>Hiring (4 practices)</a:t>
            </a:r>
          </a:p>
          <a:p>
            <a:r>
              <a:rPr lang="en-SG" dirty="0" smtClean="0"/>
              <a:t>During Employment</a:t>
            </a:r>
          </a:p>
          <a:p>
            <a:pPr lvl="1"/>
            <a:r>
              <a:rPr lang="en-SG" dirty="0" smtClean="0"/>
              <a:t>Employee Handbook</a:t>
            </a:r>
          </a:p>
          <a:p>
            <a:pPr lvl="1"/>
            <a:r>
              <a:rPr lang="en-SG" dirty="0" smtClean="0"/>
              <a:t>Performance Evaluation</a:t>
            </a:r>
          </a:p>
          <a:p>
            <a:pPr lvl="1"/>
            <a:r>
              <a:rPr lang="en-SG" dirty="0" smtClean="0"/>
              <a:t>Promotion</a:t>
            </a:r>
          </a:p>
          <a:p>
            <a:pPr lvl="1"/>
            <a:r>
              <a:rPr lang="en-SG" dirty="0" smtClean="0"/>
              <a:t>Scheduling and Reporting</a:t>
            </a:r>
          </a:p>
          <a:p>
            <a:r>
              <a:rPr lang="en-SG" dirty="0" smtClean="0"/>
              <a:t>Post-Employment</a:t>
            </a:r>
          </a:p>
          <a:p>
            <a:pPr lvl="1"/>
            <a:r>
              <a:rPr lang="en-SG" dirty="0" smtClean="0"/>
              <a:t>Termination (controls)</a:t>
            </a:r>
          </a:p>
          <a:p>
            <a:endParaRPr lang="en-GB" dirty="0" smtClean="0"/>
          </a:p>
        </p:txBody>
      </p:sp>
      <p:sp>
        <p:nvSpPr>
          <p:cNvPr id="9" name="Content Placeholder 4"/>
          <p:cNvSpPr txBox="1">
            <a:spLocks/>
          </p:cNvSpPr>
          <p:nvPr/>
        </p:nvSpPr>
        <p:spPr bwMode="auto">
          <a:xfrm>
            <a:off x="5220072" y="1052736"/>
            <a:ext cx="3536776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11163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itchFamily="2" charset="2"/>
              <a:buChar char=""/>
              <a:tabLst/>
              <a:defRPr/>
            </a:pPr>
            <a:endParaRPr kumimoji="0" lang="en-SG" sz="30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11163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itchFamily="2" charset="2"/>
              <a:buChar char=""/>
              <a:tabLst/>
              <a:defRPr/>
            </a:pPr>
            <a:endParaRPr lang="en-SG" sz="3000" dirty="0" smtClean="0">
              <a:solidFill>
                <a:srgbClr val="000099"/>
              </a:solidFill>
            </a:endParaRPr>
          </a:p>
          <a:p>
            <a:pPr marL="411163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itchFamily="2" charset="2"/>
              <a:buChar char=""/>
              <a:tabLst/>
              <a:defRPr/>
            </a:pPr>
            <a:endParaRPr lang="en-SG" sz="3000" dirty="0" smtClean="0">
              <a:solidFill>
                <a:srgbClr val="000099"/>
              </a:solidFill>
            </a:endParaRPr>
          </a:p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Training</a:t>
            </a:r>
          </a:p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Reducing Job Dependencies</a:t>
            </a:r>
          </a:p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Required Vacations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A7F9582DE2E34698E4DD99897B51E5" ma:contentTypeVersion="" ma:contentTypeDescription="Create a new document." ma:contentTypeScope="" ma:versionID="dd33e23194071e0c573bb55de309d7b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3e687d5f98ee29b9cfcc2ff24550d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E16AC1-ECFC-4946-94BC-02D39B7347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25434FC-1DBA-4C31-9C78-6EC0CAA52F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3D87429-2821-4531-8374-2A2120CBA2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17826</TotalTime>
  <Words>846</Words>
  <Application>Microsoft Office PowerPoint</Application>
  <PresentationFormat>On-screen Show (4:3)</PresentationFormat>
  <Paragraphs>185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Myriad Pro Cond</vt:lpstr>
      <vt:lpstr>Calibri</vt:lpstr>
      <vt:lpstr>Wingdings</vt:lpstr>
      <vt:lpstr>Wingdings 2</vt:lpstr>
      <vt:lpstr>Wingdings 3</vt:lpstr>
      <vt:lpstr>DIS</vt:lpstr>
      <vt:lpstr>IT2775 Operations Security Personnel Management</vt:lpstr>
      <vt:lpstr>Objectives</vt:lpstr>
      <vt:lpstr>Personnel Management</vt:lpstr>
      <vt:lpstr>Pre-Employment</vt:lpstr>
      <vt:lpstr>Pre-Employment: Hiring</vt:lpstr>
      <vt:lpstr>Pre-Employment: Hiring</vt:lpstr>
      <vt:lpstr>Pre-Employment: Hiring</vt:lpstr>
      <vt:lpstr>During Employment</vt:lpstr>
      <vt:lpstr>Employment: Employee Handbook</vt:lpstr>
      <vt:lpstr>Employment: Performance Evaluations</vt:lpstr>
      <vt:lpstr>Employment: Promotion</vt:lpstr>
      <vt:lpstr>Employment: Training</vt:lpstr>
      <vt:lpstr>Employment: Reducing Dependencies</vt:lpstr>
      <vt:lpstr>Employment: Required Vacations</vt:lpstr>
      <vt:lpstr>Employment: Scheduling and Reporting</vt:lpstr>
      <vt:lpstr>Post-Employment</vt:lpstr>
      <vt:lpstr>Post Employment: Termination</vt:lpstr>
      <vt:lpstr>Post Employment: Termination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IT3522 Operations Security Wk 1: Introduction </dc:title>
  <cp:lastModifiedBy>HENG YIAK POR</cp:lastModifiedBy>
  <cp:revision>400</cp:revision>
  <cp:lastPrinted>2011-04-20T01:51:48Z</cp:lastPrinted>
  <dcterms:created xsi:type="dcterms:W3CDTF">2010-10-03T07:18:45Z</dcterms:created>
  <dcterms:modified xsi:type="dcterms:W3CDTF">2017-08-30T06:42:06Z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0x010100B6A7F9582DE2E34698E4DD99897B51E5</vt:lpwstr>
  </property>
</Properties>
</file>