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6" r:id="rId5"/>
    <p:sldId id="282" r:id="rId6"/>
    <p:sldId id="258" r:id="rId7"/>
    <p:sldId id="284" r:id="rId8"/>
    <p:sldId id="285" r:id="rId9"/>
    <p:sldId id="286" r:id="rId10"/>
    <p:sldId id="287" r:id="rId11"/>
    <p:sldId id="290" r:id="rId12"/>
    <p:sldId id="288" r:id="rId13"/>
    <p:sldId id="289" r:id="rId14"/>
    <p:sldId id="283" r:id="rId15"/>
    <p:sldId id="299" r:id="rId16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02" autoAdjust="0"/>
  </p:normalViewPr>
  <p:slideViewPr>
    <p:cSldViewPr snapToObjects="1">
      <p:cViewPr varScale="1">
        <p:scale>
          <a:sx n="79" d="100"/>
          <a:sy n="79" d="100"/>
        </p:scale>
        <p:origin x="133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4" d="100"/>
          <a:sy n="54" d="100"/>
        </p:scale>
        <p:origin x="-2850" y="-84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 smtClean="0"/>
              <a:t>Topic 1 – Introduction</a:t>
            </a:r>
          </a:p>
          <a:p>
            <a:r>
              <a:rPr lang="en-US" sz="1100" dirty="0" smtClean="0"/>
              <a:t>AY2012 S2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dirty="0" smtClean="0"/>
              <a:t>Page </a:t>
            </a:r>
            <a:fld id="{614830C6-7046-4E73-B492-EB73775AC0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-5905"/>
            <a:ext cx="6784975" cy="383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28" tIns="47964" rIns="95928" bIns="4796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51805" y="641977"/>
            <a:ext cx="5828774" cy="1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94003" y="257009"/>
            <a:ext cx="1745436" cy="266142"/>
          </a:xfrm>
          <a:prstGeom prst="rect">
            <a:avLst/>
          </a:prstGeom>
          <a:noFill/>
        </p:spPr>
        <p:txBody>
          <a:bodyPr wrap="none" lIns="95928" tIns="47964" rIns="95928" bIns="47964" rtlCol="0">
            <a:spAutoFit/>
          </a:bodyPr>
          <a:lstStyle/>
          <a:p>
            <a:r>
              <a:rPr lang="en-US" sz="1100" dirty="0" smtClean="0"/>
              <a:t>IT3522 Operations Security</a:t>
            </a:r>
            <a:endParaRPr lang="en-US" sz="1100" dirty="0"/>
          </a:p>
        </p:txBody>
      </p:sp>
      <p:pic>
        <p:nvPicPr>
          <p:cNvPr id="2" name="Picture 1" descr="Corporate NYP Logo_Horizontal_4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80" y="209539"/>
            <a:ext cx="1219200" cy="28651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777280" y="8905056"/>
            <a:ext cx="5828774" cy="1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349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E8AB120-A64C-4DD7-98EB-8987E88416F3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29F95C9-DA15-4933-A48E-633206A8F3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10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59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14290"/>
            <a:ext cx="8064896" cy="9144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>
            <a:lvl1pPr>
              <a:buClr>
                <a:schemeClr val="tx1"/>
              </a:buClr>
              <a:defRPr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/>
            </a:lvl2pPr>
            <a:lvl3pPr>
              <a:buClr>
                <a:schemeClr val="tx1"/>
              </a:buClr>
              <a:defRPr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/>
            </a:lvl4pPr>
            <a:lvl5pPr>
              <a:buClr>
                <a:schemeClr val="tx1"/>
              </a:buClr>
              <a:defRPr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39551" y="908720"/>
            <a:ext cx="806489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3"/>
            <a:ext cx="4038600" cy="4525963"/>
          </a:xfrm>
        </p:spPr>
        <p:txBody>
          <a:bodyPr/>
          <a:lstStyle>
            <a:lvl1pPr>
              <a:buClr>
                <a:schemeClr val="tx1"/>
              </a:buClr>
              <a:defRPr sz="2800"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 sz="2400" baseline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 sz="1800"/>
            </a:lvl4pPr>
            <a:lvl5pPr>
              <a:buClr>
                <a:schemeClr val="tx1"/>
              </a:buClr>
              <a:defRPr sz="1800"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3"/>
            <a:ext cx="4038600" cy="4525963"/>
          </a:xfrm>
        </p:spPr>
        <p:txBody>
          <a:bodyPr/>
          <a:lstStyle>
            <a:lvl1pPr>
              <a:buClr>
                <a:schemeClr val="tx1"/>
              </a:buClr>
              <a:defRPr sz="2800"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 sz="2400" baseline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 sz="1800"/>
            </a:lvl4pPr>
            <a:lvl5pPr>
              <a:buClr>
                <a:schemeClr val="tx1"/>
              </a:buClr>
              <a:defRPr sz="1800"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39551" y="1124744"/>
            <a:ext cx="806489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16" name="Rectangle 20"/>
          <p:cNvSpPr>
            <a:spLocks noGrp="1" noChangeArrowheads="1"/>
          </p:cNvSpPr>
          <p:nvPr>
            <p:ph type="ctrTitle"/>
          </p:nvPr>
        </p:nvSpPr>
        <p:spPr>
          <a:xfrm>
            <a:off x="1828800" y="2133600"/>
            <a:ext cx="7315200" cy="1600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55317" name="Rectangle 2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752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xfrm>
            <a:off x="3733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12160" y="6416675"/>
            <a:ext cx="2055758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39551" y="6416675"/>
            <a:ext cx="5376597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30042" y="6400800"/>
            <a:ext cx="474406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9" name="Title Placeholder 21"/>
          <p:cNvSpPr>
            <a:spLocks noGrp="1"/>
          </p:cNvSpPr>
          <p:nvPr>
            <p:ph type="title"/>
          </p:nvPr>
        </p:nvSpPr>
        <p:spPr bwMode="auto">
          <a:xfrm>
            <a:off x="539552" y="512763"/>
            <a:ext cx="8064896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40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539552" y="1784350"/>
            <a:ext cx="806489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72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9pPr>
      <a:extLst/>
    </p:titleStyle>
    <p:bodyStyle>
      <a:lvl1pPr marL="411163" indent="-342900" algn="l" rtl="0" eaLnBrk="1" fontAlgn="base" hangingPunct="1">
        <a:spcBef>
          <a:spcPts val="700"/>
        </a:spcBef>
        <a:spcAft>
          <a:spcPct val="0"/>
        </a:spcAft>
        <a:buClr>
          <a:schemeClr val="tx2"/>
        </a:buClr>
        <a:buSzPct val="95000"/>
        <a:buFont typeface="Wingdings" pitchFamily="2" charset="2"/>
        <a:buChar char=""/>
        <a:defRPr sz="3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39775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28600" algn="l" rtl="0" eaLnBrk="1" fontAlgn="base" hangingPunct="1">
        <a:spcBef>
          <a:spcPct val="20000"/>
        </a:spcBef>
        <a:spcAft>
          <a:spcPct val="0"/>
        </a:spcAft>
        <a:buClr>
          <a:srgbClr val="FEB80A"/>
        </a:buClr>
        <a:buFont typeface="Wingdings 3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138" indent="-209550" algn="l" rtl="0" eaLnBrk="1" fontAlgn="base" hangingPunct="1">
        <a:spcBef>
          <a:spcPct val="20000"/>
        </a:spcBef>
        <a:spcAft>
          <a:spcPct val="0"/>
        </a:spcAft>
        <a:buClr>
          <a:srgbClr val="FEB80A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20" y="100608"/>
            <a:ext cx="8611344" cy="1600200"/>
          </a:xfrm>
        </p:spPr>
        <p:txBody>
          <a:bodyPr/>
          <a:lstStyle/>
          <a:p>
            <a:r>
              <a:rPr lang="en-GB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IT2775 </a:t>
            </a:r>
            <a:r>
              <a:rPr lang="en-GB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Operations Security</a:t>
            </a:r>
            <a:r>
              <a:rPr lang="en-GB" sz="3600" dirty="0" smtClean="0">
                <a:latin typeface="+mj-lt"/>
              </a:rPr>
              <a:t/>
            </a:r>
            <a:br>
              <a:rPr lang="en-GB" sz="3600" dirty="0" smtClean="0">
                <a:latin typeface="+mj-lt"/>
              </a:rPr>
            </a:br>
            <a:r>
              <a:rPr lang="en-GB" sz="3600" dirty="0" smtClean="0">
                <a:latin typeface="+mj-lt"/>
              </a:rPr>
              <a:t>Security Configuration Management</a:t>
            </a:r>
            <a:endParaRPr lang="en-GB" sz="3600" dirty="0">
              <a:latin typeface="+mj-lt"/>
            </a:endParaRPr>
          </a:p>
        </p:txBody>
      </p:sp>
      <p:pic>
        <p:nvPicPr>
          <p:cNvPr id="28674" name="Picture 2" descr="http://staffportal.nyp.edu.sg/portal/page/portal/COMPublicPageGroup/PublicPage/nyp_logo/corporate_nyp_logo-horizontal/Corporate-NYP-Logo_Horizontal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512" y="6237312"/>
            <a:ext cx="2428875" cy="571501"/>
          </a:xfrm>
          <a:prstGeom prst="rect">
            <a:avLst/>
          </a:prstGeom>
          <a:noFill/>
        </p:spPr>
      </p:pic>
      <p:pic>
        <p:nvPicPr>
          <p:cNvPr id="1026" name="Picture 2" descr="D:\Downloads\1. Acad\IT3522 Operations Security\Lectures\Reference\Images\5. SCM\Wk 6 Image  Security Config Management_111338r_attempt_2013-05-21-15-32-20_Baseline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99792" y="1360512"/>
            <a:ext cx="3657600" cy="4876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GB" dirty="0" smtClean="0"/>
              <a:t>Objectives</a:t>
            </a:r>
            <a:endParaRPr lang="en-SG" dirty="0">
              <a:latin typeface="+mj-lt"/>
            </a:endParaRPr>
          </a:p>
        </p:txBody>
      </p:sp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r>
              <a:rPr lang="en-GB" dirty="0" smtClean="0"/>
              <a:t>What is SCM?</a:t>
            </a:r>
          </a:p>
          <a:p>
            <a:r>
              <a:rPr lang="en-GB" dirty="0" smtClean="0"/>
              <a:t>SCM Phases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GB" dirty="0" smtClean="0"/>
              <a:t>Planning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GB" dirty="0" smtClean="0"/>
              <a:t>Configuring to a Secure State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GB" dirty="0" smtClean="0"/>
              <a:t>Maintaining Secure State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GB" dirty="0" smtClean="0"/>
              <a:t>Monitoring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Security Configuration Management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What is SCM ?</a:t>
            </a:r>
          </a:p>
          <a:p>
            <a:pPr lvl="1"/>
            <a:r>
              <a:rPr lang="en-GB" u="sng" dirty="0" smtClean="0"/>
              <a:t>design, planning, implementation and review</a:t>
            </a:r>
            <a:r>
              <a:rPr lang="en-GB" dirty="0" smtClean="0"/>
              <a:t> of security configurations of computer resources.</a:t>
            </a:r>
          </a:p>
          <a:p>
            <a:pPr lvl="1"/>
            <a:r>
              <a:rPr lang="en-GB" dirty="0" smtClean="0"/>
              <a:t>manage the security risks of information assets.</a:t>
            </a:r>
          </a:p>
          <a:p>
            <a:pPr lvl="1"/>
            <a:r>
              <a:rPr lang="en-GB" dirty="0" smtClean="0"/>
              <a:t>apply </a:t>
            </a:r>
            <a:r>
              <a:rPr lang="en-GB" u="sng" dirty="0" smtClean="0"/>
              <a:t>CM</a:t>
            </a:r>
            <a:r>
              <a:rPr lang="en-GB" dirty="0" smtClean="0"/>
              <a:t> to </a:t>
            </a:r>
            <a:r>
              <a:rPr lang="en-GB" u="sng" dirty="0" smtClean="0"/>
              <a:t>security assets</a:t>
            </a:r>
            <a:r>
              <a:rPr lang="en-GB" dirty="0" smtClean="0"/>
              <a:t> in the organization.</a:t>
            </a:r>
            <a:endParaRPr lang="en-SG" dirty="0" smtClean="0"/>
          </a:p>
          <a:p>
            <a:r>
              <a:rPr lang="en-GB" dirty="0" smtClean="0"/>
              <a:t>Elements of SCM:</a:t>
            </a:r>
          </a:p>
          <a:p>
            <a:pPr lvl="1"/>
            <a:r>
              <a:rPr lang="en-GB" u="sng" dirty="0" smtClean="0"/>
              <a:t>Management</a:t>
            </a:r>
            <a:r>
              <a:rPr lang="en-GB" dirty="0" smtClean="0"/>
              <a:t> of security configuration </a:t>
            </a:r>
            <a:r>
              <a:rPr lang="en-GB" u="sng" dirty="0" smtClean="0"/>
              <a:t>baselines</a:t>
            </a:r>
            <a:r>
              <a:rPr lang="en-GB" dirty="0" smtClean="0"/>
              <a:t> for workstations, servers, routers, firewalls.</a:t>
            </a:r>
          </a:p>
          <a:p>
            <a:pPr lvl="1"/>
            <a:r>
              <a:rPr lang="en-GB" dirty="0" smtClean="0"/>
              <a:t>Continuous and proactive </a:t>
            </a:r>
            <a:r>
              <a:rPr lang="en-GB" u="sng" dirty="0" smtClean="0"/>
              <a:t>assessment</a:t>
            </a:r>
            <a:r>
              <a:rPr lang="en-GB" dirty="0" smtClean="0"/>
              <a:t> to prevent configuration drift and ensure policy </a:t>
            </a:r>
            <a:r>
              <a:rPr lang="en-GB" u="sng" dirty="0" smtClean="0"/>
              <a:t>compliance</a:t>
            </a:r>
            <a:r>
              <a:rPr lang="en-GB" dirty="0" smtClean="0"/>
              <a:t>.</a:t>
            </a:r>
          </a:p>
          <a:p>
            <a:pPr lvl="1"/>
            <a:r>
              <a:rPr lang="en-GB" u="sng" dirty="0" smtClean="0"/>
              <a:t>Adherence</a:t>
            </a:r>
            <a:r>
              <a:rPr lang="en-GB" dirty="0" smtClean="0"/>
              <a:t> to industry </a:t>
            </a:r>
            <a:r>
              <a:rPr lang="en-GB" u="sng" dirty="0" smtClean="0"/>
              <a:t>standards</a:t>
            </a:r>
            <a:r>
              <a:rPr lang="en-GB" dirty="0" smtClean="0"/>
              <a:t>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Security Configuration Management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Typical CUs in SCM includes:</a:t>
            </a:r>
          </a:p>
          <a:p>
            <a:pPr lvl="1"/>
            <a:r>
              <a:rPr lang="en-GB" u="sng" dirty="0" smtClean="0"/>
              <a:t>Computing endpoints</a:t>
            </a:r>
            <a:r>
              <a:rPr lang="en-GB" dirty="0" smtClean="0"/>
              <a:t> (workstations/laptops)</a:t>
            </a:r>
            <a:endParaRPr lang="en-SG" dirty="0" smtClean="0"/>
          </a:p>
          <a:p>
            <a:pPr lvl="2"/>
            <a:r>
              <a:rPr lang="en-GB" dirty="0" smtClean="0"/>
              <a:t>Accounts, ACLs installed in the machine</a:t>
            </a:r>
          </a:p>
          <a:p>
            <a:pPr lvl="2"/>
            <a:r>
              <a:rPr lang="en-GB" dirty="0" smtClean="0"/>
              <a:t>Anti-virus installation, including configuration items in the AV engine</a:t>
            </a:r>
          </a:p>
          <a:p>
            <a:pPr lvl="1"/>
            <a:r>
              <a:rPr lang="en-GB" u="sng" dirty="0" smtClean="0"/>
              <a:t>Network Devices</a:t>
            </a:r>
          </a:p>
          <a:p>
            <a:pPr lvl="2"/>
            <a:r>
              <a:rPr lang="en-GB" dirty="0" smtClean="0"/>
              <a:t>Accounts for administration</a:t>
            </a:r>
          </a:p>
          <a:p>
            <a:pPr lvl="2"/>
            <a:r>
              <a:rPr lang="en-GB" dirty="0" smtClean="0"/>
              <a:t>ACLs for network protocols</a:t>
            </a:r>
          </a:p>
          <a:p>
            <a:pPr lvl="1"/>
            <a:r>
              <a:rPr lang="en-GB" u="sng" dirty="0" smtClean="0"/>
              <a:t>Servers</a:t>
            </a:r>
          </a:p>
          <a:p>
            <a:pPr lvl="2"/>
            <a:r>
              <a:rPr lang="en-GB" dirty="0" smtClean="0"/>
              <a:t>Administration accounts</a:t>
            </a:r>
          </a:p>
          <a:p>
            <a:pPr lvl="2"/>
            <a:r>
              <a:rPr lang="en-GB" dirty="0" smtClean="0"/>
              <a:t>Services and Applications</a:t>
            </a:r>
          </a:p>
          <a:p>
            <a:pPr lvl="2"/>
            <a:r>
              <a:rPr lang="en-GB" dirty="0" smtClean="0"/>
              <a:t>Users’ accounts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GB" dirty="0" smtClean="0"/>
              <a:t>SCM Phases</a:t>
            </a:r>
            <a:endParaRPr lang="en-SG" dirty="0">
              <a:latin typeface="+mj-lt"/>
            </a:endParaRPr>
          </a:p>
        </p:txBody>
      </p:sp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pPr marL="639763" indent="-514350">
              <a:buFont typeface="+mj-lt"/>
              <a:buAutoNum type="arabicPeriod"/>
            </a:pPr>
            <a:r>
              <a:rPr lang="en-GB" dirty="0" smtClean="0"/>
              <a:t>Planning</a:t>
            </a:r>
          </a:p>
          <a:p>
            <a:pPr marL="639763" indent="-514350">
              <a:buFont typeface="+mj-lt"/>
              <a:buAutoNum type="arabicPeriod"/>
            </a:pPr>
            <a:r>
              <a:rPr lang="en-GB" dirty="0" smtClean="0"/>
              <a:t>Configuring to a Secure State</a:t>
            </a:r>
          </a:p>
          <a:p>
            <a:pPr marL="639763" indent="-514350">
              <a:buFont typeface="+mj-lt"/>
              <a:buAutoNum type="arabicPeriod"/>
            </a:pPr>
            <a:r>
              <a:rPr lang="en-GB" dirty="0" smtClean="0"/>
              <a:t>Maintaining Secure State</a:t>
            </a:r>
          </a:p>
          <a:p>
            <a:pPr marL="639763" indent="-514350">
              <a:buFont typeface="+mj-lt"/>
              <a:buAutoNum type="arabicPeriod"/>
            </a:pPr>
            <a:r>
              <a:rPr lang="en-GB" dirty="0" smtClean="0"/>
              <a:t>Monitoring</a:t>
            </a:r>
          </a:p>
          <a:p>
            <a:pPr marL="639763" indent="-514350">
              <a:buNone/>
            </a:pPr>
            <a:endParaRPr lang="en-GB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727419"/>
            <a:ext cx="8445261" cy="157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GB" dirty="0" smtClean="0"/>
              <a:t>1. Planning</a:t>
            </a:r>
            <a:endParaRPr lang="en-SG" dirty="0">
              <a:latin typeface="+mj-lt"/>
            </a:endParaRPr>
          </a:p>
        </p:txBody>
      </p:sp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r>
              <a:rPr lang="en-GB" dirty="0" smtClean="0"/>
              <a:t>Establish organization-wide SCM program</a:t>
            </a:r>
          </a:p>
          <a:p>
            <a:pPr lvl="1"/>
            <a:r>
              <a:rPr lang="en-GB" dirty="0" smtClean="0"/>
              <a:t>Effective if implemented </a:t>
            </a:r>
            <a:r>
              <a:rPr lang="en-GB" u="sng" dirty="0" smtClean="0"/>
              <a:t>consistently</a:t>
            </a:r>
            <a:r>
              <a:rPr lang="en-GB" dirty="0" smtClean="0"/>
              <a:t> in organization.</a:t>
            </a:r>
          </a:p>
          <a:p>
            <a:pPr lvl="1"/>
            <a:r>
              <a:rPr lang="en-GB" dirty="0" smtClean="0"/>
              <a:t>Requires </a:t>
            </a:r>
            <a:r>
              <a:rPr lang="en-GB" u="sng" dirty="0" smtClean="0"/>
              <a:t>senior management commitment</a:t>
            </a:r>
            <a:r>
              <a:rPr lang="en-GB" dirty="0" smtClean="0"/>
              <a:t>.</a:t>
            </a:r>
          </a:p>
          <a:p>
            <a:pPr lvl="1"/>
            <a:r>
              <a:rPr lang="en-GB" dirty="0" smtClean="0"/>
              <a:t>Advantageous to leverage on existing CM program.</a:t>
            </a:r>
          </a:p>
          <a:p>
            <a:r>
              <a:rPr lang="en-GB" dirty="0" smtClean="0"/>
              <a:t>Develop organisation-wide SCM policies</a:t>
            </a:r>
          </a:p>
          <a:p>
            <a:pPr lvl="1"/>
            <a:r>
              <a:rPr lang="en-GB" dirty="0" smtClean="0"/>
              <a:t>Purpose </a:t>
            </a:r>
          </a:p>
          <a:p>
            <a:pPr lvl="1"/>
            <a:r>
              <a:rPr lang="en-GB" dirty="0" smtClean="0"/>
              <a:t>Scope</a:t>
            </a:r>
          </a:p>
          <a:p>
            <a:pPr lvl="1"/>
            <a:r>
              <a:rPr lang="en-GB" dirty="0" smtClean="0"/>
              <a:t>Roles  &amp; Responsibilities</a:t>
            </a:r>
          </a:p>
          <a:p>
            <a:pPr lvl="1"/>
            <a:r>
              <a:rPr lang="en-GB" dirty="0" smtClean="0"/>
              <a:t>Activities </a:t>
            </a:r>
          </a:p>
          <a:p>
            <a:pPr lvl="1"/>
            <a:r>
              <a:rPr lang="en-GB" dirty="0" smtClean="0"/>
              <a:t>Monitoring</a:t>
            </a:r>
          </a:p>
          <a:p>
            <a:pPr lvl="1"/>
            <a:r>
              <a:rPr lang="en-GB" dirty="0" smtClean="0"/>
              <a:t>Standards</a:t>
            </a:r>
          </a:p>
          <a:p>
            <a:pPr marL="639763" indent="-514350">
              <a:buNone/>
            </a:pPr>
            <a:endParaRPr lang="en-GB" dirty="0" smtClean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 bwMode="auto">
          <a:xfrm>
            <a:off x="4572000" y="3645024"/>
            <a:ext cx="4355976" cy="321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39775" lvl="1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</a:pPr>
            <a:r>
              <a:rPr lang="en-SG" sz="2600" dirty="0" smtClean="0"/>
              <a:t>Training requirements</a:t>
            </a:r>
          </a:p>
          <a:p>
            <a:pPr marL="739775" lvl="1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</a:pPr>
            <a:r>
              <a:rPr lang="en-SG" sz="2600" dirty="0" smtClean="0"/>
              <a:t>SCM templates</a:t>
            </a:r>
          </a:p>
          <a:p>
            <a:pPr marL="739775" lvl="1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</a:pPr>
            <a:r>
              <a:rPr lang="en-SG" sz="2600" dirty="0" smtClean="0"/>
              <a:t>Automated tools</a:t>
            </a:r>
          </a:p>
          <a:p>
            <a:pPr marL="739775" lvl="1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</a:pPr>
            <a:r>
              <a:rPr lang="en-SG" sz="2600" dirty="0" smtClean="0"/>
              <a:t>Prohibited configuration</a:t>
            </a:r>
          </a:p>
          <a:p>
            <a:pPr marL="739775" lvl="1" indent="-28575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</a:pPr>
            <a:r>
              <a:rPr lang="en-SG" sz="2600" dirty="0" smtClean="0"/>
              <a:t>Inventory requirements of security assets</a:t>
            </a:r>
            <a:endParaRPr kumimoji="0" lang="en-GB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39763" marR="0" lvl="0" indent="-51435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itchFamily="2" charset="2"/>
              <a:buNone/>
              <a:tabLst/>
              <a:defRPr/>
            </a:pPr>
            <a:endParaRPr kumimoji="0" lang="en-GB" sz="30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GB" dirty="0" smtClean="0"/>
              <a:t>2. Configuring to a Secure State </a:t>
            </a:r>
            <a:endParaRPr lang="en-SG" dirty="0">
              <a:latin typeface="+mj-lt"/>
            </a:endParaRPr>
          </a:p>
        </p:txBody>
      </p:sp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pPr marL="582613" indent="-514350">
              <a:buFont typeface="+mj-lt"/>
              <a:buAutoNum type="alphaUcPeriod"/>
            </a:pPr>
            <a:r>
              <a:rPr lang="en-US" dirty="0" smtClean="0"/>
              <a:t>Establish secure configurations</a:t>
            </a:r>
          </a:p>
          <a:p>
            <a:pPr lvl="1"/>
            <a:r>
              <a:rPr lang="en-US" dirty="0" smtClean="0"/>
              <a:t>Secure configurations applied to CUs</a:t>
            </a:r>
          </a:p>
          <a:p>
            <a:pPr lvl="2"/>
            <a:r>
              <a:rPr lang="en-US" dirty="0" smtClean="0"/>
              <a:t>OS features, services, ports, protocols, remote access.</a:t>
            </a:r>
          </a:p>
          <a:p>
            <a:pPr lvl="2"/>
            <a:r>
              <a:rPr lang="en-US" dirty="0" smtClean="0"/>
              <a:t>Patch levels, software version, signed software</a:t>
            </a:r>
          </a:p>
          <a:p>
            <a:pPr lvl="2"/>
            <a:r>
              <a:rPr lang="en-US" dirty="0" smtClean="0"/>
              <a:t>Endpoint protection: antivirus, personal firewalls.</a:t>
            </a:r>
            <a:endParaRPr lang="en-SG" dirty="0" smtClean="0"/>
          </a:p>
          <a:p>
            <a:pPr lvl="2"/>
            <a:r>
              <a:rPr lang="en-US" dirty="0" smtClean="0"/>
              <a:t>Transport Protocol Protections (e.g., TLS, IPSEC).</a:t>
            </a:r>
          </a:p>
          <a:p>
            <a:pPr lvl="2"/>
            <a:r>
              <a:rPr lang="en-US" dirty="0" smtClean="0"/>
              <a:t>System Architecture – where component physically and logically resides</a:t>
            </a:r>
          </a:p>
          <a:p>
            <a:pPr lvl="2"/>
            <a:r>
              <a:rPr lang="en-US" dirty="0" smtClean="0"/>
              <a:t>Documentation – supporting documents may include technical specification.</a:t>
            </a:r>
          </a:p>
          <a:p>
            <a:pPr lvl="1"/>
            <a:r>
              <a:rPr lang="en-US" dirty="0" smtClean="0"/>
              <a:t>Reference organizational policies and standards such as NIST checklists.</a:t>
            </a:r>
          </a:p>
          <a:p>
            <a:pPr lvl="2"/>
            <a:endParaRPr lang="en-US" dirty="0" smtClean="0"/>
          </a:p>
          <a:p>
            <a:pPr marL="639763" indent="-514350"/>
            <a:endParaRPr lang="en-GB" dirty="0" smtClean="0"/>
          </a:p>
          <a:p>
            <a:pPr marL="639763" indent="-514350"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GB" dirty="0" smtClean="0"/>
              <a:t>2. Configuring to a Secure State </a:t>
            </a:r>
            <a:endParaRPr lang="en-SG" dirty="0">
              <a:latin typeface="+mj-lt"/>
            </a:endParaRPr>
          </a:p>
        </p:txBody>
      </p:sp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251520" y="1124744"/>
            <a:ext cx="8064896" cy="5112568"/>
          </a:xfrm>
        </p:spPr>
        <p:txBody>
          <a:bodyPr/>
          <a:lstStyle/>
          <a:p>
            <a:pPr marL="582613" indent="-514350">
              <a:buFont typeface="+mj-lt"/>
              <a:buAutoNum type="alphaUcPeriod" startAt="2"/>
            </a:pPr>
            <a:r>
              <a:rPr lang="en-GB" dirty="0" smtClean="0"/>
              <a:t>Implement secure configuration</a:t>
            </a:r>
          </a:p>
          <a:p>
            <a:pPr lvl="1"/>
            <a:r>
              <a:rPr lang="en-GB" dirty="0" smtClean="0"/>
              <a:t>May require a particular series of steps or deviate to insecure state in order to implement some features.</a:t>
            </a:r>
          </a:p>
          <a:p>
            <a:pPr marL="639763" indent="-514350">
              <a:buNone/>
            </a:pPr>
            <a:endParaRPr lang="en-GB" dirty="0" smtClean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 bwMode="auto">
          <a:xfrm>
            <a:off x="251520" y="2564904"/>
            <a:ext cx="5328592" cy="3824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397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  <a:tabLst/>
              <a:defRPr/>
            </a:pPr>
            <a:r>
              <a:rPr kumimoji="0" lang="en-GB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Approach:</a:t>
            </a:r>
          </a:p>
          <a:p>
            <a:pPr marL="995363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 2" pitchFamily="18" charset="2"/>
              <a:buChar char=""/>
              <a:tabLst/>
              <a:defRPr/>
            </a:pPr>
            <a:r>
              <a:rPr kumimoji="0" lang="en-GB" sz="2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Prioritize configuration</a:t>
            </a: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452563" lvl="3" indent="-22860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 2" pitchFamily="18" charset="2"/>
              <a:buChar char=""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Essential items first</a:t>
            </a:r>
          </a:p>
          <a:p>
            <a:pPr marL="995363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 2" pitchFamily="18" charset="2"/>
              <a:buChar char=""/>
              <a:tabLst/>
              <a:defRPr/>
            </a:pPr>
            <a:r>
              <a:rPr kumimoji="0" lang="en-GB" sz="2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Test configurations</a:t>
            </a:r>
            <a:r>
              <a:rPr kumimoji="0" lang="en-GB" sz="2400" b="0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1452563" lvl="3" indent="-22860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 2" pitchFamily="18" charset="2"/>
              <a:buChar char=""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Compatibility issues</a:t>
            </a:r>
          </a:p>
          <a:p>
            <a:pPr marL="1452563" lvl="3" indent="-22860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 2" pitchFamily="18" charset="2"/>
              <a:buChar char=""/>
            </a:pPr>
            <a:r>
              <a:rPr lang="en-GB" sz="2000" dirty="0" smtClean="0"/>
              <a:t>U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se test setup.</a:t>
            </a:r>
          </a:p>
          <a:p>
            <a:pPr marL="995363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 2" pitchFamily="18" charset="2"/>
              <a:buChar char=""/>
              <a:tabLst/>
              <a:defRPr/>
            </a:pPr>
            <a:r>
              <a:rPr kumimoji="0" lang="en-GB" sz="2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Resolve issues</a:t>
            </a: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1452563" lvl="3" indent="-22860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 2" pitchFamily="18" charset="2"/>
              <a:buChar char=""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Analyse impact to other CUs</a:t>
            </a:r>
            <a:endParaRPr kumimoji="0" lang="en-GB" sz="2000" b="0" i="0" u="sng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95363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 2" pitchFamily="18" charset="2"/>
              <a:buChar char=""/>
              <a:tabLst/>
              <a:defRPr/>
            </a:pPr>
            <a:r>
              <a:rPr kumimoji="0" lang="en-GB" sz="24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Document baselines</a:t>
            </a: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1452563" lvl="3" indent="-228600" defTabSz="914400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 2" pitchFamily="18" charset="2"/>
              <a:buChar char=""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Approval, automated tools.</a:t>
            </a:r>
            <a:endParaRPr kumimoji="0" lang="en-GB" sz="2000" b="0" i="0" u="sng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39763" marR="0" lvl="0" indent="-51435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itchFamily="2" charset="2"/>
              <a:buNone/>
              <a:tabLst/>
              <a:defRPr/>
            </a:pPr>
            <a:endParaRPr kumimoji="0" lang="en-GB" sz="30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4" name="Picture 2" descr="D:\Downloads\1. Acad\IT3522 Operations Security\Lectures\Reference\Images\5. SCM\Untitle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79901" y="2768886"/>
            <a:ext cx="4128603" cy="40444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GB" dirty="0" smtClean="0"/>
              <a:t>3. Maintaining Secure State</a:t>
            </a:r>
            <a:endParaRPr lang="en-SG" dirty="0">
              <a:latin typeface="+mj-lt"/>
            </a:endParaRPr>
          </a:p>
        </p:txBody>
      </p:sp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r>
              <a:rPr lang="en-GB" dirty="0" smtClean="0"/>
              <a:t>Changes must be </a:t>
            </a:r>
            <a:r>
              <a:rPr lang="en-GB" u="sng" dirty="0" smtClean="0"/>
              <a:t>managed and controlled</a:t>
            </a:r>
            <a:r>
              <a:rPr lang="en-GB" dirty="0" smtClean="0"/>
              <a:t>.</a:t>
            </a:r>
            <a:endParaRPr lang="en-GB" u="sng" dirty="0" smtClean="0"/>
          </a:p>
          <a:p>
            <a:pPr lvl="1"/>
            <a:r>
              <a:rPr lang="en-GB" u="sng" dirty="0" smtClean="0"/>
              <a:t>Restrict modify rights</a:t>
            </a:r>
          </a:p>
          <a:p>
            <a:pPr lvl="2"/>
            <a:r>
              <a:rPr lang="en-GB" dirty="0" smtClean="0"/>
              <a:t>ACLs to restrict who can make what changes.</a:t>
            </a:r>
          </a:p>
          <a:p>
            <a:pPr lvl="1"/>
            <a:r>
              <a:rPr lang="en-GB" u="sng" dirty="0" smtClean="0"/>
              <a:t>Change control process</a:t>
            </a:r>
          </a:p>
          <a:p>
            <a:pPr lvl="2"/>
            <a:r>
              <a:rPr lang="en-GB" dirty="0" smtClean="0"/>
              <a:t>Only requested, analyzed and tested changes allowed.</a:t>
            </a:r>
          </a:p>
          <a:p>
            <a:pPr lvl="1"/>
            <a:r>
              <a:rPr lang="en-GB" u="sng" dirty="0" smtClean="0"/>
              <a:t>Security impact analysis</a:t>
            </a:r>
          </a:p>
          <a:p>
            <a:pPr lvl="2"/>
            <a:r>
              <a:rPr lang="en-GB" dirty="0" smtClean="0"/>
              <a:t>Analyse change, identify vulnerabilities, assess risks and impact. Plan safeguards and countermeasures.</a:t>
            </a:r>
          </a:p>
          <a:p>
            <a:pPr lvl="1"/>
            <a:r>
              <a:rPr lang="en-GB" u="sng" dirty="0" smtClean="0"/>
              <a:t>Document and archive</a:t>
            </a:r>
          </a:p>
          <a:p>
            <a:pPr lvl="2"/>
            <a:r>
              <a:rPr lang="en-GB" dirty="0" smtClean="0"/>
              <a:t>Technical designs, baseline configurations, security plans and risk assessments.</a:t>
            </a:r>
          </a:p>
          <a:p>
            <a:pPr lvl="2"/>
            <a:r>
              <a:rPr lang="en-GB" dirty="0" smtClean="0"/>
              <a:t>Archive previous versions for traceability during audits.</a:t>
            </a:r>
            <a:endParaRPr lang="en-GB" dirty="0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GB" dirty="0" smtClean="0"/>
              <a:t>4. Monitoring</a:t>
            </a:r>
            <a:endParaRPr lang="en-SG" dirty="0">
              <a:latin typeface="+mj-lt"/>
            </a:endParaRPr>
          </a:p>
        </p:txBody>
      </p:sp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179512" y="1124744"/>
            <a:ext cx="8064896" cy="5112568"/>
          </a:xfrm>
        </p:spPr>
        <p:txBody>
          <a:bodyPr/>
          <a:lstStyle/>
          <a:p>
            <a:r>
              <a:rPr lang="en-US" dirty="0" smtClean="0"/>
              <a:t>Ensure </a:t>
            </a:r>
            <a:r>
              <a:rPr lang="en-US" u="sng" dirty="0" smtClean="0"/>
              <a:t>actual state</a:t>
            </a:r>
            <a:r>
              <a:rPr lang="en-US" dirty="0" smtClean="0"/>
              <a:t> is as </a:t>
            </a:r>
            <a:r>
              <a:rPr lang="en-US" u="sng" dirty="0" smtClean="0"/>
              <a:t>expected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Most threats come from unregistered components.</a:t>
            </a:r>
          </a:p>
          <a:p>
            <a:pPr lvl="1"/>
            <a:r>
              <a:rPr lang="en-US" dirty="0" smtClean="0"/>
              <a:t>Activities:</a:t>
            </a:r>
          </a:p>
          <a:p>
            <a:pPr marL="639763" indent="-514350"/>
            <a:endParaRPr lang="en-GB" dirty="0" smtClean="0"/>
          </a:p>
          <a:p>
            <a:pPr marL="639763" indent="-514350">
              <a:buNone/>
            </a:pPr>
            <a:endParaRPr lang="en-GB" dirty="0" smtClean="0"/>
          </a:p>
        </p:txBody>
      </p:sp>
      <p:sp>
        <p:nvSpPr>
          <p:cNvPr id="5" name="Content Placeholder 4"/>
          <p:cNvSpPr txBox="1">
            <a:spLocks/>
          </p:cNvSpPr>
          <p:nvPr/>
        </p:nvSpPr>
        <p:spPr bwMode="auto">
          <a:xfrm>
            <a:off x="-36512" y="2564904"/>
            <a:ext cx="4680520" cy="3824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95363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 2" pitchFamily="18" charset="2"/>
              <a:buChar char="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Scan to discover unregistered components.</a:t>
            </a:r>
          </a:p>
          <a:p>
            <a:pPr marL="995363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 2" pitchFamily="18" charset="2"/>
              <a:buChar char="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Scan to identify disparities between actual vs. baselined configuration.</a:t>
            </a:r>
          </a:p>
          <a:p>
            <a:pPr marL="995363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 2" pitchFamily="18" charset="2"/>
              <a:buChar char="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Run automated monitoring tools.</a:t>
            </a:r>
          </a:p>
          <a:p>
            <a:pPr marL="995363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 2" pitchFamily="18" charset="2"/>
              <a:buChar char="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Run system integrity checks to detect changes.</a:t>
            </a:r>
          </a:p>
          <a:p>
            <a:pPr marL="7397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Wingdings" pitchFamily="2" charset="2"/>
              <a:buChar char="§"/>
              <a:tabLst/>
              <a:defRPr/>
            </a:pP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39763" marR="0" lvl="0" indent="-51435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itchFamily="2" charset="2"/>
              <a:buChar char=""/>
              <a:tabLst/>
              <a:defRPr/>
            </a:pPr>
            <a:endParaRPr kumimoji="0" lang="en-GB" sz="30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39763" marR="0" lvl="0" indent="-51435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itchFamily="2" charset="2"/>
              <a:buNone/>
              <a:tabLst/>
              <a:defRPr/>
            </a:pPr>
            <a:endParaRPr kumimoji="0" lang="en-GB" sz="30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098" name="Picture 2" descr="D:\Downloads\1. Acad\IT3522 Operations Security\Lectures\Reference\Images\5. SCM\Wk 6 Image  Security Config Management_116306r_attempt_2013-05-31-16-16-28_secbaselin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3463" y="3136354"/>
            <a:ext cx="4391025" cy="3028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7488832" cy="914400"/>
          </a:xfrm>
        </p:spPr>
        <p:txBody>
          <a:bodyPr/>
          <a:lstStyle/>
          <a:p>
            <a:r>
              <a:rPr lang="en-GB" dirty="0" smtClean="0"/>
              <a:t>Summary</a:t>
            </a:r>
            <a:endParaRPr lang="en-SG" dirty="0">
              <a:latin typeface="+mj-lt"/>
            </a:endParaRPr>
          </a:p>
        </p:txBody>
      </p:sp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r>
              <a:rPr lang="en-GB" dirty="0" smtClean="0"/>
              <a:t>What is SCM?</a:t>
            </a:r>
          </a:p>
          <a:p>
            <a:r>
              <a:rPr lang="en-GB" dirty="0" smtClean="0"/>
              <a:t>SCM Phases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GB" dirty="0" smtClean="0"/>
              <a:t>Planning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GB" dirty="0" smtClean="0"/>
              <a:t>Configuring to a Secure State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GB" dirty="0" smtClean="0"/>
              <a:t>Maintaining Secure State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GB" dirty="0" smtClean="0"/>
              <a:t>Monitoring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Multidocument 6"/>
          <p:cNvSpPr/>
          <p:nvPr/>
        </p:nvSpPr>
        <p:spPr>
          <a:xfrm>
            <a:off x="2627784" y="1484784"/>
            <a:ext cx="1440160" cy="1188685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Shapes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95736" y="3212976"/>
            <a:ext cx="1728192" cy="11521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Quadrilaterals</a:t>
            </a:r>
            <a:endParaRPr lang="en-GB" b="1" dirty="0" smtClean="0">
              <a:solidFill>
                <a:schemeClr val="tx1"/>
              </a:solidFill>
            </a:endParaRPr>
          </a:p>
        </p:txBody>
      </p:sp>
      <p:sp>
        <p:nvSpPr>
          <p:cNvPr id="9" name="Trapezoid 8"/>
          <p:cNvSpPr/>
          <p:nvPr/>
        </p:nvSpPr>
        <p:spPr>
          <a:xfrm>
            <a:off x="1691680" y="5157192"/>
            <a:ext cx="2088232" cy="1152128"/>
          </a:xfrm>
          <a:prstGeom prst="trapezoid">
            <a:avLst>
              <a:gd name="adj" fmla="val 4581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Trapezium</a:t>
            </a:r>
            <a:endParaRPr lang="en-GB" dirty="0" smtClean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8" idx="0"/>
            <a:endCxn id="7" idx="2"/>
          </p:cNvCxnSpPr>
          <p:nvPr/>
        </p:nvCxnSpPr>
        <p:spPr>
          <a:xfrm flipV="1">
            <a:off x="3059832" y="2628453"/>
            <a:ext cx="187888" cy="58452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9" idx="0"/>
            <a:endCxn id="8" idx="2"/>
          </p:cNvCxnSpPr>
          <p:nvPr/>
        </p:nvCxnSpPr>
        <p:spPr>
          <a:xfrm flipV="1">
            <a:off x="2735796" y="4365104"/>
            <a:ext cx="324036" cy="7920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427984" y="1556792"/>
            <a:ext cx="3960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Change Management</a:t>
            </a:r>
          </a:p>
          <a:p>
            <a:pPr>
              <a:buFontTx/>
              <a:buChar char="-"/>
            </a:pPr>
            <a:r>
              <a:rPr lang="en-US" b="1" dirty="0" smtClean="0"/>
              <a:t> Any type of changes</a:t>
            </a:r>
          </a:p>
          <a:p>
            <a:pPr>
              <a:buFontTx/>
              <a:buChar char="-"/>
            </a:pPr>
            <a:r>
              <a:rPr lang="en-US" b="1" dirty="0" smtClean="0"/>
              <a:t> Win7 to Win8, GST, Data Privacy Law</a:t>
            </a:r>
            <a:endParaRPr lang="en-GB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4427984" y="3356992"/>
            <a:ext cx="4680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Configuration Management</a:t>
            </a:r>
          </a:p>
          <a:p>
            <a:pPr>
              <a:buFontTx/>
              <a:buChar char="-"/>
            </a:pPr>
            <a:r>
              <a:rPr lang="en-US" b="1" dirty="0" smtClean="0"/>
              <a:t> H/w or S/w configuration changes</a:t>
            </a:r>
          </a:p>
          <a:p>
            <a:pPr>
              <a:buFontTx/>
              <a:buChar char="-"/>
            </a:pPr>
            <a:r>
              <a:rPr lang="en-US" b="1" dirty="0" smtClean="0"/>
              <a:t> BIOS, Printer, OS, DB, Web settings</a:t>
            </a:r>
            <a:endParaRPr lang="en-GB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355976" y="5229200"/>
            <a:ext cx="4788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Security Configuration Management</a:t>
            </a:r>
          </a:p>
          <a:p>
            <a:pPr>
              <a:buFontTx/>
              <a:buChar char="-"/>
            </a:pPr>
            <a:r>
              <a:rPr lang="en-US" b="1" dirty="0" smtClean="0"/>
              <a:t> Security configuration changes</a:t>
            </a:r>
          </a:p>
          <a:p>
            <a:pPr>
              <a:buFontTx/>
              <a:buChar char="-"/>
            </a:pPr>
            <a:r>
              <a:rPr lang="en-US" b="1" dirty="0" smtClean="0"/>
              <a:t> Firewall, IDS, AV, OS, DB, Web security settings</a:t>
            </a:r>
            <a:endParaRPr lang="en-GB" b="1" dirty="0"/>
          </a:p>
        </p:txBody>
      </p:sp>
      <p:sp>
        <p:nvSpPr>
          <p:cNvPr id="39" name="Title 3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Management vs. CM vs. SCM</a:t>
            </a:r>
            <a:endParaRPr lang="en-GB" dirty="0"/>
          </a:p>
        </p:txBody>
      </p:sp>
      <p:sp>
        <p:nvSpPr>
          <p:cNvPr id="41" name="TextBox 40"/>
          <p:cNvSpPr txBox="1"/>
          <p:nvPr/>
        </p:nvSpPr>
        <p:spPr>
          <a:xfrm>
            <a:off x="251520" y="2156663"/>
            <a:ext cx="144016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Object Oriented Analogy</a:t>
            </a:r>
            <a:endParaRPr lang="en-GB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uild="allAtOnce"/>
      <p:bldP spid="37" grpId="0" build="allAtOnce"/>
      <p:bldP spid="38" grpId="0" build="allAtOnce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A7F9582DE2E34698E4DD99897B51E5" ma:contentTypeVersion="" ma:contentTypeDescription="Create a new document." ma:contentTypeScope="" ma:versionID="dd33e23194071e0c573bb55de309d7b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3e687d5f98ee29b9cfcc2ff24550d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6944A-1D33-4335-B832-C420F7CA4A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5C0D1C-444D-4105-95F5-10BE30FE5F1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3B1A0B1-251F-4AD6-986C-8E23EC0894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16027</TotalTime>
  <Words>573</Words>
  <Application>Microsoft Office PowerPoint</Application>
  <PresentationFormat>On-screen Show (4:3)</PresentationFormat>
  <Paragraphs>127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Myriad Pro Cond</vt:lpstr>
      <vt:lpstr>Calibri</vt:lpstr>
      <vt:lpstr>Wingdings</vt:lpstr>
      <vt:lpstr>Wingdings 2</vt:lpstr>
      <vt:lpstr>Wingdings 3</vt:lpstr>
      <vt:lpstr>DIS</vt:lpstr>
      <vt:lpstr>IT2775 Operations Security Security Configuration Management</vt:lpstr>
      <vt:lpstr>Objectives</vt:lpstr>
      <vt:lpstr>Security Configuration Management</vt:lpstr>
      <vt:lpstr>Security Configuration Management</vt:lpstr>
      <vt:lpstr>SCM Phases</vt:lpstr>
      <vt:lpstr>1. Planning</vt:lpstr>
      <vt:lpstr>2. Configuring to a Secure State </vt:lpstr>
      <vt:lpstr>2. Configuring to a Secure State </vt:lpstr>
      <vt:lpstr>3. Maintaining Secure State</vt:lpstr>
      <vt:lpstr>4. Monitoring</vt:lpstr>
      <vt:lpstr>Summary</vt:lpstr>
      <vt:lpstr>Change Management vs. CM vs. SCM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IT3522 Operations Security Wk 1: Introduction </dc:title>
  <cp:lastModifiedBy>HENG YIAK POR</cp:lastModifiedBy>
  <cp:revision>399</cp:revision>
  <cp:lastPrinted>2011-04-20T01:51:48Z</cp:lastPrinted>
  <dcterms:created xsi:type="dcterms:W3CDTF">2010-10-03T07:18:45Z</dcterms:created>
  <dcterms:modified xsi:type="dcterms:W3CDTF">2017-08-30T06:41:50Z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0x010100B6A7F9582DE2E34698E4DD99897B51E5</vt:lpwstr>
  </property>
</Properties>
</file>