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3"/>
  </p:notesMasterIdLst>
  <p:sldIdLst>
    <p:sldId id="256" r:id="rId5"/>
    <p:sldId id="359" r:id="rId6"/>
    <p:sldId id="360" r:id="rId7"/>
    <p:sldId id="304" r:id="rId8"/>
    <p:sldId id="305" r:id="rId9"/>
    <p:sldId id="308" r:id="rId10"/>
    <p:sldId id="310" r:id="rId11"/>
    <p:sldId id="306" r:id="rId12"/>
    <p:sldId id="307" r:id="rId13"/>
    <p:sldId id="309" r:id="rId14"/>
    <p:sldId id="311" r:id="rId15"/>
    <p:sldId id="312" r:id="rId16"/>
    <p:sldId id="313" r:id="rId17"/>
    <p:sldId id="314" r:id="rId18"/>
    <p:sldId id="315" r:id="rId19"/>
    <p:sldId id="316" r:id="rId20"/>
    <p:sldId id="361" r:id="rId21"/>
    <p:sldId id="362" r:id="rId22"/>
    <p:sldId id="317" r:id="rId23"/>
    <p:sldId id="318" r:id="rId24"/>
    <p:sldId id="319" r:id="rId25"/>
    <p:sldId id="320" r:id="rId26"/>
    <p:sldId id="322" r:id="rId27"/>
    <p:sldId id="323" r:id="rId28"/>
    <p:sldId id="324" r:id="rId29"/>
    <p:sldId id="325" r:id="rId30"/>
    <p:sldId id="327" r:id="rId31"/>
    <p:sldId id="328" r:id="rId32"/>
    <p:sldId id="329" r:id="rId33"/>
    <p:sldId id="330" r:id="rId34"/>
    <p:sldId id="331" r:id="rId35"/>
    <p:sldId id="332" r:id="rId36"/>
    <p:sldId id="333" r:id="rId37"/>
    <p:sldId id="334" r:id="rId38"/>
    <p:sldId id="335" r:id="rId39"/>
    <p:sldId id="336" r:id="rId40"/>
    <p:sldId id="337" r:id="rId41"/>
    <p:sldId id="341" r:id="rId42"/>
    <p:sldId id="340" r:id="rId43"/>
    <p:sldId id="343" r:id="rId44"/>
    <p:sldId id="338" r:id="rId45"/>
    <p:sldId id="342" r:id="rId46"/>
    <p:sldId id="339" r:id="rId47"/>
    <p:sldId id="344" r:id="rId48"/>
    <p:sldId id="345" r:id="rId49"/>
    <p:sldId id="346" r:id="rId50"/>
    <p:sldId id="347" r:id="rId51"/>
    <p:sldId id="348" r:id="rId52"/>
    <p:sldId id="349" r:id="rId53"/>
    <p:sldId id="351" r:id="rId54"/>
    <p:sldId id="350" r:id="rId55"/>
    <p:sldId id="352" r:id="rId56"/>
    <p:sldId id="353" r:id="rId57"/>
    <p:sldId id="354" r:id="rId58"/>
    <p:sldId id="355" r:id="rId59"/>
    <p:sldId id="356" r:id="rId60"/>
    <p:sldId id="357" r:id="rId61"/>
    <p:sldId id="358"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97" autoAdjust="0"/>
    <p:restoredTop sz="97691" autoAdjust="0"/>
  </p:normalViewPr>
  <p:slideViewPr>
    <p:cSldViewPr>
      <p:cViewPr varScale="1">
        <p:scale>
          <a:sx n="86" d="100"/>
          <a:sy n="86" d="100"/>
        </p:scale>
        <p:origin x="60" y="46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9/18/2014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SG"/>
          </a:p>
        </p:txBody>
      </p:sp>
      <p:sp>
        <p:nvSpPr>
          <p:cNvPr id="4" name="Slide Number Placeholder 3"/>
          <p:cNvSpPr>
            <a:spLocks noGrp="1"/>
          </p:cNvSpPr>
          <p:nvPr>
            <p:ph type="sldNum" sz="quarter" idx="10"/>
          </p:nvPr>
        </p:nvSpPr>
        <p:spPr/>
        <p:txBody>
          <a:bodyPr/>
          <a:lstStyle/>
          <a:p>
            <a:fld id="{833B95CB-9792-46B1-8B63-E325EA9DE95B}" type="slidenum">
              <a:rPr lang="en-US" smtClean="0"/>
              <a:pPr/>
              <a:t>1</a:t>
            </a:fld>
            <a:endParaRPr lang="en-US"/>
          </a:p>
        </p:txBody>
      </p:sp>
    </p:spTree>
    <p:extLst>
      <p:ext uri="{BB962C8B-B14F-4D97-AF65-F5344CB8AC3E}">
        <p14:creationId xmlns:p14="http://schemas.microsoft.com/office/powerpoint/2010/main" val="153366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Once </a:t>
            </a:r>
            <a:r>
              <a:rPr lang="en-SG" sz="1200" b="0" i="0" kern="1200" dirty="0" err="1" smtClean="0">
                <a:solidFill>
                  <a:schemeClr val="tx1"/>
                </a:solidFill>
                <a:latin typeface="+mn-lt"/>
                <a:ea typeface="+mn-ea"/>
                <a:cs typeface="+mn-cs"/>
              </a:rPr>
              <a:t>WampServer</a:t>
            </a:r>
            <a:r>
              <a:rPr lang="en-SG" sz="1200" b="0" i="0" kern="1200" dirty="0" smtClean="0">
                <a:solidFill>
                  <a:schemeClr val="tx1"/>
                </a:solidFill>
                <a:latin typeface="+mn-lt"/>
                <a:ea typeface="+mn-ea"/>
                <a:cs typeface="+mn-cs"/>
              </a:rPr>
              <a:t> is installed, you have the possibility to add as many Apache,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and </a:t>
            </a:r>
            <a:r>
              <a:rPr lang="en-SG" sz="1200" b="0" i="0" kern="1200" dirty="0" err="1" smtClean="0">
                <a:solidFill>
                  <a:schemeClr val="tx1"/>
                </a:solidFill>
                <a:latin typeface="+mn-lt"/>
                <a:ea typeface="+mn-ea"/>
                <a:cs typeface="+mn-cs"/>
              </a:rPr>
              <a:t>PHP</a:t>
            </a:r>
            <a:r>
              <a:rPr lang="en-SG" sz="1200" b="0" i="0" kern="1200" dirty="0" smtClean="0">
                <a:solidFill>
                  <a:schemeClr val="tx1"/>
                </a:solidFill>
                <a:latin typeface="+mn-lt"/>
                <a:ea typeface="+mn-ea"/>
                <a:cs typeface="+mn-cs"/>
              </a:rPr>
              <a:t> releases as you want.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smtClean="0">
                <a:solidFill>
                  <a:schemeClr val="tx1"/>
                </a:solidFill>
                <a:latin typeface="+mn-lt"/>
                <a:ea typeface="+mn-ea"/>
                <a:cs typeface="+mn-cs"/>
              </a:rPr>
              <a:t>Once </a:t>
            </a:r>
            <a:r>
              <a:rPr lang="en-SG" sz="1200" b="0" i="0" kern="1200" dirty="0" err="1" smtClean="0">
                <a:solidFill>
                  <a:schemeClr val="tx1"/>
                </a:solidFill>
                <a:latin typeface="+mn-lt"/>
                <a:ea typeface="+mn-ea"/>
                <a:cs typeface="+mn-cs"/>
              </a:rPr>
              <a:t>WampServer</a:t>
            </a:r>
            <a:r>
              <a:rPr lang="en-SG" sz="1200" b="0" i="0" kern="1200" dirty="0" smtClean="0">
                <a:solidFill>
                  <a:schemeClr val="tx1"/>
                </a:solidFill>
                <a:latin typeface="+mn-lt"/>
                <a:ea typeface="+mn-ea"/>
                <a:cs typeface="+mn-cs"/>
              </a:rPr>
              <a:t> is installed, you have the possibility to add as many Apache, </a:t>
            </a:r>
            <a:r>
              <a:rPr lang="en-SG" sz="1200" b="0" i="0" kern="1200" dirty="0" err="1" smtClean="0">
                <a:solidFill>
                  <a:schemeClr val="tx1"/>
                </a:solidFill>
                <a:latin typeface="+mn-lt"/>
                <a:ea typeface="+mn-ea"/>
                <a:cs typeface="+mn-cs"/>
              </a:rPr>
              <a:t>MySQL</a:t>
            </a:r>
            <a:r>
              <a:rPr lang="en-SG" sz="1200" b="0" i="0" kern="1200" dirty="0" smtClean="0">
                <a:solidFill>
                  <a:schemeClr val="tx1"/>
                </a:solidFill>
                <a:latin typeface="+mn-lt"/>
                <a:ea typeface="+mn-ea"/>
                <a:cs typeface="+mn-cs"/>
              </a:rPr>
              <a:t> and </a:t>
            </a:r>
            <a:r>
              <a:rPr lang="en-SG" sz="1200" b="0" i="0" kern="1200" dirty="0" err="1" smtClean="0">
                <a:solidFill>
                  <a:schemeClr val="tx1"/>
                </a:solidFill>
                <a:latin typeface="+mn-lt"/>
                <a:ea typeface="+mn-ea"/>
                <a:cs typeface="+mn-cs"/>
              </a:rPr>
              <a:t>PHP</a:t>
            </a:r>
            <a:r>
              <a:rPr lang="en-SG" sz="1200" b="0" i="0" kern="1200" smtClean="0">
                <a:solidFill>
                  <a:schemeClr val="tx1"/>
                </a:solidFill>
                <a:latin typeface="+mn-lt"/>
                <a:ea typeface="+mn-ea"/>
                <a:cs typeface="+mn-cs"/>
              </a:rPr>
              <a:t> releases as you want.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US" dirty="0" smtClean="0"/>
              <a:t>This is where you will</a:t>
            </a:r>
            <a:r>
              <a:rPr lang="en-US" baseline="0" dirty="0" smtClean="0"/>
              <a:t> place all the .</a:t>
            </a:r>
            <a:r>
              <a:rPr lang="en-US" baseline="0" dirty="0" err="1" smtClean="0"/>
              <a:t>php</a:t>
            </a:r>
            <a:r>
              <a:rPr lang="en-US" baseline="0" dirty="0" smtClean="0"/>
              <a:t> files and access them from the browser via the </a:t>
            </a:r>
            <a:r>
              <a:rPr lang="en-US" baseline="0" dirty="0" err="1" smtClean="0"/>
              <a:t>localhost</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US" dirty="0" smtClean="0"/>
              <a:t>This is where you will</a:t>
            </a:r>
            <a:r>
              <a:rPr lang="en-US" baseline="0" dirty="0" smtClean="0"/>
              <a:t> place all the .</a:t>
            </a:r>
            <a:r>
              <a:rPr lang="en-US" baseline="0" dirty="0" err="1" smtClean="0"/>
              <a:t>php</a:t>
            </a:r>
            <a:r>
              <a:rPr lang="en-US" baseline="0" dirty="0" smtClean="0"/>
              <a:t> files and access them from the browser</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PHP codes are embedded in a document</a:t>
            </a:r>
            <a:r>
              <a:rPr lang="en-US" sz="1200" b="0" i="0" kern="1200" baseline="0" dirty="0" smtClean="0">
                <a:solidFill>
                  <a:schemeClr val="tx1"/>
                </a:solidFill>
                <a:latin typeface="+mn-lt"/>
                <a:ea typeface="+mn-ea"/>
                <a:cs typeface="+mn-cs"/>
              </a:rPr>
              <a:t> using the &lt;</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US" dirty="0" smtClean="0"/>
              <a:t>Note</a:t>
            </a:r>
            <a:r>
              <a:rPr lang="en-US" baseline="0" dirty="0" smtClean="0"/>
              <a:t> that anything within the &lt;?</a:t>
            </a:r>
            <a:r>
              <a:rPr lang="en-US" baseline="0" dirty="0" err="1" smtClean="0"/>
              <a:t>php</a:t>
            </a:r>
            <a:r>
              <a:rPr lang="en-US" baseline="0" dirty="0" smtClean="0"/>
              <a:t> ….. ?&gt; tags will be </a:t>
            </a:r>
            <a:r>
              <a:rPr lang="en-US" baseline="0" dirty="0" err="1" smtClean="0"/>
              <a:t>intepreted</a:t>
            </a:r>
            <a:r>
              <a:rPr lang="en-US" baseline="0" dirty="0" smtClean="0"/>
              <a:t> by the server as </a:t>
            </a:r>
            <a:r>
              <a:rPr lang="en-US" baseline="0" dirty="0" err="1" smtClean="0"/>
              <a:t>php</a:t>
            </a:r>
            <a:r>
              <a:rPr lang="en-US" baseline="0" dirty="0" smtClean="0"/>
              <a:t> codes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SG" sz="1200" b="0" i="0" kern="1200" dirty="0" smtClean="0">
              <a:solidFill>
                <a:schemeClr val="tx1"/>
              </a:solidFill>
              <a:latin typeface="+mn-lt"/>
              <a:ea typeface="+mn-ea"/>
              <a:cs typeface="+mn-cs"/>
            </a:endParaRPr>
          </a:p>
          <a:p>
            <a:r>
              <a:rPr lang="en-US" dirty="0" smtClean="0"/>
              <a:t>Note some ports may conflict.</a:t>
            </a:r>
            <a:r>
              <a:rPr lang="en-US" baseline="0" dirty="0" smtClean="0"/>
              <a:t> In my case I edited </a:t>
            </a:r>
            <a:r>
              <a:rPr lang="en-US" baseline="0" dirty="0" err="1" smtClean="0"/>
              <a:t>httpd.conf</a:t>
            </a:r>
            <a:r>
              <a:rPr lang="en-US" baseline="0" dirty="0" smtClean="0"/>
              <a:t> to listen to 8080 instead of 80, and  </a:t>
            </a:r>
            <a:r>
              <a:rPr lang="en-SG" sz="1200" kern="1200" dirty="0" err="1" smtClean="0">
                <a:solidFill>
                  <a:schemeClr val="tx1"/>
                </a:solidFill>
                <a:latin typeface="+mn-lt"/>
                <a:ea typeface="+mn-ea"/>
                <a:cs typeface="+mn-cs"/>
              </a:rPr>
              <a:t>ServerName</a:t>
            </a:r>
            <a:r>
              <a:rPr lang="en-SG" sz="1200" kern="1200" dirty="0" smtClean="0">
                <a:solidFill>
                  <a:schemeClr val="tx1"/>
                </a:solidFill>
                <a:latin typeface="+mn-lt"/>
                <a:ea typeface="+mn-ea"/>
                <a:cs typeface="+mn-cs"/>
              </a:rPr>
              <a:t> localhost:8080 ins</a:t>
            </a:r>
            <a:r>
              <a:rPr lang="en-US" baseline="0" dirty="0" err="1" smtClean="0"/>
              <a:t>tead</a:t>
            </a:r>
            <a:r>
              <a:rPr lang="en-US" baseline="0" dirty="0" smtClean="0"/>
              <a:t> of 80. See practical for me details.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Try avoid – hyphens in your variables.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The length of a string is often used in loops or other functions, when it is important to know when the string ends. (i.e. </a:t>
            </a:r>
            <a:r>
              <a:rPr lang="en-US" sz="1200" b="0" i="0" kern="1200" smtClean="0">
                <a:solidFill>
                  <a:schemeClr val="tx1"/>
                </a:solidFill>
                <a:latin typeface="+mn-lt"/>
                <a:ea typeface="+mn-ea"/>
                <a:cs typeface="+mn-cs"/>
              </a:rPr>
              <a:t>in a loop, we would want to stop the loop after the last character in the string).</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The </a:t>
            </a:r>
            <a:r>
              <a:rPr lang="en-US" sz="1200" b="0" i="0" kern="1200" dirty="0" err="1" smtClean="0">
                <a:solidFill>
                  <a:schemeClr val="tx1"/>
                </a:solidFill>
                <a:latin typeface="+mn-lt"/>
                <a:ea typeface="+mn-ea"/>
                <a:cs typeface="+mn-cs"/>
              </a:rPr>
              <a:t>strpos</a:t>
            </a:r>
            <a:r>
              <a:rPr lang="en-US" sz="1200" b="0" i="0" kern="1200" dirty="0" smtClean="0">
                <a:solidFill>
                  <a:schemeClr val="tx1"/>
                </a:solidFill>
                <a:latin typeface="+mn-lt"/>
                <a:ea typeface="+mn-ea"/>
                <a:cs typeface="+mn-cs"/>
              </a:rPr>
              <a:t>() function is used to search for a character/text within a string.</a:t>
            </a:r>
          </a:p>
          <a:p>
            <a:r>
              <a:rPr lang="en-US" sz="1200" b="0" i="0" kern="1200" dirty="0" smtClean="0">
                <a:solidFill>
                  <a:schemeClr val="tx1"/>
                </a:solidFill>
                <a:latin typeface="+mn-lt"/>
                <a:ea typeface="+mn-ea"/>
                <a:cs typeface="+mn-cs"/>
              </a:rPr>
              <a:t>If a match is found, this function will return the character position of the first match. If no match is found, it will return FALSE.</a:t>
            </a:r>
          </a:p>
          <a:p>
            <a:r>
              <a:rPr lang="en-US" sz="1200" b="0" i="0" kern="1200" dirty="0" smtClean="0">
                <a:solidFill>
                  <a:schemeClr val="tx1"/>
                </a:solidFill>
                <a:latin typeface="+mn-lt"/>
                <a:ea typeface="+mn-ea"/>
                <a:cs typeface="+mn-cs"/>
              </a:rPr>
              <a:t>Let's see if we can find the string "world" in our string:</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19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21</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 </a:t>
            </a:r>
            <a:r>
              <a:rPr lang="en-US" sz="1200" dirty="0" smtClean="0"/>
              <a:t>// arrays can contain a mix of strings, numbers, even other arrays	</a:t>
            </a:r>
            <a:r>
              <a:rPr lang="en-US" sz="1200" b="0" i="0" kern="1200" dirty="0" smtClean="0">
                <a:solidFill>
                  <a:schemeClr val="tx1"/>
                </a:solidFill>
                <a:latin typeface="+mn-lt"/>
                <a:ea typeface="+mn-ea"/>
                <a:cs typeface="+mn-cs"/>
              </a:rPr>
              <a:t>.</a:t>
            </a:r>
            <a:r>
              <a:rPr lang="en-US" sz="1200" b="0" i="0" kern="1200" baseline="0" dirty="0" smtClean="0">
                <a:solidFill>
                  <a:schemeClr val="tx1"/>
                </a:solidFill>
                <a:latin typeface="+mn-lt"/>
                <a:ea typeface="+mn-ea"/>
                <a:cs typeface="+mn-cs"/>
              </a:rPr>
              <a:t> You can </a:t>
            </a:r>
            <a:r>
              <a:rPr lang="en-US" sz="1200" dirty="0" smtClean="0"/>
              <a:t>reference an array value that is inside another array</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22</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kern="1200" dirty="0" smtClean="0">
                <a:solidFill>
                  <a:schemeClr val="tx1"/>
                </a:solidFill>
                <a:latin typeface="+mn-lt"/>
                <a:ea typeface="+mn-ea"/>
                <a:cs typeface="+mn-cs"/>
              </a:rPr>
              <a:t> </a:t>
            </a:r>
            <a:endParaRPr lang="en-US" sz="1200" kern="1200" dirty="0" smtClean="0">
              <a:solidFill>
                <a:schemeClr val="tx1"/>
              </a:solidFill>
              <a:latin typeface="+mn-lt"/>
              <a:ea typeface="+mn-ea"/>
              <a:cs typeface="+mn-cs"/>
            </a:endParaRPr>
          </a:p>
          <a:p>
            <a:r>
              <a:rPr lang="en-SG" sz="1200" kern="1200" dirty="0" smtClean="0">
                <a:solidFill>
                  <a:schemeClr val="tx1"/>
                </a:solidFill>
                <a:latin typeface="+mn-lt"/>
                <a:ea typeface="+mn-ea"/>
                <a:cs typeface="+mn-cs"/>
              </a:rPr>
              <a:t>This is how you change the value within an array.</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 </a:t>
            </a:r>
            <a:r>
              <a:rPr lang="en-SG" sz="1200" kern="1200" dirty="0" smtClean="0">
                <a:solidFill>
                  <a:schemeClr val="tx1"/>
                </a:solidFill>
                <a:latin typeface="+mn-lt"/>
                <a:ea typeface="+mn-ea"/>
                <a:cs typeface="+mn-cs"/>
              </a:rPr>
              <a:t>You can also assign labels to each pocket (called "keys"),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 RSORT=</a:t>
            </a:r>
            <a:r>
              <a:rPr lang="en-US" sz="1200" kern="1200" baseline="0" dirty="0" smtClean="0">
                <a:solidFill>
                  <a:schemeClr val="tx1"/>
                </a:solidFill>
                <a:latin typeface="+mn-lt"/>
                <a:ea typeface="+mn-ea"/>
                <a:cs typeface="+mn-cs"/>
              </a:rPr>
              <a:t> reverse sort</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 </a:t>
            </a:r>
            <a:r>
              <a:rPr lang="en-SG" sz="1200" kern="1200" dirty="0" smtClean="0">
                <a:solidFill>
                  <a:schemeClr val="tx1"/>
                </a:solidFill>
                <a:latin typeface="+mn-lt"/>
                <a:ea typeface="+mn-ea"/>
                <a:cs typeface="+mn-cs"/>
              </a:rPr>
              <a:t>You can also assign labels to each pocket (called "keys"),</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Casting simply means converting data from</a:t>
            </a:r>
            <a:r>
              <a:rPr lang="en-US" sz="1200" b="0" i="0" kern="1200" baseline="0" dirty="0" smtClean="0">
                <a:solidFill>
                  <a:schemeClr val="tx1"/>
                </a:solidFill>
                <a:latin typeface="+mn-lt"/>
                <a:ea typeface="+mn-ea"/>
                <a:cs typeface="+mn-cs"/>
              </a:rPr>
              <a:t> one type to another.</a:t>
            </a:r>
            <a:endParaRPr lang="en-US" sz="1200" kern="1200" baseline="0" dirty="0" smtClean="0">
              <a:solidFill>
                <a:schemeClr val="tx1"/>
              </a:solidFill>
              <a:latin typeface="+mn-lt"/>
              <a:ea typeface="+mn-ea"/>
              <a:cs typeface="+mn-cs"/>
            </a:endParaRP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Use </a:t>
            </a:r>
            <a:r>
              <a:rPr lang="en-US" sz="1200" kern="1200" dirty="0" err="1" smtClean="0">
                <a:solidFill>
                  <a:schemeClr val="tx1"/>
                </a:solidFill>
                <a:latin typeface="+mn-lt"/>
                <a:ea typeface="+mn-ea"/>
                <a:cs typeface="+mn-cs"/>
              </a:rPr>
              <a:t>settype</a:t>
            </a:r>
            <a:r>
              <a:rPr lang="en-US" sz="1200" kern="1200" dirty="0" smtClean="0">
                <a:solidFill>
                  <a:schemeClr val="tx1"/>
                </a:solidFill>
                <a:latin typeface="+mn-lt"/>
                <a:ea typeface="+mn-ea"/>
                <a:cs typeface="+mn-cs"/>
              </a:rPr>
              <a:t>() to set</a:t>
            </a:r>
            <a:r>
              <a:rPr lang="en-US" sz="1200" kern="1200" baseline="0" dirty="0" smtClean="0">
                <a:solidFill>
                  <a:schemeClr val="tx1"/>
                </a:solidFill>
                <a:latin typeface="+mn-lt"/>
                <a:ea typeface="+mn-ea"/>
                <a:cs typeface="+mn-cs"/>
              </a:rPr>
              <a:t> the </a:t>
            </a:r>
            <a:r>
              <a:rPr lang="en-US" sz="1200" kern="1200" baseline="0" dirty="0" err="1" smtClean="0">
                <a:solidFill>
                  <a:schemeClr val="tx1"/>
                </a:solidFill>
                <a:latin typeface="+mn-lt"/>
                <a:ea typeface="+mn-ea"/>
                <a:cs typeface="+mn-cs"/>
              </a:rPr>
              <a:t>datatype</a:t>
            </a:r>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Use the </a:t>
            </a:r>
            <a:r>
              <a:rPr lang="en-US" sz="1200" kern="1200" baseline="0" dirty="0" err="1" smtClean="0">
                <a:solidFill>
                  <a:schemeClr val="tx1"/>
                </a:solidFill>
                <a:latin typeface="+mn-lt"/>
                <a:ea typeface="+mn-ea"/>
                <a:cs typeface="+mn-cs"/>
              </a:rPr>
              <a:t>is_XXX</a:t>
            </a:r>
            <a:r>
              <a:rPr lang="en-US" sz="1200" kern="1200" baseline="0" dirty="0" smtClean="0">
                <a:solidFill>
                  <a:schemeClr val="tx1"/>
                </a:solidFill>
                <a:latin typeface="+mn-lt"/>
                <a:ea typeface="+mn-ea"/>
                <a:cs typeface="+mn-cs"/>
              </a:rPr>
              <a:t>() functions for checking </a:t>
            </a:r>
            <a:r>
              <a:rPr lang="en-US" sz="1200" kern="1200" baseline="0" dirty="0" err="1" smtClean="0">
                <a:solidFill>
                  <a:schemeClr val="tx1"/>
                </a:solidFill>
                <a:latin typeface="+mn-lt"/>
                <a:ea typeface="+mn-ea"/>
                <a:cs typeface="+mn-cs"/>
              </a:rPr>
              <a:t>datatype</a:t>
            </a:r>
            <a:r>
              <a:rPr lang="en-US" sz="1200" kern="1200" baseline="0" dirty="0" smtClean="0">
                <a:solidFill>
                  <a:schemeClr val="tx1"/>
                </a:solidFill>
                <a:latin typeface="+mn-lt"/>
                <a:ea typeface="+mn-ea"/>
                <a:cs typeface="+mn-cs"/>
              </a:rPr>
              <a:t> </a:t>
            </a:r>
            <a:r>
              <a:rPr lang="en-US" sz="1200" kern="1200" baseline="0" dirty="0" err="1" smtClean="0">
                <a:solidFill>
                  <a:schemeClr val="tx1"/>
                </a:solidFill>
                <a:latin typeface="+mn-lt"/>
                <a:ea typeface="+mn-ea"/>
                <a:cs typeface="+mn-cs"/>
              </a:rPr>
              <a:t>fpr</a:t>
            </a:r>
            <a:r>
              <a:rPr lang="en-US" sz="1200" kern="1200" baseline="0" dirty="0" smtClean="0">
                <a:solidFill>
                  <a:schemeClr val="tx1"/>
                </a:solidFill>
                <a:latin typeface="+mn-lt"/>
                <a:ea typeface="+mn-ea"/>
                <a:cs typeface="+mn-cs"/>
              </a:rPr>
              <a:t> variable</a:t>
            </a:r>
          </a:p>
          <a:p>
            <a:endParaRPr lang="en-US" sz="1200" kern="1200" baseline="0" dirty="0" smtClean="0">
              <a:solidFill>
                <a:schemeClr val="tx1"/>
              </a:solidFill>
              <a:latin typeface="+mn-lt"/>
              <a:ea typeface="+mn-ea"/>
              <a:cs typeface="+mn-cs"/>
            </a:endParaRPr>
          </a:p>
          <a:p>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28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checks</a:t>
            </a:r>
            <a:r>
              <a:rPr lang="en-US" baseline="0" dirty="0" smtClean="0"/>
              <a:t> if the date is Fri (or Friday) If it is, it will return </a:t>
            </a:r>
            <a:r>
              <a:rPr lang="en-US" dirty="0" smtClean="0"/>
              <a:t>Have a nice weekend otherwise - echo "Have a nice day!";</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30</a:t>
            </a:fld>
            <a:endParaRPr lang="en-US"/>
          </a:p>
        </p:txBody>
      </p:sp>
    </p:spTree>
    <p:extLst>
      <p:ext uri="{BB962C8B-B14F-4D97-AF65-F5344CB8AC3E}">
        <p14:creationId xmlns:p14="http://schemas.microsoft.com/office/powerpoint/2010/main" val="4462552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31</a:t>
            </a:fld>
            <a:endParaRPr lang="en-US"/>
          </a:p>
        </p:txBody>
      </p:sp>
    </p:spTree>
    <p:extLst>
      <p:ext uri="{BB962C8B-B14F-4D97-AF65-F5344CB8AC3E}">
        <p14:creationId xmlns:p14="http://schemas.microsoft.com/office/powerpoint/2010/main" val="3454511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32</a:t>
            </a:fld>
            <a:endParaRPr lang="en-US"/>
          </a:p>
        </p:txBody>
      </p:sp>
    </p:spTree>
    <p:extLst>
      <p:ext uri="{BB962C8B-B14F-4D97-AF65-F5344CB8AC3E}">
        <p14:creationId xmlns:p14="http://schemas.microsoft.com/office/powerpoint/2010/main" val="38226860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33</a:t>
            </a:fld>
            <a:endParaRPr lang="en-US"/>
          </a:p>
        </p:txBody>
      </p:sp>
    </p:spTree>
    <p:extLst>
      <p:ext uri="{BB962C8B-B14F-4D97-AF65-F5344CB8AC3E}">
        <p14:creationId xmlns:p14="http://schemas.microsoft.com/office/powerpoint/2010/main" val="6485964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34</a:t>
            </a:fld>
            <a:endParaRPr lang="en-US"/>
          </a:p>
        </p:txBody>
      </p:sp>
    </p:spTree>
    <p:extLst>
      <p:ext uri="{BB962C8B-B14F-4D97-AF65-F5344CB8AC3E}">
        <p14:creationId xmlns:p14="http://schemas.microsoft.com/office/powerpoint/2010/main" val="929605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35</a:t>
            </a:fld>
            <a:endParaRPr lang="en-US"/>
          </a:p>
        </p:txBody>
      </p:sp>
    </p:spTree>
    <p:extLst>
      <p:ext uri="{BB962C8B-B14F-4D97-AF65-F5344CB8AC3E}">
        <p14:creationId xmlns:p14="http://schemas.microsoft.com/office/powerpoint/2010/main" val="2918767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36</a:t>
            </a:fld>
            <a:endParaRPr lang="en-US"/>
          </a:p>
        </p:txBody>
      </p:sp>
    </p:spTree>
    <p:extLst>
      <p:ext uri="{BB962C8B-B14F-4D97-AF65-F5344CB8AC3E}">
        <p14:creationId xmlns:p14="http://schemas.microsoft.com/office/powerpoint/2010/main" val="16344741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37</a:t>
            </a:fld>
            <a:endParaRPr lang="en-US"/>
          </a:p>
        </p:txBody>
      </p:sp>
    </p:spTree>
    <p:extLst>
      <p:ext uri="{BB962C8B-B14F-4D97-AF65-F5344CB8AC3E}">
        <p14:creationId xmlns:p14="http://schemas.microsoft.com/office/powerpoint/2010/main" val="4239973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38</a:t>
            </a:fld>
            <a:endParaRPr lang="en-US"/>
          </a:p>
        </p:txBody>
      </p:sp>
    </p:spTree>
    <p:extLst>
      <p:ext uri="{BB962C8B-B14F-4D97-AF65-F5344CB8AC3E}">
        <p14:creationId xmlns:p14="http://schemas.microsoft.com/office/powerpoint/2010/main" val="3853006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39</a:t>
            </a:fld>
            <a:endParaRPr lang="en-US"/>
          </a:p>
        </p:txBody>
      </p:sp>
    </p:spTree>
    <p:extLst>
      <p:ext uri="{BB962C8B-B14F-4D97-AF65-F5344CB8AC3E}">
        <p14:creationId xmlns:p14="http://schemas.microsoft.com/office/powerpoint/2010/main" val="5991757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40</a:t>
            </a:fld>
            <a:endParaRPr lang="en-US"/>
          </a:p>
        </p:txBody>
      </p:sp>
    </p:spTree>
    <p:extLst>
      <p:ext uri="{BB962C8B-B14F-4D97-AF65-F5344CB8AC3E}">
        <p14:creationId xmlns:p14="http://schemas.microsoft.com/office/powerpoint/2010/main" val="32220531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41</a:t>
            </a:fld>
            <a:endParaRPr lang="en-US"/>
          </a:p>
        </p:txBody>
      </p:sp>
    </p:spTree>
    <p:extLst>
      <p:ext uri="{BB962C8B-B14F-4D97-AF65-F5344CB8AC3E}">
        <p14:creationId xmlns:p14="http://schemas.microsoft.com/office/powerpoint/2010/main" val="6876164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42</a:t>
            </a:fld>
            <a:endParaRPr lang="en-US"/>
          </a:p>
        </p:txBody>
      </p:sp>
    </p:spTree>
    <p:extLst>
      <p:ext uri="{BB962C8B-B14F-4D97-AF65-F5344CB8AC3E}">
        <p14:creationId xmlns:p14="http://schemas.microsoft.com/office/powerpoint/2010/main" val="3089253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43</a:t>
            </a:fld>
            <a:endParaRPr lang="en-US"/>
          </a:p>
        </p:txBody>
      </p:sp>
    </p:spTree>
    <p:extLst>
      <p:ext uri="{BB962C8B-B14F-4D97-AF65-F5344CB8AC3E}">
        <p14:creationId xmlns:p14="http://schemas.microsoft.com/office/powerpoint/2010/main" val="40466299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44</a:t>
            </a:fld>
            <a:endParaRPr lang="en-US"/>
          </a:p>
        </p:txBody>
      </p:sp>
    </p:spTree>
    <p:extLst>
      <p:ext uri="{BB962C8B-B14F-4D97-AF65-F5344CB8AC3E}">
        <p14:creationId xmlns:p14="http://schemas.microsoft.com/office/powerpoint/2010/main" val="38892515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The code will</a:t>
            </a:r>
            <a:r>
              <a:rPr lang="en-US" baseline="0" dirty="0" smtClean="0"/>
              <a:t> call </a:t>
            </a:r>
            <a:r>
              <a:rPr lang="en-US" baseline="0" dirty="0" err="1" smtClean="0"/>
              <a:t>writeName</a:t>
            </a:r>
            <a:r>
              <a:rPr lang="en-US" baseline="0" dirty="0" smtClean="0"/>
              <a:t> when the </a:t>
            </a:r>
            <a:r>
              <a:rPr lang="en-US" baseline="0" dirty="0" err="1" smtClean="0"/>
              <a:t>php</a:t>
            </a:r>
            <a:r>
              <a:rPr lang="en-US" baseline="0" dirty="0" smtClean="0"/>
              <a:t> file is loaded, and the output will be</a:t>
            </a:r>
          </a:p>
          <a:p>
            <a:r>
              <a:rPr lang="en-US" baseline="0" dirty="0" smtClean="0"/>
              <a:t>“My name is Kai Jim</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45</a:t>
            </a:fld>
            <a:endParaRPr lang="en-US"/>
          </a:p>
        </p:txBody>
      </p:sp>
    </p:spTree>
    <p:extLst>
      <p:ext uri="{BB962C8B-B14F-4D97-AF65-F5344CB8AC3E}">
        <p14:creationId xmlns:p14="http://schemas.microsoft.com/office/powerpoint/2010/main" val="12758719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To add more functionality to a function, we can add parameters. A parameter is just like a variable.</a:t>
            </a:r>
          </a:p>
          <a:p>
            <a:r>
              <a:rPr lang="en-US" sz="1200" b="0" i="0" kern="1200" dirty="0" smtClean="0">
                <a:solidFill>
                  <a:schemeClr val="tx1"/>
                </a:solidFill>
                <a:latin typeface="+mn-lt"/>
                <a:ea typeface="+mn-ea"/>
                <a:cs typeface="+mn-cs"/>
              </a:rPr>
              <a:t>Parameters are specified after the function name, inside the parentheses. For two parameters,</a:t>
            </a:r>
          </a:p>
          <a:p>
            <a:r>
              <a:rPr lang="en-US" sz="1200" b="0" i="0" kern="1200" dirty="0" smtClean="0">
                <a:solidFill>
                  <a:schemeClr val="tx1"/>
                </a:solidFill>
                <a:latin typeface="+mn-lt"/>
                <a:ea typeface="+mn-ea"/>
                <a:cs typeface="+mn-cs"/>
              </a:rPr>
              <a:t>Jus</a:t>
            </a:r>
            <a:r>
              <a:rPr lang="en-US" sz="1200" b="0" i="0" kern="1200" baseline="0" dirty="0" smtClean="0">
                <a:solidFill>
                  <a:schemeClr val="tx1"/>
                </a:solidFill>
                <a:latin typeface="+mn-lt"/>
                <a:ea typeface="+mn-ea"/>
                <a:cs typeface="+mn-cs"/>
              </a:rPr>
              <a:t>t add a comma between the first and second parameter.</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46</a:t>
            </a:fld>
            <a:endParaRPr lang="en-US"/>
          </a:p>
        </p:txBody>
      </p:sp>
    </p:spTree>
    <p:extLst>
      <p:ext uri="{BB962C8B-B14F-4D97-AF65-F5344CB8AC3E}">
        <p14:creationId xmlns:p14="http://schemas.microsoft.com/office/powerpoint/2010/main" val="7340876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To add more functionality to a function, we can add parameters. A parameter is just like a variable.</a:t>
            </a:r>
          </a:p>
          <a:p>
            <a:r>
              <a:rPr lang="en-US" sz="1200" b="0" i="0" kern="1200" dirty="0" smtClean="0">
                <a:solidFill>
                  <a:schemeClr val="tx1"/>
                </a:solidFill>
                <a:latin typeface="+mn-lt"/>
                <a:ea typeface="+mn-ea"/>
                <a:cs typeface="+mn-cs"/>
              </a:rPr>
              <a:t>Parameters are specified after the function name, inside the parentheses. For two parameters,</a:t>
            </a:r>
          </a:p>
          <a:p>
            <a:r>
              <a:rPr lang="en-US" sz="1200" b="0" i="0" kern="1200" dirty="0" smtClean="0">
                <a:solidFill>
                  <a:schemeClr val="tx1"/>
                </a:solidFill>
                <a:latin typeface="+mn-lt"/>
                <a:ea typeface="+mn-ea"/>
                <a:cs typeface="+mn-cs"/>
              </a:rPr>
              <a:t>Jus</a:t>
            </a:r>
            <a:r>
              <a:rPr lang="en-US" sz="1200" b="0" i="0" kern="1200" baseline="0" dirty="0" smtClean="0">
                <a:solidFill>
                  <a:schemeClr val="tx1"/>
                </a:solidFill>
                <a:latin typeface="+mn-lt"/>
                <a:ea typeface="+mn-ea"/>
                <a:cs typeface="+mn-cs"/>
              </a:rPr>
              <a:t>t add a comma between the first and second parameter.</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47</a:t>
            </a:fld>
            <a:endParaRPr lang="en-US"/>
          </a:p>
        </p:txBody>
      </p:sp>
    </p:spTree>
    <p:extLst>
      <p:ext uri="{BB962C8B-B14F-4D97-AF65-F5344CB8AC3E}">
        <p14:creationId xmlns:p14="http://schemas.microsoft.com/office/powerpoint/2010/main" val="25107498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When you are working with an application, you open it, do some changes and then you close it. This is much like a Session. The computer knows who you are. It knows when you start the application and when you end. But on the internet there is one problem: the web server does not know who you are and what you do because the HTTP address doesn't maintain state.</a:t>
            </a:r>
          </a:p>
          <a:p>
            <a:r>
              <a:rPr lang="en-US" sz="1200" b="0" i="0" kern="1200" dirty="0" smtClean="0">
                <a:solidFill>
                  <a:schemeClr val="tx1"/>
                </a:solidFill>
                <a:latin typeface="+mn-lt"/>
                <a:ea typeface="+mn-ea"/>
                <a:cs typeface="+mn-cs"/>
              </a:rPr>
              <a:t>A PHP session solves this problem by allowing you to store user information on the server for later use (i.e. username, shopping items, etc). However, session information is temporary and will be deleted after the user has left the website. If you need a permanent storage you may want to store the data in a database.</a:t>
            </a:r>
          </a:p>
          <a:p>
            <a:r>
              <a:rPr lang="en-US" sz="1200" b="0" i="0" kern="1200" dirty="0" smtClean="0">
                <a:solidFill>
                  <a:schemeClr val="tx1"/>
                </a:solidFill>
                <a:latin typeface="+mn-lt"/>
                <a:ea typeface="+mn-ea"/>
                <a:cs typeface="+mn-cs"/>
              </a:rPr>
              <a:t>Sessions work by creating a unique id (UID) for each visitor and store variables based on this UID. The UID is either stored in a cookie or is propagated in the URL.</a:t>
            </a:r>
          </a:p>
          <a:p>
            <a:r>
              <a:rPr lang="en-US" dirty="0" smtClean="0"/>
              <a:t/>
            </a:r>
            <a:br>
              <a:rPr lang="en-US" dirty="0" smtClean="0"/>
            </a:b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48</a:t>
            </a:fld>
            <a:endParaRPr lang="en-US"/>
          </a:p>
        </p:txBody>
      </p:sp>
    </p:spTree>
    <p:extLst>
      <p:ext uri="{BB962C8B-B14F-4D97-AF65-F5344CB8AC3E}">
        <p14:creationId xmlns:p14="http://schemas.microsoft.com/office/powerpoint/2010/main" val="2856849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 </a:t>
            </a:r>
          </a:p>
          <a:p>
            <a:r>
              <a:rPr lang="en-US" dirty="0" smtClean="0"/>
              <a:t/>
            </a:r>
            <a:br>
              <a:rPr lang="en-US" dirty="0" smtClean="0"/>
            </a:br>
            <a:r>
              <a:rPr lang="en-US" sz="1200" b="0" i="0" kern="1200" dirty="0" smtClean="0">
                <a:solidFill>
                  <a:schemeClr val="tx1"/>
                </a:solidFill>
                <a:latin typeface="+mn-lt"/>
                <a:ea typeface="+mn-ea"/>
                <a:cs typeface="+mn-cs"/>
              </a:rPr>
              <a:t>Before you can store user information in your PHP session, you must first start up the session.</a:t>
            </a:r>
          </a:p>
          <a:p>
            <a:r>
              <a:rPr lang="en-US" sz="1200" b="1" i="0" kern="1200" dirty="0" smtClean="0">
                <a:solidFill>
                  <a:schemeClr val="tx1"/>
                </a:solidFill>
                <a:latin typeface="+mn-lt"/>
                <a:ea typeface="+mn-ea"/>
                <a:cs typeface="+mn-cs"/>
              </a:rPr>
              <a:t>Note:</a:t>
            </a:r>
            <a:r>
              <a:rPr lang="en-US" sz="1200" b="0" i="0" kern="1200" dirty="0" smtClean="0">
                <a:solidFill>
                  <a:schemeClr val="tx1"/>
                </a:solidFill>
                <a:latin typeface="+mn-lt"/>
                <a:ea typeface="+mn-ea"/>
                <a:cs typeface="+mn-cs"/>
              </a:rPr>
              <a:t> The </a:t>
            </a:r>
            <a:r>
              <a:rPr lang="en-US" sz="1200" b="0" i="0" kern="1200" dirty="0" err="1" smtClean="0">
                <a:solidFill>
                  <a:schemeClr val="tx1"/>
                </a:solidFill>
                <a:latin typeface="+mn-lt"/>
                <a:ea typeface="+mn-ea"/>
                <a:cs typeface="+mn-cs"/>
              </a:rPr>
              <a:t>session_start</a:t>
            </a:r>
            <a:r>
              <a:rPr lang="en-US" sz="1200" b="0" i="0" kern="1200" dirty="0" smtClean="0">
                <a:solidFill>
                  <a:schemeClr val="tx1"/>
                </a:solidFill>
                <a:latin typeface="+mn-lt"/>
                <a:ea typeface="+mn-ea"/>
                <a:cs typeface="+mn-cs"/>
              </a:rPr>
              <a:t>() function must appear BEFORE the &lt;html&gt; tag:</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49</a:t>
            </a:fld>
            <a:endParaRPr lang="en-US"/>
          </a:p>
        </p:txBody>
      </p:sp>
    </p:spTree>
    <p:extLst>
      <p:ext uri="{BB962C8B-B14F-4D97-AF65-F5344CB8AC3E}">
        <p14:creationId xmlns:p14="http://schemas.microsoft.com/office/powerpoint/2010/main" val="33670023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 Storing a Session Variable</a:t>
            </a:r>
          </a:p>
          <a:p>
            <a:r>
              <a:rPr lang="en-US" sz="1200" b="0" i="0" kern="1200" smtClean="0">
                <a:solidFill>
                  <a:schemeClr val="tx1"/>
                </a:solidFill>
                <a:latin typeface="+mn-lt"/>
                <a:ea typeface="+mn-ea"/>
                <a:cs typeface="+mn-cs"/>
              </a:rPr>
              <a:t>The correct way to store and retrieve session variables is to use the PHP $_SESSION variable:</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50</a:t>
            </a:fld>
            <a:endParaRPr lang="en-US"/>
          </a:p>
        </p:txBody>
      </p:sp>
    </p:spTree>
    <p:extLst>
      <p:ext uri="{BB962C8B-B14F-4D97-AF65-F5344CB8AC3E}">
        <p14:creationId xmlns:p14="http://schemas.microsoft.com/office/powerpoint/2010/main" val="22093728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In this example   we create a simple page-views counter. The </a:t>
            </a:r>
            <a:r>
              <a:rPr lang="en-US" sz="1200" b="0" i="0" kern="1200" dirty="0" err="1" smtClean="0">
                <a:solidFill>
                  <a:schemeClr val="tx1"/>
                </a:solidFill>
                <a:latin typeface="+mn-lt"/>
                <a:ea typeface="+mn-ea"/>
                <a:cs typeface="+mn-cs"/>
              </a:rPr>
              <a:t>isset</a:t>
            </a:r>
            <a:r>
              <a:rPr lang="en-US" sz="1200" b="0" i="0" kern="1200" dirty="0" smtClean="0">
                <a:solidFill>
                  <a:schemeClr val="tx1"/>
                </a:solidFill>
                <a:latin typeface="+mn-lt"/>
                <a:ea typeface="+mn-ea"/>
                <a:cs typeface="+mn-cs"/>
              </a:rPr>
              <a:t>() function checks if the "views" variable has already been set. If "views" has been set, we can increment our counter. If "views" doesn't exist, we create a "views" variable, and set it to 1:</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51</a:t>
            </a:fld>
            <a:endParaRPr lang="en-US"/>
          </a:p>
        </p:txBody>
      </p:sp>
    </p:spTree>
    <p:extLst>
      <p:ext uri="{BB962C8B-B14F-4D97-AF65-F5344CB8AC3E}">
        <p14:creationId xmlns:p14="http://schemas.microsoft.com/office/powerpoint/2010/main" val="32242734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Note:</a:t>
            </a:r>
            <a:r>
              <a:rPr lang="en-US" sz="1200" b="0" i="0" kern="1200" dirty="0" smtClean="0">
                <a:solidFill>
                  <a:schemeClr val="tx1"/>
                </a:solidFill>
                <a:latin typeface="+mn-lt"/>
                <a:ea typeface="+mn-ea"/>
                <a:cs typeface="+mn-cs"/>
              </a:rPr>
              <a:t> </a:t>
            </a:r>
            <a:r>
              <a:rPr lang="en-US" sz="1200" b="0" i="0" kern="1200" dirty="0" err="1" smtClean="0">
                <a:solidFill>
                  <a:schemeClr val="tx1"/>
                </a:solidFill>
                <a:latin typeface="+mn-lt"/>
                <a:ea typeface="+mn-ea"/>
                <a:cs typeface="+mn-cs"/>
              </a:rPr>
              <a:t>session_destroy</a:t>
            </a:r>
            <a:r>
              <a:rPr lang="en-US" sz="1200" b="0" i="0" kern="1200" dirty="0" smtClean="0">
                <a:solidFill>
                  <a:schemeClr val="tx1"/>
                </a:solidFill>
                <a:latin typeface="+mn-lt"/>
                <a:ea typeface="+mn-ea"/>
                <a:cs typeface="+mn-cs"/>
              </a:rPr>
              <a:t>() will reset your session and you will lose all your stored session data.</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52</a:t>
            </a:fld>
            <a:endParaRPr lang="en-US"/>
          </a:p>
        </p:txBody>
      </p:sp>
    </p:spTree>
    <p:extLst>
      <p:ext uri="{BB962C8B-B14F-4D97-AF65-F5344CB8AC3E}">
        <p14:creationId xmlns:p14="http://schemas.microsoft.com/office/powerpoint/2010/main" val="40861666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endParaRPr lang="en-US" sz="1200" b="0" i="0" kern="1200" dirty="0" smtClean="0">
              <a:solidFill>
                <a:schemeClr val="tx1"/>
              </a:solidFill>
              <a:latin typeface="+mn-lt"/>
              <a:ea typeface="+mn-ea"/>
              <a:cs typeface="+mn-cs"/>
            </a:endParaRP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53</a:t>
            </a:fld>
            <a:endParaRPr lang="en-US"/>
          </a:p>
        </p:txBody>
      </p:sp>
    </p:spTree>
    <p:extLst>
      <p:ext uri="{BB962C8B-B14F-4D97-AF65-F5344CB8AC3E}">
        <p14:creationId xmlns:p14="http://schemas.microsoft.com/office/powerpoint/2010/main" val="15704465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endParaRPr lang="en-US" sz="1200" b="0" i="0" kern="1200" dirty="0" smtClean="0">
              <a:solidFill>
                <a:schemeClr val="tx1"/>
              </a:solidFill>
              <a:latin typeface="+mn-lt"/>
              <a:ea typeface="+mn-ea"/>
              <a:cs typeface="+mn-cs"/>
            </a:endParaRPr>
          </a:p>
          <a:p>
            <a:r>
              <a:rPr lang="en-US" sz="1200" b="1" i="0" kern="1200" dirty="0" smtClean="0">
                <a:solidFill>
                  <a:schemeClr val="tx1"/>
                </a:solidFill>
                <a:latin typeface="+mn-lt"/>
                <a:ea typeface="+mn-ea"/>
                <a:cs typeface="+mn-cs"/>
              </a:rPr>
              <a:t>Note: </a:t>
            </a:r>
            <a:r>
              <a:rPr lang="en-US" sz="1200" b="0" i="0" kern="1200" dirty="0" smtClean="0">
                <a:solidFill>
                  <a:schemeClr val="tx1"/>
                </a:solidFill>
                <a:latin typeface="+mn-lt"/>
                <a:ea typeface="+mn-ea"/>
                <a:cs typeface="+mn-cs"/>
              </a:rPr>
              <a:t>The value of the cookie is automatically </a:t>
            </a:r>
            <a:r>
              <a:rPr lang="en-US" sz="1200" b="0" i="0" kern="1200" dirty="0" err="1" smtClean="0">
                <a:solidFill>
                  <a:schemeClr val="tx1"/>
                </a:solidFill>
                <a:latin typeface="+mn-lt"/>
                <a:ea typeface="+mn-ea"/>
                <a:cs typeface="+mn-cs"/>
              </a:rPr>
              <a:t>URLencoded</a:t>
            </a:r>
            <a:r>
              <a:rPr lang="en-US" sz="1200" b="0" i="0" kern="1200" dirty="0" smtClean="0">
                <a:solidFill>
                  <a:schemeClr val="tx1"/>
                </a:solidFill>
                <a:latin typeface="+mn-lt"/>
                <a:ea typeface="+mn-ea"/>
                <a:cs typeface="+mn-cs"/>
              </a:rPr>
              <a:t> when sending the cookie, and automatically decoded when received (to prevent </a:t>
            </a:r>
            <a:r>
              <a:rPr lang="en-US" sz="1200" b="0" i="0" kern="1200" dirty="0" err="1" smtClean="0">
                <a:solidFill>
                  <a:schemeClr val="tx1"/>
                </a:solidFill>
                <a:latin typeface="+mn-lt"/>
                <a:ea typeface="+mn-ea"/>
                <a:cs typeface="+mn-cs"/>
              </a:rPr>
              <a:t>URLencoding</a:t>
            </a:r>
            <a:r>
              <a:rPr lang="en-US" sz="1200" b="0" i="0" kern="1200" dirty="0" smtClean="0">
                <a:solidFill>
                  <a:schemeClr val="tx1"/>
                </a:solidFill>
                <a:latin typeface="+mn-lt"/>
                <a:ea typeface="+mn-ea"/>
                <a:cs typeface="+mn-cs"/>
              </a:rPr>
              <a:t>, use </a:t>
            </a:r>
            <a:r>
              <a:rPr lang="en-US" sz="1200" b="0" i="0" kern="1200" dirty="0" err="1" smtClean="0">
                <a:solidFill>
                  <a:schemeClr val="tx1"/>
                </a:solidFill>
                <a:latin typeface="+mn-lt"/>
                <a:ea typeface="+mn-ea"/>
                <a:cs typeface="+mn-cs"/>
              </a:rPr>
              <a:t>setrawcookie</a:t>
            </a:r>
            <a:r>
              <a:rPr lang="en-US" sz="1200" b="0" i="0" kern="1200" dirty="0" smtClean="0">
                <a:solidFill>
                  <a:schemeClr val="tx1"/>
                </a:solidFill>
                <a:latin typeface="+mn-lt"/>
                <a:ea typeface="+mn-ea"/>
                <a:cs typeface="+mn-cs"/>
              </a:rPr>
              <a:t>() instead).</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54</a:t>
            </a:fld>
            <a:endParaRPr lang="en-US"/>
          </a:p>
        </p:txBody>
      </p:sp>
    </p:spTree>
    <p:extLst>
      <p:ext uri="{BB962C8B-B14F-4D97-AF65-F5344CB8AC3E}">
        <p14:creationId xmlns:p14="http://schemas.microsoft.com/office/powerpoint/2010/main" val="17785124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55</a:t>
            </a:fld>
            <a:endParaRPr lang="en-US"/>
          </a:p>
        </p:txBody>
      </p:sp>
    </p:spTree>
    <p:extLst>
      <p:ext uri="{BB962C8B-B14F-4D97-AF65-F5344CB8AC3E}">
        <p14:creationId xmlns:p14="http://schemas.microsoft.com/office/powerpoint/2010/main" val="19961351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56</a:t>
            </a:fld>
            <a:endParaRPr lang="en-US"/>
          </a:p>
        </p:txBody>
      </p:sp>
    </p:spTree>
    <p:extLst>
      <p:ext uri="{BB962C8B-B14F-4D97-AF65-F5344CB8AC3E}">
        <p14:creationId xmlns:p14="http://schemas.microsoft.com/office/powerpoint/2010/main" val="15918634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57</a:t>
            </a:fld>
            <a:endParaRPr lang="en-US"/>
          </a:p>
        </p:txBody>
      </p:sp>
    </p:spTree>
    <p:extLst>
      <p:ext uri="{BB962C8B-B14F-4D97-AF65-F5344CB8AC3E}">
        <p14:creationId xmlns:p14="http://schemas.microsoft.com/office/powerpoint/2010/main" val="39596581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mn-lt"/>
                <a:ea typeface="+mn-ea"/>
                <a:cs typeface="+mn-cs"/>
              </a:rPr>
              <a:t> </a:t>
            </a:r>
            <a:r>
              <a:rPr lang="en-US" sz="1200" b="0" i="0" kern="1200" dirty="0" smtClean="0">
                <a:solidFill>
                  <a:schemeClr val="tx1"/>
                </a:solidFill>
                <a:latin typeface="+mn-lt"/>
                <a:ea typeface="+mn-ea"/>
                <a:cs typeface="+mn-cs"/>
              </a:rPr>
              <a:t>What if a Browser Does NOT Support Cookies?</a:t>
            </a:r>
          </a:p>
          <a:p>
            <a:r>
              <a:rPr lang="en-US" sz="1200" b="0" i="0" kern="1200" dirty="0" smtClean="0">
                <a:solidFill>
                  <a:schemeClr val="tx1"/>
                </a:solidFill>
                <a:latin typeface="+mn-lt"/>
                <a:ea typeface="+mn-ea"/>
                <a:cs typeface="+mn-cs"/>
              </a:rPr>
              <a:t>If your application deals with browsers that do not support cookies, you will have to use other methods to pass information from one page to another in your application. One method is to pass the data through forms (forms and user input are described earlier in this tutorial).</a:t>
            </a:r>
          </a:p>
          <a:p>
            <a:endParaRPr lang="en-US" sz="1200" b="0" i="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33B95CB-9792-46B1-8B63-E325EA9DE95B}" type="slidenum">
              <a:rPr lang="en-US" smtClean="0"/>
              <a:pPr/>
              <a:t>58</a:t>
            </a:fld>
            <a:endParaRPr lang="en-US"/>
          </a:p>
        </p:txBody>
      </p:sp>
    </p:spTree>
    <p:extLst>
      <p:ext uri="{BB962C8B-B14F-4D97-AF65-F5344CB8AC3E}">
        <p14:creationId xmlns:p14="http://schemas.microsoft.com/office/powerpoint/2010/main" val="10950289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Footer Placeholder 7"/>
          <p:cNvSpPr>
            <a:spLocks noGrp="1"/>
          </p:cNvSpPr>
          <p:nvPr>
            <p:ph type="ftr" sz="quarter" idx="11"/>
          </p:nvPr>
        </p:nvSpPr>
        <p:spPr/>
        <p:txBody>
          <a:bodyPr/>
          <a:lstStyle/>
          <a:p>
            <a:r>
              <a:rPr lang="en-US" smtClean="0"/>
              <a:t>IT1322 2012 S1</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smtClean="0"/>
              <a:t>IT1322 2012 S1</a:t>
            </a:r>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IT1322 2012 S1</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p:txBody>
          <a:bodyPr/>
          <a:lstStyle/>
          <a:p>
            <a:r>
              <a:rPr lang="en-US" smtClean="0"/>
              <a:t>IT1322 2012 S1</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hyperlink" Target="http://mysql.com/" TargetMode="External"/><Relationship Id="rId4" Type="http://schemas.openxmlformats.org/officeDocument/2006/relationships/hyperlink" Target="http://php.net/"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wampserver.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www.microsoft.com/download/en/details.aspx?id=13523" TargetMode="External"/><Relationship Id="rId4" Type="http://schemas.openxmlformats.org/officeDocument/2006/relationships/hyperlink" Target="http://www.microsoft.com/download/en/details.aspx?id=832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solidFill>
                  <a:srgbClr val="FF0000"/>
                </a:solidFill>
              </a:rPr>
              <a:t>Jumpstart to </a:t>
            </a:r>
            <a:r>
              <a:rPr lang="en-US" sz="4800" dirty="0" err="1" smtClean="0">
                <a:solidFill>
                  <a:srgbClr val="FF0000"/>
                </a:solidFill>
              </a:rPr>
              <a:t>PHP</a:t>
            </a:r>
            <a:r>
              <a:rPr lang="en-US" sz="4800" dirty="0" smtClean="0">
                <a:solidFill>
                  <a:srgbClr val="FF0000"/>
                </a:solidFill>
              </a:rPr>
              <a:t> Part 1</a:t>
            </a:r>
            <a:endParaRPr lang="en-US" sz="4800" dirty="0">
              <a:solidFill>
                <a:srgbClr val="FF0000"/>
              </a:solidFill>
            </a:endParaRPr>
          </a:p>
        </p:txBody>
      </p:sp>
      <p:sp>
        <p:nvSpPr>
          <p:cNvPr id="3" name="Subtitle 2"/>
          <p:cNvSpPr>
            <a:spLocks noGrp="1"/>
          </p:cNvSpPr>
          <p:nvPr>
            <p:ph type="subTitle" idx="1"/>
          </p:nvPr>
        </p:nvSpPr>
        <p:spPr>
          <a:xfrm>
            <a:off x="685800" y="3581400"/>
            <a:ext cx="7467600" cy="1752600"/>
          </a:xfrm>
        </p:spPr>
        <p:txBody>
          <a:bodyPr/>
          <a:lstStyle/>
          <a:p>
            <a:r>
              <a:rPr lang="en-US" dirty="0" err="1" smtClean="0"/>
              <a:t>PHP</a:t>
            </a:r>
            <a:r>
              <a:rPr lang="en-US" dirty="0" smtClean="0"/>
              <a:t> Fundamentals</a:t>
            </a:r>
            <a:endParaRPr lang="en-US" dirty="0"/>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WAMP</a:t>
            </a:r>
            <a:r>
              <a:rPr lang="en-US" sz="3600" dirty="0" smtClean="0"/>
              <a:t> Overview</a:t>
            </a:r>
            <a:endParaRPr lang="en-US" sz="3600" dirty="0"/>
          </a:p>
        </p:txBody>
      </p:sp>
      <p:sp>
        <p:nvSpPr>
          <p:cNvPr id="3" name="Content Placeholder 2"/>
          <p:cNvSpPr>
            <a:spLocks noGrp="1"/>
          </p:cNvSpPr>
          <p:nvPr>
            <p:ph idx="1"/>
          </p:nvPr>
        </p:nvSpPr>
        <p:spPr>
          <a:xfrm>
            <a:off x="381000" y="1295400"/>
            <a:ext cx="5562600" cy="4724400"/>
          </a:xfrm>
        </p:spPr>
        <p:txBody>
          <a:bodyPr>
            <a:noAutofit/>
          </a:bodyPr>
          <a:lstStyle/>
          <a:p>
            <a:pPr>
              <a:spcAft>
                <a:spcPts val="1000"/>
              </a:spcAft>
            </a:pPr>
            <a:r>
              <a:rPr lang="en-SG" sz="1800" dirty="0" err="1" smtClean="0"/>
              <a:t>WampServer</a:t>
            </a:r>
            <a:r>
              <a:rPr lang="en-SG" sz="1800" dirty="0" smtClean="0"/>
              <a:t> is a Windows web development environment. It allows you to create web applications with </a:t>
            </a:r>
            <a:r>
              <a:rPr lang="en-SG" sz="1800" b="1" dirty="0" smtClean="0"/>
              <a:t>Apache</a:t>
            </a:r>
            <a:r>
              <a:rPr lang="en-SG" sz="1800" dirty="0" smtClean="0"/>
              <a:t>, </a:t>
            </a:r>
            <a:r>
              <a:rPr lang="en-SG" sz="1800" b="1" dirty="0" err="1" smtClean="0"/>
              <a:t>PHP</a:t>
            </a:r>
            <a:r>
              <a:rPr lang="en-SG" sz="1800" b="1" dirty="0" smtClean="0"/>
              <a:t> </a:t>
            </a:r>
            <a:r>
              <a:rPr lang="en-SG" sz="1800" dirty="0" smtClean="0"/>
              <a:t>and the </a:t>
            </a:r>
            <a:r>
              <a:rPr lang="en-SG" sz="1800" b="1" dirty="0" err="1" smtClean="0"/>
              <a:t>MySQL</a:t>
            </a:r>
            <a:r>
              <a:rPr lang="en-SG" sz="1800" b="1" dirty="0" smtClean="0"/>
              <a:t> </a:t>
            </a:r>
            <a:r>
              <a:rPr lang="en-SG" sz="1800" dirty="0" smtClean="0"/>
              <a:t>database. It also comes with </a:t>
            </a:r>
            <a:r>
              <a:rPr lang="en-SG" sz="1800" dirty="0" err="1" smtClean="0"/>
              <a:t>PHPMyAdmin</a:t>
            </a:r>
            <a:r>
              <a:rPr lang="en-SG" sz="1800" dirty="0" smtClean="0"/>
              <a:t> to easily manage your databases.</a:t>
            </a:r>
          </a:p>
          <a:p>
            <a:pPr>
              <a:spcAft>
                <a:spcPts val="1000"/>
              </a:spcAft>
            </a:pPr>
            <a:r>
              <a:rPr lang="en-SG" sz="1800" dirty="0" smtClean="0"/>
              <a:t>With a left click on </a:t>
            </a:r>
            <a:r>
              <a:rPr lang="en-SG" sz="1800" dirty="0" err="1" smtClean="0"/>
              <a:t>WampServer’s</a:t>
            </a:r>
            <a:r>
              <a:rPr lang="en-SG" sz="1800" dirty="0" smtClean="0"/>
              <a:t> icon, you will be able to:</a:t>
            </a:r>
            <a:br>
              <a:rPr lang="en-SG" sz="1800" dirty="0" smtClean="0"/>
            </a:br>
            <a:r>
              <a:rPr lang="en-SG" sz="1800" dirty="0" smtClean="0"/>
              <a:t>- manage your Apache and MySQL services</a:t>
            </a:r>
            <a:br>
              <a:rPr lang="en-SG" sz="1800" dirty="0" smtClean="0"/>
            </a:br>
            <a:r>
              <a:rPr lang="en-SG" sz="1800" dirty="0" smtClean="0"/>
              <a:t>- switch online/offline (give access to everyone or only </a:t>
            </a:r>
            <a:r>
              <a:rPr lang="en-SG" sz="1800" dirty="0" err="1" smtClean="0"/>
              <a:t>localhost</a:t>
            </a:r>
            <a:r>
              <a:rPr lang="en-SG" sz="1800" dirty="0" smtClean="0"/>
              <a:t>)</a:t>
            </a:r>
            <a:br>
              <a:rPr lang="en-SG" sz="1800" dirty="0" smtClean="0"/>
            </a:br>
            <a:r>
              <a:rPr lang="en-SG" sz="1800" dirty="0" smtClean="0"/>
              <a:t>- install and switch Apache, MySQL and PHP releases</a:t>
            </a:r>
            <a:br>
              <a:rPr lang="en-SG" sz="1800" dirty="0" smtClean="0"/>
            </a:br>
            <a:r>
              <a:rPr lang="en-SG" sz="1800" dirty="0" smtClean="0"/>
              <a:t>- manage your servers settings</a:t>
            </a:r>
            <a:br>
              <a:rPr lang="en-SG" sz="1800" dirty="0" smtClean="0"/>
            </a:br>
            <a:r>
              <a:rPr lang="en-SG" sz="1800" dirty="0" smtClean="0"/>
              <a:t>- access your logs</a:t>
            </a:r>
            <a:br>
              <a:rPr lang="en-SG" sz="1800" dirty="0" smtClean="0"/>
            </a:br>
            <a:r>
              <a:rPr lang="en-SG" sz="1800" dirty="0" smtClean="0"/>
              <a:t>- access your settings files</a:t>
            </a:r>
            <a:br>
              <a:rPr lang="en-SG" sz="1800" dirty="0" smtClean="0"/>
            </a:br>
            <a:r>
              <a:rPr lang="en-SG" sz="1800" dirty="0" smtClean="0"/>
              <a:t>- create alias</a:t>
            </a:r>
          </a:p>
          <a:p>
            <a:pPr>
              <a:spcAft>
                <a:spcPts val="1000"/>
              </a:spcAft>
            </a:pPr>
            <a:r>
              <a:rPr lang="en-SG" sz="1800" dirty="0" smtClean="0"/>
              <a:t>You will not see this dialog/panel (see left) if you are assessing from the school computer. The only to display it is from the browser: localhost:7070</a:t>
            </a:r>
            <a:endParaRPr lang="en-US" sz="1800" dirty="0" smtClean="0"/>
          </a:p>
          <a:p>
            <a:pPr>
              <a:spcAft>
                <a:spcPts val="1000"/>
              </a:spcAft>
            </a:pPr>
            <a:endParaRPr lang="en-SG" sz="16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2</a:t>
            </a:fld>
            <a:endParaRPr lang="en-US"/>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extLst>
              <p:ext uri="{D42A27DB-BD31-4B8C-83A1-F6EECF244321}">
                <p14:modId xmlns:p14="http://schemas.microsoft.com/office/powerpoint/2010/main" val="654847321"/>
              </p:ext>
            </p:extLst>
          </p:nvPr>
        </p:nvGraphicFramePr>
        <p:xfrm>
          <a:off x="5791200" y="1981200"/>
          <a:ext cx="3124200" cy="2498637"/>
        </p:xfrm>
        <a:graphic>
          <a:graphicData uri="http://schemas.openxmlformats.org/presentationml/2006/ole">
            <mc:AlternateContent xmlns:mc="http://schemas.openxmlformats.org/markup-compatibility/2006">
              <mc:Choice xmlns:v="urn:schemas-microsoft-com:vml" Requires="v">
                <p:oleObj spid="_x0000_s27658" r:id="rId4" imgW="3430688" imgH="2743200" progId="">
                  <p:embed/>
                </p:oleObj>
              </mc:Choice>
              <mc:Fallback>
                <p:oleObj r:id="rId4" imgW="3430688" imgH="2743200"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981200"/>
                        <a:ext cx="3124200" cy="2498637"/>
                      </a:xfrm>
                      <a:prstGeom prst="rect">
                        <a:avLst/>
                      </a:prstGeom>
                      <a:noFill/>
                      <a:extLst/>
                    </p:spPr>
                  </p:pic>
                </p:oleObj>
              </mc:Fallback>
            </mc:AlternateContent>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WAMP</a:t>
            </a:r>
            <a:r>
              <a:rPr lang="en-US" sz="3600" dirty="0" smtClean="0"/>
              <a:t> Overview</a:t>
            </a:r>
            <a:endParaRPr lang="en-US" sz="3600" dirty="0"/>
          </a:p>
        </p:txBody>
      </p:sp>
      <p:sp>
        <p:nvSpPr>
          <p:cNvPr id="3" name="Content Placeholder 2"/>
          <p:cNvSpPr>
            <a:spLocks noGrp="1"/>
          </p:cNvSpPr>
          <p:nvPr>
            <p:ph idx="1"/>
          </p:nvPr>
        </p:nvSpPr>
        <p:spPr>
          <a:xfrm>
            <a:off x="381000" y="1600200"/>
            <a:ext cx="7467600" cy="4038600"/>
          </a:xfrm>
        </p:spPr>
        <p:txBody>
          <a:bodyPr>
            <a:noAutofit/>
          </a:bodyPr>
          <a:lstStyle/>
          <a:p>
            <a:pPr>
              <a:spcAft>
                <a:spcPts val="1000"/>
              </a:spcAft>
            </a:pPr>
            <a:r>
              <a:rPr lang="en-US" sz="1800" dirty="0" smtClean="0"/>
              <a:t>APACHE – </a:t>
            </a:r>
            <a:r>
              <a:rPr lang="en-US" sz="1800" dirty="0" err="1" smtClean="0"/>
              <a:t>httpd.conf</a:t>
            </a:r>
            <a:r>
              <a:rPr lang="en-US" sz="1800" dirty="0" smtClean="0"/>
              <a:t> consists of the configuration file for your apache 	      server. Use this file to manage your server/port number/etc</a:t>
            </a:r>
          </a:p>
          <a:p>
            <a:pPr>
              <a:spcAft>
                <a:spcPts val="1000"/>
              </a:spcAft>
            </a:pPr>
            <a:r>
              <a:rPr lang="en-US" sz="1800" dirty="0" err="1" smtClean="0"/>
              <a:t>PHPMyAdMIN</a:t>
            </a:r>
            <a:r>
              <a:rPr lang="en-US" sz="1800" dirty="0" smtClean="0"/>
              <a:t> -</a:t>
            </a:r>
            <a:r>
              <a:rPr lang="en-SG" sz="1800" dirty="0" smtClean="0"/>
              <a:t> </a:t>
            </a:r>
            <a:r>
              <a:rPr lang="en-SG" sz="1800" dirty="0" err="1" smtClean="0"/>
              <a:t>phpMyAdmin</a:t>
            </a:r>
            <a:r>
              <a:rPr lang="en-SG" sz="1800" dirty="0" smtClean="0"/>
              <a:t> is a free software tool written in </a:t>
            </a:r>
            <a:r>
              <a:rPr lang="en-SG" sz="1800" dirty="0" err="1" smtClean="0">
                <a:hlinkClick r:id="rId4"/>
              </a:rPr>
              <a:t>PHP</a:t>
            </a:r>
            <a:r>
              <a:rPr lang="en-SG" sz="1800" dirty="0" smtClean="0"/>
              <a:t>, intended to handle the administration of </a:t>
            </a:r>
            <a:r>
              <a:rPr lang="en-SG" sz="1800" dirty="0" err="1" smtClean="0">
                <a:hlinkClick r:id="rId5"/>
              </a:rPr>
              <a:t>MySQL</a:t>
            </a:r>
            <a:r>
              <a:rPr lang="en-SG" sz="1800" dirty="0" smtClean="0"/>
              <a:t> over the World Wide Web. </a:t>
            </a:r>
            <a:r>
              <a:rPr lang="en-SG" sz="1800" dirty="0" err="1" smtClean="0"/>
              <a:t>phpMyAdmin</a:t>
            </a:r>
            <a:r>
              <a:rPr lang="en-SG" sz="1800" dirty="0" smtClean="0"/>
              <a:t> supports a wide range of operations with </a:t>
            </a:r>
            <a:r>
              <a:rPr lang="en-SG" sz="1800" dirty="0" err="1" smtClean="0"/>
              <a:t>MySQL</a:t>
            </a:r>
            <a:r>
              <a:rPr lang="en-SG" sz="1800" dirty="0" smtClean="0"/>
              <a:t>. The most frequently used operations are supported by the user interface (managing databases, tables, fields, relations, indexes, users, permissions, etc), while you still have the ability to directly execute any SQL statement.</a:t>
            </a:r>
            <a:endParaRPr lang="en-US" sz="1800" dirty="0" smtClean="0"/>
          </a:p>
          <a:p>
            <a:pPr>
              <a:spcAft>
                <a:spcPts val="1000"/>
              </a:spcAft>
            </a:pPr>
            <a:r>
              <a:rPr lang="en-US" sz="1800" dirty="0" err="1" smtClean="0"/>
              <a:t>MySQL</a:t>
            </a:r>
            <a:r>
              <a:rPr lang="en-US" sz="1800" dirty="0" smtClean="0"/>
              <a:t>  - allows access to </a:t>
            </a:r>
            <a:r>
              <a:rPr lang="en-US" sz="1800" dirty="0" err="1" smtClean="0"/>
              <a:t>MySQL</a:t>
            </a:r>
            <a:r>
              <a:rPr lang="en-US" sz="1800" dirty="0" smtClean="0"/>
              <a:t> console, where you can issue commands to create, update, delete, manipulate data in your databases in your server using SQL commands.</a:t>
            </a:r>
            <a:endParaRPr lang="en-US" sz="1400" dirty="0" smtClean="0"/>
          </a:p>
          <a:p>
            <a:pPr>
              <a:spcAft>
                <a:spcPts val="1000"/>
              </a:spcAft>
            </a:pPr>
            <a:endParaRPr lang="en-SG" sz="16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nvGraphicFramePr>
        <p:xfrm>
          <a:off x="6705600" y="5029200"/>
          <a:ext cx="1714996" cy="1371600"/>
        </p:xfrm>
        <a:graphic>
          <a:graphicData uri="http://schemas.openxmlformats.org/presentationml/2006/ole">
            <mc:AlternateContent xmlns:mc="http://schemas.openxmlformats.org/markup-compatibility/2006">
              <mc:Choice xmlns:v="urn:schemas-microsoft-com:vml" Requires="v">
                <p:oleObj spid="_x0000_s28682" r:id="rId6" imgW="3430688" imgH="2743200" progId="">
                  <p:embed/>
                </p:oleObj>
              </mc:Choice>
              <mc:Fallback>
                <p:oleObj r:id="rId6" imgW="3430688" imgH="274320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5029200"/>
                        <a:ext cx="1714996"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WAMP</a:t>
            </a:r>
            <a:r>
              <a:rPr lang="en-US" sz="3600" dirty="0" smtClean="0"/>
              <a:t> Installation</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pPr>
              <a:spcAft>
                <a:spcPts val="1000"/>
              </a:spcAft>
            </a:pPr>
            <a:r>
              <a:rPr lang="en-SG" dirty="0" smtClean="0"/>
              <a:t>Get your </a:t>
            </a:r>
            <a:r>
              <a:rPr lang="en-SG" dirty="0" err="1" smtClean="0"/>
              <a:t>WAMP</a:t>
            </a:r>
            <a:r>
              <a:rPr lang="en-SG" dirty="0" smtClean="0"/>
              <a:t> from </a:t>
            </a:r>
            <a:r>
              <a:rPr lang="en-SG" u="sng" dirty="0" smtClean="0">
                <a:hlinkClick r:id="rId3"/>
              </a:rPr>
              <a:t>http://www.wampserver.com</a:t>
            </a:r>
            <a:endParaRPr lang="en-SG" u="sng" dirty="0" smtClean="0"/>
          </a:p>
          <a:p>
            <a:pPr lvl="1">
              <a:spcAft>
                <a:spcPts val="1000"/>
              </a:spcAft>
            </a:pPr>
            <a:r>
              <a:rPr lang="en-SG" dirty="0" smtClean="0"/>
              <a:t>Choose 32 or 64 bit OS.</a:t>
            </a:r>
          </a:p>
          <a:p>
            <a:pPr fontAlgn="base"/>
            <a:r>
              <a:rPr lang="en-SG" sz="1800" b="1" dirty="0" smtClean="0"/>
              <a:t>WARNING :</a:t>
            </a:r>
            <a:r>
              <a:rPr lang="en-SG" sz="1800" dirty="0" smtClean="0"/>
              <a:t> You must install Visual C++ 2010 SP1 Redistributable Package x86 or x64</a:t>
            </a:r>
            <a:endParaRPr lang="en-US" sz="1800" dirty="0" smtClean="0"/>
          </a:p>
          <a:p>
            <a:pPr fontAlgn="base"/>
            <a:r>
              <a:rPr lang="en-US" sz="1800" dirty="0" smtClean="0"/>
              <a:t>VC10 SP1 vcredist_x86.exe 32 bits : </a:t>
            </a:r>
            <a:r>
              <a:rPr lang="en-US" sz="1800" u="sng" dirty="0" smtClean="0">
                <a:hlinkClick r:id="rId4"/>
              </a:rPr>
              <a:t>http://www.microsoft.com/download/en/details.aspx?id=8328</a:t>
            </a:r>
            <a:endParaRPr lang="en-US" sz="2000" dirty="0" smtClean="0"/>
          </a:p>
          <a:p>
            <a:pPr fontAlgn="base"/>
            <a:r>
              <a:rPr lang="en-US" sz="1800" dirty="0" smtClean="0"/>
              <a:t>VC10 SP1 vcredist_x64.exe 64 bits : </a:t>
            </a:r>
            <a:r>
              <a:rPr lang="en-US" sz="1800" u="sng" dirty="0" smtClean="0">
                <a:hlinkClick r:id="rId5"/>
              </a:rPr>
              <a:t>http://www.microsoft.com/download/en/details.aspx?id=13523</a:t>
            </a:r>
            <a:endParaRPr lang="en-US" sz="2000" dirty="0" smtClean="0"/>
          </a:p>
          <a:p>
            <a:pPr fontAlgn="base"/>
            <a:r>
              <a:rPr lang="en-SG" sz="1800" b="1" dirty="0" smtClean="0"/>
              <a:t>WARNING :</a:t>
            </a:r>
            <a:r>
              <a:rPr lang="en-SG" sz="1800" dirty="0" smtClean="0"/>
              <a:t> Do not try to install </a:t>
            </a:r>
            <a:r>
              <a:rPr lang="en-SG" sz="1800" dirty="0" err="1" smtClean="0"/>
              <a:t>WampServer</a:t>
            </a:r>
            <a:r>
              <a:rPr lang="en-SG" sz="1800" dirty="0" smtClean="0"/>
              <a:t> 2 over WAMP5.</a:t>
            </a:r>
            <a:endParaRPr lang="en-US" sz="1800" dirty="0" smtClean="0"/>
          </a:p>
          <a:p>
            <a:pPr lvl="1">
              <a:spcAft>
                <a:spcPts val="1000"/>
              </a:spcAft>
            </a:pPr>
            <a:endParaRPr lang="en-SG" dirty="0" smtClean="0"/>
          </a:p>
          <a:p>
            <a:pPr lvl="1">
              <a:spcAft>
                <a:spcPts val="1000"/>
              </a:spcAft>
            </a:pPr>
            <a:endParaRPr lang="en-SG" dirty="0" smtClean="0"/>
          </a:p>
          <a:p>
            <a:pPr lvl="1">
              <a:spcAft>
                <a:spcPts val="1000"/>
              </a:spcAft>
            </a:pPr>
            <a:endParaRPr lang="en-US" dirty="0" smtClean="0"/>
          </a:p>
        </p:txBody>
      </p:sp>
      <p:pic>
        <p:nvPicPr>
          <p:cNvPr id="1026" name="Picture 2" descr="http://4.bp.blogspot.com/-qFCNef4gmmk/TwPbWT49DuI/AAAAAAAAAOc/ytx0uCWKfls/s320/HTML5_Logo_51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34200" y="381000"/>
            <a:ext cx="1447799" cy="144780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 presetClass="entr" presetSubtype="0" fill="hold" nodeType="withEffect">
                                  <p:stCondLst>
                                    <p:cond delay="0"/>
                                  </p:stCondLst>
                                  <p:childTnLst>
                                    <p:set>
                                      <p:cBhvr>
                                        <p:cTn id="3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Jumpstart to PHP, </a:t>
            </a:r>
            <a:r>
              <a:rPr lang="en-US" sz="3600" dirty="0" err="1" smtClean="0"/>
              <a:t>MySQL</a:t>
            </a:r>
            <a:endParaRPr lang="en-US" sz="3600" dirty="0"/>
          </a:p>
        </p:txBody>
      </p:sp>
      <p:sp>
        <p:nvSpPr>
          <p:cNvPr id="3" name="Content Placeholder 2"/>
          <p:cNvSpPr>
            <a:spLocks noGrp="1"/>
          </p:cNvSpPr>
          <p:nvPr>
            <p:ph idx="1"/>
          </p:nvPr>
        </p:nvSpPr>
        <p:spPr>
          <a:xfrm>
            <a:off x="381000" y="1600200"/>
            <a:ext cx="8382000" cy="2667000"/>
          </a:xfrm>
        </p:spPr>
        <p:txBody>
          <a:bodyPr>
            <a:noAutofit/>
          </a:bodyPr>
          <a:lstStyle/>
          <a:p>
            <a:pPr>
              <a:spcAft>
                <a:spcPts val="1000"/>
              </a:spcAft>
            </a:pPr>
            <a:r>
              <a:rPr lang="en-US" sz="2000" dirty="0" smtClean="0"/>
              <a:t>The root folder will be created during installation: </a:t>
            </a:r>
            <a:r>
              <a:rPr lang="en-US" sz="2000" dirty="0" err="1" smtClean="0"/>
              <a:t>Eg</a:t>
            </a:r>
            <a:r>
              <a:rPr lang="en-US" sz="2000" dirty="0" smtClean="0"/>
              <a:t>. </a:t>
            </a:r>
            <a:r>
              <a:rPr lang="en-SG" sz="2000" dirty="0" err="1" smtClean="0"/>
              <a:t>c:/wamp/www</a:t>
            </a:r>
            <a:r>
              <a:rPr lang="en-SG" sz="2000" dirty="0" smtClean="0"/>
              <a:t>.</a:t>
            </a:r>
          </a:p>
          <a:p>
            <a:pPr>
              <a:spcAft>
                <a:spcPts val="1000"/>
              </a:spcAft>
            </a:pPr>
            <a:endParaRPr lang="en-US" sz="2000" dirty="0" smtClean="0"/>
          </a:p>
          <a:p>
            <a:pPr>
              <a:spcAft>
                <a:spcPts val="1000"/>
              </a:spcAft>
            </a:pPr>
            <a:endParaRPr lang="en-US" sz="2000" dirty="0" smtClean="0"/>
          </a:p>
          <a:p>
            <a:pPr>
              <a:spcAft>
                <a:spcPts val="1000"/>
              </a:spcAft>
            </a:pPr>
            <a:endParaRPr lang="en-US" sz="2000" dirty="0" smtClean="0"/>
          </a:p>
          <a:p>
            <a:pPr>
              <a:spcAft>
                <a:spcPts val="1000"/>
              </a:spcAft>
            </a:pPr>
            <a:endParaRPr lang="en-US" sz="2000" dirty="0" smtClean="0"/>
          </a:p>
          <a:p>
            <a:endParaRPr lang="en-US" sz="2000" dirty="0" smtClean="0"/>
          </a:p>
          <a:p>
            <a:endParaRPr lang="en-US" sz="2000" dirty="0" smtClean="0"/>
          </a:p>
          <a:p>
            <a:endParaRPr lang="en-US" sz="2000" dirty="0" smtClean="0"/>
          </a:p>
          <a:p>
            <a:endParaRPr lang="en-US" sz="2000" dirty="0" smtClean="0"/>
          </a:p>
          <a:p>
            <a:endParaRPr lang="en-SG" sz="2000" dirty="0" smtClean="0"/>
          </a:p>
          <a:p>
            <a:r>
              <a:rPr lang="en-US" sz="2000" dirty="0" smtClean="0"/>
              <a:t>This is where you will place all the .</a:t>
            </a:r>
            <a:r>
              <a:rPr lang="en-US" sz="2000" dirty="0" err="1" smtClean="0"/>
              <a:t>php</a:t>
            </a:r>
            <a:r>
              <a:rPr lang="en-US" sz="2000" dirty="0" smtClean="0"/>
              <a:t> files and access them from the browser via the </a:t>
            </a:r>
            <a:r>
              <a:rPr lang="en-US" sz="2000" dirty="0" err="1" smtClean="0"/>
              <a:t>localhost</a:t>
            </a:r>
            <a:r>
              <a:rPr lang="en-US" sz="2000" dirty="0" smtClean="0"/>
              <a:t>.</a:t>
            </a:r>
          </a:p>
          <a:p>
            <a:pPr>
              <a:spcAft>
                <a:spcPts val="1000"/>
              </a:spcAft>
              <a:buNone/>
            </a:pPr>
            <a:endParaRPr lang="en-US" sz="2000" dirty="0" smtClean="0"/>
          </a:p>
          <a:p>
            <a:pPr>
              <a:spcAft>
                <a:spcPts val="1000"/>
              </a:spcAft>
            </a:pPr>
            <a:endParaRPr lang="en-SG" sz="18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pic>
        <p:nvPicPr>
          <p:cNvPr id="7" name="Picture 6"/>
          <p:cNvPicPr/>
          <p:nvPr/>
        </p:nvPicPr>
        <p:blipFill>
          <a:blip r:embed="rId3" cstate="print"/>
          <a:srcRect/>
          <a:stretch>
            <a:fillRect/>
          </a:stretch>
        </p:blipFill>
        <p:spPr bwMode="auto">
          <a:xfrm>
            <a:off x="457200" y="2133600"/>
            <a:ext cx="4724400" cy="3604260"/>
          </a:xfrm>
          <a:prstGeom prst="rect">
            <a:avLst/>
          </a:prstGeom>
          <a:noFill/>
          <a:ln w="9525">
            <a:noFill/>
            <a:miter lim="800000"/>
            <a:headEnd/>
            <a:tailEnd/>
          </a:ln>
        </p:spPr>
      </p:pic>
      <p:pic>
        <p:nvPicPr>
          <p:cNvPr id="4098" name="Picture 2"/>
          <p:cNvPicPr>
            <a:picLocks noChangeAspect="1" noChangeArrowheads="1"/>
          </p:cNvPicPr>
          <p:nvPr/>
        </p:nvPicPr>
        <p:blipFill>
          <a:blip r:embed="rId4" cstate="print"/>
          <a:srcRect/>
          <a:stretch>
            <a:fillRect/>
          </a:stretch>
        </p:blipFill>
        <p:spPr bwMode="auto">
          <a:xfrm>
            <a:off x="4038600" y="2057400"/>
            <a:ext cx="4774348" cy="3267075"/>
          </a:xfrm>
          <a:prstGeom prst="rect">
            <a:avLst/>
          </a:prstGeom>
          <a:noFill/>
          <a:ln w="9525">
            <a:noFill/>
            <a:miter lim="800000"/>
            <a:headEnd/>
            <a:tailEnd/>
          </a:ln>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fade">
                                      <p:cBhvr>
                                        <p:cTn id="1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Jumpstart to PHP, </a:t>
            </a:r>
            <a:r>
              <a:rPr lang="en-US" sz="3600" dirty="0" err="1" smtClean="0"/>
              <a:t>MySQL</a:t>
            </a:r>
            <a:endParaRPr lang="en-US" sz="3600" dirty="0"/>
          </a:p>
        </p:txBody>
      </p:sp>
      <p:sp>
        <p:nvSpPr>
          <p:cNvPr id="3" name="Content Placeholder 2"/>
          <p:cNvSpPr>
            <a:spLocks noGrp="1"/>
          </p:cNvSpPr>
          <p:nvPr>
            <p:ph idx="1"/>
          </p:nvPr>
        </p:nvSpPr>
        <p:spPr>
          <a:xfrm>
            <a:off x="381000" y="1600200"/>
            <a:ext cx="3733800" cy="4038600"/>
          </a:xfrm>
        </p:spPr>
        <p:txBody>
          <a:bodyPr>
            <a:noAutofit/>
          </a:bodyPr>
          <a:lstStyle/>
          <a:p>
            <a:pPr>
              <a:spcAft>
                <a:spcPts val="1000"/>
              </a:spcAft>
            </a:pPr>
            <a:r>
              <a:rPr lang="en-US" sz="2400" dirty="0" smtClean="0"/>
              <a:t>After installation, start all services. Or if you made changes to </a:t>
            </a:r>
            <a:r>
              <a:rPr lang="en-US" sz="2400" dirty="0" err="1" smtClean="0"/>
              <a:t>httpd.conf</a:t>
            </a:r>
            <a:r>
              <a:rPr lang="en-US" sz="2400" dirty="0" smtClean="0"/>
              <a:t> (configuration file) </a:t>
            </a:r>
            <a:r>
              <a:rPr lang="en-US" sz="1800" dirty="0" smtClean="0"/>
              <a:t>or</a:t>
            </a:r>
            <a:r>
              <a:rPr lang="en-US" sz="2400" dirty="0" smtClean="0"/>
              <a:t> any other </a:t>
            </a:r>
            <a:r>
              <a:rPr lang="en-US" sz="2400" dirty="0" err="1" smtClean="0"/>
              <a:t>config</a:t>
            </a:r>
            <a:r>
              <a:rPr lang="en-US" sz="2400" dirty="0" smtClean="0"/>
              <a:t> files, you will have to restart the services.</a:t>
            </a:r>
          </a:p>
          <a:p>
            <a:pPr>
              <a:spcAft>
                <a:spcPts val="1000"/>
              </a:spcAft>
            </a:pPr>
            <a:endParaRPr lang="en-US" sz="2400" dirty="0" smtClean="0"/>
          </a:p>
          <a:p>
            <a:pPr>
              <a:spcAft>
                <a:spcPts val="1000"/>
              </a:spcAft>
            </a:pPr>
            <a:endParaRPr lang="en-SG" sz="20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nvGraphicFramePr>
        <p:xfrm>
          <a:off x="4343400" y="1905000"/>
          <a:ext cx="4362919" cy="3489325"/>
        </p:xfrm>
        <a:graphic>
          <a:graphicData uri="http://schemas.openxmlformats.org/presentationml/2006/ole">
            <mc:AlternateContent xmlns:mc="http://schemas.openxmlformats.org/markup-compatibility/2006">
              <mc:Choice xmlns:v="urn:schemas-microsoft-com:vml" Requires="v">
                <p:oleObj spid="_x0000_s2057" r:id="rId4" imgW="3430688" imgH="2743200" progId="">
                  <p:embed/>
                </p:oleObj>
              </mc:Choice>
              <mc:Fallback>
                <p:oleObj r:id="rId4" imgW="3430688" imgH="2743200"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1905000"/>
                        <a:ext cx="4362919" cy="348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Syntax</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&lt;?</a:t>
            </a:r>
            <a:r>
              <a:rPr lang="en-US" sz="3200" dirty="0" err="1" smtClean="0"/>
              <a:t>php</a:t>
            </a:r>
            <a:r>
              <a:rPr lang="en-US" sz="3200" dirty="0" smtClean="0"/>
              <a:t> ….. ?&gt; </a:t>
            </a:r>
          </a:p>
          <a:p>
            <a:pPr>
              <a:spcAft>
                <a:spcPts val="1000"/>
              </a:spcAft>
            </a:pPr>
            <a:r>
              <a:rPr lang="en-US" sz="3200" dirty="0" smtClean="0"/>
              <a:t>Any code within the &lt;?</a:t>
            </a:r>
            <a:r>
              <a:rPr lang="en-US" sz="3200" dirty="0" err="1" smtClean="0"/>
              <a:t>php</a:t>
            </a:r>
            <a:r>
              <a:rPr lang="en-US" sz="3200" dirty="0" smtClean="0"/>
              <a:t> ….. ?&gt; tags are interpreted as </a:t>
            </a:r>
            <a:r>
              <a:rPr lang="en-US" sz="3200" dirty="0" err="1" smtClean="0"/>
              <a:t>php</a:t>
            </a:r>
            <a:r>
              <a:rPr lang="en-US" sz="3200" dirty="0" smtClean="0"/>
              <a:t> codes</a:t>
            </a:r>
          </a:p>
          <a:p>
            <a:pPr>
              <a:spcAft>
                <a:spcPts val="1000"/>
              </a:spcAft>
            </a:pPr>
            <a:r>
              <a:rPr lang="en-US" sz="3200" dirty="0" smtClean="0"/>
              <a:t>A </a:t>
            </a:r>
            <a:r>
              <a:rPr lang="en-US" sz="3200" dirty="0" err="1" smtClean="0"/>
              <a:t>php</a:t>
            </a:r>
            <a:r>
              <a:rPr lang="en-US" sz="3200" dirty="0" smtClean="0"/>
              <a:t> document can include html tag, which will be parsed like any other html tags in the browser</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Jumpstart to PHP, </a:t>
            </a:r>
            <a:r>
              <a:rPr lang="en-US" sz="3600" dirty="0" err="1" smtClean="0"/>
              <a:t>MySQL</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For example the following Helloworld.php is created (using notepad++) and saved in the root folder.</a:t>
            </a:r>
          </a:p>
          <a:p>
            <a:pPr>
              <a:spcAft>
                <a:spcPts val="1000"/>
              </a:spcAft>
            </a:pPr>
            <a:endParaRPr lang="en-US" sz="3200" dirty="0" smtClean="0"/>
          </a:p>
          <a:p>
            <a:pPr>
              <a:spcAft>
                <a:spcPts val="1000"/>
              </a:spcAft>
            </a:pPr>
            <a:endParaRPr lang="en-US" sz="3200" dirty="0" smtClean="0"/>
          </a:p>
          <a:p>
            <a:pPr>
              <a:spcAft>
                <a:spcPts val="1000"/>
              </a:spcAft>
            </a:pPr>
            <a:endParaRPr lang="en-US" sz="3200" dirty="0" smtClean="0"/>
          </a:p>
          <a:p>
            <a:pPr>
              <a:spcAft>
                <a:spcPts val="1000"/>
              </a:spcAft>
            </a:pPr>
            <a:endParaRPr lang="en-US" sz="3200" dirty="0" smtClean="0"/>
          </a:p>
          <a:p>
            <a:pPr>
              <a:spcAft>
                <a:spcPts val="1000"/>
              </a:spcAft>
            </a:pPr>
            <a:r>
              <a:rPr lang="en-US" sz="3200" dirty="0" smtClean="0"/>
              <a:t>We may then access it from the browser</a:t>
            </a:r>
          </a:p>
          <a:p>
            <a:pPr>
              <a:spcAft>
                <a:spcPts val="1000"/>
              </a:spcAft>
            </a:pPr>
            <a:endParaRPr lang="en-SG" sz="28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pic>
        <p:nvPicPr>
          <p:cNvPr id="6" name="Picture 5" descr="C:\Users\Tommy\Desktop\ScreenHunter_19 Oct. 10 10.32.jpg"/>
          <p:cNvPicPr/>
          <p:nvPr/>
        </p:nvPicPr>
        <p:blipFill>
          <a:blip r:embed="rId3" cstate="print"/>
          <a:srcRect/>
          <a:stretch>
            <a:fillRect/>
          </a:stretch>
        </p:blipFill>
        <p:spPr bwMode="auto">
          <a:xfrm>
            <a:off x="1828800" y="3505200"/>
            <a:ext cx="4914900" cy="2545080"/>
          </a:xfrm>
          <a:prstGeom prst="rect">
            <a:avLst/>
          </a:prstGeom>
          <a:noFill/>
          <a:ln w="9525">
            <a:noFill/>
            <a:miter lim="800000"/>
            <a:headEnd/>
            <a:tailEnd/>
          </a:ln>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Jumpstart to PHP, </a:t>
            </a:r>
            <a:r>
              <a:rPr lang="en-US" sz="3600" dirty="0" err="1" smtClean="0"/>
              <a:t>MySQL</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For example the following Helloworld.php is created (using notepad++) and saved in the root folder.</a:t>
            </a:r>
          </a:p>
          <a:p>
            <a:pPr>
              <a:spcAft>
                <a:spcPts val="1000"/>
              </a:spcAft>
            </a:pPr>
            <a:endParaRPr lang="en-US" sz="3200" dirty="0" smtClean="0"/>
          </a:p>
          <a:p>
            <a:pPr>
              <a:spcAft>
                <a:spcPts val="1000"/>
              </a:spcAft>
            </a:pPr>
            <a:endParaRPr lang="en-US" sz="3200" dirty="0" smtClean="0"/>
          </a:p>
          <a:p>
            <a:pPr>
              <a:spcAft>
                <a:spcPts val="1000"/>
              </a:spcAft>
            </a:pPr>
            <a:endParaRPr lang="en-US" sz="3200" dirty="0" smtClean="0"/>
          </a:p>
          <a:p>
            <a:pPr>
              <a:spcAft>
                <a:spcPts val="1000"/>
              </a:spcAft>
            </a:pPr>
            <a:endParaRPr lang="en-US" sz="3200" dirty="0" smtClean="0"/>
          </a:p>
          <a:p>
            <a:pPr>
              <a:spcAft>
                <a:spcPts val="1000"/>
              </a:spcAft>
            </a:pPr>
            <a:r>
              <a:rPr lang="en-US" sz="3200" dirty="0" smtClean="0"/>
              <a:t> </a:t>
            </a:r>
            <a:endParaRPr lang="en-SG" sz="28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pic>
        <p:nvPicPr>
          <p:cNvPr id="4097" name="Picture 1" descr="C:\Users\Tommy\Desktop\ScreenHunter_19 Oct. 10 11.30.jpg"/>
          <p:cNvPicPr>
            <a:picLocks noChangeAspect="1" noChangeArrowheads="1"/>
          </p:cNvPicPr>
          <p:nvPr/>
        </p:nvPicPr>
        <p:blipFill>
          <a:blip r:embed="rId3" cstate="print"/>
          <a:srcRect/>
          <a:stretch>
            <a:fillRect/>
          </a:stretch>
        </p:blipFill>
        <p:spPr bwMode="auto">
          <a:xfrm>
            <a:off x="990600" y="3733800"/>
            <a:ext cx="6273800" cy="1981200"/>
          </a:xfrm>
          <a:prstGeom prst="rect">
            <a:avLst/>
          </a:prstGeom>
          <a:noFill/>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Variables</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Start with a $</a:t>
            </a:r>
          </a:p>
          <a:p>
            <a:pPr>
              <a:spcAft>
                <a:spcPts val="1000"/>
              </a:spcAft>
            </a:pPr>
            <a:r>
              <a:rPr lang="en-US" sz="3200" dirty="0" smtClean="0"/>
              <a:t>Followed by letter or underscore</a:t>
            </a:r>
          </a:p>
          <a:p>
            <a:pPr>
              <a:spcAft>
                <a:spcPts val="1000"/>
              </a:spcAft>
            </a:pPr>
            <a:r>
              <a:rPr lang="en-US" sz="3200" dirty="0" smtClean="0"/>
              <a:t>Can contain letters. Numbers, underscores or dashes</a:t>
            </a:r>
          </a:p>
          <a:p>
            <a:pPr>
              <a:spcAft>
                <a:spcPts val="1000"/>
              </a:spcAft>
            </a:pPr>
            <a:r>
              <a:rPr lang="en-US" sz="3200" dirty="0" smtClean="0"/>
              <a:t>No spaces</a:t>
            </a:r>
          </a:p>
          <a:p>
            <a:pPr>
              <a:spcAft>
                <a:spcPts val="1000"/>
              </a:spcAft>
            </a:pPr>
            <a:r>
              <a:rPr lang="en-US" sz="3200" dirty="0" smtClean="0"/>
              <a:t>Case sensitive</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Variables</a:t>
            </a:r>
            <a:endParaRPr lang="en-US" sz="3600" dirty="0"/>
          </a:p>
        </p:txBody>
      </p:sp>
      <p:sp>
        <p:nvSpPr>
          <p:cNvPr id="3" name="Content Placeholder 2"/>
          <p:cNvSpPr>
            <a:spLocks noGrp="1"/>
          </p:cNvSpPr>
          <p:nvPr>
            <p:ph idx="1"/>
          </p:nvPr>
        </p:nvSpPr>
        <p:spPr>
          <a:xfrm>
            <a:off x="381000" y="1600200"/>
            <a:ext cx="7395380" cy="2667000"/>
          </a:xfrm>
        </p:spPr>
        <p:txBody>
          <a:bodyPr>
            <a:noAutofit/>
          </a:bodyPr>
          <a:lstStyle/>
          <a:p>
            <a:pPr>
              <a:spcAft>
                <a:spcPts val="1000"/>
              </a:spcAft>
            </a:pPr>
            <a:r>
              <a:rPr lang="en-US" sz="3200" dirty="0" smtClean="0"/>
              <a:t>Examples</a:t>
            </a:r>
          </a:p>
          <a:p>
            <a:pPr lvl="1">
              <a:spcAft>
                <a:spcPts val="1000"/>
              </a:spcAft>
            </a:pPr>
            <a:r>
              <a:rPr lang="en-US" dirty="0" smtClean="0"/>
              <a:t>$item</a:t>
            </a:r>
          </a:p>
          <a:p>
            <a:pPr lvl="1">
              <a:spcAft>
                <a:spcPts val="1000"/>
              </a:spcAft>
            </a:pPr>
            <a:r>
              <a:rPr lang="en-US" dirty="0" smtClean="0"/>
              <a:t>$Item</a:t>
            </a:r>
          </a:p>
          <a:p>
            <a:pPr lvl="1">
              <a:spcAft>
                <a:spcPts val="1000"/>
              </a:spcAft>
            </a:pPr>
            <a:r>
              <a:rPr lang="en-US" dirty="0" smtClean="0"/>
              <a:t>$</a:t>
            </a:r>
            <a:r>
              <a:rPr lang="en-US" dirty="0" err="1" smtClean="0"/>
              <a:t>myVariable</a:t>
            </a:r>
            <a:endParaRPr lang="en-US" dirty="0" smtClean="0"/>
          </a:p>
          <a:p>
            <a:pPr lvl="1">
              <a:spcAft>
                <a:spcPts val="1000"/>
              </a:spcAft>
            </a:pPr>
            <a:r>
              <a:rPr lang="en-US" dirty="0" smtClean="0"/>
              <a:t>$</a:t>
            </a:r>
            <a:r>
              <a:rPr lang="en-US" dirty="0" err="1" smtClean="0"/>
              <a:t>this_variable</a:t>
            </a:r>
            <a:endParaRPr lang="en-US" dirty="0" smtClean="0"/>
          </a:p>
          <a:p>
            <a:pPr lvl="1">
              <a:spcAft>
                <a:spcPts val="1000"/>
              </a:spcAft>
              <a:buNone/>
            </a:pPr>
            <a:r>
              <a:rPr lang="en-US" dirty="0" smtClean="0"/>
              <a:t>X   $this-variable  ( avoid Hyphens)</a:t>
            </a:r>
          </a:p>
          <a:p>
            <a:pPr lvl="1">
              <a:spcAft>
                <a:spcPts val="1000"/>
              </a:spcAft>
            </a:pPr>
            <a:r>
              <a:rPr lang="en-US" dirty="0" smtClean="0"/>
              <a:t>$product3</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11</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pPr>
              <a:spcAft>
                <a:spcPts val="1000"/>
              </a:spcAft>
            </a:pPr>
            <a:r>
              <a:rPr lang="en-US" sz="3200" dirty="0" smtClean="0"/>
              <a:t>. Operator - concatenate </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
        <p:nvSpPr>
          <p:cNvPr id="6" name="Content Placeholder 2"/>
          <p:cNvSpPr txBox="1">
            <a:spLocks/>
          </p:cNvSpPr>
          <p:nvPr/>
        </p:nvSpPr>
        <p:spPr>
          <a:xfrm>
            <a:off x="609600" y="2743200"/>
            <a:ext cx="739538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lang="en-US" sz="3200" dirty="0" smtClean="0"/>
              <a:t>&lt;?</a:t>
            </a:r>
            <a:r>
              <a:rPr lang="en-US" sz="3200" dirty="0" err="1" smtClean="0"/>
              <a:t>php</a:t>
            </a:r>
            <a:r>
              <a:rPr lang="en-US" sz="3200" dirty="0" smtClean="0"/>
              <a:t/>
            </a:r>
            <a:br>
              <a:rPr lang="en-US" sz="3200" dirty="0" smtClean="0"/>
            </a:br>
            <a:r>
              <a:rPr lang="en-US" sz="3200" dirty="0" smtClean="0"/>
              <a:t>$txt1="Hello World!";</a:t>
            </a:r>
            <a:br>
              <a:rPr lang="en-US" sz="3200" dirty="0" smtClean="0"/>
            </a:br>
            <a:r>
              <a:rPr lang="en-US" sz="3200" dirty="0" smtClean="0"/>
              <a:t>$txt2="What a nice day!";</a:t>
            </a:r>
            <a:br>
              <a:rPr lang="en-US" sz="3200" dirty="0" smtClean="0"/>
            </a:br>
            <a:r>
              <a:rPr lang="en-US" sz="3200" dirty="0" smtClean="0"/>
              <a:t>echo $txt1 . " " . $txt2;</a:t>
            </a:r>
            <a:br>
              <a:rPr lang="en-US" sz="3200" dirty="0" smtClean="0"/>
            </a:br>
            <a:r>
              <a:rPr lang="en-US" sz="3200" dirty="0" smtClean="0"/>
              <a:t>?&gt;</a:t>
            </a:r>
          </a:p>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Output: </a:t>
            </a:r>
          </a:p>
          <a:p>
            <a:pPr marL="342900" lvl="0" indent="-342900">
              <a:spcBef>
                <a:spcPct val="20000"/>
              </a:spcBef>
              <a:spcAft>
                <a:spcPts val="1000"/>
              </a:spcAft>
              <a:buClr>
                <a:schemeClr val="accent1">
                  <a:lumMod val="75000"/>
                </a:schemeClr>
              </a:buClr>
              <a:buSzPct val="70000"/>
            </a:pPr>
            <a:r>
              <a:rPr lang="en-US" sz="3200" dirty="0" smtClean="0"/>
              <a:t> Hello World! What a nice day!</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err="1" smtClean="0"/>
              <a:t>strlen</a:t>
            </a:r>
            <a:r>
              <a:rPr lang="en-US" sz="3200" dirty="0" smtClean="0"/>
              <a:t>() function</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
        <p:nvSpPr>
          <p:cNvPr id="6" name="Content Placeholder 2"/>
          <p:cNvSpPr txBox="1">
            <a:spLocks/>
          </p:cNvSpPr>
          <p:nvPr/>
        </p:nvSpPr>
        <p:spPr>
          <a:xfrm>
            <a:off x="533400" y="2286000"/>
            <a:ext cx="739538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lang="en-US" sz="3200" dirty="0" smtClean="0"/>
              <a:t>&lt;?</a:t>
            </a:r>
            <a:r>
              <a:rPr lang="en-US" sz="3200" dirty="0" err="1" smtClean="0"/>
              <a:t>php</a:t>
            </a:r>
            <a:r>
              <a:rPr lang="en-US" sz="3200" dirty="0" smtClean="0"/>
              <a:t/>
            </a:r>
            <a:br>
              <a:rPr lang="en-US" sz="3200" dirty="0" smtClean="0"/>
            </a:br>
            <a:r>
              <a:rPr lang="en-US" sz="3200" dirty="0" smtClean="0"/>
              <a:t>echo </a:t>
            </a:r>
            <a:r>
              <a:rPr lang="en-US" sz="3200" dirty="0" err="1" smtClean="0"/>
              <a:t>strlen</a:t>
            </a:r>
            <a:r>
              <a:rPr lang="en-US" sz="3200" dirty="0" smtClean="0"/>
              <a:t>("Hello world!");</a:t>
            </a:r>
            <a:br>
              <a:rPr lang="en-US" sz="3200" dirty="0" smtClean="0"/>
            </a:br>
            <a:r>
              <a:rPr lang="en-US" sz="3200" dirty="0" smtClean="0"/>
              <a:t>?&gt; </a:t>
            </a:r>
          </a:p>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Output: </a:t>
            </a:r>
          </a:p>
          <a:p>
            <a:pPr marL="342900" lvl="0" indent="-342900">
              <a:spcBef>
                <a:spcPct val="20000"/>
              </a:spcBef>
              <a:spcAft>
                <a:spcPts val="1000"/>
              </a:spcAft>
              <a:buClr>
                <a:schemeClr val="accent1">
                  <a:lumMod val="75000"/>
                </a:schemeClr>
              </a:buClr>
              <a:buSzPct val="70000"/>
            </a:pPr>
            <a:r>
              <a:rPr lang="en-US" sz="3200" dirty="0" smtClean="0"/>
              <a:t>12</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err="1" smtClean="0"/>
              <a:t>strpos</a:t>
            </a:r>
            <a:r>
              <a:rPr lang="en-US" sz="3200" dirty="0" smtClean="0"/>
              <a:t>() function</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sp>
        <p:nvSpPr>
          <p:cNvPr id="6" name="Content Placeholder 2"/>
          <p:cNvSpPr txBox="1">
            <a:spLocks/>
          </p:cNvSpPr>
          <p:nvPr/>
        </p:nvSpPr>
        <p:spPr>
          <a:xfrm>
            <a:off x="533400" y="2286000"/>
            <a:ext cx="739538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lang="en-US" sz="3200" dirty="0" smtClean="0"/>
              <a:t>&lt;?</a:t>
            </a:r>
            <a:r>
              <a:rPr lang="en-US" sz="3200" dirty="0" err="1" smtClean="0"/>
              <a:t>php</a:t>
            </a:r>
            <a:r>
              <a:rPr lang="en-US" sz="3200" dirty="0" smtClean="0"/>
              <a:t/>
            </a:r>
            <a:br>
              <a:rPr lang="en-US" sz="3200" dirty="0" smtClean="0"/>
            </a:br>
            <a:r>
              <a:rPr lang="en-US" sz="3200" dirty="0" smtClean="0"/>
              <a:t>echo </a:t>
            </a:r>
            <a:r>
              <a:rPr lang="en-US" sz="3200" dirty="0" err="1" smtClean="0"/>
              <a:t>strpos</a:t>
            </a:r>
            <a:r>
              <a:rPr lang="en-US" sz="3200" dirty="0" smtClean="0"/>
              <a:t>("Hello world!","world");</a:t>
            </a:r>
            <a:br>
              <a:rPr lang="en-US" sz="3200" dirty="0" smtClean="0"/>
            </a:br>
            <a:r>
              <a:rPr lang="en-US" sz="3200" dirty="0" smtClean="0"/>
              <a:t>?&gt; </a:t>
            </a:r>
          </a:p>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Output: </a:t>
            </a:r>
          </a:p>
          <a:p>
            <a:pPr marL="342900" lvl="0" indent="-342900">
              <a:spcBef>
                <a:spcPct val="20000"/>
              </a:spcBef>
              <a:spcAft>
                <a:spcPts val="1000"/>
              </a:spcAft>
              <a:buClr>
                <a:schemeClr val="accent1">
                  <a:lumMod val="75000"/>
                </a:schemeClr>
              </a:buClr>
              <a:buSzPct val="70000"/>
            </a:pPr>
            <a:r>
              <a:rPr lang="en-US" sz="3200" dirty="0" smtClean="0"/>
              <a:t> 6</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 –example 1 </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err="1" smtClean="0"/>
              <a:t>str_replace</a:t>
            </a:r>
            <a:r>
              <a:rPr lang="en-US" sz="3200" dirty="0" smtClean="0"/>
              <a:t>(</a:t>
            </a:r>
            <a:r>
              <a:rPr lang="en-US" sz="3200" dirty="0" err="1" smtClean="0"/>
              <a:t>find,replace,string,count</a:t>
            </a:r>
            <a:r>
              <a:rPr lang="en-US" sz="3200" dirty="0" smtClean="0"/>
              <a:t>)</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sp>
        <p:nvSpPr>
          <p:cNvPr id="6" name="Content Placeholder 2"/>
          <p:cNvSpPr txBox="1">
            <a:spLocks/>
          </p:cNvSpPr>
          <p:nvPr/>
        </p:nvSpPr>
        <p:spPr>
          <a:xfrm>
            <a:off x="533400" y="2286000"/>
            <a:ext cx="739538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lang="en-US" sz="3200" dirty="0" smtClean="0"/>
              <a:t>&lt;?</a:t>
            </a:r>
            <a:r>
              <a:rPr lang="en-US" sz="3200" dirty="0" err="1" smtClean="0"/>
              <a:t>php</a:t>
            </a:r>
            <a:r>
              <a:rPr lang="en-US" sz="3200" dirty="0" smtClean="0"/>
              <a:t/>
            </a:r>
            <a:br>
              <a:rPr lang="en-US" sz="3200" dirty="0" smtClean="0"/>
            </a:br>
            <a:r>
              <a:rPr lang="en-US" sz="3200" dirty="0" smtClean="0"/>
              <a:t>echo </a:t>
            </a:r>
            <a:r>
              <a:rPr lang="en-US" sz="3200" dirty="0" err="1" smtClean="0"/>
              <a:t>str_replace</a:t>
            </a:r>
            <a:r>
              <a:rPr lang="en-US" sz="3200" dirty="0" smtClean="0"/>
              <a:t>("</a:t>
            </a:r>
            <a:r>
              <a:rPr lang="en-US" sz="3200" dirty="0" err="1" smtClean="0"/>
              <a:t>world","Peter","Hello</a:t>
            </a:r>
            <a:r>
              <a:rPr lang="en-US" sz="3200" dirty="0" smtClean="0"/>
              <a:t> world!");</a:t>
            </a:r>
            <a:br>
              <a:rPr lang="en-US" sz="3200" dirty="0" smtClean="0"/>
            </a:br>
            <a:r>
              <a:rPr lang="en-US" sz="3200" dirty="0" smtClean="0"/>
              <a:t>?&gt; </a:t>
            </a:r>
          </a:p>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Output: </a:t>
            </a:r>
          </a:p>
          <a:p>
            <a:pPr marL="342900" lvl="0" indent="-342900">
              <a:spcBef>
                <a:spcPct val="20000"/>
              </a:spcBef>
              <a:spcAft>
                <a:spcPts val="1000"/>
              </a:spcAft>
              <a:buClr>
                <a:schemeClr val="accent1">
                  <a:lumMod val="75000"/>
                </a:schemeClr>
              </a:buClr>
              <a:buSzPct val="70000"/>
            </a:pPr>
            <a:r>
              <a:rPr lang="en-US" sz="3200" dirty="0" smtClean="0"/>
              <a:t>Hello Peter!</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 –example 2</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err="1" smtClean="0"/>
              <a:t>str_replace</a:t>
            </a:r>
            <a:r>
              <a:rPr lang="en-US" sz="3200" dirty="0" smtClean="0"/>
              <a:t>(</a:t>
            </a:r>
            <a:r>
              <a:rPr lang="en-US" sz="3200" dirty="0" err="1" smtClean="0"/>
              <a:t>find,replace,string,count</a:t>
            </a:r>
            <a:r>
              <a:rPr lang="en-US" sz="3200" dirty="0" smtClean="0"/>
              <a:t>)</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sp>
        <p:nvSpPr>
          <p:cNvPr id="6" name="Content Placeholder 2"/>
          <p:cNvSpPr txBox="1">
            <a:spLocks/>
          </p:cNvSpPr>
          <p:nvPr/>
        </p:nvSpPr>
        <p:spPr>
          <a:xfrm>
            <a:off x="533400" y="2286000"/>
            <a:ext cx="480060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lang="en-US" sz="2800" dirty="0" smtClean="0"/>
              <a:t>&lt;?</a:t>
            </a:r>
            <a:r>
              <a:rPr lang="en-US" sz="2800" dirty="0" err="1" smtClean="0"/>
              <a:t>php</a:t>
            </a:r>
            <a:r>
              <a:rPr lang="en-US" sz="2800" dirty="0" smtClean="0"/>
              <a:t/>
            </a:r>
            <a:br>
              <a:rPr lang="en-US" sz="2800" dirty="0" smtClean="0"/>
            </a:br>
            <a:r>
              <a:rPr lang="en-US" sz="2800" dirty="0" smtClean="0"/>
              <a:t>$</a:t>
            </a:r>
            <a:r>
              <a:rPr lang="en-US" sz="2800" dirty="0" err="1" smtClean="0"/>
              <a:t>arr</a:t>
            </a:r>
            <a:r>
              <a:rPr lang="en-US" sz="2800" dirty="0" smtClean="0"/>
              <a:t> = </a:t>
            </a:r>
            <a:r>
              <a:rPr lang="en-US" sz="4000" dirty="0" smtClean="0"/>
              <a:t>array</a:t>
            </a:r>
            <a:r>
              <a:rPr lang="en-US" sz="2800" dirty="0" smtClean="0"/>
              <a:t>("</a:t>
            </a:r>
            <a:r>
              <a:rPr lang="en-US" sz="2800" dirty="0" err="1" smtClean="0"/>
              <a:t>blue","red","green","yellow</a:t>
            </a:r>
            <a:r>
              <a:rPr lang="en-US" sz="2800" dirty="0" smtClean="0"/>
              <a:t>");</a:t>
            </a:r>
            <a:br>
              <a:rPr lang="en-US" sz="2800" dirty="0" smtClean="0"/>
            </a:br>
            <a:r>
              <a:rPr lang="en-US" sz="2800" dirty="0" err="1" smtClean="0"/>
              <a:t>print_r</a:t>
            </a:r>
            <a:r>
              <a:rPr lang="en-US" sz="2800" dirty="0" smtClean="0"/>
              <a:t>(</a:t>
            </a:r>
            <a:r>
              <a:rPr lang="en-US" sz="2800" dirty="0" err="1" smtClean="0"/>
              <a:t>str_replace</a:t>
            </a:r>
            <a:r>
              <a:rPr lang="en-US" sz="2800" dirty="0" smtClean="0"/>
              <a:t>("</a:t>
            </a:r>
            <a:r>
              <a:rPr lang="en-US" sz="2800" dirty="0" err="1" smtClean="0"/>
              <a:t>red","pink",$arr,$i</a:t>
            </a:r>
            <a:r>
              <a:rPr lang="en-US" sz="2800" dirty="0" smtClean="0"/>
              <a:t>));</a:t>
            </a:r>
            <a:br>
              <a:rPr lang="en-US" sz="2800" dirty="0" smtClean="0"/>
            </a:br>
            <a:r>
              <a:rPr lang="en-US" sz="2800" dirty="0" smtClean="0"/>
              <a:t>echo "Replacements: $</a:t>
            </a:r>
            <a:r>
              <a:rPr lang="en-US" sz="2800" dirty="0" err="1" smtClean="0"/>
              <a:t>i</a:t>
            </a:r>
            <a:r>
              <a:rPr lang="en-US" sz="2800" dirty="0" smtClean="0"/>
              <a:t>";</a:t>
            </a:r>
            <a:br>
              <a:rPr lang="en-US" sz="2800" dirty="0" smtClean="0"/>
            </a:br>
            <a:r>
              <a:rPr lang="en-US" sz="2800" dirty="0" smtClean="0"/>
              <a:t>?&gt; </a:t>
            </a:r>
          </a:p>
        </p:txBody>
      </p:sp>
      <p:sp>
        <p:nvSpPr>
          <p:cNvPr id="7" name="Content Placeholder 2"/>
          <p:cNvSpPr txBox="1">
            <a:spLocks/>
          </p:cNvSpPr>
          <p:nvPr/>
        </p:nvSpPr>
        <p:spPr>
          <a:xfrm>
            <a:off x="5486400" y="2438400"/>
            <a:ext cx="4495800" cy="2743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4000" b="0" i="0" u="none" strike="noStrike" kern="1200" cap="none" spc="0" normalizeH="0" baseline="0" noProof="0" dirty="0" smtClean="0">
                <a:ln>
                  <a:noFill/>
                </a:ln>
                <a:solidFill>
                  <a:schemeClr val="tx1"/>
                </a:solidFill>
                <a:effectLst/>
                <a:uLnTx/>
                <a:uFillTx/>
                <a:latin typeface="+mn-lt"/>
                <a:ea typeface="+mn-ea"/>
                <a:cs typeface="+mn-cs"/>
              </a:rPr>
              <a:t>Output: </a:t>
            </a:r>
          </a:p>
          <a:p>
            <a:pPr marL="514350" lvl="0" indent="-514350">
              <a:spcBef>
                <a:spcPct val="20000"/>
              </a:spcBef>
              <a:spcAft>
                <a:spcPts val="1000"/>
              </a:spcAft>
              <a:buClr>
                <a:schemeClr val="accent1">
                  <a:lumMod val="75000"/>
                </a:schemeClr>
              </a:buClr>
              <a:buSzPct val="70000"/>
            </a:pPr>
            <a:r>
              <a:rPr lang="en-US" sz="2000" dirty="0" smtClean="0"/>
              <a:t>Array</a:t>
            </a:r>
            <a:br>
              <a:rPr lang="en-US" sz="2000" dirty="0" smtClean="0"/>
            </a:br>
            <a:r>
              <a:rPr lang="en-US" sz="2000" dirty="0" smtClean="0"/>
              <a:t>(</a:t>
            </a:r>
            <a:br>
              <a:rPr lang="en-US" sz="2000" dirty="0" smtClean="0"/>
            </a:br>
            <a:r>
              <a:rPr lang="en-US" sz="2000" dirty="0" smtClean="0"/>
              <a:t>[0] =&gt; blue</a:t>
            </a:r>
            <a:br>
              <a:rPr lang="en-US" sz="2000" dirty="0" smtClean="0"/>
            </a:br>
            <a:r>
              <a:rPr lang="en-US" sz="2000" dirty="0" smtClean="0"/>
              <a:t>[1] =&gt; pink</a:t>
            </a:r>
            <a:br>
              <a:rPr lang="en-US" sz="2000" dirty="0" smtClean="0"/>
            </a:br>
            <a:r>
              <a:rPr lang="en-US" sz="2000" dirty="0" smtClean="0"/>
              <a:t>[2] =&gt; green</a:t>
            </a:r>
            <a:br>
              <a:rPr lang="en-US" sz="2000" dirty="0" smtClean="0"/>
            </a:br>
            <a:r>
              <a:rPr lang="en-US" sz="2000" dirty="0" smtClean="0"/>
              <a:t>[3] =&gt; yellow</a:t>
            </a:r>
            <a:br>
              <a:rPr lang="en-US" sz="2000" dirty="0" smtClean="0"/>
            </a:br>
            <a:r>
              <a:rPr lang="en-US" sz="2000" dirty="0" smtClean="0"/>
              <a:t>)</a:t>
            </a:r>
            <a:br>
              <a:rPr lang="en-US" sz="2000" dirty="0" smtClean="0"/>
            </a:br>
            <a:r>
              <a:rPr lang="en-US" sz="2000" dirty="0" smtClean="0"/>
              <a:t>Replacements: 1</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 </a:t>
            </a:r>
            <a:r>
              <a:rPr lang="en-US" sz="3600" dirty="0" err="1" smtClean="0"/>
              <a:t>Substr</a:t>
            </a:r>
            <a:r>
              <a:rPr lang="en-US" sz="3600" dirty="0" smtClean="0"/>
              <a:t> –example 3</a:t>
            </a:r>
            <a:endParaRPr lang="en-US" sz="3600" dirty="0"/>
          </a:p>
        </p:txBody>
      </p:sp>
      <p:sp>
        <p:nvSpPr>
          <p:cNvPr id="3" name="Content Placeholder 2"/>
          <p:cNvSpPr>
            <a:spLocks noGrp="1"/>
          </p:cNvSpPr>
          <p:nvPr>
            <p:ph idx="1"/>
          </p:nvPr>
        </p:nvSpPr>
        <p:spPr>
          <a:xfrm>
            <a:off x="453220" y="1371600"/>
            <a:ext cx="7395380" cy="838200"/>
          </a:xfrm>
        </p:spPr>
        <p:txBody>
          <a:bodyPr>
            <a:noAutofit/>
          </a:bodyPr>
          <a:lstStyle/>
          <a:p>
            <a:r>
              <a:rPr lang="en-US" sz="3200" dirty="0" err="1"/>
              <a:t>substr</a:t>
            </a:r>
            <a:r>
              <a:rPr lang="en-US" sz="3200" dirty="0"/>
              <a:t>(</a:t>
            </a:r>
            <a:r>
              <a:rPr lang="en-US" sz="3200" dirty="0" err="1"/>
              <a:t>string,start,length</a:t>
            </a:r>
            <a:r>
              <a:rPr lang="en-US" sz="3200" dirty="0"/>
              <a:t>)</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sp>
        <p:nvSpPr>
          <p:cNvPr id="6" name="Content Placeholder 2"/>
          <p:cNvSpPr txBox="1">
            <a:spLocks/>
          </p:cNvSpPr>
          <p:nvPr/>
        </p:nvSpPr>
        <p:spPr>
          <a:xfrm>
            <a:off x="838200" y="2318657"/>
            <a:ext cx="480060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endParaRPr lang="en-US" sz="2800" dirty="0" smtClean="0"/>
          </a:p>
        </p:txBody>
      </p:sp>
      <p:graphicFrame>
        <p:nvGraphicFramePr>
          <p:cNvPr id="4" name="Table 3"/>
          <p:cNvGraphicFramePr>
            <a:graphicFrameLocks noGrp="1"/>
          </p:cNvGraphicFramePr>
          <p:nvPr>
            <p:extLst>
              <p:ext uri="{D42A27DB-BD31-4B8C-83A1-F6EECF244321}">
                <p14:modId xmlns:p14="http://schemas.microsoft.com/office/powerpoint/2010/main" val="2853253935"/>
              </p:ext>
            </p:extLst>
          </p:nvPr>
        </p:nvGraphicFramePr>
        <p:xfrm>
          <a:off x="533400" y="2057400"/>
          <a:ext cx="7312952" cy="4369910"/>
        </p:xfrm>
        <a:graphic>
          <a:graphicData uri="http://schemas.openxmlformats.org/drawingml/2006/table">
            <a:tbl>
              <a:tblPr/>
              <a:tblGrid>
                <a:gridCol w="1462590"/>
                <a:gridCol w="5850362"/>
              </a:tblGrid>
              <a:tr h="482063">
                <a:tc>
                  <a:txBody>
                    <a:bodyPr/>
                    <a:lstStyle/>
                    <a:p>
                      <a:pPr algn="l" fontAlgn="t"/>
                      <a:r>
                        <a:rPr lang="en-US" sz="1800" dirty="0">
                          <a:effectLst/>
                          <a:latin typeface="verdana"/>
                        </a:rPr>
                        <a:t>Parameter</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US" sz="1800" dirty="0">
                          <a:effectLst/>
                          <a:latin typeface="verdana"/>
                        </a:rPr>
                        <a:t>Description</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482063">
                <a:tc>
                  <a:txBody>
                    <a:bodyPr/>
                    <a:lstStyle/>
                    <a:p>
                      <a:pPr fontAlgn="t"/>
                      <a:r>
                        <a:rPr lang="en-US" sz="1800">
                          <a:effectLst/>
                          <a:latin typeface="verdana"/>
                        </a:rPr>
                        <a:t>string</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800">
                          <a:effectLst/>
                          <a:latin typeface="verdana"/>
                        </a:rPr>
                        <a:t>Required. Specifies the string to return a part of</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355491">
                <a:tc>
                  <a:txBody>
                    <a:bodyPr/>
                    <a:lstStyle/>
                    <a:p>
                      <a:pPr fontAlgn="t"/>
                      <a:r>
                        <a:rPr lang="en-US" sz="1800">
                          <a:effectLst/>
                          <a:latin typeface="verdana"/>
                        </a:rPr>
                        <a:t>start</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buFont typeface="Arial"/>
                        <a:buChar char="•"/>
                      </a:pPr>
                      <a:r>
                        <a:rPr lang="en-US" sz="1800">
                          <a:effectLst/>
                          <a:latin typeface="verdana"/>
                        </a:rPr>
                        <a:t>Required. Specifies where to start in the stringA positive number - Start at a specified position in the string</a:t>
                      </a:r>
                    </a:p>
                    <a:p>
                      <a:pPr fontAlgn="t">
                        <a:buFont typeface="Arial"/>
                        <a:buChar char="•"/>
                      </a:pPr>
                      <a:r>
                        <a:rPr lang="en-US" sz="1800">
                          <a:effectLst/>
                          <a:latin typeface="verdana"/>
                        </a:rPr>
                        <a:t>A negative number - Start at a specified position from the end of the string</a:t>
                      </a:r>
                    </a:p>
                    <a:p>
                      <a:pPr fontAlgn="t">
                        <a:buFont typeface="Arial"/>
                        <a:buChar char="•"/>
                      </a:pPr>
                      <a:r>
                        <a:rPr lang="en-US" sz="1800">
                          <a:effectLst/>
                          <a:latin typeface="verdana"/>
                        </a:rPr>
                        <a:t>0 - Start at the first character in string</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573847">
                <a:tc>
                  <a:txBody>
                    <a:bodyPr/>
                    <a:lstStyle/>
                    <a:p>
                      <a:pPr fontAlgn="t"/>
                      <a:r>
                        <a:rPr lang="en-US" sz="1800">
                          <a:effectLst/>
                          <a:latin typeface="verdana"/>
                        </a:rPr>
                        <a:t>length</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buFont typeface="Arial"/>
                        <a:buChar char="•"/>
                      </a:pPr>
                      <a:r>
                        <a:rPr lang="en-US" sz="1800" dirty="0">
                          <a:effectLst/>
                          <a:latin typeface="verdana"/>
                        </a:rPr>
                        <a:t>Optional. Specifies the length of the returned string. Default is to the end of the </a:t>
                      </a:r>
                      <a:r>
                        <a:rPr lang="en-US" sz="1800" dirty="0" err="1">
                          <a:effectLst/>
                          <a:latin typeface="verdana"/>
                        </a:rPr>
                        <a:t>string.A</a:t>
                      </a:r>
                      <a:r>
                        <a:rPr lang="en-US" sz="1800" dirty="0">
                          <a:effectLst/>
                          <a:latin typeface="verdana"/>
                        </a:rPr>
                        <a:t> positive number - The length to be returned from the start parameter</a:t>
                      </a:r>
                    </a:p>
                    <a:p>
                      <a:pPr fontAlgn="t">
                        <a:buFont typeface="Arial"/>
                        <a:buChar char="•"/>
                      </a:pPr>
                      <a:r>
                        <a:rPr lang="en-US" sz="1800" dirty="0">
                          <a:effectLst/>
                          <a:latin typeface="verdana"/>
                        </a:rPr>
                        <a:t>Negative number - The length to be returned from the end of the string</a:t>
                      </a: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
        <p:nvSpPr>
          <p:cNvPr id="8" name="Rectangle 1"/>
          <p:cNvSpPr>
            <a:spLocks noChangeArrowheads="1"/>
          </p:cNvSpPr>
          <p:nvPr/>
        </p:nvSpPr>
        <p:spPr bwMode="auto">
          <a:xfrm>
            <a:off x="1677988" y="1287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669837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Strings </a:t>
            </a:r>
            <a:r>
              <a:rPr lang="en-US" sz="3600" dirty="0" err="1" smtClean="0"/>
              <a:t>Substr</a:t>
            </a:r>
            <a:r>
              <a:rPr lang="en-US" sz="3600" dirty="0" smtClean="0"/>
              <a:t> –example 3</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err="1"/>
              <a:t>substr</a:t>
            </a:r>
            <a:r>
              <a:rPr lang="en-US" sz="3200" dirty="0"/>
              <a:t>(</a:t>
            </a:r>
            <a:r>
              <a:rPr lang="en-US" sz="3200" dirty="0" err="1"/>
              <a:t>string,start,length</a:t>
            </a:r>
            <a:r>
              <a:rPr lang="en-US" sz="3200" dirty="0"/>
              <a:t>)</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sp>
        <p:nvSpPr>
          <p:cNvPr id="6" name="Content Placeholder 2"/>
          <p:cNvSpPr txBox="1">
            <a:spLocks/>
          </p:cNvSpPr>
          <p:nvPr/>
        </p:nvSpPr>
        <p:spPr>
          <a:xfrm>
            <a:off x="838200" y="2318657"/>
            <a:ext cx="4800600" cy="8382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endParaRPr lang="en-US" sz="2800" dirty="0" smtClean="0"/>
          </a:p>
        </p:txBody>
      </p:sp>
      <p:sp>
        <p:nvSpPr>
          <p:cNvPr id="8" name="Rectangle 1"/>
          <p:cNvSpPr>
            <a:spLocks noChangeArrowheads="1"/>
          </p:cNvSpPr>
          <p:nvPr/>
        </p:nvSpPr>
        <p:spPr bwMode="auto">
          <a:xfrm>
            <a:off x="1677988" y="1287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372804015"/>
              </p:ext>
            </p:extLst>
          </p:nvPr>
        </p:nvGraphicFramePr>
        <p:xfrm>
          <a:off x="609600" y="2318657"/>
          <a:ext cx="7312952" cy="3893464"/>
        </p:xfrm>
        <a:graphic>
          <a:graphicData uri="http://schemas.openxmlformats.org/drawingml/2006/table">
            <a:tbl>
              <a:tblPr/>
              <a:tblGrid>
                <a:gridCol w="4495800"/>
                <a:gridCol w="2817152"/>
              </a:tblGrid>
              <a:tr h="482063">
                <a:tc>
                  <a:txBody>
                    <a:bodyPr/>
                    <a:lstStyle/>
                    <a:p>
                      <a:pPr algn="l" fontAlgn="t"/>
                      <a:r>
                        <a:rPr lang="en-US" sz="1800" dirty="0" smtClean="0">
                          <a:effectLst/>
                          <a:latin typeface="verdana"/>
                        </a:rPr>
                        <a:t>Example</a:t>
                      </a:r>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c>
                  <a:txBody>
                    <a:bodyPr/>
                    <a:lstStyle/>
                    <a:p>
                      <a:pPr algn="l" fontAlgn="t"/>
                      <a:r>
                        <a:rPr lang="en-US" sz="1800" dirty="0" smtClean="0">
                          <a:effectLst/>
                          <a:latin typeface="verdana"/>
                        </a:rPr>
                        <a:t>Output</a:t>
                      </a:r>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E5EECC"/>
                    </a:solidFill>
                  </a:tcPr>
                </a:tc>
              </a:tr>
              <a:tr h="482063">
                <a:tc>
                  <a:txBody>
                    <a:bodyPr/>
                    <a:lstStyle/>
                    <a:p>
                      <a:pPr fontAlgn="t"/>
                      <a:r>
                        <a:rPr lang="en-US" sz="1800" dirty="0" smtClean="0">
                          <a:effectLst/>
                          <a:latin typeface="verdana"/>
                        </a:rPr>
                        <a:t> </a:t>
                      </a:r>
                      <a:r>
                        <a:rPr lang="en-US" sz="1800" b="0" i="0" kern="1200" dirty="0" smtClean="0">
                          <a:solidFill>
                            <a:schemeClr val="tx1"/>
                          </a:solidFill>
                          <a:effectLst/>
                          <a:latin typeface="+mn-lt"/>
                          <a:ea typeface="+mn-ea"/>
                          <a:cs typeface="+mn-cs"/>
                        </a:rPr>
                        <a:t>echo </a:t>
                      </a:r>
                      <a:r>
                        <a:rPr lang="en-US" sz="1800" b="0" i="0" kern="1200" dirty="0" err="1" smtClean="0">
                          <a:solidFill>
                            <a:schemeClr val="tx1"/>
                          </a:solidFill>
                          <a:effectLst/>
                          <a:latin typeface="+mn-lt"/>
                          <a:ea typeface="+mn-ea"/>
                          <a:cs typeface="+mn-cs"/>
                        </a:rPr>
                        <a:t>substr</a:t>
                      </a:r>
                      <a:r>
                        <a:rPr lang="en-US" sz="1800" b="0" i="0" kern="1200" dirty="0" smtClean="0">
                          <a:solidFill>
                            <a:schemeClr val="tx1"/>
                          </a:solidFill>
                          <a:effectLst/>
                          <a:latin typeface="+mn-lt"/>
                          <a:ea typeface="+mn-ea"/>
                          <a:cs typeface="+mn-cs"/>
                        </a:rPr>
                        <a:t>("Hello world!",6);</a:t>
                      </a:r>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r>
                        <a:rPr lang="en-US" sz="1800" dirty="0" smtClean="0">
                          <a:effectLst/>
                          <a:latin typeface="verdana"/>
                        </a:rPr>
                        <a:t> </a:t>
                      </a:r>
                      <a:r>
                        <a:rPr lang="en-US" sz="1800" b="0" i="0" kern="1200" dirty="0" smtClean="0">
                          <a:solidFill>
                            <a:schemeClr val="tx1"/>
                          </a:solidFill>
                          <a:effectLst/>
                          <a:latin typeface="+mn-lt"/>
                          <a:ea typeface="+mn-ea"/>
                          <a:cs typeface="+mn-cs"/>
                        </a:rPr>
                        <a:t>world!</a:t>
                      </a:r>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355491">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800" dirty="0" smtClean="0">
                          <a:effectLst/>
                          <a:latin typeface="verdana"/>
                        </a:rPr>
                        <a:t> </a:t>
                      </a:r>
                      <a:r>
                        <a:rPr lang="en-US" sz="1800" b="0" i="0" kern="1200" dirty="0" smtClean="0">
                          <a:solidFill>
                            <a:schemeClr val="tx1"/>
                          </a:solidFill>
                          <a:effectLst/>
                          <a:latin typeface="+mn-lt"/>
                          <a:ea typeface="+mn-ea"/>
                          <a:cs typeface="+mn-cs"/>
                        </a:rPr>
                        <a:t>echo </a:t>
                      </a:r>
                      <a:r>
                        <a:rPr lang="en-US" sz="1800" b="0" i="0" kern="1200" dirty="0" err="1" smtClean="0">
                          <a:solidFill>
                            <a:schemeClr val="tx1"/>
                          </a:solidFill>
                          <a:effectLst/>
                          <a:latin typeface="+mn-lt"/>
                          <a:ea typeface="+mn-ea"/>
                          <a:cs typeface="+mn-cs"/>
                        </a:rPr>
                        <a:t>substr</a:t>
                      </a:r>
                      <a:r>
                        <a:rPr lang="en-US" sz="1800" b="0" i="0" kern="1200" dirty="0" smtClean="0">
                          <a:solidFill>
                            <a:schemeClr val="tx1"/>
                          </a:solidFill>
                          <a:effectLst/>
                          <a:latin typeface="+mn-lt"/>
                          <a:ea typeface="+mn-ea"/>
                          <a:cs typeface="+mn-cs"/>
                        </a:rPr>
                        <a:t>("Hello world!",6,5);</a:t>
                      </a:r>
                      <a:endParaRPr lang="en-US" sz="1800" dirty="0" smtClean="0">
                        <a:effectLst/>
                        <a:latin typeface="verdana"/>
                      </a:endParaRPr>
                    </a:p>
                    <a:p>
                      <a:pPr fontAlgn="t"/>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buFont typeface="Arial"/>
                        <a:buNone/>
                      </a:pPr>
                      <a:r>
                        <a:rPr lang="en-US" sz="1800" b="0" i="0" kern="1200" dirty="0" smtClean="0">
                          <a:solidFill>
                            <a:schemeClr val="tx1"/>
                          </a:solidFill>
                          <a:effectLst/>
                          <a:latin typeface="+mn-lt"/>
                          <a:ea typeface="+mn-ea"/>
                          <a:cs typeface="+mn-cs"/>
                        </a:rPr>
                        <a:t>  world</a:t>
                      </a:r>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r h="1573847">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800" b="0" i="0" kern="1200" dirty="0" smtClean="0">
                          <a:solidFill>
                            <a:schemeClr val="tx1"/>
                          </a:solidFill>
                          <a:effectLst/>
                          <a:latin typeface="+mn-lt"/>
                          <a:ea typeface="+mn-ea"/>
                          <a:cs typeface="+mn-cs"/>
                        </a:rPr>
                        <a:t>echo </a:t>
                      </a:r>
                      <a:r>
                        <a:rPr lang="en-US" sz="1800" b="0" i="0" kern="1200" dirty="0" err="1" smtClean="0">
                          <a:solidFill>
                            <a:schemeClr val="tx1"/>
                          </a:solidFill>
                          <a:effectLst/>
                          <a:latin typeface="+mn-lt"/>
                          <a:ea typeface="+mn-ea"/>
                          <a:cs typeface="+mn-cs"/>
                        </a:rPr>
                        <a:t>substr</a:t>
                      </a:r>
                      <a:r>
                        <a:rPr lang="en-US" sz="1800" b="0" i="0" kern="1200" dirty="0" smtClean="0">
                          <a:solidFill>
                            <a:schemeClr val="tx1"/>
                          </a:solidFill>
                          <a:effectLst/>
                          <a:latin typeface="+mn-lt"/>
                          <a:ea typeface="+mn-ea"/>
                          <a:cs typeface="+mn-cs"/>
                        </a:rPr>
                        <a:t>("Hello world!",6,3);</a:t>
                      </a:r>
                      <a:endParaRPr lang="en-US" sz="1800" dirty="0" smtClean="0">
                        <a:effectLst/>
                        <a:latin typeface="verdana"/>
                      </a:endParaRPr>
                    </a:p>
                    <a:p>
                      <a:pPr fontAlgn="t"/>
                      <a:endParaRPr lang="en-US" sz="18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c>
                  <a:txBody>
                    <a:bodyPr/>
                    <a:lstStyle/>
                    <a:p>
                      <a:pPr fontAlgn="t">
                        <a:buFont typeface="Arial"/>
                        <a:buNone/>
                      </a:pPr>
                      <a:r>
                        <a:rPr lang="en-US" sz="1800" dirty="0" smtClean="0">
                          <a:effectLst/>
                          <a:latin typeface="verdana"/>
                        </a:rPr>
                        <a:t> </a:t>
                      </a:r>
                      <a:r>
                        <a:rPr lang="en-US" sz="1400" dirty="0" smtClean="0">
                          <a:effectLst/>
                          <a:latin typeface="verdana"/>
                        </a:rPr>
                        <a:t>wor</a:t>
                      </a:r>
                      <a:endParaRPr lang="en-US" sz="1400" dirty="0">
                        <a:effectLst/>
                        <a:latin typeface="verdana"/>
                      </a:endParaRPr>
                    </a:p>
                  </a:txBody>
                  <a:tcPr marL="28486" marR="28486" marT="28486" marB="28486">
                    <a:lnL w="9525" cap="flat" cmpd="sng" algn="ctr">
                      <a:solidFill>
                        <a:srgbClr val="C3C3C3"/>
                      </a:solidFill>
                      <a:prstDash val="solid"/>
                      <a:round/>
                      <a:headEnd type="none" w="med" len="med"/>
                      <a:tailEnd type="none" w="med" len="med"/>
                    </a:lnL>
                    <a:lnR w="9525" cap="flat" cmpd="sng" algn="ctr">
                      <a:solidFill>
                        <a:srgbClr val="C3C3C3"/>
                      </a:solidFill>
                      <a:prstDash val="solid"/>
                      <a:round/>
                      <a:headEnd type="none" w="med" len="med"/>
                      <a:tailEnd type="none" w="med" len="med"/>
                    </a:lnR>
                    <a:lnT w="9525" cap="flat" cmpd="sng" algn="ctr">
                      <a:solidFill>
                        <a:srgbClr val="C3C3C3"/>
                      </a:solidFill>
                      <a:prstDash val="solid"/>
                      <a:round/>
                      <a:headEnd type="none" w="med" len="med"/>
                      <a:tailEnd type="none" w="med" len="med"/>
                    </a:lnT>
                    <a:lnB w="9525" cap="flat" cmpd="sng" algn="ctr">
                      <a:solidFill>
                        <a:srgbClr val="C3C3C3"/>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4181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Floats</a:t>
            </a:r>
            <a:endParaRPr lang="en-US" sz="3600" dirty="0"/>
          </a:p>
        </p:txBody>
      </p:sp>
      <p:sp>
        <p:nvSpPr>
          <p:cNvPr id="3" name="Content Placeholder 2"/>
          <p:cNvSpPr>
            <a:spLocks noGrp="1"/>
          </p:cNvSpPr>
          <p:nvPr>
            <p:ph idx="1"/>
          </p:nvPr>
        </p:nvSpPr>
        <p:spPr>
          <a:xfrm>
            <a:off x="381000" y="1600200"/>
            <a:ext cx="7395380" cy="838200"/>
          </a:xfrm>
        </p:spPr>
        <p:txBody>
          <a:bodyPr>
            <a:noAutofit/>
          </a:bodyPr>
          <a:lstStyle/>
          <a:p>
            <a:r>
              <a:rPr lang="en-US" sz="3200" dirty="0" smtClean="0"/>
              <a:t>Round(), ceil(), floor()</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19</a:t>
            </a:fld>
            <a:endParaRPr lang="en-US"/>
          </a:p>
        </p:txBody>
      </p:sp>
      <p:sp>
        <p:nvSpPr>
          <p:cNvPr id="6" name="Content Placeholder 2"/>
          <p:cNvSpPr txBox="1">
            <a:spLocks/>
          </p:cNvSpPr>
          <p:nvPr/>
        </p:nvSpPr>
        <p:spPr>
          <a:xfrm>
            <a:off x="533400" y="2286000"/>
            <a:ext cx="5410200" cy="838200"/>
          </a:xfrm>
          <a:prstGeom prst="rect">
            <a:avLst/>
          </a:prstGeom>
        </p:spPr>
        <p:txBody>
          <a:bodyPr vert="horz" lIns="91440" tIns="45720" rIns="91440" bIns="45720" rtlCol="0">
            <a:noAutofit/>
          </a:bodyPr>
          <a:lstStyle/>
          <a:p>
            <a:r>
              <a:rPr lang="en-SG" sz="2800" dirty="0" smtClean="0"/>
              <a:t>Floating point: &lt;?</a:t>
            </a:r>
            <a:r>
              <a:rPr lang="en-SG" sz="2800" dirty="0" err="1" smtClean="0"/>
              <a:t>php</a:t>
            </a:r>
            <a:r>
              <a:rPr lang="en-SG" sz="2800" dirty="0" smtClean="0"/>
              <a:t> echo $</a:t>
            </a:r>
            <a:r>
              <a:rPr lang="en-SG" sz="2800" dirty="0" err="1" smtClean="0"/>
              <a:t>myFloat</a:t>
            </a:r>
            <a:r>
              <a:rPr lang="en-SG" sz="2800" dirty="0" smtClean="0"/>
              <a:t> = 3.14; ?&gt;&lt;</a:t>
            </a:r>
            <a:r>
              <a:rPr lang="en-SG" sz="2800" dirty="0" err="1" smtClean="0"/>
              <a:t>br</a:t>
            </a:r>
            <a:r>
              <a:rPr lang="en-SG" sz="2800" dirty="0" smtClean="0"/>
              <a:t> /&gt;</a:t>
            </a:r>
            <a:endParaRPr lang="en-US" sz="2800" dirty="0" smtClean="0"/>
          </a:p>
          <a:p>
            <a:r>
              <a:rPr lang="en-SG" sz="2800" dirty="0" smtClean="0"/>
              <a:t>		Round: &lt;?</a:t>
            </a:r>
            <a:r>
              <a:rPr lang="en-SG" sz="2800" dirty="0" err="1" smtClean="0"/>
              <a:t>php</a:t>
            </a:r>
            <a:r>
              <a:rPr lang="en-SG" sz="2800" dirty="0" smtClean="0"/>
              <a:t> echo round($</a:t>
            </a:r>
            <a:r>
              <a:rPr lang="en-SG" sz="2800" dirty="0" err="1" smtClean="0"/>
              <a:t>myFloat</a:t>
            </a:r>
            <a:r>
              <a:rPr lang="en-SG" sz="2800" dirty="0" smtClean="0"/>
              <a:t>, 1); ?&gt;&lt;</a:t>
            </a:r>
            <a:r>
              <a:rPr lang="en-SG" sz="2800" dirty="0" err="1" smtClean="0"/>
              <a:t>br</a:t>
            </a:r>
            <a:r>
              <a:rPr lang="en-SG" sz="2800" dirty="0" smtClean="0"/>
              <a:t> /&gt;</a:t>
            </a:r>
            <a:endParaRPr lang="en-US" sz="2800" dirty="0" smtClean="0"/>
          </a:p>
          <a:p>
            <a:r>
              <a:rPr lang="en-SG" sz="2800" dirty="0" smtClean="0"/>
              <a:t>		Ceiling: &lt;?</a:t>
            </a:r>
            <a:r>
              <a:rPr lang="en-SG" sz="2800" dirty="0" err="1" smtClean="0"/>
              <a:t>php</a:t>
            </a:r>
            <a:r>
              <a:rPr lang="en-SG" sz="2800" dirty="0" smtClean="0"/>
              <a:t> echo ceil($</a:t>
            </a:r>
            <a:r>
              <a:rPr lang="en-SG" sz="2800" dirty="0" err="1" smtClean="0"/>
              <a:t>myFloat</a:t>
            </a:r>
            <a:r>
              <a:rPr lang="en-SG" sz="2800" dirty="0" smtClean="0"/>
              <a:t>); ?&gt;&lt;</a:t>
            </a:r>
            <a:r>
              <a:rPr lang="en-SG" sz="2800" dirty="0" err="1" smtClean="0"/>
              <a:t>br</a:t>
            </a:r>
            <a:r>
              <a:rPr lang="en-SG" sz="2800" dirty="0" smtClean="0"/>
              <a:t> /&gt;</a:t>
            </a:r>
            <a:endParaRPr lang="en-US" sz="2800" dirty="0" smtClean="0"/>
          </a:p>
          <a:p>
            <a:r>
              <a:rPr lang="en-SG" sz="2800" dirty="0" smtClean="0"/>
              <a:t>		Floor: &lt;?</a:t>
            </a:r>
            <a:r>
              <a:rPr lang="en-SG" sz="2800" dirty="0" err="1" smtClean="0"/>
              <a:t>php</a:t>
            </a:r>
            <a:r>
              <a:rPr lang="en-SG" sz="2800" dirty="0" smtClean="0"/>
              <a:t> echo floor($</a:t>
            </a:r>
            <a:r>
              <a:rPr lang="en-SG" sz="2800" dirty="0" err="1" smtClean="0"/>
              <a:t>myFloat</a:t>
            </a:r>
            <a:r>
              <a:rPr lang="en-SG" sz="2800" dirty="0" smtClean="0"/>
              <a:t>); ?&gt;&lt;</a:t>
            </a:r>
            <a:r>
              <a:rPr lang="en-SG" sz="2800" dirty="0" err="1" smtClean="0"/>
              <a:t>br</a:t>
            </a:r>
            <a:r>
              <a:rPr lang="en-SG" sz="2800" dirty="0" smtClean="0"/>
              <a:t> /&gt;</a:t>
            </a:r>
            <a:endParaRPr lang="en-US" sz="2800" dirty="0" smtClean="0"/>
          </a:p>
        </p:txBody>
      </p:sp>
      <p:sp>
        <p:nvSpPr>
          <p:cNvPr id="7" name="Content Placeholder 2"/>
          <p:cNvSpPr txBox="1">
            <a:spLocks/>
          </p:cNvSpPr>
          <p:nvPr/>
        </p:nvSpPr>
        <p:spPr>
          <a:xfrm>
            <a:off x="4876800" y="1828800"/>
            <a:ext cx="2286000" cy="990600"/>
          </a:xfrm>
          <a:prstGeom prst="rect">
            <a:avLst/>
          </a:prstGeom>
        </p:spPr>
        <p:txBody>
          <a:bodyPr vert="horz" lIns="91440" tIns="45720" rIns="91440" bIns="45720" rtlCol="0">
            <a:noAutofit/>
          </a:bodyPr>
          <a:lstStyle/>
          <a:p>
            <a:pPr marL="342900" lvl="0" indent="-342900">
              <a:spcBef>
                <a:spcPct val="20000"/>
              </a:spcBef>
              <a:spcAft>
                <a:spcPts val="1000"/>
              </a:spcAft>
              <a:buClr>
                <a:schemeClr val="accent1">
                  <a:lumMod val="75000"/>
                </a:schemeClr>
              </a:buClr>
              <a:buSzPct val="70000"/>
              <a:buFont typeface="Wingdings" pitchFamily="2" charset="2"/>
              <a:buChar char=""/>
            </a:pPr>
            <a:r>
              <a:rPr kumimoji="0" lang="en-US" sz="4000" b="0" i="0" u="none" strike="noStrike" kern="1200" cap="none" spc="0" normalizeH="0" baseline="0" noProof="0" dirty="0" smtClean="0">
                <a:ln>
                  <a:noFill/>
                </a:ln>
                <a:solidFill>
                  <a:schemeClr val="tx1"/>
                </a:solidFill>
                <a:effectLst/>
                <a:uLnTx/>
                <a:uFillTx/>
                <a:latin typeface="+mn-lt"/>
                <a:ea typeface="+mn-ea"/>
                <a:cs typeface="+mn-cs"/>
              </a:rPr>
              <a:t>Output: </a:t>
            </a:r>
          </a:p>
        </p:txBody>
      </p:sp>
      <p:pic>
        <p:nvPicPr>
          <p:cNvPr id="8" name="Picture 7" descr="C:\Users\Tommy\Desktop\ScreenHunter_25 Oct. 10 16.03.jpg"/>
          <p:cNvPicPr/>
          <p:nvPr/>
        </p:nvPicPr>
        <p:blipFill>
          <a:blip r:embed="rId3" cstate="print"/>
          <a:srcRect/>
          <a:stretch>
            <a:fillRect/>
          </a:stretch>
        </p:blipFill>
        <p:spPr bwMode="auto">
          <a:xfrm>
            <a:off x="5562600" y="2895600"/>
            <a:ext cx="3581400" cy="3200400"/>
          </a:xfrm>
          <a:prstGeom prst="rect">
            <a:avLst/>
          </a:prstGeom>
          <a:noFill/>
          <a:ln w="9525">
            <a:noFill/>
            <a:miter lim="800000"/>
            <a:headEnd/>
            <a:tailEnd/>
          </a:ln>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500"/>
                                        <p:tgtEl>
                                          <p:spTgt spid="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fade">
                                      <p:cBhvr>
                                        <p:cTn id="16" dur="500"/>
                                        <p:tgtEl>
                                          <p:spTgt spid="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500"/>
                                        <p:tgtEl>
                                          <p:spTgt spid="6">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P spid="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Math Functions</a:t>
            </a:r>
            <a:endParaRPr lang="en-US" sz="3600" dirty="0"/>
          </a:p>
        </p:txBody>
      </p:sp>
      <p:sp>
        <p:nvSpPr>
          <p:cNvPr id="3" name="Content Placeholder 2"/>
          <p:cNvSpPr>
            <a:spLocks noGrp="1"/>
          </p:cNvSpPr>
          <p:nvPr>
            <p:ph idx="1"/>
          </p:nvPr>
        </p:nvSpPr>
        <p:spPr>
          <a:xfrm>
            <a:off x="762000" y="1676400"/>
            <a:ext cx="7395380" cy="838200"/>
          </a:xfrm>
        </p:spPr>
        <p:txBody>
          <a:bodyPr>
            <a:noAutofit/>
          </a:bodyPr>
          <a:lstStyle/>
          <a:p>
            <a:r>
              <a:rPr lang="en-US" sz="3200" dirty="0" smtClean="0"/>
              <a:t>Absolute Value :    abs(0 – 300); gives 300</a:t>
            </a:r>
          </a:p>
          <a:p>
            <a:r>
              <a:rPr lang="en-US" sz="3200" dirty="0" smtClean="0"/>
              <a:t>Exponential:	</a:t>
            </a:r>
            <a:r>
              <a:rPr lang="en-US" sz="3200" dirty="0" err="1" smtClean="0"/>
              <a:t>pow</a:t>
            </a:r>
            <a:r>
              <a:rPr lang="en-US" sz="3200" dirty="0" smtClean="0"/>
              <a:t>(2,8); gives  2</a:t>
            </a:r>
            <a:r>
              <a:rPr lang="en-US" sz="3600" baseline="30000" dirty="0" smtClean="0"/>
              <a:t>8</a:t>
            </a:r>
            <a:endParaRPr lang="en-US" sz="3200" baseline="30000" dirty="0" smtClean="0"/>
          </a:p>
          <a:p>
            <a:r>
              <a:rPr lang="en-US" sz="3200" dirty="0" smtClean="0"/>
              <a:t>Square Root: </a:t>
            </a:r>
            <a:r>
              <a:rPr lang="en-US" sz="3200" dirty="0" err="1" smtClean="0"/>
              <a:t>sqrt</a:t>
            </a:r>
            <a:r>
              <a:rPr lang="en-US" sz="3200" dirty="0" smtClean="0"/>
              <a:t>(100); gives 10</a:t>
            </a:r>
          </a:p>
          <a:p>
            <a:r>
              <a:rPr lang="en-US" sz="3200" dirty="0" smtClean="0"/>
              <a:t>Modulo: </a:t>
            </a:r>
            <a:r>
              <a:rPr lang="en-US" sz="3200" dirty="0" err="1" smtClean="0"/>
              <a:t>fmod</a:t>
            </a:r>
            <a:r>
              <a:rPr lang="en-US" sz="3200" dirty="0" smtClean="0"/>
              <a:t>(20,7) gives remainder of 20/7</a:t>
            </a:r>
          </a:p>
          <a:p>
            <a:r>
              <a:rPr lang="en-US" sz="3200" dirty="0" smtClean="0"/>
              <a:t>Random(any):	 rand(); gives random number</a:t>
            </a:r>
          </a:p>
          <a:p>
            <a:r>
              <a:rPr lang="en-US" sz="3200" dirty="0" smtClean="0"/>
              <a:t>Random(</a:t>
            </a:r>
            <a:r>
              <a:rPr lang="en-US" sz="3200" dirty="0" err="1" smtClean="0"/>
              <a:t>min,max</a:t>
            </a:r>
            <a:r>
              <a:rPr lang="en-US" sz="3200" dirty="0" smtClean="0"/>
              <a:t>): gives u random number </a:t>
            </a:r>
            <a:r>
              <a:rPr lang="en-US" sz="3200" dirty="0" err="1" smtClean="0"/>
              <a:t>betw</a:t>
            </a:r>
            <a:r>
              <a:rPr lang="en-US" sz="3200" dirty="0" smtClean="0"/>
              <a:t> the min and max numbers.</a:t>
            </a:r>
          </a:p>
          <a:p>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20</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1</a:t>
            </a:r>
            <a:endParaRPr lang="en-US" sz="3600" dirty="0"/>
          </a:p>
        </p:txBody>
      </p:sp>
      <p:sp>
        <p:nvSpPr>
          <p:cNvPr id="3" name="Content Placeholder 2"/>
          <p:cNvSpPr>
            <a:spLocks noGrp="1"/>
          </p:cNvSpPr>
          <p:nvPr>
            <p:ph idx="1"/>
          </p:nvPr>
        </p:nvSpPr>
        <p:spPr>
          <a:xfrm>
            <a:off x="762000" y="1676400"/>
            <a:ext cx="7395380" cy="838200"/>
          </a:xfrm>
        </p:spPr>
        <p:txBody>
          <a:bodyPr>
            <a:noAutofit/>
          </a:bodyPr>
          <a:lstStyle/>
          <a:p>
            <a:r>
              <a:rPr lang="en-US" sz="3200" dirty="0" smtClean="0"/>
              <a:t>$array1 = array(4,8,15,16,23,42);</a:t>
            </a:r>
          </a:p>
          <a:p>
            <a:r>
              <a:rPr lang="en-US" sz="3200" dirty="0" smtClean="0"/>
              <a:t>echo $array1[0];</a:t>
            </a:r>
          </a:p>
          <a:p>
            <a:r>
              <a:rPr lang="en-US" sz="3200" dirty="0" smtClean="0"/>
              <a:t>Output: 4</a:t>
            </a:r>
          </a:p>
          <a:p>
            <a:r>
              <a:rPr lang="en-US" sz="3200" dirty="0" smtClean="0"/>
              <a:t>Arrays always start from 0</a:t>
            </a: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21</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2</a:t>
            </a:r>
            <a:endParaRPr lang="en-US" sz="3600" dirty="0"/>
          </a:p>
        </p:txBody>
      </p:sp>
      <p:sp>
        <p:nvSpPr>
          <p:cNvPr id="3" name="Content Placeholder 2"/>
          <p:cNvSpPr>
            <a:spLocks noGrp="1"/>
          </p:cNvSpPr>
          <p:nvPr>
            <p:ph idx="1"/>
          </p:nvPr>
        </p:nvSpPr>
        <p:spPr>
          <a:xfrm>
            <a:off x="506185" y="1768929"/>
            <a:ext cx="8686800" cy="838200"/>
          </a:xfrm>
        </p:spPr>
        <p:txBody>
          <a:bodyPr>
            <a:noAutofit/>
          </a:bodyPr>
          <a:lstStyle/>
          <a:p>
            <a:pPr>
              <a:buNone/>
            </a:pPr>
            <a:r>
              <a:rPr lang="en-US" sz="3200" dirty="0" smtClean="0"/>
              <a:t>$array2 = array(6,"fox", "dog", array("x", "y", z"));</a:t>
            </a:r>
          </a:p>
          <a:p>
            <a:pPr>
              <a:buNone/>
            </a:pPr>
            <a:r>
              <a:rPr lang="en-US" sz="3200" dirty="0" smtClean="0"/>
              <a:t>echo $array2[3][2];</a:t>
            </a:r>
          </a:p>
          <a:p>
            <a:pPr>
              <a:buNone/>
            </a:pPr>
            <a:r>
              <a:rPr lang="en-US" sz="3200" dirty="0" smtClean="0"/>
              <a:t>Output: z</a:t>
            </a:r>
          </a:p>
          <a:p>
            <a:pPr>
              <a:buNone/>
            </a:pP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22</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4</a:t>
            </a:r>
            <a:endParaRPr lang="en-US" sz="3600" dirty="0"/>
          </a:p>
        </p:txBody>
      </p:sp>
      <p:sp>
        <p:nvSpPr>
          <p:cNvPr id="3" name="Content Placeholder 2"/>
          <p:cNvSpPr>
            <a:spLocks noGrp="1"/>
          </p:cNvSpPr>
          <p:nvPr>
            <p:ph idx="1"/>
          </p:nvPr>
        </p:nvSpPr>
        <p:spPr>
          <a:xfrm>
            <a:off x="457200" y="1905000"/>
            <a:ext cx="8686800" cy="838200"/>
          </a:xfrm>
        </p:spPr>
        <p:txBody>
          <a:bodyPr>
            <a:noAutofit/>
          </a:bodyPr>
          <a:lstStyle/>
          <a:p>
            <a:pPr>
              <a:buNone/>
            </a:pPr>
            <a:r>
              <a:rPr lang="en-US" sz="3200" dirty="0" smtClean="0"/>
              <a:t>$array2 = array(6,"fox", "dog", array("x", "y", z"));</a:t>
            </a:r>
          </a:p>
          <a:p>
            <a:r>
              <a:rPr lang="en-SG" sz="3200" b="1" dirty="0" smtClean="0"/>
              <a:t>$array2[1] = "cat";</a:t>
            </a:r>
            <a:endParaRPr lang="en-US" sz="3200" dirty="0" smtClean="0"/>
          </a:p>
          <a:p>
            <a:r>
              <a:rPr lang="en-SG" sz="3200" dirty="0" smtClean="0"/>
              <a:t>echo $array2[1];</a:t>
            </a:r>
          </a:p>
          <a:p>
            <a:r>
              <a:rPr lang="en-US" sz="3200" dirty="0"/>
              <a:t>$array2 = array(6</a:t>
            </a:r>
            <a:r>
              <a:rPr lang="en-US" sz="3200" dirty="0" smtClean="0"/>
              <a:t>,“cat", </a:t>
            </a:r>
            <a:r>
              <a:rPr lang="en-US" sz="3200" dirty="0"/>
              <a:t>"dog", array("x", "y", z"));</a:t>
            </a:r>
          </a:p>
          <a:p>
            <a:endParaRPr lang="en-SG" sz="3200" dirty="0" smtClean="0"/>
          </a:p>
          <a:p>
            <a:r>
              <a:rPr lang="en-SG" sz="3200" dirty="0" smtClean="0"/>
              <a:t>Output: cat</a:t>
            </a:r>
            <a:endParaRPr lang="en-US" sz="3200" dirty="0" smtClean="0"/>
          </a:p>
          <a:p>
            <a:pPr>
              <a:buNone/>
            </a:pP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23</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5 Associative Arrays</a:t>
            </a:r>
            <a:endParaRPr lang="en-US" sz="3600" dirty="0"/>
          </a:p>
        </p:txBody>
      </p:sp>
      <p:sp>
        <p:nvSpPr>
          <p:cNvPr id="3" name="Content Placeholder 2"/>
          <p:cNvSpPr>
            <a:spLocks noGrp="1"/>
          </p:cNvSpPr>
          <p:nvPr>
            <p:ph idx="1"/>
          </p:nvPr>
        </p:nvSpPr>
        <p:spPr>
          <a:xfrm>
            <a:off x="457200" y="1905000"/>
            <a:ext cx="8686800" cy="838200"/>
          </a:xfrm>
        </p:spPr>
        <p:txBody>
          <a:bodyPr>
            <a:noAutofit/>
          </a:bodyPr>
          <a:lstStyle/>
          <a:p>
            <a:pPr>
              <a:buNone/>
            </a:pPr>
            <a:r>
              <a:rPr lang="en-SG" sz="3200" dirty="0" smtClean="0"/>
              <a:t>$array3 = array("</a:t>
            </a:r>
            <a:r>
              <a:rPr lang="en-SG" sz="3200" dirty="0" err="1" smtClean="0"/>
              <a:t>first_name</a:t>
            </a:r>
            <a:r>
              <a:rPr lang="en-SG" sz="3200" dirty="0" smtClean="0"/>
              <a:t>" =&gt; "Kevin", "</a:t>
            </a:r>
            <a:r>
              <a:rPr lang="en-SG" sz="3200" dirty="0" err="1" smtClean="0"/>
              <a:t>last_name</a:t>
            </a:r>
            <a:r>
              <a:rPr lang="en-SG" sz="3200" dirty="0" smtClean="0"/>
              <a:t>" =&gt; “Lim</a:t>
            </a:r>
            <a:r>
              <a:rPr lang="en-US" sz="3200" dirty="0" smtClean="0"/>
              <a:t> );</a:t>
            </a:r>
          </a:p>
          <a:p>
            <a:pPr>
              <a:buNone/>
            </a:pPr>
            <a:r>
              <a:rPr lang="en-US" sz="3200" dirty="0" smtClean="0"/>
              <a:t>echo $array3["</a:t>
            </a:r>
            <a:r>
              <a:rPr lang="en-US" sz="3200" dirty="0" err="1" smtClean="0"/>
              <a:t>first_name</a:t>
            </a:r>
            <a:r>
              <a:rPr lang="en-US" sz="3200" dirty="0" smtClean="0"/>
              <a:t>"] . " " . $array3["</a:t>
            </a:r>
            <a:r>
              <a:rPr lang="en-US" sz="3200" dirty="0" err="1" smtClean="0"/>
              <a:t>last_name</a:t>
            </a:r>
            <a:r>
              <a:rPr lang="en-US" sz="3200" dirty="0" smtClean="0"/>
              <a:t>"] . "&lt;</a:t>
            </a:r>
            <a:r>
              <a:rPr lang="en-US" sz="3200" dirty="0" err="1" smtClean="0"/>
              <a:t>br</a:t>
            </a:r>
            <a:r>
              <a:rPr lang="en-US" sz="3200" dirty="0" smtClean="0"/>
              <a:t> /&gt;";</a:t>
            </a:r>
          </a:p>
          <a:p>
            <a:pPr>
              <a:buNone/>
            </a:pPr>
            <a:endParaRPr lang="en-SG" sz="3200" dirty="0" smtClean="0"/>
          </a:p>
          <a:p>
            <a:endParaRPr lang="en-SG" sz="3200" dirty="0" smtClean="0"/>
          </a:p>
          <a:p>
            <a:r>
              <a:rPr lang="en-SG" sz="3200" dirty="0" smtClean="0"/>
              <a:t>Output:  Kevin Lim</a:t>
            </a:r>
            <a:endParaRPr lang="en-US" sz="3200" dirty="0" smtClean="0"/>
          </a:p>
          <a:p>
            <a:pPr>
              <a:buNone/>
            </a:pPr>
            <a:endParaRPr lang="en-US" sz="32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24</a:t>
            </a:fld>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6 Array Functions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25</a:t>
            </a:fld>
            <a:endParaRPr lang="en-US"/>
          </a:p>
        </p:txBody>
      </p:sp>
      <p:sp>
        <p:nvSpPr>
          <p:cNvPr id="6" name="Content Placeholder 5"/>
          <p:cNvSpPr>
            <a:spLocks noGrp="1"/>
          </p:cNvSpPr>
          <p:nvPr>
            <p:ph idx="1"/>
          </p:nvPr>
        </p:nvSpPr>
        <p:spPr>
          <a:xfrm>
            <a:off x="986620" y="1295400"/>
            <a:ext cx="8157380" cy="4876800"/>
          </a:xfrm>
        </p:spPr>
        <p:txBody>
          <a:bodyPr>
            <a:normAutofit/>
          </a:bodyPr>
          <a:lstStyle/>
          <a:p>
            <a:r>
              <a:rPr lang="en-US" dirty="0" smtClean="0"/>
              <a:t> $array1 = array(4,8,15,16,23,42);  </a:t>
            </a:r>
          </a:p>
          <a:p>
            <a:r>
              <a:rPr lang="en-US" dirty="0" smtClean="0"/>
              <a:t> count($array1);  		</a:t>
            </a:r>
          </a:p>
          <a:p>
            <a:r>
              <a:rPr lang="en-US" dirty="0" smtClean="0"/>
              <a:t>max($array1);  </a:t>
            </a:r>
          </a:p>
          <a:p>
            <a:r>
              <a:rPr lang="en-US" dirty="0" smtClean="0"/>
              <a:t>min($array1); </a:t>
            </a:r>
          </a:p>
          <a:p>
            <a:r>
              <a:rPr lang="en-US" dirty="0" smtClean="0"/>
              <a:t>sort($array1); </a:t>
            </a:r>
            <a:r>
              <a:rPr lang="en-US" dirty="0" err="1" smtClean="0"/>
              <a:t>print_r</a:t>
            </a:r>
            <a:r>
              <a:rPr lang="en-US" dirty="0" smtClean="0"/>
              <a:t>($array1);  </a:t>
            </a:r>
          </a:p>
          <a:p>
            <a:r>
              <a:rPr lang="en-US" dirty="0" err="1" smtClean="0"/>
              <a:t>rsort</a:t>
            </a:r>
            <a:r>
              <a:rPr lang="en-US" dirty="0" smtClean="0"/>
              <a:t>($array1); </a:t>
            </a:r>
            <a:r>
              <a:rPr lang="en-US" dirty="0" err="1" smtClean="0"/>
              <a:t>print_r</a:t>
            </a:r>
            <a:r>
              <a:rPr lang="en-US" dirty="0" smtClean="0"/>
              <a:t>($array1</a:t>
            </a:r>
            <a:r>
              <a:rPr lang="en-US" dirty="0" smtClean="0"/>
              <a:t>);</a:t>
            </a:r>
          </a:p>
          <a:p>
            <a:endParaRPr lang="en-US" dirty="0"/>
          </a:p>
          <a:p>
            <a:r>
              <a:rPr lang="en-US" sz="2000" dirty="0" err="1"/>
              <a:t>Reference:http</a:t>
            </a:r>
            <a:r>
              <a:rPr lang="en-US" sz="2000" dirty="0"/>
              <a:t>://www.w3schools.com/php/php_arrays.asp  </a:t>
            </a:r>
            <a:endParaRPr lang="en-US" sz="2000"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Arrays – example 6 Array Functions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26</a:t>
            </a:fld>
            <a:endParaRPr lang="en-US"/>
          </a:p>
        </p:txBody>
      </p:sp>
      <p:pic>
        <p:nvPicPr>
          <p:cNvPr id="28674" name="Picture 2" descr="C:\Users\Tommy\Desktop\ScreenHunter_32 Oct. 10 17.58.jpg"/>
          <p:cNvPicPr>
            <a:picLocks noChangeAspect="1" noChangeArrowheads="1"/>
          </p:cNvPicPr>
          <p:nvPr/>
        </p:nvPicPr>
        <p:blipFill>
          <a:blip r:embed="rId3" cstate="print"/>
          <a:srcRect/>
          <a:stretch>
            <a:fillRect/>
          </a:stretch>
        </p:blipFill>
        <p:spPr bwMode="auto">
          <a:xfrm>
            <a:off x="341218" y="1676400"/>
            <a:ext cx="8802782" cy="2117725"/>
          </a:xfrm>
          <a:prstGeom prst="rect">
            <a:avLst/>
          </a:prstGeom>
          <a:noFill/>
        </p:spPr>
      </p:pic>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Typecasting</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27</a:t>
            </a:fld>
            <a:endParaRPr lang="en-US"/>
          </a:p>
        </p:txBody>
      </p:sp>
      <p:sp>
        <p:nvSpPr>
          <p:cNvPr id="7" name="TextBox 6"/>
          <p:cNvSpPr txBox="1"/>
          <p:nvPr/>
        </p:nvSpPr>
        <p:spPr>
          <a:xfrm>
            <a:off x="609600" y="2286000"/>
            <a:ext cx="2873607" cy="923330"/>
          </a:xfrm>
          <a:prstGeom prst="rect">
            <a:avLst/>
          </a:prstGeom>
          <a:solidFill>
            <a:schemeClr val="tx2">
              <a:lumMod val="60000"/>
              <a:lumOff val="40000"/>
            </a:schemeClr>
          </a:solidFill>
        </p:spPr>
        <p:txBody>
          <a:bodyPr wrap="none" rtlCol="0">
            <a:spAutoFit/>
          </a:bodyPr>
          <a:lstStyle/>
          <a:p>
            <a:r>
              <a:rPr lang="nb-NO" dirty="0" smtClean="0"/>
              <a:t>$var = "10";</a:t>
            </a:r>
            <a:br>
              <a:rPr lang="nb-NO" dirty="0" smtClean="0"/>
            </a:br>
            <a:r>
              <a:rPr lang="nb-NO" dirty="0" smtClean="0"/>
              <a:t>$value = 10 + $var;</a:t>
            </a:r>
            <a:br>
              <a:rPr lang="nb-NO" dirty="0" smtClean="0"/>
            </a:br>
            <a:r>
              <a:rPr lang="nb-NO" dirty="0" smtClean="0"/>
              <a:t>var_dump($value); // int(20)</a:t>
            </a:r>
            <a:endParaRPr lang="en-SG" dirty="0"/>
          </a:p>
        </p:txBody>
      </p:sp>
      <p:sp>
        <p:nvSpPr>
          <p:cNvPr id="8" name="TextBox 7"/>
          <p:cNvSpPr txBox="1"/>
          <p:nvPr/>
        </p:nvSpPr>
        <p:spPr>
          <a:xfrm>
            <a:off x="533400" y="1828800"/>
            <a:ext cx="1810752" cy="369332"/>
          </a:xfrm>
          <a:prstGeom prst="rect">
            <a:avLst/>
          </a:prstGeom>
          <a:noFill/>
        </p:spPr>
        <p:txBody>
          <a:bodyPr wrap="none" rtlCol="0">
            <a:spAutoFit/>
          </a:bodyPr>
          <a:lstStyle/>
          <a:p>
            <a:r>
              <a:rPr lang="en-US" dirty="0" smtClean="0"/>
              <a:t>Casting on the fly</a:t>
            </a:r>
            <a:endParaRPr lang="en-SG" dirty="0"/>
          </a:p>
        </p:txBody>
      </p:sp>
      <p:sp>
        <p:nvSpPr>
          <p:cNvPr id="9" name="TextBox 8"/>
          <p:cNvSpPr txBox="1"/>
          <p:nvPr/>
        </p:nvSpPr>
        <p:spPr>
          <a:xfrm>
            <a:off x="4267200" y="2057400"/>
            <a:ext cx="3507948" cy="1200329"/>
          </a:xfrm>
          <a:prstGeom prst="rect">
            <a:avLst/>
          </a:prstGeom>
          <a:solidFill>
            <a:schemeClr val="tx2">
              <a:lumMod val="60000"/>
              <a:lumOff val="40000"/>
            </a:schemeClr>
          </a:solidFill>
        </p:spPr>
        <p:txBody>
          <a:bodyPr wrap="none" rtlCol="0">
            <a:spAutoFit/>
          </a:bodyPr>
          <a:lstStyle/>
          <a:p>
            <a:r>
              <a:rPr lang="nb-NO" dirty="0" smtClean="0"/>
              <a:t>$var = "10";</a:t>
            </a:r>
            <a:br>
              <a:rPr lang="nb-NO" dirty="0" smtClean="0"/>
            </a:br>
            <a:r>
              <a:rPr lang="nb-NO" dirty="0" smtClean="0"/>
              <a:t>$value = 10 + $var;</a:t>
            </a:r>
            <a:br>
              <a:rPr lang="nb-NO" dirty="0" smtClean="0"/>
            </a:br>
            <a:r>
              <a:rPr lang="nb-NO" dirty="0" smtClean="0"/>
              <a:t>$value = (string)$value;</a:t>
            </a:r>
            <a:br>
              <a:rPr lang="nb-NO" dirty="0" smtClean="0"/>
            </a:br>
            <a:r>
              <a:rPr lang="nb-NO" dirty="0" smtClean="0"/>
              <a:t>var_dump($value); // string(2) "20"</a:t>
            </a:r>
            <a:endParaRPr lang="en-SG" dirty="0"/>
          </a:p>
        </p:txBody>
      </p:sp>
      <p:sp>
        <p:nvSpPr>
          <p:cNvPr id="10" name="TextBox 9"/>
          <p:cNvSpPr txBox="1"/>
          <p:nvPr/>
        </p:nvSpPr>
        <p:spPr>
          <a:xfrm>
            <a:off x="4419600" y="1676400"/>
            <a:ext cx="2451184" cy="369332"/>
          </a:xfrm>
          <a:prstGeom prst="rect">
            <a:avLst/>
          </a:prstGeom>
          <a:noFill/>
        </p:spPr>
        <p:txBody>
          <a:bodyPr wrap="none" rtlCol="0">
            <a:spAutoFit/>
          </a:bodyPr>
          <a:lstStyle/>
          <a:p>
            <a:r>
              <a:rPr lang="en-SG" dirty="0" smtClean="0"/>
              <a:t>explicitly cast a variable,</a:t>
            </a:r>
            <a:endParaRPr lang="en-SG" dirty="0"/>
          </a:p>
        </p:txBody>
      </p:sp>
      <p:sp>
        <p:nvSpPr>
          <p:cNvPr id="12" name="TextBox 11"/>
          <p:cNvSpPr txBox="1"/>
          <p:nvPr/>
        </p:nvSpPr>
        <p:spPr>
          <a:xfrm>
            <a:off x="609600" y="3352800"/>
            <a:ext cx="2163734" cy="369332"/>
          </a:xfrm>
          <a:prstGeom prst="rect">
            <a:avLst/>
          </a:prstGeom>
          <a:noFill/>
        </p:spPr>
        <p:txBody>
          <a:bodyPr wrap="none" rtlCol="0">
            <a:spAutoFit/>
          </a:bodyPr>
          <a:lstStyle/>
          <a:p>
            <a:r>
              <a:rPr lang="en-US" dirty="0" smtClean="0"/>
              <a:t>Casting using </a:t>
            </a:r>
            <a:r>
              <a:rPr lang="en-US" dirty="0" err="1" smtClean="0"/>
              <a:t>settype</a:t>
            </a:r>
            <a:endParaRPr lang="en-SG" dirty="0"/>
          </a:p>
        </p:txBody>
      </p:sp>
      <p:sp>
        <p:nvSpPr>
          <p:cNvPr id="13" name="Rectangle 12"/>
          <p:cNvSpPr/>
          <p:nvPr/>
        </p:nvSpPr>
        <p:spPr>
          <a:xfrm>
            <a:off x="533400" y="1295400"/>
            <a:ext cx="6781800" cy="369332"/>
          </a:xfrm>
          <a:prstGeom prst="rect">
            <a:avLst/>
          </a:prstGeom>
        </p:spPr>
        <p:txBody>
          <a:bodyPr wrap="square">
            <a:spAutoFit/>
          </a:bodyPr>
          <a:lstStyle/>
          <a:p>
            <a:r>
              <a:rPr lang="en-SG" dirty="0" err="1" smtClean="0"/>
              <a:t>PHP</a:t>
            </a:r>
            <a:r>
              <a:rPr lang="en-SG" dirty="0" smtClean="0"/>
              <a:t> re-casts variables on-the-fly. So, the following code is valid:</a:t>
            </a:r>
            <a:endParaRPr lang="en-US" dirty="0" smtClean="0"/>
          </a:p>
        </p:txBody>
      </p:sp>
      <p:sp>
        <p:nvSpPr>
          <p:cNvPr id="14" name="TextBox 13"/>
          <p:cNvSpPr txBox="1"/>
          <p:nvPr/>
        </p:nvSpPr>
        <p:spPr>
          <a:xfrm>
            <a:off x="533400" y="3657600"/>
            <a:ext cx="3276600" cy="2585323"/>
          </a:xfrm>
          <a:prstGeom prst="rect">
            <a:avLst/>
          </a:prstGeom>
          <a:solidFill>
            <a:schemeClr val="tx2">
              <a:lumMod val="60000"/>
              <a:lumOff val="40000"/>
            </a:schemeClr>
          </a:solidFill>
        </p:spPr>
        <p:txBody>
          <a:bodyPr wrap="square" rtlCol="0">
            <a:spAutoFit/>
          </a:bodyPr>
          <a:lstStyle/>
          <a:p>
            <a:r>
              <a:rPr lang="en-SG" dirty="0" err="1" smtClean="0"/>
              <a:t>settype</a:t>
            </a:r>
            <a:r>
              <a:rPr lang="en-SG" dirty="0" smtClean="0"/>
              <a:t>($</a:t>
            </a:r>
            <a:r>
              <a:rPr lang="en-SG" dirty="0" err="1" smtClean="0"/>
              <a:t>foo</a:t>
            </a:r>
            <a:r>
              <a:rPr lang="en-SG" dirty="0" smtClean="0"/>
              <a:t>, "array"); </a:t>
            </a:r>
          </a:p>
          <a:p>
            <a:r>
              <a:rPr lang="en-SG" dirty="0" err="1" smtClean="0"/>
              <a:t>settype</a:t>
            </a:r>
            <a:r>
              <a:rPr lang="en-SG" dirty="0" smtClean="0"/>
              <a:t>($</a:t>
            </a:r>
            <a:r>
              <a:rPr lang="en-SG" dirty="0" err="1" smtClean="0"/>
              <a:t>foo</a:t>
            </a:r>
            <a:r>
              <a:rPr lang="en-SG" dirty="0" smtClean="0"/>
              <a:t>, "</a:t>
            </a:r>
            <a:r>
              <a:rPr lang="en-SG" dirty="0" err="1" smtClean="0"/>
              <a:t>bool</a:t>
            </a:r>
            <a:r>
              <a:rPr lang="en-SG" dirty="0" smtClean="0"/>
              <a:t>"); </a:t>
            </a:r>
          </a:p>
          <a:p>
            <a:r>
              <a:rPr lang="en-SG" dirty="0" err="1" smtClean="0"/>
              <a:t>settype</a:t>
            </a:r>
            <a:r>
              <a:rPr lang="en-SG" dirty="0" smtClean="0"/>
              <a:t>($</a:t>
            </a:r>
            <a:r>
              <a:rPr lang="en-SG" dirty="0" err="1" smtClean="0"/>
              <a:t>foo</a:t>
            </a:r>
            <a:r>
              <a:rPr lang="en-SG" dirty="0" smtClean="0"/>
              <a:t>, "</a:t>
            </a:r>
            <a:r>
              <a:rPr lang="en-SG" dirty="0" err="1" smtClean="0"/>
              <a:t>boolean</a:t>
            </a:r>
            <a:r>
              <a:rPr lang="en-SG" dirty="0" smtClean="0"/>
              <a:t>"); </a:t>
            </a:r>
          </a:p>
          <a:p>
            <a:r>
              <a:rPr lang="en-SG" dirty="0" err="1" smtClean="0"/>
              <a:t>settype</a:t>
            </a:r>
            <a:r>
              <a:rPr lang="en-SG" dirty="0" smtClean="0"/>
              <a:t>($</a:t>
            </a:r>
            <a:r>
              <a:rPr lang="en-SG" dirty="0" err="1" smtClean="0"/>
              <a:t>foo</a:t>
            </a:r>
            <a:r>
              <a:rPr lang="en-SG" dirty="0" smtClean="0"/>
              <a:t>, "float"); </a:t>
            </a:r>
          </a:p>
          <a:p>
            <a:r>
              <a:rPr lang="en-SG" dirty="0" err="1" smtClean="0"/>
              <a:t>settype</a:t>
            </a:r>
            <a:r>
              <a:rPr lang="en-SG" dirty="0" smtClean="0"/>
              <a:t>($</a:t>
            </a:r>
            <a:r>
              <a:rPr lang="en-SG" dirty="0" err="1" smtClean="0"/>
              <a:t>foo</a:t>
            </a:r>
            <a:r>
              <a:rPr lang="en-SG" dirty="0" smtClean="0"/>
              <a:t>, "</a:t>
            </a:r>
            <a:r>
              <a:rPr lang="en-SG" dirty="0" err="1" smtClean="0"/>
              <a:t>int</a:t>
            </a:r>
            <a:r>
              <a:rPr lang="en-SG" dirty="0" smtClean="0"/>
              <a:t>"); </a:t>
            </a:r>
          </a:p>
          <a:p>
            <a:r>
              <a:rPr lang="en-SG" dirty="0" err="1" smtClean="0"/>
              <a:t>settype</a:t>
            </a:r>
            <a:r>
              <a:rPr lang="en-SG" dirty="0" smtClean="0"/>
              <a:t>($</a:t>
            </a:r>
            <a:r>
              <a:rPr lang="en-SG" dirty="0" err="1" smtClean="0"/>
              <a:t>foo</a:t>
            </a:r>
            <a:r>
              <a:rPr lang="en-SG" dirty="0" smtClean="0"/>
              <a:t>, "integer"); </a:t>
            </a:r>
          </a:p>
          <a:p>
            <a:r>
              <a:rPr lang="en-SG" dirty="0" err="1" smtClean="0"/>
              <a:t>settype</a:t>
            </a:r>
            <a:r>
              <a:rPr lang="en-SG" dirty="0" smtClean="0"/>
              <a:t>($</a:t>
            </a:r>
            <a:r>
              <a:rPr lang="en-SG" dirty="0" err="1" smtClean="0"/>
              <a:t>foo</a:t>
            </a:r>
            <a:r>
              <a:rPr lang="en-SG" dirty="0" smtClean="0"/>
              <a:t>, "null"); </a:t>
            </a:r>
          </a:p>
          <a:p>
            <a:r>
              <a:rPr lang="en-SG" dirty="0" err="1" smtClean="0"/>
              <a:t>settype</a:t>
            </a:r>
            <a:r>
              <a:rPr lang="en-SG" dirty="0" smtClean="0"/>
              <a:t>($</a:t>
            </a:r>
            <a:r>
              <a:rPr lang="en-SG" dirty="0" err="1" smtClean="0"/>
              <a:t>foo</a:t>
            </a:r>
            <a:r>
              <a:rPr lang="en-SG" dirty="0" smtClean="0"/>
              <a:t>, "object"); </a:t>
            </a:r>
          </a:p>
          <a:p>
            <a:r>
              <a:rPr lang="en-SG" dirty="0" err="1" smtClean="0"/>
              <a:t>settype</a:t>
            </a:r>
            <a:r>
              <a:rPr lang="en-SG" dirty="0" smtClean="0"/>
              <a:t>($</a:t>
            </a:r>
            <a:r>
              <a:rPr lang="en-SG" dirty="0" err="1" smtClean="0"/>
              <a:t>foo</a:t>
            </a:r>
            <a:r>
              <a:rPr lang="en-SG" dirty="0" smtClean="0"/>
              <a:t>, "string");</a:t>
            </a:r>
            <a:endParaRPr lang="en-SG" dirty="0"/>
          </a:p>
        </p:txBody>
      </p:sp>
      <p:sp>
        <p:nvSpPr>
          <p:cNvPr id="15" name="TextBox 14"/>
          <p:cNvSpPr txBox="1"/>
          <p:nvPr/>
        </p:nvSpPr>
        <p:spPr>
          <a:xfrm>
            <a:off x="4800600" y="3352800"/>
            <a:ext cx="2027158" cy="369332"/>
          </a:xfrm>
          <a:prstGeom prst="rect">
            <a:avLst/>
          </a:prstGeom>
          <a:noFill/>
        </p:spPr>
        <p:txBody>
          <a:bodyPr wrap="none" rtlCol="0">
            <a:spAutoFit/>
          </a:bodyPr>
          <a:lstStyle/>
          <a:p>
            <a:r>
              <a:rPr lang="en-US" dirty="0" smtClean="0"/>
              <a:t>Casting using (type)</a:t>
            </a:r>
            <a:endParaRPr lang="en-SG" dirty="0"/>
          </a:p>
        </p:txBody>
      </p:sp>
      <p:sp>
        <p:nvSpPr>
          <p:cNvPr id="16" name="TextBox 15"/>
          <p:cNvSpPr txBox="1"/>
          <p:nvPr/>
        </p:nvSpPr>
        <p:spPr>
          <a:xfrm>
            <a:off x="4419600" y="3657600"/>
            <a:ext cx="3352800" cy="2862322"/>
          </a:xfrm>
          <a:prstGeom prst="rect">
            <a:avLst/>
          </a:prstGeom>
          <a:solidFill>
            <a:schemeClr val="tx2">
              <a:lumMod val="60000"/>
              <a:lumOff val="40000"/>
            </a:schemeClr>
          </a:solidFill>
        </p:spPr>
        <p:txBody>
          <a:bodyPr wrap="square" rtlCol="0">
            <a:spAutoFit/>
          </a:bodyPr>
          <a:lstStyle/>
          <a:p>
            <a:r>
              <a:rPr lang="en-SG" dirty="0" smtClean="0"/>
              <a:t>$</a:t>
            </a:r>
            <a:r>
              <a:rPr lang="en-SG" dirty="0" err="1" smtClean="0"/>
              <a:t>foo</a:t>
            </a:r>
            <a:r>
              <a:rPr lang="en-SG" dirty="0" smtClean="0"/>
              <a:t> = (array)$</a:t>
            </a:r>
            <a:r>
              <a:rPr lang="en-SG" dirty="0" err="1" smtClean="0"/>
              <a:t>foo</a:t>
            </a:r>
            <a:r>
              <a:rPr lang="en-SG" dirty="0" smtClean="0"/>
              <a:t>; </a:t>
            </a:r>
          </a:p>
          <a:p>
            <a:r>
              <a:rPr lang="en-SG" dirty="0" smtClean="0"/>
              <a:t>$</a:t>
            </a:r>
            <a:r>
              <a:rPr lang="en-SG" dirty="0" err="1" smtClean="0"/>
              <a:t>foo</a:t>
            </a:r>
            <a:r>
              <a:rPr lang="en-SG" dirty="0" smtClean="0"/>
              <a:t> = (binary)$</a:t>
            </a:r>
            <a:r>
              <a:rPr lang="en-SG" dirty="0" err="1" smtClean="0"/>
              <a:t>foo</a:t>
            </a:r>
            <a:r>
              <a:rPr lang="en-SG" dirty="0" smtClean="0"/>
              <a:t>; </a:t>
            </a:r>
          </a:p>
          <a:p>
            <a:r>
              <a:rPr lang="en-SG" dirty="0" smtClean="0"/>
              <a:t>$</a:t>
            </a:r>
            <a:r>
              <a:rPr lang="en-SG" dirty="0" err="1" smtClean="0"/>
              <a:t>foo</a:t>
            </a:r>
            <a:r>
              <a:rPr lang="en-SG" dirty="0" smtClean="0"/>
              <a:t> = (</a:t>
            </a:r>
            <a:r>
              <a:rPr lang="en-SG" dirty="0" err="1" smtClean="0"/>
              <a:t>bool</a:t>
            </a:r>
            <a:r>
              <a:rPr lang="en-SG" dirty="0" smtClean="0"/>
              <a:t>)$</a:t>
            </a:r>
            <a:r>
              <a:rPr lang="en-SG" dirty="0" err="1" smtClean="0"/>
              <a:t>foo</a:t>
            </a:r>
            <a:r>
              <a:rPr lang="en-SG" dirty="0" smtClean="0"/>
              <a:t>; </a:t>
            </a:r>
          </a:p>
          <a:p>
            <a:r>
              <a:rPr lang="en-SG" dirty="0" smtClean="0"/>
              <a:t>$</a:t>
            </a:r>
            <a:r>
              <a:rPr lang="en-SG" dirty="0" err="1" smtClean="0"/>
              <a:t>foo</a:t>
            </a:r>
            <a:r>
              <a:rPr lang="en-SG" dirty="0" smtClean="0"/>
              <a:t> = (</a:t>
            </a:r>
            <a:r>
              <a:rPr lang="en-SG" dirty="0" err="1" smtClean="0"/>
              <a:t>boolean</a:t>
            </a:r>
            <a:r>
              <a:rPr lang="en-SG" dirty="0" smtClean="0"/>
              <a:t>)$</a:t>
            </a:r>
            <a:r>
              <a:rPr lang="en-SG" dirty="0" err="1" smtClean="0"/>
              <a:t>foo</a:t>
            </a:r>
            <a:r>
              <a:rPr lang="en-SG" dirty="0" smtClean="0"/>
              <a:t>; </a:t>
            </a:r>
          </a:p>
          <a:p>
            <a:r>
              <a:rPr lang="en-SG" dirty="0" smtClean="0"/>
              <a:t>$</a:t>
            </a:r>
            <a:r>
              <a:rPr lang="en-SG" dirty="0" err="1" smtClean="0"/>
              <a:t>foo</a:t>
            </a:r>
            <a:r>
              <a:rPr lang="en-SG" dirty="0" smtClean="0"/>
              <a:t> = (double)$</a:t>
            </a:r>
            <a:r>
              <a:rPr lang="en-SG" dirty="0" err="1" smtClean="0"/>
              <a:t>foo</a:t>
            </a:r>
            <a:r>
              <a:rPr lang="en-SG" dirty="0" smtClean="0"/>
              <a:t>; </a:t>
            </a:r>
          </a:p>
          <a:p>
            <a:r>
              <a:rPr lang="en-SG" dirty="0" smtClean="0"/>
              <a:t>$</a:t>
            </a:r>
            <a:r>
              <a:rPr lang="en-SG" dirty="0" err="1" smtClean="0"/>
              <a:t>foo</a:t>
            </a:r>
            <a:r>
              <a:rPr lang="en-SG" dirty="0" smtClean="0"/>
              <a:t> = (float)$</a:t>
            </a:r>
            <a:r>
              <a:rPr lang="en-SG" dirty="0" err="1" smtClean="0"/>
              <a:t>foo</a:t>
            </a:r>
            <a:r>
              <a:rPr lang="en-SG" dirty="0" smtClean="0"/>
              <a:t>; </a:t>
            </a:r>
          </a:p>
          <a:p>
            <a:r>
              <a:rPr lang="en-SG" dirty="0" smtClean="0"/>
              <a:t>$</a:t>
            </a:r>
            <a:r>
              <a:rPr lang="en-SG" dirty="0" err="1" smtClean="0"/>
              <a:t>foo</a:t>
            </a:r>
            <a:r>
              <a:rPr lang="en-SG" dirty="0" smtClean="0"/>
              <a:t> = (</a:t>
            </a:r>
            <a:r>
              <a:rPr lang="en-SG" dirty="0" err="1" smtClean="0"/>
              <a:t>int</a:t>
            </a:r>
            <a:r>
              <a:rPr lang="en-SG" dirty="0" smtClean="0"/>
              <a:t>)$</a:t>
            </a:r>
            <a:r>
              <a:rPr lang="en-SG" dirty="0" err="1" smtClean="0"/>
              <a:t>foo</a:t>
            </a:r>
            <a:r>
              <a:rPr lang="en-SG" dirty="0" smtClean="0"/>
              <a:t>; </a:t>
            </a:r>
          </a:p>
          <a:p>
            <a:r>
              <a:rPr lang="en-SG" dirty="0" smtClean="0"/>
              <a:t>$</a:t>
            </a:r>
            <a:r>
              <a:rPr lang="en-SG" dirty="0" err="1" smtClean="0"/>
              <a:t>foo</a:t>
            </a:r>
            <a:r>
              <a:rPr lang="en-SG" dirty="0" smtClean="0"/>
              <a:t> = (integer)$</a:t>
            </a:r>
            <a:r>
              <a:rPr lang="en-SG" dirty="0" err="1" smtClean="0"/>
              <a:t>foo</a:t>
            </a:r>
            <a:r>
              <a:rPr lang="en-SG" dirty="0" smtClean="0"/>
              <a:t>; </a:t>
            </a:r>
          </a:p>
          <a:p>
            <a:r>
              <a:rPr lang="en-SG" dirty="0" smtClean="0"/>
              <a:t>$</a:t>
            </a:r>
            <a:r>
              <a:rPr lang="en-SG" dirty="0" err="1" smtClean="0"/>
              <a:t>foo</a:t>
            </a:r>
            <a:r>
              <a:rPr lang="en-SG" dirty="0" smtClean="0"/>
              <a:t> = (object)$</a:t>
            </a:r>
            <a:r>
              <a:rPr lang="en-SG" dirty="0" err="1" smtClean="0"/>
              <a:t>foo</a:t>
            </a:r>
            <a:r>
              <a:rPr lang="en-SG" dirty="0" smtClean="0"/>
              <a:t>; </a:t>
            </a:r>
          </a:p>
          <a:p>
            <a:r>
              <a:rPr lang="en-SG" dirty="0" smtClean="0"/>
              <a:t>$</a:t>
            </a:r>
            <a:r>
              <a:rPr lang="en-SG" dirty="0" err="1" smtClean="0"/>
              <a:t>foo</a:t>
            </a:r>
            <a:r>
              <a:rPr lang="en-SG" dirty="0" smtClean="0"/>
              <a:t> = (string)$</a:t>
            </a:r>
            <a:r>
              <a:rPr lang="en-SG" dirty="0" err="1" smtClean="0"/>
              <a:t>foo</a:t>
            </a:r>
            <a:r>
              <a:rPr lang="en-SG" dirty="0" smtClean="0"/>
              <a:t>;</a:t>
            </a:r>
            <a:endParaRPr lang="en-SG"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PHP Typecasting</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28</a:t>
            </a:fld>
            <a:endParaRPr lang="en-US"/>
          </a:p>
        </p:txBody>
      </p:sp>
      <p:sp>
        <p:nvSpPr>
          <p:cNvPr id="6" name="Content Placeholder 5"/>
          <p:cNvSpPr>
            <a:spLocks noGrp="1"/>
          </p:cNvSpPr>
          <p:nvPr>
            <p:ph idx="1"/>
          </p:nvPr>
        </p:nvSpPr>
        <p:spPr>
          <a:xfrm>
            <a:off x="986620" y="1295400"/>
            <a:ext cx="8157380" cy="4876800"/>
          </a:xfrm>
        </p:spPr>
        <p:txBody>
          <a:bodyPr>
            <a:normAutofit lnSpcReduction="10000"/>
          </a:bodyPr>
          <a:lstStyle/>
          <a:p>
            <a:pPr>
              <a:buNone/>
            </a:pPr>
            <a:r>
              <a:rPr lang="en-SG" dirty="0" smtClean="0"/>
              <a:t> Setting the data type for a variable:</a:t>
            </a:r>
          </a:p>
          <a:p>
            <a:pPr>
              <a:buNone/>
            </a:pPr>
            <a:r>
              <a:rPr lang="en-SG" dirty="0" err="1" smtClean="0"/>
              <a:t>settype</a:t>
            </a:r>
            <a:r>
              <a:rPr lang="en-SG" dirty="0" smtClean="0"/>
              <a:t>($var2, "string");</a:t>
            </a:r>
          </a:p>
          <a:p>
            <a:pPr>
              <a:buNone/>
            </a:pPr>
            <a:endParaRPr lang="en-SG" dirty="0" smtClean="0"/>
          </a:p>
          <a:p>
            <a:pPr>
              <a:buNone/>
            </a:pPr>
            <a:r>
              <a:rPr lang="en-SG" dirty="0" smtClean="0"/>
              <a:t>Checking </a:t>
            </a:r>
            <a:r>
              <a:rPr lang="en-SG" dirty="0" err="1" smtClean="0"/>
              <a:t>datatype</a:t>
            </a:r>
            <a:r>
              <a:rPr lang="en-SG" dirty="0" smtClean="0"/>
              <a:t> for a variable:</a:t>
            </a:r>
          </a:p>
          <a:p>
            <a:pPr>
              <a:buNone/>
            </a:pPr>
            <a:r>
              <a:rPr lang="en-SG" dirty="0" err="1" smtClean="0"/>
              <a:t>is_bool</a:t>
            </a:r>
            <a:r>
              <a:rPr lang="en-SG" dirty="0" smtClean="0"/>
              <a:t>($var1)</a:t>
            </a:r>
          </a:p>
          <a:p>
            <a:pPr>
              <a:buNone/>
            </a:pPr>
            <a:r>
              <a:rPr lang="en-SG" dirty="0" err="1" smtClean="0"/>
              <a:t>is_float</a:t>
            </a:r>
            <a:r>
              <a:rPr lang="en-SG" dirty="0" smtClean="0"/>
              <a:t>($var1);</a:t>
            </a:r>
          </a:p>
          <a:p>
            <a:pPr>
              <a:buNone/>
            </a:pPr>
            <a:r>
              <a:rPr lang="en-US" dirty="0" err="1" smtClean="0"/>
              <a:t>is_int</a:t>
            </a:r>
            <a:r>
              <a:rPr lang="en-US" dirty="0" smtClean="0"/>
              <a:t>($var1);	</a:t>
            </a:r>
          </a:p>
          <a:p>
            <a:pPr>
              <a:buNone/>
            </a:pPr>
            <a:r>
              <a:rPr lang="en-US" dirty="0" err="1" smtClean="0"/>
              <a:t>is_null</a:t>
            </a:r>
            <a:r>
              <a:rPr lang="en-US" dirty="0" smtClean="0"/>
              <a:t>($var1);	</a:t>
            </a:r>
          </a:p>
          <a:p>
            <a:pPr>
              <a:buNone/>
            </a:pPr>
            <a:r>
              <a:rPr lang="en-US" dirty="0" err="1"/>
              <a:t>i</a:t>
            </a:r>
            <a:r>
              <a:rPr lang="en-US" dirty="0" err="1" smtClean="0"/>
              <a:t>s_numeric</a:t>
            </a:r>
            <a:r>
              <a:rPr lang="en-US" dirty="0" smtClean="0"/>
              <a:t>($var1);</a:t>
            </a:r>
          </a:p>
          <a:p>
            <a:pPr>
              <a:buNone/>
            </a:pPr>
            <a:r>
              <a:rPr lang="en-US" dirty="0" err="1" smtClean="0"/>
              <a:t>is_string</a:t>
            </a:r>
            <a:r>
              <a:rPr lang="en-US" dirty="0" smtClean="0"/>
              <a:t>($var1);	</a:t>
            </a:r>
            <a:endParaRPr lang="en-US" dirty="0"/>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Controls</a:t>
            </a:r>
            <a:endParaRPr lang="en-US" dirty="0"/>
          </a:p>
        </p:txBody>
      </p:sp>
      <p:sp>
        <p:nvSpPr>
          <p:cNvPr id="3" name="Content Placeholder 2"/>
          <p:cNvSpPr>
            <a:spLocks noGrp="1"/>
          </p:cNvSpPr>
          <p:nvPr>
            <p:ph idx="1"/>
          </p:nvPr>
        </p:nvSpPr>
        <p:spPr/>
        <p:txBody>
          <a:bodyPr/>
          <a:lstStyle/>
          <a:p>
            <a:r>
              <a:rPr lang="en-US" dirty="0" smtClean="0"/>
              <a:t>IF Else</a:t>
            </a:r>
          </a:p>
          <a:p>
            <a:r>
              <a:rPr lang="en-US" dirty="0" smtClean="0"/>
              <a:t>if (</a:t>
            </a:r>
            <a:r>
              <a:rPr lang="en-US" i="1" dirty="0" smtClean="0"/>
              <a:t>condition</a:t>
            </a:r>
            <a:r>
              <a:rPr lang="en-US" dirty="0" smtClean="0"/>
              <a:t>)</a:t>
            </a:r>
            <a:br>
              <a:rPr lang="en-US" dirty="0" smtClean="0"/>
            </a:br>
            <a:r>
              <a:rPr lang="en-US" dirty="0" smtClean="0"/>
              <a:t>  {</a:t>
            </a:r>
            <a:br>
              <a:rPr lang="en-US" dirty="0" smtClean="0"/>
            </a:br>
            <a:r>
              <a:rPr lang="en-US" dirty="0" smtClean="0"/>
              <a:t>  </a:t>
            </a:r>
            <a:r>
              <a:rPr lang="en-US" i="1" dirty="0" smtClean="0"/>
              <a:t>code to be executed if condition is true;</a:t>
            </a:r>
            <a:br>
              <a:rPr lang="en-US" i="1" dirty="0" smtClean="0"/>
            </a:br>
            <a:r>
              <a:rPr lang="en-US" i="1" dirty="0" smtClean="0"/>
              <a:t>  </a:t>
            </a:r>
            <a:r>
              <a:rPr lang="en-US" dirty="0" smtClean="0"/>
              <a:t>}</a:t>
            </a:r>
            <a:br>
              <a:rPr lang="en-US" dirty="0" smtClean="0"/>
            </a:br>
            <a:r>
              <a:rPr lang="en-US" dirty="0" smtClean="0"/>
              <a:t>else</a:t>
            </a:r>
            <a:br>
              <a:rPr lang="en-US" dirty="0" smtClean="0"/>
            </a:br>
            <a:r>
              <a:rPr lang="en-US" dirty="0" smtClean="0"/>
              <a:t>  {</a:t>
            </a:r>
            <a:br>
              <a:rPr lang="en-US" dirty="0" smtClean="0"/>
            </a:br>
            <a:r>
              <a:rPr lang="en-US" dirty="0" smtClean="0"/>
              <a:t>  </a:t>
            </a:r>
            <a:r>
              <a:rPr lang="en-US" i="1" dirty="0" smtClean="0"/>
              <a:t>code to be executed if condition is false;</a:t>
            </a:r>
            <a:br>
              <a:rPr lang="en-US" i="1" dirty="0" smtClean="0"/>
            </a:br>
            <a:r>
              <a:rPr lang="en-US" i="1" dirty="0" smtClean="0"/>
              <a:t>  </a:t>
            </a:r>
            <a:r>
              <a:rPr lang="en-US" dirty="0" smtClean="0"/>
              <a: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IF ELSE controls</a:t>
            </a:r>
            <a:endParaRPr lang="en-US" dirty="0"/>
          </a:p>
        </p:txBody>
      </p:sp>
      <p:sp>
        <p:nvSpPr>
          <p:cNvPr id="3" name="Content Placeholder 2"/>
          <p:cNvSpPr>
            <a:spLocks noGrp="1"/>
          </p:cNvSpPr>
          <p:nvPr>
            <p:ph idx="1"/>
          </p:nvPr>
        </p:nvSpPr>
        <p:spPr/>
        <p:txBody>
          <a:bodyPr>
            <a:normAutofit/>
          </a:bodyPr>
          <a:lstStyle/>
          <a:p>
            <a:r>
              <a:rPr lang="en-US" dirty="0" smtClean="0"/>
              <a:t>IF Else</a:t>
            </a:r>
          </a:p>
          <a:p>
            <a:r>
              <a:rPr lang="en-US" dirty="0" smtClean="0"/>
              <a:t> &lt;?</a:t>
            </a:r>
            <a:r>
              <a:rPr lang="en-US" dirty="0" err="1" smtClean="0"/>
              <a:t>php</a:t>
            </a:r>
            <a:r>
              <a:rPr lang="en-US" dirty="0" smtClean="0"/>
              <a:t> $d=date("D");</a:t>
            </a:r>
            <a:br>
              <a:rPr lang="en-US" dirty="0" smtClean="0"/>
            </a:br>
            <a:r>
              <a:rPr lang="en-US" dirty="0" smtClean="0"/>
              <a:t>if ($d=="Fri")</a:t>
            </a:r>
            <a:br>
              <a:rPr lang="en-US" dirty="0" smtClean="0"/>
            </a:br>
            <a:r>
              <a:rPr lang="en-US" dirty="0" smtClean="0"/>
              <a:t>  {</a:t>
            </a:r>
            <a:br>
              <a:rPr lang="en-US" dirty="0" smtClean="0"/>
            </a:br>
            <a:r>
              <a:rPr lang="en-US" dirty="0" smtClean="0"/>
              <a:t>  echo "Have a nice weekend!";</a:t>
            </a:r>
            <a:br>
              <a:rPr lang="en-US" dirty="0" smtClean="0"/>
            </a:br>
            <a:r>
              <a:rPr lang="en-US" dirty="0" smtClean="0"/>
              <a:t>  }</a:t>
            </a:r>
            <a:br>
              <a:rPr lang="en-US" dirty="0" smtClean="0"/>
            </a:br>
            <a:r>
              <a:rPr lang="en-US" dirty="0" smtClean="0"/>
              <a:t>else</a:t>
            </a:r>
            <a:br>
              <a:rPr lang="en-US" dirty="0" smtClean="0"/>
            </a:br>
            <a:r>
              <a:rPr lang="en-US" dirty="0" smtClean="0"/>
              <a:t>  {</a:t>
            </a:r>
            <a:br>
              <a:rPr lang="en-US" dirty="0" smtClean="0"/>
            </a:br>
            <a:r>
              <a:rPr lang="en-US" dirty="0" smtClean="0"/>
              <a:t>  echo "Have a nice day!";</a:t>
            </a:r>
            <a:br>
              <a:rPr lang="en-US" dirty="0" smtClean="0"/>
            </a:br>
            <a:r>
              <a:rPr lang="en-US" dirty="0" smtClean="0"/>
              <a:t>  }</a:t>
            </a:r>
            <a:br>
              <a:rPr lang="en-US" dirty="0" smtClean="0"/>
            </a:br>
            <a:r>
              <a:rPr lang="en-US" dirty="0" smtClean="0"/>
              <a:t>?&gt;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IF ELSEIF controls</a:t>
            </a:r>
            <a:endParaRPr lang="en-US" dirty="0"/>
          </a:p>
        </p:txBody>
      </p:sp>
      <p:sp>
        <p:nvSpPr>
          <p:cNvPr id="3" name="Content Placeholder 2"/>
          <p:cNvSpPr>
            <a:spLocks noGrp="1"/>
          </p:cNvSpPr>
          <p:nvPr>
            <p:ph idx="1"/>
          </p:nvPr>
        </p:nvSpPr>
        <p:spPr/>
        <p:txBody>
          <a:bodyPr>
            <a:normAutofit lnSpcReduction="10000"/>
          </a:bodyPr>
          <a:lstStyle/>
          <a:p>
            <a:r>
              <a:rPr lang="en-US" dirty="0" smtClean="0"/>
              <a:t>if (</a:t>
            </a:r>
            <a:r>
              <a:rPr lang="en-US" i="1" dirty="0" smtClean="0"/>
              <a:t>condition</a:t>
            </a:r>
            <a:r>
              <a:rPr lang="en-US" dirty="0" smtClean="0"/>
              <a:t>)</a:t>
            </a:r>
            <a:br>
              <a:rPr lang="en-US" dirty="0" smtClean="0"/>
            </a:br>
            <a:r>
              <a:rPr lang="en-US" dirty="0" smtClean="0"/>
              <a:t>  {</a:t>
            </a:r>
            <a:br>
              <a:rPr lang="en-US" dirty="0" smtClean="0"/>
            </a:br>
            <a:r>
              <a:rPr lang="en-US" dirty="0" smtClean="0"/>
              <a:t>  </a:t>
            </a:r>
            <a:r>
              <a:rPr lang="en-US" i="1" dirty="0" smtClean="0"/>
              <a:t>code to be executed if condition is true;</a:t>
            </a:r>
            <a:br>
              <a:rPr lang="en-US" i="1" dirty="0" smtClean="0"/>
            </a:br>
            <a:r>
              <a:rPr lang="en-US" i="1" dirty="0" smtClean="0"/>
              <a:t>  </a:t>
            </a:r>
            <a:r>
              <a:rPr lang="en-US" dirty="0" smtClean="0"/>
              <a:t>}</a:t>
            </a:r>
            <a:br>
              <a:rPr lang="en-US" dirty="0" smtClean="0"/>
            </a:br>
            <a:r>
              <a:rPr lang="en-US" dirty="0" err="1" smtClean="0"/>
              <a:t>elseif</a:t>
            </a:r>
            <a:r>
              <a:rPr lang="en-US" dirty="0" smtClean="0"/>
              <a:t> (</a:t>
            </a:r>
            <a:r>
              <a:rPr lang="en-US" i="1" dirty="0" smtClean="0"/>
              <a:t>condition</a:t>
            </a:r>
            <a:r>
              <a:rPr lang="en-US" dirty="0" smtClean="0"/>
              <a:t>)</a:t>
            </a:r>
            <a:br>
              <a:rPr lang="en-US" dirty="0" smtClean="0"/>
            </a:br>
            <a:r>
              <a:rPr lang="en-US" dirty="0" smtClean="0"/>
              <a:t>  {</a:t>
            </a:r>
            <a:br>
              <a:rPr lang="en-US" dirty="0" smtClean="0"/>
            </a:br>
            <a:r>
              <a:rPr lang="en-US" dirty="0" smtClean="0"/>
              <a:t>  </a:t>
            </a:r>
            <a:r>
              <a:rPr lang="en-US" i="1" dirty="0" smtClean="0"/>
              <a:t>code to be executed if condition is true;</a:t>
            </a:r>
            <a:br>
              <a:rPr lang="en-US" i="1" dirty="0" smtClean="0"/>
            </a:br>
            <a:r>
              <a:rPr lang="en-US" i="1" dirty="0" smtClean="0"/>
              <a:t>  </a:t>
            </a:r>
            <a:r>
              <a:rPr lang="en-US" dirty="0" smtClean="0"/>
              <a:t>}</a:t>
            </a:r>
            <a:r>
              <a:rPr lang="en-US" i="1" dirty="0" smtClean="0"/>
              <a:t/>
            </a:r>
            <a:br>
              <a:rPr lang="en-US" i="1" dirty="0" smtClean="0"/>
            </a:br>
            <a:r>
              <a:rPr lang="en-US" dirty="0" smtClean="0"/>
              <a:t>else</a:t>
            </a:r>
            <a:br>
              <a:rPr lang="en-US" dirty="0" smtClean="0"/>
            </a:br>
            <a:r>
              <a:rPr lang="en-US" dirty="0" smtClean="0"/>
              <a:t>  {</a:t>
            </a:r>
            <a:br>
              <a:rPr lang="en-US" dirty="0" smtClean="0"/>
            </a:br>
            <a:r>
              <a:rPr lang="en-US" dirty="0" smtClean="0"/>
              <a:t>  </a:t>
            </a:r>
            <a:r>
              <a:rPr lang="en-US" i="1" dirty="0" smtClean="0"/>
              <a:t>code to be executed if condition is false;</a:t>
            </a:r>
            <a:br>
              <a:rPr lang="en-US" i="1" dirty="0" smtClean="0"/>
            </a:br>
            <a:r>
              <a:rPr lang="en-US" dirty="0" smtClean="0"/>
              <a:t>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WHILE CONTROLS</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32</a:t>
            </a:fld>
            <a:endParaRPr lang="en-US"/>
          </a:p>
        </p:txBody>
      </p:sp>
      <p:sp>
        <p:nvSpPr>
          <p:cNvPr id="7" name="Rectangle 6"/>
          <p:cNvSpPr/>
          <p:nvPr/>
        </p:nvSpPr>
        <p:spPr>
          <a:xfrm>
            <a:off x="1981200" y="2590800"/>
            <a:ext cx="5486400" cy="2554545"/>
          </a:xfrm>
          <a:prstGeom prst="rect">
            <a:avLst/>
          </a:prstGeom>
        </p:spPr>
        <p:txBody>
          <a:bodyPr wrap="square">
            <a:spAutoFit/>
          </a:bodyPr>
          <a:lstStyle/>
          <a:p>
            <a:r>
              <a:rPr lang="en-US" sz="4000" dirty="0" smtClean="0"/>
              <a:t>while (</a:t>
            </a:r>
            <a:r>
              <a:rPr lang="en-US" sz="4000" i="1" dirty="0" smtClean="0"/>
              <a:t>condition</a:t>
            </a:r>
            <a:r>
              <a:rPr lang="en-US" sz="4000" dirty="0" smtClean="0"/>
              <a:t>)</a:t>
            </a:r>
            <a:br>
              <a:rPr lang="en-US" sz="4000" dirty="0" smtClean="0"/>
            </a:br>
            <a:r>
              <a:rPr lang="en-US" sz="4000" dirty="0" smtClean="0"/>
              <a:t>  {</a:t>
            </a:r>
            <a:br>
              <a:rPr lang="en-US" sz="4000" dirty="0" smtClean="0"/>
            </a:br>
            <a:r>
              <a:rPr lang="en-US" sz="4000" i="1" dirty="0" smtClean="0"/>
              <a:t>  code to be executed</a:t>
            </a:r>
            <a:r>
              <a:rPr lang="en-US" sz="4000" dirty="0" smtClean="0"/>
              <a:t>;</a:t>
            </a:r>
            <a:br>
              <a:rPr lang="en-US" sz="4000" dirty="0" smtClean="0"/>
            </a:br>
            <a:r>
              <a:rPr lang="en-US" sz="4000" dirty="0" smtClean="0"/>
              <a:t>  }</a:t>
            </a:r>
            <a:endParaRPr lang="en-US" sz="40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WHILE CONTROLS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33</a:t>
            </a:fld>
            <a:endParaRPr lang="en-US"/>
          </a:p>
        </p:txBody>
      </p:sp>
      <p:sp>
        <p:nvSpPr>
          <p:cNvPr id="7" name="Rectangle 6"/>
          <p:cNvSpPr/>
          <p:nvPr/>
        </p:nvSpPr>
        <p:spPr>
          <a:xfrm>
            <a:off x="838200" y="1981200"/>
            <a:ext cx="4191000" cy="3539430"/>
          </a:xfrm>
          <a:prstGeom prst="rect">
            <a:avLst/>
          </a:prstGeom>
        </p:spPr>
        <p:txBody>
          <a:bodyPr wrap="square">
            <a:spAutoFit/>
          </a:bodyPr>
          <a:lstStyle/>
          <a:p>
            <a:r>
              <a:rPr lang="en-US" sz="2800" dirty="0" smtClean="0"/>
              <a:t>&lt;?</a:t>
            </a:r>
            <a:r>
              <a:rPr lang="en-US" sz="2800" dirty="0" err="1" smtClean="0"/>
              <a:t>php</a:t>
            </a:r>
            <a:r>
              <a:rPr lang="en-US" sz="2800" dirty="0" smtClean="0"/>
              <a:t>	</a:t>
            </a:r>
          </a:p>
          <a:p>
            <a:r>
              <a:rPr lang="en-US" sz="2800" dirty="0" smtClean="0"/>
              <a:t>$</a:t>
            </a:r>
            <a:r>
              <a:rPr lang="en-US" sz="2800" dirty="0" err="1" smtClean="0"/>
              <a:t>i</a:t>
            </a:r>
            <a:r>
              <a:rPr lang="en-US" sz="2800" dirty="0" smtClean="0"/>
              <a:t>=1;			</a:t>
            </a:r>
          </a:p>
          <a:p>
            <a:r>
              <a:rPr lang="en-US" sz="2800" dirty="0" smtClean="0"/>
              <a:t>while($</a:t>
            </a:r>
            <a:r>
              <a:rPr lang="en-US" sz="2800" dirty="0" err="1" smtClean="0"/>
              <a:t>i</a:t>
            </a:r>
            <a:r>
              <a:rPr lang="en-US" sz="2800" dirty="0" smtClean="0"/>
              <a:t>&lt;=5)</a:t>
            </a:r>
          </a:p>
          <a:p>
            <a:r>
              <a:rPr lang="en-US" sz="2800" dirty="0" smtClean="0"/>
              <a:t> { echo "The number is " . $</a:t>
            </a:r>
            <a:r>
              <a:rPr lang="en-US" sz="2800" dirty="0" err="1" smtClean="0"/>
              <a:t>i</a:t>
            </a:r>
            <a:r>
              <a:rPr lang="en-US" sz="2800" dirty="0" smtClean="0"/>
              <a:t> . "&lt;</a:t>
            </a:r>
            <a:r>
              <a:rPr lang="en-US" sz="2800" dirty="0" err="1" smtClean="0"/>
              <a:t>br</a:t>
            </a:r>
            <a:r>
              <a:rPr lang="en-US" sz="2800" dirty="0" smtClean="0"/>
              <a:t> /&gt;";	</a:t>
            </a:r>
          </a:p>
          <a:p>
            <a:r>
              <a:rPr lang="en-US" sz="2800" dirty="0" smtClean="0"/>
              <a:t>  $</a:t>
            </a:r>
            <a:r>
              <a:rPr lang="en-US" sz="2800" dirty="0" err="1" smtClean="0"/>
              <a:t>i</a:t>
            </a:r>
            <a:r>
              <a:rPr lang="en-US" sz="2800" dirty="0" smtClean="0"/>
              <a:t>++;</a:t>
            </a:r>
          </a:p>
          <a:p>
            <a:r>
              <a:rPr lang="en-US" sz="2800" dirty="0" smtClean="0"/>
              <a:t>  }				</a:t>
            </a:r>
          </a:p>
          <a:p>
            <a:r>
              <a:rPr lang="en-US" sz="2800" dirty="0" smtClean="0"/>
              <a:t>?&gt;</a:t>
            </a:r>
            <a:endParaRPr lang="en-US" sz="2800" dirty="0"/>
          </a:p>
        </p:txBody>
      </p:sp>
      <p:sp>
        <p:nvSpPr>
          <p:cNvPr id="9" name="Content Placeholder 7"/>
          <p:cNvSpPr txBox="1">
            <a:spLocks/>
          </p:cNvSpPr>
          <p:nvPr/>
        </p:nvSpPr>
        <p:spPr>
          <a:xfrm>
            <a:off x="5105400" y="2514600"/>
            <a:ext cx="3505200" cy="2514600"/>
          </a:xfrm>
          <a:prstGeom prst="rect">
            <a:avLst/>
          </a:prstGeom>
          <a:ln>
            <a:solidFill>
              <a:schemeClr val="accent1">
                <a:alpha val="60000"/>
              </a:schemeClr>
            </a:solidFill>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Pct val="70000"/>
              <a:buFont typeface="Wingdings" pitchFamily="2" charset="2"/>
              <a:buChar char=""/>
              <a:tabLst/>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The number is 1</a:t>
            </a:r>
            <a:br>
              <a:rPr kumimoji="0" lang="en-US" sz="2800" b="0" i="0" u="none" strike="noStrike" kern="1200" cap="none" spc="0" normalizeH="0" baseline="0" noProof="0" smtClean="0">
                <a:ln>
                  <a:noFill/>
                </a:ln>
                <a:solidFill>
                  <a:schemeClr val="tx1"/>
                </a:solidFill>
                <a:effectLst/>
                <a:uLnTx/>
                <a:uFillTx/>
                <a:latin typeface="+mn-lt"/>
                <a:ea typeface="+mn-ea"/>
                <a:cs typeface="+mn-cs"/>
              </a:rPr>
            </a:br>
            <a:r>
              <a:rPr kumimoji="0" lang="en-US" sz="2800" b="0" i="0" u="none" strike="noStrike" kern="1200" cap="none" spc="0" normalizeH="0" baseline="0" noProof="0" smtClean="0">
                <a:ln>
                  <a:noFill/>
                </a:ln>
                <a:solidFill>
                  <a:schemeClr val="tx1"/>
                </a:solidFill>
                <a:effectLst/>
                <a:uLnTx/>
                <a:uFillTx/>
                <a:latin typeface="+mn-lt"/>
                <a:ea typeface="+mn-ea"/>
                <a:cs typeface="+mn-cs"/>
              </a:rPr>
              <a:t>The number is 2</a:t>
            </a:r>
            <a:br>
              <a:rPr kumimoji="0" lang="en-US" sz="2800" b="0" i="0" u="none" strike="noStrike" kern="1200" cap="none" spc="0" normalizeH="0" baseline="0" noProof="0" smtClean="0">
                <a:ln>
                  <a:noFill/>
                </a:ln>
                <a:solidFill>
                  <a:schemeClr val="tx1"/>
                </a:solidFill>
                <a:effectLst/>
                <a:uLnTx/>
                <a:uFillTx/>
                <a:latin typeface="+mn-lt"/>
                <a:ea typeface="+mn-ea"/>
                <a:cs typeface="+mn-cs"/>
              </a:rPr>
            </a:br>
            <a:r>
              <a:rPr kumimoji="0" lang="en-US" sz="2800" b="0" i="0" u="none" strike="noStrike" kern="1200" cap="none" spc="0" normalizeH="0" baseline="0" noProof="0" smtClean="0">
                <a:ln>
                  <a:noFill/>
                </a:ln>
                <a:solidFill>
                  <a:schemeClr val="tx1"/>
                </a:solidFill>
                <a:effectLst/>
                <a:uLnTx/>
                <a:uFillTx/>
                <a:latin typeface="+mn-lt"/>
                <a:ea typeface="+mn-ea"/>
                <a:cs typeface="+mn-cs"/>
              </a:rPr>
              <a:t>The number is 3</a:t>
            </a:r>
            <a:br>
              <a:rPr kumimoji="0" lang="en-US" sz="2800" b="0" i="0" u="none" strike="noStrike" kern="1200" cap="none" spc="0" normalizeH="0" baseline="0" noProof="0" smtClean="0">
                <a:ln>
                  <a:noFill/>
                </a:ln>
                <a:solidFill>
                  <a:schemeClr val="tx1"/>
                </a:solidFill>
                <a:effectLst/>
                <a:uLnTx/>
                <a:uFillTx/>
                <a:latin typeface="+mn-lt"/>
                <a:ea typeface="+mn-ea"/>
                <a:cs typeface="+mn-cs"/>
              </a:rPr>
            </a:br>
            <a:r>
              <a:rPr kumimoji="0" lang="en-US" sz="2800" b="0" i="0" u="none" strike="noStrike" kern="1200" cap="none" spc="0" normalizeH="0" baseline="0" noProof="0" smtClean="0">
                <a:ln>
                  <a:noFill/>
                </a:ln>
                <a:solidFill>
                  <a:schemeClr val="tx1"/>
                </a:solidFill>
                <a:effectLst/>
                <a:uLnTx/>
                <a:uFillTx/>
                <a:latin typeface="+mn-lt"/>
                <a:ea typeface="+mn-ea"/>
                <a:cs typeface="+mn-cs"/>
              </a:rPr>
              <a:t>The number is 4</a:t>
            </a:r>
            <a:br>
              <a:rPr kumimoji="0" lang="en-US" sz="2800" b="0" i="0" u="none" strike="noStrike" kern="1200" cap="none" spc="0" normalizeH="0" baseline="0" noProof="0" smtClean="0">
                <a:ln>
                  <a:noFill/>
                </a:ln>
                <a:solidFill>
                  <a:schemeClr val="tx1"/>
                </a:solidFill>
                <a:effectLst/>
                <a:uLnTx/>
                <a:uFillTx/>
                <a:latin typeface="+mn-lt"/>
                <a:ea typeface="+mn-ea"/>
                <a:cs typeface="+mn-cs"/>
              </a:rPr>
            </a:br>
            <a:r>
              <a:rPr kumimoji="0" lang="en-US" sz="2800" b="0" i="0" u="none" strike="noStrike" kern="1200" cap="none" spc="0" normalizeH="0" baseline="0" noProof="0" smtClean="0">
                <a:ln>
                  <a:noFill/>
                </a:ln>
                <a:solidFill>
                  <a:schemeClr val="tx1"/>
                </a:solidFill>
                <a:effectLst/>
                <a:uLnTx/>
                <a:uFillTx/>
                <a:latin typeface="+mn-lt"/>
                <a:ea typeface="+mn-ea"/>
                <a:cs typeface="+mn-cs"/>
              </a:rPr>
              <a:t>The number is 5</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 LOOPS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34</a:t>
            </a:fld>
            <a:endParaRPr lang="en-US"/>
          </a:p>
        </p:txBody>
      </p:sp>
      <p:sp>
        <p:nvSpPr>
          <p:cNvPr id="7" name="Rectangle 6"/>
          <p:cNvSpPr/>
          <p:nvPr/>
        </p:nvSpPr>
        <p:spPr>
          <a:xfrm>
            <a:off x="1371600" y="2286000"/>
            <a:ext cx="7162800" cy="3785652"/>
          </a:xfrm>
          <a:prstGeom prst="rect">
            <a:avLst/>
          </a:prstGeom>
        </p:spPr>
        <p:txBody>
          <a:bodyPr wrap="square">
            <a:spAutoFit/>
          </a:bodyPr>
          <a:lstStyle/>
          <a:p>
            <a:r>
              <a:rPr lang="en-US" sz="4000" dirty="0" smtClean="0"/>
              <a:t>for (</a:t>
            </a:r>
            <a:r>
              <a:rPr lang="en-US" sz="4000" i="1" dirty="0" smtClean="0"/>
              <a:t>init; condition; increment</a:t>
            </a:r>
            <a:r>
              <a:rPr lang="en-US" sz="4000" dirty="0" smtClean="0"/>
              <a:t>)</a:t>
            </a:r>
            <a:br>
              <a:rPr lang="en-US" sz="4000" dirty="0" smtClean="0"/>
            </a:br>
            <a:r>
              <a:rPr lang="en-US" sz="4000" dirty="0" smtClean="0"/>
              <a:t>  {</a:t>
            </a:r>
            <a:br>
              <a:rPr lang="en-US" sz="4000" dirty="0" smtClean="0"/>
            </a:br>
            <a:r>
              <a:rPr lang="en-US" sz="4000" dirty="0" smtClean="0"/>
              <a:t>  </a:t>
            </a:r>
            <a:r>
              <a:rPr lang="en-US" sz="4000" i="1" dirty="0" smtClean="0"/>
              <a:t>code to be executed;</a:t>
            </a:r>
            <a:r>
              <a:rPr lang="en-US" sz="4000" dirty="0" smtClean="0"/>
              <a:t/>
            </a:r>
            <a:br>
              <a:rPr lang="en-US" sz="4000" dirty="0" smtClean="0"/>
            </a:br>
            <a:r>
              <a:rPr lang="en-US" sz="4000" dirty="0" smtClean="0"/>
              <a:t>  }</a:t>
            </a:r>
          </a:p>
          <a:p>
            <a:r>
              <a:rPr lang="en-US" sz="4000" dirty="0" smtClean="0"/>
              <a:t/>
            </a:r>
            <a:br>
              <a:rPr lang="en-US" sz="4000" dirty="0" smtClean="0"/>
            </a:br>
            <a:endParaRPr lang="en-US" sz="4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 LOOPS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35</a:t>
            </a:fld>
            <a:endParaRPr lang="en-US"/>
          </a:p>
        </p:txBody>
      </p:sp>
      <p:sp>
        <p:nvSpPr>
          <p:cNvPr id="7" name="Rectangle 6"/>
          <p:cNvSpPr/>
          <p:nvPr/>
        </p:nvSpPr>
        <p:spPr>
          <a:xfrm>
            <a:off x="838200" y="1981200"/>
            <a:ext cx="4191000" cy="3108543"/>
          </a:xfrm>
          <a:prstGeom prst="rect">
            <a:avLst/>
          </a:prstGeom>
        </p:spPr>
        <p:txBody>
          <a:bodyPr wrap="square">
            <a:spAutoFit/>
          </a:bodyPr>
          <a:lstStyle/>
          <a:p>
            <a:r>
              <a:rPr lang="en-US" sz="2800" dirty="0" smtClean="0"/>
              <a:t>&lt;?</a:t>
            </a:r>
            <a:r>
              <a:rPr lang="en-US" sz="2800" dirty="0" err="1" smtClean="0"/>
              <a:t>php</a:t>
            </a:r>
            <a:r>
              <a:rPr lang="en-US" sz="2800" dirty="0" smtClean="0"/>
              <a:t/>
            </a:r>
            <a:br>
              <a:rPr lang="en-US" sz="2800" dirty="0" smtClean="0"/>
            </a:br>
            <a:r>
              <a:rPr lang="en-US" sz="2800" dirty="0" smtClean="0"/>
              <a:t>for ($</a:t>
            </a:r>
            <a:r>
              <a:rPr lang="en-US" sz="2800" dirty="0" err="1" smtClean="0"/>
              <a:t>i</a:t>
            </a:r>
            <a:r>
              <a:rPr lang="en-US" sz="2800" dirty="0" smtClean="0"/>
              <a:t>=1; $</a:t>
            </a:r>
            <a:r>
              <a:rPr lang="en-US" sz="2800" dirty="0" err="1" smtClean="0"/>
              <a:t>i</a:t>
            </a:r>
            <a:r>
              <a:rPr lang="en-US" sz="2800" dirty="0" smtClean="0"/>
              <a:t>&lt;=5; $</a:t>
            </a:r>
            <a:r>
              <a:rPr lang="en-US" sz="2800" dirty="0" err="1" smtClean="0"/>
              <a:t>i</a:t>
            </a:r>
            <a:r>
              <a:rPr lang="en-US" sz="2800" dirty="0" smtClean="0"/>
              <a:t>++)</a:t>
            </a:r>
            <a:br>
              <a:rPr lang="en-US" sz="2800" dirty="0" smtClean="0"/>
            </a:br>
            <a:r>
              <a:rPr lang="en-US" sz="2800" dirty="0" smtClean="0"/>
              <a:t>  {</a:t>
            </a:r>
            <a:br>
              <a:rPr lang="en-US" sz="2800" dirty="0" smtClean="0"/>
            </a:br>
            <a:r>
              <a:rPr lang="en-US" sz="2800" dirty="0" smtClean="0"/>
              <a:t>  echo "The number is " . $</a:t>
            </a:r>
            <a:r>
              <a:rPr lang="en-US" sz="2800" dirty="0" err="1" smtClean="0"/>
              <a:t>i</a:t>
            </a:r>
            <a:r>
              <a:rPr lang="en-US" sz="2800" dirty="0" smtClean="0"/>
              <a:t> . "&lt;</a:t>
            </a:r>
            <a:r>
              <a:rPr lang="en-US" sz="2800" dirty="0" err="1" smtClean="0"/>
              <a:t>br</a:t>
            </a:r>
            <a:r>
              <a:rPr lang="en-US" sz="2800" dirty="0" smtClean="0"/>
              <a:t> /&gt;";</a:t>
            </a:r>
            <a:br>
              <a:rPr lang="en-US" sz="2800" dirty="0" smtClean="0"/>
            </a:br>
            <a:r>
              <a:rPr lang="en-US" sz="2800" dirty="0" smtClean="0"/>
              <a:t>  }</a:t>
            </a:r>
            <a:br>
              <a:rPr lang="en-US" sz="2800" dirty="0" smtClean="0"/>
            </a:br>
            <a:r>
              <a:rPr lang="en-US" sz="2800" dirty="0" smtClean="0"/>
              <a:t>?&gt;</a:t>
            </a:r>
            <a:endParaRPr lang="en-US" sz="2800" dirty="0"/>
          </a:p>
        </p:txBody>
      </p:sp>
      <p:sp>
        <p:nvSpPr>
          <p:cNvPr id="8" name="Content Placeholder 7"/>
          <p:cNvSpPr>
            <a:spLocks noGrp="1"/>
          </p:cNvSpPr>
          <p:nvPr>
            <p:ph idx="1"/>
          </p:nvPr>
        </p:nvSpPr>
        <p:spPr>
          <a:xfrm>
            <a:off x="5105400" y="2514600"/>
            <a:ext cx="3505200" cy="2514600"/>
          </a:xfrm>
          <a:ln>
            <a:solidFill>
              <a:schemeClr val="accent1">
                <a:alpha val="60000"/>
              </a:schemeClr>
            </a:solidFill>
          </a:ln>
        </p:spPr>
        <p:txBody>
          <a:bodyPr/>
          <a:lstStyle/>
          <a:p>
            <a:r>
              <a:rPr lang="en-US" dirty="0" smtClean="0"/>
              <a:t>The number is 1</a:t>
            </a:r>
            <a:br>
              <a:rPr lang="en-US" dirty="0" smtClean="0"/>
            </a:br>
            <a:r>
              <a:rPr lang="en-US" dirty="0" smtClean="0"/>
              <a:t>The number is 2</a:t>
            </a:r>
            <a:br>
              <a:rPr lang="en-US" dirty="0" smtClean="0"/>
            </a:br>
            <a:r>
              <a:rPr lang="en-US" dirty="0" smtClean="0"/>
              <a:t>The number is 3</a:t>
            </a:r>
            <a:br>
              <a:rPr lang="en-US" dirty="0" smtClean="0"/>
            </a:br>
            <a:r>
              <a:rPr lang="en-US" dirty="0" smtClean="0"/>
              <a:t>The number is 4</a:t>
            </a:r>
            <a:br>
              <a:rPr lang="en-US" dirty="0" smtClean="0"/>
            </a:br>
            <a:r>
              <a:rPr lang="en-US" dirty="0" smtClean="0"/>
              <a:t>The number is 5</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 EACH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36</a:t>
            </a:fld>
            <a:endParaRPr lang="en-US"/>
          </a:p>
        </p:txBody>
      </p:sp>
      <p:sp>
        <p:nvSpPr>
          <p:cNvPr id="7" name="Rectangle 6"/>
          <p:cNvSpPr/>
          <p:nvPr/>
        </p:nvSpPr>
        <p:spPr>
          <a:xfrm>
            <a:off x="1371600" y="2286000"/>
            <a:ext cx="7162800" cy="3170099"/>
          </a:xfrm>
          <a:prstGeom prst="rect">
            <a:avLst/>
          </a:prstGeom>
        </p:spPr>
        <p:txBody>
          <a:bodyPr wrap="square">
            <a:spAutoFit/>
          </a:bodyPr>
          <a:lstStyle/>
          <a:p>
            <a:r>
              <a:rPr lang="en-US" sz="4000" dirty="0" err="1" smtClean="0"/>
              <a:t>foreach</a:t>
            </a:r>
            <a:r>
              <a:rPr lang="en-US" sz="4000" dirty="0" smtClean="0"/>
              <a:t> ($</a:t>
            </a:r>
            <a:r>
              <a:rPr lang="en-US" sz="4000" i="1" dirty="0" smtClean="0"/>
              <a:t>array </a:t>
            </a:r>
            <a:r>
              <a:rPr lang="en-US" sz="4000" dirty="0" smtClean="0"/>
              <a:t>as</a:t>
            </a:r>
            <a:r>
              <a:rPr lang="en-US" sz="4000" i="1" dirty="0" smtClean="0"/>
              <a:t> </a:t>
            </a:r>
            <a:r>
              <a:rPr lang="en-US" sz="4000" dirty="0" smtClean="0"/>
              <a:t>$</a:t>
            </a:r>
            <a:r>
              <a:rPr lang="en-US" sz="4000" i="1" dirty="0" smtClean="0"/>
              <a:t>value</a:t>
            </a:r>
            <a:r>
              <a:rPr lang="en-US" sz="4000" dirty="0" smtClean="0"/>
              <a:t>)</a:t>
            </a:r>
            <a:br>
              <a:rPr lang="en-US" sz="4000" dirty="0" smtClean="0"/>
            </a:br>
            <a:r>
              <a:rPr lang="en-US" sz="4000" dirty="0" smtClean="0"/>
              <a:t>  {</a:t>
            </a:r>
            <a:br>
              <a:rPr lang="en-US" sz="4000" dirty="0" smtClean="0"/>
            </a:br>
            <a:r>
              <a:rPr lang="en-US" sz="4000" dirty="0" smtClean="0"/>
              <a:t>  </a:t>
            </a:r>
            <a:r>
              <a:rPr lang="en-US" sz="4000" i="1" dirty="0" smtClean="0"/>
              <a:t>code to be executed;</a:t>
            </a:r>
            <a:r>
              <a:rPr lang="en-US" sz="4000" dirty="0" smtClean="0"/>
              <a:t/>
            </a:r>
            <a:br>
              <a:rPr lang="en-US" sz="4000" dirty="0" smtClean="0"/>
            </a:br>
            <a:r>
              <a:rPr lang="en-US" sz="4000" dirty="0" smtClean="0"/>
              <a:t>  } </a:t>
            </a:r>
            <a:br>
              <a:rPr lang="en-US" sz="4000" dirty="0" smtClean="0"/>
            </a:br>
            <a:endParaRPr lang="en-US" sz="4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 EACH</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37</a:t>
            </a:fld>
            <a:endParaRPr lang="en-US"/>
          </a:p>
        </p:txBody>
      </p:sp>
      <p:sp>
        <p:nvSpPr>
          <p:cNvPr id="7" name="Rectangle 6"/>
          <p:cNvSpPr/>
          <p:nvPr/>
        </p:nvSpPr>
        <p:spPr>
          <a:xfrm>
            <a:off x="838200" y="1981200"/>
            <a:ext cx="4876800" cy="3108543"/>
          </a:xfrm>
          <a:prstGeom prst="rect">
            <a:avLst/>
          </a:prstGeom>
        </p:spPr>
        <p:txBody>
          <a:bodyPr wrap="square">
            <a:spAutoFit/>
          </a:bodyPr>
          <a:lstStyle/>
          <a:p>
            <a:r>
              <a:rPr lang="en-US" sz="2800" dirty="0" smtClean="0"/>
              <a:t>&lt;?</a:t>
            </a:r>
            <a:r>
              <a:rPr lang="en-US" sz="2800" dirty="0" err="1" smtClean="0"/>
              <a:t>php</a:t>
            </a:r>
            <a:r>
              <a:rPr lang="en-US" sz="2800" dirty="0" smtClean="0"/>
              <a:t/>
            </a:r>
            <a:br>
              <a:rPr lang="en-US" sz="2800" dirty="0" smtClean="0"/>
            </a:br>
            <a:r>
              <a:rPr lang="en-US" sz="2800" dirty="0" smtClean="0"/>
              <a:t>$x=array("</a:t>
            </a:r>
            <a:r>
              <a:rPr lang="en-US" sz="2800" dirty="0" err="1" smtClean="0"/>
              <a:t>one","two","three</a:t>
            </a:r>
            <a:r>
              <a:rPr lang="en-US" sz="2800" dirty="0" smtClean="0"/>
              <a:t>");</a:t>
            </a:r>
            <a:br>
              <a:rPr lang="en-US" sz="2800" dirty="0" smtClean="0"/>
            </a:br>
            <a:r>
              <a:rPr lang="en-US" sz="2800" dirty="0" err="1" smtClean="0"/>
              <a:t>foreach</a:t>
            </a:r>
            <a:r>
              <a:rPr lang="en-US" sz="2800" dirty="0" smtClean="0"/>
              <a:t> ($x as $value)</a:t>
            </a:r>
            <a:br>
              <a:rPr lang="en-US" sz="2800" dirty="0" smtClean="0"/>
            </a:br>
            <a:r>
              <a:rPr lang="en-US" sz="2800" dirty="0" smtClean="0"/>
              <a:t>  {</a:t>
            </a:r>
            <a:br>
              <a:rPr lang="en-US" sz="2800" dirty="0" smtClean="0"/>
            </a:br>
            <a:r>
              <a:rPr lang="en-US" sz="2800" dirty="0" smtClean="0"/>
              <a:t>  echo $value . "&lt;</a:t>
            </a:r>
            <a:r>
              <a:rPr lang="en-US" sz="2800" dirty="0" err="1" smtClean="0"/>
              <a:t>br</a:t>
            </a:r>
            <a:r>
              <a:rPr lang="en-US" sz="2800" dirty="0" smtClean="0"/>
              <a:t> /&gt;";</a:t>
            </a:r>
            <a:br>
              <a:rPr lang="en-US" sz="2800" dirty="0" smtClean="0"/>
            </a:br>
            <a:r>
              <a:rPr lang="en-US" sz="2800" dirty="0" smtClean="0"/>
              <a:t>  }</a:t>
            </a:r>
            <a:br>
              <a:rPr lang="en-US" sz="2800" dirty="0" smtClean="0"/>
            </a:br>
            <a:r>
              <a:rPr lang="en-US" sz="2800" dirty="0" smtClean="0"/>
              <a:t>?&gt;</a:t>
            </a:r>
            <a:endParaRPr lang="en-US" sz="2800" dirty="0"/>
          </a:p>
        </p:txBody>
      </p:sp>
      <p:sp>
        <p:nvSpPr>
          <p:cNvPr id="8" name="Content Placeholder 7"/>
          <p:cNvSpPr>
            <a:spLocks noGrp="1"/>
          </p:cNvSpPr>
          <p:nvPr>
            <p:ph idx="1"/>
          </p:nvPr>
        </p:nvSpPr>
        <p:spPr>
          <a:xfrm>
            <a:off x="5105400" y="3429000"/>
            <a:ext cx="3505200" cy="2514600"/>
          </a:xfrm>
          <a:ln>
            <a:solidFill>
              <a:schemeClr val="accent1">
                <a:alpha val="60000"/>
              </a:schemeClr>
            </a:solidFill>
          </a:ln>
        </p:spPr>
        <p:txBody>
          <a:bodyPr/>
          <a:lstStyle/>
          <a:p>
            <a:r>
              <a:rPr lang="en-US" dirty="0" smtClean="0"/>
              <a:t>one</a:t>
            </a:r>
            <a:br>
              <a:rPr lang="en-US" dirty="0" smtClean="0"/>
            </a:br>
            <a:r>
              <a:rPr lang="en-US" dirty="0" smtClean="0"/>
              <a:t>two</a:t>
            </a:r>
            <a:br>
              <a:rPr lang="en-US" dirty="0" smtClean="0"/>
            </a:br>
            <a:r>
              <a:rPr lang="en-US" dirty="0" smtClean="0"/>
              <a:t>three</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POST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38</a:t>
            </a:fld>
            <a:endParaRPr lang="en-US"/>
          </a:p>
        </p:txBody>
      </p:sp>
      <p:sp>
        <p:nvSpPr>
          <p:cNvPr id="12" name="Rectangle 11"/>
          <p:cNvSpPr/>
          <p:nvPr/>
        </p:nvSpPr>
        <p:spPr>
          <a:xfrm>
            <a:off x="1066800" y="1859340"/>
            <a:ext cx="7467600" cy="4462760"/>
          </a:xfrm>
          <a:prstGeom prst="rect">
            <a:avLst/>
          </a:prstGeom>
        </p:spPr>
        <p:txBody>
          <a:bodyPr wrap="square">
            <a:spAutoFit/>
          </a:bodyPr>
          <a:lstStyle/>
          <a:p>
            <a:r>
              <a:rPr lang="en-US" sz="4400" dirty="0" smtClean="0"/>
              <a:t>The $_POST Variable</a:t>
            </a:r>
          </a:p>
          <a:p>
            <a:pPr marL="457200" indent="-457200">
              <a:buFont typeface="Arial" pitchFamily="34" charset="0"/>
              <a:buChar char="•"/>
            </a:pPr>
            <a:r>
              <a:rPr lang="en-US" sz="2400" dirty="0" smtClean="0"/>
              <a:t>The predefined $_POST variable is used to collect values from a form sent with method="post".</a:t>
            </a:r>
          </a:p>
          <a:p>
            <a:pPr marL="457200" indent="-457200">
              <a:buFont typeface="Arial" pitchFamily="34" charset="0"/>
              <a:buChar char="•"/>
            </a:pPr>
            <a:endParaRPr lang="en-US" sz="2400" dirty="0" smtClean="0"/>
          </a:p>
          <a:p>
            <a:pPr marL="457200" indent="-457200">
              <a:buFont typeface="Arial" pitchFamily="34" charset="0"/>
              <a:buChar char="•"/>
            </a:pPr>
            <a:r>
              <a:rPr lang="en-US" sz="2400" dirty="0" smtClean="0"/>
              <a:t>Information sent from a form with the POST method is invisible to others and has no limits on the amount of information to send.</a:t>
            </a:r>
          </a:p>
          <a:p>
            <a:pPr marL="457200" indent="-457200">
              <a:buFont typeface="Arial" pitchFamily="34" charset="0"/>
              <a:buChar char="•"/>
            </a:pPr>
            <a:endParaRPr lang="en-US" sz="2400" dirty="0" smtClean="0"/>
          </a:p>
          <a:p>
            <a:pPr marL="457200" indent="-457200">
              <a:buFont typeface="Arial" pitchFamily="34" charset="0"/>
              <a:buChar char="•"/>
            </a:pPr>
            <a:r>
              <a:rPr lang="en-US" sz="2400" b="1" dirty="0" smtClean="0"/>
              <a:t>Note:</a:t>
            </a:r>
            <a:r>
              <a:rPr lang="en-US" sz="2400" dirty="0" smtClean="0"/>
              <a:t> However, there is an 8 Mb max size for the POST method, by default (can be changed by setting the </a:t>
            </a:r>
            <a:r>
              <a:rPr lang="en-US" sz="2400" dirty="0" err="1" smtClean="0"/>
              <a:t>post_max_size</a:t>
            </a:r>
            <a:r>
              <a:rPr lang="en-US" sz="2400" dirty="0" smtClean="0"/>
              <a:t> in the php.ini file).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POST</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39</a:t>
            </a:fld>
            <a:endParaRPr lang="en-US"/>
          </a:p>
        </p:txBody>
      </p:sp>
      <p:sp>
        <p:nvSpPr>
          <p:cNvPr id="7" name="Rectangle 6"/>
          <p:cNvSpPr/>
          <p:nvPr/>
        </p:nvSpPr>
        <p:spPr>
          <a:xfrm>
            <a:off x="533400" y="1905000"/>
            <a:ext cx="4267200" cy="3539430"/>
          </a:xfrm>
          <a:prstGeom prst="rect">
            <a:avLst/>
          </a:prstGeom>
          <a:noFill/>
          <a:ln>
            <a:solidFill>
              <a:schemeClr val="accent1"/>
            </a:solidFill>
          </a:ln>
        </p:spPr>
        <p:txBody>
          <a:bodyPr wrap="square">
            <a:spAutoFit/>
          </a:bodyPr>
          <a:lstStyle/>
          <a:p>
            <a:r>
              <a:rPr lang="en-US" sz="2800" dirty="0" smtClean="0"/>
              <a:t>&lt;form action="welcome.php" method="post"&gt;Name: &lt;input type="text" name="</a:t>
            </a:r>
            <a:r>
              <a:rPr lang="en-US" sz="2800" dirty="0" err="1" smtClean="0"/>
              <a:t>fname</a:t>
            </a:r>
            <a:r>
              <a:rPr lang="en-US" sz="2800" dirty="0" smtClean="0"/>
              <a:t>" /&gt;Age: &lt;input type="text" name="age" /&gt;&lt;input type="submit" /&gt;&lt;/form&gt;</a:t>
            </a:r>
            <a:endParaRPr lang="en-US" sz="2800" dirty="0"/>
          </a:p>
        </p:txBody>
      </p:sp>
      <p:sp>
        <p:nvSpPr>
          <p:cNvPr id="8" name="Content Placeholder 7"/>
          <p:cNvSpPr>
            <a:spLocks noGrp="1"/>
          </p:cNvSpPr>
          <p:nvPr>
            <p:ph idx="1"/>
          </p:nvPr>
        </p:nvSpPr>
        <p:spPr>
          <a:xfrm>
            <a:off x="5105400" y="2057400"/>
            <a:ext cx="4038600" cy="3581400"/>
          </a:xfrm>
          <a:ln>
            <a:solidFill>
              <a:schemeClr val="accent1">
                <a:alpha val="60000"/>
              </a:schemeClr>
            </a:solidFill>
          </a:ln>
        </p:spPr>
        <p:txBody>
          <a:bodyPr>
            <a:normAutofit/>
          </a:bodyPr>
          <a:lstStyle/>
          <a:p>
            <a:pPr>
              <a:buNone/>
            </a:pPr>
            <a:r>
              <a:rPr lang="en-US" dirty="0" smtClean="0"/>
              <a:t>Welcome</a:t>
            </a:r>
          </a:p>
          <a:p>
            <a:pPr>
              <a:buNone/>
            </a:pPr>
            <a:r>
              <a:rPr lang="en-US" dirty="0" smtClean="0"/>
              <a:t> &lt;?</a:t>
            </a:r>
            <a:r>
              <a:rPr lang="en-US" dirty="0" err="1" smtClean="0"/>
              <a:t>php</a:t>
            </a:r>
            <a:r>
              <a:rPr lang="en-US" dirty="0" smtClean="0"/>
              <a:t> echo $_POST["</a:t>
            </a:r>
            <a:r>
              <a:rPr lang="en-US" dirty="0" err="1" smtClean="0"/>
              <a:t>fname</a:t>
            </a:r>
            <a:r>
              <a:rPr lang="en-US" dirty="0" smtClean="0"/>
              <a:t>"]; ?&gt;!&lt;</a:t>
            </a:r>
            <a:r>
              <a:rPr lang="en-US" dirty="0" err="1" smtClean="0"/>
              <a:t>br</a:t>
            </a:r>
            <a:r>
              <a:rPr lang="en-US" dirty="0" smtClean="0"/>
              <a:t> /&gt;</a:t>
            </a:r>
          </a:p>
          <a:p>
            <a:pPr>
              <a:buNone/>
            </a:pPr>
            <a:r>
              <a:rPr lang="en-US" dirty="0" smtClean="0"/>
              <a:t>You are &lt;?</a:t>
            </a:r>
            <a:r>
              <a:rPr lang="en-US" dirty="0" err="1" smtClean="0"/>
              <a:t>php</a:t>
            </a:r>
            <a:r>
              <a:rPr lang="en-US" dirty="0" smtClean="0"/>
              <a:t> echo $_POST["age"]; ?&gt; years old.</a:t>
            </a:r>
            <a:endParaRPr lang="en-US" dirty="0"/>
          </a:p>
        </p:txBody>
      </p:sp>
      <p:sp>
        <p:nvSpPr>
          <p:cNvPr id="9" name="TextBox 8"/>
          <p:cNvSpPr txBox="1"/>
          <p:nvPr/>
        </p:nvSpPr>
        <p:spPr>
          <a:xfrm>
            <a:off x="914400" y="1371600"/>
            <a:ext cx="1186607" cy="369332"/>
          </a:xfrm>
          <a:prstGeom prst="rect">
            <a:avLst/>
          </a:prstGeom>
          <a:noFill/>
        </p:spPr>
        <p:txBody>
          <a:bodyPr wrap="none" rtlCol="0">
            <a:spAutoFit/>
          </a:bodyPr>
          <a:lstStyle/>
          <a:p>
            <a:r>
              <a:rPr lang="en-US" dirty="0" smtClean="0"/>
              <a:t>Forms.php</a:t>
            </a:r>
            <a:endParaRPr lang="en-US" dirty="0"/>
          </a:p>
        </p:txBody>
      </p:sp>
      <p:sp>
        <p:nvSpPr>
          <p:cNvPr id="10" name="TextBox 9"/>
          <p:cNvSpPr txBox="1"/>
          <p:nvPr/>
        </p:nvSpPr>
        <p:spPr>
          <a:xfrm>
            <a:off x="5562600" y="1371600"/>
            <a:ext cx="1490344" cy="369332"/>
          </a:xfrm>
          <a:prstGeom prst="rect">
            <a:avLst/>
          </a:prstGeom>
          <a:noFill/>
        </p:spPr>
        <p:txBody>
          <a:bodyPr wrap="none" rtlCol="0">
            <a:spAutoFit/>
          </a:bodyPr>
          <a:lstStyle/>
          <a:p>
            <a:r>
              <a:rPr lang="en-US" dirty="0" smtClean="0"/>
              <a:t>Welcome.php</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POST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40</a:t>
            </a:fld>
            <a:endParaRPr lang="en-US"/>
          </a:p>
        </p:txBody>
      </p:sp>
      <p:sp>
        <p:nvSpPr>
          <p:cNvPr id="9" name="TextBox 8"/>
          <p:cNvSpPr txBox="1"/>
          <p:nvPr/>
        </p:nvSpPr>
        <p:spPr>
          <a:xfrm>
            <a:off x="914400" y="1371600"/>
            <a:ext cx="1186607" cy="369332"/>
          </a:xfrm>
          <a:prstGeom prst="rect">
            <a:avLst/>
          </a:prstGeom>
          <a:noFill/>
        </p:spPr>
        <p:txBody>
          <a:bodyPr wrap="none" rtlCol="0">
            <a:spAutoFit/>
          </a:bodyPr>
          <a:lstStyle/>
          <a:p>
            <a:r>
              <a:rPr lang="en-US" dirty="0" smtClean="0"/>
              <a:t>Forms.php</a:t>
            </a:r>
            <a:endParaRPr lang="en-US" dirty="0"/>
          </a:p>
        </p:txBody>
      </p:sp>
      <p:sp>
        <p:nvSpPr>
          <p:cNvPr id="10" name="TextBox 9"/>
          <p:cNvSpPr txBox="1"/>
          <p:nvPr/>
        </p:nvSpPr>
        <p:spPr>
          <a:xfrm>
            <a:off x="990600" y="4038600"/>
            <a:ext cx="1490344" cy="369332"/>
          </a:xfrm>
          <a:prstGeom prst="rect">
            <a:avLst/>
          </a:prstGeom>
          <a:noFill/>
        </p:spPr>
        <p:txBody>
          <a:bodyPr wrap="none" rtlCol="0">
            <a:spAutoFit/>
          </a:bodyPr>
          <a:lstStyle/>
          <a:p>
            <a:r>
              <a:rPr lang="en-US" dirty="0" smtClean="0"/>
              <a:t>Welcome.php</a:t>
            </a:r>
            <a:endParaRPr lang="en-US" dirty="0"/>
          </a:p>
        </p:txBody>
      </p:sp>
      <p:pic>
        <p:nvPicPr>
          <p:cNvPr id="30722" name="Picture 2" descr="C:\Users\Tommy\Desktop\ScreenHunter_36 Oct. 10 21.24.jpg"/>
          <p:cNvPicPr>
            <a:picLocks noChangeAspect="1" noChangeArrowheads="1"/>
          </p:cNvPicPr>
          <p:nvPr/>
        </p:nvPicPr>
        <p:blipFill>
          <a:blip r:embed="rId3" cstate="print"/>
          <a:srcRect/>
          <a:stretch>
            <a:fillRect/>
          </a:stretch>
        </p:blipFill>
        <p:spPr bwMode="auto">
          <a:xfrm>
            <a:off x="457199" y="1905000"/>
            <a:ext cx="7649030" cy="1828800"/>
          </a:xfrm>
          <a:prstGeom prst="rect">
            <a:avLst/>
          </a:prstGeom>
          <a:noFill/>
        </p:spPr>
      </p:pic>
      <p:pic>
        <p:nvPicPr>
          <p:cNvPr id="30723" name="Picture 3" descr="C:\Users\Tommy\Desktop\ScreenHunter_37 Oct. 10 21.24.jpg"/>
          <p:cNvPicPr>
            <a:picLocks noChangeAspect="1" noChangeArrowheads="1"/>
          </p:cNvPicPr>
          <p:nvPr/>
        </p:nvPicPr>
        <p:blipFill>
          <a:blip r:embed="rId4" cstate="print"/>
          <a:srcRect/>
          <a:stretch>
            <a:fillRect/>
          </a:stretch>
        </p:blipFill>
        <p:spPr bwMode="auto">
          <a:xfrm>
            <a:off x="685800" y="4495800"/>
            <a:ext cx="5638800" cy="1938337"/>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GET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41</a:t>
            </a:fld>
            <a:endParaRPr lang="en-US"/>
          </a:p>
        </p:txBody>
      </p:sp>
      <p:sp>
        <p:nvSpPr>
          <p:cNvPr id="12" name="Rectangle 11"/>
          <p:cNvSpPr/>
          <p:nvPr/>
        </p:nvSpPr>
        <p:spPr>
          <a:xfrm>
            <a:off x="1066800" y="1859340"/>
            <a:ext cx="7467600" cy="4216539"/>
          </a:xfrm>
          <a:prstGeom prst="rect">
            <a:avLst/>
          </a:prstGeom>
        </p:spPr>
        <p:txBody>
          <a:bodyPr wrap="square">
            <a:spAutoFit/>
          </a:bodyPr>
          <a:lstStyle/>
          <a:p>
            <a:r>
              <a:rPr lang="en-US" sz="4400" dirty="0" smtClean="0"/>
              <a:t>The $_GET Variable</a:t>
            </a:r>
          </a:p>
          <a:p>
            <a:pPr marL="457200" indent="-457200">
              <a:buFont typeface="Arial" pitchFamily="34" charset="0"/>
              <a:buChar char="•"/>
            </a:pPr>
            <a:r>
              <a:rPr lang="en-US" sz="2800" dirty="0" smtClean="0"/>
              <a:t>The predefined $_GET variable is used to collect values in a form with method="get“</a:t>
            </a:r>
          </a:p>
          <a:p>
            <a:pPr marL="457200" indent="-457200"/>
            <a:endParaRPr lang="en-US" sz="2800" dirty="0" smtClean="0"/>
          </a:p>
          <a:p>
            <a:pPr marL="457200" indent="-457200">
              <a:buFont typeface="Arial" pitchFamily="34" charset="0"/>
              <a:buChar char="•"/>
            </a:pPr>
            <a:r>
              <a:rPr lang="en-US" sz="2800" dirty="0" smtClean="0"/>
              <a:t>Information sent from a form with the GET method is visible to everyone (it will be displayed in the browser's address bar) and has limits on the amount of information to send.</a:t>
            </a:r>
          </a:p>
          <a:p>
            <a:pPr marL="457200" indent="-457200">
              <a:buFont typeface="Arial" pitchFamily="34" charset="0"/>
              <a:buChar char="•"/>
            </a:pPr>
            <a:endParaRPr lang="en-US" sz="28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GET</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42</a:t>
            </a:fld>
            <a:endParaRPr lang="en-US"/>
          </a:p>
        </p:txBody>
      </p:sp>
      <p:sp>
        <p:nvSpPr>
          <p:cNvPr id="7" name="Rectangle 6"/>
          <p:cNvSpPr/>
          <p:nvPr/>
        </p:nvSpPr>
        <p:spPr>
          <a:xfrm>
            <a:off x="533400" y="1905000"/>
            <a:ext cx="4267200" cy="3970318"/>
          </a:xfrm>
          <a:prstGeom prst="rect">
            <a:avLst/>
          </a:prstGeom>
          <a:noFill/>
          <a:ln>
            <a:solidFill>
              <a:schemeClr val="accent1"/>
            </a:solidFill>
          </a:ln>
        </p:spPr>
        <p:txBody>
          <a:bodyPr wrap="square">
            <a:spAutoFit/>
          </a:bodyPr>
          <a:lstStyle/>
          <a:p>
            <a:r>
              <a:rPr lang="en-SG" sz="2800" dirty="0" smtClean="0"/>
              <a:t>&lt;form action=" Welcome_get.php" method="get"&gt;</a:t>
            </a:r>
            <a:br>
              <a:rPr lang="en-SG" sz="2800" dirty="0" smtClean="0"/>
            </a:br>
            <a:r>
              <a:rPr lang="en-SG" sz="2800" dirty="0" smtClean="0"/>
              <a:t>Name: &lt;input type="text" name="</a:t>
            </a:r>
            <a:r>
              <a:rPr lang="en-SG" sz="2800" dirty="0" err="1" smtClean="0"/>
              <a:t>fname</a:t>
            </a:r>
            <a:r>
              <a:rPr lang="en-SG" sz="2800" dirty="0" smtClean="0"/>
              <a:t>" /&gt;</a:t>
            </a:r>
            <a:br>
              <a:rPr lang="en-SG" sz="2800" dirty="0" smtClean="0"/>
            </a:br>
            <a:r>
              <a:rPr lang="en-SG" sz="2800" dirty="0" smtClean="0"/>
              <a:t>Age: &lt;input type="text" name="age" /&gt;</a:t>
            </a:r>
            <a:br>
              <a:rPr lang="en-SG" sz="2800" dirty="0" smtClean="0"/>
            </a:br>
            <a:r>
              <a:rPr lang="en-SG" sz="2800" dirty="0" smtClean="0"/>
              <a:t>&lt;input type="submit" /&gt;</a:t>
            </a:r>
            <a:br>
              <a:rPr lang="en-SG" sz="2800" dirty="0" smtClean="0"/>
            </a:br>
            <a:r>
              <a:rPr lang="en-SG" sz="2800" dirty="0" smtClean="0"/>
              <a:t>&lt;/form&gt;</a:t>
            </a:r>
            <a:endParaRPr lang="en-US" sz="2800" dirty="0"/>
          </a:p>
        </p:txBody>
      </p:sp>
      <p:sp>
        <p:nvSpPr>
          <p:cNvPr id="8" name="Content Placeholder 7"/>
          <p:cNvSpPr>
            <a:spLocks noGrp="1"/>
          </p:cNvSpPr>
          <p:nvPr>
            <p:ph idx="1"/>
          </p:nvPr>
        </p:nvSpPr>
        <p:spPr>
          <a:xfrm>
            <a:off x="4876800" y="1905000"/>
            <a:ext cx="4038600" cy="3962400"/>
          </a:xfrm>
          <a:ln>
            <a:solidFill>
              <a:schemeClr val="accent1">
                <a:alpha val="60000"/>
              </a:schemeClr>
            </a:solidFill>
          </a:ln>
        </p:spPr>
        <p:txBody>
          <a:bodyPr>
            <a:normAutofit/>
          </a:bodyPr>
          <a:lstStyle/>
          <a:p>
            <a:pPr>
              <a:buNone/>
            </a:pPr>
            <a:r>
              <a:rPr lang="en-SG" dirty="0" smtClean="0"/>
              <a:t>Welcome &lt;?</a:t>
            </a:r>
            <a:r>
              <a:rPr lang="en-SG" dirty="0" err="1" smtClean="0"/>
              <a:t>php</a:t>
            </a:r>
            <a:r>
              <a:rPr lang="en-SG" dirty="0" smtClean="0"/>
              <a:t> echo $_GET["</a:t>
            </a:r>
            <a:r>
              <a:rPr lang="en-SG" dirty="0" err="1" smtClean="0"/>
              <a:t>fname</a:t>
            </a:r>
            <a:r>
              <a:rPr lang="en-SG" dirty="0" smtClean="0"/>
              <a:t>"]; ?&gt;.&lt;</a:t>
            </a:r>
            <a:r>
              <a:rPr lang="en-SG" dirty="0" err="1" smtClean="0"/>
              <a:t>br</a:t>
            </a:r>
            <a:r>
              <a:rPr lang="en-SG" dirty="0" smtClean="0"/>
              <a:t> /&gt;</a:t>
            </a:r>
            <a:br>
              <a:rPr lang="en-SG" dirty="0" smtClean="0"/>
            </a:br>
            <a:r>
              <a:rPr lang="en-SG" dirty="0" smtClean="0"/>
              <a:t>You are &lt;?</a:t>
            </a:r>
            <a:r>
              <a:rPr lang="en-SG" dirty="0" err="1" smtClean="0"/>
              <a:t>php</a:t>
            </a:r>
            <a:r>
              <a:rPr lang="en-SG" dirty="0" smtClean="0"/>
              <a:t> echo $_GET["age"]; ?&gt; years old!</a:t>
            </a:r>
            <a:endParaRPr lang="en-US" dirty="0"/>
          </a:p>
        </p:txBody>
      </p:sp>
      <p:sp>
        <p:nvSpPr>
          <p:cNvPr id="9" name="TextBox 8"/>
          <p:cNvSpPr txBox="1"/>
          <p:nvPr/>
        </p:nvSpPr>
        <p:spPr>
          <a:xfrm>
            <a:off x="914400" y="1371600"/>
            <a:ext cx="1600246" cy="369332"/>
          </a:xfrm>
          <a:prstGeom prst="rect">
            <a:avLst/>
          </a:prstGeom>
          <a:noFill/>
        </p:spPr>
        <p:txBody>
          <a:bodyPr wrap="none" rtlCol="0">
            <a:spAutoFit/>
          </a:bodyPr>
          <a:lstStyle/>
          <a:p>
            <a:r>
              <a:rPr lang="en-US" dirty="0" smtClean="0"/>
              <a:t>Forms_get.php</a:t>
            </a:r>
            <a:endParaRPr lang="en-US" dirty="0"/>
          </a:p>
        </p:txBody>
      </p:sp>
      <p:sp>
        <p:nvSpPr>
          <p:cNvPr id="10" name="TextBox 9"/>
          <p:cNvSpPr txBox="1"/>
          <p:nvPr/>
        </p:nvSpPr>
        <p:spPr>
          <a:xfrm>
            <a:off x="5562600" y="1371600"/>
            <a:ext cx="1903983" cy="369332"/>
          </a:xfrm>
          <a:prstGeom prst="rect">
            <a:avLst/>
          </a:prstGeom>
          <a:noFill/>
        </p:spPr>
        <p:txBody>
          <a:bodyPr wrap="none" rtlCol="0">
            <a:spAutoFit/>
          </a:bodyPr>
          <a:lstStyle/>
          <a:p>
            <a:r>
              <a:rPr lang="en-US" dirty="0" smtClean="0"/>
              <a:t>Welcome_get.php</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FORMS  POST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43</a:t>
            </a:fld>
            <a:endParaRPr lang="en-US"/>
          </a:p>
        </p:txBody>
      </p:sp>
      <p:sp>
        <p:nvSpPr>
          <p:cNvPr id="9" name="TextBox 8"/>
          <p:cNvSpPr txBox="1"/>
          <p:nvPr/>
        </p:nvSpPr>
        <p:spPr>
          <a:xfrm>
            <a:off x="914400" y="1371600"/>
            <a:ext cx="1600246" cy="369332"/>
          </a:xfrm>
          <a:prstGeom prst="rect">
            <a:avLst/>
          </a:prstGeom>
          <a:noFill/>
        </p:spPr>
        <p:txBody>
          <a:bodyPr wrap="none" rtlCol="0">
            <a:spAutoFit/>
          </a:bodyPr>
          <a:lstStyle/>
          <a:p>
            <a:r>
              <a:rPr lang="en-US" dirty="0" smtClean="0"/>
              <a:t>Forms_get.php</a:t>
            </a:r>
            <a:endParaRPr lang="en-US" dirty="0"/>
          </a:p>
        </p:txBody>
      </p:sp>
      <p:sp>
        <p:nvSpPr>
          <p:cNvPr id="10" name="TextBox 9"/>
          <p:cNvSpPr txBox="1"/>
          <p:nvPr/>
        </p:nvSpPr>
        <p:spPr>
          <a:xfrm>
            <a:off x="1066800" y="3810000"/>
            <a:ext cx="1903983" cy="369332"/>
          </a:xfrm>
          <a:prstGeom prst="rect">
            <a:avLst/>
          </a:prstGeom>
          <a:noFill/>
        </p:spPr>
        <p:txBody>
          <a:bodyPr wrap="none" rtlCol="0">
            <a:spAutoFit/>
          </a:bodyPr>
          <a:lstStyle/>
          <a:p>
            <a:r>
              <a:rPr lang="en-US" dirty="0" smtClean="0"/>
              <a:t>Welcome_get.php</a:t>
            </a:r>
            <a:endParaRPr lang="en-US" dirty="0"/>
          </a:p>
        </p:txBody>
      </p:sp>
      <p:pic>
        <p:nvPicPr>
          <p:cNvPr id="30724" name="Picture 4" descr="C:\Users\Tommy\Desktop\ScreenHunter_38 Oct. 10 21.40.jpg"/>
          <p:cNvPicPr>
            <a:picLocks noChangeAspect="1" noChangeArrowheads="1"/>
          </p:cNvPicPr>
          <p:nvPr/>
        </p:nvPicPr>
        <p:blipFill>
          <a:blip r:embed="rId3" cstate="print"/>
          <a:srcRect/>
          <a:stretch>
            <a:fillRect/>
          </a:stretch>
        </p:blipFill>
        <p:spPr bwMode="auto">
          <a:xfrm>
            <a:off x="990600" y="1828800"/>
            <a:ext cx="7354930" cy="1752600"/>
          </a:xfrm>
          <a:prstGeom prst="rect">
            <a:avLst/>
          </a:prstGeom>
          <a:noFill/>
        </p:spPr>
      </p:pic>
      <p:pic>
        <p:nvPicPr>
          <p:cNvPr id="30725" name="Picture 5" descr="C:\Users\Tommy\Desktop\ScreenHunter_39 Oct. 10 21.41.jpg"/>
          <p:cNvPicPr>
            <a:picLocks noChangeAspect="1" noChangeArrowheads="1"/>
          </p:cNvPicPr>
          <p:nvPr/>
        </p:nvPicPr>
        <p:blipFill>
          <a:blip r:embed="rId4" cstate="print"/>
          <a:srcRect/>
          <a:stretch>
            <a:fillRect/>
          </a:stretch>
        </p:blipFill>
        <p:spPr bwMode="auto">
          <a:xfrm>
            <a:off x="431072" y="4191000"/>
            <a:ext cx="8712928" cy="1811337"/>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FUNCTIONS</a:t>
            </a:r>
            <a:endParaRPr lang="en-US" dirty="0"/>
          </a:p>
        </p:txBody>
      </p:sp>
      <p:sp>
        <p:nvSpPr>
          <p:cNvPr id="4" name="Footer Placeholder 3"/>
          <p:cNvSpPr>
            <a:spLocks noGrp="1"/>
          </p:cNvSpPr>
          <p:nvPr>
            <p:ph type="ftr" sz="quarter" idx="11"/>
          </p:nvPr>
        </p:nvSpPr>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44</a:t>
            </a:fld>
            <a:endParaRPr lang="en-US"/>
          </a:p>
        </p:txBody>
      </p:sp>
      <p:sp>
        <p:nvSpPr>
          <p:cNvPr id="11" name="Rectangle 10"/>
          <p:cNvSpPr/>
          <p:nvPr/>
        </p:nvSpPr>
        <p:spPr>
          <a:xfrm>
            <a:off x="838200" y="2209800"/>
            <a:ext cx="7924800" cy="2554545"/>
          </a:xfrm>
          <a:prstGeom prst="rect">
            <a:avLst/>
          </a:prstGeom>
        </p:spPr>
        <p:txBody>
          <a:bodyPr wrap="square">
            <a:spAutoFit/>
          </a:bodyPr>
          <a:lstStyle/>
          <a:p>
            <a:r>
              <a:rPr lang="en-US" sz="4000" dirty="0" smtClean="0"/>
              <a:t>function </a:t>
            </a:r>
            <a:r>
              <a:rPr lang="en-US" sz="4000" i="1" dirty="0" err="1" smtClean="0"/>
              <a:t>functionName</a:t>
            </a:r>
            <a:r>
              <a:rPr lang="en-US" sz="4000" dirty="0" smtClean="0"/>
              <a:t>()</a:t>
            </a:r>
            <a:br>
              <a:rPr lang="en-US" sz="4000" dirty="0" smtClean="0"/>
            </a:br>
            <a:r>
              <a:rPr lang="en-US" sz="4000" dirty="0" smtClean="0"/>
              <a:t>{</a:t>
            </a:r>
            <a:br>
              <a:rPr lang="en-US" sz="4000" dirty="0" smtClean="0"/>
            </a:br>
            <a:r>
              <a:rPr lang="en-US" sz="4000" i="1" dirty="0" smtClean="0"/>
              <a:t>code to be executed</a:t>
            </a:r>
            <a:r>
              <a:rPr lang="en-US" sz="4000" dirty="0" smtClean="0"/>
              <a:t>;</a:t>
            </a:r>
            <a:br>
              <a:rPr lang="en-US" sz="4000" dirty="0" smtClean="0"/>
            </a:br>
            <a:r>
              <a:rPr lang="en-US" sz="4000" dirty="0" smtClean="0"/>
              <a:t>}</a:t>
            </a:r>
            <a:endParaRPr lang="en-US" sz="40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PHP FUNCTIONS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45</a:t>
            </a:fld>
            <a:endParaRPr lang="en-US"/>
          </a:p>
        </p:txBody>
      </p:sp>
      <p:sp>
        <p:nvSpPr>
          <p:cNvPr id="11" name="Rectangle 10"/>
          <p:cNvSpPr/>
          <p:nvPr/>
        </p:nvSpPr>
        <p:spPr>
          <a:xfrm>
            <a:off x="838200" y="1371600"/>
            <a:ext cx="7924800" cy="5262979"/>
          </a:xfrm>
          <a:prstGeom prst="rect">
            <a:avLst/>
          </a:prstGeom>
        </p:spPr>
        <p:txBody>
          <a:bodyPr wrap="square">
            <a:spAutoFit/>
          </a:bodyPr>
          <a:lstStyle/>
          <a:p>
            <a:r>
              <a:rPr lang="en-US" sz="2800" dirty="0" smtClean="0"/>
              <a:t>&lt;?</a:t>
            </a:r>
            <a:r>
              <a:rPr lang="en-US" sz="2800" dirty="0" err="1" smtClean="0"/>
              <a:t>php</a:t>
            </a:r>
            <a:r>
              <a:rPr lang="en-US" sz="2800" dirty="0" smtClean="0"/>
              <a:t/>
            </a:r>
            <a:br>
              <a:rPr lang="en-US" sz="2800" dirty="0" smtClean="0"/>
            </a:br>
            <a:r>
              <a:rPr lang="en-US" sz="2800" dirty="0" smtClean="0"/>
              <a:t>function </a:t>
            </a:r>
            <a:r>
              <a:rPr lang="en-US" sz="2800" dirty="0" err="1" smtClean="0"/>
              <a:t>writeName</a:t>
            </a:r>
            <a:r>
              <a:rPr lang="en-US" sz="2800" dirty="0" smtClean="0"/>
              <a:t>()</a:t>
            </a:r>
            <a:br>
              <a:rPr lang="en-US" sz="2800" dirty="0" smtClean="0"/>
            </a:br>
            <a:r>
              <a:rPr lang="en-US" sz="2800" dirty="0" smtClean="0"/>
              <a:t>{</a:t>
            </a:r>
            <a:br>
              <a:rPr lang="en-US" sz="2800" dirty="0" smtClean="0"/>
            </a:br>
            <a:r>
              <a:rPr lang="en-US" sz="2800" dirty="0" smtClean="0"/>
              <a:t>echo "Kai Jim";</a:t>
            </a:r>
            <a:br>
              <a:rPr lang="en-US" sz="2800" dirty="0" smtClean="0"/>
            </a:br>
            <a:r>
              <a:rPr lang="en-US" sz="2800" dirty="0" smtClean="0"/>
              <a:t>}</a:t>
            </a:r>
            <a:br>
              <a:rPr lang="en-US" sz="2800" dirty="0" smtClean="0"/>
            </a:br>
            <a:r>
              <a:rPr lang="en-US" sz="2800" dirty="0" smtClean="0"/>
              <a:t/>
            </a:r>
            <a:br>
              <a:rPr lang="en-US" sz="2800" dirty="0" smtClean="0"/>
            </a:br>
            <a:r>
              <a:rPr lang="en-US" sz="2800" dirty="0" smtClean="0"/>
              <a:t>echo "My name is ";</a:t>
            </a:r>
            <a:br>
              <a:rPr lang="en-US" sz="2800" dirty="0" smtClean="0"/>
            </a:br>
            <a:r>
              <a:rPr lang="en-US" sz="2800" dirty="0" err="1" smtClean="0"/>
              <a:t>writeName</a:t>
            </a:r>
            <a:r>
              <a:rPr lang="en-US" sz="2800" dirty="0" smtClean="0"/>
              <a:t>();</a:t>
            </a:r>
            <a:br>
              <a:rPr lang="en-US" sz="2800" dirty="0" smtClean="0"/>
            </a:br>
            <a:r>
              <a:rPr lang="en-US" sz="2800" dirty="0" smtClean="0"/>
              <a:t>?&gt;</a:t>
            </a:r>
          </a:p>
          <a:p>
            <a:endParaRPr lang="en-US" sz="2800" dirty="0" smtClean="0"/>
          </a:p>
          <a:p>
            <a:r>
              <a:rPr lang="en-US" sz="2800" dirty="0" smtClean="0"/>
              <a:t>Output:</a:t>
            </a:r>
          </a:p>
          <a:p>
            <a:r>
              <a:rPr lang="en-US" sz="2800" i="1" dirty="0" smtClean="0"/>
              <a:t>My name is Kai Jim</a:t>
            </a:r>
            <a:endParaRPr lang="en-US" sz="2800" i="1"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76380" cy="944562"/>
          </a:xfrm>
        </p:spPr>
        <p:txBody>
          <a:bodyPr>
            <a:normAutofit fontScale="90000"/>
          </a:bodyPr>
          <a:lstStyle/>
          <a:p>
            <a:r>
              <a:rPr lang="en-US" dirty="0" smtClean="0"/>
              <a:t>PHP FUNCTIONS (With Parameters)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46</a:t>
            </a:fld>
            <a:endParaRPr lang="en-US"/>
          </a:p>
        </p:txBody>
      </p:sp>
      <p:sp>
        <p:nvSpPr>
          <p:cNvPr id="11" name="Rectangle 10"/>
          <p:cNvSpPr/>
          <p:nvPr/>
        </p:nvSpPr>
        <p:spPr>
          <a:xfrm>
            <a:off x="762000" y="1447800"/>
            <a:ext cx="7010400" cy="3416320"/>
          </a:xfrm>
          <a:prstGeom prst="rect">
            <a:avLst/>
          </a:prstGeom>
          <a:ln>
            <a:solidFill>
              <a:schemeClr val="accent1"/>
            </a:solidFill>
          </a:ln>
        </p:spPr>
        <p:txBody>
          <a:bodyPr wrap="square">
            <a:spAutoFit/>
          </a:bodyPr>
          <a:lstStyle/>
          <a:p>
            <a:r>
              <a:rPr lang="en-US" sz="2400" dirty="0" smtClean="0"/>
              <a:t>&lt;?</a:t>
            </a:r>
            <a:r>
              <a:rPr lang="en-US" sz="2400" dirty="0" err="1" smtClean="0"/>
              <a:t>php</a:t>
            </a:r>
            <a:r>
              <a:rPr lang="en-US" sz="2400" dirty="0" smtClean="0"/>
              <a:t>   </a:t>
            </a:r>
          </a:p>
          <a:p>
            <a:r>
              <a:rPr lang="en-US" sz="2400" dirty="0" smtClean="0"/>
              <a:t>function </a:t>
            </a:r>
            <a:r>
              <a:rPr lang="en-US" sz="2400" dirty="0" err="1" smtClean="0"/>
              <a:t>writeName</a:t>
            </a:r>
            <a:r>
              <a:rPr lang="en-US" sz="2400" dirty="0" smtClean="0"/>
              <a:t>($</a:t>
            </a:r>
            <a:r>
              <a:rPr lang="en-US" sz="2400" dirty="0" err="1" smtClean="0"/>
              <a:t>fname</a:t>
            </a:r>
            <a:r>
              <a:rPr lang="en-US" sz="2400" dirty="0" smtClean="0"/>
              <a:t>)</a:t>
            </a:r>
            <a:br>
              <a:rPr lang="en-US" sz="2400" dirty="0" smtClean="0"/>
            </a:br>
            <a:r>
              <a:rPr lang="en-US" sz="2400" dirty="0" smtClean="0"/>
              <a:t>{ echo $</a:t>
            </a:r>
            <a:r>
              <a:rPr lang="en-US" sz="2400" dirty="0" err="1" smtClean="0"/>
              <a:t>fname</a:t>
            </a:r>
            <a:r>
              <a:rPr lang="en-US" sz="2400" dirty="0" smtClean="0"/>
              <a:t> . " </a:t>
            </a:r>
            <a:r>
              <a:rPr lang="en-US" sz="2400" dirty="0" err="1" smtClean="0"/>
              <a:t>Refsnes</a:t>
            </a:r>
            <a:r>
              <a:rPr lang="en-US" sz="2400" dirty="0" smtClean="0"/>
              <a:t>.&lt;</a:t>
            </a:r>
            <a:r>
              <a:rPr lang="en-US" sz="2400" dirty="0" err="1" smtClean="0"/>
              <a:t>br</a:t>
            </a:r>
            <a:r>
              <a:rPr lang="en-US" sz="2400" dirty="0" smtClean="0"/>
              <a:t> /&gt;“;}</a:t>
            </a:r>
            <a:br>
              <a:rPr lang="en-US" sz="2400" dirty="0" smtClean="0"/>
            </a:br>
            <a:r>
              <a:rPr lang="en-US" sz="2400" dirty="0" smtClean="0"/>
              <a:t>echo "My name is ";</a:t>
            </a:r>
            <a:br>
              <a:rPr lang="en-US" sz="2400" dirty="0" smtClean="0"/>
            </a:br>
            <a:r>
              <a:rPr lang="en-US" sz="2400" dirty="0" err="1" smtClean="0"/>
              <a:t>writeName</a:t>
            </a:r>
            <a:r>
              <a:rPr lang="en-US" sz="2400" dirty="0" smtClean="0"/>
              <a:t>("Kai Jim");</a:t>
            </a:r>
            <a:br>
              <a:rPr lang="en-US" sz="2400" dirty="0" smtClean="0"/>
            </a:br>
            <a:r>
              <a:rPr lang="en-US" sz="2400" dirty="0" smtClean="0"/>
              <a:t>echo "My sister's name is ";</a:t>
            </a:r>
            <a:br>
              <a:rPr lang="en-US" sz="2400" dirty="0" smtClean="0"/>
            </a:br>
            <a:r>
              <a:rPr lang="en-US" sz="2400" dirty="0" err="1" smtClean="0"/>
              <a:t>writeName</a:t>
            </a:r>
            <a:r>
              <a:rPr lang="en-US" sz="2400" dirty="0" smtClean="0"/>
              <a:t>("</a:t>
            </a:r>
            <a:r>
              <a:rPr lang="en-US" sz="2400" dirty="0" err="1" smtClean="0"/>
              <a:t>Hege</a:t>
            </a:r>
            <a:r>
              <a:rPr lang="en-US" sz="2400" dirty="0" smtClean="0"/>
              <a:t>");</a:t>
            </a:r>
            <a:br>
              <a:rPr lang="en-US" sz="2400" dirty="0" smtClean="0"/>
            </a:br>
            <a:r>
              <a:rPr lang="en-US" sz="2400" dirty="0" smtClean="0"/>
              <a:t>echo "My brother's name is ";</a:t>
            </a:r>
            <a:br>
              <a:rPr lang="en-US" sz="2400" dirty="0" smtClean="0"/>
            </a:br>
            <a:r>
              <a:rPr lang="en-US" sz="2400" dirty="0" err="1" smtClean="0"/>
              <a:t>writeName</a:t>
            </a:r>
            <a:r>
              <a:rPr lang="en-US" sz="2400" dirty="0" smtClean="0"/>
              <a:t>("Stale");                               ?&gt;</a:t>
            </a:r>
            <a:endParaRPr lang="en-US" sz="2400" i="1" dirty="0"/>
          </a:p>
        </p:txBody>
      </p:sp>
      <p:sp>
        <p:nvSpPr>
          <p:cNvPr id="6" name="Rectangle 5"/>
          <p:cNvSpPr/>
          <p:nvPr/>
        </p:nvSpPr>
        <p:spPr>
          <a:xfrm>
            <a:off x="1676400" y="5257800"/>
            <a:ext cx="5334000" cy="1384995"/>
          </a:xfrm>
          <a:prstGeom prst="rect">
            <a:avLst/>
          </a:prstGeom>
          <a:ln>
            <a:solidFill>
              <a:schemeClr val="accent1"/>
            </a:solidFill>
          </a:ln>
        </p:spPr>
        <p:txBody>
          <a:bodyPr wrap="square">
            <a:spAutoFit/>
          </a:bodyPr>
          <a:lstStyle/>
          <a:p>
            <a:r>
              <a:rPr lang="en-US" sz="2800" dirty="0" smtClean="0"/>
              <a:t>My name is Kai Jim </a:t>
            </a:r>
            <a:r>
              <a:rPr lang="en-US" sz="2800" dirty="0" err="1" smtClean="0"/>
              <a:t>Refsnes</a:t>
            </a:r>
            <a:r>
              <a:rPr lang="en-US" sz="2800" dirty="0" smtClean="0"/>
              <a:t>.</a:t>
            </a:r>
            <a:br>
              <a:rPr lang="en-US" sz="2800" dirty="0" smtClean="0"/>
            </a:br>
            <a:r>
              <a:rPr lang="en-US" sz="2800" dirty="0" smtClean="0"/>
              <a:t>My sister's name is </a:t>
            </a:r>
            <a:r>
              <a:rPr lang="en-US" sz="2800" dirty="0" err="1" smtClean="0"/>
              <a:t>Hege</a:t>
            </a:r>
            <a:r>
              <a:rPr lang="en-US" sz="2800" dirty="0" smtClean="0"/>
              <a:t> </a:t>
            </a:r>
            <a:r>
              <a:rPr lang="en-US" sz="2800" dirty="0" err="1" smtClean="0"/>
              <a:t>Refsnes</a:t>
            </a:r>
            <a:r>
              <a:rPr lang="en-US" sz="2800" dirty="0" smtClean="0"/>
              <a:t>.</a:t>
            </a:r>
            <a:br>
              <a:rPr lang="en-US" sz="2800" dirty="0" smtClean="0"/>
            </a:br>
            <a:r>
              <a:rPr lang="en-US" sz="2800" dirty="0" smtClean="0"/>
              <a:t>My brother's name is Stale </a:t>
            </a:r>
            <a:r>
              <a:rPr lang="en-US" sz="2800" dirty="0" err="1" smtClean="0"/>
              <a:t>Refsnes</a:t>
            </a:r>
            <a:r>
              <a:rPr lang="en-US" sz="2800" dirty="0" smtClean="0"/>
              <a:t>.</a:t>
            </a:r>
            <a:endParaRPr lang="en-US" sz="2800" i="1" dirty="0"/>
          </a:p>
        </p:txBody>
      </p:sp>
      <p:sp>
        <p:nvSpPr>
          <p:cNvPr id="7" name="TextBox 6"/>
          <p:cNvSpPr txBox="1"/>
          <p:nvPr/>
        </p:nvSpPr>
        <p:spPr>
          <a:xfrm>
            <a:off x="3429000" y="4800600"/>
            <a:ext cx="1229824" cy="523220"/>
          </a:xfrm>
          <a:prstGeom prst="rect">
            <a:avLst/>
          </a:prstGeom>
          <a:noFill/>
        </p:spPr>
        <p:txBody>
          <a:bodyPr wrap="none" rtlCol="0">
            <a:spAutoFit/>
          </a:bodyPr>
          <a:lstStyle/>
          <a:p>
            <a:r>
              <a:rPr lang="en-US" sz="2800" dirty="0" smtClean="0"/>
              <a:t>Output</a:t>
            </a:r>
            <a:endParaRPr lang="en-US" sz="28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fontScale="90000"/>
          </a:bodyPr>
          <a:lstStyle/>
          <a:p>
            <a:r>
              <a:rPr lang="en-US" dirty="0" smtClean="0"/>
              <a:t>PHP FUNCTIONS (With Return Value)</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47</a:t>
            </a:fld>
            <a:endParaRPr lang="en-US"/>
          </a:p>
        </p:txBody>
      </p:sp>
      <p:sp>
        <p:nvSpPr>
          <p:cNvPr id="11" name="Rectangle 10"/>
          <p:cNvSpPr/>
          <p:nvPr/>
        </p:nvSpPr>
        <p:spPr>
          <a:xfrm>
            <a:off x="762000" y="1447800"/>
            <a:ext cx="7010400" cy="3416320"/>
          </a:xfrm>
          <a:prstGeom prst="rect">
            <a:avLst/>
          </a:prstGeom>
          <a:ln>
            <a:solidFill>
              <a:schemeClr val="accent1"/>
            </a:solidFill>
          </a:ln>
        </p:spPr>
        <p:txBody>
          <a:bodyPr wrap="square">
            <a:spAutoFit/>
          </a:bodyPr>
          <a:lstStyle/>
          <a:p>
            <a:r>
              <a:rPr lang="en-US" sz="2400" dirty="0" smtClean="0"/>
              <a:t>&lt;?</a:t>
            </a:r>
            <a:r>
              <a:rPr lang="en-US" sz="2400" dirty="0" err="1" smtClean="0"/>
              <a:t>php</a:t>
            </a:r>
            <a:r>
              <a:rPr lang="en-US" sz="2400" dirty="0" smtClean="0"/>
              <a:t/>
            </a:r>
            <a:br>
              <a:rPr lang="en-US" sz="2400" dirty="0" smtClean="0"/>
            </a:br>
            <a:r>
              <a:rPr lang="en-US" sz="2400" dirty="0" smtClean="0"/>
              <a:t>function add($</a:t>
            </a:r>
            <a:r>
              <a:rPr lang="en-US" sz="2400" dirty="0" err="1" smtClean="0"/>
              <a:t>x,$y</a:t>
            </a:r>
            <a:r>
              <a:rPr lang="en-US" sz="2400" dirty="0" smtClean="0"/>
              <a:t>)</a:t>
            </a:r>
            <a:br>
              <a:rPr lang="en-US" sz="2400" dirty="0" smtClean="0"/>
            </a:br>
            <a:r>
              <a:rPr lang="en-US" sz="2400" dirty="0" smtClean="0"/>
              <a:t>{</a:t>
            </a:r>
            <a:br>
              <a:rPr lang="en-US" sz="2400" dirty="0" smtClean="0"/>
            </a:br>
            <a:r>
              <a:rPr lang="en-US" sz="2400" dirty="0" smtClean="0"/>
              <a:t>$total=$x+$y;</a:t>
            </a:r>
            <a:br>
              <a:rPr lang="en-US" sz="2400" dirty="0" smtClean="0"/>
            </a:br>
            <a:r>
              <a:rPr lang="en-US" sz="2400" dirty="0" smtClean="0"/>
              <a:t>return $total;</a:t>
            </a:r>
            <a:br>
              <a:rPr lang="en-US" sz="2400" dirty="0" smtClean="0"/>
            </a:br>
            <a:r>
              <a:rPr lang="en-US" sz="2400" dirty="0" smtClean="0"/>
              <a:t>}</a:t>
            </a:r>
            <a:br>
              <a:rPr lang="en-US" sz="2400" dirty="0" smtClean="0"/>
            </a:br>
            <a:r>
              <a:rPr lang="en-US" sz="2400" dirty="0" smtClean="0"/>
              <a:t/>
            </a:r>
            <a:br>
              <a:rPr lang="en-US" sz="2400" dirty="0" smtClean="0"/>
            </a:br>
            <a:r>
              <a:rPr lang="en-US" sz="2400" dirty="0" smtClean="0"/>
              <a:t>echo "1 + 16 = " . add(1,16);</a:t>
            </a:r>
            <a:br>
              <a:rPr lang="en-US" sz="2400" dirty="0" smtClean="0"/>
            </a:br>
            <a:r>
              <a:rPr lang="en-US" sz="2400" dirty="0" smtClean="0"/>
              <a:t>?&gt;</a:t>
            </a:r>
            <a:endParaRPr lang="en-US" sz="2400" i="1" dirty="0"/>
          </a:p>
        </p:txBody>
      </p:sp>
      <p:sp>
        <p:nvSpPr>
          <p:cNvPr id="6" name="Rectangle 5"/>
          <p:cNvSpPr/>
          <p:nvPr/>
        </p:nvSpPr>
        <p:spPr>
          <a:xfrm>
            <a:off x="1676400" y="5257800"/>
            <a:ext cx="5334000" cy="523220"/>
          </a:xfrm>
          <a:prstGeom prst="rect">
            <a:avLst/>
          </a:prstGeom>
          <a:ln>
            <a:solidFill>
              <a:schemeClr val="accent1"/>
            </a:solidFill>
          </a:ln>
        </p:spPr>
        <p:txBody>
          <a:bodyPr wrap="square">
            <a:spAutoFit/>
          </a:bodyPr>
          <a:lstStyle/>
          <a:p>
            <a:r>
              <a:rPr lang="en-US" sz="2800" dirty="0" smtClean="0"/>
              <a:t>1 + 16 = 17</a:t>
            </a:r>
            <a:endParaRPr lang="en-US" sz="2800" i="1" dirty="0"/>
          </a:p>
        </p:txBody>
      </p:sp>
      <p:sp>
        <p:nvSpPr>
          <p:cNvPr id="7" name="TextBox 6"/>
          <p:cNvSpPr txBox="1"/>
          <p:nvPr/>
        </p:nvSpPr>
        <p:spPr>
          <a:xfrm>
            <a:off x="3429000" y="4800600"/>
            <a:ext cx="1229824" cy="523220"/>
          </a:xfrm>
          <a:prstGeom prst="rect">
            <a:avLst/>
          </a:prstGeom>
          <a:noFill/>
        </p:spPr>
        <p:txBody>
          <a:bodyPr wrap="none" rtlCol="0">
            <a:spAutoFit/>
          </a:bodyPr>
          <a:lstStyle/>
          <a:p>
            <a:r>
              <a:rPr lang="en-US" sz="2800" dirty="0" smtClean="0"/>
              <a:t>Output</a:t>
            </a:r>
            <a:endParaRPr lang="en-US" sz="28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Sessions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48</a:t>
            </a:fld>
            <a:endParaRPr lang="en-US"/>
          </a:p>
        </p:txBody>
      </p:sp>
      <p:sp>
        <p:nvSpPr>
          <p:cNvPr id="11" name="Rectangle 10"/>
          <p:cNvSpPr/>
          <p:nvPr/>
        </p:nvSpPr>
        <p:spPr>
          <a:xfrm>
            <a:off x="762000" y="1447800"/>
            <a:ext cx="7010400" cy="5632311"/>
          </a:xfrm>
          <a:prstGeom prst="rect">
            <a:avLst/>
          </a:prstGeom>
          <a:ln>
            <a:solidFill>
              <a:schemeClr val="accent1"/>
            </a:solidFill>
          </a:ln>
        </p:spPr>
        <p:txBody>
          <a:bodyPr wrap="square">
            <a:spAutoFit/>
          </a:bodyPr>
          <a:lstStyle/>
          <a:p>
            <a:r>
              <a:rPr lang="en-US" sz="3600" dirty="0" smtClean="0"/>
              <a:t>A PHP session</a:t>
            </a:r>
          </a:p>
          <a:p>
            <a:pPr>
              <a:buFont typeface="Arial" pitchFamily="34" charset="0"/>
              <a:buChar char="•"/>
            </a:pPr>
            <a:r>
              <a:rPr lang="en-US" sz="2400" dirty="0" smtClean="0"/>
              <a:t>allows you to store user information on the server for later use (i.e. username, shopping items, etc). </a:t>
            </a:r>
          </a:p>
          <a:p>
            <a:pPr>
              <a:buFont typeface="Arial" pitchFamily="34" charset="0"/>
              <a:buChar char="•"/>
            </a:pPr>
            <a:endParaRPr lang="en-US" sz="2400" dirty="0" smtClean="0"/>
          </a:p>
          <a:p>
            <a:pPr>
              <a:buFont typeface="Arial" pitchFamily="34" charset="0"/>
              <a:buChar char="•"/>
            </a:pPr>
            <a:r>
              <a:rPr lang="en-US" sz="2400" dirty="0" smtClean="0"/>
              <a:t>session information is temporary and will be deleted after the user has left the website. </a:t>
            </a:r>
          </a:p>
          <a:p>
            <a:pPr>
              <a:buFont typeface="Arial" pitchFamily="34" charset="0"/>
              <a:buChar char="•"/>
            </a:pPr>
            <a:endParaRPr lang="en-US" sz="2400" dirty="0" smtClean="0"/>
          </a:p>
          <a:p>
            <a:pPr>
              <a:buFont typeface="Arial" pitchFamily="34" charset="0"/>
              <a:buChar char="•"/>
            </a:pPr>
            <a:r>
              <a:rPr lang="en-US" sz="2400" dirty="0" smtClean="0"/>
              <a:t>Sessions work by creating a unique id (UID) for each visitor and store variables based on this UID.</a:t>
            </a:r>
          </a:p>
          <a:p>
            <a:pPr>
              <a:buFont typeface="Arial" pitchFamily="34" charset="0"/>
              <a:buChar char="•"/>
            </a:pPr>
            <a:endParaRPr lang="en-US" sz="2400" dirty="0" smtClean="0"/>
          </a:p>
          <a:p>
            <a:pPr>
              <a:buFont typeface="Arial" pitchFamily="34" charset="0"/>
              <a:buChar char="•"/>
            </a:pPr>
            <a:r>
              <a:rPr lang="en-US" sz="2400" dirty="0" smtClean="0"/>
              <a:t> The UID is either stored in a cookie or is propagated in the URL.</a:t>
            </a:r>
          </a:p>
          <a:p>
            <a:pPr>
              <a:buFont typeface="Arial" pitchFamily="34" charset="0"/>
              <a:buChar char="•"/>
            </a:pPr>
            <a:endParaRPr lang="en-US" sz="2400" dirty="0" smtClean="0"/>
          </a:p>
          <a:p>
            <a:pPr marL="742950" indent="-742950">
              <a:buFont typeface="+mj-lt"/>
              <a:buAutoNum type="arabicPeriod"/>
            </a:pPr>
            <a:endParaRPr lang="en-US" sz="3600"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Sessions - Start</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49</a:t>
            </a:fld>
            <a:endParaRPr lang="en-US"/>
          </a:p>
        </p:txBody>
      </p:sp>
      <p:sp>
        <p:nvSpPr>
          <p:cNvPr id="11" name="Rectangle 10"/>
          <p:cNvSpPr/>
          <p:nvPr/>
        </p:nvSpPr>
        <p:spPr>
          <a:xfrm>
            <a:off x="762000" y="1447800"/>
            <a:ext cx="7010400" cy="3970318"/>
          </a:xfrm>
          <a:prstGeom prst="rect">
            <a:avLst/>
          </a:prstGeom>
          <a:ln>
            <a:solidFill>
              <a:schemeClr val="accent1"/>
            </a:solidFill>
          </a:ln>
        </p:spPr>
        <p:txBody>
          <a:bodyPr wrap="square">
            <a:spAutoFit/>
          </a:bodyPr>
          <a:lstStyle/>
          <a:p>
            <a:r>
              <a:rPr lang="en-US" sz="3600" dirty="0" smtClean="0"/>
              <a:t>&lt;?</a:t>
            </a:r>
            <a:r>
              <a:rPr lang="en-US" sz="3600" dirty="0" err="1" smtClean="0"/>
              <a:t>php</a:t>
            </a:r>
            <a:r>
              <a:rPr lang="en-US" sz="3600" dirty="0" smtClean="0"/>
              <a:t> </a:t>
            </a:r>
            <a:r>
              <a:rPr lang="en-US" sz="3600" dirty="0" err="1" smtClean="0"/>
              <a:t>session_start</a:t>
            </a:r>
            <a:r>
              <a:rPr lang="en-US" sz="3600" dirty="0" smtClean="0"/>
              <a:t>(); ?&gt;</a:t>
            </a:r>
            <a:br>
              <a:rPr lang="en-US" sz="3600" dirty="0" smtClean="0"/>
            </a:br>
            <a:r>
              <a:rPr lang="en-US" sz="3600" dirty="0" smtClean="0"/>
              <a:t/>
            </a:r>
            <a:br>
              <a:rPr lang="en-US" sz="3600" dirty="0" smtClean="0"/>
            </a:br>
            <a:r>
              <a:rPr lang="en-US" sz="3600" dirty="0" smtClean="0"/>
              <a:t>&lt;html&gt;</a:t>
            </a:r>
            <a:br>
              <a:rPr lang="en-US" sz="3600" dirty="0" smtClean="0"/>
            </a:br>
            <a:r>
              <a:rPr lang="en-US" sz="3600" dirty="0" smtClean="0"/>
              <a:t>&lt;body&gt;</a:t>
            </a:r>
            <a:br>
              <a:rPr lang="en-US" sz="3600" dirty="0" smtClean="0"/>
            </a:br>
            <a:r>
              <a:rPr lang="en-US" sz="3600" dirty="0" smtClean="0"/>
              <a:t/>
            </a:r>
            <a:br>
              <a:rPr lang="en-US" sz="3600" dirty="0" smtClean="0"/>
            </a:br>
            <a:r>
              <a:rPr lang="en-US" sz="3600" dirty="0" smtClean="0"/>
              <a:t>&lt;/body&gt;</a:t>
            </a:r>
            <a:br>
              <a:rPr lang="en-US" sz="3600" dirty="0" smtClean="0"/>
            </a:br>
            <a:r>
              <a:rPr lang="en-US" sz="3600" dirty="0" smtClean="0"/>
              <a:t>&lt;/html&gt;</a:t>
            </a:r>
            <a:endParaRPr lang="en-US" sz="3600" i="1"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fontScale="90000"/>
          </a:bodyPr>
          <a:lstStyle/>
          <a:p>
            <a:r>
              <a:rPr lang="en-US" dirty="0" smtClean="0"/>
              <a:t>PHP Sessions – Page Views using Session Variables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50</a:t>
            </a:fld>
            <a:endParaRPr lang="en-US"/>
          </a:p>
        </p:txBody>
      </p:sp>
      <p:sp>
        <p:nvSpPr>
          <p:cNvPr id="11" name="Rectangle 10"/>
          <p:cNvSpPr/>
          <p:nvPr/>
        </p:nvSpPr>
        <p:spPr>
          <a:xfrm>
            <a:off x="762000" y="1447800"/>
            <a:ext cx="7010400" cy="3693319"/>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err="1" smtClean="0"/>
              <a:t>session_start</a:t>
            </a:r>
            <a:r>
              <a:rPr lang="en-US" dirty="0" smtClean="0"/>
              <a:t>();</a:t>
            </a:r>
            <a:br>
              <a:rPr lang="en-US" dirty="0" smtClean="0"/>
            </a:br>
            <a:r>
              <a:rPr lang="en-US" dirty="0" smtClean="0"/>
              <a:t>// store session data</a:t>
            </a:r>
            <a:br>
              <a:rPr lang="en-US" dirty="0" smtClean="0"/>
            </a:br>
            <a:r>
              <a:rPr lang="en-US" dirty="0" smtClean="0"/>
              <a:t>$_SESSION['views']=1;</a:t>
            </a:r>
            <a:br>
              <a:rPr lang="en-US" dirty="0" smtClean="0"/>
            </a:br>
            <a:r>
              <a:rPr lang="en-US" dirty="0" smtClean="0"/>
              <a:t>?&gt;</a:t>
            </a:r>
            <a:br>
              <a:rPr lang="en-US" dirty="0" smtClean="0"/>
            </a:br>
            <a:r>
              <a:rPr lang="en-US" dirty="0" smtClean="0"/>
              <a:t>&lt;html&gt;</a:t>
            </a:r>
            <a:br>
              <a:rPr lang="en-US" dirty="0" smtClean="0"/>
            </a:br>
            <a:r>
              <a:rPr lang="en-US" dirty="0" smtClean="0"/>
              <a:t>&lt;body&gt;</a:t>
            </a:r>
            <a:br>
              <a:rPr lang="en-US" dirty="0" smtClean="0"/>
            </a:br>
            <a:r>
              <a:rPr lang="en-US" dirty="0" smtClean="0"/>
              <a:t>&lt;?</a:t>
            </a:r>
            <a:r>
              <a:rPr lang="en-US" dirty="0" err="1" smtClean="0"/>
              <a:t>php</a:t>
            </a:r>
            <a:r>
              <a:rPr lang="en-US" dirty="0" smtClean="0"/>
              <a:t/>
            </a:r>
            <a:br>
              <a:rPr lang="en-US" dirty="0" smtClean="0"/>
            </a:br>
            <a:r>
              <a:rPr lang="en-US" dirty="0" smtClean="0"/>
              <a:t>//retrieve session data</a:t>
            </a:r>
            <a:br>
              <a:rPr lang="en-US" dirty="0" smtClean="0"/>
            </a:br>
            <a:r>
              <a:rPr lang="en-US" dirty="0" smtClean="0"/>
              <a:t>echo "</a:t>
            </a:r>
            <a:r>
              <a:rPr lang="en-US" dirty="0" err="1" smtClean="0"/>
              <a:t>Pageviews</a:t>
            </a:r>
            <a:r>
              <a:rPr lang="en-US" dirty="0" smtClean="0"/>
              <a:t>=". $_SESSION['views'];</a:t>
            </a:r>
            <a:br>
              <a:rPr lang="en-US" dirty="0" smtClean="0"/>
            </a:br>
            <a:r>
              <a:rPr lang="en-US" dirty="0" smtClean="0"/>
              <a:t>?&gt;</a:t>
            </a:r>
            <a:br>
              <a:rPr lang="en-US" dirty="0" smtClean="0"/>
            </a:br>
            <a:r>
              <a:rPr lang="en-US" dirty="0" smtClean="0"/>
              <a:t>&lt;/body&gt;</a:t>
            </a:r>
            <a:br>
              <a:rPr lang="en-US" dirty="0" smtClean="0"/>
            </a:br>
            <a:r>
              <a:rPr lang="en-US" dirty="0" smtClean="0"/>
              <a:t>&lt;/html&gt; </a:t>
            </a:r>
            <a:endParaRPr lang="en-US" dirty="0"/>
          </a:p>
        </p:txBody>
      </p:sp>
      <p:sp>
        <p:nvSpPr>
          <p:cNvPr id="6" name="TextBox 5"/>
          <p:cNvSpPr txBox="1"/>
          <p:nvPr/>
        </p:nvSpPr>
        <p:spPr>
          <a:xfrm>
            <a:off x="762000" y="5867400"/>
            <a:ext cx="2057400" cy="369332"/>
          </a:xfrm>
          <a:prstGeom prst="rect">
            <a:avLst/>
          </a:prstGeom>
          <a:noFill/>
          <a:ln>
            <a:solidFill>
              <a:schemeClr val="accent1"/>
            </a:solidFill>
          </a:ln>
        </p:spPr>
        <p:txBody>
          <a:bodyPr wrap="square" rtlCol="0">
            <a:spAutoFit/>
          </a:bodyPr>
          <a:lstStyle/>
          <a:p>
            <a:r>
              <a:rPr lang="en-US" dirty="0" err="1" smtClean="0"/>
              <a:t>Pageviews</a:t>
            </a:r>
            <a:r>
              <a:rPr lang="en-US" dirty="0" smtClean="0"/>
              <a:t>=1</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Sessions - Storing</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51</a:t>
            </a:fld>
            <a:endParaRPr lang="en-US"/>
          </a:p>
        </p:txBody>
      </p:sp>
      <p:sp>
        <p:nvSpPr>
          <p:cNvPr id="11" name="Rectangle 10"/>
          <p:cNvSpPr/>
          <p:nvPr/>
        </p:nvSpPr>
        <p:spPr>
          <a:xfrm>
            <a:off x="762000" y="1447800"/>
            <a:ext cx="7010400" cy="2585323"/>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err="1" smtClean="0"/>
              <a:t>session_start</a:t>
            </a:r>
            <a:r>
              <a:rPr lang="en-US" dirty="0" smtClean="0"/>
              <a:t>();</a:t>
            </a:r>
            <a:br>
              <a:rPr lang="en-US" dirty="0" smtClean="0"/>
            </a:br>
            <a:r>
              <a:rPr lang="en-US" dirty="0" smtClean="0"/>
              <a:t/>
            </a:r>
            <a:br>
              <a:rPr lang="en-US" dirty="0" smtClean="0"/>
            </a:br>
            <a:r>
              <a:rPr lang="en-US" dirty="0" smtClean="0"/>
              <a:t>if(</a:t>
            </a:r>
            <a:r>
              <a:rPr lang="en-US" dirty="0" err="1" smtClean="0"/>
              <a:t>isset</a:t>
            </a:r>
            <a:r>
              <a:rPr lang="en-US" dirty="0" smtClean="0"/>
              <a:t>($_SESSION['views']))</a:t>
            </a:r>
            <a:br>
              <a:rPr lang="en-US" dirty="0" smtClean="0"/>
            </a:br>
            <a:r>
              <a:rPr lang="en-US" dirty="0" smtClean="0"/>
              <a:t>$_SESSION['views']=$_SESSION['views']+1;</a:t>
            </a:r>
            <a:br>
              <a:rPr lang="en-US" dirty="0" smtClean="0"/>
            </a:br>
            <a:r>
              <a:rPr lang="en-US" dirty="0" smtClean="0"/>
              <a:t>else</a:t>
            </a:r>
            <a:br>
              <a:rPr lang="en-US" dirty="0" smtClean="0"/>
            </a:br>
            <a:r>
              <a:rPr lang="en-US" dirty="0" smtClean="0"/>
              <a:t>$_SESSION['views']=1;</a:t>
            </a:r>
            <a:br>
              <a:rPr lang="en-US" dirty="0" smtClean="0"/>
            </a:br>
            <a:r>
              <a:rPr lang="en-US" dirty="0" smtClean="0"/>
              <a:t>echo “</a:t>
            </a:r>
            <a:r>
              <a:rPr lang="en-US" dirty="0" err="1" smtClean="0"/>
              <a:t>Pageviews</a:t>
            </a:r>
            <a:r>
              <a:rPr lang="en-US" dirty="0" smtClean="0"/>
              <a:t>=". $_SESSION['views'];</a:t>
            </a:r>
            <a:br>
              <a:rPr lang="en-US" dirty="0" smtClean="0"/>
            </a:br>
            <a:r>
              <a:rPr lang="en-US" dirty="0" smtClean="0"/>
              <a:t>?&gt;</a:t>
            </a:r>
            <a:endParaRPr lang="en-US" dirty="0"/>
          </a:p>
        </p:txBody>
      </p:sp>
      <p:sp>
        <p:nvSpPr>
          <p:cNvPr id="6" name="TextBox 5"/>
          <p:cNvSpPr txBox="1"/>
          <p:nvPr/>
        </p:nvSpPr>
        <p:spPr>
          <a:xfrm>
            <a:off x="914400" y="4572000"/>
            <a:ext cx="2057400" cy="369332"/>
          </a:xfrm>
          <a:prstGeom prst="rect">
            <a:avLst/>
          </a:prstGeom>
          <a:noFill/>
          <a:ln>
            <a:solidFill>
              <a:schemeClr val="accent1"/>
            </a:solidFill>
          </a:ln>
        </p:spPr>
        <p:txBody>
          <a:bodyPr wrap="square" rtlCol="0">
            <a:spAutoFit/>
          </a:bodyPr>
          <a:lstStyle/>
          <a:p>
            <a:r>
              <a:rPr lang="en-US" dirty="0" err="1" smtClean="0"/>
              <a:t>Pageviews</a:t>
            </a:r>
            <a:r>
              <a:rPr lang="en-US" dirty="0" smtClean="0"/>
              <a:t>=1</a:t>
            </a:r>
            <a:endParaRPr lang="en-US" dirty="0"/>
          </a:p>
        </p:txBody>
      </p:sp>
      <p:sp>
        <p:nvSpPr>
          <p:cNvPr id="7" name="TextBox 6"/>
          <p:cNvSpPr txBox="1"/>
          <p:nvPr/>
        </p:nvSpPr>
        <p:spPr>
          <a:xfrm>
            <a:off x="914400" y="5029200"/>
            <a:ext cx="2057400" cy="369332"/>
          </a:xfrm>
          <a:prstGeom prst="rect">
            <a:avLst/>
          </a:prstGeom>
          <a:noFill/>
          <a:ln>
            <a:solidFill>
              <a:schemeClr val="accent1"/>
            </a:solidFill>
          </a:ln>
        </p:spPr>
        <p:txBody>
          <a:bodyPr wrap="square" rtlCol="0">
            <a:spAutoFit/>
          </a:bodyPr>
          <a:lstStyle/>
          <a:p>
            <a:r>
              <a:rPr lang="en-US" dirty="0" err="1" smtClean="0"/>
              <a:t>Pageviews</a:t>
            </a:r>
            <a:r>
              <a:rPr lang="en-US" dirty="0" smtClean="0"/>
              <a:t>=2</a:t>
            </a:r>
            <a:endParaRPr lang="en-US" dirty="0"/>
          </a:p>
        </p:txBody>
      </p:sp>
      <p:sp>
        <p:nvSpPr>
          <p:cNvPr id="8" name="TextBox 7"/>
          <p:cNvSpPr txBox="1"/>
          <p:nvPr/>
        </p:nvSpPr>
        <p:spPr>
          <a:xfrm>
            <a:off x="914400" y="5486400"/>
            <a:ext cx="2057400" cy="369332"/>
          </a:xfrm>
          <a:prstGeom prst="rect">
            <a:avLst/>
          </a:prstGeom>
          <a:noFill/>
          <a:ln>
            <a:solidFill>
              <a:schemeClr val="accent1"/>
            </a:solidFill>
          </a:ln>
        </p:spPr>
        <p:txBody>
          <a:bodyPr wrap="square" rtlCol="0">
            <a:spAutoFit/>
          </a:bodyPr>
          <a:lstStyle/>
          <a:p>
            <a:r>
              <a:rPr lang="en-US" dirty="0" err="1" smtClean="0"/>
              <a:t>Pageviews</a:t>
            </a:r>
            <a:r>
              <a:rPr lang="en-US" dirty="0" smtClean="0"/>
              <a:t>=3</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Sessions – Destroying Session</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52</a:t>
            </a:fld>
            <a:endParaRPr lang="en-US"/>
          </a:p>
        </p:txBody>
      </p:sp>
      <p:sp>
        <p:nvSpPr>
          <p:cNvPr id="11" name="Rectangle 10"/>
          <p:cNvSpPr/>
          <p:nvPr/>
        </p:nvSpPr>
        <p:spPr>
          <a:xfrm>
            <a:off x="914400" y="2667000"/>
            <a:ext cx="7010400" cy="1477328"/>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err="1" smtClean="0"/>
              <a:t>session_start</a:t>
            </a:r>
            <a:r>
              <a:rPr lang="en-US" dirty="0" smtClean="0"/>
              <a:t>();</a:t>
            </a:r>
            <a:br>
              <a:rPr lang="en-US" dirty="0" smtClean="0"/>
            </a:br>
            <a:r>
              <a:rPr lang="en-US" dirty="0" smtClean="0"/>
              <a:t>if(</a:t>
            </a:r>
            <a:r>
              <a:rPr lang="en-US" dirty="0" err="1" smtClean="0"/>
              <a:t>isset</a:t>
            </a:r>
            <a:r>
              <a:rPr lang="en-US" dirty="0" smtClean="0"/>
              <a:t>($_SESSION['views']))</a:t>
            </a:r>
            <a:br>
              <a:rPr lang="en-US" dirty="0" smtClean="0"/>
            </a:br>
            <a:r>
              <a:rPr lang="en-US" dirty="0" smtClean="0"/>
              <a:t>  unset($_SESSION['views']);</a:t>
            </a:r>
            <a:br>
              <a:rPr lang="en-US" dirty="0" smtClean="0"/>
            </a:br>
            <a:r>
              <a:rPr lang="en-US" dirty="0" smtClean="0"/>
              <a:t>?&gt;</a:t>
            </a:r>
            <a:endParaRPr lang="en-US" dirty="0"/>
          </a:p>
        </p:txBody>
      </p:sp>
      <p:sp>
        <p:nvSpPr>
          <p:cNvPr id="8" name="TextBox 7"/>
          <p:cNvSpPr txBox="1"/>
          <p:nvPr/>
        </p:nvSpPr>
        <p:spPr>
          <a:xfrm>
            <a:off x="990600" y="5105400"/>
            <a:ext cx="3048000" cy="923330"/>
          </a:xfrm>
          <a:prstGeom prst="rect">
            <a:avLst/>
          </a:prstGeom>
          <a:noFill/>
          <a:ln>
            <a:solidFill>
              <a:schemeClr val="accent1"/>
            </a:solidFill>
          </a:ln>
        </p:spPr>
        <p:txBody>
          <a:bodyPr wrap="square" rtlCol="0">
            <a:spAutoFit/>
          </a:bodyPr>
          <a:lstStyle/>
          <a:p>
            <a:r>
              <a:rPr lang="en-US" dirty="0" smtClean="0"/>
              <a:t>&lt;?</a:t>
            </a:r>
            <a:r>
              <a:rPr lang="en-US" dirty="0" err="1" smtClean="0"/>
              <a:t>php</a:t>
            </a:r>
            <a:r>
              <a:rPr lang="en-US" dirty="0" smtClean="0"/>
              <a:t/>
            </a:r>
            <a:br>
              <a:rPr lang="en-US" dirty="0" smtClean="0"/>
            </a:br>
            <a:r>
              <a:rPr lang="en-US" dirty="0" err="1" smtClean="0"/>
              <a:t>session_destroy</a:t>
            </a:r>
            <a:r>
              <a:rPr lang="en-US" dirty="0" smtClean="0"/>
              <a:t>();</a:t>
            </a:r>
            <a:br>
              <a:rPr lang="en-US" dirty="0" smtClean="0"/>
            </a:br>
            <a:r>
              <a:rPr lang="en-US" dirty="0" smtClean="0"/>
              <a:t>?&gt;</a:t>
            </a:r>
            <a:endParaRPr lang="en-US" dirty="0"/>
          </a:p>
        </p:txBody>
      </p:sp>
      <p:sp>
        <p:nvSpPr>
          <p:cNvPr id="9" name="TextBox 8"/>
          <p:cNvSpPr txBox="1"/>
          <p:nvPr/>
        </p:nvSpPr>
        <p:spPr>
          <a:xfrm>
            <a:off x="838200" y="1524000"/>
            <a:ext cx="7543800" cy="1200329"/>
          </a:xfrm>
          <a:prstGeom prst="rect">
            <a:avLst/>
          </a:prstGeom>
          <a:noFill/>
        </p:spPr>
        <p:txBody>
          <a:bodyPr wrap="square" rtlCol="0">
            <a:spAutoFit/>
          </a:bodyPr>
          <a:lstStyle/>
          <a:p>
            <a:r>
              <a:rPr lang="en-US" dirty="0" smtClean="0"/>
              <a:t>If you wish to delete some session data, you can use the unset() or the </a:t>
            </a:r>
            <a:r>
              <a:rPr lang="en-US" dirty="0" err="1" smtClean="0"/>
              <a:t>session_destroy</a:t>
            </a:r>
            <a:r>
              <a:rPr lang="en-US" dirty="0" smtClean="0"/>
              <a:t>() function.</a:t>
            </a:r>
          </a:p>
          <a:p>
            <a:r>
              <a:rPr lang="en-US" dirty="0" smtClean="0"/>
              <a:t>The unset() function is used to free the specified session variable:</a:t>
            </a:r>
          </a:p>
          <a:p>
            <a:endParaRPr lang="en-US" dirty="0"/>
          </a:p>
        </p:txBody>
      </p:sp>
      <p:sp>
        <p:nvSpPr>
          <p:cNvPr id="10" name="TextBox 9"/>
          <p:cNvSpPr txBox="1"/>
          <p:nvPr/>
        </p:nvSpPr>
        <p:spPr>
          <a:xfrm>
            <a:off x="914400" y="4343400"/>
            <a:ext cx="7543800" cy="646331"/>
          </a:xfrm>
          <a:prstGeom prst="rect">
            <a:avLst/>
          </a:prstGeom>
          <a:noFill/>
        </p:spPr>
        <p:txBody>
          <a:bodyPr wrap="square" rtlCol="0">
            <a:spAutoFit/>
          </a:bodyPr>
          <a:lstStyle/>
          <a:p>
            <a:r>
              <a:rPr lang="en-US" dirty="0" smtClean="0"/>
              <a:t>You can also completely destroy the session by calling the </a:t>
            </a:r>
            <a:r>
              <a:rPr lang="en-US" dirty="0" err="1" smtClean="0"/>
              <a:t>session_destroy</a:t>
            </a:r>
            <a:r>
              <a:rPr lang="en-US" dirty="0" smtClean="0"/>
              <a:t>() function:</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53</a:t>
            </a:fld>
            <a:endParaRPr lang="en-US"/>
          </a:p>
        </p:txBody>
      </p:sp>
      <p:sp>
        <p:nvSpPr>
          <p:cNvPr id="11" name="Rectangle 10"/>
          <p:cNvSpPr/>
          <p:nvPr/>
        </p:nvSpPr>
        <p:spPr>
          <a:xfrm>
            <a:off x="914400" y="2590800"/>
            <a:ext cx="7010400" cy="369332"/>
          </a:xfrm>
          <a:prstGeom prst="rect">
            <a:avLst/>
          </a:prstGeom>
          <a:ln>
            <a:solidFill>
              <a:schemeClr val="accent1"/>
            </a:solidFill>
          </a:ln>
        </p:spPr>
        <p:txBody>
          <a:bodyPr wrap="square">
            <a:spAutoFit/>
          </a:bodyPr>
          <a:lstStyle/>
          <a:p>
            <a:r>
              <a:rPr lang="en-US" dirty="0" err="1" smtClean="0"/>
              <a:t>setcookie</a:t>
            </a:r>
            <a:r>
              <a:rPr lang="en-US" dirty="0" smtClean="0"/>
              <a:t>(name, value, expire, path, domain);</a:t>
            </a:r>
            <a:endParaRPr lang="en-US" dirty="0"/>
          </a:p>
        </p:txBody>
      </p:sp>
      <p:sp>
        <p:nvSpPr>
          <p:cNvPr id="9" name="TextBox 8"/>
          <p:cNvSpPr txBox="1"/>
          <p:nvPr/>
        </p:nvSpPr>
        <p:spPr>
          <a:xfrm>
            <a:off x="838200" y="1524000"/>
            <a:ext cx="7543800" cy="1200329"/>
          </a:xfrm>
          <a:prstGeom prst="rect">
            <a:avLst/>
          </a:prstGeom>
          <a:noFill/>
        </p:spPr>
        <p:txBody>
          <a:bodyPr wrap="square" rtlCol="0">
            <a:spAutoFit/>
          </a:bodyPr>
          <a:lstStyle/>
          <a:p>
            <a:r>
              <a:rPr lang="en-US" dirty="0" smtClean="0"/>
              <a:t>How to Create a Cookie?</a:t>
            </a:r>
          </a:p>
          <a:p>
            <a:r>
              <a:rPr lang="en-US" dirty="0" smtClean="0"/>
              <a:t>The </a:t>
            </a:r>
            <a:r>
              <a:rPr lang="en-US" dirty="0" err="1" smtClean="0"/>
              <a:t>setcookie</a:t>
            </a:r>
            <a:r>
              <a:rPr lang="en-US" dirty="0" smtClean="0"/>
              <a:t>() function is used to set a cookie.</a:t>
            </a:r>
          </a:p>
          <a:p>
            <a:r>
              <a:rPr lang="en-US" b="1" dirty="0" smtClean="0"/>
              <a:t>Note:</a:t>
            </a:r>
            <a:r>
              <a:rPr lang="en-US" dirty="0" smtClean="0"/>
              <a:t> The </a:t>
            </a:r>
            <a:r>
              <a:rPr lang="en-US" dirty="0" err="1" smtClean="0"/>
              <a:t>setcookie</a:t>
            </a:r>
            <a:r>
              <a:rPr lang="en-US" dirty="0" smtClean="0"/>
              <a:t>() function must appear BEFORE the &lt;html&gt; tag.</a:t>
            </a:r>
          </a:p>
          <a:p>
            <a:endParaRPr lang="en-US" dirty="0"/>
          </a:p>
        </p:txBody>
      </p:sp>
      <p:sp>
        <p:nvSpPr>
          <p:cNvPr id="12" name="TextBox 11"/>
          <p:cNvSpPr txBox="1"/>
          <p:nvPr/>
        </p:nvSpPr>
        <p:spPr>
          <a:xfrm>
            <a:off x="914400" y="3276600"/>
            <a:ext cx="7543800" cy="1200329"/>
          </a:xfrm>
          <a:prstGeom prst="rect">
            <a:avLst/>
          </a:prstGeom>
          <a:noFill/>
        </p:spPr>
        <p:txBody>
          <a:bodyPr wrap="square" rtlCol="0">
            <a:spAutoFit/>
          </a:bodyPr>
          <a:lstStyle/>
          <a:p>
            <a:r>
              <a:rPr lang="en-US" dirty="0" smtClean="0"/>
              <a:t>Example 1: </a:t>
            </a:r>
          </a:p>
          <a:p>
            <a:r>
              <a:rPr lang="en-US" dirty="0" smtClean="0"/>
              <a:t>In the example below, we will create a cookie named "user" and assign the value "Alex Porter" to it. We also specify that the cookie should expire after one hour:</a:t>
            </a:r>
            <a:endParaRPr lang="en-US" dirty="0"/>
          </a:p>
        </p:txBody>
      </p:sp>
      <p:sp>
        <p:nvSpPr>
          <p:cNvPr id="13" name="Rectangle 12"/>
          <p:cNvSpPr/>
          <p:nvPr/>
        </p:nvSpPr>
        <p:spPr>
          <a:xfrm>
            <a:off x="914400" y="4495800"/>
            <a:ext cx="7010400" cy="1754326"/>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err="1" smtClean="0"/>
              <a:t>setcookie</a:t>
            </a:r>
            <a:r>
              <a:rPr lang="en-US" dirty="0" smtClean="0"/>
              <a:t>("user", "Alex Porter", time()+3600);</a:t>
            </a:r>
            <a:br>
              <a:rPr lang="en-US" dirty="0" smtClean="0"/>
            </a:br>
            <a:r>
              <a:rPr lang="en-US" dirty="0" smtClean="0"/>
              <a:t>?&gt;</a:t>
            </a:r>
            <a:br>
              <a:rPr lang="en-US" dirty="0" smtClean="0"/>
            </a:br>
            <a:r>
              <a:rPr lang="en-US" dirty="0" smtClean="0"/>
              <a:t/>
            </a:r>
            <a:br>
              <a:rPr lang="en-US" dirty="0" smtClean="0"/>
            </a:br>
            <a:r>
              <a:rPr lang="en-US" dirty="0" smtClean="0"/>
              <a:t>&lt;html&gt;</a:t>
            </a:r>
            <a:br>
              <a:rPr lang="en-US" dirty="0" smtClean="0"/>
            </a:br>
            <a:r>
              <a:rPr lang="en-US" dirty="0" smtClean="0"/>
              <a:t>.....</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 - Creation</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54</a:t>
            </a:fld>
            <a:endParaRPr lang="en-US"/>
          </a:p>
        </p:txBody>
      </p:sp>
      <p:sp>
        <p:nvSpPr>
          <p:cNvPr id="11" name="Rectangle 10"/>
          <p:cNvSpPr/>
          <p:nvPr/>
        </p:nvSpPr>
        <p:spPr>
          <a:xfrm>
            <a:off x="914400" y="2590800"/>
            <a:ext cx="7010400" cy="369332"/>
          </a:xfrm>
          <a:prstGeom prst="rect">
            <a:avLst/>
          </a:prstGeom>
          <a:ln>
            <a:solidFill>
              <a:schemeClr val="accent1"/>
            </a:solidFill>
          </a:ln>
        </p:spPr>
        <p:txBody>
          <a:bodyPr wrap="square">
            <a:spAutoFit/>
          </a:bodyPr>
          <a:lstStyle/>
          <a:p>
            <a:r>
              <a:rPr lang="en-US" dirty="0" err="1" smtClean="0"/>
              <a:t>setcookie</a:t>
            </a:r>
            <a:r>
              <a:rPr lang="en-US" dirty="0" smtClean="0"/>
              <a:t>(name, value, expire, path, domain);</a:t>
            </a:r>
            <a:endParaRPr lang="en-US" dirty="0"/>
          </a:p>
        </p:txBody>
      </p:sp>
      <p:sp>
        <p:nvSpPr>
          <p:cNvPr id="9" name="TextBox 8"/>
          <p:cNvSpPr txBox="1"/>
          <p:nvPr/>
        </p:nvSpPr>
        <p:spPr>
          <a:xfrm>
            <a:off x="838200" y="1524000"/>
            <a:ext cx="7543800" cy="1354217"/>
          </a:xfrm>
          <a:prstGeom prst="rect">
            <a:avLst/>
          </a:prstGeom>
          <a:noFill/>
        </p:spPr>
        <p:txBody>
          <a:bodyPr wrap="square" rtlCol="0">
            <a:spAutoFit/>
          </a:bodyPr>
          <a:lstStyle/>
          <a:p>
            <a:r>
              <a:rPr lang="en-US" sz="2800" dirty="0" smtClean="0"/>
              <a:t>Creating a Cookie</a:t>
            </a:r>
          </a:p>
          <a:p>
            <a:r>
              <a:rPr lang="en-US" dirty="0" smtClean="0"/>
              <a:t>The </a:t>
            </a:r>
            <a:r>
              <a:rPr lang="en-US" dirty="0" err="1" smtClean="0"/>
              <a:t>setcookie</a:t>
            </a:r>
            <a:r>
              <a:rPr lang="en-US" dirty="0" smtClean="0"/>
              <a:t>() function is used to set a cookie.</a:t>
            </a:r>
          </a:p>
          <a:p>
            <a:r>
              <a:rPr lang="en-US" b="1" dirty="0" smtClean="0"/>
              <a:t>Note:</a:t>
            </a:r>
            <a:r>
              <a:rPr lang="en-US" dirty="0" smtClean="0"/>
              <a:t> The </a:t>
            </a:r>
            <a:r>
              <a:rPr lang="en-US" dirty="0" err="1" smtClean="0"/>
              <a:t>setcookie</a:t>
            </a:r>
            <a:r>
              <a:rPr lang="en-US" dirty="0" smtClean="0"/>
              <a:t>() function must appear BEFORE the &lt;html&gt; tag.</a:t>
            </a:r>
          </a:p>
          <a:p>
            <a:endParaRPr lang="en-US" dirty="0"/>
          </a:p>
        </p:txBody>
      </p:sp>
      <p:sp>
        <p:nvSpPr>
          <p:cNvPr id="12" name="TextBox 11"/>
          <p:cNvSpPr txBox="1"/>
          <p:nvPr/>
        </p:nvSpPr>
        <p:spPr>
          <a:xfrm>
            <a:off x="914400" y="3276600"/>
            <a:ext cx="7543800" cy="1200329"/>
          </a:xfrm>
          <a:prstGeom prst="rect">
            <a:avLst/>
          </a:prstGeom>
          <a:noFill/>
        </p:spPr>
        <p:txBody>
          <a:bodyPr wrap="square" rtlCol="0">
            <a:spAutoFit/>
          </a:bodyPr>
          <a:lstStyle/>
          <a:p>
            <a:r>
              <a:rPr lang="en-US" dirty="0" smtClean="0"/>
              <a:t>Example 1: </a:t>
            </a:r>
          </a:p>
          <a:p>
            <a:r>
              <a:rPr lang="en-US" dirty="0" smtClean="0"/>
              <a:t>In the example below, we will create a cookie named "user" and assign the value "Alex Porter" to it. We also specify that the cookie should expire after one hour:</a:t>
            </a:r>
            <a:endParaRPr lang="en-US" dirty="0"/>
          </a:p>
        </p:txBody>
      </p:sp>
      <p:sp>
        <p:nvSpPr>
          <p:cNvPr id="13" name="Rectangle 12"/>
          <p:cNvSpPr/>
          <p:nvPr/>
        </p:nvSpPr>
        <p:spPr>
          <a:xfrm>
            <a:off x="914400" y="4495800"/>
            <a:ext cx="7010400" cy="1754326"/>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err="1" smtClean="0"/>
              <a:t>setcookie</a:t>
            </a:r>
            <a:r>
              <a:rPr lang="en-US" dirty="0" smtClean="0"/>
              <a:t>("user", "Alex Porter", time()+3600);</a:t>
            </a:r>
            <a:br>
              <a:rPr lang="en-US" dirty="0" smtClean="0"/>
            </a:br>
            <a:r>
              <a:rPr lang="en-US" dirty="0" smtClean="0"/>
              <a:t>?&gt;</a:t>
            </a:r>
            <a:br>
              <a:rPr lang="en-US" dirty="0" smtClean="0"/>
            </a:br>
            <a:r>
              <a:rPr lang="en-US" dirty="0" smtClean="0"/>
              <a:t/>
            </a:r>
            <a:br>
              <a:rPr lang="en-US" dirty="0" smtClean="0"/>
            </a:br>
            <a:r>
              <a:rPr lang="en-US" dirty="0" smtClean="0"/>
              <a:t>&lt;html&gt;</a:t>
            </a:r>
            <a:br>
              <a:rPr lang="en-US" dirty="0" smtClean="0"/>
            </a:br>
            <a:r>
              <a:rPr lang="en-US" dirty="0" smtClean="0"/>
              <a:t>.....</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 - Creation</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55</a:t>
            </a:fld>
            <a:endParaRPr lang="en-US"/>
          </a:p>
        </p:txBody>
      </p:sp>
      <p:sp>
        <p:nvSpPr>
          <p:cNvPr id="11" name="Rectangle 10"/>
          <p:cNvSpPr/>
          <p:nvPr/>
        </p:nvSpPr>
        <p:spPr>
          <a:xfrm>
            <a:off x="990600" y="1752600"/>
            <a:ext cx="7010400" cy="369332"/>
          </a:xfrm>
          <a:prstGeom prst="rect">
            <a:avLst/>
          </a:prstGeom>
          <a:ln>
            <a:solidFill>
              <a:schemeClr val="accent1"/>
            </a:solidFill>
          </a:ln>
        </p:spPr>
        <p:txBody>
          <a:bodyPr wrap="square">
            <a:spAutoFit/>
          </a:bodyPr>
          <a:lstStyle/>
          <a:p>
            <a:r>
              <a:rPr lang="en-US" dirty="0" err="1" smtClean="0"/>
              <a:t>setcookie</a:t>
            </a:r>
            <a:r>
              <a:rPr lang="en-US" dirty="0" smtClean="0"/>
              <a:t>(name, value, expire, path, domain);</a:t>
            </a:r>
            <a:endParaRPr lang="en-US" dirty="0"/>
          </a:p>
        </p:txBody>
      </p:sp>
      <p:sp>
        <p:nvSpPr>
          <p:cNvPr id="12" name="TextBox 11"/>
          <p:cNvSpPr txBox="1"/>
          <p:nvPr/>
        </p:nvSpPr>
        <p:spPr>
          <a:xfrm>
            <a:off x="914400" y="2438400"/>
            <a:ext cx="7543800" cy="923330"/>
          </a:xfrm>
          <a:prstGeom prst="rect">
            <a:avLst/>
          </a:prstGeom>
          <a:noFill/>
        </p:spPr>
        <p:txBody>
          <a:bodyPr wrap="square" rtlCol="0">
            <a:spAutoFit/>
          </a:bodyPr>
          <a:lstStyle/>
          <a:p>
            <a:r>
              <a:rPr lang="en-US" dirty="0" smtClean="0"/>
              <a:t>Example 2:</a:t>
            </a:r>
          </a:p>
          <a:p>
            <a:r>
              <a:rPr lang="en-US" dirty="0" smtClean="0"/>
              <a:t> You can also set the expiration time of the cookie in another way. It may be easier than using seconds.</a:t>
            </a:r>
            <a:endParaRPr lang="en-US" dirty="0"/>
          </a:p>
        </p:txBody>
      </p:sp>
      <p:sp>
        <p:nvSpPr>
          <p:cNvPr id="13" name="Rectangle 12"/>
          <p:cNvSpPr/>
          <p:nvPr/>
        </p:nvSpPr>
        <p:spPr>
          <a:xfrm>
            <a:off x="914400" y="3429000"/>
            <a:ext cx="7010400" cy="2031325"/>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smtClean="0"/>
              <a:t>$expire=time()+60*60*24*30;</a:t>
            </a:r>
            <a:br>
              <a:rPr lang="en-US" dirty="0" smtClean="0"/>
            </a:br>
            <a:r>
              <a:rPr lang="en-US" dirty="0" err="1" smtClean="0"/>
              <a:t>setcookie</a:t>
            </a:r>
            <a:r>
              <a:rPr lang="en-US" dirty="0" smtClean="0"/>
              <a:t>("user", "Alex Porter", $expire);</a:t>
            </a:r>
            <a:br>
              <a:rPr lang="en-US" dirty="0" smtClean="0"/>
            </a:br>
            <a:r>
              <a:rPr lang="en-US" dirty="0" smtClean="0"/>
              <a:t>?&gt;</a:t>
            </a:r>
            <a:br>
              <a:rPr lang="en-US" dirty="0" smtClean="0"/>
            </a:br>
            <a:r>
              <a:rPr lang="en-US" dirty="0" smtClean="0"/>
              <a:t/>
            </a:r>
            <a:br>
              <a:rPr lang="en-US" dirty="0" smtClean="0"/>
            </a:br>
            <a:r>
              <a:rPr lang="en-US" dirty="0" smtClean="0"/>
              <a:t>&lt;html&gt;</a:t>
            </a:r>
            <a:br>
              <a:rPr lang="en-US" dirty="0" smtClean="0"/>
            </a:br>
            <a:r>
              <a:rPr lang="en-US" dirty="0" smtClean="0"/>
              <a:t>.....</a:t>
            </a:r>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 - Retrieval</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56</a:t>
            </a:fld>
            <a:endParaRPr lang="en-US"/>
          </a:p>
        </p:txBody>
      </p:sp>
      <p:sp>
        <p:nvSpPr>
          <p:cNvPr id="9" name="TextBox 8"/>
          <p:cNvSpPr txBox="1"/>
          <p:nvPr/>
        </p:nvSpPr>
        <p:spPr>
          <a:xfrm>
            <a:off x="838200" y="1295400"/>
            <a:ext cx="7543800" cy="2400657"/>
          </a:xfrm>
          <a:prstGeom prst="rect">
            <a:avLst/>
          </a:prstGeom>
          <a:noFill/>
        </p:spPr>
        <p:txBody>
          <a:bodyPr wrap="square" rtlCol="0">
            <a:spAutoFit/>
          </a:bodyPr>
          <a:lstStyle/>
          <a:p>
            <a:r>
              <a:rPr lang="en-US" sz="2400" dirty="0" smtClean="0"/>
              <a:t>How to Retrieve a Cookie Value?</a:t>
            </a:r>
          </a:p>
          <a:p>
            <a:r>
              <a:rPr lang="en-US" dirty="0" smtClean="0"/>
              <a:t>The PHP $_COOKIE variable is used to retrieve a cookie value. </a:t>
            </a:r>
            <a:br>
              <a:rPr lang="en-US" dirty="0" smtClean="0"/>
            </a:br>
            <a:endParaRPr lang="en-US" dirty="0" smtClean="0"/>
          </a:p>
          <a:p>
            <a:r>
              <a:rPr lang="en-US" dirty="0" smtClean="0"/>
              <a:t>Example 1:</a:t>
            </a:r>
            <a:br>
              <a:rPr lang="en-US" dirty="0" smtClean="0"/>
            </a:br>
            <a:r>
              <a:rPr lang="en-US" dirty="0" smtClean="0"/>
              <a:t>In the example below, we retrieve the value of the cookie named "user" and display it on a page:</a:t>
            </a:r>
          </a:p>
          <a:p>
            <a:endParaRPr lang="en-US" dirty="0" smtClean="0"/>
          </a:p>
          <a:p>
            <a:endParaRPr lang="en-US" dirty="0"/>
          </a:p>
        </p:txBody>
      </p:sp>
      <p:sp>
        <p:nvSpPr>
          <p:cNvPr id="13" name="Rectangle 12"/>
          <p:cNvSpPr/>
          <p:nvPr/>
        </p:nvSpPr>
        <p:spPr>
          <a:xfrm>
            <a:off x="914400" y="3505200"/>
            <a:ext cx="7010400" cy="2031325"/>
          </a:xfrm>
          <a:prstGeom prst="rect">
            <a:avLst/>
          </a:prstGeom>
          <a:ln>
            <a:solidFill>
              <a:schemeClr val="accent1"/>
            </a:solidFill>
          </a:ln>
        </p:spPr>
        <p:txBody>
          <a:bodyPr wrap="square">
            <a:spAutoFit/>
          </a:bodyPr>
          <a:lstStyle/>
          <a:p>
            <a:r>
              <a:rPr lang="en-US" dirty="0" smtClean="0"/>
              <a:t>&lt;?</a:t>
            </a:r>
            <a:r>
              <a:rPr lang="en-US" dirty="0" err="1" smtClean="0"/>
              <a:t>php</a:t>
            </a:r>
            <a:r>
              <a:rPr lang="en-US" dirty="0" smtClean="0"/>
              <a:t/>
            </a:r>
            <a:br>
              <a:rPr lang="en-US" dirty="0" smtClean="0"/>
            </a:br>
            <a:r>
              <a:rPr lang="en-US" dirty="0" smtClean="0"/>
              <a:t>// Print a cookie</a:t>
            </a:r>
            <a:br>
              <a:rPr lang="en-US" dirty="0" smtClean="0"/>
            </a:br>
            <a:r>
              <a:rPr lang="en-US" dirty="0" smtClean="0"/>
              <a:t>echo $_COOKIE["user"];</a:t>
            </a:r>
            <a:br>
              <a:rPr lang="en-US" dirty="0" smtClean="0"/>
            </a:br>
            <a:r>
              <a:rPr lang="en-US" dirty="0" smtClean="0"/>
              <a:t/>
            </a:r>
            <a:br>
              <a:rPr lang="en-US" dirty="0" smtClean="0"/>
            </a:br>
            <a:r>
              <a:rPr lang="en-US" dirty="0" smtClean="0"/>
              <a:t>// A way to view all cookies</a:t>
            </a:r>
            <a:br>
              <a:rPr lang="en-US" dirty="0" smtClean="0"/>
            </a:br>
            <a:r>
              <a:rPr lang="en-US" dirty="0" err="1" smtClean="0"/>
              <a:t>print_r</a:t>
            </a:r>
            <a:r>
              <a:rPr lang="en-US" dirty="0" smtClean="0"/>
              <a:t>($_COOKIE);</a:t>
            </a:r>
            <a:br>
              <a:rPr lang="en-US" dirty="0" smtClean="0"/>
            </a:br>
            <a:r>
              <a:rPr lang="en-US" dirty="0" smtClean="0"/>
              <a:t>?&gt;</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 - Retrieval</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57</a:t>
            </a:fld>
            <a:endParaRPr lang="en-US"/>
          </a:p>
        </p:txBody>
      </p:sp>
      <p:sp>
        <p:nvSpPr>
          <p:cNvPr id="9" name="TextBox 8"/>
          <p:cNvSpPr txBox="1"/>
          <p:nvPr/>
        </p:nvSpPr>
        <p:spPr>
          <a:xfrm>
            <a:off x="838200" y="1295400"/>
            <a:ext cx="7543800" cy="2400657"/>
          </a:xfrm>
          <a:prstGeom prst="rect">
            <a:avLst/>
          </a:prstGeom>
          <a:noFill/>
        </p:spPr>
        <p:txBody>
          <a:bodyPr wrap="square" rtlCol="0">
            <a:spAutoFit/>
          </a:bodyPr>
          <a:lstStyle/>
          <a:p>
            <a:r>
              <a:rPr lang="en-US" sz="2400" dirty="0" smtClean="0"/>
              <a:t>How to Retrieve a Cookie Value?</a:t>
            </a:r>
          </a:p>
          <a:p>
            <a:r>
              <a:rPr lang="en-US" dirty="0" smtClean="0"/>
              <a:t>The PHP $_COOKIE variable is used to retrieve a cookie value. </a:t>
            </a:r>
            <a:br>
              <a:rPr lang="en-US" dirty="0" smtClean="0"/>
            </a:br>
            <a:endParaRPr lang="en-US" dirty="0" smtClean="0"/>
          </a:p>
          <a:p>
            <a:r>
              <a:rPr lang="en-US" dirty="0" smtClean="0"/>
              <a:t>Example 2:</a:t>
            </a:r>
            <a:br>
              <a:rPr lang="en-US" dirty="0" smtClean="0"/>
            </a:br>
            <a:r>
              <a:rPr lang="en-US" dirty="0" smtClean="0"/>
              <a:t> In the following example we use the </a:t>
            </a:r>
            <a:r>
              <a:rPr lang="en-US" dirty="0" err="1" smtClean="0"/>
              <a:t>isset</a:t>
            </a:r>
            <a:r>
              <a:rPr lang="en-US" dirty="0" smtClean="0"/>
              <a:t>() function to find out if a cookie has been set:</a:t>
            </a:r>
          </a:p>
          <a:p>
            <a:endParaRPr lang="en-US" dirty="0" smtClean="0"/>
          </a:p>
          <a:p>
            <a:endParaRPr lang="en-US" dirty="0"/>
          </a:p>
        </p:txBody>
      </p:sp>
      <p:sp>
        <p:nvSpPr>
          <p:cNvPr id="13" name="Rectangle 12"/>
          <p:cNvSpPr/>
          <p:nvPr/>
        </p:nvSpPr>
        <p:spPr>
          <a:xfrm>
            <a:off x="914400" y="3124200"/>
            <a:ext cx="7010400" cy="3416320"/>
          </a:xfrm>
          <a:prstGeom prst="rect">
            <a:avLst/>
          </a:prstGeom>
          <a:ln>
            <a:solidFill>
              <a:schemeClr val="accent1"/>
            </a:solidFill>
          </a:ln>
        </p:spPr>
        <p:txBody>
          <a:bodyPr wrap="square">
            <a:spAutoFit/>
          </a:bodyPr>
          <a:lstStyle/>
          <a:p>
            <a:r>
              <a:rPr lang="en-US" dirty="0" smtClean="0"/>
              <a:t>&lt;html&gt;</a:t>
            </a:r>
            <a:br>
              <a:rPr lang="en-US" dirty="0" smtClean="0"/>
            </a:br>
            <a:r>
              <a:rPr lang="en-US" dirty="0" smtClean="0"/>
              <a:t>&lt;body&gt;</a:t>
            </a:r>
            <a:br>
              <a:rPr lang="en-US" dirty="0" smtClean="0"/>
            </a:br>
            <a:r>
              <a:rPr lang="en-US" dirty="0" smtClean="0"/>
              <a:t/>
            </a:r>
            <a:br>
              <a:rPr lang="en-US" dirty="0" smtClean="0"/>
            </a:br>
            <a:r>
              <a:rPr lang="en-US" dirty="0" smtClean="0"/>
              <a:t>&lt;?</a:t>
            </a:r>
            <a:r>
              <a:rPr lang="en-US" dirty="0" err="1" smtClean="0"/>
              <a:t>php</a:t>
            </a:r>
            <a:r>
              <a:rPr lang="en-US" dirty="0" smtClean="0"/>
              <a:t/>
            </a:r>
            <a:br>
              <a:rPr lang="en-US" dirty="0" smtClean="0"/>
            </a:br>
            <a:r>
              <a:rPr lang="en-US" dirty="0" smtClean="0"/>
              <a:t>if (</a:t>
            </a:r>
            <a:r>
              <a:rPr lang="en-US" dirty="0" err="1" smtClean="0"/>
              <a:t>isset</a:t>
            </a:r>
            <a:r>
              <a:rPr lang="en-US" dirty="0" smtClean="0"/>
              <a:t>($_COOKIE["user"]))</a:t>
            </a:r>
            <a:br>
              <a:rPr lang="en-US" dirty="0" smtClean="0"/>
            </a:br>
            <a:r>
              <a:rPr lang="en-US" dirty="0" smtClean="0"/>
              <a:t>  echo "Welcome " . $_COOKIE["user"] . "!&lt;</a:t>
            </a:r>
            <a:r>
              <a:rPr lang="en-US" dirty="0" err="1" smtClean="0"/>
              <a:t>br</a:t>
            </a:r>
            <a:r>
              <a:rPr lang="en-US" dirty="0" smtClean="0"/>
              <a:t> /&gt;";</a:t>
            </a:r>
            <a:br>
              <a:rPr lang="en-US" dirty="0" smtClean="0"/>
            </a:br>
            <a:r>
              <a:rPr lang="en-US" dirty="0" smtClean="0"/>
              <a:t>else</a:t>
            </a:r>
            <a:br>
              <a:rPr lang="en-US" dirty="0" smtClean="0"/>
            </a:br>
            <a:r>
              <a:rPr lang="en-US" dirty="0" smtClean="0"/>
              <a:t>  echo "Welcome guest!&lt;</a:t>
            </a:r>
            <a:r>
              <a:rPr lang="en-US" dirty="0" err="1" smtClean="0"/>
              <a:t>br</a:t>
            </a:r>
            <a:r>
              <a:rPr lang="en-US" dirty="0" smtClean="0"/>
              <a:t> /&gt;";</a:t>
            </a:r>
            <a:br>
              <a:rPr lang="en-US" dirty="0" smtClean="0"/>
            </a:br>
            <a:r>
              <a:rPr lang="en-US" dirty="0" smtClean="0"/>
              <a:t>?&gt;</a:t>
            </a:r>
            <a:br>
              <a:rPr lang="en-US" dirty="0" smtClean="0"/>
            </a:br>
            <a:r>
              <a:rPr lang="en-US" dirty="0" smtClean="0"/>
              <a:t/>
            </a:r>
            <a:br>
              <a:rPr lang="en-US" dirty="0" smtClean="0"/>
            </a:br>
            <a:r>
              <a:rPr lang="en-US" dirty="0" smtClean="0"/>
              <a:t>&lt;/body&gt;</a:t>
            </a:r>
            <a:br>
              <a:rPr lang="en-US" dirty="0" smtClean="0"/>
            </a:br>
            <a:r>
              <a:rPr lang="en-US" dirty="0" smtClean="0"/>
              <a:t>&lt;/html&gt;</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8157380" cy="944562"/>
          </a:xfrm>
        </p:spPr>
        <p:txBody>
          <a:bodyPr>
            <a:normAutofit/>
          </a:bodyPr>
          <a:lstStyle/>
          <a:p>
            <a:r>
              <a:rPr lang="en-US" dirty="0" smtClean="0"/>
              <a:t>PHP Cookies - Deletion</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58</a:t>
            </a:fld>
            <a:endParaRPr lang="en-US"/>
          </a:p>
        </p:txBody>
      </p:sp>
      <p:sp>
        <p:nvSpPr>
          <p:cNvPr id="9" name="TextBox 8"/>
          <p:cNvSpPr txBox="1"/>
          <p:nvPr/>
        </p:nvSpPr>
        <p:spPr>
          <a:xfrm>
            <a:off x="838200" y="1676400"/>
            <a:ext cx="7543800" cy="1785104"/>
          </a:xfrm>
          <a:prstGeom prst="rect">
            <a:avLst/>
          </a:prstGeom>
          <a:noFill/>
        </p:spPr>
        <p:txBody>
          <a:bodyPr wrap="square" rtlCol="0">
            <a:spAutoFit/>
          </a:bodyPr>
          <a:lstStyle/>
          <a:p>
            <a:r>
              <a:rPr lang="en-US" sz="2400" dirty="0" smtClean="0"/>
              <a:t>How to Delete a Cookie?</a:t>
            </a:r>
          </a:p>
          <a:p>
            <a:r>
              <a:rPr lang="en-US" sz="1600" dirty="0" smtClean="0"/>
              <a:t>When deleting a cookie you should assure that the expiration date is in the past.</a:t>
            </a:r>
          </a:p>
          <a:p>
            <a:r>
              <a:rPr lang="en-US" sz="1600" dirty="0" smtClean="0"/>
              <a:t>Delete example:</a:t>
            </a:r>
          </a:p>
          <a:p>
            <a:r>
              <a:rPr lang="en-US" dirty="0" smtClean="0"/>
              <a:t> </a:t>
            </a:r>
          </a:p>
          <a:p>
            <a:endParaRPr lang="en-US" dirty="0" smtClean="0"/>
          </a:p>
          <a:p>
            <a:endParaRPr lang="en-US" dirty="0"/>
          </a:p>
        </p:txBody>
      </p:sp>
      <p:sp>
        <p:nvSpPr>
          <p:cNvPr id="13" name="Rectangle 12"/>
          <p:cNvSpPr/>
          <p:nvPr/>
        </p:nvSpPr>
        <p:spPr>
          <a:xfrm>
            <a:off x="914400" y="3429000"/>
            <a:ext cx="7010400" cy="1631216"/>
          </a:xfrm>
          <a:prstGeom prst="rect">
            <a:avLst/>
          </a:prstGeom>
          <a:ln>
            <a:solidFill>
              <a:schemeClr val="accent1"/>
            </a:solidFill>
          </a:ln>
        </p:spPr>
        <p:txBody>
          <a:bodyPr wrap="square">
            <a:spAutoFit/>
          </a:bodyPr>
          <a:lstStyle/>
          <a:p>
            <a:r>
              <a:rPr lang="en-US" sz="2400" dirty="0" smtClean="0"/>
              <a:t>&lt;?</a:t>
            </a:r>
            <a:r>
              <a:rPr lang="en-US" sz="2400" dirty="0" err="1" smtClean="0"/>
              <a:t>php</a:t>
            </a:r>
            <a:r>
              <a:rPr lang="en-US" sz="2400" dirty="0" smtClean="0"/>
              <a:t/>
            </a:r>
            <a:br>
              <a:rPr lang="en-US" sz="2400" dirty="0" smtClean="0"/>
            </a:br>
            <a:r>
              <a:rPr lang="en-US" sz="2400" dirty="0" smtClean="0"/>
              <a:t>// set the </a:t>
            </a:r>
            <a:r>
              <a:rPr lang="en-US" sz="2800" dirty="0" smtClean="0"/>
              <a:t>expiration</a:t>
            </a:r>
            <a:r>
              <a:rPr lang="en-US" sz="2400" dirty="0" smtClean="0"/>
              <a:t> date to one hour ago</a:t>
            </a:r>
            <a:br>
              <a:rPr lang="en-US" sz="2400" dirty="0" smtClean="0"/>
            </a:br>
            <a:r>
              <a:rPr lang="en-US" sz="2400" dirty="0" err="1" smtClean="0"/>
              <a:t>setcookie</a:t>
            </a:r>
            <a:r>
              <a:rPr lang="en-US" sz="2400" dirty="0" smtClean="0"/>
              <a:t>("user", "", time()-3600);</a:t>
            </a:r>
            <a:br>
              <a:rPr lang="en-US" sz="2400" dirty="0" smtClean="0"/>
            </a:br>
            <a:r>
              <a:rPr lang="en-US" sz="2400" dirty="0" smtClean="0"/>
              <a:t>?&gt;</a:t>
            </a:r>
            <a:endParaRPr 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2CAF96FE-069F-4E95-9021-A70B136A67F9}">
  <ds:schemaRefs>
    <ds:schemaRef ds:uri="http://schemas.microsoft.com/office/2006/metadata/properties"/>
    <ds:schemaRef ds:uri="http://schemas.openxmlformats.org/package/2006/metadata/core-properties"/>
    <ds:schemaRef ds:uri="http://purl.org/dc/dcmitype/"/>
    <ds:schemaRef ds:uri="http://schemas.microsoft.com/office/2006/documentManagement/types"/>
    <ds:schemaRef ds:uri="http://purl.org/dc/elements/1.1/"/>
    <ds:schemaRef ds:uri="http://www.w3.org/XML/1998/namespace"/>
    <ds:schemaRef ds:uri="http://purl.org/dc/terms/"/>
  </ds:schemaRefs>
</ds:datastoreItem>
</file>

<file path=customXml/itemProps3.xml><?xml version="1.0" encoding="utf-8"?>
<ds:datastoreItem xmlns:ds="http://schemas.openxmlformats.org/officeDocument/2006/customXml" ds:itemID="{E4A77F67-C282-4373-9A32-27375E7495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Austin</Template>
  <TotalTime>8597</TotalTime>
  <Words>2710</Words>
  <Application>Microsoft Office PowerPoint</Application>
  <PresentationFormat>On-screen Show (4:3)</PresentationFormat>
  <Paragraphs>530</Paragraphs>
  <Slides>58</Slides>
  <Notes>57</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58</vt:i4>
      </vt:variant>
    </vt:vector>
  </HeadingPairs>
  <TitlesOfParts>
    <vt:vector size="63" baseType="lpstr">
      <vt:lpstr>Arial</vt:lpstr>
      <vt:lpstr>Calibri</vt:lpstr>
      <vt:lpstr>verdana</vt:lpstr>
      <vt:lpstr>Wingdings</vt:lpstr>
      <vt:lpstr>ppt template</vt:lpstr>
      <vt:lpstr>Jumpstart to PHP Part 1</vt:lpstr>
      <vt:lpstr>WAMP Overview</vt:lpstr>
      <vt:lpstr>WAMP Overview</vt:lpstr>
      <vt:lpstr>WAMP Installation</vt:lpstr>
      <vt:lpstr>Jumpstart to PHP, MySQL</vt:lpstr>
      <vt:lpstr>Jumpstart to PHP, MySQL</vt:lpstr>
      <vt:lpstr>PHP Syntax</vt:lpstr>
      <vt:lpstr>Jumpstart to PHP, MySQL</vt:lpstr>
      <vt:lpstr>Jumpstart to PHP, MySQL</vt:lpstr>
      <vt:lpstr>PHP Variables</vt:lpstr>
      <vt:lpstr>PHP Variables</vt:lpstr>
      <vt:lpstr>PHP Strings</vt:lpstr>
      <vt:lpstr>PHP Strings</vt:lpstr>
      <vt:lpstr>PHP Strings</vt:lpstr>
      <vt:lpstr>PHP Strings –example 1 </vt:lpstr>
      <vt:lpstr>PHP Strings –example 2</vt:lpstr>
      <vt:lpstr>PHP Strings Substr –example 3</vt:lpstr>
      <vt:lpstr>PHP Strings Substr –example 3</vt:lpstr>
      <vt:lpstr>PHP Floats</vt:lpstr>
      <vt:lpstr>PHP Math Functions</vt:lpstr>
      <vt:lpstr>PHP Arrays – example 1</vt:lpstr>
      <vt:lpstr>PHP Arrays – example 2</vt:lpstr>
      <vt:lpstr>PHP Arrays – example 4</vt:lpstr>
      <vt:lpstr>PHP Arrays – example 5 Associative Arrays</vt:lpstr>
      <vt:lpstr>PHP Arrays – example 6 Array Functions</vt:lpstr>
      <vt:lpstr>PHP Arrays – example 6 Array Functions</vt:lpstr>
      <vt:lpstr>PHP Typecasting</vt:lpstr>
      <vt:lpstr>PHP Typecasting</vt:lpstr>
      <vt:lpstr>PHP Controls</vt:lpstr>
      <vt:lpstr>PHP IF ELSE controls</vt:lpstr>
      <vt:lpstr>PHP IF ELSEIF controls</vt:lpstr>
      <vt:lpstr>PHP WHILE CONTROLS</vt:lpstr>
      <vt:lpstr>PHP WHILE CONTROLS</vt:lpstr>
      <vt:lpstr>PHP FOR LOOPS  </vt:lpstr>
      <vt:lpstr>PHP FOR LOOPS</vt:lpstr>
      <vt:lpstr>PHP FOR EACH  </vt:lpstr>
      <vt:lpstr>PHP FOR EACH</vt:lpstr>
      <vt:lpstr>PHP FORMS  POST</vt:lpstr>
      <vt:lpstr>PHP FORMS  POST</vt:lpstr>
      <vt:lpstr>PHP FORMS  POST</vt:lpstr>
      <vt:lpstr>PHP FORMS  GET</vt:lpstr>
      <vt:lpstr>PHP FORMS  GET</vt:lpstr>
      <vt:lpstr>PHP FORMS  POST</vt:lpstr>
      <vt:lpstr>PHP FUNCTIONS</vt:lpstr>
      <vt:lpstr>PHP FUNCTIONS</vt:lpstr>
      <vt:lpstr>PHP FUNCTIONS (With Parameters)</vt:lpstr>
      <vt:lpstr>PHP FUNCTIONS (With Return Value)</vt:lpstr>
      <vt:lpstr>PHP Sessions</vt:lpstr>
      <vt:lpstr>PHP Sessions - Start</vt:lpstr>
      <vt:lpstr>PHP Sessions – Page Views using Session Variables</vt:lpstr>
      <vt:lpstr>PHP Sessions - Storing</vt:lpstr>
      <vt:lpstr>PHP Sessions – Destroying Session</vt:lpstr>
      <vt:lpstr>PHP Cookies</vt:lpstr>
      <vt:lpstr>PHP Cookies - Creation</vt:lpstr>
      <vt:lpstr>PHP Cookies - Creation</vt:lpstr>
      <vt:lpstr>PHP Cookies - Retrieval</vt:lpstr>
      <vt:lpstr>PHP Cookies - Retrieval</vt:lpstr>
      <vt:lpstr>PHP Cookies - Deletion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tommy low</cp:lastModifiedBy>
  <cp:revision>241</cp:revision>
  <dcterms:created xsi:type="dcterms:W3CDTF">2012-03-19T05:26:54Z</dcterms:created>
  <dcterms:modified xsi:type="dcterms:W3CDTF">2014-09-18T18:51:50Z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