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4"/>
  </p:sldMasterIdLst>
  <p:notesMasterIdLst>
    <p:notesMasterId r:id="rId29"/>
  </p:notesMasterIdLst>
  <p:sldIdLst>
    <p:sldId id="256" r:id="rId5"/>
    <p:sldId id="261" r:id="rId6"/>
    <p:sldId id="257" r:id="rId7"/>
    <p:sldId id="259" r:id="rId8"/>
    <p:sldId id="262" r:id="rId9"/>
    <p:sldId id="263" r:id="rId10"/>
    <p:sldId id="264" r:id="rId11"/>
    <p:sldId id="266" r:id="rId12"/>
    <p:sldId id="267" r:id="rId13"/>
    <p:sldId id="265" r:id="rId14"/>
    <p:sldId id="281" r:id="rId15"/>
    <p:sldId id="268" r:id="rId16"/>
    <p:sldId id="270" r:id="rId17"/>
    <p:sldId id="26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58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20" y="-4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E9A966-6476-485E-B1E2-873857141A17}" type="doc">
      <dgm:prSet loTypeId="urn:microsoft.com/office/officeart/2005/8/layout/hList1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59E688C-95DF-4B18-B695-5D219361E348}">
      <dgm:prSet phldrT="[Text]" custT="1"/>
      <dgm:spPr/>
      <dgm:t>
        <a:bodyPr/>
        <a:lstStyle/>
        <a:p>
          <a:r>
            <a:rPr lang="en-US" sz="2800" b="1" dirty="0" smtClean="0"/>
            <a:t>&lt;div&gt;</a:t>
          </a:r>
          <a:endParaRPr lang="en-US" sz="2800" b="1" dirty="0"/>
        </a:p>
      </dgm:t>
    </dgm:pt>
    <dgm:pt modelId="{14F0B1BD-9EE7-472D-A35A-A5E8D208D742}" type="parTrans" cxnId="{914148F5-98D8-4736-88EB-8D0F521F9BFF}">
      <dgm:prSet/>
      <dgm:spPr/>
      <dgm:t>
        <a:bodyPr/>
        <a:lstStyle/>
        <a:p>
          <a:endParaRPr lang="en-US"/>
        </a:p>
      </dgm:t>
    </dgm:pt>
    <dgm:pt modelId="{6468092E-3D76-4524-ACA8-ED08126B941A}" type="sibTrans" cxnId="{914148F5-98D8-4736-88EB-8D0F521F9BFF}">
      <dgm:prSet/>
      <dgm:spPr/>
      <dgm:t>
        <a:bodyPr/>
        <a:lstStyle/>
        <a:p>
          <a:endParaRPr lang="en-US"/>
        </a:p>
      </dgm:t>
    </dgm:pt>
    <dgm:pt modelId="{9238C393-1A1F-4FCF-8171-E0399DAA9421}">
      <dgm:prSet phldrT="[Text]"/>
      <dgm:spPr/>
      <dgm:t>
        <a:bodyPr/>
        <a:lstStyle/>
        <a:p>
          <a:r>
            <a:rPr lang="en-US" dirty="0" smtClean="0"/>
            <a:t>Takes as much width of the page as possible, anything after &lt;div&gt; tag go to the next line beneath it</a:t>
          </a:r>
          <a:endParaRPr lang="en-US" dirty="0"/>
        </a:p>
      </dgm:t>
    </dgm:pt>
    <dgm:pt modelId="{7C56C531-024F-4818-81A1-A348D5DC0472}" type="parTrans" cxnId="{454FC749-84D6-4C07-9F2C-F6CB25D6CFD9}">
      <dgm:prSet/>
      <dgm:spPr/>
      <dgm:t>
        <a:bodyPr/>
        <a:lstStyle/>
        <a:p>
          <a:endParaRPr lang="en-US"/>
        </a:p>
      </dgm:t>
    </dgm:pt>
    <dgm:pt modelId="{228D2257-46B7-4DE0-8C6B-06BFCA80C581}" type="sibTrans" cxnId="{454FC749-84D6-4C07-9F2C-F6CB25D6CFD9}">
      <dgm:prSet/>
      <dgm:spPr/>
      <dgm:t>
        <a:bodyPr/>
        <a:lstStyle/>
        <a:p>
          <a:endParaRPr lang="en-US"/>
        </a:p>
      </dgm:t>
    </dgm:pt>
    <dgm:pt modelId="{98C3E2E1-4C2E-42B1-BAAA-718D903DC3BE}">
      <dgm:prSet phldrT="[Text]" custT="1"/>
      <dgm:spPr/>
      <dgm:t>
        <a:bodyPr/>
        <a:lstStyle/>
        <a:p>
          <a:r>
            <a:rPr lang="en-US" sz="2800" b="1" dirty="0" smtClean="0"/>
            <a:t>&lt;span&gt;</a:t>
          </a:r>
          <a:endParaRPr lang="en-US" sz="2800" b="1" dirty="0"/>
        </a:p>
      </dgm:t>
    </dgm:pt>
    <dgm:pt modelId="{F98EDB3D-0BF2-4928-AE52-9BBD8D024FB5}" type="parTrans" cxnId="{C9C06F2A-0F56-4061-97A0-979445F4D766}">
      <dgm:prSet/>
      <dgm:spPr/>
      <dgm:t>
        <a:bodyPr/>
        <a:lstStyle/>
        <a:p>
          <a:endParaRPr lang="en-US"/>
        </a:p>
      </dgm:t>
    </dgm:pt>
    <dgm:pt modelId="{F4ABC693-2DCF-4785-B132-609A1DEB4701}" type="sibTrans" cxnId="{C9C06F2A-0F56-4061-97A0-979445F4D766}">
      <dgm:prSet/>
      <dgm:spPr/>
      <dgm:t>
        <a:bodyPr/>
        <a:lstStyle/>
        <a:p>
          <a:endParaRPr lang="en-US"/>
        </a:p>
      </dgm:t>
    </dgm:pt>
    <dgm:pt modelId="{D2425944-0BD2-49ED-80F2-CB353BC42AF4}">
      <dgm:prSet phldrT="[Text]"/>
      <dgm:spPr/>
      <dgm:t>
        <a:bodyPr/>
        <a:lstStyle/>
        <a:p>
          <a:r>
            <a:rPr lang="en-US" dirty="0" smtClean="0"/>
            <a:t>Inline element</a:t>
          </a:r>
          <a:endParaRPr lang="en-US" dirty="0"/>
        </a:p>
      </dgm:t>
    </dgm:pt>
    <dgm:pt modelId="{A703BD14-1D94-4BD1-881D-5F4D551649A4}" type="parTrans" cxnId="{69C85F71-D097-44FB-B4BD-B94B6515A67F}">
      <dgm:prSet/>
      <dgm:spPr/>
      <dgm:t>
        <a:bodyPr/>
        <a:lstStyle/>
        <a:p>
          <a:endParaRPr lang="en-US"/>
        </a:p>
      </dgm:t>
    </dgm:pt>
    <dgm:pt modelId="{F7EFC0AD-64D8-4D9F-82CA-79D9C19F29F2}" type="sibTrans" cxnId="{69C85F71-D097-44FB-B4BD-B94B6515A67F}">
      <dgm:prSet/>
      <dgm:spPr/>
      <dgm:t>
        <a:bodyPr/>
        <a:lstStyle/>
        <a:p>
          <a:endParaRPr lang="en-US"/>
        </a:p>
      </dgm:t>
    </dgm:pt>
    <dgm:pt modelId="{221F2504-9C53-481A-A5C4-3489DE56024D}">
      <dgm:prSet phldrT="[Text]"/>
      <dgm:spPr/>
      <dgm:t>
        <a:bodyPr/>
        <a:lstStyle/>
        <a:p>
          <a:r>
            <a:rPr lang="en-US" dirty="0" smtClean="0"/>
            <a:t>Takes as little space as possible, only enough to contain its contents</a:t>
          </a:r>
          <a:endParaRPr lang="en-US" dirty="0"/>
        </a:p>
      </dgm:t>
    </dgm:pt>
    <dgm:pt modelId="{0693A59A-412B-42C5-9B2D-6E6E1B4E4FAD}" type="parTrans" cxnId="{57A26870-12DF-48BA-8A62-E034E257080B}">
      <dgm:prSet/>
      <dgm:spPr/>
      <dgm:t>
        <a:bodyPr/>
        <a:lstStyle/>
        <a:p>
          <a:endParaRPr lang="en-US"/>
        </a:p>
      </dgm:t>
    </dgm:pt>
    <dgm:pt modelId="{BBAF1970-A2E2-40DC-AB81-FF9A4F10DDE4}" type="sibTrans" cxnId="{57A26870-12DF-48BA-8A62-E034E257080B}">
      <dgm:prSet/>
      <dgm:spPr/>
      <dgm:t>
        <a:bodyPr/>
        <a:lstStyle/>
        <a:p>
          <a:endParaRPr lang="en-US"/>
        </a:p>
      </dgm:t>
    </dgm:pt>
    <dgm:pt modelId="{A935F4B7-9C3C-48AE-A56A-F23D7CBB76BD}">
      <dgm:prSet phldrT="[Text]"/>
      <dgm:spPr/>
      <dgm:t>
        <a:bodyPr/>
        <a:lstStyle/>
        <a:p>
          <a:r>
            <a:rPr lang="en-US" dirty="0" smtClean="0"/>
            <a:t>Block element</a:t>
          </a:r>
          <a:endParaRPr lang="en-US" dirty="0"/>
        </a:p>
      </dgm:t>
    </dgm:pt>
    <dgm:pt modelId="{29E1F55A-3867-4847-BA45-59EE73B7EC26}" type="parTrans" cxnId="{41B17E74-D278-4134-B839-DD4E5C0E3FD3}">
      <dgm:prSet/>
      <dgm:spPr/>
      <dgm:t>
        <a:bodyPr/>
        <a:lstStyle/>
        <a:p>
          <a:endParaRPr lang="en-US"/>
        </a:p>
      </dgm:t>
    </dgm:pt>
    <dgm:pt modelId="{7E088393-16BB-4B2F-9543-29F53669C97F}" type="sibTrans" cxnId="{41B17E74-D278-4134-B839-DD4E5C0E3FD3}">
      <dgm:prSet/>
      <dgm:spPr/>
      <dgm:t>
        <a:bodyPr/>
        <a:lstStyle/>
        <a:p>
          <a:endParaRPr lang="en-US"/>
        </a:p>
      </dgm:t>
    </dgm:pt>
    <dgm:pt modelId="{366EF47C-C2A3-4F3A-9AE8-FA69CD11B9DA}" type="pres">
      <dgm:prSet presAssocID="{D6E9A966-6476-485E-B1E2-873857141A1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9E71B2D-7A82-4A20-8F34-A27201F92EC4}" type="pres">
      <dgm:prSet presAssocID="{659E688C-95DF-4B18-B695-5D219361E348}" presName="composite" presStyleCnt="0"/>
      <dgm:spPr/>
    </dgm:pt>
    <dgm:pt modelId="{02380534-D912-4834-89DF-7D337451499D}" type="pres">
      <dgm:prSet presAssocID="{659E688C-95DF-4B18-B695-5D219361E34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AF7968-17DF-420E-A877-55401F655163}" type="pres">
      <dgm:prSet presAssocID="{659E688C-95DF-4B18-B695-5D219361E348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2F3138-1BAC-492B-B378-550278CE834F}" type="pres">
      <dgm:prSet presAssocID="{6468092E-3D76-4524-ACA8-ED08126B941A}" presName="space" presStyleCnt="0"/>
      <dgm:spPr/>
    </dgm:pt>
    <dgm:pt modelId="{DF6F7FE2-7DC8-45E9-9D57-0469BA9C280C}" type="pres">
      <dgm:prSet presAssocID="{98C3E2E1-4C2E-42B1-BAAA-718D903DC3BE}" presName="composite" presStyleCnt="0"/>
      <dgm:spPr/>
    </dgm:pt>
    <dgm:pt modelId="{716BE4C5-515B-4F11-A469-AF9D9DA4B12B}" type="pres">
      <dgm:prSet presAssocID="{98C3E2E1-4C2E-42B1-BAAA-718D903DC3B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B54039-3B08-4B25-A97A-406AF33992A9}" type="pres">
      <dgm:prSet presAssocID="{98C3E2E1-4C2E-42B1-BAAA-718D903DC3BE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8DA95A-F0C5-43C3-941F-A9726866F428}" type="presOf" srcId="{659E688C-95DF-4B18-B695-5D219361E348}" destId="{02380534-D912-4834-89DF-7D337451499D}" srcOrd="0" destOrd="0" presId="urn:microsoft.com/office/officeart/2005/8/layout/hList1"/>
    <dgm:cxn modelId="{BFDA77D2-23C5-4983-B338-F0D8A90154A8}" type="presOf" srcId="{221F2504-9C53-481A-A5C4-3489DE56024D}" destId="{68B54039-3B08-4B25-A97A-406AF33992A9}" srcOrd="0" destOrd="1" presId="urn:microsoft.com/office/officeart/2005/8/layout/hList1"/>
    <dgm:cxn modelId="{275A460A-353A-47A2-BE5C-5981830AEE14}" type="presOf" srcId="{98C3E2E1-4C2E-42B1-BAAA-718D903DC3BE}" destId="{716BE4C5-515B-4F11-A469-AF9D9DA4B12B}" srcOrd="0" destOrd="0" presId="urn:microsoft.com/office/officeart/2005/8/layout/hList1"/>
    <dgm:cxn modelId="{41B17E74-D278-4134-B839-DD4E5C0E3FD3}" srcId="{659E688C-95DF-4B18-B695-5D219361E348}" destId="{A935F4B7-9C3C-48AE-A56A-F23D7CBB76BD}" srcOrd="0" destOrd="0" parTransId="{29E1F55A-3867-4847-BA45-59EE73B7EC26}" sibTransId="{7E088393-16BB-4B2F-9543-29F53669C97F}"/>
    <dgm:cxn modelId="{69C85F71-D097-44FB-B4BD-B94B6515A67F}" srcId="{98C3E2E1-4C2E-42B1-BAAA-718D903DC3BE}" destId="{D2425944-0BD2-49ED-80F2-CB353BC42AF4}" srcOrd="0" destOrd="0" parTransId="{A703BD14-1D94-4BD1-881D-5F4D551649A4}" sibTransId="{F7EFC0AD-64D8-4D9F-82CA-79D9C19F29F2}"/>
    <dgm:cxn modelId="{C9C06F2A-0F56-4061-97A0-979445F4D766}" srcId="{D6E9A966-6476-485E-B1E2-873857141A17}" destId="{98C3E2E1-4C2E-42B1-BAAA-718D903DC3BE}" srcOrd="1" destOrd="0" parTransId="{F98EDB3D-0BF2-4928-AE52-9BBD8D024FB5}" sibTransId="{F4ABC693-2DCF-4785-B132-609A1DEB4701}"/>
    <dgm:cxn modelId="{914148F5-98D8-4736-88EB-8D0F521F9BFF}" srcId="{D6E9A966-6476-485E-B1E2-873857141A17}" destId="{659E688C-95DF-4B18-B695-5D219361E348}" srcOrd="0" destOrd="0" parTransId="{14F0B1BD-9EE7-472D-A35A-A5E8D208D742}" sibTransId="{6468092E-3D76-4524-ACA8-ED08126B941A}"/>
    <dgm:cxn modelId="{39B1B251-A650-492E-9B7A-0457C659C732}" type="presOf" srcId="{9238C393-1A1F-4FCF-8171-E0399DAA9421}" destId="{AFAF7968-17DF-420E-A877-55401F655163}" srcOrd="0" destOrd="1" presId="urn:microsoft.com/office/officeart/2005/8/layout/hList1"/>
    <dgm:cxn modelId="{57A26870-12DF-48BA-8A62-E034E257080B}" srcId="{98C3E2E1-4C2E-42B1-BAAA-718D903DC3BE}" destId="{221F2504-9C53-481A-A5C4-3489DE56024D}" srcOrd="1" destOrd="0" parTransId="{0693A59A-412B-42C5-9B2D-6E6E1B4E4FAD}" sibTransId="{BBAF1970-A2E2-40DC-AB81-FF9A4F10DDE4}"/>
    <dgm:cxn modelId="{4048D06F-2E30-4B53-A32E-E56BCE80E6E7}" type="presOf" srcId="{A935F4B7-9C3C-48AE-A56A-F23D7CBB76BD}" destId="{AFAF7968-17DF-420E-A877-55401F655163}" srcOrd="0" destOrd="0" presId="urn:microsoft.com/office/officeart/2005/8/layout/hList1"/>
    <dgm:cxn modelId="{F8104647-A336-498D-B37A-7ADE23BA154C}" type="presOf" srcId="{D2425944-0BD2-49ED-80F2-CB353BC42AF4}" destId="{68B54039-3B08-4B25-A97A-406AF33992A9}" srcOrd="0" destOrd="0" presId="urn:microsoft.com/office/officeart/2005/8/layout/hList1"/>
    <dgm:cxn modelId="{7F2DF2C3-EEE7-47E7-B801-64D723E8746F}" type="presOf" srcId="{D6E9A966-6476-485E-B1E2-873857141A17}" destId="{366EF47C-C2A3-4F3A-9AE8-FA69CD11B9DA}" srcOrd="0" destOrd="0" presId="urn:microsoft.com/office/officeart/2005/8/layout/hList1"/>
    <dgm:cxn modelId="{454FC749-84D6-4C07-9F2C-F6CB25D6CFD9}" srcId="{659E688C-95DF-4B18-B695-5D219361E348}" destId="{9238C393-1A1F-4FCF-8171-E0399DAA9421}" srcOrd="1" destOrd="0" parTransId="{7C56C531-024F-4818-81A1-A348D5DC0472}" sibTransId="{228D2257-46B7-4DE0-8C6B-06BFCA80C581}"/>
    <dgm:cxn modelId="{74700018-6915-4E64-8F4C-80FB2EEE20F2}" type="presParOf" srcId="{366EF47C-C2A3-4F3A-9AE8-FA69CD11B9DA}" destId="{19E71B2D-7A82-4A20-8F34-A27201F92EC4}" srcOrd="0" destOrd="0" presId="urn:microsoft.com/office/officeart/2005/8/layout/hList1"/>
    <dgm:cxn modelId="{3691931F-39EC-4058-9697-292074426B55}" type="presParOf" srcId="{19E71B2D-7A82-4A20-8F34-A27201F92EC4}" destId="{02380534-D912-4834-89DF-7D337451499D}" srcOrd="0" destOrd="0" presId="urn:microsoft.com/office/officeart/2005/8/layout/hList1"/>
    <dgm:cxn modelId="{82DFBDED-478E-45A8-8702-61E7E4F121F5}" type="presParOf" srcId="{19E71B2D-7A82-4A20-8F34-A27201F92EC4}" destId="{AFAF7968-17DF-420E-A877-55401F655163}" srcOrd="1" destOrd="0" presId="urn:microsoft.com/office/officeart/2005/8/layout/hList1"/>
    <dgm:cxn modelId="{15FE49A8-7990-4424-9A62-B3AEE7EEA2FE}" type="presParOf" srcId="{366EF47C-C2A3-4F3A-9AE8-FA69CD11B9DA}" destId="{7E2F3138-1BAC-492B-B378-550278CE834F}" srcOrd="1" destOrd="0" presId="urn:microsoft.com/office/officeart/2005/8/layout/hList1"/>
    <dgm:cxn modelId="{FD236585-EAFB-4953-AD51-05BA3AE8DD53}" type="presParOf" srcId="{366EF47C-C2A3-4F3A-9AE8-FA69CD11B9DA}" destId="{DF6F7FE2-7DC8-45E9-9D57-0469BA9C280C}" srcOrd="2" destOrd="0" presId="urn:microsoft.com/office/officeart/2005/8/layout/hList1"/>
    <dgm:cxn modelId="{EBAD52BE-1831-4DD9-B52D-96942515383B}" type="presParOf" srcId="{DF6F7FE2-7DC8-45E9-9D57-0469BA9C280C}" destId="{716BE4C5-515B-4F11-A469-AF9D9DA4B12B}" srcOrd="0" destOrd="0" presId="urn:microsoft.com/office/officeart/2005/8/layout/hList1"/>
    <dgm:cxn modelId="{B51AC11E-DB92-41D0-BEB3-52F6B0060F0F}" type="presParOf" srcId="{DF6F7FE2-7DC8-45E9-9D57-0469BA9C280C}" destId="{68B54039-3B08-4B25-A97A-406AF33992A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80534-D912-4834-89DF-7D337451499D}">
      <dsp:nvSpPr>
        <dsp:cNvPr id="0" name=""/>
        <dsp:cNvSpPr/>
      </dsp:nvSpPr>
      <dsp:spPr>
        <a:xfrm>
          <a:off x="33" y="81678"/>
          <a:ext cx="3212363" cy="63941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&lt;div&gt;</a:t>
          </a:r>
          <a:endParaRPr lang="en-US" sz="2800" b="1" kern="1200" dirty="0"/>
        </a:p>
      </dsp:txBody>
      <dsp:txXfrm>
        <a:off x="33" y="81678"/>
        <a:ext cx="3212363" cy="639418"/>
      </dsp:txXfrm>
    </dsp:sp>
    <dsp:sp modelId="{AFAF7968-17DF-420E-A877-55401F655163}">
      <dsp:nvSpPr>
        <dsp:cNvPr id="0" name=""/>
        <dsp:cNvSpPr/>
      </dsp:nvSpPr>
      <dsp:spPr>
        <a:xfrm>
          <a:off x="33" y="721096"/>
          <a:ext cx="3212363" cy="192973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Block element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Takes as much width of the page as possible, anything after &lt;div&gt; tag go to the next line beneath it</a:t>
          </a:r>
          <a:endParaRPr lang="en-US" sz="1900" kern="1200" dirty="0"/>
        </a:p>
      </dsp:txBody>
      <dsp:txXfrm>
        <a:off x="33" y="721096"/>
        <a:ext cx="3212363" cy="1929734"/>
      </dsp:txXfrm>
    </dsp:sp>
    <dsp:sp modelId="{716BE4C5-515B-4F11-A469-AF9D9DA4B12B}">
      <dsp:nvSpPr>
        <dsp:cNvPr id="0" name=""/>
        <dsp:cNvSpPr/>
      </dsp:nvSpPr>
      <dsp:spPr>
        <a:xfrm>
          <a:off x="3662127" y="81678"/>
          <a:ext cx="3212363" cy="63941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&lt;span&gt;</a:t>
          </a:r>
          <a:endParaRPr lang="en-US" sz="2800" b="1" kern="1200" dirty="0"/>
        </a:p>
      </dsp:txBody>
      <dsp:txXfrm>
        <a:off x="3662127" y="81678"/>
        <a:ext cx="3212363" cy="639418"/>
      </dsp:txXfrm>
    </dsp:sp>
    <dsp:sp modelId="{68B54039-3B08-4B25-A97A-406AF33992A9}">
      <dsp:nvSpPr>
        <dsp:cNvPr id="0" name=""/>
        <dsp:cNvSpPr/>
      </dsp:nvSpPr>
      <dsp:spPr>
        <a:xfrm>
          <a:off x="3662127" y="721096"/>
          <a:ext cx="3212363" cy="192973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Inline element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Takes as little space as possible, only enough to contain its contents</a:t>
          </a:r>
          <a:endParaRPr lang="en-US" sz="1900" kern="1200" dirty="0"/>
        </a:p>
      </dsp:txBody>
      <dsp:txXfrm>
        <a:off x="3662127" y="721096"/>
        <a:ext cx="3212363" cy="1929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A42B3-3C6A-497D-972A-E1260B937267}" type="datetimeFigureOut">
              <a:rPr lang="en-US" smtClean="0"/>
              <a:t>10/9/2013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28762-E7DE-44B2-9DC4-E765B2E2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41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css_selector.html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28762-E7DE-44B2-9DC4-E765B2E215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4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divSpan.html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28762-E7DE-44B2-9DC4-E765B2E215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76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division.html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28762-E7DE-44B2-9DC4-E765B2E215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03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Demo: span.html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28762-E7DE-44B2-9DC4-E765B2E2154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51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Demo</a:t>
            </a:r>
            <a:r>
              <a:rPr lang="en-GB" smtClean="0"/>
              <a:t>: pseudo-class.html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28762-E7DE-44B2-9DC4-E765B2E2154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28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A98AF03-7270-45C2-A683-C5E353EF01A5}" type="datetime4">
              <a:rPr lang="en-US" smtClean="0"/>
              <a:pPr/>
              <a:t>October 9, 2013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93482-8E69-40F7-BCAD-5662A6CADB27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143000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509371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EAE1-CAAC-4AEF-919E-158692B1E55E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706-D8F2-4D1A-855A-CADC92600C26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F123-1704-49AC-9D15-C4B1462B8014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49BF1-FCD3-4395-8FF6-0047AF66228E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61222-2C8B-4501-BE87-6797EC025925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5AFD-D735-4504-A039-ADEBB6448D55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8118-FB93-4E87-B380-0175F2FE2167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2004" y="273983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000" y="1623143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6C01193-8287-4834-A286-6B880643E934}" type="datetime4">
              <a:rPr lang="en-US" smtClean="0"/>
              <a:pPr/>
              <a:t>October 9, 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A6724466-CF14-4098-A57E-6BA1C4EB8FE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48200" y="533400"/>
            <a:ext cx="3313355" cy="1702160"/>
          </a:xfrm>
        </p:spPr>
        <p:txBody>
          <a:bodyPr>
            <a:noAutofit/>
          </a:bodyPr>
          <a:lstStyle/>
          <a:p>
            <a:r>
              <a:rPr lang="en-US" dirty="0" smtClean="0"/>
              <a:t>IT2771– Rich Internet Applications</a:t>
            </a:r>
            <a:br>
              <a:rPr lang="en-US" dirty="0" smtClean="0"/>
            </a:br>
            <a:r>
              <a:rPr lang="en-US" dirty="0" smtClean="0"/>
              <a:t>Development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Cascading Style </a:t>
            </a:r>
            <a:r>
              <a:rPr lang="en-US" smtClean="0"/>
              <a:t>Sheets 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22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283" y="1447800"/>
            <a:ext cx="6777317" cy="3508977"/>
          </a:xfrm>
        </p:spPr>
        <p:txBody>
          <a:bodyPr>
            <a:normAutofit fontScale="55000" lnSpcReduction="20000"/>
          </a:bodyPr>
          <a:lstStyle/>
          <a:p>
            <a:r>
              <a:rPr lang="en-US" sz="2400" dirty="0" smtClean="0"/>
              <a:t>Basic selection techniques</a:t>
            </a:r>
          </a:p>
          <a:p>
            <a:pPr lvl="1">
              <a:spcAft>
                <a:spcPts val="1000"/>
              </a:spcAft>
            </a:pPr>
            <a:r>
              <a:rPr lang="en-US" sz="2000" b="1" dirty="0" smtClean="0">
                <a:solidFill>
                  <a:schemeClr val="accent2"/>
                </a:solidFill>
              </a:rPr>
              <a:t>Type Selectors</a:t>
            </a:r>
          </a:p>
          <a:p>
            <a:pPr lvl="1">
              <a:spcAft>
                <a:spcPts val="1000"/>
              </a:spcAft>
            </a:pPr>
            <a:endParaRPr lang="en-US" sz="2000" b="1" dirty="0" smtClean="0">
              <a:solidFill>
                <a:schemeClr val="accent2"/>
              </a:solidFill>
            </a:endParaRPr>
          </a:p>
          <a:p>
            <a:pPr lvl="1">
              <a:spcAft>
                <a:spcPts val="1000"/>
              </a:spcAft>
            </a:pPr>
            <a:r>
              <a:rPr lang="en-US" sz="2000" b="1" dirty="0" smtClean="0">
                <a:solidFill>
                  <a:schemeClr val="accent2"/>
                </a:solidFill>
              </a:rPr>
              <a:t>Grouping Selectors</a:t>
            </a:r>
          </a:p>
          <a:p>
            <a:pPr lvl="1">
              <a:spcAft>
                <a:spcPts val="1000"/>
              </a:spcAft>
            </a:pPr>
            <a:endParaRPr lang="en-US" sz="2000" b="1" dirty="0" smtClean="0">
              <a:solidFill>
                <a:schemeClr val="accent2"/>
              </a:solidFill>
            </a:endParaRPr>
          </a:p>
          <a:p>
            <a:pPr lvl="1">
              <a:spcAft>
                <a:spcPts val="1000"/>
              </a:spcAft>
            </a:pPr>
            <a:r>
              <a:rPr lang="en-US" sz="2000" b="1" dirty="0" smtClean="0">
                <a:solidFill>
                  <a:schemeClr val="accent2"/>
                </a:solidFill>
              </a:rPr>
              <a:t>Combing Declarations</a:t>
            </a:r>
          </a:p>
          <a:p>
            <a:pPr lvl="1">
              <a:spcAft>
                <a:spcPts val="1000"/>
              </a:spcAft>
            </a:pPr>
            <a:endParaRPr lang="en-US" sz="2000" b="1" dirty="0" smtClean="0">
              <a:solidFill>
                <a:schemeClr val="accent2"/>
              </a:solidFill>
            </a:endParaRPr>
          </a:p>
          <a:p>
            <a:pPr lvl="1">
              <a:spcAft>
                <a:spcPts val="1000"/>
              </a:spcAft>
            </a:pPr>
            <a:endParaRPr lang="en-US" sz="2000" b="1" dirty="0" smtClean="0">
              <a:solidFill>
                <a:schemeClr val="accent2"/>
              </a:solidFill>
            </a:endParaRPr>
          </a:p>
          <a:p>
            <a:pPr lvl="1">
              <a:spcAft>
                <a:spcPts val="1000"/>
              </a:spcAft>
            </a:pPr>
            <a:endParaRPr lang="en-US" sz="2000" b="1" dirty="0" smtClean="0">
              <a:solidFill>
                <a:schemeClr val="accent2"/>
              </a:solidFill>
            </a:endParaRPr>
          </a:p>
          <a:p>
            <a:pPr lvl="1">
              <a:spcAft>
                <a:spcPts val="1000"/>
              </a:spcAft>
            </a:pPr>
            <a:r>
              <a:rPr lang="en-US" sz="2000" b="1" dirty="0" smtClean="0">
                <a:solidFill>
                  <a:schemeClr val="accent2"/>
                </a:solidFill>
              </a:rPr>
              <a:t>Descendant Selectors</a:t>
            </a:r>
          </a:p>
          <a:p>
            <a:pPr lvl="1">
              <a:spcAft>
                <a:spcPts val="1000"/>
              </a:spcAft>
            </a:pPr>
            <a:endParaRPr lang="en-US" sz="2000" b="1" dirty="0" smtClean="0">
              <a:solidFill>
                <a:schemeClr val="accent2"/>
              </a:solidFill>
            </a:endParaRPr>
          </a:p>
          <a:p>
            <a:pPr lvl="1">
              <a:spcAft>
                <a:spcPts val="1000"/>
              </a:spcAft>
            </a:pPr>
            <a:r>
              <a:rPr lang="en-US" sz="2000" b="1" dirty="0" smtClean="0">
                <a:solidFill>
                  <a:schemeClr val="accent2"/>
                </a:solidFill>
              </a:rPr>
              <a:t>Universal Selectors</a:t>
            </a:r>
          </a:p>
          <a:p>
            <a:pPr lvl="1"/>
            <a:endParaRPr lang="en-US" sz="20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828800" y="1871246"/>
            <a:ext cx="6035040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h1 { color: red;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0512" y="2490863"/>
            <a:ext cx="6035040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h1, h2 { color: red;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6035040" cy="1077218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 {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color: blue;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font-size: 125%;</a:t>
            </a:r>
          </a:p>
          <a:p>
            <a:r>
              <a:rPr lang="en-US" sz="1600" dirty="0"/>
              <a:t>}</a:t>
            </a:r>
            <a:endParaRPr lang="en-US" sz="16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810512" y="4995446"/>
            <a:ext cx="6035040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 </a:t>
            </a:r>
            <a:r>
              <a:rPr lang="en-US" sz="1600" dirty="0" err="1" smtClean="0"/>
              <a:t>em</a:t>
            </a:r>
            <a:r>
              <a:rPr lang="en-US" sz="1600" dirty="0" smtClean="0"/>
              <a:t> { color: blue;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3560" y="5410200"/>
            <a:ext cx="6035040" cy="33855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div * { font-family: </a:t>
            </a:r>
            <a:r>
              <a:rPr lang="en-US" sz="1600" dirty="0" err="1" smtClean="0"/>
              <a:t>tahoma</a:t>
            </a:r>
            <a:r>
              <a:rPr lang="en-US" sz="1600" dirty="0" smtClean="0"/>
              <a:t>; }</a:t>
            </a:r>
          </a:p>
        </p:txBody>
      </p:sp>
      <p:sp>
        <p:nvSpPr>
          <p:cNvPr id="11" name="5-Point Star 10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37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295400"/>
            <a:ext cx="7319180" cy="4876800"/>
          </a:xfrm>
        </p:spPr>
        <p:txBody>
          <a:bodyPr/>
          <a:lstStyle/>
          <a:p>
            <a:pPr lvl="0"/>
            <a:r>
              <a:rPr lang="en-US" dirty="0" smtClean="0"/>
              <a:t>Learn how to use class and id selectors</a:t>
            </a:r>
          </a:p>
          <a:p>
            <a:pPr lvl="0"/>
            <a:r>
              <a:rPr lang="en-US" dirty="0" smtClean="0"/>
              <a:t>Learn how to use the &lt;div&gt; and &lt;span&gt; elements</a:t>
            </a:r>
          </a:p>
          <a:p>
            <a:pPr lvl="0"/>
            <a:r>
              <a:rPr lang="en-US" dirty="0" smtClean="0"/>
              <a:t>Learn how to use other selectors</a:t>
            </a:r>
            <a:endParaRPr lang="en-US" dirty="0"/>
          </a:p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3</a:t>
            </a:fld>
            <a:endParaRPr lang="en-US"/>
          </a:p>
        </p:txBody>
      </p:sp>
      <p:pic>
        <p:nvPicPr>
          <p:cNvPr id="1027" name="Picture 3" descr="C:\Users\EvyLim\AppData\Local\Microsoft\Windows\Temporary Internet Files\Content.IE5\4WZW5CPL\MC900303033[1]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602736"/>
            <a:ext cx="3232387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02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Class Selector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Aft>
                <a:spcPts val="1000"/>
              </a:spcAft>
            </a:pPr>
            <a:r>
              <a:rPr lang="en-US" sz="2400" dirty="0" smtClean="0"/>
              <a:t>Class selector lets you write rules, give them a name, and then apply that name to any elements you choose</a:t>
            </a:r>
          </a:p>
          <a:p>
            <a:pPr>
              <a:spcAft>
                <a:spcPts val="1000"/>
              </a:spcAft>
            </a:pPr>
            <a:r>
              <a:rPr lang="en-US" sz="2400" b="1" dirty="0" smtClean="0"/>
              <a:t>Period (.) </a:t>
            </a:r>
            <a:r>
              <a:rPr lang="en-US" sz="2400" dirty="0" smtClean="0"/>
              <a:t>flag character indicates that the selector is a class selector</a:t>
            </a:r>
          </a:p>
          <a:p>
            <a:pPr>
              <a:spcAft>
                <a:spcPts val="1000"/>
              </a:spcAft>
            </a:pPr>
            <a:endParaRPr lang="en-US" sz="2400" dirty="0"/>
          </a:p>
          <a:p>
            <a:pPr>
              <a:spcAft>
                <a:spcPts val="1000"/>
              </a:spcAft>
            </a:pPr>
            <a:endParaRPr lang="en-US" sz="2400" dirty="0" smtClean="0"/>
          </a:p>
          <a:p>
            <a:pPr>
              <a:spcAft>
                <a:spcPts val="1000"/>
              </a:spcAft>
            </a:pPr>
            <a:endParaRPr lang="en-US" sz="2400" dirty="0" smtClean="0"/>
          </a:p>
          <a:p>
            <a:pPr>
              <a:spcAft>
                <a:spcPts val="1000"/>
              </a:spcAft>
            </a:pPr>
            <a:r>
              <a:rPr lang="en-US" sz="2400" dirty="0" smtClean="0"/>
              <a:t>Apply the class name using the class attribute  to any HTML element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4</a:t>
            </a:fld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1173150" y="3018216"/>
            <a:ext cx="6922317" cy="1401384"/>
            <a:chOff x="988592" y="2951126"/>
            <a:chExt cx="6922317" cy="1401384"/>
          </a:xfrm>
        </p:grpSpPr>
        <p:sp>
          <p:nvSpPr>
            <p:cNvPr id="7" name="Rounded Rectangle 6"/>
            <p:cNvSpPr/>
            <p:nvPr/>
          </p:nvSpPr>
          <p:spPr>
            <a:xfrm>
              <a:off x="1828800" y="3332126"/>
              <a:ext cx="1443660" cy="53340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.</a:t>
              </a:r>
              <a:r>
                <a:rPr lang="en-US" sz="2400" dirty="0" smtClean="0"/>
                <a:t>special</a:t>
              </a:r>
              <a:endParaRPr lang="en-US" sz="2800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372437" y="3514310"/>
              <a:ext cx="4538472" cy="53340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{ color: blue; font-size: 30px;}</a:t>
              </a:r>
              <a:endParaRPr lang="en-US" sz="2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06996" y="2962932"/>
              <a:ext cx="1487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accent2"/>
                  </a:solidFill>
                </a:rPr>
                <a:t>Class Selector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70110" y="2951126"/>
              <a:ext cx="1283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accent2"/>
                  </a:solidFill>
                </a:rPr>
                <a:t>Declaration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21330" y="2962794"/>
              <a:ext cx="1283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accent2"/>
                  </a:solidFill>
                </a:rPr>
                <a:t>Declaration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3719909" y="3755574"/>
              <a:ext cx="930768" cy="567152"/>
              <a:chOff x="2921865" y="2895602"/>
              <a:chExt cx="930768" cy="567152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2921865" y="3124200"/>
                <a:ext cx="9307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Property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 flipV="1">
                <a:off x="3378016" y="2895602"/>
                <a:ext cx="0" cy="2710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5641673" y="3738697"/>
              <a:ext cx="930768" cy="567152"/>
              <a:chOff x="2921865" y="2895602"/>
              <a:chExt cx="930768" cy="567152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2921865" y="3124200"/>
                <a:ext cx="9307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Property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3" name="Straight Arrow Connector 22"/>
              <p:cNvCxnSpPr/>
              <p:nvPr/>
            </p:nvCxnSpPr>
            <p:spPr>
              <a:xfrm flipV="1">
                <a:off x="3378016" y="2895602"/>
                <a:ext cx="0" cy="2710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/>
            <p:cNvGrpSpPr/>
            <p:nvPr/>
          </p:nvGrpSpPr>
          <p:grpSpPr>
            <a:xfrm>
              <a:off x="4634309" y="3755574"/>
              <a:ext cx="659027" cy="567152"/>
              <a:chOff x="3048502" y="2895602"/>
              <a:chExt cx="659027" cy="567152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3048502" y="3124200"/>
                <a:ext cx="6590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Value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1" name="Straight Arrow Connector 20"/>
              <p:cNvCxnSpPr/>
              <p:nvPr/>
            </p:nvCxnSpPr>
            <p:spPr>
              <a:xfrm flipV="1">
                <a:off x="3378016" y="2895602"/>
                <a:ext cx="0" cy="2710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>
              <a:off x="6844109" y="3755574"/>
              <a:ext cx="659027" cy="567152"/>
              <a:chOff x="3048502" y="2895602"/>
              <a:chExt cx="659027" cy="567152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3048502" y="3124200"/>
                <a:ext cx="6590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Value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9" name="Straight Arrow Connector 18"/>
              <p:cNvCxnSpPr/>
              <p:nvPr/>
            </p:nvCxnSpPr>
            <p:spPr>
              <a:xfrm flipV="1">
                <a:off x="3378016" y="2895602"/>
                <a:ext cx="0" cy="2710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16" name="Left Brace 15"/>
            <p:cNvSpPr/>
            <p:nvPr/>
          </p:nvSpPr>
          <p:spPr>
            <a:xfrm rot="5400000">
              <a:off x="6306613" y="2337430"/>
              <a:ext cx="312992" cy="2133600"/>
            </a:xfrm>
            <a:prstGeom prst="leftBrac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Left Brace 16"/>
            <p:cNvSpPr/>
            <p:nvPr/>
          </p:nvSpPr>
          <p:spPr>
            <a:xfrm rot="5400000">
              <a:off x="4355393" y="2620095"/>
              <a:ext cx="312992" cy="1491822"/>
            </a:xfrm>
            <a:prstGeom prst="leftBrac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988592" y="3726165"/>
              <a:ext cx="1373518" cy="626345"/>
              <a:chOff x="2691257" y="2895602"/>
              <a:chExt cx="1373518" cy="626345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2691257" y="3183393"/>
                <a:ext cx="1373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Flag character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8" name="Straight Arrow Connector 27"/>
              <p:cNvCxnSpPr>
                <a:stCxn id="27" idx="0"/>
              </p:cNvCxnSpPr>
              <p:nvPr/>
            </p:nvCxnSpPr>
            <p:spPr>
              <a:xfrm flipV="1">
                <a:off x="3378016" y="2895602"/>
                <a:ext cx="382049" cy="2877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/>
            <p:cNvGrpSpPr/>
            <p:nvPr/>
          </p:nvGrpSpPr>
          <p:grpSpPr>
            <a:xfrm>
              <a:off x="2362110" y="3780956"/>
              <a:ext cx="1135247" cy="571554"/>
              <a:chOff x="2706976" y="2950393"/>
              <a:chExt cx="1135247" cy="571554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2706976" y="3183393"/>
                <a:ext cx="11352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Class name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33" name="Straight Arrow Connector 32"/>
              <p:cNvCxnSpPr>
                <a:stCxn id="32" idx="0"/>
              </p:cNvCxnSpPr>
              <p:nvPr/>
            </p:nvCxnSpPr>
            <p:spPr>
              <a:xfrm flipH="1" flipV="1">
                <a:off x="3103786" y="2950393"/>
                <a:ext cx="170814" cy="2330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36" name="TextBox 35"/>
          <p:cNvSpPr txBox="1"/>
          <p:nvPr/>
        </p:nvSpPr>
        <p:spPr>
          <a:xfrm>
            <a:off x="1698920" y="5257800"/>
            <a:ext cx="6239894" cy="64633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&lt;h1 </a:t>
            </a:r>
            <a:r>
              <a:rPr lang="en-US" b="1" dirty="0" smtClean="0">
                <a:solidFill>
                  <a:srgbClr val="FF0000"/>
                </a:solidFill>
              </a:rPr>
              <a:t>class=“special”</a:t>
            </a:r>
            <a:r>
              <a:rPr lang="en-US" b="1" dirty="0" smtClean="0"/>
              <a:t>&gt;</a:t>
            </a:r>
            <a:r>
              <a:rPr lang="en-US" dirty="0" smtClean="0"/>
              <a:t>This heading will be blue with a font size of 30 pixels.</a:t>
            </a:r>
            <a:r>
              <a:rPr lang="en-US" b="1" dirty="0" smtClean="0"/>
              <a:t>&lt;/h1&gt;</a:t>
            </a:r>
          </a:p>
        </p:txBody>
      </p:sp>
      <p:sp>
        <p:nvSpPr>
          <p:cNvPr id="34" name="5-Point Star 33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1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Class Selector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Aft>
                <a:spcPts val="1000"/>
              </a:spcAft>
            </a:pPr>
            <a:r>
              <a:rPr lang="en-US" sz="2400" dirty="0" smtClean="0"/>
              <a:t>Select elements with greater precision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Class selector can be any name you choose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For example, the following style rule sets all &lt;p&gt; elements in the document to a font size of 12px: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Suppose you want one &lt;p&gt; element in your document to be of different style, you can use a class selector to do it. For example, the following style rule set the style for the class named </a:t>
            </a:r>
            <a:r>
              <a:rPr lang="en-US" sz="2400" b="1" i="1" dirty="0" smtClean="0"/>
              <a:t>intro</a:t>
            </a:r>
            <a:endParaRPr lang="en-US" sz="2400" b="1" i="1" dirty="0"/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447800" y="3276600"/>
            <a:ext cx="6239894" cy="369332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 { font-size: 12px;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8656" y="4953000"/>
            <a:ext cx="6239894" cy="369332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.intro { font-size: 20px; font-weight: bold;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8656" y="5562600"/>
            <a:ext cx="6239894" cy="64633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&lt;p </a:t>
            </a:r>
            <a:r>
              <a:rPr lang="en-US" b="1" dirty="0" smtClean="0">
                <a:solidFill>
                  <a:srgbClr val="FF0000"/>
                </a:solidFill>
              </a:rPr>
              <a:t>class=“intro”</a:t>
            </a:r>
            <a:r>
              <a:rPr lang="en-US" b="1" dirty="0" smtClean="0"/>
              <a:t>&gt;</a:t>
            </a:r>
            <a:r>
              <a:rPr lang="en-US" dirty="0" smtClean="0"/>
              <a:t>This paragraph has a different style based on the “intro” class selector.</a:t>
            </a:r>
            <a:r>
              <a:rPr lang="en-US" b="1" dirty="0" smtClean="0"/>
              <a:t>&lt;/p&gt;</a:t>
            </a:r>
          </a:p>
        </p:txBody>
      </p:sp>
      <p:sp>
        <p:nvSpPr>
          <p:cNvPr id="9" name="5-Point Star 8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4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Class Selector</a:t>
            </a:r>
            <a:endParaRPr lang="en-US" dirty="0"/>
          </a:p>
        </p:txBody>
      </p:sp>
      <p:pic>
        <p:nvPicPr>
          <p:cNvPr id="2050" name="Picture 2" descr="C:\Users\EvyLim\AppData\Local\Temp\SNAGHTMLb1809aa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67" y="1295400"/>
            <a:ext cx="5619048" cy="35428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67000" y="2446615"/>
            <a:ext cx="6239894" cy="387798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&lt;!DOCTYPE html&gt;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&lt;html&gt;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&lt;head&gt;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&lt;title&gt;Class Selector&lt;/title&gt;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&lt;style type="text/</a:t>
            </a:r>
            <a:r>
              <a:rPr lang="en-US" sz="1600" b="1" dirty="0" err="1">
                <a:solidFill>
                  <a:schemeClr val="accent1"/>
                </a:solidFill>
              </a:rPr>
              <a:t>css</a:t>
            </a:r>
            <a:r>
              <a:rPr lang="en-US" sz="1600" b="1" dirty="0">
                <a:solidFill>
                  <a:schemeClr val="accent1"/>
                </a:solidFill>
              </a:rPr>
              <a:t>"&gt;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p </a:t>
            </a:r>
            <a:r>
              <a:rPr lang="en-US" sz="1600" b="1" dirty="0" smtClean="0">
                <a:solidFill>
                  <a:schemeClr val="accent1"/>
                </a:solidFill>
              </a:rPr>
              <a:t>{ font-size</a:t>
            </a:r>
            <a:r>
              <a:rPr lang="en-US" sz="1600" b="1" dirty="0">
                <a:solidFill>
                  <a:schemeClr val="accent1"/>
                </a:solidFill>
              </a:rPr>
              <a:t>: 12px; }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.intro { font-size: 20px; font-weight: bold; }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&lt;/style&gt;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&lt;/head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&lt;body&gt;</a:t>
            </a:r>
          </a:p>
          <a:p>
            <a:r>
              <a:rPr lang="en-US" sz="1600" b="1" dirty="0"/>
              <a:t>&lt;p </a:t>
            </a:r>
            <a:r>
              <a:rPr lang="en-US" sz="1600" b="1" dirty="0">
                <a:solidFill>
                  <a:srgbClr val="FF0000"/>
                </a:solidFill>
              </a:rPr>
              <a:t>class="intro"&gt;</a:t>
            </a:r>
            <a:r>
              <a:rPr lang="en-US" sz="1600" dirty="0"/>
              <a:t>This paragraph has a different style based on the "intro" class selector</a:t>
            </a:r>
            <a:r>
              <a:rPr lang="en-US" sz="1600" dirty="0" smtClean="0"/>
              <a:t>.</a:t>
            </a:r>
            <a:r>
              <a:rPr lang="en-US" sz="1600" b="1" dirty="0" smtClean="0"/>
              <a:t>&lt;/p&gt;</a:t>
            </a:r>
          </a:p>
          <a:p>
            <a:r>
              <a:rPr lang="en-US" sz="1600" b="1" dirty="0" smtClean="0"/>
              <a:t>&lt;p&gt;</a:t>
            </a:r>
            <a:r>
              <a:rPr lang="en-US" sz="1600" dirty="0" smtClean="0"/>
              <a:t>This is a standard paragraph without a class attribute.</a:t>
            </a:r>
            <a:r>
              <a:rPr lang="en-US" sz="1600" b="1" dirty="0" smtClean="0"/>
              <a:t>&lt;/p&gt;</a:t>
            </a: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&lt;/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body&gt;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&lt;/html&gt;</a:t>
            </a:r>
            <a:endParaRPr lang="en-US" sz="16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5-Point Star 7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2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Specific Class Selector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Aft>
                <a:spcPts val="1000"/>
              </a:spcAft>
            </a:pPr>
            <a:r>
              <a:rPr lang="en-US" sz="2200" dirty="0" smtClean="0"/>
              <a:t>Powerful selection technique that allow you to write style rules that are meaningful to your company or information type</a:t>
            </a:r>
          </a:p>
          <a:p>
            <a:pPr>
              <a:spcAft>
                <a:spcPts val="1000"/>
              </a:spcAft>
            </a:pPr>
            <a:r>
              <a:rPr lang="en-US" sz="2200" dirty="0" smtClean="0"/>
              <a:t>Class selector can be applied to any element, in the above example the intro style can be applied to any element in the document</a:t>
            </a:r>
            <a:endParaRPr lang="en-US" sz="2200" dirty="0"/>
          </a:p>
          <a:p>
            <a:pPr>
              <a:spcAft>
                <a:spcPts val="1000"/>
              </a:spcAft>
            </a:pPr>
            <a:r>
              <a:rPr lang="en-US" sz="2200" dirty="0" smtClean="0"/>
              <a:t>Restrict use of class attribute to a single element type by adding an element selector before the flag character</a:t>
            </a:r>
          </a:p>
          <a:p>
            <a:pPr>
              <a:spcAft>
                <a:spcPts val="1000"/>
              </a:spcAft>
            </a:pPr>
            <a:endParaRPr lang="en-US" sz="2200" dirty="0"/>
          </a:p>
          <a:p>
            <a:pPr lvl="1">
              <a:spcAft>
                <a:spcPts val="1000"/>
              </a:spcAft>
            </a:pPr>
            <a:endParaRPr lang="en-US" sz="1800" dirty="0" smtClean="0"/>
          </a:p>
          <a:p>
            <a:pPr lvl="1">
              <a:spcAft>
                <a:spcPts val="1000"/>
              </a:spcAft>
            </a:pPr>
            <a:r>
              <a:rPr lang="en-US" sz="1800" dirty="0" smtClean="0"/>
              <a:t>the above style rule restrict the use of the intro style to &lt;p&gt; elements only, if this style is applied to other elements it will not work</a:t>
            </a:r>
          </a:p>
          <a:p>
            <a:pPr>
              <a:spcAft>
                <a:spcPts val="1000"/>
              </a:spcAft>
            </a:pPr>
            <a:endParaRPr lang="en-US" sz="2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3810000"/>
            <a:ext cx="7696200" cy="64633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&lt;h1 </a:t>
            </a:r>
            <a:r>
              <a:rPr lang="en-US" b="1" dirty="0" smtClean="0">
                <a:solidFill>
                  <a:srgbClr val="FF0000"/>
                </a:solidFill>
              </a:rPr>
              <a:t>class=“intro”</a:t>
            </a:r>
            <a:r>
              <a:rPr lang="en-US" b="1" dirty="0" smtClean="0"/>
              <a:t>&gt;</a:t>
            </a:r>
            <a:r>
              <a:rPr lang="en-US" dirty="0" smtClean="0"/>
              <a:t>This heading is based on the “intro” class selector.</a:t>
            </a:r>
            <a:r>
              <a:rPr lang="en-US" b="1" dirty="0" smtClean="0"/>
              <a:t>&lt;/h1&gt;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0727" y="5334000"/>
            <a:ext cx="6239894" cy="369332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p.intro</a:t>
            </a:r>
            <a:r>
              <a:rPr lang="en-US" dirty="0" smtClean="0"/>
              <a:t> { font-size: 20px; font-weight: bold; }</a:t>
            </a:r>
          </a:p>
        </p:txBody>
      </p:sp>
      <p:sp>
        <p:nvSpPr>
          <p:cNvPr id="7" name="5-Point Star 6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8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id Selector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401" y="1423337"/>
            <a:ext cx="6777317" cy="3508977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1000"/>
              </a:spcAft>
            </a:pPr>
            <a:r>
              <a:rPr lang="en-US" sz="2400" dirty="0" smtClean="0"/>
              <a:t>id selector lets you to write rules, give them a name, and then apply that name to any elements you choose</a:t>
            </a:r>
          </a:p>
          <a:p>
            <a:pPr>
              <a:spcAft>
                <a:spcPts val="1000"/>
              </a:spcAft>
            </a:pPr>
            <a:r>
              <a:rPr lang="en-US" sz="2400" b="1" dirty="0" smtClean="0"/>
              <a:t>Hash (#) </a:t>
            </a:r>
            <a:r>
              <a:rPr lang="en-US" sz="2400" dirty="0" smtClean="0"/>
              <a:t>flag character indicates that the selector is a id selector</a:t>
            </a:r>
          </a:p>
          <a:p>
            <a:pPr>
              <a:spcAft>
                <a:spcPts val="1000"/>
              </a:spcAft>
            </a:pPr>
            <a:endParaRPr lang="en-US" sz="2400" dirty="0"/>
          </a:p>
          <a:p>
            <a:pPr>
              <a:spcAft>
                <a:spcPts val="1000"/>
              </a:spcAft>
            </a:pPr>
            <a:endParaRPr lang="en-US" sz="2400" dirty="0" smtClean="0"/>
          </a:p>
          <a:p>
            <a:pPr>
              <a:spcAft>
                <a:spcPts val="1000"/>
              </a:spcAft>
            </a:pPr>
            <a:endParaRPr lang="en-US" sz="2400" dirty="0" smtClean="0"/>
          </a:p>
          <a:p>
            <a:pPr>
              <a:spcAft>
                <a:spcPts val="1000"/>
              </a:spcAft>
            </a:pPr>
            <a:r>
              <a:rPr lang="en-US" sz="2400" dirty="0" smtClean="0"/>
              <a:t>Apply the id name using the id attribute  to any HTML element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8</a:t>
            </a:fld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457200" y="2953822"/>
            <a:ext cx="7772400" cy="1389578"/>
            <a:chOff x="653642" y="2962932"/>
            <a:chExt cx="7772400" cy="1389578"/>
          </a:xfrm>
        </p:grpSpPr>
        <p:sp>
          <p:nvSpPr>
            <p:cNvPr id="7" name="Rounded Rectangle 6"/>
            <p:cNvSpPr/>
            <p:nvPr/>
          </p:nvSpPr>
          <p:spPr>
            <a:xfrm>
              <a:off x="1415642" y="3332126"/>
              <a:ext cx="1780618" cy="53340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000" dirty="0" smtClean="0"/>
                <a:t>#copyright</a:t>
              </a:r>
              <a:endParaRPr lang="en-US" sz="2000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372436" y="3332126"/>
              <a:ext cx="5053606" cy="53340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{ color: #</a:t>
              </a:r>
              <a:r>
                <a:rPr lang="en-US" sz="2400" dirty="0" err="1" smtClean="0"/>
                <a:t>eeeeee</a:t>
              </a:r>
              <a:r>
                <a:rPr lang="en-US" sz="2400" dirty="0" smtClean="0"/>
                <a:t>; font-size: 5px;}</a:t>
              </a:r>
              <a:endParaRPr lang="en-US" sz="2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06996" y="2962932"/>
              <a:ext cx="1192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accent2"/>
                  </a:solidFill>
                </a:rPr>
                <a:t>Id Selector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57808" y="2962932"/>
              <a:ext cx="1283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accent2"/>
                  </a:solidFill>
                </a:rPr>
                <a:t>Declaration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29156" y="2962932"/>
              <a:ext cx="1283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accent2"/>
                  </a:solidFill>
                </a:rPr>
                <a:t>Declaration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3719909" y="3755574"/>
              <a:ext cx="930768" cy="567152"/>
              <a:chOff x="2921865" y="2895602"/>
              <a:chExt cx="930768" cy="567152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2921865" y="3124200"/>
                <a:ext cx="9307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Property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 flipV="1">
                <a:off x="3378016" y="2895602"/>
                <a:ext cx="0" cy="2710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6259779" y="3738697"/>
              <a:ext cx="930768" cy="567152"/>
              <a:chOff x="3539971" y="2895602"/>
              <a:chExt cx="930768" cy="567152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3539971" y="3124200"/>
                <a:ext cx="9307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Property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3" name="Straight Arrow Connector 22"/>
              <p:cNvCxnSpPr/>
              <p:nvPr/>
            </p:nvCxnSpPr>
            <p:spPr>
              <a:xfrm flipV="1">
                <a:off x="3996122" y="2895602"/>
                <a:ext cx="0" cy="2710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/>
            <p:cNvGrpSpPr/>
            <p:nvPr/>
          </p:nvGrpSpPr>
          <p:grpSpPr>
            <a:xfrm>
              <a:off x="4947615" y="3755574"/>
              <a:ext cx="659027" cy="567152"/>
              <a:chOff x="3361808" y="2895602"/>
              <a:chExt cx="659027" cy="567152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3361808" y="3124200"/>
                <a:ext cx="6590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Value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1" name="Straight Arrow Connector 20"/>
              <p:cNvCxnSpPr/>
              <p:nvPr/>
            </p:nvCxnSpPr>
            <p:spPr>
              <a:xfrm flipV="1">
                <a:off x="3691322" y="2895602"/>
                <a:ext cx="0" cy="2710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>
              <a:off x="7462215" y="3755574"/>
              <a:ext cx="659027" cy="567152"/>
              <a:chOff x="3666608" y="2895602"/>
              <a:chExt cx="659027" cy="567152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3666608" y="3124200"/>
                <a:ext cx="6590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Value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9" name="Straight Arrow Connector 18"/>
              <p:cNvCxnSpPr/>
              <p:nvPr/>
            </p:nvCxnSpPr>
            <p:spPr>
              <a:xfrm flipV="1">
                <a:off x="3996122" y="2895602"/>
                <a:ext cx="0" cy="27104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16" name="Left Brace 15"/>
            <p:cNvSpPr/>
            <p:nvPr/>
          </p:nvSpPr>
          <p:spPr>
            <a:xfrm rot="5400000">
              <a:off x="6914439" y="2397137"/>
              <a:ext cx="312992" cy="2014185"/>
            </a:xfrm>
            <a:prstGeom prst="leftBrac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Left Brace 16"/>
            <p:cNvSpPr/>
            <p:nvPr/>
          </p:nvSpPr>
          <p:spPr>
            <a:xfrm rot="5400000">
              <a:off x="4643091" y="2324552"/>
              <a:ext cx="312992" cy="2159355"/>
            </a:xfrm>
            <a:prstGeom prst="leftBrac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653642" y="3755574"/>
              <a:ext cx="1373518" cy="596936"/>
              <a:chOff x="2356307" y="2925011"/>
              <a:chExt cx="1373518" cy="596936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2356307" y="3183393"/>
                <a:ext cx="1373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Flag character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8" name="Straight Arrow Connector 27"/>
              <p:cNvCxnSpPr>
                <a:stCxn id="27" idx="0"/>
              </p:cNvCxnSpPr>
              <p:nvPr/>
            </p:nvCxnSpPr>
            <p:spPr>
              <a:xfrm flipV="1">
                <a:off x="3043066" y="2925011"/>
                <a:ext cx="380041" cy="25838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/>
            <p:cNvGrpSpPr/>
            <p:nvPr/>
          </p:nvGrpSpPr>
          <p:grpSpPr>
            <a:xfrm>
              <a:off x="2362110" y="3780956"/>
              <a:ext cx="872355" cy="571554"/>
              <a:chOff x="2706976" y="2950393"/>
              <a:chExt cx="872355" cy="571554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2706976" y="3183393"/>
                <a:ext cx="8723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id name</a:t>
                </a:r>
                <a:endParaRPr lang="en-US" sz="1600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33" name="Straight Arrow Connector 32"/>
              <p:cNvCxnSpPr>
                <a:stCxn id="32" idx="0"/>
              </p:cNvCxnSpPr>
              <p:nvPr/>
            </p:nvCxnSpPr>
            <p:spPr>
              <a:xfrm flipH="1" flipV="1">
                <a:off x="3103786" y="2950393"/>
                <a:ext cx="39368" cy="2330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36" name="TextBox 35"/>
          <p:cNvSpPr txBox="1"/>
          <p:nvPr/>
        </p:nvSpPr>
        <p:spPr>
          <a:xfrm>
            <a:off x="1114152" y="4953000"/>
            <a:ext cx="7315200" cy="64633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&lt;p </a:t>
            </a:r>
            <a:r>
              <a:rPr lang="en-US" b="1" dirty="0" smtClean="0">
                <a:solidFill>
                  <a:srgbClr val="FF0000"/>
                </a:solidFill>
              </a:rPr>
              <a:t>id=“copyright”</a:t>
            </a:r>
            <a:r>
              <a:rPr lang="en-US" b="1" dirty="0" smtClean="0"/>
              <a:t>&gt;</a:t>
            </a:r>
            <a:r>
              <a:rPr lang="en-US" dirty="0" smtClean="0"/>
              <a:t>This is the copyright information for the page.</a:t>
            </a:r>
            <a:r>
              <a:rPr lang="en-US" b="1" dirty="0" smtClean="0"/>
              <a:t>&lt;/p&gt;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1123117" y="5833646"/>
            <a:ext cx="7162800" cy="677108"/>
            <a:chOff x="3377184" y="5943600"/>
            <a:chExt cx="7162800" cy="677108"/>
          </a:xfrm>
        </p:grpSpPr>
        <p:sp>
          <p:nvSpPr>
            <p:cNvPr id="38" name="TextBox 37"/>
            <p:cNvSpPr txBox="1"/>
            <p:nvPr/>
          </p:nvSpPr>
          <p:spPr>
            <a:xfrm>
              <a:off x="3377184" y="5943600"/>
              <a:ext cx="7162800" cy="6771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lIns="457200" tIns="91440" rIns="91440" bIns="91440" rtlCol="0">
              <a:spAutoFit/>
            </a:bodyPr>
            <a:lstStyle/>
            <a:p>
              <a:r>
                <a:rPr lang="en-US" sz="1600" dirty="0" smtClean="0"/>
                <a:t>Difference between id and class is that id should refer to </a:t>
              </a:r>
              <a:r>
                <a:rPr lang="en-US" sz="1600" b="1" u="sng" dirty="0" smtClean="0"/>
                <a:t>only one </a:t>
              </a:r>
              <a:r>
                <a:rPr lang="en-US" sz="1600" dirty="0" smtClean="0"/>
                <a:t>occurrence within a document</a:t>
              </a:r>
            </a:p>
          </p:txBody>
        </p:sp>
        <p:pic>
          <p:nvPicPr>
            <p:cNvPr id="39" name="Picture 2" descr="C:\Users\EvyLim\AppData\Local\Microsoft\Windows\Temporary Internet Files\Content.IE5\4WZW5CPL\MC900432617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4536" y="5981700"/>
              <a:ext cx="385464" cy="385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" name="5-Point Star 39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2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Specific id Selector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000" y="1623143"/>
            <a:ext cx="6777317" cy="3939457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1000"/>
              </a:spcAft>
            </a:pPr>
            <a:r>
              <a:rPr lang="en-US" sz="2200" dirty="0" smtClean="0"/>
              <a:t>Like class selector, id selector can be applied to any element, in the above example the above style can be applied to any element in the document</a:t>
            </a:r>
            <a:endParaRPr lang="en-US" sz="2200" dirty="0"/>
          </a:p>
          <a:p>
            <a:pPr>
              <a:spcAft>
                <a:spcPts val="1000"/>
              </a:spcAft>
            </a:pPr>
            <a:endParaRPr lang="en-US" sz="2200" dirty="0" smtClean="0"/>
          </a:p>
          <a:p>
            <a:pPr>
              <a:spcAft>
                <a:spcPts val="1000"/>
              </a:spcAft>
            </a:pPr>
            <a:endParaRPr lang="en-US" sz="2200" dirty="0" smtClean="0"/>
          </a:p>
          <a:p>
            <a:pPr>
              <a:spcAft>
                <a:spcPts val="1000"/>
              </a:spcAft>
            </a:pPr>
            <a:r>
              <a:rPr lang="en-US" sz="2200" dirty="0" smtClean="0"/>
              <a:t>Restrict use of id attribute to a single element type by adding an element selector before the flag character</a:t>
            </a:r>
          </a:p>
          <a:p>
            <a:pPr>
              <a:spcAft>
                <a:spcPts val="1000"/>
              </a:spcAft>
            </a:pPr>
            <a:endParaRPr lang="en-US" sz="2200" dirty="0"/>
          </a:p>
          <a:p>
            <a:pPr lvl="1">
              <a:spcAft>
                <a:spcPts val="1000"/>
              </a:spcAft>
            </a:pPr>
            <a:r>
              <a:rPr lang="en-US" sz="1800" dirty="0" smtClean="0"/>
              <a:t>The above style rule restrict the use of the copyright style to &lt;p&gt; elements only, if this style is applied to other elements it will not work</a:t>
            </a:r>
          </a:p>
          <a:p>
            <a:pPr>
              <a:spcAft>
                <a:spcPts val="1000"/>
              </a:spcAft>
            </a:pPr>
            <a:endParaRPr lang="en-US" sz="2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71600" y="2590800"/>
            <a:ext cx="6867144" cy="64633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&lt;h1 </a:t>
            </a:r>
            <a:r>
              <a:rPr lang="en-US" b="1" dirty="0">
                <a:solidFill>
                  <a:srgbClr val="FF0000"/>
                </a:solidFill>
              </a:rPr>
              <a:t>id=“copyright”</a:t>
            </a:r>
            <a:r>
              <a:rPr lang="en-US" b="1" dirty="0"/>
              <a:t>&gt;</a:t>
            </a:r>
            <a:r>
              <a:rPr lang="en-US" dirty="0"/>
              <a:t>This is the copyright information for the page</a:t>
            </a:r>
            <a:r>
              <a:rPr lang="en-US" dirty="0" smtClean="0"/>
              <a:t>.</a:t>
            </a:r>
            <a:r>
              <a:rPr lang="en-US" b="1" dirty="0" smtClean="0"/>
              <a:t>&lt;/h1&gt;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81019" y="4244754"/>
            <a:ext cx="6239894" cy="369332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p#copyright</a:t>
            </a:r>
            <a:r>
              <a:rPr lang="en-US" dirty="0" smtClean="0"/>
              <a:t> { color: #</a:t>
            </a:r>
            <a:r>
              <a:rPr lang="en-US" dirty="0" err="1" smtClean="0"/>
              <a:t>eeeeee</a:t>
            </a:r>
            <a:r>
              <a:rPr lang="en-US" dirty="0" smtClean="0"/>
              <a:t>; font-size: 5px; }</a:t>
            </a:r>
          </a:p>
        </p:txBody>
      </p:sp>
      <p:sp>
        <p:nvSpPr>
          <p:cNvPr id="7" name="5-Point Star 6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9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402" y="1524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Using &lt;div&gt; and &lt;span&gt;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5083" y="1526596"/>
            <a:ext cx="6777317" cy="2054804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2000" b="1" dirty="0" smtClean="0"/>
              <a:t>&lt;div&gt; </a:t>
            </a:r>
            <a:r>
              <a:rPr lang="en-US" sz="2000" dirty="0" smtClean="0"/>
              <a:t>(division) and </a:t>
            </a:r>
            <a:r>
              <a:rPr lang="en-US" sz="2000" b="1" dirty="0" smtClean="0"/>
              <a:t>&lt;span&gt; </a:t>
            </a:r>
            <a:r>
              <a:rPr lang="en-US" sz="2000" dirty="0" smtClean="0"/>
              <a:t>(span of words) elements are designed to be used with CSS</a:t>
            </a:r>
          </a:p>
          <a:p>
            <a:pPr>
              <a:spcAft>
                <a:spcPts val="1000"/>
              </a:spcAft>
            </a:pPr>
            <a:r>
              <a:rPr lang="en-US" sz="2000" dirty="0" smtClean="0"/>
              <a:t>Specify logical divisions within a document </a:t>
            </a:r>
          </a:p>
          <a:p>
            <a:pPr>
              <a:spcAft>
                <a:spcPts val="1000"/>
              </a:spcAft>
            </a:pPr>
            <a:r>
              <a:rPr lang="en-US" sz="2000" dirty="0" smtClean="0"/>
              <a:t>Differences between &lt;div&gt; and &lt;span&gt;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684263029"/>
              </p:ext>
            </p:extLst>
          </p:nvPr>
        </p:nvGraphicFramePr>
        <p:xfrm>
          <a:off x="1219200" y="3733800"/>
          <a:ext cx="6874525" cy="2732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37673">
            <a:off x="6934866" y="2444429"/>
            <a:ext cx="1831847" cy="1506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5-Point Star 6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2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Graphic spid="6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&lt;</a:t>
            </a:r>
            <a:r>
              <a:rPr lang="en-US" dirty="0"/>
              <a:t>div&gt; </a:t>
            </a:r>
            <a:r>
              <a:rPr lang="en-US" dirty="0" err="1" smtClean="0"/>
              <a:t>vs</a:t>
            </a:r>
            <a:r>
              <a:rPr lang="en-US" smtClean="0"/>
              <a:t> &lt;span</a:t>
            </a:r>
            <a:r>
              <a:rPr lang="en-US" dirty="0"/>
              <a:t>&gt; Elements</a:t>
            </a:r>
          </a:p>
        </p:txBody>
      </p:sp>
      <p:pic>
        <p:nvPicPr>
          <p:cNvPr id="1026" name="Picture 2" descr="C:\Users\EvyLim\AppData\Local\Temp\SNAGHTML15260fa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6133334" cy="4619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11</a:t>
            </a:fld>
            <a:endParaRPr lang="en-US"/>
          </a:p>
        </p:txBody>
      </p:sp>
      <p:sp>
        <p:nvSpPr>
          <p:cNvPr id="6" name="Line Callout 1 5"/>
          <p:cNvSpPr/>
          <p:nvPr/>
        </p:nvSpPr>
        <p:spPr>
          <a:xfrm>
            <a:off x="3810000" y="1828800"/>
            <a:ext cx="2206752" cy="676656"/>
          </a:xfrm>
          <a:prstGeom prst="borderCallout1">
            <a:avLst>
              <a:gd name="adj1" fmla="val 50750"/>
              <a:gd name="adj2" fmla="val -1400"/>
              <a:gd name="adj3" fmla="val 105293"/>
              <a:gd name="adj4" fmla="val -3280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smtClean="0"/>
              <a:t>Takes the width of the page, block out the whole section of the page</a:t>
            </a:r>
            <a:endParaRPr lang="en-US" sz="1400" dirty="0"/>
          </a:p>
        </p:txBody>
      </p:sp>
      <p:sp>
        <p:nvSpPr>
          <p:cNvPr id="8" name="Line Callout 1 7"/>
          <p:cNvSpPr/>
          <p:nvPr/>
        </p:nvSpPr>
        <p:spPr>
          <a:xfrm>
            <a:off x="1603248" y="3886200"/>
            <a:ext cx="2206752" cy="676656"/>
          </a:xfrm>
          <a:prstGeom prst="borderCallout1">
            <a:avLst>
              <a:gd name="adj1" fmla="val 50750"/>
              <a:gd name="adj2" fmla="val -1400"/>
              <a:gd name="adj3" fmla="val -29842"/>
              <a:gd name="adj4" fmla="val -1789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smtClean="0"/>
              <a:t>Takes as little space as possible, only enough to contain its content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962400" y="2819400"/>
            <a:ext cx="4800600" cy="3970318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&lt;!DOCTYPE html&gt;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&lt;html&gt;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&lt;head&gt;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title&gt;div </a:t>
            </a:r>
            <a:r>
              <a:rPr lang="en-US" sz="1400" dirty="0" err="1" smtClean="0">
                <a:solidFill>
                  <a:schemeClr val="bg1">
                    <a:lumMod val="50000"/>
                  </a:schemeClr>
                </a:solidFill>
              </a:rPr>
              <a:t>vs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 span element&lt;/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title&gt;</a:t>
            </a:r>
          </a:p>
          <a:p>
            <a:r>
              <a:rPr lang="en-US" sz="1400" b="1" dirty="0">
                <a:solidFill>
                  <a:schemeClr val="accent1"/>
                </a:solidFill>
              </a:rPr>
              <a:t>&lt;style type="text/</a:t>
            </a:r>
            <a:r>
              <a:rPr lang="en-US" sz="1400" b="1" dirty="0" err="1">
                <a:solidFill>
                  <a:schemeClr val="accent1"/>
                </a:solidFill>
              </a:rPr>
              <a:t>css</a:t>
            </a:r>
            <a:r>
              <a:rPr lang="en-US" sz="1400" b="1" dirty="0">
                <a:solidFill>
                  <a:schemeClr val="accent1"/>
                </a:solidFill>
              </a:rPr>
              <a:t>"&gt;</a:t>
            </a:r>
          </a:p>
          <a:p>
            <a:r>
              <a:rPr lang="en-US" sz="1400" b="1" dirty="0">
                <a:solidFill>
                  <a:schemeClr val="accent1"/>
                </a:solidFill>
              </a:rPr>
              <a:t>span, div {</a:t>
            </a:r>
          </a:p>
          <a:p>
            <a:r>
              <a:rPr lang="en-US" sz="1400" b="1" dirty="0" smtClean="0">
                <a:solidFill>
                  <a:schemeClr val="accent1"/>
                </a:solidFill>
              </a:rPr>
              <a:t>   border</a:t>
            </a:r>
            <a:r>
              <a:rPr lang="en-US" sz="1400" b="1" dirty="0">
                <a:solidFill>
                  <a:schemeClr val="accent1"/>
                </a:solidFill>
              </a:rPr>
              <a:t>: 1px solid red;</a:t>
            </a:r>
          </a:p>
          <a:p>
            <a:r>
              <a:rPr lang="en-US" sz="1400" b="1" dirty="0" smtClean="0">
                <a:solidFill>
                  <a:schemeClr val="accent1"/>
                </a:solidFill>
              </a:rPr>
              <a:t>   color</a:t>
            </a:r>
            <a:r>
              <a:rPr lang="en-US" sz="1400" b="1" dirty="0">
                <a:solidFill>
                  <a:schemeClr val="accent1"/>
                </a:solidFill>
              </a:rPr>
              <a:t>: brown;</a:t>
            </a:r>
          </a:p>
          <a:p>
            <a:r>
              <a:rPr lang="en-US" sz="1400" b="1" dirty="0" smtClean="0">
                <a:solidFill>
                  <a:schemeClr val="accent1"/>
                </a:solidFill>
              </a:rPr>
              <a:t>}</a:t>
            </a:r>
          </a:p>
          <a:p>
            <a:r>
              <a:rPr lang="en-US" sz="1400" b="1" dirty="0" smtClean="0">
                <a:solidFill>
                  <a:schemeClr val="accent1"/>
                </a:solidFill>
              </a:rPr>
              <a:t>&lt;/</a:t>
            </a:r>
            <a:r>
              <a:rPr lang="en-US" sz="1400" b="1" dirty="0">
                <a:solidFill>
                  <a:schemeClr val="accent1"/>
                </a:solidFill>
              </a:rPr>
              <a:t>style&gt;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&lt;/head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&lt;body&gt;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&lt;h3&gt;Using div&lt;/h3&gt;</a:t>
            </a:r>
          </a:p>
          <a:p>
            <a:r>
              <a:rPr lang="en-US" sz="1400" b="1" dirty="0"/>
              <a:t>The quick </a:t>
            </a:r>
            <a:r>
              <a:rPr lang="en-US" sz="1400" b="1" dirty="0">
                <a:solidFill>
                  <a:srgbClr val="FF0000"/>
                </a:solidFill>
              </a:rPr>
              <a:t>&lt;div&gt;</a:t>
            </a:r>
            <a:r>
              <a:rPr lang="en-US" sz="1400" b="1" dirty="0"/>
              <a:t>brown</a:t>
            </a:r>
            <a:r>
              <a:rPr lang="en-US" sz="1400" b="1" dirty="0">
                <a:solidFill>
                  <a:srgbClr val="FF0000"/>
                </a:solidFill>
              </a:rPr>
              <a:t>&lt;/div&gt; </a:t>
            </a:r>
            <a:r>
              <a:rPr lang="en-US" sz="1400" b="1" dirty="0"/>
              <a:t>fox jumped over the lazy dog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&lt;h3&gt;Using span&lt;/h3&gt;</a:t>
            </a:r>
          </a:p>
          <a:p>
            <a:r>
              <a:rPr lang="en-US" sz="1400" b="1" dirty="0"/>
              <a:t>The quick </a:t>
            </a:r>
            <a:r>
              <a:rPr lang="en-US" sz="1400" b="1" dirty="0">
                <a:solidFill>
                  <a:srgbClr val="FF0000"/>
                </a:solidFill>
              </a:rPr>
              <a:t>&lt;span&gt;</a:t>
            </a:r>
            <a:r>
              <a:rPr lang="en-US" sz="1400" b="1" dirty="0"/>
              <a:t>brown</a:t>
            </a:r>
            <a:r>
              <a:rPr lang="en-US" sz="1400" b="1" dirty="0">
                <a:solidFill>
                  <a:srgbClr val="FF0000"/>
                </a:solidFill>
              </a:rPr>
              <a:t>&lt;/span&gt; </a:t>
            </a:r>
            <a:r>
              <a:rPr lang="en-US" sz="1400" b="1" dirty="0"/>
              <a:t>fox jumped over the lazy </a:t>
            </a:r>
            <a:r>
              <a:rPr lang="en-US" sz="1400" b="1" dirty="0" smtClean="0"/>
              <a:t>dog</a:t>
            </a:r>
          </a:p>
          <a:p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&lt;/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body&gt;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&lt;/html&gt;</a:t>
            </a:r>
            <a:endParaRPr lang="en-US" sz="14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5-Point Star 9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7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&lt;div&gt;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US" dirty="0" smtClean="0"/>
              <a:t>Use &lt;div&gt; element with the class and id attributes to create logical divisions on a Web page (header, footer, column,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&lt;div&gt; element can contain other block level elements such as paragraphs or even other divisions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Divisions are main content container replacing use of tables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 rot="20866551">
            <a:off x="5532741" y="4539508"/>
            <a:ext cx="272703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8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60007" dir="1500000" sy="-30000" kx="800400" algn="bl" rotWithShape="0">
                    <a:prstClr val="black">
                      <a:alpha val="20000"/>
                    </a:prstClr>
                  </a:outerShdw>
                </a:effectLst>
              </a:rPr>
              <a:t>&lt;div&gt;</a:t>
            </a:r>
            <a:endParaRPr lang="en-US" sz="8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60007" dir="1500000" sy="-30000" kx="800400" algn="bl" rotWithShape="0">
                  <a:prstClr val="black">
                    <a:alpha val="20000"/>
                  </a:prstClr>
                </a:outerShdw>
              </a:effectLst>
            </a:endParaRPr>
          </a:p>
        </p:txBody>
      </p:sp>
      <p:sp>
        <p:nvSpPr>
          <p:cNvPr id="6" name="5-Point Star 5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6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&lt;div&gt; Elements</a:t>
            </a:r>
            <a:endParaRPr lang="en-US" dirty="0"/>
          </a:p>
        </p:txBody>
      </p:sp>
      <p:pic>
        <p:nvPicPr>
          <p:cNvPr id="4098" name="Picture 2" descr="C:\Users\EvyLim\AppData\Local\Temp\SNAGHTMLb48f1f7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99" y="1306975"/>
            <a:ext cx="5619048" cy="35428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657600" y="2011263"/>
            <a:ext cx="5867400" cy="4770537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&lt;!DOCTYPE html&gt;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&lt;html&gt;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&lt;head&gt;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&lt;title&gt;Class Selector&lt;/title&gt;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&lt;style type="text/</a:t>
            </a:r>
            <a:r>
              <a:rPr lang="en-US" sz="1600" b="1" dirty="0" err="1">
                <a:solidFill>
                  <a:schemeClr val="accent1"/>
                </a:solidFill>
              </a:rPr>
              <a:t>css</a:t>
            </a:r>
            <a:r>
              <a:rPr lang="en-US" sz="1600" b="1" dirty="0">
                <a:solidFill>
                  <a:schemeClr val="accent1"/>
                </a:solidFill>
              </a:rPr>
              <a:t>"&gt;</a:t>
            </a:r>
          </a:p>
          <a:p>
            <a:r>
              <a:rPr lang="en-US" sz="1600" b="1" dirty="0" err="1">
                <a:solidFill>
                  <a:schemeClr val="accent1"/>
                </a:solidFill>
              </a:rPr>
              <a:t>div#column</a:t>
            </a:r>
            <a:r>
              <a:rPr lang="en-US" sz="1600" b="1" dirty="0">
                <a:solidFill>
                  <a:schemeClr val="accent1"/>
                </a:solidFill>
              </a:rPr>
              <a:t> {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   width</a:t>
            </a:r>
            <a:r>
              <a:rPr lang="en-US" sz="1600" b="1" dirty="0">
                <a:solidFill>
                  <a:schemeClr val="accent1"/>
                </a:solidFill>
              </a:rPr>
              <a:t>: 200px;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   height</a:t>
            </a:r>
            <a:r>
              <a:rPr lang="en-US" sz="1600" b="1" dirty="0">
                <a:solidFill>
                  <a:schemeClr val="accent1"/>
                </a:solidFill>
              </a:rPr>
              <a:t>: auto;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   padding</a:t>
            </a:r>
            <a:r>
              <a:rPr lang="en-US" sz="1600" b="1" dirty="0">
                <a:solidFill>
                  <a:schemeClr val="accent1"/>
                </a:solidFill>
              </a:rPr>
              <a:t>: 15px;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   border</a:t>
            </a:r>
            <a:r>
              <a:rPr lang="en-US" sz="1600" b="1" dirty="0">
                <a:solidFill>
                  <a:schemeClr val="accent1"/>
                </a:solidFill>
              </a:rPr>
              <a:t>: thin solid;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}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&lt;/</a:t>
            </a:r>
            <a:r>
              <a:rPr lang="en-US" sz="1600" b="1" dirty="0">
                <a:solidFill>
                  <a:schemeClr val="accent1"/>
                </a:solidFill>
              </a:rPr>
              <a:t>style&gt;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&lt;/head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&lt;body&gt;</a:t>
            </a:r>
          </a:p>
          <a:p>
            <a:r>
              <a:rPr lang="en-US" sz="1600" b="1" dirty="0"/>
              <a:t>&lt;div id="column"&gt;This division displays as a column of text in the browser window. This is one of the uses of the division element as a page layout tool with CSS.&lt;/div</a:t>
            </a:r>
            <a:r>
              <a:rPr lang="en-US" sz="1600" b="1" dirty="0" smtClean="0"/>
              <a:t>&gt;</a:t>
            </a: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&lt;/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body&gt;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&lt;/html&gt;</a:t>
            </a:r>
            <a:endParaRPr lang="en-US" sz="16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5-Point Star 5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0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&lt;span&gt;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en-US" dirty="0" smtClean="0"/>
              <a:t>&lt;span&gt; element lets you specify inline elements within a document that have their own name and style properties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Inline element reside within a line of text, like &lt;strong&gt; </a:t>
            </a:r>
            <a:r>
              <a:rPr lang="en-US" dirty="0"/>
              <a:t>o</a:t>
            </a:r>
            <a:r>
              <a:rPr lang="en-US" dirty="0" smtClean="0"/>
              <a:t>r &lt;</a:t>
            </a:r>
            <a:r>
              <a:rPr lang="en-US" dirty="0" err="1" smtClean="0"/>
              <a:t>em</a:t>
            </a:r>
            <a:r>
              <a:rPr lang="en-US" dirty="0" smtClean="0"/>
              <a:t>&gt; element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Use &lt;span&gt; with class or id attribute to create customized inline elements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 rot="20866551">
            <a:off x="4761325" y="4395931"/>
            <a:ext cx="353013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8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60007" dir="1500000" sy="-30000" kx="800400" algn="bl" rotWithShape="0">
                    <a:prstClr val="black">
                      <a:alpha val="20000"/>
                    </a:prstClr>
                  </a:outerShdw>
                </a:effectLst>
              </a:rPr>
              <a:t>&lt;span&gt;</a:t>
            </a:r>
            <a:endParaRPr lang="en-US" sz="8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60007" dir="1500000" sy="-30000" kx="800400" algn="bl" rotWithShape="0">
                  <a:prstClr val="black">
                    <a:alpha val="20000"/>
                  </a:prstClr>
                </a:outerShdw>
              </a:effectLst>
            </a:endParaRPr>
          </a:p>
        </p:txBody>
      </p:sp>
      <p:sp>
        <p:nvSpPr>
          <p:cNvPr id="6" name="5-Point Star 5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4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&lt;span&gt; Elements</a:t>
            </a:r>
            <a:endParaRPr lang="en-US" dirty="0"/>
          </a:p>
        </p:txBody>
      </p:sp>
      <p:pic>
        <p:nvPicPr>
          <p:cNvPr id="7172" name="Picture 4" descr="C:\Users\EvyLim\AppData\Local\Temp\SNAGHTMLb4d4e78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5619048" cy="35428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771900" y="2902327"/>
            <a:ext cx="5867400" cy="4031873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&lt;!DOCTYPE html&gt;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&lt;html&gt;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&lt;head&gt;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&lt;title&gt;Class Selector&lt;/title&gt;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&lt;style type="text/</a:t>
            </a:r>
            <a:r>
              <a:rPr lang="en-US" sz="1600" b="1" dirty="0" err="1">
                <a:solidFill>
                  <a:schemeClr val="accent1"/>
                </a:solidFill>
              </a:rPr>
              <a:t>css</a:t>
            </a:r>
            <a:r>
              <a:rPr lang="en-US" sz="1600" b="1" dirty="0">
                <a:solidFill>
                  <a:schemeClr val="accent1"/>
                </a:solidFill>
              </a:rPr>
              <a:t>"&gt;</a:t>
            </a:r>
          </a:p>
          <a:p>
            <a:r>
              <a:rPr lang="en-US" sz="1600" b="1" dirty="0" err="1">
                <a:solidFill>
                  <a:schemeClr val="accent1"/>
                </a:solidFill>
              </a:rPr>
              <a:t>span.logo</a:t>
            </a:r>
            <a:r>
              <a:rPr lang="en-US" sz="1600" b="1" dirty="0">
                <a:solidFill>
                  <a:schemeClr val="accent1"/>
                </a:solidFill>
              </a:rPr>
              <a:t> {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   color</a:t>
            </a:r>
            <a:r>
              <a:rPr lang="en-US" sz="1600" b="1" dirty="0">
                <a:solidFill>
                  <a:schemeClr val="accent1"/>
                </a:solidFill>
              </a:rPr>
              <a:t>: white;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   background-color</a:t>
            </a:r>
            <a:r>
              <a:rPr lang="en-US" sz="1600" b="1" dirty="0">
                <a:solidFill>
                  <a:schemeClr val="accent1"/>
                </a:solidFill>
              </a:rPr>
              <a:t>: black;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}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&lt;/</a:t>
            </a:r>
            <a:r>
              <a:rPr lang="en-US" sz="1600" b="1" dirty="0">
                <a:solidFill>
                  <a:schemeClr val="accent1"/>
                </a:solidFill>
              </a:rPr>
              <a:t>style&gt;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&lt;/head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&lt;body&gt;</a:t>
            </a:r>
          </a:p>
          <a:p>
            <a:r>
              <a:rPr lang="en-US" sz="1600" b="1" dirty="0"/>
              <a:t>&lt;h1&gt;Welcome to &lt;span class="logo"&gt;</a:t>
            </a:r>
            <a:r>
              <a:rPr lang="en-US" sz="1600" b="1" dirty="0" err="1"/>
              <a:t>Nanyang</a:t>
            </a:r>
            <a:r>
              <a:rPr lang="en-US" sz="1600" b="1" dirty="0"/>
              <a:t> Polytechnic&lt;/span&gt; website.&lt;/h1</a:t>
            </a:r>
            <a:r>
              <a:rPr lang="en-US" sz="1600" b="1" dirty="0" smtClean="0"/>
              <a:t>&gt;</a:t>
            </a: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&lt;/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body&gt;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&lt;/html&gt;</a:t>
            </a:r>
            <a:endParaRPr lang="en-US" sz="16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5-Point Star 5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5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Selectors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620" y="1295400"/>
            <a:ext cx="7319180" cy="4876800"/>
          </a:xfrm>
        </p:spPr>
        <p:txBody>
          <a:bodyPr/>
          <a:lstStyle/>
          <a:p>
            <a:r>
              <a:rPr lang="en-US" dirty="0" smtClean="0"/>
              <a:t>Beside class and id selectors, you can use:</a:t>
            </a:r>
          </a:p>
          <a:p>
            <a:pPr lvl="1"/>
            <a:r>
              <a:rPr lang="en-US" dirty="0" smtClean="0"/>
              <a:t>Attribute selector</a:t>
            </a:r>
          </a:p>
          <a:p>
            <a:pPr lvl="1"/>
            <a:r>
              <a:rPr lang="en-US" dirty="0" smtClean="0"/>
              <a:t>pseudo-class selector</a:t>
            </a:r>
          </a:p>
          <a:p>
            <a:pPr lvl="1"/>
            <a:r>
              <a:rPr lang="en-US" dirty="0" smtClean="0"/>
              <a:t>pseudo-element selector</a:t>
            </a:r>
          </a:p>
          <a:p>
            <a:pPr lvl="1"/>
            <a:r>
              <a:rPr lang="en-US" dirty="0" smtClean="0"/>
              <a:t>CSS3 selector</a:t>
            </a:r>
          </a:p>
          <a:p>
            <a:pPr lvl="1"/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For this module we will focus on pseudo-class selector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16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905000"/>
            <a:ext cx="3457553" cy="26060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-Point Star 5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6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Attribute and Pseudo-elements Selector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Attribute Selector</a:t>
            </a:r>
          </a:p>
          <a:p>
            <a:pPr lvl="1"/>
            <a:r>
              <a:rPr lang="en-US" dirty="0" smtClean="0"/>
              <a:t>Let you select an element based on whether the element contains an attribute</a:t>
            </a:r>
          </a:p>
          <a:p>
            <a:pPr lvl="1"/>
            <a:r>
              <a:rPr lang="en-US" dirty="0" smtClean="0"/>
              <a:t>Can also choose element based on specific value for the attribute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chemeClr val="tx2"/>
                </a:solidFill>
              </a:rPr>
              <a:t>CSS3 Selector</a:t>
            </a:r>
          </a:p>
          <a:p>
            <a:pPr lvl="1"/>
            <a:r>
              <a:rPr lang="en-US" dirty="0" smtClean="0"/>
              <a:t>Let you select element with even greater precision, such as first or last paragraph on every page, or setting different styles for odd and even rows of a table or list</a:t>
            </a:r>
          </a:p>
          <a:p>
            <a:pPr lvl="1"/>
            <a:endParaRPr lang="en-US" dirty="0"/>
          </a:p>
          <a:p>
            <a:r>
              <a:rPr lang="en-US" b="1" dirty="0" smtClean="0">
                <a:solidFill>
                  <a:schemeClr val="tx2"/>
                </a:solidFill>
              </a:rPr>
              <a:t>Pseudo-elements Selector</a:t>
            </a:r>
          </a:p>
          <a:p>
            <a:pPr lvl="1"/>
            <a:r>
              <a:rPr lang="en-US" dirty="0" smtClean="0"/>
              <a:t>Allow you to change other aspects of a document that are not classified by elements, such as applying style rules to first letter or first line of a paragraph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8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Pseudo-classes Selector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95400"/>
            <a:ext cx="6777317" cy="3508977"/>
          </a:xfrm>
        </p:spPr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</a:rPr>
              <a:t>Pseudo-classes Selector</a:t>
            </a:r>
          </a:p>
          <a:p>
            <a:pPr lvl="1"/>
            <a:r>
              <a:rPr lang="en-US" dirty="0" smtClean="0"/>
              <a:t>Select elements based on characteristics other than their element name, such as change color of a new or visited hypertext link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009746"/>
              </p:ext>
            </p:extLst>
          </p:nvPr>
        </p:nvGraphicFramePr>
        <p:xfrm>
          <a:off x="1371600" y="3276600"/>
          <a:ext cx="6781800" cy="3205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24000"/>
                <a:gridCol w="5257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Pseudo-class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:link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Selects</a:t>
                      </a:r>
                      <a:r>
                        <a:rPr lang="en-US" baseline="0" dirty="0" smtClean="0"/>
                        <a:t> any unvisited link that user has not clicked or is not hovering over with their mouse pointer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:visited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Selects any link that user has already visited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:hover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Selects any link that user is pointing to with the mouse</a:t>
                      </a:r>
                      <a:r>
                        <a:rPr lang="en-US" baseline="0" dirty="0" smtClean="0"/>
                        <a:t> pointer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:active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Selects a</a:t>
                      </a:r>
                      <a:r>
                        <a:rPr lang="en-US" baseline="0" dirty="0" smtClean="0"/>
                        <a:t> link for the brief moment that user is actually clicking the link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5-Point Star 6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4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Pseudo-classes Selector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06442"/>
            <a:ext cx="6777317" cy="3508977"/>
          </a:xfrm>
        </p:spPr>
        <p:txBody>
          <a:bodyPr>
            <a:normAutofit lnSpcReduction="10000"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Pseudo-classes Selector</a:t>
            </a:r>
          </a:p>
          <a:p>
            <a:pPr lvl="1">
              <a:spcAft>
                <a:spcPts val="1000"/>
              </a:spcAft>
            </a:pPr>
            <a:r>
              <a:rPr lang="en-US" sz="2000" dirty="0" smtClean="0"/>
              <a:t>The following style rules change the color of the hypertext links in a Web page: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Note that the </a:t>
            </a:r>
            <a:r>
              <a:rPr lang="en-US" sz="2000" b="1" dirty="0" smtClean="0"/>
              <a:t>colon(:) </a:t>
            </a:r>
            <a:r>
              <a:rPr lang="en-US" sz="2000" dirty="0" smtClean="0"/>
              <a:t>is the flag character for a pseudo-class</a:t>
            </a:r>
          </a:p>
          <a:p>
            <a:pPr lvl="1"/>
            <a:r>
              <a:rPr lang="en-US" sz="2000" dirty="0" smtClean="0"/>
              <a:t>:hover pseudo-class lets you apply a style that appears when user points to an element with a mouse</a:t>
            </a:r>
          </a:p>
          <a:p>
            <a:pPr lvl="1"/>
            <a:endParaRPr lang="en-US" sz="2000" dirty="0"/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828800" y="2514600"/>
            <a:ext cx="6239894" cy="646331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a:link { color: red; }</a:t>
            </a:r>
          </a:p>
          <a:p>
            <a:r>
              <a:rPr lang="en-US" dirty="0"/>
              <a:t>a:visited { color: green; }</a:t>
            </a:r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813560" y="4572000"/>
            <a:ext cx="6239894" cy="369332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a:hover { background-color: yellow; }</a:t>
            </a:r>
            <a:endParaRPr lang="en-US" dirty="0" smtClean="0"/>
          </a:p>
        </p:txBody>
      </p:sp>
      <p:grpSp>
        <p:nvGrpSpPr>
          <p:cNvPr id="9" name="Group 8"/>
          <p:cNvGrpSpPr/>
          <p:nvPr/>
        </p:nvGrpSpPr>
        <p:grpSpPr>
          <a:xfrm>
            <a:off x="1214952" y="5061228"/>
            <a:ext cx="7319448" cy="1261884"/>
            <a:chOff x="3377184" y="5943600"/>
            <a:chExt cx="6757200" cy="1261884"/>
          </a:xfrm>
        </p:grpSpPr>
        <p:sp>
          <p:nvSpPr>
            <p:cNvPr id="10" name="TextBox 9"/>
            <p:cNvSpPr txBox="1"/>
            <p:nvPr/>
          </p:nvSpPr>
          <p:spPr>
            <a:xfrm>
              <a:off x="3377184" y="5943600"/>
              <a:ext cx="6757200" cy="12618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lIns="457200" tIns="91440" rIns="91440" bIns="91440" rtlCol="0">
              <a:spAutoFit/>
            </a:bodyPr>
            <a:lstStyle/>
            <a:p>
              <a:r>
                <a:rPr lang="en-US" sz="1400" dirty="0" smtClean="0"/>
                <a:t>You should always place your link pseudo-class in the following order: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US" sz="1400" dirty="0" smtClean="0"/>
                <a:t>Link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US" sz="1400" dirty="0" smtClean="0"/>
                <a:t>Visited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US" sz="1400" dirty="0" smtClean="0"/>
                <a:t>Hover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US" sz="1400" dirty="0" smtClean="0"/>
                <a:t>Active</a:t>
              </a:r>
            </a:p>
          </p:txBody>
        </p:sp>
        <p:pic>
          <p:nvPicPr>
            <p:cNvPr id="11" name="Picture 2" descr="C:\Users\EvyLim\AppData\Local\Microsoft\Windows\Temporary Internet Files\Content.IE5\4WZW5CPL\MC900432617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4536" y="5981700"/>
              <a:ext cx="385464" cy="385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5-Point Star 11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5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Pseudo-classes Selector</a:t>
            </a:r>
          </a:p>
        </p:txBody>
      </p:sp>
      <p:pic>
        <p:nvPicPr>
          <p:cNvPr id="9218" name="Picture 2" descr="C:\Users\EvyLim\AppData\Local\Temp\SNAGHTMLbad53d7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333943"/>
            <a:ext cx="5619048" cy="35428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20</a:t>
            </a:fld>
            <a:endParaRPr lang="en-US"/>
          </a:p>
        </p:txBody>
      </p:sp>
      <p:pic>
        <p:nvPicPr>
          <p:cNvPr id="9224" name="Picture 8" descr="C:\Users\EvyLim\AppData\Local\Temp\SNAGHTMLbb3b91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97836"/>
            <a:ext cx="5619750" cy="3543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70"/>
          <a:stretch/>
        </p:blipFill>
        <p:spPr bwMode="auto">
          <a:xfrm>
            <a:off x="533400" y="3733800"/>
            <a:ext cx="5600700" cy="3124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876800" y="2590800"/>
            <a:ext cx="4267200" cy="4278094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&lt;!DOCTYPE html&gt;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&lt;html&gt;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&lt;head&gt;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&lt;title&gt;Class Selector&lt;/title&gt;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&lt;style type="text/</a:t>
            </a:r>
            <a:r>
              <a:rPr lang="en-US" sz="1600" b="1" dirty="0" err="1">
                <a:solidFill>
                  <a:schemeClr val="accent1"/>
                </a:solidFill>
              </a:rPr>
              <a:t>css</a:t>
            </a:r>
            <a:r>
              <a:rPr lang="en-US" sz="1600" b="1" dirty="0">
                <a:solidFill>
                  <a:schemeClr val="accent1"/>
                </a:solidFill>
              </a:rPr>
              <a:t>"&gt;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a:link { color: red; }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a:visited { color: green; }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a:hover { background-color: yellow; </a:t>
            </a:r>
            <a:r>
              <a:rPr lang="en-US" sz="1600" b="1" dirty="0" smtClean="0">
                <a:solidFill>
                  <a:schemeClr val="accent1"/>
                </a:solidFill>
              </a:rPr>
              <a:t>}</a:t>
            </a:r>
          </a:p>
          <a:p>
            <a:r>
              <a:rPr lang="en-US" sz="1600" b="1" dirty="0" smtClean="0">
                <a:solidFill>
                  <a:schemeClr val="accent1"/>
                </a:solidFill>
              </a:rPr>
              <a:t>&lt;/</a:t>
            </a:r>
            <a:r>
              <a:rPr lang="en-US" sz="1600" b="1" dirty="0">
                <a:solidFill>
                  <a:schemeClr val="accent1"/>
                </a:solidFill>
              </a:rPr>
              <a:t>style&gt;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&lt;/head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&lt;body&gt;</a:t>
            </a:r>
          </a:p>
          <a:p>
            <a:r>
              <a:rPr lang="en-US" sz="1600" b="1" dirty="0"/>
              <a:t>&lt;h1&gt;Visit my &lt;a </a:t>
            </a:r>
            <a:r>
              <a:rPr lang="en-US" sz="1600" b="1" dirty="0" err="1"/>
              <a:t>href</a:t>
            </a:r>
            <a:r>
              <a:rPr lang="en-US" sz="1600" b="1" dirty="0"/>
              <a:t>="page.html"&gt;website&lt;/a&gt; to learn CSS&lt;/h1</a:t>
            </a:r>
            <a:r>
              <a:rPr lang="en-US" sz="1600" b="1" dirty="0" smtClean="0"/>
              <a:t>&gt;</a:t>
            </a:r>
          </a:p>
          <a:p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&lt;/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body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</a:p>
          <a:p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&lt;/html&gt;</a:t>
            </a:r>
            <a:endParaRPr lang="en-US" sz="16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Line Callout 1 5"/>
          <p:cNvSpPr/>
          <p:nvPr/>
        </p:nvSpPr>
        <p:spPr>
          <a:xfrm>
            <a:off x="2514600" y="5181600"/>
            <a:ext cx="1752600" cy="838200"/>
          </a:xfrm>
          <a:prstGeom prst="borderCallout1">
            <a:avLst>
              <a:gd name="adj1" fmla="val 46386"/>
              <a:gd name="adj2" fmla="val 15"/>
              <a:gd name="adj3" fmla="val -955"/>
              <a:gd name="adj4" fmla="val -9811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smtClean="0"/>
              <a:t>:hover pseudo-class is activated by the mouse pointer</a:t>
            </a:r>
            <a:endParaRPr lang="en-US" sz="1400" dirty="0"/>
          </a:p>
        </p:txBody>
      </p:sp>
      <p:sp>
        <p:nvSpPr>
          <p:cNvPr id="11" name="5-Point Star 10"/>
          <p:cNvSpPr/>
          <p:nvPr/>
        </p:nvSpPr>
        <p:spPr>
          <a:xfrm rot="1367558">
            <a:off x="7837617" y="167650"/>
            <a:ext cx="914400" cy="914400"/>
          </a:xfrm>
          <a:prstGeom prst="star5">
            <a:avLst/>
          </a:pr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8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Cascade affects Style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CSS cascading mechanism determines which rules are applied to document elements by assigning weight to each rule based on the following:</a:t>
            </a:r>
          </a:p>
          <a:p>
            <a:pPr lvl="1"/>
            <a:r>
              <a:rPr lang="en-US" dirty="0" smtClean="0"/>
              <a:t>Specificity of the selector</a:t>
            </a:r>
          </a:p>
          <a:p>
            <a:pPr lvl="1"/>
            <a:r>
              <a:rPr lang="en-US" dirty="0" smtClean="0"/>
              <a:t>Order of the rule in the style sheet</a:t>
            </a:r>
          </a:p>
          <a:p>
            <a:pPr lvl="1"/>
            <a:r>
              <a:rPr lang="en-US" dirty="0" smtClean="0"/>
              <a:t>Use of the !important keyword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456" y="228600"/>
            <a:ext cx="7024744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Determine Rule Weight by Specificity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Aft>
                <a:spcPts val="1000"/>
              </a:spcAft>
            </a:pPr>
            <a:r>
              <a:rPr lang="en-US" sz="2400" dirty="0" smtClean="0"/>
              <a:t>Rules with more specific selectors take precedence over rules with less specific selectors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Inline styles, using the style attribute, have the greatest weight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Styles with id selectors override styles with class selectors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Class selectors override simple type selector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22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752600" y="4495800"/>
            <a:ext cx="6781800" cy="2209800"/>
            <a:chOff x="1752600" y="4495800"/>
            <a:chExt cx="6019800" cy="2209800"/>
          </a:xfrm>
        </p:grpSpPr>
        <p:sp>
          <p:nvSpPr>
            <p:cNvPr id="6" name="TextBox 5"/>
            <p:cNvSpPr txBox="1"/>
            <p:nvPr/>
          </p:nvSpPr>
          <p:spPr>
            <a:xfrm>
              <a:off x="1752600" y="5163235"/>
              <a:ext cx="2590800" cy="646331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 { color: red; }</a:t>
              </a:r>
            </a:p>
            <a:p>
              <a:r>
                <a:rPr lang="en-US" dirty="0" smtClean="0"/>
                <a:t>div p { color: blue; }</a:t>
              </a:r>
            </a:p>
          </p:txBody>
        </p:sp>
        <p:sp>
          <p:nvSpPr>
            <p:cNvPr id="8" name="Left Arrow 7"/>
            <p:cNvSpPr/>
            <p:nvPr/>
          </p:nvSpPr>
          <p:spPr>
            <a:xfrm>
              <a:off x="4343400" y="4495800"/>
              <a:ext cx="3429000" cy="2209800"/>
            </a:xfrm>
            <a:prstGeom prst="lef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smtClean="0"/>
                <a:t>More specific descendant selector determine the outcome so the &lt;p&gt; element contained within a &lt;div&gt; will be blue</a:t>
              </a:r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387661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Determine Rule Weight by Order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1000"/>
              </a:spcAft>
            </a:pPr>
            <a:r>
              <a:rPr lang="en-US" sz="2400" dirty="0" smtClean="0"/>
              <a:t>Apply rule based on its order within a style sheet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Rules that are included later in the style sheet order take precedence over earlier rules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In this example, &lt;h1&gt; element in the document appear green because the last style rule specifies green as the color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447800" y="2895600"/>
            <a:ext cx="6239894" cy="923330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body { color: black; }</a:t>
            </a:r>
          </a:p>
          <a:p>
            <a:r>
              <a:rPr lang="en-US" dirty="0" smtClean="0"/>
              <a:t>h1 { color: red; }</a:t>
            </a:r>
          </a:p>
          <a:p>
            <a:r>
              <a:rPr lang="en-US" dirty="0" smtClean="0"/>
              <a:t>h1 { color: green; }</a:t>
            </a:r>
          </a:p>
        </p:txBody>
      </p:sp>
    </p:spTree>
    <p:extLst>
      <p:ext uri="{BB962C8B-B14F-4D97-AF65-F5344CB8AC3E}">
        <p14:creationId xmlns:p14="http://schemas.microsoft.com/office/powerpoint/2010/main" val="218169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000"/>
              </a:spcAft>
            </a:pPr>
            <a:r>
              <a:rPr lang="en-US" dirty="0" smtClean="0"/>
              <a:t>Use class and id attribute selectors paired with the &lt;div&gt; and &lt;span&gt; HTML elements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With class and id selector, you can create rules, name them, and apply them to any HTML element</a:t>
            </a:r>
          </a:p>
          <a:p>
            <a:pPr>
              <a:spcAft>
                <a:spcPts val="1000"/>
              </a:spcAft>
            </a:pPr>
            <a:r>
              <a:rPr lang="en-US" dirty="0" smtClean="0"/>
              <a:t>Pseudo-class selector let you change the color and styling of hypertext links that are not signified with the standard HTML elements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7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24B5D243E8524B805AE9E6462128D5" ma:contentTypeVersion="0" ma:contentTypeDescription="Create a new document." ma:contentTypeScope="" ma:versionID="e66dd09a9d80fa3eca15220829d7fdcb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F0FABF-2643-4C84-8FB3-33ECA5D8FB9D}">
  <ds:schemaRefs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813E0F8-0065-40A5-94A2-FD24E2286F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17034429-1823-4620-A003-FD673AED81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2509</TotalTime>
  <Words>1890</Words>
  <Application>Microsoft Office PowerPoint</Application>
  <PresentationFormat>On-screen Show (4:3)</PresentationFormat>
  <Paragraphs>306</Paragraphs>
  <Slides>24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Austin</vt:lpstr>
      <vt:lpstr>IT2771– Rich Internet Applications Development</vt:lpstr>
      <vt:lpstr>Recap</vt:lpstr>
      <vt:lpstr>Learning Objectives</vt:lpstr>
      <vt:lpstr>Using Class Selector</vt:lpstr>
      <vt:lpstr>Using Class Selector</vt:lpstr>
      <vt:lpstr>Using Class Selector</vt:lpstr>
      <vt:lpstr>More Specific Class Selector</vt:lpstr>
      <vt:lpstr>Using id Selector</vt:lpstr>
      <vt:lpstr>More Specific id Selector</vt:lpstr>
      <vt:lpstr>Using &lt;div&gt; and &lt;span&gt; Elements</vt:lpstr>
      <vt:lpstr>&lt;div&gt; vs &lt;span&gt; Elements</vt:lpstr>
      <vt:lpstr>&lt;div&gt; Elements</vt:lpstr>
      <vt:lpstr>&lt;div&gt; Elements</vt:lpstr>
      <vt:lpstr>&lt;span&gt; Elements</vt:lpstr>
      <vt:lpstr>&lt;span&gt; Elements</vt:lpstr>
      <vt:lpstr>Other Selectors</vt:lpstr>
      <vt:lpstr>Attribute and Pseudo-elements Selector</vt:lpstr>
      <vt:lpstr>Using Pseudo-classes Selector</vt:lpstr>
      <vt:lpstr>Using Pseudo-classes Selector</vt:lpstr>
      <vt:lpstr>Using Pseudo-classes Selector</vt:lpstr>
      <vt:lpstr>Cascade affects Style Rules</vt:lpstr>
      <vt:lpstr>Determine Rule Weight by Specificity</vt:lpstr>
      <vt:lpstr>Determine Rule Weight by Order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IT1322 – Principles of Web Usability Design</dc:title>
  <dc:creator>EvyLim</dc:creator>
  <cp:lastModifiedBy>Owner</cp:lastModifiedBy>
  <cp:revision>104</cp:revision>
  <dcterms:created xsi:type="dcterms:W3CDTF">2012-03-19T05:27:31Z</dcterms:created>
  <dcterms:modified xsi:type="dcterms:W3CDTF">2013-10-09T01:34:45Z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0x010100CF24B5D243E8524B805AE9E6462128D5</vt:lpwstr>
  </property>
</Properties>
</file>