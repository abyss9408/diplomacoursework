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0"/>
  </p:notesMasterIdLst>
  <p:sldIdLst>
    <p:sldId id="256" r:id="rId5"/>
    <p:sldId id="330" r:id="rId6"/>
    <p:sldId id="331" r:id="rId7"/>
    <p:sldId id="300" r:id="rId8"/>
    <p:sldId id="298" r:id="rId9"/>
    <p:sldId id="299" r:id="rId10"/>
    <p:sldId id="301" r:id="rId11"/>
    <p:sldId id="302" r:id="rId12"/>
    <p:sldId id="321" r:id="rId13"/>
    <p:sldId id="304" r:id="rId14"/>
    <p:sldId id="329" r:id="rId15"/>
    <p:sldId id="322" r:id="rId16"/>
    <p:sldId id="325" r:id="rId17"/>
    <p:sldId id="327" r:id="rId18"/>
    <p:sldId id="326" r:id="rId19"/>
    <p:sldId id="308" r:id="rId20"/>
    <p:sldId id="309" r:id="rId21"/>
    <p:sldId id="310" r:id="rId22"/>
    <p:sldId id="311" r:id="rId23"/>
    <p:sldId id="312" r:id="rId24"/>
    <p:sldId id="313" r:id="rId25"/>
    <p:sldId id="314" r:id="rId26"/>
    <p:sldId id="320" r:id="rId27"/>
    <p:sldId id="328" r:id="rId28"/>
    <p:sldId id="32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97" autoAdjust="0"/>
    <p:restoredTop sz="72245" autoAdjust="0"/>
  </p:normalViewPr>
  <p:slideViewPr>
    <p:cSldViewPr>
      <p:cViewPr varScale="1">
        <p:scale>
          <a:sx n="84" d="100"/>
          <a:sy n="84" d="100"/>
        </p:scale>
        <p:origin x="2394"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t>18-Jul-17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bostonglobe.com/"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www.lynda.com/Dreamweaver-tutorials/Responsive-Design-Dreamweaver-CS6/101071-2/transcript"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alistapart.com/d/fluidgrids/examples/grid/final.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http://codecondo.com/15-fantastic-web-development-tools/</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2</a:t>
            </a:fld>
            <a:endParaRPr lang="en-US"/>
          </a:p>
        </p:txBody>
      </p:sp>
    </p:spTree>
    <p:extLst>
      <p:ext uri="{BB962C8B-B14F-4D97-AF65-F5344CB8AC3E}">
        <p14:creationId xmlns:p14="http://schemas.microsoft.com/office/powerpoint/2010/main" val="2053214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3</a:t>
            </a:fld>
            <a:endParaRPr lang="en-US"/>
          </a:p>
        </p:txBody>
      </p:sp>
    </p:spTree>
    <p:extLst>
      <p:ext uri="{BB962C8B-B14F-4D97-AF65-F5344CB8AC3E}">
        <p14:creationId xmlns:p14="http://schemas.microsoft.com/office/powerpoint/2010/main" val="3440319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Responsive design is more than a buzz phrase at the moment. It's the answer to particularly vexing problems increasingly facing web designers.</a:t>
            </a:r>
            <a:r>
              <a:rPr lang="en-US" sz="1200" u="none" strike="noStrike" kern="1200" dirty="0" smtClean="0">
                <a:solidFill>
                  <a:schemeClr val="tx1"/>
                </a:solidFill>
                <a:effectLst/>
                <a:latin typeface="+mn-lt"/>
                <a:ea typeface="+mn-ea"/>
                <a:cs typeface="+mn-cs"/>
              </a:rPr>
              <a:t> </a:t>
            </a:r>
            <a:r>
              <a:rPr lang="en-US" dirty="0" smtClean="0">
                <a:effectLst/>
              </a:rPr>
              <a:t>The problem is the ever-growing number of Internet capable screens of varied</a:t>
            </a:r>
            <a:r>
              <a:rPr lang="en-US" sz="1200" u="none" strike="noStrike" kern="1200" dirty="0" smtClean="0">
                <a:solidFill>
                  <a:schemeClr val="tx1"/>
                </a:solidFill>
                <a:effectLst/>
                <a:latin typeface="+mn-lt"/>
                <a:ea typeface="+mn-ea"/>
                <a:cs typeface="+mn-cs"/>
              </a:rPr>
              <a:t> </a:t>
            </a:r>
            <a:r>
              <a:rPr lang="en-US" dirty="0" smtClean="0">
                <a:effectLst/>
              </a:rPr>
              <a:t>widths and heights, many able to swap dimensions with the flip of a wrist.</a:t>
            </a:r>
            <a:r>
              <a:rPr lang="en-US" sz="1200" u="none" strike="noStrike" kern="1200" dirty="0" smtClean="0">
                <a:solidFill>
                  <a:schemeClr val="tx1"/>
                </a:solidFill>
                <a:effectLst/>
                <a:latin typeface="+mn-lt"/>
                <a:ea typeface="+mn-ea"/>
                <a:cs typeface="+mn-cs"/>
              </a:rPr>
              <a:t> </a:t>
            </a:r>
            <a:r>
              <a:rPr lang="en-US" dirty="0" smtClean="0">
                <a:effectLst/>
              </a:rPr>
              <a:t>Before we get into a more or less formal definition of responsive design, let me</a:t>
            </a:r>
            <a:r>
              <a:rPr lang="en-US" sz="1200" u="none" strike="noStrike" kern="1200" dirty="0" smtClean="0">
                <a:solidFill>
                  <a:schemeClr val="tx1"/>
                </a:solidFill>
                <a:effectLst/>
                <a:latin typeface="+mn-lt"/>
                <a:ea typeface="+mn-ea"/>
                <a:cs typeface="+mn-cs"/>
              </a:rPr>
              <a:t> </a:t>
            </a:r>
            <a:r>
              <a:rPr lang="en-US" dirty="0" smtClean="0">
                <a:effectLst/>
              </a:rPr>
              <a:t>show it to you in action, practically applied.</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4</a:t>
            </a:fld>
            <a:endParaRPr lang="en-US"/>
          </a:p>
        </p:txBody>
      </p:sp>
    </p:spTree>
    <p:extLst>
      <p:ext uri="{BB962C8B-B14F-4D97-AF65-F5344CB8AC3E}">
        <p14:creationId xmlns:p14="http://schemas.microsoft.com/office/powerpoint/2010/main" val="11462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Here's the Boston Globe site, </a:t>
            </a:r>
            <a:r>
              <a:rPr lang="en-US" dirty="0" smtClean="0">
                <a:hlinkClick r:id="rId3"/>
              </a:rPr>
              <a:t>http://bostonglobe.com</a:t>
            </a:r>
            <a:r>
              <a:rPr lang="en-US" dirty="0" smtClean="0"/>
              <a:t> </a:t>
            </a:r>
            <a:r>
              <a:rPr lang="en-US" sz="1200" b="0" i="0" kern="1200" dirty="0" smtClean="0">
                <a:solidFill>
                  <a:schemeClr val="tx1"/>
                </a:solidFill>
                <a:effectLst/>
                <a:latin typeface="+mn-lt"/>
                <a:ea typeface="+mn-ea"/>
                <a:cs typeface="+mn-cs"/>
              </a:rPr>
              <a:t>and like many newspaper websites, it's laid out in a series of columns. </a:t>
            </a:r>
            <a:endParaRPr lang="en-US" dirty="0" smtClean="0">
              <a:effectLst/>
            </a:endParaRPr>
          </a:p>
          <a:p>
            <a:endParaRPr lang="en-US" dirty="0" smtClean="0">
              <a:effectLst/>
            </a:endParaRPr>
          </a:p>
          <a:p>
            <a:r>
              <a:rPr lang="en-US" dirty="0" smtClean="0">
                <a:effectLst/>
              </a:rPr>
              <a:t>So watch what happens as I start to make the window smaller by dragging it in from the right.</a:t>
            </a:r>
            <a:r>
              <a:rPr lang="en-US" sz="1200" u="none" strike="noStrike" kern="1200" dirty="0" smtClean="0">
                <a:solidFill>
                  <a:schemeClr val="tx1"/>
                </a:solidFill>
                <a:effectLst/>
                <a:latin typeface="+mn-lt"/>
                <a:ea typeface="+mn-ea"/>
                <a:cs typeface="+mn-cs"/>
              </a:rPr>
              <a:t> </a:t>
            </a:r>
            <a:r>
              <a:rPr lang="en-US" dirty="0" smtClean="0">
                <a:effectLst/>
              </a:rPr>
              <a:t>You can see things begin to shift around, but they largely stay in the same proportion.</a:t>
            </a:r>
            <a:r>
              <a:rPr lang="en-US" sz="1200" u="none" strike="noStrike" kern="1200" dirty="0" smtClean="0">
                <a:solidFill>
                  <a:schemeClr val="tx1"/>
                </a:solidFill>
                <a:effectLst/>
                <a:latin typeface="+mn-lt"/>
                <a:ea typeface="+mn-ea"/>
                <a:cs typeface="+mn-cs"/>
              </a:rPr>
              <a:t> </a:t>
            </a:r>
            <a:r>
              <a:rPr lang="en-US" dirty="0" smtClean="0">
                <a:effectLst/>
              </a:rPr>
              <a:t>The columns are basically all the same width, and once we get to a certain</a:t>
            </a:r>
            <a:r>
              <a:rPr lang="en-US" sz="1200" u="none" strike="noStrike" kern="1200" dirty="0" smtClean="0">
                <a:solidFill>
                  <a:schemeClr val="tx1"/>
                </a:solidFill>
                <a:effectLst/>
                <a:latin typeface="+mn-lt"/>
                <a:ea typeface="+mn-ea"/>
                <a:cs typeface="+mn-cs"/>
              </a:rPr>
              <a:t> </a:t>
            </a:r>
            <a:r>
              <a:rPr lang="en-US" dirty="0" smtClean="0">
                <a:effectLst/>
              </a:rPr>
              <a:t>point, however, the entire layout shifts. Now we have two major columns up top</a:t>
            </a:r>
            <a:r>
              <a:rPr lang="en-US" sz="1200" u="none" strike="noStrike" kern="1200" dirty="0" smtClean="0">
                <a:solidFill>
                  <a:schemeClr val="tx1"/>
                </a:solidFill>
                <a:effectLst/>
                <a:latin typeface="+mn-lt"/>
                <a:ea typeface="+mn-ea"/>
                <a:cs typeface="+mn-cs"/>
              </a:rPr>
              <a:t> </a:t>
            </a:r>
            <a:r>
              <a:rPr lang="en-US" dirty="0" smtClean="0">
                <a:effectLst/>
              </a:rPr>
              <a:t>and two columns there We still have our four columns. Let's continue to move in, and now it's shifted</a:t>
            </a:r>
            <a:r>
              <a:rPr lang="en-US" sz="1200" u="none" strike="noStrike" kern="1200" dirty="0" smtClean="0">
                <a:solidFill>
                  <a:schemeClr val="tx1"/>
                </a:solidFill>
                <a:effectLst/>
                <a:latin typeface="+mn-lt"/>
                <a:ea typeface="+mn-ea"/>
                <a:cs typeface="+mn-cs"/>
              </a:rPr>
              <a:t> </a:t>
            </a:r>
            <a:r>
              <a:rPr lang="en-US" dirty="0" smtClean="0">
                <a:effectLst/>
              </a:rPr>
              <a:t>again, so we have our two big columns and single columns here.</a:t>
            </a:r>
            <a:r>
              <a:rPr lang="en-US" sz="1200" u="none" strike="noStrike" kern="1200" dirty="0" smtClean="0">
                <a:solidFill>
                  <a:schemeClr val="tx1"/>
                </a:solidFill>
                <a:effectLst/>
                <a:latin typeface="+mn-lt"/>
                <a:ea typeface="+mn-ea"/>
                <a:cs typeface="+mn-cs"/>
              </a:rPr>
              <a:t> </a:t>
            </a:r>
            <a:r>
              <a:rPr lang="en-US" dirty="0" smtClean="0">
                <a:effectLst/>
              </a:rPr>
              <a:t> </a:t>
            </a:r>
          </a:p>
          <a:p>
            <a:endParaRPr lang="en-US"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At a smaller </a:t>
            </a:r>
            <a:r>
              <a:rPr lang="en-US" baseline="0" dirty="0" smtClean="0">
                <a:effectLst/>
              </a:rPr>
              <a:t>window, </a:t>
            </a:r>
            <a:r>
              <a:rPr lang="en-US" dirty="0" smtClean="0">
                <a:effectLst/>
              </a:rPr>
              <a:t>the main</a:t>
            </a:r>
            <a:r>
              <a:rPr lang="en-US" sz="1200" u="none" strike="noStrike" kern="1200" dirty="0" smtClean="0">
                <a:solidFill>
                  <a:schemeClr val="tx1"/>
                </a:solidFill>
                <a:effectLst/>
                <a:latin typeface="+mn-lt"/>
                <a:ea typeface="+mn-ea"/>
                <a:cs typeface="+mn-cs"/>
              </a:rPr>
              <a:t> </a:t>
            </a:r>
            <a:r>
              <a:rPr lang="en-US" dirty="0" smtClean="0">
                <a:effectLst/>
              </a:rPr>
              <a:t>column takes over the layout entirely, so where did the sidebar go?</a:t>
            </a:r>
            <a:r>
              <a:rPr lang="en-US" sz="1200" u="none" strike="noStrike" kern="1200" dirty="0" smtClean="0">
                <a:solidFill>
                  <a:schemeClr val="tx1"/>
                </a:solidFill>
                <a:effectLst/>
                <a:latin typeface="+mn-lt"/>
                <a:ea typeface="+mn-ea"/>
                <a:cs typeface="+mn-cs"/>
              </a:rPr>
              <a:t> </a:t>
            </a:r>
            <a:r>
              <a:rPr lang="en-US" dirty="0" smtClean="0">
                <a:effectLst/>
              </a:rPr>
              <a:t>Well, if you scroll down, it's listed also in a full column, and it's gotten much bigger.</a:t>
            </a:r>
            <a:r>
              <a:rPr lang="en-US" sz="1200" u="none" strike="noStrike" kern="1200" dirty="0" smtClean="0">
                <a:solidFill>
                  <a:schemeClr val="tx1"/>
                </a:solidFill>
                <a:effectLst/>
                <a:latin typeface="+mn-lt"/>
                <a:ea typeface="+mn-ea"/>
                <a:cs typeface="+mn-cs"/>
              </a:rPr>
              <a:t> </a:t>
            </a:r>
            <a:r>
              <a:rPr lang="en-US" dirty="0" smtClean="0">
                <a:effectLst/>
              </a:rPr>
              <a:t>So now not only did they move the sidebar, but they really have re-emphasized it.</a:t>
            </a:r>
            <a:r>
              <a:rPr lang="en-US" sz="1200" u="none" strike="noStrike" kern="1200" dirty="0" smtClean="0">
                <a:solidFill>
                  <a:schemeClr val="tx1"/>
                </a:solidFill>
                <a:effectLst/>
                <a:latin typeface="+mn-lt"/>
                <a:ea typeface="+mn-ea"/>
                <a:cs typeface="+mn-cs"/>
              </a:rPr>
              <a:t> </a:t>
            </a:r>
            <a:r>
              <a:rPr lang="en-US" dirty="0" smtClean="0">
                <a:effectLst/>
              </a:rPr>
              <a:t>So, one of the things that you can do with responsive layouts is to shift your layout design around so that it makes sense for the people who are looking at</a:t>
            </a:r>
            <a:r>
              <a:rPr lang="en-US" sz="1200" u="none" strike="noStrike" kern="1200" dirty="0" smtClean="0">
                <a:solidFill>
                  <a:schemeClr val="tx1"/>
                </a:solidFill>
                <a:effectLst/>
                <a:latin typeface="+mn-lt"/>
                <a:ea typeface="+mn-ea"/>
                <a:cs typeface="+mn-cs"/>
                <a:hlinkClick r:id="rId4"/>
              </a:rPr>
              <a:t> </a:t>
            </a:r>
            <a:r>
              <a:rPr lang="en-US" dirty="0" smtClean="0">
                <a:effectLst/>
              </a:rPr>
              <a:t>it in a particular  </a:t>
            </a:r>
            <a:endParaRPr lang="en-US" dirty="0" smtClean="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Notice even the image</a:t>
            </a:r>
            <a:r>
              <a:rPr lang="en-US" baseline="0" dirty="0" smtClean="0"/>
              <a:t> is replaced with an optimized out for smaller layouts. Switch from double to single layout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The term responsive web design and the philosophy behind it came from an article</a:t>
            </a:r>
            <a:r>
              <a:rPr lang="en-US" sz="1200" u="none" strike="noStrike" kern="1200" dirty="0" smtClean="0">
                <a:solidFill>
                  <a:schemeClr val="tx1"/>
                </a:solidFill>
                <a:effectLst/>
                <a:latin typeface="+mn-lt"/>
                <a:ea typeface="+mn-ea"/>
                <a:cs typeface="+mn-cs"/>
              </a:rPr>
              <a:t> </a:t>
            </a:r>
            <a:r>
              <a:rPr lang="en-US" dirty="0" smtClean="0">
                <a:effectLst/>
              </a:rPr>
              <a:t>in A List Apart written by Ethan </a:t>
            </a:r>
            <a:r>
              <a:rPr lang="en-US" dirty="0" err="1" smtClean="0">
                <a:effectLst/>
              </a:rPr>
              <a:t>Marcotte</a:t>
            </a:r>
            <a:r>
              <a:rPr lang="en-US" dirty="0" smtClean="0">
                <a:effectLst/>
              </a:rPr>
              <a:t>. Ethan is far more than a theoretician.</a:t>
            </a:r>
            <a:r>
              <a:rPr lang="en-US" sz="1200" u="none" strike="noStrike" kern="1200" dirty="0" smtClean="0">
                <a:solidFill>
                  <a:schemeClr val="tx1"/>
                </a:solidFill>
                <a:effectLst/>
                <a:latin typeface="+mn-lt"/>
                <a:ea typeface="+mn-ea"/>
                <a:cs typeface="+mn-cs"/>
              </a:rPr>
              <a:t> </a:t>
            </a:r>
            <a:r>
              <a:rPr lang="en-US" dirty="0" smtClean="0">
                <a:effectLst/>
              </a:rPr>
              <a:t>He was the primary consultant who worked with the Boston Globe on their redesign</a:t>
            </a:r>
            <a:r>
              <a:rPr lang="en-US" sz="1200" u="none" strike="noStrike" kern="1200" dirty="0" smtClean="0">
                <a:solidFill>
                  <a:schemeClr val="tx1"/>
                </a:solidFill>
                <a:effectLst/>
                <a:latin typeface="+mn-lt"/>
                <a:ea typeface="+mn-ea"/>
                <a:cs typeface="+mn-cs"/>
              </a:rPr>
              <a:t> </a:t>
            </a:r>
            <a:r>
              <a:rPr lang="en-US" dirty="0" smtClean="0">
                <a:effectLst/>
              </a:rPr>
              <a:t>hat we were just looking at.</a:t>
            </a:r>
          </a:p>
          <a:p>
            <a:endParaRPr lang="en-US" i="1" dirty="0" smtClean="0">
              <a:effectLst/>
            </a:endParaRPr>
          </a:p>
          <a:p>
            <a:r>
              <a:rPr lang="en-US" dirty="0" smtClean="0">
                <a:effectLst/>
              </a:rPr>
              <a:t>The primary takeaway is that responsive web design has two key components, fluid</a:t>
            </a:r>
            <a:r>
              <a:rPr lang="en-US" sz="1200" u="none" strike="noStrike" kern="1200" dirty="0" smtClean="0">
                <a:solidFill>
                  <a:schemeClr val="tx1"/>
                </a:solidFill>
                <a:effectLst/>
                <a:latin typeface="+mn-lt"/>
                <a:ea typeface="+mn-ea"/>
                <a:cs typeface="+mn-cs"/>
              </a:rPr>
              <a:t> </a:t>
            </a:r>
            <a:r>
              <a:rPr lang="en-US" dirty="0" smtClean="0">
                <a:effectLst/>
              </a:rPr>
              <a:t>grids and media queries.</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Fluid</a:t>
            </a:r>
            <a:r>
              <a:rPr lang="en-US" baseline="0" dirty="0" smtClean="0">
                <a:effectLst/>
              </a:rPr>
              <a:t> Grid Example</a:t>
            </a:r>
          </a:p>
          <a:p>
            <a:r>
              <a:rPr lang="en-US" dirty="0" smtClean="0">
                <a:effectLst/>
              </a:rPr>
              <a:t> that the first and last columns are confined to the width of a</a:t>
            </a:r>
            <a:r>
              <a:rPr lang="en-US" sz="1200" u="none" strike="noStrike" kern="1200" dirty="0" smtClean="0">
                <a:solidFill>
                  <a:schemeClr val="tx1"/>
                </a:solidFill>
                <a:effectLst/>
                <a:latin typeface="+mn-lt"/>
                <a:ea typeface="+mn-ea"/>
                <a:cs typeface="+mn-cs"/>
              </a:rPr>
              <a:t> s</a:t>
            </a:r>
            <a:r>
              <a:rPr lang="en-US" dirty="0" smtClean="0">
                <a:effectLst/>
              </a:rPr>
              <a:t>ingle column, while the main content in the center takes up the five columns.</a:t>
            </a:r>
            <a:r>
              <a:rPr lang="en-US" sz="1200" u="none" strike="noStrike" kern="1200" dirty="0" smtClean="0">
                <a:solidFill>
                  <a:schemeClr val="tx1"/>
                </a:solidFill>
                <a:effectLst/>
                <a:latin typeface="+mn-lt"/>
                <a:ea typeface="+mn-ea"/>
                <a:cs typeface="+mn-cs"/>
              </a:rPr>
              <a:t> T</a:t>
            </a:r>
            <a:r>
              <a:rPr lang="en-US" dirty="0" smtClean="0">
                <a:effectLst/>
              </a:rPr>
              <a:t>he other aspect of the grid, that's a bit obvious, but so important that I have</a:t>
            </a:r>
            <a:r>
              <a:rPr lang="en-US" sz="1200" u="none" strike="noStrike" kern="1200" dirty="0" smtClean="0">
                <a:solidFill>
                  <a:schemeClr val="tx1"/>
                </a:solidFill>
                <a:effectLst/>
                <a:latin typeface="+mn-lt"/>
                <a:ea typeface="+mn-ea"/>
                <a:cs typeface="+mn-cs"/>
              </a:rPr>
              <a:t> </a:t>
            </a:r>
            <a:r>
              <a:rPr lang="en-US" dirty="0" smtClean="0">
                <a:effectLst/>
              </a:rPr>
              <a:t>to mention is consistency.</a:t>
            </a:r>
            <a:r>
              <a:rPr lang="en-US" sz="1200" u="none" strike="noStrike" kern="1200" dirty="0" smtClean="0">
                <a:solidFill>
                  <a:schemeClr val="tx1"/>
                </a:solidFill>
                <a:effectLst/>
                <a:latin typeface="+mn-lt"/>
                <a:ea typeface="+mn-ea"/>
                <a:cs typeface="+mn-cs"/>
              </a:rPr>
              <a:t> </a:t>
            </a:r>
            <a:r>
              <a:rPr lang="en-US" dirty="0" smtClean="0">
                <a:effectLst/>
              </a:rPr>
              <a:t>Both the columns and the spaces between the columns, the margins, are a consistent</a:t>
            </a:r>
            <a:r>
              <a:rPr lang="en-US" sz="1200" u="none" strike="noStrike" kern="1200" dirty="0" smtClean="0">
                <a:solidFill>
                  <a:schemeClr val="tx1"/>
                </a:solidFill>
                <a:effectLst/>
                <a:latin typeface="+mn-lt"/>
                <a:ea typeface="+mn-ea"/>
                <a:cs typeface="+mn-cs"/>
              </a:rPr>
              <a:t> </a:t>
            </a:r>
            <a:r>
              <a:rPr lang="en-US" dirty="0" smtClean="0">
                <a:effectLst/>
              </a:rPr>
              <a:t>width across the page.</a:t>
            </a:r>
            <a:r>
              <a:rPr lang="en-US" sz="1200" u="none" strike="noStrike" kern="1200" dirty="0" smtClean="0">
                <a:solidFill>
                  <a:schemeClr val="tx1"/>
                </a:solidFill>
                <a:effectLst/>
                <a:latin typeface="+mn-lt"/>
                <a:ea typeface="+mn-ea"/>
                <a:cs typeface="+mn-cs"/>
              </a:rPr>
              <a:t> </a:t>
            </a:r>
            <a:r>
              <a:rPr lang="en-US" dirty="0" smtClean="0">
                <a:effectLst/>
              </a:rPr>
              <a:t>The width adjustment is handled through CSS, which uses percentages for a declared width.</a:t>
            </a:r>
            <a:r>
              <a:rPr lang="en-US" sz="1200" u="none" strike="noStrike" kern="1200" dirty="0" smtClean="0">
                <a:solidFill>
                  <a:schemeClr val="tx1"/>
                </a:solidFill>
                <a:effectLst/>
                <a:latin typeface="+mn-lt"/>
                <a:ea typeface="+mn-ea"/>
                <a:cs typeface="+mn-cs"/>
              </a:rPr>
              <a:t> </a:t>
            </a:r>
            <a:r>
              <a:rPr lang="en-US" dirty="0" smtClean="0">
                <a:effectLst/>
              </a:rPr>
              <a:t>Now there's a whole mathematical formula behind the concept of fluid grids.</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9</a:t>
            </a:fld>
            <a:endParaRPr lang="en-US"/>
          </a:p>
        </p:txBody>
      </p:sp>
    </p:spTree>
    <p:extLst>
      <p:ext uri="{BB962C8B-B14F-4D97-AF65-F5344CB8AC3E}">
        <p14:creationId xmlns:p14="http://schemas.microsoft.com/office/powerpoint/2010/main" val="4282177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Fluid</a:t>
            </a:r>
            <a:r>
              <a:rPr lang="en-US" baseline="0" dirty="0" smtClean="0">
                <a:effectLst/>
              </a:rPr>
              <a:t> Grid Example</a:t>
            </a:r>
          </a:p>
          <a:p>
            <a:endParaRPr lang="en-US" baseline="0" dirty="0" smtClean="0">
              <a:effectLst/>
            </a:endParaRPr>
          </a:p>
          <a:p>
            <a:r>
              <a:rPr lang="en-US" sz="1200" b="0" i="0" kern="1200" dirty="0" smtClean="0">
                <a:solidFill>
                  <a:schemeClr val="tx1"/>
                </a:solidFill>
                <a:effectLst/>
                <a:latin typeface="+mn-lt"/>
                <a:ea typeface="+mn-ea"/>
                <a:cs typeface="+mn-cs"/>
              </a:rPr>
              <a:t>Now notice that again when we resize the webpage</a:t>
            </a:r>
            <a:r>
              <a:rPr lang="en-US" sz="1200" b="0" i="0" kern="1200" baseline="0" dirty="0" smtClean="0">
                <a:solidFill>
                  <a:schemeClr val="tx1"/>
                </a:solidFill>
                <a:effectLst/>
                <a:latin typeface="+mn-lt"/>
                <a:ea typeface="+mn-ea"/>
                <a:cs typeface="+mn-cs"/>
              </a:rPr>
              <a:t> with the browser, </a:t>
            </a:r>
            <a:r>
              <a:rPr lang="en-US" sz="1200" b="0" i="0" kern="1200" dirty="0" smtClean="0">
                <a:solidFill>
                  <a:schemeClr val="tx1"/>
                </a:solidFill>
                <a:effectLst/>
                <a:latin typeface="+mn-lt"/>
                <a:ea typeface="+mn-ea"/>
                <a:cs typeface="+mn-cs"/>
              </a:rPr>
              <a:t>the columns are getting smaller, but they're maintaining the same proportions. </a:t>
            </a:r>
            <a:r>
              <a:rPr lang="en-US" dirty="0" smtClean="0">
                <a:effectLst/>
              </a:rPr>
              <a:t>Now if I continue to go in, you can see we start to get into problems, and</a:t>
            </a:r>
            <a:r>
              <a:rPr lang="en-US" sz="1200" u="none" strike="noStrike" kern="1200" dirty="0" smtClean="0">
                <a:solidFill>
                  <a:schemeClr val="tx1"/>
                </a:solidFill>
                <a:effectLst/>
                <a:latin typeface="+mn-lt"/>
                <a:ea typeface="+mn-ea"/>
                <a:cs typeface="+mn-cs"/>
              </a:rPr>
              <a:t> </a:t>
            </a:r>
            <a:r>
              <a:rPr lang="en-US" dirty="0" smtClean="0">
                <a:effectLst/>
              </a:rPr>
              <a:t>that's because this is just the fluid grid concept, this is not the other part</a:t>
            </a:r>
            <a:r>
              <a:rPr lang="en-US" sz="1200" u="none" strike="noStrike" kern="1200" dirty="0" smtClean="0">
                <a:solidFill>
                  <a:schemeClr val="tx1"/>
                </a:solidFill>
                <a:effectLst/>
                <a:latin typeface="+mn-lt"/>
                <a:ea typeface="+mn-ea"/>
                <a:cs typeface="+mn-cs"/>
              </a:rPr>
              <a:t> </a:t>
            </a:r>
            <a:r>
              <a:rPr lang="en-US" dirty="0" smtClean="0">
                <a:effectLst/>
              </a:rPr>
              <a:t>of responsive web design incorporated, but as a fluid grid, it does work very</a:t>
            </a:r>
            <a:r>
              <a:rPr lang="en-US" sz="1200" u="none" strike="noStrike" kern="1200" dirty="0" smtClean="0">
                <a:solidFill>
                  <a:schemeClr val="tx1"/>
                </a:solidFill>
                <a:effectLst/>
                <a:latin typeface="+mn-lt"/>
                <a:ea typeface="+mn-ea"/>
                <a:cs typeface="+mn-cs"/>
              </a:rPr>
              <a:t> </a:t>
            </a:r>
            <a:r>
              <a:rPr lang="en-US" dirty="0" smtClean="0">
                <a:effectLst/>
              </a:rPr>
              <a:t>well up to a certain point.</a:t>
            </a:r>
          </a:p>
          <a:p>
            <a:endParaRPr lang="en-US" i="1" dirty="0" smtClean="0">
              <a:effectLst/>
            </a:endParaRPr>
          </a:p>
          <a:p>
            <a:r>
              <a:rPr lang="en-US" dirty="0" smtClean="0">
                <a:hlinkClick r:id="rId3"/>
              </a:rPr>
              <a:t>http://www.alistapart.com/d/fluidgrids/examples/grid/final.html</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10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will find out more about</a:t>
            </a:r>
            <a:r>
              <a:rPr lang="en-US" baseline="0" dirty="0" smtClean="0"/>
              <a:t> fluid grids in the practical 4.</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12</a:t>
            </a:fld>
            <a:endParaRPr lang="en-US"/>
          </a:p>
        </p:txBody>
      </p:sp>
    </p:spTree>
    <p:extLst>
      <p:ext uri="{BB962C8B-B14F-4D97-AF65-F5344CB8AC3E}">
        <p14:creationId xmlns:p14="http://schemas.microsoft.com/office/powerpoint/2010/main" val="2499779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13</a:t>
            </a:fld>
            <a:endParaRPr lang="en-US"/>
          </a:p>
        </p:txBody>
      </p:sp>
    </p:spTree>
    <p:extLst>
      <p:ext uri="{BB962C8B-B14F-4D97-AF65-F5344CB8AC3E}">
        <p14:creationId xmlns:p14="http://schemas.microsoft.com/office/powerpoint/2010/main" val="1908920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A media query can be stated within a link to an external style sheet via the</a:t>
            </a:r>
            <a:r>
              <a:rPr lang="en-US" sz="1200" u="none" strike="noStrike" kern="1200" dirty="0" smtClean="0">
                <a:solidFill>
                  <a:schemeClr val="tx1"/>
                </a:solidFill>
                <a:effectLst/>
                <a:latin typeface="+mn-lt"/>
                <a:ea typeface="+mn-ea"/>
                <a:cs typeface="+mn-cs"/>
              </a:rPr>
              <a:t> </a:t>
            </a:r>
            <a:r>
              <a:rPr lang="en-US" dirty="0" smtClean="0">
                <a:effectLst/>
              </a:rPr>
              <a:t>media attribute, or it can be included in an @media rules.  They give you the power to create sites that--like the Boston Globe--present a</a:t>
            </a:r>
            <a:r>
              <a:rPr lang="en-US" sz="1200" u="none" strike="noStrike" kern="1200" dirty="0" smtClean="0">
                <a:solidFill>
                  <a:schemeClr val="tx1"/>
                </a:solidFill>
                <a:effectLst/>
                <a:latin typeface="+mn-lt"/>
                <a:ea typeface="+mn-ea"/>
                <a:cs typeface="+mn-cs"/>
              </a:rPr>
              <a:t> </a:t>
            </a:r>
            <a:r>
              <a:rPr lang="en-US" dirty="0" smtClean="0">
                <a:effectLst/>
              </a:rPr>
              <a:t>different layout for differently sized screens (and/or different devices).  </a:t>
            </a:r>
            <a:endParaRPr lang="en-US" i="1"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Defined in the CSS3 spec : </a:t>
            </a:r>
            <a:r>
              <a:rPr lang="en-US" dirty="0" smtClean="0"/>
              <a:t>A Media Query is a recognized value of the media attribute that allows specific CSS rules or external style sheets to be applied conditionally, like if the current device has a screen of a certain width.</a:t>
            </a:r>
          </a:p>
          <a:p>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16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You can, for example, start out with a basic Desktop design, and then you can</a:t>
            </a:r>
            <a:r>
              <a:rPr lang="en-US" sz="1200" u="none" strike="noStrike" kern="1200" dirty="0" smtClean="0">
                <a:solidFill>
                  <a:schemeClr val="tx1"/>
                </a:solidFill>
                <a:effectLst/>
                <a:latin typeface="+mn-lt"/>
                <a:ea typeface="+mn-ea"/>
                <a:cs typeface="+mn-cs"/>
              </a:rPr>
              <a:t> s</a:t>
            </a:r>
            <a:r>
              <a:rPr lang="en-US" dirty="0" smtClean="0">
                <a:effectLst/>
              </a:rPr>
              <a:t>et up one set of CSS rules that are applied if the width of the display</a:t>
            </a:r>
            <a:r>
              <a:rPr lang="en-US" sz="1200" u="none" strike="noStrike" kern="1200" dirty="0" smtClean="0">
                <a:solidFill>
                  <a:schemeClr val="tx1"/>
                </a:solidFill>
                <a:effectLst/>
                <a:latin typeface="+mn-lt"/>
                <a:ea typeface="+mn-ea"/>
                <a:cs typeface="+mn-cs"/>
              </a:rPr>
              <a:t> s</a:t>
            </a:r>
            <a:r>
              <a:rPr lang="en-US" dirty="0" smtClean="0">
                <a:effectLst/>
              </a:rPr>
              <a:t>creen is at a minimum 768 pixels, like an </a:t>
            </a:r>
            <a:r>
              <a:rPr lang="en-US" dirty="0" err="1" smtClean="0">
                <a:effectLst/>
              </a:rPr>
              <a:t>iPad</a:t>
            </a:r>
            <a:r>
              <a:rPr lang="en-US" dirty="0" smtClean="0">
                <a:effectLst/>
              </a:rPr>
              <a:t> or other Tablet, and establish</a:t>
            </a:r>
            <a:r>
              <a:rPr lang="en-US" sz="1200" u="none" strike="noStrike" kern="1200" dirty="0" smtClean="0">
                <a:solidFill>
                  <a:schemeClr val="tx1"/>
                </a:solidFill>
                <a:effectLst/>
                <a:latin typeface="+mn-lt"/>
                <a:ea typeface="+mn-ea"/>
                <a:cs typeface="+mn-cs"/>
              </a:rPr>
              <a:t> </a:t>
            </a:r>
            <a:r>
              <a:rPr lang="en-US" dirty="0" smtClean="0">
                <a:effectLst/>
              </a:rPr>
              <a:t>another set of CSS rules that kick in when the screen is at least 320 pixels, like an iPhone. </a:t>
            </a:r>
            <a:r>
              <a:rPr lang="en-US" sz="1200" b="0" i="0" kern="1200" dirty="0" smtClean="0">
                <a:solidFill>
                  <a:schemeClr val="tx1"/>
                </a:solidFill>
                <a:effectLst/>
                <a:latin typeface="+mn-lt"/>
                <a:ea typeface="+mn-ea"/>
                <a:cs typeface="+mn-cs"/>
              </a:rPr>
              <a:t>There is no limit to the number of Media Queries you can establish, that's totally up to you.</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17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First</a:t>
            </a:r>
            <a:r>
              <a:rPr lang="en-US" i="1" baseline="0" dirty="0" smtClean="0"/>
              <a:t> </a:t>
            </a:r>
            <a:r>
              <a:rPr lang="en-US" i="1" baseline="0" dirty="0" err="1" smtClean="0"/>
              <a:t>imaage</a:t>
            </a:r>
            <a:r>
              <a:rPr lang="en-US" i="1" baseline="0" dirty="0" smtClean="0"/>
              <a:t> – desktop view.</a:t>
            </a:r>
          </a:p>
          <a:p>
            <a:r>
              <a:rPr lang="en-US" i="1" baseline="0" dirty="0" smtClean="0"/>
              <a:t>Second image – small devices/mobile device view</a:t>
            </a:r>
          </a:p>
          <a:p>
            <a:endParaRPr lang="en-US" i="1" baseline="0" dirty="0" smtClean="0"/>
          </a:p>
          <a:p>
            <a:r>
              <a:rPr lang="en-US" i="1" dirty="0" smtClean="0"/>
              <a:t>Notice</a:t>
            </a:r>
            <a:r>
              <a:rPr lang="en-US" i="1" baseline="0" dirty="0" smtClean="0"/>
              <a:t> in the menu – Conference/Workshops/location is different for  different platforms</a:t>
            </a:r>
          </a:p>
          <a:p>
            <a:r>
              <a:rPr lang="en-US" i="1" baseline="0" dirty="0" smtClean="0"/>
              <a:t>This can be done through CSS</a:t>
            </a:r>
          </a:p>
          <a:p>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18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Here's the code to pull in a style sheet for standard Tablet.</a:t>
            </a:r>
            <a:r>
              <a:rPr lang="en-US" sz="1200" u="none" strike="noStrike" kern="1200" dirty="0" smtClean="0">
                <a:solidFill>
                  <a:schemeClr val="tx1"/>
                </a:solidFill>
                <a:effectLst/>
                <a:latin typeface="+mn-lt"/>
                <a:ea typeface="+mn-ea"/>
                <a:cs typeface="+mn-cs"/>
              </a:rPr>
              <a:t> </a:t>
            </a:r>
            <a:r>
              <a:rPr lang="en-US" dirty="0" smtClean="0">
                <a:effectLst/>
              </a:rPr>
              <a:t>Note the min-width and max-width name value pairs within the media attribute. The min-width and max-width properties are supported across all modern browsers</a:t>
            </a:r>
            <a:r>
              <a:rPr lang="en-US" sz="1200" u="none" strike="noStrike" kern="1200" dirty="0" smtClean="0">
                <a:solidFill>
                  <a:schemeClr val="tx1"/>
                </a:solidFill>
                <a:effectLst/>
                <a:latin typeface="+mn-lt"/>
                <a:ea typeface="+mn-ea"/>
                <a:cs typeface="+mn-cs"/>
              </a:rPr>
              <a:t> </a:t>
            </a:r>
            <a:r>
              <a:rPr lang="en-US" dirty="0" smtClean="0">
                <a:effectLst/>
              </a:rPr>
              <a:t>that you'll find on Mobile devices.</a:t>
            </a:r>
            <a:r>
              <a:rPr lang="en-US" sz="1200" u="none" strike="noStrike" kern="1200" dirty="0" smtClean="0">
                <a:solidFill>
                  <a:schemeClr val="tx1"/>
                </a:solidFill>
                <a:effectLst/>
                <a:latin typeface="+mn-lt"/>
                <a:ea typeface="+mn-ea"/>
                <a:cs typeface="+mn-cs"/>
              </a:rPr>
              <a:t> </a:t>
            </a:r>
            <a:r>
              <a:rPr lang="en-US" dirty="0" smtClean="0">
                <a:effectLst/>
              </a:rPr>
              <a:t>There are other conditional media attributes, like orientation, as well.</a:t>
            </a:r>
            <a:r>
              <a:rPr lang="en-US" sz="1200" u="none" strike="noStrike" kern="1200" dirty="0" smtClean="0">
                <a:solidFill>
                  <a:schemeClr val="tx1"/>
                </a:solidFill>
                <a:effectLst/>
                <a:latin typeface="+mn-lt"/>
                <a:ea typeface="+mn-ea"/>
                <a:cs typeface="+mn-cs"/>
              </a:rPr>
              <a:t> </a:t>
            </a:r>
            <a:r>
              <a:rPr lang="en-US" dirty="0" smtClean="0">
                <a:effectLst/>
              </a:rPr>
              <a:t>You don't always have to work with external </a:t>
            </a:r>
            <a:r>
              <a:rPr lang="en-US" dirty="0" err="1" smtClean="0">
                <a:effectLst/>
              </a:rPr>
              <a:t>stylesheets</a:t>
            </a:r>
            <a:r>
              <a:rPr lang="en-US" dirty="0" smtClean="0">
                <a:effectLst/>
              </a:rPr>
              <a:t>. </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19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Using the @media rule</a:t>
            </a:r>
            <a:r>
              <a:rPr lang="en-US" sz="1200" u="none" strike="noStrike" kern="1200" dirty="0" smtClean="0">
                <a:solidFill>
                  <a:schemeClr val="tx1"/>
                </a:solidFill>
                <a:effectLst/>
                <a:latin typeface="+mn-lt"/>
                <a:ea typeface="+mn-ea"/>
                <a:cs typeface="+mn-cs"/>
              </a:rPr>
              <a:t> </a:t>
            </a:r>
            <a:r>
              <a:rPr lang="en-US" dirty="0" smtClean="0">
                <a:effectLst/>
              </a:rPr>
              <a:t>you can conditionally apply properties and values.</a:t>
            </a:r>
            <a:r>
              <a:rPr lang="en-US" sz="1200" u="none" strike="noStrike" kern="1200" dirty="0" smtClean="0">
                <a:solidFill>
                  <a:schemeClr val="tx1"/>
                </a:solidFill>
                <a:effectLst/>
                <a:latin typeface="+mn-lt"/>
                <a:ea typeface="+mn-ea"/>
                <a:cs typeface="+mn-cs"/>
              </a:rPr>
              <a:t> </a:t>
            </a:r>
            <a:r>
              <a:rPr lang="en-US" dirty="0" smtClean="0">
                <a:effectLst/>
              </a:rPr>
              <a:t>Here's the code for adding styles to a small size screen in an @media rule, and</a:t>
            </a:r>
            <a:r>
              <a:rPr lang="en-US" sz="1200" u="none" strike="noStrike" kern="1200" dirty="0" smtClean="0">
                <a:solidFill>
                  <a:schemeClr val="tx1"/>
                </a:solidFill>
                <a:effectLst/>
                <a:latin typeface="+mn-lt"/>
                <a:ea typeface="+mn-ea"/>
                <a:cs typeface="+mn-cs"/>
              </a:rPr>
              <a:t> </a:t>
            </a:r>
            <a:r>
              <a:rPr lang="en-US" dirty="0" smtClean="0">
                <a:effectLst/>
              </a:rPr>
              <a:t>finally, you should keep in mind that Media Queries can be used for many things,</a:t>
            </a:r>
            <a:r>
              <a:rPr lang="en-US" sz="1200" u="none" strike="noStrike" kern="1200" dirty="0" smtClean="0">
                <a:solidFill>
                  <a:schemeClr val="tx1"/>
                </a:solidFill>
                <a:effectLst/>
                <a:latin typeface="+mn-lt"/>
                <a:ea typeface="+mn-ea"/>
                <a:cs typeface="+mn-cs"/>
              </a:rPr>
              <a:t> n</a:t>
            </a:r>
            <a:r>
              <a:rPr lang="en-US" dirty="0" smtClean="0">
                <a:effectLst/>
              </a:rPr>
              <a:t>ot just overall page layout.</a:t>
            </a:r>
            <a:endParaRPr lang="en-US" i="1" dirty="0" smtClean="0"/>
          </a:p>
          <a:p>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20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 </a:t>
            </a:r>
            <a:endParaRPr lang="en-US" i="1" dirty="0" smtClean="0"/>
          </a:p>
          <a:p>
            <a:r>
              <a:rPr lang="en-US" dirty="0" smtClean="0">
                <a:effectLst/>
              </a:rPr>
              <a:t>If we take a look at the Source Code here, we can see that designer Mark </a:t>
            </a:r>
            <a:r>
              <a:rPr lang="en-US" dirty="0" err="1" smtClean="0">
                <a:effectLst/>
              </a:rPr>
              <a:t>Hurrell</a:t>
            </a:r>
            <a:r>
              <a:rPr lang="en-US" sz="1200" u="none" strike="noStrike" kern="1200" dirty="0" smtClean="0">
                <a:solidFill>
                  <a:schemeClr val="tx1"/>
                </a:solidFill>
                <a:effectLst/>
                <a:latin typeface="+mn-lt"/>
                <a:ea typeface="+mn-ea"/>
                <a:cs typeface="+mn-cs"/>
              </a:rPr>
              <a:t> </a:t>
            </a:r>
            <a:r>
              <a:rPr lang="en-US" dirty="0" smtClean="0">
                <a:effectLst/>
              </a:rPr>
              <a:t>used nine different Media Queries in order to address the text sizing issues</a:t>
            </a:r>
            <a:r>
              <a:rPr lang="en-US" sz="1200" u="none" strike="noStrike" kern="1200" dirty="0" smtClean="0">
                <a:solidFill>
                  <a:schemeClr val="tx1"/>
                </a:solidFill>
                <a:effectLst/>
                <a:latin typeface="+mn-lt"/>
                <a:ea typeface="+mn-ea"/>
                <a:cs typeface="+mn-cs"/>
              </a:rPr>
              <a:t> </a:t>
            </a:r>
            <a:r>
              <a:rPr lang="en-US" dirty="0" smtClean="0">
                <a:effectLst/>
              </a:rPr>
              <a:t>that I just showed you.</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21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 </a:t>
            </a:r>
            <a:endParaRPr lang="en-US" i="1" dirty="0" smtClean="0"/>
          </a:p>
          <a:p>
            <a:r>
              <a:rPr lang="en-US" dirty="0" smtClean="0">
                <a:effectLst/>
              </a:rPr>
              <a:t> </a:t>
            </a:r>
            <a:endParaRPr lang="en-US" i="1" dirty="0"/>
          </a:p>
        </p:txBody>
      </p:sp>
      <p:sp>
        <p:nvSpPr>
          <p:cNvPr id="4" name="Slide Number Placeholder 3"/>
          <p:cNvSpPr>
            <a:spLocks noGrp="1"/>
          </p:cNvSpPr>
          <p:nvPr>
            <p:ph type="sldNum" sz="quarter" idx="10"/>
          </p:nvPr>
        </p:nvSpPr>
        <p:spPr/>
        <p:txBody>
          <a:bodyPr/>
          <a:lstStyle/>
          <a:p>
            <a:fld id="{833B95CB-9792-46B1-8B63-E325EA9DE95B}" type="slidenum">
              <a:rPr lang="en-US" smtClean="0"/>
              <a:t>22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some</a:t>
            </a:r>
            <a:r>
              <a:rPr lang="en-US" baseline="0" dirty="0" smtClean="0"/>
              <a:t> examples of media queries for different devices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23</a:t>
            </a:fld>
            <a:endParaRPr lang="en-US"/>
          </a:p>
        </p:txBody>
      </p:sp>
    </p:spTree>
    <p:extLst>
      <p:ext uri="{BB962C8B-B14F-4D97-AF65-F5344CB8AC3E}">
        <p14:creationId xmlns:p14="http://schemas.microsoft.com/office/powerpoint/2010/main" val="506651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t>25</a:t>
            </a:fld>
            <a:endParaRPr lang="en-US"/>
          </a:p>
        </p:txBody>
      </p:sp>
    </p:spTree>
    <p:extLst>
      <p:ext uri="{BB962C8B-B14F-4D97-AF65-F5344CB8AC3E}">
        <p14:creationId xmlns:p14="http://schemas.microsoft.com/office/powerpoint/2010/main" val="367932094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cid:image002.jpg@01CD5B5F.D3AC7D50" TargetMode="Externa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gif"/><Relationship Id="rId4"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pic>
        <p:nvPicPr>
          <p:cNvPr id="7" name="Picture 6" descr="cid:image002.jpg@01CD5B5F.D3AC7D50"/>
          <p:cNvPicPr/>
          <p:nvPr userDrawn="1"/>
        </p:nvPicPr>
        <p:blipFill>
          <a:blip r:embed="rId4" r:link="rId5">
            <a:extLst>
              <a:ext uri="{28A0092B-C50C-407E-A947-70E740481C1C}">
                <a14:useLocalDpi xmlns:a14="http://schemas.microsoft.com/office/drawing/2010/main" val="0"/>
              </a:ext>
            </a:extLst>
          </a:blip>
          <a:srcRect/>
          <a:stretch>
            <a:fillRect/>
          </a:stretch>
        </p:blipFill>
        <p:spPr bwMode="auto">
          <a:xfrm>
            <a:off x="609600" y="5950974"/>
            <a:ext cx="1533525" cy="449580"/>
          </a:xfrm>
          <a:prstGeom prst="rect">
            <a:avLst/>
          </a:prstGeom>
          <a:noFill/>
          <a:ln>
            <a:noFill/>
          </a:ln>
        </p:spPr>
      </p:pic>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22881159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143000" y="1295400"/>
            <a:ext cx="7467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219200" y="1295400"/>
            <a:ext cx="76200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95400" y="1295400"/>
            <a:ext cx="76962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16">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iming>
    <p:tnLst>
      <p:par>
        <p:cTn id="1" dur="indefinite" restart="never" nodeType="tmRoot"/>
      </p:par>
    </p:tnLst>
  </p:timing>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jiqugSFUddQ"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bostonglobe.com/" TargetMode="Externa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templated.co/" TargetMode="External"/><Relationship Id="rId2" Type="http://schemas.openxmlformats.org/officeDocument/2006/relationships/hyperlink" Target="https://html5up.net/" TargetMode="Externa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56408" y="3288030"/>
            <a:ext cx="7467600" cy="1752600"/>
          </a:xfrm>
        </p:spPr>
        <p:txBody>
          <a:bodyPr/>
          <a:lstStyle/>
          <a:p>
            <a:r>
              <a:rPr lang="en-US" dirty="0" smtClean="0"/>
              <a:t>Responsive designs – using Fluid Grids and Media Queries</a:t>
            </a:r>
          </a:p>
          <a:p>
            <a:endParaRPr lang="en-US" dirty="0"/>
          </a:p>
        </p:txBody>
      </p:sp>
      <p:sp>
        <p:nvSpPr>
          <p:cNvPr id="4" name="Title 1"/>
          <p:cNvSpPr txBox="1">
            <a:spLocks/>
          </p:cNvSpPr>
          <p:nvPr/>
        </p:nvSpPr>
        <p:spPr>
          <a:xfrm>
            <a:off x="689610" y="2366963"/>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6000" b="1" kern="1200">
                <a:solidFill>
                  <a:schemeClr val="bg1"/>
                </a:solidFill>
                <a:latin typeface="+mj-lt"/>
                <a:ea typeface="+mj-ea"/>
                <a:cs typeface="+mj-cs"/>
              </a:defRPr>
            </a:lvl1pPr>
          </a:lstStyle>
          <a:p>
            <a:r>
              <a:rPr lang="en-US" sz="3600" dirty="0" smtClean="0">
                <a:solidFill>
                  <a:schemeClr val="tx1"/>
                </a:solidFill>
              </a:rPr>
              <a:t>Exploring Web Responsiveness</a:t>
            </a:r>
            <a:endParaRPr lang="en-US" sz="3600" dirty="0">
              <a:solidFill>
                <a:schemeClr val="tx1"/>
              </a:solidFill>
            </a:endParaRPr>
          </a:p>
        </p:txBody>
      </p:sp>
      <p:pic>
        <p:nvPicPr>
          <p:cNvPr id="5" name="Picture 2" descr="http://4.bp.blogspot.com/-qFCNef4gmmk/TwPbWT49DuI/AAAAAAAAAOc/ytx0uCWKfls/s320/HTML5_Logo_5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6764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27710" y="-34290"/>
            <a:ext cx="7467600" cy="1755775"/>
          </a:xfrm>
        </p:spPr>
        <p:txBody>
          <a:bodyPr/>
          <a:lstStyle/>
          <a:p>
            <a:r>
              <a:rPr lang="en-US" sz="1800" dirty="0" smtClean="0"/>
              <a:t>Training </a:t>
            </a:r>
            <a:r>
              <a:rPr lang="en-US" sz="1800" dirty="0"/>
              <a:t>of Trainers Program (Bangladesh TVET</a:t>
            </a:r>
            <a:r>
              <a:rPr lang="en-US" sz="1800" dirty="0" smtClean="0"/>
              <a:t>)</a:t>
            </a:r>
            <a:endParaRPr lang="en-US" sz="1800" dirty="0"/>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the web build on?</a:t>
            </a:r>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t>2</a:t>
            </a:fld>
            <a:endParaRPr lang="en-US"/>
          </a:p>
        </p:txBody>
      </p:sp>
      <p:sp>
        <p:nvSpPr>
          <p:cNvPr id="7" name="TextBox 6"/>
          <p:cNvSpPr txBox="1"/>
          <p:nvPr/>
        </p:nvSpPr>
        <p:spPr>
          <a:xfrm>
            <a:off x="624384" y="5732064"/>
            <a:ext cx="8119852" cy="861774"/>
          </a:xfrm>
          <a:prstGeom prst="rect">
            <a:avLst/>
          </a:prstGeom>
          <a:noFill/>
        </p:spPr>
        <p:txBody>
          <a:bodyPr wrap="none" rtlCol="0">
            <a:spAutoFit/>
          </a:bodyPr>
          <a:lstStyle/>
          <a:p>
            <a:r>
              <a:rPr lang="en-US" sz="1600" dirty="0" smtClean="0"/>
              <a:t>Typically, the web is build with the help of many tools, frameworks and languages</a:t>
            </a:r>
          </a:p>
          <a:p>
            <a:r>
              <a:rPr lang="en-US" sz="1600" dirty="0" smtClean="0"/>
              <a:t>Below is a link of these resources: </a:t>
            </a:r>
            <a:r>
              <a:rPr lang="en-US" sz="1600" dirty="0"/>
              <a:t>http://codecondo.com/15-fantastic-web-development-tools/</a:t>
            </a:r>
          </a:p>
          <a:p>
            <a:endParaRPr lang="en-US" sz="1600" dirty="0"/>
          </a:p>
        </p:txBody>
      </p:sp>
      <p:pic>
        <p:nvPicPr>
          <p:cNvPr id="8" name="Picture 7"/>
          <p:cNvPicPr>
            <a:picLocks noChangeAspect="1"/>
          </p:cNvPicPr>
          <p:nvPr/>
        </p:nvPicPr>
        <p:blipFill>
          <a:blip r:embed="rId3"/>
          <a:stretch>
            <a:fillRect/>
          </a:stretch>
        </p:blipFill>
        <p:spPr>
          <a:xfrm>
            <a:off x="1001860" y="1408477"/>
            <a:ext cx="6255649" cy="4142923"/>
          </a:xfrm>
          <a:prstGeom prst="rect">
            <a:avLst/>
          </a:prstGeom>
        </p:spPr>
      </p:pic>
    </p:spTree>
    <p:extLst>
      <p:ext uri="{BB962C8B-B14F-4D97-AF65-F5344CB8AC3E}">
        <p14:creationId xmlns:p14="http://schemas.microsoft.com/office/powerpoint/2010/main" val="1688367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6620" y="1295399"/>
            <a:ext cx="7395380" cy="5197475"/>
          </a:xfrm>
        </p:spPr>
        <p:txBody>
          <a:bodyPr>
            <a:normAutofit fontScale="92500" lnSpcReduction="10000"/>
          </a:bodyPr>
          <a:lstStyle/>
          <a:p>
            <a:r>
              <a:rPr lang="en-US" dirty="0" smtClean="0"/>
              <a:t>For our purpose to teach responsive design, we will narrow down to basic building blocks of the web:</a:t>
            </a:r>
          </a:p>
          <a:p>
            <a:r>
              <a:rPr lang="en-US" dirty="0" smtClean="0"/>
              <a:t>HTML5  </a:t>
            </a:r>
          </a:p>
          <a:p>
            <a:r>
              <a:rPr lang="en-US" dirty="0" smtClean="0"/>
              <a:t>CSS3 </a:t>
            </a:r>
          </a:p>
          <a:p>
            <a:endParaRPr lang="en-US" dirty="0"/>
          </a:p>
          <a:p>
            <a:endParaRPr lang="en-US" dirty="0" smtClean="0"/>
          </a:p>
          <a:p>
            <a:endParaRPr lang="en-US" dirty="0" smtClean="0"/>
          </a:p>
          <a:p>
            <a:r>
              <a:rPr lang="en-US" dirty="0" smtClean="0"/>
              <a:t>These are essential to create responsive websites. </a:t>
            </a:r>
          </a:p>
          <a:p>
            <a:r>
              <a:rPr lang="en-US" dirty="0" smtClean="0"/>
              <a:t>Tools such as </a:t>
            </a:r>
            <a:r>
              <a:rPr lang="en-US" dirty="0" err="1" smtClean="0"/>
              <a:t>Javascripts,Bootstraps</a:t>
            </a:r>
            <a:r>
              <a:rPr lang="en-US" dirty="0" smtClean="0"/>
              <a:t>, Templates , Boilerplates, Frameworks help to make web development more organized and simpler. </a:t>
            </a:r>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t>3</a:t>
            </a:fld>
            <a:endParaRPr lang="en-US"/>
          </a:p>
        </p:txBody>
      </p:sp>
      <p:pic>
        <p:nvPicPr>
          <p:cNvPr id="5" name="Picture 4"/>
          <p:cNvPicPr>
            <a:picLocks noChangeAspect="1"/>
          </p:cNvPicPr>
          <p:nvPr/>
        </p:nvPicPr>
        <p:blipFill>
          <a:blip r:embed="rId3"/>
          <a:stretch>
            <a:fillRect/>
          </a:stretch>
        </p:blipFill>
        <p:spPr>
          <a:xfrm>
            <a:off x="3733800" y="2209800"/>
            <a:ext cx="4267200" cy="2409269"/>
          </a:xfrm>
          <a:prstGeom prst="rect">
            <a:avLst/>
          </a:prstGeom>
        </p:spPr>
      </p:pic>
      <p:sp>
        <p:nvSpPr>
          <p:cNvPr id="6" name="Title 1"/>
          <p:cNvSpPr>
            <a:spLocks noGrp="1"/>
          </p:cNvSpPr>
          <p:nvPr>
            <p:ph type="title"/>
          </p:nvPr>
        </p:nvSpPr>
        <p:spPr/>
        <p:txBody>
          <a:bodyPr>
            <a:noAutofit/>
          </a:bodyPr>
          <a:lstStyle/>
          <a:p>
            <a:r>
              <a:rPr lang="en-US" sz="3600" dirty="0"/>
              <a:t>What is the web build on?</a:t>
            </a:r>
            <a:endParaRPr lang="en-US" sz="3600" dirty="0"/>
          </a:p>
        </p:txBody>
      </p:sp>
    </p:spTree>
    <p:extLst>
      <p:ext uri="{BB962C8B-B14F-4D97-AF65-F5344CB8AC3E}">
        <p14:creationId xmlns:p14="http://schemas.microsoft.com/office/powerpoint/2010/main" val="2327977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838200" y="2133600"/>
            <a:ext cx="7467600" cy="1752600"/>
          </a:xfrm>
        </p:spPr>
        <p:txBody>
          <a:bodyPr>
            <a:normAutofit fontScale="92500" lnSpcReduction="20000"/>
          </a:bodyPr>
          <a:lstStyle/>
          <a:p>
            <a:r>
              <a:rPr lang="en-US" b="1" dirty="0" smtClean="0"/>
              <a:t>Current problem </a:t>
            </a:r>
            <a:r>
              <a:rPr lang="en-US" dirty="0" smtClean="0"/>
              <a:t>with web design </a:t>
            </a:r>
          </a:p>
          <a:p>
            <a:r>
              <a:rPr lang="en-US" dirty="0"/>
              <a:t>-</a:t>
            </a:r>
            <a:r>
              <a:rPr lang="en-US" dirty="0" smtClean="0"/>
              <a:t> </a:t>
            </a:r>
            <a:r>
              <a:rPr lang="en-US" dirty="0" smtClean="0"/>
              <a:t>many devices, different </a:t>
            </a:r>
            <a:r>
              <a:rPr lang="en-US" dirty="0" smtClean="0"/>
              <a:t>layouts</a:t>
            </a:r>
          </a:p>
          <a:p>
            <a:r>
              <a:rPr lang="en-US" b="1" dirty="0" smtClean="0"/>
              <a:t>Solution</a:t>
            </a:r>
          </a:p>
          <a:p>
            <a:r>
              <a:rPr lang="en-US" dirty="0" smtClean="0"/>
              <a:t>- Create a </a:t>
            </a:r>
            <a:r>
              <a:rPr lang="en-US" b="1" dirty="0" smtClean="0"/>
              <a:t>responsive design website</a:t>
            </a:r>
            <a:endParaRPr lang="en-US" b="1" dirty="0" smtClean="0"/>
          </a:p>
          <a:p>
            <a:endParaRPr lang="en-US"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6000" b="1" kern="1200">
                <a:solidFill>
                  <a:schemeClr val="bg1"/>
                </a:solidFill>
                <a:latin typeface="+mj-lt"/>
                <a:ea typeface="+mj-ea"/>
                <a:cs typeface="+mj-cs"/>
              </a:defRPr>
            </a:lvl1pPr>
          </a:lstStyle>
          <a:p>
            <a:r>
              <a:rPr lang="en-US" sz="3600" dirty="0"/>
              <a:t>Exploring Web Responsiveness</a:t>
            </a:r>
          </a:p>
        </p:txBody>
      </p:sp>
      <p:sp>
        <p:nvSpPr>
          <p:cNvPr id="7" name="Rectangle 6"/>
          <p:cNvSpPr/>
          <p:nvPr/>
        </p:nvSpPr>
        <p:spPr>
          <a:xfrm>
            <a:off x="826770" y="4612759"/>
            <a:ext cx="5199181" cy="369332"/>
          </a:xfrm>
          <a:prstGeom prst="rect">
            <a:avLst/>
          </a:prstGeom>
        </p:spPr>
        <p:txBody>
          <a:bodyPr wrap="square">
            <a:spAutoFit/>
          </a:bodyPr>
          <a:lstStyle/>
          <a:p>
            <a:pPr>
              <a:spcAft>
                <a:spcPts val="1000"/>
              </a:spcAft>
            </a:pPr>
            <a:r>
              <a:rPr lang="en-US" dirty="0">
                <a:hlinkClick r:id="rId3"/>
              </a:rPr>
              <a:t>https://www.youtube.com/watch?v=jiqugSFUddQ</a:t>
            </a:r>
            <a:endParaRPr lang="en-US" dirty="0"/>
          </a:p>
        </p:txBody>
      </p:sp>
      <p:sp>
        <p:nvSpPr>
          <p:cNvPr id="8" name="TextBox 7"/>
          <p:cNvSpPr txBox="1"/>
          <p:nvPr/>
        </p:nvSpPr>
        <p:spPr>
          <a:xfrm>
            <a:off x="845820" y="4243427"/>
            <a:ext cx="3874074" cy="369332"/>
          </a:xfrm>
          <a:prstGeom prst="rect">
            <a:avLst/>
          </a:prstGeom>
          <a:noFill/>
        </p:spPr>
        <p:txBody>
          <a:bodyPr wrap="none" rtlCol="0">
            <a:spAutoFit/>
          </a:bodyPr>
          <a:lstStyle/>
          <a:p>
            <a:r>
              <a:rPr lang="en-US" b="1" dirty="0" smtClean="0"/>
              <a:t>Responsive Design Explained in 1 min :</a:t>
            </a:r>
            <a:endParaRPr lang="en-US" b="1" dirty="0"/>
          </a:p>
        </p:txBody>
      </p:sp>
    </p:spTree>
    <p:extLst>
      <p:ext uri="{BB962C8B-B14F-4D97-AF65-F5344CB8AC3E}">
        <p14:creationId xmlns:p14="http://schemas.microsoft.com/office/powerpoint/2010/main" val="31580696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Exploring Web Responsiveness</a:t>
            </a:r>
          </a:p>
        </p:txBody>
      </p:sp>
      <p:sp>
        <p:nvSpPr>
          <p:cNvPr id="3" name="Content Placeholder 2"/>
          <p:cNvSpPr>
            <a:spLocks noGrp="1"/>
          </p:cNvSpPr>
          <p:nvPr>
            <p:ph idx="1"/>
          </p:nvPr>
        </p:nvSpPr>
        <p:spPr>
          <a:xfrm>
            <a:off x="1000474" y="1828800"/>
            <a:ext cx="7395380" cy="2667000"/>
          </a:xfrm>
        </p:spPr>
        <p:txBody>
          <a:bodyPr>
            <a:noAutofit/>
          </a:bodyPr>
          <a:lstStyle/>
          <a:p>
            <a:pPr>
              <a:spcAft>
                <a:spcPts val="1000"/>
              </a:spcAft>
            </a:pPr>
            <a:r>
              <a:rPr lang="en-US" sz="3200" dirty="0" smtClean="0"/>
              <a:t>Example:</a:t>
            </a:r>
          </a:p>
          <a:p>
            <a:pPr>
              <a:spcAft>
                <a:spcPts val="1000"/>
              </a:spcAft>
            </a:pPr>
            <a:endParaRPr lang="en-US" sz="3200" dirty="0" smtClean="0"/>
          </a:p>
        </p:txBody>
      </p:sp>
      <p:pic>
        <p:nvPicPr>
          <p:cNvPr id="1027" name="Picture 3" descr="C:\Users\Owner\Desktop\ScreenHunter_83 Oct. 03 16.4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9204" y="1600201"/>
            <a:ext cx="1857919" cy="3483040"/>
          </a:xfrm>
          <a:prstGeom prst="rect">
            <a:avLst/>
          </a:prstGeom>
          <a:noFill/>
          <a:effectLst>
            <a:outerShdw blurRad="50800" dist="38100" dir="2700000" sx="102000" sy="102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t>5</a:t>
            </a:fld>
            <a:endParaRPr lang="en-US"/>
          </a:p>
        </p:txBody>
      </p:sp>
      <p:pic>
        <p:nvPicPr>
          <p:cNvPr id="1028" name="Picture 4" descr="C:\Users\Owner\Desktop\ScreenHunter_84 Oct. 03 16.5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 y="1600201"/>
            <a:ext cx="2637722" cy="2895600"/>
          </a:xfrm>
          <a:prstGeom prst="rect">
            <a:avLst/>
          </a:prstGeom>
          <a:noFill/>
          <a:effectLst>
            <a:outerShdw blurRad="50800" dist="50800" dir="5400000" sx="106000" sy="106000" algn="ctr" rotWithShape="0">
              <a:schemeClr val="tx1">
                <a:alpha val="40000"/>
              </a:schemeClr>
            </a:outerShdw>
          </a:effectLst>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00473" y="5943600"/>
            <a:ext cx="3847976" cy="369332"/>
          </a:xfrm>
          <a:prstGeom prst="rect">
            <a:avLst/>
          </a:prstGeom>
          <a:noFill/>
        </p:spPr>
        <p:txBody>
          <a:bodyPr wrap="none" rtlCol="0">
            <a:spAutoFit/>
          </a:bodyPr>
          <a:lstStyle/>
          <a:p>
            <a:r>
              <a:rPr lang="en-US" dirty="0" smtClean="0"/>
              <a:t>Example site:  </a:t>
            </a:r>
            <a:r>
              <a:rPr lang="en-US" dirty="0">
                <a:hlinkClick r:id="rId5"/>
              </a:rPr>
              <a:t>http://bostonglobe.com</a:t>
            </a:r>
            <a:r>
              <a:rPr lang="en-US" dirty="0"/>
              <a:t> </a:t>
            </a: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Exploring Web Responsiveness</a:t>
            </a:r>
          </a:p>
        </p:txBody>
      </p:sp>
      <p:sp>
        <p:nvSpPr>
          <p:cNvPr id="3" name="Content Placeholder 2"/>
          <p:cNvSpPr>
            <a:spLocks noGrp="1"/>
          </p:cNvSpPr>
          <p:nvPr>
            <p:ph idx="1"/>
          </p:nvPr>
        </p:nvSpPr>
        <p:spPr>
          <a:xfrm>
            <a:off x="1000474" y="1828800"/>
            <a:ext cx="7395380" cy="2667000"/>
          </a:xfrm>
        </p:spPr>
        <p:txBody>
          <a:bodyPr>
            <a:noAutofit/>
          </a:bodyPr>
          <a:lstStyle/>
          <a:p>
            <a:pPr>
              <a:spcAft>
                <a:spcPts val="1000"/>
              </a:spcAft>
            </a:pPr>
            <a:r>
              <a:rPr lang="en-US" sz="3200" dirty="0" smtClean="0"/>
              <a:t>Example:</a:t>
            </a:r>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t>6</a:t>
            </a:fld>
            <a:endParaRPr lang="en-US"/>
          </a:p>
        </p:txBody>
      </p:sp>
      <p:pic>
        <p:nvPicPr>
          <p:cNvPr id="2052" name="Picture 4" descr="C:\Users\Owner\Desktop\ScreenHunter_86 Oct. 03 16.5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115" y="1347354"/>
            <a:ext cx="5003621" cy="3629891"/>
          </a:xfrm>
          <a:prstGeom prst="rect">
            <a:avLst/>
          </a:prstGeom>
          <a:noFill/>
          <a:effectLst>
            <a:outerShdw blurRad="50800" dist="50800" dir="5400000" sx="104000" sy="104000" algn="ctr" rotWithShape="0">
              <a:schemeClr val="tx1">
                <a:alpha val="40000"/>
              </a:schemeClr>
            </a:outerShdw>
          </a:effectLst>
          <a:extLst>
            <a:ext uri="{909E8E84-426E-40DD-AFC4-6F175D3DCCD1}">
              <a14:hiddenFill xmlns:a14="http://schemas.microsoft.com/office/drawing/2010/main">
                <a:solidFill>
                  <a:srgbClr val="FFFFFF"/>
                </a:solidFill>
              </a14:hiddenFill>
            </a:ext>
          </a:extLst>
        </p:spPr>
      </p:pic>
      <p:pic>
        <p:nvPicPr>
          <p:cNvPr id="2053" name="Picture 5" descr="C:\Users\Owner\Desktop\ScreenHunter_87 Oct. 03 16.5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8781" y="1447800"/>
            <a:ext cx="2250838" cy="5105400"/>
          </a:xfrm>
          <a:prstGeom prst="rect">
            <a:avLst/>
          </a:prstGeom>
          <a:noFill/>
          <a:effectLst>
            <a:outerShdw blurRad="50800" dist="50800" dir="5400000" sx="105000" sy="105000" algn="ctr" rotWithShape="0">
              <a:schemeClr val="tx1">
                <a:alpha val="54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31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Exploring Web Responsiveness</a:t>
            </a:r>
          </a:p>
        </p:txBody>
      </p:sp>
      <p:sp>
        <p:nvSpPr>
          <p:cNvPr id="3" name="Content Placeholder 2"/>
          <p:cNvSpPr>
            <a:spLocks noGrp="1"/>
          </p:cNvSpPr>
          <p:nvPr>
            <p:ph idx="1"/>
          </p:nvPr>
        </p:nvSpPr>
        <p:spPr>
          <a:xfrm>
            <a:off x="986620" y="1676400"/>
            <a:ext cx="7395380" cy="2667000"/>
          </a:xfrm>
        </p:spPr>
        <p:txBody>
          <a:bodyPr>
            <a:noAutofit/>
          </a:bodyPr>
          <a:lstStyle/>
          <a:p>
            <a:pPr>
              <a:spcAft>
                <a:spcPts val="1000"/>
              </a:spcAft>
            </a:pPr>
            <a:r>
              <a:rPr lang="en-US" sz="2400" dirty="0" smtClean="0"/>
              <a:t>Conceived to meet challenge of multiple devices with difference screen sizes</a:t>
            </a:r>
          </a:p>
          <a:p>
            <a:pPr>
              <a:spcAft>
                <a:spcPts val="1000"/>
              </a:spcAft>
            </a:pPr>
            <a:r>
              <a:rPr lang="en-US" sz="2400" dirty="0" smtClean="0"/>
              <a:t>Was First </a:t>
            </a:r>
            <a:r>
              <a:rPr lang="en-US" sz="2400" dirty="0" smtClean="0"/>
              <a:t>discussed by Ethan </a:t>
            </a:r>
            <a:r>
              <a:rPr lang="en-US" sz="2400" dirty="0" err="1" smtClean="0"/>
              <a:t>Marcotte</a:t>
            </a:r>
            <a:r>
              <a:rPr lang="en-US" sz="2400" dirty="0" smtClean="0"/>
              <a:t>, in A List Apart.</a:t>
            </a:r>
          </a:p>
          <a:p>
            <a:pPr>
              <a:spcAft>
                <a:spcPts val="1000"/>
              </a:spcAft>
            </a:pPr>
            <a:r>
              <a:rPr lang="en-US" sz="3200" dirty="0" smtClean="0"/>
              <a:t>Responsive Web Design has two Main </a:t>
            </a:r>
            <a:r>
              <a:rPr lang="en-US" sz="3200" dirty="0" smtClean="0"/>
              <a:t>Components: </a:t>
            </a:r>
          </a:p>
          <a:p>
            <a:pPr lvl="1">
              <a:spcAft>
                <a:spcPts val="1000"/>
              </a:spcAft>
            </a:pPr>
            <a:r>
              <a:rPr lang="en-US" dirty="0" smtClean="0"/>
              <a:t>Fluid Grid</a:t>
            </a:r>
          </a:p>
          <a:p>
            <a:pPr lvl="1">
              <a:spcAft>
                <a:spcPts val="1000"/>
              </a:spcAft>
            </a:pPr>
            <a:r>
              <a:rPr lang="en-US" dirty="0" smtClean="0"/>
              <a:t>Media Queries</a:t>
            </a:r>
          </a:p>
          <a:p>
            <a:pPr>
              <a:spcAft>
                <a:spcPts val="1000"/>
              </a:spcAft>
            </a:pPr>
            <a:endParaRPr lang="en-US" sz="2000" dirty="0" smtClean="0"/>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t>7</a:t>
            </a:fld>
            <a:endParaRPr lang="en-US"/>
          </a:p>
        </p:txBody>
      </p:sp>
    </p:spTree>
    <p:extLst>
      <p:ext uri="{BB962C8B-B14F-4D97-AF65-F5344CB8AC3E}">
        <p14:creationId xmlns:p14="http://schemas.microsoft.com/office/powerpoint/2010/main" val="41607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Exploring Web Responsiveness</a:t>
            </a:r>
          </a:p>
        </p:txBody>
      </p:sp>
      <p:sp>
        <p:nvSpPr>
          <p:cNvPr id="5" name="Slide Number Placeholder 4"/>
          <p:cNvSpPr>
            <a:spLocks noGrp="1"/>
          </p:cNvSpPr>
          <p:nvPr>
            <p:ph type="sldNum" sz="quarter" idx="12"/>
          </p:nvPr>
        </p:nvSpPr>
        <p:spPr/>
        <p:txBody>
          <a:bodyPr/>
          <a:lstStyle/>
          <a:p>
            <a:fld id="{A6724466-CF14-4098-A57E-6BA1C4EB8FEB}" type="slidenum">
              <a:rPr lang="en-US" smtClean="0"/>
              <a:t>8</a:t>
            </a:fld>
            <a:endParaRPr lang="en-US"/>
          </a:p>
        </p:txBody>
      </p:sp>
      <p:sp>
        <p:nvSpPr>
          <p:cNvPr id="4" name="Content Placeholder 3"/>
          <p:cNvSpPr>
            <a:spLocks noGrp="1"/>
          </p:cNvSpPr>
          <p:nvPr>
            <p:ph idx="1"/>
          </p:nvPr>
        </p:nvSpPr>
        <p:spPr/>
        <p:txBody>
          <a:bodyPr/>
          <a:lstStyle/>
          <a:p>
            <a:endParaRPr lang="en-US"/>
          </a:p>
        </p:txBody>
      </p:sp>
      <p:pic>
        <p:nvPicPr>
          <p:cNvPr id="3078" name="Picture 6" descr="C:\Users\Owner\Desktop\ScreenHunter_94 Oct. 03 17.2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1309688"/>
            <a:ext cx="7324725"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4304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Responsive Design – What and Why?</a:t>
            </a:r>
            <a:endParaRPr lang="en-US" sz="3600" dirty="0"/>
          </a:p>
        </p:txBody>
      </p:sp>
      <p:sp>
        <p:nvSpPr>
          <p:cNvPr id="3" name="Content Placeholder 2"/>
          <p:cNvSpPr>
            <a:spLocks noGrp="1"/>
          </p:cNvSpPr>
          <p:nvPr>
            <p:ph idx="1"/>
          </p:nvPr>
        </p:nvSpPr>
        <p:spPr/>
        <p:txBody>
          <a:bodyPr>
            <a:normAutofit lnSpcReduction="10000"/>
          </a:bodyPr>
          <a:lstStyle/>
          <a:p>
            <a:r>
              <a:rPr lang="en-US" dirty="0"/>
              <a:t>Responsive design is the process of arranging the layout in a way that all the important information is presented in a user readable way in any kind of device or screen size. </a:t>
            </a:r>
            <a:endParaRPr lang="en-US" dirty="0" smtClean="0"/>
          </a:p>
          <a:p>
            <a:r>
              <a:rPr lang="en-US" dirty="0" smtClean="0"/>
              <a:t>Most </a:t>
            </a:r>
            <a:r>
              <a:rPr lang="en-US" dirty="0"/>
              <a:t>designers will choose a grid based layout since it’s easier to handle grid based layouts in different kind of devices.</a:t>
            </a:r>
          </a:p>
          <a:p>
            <a:r>
              <a:rPr lang="en-US" dirty="0"/>
              <a:t>It’s your decision to choose between a fixed or fluid grid to design the layout. </a:t>
            </a:r>
            <a:r>
              <a:rPr lang="en-US" dirty="0" smtClean="0"/>
              <a:t>In this week practical,  </a:t>
            </a:r>
            <a:r>
              <a:rPr lang="en-US" dirty="0"/>
              <a:t>we are going to focus on fluid grids and their importance in responsive design.</a:t>
            </a:r>
          </a:p>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t>9</a:t>
            </a:fld>
            <a:endParaRPr lang="en-US"/>
          </a:p>
        </p:txBody>
      </p:sp>
    </p:spTree>
    <p:extLst>
      <p:ext uri="{BB962C8B-B14F-4D97-AF65-F5344CB8AC3E}">
        <p14:creationId xmlns:p14="http://schemas.microsoft.com/office/powerpoint/2010/main" val="154440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Responsive Design</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t>10</a:t>
            </a:fld>
            <a:endParaRPr lang="en-US"/>
          </a:p>
        </p:txBody>
      </p:sp>
      <p:pic>
        <p:nvPicPr>
          <p:cNvPr id="3076" name="Picture 4" descr="C:\Users\Owner\Desktop\ScreenHunter_93 Oct. 03 17.1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6400800" cy="4546868"/>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Owner\Desktop\ScreenHunter_92 Oct. 03 17.1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0" y="1600200"/>
            <a:ext cx="3581400" cy="4897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34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7"/>
                                        </p:tgtEl>
                                        <p:attrNameLst>
                                          <p:attrName>style.visibility</p:attrName>
                                        </p:attrNameLst>
                                      </p:cBhvr>
                                      <p:to>
                                        <p:strVal val="visible"/>
                                      </p:to>
                                    </p:set>
                                    <p:animEffect transition="in" filter="fade">
                                      <p:cBhvr>
                                        <p:cTn id="7" dur="500"/>
                                        <p:tgtEl>
                                          <p:spTgt spid="30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970" y="533400"/>
            <a:ext cx="8850630" cy="944562"/>
          </a:xfrm>
        </p:spPr>
        <p:txBody>
          <a:bodyPr>
            <a:noAutofit/>
          </a:bodyPr>
          <a:lstStyle/>
          <a:p>
            <a:r>
              <a:rPr lang="en-US" sz="3200" b="0" dirty="0"/>
              <a:t>Fixed vs. Fluid vs. Adaptive vs. Responsive</a:t>
            </a:r>
            <a:br>
              <a:rPr lang="en-US" sz="3200" b="0" dirty="0"/>
            </a:br>
            <a:endParaRPr lang="en-US" sz="3200" dirty="0"/>
          </a:p>
        </p:txBody>
      </p:sp>
      <p:sp>
        <p:nvSpPr>
          <p:cNvPr id="3" name="Content Placeholder 2"/>
          <p:cNvSpPr>
            <a:spLocks noGrp="1"/>
          </p:cNvSpPr>
          <p:nvPr>
            <p:ph idx="1"/>
          </p:nvPr>
        </p:nvSpPr>
        <p:spPr>
          <a:xfrm>
            <a:off x="902970" y="1665128"/>
            <a:ext cx="7395380" cy="1524000"/>
          </a:xfrm>
        </p:spPr>
        <p:txBody>
          <a:bodyPr/>
          <a:lstStyle/>
          <a:p>
            <a:r>
              <a:rPr lang="en-US" dirty="0"/>
              <a:t>https://www.youtube.com/watch?v=T6MCkGWSXa0</a:t>
            </a:r>
          </a:p>
        </p:txBody>
      </p:sp>
      <p:sp>
        <p:nvSpPr>
          <p:cNvPr id="4" name="Slide Number Placeholder 3"/>
          <p:cNvSpPr>
            <a:spLocks noGrp="1"/>
          </p:cNvSpPr>
          <p:nvPr>
            <p:ph type="sldNum" sz="quarter" idx="12"/>
          </p:nvPr>
        </p:nvSpPr>
        <p:spPr/>
        <p:txBody>
          <a:bodyPr/>
          <a:lstStyle/>
          <a:p>
            <a:fld id="{A6724466-CF14-4098-A57E-6BA1C4EB8FEB}" type="slidenum">
              <a:rPr lang="en-US" smtClean="0"/>
              <a:t>11</a:t>
            </a:fld>
            <a:endParaRPr lang="en-US"/>
          </a:p>
        </p:txBody>
      </p:sp>
      <p:sp>
        <p:nvSpPr>
          <p:cNvPr id="5" name="TextBox 4"/>
          <p:cNvSpPr txBox="1"/>
          <p:nvPr/>
        </p:nvSpPr>
        <p:spPr>
          <a:xfrm>
            <a:off x="1066800" y="2637630"/>
            <a:ext cx="6722097" cy="1477328"/>
          </a:xfrm>
          <a:prstGeom prst="rect">
            <a:avLst/>
          </a:prstGeom>
          <a:noFill/>
        </p:spPr>
        <p:txBody>
          <a:bodyPr wrap="none" rtlCol="0">
            <a:spAutoFit/>
          </a:bodyPr>
          <a:lstStyle/>
          <a:p>
            <a:r>
              <a:rPr lang="en-US" dirty="0" smtClean="0"/>
              <a:t>Watch this video for a better understanding of Fluid Grid vs Fixed Grid</a:t>
            </a:r>
          </a:p>
          <a:p>
            <a:r>
              <a:rPr lang="en-US" dirty="0" smtClean="0"/>
              <a:t>And how Adaptive and responsive design defers.</a:t>
            </a:r>
          </a:p>
          <a:p>
            <a:endParaRPr lang="en-US" dirty="0" smtClean="0"/>
          </a:p>
          <a:p>
            <a:endParaRPr lang="en-US" dirty="0"/>
          </a:p>
          <a:p>
            <a:endParaRPr lang="en-US" dirty="0"/>
          </a:p>
        </p:txBody>
      </p:sp>
    </p:spTree>
    <p:extLst>
      <p:ext uri="{BB962C8B-B14F-4D97-AF65-F5344CB8AC3E}">
        <p14:creationId xmlns:p14="http://schemas.microsoft.com/office/powerpoint/2010/main" val="109628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Fluid Grid vs Fixed Grids</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FIXED GRIDS </a:t>
            </a:r>
          </a:p>
          <a:p>
            <a:pPr marL="0" indent="0">
              <a:buNone/>
            </a:pPr>
            <a:r>
              <a:rPr lang="en-US" dirty="0"/>
              <a:t>A fixed website layout has a wrapper that is a fixed width, and the components inside it have either percentage widths or fixed widths. The important thing is that the container (wrapper) element is set to not move. No matter what screen resolution the visitor has, he or she will see the same width as </a:t>
            </a:r>
            <a:r>
              <a:rPr lang="en-US" dirty="0" smtClean="0"/>
              <a:t>other </a:t>
            </a:r>
            <a:r>
              <a:rPr lang="en-US" dirty="0" smtClean="0"/>
              <a:t>visitors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t>12</a:t>
            </a:fld>
            <a:endParaRPr lang="en-US"/>
          </a:p>
        </p:txBody>
      </p:sp>
    </p:spTree>
    <p:extLst>
      <p:ext uri="{BB962C8B-B14F-4D97-AF65-F5344CB8AC3E}">
        <p14:creationId xmlns:p14="http://schemas.microsoft.com/office/powerpoint/2010/main" val="546765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Fixed Grid Layout</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A6724466-CF14-4098-A57E-6BA1C4EB8FEB}" type="slidenum">
              <a:rPr lang="en-US" smtClean="0"/>
              <a:t>13</a:t>
            </a:fld>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025640"/>
            <a:ext cx="5528747" cy="4146560"/>
          </a:xfrm>
          <a:prstGeom prst="rect">
            <a:avLst/>
          </a:prstGeom>
        </p:spPr>
      </p:pic>
      <p:sp>
        <p:nvSpPr>
          <p:cNvPr id="6" name="Rectangle 5"/>
          <p:cNvSpPr/>
          <p:nvPr/>
        </p:nvSpPr>
        <p:spPr>
          <a:xfrm>
            <a:off x="6246160" y="1836762"/>
            <a:ext cx="2440640" cy="4524315"/>
          </a:xfrm>
          <a:prstGeom prst="rect">
            <a:avLst/>
          </a:prstGeom>
        </p:spPr>
        <p:txBody>
          <a:bodyPr wrap="square">
            <a:spAutoFit/>
          </a:bodyPr>
          <a:lstStyle/>
          <a:p>
            <a:r>
              <a:rPr lang="en-US" dirty="0">
                <a:solidFill>
                  <a:srgbClr val="333333"/>
                </a:solidFill>
                <a:latin typeface="Proxima Nova Regular"/>
              </a:rPr>
              <a:t>The </a:t>
            </a:r>
            <a:r>
              <a:rPr lang="en-US" dirty="0" smtClean="0">
                <a:solidFill>
                  <a:srgbClr val="333333"/>
                </a:solidFill>
                <a:latin typeface="Proxima Nova Regular"/>
              </a:rPr>
              <a:t>image on the left shows </a:t>
            </a:r>
            <a:r>
              <a:rPr lang="en-US" dirty="0">
                <a:solidFill>
                  <a:srgbClr val="333333"/>
                </a:solidFill>
                <a:latin typeface="Proxima Nova Regular"/>
              </a:rPr>
              <a:t>the general outline of a fixed-width website layout. The components inside are fixed to 520, 200 and 200 pixels, respectively. A 960-pixel width has become the standard in modern Web design because most website users are assumed to browse in 1024×768 resolution or higher.</a:t>
            </a:r>
            <a:endParaRPr lang="en-US" dirty="0"/>
          </a:p>
        </p:txBody>
      </p:sp>
    </p:spTree>
    <p:extLst>
      <p:ext uri="{BB962C8B-B14F-4D97-AF65-F5344CB8AC3E}">
        <p14:creationId xmlns:p14="http://schemas.microsoft.com/office/powerpoint/2010/main" val="2520509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Fluid </a:t>
            </a:r>
            <a:r>
              <a:rPr lang="en-US" dirty="0" smtClean="0"/>
              <a:t>Grids</a:t>
            </a:r>
            <a:endParaRPr lang="en-US" dirty="0"/>
          </a:p>
        </p:txBody>
      </p:sp>
      <p:sp>
        <p:nvSpPr>
          <p:cNvPr id="3" name="Content Placeholder 2"/>
          <p:cNvSpPr>
            <a:spLocks noGrp="1"/>
          </p:cNvSpPr>
          <p:nvPr>
            <p:ph idx="1"/>
          </p:nvPr>
        </p:nvSpPr>
        <p:spPr/>
        <p:txBody>
          <a:bodyPr/>
          <a:lstStyle/>
          <a:p>
            <a:r>
              <a:rPr lang="en-US" dirty="0" smtClean="0"/>
              <a:t>FLUID GRID</a:t>
            </a:r>
          </a:p>
          <a:p>
            <a:pPr marL="0" indent="0">
              <a:buNone/>
            </a:pPr>
            <a:r>
              <a:rPr lang="en-US" dirty="0" smtClean="0"/>
              <a:t>In </a:t>
            </a:r>
            <a:r>
              <a:rPr lang="en-US" dirty="0"/>
              <a:t>a fluid website layout, also referred to as a liquid layout, the majority of the components inside have percentage widths, and thus adjust to the user’s screen resolution.</a:t>
            </a:r>
          </a:p>
        </p:txBody>
      </p:sp>
      <p:sp>
        <p:nvSpPr>
          <p:cNvPr id="4" name="Slide Number Placeholder 3"/>
          <p:cNvSpPr>
            <a:spLocks noGrp="1"/>
          </p:cNvSpPr>
          <p:nvPr>
            <p:ph type="sldNum" sz="quarter" idx="12"/>
          </p:nvPr>
        </p:nvSpPr>
        <p:spPr/>
        <p:txBody>
          <a:bodyPr/>
          <a:lstStyle/>
          <a:p>
            <a:fld id="{A6724466-CF14-4098-A57E-6BA1C4EB8FEB}" type="slidenum">
              <a:rPr lang="en-US" smtClean="0"/>
              <a:t>14</a:t>
            </a:fld>
            <a:endParaRPr lang="en-US"/>
          </a:p>
        </p:txBody>
      </p:sp>
    </p:spTree>
    <p:extLst>
      <p:ext uri="{BB962C8B-B14F-4D97-AF65-F5344CB8AC3E}">
        <p14:creationId xmlns:p14="http://schemas.microsoft.com/office/powerpoint/2010/main" val="1993761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Fluid Grid</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1508" y="1447800"/>
            <a:ext cx="5720292" cy="4290219"/>
          </a:xfrm>
        </p:spPr>
      </p:pic>
      <p:sp>
        <p:nvSpPr>
          <p:cNvPr id="4" name="Slide Number Placeholder 3"/>
          <p:cNvSpPr>
            <a:spLocks noGrp="1"/>
          </p:cNvSpPr>
          <p:nvPr>
            <p:ph type="sldNum" sz="quarter" idx="12"/>
          </p:nvPr>
        </p:nvSpPr>
        <p:spPr/>
        <p:txBody>
          <a:bodyPr/>
          <a:lstStyle/>
          <a:p>
            <a:fld id="{A6724466-CF14-4098-A57E-6BA1C4EB8FEB}" type="slidenum">
              <a:rPr lang="en-US" smtClean="0"/>
              <a:t>15</a:t>
            </a:fld>
            <a:endParaRPr lang="en-US"/>
          </a:p>
        </p:txBody>
      </p:sp>
      <p:sp>
        <p:nvSpPr>
          <p:cNvPr id="7" name="Rectangle 6"/>
          <p:cNvSpPr/>
          <p:nvPr/>
        </p:nvSpPr>
        <p:spPr>
          <a:xfrm>
            <a:off x="531410" y="5629870"/>
            <a:ext cx="8612590" cy="923330"/>
          </a:xfrm>
          <a:prstGeom prst="rect">
            <a:avLst/>
          </a:prstGeom>
        </p:spPr>
        <p:txBody>
          <a:bodyPr wrap="square">
            <a:spAutoFit/>
          </a:bodyPr>
          <a:lstStyle/>
          <a:p>
            <a:r>
              <a:rPr lang="en-US" dirty="0">
                <a:solidFill>
                  <a:srgbClr val="333333"/>
                </a:solidFill>
                <a:latin typeface="Proxima Nova Regular"/>
              </a:rPr>
              <a:t>The image above shows a fluid (liquid) website layout. While some designers may give set widths to certain elements in fluid layouts, such as margins, the layout in general uses percentage widths so that the view is adjusted for each user.</a:t>
            </a:r>
            <a:endParaRPr lang="en-US" dirty="0"/>
          </a:p>
        </p:txBody>
      </p:sp>
    </p:spTree>
    <p:extLst>
      <p:ext uri="{BB962C8B-B14F-4D97-AF65-F5344CB8AC3E}">
        <p14:creationId xmlns:p14="http://schemas.microsoft.com/office/powerpoint/2010/main" val="1135589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Responsive Design – Media Queries</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t>16</a:t>
            </a:fld>
            <a:endParaRPr lang="en-US"/>
          </a:p>
        </p:txBody>
      </p:sp>
      <p:sp>
        <p:nvSpPr>
          <p:cNvPr id="4" name="Content Placeholder 3"/>
          <p:cNvSpPr>
            <a:spLocks noGrp="1"/>
          </p:cNvSpPr>
          <p:nvPr>
            <p:ph idx="1"/>
          </p:nvPr>
        </p:nvSpPr>
        <p:spPr/>
        <p:txBody>
          <a:bodyPr/>
          <a:lstStyle/>
          <a:p>
            <a:r>
              <a:rPr lang="en-US" dirty="0" smtClean="0"/>
              <a:t>Media Queries</a:t>
            </a:r>
          </a:p>
          <a:p>
            <a:endParaRPr lang="en-US" dirty="0"/>
          </a:p>
          <a:p>
            <a:r>
              <a:rPr lang="en-US" dirty="0" smtClean="0"/>
              <a:t>A </a:t>
            </a:r>
            <a:r>
              <a:rPr lang="en-US" dirty="0"/>
              <a:t>Media Query is a recognized value of the </a:t>
            </a:r>
            <a:r>
              <a:rPr lang="en-US" dirty="0" smtClean="0"/>
              <a:t>media attribute </a:t>
            </a:r>
            <a:r>
              <a:rPr lang="en-US" dirty="0"/>
              <a:t>that allows specific CSS rules or external style sheets to be </a:t>
            </a:r>
            <a:r>
              <a:rPr lang="en-US" dirty="0" smtClean="0"/>
              <a:t>applied conditionally</a:t>
            </a:r>
            <a:r>
              <a:rPr lang="en-US" dirty="0"/>
              <a:t>, like if the current device has a screen of a certain width.</a:t>
            </a:r>
          </a:p>
        </p:txBody>
      </p:sp>
    </p:spTree>
    <p:extLst>
      <p:ext uri="{BB962C8B-B14F-4D97-AF65-F5344CB8AC3E}">
        <p14:creationId xmlns:p14="http://schemas.microsoft.com/office/powerpoint/2010/main" val="23540234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Owner\Desktop\ScreenHunter_98 Oct. 04 09.4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5073" y="2076828"/>
            <a:ext cx="5438881" cy="417041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Autofit/>
          </a:bodyPr>
          <a:lstStyle/>
          <a:p>
            <a:r>
              <a:rPr lang="en-US" sz="3600" dirty="0" smtClean="0"/>
              <a:t>Responsive Design – Media Queries</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t>17</a:t>
            </a:fld>
            <a:endParaRPr lang="en-US"/>
          </a:p>
        </p:txBody>
      </p:sp>
      <p:sp>
        <p:nvSpPr>
          <p:cNvPr id="4" name="Content Placeholder 3"/>
          <p:cNvSpPr>
            <a:spLocks noGrp="1"/>
          </p:cNvSpPr>
          <p:nvPr>
            <p:ph idx="1"/>
          </p:nvPr>
        </p:nvSpPr>
        <p:spPr/>
        <p:txBody>
          <a:bodyPr/>
          <a:lstStyle/>
          <a:p>
            <a:r>
              <a:rPr lang="en-US" dirty="0" smtClean="0"/>
              <a:t>Different Devices,  Different CSS Rules</a:t>
            </a:r>
            <a:endParaRPr lang="en-US" dirty="0"/>
          </a:p>
        </p:txBody>
      </p:sp>
      <p:pic>
        <p:nvPicPr>
          <p:cNvPr id="2050" name="Picture 2" descr="C:\Users\Owner\Desktop\ScreenHunter_99 Oct. 04 09.4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056245"/>
            <a:ext cx="21717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43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fade">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Responsive Design – Media Queries</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t>18</a:t>
            </a:fld>
            <a:endParaRPr lang="en-US"/>
          </a:p>
        </p:txBody>
      </p:sp>
      <p:sp>
        <p:nvSpPr>
          <p:cNvPr id="4" name="Content Placeholder 3"/>
          <p:cNvSpPr>
            <a:spLocks noGrp="1"/>
          </p:cNvSpPr>
          <p:nvPr>
            <p:ph idx="1"/>
          </p:nvPr>
        </p:nvSpPr>
        <p:spPr/>
        <p:txBody>
          <a:bodyPr/>
          <a:lstStyle/>
          <a:p>
            <a:r>
              <a:rPr lang="en-US" dirty="0" smtClean="0"/>
              <a:t>Different Devices,  Different CSS Rules</a:t>
            </a:r>
            <a:endParaRPr lang="en-US" dirty="0"/>
          </a:p>
        </p:txBody>
      </p:sp>
      <p:grpSp>
        <p:nvGrpSpPr>
          <p:cNvPr id="6" name="Group 5"/>
          <p:cNvGrpSpPr/>
          <p:nvPr/>
        </p:nvGrpSpPr>
        <p:grpSpPr>
          <a:xfrm>
            <a:off x="419675" y="1905000"/>
            <a:ext cx="6924676" cy="4229100"/>
            <a:chOff x="419675" y="1905000"/>
            <a:chExt cx="6924676" cy="4229100"/>
          </a:xfrm>
        </p:grpSpPr>
        <p:pic>
          <p:nvPicPr>
            <p:cNvPr id="4099" name="Picture 3" descr="C:\Users\Owner\Desktop\ScreenHunter_109 Oct. 04 1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675" y="2209800"/>
              <a:ext cx="6924676" cy="39243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533400" y="1905000"/>
              <a:ext cx="3810000" cy="914400"/>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p:cNvGrpSpPr/>
          <p:nvPr/>
        </p:nvGrpSpPr>
        <p:grpSpPr>
          <a:xfrm>
            <a:off x="5246686" y="2392939"/>
            <a:ext cx="3876532" cy="4055051"/>
            <a:chOff x="5246686" y="2392939"/>
            <a:chExt cx="3876532" cy="4055051"/>
          </a:xfrm>
        </p:grpSpPr>
        <p:pic>
          <p:nvPicPr>
            <p:cNvPr id="4098" name="Picture 2" descr="C:\Users\Owner\Desktop\ScreenHunter_110 Oct. 04 10.0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5485" y="2392939"/>
              <a:ext cx="3557733" cy="4055051"/>
            </a:xfrm>
            <a:prstGeom prst="rect">
              <a:avLst/>
            </a:prstGeom>
            <a:noFill/>
            <a:extLst>
              <a:ext uri="{909E8E84-426E-40DD-AFC4-6F175D3DCCD1}">
                <a14:hiddenFill xmlns:a14="http://schemas.microsoft.com/office/drawing/2010/main">
                  <a:solidFill>
                    <a:srgbClr val="FFFFFF"/>
                  </a:solidFill>
                </a14:hiddenFill>
              </a:ext>
            </a:extLst>
          </p:spPr>
        </p:pic>
        <p:sp>
          <p:nvSpPr>
            <p:cNvPr id="11" name="Oval 10"/>
            <p:cNvSpPr/>
            <p:nvPr/>
          </p:nvSpPr>
          <p:spPr>
            <a:xfrm>
              <a:off x="5246686" y="2392939"/>
              <a:ext cx="3810000" cy="914400"/>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711461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Responsive Design – </a:t>
            </a:r>
            <a:br>
              <a:rPr lang="en-US" sz="3200" dirty="0" smtClean="0"/>
            </a:br>
            <a:r>
              <a:rPr lang="en-US" sz="3200" dirty="0" smtClean="0"/>
              <a:t>Method 1 - Using Media Attribute</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t>19</a:t>
            </a:fld>
            <a:endParaRPr lang="en-US"/>
          </a:p>
        </p:txBody>
      </p:sp>
      <p:sp>
        <p:nvSpPr>
          <p:cNvPr id="4" name="Content Placeholder 3"/>
          <p:cNvSpPr>
            <a:spLocks noGrp="1"/>
          </p:cNvSpPr>
          <p:nvPr>
            <p:ph idx="1"/>
          </p:nvPr>
        </p:nvSpPr>
        <p:spPr>
          <a:xfrm>
            <a:off x="986620" y="1295400"/>
            <a:ext cx="7395380" cy="914400"/>
          </a:xfrm>
        </p:spPr>
        <p:txBody>
          <a:bodyPr>
            <a:normAutofit fontScale="92500" lnSpcReduction="10000"/>
          </a:bodyPr>
          <a:lstStyle/>
          <a:p>
            <a:r>
              <a:rPr lang="en-US" dirty="0" smtClean="0"/>
              <a:t>Specifying Size within the Media Attribute</a:t>
            </a:r>
          </a:p>
          <a:p>
            <a:r>
              <a:rPr lang="en-US" dirty="0" err="1" smtClean="0"/>
              <a:t>Eg</a:t>
            </a:r>
            <a:r>
              <a:rPr lang="en-US" dirty="0" smtClean="0"/>
              <a:t>. 1</a:t>
            </a:r>
          </a:p>
          <a:p>
            <a:endParaRPr lang="en-US" dirty="0"/>
          </a:p>
        </p:txBody>
      </p:sp>
      <p:pic>
        <p:nvPicPr>
          <p:cNvPr id="5122" name="Picture 2" descr="C:\Users\Owner\Desktop\ScreenHunter_111 Oct. 04 10.0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856" y="2590800"/>
            <a:ext cx="7839075"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96868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6724466-CF14-4098-A57E-6BA1C4EB8FEB}" type="slidenum">
              <a:rPr lang="en-US" smtClean="0"/>
              <a:t>20</a:t>
            </a:fld>
            <a:endParaRPr lang="en-US"/>
          </a:p>
        </p:txBody>
      </p:sp>
      <p:sp>
        <p:nvSpPr>
          <p:cNvPr id="4" name="Content Placeholder 3"/>
          <p:cNvSpPr>
            <a:spLocks noGrp="1"/>
          </p:cNvSpPr>
          <p:nvPr>
            <p:ph idx="1"/>
          </p:nvPr>
        </p:nvSpPr>
        <p:spPr>
          <a:xfrm>
            <a:off x="986620" y="1295400"/>
            <a:ext cx="7395380" cy="914400"/>
          </a:xfrm>
        </p:spPr>
        <p:txBody>
          <a:bodyPr/>
          <a:lstStyle/>
          <a:p>
            <a:r>
              <a:rPr lang="en-US" dirty="0" smtClean="0"/>
              <a:t>Example coding in your CSS file:</a:t>
            </a:r>
          </a:p>
          <a:p>
            <a:endParaRPr lang="en-US" dirty="0"/>
          </a:p>
        </p:txBody>
      </p:sp>
      <p:pic>
        <p:nvPicPr>
          <p:cNvPr id="6146" name="Picture 2" descr="C:\Users\Owner\Desktop\ScreenHunter_112 Oct. 04 10.0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794000"/>
            <a:ext cx="7258050" cy="24765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1313688" y="1381062"/>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a:solidFill>
                  <a:schemeClr val="bg1"/>
                </a:solidFill>
                <a:latin typeface="+mj-lt"/>
                <a:ea typeface="+mj-ea"/>
                <a:cs typeface="+mj-cs"/>
              </a:defRPr>
            </a:lvl1pPr>
          </a:lstStyle>
          <a:p>
            <a:r>
              <a:rPr lang="en-US" sz="3200" dirty="0" smtClean="0"/>
              <a:t>Media Queries – Using Media Attribute</a:t>
            </a:r>
            <a:endParaRPr lang="en-US" sz="3200" dirty="0"/>
          </a:p>
        </p:txBody>
      </p:sp>
      <p:sp>
        <p:nvSpPr>
          <p:cNvPr id="3" name="Title 2"/>
          <p:cNvSpPr>
            <a:spLocks noGrp="1"/>
          </p:cNvSpPr>
          <p:nvPr>
            <p:ph type="title"/>
          </p:nvPr>
        </p:nvSpPr>
        <p:spPr/>
        <p:txBody>
          <a:bodyPr>
            <a:noAutofit/>
          </a:bodyPr>
          <a:lstStyle/>
          <a:p>
            <a:r>
              <a:rPr lang="en-US" sz="3200" dirty="0"/>
              <a:t>Responsive Design – </a:t>
            </a:r>
            <a:br>
              <a:rPr lang="en-US" sz="3200" dirty="0"/>
            </a:br>
            <a:r>
              <a:rPr lang="en-US" sz="3200" dirty="0" smtClean="0"/>
              <a:t>Method 2 - Using @Media Queries in </a:t>
            </a:r>
            <a:r>
              <a:rPr lang="en-US" sz="3200" dirty="0" err="1" smtClean="0"/>
              <a:t>css</a:t>
            </a:r>
            <a:r>
              <a:rPr lang="en-US" sz="3200" dirty="0" smtClean="0"/>
              <a:t> </a:t>
            </a:r>
            <a:endParaRPr lang="en-US" sz="3200" dirty="0"/>
          </a:p>
        </p:txBody>
      </p:sp>
    </p:spTree>
    <p:extLst>
      <p:ext uri="{BB962C8B-B14F-4D97-AF65-F5344CB8AC3E}">
        <p14:creationId xmlns:p14="http://schemas.microsoft.com/office/powerpoint/2010/main" val="37962813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Responsive Design – Media Queries </a:t>
            </a:r>
            <a:r>
              <a:rPr lang="en-US" sz="3200" dirty="0" err="1" smtClean="0"/>
              <a:t>Eg</a:t>
            </a:r>
            <a:r>
              <a:rPr lang="en-US" sz="3200" dirty="0" smtClean="0"/>
              <a:t> 1</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t>21</a:t>
            </a:fld>
            <a:endParaRPr lang="en-US"/>
          </a:p>
        </p:txBody>
      </p:sp>
      <p:sp>
        <p:nvSpPr>
          <p:cNvPr id="4" name="Content Placeholder 3"/>
          <p:cNvSpPr>
            <a:spLocks noGrp="1"/>
          </p:cNvSpPr>
          <p:nvPr>
            <p:ph idx="1"/>
          </p:nvPr>
        </p:nvSpPr>
        <p:spPr>
          <a:xfrm>
            <a:off x="569510" y="1295918"/>
            <a:ext cx="4142383" cy="914400"/>
          </a:xfrm>
        </p:spPr>
        <p:txBody>
          <a:bodyPr>
            <a:normAutofit lnSpcReduction="10000"/>
          </a:bodyPr>
          <a:lstStyle/>
          <a:p>
            <a:r>
              <a:rPr lang="en-US" dirty="0" smtClean="0"/>
              <a:t>Different Media Queries for different devices</a:t>
            </a:r>
          </a:p>
          <a:p>
            <a:endParaRPr lang="en-US" dirty="0"/>
          </a:p>
        </p:txBody>
      </p:sp>
      <p:pic>
        <p:nvPicPr>
          <p:cNvPr id="7170" name="Picture 2" descr="C:\Users\Owner\Desktop\ScreenHunter_115 Oct. 04 10.1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461" y="2146896"/>
            <a:ext cx="5367513" cy="4262437"/>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Owner\Desktop\ScreenHunter_113 Oct. 04 10.11.jpg"/>
          <p:cNvPicPr>
            <a:picLocks noChangeAspect="1" noChangeArrowheads="1"/>
          </p:cNvPicPr>
          <p:nvPr/>
        </p:nvPicPr>
        <p:blipFill rotWithShape="1">
          <a:blip r:embed="rId4">
            <a:extLst>
              <a:ext uri="{28A0092B-C50C-407E-A947-70E740481C1C}">
                <a14:useLocalDpi xmlns:a14="http://schemas.microsoft.com/office/drawing/2010/main" val="0"/>
              </a:ext>
            </a:extLst>
          </a:blip>
          <a:srcRect r="-1272" b="20200"/>
          <a:stretch/>
        </p:blipFill>
        <p:spPr bwMode="auto">
          <a:xfrm>
            <a:off x="4495800" y="1447800"/>
            <a:ext cx="4419600" cy="5117431"/>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p:cNvSpPr/>
          <p:nvPr/>
        </p:nvSpPr>
        <p:spPr>
          <a:xfrm>
            <a:off x="4940493" y="1772659"/>
            <a:ext cx="3339119" cy="748474"/>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085982" y="2733944"/>
            <a:ext cx="3339119" cy="748474"/>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5008286" y="3740530"/>
            <a:ext cx="3339119" cy="748474"/>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078362" y="4562711"/>
            <a:ext cx="3339119" cy="748474"/>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148811" y="5462001"/>
            <a:ext cx="3339119" cy="748474"/>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2673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gtEl>
                                        <p:attrNameLst>
                                          <p:attrName>style.visibility</p:attrName>
                                        </p:attrNameLst>
                                      </p:cBhvr>
                                      <p:to>
                                        <p:strVal val="visible"/>
                                      </p:to>
                                    </p:set>
                                    <p:anim calcmode="lin" valueType="num">
                                      <p:cBhvr additive="base">
                                        <p:cTn id="13" dur="500" fill="hold"/>
                                        <p:tgtEl>
                                          <p:spTgt spid="7171"/>
                                        </p:tgtEl>
                                        <p:attrNameLst>
                                          <p:attrName>ppt_x</p:attrName>
                                        </p:attrNameLst>
                                      </p:cBhvr>
                                      <p:tavLst>
                                        <p:tav tm="0">
                                          <p:val>
                                            <p:strVal val="#ppt_x"/>
                                          </p:val>
                                        </p:tav>
                                        <p:tav tm="100000">
                                          <p:val>
                                            <p:strVal val="#ppt_x"/>
                                          </p:val>
                                        </p:tav>
                                      </p:tavLst>
                                    </p:anim>
                                    <p:anim calcmode="lin" valueType="num">
                                      <p:cBhvr additive="base">
                                        <p:cTn id="14"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P spid="18" grpId="0" animBg="1"/>
      <p:bldP spid="19" grpId="0" animBg="1"/>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Responsive Design – Media Queries </a:t>
            </a:r>
            <a:r>
              <a:rPr lang="en-US" sz="3200" dirty="0" err="1" smtClean="0"/>
              <a:t>Eg</a:t>
            </a:r>
            <a:r>
              <a:rPr lang="en-US" sz="3200" dirty="0" smtClean="0"/>
              <a:t> 2</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t>22</a:t>
            </a:fld>
            <a:endParaRPr lang="en-US"/>
          </a:p>
        </p:txBody>
      </p:sp>
      <p:sp>
        <p:nvSpPr>
          <p:cNvPr id="4" name="Content Placeholder 3"/>
          <p:cNvSpPr>
            <a:spLocks noGrp="1"/>
          </p:cNvSpPr>
          <p:nvPr>
            <p:ph idx="1"/>
          </p:nvPr>
        </p:nvSpPr>
        <p:spPr>
          <a:xfrm>
            <a:off x="762000" y="1371600"/>
            <a:ext cx="7395380" cy="914400"/>
          </a:xfrm>
        </p:spPr>
        <p:txBody>
          <a:bodyPr>
            <a:normAutofit lnSpcReduction="10000"/>
          </a:bodyPr>
          <a:lstStyle/>
          <a:p>
            <a:r>
              <a:rPr lang="en-US" dirty="0"/>
              <a:t>The @media rule allows different style rules for different media in the same style sheet</a:t>
            </a:r>
            <a:r>
              <a:rPr lang="en-US" dirty="0" smtClean="0"/>
              <a:t>.</a:t>
            </a:r>
          </a:p>
          <a:p>
            <a:endParaRPr lang="en-US" dirty="0"/>
          </a:p>
        </p:txBody>
      </p:sp>
      <p:sp>
        <p:nvSpPr>
          <p:cNvPr id="3" name="TextBox 2"/>
          <p:cNvSpPr txBox="1"/>
          <p:nvPr/>
        </p:nvSpPr>
        <p:spPr>
          <a:xfrm>
            <a:off x="914400" y="2676256"/>
            <a:ext cx="2209800" cy="3693319"/>
          </a:xfrm>
          <a:prstGeom prst="rect">
            <a:avLst/>
          </a:prstGeom>
          <a:noFill/>
        </p:spPr>
        <p:txBody>
          <a:bodyPr wrap="square" rtlCol="0">
            <a:spAutoFit/>
          </a:bodyPr>
          <a:lstStyle/>
          <a:p>
            <a:r>
              <a:rPr lang="en-US" dirty="0"/>
              <a:t>The style in the example below tells the browser to display a 14 pixels Verdana font on the screen. But if the page is printed, it will be in a 10 pixels Times font. Notice that the font-weight is set to bold, both on screen and on paper:</a:t>
            </a:r>
          </a:p>
        </p:txBody>
      </p:sp>
      <p:sp>
        <p:nvSpPr>
          <p:cNvPr id="7" name="TextBox 6"/>
          <p:cNvSpPr txBox="1"/>
          <p:nvPr/>
        </p:nvSpPr>
        <p:spPr>
          <a:xfrm>
            <a:off x="3293399" y="2506980"/>
            <a:ext cx="5284060" cy="4031873"/>
          </a:xfrm>
          <a:prstGeom prst="rect">
            <a:avLst/>
          </a:prstGeom>
          <a:solidFill>
            <a:srgbClr val="FFFF00"/>
          </a:solidFill>
        </p:spPr>
        <p:txBody>
          <a:bodyPr wrap="square" rtlCol="0">
            <a:spAutoFit/>
          </a:bodyPr>
          <a:lstStyle/>
          <a:p>
            <a:r>
              <a:rPr lang="en-US" sz="1600" dirty="0"/>
              <a:t>&lt;head&gt;</a:t>
            </a:r>
            <a:br>
              <a:rPr lang="en-US" sz="1600" dirty="0"/>
            </a:br>
            <a:r>
              <a:rPr lang="en-US" sz="1600" dirty="0"/>
              <a:t>&lt;style&gt;</a:t>
            </a:r>
            <a:br>
              <a:rPr lang="en-US" sz="1600" dirty="0"/>
            </a:br>
            <a:r>
              <a:rPr lang="en-US" sz="1600" dirty="0"/>
              <a:t>@media screen</a:t>
            </a:r>
            <a:br>
              <a:rPr lang="en-US" sz="1600" dirty="0"/>
            </a:br>
            <a:r>
              <a:rPr lang="en-US" sz="1600" dirty="0"/>
              <a:t>  {</a:t>
            </a:r>
            <a:br>
              <a:rPr lang="en-US" sz="1600" dirty="0"/>
            </a:br>
            <a:r>
              <a:rPr lang="en-US" sz="1600" dirty="0"/>
              <a:t>  </a:t>
            </a:r>
            <a:r>
              <a:rPr lang="en-US" sz="1600" dirty="0" err="1"/>
              <a:t>p.test</a:t>
            </a:r>
            <a:r>
              <a:rPr lang="en-US" sz="1600" dirty="0"/>
              <a:t> {font-family:verdana,sans-serif;font-size:14px;}</a:t>
            </a:r>
            <a:br>
              <a:rPr lang="en-US" sz="1600" dirty="0"/>
            </a:br>
            <a:r>
              <a:rPr lang="en-US" sz="1600" dirty="0"/>
              <a:t>  }</a:t>
            </a:r>
            <a:br>
              <a:rPr lang="en-US" sz="1600" dirty="0"/>
            </a:br>
            <a:r>
              <a:rPr lang="en-US" sz="1600" dirty="0"/>
              <a:t>@media print</a:t>
            </a:r>
            <a:br>
              <a:rPr lang="en-US" sz="1600" dirty="0"/>
            </a:br>
            <a:r>
              <a:rPr lang="en-US" sz="1600" dirty="0"/>
              <a:t>  {</a:t>
            </a:r>
            <a:br>
              <a:rPr lang="en-US" sz="1600" dirty="0"/>
            </a:br>
            <a:r>
              <a:rPr lang="en-US" sz="1600" dirty="0"/>
              <a:t>  </a:t>
            </a:r>
            <a:r>
              <a:rPr lang="en-US" sz="1600" dirty="0" err="1"/>
              <a:t>p.test</a:t>
            </a:r>
            <a:r>
              <a:rPr lang="en-US" sz="1600" dirty="0"/>
              <a:t> {font-family:times,serif;font-size:10px;}</a:t>
            </a:r>
            <a:br>
              <a:rPr lang="en-US" sz="1600" dirty="0"/>
            </a:br>
            <a:r>
              <a:rPr lang="en-US" sz="1600" dirty="0"/>
              <a:t>  }</a:t>
            </a:r>
            <a:br>
              <a:rPr lang="en-US" sz="1600" dirty="0"/>
            </a:br>
            <a:r>
              <a:rPr lang="en-US" sz="1600" dirty="0"/>
              <a:t>@media </a:t>
            </a:r>
            <a:r>
              <a:rPr lang="en-US" sz="1600" dirty="0" err="1"/>
              <a:t>screen,print</a:t>
            </a:r>
            <a:r>
              <a:rPr lang="en-US" sz="1600" dirty="0"/>
              <a:t/>
            </a:r>
            <a:br>
              <a:rPr lang="en-US" sz="1600" dirty="0"/>
            </a:br>
            <a:r>
              <a:rPr lang="en-US" sz="1600" dirty="0"/>
              <a:t>  {</a:t>
            </a:r>
            <a:br>
              <a:rPr lang="en-US" sz="1600" dirty="0"/>
            </a:br>
            <a:r>
              <a:rPr lang="en-US" sz="1600" dirty="0"/>
              <a:t>  </a:t>
            </a:r>
            <a:r>
              <a:rPr lang="en-US" sz="1600" dirty="0" err="1"/>
              <a:t>p.test</a:t>
            </a:r>
            <a:r>
              <a:rPr lang="en-US" sz="1600" dirty="0"/>
              <a:t> {</a:t>
            </a:r>
            <a:r>
              <a:rPr lang="en-US" sz="1600" dirty="0" err="1"/>
              <a:t>font-weight:bold</a:t>
            </a:r>
            <a:r>
              <a:rPr lang="en-US" sz="1600" dirty="0"/>
              <a:t>;}</a:t>
            </a:r>
            <a:br>
              <a:rPr lang="en-US" sz="1600" dirty="0"/>
            </a:br>
            <a:r>
              <a:rPr lang="en-US" sz="1600" dirty="0"/>
              <a:t>  }</a:t>
            </a:r>
            <a:br>
              <a:rPr lang="en-US" sz="1600" dirty="0"/>
            </a:br>
            <a:r>
              <a:rPr lang="en-US" sz="1600" dirty="0"/>
              <a:t>&lt;/style&gt;</a:t>
            </a:r>
            <a:br>
              <a:rPr lang="en-US" sz="1600" dirty="0"/>
            </a:br>
            <a:r>
              <a:rPr lang="en-US" sz="1600" dirty="0"/>
              <a:t>&lt;/head&gt;</a:t>
            </a:r>
            <a:endParaRPr lang="en-US" sz="1600" b="1" dirty="0"/>
          </a:p>
        </p:txBody>
      </p:sp>
      <p:sp>
        <p:nvSpPr>
          <p:cNvPr id="15" name="Oval 14"/>
          <p:cNvSpPr/>
          <p:nvPr/>
        </p:nvSpPr>
        <p:spPr>
          <a:xfrm>
            <a:off x="3293399" y="2929892"/>
            <a:ext cx="2625436" cy="533400"/>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293399" y="3886200"/>
            <a:ext cx="2625436" cy="533400"/>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309993" y="4876800"/>
            <a:ext cx="2625436" cy="533400"/>
          </a:xfrm>
          <a:prstGeom prst="ellipse">
            <a:avLst/>
          </a:prstGeom>
          <a:solidFill>
            <a:schemeClr val="accent1">
              <a:alpha val="6000"/>
            </a:schemeClr>
          </a:solid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040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Typical Media Query  Standards</a:t>
            </a:r>
            <a:endParaRPr lang="en-US" dirty="0"/>
          </a:p>
        </p:txBody>
      </p:sp>
      <p:sp>
        <p:nvSpPr>
          <p:cNvPr id="3" name="Content Placeholder 2"/>
          <p:cNvSpPr>
            <a:spLocks noGrp="1"/>
          </p:cNvSpPr>
          <p:nvPr>
            <p:ph idx="1"/>
          </p:nvPr>
        </p:nvSpPr>
        <p:spPr>
          <a:xfrm>
            <a:off x="986620" y="1284589"/>
            <a:ext cx="7395380" cy="2373011"/>
          </a:xfrm>
        </p:spPr>
        <p:txBody>
          <a:bodyPr>
            <a:normAutofit/>
          </a:bodyPr>
          <a:lstStyle/>
          <a:p>
            <a:pPr marL="0" indent="0">
              <a:buNone/>
            </a:pPr>
            <a:r>
              <a:rPr lang="en-US" sz="2400" dirty="0" smtClean="0">
                <a:solidFill>
                  <a:schemeClr val="bg2">
                    <a:lumMod val="25000"/>
                  </a:schemeClr>
                </a:solidFill>
              </a:rPr>
              <a:t>Research to </a:t>
            </a:r>
            <a:r>
              <a:rPr lang="en-US" sz="2400" dirty="0" smtClean="0">
                <a:solidFill>
                  <a:schemeClr val="bg2">
                    <a:lumMod val="25000"/>
                  </a:schemeClr>
                </a:solidFill>
              </a:rPr>
              <a:t>see the standard media queries used for latest devices. </a:t>
            </a:r>
            <a:endParaRPr lang="en-US" sz="2400" dirty="0">
              <a:solidFill>
                <a:schemeClr val="bg2">
                  <a:lumMod val="25000"/>
                </a:schemeClr>
              </a:solidFill>
            </a:endParaRPr>
          </a:p>
          <a:p>
            <a:r>
              <a:rPr lang="en-US" sz="2400" dirty="0"/>
              <a:t>Google: </a:t>
            </a:r>
            <a:r>
              <a:rPr lang="en-US" sz="2400" dirty="0" err="1"/>
              <a:t>css</a:t>
            </a:r>
            <a:r>
              <a:rPr lang="en-US" sz="2400" dirty="0"/>
              <a:t> media queries for common devices</a:t>
            </a:r>
            <a:endParaRPr lang="en-US" sz="2400" dirty="0" smtClean="0"/>
          </a:p>
          <a:p>
            <a:r>
              <a:rPr lang="en-US" sz="2400" dirty="0" smtClean="0"/>
              <a:t> A typical </a:t>
            </a:r>
            <a:r>
              <a:rPr lang="en-US" sz="2400" dirty="0" err="1" smtClean="0"/>
              <a:t>css</a:t>
            </a:r>
            <a:r>
              <a:rPr lang="en-US" sz="2400" dirty="0" smtClean="0"/>
              <a:t> media queries template looks like this:</a:t>
            </a:r>
            <a:endParaRPr lang="en-US" sz="2400" dirty="0"/>
          </a:p>
        </p:txBody>
      </p:sp>
      <p:sp>
        <p:nvSpPr>
          <p:cNvPr id="4" name="Footer Placeholder 3"/>
          <p:cNvSpPr>
            <a:spLocks noGrp="1"/>
          </p:cNvSpPr>
          <p:nvPr>
            <p:ph type="ftr" sz="quarter" idx="4294967295"/>
          </p:nvPr>
        </p:nvSpPr>
        <p:spPr>
          <a:xfrm>
            <a:off x="990600" y="5942588"/>
            <a:ext cx="7391400" cy="313010"/>
          </a:xfrm>
          <a:prstGeom prst="rect">
            <a:avLst/>
          </a:prstGeom>
        </p:spPr>
        <p:txBody>
          <a:bodyPr/>
          <a:lstStyle/>
          <a:p>
            <a:r>
              <a:rPr lang="en-US" dirty="0" smtClean="0"/>
              <a:t>As new devices come to the market, the </a:t>
            </a:r>
            <a:r>
              <a:rPr lang="en-US" dirty="0" err="1" smtClean="0"/>
              <a:t>css</a:t>
            </a:r>
            <a:r>
              <a:rPr lang="en-US" dirty="0" smtClean="0"/>
              <a:t> media queries will have to be tweaked to cater for these new devices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t>23</a:t>
            </a:fld>
            <a:endParaRPr lang="en-US"/>
          </a:p>
        </p:txBody>
      </p:sp>
      <p:sp>
        <p:nvSpPr>
          <p:cNvPr id="7" name="TextBox 6"/>
          <p:cNvSpPr txBox="1"/>
          <p:nvPr/>
        </p:nvSpPr>
        <p:spPr>
          <a:xfrm>
            <a:off x="1099566" y="2895600"/>
            <a:ext cx="7130034" cy="3046988"/>
          </a:xfrm>
          <a:prstGeom prst="rect">
            <a:avLst/>
          </a:prstGeom>
          <a:solidFill>
            <a:srgbClr val="FFFF00"/>
          </a:solidFill>
        </p:spPr>
        <p:txBody>
          <a:bodyPr wrap="square" rtlCol="0">
            <a:spAutoFit/>
          </a:bodyPr>
          <a:lstStyle/>
          <a:p>
            <a:r>
              <a:rPr lang="en-US" sz="1600" dirty="0"/>
              <a:t>/* All Smartphones in portrait and landscape ----------- */ </a:t>
            </a:r>
            <a:endParaRPr lang="en-US" sz="1600" dirty="0" smtClean="0"/>
          </a:p>
          <a:p>
            <a:r>
              <a:rPr lang="en-US" sz="1600" b="1" dirty="0" smtClean="0"/>
              <a:t>@</a:t>
            </a:r>
            <a:r>
              <a:rPr lang="en-US" sz="1600" b="1" dirty="0"/>
              <a:t>media only screen and (min-device-width : 320px) and (max-device-width : 480px) {</a:t>
            </a:r>
            <a:r>
              <a:rPr lang="en-US" sz="1600" dirty="0"/>
              <a:t> /* YOUR STYLE GOES HERE */ } </a:t>
            </a:r>
            <a:endParaRPr lang="en-US" sz="1600" dirty="0" smtClean="0"/>
          </a:p>
          <a:p>
            <a:r>
              <a:rPr lang="en-US" sz="1600" dirty="0" smtClean="0"/>
              <a:t>/* </a:t>
            </a:r>
            <a:r>
              <a:rPr lang="en-US" sz="1600" dirty="0"/>
              <a:t>All Smartphones in landscape ----------- */ </a:t>
            </a:r>
            <a:endParaRPr lang="en-US" sz="1600" dirty="0" smtClean="0"/>
          </a:p>
          <a:p>
            <a:r>
              <a:rPr lang="en-US" sz="1600" b="1" dirty="0" smtClean="0"/>
              <a:t>@</a:t>
            </a:r>
            <a:r>
              <a:rPr lang="en-US" sz="1600" b="1" dirty="0"/>
              <a:t>media only screen and (min-width : 321px) </a:t>
            </a:r>
            <a:endParaRPr lang="en-US" sz="1600" b="1" dirty="0" smtClean="0"/>
          </a:p>
          <a:p>
            <a:r>
              <a:rPr lang="en-US" sz="1600" b="1" dirty="0" smtClean="0"/>
              <a:t>{</a:t>
            </a:r>
            <a:r>
              <a:rPr lang="en-US" sz="1600" dirty="0" smtClean="0"/>
              <a:t> </a:t>
            </a:r>
            <a:r>
              <a:rPr lang="en-US" sz="1600" dirty="0"/>
              <a:t>/* YOUR STYLE GOES HERE */ } </a:t>
            </a:r>
            <a:endParaRPr lang="en-US" sz="1600" dirty="0" smtClean="0"/>
          </a:p>
          <a:p>
            <a:r>
              <a:rPr lang="en-US" sz="1600" dirty="0" smtClean="0"/>
              <a:t>/* </a:t>
            </a:r>
            <a:r>
              <a:rPr lang="en-US" sz="1600" dirty="0"/>
              <a:t>All Smartphones in portrait ----------- </a:t>
            </a:r>
            <a:r>
              <a:rPr lang="en-US" sz="1600" dirty="0" smtClean="0"/>
              <a:t>*/</a:t>
            </a:r>
          </a:p>
          <a:p>
            <a:r>
              <a:rPr lang="en-US" sz="1600" dirty="0" smtClean="0"/>
              <a:t> </a:t>
            </a:r>
            <a:r>
              <a:rPr lang="en-US" sz="1600" b="1" dirty="0"/>
              <a:t>@media only screen and (max-width : 479px) {</a:t>
            </a:r>
            <a:r>
              <a:rPr lang="en-US" sz="1600" dirty="0"/>
              <a:t> /* YOUR STYLE GOES HERE */ } </a:t>
            </a:r>
            <a:endParaRPr lang="en-US" sz="1600" dirty="0" smtClean="0"/>
          </a:p>
          <a:p>
            <a:r>
              <a:rPr lang="en-US" sz="1600" dirty="0"/>
              <a:t>/* Desktops and laptops ----------- */ </a:t>
            </a:r>
            <a:endParaRPr lang="en-US" sz="1600" dirty="0" smtClean="0"/>
          </a:p>
          <a:p>
            <a:r>
              <a:rPr lang="en-US" sz="1600" b="1" dirty="0" smtClean="0"/>
              <a:t>@</a:t>
            </a:r>
            <a:r>
              <a:rPr lang="en-US" sz="1600" b="1" dirty="0"/>
              <a:t>media only screen and (min-width : 1224px) {</a:t>
            </a:r>
            <a:r>
              <a:rPr lang="en-US" sz="1600" dirty="0"/>
              <a:t> /* YOUR STYLE GOES HERE */ } </a:t>
            </a:r>
            <a:endParaRPr lang="en-US" sz="1600" dirty="0" smtClean="0"/>
          </a:p>
          <a:p>
            <a:r>
              <a:rPr lang="en-US" sz="1600" dirty="0" smtClean="0"/>
              <a:t>/* </a:t>
            </a:r>
            <a:r>
              <a:rPr lang="en-US" sz="1600" dirty="0"/>
              <a:t>Large screens ----------- */ </a:t>
            </a:r>
            <a:r>
              <a:rPr lang="en-US" sz="1600" b="1" dirty="0"/>
              <a:t>@media only screen and (min-width : 1824px) {</a:t>
            </a:r>
            <a:r>
              <a:rPr lang="en-US" sz="1600" dirty="0"/>
              <a:t> /* YOUR STYLE GOES HERE */ </a:t>
            </a:r>
            <a:r>
              <a:rPr lang="en-US" sz="1600" dirty="0" smtClean="0"/>
              <a:t>}</a:t>
            </a:r>
            <a:endParaRPr lang="en-US" sz="1600" b="1" dirty="0"/>
          </a:p>
        </p:txBody>
      </p:sp>
    </p:spTree>
    <p:extLst>
      <p:ext uri="{BB962C8B-B14F-4D97-AF65-F5344CB8AC3E}">
        <p14:creationId xmlns:p14="http://schemas.microsoft.com/office/powerpoint/2010/main" val="25776519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Responsive Web Templates</a:t>
            </a:r>
            <a:endParaRPr lang="en-US" sz="2700" dirty="0"/>
          </a:p>
        </p:txBody>
      </p:sp>
      <p:sp>
        <p:nvSpPr>
          <p:cNvPr id="4" name="Slide Number Placeholder 3"/>
          <p:cNvSpPr>
            <a:spLocks noGrp="1"/>
          </p:cNvSpPr>
          <p:nvPr>
            <p:ph type="sldNum" sz="quarter" idx="12"/>
          </p:nvPr>
        </p:nvSpPr>
        <p:spPr/>
        <p:txBody>
          <a:bodyPr/>
          <a:lstStyle/>
          <a:p>
            <a:fld id="{A6724466-CF14-4098-A57E-6BA1C4EB8FEB}" type="slidenum">
              <a:rPr lang="en-US" smtClean="0"/>
              <a:t>24</a:t>
            </a:fld>
            <a:endParaRPr lang="en-US"/>
          </a:p>
        </p:txBody>
      </p:sp>
      <p:sp>
        <p:nvSpPr>
          <p:cNvPr id="5" name="Content Placeholder 2"/>
          <p:cNvSpPr>
            <a:spLocks noGrp="1"/>
          </p:cNvSpPr>
          <p:nvPr>
            <p:ph idx="1"/>
          </p:nvPr>
        </p:nvSpPr>
        <p:spPr>
          <a:xfrm>
            <a:off x="609600" y="3657600"/>
            <a:ext cx="8324850" cy="3048000"/>
          </a:xfrm>
        </p:spPr>
        <p:txBody>
          <a:bodyPr>
            <a:normAutofit fontScale="85000" lnSpcReduction="20000"/>
          </a:bodyPr>
          <a:lstStyle/>
          <a:p>
            <a:pPr marL="0" indent="0">
              <a:buNone/>
            </a:pPr>
            <a:r>
              <a:rPr lang="en-US" sz="2400" dirty="0" smtClean="0">
                <a:solidFill>
                  <a:schemeClr val="bg2">
                    <a:lumMod val="25000"/>
                  </a:schemeClr>
                </a:solidFill>
              </a:rPr>
              <a:t>Besides using  standard </a:t>
            </a:r>
            <a:r>
              <a:rPr lang="en-US" sz="2400" dirty="0" err="1" smtClean="0">
                <a:solidFill>
                  <a:schemeClr val="bg2">
                    <a:lumMod val="25000"/>
                  </a:schemeClr>
                </a:solidFill>
              </a:rPr>
              <a:t>css</a:t>
            </a:r>
            <a:r>
              <a:rPr lang="en-US" sz="2400" dirty="0" smtClean="0">
                <a:solidFill>
                  <a:schemeClr val="bg2">
                    <a:lumMod val="25000"/>
                  </a:schemeClr>
                </a:solidFill>
              </a:rPr>
              <a:t> media queries, you can build a website using responsive web templates (</a:t>
            </a:r>
            <a:r>
              <a:rPr lang="en-US" sz="2400" dirty="0" smtClean="0">
                <a:solidFill>
                  <a:schemeClr val="bg2">
                    <a:lumMod val="25000"/>
                  </a:schemeClr>
                </a:solidFill>
              </a:rPr>
              <a:t>usually built on HTML5 and CSS3), </a:t>
            </a:r>
            <a:r>
              <a:rPr lang="en-US" sz="2400" dirty="0" smtClean="0">
                <a:solidFill>
                  <a:schemeClr val="bg2">
                    <a:lumMod val="25000"/>
                  </a:schemeClr>
                </a:solidFill>
              </a:rPr>
              <a:t>available online:</a:t>
            </a:r>
            <a:endParaRPr lang="en-US" sz="2400" dirty="0">
              <a:solidFill>
                <a:schemeClr val="bg2">
                  <a:lumMod val="25000"/>
                </a:schemeClr>
              </a:solidFill>
            </a:endParaRPr>
          </a:p>
          <a:p>
            <a:r>
              <a:rPr lang="en-US" sz="2400" dirty="0"/>
              <a:t> </a:t>
            </a:r>
            <a:r>
              <a:rPr lang="en-US" sz="2400" dirty="0">
                <a:hlinkClick r:id="rId2"/>
              </a:rPr>
              <a:t>https://html5up.net</a:t>
            </a:r>
            <a:r>
              <a:rPr lang="en-US" sz="2400" dirty="0" smtClean="0">
                <a:hlinkClick r:id="rId2"/>
              </a:rPr>
              <a:t>/</a:t>
            </a:r>
            <a:endParaRPr lang="en-US" sz="2400" dirty="0" smtClean="0"/>
          </a:p>
          <a:p>
            <a:r>
              <a:rPr lang="en-US" sz="2400" dirty="0">
                <a:hlinkClick r:id="rId3"/>
              </a:rPr>
              <a:t>https://templated.co</a:t>
            </a:r>
            <a:r>
              <a:rPr lang="en-US" sz="2400" dirty="0" smtClean="0">
                <a:hlinkClick r:id="rId3"/>
              </a:rPr>
              <a:t>/</a:t>
            </a:r>
            <a:endParaRPr lang="en-US" sz="2400" dirty="0" smtClean="0"/>
          </a:p>
          <a:p>
            <a:endParaRPr lang="en-US" sz="2400" dirty="0" smtClean="0"/>
          </a:p>
          <a:p>
            <a:endParaRPr lang="en-US" sz="2400" dirty="0"/>
          </a:p>
          <a:p>
            <a:endParaRPr lang="en-US" sz="2400" dirty="0" smtClean="0"/>
          </a:p>
          <a:p>
            <a:endParaRPr lang="en-US" sz="2400" dirty="0"/>
          </a:p>
          <a:p>
            <a:r>
              <a:rPr lang="en-US" sz="2400" dirty="0" smtClean="0"/>
              <a:t>These templates come with the CSS media queries that cater to most devices.</a:t>
            </a:r>
            <a:endParaRPr lang="en-US" sz="2400" dirty="0"/>
          </a:p>
        </p:txBody>
      </p:sp>
      <p:pic>
        <p:nvPicPr>
          <p:cNvPr id="3" name="Picture 2"/>
          <p:cNvPicPr>
            <a:picLocks noChangeAspect="1"/>
          </p:cNvPicPr>
          <p:nvPr/>
        </p:nvPicPr>
        <p:blipFill>
          <a:blip r:embed="rId4"/>
          <a:stretch>
            <a:fillRect/>
          </a:stretch>
        </p:blipFill>
        <p:spPr>
          <a:xfrm>
            <a:off x="3376048" y="4429768"/>
            <a:ext cx="5295512" cy="1503664"/>
          </a:xfrm>
          <a:prstGeom prst="rect">
            <a:avLst/>
          </a:prstGeom>
        </p:spPr>
      </p:pic>
      <p:pic>
        <p:nvPicPr>
          <p:cNvPr id="6" name="Picture 5"/>
          <p:cNvPicPr>
            <a:picLocks noChangeAspect="1"/>
          </p:cNvPicPr>
          <p:nvPr/>
        </p:nvPicPr>
        <p:blipFill>
          <a:blip r:embed="rId5"/>
          <a:stretch>
            <a:fillRect/>
          </a:stretch>
        </p:blipFill>
        <p:spPr>
          <a:xfrm>
            <a:off x="451485" y="1219200"/>
            <a:ext cx="8220075" cy="2381250"/>
          </a:xfrm>
          <a:prstGeom prst="rect">
            <a:avLst/>
          </a:prstGeom>
        </p:spPr>
      </p:pic>
    </p:spTree>
    <p:extLst>
      <p:ext uri="{BB962C8B-B14F-4D97-AF65-F5344CB8AC3E}">
        <p14:creationId xmlns:p14="http://schemas.microsoft.com/office/powerpoint/2010/main" val="220868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a:xfrm>
            <a:off x="834220" y="1444148"/>
            <a:ext cx="7395380" cy="4876800"/>
          </a:xfrm>
        </p:spPr>
        <p:txBody>
          <a:bodyPr>
            <a:normAutofit fontScale="92500" lnSpcReduction="10000"/>
          </a:bodyPr>
          <a:lstStyle/>
          <a:p>
            <a:r>
              <a:rPr lang="en-US" dirty="0" smtClean="0"/>
              <a:t>There are many evolving standards to help you in responsive design to support different layouts.</a:t>
            </a:r>
          </a:p>
          <a:p>
            <a:r>
              <a:rPr lang="en-US" dirty="0" smtClean="0"/>
              <a:t>These may be device / browser specific or it could be a generic CSS/CSS3 standard.</a:t>
            </a:r>
          </a:p>
          <a:p>
            <a:r>
              <a:rPr lang="en-US" dirty="0" smtClean="0"/>
              <a:t>Some standards may become deprecated.</a:t>
            </a:r>
          </a:p>
          <a:p>
            <a:r>
              <a:rPr lang="en-US" dirty="0" smtClean="0"/>
              <a:t>Constant check and updates by the developer is required, in view of these evolving </a:t>
            </a:r>
            <a:r>
              <a:rPr lang="en-US" dirty="0" smtClean="0"/>
              <a:t>standards, and emerging devices.</a:t>
            </a:r>
            <a:endParaRPr lang="en-US" dirty="0" smtClean="0"/>
          </a:p>
          <a:p>
            <a:r>
              <a:rPr lang="en-US" dirty="0" smtClean="0"/>
              <a:t>Basically, a combination of design methods is the best solution. </a:t>
            </a:r>
            <a:r>
              <a:rPr lang="en-US" dirty="0" err="1" smtClean="0"/>
              <a:t>Eg</a:t>
            </a:r>
            <a:r>
              <a:rPr lang="en-US" dirty="0" smtClean="0"/>
              <a:t>. Employing fluid grids with @Media queries in your CSS + meta tag controls such as “Viewport</a:t>
            </a:r>
            <a:r>
              <a:rPr lang="en-US" dirty="0" smtClean="0"/>
              <a:t>”,</a:t>
            </a:r>
            <a:r>
              <a:rPr lang="en-US" dirty="0" err="1" smtClean="0"/>
              <a:t>etc</a:t>
            </a:r>
            <a:r>
              <a:rPr lang="en-US" dirty="0" smtClean="0"/>
              <a:t>.</a:t>
            </a:r>
            <a:endParaRPr lang="en-US" dirty="0"/>
          </a:p>
          <a:p>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t>25</a:t>
            </a:fld>
            <a:endParaRPr lang="en-US"/>
          </a:p>
        </p:txBody>
      </p:sp>
    </p:spTree>
    <p:extLst>
      <p:ext uri="{BB962C8B-B14F-4D97-AF65-F5344CB8AC3E}">
        <p14:creationId xmlns:p14="http://schemas.microsoft.com/office/powerpoint/2010/main" val="237170785"/>
      </p:ext>
    </p:extLst>
  </p:cSld>
  <p:clrMapOvr>
    <a:masterClrMapping/>
  </p:clrMapOvr>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E4A77F67-C282-4373-9A32-27375E749539}">
  <ds:schemaRefs>
    <ds:schemaRef ds:uri="http://schemas.microsoft.com/sharepoint/v3/contenttype/forms"/>
  </ds:schemaRefs>
</ds:datastoreItem>
</file>

<file path=customXml/itemProps2.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2CAF96FE-069F-4E95-9021-A70B136A67F9}">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Austin</Template>
  <TotalTime>8043</TotalTime>
  <Words>2125</Words>
  <Application>Microsoft Office PowerPoint</Application>
  <PresentationFormat>On-screen Show (4:3)</PresentationFormat>
  <Paragraphs>184</Paragraphs>
  <Slides>25</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Proxima Nova Regular</vt:lpstr>
      <vt:lpstr>Arial</vt:lpstr>
      <vt:lpstr>Calibri</vt:lpstr>
      <vt:lpstr>Wingdings</vt:lpstr>
      <vt:lpstr>ppt template</vt:lpstr>
      <vt:lpstr>Training of Trainers Program (Bangladesh TVET)</vt:lpstr>
      <vt:lpstr>What is the web build on?</vt:lpstr>
      <vt:lpstr>What is the web build on?</vt:lpstr>
      <vt:lpstr>IT1322 – Principles of Web Usability Design</vt:lpstr>
      <vt:lpstr>Exploring Web Responsiveness</vt:lpstr>
      <vt:lpstr>Exploring Web Responsiveness</vt:lpstr>
      <vt:lpstr>Exploring Web Responsiveness</vt:lpstr>
      <vt:lpstr>Exploring Web Responsiveness</vt:lpstr>
      <vt:lpstr>Responsive Design – What and Why?</vt:lpstr>
      <vt:lpstr>Responsive Design</vt:lpstr>
      <vt:lpstr>Fixed vs. Fluid vs. Adaptive vs. Responsive </vt:lpstr>
      <vt:lpstr>Fluid Grid vs Fixed Grids </vt:lpstr>
      <vt:lpstr>Fixed Grid Layout</vt:lpstr>
      <vt:lpstr>Fluid Grids</vt:lpstr>
      <vt:lpstr>Fluid Grid</vt:lpstr>
      <vt:lpstr>Responsive Design – Media Queries</vt:lpstr>
      <vt:lpstr>Responsive Design – Media Queries</vt:lpstr>
      <vt:lpstr>Responsive Design – Media Queries</vt:lpstr>
      <vt:lpstr>Responsive Design –  Method 1 - Using Media Attribute</vt:lpstr>
      <vt:lpstr>Responsive Design –  Method 2 - Using @Media Queries in css </vt:lpstr>
      <vt:lpstr>Responsive Design – Media Queries Eg 1</vt:lpstr>
      <vt:lpstr>Responsive Design – Media Queries Eg 2</vt:lpstr>
      <vt:lpstr>Typical Media Query  Standards</vt:lpstr>
      <vt:lpstr>Responsive Web Templates</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tommy low</cp:lastModifiedBy>
  <cp:revision>225</cp:revision>
  <dcterms:created xsi:type="dcterms:W3CDTF">2012-03-19T05:26:54Z</dcterms:created>
  <dcterms:modified xsi:type="dcterms:W3CDTF">2017-07-17T19:45:17Z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ies>
</file>