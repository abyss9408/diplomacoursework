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4"/>
  </p:sldMasterIdLst>
  <p:notesMasterIdLst>
    <p:notesMasterId r:id="rId32"/>
  </p:notesMasterIdLst>
  <p:sldIdLst>
    <p:sldId id="256" r:id="rId5"/>
    <p:sldId id="283" r:id="rId6"/>
    <p:sldId id="257" r:id="rId7"/>
    <p:sldId id="259" r:id="rId8"/>
    <p:sldId id="260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58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20" y="-4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296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C71D6-FDB5-421D-9DF1-BDC204203C9D}" type="datetimeFigureOut">
              <a:rPr lang="en-US" smtClean="0"/>
              <a:t>10/9/2013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0B6FCC-464D-4AE1-AA54-4E87541D8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927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0B6FCC-464D-4AE1-AA54-4E87541D88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6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Demo</a:t>
            </a:r>
            <a:r>
              <a:rPr lang="en-GB" smtClean="0"/>
              <a:t>:</a:t>
            </a:r>
            <a:r>
              <a:rPr lang="en-GB" baseline="0" smtClean="0"/>
              <a:t> cssdemo.html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0B6FCC-464D-4AE1-AA54-4E87541D886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005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0B6FCC-464D-4AE1-AA54-4E87541D886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854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7D0065BE-0657-4A47-90AD-C21C55E16B19}" type="datetime4">
              <a:rPr lang="en-US" smtClean="0"/>
              <a:pPr/>
              <a:t>October 9, 2013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October 9, 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October 9, 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October 9, 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October 9, 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October 9, 2013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October 9, 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October 9, 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October 9, 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62B1B13E-D5AF-485E-81A1-82A140076526}" type="datetime4">
              <a:rPr lang="en-US" smtClean="0"/>
              <a:pPr/>
              <a:t>October 9, 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IT1322 2012 S1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4400" y="533400"/>
            <a:ext cx="3724835" cy="1702160"/>
          </a:xfrm>
        </p:spPr>
        <p:txBody>
          <a:bodyPr>
            <a:noAutofit/>
          </a:bodyPr>
          <a:lstStyle/>
          <a:p>
            <a:r>
              <a:rPr lang="en-US" dirty="0" smtClean="0"/>
              <a:t>IT2771 – </a:t>
            </a:r>
            <a:br>
              <a:rPr lang="en-US" dirty="0" smtClean="0"/>
            </a:br>
            <a:r>
              <a:rPr lang="en-US" dirty="0" smtClean="0"/>
              <a:t>Rich Internet</a:t>
            </a:r>
            <a:br>
              <a:rPr lang="en-US" dirty="0" smtClean="0"/>
            </a:br>
            <a:r>
              <a:rPr lang="en-US" dirty="0" smtClean="0"/>
              <a:t>Application Development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Cascading Style Sheets 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223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Recap 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6176" y="685800"/>
            <a:ext cx="7252594" cy="48768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Simple HTML5 document, with minimum required tags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534331" y="1752600"/>
            <a:ext cx="4124414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&lt;!DOCTYPE html&gt;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&lt;html&gt;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&lt;head&gt;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&lt;title&gt;</a:t>
            </a:r>
            <a:r>
              <a:rPr lang="en-US" sz="1600" b="1" i="1" dirty="0" smtClean="0">
                <a:latin typeface="Courier New" pitchFamily="49" charset="0"/>
                <a:cs typeface="Courier New" pitchFamily="49" charset="0"/>
              </a:rPr>
              <a:t>Title of document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&lt;/title&gt;   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&lt;/head&gt;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&lt;body&gt;</a:t>
            </a:r>
          </a:p>
          <a:p>
            <a:r>
              <a:rPr lang="en-US" sz="1600" b="1" i="1" dirty="0" smtClean="0">
                <a:latin typeface="Courier New" pitchFamily="49" charset="0"/>
                <a:cs typeface="Courier New" pitchFamily="49" charset="0"/>
              </a:rPr>
              <a:t>The content of document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&lt;/body&gt;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&lt;/html&gt;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990600" y="4214160"/>
            <a:ext cx="3200400" cy="1981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itchFamily="2" charset="2"/>
              <a:buChar char="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Calibri" pitchFamily="34" charset="0"/>
              <a:buChar char="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 pitchFamily="2" charset="2"/>
              <a:buChar char="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Structural elements in HTML5 for page layout</a:t>
            </a:r>
            <a:endParaRPr lang="en-US" sz="2400" dirty="0"/>
          </a:p>
        </p:txBody>
      </p:sp>
      <p:grpSp>
        <p:nvGrpSpPr>
          <p:cNvPr id="8" name="Group 7"/>
          <p:cNvGrpSpPr/>
          <p:nvPr/>
        </p:nvGrpSpPr>
        <p:grpSpPr>
          <a:xfrm>
            <a:off x="4038600" y="4214160"/>
            <a:ext cx="4264430" cy="2468880"/>
            <a:chOff x="1066800" y="1828800"/>
            <a:chExt cx="7239000" cy="4191000"/>
          </a:xfrm>
        </p:grpSpPr>
        <p:sp>
          <p:nvSpPr>
            <p:cNvPr id="9" name="Rectangle 8"/>
            <p:cNvSpPr/>
            <p:nvPr/>
          </p:nvSpPr>
          <p:spPr>
            <a:xfrm>
              <a:off x="1066800" y="1828800"/>
              <a:ext cx="7239000" cy="41910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4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219200" y="1981200"/>
              <a:ext cx="69342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400" dirty="0" smtClean="0"/>
                <a:t>&lt;header&gt;</a:t>
              </a:r>
              <a:endParaRPr lang="en-SG" sz="140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219200" y="5334000"/>
              <a:ext cx="69342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400" dirty="0" smtClean="0"/>
                <a:t>&lt;footer&gt;</a:t>
              </a:r>
              <a:endParaRPr lang="en-SG" sz="1400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219200" y="2680447"/>
              <a:ext cx="1828800" cy="2514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400" dirty="0" smtClean="0"/>
                <a:t>&lt;</a:t>
              </a:r>
              <a:r>
                <a:rPr lang="en-GB" sz="1400" dirty="0" err="1" smtClean="0"/>
                <a:t>nav</a:t>
              </a:r>
              <a:r>
                <a:rPr lang="en-GB" sz="1400" dirty="0" smtClean="0"/>
                <a:t>&gt;</a:t>
              </a:r>
            </a:p>
            <a:p>
              <a:pPr algn="ctr"/>
              <a:endParaRPr lang="en-GB" sz="1400" dirty="0"/>
            </a:p>
            <a:p>
              <a:pPr algn="ctr"/>
              <a:endParaRPr lang="en-GB" sz="1400" dirty="0" smtClean="0"/>
            </a:p>
            <a:p>
              <a:pPr algn="ctr"/>
              <a:endParaRPr lang="en-GB" sz="1400" dirty="0"/>
            </a:p>
            <a:p>
              <a:pPr algn="ctr"/>
              <a:endParaRPr lang="en-GB" sz="1400" dirty="0" smtClean="0"/>
            </a:p>
            <a:p>
              <a:pPr algn="ctr"/>
              <a:endParaRPr lang="en-GB" sz="1400" dirty="0"/>
            </a:p>
            <a:p>
              <a:pPr algn="ctr"/>
              <a:endParaRPr lang="en-SG" sz="140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297706" y="2680447"/>
              <a:ext cx="1828800" cy="2514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400" dirty="0" smtClean="0"/>
                <a:t>&lt;aside&gt;</a:t>
              </a:r>
            </a:p>
            <a:p>
              <a:pPr algn="ctr"/>
              <a:endParaRPr lang="en-GB" sz="1400" dirty="0"/>
            </a:p>
            <a:p>
              <a:pPr algn="ctr"/>
              <a:endParaRPr lang="en-GB" sz="1400" dirty="0" smtClean="0"/>
            </a:p>
            <a:p>
              <a:pPr algn="ctr"/>
              <a:endParaRPr lang="en-GB" sz="1400" dirty="0"/>
            </a:p>
            <a:p>
              <a:pPr algn="ctr"/>
              <a:endParaRPr lang="en-GB" sz="1400" dirty="0" smtClean="0"/>
            </a:p>
            <a:p>
              <a:pPr algn="ctr"/>
              <a:endParaRPr lang="en-GB" sz="1400" dirty="0"/>
            </a:p>
            <a:p>
              <a:pPr algn="ctr"/>
              <a:endParaRPr lang="en-SG" sz="1400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158939" y="2680447"/>
              <a:ext cx="3027829" cy="2514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400" dirty="0" smtClean="0"/>
                <a:t>&lt;section&gt;</a:t>
              </a:r>
            </a:p>
            <a:p>
              <a:pPr algn="ctr"/>
              <a:endParaRPr lang="en-GB" sz="1400" dirty="0"/>
            </a:p>
            <a:p>
              <a:pPr algn="ctr"/>
              <a:endParaRPr lang="en-GB" sz="1400" dirty="0" smtClean="0"/>
            </a:p>
            <a:p>
              <a:pPr algn="ctr"/>
              <a:endParaRPr lang="en-GB" sz="1400" dirty="0"/>
            </a:p>
            <a:p>
              <a:pPr algn="ctr"/>
              <a:endParaRPr lang="en-GB" sz="1400" dirty="0" smtClean="0"/>
            </a:p>
            <a:p>
              <a:pPr algn="ctr"/>
              <a:endParaRPr lang="en-GB" sz="1400" dirty="0"/>
            </a:p>
            <a:p>
              <a:pPr algn="ctr"/>
              <a:endParaRPr lang="en-SG" sz="1400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810000" y="3937747"/>
              <a:ext cx="2224368" cy="1080247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400" dirty="0" smtClean="0"/>
                <a:t>&lt;article&gt;</a:t>
              </a:r>
              <a:endParaRPr lang="en-SG" sz="1400" dirty="0"/>
            </a:p>
          </p:txBody>
        </p:sp>
      </p:grpSp>
      <p:sp>
        <p:nvSpPr>
          <p:cNvPr id="16" name="5-Point Star 15"/>
          <p:cNvSpPr/>
          <p:nvPr/>
        </p:nvSpPr>
        <p:spPr>
          <a:xfrm rot="1367558">
            <a:off x="8060701" y="-989"/>
            <a:ext cx="914400" cy="914400"/>
          </a:xfrm>
          <a:prstGeom prst="star5">
            <a:avLst/>
          </a:pr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241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81000"/>
            <a:ext cx="7024744" cy="1143000"/>
          </a:xfrm>
        </p:spPr>
        <p:txBody>
          <a:bodyPr/>
          <a:lstStyle/>
          <a:p>
            <a:r>
              <a:rPr lang="en-US" dirty="0" smtClean="0"/>
              <a:t>Learning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6620" y="1752600"/>
            <a:ext cx="7319180" cy="4876800"/>
          </a:xfrm>
        </p:spPr>
        <p:txBody>
          <a:bodyPr/>
          <a:lstStyle/>
          <a:p>
            <a:pPr lvl="0"/>
            <a:r>
              <a:rPr lang="en-US" dirty="0" smtClean="0"/>
              <a:t>Learn </a:t>
            </a:r>
            <a:r>
              <a:rPr lang="en-US" dirty="0"/>
              <a:t>how to create a basic Style </a:t>
            </a:r>
            <a:r>
              <a:rPr lang="en-US" dirty="0" smtClean="0"/>
              <a:t>Sheet</a:t>
            </a:r>
          </a:p>
          <a:p>
            <a:pPr lvl="0"/>
            <a:r>
              <a:rPr lang="en-US" dirty="0" smtClean="0"/>
              <a:t>Learn how to use inheritance to write simpler style rules</a:t>
            </a:r>
            <a:endParaRPr lang="en-US" dirty="0"/>
          </a:p>
          <a:p>
            <a:pPr lvl="0"/>
            <a:r>
              <a:rPr lang="en-US" dirty="0"/>
              <a:t>Learn how to apply basic selection techniques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3</a:t>
            </a:fld>
            <a:endParaRPr lang="en-US"/>
          </a:p>
        </p:txBody>
      </p:sp>
      <p:pic>
        <p:nvPicPr>
          <p:cNvPr id="1027" name="Picture 3" descr="C:\Users\EvyLim\AppData\Local\Microsoft\Windows\Temporary Internet Files\Content.IE5\RDIUZASU\MC900367656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8762" y="4267200"/>
            <a:ext cx="2776538" cy="2193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023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609600"/>
            <a:ext cx="7024744" cy="1143000"/>
          </a:xfrm>
        </p:spPr>
        <p:txBody>
          <a:bodyPr/>
          <a:lstStyle/>
          <a:p>
            <a:r>
              <a:rPr lang="en-US" dirty="0" smtClean="0"/>
              <a:t>What is CSS?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05000"/>
            <a:ext cx="6777317" cy="3508977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lang="en-US" dirty="0"/>
              <a:t>CSS stands for </a:t>
            </a:r>
            <a:r>
              <a:rPr lang="en-US" b="1" u="sng" dirty="0">
                <a:solidFill>
                  <a:schemeClr val="accent2"/>
                </a:solidFill>
              </a:rPr>
              <a:t>C</a:t>
            </a:r>
            <a:r>
              <a:rPr lang="en-US" dirty="0"/>
              <a:t>ascading </a:t>
            </a:r>
            <a:r>
              <a:rPr lang="en-US" b="1" u="sng" dirty="0">
                <a:solidFill>
                  <a:schemeClr val="accent2"/>
                </a:solidFill>
              </a:rPr>
              <a:t>S</a:t>
            </a:r>
            <a:r>
              <a:rPr lang="en-US" dirty="0"/>
              <a:t>tyle </a:t>
            </a:r>
            <a:r>
              <a:rPr lang="en-US" b="1" u="sng" dirty="0">
                <a:solidFill>
                  <a:schemeClr val="accent2"/>
                </a:solidFill>
              </a:rPr>
              <a:t>S</a:t>
            </a:r>
            <a:r>
              <a:rPr lang="en-US" dirty="0"/>
              <a:t>heets</a:t>
            </a:r>
          </a:p>
          <a:p>
            <a:pPr>
              <a:spcAft>
                <a:spcPts val="1000"/>
              </a:spcAft>
            </a:pPr>
            <a:r>
              <a:rPr lang="en-US" dirty="0"/>
              <a:t>Styles define how to display HTML elements</a:t>
            </a:r>
          </a:p>
          <a:p>
            <a:pPr>
              <a:spcAft>
                <a:spcPts val="1000"/>
              </a:spcAft>
            </a:pPr>
            <a:r>
              <a:rPr lang="en-US" dirty="0"/>
              <a:t>Styles were added to HTML 4.0 to solve a </a:t>
            </a:r>
            <a:r>
              <a:rPr lang="en-US" dirty="0" smtClean="0"/>
              <a:t>problem </a:t>
            </a:r>
            <a:r>
              <a:rPr lang="en-US" dirty="0" smtClean="0">
                <a:sym typeface="Wingdings" pitchFamily="2" charset="2"/>
              </a:rPr>
              <a:t> formatting a document</a:t>
            </a:r>
            <a:endParaRPr lang="en-US" dirty="0" smtClean="0"/>
          </a:p>
          <a:p>
            <a:pPr>
              <a:spcAft>
                <a:spcPts val="1000"/>
              </a:spcAft>
            </a:pPr>
            <a:r>
              <a:rPr lang="en-US" dirty="0" smtClean="0"/>
              <a:t>Styles are usually stored in external .</a:t>
            </a:r>
            <a:r>
              <a:rPr lang="en-US" dirty="0" err="1" smtClean="0"/>
              <a:t>css</a:t>
            </a:r>
            <a:r>
              <a:rPr lang="en-US" dirty="0" smtClean="0"/>
              <a:t> files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4</a:t>
            </a:fld>
            <a:endParaRPr lang="en-US"/>
          </a:p>
        </p:txBody>
      </p:sp>
      <p:sp>
        <p:nvSpPr>
          <p:cNvPr id="6" name="AutoShape 4" descr="data:image/jpeg;base64,/9j/4AAQSkZJRgABAQAAAQABAAD/2wCEAAkGBhQSEBQSEhQVFRUVFBYVFRQXFxQVFRQVFBQVFBQVFRYXHSYeFxojGRQUHy8gJCcpLCwsFR4xNTAqNSYrLCkBCQoKDgwOGg8PGjAfHiUsKTI1LSksLC0sMiwuKS4vKi40LCwsKSksLywsLjQ1LCwsKjAsLCwsLywsLCwpLCwsLP/AABEIAOEA4QMBIgACEQEDEQH/xAAbAAABBQEBAAAAAAAAAAAAAAAAAgMEBQYBB//EAEEQAAECAwUGBQEHAwMCBwEAAAEAAgMRIQQFEjFRBkFhcYGREyIyobFSBxRCcsHR4WKCkiMz8HOyJENToqOz8Rb/xAAbAQEAAwEBAQEAAAAAAAAAAAAAAwQFBgIBB//EADARAAIBAgMFBgYDAQAAAAAAAAABAgMRBCExBRJBUWETcYGhsfAUIjLB0fFCkeEj/9oADAMBAAIRAxEAPwD3FCEIAQhCAEIQgBCEIAQhcmgOoSTECQbQEA6hMG0cEkxXICSuFyjGeq5hQD5jDVJNpG5MkgaBINpbqgHzHOiSXnVRzbBuCQ61nggJYeRvT8OJNV9ntBJkVJa6ThxQEpC4F1ACEIQAhCEAIQhACEIQAhMxIu4Jsk6oCSXJBjDVMYVyYGiAeNpHFJMc6Jkxwkm08EA8XnVclxUc2k8EgxTqgJeEJJigbwoZKEBJNqHFINr0CYKEA460uSC8neUlxlUqmtG19kYZGMD+UOcO7QQgLlcUaw3pDjMxwnY2zImA7MZioT5icJcSQEApCr3XnMyY0u5A/wDPZSoIJE3Ag6T/AGkgH2PkQeKnRMp6VVcIY0VjDM2jl/CAlMKWmLM6nsn0AITcWO1om5wA1JA+VyFaWu9LmnkQfhD7biOoQhD4CEIQAkvKUmo2SAZad+qjujFOwHTb1I7FMOFUAFx1SUOMqpo2puvXTmgHUJp9pAIGc9KpWI6d5BAKUO8b4hQBOK8NnkM3Hk0VKZv69TZ4D4plMUaNXOo0ct/IFY3Z3Zt1tc60Wl7i0ulnJzyM6/haMqchKSAvX/aFZgcopGuFo+XTVzEveG2B45JwYA/KsiAQJamYEuKjs2UsgEvAh8yJn/Imaa2rsBfYnw4Y9IaQ0fTDIOEDkPZAZobRW61ud92ZgYDuwU0xPfSfASVzs3CtwiuFqccGCk/DdN0xkW1ymqfY3aqFAheDFm3zFweASDilR0qg0zW0sV5wownCiNfrhIJHMZhAZH7RLwc0Q4IccLgXvrLFIyaDLdQnsrG79grM2G3GDEcQCXYnATI/CGkU7qRtZs396Y0sIERk8M8nA5tJ3ZTB/dZiFeN4WRuFzHFjaDEzG0AaPbkOqA3V3XayBDEOGCGgk1JJm4zNSk3lUNb9TwDyVNs7to20OEOI0Q4h9MjNj5VIE6g8PdW95RPKHCuFwNJoBy22jwoc2tnUNa3iTIJF3Wx0QODwA5jsJAqP+ZrtsvEQ2YyM/SJgYicpZqvu58VrTFwBzYji4hvrGkp0IQFhZ4ha8w3V3sOo06K1sjqELPx4hJguIc1xJ8pNQJgVlLd8q6skg7mgJ0AycR1TF+3p93s74spkCTW/U9xk0dyPdOkycD0WF20vYx7SLO0kQ4JBdIyxRJZT0aHS5k6L49Mj3TcVJOehyxWF0Z2OO4xHnMnIcGjJo4BWca52NE2zB1FPcJNzXaMIPnHEPd+pXb2iuhijsY0Mg7oRTuFF2djV+OjOSX0ryG7v2tdAithxzihuIaHnNhNBM7288luAV4rf9ta+E7keYOhXrVwRy+ywHO9ToMMnmWNJXylNtuLPW08LCnCFaH8r93DMsULk0KcxTqbiJxIegIVnzcOM+4/hNR2nEa+ydbSIeI+D/K5HFUBEfZ5mpMtJy38EowmgGg4pURs98tUzjaAZeYnjMlAcEm5eY5Z1knYcSdJEHiuEyAoBwyTfj1q4cgP1QGa+0ef3eHp4tf8AB8v1VnscR9xgy0dPnjdP3S9pLsNpsz4bR5qOZMj1NqB1Ex1WS2N2kEDFAjnA3ESHEHyOyc12gp0M0B6GuF0s1DN5wMOIxoctfEZL2KYu6/4EaK6FCdic0YpykCJyOEnOUx3QEa8dlLLGJcWEOOboc2zOpHpPZY/aHZ59icyLCe6RdJrjIPY4CdZUIIB7ZK6j/aJgiPY6DPC9zQQ+Uw0kAkFvBVVut9ovN7WQ4eFjTPeWgmmJ75Sy3D3QG4ue3GNZ4cUkDEwEyGRydnxBUzw+fx8KujXGDY/urXYf9MMxETyIJJE99e6y/wD/AAFo9JtDcOk4hH+OSAgXgxhvVv3eX+7D9MpYwQXkS3UM+q9IiMDgQciJKluDZOHZTjmXxJSxkSkN4a3dzqVeICoxCH/pxWhzQZtJAPypZvOGBn0AKkRcJEnSPA1TLLKwGYZ7fugGLPDMR/iOEmj0j9VYNdIg6JMzoOpXMJ17D90AbQXoLPAdFMvKJie85NHeS8/uYMc4vcGuLiXOcWF0yTMnE4HedVJ+0DaNgiQ4DogaGjG7eScmyA0Ez1CNnb0hGTvFMpym4PaO5C+XR63ZWvbI1dmhwS2bQycs2Sa4f4SIWav+0uE8Li8fSfV/a4erka8StBeEaG6HPyvG51D2cKjoVgL9jkTLXFzZ7/WzSZ/E2e/vqvp5KtjfvFohQgaRXtYSPpJqeYE17xZmhrQ0CQAAA0AEgOy8p+zm7PEtL7ScmDC3/qv9Z/x/+xeqQCviik7ksq05QjTbyV7eOpJmhcQvpEOJLkpcKAgRaPb1HcItIpRdtlJHQj5SooogIb4ZIkTLl/KYZDrRp0xEy9gpaEBHFnE6yJlSVJcUsQGjcPn5UazNnGiu0k32/hTSgOKlvrZGBaTjcCx+97JAn8wNDzz4q48Qa9q/CMegPwgMcz7NGTrGeRwY0HvM/Cv7o2agWasNvmlLG44nS3gbh0AVlXgO5/ZcwcT8IBMSztNXNaeJAPyuh4FBLkP2C74Q586/K6AgE49Afj5XJngPdOLhQCMB17SCPCHPnVcjRg0TKZ+9k5Md1kAgJAC6oL7a7Ro5mabZGc4yxy5CfwgJ8R8gSdyaiWoCGXmgkTXcBqmfu5DX1Jm050/crJ7dXwYdiEIEYopLKZ4ZkvPan9y8yluq5LRpOrUUFxZiX2g2m1RI5Hrd5dQ0UYO0uq9B+7CFCZCkPKJu4udU9qBZrYq7AYgeR5YYxnifwjqfhau0EzLHt8xNDkZk1JO8SJ7DjPNjd3k+J12I3YuNKOkV7/pepQXxDwMDoZwPcSaektGrcjMrJxryLicQk4eV7edKcCFoL7todEdLJvlHIKBsTcf3q3GKf9uDhc7+p2KcNv8A7SenFSUa0nU3eBUx+AprDdtpJffgembIXN92ssOGfVLE/i91Xdsv7Vp4LVEs7FPhtWgcuLkuJUkIBS4V1CAiWxs2lJaZtHEfIT0cUUezHy8pjsUBHxHTvIIrwHunHBMWmGS3ymRFRzG48EBHsUPzRTM/7h4ZDgpQhDT9flV92vc4k+luIuPEn8PJWRKAFwlQrdfMOF6nV+kVd23dVm7w2niPozyDu7vkOndRzqxjqXcPga1f6VZc3oaW3XrDhDzuA0GbjyAqqJ+3AD/9s4N7p+YDXCBLpNZqI4kkmpOZNSeZTDiqksRJ6ZHQ0NjUYr/p8z/o9RbGBAMxI5Gec8pLr4oEpkCdAsfsnamva6C71NE2Ek+jcB+U05ELUsa0ta4tmSNwmeKuQkpxujmcTQlh6rpy4enAV98buM+QJ+E4Hk5DvRJEduQBOQoN248k6vZXItuYTDOVK5aFKiQwWzcTLPOXwnY3pM9CosG1+QUnSXaiAQC3IADialOw3MbvmdVwR55BvsiZ+po7IBw2hppNeQX/AGw2i1kZthTY3Sc5vPen9oXou015Ns1mfExAulJn53Ub7n2Xnuyt1+JEa07zNx4Criek+6p4qWSguJv7GopOVeWkfb8vU2dxWLw4DRk5/wDqHKZAoxtaVqUi9bR4bXnKXlaK0c4TJkSZEDMT3KxixxJx3HJpaZSA8gxAiU2/OUqrK7Q2moh/SJu/M6pUEnuxNChF1qt3796GZve1YWr0r7O7k8CxMLhJ8X/Vfr5gMA6MDepK80u6w/e7bCg/hLsT/wDpsq7vl/cvdbLDopMJDWZBt7EW3aC739iTAYpbQm4bU8FfOXOyQhCAEIQgGogUSz5uHH5H8Ka9QQ6TzxHwf5QCYzpHIpsuOnc/soV437DaZN850GXV2XyqC2XtEiUJkPpbTucyopVYxL1DA1audrLqXNpvWHCmAZmZOFgmZnUmgVFbr7iPoCWjQEz6n9pKGU04qtOrKRuYfZ9Klm1d9fwNuTTlb3ZdIeDFiv8ADgtMi7e4/Swbyrey3nd4Ph+FQ0xvYHDmSSXDso1C+rsW54ncbUYuVtbe/IxbimXFWl+2NsO0xIbKNDvLM0AIDgJ9VDEEbgXccmDmd6ias7F+nUUoqS4q5Gs1rdCiNiNzaZ8xvb1EwvR7ltYiQg5tQZy5Gv6rzm0NmCRXKZAk0buqutir1wvMBxkHTczn+JvavQqfD1N2W6+Jl7YwnbUu2is4693+elzbGK76ZyNaymOGtFxsSpJMhubv5mW9OCGOfOvylALQOPG3RZCcj8fKhWa0SxCQ9RlvoVYkKEyAPFcN0gfhAcMUHMfA/RIdCB3AczNPxIbRnNRbwithw3PIIDWkkkykAJk9kBgftAt+OMyztMwzzvlliNGjoJn+4Kz2XsnhwHRDm/yN/KKvPwFkbC11ojufLzRH0GkzJo6CQ6Lf2loYGw25MaGjiR6j1M1mOW/NyOy7L4fDwocXm/ff5BabUACcRLWzcRkAB6Wie+fSgWDvW2HzOOZme60t9WjDDDN7ziP5Rl71WFvaKXODG1JIAHEmQ91DUd3YvYKmoRc3p+DW/ZZY5uixiKukxv5QZulzdL/Fet2RlFgtkrCIIhsGTWhvPU9TXqvRLO2i1qcdyKicRi67r1pVHxflwHWhLXAF1eysCEIQAkviACZoq6/L28CHilMlwY0HKZma8JArMvtT45cYrzhaMUgJgVDRJoNauFSo5VFHIuUMJKqt95L3wL237Tw20Z5zqKN/y39Fm7beD4pm40+kUb/PVPwYGESc0HEXTdKfkbDxBzD7zGgUFhmCOo5jP2+FXnOT1NfD4elTzir9WMlcawuyqnIZGhJ03cZrkR31ECgkBvE8h8qI0L8BD2NbnXgNx5piNFxSAAAnQc6Z70660S9IlxUVsSRB0IPYzXlksIvVlntQ0siNgD0wobQBqXCbncyfhULyvQNqbhNoY2NBkXhuX1sNRI6ifuvP4zS0kEEEUINCDxC+1ouMiPZ1aNWkktVr3/6O2iG57fFc4uJzJNaUFTnQKNFtAIrNx4+kchvS4D5zYcnCQ4Ozae/ymITpOrIHV05AjkomzRjG2T4egh4c4VNBlMyHTsojYpa4OaZOaQQdCKhS7RaR+Y6mYHRqgPKjZbpq6s1kerXDeojwWxBvFR9LhQjurJeZbG3yYUfwyZMikDk/IHrl2XpLWz3n4+Fq0anaRucBtLBvCV3Dg813f4LJUURB4p3+QZV3qSIY0TJ/3RxYfYqYzjsRmL8PvJYj7R7dghtgNdWKagfQ2RPc4R1K3j3SE145fVs+8W2I8Va04G8mkzPV2I9lXxE92HeauycP22ITekc/x5lzsbYcOKKRSGPL+d1B2EyrdwxOA1+N6XBs/gwGQt8sb/zO3dBJQrdaMEJzt7vI3rVx7Kmluo3pSdWo5LjkvfmUF+W/E9zt2TeQoFS7O2bxbSXnKHX+40b+p7Ll82qQktDshd2CC2dHP8565DtJMNHfnvPge9rVlh8L2cdZZeHE3lxWWYBWsszptCpbjh+TkrezmpHH5WocSSkICEAIQhAUO1dkMSA5oz9TfzNM2+4l1WSsNso140qNQfUDPhMLf22FNpXnxBgWh7ABKfiMBAIk6c6GlHT9lWrLNSNrZlS8ZUn3r0f2LWDZiXYodQCMLhQSxEib3UbIGRbnTLembzsPglpJm53mAaPIGzNATUnLdknrwjl8OFHnOQwOG4OboMhMSPVSL2eH2VriZOa4YZ5uBo4DXcei8WVmW1KSlG+jdmUUU4XU31HIqO4p0mbeLfg/z8qO5ygZpQRLiFphje5rd2Y58FXPKdhxZGfQjUHMJUW73A5tA3FzgJjdRfHmSRtB2bLnZ3a/wQIUYEsHpcKlg0I3j3HFaa23VZ7bDxUdMUiMPmHCf6FebWiyuaJkU1BBHcKRcF8us8drgThLgHt3OaTLLUZgqWFW3yzzRSxGz1Juth3uy6cSPfl1Os0Yw3Ge9rh+JpyPDI9lBtkQOIcMyJuGjsj3z6rXfaY4eLBG/A6fIuEvhyxDyq9VbsmkauAqOtRhUlrYQ5Ji2chszIcDmeinB8mzGFgO/wBTzXTumHgtBdIDOTn+o8ANf3Udi6pu/v36lc8/80XqWyN+feIAJPnb5X8xv6ivfReVxYhJJNScyrPZW+TZ7S36YhDHDmZNd0J7EqTD1dyfRlTa+B+Kw7a+qOa+68fWx6+mIwk9h5juP4S2Anf2CZtsMBuLPCQak6rXPzoqNtr5+72V5afO7yM1xOoD0Ez0WF2OuwOiNxelgxu5NyHUyCk7e3iI1qbBb6YQmZZF7xP2bL/Iq4uSy+FZgcnRa/2N9PczPRZ9aW/UtwR1WBp/D4Te/lP0/WY/aopc4neT7lUG0Nq82AZQxL+41crp8bCHPOTBPmcmjv8ACw972uhJNTMlQVJZWNHB0ryvyKyHB8e0sZunN35RU/t1XqNyWSoosLsVY5l0Uj1nC08Gmvc/9q9SumzSAV7DQ3Yd5zm2MT22IaWkcvyXNgEqcFMBk4caKHDMiFLiZT0qrJjkxq6kMKWgBCEIBuI2ixG2Njw4Yw/A7zfkdIHscJ6FblwVTfdiD4bmkTBBB5ESK8zjvRaJ8PW7GrGfL04+RjIF4vY0hpEnSNQ11RkRiBkeKdtsAlpeXOeaEuMxIEZSPmz3kAUpNVMCYBY71MJaeMt/USPVWt3xQWloDiQHOpMzxAMMmAidJVJpWioJ3yZ1k4qPzx/aIMOJI1yNDyKZiUJGi7aGYXFswZEiYyMt4kkx3TAd0PMZe3wvDLMVnfmPQXYGGJ+InCzgZTLlDj4pzdObhiBM6g5GuYT8QzgiX4Xmf90pH2Whstwi2WKE5rw2JDDoczUEB5IDt4oc+K+qLlkiOdaNC056N2vy5e+plINqLDMZbxucNCFPu26REtLd0FoEZ7jk2GPMZnpJOx9nocE/+ItMMS/BCnEiHgBIBvMpi/r2k0WeCDDhNa3E2c3vdmPEdvlpkvlt36iTf7V2o8ePDv6vl5ib3twtdoiRXOwt9LASAcIyoep5uVNFtQEwwS3Fxq49ch0TD3JiLFAzKhlK+Zo0aCglFaLRDjLRhyAnuJEyOW5RY0adXHulMhvf6RIan9AtDdeyM5EguOpyHIZL3ChOfRFbE7UwuFvd70uSz89F69DNwLI+J6G0+o0HTVa7ZjZIB7Yj5vcDMTo0EbwP3WguvZ9oJDs2kdiJhX0GzBoor1PDQhnqzlsZtvEYhOMfkjyWvi/0LYKKFfttbCs8R7smscT0E1O8Qa/r8LAfafe82w7M2c3nE/8AI00HV0v8Sppy3YtmZhqLr1Y01xf7Mvs/ZHWiMMXqiPm46TMz0A+FubbFE5N9IAa0f0toFVbJWLw4T4pzP+mzrV57SHVTpTdI5ZngBUrNisr8zrK8k57q0irFXftowsbD3nzu+Gj9VhL1il7wxtSSABxJktDfdvxOe/U04DIeyqNmbIYtpMSUxD7YnUHtM9l4iu0qWLk6nwmFlUetvNm3uS7A2G2G0HygSOVRvrqflbW7ySwGQG48CM1TXMGgVInw/hXcCIA/ymYcK50I/cLYOAbbd2SMJ17UU+GZt6KIn7KaEIfCVZnUT6iwDJxHVSQgOoQhAcKYtEOYUhIcEB5ptJZfCtAduiCR/M3Lu3/tUSDaS0jSYJbuMtRkeq1m2N2+JBdhHmb52/mbUDrUdVh2RpgEbwqFZbs78zrtmVFWw6i9Y5eHD8eBZXq7EcUw4tk1xAcM5lp89TMA7pAAAKFCdObdRT8wqP1HVTrPaA+CWOrKgcSaOIPhtaBUmhyBMmkZGlQXEHQg9iFDLmX6UcnDkOwLUWHKYIk5pyI0XXMhGrXln9LgT7jNMWlwxTGRryJzHdQo1qApv3AVJ6LxctRp3zWRYCLDh1b53biRJoOssyVWWi1VJcak9SU7BsMWLuwDu7tkFfXVshWcjPU591NGhOfRGfX2phsNez35dPzp/VzLBj35DCNTn0Cs7tuSs5YjqakctwWzsmzohgjww+Zof3VtZboa0eYTPsFbhQhDqzncVtbEYj5b7seS+/F+nQzd2bPgmoJ3kmi1bLPhG4Adf2SbWMLWhtJvaKaZn4SYrzFOFvp/E79ApzKE2BpcXvJMiabqBTPCGnevyushhoAGQXUA3EMgvGb8tXiXhGMQgScGsmZDA2gqeOI9SvYrc6TDyWFuOwsivLnNa6byRMA5k5Kni5WikaGz63Y1HNK+R117MbDY2EyLEhsbIxWQ3FhOb3A/iE94ByTVttoEDE0z8WjT/Tm49aBbaMxrYZEhI0Xn953A9rpNigQ5uLWlsyyZLiAZ5T7KnKokuRqYbFJz/wCmmpj77tW5afZC5Q2E3Fm7zkZerIdBJZ6NchdaocMuxtJLiZSo2pB55dV6ZcliGclawlO15HnbOOjWjCnT01Lu7oTWtp7D9lNxHTvREJsgnFeOdG5HgPdPWajs5z5JC6zMc0BLJk4HopTSokU06j5UqGUAtCEIAXCuoQEG3wZtK8rvCzeDHiQ8hPG38rqy6GY6L12I2YWJ2w2dfELYkKWNsxI0DmndPcZifdQV4b0ctTV2ViVQrWm7ReX499TL2S3mGXEVDmlpGJzZiYObZHMDpMb1AtNuGIyFTkxoJ7Cp7q4s2yMV1YzpD6Gfq/8AYdVa3VskATIACf8AyZ3qtGhOWuSNuvtbD0W+z+eXTJf3x8F4mTgXdFimvkGgq7vkPdaK6dkpVlLU5k8ytXZrpZD0UxshkD0CtwpRhoc9ito18TlN2XJZL/fG5VWO6BDJLgA0AHF8qyszmkHDuMiCJEHiCmTZnF0QH0vAlM5HI0HJLstmcxpDnNlwaGy1md6lKBKC4XAZqA61YSWum4kgsrIFrjTKlEtolFBNQ6jJGgkKgjfvqgC2wTElIiQnuJr8IZBigABzQB/SB8EqahAIwnX2R4epJ6/slokgIN5gNhPMsmk9gszsjC8oPVaPaIEWaIf6T7iX6qs2chBkHEdP+e6zsY84otUMk2P3napdMhx1WJvm8ySa1ypuH6klaC+rVJpmZbyf0Cz132PxHB7hT8DdP6jx0VOjRdad+BYlNU49Rdx3WcWN3qIlL6Rpz1W9uuwkAUUK6rM1omSArtt4MblM8h+624xUVZGc227sfbZylizcVEdehPpZ3P7JBtMU6DkP3Xo+FiII0XHRWtzIHZVv3Z7s3E9SnId2IB/7xjcA3Ib9SrGGo1nswapbQgFIQhACEIQHCEzEggp9ckgITrINE1ZWSxDj8j+FPeFCaZRCNR7j/wDUAPbVcTr4c1wQkBXG3EOeCBJooK4nSzluISXOMXG0EFhFHaH6Tr/KmCwkuBc6YBm1sgJaT1UiQGg9kBXssZdIxA0ls5BoMiCJVmpMOyASk0CQkMqDRKfb2D8Q6V+Ey+9m7gT7ICQIKUIIUA3i85NA7lJLorvxEcqfCAs8ICbfbGD8Q6V+FXiwE5klPMu0ICh2/vvBYYjoYm7yATFPNEY2tZ71i7x2/iWIQYURjIjXQ2uiYZte3FXy1IPI9wtb9psJsO7nE/8AqwR/8rT+iw2zmxrr0tTrVGBFlYcLRl4xbTA3+gSkT0G+Uc6UZ/Uj0ptaGhgWc2uUX/yjIsnTxJ1DiPp+fm8slzcFdwbABIAAAAAACQAFAABkFYwLJJKdNU1ZCUnJ3ZXWe6QFMZd4U9sJKDFIeSI2yBONgKThRJAMiEliGnEIBIalIQgBCEIAQhCAEIQgEuUG2wJ5ZqwTbmICoFue2haDxySTb4hyaB7qzdZwuCzBAVZEV2bj0p8IbdxOdVbiCliEgKtl2hPssIU8Q10MQEVtmCcEFP4USQDQhJQhpxCAg3rc0K0wjCjsESGSCWunIlpDhlxCWyyNa0MY0Na0ANa0ANaBkABQBS1ySAjw4KfAXZLqAEIQgBCEIAQhCAEIQgBCEIAQhCAEIQgBcKEIBK6uIQCl1CEAIQhACEIQAhCEAIQhACEIQAhCEAIQhACEIQAhCEAIQhAf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6" descr="data:image/jpeg;base64,/9j/4AAQSkZJRgABAQAAAQABAAD/2wCEAAkGBhQSEBQSEhQVFRUVFBYVFRQXFxQVFRQVFBQVFBQVFRYXHSYeFxojGRQUHy8gJCcpLCwsFR4xNTAqNSYrLCkBCQoKDgwOGg8PGjAfHiUsKTI1LSksLC0sMiwuKS4vKi40LCwsKSksLywsLjQ1LCwsKjAsLCwsLywsLCwpLCwsLP/AABEIAOEA4QMBIgACEQEDEQH/xAAbAAABBQEBAAAAAAAAAAAAAAAAAgMEBQYBB//EAEEQAAECAwUGBQEHAwMCBwEAAAEAAgMRIQQFEjFRBkFhcYGREyIyobFSBxRCcsHR4WKCkiMz8HOyJENToqOz8Rb/xAAbAQEAAwEBAQEAAAAAAAAAAAAAAwQFBgIBB//EADARAAIBAgMFBgYDAQAAAAAAAAABAgMRBCExBRJBUWETcYGhsfAUIjLB0fFCkeEj/9oADAMBAAIRAxEAPwD3FCEIAQhCAEIQgBCEIAQhcmgOoSTECQbQEA6hMG0cEkxXICSuFyjGeq5hQD5jDVJNpG5MkgaBINpbqgHzHOiSXnVRzbBuCQ61nggJYeRvT8OJNV9ntBJkVJa6ThxQEpC4F1ACEIQAhCEAIQhACEIQAhMxIu4Jsk6oCSXJBjDVMYVyYGiAeNpHFJMc6Jkxwkm08EA8XnVclxUc2k8EgxTqgJeEJJigbwoZKEBJNqHFINr0CYKEA460uSC8neUlxlUqmtG19kYZGMD+UOcO7QQgLlcUaw3pDjMxwnY2zImA7MZioT5icJcSQEApCr3XnMyY0u5A/wDPZSoIJE3Ag6T/AGkgH2PkQeKnRMp6VVcIY0VjDM2jl/CAlMKWmLM6nsn0AITcWO1om5wA1JA+VyFaWu9LmnkQfhD7biOoQhD4CEIQAkvKUmo2SAZad+qjujFOwHTb1I7FMOFUAFx1SUOMqpo2puvXTmgHUJp9pAIGc9KpWI6d5BAKUO8b4hQBOK8NnkM3Hk0VKZv69TZ4D4plMUaNXOo0ct/IFY3Z3Zt1tc60Wl7i0ulnJzyM6/haMqchKSAvX/aFZgcopGuFo+XTVzEveG2B45JwYA/KsiAQJamYEuKjs2UsgEvAh8yJn/Imaa2rsBfYnw4Y9IaQ0fTDIOEDkPZAZobRW61ud92ZgYDuwU0xPfSfASVzs3CtwiuFqccGCk/DdN0xkW1ymqfY3aqFAheDFm3zFweASDilR0qg0zW0sV5wownCiNfrhIJHMZhAZH7RLwc0Q4IccLgXvrLFIyaDLdQnsrG79grM2G3GDEcQCXYnATI/CGkU7qRtZs396Y0sIERk8M8nA5tJ3ZTB/dZiFeN4WRuFzHFjaDEzG0AaPbkOqA3V3XayBDEOGCGgk1JJm4zNSk3lUNb9TwDyVNs7to20OEOI0Q4h9MjNj5VIE6g8PdW95RPKHCuFwNJoBy22jwoc2tnUNa3iTIJF3Wx0QODwA5jsJAqP+ZrtsvEQ2YyM/SJgYicpZqvu58VrTFwBzYji4hvrGkp0IQFhZ4ha8w3V3sOo06K1sjqELPx4hJguIc1xJ8pNQJgVlLd8q6skg7mgJ0AycR1TF+3p93s74spkCTW/U9xk0dyPdOkycD0WF20vYx7SLO0kQ4JBdIyxRJZT0aHS5k6L49Mj3TcVJOehyxWF0Z2OO4xHnMnIcGjJo4BWca52NE2zB1FPcJNzXaMIPnHEPd+pXb2iuhijsY0Mg7oRTuFF2djV+OjOSX0ryG7v2tdAithxzihuIaHnNhNBM7288luAV4rf9ta+E7keYOhXrVwRy+ywHO9ToMMnmWNJXylNtuLPW08LCnCFaH8r93DMsULk0KcxTqbiJxIegIVnzcOM+4/hNR2nEa+ydbSIeI+D/K5HFUBEfZ5mpMtJy38EowmgGg4pURs98tUzjaAZeYnjMlAcEm5eY5Z1knYcSdJEHiuEyAoBwyTfj1q4cgP1QGa+0ef3eHp4tf8AB8v1VnscR9xgy0dPnjdP3S9pLsNpsz4bR5qOZMj1NqB1Ex1WS2N2kEDFAjnA3ESHEHyOyc12gp0M0B6GuF0s1DN5wMOIxoctfEZL2KYu6/4EaK6FCdic0YpykCJyOEnOUx3QEa8dlLLGJcWEOOboc2zOpHpPZY/aHZ59icyLCe6RdJrjIPY4CdZUIIB7ZK6j/aJgiPY6DPC9zQQ+Uw0kAkFvBVVut9ovN7WQ4eFjTPeWgmmJ75Sy3D3QG4ue3GNZ4cUkDEwEyGRydnxBUzw+fx8KujXGDY/urXYf9MMxETyIJJE99e6y/wD/AAFo9JtDcOk4hH+OSAgXgxhvVv3eX+7D9MpYwQXkS3UM+q9IiMDgQciJKluDZOHZTjmXxJSxkSkN4a3dzqVeICoxCH/pxWhzQZtJAPypZvOGBn0AKkRcJEnSPA1TLLKwGYZ7fugGLPDMR/iOEmj0j9VYNdIg6JMzoOpXMJ17D90AbQXoLPAdFMvKJie85NHeS8/uYMc4vcGuLiXOcWF0yTMnE4HedVJ+0DaNgiQ4DogaGjG7eScmyA0Ez1CNnb0hGTvFMpym4PaO5C+XR63ZWvbI1dmhwS2bQycs2Sa4f4SIWav+0uE8Li8fSfV/a4erka8StBeEaG6HPyvG51D2cKjoVgL9jkTLXFzZ7/WzSZ/E2e/vqvp5KtjfvFohQgaRXtYSPpJqeYE17xZmhrQ0CQAAA0AEgOy8p+zm7PEtL7ScmDC3/qv9Z/x/+xeqQCviik7ksq05QjTbyV7eOpJmhcQvpEOJLkpcKAgRaPb1HcItIpRdtlJHQj5SooogIb4ZIkTLl/KYZDrRp0xEy9gpaEBHFnE6yJlSVJcUsQGjcPn5UazNnGiu0k32/hTSgOKlvrZGBaTjcCx+97JAn8wNDzz4q48Qa9q/CMegPwgMcz7NGTrGeRwY0HvM/Cv7o2agWasNvmlLG44nS3gbh0AVlXgO5/ZcwcT8IBMSztNXNaeJAPyuh4FBLkP2C74Q586/K6AgE49Afj5XJngPdOLhQCMB17SCPCHPnVcjRg0TKZ+9k5Md1kAgJAC6oL7a7Ro5mabZGc4yxy5CfwgJ8R8gSdyaiWoCGXmgkTXcBqmfu5DX1Jm050/crJ7dXwYdiEIEYopLKZ4ZkvPan9y8yluq5LRpOrUUFxZiX2g2m1RI5Hrd5dQ0UYO0uq9B+7CFCZCkPKJu4udU9qBZrYq7AYgeR5YYxnifwjqfhau0EzLHt8xNDkZk1JO8SJ7DjPNjd3k+J12I3YuNKOkV7/pepQXxDwMDoZwPcSaektGrcjMrJxryLicQk4eV7edKcCFoL7todEdLJvlHIKBsTcf3q3GKf9uDhc7+p2KcNv8A7SenFSUa0nU3eBUx+AprDdtpJffgembIXN92ssOGfVLE/i91Xdsv7Vp4LVEs7FPhtWgcuLkuJUkIBS4V1CAiWxs2lJaZtHEfIT0cUUezHy8pjsUBHxHTvIIrwHunHBMWmGS3ymRFRzG48EBHsUPzRTM/7h4ZDgpQhDT9flV92vc4k+luIuPEn8PJWRKAFwlQrdfMOF6nV+kVd23dVm7w2niPozyDu7vkOndRzqxjqXcPga1f6VZc3oaW3XrDhDzuA0GbjyAqqJ+3AD/9s4N7p+YDXCBLpNZqI4kkmpOZNSeZTDiqksRJ6ZHQ0NjUYr/p8z/o9RbGBAMxI5Gec8pLr4oEpkCdAsfsnamva6C71NE2Ek+jcB+U05ELUsa0ta4tmSNwmeKuQkpxujmcTQlh6rpy4enAV98buM+QJ+E4Hk5DvRJEduQBOQoN248k6vZXItuYTDOVK5aFKiQwWzcTLPOXwnY3pM9CosG1+QUnSXaiAQC3IADialOw3MbvmdVwR55BvsiZ+po7IBw2hppNeQX/AGw2i1kZthTY3Sc5vPen9oXou015Ns1mfExAulJn53Ub7n2Xnuyt1+JEa07zNx4Criek+6p4qWSguJv7GopOVeWkfb8vU2dxWLw4DRk5/wDqHKZAoxtaVqUi9bR4bXnKXlaK0c4TJkSZEDMT3KxixxJx3HJpaZSA8gxAiU2/OUqrK7Q2moh/SJu/M6pUEnuxNChF1qt3796GZve1YWr0r7O7k8CxMLhJ8X/Vfr5gMA6MDepK80u6w/e7bCg/hLsT/wDpsq7vl/cvdbLDopMJDWZBt7EW3aC739iTAYpbQm4bU8FfOXOyQhCAEIQgGogUSz5uHH5H8Ka9QQ6TzxHwf5QCYzpHIpsuOnc/soV437DaZN850GXV2XyqC2XtEiUJkPpbTucyopVYxL1DA1audrLqXNpvWHCmAZmZOFgmZnUmgVFbr7iPoCWjQEz6n9pKGU04qtOrKRuYfZ9Klm1d9fwNuTTlb3ZdIeDFiv8ADgtMi7e4/Swbyrey3nd4Ph+FQ0xvYHDmSSXDso1C+rsW54ncbUYuVtbe/IxbimXFWl+2NsO0xIbKNDvLM0AIDgJ9VDEEbgXccmDmd6ias7F+nUUoqS4q5Gs1rdCiNiNzaZ8xvb1EwvR7ltYiQg5tQZy5Gv6rzm0NmCRXKZAk0buqutir1wvMBxkHTczn+JvavQqfD1N2W6+Jl7YwnbUu2is4693+elzbGK76ZyNaymOGtFxsSpJMhubv5mW9OCGOfOvylALQOPG3RZCcj8fKhWa0SxCQ9RlvoVYkKEyAPFcN0gfhAcMUHMfA/RIdCB3AczNPxIbRnNRbwithw3PIIDWkkkykAJk9kBgftAt+OMyztMwzzvlliNGjoJn+4Kz2XsnhwHRDm/yN/KKvPwFkbC11ojufLzRH0GkzJo6CQ6Lf2loYGw25MaGjiR6j1M1mOW/NyOy7L4fDwocXm/ff5BabUACcRLWzcRkAB6Wie+fSgWDvW2HzOOZme60t9WjDDDN7ziP5Rl71WFvaKXODG1JIAHEmQ91DUd3YvYKmoRc3p+DW/ZZY5uixiKukxv5QZulzdL/Fet2RlFgtkrCIIhsGTWhvPU9TXqvRLO2i1qcdyKicRi67r1pVHxflwHWhLXAF1eysCEIQAkviACZoq6/L28CHilMlwY0HKZma8JArMvtT45cYrzhaMUgJgVDRJoNauFSo5VFHIuUMJKqt95L3wL237Tw20Z5zqKN/y39Fm7beD4pm40+kUb/PVPwYGESc0HEXTdKfkbDxBzD7zGgUFhmCOo5jP2+FXnOT1NfD4elTzir9WMlcawuyqnIZGhJ03cZrkR31ECgkBvE8h8qI0L8BD2NbnXgNx5piNFxSAAAnQc6Z70660S9IlxUVsSRB0IPYzXlksIvVlntQ0siNgD0wobQBqXCbncyfhULyvQNqbhNoY2NBkXhuX1sNRI6ifuvP4zS0kEEEUINCDxC+1ouMiPZ1aNWkktVr3/6O2iG57fFc4uJzJNaUFTnQKNFtAIrNx4+kchvS4D5zYcnCQ4Ozae/ymITpOrIHV05AjkomzRjG2T4egh4c4VNBlMyHTsojYpa4OaZOaQQdCKhS7RaR+Y6mYHRqgPKjZbpq6s1kerXDeojwWxBvFR9LhQjurJeZbG3yYUfwyZMikDk/IHrl2XpLWz3n4+Fq0anaRucBtLBvCV3Dg813f4LJUURB4p3+QZV3qSIY0TJ/3RxYfYqYzjsRmL8PvJYj7R7dghtgNdWKagfQ2RPc4R1K3j3SE145fVs+8W2I8Va04G8mkzPV2I9lXxE92HeauycP22ITekc/x5lzsbYcOKKRSGPL+d1B2EyrdwxOA1+N6XBs/gwGQt8sb/zO3dBJQrdaMEJzt7vI3rVx7Kmluo3pSdWo5LjkvfmUF+W/E9zt2TeQoFS7O2bxbSXnKHX+40b+p7Ll82qQktDshd2CC2dHP8565DtJMNHfnvPge9rVlh8L2cdZZeHE3lxWWYBWsszptCpbjh+TkrezmpHH5WocSSkICEAIQhAUO1dkMSA5oz9TfzNM2+4l1WSsNso140qNQfUDPhMLf22FNpXnxBgWh7ABKfiMBAIk6c6GlHT9lWrLNSNrZlS8ZUn3r0f2LWDZiXYodQCMLhQSxEib3UbIGRbnTLembzsPglpJm53mAaPIGzNATUnLdknrwjl8OFHnOQwOG4OboMhMSPVSL2eH2VriZOa4YZ5uBo4DXcei8WVmW1KSlG+jdmUUU4XU31HIqO4p0mbeLfg/z8qO5ygZpQRLiFphje5rd2Y58FXPKdhxZGfQjUHMJUW73A5tA3FzgJjdRfHmSRtB2bLnZ3a/wQIUYEsHpcKlg0I3j3HFaa23VZ7bDxUdMUiMPmHCf6FebWiyuaJkU1BBHcKRcF8us8drgThLgHt3OaTLLUZgqWFW3yzzRSxGz1Juth3uy6cSPfl1Os0Yw3Ge9rh+JpyPDI9lBtkQOIcMyJuGjsj3z6rXfaY4eLBG/A6fIuEvhyxDyq9VbsmkauAqOtRhUlrYQ5Ji2chszIcDmeinB8mzGFgO/wBTzXTumHgtBdIDOTn+o8ANf3Udi6pu/v36lc8/80XqWyN+feIAJPnb5X8xv6ivfReVxYhJJNScyrPZW+TZ7S36YhDHDmZNd0J7EqTD1dyfRlTa+B+Kw7a+qOa+68fWx6+mIwk9h5juP4S2Anf2CZtsMBuLPCQak6rXPzoqNtr5+72V5afO7yM1xOoD0Ez0WF2OuwOiNxelgxu5NyHUyCk7e3iI1qbBb6YQmZZF7xP2bL/Iq4uSy+FZgcnRa/2N9PczPRZ9aW/UtwR1WBp/D4Te/lP0/WY/aopc4neT7lUG0Nq82AZQxL+41crp8bCHPOTBPmcmjv8ACw972uhJNTMlQVJZWNHB0ryvyKyHB8e0sZunN35RU/t1XqNyWSoosLsVY5l0Uj1nC08Gmvc/9q9SumzSAV7DQ3Yd5zm2MT22IaWkcvyXNgEqcFMBk4caKHDMiFLiZT0qrJjkxq6kMKWgBCEIBuI2ixG2Njw4Yw/A7zfkdIHscJ6FblwVTfdiD4bmkTBBB5ESK8zjvRaJ8PW7GrGfL04+RjIF4vY0hpEnSNQ11RkRiBkeKdtsAlpeXOeaEuMxIEZSPmz3kAUpNVMCYBY71MJaeMt/USPVWt3xQWloDiQHOpMzxAMMmAidJVJpWioJ3yZ1k4qPzx/aIMOJI1yNDyKZiUJGi7aGYXFswZEiYyMt4kkx3TAd0PMZe3wvDLMVnfmPQXYGGJ+InCzgZTLlDj4pzdObhiBM6g5GuYT8QzgiX4Xmf90pH2Whstwi2WKE5rw2JDDoczUEB5IDt4oc+K+qLlkiOdaNC056N2vy5e+plINqLDMZbxucNCFPu26REtLd0FoEZ7jk2GPMZnpJOx9nocE/+ItMMS/BCnEiHgBIBvMpi/r2k0WeCDDhNa3E2c3vdmPEdvlpkvlt36iTf7V2o8ePDv6vl5ib3twtdoiRXOwt9LASAcIyoep5uVNFtQEwwS3Fxq49ch0TD3JiLFAzKhlK+Zo0aCglFaLRDjLRhyAnuJEyOW5RY0adXHulMhvf6RIan9AtDdeyM5EguOpyHIZL3ChOfRFbE7UwuFvd70uSz89F69DNwLI+J6G0+o0HTVa7ZjZIB7Yj5vcDMTo0EbwP3WguvZ9oJDs2kdiJhX0GzBoor1PDQhnqzlsZtvEYhOMfkjyWvi/0LYKKFfttbCs8R7smscT0E1O8Qa/r8LAfafe82w7M2c3nE/8AI00HV0v8Sppy3YtmZhqLr1Y01xf7Mvs/ZHWiMMXqiPm46TMz0A+FubbFE5N9IAa0f0toFVbJWLw4T4pzP+mzrV57SHVTpTdI5ZngBUrNisr8zrK8k57q0irFXftowsbD3nzu+Gj9VhL1il7wxtSSABxJktDfdvxOe/U04DIeyqNmbIYtpMSUxD7YnUHtM9l4iu0qWLk6nwmFlUetvNm3uS7A2G2G0HygSOVRvrqflbW7ySwGQG48CM1TXMGgVInw/hXcCIA/ymYcK50I/cLYOAbbd2SMJ17UU+GZt6KIn7KaEIfCVZnUT6iwDJxHVSQgOoQhAcKYtEOYUhIcEB5ptJZfCtAduiCR/M3Lu3/tUSDaS0jSYJbuMtRkeq1m2N2+JBdhHmb52/mbUDrUdVh2RpgEbwqFZbs78zrtmVFWw6i9Y5eHD8eBZXq7EcUw4tk1xAcM5lp89TMA7pAAAKFCdObdRT8wqP1HVTrPaA+CWOrKgcSaOIPhtaBUmhyBMmkZGlQXEHQg9iFDLmX6UcnDkOwLUWHKYIk5pyI0XXMhGrXln9LgT7jNMWlwxTGRryJzHdQo1qApv3AVJ6LxctRp3zWRYCLDh1b53biRJoOssyVWWi1VJcak9SU7BsMWLuwDu7tkFfXVshWcjPU591NGhOfRGfX2phsNez35dPzp/VzLBj35DCNTn0Cs7tuSs5YjqakctwWzsmzohgjww+Zof3VtZboa0eYTPsFbhQhDqzncVtbEYj5b7seS+/F+nQzd2bPgmoJ3kmi1bLPhG4Adf2SbWMLWhtJvaKaZn4SYrzFOFvp/E79ApzKE2BpcXvJMiabqBTPCGnevyushhoAGQXUA3EMgvGb8tXiXhGMQgScGsmZDA2gqeOI9SvYrc6TDyWFuOwsivLnNa6byRMA5k5Kni5WikaGz63Y1HNK+R117MbDY2EyLEhsbIxWQ3FhOb3A/iE94ByTVttoEDE0z8WjT/Tm49aBbaMxrYZEhI0Xn953A9rpNigQ5uLWlsyyZLiAZ5T7KnKokuRqYbFJz/wCmmpj77tW5afZC5Q2E3Fm7zkZerIdBJZ6NchdaocMuxtJLiZSo2pB55dV6ZcliGclawlO15HnbOOjWjCnT01Lu7oTWtp7D9lNxHTvREJsgnFeOdG5HgPdPWajs5z5JC6zMc0BLJk4HopTSokU06j5UqGUAtCEIAXCuoQEG3wZtK8rvCzeDHiQ8hPG38rqy6GY6L12I2YWJ2w2dfELYkKWNsxI0DmndPcZifdQV4b0ctTV2ViVQrWm7ReX499TL2S3mGXEVDmlpGJzZiYObZHMDpMb1AtNuGIyFTkxoJ7Cp7q4s2yMV1YzpD6Gfq/8AYdVa3VskATIACf8AyZ3qtGhOWuSNuvtbD0W+z+eXTJf3x8F4mTgXdFimvkGgq7vkPdaK6dkpVlLU5k8ytXZrpZD0UxshkD0CtwpRhoc9ito18TlN2XJZL/fG5VWO6BDJLgA0AHF8qyszmkHDuMiCJEHiCmTZnF0QH0vAlM5HI0HJLstmcxpDnNlwaGy1md6lKBKC4XAZqA61YSWum4kgsrIFrjTKlEtolFBNQ6jJGgkKgjfvqgC2wTElIiQnuJr8IZBigABzQB/SB8EqahAIwnX2R4epJ6/slokgIN5gNhPMsmk9gszsjC8oPVaPaIEWaIf6T7iX6qs2chBkHEdP+e6zsY84otUMk2P3napdMhx1WJvm8ySa1ypuH6klaC+rVJpmZbyf0Cz132PxHB7hT8DdP6jx0VOjRdad+BYlNU49Rdx3WcWN3qIlL6Rpz1W9uuwkAUUK6rM1omSArtt4MblM8h+624xUVZGc227sfbZylizcVEdehPpZ3P7JBtMU6DkP3Xo+FiII0XHRWtzIHZVv3Z7s3E9SnId2IB/7xjcA3Ib9SrGGo1nswapbQgFIQhACEIQHCEzEggp9ckgITrINE1ZWSxDj8j+FPeFCaZRCNR7j/wDUAPbVcTr4c1wQkBXG3EOeCBJooK4nSzluISXOMXG0EFhFHaH6Tr/KmCwkuBc6YBm1sgJaT1UiQGg9kBXssZdIxA0ls5BoMiCJVmpMOyASk0CQkMqDRKfb2D8Q6V+Ey+9m7gT7ICQIKUIIUA3i85NA7lJLorvxEcqfCAs8ICbfbGD8Q6V+FXiwE5klPMu0ICh2/vvBYYjoYm7yATFPNEY2tZ71i7x2/iWIQYURjIjXQ2uiYZte3FXy1IPI9wtb9psJsO7nE/8AqwR/8rT+iw2zmxrr0tTrVGBFlYcLRl4xbTA3+gSkT0G+Uc6UZ/Uj0ptaGhgWc2uUX/yjIsnTxJ1DiPp+fm8slzcFdwbABIAAAAAACQAFAABkFYwLJJKdNU1ZCUnJ3ZXWe6QFMZd4U9sJKDFIeSI2yBONgKThRJAMiEliGnEIBIalIQgBCEIAQhCAEIQgEuUG2wJ5ZqwTbmICoFue2haDxySTb4hyaB7qzdZwuCzBAVZEV2bj0p8IbdxOdVbiCliEgKtl2hPssIU8Q10MQEVtmCcEFP4USQDQhJQhpxCAg3rc0K0wjCjsESGSCWunIlpDhlxCWyyNa0MY0Na0ANa0ANaBkABQBS1ySAjw4KfAXZLqAEIQgBCEIAQhCAEIQgBCEIAQhCAEIQgBcKEIBK6uIQCl1CEAIQhACEIQAhCEAIQhACEIQAhCEAIQhACEIQAhCEAIQhAf/9k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07" name="Picture 11" descr="https://encrypted-tbn3.google.com/images?q=tbn:ANd9GcR1h1UQ2-WJXB7JllOCrR1U4Jck-ksxSnJIXYdzTPZ22O-3LZ8M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449580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2378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 of CSS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>
                <a:solidFill>
                  <a:schemeClr val="tx2"/>
                </a:solidFill>
              </a:rPr>
              <a:t>Consistency</a:t>
            </a:r>
          </a:p>
          <a:p>
            <a:pPr lvl="1">
              <a:spcAft>
                <a:spcPts val="1000"/>
              </a:spcAft>
            </a:pPr>
            <a:r>
              <a:rPr lang="en-US" dirty="0" smtClean="0"/>
              <a:t>Ensure consistent styling of web pages throughout the site</a:t>
            </a:r>
          </a:p>
          <a:p>
            <a:r>
              <a:rPr lang="en-US" b="1" dirty="0" smtClean="0">
                <a:solidFill>
                  <a:schemeClr val="tx2"/>
                </a:solidFill>
              </a:rPr>
              <a:t>Flexible</a:t>
            </a:r>
          </a:p>
          <a:p>
            <a:pPr lvl="1">
              <a:spcAft>
                <a:spcPts val="1000"/>
              </a:spcAft>
            </a:pPr>
            <a:r>
              <a:rPr lang="en-US" dirty="0" smtClean="0"/>
              <a:t>Can be written in one external file and assigned to HTML elements through class or ID properties</a:t>
            </a:r>
          </a:p>
          <a:p>
            <a:r>
              <a:rPr lang="en-US" b="1" dirty="0" smtClean="0">
                <a:solidFill>
                  <a:schemeClr val="tx2"/>
                </a:solidFill>
              </a:rPr>
              <a:t>Save time</a:t>
            </a:r>
          </a:p>
          <a:p>
            <a:pPr lvl="1">
              <a:spcAft>
                <a:spcPts val="1000"/>
              </a:spcAft>
            </a:pPr>
            <a:r>
              <a:rPr lang="en-US" dirty="0" smtClean="0"/>
              <a:t>Enable you to change the appearance and layout of all the pages in a Web site by editing one single file</a:t>
            </a:r>
          </a:p>
          <a:p>
            <a:r>
              <a:rPr lang="en-US" b="1" dirty="0" smtClean="0">
                <a:solidFill>
                  <a:schemeClr val="tx2"/>
                </a:solidFill>
              </a:rPr>
              <a:t>Lightweight</a:t>
            </a:r>
          </a:p>
          <a:p>
            <a:pPr lvl="1">
              <a:spcAft>
                <a:spcPts val="1000"/>
              </a:spcAft>
            </a:pPr>
            <a:r>
              <a:rPr lang="en-US" dirty="0" smtClean="0"/>
              <a:t>Smaller HTML files </a:t>
            </a:r>
            <a:r>
              <a:rPr lang="en-US" dirty="0" smtClean="0">
                <a:sym typeface="Wingdings" pitchFamily="2" charset="2"/>
              </a:rPr>
              <a:t> web page loads faster</a:t>
            </a:r>
            <a:endParaRPr lang="en-US" dirty="0" smtClean="0"/>
          </a:p>
          <a:p>
            <a:r>
              <a:rPr lang="en-US" b="1" dirty="0" smtClean="0">
                <a:solidFill>
                  <a:schemeClr val="tx2"/>
                </a:solidFill>
              </a:rPr>
              <a:t>Separate style from content</a:t>
            </a:r>
          </a:p>
          <a:p>
            <a:pPr lvl="1"/>
            <a:r>
              <a:rPr lang="en-US" dirty="0" smtClean="0"/>
              <a:t>Same markup page presented in different viewing styles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05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588" y="17929"/>
            <a:ext cx="7024744" cy="1143000"/>
          </a:xfrm>
        </p:spPr>
        <p:txBody>
          <a:bodyPr/>
          <a:lstStyle/>
          <a:p>
            <a:r>
              <a:rPr lang="en-US" dirty="0" smtClean="0"/>
              <a:t>CSS Style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424575"/>
            <a:ext cx="6777317" cy="3508977"/>
          </a:xfrm>
        </p:spPr>
        <p:txBody>
          <a:bodyPr>
            <a:noAutofit/>
          </a:bodyPr>
          <a:lstStyle/>
          <a:p>
            <a:pPr>
              <a:spcAft>
                <a:spcPts val="1000"/>
              </a:spcAft>
            </a:pPr>
            <a:r>
              <a:rPr lang="en-US" sz="2000" b="1" dirty="0" smtClean="0">
                <a:solidFill>
                  <a:schemeClr val="accent2"/>
                </a:solidFill>
              </a:rPr>
              <a:t>Style rules </a:t>
            </a:r>
            <a:r>
              <a:rPr lang="en-US" sz="2000" dirty="0" smtClean="0"/>
              <a:t>express the style characteristics for an HTML element</a:t>
            </a:r>
          </a:p>
          <a:p>
            <a:pPr>
              <a:spcAft>
                <a:spcPts val="1000"/>
              </a:spcAft>
            </a:pPr>
            <a:r>
              <a:rPr lang="en-US" sz="2000" dirty="0" smtClean="0"/>
              <a:t>A set of style rules is called a </a:t>
            </a:r>
            <a:r>
              <a:rPr lang="en-US" sz="2000" b="1" dirty="0" smtClean="0">
                <a:solidFill>
                  <a:schemeClr val="accent2"/>
                </a:solidFill>
              </a:rPr>
              <a:t>style sheet</a:t>
            </a:r>
          </a:p>
          <a:p>
            <a:pPr>
              <a:spcAft>
                <a:spcPts val="1000"/>
              </a:spcAft>
            </a:pPr>
            <a:r>
              <a:rPr lang="en-US" sz="2000" dirty="0" smtClean="0"/>
              <a:t>Style rules are easy to write and interpret</a:t>
            </a:r>
            <a:br>
              <a:rPr lang="en-US" sz="2000" dirty="0" smtClean="0"/>
            </a:br>
            <a:r>
              <a:rPr lang="en-US" sz="1800" i="1" dirty="0" smtClean="0"/>
              <a:t>For Example:</a:t>
            </a:r>
            <a:br>
              <a:rPr lang="en-US" sz="1800" i="1" dirty="0" smtClean="0"/>
            </a:br>
            <a:r>
              <a:rPr lang="en-US" sz="1800" i="1" dirty="0" smtClean="0"/>
              <a:t>p {</a:t>
            </a:r>
            <a:r>
              <a:rPr lang="en-US" sz="1800" i="1" dirty="0" err="1" smtClean="0"/>
              <a:t>color:blue</a:t>
            </a:r>
            <a:r>
              <a:rPr lang="en-US" sz="1800" i="1" dirty="0" smtClean="0"/>
              <a:t>;} </a:t>
            </a:r>
            <a:r>
              <a:rPr lang="en-US" sz="1800" i="1" dirty="0" smtClean="0">
                <a:sym typeface="Wingdings" pitchFamily="2" charset="2"/>
              </a:rPr>
              <a:t> set all &lt;p&gt; elements in the document to blue text</a:t>
            </a:r>
          </a:p>
          <a:p>
            <a:pPr>
              <a:spcAft>
                <a:spcPts val="1000"/>
              </a:spcAft>
            </a:pPr>
            <a:r>
              <a:rPr lang="en-US" sz="2000" dirty="0" smtClean="0">
                <a:sym typeface="Wingdings" pitchFamily="2" charset="2"/>
              </a:rPr>
              <a:t>Style rule composed of two parts: a selector and one or more declarations</a:t>
            </a:r>
          </a:p>
          <a:p>
            <a:pPr lvl="1"/>
            <a:r>
              <a:rPr lang="en-US" sz="1800" b="1" dirty="0" smtClean="0">
                <a:sym typeface="Wingdings" pitchFamily="2" charset="2"/>
              </a:rPr>
              <a:t>Selector</a:t>
            </a:r>
            <a:r>
              <a:rPr lang="en-US" sz="1800" dirty="0" smtClean="0">
                <a:sym typeface="Wingdings" pitchFamily="2" charset="2"/>
              </a:rPr>
              <a:t>: determines the element to which the rule is applied</a:t>
            </a:r>
          </a:p>
          <a:p>
            <a:pPr lvl="1"/>
            <a:r>
              <a:rPr lang="en-US" sz="1800" b="1" dirty="0" smtClean="0">
                <a:sym typeface="Wingdings" pitchFamily="2" charset="2"/>
              </a:rPr>
              <a:t>Declaration</a:t>
            </a:r>
            <a:r>
              <a:rPr lang="en-US" sz="1800" dirty="0" smtClean="0">
                <a:sym typeface="Wingdings" pitchFamily="2" charset="2"/>
              </a:rPr>
              <a:t>: contained within curly brackets, details the exact property values</a:t>
            </a:r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9" descr="http://icons.iconarchive.com/icons/deleket/adobe-cs4/256/File-Adobe-Dreamweaver-CSS-01-ic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1828800"/>
            <a:ext cx="1350264" cy="135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2965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 Style Rule 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7537" y="990600"/>
            <a:ext cx="7547780" cy="5181600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 smtClean="0"/>
              <a:t>CSS rule has two main parts: a selector, and one or more declarations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lvl="1">
              <a:spcAft>
                <a:spcPts val="700"/>
              </a:spcAft>
            </a:pPr>
            <a:endParaRPr lang="en-US" sz="2200" b="1" dirty="0" smtClean="0">
              <a:solidFill>
                <a:schemeClr val="accent2"/>
              </a:solidFill>
            </a:endParaRPr>
          </a:p>
          <a:p>
            <a:pPr lvl="1">
              <a:spcAft>
                <a:spcPts val="700"/>
              </a:spcAft>
            </a:pPr>
            <a:endParaRPr lang="en-US" b="1" dirty="0">
              <a:solidFill>
                <a:schemeClr val="accent2"/>
              </a:solidFill>
            </a:endParaRPr>
          </a:p>
          <a:p>
            <a:pPr lvl="1">
              <a:spcAft>
                <a:spcPts val="700"/>
              </a:spcAft>
            </a:pPr>
            <a:endParaRPr lang="en-US" sz="2200" b="1" dirty="0" smtClean="0">
              <a:solidFill>
                <a:schemeClr val="accent2"/>
              </a:solidFill>
            </a:endParaRPr>
          </a:p>
          <a:p>
            <a:pPr lvl="1">
              <a:spcAft>
                <a:spcPts val="700"/>
              </a:spcAft>
            </a:pPr>
            <a:r>
              <a:rPr lang="en-US" sz="2200" b="1" dirty="0" smtClean="0">
                <a:solidFill>
                  <a:schemeClr val="accent2"/>
                </a:solidFill>
              </a:rPr>
              <a:t>Selector</a:t>
            </a:r>
            <a:r>
              <a:rPr lang="en-US" sz="2200" dirty="0" smtClean="0"/>
              <a:t>: HTML element to be style</a:t>
            </a:r>
          </a:p>
          <a:p>
            <a:pPr lvl="1">
              <a:spcAft>
                <a:spcPts val="600"/>
              </a:spcAft>
            </a:pPr>
            <a:r>
              <a:rPr lang="en-US" sz="2200" b="1" dirty="0" smtClean="0">
                <a:solidFill>
                  <a:schemeClr val="accent2"/>
                </a:solidFill>
              </a:rPr>
              <a:t>Declaration</a:t>
            </a:r>
            <a:r>
              <a:rPr lang="en-US" sz="2200" dirty="0" smtClean="0"/>
              <a:t>: consists of property and value pair, CSS declaration always ends with a semicolon, and declaration groups are surrounded by curly brackets {}</a:t>
            </a:r>
          </a:p>
          <a:p>
            <a:pPr lvl="2">
              <a:spcAft>
                <a:spcPts val="600"/>
              </a:spcAft>
            </a:pPr>
            <a:r>
              <a:rPr lang="en-US" sz="1900" b="1" dirty="0" smtClean="0">
                <a:solidFill>
                  <a:schemeClr val="accent3">
                    <a:lumMod val="75000"/>
                  </a:schemeClr>
                </a:solidFill>
              </a:rPr>
              <a:t>Property</a:t>
            </a:r>
            <a:r>
              <a:rPr lang="en-US" sz="1900" dirty="0" smtClean="0"/>
              <a:t>: a quality or characteristic followed by a </a:t>
            </a:r>
            <a:r>
              <a:rPr lang="en-US" sz="1900" b="1" dirty="0" smtClean="0"/>
              <a:t>colon (:)</a:t>
            </a:r>
            <a:r>
              <a:rPr lang="en-US" sz="1900" dirty="0" smtClean="0"/>
              <a:t/>
            </a:r>
            <a:br>
              <a:rPr lang="en-US" sz="1900" dirty="0" smtClean="0"/>
            </a:br>
            <a:r>
              <a:rPr lang="en-US" sz="1900" dirty="0" smtClean="0"/>
              <a:t>Such </a:t>
            </a:r>
            <a:r>
              <a:rPr lang="en-US" sz="1900" dirty="0"/>
              <a:t>as color, font size, or </a:t>
            </a:r>
            <a:r>
              <a:rPr lang="en-US" sz="1900" dirty="0" smtClean="0"/>
              <a:t>margin</a:t>
            </a:r>
          </a:p>
          <a:p>
            <a:pPr lvl="2">
              <a:spcAft>
                <a:spcPts val="600"/>
              </a:spcAft>
            </a:pPr>
            <a:r>
              <a:rPr lang="en-US" sz="1900" b="1" dirty="0" smtClean="0">
                <a:solidFill>
                  <a:schemeClr val="accent3">
                    <a:lumMod val="75000"/>
                  </a:schemeClr>
                </a:solidFill>
              </a:rPr>
              <a:t>Value</a:t>
            </a:r>
            <a:r>
              <a:rPr lang="en-US" sz="1900" dirty="0" smtClean="0"/>
              <a:t>: precise specification of property followed by a </a:t>
            </a:r>
            <a:r>
              <a:rPr lang="en-US" sz="1900" b="1" dirty="0" smtClean="0"/>
              <a:t>semicolon (;)  </a:t>
            </a:r>
            <a:r>
              <a:rPr lang="en-US" sz="1900" dirty="0" smtClean="0"/>
              <a:t>Such </a:t>
            </a:r>
            <a:r>
              <a:rPr lang="en-US" sz="1900" dirty="0"/>
              <a:t>as blue for color, 125% for font size, or 30px (pixels) for margin</a:t>
            </a: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7</a:t>
            </a:fld>
            <a:endParaRPr lang="en-US"/>
          </a:p>
        </p:txBody>
      </p:sp>
      <p:grpSp>
        <p:nvGrpSpPr>
          <p:cNvPr id="31" name="Group 30"/>
          <p:cNvGrpSpPr/>
          <p:nvPr/>
        </p:nvGrpSpPr>
        <p:grpSpPr>
          <a:xfrm>
            <a:off x="1777712" y="2057400"/>
            <a:ext cx="6147088" cy="1498429"/>
            <a:chOff x="1777712" y="2057400"/>
            <a:chExt cx="5672229" cy="1498429"/>
          </a:xfrm>
        </p:grpSpPr>
        <p:sp>
          <p:nvSpPr>
            <p:cNvPr id="6" name="Rounded Rectangle 5"/>
            <p:cNvSpPr/>
            <p:nvPr/>
          </p:nvSpPr>
          <p:spPr>
            <a:xfrm>
              <a:off x="1914751" y="2438400"/>
              <a:ext cx="685800" cy="533400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 smtClean="0"/>
                <a:t>h1</a:t>
              </a:r>
              <a:endParaRPr lang="en-US" sz="2800" dirty="0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700528" y="2590800"/>
              <a:ext cx="4749413" cy="533400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 smtClean="0"/>
                <a:t>{ color: blue; font-size: 12px;}</a:t>
              </a:r>
              <a:endParaRPr lang="en-US" sz="28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77712" y="2057400"/>
              <a:ext cx="9598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chemeClr val="accent2"/>
                  </a:solidFill>
                </a:rPr>
                <a:t>Selector</a:t>
              </a:r>
              <a:endParaRPr lang="en-US" b="1" dirty="0">
                <a:solidFill>
                  <a:schemeClr val="accent2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152132" y="2057400"/>
              <a:ext cx="12835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chemeClr val="accent2"/>
                  </a:solidFill>
                </a:rPr>
                <a:t>Declaration</a:t>
              </a:r>
              <a:endParaRPr lang="en-US" b="1" dirty="0">
                <a:solidFill>
                  <a:schemeClr val="accent2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49421" y="2069068"/>
              <a:ext cx="12835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chemeClr val="accent2"/>
                  </a:solidFill>
                </a:rPr>
                <a:t>Declaration</a:t>
              </a:r>
              <a:endParaRPr lang="en-US" b="1" dirty="0">
                <a:solidFill>
                  <a:schemeClr val="accent2"/>
                </a:solidFill>
              </a:endParaRPr>
            </a:p>
          </p:txBody>
        </p:sp>
        <p:grpSp>
          <p:nvGrpSpPr>
            <p:cNvPr id="19" name="Group 18"/>
            <p:cNvGrpSpPr/>
            <p:nvPr/>
          </p:nvGrpSpPr>
          <p:grpSpPr>
            <a:xfrm>
              <a:off x="3048000" y="2988677"/>
              <a:ext cx="930768" cy="567152"/>
              <a:chOff x="2921865" y="3022431"/>
              <a:chExt cx="930768" cy="567152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2921865" y="3251029"/>
                <a:ext cx="93076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 smtClean="0">
                    <a:solidFill>
                      <a:schemeClr val="accent3">
                        <a:lumMod val="75000"/>
                      </a:schemeClr>
                    </a:solidFill>
                  </a:rPr>
                  <a:t>Property</a:t>
                </a:r>
                <a:endParaRPr lang="en-US" sz="1600" b="1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13" name="Straight Arrow Connector 12"/>
              <p:cNvCxnSpPr/>
              <p:nvPr/>
            </p:nvCxnSpPr>
            <p:spPr>
              <a:xfrm flipV="1">
                <a:off x="3378016" y="3022431"/>
                <a:ext cx="0" cy="27104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/>
            <p:cNvGrpSpPr/>
            <p:nvPr/>
          </p:nvGrpSpPr>
          <p:grpSpPr>
            <a:xfrm>
              <a:off x="4969764" y="2971800"/>
              <a:ext cx="930768" cy="567152"/>
              <a:chOff x="2921865" y="3022431"/>
              <a:chExt cx="930768" cy="567152"/>
            </a:xfrm>
          </p:grpSpPr>
          <p:sp>
            <p:nvSpPr>
              <p:cNvPr id="21" name="TextBox 20"/>
              <p:cNvSpPr txBox="1"/>
              <p:nvPr/>
            </p:nvSpPr>
            <p:spPr>
              <a:xfrm>
                <a:off x="2921865" y="3251029"/>
                <a:ext cx="93076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 smtClean="0">
                    <a:solidFill>
                      <a:schemeClr val="accent3">
                        <a:lumMod val="75000"/>
                      </a:schemeClr>
                    </a:solidFill>
                  </a:rPr>
                  <a:t>Property</a:t>
                </a:r>
                <a:endParaRPr lang="en-US" sz="1600" b="1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22" name="Straight Arrow Connector 21"/>
              <p:cNvCxnSpPr/>
              <p:nvPr/>
            </p:nvCxnSpPr>
            <p:spPr>
              <a:xfrm flipV="1">
                <a:off x="3378016" y="3022431"/>
                <a:ext cx="0" cy="27104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/>
            <p:cNvGrpSpPr/>
            <p:nvPr/>
          </p:nvGrpSpPr>
          <p:grpSpPr>
            <a:xfrm>
              <a:off x="3962400" y="2988677"/>
              <a:ext cx="659027" cy="567152"/>
              <a:chOff x="3048502" y="3022431"/>
              <a:chExt cx="659027" cy="567152"/>
            </a:xfrm>
          </p:grpSpPr>
          <p:sp>
            <p:nvSpPr>
              <p:cNvPr id="24" name="TextBox 23"/>
              <p:cNvSpPr txBox="1"/>
              <p:nvPr/>
            </p:nvSpPr>
            <p:spPr>
              <a:xfrm>
                <a:off x="3048502" y="3251029"/>
                <a:ext cx="65902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 smtClean="0">
                    <a:solidFill>
                      <a:schemeClr val="accent3">
                        <a:lumMod val="75000"/>
                      </a:schemeClr>
                    </a:solidFill>
                  </a:rPr>
                  <a:t>Value</a:t>
                </a:r>
                <a:endParaRPr lang="en-US" sz="1600" b="1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25" name="Straight Arrow Connector 24"/>
              <p:cNvCxnSpPr/>
              <p:nvPr/>
            </p:nvCxnSpPr>
            <p:spPr>
              <a:xfrm flipV="1">
                <a:off x="3378016" y="3022431"/>
                <a:ext cx="0" cy="27104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>
            <a:xfrm>
              <a:off x="6172200" y="2988677"/>
              <a:ext cx="659027" cy="567152"/>
              <a:chOff x="3048502" y="3022431"/>
              <a:chExt cx="659027" cy="567152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3048502" y="3251029"/>
                <a:ext cx="65902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 smtClean="0">
                    <a:solidFill>
                      <a:schemeClr val="accent3">
                        <a:lumMod val="75000"/>
                      </a:schemeClr>
                    </a:solidFill>
                  </a:rPr>
                  <a:t>Value</a:t>
                </a:r>
                <a:endParaRPr lang="en-US" sz="1600" b="1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28" name="Straight Arrow Connector 27"/>
              <p:cNvCxnSpPr/>
              <p:nvPr/>
            </p:nvCxnSpPr>
            <p:spPr>
              <a:xfrm flipV="1">
                <a:off x="3378016" y="3022431"/>
                <a:ext cx="0" cy="27104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sp>
          <p:nvSpPr>
            <p:cNvPr id="29" name="Left Brace 28"/>
            <p:cNvSpPr/>
            <p:nvPr/>
          </p:nvSpPr>
          <p:spPr>
            <a:xfrm rot="5400000">
              <a:off x="5634704" y="1443704"/>
              <a:ext cx="312992" cy="2133600"/>
            </a:xfrm>
            <a:prstGeom prst="leftBrac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Left Brace 29"/>
            <p:cNvSpPr/>
            <p:nvPr/>
          </p:nvSpPr>
          <p:spPr>
            <a:xfrm rot="5400000">
              <a:off x="3637415" y="1764593"/>
              <a:ext cx="312992" cy="1491822"/>
            </a:xfrm>
            <a:prstGeom prst="leftBrac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5-Point Star 31"/>
          <p:cNvSpPr/>
          <p:nvPr/>
        </p:nvSpPr>
        <p:spPr>
          <a:xfrm rot="1367558">
            <a:off x="8060701" y="87183"/>
            <a:ext cx="914400" cy="914400"/>
          </a:xfrm>
          <a:prstGeom prst="star5">
            <a:avLst/>
          </a:pr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13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 Comments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Comments are used to explain your CSS code</a:t>
            </a:r>
          </a:p>
          <a:p>
            <a:r>
              <a:rPr lang="en-US" dirty="0" smtClean="0"/>
              <a:t>Are ignored by browsers</a:t>
            </a:r>
          </a:p>
          <a:p>
            <a:r>
              <a:rPr lang="en-US" dirty="0" smtClean="0"/>
              <a:t>Begins with </a:t>
            </a:r>
            <a:r>
              <a:rPr lang="en-US" b="1" dirty="0" smtClean="0">
                <a:solidFill>
                  <a:srgbClr val="FF0000"/>
                </a:solidFill>
              </a:rPr>
              <a:t>/*</a:t>
            </a:r>
            <a:r>
              <a:rPr lang="en-US" dirty="0" smtClean="0"/>
              <a:t> and ends with </a:t>
            </a:r>
            <a:r>
              <a:rPr lang="en-US" b="1" dirty="0" smtClean="0">
                <a:solidFill>
                  <a:srgbClr val="FF0000"/>
                </a:solidFill>
              </a:rPr>
              <a:t>*/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514600" y="4267200"/>
            <a:ext cx="4876800" cy="2031325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/*This is a comment*/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p {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text-align: center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 smtClean="0">
                <a:solidFill>
                  <a:srgbClr val="FF0000"/>
                </a:solidFill>
              </a:rPr>
              <a:t>/*</a:t>
            </a:r>
            <a:r>
              <a:rPr lang="en-US" dirty="0">
                <a:solidFill>
                  <a:srgbClr val="FF0000"/>
                </a:solidFill>
              </a:rPr>
              <a:t>This is another comment*/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color: black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 smtClean="0"/>
              <a:t>font-family: </a:t>
            </a:r>
            <a:r>
              <a:rPr lang="en-US" dirty="0" err="1" smtClean="0"/>
              <a:t>arial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05815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024744" cy="1143000"/>
          </a:xfrm>
        </p:spPr>
        <p:txBody>
          <a:bodyPr/>
          <a:lstStyle/>
          <a:p>
            <a:r>
              <a:rPr lang="en-US" dirty="0" smtClean="0"/>
              <a:t>CSS Id and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718" y="1295400"/>
            <a:ext cx="6777317" cy="3508977"/>
          </a:xfrm>
        </p:spPr>
        <p:txBody>
          <a:bodyPr/>
          <a:lstStyle/>
          <a:p>
            <a:r>
              <a:rPr lang="en-US" dirty="0" smtClean="0"/>
              <a:t>CSS allows you to specify own selectors called “</a:t>
            </a:r>
            <a:r>
              <a:rPr lang="en-US" b="1" dirty="0" smtClean="0"/>
              <a:t>id</a:t>
            </a:r>
            <a:r>
              <a:rPr lang="en-US" dirty="0" smtClean="0"/>
              <a:t>” and “</a:t>
            </a:r>
            <a:r>
              <a:rPr lang="en-US" b="1" dirty="0" smtClean="0"/>
              <a:t>class</a:t>
            </a:r>
            <a:r>
              <a:rPr lang="en-US" dirty="0" smtClean="0"/>
              <a:t>”</a:t>
            </a:r>
          </a:p>
          <a:p>
            <a:pPr lvl="1"/>
            <a:r>
              <a:rPr lang="en-US" b="1" dirty="0" smtClean="0">
                <a:solidFill>
                  <a:schemeClr val="accent2"/>
                </a:solidFill>
              </a:rPr>
              <a:t>id Selector</a:t>
            </a:r>
          </a:p>
          <a:p>
            <a:pPr lvl="2"/>
            <a:r>
              <a:rPr lang="en-US" dirty="0" smtClean="0"/>
              <a:t>Used to specify a style for a single, unique element</a:t>
            </a:r>
          </a:p>
          <a:p>
            <a:pPr lvl="2"/>
            <a:r>
              <a:rPr lang="en-US" dirty="0" smtClean="0"/>
              <a:t>Applied using the id attribute of HTML elements</a:t>
            </a:r>
          </a:p>
          <a:p>
            <a:pPr lvl="2"/>
            <a:r>
              <a:rPr lang="en-US" dirty="0" smtClean="0"/>
              <a:t>Defined with a hash “</a:t>
            </a:r>
            <a:r>
              <a:rPr lang="en-US" b="1" dirty="0" smtClean="0"/>
              <a:t>#</a:t>
            </a:r>
            <a:r>
              <a:rPr lang="en-US" dirty="0" smtClean="0"/>
              <a:t>”</a:t>
            </a:r>
          </a:p>
          <a:p>
            <a:pPr lvl="2"/>
            <a:endParaRPr lang="en-US" dirty="0" smtClean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9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833718" y="4291559"/>
            <a:ext cx="7508928" cy="1787618"/>
            <a:chOff x="838200" y="4354718"/>
            <a:chExt cx="7508928" cy="1787618"/>
          </a:xfrm>
        </p:grpSpPr>
        <p:sp>
          <p:nvSpPr>
            <p:cNvPr id="4" name="TextBox 3"/>
            <p:cNvSpPr txBox="1"/>
            <p:nvPr/>
          </p:nvSpPr>
          <p:spPr>
            <a:xfrm>
              <a:off x="838200" y="4388010"/>
              <a:ext cx="2900082" cy="1754326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#para1</a:t>
              </a:r>
              <a:r>
                <a:rPr lang="en-US" dirty="0"/>
                <a:t/>
              </a:r>
              <a:br>
                <a:rPr lang="en-US" dirty="0"/>
              </a:br>
              <a:r>
                <a:rPr lang="en-US" dirty="0"/>
                <a:t>{</a:t>
              </a:r>
              <a:br>
                <a:rPr lang="en-US" dirty="0"/>
              </a:br>
              <a:r>
                <a:rPr lang="en-US" dirty="0" smtClean="0"/>
                <a:t>   text-align: center</a:t>
              </a:r>
              <a:r>
                <a:rPr lang="en-US" dirty="0"/>
                <a:t>;</a:t>
              </a:r>
              <a:br>
                <a:rPr lang="en-US" dirty="0"/>
              </a:br>
              <a:r>
                <a:rPr lang="en-US" dirty="0" smtClean="0"/>
                <a:t>   color: red;</a:t>
              </a:r>
              <a:r>
                <a:rPr lang="en-US" dirty="0"/>
                <a:t/>
              </a:r>
              <a:br>
                <a:rPr lang="en-US" dirty="0"/>
              </a:br>
              <a:r>
                <a:rPr lang="en-US" dirty="0" smtClean="0"/>
                <a:t>   font-family: </a:t>
              </a:r>
              <a:r>
                <a:rPr lang="en-US" dirty="0" err="1" smtClean="0"/>
                <a:t>arial</a:t>
              </a:r>
              <a:r>
                <a:rPr lang="en-US" dirty="0"/>
                <a:t>;</a:t>
              </a:r>
              <a:br>
                <a:rPr lang="en-US" dirty="0"/>
              </a:br>
              <a:r>
                <a:rPr lang="en-US" dirty="0"/>
                <a:t>}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079928" y="5142202"/>
              <a:ext cx="4267200" cy="646331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b="1" dirty="0" smtClean="0"/>
                <a:t>&lt;p id=“para1”&gt;</a:t>
              </a:r>
              <a:r>
                <a:rPr lang="en-US" dirty="0" smtClean="0"/>
                <a:t>This is a paragraph with para1 style rule applied</a:t>
              </a:r>
              <a:r>
                <a:rPr lang="en-US" b="1" dirty="0" smtClean="0"/>
                <a:t>&lt;/p&gt;</a:t>
              </a:r>
              <a:endParaRPr lang="en-US" b="1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097857" y="4354718"/>
              <a:ext cx="4062984" cy="338554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Style rule applied to element with id=“para1”</a:t>
              </a:r>
              <a:endParaRPr lang="en-US" sz="1600" dirty="0"/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5403745" y="4693272"/>
              <a:ext cx="266700" cy="54520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1143000" y="6167735"/>
            <a:ext cx="5257800" cy="430887"/>
            <a:chOff x="3377184" y="5943600"/>
            <a:chExt cx="4471416" cy="430887"/>
          </a:xfrm>
        </p:grpSpPr>
        <p:sp>
          <p:nvSpPr>
            <p:cNvPr id="12" name="TextBox 11"/>
            <p:cNvSpPr txBox="1"/>
            <p:nvPr/>
          </p:nvSpPr>
          <p:spPr>
            <a:xfrm>
              <a:off x="3377184" y="5943600"/>
              <a:ext cx="4471416" cy="4308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lIns="457200" tIns="91440" rIns="91440" bIns="91440" rtlCol="0">
              <a:spAutoFit/>
            </a:bodyPr>
            <a:lstStyle/>
            <a:p>
              <a:r>
                <a:rPr lang="en-US" sz="1600" dirty="0" smtClean="0"/>
                <a:t>Do </a:t>
              </a:r>
              <a:r>
                <a:rPr lang="en-US" sz="1600" b="1" dirty="0" smtClean="0"/>
                <a:t>NOT</a:t>
              </a:r>
              <a:r>
                <a:rPr lang="en-US" sz="1600" dirty="0" smtClean="0"/>
                <a:t> start an ID name with a number!</a:t>
              </a:r>
            </a:p>
          </p:txBody>
        </p:sp>
        <p:pic>
          <p:nvPicPr>
            <p:cNvPr id="1026" name="Picture 2" descr="C:\Users\EvyLim\AppData\Local\Microsoft\Windows\Temporary Internet Files\Content.IE5\4WZW5CPL\MC900432617[1]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4536" y="5981700"/>
              <a:ext cx="385464" cy="3854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84357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"/>
            <a:ext cx="7024744" cy="1143000"/>
          </a:xfrm>
        </p:spPr>
        <p:txBody>
          <a:bodyPr/>
          <a:lstStyle/>
          <a:p>
            <a:r>
              <a:rPr lang="en-US" dirty="0" smtClean="0"/>
              <a:t>CSS Id and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941" y="1190792"/>
            <a:ext cx="6777317" cy="3508977"/>
          </a:xfrm>
        </p:spPr>
        <p:txBody>
          <a:bodyPr/>
          <a:lstStyle/>
          <a:p>
            <a:pPr lvl="1"/>
            <a:r>
              <a:rPr lang="en-US" b="1" dirty="0" smtClean="0">
                <a:solidFill>
                  <a:schemeClr val="accent2"/>
                </a:solidFill>
              </a:rPr>
              <a:t>class Selector</a:t>
            </a:r>
          </a:p>
          <a:p>
            <a:pPr lvl="2"/>
            <a:r>
              <a:rPr lang="en-US" dirty="0" smtClean="0"/>
              <a:t>Used to specify a style for a group of elements</a:t>
            </a:r>
          </a:p>
          <a:p>
            <a:pPr lvl="2"/>
            <a:r>
              <a:rPr lang="en-US" dirty="0" smtClean="0"/>
              <a:t>Allows you to set a particular style for many HTML elements with the same class</a:t>
            </a:r>
          </a:p>
          <a:p>
            <a:pPr lvl="2"/>
            <a:r>
              <a:rPr lang="en-US" dirty="0" smtClean="0"/>
              <a:t>Applied using the class attribute of HTML elements</a:t>
            </a:r>
          </a:p>
          <a:p>
            <a:pPr lvl="2"/>
            <a:r>
              <a:rPr lang="en-US" dirty="0" smtClean="0"/>
              <a:t>Defined with a dot “</a:t>
            </a:r>
            <a:r>
              <a:rPr lang="en-US" b="1" dirty="0" smtClean="0"/>
              <a:t>.</a:t>
            </a:r>
            <a:r>
              <a:rPr lang="en-US" dirty="0" smtClean="0"/>
              <a:t>”</a:t>
            </a:r>
          </a:p>
          <a:p>
            <a:pPr lvl="2"/>
            <a:endParaRPr lang="en-US" dirty="0" smtClean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10</a:t>
            </a:fld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685799" y="3657600"/>
            <a:ext cx="7924801" cy="2275075"/>
            <a:chOff x="1142999" y="3657600"/>
            <a:chExt cx="7358744" cy="2275075"/>
          </a:xfrm>
        </p:grpSpPr>
        <p:sp>
          <p:nvSpPr>
            <p:cNvPr id="4" name="TextBox 3"/>
            <p:cNvSpPr txBox="1"/>
            <p:nvPr/>
          </p:nvSpPr>
          <p:spPr>
            <a:xfrm>
              <a:off x="1143000" y="3657600"/>
              <a:ext cx="2438400" cy="1200329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.center</a:t>
              </a:r>
              <a:r>
                <a:rPr lang="en-US" dirty="0"/>
                <a:t/>
              </a:r>
              <a:br>
                <a:rPr lang="en-US" dirty="0"/>
              </a:br>
              <a:r>
                <a:rPr lang="en-US" dirty="0"/>
                <a:t>{</a:t>
              </a:r>
              <a:br>
                <a:rPr lang="en-US" dirty="0"/>
              </a:br>
              <a:r>
                <a:rPr lang="en-US" dirty="0" smtClean="0"/>
                <a:t>   </a:t>
              </a:r>
              <a:r>
                <a:rPr lang="en-US" dirty="0" err="1" smtClean="0"/>
                <a:t>text-align:center</a:t>
              </a:r>
              <a:r>
                <a:rPr lang="en-US" dirty="0" smtClean="0"/>
                <a:t>;</a:t>
              </a:r>
            </a:p>
            <a:p>
              <a:r>
                <a:rPr lang="en-US" dirty="0" smtClean="0"/>
                <a:t>}</a:t>
              </a:r>
              <a:endParaRPr lang="en-US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810000" y="4567019"/>
              <a:ext cx="4267200" cy="646331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b="1" dirty="0" smtClean="0"/>
                <a:t>&lt;p class=“center”&gt;</a:t>
              </a:r>
              <a:r>
                <a:rPr lang="en-US" dirty="0" smtClean="0"/>
                <a:t>This is a paragraph with center class rule applied</a:t>
              </a:r>
              <a:r>
                <a:rPr lang="en-US" b="1" dirty="0" smtClean="0"/>
                <a:t>&lt;/p&gt;</a:t>
              </a:r>
              <a:endParaRPr lang="en-US" b="1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810000" y="3657600"/>
              <a:ext cx="2971800" cy="58477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Style rule applied to element with class=“center”</a:t>
              </a:r>
              <a:endParaRPr lang="en-US" sz="1600" dirty="0"/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4419600" y="4257764"/>
              <a:ext cx="394716" cy="44200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1142999" y="5486400"/>
              <a:ext cx="3238500" cy="369332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 smtClean="0"/>
                <a:t>p.center</a:t>
              </a:r>
              <a:r>
                <a:rPr lang="en-US" dirty="0" smtClean="0"/>
                <a:t> { </a:t>
              </a:r>
              <a:r>
                <a:rPr lang="en-US" dirty="0" err="1" smtClean="0"/>
                <a:t>text-align:center</a:t>
              </a:r>
              <a:r>
                <a:rPr lang="en-US" dirty="0" smtClean="0"/>
                <a:t>; }</a:t>
              </a:r>
              <a:endParaRPr 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724400" y="5347900"/>
              <a:ext cx="3777343" cy="58477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All &lt;p&gt; elements with class=“center” will be center-aligned</a:t>
              </a:r>
              <a:endParaRPr lang="en-US" sz="1600" dirty="0"/>
            </a:p>
          </p:txBody>
        </p:sp>
        <p:cxnSp>
          <p:nvCxnSpPr>
            <p:cNvPr id="16" name="Straight Arrow Connector 15"/>
            <p:cNvCxnSpPr>
              <a:stCxn id="15" idx="1"/>
              <a:endCxn id="14" idx="3"/>
            </p:cNvCxnSpPr>
            <p:nvPr/>
          </p:nvCxnSpPr>
          <p:spPr>
            <a:xfrm flipH="1">
              <a:off x="4381499" y="5640288"/>
              <a:ext cx="342901" cy="3077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703728" y="5994856"/>
            <a:ext cx="5872917" cy="430887"/>
            <a:chOff x="3377184" y="5943600"/>
            <a:chExt cx="4582560" cy="430887"/>
          </a:xfrm>
        </p:grpSpPr>
        <p:sp>
          <p:nvSpPr>
            <p:cNvPr id="21" name="TextBox 20"/>
            <p:cNvSpPr txBox="1"/>
            <p:nvPr/>
          </p:nvSpPr>
          <p:spPr>
            <a:xfrm>
              <a:off x="3377184" y="5943600"/>
              <a:ext cx="4582560" cy="4308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lIns="457200" tIns="91440" rIns="91440" bIns="91440" rtlCol="0">
              <a:spAutoFit/>
            </a:bodyPr>
            <a:lstStyle/>
            <a:p>
              <a:r>
                <a:rPr lang="en-US" sz="1600" dirty="0" smtClean="0"/>
                <a:t>Do </a:t>
              </a:r>
              <a:r>
                <a:rPr lang="en-US" sz="1600" b="1" dirty="0" smtClean="0"/>
                <a:t>NOT</a:t>
              </a:r>
              <a:r>
                <a:rPr lang="en-US" sz="1600" dirty="0" smtClean="0"/>
                <a:t> start a class name with a number!</a:t>
              </a:r>
            </a:p>
          </p:txBody>
        </p:sp>
        <p:pic>
          <p:nvPicPr>
            <p:cNvPr id="22" name="Picture 2" descr="C:\Users\EvyLim\AppData\Local\Microsoft\Windows\Temporary Internet Files\Content.IE5\4WZW5CPL\MC900432617[1]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4536" y="5981700"/>
              <a:ext cx="385464" cy="3854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8682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56" y="0"/>
            <a:ext cx="7024744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Combining CSS Style Rules with HTML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070991"/>
            <a:ext cx="6777317" cy="3508977"/>
          </a:xfrm>
        </p:spPr>
        <p:txBody>
          <a:bodyPr>
            <a:norm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 smtClean="0"/>
              <a:t>Browser reads a style sheet and format the document according to it</a:t>
            </a:r>
          </a:p>
          <a:p>
            <a:r>
              <a:rPr lang="en-US" sz="2000" dirty="0" smtClean="0"/>
              <a:t>Three ways of inserting a style sheet</a:t>
            </a:r>
          </a:p>
          <a:p>
            <a:pPr lvl="1"/>
            <a:r>
              <a:rPr lang="en-US" sz="1800" dirty="0" smtClean="0"/>
              <a:t>Inline style</a:t>
            </a:r>
          </a:p>
          <a:p>
            <a:pPr lvl="1"/>
            <a:r>
              <a:rPr lang="en-US" sz="1800" dirty="0" smtClean="0"/>
              <a:t>Internal style sheet</a:t>
            </a:r>
          </a:p>
          <a:p>
            <a:pPr lvl="1"/>
            <a:r>
              <a:rPr lang="en-US" sz="1800" dirty="0" smtClean="0"/>
              <a:t>External style sheet</a:t>
            </a: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IT1322 2012 S1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810000" y="2295398"/>
            <a:ext cx="5067300" cy="4524315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&lt;!DOCTYPE html&gt;</a:t>
            </a:r>
          </a:p>
          <a:p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&lt;html&gt;</a:t>
            </a:r>
          </a:p>
          <a:p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&lt;head&gt;</a:t>
            </a:r>
          </a:p>
          <a:p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&lt;title&gt;What is HTML&gt;&lt;/title&gt;</a:t>
            </a:r>
          </a:p>
          <a:p>
            <a:r>
              <a:rPr lang="en-US" sz="1600" b="1" dirty="0" smtClean="0">
                <a:solidFill>
                  <a:schemeClr val="accent2"/>
                </a:solidFill>
              </a:rPr>
              <a:t>&lt;link </a:t>
            </a:r>
            <a:r>
              <a:rPr lang="en-US" sz="1600" b="1" dirty="0" err="1" smtClean="0">
                <a:solidFill>
                  <a:schemeClr val="accent2"/>
                </a:solidFill>
              </a:rPr>
              <a:t>href</a:t>
            </a:r>
            <a:r>
              <a:rPr lang="en-US" sz="1600" b="1" dirty="0" smtClean="0">
                <a:solidFill>
                  <a:schemeClr val="accent2"/>
                </a:solidFill>
              </a:rPr>
              <a:t>=“styles.css” </a:t>
            </a:r>
            <a:r>
              <a:rPr lang="en-US" sz="1600" b="1" dirty="0" err="1" smtClean="0">
                <a:solidFill>
                  <a:schemeClr val="accent2"/>
                </a:solidFill>
              </a:rPr>
              <a:t>rel</a:t>
            </a:r>
            <a:r>
              <a:rPr lang="en-US" sz="1600" b="1" dirty="0" smtClean="0">
                <a:solidFill>
                  <a:schemeClr val="accent2"/>
                </a:solidFill>
              </a:rPr>
              <a:t>=“</a:t>
            </a:r>
            <a:r>
              <a:rPr lang="en-US" sz="1600" b="1" dirty="0" err="1" smtClean="0">
                <a:solidFill>
                  <a:schemeClr val="accent2"/>
                </a:solidFill>
              </a:rPr>
              <a:t>stylesheet</a:t>
            </a:r>
            <a:r>
              <a:rPr lang="en-US" sz="1600" b="1" dirty="0" smtClean="0">
                <a:solidFill>
                  <a:schemeClr val="accent2"/>
                </a:solidFill>
              </a:rPr>
              <a:t>” type=“text/</a:t>
            </a:r>
            <a:r>
              <a:rPr lang="en-US" sz="1600" b="1" dirty="0" err="1" smtClean="0">
                <a:solidFill>
                  <a:schemeClr val="accent2"/>
                </a:solidFill>
              </a:rPr>
              <a:t>css</a:t>
            </a:r>
            <a:r>
              <a:rPr lang="en-US" sz="1600" b="1" dirty="0" smtClean="0">
                <a:solidFill>
                  <a:schemeClr val="accent2"/>
                </a:solidFill>
              </a:rPr>
              <a:t>” /&gt;</a:t>
            </a:r>
          </a:p>
          <a:p>
            <a:r>
              <a:rPr lang="en-US" sz="1600" b="1" dirty="0" smtClean="0">
                <a:solidFill>
                  <a:schemeClr val="accent1"/>
                </a:solidFill>
              </a:rPr>
              <a:t>&lt;style type=“text/</a:t>
            </a:r>
            <a:r>
              <a:rPr lang="en-US" sz="1600" b="1" dirty="0" err="1" smtClean="0">
                <a:solidFill>
                  <a:schemeClr val="accent1"/>
                </a:solidFill>
              </a:rPr>
              <a:t>css</a:t>
            </a:r>
            <a:r>
              <a:rPr lang="en-US" sz="1600" b="1" dirty="0" smtClean="0">
                <a:solidFill>
                  <a:schemeClr val="accent1"/>
                </a:solidFill>
              </a:rPr>
              <a:t>”&gt;</a:t>
            </a:r>
          </a:p>
          <a:p>
            <a:r>
              <a:rPr lang="en-US" sz="1600" b="1" dirty="0" smtClean="0">
                <a:solidFill>
                  <a:schemeClr val="accent1"/>
                </a:solidFill>
              </a:rPr>
              <a:t>p {margin-left: 30px; }</a:t>
            </a:r>
          </a:p>
          <a:p>
            <a:r>
              <a:rPr lang="en-US" sz="1600" b="1" dirty="0" smtClean="0">
                <a:solidFill>
                  <a:schemeClr val="accent1"/>
                </a:solidFill>
              </a:rPr>
              <a:t>&lt;/style&gt;</a:t>
            </a:r>
          </a:p>
          <a:p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&lt;/head&gt;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&lt;body&gt;</a:t>
            </a:r>
          </a:p>
          <a:p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&lt;h1&gt;What is HTML?&lt;/h1&gt;</a:t>
            </a:r>
          </a:p>
          <a:p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&lt;p&gt;HTML is a markup language, a </a:t>
            </a:r>
            <a:r>
              <a:rPr lang="en-US" sz="1600" b="1" dirty="0" smtClean="0">
                <a:solidFill>
                  <a:schemeClr val="accent6">
                    <a:lumMod val="75000"/>
                  </a:schemeClr>
                </a:solidFill>
              </a:rPr>
              <a:t>&lt;span style=“font-weight: bold;”&gt; structured language&lt;/span&gt; </a:t>
            </a: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that lets you identify common sections of a document.&lt;/p&gt;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&lt;/body&gt;</a:t>
            </a:r>
          </a:p>
          <a:p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&lt;/html&gt;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Line Callout 1 4"/>
          <p:cNvSpPr/>
          <p:nvPr/>
        </p:nvSpPr>
        <p:spPr>
          <a:xfrm>
            <a:off x="931941" y="3408017"/>
            <a:ext cx="2209800" cy="1003203"/>
          </a:xfrm>
          <a:prstGeom prst="borderCallout1">
            <a:avLst>
              <a:gd name="adj1" fmla="val 47550"/>
              <a:gd name="adj2" fmla="val 100356"/>
              <a:gd name="adj3" fmla="val 74921"/>
              <a:gd name="adj4" fmla="val 12895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&lt;link&gt; element points to external style sheet</a:t>
            </a:r>
            <a:endParaRPr lang="en-US" sz="1600" dirty="0"/>
          </a:p>
        </p:txBody>
      </p:sp>
      <p:sp>
        <p:nvSpPr>
          <p:cNvPr id="6" name="Line Callout 1 5"/>
          <p:cNvSpPr/>
          <p:nvPr/>
        </p:nvSpPr>
        <p:spPr>
          <a:xfrm>
            <a:off x="7543800" y="4914900"/>
            <a:ext cx="1333500" cy="419100"/>
          </a:xfrm>
          <a:prstGeom prst="borderCallout1">
            <a:avLst>
              <a:gd name="adj1" fmla="val 96617"/>
              <a:gd name="adj2" fmla="val 51253"/>
              <a:gd name="adj3" fmla="val 150609"/>
              <a:gd name="adj4" fmla="val 41116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Inline style</a:t>
            </a:r>
            <a:endParaRPr lang="en-US" sz="1600" dirty="0"/>
          </a:p>
        </p:txBody>
      </p:sp>
      <p:sp>
        <p:nvSpPr>
          <p:cNvPr id="7" name="Left Brace 6"/>
          <p:cNvSpPr/>
          <p:nvPr/>
        </p:nvSpPr>
        <p:spPr>
          <a:xfrm rot="10800000">
            <a:off x="5867400" y="4033301"/>
            <a:ext cx="381000" cy="66675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ine Callout 1 7"/>
          <p:cNvSpPr/>
          <p:nvPr/>
        </p:nvSpPr>
        <p:spPr>
          <a:xfrm>
            <a:off x="6629400" y="4138456"/>
            <a:ext cx="1905000" cy="419100"/>
          </a:xfrm>
          <a:prstGeom prst="borderCallout1">
            <a:avLst>
              <a:gd name="adj1" fmla="val 47162"/>
              <a:gd name="adj2" fmla="val -1776"/>
              <a:gd name="adj3" fmla="val 54609"/>
              <a:gd name="adj4" fmla="val -21055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Internal style sheet</a:t>
            </a:r>
            <a:endParaRPr lang="en-US" sz="1600" dirty="0"/>
          </a:p>
        </p:txBody>
      </p:sp>
      <p:grpSp>
        <p:nvGrpSpPr>
          <p:cNvPr id="11" name="Group 10"/>
          <p:cNvGrpSpPr/>
          <p:nvPr/>
        </p:nvGrpSpPr>
        <p:grpSpPr>
          <a:xfrm>
            <a:off x="609600" y="4704534"/>
            <a:ext cx="3030459" cy="1269704"/>
            <a:chOff x="976765" y="4264223"/>
            <a:chExt cx="2376035" cy="845306"/>
          </a:xfrm>
        </p:grpSpPr>
        <p:sp>
          <p:nvSpPr>
            <p:cNvPr id="9" name="TextBox 8"/>
            <p:cNvSpPr txBox="1"/>
            <p:nvPr/>
          </p:nvSpPr>
          <p:spPr>
            <a:xfrm>
              <a:off x="1066800" y="4524754"/>
              <a:ext cx="2286000" cy="58477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body { font-family: </a:t>
              </a:r>
              <a:r>
                <a:rPr lang="en-US" sz="1600" dirty="0" err="1" smtClean="0"/>
                <a:t>arial</a:t>
              </a:r>
              <a:r>
                <a:rPr lang="en-US" sz="1600" dirty="0" smtClean="0"/>
                <a:t>; }</a:t>
              </a:r>
            </a:p>
            <a:p>
              <a:r>
                <a:rPr lang="en-US" sz="1600" dirty="0" smtClean="0"/>
                <a:t>h1 { color: blue; }</a:t>
              </a:r>
              <a:endParaRPr lang="en-US" sz="16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76765" y="4264223"/>
              <a:ext cx="23760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External style sheet: styles.css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80267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656" y="702121"/>
            <a:ext cx="7024744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Combining CSS Style Rules with HTML</a:t>
            </a:r>
          </a:p>
        </p:txBody>
      </p:sp>
      <p:pic>
        <p:nvPicPr>
          <p:cNvPr id="2050" name="Picture 2" descr="C:\Users\EvyLim\AppData\Local\Temp\SNAGHTML6618843.PN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28425" y="2324100"/>
            <a:ext cx="4406163" cy="350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12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4419600" y="3486150"/>
            <a:ext cx="3962400" cy="2381250"/>
            <a:chOff x="4419600" y="3486150"/>
            <a:chExt cx="3962400" cy="1195804"/>
          </a:xfrm>
        </p:grpSpPr>
        <p:sp>
          <p:nvSpPr>
            <p:cNvPr id="9" name="Line Callout 1 8"/>
            <p:cNvSpPr/>
            <p:nvPr/>
          </p:nvSpPr>
          <p:spPr>
            <a:xfrm>
              <a:off x="4419600" y="3486150"/>
              <a:ext cx="2971800" cy="952500"/>
            </a:xfrm>
            <a:prstGeom prst="borderCallout1">
              <a:avLst>
                <a:gd name="adj1" fmla="val -312"/>
                <a:gd name="adj2" fmla="val 47614"/>
                <a:gd name="adj3" fmla="val -14787"/>
                <a:gd name="adj4" fmla="val 9577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Inline style affects only the span of words it surrounds, making the words </a:t>
              </a:r>
              <a:r>
                <a:rPr lang="en-US" sz="1600" i="1" dirty="0" smtClean="0"/>
                <a:t>structured language </a:t>
              </a:r>
              <a:r>
                <a:rPr lang="en-US" sz="1600" dirty="0" smtClean="0"/>
                <a:t>bold</a:t>
              </a:r>
              <a:endParaRPr lang="en-US" sz="16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334000" y="4343400"/>
              <a:ext cx="3048000" cy="338554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&lt;span style=“font-weight: bold;”&gt;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114800" y="1412805"/>
            <a:ext cx="4457700" cy="1946376"/>
            <a:chOff x="4114800" y="688846"/>
            <a:chExt cx="4457700" cy="1946376"/>
          </a:xfrm>
        </p:grpSpPr>
        <p:cxnSp>
          <p:nvCxnSpPr>
            <p:cNvPr id="6" name="Straight Connector 5"/>
            <p:cNvCxnSpPr>
              <a:stCxn id="5" idx="2"/>
            </p:cNvCxnSpPr>
            <p:nvPr/>
          </p:nvCxnSpPr>
          <p:spPr>
            <a:xfrm flipH="1">
              <a:off x="4114800" y="1867015"/>
              <a:ext cx="1066800" cy="76820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5" name="Line Callout 1 4"/>
            <p:cNvSpPr/>
            <p:nvPr/>
          </p:nvSpPr>
          <p:spPr>
            <a:xfrm>
              <a:off x="5181600" y="1403608"/>
              <a:ext cx="2743200" cy="926813"/>
            </a:xfrm>
            <a:prstGeom prst="borderCallout1">
              <a:avLst>
                <a:gd name="adj1" fmla="val 51483"/>
                <a:gd name="adj2" fmla="val -1161"/>
                <a:gd name="adj3" fmla="val 88633"/>
                <a:gd name="adj4" fmla="val -42747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Rules in styles.css set the body text to Arial and the &lt;h1&gt; heading to the color blue</a:t>
              </a:r>
              <a:endParaRPr lang="en-US" sz="16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181600" y="688846"/>
              <a:ext cx="3390900" cy="584775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body { font-family: </a:t>
              </a:r>
              <a:r>
                <a:rPr lang="en-US" sz="1600" dirty="0" err="1"/>
                <a:t>arial</a:t>
              </a:r>
              <a:r>
                <a:rPr lang="en-US" sz="1600" dirty="0"/>
                <a:t>; }</a:t>
              </a:r>
            </a:p>
            <a:p>
              <a:r>
                <a:rPr lang="en-US" sz="1600" dirty="0"/>
                <a:t>h1 { color: blue; </a:t>
              </a:r>
              <a:r>
                <a:rPr lang="en-US" sz="1600" dirty="0" smtClean="0"/>
                <a:t>}</a:t>
              </a:r>
              <a:endParaRPr lang="en-US" sz="1600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85652" y="3352800"/>
            <a:ext cx="2767150" cy="2971800"/>
            <a:chOff x="533400" y="3352800"/>
            <a:chExt cx="2252331" cy="1981200"/>
          </a:xfrm>
        </p:grpSpPr>
        <p:sp>
          <p:nvSpPr>
            <p:cNvPr id="8" name="Line Callout 1 7"/>
            <p:cNvSpPr/>
            <p:nvPr/>
          </p:nvSpPr>
          <p:spPr>
            <a:xfrm>
              <a:off x="533400" y="3352800"/>
              <a:ext cx="2252331" cy="1066800"/>
            </a:xfrm>
            <a:prstGeom prst="borderCallout1">
              <a:avLst>
                <a:gd name="adj1" fmla="val -2293"/>
                <a:gd name="adj2" fmla="val 50064"/>
                <a:gd name="adj3" fmla="val -7794"/>
                <a:gd name="adj4" fmla="val 68206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Internal style sheet make all paragraph elements within the document have a 30-pixel left margin</a:t>
              </a:r>
              <a:endParaRPr lang="en-US" sz="16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33400" y="4503003"/>
              <a:ext cx="2133600" cy="830997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&lt;style type=“text/</a:t>
              </a:r>
              <a:r>
                <a:rPr lang="en-US" sz="1600" dirty="0" err="1"/>
                <a:t>css</a:t>
              </a:r>
              <a:r>
                <a:rPr lang="en-US" sz="1600" dirty="0"/>
                <a:t>”&gt;</a:t>
              </a:r>
            </a:p>
            <a:p>
              <a:r>
                <a:rPr lang="en-US" sz="1600" dirty="0"/>
                <a:t>p </a:t>
              </a:r>
              <a:r>
                <a:rPr lang="en-US" sz="1600" dirty="0" smtClean="0"/>
                <a:t>{ margin-left</a:t>
              </a:r>
              <a:r>
                <a:rPr lang="en-US" sz="1600" dirty="0"/>
                <a:t>: 30px; }</a:t>
              </a:r>
            </a:p>
            <a:p>
              <a:r>
                <a:rPr lang="en-US" sz="1600" dirty="0"/>
                <a:t>&lt;/style&gt;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784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024744" cy="1143000"/>
          </a:xfrm>
        </p:spPr>
        <p:txBody>
          <a:bodyPr/>
          <a:lstStyle/>
          <a:p>
            <a:r>
              <a:rPr lang="en-US" dirty="0" smtClean="0"/>
              <a:t>Inline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Aft>
                <a:spcPts val="1000"/>
              </a:spcAft>
            </a:pPr>
            <a:r>
              <a:rPr lang="en-US" sz="2400" dirty="0" smtClean="0"/>
              <a:t>Define style for a single element using the style attribute is called an inline style</a:t>
            </a:r>
            <a:endParaRPr lang="en-US" sz="2400" dirty="0"/>
          </a:p>
          <a:p>
            <a:pPr>
              <a:spcAft>
                <a:spcPts val="1000"/>
              </a:spcAft>
            </a:pPr>
            <a:endParaRPr lang="en-US" sz="2400" dirty="0" smtClean="0"/>
          </a:p>
          <a:p>
            <a:pPr>
              <a:spcAft>
                <a:spcPts val="1000"/>
              </a:spcAft>
            </a:pPr>
            <a:r>
              <a:rPr lang="en-US" sz="2400" dirty="0" smtClean="0"/>
              <a:t>Loses many advantages of style sheets by mixing content with presentation </a:t>
            </a:r>
            <a:r>
              <a:rPr lang="en-US" sz="2400" dirty="0" smtClean="0">
                <a:sym typeface="Wingdings" pitchFamily="2" charset="2"/>
              </a:rPr>
              <a:t> </a:t>
            </a:r>
            <a:r>
              <a:rPr lang="en-US" sz="2400" dirty="0" smtClean="0"/>
              <a:t>use this method sparingly</a:t>
            </a:r>
          </a:p>
          <a:p>
            <a:pPr>
              <a:spcAft>
                <a:spcPts val="1000"/>
              </a:spcAft>
            </a:pPr>
            <a:r>
              <a:rPr lang="en-US" sz="2400" dirty="0" smtClean="0"/>
              <a:t>Generally use style attribute to override style that was set at higher level in document</a:t>
            </a:r>
            <a:br>
              <a:rPr lang="en-US" sz="2400" dirty="0" smtClean="0"/>
            </a:br>
            <a:r>
              <a:rPr lang="en-US" sz="2000" i="1" dirty="0" smtClean="0"/>
              <a:t>E.g.: you want a particular heading to be a different color from the rest of the headings in the page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13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2000" y="1581090"/>
            <a:ext cx="68274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&lt;span </a:t>
            </a:r>
            <a:r>
              <a:rPr lang="en-US" sz="2000" b="1" dirty="0">
                <a:solidFill>
                  <a:srgbClr val="FF0000"/>
                </a:solidFill>
              </a:rPr>
              <a:t>style=“font-weight: bold</a:t>
            </a:r>
            <a:r>
              <a:rPr lang="en-US" sz="2000" b="1" dirty="0" smtClean="0">
                <a:solidFill>
                  <a:srgbClr val="FF0000"/>
                </a:solidFill>
              </a:rPr>
              <a:t>;”</a:t>
            </a:r>
            <a:r>
              <a:rPr lang="en-US" sz="2000" b="1" dirty="0" smtClean="0">
                <a:solidFill>
                  <a:schemeClr val="bg1">
                    <a:lumMod val="50000"/>
                  </a:schemeClr>
                </a:solidFill>
              </a:rPr>
              <a:t>&gt;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structured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language&lt;/span&gt;</a:t>
            </a:r>
          </a:p>
        </p:txBody>
      </p:sp>
      <p:sp>
        <p:nvSpPr>
          <p:cNvPr id="7" name="5-Point Star 6"/>
          <p:cNvSpPr/>
          <p:nvPr/>
        </p:nvSpPr>
        <p:spPr>
          <a:xfrm rot="1367558">
            <a:off x="8060701" y="-989"/>
            <a:ext cx="914400" cy="914400"/>
          </a:xfrm>
          <a:prstGeom prst="star5">
            <a:avLst/>
          </a:pr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52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4800"/>
            <a:ext cx="7024744" cy="1143000"/>
          </a:xfrm>
        </p:spPr>
        <p:txBody>
          <a:bodyPr/>
          <a:lstStyle/>
          <a:p>
            <a:r>
              <a:rPr lang="en-US" dirty="0" smtClean="0"/>
              <a:t>Internal Style Sheet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752600"/>
            <a:ext cx="6777317" cy="3508977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1000"/>
              </a:spcAft>
            </a:pPr>
            <a:r>
              <a:rPr lang="en-US" sz="2400" dirty="0" smtClean="0"/>
              <a:t>Use </a:t>
            </a:r>
            <a:r>
              <a:rPr lang="en-US" sz="2400" b="1" dirty="0"/>
              <a:t>&lt;</a:t>
            </a:r>
            <a:r>
              <a:rPr lang="en-US" sz="2400" b="1" dirty="0" smtClean="0"/>
              <a:t>style&gt; </a:t>
            </a:r>
            <a:r>
              <a:rPr lang="en-US" sz="2400" dirty="0" smtClean="0"/>
              <a:t>element to create an internal style sheet in the </a:t>
            </a:r>
            <a:r>
              <a:rPr lang="en-US" sz="2400" b="1" dirty="0" smtClean="0"/>
              <a:t>&lt;head&gt; </a:t>
            </a:r>
            <a:r>
              <a:rPr lang="en-US" sz="2400" dirty="0" smtClean="0"/>
              <a:t>section of the document</a:t>
            </a:r>
          </a:p>
          <a:p>
            <a:pPr>
              <a:spcAft>
                <a:spcPts val="1000"/>
              </a:spcAft>
            </a:pPr>
            <a:r>
              <a:rPr lang="en-US" sz="2400" dirty="0" smtClean="0"/>
              <a:t>Style rules contained in internal style sheet only affect the document in which they are reside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pPr lvl="1"/>
            <a:endParaRPr lang="en-US" sz="2000" dirty="0" smtClean="0"/>
          </a:p>
          <a:p>
            <a:pPr lvl="1"/>
            <a:endParaRPr lang="en-US" sz="2000" dirty="0" smtClean="0"/>
          </a:p>
          <a:p>
            <a:pPr lvl="1"/>
            <a:endParaRPr lang="en-US" sz="2000" dirty="0"/>
          </a:p>
          <a:p>
            <a:pPr lvl="1"/>
            <a:r>
              <a:rPr lang="en-US" sz="2000" dirty="0" smtClean="0"/>
              <a:t>Value “</a:t>
            </a:r>
            <a:r>
              <a:rPr lang="en-US" sz="2000" b="1" dirty="0" smtClean="0"/>
              <a:t>text/</a:t>
            </a:r>
            <a:r>
              <a:rPr lang="en-US" sz="2000" b="1" dirty="0" err="1" smtClean="0"/>
              <a:t>css</a:t>
            </a:r>
            <a:r>
              <a:rPr lang="en-US" sz="2000" dirty="0" smtClean="0"/>
              <a:t>” of type attribute defines the language as Cascading Style Sheets</a:t>
            </a:r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14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24000" y="3048000"/>
            <a:ext cx="266579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&lt;head&gt;</a:t>
            </a: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2000" b="1" dirty="0" smtClean="0">
                <a:solidFill>
                  <a:srgbClr val="FF0000"/>
                </a:solidFill>
              </a:rPr>
              <a:t>&lt;</a:t>
            </a:r>
            <a:r>
              <a:rPr lang="en-US" sz="2000" b="1" dirty="0">
                <a:solidFill>
                  <a:srgbClr val="FF0000"/>
                </a:solidFill>
              </a:rPr>
              <a:t>style type=“text/</a:t>
            </a:r>
            <a:r>
              <a:rPr lang="en-US" sz="2000" b="1" dirty="0" err="1">
                <a:solidFill>
                  <a:srgbClr val="FF0000"/>
                </a:solidFill>
              </a:rPr>
              <a:t>css</a:t>
            </a:r>
            <a:r>
              <a:rPr lang="en-US" sz="2000" b="1" dirty="0">
                <a:solidFill>
                  <a:srgbClr val="FF0000"/>
                </a:solidFill>
              </a:rPr>
              <a:t>”&gt;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p </a:t>
            </a:r>
            <a:r>
              <a:rPr lang="en-US" sz="2000" b="1" dirty="0" smtClean="0">
                <a:solidFill>
                  <a:srgbClr val="FF0000"/>
                </a:solidFill>
              </a:rPr>
              <a:t>{ margin-left</a:t>
            </a:r>
            <a:r>
              <a:rPr lang="en-US" sz="2000" b="1" dirty="0">
                <a:solidFill>
                  <a:srgbClr val="FF0000"/>
                </a:solidFill>
              </a:rPr>
              <a:t>: 30px; }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&lt;/style&gt;</a:t>
            </a:r>
          </a:p>
          <a:p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&lt;/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head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&gt;</a:t>
            </a:r>
            <a:endParaRPr lang="en-US" sz="2000" dirty="0"/>
          </a:p>
        </p:txBody>
      </p:sp>
      <p:sp>
        <p:nvSpPr>
          <p:cNvPr id="7" name="5-Point Star 6"/>
          <p:cNvSpPr/>
          <p:nvPr/>
        </p:nvSpPr>
        <p:spPr>
          <a:xfrm rot="1367558">
            <a:off x="8060701" y="-989"/>
            <a:ext cx="914400" cy="914400"/>
          </a:xfrm>
          <a:prstGeom prst="star5">
            <a:avLst/>
          </a:pr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622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"/>
            <a:ext cx="7024744" cy="1143000"/>
          </a:xfrm>
        </p:spPr>
        <p:txBody>
          <a:bodyPr/>
          <a:lstStyle/>
          <a:p>
            <a:r>
              <a:rPr lang="en-US" dirty="0" smtClean="0"/>
              <a:t>External Style Sheet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71600"/>
            <a:ext cx="7924800" cy="5181600"/>
          </a:xfrm>
        </p:spPr>
        <p:txBody>
          <a:bodyPr>
            <a:noAutofit/>
          </a:bodyPr>
          <a:lstStyle/>
          <a:p>
            <a:pPr>
              <a:spcAft>
                <a:spcPts val="1000"/>
              </a:spcAft>
            </a:pPr>
            <a:r>
              <a:rPr lang="en-US" sz="2000" dirty="0" smtClean="0"/>
              <a:t>Placing style sheets in an external document lets you specify rules for multiple Web pages</a:t>
            </a:r>
          </a:p>
          <a:p>
            <a:pPr>
              <a:spcAft>
                <a:spcPts val="1000"/>
              </a:spcAft>
            </a:pPr>
            <a:r>
              <a:rPr lang="en-US" sz="2000" dirty="0" smtClean="0"/>
              <a:t>Easy and powerful way to control styles for an entire Web site with one style sheet file</a:t>
            </a:r>
          </a:p>
          <a:p>
            <a:pPr>
              <a:spcAft>
                <a:spcPts val="1000"/>
              </a:spcAft>
            </a:pPr>
            <a:r>
              <a:rPr lang="en-US" sz="2000" dirty="0" smtClean="0"/>
              <a:t>External style sheet is a text document that contains style rules and have a </a:t>
            </a:r>
            <a:r>
              <a:rPr lang="en-US" sz="2000" b="1" dirty="0" smtClean="0"/>
              <a:t>.</a:t>
            </a:r>
            <a:r>
              <a:rPr lang="en-US" sz="2000" b="1" dirty="0" err="1" smtClean="0"/>
              <a:t>css</a:t>
            </a:r>
            <a:r>
              <a:rPr lang="en-US" sz="2000" b="1" dirty="0" smtClean="0"/>
              <a:t> </a:t>
            </a:r>
            <a:r>
              <a:rPr lang="en-US" sz="2000" dirty="0" smtClean="0"/>
              <a:t>extension</a:t>
            </a:r>
          </a:p>
          <a:p>
            <a:pPr>
              <a:spcAft>
                <a:spcPts val="1000"/>
              </a:spcAft>
            </a:pPr>
            <a:r>
              <a:rPr lang="en-US" sz="2000" dirty="0" smtClean="0"/>
              <a:t>Does not contain any HTML code, just CSS style rules, not an HTML document</a:t>
            </a:r>
          </a:p>
          <a:p>
            <a:pPr marL="0" indent="0">
              <a:spcAft>
                <a:spcPts val="1000"/>
              </a:spcAft>
              <a:buNone/>
            </a:pPr>
            <a:endParaRPr lang="en-US" sz="2000" dirty="0" smtClean="0"/>
          </a:p>
          <a:p>
            <a:pPr lvl="1">
              <a:spcAft>
                <a:spcPts val="1000"/>
              </a:spcAft>
            </a:pPr>
            <a:endParaRPr lang="en-US" sz="1600" b="1" dirty="0" smtClean="0"/>
          </a:p>
          <a:p>
            <a:pPr lvl="1">
              <a:spcAft>
                <a:spcPts val="500"/>
              </a:spcAft>
            </a:pPr>
            <a:r>
              <a:rPr lang="en-US" sz="1600" b="1" dirty="0" smtClean="0"/>
              <a:t>&lt;link&gt; </a:t>
            </a:r>
            <a:r>
              <a:rPr lang="en-US" sz="1600" dirty="0" smtClean="0"/>
              <a:t>element let you establish relationships between HTML document and external style sheet</a:t>
            </a:r>
          </a:p>
          <a:p>
            <a:pPr lvl="1">
              <a:spcAft>
                <a:spcPts val="500"/>
              </a:spcAft>
            </a:pPr>
            <a:r>
              <a:rPr lang="en-US" sz="1600" b="1" dirty="0" smtClean="0"/>
              <a:t>&lt;link&gt; </a:t>
            </a:r>
            <a:r>
              <a:rPr lang="en-US" sz="1600" dirty="0" smtClean="0"/>
              <a:t>element can only be used in the &lt;head&gt; section of a document</a:t>
            </a:r>
          </a:p>
          <a:p>
            <a:endParaRPr lang="en-US" sz="2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00200" y="4410670"/>
            <a:ext cx="6019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&lt;head&gt;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>
                <a:solidFill>
                  <a:srgbClr val="FF0000"/>
                </a:solidFill>
              </a:rPr>
              <a:t>link </a:t>
            </a:r>
            <a:r>
              <a:rPr lang="en-US" b="1" dirty="0" err="1">
                <a:solidFill>
                  <a:srgbClr val="FF0000"/>
                </a:solidFill>
              </a:rPr>
              <a:t>href</a:t>
            </a:r>
            <a:r>
              <a:rPr lang="en-US" b="1" dirty="0">
                <a:solidFill>
                  <a:srgbClr val="FF0000"/>
                </a:solidFill>
              </a:rPr>
              <a:t>=“styles.css” </a:t>
            </a:r>
            <a:r>
              <a:rPr lang="en-US" b="1" dirty="0" err="1">
                <a:solidFill>
                  <a:srgbClr val="FF0000"/>
                </a:solidFill>
              </a:rPr>
              <a:t>rel</a:t>
            </a:r>
            <a:r>
              <a:rPr lang="en-US" b="1" dirty="0">
                <a:solidFill>
                  <a:srgbClr val="FF0000"/>
                </a:solidFill>
              </a:rPr>
              <a:t>=“</a:t>
            </a:r>
            <a:r>
              <a:rPr lang="en-US" b="1" dirty="0" err="1">
                <a:solidFill>
                  <a:srgbClr val="FF0000"/>
                </a:solidFill>
              </a:rPr>
              <a:t>stylesheet</a:t>
            </a:r>
            <a:r>
              <a:rPr lang="en-US" b="1" dirty="0">
                <a:solidFill>
                  <a:srgbClr val="FF0000"/>
                </a:solidFill>
              </a:rPr>
              <a:t>” type=“text/</a:t>
            </a:r>
            <a:r>
              <a:rPr lang="en-US" b="1" dirty="0" err="1">
                <a:solidFill>
                  <a:srgbClr val="FF0000"/>
                </a:solidFill>
              </a:rPr>
              <a:t>css</a:t>
            </a:r>
            <a:r>
              <a:rPr lang="en-US" b="1" dirty="0">
                <a:solidFill>
                  <a:srgbClr val="FF0000"/>
                </a:solidFill>
              </a:rPr>
              <a:t>” </a:t>
            </a:r>
            <a:r>
              <a:rPr lang="en-US" b="1" dirty="0" smtClean="0">
                <a:solidFill>
                  <a:srgbClr val="FF0000"/>
                </a:solidFill>
              </a:rPr>
              <a:t>/&gt;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&lt;/head&gt;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5-Point Star 5"/>
          <p:cNvSpPr/>
          <p:nvPr/>
        </p:nvSpPr>
        <p:spPr>
          <a:xfrm rot="1367558">
            <a:off x="8060701" y="-989"/>
            <a:ext cx="914400" cy="914400"/>
          </a:xfrm>
          <a:prstGeom prst="star5">
            <a:avLst/>
          </a:pr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3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3857" y="533400"/>
            <a:ext cx="7024744" cy="1143000"/>
          </a:xfrm>
        </p:spPr>
        <p:txBody>
          <a:bodyPr/>
          <a:lstStyle/>
          <a:p>
            <a:r>
              <a:rPr lang="en-US" dirty="0" smtClean="0"/>
              <a:t>Clean CSS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5425" y="1905000"/>
            <a:ext cx="6777317" cy="434340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 smtClean="0"/>
              <a:t>When creating external or internal style sheets, it is best to write CSS code that is consistent and easy to read</a:t>
            </a:r>
          </a:p>
          <a:p>
            <a:pPr lvl="1"/>
            <a:endParaRPr lang="en-US" sz="2000" dirty="0" smtClean="0"/>
          </a:p>
          <a:p>
            <a:pPr lvl="1"/>
            <a:endParaRPr lang="en-US" sz="2000" dirty="0"/>
          </a:p>
          <a:p>
            <a:pPr lvl="1"/>
            <a:r>
              <a:rPr lang="en-US" sz="2000" dirty="0" smtClean="0"/>
              <a:t>Multiple declarations on the same line </a:t>
            </a:r>
            <a:r>
              <a:rPr lang="en-US" sz="2000" dirty="0" smtClean="0">
                <a:sym typeface="Wingdings" pitchFamily="2" charset="2"/>
              </a:rPr>
              <a:t> f</a:t>
            </a:r>
            <a:r>
              <a:rPr lang="en-US" sz="2000" dirty="0" smtClean="0"/>
              <a:t>ine for simple styles</a:t>
            </a:r>
          </a:p>
          <a:p>
            <a:pPr lvl="1"/>
            <a:endParaRPr lang="en-US" sz="2000" dirty="0"/>
          </a:p>
          <a:p>
            <a:pPr lvl="1"/>
            <a:endParaRPr lang="en-US" sz="2000" dirty="0" smtClean="0"/>
          </a:p>
          <a:p>
            <a:pPr lvl="1"/>
            <a:endParaRPr lang="en-US" sz="2000" dirty="0" smtClean="0"/>
          </a:p>
          <a:p>
            <a:pPr lvl="1"/>
            <a:endParaRPr lang="en-US" sz="2000" dirty="0" smtClean="0"/>
          </a:p>
          <a:p>
            <a:pPr lvl="1"/>
            <a:endParaRPr lang="en-US" sz="2000" dirty="0"/>
          </a:p>
          <a:p>
            <a:pPr lvl="1"/>
            <a:r>
              <a:rPr lang="en-US" sz="2000" dirty="0" smtClean="0"/>
              <a:t>Hard to read when styles grow more complex</a:t>
            </a:r>
            <a:endParaRPr lang="en-US" sz="2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807464" y="2971800"/>
            <a:ext cx="5355336" cy="369332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h1 { color: white; background-color: green; }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467612" y="4267200"/>
            <a:ext cx="6035040" cy="646331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  <a:r>
              <a:rPr lang="en-US" dirty="0" smtClean="0"/>
              <a:t>1 { font-family: </a:t>
            </a:r>
            <a:r>
              <a:rPr lang="en-US" dirty="0" err="1" smtClean="0"/>
              <a:t>arial</a:t>
            </a:r>
            <a:r>
              <a:rPr lang="en-US" dirty="0" smtClean="0"/>
              <a:t>, </a:t>
            </a:r>
            <a:r>
              <a:rPr lang="en-US" dirty="0" err="1" smtClean="0"/>
              <a:t>helvetica</a:t>
            </a:r>
            <a:r>
              <a:rPr lang="en-US" dirty="0" smtClean="0"/>
              <a:t>, sans-serif; font-size: 85%; line-height: 110%; margin-left: 30px; } </a:t>
            </a:r>
            <a:endParaRPr lang="en-US" dirty="0"/>
          </a:p>
        </p:txBody>
      </p:sp>
      <p:sp>
        <p:nvSpPr>
          <p:cNvPr id="8" name="5-Point Star 7"/>
          <p:cNvSpPr/>
          <p:nvPr/>
        </p:nvSpPr>
        <p:spPr>
          <a:xfrm rot="1367558">
            <a:off x="8060701" y="-989"/>
            <a:ext cx="914400" cy="914400"/>
          </a:xfrm>
          <a:prstGeom prst="star5">
            <a:avLst/>
          </a:pr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195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28600"/>
            <a:ext cx="7024744" cy="1143000"/>
          </a:xfrm>
        </p:spPr>
        <p:txBody>
          <a:bodyPr/>
          <a:lstStyle/>
          <a:p>
            <a:r>
              <a:rPr lang="en-US" dirty="0" smtClean="0"/>
              <a:t>Clean CSS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0461" y="1901223"/>
            <a:ext cx="6777317" cy="3508977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 smtClean="0"/>
              <a:t>Style rule is easier to read and maintain if you use a cleaner, more organized format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Easier to read style rules </a:t>
            </a:r>
            <a:r>
              <a:rPr lang="en-US" sz="2400" dirty="0" smtClean="0">
                <a:sym typeface="Wingdings" pitchFamily="2" charset="2"/>
              </a:rPr>
              <a:t> all properties are consistently left-aligned with their values on the right</a:t>
            </a:r>
            <a:endParaRPr lang="en-US" sz="24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035040" cy="1754326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h1 {</a:t>
            </a:r>
          </a:p>
          <a:p>
            <a:r>
              <a:rPr lang="en-US" dirty="0"/>
              <a:t> </a:t>
            </a:r>
            <a:r>
              <a:rPr lang="en-US" dirty="0" smtClean="0"/>
              <a:t>    font-family: </a:t>
            </a:r>
            <a:r>
              <a:rPr lang="en-US" dirty="0" err="1" smtClean="0"/>
              <a:t>arial</a:t>
            </a:r>
            <a:r>
              <a:rPr lang="en-US" dirty="0" smtClean="0"/>
              <a:t>, </a:t>
            </a:r>
            <a:r>
              <a:rPr lang="en-US" dirty="0" err="1" smtClean="0"/>
              <a:t>helvetica</a:t>
            </a:r>
            <a:r>
              <a:rPr lang="en-US" dirty="0" smtClean="0"/>
              <a:t>, sans-serif; </a:t>
            </a:r>
          </a:p>
          <a:p>
            <a:r>
              <a:rPr lang="en-US" dirty="0"/>
              <a:t> </a:t>
            </a:r>
            <a:r>
              <a:rPr lang="en-US" dirty="0" smtClean="0"/>
              <a:t>    font-size: 85%; </a:t>
            </a:r>
          </a:p>
          <a:p>
            <a:r>
              <a:rPr lang="en-US" dirty="0"/>
              <a:t> </a:t>
            </a:r>
            <a:r>
              <a:rPr lang="en-US" dirty="0" smtClean="0"/>
              <a:t>    line-height: 110%; </a:t>
            </a:r>
          </a:p>
          <a:p>
            <a:r>
              <a:rPr lang="en-US" dirty="0"/>
              <a:t> </a:t>
            </a:r>
            <a:r>
              <a:rPr lang="en-US" dirty="0" smtClean="0"/>
              <a:t>    margin-left: 30px; </a:t>
            </a:r>
          </a:p>
          <a:p>
            <a:r>
              <a:rPr lang="en-US" dirty="0" smtClean="0"/>
              <a:t>} 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1371600" y="5248870"/>
            <a:ext cx="6035040" cy="923330"/>
            <a:chOff x="3377184" y="5943600"/>
            <a:chExt cx="6035040" cy="923330"/>
          </a:xfrm>
        </p:grpSpPr>
        <p:sp>
          <p:nvSpPr>
            <p:cNvPr id="6" name="TextBox 5"/>
            <p:cNvSpPr txBox="1"/>
            <p:nvPr/>
          </p:nvSpPr>
          <p:spPr>
            <a:xfrm>
              <a:off x="3377184" y="5943600"/>
              <a:ext cx="6035040" cy="9233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lIns="457200" tIns="91440" rIns="91440" bIns="91440" rtlCol="0">
              <a:spAutoFit/>
            </a:bodyPr>
            <a:lstStyle/>
            <a:p>
              <a:r>
                <a:rPr lang="en-US" sz="1600" dirty="0" smtClean="0"/>
                <a:t>Do </a:t>
              </a:r>
              <a:r>
                <a:rPr lang="en-US" sz="1600" b="1" dirty="0" smtClean="0"/>
                <a:t>NOT</a:t>
              </a:r>
              <a:r>
                <a:rPr lang="en-US" sz="1600" dirty="0" smtClean="0"/>
                <a:t> leave spaces between the property value and the unit (such as margin-left: 20 </a:t>
              </a:r>
              <a:r>
                <a:rPr lang="en-US" sz="1600" dirty="0" err="1" smtClean="0"/>
                <a:t>px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 smtClean="0"/>
                <a:t>Correct way: margin-left: 20px</a:t>
              </a:r>
            </a:p>
          </p:txBody>
        </p:sp>
        <p:pic>
          <p:nvPicPr>
            <p:cNvPr id="7" name="Picture 2" descr="C:\Users\EvyLim\AppData\Local\Microsoft\Windows\Temporary Internet Files\Content.IE5\4WZW5CPL\MC900432617[1]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4536" y="5981700"/>
              <a:ext cx="385464" cy="3854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5-Point Star 9"/>
          <p:cNvSpPr/>
          <p:nvPr/>
        </p:nvSpPr>
        <p:spPr>
          <a:xfrm rot="1367558">
            <a:off x="8060701" y="-989"/>
            <a:ext cx="914400" cy="914400"/>
          </a:xfrm>
          <a:prstGeom prst="star5">
            <a:avLst/>
          </a:pr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519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Style Sheets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spcAft>
                <a:spcPts val="1000"/>
              </a:spcAft>
            </a:pPr>
            <a:r>
              <a:rPr lang="en-US" dirty="0" smtClean="0"/>
              <a:t>Some properties may have been set for the same selector in different style sheets</a:t>
            </a:r>
          </a:p>
          <a:p>
            <a:pPr>
              <a:spcAft>
                <a:spcPts val="1000"/>
              </a:spcAft>
            </a:pPr>
            <a:r>
              <a:rPr lang="en-US" dirty="0" smtClean="0"/>
              <a:t>Multiple styles will cascade into one:</a:t>
            </a:r>
          </a:p>
          <a:p>
            <a:pPr lvl="1"/>
            <a:r>
              <a:rPr lang="en-US" dirty="0" smtClean="0"/>
              <a:t>Cascading order:</a:t>
            </a:r>
          </a:p>
          <a:p>
            <a:pPr lvl="2"/>
            <a:r>
              <a:rPr lang="en-US" dirty="0" smtClean="0"/>
              <a:t>Browser default</a:t>
            </a:r>
          </a:p>
          <a:p>
            <a:pPr lvl="2"/>
            <a:r>
              <a:rPr lang="en-US" dirty="0" smtClean="0"/>
              <a:t>External style sheet</a:t>
            </a:r>
          </a:p>
          <a:p>
            <a:pPr lvl="2"/>
            <a:r>
              <a:rPr lang="en-US" dirty="0" smtClean="0"/>
              <a:t>Internal style sheet (in the head section)</a:t>
            </a:r>
          </a:p>
          <a:p>
            <a:pPr lvl="2">
              <a:spcAft>
                <a:spcPts val="1000"/>
              </a:spcAft>
            </a:pPr>
            <a:r>
              <a:rPr lang="en-US" dirty="0" smtClean="0"/>
              <a:t>Inline style (inside an HTML element)</a:t>
            </a:r>
          </a:p>
          <a:p>
            <a:pPr lvl="1">
              <a:spcAft>
                <a:spcPts val="1000"/>
              </a:spcAft>
            </a:pPr>
            <a:r>
              <a:rPr lang="en-US" dirty="0" smtClean="0"/>
              <a:t>Inline style (inside an HTML element) has the highest priority and will override style defined inside the &lt;head&gt; tag, or in an external style sheet, or in a browser (a default value)</a:t>
            </a:r>
          </a:p>
          <a:p>
            <a:pPr lvl="1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18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013255" y="2971800"/>
            <a:ext cx="1149545" cy="1456207"/>
            <a:chOff x="796827" y="3011792"/>
            <a:chExt cx="1149545" cy="1456207"/>
          </a:xfrm>
        </p:grpSpPr>
        <p:sp>
          <p:nvSpPr>
            <p:cNvPr id="4" name="Down Arrow 3"/>
            <p:cNvSpPr/>
            <p:nvPr/>
          </p:nvSpPr>
          <p:spPr>
            <a:xfrm>
              <a:off x="1219200" y="3288792"/>
              <a:ext cx="304800" cy="914400"/>
            </a:xfrm>
            <a:prstGeom prst="down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96827" y="4191000"/>
              <a:ext cx="11495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solidFill>
                    <a:srgbClr val="C00000"/>
                  </a:solidFill>
                </a:rPr>
                <a:t>Highest priority</a:t>
              </a:r>
              <a:endParaRPr lang="en-US" sz="1200" dirty="0">
                <a:solidFill>
                  <a:srgbClr val="C00000"/>
                </a:solidFill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11414" y="3011792"/>
              <a:ext cx="11203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solidFill>
                    <a:srgbClr val="C00000"/>
                  </a:solidFill>
                </a:rPr>
                <a:t>Lowest priority</a:t>
              </a:r>
              <a:endParaRPr lang="en-US" sz="1200" dirty="0">
                <a:solidFill>
                  <a:srgbClr val="C00000"/>
                </a:solidFill>
              </a:endParaRPr>
            </a:p>
          </p:txBody>
        </p:sp>
      </p:grpSp>
      <p:sp>
        <p:nvSpPr>
          <p:cNvPr id="9" name="5-Point Star 8"/>
          <p:cNvSpPr/>
          <p:nvPr/>
        </p:nvSpPr>
        <p:spPr>
          <a:xfrm rot="1367558">
            <a:off x="8060701" y="-989"/>
            <a:ext cx="914400" cy="914400"/>
          </a:xfrm>
          <a:prstGeom prst="star5">
            <a:avLst/>
          </a:pr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5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Use inheritance to write simpler style rules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445911"/>
            <a:ext cx="7576300" cy="992489"/>
          </a:xfrm>
        </p:spPr>
        <p:txBody>
          <a:bodyPr>
            <a:normAutofit/>
          </a:bodyPr>
          <a:lstStyle/>
          <a:p>
            <a:r>
              <a:rPr lang="en-US" sz="2400" dirty="0" smtClean="0"/>
              <a:t>Elements in an HTML document are structured in a hierarchy of parent and child elements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19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200400" y="2667000"/>
            <a:ext cx="49530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itchFamily="2" charset="2"/>
              <a:buChar char="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Calibri" pitchFamily="34" charset="0"/>
              <a:buChar char="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 pitchFamily="2" charset="2"/>
              <a:buChar char="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Aft>
                <a:spcPts val="1000"/>
              </a:spcAft>
            </a:pPr>
            <a:r>
              <a:rPr lang="en-US" dirty="0" smtClean="0"/>
              <a:t>Parent elements contain nested elements called child elements</a:t>
            </a:r>
          </a:p>
          <a:p>
            <a:pPr lvl="1">
              <a:spcAft>
                <a:spcPts val="1000"/>
              </a:spcAft>
            </a:pPr>
            <a:r>
              <a:rPr lang="en-US" dirty="0" smtClean="0"/>
              <a:t>Both &lt;head&gt; and &lt;body&gt; are immediate child of &lt;html&gt;</a:t>
            </a:r>
          </a:p>
          <a:p>
            <a:pPr lvl="1">
              <a:spcAft>
                <a:spcPts val="1000"/>
              </a:spcAft>
            </a:pPr>
            <a:r>
              <a:rPr lang="en-US" dirty="0" smtClean="0"/>
              <a:t>Yet &lt;body&gt; is parent element for &lt;h1&gt;, &lt;</a:t>
            </a:r>
            <a:r>
              <a:rPr lang="en-US" dirty="0" err="1" smtClean="0"/>
              <a:t>ul</a:t>
            </a:r>
            <a:r>
              <a:rPr lang="en-US" dirty="0" smtClean="0"/>
              <a:t>&gt; and &lt;p&gt;</a:t>
            </a:r>
          </a:p>
          <a:p>
            <a:pPr lvl="1">
              <a:spcAft>
                <a:spcPts val="1000"/>
              </a:spcAft>
            </a:pPr>
            <a:r>
              <a:rPr lang="en-US" dirty="0" smtClean="0"/>
              <a:t>Most CSS properties are inherit from parent elements to child elements, which is called </a:t>
            </a:r>
            <a:r>
              <a:rPr lang="en-US" b="1" dirty="0" smtClean="0"/>
              <a:t>inheritance</a:t>
            </a:r>
            <a:endParaRPr lang="en-US" b="1" dirty="0"/>
          </a:p>
        </p:txBody>
      </p:sp>
      <p:grpSp>
        <p:nvGrpSpPr>
          <p:cNvPr id="35" name="Group 34"/>
          <p:cNvGrpSpPr/>
          <p:nvPr/>
        </p:nvGrpSpPr>
        <p:grpSpPr>
          <a:xfrm>
            <a:off x="762000" y="2599944"/>
            <a:ext cx="2672851" cy="3800856"/>
            <a:chOff x="1137149" y="2447544"/>
            <a:chExt cx="2672851" cy="3800856"/>
          </a:xfrm>
        </p:grpSpPr>
        <p:sp>
          <p:nvSpPr>
            <p:cNvPr id="34" name="Rectangle 33"/>
            <p:cNvSpPr/>
            <p:nvPr/>
          </p:nvSpPr>
          <p:spPr>
            <a:xfrm>
              <a:off x="1137149" y="2447544"/>
              <a:ext cx="2672851" cy="3800856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3" name="Group 32"/>
            <p:cNvGrpSpPr/>
            <p:nvPr/>
          </p:nvGrpSpPr>
          <p:grpSpPr>
            <a:xfrm>
              <a:off x="1137149" y="2447544"/>
              <a:ext cx="2544060" cy="3669792"/>
              <a:chOff x="914400" y="2426208"/>
              <a:chExt cx="2544060" cy="3669792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914400" y="2426208"/>
                <a:ext cx="8494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&lt;html&gt;</a:t>
                </a:r>
                <a:endParaRPr lang="en-US" dirty="0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1524000" y="2895600"/>
                <a:ext cx="8851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&lt;head&gt;</a:t>
                </a:r>
                <a:endParaRPr lang="en-US" dirty="0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1524000" y="3833336"/>
                <a:ext cx="8851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&lt;body&gt;</a:t>
                </a:r>
                <a:endParaRPr lang="en-US" dirty="0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2184787" y="3264932"/>
                <a:ext cx="7906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&lt;title&gt;</a:t>
                </a:r>
                <a:endParaRPr lang="en-US" dirty="0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2184787" y="4232720"/>
                <a:ext cx="6543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&lt;h1&gt;</a:t>
                </a:r>
                <a:endParaRPr lang="en-US" dirty="0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2184787" y="4762500"/>
                <a:ext cx="5902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&lt;</a:t>
                </a:r>
                <a:r>
                  <a:rPr lang="en-US" dirty="0" err="1" smtClean="0"/>
                  <a:t>ul</a:t>
                </a:r>
                <a:r>
                  <a:rPr lang="en-US" dirty="0" smtClean="0"/>
                  <a:t>&gt;</a:t>
                </a:r>
                <a:endParaRPr lang="en-US" dirty="0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2184787" y="5345668"/>
                <a:ext cx="5373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&lt;p&gt;</a:t>
                </a:r>
                <a:endParaRPr lang="en-US" dirty="0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2743200" y="5117068"/>
                <a:ext cx="5212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&lt;li&gt;</a:t>
                </a:r>
                <a:endParaRPr lang="en-US" dirty="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2743200" y="5726668"/>
                <a:ext cx="7152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&lt;</a:t>
                </a:r>
                <a:r>
                  <a:rPr lang="en-US" dirty="0" err="1" smtClean="0"/>
                  <a:t>em</a:t>
                </a:r>
                <a:r>
                  <a:rPr lang="en-US" dirty="0" smtClean="0"/>
                  <a:t>&gt;</a:t>
                </a:r>
                <a:endParaRPr lang="en-US" dirty="0"/>
              </a:p>
            </p:txBody>
          </p:sp>
          <p:cxnSp>
            <p:nvCxnSpPr>
              <p:cNvPr id="18" name="Elbow Connector 17"/>
              <p:cNvCxnSpPr>
                <a:stCxn id="8" idx="2"/>
                <a:endCxn id="9" idx="1"/>
              </p:cNvCxnSpPr>
              <p:nvPr/>
            </p:nvCxnSpPr>
            <p:spPr>
              <a:xfrm rot="16200000" flipH="1">
                <a:off x="1289187" y="2845453"/>
                <a:ext cx="284726" cy="184900"/>
              </a:xfrm>
              <a:prstGeom prst="bentConnector2">
                <a:avLst/>
              </a:prstGeom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0" name="Elbow Connector 19"/>
              <p:cNvCxnSpPr>
                <a:stCxn id="9" idx="2"/>
                <a:endCxn id="11" idx="1"/>
              </p:cNvCxnSpPr>
              <p:nvPr/>
            </p:nvCxnSpPr>
            <p:spPr>
              <a:xfrm rot="16200000" flipH="1">
                <a:off x="1983355" y="3248166"/>
                <a:ext cx="184666" cy="218197"/>
              </a:xfrm>
              <a:prstGeom prst="bentConnector2">
                <a:avLst/>
              </a:prstGeom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2" name="Elbow Connector 21"/>
              <p:cNvCxnSpPr>
                <a:stCxn id="8" idx="2"/>
                <a:endCxn id="10" idx="1"/>
              </p:cNvCxnSpPr>
              <p:nvPr/>
            </p:nvCxnSpPr>
            <p:spPr>
              <a:xfrm rot="16200000" flipH="1">
                <a:off x="820319" y="3314321"/>
                <a:ext cx="1222462" cy="184900"/>
              </a:xfrm>
              <a:prstGeom prst="bentConnector2">
                <a:avLst/>
              </a:prstGeom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4" name="Elbow Connector 23"/>
              <p:cNvCxnSpPr>
                <a:stCxn id="10" idx="2"/>
                <a:endCxn id="12" idx="1"/>
              </p:cNvCxnSpPr>
              <p:nvPr/>
            </p:nvCxnSpPr>
            <p:spPr>
              <a:xfrm rot="16200000" flipH="1">
                <a:off x="1968329" y="4200928"/>
                <a:ext cx="214718" cy="218197"/>
              </a:xfrm>
              <a:prstGeom prst="bentConnector2">
                <a:avLst/>
              </a:prstGeom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6" name="Elbow Connector 25"/>
              <p:cNvCxnSpPr>
                <a:stCxn id="10" idx="2"/>
                <a:endCxn id="13" idx="1"/>
              </p:cNvCxnSpPr>
              <p:nvPr/>
            </p:nvCxnSpPr>
            <p:spPr>
              <a:xfrm rot="16200000" flipH="1">
                <a:off x="1703439" y="4465818"/>
                <a:ext cx="744498" cy="218197"/>
              </a:xfrm>
              <a:prstGeom prst="bentConnector2">
                <a:avLst/>
              </a:prstGeom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8" name="Elbow Connector 27"/>
              <p:cNvCxnSpPr>
                <a:stCxn id="10" idx="2"/>
                <a:endCxn id="14" idx="1"/>
              </p:cNvCxnSpPr>
              <p:nvPr/>
            </p:nvCxnSpPr>
            <p:spPr>
              <a:xfrm rot="16200000" flipH="1">
                <a:off x="1411855" y="4757402"/>
                <a:ext cx="1327666" cy="218197"/>
              </a:xfrm>
              <a:prstGeom prst="bentConnector2">
                <a:avLst/>
              </a:prstGeom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30" name="Elbow Connector 29"/>
              <p:cNvCxnSpPr>
                <a:stCxn id="13" idx="2"/>
                <a:endCxn id="15" idx="1"/>
              </p:cNvCxnSpPr>
              <p:nvPr/>
            </p:nvCxnSpPr>
            <p:spPr>
              <a:xfrm rot="16200000" flipH="1">
                <a:off x="2526599" y="5085133"/>
                <a:ext cx="169902" cy="263300"/>
              </a:xfrm>
              <a:prstGeom prst="bentConnector2">
                <a:avLst/>
              </a:prstGeom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32" name="Elbow Connector 31"/>
              <p:cNvCxnSpPr>
                <a:stCxn id="14" idx="2"/>
                <a:endCxn id="16" idx="1"/>
              </p:cNvCxnSpPr>
              <p:nvPr/>
            </p:nvCxnSpPr>
            <p:spPr>
              <a:xfrm rot="16200000" flipH="1">
                <a:off x="2500158" y="5668292"/>
                <a:ext cx="196334" cy="289749"/>
              </a:xfrm>
              <a:prstGeom prst="bentConnector2">
                <a:avLst/>
              </a:prstGeom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76248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inheritance to write simpler style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Set color to red for five different  elements in the document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Inheritance let you write a simpler to achieve the same results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20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371600" y="2971800"/>
            <a:ext cx="6035040" cy="2031325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&lt;style type=“text/</a:t>
            </a:r>
            <a:r>
              <a:rPr lang="en-US" dirty="0" err="1" smtClean="0"/>
              <a:t>css</a:t>
            </a:r>
            <a:r>
              <a:rPr lang="en-US" dirty="0" smtClean="0"/>
              <a:t>”&gt;</a:t>
            </a:r>
          </a:p>
          <a:p>
            <a:r>
              <a:rPr lang="en-US" dirty="0" smtClean="0"/>
              <a:t>h1 { color: red; }</a:t>
            </a:r>
          </a:p>
          <a:p>
            <a:r>
              <a:rPr lang="en-US" dirty="0" smtClean="0"/>
              <a:t>p { color: red; }</a:t>
            </a:r>
          </a:p>
          <a:p>
            <a:r>
              <a:rPr lang="en-US" dirty="0" err="1" smtClean="0"/>
              <a:t>ul</a:t>
            </a:r>
            <a:r>
              <a:rPr lang="en-US" dirty="0" smtClean="0"/>
              <a:t> { color: red; }</a:t>
            </a:r>
          </a:p>
          <a:p>
            <a:r>
              <a:rPr lang="en-US" dirty="0" err="1" smtClean="0"/>
              <a:t>em</a:t>
            </a:r>
            <a:r>
              <a:rPr lang="en-US" dirty="0" smtClean="0"/>
              <a:t> { color: red; }</a:t>
            </a:r>
          </a:p>
          <a:p>
            <a:r>
              <a:rPr lang="en-US" dirty="0" smtClean="0"/>
              <a:t>li { color: red; }</a:t>
            </a:r>
          </a:p>
          <a:p>
            <a:r>
              <a:rPr lang="en-US" dirty="0" smtClean="0"/>
              <a:t>&lt;/style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392936" y="5105400"/>
            <a:ext cx="6035040" cy="923330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&lt;style type=“text/</a:t>
            </a:r>
            <a:r>
              <a:rPr lang="en-US" dirty="0" err="1" smtClean="0"/>
              <a:t>css</a:t>
            </a:r>
            <a:r>
              <a:rPr lang="en-US" dirty="0" smtClean="0"/>
              <a:t>”&gt;</a:t>
            </a:r>
          </a:p>
          <a:p>
            <a:r>
              <a:rPr lang="en-US" dirty="0" smtClean="0"/>
              <a:t>body { color: red; }</a:t>
            </a:r>
          </a:p>
          <a:p>
            <a:r>
              <a:rPr lang="en-US" dirty="0" smtClean="0"/>
              <a:t>&lt;/style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1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Selection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2"/>
                </a:solidFill>
              </a:rPr>
              <a:t>Type Selectors</a:t>
            </a:r>
          </a:p>
          <a:p>
            <a:pPr lvl="1"/>
            <a:r>
              <a:rPr lang="en-US" dirty="0" smtClean="0"/>
              <a:t>Apply rule to every instance of the element in the document</a:t>
            </a:r>
          </a:p>
          <a:p>
            <a:pPr lvl="1"/>
            <a:r>
              <a:rPr lang="en-US" dirty="0" smtClean="0"/>
              <a:t>Simplest kind of selector</a:t>
            </a:r>
          </a:p>
          <a:p>
            <a:pPr lvl="1"/>
            <a:r>
              <a:rPr lang="en-US" dirty="0" smtClean="0"/>
              <a:t>Most style sheets are composed of type selector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21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800292" y="4944070"/>
            <a:ext cx="6035040" cy="923330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body { color: gray; }</a:t>
            </a:r>
          </a:p>
          <a:p>
            <a:r>
              <a:rPr lang="en-US" dirty="0" smtClean="0"/>
              <a:t>h2 { color: red; }</a:t>
            </a:r>
          </a:p>
          <a:p>
            <a:r>
              <a:rPr lang="en-US" dirty="0" smtClean="0"/>
              <a:t>p { font-size: 85%; }</a:t>
            </a:r>
          </a:p>
        </p:txBody>
      </p:sp>
      <p:sp>
        <p:nvSpPr>
          <p:cNvPr id="7" name="5-Point Star 6"/>
          <p:cNvSpPr/>
          <p:nvPr/>
        </p:nvSpPr>
        <p:spPr>
          <a:xfrm rot="1367558">
            <a:off x="8060701" y="-989"/>
            <a:ext cx="914400" cy="914400"/>
          </a:xfrm>
          <a:prstGeom prst="star5">
            <a:avLst/>
          </a:pr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7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Selection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>
                <a:solidFill>
                  <a:schemeClr val="tx2"/>
                </a:solidFill>
              </a:rPr>
              <a:t>Grouping Selectors</a:t>
            </a:r>
          </a:p>
          <a:p>
            <a:pPr lvl="1">
              <a:spcAft>
                <a:spcPts val="1000"/>
              </a:spcAft>
            </a:pPr>
            <a:r>
              <a:rPr lang="en-US" dirty="0" smtClean="0"/>
              <a:t>Group selectors to which the same rules apply</a:t>
            </a:r>
          </a:p>
          <a:p>
            <a:pPr lvl="1">
              <a:spcAft>
                <a:spcPts val="1000"/>
              </a:spcAft>
            </a:pPr>
            <a:r>
              <a:rPr lang="en-US" dirty="0" smtClean="0"/>
              <a:t>The following style rules set the same declaration for two different elements</a:t>
            </a:r>
            <a:r>
              <a:rPr lang="en-US" dirty="0" smtClean="0">
                <a:sym typeface="Wingdings" pitchFamily="2" charset="2"/>
              </a:rPr>
              <a:t> set color of &lt;h1&gt; and &lt;h2&gt; elements to red</a:t>
            </a:r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 smtClean="0">
                <a:sym typeface="Wingdings" pitchFamily="2" charset="2"/>
              </a:rPr>
              <a:t>Two style rules can be expressed in a simpler way by grouping the selectors and separate them with commas (,)</a:t>
            </a:r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22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676400" y="4154269"/>
            <a:ext cx="6035040" cy="646331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h1 { color: red; }</a:t>
            </a:r>
          </a:p>
          <a:p>
            <a:r>
              <a:rPr lang="en-US" dirty="0" smtClean="0"/>
              <a:t>h2 { color: red;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726668"/>
            <a:ext cx="6035040" cy="369332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h1, h2 { color: red; }</a:t>
            </a:r>
          </a:p>
        </p:txBody>
      </p:sp>
    </p:spTree>
    <p:extLst>
      <p:ext uri="{BB962C8B-B14F-4D97-AF65-F5344CB8AC3E}">
        <p14:creationId xmlns:p14="http://schemas.microsoft.com/office/powerpoint/2010/main" val="3381759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457200"/>
            <a:ext cx="7024744" cy="1143000"/>
          </a:xfrm>
        </p:spPr>
        <p:txBody>
          <a:bodyPr/>
          <a:lstStyle/>
          <a:p>
            <a:r>
              <a:rPr lang="en-US" dirty="0" smtClean="0"/>
              <a:t>Basic Selection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6523" y="1750711"/>
            <a:ext cx="6777317" cy="3508977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>
                <a:solidFill>
                  <a:schemeClr val="tx2"/>
                </a:solidFill>
              </a:rPr>
              <a:t>Combining Declarations</a:t>
            </a:r>
          </a:p>
          <a:p>
            <a:pPr lvl="1">
              <a:spcAft>
                <a:spcPts val="1000"/>
              </a:spcAft>
            </a:pPr>
            <a:r>
              <a:rPr lang="en-US" dirty="0" smtClean="0"/>
              <a:t>State multiple property declarations for the same selector</a:t>
            </a:r>
          </a:p>
          <a:p>
            <a:pPr lvl="1">
              <a:spcAft>
                <a:spcPts val="1000"/>
              </a:spcAft>
            </a:pPr>
            <a:r>
              <a:rPr lang="en-US" dirty="0" smtClean="0"/>
              <a:t>The following style rules set the &lt;p&gt; element to 12-point and blue text</a:t>
            </a:r>
            <a:endParaRPr lang="en-US" dirty="0" smtClean="0">
              <a:sym typeface="Wingdings" pitchFamily="2" charset="2"/>
            </a:endParaRPr>
          </a:p>
          <a:p>
            <a:pPr lvl="1">
              <a:spcAft>
                <a:spcPts val="1000"/>
              </a:spcAft>
            </a:pPr>
            <a:endParaRPr lang="en-US" dirty="0">
              <a:sym typeface="Wingdings" pitchFamily="2" charset="2"/>
            </a:endParaRPr>
          </a:p>
          <a:p>
            <a:pPr lvl="1">
              <a:spcAft>
                <a:spcPts val="1000"/>
              </a:spcAft>
            </a:pPr>
            <a:endParaRPr lang="en-US" dirty="0" smtClean="0">
              <a:sym typeface="Wingdings" pitchFamily="2" charset="2"/>
            </a:endParaRPr>
          </a:p>
          <a:p>
            <a:pPr lvl="1">
              <a:spcAft>
                <a:spcPts val="1000"/>
              </a:spcAft>
            </a:pPr>
            <a:r>
              <a:rPr lang="en-US" dirty="0" smtClean="0">
                <a:sym typeface="Wingdings" pitchFamily="2" charset="2"/>
              </a:rPr>
              <a:t>Two style rules can be expressed in a simpler way by combining the declarations in one rule, separated by semicolons (;)</a:t>
            </a:r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23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828800" y="3505200"/>
            <a:ext cx="6035040" cy="646331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p { color: blue; }</a:t>
            </a:r>
          </a:p>
          <a:p>
            <a:r>
              <a:rPr lang="en-US" dirty="0"/>
              <a:t>p</a:t>
            </a:r>
            <a:r>
              <a:rPr lang="en-US" dirty="0" smtClean="0"/>
              <a:t> { font-size: 125%;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89760" y="5181600"/>
            <a:ext cx="6035040" cy="1200329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p {</a:t>
            </a:r>
          </a:p>
          <a:p>
            <a:r>
              <a:rPr lang="en-US" dirty="0"/>
              <a:t> </a:t>
            </a:r>
            <a:r>
              <a:rPr lang="en-US" dirty="0" smtClean="0"/>
              <a:t>  color: blue;</a:t>
            </a:r>
          </a:p>
          <a:p>
            <a:r>
              <a:rPr lang="en-US" dirty="0"/>
              <a:t> </a:t>
            </a:r>
            <a:r>
              <a:rPr lang="en-US" dirty="0" smtClean="0"/>
              <a:t>  font-size: 125%;</a:t>
            </a:r>
          </a:p>
          <a:p>
            <a:r>
              <a:rPr lang="en-US" dirty="0"/>
              <a:t>}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21567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2456" y="381000"/>
            <a:ext cx="7024744" cy="1143000"/>
          </a:xfrm>
        </p:spPr>
        <p:txBody>
          <a:bodyPr/>
          <a:lstStyle/>
          <a:p>
            <a:r>
              <a:rPr lang="en-US" dirty="0" smtClean="0"/>
              <a:t>Basic Selection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4111" y="1676400"/>
            <a:ext cx="6777317" cy="3508977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>
                <a:solidFill>
                  <a:schemeClr val="tx2"/>
                </a:solidFill>
              </a:rPr>
              <a:t>Descendant Selectors</a:t>
            </a:r>
          </a:p>
          <a:p>
            <a:pPr lvl="1">
              <a:spcAft>
                <a:spcPts val="1000"/>
              </a:spcAft>
            </a:pPr>
            <a:r>
              <a:rPr lang="en-US" dirty="0" smtClean="0"/>
              <a:t>Also known as contextual selector, is based on hierarchical structure of elements</a:t>
            </a:r>
          </a:p>
          <a:p>
            <a:pPr lvl="1">
              <a:spcAft>
                <a:spcPts val="1000"/>
              </a:spcAft>
            </a:pPr>
            <a:r>
              <a:rPr lang="en-US" dirty="0" smtClean="0"/>
              <a:t>The following style rule selects only  &lt;</a:t>
            </a:r>
            <a:r>
              <a:rPr lang="en-US" dirty="0" err="1" smtClean="0"/>
              <a:t>em</a:t>
            </a:r>
            <a:r>
              <a:rPr lang="en-US" dirty="0" smtClean="0"/>
              <a:t>&gt; elements that are contained within &lt;p&gt; elements, all other &lt;</a:t>
            </a:r>
            <a:r>
              <a:rPr lang="en-US" dirty="0" err="1" smtClean="0"/>
              <a:t>em</a:t>
            </a:r>
            <a:r>
              <a:rPr lang="en-US" dirty="0" smtClean="0"/>
              <a:t>&gt; elements in the document are not affected</a:t>
            </a:r>
            <a:endParaRPr lang="en-US" dirty="0" smtClean="0">
              <a:sym typeface="Wingdings" pitchFamily="2" charset="2"/>
            </a:endParaRPr>
          </a:p>
          <a:p>
            <a:pPr lvl="1"/>
            <a:endParaRPr lang="en-US" dirty="0">
              <a:sym typeface="Wingdings" pitchFamily="2" charset="2"/>
            </a:endParaRPr>
          </a:p>
          <a:p>
            <a:pPr lvl="2"/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 smtClean="0">
                <a:sym typeface="Wingdings" pitchFamily="2" charset="2"/>
              </a:rPr>
              <a:t>The following rule selects &lt;</a:t>
            </a:r>
            <a:r>
              <a:rPr lang="en-US" dirty="0" err="1" smtClean="0">
                <a:sym typeface="Wingdings" pitchFamily="2" charset="2"/>
              </a:rPr>
              <a:t>em</a:t>
            </a:r>
            <a:r>
              <a:rPr lang="en-US" dirty="0" smtClean="0">
                <a:sym typeface="Wingdings" pitchFamily="2" charset="2"/>
              </a:rPr>
              <a:t>&gt; elements within &lt;li&gt; elements within &lt;</a:t>
            </a:r>
            <a:r>
              <a:rPr lang="en-US" dirty="0" err="1" smtClean="0">
                <a:sym typeface="Wingdings" pitchFamily="2" charset="2"/>
              </a:rPr>
              <a:t>ul</a:t>
            </a:r>
            <a:r>
              <a:rPr lang="en-US" dirty="0" smtClean="0">
                <a:sym typeface="Wingdings" pitchFamily="2" charset="2"/>
              </a:rPr>
              <a:t>&gt; elements only</a:t>
            </a:r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24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748118" y="3777734"/>
            <a:ext cx="6035040" cy="369332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p </a:t>
            </a:r>
            <a:r>
              <a:rPr lang="en-US" dirty="0" err="1" smtClean="0"/>
              <a:t>em</a:t>
            </a:r>
            <a:r>
              <a:rPr lang="en-US" dirty="0" smtClean="0"/>
              <a:t> { color: blue;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802868"/>
            <a:ext cx="6035040" cy="369332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 smtClean="0"/>
              <a:t>ul</a:t>
            </a:r>
            <a:r>
              <a:rPr lang="en-US" dirty="0" smtClean="0"/>
              <a:t> li </a:t>
            </a:r>
            <a:r>
              <a:rPr lang="en-US" dirty="0" err="1" smtClean="0"/>
              <a:t>em</a:t>
            </a:r>
            <a:r>
              <a:rPr lang="en-US" dirty="0" smtClean="0"/>
              <a:t> { color: blue;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181600"/>
            <a:ext cx="6324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/>
              <a:t>Note: selector contains multiple elements, separated only by white space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3373467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533400"/>
            <a:ext cx="7024744" cy="1143000"/>
          </a:xfrm>
        </p:spPr>
        <p:txBody>
          <a:bodyPr/>
          <a:lstStyle/>
          <a:p>
            <a:r>
              <a:rPr lang="en-US" dirty="0" smtClean="0"/>
              <a:t>Basic Selection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0467" y="1752600"/>
            <a:ext cx="6777317" cy="3508977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smtClean="0">
                <a:solidFill>
                  <a:schemeClr val="tx2"/>
                </a:solidFill>
              </a:rPr>
              <a:t>Universal Selectors</a:t>
            </a:r>
          </a:p>
          <a:p>
            <a:pPr lvl="1">
              <a:spcAft>
                <a:spcPts val="1000"/>
              </a:spcAft>
            </a:pPr>
            <a:r>
              <a:rPr lang="en-US" dirty="0" smtClean="0"/>
              <a:t>Quickly select groups of elements and apply a style rule</a:t>
            </a:r>
          </a:p>
          <a:p>
            <a:pPr lvl="1">
              <a:spcAft>
                <a:spcPts val="1000"/>
              </a:spcAft>
            </a:pPr>
            <a:r>
              <a:rPr lang="en-US" dirty="0" smtClean="0"/>
              <a:t>Symbol for universal selector is the asterisk (*)</a:t>
            </a:r>
          </a:p>
          <a:p>
            <a:pPr lvl="1">
              <a:spcAft>
                <a:spcPts val="1000"/>
              </a:spcAft>
            </a:pPr>
            <a:r>
              <a:rPr lang="en-US" dirty="0" smtClean="0"/>
              <a:t>The following style rule set the default color for all elements within a document to blue</a:t>
            </a:r>
            <a:endParaRPr lang="en-US" dirty="0" smtClean="0">
              <a:sym typeface="Wingdings" pitchFamily="2" charset="2"/>
            </a:endParaRPr>
          </a:p>
          <a:p>
            <a:pPr lvl="1">
              <a:spcAft>
                <a:spcPts val="1000"/>
              </a:spcAft>
            </a:pPr>
            <a:endParaRPr lang="en-US" dirty="0">
              <a:sym typeface="Wingdings" pitchFamily="2" charset="2"/>
            </a:endParaRPr>
          </a:p>
          <a:p>
            <a:pPr lvl="1">
              <a:spcAft>
                <a:spcPts val="1000"/>
              </a:spcAft>
            </a:pPr>
            <a:r>
              <a:rPr lang="en-US" dirty="0" smtClean="0">
                <a:sym typeface="Wingdings" pitchFamily="2" charset="2"/>
              </a:rPr>
              <a:t>Can also use universal selector to select all children of an element</a:t>
            </a:r>
          </a:p>
          <a:p>
            <a:pPr lvl="1">
              <a:spcAft>
                <a:spcPts val="1000"/>
              </a:spcAft>
            </a:pPr>
            <a:r>
              <a:rPr lang="en-US" dirty="0" smtClean="0">
                <a:sym typeface="Wingdings" pitchFamily="2" charset="2"/>
              </a:rPr>
              <a:t>The following rule set all elements within a &lt;div&gt; element to </a:t>
            </a:r>
            <a:r>
              <a:rPr lang="en-US" dirty="0" err="1" smtClean="0">
                <a:sym typeface="Wingdings" pitchFamily="2" charset="2"/>
              </a:rPr>
              <a:t>tahoma</a:t>
            </a:r>
            <a:r>
              <a:rPr lang="en-US" dirty="0" smtClean="0">
                <a:sym typeface="Wingdings" pitchFamily="2" charset="2"/>
              </a:rPr>
              <a:t> typeface</a:t>
            </a:r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25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676400" y="3352800"/>
            <a:ext cx="6035040" cy="369332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  <a:r>
              <a:rPr lang="en-US" dirty="0" smtClean="0"/>
              <a:t> { color: blue;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3294" y="5029200"/>
            <a:ext cx="6035040" cy="369332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div * { font-family: </a:t>
            </a:r>
            <a:r>
              <a:rPr lang="en-US" dirty="0" err="1" smtClean="0"/>
              <a:t>tahoma</a:t>
            </a:r>
            <a:r>
              <a:rPr lang="en-US" dirty="0" smtClean="0"/>
              <a:t>; }</a:t>
            </a:r>
          </a:p>
        </p:txBody>
      </p:sp>
    </p:spTree>
    <p:extLst>
      <p:ext uri="{BB962C8B-B14F-4D97-AF65-F5344CB8AC3E}">
        <p14:creationId xmlns:p14="http://schemas.microsoft.com/office/powerpoint/2010/main" val="395313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Selection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2"/>
                </a:solidFill>
              </a:rPr>
              <a:t>Universal Selectors</a:t>
            </a:r>
          </a:p>
          <a:p>
            <a:pPr lvl="1">
              <a:spcAft>
                <a:spcPts val="1000"/>
              </a:spcAft>
            </a:pPr>
            <a:r>
              <a:rPr lang="en-US" dirty="0" smtClean="0"/>
              <a:t>Universal selector is always overridden by more specific selectors</a:t>
            </a:r>
          </a:p>
          <a:p>
            <a:pPr lvl="1">
              <a:spcAft>
                <a:spcPts val="1000"/>
              </a:spcAft>
            </a:pPr>
            <a:r>
              <a:rPr lang="en-US" dirty="0" smtClean="0">
                <a:sym typeface="Wingdings" pitchFamily="2" charset="2"/>
              </a:rPr>
              <a:t>The following style rules show a universal selector along with two other rules that have more specific selectors</a:t>
            </a:r>
          </a:p>
          <a:p>
            <a:pPr lvl="2">
              <a:spcAft>
                <a:spcPts val="1000"/>
              </a:spcAft>
            </a:pPr>
            <a:r>
              <a:rPr lang="en-US" dirty="0" smtClean="0">
                <a:sym typeface="Wingdings" pitchFamily="2" charset="2"/>
              </a:rPr>
              <a:t>&lt;h1&gt; and &lt;h2&gt;  rules override the universal selector for &lt;h1&gt; and &lt;h2&gt; elements</a:t>
            </a:r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26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801368" y="4800600"/>
            <a:ext cx="6035040" cy="923330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* { color: blue; }</a:t>
            </a:r>
          </a:p>
          <a:p>
            <a:r>
              <a:rPr lang="en-US" dirty="0" smtClean="0"/>
              <a:t>h1 { color: red; }</a:t>
            </a:r>
          </a:p>
          <a:p>
            <a:r>
              <a:rPr lang="en-US" dirty="0" smtClean="0"/>
              <a:t>h2 { color: black; }</a:t>
            </a:r>
          </a:p>
        </p:txBody>
      </p:sp>
    </p:spTree>
    <p:extLst>
      <p:ext uri="{BB962C8B-B14F-4D97-AF65-F5344CB8AC3E}">
        <p14:creationId xmlns:p14="http://schemas.microsoft.com/office/powerpoint/2010/main" val="4168110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CSS rules can be combined with your HTML code in a number of ways</a:t>
            </a:r>
          </a:p>
          <a:p>
            <a:pPr lvl="1"/>
            <a:r>
              <a:rPr lang="en-US" dirty="0" smtClean="0"/>
              <a:t>Inline</a:t>
            </a:r>
          </a:p>
          <a:p>
            <a:pPr lvl="1"/>
            <a:r>
              <a:rPr lang="en-US" dirty="0" smtClean="0"/>
              <a:t>Internal Style Sheet</a:t>
            </a:r>
          </a:p>
          <a:p>
            <a:pPr lvl="1">
              <a:spcAft>
                <a:spcPts val="1000"/>
              </a:spcAft>
            </a:pPr>
            <a:r>
              <a:rPr lang="en-US" dirty="0" smtClean="0"/>
              <a:t>External Style Sheet</a:t>
            </a:r>
          </a:p>
          <a:p>
            <a:pPr>
              <a:spcAft>
                <a:spcPts val="1000"/>
              </a:spcAft>
            </a:pPr>
            <a:r>
              <a:rPr lang="en-US" dirty="0" smtClean="0"/>
              <a:t>CSS rules are easy to write and read</a:t>
            </a:r>
          </a:p>
          <a:p>
            <a:pPr>
              <a:spcAft>
                <a:spcPts val="1000"/>
              </a:spcAft>
            </a:pPr>
            <a:r>
              <a:rPr lang="en-US" dirty="0" smtClean="0"/>
              <a:t>CSS uses inheritance and cascading to determine which style rules take precedence</a:t>
            </a:r>
          </a:p>
          <a:p>
            <a:pPr>
              <a:spcAft>
                <a:spcPts val="1000"/>
              </a:spcAft>
            </a:pPr>
            <a:r>
              <a:rPr lang="en-US" dirty="0" smtClean="0"/>
              <a:t>Basic style rules let you apply style rules based on standard element selectors</a:t>
            </a:r>
          </a:p>
          <a:p>
            <a:pPr>
              <a:spcAft>
                <a:spcPts val="1000"/>
              </a:spcAft>
            </a:pPr>
            <a:r>
              <a:rPr lang="en-US" dirty="0" smtClean="0"/>
              <a:t>You can combine the selectors and declarations to create more powerful style expressions</a:t>
            </a:r>
          </a:p>
          <a:p>
            <a:pPr>
              <a:spcAft>
                <a:spcPts val="1000"/>
              </a:spcAft>
            </a:pPr>
            <a:r>
              <a:rPr lang="en-US" dirty="0" smtClean="0"/>
              <a:t>You can also select elements based on contextual relationship of elements in the document tree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27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24B5D243E8524B805AE9E6462128D5" ma:contentTypeVersion="0" ma:contentTypeDescription="Create a new document." ma:contentTypeScope="" ma:versionID="e66dd09a9d80fa3eca15220829d7fdcb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F7B67289-D22D-4DB4-895C-8FF94ACF19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C50C4C27-4481-4C37-9D21-1D56001E0F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6A93DA0-5032-4FD3-ABDF-2B6C52005C1E}">
  <ds:schemaRefs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1376</TotalTime>
  <Words>2096</Words>
  <Application>Microsoft Office PowerPoint</Application>
  <PresentationFormat>On-screen Show (4:3)</PresentationFormat>
  <Paragraphs>352</Paragraphs>
  <Slides>27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Austin</vt:lpstr>
      <vt:lpstr>IT2771 –  Rich Internet Application Development</vt:lpstr>
      <vt:lpstr>Recap …</vt:lpstr>
      <vt:lpstr>Learning Objectives</vt:lpstr>
      <vt:lpstr>What is CSS?</vt:lpstr>
      <vt:lpstr>Benefits of CSS</vt:lpstr>
      <vt:lpstr>CSS Style Rules</vt:lpstr>
      <vt:lpstr>CSS Style Rule Syntax</vt:lpstr>
      <vt:lpstr>CSS Comments</vt:lpstr>
      <vt:lpstr>CSS Id and Class</vt:lpstr>
      <vt:lpstr>CSS Id and Class</vt:lpstr>
      <vt:lpstr>Combining CSS Style Rules with HTML</vt:lpstr>
      <vt:lpstr>Combining CSS Style Rules with HTML</vt:lpstr>
      <vt:lpstr>Inline Style</vt:lpstr>
      <vt:lpstr>Internal Style Sheet</vt:lpstr>
      <vt:lpstr>External Style Sheet</vt:lpstr>
      <vt:lpstr>Clean CSS Code</vt:lpstr>
      <vt:lpstr>Clean CSS Code</vt:lpstr>
      <vt:lpstr>Multiple Style Sheets</vt:lpstr>
      <vt:lpstr>Use inheritance to write simpler style rules</vt:lpstr>
      <vt:lpstr>Use inheritance to write simpler style rules</vt:lpstr>
      <vt:lpstr>Basic Selection Techniques</vt:lpstr>
      <vt:lpstr>Basic Selection Techniques</vt:lpstr>
      <vt:lpstr>Basic Selection Techniques</vt:lpstr>
      <vt:lpstr>Basic Selection Techniques</vt:lpstr>
      <vt:lpstr>Basic Selection Techniques</vt:lpstr>
      <vt:lpstr>Basic Selection Techniques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IT1322 – Principles of Web Usability Design</dc:title>
  <dc:creator>EvyLim</dc:creator>
  <cp:lastModifiedBy>Owner</cp:lastModifiedBy>
  <cp:revision>143</cp:revision>
  <dcterms:created xsi:type="dcterms:W3CDTF">2012-03-19T05:27:31Z</dcterms:created>
  <dcterms:modified xsi:type="dcterms:W3CDTF">2013-10-09T01:33:14Z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0x010100CF24B5D243E8524B805AE9E6462128D5</vt:lpwstr>
  </property>
</Properties>
</file>