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2.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6"/>
  </p:notesMasterIdLst>
  <p:sldIdLst>
    <p:sldId id="256" r:id="rId5"/>
    <p:sldId id="304" r:id="rId6"/>
    <p:sldId id="305" r:id="rId7"/>
    <p:sldId id="306" r:id="rId8"/>
    <p:sldId id="307" r:id="rId9"/>
    <p:sldId id="308" r:id="rId10"/>
    <p:sldId id="314" r:id="rId11"/>
    <p:sldId id="309" r:id="rId12"/>
    <p:sldId id="313" r:id="rId13"/>
    <p:sldId id="303" r:id="rId14"/>
    <p:sldId id="312" r:id="rId15"/>
  </p:sldIdLst>
  <p:sldSz cx="9144000" cy="6858000" type="screen4x3"/>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4" autoAdjust="0"/>
    <p:restoredTop sz="72245" autoAdjust="0"/>
  </p:normalViewPr>
  <p:slideViewPr>
    <p:cSldViewPr>
      <p:cViewPr varScale="1">
        <p:scale>
          <a:sx n="62" d="100"/>
          <a:sy n="62" d="100"/>
        </p:scale>
        <p:origin x="624" y="12"/>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hyperlink" Target="http://www.wampserver.com/en/" TargetMode="External"/><Relationship Id="rId4" Type="http://schemas.openxmlformats.org/officeDocument/2006/relationships/image" Target="../media/image8.jpeg"/></Relationships>
</file>

<file path=ppt/diagrams/_rels/data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hyperlink" Target="http://www.hotscripts.com/category/scripts/php/" TargetMode="External"/><Relationship Id="rId7" Type="http://schemas.openxmlformats.org/officeDocument/2006/relationships/image" Target="../media/image10.gif"/><Relationship Id="rId2" Type="http://schemas.openxmlformats.org/officeDocument/2006/relationships/hyperlink" Target="https://www.w3schools.com/php/default.asp" TargetMode="External"/><Relationship Id="rId1" Type="http://schemas.openxmlformats.org/officeDocument/2006/relationships/hyperlink" Target="https://www.w3schools.com/html/default.asp" TargetMode="External"/><Relationship Id="rId6" Type="http://schemas.openxmlformats.org/officeDocument/2006/relationships/image" Target="../media/image9.gif"/><Relationship Id="rId5" Type="http://schemas.openxmlformats.org/officeDocument/2006/relationships/image" Target="../media/image6.jpeg"/><Relationship Id="rId4" Type="http://schemas.openxmlformats.org/officeDocument/2006/relationships/hyperlink" Target="https://www.w3schools.com/Css/" TargetMode="External"/></Relationships>
</file>

<file path=ppt/diagrams/_rels/drawing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www.wampserver.com/en/" TargetMode="External"/><Relationship Id="rId1" Type="http://schemas.openxmlformats.org/officeDocument/2006/relationships/image" Target="../media/image6.jpeg"/><Relationship Id="rId4" Type="http://schemas.openxmlformats.org/officeDocument/2006/relationships/image" Target="../media/image8.jpeg"/></Relationships>
</file>

<file path=ppt/diagrams/_rels/drawing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hyperlink" Target="https://www.w3schools.com/Css/" TargetMode="External"/><Relationship Id="rId7" Type="http://schemas.openxmlformats.org/officeDocument/2006/relationships/image" Target="../media/image10.gif"/><Relationship Id="rId2" Type="http://schemas.openxmlformats.org/officeDocument/2006/relationships/image" Target="../media/image6.jpeg"/><Relationship Id="rId1" Type="http://schemas.openxmlformats.org/officeDocument/2006/relationships/hyperlink" Target="https://www.w3schools.com/html/default.asp" TargetMode="External"/><Relationship Id="rId6" Type="http://schemas.openxmlformats.org/officeDocument/2006/relationships/hyperlink" Target="http://www.hotscripts.com/category/scripts/php/" TargetMode="External"/><Relationship Id="rId5" Type="http://schemas.openxmlformats.org/officeDocument/2006/relationships/hyperlink" Target="https://www.w3schools.com/php/default.asp" TargetMode="External"/><Relationship Id="rId4" Type="http://schemas.openxmlformats.org/officeDocument/2006/relationships/image" Target="../media/image9.gif"/></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18FF01-546F-4A2E-BFF7-EB15E00076E3}"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en-SG"/>
        </a:p>
      </dgm:t>
    </dgm:pt>
    <dgm:pt modelId="{F0DFE579-98D7-4719-B524-BBCE4489C87E}">
      <dgm:prSet phldrT="[Text]" custT="1"/>
      <dgm:spPr/>
      <dgm:t>
        <a:bodyPr/>
        <a:lstStyle/>
        <a:p>
          <a:r>
            <a:rPr lang="en-SG" sz="1600" dirty="0"/>
            <a:t>Update your browser to </a:t>
          </a:r>
          <a:r>
            <a:rPr lang="en-SG" sz="1800" b="1" dirty="0"/>
            <a:t>latest Chrome browser.  </a:t>
          </a:r>
          <a:r>
            <a:rPr lang="en-SG" sz="1600" dirty="0"/>
            <a:t>We will use Chrome throughout all our exercises</a:t>
          </a:r>
        </a:p>
        <a:p>
          <a:r>
            <a:rPr lang="en-SG" sz="1600" dirty="0"/>
            <a:t> </a:t>
          </a:r>
        </a:p>
      </dgm:t>
    </dgm:pt>
    <dgm:pt modelId="{99BA6FEE-D66E-41FF-A49C-5F5A4A23839F}" type="parTrans" cxnId="{AB4A2B1B-2B1B-4632-A894-2C9CA925AD44}">
      <dgm:prSet/>
      <dgm:spPr/>
      <dgm:t>
        <a:bodyPr/>
        <a:lstStyle/>
        <a:p>
          <a:endParaRPr lang="en-SG"/>
        </a:p>
      </dgm:t>
    </dgm:pt>
    <dgm:pt modelId="{F627CFDC-3584-4313-BB80-9F11BD688988}" type="sibTrans" cxnId="{AB4A2B1B-2B1B-4632-A894-2C9CA925AD44}">
      <dgm:prSet/>
      <dgm:spPr/>
      <dgm:t>
        <a:bodyPr/>
        <a:lstStyle/>
        <a:p>
          <a:endParaRPr lang="en-SG"/>
        </a:p>
      </dgm:t>
    </dgm:pt>
    <dgm:pt modelId="{4EB6286B-7B9E-4CEA-804F-89373CAFCFF6}">
      <dgm:prSet phldrT="[Text]" custT="1"/>
      <dgm:spPr/>
      <dgm:t>
        <a:bodyPr/>
        <a:lstStyle/>
        <a:p>
          <a:r>
            <a:rPr lang="en-SG" sz="1600" dirty="0"/>
            <a:t> Install the latest </a:t>
          </a:r>
          <a:r>
            <a:rPr lang="en-SG" sz="1800" b="1" dirty="0"/>
            <a:t>WAMP server </a:t>
          </a:r>
          <a:r>
            <a:rPr lang="en-SG" sz="1600" dirty="0"/>
            <a:t>on your laptop. You will use this for your </a:t>
          </a:r>
          <a:r>
            <a:rPr lang="en-SG" sz="1600" dirty="0" err="1"/>
            <a:t>practicals</a:t>
          </a:r>
          <a:r>
            <a:rPr lang="en-SG" sz="1600" dirty="0"/>
            <a:t> and assignment. Although you may use the lap computer for your work, personal laptop is strongly recommended.</a:t>
          </a:r>
        </a:p>
        <a:p>
          <a:r>
            <a:rPr lang="en-SG" sz="1600" dirty="0">
              <a:hlinkClick xmlns:r="http://schemas.openxmlformats.org/officeDocument/2006/relationships" r:id="rId1"/>
            </a:rPr>
            <a:t>http://www.wampserver.com/en/</a:t>
          </a:r>
          <a:r>
            <a:rPr lang="en-SG" sz="1600" dirty="0"/>
            <a:t> </a:t>
          </a:r>
        </a:p>
      </dgm:t>
    </dgm:pt>
    <dgm:pt modelId="{64771733-BED1-4043-857F-734F542DB936}" type="parTrans" cxnId="{CFE94217-60EF-4C4C-8BD0-37DCF958CE26}">
      <dgm:prSet/>
      <dgm:spPr/>
      <dgm:t>
        <a:bodyPr/>
        <a:lstStyle/>
        <a:p>
          <a:endParaRPr lang="en-SG"/>
        </a:p>
      </dgm:t>
    </dgm:pt>
    <dgm:pt modelId="{C9DA52FC-3013-4A5F-B75E-906B2B24BC6E}" type="sibTrans" cxnId="{CFE94217-60EF-4C4C-8BD0-37DCF958CE26}">
      <dgm:prSet/>
      <dgm:spPr/>
      <dgm:t>
        <a:bodyPr/>
        <a:lstStyle/>
        <a:p>
          <a:endParaRPr lang="en-SG"/>
        </a:p>
      </dgm:t>
    </dgm:pt>
    <dgm:pt modelId="{ECD9E0DB-1722-4847-ADEE-EAC2F6DE56BF}">
      <dgm:prSet phldrT="[Text]" custT="1"/>
      <dgm:spPr/>
      <dgm:t>
        <a:bodyPr/>
        <a:lstStyle/>
        <a:p>
          <a:r>
            <a:rPr lang="en-US" sz="1600" dirty="0"/>
            <a:t>You are encouraged to visit graphic websites to help create content that will be useful for your assignment or websites.</a:t>
          </a:r>
        </a:p>
        <a:p>
          <a:r>
            <a:rPr lang="en-US" sz="1600" dirty="0" err="1"/>
            <a:t>Eg</a:t>
          </a:r>
          <a:r>
            <a:rPr lang="en-US" sz="1600" dirty="0"/>
            <a:t>. Canva.com</a:t>
          </a:r>
        </a:p>
        <a:p>
          <a:endParaRPr lang="en-SG" sz="1600" dirty="0"/>
        </a:p>
      </dgm:t>
    </dgm:pt>
    <dgm:pt modelId="{9EBD4A2B-751F-4321-AEE2-9B845CCE5B86}" type="sibTrans" cxnId="{924B17DD-D419-4DDE-A763-13C73B4FEE5D}">
      <dgm:prSet/>
      <dgm:spPr/>
      <dgm:t>
        <a:bodyPr/>
        <a:lstStyle/>
        <a:p>
          <a:endParaRPr lang="en-SG"/>
        </a:p>
      </dgm:t>
    </dgm:pt>
    <dgm:pt modelId="{4565F79B-2694-482E-BAF0-841851386D5E}" type="parTrans" cxnId="{924B17DD-D419-4DDE-A763-13C73B4FEE5D}">
      <dgm:prSet/>
      <dgm:spPr/>
      <dgm:t>
        <a:bodyPr/>
        <a:lstStyle/>
        <a:p>
          <a:endParaRPr lang="en-SG"/>
        </a:p>
      </dgm:t>
    </dgm:pt>
    <dgm:pt modelId="{843BDF91-A18B-4443-BF92-5AD59F71208F}" type="pres">
      <dgm:prSet presAssocID="{1718FF01-546F-4A2E-BFF7-EB15E00076E3}" presName="linear" presStyleCnt="0">
        <dgm:presLayoutVars>
          <dgm:dir/>
          <dgm:resizeHandles val="exact"/>
        </dgm:presLayoutVars>
      </dgm:prSet>
      <dgm:spPr/>
    </dgm:pt>
    <dgm:pt modelId="{23551BA4-0A8B-456A-B624-B468BB392335}" type="pres">
      <dgm:prSet presAssocID="{F0DFE579-98D7-4719-B524-BBCE4489C87E}" presName="comp" presStyleCnt="0"/>
      <dgm:spPr/>
    </dgm:pt>
    <dgm:pt modelId="{E6549A55-9EEF-4594-815C-66B8FE14AD0A}" type="pres">
      <dgm:prSet presAssocID="{F0DFE579-98D7-4719-B524-BBCE4489C87E}" presName="box" presStyleLbl="node1" presStyleIdx="0" presStyleCnt="3"/>
      <dgm:spPr/>
    </dgm:pt>
    <dgm:pt modelId="{F0176F16-6525-4490-A3E3-DEF688736207}" type="pres">
      <dgm:prSet presAssocID="{F0DFE579-98D7-4719-B524-BBCE4489C87E}" presName="img" presStyleLbl="fgImgPlace1" presStyleIdx="0" presStyleCnt="3"/>
      <dgm:spPr>
        <a:blipFill rotWithShape="0">
          <a:blip xmlns:r="http://schemas.openxmlformats.org/officeDocument/2006/relationships" r:embed="rId2"/>
          <a:stretch>
            <a:fillRect/>
          </a:stretch>
        </a:blipFill>
      </dgm:spPr>
    </dgm:pt>
    <dgm:pt modelId="{7E23478B-5DBE-40A8-B361-530B270F8DD3}" type="pres">
      <dgm:prSet presAssocID="{F0DFE579-98D7-4719-B524-BBCE4489C87E}" presName="text" presStyleLbl="node1" presStyleIdx="0" presStyleCnt="3">
        <dgm:presLayoutVars>
          <dgm:bulletEnabled val="1"/>
        </dgm:presLayoutVars>
      </dgm:prSet>
      <dgm:spPr/>
    </dgm:pt>
    <dgm:pt modelId="{9A440A0E-A2E9-46C9-9FBE-1E348C0DDFC6}" type="pres">
      <dgm:prSet presAssocID="{F627CFDC-3584-4313-BB80-9F11BD688988}" presName="spacer" presStyleCnt="0"/>
      <dgm:spPr/>
    </dgm:pt>
    <dgm:pt modelId="{152BF1A1-EEBA-47C4-AA24-7D9AF678CA62}" type="pres">
      <dgm:prSet presAssocID="{4EB6286B-7B9E-4CEA-804F-89373CAFCFF6}" presName="comp" presStyleCnt="0"/>
      <dgm:spPr/>
    </dgm:pt>
    <dgm:pt modelId="{63823563-04B1-476B-89B6-25D788597C9A}" type="pres">
      <dgm:prSet presAssocID="{4EB6286B-7B9E-4CEA-804F-89373CAFCFF6}" presName="box" presStyleLbl="node1" presStyleIdx="1" presStyleCnt="3"/>
      <dgm:spPr/>
    </dgm:pt>
    <dgm:pt modelId="{B77C6595-2A4F-4E3E-84D4-9D95C8CEE83D}" type="pres">
      <dgm:prSet presAssocID="{4EB6286B-7B9E-4CEA-804F-89373CAFCFF6}" presName="img" presStyleLbl="fgImgPlace1" presStyleIdx="1" presStyleCnt="3"/>
      <dgm:spPr>
        <a:blipFill rotWithShape="0">
          <a:blip xmlns:r="http://schemas.openxmlformats.org/officeDocument/2006/relationships" r:embed="rId3"/>
          <a:stretch>
            <a:fillRect/>
          </a:stretch>
        </a:blipFill>
      </dgm:spPr>
    </dgm:pt>
    <dgm:pt modelId="{91F7EACE-CD13-4DFD-8A9D-F0E2CF117352}" type="pres">
      <dgm:prSet presAssocID="{4EB6286B-7B9E-4CEA-804F-89373CAFCFF6}" presName="text" presStyleLbl="node1" presStyleIdx="1" presStyleCnt="3">
        <dgm:presLayoutVars>
          <dgm:bulletEnabled val="1"/>
        </dgm:presLayoutVars>
      </dgm:prSet>
      <dgm:spPr/>
    </dgm:pt>
    <dgm:pt modelId="{F55E3A4C-E47F-4DAE-9434-EE0D998CE087}" type="pres">
      <dgm:prSet presAssocID="{C9DA52FC-3013-4A5F-B75E-906B2B24BC6E}" presName="spacer" presStyleCnt="0"/>
      <dgm:spPr/>
    </dgm:pt>
    <dgm:pt modelId="{724BDD26-2411-4E65-BA31-3C265C44CB31}" type="pres">
      <dgm:prSet presAssocID="{ECD9E0DB-1722-4847-ADEE-EAC2F6DE56BF}" presName="comp" presStyleCnt="0"/>
      <dgm:spPr/>
    </dgm:pt>
    <dgm:pt modelId="{E16A031B-F5ED-4F20-91BA-A2ED90B81A14}" type="pres">
      <dgm:prSet presAssocID="{ECD9E0DB-1722-4847-ADEE-EAC2F6DE56BF}" presName="box" presStyleLbl="node1" presStyleIdx="2" presStyleCnt="3"/>
      <dgm:spPr/>
    </dgm:pt>
    <dgm:pt modelId="{F33011CE-58AF-4C0E-8234-B8D195AA71A8}" type="pres">
      <dgm:prSet presAssocID="{ECD9E0DB-1722-4847-ADEE-EAC2F6DE56BF}" presName="img" presStyleLbl="fgImgPlace1" presStyleIdx="2" presStyleCnt="3"/>
      <dgm:spPr>
        <a:blipFill rotWithShape="0">
          <a:blip xmlns:r="http://schemas.openxmlformats.org/officeDocument/2006/relationships" r:embed="rId4"/>
          <a:stretch>
            <a:fillRect/>
          </a:stretch>
        </a:blipFill>
      </dgm:spPr>
    </dgm:pt>
    <dgm:pt modelId="{23380084-9938-43B9-B964-68E286674C63}" type="pres">
      <dgm:prSet presAssocID="{ECD9E0DB-1722-4847-ADEE-EAC2F6DE56BF}" presName="text" presStyleLbl="node1" presStyleIdx="2" presStyleCnt="3">
        <dgm:presLayoutVars>
          <dgm:bulletEnabled val="1"/>
        </dgm:presLayoutVars>
      </dgm:prSet>
      <dgm:spPr/>
    </dgm:pt>
  </dgm:ptLst>
  <dgm:cxnLst>
    <dgm:cxn modelId="{CFE94217-60EF-4C4C-8BD0-37DCF958CE26}" srcId="{1718FF01-546F-4A2E-BFF7-EB15E00076E3}" destId="{4EB6286B-7B9E-4CEA-804F-89373CAFCFF6}" srcOrd="1" destOrd="0" parTransId="{64771733-BED1-4043-857F-734F542DB936}" sibTransId="{C9DA52FC-3013-4A5F-B75E-906B2B24BC6E}"/>
    <dgm:cxn modelId="{AB4A2B1B-2B1B-4632-A894-2C9CA925AD44}" srcId="{1718FF01-546F-4A2E-BFF7-EB15E00076E3}" destId="{F0DFE579-98D7-4719-B524-BBCE4489C87E}" srcOrd="0" destOrd="0" parTransId="{99BA6FEE-D66E-41FF-A49C-5F5A4A23839F}" sibTransId="{F627CFDC-3584-4313-BB80-9F11BD688988}"/>
    <dgm:cxn modelId="{A2AAE840-CCA0-4041-9964-4B9A4642DE07}" type="presOf" srcId="{ECD9E0DB-1722-4847-ADEE-EAC2F6DE56BF}" destId="{23380084-9938-43B9-B964-68E286674C63}" srcOrd="1" destOrd="0" presId="urn:microsoft.com/office/officeart/2005/8/layout/vList4#1"/>
    <dgm:cxn modelId="{70A78476-0F4D-4F0B-AADC-66F7B62EB168}" type="presOf" srcId="{4EB6286B-7B9E-4CEA-804F-89373CAFCFF6}" destId="{63823563-04B1-476B-89B6-25D788597C9A}" srcOrd="0" destOrd="0" presId="urn:microsoft.com/office/officeart/2005/8/layout/vList4#1"/>
    <dgm:cxn modelId="{89D51080-F3E9-4137-A7F5-741C1AB9FC41}" type="presOf" srcId="{4EB6286B-7B9E-4CEA-804F-89373CAFCFF6}" destId="{91F7EACE-CD13-4DFD-8A9D-F0E2CF117352}" srcOrd="1" destOrd="0" presId="urn:microsoft.com/office/officeart/2005/8/layout/vList4#1"/>
    <dgm:cxn modelId="{A1D286B2-9A7A-4B4D-A17C-3DD1CE898801}" type="presOf" srcId="{ECD9E0DB-1722-4847-ADEE-EAC2F6DE56BF}" destId="{E16A031B-F5ED-4F20-91BA-A2ED90B81A14}" srcOrd="0" destOrd="0" presId="urn:microsoft.com/office/officeart/2005/8/layout/vList4#1"/>
    <dgm:cxn modelId="{800511C0-F8AB-457E-AAB6-0FEE8A27B0BF}" type="presOf" srcId="{1718FF01-546F-4A2E-BFF7-EB15E00076E3}" destId="{843BDF91-A18B-4443-BF92-5AD59F71208F}" srcOrd="0" destOrd="0" presId="urn:microsoft.com/office/officeart/2005/8/layout/vList4#1"/>
    <dgm:cxn modelId="{7A7C84CF-DF28-435B-B8A2-4471363F9473}" type="presOf" srcId="{F0DFE579-98D7-4719-B524-BBCE4489C87E}" destId="{7E23478B-5DBE-40A8-B361-530B270F8DD3}" srcOrd="1" destOrd="0" presId="urn:microsoft.com/office/officeart/2005/8/layout/vList4#1"/>
    <dgm:cxn modelId="{924B17DD-D419-4DDE-A763-13C73B4FEE5D}" srcId="{1718FF01-546F-4A2E-BFF7-EB15E00076E3}" destId="{ECD9E0DB-1722-4847-ADEE-EAC2F6DE56BF}" srcOrd="2" destOrd="0" parTransId="{4565F79B-2694-482E-BAF0-841851386D5E}" sibTransId="{9EBD4A2B-751F-4321-AEE2-9B845CCE5B86}"/>
    <dgm:cxn modelId="{0CA377FD-1231-4676-8FBE-5E601BDC229E}" type="presOf" srcId="{F0DFE579-98D7-4719-B524-BBCE4489C87E}" destId="{E6549A55-9EEF-4594-815C-66B8FE14AD0A}" srcOrd="0" destOrd="0" presId="urn:microsoft.com/office/officeart/2005/8/layout/vList4#1"/>
    <dgm:cxn modelId="{9720F73E-29BD-4D8C-A497-B467B021F5E8}" type="presParOf" srcId="{843BDF91-A18B-4443-BF92-5AD59F71208F}" destId="{23551BA4-0A8B-456A-B624-B468BB392335}" srcOrd="0" destOrd="0" presId="urn:microsoft.com/office/officeart/2005/8/layout/vList4#1"/>
    <dgm:cxn modelId="{4556C496-AD36-42B5-9694-C57D34ACFD06}" type="presParOf" srcId="{23551BA4-0A8B-456A-B624-B468BB392335}" destId="{E6549A55-9EEF-4594-815C-66B8FE14AD0A}" srcOrd="0" destOrd="0" presId="urn:microsoft.com/office/officeart/2005/8/layout/vList4#1"/>
    <dgm:cxn modelId="{30D4229D-BFE4-4094-92FD-586C75D12670}" type="presParOf" srcId="{23551BA4-0A8B-456A-B624-B468BB392335}" destId="{F0176F16-6525-4490-A3E3-DEF688736207}" srcOrd="1" destOrd="0" presId="urn:microsoft.com/office/officeart/2005/8/layout/vList4#1"/>
    <dgm:cxn modelId="{E751FADB-7B5D-4E43-BB75-3A4982DBDD6A}" type="presParOf" srcId="{23551BA4-0A8B-456A-B624-B468BB392335}" destId="{7E23478B-5DBE-40A8-B361-530B270F8DD3}" srcOrd="2" destOrd="0" presId="urn:microsoft.com/office/officeart/2005/8/layout/vList4#1"/>
    <dgm:cxn modelId="{7E28C78A-FCA0-4316-AD85-3F05D9BC05B1}" type="presParOf" srcId="{843BDF91-A18B-4443-BF92-5AD59F71208F}" destId="{9A440A0E-A2E9-46C9-9FBE-1E348C0DDFC6}" srcOrd="1" destOrd="0" presId="urn:microsoft.com/office/officeart/2005/8/layout/vList4#1"/>
    <dgm:cxn modelId="{151078FD-04E4-45FE-AA9F-5847B200F6AB}" type="presParOf" srcId="{843BDF91-A18B-4443-BF92-5AD59F71208F}" destId="{152BF1A1-EEBA-47C4-AA24-7D9AF678CA62}" srcOrd="2" destOrd="0" presId="urn:microsoft.com/office/officeart/2005/8/layout/vList4#1"/>
    <dgm:cxn modelId="{1CA9721C-353B-44F3-A46D-73635456860D}" type="presParOf" srcId="{152BF1A1-EEBA-47C4-AA24-7D9AF678CA62}" destId="{63823563-04B1-476B-89B6-25D788597C9A}" srcOrd="0" destOrd="0" presId="urn:microsoft.com/office/officeart/2005/8/layout/vList4#1"/>
    <dgm:cxn modelId="{ACCE8DBD-B80E-4E2A-A27A-E4C3B29986B6}" type="presParOf" srcId="{152BF1A1-EEBA-47C4-AA24-7D9AF678CA62}" destId="{B77C6595-2A4F-4E3E-84D4-9D95C8CEE83D}" srcOrd="1" destOrd="0" presId="urn:microsoft.com/office/officeart/2005/8/layout/vList4#1"/>
    <dgm:cxn modelId="{CA9820A6-09CF-40C3-A5DF-F393A66DF6D3}" type="presParOf" srcId="{152BF1A1-EEBA-47C4-AA24-7D9AF678CA62}" destId="{91F7EACE-CD13-4DFD-8A9D-F0E2CF117352}" srcOrd="2" destOrd="0" presId="urn:microsoft.com/office/officeart/2005/8/layout/vList4#1"/>
    <dgm:cxn modelId="{D1C79312-DD17-419B-896F-740416C2F2A1}" type="presParOf" srcId="{843BDF91-A18B-4443-BF92-5AD59F71208F}" destId="{F55E3A4C-E47F-4DAE-9434-EE0D998CE087}" srcOrd="3" destOrd="0" presId="urn:microsoft.com/office/officeart/2005/8/layout/vList4#1"/>
    <dgm:cxn modelId="{FAC5522F-7702-4353-AA77-BC70DA034CC1}" type="presParOf" srcId="{843BDF91-A18B-4443-BF92-5AD59F71208F}" destId="{724BDD26-2411-4E65-BA31-3C265C44CB31}" srcOrd="4" destOrd="0" presId="urn:microsoft.com/office/officeart/2005/8/layout/vList4#1"/>
    <dgm:cxn modelId="{3E97900B-F9D6-4EEB-9DC6-F8697F711DE5}" type="presParOf" srcId="{724BDD26-2411-4E65-BA31-3C265C44CB31}" destId="{E16A031B-F5ED-4F20-91BA-A2ED90B81A14}" srcOrd="0" destOrd="0" presId="urn:microsoft.com/office/officeart/2005/8/layout/vList4#1"/>
    <dgm:cxn modelId="{309F0726-3005-404D-8D47-469AEC1C2C9F}" type="presParOf" srcId="{724BDD26-2411-4E65-BA31-3C265C44CB31}" destId="{F33011CE-58AF-4C0E-8234-B8D195AA71A8}" srcOrd="1" destOrd="0" presId="urn:microsoft.com/office/officeart/2005/8/layout/vList4#1"/>
    <dgm:cxn modelId="{761B1E1F-D12B-4E08-AFB9-4CAA7714C19B}" type="presParOf" srcId="{724BDD26-2411-4E65-BA31-3C265C44CB31}" destId="{23380084-9938-43B9-B964-68E286674C63}" srcOrd="2" destOrd="0" presId="urn:microsoft.com/office/officeart/2005/8/layout/vList4#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18FF01-546F-4A2E-BFF7-EB15E00076E3}" type="doc">
      <dgm:prSet loTypeId="urn:microsoft.com/office/officeart/2005/8/layout/vList4#2" loCatId="list" qsTypeId="urn:microsoft.com/office/officeart/2005/8/quickstyle/simple1" qsCatId="simple" csTypeId="urn:microsoft.com/office/officeart/2005/8/colors/accent1_2" csCatId="accent1" phldr="1"/>
      <dgm:spPr/>
      <dgm:t>
        <a:bodyPr/>
        <a:lstStyle/>
        <a:p>
          <a:endParaRPr lang="en-SG"/>
        </a:p>
      </dgm:t>
    </dgm:pt>
    <dgm:pt modelId="{F0DFE579-98D7-4719-B524-BBCE4489C87E}">
      <dgm:prSet phldrT="[Text]"/>
      <dgm:spPr/>
      <dgm:t>
        <a:bodyPr/>
        <a:lstStyle/>
        <a:p>
          <a:r>
            <a:rPr lang="en-US" b="1">
              <a:hlinkClick xmlns:r="http://schemas.openxmlformats.org/officeDocument/2006/relationships" r:id="rId1"/>
            </a:rPr>
            <a:t>https://www.w3schools.com/html/default.asp</a:t>
          </a:r>
          <a:endParaRPr lang="en-US" b="1"/>
        </a:p>
        <a:p>
          <a:r>
            <a:rPr lang="en-SG" b="1" i="0"/>
            <a:t>html5demos.com</a:t>
          </a:r>
          <a:r>
            <a:rPr lang="en-SG" b="1" i="0" dirty="0"/>
            <a:t>/</a:t>
          </a:r>
        </a:p>
        <a:p>
          <a:r>
            <a:rPr lang="en-SG" b="1" i="0" dirty="0"/>
            <a:t>www.html5rocks.com/</a:t>
          </a:r>
        </a:p>
        <a:p>
          <a:r>
            <a:rPr lang="en-SG" dirty="0"/>
            <a:t> </a:t>
          </a:r>
        </a:p>
      </dgm:t>
    </dgm:pt>
    <dgm:pt modelId="{99BA6FEE-D66E-41FF-A49C-5F5A4A23839F}" type="parTrans" cxnId="{AB4A2B1B-2B1B-4632-A894-2C9CA925AD44}">
      <dgm:prSet/>
      <dgm:spPr/>
      <dgm:t>
        <a:bodyPr/>
        <a:lstStyle/>
        <a:p>
          <a:endParaRPr lang="en-SG"/>
        </a:p>
      </dgm:t>
    </dgm:pt>
    <dgm:pt modelId="{F627CFDC-3584-4313-BB80-9F11BD688988}" type="sibTrans" cxnId="{AB4A2B1B-2B1B-4632-A894-2C9CA925AD44}">
      <dgm:prSet/>
      <dgm:spPr/>
      <dgm:t>
        <a:bodyPr/>
        <a:lstStyle/>
        <a:p>
          <a:endParaRPr lang="en-SG"/>
        </a:p>
      </dgm:t>
    </dgm:pt>
    <dgm:pt modelId="{ECD9E0DB-1722-4847-ADEE-EAC2F6DE56BF}">
      <dgm:prSet phldrT="[Text]" custT="1"/>
      <dgm:spPr/>
      <dgm:t>
        <a:bodyPr/>
        <a:lstStyle/>
        <a:p>
          <a:r>
            <a:rPr lang="en-US" sz="1800" b="1" dirty="0">
              <a:solidFill>
                <a:srgbClr val="FFFF00"/>
              </a:solidFill>
              <a:hlinkClick xmlns:r="http://schemas.openxmlformats.org/officeDocument/2006/relationships" r:id="rId2"/>
            </a:rPr>
            <a:t>https://www.w3schools.com/php/default.asp</a:t>
          </a:r>
          <a:endParaRPr lang="en-US" sz="1800" b="1" dirty="0">
            <a:solidFill>
              <a:srgbClr val="FFFF00"/>
            </a:solidFill>
          </a:endParaRPr>
        </a:p>
        <a:p>
          <a:r>
            <a:rPr lang="en-SG" sz="1400" b="1" dirty="0"/>
            <a:t>http://jquerymobile.com/resources/</a:t>
          </a:r>
        </a:p>
        <a:p>
          <a:r>
            <a:rPr lang="en-SG" sz="1400" b="1" dirty="0"/>
            <a:t>http://www.hotscripts.com/category/scripts/php</a:t>
          </a:r>
          <a:r>
            <a:rPr lang="en-SG" sz="1400" b="1" dirty="0">
              <a:hlinkClick xmlns:r="http://schemas.openxmlformats.org/officeDocument/2006/relationships" r:id="rId3"/>
            </a:rPr>
            <a:t>/</a:t>
          </a:r>
          <a:endParaRPr lang="en-SG" sz="1400" b="1" dirty="0"/>
        </a:p>
      </dgm:t>
    </dgm:pt>
    <dgm:pt modelId="{4565F79B-2694-482E-BAF0-841851386D5E}" type="parTrans" cxnId="{924B17DD-D419-4DDE-A763-13C73B4FEE5D}">
      <dgm:prSet/>
      <dgm:spPr/>
      <dgm:t>
        <a:bodyPr/>
        <a:lstStyle/>
        <a:p>
          <a:endParaRPr lang="en-SG"/>
        </a:p>
      </dgm:t>
    </dgm:pt>
    <dgm:pt modelId="{9EBD4A2B-751F-4321-AEE2-9B845CCE5B86}" type="sibTrans" cxnId="{924B17DD-D419-4DDE-A763-13C73B4FEE5D}">
      <dgm:prSet/>
      <dgm:spPr/>
      <dgm:t>
        <a:bodyPr/>
        <a:lstStyle/>
        <a:p>
          <a:endParaRPr lang="en-SG"/>
        </a:p>
      </dgm:t>
    </dgm:pt>
    <dgm:pt modelId="{0D1E1E3C-3748-4234-A3ED-271D35E56EB0}">
      <dgm:prSet phldrT="[Text]"/>
      <dgm:spPr/>
      <dgm:t>
        <a:bodyPr/>
        <a:lstStyle/>
        <a:p>
          <a:r>
            <a:rPr lang="en-US" b="1" dirty="0"/>
            <a:t>HTML 5 – Designing Rich Internet Applications, Matthew David, OT, </a:t>
          </a:r>
          <a:endParaRPr lang="en-SG" b="1" dirty="0"/>
        </a:p>
      </dgm:t>
    </dgm:pt>
    <dgm:pt modelId="{A5A0BEF4-7CA3-49D7-83C2-2158743739F9}" type="parTrans" cxnId="{A65D947A-AD0C-465D-871A-C767697FB2E1}">
      <dgm:prSet/>
      <dgm:spPr/>
      <dgm:t>
        <a:bodyPr/>
        <a:lstStyle/>
        <a:p>
          <a:endParaRPr lang="en-SG"/>
        </a:p>
      </dgm:t>
    </dgm:pt>
    <dgm:pt modelId="{8B4BCB7B-608B-49A4-9B2D-0C6B33A834D5}" type="sibTrans" cxnId="{A65D947A-AD0C-465D-871A-C767697FB2E1}">
      <dgm:prSet/>
      <dgm:spPr/>
      <dgm:t>
        <a:bodyPr/>
        <a:lstStyle/>
        <a:p>
          <a:endParaRPr lang="en-SG"/>
        </a:p>
      </dgm:t>
    </dgm:pt>
    <dgm:pt modelId="{4EB6286B-7B9E-4CEA-804F-89373CAFCFF6}">
      <dgm:prSet phldrT="[Text]" custT="1"/>
      <dgm:spPr/>
      <dgm:t>
        <a:bodyPr/>
        <a:lstStyle/>
        <a:p>
          <a:r>
            <a:rPr lang="en-US" sz="1800" b="1" dirty="0">
              <a:solidFill>
                <a:srgbClr val="FFFF00"/>
              </a:solidFill>
              <a:hlinkClick xmlns:r="http://schemas.openxmlformats.org/officeDocument/2006/relationships" r:id="rId4"/>
            </a:rPr>
            <a:t>https://www.w3schools.com/Css/</a:t>
          </a:r>
          <a:endParaRPr lang="en-US" sz="1800" b="1" dirty="0">
            <a:solidFill>
              <a:srgbClr val="FFFF00"/>
            </a:solidFill>
          </a:endParaRPr>
        </a:p>
        <a:p>
          <a:r>
            <a:rPr lang="en-SG" sz="1400" b="1" dirty="0"/>
            <a:t>http://blog.teamtreehouse.com/30-essential-css3-resources</a:t>
          </a:r>
        </a:p>
        <a:p>
          <a:endParaRPr lang="en-SG" sz="1400" b="1" dirty="0"/>
        </a:p>
      </dgm:t>
    </dgm:pt>
    <dgm:pt modelId="{64771733-BED1-4043-857F-734F542DB936}" type="parTrans" cxnId="{CFE94217-60EF-4C4C-8BD0-37DCF958CE26}">
      <dgm:prSet/>
      <dgm:spPr/>
      <dgm:t>
        <a:bodyPr/>
        <a:lstStyle/>
        <a:p>
          <a:endParaRPr lang="en-SG"/>
        </a:p>
      </dgm:t>
    </dgm:pt>
    <dgm:pt modelId="{C9DA52FC-3013-4A5F-B75E-906B2B24BC6E}" type="sibTrans" cxnId="{CFE94217-60EF-4C4C-8BD0-37DCF958CE26}">
      <dgm:prSet/>
      <dgm:spPr/>
      <dgm:t>
        <a:bodyPr/>
        <a:lstStyle/>
        <a:p>
          <a:endParaRPr lang="en-SG"/>
        </a:p>
      </dgm:t>
    </dgm:pt>
    <dgm:pt modelId="{B6EADC93-90A2-4705-9544-2D845155372B}">
      <dgm:prSet phldrT="[Text]"/>
      <dgm:spPr/>
      <dgm:t>
        <a:bodyPr/>
        <a:lstStyle/>
        <a:p>
          <a:r>
            <a:rPr lang="en-US" b="1" dirty="0" err="1"/>
            <a:t>JavasScript</a:t>
          </a:r>
          <a:r>
            <a:rPr lang="en-US" b="1" dirty="0"/>
            <a:t> &amp; </a:t>
          </a:r>
          <a:r>
            <a:rPr lang="en-US" b="1" dirty="0" err="1"/>
            <a:t>JQuery</a:t>
          </a:r>
          <a:r>
            <a:rPr lang="en-US" b="1" dirty="0"/>
            <a:t> : The Missing Manual  David Sawyer McFarland, OT, 2011, B</a:t>
          </a:r>
          <a:endParaRPr lang="en-SG" b="1" dirty="0"/>
        </a:p>
      </dgm:t>
    </dgm:pt>
    <dgm:pt modelId="{0DCE315F-3D16-494A-9FC2-9B807459D506}" type="parTrans" cxnId="{CB30B7F6-9537-4281-93EF-27D8BEB3C62B}">
      <dgm:prSet/>
      <dgm:spPr/>
      <dgm:t>
        <a:bodyPr/>
        <a:lstStyle/>
        <a:p>
          <a:endParaRPr lang="en-SG"/>
        </a:p>
      </dgm:t>
    </dgm:pt>
    <dgm:pt modelId="{CB44960F-3DC1-4762-B508-4A65CC1F9625}" type="sibTrans" cxnId="{CB30B7F6-9537-4281-93EF-27D8BEB3C62B}">
      <dgm:prSet/>
      <dgm:spPr/>
      <dgm:t>
        <a:bodyPr/>
        <a:lstStyle/>
        <a:p>
          <a:endParaRPr lang="en-SG"/>
        </a:p>
      </dgm:t>
    </dgm:pt>
    <dgm:pt modelId="{611A2999-1850-4796-A04B-A6C0CB66B7FC}">
      <dgm:prSet phldrT="[Text]"/>
      <dgm:spPr/>
      <dgm:t>
        <a:bodyPr/>
        <a:lstStyle/>
        <a:p>
          <a:r>
            <a:rPr lang="en-US" b="1" dirty="0"/>
            <a:t>Pro HTML5 and CSS3 Design </a:t>
          </a:r>
          <a:r>
            <a:rPr lang="en-US" b="1" dirty="0" err="1"/>
            <a:t>PAtterns</a:t>
          </a:r>
          <a:r>
            <a:rPr lang="en-US" b="1" dirty="0"/>
            <a:t>, OT, 2011, B</a:t>
          </a:r>
          <a:endParaRPr lang="en-SG" b="1" dirty="0"/>
        </a:p>
      </dgm:t>
    </dgm:pt>
    <dgm:pt modelId="{E7195062-714E-48CC-8E89-0076E008DD33}" type="parTrans" cxnId="{354F9F93-5B93-4355-851B-5F8CFE93AB30}">
      <dgm:prSet/>
      <dgm:spPr/>
      <dgm:t>
        <a:bodyPr/>
        <a:lstStyle/>
        <a:p>
          <a:endParaRPr lang="en-US"/>
        </a:p>
      </dgm:t>
    </dgm:pt>
    <dgm:pt modelId="{336A2715-C9DE-42FD-9ADF-6EB59E451A3C}" type="sibTrans" cxnId="{354F9F93-5B93-4355-851B-5F8CFE93AB30}">
      <dgm:prSet/>
      <dgm:spPr/>
      <dgm:t>
        <a:bodyPr/>
        <a:lstStyle/>
        <a:p>
          <a:endParaRPr lang="en-US"/>
        </a:p>
      </dgm:t>
    </dgm:pt>
    <dgm:pt modelId="{7E88BAAB-8E6F-4871-A345-249F58744427}">
      <dgm:prSet phldrT="[Text]"/>
      <dgm:spPr/>
      <dgm:t>
        <a:bodyPr/>
        <a:lstStyle/>
        <a:p>
          <a:r>
            <a:rPr lang="en-US" b="1" dirty="0"/>
            <a:t>Mobile HTML 5, Estelle </a:t>
          </a:r>
          <a:r>
            <a:rPr lang="en-US" b="1" dirty="0" err="1"/>
            <a:t>Weyl</a:t>
          </a:r>
          <a:r>
            <a:rPr lang="en-US" b="1" dirty="0"/>
            <a:t>, OT, 2012</a:t>
          </a:r>
          <a:endParaRPr lang="en-SG" b="1" dirty="0"/>
        </a:p>
      </dgm:t>
    </dgm:pt>
    <dgm:pt modelId="{21388737-AA07-4641-8DEF-8AEA84B15550}" type="parTrans" cxnId="{54EB5877-412D-413F-AF0B-B0D318E16436}">
      <dgm:prSet/>
      <dgm:spPr/>
      <dgm:t>
        <a:bodyPr/>
        <a:lstStyle/>
        <a:p>
          <a:endParaRPr lang="en-US"/>
        </a:p>
      </dgm:t>
    </dgm:pt>
    <dgm:pt modelId="{459E2A5B-5E49-493F-AF3F-3416C72D7B39}" type="sibTrans" cxnId="{54EB5877-412D-413F-AF0B-B0D318E16436}">
      <dgm:prSet/>
      <dgm:spPr/>
      <dgm:t>
        <a:bodyPr/>
        <a:lstStyle/>
        <a:p>
          <a:endParaRPr lang="en-US"/>
        </a:p>
      </dgm:t>
    </dgm:pt>
    <dgm:pt modelId="{843BDF91-A18B-4443-BF92-5AD59F71208F}" type="pres">
      <dgm:prSet presAssocID="{1718FF01-546F-4A2E-BFF7-EB15E00076E3}" presName="linear" presStyleCnt="0">
        <dgm:presLayoutVars>
          <dgm:dir/>
          <dgm:resizeHandles val="exact"/>
        </dgm:presLayoutVars>
      </dgm:prSet>
      <dgm:spPr/>
    </dgm:pt>
    <dgm:pt modelId="{23551BA4-0A8B-456A-B624-B468BB392335}" type="pres">
      <dgm:prSet presAssocID="{F0DFE579-98D7-4719-B524-BBCE4489C87E}" presName="comp" presStyleCnt="0"/>
      <dgm:spPr/>
    </dgm:pt>
    <dgm:pt modelId="{E6549A55-9EEF-4594-815C-66B8FE14AD0A}" type="pres">
      <dgm:prSet presAssocID="{F0DFE579-98D7-4719-B524-BBCE4489C87E}" presName="box" presStyleLbl="node1" presStyleIdx="0" presStyleCnt="4"/>
      <dgm:spPr/>
    </dgm:pt>
    <dgm:pt modelId="{F0176F16-6525-4490-A3E3-DEF688736207}" type="pres">
      <dgm:prSet presAssocID="{F0DFE579-98D7-4719-B524-BBCE4489C87E}" presName="img" presStyleLbl="fgImgPlace1" presStyleIdx="0" presStyleCnt="4" custScaleX="72005"/>
      <dgm:spPr>
        <a:blipFill rotWithShape="0">
          <a:blip xmlns:r="http://schemas.openxmlformats.org/officeDocument/2006/relationships" r:embed="rId5"/>
          <a:stretch>
            <a:fillRect/>
          </a:stretch>
        </a:blipFill>
      </dgm:spPr>
    </dgm:pt>
    <dgm:pt modelId="{7E23478B-5DBE-40A8-B361-530B270F8DD3}" type="pres">
      <dgm:prSet presAssocID="{F0DFE579-98D7-4719-B524-BBCE4489C87E}" presName="text" presStyleLbl="node1" presStyleIdx="0" presStyleCnt="4">
        <dgm:presLayoutVars>
          <dgm:bulletEnabled val="1"/>
        </dgm:presLayoutVars>
      </dgm:prSet>
      <dgm:spPr/>
    </dgm:pt>
    <dgm:pt modelId="{9A440A0E-A2E9-46C9-9FBE-1E348C0DDFC6}" type="pres">
      <dgm:prSet presAssocID="{F627CFDC-3584-4313-BB80-9F11BD688988}" presName="spacer" presStyleCnt="0"/>
      <dgm:spPr/>
    </dgm:pt>
    <dgm:pt modelId="{152BF1A1-EEBA-47C4-AA24-7D9AF678CA62}" type="pres">
      <dgm:prSet presAssocID="{4EB6286B-7B9E-4CEA-804F-89373CAFCFF6}" presName="comp" presStyleCnt="0"/>
      <dgm:spPr/>
    </dgm:pt>
    <dgm:pt modelId="{63823563-04B1-476B-89B6-25D788597C9A}" type="pres">
      <dgm:prSet presAssocID="{4EB6286B-7B9E-4CEA-804F-89373CAFCFF6}" presName="box" presStyleLbl="node1" presStyleIdx="1" presStyleCnt="4" custLinFactNeighborX="-46154" custLinFactNeighborY="-286"/>
      <dgm:spPr/>
    </dgm:pt>
    <dgm:pt modelId="{B77C6595-2A4F-4E3E-84D4-9D95C8CEE83D}" type="pres">
      <dgm:prSet presAssocID="{4EB6286B-7B9E-4CEA-804F-89373CAFCFF6}" presName="img" presStyleLbl="fgImgPlace1" presStyleIdx="1" presStyleCnt="4" custScaleX="72005"/>
      <dgm:spPr>
        <a:blipFill rotWithShape="0">
          <a:blip xmlns:r="http://schemas.openxmlformats.org/officeDocument/2006/relationships" r:embed="rId6"/>
          <a:stretch>
            <a:fillRect/>
          </a:stretch>
        </a:blipFill>
      </dgm:spPr>
    </dgm:pt>
    <dgm:pt modelId="{91F7EACE-CD13-4DFD-8A9D-F0E2CF117352}" type="pres">
      <dgm:prSet presAssocID="{4EB6286B-7B9E-4CEA-804F-89373CAFCFF6}" presName="text" presStyleLbl="node1" presStyleIdx="1" presStyleCnt="4">
        <dgm:presLayoutVars>
          <dgm:bulletEnabled val="1"/>
        </dgm:presLayoutVars>
      </dgm:prSet>
      <dgm:spPr/>
    </dgm:pt>
    <dgm:pt modelId="{F55E3A4C-E47F-4DAE-9434-EE0D998CE087}" type="pres">
      <dgm:prSet presAssocID="{C9DA52FC-3013-4A5F-B75E-906B2B24BC6E}" presName="spacer" presStyleCnt="0"/>
      <dgm:spPr/>
    </dgm:pt>
    <dgm:pt modelId="{724BDD26-2411-4E65-BA31-3C265C44CB31}" type="pres">
      <dgm:prSet presAssocID="{ECD9E0DB-1722-4847-ADEE-EAC2F6DE56BF}" presName="comp" presStyleCnt="0"/>
      <dgm:spPr/>
    </dgm:pt>
    <dgm:pt modelId="{E16A031B-F5ED-4F20-91BA-A2ED90B81A14}" type="pres">
      <dgm:prSet presAssocID="{ECD9E0DB-1722-4847-ADEE-EAC2F6DE56BF}" presName="box" presStyleLbl="node1" presStyleIdx="2" presStyleCnt="4" custLinFactNeighborX="1099"/>
      <dgm:spPr/>
    </dgm:pt>
    <dgm:pt modelId="{F33011CE-58AF-4C0E-8234-B8D195AA71A8}" type="pres">
      <dgm:prSet presAssocID="{ECD9E0DB-1722-4847-ADEE-EAC2F6DE56BF}" presName="img" presStyleLbl="fgImgPlace1" presStyleIdx="2" presStyleCnt="4" custScaleX="72005"/>
      <dgm:spPr>
        <a:blipFill rotWithShape="0">
          <a:blip xmlns:r="http://schemas.openxmlformats.org/officeDocument/2006/relationships" r:embed="rId7"/>
          <a:stretch>
            <a:fillRect/>
          </a:stretch>
        </a:blipFill>
      </dgm:spPr>
    </dgm:pt>
    <dgm:pt modelId="{23380084-9938-43B9-B964-68E286674C63}" type="pres">
      <dgm:prSet presAssocID="{ECD9E0DB-1722-4847-ADEE-EAC2F6DE56BF}" presName="text" presStyleLbl="node1" presStyleIdx="2" presStyleCnt="4">
        <dgm:presLayoutVars>
          <dgm:bulletEnabled val="1"/>
        </dgm:presLayoutVars>
      </dgm:prSet>
      <dgm:spPr/>
    </dgm:pt>
    <dgm:pt modelId="{F6C6804A-F38C-433E-BF86-DDF613B2CC78}" type="pres">
      <dgm:prSet presAssocID="{9EBD4A2B-751F-4321-AEE2-9B845CCE5B86}" presName="spacer" presStyleCnt="0"/>
      <dgm:spPr/>
    </dgm:pt>
    <dgm:pt modelId="{3569331C-21CC-4B27-AEDE-78C4698CF664}" type="pres">
      <dgm:prSet presAssocID="{0D1E1E3C-3748-4234-A3ED-271D35E56EB0}" presName="comp" presStyleCnt="0"/>
      <dgm:spPr/>
    </dgm:pt>
    <dgm:pt modelId="{2B45FDA2-0574-44FD-BBC2-E4128CB9EB87}" type="pres">
      <dgm:prSet presAssocID="{0D1E1E3C-3748-4234-A3ED-271D35E56EB0}" presName="box" presStyleLbl="node1" presStyleIdx="3" presStyleCnt="4" custLinFactNeighborY="-857"/>
      <dgm:spPr/>
    </dgm:pt>
    <dgm:pt modelId="{08207410-E088-4027-AAFA-12906BED25D4}" type="pres">
      <dgm:prSet presAssocID="{0D1E1E3C-3748-4234-A3ED-271D35E56EB0}" presName="img" presStyleLbl="fgImgPlace1" presStyleIdx="3" presStyleCnt="4" custScaleX="72005"/>
      <dgm:spPr>
        <a:blipFill rotWithShape="0">
          <a:blip xmlns:r="http://schemas.openxmlformats.org/officeDocument/2006/relationships" r:embed="rId8"/>
          <a:stretch>
            <a:fillRect/>
          </a:stretch>
        </a:blipFill>
      </dgm:spPr>
    </dgm:pt>
    <dgm:pt modelId="{8E6B3CCE-91F5-45EA-8A0E-CCD6FBE426B1}" type="pres">
      <dgm:prSet presAssocID="{0D1E1E3C-3748-4234-A3ED-271D35E56EB0}" presName="text" presStyleLbl="node1" presStyleIdx="3" presStyleCnt="4">
        <dgm:presLayoutVars>
          <dgm:bulletEnabled val="1"/>
        </dgm:presLayoutVars>
      </dgm:prSet>
      <dgm:spPr/>
    </dgm:pt>
  </dgm:ptLst>
  <dgm:cxnLst>
    <dgm:cxn modelId="{CFE94217-60EF-4C4C-8BD0-37DCF958CE26}" srcId="{1718FF01-546F-4A2E-BFF7-EB15E00076E3}" destId="{4EB6286B-7B9E-4CEA-804F-89373CAFCFF6}" srcOrd="1" destOrd="0" parTransId="{64771733-BED1-4043-857F-734F542DB936}" sibTransId="{C9DA52FC-3013-4A5F-B75E-906B2B24BC6E}"/>
    <dgm:cxn modelId="{AB4A2B1B-2B1B-4632-A894-2C9CA925AD44}" srcId="{1718FF01-546F-4A2E-BFF7-EB15E00076E3}" destId="{F0DFE579-98D7-4719-B524-BBCE4489C87E}" srcOrd="0" destOrd="0" parTransId="{99BA6FEE-D66E-41FF-A49C-5F5A4A23839F}" sibTransId="{F627CFDC-3584-4313-BB80-9F11BD688988}"/>
    <dgm:cxn modelId="{7B3F932E-4235-4F63-8709-65610CCDD974}" type="presOf" srcId="{4EB6286B-7B9E-4CEA-804F-89373CAFCFF6}" destId="{63823563-04B1-476B-89B6-25D788597C9A}" srcOrd="0" destOrd="0" presId="urn:microsoft.com/office/officeart/2005/8/layout/vList4#2"/>
    <dgm:cxn modelId="{BF667738-C0D5-46BA-AB3E-FC83673CFCD1}" type="presOf" srcId="{F0DFE579-98D7-4719-B524-BBCE4489C87E}" destId="{E6549A55-9EEF-4594-815C-66B8FE14AD0A}" srcOrd="0" destOrd="0" presId="urn:microsoft.com/office/officeart/2005/8/layout/vList4#2"/>
    <dgm:cxn modelId="{54EB5877-412D-413F-AF0B-B0D318E16436}" srcId="{0D1E1E3C-3748-4234-A3ED-271D35E56EB0}" destId="{7E88BAAB-8E6F-4871-A345-249F58744427}" srcOrd="1" destOrd="0" parTransId="{21388737-AA07-4641-8DEF-8AEA84B15550}" sibTransId="{459E2A5B-5E49-493F-AF3F-3416C72D7B39}"/>
    <dgm:cxn modelId="{A65D947A-AD0C-465D-871A-C767697FB2E1}" srcId="{1718FF01-546F-4A2E-BFF7-EB15E00076E3}" destId="{0D1E1E3C-3748-4234-A3ED-271D35E56EB0}" srcOrd="3" destOrd="0" parTransId="{A5A0BEF4-7CA3-49D7-83C2-2158743739F9}" sibTransId="{8B4BCB7B-608B-49A4-9B2D-0C6B33A834D5}"/>
    <dgm:cxn modelId="{A09DE08A-23D1-4E30-B284-788BEE45D77B}" type="presOf" srcId="{ECD9E0DB-1722-4847-ADEE-EAC2F6DE56BF}" destId="{E16A031B-F5ED-4F20-91BA-A2ED90B81A14}" srcOrd="0" destOrd="0" presId="urn:microsoft.com/office/officeart/2005/8/layout/vList4#2"/>
    <dgm:cxn modelId="{354F9F93-5B93-4355-851B-5F8CFE93AB30}" srcId="{0D1E1E3C-3748-4234-A3ED-271D35E56EB0}" destId="{611A2999-1850-4796-A04B-A6C0CB66B7FC}" srcOrd="0" destOrd="0" parTransId="{E7195062-714E-48CC-8E89-0076E008DD33}" sibTransId="{336A2715-C9DE-42FD-9ADF-6EB59E451A3C}"/>
    <dgm:cxn modelId="{2BB98C99-14A6-4EB9-9139-998F5AA52CD0}" type="presOf" srcId="{4EB6286B-7B9E-4CEA-804F-89373CAFCFF6}" destId="{91F7EACE-CD13-4DFD-8A9D-F0E2CF117352}" srcOrd="1" destOrd="0" presId="urn:microsoft.com/office/officeart/2005/8/layout/vList4#2"/>
    <dgm:cxn modelId="{2DC33CC9-6C60-46CD-9470-246B041EF8CE}" type="presOf" srcId="{611A2999-1850-4796-A04B-A6C0CB66B7FC}" destId="{2B45FDA2-0574-44FD-BBC2-E4128CB9EB87}" srcOrd="0" destOrd="1" presId="urn:microsoft.com/office/officeart/2005/8/layout/vList4#2"/>
    <dgm:cxn modelId="{09F09ED8-AECC-4E26-8D04-98696C2AF2F3}" type="presOf" srcId="{B6EADC93-90A2-4705-9544-2D845155372B}" destId="{8E6B3CCE-91F5-45EA-8A0E-CCD6FBE426B1}" srcOrd="1" destOrd="3" presId="urn:microsoft.com/office/officeart/2005/8/layout/vList4#2"/>
    <dgm:cxn modelId="{F258B8D8-92AD-4291-B8B2-5A887C1D9FBC}" type="presOf" srcId="{0D1E1E3C-3748-4234-A3ED-271D35E56EB0}" destId="{2B45FDA2-0574-44FD-BBC2-E4128CB9EB87}" srcOrd="0" destOrd="0" presId="urn:microsoft.com/office/officeart/2005/8/layout/vList4#2"/>
    <dgm:cxn modelId="{99999DDB-0E89-4832-A149-7AB4BDD092B9}" type="presOf" srcId="{ECD9E0DB-1722-4847-ADEE-EAC2F6DE56BF}" destId="{23380084-9938-43B9-B964-68E286674C63}" srcOrd="1" destOrd="0" presId="urn:microsoft.com/office/officeart/2005/8/layout/vList4#2"/>
    <dgm:cxn modelId="{924B17DD-D419-4DDE-A763-13C73B4FEE5D}" srcId="{1718FF01-546F-4A2E-BFF7-EB15E00076E3}" destId="{ECD9E0DB-1722-4847-ADEE-EAC2F6DE56BF}" srcOrd="2" destOrd="0" parTransId="{4565F79B-2694-482E-BAF0-841851386D5E}" sibTransId="{9EBD4A2B-751F-4321-AEE2-9B845CCE5B86}"/>
    <dgm:cxn modelId="{703575E4-3DB4-428F-8FAA-BFABA1AA13CA}" type="presOf" srcId="{F0DFE579-98D7-4719-B524-BBCE4489C87E}" destId="{7E23478B-5DBE-40A8-B361-530B270F8DD3}" srcOrd="1" destOrd="0" presId="urn:microsoft.com/office/officeart/2005/8/layout/vList4#2"/>
    <dgm:cxn modelId="{662E17E5-24D2-44CD-9578-34BF80324989}" type="presOf" srcId="{611A2999-1850-4796-A04B-A6C0CB66B7FC}" destId="{8E6B3CCE-91F5-45EA-8A0E-CCD6FBE426B1}" srcOrd="1" destOrd="1" presId="urn:microsoft.com/office/officeart/2005/8/layout/vList4#2"/>
    <dgm:cxn modelId="{FB35CFE6-25A4-4912-BF31-1581CC887491}" type="presOf" srcId="{7E88BAAB-8E6F-4871-A345-249F58744427}" destId="{8E6B3CCE-91F5-45EA-8A0E-CCD6FBE426B1}" srcOrd="1" destOrd="2" presId="urn:microsoft.com/office/officeart/2005/8/layout/vList4#2"/>
    <dgm:cxn modelId="{165043EA-6202-4BE4-AFAE-580922835D0D}" type="presOf" srcId="{0D1E1E3C-3748-4234-A3ED-271D35E56EB0}" destId="{8E6B3CCE-91F5-45EA-8A0E-CCD6FBE426B1}" srcOrd="1" destOrd="0" presId="urn:microsoft.com/office/officeart/2005/8/layout/vList4#2"/>
    <dgm:cxn modelId="{2CAA76EC-6F98-411E-8834-6A3EC959E83E}" type="presOf" srcId="{7E88BAAB-8E6F-4871-A345-249F58744427}" destId="{2B45FDA2-0574-44FD-BBC2-E4128CB9EB87}" srcOrd="0" destOrd="2" presId="urn:microsoft.com/office/officeart/2005/8/layout/vList4#2"/>
    <dgm:cxn modelId="{A855E2F3-7511-417E-B56B-7CDCE8CB7F7E}" type="presOf" srcId="{1718FF01-546F-4A2E-BFF7-EB15E00076E3}" destId="{843BDF91-A18B-4443-BF92-5AD59F71208F}" srcOrd="0" destOrd="0" presId="urn:microsoft.com/office/officeart/2005/8/layout/vList4#2"/>
    <dgm:cxn modelId="{CB30B7F6-9537-4281-93EF-27D8BEB3C62B}" srcId="{0D1E1E3C-3748-4234-A3ED-271D35E56EB0}" destId="{B6EADC93-90A2-4705-9544-2D845155372B}" srcOrd="2" destOrd="0" parTransId="{0DCE315F-3D16-494A-9FC2-9B807459D506}" sibTransId="{CB44960F-3DC1-4762-B508-4A65CC1F9625}"/>
    <dgm:cxn modelId="{8A45DDF7-B6FE-4578-A4CA-AE885F2B7B84}" type="presOf" srcId="{B6EADC93-90A2-4705-9544-2D845155372B}" destId="{2B45FDA2-0574-44FD-BBC2-E4128CB9EB87}" srcOrd="0" destOrd="3" presId="urn:microsoft.com/office/officeart/2005/8/layout/vList4#2"/>
    <dgm:cxn modelId="{B391C826-01E4-4EA1-883C-1A9F1F44C1C8}" type="presParOf" srcId="{843BDF91-A18B-4443-BF92-5AD59F71208F}" destId="{23551BA4-0A8B-456A-B624-B468BB392335}" srcOrd="0" destOrd="0" presId="urn:microsoft.com/office/officeart/2005/8/layout/vList4#2"/>
    <dgm:cxn modelId="{7DD152D2-E434-4C45-AB1A-42B778AA336E}" type="presParOf" srcId="{23551BA4-0A8B-456A-B624-B468BB392335}" destId="{E6549A55-9EEF-4594-815C-66B8FE14AD0A}" srcOrd="0" destOrd="0" presId="urn:microsoft.com/office/officeart/2005/8/layout/vList4#2"/>
    <dgm:cxn modelId="{E3C265DA-5CCB-43E7-A050-3AB285DB78D6}" type="presParOf" srcId="{23551BA4-0A8B-456A-B624-B468BB392335}" destId="{F0176F16-6525-4490-A3E3-DEF688736207}" srcOrd="1" destOrd="0" presId="urn:microsoft.com/office/officeart/2005/8/layout/vList4#2"/>
    <dgm:cxn modelId="{1EFB3855-8BB2-40AA-82FC-3344DC09F2A6}" type="presParOf" srcId="{23551BA4-0A8B-456A-B624-B468BB392335}" destId="{7E23478B-5DBE-40A8-B361-530B270F8DD3}" srcOrd="2" destOrd="0" presId="urn:microsoft.com/office/officeart/2005/8/layout/vList4#2"/>
    <dgm:cxn modelId="{6C220E88-FB63-4E60-8ABD-085EA39D4239}" type="presParOf" srcId="{843BDF91-A18B-4443-BF92-5AD59F71208F}" destId="{9A440A0E-A2E9-46C9-9FBE-1E348C0DDFC6}" srcOrd="1" destOrd="0" presId="urn:microsoft.com/office/officeart/2005/8/layout/vList4#2"/>
    <dgm:cxn modelId="{B2243852-F5FC-44D3-B726-070620A9879A}" type="presParOf" srcId="{843BDF91-A18B-4443-BF92-5AD59F71208F}" destId="{152BF1A1-EEBA-47C4-AA24-7D9AF678CA62}" srcOrd="2" destOrd="0" presId="urn:microsoft.com/office/officeart/2005/8/layout/vList4#2"/>
    <dgm:cxn modelId="{140BF5D5-D494-4EB3-9E12-9C90D39AA667}" type="presParOf" srcId="{152BF1A1-EEBA-47C4-AA24-7D9AF678CA62}" destId="{63823563-04B1-476B-89B6-25D788597C9A}" srcOrd="0" destOrd="0" presId="urn:microsoft.com/office/officeart/2005/8/layout/vList4#2"/>
    <dgm:cxn modelId="{1F28A7A7-B7EB-450B-B31C-09264ED9D4A4}" type="presParOf" srcId="{152BF1A1-EEBA-47C4-AA24-7D9AF678CA62}" destId="{B77C6595-2A4F-4E3E-84D4-9D95C8CEE83D}" srcOrd="1" destOrd="0" presId="urn:microsoft.com/office/officeart/2005/8/layout/vList4#2"/>
    <dgm:cxn modelId="{F4CBB6BB-45CF-46A7-A032-F554DA27A279}" type="presParOf" srcId="{152BF1A1-EEBA-47C4-AA24-7D9AF678CA62}" destId="{91F7EACE-CD13-4DFD-8A9D-F0E2CF117352}" srcOrd="2" destOrd="0" presId="urn:microsoft.com/office/officeart/2005/8/layout/vList4#2"/>
    <dgm:cxn modelId="{F4933FD0-ACCC-425E-85C1-0AE72FC9897E}" type="presParOf" srcId="{843BDF91-A18B-4443-BF92-5AD59F71208F}" destId="{F55E3A4C-E47F-4DAE-9434-EE0D998CE087}" srcOrd="3" destOrd="0" presId="urn:microsoft.com/office/officeart/2005/8/layout/vList4#2"/>
    <dgm:cxn modelId="{FAACA7D7-EF5A-4F70-AC58-46958AEB21CA}" type="presParOf" srcId="{843BDF91-A18B-4443-BF92-5AD59F71208F}" destId="{724BDD26-2411-4E65-BA31-3C265C44CB31}" srcOrd="4" destOrd="0" presId="urn:microsoft.com/office/officeart/2005/8/layout/vList4#2"/>
    <dgm:cxn modelId="{0ADD7E4A-9199-456A-8573-C150A1C8EF99}" type="presParOf" srcId="{724BDD26-2411-4E65-BA31-3C265C44CB31}" destId="{E16A031B-F5ED-4F20-91BA-A2ED90B81A14}" srcOrd="0" destOrd="0" presId="urn:microsoft.com/office/officeart/2005/8/layout/vList4#2"/>
    <dgm:cxn modelId="{3BA43B29-11CC-4989-88D6-F7096E043E75}" type="presParOf" srcId="{724BDD26-2411-4E65-BA31-3C265C44CB31}" destId="{F33011CE-58AF-4C0E-8234-B8D195AA71A8}" srcOrd="1" destOrd="0" presId="urn:microsoft.com/office/officeart/2005/8/layout/vList4#2"/>
    <dgm:cxn modelId="{B017D5DC-CE70-4053-B85F-64AAA87A741B}" type="presParOf" srcId="{724BDD26-2411-4E65-BA31-3C265C44CB31}" destId="{23380084-9938-43B9-B964-68E286674C63}" srcOrd="2" destOrd="0" presId="urn:microsoft.com/office/officeart/2005/8/layout/vList4#2"/>
    <dgm:cxn modelId="{999611FB-38BB-4D48-8AB6-79D00D547283}" type="presParOf" srcId="{843BDF91-A18B-4443-BF92-5AD59F71208F}" destId="{F6C6804A-F38C-433E-BF86-DDF613B2CC78}" srcOrd="5" destOrd="0" presId="urn:microsoft.com/office/officeart/2005/8/layout/vList4#2"/>
    <dgm:cxn modelId="{1B6C513B-48C3-4F96-8B67-E3BBEAA21CF1}" type="presParOf" srcId="{843BDF91-A18B-4443-BF92-5AD59F71208F}" destId="{3569331C-21CC-4B27-AEDE-78C4698CF664}" srcOrd="6" destOrd="0" presId="urn:microsoft.com/office/officeart/2005/8/layout/vList4#2"/>
    <dgm:cxn modelId="{F2F70D9E-EA88-482A-BF11-7FB9A9CA9F04}" type="presParOf" srcId="{3569331C-21CC-4B27-AEDE-78C4698CF664}" destId="{2B45FDA2-0574-44FD-BBC2-E4128CB9EB87}" srcOrd="0" destOrd="0" presId="urn:microsoft.com/office/officeart/2005/8/layout/vList4#2"/>
    <dgm:cxn modelId="{46D6DA47-0C55-44A6-B269-80E61F9ABDD5}" type="presParOf" srcId="{3569331C-21CC-4B27-AEDE-78C4698CF664}" destId="{08207410-E088-4027-AAFA-12906BED25D4}" srcOrd="1" destOrd="0" presId="urn:microsoft.com/office/officeart/2005/8/layout/vList4#2"/>
    <dgm:cxn modelId="{B12063F5-1B7A-44E9-8D1F-C97CB4C03727}" type="presParOf" srcId="{3569331C-21CC-4B27-AEDE-78C4698CF664}" destId="{8E6B3CCE-91F5-45EA-8A0E-CCD6FBE426B1}" srcOrd="2" destOrd="0" presId="urn:microsoft.com/office/officeart/2005/8/layout/vList4#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549A55-9EEF-4594-815C-66B8FE14AD0A}">
      <dsp:nvSpPr>
        <dsp:cNvPr id="0" name=""/>
        <dsp:cNvSpPr/>
      </dsp:nvSpPr>
      <dsp:spPr>
        <a:xfrm>
          <a:off x="0" y="0"/>
          <a:ext cx="6934200" cy="15874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SG" sz="1600" kern="1200" dirty="0"/>
            <a:t>Update your browser to </a:t>
          </a:r>
          <a:r>
            <a:rPr lang="en-SG" sz="1800" b="1" kern="1200" dirty="0"/>
            <a:t>latest Chrome browser.  </a:t>
          </a:r>
          <a:r>
            <a:rPr lang="en-SG" sz="1600" kern="1200" dirty="0"/>
            <a:t>We will use Chrome throughout all our exercises</a:t>
          </a:r>
        </a:p>
        <a:p>
          <a:pPr marL="0" lvl="0" indent="0" algn="l" defTabSz="711200">
            <a:lnSpc>
              <a:spcPct val="90000"/>
            </a:lnSpc>
            <a:spcBef>
              <a:spcPct val="0"/>
            </a:spcBef>
            <a:spcAft>
              <a:spcPct val="35000"/>
            </a:spcAft>
            <a:buNone/>
          </a:pPr>
          <a:r>
            <a:rPr lang="en-SG" sz="1600" kern="1200" dirty="0"/>
            <a:t> </a:t>
          </a:r>
        </a:p>
      </dsp:txBody>
      <dsp:txXfrm>
        <a:off x="1545590" y="0"/>
        <a:ext cx="5388610" cy="1587499"/>
      </dsp:txXfrm>
    </dsp:sp>
    <dsp:sp modelId="{F0176F16-6525-4490-A3E3-DEF688736207}">
      <dsp:nvSpPr>
        <dsp:cNvPr id="0" name=""/>
        <dsp:cNvSpPr/>
      </dsp:nvSpPr>
      <dsp:spPr>
        <a:xfrm>
          <a:off x="158750" y="158749"/>
          <a:ext cx="1386840" cy="1269999"/>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3823563-04B1-476B-89B6-25D788597C9A}">
      <dsp:nvSpPr>
        <dsp:cNvPr id="0" name=""/>
        <dsp:cNvSpPr/>
      </dsp:nvSpPr>
      <dsp:spPr>
        <a:xfrm>
          <a:off x="0" y="1746249"/>
          <a:ext cx="6934200" cy="15874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SG" sz="1600" kern="1200" dirty="0"/>
            <a:t> Install the latest </a:t>
          </a:r>
          <a:r>
            <a:rPr lang="en-SG" sz="1800" b="1" kern="1200" dirty="0"/>
            <a:t>WAMP server </a:t>
          </a:r>
          <a:r>
            <a:rPr lang="en-SG" sz="1600" kern="1200" dirty="0"/>
            <a:t>on your laptop. You will use this for your </a:t>
          </a:r>
          <a:r>
            <a:rPr lang="en-SG" sz="1600" kern="1200" dirty="0" err="1"/>
            <a:t>practicals</a:t>
          </a:r>
          <a:r>
            <a:rPr lang="en-SG" sz="1600" kern="1200" dirty="0"/>
            <a:t> and assignment. Although you may use the lap computer for your work, personal laptop is strongly recommended.</a:t>
          </a:r>
        </a:p>
        <a:p>
          <a:pPr marL="0" lvl="0" indent="0" algn="l" defTabSz="711200">
            <a:lnSpc>
              <a:spcPct val="90000"/>
            </a:lnSpc>
            <a:spcBef>
              <a:spcPct val="0"/>
            </a:spcBef>
            <a:spcAft>
              <a:spcPct val="35000"/>
            </a:spcAft>
            <a:buNone/>
          </a:pPr>
          <a:r>
            <a:rPr lang="en-SG" sz="1600" kern="1200" dirty="0">
              <a:hlinkClick xmlns:r="http://schemas.openxmlformats.org/officeDocument/2006/relationships" r:id="rId2"/>
            </a:rPr>
            <a:t>http://www.wampserver.com/en/</a:t>
          </a:r>
          <a:r>
            <a:rPr lang="en-SG" sz="1600" kern="1200" dirty="0"/>
            <a:t> </a:t>
          </a:r>
        </a:p>
      </dsp:txBody>
      <dsp:txXfrm>
        <a:off x="1545590" y="1746249"/>
        <a:ext cx="5388610" cy="1587499"/>
      </dsp:txXfrm>
    </dsp:sp>
    <dsp:sp modelId="{B77C6595-2A4F-4E3E-84D4-9D95C8CEE83D}">
      <dsp:nvSpPr>
        <dsp:cNvPr id="0" name=""/>
        <dsp:cNvSpPr/>
      </dsp:nvSpPr>
      <dsp:spPr>
        <a:xfrm>
          <a:off x="158750" y="1905000"/>
          <a:ext cx="1386840" cy="1269999"/>
        </a:xfrm>
        <a:prstGeom prst="roundRect">
          <a:avLst>
            <a:gd name="adj" fmla="val 10000"/>
          </a:avLst>
        </a:prstGeom>
        <a:blipFill rotWithShape="0">
          <a:blip xmlns:r="http://schemas.openxmlformats.org/officeDocument/2006/relationships" r:embed="rId3"/>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16A031B-F5ED-4F20-91BA-A2ED90B81A14}">
      <dsp:nvSpPr>
        <dsp:cNvPr id="0" name=""/>
        <dsp:cNvSpPr/>
      </dsp:nvSpPr>
      <dsp:spPr>
        <a:xfrm>
          <a:off x="0" y="3492500"/>
          <a:ext cx="6934200" cy="15874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You are encouraged to visit graphic websites to help create content that will be useful for your assignment or websites.</a:t>
          </a:r>
        </a:p>
        <a:p>
          <a:pPr marL="0" lvl="0" indent="0" algn="l" defTabSz="711200">
            <a:lnSpc>
              <a:spcPct val="90000"/>
            </a:lnSpc>
            <a:spcBef>
              <a:spcPct val="0"/>
            </a:spcBef>
            <a:spcAft>
              <a:spcPct val="35000"/>
            </a:spcAft>
            <a:buNone/>
          </a:pPr>
          <a:r>
            <a:rPr lang="en-US" sz="1600" kern="1200" dirty="0" err="1"/>
            <a:t>Eg</a:t>
          </a:r>
          <a:r>
            <a:rPr lang="en-US" sz="1600" kern="1200" dirty="0"/>
            <a:t>. Canva.com</a:t>
          </a:r>
        </a:p>
        <a:p>
          <a:pPr marL="0" lvl="0" indent="0" algn="l" defTabSz="711200">
            <a:lnSpc>
              <a:spcPct val="90000"/>
            </a:lnSpc>
            <a:spcBef>
              <a:spcPct val="0"/>
            </a:spcBef>
            <a:spcAft>
              <a:spcPct val="35000"/>
            </a:spcAft>
            <a:buNone/>
          </a:pPr>
          <a:endParaRPr lang="en-SG" sz="1600" kern="1200" dirty="0"/>
        </a:p>
      </dsp:txBody>
      <dsp:txXfrm>
        <a:off x="1545590" y="3492500"/>
        <a:ext cx="5388610" cy="1587499"/>
      </dsp:txXfrm>
    </dsp:sp>
    <dsp:sp modelId="{F33011CE-58AF-4C0E-8234-B8D195AA71A8}">
      <dsp:nvSpPr>
        <dsp:cNvPr id="0" name=""/>
        <dsp:cNvSpPr/>
      </dsp:nvSpPr>
      <dsp:spPr>
        <a:xfrm>
          <a:off x="158750" y="3651250"/>
          <a:ext cx="1386840" cy="1269999"/>
        </a:xfrm>
        <a:prstGeom prst="roundRect">
          <a:avLst>
            <a:gd name="adj" fmla="val 10000"/>
          </a:avLst>
        </a:prstGeom>
        <a:blipFill rotWithShape="0">
          <a:blip xmlns:r="http://schemas.openxmlformats.org/officeDocument/2006/relationships" r:embed="rId4"/>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549A55-9EEF-4594-815C-66B8FE14AD0A}">
      <dsp:nvSpPr>
        <dsp:cNvPr id="0" name=""/>
        <dsp:cNvSpPr/>
      </dsp:nvSpPr>
      <dsp:spPr>
        <a:xfrm>
          <a:off x="0" y="0"/>
          <a:ext cx="6934200" cy="11807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hlinkClick xmlns:r="http://schemas.openxmlformats.org/officeDocument/2006/relationships" r:id="rId1"/>
            </a:rPr>
            <a:t>https://www.w3schools.com/html/default.asp</a:t>
          </a:r>
          <a:endParaRPr lang="en-US" sz="1400" b="1" kern="1200"/>
        </a:p>
        <a:p>
          <a:pPr marL="0" lvl="0" indent="0" algn="l" defTabSz="622300">
            <a:lnSpc>
              <a:spcPct val="90000"/>
            </a:lnSpc>
            <a:spcBef>
              <a:spcPct val="0"/>
            </a:spcBef>
            <a:spcAft>
              <a:spcPct val="35000"/>
            </a:spcAft>
            <a:buNone/>
          </a:pPr>
          <a:r>
            <a:rPr lang="en-SG" sz="1400" b="1" i="0" kern="1200"/>
            <a:t>html5demos.com</a:t>
          </a:r>
          <a:r>
            <a:rPr lang="en-SG" sz="1400" b="1" i="0" kern="1200" dirty="0"/>
            <a:t>/</a:t>
          </a:r>
        </a:p>
        <a:p>
          <a:pPr marL="0" lvl="0" indent="0" algn="l" defTabSz="622300">
            <a:lnSpc>
              <a:spcPct val="90000"/>
            </a:lnSpc>
            <a:spcBef>
              <a:spcPct val="0"/>
            </a:spcBef>
            <a:spcAft>
              <a:spcPct val="35000"/>
            </a:spcAft>
            <a:buNone/>
          </a:pPr>
          <a:r>
            <a:rPr lang="en-SG" sz="1400" b="1" i="0" kern="1200" dirty="0"/>
            <a:t>www.html5rocks.com/</a:t>
          </a:r>
        </a:p>
        <a:p>
          <a:pPr marL="0" lvl="0" indent="0" algn="l" defTabSz="622300">
            <a:lnSpc>
              <a:spcPct val="90000"/>
            </a:lnSpc>
            <a:spcBef>
              <a:spcPct val="0"/>
            </a:spcBef>
            <a:spcAft>
              <a:spcPct val="35000"/>
            </a:spcAft>
            <a:buNone/>
          </a:pPr>
          <a:r>
            <a:rPr lang="en-SG" sz="1400" kern="1200" dirty="0"/>
            <a:t> </a:t>
          </a:r>
        </a:p>
      </dsp:txBody>
      <dsp:txXfrm>
        <a:off x="1504910" y="0"/>
        <a:ext cx="5429289" cy="1180703"/>
      </dsp:txXfrm>
    </dsp:sp>
    <dsp:sp modelId="{F0176F16-6525-4490-A3E3-DEF688736207}">
      <dsp:nvSpPr>
        <dsp:cNvPr id="0" name=""/>
        <dsp:cNvSpPr/>
      </dsp:nvSpPr>
      <dsp:spPr>
        <a:xfrm>
          <a:off x="312193" y="118070"/>
          <a:ext cx="998594" cy="944562"/>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3823563-04B1-476B-89B6-25D788597C9A}">
      <dsp:nvSpPr>
        <dsp:cNvPr id="0" name=""/>
        <dsp:cNvSpPr/>
      </dsp:nvSpPr>
      <dsp:spPr>
        <a:xfrm>
          <a:off x="0" y="1295396"/>
          <a:ext cx="6934200" cy="11807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rgbClr val="FFFF00"/>
              </a:solidFill>
              <a:hlinkClick xmlns:r="http://schemas.openxmlformats.org/officeDocument/2006/relationships" r:id="rId3"/>
            </a:rPr>
            <a:t>https://www.w3schools.com/Css/</a:t>
          </a:r>
          <a:endParaRPr lang="en-US" sz="1800" b="1" kern="1200" dirty="0">
            <a:solidFill>
              <a:srgbClr val="FFFF00"/>
            </a:solidFill>
          </a:endParaRPr>
        </a:p>
        <a:p>
          <a:pPr marL="0" lvl="0" indent="0" algn="l" defTabSz="800100">
            <a:lnSpc>
              <a:spcPct val="90000"/>
            </a:lnSpc>
            <a:spcBef>
              <a:spcPct val="0"/>
            </a:spcBef>
            <a:spcAft>
              <a:spcPct val="35000"/>
            </a:spcAft>
            <a:buNone/>
          </a:pPr>
          <a:r>
            <a:rPr lang="en-SG" sz="1400" b="1" kern="1200" dirty="0"/>
            <a:t>http://blog.teamtreehouse.com/30-essential-css3-resources</a:t>
          </a:r>
        </a:p>
        <a:p>
          <a:pPr marL="0" lvl="0" indent="0" algn="l" defTabSz="800100">
            <a:lnSpc>
              <a:spcPct val="90000"/>
            </a:lnSpc>
            <a:spcBef>
              <a:spcPct val="0"/>
            </a:spcBef>
            <a:spcAft>
              <a:spcPct val="35000"/>
            </a:spcAft>
            <a:buNone/>
          </a:pPr>
          <a:endParaRPr lang="en-SG" sz="1400" b="1" kern="1200" dirty="0"/>
        </a:p>
      </dsp:txBody>
      <dsp:txXfrm>
        <a:off x="1504910" y="1295396"/>
        <a:ext cx="5429289" cy="1180703"/>
      </dsp:txXfrm>
    </dsp:sp>
    <dsp:sp modelId="{B77C6595-2A4F-4E3E-84D4-9D95C8CEE83D}">
      <dsp:nvSpPr>
        <dsp:cNvPr id="0" name=""/>
        <dsp:cNvSpPr/>
      </dsp:nvSpPr>
      <dsp:spPr>
        <a:xfrm>
          <a:off x="312193" y="1416843"/>
          <a:ext cx="998594" cy="944562"/>
        </a:xfrm>
        <a:prstGeom prst="roundRect">
          <a:avLst>
            <a:gd name="adj" fmla="val 10000"/>
          </a:avLst>
        </a:prstGeom>
        <a:blipFill rotWithShape="0">
          <a:blip xmlns:r="http://schemas.openxmlformats.org/officeDocument/2006/relationships" r:embed="rId4"/>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16A031B-F5ED-4F20-91BA-A2ED90B81A14}">
      <dsp:nvSpPr>
        <dsp:cNvPr id="0" name=""/>
        <dsp:cNvSpPr/>
      </dsp:nvSpPr>
      <dsp:spPr>
        <a:xfrm>
          <a:off x="0" y="2597546"/>
          <a:ext cx="6934200" cy="11807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rgbClr val="FFFF00"/>
              </a:solidFill>
              <a:hlinkClick xmlns:r="http://schemas.openxmlformats.org/officeDocument/2006/relationships" r:id="rId5"/>
            </a:rPr>
            <a:t>https://www.w3schools.com/php/default.asp</a:t>
          </a:r>
          <a:endParaRPr lang="en-US" sz="1800" b="1" kern="1200" dirty="0">
            <a:solidFill>
              <a:srgbClr val="FFFF00"/>
            </a:solidFill>
          </a:endParaRPr>
        </a:p>
        <a:p>
          <a:pPr marL="0" lvl="0" indent="0" algn="l" defTabSz="800100">
            <a:lnSpc>
              <a:spcPct val="90000"/>
            </a:lnSpc>
            <a:spcBef>
              <a:spcPct val="0"/>
            </a:spcBef>
            <a:spcAft>
              <a:spcPct val="35000"/>
            </a:spcAft>
            <a:buNone/>
          </a:pPr>
          <a:r>
            <a:rPr lang="en-SG" sz="1400" b="1" kern="1200" dirty="0"/>
            <a:t>http://jquerymobile.com/resources/</a:t>
          </a:r>
        </a:p>
        <a:p>
          <a:pPr marL="0" lvl="0" indent="0" algn="l" defTabSz="800100">
            <a:lnSpc>
              <a:spcPct val="90000"/>
            </a:lnSpc>
            <a:spcBef>
              <a:spcPct val="0"/>
            </a:spcBef>
            <a:spcAft>
              <a:spcPct val="35000"/>
            </a:spcAft>
            <a:buNone/>
          </a:pPr>
          <a:r>
            <a:rPr lang="en-SG" sz="1400" b="1" kern="1200" dirty="0"/>
            <a:t>http://www.hotscripts.com/category/scripts/php</a:t>
          </a:r>
          <a:r>
            <a:rPr lang="en-SG" sz="1400" b="1" kern="1200" dirty="0">
              <a:hlinkClick xmlns:r="http://schemas.openxmlformats.org/officeDocument/2006/relationships" r:id="rId6"/>
            </a:rPr>
            <a:t>/</a:t>
          </a:r>
          <a:endParaRPr lang="en-SG" sz="1400" b="1" kern="1200" dirty="0"/>
        </a:p>
      </dsp:txBody>
      <dsp:txXfrm>
        <a:off x="1504910" y="2597546"/>
        <a:ext cx="5429289" cy="1180703"/>
      </dsp:txXfrm>
    </dsp:sp>
    <dsp:sp modelId="{F33011CE-58AF-4C0E-8234-B8D195AA71A8}">
      <dsp:nvSpPr>
        <dsp:cNvPr id="0" name=""/>
        <dsp:cNvSpPr/>
      </dsp:nvSpPr>
      <dsp:spPr>
        <a:xfrm>
          <a:off x="312193" y="2715617"/>
          <a:ext cx="998594" cy="944562"/>
        </a:xfrm>
        <a:prstGeom prst="roundRect">
          <a:avLst>
            <a:gd name="adj" fmla="val 10000"/>
          </a:avLst>
        </a:prstGeom>
        <a:blipFill rotWithShape="0">
          <a:blip xmlns:r="http://schemas.openxmlformats.org/officeDocument/2006/relationships" r:embed="rId7"/>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B45FDA2-0574-44FD-BBC2-E4128CB9EB87}">
      <dsp:nvSpPr>
        <dsp:cNvPr id="0" name=""/>
        <dsp:cNvSpPr/>
      </dsp:nvSpPr>
      <dsp:spPr>
        <a:xfrm>
          <a:off x="0" y="3886201"/>
          <a:ext cx="6934200" cy="11807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HTML 5 – Designing Rich Internet Applications, Matthew David, OT, </a:t>
          </a:r>
          <a:endParaRPr lang="en-SG" sz="1400" b="1" kern="1200" dirty="0"/>
        </a:p>
        <a:p>
          <a:pPr marL="57150" lvl="1" indent="-57150" algn="l" defTabSz="488950">
            <a:lnSpc>
              <a:spcPct val="90000"/>
            </a:lnSpc>
            <a:spcBef>
              <a:spcPct val="0"/>
            </a:spcBef>
            <a:spcAft>
              <a:spcPct val="15000"/>
            </a:spcAft>
            <a:buChar char="•"/>
          </a:pPr>
          <a:r>
            <a:rPr lang="en-US" sz="1100" b="1" kern="1200" dirty="0"/>
            <a:t>Pro HTML5 and CSS3 Design </a:t>
          </a:r>
          <a:r>
            <a:rPr lang="en-US" sz="1100" b="1" kern="1200" dirty="0" err="1"/>
            <a:t>PAtterns</a:t>
          </a:r>
          <a:r>
            <a:rPr lang="en-US" sz="1100" b="1" kern="1200" dirty="0"/>
            <a:t>, OT, 2011, B</a:t>
          </a:r>
          <a:endParaRPr lang="en-SG" sz="1100" b="1" kern="1200" dirty="0"/>
        </a:p>
        <a:p>
          <a:pPr marL="57150" lvl="1" indent="-57150" algn="l" defTabSz="488950">
            <a:lnSpc>
              <a:spcPct val="90000"/>
            </a:lnSpc>
            <a:spcBef>
              <a:spcPct val="0"/>
            </a:spcBef>
            <a:spcAft>
              <a:spcPct val="15000"/>
            </a:spcAft>
            <a:buChar char="•"/>
          </a:pPr>
          <a:r>
            <a:rPr lang="en-US" sz="1100" b="1" kern="1200" dirty="0"/>
            <a:t>Mobile HTML 5, Estelle </a:t>
          </a:r>
          <a:r>
            <a:rPr lang="en-US" sz="1100" b="1" kern="1200" dirty="0" err="1"/>
            <a:t>Weyl</a:t>
          </a:r>
          <a:r>
            <a:rPr lang="en-US" sz="1100" b="1" kern="1200" dirty="0"/>
            <a:t>, OT, 2012</a:t>
          </a:r>
          <a:endParaRPr lang="en-SG" sz="1100" b="1" kern="1200" dirty="0"/>
        </a:p>
        <a:p>
          <a:pPr marL="57150" lvl="1" indent="-57150" algn="l" defTabSz="488950">
            <a:lnSpc>
              <a:spcPct val="90000"/>
            </a:lnSpc>
            <a:spcBef>
              <a:spcPct val="0"/>
            </a:spcBef>
            <a:spcAft>
              <a:spcPct val="15000"/>
            </a:spcAft>
            <a:buChar char="•"/>
          </a:pPr>
          <a:r>
            <a:rPr lang="en-US" sz="1100" b="1" kern="1200" dirty="0" err="1"/>
            <a:t>JavasScript</a:t>
          </a:r>
          <a:r>
            <a:rPr lang="en-US" sz="1100" b="1" kern="1200" dirty="0"/>
            <a:t> &amp; </a:t>
          </a:r>
          <a:r>
            <a:rPr lang="en-US" sz="1100" b="1" kern="1200" dirty="0" err="1"/>
            <a:t>JQuery</a:t>
          </a:r>
          <a:r>
            <a:rPr lang="en-US" sz="1100" b="1" kern="1200" dirty="0"/>
            <a:t> : The Missing Manual  David Sawyer McFarland, OT, 2011, B</a:t>
          </a:r>
          <a:endParaRPr lang="en-SG" sz="1100" b="1" kern="1200" dirty="0"/>
        </a:p>
      </dsp:txBody>
      <dsp:txXfrm>
        <a:off x="1504910" y="3886201"/>
        <a:ext cx="5429289" cy="1180703"/>
      </dsp:txXfrm>
    </dsp:sp>
    <dsp:sp modelId="{08207410-E088-4027-AAFA-12906BED25D4}">
      <dsp:nvSpPr>
        <dsp:cNvPr id="0" name=""/>
        <dsp:cNvSpPr/>
      </dsp:nvSpPr>
      <dsp:spPr>
        <a:xfrm>
          <a:off x="312193" y="4014390"/>
          <a:ext cx="998594" cy="944562"/>
        </a:xfrm>
        <a:prstGeom prst="roundRect">
          <a:avLst>
            <a:gd name="adj" fmla="val 10000"/>
          </a:avLst>
        </a:prstGeom>
        <a:blipFill rotWithShape="0">
          <a:blip xmlns:r="http://schemas.openxmlformats.org/officeDocument/2006/relationships" r:embed="rId8"/>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2">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DB0A14-681B-4549-BB8C-4BD42BF055E8}" type="datetimeFigureOut">
              <a:rPr lang="en-US" smtClean="0"/>
              <a:pPr/>
              <a:t>10/8/2019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3B95CB-9792-46B1-8B63-E325EA9DE95B}" type="slidenum">
              <a:rPr lang="en-US" smtClean="0"/>
              <a:pPr/>
              <a:t>‹#›</a:t>
            </a:fld>
            <a:endParaRPr lang="en-US"/>
          </a:p>
        </p:txBody>
      </p:sp>
    </p:spTree>
    <p:extLst>
      <p:ext uri="{BB962C8B-B14F-4D97-AF65-F5344CB8AC3E}">
        <p14:creationId xmlns:p14="http://schemas.microsoft.com/office/powerpoint/2010/main" val="55775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1</a:t>
            </a:fld>
            <a:endParaRPr lang="en-US"/>
          </a:p>
        </p:txBody>
      </p:sp>
    </p:spTree>
    <p:extLst>
      <p:ext uri="{BB962C8B-B14F-4D97-AF65-F5344CB8AC3E}">
        <p14:creationId xmlns:p14="http://schemas.microsoft.com/office/powerpoint/2010/main" val="2764657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 </a:t>
            </a:r>
            <a:br>
              <a:rPr lang="en-SG" dirty="0"/>
            </a:br>
            <a:r>
              <a:rPr lang="en-SG" dirty="0"/>
              <a:t>.</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Note</a:t>
            </a:r>
            <a:r>
              <a:rPr lang="en-US" baseline="0" dirty="0"/>
              <a:t> you will not be able to access the Fluid Grid Layout for responsive designs as well as some other features if you do not upgrade/purchase Adobe CS6. If you can afford, I suggest you purchase Adobe CS6 or download/borrow a copy for your usage. Otherwise, you have to come to school to create your </a:t>
            </a:r>
            <a:r>
              <a:rPr lang="en-US" baseline="0" dirty="0" err="1"/>
              <a:t>webpages</a:t>
            </a:r>
            <a:r>
              <a:rPr lang="en-US" baseline="0" dirty="0"/>
              <a:t> for your assignments.</a:t>
            </a:r>
          </a:p>
          <a:p>
            <a:endParaRPr lang="en-SG"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10</a:t>
            </a:fld>
            <a:endParaRPr lang="en-US"/>
          </a:p>
        </p:txBody>
      </p:sp>
    </p:spTree>
    <p:extLst>
      <p:ext uri="{BB962C8B-B14F-4D97-AF65-F5344CB8AC3E}">
        <p14:creationId xmlns:p14="http://schemas.microsoft.com/office/powerpoint/2010/main" val="400872888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gif"/><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2130425"/>
            <a:ext cx="7467600" cy="1755775"/>
          </a:xfrm>
        </p:spPr>
        <p:txBody>
          <a:bodyPr>
            <a:noAutofit/>
          </a:bodyPr>
          <a:lstStyle>
            <a:lvl1pPr>
              <a:defRPr sz="6000"/>
            </a:lvl1pPr>
          </a:lstStyle>
          <a:p>
            <a:r>
              <a:rPr lang="en-US" dirty="0"/>
              <a:t>Click to edit Master title style</a:t>
            </a:r>
          </a:p>
        </p:txBody>
      </p:sp>
      <p:sp>
        <p:nvSpPr>
          <p:cNvPr id="3" name="Subtitle 2"/>
          <p:cNvSpPr>
            <a:spLocks noGrp="1"/>
          </p:cNvSpPr>
          <p:nvPr>
            <p:ph type="subTitle" idx="1"/>
          </p:nvPr>
        </p:nvSpPr>
        <p:spPr>
          <a:xfrm>
            <a:off x="685800" y="3886200"/>
            <a:ext cx="74676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r>
              <a:rPr lang="en-US"/>
              <a:t>IT1322 2012 S1</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85136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IT1322 2012 S1</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8811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43000" y="274638"/>
            <a:ext cx="7467600" cy="944562"/>
          </a:xfrm>
        </p:spPr>
        <p:txBody>
          <a:bodyPr/>
          <a:lstStyle/>
          <a:p>
            <a:r>
              <a:rPr lang="en-US"/>
              <a:t>Click to edit Master title style</a:t>
            </a:r>
          </a:p>
        </p:txBody>
      </p:sp>
      <p:sp>
        <p:nvSpPr>
          <p:cNvPr id="3" name="Content Placeholder 2"/>
          <p:cNvSpPr>
            <a:spLocks noGrp="1"/>
          </p:cNvSpPr>
          <p:nvPr>
            <p:ph idx="1"/>
          </p:nvPr>
        </p:nvSpPr>
        <p:spPr>
          <a:xfrm>
            <a:off x="1143000" y="1295400"/>
            <a:ext cx="7467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IT1322 2012 S1</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5870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16"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19200" y="274638"/>
            <a:ext cx="7620000" cy="944562"/>
          </a:xfrm>
        </p:spPr>
        <p:txBody>
          <a:bodyPr/>
          <a:lstStyle/>
          <a:p>
            <a:r>
              <a:rPr lang="en-US"/>
              <a:t>Click to edit Master title style</a:t>
            </a:r>
          </a:p>
        </p:txBody>
      </p:sp>
      <p:sp>
        <p:nvSpPr>
          <p:cNvPr id="3" name="Content Placeholder 2"/>
          <p:cNvSpPr>
            <a:spLocks noGrp="1"/>
          </p:cNvSpPr>
          <p:nvPr>
            <p:ph idx="1"/>
          </p:nvPr>
        </p:nvSpPr>
        <p:spPr>
          <a:xfrm>
            <a:off x="1219200" y="1295400"/>
            <a:ext cx="76200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IT1322 2012 S1</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88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grpSp>
        <p:nvGrpSpPr>
          <p:cNvPr id="25" name="Group 24"/>
          <p:cNvGrpSpPr/>
          <p:nvPr userDrawn="1"/>
        </p:nvGrpSpPr>
        <p:grpSpPr>
          <a:xfrm>
            <a:off x="0" y="887"/>
            <a:ext cx="9324528" cy="7100521"/>
            <a:chOff x="0" y="887"/>
            <a:chExt cx="9324528" cy="7100521"/>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p:cNvPicPr>
            <p:nvPr userDrawn="1"/>
          </p:nvPicPr>
          <p:blipFill>
            <a:blip r:embed="rId4" cstate="print">
              <a:clrChange>
                <a:clrFrom>
                  <a:srgbClr val="FFFFFD"/>
                </a:clrFrom>
                <a:clrTo>
                  <a:srgbClr val="FFFFFD">
                    <a:alpha val="0"/>
                  </a:srgbClr>
                </a:clrTo>
              </a:clrChange>
              <a:extLst>
                <a:ext uri="{28A0092B-C50C-407E-A947-70E740481C1C}">
                  <a14:useLocalDpi xmlns:a14="http://schemas.microsoft.com/office/drawing/2010/main" val="0"/>
                </a:ext>
              </a:extLst>
            </a:blip>
            <a:stretch>
              <a:fillRect/>
            </a:stretch>
          </p:blipFill>
          <p:spPr>
            <a:xfrm>
              <a:off x="7086600" y="6282570"/>
              <a:ext cx="900611" cy="386790"/>
            </a:xfrm>
            <a:prstGeom prst="rect">
              <a:avLst/>
            </a:prstGeom>
          </p:spPr>
        </p:pic>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19200" y="6332899"/>
              <a:ext cx="1428811" cy="286132"/>
            </a:xfrm>
            <a:prstGeom prst="rect">
              <a:avLst/>
            </a:prstGeom>
          </p:spPr>
        </p:pic>
        <p:pic>
          <p:nvPicPr>
            <p:cNvPr id="24" name="Picture 2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495800" y="1493963"/>
              <a:ext cx="4572000" cy="5059237"/>
            </a:xfrm>
            <a:prstGeom prst="rect">
              <a:avLst/>
            </a:prstGeom>
          </p:spPr>
        </p:pic>
      </p:grpSp>
      <p:sp>
        <p:nvSpPr>
          <p:cNvPr id="2" name="Title 1"/>
          <p:cNvSpPr>
            <a:spLocks noGrp="1"/>
          </p:cNvSpPr>
          <p:nvPr>
            <p:ph type="title"/>
          </p:nvPr>
        </p:nvSpPr>
        <p:spPr>
          <a:xfrm>
            <a:off x="1295400" y="274638"/>
            <a:ext cx="7696200" cy="944562"/>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295400" y="1295400"/>
            <a:ext cx="76962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IT1322 2012 S1</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81126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066799" y="4406900"/>
            <a:ext cx="73152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066799" y="2906713"/>
            <a:ext cx="73152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a:t>IT1322 2012 S1</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844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990600" y="1295400"/>
            <a:ext cx="35052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37338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IT1322 2012 S1</a:t>
            </a:r>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19357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90600" y="1295400"/>
            <a:ext cx="3506788"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90600" y="2133600"/>
            <a:ext cx="3506788"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3736975"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33600"/>
            <a:ext cx="3736975"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IT1322 2012 S1</a:t>
            </a:r>
          </a:p>
        </p:txBody>
      </p:sp>
      <p:sp>
        <p:nvSpPr>
          <p:cNvPr id="9" name="Slide Number Placeholder 8"/>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32287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IT1322 2012 S1</a:t>
            </a:r>
          </a:p>
        </p:txBody>
      </p:sp>
      <p:sp>
        <p:nvSpPr>
          <p:cNvPr id="5" name="Slide Number Placeholder 4"/>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4333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IT1322 2012 S1</a:t>
            </a:r>
          </a:p>
        </p:txBody>
      </p:sp>
      <p:sp>
        <p:nvSpPr>
          <p:cNvPr id="4" name="Slide Number Placeholder 3"/>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53367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0600" y="273050"/>
            <a:ext cx="2474913" cy="946150"/>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73050"/>
            <a:ext cx="48069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90600" y="1295400"/>
            <a:ext cx="2474913" cy="4830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IT1322 2012 S1</a:t>
            </a:r>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833701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IT1322 2012 S1</a:t>
            </a:r>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66675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IT1322 2012 S1</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08759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IT1322 2012 S1</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82029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16" cstate="print">
            <a:biLevel thresh="75000"/>
            <a:extLst>
              <a:ext uri="{BEBA8EAE-BF5A-486C-A8C5-ECC9F3942E4B}">
                <a14:imgProps xmlns:a14="http://schemas.microsoft.com/office/drawing/2010/main">
                  <a14:imgLayer r:embed="rId17">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86620" y="274638"/>
            <a:ext cx="7395380" cy="9445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86620" y="1295400"/>
            <a:ext cx="7395380" cy="4876800"/>
          </a:xfrm>
          <a:prstGeom prst="rect">
            <a:avLst/>
          </a:prstGeom>
        </p:spPr>
        <p:txBody>
          <a:bodyPr vert="horz" lIns="91440" tIns="45720" rIns="91440" bIns="45720" rtlCol="0">
            <a:normAutofit/>
          </a:bodyPr>
          <a:lstStyle/>
          <a:p>
            <a:pPr lvl="0"/>
            <a:r>
              <a:rPr lang="en-US" dirty="0"/>
              <a:t>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124200" y="6356351"/>
            <a:ext cx="2895600" cy="31301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IT1322 2012 S1</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24466-CF14-4098-A57E-6BA1C4EB8FEB}" type="slidenum">
              <a:rPr lang="en-US" smtClean="0"/>
              <a:pPr/>
              <a:t>‹#›</a:t>
            </a:fld>
            <a:endParaRPr lang="en-US"/>
          </a:p>
        </p:txBody>
      </p:sp>
    </p:spTree>
    <p:extLst>
      <p:ext uri="{BB962C8B-B14F-4D97-AF65-F5344CB8AC3E}">
        <p14:creationId xmlns:p14="http://schemas.microsoft.com/office/powerpoint/2010/main" val="3084382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dt="0"/>
  <p:txStyles>
    <p:titleStyle>
      <a:lvl1pPr algn="l"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mailto:teh_ah_hock@nyp.edu.sg" TargetMode="Externa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8.xml"/><Relationship Id="rId7" Type="http://schemas.openxmlformats.org/officeDocument/2006/relationships/diagramColors" Target="../diagrams/colors1.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a:t>IT1322 – Principles of Web Usability Design</a:t>
            </a:r>
          </a:p>
        </p:txBody>
      </p:sp>
      <p:sp>
        <p:nvSpPr>
          <p:cNvPr id="3" name="Subtitle 2"/>
          <p:cNvSpPr>
            <a:spLocks noGrp="1"/>
          </p:cNvSpPr>
          <p:nvPr>
            <p:ph type="subTitle" idx="1"/>
          </p:nvPr>
        </p:nvSpPr>
        <p:spPr>
          <a:xfrm>
            <a:off x="990600" y="3048000"/>
            <a:ext cx="7467600" cy="1752600"/>
          </a:xfrm>
        </p:spPr>
        <p:txBody>
          <a:bodyPr/>
          <a:lstStyle/>
          <a:p>
            <a:r>
              <a:rPr lang="en-US" dirty="0"/>
              <a:t>Module Briefing</a:t>
            </a:r>
          </a:p>
        </p:txBody>
      </p:sp>
      <p:sp>
        <p:nvSpPr>
          <p:cNvPr id="4" name="Title 1"/>
          <p:cNvSpPr txBox="1">
            <a:spLocks/>
          </p:cNvSpPr>
          <p:nvPr/>
        </p:nvSpPr>
        <p:spPr>
          <a:xfrm>
            <a:off x="838200" y="533400"/>
            <a:ext cx="7395380" cy="944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6000" b="1" kern="1200">
                <a:solidFill>
                  <a:schemeClr val="bg1"/>
                </a:solidFill>
                <a:latin typeface="+mj-lt"/>
                <a:ea typeface="+mj-ea"/>
                <a:cs typeface="+mj-cs"/>
              </a:defRPr>
            </a:lvl1pPr>
          </a:lstStyle>
          <a:p>
            <a:r>
              <a:rPr lang="en-US" sz="3200"/>
              <a:t>Rich Internet Application Development  </a:t>
            </a:r>
            <a:br>
              <a:rPr lang="en-SG" sz="3200"/>
            </a:br>
            <a:endParaRPr lang="en-US" sz="3200" dirty="0"/>
          </a:p>
        </p:txBody>
      </p:sp>
    </p:spTree>
    <p:custDataLst>
      <p:tags r:id="rId1"/>
    </p:custDataLst>
    <p:extLst>
      <p:ext uri="{BB962C8B-B14F-4D97-AF65-F5344CB8AC3E}">
        <p14:creationId xmlns:p14="http://schemas.microsoft.com/office/powerpoint/2010/main" val="1280801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3400"/>
            <a:ext cx="7395380" cy="944562"/>
          </a:xfrm>
        </p:spPr>
        <p:txBody>
          <a:bodyPr>
            <a:noAutofit/>
          </a:bodyPr>
          <a:lstStyle/>
          <a:p>
            <a:r>
              <a:rPr lang="en-US" sz="3200" dirty="0"/>
              <a:t>Rich Internet Application Development  </a:t>
            </a:r>
            <a:br>
              <a:rPr lang="en-SG" sz="3200" dirty="0"/>
            </a:br>
            <a:endParaRPr lang="en-US" sz="3200" dirty="0"/>
          </a:p>
        </p:txBody>
      </p:sp>
      <p:sp>
        <p:nvSpPr>
          <p:cNvPr id="3" name="Content Placeholder 2"/>
          <p:cNvSpPr>
            <a:spLocks noGrp="1"/>
          </p:cNvSpPr>
          <p:nvPr>
            <p:ph idx="1"/>
          </p:nvPr>
        </p:nvSpPr>
        <p:spPr>
          <a:xfrm>
            <a:off x="1000474" y="1828800"/>
            <a:ext cx="7395380" cy="2667000"/>
          </a:xfrm>
        </p:spPr>
        <p:txBody>
          <a:bodyPr>
            <a:noAutofit/>
          </a:bodyPr>
          <a:lstStyle/>
          <a:p>
            <a:r>
              <a:rPr lang="en-US" dirty="0"/>
              <a:t>This module equips students with the capability to develop Rich Internet Applications (RIA) which enables the deployment of rich Web applications over the internet with the media rich power of the traditional desktop. Students will learn how to develop RIA applications targeted for multiple platforms such as mobile and rich web applications incorporating HTML5/CSS3  </a:t>
            </a:r>
            <a:endParaRPr lang="en-SG" dirty="0"/>
          </a:p>
          <a:p>
            <a:pPr lvl="1">
              <a:spcAft>
                <a:spcPts val="1000"/>
              </a:spcAft>
            </a:pPr>
            <a:endParaRPr lang="en-US" dirty="0"/>
          </a:p>
        </p:txBody>
      </p:sp>
      <p:pic>
        <p:nvPicPr>
          <p:cNvPr id="1026" name="Picture 2" descr="http://4.bp.blogspot.com/-qFCNef4gmmk/TwPbWT49DuI/AAAAAAAAAOc/ytx0uCWKfls/s320/HTML5_Logo_51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96201" y="685800"/>
            <a:ext cx="1447799" cy="14478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A6724466-CF14-4098-A57E-6BA1C4EB8FEB}" type="slidenum">
              <a:rPr lang="en-US" smtClean="0"/>
              <a:pPr/>
              <a:t>2</a:t>
            </a:fld>
            <a:endParaRPr lang="en-US"/>
          </a:p>
        </p:txBody>
      </p:sp>
    </p:spTree>
    <p:custDataLst>
      <p:tags r:id="rId1"/>
    </p:custDataLst>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524000"/>
            <a:ext cx="7395380" cy="2667000"/>
          </a:xfrm>
        </p:spPr>
        <p:txBody>
          <a:bodyPr>
            <a:noAutofit/>
          </a:bodyPr>
          <a:lstStyle/>
          <a:p>
            <a:r>
              <a:rPr lang="en-US" dirty="0"/>
              <a:t>Lecture (15)	Practical (45)	Tutorial (0)</a:t>
            </a:r>
            <a:endParaRPr lang="en-SG" dirty="0"/>
          </a:p>
          <a:p>
            <a:pPr lvl="1">
              <a:spcAft>
                <a:spcPts val="1000"/>
              </a:spcAft>
            </a:pPr>
            <a:r>
              <a:rPr lang="en-US" dirty="0"/>
              <a:t>1* hour Lecture (TUE 12-1pm LTL2) +</a:t>
            </a:r>
          </a:p>
          <a:p>
            <a:pPr lvl="1">
              <a:spcAft>
                <a:spcPts val="1000"/>
              </a:spcAft>
            </a:pPr>
            <a:r>
              <a:rPr lang="en-US" dirty="0"/>
              <a:t>  3 HRs Practical (In the classrooms) </a:t>
            </a:r>
          </a:p>
          <a:p>
            <a:pPr lvl="1">
              <a:spcAft>
                <a:spcPts val="1000"/>
              </a:spcAft>
            </a:pPr>
            <a:r>
              <a:rPr lang="en-US" dirty="0"/>
              <a:t>(Total = 4 </a:t>
            </a:r>
            <a:r>
              <a:rPr lang="en-US" dirty="0" err="1"/>
              <a:t>hrs</a:t>
            </a:r>
            <a:r>
              <a:rPr lang="en-US" dirty="0"/>
              <a:t> Weekly)</a:t>
            </a:r>
          </a:p>
          <a:p>
            <a:pPr lvl="1">
              <a:spcAft>
                <a:spcPts val="1000"/>
              </a:spcAft>
            </a:pPr>
            <a:r>
              <a:rPr lang="en-US" dirty="0"/>
              <a:t>Some Self Directed Learning Hours (E-Learning) </a:t>
            </a:r>
          </a:p>
          <a:p>
            <a:pPr lvl="1">
              <a:spcAft>
                <a:spcPts val="1000"/>
              </a:spcAft>
            </a:pPr>
            <a:r>
              <a:rPr lang="en-US" dirty="0"/>
              <a:t>Blackboard will be used for delivery, download of lecture and </a:t>
            </a:r>
            <a:r>
              <a:rPr lang="en-US" dirty="0" err="1"/>
              <a:t>practicals</a:t>
            </a:r>
            <a:endParaRPr lang="en-US" dirty="0"/>
          </a:p>
          <a:p>
            <a:pPr marL="457200" lvl="1" indent="0">
              <a:spcAft>
                <a:spcPts val="1000"/>
              </a:spcAft>
              <a:buNone/>
            </a:pPr>
            <a:endParaRPr lang="en-US" dirty="0"/>
          </a:p>
        </p:txBody>
      </p:sp>
      <p:pic>
        <p:nvPicPr>
          <p:cNvPr id="1026" name="Picture 2" descr="http://4.bp.blogspot.com/-qFCNef4gmmk/TwPbWT49DuI/AAAAAAAAAOc/ytx0uCWKfls/s320/HTML5_Logo_51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67600" y="228600"/>
            <a:ext cx="1447799" cy="14478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A6724466-CF14-4098-A57E-6BA1C4EB8FEB}" type="slidenum">
              <a:rPr lang="en-US" smtClean="0"/>
              <a:pPr/>
              <a:t>3</a:t>
            </a:fld>
            <a:endParaRPr lang="en-US"/>
          </a:p>
        </p:txBody>
      </p:sp>
      <p:sp>
        <p:nvSpPr>
          <p:cNvPr id="8" name="Title 1"/>
          <p:cNvSpPr>
            <a:spLocks noGrp="1"/>
          </p:cNvSpPr>
          <p:nvPr>
            <p:ph type="title"/>
          </p:nvPr>
        </p:nvSpPr>
        <p:spPr>
          <a:xfrm>
            <a:off x="838200" y="533400"/>
            <a:ext cx="7395380" cy="944562"/>
          </a:xfrm>
        </p:spPr>
        <p:txBody>
          <a:bodyPr>
            <a:noAutofit/>
          </a:bodyPr>
          <a:lstStyle/>
          <a:p>
            <a:r>
              <a:rPr lang="en-US" sz="3200" dirty="0"/>
              <a:t>RIA Module Structure</a:t>
            </a:r>
            <a:br>
              <a:rPr lang="en-SG" sz="3200" dirty="0"/>
            </a:br>
            <a:endParaRPr lang="en-US" sz="3200" dirty="0"/>
          </a:p>
        </p:txBody>
      </p:sp>
    </p:spTree>
    <p:custDataLst>
      <p:tags r:id="rId1"/>
    </p:custDataLst>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Expectations</a:t>
            </a:r>
          </a:p>
        </p:txBody>
      </p:sp>
      <p:pic>
        <p:nvPicPr>
          <p:cNvPr id="1026" name="Picture 2" descr="http://4.bp.blogspot.com/-qFCNef4gmmk/TwPbWT49DuI/AAAAAAAAAOc/ytx0uCWKfls/s320/HTML5_Logo_51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34200" y="381000"/>
            <a:ext cx="1447799" cy="14478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A6724466-CF14-4098-A57E-6BA1C4EB8FEB}" type="slidenum">
              <a:rPr lang="en-US" smtClean="0"/>
              <a:pPr/>
              <a:t>4</a:t>
            </a:fld>
            <a:endParaRPr lang="en-US"/>
          </a:p>
        </p:txBody>
      </p:sp>
      <p:sp>
        <p:nvSpPr>
          <p:cNvPr id="6" name="Content Placeholder 5"/>
          <p:cNvSpPr>
            <a:spLocks noGrp="1"/>
          </p:cNvSpPr>
          <p:nvPr>
            <p:ph idx="1"/>
          </p:nvPr>
        </p:nvSpPr>
        <p:spPr>
          <a:xfrm>
            <a:off x="914400" y="1600200"/>
            <a:ext cx="7547780" cy="4953000"/>
          </a:xfrm>
        </p:spPr>
        <p:txBody>
          <a:bodyPr>
            <a:normAutofit/>
          </a:bodyPr>
          <a:lstStyle/>
          <a:p>
            <a:r>
              <a:rPr lang="en-GB" sz="2600" dirty="0"/>
              <a:t>Show up for lectures and </a:t>
            </a:r>
            <a:r>
              <a:rPr lang="en-GB" sz="2600" dirty="0" err="1"/>
              <a:t>practicals</a:t>
            </a:r>
            <a:r>
              <a:rPr lang="en-GB" sz="2600" dirty="0"/>
              <a:t> </a:t>
            </a:r>
            <a:r>
              <a:rPr lang="en-GB" sz="2600" b="1" i="1" dirty="0"/>
              <a:t>on time</a:t>
            </a:r>
          </a:p>
          <a:p>
            <a:r>
              <a:rPr lang="en-GB" sz="2600" dirty="0"/>
              <a:t>Be conscientious:</a:t>
            </a:r>
          </a:p>
          <a:p>
            <a:pPr lvl="1"/>
            <a:r>
              <a:rPr lang="en-GB" sz="2200" dirty="0"/>
              <a:t>Do practical assignments, be consistent</a:t>
            </a:r>
          </a:p>
          <a:p>
            <a:pPr lvl="1"/>
            <a:r>
              <a:rPr lang="en-GB" sz="2200" dirty="0"/>
              <a:t>Your tutor may check if you have done your labs anytime</a:t>
            </a:r>
          </a:p>
          <a:p>
            <a:pPr lvl="1"/>
            <a:r>
              <a:rPr lang="en-GB" sz="2200" dirty="0"/>
              <a:t>Do your e-learning in your free time</a:t>
            </a:r>
          </a:p>
          <a:p>
            <a:r>
              <a:rPr lang="en-GB" sz="2600" dirty="0"/>
              <a:t>If you miss a  practical lab, take the initiative to attend a make-up session or Finish the practical at home</a:t>
            </a:r>
          </a:p>
          <a:p>
            <a:pPr lvl="1"/>
            <a:r>
              <a:rPr lang="en-GB" sz="2200" dirty="0"/>
              <a:t>Refer to schedule on timetable system</a:t>
            </a:r>
          </a:p>
          <a:p>
            <a:pPr lvl="1"/>
            <a:endParaRPr lang="en-GB" sz="2200" dirty="0"/>
          </a:p>
          <a:p>
            <a:pPr lvl="1">
              <a:buNone/>
            </a:pPr>
            <a:endParaRPr lang="en-GB" sz="2200" dirty="0"/>
          </a:p>
          <a:p>
            <a:endParaRPr lang="en-SG" dirty="0"/>
          </a:p>
        </p:txBody>
      </p:sp>
    </p:spTree>
    <p:custDataLst>
      <p:tags r:id="rId1"/>
    </p:custDataLst>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Schedule and Score Distribution</a:t>
            </a:r>
          </a:p>
        </p:txBody>
      </p:sp>
      <p:pic>
        <p:nvPicPr>
          <p:cNvPr id="1026" name="Picture 2" descr="http://4.bp.blogspot.com/-qFCNef4gmmk/TwPbWT49DuI/AAAAAAAAAOc/ytx0uCWKfls/s320/HTML5_Logo_51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34200" y="381000"/>
            <a:ext cx="1447799" cy="14478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A6724466-CF14-4098-A57E-6BA1C4EB8FEB}" type="slidenum">
              <a:rPr lang="en-US" smtClean="0"/>
              <a:pPr/>
              <a:t>5</a:t>
            </a:fld>
            <a:endParaRPr lang="en-US"/>
          </a:p>
        </p:txBody>
      </p:sp>
      <p:graphicFrame>
        <p:nvGraphicFramePr>
          <p:cNvPr id="12" name="Group 127"/>
          <p:cNvGraphicFramePr>
            <a:graphicFrameLocks noGrp="1"/>
          </p:cNvGraphicFramePr>
          <p:nvPr>
            <p:extLst>
              <p:ext uri="{D42A27DB-BD31-4B8C-83A1-F6EECF244321}">
                <p14:modId xmlns:p14="http://schemas.microsoft.com/office/powerpoint/2010/main" val="2579176811"/>
              </p:ext>
            </p:extLst>
          </p:nvPr>
        </p:nvGraphicFramePr>
        <p:xfrm>
          <a:off x="990600" y="1905000"/>
          <a:ext cx="7200900" cy="3419478"/>
        </p:xfrm>
        <a:graphic>
          <a:graphicData uri="http://schemas.openxmlformats.org/drawingml/2006/table">
            <a:tbl>
              <a:tblPr/>
              <a:tblGrid>
                <a:gridCol w="5283200">
                  <a:extLst>
                    <a:ext uri="{9D8B030D-6E8A-4147-A177-3AD203B41FA5}">
                      <a16:colId xmlns:a16="http://schemas.microsoft.com/office/drawing/2014/main" val="20000"/>
                    </a:ext>
                  </a:extLst>
                </a:gridCol>
                <a:gridCol w="1917700">
                  <a:extLst>
                    <a:ext uri="{9D8B030D-6E8A-4147-A177-3AD203B41FA5}">
                      <a16:colId xmlns:a16="http://schemas.microsoft.com/office/drawing/2014/main" val="20001"/>
                    </a:ext>
                  </a:extLst>
                </a:gridCol>
              </a:tblGrid>
              <a:tr h="417513">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GB" sz="2000" b="1" i="0" u="none" strike="noStrike" cap="none" normalizeH="0" baseline="0" dirty="0" err="1">
                          <a:ln>
                            <a:noFill/>
                          </a:ln>
                          <a:solidFill>
                            <a:schemeClr val="tx1"/>
                          </a:solidFill>
                          <a:effectLst/>
                          <a:latin typeface="Arial" charset="0"/>
                          <a:cs typeface="Arial" charset="0"/>
                        </a:rPr>
                        <a:t>Weightage</a:t>
                      </a:r>
                      <a:endParaRPr kumimoji="0" lang="en-GB" sz="20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GB" sz="2000" b="1" i="0" u="none" strike="noStrike" cap="none" normalizeH="0" baseline="0" dirty="0">
                          <a:ln>
                            <a:noFill/>
                          </a:ln>
                          <a:solidFill>
                            <a:schemeClr val="tx1"/>
                          </a:solidFill>
                          <a:effectLst/>
                          <a:latin typeface="Comic Sans MS" pitchFamily="66" charset="0"/>
                          <a:cs typeface="Arial" charset="0"/>
                        </a:rPr>
                        <a:t>% </a:t>
                      </a:r>
                      <a:endParaRPr kumimoji="0" lang="en-GB" sz="20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417513">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chemeClr val="tx1"/>
                          </a:solidFill>
                          <a:effectLst/>
                          <a:latin typeface="Arial" charset="0"/>
                          <a:cs typeface="Arial" charset="0"/>
                        </a:rPr>
                        <a:t>Practical Exercises (Week 1-16)</a:t>
                      </a:r>
                      <a:endParaRPr kumimoji="0" lang="en-GB" sz="18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GB" sz="2000" b="1" i="0" u="none" strike="noStrike" cap="none" normalizeH="0" baseline="0" dirty="0">
                          <a:ln>
                            <a:noFill/>
                          </a:ln>
                          <a:solidFill>
                            <a:schemeClr val="tx1"/>
                          </a:solidFill>
                          <a:effectLst/>
                          <a:latin typeface="Arial" charset="0"/>
                          <a:cs typeface="Arial" charset="0"/>
                        </a:rPr>
                        <a:t>10 </a:t>
                      </a:r>
                      <a:endParaRPr kumimoji="0" lang="en-GB" sz="20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417513">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rgbClr val="FF0000"/>
                          </a:solidFill>
                          <a:effectLst/>
                          <a:latin typeface="Arial" charset="0"/>
                          <a:cs typeface="Arial" charset="0"/>
                        </a:rPr>
                        <a:t>Assignment 1 </a:t>
                      </a:r>
                      <a:r>
                        <a:rPr kumimoji="0" lang="en-GB" sz="1800" b="1" i="0" u="none" strike="noStrike" cap="none" normalizeH="0" baseline="0" dirty="0">
                          <a:ln>
                            <a:noFill/>
                          </a:ln>
                          <a:solidFill>
                            <a:schemeClr val="tx1"/>
                          </a:solidFill>
                          <a:effectLst/>
                          <a:latin typeface="Arial" charset="0"/>
                          <a:cs typeface="Arial" charset="0"/>
                        </a:rPr>
                        <a:t>(Due Week 8) –Individual</a:t>
                      </a:r>
                      <a:endParaRPr kumimoji="0" lang="en-GB" sz="18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GB" sz="2000" b="1" i="0" u="none" strike="noStrike" cap="none" normalizeH="0" baseline="0" dirty="0">
                          <a:ln>
                            <a:noFill/>
                          </a:ln>
                          <a:solidFill>
                            <a:schemeClr val="tx1"/>
                          </a:solidFill>
                          <a:effectLst/>
                          <a:latin typeface="Arial" charset="0"/>
                          <a:cs typeface="Arial" charset="0"/>
                        </a:rPr>
                        <a:t>25</a:t>
                      </a:r>
                      <a:endParaRPr kumimoji="0" lang="en-GB" sz="20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2"/>
                  </a:ext>
                </a:extLst>
              </a:tr>
              <a:tr h="417513">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rgbClr val="FF0000"/>
                          </a:solidFill>
                          <a:effectLst/>
                          <a:latin typeface="Arial" charset="0"/>
                          <a:cs typeface="Arial" charset="0"/>
                        </a:rPr>
                        <a:t>Assignment 2</a:t>
                      </a:r>
                      <a:r>
                        <a:rPr kumimoji="0" lang="en-GB" sz="1800" b="1" i="0" u="none" strike="noStrike" cap="none" normalizeH="0" baseline="0" dirty="0">
                          <a:ln>
                            <a:noFill/>
                          </a:ln>
                          <a:solidFill>
                            <a:schemeClr val="tx1"/>
                          </a:solidFill>
                          <a:effectLst/>
                          <a:latin typeface="Arial" charset="0"/>
                          <a:cs typeface="Arial" charset="0"/>
                        </a:rPr>
                        <a:t>( Due Week 15,16) – Individual</a:t>
                      </a:r>
                    </a:p>
                    <a:p>
                      <a:pPr marL="0" marR="0" lvl="0" indent="0" algn="l" defTabSz="914400" rtl="0" eaLnBrk="0" fontAlgn="b"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chemeClr val="tx1"/>
                          </a:solidFill>
                          <a:effectLst/>
                          <a:latin typeface="Arial" charset="0"/>
                          <a:cs typeface="Arial" charset="0"/>
                        </a:rPr>
                        <a:t>Part 1 (10%) – Week 15</a:t>
                      </a:r>
                    </a:p>
                    <a:p>
                      <a:pPr marL="0" marR="0" lvl="0" indent="0" algn="l" defTabSz="914400" rtl="0" eaLnBrk="0" fontAlgn="b"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chemeClr val="tx1"/>
                          </a:solidFill>
                          <a:effectLst/>
                          <a:latin typeface="Arial" charset="0"/>
                          <a:cs typeface="Arial" charset="0"/>
                        </a:rPr>
                        <a:t>Part 2 (20%)– Week 16</a:t>
                      </a:r>
                      <a:endParaRPr kumimoji="0" lang="en-GB" sz="18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GB" sz="2000" b="1" i="0" u="none" strike="noStrike" cap="none" normalizeH="0" baseline="0" dirty="0">
                          <a:ln>
                            <a:noFill/>
                          </a:ln>
                          <a:solidFill>
                            <a:schemeClr val="tx1"/>
                          </a:solidFill>
                          <a:effectLst/>
                          <a:latin typeface="Arial" charset="0"/>
                          <a:cs typeface="Arial" charset="0"/>
                        </a:rPr>
                        <a:t>30</a:t>
                      </a:r>
                      <a:endParaRPr kumimoji="0" lang="en-GB" sz="20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3"/>
                  </a:ext>
                </a:extLst>
              </a:tr>
              <a:tr h="417513">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rgbClr val="FF0000"/>
                          </a:solidFill>
                          <a:effectLst/>
                          <a:latin typeface="Arial" charset="0"/>
                          <a:cs typeface="Arial" charset="0"/>
                        </a:rPr>
                        <a:t>Practical Test 1 </a:t>
                      </a:r>
                      <a:r>
                        <a:rPr kumimoji="0" lang="en-GB" sz="1800" b="1" i="0" u="none" strike="noStrike" cap="none" normalizeH="0" baseline="0" dirty="0">
                          <a:ln>
                            <a:noFill/>
                          </a:ln>
                          <a:solidFill>
                            <a:schemeClr val="tx1"/>
                          </a:solidFill>
                          <a:effectLst/>
                          <a:latin typeface="Arial" charset="0"/>
                          <a:cs typeface="Arial" charset="0"/>
                        </a:rPr>
                        <a:t>(Week 9)</a:t>
                      </a:r>
                      <a:endParaRPr kumimoji="0" lang="en-GB" sz="18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GB" sz="2000" b="1" i="0" u="none" strike="noStrike" cap="none" normalizeH="0" baseline="0" dirty="0">
                          <a:ln>
                            <a:noFill/>
                          </a:ln>
                          <a:solidFill>
                            <a:schemeClr val="tx1"/>
                          </a:solidFill>
                          <a:effectLst/>
                          <a:latin typeface="Arial" charset="0"/>
                          <a:cs typeface="Arial" charset="0"/>
                        </a:rPr>
                        <a:t>25</a:t>
                      </a:r>
                      <a:endParaRPr kumimoji="0" lang="en-GB" sz="20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4"/>
                  </a:ext>
                </a:extLst>
              </a:tr>
              <a:tr h="417513">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chemeClr val="tx1"/>
                          </a:solidFill>
                          <a:effectLst/>
                          <a:latin typeface="Arial" charset="0"/>
                          <a:cs typeface="Arial" charset="0"/>
                        </a:rPr>
                        <a:t>Review Quiz (Week 13 – 5% and Week 16 – 5%)</a:t>
                      </a:r>
                      <a:endParaRPr kumimoji="0" lang="en-GB" sz="18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GB" sz="2000" b="1" i="0" u="none" strike="noStrike" cap="none" normalizeH="0" baseline="0" dirty="0">
                          <a:ln>
                            <a:noFill/>
                          </a:ln>
                          <a:solidFill>
                            <a:schemeClr val="tx1"/>
                          </a:solidFill>
                          <a:effectLst/>
                          <a:latin typeface="Comic Sans MS" pitchFamily="66" charset="0"/>
                        </a:rPr>
                        <a:t>10</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5"/>
                  </a:ext>
                </a:extLst>
              </a:tr>
              <a:tr h="417513">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GB" sz="1800" b="1" i="0" u="none" strike="noStrike" cap="none" normalizeH="0" baseline="0" dirty="0">
                          <a:ln>
                            <a:noFill/>
                          </a:ln>
                          <a:solidFill>
                            <a:schemeClr val="tx1"/>
                          </a:solidFill>
                          <a:effectLst/>
                          <a:latin typeface="Arial" charset="0"/>
                          <a:cs typeface="Arial" charset="0"/>
                        </a:rPr>
                        <a:t>Total</a:t>
                      </a:r>
                      <a:endParaRPr kumimoji="0" lang="en-GB" sz="18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GB" sz="2000" b="1" i="0" u="none" strike="noStrike" cap="none" normalizeH="0" baseline="0" dirty="0">
                          <a:ln>
                            <a:noFill/>
                          </a:ln>
                          <a:solidFill>
                            <a:schemeClr val="tx1"/>
                          </a:solidFill>
                          <a:effectLst/>
                          <a:latin typeface="Arial" charset="0"/>
                          <a:cs typeface="Arial" charset="0"/>
                        </a:rPr>
                        <a:t>100</a:t>
                      </a:r>
                      <a:endParaRPr kumimoji="0" lang="en-GB" sz="2000" b="1" i="0" u="none" strike="noStrike" cap="none" normalizeH="0" baseline="0" dirty="0">
                        <a:ln>
                          <a:noFill/>
                        </a:ln>
                        <a:solidFill>
                          <a:schemeClr val="tx1"/>
                        </a:solidFill>
                        <a:effectLst/>
                        <a:latin typeface="Comic Sans MS" pitchFamily="66"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1615015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Study Guide</a:t>
            </a:r>
          </a:p>
        </p:txBody>
      </p:sp>
      <p:pic>
        <p:nvPicPr>
          <p:cNvPr id="1026" name="Picture 2" descr="http://4.bp.blogspot.com/-qFCNef4gmmk/TwPbWT49DuI/AAAAAAAAAOc/ytx0uCWKfls/s320/HTML5_Logo_51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67600" y="304800"/>
            <a:ext cx="1447799" cy="14478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A6724466-CF14-4098-A57E-6BA1C4EB8FEB}" type="slidenum">
              <a:rPr lang="en-US" smtClean="0"/>
              <a:pPr/>
              <a:t>6</a:t>
            </a:fld>
            <a:endParaRPr lang="en-US"/>
          </a:p>
        </p:txBody>
      </p:sp>
      <p:sp>
        <p:nvSpPr>
          <p:cNvPr id="3" name="TextBox 2">
            <a:extLst>
              <a:ext uri="{FF2B5EF4-FFF2-40B4-BE49-F238E27FC236}">
                <a16:creationId xmlns:a16="http://schemas.microsoft.com/office/drawing/2014/main" id="{F6634E89-899C-4721-B8E0-BA98CDCF06A6}"/>
              </a:ext>
            </a:extLst>
          </p:cNvPr>
          <p:cNvSpPr txBox="1"/>
          <p:nvPr/>
        </p:nvSpPr>
        <p:spPr>
          <a:xfrm>
            <a:off x="1143000" y="2438400"/>
            <a:ext cx="3219536" cy="369332"/>
          </a:xfrm>
          <a:prstGeom prst="rect">
            <a:avLst/>
          </a:prstGeom>
          <a:noFill/>
        </p:spPr>
        <p:txBody>
          <a:bodyPr wrap="none" rtlCol="0">
            <a:spAutoFit/>
          </a:bodyPr>
          <a:lstStyle/>
          <a:p>
            <a:r>
              <a:rPr lang="en-SG" dirty="0"/>
              <a:t>Refer to Blackboard Study Guide</a:t>
            </a:r>
          </a:p>
        </p:txBody>
      </p:sp>
    </p:spTree>
    <p:custDataLst>
      <p:tags r:id="rId1"/>
    </p:custDataLst>
    <p:extLst>
      <p:ext uri="{BB962C8B-B14F-4D97-AF65-F5344CB8AC3E}">
        <p14:creationId xmlns:p14="http://schemas.microsoft.com/office/powerpoint/2010/main" val="1615015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Tutors</a:t>
            </a:r>
          </a:p>
        </p:txBody>
      </p:sp>
      <p:sp>
        <p:nvSpPr>
          <p:cNvPr id="5" name="Slide Number Placeholder 4"/>
          <p:cNvSpPr>
            <a:spLocks noGrp="1"/>
          </p:cNvSpPr>
          <p:nvPr>
            <p:ph type="sldNum" sz="quarter" idx="12"/>
          </p:nvPr>
        </p:nvSpPr>
        <p:spPr/>
        <p:txBody>
          <a:bodyPr/>
          <a:lstStyle/>
          <a:p>
            <a:fld id="{A6724466-CF14-4098-A57E-6BA1C4EB8FEB}" type="slidenum">
              <a:rPr lang="en-US" smtClean="0"/>
              <a:pPr/>
              <a:t>7</a:t>
            </a:fld>
            <a:endParaRPr lang="en-US"/>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3366457508"/>
              </p:ext>
            </p:extLst>
          </p:nvPr>
        </p:nvGraphicFramePr>
        <p:xfrm>
          <a:off x="685800" y="1524000"/>
          <a:ext cx="7396161" cy="4348480"/>
        </p:xfrm>
        <a:graphic>
          <a:graphicData uri="http://schemas.openxmlformats.org/drawingml/2006/table">
            <a:tbl>
              <a:tblPr firstRow="1" bandRow="1">
                <a:tableStyleId>{5C22544A-7EE6-4342-B048-85BDC9FD1C3A}</a:tableStyleId>
              </a:tblPr>
              <a:tblGrid>
                <a:gridCol w="2465387">
                  <a:extLst>
                    <a:ext uri="{9D8B030D-6E8A-4147-A177-3AD203B41FA5}">
                      <a16:colId xmlns:a16="http://schemas.microsoft.com/office/drawing/2014/main" val="20000"/>
                    </a:ext>
                  </a:extLst>
                </a:gridCol>
                <a:gridCol w="1080294">
                  <a:extLst>
                    <a:ext uri="{9D8B030D-6E8A-4147-A177-3AD203B41FA5}">
                      <a16:colId xmlns:a16="http://schemas.microsoft.com/office/drawing/2014/main" val="20001"/>
                    </a:ext>
                  </a:extLst>
                </a:gridCol>
                <a:gridCol w="3850480">
                  <a:extLst>
                    <a:ext uri="{9D8B030D-6E8A-4147-A177-3AD203B41FA5}">
                      <a16:colId xmlns:a16="http://schemas.microsoft.com/office/drawing/2014/main" val="20002"/>
                    </a:ext>
                  </a:extLst>
                </a:gridCol>
              </a:tblGrid>
              <a:tr h="370840">
                <a:tc>
                  <a:txBody>
                    <a:bodyPr/>
                    <a:lstStyle/>
                    <a:p>
                      <a:r>
                        <a:rPr lang="en-US" dirty="0"/>
                        <a:t>Module  Group</a:t>
                      </a:r>
                    </a:p>
                  </a:txBody>
                  <a:tcPr/>
                </a:tc>
                <a:tc>
                  <a:txBody>
                    <a:bodyPr/>
                    <a:lstStyle/>
                    <a:p>
                      <a:r>
                        <a:rPr lang="en-US" dirty="0"/>
                        <a:t>Lab</a:t>
                      </a:r>
                      <a:r>
                        <a:rPr lang="en-US" baseline="0" dirty="0"/>
                        <a:t> Session </a:t>
                      </a:r>
                      <a:endParaRPr lang="en-US" dirty="0"/>
                    </a:p>
                  </a:txBody>
                  <a:tcPr/>
                </a:tc>
                <a:tc>
                  <a:txBody>
                    <a:bodyPr/>
                    <a:lstStyle/>
                    <a:p>
                      <a:r>
                        <a:rPr lang="en-US" dirty="0"/>
                        <a:t>Tutor</a:t>
                      </a:r>
                    </a:p>
                  </a:txBody>
                  <a:tcPr/>
                </a:tc>
                <a:extLst>
                  <a:ext uri="{0D108BD9-81ED-4DB2-BD59-A6C34878D82A}">
                    <a16:rowId xmlns:a16="http://schemas.microsoft.com/office/drawing/2014/main" val="10000"/>
                  </a:ext>
                </a:extLst>
              </a:tr>
              <a:tr h="370840">
                <a:tc>
                  <a:txBody>
                    <a:bodyPr/>
                    <a:lstStyle/>
                    <a:p>
                      <a:r>
                        <a:rPr lang="en-US" dirty="0"/>
                        <a:t>MG</a:t>
                      </a:r>
                      <a:r>
                        <a:rPr lang="en-US" baseline="0" dirty="0"/>
                        <a:t> 1</a:t>
                      </a:r>
                      <a:endParaRPr lang="en-US" dirty="0"/>
                    </a:p>
                  </a:txBody>
                  <a:tcPr/>
                </a:tc>
                <a:tc>
                  <a:txBody>
                    <a:bodyPr/>
                    <a:lstStyle/>
                    <a:p>
                      <a:r>
                        <a:rPr lang="en-US" dirty="0"/>
                        <a:t>Lab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Mr</a:t>
                      </a:r>
                      <a:r>
                        <a:rPr lang="en-US" dirty="0"/>
                        <a:t> </a:t>
                      </a:r>
                      <a:r>
                        <a:rPr lang="en-US" dirty="0" err="1"/>
                        <a:t>Teh</a:t>
                      </a:r>
                      <a:r>
                        <a:rPr lang="en-US" dirty="0"/>
                        <a:t> Ah Hock</a:t>
                      </a:r>
                    </a:p>
                  </a:txBody>
                  <a:tcPr/>
                </a:tc>
                <a:extLst>
                  <a:ext uri="{0D108BD9-81ED-4DB2-BD59-A6C34878D82A}">
                    <a16:rowId xmlns:a16="http://schemas.microsoft.com/office/drawing/2014/main" val="10001"/>
                  </a:ext>
                </a:extLst>
              </a:tr>
              <a:tr h="370840">
                <a:tc>
                  <a:txBody>
                    <a:bodyPr/>
                    <a:lstStyle/>
                    <a:p>
                      <a:r>
                        <a:rPr lang="en-US" dirty="0"/>
                        <a:t>MG</a:t>
                      </a:r>
                      <a:r>
                        <a:rPr lang="en-US" baseline="0" dirty="0"/>
                        <a:t> 2</a:t>
                      </a:r>
                      <a:endParaRPr lang="en-US" dirty="0"/>
                    </a:p>
                  </a:txBody>
                  <a:tcPr/>
                </a:tc>
                <a:tc>
                  <a:txBody>
                    <a:bodyPr/>
                    <a:lstStyle/>
                    <a:p>
                      <a:r>
                        <a:rPr lang="en-US" dirty="0"/>
                        <a:t>Lab 1</a:t>
                      </a:r>
                    </a:p>
                  </a:txBody>
                  <a:tcPr/>
                </a:tc>
                <a:tc>
                  <a:txBody>
                    <a:bodyPr/>
                    <a:lstStyle/>
                    <a:p>
                      <a:r>
                        <a:rPr lang="en-US" dirty="0" err="1"/>
                        <a:t>Mr</a:t>
                      </a:r>
                      <a:r>
                        <a:rPr lang="en-US" dirty="0"/>
                        <a:t>  Tommy Low</a:t>
                      </a:r>
                    </a:p>
                  </a:txBody>
                  <a:tcPr/>
                </a:tc>
                <a:extLst>
                  <a:ext uri="{0D108BD9-81ED-4DB2-BD59-A6C34878D82A}">
                    <a16:rowId xmlns:a16="http://schemas.microsoft.com/office/drawing/2014/main" val="10002"/>
                  </a:ext>
                </a:extLst>
              </a:tr>
              <a:tr h="370840">
                <a:tc>
                  <a:txBody>
                    <a:bodyPr/>
                    <a:lstStyle/>
                    <a:p>
                      <a:r>
                        <a:rPr lang="en-US" dirty="0"/>
                        <a:t>MG 3</a:t>
                      </a:r>
                    </a:p>
                  </a:txBody>
                  <a:tcPr/>
                </a:tc>
                <a:tc>
                  <a:txBody>
                    <a:bodyPr/>
                    <a:lstStyle/>
                    <a:p>
                      <a:r>
                        <a:rPr lang="en-US" dirty="0"/>
                        <a:t>Lab</a:t>
                      </a:r>
                      <a:r>
                        <a:rPr lang="en-US" baseline="0" dirty="0"/>
                        <a:t> 2</a:t>
                      </a:r>
                      <a:endParaRPr lang="en-US" dirty="0"/>
                    </a:p>
                  </a:txBody>
                  <a:tcPr/>
                </a:tc>
                <a:tc>
                  <a:txBody>
                    <a:bodyPr/>
                    <a:lstStyle/>
                    <a:p>
                      <a:r>
                        <a:rPr lang="en-US" dirty="0" err="1"/>
                        <a:t>Mr</a:t>
                      </a:r>
                      <a:r>
                        <a:rPr lang="en-US" dirty="0"/>
                        <a:t> Tan Teck Chye</a:t>
                      </a:r>
                    </a:p>
                  </a:txBody>
                  <a:tcPr/>
                </a:tc>
                <a:extLst>
                  <a:ext uri="{0D108BD9-81ED-4DB2-BD59-A6C34878D82A}">
                    <a16:rowId xmlns:a16="http://schemas.microsoft.com/office/drawing/2014/main" val="10003"/>
                  </a:ext>
                </a:extLst>
              </a:tr>
              <a:tr h="370840">
                <a:tc>
                  <a:txBody>
                    <a:bodyPr/>
                    <a:lstStyle/>
                    <a:p>
                      <a:r>
                        <a:rPr lang="en-US" dirty="0"/>
                        <a:t>MG 4</a:t>
                      </a:r>
                    </a:p>
                  </a:txBody>
                  <a:tcPr/>
                </a:tc>
                <a:tc>
                  <a:txBody>
                    <a:bodyPr/>
                    <a:lstStyle/>
                    <a:p>
                      <a:r>
                        <a:rPr lang="en-US" dirty="0"/>
                        <a:t>Lab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Mr</a:t>
                      </a:r>
                      <a:r>
                        <a:rPr lang="en-US" dirty="0"/>
                        <a:t> Tommy Low </a:t>
                      </a:r>
                    </a:p>
                  </a:txBody>
                  <a:tcPr/>
                </a:tc>
                <a:extLst>
                  <a:ext uri="{0D108BD9-81ED-4DB2-BD59-A6C34878D82A}">
                    <a16:rowId xmlns:a16="http://schemas.microsoft.com/office/drawing/2014/main" val="10004"/>
                  </a:ext>
                </a:extLst>
              </a:tr>
              <a:tr h="370840">
                <a:tc>
                  <a:txBody>
                    <a:bodyPr/>
                    <a:lstStyle/>
                    <a:p>
                      <a:r>
                        <a:rPr lang="en-US" dirty="0"/>
                        <a:t>MG 5</a:t>
                      </a:r>
                    </a:p>
                  </a:txBody>
                  <a:tcPr/>
                </a:tc>
                <a:tc>
                  <a:txBody>
                    <a:bodyPr/>
                    <a:lstStyle/>
                    <a:p>
                      <a:r>
                        <a:rPr lang="en-US" dirty="0"/>
                        <a:t>Lab 3</a:t>
                      </a:r>
                    </a:p>
                  </a:txBody>
                  <a:tcPr/>
                </a:tc>
                <a:tc>
                  <a:txBody>
                    <a:bodyPr/>
                    <a:lstStyle/>
                    <a:p>
                      <a:r>
                        <a:rPr lang="en-US" dirty="0" err="1"/>
                        <a:t>Mr</a:t>
                      </a:r>
                      <a:r>
                        <a:rPr lang="en-US" dirty="0"/>
                        <a:t> Tan Teck Chye</a:t>
                      </a:r>
                    </a:p>
                  </a:txBody>
                  <a:tcPr/>
                </a:tc>
                <a:extLst>
                  <a:ext uri="{0D108BD9-81ED-4DB2-BD59-A6C34878D82A}">
                    <a16:rowId xmlns:a16="http://schemas.microsoft.com/office/drawing/2014/main" val="10005"/>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r>
                        <a:rPr lang="en-US" dirty="0"/>
                        <a:t>Contacts</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8"/>
                  </a:ext>
                </a:extLst>
              </a:tr>
              <a:tr h="370840">
                <a:tc>
                  <a:txBody>
                    <a:bodyPr/>
                    <a:lstStyle/>
                    <a:p>
                      <a:r>
                        <a:rPr lang="en-US" sz="1200" dirty="0" err="1"/>
                        <a:t>Mr</a:t>
                      </a:r>
                      <a:r>
                        <a:rPr lang="en-US" sz="1200" dirty="0"/>
                        <a:t> Tommy Low</a:t>
                      </a:r>
                    </a:p>
                  </a:txBody>
                  <a:tcPr/>
                </a:tc>
                <a:tc>
                  <a:txBody>
                    <a:bodyPr/>
                    <a:lstStyle/>
                    <a:p>
                      <a:r>
                        <a:rPr lang="en-US" sz="1200" dirty="0"/>
                        <a:t>65501796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Tommy_low@nyp.edu.sg (Module Leader)</a:t>
                      </a:r>
                    </a:p>
                  </a:txBody>
                  <a:tcPr/>
                </a:tc>
                <a:extLst>
                  <a:ext uri="{0D108BD9-81ED-4DB2-BD59-A6C34878D82A}">
                    <a16:rowId xmlns:a16="http://schemas.microsoft.com/office/drawing/2014/main" val="10009"/>
                  </a:ext>
                </a:extLst>
              </a:tr>
              <a:tr h="370840">
                <a:tc>
                  <a:txBody>
                    <a:bodyPr/>
                    <a:lstStyle/>
                    <a:p>
                      <a:r>
                        <a:rPr lang="en-US" sz="1200" dirty="0" err="1"/>
                        <a:t>Mr</a:t>
                      </a:r>
                      <a:r>
                        <a:rPr lang="en-US" sz="1200" dirty="0"/>
                        <a:t> Kenny</a:t>
                      </a:r>
                      <a:r>
                        <a:rPr lang="en-US" sz="1200" baseline="0" dirty="0"/>
                        <a:t> Lu</a:t>
                      </a:r>
                      <a:endParaRPr lang="en-US" sz="1200" dirty="0"/>
                    </a:p>
                  </a:txBody>
                  <a:tcPr/>
                </a:tc>
                <a:tc>
                  <a:txBody>
                    <a:bodyPr/>
                    <a:lstStyle/>
                    <a:p>
                      <a:r>
                        <a:rPr lang="en-US" sz="1200" dirty="0"/>
                        <a:t>65501651</a:t>
                      </a:r>
                    </a:p>
                  </a:txBody>
                  <a:tcPr/>
                </a:tc>
                <a:tc>
                  <a:txBody>
                    <a:bodyPr/>
                    <a:lstStyle/>
                    <a:p>
                      <a:r>
                        <a:rPr lang="en-SG" sz="1200" dirty="0">
                          <a:hlinkClick r:id="rId3"/>
                        </a:rPr>
                        <a:t>teh_ah_hock@nyp.edu.sg</a:t>
                      </a:r>
                      <a:endParaRPr lang="en-US" sz="1200" dirty="0"/>
                    </a:p>
                  </a:txBody>
                  <a:tcPr/>
                </a:tc>
                <a:extLst>
                  <a:ext uri="{0D108BD9-81ED-4DB2-BD59-A6C34878D82A}">
                    <a16:rowId xmlns:a16="http://schemas.microsoft.com/office/drawing/2014/main" val="10010"/>
                  </a:ext>
                </a:extLst>
              </a:tr>
              <a:tr h="370840">
                <a:tc>
                  <a:txBody>
                    <a:bodyPr/>
                    <a:lstStyle/>
                    <a:p>
                      <a:r>
                        <a:rPr lang="en-US" sz="1200" dirty="0" err="1"/>
                        <a:t>Mr</a:t>
                      </a:r>
                      <a:r>
                        <a:rPr lang="en-US" sz="1200" dirty="0"/>
                        <a:t> Tan Teck Chye</a:t>
                      </a:r>
                    </a:p>
                  </a:txBody>
                  <a:tcPr/>
                </a:tc>
                <a:tc>
                  <a:txBody>
                    <a:bodyPr/>
                    <a:lstStyle/>
                    <a:p>
                      <a:r>
                        <a:rPr lang="en-US" sz="1200" dirty="0"/>
                        <a:t> -</a:t>
                      </a:r>
                    </a:p>
                  </a:txBody>
                  <a:tcPr/>
                </a:tc>
                <a:tc>
                  <a:txBody>
                    <a:bodyPr/>
                    <a:lstStyle/>
                    <a:p>
                      <a:r>
                        <a:rPr lang="en-US" sz="1200" dirty="0"/>
                        <a:t> teck_chye@yahoo.com</a:t>
                      </a:r>
                    </a:p>
                  </a:txBody>
                  <a:tcPr/>
                </a:tc>
                <a:extLst>
                  <a:ext uri="{0D108BD9-81ED-4DB2-BD59-A6C34878D82A}">
                    <a16:rowId xmlns:a16="http://schemas.microsoft.com/office/drawing/2014/main" val="10011"/>
                  </a:ext>
                </a:extLst>
              </a:tr>
            </a:tbl>
          </a:graphicData>
        </a:graphic>
      </p:graphicFrame>
    </p:spTree>
    <p:custDataLst>
      <p:tags r:id="rId1"/>
    </p:custDataLst>
    <p:extLst>
      <p:ext uri="{BB962C8B-B14F-4D97-AF65-F5344CB8AC3E}">
        <p14:creationId xmlns:p14="http://schemas.microsoft.com/office/powerpoint/2010/main" val="3969061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Stuff that you will be learning</a:t>
            </a:r>
          </a:p>
        </p:txBody>
      </p:sp>
      <p:sp>
        <p:nvSpPr>
          <p:cNvPr id="3" name="Content Placeholder 2"/>
          <p:cNvSpPr>
            <a:spLocks noGrp="1"/>
          </p:cNvSpPr>
          <p:nvPr>
            <p:ph idx="1"/>
          </p:nvPr>
        </p:nvSpPr>
        <p:spPr>
          <a:xfrm>
            <a:off x="986619" y="1358513"/>
            <a:ext cx="7395380" cy="2667000"/>
          </a:xfrm>
        </p:spPr>
        <p:txBody>
          <a:bodyPr>
            <a:noAutofit/>
          </a:bodyPr>
          <a:lstStyle/>
          <a:p>
            <a:pPr>
              <a:spcAft>
                <a:spcPts val="1000"/>
              </a:spcAft>
            </a:pPr>
            <a:r>
              <a:rPr lang="en-US" dirty="0"/>
              <a:t>HTML5 on</a:t>
            </a:r>
          </a:p>
          <a:p>
            <a:pPr lvl="1">
              <a:spcAft>
                <a:spcPts val="1000"/>
              </a:spcAft>
            </a:pPr>
            <a:r>
              <a:rPr lang="en-US" sz="1600" dirty="0"/>
              <a:t>HTML5 and CSS3 with </a:t>
            </a:r>
            <a:r>
              <a:rPr lang="en-US" sz="1600" dirty="0" err="1"/>
              <a:t>Javascript</a:t>
            </a:r>
            <a:endParaRPr lang="en-US" sz="1600" dirty="0"/>
          </a:p>
          <a:p>
            <a:pPr lvl="1">
              <a:spcAft>
                <a:spcPts val="1000"/>
              </a:spcAft>
            </a:pPr>
            <a:r>
              <a:rPr lang="en-US" sz="1600" dirty="0"/>
              <a:t>HTML5 Video &amp; Audio </a:t>
            </a:r>
          </a:p>
          <a:p>
            <a:pPr lvl="1">
              <a:spcAft>
                <a:spcPts val="1000"/>
              </a:spcAft>
            </a:pPr>
            <a:r>
              <a:rPr lang="en-US" sz="1600" dirty="0"/>
              <a:t>Canvas, SVG</a:t>
            </a:r>
          </a:p>
          <a:p>
            <a:pPr lvl="1">
              <a:spcAft>
                <a:spcPts val="1000"/>
              </a:spcAft>
            </a:pPr>
            <a:r>
              <a:rPr lang="en-US" sz="1600" dirty="0"/>
              <a:t>Responsive Design for different devices, Media Queries for creating responsive designs</a:t>
            </a:r>
          </a:p>
          <a:p>
            <a:pPr lvl="1">
              <a:spcAft>
                <a:spcPts val="1000"/>
              </a:spcAft>
            </a:pPr>
            <a:r>
              <a:rPr lang="en-US" sz="1600" dirty="0"/>
              <a:t>HTML5 APIs</a:t>
            </a:r>
          </a:p>
          <a:p>
            <a:pPr lvl="1">
              <a:spcAft>
                <a:spcPts val="1000"/>
              </a:spcAft>
            </a:pPr>
            <a:r>
              <a:rPr lang="en-US" sz="1600" dirty="0"/>
              <a:t>Open source  : PHP &amp; WAMP &amp; Integrating with HTML5 technologies</a:t>
            </a:r>
          </a:p>
          <a:p>
            <a:pPr lvl="1">
              <a:spcAft>
                <a:spcPts val="1000"/>
              </a:spcAft>
            </a:pPr>
            <a:r>
              <a:rPr lang="en-US" sz="1600" dirty="0"/>
              <a:t>And we will point you to many cool stuffs that you can implement for your assignment &amp; Project </a:t>
            </a:r>
          </a:p>
          <a:p>
            <a:pPr lvl="1">
              <a:spcAft>
                <a:spcPts val="1000"/>
              </a:spcAft>
            </a:pPr>
            <a:endParaRPr lang="en-SG" sz="1600" dirty="0"/>
          </a:p>
          <a:p>
            <a:pPr lvl="1">
              <a:spcAft>
                <a:spcPts val="1000"/>
              </a:spcAft>
              <a:buNone/>
            </a:pPr>
            <a:endParaRPr lang="en-US" sz="2000" dirty="0"/>
          </a:p>
        </p:txBody>
      </p:sp>
      <p:pic>
        <p:nvPicPr>
          <p:cNvPr id="1026" name="Picture 2" descr="http://4.bp.blogspot.com/-qFCNef4gmmk/TwPbWT49DuI/AAAAAAAAAOc/ytx0uCWKfls/s320/HTML5_Logo_51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34200" y="381000"/>
            <a:ext cx="1447799" cy="14478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A6724466-CF14-4098-A57E-6BA1C4EB8FEB}" type="slidenum">
              <a:rPr lang="en-US" smtClean="0"/>
              <a:pPr/>
              <a:t>8</a:t>
            </a:fld>
            <a:endParaRPr lang="en-US"/>
          </a:p>
        </p:txBody>
      </p:sp>
    </p:spTree>
    <p:custDataLst>
      <p:tags r:id="rId1"/>
    </p:custDataLst>
    <p:extLst>
      <p:ext uri="{BB962C8B-B14F-4D97-AF65-F5344CB8AC3E}">
        <p14:creationId xmlns:p14="http://schemas.microsoft.com/office/powerpoint/2010/main" val="1615015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How to score well for this module?</a:t>
            </a:r>
          </a:p>
        </p:txBody>
      </p:sp>
      <p:sp>
        <p:nvSpPr>
          <p:cNvPr id="3" name="Content Placeholder 2"/>
          <p:cNvSpPr>
            <a:spLocks noGrp="1"/>
          </p:cNvSpPr>
          <p:nvPr>
            <p:ph idx="1"/>
          </p:nvPr>
        </p:nvSpPr>
        <p:spPr>
          <a:xfrm>
            <a:off x="1143000" y="1600200"/>
            <a:ext cx="7395380" cy="1905000"/>
          </a:xfrm>
        </p:spPr>
        <p:txBody>
          <a:bodyPr/>
          <a:lstStyle/>
          <a:p>
            <a:r>
              <a:rPr lang="en-US" dirty="0"/>
              <a:t>Complete your </a:t>
            </a:r>
            <a:r>
              <a:rPr lang="en-US" dirty="0" err="1"/>
              <a:t>practicals</a:t>
            </a:r>
            <a:endParaRPr lang="en-US" dirty="0"/>
          </a:p>
          <a:p>
            <a:r>
              <a:rPr lang="en-US" dirty="0"/>
              <a:t>Being Resourceful. Learn how to harvest from the web</a:t>
            </a:r>
          </a:p>
        </p:txBody>
      </p:sp>
      <p:sp>
        <p:nvSpPr>
          <p:cNvPr id="5" name="Slide Number Placeholder 4"/>
          <p:cNvSpPr>
            <a:spLocks noGrp="1"/>
          </p:cNvSpPr>
          <p:nvPr>
            <p:ph type="sldNum" sz="quarter" idx="12"/>
          </p:nvPr>
        </p:nvSpPr>
        <p:spPr/>
        <p:txBody>
          <a:bodyPr/>
          <a:lstStyle/>
          <a:p>
            <a:fld id="{A6724466-CF14-4098-A57E-6BA1C4EB8FEB}" type="slidenum">
              <a:rPr lang="en-US" smtClean="0"/>
              <a:pPr/>
              <a:t>9</a:t>
            </a:fld>
            <a:endParaRPr lang="en-US"/>
          </a:p>
        </p:txBody>
      </p:sp>
    </p:spTree>
    <p:custDataLst>
      <p:tags r:id="rId1"/>
    </p:custDataLst>
    <p:extLst>
      <p:ext uri="{BB962C8B-B14F-4D97-AF65-F5344CB8AC3E}">
        <p14:creationId xmlns:p14="http://schemas.microsoft.com/office/powerpoint/2010/main" val="1355592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86620" y="274638"/>
            <a:ext cx="7700180" cy="944562"/>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bg1"/>
                </a:solidFill>
                <a:effectLst/>
                <a:uLnTx/>
                <a:uFillTx/>
                <a:latin typeface="+mj-lt"/>
                <a:ea typeface="+mj-ea"/>
                <a:cs typeface="+mj-cs"/>
              </a:rPr>
              <a:t>What you will require for</a:t>
            </a:r>
            <a:r>
              <a:rPr kumimoji="0" lang="en-US" sz="3600" b="1" i="0" u="none" strike="noStrike" kern="1200" cap="none" spc="0" normalizeH="0" noProof="0" dirty="0">
                <a:ln>
                  <a:noFill/>
                </a:ln>
                <a:solidFill>
                  <a:schemeClr val="bg1"/>
                </a:solidFill>
                <a:effectLst/>
                <a:uLnTx/>
                <a:uFillTx/>
                <a:latin typeface="+mj-lt"/>
                <a:ea typeface="+mj-ea"/>
                <a:cs typeface="+mj-cs"/>
              </a:rPr>
              <a:t> this module</a:t>
            </a:r>
            <a:r>
              <a:rPr kumimoji="0" lang="en-US" sz="3600" b="1" i="0" u="none" strike="noStrike" kern="1200" cap="none" spc="0" normalizeH="0" baseline="0" noProof="0" dirty="0">
                <a:ln>
                  <a:noFill/>
                </a:ln>
                <a:solidFill>
                  <a:schemeClr val="bg1"/>
                </a:solidFill>
                <a:effectLst/>
                <a:uLnTx/>
                <a:uFillTx/>
                <a:latin typeface="+mj-lt"/>
                <a:ea typeface="+mj-ea"/>
                <a:cs typeface="+mj-cs"/>
              </a:rPr>
              <a:t>: </a:t>
            </a:r>
          </a:p>
        </p:txBody>
      </p:sp>
      <p:graphicFrame>
        <p:nvGraphicFramePr>
          <p:cNvPr id="8" name="Diagram 7"/>
          <p:cNvGraphicFramePr/>
          <p:nvPr>
            <p:extLst>
              <p:ext uri="{D42A27DB-BD31-4B8C-83A1-F6EECF244321}">
                <p14:modId xmlns:p14="http://schemas.microsoft.com/office/powerpoint/2010/main" val="397048537"/>
              </p:ext>
            </p:extLst>
          </p:nvPr>
        </p:nvGraphicFramePr>
        <p:xfrm>
          <a:off x="1219200" y="1447800"/>
          <a:ext cx="6934200" cy="5080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280801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bg1"/>
                </a:solidFill>
                <a:effectLst/>
                <a:uLnTx/>
                <a:uFillTx/>
                <a:latin typeface="+mj-lt"/>
                <a:ea typeface="+mj-ea"/>
                <a:cs typeface="+mj-cs"/>
              </a:rPr>
              <a:t>References</a:t>
            </a:r>
          </a:p>
        </p:txBody>
      </p:sp>
      <p:graphicFrame>
        <p:nvGraphicFramePr>
          <p:cNvPr id="8" name="Diagram 7"/>
          <p:cNvGraphicFramePr/>
          <p:nvPr>
            <p:extLst>
              <p:ext uri="{D42A27DB-BD31-4B8C-83A1-F6EECF244321}">
                <p14:modId xmlns:p14="http://schemas.microsoft.com/office/powerpoint/2010/main" val="352913414"/>
              </p:ext>
            </p:extLst>
          </p:nvPr>
        </p:nvGraphicFramePr>
        <p:xfrm>
          <a:off x="1219200" y="1447800"/>
          <a:ext cx="6934200" cy="508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12808019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24B5D243E8524B805AE9E6462128D5" ma:contentTypeVersion="0" ma:contentTypeDescription="Create a new document." ma:contentTypeScope="" ma:versionID="e66dd09a9d80fa3eca15220829d7fdcb">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A0D4D3-22A4-4BA6-B72A-0EA0A9DD5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2CAF96FE-069F-4E95-9021-A70B136A67F9}">
  <ds:schemaRefs>
    <ds:schemaRef ds:uri="http://schemas.microsoft.com/office/2006/metadata/properties"/>
  </ds:schemaRefs>
</ds:datastoreItem>
</file>

<file path=customXml/itemProps3.xml><?xml version="1.0" encoding="utf-8"?>
<ds:datastoreItem xmlns:ds="http://schemas.openxmlformats.org/officeDocument/2006/customXml" ds:itemID="{E4A77F67-C282-4373-9A32-27375E7495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Austin</Template>
  <TotalTime>10832</TotalTime>
  <Words>715</Words>
  <Application>Microsoft Office PowerPoint</Application>
  <PresentationFormat>On-screen Show (4:3)</PresentationFormat>
  <Paragraphs>120</Paragraphs>
  <Slides>11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Comic Sans MS</vt:lpstr>
      <vt:lpstr>Wingdings</vt:lpstr>
      <vt:lpstr>ppt template</vt:lpstr>
      <vt:lpstr>IT1322 – Principles of Web Usability Design</vt:lpstr>
      <vt:lpstr>Rich Internet Application Development   </vt:lpstr>
      <vt:lpstr>RIA Module Structure </vt:lpstr>
      <vt:lpstr>Expectations</vt:lpstr>
      <vt:lpstr>Schedule and Score Distribution</vt:lpstr>
      <vt:lpstr>Study Guide</vt:lpstr>
      <vt:lpstr>Class Tutors</vt:lpstr>
      <vt:lpstr>Stuff that you will be learning</vt:lpstr>
      <vt:lpstr>How to score well for this module?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IT1322 – Principles of Web Usability Design</dc:title>
  <dc:creator>EvyLim</dc:creator>
  <cp:lastModifiedBy>LOW TOMMY</cp:lastModifiedBy>
  <cp:revision>354</cp:revision>
  <dcterms:created xsi:type="dcterms:W3CDTF">2012-03-19T05:26:54Z</dcterms:created>
  <dcterms:modified xsi:type="dcterms:W3CDTF">2019-10-08T07:04:07Z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0x010100CF24B5D243E8524B805AE9E6462128D5</vt:lpwstr>
  </property>
  <property fmtid="{D5CDD505-2E9C-101B-9397-08002B2CF9AE}" pid="3" name="ArticulateGUID">
    <vt:lpwstr>46369DF2-5799-4B3C-8E1A-4E3E1052816D</vt:lpwstr>
  </property>
  <property fmtid="{D5CDD505-2E9C-101B-9397-08002B2CF9AE}" pid="4" name="ArticulatePath">
    <vt:lpwstr>About this Module 2019</vt:lpwstr>
  </property>
</Properties>
</file>