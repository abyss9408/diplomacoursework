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4"/>
  </p:notesMasterIdLst>
  <p:sldIdLst>
    <p:sldId id="256" r:id="rId5"/>
    <p:sldId id="259" r:id="rId6"/>
    <p:sldId id="295" r:id="rId7"/>
    <p:sldId id="296" r:id="rId8"/>
    <p:sldId id="257" r:id="rId9"/>
    <p:sldId id="261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0"/>
    <p:sldId id="272" r:id="rId21"/>
    <p:sldId id="270" r:id="rId22"/>
    <p:sldId id="273" r:id="rId23"/>
    <p:sldId id="277" r:id="rId24"/>
    <p:sldId id="278" r:id="rId25"/>
    <p:sldId id="276" r:id="rId26"/>
    <p:sldId id="279" r:id="rId27"/>
    <p:sldId id="280" r:id="rId28"/>
    <p:sldId id="281" r:id="rId29"/>
    <p:sldId id="282" r:id="rId30"/>
    <p:sldId id="283" r:id="rId31"/>
    <p:sldId id="284" r:id="rId32"/>
    <p:sldId id="286" r:id="rId33"/>
    <p:sldId id="287" r:id="rId34"/>
    <p:sldId id="288" r:id="rId35"/>
    <p:sldId id="289" r:id="rId36"/>
    <p:sldId id="291" r:id="rId37"/>
    <p:sldId id="292" r:id="rId38"/>
    <p:sldId id="290" r:id="rId39"/>
    <p:sldId id="293" r:id="rId40"/>
    <p:sldId id="274" r:id="rId41"/>
    <p:sldId id="294" r:id="rId42"/>
    <p:sldId id="258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9" autoAdjust="0"/>
    <p:restoredTop sz="94660"/>
  </p:normalViewPr>
  <p:slideViewPr>
    <p:cSldViewPr>
      <p:cViewPr varScale="1">
        <p:scale>
          <a:sx n="88" d="100"/>
          <a:sy n="88" d="100"/>
        </p:scale>
        <p:origin x="-102" y="-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B0A14-681B-4549-BB8C-4BD42BF055E8}" type="datetimeFigureOut">
              <a:rPr lang="en-US" smtClean="0"/>
              <a:pPr/>
              <a:t>10/17/2012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95CB-9792-46B1-8B63-E325EA9DE9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775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html/tryit.asp?filename=tryhtml5_input_max_min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538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17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html5_video.html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6754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174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</a:t>
            </a:r>
            <a:r>
              <a:rPr lang="en-GB" baseline="0" dirty="0" smtClean="0"/>
              <a:t> html5_audio.html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8382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html5_svg.html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1521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html5_inputTypes1.html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028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>
                <a:hlinkClick r:id="rId3"/>
              </a:rPr>
              <a:t>http://www.w3schools.com/html/tryit.asp?filename=tryhtml5_input_max_min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23898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</a:t>
            </a:r>
            <a:r>
              <a:rPr lang="en-GB" baseline="0" dirty="0" smtClean="0"/>
              <a:t> html5_form_datalist.html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89309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html5_form_keygen.html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041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html5_form_output.html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09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html5_form_autocomplete.html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640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html5_form_novalidate.html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0434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html5_form_autofocus.html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7939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html5_form_placeholder.html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65129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html5_form_required.html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4262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04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jpe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467600" cy="1755775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4676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5136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8115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467600" cy="944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4676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587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620000" cy="944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6200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88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 userDrawn="1"/>
        </p:nvGrpSpPr>
        <p:grpSpPr>
          <a:xfrm>
            <a:off x="0" y="887"/>
            <a:ext cx="9324528" cy="7100521"/>
            <a:chOff x="0" y="887"/>
            <a:chExt cx="9324528" cy="7100521"/>
          </a:xfrm>
        </p:grpSpPr>
        <p:pic>
          <p:nvPicPr>
            <p:cNvPr id="17" name="Picture 34" descr="Untitled-6"/>
            <p:cNvPicPr>
              <a:picLocks noChangeAspect="1" noChangeArrowheads="1"/>
            </p:cNvPicPr>
            <p:nvPr userDrawn="1"/>
          </p:nvPicPr>
          <p:blipFill>
            <a:blip r:embed="rId2" cstate="print">
              <a:biLevel thresh="75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50000"/>
                      </a14:imgEffect>
                      <a14:imgEffect>
                        <a14:saturation sat="6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87"/>
              <a:ext cx="9324528" cy="7100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4" cstate="print">
              <a:clrChange>
                <a:clrFrom>
                  <a:srgbClr val="FFFFFD"/>
                </a:clrFrom>
                <a:clrTo>
                  <a:srgbClr val="FFFF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86600" y="6282570"/>
              <a:ext cx="900611" cy="38679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219200" y="6332899"/>
              <a:ext cx="1428811" cy="286132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495800" y="1493963"/>
              <a:ext cx="4572000" cy="5059237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74638"/>
            <a:ext cx="7696200" cy="9445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295400"/>
            <a:ext cx="76962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126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799" y="4406900"/>
            <a:ext cx="73152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799" y="2906713"/>
            <a:ext cx="73152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44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295400"/>
            <a:ext cx="3505200" cy="48307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733800" cy="48307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35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1295400"/>
            <a:ext cx="3506788" cy="762000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0600" y="2133600"/>
            <a:ext cx="3506788" cy="39925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3736975" cy="762000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33600"/>
            <a:ext cx="3736975" cy="39925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2287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333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336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3050"/>
            <a:ext cx="2474913" cy="946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48069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600" y="1295400"/>
            <a:ext cx="2474913" cy="4830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33701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6753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08759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202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4" descr="Untitled-6"/>
          <p:cNvPicPr>
            <a:picLocks noChangeAspect="1" noChangeArrowheads="1"/>
          </p:cNvPicPr>
          <p:nvPr userDrawn="1"/>
        </p:nvPicPr>
        <p:blipFill>
          <a:blip r:embed="rId16" cstate="print">
            <a:biLevel thresh="75000"/>
            <a:extLst>
              <a:ext uri="{BEBA8EAE-BF5A-486C-A8C5-ECC9F3942E4B}">
                <a14:imgProps xmlns:a14="http://schemas.microsoft.com/office/drawing/2010/main" xmlns="">
                  <a14:imgLayer r:embed="rId17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6620" y="274638"/>
            <a:ext cx="739538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6620" y="1295400"/>
            <a:ext cx="73953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130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IT1322 2012 S1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438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SzPct val="70000"/>
        <a:buFont typeface="Wingdings" pitchFamily="2" charset="2"/>
        <a:buChar char="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Calibri" pitchFamily="34" charset="0"/>
        <a:buChar char="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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html/html_layout.as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schools.com/html/tryit.asp?filename=tryhtml5_input_max_min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html5/html5_form_attributes.asp" TargetMode="External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/tryit.asp?filename=tryhtml5_input_autocomplete" TargetMode="External"/><Relationship Id="rId4" Type="http://schemas.openxmlformats.org/officeDocument/2006/relationships/image" Target="../media/image1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/tryit.asp?filename=tryhtml5_input_formnovalidate" TargetMode="External"/><Relationship Id="rId4" Type="http://schemas.openxmlformats.org/officeDocument/2006/relationships/image" Target="../media/image1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/tryit.asp?filename=tryhtml5_input_autofocus" TargetMode="External"/><Relationship Id="rId4" Type="http://schemas.openxmlformats.org/officeDocument/2006/relationships/image" Target="../media/image1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/tryit.asp?filename=tryhtml5_input_placeholder" TargetMode="External"/><Relationship Id="rId4" Type="http://schemas.openxmlformats.org/officeDocument/2006/relationships/image" Target="../media/image1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/tryit.asp?filename=tryhtml5_input_required" TargetMode="External"/><Relationship Id="rId4" Type="http://schemas.openxmlformats.org/officeDocument/2006/relationships/image" Target="../media/image1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line25.com/tutorials/create-a-typography-based-blog-layout-in-html5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/>
              <a:t>IT1322 – Principles of Web Usability Design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Markup Languages II (HTML5)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080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structure of an HTML file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14586" y="2761327"/>
            <a:ext cx="2514600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&lt;head&gt;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&lt;/head&gt;</a:t>
            </a:r>
          </a:p>
          <a:p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&lt;body&gt;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&lt;/body&gt;</a:t>
            </a:r>
          </a:p>
          <a:p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190786" y="2335462"/>
            <a:ext cx="1828800" cy="502064"/>
            <a:chOff x="2971800" y="2088735"/>
            <a:chExt cx="1828800" cy="502064"/>
          </a:xfrm>
        </p:grpSpPr>
        <p:sp>
          <p:nvSpPr>
            <p:cNvPr id="5" name="Right Brace 4"/>
            <p:cNvSpPr/>
            <p:nvPr/>
          </p:nvSpPr>
          <p:spPr>
            <a:xfrm rot="16200000">
              <a:off x="3771900" y="1562100"/>
              <a:ext cx="228599" cy="1828800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771899" y="2088735"/>
              <a:ext cx="228600" cy="2286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657386" y="3066127"/>
            <a:ext cx="533399" cy="228601"/>
            <a:chOff x="2438400" y="2819400"/>
            <a:chExt cx="533399" cy="228601"/>
          </a:xfrm>
        </p:grpSpPr>
        <p:sp>
          <p:nvSpPr>
            <p:cNvPr id="8" name="Right Brace 7"/>
            <p:cNvSpPr/>
            <p:nvPr/>
          </p:nvSpPr>
          <p:spPr>
            <a:xfrm rot="10800000">
              <a:off x="2743200" y="2819400"/>
              <a:ext cx="228599" cy="228600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438400" y="2819401"/>
              <a:ext cx="228600" cy="2286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57386" y="4971127"/>
            <a:ext cx="533399" cy="228600"/>
            <a:chOff x="2438400" y="4724400"/>
            <a:chExt cx="533399" cy="228600"/>
          </a:xfrm>
        </p:grpSpPr>
        <p:sp>
          <p:nvSpPr>
            <p:cNvPr id="9" name="Right Brace 8"/>
            <p:cNvSpPr/>
            <p:nvPr/>
          </p:nvSpPr>
          <p:spPr>
            <a:xfrm rot="10800000">
              <a:off x="2743200" y="4724400"/>
              <a:ext cx="228599" cy="228600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438400" y="4724400"/>
              <a:ext cx="228600" cy="2286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93534" y="3523327"/>
            <a:ext cx="583252" cy="444801"/>
            <a:chOff x="4674548" y="3276600"/>
            <a:chExt cx="583252" cy="444801"/>
          </a:xfrm>
        </p:grpSpPr>
        <p:sp>
          <p:nvSpPr>
            <p:cNvPr id="10" name="Right Brace 9"/>
            <p:cNvSpPr/>
            <p:nvPr/>
          </p:nvSpPr>
          <p:spPr>
            <a:xfrm rot="10800000" flipH="1">
              <a:off x="4674548" y="3276600"/>
              <a:ext cx="228599" cy="444801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029200" y="3384701"/>
              <a:ext cx="228600" cy="2286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93533" y="4285327"/>
            <a:ext cx="583253" cy="444801"/>
            <a:chOff x="4674547" y="4038600"/>
            <a:chExt cx="583253" cy="444801"/>
          </a:xfrm>
        </p:grpSpPr>
        <p:sp>
          <p:nvSpPr>
            <p:cNvPr id="12" name="Right Brace 11"/>
            <p:cNvSpPr/>
            <p:nvPr/>
          </p:nvSpPr>
          <p:spPr>
            <a:xfrm rot="10800000" flipH="1">
              <a:off x="4674547" y="4038600"/>
              <a:ext cx="228599" cy="444801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029200" y="4146700"/>
              <a:ext cx="228600" cy="2286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23" name="Line Callout 2 22"/>
          <p:cNvSpPr/>
          <p:nvPr/>
        </p:nvSpPr>
        <p:spPr>
          <a:xfrm>
            <a:off x="4790986" y="1812512"/>
            <a:ext cx="2143214" cy="612648"/>
          </a:xfrm>
          <a:prstGeom prst="borderCallout2">
            <a:avLst>
              <a:gd name="adj1" fmla="val 46648"/>
              <a:gd name="adj2" fmla="val -2726"/>
              <a:gd name="adj3" fmla="val 46648"/>
              <a:gd name="adj4" fmla="val -10970"/>
              <a:gd name="adj5" fmla="val 92972"/>
              <a:gd name="adj6" fmla="val -2752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 smtClean="0"/>
              <a:t>doctype</a:t>
            </a:r>
            <a:r>
              <a:rPr lang="en-US" sz="1400" dirty="0" smtClean="0"/>
              <a:t> indicates the type of document</a:t>
            </a:r>
            <a:endParaRPr lang="en-US" sz="1400" dirty="0"/>
          </a:p>
        </p:txBody>
      </p:sp>
      <p:sp>
        <p:nvSpPr>
          <p:cNvPr id="24" name="Line Callout 2 23"/>
          <p:cNvSpPr/>
          <p:nvPr/>
        </p:nvSpPr>
        <p:spPr>
          <a:xfrm>
            <a:off x="6031372" y="3066127"/>
            <a:ext cx="2143214" cy="679601"/>
          </a:xfrm>
          <a:prstGeom prst="borderCallout2">
            <a:avLst>
              <a:gd name="adj1" fmla="val 46648"/>
              <a:gd name="adj2" fmla="val -2726"/>
              <a:gd name="adj3" fmla="val 46648"/>
              <a:gd name="adj4" fmla="val -10970"/>
              <a:gd name="adj5" fmla="val 88787"/>
              <a:gd name="adj6" fmla="val -267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head section contains information about the document</a:t>
            </a:r>
            <a:endParaRPr lang="en-US" sz="1400" dirty="0"/>
          </a:p>
        </p:txBody>
      </p:sp>
      <p:sp>
        <p:nvSpPr>
          <p:cNvPr id="25" name="Line Callout 2 24"/>
          <p:cNvSpPr/>
          <p:nvPr/>
        </p:nvSpPr>
        <p:spPr>
          <a:xfrm>
            <a:off x="6037069" y="4520805"/>
            <a:ext cx="2143214" cy="679601"/>
          </a:xfrm>
          <a:prstGeom prst="borderCallout2">
            <a:avLst>
              <a:gd name="adj1" fmla="val 46648"/>
              <a:gd name="adj2" fmla="val -2726"/>
              <a:gd name="adj3" fmla="val 46648"/>
              <a:gd name="adj4" fmla="val -10970"/>
              <a:gd name="adj5" fmla="val 3279"/>
              <a:gd name="adj6" fmla="val -2553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body section contains content to be displayed in Web browsers</a:t>
            </a:r>
            <a:endParaRPr lang="en-US" sz="1400" dirty="0"/>
          </a:p>
        </p:txBody>
      </p:sp>
      <p:sp>
        <p:nvSpPr>
          <p:cNvPr id="26" name="Line Callout 2 25"/>
          <p:cNvSpPr/>
          <p:nvPr/>
        </p:nvSpPr>
        <p:spPr>
          <a:xfrm>
            <a:off x="937901" y="2761327"/>
            <a:ext cx="1457414" cy="339663"/>
          </a:xfrm>
          <a:prstGeom prst="borderCallout2">
            <a:avLst>
              <a:gd name="adj1" fmla="val 46648"/>
              <a:gd name="adj2" fmla="val 100946"/>
              <a:gd name="adj3" fmla="val 46648"/>
              <a:gd name="adj4" fmla="val 107057"/>
              <a:gd name="adj5" fmla="val 98848"/>
              <a:gd name="adj6" fmla="val 11958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opening html tag</a:t>
            </a:r>
            <a:endParaRPr lang="en-US" sz="1400" dirty="0"/>
          </a:p>
        </p:txBody>
      </p:sp>
      <p:sp>
        <p:nvSpPr>
          <p:cNvPr id="27" name="Line Callout 2 26"/>
          <p:cNvSpPr/>
          <p:nvPr/>
        </p:nvSpPr>
        <p:spPr>
          <a:xfrm>
            <a:off x="937901" y="4631464"/>
            <a:ext cx="1457414" cy="339663"/>
          </a:xfrm>
          <a:prstGeom prst="borderCallout2">
            <a:avLst>
              <a:gd name="adj1" fmla="val 46648"/>
              <a:gd name="adj2" fmla="val 100946"/>
              <a:gd name="adj3" fmla="val 46648"/>
              <a:gd name="adj4" fmla="val 107057"/>
              <a:gd name="adj5" fmla="val 103880"/>
              <a:gd name="adj6" fmla="val 120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closing html tag</a:t>
            </a:r>
            <a:endParaRPr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085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Recap …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395380" cy="536674"/>
          </a:xfrm>
        </p:spPr>
        <p:txBody>
          <a:bodyPr>
            <a:normAutofit/>
          </a:bodyPr>
          <a:lstStyle/>
          <a:p>
            <a:r>
              <a:rPr lang="en-GB" sz="2400" dirty="0" smtClean="0"/>
              <a:t>HTML Element </a:t>
            </a:r>
            <a:r>
              <a:rPr lang="en-GB" sz="2400" dirty="0" err="1" smtClean="0"/>
              <a:t>vs</a:t>
            </a:r>
            <a:r>
              <a:rPr lang="en-GB" sz="2400" dirty="0" smtClean="0"/>
              <a:t> HTML Attribute</a:t>
            </a:r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endParaRPr lang="en-US" sz="2400" dirty="0" smtClean="0"/>
          </a:p>
          <a:p>
            <a:endParaRPr lang="en-SG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95600" y="2150477"/>
            <a:ext cx="25146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&lt;h1&gt;Heading 1&lt;/h1&gt;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572000" y="1832074"/>
            <a:ext cx="3124200" cy="656957"/>
            <a:chOff x="4572000" y="1832074"/>
            <a:chExt cx="3124200" cy="656957"/>
          </a:xfrm>
        </p:grpSpPr>
        <p:sp>
          <p:nvSpPr>
            <p:cNvPr id="7" name="Line Callout 1 6"/>
            <p:cNvSpPr/>
            <p:nvPr/>
          </p:nvSpPr>
          <p:spPr>
            <a:xfrm>
              <a:off x="5715000" y="1832074"/>
              <a:ext cx="1981200" cy="612648"/>
            </a:xfrm>
            <a:prstGeom prst="borderCallout1">
              <a:avLst>
                <a:gd name="adj1" fmla="val 50733"/>
                <a:gd name="adj2" fmla="val 200"/>
                <a:gd name="adj3" fmla="val 76252"/>
                <a:gd name="adj4" fmla="val -23904"/>
              </a:avLst>
            </a:prstGeom>
            <a:ln>
              <a:tailEnd type="arrow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Closing element/tag always have a backslash </a:t>
              </a:r>
              <a:endParaRPr lang="en-US" sz="14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2150477"/>
              <a:ext cx="685800" cy="338554"/>
            </a:xfrm>
            <a:prstGeom prst="round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57200" y="2025413"/>
            <a:ext cx="3047999" cy="612648"/>
            <a:chOff x="838200" y="2025413"/>
            <a:chExt cx="2666999" cy="612648"/>
          </a:xfrm>
        </p:grpSpPr>
        <p:sp>
          <p:nvSpPr>
            <p:cNvPr id="9" name="Rounded Rectangle 8"/>
            <p:cNvSpPr/>
            <p:nvPr/>
          </p:nvSpPr>
          <p:spPr>
            <a:xfrm>
              <a:off x="3038475" y="2162460"/>
              <a:ext cx="466724" cy="338554"/>
            </a:xfrm>
            <a:prstGeom prst="round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Line Callout 1 9"/>
            <p:cNvSpPr/>
            <p:nvPr/>
          </p:nvSpPr>
          <p:spPr>
            <a:xfrm>
              <a:off x="838200" y="2025413"/>
              <a:ext cx="1524000" cy="612648"/>
            </a:xfrm>
            <a:prstGeom prst="borderCallout1">
              <a:avLst>
                <a:gd name="adj1" fmla="val 48601"/>
                <a:gd name="adj2" fmla="val 101079"/>
                <a:gd name="adj3" fmla="val 48533"/>
                <a:gd name="adj4" fmla="val 143123"/>
              </a:avLst>
            </a:prstGeom>
            <a:ln>
              <a:tailEnd type="arrow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Starting element/tag without attribute</a:t>
              </a:r>
              <a:endParaRPr lang="en-US" sz="14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971801" y="2291560"/>
            <a:ext cx="2133600" cy="829544"/>
            <a:chOff x="2971801" y="2291560"/>
            <a:chExt cx="2133600" cy="829544"/>
          </a:xfrm>
        </p:grpSpPr>
        <p:sp>
          <p:nvSpPr>
            <p:cNvPr id="11" name="Right Brace 10"/>
            <p:cNvSpPr/>
            <p:nvPr/>
          </p:nvSpPr>
          <p:spPr>
            <a:xfrm rot="16200000" flipH="1">
              <a:off x="3885440" y="1911323"/>
              <a:ext cx="306323" cy="1066798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71801" y="2597884"/>
              <a:ext cx="2133600" cy="52322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dirty="0" smtClean="0"/>
                <a:t>Element content displayed in web browser</a:t>
              </a:r>
              <a:endParaRPr lang="en-SG" sz="14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895600" y="3345392"/>
            <a:ext cx="251460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&lt;table border="1"&gt; &lt;/table&gt;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3809999" y="2680006"/>
            <a:ext cx="4734198" cy="1003940"/>
            <a:chOff x="3809999" y="2680006"/>
            <a:chExt cx="4734198" cy="1003940"/>
          </a:xfrm>
        </p:grpSpPr>
        <p:sp>
          <p:nvSpPr>
            <p:cNvPr id="14" name="Line Callout 1 13"/>
            <p:cNvSpPr/>
            <p:nvPr/>
          </p:nvSpPr>
          <p:spPr>
            <a:xfrm>
              <a:off x="5715000" y="2680006"/>
              <a:ext cx="2829197" cy="882196"/>
            </a:xfrm>
            <a:prstGeom prst="borderCallout1">
              <a:avLst>
                <a:gd name="adj1" fmla="val 50082"/>
                <a:gd name="adj2" fmla="val -37"/>
                <a:gd name="adj3" fmla="val 81642"/>
                <a:gd name="adj4" fmla="val -22516"/>
              </a:avLst>
            </a:prstGeom>
            <a:ln>
              <a:tailEnd type="arrow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Attribute is always added in the starting element tag . Value of attribute is enclosed with double quote or single quote.</a:t>
              </a:r>
              <a:endParaRPr lang="en-US" sz="1400" dirty="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09999" y="3345392"/>
              <a:ext cx="1295401" cy="338554"/>
            </a:xfrm>
            <a:prstGeom prst="round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910842" y="4038600"/>
            <a:ext cx="25146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/&gt;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57200" y="3764506"/>
            <a:ext cx="3352799" cy="612648"/>
            <a:chOff x="773430" y="2422863"/>
            <a:chExt cx="2933699" cy="612648"/>
          </a:xfrm>
        </p:grpSpPr>
        <p:sp>
          <p:nvSpPr>
            <p:cNvPr id="21" name="Rounded Rectangle 20"/>
            <p:cNvSpPr/>
            <p:nvPr/>
          </p:nvSpPr>
          <p:spPr>
            <a:xfrm>
              <a:off x="2973707" y="2696957"/>
              <a:ext cx="733422" cy="338554"/>
            </a:xfrm>
            <a:prstGeom prst="round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Line Callout 1 21"/>
            <p:cNvSpPr/>
            <p:nvPr/>
          </p:nvSpPr>
          <p:spPr>
            <a:xfrm>
              <a:off x="773430" y="2422863"/>
              <a:ext cx="1588770" cy="612648"/>
            </a:xfrm>
            <a:prstGeom prst="borderCallout1">
              <a:avLst>
                <a:gd name="adj1" fmla="val 48601"/>
                <a:gd name="adj2" fmla="val 101079"/>
                <a:gd name="adj3" fmla="val 65590"/>
                <a:gd name="adj4" fmla="val 138623"/>
              </a:avLst>
            </a:prstGeom>
            <a:ln>
              <a:tailEnd type="arrow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Empty element closed in the starting tag </a:t>
              </a:r>
              <a:endParaRPr lang="en-US" sz="1400" dirty="0"/>
            </a:p>
          </p:txBody>
        </p:sp>
      </p:grpSp>
      <p:pic>
        <p:nvPicPr>
          <p:cNvPr id="24" name="Picture 2" descr="illustration of CELLSPACING attribu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181600"/>
            <a:ext cx="2482462" cy="149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illustration of CELLPADDING attribu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44673" y="5206452"/>
            <a:ext cx="3065927" cy="149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/>
          <p:cNvGrpSpPr/>
          <p:nvPr/>
        </p:nvGrpSpPr>
        <p:grpSpPr>
          <a:xfrm>
            <a:off x="152400" y="5201557"/>
            <a:ext cx="5029200" cy="665843"/>
            <a:chOff x="152400" y="5201557"/>
            <a:chExt cx="5029200" cy="665843"/>
          </a:xfrm>
        </p:grpSpPr>
        <p:sp>
          <p:nvSpPr>
            <p:cNvPr id="26" name="Rounded Rectangle 25"/>
            <p:cNvSpPr/>
            <p:nvPr/>
          </p:nvSpPr>
          <p:spPr>
            <a:xfrm>
              <a:off x="2895600" y="5410200"/>
              <a:ext cx="2286000" cy="457200"/>
            </a:xfrm>
            <a:prstGeom prst="round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Line Callout 1 26"/>
            <p:cNvSpPr/>
            <p:nvPr/>
          </p:nvSpPr>
          <p:spPr>
            <a:xfrm>
              <a:off x="152400" y="5201557"/>
              <a:ext cx="2046514" cy="612648"/>
            </a:xfrm>
            <a:prstGeom prst="borderCallout1">
              <a:avLst>
                <a:gd name="adj1" fmla="val 48601"/>
                <a:gd name="adj2" fmla="val 101079"/>
                <a:gd name="adj3" fmla="val 63459"/>
                <a:gd name="adj4" fmla="val 133517"/>
              </a:avLst>
            </a:prstGeom>
            <a:ln>
              <a:tailEnd type="arrow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Use &lt;</a:t>
              </a:r>
              <a:r>
                <a:rPr lang="en-US" sz="1400" dirty="0" err="1" smtClean="0"/>
                <a:t>tr</a:t>
              </a:r>
              <a:r>
                <a:rPr lang="en-US" sz="1400" dirty="0" smtClean="0"/>
                <a:t>&gt; to define a row. A row of two cells &lt;td&gt;</a:t>
              </a:r>
              <a:endParaRPr lang="en-US" sz="14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52400" y="4521385"/>
            <a:ext cx="5257799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&lt;table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cellspacing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="5"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cellpadding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="5“&gt;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&lt;/table&gt;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099559" y="4478818"/>
            <a:ext cx="4206241" cy="1468664"/>
            <a:chOff x="4099559" y="4478818"/>
            <a:chExt cx="4206241" cy="1468664"/>
          </a:xfrm>
        </p:grpSpPr>
        <p:sp>
          <p:nvSpPr>
            <p:cNvPr id="28" name="Rounded Rectangle 27"/>
            <p:cNvSpPr/>
            <p:nvPr/>
          </p:nvSpPr>
          <p:spPr>
            <a:xfrm>
              <a:off x="4099559" y="5341765"/>
              <a:ext cx="990600" cy="605717"/>
            </a:xfrm>
            <a:prstGeom prst="round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Line Callout 1 30"/>
            <p:cNvSpPr/>
            <p:nvPr/>
          </p:nvSpPr>
          <p:spPr>
            <a:xfrm>
              <a:off x="5553382" y="4478818"/>
              <a:ext cx="2752418" cy="612648"/>
            </a:xfrm>
            <a:prstGeom prst="borderCallout1">
              <a:avLst>
                <a:gd name="adj1" fmla="val 50733"/>
                <a:gd name="adj2" fmla="val 200"/>
                <a:gd name="adj3" fmla="val 138086"/>
                <a:gd name="adj4" fmla="val -18578"/>
              </a:avLst>
            </a:prstGeom>
            <a:ln>
              <a:tailEnd type="arrow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 smtClean="0"/>
                <a:t>Use &lt;td&gt; to define a table data </a:t>
              </a:r>
            </a:p>
            <a:p>
              <a:r>
                <a:rPr lang="en-US" sz="1400" dirty="0" smtClean="0"/>
                <a:t>Use &lt;</a:t>
              </a:r>
              <a:r>
                <a:rPr lang="en-US" sz="1400" dirty="0" err="1" smtClean="0"/>
                <a:t>th</a:t>
              </a:r>
              <a:r>
                <a:rPr lang="en-US" sz="1400" dirty="0" smtClean="0"/>
                <a:t>&gt; to define a table header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95457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3" grpId="0" animBg="1"/>
      <p:bldP spid="1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Recap …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54577" y="2228671"/>
            <a:ext cx="2819400" cy="2277547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Heading Elements</a:t>
            </a:r>
          </a:p>
          <a:p>
            <a:r>
              <a:rPr lang="en-US" sz="1400" dirty="0" smtClean="0"/>
              <a:t>&lt;h1&gt;Largest Heading &lt;/h1&gt;</a:t>
            </a:r>
          </a:p>
          <a:p>
            <a:endParaRPr lang="en-US" sz="1400" dirty="0"/>
          </a:p>
          <a:p>
            <a:r>
              <a:rPr lang="en-US" sz="1400" dirty="0" smtClean="0"/>
              <a:t>&lt;h2&gt; . . . &lt;/h2&gt;</a:t>
            </a:r>
          </a:p>
          <a:p>
            <a:r>
              <a:rPr lang="en-US" sz="1400" dirty="0" smtClean="0"/>
              <a:t>&lt;h3&gt; . . . &lt;/h3&gt;</a:t>
            </a:r>
          </a:p>
          <a:p>
            <a:r>
              <a:rPr lang="en-US" sz="1400" dirty="0" smtClean="0"/>
              <a:t>&lt;h4&gt; . . . &lt;/h4&gt;</a:t>
            </a:r>
          </a:p>
          <a:p>
            <a:r>
              <a:rPr lang="en-US" sz="1400" dirty="0" smtClean="0"/>
              <a:t>&lt;h5&gt; . . . &lt;/h5&gt;</a:t>
            </a:r>
          </a:p>
          <a:p>
            <a:endParaRPr lang="en-US" sz="1400" dirty="0" smtClean="0"/>
          </a:p>
          <a:p>
            <a:r>
              <a:rPr lang="en-US" sz="1400" dirty="0" smtClean="0"/>
              <a:t>&lt;h6&gt;Smallest Heading&lt;/h6&gt;</a:t>
            </a:r>
          </a:p>
          <a:p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119846" y="2228671"/>
            <a:ext cx="2819400" cy="2277547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Text Elements</a:t>
            </a:r>
          </a:p>
          <a:p>
            <a:r>
              <a:rPr lang="en-US" sz="1400" dirty="0" smtClean="0"/>
              <a:t>&lt;p&gt;This is a paragraph &lt;/p&gt;</a:t>
            </a:r>
          </a:p>
          <a:p>
            <a:r>
              <a:rPr lang="en-US" sz="1400" dirty="0" smtClean="0"/>
              <a:t>&lt;</a:t>
            </a:r>
            <a:r>
              <a:rPr lang="en-US" sz="1400" dirty="0" err="1" smtClean="0"/>
              <a:t>br</a:t>
            </a:r>
            <a:r>
              <a:rPr lang="en-US" sz="1400" dirty="0" smtClean="0"/>
              <a:t> /&gt; (line break)</a:t>
            </a:r>
          </a:p>
          <a:p>
            <a:r>
              <a:rPr lang="en-US" sz="1400" dirty="0" smtClean="0"/>
              <a:t>&lt;</a:t>
            </a:r>
            <a:r>
              <a:rPr lang="en-US" sz="1400" dirty="0" err="1" smtClean="0"/>
              <a:t>hr</a:t>
            </a:r>
            <a:r>
              <a:rPr lang="en-US" sz="1400" dirty="0" smtClean="0"/>
              <a:t> /&gt; (horizontal rule)</a:t>
            </a:r>
          </a:p>
          <a:p>
            <a:r>
              <a:rPr lang="en-US" sz="1400" dirty="0" smtClean="0"/>
              <a:t>&lt;!-- This is comment --&gt;</a:t>
            </a:r>
          </a:p>
          <a:p>
            <a:endParaRPr lang="en-US" sz="1400" dirty="0" smtClean="0"/>
          </a:p>
          <a:p>
            <a:r>
              <a:rPr lang="en-US" sz="1400" dirty="0" smtClean="0"/>
              <a:t>&lt;</a:t>
            </a:r>
            <a:r>
              <a:rPr lang="en-US" sz="1400" dirty="0" err="1" smtClean="0"/>
              <a:t>em</a:t>
            </a:r>
            <a:r>
              <a:rPr lang="en-US" sz="1400" dirty="0" smtClean="0"/>
              <a:t>&gt;This text is emphasized&lt;/</a:t>
            </a:r>
            <a:r>
              <a:rPr lang="en-US" sz="1400" dirty="0" err="1" smtClean="0"/>
              <a:t>em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&lt;strong&gt;This text is strong&lt;/strong&gt;</a:t>
            </a:r>
          </a:p>
          <a:p>
            <a:r>
              <a:rPr lang="en-US" sz="1400" dirty="0" smtClean="0"/>
              <a:t>&lt;b&gt; This text is bold &lt;/b&gt;</a:t>
            </a:r>
          </a:p>
          <a:p>
            <a:r>
              <a:rPr lang="en-US" sz="1400" dirty="0" smtClean="0"/>
              <a:t>&lt;</a:t>
            </a:r>
            <a:r>
              <a:rPr lang="en-US" sz="1400" dirty="0" err="1" smtClean="0"/>
              <a:t>i</a:t>
            </a:r>
            <a:r>
              <a:rPr lang="en-US" sz="1400" dirty="0" smtClean="0"/>
              <a:t>&gt;This text is italic&lt;/</a:t>
            </a:r>
            <a:r>
              <a:rPr lang="en-US" sz="1400" dirty="0" err="1" smtClean="0"/>
              <a:t>i</a:t>
            </a:r>
            <a:r>
              <a:rPr lang="en-US" sz="1400" dirty="0" smtClean="0"/>
              <a:t>&gt;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082937" y="1295400"/>
            <a:ext cx="2819400" cy="1846659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Links</a:t>
            </a:r>
          </a:p>
          <a:p>
            <a:r>
              <a:rPr lang="en-US" sz="1400" dirty="0" smtClean="0"/>
              <a:t>&lt;a </a:t>
            </a:r>
            <a:r>
              <a:rPr lang="en-US" sz="1400" dirty="0" err="1" smtClean="0"/>
              <a:t>href</a:t>
            </a:r>
            <a:r>
              <a:rPr lang="en-US" sz="1400" dirty="0" smtClean="0"/>
              <a:t>=“index.html”&gt;Link text&lt;/a&gt;</a:t>
            </a:r>
          </a:p>
          <a:p>
            <a:endParaRPr lang="en-US" sz="1400" dirty="0"/>
          </a:p>
          <a:p>
            <a:r>
              <a:rPr lang="en-US" sz="1400" dirty="0" smtClean="0"/>
              <a:t>Named anchor:</a:t>
            </a:r>
          </a:p>
          <a:p>
            <a:r>
              <a:rPr lang="en-US" sz="1400" dirty="0" smtClean="0"/>
              <a:t>&lt;a name=“</a:t>
            </a:r>
            <a:r>
              <a:rPr lang="en-US" sz="1400" dirty="0" err="1" smtClean="0"/>
              <a:t>aboutus</a:t>
            </a:r>
            <a:r>
              <a:rPr lang="en-US" sz="1400" dirty="0" smtClean="0"/>
              <a:t>”&gt;About Us&lt;/a&gt;</a:t>
            </a:r>
          </a:p>
          <a:p>
            <a:r>
              <a:rPr lang="en-US" sz="1400" dirty="0" smtClean="0"/>
              <a:t>&lt;a </a:t>
            </a:r>
            <a:r>
              <a:rPr lang="en-US" sz="1400" dirty="0" err="1" smtClean="0"/>
              <a:t>href</a:t>
            </a:r>
            <a:r>
              <a:rPr lang="en-US" sz="1400" dirty="0" smtClean="0"/>
              <a:t>=“#</a:t>
            </a:r>
            <a:r>
              <a:rPr lang="en-US" sz="1400" dirty="0" err="1" smtClean="0"/>
              <a:t>aboutus</a:t>
            </a:r>
            <a:r>
              <a:rPr lang="en-US" sz="1400" dirty="0" smtClean="0"/>
              <a:t>”&gt;Jump to About Us&lt;/a&gt;</a:t>
            </a:r>
          </a:p>
          <a:p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154577" y="4590871"/>
            <a:ext cx="2819400" cy="1200329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Unordered List</a:t>
            </a:r>
          </a:p>
          <a:p>
            <a:r>
              <a:rPr lang="en-US" sz="1400" dirty="0" smtClean="0"/>
              <a:t>&lt;</a:t>
            </a:r>
            <a:r>
              <a:rPr lang="en-US" sz="1400" dirty="0" err="1" smtClean="0"/>
              <a:t>ul</a:t>
            </a:r>
            <a:r>
              <a:rPr lang="en-US" sz="1400" dirty="0" smtClean="0"/>
              <a:t>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&lt;li&gt;Item&lt;/li&gt;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&lt;li&gt;Item&lt;/li&gt;</a:t>
            </a:r>
          </a:p>
          <a:p>
            <a:r>
              <a:rPr lang="en-US" sz="1400" dirty="0" smtClean="0"/>
              <a:t>&lt;/</a:t>
            </a:r>
            <a:r>
              <a:rPr lang="en-US" sz="1400" dirty="0" err="1" smtClean="0"/>
              <a:t>ul</a:t>
            </a:r>
            <a:r>
              <a:rPr lang="en-US" sz="1400" dirty="0" smtClean="0"/>
              <a:t>&gt;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119846" y="4590871"/>
            <a:ext cx="2819400" cy="1200329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Ordered List</a:t>
            </a:r>
          </a:p>
          <a:p>
            <a:r>
              <a:rPr lang="en-US" sz="1400" dirty="0" smtClean="0"/>
              <a:t>&lt;</a:t>
            </a:r>
            <a:r>
              <a:rPr lang="en-US" sz="1400" dirty="0" err="1"/>
              <a:t>o</a:t>
            </a:r>
            <a:r>
              <a:rPr lang="en-US" sz="1400" dirty="0" err="1" smtClean="0"/>
              <a:t>l</a:t>
            </a:r>
            <a:r>
              <a:rPr lang="en-US" sz="1400" dirty="0" smtClean="0"/>
              <a:t>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&lt;li&gt;Item 1&lt;/li&gt;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&lt;li&gt;Item 2&lt;/li&gt;</a:t>
            </a:r>
          </a:p>
          <a:p>
            <a:r>
              <a:rPr lang="en-US" sz="1400" dirty="0" smtClean="0"/>
              <a:t>&lt;/</a:t>
            </a:r>
            <a:r>
              <a:rPr lang="en-US" sz="1400" dirty="0" err="1"/>
              <a:t>o</a:t>
            </a:r>
            <a:r>
              <a:rPr lang="en-US" sz="1400" smtClean="0"/>
              <a:t>l</a:t>
            </a:r>
            <a:r>
              <a:rPr lang="en-US" sz="1400" dirty="0" smtClean="0"/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1646" y="3276600"/>
            <a:ext cx="2819400" cy="313932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Tables</a:t>
            </a:r>
          </a:p>
          <a:p>
            <a:r>
              <a:rPr lang="en-US" sz="1400" dirty="0" smtClean="0"/>
              <a:t>&lt;table border=“1” </a:t>
            </a:r>
            <a:r>
              <a:rPr lang="en-US" sz="1400" dirty="0" err="1" smtClean="0"/>
              <a:t>cellpadding</a:t>
            </a:r>
            <a:r>
              <a:rPr lang="en-US" sz="1400" dirty="0" smtClean="0"/>
              <a:t>=“5” </a:t>
            </a:r>
            <a:r>
              <a:rPr lang="en-US" sz="1400" dirty="0" err="1" smtClean="0"/>
              <a:t>cellspacing</a:t>
            </a:r>
            <a:r>
              <a:rPr lang="en-US" sz="1400" dirty="0" smtClean="0"/>
              <a:t>=“5”&gt;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&lt;caption&gt;Table Caption&lt;/caption&gt;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&lt;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 &lt;</a:t>
            </a:r>
            <a:r>
              <a:rPr lang="en-US" sz="1400" dirty="0" err="1" smtClean="0"/>
              <a:t>th</a:t>
            </a:r>
            <a:r>
              <a:rPr lang="en-US" sz="1400" dirty="0" smtClean="0"/>
              <a:t>&gt;Table Header&lt;/</a:t>
            </a:r>
            <a:r>
              <a:rPr lang="en-US" sz="1400" dirty="0" err="1" smtClean="0"/>
              <a:t>th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</a:t>
            </a:r>
            <a:r>
              <a:rPr lang="en-US" sz="1400" dirty="0"/>
              <a:t>&lt;</a:t>
            </a:r>
            <a:r>
              <a:rPr lang="en-US" sz="1400" dirty="0" err="1"/>
              <a:t>th</a:t>
            </a:r>
            <a:r>
              <a:rPr lang="en-US" sz="1400" dirty="0"/>
              <a:t>&gt;Table Header&lt;/</a:t>
            </a:r>
            <a:r>
              <a:rPr lang="en-US" sz="1400" dirty="0" err="1"/>
              <a:t>th</a:t>
            </a:r>
            <a:r>
              <a:rPr lang="en-US" sz="1400" dirty="0" smtClean="0"/>
              <a:t>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&lt;/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&lt;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   &lt;td&gt;Table Data&lt;/td&gt;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 &lt;td&gt;Table Data&lt;/td&gt;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&lt;/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</a:p>
          <a:p>
            <a:r>
              <a:rPr lang="en-US" sz="1400" dirty="0" smtClean="0"/>
              <a:t>&lt;/table&gt;</a:t>
            </a:r>
          </a:p>
          <a:p>
            <a:endParaRPr lang="en-US" sz="1400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87234" y="1295400"/>
            <a:ext cx="5638799" cy="8078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000" dirty="0"/>
              <a:t>Use lowercase for tag and attribute</a:t>
            </a:r>
          </a:p>
          <a:p>
            <a:r>
              <a:rPr lang="en-US" sz="2000" dirty="0"/>
              <a:t>All tags must be nested properly and not overlap</a:t>
            </a:r>
          </a:p>
          <a:p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xmlns="" val="210505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5947580" cy="487680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Understand the history of World Wide Web</a:t>
            </a:r>
          </a:p>
          <a:p>
            <a:pPr lvl="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Understand the history of markup languages</a:t>
            </a:r>
          </a:p>
          <a:p>
            <a:pPr lvl="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Understand the basic elements of markup language tag</a:t>
            </a:r>
          </a:p>
          <a:p>
            <a:pPr lvl="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Learn how to create a web page and website</a:t>
            </a:r>
          </a:p>
          <a:p>
            <a:pPr lvl="0"/>
            <a:r>
              <a:rPr lang="en-US" sz="2400" dirty="0"/>
              <a:t>Learn how to create interactive web page using emerging markup languages</a:t>
            </a:r>
          </a:p>
          <a:p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7072430" y="1371600"/>
            <a:ext cx="1246643" cy="2667000"/>
            <a:chOff x="6172200" y="1371600"/>
            <a:chExt cx="1246643" cy="3124200"/>
          </a:xfrm>
        </p:grpSpPr>
        <p:sp>
          <p:nvSpPr>
            <p:cNvPr id="5" name="Right Brace 4"/>
            <p:cNvSpPr/>
            <p:nvPr/>
          </p:nvSpPr>
          <p:spPr>
            <a:xfrm>
              <a:off x="6172200" y="1371600"/>
              <a:ext cx="304800" cy="3124200"/>
            </a:xfrm>
            <a:prstGeom prst="rightBrac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669599" y="2749034"/>
              <a:ext cx="749244" cy="432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Part 1</a:t>
              </a:r>
              <a:endPara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076064" y="4095738"/>
            <a:ext cx="1246643" cy="857262"/>
            <a:chOff x="6172200" y="4572000"/>
            <a:chExt cx="1246643" cy="1143000"/>
          </a:xfrm>
        </p:grpSpPr>
        <p:sp>
          <p:nvSpPr>
            <p:cNvPr id="6" name="Right Brace 5"/>
            <p:cNvSpPr/>
            <p:nvPr/>
          </p:nvSpPr>
          <p:spPr>
            <a:xfrm>
              <a:off x="6172200" y="4572000"/>
              <a:ext cx="304800" cy="1143000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69599" y="4958835"/>
              <a:ext cx="749244" cy="492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Part 2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105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Advanced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HTML Layout</a:t>
            </a:r>
          </a:p>
          <a:p>
            <a:pPr lvl="1"/>
            <a:r>
              <a:rPr lang="en-US" sz="1800" dirty="0" smtClean="0"/>
              <a:t>Web page layout is very important to make your website look good</a:t>
            </a:r>
          </a:p>
          <a:p>
            <a:pPr lvl="1"/>
            <a:r>
              <a:rPr lang="en-US" sz="1800" dirty="0" smtClean="0"/>
              <a:t>Multiple columns are created using </a:t>
            </a:r>
            <a:r>
              <a:rPr lang="en-US" sz="1800" b="1" dirty="0" smtClean="0"/>
              <a:t>&lt;table&gt; </a:t>
            </a:r>
            <a:r>
              <a:rPr lang="en-US" sz="1800" dirty="0" smtClean="0"/>
              <a:t>or </a:t>
            </a:r>
            <a:r>
              <a:rPr lang="en-US" sz="1800" b="1" dirty="0" smtClean="0"/>
              <a:t>&lt;div&gt; </a:t>
            </a:r>
            <a:r>
              <a:rPr lang="en-US" sz="1800" dirty="0" smtClean="0"/>
              <a:t>tags</a:t>
            </a:r>
          </a:p>
          <a:p>
            <a:pPr lvl="1"/>
            <a:r>
              <a:rPr lang="en-US" sz="1800" dirty="0" smtClean="0"/>
              <a:t>Find out more at </a:t>
            </a:r>
            <a:r>
              <a:rPr lang="en-US" sz="1800" dirty="0">
                <a:hlinkClick r:id="rId2"/>
              </a:rPr>
              <a:t>http://</a:t>
            </a:r>
            <a:r>
              <a:rPr lang="en-US" sz="1800" dirty="0" smtClean="0">
                <a:hlinkClick r:id="rId2"/>
              </a:rPr>
              <a:t>www.w3schools.com/html/html_layout.asp</a:t>
            </a:r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r>
              <a:rPr lang="en-US" sz="2000" b="1" dirty="0" smtClean="0">
                <a:solidFill>
                  <a:schemeClr val="tx2"/>
                </a:solidFill>
              </a:rPr>
              <a:t>HTML Object</a:t>
            </a:r>
          </a:p>
          <a:p>
            <a:pPr lvl="1"/>
            <a:r>
              <a:rPr lang="en-US" sz="1800" b="1" dirty="0" smtClean="0"/>
              <a:t>&lt;object&gt; </a:t>
            </a:r>
            <a:r>
              <a:rPr lang="en-US" sz="1800" dirty="0" smtClean="0"/>
              <a:t>element used to support HTML helpers (plug-ins)</a:t>
            </a:r>
          </a:p>
          <a:p>
            <a:pPr lvl="1"/>
            <a:r>
              <a:rPr lang="en-US" sz="1800" dirty="0" smtClean="0"/>
              <a:t>Can be used to play audio and video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591056" y="2743200"/>
            <a:ext cx="6400800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&lt;div id="container" style="width:500px</a:t>
            </a:r>
            <a:r>
              <a:rPr lang="en-US" sz="1600" dirty="0" smtClean="0"/>
              <a:t>"&gt;&lt;/div&gt;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584960" y="4419600"/>
            <a:ext cx="6400800" cy="1569660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&lt;object width="420" height="360"</a:t>
            </a:r>
            <a:br>
              <a:rPr lang="en-US" sz="1600" dirty="0"/>
            </a:br>
            <a:r>
              <a:rPr lang="en-US" sz="1600" dirty="0" err="1"/>
              <a:t>classid</a:t>
            </a:r>
            <a:r>
              <a:rPr lang="en-US" sz="1600" dirty="0"/>
              <a:t>="clsid:02BF25D5-8C17-4B23-BC80-D3488ABDDC6B" </a:t>
            </a:r>
            <a:br>
              <a:rPr lang="en-US" sz="1600" dirty="0"/>
            </a:br>
            <a:r>
              <a:rPr lang="en-US" sz="1600" dirty="0"/>
              <a:t>codebase="http://www.apple.com/qtactivex/qtplugin.cab"&gt;</a:t>
            </a:r>
            <a:br>
              <a:rPr lang="en-US" sz="1600" dirty="0"/>
            </a:br>
            <a:r>
              <a:rPr lang="en-US" sz="1600" dirty="0"/>
              <a:t>&lt;</a:t>
            </a:r>
            <a:r>
              <a:rPr lang="en-US" sz="1600" dirty="0" err="1"/>
              <a:t>param</a:t>
            </a:r>
            <a:r>
              <a:rPr lang="en-US" sz="1600" dirty="0"/>
              <a:t> name="</a:t>
            </a:r>
            <a:r>
              <a:rPr lang="en-US" sz="1600" dirty="0" err="1"/>
              <a:t>src</a:t>
            </a:r>
            <a:r>
              <a:rPr lang="en-US" sz="1600" dirty="0"/>
              <a:t>" value="movie.mp4" /&gt;</a:t>
            </a:r>
            <a:br>
              <a:rPr lang="en-US" sz="1600" dirty="0"/>
            </a:br>
            <a:r>
              <a:rPr lang="en-US" sz="1600" dirty="0"/>
              <a:t>&lt;</a:t>
            </a:r>
            <a:r>
              <a:rPr lang="en-US" sz="1600" dirty="0" err="1"/>
              <a:t>param</a:t>
            </a:r>
            <a:r>
              <a:rPr lang="en-US" sz="1600" dirty="0"/>
              <a:t> name="controller" value="true" /&gt;</a:t>
            </a:r>
            <a:br>
              <a:rPr lang="en-US" sz="1600" dirty="0"/>
            </a:br>
            <a:r>
              <a:rPr lang="en-US" sz="1600" dirty="0"/>
              <a:t>&lt;/object&gt;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7851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HTML5?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HTML5 is the next generation of HTML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Address shortcomings of previous versions of HTML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Not only intended to describe page structure and layout and offers new features:</a:t>
            </a:r>
          </a:p>
          <a:p>
            <a:pPr lvl="1">
              <a:spcAft>
                <a:spcPts val="1000"/>
              </a:spcAft>
            </a:pPr>
            <a:r>
              <a:rPr lang="en-US" sz="2000" dirty="0"/>
              <a:t>The </a:t>
            </a:r>
            <a:r>
              <a:rPr lang="en-US" sz="2000" b="1" dirty="0"/>
              <a:t>&lt;canvas&gt; </a:t>
            </a:r>
            <a:r>
              <a:rPr lang="en-US" sz="2000" dirty="0"/>
              <a:t>element for 2D drawing</a:t>
            </a:r>
          </a:p>
          <a:p>
            <a:pPr lvl="1">
              <a:spcAft>
                <a:spcPts val="1000"/>
              </a:spcAft>
            </a:pPr>
            <a:r>
              <a:rPr lang="en-US" sz="2000" dirty="0"/>
              <a:t>The </a:t>
            </a:r>
            <a:r>
              <a:rPr lang="en-US" sz="2000" b="1" dirty="0"/>
              <a:t>&lt;video&gt; </a:t>
            </a:r>
            <a:r>
              <a:rPr lang="en-US" sz="2000" dirty="0"/>
              <a:t>and </a:t>
            </a:r>
            <a:r>
              <a:rPr lang="en-US" sz="2000" b="1" dirty="0"/>
              <a:t>&lt;audio&gt; </a:t>
            </a:r>
            <a:r>
              <a:rPr lang="en-US" sz="2000" dirty="0"/>
              <a:t>elements for media playback</a:t>
            </a:r>
          </a:p>
          <a:p>
            <a:pPr lvl="1">
              <a:spcAft>
                <a:spcPts val="1000"/>
              </a:spcAft>
            </a:pPr>
            <a:r>
              <a:rPr lang="en-US" sz="2000" dirty="0"/>
              <a:t>Support for local storage</a:t>
            </a:r>
          </a:p>
          <a:p>
            <a:pPr lvl="1">
              <a:spcAft>
                <a:spcPts val="1000"/>
              </a:spcAft>
            </a:pPr>
            <a:r>
              <a:rPr lang="en-US" sz="2000" dirty="0"/>
              <a:t>New content-specific elements, like </a:t>
            </a:r>
            <a:r>
              <a:rPr lang="en-US" sz="2000" b="1" dirty="0"/>
              <a:t>&lt;article&gt;</a:t>
            </a:r>
            <a:r>
              <a:rPr lang="en-US" sz="2000" dirty="0"/>
              <a:t>, </a:t>
            </a:r>
            <a:r>
              <a:rPr lang="en-US" sz="2000" b="1" dirty="0"/>
              <a:t>&lt;footer&gt;</a:t>
            </a:r>
            <a:r>
              <a:rPr lang="en-US" sz="2000" dirty="0"/>
              <a:t>, </a:t>
            </a:r>
            <a:r>
              <a:rPr lang="en-US" sz="2000" b="1" dirty="0"/>
              <a:t>&lt;header&gt;</a:t>
            </a:r>
            <a:r>
              <a:rPr lang="en-US" sz="2000" dirty="0"/>
              <a:t>, </a:t>
            </a:r>
            <a:r>
              <a:rPr lang="en-US" sz="2000" b="1" dirty="0"/>
              <a:t>&lt;</a:t>
            </a:r>
            <a:r>
              <a:rPr lang="en-US" sz="2000" b="1" dirty="0" err="1"/>
              <a:t>nav</a:t>
            </a:r>
            <a:r>
              <a:rPr lang="en-US" sz="2000" b="1" dirty="0"/>
              <a:t>&gt;</a:t>
            </a:r>
            <a:r>
              <a:rPr lang="en-US" sz="2000" dirty="0"/>
              <a:t>, </a:t>
            </a:r>
            <a:r>
              <a:rPr lang="en-US" sz="2000" b="1" dirty="0"/>
              <a:t>&lt;section&gt;</a:t>
            </a:r>
          </a:p>
          <a:p>
            <a:pPr lvl="1">
              <a:spcAft>
                <a:spcPts val="1000"/>
              </a:spcAft>
            </a:pPr>
            <a:r>
              <a:rPr lang="en-US" sz="2000" dirty="0"/>
              <a:t>New form controls, like calendar, date, time, email, </a:t>
            </a:r>
            <a:r>
              <a:rPr lang="en-US" sz="2000" dirty="0" err="1"/>
              <a:t>url</a:t>
            </a:r>
            <a:r>
              <a:rPr lang="en-US" sz="2000" dirty="0"/>
              <a:t>, </a:t>
            </a:r>
            <a:r>
              <a:rPr lang="en-US" sz="2000" dirty="0" smtClean="0"/>
              <a:t>search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dirty="0"/>
              <a:t> </a:t>
            </a:r>
            <a:endParaRPr lang="en-US" dirty="0" smtClean="0"/>
          </a:p>
          <a:p>
            <a:pPr lvl="1">
              <a:spcAft>
                <a:spcPts val="1000"/>
              </a:spcAft>
            </a:pPr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1026" name="Picture 2" descr="http://4.bp.blogspot.com/-qFCNef4gmmk/TwPbWT49DuI/AAAAAAAAAOc/ytx0uCWKfls/s320/HTML5_Logo_51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81000"/>
            <a:ext cx="1447799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857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New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New Structural Elements for better structure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39961784"/>
              </p:ext>
            </p:extLst>
          </p:nvPr>
        </p:nvGraphicFramePr>
        <p:xfrm>
          <a:off x="990600" y="1828800"/>
          <a:ext cx="73914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&lt;article&gt;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an article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&lt;aside&gt;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content aside from the page content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bdi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Isolates part of text formatted in different direction from other text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&lt;command&gt;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command button that a user can invoke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&lt;details&gt;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additional details</a:t>
                      </a:r>
                      <a:r>
                        <a:rPr lang="en-US" sz="1600" baseline="0" dirty="0" smtClean="0"/>
                        <a:t> that user can view or hide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&lt;summary&gt;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/>
                        <a:t>Defines a visible headings for &lt;details&gt; element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&lt;figure&gt;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Specifies a self-contained content like  illustrations, diagram, </a:t>
                      </a:r>
                      <a:r>
                        <a:rPr lang="en-US" sz="1600" baseline="0" dirty="0" err="1" smtClean="0"/>
                        <a:t>etc</a:t>
                      </a:r>
                      <a:endParaRPr lang="en-US" sz="1600" baseline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figcaption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Defines a caption for a &lt;figure&gt; element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hgroup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Groups a set of &lt;h1&gt; to &lt;h6&gt; elements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&lt;mark&gt;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Defines a marked/highlighted text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&lt;meter&gt;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Defines a scalar measurement within a known range (gauge)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8105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New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New Structural Elements for better structure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New &lt;canvas&gt; Element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46224338"/>
              </p:ext>
            </p:extLst>
          </p:nvPr>
        </p:nvGraphicFramePr>
        <p:xfrm>
          <a:off x="990600" y="1828800"/>
          <a:ext cx="7391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nav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navigation</a:t>
                      </a:r>
                      <a:r>
                        <a:rPr lang="en-US" sz="1600" baseline="0" dirty="0" smtClean="0"/>
                        <a:t> links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&lt;progress&gt;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Represents progress of a task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&lt;ruby&gt;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a ruby annotation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rt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an explanation/pronunciation</a:t>
                      </a:r>
                      <a:r>
                        <a:rPr lang="en-US" sz="1600" baseline="0" dirty="0" smtClean="0"/>
                        <a:t> of characters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rp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/>
                        <a:t>Defines what to show in browsers that do support ruby annotations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&lt;section&gt;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/>
                        <a:t>Defines a section in a document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&lt;time&gt;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Defines a date/time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wbr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Defines a possible line-break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70401895"/>
              </p:ext>
            </p:extLst>
          </p:nvPr>
        </p:nvGraphicFramePr>
        <p:xfrm>
          <a:off x="990600" y="5715000"/>
          <a:ext cx="73914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&lt;canvas&gt;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Used to draw graphics, on the fly, via scripting (usually JavaScript)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395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New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New Media Elements for media content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New Form Elements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2959992"/>
              </p:ext>
            </p:extLst>
          </p:nvPr>
        </p:nvGraphicFramePr>
        <p:xfrm>
          <a:off x="990600" y="1828800"/>
          <a:ext cx="7391400" cy="2433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&lt;audio&gt;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sound</a:t>
                      </a:r>
                      <a:r>
                        <a:rPr lang="en-US" sz="1600" baseline="0" dirty="0" smtClean="0"/>
                        <a:t> content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&lt;video&gt;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a video or movie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&lt;source&gt;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multiple media resources for &lt;video&gt; and &lt;audio&gt;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&lt;embed&gt;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a container for an external application or interactive content (a plug-in)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&lt;track&gt;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/>
                        <a:t>Defines text tracks for &lt;video&gt; and &lt;audio&gt;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85636942"/>
              </p:ext>
            </p:extLst>
          </p:nvPr>
        </p:nvGraphicFramePr>
        <p:xfrm>
          <a:off x="990600" y="4876800"/>
          <a:ext cx="739140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datalist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Specifies</a:t>
                      </a:r>
                      <a:r>
                        <a:rPr lang="en-US" sz="1600" baseline="0" dirty="0" smtClean="0"/>
                        <a:t> a list of pre-defined options for input controls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</a:t>
                      </a:r>
                      <a:r>
                        <a:rPr lang="en-US" sz="1600" dirty="0" err="1" smtClean="0"/>
                        <a:t>keygen</a:t>
                      </a:r>
                      <a:r>
                        <a:rPr lang="en-US" sz="1600" dirty="0" smtClean="0"/>
                        <a:t>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a key-pair generator field (for forms)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&lt;output&gt;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the result</a:t>
                      </a:r>
                      <a:r>
                        <a:rPr lang="en-US" sz="1600" baseline="0" dirty="0" smtClean="0"/>
                        <a:t> of a calculation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586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Obsoleted Elements in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1000"/>
              </a:spcAft>
            </a:pPr>
            <a:r>
              <a:rPr lang="en-US" dirty="0" smtClean="0"/>
              <a:t>All display elements are removed in favor of CSS for presentation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Framesets and frames are removed because of impact on accessibility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Elements that are removed from HTML5</a:t>
            </a:r>
          </a:p>
          <a:p>
            <a:pPr lvl="1"/>
            <a:r>
              <a:rPr lang="en-US" dirty="0"/>
              <a:t>&lt;acronym&gt;</a:t>
            </a:r>
          </a:p>
          <a:p>
            <a:pPr lvl="1"/>
            <a:r>
              <a:rPr lang="en-US" dirty="0"/>
              <a:t>&lt;applet&gt;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basefont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&lt;big&gt;</a:t>
            </a:r>
          </a:p>
          <a:p>
            <a:pPr lvl="1"/>
            <a:r>
              <a:rPr lang="en-US" dirty="0"/>
              <a:t>&lt;center&gt;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dir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&lt;font&gt;</a:t>
            </a:r>
          </a:p>
          <a:p>
            <a:pPr lvl="1"/>
            <a:r>
              <a:rPr lang="en-US" dirty="0"/>
              <a:t>&lt;frame&gt;</a:t>
            </a:r>
          </a:p>
          <a:p>
            <a:pPr lvl="1"/>
            <a:r>
              <a:rPr lang="en-US" dirty="0"/>
              <a:t>&lt;frameset&gt;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noframes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&lt;strike&gt;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tt</a:t>
            </a:r>
            <a:r>
              <a:rPr lang="en-US" dirty="0"/>
              <a:t>&gt;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87624" y="3429000"/>
            <a:ext cx="5172027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89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&lt;!DOCTYPE&gt;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Only one &lt;!DOCTYPE&gt; declaration for HTML5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Different DOCTYPE for old HTML </a:t>
            </a:r>
          </a:p>
          <a:p>
            <a:pPr lvl="1"/>
            <a:r>
              <a:rPr lang="en-US" sz="2000" dirty="0" smtClean="0"/>
              <a:t>HTML 4.01 Strict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pPr lvl="1"/>
            <a:r>
              <a:rPr lang="en-US" sz="2000" dirty="0" smtClean="0"/>
              <a:t>HTML 4.01 Transitional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pPr lvl="1"/>
            <a:r>
              <a:rPr lang="en-US" sz="2000" dirty="0" smtClean="0"/>
              <a:t>HTML 4.01 Frameset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377696" y="1935706"/>
            <a:ext cx="6400800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&lt;!DOCTYPE html&gt;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3505200"/>
            <a:ext cx="6400800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&lt;!DOCTYPE HTML PUBLIC "-//W3C//DTD HTML 4.01//EN"</a:t>
            </a:r>
            <a:br>
              <a:rPr lang="en-US" sz="1600" dirty="0"/>
            </a:br>
            <a:r>
              <a:rPr lang="en-US" sz="1600" dirty="0"/>
              <a:t>"http://www.w3.org/TR/html4/strict.dtd"&gt;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6400800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&lt;!DOCTYPE HTML PUBLIC "-//W3C//DTD HTML 4.01 Transitional//EN"</a:t>
            </a:r>
            <a:br>
              <a:rPr lang="en-US" sz="1600" dirty="0"/>
            </a:br>
            <a:r>
              <a:rPr lang="en-US" sz="1600" dirty="0"/>
              <a:t>"http://www.w3.org/TR/html4/loose.dtd"&gt;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38800"/>
            <a:ext cx="6400800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&lt;!DOCTYPE HTML PUBLIC "-//W3C//DTD HTML 4.01 Frameset//EN"</a:t>
            </a:r>
            <a:br>
              <a:rPr lang="en-US" sz="1600" dirty="0"/>
            </a:br>
            <a:r>
              <a:rPr lang="en-US" sz="1600" dirty="0"/>
              <a:t>"http://www.w3.org/TR/html4/frameset.dtd"&gt;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842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HTML5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HTML5 document, with the </a:t>
            </a:r>
            <a:r>
              <a:rPr lang="en-US" smtClean="0"/>
              <a:t>minimum required </a:t>
            </a:r>
            <a:r>
              <a:rPr lang="en-US" dirty="0" smtClean="0"/>
              <a:t>tags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68552" y="2456633"/>
            <a:ext cx="6400800" cy="2800767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&lt;!DOCTYPE html&gt;</a:t>
            </a:r>
            <a:br>
              <a:rPr lang="en-US" sz="1600" dirty="0"/>
            </a:br>
            <a:r>
              <a:rPr lang="en-US" sz="1600" dirty="0"/>
              <a:t>&lt;html&gt;</a:t>
            </a:r>
            <a:br>
              <a:rPr lang="en-US" sz="1600" dirty="0"/>
            </a:br>
            <a:r>
              <a:rPr lang="en-US" sz="1600" dirty="0"/>
              <a:t>&lt;head&gt;</a:t>
            </a:r>
            <a:br>
              <a:rPr lang="en-US" sz="1600" dirty="0"/>
            </a:br>
            <a:r>
              <a:rPr lang="en-US" sz="1600" dirty="0"/>
              <a:t>&lt;title&gt;</a:t>
            </a:r>
            <a:r>
              <a:rPr lang="en-US" sz="1600" i="1" dirty="0"/>
              <a:t>Title of the document</a:t>
            </a:r>
            <a:r>
              <a:rPr lang="en-US" sz="1600" dirty="0"/>
              <a:t>&lt;/title&gt;</a:t>
            </a:r>
            <a:br>
              <a:rPr lang="en-US" sz="1600" dirty="0"/>
            </a:br>
            <a:r>
              <a:rPr lang="en-US" sz="1600" dirty="0"/>
              <a:t>&lt;/head&gt;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&lt;body&gt;</a:t>
            </a:r>
            <a:br>
              <a:rPr lang="en-US" sz="1600" dirty="0"/>
            </a:br>
            <a:r>
              <a:rPr lang="en-US" sz="1600" i="1" dirty="0"/>
              <a:t>The content of the document......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&lt;/body&gt;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&lt;/html&gt;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465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Video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&lt;video&gt; </a:t>
            </a:r>
            <a:r>
              <a:rPr lang="en-US" sz="2000" dirty="0" smtClean="0"/>
              <a:t>element specifies a standard way to embed a video / movie on a web page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Video formats and Browser Support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59636851"/>
              </p:ext>
            </p:extLst>
          </p:nvPr>
        </p:nvGraphicFramePr>
        <p:xfrm>
          <a:off x="1066800" y="2042160"/>
          <a:ext cx="7391400" cy="169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&lt;video&gt;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a video or movie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&lt;source&gt;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multiple media resources</a:t>
                      </a:r>
                      <a:r>
                        <a:rPr lang="en-US" sz="1600" baseline="0" dirty="0" smtClean="0"/>
                        <a:t> for media elements, such as &lt;video&gt; and &lt;audio&gt;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&lt;track&gt;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 text tracks</a:t>
                      </a:r>
                      <a:r>
                        <a:rPr lang="en-US" sz="1600" baseline="0" dirty="0" smtClean="0"/>
                        <a:t> in </a:t>
                      </a:r>
                      <a:r>
                        <a:rPr lang="en-US" sz="1600" baseline="0" dirty="0" err="1" smtClean="0"/>
                        <a:t>mediaplayers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51039754"/>
              </p:ext>
            </p:extLst>
          </p:nvPr>
        </p:nvGraphicFramePr>
        <p:xfrm>
          <a:off x="1066800" y="4267200"/>
          <a:ext cx="7391401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/>
                <a:gridCol w="1447800"/>
                <a:gridCol w="1447800"/>
                <a:gridCol w="14478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Browser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MP4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WebM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Ogg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Internet Explorer</a:t>
                      </a:r>
                      <a:r>
                        <a:rPr lang="en-US" sz="1600" baseline="0" dirty="0" smtClean="0"/>
                        <a:t> 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Firefox 4.0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Google Chrome 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Apple Safari 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Opera 10.6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687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Video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191001"/>
            <a:ext cx="7385304" cy="224790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500"/>
              </a:spcAft>
            </a:pPr>
            <a:r>
              <a:rPr lang="en-US" sz="1800" dirty="0" smtClean="0"/>
              <a:t>Control attribute adds video controls, like play, pause, and volume</a:t>
            </a:r>
          </a:p>
          <a:p>
            <a:pPr>
              <a:spcAft>
                <a:spcPts val="500"/>
              </a:spcAft>
            </a:pPr>
            <a:r>
              <a:rPr lang="en-US" sz="1800" dirty="0" smtClean="0"/>
              <a:t>Specify width and height attribute, space required for video is reserved when page load</a:t>
            </a:r>
          </a:p>
          <a:p>
            <a:pPr>
              <a:spcAft>
                <a:spcPts val="500"/>
              </a:spcAft>
            </a:pPr>
            <a:r>
              <a:rPr lang="en-US" sz="1800" dirty="0" smtClean="0"/>
              <a:t>Insert text between the &lt;video&gt; and &lt;/video&gt; tags for browsers that do not support &lt;video&gt; element</a:t>
            </a:r>
          </a:p>
          <a:p>
            <a:pPr>
              <a:spcAft>
                <a:spcPts val="500"/>
              </a:spcAft>
            </a:pPr>
            <a:r>
              <a:rPr lang="en-US" sz="1800" dirty="0" smtClean="0"/>
              <a:t>Allow multiple &lt;source&gt; element that link to different video files, browser will use first recognized format</a:t>
            </a:r>
            <a:endParaRPr lang="en-US" sz="1800" dirty="0"/>
          </a:p>
        </p:txBody>
      </p:sp>
      <p:grpSp>
        <p:nvGrpSpPr>
          <p:cNvPr id="7" name="Group 6"/>
          <p:cNvGrpSpPr/>
          <p:nvPr/>
        </p:nvGrpSpPr>
        <p:grpSpPr>
          <a:xfrm>
            <a:off x="1045464" y="1350865"/>
            <a:ext cx="7339584" cy="2763935"/>
            <a:chOff x="1045464" y="1350865"/>
            <a:chExt cx="7339584" cy="2763935"/>
          </a:xfrm>
        </p:grpSpPr>
        <p:pic>
          <p:nvPicPr>
            <p:cNvPr id="3076" name="Picture 4" descr="C:\Users\EvyLim\AppData\Local\Temp\SNAGHTML154268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5464" y="1350865"/>
              <a:ext cx="3831336" cy="276393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505200" y="2057400"/>
              <a:ext cx="4879848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video width="320" height="240" controls="controls"&gt;</a:t>
              </a:r>
            </a:p>
            <a:p>
              <a:r>
                <a:rPr lang="en-US" sz="1600" b="1" dirty="0" smtClean="0"/>
                <a:t>    &lt;</a:t>
              </a:r>
              <a:r>
                <a:rPr lang="en-US" sz="1600" b="1" dirty="0"/>
                <a:t>source </a:t>
              </a:r>
              <a:r>
                <a:rPr lang="en-US" sz="1600" b="1" dirty="0" err="1"/>
                <a:t>src</a:t>
              </a:r>
              <a:r>
                <a:rPr lang="en-US" sz="1600" b="1" dirty="0"/>
                <a:t>="movie.mp4" type="video/mp4" /&gt;</a:t>
              </a:r>
            </a:p>
            <a:p>
              <a:r>
                <a:rPr lang="en-US" sz="1600" b="1" dirty="0" smtClean="0"/>
                <a:t>    &lt;</a:t>
              </a:r>
              <a:r>
                <a:rPr lang="en-US" sz="1600" b="1" dirty="0"/>
                <a:t>source </a:t>
              </a:r>
              <a:r>
                <a:rPr lang="en-US" sz="1600" b="1" dirty="0" err="1"/>
                <a:t>src</a:t>
              </a:r>
              <a:r>
                <a:rPr lang="en-US" sz="1600" b="1" dirty="0"/>
                <a:t>="movie.ogg" type="video/</a:t>
              </a:r>
              <a:r>
                <a:rPr lang="en-US" sz="1600" b="1" dirty="0" err="1"/>
                <a:t>ogg</a:t>
              </a:r>
              <a:r>
                <a:rPr lang="en-US" sz="1600" b="1" dirty="0"/>
                <a:t>" /&gt;</a:t>
              </a:r>
            </a:p>
            <a:p>
              <a:r>
                <a:rPr lang="en-US" sz="1600" b="1" dirty="0" smtClean="0"/>
                <a:t>    Your </a:t>
              </a:r>
              <a:r>
                <a:rPr lang="en-US" sz="1600" b="1" dirty="0"/>
                <a:t>browser does not support the video tag.</a:t>
              </a:r>
            </a:p>
            <a:p>
              <a:r>
                <a:rPr lang="en-US" sz="1600" b="1" dirty="0" smtClean="0"/>
                <a:t>&lt;/</a:t>
              </a:r>
              <a:r>
                <a:rPr lang="en-US" sz="1600" b="1" dirty="0"/>
                <a:t>video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7115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Audio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&lt;audio&gt; </a:t>
            </a:r>
            <a:r>
              <a:rPr lang="en-US" sz="2000" dirty="0" smtClean="0"/>
              <a:t>element specifies a standard way to embed an audio file on web page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Audio formats and Browser Support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74748356"/>
              </p:ext>
            </p:extLst>
          </p:nvPr>
        </p:nvGraphicFramePr>
        <p:xfrm>
          <a:off x="1066800" y="1981200"/>
          <a:ext cx="7391400" cy="1320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8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&lt;audio&gt;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sound content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&lt;source&gt;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Defines</a:t>
                      </a:r>
                      <a:r>
                        <a:rPr lang="en-US" sz="1600" baseline="0" dirty="0" smtClean="0"/>
                        <a:t> multiple media resources for media elements, such as &lt;video&gt; and &lt;audio&gt;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33079878"/>
              </p:ext>
            </p:extLst>
          </p:nvPr>
        </p:nvGraphicFramePr>
        <p:xfrm>
          <a:off x="1066800" y="3886200"/>
          <a:ext cx="7391401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/>
                <a:gridCol w="1447800"/>
                <a:gridCol w="1447800"/>
                <a:gridCol w="14478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Browser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MP3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Ogg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Internet Explorer</a:t>
                      </a:r>
                      <a:r>
                        <a:rPr lang="en-US" sz="1600" baseline="0" dirty="0" smtClean="0"/>
                        <a:t> 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Firefox 4.0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Google Chrome 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Apple Safari 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Opera 10.6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ym typeface="Wingdings"/>
                        </a:rPr>
                        <a:t>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8661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Audio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191001"/>
            <a:ext cx="7385304" cy="2247900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</a:pPr>
            <a:r>
              <a:rPr lang="en-US" sz="1800" dirty="0" smtClean="0"/>
              <a:t>Control attribute adds audio controls, like play, pause, and volume</a:t>
            </a:r>
          </a:p>
          <a:p>
            <a:pPr>
              <a:spcAft>
                <a:spcPts val="500"/>
              </a:spcAft>
            </a:pPr>
            <a:r>
              <a:rPr lang="en-US" sz="1800" dirty="0" smtClean="0"/>
              <a:t>Insert text between the &lt;audio&gt; and &lt;/audio&gt; tags for browsers that do not support &lt;video&gt; element</a:t>
            </a:r>
          </a:p>
          <a:p>
            <a:pPr>
              <a:spcAft>
                <a:spcPts val="500"/>
              </a:spcAft>
            </a:pPr>
            <a:r>
              <a:rPr lang="en-US" sz="1800" dirty="0" smtClean="0"/>
              <a:t>Allow multiple &lt;source&gt; element that link to different audio files, browser will use first recognized format</a:t>
            </a:r>
            <a:endParaRPr lang="en-US" sz="1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1066800" y="1432470"/>
            <a:ext cx="7309104" cy="2593212"/>
            <a:chOff x="1066800" y="1432470"/>
            <a:chExt cx="7309104" cy="2593212"/>
          </a:xfrm>
        </p:grpSpPr>
        <p:pic>
          <p:nvPicPr>
            <p:cNvPr id="4098" name="Picture 2" descr="C:\Users\EvyLim\AppData\Local\Temp\SNAGHTML1660238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1432470"/>
              <a:ext cx="3349625" cy="24164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496056" y="2209800"/>
              <a:ext cx="4879848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&lt;audio controls="controls"&gt;</a:t>
              </a:r>
              <a:br>
                <a:rPr lang="en-US" sz="1600" b="1" dirty="0"/>
              </a:br>
              <a:r>
                <a:rPr lang="en-US" sz="1600" b="1" dirty="0"/>
                <a:t>  &lt;source </a:t>
              </a:r>
              <a:r>
                <a:rPr lang="en-US" sz="1600" b="1" dirty="0" err="1"/>
                <a:t>src</a:t>
              </a:r>
              <a:r>
                <a:rPr lang="en-US" sz="1600" b="1" dirty="0"/>
                <a:t>="</a:t>
              </a:r>
              <a:r>
                <a:rPr lang="en-US" sz="1600" b="1" dirty="0" smtClean="0"/>
                <a:t>song.mp3" </a:t>
              </a:r>
              <a:r>
                <a:rPr lang="en-US" sz="1600" b="1" dirty="0"/>
                <a:t>type="</a:t>
              </a:r>
              <a:r>
                <a:rPr lang="en-US" sz="1600" b="1" dirty="0" smtClean="0"/>
                <a:t>audio/mpeg" </a:t>
              </a:r>
              <a:r>
                <a:rPr lang="en-US" sz="1600" b="1" dirty="0"/>
                <a:t>/&gt;</a:t>
              </a:r>
              <a:br>
                <a:rPr lang="en-US" sz="1600" b="1" dirty="0"/>
              </a:br>
              <a:r>
                <a:rPr lang="en-US" sz="1600" b="1" dirty="0"/>
                <a:t>  &lt;source </a:t>
              </a:r>
              <a:r>
                <a:rPr lang="en-US" sz="1600" b="1" dirty="0" err="1"/>
                <a:t>src</a:t>
              </a:r>
              <a:r>
                <a:rPr lang="en-US" sz="1600" b="1" dirty="0"/>
                <a:t>="</a:t>
              </a:r>
              <a:r>
                <a:rPr lang="en-US" sz="1600" b="1" dirty="0" smtClean="0"/>
                <a:t>song.ogg" </a:t>
              </a:r>
              <a:r>
                <a:rPr lang="en-US" sz="1600" b="1" dirty="0"/>
                <a:t>type="</a:t>
              </a:r>
              <a:r>
                <a:rPr lang="en-US" sz="1600" b="1" dirty="0" smtClean="0"/>
                <a:t>audio/</a:t>
              </a:r>
              <a:r>
                <a:rPr lang="en-US" sz="1600" b="1" dirty="0" err="1" smtClean="0"/>
                <a:t>ogg</a:t>
              </a:r>
              <a:r>
                <a:rPr lang="en-US" sz="1600" b="1" dirty="0" smtClean="0"/>
                <a:t>" </a:t>
              </a:r>
              <a:r>
                <a:rPr lang="en-US" sz="1600" b="1" dirty="0"/>
                <a:t>/&gt;</a:t>
              </a:r>
              <a:br>
                <a:rPr lang="en-US" sz="1600" b="1" dirty="0"/>
              </a:br>
              <a:r>
                <a:rPr lang="en-US" sz="1600" b="1" dirty="0"/>
                <a:t>  Your browser does not support the audio element.</a:t>
              </a:r>
              <a:br>
                <a:rPr lang="en-US" sz="1600" b="1" dirty="0"/>
              </a:br>
              <a:r>
                <a:rPr lang="en-US" sz="1600" b="1" dirty="0"/>
                <a:t>&lt;/audio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60871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SVG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SVG stands for </a:t>
            </a:r>
            <a:r>
              <a:rPr lang="en-US" sz="2400" b="1" dirty="0" smtClean="0">
                <a:solidFill>
                  <a:schemeClr val="accent2"/>
                </a:solidFill>
              </a:rPr>
              <a:t>Scalable Vector Graphics</a:t>
            </a:r>
          </a:p>
          <a:p>
            <a:pPr lvl="1"/>
            <a:r>
              <a:rPr lang="en-US" sz="2000" dirty="0" smtClean="0"/>
              <a:t>Used to define vector-based graphics for the web</a:t>
            </a:r>
          </a:p>
          <a:p>
            <a:pPr lvl="1"/>
            <a:r>
              <a:rPr lang="en-US" sz="2000" dirty="0" smtClean="0"/>
              <a:t>Defines graphics in XML format</a:t>
            </a:r>
          </a:p>
          <a:p>
            <a:pPr lvl="1"/>
            <a:r>
              <a:rPr lang="en-US" sz="2000" dirty="0" smtClean="0"/>
              <a:t>Do NOT lose any quality if they are zoomed or resized</a:t>
            </a:r>
          </a:p>
          <a:p>
            <a:pPr lvl="1"/>
            <a:r>
              <a:rPr lang="en-US" sz="2000" dirty="0" smtClean="0"/>
              <a:t>Every element and every attribute in SVG files can be animated</a:t>
            </a:r>
          </a:p>
          <a:p>
            <a:pPr lvl="1"/>
            <a:endParaRPr lang="en-US" sz="2000" dirty="0"/>
          </a:p>
          <a:p>
            <a:r>
              <a:rPr lang="en-US" sz="2400" dirty="0" smtClean="0"/>
              <a:t>Advantages of using SVG over other image format (JPG and GIF)</a:t>
            </a:r>
          </a:p>
          <a:p>
            <a:pPr lvl="1"/>
            <a:r>
              <a:rPr lang="en-US" sz="2000" dirty="0" smtClean="0"/>
              <a:t>Can be created and edited with any text editor</a:t>
            </a:r>
          </a:p>
          <a:p>
            <a:pPr lvl="1"/>
            <a:r>
              <a:rPr lang="en-US" sz="2000" dirty="0" smtClean="0"/>
              <a:t>Can be searched, indexed, scripted, and compressed</a:t>
            </a:r>
          </a:p>
          <a:p>
            <a:pPr lvl="1"/>
            <a:r>
              <a:rPr lang="en-US" sz="2000" dirty="0" smtClean="0"/>
              <a:t>Scalable</a:t>
            </a:r>
          </a:p>
          <a:p>
            <a:pPr lvl="1"/>
            <a:r>
              <a:rPr lang="en-US" sz="2000" dirty="0" smtClean="0"/>
              <a:t>Can be printed with high quality at any resolution</a:t>
            </a:r>
          </a:p>
          <a:p>
            <a:pPr lvl="1"/>
            <a:r>
              <a:rPr lang="en-US" sz="2000" dirty="0" err="1" smtClean="0"/>
              <a:t>Zoomable</a:t>
            </a:r>
            <a:r>
              <a:rPr lang="en-US" sz="2000" dirty="0" smtClean="0"/>
              <a:t> (can be zoomed without degradation)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96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SVG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04800" y="1371600"/>
            <a:ext cx="8531352" cy="5309145"/>
            <a:chOff x="441960" y="1371600"/>
            <a:chExt cx="8531352" cy="5309145"/>
          </a:xfrm>
        </p:grpSpPr>
        <p:pic>
          <p:nvPicPr>
            <p:cNvPr id="5122" name="Picture 2" descr="C:\Users\EvyLim\AppData\Local\Temp\SNAGHTML17ce067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" y="1371600"/>
              <a:ext cx="5162550" cy="37242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438400" y="3141315"/>
              <a:ext cx="6534912" cy="3539430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&lt;!DOCTYPE html&gt;</a:t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&lt;html&gt;</a:t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&lt;head&gt;</a:t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</a:t>
              </a:r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title&gt;HTML5 SVG&lt;/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title&gt;</a:t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&lt;/head&gt;</a:t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/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  <a:r>
                <a:rPr lang="en-US" sz="1600" dirty="0"/>
                <a:t/>
              </a:r>
              <a:br>
                <a:rPr lang="en-US" sz="1600" dirty="0"/>
              </a:br>
              <a:r>
                <a:rPr lang="en-US" sz="1600" b="1" dirty="0"/>
                <a:t>&lt;</a:t>
              </a:r>
              <a:r>
                <a:rPr lang="en-US" sz="1600" b="1" dirty="0" err="1"/>
                <a:t>svg</a:t>
              </a:r>
              <a:r>
                <a:rPr lang="en-US" sz="1600" b="1" dirty="0"/>
                <a:t> </a:t>
              </a:r>
              <a:r>
                <a:rPr lang="en-US" sz="1600" b="1" dirty="0" err="1"/>
                <a:t>xmlns</a:t>
              </a:r>
              <a:r>
                <a:rPr lang="en-US" sz="1600" b="1" dirty="0"/>
                <a:t>="http://www.w3.org/2000/svg" version="1.1" height="190"&gt;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polygon points="100,10 40,180 190,60 10,60 </a:t>
              </a:r>
              <a:r>
                <a:rPr lang="en-US" sz="1600" b="1" dirty="0" smtClean="0"/>
                <a:t>160,180“ style</a:t>
              </a:r>
              <a:r>
                <a:rPr lang="en-US" sz="1600" b="1" dirty="0"/>
                <a:t>="fill:lime;stroke:purple;stroke-width:5;fill-rule:evenodd;" /&gt;</a:t>
              </a:r>
            </a:p>
            <a:p>
              <a:r>
                <a:rPr lang="en-US" sz="1600" b="1" dirty="0" smtClean="0"/>
                <a:t>&lt;/</a:t>
              </a:r>
              <a:r>
                <a:rPr lang="en-US" sz="1600" b="1" dirty="0" err="1"/>
                <a:t>svg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/>
              </a:r>
              <a:b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&lt;/html&gt;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71458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Input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New input types for forms, new features allow better input control and validation</a:t>
            </a: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color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used for input fields that contain color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date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allow users to select a date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 err="1" smtClean="0">
                <a:solidFill>
                  <a:schemeClr val="accent2"/>
                </a:solidFill>
              </a:rPr>
              <a:t>datetime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allow user to select date and time (with time zone)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 err="1" smtClean="0">
                <a:solidFill>
                  <a:schemeClr val="accent2"/>
                </a:solidFill>
              </a:rPr>
              <a:t>datetime</a:t>
            </a:r>
            <a:r>
              <a:rPr lang="en-US" sz="2000" b="1" dirty="0" smtClean="0">
                <a:solidFill>
                  <a:schemeClr val="accent2"/>
                </a:solidFill>
              </a:rPr>
              <a:t>-local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allow user to select date and time (no time zone)</a:t>
            </a:r>
          </a:p>
          <a:p>
            <a:pPr lvl="1"/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type="color" name="</a:t>
            </a:r>
            <a:r>
              <a:rPr lang="en-US" sz="1600" dirty="0" err="1"/>
              <a:t>favcolor</a:t>
            </a:r>
            <a:r>
              <a:rPr lang="en-US" sz="1600" dirty="0"/>
              <a:t>" 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338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type="date" name="</a:t>
            </a:r>
            <a:r>
              <a:rPr lang="en-US" sz="1600" dirty="0" err="1"/>
              <a:t>bday</a:t>
            </a:r>
            <a:r>
              <a:rPr lang="en-US" sz="1600" dirty="0"/>
              <a:t>" 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244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</a:t>
            </a:r>
            <a:r>
              <a:rPr lang="en-US" sz="1600" dirty="0" err="1"/>
              <a:t>datetime</a:t>
            </a:r>
            <a:r>
              <a:rPr lang="en-US" sz="1600" dirty="0"/>
              <a:t>" name="</a:t>
            </a:r>
            <a:r>
              <a:rPr lang="en-US" sz="1600" dirty="0" err="1"/>
              <a:t>bdaytime</a:t>
            </a:r>
            <a:r>
              <a:rPr lang="en-US" sz="1600" dirty="0"/>
              <a:t>" 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150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</a:t>
            </a:r>
            <a:r>
              <a:rPr lang="en-US" sz="1600" dirty="0" err="1"/>
              <a:t>datetime</a:t>
            </a:r>
            <a:r>
              <a:rPr lang="en-US" sz="1600" dirty="0"/>
              <a:t>-local" name="</a:t>
            </a:r>
            <a:r>
              <a:rPr lang="en-US" sz="1600" dirty="0" err="1"/>
              <a:t>bdaytime</a:t>
            </a:r>
            <a:r>
              <a:rPr lang="en-US" sz="1600" dirty="0"/>
              <a:t>" /&gt;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88690" y="3809762"/>
            <a:ext cx="1054310" cy="2569577"/>
            <a:chOff x="12490" y="2173134"/>
            <a:chExt cx="1054310" cy="2569577"/>
          </a:xfrm>
        </p:grpSpPr>
        <p:sp>
          <p:nvSpPr>
            <p:cNvPr id="11" name="TextBox 10"/>
            <p:cNvSpPr txBox="1"/>
            <p:nvPr/>
          </p:nvSpPr>
          <p:spPr>
            <a:xfrm>
              <a:off x="12490" y="2173134"/>
              <a:ext cx="1054310" cy="1600438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input types</a:t>
              </a:r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2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0" y="3316372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59987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Input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22504" y="1350264"/>
            <a:ext cx="8845296" cy="4820924"/>
            <a:chOff x="222504" y="1350264"/>
            <a:chExt cx="8845296" cy="4820924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504" y="1350264"/>
              <a:ext cx="6143625" cy="47339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114800" y="3124200"/>
              <a:ext cx="4953000" cy="3046988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form&gt;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p&gt;Select your favorite color: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type="color" name="</a:t>
              </a:r>
              <a:r>
                <a:rPr lang="en-US" sz="1600" b="1" dirty="0" err="1"/>
                <a:t>favcolor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p&gt;Birthday: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type="date" name="</a:t>
              </a:r>
              <a:r>
                <a:rPr lang="en-US" sz="1600" b="1" dirty="0" err="1"/>
                <a:t>bday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p&gt;Birthday (date and time):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</a:t>
              </a:r>
              <a:r>
                <a:rPr lang="en-US" sz="1600" b="1" dirty="0" err="1"/>
                <a:t>datetime</a:t>
              </a:r>
              <a:r>
                <a:rPr lang="en-US" sz="1600" b="1" dirty="0"/>
                <a:t>" name="</a:t>
              </a:r>
              <a:r>
                <a:rPr lang="en-US" sz="1600" b="1" dirty="0" err="1"/>
                <a:t>bdaytime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p&gt;Birthday (date and time):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</a:t>
              </a:r>
              <a:r>
                <a:rPr lang="en-US" sz="1600" b="1" dirty="0" err="1"/>
                <a:t>datetime</a:t>
              </a:r>
              <a:r>
                <a:rPr lang="en-US" sz="1600" b="1" dirty="0"/>
                <a:t>-local" name="</a:t>
              </a:r>
              <a:r>
                <a:rPr lang="en-US" sz="1600" b="1" dirty="0" err="1"/>
                <a:t>bdaytime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form&gt;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02561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Input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623980" cy="458887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month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allow user to select a month and year</a:t>
            </a:r>
          </a:p>
          <a:p>
            <a:pPr lvl="1"/>
            <a:endParaRPr lang="en-US" sz="2000" dirty="0" smtClean="0"/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week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1800" dirty="0"/>
              <a:t>- allow user to select a month and year</a:t>
            </a: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number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used for input fields that should contain a numeric value</a:t>
            </a:r>
            <a:br>
              <a:rPr lang="en-US" sz="1800" dirty="0" smtClean="0"/>
            </a:br>
            <a:r>
              <a:rPr lang="en-US" sz="1800" dirty="0" smtClean="0"/>
              <a:t>- set restrictions on what numbers are accepted</a:t>
            </a:r>
          </a:p>
          <a:p>
            <a:pPr lvl="1"/>
            <a:endParaRPr lang="en-US" sz="2000" dirty="0"/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range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1800" dirty="0" smtClean="0"/>
              <a:t>- used for input fields that should contain a value from a range of numbers</a:t>
            </a:r>
            <a:br>
              <a:rPr lang="en-US" sz="1800" dirty="0" smtClean="0"/>
            </a:br>
            <a:r>
              <a:rPr lang="en-US" sz="1800" dirty="0" smtClean="0"/>
              <a:t>-set restrictions on what numbers are accepted</a:t>
            </a:r>
          </a:p>
          <a:p>
            <a:pPr lvl="1"/>
            <a:endParaRPr lang="en-US" sz="2000" dirty="0"/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lvl="1"/>
            <a:endParaRPr lang="en-US" sz="2000" b="1" dirty="0" err="1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2704" y="18288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type="month" name="</a:t>
            </a:r>
            <a:r>
              <a:rPr lang="en-US" sz="1600" dirty="0" err="1"/>
              <a:t>bdaymonth</a:t>
            </a:r>
            <a:r>
              <a:rPr lang="en-US" sz="1600" dirty="0"/>
              <a:t>" 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2704" y="41910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type="number" name="quantity" min="1" max="5" 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2704" y="28956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a week: &lt;input type="week" name="</a:t>
            </a:r>
            <a:r>
              <a:rPr lang="en-US" sz="1600" dirty="0" err="1" smtClean="0"/>
              <a:t>weekyear</a:t>
            </a:r>
            <a:r>
              <a:rPr lang="en-US" sz="1600" dirty="0"/>
              <a:t>" 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2704" y="5486400"/>
            <a:ext cx="6086856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&lt;input type="range" name="points" min="1" max="10" /&gt;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8690" y="3809762"/>
            <a:ext cx="1054310" cy="2569577"/>
            <a:chOff x="12490" y="2173134"/>
            <a:chExt cx="1054310" cy="2569577"/>
          </a:xfrm>
        </p:grpSpPr>
        <p:sp>
          <p:nvSpPr>
            <p:cNvPr id="14" name="TextBox 13"/>
            <p:cNvSpPr txBox="1"/>
            <p:nvPr/>
          </p:nvSpPr>
          <p:spPr>
            <a:xfrm>
              <a:off x="12490" y="2173134"/>
              <a:ext cx="1054310" cy="1600438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input types</a:t>
              </a:r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5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0" y="3316372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59987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Input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4800" y="1600200"/>
            <a:ext cx="5383369" cy="5029200"/>
            <a:chOff x="228600" y="1295400"/>
            <a:chExt cx="5791200" cy="541020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295400"/>
              <a:ext cx="5791200" cy="44741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57200" y="3412391"/>
              <a:ext cx="5562600" cy="3293209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form&gt;</a:t>
              </a:r>
            </a:p>
            <a:p>
              <a:r>
                <a:rPr lang="en-US" sz="1600" b="1" dirty="0"/>
                <a:t>&lt;p&gt;Birthday (month and year):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type="month" name="</a:t>
              </a:r>
              <a:r>
                <a:rPr lang="en-US" sz="1600" b="1" dirty="0" err="1"/>
                <a:t>bdaymonth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p&gt;Select a week: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type="week" name="</a:t>
              </a:r>
              <a:r>
                <a:rPr lang="en-US" sz="1600" b="1" dirty="0" err="1"/>
                <a:t>week_year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p&gt;Quantity (between 1 and 5):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type="number" name="quantity" min="1" max="5" /&gt;&lt;/p&gt;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p&gt;Range (between 1 and 10): </a:t>
              </a:r>
              <a:endParaRPr lang="en-US" sz="1600" b="1" dirty="0" smtClean="0"/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type="range" name="points" min="1" max="</a:t>
              </a:r>
              <a:r>
                <a:rPr lang="en-US" sz="1600" b="1" dirty="0" smtClean="0"/>
                <a:t>10</a:t>
              </a:r>
              <a:r>
                <a:rPr lang="en-US" sz="1600" b="1" dirty="0"/>
                <a:t>"</a:t>
              </a:r>
              <a:r>
                <a:rPr lang="en-US" sz="1600" b="1" dirty="0" smtClean="0"/>
                <a:t> /&gt;&lt;/</a:t>
              </a:r>
              <a:r>
                <a:rPr lang="en-US" sz="1600" b="1" dirty="0"/>
                <a:t>p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form&gt;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</a:t>
              </a:r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body&gt;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657600" y="2819400"/>
            <a:ext cx="5038344" cy="3469311"/>
            <a:chOff x="3657600" y="2819400"/>
            <a:chExt cx="5038344" cy="3469311"/>
          </a:xfrm>
        </p:grpSpPr>
        <p:sp>
          <p:nvSpPr>
            <p:cNvPr id="10" name="Rectangle 9"/>
            <p:cNvSpPr/>
            <p:nvPr/>
          </p:nvSpPr>
          <p:spPr>
            <a:xfrm>
              <a:off x="3962400" y="5058995"/>
              <a:ext cx="1600200" cy="4274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ine Callout 2 10"/>
            <p:cNvSpPr/>
            <p:nvPr/>
          </p:nvSpPr>
          <p:spPr>
            <a:xfrm>
              <a:off x="6248400" y="2819400"/>
              <a:ext cx="2447544" cy="3048000"/>
            </a:xfrm>
            <a:prstGeom prst="borderCallout2">
              <a:avLst>
                <a:gd name="adj1" fmla="val 18350"/>
                <a:gd name="adj2" fmla="val -363"/>
                <a:gd name="adj3" fmla="val 18750"/>
                <a:gd name="adj4" fmla="val -16667"/>
                <a:gd name="adj5" fmla="val 73280"/>
                <a:gd name="adj6" fmla="val -53392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 smtClean="0"/>
                <a:t>max 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600" dirty="0" smtClean="0"/>
                <a:t>specifies maximum value allowed</a:t>
              </a:r>
            </a:p>
            <a:p>
              <a:r>
                <a:rPr lang="en-US" sz="1600" b="1" dirty="0" smtClean="0"/>
                <a:t>min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600" dirty="0"/>
                <a:t>s</a:t>
              </a:r>
              <a:r>
                <a:rPr lang="en-US" sz="1600" dirty="0" smtClean="0"/>
                <a:t>pecifies minimum value allowed</a:t>
              </a:r>
            </a:p>
            <a:p>
              <a:r>
                <a:rPr lang="en-US" sz="1600" b="1" dirty="0" smtClean="0"/>
                <a:t>step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600" dirty="0"/>
                <a:t>s</a:t>
              </a:r>
              <a:r>
                <a:rPr lang="en-US" sz="1600" dirty="0" smtClean="0"/>
                <a:t>pecifies legal number intervals</a:t>
              </a:r>
            </a:p>
            <a:p>
              <a:r>
                <a:rPr lang="en-US" sz="1600" b="1" dirty="0" smtClean="0"/>
                <a:t>value</a:t>
              </a: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600" dirty="0" smtClean="0"/>
                <a:t>specifies default value</a:t>
              </a:r>
              <a:endParaRPr lang="en-US" sz="16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57600" y="5861305"/>
              <a:ext cx="1600200" cy="4274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 flipV="1">
              <a:off x="5257800" y="5486402"/>
              <a:ext cx="990600" cy="38099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457200" y="1219200"/>
            <a:ext cx="7924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1600" dirty="0" smtClean="0">
                <a:hlinkClick r:id="rId4"/>
              </a:rPr>
              <a:t>Demo: http</a:t>
            </a:r>
            <a:r>
              <a:rPr lang="en-SG" sz="1600" dirty="0" smtClean="0">
                <a:hlinkClick r:id="rId4"/>
              </a:rPr>
              <a:t>://www.w3schools.com/html/tryit.asp?filename=tryhtml5_input_max_min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xmlns="" val="420974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395380" cy="4588877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HTML5 new Form Elements:</a:t>
            </a: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&lt;</a:t>
            </a:r>
            <a:r>
              <a:rPr lang="en-US" sz="2000" b="1" dirty="0" err="1" smtClean="0">
                <a:solidFill>
                  <a:schemeClr val="accent2"/>
                </a:solidFill>
              </a:rPr>
              <a:t>datalist</a:t>
            </a:r>
            <a:r>
              <a:rPr lang="en-US" sz="2000" b="1" dirty="0" smtClean="0">
                <a:solidFill>
                  <a:schemeClr val="accent2"/>
                </a:solidFill>
              </a:rPr>
              <a:t>&gt; Element</a:t>
            </a:r>
            <a:endParaRPr lang="en-US" sz="2000" dirty="0"/>
          </a:p>
          <a:p>
            <a:pPr lvl="2"/>
            <a:r>
              <a:rPr lang="en-US" sz="1600" dirty="0" smtClean="0"/>
              <a:t>Specifies a list of pre-defined options for an &lt;input&gt; element</a:t>
            </a:r>
          </a:p>
          <a:p>
            <a:pPr lvl="2"/>
            <a:r>
              <a:rPr lang="en-US" sz="1600" dirty="0" smtClean="0"/>
              <a:t>Used to provide an “autocomplete” feature on &lt;input&gt; elements</a:t>
            </a:r>
          </a:p>
          <a:p>
            <a:pPr lvl="2"/>
            <a:r>
              <a:rPr lang="en-US" sz="1600" dirty="0" smtClean="0"/>
              <a:t>Use &lt;input&gt; element’s list attribute to bind it together with a &lt;</a:t>
            </a:r>
            <a:r>
              <a:rPr lang="en-US" sz="1600" dirty="0" err="1" smtClean="0"/>
              <a:t>datalist</a:t>
            </a:r>
            <a:r>
              <a:rPr lang="en-US" sz="1600" dirty="0" smtClean="0"/>
              <a:t>&gt; element</a:t>
            </a:r>
            <a:endParaRPr lang="en-US" sz="1600" dirty="0"/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lvl="1"/>
            <a:endParaRPr lang="en-US" sz="2000" b="1" dirty="0" err="1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88690" y="1752600"/>
            <a:ext cx="1359110" cy="2354372"/>
            <a:chOff x="12490" y="2388339"/>
            <a:chExt cx="1359110" cy="2354372"/>
          </a:xfrm>
        </p:grpSpPr>
        <p:sp>
          <p:nvSpPr>
            <p:cNvPr id="14" name="TextBox 13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elements</a:t>
              </a:r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5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0" y="3316372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/>
        </p:nvGrpSpPr>
        <p:grpSpPr>
          <a:xfrm>
            <a:off x="1066800" y="3352800"/>
            <a:ext cx="7848600" cy="3352800"/>
            <a:chOff x="1066800" y="3352800"/>
            <a:chExt cx="7848600" cy="3352800"/>
          </a:xfrm>
        </p:grpSpPr>
        <p:pic>
          <p:nvPicPr>
            <p:cNvPr id="819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3352800"/>
              <a:ext cx="4600575" cy="2209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953000" y="3412391"/>
              <a:ext cx="3962400" cy="3293209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&lt;form&gt;</a:t>
              </a:r>
            </a:p>
            <a:p>
              <a:r>
                <a:rPr lang="en-US" sz="1600" b="1" dirty="0" smtClean="0"/>
                <a:t>&lt;</a:t>
              </a:r>
              <a:r>
                <a:rPr lang="en-US" sz="1600" b="1" dirty="0"/>
                <a:t>input list="browsers" /&gt;</a:t>
              </a:r>
              <a:br>
                <a:rPr lang="en-US" sz="1600" b="1" dirty="0"/>
              </a:br>
              <a:r>
                <a:rPr lang="en-US" sz="1600" b="1" dirty="0"/>
                <a:t/>
              </a:r>
              <a:br>
                <a:rPr lang="en-US" sz="1600" b="1" dirty="0"/>
              </a:br>
              <a:r>
                <a:rPr lang="en-US" sz="1600" b="1" dirty="0"/>
                <a:t>&lt;</a:t>
              </a:r>
              <a:r>
                <a:rPr lang="en-US" sz="1600" b="1" dirty="0" err="1"/>
                <a:t>datalist</a:t>
              </a:r>
              <a:r>
                <a:rPr lang="en-US" sz="1600" b="1" dirty="0"/>
                <a:t> id="browsers"&gt;</a:t>
              </a:r>
              <a:br>
                <a:rPr lang="en-US" sz="1600" b="1" dirty="0"/>
              </a:br>
              <a:r>
                <a:rPr lang="en-US" sz="1600" b="1" dirty="0"/>
                <a:t>  &lt;option value="Internet Explorer"&gt;</a:t>
              </a:r>
              <a:br>
                <a:rPr lang="en-US" sz="1600" b="1" dirty="0"/>
              </a:br>
              <a:r>
                <a:rPr lang="en-US" sz="1600" b="1" dirty="0"/>
                <a:t>  &lt;option value="Firefox"&gt;</a:t>
              </a:r>
              <a:br>
                <a:rPr lang="en-US" sz="1600" b="1" dirty="0"/>
              </a:br>
              <a:r>
                <a:rPr lang="en-US" sz="1600" b="1" dirty="0"/>
                <a:t>  &lt;option value="Chrome"&gt;</a:t>
              </a:r>
              <a:br>
                <a:rPr lang="en-US" sz="1600" b="1" dirty="0"/>
              </a:br>
              <a:r>
                <a:rPr lang="en-US" sz="1600" b="1" dirty="0"/>
                <a:t>  &lt;option value="Opera"&gt;</a:t>
              </a:r>
              <a:br>
                <a:rPr lang="en-US" sz="1600" b="1" dirty="0"/>
              </a:br>
              <a:r>
                <a:rPr lang="en-US" sz="1600" b="1" dirty="0"/>
                <a:t>  &lt;option value="Safari"&gt;</a:t>
              </a:r>
              <a:br>
                <a:rPr lang="en-US" sz="1600" b="1" dirty="0"/>
              </a:br>
              <a:r>
                <a:rPr lang="en-US" sz="1600" b="1" dirty="0"/>
                <a:t>&lt;/</a:t>
              </a:r>
              <a:r>
                <a:rPr lang="en-US" sz="1600" b="1" dirty="0" err="1"/>
                <a:t>datalist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&lt;/form&gt;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00144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395380" cy="4588877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HTML5 new Form Elements:</a:t>
            </a: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&lt;</a:t>
            </a:r>
            <a:r>
              <a:rPr lang="en-US" sz="2000" b="1" dirty="0" err="1" smtClean="0">
                <a:solidFill>
                  <a:schemeClr val="accent2"/>
                </a:solidFill>
              </a:rPr>
              <a:t>keygen</a:t>
            </a:r>
            <a:r>
              <a:rPr lang="en-US" sz="2000" b="1" dirty="0" smtClean="0">
                <a:solidFill>
                  <a:schemeClr val="accent2"/>
                </a:solidFill>
              </a:rPr>
              <a:t>&gt; Element</a:t>
            </a:r>
            <a:endParaRPr lang="en-US" sz="2000" dirty="0"/>
          </a:p>
          <a:p>
            <a:pPr lvl="2"/>
            <a:r>
              <a:rPr lang="en-US" sz="1600" dirty="0" smtClean="0"/>
              <a:t>Used to provide a secure way to authenticate users</a:t>
            </a:r>
          </a:p>
          <a:p>
            <a:pPr lvl="2"/>
            <a:r>
              <a:rPr lang="en-US" sz="1600" dirty="0" smtClean="0"/>
              <a:t>Specifies a key-pair generator field in a form</a:t>
            </a:r>
          </a:p>
          <a:p>
            <a:pPr lvl="2"/>
            <a:r>
              <a:rPr lang="en-US" sz="1600" dirty="0" smtClean="0"/>
              <a:t>When form submit, two keys are generated (one private and one public)</a:t>
            </a: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lvl="1"/>
            <a:endParaRPr lang="en-US" sz="2000" b="1" dirty="0" err="1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88690" y="1752600"/>
            <a:ext cx="1359110" cy="2354372"/>
            <a:chOff x="12490" y="2388339"/>
            <a:chExt cx="1359110" cy="2354372"/>
          </a:xfrm>
        </p:grpSpPr>
        <p:sp>
          <p:nvSpPr>
            <p:cNvPr id="14" name="TextBox 13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elements</a:t>
              </a:r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5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0" y="3316372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1219200" y="3338512"/>
            <a:ext cx="7620000" cy="2833688"/>
            <a:chOff x="1219200" y="3262312"/>
            <a:chExt cx="7620000" cy="2833688"/>
          </a:xfrm>
        </p:grpSpPr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3262312"/>
              <a:ext cx="4610100" cy="20097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352800" y="4280118"/>
              <a:ext cx="5486400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&lt;form&gt;</a:t>
              </a:r>
            </a:p>
            <a:p>
              <a:r>
                <a:rPr lang="en-US" sz="1600" b="1" dirty="0" smtClean="0"/>
                <a:t>&lt;p&gt;Username</a:t>
              </a:r>
              <a:r>
                <a:rPr lang="en-US" sz="1600" b="1" dirty="0"/>
                <a:t>: &lt;input type="text" name="</a:t>
              </a:r>
              <a:r>
                <a:rPr lang="en-US" sz="1600" b="1" dirty="0" err="1"/>
                <a:t>usr_name</a:t>
              </a:r>
              <a:r>
                <a:rPr lang="en-US" sz="1600" b="1" dirty="0"/>
                <a:t>" </a:t>
              </a:r>
              <a:r>
                <a:rPr lang="en-US" sz="1600" b="1" dirty="0" smtClean="0"/>
                <a:t>/&gt; &lt;/p&gt;</a:t>
              </a:r>
              <a:r>
                <a:rPr lang="en-US" sz="1600" b="1" dirty="0"/>
                <a:t/>
              </a:r>
              <a:br>
                <a:rPr lang="en-US" sz="1600" b="1" dirty="0"/>
              </a:br>
              <a:r>
                <a:rPr lang="en-US" sz="1600" b="1" dirty="0" smtClean="0"/>
                <a:t>&lt;p&gt;Encryption</a:t>
              </a:r>
              <a:r>
                <a:rPr lang="en-US" sz="1600" b="1" dirty="0"/>
                <a:t>: &lt;</a:t>
              </a:r>
              <a:r>
                <a:rPr lang="en-US" sz="1600" b="1" dirty="0" err="1"/>
                <a:t>keygen</a:t>
              </a:r>
              <a:r>
                <a:rPr lang="en-US" sz="1600" b="1" dirty="0"/>
                <a:t> name="security" /&gt;</a:t>
              </a:r>
              <a:br>
                <a:rPr lang="en-US" sz="1600" b="1" dirty="0"/>
              </a:br>
              <a:r>
                <a:rPr lang="en-US" sz="1600" b="1" dirty="0" smtClean="0"/>
                <a:t>&lt;</a:t>
              </a:r>
              <a:r>
                <a:rPr lang="en-US" sz="1600" b="1" dirty="0"/>
                <a:t>input type="submit" </a:t>
              </a:r>
              <a:r>
                <a:rPr lang="en-US" sz="1600" b="1" dirty="0" smtClean="0"/>
                <a:t>/&gt;&lt;/p&gt;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&lt;/form&gt;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71368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395380" cy="4588877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HTML5 new Form Elements:</a:t>
            </a:r>
          </a:p>
          <a:p>
            <a:pPr lvl="1"/>
            <a:r>
              <a:rPr lang="en-US" sz="2000" b="1" dirty="0" smtClean="0">
                <a:solidFill>
                  <a:schemeClr val="accent2"/>
                </a:solidFill>
              </a:rPr>
              <a:t>&lt;output&gt; Element</a:t>
            </a:r>
            <a:endParaRPr lang="en-US" sz="2000" dirty="0"/>
          </a:p>
          <a:p>
            <a:pPr lvl="2"/>
            <a:r>
              <a:rPr lang="en-US" sz="1600" dirty="0" smtClean="0"/>
              <a:t>Represents result of a calculation (like performed by script)</a:t>
            </a:r>
          </a:p>
          <a:p>
            <a:pPr lvl="2"/>
            <a:r>
              <a:rPr lang="en-US" sz="1600" dirty="0" smtClean="0"/>
              <a:t>Perform calculation and show result in an &lt;output&gt; element</a:t>
            </a: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 smtClean="0">
              <a:solidFill>
                <a:schemeClr val="accent2"/>
              </a:solidFill>
            </a:endParaRP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lvl="1"/>
            <a:endParaRPr lang="en-US" sz="2000" b="1" dirty="0" err="1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88690" y="1752600"/>
            <a:ext cx="1359110" cy="2354372"/>
            <a:chOff x="12490" y="2388339"/>
            <a:chExt cx="1359110" cy="2354372"/>
          </a:xfrm>
        </p:grpSpPr>
        <p:sp>
          <p:nvSpPr>
            <p:cNvPr id="14" name="TextBox 13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elements</a:t>
              </a:r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5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0" y="3316372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1600200" y="2895600"/>
            <a:ext cx="6629400" cy="2945484"/>
            <a:chOff x="1600200" y="3226716"/>
            <a:chExt cx="6629400" cy="2945484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3226716"/>
              <a:ext cx="4581525" cy="18669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2743200" y="4356318"/>
              <a:ext cx="5486400" cy="1815882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&lt;form </a:t>
              </a:r>
              <a:r>
                <a:rPr lang="en-US" sz="1600" b="1" dirty="0" err="1"/>
                <a:t>oninput</a:t>
              </a:r>
              <a:r>
                <a:rPr lang="en-US" sz="1600" b="1" dirty="0"/>
                <a:t>="</a:t>
              </a:r>
              <a:r>
                <a:rPr lang="en-US" sz="1600" b="1" dirty="0" err="1"/>
                <a:t>x.value</a:t>
              </a:r>
              <a:r>
                <a:rPr lang="en-US" sz="1600" b="1" dirty="0"/>
                <a:t>=</a:t>
              </a:r>
              <a:r>
                <a:rPr lang="en-US" sz="1600" b="1" dirty="0" err="1"/>
                <a:t>parseInt</a:t>
              </a:r>
              <a:r>
                <a:rPr lang="en-US" sz="1600" b="1" dirty="0"/>
                <a:t>(</a:t>
              </a:r>
              <a:r>
                <a:rPr lang="en-US" sz="1600" b="1" dirty="0" err="1"/>
                <a:t>a.value</a:t>
              </a:r>
              <a:r>
                <a:rPr lang="en-US" sz="1600" b="1" dirty="0"/>
                <a:t>)+</a:t>
              </a:r>
              <a:r>
                <a:rPr lang="en-US" sz="1600" b="1" dirty="0" err="1"/>
                <a:t>parseInt</a:t>
              </a:r>
              <a:r>
                <a:rPr lang="en-US" sz="1600" b="1" dirty="0"/>
                <a:t>(</a:t>
              </a:r>
              <a:r>
                <a:rPr lang="en-US" sz="1600" b="1" dirty="0" err="1"/>
                <a:t>b.value</a:t>
              </a:r>
              <a:r>
                <a:rPr lang="en-US" sz="1600" b="1" dirty="0" smtClean="0"/>
                <a:t>)"&gt;</a:t>
              </a:r>
            </a:p>
            <a:p>
              <a:r>
                <a:rPr lang="en-US" sz="1600" b="1" dirty="0" smtClean="0"/>
                <a:t>A</a:t>
              </a:r>
              <a:r>
                <a:rPr lang="en-US" sz="1600" b="1" dirty="0"/>
                <a:t>: &lt;input type="number" name="a" value="50" /&gt;</a:t>
              </a:r>
            </a:p>
            <a:p>
              <a:r>
                <a:rPr lang="en-US" sz="1600" b="1" dirty="0" smtClean="0"/>
                <a:t>+ </a:t>
              </a:r>
              <a:r>
                <a:rPr lang="en-US" sz="1600" b="1" dirty="0"/>
                <a:t>B: &lt;input type="number" name="b" value="50" /&gt;</a:t>
              </a:r>
            </a:p>
            <a:p>
              <a:r>
                <a:rPr lang="en-US" sz="1600" b="1" dirty="0" smtClean="0"/>
                <a:t>= &lt;</a:t>
              </a:r>
              <a:r>
                <a:rPr lang="en-US" sz="1600" b="1" dirty="0"/>
                <a:t>output name="x" for="a b"&gt;&lt;/output&gt;</a:t>
              </a:r>
            </a:p>
            <a:p>
              <a:r>
                <a:rPr lang="en-US" sz="1600" b="1" dirty="0" smtClean="0"/>
                <a:t>&lt;/</a:t>
              </a:r>
              <a:r>
                <a:rPr lang="en-US" sz="1600" b="1" dirty="0"/>
                <a:t>form</a:t>
              </a:r>
              <a:r>
                <a:rPr lang="en-US" sz="1600" b="1" dirty="0" smtClean="0"/>
                <a:t>&gt;</a:t>
              </a:r>
              <a:endParaRPr lang="en-US" sz="1600" dirty="0" smtClean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4906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New attributes for &lt;form&gt;:</a:t>
            </a:r>
          </a:p>
          <a:p>
            <a:pPr lvl="1"/>
            <a:r>
              <a:rPr lang="en-US" sz="1900" dirty="0"/>
              <a:t>autocomplete</a:t>
            </a:r>
          </a:p>
          <a:p>
            <a:pPr lvl="1"/>
            <a:r>
              <a:rPr lang="en-US" sz="1900" dirty="0" err="1"/>
              <a:t>n</a:t>
            </a:r>
            <a:r>
              <a:rPr lang="en-US" sz="1900" dirty="0" err="1" smtClean="0"/>
              <a:t>ovalidate</a:t>
            </a:r>
            <a:endParaRPr lang="en-US" sz="1900" dirty="0" smtClean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86620" y="2590800"/>
            <a:ext cx="7395380" cy="3505200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itchFamily="2" charset="2"/>
              <a:buChar char="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Calibri" pitchFamily="34" charset="0"/>
              <a:buChar char="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itchFamily="2" charset="2"/>
              <a:buChar char="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New attribute for &lt;input&gt;:</a:t>
            </a:r>
          </a:p>
          <a:p>
            <a:pPr lvl="1"/>
            <a:r>
              <a:rPr lang="en-US" sz="2000" dirty="0" smtClean="0"/>
              <a:t>autocomplete</a:t>
            </a:r>
          </a:p>
          <a:p>
            <a:pPr lvl="1"/>
            <a:r>
              <a:rPr lang="en-US" sz="2000" dirty="0" smtClean="0"/>
              <a:t>autofocus</a:t>
            </a:r>
          </a:p>
          <a:p>
            <a:pPr lvl="1"/>
            <a:r>
              <a:rPr lang="en-US" sz="2000" dirty="0" smtClean="0"/>
              <a:t>form</a:t>
            </a:r>
          </a:p>
          <a:p>
            <a:pPr lvl="1"/>
            <a:r>
              <a:rPr lang="en-US" sz="2000" dirty="0" err="1" smtClean="0"/>
              <a:t>formaction</a:t>
            </a:r>
            <a:endParaRPr lang="en-US" sz="2000" dirty="0" smtClean="0"/>
          </a:p>
          <a:p>
            <a:pPr lvl="1"/>
            <a:r>
              <a:rPr lang="en-US" sz="2000" dirty="0" err="1" smtClean="0"/>
              <a:t>formenctype</a:t>
            </a:r>
            <a:endParaRPr lang="en-US" sz="2000" dirty="0" smtClean="0"/>
          </a:p>
          <a:p>
            <a:pPr lvl="1"/>
            <a:r>
              <a:rPr lang="en-US" sz="2000" dirty="0" err="1" smtClean="0"/>
              <a:t>formmethod</a:t>
            </a:r>
            <a:endParaRPr lang="en-US" sz="2000" dirty="0" smtClean="0"/>
          </a:p>
          <a:p>
            <a:pPr lvl="1"/>
            <a:r>
              <a:rPr lang="en-US" sz="2000" dirty="0" err="1" smtClean="0"/>
              <a:t>formnovalidate</a:t>
            </a:r>
            <a:endParaRPr lang="en-US" sz="2000" dirty="0" smtClean="0"/>
          </a:p>
          <a:p>
            <a:pPr lvl="1"/>
            <a:r>
              <a:rPr lang="en-US" sz="2000" dirty="0" err="1" smtClean="0"/>
              <a:t>formtarget</a:t>
            </a:r>
            <a:endParaRPr lang="en-US" sz="2000" dirty="0" smtClean="0"/>
          </a:p>
          <a:p>
            <a:pPr lvl="1"/>
            <a:r>
              <a:rPr lang="en-US" sz="2000" dirty="0" smtClean="0"/>
              <a:t>height and width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list</a:t>
            </a:r>
          </a:p>
          <a:p>
            <a:pPr lvl="1"/>
            <a:r>
              <a:rPr lang="en-US" sz="2000" dirty="0" smtClean="0"/>
              <a:t>min and max</a:t>
            </a:r>
          </a:p>
          <a:p>
            <a:pPr lvl="1"/>
            <a:r>
              <a:rPr lang="en-US" sz="2000" dirty="0" smtClean="0"/>
              <a:t>multiple</a:t>
            </a:r>
          </a:p>
          <a:p>
            <a:pPr lvl="1"/>
            <a:r>
              <a:rPr lang="en-US" sz="2000" dirty="0"/>
              <a:t>p</a:t>
            </a:r>
            <a:r>
              <a:rPr lang="en-US" sz="2000" dirty="0" smtClean="0"/>
              <a:t>attern (</a:t>
            </a:r>
            <a:r>
              <a:rPr lang="en-US" sz="2000" dirty="0" err="1" smtClean="0"/>
              <a:t>regexp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smtClean="0"/>
              <a:t>placeholder</a:t>
            </a:r>
          </a:p>
          <a:p>
            <a:pPr lvl="1"/>
            <a:r>
              <a:rPr lang="en-US" sz="2000" dirty="0" smtClean="0"/>
              <a:t>required</a:t>
            </a:r>
          </a:p>
          <a:p>
            <a:pPr lvl="1"/>
            <a:r>
              <a:rPr lang="en-US" sz="2000" dirty="0" smtClean="0"/>
              <a:t>step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grpSp>
        <p:nvGrpSpPr>
          <p:cNvPr id="8" name="Group 7"/>
          <p:cNvGrpSpPr/>
          <p:nvPr/>
        </p:nvGrpSpPr>
        <p:grpSpPr>
          <a:xfrm>
            <a:off x="6858000" y="1492846"/>
            <a:ext cx="1367620" cy="2333170"/>
            <a:chOff x="12490" y="2388339"/>
            <a:chExt cx="1367620" cy="2333170"/>
          </a:xfrm>
        </p:grpSpPr>
        <p:sp>
          <p:nvSpPr>
            <p:cNvPr id="9" name="TextBox 8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</a:t>
              </a:r>
              <a:r>
                <a:rPr lang="en-US" sz="1400" dirty="0" err="1" smtClean="0"/>
                <a:t>atrributes</a:t>
              </a:r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0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10420" y="3295170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/>
          <p:cNvSpPr txBox="1"/>
          <p:nvPr/>
        </p:nvSpPr>
        <p:spPr>
          <a:xfrm>
            <a:off x="914400" y="6019800"/>
            <a:ext cx="4094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hlinkClick r:id="rId3"/>
              </a:rPr>
              <a:t>http://www.w3schools.com/html5/html5_form_attributes.asp</a:t>
            </a:r>
            <a:endParaRPr lang="en-US" sz="1200" i="1" dirty="0"/>
          </a:p>
          <a:p>
            <a:endParaRPr lang="en-SG" sz="1200" i="1" dirty="0"/>
          </a:p>
        </p:txBody>
      </p:sp>
    </p:spTree>
    <p:extLst>
      <p:ext uri="{BB962C8B-B14F-4D97-AF65-F5344CB8AC3E}">
        <p14:creationId xmlns:p14="http://schemas.microsoft.com/office/powerpoint/2010/main" xmlns="" val="40760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&lt;form&gt;/&lt;input&gt; autocomplete Attribute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Specifies whether a form or input field should have autocomplete on or off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When autocomplete is on, the browser automatically </a:t>
            </a:r>
            <a:r>
              <a:rPr lang="en-SG" sz="2000" dirty="0"/>
              <a:t>based on values that the user has entered </a:t>
            </a:r>
            <a:r>
              <a:rPr lang="en-SG" sz="2000" dirty="0" smtClean="0"/>
              <a:t>before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57200" y="3352800"/>
            <a:ext cx="8229600" cy="2759583"/>
            <a:chOff x="1066800" y="3984724"/>
            <a:chExt cx="8229600" cy="2759583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3984724"/>
              <a:ext cx="4324350" cy="25431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352800" y="4060924"/>
              <a:ext cx="5943600" cy="2308324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&lt;form </a:t>
              </a:r>
              <a:r>
                <a:rPr lang="en-US" sz="1600" b="1" dirty="0" smtClean="0">
                  <a:solidFill>
                    <a:srgbClr val="FF0000"/>
                  </a:solidFill>
                </a:rPr>
                <a:t>autocomplete</a:t>
              </a:r>
              <a:r>
                <a:rPr lang="en-US" sz="1600" b="1" dirty="0">
                  <a:solidFill>
                    <a:srgbClr val="FF0000"/>
                  </a:solidFill>
                </a:rPr>
                <a:t>="on"</a:t>
              </a:r>
              <a:r>
                <a:rPr lang="en-US" sz="1600" b="1" dirty="0"/>
                <a:t>&gt;</a:t>
              </a:r>
              <a:br>
                <a:rPr lang="en-US" sz="1600" b="1" dirty="0"/>
              </a:br>
              <a:r>
                <a:rPr lang="en-US" sz="1600" b="1" dirty="0"/>
                <a:t>  First name:&lt;input type="text" name="</a:t>
              </a:r>
              <a:r>
                <a:rPr lang="en-US" sz="1600" b="1" dirty="0" err="1"/>
                <a:t>fname</a:t>
              </a:r>
              <a:r>
                <a:rPr lang="en-US" sz="1600" b="1" dirty="0"/>
                <a:t>" /&gt;&lt;</a:t>
              </a:r>
              <a:r>
                <a:rPr lang="en-US" sz="1600" b="1" dirty="0" err="1"/>
                <a:t>br</a:t>
              </a:r>
              <a:r>
                <a:rPr lang="en-US" sz="1600" b="1" dirty="0"/>
                <a:t> /&gt;</a:t>
              </a:r>
              <a:br>
                <a:rPr lang="en-US" sz="1600" b="1" dirty="0"/>
              </a:br>
              <a:r>
                <a:rPr lang="en-US" sz="1600" b="1" dirty="0"/>
                <a:t>  Last name: &lt;input type="text" name="</a:t>
              </a:r>
              <a:r>
                <a:rPr lang="en-US" sz="1600" b="1" dirty="0" err="1"/>
                <a:t>lname</a:t>
              </a:r>
              <a:r>
                <a:rPr lang="en-US" sz="1600" b="1" dirty="0"/>
                <a:t>" /&gt;&lt;</a:t>
              </a:r>
              <a:r>
                <a:rPr lang="en-US" sz="1600" b="1" dirty="0" err="1"/>
                <a:t>br</a:t>
              </a:r>
              <a:r>
                <a:rPr lang="en-US" sz="1600" b="1" dirty="0"/>
                <a:t> /&gt;</a:t>
              </a:r>
              <a:br>
                <a:rPr lang="en-US" sz="1600" b="1" dirty="0"/>
              </a:br>
              <a:r>
                <a:rPr lang="en-US" sz="1600" b="1" dirty="0"/>
                <a:t>  E-mail: &lt;input type="email" name="email" </a:t>
              </a:r>
              <a:r>
                <a:rPr lang="en-US" sz="1600" b="1" dirty="0">
                  <a:solidFill>
                    <a:srgbClr val="FF0000"/>
                  </a:solidFill>
                </a:rPr>
                <a:t>autocomplete="off" </a:t>
              </a:r>
              <a:r>
                <a:rPr lang="en-US" sz="1600" b="1" dirty="0" smtClean="0"/>
                <a:t>/&gt;</a:t>
              </a:r>
            </a:p>
            <a:p>
              <a:r>
                <a:rPr lang="en-US" sz="1600" b="1" dirty="0"/>
                <a:t> </a:t>
              </a:r>
              <a:r>
                <a:rPr lang="en-US" sz="1600" b="1" dirty="0" smtClean="0"/>
                <a:t> &lt;</a:t>
              </a:r>
              <a:r>
                <a:rPr lang="en-US" sz="1600" b="1" dirty="0" err="1"/>
                <a:t>br</a:t>
              </a:r>
              <a:r>
                <a:rPr lang="en-US" sz="1600" b="1" dirty="0"/>
                <a:t> /&gt;</a:t>
              </a:r>
              <a:br>
                <a:rPr lang="en-US" sz="1600" b="1" dirty="0"/>
              </a:br>
              <a:r>
                <a:rPr lang="en-US" sz="1600" b="1" dirty="0"/>
                <a:t>  &lt;input type="submit" /&gt;</a:t>
              </a:r>
              <a:br>
                <a:rPr lang="en-US" sz="1600" b="1" dirty="0"/>
              </a:br>
              <a:r>
                <a:rPr lang="en-US" sz="1600" b="1" dirty="0"/>
                <a:t>&lt;/form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Line Callout 2 5"/>
            <p:cNvSpPr/>
            <p:nvPr/>
          </p:nvSpPr>
          <p:spPr>
            <a:xfrm>
              <a:off x="5715000" y="6182332"/>
              <a:ext cx="1600200" cy="561975"/>
            </a:xfrm>
            <a:prstGeom prst="borderCallout2">
              <a:avLst>
                <a:gd name="adj1" fmla="val 20919"/>
                <a:gd name="adj2" fmla="val 105191"/>
                <a:gd name="adj3" fmla="val 20919"/>
                <a:gd name="adj4" fmla="val 117428"/>
                <a:gd name="adj5" fmla="val -54550"/>
                <a:gd name="adj6" fmla="val 14076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400" dirty="0" smtClean="0"/>
                <a:t>Turn off for specific input field</a:t>
              </a:r>
              <a:endParaRPr lang="en-US" sz="14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467600" y="685800"/>
            <a:ext cx="1367620" cy="2333170"/>
            <a:chOff x="12490" y="2388339"/>
            <a:chExt cx="1367620" cy="2333170"/>
          </a:xfrm>
        </p:grpSpPr>
        <p:sp>
          <p:nvSpPr>
            <p:cNvPr id="15" name="TextBox 14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</a:t>
              </a:r>
              <a:r>
                <a:rPr lang="en-US" sz="1400" dirty="0" err="1" smtClean="0"/>
                <a:t>atrributes</a:t>
              </a:r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6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10420" y="3295170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Rectangle 12"/>
          <p:cNvSpPr/>
          <p:nvPr/>
        </p:nvSpPr>
        <p:spPr>
          <a:xfrm>
            <a:off x="1219200" y="6172200"/>
            <a:ext cx="7391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1400" dirty="0" smtClean="0">
                <a:hlinkClick r:id="rId5"/>
              </a:rPr>
              <a:t>http://www.w3schools.com/html/tryit.asp?filename=tryhtml5_input_autocomplete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xmlns="" val="149496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&lt;form&gt; </a:t>
            </a:r>
            <a:r>
              <a:rPr lang="en-US" sz="2400" b="1" dirty="0" err="1" smtClean="0">
                <a:solidFill>
                  <a:schemeClr val="tx2"/>
                </a:solidFill>
              </a:rPr>
              <a:t>novalidate</a:t>
            </a:r>
            <a:r>
              <a:rPr lang="en-US" sz="2400" b="1" dirty="0" smtClean="0">
                <a:solidFill>
                  <a:schemeClr val="tx2"/>
                </a:solidFill>
              </a:rPr>
              <a:t> Attribute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When present </a:t>
            </a:r>
            <a:r>
              <a:rPr lang="en-US" sz="2000" dirty="0" smtClean="0">
                <a:sym typeface="Wingdings" pitchFamily="2" charset="2"/>
              </a:rPr>
              <a:t> form-data (input) should not be validated when submitted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0832" y="2667000"/>
            <a:ext cx="7744968" cy="3131760"/>
            <a:chOff x="560832" y="3009900"/>
            <a:chExt cx="7744968" cy="3131760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832" y="3009900"/>
              <a:ext cx="3981450" cy="30861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776472" y="4572000"/>
              <a:ext cx="4529328" cy="1569660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&lt;form </a:t>
              </a:r>
              <a:r>
                <a:rPr lang="en-US" sz="1600" b="1" dirty="0" err="1" smtClean="0">
                  <a:solidFill>
                    <a:srgbClr val="FF0000"/>
                  </a:solidFill>
                </a:rPr>
                <a:t>novalidate</a:t>
              </a:r>
              <a:r>
                <a:rPr lang="en-US" sz="1600" b="1" dirty="0" smtClean="0"/>
                <a:t>&gt;</a:t>
              </a:r>
              <a:r>
                <a:rPr lang="en-US" sz="1600" b="1" dirty="0"/>
                <a:t/>
              </a:r>
              <a:br>
                <a:rPr lang="en-US" sz="1600" b="1" dirty="0"/>
              </a:br>
              <a:r>
                <a:rPr lang="en-US" sz="1600" b="1" dirty="0"/>
                <a:t>  </a:t>
              </a:r>
              <a:r>
                <a:rPr lang="en-US" sz="1600" b="1" dirty="0" smtClean="0"/>
                <a:t>E-mail</a:t>
              </a:r>
              <a:r>
                <a:rPr lang="en-US" sz="1600" b="1" dirty="0"/>
                <a:t>: &lt;input type="email" name="email" </a:t>
              </a:r>
              <a:r>
                <a:rPr lang="en-US" sz="1600" b="1" dirty="0" smtClean="0"/>
                <a:t> /&gt;</a:t>
              </a:r>
              <a:r>
                <a:rPr lang="en-US" sz="1600" b="1" dirty="0"/>
                <a:t/>
              </a:r>
              <a:br>
                <a:rPr lang="en-US" sz="1600" b="1" dirty="0"/>
              </a:br>
              <a:r>
                <a:rPr lang="en-US" sz="1600" b="1" dirty="0"/>
                <a:t>  &lt;input type="submit" /&gt;</a:t>
              </a:r>
              <a:br>
                <a:rPr lang="en-US" sz="1600" b="1" dirty="0"/>
              </a:br>
              <a:r>
                <a:rPr lang="en-US" sz="1600" b="1" dirty="0"/>
                <a:t>&lt;/form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467600" y="685800"/>
            <a:ext cx="1367620" cy="2333170"/>
            <a:chOff x="12490" y="2388339"/>
            <a:chExt cx="1367620" cy="2333170"/>
          </a:xfrm>
        </p:grpSpPr>
        <p:sp>
          <p:nvSpPr>
            <p:cNvPr id="11" name="TextBox 10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</a:t>
              </a:r>
              <a:r>
                <a:rPr lang="en-US" sz="1400" dirty="0" err="1" smtClean="0"/>
                <a:t>atrributes</a:t>
              </a:r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2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10420" y="3295170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Rectangle 12"/>
          <p:cNvSpPr/>
          <p:nvPr/>
        </p:nvSpPr>
        <p:spPr>
          <a:xfrm>
            <a:off x="1219200" y="5867400"/>
            <a:ext cx="7391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1400" dirty="0" smtClean="0">
                <a:hlinkClick r:id="rId5"/>
              </a:rPr>
              <a:t>DEMO: http</a:t>
            </a:r>
            <a:r>
              <a:rPr lang="en-SG" sz="1400" dirty="0" smtClean="0">
                <a:hlinkClick r:id="rId5"/>
              </a:rPr>
              <a:t>://www.w3schools.com/html/tryit.asp?filename=tryhtml5_input_formnovalidate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xmlns="" val="6038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6480980" cy="48768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&lt;input&gt; autofocus Attribute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When present </a:t>
            </a:r>
            <a:r>
              <a:rPr lang="en-US" sz="2000" dirty="0" smtClean="0">
                <a:sym typeface="Wingdings" pitchFamily="2" charset="2"/>
              </a:rPr>
              <a:t> specifies &lt;input&gt; element should be automatically get focus when page loads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219200" y="2590800"/>
            <a:ext cx="7086600" cy="3110895"/>
            <a:chOff x="1219200" y="3061305"/>
            <a:chExt cx="7086600" cy="311089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3061305"/>
              <a:ext cx="4391025" cy="23336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776472" y="3863876"/>
              <a:ext cx="4529328" cy="2308324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</a:t>
              </a:r>
              <a:r>
                <a:rPr lang="en-US" sz="1600" b="1" dirty="0" smtClean="0"/>
                <a:t>form&gt;</a:t>
              </a:r>
              <a:r>
                <a:rPr lang="en-US" sz="1600" b="1" dirty="0"/>
                <a:t/>
              </a:r>
              <a:br>
                <a:rPr lang="en-US" sz="1600" b="1" dirty="0"/>
              </a:br>
              <a:r>
                <a:rPr lang="en-US" sz="1600" b="1" dirty="0"/>
                <a:t>  &lt;p&gt;First name:&lt;input type="text" name="</a:t>
              </a:r>
              <a:r>
                <a:rPr lang="en-US" sz="1600" b="1" dirty="0" err="1"/>
                <a:t>fname</a:t>
              </a:r>
              <a:r>
                <a:rPr lang="en-US" sz="1600" b="1" dirty="0"/>
                <a:t>" </a:t>
              </a:r>
              <a:r>
                <a:rPr lang="en-US" sz="1600" b="1" dirty="0" smtClean="0">
                  <a:solidFill>
                    <a:srgbClr val="FF0000"/>
                  </a:solidFill>
                </a:rPr>
                <a:t>autofocus </a:t>
              </a:r>
              <a:r>
                <a:rPr lang="en-US" sz="1600" b="1" dirty="0"/>
                <a:t>/&gt;&lt;/p&gt;</a:t>
              </a:r>
            </a:p>
            <a:p>
              <a:r>
                <a:rPr lang="en-US" sz="1600" b="1" dirty="0" smtClean="0"/>
                <a:t>  &lt;</a:t>
              </a:r>
              <a:r>
                <a:rPr lang="en-US" sz="1600" b="1" dirty="0"/>
                <a:t>p&gt;E-mail: &lt;input type="email" name="</a:t>
              </a:r>
              <a:r>
                <a:rPr lang="en-US" sz="1600" b="1" dirty="0" err="1"/>
                <a:t>user_email</a:t>
              </a:r>
              <a:r>
                <a:rPr lang="en-US" sz="1600" b="1" dirty="0"/>
                <a:t>" /&gt;&lt;/p&gt;</a:t>
              </a:r>
            </a:p>
            <a:p>
              <a:r>
                <a:rPr lang="en-US" sz="1600" b="1" dirty="0" smtClean="0"/>
                <a:t>   &lt;</a:t>
              </a:r>
              <a:r>
                <a:rPr lang="en-US" sz="1600" b="1" dirty="0"/>
                <a:t>input type="submit" /&gt;</a:t>
              </a:r>
              <a:br>
                <a:rPr lang="en-US" sz="1600" b="1" dirty="0"/>
              </a:br>
              <a:r>
                <a:rPr lang="en-US" sz="1600" b="1" dirty="0"/>
                <a:t>&lt;/form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467600" y="685800"/>
            <a:ext cx="1367620" cy="2333170"/>
            <a:chOff x="12490" y="2388339"/>
            <a:chExt cx="1367620" cy="2333170"/>
          </a:xfrm>
        </p:grpSpPr>
        <p:sp>
          <p:nvSpPr>
            <p:cNvPr id="15" name="TextBox 14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</a:t>
              </a:r>
              <a:r>
                <a:rPr lang="en-US" sz="1400" dirty="0" err="1" smtClean="0"/>
                <a:t>atrributes</a:t>
              </a:r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6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10420" y="3295170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/>
          <p:cNvSpPr/>
          <p:nvPr/>
        </p:nvSpPr>
        <p:spPr>
          <a:xfrm>
            <a:off x="1219200" y="5867400"/>
            <a:ext cx="7391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1400" dirty="0" smtClean="0">
                <a:hlinkClick r:id="rId5"/>
              </a:rPr>
              <a:t>http://www.w3schools.com/html/tryit.asp?filename=tryhtml5_input_autofocus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xmlns="" val="17394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6480980" cy="48768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&lt;input&gt; placeholder Attribute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Specifies a short hint that describes the expected value of an input field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143000" y="2590800"/>
            <a:ext cx="7162800" cy="3266574"/>
            <a:chOff x="1143000" y="2905626"/>
            <a:chExt cx="7162800" cy="3266574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905626"/>
              <a:ext cx="3952875" cy="22383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776472" y="3863876"/>
              <a:ext cx="4529328" cy="2308324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</a:t>
              </a:r>
              <a:r>
                <a:rPr lang="en-US" sz="1600" b="1" dirty="0" smtClean="0"/>
                <a:t>form&gt;</a:t>
              </a:r>
              <a:r>
                <a:rPr lang="en-US" sz="1600" b="1" dirty="0"/>
                <a:t/>
              </a:r>
              <a:br>
                <a:rPr lang="en-US" sz="1600" b="1" dirty="0"/>
              </a:br>
              <a:r>
                <a:rPr lang="en-US" sz="1600" b="1" dirty="0"/>
                <a:t> </a:t>
              </a:r>
              <a:r>
                <a:rPr lang="en-US" sz="1600" b="1" dirty="0" smtClean="0"/>
                <a:t>  &lt;</a:t>
              </a:r>
              <a:r>
                <a:rPr lang="en-US" sz="1600" b="1" dirty="0"/>
                <a:t>p&gt;&lt;input type="text" name="</a:t>
              </a:r>
              <a:r>
                <a:rPr lang="en-US" sz="1600" b="1" dirty="0" err="1"/>
                <a:t>fname</a:t>
              </a:r>
              <a:r>
                <a:rPr lang="en-US" sz="1600" b="1" dirty="0"/>
                <a:t>" </a:t>
              </a:r>
              <a:r>
                <a:rPr lang="en-US" sz="1600" b="1" dirty="0">
                  <a:solidFill>
                    <a:srgbClr val="FF0000"/>
                  </a:solidFill>
                </a:rPr>
                <a:t>placeholder="First name" </a:t>
              </a:r>
              <a:r>
                <a:rPr lang="en-US" sz="1600" b="1" dirty="0"/>
                <a:t>/&gt;&lt;/p&gt;</a:t>
              </a:r>
            </a:p>
            <a:p>
              <a:r>
                <a:rPr lang="en-US" sz="1600" b="1" dirty="0" smtClean="0"/>
                <a:t>   &lt;</a:t>
              </a:r>
              <a:r>
                <a:rPr lang="en-US" sz="1600" b="1" dirty="0"/>
                <a:t>p&gt;&lt;input type="text" name="</a:t>
              </a:r>
              <a:r>
                <a:rPr lang="en-US" sz="1600" b="1" dirty="0" err="1"/>
                <a:t>lname</a:t>
              </a:r>
              <a:r>
                <a:rPr lang="en-US" sz="1600" b="1" dirty="0"/>
                <a:t>" </a:t>
              </a:r>
              <a:r>
                <a:rPr lang="en-US" sz="1600" b="1" dirty="0">
                  <a:solidFill>
                    <a:srgbClr val="FF0000"/>
                  </a:solidFill>
                </a:rPr>
                <a:t>placeholder="Last name" </a:t>
              </a:r>
              <a:r>
                <a:rPr lang="en-US" sz="1600" b="1" dirty="0"/>
                <a:t>/&gt;&lt;/p&gt;</a:t>
              </a:r>
            </a:p>
            <a:p>
              <a:r>
                <a:rPr lang="en-US" sz="1600" b="1" dirty="0" smtClean="0"/>
                <a:t>  &lt;</a:t>
              </a:r>
              <a:r>
                <a:rPr lang="en-US" sz="1600" b="1" dirty="0"/>
                <a:t>input type="submit" value="Submit" </a:t>
              </a:r>
              <a:r>
                <a:rPr lang="en-US" sz="1600" b="1" dirty="0" smtClean="0"/>
                <a:t>/&gt;</a:t>
              </a:r>
            </a:p>
            <a:p>
              <a:r>
                <a:rPr lang="en-US" sz="1600" b="1" dirty="0" smtClean="0"/>
                <a:t>&lt;/</a:t>
              </a:r>
              <a:r>
                <a:rPr lang="en-US" sz="1600" b="1" dirty="0"/>
                <a:t>form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467600" y="685800"/>
            <a:ext cx="1367620" cy="2333170"/>
            <a:chOff x="12490" y="2388339"/>
            <a:chExt cx="1367620" cy="2333170"/>
          </a:xfrm>
        </p:grpSpPr>
        <p:sp>
          <p:nvSpPr>
            <p:cNvPr id="18" name="TextBox 17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</a:t>
              </a:r>
              <a:r>
                <a:rPr lang="en-US" sz="1400" dirty="0" err="1" smtClean="0"/>
                <a:t>atrributes</a:t>
              </a:r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9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10420" y="3295170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/>
          <p:cNvSpPr/>
          <p:nvPr/>
        </p:nvSpPr>
        <p:spPr>
          <a:xfrm>
            <a:off x="990600" y="5943600"/>
            <a:ext cx="7467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1600" dirty="0" smtClean="0">
                <a:hlinkClick r:id="rId5"/>
              </a:rPr>
              <a:t>http://www.w3schools.com/html/tryit.asp?filename=tryhtml5_input_placeholder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xmlns="" val="152654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HTML5 Form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6480980" cy="48768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&lt;input&gt; required Attribute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When present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Specifies that an input must be filled before submitting the form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04800" y="2438400"/>
            <a:ext cx="8535906" cy="3479800"/>
            <a:chOff x="304800" y="3225800"/>
            <a:chExt cx="8535906" cy="34798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3225800"/>
              <a:ext cx="4495800" cy="31877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016802" y="4151055"/>
              <a:ext cx="4823904" cy="2554545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&lt;body&gt;</a:t>
              </a:r>
            </a:p>
            <a:p>
              <a:r>
                <a:rPr lang="en-US" sz="1600" b="1" dirty="0"/>
                <a:t>&lt;</a:t>
              </a:r>
              <a:r>
                <a:rPr lang="en-US" sz="1600" b="1" dirty="0" smtClean="0"/>
                <a:t>form&gt;</a:t>
              </a:r>
              <a:endParaRPr lang="en-US" sz="1600" b="1" dirty="0"/>
            </a:p>
            <a:p>
              <a:r>
                <a:rPr lang="en-US" sz="1600" b="1" dirty="0"/>
                <a:t> </a:t>
              </a:r>
              <a:r>
                <a:rPr lang="en-US" sz="1600" b="1" dirty="0" smtClean="0"/>
                <a:t> &lt;</a:t>
              </a:r>
              <a:r>
                <a:rPr lang="en-US" sz="1600" b="1" dirty="0"/>
                <a:t>p&gt;First Name: &lt;input type="text" name="</a:t>
              </a:r>
              <a:r>
                <a:rPr lang="en-US" sz="1600" b="1" dirty="0" err="1"/>
                <a:t>fname</a:t>
              </a:r>
              <a:r>
                <a:rPr lang="en-US" sz="1600" b="1" dirty="0"/>
                <a:t>" </a:t>
              </a:r>
              <a:r>
                <a:rPr lang="en-US" sz="1600" b="1" dirty="0">
                  <a:solidFill>
                    <a:srgbClr val="FF0000"/>
                  </a:solidFill>
                </a:rPr>
                <a:t>required</a:t>
              </a:r>
              <a:r>
                <a:rPr lang="en-US" sz="1600" b="1" dirty="0"/>
                <a:t> /&gt;&lt;/p&gt;</a:t>
              </a:r>
            </a:p>
            <a:p>
              <a:r>
                <a:rPr lang="en-US" sz="1600" b="1" dirty="0" smtClean="0"/>
                <a:t>  &lt;</a:t>
              </a:r>
              <a:r>
                <a:rPr lang="en-US" sz="1600" b="1" dirty="0"/>
                <a:t>p&gt;Last Name: &lt;input type="text" name="</a:t>
              </a:r>
              <a:r>
                <a:rPr lang="en-US" sz="1600" b="1" dirty="0" err="1"/>
                <a:t>lname</a:t>
              </a:r>
              <a:r>
                <a:rPr lang="en-US" sz="1600" b="1" dirty="0"/>
                <a:t>" </a:t>
              </a:r>
              <a:r>
                <a:rPr lang="en-US" sz="1600" b="1" dirty="0">
                  <a:solidFill>
                    <a:srgbClr val="FF0000"/>
                  </a:solidFill>
                </a:rPr>
                <a:t>required</a:t>
              </a:r>
              <a:r>
                <a:rPr lang="en-US" sz="1600" b="1" dirty="0"/>
                <a:t> /&gt;&lt;/p&gt;</a:t>
              </a:r>
            </a:p>
            <a:p>
              <a:r>
                <a:rPr lang="en-US" sz="1600" b="1" dirty="0" smtClean="0"/>
                <a:t>  &lt;</a:t>
              </a:r>
              <a:r>
                <a:rPr lang="en-US" sz="1600" b="1" dirty="0"/>
                <a:t>p&gt;Email: &lt;input type="text" name="email" /&gt;&lt;/p&gt;</a:t>
              </a:r>
            </a:p>
            <a:p>
              <a:r>
                <a:rPr lang="en-US" sz="1600" b="1" dirty="0" smtClean="0"/>
                <a:t>  &lt;</a:t>
              </a:r>
              <a:r>
                <a:rPr lang="en-US" sz="1600" b="1" dirty="0"/>
                <a:t>input type="submit" value="Submit" </a:t>
              </a:r>
              <a:r>
                <a:rPr lang="en-US" sz="1600" b="1" dirty="0" smtClean="0"/>
                <a:t>/&gt;</a:t>
              </a:r>
            </a:p>
            <a:p>
              <a:r>
                <a:rPr lang="en-US" sz="1600" b="1" dirty="0" smtClean="0"/>
                <a:t>&lt;/</a:t>
              </a:r>
              <a:r>
                <a:rPr lang="en-US" sz="1600" b="1" dirty="0"/>
                <a:t>form</a:t>
              </a:r>
              <a:r>
                <a:rPr lang="en-US" sz="1600" b="1" dirty="0" smtClean="0"/>
                <a:t>&gt;</a:t>
              </a:r>
            </a:p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&lt;/body&gt;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467600" y="685800"/>
            <a:ext cx="1367620" cy="2333170"/>
            <a:chOff x="12490" y="2388339"/>
            <a:chExt cx="1367620" cy="2333170"/>
          </a:xfrm>
        </p:grpSpPr>
        <p:sp>
          <p:nvSpPr>
            <p:cNvPr id="15" name="TextBox 14"/>
            <p:cNvSpPr txBox="1"/>
            <p:nvPr/>
          </p:nvSpPr>
          <p:spPr>
            <a:xfrm>
              <a:off x="12490" y="2388339"/>
              <a:ext cx="1359110" cy="1384995"/>
            </a:xfrm>
            <a:prstGeom prst="rect">
              <a:avLst/>
            </a:prstGeom>
            <a:solidFill>
              <a:srgbClr val="FFFDDD"/>
            </a:solidFill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Not all browsers support all the  new form </a:t>
              </a:r>
              <a:r>
                <a:rPr lang="en-US" sz="1400" dirty="0" err="1" smtClean="0"/>
                <a:t>atrributes</a:t>
              </a:r>
              <a:endParaRPr lang="en-US" sz="1400" dirty="0" smtClean="0"/>
            </a:p>
            <a:p>
              <a:endParaRPr lang="en-US" sz="1400" dirty="0" smtClean="0"/>
            </a:p>
            <a:p>
              <a:endParaRPr lang="en-US" sz="1400" dirty="0"/>
            </a:p>
          </p:txBody>
        </p:sp>
        <p:pic>
          <p:nvPicPr>
            <p:cNvPr id="16" name="Picture 5" descr="C:\Users\EvyLim\AppData\Local\Microsoft\Windows\Temporary Internet Files\Content.IE5\9QULIOQH\MC900078625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10420" y="3295170"/>
              <a:ext cx="469690" cy="14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/>
          <p:cNvSpPr/>
          <p:nvPr/>
        </p:nvSpPr>
        <p:spPr>
          <a:xfrm>
            <a:off x="533400" y="59436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 smtClean="0">
                <a:hlinkClick r:id="rId5"/>
              </a:rPr>
              <a:t>DEMO: http</a:t>
            </a:r>
            <a:r>
              <a:rPr lang="en-SG" dirty="0" smtClean="0">
                <a:hlinkClick r:id="rId5"/>
              </a:rPr>
              <a:t>://www.w3schools.com/html/tryit.asp?filename=tryhtml5_input_required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xmlns="" val="393180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HTML5 Structural Elements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Structural elements in </a:t>
            </a:r>
            <a:r>
              <a:rPr lang="en-GB" sz="2400" b="1" dirty="0" smtClean="0">
                <a:solidFill>
                  <a:schemeClr val="tx2"/>
                </a:solidFill>
              </a:rPr>
              <a:t>HTML 4.01 </a:t>
            </a:r>
            <a:r>
              <a:rPr lang="en-GB" sz="2400" dirty="0" smtClean="0"/>
              <a:t>for page layout</a:t>
            </a:r>
            <a:endParaRPr lang="en-SG" sz="2400" b="1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066800" y="1828800"/>
            <a:ext cx="7239000" cy="4191000"/>
            <a:chOff x="1066800" y="1828800"/>
            <a:chExt cx="7239000" cy="4191000"/>
          </a:xfrm>
        </p:grpSpPr>
        <p:sp>
          <p:nvSpPr>
            <p:cNvPr id="6" name="Rectangle 5"/>
            <p:cNvSpPr/>
            <p:nvPr/>
          </p:nvSpPr>
          <p:spPr>
            <a:xfrm>
              <a:off x="1066800" y="1828800"/>
              <a:ext cx="7239000" cy="4191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19200" y="1981200"/>
              <a:ext cx="69342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&lt;div id=“header”&gt;</a:t>
              </a:r>
              <a:endParaRPr lang="en-SG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19200" y="5334000"/>
              <a:ext cx="69342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&lt;div id=“footer”&gt;</a:t>
              </a:r>
              <a:endParaRPr lang="en-SG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19200" y="2680447"/>
              <a:ext cx="1828800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&lt;div id=“</a:t>
              </a:r>
              <a:r>
                <a:rPr lang="en-GB" dirty="0" err="1" smtClean="0"/>
                <a:t>nav</a:t>
              </a:r>
              <a:r>
                <a:rPr lang="en-GB" dirty="0" smtClean="0"/>
                <a:t>”&gt;</a:t>
              </a:r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SG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97706" y="2680447"/>
              <a:ext cx="1828800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&lt;div id=“aside”&gt;</a:t>
              </a:r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SG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58939" y="2680447"/>
              <a:ext cx="3027829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&lt;div id=“section”&gt;</a:t>
              </a:r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SG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10000" y="3937747"/>
              <a:ext cx="2224368" cy="108024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&lt;div id=“article”&gt;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04455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HTML5 Structural Elements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Structural elements in </a:t>
            </a:r>
            <a:r>
              <a:rPr lang="en-GB" sz="2400" b="1" dirty="0" smtClean="0">
                <a:solidFill>
                  <a:schemeClr val="tx2"/>
                </a:solidFill>
              </a:rPr>
              <a:t>HTML5 </a:t>
            </a:r>
            <a:r>
              <a:rPr lang="en-GB" sz="2400" dirty="0" smtClean="0"/>
              <a:t>for </a:t>
            </a:r>
            <a:r>
              <a:rPr lang="en-GB" sz="2400" smtClean="0"/>
              <a:t>page layout</a:t>
            </a:r>
            <a:endParaRPr lang="en-SG" sz="2400" b="1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066800" y="1828800"/>
            <a:ext cx="7239000" cy="4191000"/>
            <a:chOff x="1066800" y="1828800"/>
            <a:chExt cx="7239000" cy="4191000"/>
          </a:xfrm>
        </p:grpSpPr>
        <p:sp>
          <p:nvSpPr>
            <p:cNvPr id="6" name="Rectangle 5"/>
            <p:cNvSpPr/>
            <p:nvPr/>
          </p:nvSpPr>
          <p:spPr>
            <a:xfrm>
              <a:off x="1066800" y="1828800"/>
              <a:ext cx="7239000" cy="4191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19200" y="1981200"/>
              <a:ext cx="69342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&lt;header&gt;</a:t>
              </a:r>
              <a:endParaRPr lang="en-SG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19200" y="5334000"/>
              <a:ext cx="69342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&lt;footer&gt;</a:t>
              </a:r>
              <a:endParaRPr lang="en-SG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19200" y="2680447"/>
              <a:ext cx="1828800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</a:t>
              </a:r>
              <a:r>
                <a:rPr lang="en-GB" dirty="0" err="1" smtClean="0"/>
                <a:t>nav</a:t>
              </a:r>
              <a:r>
                <a:rPr lang="en-GB" dirty="0" smtClean="0"/>
                <a:t>&gt;</a:t>
              </a:r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SG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97706" y="2680447"/>
              <a:ext cx="1828800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&lt;aside&gt;</a:t>
              </a:r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SG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58939" y="2680447"/>
              <a:ext cx="3027829" cy="2514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&lt;section&gt;</a:t>
              </a:r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GB" dirty="0" smtClean="0"/>
            </a:p>
            <a:p>
              <a:pPr algn="ctr"/>
              <a:endParaRPr lang="en-GB" dirty="0"/>
            </a:p>
            <a:p>
              <a:pPr algn="ctr"/>
              <a:endParaRPr lang="en-SG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10000" y="3937747"/>
              <a:ext cx="2224368" cy="108024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&lt;article&gt;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5406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HTML5 Structural Elements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500"/>
              </a:spcAft>
            </a:pPr>
            <a:r>
              <a:rPr lang="en-GB" sz="2100" dirty="0" smtClean="0"/>
              <a:t>To mark the page header, use the </a:t>
            </a:r>
            <a:r>
              <a:rPr lang="en-GB" sz="2100" b="1" dirty="0" smtClean="0">
                <a:solidFill>
                  <a:schemeClr val="tx2"/>
                </a:solidFill>
              </a:rPr>
              <a:t>&lt;header&gt;</a:t>
            </a:r>
            <a:r>
              <a:rPr lang="en-GB" sz="2100" dirty="0" smtClean="0"/>
              <a:t> element</a:t>
            </a:r>
          </a:p>
          <a:p>
            <a:pPr>
              <a:spcAft>
                <a:spcPts val="500"/>
              </a:spcAft>
            </a:pPr>
            <a:r>
              <a:rPr lang="en-GB" sz="2100" dirty="0" smtClean="0"/>
              <a:t>To mark the page footer, use the </a:t>
            </a:r>
            <a:r>
              <a:rPr lang="en-GB" sz="2100" b="1" dirty="0" smtClean="0">
                <a:solidFill>
                  <a:schemeClr val="tx2"/>
                </a:solidFill>
              </a:rPr>
              <a:t>&lt;footer&gt; </a:t>
            </a:r>
            <a:r>
              <a:rPr lang="en-GB" sz="2100" dirty="0" smtClean="0"/>
              <a:t>element</a:t>
            </a:r>
          </a:p>
          <a:p>
            <a:pPr>
              <a:spcAft>
                <a:spcPts val="500"/>
              </a:spcAft>
            </a:pPr>
            <a:r>
              <a:rPr lang="en-GB" sz="2100" dirty="0" smtClean="0"/>
              <a:t>To mark a main section of page content, use the </a:t>
            </a:r>
            <a:r>
              <a:rPr lang="en-GB" sz="2100" b="1" dirty="0" smtClean="0">
                <a:solidFill>
                  <a:schemeClr val="tx2"/>
                </a:solidFill>
              </a:rPr>
              <a:t>&lt;section&gt; </a:t>
            </a:r>
            <a:r>
              <a:rPr lang="en-GB" sz="2100" dirty="0" smtClean="0"/>
              <a:t>element</a:t>
            </a:r>
          </a:p>
          <a:p>
            <a:pPr>
              <a:spcAft>
                <a:spcPts val="500"/>
              </a:spcAft>
            </a:pPr>
            <a:r>
              <a:rPr lang="en-GB" sz="2100" dirty="0" smtClean="0"/>
              <a:t>To mark a sidebar, use the </a:t>
            </a:r>
            <a:r>
              <a:rPr lang="en-GB" sz="2100" b="1" dirty="0" smtClean="0">
                <a:solidFill>
                  <a:schemeClr val="tx2"/>
                </a:solidFill>
              </a:rPr>
              <a:t>&lt;aside&gt; </a:t>
            </a:r>
            <a:r>
              <a:rPr lang="en-GB" sz="2100" dirty="0" smtClean="0"/>
              <a:t>element</a:t>
            </a:r>
          </a:p>
          <a:p>
            <a:pPr>
              <a:spcAft>
                <a:spcPts val="500"/>
              </a:spcAft>
            </a:pPr>
            <a:r>
              <a:rPr lang="en-GB" sz="2100" dirty="0" smtClean="0"/>
              <a:t>To mark an article, use the </a:t>
            </a:r>
            <a:r>
              <a:rPr lang="en-GB" sz="2100" b="1" dirty="0" smtClean="0">
                <a:solidFill>
                  <a:schemeClr val="tx2"/>
                </a:solidFill>
              </a:rPr>
              <a:t>&lt;article&gt; </a:t>
            </a:r>
            <a:r>
              <a:rPr lang="en-GB" sz="2100" dirty="0" smtClean="0"/>
              <a:t>element</a:t>
            </a:r>
            <a:endParaRPr lang="en-SG" sz="2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525835211"/>
              </p:ext>
            </p:extLst>
          </p:nvPr>
        </p:nvGraphicFramePr>
        <p:xfrm>
          <a:off x="1143000" y="3810000"/>
          <a:ext cx="7396162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71600"/>
                <a:gridCol w="6024562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Element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Description</a:t>
                      </a:r>
                      <a:endParaRPr lang="en-SG" sz="18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&lt;article&gt;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A subsection covering a single topic</a:t>
                      </a:r>
                      <a:endParaRPr lang="en-SG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&lt;aside&gt;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Content containing side</a:t>
                      </a:r>
                      <a:r>
                        <a:rPr lang="en-GB" sz="1800" baseline="0" dirty="0" smtClean="0"/>
                        <a:t> issues to the main topic of the page</a:t>
                      </a:r>
                      <a:endParaRPr lang="en-SG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&lt;footer&gt;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Content placed at the bottom of the page</a:t>
                      </a:r>
                      <a:endParaRPr lang="en-SG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&lt;header&gt;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Content placed at the top of the page</a:t>
                      </a:r>
                      <a:endParaRPr lang="en-SG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&lt;</a:t>
                      </a:r>
                      <a:r>
                        <a:rPr lang="en-GB" sz="1800" b="1" dirty="0" err="1" smtClean="0"/>
                        <a:t>nav</a:t>
                      </a:r>
                      <a:r>
                        <a:rPr lang="en-GB" sz="1800" b="1" dirty="0" smtClean="0"/>
                        <a:t>&gt;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A navigation</a:t>
                      </a:r>
                      <a:r>
                        <a:rPr lang="en-GB" sz="1800" baseline="0" dirty="0" smtClean="0"/>
                        <a:t> list of hypertext links</a:t>
                      </a:r>
                      <a:endParaRPr lang="en-SG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 smtClean="0"/>
                        <a:t>&lt;section&gt;</a:t>
                      </a:r>
                      <a:endParaRPr lang="en-SG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A major topical area of the page</a:t>
                      </a:r>
                      <a:endParaRPr lang="en-SG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5330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HTML5 Structural Elements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098" name="Picture 2" descr="http://line25.com/wp-content/uploads/2011/typo-code/html5-layout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0952" y="1295400"/>
            <a:ext cx="4465934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381351" y="6172200"/>
            <a:ext cx="4552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i="1" dirty="0">
                <a:hlinkClick r:id="rId3"/>
              </a:rPr>
              <a:t>http://line25.com/tutorials/create-a-typography-based-blog-layout-in-html5</a:t>
            </a:r>
            <a:endParaRPr lang="en-SG" sz="1100" i="1" dirty="0"/>
          </a:p>
        </p:txBody>
      </p:sp>
    </p:spTree>
    <p:extLst>
      <p:ext uri="{BB962C8B-B14F-4D97-AF65-F5344CB8AC3E}">
        <p14:creationId xmlns:p14="http://schemas.microsoft.com/office/powerpoint/2010/main" xmlns="" val="421937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HTML5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other HTML5 features:</a:t>
            </a:r>
          </a:p>
          <a:p>
            <a:pPr lvl="1"/>
            <a:r>
              <a:rPr lang="en-US" dirty="0" smtClean="0"/>
              <a:t>HTML5 Drag and Drop</a:t>
            </a:r>
          </a:p>
          <a:p>
            <a:pPr lvl="1"/>
            <a:r>
              <a:rPr lang="en-US" dirty="0" smtClean="0"/>
              <a:t>HTML5 Canvas</a:t>
            </a:r>
          </a:p>
          <a:p>
            <a:pPr lvl="1"/>
            <a:r>
              <a:rPr lang="en-US" dirty="0" smtClean="0"/>
              <a:t>HTML5 </a:t>
            </a:r>
            <a:r>
              <a:rPr lang="en-US" dirty="0" err="1" smtClean="0"/>
              <a:t>Geolocation</a:t>
            </a:r>
            <a:endParaRPr lang="en-US" dirty="0" smtClean="0"/>
          </a:p>
          <a:p>
            <a:pPr lvl="1"/>
            <a:r>
              <a:rPr lang="en-US" dirty="0" smtClean="0"/>
              <a:t>HTML5 Web Storage</a:t>
            </a:r>
          </a:p>
          <a:p>
            <a:pPr lvl="1"/>
            <a:r>
              <a:rPr lang="en-US" dirty="0" smtClean="0"/>
              <a:t>HTML5 App Cache</a:t>
            </a:r>
          </a:p>
          <a:p>
            <a:pPr lvl="1"/>
            <a:r>
              <a:rPr lang="en-US" dirty="0" smtClean="0"/>
              <a:t>HTML5 Web Workers</a:t>
            </a:r>
          </a:p>
          <a:p>
            <a:pPr lvl="1"/>
            <a:r>
              <a:rPr lang="en-US" dirty="0" smtClean="0"/>
              <a:t>HTML5 Server-Sent Events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6" name="Picture 2" descr="http://4.bp.blogspot.com/-qFCNef4gmmk/TwPbWT49DuI/AAAAAAAAAOc/ytx0uCWKfls/s320/HTML5_Logo_5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337560"/>
            <a:ext cx="2590798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7898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Create Syntactically Correct Code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700180" cy="4724400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 smtClean="0"/>
              <a:t>Document must be </a:t>
            </a:r>
            <a:r>
              <a:rPr lang="en-GB" sz="2400" b="1" dirty="0" smtClean="0"/>
              <a:t>well-formed</a:t>
            </a:r>
            <a:br>
              <a:rPr lang="en-GB" sz="2400" b="1" dirty="0" smtClean="0"/>
            </a:br>
            <a:r>
              <a:rPr lang="en-GB" sz="2000" i="1" dirty="0"/>
              <a:t>A</a:t>
            </a:r>
            <a:r>
              <a:rPr lang="en-GB" sz="2000" i="1" dirty="0" smtClean="0"/>
              <a:t> </a:t>
            </a:r>
            <a:r>
              <a:rPr lang="en-GB" sz="2000" b="1" i="1" dirty="0" smtClean="0"/>
              <a:t>well-formed document </a:t>
            </a:r>
            <a:r>
              <a:rPr lang="en-GB" sz="2000" i="1" dirty="0" smtClean="0"/>
              <a:t>is one that adheres to the syntax rules below:</a:t>
            </a:r>
            <a:endParaRPr lang="en-GB" sz="2400" b="1" dirty="0" smtClean="0"/>
          </a:p>
          <a:p>
            <a:pPr lvl="1">
              <a:spcAft>
                <a:spcPts val="1000"/>
              </a:spcAft>
            </a:pPr>
            <a:r>
              <a:rPr lang="en-GB" sz="2000" b="1" dirty="0" smtClean="0">
                <a:solidFill>
                  <a:schemeClr val="accent2"/>
                </a:solidFill>
              </a:rPr>
              <a:t>All tags must nest properly and not overlap</a:t>
            </a:r>
          </a:p>
          <a:p>
            <a:pPr lvl="1">
              <a:spcAft>
                <a:spcPts val="1000"/>
              </a:spcAft>
            </a:pPr>
            <a:endParaRPr lang="en-GB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GB" sz="2000" b="1" dirty="0" smtClean="0">
                <a:solidFill>
                  <a:schemeClr val="accent2"/>
                </a:solidFill>
              </a:rPr>
              <a:t>Use all lowercase for element names</a:t>
            </a:r>
          </a:p>
          <a:p>
            <a:pPr lvl="1">
              <a:spcAft>
                <a:spcPts val="1000"/>
              </a:spcAft>
            </a:pPr>
            <a:endParaRPr lang="en-GB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GB" sz="2000" b="1" dirty="0" smtClean="0">
                <a:solidFill>
                  <a:schemeClr val="accent2"/>
                </a:solidFill>
              </a:rPr>
              <a:t>Always use closing tags</a:t>
            </a:r>
          </a:p>
          <a:p>
            <a:pPr lvl="1">
              <a:spcAft>
                <a:spcPts val="1000"/>
              </a:spcAft>
            </a:pPr>
            <a:endParaRPr lang="en-GB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GB" sz="2000" b="1" dirty="0" smtClean="0">
                <a:solidFill>
                  <a:schemeClr val="accent2"/>
                </a:solidFill>
              </a:rPr>
              <a:t>Empty elements are marked with a closing slash</a:t>
            </a:r>
          </a:p>
          <a:p>
            <a:pPr lvl="1">
              <a:spcAft>
                <a:spcPts val="1000"/>
              </a:spcAft>
            </a:pPr>
            <a:endParaRPr lang="en-GB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GB" sz="2000" b="1" dirty="0" smtClean="0">
                <a:solidFill>
                  <a:schemeClr val="accent2"/>
                </a:solidFill>
              </a:rPr>
              <a:t>Attributes values must be contained in quotation marks</a:t>
            </a:r>
          </a:p>
          <a:p>
            <a:endParaRPr lang="en-SG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37944" y="2234625"/>
            <a:ext cx="6086856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&lt;p&gt;&lt;strong&gt; Some text … &lt;/p&gt;&lt;/strong&gt;		</a:t>
            </a:r>
            <a:r>
              <a:rPr lang="en-US" sz="1600" dirty="0">
                <a:sym typeface="Wingdings"/>
              </a:rPr>
              <a:t> </a:t>
            </a:r>
            <a:r>
              <a:rPr lang="en-US" sz="1600" dirty="0">
                <a:solidFill>
                  <a:srgbClr val="FF0000"/>
                </a:solidFill>
                <a:sym typeface="Wingdings"/>
              </a:rPr>
              <a:t></a:t>
            </a:r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dirty="0"/>
              <a:t>&lt;p&gt;&lt;strong&gt; Some text … </a:t>
            </a:r>
            <a:r>
              <a:rPr lang="en-US" sz="1600" dirty="0" smtClean="0"/>
              <a:t>&lt;/strong&gt;&lt;/</a:t>
            </a:r>
            <a:r>
              <a:rPr lang="en-US" sz="1600" dirty="0"/>
              <a:t>p</a:t>
            </a:r>
            <a:r>
              <a:rPr lang="en-US" sz="1600" dirty="0" smtClean="0"/>
              <a:t>&gt;		</a:t>
            </a:r>
            <a:r>
              <a:rPr lang="en-US" sz="1600" dirty="0">
                <a:sym typeface="Wingdings"/>
              </a:rPr>
              <a:t> </a:t>
            </a:r>
            <a:r>
              <a:rPr lang="en-US" sz="1600" dirty="0">
                <a:solidFill>
                  <a:srgbClr val="00B050"/>
                </a:solidFill>
                <a:sym typeface="Wingdings"/>
              </a:rPr>
              <a:t>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37944" y="3124200"/>
            <a:ext cx="6086856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&lt;p&gt;&lt;STRONG&gt; Some text … &lt;/STRONG&gt;&lt;/p&gt;	</a:t>
            </a:r>
            <a:r>
              <a:rPr lang="en-US" sz="1600" dirty="0" smtClean="0">
                <a:sym typeface="Wingdings"/>
              </a:rPr>
              <a:t> </a:t>
            </a:r>
            <a:r>
              <a:rPr lang="en-US" sz="1600" dirty="0">
                <a:solidFill>
                  <a:srgbClr val="FF0000"/>
                </a:solidFill>
                <a:sym typeface="Wingdings"/>
              </a:rPr>
              <a:t></a:t>
            </a:r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dirty="0"/>
              <a:t>&lt;p&gt;&lt;strong&gt; Some text … </a:t>
            </a:r>
            <a:r>
              <a:rPr lang="en-US" sz="1600" dirty="0" smtClean="0"/>
              <a:t>&lt;/strong&gt;&lt;/</a:t>
            </a:r>
            <a:r>
              <a:rPr lang="en-US" sz="1600" dirty="0"/>
              <a:t>p</a:t>
            </a:r>
            <a:r>
              <a:rPr lang="en-US" sz="1600" dirty="0" smtClean="0"/>
              <a:t>&gt;		</a:t>
            </a:r>
            <a:r>
              <a:rPr lang="en-US" sz="1600" dirty="0">
                <a:sym typeface="Wingdings"/>
              </a:rPr>
              <a:t> </a:t>
            </a:r>
            <a:r>
              <a:rPr lang="en-US" sz="1600" dirty="0">
                <a:solidFill>
                  <a:srgbClr val="00B050"/>
                </a:solidFill>
                <a:sym typeface="Wingdings"/>
              </a:rPr>
              <a:t>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59715" y="4038600"/>
            <a:ext cx="6086856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&lt;p&gt;Some text …	</a:t>
            </a:r>
            <a:r>
              <a:rPr lang="en-US" sz="1600" dirty="0" smtClean="0">
                <a:sym typeface="Wingdings"/>
              </a:rPr>
              <a:t> 			</a:t>
            </a:r>
            <a:r>
              <a:rPr lang="en-US" sz="1600" dirty="0" smtClean="0">
                <a:solidFill>
                  <a:srgbClr val="FF0000"/>
                </a:solidFill>
                <a:sym typeface="Wingdings"/>
              </a:rPr>
              <a:t></a:t>
            </a:r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dirty="0"/>
              <a:t>&lt;</a:t>
            </a:r>
            <a:r>
              <a:rPr lang="en-US" sz="1600" dirty="0" smtClean="0"/>
              <a:t>p&gt;Some </a:t>
            </a:r>
            <a:r>
              <a:rPr lang="en-US" sz="1600" dirty="0"/>
              <a:t>text … </a:t>
            </a:r>
            <a:r>
              <a:rPr lang="en-US" sz="1600" dirty="0" smtClean="0"/>
              <a:t>&lt;/</a:t>
            </a:r>
            <a:r>
              <a:rPr lang="en-US" sz="1600" dirty="0"/>
              <a:t>p</a:t>
            </a:r>
            <a:r>
              <a:rPr lang="en-US" sz="1600" dirty="0" smtClean="0"/>
              <a:t>&gt;				</a:t>
            </a:r>
            <a:r>
              <a:rPr lang="en-US" sz="1600" dirty="0" smtClean="0">
                <a:solidFill>
                  <a:srgbClr val="00B050"/>
                </a:solidFill>
                <a:sym typeface="Wingdings"/>
              </a:rPr>
              <a:t>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9715" y="4901625"/>
            <a:ext cx="6086856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</a:t>
            </a:r>
            <a:r>
              <a:rPr lang="en-US" sz="1600" dirty="0" err="1" smtClean="0"/>
              <a:t>img</a:t>
            </a:r>
            <a:r>
              <a:rPr lang="en-US" sz="1600" dirty="0" smtClean="0"/>
              <a:t> </a:t>
            </a:r>
            <a:r>
              <a:rPr lang="en-US" sz="1600" dirty="0" err="1" smtClean="0"/>
              <a:t>src</a:t>
            </a:r>
            <a:r>
              <a:rPr lang="en-US" sz="1600" dirty="0" smtClean="0"/>
              <a:t>=“photo.jpg” &gt; &lt;</a:t>
            </a:r>
            <a:r>
              <a:rPr lang="en-US" sz="1600" dirty="0" err="1" smtClean="0"/>
              <a:t>br</a:t>
            </a:r>
            <a:r>
              <a:rPr lang="en-US" sz="1600" dirty="0" smtClean="0"/>
              <a:t>&gt;	</a:t>
            </a:r>
            <a:r>
              <a:rPr lang="en-US" sz="1600" dirty="0" smtClean="0">
                <a:sym typeface="Wingdings"/>
              </a:rPr>
              <a:t>		</a:t>
            </a:r>
            <a:r>
              <a:rPr lang="en-US" sz="1600" dirty="0" smtClean="0">
                <a:solidFill>
                  <a:srgbClr val="FF0000"/>
                </a:solidFill>
                <a:sym typeface="Wingdings"/>
              </a:rPr>
              <a:t></a:t>
            </a:r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dirty="0"/>
              <a:t>&lt;</a:t>
            </a:r>
            <a:r>
              <a:rPr lang="en-US" sz="1600" dirty="0" err="1"/>
              <a:t>img</a:t>
            </a:r>
            <a:r>
              <a:rPr lang="en-US" sz="1600" dirty="0"/>
              <a:t> </a:t>
            </a:r>
            <a:r>
              <a:rPr lang="en-US" sz="1600" dirty="0" err="1" smtClean="0"/>
              <a:t>src</a:t>
            </a:r>
            <a:r>
              <a:rPr lang="en-US" sz="1600" dirty="0" smtClean="0"/>
              <a:t>=“</a:t>
            </a:r>
            <a:r>
              <a:rPr lang="en-US" sz="1600" dirty="0"/>
              <a:t>photo.jpg” </a:t>
            </a:r>
            <a:r>
              <a:rPr lang="en-US" sz="1600" dirty="0" smtClean="0"/>
              <a:t> /&gt; </a:t>
            </a:r>
            <a:r>
              <a:rPr lang="en-US" sz="1600" dirty="0"/>
              <a:t>&lt;</a:t>
            </a:r>
            <a:r>
              <a:rPr lang="en-US" sz="1600" dirty="0" err="1" smtClean="0"/>
              <a:t>br</a:t>
            </a:r>
            <a:r>
              <a:rPr lang="en-US" sz="1600" dirty="0" smtClean="0"/>
              <a:t> /&gt; </a:t>
            </a:r>
            <a:r>
              <a:rPr lang="en-US" sz="1600" dirty="0" smtClean="0">
                <a:sym typeface="Wingdings"/>
              </a:rPr>
              <a:t> 			</a:t>
            </a:r>
            <a:r>
              <a:rPr lang="en-US" sz="1600" dirty="0" smtClean="0">
                <a:solidFill>
                  <a:srgbClr val="00B050"/>
                </a:solidFill>
                <a:sym typeface="Wingdings"/>
              </a:rPr>
              <a:t>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59715" y="5791200"/>
            <a:ext cx="6086856" cy="58477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</a:t>
            </a:r>
            <a:r>
              <a:rPr lang="en-US" sz="1600" dirty="0" err="1" smtClean="0"/>
              <a:t>img</a:t>
            </a:r>
            <a:r>
              <a:rPr lang="en-US" sz="1600" dirty="0" smtClean="0"/>
              <a:t> src=photo.jpg /&gt;		</a:t>
            </a:r>
            <a:r>
              <a:rPr lang="en-US" sz="1600" dirty="0" smtClean="0">
                <a:sym typeface="Wingdings"/>
              </a:rPr>
              <a:t>		</a:t>
            </a:r>
            <a:r>
              <a:rPr lang="en-US" sz="1600" dirty="0" smtClean="0">
                <a:solidFill>
                  <a:srgbClr val="FF0000"/>
                </a:solidFill>
                <a:sym typeface="Wingdings"/>
              </a:rPr>
              <a:t></a:t>
            </a:r>
            <a:endParaRPr lang="en-US" sz="1600" dirty="0" smtClean="0">
              <a:solidFill>
                <a:srgbClr val="FF0000"/>
              </a:solidFill>
            </a:endParaRPr>
          </a:p>
          <a:p>
            <a:r>
              <a:rPr lang="en-US" sz="1600" dirty="0"/>
              <a:t>&lt;</a:t>
            </a:r>
            <a:r>
              <a:rPr lang="en-US" sz="1600" dirty="0" err="1"/>
              <a:t>img</a:t>
            </a:r>
            <a:r>
              <a:rPr lang="en-US" sz="1600" dirty="0"/>
              <a:t> </a:t>
            </a:r>
            <a:r>
              <a:rPr lang="en-US" sz="1600" dirty="0" err="1" smtClean="0"/>
              <a:t>src</a:t>
            </a:r>
            <a:r>
              <a:rPr lang="en-US" sz="1600" dirty="0" smtClean="0"/>
              <a:t>=“</a:t>
            </a:r>
            <a:r>
              <a:rPr lang="en-US" sz="1600" dirty="0"/>
              <a:t>photo.jpg” </a:t>
            </a:r>
            <a:r>
              <a:rPr lang="en-US" sz="1600" dirty="0" smtClean="0"/>
              <a:t> /&gt;  </a:t>
            </a:r>
            <a:r>
              <a:rPr lang="en-US" sz="1600" dirty="0" smtClean="0">
                <a:sym typeface="Wingdings"/>
              </a:rPr>
              <a:t> or &lt;</a:t>
            </a:r>
            <a:r>
              <a:rPr lang="en-US" sz="1600" dirty="0" err="1" smtClean="0">
                <a:sym typeface="Wingdings"/>
              </a:rPr>
              <a:t>img</a:t>
            </a:r>
            <a:r>
              <a:rPr lang="en-US" sz="1600" dirty="0" smtClean="0">
                <a:sym typeface="Wingdings"/>
              </a:rPr>
              <a:t> </a:t>
            </a:r>
            <a:r>
              <a:rPr lang="en-US" sz="1600" dirty="0" err="1" smtClean="0">
                <a:sym typeface="Wingdings"/>
              </a:rPr>
              <a:t>src</a:t>
            </a:r>
            <a:r>
              <a:rPr lang="en-US" sz="1600" dirty="0" smtClean="0">
                <a:sym typeface="Wingdings"/>
              </a:rPr>
              <a:t>=‘photo.jpg’ /&gt;	</a:t>
            </a:r>
            <a:r>
              <a:rPr lang="en-US" sz="1600" dirty="0" smtClean="0">
                <a:solidFill>
                  <a:srgbClr val="00B050"/>
                </a:solidFill>
                <a:sym typeface="Wingdings"/>
              </a:rPr>
              <a:t></a:t>
            </a:r>
            <a:endParaRPr lang="en-US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096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 smtClean="0"/>
              <a:t>Key </a:t>
            </a:r>
            <a:r>
              <a:rPr lang="en-SG" sz="2400" dirty="0"/>
              <a:t>features</a:t>
            </a:r>
          </a:p>
          <a:p>
            <a:pPr lvl="1"/>
            <a:r>
              <a:rPr lang="en-SG" sz="2000" dirty="0" smtClean="0"/>
              <a:t>New </a:t>
            </a:r>
            <a:r>
              <a:rPr lang="en-SG" sz="2000" dirty="0" err="1"/>
              <a:t>markup</a:t>
            </a:r>
            <a:r>
              <a:rPr lang="en-SG" sz="2000" dirty="0"/>
              <a:t> and layout elements</a:t>
            </a:r>
          </a:p>
          <a:p>
            <a:pPr lvl="1"/>
            <a:r>
              <a:rPr lang="en-SG" sz="2000" dirty="0" smtClean="0"/>
              <a:t>The </a:t>
            </a:r>
            <a:r>
              <a:rPr lang="en-SG" sz="2000" dirty="0"/>
              <a:t>&lt;video&gt;, &lt;audio&gt;, and &lt;canvas&gt; elements</a:t>
            </a:r>
          </a:p>
          <a:p>
            <a:pPr lvl="1">
              <a:spcAft>
                <a:spcPts val="1000"/>
              </a:spcAft>
            </a:pPr>
            <a:r>
              <a:rPr lang="en-SG" sz="2000" dirty="0" smtClean="0"/>
              <a:t>Revised </a:t>
            </a:r>
            <a:r>
              <a:rPr lang="en-SG" sz="2000" dirty="0"/>
              <a:t>elements based on HTML 4.0 </a:t>
            </a:r>
          </a:p>
          <a:p>
            <a:pPr>
              <a:spcAft>
                <a:spcPts val="1000"/>
              </a:spcAft>
            </a:pPr>
            <a:r>
              <a:rPr lang="en-SG" sz="2400" dirty="0" smtClean="0"/>
              <a:t>An </a:t>
            </a:r>
            <a:r>
              <a:rPr lang="en-SG" sz="2400" dirty="0"/>
              <a:t>overview of HTML5 APIs and supporting </a:t>
            </a:r>
            <a:r>
              <a:rPr lang="en-SG" sz="2400" dirty="0" smtClean="0"/>
              <a:t>technologies</a:t>
            </a:r>
          </a:p>
          <a:p>
            <a:pPr>
              <a:spcAft>
                <a:spcPts val="1000"/>
              </a:spcAft>
            </a:pPr>
            <a:r>
              <a:rPr lang="en-GB" sz="2400" dirty="0" smtClean="0"/>
              <a:t>Simpler </a:t>
            </a:r>
            <a:r>
              <a:rPr lang="en-US" sz="2400" dirty="0"/>
              <a:t>&lt;!DOCTYPE&gt; declaration for </a:t>
            </a:r>
            <a:r>
              <a:rPr lang="en-US" sz="2400" dirty="0" smtClean="0"/>
              <a:t>HTML5</a:t>
            </a:r>
          </a:p>
          <a:p>
            <a:r>
              <a:rPr lang="en-US" sz="2400" dirty="0" smtClean="0"/>
              <a:t>New structural elements for better page structure</a:t>
            </a:r>
          </a:p>
          <a:p>
            <a:pPr lvl="1"/>
            <a:r>
              <a:rPr lang="en-US" sz="2000" dirty="0" smtClean="0"/>
              <a:t>&lt;header&gt;, &lt;footer&gt;, &lt;</a:t>
            </a:r>
            <a:r>
              <a:rPr lang="en-US" sz="2000" dirty="0" err="1" smtClean="0"/>
              <a:t>nav</a:t>
            </a:r>
            <a:r>
              <a:rPr lang="en-US" sz="2000" dirty="0" smtClean="0"/>
              <a:t>&gt;, &lt;aside&gt;, &lt;section&gt;, &lt;article&gt;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8482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24B5D243E8524B805AE9E6462128D5" ma:contentTypeVersion="0" ma:contentTypeDescription="Create a new document." ma:contentTypeScope="" ma:versionID="e66dd09a9d80fa3eca15220829d7fdc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A0D4D3-22A4-4BA6-B72A-0EA0A9DD5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CAF96FE-069F-4E95-9021-A70B136A67F9}">
  <ds:schemaRefs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4A77F67-C282-4373-9A32-27375E7495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753</TotalTime>
  <Words>3119</Words>
  <Application>Microsoft Office PowerPoint</Application>
  <PresentationFormat>On-screen Show (4:3)</PresentationFormat>
  <Paragraphs>722</Paragraphs>
  <Slides>39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ppt template</vt:lpstr>
      <vt:lpstr>IT1322 – Principles of Web Usability Design</vt:lpstr>
      <vt:lpstr>Recap …</vt:lpstr>
      <vt:lpstr>Recap …</vt:lpstr>
      <vt:lpstr>Recap …</vt:lpstr>
      <vt:lpstr>Learning Objectives</vt:lpstr>
      <vt:lpstr>HTML Advanced</vt:lpstr>
      <vt:lpstr>What is HTML5?</vt:lpstr>
      <vt:lpstr>HTML5 New Elements</vt:lpstr>
      <vt:lpstr>HTML5 New Elements</vt:lpstr>
      <vt:lpstr>HTML5 New Elements</vt:lpstr>
      <vt:lpstr>Obsoleted Elements in HTML</vt:lpstr>
      <vt:lpstr>HTML5 &lt;!DOCTYPE&gt;</vt:lpstr>
      <vt:lpstr>Minimum HTML5 Document</vt:lpstr>
      <vt:lpstr>HTML5 Video</vt:lpstr>
      <vt:lpstr>HTML5 Video</vt:lpstr>
      <vt:lpstr>HTML5 Audio</vt:lpstr>
      <vt:lpstr>HTML5 Audio</vt:lpstr>
      <vt:lpstr>HTML5 SVG</vt:lpstr>
      <vt:lpstr>HTML5 SVG</vt:lpstr>
      <vt:lpstr>HTML5 Input Types</vt:lpstr>
      <vt:lpstr>HTML5 Input Types</vt:lpstr>
      <vt:lpstr>HTML5 Input Types</vt:lpstr>
      <vt:lpstr>HTML5 Input Types</vt:lpstr>
      <vt:lpstr>HTML5 Form Elements</vt:lpstr>
      <vt:lpstr>HTML5 Form Elements</vt:lpstr>
      <vt:lpstr>HTML5 Form Elements</vt:lpstr>
      <vt:lpstr>HTML5 Form Attributes</vt:lpstr>
      <vt:lpstr>HTML5 Form Attributes</vt:lpstr>
      <vt:lpstr>HTML5 Form Attributes</vt:lpstr>
      <vt:lpstr>HTML5 Form Attributes</vt:lpstr>
      <vt:lpstr>HTML5 Form Attributes</vt:lpstr>
      <vt:lpstr>HTML5 Form Attributes</vt:lpstr>
      <vt:lpstr>HTML5 Structural Elements</vt:lpstr>
      <vt:lpstr>HTML5 Structural Elements</vt:lpstr>
      <vt:lpstr>HTML5 Structural Elements</vt:lpstr>
      <vt:lpstr>HTML5 Structural Elements</vt:lpstr>
      <vt:lpstr>Advanced HTML5</vt:lpstr>
      <vt:lpstr>Create Syntactically Correct Code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IT1322 – Principles of Web Usability Design</dc:title>
  <dc:creator>EvyLim</dc:creator>
  <cp:lastModifiedBy>Tommy</cp:lastModifiedBy>
  <cp:revision>169</cp:revision>
  <dcterms:created xsi:type="dcterms:W3CDTF">2012-03-19T05:26:54Z</dcterms:created>
  <dcterms:modified xsi:type="dcterms:W3CDTF">2012-10-17T01:02:30Z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0x010100CF24B5D243E8524B805AE9E6462128D5</vt:lpwstr>
  </property>
</Properties>
</file>