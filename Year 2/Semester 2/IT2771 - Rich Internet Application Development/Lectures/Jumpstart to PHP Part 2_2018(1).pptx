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3"/>
  </p:notesMasterIdLst>
  <p:sldIdLst>
    <p:sldId id="315" r:id="rId5"/>
    <p:sldId id="256" r:id="rId6"/>
    <p:sldId id="311" r:id="rId7"/>
    <p:sldId id="312" r:id="rId8"/>
    <p:sldId id="326" r:id="rId9"/>
    <p:sldId id="314" r:id="rId10"/>
    <p:sldId id="325" r:id="rId11"/>
    <p:sldId id="313" r:id="rId12"/>
    <p:sldId id="320" r:id="rId13"/>
    <p:sldId id="316" r:id="rId14"/>
    <p:sldId id="319" r:id="rId15"/>
    <p:sldId id="318" r:id="rId16"/>
    <p:sldId id="317" r:id="rId17"/>
    <p:sldId id="328" r:id="rId18"/>
    <p:sldId id="321" r:id="rId19"/>
    <p:sldId id="322" r:id="rId20"/>
    <p:sldId id="323" r:id="rId21"/>
    <p:sldId id="32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97" autoAdjust="0"/>
    <p:restoredTop sz="72817" autoAdjust="0"/>
  </p:normalViewPr>
  <p:slideViewPr>
    <p:cSldViewPr>
      <p:cViewPr varScale="1">
        <p:scale>
          <a:sx n="61" d="100"/>
          <a:sy n="61" d="100"/>
        </p:scale>
        <p:origin x="66" y="44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9/17/2014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1</a:t>
            </a:fld>
            <a:endParaRPr lang="en-US"/>
          </a:p>
        </p:txBody>
      </p:sp>
    </p:spTree>
    <p:extLst>
      <p:ext uri="{BB962C8B-B14F-4D97-AF65-F5344CB8AC3E}">
        <p14:creationId xmlns:p14="http://schemas.microsoft.com/office/powerpoint/2010/main" val="3227587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2</a:t>
            </a:fld>
            <a:endParaRPr lang="en-US"/>
          </a:p>
        </p:txBody>
      </p:sp>
    </p:spTree>
    <p:extLst>
      <p:ext uri="{BB962C8B-B14F-4D97-AF65-F5344CB8AC3E}">
        <p14:creationId xmlns:p14="http://schemas.microsoft.com/office/powerpoint/2010/main" val="2200444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r>
              <a:rPr lang="en-SG" sz="1200" b="0" i="0" kern="1200" dirty="0" smtClean="0">
                <a:solidFill>
                  <a:schemeClr val="tx1"/>
                </a:solidFill>
                <a:latin typeface="+mn-lt"/>
                <a:ea typeface="+mn-ea"/>
                <a:cs typeface="+mn-cs"/>
              </a:rPr>
              <a:t>Before you can access data in a database, you must create a connection to the database.</a:t>
            </a:r>
          </a:p>
          <a:p>
            <a:r>
              <a:rPr lang="en-SG" sz="1200" b="0" i="0" kern="1200" dirty="0" smtClean="0">
                <a:solidFill>
                  <a:schemeClr val="tx1"/>
                </a:solidFill>
                <a:latin typeface="+mn-lt"/>
                <a:ea typeface="+mn-ea"/>
                <a:cs typeface="+mn-cs"/>
              </a:rPr>
              <a:t>In PHP, this is done with the </a:t>
            </a:r>
            <a:r>
              <a:rPr lang="en-SG" sz="1200" b="0" i="0" kern="1200" dirty="0" err="1" smtClean="0">
                <a:solidFill>
                  <a:schemeClr val="tx1"/>
                </a:solidFill>
                <a:latin typeface="+mn-lt"/>
                <a:ea typeface="+mn-ea"/>
                <a:cs typeface="+mn-cs"/>
              </a:rPr>
              <a:t>mysqli_connect</a:t>
            </a:r>
            <a:r>
              <a:rPr lang="en-SG" sz="1200" b="0" i="0" kern="1200" dirty="0" smtClean="0">
                <a:solidFill>
                  <a:schemeClr val="tx1"/>
                </a:solidFill>
                <a:latin typeface="+mn-lt"/>
                <a:ea typeface="+mn-ea"/>
                <a:cs typeface="+mn-cs"/>
              </a:rPr>
              <a:t>() function.</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r>
              <a:rPr lang="en-US" sz="1200" b="0" i="0" kern="1200" dirty="0" smtClean="0">
                <a:solidFill>
                  <a:schemeClr val="tx1"/>
                </a:solidFill>
                <a:effectLst/>
                <a:latin typeface="+mn-lt"/>
                <a:ea typeface="+mn-ea"/>
                <a:cs typeface="+mn-cs"/>
              </a:rPr>
              <a:t>In the following example above,</a:t>
            </a:r>
            <a:r>
              <a:rPr lang="en-US" sz="1200" b="0" i="0" kern="1200" baseline="0" dirty="0" smtClean="0">
                <a:solidFill>
                  <a:schemeClr val="tx1"/>
                </a:solidFill>
                <a:effectLst/>
                <a:latin typeface="+mn-lt"/>
                <a:ea typeface="+mn-ea"/>
                <a:cs typeface="+mn-cs"/>
              </a:rPr>
              <a:t> we</a:t>
            </a:r>
            <a:r>
              <a:rPr lang="en-US" sz="1200" b="0" i="0" kern="1200" dirty="0" smtClean="0">
                <a:solidFill>
                  <a:schemeClr val="tx1"/>
                </a:solidFill>
                <a:effectLst/>
                <a:latin typeface="+mn-lt"/>
                <a:ea typeface="+mn-ea"/>
                <a:cs typeface="+mn-cs"/>
              </a:rPr>
              <a:t> store the connection in a variable ($con) for later use in the script.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You may include</a:t>
            </a:r>
            <a:r>
              <a:rPr lang="en-US" sz="1200" b="0" i="0" kern="1200" baseline="0" dirty="0" smtClean="0">
                <a:solidFill>
                  <a:schemeClr val="tx1"/>
                </a:solidFill>
                <a:latin typeface="+mn-lt"/>
                <a:ea typeface="+mn-ea"/>
                <a:cs typeface="+mn-cs"/>
              </a:rPr>
              <a:t> any other useful </a:t>
            </a:r>
            <a:r>
              <a:rPr lang="en-US" sz="1200" b="0" i="0" kern="1200" baseline="0" dirty="0" err="1" smtClean="0">
                <a:solidFill>
                  <a:schemeClr val="tx1"/>
                </a:solidFill>
                <a:latin typeface="+mn-lt"/>
                <a:ea typeface="+mn-ea"/>
                <a:cs typeface="+mn-cs"/>
              </a:rPr>
              <a:t>php</a:t>
            </a:r>
            <a:r>
              <a:rPr lang="en-US" sz="1200" b="0" i="0" kern="1200" baseline="0" dirty="0" smtClean="0">
                <a:solidFill>
                  <a:schemeClr val="tx1"/>
                </a:solidFill>
                <a:latin typeface="+mn-lt"/>
                <a:ea typeface="+mn-ea"/>
                <a:cs typeface="+mn-cs"/>
              </a:rPr>
              <a:t> files especially your own predefined functions.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The </a:t>
            </a:r>
            <a:r>
              <a:rPr lang="en-US" sz="1200" dirty="0" smtClean="0"/>
              <a:t>changeable values are stored in another file </a:t>
            </a:r>
            <a:r>
              <a:rPr lang="en-US" sz="1200" dirty="0" err="1" smtClean="0"/>
              <a:t>constants.php</a:t>
            </a:r>
            <a:r>
              <a:rPr lang="en-US" sz="1200" dirty="0" smtClean="0"/>
              <a:t> where they are defined, and included in the </a:t>
            </a:r>
            <a:r>
              <a:rPr lang="en-US" sz="1200" dirty="0" err="1" smtClean="0"/>
              <a:t>connection.php</a:t>
            </a:r>
            <a:r>
              <a:rPr lang="en-US" sz="1200" dirty="0" smtClean="0"/>
              <a:t> file.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example above stores the data returned by the </a:t>
            </a:r>
            <a:r>
              <a:rPr lang="en-US" sz="1200" b="0" i="0" kern="1200" dirty="0" err="1" smtClean="0">
                <a:solidFill>
                  <a:schemeClr val="tx1"/>
                </a:solidFill>
                <a:effectLst/>
                <a:latin typeface="+mn-lt"/>
                <a:ea typeface="+mn-ea"/>
                <a:cs typeface="+mn-cs"/>
              </a:rPr>
              <a:t>mysqli_query</a:t>
            </a:r>
            <a:r>
              <a:rPr lang="en-US" sz="1200" b="0" i="0" kern="1200" dirty="0" smtClean="0">
                <a:solidFill>
                  <a:schemeClr val="tx1"/>
                </a:solidFill>
                <a:effectLst/>
                <a:latin typeface="+mn-lt"/>
                <a:ea typeface="+mn-ea"/>
                <a:cs typeface="+mn-cs"/>
              </a:rPr>
              <a:t>() function in the $result variable.</a:t>
            </a:r>
          </a:p>
          <a:p>
            <a:r>
              <a:rPr lang="en-US" sz="1200" b="0" i="0" kern="1200" dirty="0" smtClean="0">
                <a:solidFill>
                  <a:schemeClr val="tx1"/>
                </a:solidFill>
                <a:effectLst/>
                <a:latin typeface="+mn-lt"/>
                <a:ea typeface="+mn-ea"/>
                <a:cs typeface="+mn-cs"/>
              </a:rPr>
              <a:t>Next, we use the </a:t>
            </a:r>
            <a:r>
              <a:rPr lang="en-US" sz="1200" b="0" i="0" kern="1200" dirty="0" err="1" smtClean="0">
                <a:solidFill>
                  <a:schemeClr val="tx1"/>
                </a:solidFill>
                <a:effectLst/>
                <a:latin typeface="+mn-lt"/>
                <a:ea typeface="+mn-ea"/>
                <a:cs typeface="+mn-cs"/>
              </a:rPr>
              <a:t>mysqli_fetch_array</a:t>
            </a:r>
            <a:r>
              <a:rPr lang="en-US" sz="1200" b="0" i="0" kern="1200" dirty="0" smtClean="0">
                <a:solidFill>
                  <a:schemeClr val="tx1"/>
                </a:solidFill>
                <a:effectLst/>
                <a:latin typeface="+mn-lt"/>
                <a:ea typeface="+mn-ea"/>
                <a:cs typeface="+mn-cs"/>
              </a:rPr>
              <a:t>() function to return the first row from the </a:t>
            </a:r>
            <a:r>
              <a:rPr lang="en-US" sz="1200" b="0" i="0" kern="1200" dirty="0" err="1" smtClean="0">
                <a:solidFill>
                  <a:schemeClr val="tx1"/>
                </a:solidFill>
                <a:effectLst/>
                <a:latin typeface="+mn-lt"/>
                <a:ea typeface="+mn-ea"/>
                <a:cs typeface="+mn-cs"/>
              </a:rPr>
              <a:t>recordset</a:t>
            </a:r>
            <a:r>
              <a:rPr lang="en-US" sz="1200" b="0" i="0" kern="1200" dirty="0" smtClean="0">
                <a:solidFill>
                  <a:schemeClr val="tx1"/>
                </a:solidFill>
                <a:effectLst/>
                <a:latin typeface="+mn-lt"/>
                <a:ea typeface="+mn-ea"/>
                <a:cs typeface="+mn-cs"/>
              </a:rPr>
              <a:t> as an array. Each call to </a:t>
            </a:r>
            <a:r>
              <a:rPr lang="en-US" sz="1200" b="0" i="0" kern="1200" dirty="0" err="1" smtClean="0">
                <a:solidFill>
                  <a:schemeClr val="tx1"/>
                </a:solidFill>
                <a:effectLst/>
                <a:latin typeface="+mn-lt"/>
                <a:ea typeface="+mn-ea"/>
                <a:cs typeface="+mn-cs"/>
              </a:rPr>
              <a:t>mysqli_fetch_array</a:t>
            </a:r>
            <a:r>
              <a:rPr lang="en-US" sz="1200" b="0" i="0" kern="1200" dirty="0" smtClean="0">
                <a:solidFill>
                  <a:schemeClr val="tx1"/>
                </a:solidFill>
                <a:effectLst/>
                <a:latin typeface="+mn-lt"/>
                <a:ea typeface="+mn-ea"/>
                <a:cs typeface="+mn-cs"/>
              </a:rPr>
              <a:t>() returns the next row in the </a:t>
            </a:r>
            <a:r>
              <a:rPr lang="en-US" sz="1200" b="0" i="0" kern="1200" dirty="0" err="1" smtClean="0">
                <a:solidFill>
                  <a:schemeClr val="tx1"/>
                </a:solidFill>
                <a:effectLst/>
                <a:latin typeface="+mn-lt"/>
                <a:ea typeface="+mn-ea"/>
                <a:cs typeface="+mn-cs"/>
              </a:rPr>
              <a:t>recordset</a:t>
            </a:r>
            <a:r>
              <a:rPr lang="en-US" sz="1200" b="0" i="0" kern="1200" dirty="0" smtClean="0">
                <a:solidFill>
                  <a:schemeClr val="tx1"/>
                </a:solidFill>
                <a:effectLst/>
                <a:latin typeface="+mn-lt"/>
                <a:ea typeface="+mn-ea"/>
                <a:cs typeface="+mn-cs"/>
              </a:rPr>
              <a:t>. The while loop loops through all the records in the </a:t>
            </a:r>
            <a:r>
              <a:rPr lang="en-US" sz="1200" b="0" i="0" kern="1200" dirty="0" err="1" smtClean="0">
                <a:solidFill>
                  <a:schemeClr val="tx1"/>
                </a:solidFill>
                <a:effectLst/>
                <a:latin typeface="+mn-lt"/>
                <a:ea typeface="+mn-ea"/>
                <a:cs typeface="+mn-cs"/>
              </a:rPr>
              <a:t>recordset</a:t>
            </a:r>
            <a:r>
              <a:rPr lang="en-US" sz="1200" b="0" i="0" kern="1200" dirty="0" smtClean="0">
                <a:solidFill>
                  <a:schemeClr val="tx1"/>
                </a:solidFill>
                <a:effectLst/>
                <a:latin typeface="+mn-lt"/>
                <a:ea typeface="+mn-ea"/>
                <a:cs typeface="+mn-cs"/>
              </a:rPr>
              <a:t>. To print the value of each row, we use the PHP $row variable ($row['</a:t>
            </a:r>
            <a:r>
              <a:rPr lang="en-US" sz="1200" b="0" i="0" kern="1200" dirty="0" err="1" smtClean="0">
                <a:solidFill>
                  <a:schemeClr val="tx1"/>
                </a:solidFill>
                <a:effectLst/>
                <a:latin typeface="+mn-lt"/>
                <a:ea typeface="+mn-ea"/>
                <a:cs typeface="+mn-cs"/>
              </a:rPr>
              <a:t>FirstName</a:t>
            </a:r>
            <a:r>
              <a:rPr lang="en-US" sz="1200" b="0" i="0" kern="1200" dirty="0" smtClean="0">
                <a:solidFill>
                  <a:schemeClr val="tx1"/>
                </a:solidFill>
                <a:effectLst/>
                <a:latin typeface="+mn-lt"/>
                <a:ea typeface="+mn-ea"/>
                <a:cs typeface="+mn-cs"/>
              </a:rPr>
              <a:t>'] and $row['</a:t>
            </a:r>
            <a:r>
              <a:rPr lang="en-US" sz="1200" b="0" i="0" kern="1200" dirty="0" err="1" smtClean="0">
                <a:solidFill>
                  <a:schemeClr val="tx1"/>
                </a:solidFill>
                <a:effectLst/>
                <a:latin typeface="+mn-lt"/>
                <a:ea typeface="+mn-ea"/>
                <a:cs typeface="+mn-cs"/>
              </a:rPr>
              <a:t>LastName</a:t>
            </a:r>
            <a:r>
              <a:rPr lang="en-US" sz="1200" b="0" i="0" kern="1200" dirty="0" smtClean="0">
                <a:solidFill>
                  <a:schemeClr val="tx1"/>
                </a:solidFill>
                <a:effectLst/>
                <a:latin typeface="+mn-lt"/>
                <a:ea typeface="+mn-ea"/>
                <a:cs typeface="+mn-cs"/>
              </a:rPr>
              <a:t>']).</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To get </a:t>
            </a:r>
            <a:r>
              <a:rPr lang="en-SG" sz="1200" b="0" i="0" kern="1200" dirty="0" err="1" smtClean="0">
                <a:solidFill>
                  <a:schemeClr val="tx1"/>
                </a:solidFill>
                <a:latin typeface="+mn-lt"/>
                <a:ea typeface="+mn-ea"/>
                <a:cs typeface="+mn-cs"/>
              </a:rPr>
              <a:t>PHP</a:t>
            </a:r>
            <a:r>
              <a:rPr lang="en-SG" sz="1200" b="0" i="0" kern="1200" dirty="0" smtClean="0">
                <a:solidFill>
                  <a:schemeClr val="tx1"/>
                </a:solidFill>
                <a:latin typeface="+mn-lt"/>
                <a:ea typeface="+mn-ea"/>
                <a:cs typeface="+mn-cs"/>
              </a:rPr>
              <a:t> to execute an</a:t>
            </a:r>
            <a:r>
              <a:rPr lang="en-SG" sz="1200" b="0" i="0" kern="1200" baseline="0" dirty="0" smtClean="0">
                <a:solidFill>
                  <a:schemeClr val="tx1"/>
                </a:solidFill>
                <a:latin typeface="+mn-lt"/>
                <a:ea typeface="+mn-ea"/>
                <a:cs typeface="+mn-cs"/>
              </a:rPr>
              <a:t> SQL </a:t>
            </a:r>
            <a:r>
              <a:rPr lang="en-SG" sz="1200" b="0" i="0" kern="1200" dirty="0" smtClean="0">
                <a:solidFill>
                  <a:schemeClr val="tx1"/>
                </a:solidFill>
                <a:latin typeface="+mn-lt"/>
                <a:ea typeface="+mn-ea"/>
                <a:cs typeface="+mn-cs"/>
              </a:rPr>
              <a:t>statement, we must use the </a:t>
            </a:r>
            <a:r>
              <a:rPr lang="en-SG" sz="1200" b="0" i="0" kern="1200" dirty="0" err="1" smtClean="0">
                <a:solidFill>
                  <a:schemeClr val="tx1"/>
                </a:solidFill>
                <a:latin typeface="+mn-lt"/>
                <a:ea typeface="+mn-ea"/>
                <a:cs typeface="+mn-cs"/>
              </a:rPr>
              <a:t>mysql_query</a:t>
            </a:r>
            <a:r>
              <a:rPr lang="en-SG" sz="1200" b="0" i="0" kern="1200" dirty="0" smtClean="0">
                <a:solidFill>
                  <a:schemeClr val="tx1"/>
                </a:solidFill>
                <a:latin typeface="+mn-lt"/>
                <a:ea typeface="+mn-ea"/>
                <a:cs typeface="+mn-cs"/>
              </a:rPr>
              <a:t>() function. This function is used to send a query or command to a </a:t>
            </a:r>
            <a:r>
              <a:rPr lang="en-SG" sz="1200" b="0" i="0" kern="1200" dirty="0" err="1" smtClean="0">
                <a:solidFill>
                  <a:schemeClr val="tx1"/>
                </a:solidFill>
                <a:latin typeface="+mn-lt"/>
                <a:ea typeface="+mn-ea"/>
                <a:cs typeface="+mn-cs"/>
              </a:rPr>
              <a:t>MySQL</a:t>
            </a:r>
            <a:r>
              <a:rPr lang="en-SG" sz="1200" b="0" i="0" kern="1200" dirty="0" smtClean="0">
                <a:solidFill>
                  <a:schemeClr val="tx1"/>
                </a:solidFill>
                <a:latin typeface="+mn-lt"/>
                <a:ea typeface="+mn-ea"/>
                <a:cs typeface="+mn-cs"/>
              </a:rPr>
              <a:t> connection. The following example selects all the data stored in the "Persons" table (The * character selects all the data in the table).</a:t>
            </a:r>
            <a:r>
              <a:rPr lang="en-SG" sz="1200" b="0" i="0" kern="1200" baseline="0" dirty="0" smtClean="0">
                <a:solidFill>
                  <a:schemeClr val="tx1"/>
                </a:solidFill>
                <a:latin typeface="+mn-lt"/>
                <a:ea typeface="+mn-ea"/>
                <a:cs typeface="+mn-cs"/>
              </a:rPr>
              <a:t> </a:t>
            </a:r>
            <a:r>
              <a:rPr lang="en-SG" sz="1200" b="0" i="0" kern="1200" dirty="0" smtClean="0">
                <a:solidFill>
                  <a:schemeClr val="tx1"/>
                </a:solidFill>
                <a:latin typeface="+mn-lt"/>
                <a:ea typeface="+mn-ea"/>
                <a:cs typeface="+mn-cs"/>
              </a:rPr>
              <a:t>The example above stores the data returned by the </a:t>
            </a:r>
            <a:r>
              <a:rPr lang="en-SG" sz="1200" b="0" i="0" kern="1200" dirty="0" err="1" smtClean="0">
                <a:solidFill>
                  <a:schemeClr val="tx1"/>
                </a:solidFill>
                <a:latin typeface="+mn-lt"/>
                <a:ea typeface="+mn-ea"/>
                <a:cs typeface="+mn-cs"/>
              </a:rPr>
              <a:t>mysqli_query</a:t>
            </a:r>
            <a:r>
              <a:rPr lang="en-SG" sz="1200" b="0" i="0" kern="1200" dirty="0" smtClean="0">
                <a:solidFill>
                  <a:schemeClr val="tx1"/>
                </a:solidFill>
                <a:latin typeface="+mn-lt"/>
                <a:ea typeface="+mn-ea"/>
                <a:cs typeface="+mn-cs"/>
              </a:rPr>
              <a:t>() function in the $result variable.</a:t>
            </a:r>
          </a:p>
          <a:p>
            <a:endParaRPr lang="en-SG" sz="1200" b="0" i="0" kern="1200" dirty="0" smtClean="0">
              <a:solidFill>
                <a:schemeClr val="tx1"/>
              </a:solidFill>
              <a:latin typeface="+mn-lt"/>
              <a:ea typeface="+mn-ea"/>
              <a:cs typeface="+mn-cs"/>
            </a:endParaRPr>
          </a:p>
          <a:p>
            <a:r>
              <a:rPr lang="en-SG" sz="1200" b="0" i="0" kern="1200" dirty="0" smtClean="0">
                <a:solidFill>
                  <a:schemeClr val="tx1"/>
                </a:solidFill>
                <a:latin typeface="+mn-lt"/>
                <a:ea typeface="+mn-ea"/>
                <a:cs typeface="+mn-cs"/>
              </a:rPr>
              <a:t>Next, we use the </a:t>
            </a:r>
            <a:r>
              <a:rPr lang="en-SG" sz="1200" b="0" i="0" kern="1200" dirty="0" err="1" smtClean="0">
                <a:solidFill>
                  <a:schemeClr val="tx1"/>
                </a:solidFill>
                <a:latin typeface="+mn-lt"/>
                <a:ea typeface="+mn-ea"/>
                <a:cs typeface="+mn-cs"/>
              </a:rPr>
              <a:t>mysqli_fetch_array</a:t>
            </a:r>
            <a:r>
              <a:rPr lang="en-SG" sz="1200" b="0" i="0" kern="1200" dirty="0" smtClean="0">
                <a:solidFill>
                  <a:schemeClr val="tx1"/>
                </a:solidFill>
                <a:latin typeface="+mn-lt"/>
                <a:ea typeface="+mn-ea"/>
                <a:cs typeface="+mn-cs"/>
              </a:rPr>
              <a:t>() function to return the first row from the </a:t>
            </a:r>
            <a:r>
              <a:rPr lang="en-SG" sz="1200" b="0" i="0" kern="1200" dirty="0" err="1" smtClean="0">
                <a:solidFill>
                  <a:schemeClr val="tx1"/>
                </a:solidFill>
                <a:latin typeface="+mn-lt"/>
                <a:ea typeface="+mn-ea"/>
                <a:cs typeface="+mn-cs"/>
              </a:rPr>
              <a:t>recordset</a:t>
            </a:r>
            <a:r>
              <a:rPr lang="en-SG" sz="1200" b="0" i="0" kern="1200" dirty="0" smtClean="0">
                <a:solidFill>
                  <a:schemeClr val="tx1"/>
                </a:solidFill>
                <a:latin typeface="+mn-lt"/>
                <a:ea typeface="+mn-ea"/>
                <a:cs typeface="+mn-cs"/>
              </a:rPr>
              <a:t> as an array. Each call to </a:t>
            </a:r>
            <a:r>
              <a:rPr lang="en-SG" sz="1200" b="0" i="0" kern="1200" dirty="0" err="1" smtClean="0">
                <a:solidFill>
                  <a:schemeClr val="tx1"/>
                </a:solidFill>
                <a:latin typeface="+mn-lt"/>
                <a:ea typeface="+mn-ea"/>
                <a:cs typeface="+mn-cs"/>
              </a:rPr>
              <a:t>mysqli_fetch_array</a:t>
            </a:r>
            <a:r>
              <a:rPr lang="en-SG" sz="1200" b="0" i="0" kern="1200" dirty="0" smtClean="0">
                <a:solidFill>
                  <a:schemeClr val="tx1"/>
                </a:solidFill>
                <a:latin typeface="+mn-lt"/>
                <a:ea typeface="+mn-ea"/>
                <a:cs typeface="+mn-cs"/>
              </a:rPr>
              <a:t>() returns the next row in the </a:t>
            </a:r>
            <a:r>
              <a:rPr lang="en-SG" sz="1200" b="0" i="0" kern="1200" dirty="0" err="1" smtClean="0">
                <a:solidFill>
                  <a:schemeClr val="tx1"/>
                </a:solidFill>
                <a:latin typeface="+mn-lt"/>
                <a:ea typeface="+mn-ea"/>
                <a:cs typeface="+mn-cs"/>
              </a:rPr>
              <a:t>recordset</a:t>
            </a:r>
            <a:r>
              <a:rPr lang="en-SG" sz="1200" b="0" i="0" kern="1200" dirty="0" smtClean="0">
                <a:solidFill>
                  <a:schemeClr val="tx1"/>
                </a:solidFill>
                <a:latin typeface="+mn-lt"/>
                <a:ea typeface="+mn-ea"/>
                <a:cs typeface="+mn-cs"/>
              </a:rPr>
              <a:t>. The while loop loops through all the records in the </a:t>
            </a:r>
            <a:r>
              <a:rPr lang="en-SG" sz="1200" b="0" i="0" kern="1200" dirty="0" err="1" smtClean="0">
                <a:solidFill>
                  <a:schemeClr val="tx1"/>
                </a:solidFill>
                <a:latin typeface="+mn-lt"/>
                <a:ea typeface="+mn-ea"/>
                <a:cs typeface="+mn-cs"/>
              </a:rPr>
              <a:t>recordset</a:t>
            </a:r>
            <a:r>
              <a:rPr lang="en-SG" sz="1200" b="0" i="0" kern="1200" dirty="0" smtClean="0">
                <a:solidFill>
                  <a:schemeClr val="tx1"/>
                </a:solidFill>
                <a:latin typeface="+mn-lt"/>
                <a:ea typeface="+mn-ea"/>
                <a:cs typeface="+mn-cs"/>
              </a:rPr>
              <a:t>. To print the value of each row, we use the </a:t>
            </a:r>
            <a:r>
              <a:rPr lang="en-SG" sz="1200" b="0" i="0" kern="1200" dirty="0" err="1" smtClean="0">
                <a:solidFill>
                  <a:schemeClr val="tx1"/>
                </a:solidFill>
                <a:latin typeface="+mn-lt"/>
                <a:ea typeface="+mn-ea"/>
                <a:cs typeface="+mn-cs"/>
              </a:rPr>
              <a:t>PHP</a:t>
            </a:r>
            <a:r>
              <a:rPr lang="en-SG" sz="1200" b="0" i="0" kern="1200" dirty="0" smtClean="0">
                <a:solidFill>
                  <a:schemeClr val="tx1"/>
                </a:solidFill>
                <a:latin typeface="+mn-lt"/>
                <a:ea typeface="+mn-ea"/>
                <a:cs typeface="+mn-cs"/>
              </a:rPr>
              <a:t> $row variable ($row['</a:t>
            </a:r>
            <a:r>
              <a:rPr lang="en-SG" sz="1200" b="0" i="0" kern="1200" dirty="0" err="1" smtClean="0">
                <a:solidFill>
                  <a:schemeClr val="tx1"/>
                </a:solidFill>
                <a:latin typeface="+mn-lt"/>
                <a:ea typeface="+mn-ea"/>
                <a:cs typeface="+mn-cs"/>
              </a:rPr>
              <a:t>FirstName</a:t>
            </a:r>
            <a:r>
              <a:rPr lang="en-SG" sz="1200" b="0" i="0" kern="1200" dirty="0" smtClean="0">
                <a:solidFill>
                  <a:schemeClr val="tx1"/>
                </a:solidFill>
                <a:latin typeface="+mn-lt"/>
                <a:ea typeface="+mn-ea"/>
                <a:cs typeface="+mn-cs"/>
              </a:rPr>
              <a:t>'] and $row['</a:t>
            </a:r>
            <a:r>
              <a:rPr lang="en-SG" sz="1200" b="0" i="0" kern="1200" dirty="0" err="1" smtClean="0">
                <a:solidFill>
                  <a:schemeClr val="tx1"/>
                </a:solidFill>
                <a:latin typeface="+mn-lt"/>
                <a:ea typeface="+mn-ea"/>
                <a:cs typeface="+mn-cs"/>
              </a:rPr>
              <a:t>LastName</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The output of the code above will be:</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To get </a:t>
            </a:r>
            <a:r>
              <a:rPr lang="en-SG" sz="1200" b="0" i="0" kern="1200" dirty="0" err="1" smtClean="0">
                <a:solidFill>
                  <a:schemeClr val="tx1"/>
                </a:solidFill>
                <a:latin typeface="+mn-lt"/>
                <a:ea typeface="+mn-ea"/>
                <a:cs typeface="+mn-cs"/>
              </a:rPr>
              <a:t>PHP</a:t>
            </a:r>
            <a:r>
              <a:rPr lang="en-SG" sz="1200" b="0" i="0" kern="1200" dirty="0" smtClean="0">
                <a:solidFill>
                  <a:schemeClr val="tx1"/>
                </a:solidFill>
                <a:latin typeface="+mn-lt"/>
                <a:ea typeface="+mn-ea"/>
                <a:cs typeface="+mn-cs"/>
              </a:rPr>
              <a:t> to execute the statements above we must use the </a:t>
            </a:r>
            <a:r>
              <a:rPr lang="en-SG" sz="1200" b="0" i="0" kern="1200" dirty="0" err="1" smtClean="0">
                <a:solidFill>
                  <a:schemeClr val="tx1"/>
                </a:solidFill>
                <a:latin typeface="+mn-lt"/>
                <a:ea typeface="+mn-ea"/>
                <a:cs typeface="+mn-cs"/>
              </a:rPr>
              <a:t>mysql_query</a:t>
            </a:r>
            <a:r>
              <a:rPr lang="en-SG" sz="1200" b="0" i="0" kern="1200" dirty="0" smtClean="0">
                <a:solidFill>
                  <a:schemeClr val="tx1"/>
                </a:solidFill>
                <a:latin typeface="+mn-lt"/>
                <a:ea typeface="+mn-ea"/>
                <a:cs typeface="+mn-cs"/>
              </a:rPr>
              <a:t>() function. This function is used to send a query or command to a </a:t>
            </a:r>
            <a:r>
              <a:rPr lang="en-SG" sz="1200" b="0" i="0" kern="1200" dirty="0" err="1" smtClean="0">
                <a:solidFill>
                  <a:schemeClr val="tx1"/>
                </a:solidFill>
                <a:latin typeface="+mn-lt"/>
                <a:ea typeface="+mn-ea"/>
                <a:cs typeface="+mn-cs"/>
              </a:rPr>
              <a:t>MySQL</a:t>
            </a:r>
            <a:r>
              <a:rPr lang="en-SG" sz="1200" b="0" i="0" kern="1200" dirty="0" smtClean="0">
                <a:solidFill>
                  <a:schemeClr val="tx1"/>
                </a:solidFill>
                <a:latin typeface="+mn-lt"/>
                <a:ea typeface="+mn-ea"/>
                <a:cs typeface="+mn-cs"/>
              </a:rPr>
              <a:t> connection.</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b="0" i="0" kern="1200" dirty="0" smtClean="0">
                <a:solidFill>
                  <a:schemeClr val="tx1"/>
                </a:solidFill>
                <a:latin typeface="+mn-lt"/>
                <a:ea typeface="+mn-ea"/>
                <a:cs typeface="+mn-cs"/>
              </a:rPr>
              <a:t>Imagine table named "Persons", with three columns; "</a:t>
            </a:r>
            <a:r>
              <a:rPr lang="en-SG" sz="1200" b="0" i="0" kern="1200" dirty="0" err="1" smtClean="0">
                <a:solidFill>
                  <a:schemeClr val="tx1"/>
                </a:solidFill>
                <a:latin typeface="+mn-lt"/>
                <a:ea typeface="+mn-ea"/>
                <a:cs typeface="+mn-cs"/>
              </a:rPr>
              <a:t>Firstname</a:t>
            </a:r>
            <a:r>
              <a:rPr lang="en-SG" sz="1200" b="0" i="0" kern="1200" dirty="0" smtClean="0">
                <a:solidFill>
                  <a:schemeClr val="tx1"/>
                </a:solidFill>
                <a:latin typeface="+mn-lt"/>
                <a:ea typeface="+mn-ea"/>
                <a:cs typeface="+mn-cs"/>
              </a:rPr>
              <a:t>", "</a:t>
            </a:r>
            <a:r>
              <a:rPr lang="en-SG" sz="1200" b="0" i="0" kern="1200" dirty="0" err="1" smtClean="0">
                <a:solidFill>
                  <a:schemeClr val="tx1"/>
                </a:solidFill>
                <a:latin typeface="+mn-lt"/>
                <a:ea typeface="+mn-ea"/>
                <a:cs typeface="+mn-cs"/>
              </a:rPr>
              <a:t>Lastname</a:t>
            </a:r>
            <a:r>
              <a:rPr lang="en-SG" sz="1200" b="0" i="0" kern="1200" dirty="0" smtClean="0">
                <a:solidFill>
                  <a:schemeClr val="tx1"/>
                </a:solidFill>
                <a:latin typeface="+mn-lt"/>
                <a:ea typeface="+mn-ea"/>
                <a:cs typeface="+mn-cs"/>
              </a:rPr>
              <a:t>" and "Age".  The following example adds two new records to the "Persons" </a:t>
            </a:r>
            <a:r>
              <a:rPr lang="en-SG" sz="1200" b="0" i="0" kern="1200" dirty="0" err="1" smtClean="0">
                <a:solidFill>
                  <a:schemeClr val="tx1"/>
                </a:solidFill>
                <a:latin typeface="+mn-lt"/>
                <a:ea typeface="+mn-ea"/>
                <a:cs typeface="+mn-cs"/>
              </a:rPr>
              <a:t>table:</a:t>
            </a:r>
            <a:r>
              <a:rPr lang="en-SG" dirty="0" err="1" smtClean="0">
                <a:latin typeface="verdana"/>
              </a:rPr>
              <a:t>4</a:t>
            </a:r>
            <a:r>
              <a:rPr lang="en-SG" dirty="0" smtClean="0">
                <a:latin typeface="verdana"/>
              </a:rPr>
              <a:t> Toa </a:t>
            </a:r>
            <a:r>
              <a:rPr lang="en-SG" dirty="0" err="1" smtClean="0">
                <a:latin typeface="verdana"/>
              </a:rPr>
              <a:t>Payoh</a:t>
            </a:r>
            <a:r>
              <a:rPr lang="en-SG" baseline="0" dirty="0" smtClean="0">
                <a:latin typeface="verdana"/>
              </a:rPr>
              <a:t> </a:t>
            </a:r>
            <a:endParaRPr lang="en-SG" dirty="0" smtClean="0">
              <a:latin typeface="verdana"/>
            </a:endParaRP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When a user clicks the submit button in the HTML </a:t>
            </a:r>
            <a:r>
              <a:rPr lang="en-SG" sz="1200" b="0" i="0" kern="1200" smtClean="0">
                <a:solidFill>
                  <a:schemeClr val="tx1"/>
                </a:solidFill>
                <a:latin typeface="+mn-lt"/>
                <a:ea typeface="+mn-ea"/>
                <a:cs typeface="+mn-cs"/>
              </a:rPr>
              <a:t>form Form.html</a:t>
            </a:r>
            <a:r>
              <a:rPr lang="en-SG" sz="1200" b="0" i="0" kern="1200" baseline="0" smtClean="0">
                <a:solidFill>
                  <a:schemeClr val="tx1"/>
                </a:solidFill>
                <a:latin typeface="+mn-lt"/>
                <a:ea typeface="+mn-ea"/>
                <a:cs typeface="+mn-cs"/>
              </a:rPr>
              <a:t> </a:t>
            </a:r>
            <a:r>
              <a:rPr lang="en-SG" sz="1200" b="0" i="0" kern="1200" smtClean="0">
                <a:solidFill>
                  <a:schemeClr val="tx1"/>
                </a:solidFill>
                <a:latin typeface="+mn-lt"/>
                <a:ea typeface="+mn-ea"/>
                <a:cs typeface="+mn-cs"/>
              </a:rPr>
              <a:t> </a:t>
            </a:r>
            <a:r>
              <a:rPr lang="en-SG" sz="1200" b="0" i="0" kern="1200" dirty="0" smtClean="0">
                <a:solidFill>
                  <a:schemeClr val="tx1"/>
                </a:solidFill>
                <a:latin typeface="+mn-lt"/>
                <a:ea typeface="+mn-ea"/>
                <a:cs typeface="+mn-cs"/>
              </a:rPr>
              <a:t>in the example above, the form data is sent to "</a:t>
            </a:r>
            <a:r>
              <a:rPr lang="en-SG" sz="1200" b="0" i="0" kern="1200" dirty="0" err="1" smtClean="0">
                <a:solidFill>
                  <a:schemeClr val="tx1"/>
                </a:solidFill>
                <a:latin typeface="+mn-lt"/>
                <a:ea typeface="+mn-ea"/>
                <a:cs typeface="+mn-cs"/>
              </a:rPr>
              <a:t>insert.php</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The "</a:t>
            </a:r>
            <a:r>
              <a:rPr lang="en-SG" sz="1200" b="0" i="0" kern="1200" dirty="0" err="1" smtClean="0">
                <a:solidFill>
                  <a:schemeClr val="tx1"/>
                </a:solidFill>
                <a:latin typeface="+mn-lt"/>
                <a:ea typeface="+mn-ea"/>
                <a:cs typeface="+mn-cs"/>
              </a:rPr>
              <a:t>insert.php</a:t>
            </a:r>
            <a:r>
              <a:rPr lang="en-SG" sz="1200" b="0" i="0" kern="1200" dirty="0" smtClean="0">
                <a:solidFill>
                  <a:schemeClr val="tx1"/>
                </a:solidFill>
                <a:latin typeface="+mn-lt"/>
                <a:ea typeface="+mn-ea"/>
                <a:cs typeface="+mn-cs"/>
              </a:rPr>
              <a:t>" file connects to a database, and retrieves the values from the form with the </a:t>
            </a:r>
            <a:r>
              <a:rPr lang="en-SG" sz="1200" b="0" i="0" kern="1200" dirty="0" err="1" smtClean="0">
                <a:solidFill>
                  <a:schemeClr val="tx1"/>
                </a:solidFill>
                <a:latin typeface="+mn-lt"/>
                <a:ea typeface="+mn-ea"/>
                <a:cs typeface="+mn-cs"/>
              </a:rPr>
              <a:t>PHP</a:t>
            </a:r>
            <a:r>
              <a:rPr lang="en-SG" sz="1200" b="0" i="0" kern="1200" dirty="0" smtClean="0">
                <a:solidFill>
                  <a:schemeClr val="tx1"/>
                </a:solidFill>
                <a:latin typeface="+mn-lt"/>
                <a:ea typeface="+mn-ea"/>
                <a:cs typeface="+mn-cs"/>
              </a:rPr>
              <a:t> $_POST variables.</a:t>
            </a:r>
          </a:p>
          <a:p>
            <a:r>
              <a:rPr lang="en-SG" sz="1200" b="0" i="0" kern="1200" dirty="0" smtClean="0">
                <a:solidFill>
                  <a:schemeClr val="tx1"/>
                </a:solidFill>
                <a:latin typeface="+mn-lt"/>
                <a:ea typeface="+mn-ea"/>
                <a:cs typeface="+mn-cs"/>
              </a:rPr>
              <a:t>Then, the </a:t>
            </a:r>
            <a:r>
              <a:rPr lang="en-SG" sz="1200" b="0" i="0" kern="1200" dirty="0" err="1" smtClean="0">
                <a:solidFill>
                  <a:schemeClr val="tx1"/>
                </a:solidFill>
                <a:latin typeface="+mn-lt"/>
                <a:ea typeface="+mn-ea"/>
                <a:cs typeface="+mn-cs"/>
              </a:rPr>
              <a:t>mysql_query</a:t>
            </a:r>
            <a:r>
              <a:rPr lang="en-SG" sz="1200" b="0" i="0" kern="1200" dirty="0" smtClean="0">
                <a:solidFill>
                  <a:schemeClr val="tx1"/>
                </a:solidFill>
                <a:latin typeface="+mn-lt"/>
                <a:ea typeface="+mn-ea"/>
                <a:cs typeface="+mn-cs"/>
              </a:rPr>
              <a:t>() function executes the INSERT INTO statement, and a new record will be added to the "Persons" table.</a:t>
            </a:r>
          </a:p>
          <a:p>
            <a:r>
              <a:rPr lang="en-SG" sz="1200" b="0" i="0" kern="120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Notice the WHERE clause in the UPDATE syntax. The WHERE clause specifies which record or records that should be updated. If you omit the WHERE clause, all records will be updated! To get PHP to execute the statement above we must use the </a:t>
            </a:r>
            <a:r>
              <a:rPr lang="en-SG" sz="1200" b="0" i="0" kern="1200" dirty="0" err="1" smtClean="0">
                <a:solidFill>
                  <a:schemeClr val="tx1"/>
                </a:solidFill>
                <a:latin typeface="+mn-lt"/>
                <a:ea typeface="+mn-ea"/>
                <a:cs typeface="+mn-cs"/>
              </a:rPr>
              <a:t>mysqli_query</a:t>
            </a:r>
            <a:r>
              <a:rPr lang="en-SG" sz="1200" b="0" i="0" kern="1200" dirty="0" smtClean="0">
                <a:solidFill>
                  <a:schemeClr val="tx1"/>
                </a:solidFill>
                <a:latin typeface="+mn-lt"/>
                <a:ea typeface="+mn-ea"/>
                <a:cs typeface="+mn-cs"/>
              </a:rPr>
              <a:t>() function. This function is used to send a query or command to a </a:t>
            </a:r>
            <a:r>
              <a:rPr lang="en-SG" sz="1200" b="0" i="0" kern="1200" dirty="0" err="1" smtClean="0">
                <a:solidFill>
                  <a:schemeClr val="tx1"/>
                </a:solidFill>
                <a:latin typeface="+mn-lt"/>
                <a:ea typeface="+mn-ea"/>
                <a:cs typeface="+mn-cs"/>
              </a:rPr>
              <a:t>MySQL</a:t>
            </a:r>
            <a:r>
              <a:rPr lang="en-SG" sz="1200" b="0" i="0" kern="1200" dirty="0" smtClean="0">
                <a:solidFill>
                  <a:schemeClr val="tx1"/>
                </a:solidFill>
                <a:latin typeface="+mn-lt"/>
                <a:ea typeface="+mn-ea"/>
                <a:cs typeface="+mn-cs"/>
              </a:rPr>
              <a:t> connection.</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b="0" i="0" kern="1200" dirty="0" smtClean="0">
                <a:solidFill>
                  <a:schemeClr val="tx1"/>
                </a:solidFill>
                <a:latin typeface="+mn-lt"/>
                <a:ea typeface="+mn-ea"/>
                <a:cs typeface="+mn-cs"/>
              </a:rPr>
              <a:t> </a:t>
            </a:r>
            <a:endParaRPr lang="en-SG" dirty="0" smtClean="0">
              <a:latin typeface="verdana"/>
            </a:endParaRPr>
          </a:p>
          <a:p>
            <a:r>
              <a:rPr lang="en-SG" sz="1200" b="0" i="0" kern="1200" dirty="0" smtClean="0">
                <a:solidFill>
                  <a:schemeClr val="tx1"/>
                </a:solidFill>
                <a:latin typeface="+mn-lt"/>
                <a:ea typeface="+mn-ea"/>
                <a:cs typeface="+mn-cs"/>
              </a:rPr>
              <a:t>The following example updates some data in the "Persons" table: After the update, the "Persons" table will have Vincent</a:t>
            </a:r>
            <a:r>
              <a:rPr lang="en-SG" sz="1200" b="0" i="0" kern="1200" baseline="0" dirty="0" smtClean="0">
                <a:solidFill>
                  <a:schemeClr val="tx1"/>
                </a:solidFill>
                <a:latin typeface="+mn-lt"/>
                <a:ea typeface="+mn-ea"/>
                <a:cs typeface="+mn-cs"/>
              </a:rPr>
              <a:t> </a:t>
            </a:r>
            <a:r>
              <a:rPr lang="en-SG" sz="1200" b="0" i="0" kern="1200" baseline="0" dirty="0" err="1" smtClean="0">
                <a:solidFill>
                  <a:schemeClr val="tx1"/>
                </a:solidFill>
                <a:latin typeface="+mn-lt"/>
                <a:ea typeface="+mn-ea"/>
                <a:cs typeface="+mn-cs"/>
              </a:rPr>
              <a:t>lin’s</a:t>
            </a:r>
            <a:r>
              <a:rPr lang="en-SG" sz="1200" b="0" i="0" kern="1200" baseline="0" dirty="0" smtClean="0">
                <a:solidFill>
                  <a:schemeClr val="tx1"/>
                </a:solidFill>
                <a:latin typeface="+mn-lt"/>
                <a:ea typeface="+mn-ea"/>
                <a:cs typeface="+mn-cs"/>
              </a:rPr>
              <a:t> age changed from 34 to 36</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To get </a:t>
            </a:r>
            <a:r>
              <a:rPr lang="en-SG" sz="1200" b="0" i="0" kern="1200" dirty="0" err="1" smtClean="0">
                <a:solidFill>
                  <a:schemeClr val="tx1"/>
                </a:solidFill>
                <a:latin typeface="+mn-lt"/>
                <a:ea typeface="+mn-ea"/>
                <a:cs typeface="+mn-cs"/>
              </a:rPr>
              <a:t>PHP</a:t>
            </a:r>
            <a:r>
              <a:rPr lang="en-SG" sz="1200" b="0" i="0" kern="1200" dirty="0" smtClean="0">
                <a:solidFill>
                  <a:schemeClr val="tx1"/>
                </a:solidFill>
                <a:latin typeface="+mn-lt"/>
                <a:ea typeface="+mn-ea"/>
                <a:cs typeface="+mn-cs"/>
              </a:rPr>
              <a:t> to execute the statement above we must use the </a:t>
            </a:r>
            <a:r>
              <a:rPr lang="en-SG" sz="1200" b="0" i="0" kern="1200" dirty="0" err="1" smtClean="0">
                <a:solidFill>
                  <a:schemeClr val="tx1"/>
                </a:solidFill>
                <a:latin typeface="+mn-lt"/>
                <a:ea typeface="+mn-ea"/>
                <a:cs typeface="+mn-cs"/>
              </a:rPr>
              <a:t>mysql_query</a:t>
            </a:r>
            <a:r>
              <a:rPr lang="en-SG" sz="1200" b="0" i="0" kern="1200" dirty="0" smtClean="0">
                <a:solidFill>
                  <a:schemeClr val="tx1"/>
                </a:solidFill>
                <a:latin typeface="+mn-lt"/>
                <a:ea typeface="+mn-ea"/>
                <a:cs typeface="+mn-cs"/>
              </a:rPr>
              <a:t>() function. This function is used to send a query or command to a </a:t>
            </a:r>
            <a:r>
              <a:rPr lang="en-SG" sz="1200" b="0" i="0" kern="1200" dirty="0" err="1" smtClean="0">
                <a:solidFill>
                  <a:schemeClr val="tx1"/>
                </a:solidFill>
                <a:latin typeface="+mn-lt"/>
                <a:ea typeface="+mn-ea"/>
                <a:cs typeface="+mn-cs"/>
              </a:rPr>
              <a:t>MySQL</a:t>
            </a:r>
            <a:r>
              <a:rPr lang="en-SG" sz="1200" b="0" i="0" kern="1200" dirty="0" smtClean="0">
                <a:solidFill>
                  <a:schemeClr val="tx1"/>
                </a:solidFill>
                <a:latin typeface="+mn-lt"/>
                <a:ea typeface="+mn-ea"/>
                <a:cs typeface="+mn-cs"/>
              </a:rPr>
              <a:t> connection.</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b="0" i="0" kern="1200" dirty="0" smtClean="0">
                <a:solidFill>
                  <a:schemeClr val="tx1"/>
                </a:solidFill>
                <a:latin typeface="+mn-lt"/>
                <a:ea typeface="+mn-ea"/>
                <a:cs typeface="+mn-cs"/>
              </a:rPr>
              <a:t> </a:t>
            </a:r>
            <a:endParaRPr lang="en-SG" dirty="0" smtClean="0">
              <a:latin typeface="verdana"/>
            </a:endParaRPr>
          </a:p>
          <a:p>
            <a:r>
              <a:rPr lang="en-SG" sz="1200" b="0" i="0" kern="1200" dirty="0" smtClean="0">
                <a:solidFill>
                  <a:schemeClr val="tx1"/>
                </a:solidFill>
                <a:latin typeface="+mn-lt"/>
                <a:ea typeface="+mn-ea"/>
                <a:cs typeface="+mn-cs"/>
              </a:rPr>
              <a:t>The following example deletes all the records in the "Persons" table where </a:t>
            </a:r>
            <a:r>
              <a:rPr lang="en-SG" sz="1200" b="0" i="0" kern="1200" dirty="0" err="1" smtClean="0">
                <a:solidFill>
                  <a:schemeClr val="tx1"/>
                </a:solidFill>
                <a:latin typeface="+mn-lt"/>
                <a:ea typeface="+mn-ea"/>
                <a:cs typeface="+mn-cs"/>
              </a:rPr>
              <a:t>LastName</a:t>
            </a:r>
            <a:r>
              <a:rPr lang="en-SG" sz="1200" b="0" i="0" kern="1200" dirty="0" smtClean="0">
                <a:solidFill>
                  <a:schemeClr val="tx1"/>
                </a:solidFill>
                <a:latin typeface="+mn-lt"/>
                <a:ea typeface="+mn-ea"/>
                <a:cs typeface="+mn-cs"/>
              </a:rPr>
              <a:t>=‘Lin’. So in</a:t>
            </a:r>
            <a:r>
              <a:rPr lang="en-SG" sz="1200" b="0" i="0" kern="1200" baseline="0" dirty="0" smtClean="0">
                <a:solidFill>
                  <a:schemeClr val="tx1"/>
                </a:solidFill>
                <a:latin typeface="+mn-lt"/>
                <a:ea typeface="+mn-ea"/>
                <a:cs typeface="+mn-cs"/>
              </a:rPr>
              <a:t> this case, the second record (highlighted in blue will be deleted from the database. Note some queries may affect more than one row/record. So be very careful about your delete function.</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18</a:t>
            </a:fld>
            <a:endParaRPr lang="en-US"/>
          </a:p>
        </p:txBody>
      </p:sp>
    </p:spTree>
    <p:extLst>
      <p:ext uri="{BB962C8B-B14F-4D97-AF65-F5344CB8AC3E}">
        <p14:creationId xmlns:p14="http://schemas.microsoft.com/office/powerpoint/2010/main" val="69617494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143000" y="1295400"/>
            <a:ext cx="7467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219200" y="1295400"/>
            <a:ext cx="76200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95400" y="1295400"/>
            <a:ext cx="76962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smtClean="0"/>
              <a:t>IT1322 2012 S1</a:t>
            </a:r>
            <a:endParaRPr lang="en-US"/>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smtClean="0"/>
              <a:t>IT1322 2012 S1</a:t>
            </a:r>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1"/>
            <a:ext cx="2895600" cy="3130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IT1322 2012 S1</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iming>
    <p:tnLst>
      <p:par>
        <p:cTn id="1" dur="indefinite" restart="never" nodeType="tmRoot"/>
      </p:par>
    </p:tnLst>
  </p:timing>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solidFill>
                  <a:srgbClr val="FF0000"/>
                </a:solidFill>
              </a:rPr>
              <a:t>Jumpstart to </a:t>
            </a:r>
            <a:r>
              <a:rPr lang="en-US" sz="4800" dirty="0" err="1" smtClean="0">
                <a:solidFill>
                  <a:srgbClr val="FF0000"/>
                </a:solidFill>
              </a:rPr>
              <a:t>PHP</a:t>
            </a:r>
            <a:r>
              <a:rPr lang="en-US" sz="4800" dirty="0" smtClean="0">
                <a:solidFill>
                  <a:srgbClr val="FF0000"/>
                </a:solidFill>
              </a:rPr>
              <a:t> Part 2</a:t>
            </a:r>
            <a:endParaRPr lang="en-US" sz="4800" dirty="0">
              <a:solidFill>
                <a:srgbClr val="FF0000"/>
              </a:solidFill>
            </a:endParaRPr>
          </a:p>
        </p:txBody>
      </p:sp>
      <p:sp>
        <p:nvSpPr>
          <p:cNvPr id="3" name="Subtitle 2"/>
          <p:cNvSpPr>
            <a:spLocks noGrp="1"/>
          </p:cNvSpPr>
          <p:nvPr>
            <p:ph type="subTitle" idx="1"/>
          </p:nvPr>
        </p:nvSpPr>
        <p:spPr>
          <a:xfrm>
            <a:off x="685800" y="3581400"/>
            <a:ext cx="7467600" cy="1752600"/>
          </a:xfrm>
        </p:spPr>
        <p:txBody>
          <a:bodyPr/>
          <a:lstStyle/>
          <a:p>
            <a:r>
              <a:rPr lang="en-US" dirty="0" err="1" smtClean="0"/>
              <a:t>PHP</a:t>
            </a:r>
            <a:r>
              <a:rPr lang="en-US" dirty="0" smtClean="0"/>
              <a:t> Fundamentals</a:t>
            </a:r>
            <a:endParaRPr lang="en-US" dirty="0"/>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p:txBody>
          <a:bodyPr/>
          <a:lstStyle/>
          <a:p>
            <a:r>
              <a:rPr lang="en-US" dirty="0" smtClean="0"/>
              <a:t>PHP  Fundamentals – Connecting to the database</a:t>
            </a:r>
          </a:p>
          <a:p>
            <a:r>
              <a:rPr lang="en-US" dirty="0" smtClean="0"/>
              <a:t>Week 7,8</a:t>
            </a:r>
            <a:endParaRPr lang="en-US"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a:noFill/>
                </a:ln>
                <a:solidFill>
                  <a:schemeClr val="bg1"/>
                </a:solidFill>
                <a:effectLst/>
                <a:uLnTx/>
                <a:uFillTx/>
                <a:latin typeface="+mj-lt"/>
                <a:ea typeface="+mj-ea"/>
                <a:cs typeface="+mj-cs"/>
              </a:rPr>
              <a:t>PHP Database &amp; CRUD</a:t>
            </a:r>
            <a:endParaRPr kumimoji="0" lang="en-US" sz="3600" b="1" i="0" u="none" strike="noStrike" kern="1200" cap="none"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Database Connectivity</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pPr>
              <a:spcAft>
                <a:spcPts val="1000"/>
              </a:spcAft>
            </a:pPr>
            <a:r>
              <a:rPr lang="en-US" sz="3200" dirty="0" smtClean="0"/>
              <a:t>5 Steps</a:t>
            </a:r>
          </a:p>
          <a:p>
            <a:pPr marL="514350" indent="-514350">
              <a:spcAft>
                <a:spcPts val="1000"/>
              </a:spcAft>
              <a:buFont typeface="+mj-lt"/>
              <a:buAutoNum type="arabicPeriod"/>
            </a:pPr>
            <a:r>
              <a:rPr lang="en-US" sz="3200" dirty="0" smtClean="0"/>
              <a:t>Create a connection</a:t>
            </a:r>
          </a:p>
          <a:p>
            <a:pPr marL="514350" indent="-514350">
              <a:spcAft>
                <a:spcPts val="1000"/>
              </a:spcAft>
              <a:buFont typeface="+mj-lt"/>
              <a:buAutoNum type="arabicPeriod"/>
            </a:pPr>
            <a:r>
              <a:rPr lang="en-US" sz="3200" dirty="0" smtClean="0"/>
              <a:t>Select a database</a:t>
            </a:r>
          </a:p>
          <a:p>
            <a:pPr marL="514350" indent="-514350">
              <a:spcAft>
                <a:spcPts val="1000"/>
              </a:spcAft>
              <a:buFont typeface="+mj-lt"/>
              <a:buAutoNum type="arabicPeriod"/>
            </a:pPr>
            <a:r>
              <a:rPr lang="en-US" sz="3200" dirty="0" smtClean="0"/>
              <a:t>Perform database Query</a:t>
            </a:r>
          </a:p>
          <a:p>
            <a:pPr marL="514350" indent="-514350">
              <a:spcAft>
                <a:spcPts val="1000"/>
              </a:spcAft>
              <a:buFont typeface="+mj-lt"/>
              <a:buAutoNum type="arabicPeriod"/>
            </a:pPr>
            <a:r>
              <a:rPr lang="en-US" sz="3200" dirty="0" smtClean="0"/>
              <a:t>Use returned data (if any)</a:t>
            </a:r>
          </a:p>
          <a:p>
            <a:pPr marL="514350" indent="-514350">
              <a:spcAft>
                <a:spcPts val="1000"/>
              </a:spcAft>
              <a:buFont typeface="+mj-lt"/>
              <a:buAutoNum type="arabicPeriod"/>
            </a:pPr>
            <a:r>
              <a:rPr lang="en-US" sz="3200" dirty="0" smtClean="0"/>
              <a:t>Close connection</a:t>
            </a:r>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3</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PHP</a:t>
            </a:r>
            <a:r>
              <a:rPr lang="en-US" sz="3600" dirty="0" smtClean="0"/>
              <a:t> Creating a connection  </a:t>
            </a:r>
            <a:endParaRPr lang="en-US" sz="3600" dirty="0"/>
          </a:p>
        </p:txBody>
      </p:sp>
      <p:sp>
        <p:nvSpPr>
          <p:cNvPr id="3" name="Content Placeholder 2"/>
          <p:cNvSpPr>
            <a:spLocks noGrp="1"/>
          </p:cNvSpPr>
          <p:nvPr>
            <p:ph idx="1"/>
          </p:nvPr>
        </p:nvSpPr>
        <p:spPr>
          <a:xfrm>
            <a:off x="533400" y="2590800"/>
            <a:ext cx="8077200" cy="2667000"/>
          </a:xfrm>
        </p:spPr>
        <p:txBody>
          <a:bodyPr>
            <a:noAutofit/>
          </a:bodyPr>
          <a:lstStyle/>
          <a:p>
            <a:r>
              <a:rPr lang="en-SG" sz="2000" dirty="0" smtClean="0"/>
              <a:t>Before you can access data in a database, you must create a connection to the database.</a:t>
            </a:r>
          </a:p>
          <a:p>
            <a:r>
              <a:rPr lang="en-SG" sz="2000" dirty="0" smtClean="0"/>
              <a:t>In </a:t>
            </a:r>
            <a:r>
              <a:rPr lang="en-SG" sz="2000" dirty="0" err="1" smtClean="0"/>
              <a:t>PHP</a:t>
            </a:r>
            <a:r>
              <a:rPr lang="en-SG" sz="2000" dirty="0" smtClean="0"/>
              <a:t>, this is done with the </a:t>
            </a:r>
            <a:r>
              <a:rPr lang="en-SG" sz="2000" dirty="0" err="1" smtClean="0"/>
              <a:t>mysql_connect</a:t>
            </a:r>
            <a:r>
              <a:rPr lang="en-SG" sz="2000" dirty="0" smtClean="0"/>
              <a:t>() function.</a:t>
            </a:r>
            <a:endParaRPr lang="en-SG" sz="20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666050842"/>
              </p:ext>
            </p:extLst>
          </p:nvPr>
        </p:nvGraphicFramePr>
        <p:xfrm>
          <a:off x="457200" y="1676400"/>
          <a:ext cx="8229600" cy="762000"/>
        </p:xfrm>
        <a:graphic>
          <a:graphicData uri="http://schemas.openxmlformats.org/drawingml/2006/table">
            <a:tbl>
              <a:tblPr firstRow="1" bandRow="1">
                <a:tableStyleId>{073A0DAA-6AF3-43AB-8588-CEC1D06C72B9}</a:tableStyleId>
              </a:tblPr>
              <a:tblGrid>
                <a:gridCol w="8229600"/>
              </a:tblGrid>
              <a:tr h="762000">
                <a:tc>
                  <a:txBody>
                    <a:bodyPr/>
                    <a:lstStyle/>
                    <a:p>
                      <a:r>
                        <a:rPr lang="en-US" sz="2800" b="0" i="0" kern="1200" dirty="0" err="1" smtClean="0">
                          <a:solidFill>
                            <a:schemeClr val="lt1"/>
                          </a:solidFill>
                          <a:effectLst/>
                          <a:latin typeface="+mn-lt"/>
                          <a:ea typeface="+mn-ea"/>
                          <a:cs typeface="+mn-cs"/>
                        </a:rPr>
                        <a:t>mysqli_connect</a:t>
                      </a:r>
                      <a:r>
                        <a:rPr lang="en-US" sz="2800" b="0" i="0" kern="1200" dirty="0" smtClean="0">
                          <a:solidFill>
                            <a:schemeClr val="lt1"/>
                          </a:solidFill>
                          <a:effectLst/>
                          <a:latin typeface="+mn-lt"/>
                          <a:ea typeface="+mn-ea"/>
                          <a:cs typeface="+mn-cs"/>
                        </a:rPr>
                        <a:t>(</a:t>
                      </a:r>
                      <a:r>
                        <a:rPr lang="en-US" sz="2800" b="0" i="0" kern="1200" dirty="0" err="1" smtClean="0">
                          <a:solidFill>
                            <a:schemeClr val="lt1"/>
                          </a:solidFill>
                          <a:effectLst/>
                          <a:latin typeface="+mn-lt"/>
                          <a:ea typeface="+mn-ea"/>
                          <a:cs typeface="+mn-cs"/>
                        </a:rPr>
                        <a:t>host,username,password,dbname</a:t>
                      </a:r>
                      <a:r>
                        <a:rPr lang="en-US" sz="2800" b="0" i="0" kern="1200" dirty="0" smtClean="0">
                          <a:solidFill>
                            <a:schemeClr val="lt1"/>
                          </a:solidFill>
                          <a:effectLst/>
                          <a:latin typeface="+mn-lt"/>
                          <a:ea typeface="+mn-ea"/>
                          <a:cs typeface="+mn-cs"/>
                        </a:rPr>
                        <a:t>);</a:t>
                      </a:r>
                      <a:endParaRPr lang="en-SG" sz="5400"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685958529"/>
              </p:ext>
            </p:extLst>
          </p:nvPr>
        </p:nvGraphicFramePr>
        <p:xfrm>
          <a:off x="685800" y="3886200"/>
          <a:ext cx="7772400" cy="2236470"/>
        </p:xfrm>
        <a:graphic>
          <a:graphicData uri="http://schemas.openxmlformats.org/drawingml/2006/table">
            <a:tbl>
              <a:tblPr/>
              <a:tblGrid>
                <a:gridCol w="1554480"/>
                <a:gridCol w="6217920"/>
              </a:tblGrid>
              <a:tr h="0">
                <a:tc>
                  <a:txBody>
                    <a:bodyPr/>
                    <a:lstStyle/>
                    <a:p>
                      <a:pPr algn="l" fontAlgn="t"/>
                      <a:r>
                        <a:rPr lang="en-SG" dirty="0">
                          <a:latin typeface="verdana"/>
                        </a:rPr>
                        <a:t>Parameter</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dirty="0">
                          <a:latin typeface="verdana"/>
                        </a:rPr>
                        <a:t>Description</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r>
              <a:tr h="0">
                <a:tc>
                  <a:txBody>
                    <a:bodyPr/>
                    <a:lstStyle/>
                    <a:p>
                      <a:pPr fontAlgn="t"/>
                      <a:r>
                        <a:rPr lang="en-US">
                          <a:effectLst/>
                          <a:latin typeface="verdana" panose="020B0604030504040204" pitchFamily="34" charset="0"/>
                        </a:rPr>
                        <a:t>host</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a:effectLst/>
                          <a:latin typeface="verdana" panose="020B0604030504040204" pitchFamily="34" charset="0"/>
                        </a:rPr>
                        <a:t>Optional. Either a host name or an IP address</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a:effectLst/>
                          <a:latin typeface="verdana" panose="020B0604030504040204" pitchFamily="34" charset="0"/>
                        </a:rPr>
                        <a:t>username</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a:effectLst/>
                          <a:latin typeface="verdana" panose="020B0604030504040204" pitchFamily="34" charset="0"/>
                        </a:rPr>
                        <a:t>Optional. The MySQL user name</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a:effectLst/>
                          <a:latin typeface="verdana" panose="020B0604030504040204" pitchFamily="34" charset="0"/>
                        </a:rPr>
                        <a:t>password</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a:effectLst/>
                          <a:latin typeface="verdana" panose="020B0604030504040204" pitchFamily="34" charset="0"/>
                        </a:rPr>
                        <a:t>Optional. The password to log in with</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a:effectLst/>
                          <a:latin typeface="verdana" panose="020B0604030504040204" pitchFamily="34" charset="0"/>
                        </a:rPr>
                        <a:t>dbname</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a:effectLst/>
                          <a:latin typeface="verdana" panose="020B0604030504040204" pitchFamily="34" charset="0"/>
                        </a:rPr>
                        <a:t>Optional. The default database to be used when performing queries</a:t>
                      </a:r>
                    </a:p>
                  </a:txBody>
                  <a:tcPr marL="47625" marR="47625" marT="66675" marB="666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
        <p:nvSpPr>
          <p:cNvPr id="10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PHP</a:t>
            </a:r>
            <a:r>
              <a:rPr lang="en-US" sz="3600" dirty="0" smtClean="0"/>
              <a:t> Creating a connection &amp; Selecting DB – Example 1</a:t>
            </a:r>
            <a:endParaRPr lang="en-US" sz="3600" dirty="0"/>
          </a:p>
        </p:txBody>
      </p:sp>
      <p:sp>
        <p:nvSpPr>
          <p:cNvPr id="3" name="Content Placeholder 2"/>
          <p:cNvSpPr>
            <a:spLocks noGrp="1"/>
          </p:cNvSpPr>
          <p:nvPr>
            <p:ph idx="1"/>
          </p:nvPr>
        </p:nvSpPr>
        <p:spPr>
          <a:xfrm>
            <a:off x="381000" y="1600200"/>
            <a:ext cx="8077200" cy="2667000"/>
          </a:xfrm>
        </p:spPr>
        <p:txBody>
          <a:bodyPr>
            <a:noAutofit/>
          </a:bodyPr>
          <a:lstStyle/>
          <a:p>
            <a:pPr>
              <a:spcAft>
                <a:spcPts val="1000"/>
              </a:spcAft>
              <a:buNone/>
            </a:pPr>
            <a:r>
              <a:rPr lang="en-US" sz="2000" dirty="0"/>
              <a:t>&lt;?</a:t>
            </a:r>
            <a:r>
              <a:rPr lang="en-US" sz="2000" dirty="0" err="1"/>
              <a:t>php</a:t>
            </a:r>
            <a:r>
              <a:rPr lang="en-US" sz="2000" dirty="0"/>
              <a:t/>
            </a:r>
            <a:br>
              <a:rPr lang="en-US" sz="2000" dirty="0"/>
            </a:br>
            <a:r>
              <a:rPr lang="en-US" sz="2000" dirty="0"/>
              <a:t>// Create connection</a:t>
            </a:r>
            <a:br>
              <a:rPr lang="en-US" sz="2000" dirty="0"/>
            </a:br>
            <a:r>
              <a:rPr lang="en-US" sz="2000" dirty="0"/>
              <a:t>$con=</a:t>
            </a:r>
            <a:r>
              <a:rPr lang="en-US" sz="2000" dirty="0" err="1"/>
              <a:t>mysqli_connect</a:t>
            </a:r>
            <a:r>
              <a:rPr lang="en-US" sz="2000" dirty="0"/>
              <a:t>("example.com","peter","abc123","my_db");</a:t>
            </a:r>
            <a:br>
              <a:rPr lang="en-US" sz="2000" dirty="0"/>
            </a:br>
            <a:r>
              <a:rPr lang="en-US" sz="2000" dirty="0"/>
              <a:t/>
            </a:r>
            <a:br>
              <a:rPr lang="en-US" sz="2000" dirty="0"/>
            </a:br>
            <a:r>
              <a:rPr lang="en-US" sz="2000" dirty="0"/>
              <a:t>// Check connection</a:t>
            </a:r>
            <a:br>
              <a:rPr lang="en-US" sz="2000" dirty="0"/>
            </a:br>
            <a:r>
              <a:rPr lang="en-US" sz="2000" dirty="0"/>
              <a:t>if (</a:t>
            </a:r>
            <a:r>
              <a:rPr lang="en-US" sz="2000" dirty="0" err="1"/>
              <a:t>mysqli_connect_errno</a:t>
            </a:r>
            <a:r>
              <a:rPr lang="en-US" sz="2000" dirty="0"/>
              <a:t>()) {</a:t>
            </a:r>
            <a:br>
              <a:rPr lang="en-US" sz="2000" dirty="0"/>
            </a:br>
            <a:r>
              <a:rPr lang="en-US" sz="2000" dirty="0"/>
              <a:t>  echo "Failed to connect to MySQL: " . </a:t>
            </a:r>
            <a:r>
              <a:rPr lang="en-US" sz="2000" dirty="0" err="1"/>
              <a:t>mysqli_connect_error</a:t>
            </a:r>
            <a:r>
              <a:rPr lang="en-US" sz="2000" dirty="0"/>
              <a:t>();</a:t>
            </a:r>
            <a:br>
              <a:rPr lang="en-US" sz="2000" dirty="0"/>
            </a:br>
            <a:r>
              <a:rPr lang="en-US" sz="2000" dirty="0"/>
              <a:t>}</a:t>
            </a:r>
            <a:br>
              <a:rPr lang="en-US" sz="2000" dirty="0"/>
            </a:br>
            <a:r>
              <a:rPr lang="en-US" sz="2000" dirty="0"/>
              <a:t>?&gt;</a:t>
            </a:r>
            <a:endParaRPr lang="en-US" sz="20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5</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Connection.php</a:t>
            </a:r>
            <a:endParaRPr lang="en-US" sz="3600" dirty="0"/>
          </a:p>
        </p:txBody>
      </p:sp>
      <p:sp>
        <p:nvSpPr>
          <p:cNvPr id="3" name="Content Placeholder 2"/>
          <p:cNvSpPr>
            <a:spLocks noGrp="1"/>
          </p:cNvSpPr>
          <p:nvPr>
            <p:ph idx="1"/>
          </p:nvPr>
        </p:nvSpPr>
        <p:spPr>
          <a:xfrm>
            <a:off x="304800" y="1371600"/>
            <a:ext cx="8077200" cy="2209800"/>
          </a:xfrm>
        </p:spPr>
        <p:txBody>
          <a:bodyPr>
            <a:noAutofit/>
          </a:bodyPr>
          <a:lstStyle/>
          <a:p>
            <a:pPr>
              <a:spcAft>
                <a:spcPts val="1000"/>
              </a:spcAft>
              <a:buNone/>
            </a:pPr>
            <a:r>
              <a:rPr lang="en-US" sz="2000" dirty="0" smtClean="0"/>
              <a:t>	To make it easier for us to deal with changing database name and servers, we usually create a </a:t>
            </a:r>
            <a:r>
              <a:rPr lang="en-US" sz="2000" dirty="0" err="1" smtClean="0"/>
              <a:t>connection.php</a:t>
            </a:r>
            <a:r>
              <a:rPr lang="en-US" sz="2000" dirty="0" smtClean="0"/>
              <a:t> file. The database connection data is stored in </a:t>
            </a:r>
            <a:r>
              <a:rPr lang="en-US" sz="2000" dirty="0" err="1" smtClean="0"/>
              <a:t>connection.php</a:t>
            </a:r>
            <a:r>
              <a:rPr lang="en-US" sz="2000" dirty="0" smtClean="0"/>
              <a:t>. And changeable values are stored in another file </a:t>
            </a:r>
            <a:r>
              <a:rPr lang="en-US" sz="2000" dirty="0" err="1" smtClean="0"/>
              <a:t>constants.php</a:t>
            </a:r>
            <a:r>
              <a:rPr lang="en-US" sz="2000" dirty="0" smtClean="0"/>
              <a:t> where they are defined, and included in the </a:t>
            </a:r>
            <a:r>
              <a:rPr lang="en-US" sz="2000" dirty="0" err="1" smtClean="0"/>
              <a:t>connection.php</a:t>
            </a:r>
            <a:r>
              <a:rPr lang="en-US" sz="2000" dirty="0" smtClean="0"/>
              <a:t> file. </a:t>
            </a:r>
          </a:p>
          <a:p>
            <a:pPr>
              <a:spcAft>
                <a:spcPts val="1000"/>
              </a:spcAft>
              <a:buNone/>
            </a:pPr>
            <a:r>
              <a:rPr lang="en-US" sz="2000" dirty="0" smtClean="0"/>
              <a:t>	                                        </a:t>
            </a:r>
            <a:r>
              <a:rPr lang="en-US" sz="2000" i="1" dirty="0" err="1" smtClean="0"/>
              <a:t>Connection.php</a:t>
            </a:r>
            <a:endParaRPr lang="en-US" sz="2000" i="1"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6</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739802118"/>
              </p:ext>
            </p:extLst>
          </p:nvPr>
        </p:nvGraphicFramePr>
        <p:xfrm>
          <a:off x="1371600" y="3581400"/>
          <a:ext cx="6096000" cy="3048000"/>
        </p:xfrm>
        <a:graphic>
          <a:graphicData uri="http://schemas.openxmlformats.org/drawingml/2006/table">
            <a:tbl>
              <a:tblPr firstRow="1" bandRow="1">
                <a:tableStyleId>{5C22544A-7EE6-4342-B048-85BDC9FD1C3A}</a:tableStyleId>
              </a:tblPr>
              <a:tblGrid>
                <a:gridCol w="6096000"/>
              </a:tblGrid>
              <a:tr h="3048000">
                <a:tc>
                  <a:txBody>
                    <a:bodyPr/>
                    <a:lstStyle/>
                    <a:p>
                      <a:pPr>
                        <a:spcAft>
                          <a:spcPts val="1000"/>
                        </a:spcAft>
                        <a:buNone/>
                      </a:pPr>
                      <a:r>
                        <a:rPr lang="en-US" sz="1800" dirty="0" smtClean="0">
                          <a:solidFill>
                            <a:srgbClr val="FF0000"/>
                          </a:solidFill>
                        </a:rPr>
                        <a:t>&lt;?</a:t>
                      </a:r>
                      <a:r>
                        <a:rPr lang="en-US" sz="1800" dirty="0" err="1" smtClean="0">
                          <a:solidFill>
                            <a:srgbClr val="FF0000"/>
                          </a:solidFill>
                        </a:rPr>
                        <a:t>php</a:t>
                      </a:r>
                      <a:endParaRPr lang="en-US" sz="1800" dirty="0" smtClean="0">
                        <a:solidFill>
                          <a:srgbClr val="FF0000"/>
                        </a:solidFill>
                      </a:endParaRPr>
                    </a:p>
                    <a:p>
                      <a:pPr>
                        <a:spcAft>
                          <a:spcPts val="1000"/>
                        </a:spcAft>
                        <a:buNone/>
                      </a:pPr>
                      <a:r>
                        <a:rPr lang="en-US" sz="1800" b="1" dirty="0" smtClean="0">
                          <a:solidFill>
                            <a:schemeClr val="tx1"/>
                          </a:solidFill>
                        </a:rPr>
                        <a:t>require("</a:t>
                      </a:r>
                      <a:r>
                        <a:rPr lang="en-US" sz="1800" b="1" dirty="0" err="1" smtClean="0">
                          <a:solidFill>
                            <a:schemeClr val="tx1"/>
                          </a:solidFill>
                        </a:rPr>
                        <a:t>constants.php</a:t>
                      </a:r>
                      <a:r>
                        <a:rPr lang="en-US" sz="1800" b="1" dirty="0" smtClean="0">
                          <a:solidFill>
                            <a:schemeClr val="tx1"/>
                          </a:solidFill>
                        </a:rPr>
                        <a:t>");</a:t>
                      </a:r>
                    </a:p>
                    <a:p>
                      <a:pPr>
                        <a:spcAft>
                          <a:spcPts val="1000"/>
                        </a:spcAft>
                        <a:buNone/>
                      </a:pPr>
                      <a:r>
                        <a:rPr lang="en-US" sz="1400" dirty="0" smtClean="0">
                          <a:solidFill>
                            <a:schemeClr val="tx1"/>
                          </a:solidFill>
                        </a:rPr>
                        <a:t>// 1. Create connection</a:t>
                      </a:r>
                      <a:br>
                        <a:rPr lang="en-US" sz="1400" dirty="0" smtClean="0">
                          <a:solidFill>
                            <a:schemeClr val="tx1"/>
                          </a:solidFill>
                        </a:rPr>
                      </a:br>
                      <a:r>
                        <a:rPr lang="en-US" sz="1400" dirty="0" smtClean="0">
                          <a:solidFill>
                            <a:schemeClr val="tx1"/>
                          </a:solidFill>
                        </a:rPr>
                        <a:t>$con=</a:t>
                      </a:r>
                      <a:r>
                        <a:rPr lang="en-US" sz="1400" dirty="0" err="1" smtClean="0">
                          <a:solidFill>
                            <a:schemeClr val="tx1"/>
                          </a:solidFill>
                        </a:rPr>
                        <a:t>mysqli_connect</a:t>
                      </a:r>
                      <a:r>
                        <a:rPr lang="en-US" sz="1400" dirty="0" smtClean="0">
                          <a:solidFill>
                            <a:schemeClr val="tx1"/>
                          </a:solidFill>
                        </a:rPr>
                        <a:t>(DB_SERVER,DB_USER,DB_PASS,DB_NAME);</a:t>
                      </a:r>
                      <a:br>
                        <a:rPr lang="en-US" sz="1400" dirty="0" smtClean="0">
                          <a:solidFill>
                            <a:schemeClr val="tx1"/>
                          </a:solidFill>
                        </a:rPr>
                      </a:br>
                      <a:r>
                        <a:rPr lang="en-US" sz="1400" dirty="0" smtClean="0">
                          <a:solidFill>
                            <a:schemeClr val="tx1"/>
                          </a:solidFill>
                        </a:rPr>
                        <a:t/>
                      </a:r>
                      <a:br>
                        <a:rPr lang="en-US" sz="1400" dirty="0" smtClean="0">
                          <a:solidFill>
                            <a:schemeClr val="tx1"/>
                          </a:solidFill>
                        </a:rPr>
                      </a:br>
                      <a:r>
                        <a:rPr lang="en-US" sz="1400" dirty="0" smtClean="0">
                          <a:solidFill>
                            <a:schemeClr val="tx1"/>
                          </a:solidFill>
                        </a:rPr>
                        <a:t>// 2. Check connection</a:t>
                      </a:r>
                      <a:br>
                        <a:rPr lang="en-US" sz="1400" dirty="0" smtClean="0">
                          <a:solidFill>
                            <a:schemeClr val="tx1"/>
                          </a:solidFill>
                        </a:rPr>
                      </a:br>
                      <a:r>
                        <a:rPr lang="en-US" sz="1400" dirty="0" smtClean="0">
                          <a:solidFill>
                            <a:schemeClr val="tx1"/>
                          </a:solidFill>
                        </a:rPr>
                        <a:t>if (</a:t>
                      </a:r>
                      <a:r>
                        <a:rPr lang="en-US" sz="1400" dirty="0" err="1" smtClean="0">
                          <a:solidFill>
                            <a:schemeClr val="tx1"/>
                          </a:solidFill>
                        </a:rPr>
                        <a:t>mysqli_connect_errno</a:t>
                      </a:r>
                      <a:r>
                        <a:rPr lang="en-US" sz="1400" dirty="0" smtClean="0">
                          <a:solidFill>
                            <a:schemeClr val="tx1"/>
                          </a:solidFill>
                        </a:rPr>
                        <a:t>()) {</a:t>
                      </a:r>
                      <a:br>
                        <a:rPr lang="en-US" sz="1400" dirty="0" smtClean="0">
                          <a:solidFill>
                            <a:schemeClr val="tx1"/>
                          </a:solidFill>
                        </a:rPr>
                      </a:br>
                      <a:r>
                        <a:rPr lang="en-US" sz="1400" dirty="0" smtClean="0">
                          <a:solidFill>
                            <a:schemeClr val="tx1"/>
                          </a:solidFill>
                        </a:rPr>
                        <a:t>  echo "Failed to connect to MySQL: " . </a:t>
                      </a:r>
                      <a:r>
                        <a:rPr lang="en-US" sz="1400" dirty="0" err="1" smtClean="0">
                          <a:solidFill>
                            <a:schemeClr val="tx1"/>
                          </a:solidFill>
                        </a:rPr>
                        <a:t>mysqli_connect_error</a:t>
                      </a:r>
                      <a:r>
                        <a:rPr lang="en-US" sz="1400" dirty="0" smtClean="0">
                          <a:solidFill>
                            <a:schemeClr val="tx1"/>
                          </a:solidFill>
                        </a:rPr>
                        <a:t>();</a:t>
                      </a:r>
                      <a:br>
                        <a:rPr lang="en-US" sz="1400" dirty="0" smtClean="0">
                          <a:solidFill>
                            <a:schemeClr val="tx1"/>
                          </a:solidFill>
                        </a:rPr>
                      </a:br>
                      <a:r>
                        <a:rPr lang="en-US" sz="1400" dirty="0" smtClean="0">
                          <a:solidFill>
                            <a:schemeClr val="tx1"/>
                          </a:solidFill>
                        </a:rPr>
                        <a:t>}</a:t>
                      </a:r>
                      <a:r>
                        <a:rPr lang="en-US" sz="1400" dirty="0" smtClean="0"/>
                        <a:t/>
                      </a:r>
                      <a:br>
                        <a:rPr lang="en-US" sz="1400" dirty="0" smtClean="0"/>
                      </a:br>
                      <a:endParaRPr lang="en-SG" dirty="0"/>
                    </a:p>
                  </a:txBody>
                  <a:tcPr>
                    <a:solidFill>
                      <a:srgbClr val="FFFF00"/>
                    </a:solidFill>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Including </a:t>
            </a:r>
            <a:r>
              <a:rPr lang="en-US" sz="3600" dirty="0" err="1" smtClean="0"/>
              <a:t>Connection.php</a:t>
            </a:r>
            <a:r>
              <a:rPr lang="en-US" sz="3600" dirty="0" smtClean="0"/>
              <a:t> in your files</a:t>
            </a:r>
            <a:endParaRPr lang="en-US" sz="3600" dirty="0"/>
          </a:p>
        </p:txBody>
      </p:sp>
      <p:sp>
        <p:nvSpPr>
          <p:cNvPr id="3" name="Content Placeholder 2"/>
          <p:cNvSpPr>
            <a:spLocks noGrp="1"/>
          </p:cNvSpPr>
          <p:nvPr>
            <p:ph idx="1"/>
          </p:nvPr>
        </p:nvSpPr>
        <p:spPr>
          <a:xfrm>
            <a:off x="304800" y="1371600"/>
            <a:ext cx="8077200" cy="1295400"/>
          </a:xfrm>
        </p:spPr>
        <p:txBody>
          <a:bodyPr>
            <a:noAutofit/>
          </a:bodyPr>
          <a:lstStyle/>
          <a:p>
            <a:pPr>
              <a:spcAft>
                <a:spcPts val="1000"/>
              </a:spcAft>
              <a:buNone/>
            </a:pPr>
            <a:r>
              <a:rPr lang="en-US" sz="2000" dirty="0" smtClean="0"/>
              <a:t>	These </a:t>
            </a:r>
            <a:r>
              <a:rPr lang="en-US" sz="2000" dirty="0" err="1" smtClean="0"/>
              <a:t>connection.php</a:t>
            </a:r>
            <a:r>
              <a:rPr lang="en-US" sz="2000" dirty="0" smtClean="0"/>
              <a:t> and other useful files are usually included at the beginning of your </a:t>
            </a:r>
            <a:r>
              <a:rPr lang="en-US" sz="2000" dirty="0" err="1" smtClean="0"/>
              <a:t>php</a:t>
            </a:r>
            <a:r>
              <a:rPr lang="en-US" sz="2000" dirty="0" smtClean="0"/>
              <a:t> files</a:t>
            </a:r>
          </a:p>
          <a:p>
            <a:pPr>
              <a:spcAft>
                <a:spcPts val="1000"/>
              </a:spcAft>
              <a:buNone/>
            </a:pPr>
            <a:r>
              <a:rPr lang="en-US" sz="2000" dirty="0" smtClean="0"/>
              <a:t>	                             </a:t>
            </a:r>
            <a:r>
              <a:rPr lang="en-US" sz="2000" dirty="0" err="1" smtClean="0"/>
              <a:t>Insert</a:t>
            </a:r>
            <a:r>
              <a:rPr lang="en-US" sz="2000" i="1" dirty="0" err="1" smtClean="0"/>
              <a:t>.php</a:t>
            </a:r>
            <a:endParaRPr lang="en-US" sz="2000" i="1"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7</a:t>
            </a:fld>
            <a:endParaRPr lang="en-US"/>
          </a:p>
        </p:txBody>
      </p:sp>
      <p:graphicFrame>
        <p:nvGraphicFramePr>
          <p:cNvPr id="6" name="Table 5"/>
          <p:cNvGraphicFramePr>
            <a:graphicFrameLocks noGrp="1"/>
          </p:cNvGraphicFramePr>
          <p:nvPr/>
        </p:nvGraphicFramePr>
        <p:xfrm>
          <a:off x="228600" y="2514600"/>
          <a:ext cx="5334000" cy="2387600"/>
        </p:xfrm>
        <a:graphic>
          <a:graphicData uri="http://schemas.openxmlformats.org/drawingml/2006/table">
            <a:tbl>
              <a:tblPr firstRow="1" bandRow="1">
                <a:tableStyleId>{5C22544A-7EE6-4342-B048-85BDC9FD1C3A}</a:tableStyleId>
              </a:tblPr>
              <a:tblGrid>
                <a:gridCol w="5334000"/>
              </a:tblGrid>
              <a:tr h="1828800">
                <a:tc>
                  <a:txBody>
                    <a:bodyPr/>
                    <a:lstStyle/>
                    <a:p>
                      <a:pPr>
                        <a:spcAft>
                          <a:spcPts val="1000"/>
                        </a:spcAft>
                        <a:buNone/>
                      </a:pPr>
                      <a:r>
                        <a:rPr lang="en-US" sz="1800" dirty="0" smtClean="0">
                          <a:solidFill>
                            <a:srgbClr val="FF0000"/>
                          </a:solidFill>
                        </a:rPr>
                        <a:t>&lt;?</a:t>
                      </a:r>
                      <a:r>
                        <a:rPr lang="en-US" sz="1800" dirty="0" err="1" smtClean="0">
                          <a:solidFill>
                            <a:srgbClr val="FF0000"/>
                          </a:solidFill>
                        </a:rPr>
                        <a:t>php</a:t>
                      </a:r>
                      <a:r>
                        <a:rPr lang="en-US" sz="1800" dirty="0" smtClean="0">
                          <a:solidFill>
                            <a:srgbClr val="FF0000"/>
                          </a:solidFill>
                        </a:rPr>
                        <a:t>  </a:t>
                      </a:r>
                      <a:r>
                        <a:rPr lang="en-US" sz="1800" dirty="0" err="1" smtClean="0">
                          <a:solidFill>
                            <a:srgbClr val="FF0000"/>
                          </a:solidFill>
                        </a:rPr>
                        <a:t>require_once</a:t>
                      </a:r>
                      <a:r>
                        <a:rPr lang="en-US" sz="1800" dirty="0" smtClean="0">
                          <a:solidFill>
                            <a:srgbClr val="FF0000"/>
                          </a:solidFill>
                        </a:rPr>
                        <a:t>("includes/</a:t>
                      </a:r>
                      <a:r>
                        <a:rPr lang="en-US" sz="1800" dirty="0" err="1" smtClean="0">
                          <a:solidFill>
                            <a:srgbClr val="FF0000"/>
                          </a:solidFill>
                        </a:rPr>
                        <a:t>connection.php</a:t>
                      </a:r>
                      <a:r>
                        <a:rPr lang="en-US" sz="1800" dirty="0" smtClean="0">
                          <a:solidFill>
                            <a:srgbClr val="FF0000"/>
                          </a:solidFill>
                        </a:rPr>
                        <a:t>"); ?&gt;</a:t>
                      </a:r>
                    </a:p>
                    <a:p>
                      <a:pPr>
                        <a:spcAft>
                          <a:spcPts val="1000"/>
                        </a:spcAft>
                        <a:buNone/>
                      </a:pPr>
                      <a:r>
                        <a:rPr lang="en-US" sz="1800" dirty="0" smtClean="0">
                          <a:solidFill>
                            <a:schemeClr val="tx1">
                              <a:lumMod val="75000"/>
                              <a:lumOff val="25000"/>
                            </a:schemeClr>
                          </a:solidFill>
                        </a:rPr>
                        <a:t>&lt;?</a:t>
                      </a:r>
                      <a:r>
                        <a:rPr lang="en-US" sz="1800" dirty="0" err="1" smtClean="0">
                          <a:solidFill>
                            <a:schemeClr val="tx1">
                              <a:lumMod val="75000"/>
                              <a:lumOff val="25000"/>
                            </a:schemeClr>
                          </a:solidFill>
                        </a:rPr>
                        <a:t>php</a:t>
                      </a:r>
                      <a:r>
                        <a:rPr lang="en-US" sz="1800" dirty="0" smtClean="0">
                          <a:solidFill>
                            <a:schemeClr val="tx1">
                              <a:lumMod val="75000"/>
                              <a:lumOff val="25000"/>
                            </a:schemeClr>
                          </a:solidFill>
                        </a:rPr>
                        <a:t> </a:t>
                      </a:r>
                      <a:r>
                        <a:rPr lang="en-US" sz="1800" dirty="0" err="1" smtClean="0">
                          <a:solidFill>
                            <a:schemeClr val="tx1">
                              <a:lumMod val="75000"/>
                              <a:lumOff val="25000"/>
                            </a:schemeClr>
                          </a:solidFill>
                        </a:rPr>
                        <a:t>require_once</a:t>
                      </a:r>
                      <a:r>
                        <a:rPr lang="en-US" sz="1800" dirty="0" smtClean="0">
                          <a:solidFill>
                            <a:schemeClr val="tx1">
                              <a:lumMod val="75000"/>
                              <a:lumOff val="25000"/>
                            </a:schemeClr>
                          </a:solidFill>
                        </a:rPr>
                        <a:t>("includes/</a:t>
                      </a:r>
                      <a:r>
                        <a:rPr lang="en-US" sz="1800" dirty="0" err="1" smtClean="0">
                          <a:solidFill>
                            <a:schemeClr val="tx1">
                              <a:lumMod val="75000"/>
                              <a:lumOff val="25000"/>
                            </a:schemeClr>
                          </a:solidFill>
                        </a:rPr>
                        <a:t>functions.php</a:t>
                      </a:r>
                      <a:r>
                        <a:rPr lang="en-US" sz="1800" dirty="0" smtClean="0">
                          <a:solidFill>
                            <a:schemeClr val="tx1">
                              <a:lumMod val="75000"/>
                              <a:lumOff val="25000"/>
                            </a:schemeClr>
                          </a:solidFill>
                        </a:rPr>
                        <a:t>");?&gt;</a:t>
                      </a:r>
                    </a:p>
                    <a:p>
                      <a:pPr>
                        <a:spcAft>
                          <a:spcPts val="1000"/>
                        </a:spcAft>
                        <a:buNone/>
                      </a:pPr>
                      <a:r>
                        <a:rPr lang="en-US" sz="1100" dirty="0" smtClean="0">
                          <a:solidFill>
                            <a:schemeClr val="tx1">
                              <a:lumMod val="75000"/>
                              <a:lumOff val="25000"/>
                            </a:schemeClr>
                          </a:solidFill>
                        </a:rPr>
                        <a:t>&lt;?</a:t>
                      </a:r>
                      <a:r>
                        <a:rPr lang="en-US" sz="1100" dirty="0" err="1" smtClean="0">
                          <a:solidFill>
                            <a:schemeClr val="tx1">
                              <a:lumMod val="75000"/>
                              <a:lumOff val="25000"/>
                            </a:schemeClr>
                          </a:solidFill>
                        </a:rPr>
                        <a:t>php</a:t>
                      </a:r>
                      <a:endParaRPr lang="en-US" sz="1100" dirty="0" smtClean="0">
                        <a:solidFill>
                          <a:schemeClr val="tx1">
                            <a:lumMod val="75000"/>
                            <a:lumOff val="25000"/>
                          </a:schemeClr>
                        </a:solidFill>
                      </a:endParaRPr>
                    </a:p>
                    <a:p>
                      <a:pPr>
                        <a:spcAft>
                          <a:spcPts val="1000"/>
                        </a:spcAft>
                        <a:buNone/>
                      </a:pPr>
                      <a:r>
                        <a:rPr lang="en-US" sz="1100" dirty="0" smtClean="0">
                          <a:solidFill>
                            <a:schemeClr val="tx1">
                              <a:lumMod val="75000"/>
                              <a:lumOff val="25000"/>
                            </a:schemeClr>
                          </a:solidFill>
                        </a:rPr>
                        <a:t>$</a:t>
                      </a:r>
                      <a:r>
                        <a:rPr lang="en-US" sz="1100" dirty="0" err="1" smtClean="0">
                          <a:solidFill>
                            <a:schemeClr val="tx1">
                              <a:lumMod val="75000"/>
                              <a:lumOff val="25000"/>
                            </a:schemeClr>
                          </a:solidFill>
                        </a:rPr>
                        <a:t>sql</a:t>
                      </a:r>
                      <a:r>
                        <a:rPr lang="en-US" sz="1100" dirty="0" smtClean="0">
                          <a:solidFill>
                            <a:schemeClr val="tx1">
                              <a:lumMod val="75000"/>
                              <a:lumOff val="25000"/>
                            </a:schemeClr>
                          </a:solidFill>
                        </a:rPr>
                        <a:t>="INSERT INTO Persons (</a:t>
                      </a:r>
                      <a:r>
                        <a:rPr lang="en-US" sz="1100" dirty="0" err="1" smtClean="0">
                          <a:solidFill>
                            <a:schemeClr val="tx1">
                              <a:lumMod val="75000"/>
                              <a:lumOff val="25000"/>
                            </a:schemeClr>
                          </a:solidFill>
                        </a:rPr>
                        <a:t>AdminNo</a:t>
                      </a:r>
                      <a:r>
                        <a:rPr lang="en-US" sz="1100" dirty="0" smtClean="0">
                          <a:solidFill>
                            <a:schemeClr val="tx1">
                              <a:lumMod val="75000"/>
                              <a:lumOff val="25000"/>
                            </a:schemeClr>
                          </a:solidFill>
                        </a:rPr>
                        <a:t>, Address, Gender, Email, Contact, Age)VALUES('$_POST[</a:t>
                      </a:r>
                      <a:r>
                        <a:rPr lang="en-US" sz="1100" dirty="0" err="1" smtClean="0">
                          <a:solidFill>
                            <a:schemeClr val="tx1">
                              <a:lumMod val="75000"/>
                              <a:lumOff val="25000"/>
                            </a:schemeClr>
                          </a:solidFill>
                        </a:rPr>
                        <a:t>pAdminNo</a:t>
                      </a:r>
                      <a:r>
                        <a:rPr lang="en-US" sz="1100" dirty="0" smtClean="0">
                          <a:solidFill>
                            <a:schemeClr val="tx1">
                              <a:lumMod val="75000"/>
                              <a:lumOff val="25000"/>
                            </a:schemeClr>
                          </a:solidFill>
                        </a:rPr>
                        <a:t>]','$_POST[</a:t>
                      </a:r>
                      <a:r>
                        <a:rPr lang="en-US" sz="1100" dirty="0" err="1" smtClean="0">
                          <a:solidFill>
                            <a:schemeClr val="tx1">
                              <a:lumMod val="75000"/>
                              <a:lumOff val="25000"/>
                            </a:schemeClr>
                          </a:solidFill>
                        </a:rPr>
                        <a:t>pAddress</a:t>
                      </a:r>
                      <a:r>
                        <a:rPr lang="en-US" sz="1100" dirty="0" smtClean="0">
                          <a:solidFill>
                            <a:schemeClr val="tx1">
                              <a:lumMod val="75000"/>
                              <a:lumOff val="25000"/>
                            </a:schemeClr>
                          </a:solidFill>
                        </a:rPr>
                        <a:t>]','$_POST[</a:t>
                      </a:r>
                      <a:r>
                        <a:rPr lang="en-US" sz="1100" dirty="0" err="1" smtClean="0">
                          <a:solidFill>
                            <a:schemeClr val="tx1">
                              <a:lumMod val="75000"/>
                              <a:lumOff val="25000"/>
                            </a:schemeClr>
                          </a:solidFill>
                        </a:rPr>
                        <a:t>pGender</a:t>
                      </a:r>
                      <a:r>
                        <a:rPr lang="en-US" sz="1100" dirty="0" smtClean="0">
                          <a:solidFill>
                            <a:schemeClr val="tx1">
                              <a:lumMod val="75000"/>
                              <a:lumOff val="25000"/>
                            </a:schemeClr>
                          </a:solidFill>
                        </a:rPr>
                        <a:t>]','$_POST[</a:t>
                      </a:r>
                      <a:r>
                        <a:rPr lang="en-US" sz="1100" dirty="0" err="1" smtClean="0">
                          <a:solidFill>
                            <a:schemeClr val="tx1">
                              <a:lumMod val="75000"/>
                              <a:lumOff val="25000"/>
                            </a:schemeClr>
                          </a:solidFill>
                        </a:rPr>
                        <a:t>pEmail</a:t>
                      </a:r>
                      <a:r>
                        <a:rPr lang="en-US" sz="1100" dirty="0" smtClean="0">
                          <a:solidFill>
                            <a:schemeClr val="tx1">
                              <a:lumMod val="75000"/>
                              <a:lumOff val="25000"/>
                            </a:schemeClr>
                          </a:solidFill>
                        </a:rPr>
                        <a:t>]','$_POST[</a:t>
                      </a:r>
                      <a:r>
                        <a:rPr lang="en-US" sz="1100" dirty="0" err="1" smtClean="0">
                          <a:solidFill>
                            <a:schemeClr val="tx1">
                              <a:lumMod val="75000"/>
                              <a:lumOff val="25000"/>
                            </a:schemeClr>
                          </a:solidFill>
                        </a:rPr>
                        <a:t>pContact</a:t>
                      </a:r>
                      <a:r>
                        <a:rPr lang="en-US" sz="1100" dirty="0" smtClean="0">
                          <a:solidFill>
                            <a:schemeClr val="tx1">
                              <a:lumMod val="75000"/>
                              <a:lumOff val="25000"/>
                            </a:schemeClr>
                          </a:solidFill>
                        </a:rPr>
                        <a:t>]', '$_POST[</a:t>
                      </a:r>
                      <a:r>
                        <a:rPr lang="en-US" sz="1100" dirty="0" err="1" smtClean="0">
                          <a:solidFill>
                            <a:schemeClr val="tx1">
                              <a:lumMod val="75000"/>
                              <a:lumOff val="25000"/>
                            </a:schemeClr>
                          </a:solidFill>
                        </a:rPr>
                        <a:t>pAge</a:t>
                      </a:r>
                      <a:r>
                        <a:rPr lang="en-US" sz="1100" dirty="0" smtClean="0">
                          <a:solidFill>
                            <a:schemeClr val="tx1">
                              <a:lumMod val="75000"/>
                              <a:lumOff val="25000"/>
                            </a:schemeClr>
                          </a:solidFill>
                        </a:rPr>
                        <a:t>]')";</a:t>
                      </a:r>
                    </a:p>
                    <a:p>
                      <a:pPr>
                        <a:spcAft>
                          <a:spcPts val="1000"/>
                        </a:spcAft>
                        <a:buNone/>
                      </a:pPr>
                      <a:r>
                        <a:rPr lang="en-US" sz="1100" dirty="0" smtClean="0">
                          <a:solidFill>
                            <a:schemeClr val="tx1">
                              <a:lumMod val="75000"/>
                              <a:lumOff val="25000"/>
                            </a:schemeClr>
                          </a:solidFill>
                        </a:rPr>
                        <a:t>//executes query ….</a:t>
                      </a:r>
                    </a:p>
                    <a:p>
                      <a:pPr>
                        <a:spcAft>
                          <a:spcPts val="1000"/>
                        </a:spcAft>
                        <a:buNone/>
                      </a:pPr>
                      <a:r>
                        <a:rPr lang="en-US" dirty="0" smtClean="0">
                          <a:solidFill>
                            <a:schemeClr val="tx1">
                              <a:lumMod val="75000"/>
                              <a:lumOff val="25000"/>
                            </a:schemeClr>
                          </a:solidFill>
                        </a:rPr>
                        <a:t>?&gt;</a:t>
                      </a:r>
                      <a:endParaRPr lang="en-SG" dirty="0">
                        <a:solidFill>
                          <a:schemeClr val="tx1">
                            <a:lumMod val="75000"/>
                            <a:lumOff val="25000"/>
                          </a:schemeClr>
                        </a:solidFill>
                      </a:endParaRPr>
                    </a:p>
                  </a:txBody>
                  <a:tcPr>
                    <a:solidFill>
                      <a:srgbClr val="FFFF00"/>
                    </a:solidFill>
                  </a:tcPr>
                </a:tc>
              </a:tr>
            </a:tbl>
          </a:graphicData>
        </a:graphic>
      </p:graphicFrame>
      <p:graphicFrame>
        <p:nvGraphicFramePr>
          <p:cNvPr id="7" name="Table 6"/>
          <p:cNvGraphicFramePr>
            <a:graphicFrameLocks noGrp="1"/>
          </p:cNvGraphicFramePr>
          <p:nvPr/>
        </p:nvGraphicFramePr>
        <p:xfrm>
          <a:off x="3429000" y="4495800"/>
          <a:ext cx="5257800" cy="1981200"/>
        </p:xfrm>
        <a:graphic>
          <a:graphicData uri="http://schemas.openxmlformats.org/drawingml/2006/table">
            <a:tbl>
              <a:tblPr firstRow="1" bandRow="1">
                <a:tableStyleId>{5C22544A-7EE6-4342-B048-85BDC9FD1C3A}</a:tableStyleId>
              </a:tblPr>
              <a:tblGrid>
                <a:gridCol w="5257800"/>
              </a:tblGrid>
              <a:tr h="1981200">
                <a:tc>
                  <a:txBody>
                    <a:bodyPr/>
                    <a:lstStyle/>
                    <a:p>
                      <a:pPr>
                        <a:spcAft>
                          <a:spcPts val="1000"/>
                        </a:spcAft>
                        <a:buNone/>
                      </a:pPr>
                      <a:r>
                        <a:rPr lang="en-SG" sz="1800" dirty="0" smtClean="0">
                          <a:solidFill>
                            <a:srgbClr val="FF0000"/>
                          </a:solidFill>
                        </a:rPr>
                        <a:t>&lt;?</a:t>
                      </a:r>
                      <a:r>
                        <a:rPr lang="en-SG" sz="1800" dirty="0" err="1" smtClean="0">
                          <a:solidFill>
                            <a:srgbClr val="FF0000"/>
                          </a:solidFill>
                        </a:rPr>
                        <a:t>php</a:t>
                      </a:r>
                      <a:r>
                        <a:rPr lang="en-SG" sz="1800" dirty="0" smtClean="0">
                          <a:solidFill>
                            <a:srgbClr val="FF0000"/>
                          </a:solidFill>
                        </a:rPr>
                        <a:t> </a:t>
                      </a:r>
                      <a:r>
                        <a:rPr lang="en-SG" sz="1800" dirty="0" err="1" smtClean="0">
                          <a:solidFill>
                            <a:srgbClr val="FF0000"/>
                          </a:solidFill>
                        </a:rPr>
                        <a:t>require_once</a:t>
                      </a:r>
                      <a:r>
                        <a:rPr lang="en-SG" sz="1800" dirty="0" smtClean="0">
                          <a:solidFill>
                            <a:srgbClr val="FF0000"/>
                          </a:solidFill>
                        </a:rPr>
                        <a:t>("includes/</a:t>
                      </a:r>
                      <a:r>
                        <a:rPr lang="en-SG" sz="1800" dirty="0" err="1" smtClean="0">
                          <a:solidFill>
                            <a:srgbClr val="FF0000"/>
                          </a:solidFill>
                        </a:rPr>
                        <a:t>connection.php</a:t>
                      </a:r>
                      <a:r>
                        <a:rPr lang="en-SG" sz="1800" dirty="0" smtClean="0">
                          <a:solidFill>
                            <a:srgbClr val="FF0000"/>
                          </a:solidFill>
                        </a:rPr>
                        <a:t>"); ?&gt;</a:t>
                      </a:r>
                    </a:p>
                    <a:p>
                      <a:pPr>
                        <a:spcAft>
                          <a:spcPts val="1000"/>
                        </a:spcAft>
                        <a:buNone/>
                      </a:pPr>
                      <a:r>
                        <a:rPr lang="en-SG" sz="1800" dirty="0" smtClean="0">
                          <a:solidFill>
                            <a:schemeClr val="tx1">
                              <a:lumMod val="75000"/>
                              <a:lumOff val="25000"/>
                            </a:schemeClr>
                          </a:solidFill>
                        </a:rPr>
                        <a:t>&lt;?</a:t>
                      </a:r>
                      <a:r>
                        <a:rPr lang="en-SG" sz="1800" dirty="0" err="1" smtClean="0">
                          <a:solidFill>
                            <a:schemeClr val="tx1">
                              <a:lumMod val="75000"/>
                              <a:lumOff val="25000"/>
                            </a:schemeClr>
                          </a:solidFill>
                        </a:rPr>
                        <a:t>php</a:t>
                      </a:r>
                      <a:r>
                        <a:rPr lang="en-SG" sz="1800" dirty="0" smtClean="0">
                          <a:solidFill>
                            <a:schemeClr val="tx1">
                              <a:lumMod val="75000"/>
                              <a:lumOff val="25000"/>
                            </a:schemeClr>
                          </a:solidFill>
                        </a:rPr>
                        <a:t> </a:t>
                      </a:r>
                      <a:r>
                        <a:rPr lang="en-SG" sz="1800" dirty="0" err="1" smtClean="0">
                          <a:solidFill>
                            <a:schemeClr val="tx1">
                              <a:lumMod val="75000"/>
                              <a:lumOff val="25000"/>
                            </a:schemeClr>
                          </a:solidFill>
                        </a:rPr>
                        <a:t>require_once</a:t>
                      </a:r>
                      <a:r>
                        <a:rPr lang="en-SG" sz="1800" dirty="0" smtClean="0">
                          <a:solidFill>
                            <a:schemeClr val="tx1">
                              <a:lumMod val="75000"/>
                              <a:lumOff val="25000"/>
                            </a:schemeClr>
                          </a:solidFill>
                        </a:rPr>
                        <a:t>("includes/</a:t>
                      </a:r>
                      <a:r>
                        <a:rPr lang="en-SG" sz="1800" dirty="0" err="1" smtClean="0">
                          <a:solidFill>
                            <a:schemeClr val="tx1">
                              <a:lumMod val="75000"/>
                              <a:lumOff val="25000"/>
                            </a:schemeClr>
                          </a:solidFill>
                        </a:rPr>
                        <a:t>functions.php</a:t>
                      </a:r>
                      <a:r>
                        <a:rPr lang="en-SG" sz="1800" dirty="0" smtClean="0">
                          <a:solidFill>
                            <a:schemeClr val="tx1">
                              <a:lumMod val="75000"/>
                              <a:lumOff val="25000"/>
                            </a:schemeClr>
                          </a:solidFill>
                        </a:rPr>
                        <a:t>"); ?&gt;</a:t>
                      </a:r>
                    </a:p>
                    <a:p>
                      <a:pPr>
                        <a:spcAft>
                          <a:spcPts val="1000"/>
                        </a:spcAft>
                        <a:buNone/>
                      </a:pPr>
                      <a:r>
                        <a:rPr lang="en-SG" sz="1800" dirty="0" smtClean="0">
                          <a:solidFill>
                            <a:schemeClr val="tx1">
                              <a:lumMod val="75000"/>
                              <a:lumOff val="25000"/>
                            </a:schemeClr>
                          </a:solidFill>
                        </a:rPr>
                        <a:t>&lt;!</a:t>
                      </a:r>
                      <a:r>
                        <a:rPr lang="en-SG" sz="1800" dirty="0" err="1" smtClean="0">
                          <a:solidFill>
                            <a:schemeClr val="tx1">
                              <a:lumMod val="75000"/>
                              <a:lumOff val="25000"/>
                            </a:schemeClr>
                          </a:solidFill>
                        </a:rPr>
                        <a:t>DOCTYPE</a:t>
                      </a:r>
                      <a:r>
                        <a:rPr lang="en-SG" sz="1800" dirty="0" smtClean="0">
                          <a:solidFill>
                            <a:schemeClr val="tx1">
                              <a:lumMod val="75000"/>
                              <a:lumOff val="25000"/>
                            </a:schemeClr>
                          </a:solidFill>
                        </a:rPr>
                        <a:t> HTML&gt;</a:t>
                      </a:r>
                    </a:p>
                    <a:p>
                      <a:pPr>
                        <a:spcAft>
                          <a:spcPts val="1000"/>
                        </a:spcAft>
                        <a:buNone/>
                      </a:pPr>
                      <a:r>
                        <a:rPr lang="en-SG" sz="1800" dirty="0" smtClean="0">
                          <a:solidFill>
                            <a:schemeClr val="tx1">
                              <a:lumMod val="75000"/>
                              <a:lumOff val="25000"/>
                            </a:schemeClr>
                          </a:solidFill>
                        </a:rPr>
                        <a:t>&lt;html&gt;&lt;head&gt;</a:t>
                      </a:r>
                    </a:p>
                    <a:p>
                      <a:pPr>
                        <a:spcAft>
                          <a:spcPts val="1000"/>
                        </a:spcAft>
                        <a:buNone/>
                      </a:pPr>
                      <a:r>
                        <a:rPr lang="en-US" sz="1800" dirty="0" smtClean="0">
                          <a:solidFill>
                            <a:schemeClr val="tx1">
                              <a:lumMod val="75000"/>
                              <a:lumOff val="25000"/>
                            </a:schemeClr>
                          </a:solidFill>
                        </a:rPr>
                        <a:t>……….</a:t>
                      </a:r>
                      <a:endParaRPr lang="en-SG" dirty="0">
                        <a:solidFill>
                          <a:schemeClr val="tx1">
                            <a:lumMod val="75000"/>
                            <a:lumOff val="25000"/>
                          </a:schemeClr>
                        </a:solidFill>
                      </a:endParaRPr>
                    </a:p>
                  </a:txBody>
                  <a:tcPr>
                    <a:solidFill>
                      <a:srgbClr val="FFFF00"/>
                    </a:solidFill>
                  </a:tcPr>
                </a:tc>
              </a:tr>
            </a:tbl>
          </a:graphicData>
        </a:graphic>
      </p:graphicFrame>
      <p:sp>
        <p:nvSpPr>
          <p:cNvPr id="8" name="TextBox 7"/>
          <p:cNvSpPr txBox="1"/>
          <p:nvPr/>
        </p:nvSpPr>
        <p:spPr>
          <a:xfrm>
            <a:off x="5943600" y="4114800"/>
            <a:ext cx="1171667" cy="369332"/>
          </a:xfrm>
          <a:prstGeom prst="rect">
            <a:avLst/>
          </a:prstGeom>
          <a:noFill/>
        </p:spPr>
        <p:txBody>
          <a:bodyPr wrap="none" rtlCol="0">
            <a:spAutoFit/>
          </a:bodyPr>
          <a:lstStyle/>
          <a:p>
            <a:r>
              <a:rPr lang="en-US" dirty="0" err="1" smtClean="0"/>
              <a:t>Page3.php</a:t>
            </a:r>
            <a:endParaRPr lang="en-SG"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Using </a:t>
            </a:r>
            <a:r>
              <a:rPr lang="en-US" sz="3600" dirty="0" err="1" smtClean="0"/>
              <a:t>Constants.php</a:t>
            </a:r>
            <a:endParaRPr lang="en-US" sz="3600" dirty="0"/>
          </a:p>
        </p:txBody>
      </p:sp>
      <p:sp>
        <p:nvSpPr>
          <p:cNvPr id="3" name="Content Placeholder 2"/>
          <p:cNvSpPr>
            <a:spLocks noGrp="1"/>
          </p:cNvSpPr>
          <p:nvPr>
            <p:ph idx="1"/>
          </p:nvPr>
        </p:nvSpPr>
        <p:spPr>
          <a:xfrm>
            <a:off x="381000" y="1600200"/>
            <a:ext cx="8077200" cy="2667000"/>
          </a:xfrm>
        </p:spPr>
        <p:txBody>
          <a:bodyPr>
            <a:noAutofit/>
          </a:bodyPr>
          <a:lstStyle/>
          <a:p>
            <a:pPr>
              <a:spcAft>
                <a:spcPts val="1000"/>
              </a:spcAft>
              <a:buNone/>
            </a:pPr>
            <a:r>
              <a:rPr lang="en-US" sz="2000" dirty="0" smtClean="0"/>
              <a:t>To make it easier for us to deal with</a:t>
            </a:r>
          </a:p>
          <a:p>
            <a:pPr>
              <a:spcAft>
                <a:spcPts val="1000"/>
              </a:spcAft>
              <a:buNone/>
            </a:pPr>
            <a:r>
              <a:rPr lang="en-US" sz="2000" dirty="0" smtClean="0"/>
              <a:t>For example we create a file </a:t>
            </a:r>
            <a:r>
              <a:rPr lang="en-US" sz="2000" dirty="0" err="1" smtClean="0"/>
              <a:t>constants.php</a:t>
            </a:r>
            <a:endParaRPr lang="en-US" sz="2000" dirty="0" smtClean="0"/>
          </a:p>
          <a:p>
            <a:pPr>
              <a:spcAft>
                <a:spcPts val="1000"/>
              </a:spcAft>
              <a:buNone/>
            </a:pPr>
            <a:endParaRPr lang="en-US" sz="2000" dirty="0" smtClean="0"/>
          </a:p>
          <a:p>
            <a:pPr>
              <a:spcAft>
                <a:spcPts val="1000"/>
              </a:spcAft>
              <a:buNone/>
            </a:pPr>
            <a:r>
              <a:rPr lang="en-US" sz="2000" dirty="0" smtClean="0"/>
              <a:t>                                      </a:t>
            </a:r>
            <a:r>
              <a:rPr lang="en-US" sz="2000" i="1" dirty="0" err="1" smtClean="0"/>
              <a:t>Constants.php</a:t>
            </a:r>
            <a:endParaRPr lang="en-US" sz="2000" i="1"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8</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342770607"/>
              </p:ext>
            </p:extLst>
          </p:nvPr>
        </p:nvGraphicFramePr>
        <p:xfrm>
          <a:off x="1066800" y="3429000"/>
          <a:ext cx="6096000" cy="3048000"/>
        </p:xfrm>
        <a:graphic>
          <a:graphicData uri="http://schemas.openxmlformats.org/drawingml/2006/table">
            <a:tbl>
              <a:tblPr firstRow="1" bandRow="1">
                <a:tableStyleId>{5C22544A-7EE6-4342-B048-85BDC9FD1C3A}</a:tableStyleId>
              </a:tblPr>
              <a:tblGrid>
                <a:gridCol w="6096000"/>
              </a:tblGrid>
              <a:tr h="3048000">
                <a:tc>
                  <a:txBody>
                    <a:bodyPr/>
                    <a:lstStyle/>
                    <a:p>
                      <a:pPr>
                        <a:spcAft>
                          <a:spcPts val="1000"/>
                        </a:spcAft>
                        <a:buNone/>
                      </a:pPr>
                      <a:r>
                        <a:rPr lang="en-US" sz="1800" dirty="0" smtClean="0">
                          <a:solidFill>
                            <a:srgbClr val="FF0000"/>
                          </a:solidFill>
                        </a:rPr>
                        <a:t>&lt;?</a:t>
                      </a:r>
                      <a:r>
                        <a:rPr lang="en-US" sz="1800" dirty="0" err="1" smtClean="0">
                          <a:solidFill>
                            <a:srgbClr val="FF0000"/>
                          </a:solidFill>
                        </a:rPr>
                        <a:t>php</a:t>
                      </a:r>
                      <a:endParaRPr lang="en-US" sz="1800" dirty="0" smtClean="0">
                        <a:solidFill>
                          <a:srgbClr val="FF0000"/>
                        </a:solidFill>
                      </a:endParaRPr>
                    </a:p>
                    <a:p>
                      <a:pPr>
                        <a:spcAft>
                          <a:spcPts val="1000"/>
                        </a:spcAft>
                        <a:buNone/>
                      </a:pPr>
                      <a:r>
                        <a:rPr lang="en-US" sz="1800" dirty="0" smtClean="0">
                          <a:solidFill>
                            <a:schemeClr val="tx1"/>
                          </a:solidFill>
                        </a:rPr>
                        <a:t>// Database Constants</a:t>
                      </a:r>
                    </a:p>
                    <a:p>
                      <a:pPr>
                        <a:spcAft>
                          <a:spcPts val="1000"/>
                        </a:spcAft>
                        <a:buNone/>
                      </a:pPr>
                      <a:r>
                        <a:rPr lang="en-US" sz="1800" dirty="0" smtClean="0">
                          <a:solidFill>
                            <a:schemeClr val="tx1"/>
                          </a:solidFill>
                        </a:rPr>
                        <a:t>define("</a:t>
                      </a:r>
                      <a:r>
                        <a:rPr lang="en-US" sz="1800" dirty="0" err="1" smtClean="0">
                          <a:solidFill>
                            <a:schemeClr val="tx1"/>
                          </a:solidFill>
                        </a:rPr>
                        <a:t>DB_SERVER</a:t>
                      </a:r>
                      <a:r>
                        <a:rPr lang="en-US" sz="1800" dirty="0" smtClean="0">
                          <a:solidFill>
                            <a:schemeClr val="tx1"/>
                          </a:solidFill>
                        </a:rPr>
                        <a:t>", "</a:t>
                      </a:r>
                      <a:r>
                        <a:rPr lang="en-US" sz="1800" dirty="0" err="1" smtClean="0">
                          <a:solidFill>
                            <a:schemeClr val="tx1"/>
                          </a:solidFill>
                        </a:rPr>
                        <a:t>localhost</a:t>
                      </a:r>
                      <a:r>
                        <a:rPr lang="en-US" sz="1800" dirty="0" smtClean="0">
                          <a:solidFill>
                            <a:schemeClr val="tx1"/>
                          </a:solidFill>
                        </a:rPr>
                        <a:t>");</a:t>
                      </a:r>
                    </a:p>
                    <a:p>
                      <a:pPr>
                        <a:spcAft>
                          <a:spcPts val="1000"/>
                        </a:spcAft>
                        <a:buNone/>
                      </a:pPr>
                      <a:r>
                        <a:rPr lang="en-US" sz="1800" dirty="0" smtClean="0">
                          <a:solidFill>
                            <a:schemeClr val="tx1"/>
                          </a:solidFill>
                        </a:rPr>
                        <a:t>define("</a:t>
                      </a:r>
                      <a:r>
                        <a:rPr lang="en-US" sz="1800" dirty="0" err="1" smtClean="0">
                          <a:solidFill>
                            <a:schemeClr val="tx1"/>
                          </a:solidFill>
                        </a:rPr>
                        <a:t>DB_USER</a:t>
                      </a:r>
                      <a:r>
                        <a:rPr lang="en-US" sz="1800" dirty="0" smtClean="0">
                          <a:solidFill>
                            <a:schemeClr val="tx1"/>
                          </a:solidFill>
                        </a:rPr>
                        <a:t>", "root");</a:t>
                      </a:r>
                    </a:p>
                    <a:p>
                      <a:pPr>
                        <a:spcAft>
                          <a:spcPts val="1000"/>
                        </a:spcAft>
                        <a:buNone/>
                      </a:pPr>
                      <a:r>
                        <a:rPr lang="en-US" sz="1800" dirty="0" smtClean="0">
                          <a:solidFill>
                            <a:schemeClr val="tx1"/>
                          </a:solidFill>
                        </a:rPr>
                        <a:t>define("</a:t>
                      </a:r>
                      <a:r>
                        <a:rPr lang="en-US" sz="1800" dirty="0" err="1" smtClean="0">
                          <a:solidFill>
                            <a:schemeClr val="tx1"/>
                          </a:solidFill>
                        </a:rPr>
                        <a:t>DB_PASS</a:t>
                      </a:r>
                      <a:r>
                        <a:rPr lang="en-US" sz="1800" dirty="0" smtClean="0">
                          <a:solidFill>
                            <a:schemeClr val="tx1"/>
                          </a:solidFill>
                        </a:rPr>
                        <a:t>", "");</a:t>
                      </a:r>
                    </a:p>
                    <a:p>
                      <a:pPr>
                        <a:spcAft>
                          <a:spcPts val="1000"/>
                        </a:spcAft>
                        <a:buNone/>
                      </a:pPr>
                      <a:r>
                        <a:rPr lang="en-US" sz="1800" dirty="0" smtClean="0">
                          <a:solidFill>
                            <a:schemeClr val="tx1"/>
                          </a:solidFill>
                        </a:rPr>
                        <a:t>define("DB_NAME", </a:t>
                      </a:r>
                      <a:r>
                        <a:rPr lang="en-US" sz="1800" dirty="0" smtClean="0">
                          <a:solidFill>
                            <a:schemeClr val="tx1"/>
                          </a:solidFill>
                        </a:rPr>
                        <a:t>“</a:t>
                      </a:r>
                      <a:r>
                        <a:rPr lang="en-US" sz="1800" dirty="0" err="1" smtClean="0">
                          <a:solidFill>
                            <a:schemeClr val="tx1"/>
                          </a:solidFill>
                        </a:rPr>
                        <a:t>my_db</a:t>
                      </a:r>
                      <a:r>
                        <a:rPr lang="en-US" sz="1800" dirty="0" smtClean="0">
                          <a:solidFill>
                            <a:schemeClr val="tx1"/>
                          </a:solidFill>
                        </a:rPr>
                        <a:t>");</a:t>
                      </a:r>
                      <a:endParaRPr lang="en-US" sz="1800" dirty="0" smtClean="0">
                        <a:solidFill>
                          <a:schemeClr val="tx1"/>
                        </a:solidFill>
                      </a:endParaRPr>
                    </a:p>
                    <a:p>
                      <a:pPr>
                        <a:spcAft>
                          <a:spcPts val="1000"/>
                        </a:spcAft>
                        <a:buNone/>
                      </a:pPr>
                      <a:r>
                        <a:rPr lang="en-US" sz="1800" dirty="0" smtClean="0">
                          <a:solidFill>
                            <a:srgbClr val="FF0000"/>
                          </a:solidFill>
                        </a:rPr>
                        <a:t>?&gt;</a:t>
                      </a:r>
                    </a:p>
                  </a:txBody>
                  <a:tcPr>
                    <a:solidFill>
                      <a:srgbClr val="FFFF00"/>
                    </a:solidFill>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Closing a connection</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9</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Content Placeholder 7"/>
          <p:cNvSpPr>
            <a:spLocks noGrp="1"/>
          </p:cNvSpPr>
          <p:nvPr>
            <p:ph idx="1"/>
          </p:nvPr>
        </p:nvSpPr>
        <p:spPr/>
        <p:txBody>
          <a:bodyPr/>
          <a:lstStyle/>
          <a:p>
            <a:endParaRPr lang="en-SG" dirty="0"/>
          </a:p>
        </p:txBody>
      </p:sp>
      <p:sp>
        <p:nvSpPr>
          <p:cNvPr id="9" name="Content Placeholder 2"/>
          <p:cNvSpPr txBox="1">
            <a:spLocks/>
          </p:cNvSpPr>
          <p:nvPr/>
        </p:nvSpPr>
        <p:spPr>
          <a:xfrm>
            <a:off x="304800" y="1295400"/>
            <a:ext cx="8686800" cy="5334000"/>
          </a:xfrm>
          <a:prstGeom prst="rect">
            <a:avLst/>
          </a:prstGeom>
          <a:solidFill>
            <a:srgbClr val="FFFF00"/>
          </a:solidFill>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pPr>
            <a:r>
              <a:rPr lang="en-US" sz="1600" dirty="0"/>
              <a:t>The connection will be closed automatically when the script ends. To close the connection before, use the </a:t>
            </a:r>
            <a:r>
              <a:rPr lang="en-US" sz="1600" dirty="0" err="1"/>
              <a:t>mysqli_close</a:t>
            </a:r>
            <a:r>
              <a:rPr lang="en-US" sz="1600" dirty="0"/>
              <a:t>() function</a:t>
            </a:r>
            <a:r>
              <a:rPr lang="en-US" sz="1600" dirty="0" smtClean="0"/>
              <a:t>:</a:t>
            </a:r>
          </a:p>
          <a:p>
            <a:pPr marL="342900" lvl="0" indent="-342900">
              <a:spcBef>
                <a:spcPct val="20000"/>
              </a:spcBef>
              <a:spcAft>
                <a:spcPts val="1000"/>
              </a:spcAft>
              <a:buClr>
                <a:schemeClr val="accent1">
                  <a:lumMod val="75000"/>
                </a:schemeClr>
              </a:buClr>
              <a:buSzPct val="70000"/>
            </a:pPr>
            <a:r>
              <a:rPr kumimoji="0" lang="en-SG" sz="2000" b="0" i="0" u="none" strike="noStrike" kern="1200" cap="none" spc="0" normalizeH="0" baseline="0" noProof="0" dirty="0" smtClean="0">
                <a:ln>
                  <a:noFill/>
                </a:ln>
                <a:solidFill>
                  <a:schemeClr val="tx1"/>
                </a:solidFill>
                <a:effectLst/>
                <a:uLnTx/>
                <a:uFillTx/>
                <a:latin typeface="+mn-lt"/>
                <a:ea typeface="+mn-ea"/>
                <a:cs typeface="+mn-cs"/>
              </a:rPr>
              <a:t/>
            </a:r>
            <a:br>
              <a:rPr kumimoji="0" lang="en-SG" sz="2000" b="0" i="0" u="none" strike="noStrike" kern="1200" cap="none" spc="0" normalizeH="0" baseline="0" noProof="0" dirty="0" smtClean="0">
                <a:ln>
                  <a:noFill/>
                </a:ln>
                <a:solidFill>
                  <a:schemeClr val="tx1"/>
                </a:solidFill>
                <a:effectLst/>
                <a:uLnTx/>
                <a:uFillTx/>
                <a:latin typeface="+mn-lt"/>
                <a:ea typeface="+mn-ea"/>
                <a:cs typeface="+mn-cs"/>
              </a:rPr>
            </a:br>
            <a:r>
              <a:rPr lang="en-US" sz="2000" dirty="0"/>
              <a:t>&lt;?</a:t>
            </a:r>
            <a:r>
              <a:rPr lang="en-US" sz="2000" dirty="0" err="1"/>
              <a:t>php</a:t>
            </a:r>
            <a:r>
              <a:rPr lang="en-US" sz="2000" dirty="0"/>
              <a:t/>
            </a:r>
            <a:br>
              <a:rPr lang="en-US" sz="2000" dirty="0"/>
            </a:br>
            <a:r>
              <a:rPr lang="en-US" sz="2000" dirty="0"/>
              <a:t>$con=</a:t>
            </a:r>
            <a:r>
              <a:rPr lang="en-US" sz="2000" dirty="0" err="1"/>
              <a:t>mysqli_connect</a:t>
            </a:r>
            <a:r>
              <a:rPr lang="en-US" sz="2000" dirty="0"/>
              <a:t>("example.com","peter","abc123","my_db");</a:t>
            </a:r>
            <a:br>
              <a:rPr lang="en-US" sz="2000" dirty="0"/>
            </a:br>
            <a:r>
              <a:rPr lang="en-US" sz="2000" dirty="0"/>
              <a:t/>
            </a:r>
            <a:br>
              <a:rPr lang="en-US" sz="2000" dirty="0"/>
            </a:br>
            <a:r>
              <a:rPr lang="en-US" sz="2000" dirty="0"/>
              <a:t>// Check connection</a:t>
            </a:r>
            <a:br>
              <a:rPr lang="en-US" sz="2000" dirty="0"/>
            </a:br>
            <a:r>
              <a:rPr lang="en-US" sz="2000" dirty="0"/>
              <a:t>if (</a:t>
            </a:r>
            <a:r>
              <a:rPr lang="en-US" sz="2000" dirty="0" err="1"/>
              <a:t>mysqli_connect_errno</a:t>
            </a:r>
            <a:r>
              <a:rPr lang="en-US" sz="2000" dirty="0"/>
              <a:t>()) {</a:t>
            </a:r>
            <a:br>
              <a:rPr lang="en-US" sz="2000" dirty="0"/>
            </a:br>
            <a:r>
              <a:rPr lang="en-US" sz="2000" dirty="0"/>
              <a:t>  echo "Failed to connect to MySQL: " . </a:t>
            </a:r>
            <a:r>
              <a:rPr lang="en-US" sz="2000" dirty="0" err="1"/>
              <a:t>mysqli_connect_error</a:t>
            </a:r>
            <a:r>
              <a:rPr lang="en-US" sz="2000" dirty="0"/>
              <a:t>();</a:t>
            </a:r>
            <a:br>
              <a:rPr lang="en-US" sz="2000" dirty="0"/>
            </a:br>
            <a:r>
              <a:rPr lang="en-US" sz="2000" dirty="0"/>
              <a:t>}</a:t>
            </a:r>
            <a:br>
              <a:rPr lang="en-US" sz="2000" dirty="0"/>
            </a:br>
            <a:r>
              <a:rPr lang="en-US" sz="2000" dirty="0"/>
              <a:t/>
            </a:r>
            <a:br>
              <a:rPr lang="en-US" sz="2000" dirty="0"/>
            </a:br>
            <a:r>
              <a:rPr lang="en-US" sz="3600" dirty="0" err="1"/>
              <a:t>mysqli_close</a:t>
            </a:r>
            <a:r>
              <a:rPr lang="en-US" sz="3600" dirty="0"/>
              <a:t>($con);</a:t>
            </a:r>
            <a:r>
              <a:rPr lang="en-US" sz="2000" dirty="0"/>
              <a:t/>
            </a:r>
            <a:br>
              <a:rPr lang="en-US" sz="2000" dirty="0"/>
            </a:br>
            <a:r>
              <a:rPr lang="en-US" sz="2000" dirty="0"/>
              <a:t>?&gt;</a:t>
            </a:r>
            <a:endParaRPr kumimoji="0" lang="en-US" sz="1600" b="0" i="0" u="none" strike="noStrike" kern="1200" cap="none" spc="0" normalizeH="0" baseline="0" noProof="0" dirty="0" smtClean="0">
              <a:ln>
                <a:noFill/>
              </a:ln>
              <a:solidFill>
                <a:srgbClr val="FF0000"/>
              </a:solidFill>
              <a:effectLst/>
              <a:uLnTx/>
              <a:uFillTx/>
              <a:latin typeface="+mn-lt"/>
              <a:ea typeface="+mn-ea"/>
              <a:cs typeface="+mn-cs"/>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Performing a database query, retrieve data and close connection</a:t>
            </a:r>
            <a:endParaRPr lang="en-US" sz="3600" dirty="0"/>
          </a:p>
        </p:txBody>
      </p:sp>
      <p:sp>
        <p:nvSpPr>
          <p:cNvPr id="3" name="Content Placeholder 2"/>
          <p:cNvSpPr>
            <a:spLocks noGrp="1"/>
          </p:cNvSpPr>
          <p:nvPr>
            <p:ph idx="1"/>
          </p:nvPr>
        </p:nvSpPr>
        <p:spPr>
          <a:xfrm>
            <a:off x="304800" y="1600200"/>
            <a:ext cx="6019800" cy="4800600"/>
          </a:xfrm>
          <a:solidFill>
            <a:srgbClr val="FFFF00"/>
          </a:solidFill>
        </p:spPr>
        <p:txBody>
          <a:bodyPr>
            <a:noAutofit/>
          </a:bodyPr>
          <a:lstStyle/>
          <a:p>
            <a:pPr>
              <a:spcAft>
                <a:spcPts val="1000"/>
              </a:spcAft>
              <a:buNone/>
            </a:pPr>
            <a:r>
              <a:rPr lang="en-SG" sz="1600" dirty="0" smtClean="0">
                <a:solidFill>
                  <a:srgbClr val="FF0000"/>
                </a:solidFill>
              </a:rPr>
              <a:t> </a:t>
            </a:r>
            <a:r>
              <a:rPr lang="en-US" sz="1600" dirty="0"/>
              <a:t>&lt;?</a:t>
            </a:r>
            <a:r>
              <a:rPr lang="en-US" sz="1600" dirty="0" err="1"/>
              <a:t>php</a:t>
            </a:r>
            <a:r>
              <a:rPr lang="en-US" sz="1600" dirty="0"/>
              <a:t/>
            </a:r>
            <a:br>
              <a:rPr lang="en-US" sz="1600" dirty="0"/>
            </a:br>
            <a:r>
              <a:rPr lang="en-US" sz="1600" dirty="0"/>
              <a:t>$con=</a:t>
            </a:r>
            <a:r>
              <a:rPr lang="en-US" sz="1800" b="1" dirty="0" err="1">
                <a:solidFill>
                  <a:srgbClr val="FF0000"/>
                </a:solidFill>
              </a:rPr>
              <a:t>mysqli_connect</a:t>
            </a:r>
            <a:r>
              <a:rPr lang="en-US" sz="1600" dirty="0"/>
              <a:t>("example.com","peter","abc123","my_db");</a:t>
            </a:r>
            <a:br>
              <a:rPr lang="en-US" sz="1600" dirty="0"/>
            </a:br>
            <a:r>
              <a:rPr lang="en-US" sz="1600" dirty="0"/>
              <a:t>// Check connection</a:t>
            </a:r>
            <a:br>
              <a:rPr lang="en-US" sz="1600" dirty="0"/>
            </a:br>
            <a:r>
              <a:rPr lang="en-US" sz="1600" dirty="0"/>
              <a:t>if (</a:t>
            </a:r>
            <a:r>
              <a:rPr lang="en-US" sz="1600" dirty="0" err="1"/>
              <a:t>mysqli_connect_errno</a:t>
            </a:r>
            <a:r>
              <a:rPr lang="en-US" sz="1600" dirty="0"/>
              <a:t>()) {</a:t>
            </a:r>
            <a:br>
              <a:rPr lang="en-US" sz="1600" dirty="0"/>
            </a:br>
            <a:r>
              <a:rPr lang="en-US" sz="1600" dirty="0"/>
              <a:t>  echo "Failed to connect to MySQL: " . </a:t>
            </a:r>
            <a:r>
              <a:rPr lang="en-US" sz="1600" dirty="0" err="1"/>
              <a:t>mysqli_connect_error</a:t>
            </a:r>
            <a:r>
              <a:rPr lang="en-US" sz="1600" dirty="0"/>
              <a:t>();</a:t>
            </a:r>
            <a:br>
              <a:rPr lang="en-US" sz="1600" dirty="0"/>
            </a:br>
            <a:r>
              <a:rPr lang="en-US" sz="1600" dirty="0"/>
              <a:t>}</a:t>
            </a:r>
            <a:br>
              <a:rPr lang="en-US" sz="1600" dirty="0"/>
            </a:br>
            <a:r>
              <a:rPr lang="en-US" sz="1600" dirty="0"/>
              <a:t/>
            </a:r>
            <a:br>
              <a:rPr lang="en-US" sz="1600" dirty="0"/>
            </a:br>
            <a:r>
              <a:rPr lang="en-US" sz="1600" dirty="0">
                <a:solidFill>
                  <a:srgbClr val="0070C0"/>
                </a:solidFill>
              </a:rPr>
              <a:t>$result </a:t>
            </a:r>
            <a:r>
              <a:rPr lang="en-US" sz="1600" dirty="0"/>
              <a:t>= </a:t>
            </a:r>
            <a:r>
              <a:rPr lang="en-US" sz="1800" b="1" i="1" dirty="0" err="1"/>
              <a:t>mysqli_query</a:t>
            </a:r>
            <a:r>
              <a:rPr lang="en-US" sz="1800" dirty="0">
                <a:solidFill>
                  <a:srgbClr val="00B0F0"/>
                </a:solidFill>
              </a:rPr>
              <a:t>($</a:t>
            </a:r>
            <a:r>
              <a:rPr lang="en-US" sz="1800" dirty="0" err="1">
                <a:solidFill>
                  <a:srgbClr val="00B0F0"/>
                </a:solidFill>
              </a:rPr>
              <a:t>con,"SELECT</a:t>
            </a:r>
            <a:r>
              <a:rPr lang="en-US" sz="1800" dirty="0">
                <a:solidFill>
                  <a:srgbClr val="00B0F0"/>
                </a:solidFill>
              </a:rPr>
              <a:t> * FROM Persons</a:t>
            </a:r>
            <a:r>
              <a:rPr lang="en-US" sz="1600" dirty="0">
                <a:solidFill>
                  <a:srgbClr val="00B0F0"/>
                </a:solidFill>
              </a:rPr>
              <a:t>"</a:t>
            </a:r>
            <a:r>
              <a:rPr lang="en-US" sz="1600" dirty="0"/>
              <a:t>);</a:t>
            </a:r>
            <a:br>
              <a:rPr lang="en-US" sz="1600" dirty="0"/>
            </a:br>
            <a:r>
              <a:rPr lang="en-US" sz="1600" dirty="0"/>
              <a:t/>
            </a:r>
            <a:br>
              <a:rPr lang="en-US" sz="1600" dirty="0"/>
            </a:br>
            <a:r>
              <a:rPr lang="en-US" sz="1600" dirty="0"/>
              <a:t>while($row = </a:t>
            </a:r>
            <a:r>
              <a:rPr lang="en-US" sz="1800" b="1" dirty="0" err="1">
                <a:solidFill>
                  <a:srgbClr val="FF0000"/>
                </a:solidFill>
              </a:rPr>
              <a:t>mysqli_fetch_array</a:t>
            </a:r>
            <a:r>
              <a:rPr lang="en-US" sz="1600" dirty="0">
                <a:solidFill>
                  <a:srgbClr val="0070C0"/>
                </a:solidFill>
              </a:rPr>
              <a:t>($result</a:t>
            </a:r>
            <a:r>
              <a:rPr lang="en-US" sz="1600" dirty="0"/>
              <a:t>)) {</a:t>
            </a:r>
            <a:br>
              <a:rPr lang="en-US" sz="1600" dirty="0"/>
            </a:br>
            <a:r>
              <a:rPr lang="en-US" sz="1600" dirty="0"/>
              <a:t>  echo $row[</a:t>
            </a:r>
            <a:r>
              <a:rPr lang="en-US" sz="1600" b="1" dirty="0">
                <a:solidFill>
                  <a:srgbClr val="7030A0"/>
                </a:solidFill>
              </a:rPr>
              <a:t>'</a:t>
            </a:r>
            <a:r>
              <a:rPr lang="en-US" sz="1600" b="1" dirty="0" err="1">
                <a:solidFill>
                  <a:srgbClr val="7030A0"/>
                </a:solidFill>
              </a:rPr>
              <a:t>FirstName</a:t>
            </a:r>
            <a:r>
              <a:rPr lang="en-US" sz="1600" b="1" dirty="0">
                <a:solidFill>
                  <a:srgbClr val="7030A0"/>
                </a:solidFill>
              </a:rPr>
              <a:t>'</a:t>
            </a:r>
            <a:r>
              <a:rPr lang="en-US" sz="1600" dirty="0"/>
              <a:t>] . " " . $row[</a:t>
            </a:r>
            <a:r>
              <a:rPr lang="en-US" sz="1600" b="1" dirty="0"/>
              <a:t>'</a:t>
            </a:r>
            <a:r>
              <a:rPr lang="en-US" sz="1600" b="1" dirty="0" err="1">
                <a:solidFill>
                  <a:srgbClr val="7030A0"/>
                </a:solidFill>
              </a:rPr>
              <a:t>LastName</a:t>
            </a:r>
            <a:r>
              <a:rPr lang="en-US" sz="1600" b="1" dirty="0"/>
              <a:t>'</a:t>
            </a:r>
            <a:r>
              <a:rPr lang="en-US" sz="1600" dirty="0"/>
              <a:t>];</a:t>
            </a:r>
            <a:br>
              <a:rPr lang="en-US" sz="1600" dirty="0"/>
            </a:br>
            <a:r>
              <a:rPr lang="en-US" sz="1600" dirty="0"/>
              <a:t>  echo "&lt;</a:t>
            </a:r>
            <a:r>
              <a:rPr lang="en-US" sz="1600" dirty="0" err="1"/>
              <a:t>br</a:t>
            </a:r>
            <a:r>
              <a:rPr lang="en-US" sz="1600" dirty="0"/>
              <a:t>&gt;";</a:t>
            </a:r>
            <a:br>
              <a:rPr lang="en-US" sz="1600" dirty="0"/>
            </a:br>
            <a:r>
              <a:rPr lang="en-US" sz="1600" dirty="0"/>
              <a:t>}</a:t>
            </a:r>
            <a:br>
              <a:rPr lang="en-US" sz="1600" dirty="0"/>
            </a:br>
            <a:r>
              <a:rPr lang="en-US" sz="1600" dirty="0"/>
              <a:t/>
            </a:r>
            <a:br>
              <a:rPr lang="en-US" sz="1600" dirty="0"/>
            </a:br>
            <a:r>
              <a:rPr lang="en-US" sz="2000" b="1" dirty="0" err="1">
                <a:solidFill>
                  <a:srgbClr val="FF0000"/>
                </a:solidFill>
              </a:rPr>
              <a:t>mysqli_close</a:t>
            </a:r>
            <a:r>
              <a:rPr lang="en-US" sz="2000" b="1" dirty="0">
                <a:solidFill>
                  <a:srgbClr val="FF0000"/>
                </a:solidFill>
              </a:rPr>
              <a:t>($con</a:t>
            </a:r>
            <a:r>
              <a:rPr lang="en-US" sz="2000" b="1" dirty="0" smtClean="0">
                <a:solidFill>
                  <a:srgbClr val="FF0000"/>
                </a:solidFill>
              </a:rPr>
              <a:t>);</a:t>
            </a:r>
          </a:p>
          <a:p>
            <a:pPr>
              <a:spcAft>
                <a:spcPts val="1000"/>
              </a:spcAft>
              <a:buNone/>
            </a:pPr>
            <a:r>
              <a:rPr lang="en-US" sz="1600" dirty="0" smtClean="0"/>
              <a:t>?&gt;</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10</a:t>
            </a:fld>
            <a:endParaRPr lang="en-US"/>
          </a:p>
        </p:txBody>
      </p:sp>
      <p:sp>
        <p:nvSpPr>
          <p:cNvPr id="7" name="TextBox 6"/>
          <p:cNvSpPr txBox="1"/>
          <p:nvPr/>
        </p:nvSpPr>
        <p:spPr>
          <a:xfrm>
            <a:off x="6934200" y="4114800"/>
            <a:ext cx="1149674" cy="646331"/>
          </a:xfrm>
          <a:prstGeom prst="rect">
            <a:avLst/>
          </a:prstGeom>
          <a:noFill/>
        </p:spPr>
        <p:txBody>
          <a:bodyPr wrap="none" rtlCol="0">
            <a:spAutoFit/>
          </a:bodyPr>
          <a:lstStyle/>
          <a:p>
            <a:r>
              <a:rPr lang="en-US" b="1" dirty="0" smtClean="0">
                <a:latin typeface="Courier" pitchFamily="49" charset="0"/>
              </a:rPr>
              <a:t>Output:</a:t>
            </a:r>
          </a:p>
          <a:p>
            <a:endParaRPr lang="en-SG" dirty="0"/>
          </a:p>
        </p:txBody>
      </p:sp>
      <p:sp>
        <p:nvSpPr>
          <p:cNvPr id="8" name="TextBox 7"/>
          <p:cNvSpPr txBox="1"/>
          <p:nvPr/>
        </p:nvSpPr>
        <p:spPr>
          <a:xfrm>
            <a:off x="1447800" y="1295400"/>
            <a:ext cx="1859805" cy="369332"/>
          </a:xfrm>
          <a:prstGeom prst="rect">
            <a:avLst/>
          </a:prstGeom>
          <a:noFill/>
        </p:spPr>
        <p:txBody>
          <a:bodyPr wrap="none" rtlCol="0">
            <a:spAutoFit/>
          </a:bodyPr>
          <a:lstStyle/>
          <a:p>
            <a:r>
              <a:rPr lang="en-US" i="1" dirty="0" err="1" smtClean="0"/>
              <a:t>Searchresults.php</a:t>
            </a:r>
            <a:endParaRPr lang="en-SG" i="1" dirty="0"/>
          </a:p>
        </p:txBody>
      </p:sp>
      <p:graphicFrame>
        <p:nvGraphicFramePr>
          <p:cNvPr id="4" name="Table 3"/>
          <p:cNvGraphicFramePr>
            <a:graphicFrameLocks noGrp="1"/>
          </p:cNvGraphicFramePr>
          <p:nvPr>
            <p:extLst>
              <p:ext uri="{D42A27DB-BD31-4B8C-83A1-F6EECF244321}">
                <p14:modId xmlns:p14="http://schemas.microsoft.com/office/powerpoint/2010/main" val="1613418035"/>
              </p:ext>
            </p:extLst>
          </p:nvPr>
        </p:nvGraphicFramePr>
        <p:xfrm>
          <a:off x="6324600" y="5029200"/>
          <a:ext cx="2671762" cy="1137920"/>
        </p:xfrm>
        <a:graphic>
          <a:graphicData uri="http://schemas.openxmlformats.org/drawingml/2006/table">
            <a:tbl>
              <a:tblPr>
                <a:effectLst>
                  <a:outerShdw blurRad="63500" dist="63500" dir="6000000" algn="ctr" rotWithShape="0">
                    <a:schemeClr val="tx1"/>
                  </a:outerShdw>
                </a:effectLst>
              </a:tblPr>
              <a:tblGrid>
                <a:gridCol w="1335881"/>
                <a:gridCol w="1335881"/>
              </a:tblGrid>
              <a:tr h="142240">
                <a:tc>
                  <a:txBody>
                    <a:bodyPr/>
                    <a:lstStyle/>
                    <a:p>
                      <a:r>
                        <a:rPr lang="en-US" dirty="0" err="1">
                          <a:effectLst/>
                          <a:latin typeface="verdana" panose="020B0604030504040204" pitchFamily="34" charset="0"/>
                        </a:rPr>
                        <a:t>Firstname</a:t>
                      </a:r>
                      <a:endParaRPr lang="en-US" dirty="0">
                        <a:effectLst/>
                        <a:latin typeface="verdana" panose="020B0604030504040204" pitchFamily="34" charset="0"/>
                      </a:endParaRP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dirty="0" err="1">
                          <a:effectLst/>
                          <a:latin typeface="verdana" panose="020B0604030504040204" pitchFamily="34" charset="0"/>
                        </a:rPr>
                        <a:t>Lastname</a:t>
                      </a:r>
                      <a:endParaRPr lang="en-US" dirty="0">
                        <a:effectLst/>
                        <a:latin typeface="verdana" panose="020B0604030504040204" pitchFamily="34" charset="0"/>
                      </a:endParaRP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r>
              <a:tr h="386080">
                <a:tc>
                  <a:txBody>
                    <a:bodyPr/>
                    <a:lstStyle/>
                    <a:p>
                      <a:r>
                        <a:rPr lang="en-US" dirty="0" smtClean="0">
                          <a:effectLst/>
                          <a:latin typeface="verdana" panose="020B0604030504040204" pitchFamily="34" charset="0"/>
                        </a:rPr>
                        <a:t>Tommy</a:t>
                      </a:r>
                      <a:endParaRPr lang="en-US" dirty="0">
                        <a:effectLst/>
                        <a:latin typeface="verdana" panose="020B0604030504040204" pitchFamily="34" charset="0"/>
                      </a:endParaRP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dirty="0" smtClean="0">
                          <a:effectLst/>
                          <a:latin typeface="verdana" panose="020B0604030504040204" pitchFamily="34" charset="0"/>
                        </a:rPr>
                        <a:t>Low</a:t>
                      </a:r>
                      <a:endParaRPr lang="en-US" dirty="0">
                        <a:effectLst/>
                        <a:latin typeface="verdana" panose="020B0604030504040204" pitchFamily="34" charset="0"/>
                      </a:endParaRP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r>
              <a:tr h="386080">
                <a:tc>
                  <a:txBody>
                    <a:bodyPr/>
                    <a:lstStyle/>
                    <a:p>
                      <a:r>
                        <a:rPr lang="en-US" dirty="0" smtClean="0">
                          <a:effectLst/>
                          <a:latin typeface="verdana" panose="020B0604030504040204" pitchFamily="34" charset="0"/>
                        </a:rPr>
                        <a:t>Vincent</a:t>
                      </a:r>
                      <a:endParaRPr lang="en-US" dirty="0">
                        <a:effectLst/>
                        <a:latin typeface="verdana" panose="020B0604030504040204" pitchFamily="34" charset="0"/>
                      </a:endParaRP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dirty="0" smtClean="0">
                          <a:effectLst/>
                          <a:latin typeface="verdana" panose="020B0604030504040204" pitchFamily="34" charset="0"/>
                        </a:rPr>
                        <a:t>Lim</a:t>
                      </a:r>
                      <a:endParaRPr lang="en-US" dirty="0">
                        <a:effectLst/>
                        <a:latin typeface="verdana" panose="020B0604030504040204" pitchFamily="34" charset="0"/>
                      </a:endParaRP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r>
            </a:tbl>
          </a:graphicData>
        </a:graphic>
      </p:graphicFrame>
      <p:sp>
        <p:nvSpPr>
          <p:cNvPr id="9" name="Rectangle 1"/>
          <p:cNvSpPr>
            <a:spLocks noChangeArrowheads="1"/>
          </p:cNvSpPr>
          <p:nvPr/>
        </p:nvSpPr>
        <p:spPr bwMode="auto">
          <a:xfrm>
            <a:off x="985838" y="2745719"/>
            <a:ext cx="330314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Displaying Results in a table:</a:t>
            </a:r>
            <a:endParaRPr lang="en-US" sz="3600" dirty="0"/>
          </a:p>
        </p:txBody>
      </p:sp>
      <p:sp>
        <p:nvSpPr>
          <p:cNvPr id="3" name="Content Placeholder 2"/>
          <p:cNvSpPr>
            <a:spLocks noGrp="1"/>
          </p:cNvSpPr>
          <p:nvPr>
            <p:ph idx="1"/>
          </p:nvPr>
        </p:nvSpPr>
        <p:spPr>
          <a:xfrm>
            <a:off x="304800" y="1295400"/>
            <a:ext cx="6019800" cy="5334000"/>
          </a:xfrm>
          <a:solidFill>
            <a:srgbClr val="FFFF00"/>
          </a:solidFill>
        </p:spPr>
        <p:txBody>
          <a:bodyPr>
            <a:noAutofit/>
          </a:bodyPr>
          <a:lstStyle/>
          <a:p>
            <a:pPr>
              <a:spcAft>
                <a:spcPts val="1000"/>
              </a:spcAft>
              <a:buNone/>
            </a:pPr>
            <a:r>
              <a:rPr lang="en-US" sz="1400" dirty="0"/>
              <a:t>&lt;?</a:t>
            </a:r>
            <a:r>
              <a:rPr lang="en-US" sz="1400" dirty="0" err="1"/>
              <a:t>php</a:t>
            </a:r>
            <a:r>
              <a:rPr lang="en-US" sz="1400" dirty="0"/>
              <a:t/>
            </a:r>
            <a:br>
              <a:rPr lang="en-US" sz="1400" dirty="0"/>
            </a:br>
            <a:r>
              <a:rPr lang="en-US" sz="1400" dirty="0"/>
              <a:t>$con=</a:t>
            </a:r>
            <a:r>
              <a:rPr lang="en-US" sz="1400" dirty="0" err="1"/>
              <a:t>mysqli_connect</a:t>
            </a:r>
            <a:r>
              <a:rPr lang="en-US" sz="1400" dirty="0"/>
              <a:t>("example.com","peter","abc123","my_db");</a:t>
            </a:r>
            <a:r>
              <a:rPr lang="en-US" sz="1400" dirty="0"/>
              <a:t/>
            </a:r>
            <a:br>
              <a:rPr lang="en-US" sz="1400" dirty="0"/>
            </a:br>
            <a:r>
              <a:rPr lang="en-US" sz="1400" dirty="0"/>
              <a:t>// Check connection</a:t>
            </a:r>
            <a:r>
              <a:rPr lang="en-US" sz="1400" dirty="0"/>
              <a:t/>
            </a:r>
            <a:br>
              <a:rPr lang="en-US" sz="1400" dirty="0"/>
            </a:br>
            <a:r>
              <a:rPr lang="en-US" sz="1400" dirty="0"/>
              <a:t>if (</a:t>
            </a:r>
            <a:r>
              <a:rPr lang="en-US" sz="1400" dirty="0" err="1"/>
              <a:t>mysqli_connect_errno</a:t>
            </a:r>
            <a:r>
              <a:rPr lang="en-US" sz="1400" dirty="0"/>
              <a:t>()) {</a:t>
            </a:r>
            <a:r>
              <a:rPr lang="en-US" sz="1400" dirty="0"/>
              <a:t/>
            </a:r>
            <a:br>
              <a:rPr lang="en-US" sz="1400" dirty="0"/>
            </a:br>
            <a:r>
              <a:rPr lang="en-US" sz="1400" dirty="0"/>
              <a:t>  echo "Failed to connect to MySQL: " . </a:t>
            </a:r>
            <a:r>
              <a:rPr lang="en-US" sz="1400" dirty="0" err="1"/>
              <a:t>mysqli_connect_error</a:t>
            </a:r>
            <a:r>
              <a:rPr lang="en-US" sz="1400" dirty="0" smtClean="0"/>
              <a:t>();}</a:t>
            </a:r>
            <a:r>
              <a:rPr lang="en-US" sz="1600" dirty="0"/>
              <a:t/>
            </a:r>
            <a:br>
              <a:rPr lang="en-US" sz="1600" dirty="0"/>
            </a:br>
            <a:r>
              <a:rPr lang="en-US" sz="1600" dirty="0" smtClean="0"/>
              <a:t>$</a:t>
            </a:r>
            <a:r>
              <a:rPr lang="en-US" sz="1600" dirty="0"/>
              <a:t>result = </a:t>
            </a:r>
            <a:r>
              <a:rPr lang="en-US" sz="1600" dirty="0" err="1"/>
              <a:t>mysqli_query</a:t>
            </a:r>
            <a:r>
              <a:rPr lang="en-US" sz="1600" dirty="0"/>
              <a:t>($</a:t>
            </a:r>
            <a:r>
              <a:rPr lang="en-US" sz="1600" dirty="0" err="1"/>
              <a:t>con,"SELECT</a:t>
            </a:r>
            <a:r>
              <a:rPr lang="en-US" sz="1600" dirty="0"/>
              <a:t> * FROM Persons");</a:t>
            </a:r>
            <a:r>
              <a:rPr lang="en-US" sz="1600" dirty="0"/>
              <a:t/>
            </a:r>
            <a:br>
              <a:rPr lang="en-US" sz="1600" dirty="0"/>
            </a:br>
            <a:r>
              <a:rPr lang="en-SG" sz="1600" dirty="0" smtClean="0"/>
              <a:t/>
            </a:r>
            <a:br>
              <a:rPr lang="en-SG" sz="1600" dirty="0" smtClean="0"/>
            </a:br>
            <a:r>
              <a:rPr lang="en-SG" sz="1800" dirty="0" smtClean="0"/>
              <a:t>echo</a:t>
            </a:r>
            <a:r>
              <a:rPr lang="en-SG" sz="1800" dirty="0" smtClean="0"/>
              <a:t> </a:t>
            </a:r>
            <a:r>
              <a:rPr lang="en-SG" sz="1800" b="1" dirty="0" smtClean="0"/>
              <a:t>"</a:t>
            </a:r>
            <a:r>
              <a:rPr lang="en-SG" sz="1800" dirty="0" smtClean="0"/>
              <a:t>&lt;table border='1'&gt;</a:t>
            </a:r>
            <a:r>
              <a:rPr lang="en-SG" sz="1800" b="1" dirty="0" smtClean="0"/>
              <a:t/>
            </a:r>
            <a:br>
              <a:rPr lang="en-SG" sz="1800" b="1" dirty="0" smtClean="0"/>
            </a:br>
            <a:r>
              <a:rPr lang="en-SG" sz="1800" b="1" dirty="0" smtClean="0"/>
              <a:t>&lt;</a:t>
            </a:r>
            <a:r>
              <a:rPr lang="en-SG" sz="1800" dirty="0" err="1" smtClean="0"/>
              <a:t>tr</a:t>
            </a:r>
            <a:r>
              <a:rPr lang="en-SG" sz="1800" dirty="0" smtClean="0"/>
              <a:t>&gt;</a:t>
            </a:r>
            <a:br>
              <a:rPr lang="en-SG" sz="1800" dirty="0" smtClean="0"/>
            </a:br>
            <a:r>
              <a:rPr lang="en-SG" sz="1800" dirty="0" smtClean="0">
                <a:solidFill>
                  <a:srgbClr val="FF0000"/>
                </a:solidFill>
              </a:rPr>
              <a:t>&lt;</a:t>
            </a:r>
            <a:r>
              <a:rPr lang="en-SG" sz="1800" dirty="0" err="1" smtClean="0">
                <a:solidFill>
                  <a:srgbClr val="FF0000"/>
                </a:solidFill>
              </a:rPr>
              <a:t>th</a:t>
            </a:r>
            <a:r>
              <a:rPr lang="en-SG" sz="1800" dirty="0" smtClean="0">
                <a:solidFill>
                  <a:srgbClr val="FF0000"/>
                </a:solidFill>
              </a:rPr>
              <a:t>&gt;</a:t>
            </a:r>
            <a:r>
              <a:rPr lang="en-SG" sz="1800" dirty="0" err="1" smtClean="0"/>
              <a:t>Firstname</a:t>
            </a:r>
            <a:r>
              <a:rPr lang="en-SG" sz="1800" dirty="0" smtClean="0">
                <a:solidFill>
                  <a:srgbClr val="FF0000"/>
                </a:solidFill>
              </a:rPr>
              <a:t>&lt;/</a:t>
            </a:r>
            <a:r>
              <a:rPr lang="en-SG" sz="1800" dirty="0" err="1" smtClean="0">
                <a:solidFill>
                  <a:srgbClr val="FF0000"/>
                </a:solidFill>
              </a:rPr>
              <a:t>th</a:t>
            </a:r>
            <a:r>
              <a:rPr lang="en-SG" sz="1800" dirty="0" smtClean="0">
                <a:solidFill>
                  <a:srgbClr val="FF0000"/>
                </a:solidFill>
              </a:rPr>
              <a:t>&gt;&lt;</a:t>
            </a:r>
            <a:r>
              <a:rPr lang="en-SG" sz="1800" dirty="0" err="1" smtClean="0">
                <a:solidFill>
                  <a:srgbClr val="FF0000"/>
                </a:solidFill>
              </a:rPr>
              <a:t>th</a:t>
            </a:r>
            <a:r>
              <a:rPr lang="en-SG" sz="1800" dirty="0" smtClean="0">
                <a:solidFill>
                  <a:srgbClr val="FF0000"/>
                </a:solidFill>
              </a:rPr>
              <a:t>&gt;</a:t>
            </a:r>
            <a:r>
              <a:rPr lang="en-SG" sz="1800" dirty="0" err="1" smtClean="0"/>
              <a:t>Lastname</a:t>
            </a:r>
            <a:r>
              <a:rPr lang="en-SG" sz="1800" dirty="0" smtClean="0">
                <a:solidFill>
                  <a:srgbClr val="FF0000"/>
                </a:solidFill>
              </a:rPr>
              <a:t>&lt;/</a:t>
            </a:r>
            <a:r>
              <a:rPr lang="en-SG" sz="1800" dirty="0" err="1" smtClean="0">
                <a:solidFill>
                  <a:srgbClr val="FF0000"/>
                </a:solidFill>
              </a:rPr>
              <a:t>th</a:t>
            </a:r>
            <a:r>
              <a:rPr lang="en-SG" sz="1800" dirty="0" smtClean="0">
                <a:solidFill>
                  <a:srgbClr val="FF0000"/>
                </a:solidFill>
              </a:rPr>
              <a:t>&gt;</a:t>
            </a:r>
            <a:br>
              <a:rPr lang="en-SG" sz="1800" dirty="0" smtClean="0">
                <a:solidFill>
                  <a:srgbClr val="FF0000"/>
                </a:solidFill>
              </a:rPr>
            </a:br>
            <a:r>
              <a:rPr lang="en-SG" sz="1800" dirty="0" smtClean="0">
                <a:solidFill>
                  <a:srgbClr val="FF0000"/>
                </a:solidFill>
              </a:rPr>
              <a:t>&lt;/</a:t>
            </a:r>
            <a:r>
              <a:rPr lang="en-SG" sz="1800" dirty="0" err="1" smtClean="0">
                <a:solidFill>
                  <a:srgbClr val="FF0000"/>
                </a:solidFill>
              </a:rPr>
              <a:t>tr</a:t>
            </a:r>
            <a:r>
              <a:rPr lang="en-SG" sz="1800" dirty="0" smtClean="0">
                <a:solidFill>
                  <a:srgbClr val="FF0000"/>
                </a:solidFill>
              </a:rPr>
              <a:t>&gt;";</a:t>
            </a:r>
            <a:r>
              <a:rPr lang="en-SG" sz="1800" dirty="0" smtClean="0"/>
              <a:t/>
            </a:r>
            <a:br>
              <a:rPr lang="en-SG" sz="1800" dirty="0" smtClean="0"/>
            </a:br>
            <a:r>
              <a:rPr lang="en-SG" sz="1800" dirty="0" smtClean="0"/>
              <a:t/>
            </a:r>
            <a:br>
              <a:rPr lang="en-SG" sz="1800" dirty="0" smtClean="0"/>
            </a:br>
            <a:r>
              <a:rPr lang="en-SG" sz="1800" dirty="0" smtClean="0"/>
              <a:t>while($row = </a:t>
            </a:r>
            <a:r>
              <a:rPr lang="en-SG" sz="1800" dirty="0" err="1" smtClean="0"/>
              <a:t>mysqli_fetch_array</a:t>
            </a:r>
            <a:r>
              <a:rPr lang="en-SG" sz="1800" dirty="0" smtClean="0"/>
              <a:t>($result))</a:t>
            </a:r>
            <a:br>
              <a:rPr lang="en-SG" sz="1800" dirty="0" smtClean="0"/>
            </a:br>
            <a:r>
              <a:rPr lang="en-SG" sz="1800" dirty="0" smtClean="0"/>
              <a:t>  </a:t>
            </a:r>
            <a:r>
              <a:rPr lang="en-SG" sz="1800" dirty="0" smtClean="0"/>
              <a:t>{</a:t>
            </a:r>
            <a:r>
              <a:rPr lang="en-SG" sz="1800" dirty="0" smtClean="0"/>
              <a:t>  echo </a:t>
            </a:r>
            <a:r>
              <a:rPr lang="en-SG" sz="1800" dirty="0" smtClean="0">
                <a:solidFill>
                  <a:srgbClr val="FF0000"/>
                </a:solidFill>
              </a:rPr>
              <a:t>"&lt;</a:t>
            </a:r>
            <a:r>
              <a:rPr lang="en-SG" sz="1800" dirty="0" err="1" smtClean="0">
                <a:solidFill>
                  <a:srgbClr val="FF0000"/>
                </a:solidFill>
              </a:rPr>
              <a:t>tr</a:t>
            </a:r>
            <a:r>
              <a:rPr lang="en-SG" sz="1800" dirty="0" smtClean="0">
                <a:solidFill>
                  <a:srgbClr val="FF0000"/>
                </a:solidFill>
              </a:rPr>
              <a:t>&gt;";</a:t>
            </a:r>
            <a:r>
              <a:rPr lang="en-SG" sz="1800" dirty="0" smtClean="0"/>
              <a:t/>
            </a:r>
            <a:br>
              <a:rPr lang="en-SG" sz="1800" dirty="0" smtClean="0"/>
            </a:br>
            <a:r>
              <a:rPr lang="en-SG" sz="1800" dirty="0" smtClean="0"/>
              <a:t>  echo </a:t>
            </a:r>
            <a:r>
              <a:rPr lang="en-SG" sz="1800" dirty="0" smtClean="0">
                <a:solidFill>
                  <a:srgbClr val="FF0000"/>
                </a:solidFill>
              </a:rPr>
              <a:t>"&lt;td&gt;" </a:t>
            </a:r>
            <a:r>
              <a:rPr lang="en-SG" sz="1800" dirty="0" smtClean="0"/>
              <a:t>. $row['</a:t>
            </a:r>
            <a:r>
              <a:rPr lang="en-SG" sz="1800" dirty="0" err="1" smtClean="0"/>
              <a:t>FirstName</a:t>
            </a:r>
            <a:r>
              <a:rPr lang="en-SG" sz="1800" dirty="0" smtClean="0"/>
              <a:t>'] . </a:t>
            </a:r>
            <a:r>
              <a:rPr lang="en-SG" sz="1800" dirty="0" smtClean="0">
                <a:solidFill>
                  <a:srgbClr val="FF0000"/>
                </a:solidFill>
              </a:rPr>
              <a:t>"&lt;/td&gt;";</a:t>
            </a:r>
            <a:r>
              <a:rPr lang="en-SG" sz="1800" dirty="0" smtClean="0"/>
              <a:t/>
            </a:r>
            <a:br>
              <a:rPr lang="en-SG" sz="1800" dirty="0" smtClean="0"/>
            </a:br>
            <a:r>
              <a:rPr lang="en-SG" sz="1800" dirty="0" smtClean="0"/>
              <a:t>  echo </a:t>
            </a:r>
            <a:r>
              <a:rPr lang="en-SG" sz="1800" dirty="0" smtClean="0">
                <a:solidFill>
                  <a:srgbClr val="FF0000"/>
                </a:solidFill>
              </a:rPr>
              <a:t>"&lt;td&gt;" </a:t>
            </a:r>
            <a:r>
              <a:rPr lang="en-SG" sz="1800" dirty="0" smtClean="0"/>
              <a:t>. $row['</a:t>
            </a:r>
            <a:r>
              <a:rPr lang="en-SG" sz="1800" dirty="0" err="1" smtClean="0"/>
              <a:t>LastName</a:t>
            </a:r>
            <a:r>
              <a:rPr lang="en-SG" sz="1800" dirty="0" smtClean="0"/>
              <a:t>'] . </a:t>
            </a:r>
            <a:r>
              <a:rPr lang="en-SG" sz="1800" dirty="0" smtClean="0">
                <a:solidFill>
                  <a:srgbClr val="FF0000"/>
                </a:solidFill>
              </a:rPr>
              <a:t>"&lt;/td&gt;"</a:t>
            </a:r>
            <a:r>
              <a:rPr lang="en-SG" sz="1800" dirty="0" smtClean="0"/>
              <a:t>;</a:t>
            </a:r>
            <a:br>
              <a:rPr lang="en-SG" sz="1800" dirty="0" smtClean="0"/>
            </a:br>
            <a:r>
              <a:rPr lang="en-SG" sz="1800" dirty="0" smtClean="0"/>
              <a:t>  echo </a:t>
            </a:r>
            <a:r>
              <a:rPr lang="en-SG" sz="1800" dirty="0" smtClean="0">
                <a:solidFill>
                  <a:srgbClr val="FF0000"/>
                </a:solidFill>
              </a:rPr>
              <a:t>"&lt;/</a:t>
            </a:r>
            <a:r>
              <a:rPr lang="en-SG" sz="1800" dirty="0" err="1" smtClean="0">
                <a:solidFill>
                  <a:srgbClr val="FF0000"/>
                </a:solidFill>
              </a:rPr>
              <a:t>tr</a:t>
            </a:r>
            <a:r>
              <a:rPr lang="en-SG" sz="1800" dirty="0" smtClean="0">
                <a:solidFill>
                  <a:srgbClr val="FF0000"/>
                </a:solidFill>
              </a:rPr>
              <a:t>&gt;";</a:t>
            </a:r>
            <a:r>
              <a:rPr lang="en-SG" sz="1800" dirty="0" smtClean="0"/>
              <a:t>  </a:t>
            </a:r>
            <a:r>
              <a:rPr lang="en-SG" sz="1800" dirty="0" smtClean="0"/>
              <a:t>}</a:t>
            </a:r>
            <a:br>
              <a:rPr lang="en-SG" sz="1800" dirty="0" smtClean="0"/>
            </a:br>
            <a:r>
              <a:rPr lang="en-SG" sz="1800" dirty="0" smtClean="0"/>
              <a:t>echo </a:t>
            </a:r>
            <a:r>
              <a:rPr lang="en-SG" sz="1800" dirty="0" smtClean="0"/>
              <a:t>"&lt;/table&gt;";</a:t>
            </a:r>
            <a:br>
              <a:rPr lang="en-SG" sz="1800" dirty="0" smtClean="0"/>
            </a:br>
            <a:r>
              <a:rPr lang="en-SG" sz="1200" dirty="0" err="1" smtClean="0"/>
              <a:t>mysqli_close</a:t>
            </a:r>
            <a:r>
              <a:rPr lang="en-SG" sz="1200" dirty="0" smtClean="0"/>
              <a:t>($con);</a:t>
            </a:r>
            <a:br>
              <a:rPr lang="en-SG" sz="1200" dirty="0" smtClean="0"/>
            </a:br>
            <a:r>
              <a:rPr lang="en-SG" sz="1200" dirty="0" smtClean="0"/>
              <a:t>?&gt;</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11</a:t>
            </a:fld>
            <a:endParaRPr lang="en-US"/>
          </a:p>
        </p:txBody>
      </p:sp>
      <p:sp>
        <p:nvSpPr>
          <p:cNvPr id="6" name="Rounded Rectangle 5"/>
          <p:cNvSpPr/>
          <p:nvPr/>
        </p:nvSpPr>
        <p:spPr>
          <a:xfrm>
            <a:off x="6324600" y="2667000"/>
            <a:ext cx="2819400" cy="2438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smtClean="0">
              <a:solidFill>
                <a:schemeClr val="tx1"/>
              </a:solidFill>
              <a:latin typeface="Courier" pitchFamily="49" charset="0"/>
            </a:endParaRPr>
          </a:p>
          <a:p>
            <a:r>
              <a:rPr lang="en-SG" sz="2000" dirty="0" smtClean="0"/>
              <a:t/>
            </a:r>
            <a:br>
              <a:rPr lang="en-SG" sz="2000" dirty="0" smtClean="0"/>
            </a:br>
            <a:endParaRPr lang="en-SG" sz="2000" b="1" dirty="0">
              <a:solidFill>
                <a:schemeClr val="tx1"/>
              </a:solidFill>
              <a:latin typeface="Courier" pitchFamily="49" charset="0"/>
            </a:endParaRPr>
          </a:p>
        </p:txBody>
      </p:sp>
      <p:sp>
        <p:nvSpPr>
          <p:cNvPr id="7" name="TextBox 6"/>
          <p:cNvSpPr txBox="1"/>
          <p:nvPr/>
        </p:nvSpPr>
        <p:spPr>
          <a:xfrm>
            <a:off x="6705600" y="2133600"/>
            <a:ext cx="1149674" cy="646331"/>
          </a:xfrm>
          <a:prstGeom prst="rect">
            <a:avLst/>
          </a:prstGeom>
          <a:noFill/>
        </p:spPr>
        <p:txBody>
          <a:bodyPr wrap="none" rtlCol="0">
            <a:spAutoFit/>
          </a:bodyPr>
          <a:lstStyle/>
          <a:p>
            <a:r>
              <a:rPr lang="en-US" b="1" dirty="0" smtClean="0">
                <a:latin typeface="Courier" pitchFamily="49" charset="0"/>
              </a:rPr>
              <a:t>Output:</a:t>
            </a:r>
          </a:p>
          <a:p>
            <a:endParaRPr lang="en-SG" dirty="0"/>
          </a:p>
        </p:txBody>
      </p:sp>
      <p:graphicFrame>
        <p:nvGraphicFramePr>
          <p:cNvPr id="8" name="Table 7"/>
          <p:cNvGraphicFramePr>
            <a:graphicFrameLocks noGrp="1"/>
          </p:cNvGraphicFramePr>
          <p:nvPr/>
        </p:nvGraphicFramePr>
        <p:xfrm>
          <a:off x="6553200" y="3352800"/>
          <a:ext cx="2438400" cy="1066800"/>
        </p:xfrm>
        <a:graphic>
          <a:graphicData uri="http://schemas.openxmlformats.org/drawingml/2006/table">
            <a:tbl>
              <a:tblPr>
                <a:tableStyleId>{2D5ABB26-0587-4C30-8999-92F81FD0307C}</a:tableStyleId>
              </a:tblPr>
              <a:tblGrid>
                <a:gridCol w="1219200"/>
                <a:gridCol w="1219200"/>
              </a:tblGrid>
              <a:tr h="355600">
                <a:tc>
                  <a:txBody>
                    <a:bodyPr/>
                    <a:lstStyle/>
                    <a:p>
                      <a:r>
                        <a:rPr lang="en-SG" sz="1200" b="1" dirty="0" err="1"/>
                        <a:t>Firstname</a:t>
                      </a:r>
                      <a:endParaRPr lang="en-SG" sz="1200" b="1" dirty="0">
                        <a:latin typeface="verdan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200" b="1" dirty="0" err="1"/>
                        <a:t>Lastname</a:t>
                      </a:r>
                      <a:endParaRPr lang="en-SG" sz="1200" b="1" dirty="0">
                        <a:latin typeface="verdan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5600">
                <a:tc>
                  <a:txBody>
                    <a:bodyPr/>
                    <a:lstStyle/>
                    <a:p>
                      <a:r>
                        <a:rPr lang="en-SG" sz="1200" dirty="0" smtClean="0"/>
                        <a:t>Tommy </a:t>
                      </a:r>
                      <a:endParaRPr lang="en-SG" sz="1200" dirty="0">
                        <a:latin typeface="verdan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200" dirty="0" smtClean="0"/>
                        <a:t>Low</a:t>
                      </a:r>
                      <a:endParaRPr lang="en-SG" sz="1200" dirty="0">
                        <a:latin typeface="verdan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5600">
                <a:tc>
                  <a:txBody>
                    <a:bodyPr/>
                    <a:lstStyle/>
                    <a:p>
                      <a:r>
                        <a:rPr lang="en-SG" sz="1200" dirty="0" smtClean="0"/>
                        <a:t>Vincent</a:t>
                      </a:r>
                      <a:endParaRPr lang="en-SG" sz="1200" dirty="0">
                        <a:latin typeface="verdan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200" dirty="0" smtClean="0"/>
                        <a:t>Lim</a:t>
                      </a:r>
                      <a:endParaRPr lang="en-SG" sz="1200" dirty="0">
                        <a:latin typeface="verdan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Inserting Data:</a:t>
            </a:r>
            <a:endParaRPr lang="en-US" sz="3600" dirty="0"/>
          </a:p>
        </p:txBody>
      </p:sp>
      <p:sp>
        <p:nvSpPr>
          <p:cNvPr id="3" name="Content Placeholder 2"/>
          <p:cNvSpPr>
            <a:spLocks noGrp="1"/>
          </p:cNvSpPr>
          <p:nvPr>
            <p:ph idx="1"/>
          </p:nvPr>
        </p:nvSpPr>
        <p:spPr>
          <a:xfrm>
            <a:off x="304800" y="1295400"/>
            <a:ext cx="8839200" cy="5334000"/>
          </a:xfrm>
          <a:solidFill>
            <a:srgbClr val="FFFF00"/>
          </a:solidFill>
        </p:spPr>
        <p:txBody>
          <a:bodyPr>
            <a:noAutofit/>
          </a:bodyPr>
          <a:lstStyle/>
          <a:p>
            <a:pPr>
              <a:spcAft>
                <a:spcPts val="1000"/>
              </a:spcAft>
              <a:buNone/>
            </a:pPr>
            <a:r>
              <a:rPr lang="en-SG" sz="1600" dirty="0" smtClean="0"/>
              <a:t>SQL Insert COMMAND:</a:t>
            </a:r>
          </a:p>
          <a:p>
            <a:pPr>
              <a:spcAft>
                <a:spcPts val="1000"/>
              </a:spcAft>
              <a:buNone/>
            </a:pP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12</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9" name="Table 8"/>
          <p:cNvGraphicFramePr>
            <a:graphicFrameLocks noGrp="1"/>
          </p:cNvGraphicFramePr>
          <p:nvPr/>
        </p:nvGraphicFramePr>
        <p:xfrm>
          <a:off x="533400" y="1676400"/>
          <a:ext cx="8229600" cy="1828800"/>
        </p:xfrm>
        <a:graphic>
          <a:graphicData uri="http://schemas.openxmlformats.org/drawingml/2006/table">
            <a:tbl>
              <a:tblPr firstRow="1" bandRow="1">
                <a:tableStyleId>{073A0DAA-6AF3-43AB-8588-CEC1D06C72B9}</a:tableStyleId>
              </a:tblPr>
              <a:tblGrid>
                <a:gridCol w="8229600"/>
              </a:tblGrid>
              <a:tr h="1828800">
                <a:tc>
                  <a:txBody>
                    <a:bodyPr/>
                    <a:lstStyle/>
                    <a:p>
                      <a:r>
                        <a:rPr lang="en-SG" sz="2800" b="0" i="0" kern="1200" dirty="0" smtClean="0">
                          <a:solidFill>
                            <a:schemeClr val="lt1"/>
                          </a:solidFill>
                          <a:latin typeface="+mn-lt"/>
                          <a:ea typeface="+mn-ea"/>
                          <a:cs typeface="+mn-cs"/>
                        </a:rPr>
                        <a:t>INSERT INTO </a:t>
                      </a:r>
                      <a:r>
                        <a:rPr lang="en-SG" sz="2800" b="0" i="0" kern="1200" dirty="0" err="1" smtClean="0">
                          <a:solidFill>
                            <a:schemeClr val="lt1"/>
                          </a:solidFill>
                          <a:latin typeface="+mn-lt"/>
                          <a:ea typeface="+mn-ea"/>
                          <a:cs typeface="+mn-cs"/>
                        </a:rPr>
                        <a:t>table_name</a:t>
                      </a:r>
                      <a:r>
                        <a:rPr lang="en-SG" sz="2800" b="0" i="0" kern="1200" dirty="0" smtClean="0">
                          <a:solidFill>
                            <a:schemeClr val="lt1"/>
                          </a:solidFill>
                          <a:latin typeface="+mn-lt"/>
                          <a:ea typeface="+mn-ea"/>
                          <a:cs typeface="+mn-cs"/>
                        </a:rPr>
                        <a:t> (</a:t>
                      </a:r>
                      <a:r>
                        <a:rPr lang="en-SG" sz="2800" b="0" i="0" kern="1200" dirty="0" err="1" smtClean="0">
                          <a:solidFill>
                            <a:schemeClr val="lt1"/>
                          </a:solidFill>
                          <a:latin typeface="+mn-lt"/>
                          <a:ea typeface="+mn-ea"/>
                          <a:cs typeface="+mn-cs"/>
                        </a:rPr>
                        <a:t>column1</a:t>
                      </a:r>
                      <a:r>
                        <a:rPr lang="en-SG" sz="2800" b="0" i="0" kern="1200" dirty="0" smtClean="0">
                          <a:solidFill>
                            <a:schemeClr val="lt1"/>
                          </a:solidFill>
                          <a:latin typeface="+mn-lt"/>
                          <a:ea typeface="+mn-ea"/>
                          <a:cs typeface="+mn-cs"/>
                        </a:rPr>
                        <a:t>, </a:t>
                      </a:r>
                      <a:r>
                        <a:rPr lang="en-SG" sz="2800" b="0" i="0" kern="1200" dirty="0" err="1" smtClean="0">
                          <a:solidFill>
                            <a:schemeClr val="lt1"/>
                          </a:solidFill>
                          <a:latin typeface="+mn-lt"/>
                          <a:ea typeface="+mn-ea"/>
                          <a:cs typeface="+mn-cs"/>
                        </a:rPr>
                        <a:t>column2</a:t>
                      </a:r>
                      <a:r>
                        <a:rPr lang="en-SG" sz="2800" b="0" i="0" kern="1200" dirty="0" smtClean="0">
                          <a:solidFill>
                            <a:schemeClr val="lt1"/>
                          </a:solidFill>
                          <a:latin typeface="+mn-lt"/>
                          <a:ea typeface="+mn-ea"/>
                          <a:cs typeface="+mn-cs"/>
                        </a:rPr>
                        <a:t>, </a:t>
                      </a:r>
                      <a:r>
                        <a:rPr lang="en-SG" sz="2800" b="0" i="0" kern="1200" dirty="0" err="1" smtClean="0">
                          <a:solidFill>
                            <a:schemeClr val="lt1"/>
                          </a:solidFill>
                          <a:latin typeface="+mn-lt"/>
                          <a:ea typeface="+mn-ea"/>
                          <a:cs typeface="+mn-cs"/>
                        </a:rPr>
                        <a:t>column3</a:t>
                      </a:r>
                      <a:r>
                        <a:rPr lang="en-SG" sz="2800" b="0" i="0" kern="1200" dirty="0" smtClean="0">
                          <a:solidFill>
                            <a:schemeClr val="lt1"/>
                          </a:solidFill>
                          <a:latin typeface="+mn-lt"/>
                          <a:ea typeface="+mn-ea"/>
                          <a:cs typeface="+mn-cs"/>
                        </a:rPr>
                        <a:t>,...)</a:t>
                      </a:r>
                      <a:r>
                        <a:rPr lang="en-SG" sz="2800" dirty="0" smtClean="0"/>
                        <a:t/>
                      </a:r>
                      <a:br>
                        <a:rPr lang="en-SG" sz="2800" dirty="0" smtClean="0"/>
                      </a:br>
                      <a:r>
                        <a:rPr lang="en-SG" sz="2800" b="0" i="0" kern="1200" dirty="0" smtClean="0">
                          <a:solidFill>
                            <a:schemeClr val="lt1"/>
                          </a:solidFill>
                          <a:latin typeface="+mn-lt"/>
                          <a:ea typeface="+mn-ea"/>
                          <a:cs typeface="+mn-cs"/>
                        </a:rPr>
                        <a:t>VALUES (</a:t>
                      </a:r>
                      <a:r>
                        <a:rPr lang="en-SG" sz="2800" b="0" i="0" kern="1200" dirty="0" err="1" smtClean="0">
                          <a:solidFill>
                            <a:schemeClr val="lt1"/>
                          </a:solidFill>
                          <a:latin typeface="+mn-lt"/>
                          <a:ea typeface="+mn-ea"/>
                          <a:cs typeface="+mn-cs"/>
                        </a:rPr>
                        <a:t>value1</a:t>
                      </a:r>
                      <a:r>
                        <a:rPr lang="en-SG" sz="2800" b="0" i="0" kern="1200" dirty="0" smtClean="0">
                          <a:solidFill>
                            <a:schemeClr val="lt1"/>
                          </a:solidFill>
                          <a:latin typeface="+mn-lt"/>
                          <a:ea typeface="+mn-ea"/>
                          <a:cs typeface="+mn-cs"/>
                        </a:rPr>
                        <a:t>, </a:t>
                      </a:r>
                      <a:r>
                        <a:rPr lang="en-SG" sz="2800" b="0" i="0" kern="1200" dirty="0" err="1" smtClean="0">
                          <a:solidFill>
                            <a:schemeClr val="lt1"/>
                          </a:solidFill>
                          <a:latin typeface="+mn-lt"/>
                          <a:ea typeface="+mn-ea"/>
                          <a:cs typeface="+mn-cs"/>
                        </a:rPr>
                        <a:t>value2</a:t>
                      </a:r>
                      <a:r>
                        <a:rPr lang="en-SG" sz="2800" b="0" i="0" kern="1200" dirty="0" smtClean="0">
                          <a:solidFill>
                            <a:schemeClr val="lt1"/>
                          </a:solidFill>
                          <a:latin typeface="+mn-lt"/>
                          <a:ea typeface="+mn-ea"/>
                          <a:cs typeface="+mn-cs"/>
                        </a:rPr>
                        <a:t>, </a:t>
                      </a:r>
                      <a:r>
                        <a:rPr lang="en-SG" sz="2800" b="0" i="0" kern="1200" dirty="0" err="1" smtClean="0">
                          <a:solidFill>
                            <a:schemeClr val="lt1"/>
                          </a:solidFill>
                          <a:latin typeface="+mn-lt"/>
                          <a:ea typeface="+mn-ea"/>
                          <a:cs typeface="+mn-cs"/>
                        </a:rPr>
                        <a:t>value3</a:t>
                      </a:r>
                      <a:r>
                        <a:rPr lang="en-SG" sz="2800" b="0" i="0" kern="1200" dirty="0" smtClean="0">
                          <a:solidFill>
                            <a:schemeClr val="lt1"/>
                          </a:solidFill>
                          <a:latin typeface="+mn-lt"/>
                          <a:ea typeface="+mn-ea"/>
                          <a:cs typeface="+mn-cs"/>
                        </a:rPr>
                        <a:t>,...)</a:t>
                      </a:r>
                      <a:endParaRPr lang="en-SG" sz="2800" dirty="0"/>
                    </a:p>
                  </a:txBody>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Inserting Data:</a:t>
            </a:r>
            <a:endParaRPr lang="en-US" sz="3600" dirty="0"/>
          </a:p>
        </p:txBody>
      </p:sp>
      <p:sp>
        <p:nvSpPr>
          <p:cNvPr id="3" name="Content Placeholder 2"/>
          <p:cNvSpPr>
            <a:spLocks noGrp="1"/>
          </p:cNvSpPr>
          <p:nvPr>
            <p:ph idx="1"/>
          </p:nvPr>
        </p:nvSpPr>
        <p:spPr>
          <a:xfrm>
            <a:off x="304800" y="1295400"/>
            <a:ext cx="8686800" cy="5334000"/>
          </a:xfrm>
          <a:solidFill>
            <a:srgbClr val="FFFF00"/>
          </a:solidFill>
        </p:spPr>
        <p:txBody>
          <a:bodyPr>
            <a:noAutofit/>
          </a:bodyPr>
          <a:lstStyle/>
          <a:p>
            <a:pPr>
              <a:spcAft>
                <a:spcPts val="1000"/>
              </a:spcAft>
              <a:buNone/>
            </a:pPr>
            <a:r>
              <a:rPr lang="en-SG" sz="1600" dirty="0" smtClean="0">
                <a:solidFill>
                  <a:srgbClr val="FF0000"/>
                </a:solidFill>
              </a:rPr>
              <a:t>&lt;?</a:t>
            </a:r>
            <a:r>
              <a:rPr lang="en-SG" sz="1600" dirty="0" err="1" smtClean="0">
                <a:solidFill>
                  <a:srgbClr val="FF0000"/>
                </a:solidFill>
              </a:rPr>
              <a:t>php</a:t>
            </a:r>
            <a:r>
              <a:rPr lang="en-SG" sz="1600" dirty="0" smtClean="0"/>
              <a:t/>
            </a:r>
            <a:br>
              <a:rPr lang="en-SG" sz="1600" dirty="0" smtClean="0"/>
            </a:br>
            <a:r>
              <a:rPr lang="en-US" sz="1200" dirty="0"/>
              <a:t>$con=</a:t>
            </a:r>
            <a:r>
              <a:rPr lang="en-US" sz="1200" dirty="0" err="1"/>
              <a:t>mysqli_connect</a:t>
            </a:r>
            <a:r>
              <a:rPr lang="en-US" sz="1200" dirty="0"/>
              <a:t>("example.com","peter","abc123","my_db");</a:t>
            </a:r>
            <a:r>
              <a:rPr lang="en-US" sz="1200" dirty="0"/>
              <a:t/>
            </a:r>
            <a:br>
              <a:rPr lang="en-US" sz="1200" dirty="0"/>
            </a:br>
            <a:r>
              <a:rPr lang="en-US" sz="1200" dirty="0"/>
              <a:t>// Check connection</a:t>
            </a:r>
            <a:r>
              <a:rPr lang="en-US" sz="1200" dirty="0"/>
              <a:t/>
            </a:r>
            <a:br>
              <a:rPr lang="en-US" sz="1200" dirty="0"/>
            </a:br>
            <a:r>
              <a:rPr lang="en-US" sz="1200" dirty="0"/>
              <a:t>if (</a:t>
            </a:r>
            <a:r>
              <a:rPr lang="en-US" sz="1200" dirty="0" err="1"/>
              <a:t>mysqli_connect_errno</a:t>
            </a:r>
            <a:r>
              <a:rPr lang="en-US" sz="1200" dirty="0"/>
              <a:t>()) {</a:t>
            </a:r>
            <a:r>
              <a:rPr lang="en-US" sz="1200" dirty="0"/>
              <a:t/>
            </a:r>
            <a:br>
              <a:rPr lang="en-US" sz="1200" dirty="0"/>
            </a:br>
            <a:r>
              <a:rPr lang="en-US" sz="1200" dirty="0"/>
              <a:t>  echo "Failed to connect to MySQL: " . </a:t>
            </a:r>
            <a:r>
              <a:rPr lang="en-US" sz="1200" dirty="0" err="1"/>
              <a:t>mysqli_connect_error</a:t>
            </a:r>
            <a:r>
              <a:rPr lang="en-US" sz="1200" dirty="0"/>
              <a:t>();</a:t>
            </a:r>
            <a:r>
              <a:rPr lang="en-US" sz="1200" dirty="0"/>
              <a:t/>
            </a:r>
            <a:br>
              <a:rPr lang="en-US" sz="1200" dirty="0"/>
            </a:br>
            <a:r>
              <a:rPr lang="en-US" sz="1200" dirty="0"/>
              <a:t>}</a:t>
            </a:r>
            <a:r>
              <a:rPr lang="en-US" sz="1200" dirty="0"/>
              <a:t/>
            </a:r>
            <a:br>
              <a:rPr lang="en-US" sz="1200" dirty="0"/>
            </a:br>
            <a:r>
              <a:rPr lang="en-US" sz="2000" dirty="0" err="1"/>
              <a:t>mysqli_query</a:t>
            </a:r>
            <a:r>
              <a:rPr lang="en-US" sz="2000" dirty="0"/>
              <a:t>($</a:t>
            </a:r>
            <a:r>
              <a:rPr lang="en-US" sz="2000" dirty="0" err="1"/>
              <a:t>con,"INSERT</a:t>
            </a:r>
            <a:r>
              <a:rPr lang="en-US" sz="2000" dirty="0"/>
              <a:t> INTO Persons (</a:t>
            </a:r>
            <a:r>
              <a:rPr lang="en-US" sz="2000" dirty="0" err="1"/>
              <a:t>FirstName</a:t>
            </a:r>
            <a:r>
              <a:rPr lang="en-US" sz="2000" dirty="0"/>
              <a:t>, </a:t>
            </a:r>
            <a:r>
              <a:rPr lang="en-US" sz="2000" dirty="0" err="1"/>
              <a:t>LastName</a:t>
            </a:r>
            <a:r>
              <a:rPr lang="en-US" sz="2000" dirty="0"/>
              <a:t>, Age)</a:t>
            </a:r>
            <a:r>
              <a:rPr lang="en-US" sz="2000" dirty="0"/>
              <a:t/>
            </a:r>
            <a:br>
              <a:rPr lang="en-US" sz="2000" dirty="0"/>
            </a:br>
            <a:r>
              <a:rPr lang="en-US" sz="2000" dirty="0"/>
              <a:t>VALUES </a:t>
            </a:r>
            <a:r>
              <a:rPr lang="en-US" sz="2000" dirty="0" smtClean="0"/>
              <a:t>(‘Tommy', ‘Low',25</a:t>
            </a:r>
            <a:r>
              <a:rPr lang="en-US" sz="2000" dirty="0"/>
              <a:t>)");</a:t>
            </a:r>
            <a:r>
              <a:rPr lang="en-US" sz="2000" dirty="0"/>
              <a:t/>
            </a:r>
            <a:br>
              <a:rPr lang="en-US" sz="2000" dirty="0"/>
            </a:br>
            <a:r>
              <a:rPr lang="en-US" sz="2000" dirty="0"/>
              <a:t/>
            </a:r>
            <a:br>
              <a:rPr lang="en-US" sz="2000" dirty="0"/>
            </a:br>
            <a:r>
              <a:rPr lang="en-US" sz="2000" dirty="0" err="1"/>
              <a:t>mysqli_query</a:t>
            </a:r>
            <a:r>
              <a:rPr lang="en-US" sz="2000" dirty="0"/>
              <a:t>($</a:t>
            </a:r>
            <a:r>
              <a:rPr lang="en-US" sz="2000" dirty="0" err="1"/>
              <a:t>con,"INSERT</a:t>
            </a:r>
            <a:r>
              <a:rPr lang="en-US" sz="2000" dirty="0"/>
              <a:t> INTO Persons (</a:t>
            </a:r>
            <a:r>
              <a:rPr lang="en-US" sz="2000" dirty="0" err="1"/>
              <a:t>FirstName</a:t>
            </a:r>
            <a:r>
              <a:rPr lang="en-US" sz="2000" dirty="0"/>
              <a:t>, </a:t>
            </a:r>
            <a:r>
              <a:rPr lang="en-US" sz="2000" dirty="0" err="1"/>
              <a:t>LastName</a:t>
            </a:r>
            <a:r>
              <a:rPr lang="en-US" sz="2000" dirty="0"/>
              <a:t>, Age) </a:t>
            </a:r>
            <a:r>
              <a:rPr lang="en-US" sz="2000" dirty="0"/>
              <a:t/>
            </a:r>
            <a:br>
              <a:rPr lang="en-US" sz="2000" dirty="0"/>
            </a:br>
            <a:r>
              <a:rPr lang="en-US" sz="2000" dirty="0"/>
              <a:t>VALUES </a:t>
            </a:r>
            <a:r>
              <a:rPr lang="en-US" sz="2000" dirty="0" smtClean="0"/>
              <a:t>(‘Vincent', ‘Lin',34)");</a:t>
            </a:r>
            <a:r>
              <a:rPr lang="en-US" sz="2000" dirty="0"/>
              <a:t/>
            </a:r>
            <a:br>
              <a:rPr lang="en-US" sz="2000" dirty="0"/>
            </a:br>
            <a:r>
              <a:rPr lang="en-US" sz="2000" dirty="0"/>
              <a:t/>
            </a:r>
            <a:br>
              <a:rPr lang="en-US" sz="2000" dirty="0"/>
            </a:br>
            <a:r>
              <a:rPr lang="en-US" sz="2000" dirty="0" err="1"/>
              <a:t>mysqli_close</a:t>
            </a:r>
            <a:r>
              <a:rPr lang="en-US" sz="2000" dirty="0"/>
              <a:t>($con</a:t>
            </a:r>
            <a:r>
              <a:rPr lang="en-US" sz="2000" dirty="0" smtClean="0"/>
              <a:t>);’</a:t>
            </a:r>
          </a:p>
          <a:p>
            <a:pPr>
              <a:spcAft>
                <a:spcPts val="1000"/>
              </a:spcAft>
              <a:buNone/>
            </a:pPr>
            <a:r>
              <a:rPr lang="en-SG" sz="1600" dirty="0" smtClean="0">
                <a:solidFill>
                  <a:srgbClr val="FF0000"/>
                </a:solidFill>
              </a:rPr>
              <a:t>?&gt;</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13</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312198846"/>
              </p:ext>
            </p:extLst>
          </p:nvPr>
        </p:nvGraphicFramePr>
        <p:xfrm>
          <a:off x="1066800" y="5029200"/>
          <a:ext cx="6029324" cy="1451610"/>
        </p:xfrm>
        <a:graphic>
          <a:graphicData uri="http://schemas.openxmlformats.org/drawingml/2006/table">
            <a:tbl>
              <a:tblPr/>
              <a:tblGrid>
                <a:gridCol w="1507331"/>
                <a:gridCol w="1507331"/>
                <a:gridCol w="1481138"/>
                <a:gridCol w="1533524"/>
              </a:tblGrid>
              <a:tr h="457200">
                <a:tc>
                  <a:txBody>
                    <a:bodyPr/>
                    <a:lstStyle/>
                    <a:p>
                      <a:pPr algn="l" fontAlgn="t"/>
                      <a:r>
                        <a:rPr lang="en-SG" dirty="0" err="1">
                          <a:latin typeface="verdana"/>
                        </a:rPr>
                        <a:t>LastName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a:latin typeface="verdana"/>
                        </a:rPr>
                        <a:t>FirstName</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Age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Address</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r>
              <a:tr h="0">
                <a:tc>
                  <a:txBody>
                    <a:bodyPr/>
                    <a:lstStyle/>
                    <a:p>
                      <a:pPr fontAlgn="t"/>
                      <a:r>
                        <a:rPr lang="en-SG" dirty="0" smtClean="0">
                          <a:latin typeface="verdana"/>
                        </a:rPr>
                        <a:t>Low</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Tommy</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25</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dirty="0" smtClean="0">
                          <a:latin typeface="verdana"/>
                        </a:rPr>
                        <a:t>Lin</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Vincent</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34</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Inserting Data using HTML Form:</a:t>
            </a:r>
            <a:endParaRPr lang="en-US" sz="3600" dirty="0"/>
          </a:p>
        </p:txBody>
      </p:sp>
      <p:sp>
        <p:nvSpPr>
          <p:cNvPr id="3" name="Content Placeholder 2"/>
          <p:cNvSpPr>
            <a:spLocks noGrp="1"/>
          </p:cNvSpPr>
          <p:nvPr>
            <p:ph idx="1"/>
          </p:nvPr>
        </p:nvSpPr>
        <p:spPr>
          <a:xfrm>
            <a:off x="304800" y="2171700"/>
            <a:ext cx="4191000" cy="3657600"/>
          </a:xfrm>
          <a:solidFill>
            <a:srgbClr val="FFFF00"/>
          </a:solidFill>
          <a:ln w="34925">
            <a:solidFill>
              <a:schemeClr val="tx1"/>
            </a:solidFill>
          </a:ln>
        </p:spPr>
        <p:txBody>
          <a:bodyPr>
            <a:noAutofit/>
          </a:bodyPr>
          <a:lstStyle/>
          <a:p>
            <a:pPr>
              <a:spcAft>
                <a:spcPts val="1000"/>
              </a:spcAft>
              <a:buNone/>
            </a:pPr>
            <a:r>
              <a:rPr lang="en-SG" sz="1600" dirty="0" smtClean="0"/>
              <a:t>&lt;html&gt;</a:t>
            </a:r>
            <a:br>
              <a:rPr lang="en-SG" sz="1600" dirty="0" smtClean="0"/>
            </a:br>
            <a:r>
              <a:rPr lang="en-SG" sz="1600" dirty="0" smtClean="0"/>
              <a:t>&lt;body&gt;</a:t>
            </a:r>
            <a:br>
              <a:rPr lang="en-SG" sz="1600" dirty="0" smtClean="0"/>
            </a:br>
            <a:r>
              <a:rPr lang="en-SG" sz="1600" dirty="0" smtClean="0"/>
              <a:t/>
            </a:r>
            <a:br>
              <a:rPr lang="en-SG" sz="1600" dirty="0" smtClean="0"/>
            </a:br>
            <a:r>
              <a:rPr lang="en-SG" sz="1600" dirty="0" smtClean="0"/>
              <a:t>&lt;form action="</a:t>
            </a:r>
            <a:r>
              <a:rPr lang="en-SG" sz="1600" b="1" dirty="0" err="1" smtClean="0">
                <a:solidFill>
                  <a:srgbClr val="FF0000"/>
                </a:solidFill>
              </a:rPr>
              <a:t>insert.php</a:t>
            </a:r>
            <a:r>
              <a:rPr lang="en-SG" sz="1600" dirty="0" smtClean="0"/>
              <a:t>" method="post"&gt;</a:t>
            </a:r>
            <a:br>
              <a:rPr lang="en-SG" sz="1600" dirty="0" smtClean="0"/>
            </a:br>
            <a:r>
              <a:rPr lang="en-SG" sz="1600" dirty="0" err="1" smtClean="0"/>
              <a:t>Firstname</a:t>
            </a:r>
            <a:r>
              <a:rPr lang="en-SG" sz="1600" dirty="0" smtClean="0"/>
              <a:t>: &lt;input type="text" name="</a:t>
            </a:r>
            <a:r>
              <a:rPr lang="en-SG" sz="1600" dirty="0" err="1" smtClean="0"/>
              <a:t>firstname</a:t>
            </a:r>
            <a:r>
              <a:rPr lang="en-SG" sz="1600" dirty="0" smtClean="0"/>
              <a:t>" /&gt;</a:t>
            </a:r>
            <a:br>
              <a:rPr lang="en-SG" sz="1600" dirty="0" smtClean="0"/>
            </a:br>
            <a:r>
              <a:rPr lang="en-SG" sz="1600" dirty="0" err="1" smtClean="0"/>
              <a:t>Lastname</a:t>
            </a:r>
            <a:r>
              <a:rPr lang="en-SG" sz="1600" dirty="0" smtClean="0"/>
              <a:t>: &lt;input type="text" name="</a:t>
            </a:r>
            <a:r>
              <a:rPr lang="en-SG" sz="1600" dirty="0" err="1" smtClean="0"/>
              <a:t>lastname</a:t>
            </a:r>
            <a:r>
              <a:rPr lang="en-SG" sz="1600" dirty="0" smtClean="0"/>
              <a:t>" /&gt;</a:t>
            </a:r>
            <a:br>
              <a:rPr lang="en-SG" sz="1600" dirty="0" smtClean="0"/>
            </a:br>
            <a:r>
              <a:rPr lang="en-SG" sz="1600" dirty="0" smtClean="0"/>
              <a:t>Age: &lt;input type="text" name="age" /&gt;</a:t>
            </a:r>
            <a:br>
              <a:rPr lang="en-SG" sz="1600" dirty="0" smtClean="0"/>
            </a:br>
            <a:r>
              <a:rPr lang="en-SG" sz="1600" dirty="0" smtClean="0"/>
              <a:t>&lt;input type="submit" /&gt;</a:t>
            </a:r>
            <a:br>
              <a:rPr lang="en-SG" sz="1600" dirty="0" smtClean="0"/>
            </a:br>
            <a:r>
              <a:rPr lang="en-SG" sz="1600" dirty="0" smtClean="0"/>
              <a:t>&lt;/form&gt;</a:t>
            </a:r>
            <a:br>
              <a:rPr lang="en-SG" sz="1600" dirty="0" smtClean="0"/>
            </a:br>
            <a:r>
              <a:rPr lang="en-SG" sz="1600" dirty="0" smtClean="0"/>
              <a:t/>
            </a:r>
            <a:br>
              <a:rPr lang="en-SG" sz="1600" dirty="0" smtClean="0"/>
            </a:br>
            <a:r>
              <a:rPr lang="en-SG" sz="1600" dirty="0" smtClean="0"/>
              <a:t>&lt;/body&gt;</a:t>
            </a:r>
            <a:br>
              <a:rPr lang="en-SG" sz="1600" dirty="0" smtClean="0"/>
            </a:br>
            <a:r>
              <a:rPr lang="en-SG" sz="1600" dirty="0" smtClean="0"/>
              <a:t>&lt;/html&gt;</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14</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Content Placeholder 2"/>
          <p:cNvSpPr txBox="1">
            <a:spLocks/>
          </p:cNvSpPr>
          <p:nvPr/>
        </p:nvSpPr>
        <p:spPr>
          <a:xfrm>
            <a:off x="4343400" y="1693333"/>
            <a:ext cx="4648200" cy="4876800"/>
          </a:xfrm>
          <a:prstGeom prst="rect">
            <a:avLst/>
          </a:prstGeom>
          <a:solidFill>
            <a:srgbClr val="FFFF00"/>
          </a:solidFill>
          <a:ln w="28575">
            <a:solidFill>
              <a:schemeClr val="tx1"/>
            </a:solidFill>
          </a:ln>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pPr>
            <a:r>
              <a:rPr lang="en-SG" sz="1600" dirty="0" smtClean="0"/>
              <a:t>&lt;?</a:t>
            </a:r>
            <a:r>
              <a:rPr lang="en-SG" sz="1600" dirty="0" err="1" smtClean="0"/>
              <a:t>php</a:t>
            </a:r>
            <a:r>
              <a:rPr lang="en-SG" sz="1600" dirty="0" smtClean="0"/>
              <a:t/>
            </a:r>
            <a:br>
              <a:rPr lang="en-SG" sz="1600" dirty="0" smtClean="0"/>
            </a:br>
            <a:r>
              <a:rPr lang="en-US" sz="1600" dirty="0"/>
              <a:t>$con=</a:t>
            </a:r>
            <a:r>
              <a:rPr lang="en-US" sz="1600" dirty="0" err="1"/>
              <a:t>mysqli_connect</a:t>
            </a:r>
            <a:r>
              <a:rPr lang="en-US" sz="1600" dirty="0" smtClean="0"/>
              <a:t>(“localhost","</a:t>
            </a:r>
            <a:r>
              <a:rPr lang="en-US" sz="1600" dirty="0"/>
              <a:t>peter","abc123","my_db");</a:t>
            </a:r>
            <a:r>
              <a:rPr lang="en-US" sz="1600" dirty="0"/>
              <a:t/>
            </a:r>
            <a:br>
              <a:rPr lang="en-US" sz="1600" dirty="0"/>
            </a:br>
            <a:r>
              <a:rPr lang="en-US" sz="1600" dirty="0"/>
              <a:t>// Check connection</a:t>
            </a:r>
            <a:r>
              <a:rPr lang="en-US" sz="1600" dirty="0"/>
              <a:t/>
            </a:r>
            <a:br>
              <a:rPr lang="en-US" sz="1600" dirty="0"/>
            </a:br>
            <a:r>
              <a:rPr lang="en-US" sz="1600" dirty="0"/>
              <a:t>if (</a:t>
            </a:r>
            <a:r>
              <a:rPr lang="en-US" sz="1600" dirty="0" err="1"/>
              <a:t>mysqli_connect_errno</a:t>
            </a:r>
            <a:r>
              <a:rPr lang="en-US" sz="1600" dirty="0"/>
              <a:t>()) {</a:t>
            </a:r>
            <a:r>
              <a:rPr lang="en-US" sz="1600" dirty="0"/>
              <a:t/>
            </a:r>
            <a:br>
              <a:rPr lang="en-US" sz="1600" dirty="0"/>
            </a:br>
            <a:r>
              <a:rPr lang="en-US" sz="1600" dirty="0"/>
              <a:t>  echo "Failed to connect to MySQL: " . </a:t>
            </a:r>
            <a:r>
              <a:rPr lang="en-US" sz="1600" dirty="0" err="1"/>
              <a:t>mysqli_connect_error</a:t>
            </a:r>
            <a:r>
              <a:rPr lang="en-US" sz="1600" dirty="0" smtClean="0"/>
              <a:t>();}</a:t>
            </a:r>
            <a:r>
              <a:rPr lang="en-SG" sz="1600" dirty="0" smtClean="0"/>
              <a:t/>
            </a:r>
            <a:br>
              <a:rPr lang="en-SG" sz="1600" dirty="0" smtClean="0"/>
            </a:br>
            <a:r>
              <a:rPr lang="en-SG" sz="1600" dirty="0" err="1" smtClean="0"/>
              <a:t>mysql_select_db</a:t>
            </a:r>
            <a:r>
              <a:rPr lang="en-SG" sz="1600" dirty="0" smtClean="0"/>
              <a:t>("</a:t>
            </a:r>
            <a:r>
              <a:rPr lang="en-SG" sz="1600" dirty="0" err="1" smtClean="0"/>
              <a:t>my_db</a:t>
            </a:r>
            <a:r>
              <a:rPr lang="en-SG" sz="1600" dirty="0" smtClean="0"/>
              <a:t>", $con);</a:t>
            </a:r>
            <a:br>
              <a:rPr lang="en-SG" sz="1600" dirty="0" smtClean="0"/>
            </a:br>
            <a:r>
              <a:rPr lang="en-SG" sz="1600" dirty="0" smtClean="0"/>
              <a:t/>
            </a:r>
            <a:br>
              <a:rPr lang="en-SG" sz="1600" dirty="0" smtClean="0"/>
            </a:br>
            <a:r>
              <a:rPr lang="en-SG" sz="1600" dirty="0" smtClean="0"/>
              <a:t>$</a:t>
            </a:r>
            <a:r>
              <a:rPr lang="en-SG" sz="1600" dirty="0" err="1" smtClean="0"/>
              <a:t>sql</a:t>
            </a:r>
            <a:r>
              <a:rPr lang="en-SG" sz="1600" dirty="0" smtClean="0"/>
              <a:t>="INSERT INTO Persons (</a:t>
            </a:r>
            <a:r>
              <a:rPr lang="en-SG" sz="1600" dirty="0" err="1" smtClean="0"/>
              <a:t>FirstName</a:t>
            </a:r>
            <a:r>
              <a:rPr lang="en-SG" sz="1600" dirty="0" smtClean="0"/>
              <a:t>, </a:t>
            </a:r>
            <a:r>
              <a:rPr lang="en-SG" sz="1600" dirty="0" err="1" smtClean="0"/>
              <a:t>LastName</a:t>
            </a:r>
            <a:r>
              <a:rPr lang="en-SG" sz="1600" dirty="0" smtClean="0"/>
              <a:t>, Age)</a:t>
            </a:r>
            <a:br>
              <a:rPr lang="en-SG" sz="1600" dirty="0" smtClean="0"/>
            </a:br>
            <a:r>
              <a:rPr lang="en-SG" sz="1600" dirty="0" smtClean="0"/>
              <a:t>VALUES</a:t>
            </a:r>
            <a:br>
              <a:rPr lang="en-SG" sz="1600" dirty="0" smtClean="0"/>
            </a:br>
            <a:r>
              <a:rPr lang="en-SG" sz="1600" dirty="0" smtClean="0"/>
              <a:t>('$_POST[</a:t>
            </a:r>
            <a:r>
              <a:rPr lang="en-SG" sz="1600" dirty="0" err="1" smtClean="0"/>
              <a:t>firstname</a:t>
            </a:r>
            <a:r>
              <a:rPr lang="en-SG" sz="1600" dirty="0" smtClean="0"/>
              <a:t>]','$_POST[</a:t>
            </a:r>
            <a:r>
              <a:rPr lang="en-SG" sz="1600" dirty="0" err="1" smtClean="0"/>
              <a:t>lastname</a:t>
            </a:r>
            <a:r>
              <a:rPr lang="en-SG" sz="1600" dirty="0" smtClean="0"/>
              <a:t>]','$_POST[age]')";</a:t>
            </a:r>
            <a:br>
              <a:rPr lang="en-SG" sz="1600" dirty="0" smtClean="0"/>
            </a:br>
            <a:r>
              <a:rPr lang="en-SG" sz="1600" dirty="0" smtClean="0"/>
              <a:t/>
            </a:r>
            <a:br>
              <a:rPr lang="en-SG" sz="1600" dirty="0" smtClean="0"/>
            </a:br>
            <a:r>
              <a:rPr lang="en-US" sz="1600" dirty="0"/>
              <a:t>if (!</a:t>
            </a:r>
            <a:r>
              <a:rPr lang="en-US" sz="1600" dirty="0" err="1"/>
              <a:t>mysqli_query</a:t>
            </a:r>
            <a:r>
              <a:rPr lang="en-US" sz="1600" dirty="0"/>
              <a:t>($con,$</a:t>
            </a:r>
            <a:r>
              <a:rPr lang="en-US" sz="1600" dirty="0" err="1"/>
              <a:t>sql</a:t>
            </a:r>
            <a:r>
              <a:rPr lang="en-US" sz="1600" dirty="0"/>
              <a:t>)) {</a:t>
            </a:r>
            <a:r>
              <a:rPr lang="en-US" sz="1600" dirty="0"/>
              <a:t/>
            </a:r>
            <a:br>
              <a:rPr lang="en-US" sz="1600" dirty="0"/>
            </a:br>
            <a:r>
              <a:rPr lang="en-US" sz="1600" dirty="0"/>
              <a:t>  die('Error: ' . </a:t>
            </a:r>
            <a:r>
              <a:rPr lang="en-US" sz="1600" dirty="0" err="1"/>
              <a:t>mysqli_error</a:t>
            </a:r>
            <a:r>
              <a:rPr lang="en-US" sz="1600" dirty="0"/>
              <a:t>($con</a:t>
            </a:r>
            <a:r>
              <a:rPr lang="en-US" sz="1600" dirty="0" smtClean="0"/>
              <a:t>));}</a:t>
            </a:r>
            <a:r>
              <a:rPr lang="en-US" sz="1600" dirty="0"/>
              <a:t/>
            </a:r>
            <a:br>
              <a:rPr lang="en-US" sz="1600" dirty="0"/>
            </a:br>
            <a:r>
              <a:rPr lang="en-US" sz="1600" dirty="0"/>
              <a:t>echo "1 record added";</a:t>
            </a:r>
            <a:r>
              <a:rPr lang="en-US" sz="1600" dirty="0"/>
              <a:t/>
            </a:r>
            <a:br>
              <a:rPr lang="en-US" sz="1600" dirty="0"/>
            </a:br>
            <a:r>
              <a:rPr lang="en-SG" sz="1600" dirty="0" err="1" smtClean="0"/>
              <a:t>mysqli_close</a:t>
            </a:r>
            <a:r>
              <a:rPr lang="en-SG" sz="1600" dirty="0" smtClean="0"/>
              <a:t>($con);</a:t>
            </a:r>
            <a:br>
              <a:rPr lang="en-SG" sz="1600" dirty="0" smtClean="0"/>
            </a:br>
            <a:r>
              <a:rPr lang="en-SG" sz="1600" dirty="0" smtClean="0"/>
              <a:t>?&gt;</a:t>
            </a:r>
            <a:endParaRPr kumimoji="0" lang="en-US" sz="1600" b="0" i="0" u="none" strike="noStrike" kern="1200" cap="none" spc="0" normalizeH="0" baseline="0" noProof="0" dirty="0" smtClean="0">
              <a:ln>
                <a:noFill/>
              </a:ln>
              <a:solidFill>
                <a:srgbClr val="FF0000"/>
              </a:solidFill>
              <a:effectLst/>
              <a:uLnTx/>
              <a:uFillTx/>
              <a:latin typeface="+mn-lt"/>
              <a:ea typeface="+mn-ea"/>
              <a:cs typeface="+mn-cs"/>
            </a:endParaRPr>
          </a:p>
        </p:txBody>
      </p:sp>
      <p:sp>
        <p:nvSpPr>
          <p:cNvPr id="4" name="TextBox 3"/>
          <p:cNvSpPr txBox="1"/>
          <p:nvPr/>
        </p:nvSpPr>
        <p:spPr>
          <a:xfrm>
            <a:off x="1742560" y="1840468"/>
            <a:ext cx="1165255" cy="369332"/>
          </a:xfrm>
          <a:prstGeom prst="rect">
            <a:avLst/>
          </a:prstGeom>
          <a:noFill/>
        </p:spPr>
        <p:txBody>
          <a:bodyPr wrap="none" rtlCol="0">
            <a:spAutoFit/>
          </a:bodyPr>
          <a:lstStyle/>
          <a:p>
            <a:r>
              <a:rPr lang="en-US" dirty="0" smtClean="0"/>
              <a:t>Form.html</a:t>
            </a:r>
            <a:endParaRPr lang="en-US" dirty="0"/>
          </a:p>
        </p:txBody>
      </p:sp>
      <p:sp>
        <p:nvSpPr>
          <p:cNvPr id="8" name="TextBox 7"/>
          <p:cNvSpPr txBox="1"/>
          <p:nvPr/>
        </p:nvSpPr>
        <p:spPr>
          <a:xfrm>
            <a:off x="6248400" y="1324001"/>
            <a:ext cx="1149674" cy="369332"/>
          </a:xfrm>
          <a:prstGeom prst="rect">
            <a:avLst/>
          </a:prstGeom>
          <a:noFill/>
        </p:spPr>
        <p:txBody>
          <a:bodyPr wrap="none" rtlCol="0">
            <a:spAutoFit/>
          </a:bodyPr>
          <a:lstStyle/>
          <a:p>
            <a:r>
              <a:rPr lang="en-US" dirty="0" err="1" smtClean="0"/>
              <a:t>Insert.php</a:t>
            </a:r>
            <a:endParaRPr lang="en-US"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Update data into database:</a:t>
            </a:r>
            <a:endParaRPr lang="en-US" sz="3600" dirty="0"/>
          </a:p>
        </p:txBody>
      </p:sp>
      <p:sp>
        <p:nvSpPr>
          <p:cNvPr id="3" name="Content Placeholder 2"/>
          <p:cNvSpPr>
            <a:spLocks noGrp="1"/>
          </p:cNvSpPr>
          <p:nvPr>
            <p:ph idx="1"/>
          </p:nvPr>
        </p:nvSpPr>
        <p:spPr>
          <a:xfrm>
            <a:off x="304800" y="1295400"/>
            <a:ext cx="8839200" cy="5334000"/>
          </a:xfrm>
          <a:solidFill>
            <a:srgbClr val="FFFF00"/>
          </a:solidFill>
        </p:spPr>
        <p:txBody>
          <a:bodyPr>
            <a:noAutofit/>
          </a:bodyPr>
          <a:lstStyle/>
          <a:p>
            <a:pPr>
              <a:spcAft>
                <a:spcPts val="1000"/>
              </a:spcAft>
              <a:buNone/>
            </a:pPr>
            <a:r>
              <a:rPr lang="en-SG" sz="1600" dirty="0" smtClean="0"/>
              <a:t>SQL Insert COMMAND:</a:t>
            </a: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r>
              <a:rPr lang="en-SG" sz="1600" dirty="0" smtClean="0"/>
              <a:t>    Notice the WHERE clause in the UPDATE syntax. The WHERE clause specifies which record or records that should be updated. If you omit the WHERE clause, all records will be updated!</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15</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9" name="Table 8"/>
          <p:cNvGraphicFramePr>
            <a:graphicFrameLocks noGrp="1"/>
          </p:cNvGraphicFramePr>
          <p:nvPr/>
        </p:nvGraphicFramePr>
        <p:xfrm>
          <a:off x="457200" y="1676400"/>
          <a:ext cx="8229600" cy="1828800"/>
        </p:xfrm>
        <a:graphic>
          <a:graphicData uri="http://schemas.openxmlformats.org/drawingml/2006/table">
            <a:tbl>
              <a:tblPr firstRow="1" bandRow="1">
                <a:tableStyleId>{073A0DAA-6AF3-43AB-8588-CEC1D06C72B9}</a:tableStyleId>
              </a:tblPr>
              <a:tblGrid>
                <a:gridCol w="8229600"/>
              </a:tblGrid>
              <a:tr h="1828800">
                <a:tc>
                  <a:txBody>
                    <a:bodyPr/>
                    <a:lstStyle/>
                    <a:p>
                      <a:r>
                        <a:rPr lang="en-SG" sz="1800" b="0" i="0" kern="1200" dirty="0" smtClean="0">
                          <a:solidFill>
                            <a:schemeClr val="lt1"/>
                          </a:solidFill>
                          <a:latin typeface="+mn-lt"/>
                          <a:ea typeface="+mn-ea"/>
                          <a:cs typeface="+mn-cs"/>
                        </a:rPr>
                        <a:t>UPDATE </a:t>
                      </a:r>
                      <a:r>
                        <a:rPr lang="en-SG" sz="1800" b="0" i="0" kern="1200" dirty="0" err="1" smtClean="0">
                          <a:solidFill>
                            <a:schemeClr val="lt1"/>
                          </a:solidFill>
                          <a:latin typeface="+mn-lt"/>
                          <a:ea typeface="+mn-ea"/>
                          <a:cs typeface="+mn-cs"/>
                        </a:rPr>
                        <a:t>table_name</a:t>
                      </a:r>
                      <a:r>
                        <a:rPr lang="en-SG" sz="2800" dirty="0" smtClean="0"/>
                        <a:t/>
                      </a:r>
                      <a:br>
                        <a:rPr lang="en-SG" sz="2800" dirty="0" smtClean="0"/>
                      </a:br>
                      <a:r>
                        <a:rPr lang="en-SG" sz="1800" b="0" i="0" kern="1200" dirty="0" smtClean="0">
                          <a:solidFill>
                            <a:schemeClr val="lt1"/>
                          </a:solidFill>
                          <a:latin typeface="+mn-lt"/>
                          <a:ea typeface="+mn-ea"/>
                          <a:cs typeface="+mn-cs"/>
                        </a:rPr>
                        <a:t>SET </a:t>
                      </a:r>
                      <a:r>
                        <a:rPr lang="en-SG" sz="1800" b="0" i="0" kern="1200" dirty="0" err="1" smtClean="0">
                          <a:solidFill>
                            <a:schemeClr val="lt1"/>
                          </a:solidFill>
                          <a:latin typeface="+mn-lt"/>
                          <a:ea typeface="+mn-ea"/>
                          <a:cs typeface="+mn-cs"/>
                        </a:rPr>
                        <a:t>column1</a:t>
                      </a:r>
                      <a:r>
                        <a:rPr lang="en-SG" sz="1800" b="0" i="0" kern="1200" dirty="0" smtClean="0">
                          <a:solidFill>
                            <a:schemeClr val="lt1"/>
                          </a:solidFill>
                          <a:latin typeface="+mn-lt"/>
                          <a:ea typeface="+mn-ea"/>
                          <a:cs typeface="+mn-cs"/>
                        </a:rPr>
                        <a:t>=value, </a:t>
                      </a:r>
                      <a:r>
                        <a:rPr lang="en-SG" sz="1800" b="0" i="0" kern="1200" dirty="0" err="1" smtClean="0">
                          <a:solidFill>
                            <a:schemeClr val="lt1"/>
                          </a:solidFill>
                          <a:latin typeface="+mn-lt"/>
                          <a:ea typeface="+mn-ea"/>
                          <a:cs typeface="+mn-cs"/>
                        </a:rPr>
                        <a:t>column2</a:t>
                      </a:r>
                      <a:r>
                        <a:rPr lang="en-SG" sz="1800" b="0" i="0" kern="1200" dirty="0" smtClean="0">
                          <a:solidFill>
                            <a:schemeClr val="lt1"/>
                          </a:solidFill>
                          <a:latin typeface="+mn-lt"/>
                          <a:ea typeface="+mn-ea"/>
                          <a:cs typeface="+mn-cs"/>
                        </a:rPr>
                        <a:t>=</a:t>
                      </a:r>
                      <a:r>
                        <a:rPr lang="en-SG" sz="1800" b="0" i="0" kern="1200" dirty="0" err="1" smtClean="0">
                          <a:solidFill>
                            <a:schemeClr val="lt1"/>
                          </a:solidFill>
                          <a:latin typeface="+mn-lt"/>
                          <a:ea typeface="+mn-ea"/>
                          <a:cs typeface="+mn-cs"/>
                        </a:rPr>
                        <a:t>value2</a:t>
                      </a:r>
                      <a:r>
                        <a:rPr lang="en-SG" sz="1800" b="0" i="0" kern="1200" dirty="0" smtClean="0">
                          <a:solidFill>
                            <a:schemeClr val="lt1"/>
                          </a:solidFill>
                          <a:latin typeface="+mn-lt"/>
                          <a:ea typeface="+mn-ea"/>
                          <a:cs typeface="+mn-cs"/>
                        </a:rPr>
                        <a:t>,...</a:t>
                      </a:r>
                      <a:r>
                        <a:rPr lang="en-SG" sz="2800" dirty="0" smtClean="0"/>
                        <a:t/>
                      </a:r>
                      <a:br>
                        <a:rPr lang="en-SG" sz="2800" dirty="0" smtClean="0"/>
                      </a:br>
                      <a:r>
                        <a:rPr lang="en-SG" sz="1800" b="0" i="0" kern="1200" dirty="0" smtClean="0">
                          <a:solidFill>
                            <a:schemeClr val="lt1"/>
                          </a:solidFill>
                          <a:latin typeface="+mn-lt"/>
                          <a:ea typeface="+mn-ea"/>
                          <a:cs typeface="+mn-cs"/>
                        </a:rPr>
                        <a:t>WHERE </a:t>
                      </a:r>
                      <a:r>
                        <a:rPr lang="en-SG" sz="1800" b="0" i="0" kern="1200" dirty="0" err="1" smtClean="0">
                          <a:solidFill>
                            <a:schemeClr val="lt1"/>
                          </a:solidFill>
                          <a:latin typeface="+mn-lt"/>
                          <a:ea typeface="+mn-ea"/>
                          <a:cs typeface="+mn-cs"/>
                        </a:rPr>
                        <a:t>some_column</a:t>
                      </a:r>
                      <a:r>
                        <a:rPr lang="en-SG" sz="1800" b="0" i="0" kern="1200" dirty="0" smtClean="0">
                          <a:solidFill>
                            <a:schemeClr val="lt1"/>
                          </a:solidFill>
                          <a:latin typeface="+mn-lt"/>
                          <a:ea typeface="+mn-ea"/>
                          <a:cs typeface="+mn-cs"/>
                        </a:rPr>
                        <a:t>=</a:t>
                      </a:r>
                      <a:r>
                        <a:rPr lang="en-SG" sz="1800" b="0" i="0" kern="1200" dirty="0" err="1" smtClean="0">
                          <a:solidFill>
                            <a:schemeClr val="lt1"/>
                          </a:solidFill>
                          <a:latin typeface="+mn-lt"/>
                          <a:ea typeface="+mn-ea"/>
                          <a:cs typeface="+mn-cs"/>
                        </a:rPr>
                        <a:t>some_value</a:t>
                      </a:r>
                      <a:endParaRPr lang="en-SG" sz="1800" b="0" i="0" kern="1200" dirty="0" smtClean="0">
                        <a:solidFill>
                          <a:schemeClr val="lt1"/>
                        </a:solidFill>
                        <a:latin typeface="+mn-lt"/>
                        <a:ea typeface="+mn-ea"/>
                        <a:cs typeface="+mn-cs"/>
                      </a:endParaRPr>
                    </a:p>
                    <a:p>
                      <a:endParaRPr lang="en-US" sz="1800" b="0" i="0" kern="1200" dirty="0" smtClean="0">
                        <a:solidFill>
                          <a:schemeClr val="lt1"/>
                        </a:solidFill>
                        <a:latin typeface="+mn-lt"/>
                        <a:ea typeface="+mn-ea"/>
                        <a:cs typeface="+mn-cs"/>
                      </a:endParaRPr>
                    </a:p>
                    <a:p>
                      <a:r>
                        <a:rPr lang="en-SG" sz="1800" b="0" i="0" kern="1200" dirty="0" smtClean="0">
                          <a:solidFill>
                            <a:schemeClr val="lt1"/>
                          </a:solidFill>
                          <a:latin typeface="+mn-lt"/>
                          <a:ea typeface="+mn-ea"/>
                          <a:cs typeface="+mn-cs"/>
                        </a:rPr>
                        <a:t>UPDATE Persons SET Age=36</a:t>
                      </a:r>
                      <a:r>
                        <a:rPr lang="en-SG" sz="2800" dirty="0" smtClean="0"/>
                        <a:t/>
                      </a:r>
                      <a:br>
                        <a:rPr lang="en-SG" sz="2800" dirty="0" smtClean="0"/>
                      </a:br>
                      <a:r>
                        <a:rPr lang="en-SG" sz="1800" b="0" i="0" kern="1200" dirty="0" smtClean="0">
                          <a:solidFill>
                            <a:schemeClr val="lt1"/>
                          </a:solidFill>
                          <a:latin typeface="+mn-lt"/>
                          <a:ea typeface="+mn-ea"/>
                          <a:cs typeface="+mn-cs"/>
                        </a:rPr>
                        <a:t>WHERE </a:t>
                      </a:r>
                      <a:r>
                        <a:rPr lang="en-SG" sz="1800" b="0" i="0" kern="1200" dirty="0" err="1" smtClean="0">
                          <a:solidFill>
                            <a:schemeClr val="lt1"/>
                          </a:solidFill>
                          <a:latin typeface="+mn-lt"/>
                          <a:ea typeface="+mn-ea"/>
                          <a:cs typeface="+mn-cs"/>
                        </a:rPr>
                        <a:t>FirstName</a:t>
                      </a:r>
                      <a:r>
                        <a:rPr lang="en-SG" sz="1800" b="0" i="0" kern="1200" dirty="0" smtClean="0">
                          <a:solidFill>
                            <a:schemeClr val="lt1"/>
                          </a:solidFill>
                          <a:latin typeface="+mn-lt"/>
                          <a:ea typeface="+mn-ea"/>
                          <a:cs typeface="+mn-cs"/>
                        </a:rPr>
                        <a:t>=‘Tommy’ AND </a:t>
                      </a:r>
                      <a:r>
                        <a:rPr lang="en-SG" sz="1800" b="0" i="0" kern="1200" dirty="0" err="1" smtClean="0">
                          <a:solidFill>
                            <a:schemeClr val="lt1"/>
                          </a:solidFill>
                          <a:latin typeface="+mn-lt"/>
                          <a:ea typeface="+mn-ea"/>
                          <a:cs typeface="+mn-cs"/>
                        </a:rPr>
                        <a:t>LastName</a:t>
                      </a:r>
                      <a:r>
                        <a:rPr lang="en-SG" sz="1800" b="0" i="0" kern="1200" dirty="0" smtClean="0">
                          <a:solidFill>
                            <a:schemeClr val="lt1"/>
                          </a:solidFill>
                          <a:latin typeface="+mn-lt"/>
                          <a:ea typeface="+mn-ea"/>
                          <a:cs typeface="+mn-cs"/>
                        </a:rPr>
                        <a:t>=‘Low'"</a:t>
                      </a:r>
                      <a:endParaRPr lang="en-SG" sz="2800" dirty="0"/>
                    </a:p>
                  </a:txBody>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Updating a record:</a:t>
            </a:r>
            <a:endParaRPr lang="en-US" sz="3600" dirty="0"/>
          </a:p>
        </p:txBody>
      </p:sp>
      <p:sp>
        <p:nvSpPr>
          <p:cNvPr id="3" name="Content Placeholder 2"/>
          <p:cNvSpPr>
            <a:spLocks noGrp="1"/>
          </p:cNvSpPr>
          <p:nvPr>
            <p:ph idx="1"/>
          </p:nvPr>
        </p:nvSpPr>
        <p:spPr>
          <a:xfrm>
            <a:off x="304800" y="1295400"/>
            <a:ext cx="8686800" cy="5334000"/>
          </a:xfrm>
          <a:solidFill>
            <a:srgbClr val="FFFF00"/>
          </a:solidFill>
        </p:spPr>
        <p:txBody>
          <a:bodyPr>
            <a:noAutofit/>
          </a:bodyPr>
          <a:lstStyle/>
          <a:p>
            <a:pPr>
              <a:spcAft>
                <a:spcPts val="1000"/>
              </a:spcAft>
              <a:buNone/>
            </a:pPr>
            <a:r>
              <a:rPr lang="en-US" sz="1600" dirty="0">
                <a:solidFill>
                  <a:srgbClr val="FF0000"/>
                </a:solidFill>
              </a:rPr>
              <a:t>&lt;?</a:t>
            </a:r>
            <a:r>
              <a:rPr lang="en-US" sz="1600" dirty="0" err="1">
                <a:solidFill>
                  <a:srgbClr val="FF0000"/>
                </a:solidFill>
              </a:rPr>
              <a:t>php</a:t>
            </a:r>
            <a:r>
              <a:rPr lang="en-US" sz="1600" dirty="0"/>
              <a:t/>
            </a:r>
            <a:br>
              <a:rPr lang="en-US" sz="1600" dirty="0"/>
            </a:br>
            <a:r>
              <a:rPr lang="en-US" sz="1600" dirty="0"/>
              <a:t>$con=</a:t>
            </a:r>
            <a:r>
              <a:rPr lang="en-US" sz="1600" dirty="0" err="1"/>
              <a:t>mysqli_connect</a:t>
            </a:r>
            <a:r>
              <a:rPr lang="en-US" sz="1600" dirty="0"/>
              <a:t>("example.com","peter","abc123","my_db");</a:t>
            </a:r>
            <a:r>
              <a:rPr lang="en-US" sz="1600" dirty="0"/>
              <a:t/>
            </a:r>
            <a:br>
              <a:rPr lang="en-US" sz="1600" dirty="0"/>
            </a:br>
            <a:r>
              <a:rPr lang="en-US" sz="1600" dirty="0"/>
              <a:t>// Check connection</a:t>
            </a:r>
            <a:r>
              <a:rPr lang="en-US" sz="1600" dirty="0"/>
              <a:t/>
            </a:r>
            <a:br>
              <a:rPr lang="en-US" sz="1600" dirty="0"/>
            </a:br>
            <a:r>
              <a:rPr lang="en-US" sz="1600" dirty="0"/>
              <a:t>if (</a:t>
            </a:r>
            <a:r>
              <a:rPr lang="en-US" sz="1600" dirty="0" err="1"/>
              <a:t>mysqli_connect_errno</a:t>
            </a:r>
            <a:r>
              <a:rPr lang="en-US" sz="1600" dirty="0"/>
              <a:t>()) {</a:t>
            </a:r>
            <a:r>
              <a:rPr lang="en-US" sz="1600" dirty="0"/>
              <a:t/>
            </a:r>
            <a:br>
              <a:rPr lang="en-US" sz="1600" dirty="0"/>
            </a:br>
            <a:r>
              <a:rPr lang="en-US" sz="1600" dirty="0"/>
              <a:t>  echo "Failed to connect to MySQL: " . </a:t>
            </a:r>
            <a:r>
              <a:rPr lang="en-US" sz="1600" dirty="0" err="1"/>
              <a:t>mysqli_connect_error</a:t>
            </a:r>
            <a:r>
              <a:rPr lang="en-US" sz="1600" dirty="0"/>
              <a:t>();</a:t>
            </a:r>
            <a:r>
              <a:rPr lang="en-US" sz="1600" dirty="0"/>
              <a:t/>
            </a:r>
            <a:br>
              <a:rPr lang="en-US" sz="1600" dirty="0"/>
            </a:br>
            <a:r>
              <a:rPr lang="en-US" sz="1600" dirty="0"/>
              <a:t>}</a:t>
            </a:r>
            <a:r>
              <a:rPr lang="en-US" sz="1600" dirty="0"/>
              <a:t/>
            </a:r>
            <a:br>
              <a:rPr lang="en-US" sz="1600" dirty="0"/>
            </a:br>
            <a:r>
              <a:rPr lang="en-US" sz="1600" dirty="0"/>
              <a:t/>
            </a:r>
            <a:br>
              <a:rPr lang="en-US" sz="1600" dirty="0"/>
            </a:br>
            <a:r>
              <a:rPr lang="en-US" sz="2400" dirty="0" err="1"/>
              <a:t>mysqli_query</a:t>
            </a:r>
            <a:r>
              <a:rPr lang="en-US" sz="2400" dirty="0"/>
              <a:t>($</a:t>
            </a:r>
            <a:r>
              <a:rPr lang="en-US" sz="2400" dirty="0" err="1"/>
              <a:t>con,"UPDATE</a:t>
            </a:r>
            <a:r>
              <a:rPr lang="en-US" sz="2400" dirty="0"/>
              <a:t> Persons SET Age=36</a:t>
            </a:r>
            <a:r>
              <a:rPr lang="en-US" sz="2400" dirty="0"/>
              <a:t/>
            </a:r>
            <a:br>
              <a:rPr lang="en-US" sz="2400" dirty="0"/>
            </a:br>
            <a:r>
              <a:rPr lang="en-US" sz="2400" dirty="0"/>
              <a:t>WHERE </a:t>
            </a:r>
            <a:r>
              <a:rPr lang="en-US" sz="2400" dirty="0" err="1" smtClean="0"/>
              <a:t>FirstName</a:t>
            </a:r>
            <a:r>
              <a:rPr lang="en-US" sz="2400" dirty="0" smtClean="0"/>
              <a:t>=</a:t>
            </a:r>
            <a:r>
              <a:rPr lang="en-US" sz="2400" dirty="0"/>
              <a:t> </a:t>
            </a:r>
            <a:r>
              <a:rPr lang="en-US" sz="2400" dirty="0" smtClean="0"/>
              <a:t>'Vincent' </a:t>
            </a:r>
            <a:r>
              <a:rPr lang="en-US" sz="2400" dirty="0"/>
              <a:t>AND </a:t>
            </a:r>
            <a:r>
              <a:rPr lang="en-US" sz="2400" dirty="0" err="1"/>
              <a:t>LastName</a:t>
            </a:r>
            <a:r>
              <a:rPr lang="en-US" sz="2400" dirty="0" smtClean="0"/>
              <a:t>=</a:t>
            </a:r>
            <a:r>
              <a:rPr lang="en-US" sz="2400" dirty="0"/>
              <a:t> </a:t>
            </a:r>
            <a:r>
              <a:rPr lang="en-US" sz="2400" dirty="0" smtClean="0"/>
              <a:t>'Lin' ");</a:t>
            </a:r>
            <a:r>
              <a:rPr lang="en-US" sz="2400" dirty="0"/>
              <a:t/>
            </a:r>
            <a:br>
              <a:rPr lang="en-US" sz="2400" dirty="0"/>
            </a:br>
            <a:r>
              <a:rPr lang="en-US" sz="1600" dirty="0"/>
              <a:t/>
            </a:r>
            <a:br>
              <a:rPr lang="en-US" sz="1600" dirty="0"/>
            </a:br>
            <a:r>
              <a:rPr lang="en-US" sz="1600" dirty="0" err="1"/>
              <a:t>mysqli_close</a:t>
            </a:r>
            <a:r>
              <a:rPr lang="en-US" sz="1600" dirty="0"/>
              <a:t>($con</a:t>
            </a:r>
            <a:r>
              <a:rPr lang="en-US" sz="1600" dirty="0" smtClean="0"/>
              <a:t>);</a:t>
            </a:r>
          </a:p>
          <a:p>
            <a:pPr>
              <a:spcAft>
                <a:spcPts val="1000"/>
              </a:spcAft>
              <a:buNone/>
            </a:pPr>
            <a:r>
              <a:rPr lang="en-US" sz="1600" dirty="0" smtClean="0">
                <a:solidFill>
                  <a:srgbClr val="FF0000"/>
                </a:solidFill>
              </a:rPr>
              <a:t>?&gt;</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16</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508596964"/>
              </p:ext>
            </p:extLst>
          </p:nvPr>
        </p:nvGraphicFramePr>
        <p:xfrm>
          <a:off x="1066800" y="5029200"/>
          <a:ext cx="6029324" cy="1451610"/>
        </p:xfrm>
        <a:graphic>
          <a:graphicData uri="http://schemas.openxmlformats.org/drawingml/2006/table">
            <a:tbl>
              <a:tblPr/>
              <a:tblGrid>
                <a:gridCol w="1507331"/>
                <a:gridCol w="1507331"/>
                <a:gridCol w="1481138"/>
                <a:gridCol w="1533524"/>
              </a:tblGrid>
              <a:tr h="457200">
                <a:tc>
                  <a:txBody>
                    <a:bodyPr/>
                    <a:lstStyle/>
                    <a:p>
                      <a:pPr algn="l" fontAlgn="t"/>
                      <a:r>
                        <a:rPr lang="en-SG" dirty="0" err="1">
                          <a:latin typeface="verdana"/>
                        </a:rPr>
                        <a:t>LastName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a:latin typeface="verdana"/>
                        </a:rPr>
                        <a:t>FirstName</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Age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Address</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r>
              <a:tr h="0">
                <a:tc>
                  <a:txBody>
                    <a:bodyPr/>
                    <a:lstStyle/>
                    <a:p>
                      <a:pPr fontAlgn="t"/>
                      <a:r>
                        <a:rPr lang="en-SG" dirty="0" smtClean="0">
                          <a:latin typeface="verdana"/>
                        </a:rPr>
                        <a:t>Low</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Tommy</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25</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err="1" smtClean="0">
                          <a:latin typeface="verdana"/>
                        </a:rPr>
                        <a:t>AMK</a:t>
                      </a:r>
                      <a:r>
                        <a:rPr lang="en-SG" dirty="0" smtClean="0">
                          <a:latin typeface="verdana"/>
                        </a:rPr>
                        <a:t> AVE 10</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dirty="0" smtClean="0">
                          <a:latin typeface="verdana"/>
                        </a:rPr>
                        <a:t>Lin</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Vincent</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trike="sngStrike" baseline="0" dirty="0" smtClean="0">
                          <a:solidFill>
                            <a:srgbClr val="FF0000"/>
                          </a:solidFill>
                          <a:latin typeface="verdana"/>
                        </a:rPr>
                        <a:t>34 </a:t>
                      </a:r>
                      <a:r>
                        <a:rPr lang="en-US" strike="noStrike" baseline="0" dirty="0" smtClean="0">
                          <a:solidFill>
                            <a:srgbClr val="FF0000"/>
                          </a:solidFill>
                          <a:latin typeface="verdana"/>
                        </a:rPr>
                        <a:t> </a:t>
                      </a:r>
                      <a:r>
                        <a:rPr lang="en-US" dirty="0" smtClean="0">
                          <a:solidFill>
                            <a:srgbClr val="FF0000"/>
                          </a:solidFill>
                          <a:latin typeface="verdana"/>
                        </a:rPr>
                        <a:t>36</a:t>
                      </a:r>
                      <a:endParaRPr lang="en-SG" dirty="0">
                        <a:solidFill>
                          <a:srgbClr val="FF0000"/>
                        </a:solidFill>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err="1" smtClean="0">
                          <a:latin typeface="verdana"/>
                        </a:rPr>
                        <a:t>Bishan</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dirty="0" smtClean="0">
                          <a:latin typeface="verdana"/>
                        </a:rPr>
                        <a:t>Hong</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Vincent</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20</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4 Toa </a:t>
                      </a:r>
                      <a:r>
                        <a:rPr lang="en-SG" dirty="0" err="1" smtClean="0">
                          <a:latin typeface="verdana"/>
                        </a:rPr>
                        <a:t>Payoh</a:t>
                      </a:r>
                      <a:r>
                        <a:rPr lang="en-SG" baseline="0" dirty="0" smtClean="0">
                          <a:latin typeface="verdana"/>
                        </a:rPr>
                        <a:t> </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Deleting data:</a:t>
            </a:r>
            <a:endParaRPr lang="en-US" sz="3600" dirty="0"/>
          </a:p>
        </p:txBody>
      </p:sp>
      <p:sp>
        <p:nvSpPr>
          <p:cNvPr id="3" name="Content Placeholder 2"/>
          <p:cNvSpPr>
            <a:spLocks noGrp="1"/>
          </p:cNvSpPr>
          <p:nvPr>
            <p:ph idx="1"/>
          </p:nvPr>
        </p:nvSpPr>
        <p:spPr>
          <a:xfrm>
            <a:off x="304800" y="1371600"/>
            <a:ext cx="8839200" cy="5334000"/>
          </a:xfrm>
          <a:solidFill>
            <a:srgbClr val="FFFF00"/>
          </a:solidFill>
        </p:spPr>
        <p:txBody>
          <a:bodyPr>
            <a:noAutofit/>
          </a:bodyPr>
          <a:lstStyle/>
          <a:p>
            <a:pPr>
              <a:spcAft>
                <a:spcPts val="1000"/>
              </a:spcAft>
              <a:buNone/>
            </a:pPr>
            <a:r>
              <a:rPr lang="en-SG" sz="1600" dirty="0" smtClean="0"/>
              <a:t>SQL Insert COMMAND:</a:t>
            </a: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endParaRPr lang="en-US" sz="1600" dirty="0" smtClean="0">
              <a:solidFill>
                <a:srgbClr val="FF0000"/>
              </a:solidFill>
            </a:endParaRPr>
          </a:p>
          <a:p>
            <a:pPr>
              <a:spcAft>
                <a:spcPts val="1000"/>
              </a:spcAft>
              <a:buNone/>
            </a:pPr>
            <a:r>
              <a:rPr lang="en-SG" sz="1600" dirty="0" smtClean="0"/>
              <a:t>    </a:t>
            </a:r>
            <a:r>
              <a:rPr lang="en-SG" sz="1600" b="1" dirty="0" smtClean="0"/>
              <a:t>Note:</a:t>
            </a:r>
            <a:r>
              <a:rPr lang="en-SG" sz="1600" dirty="0" smtClean="0"/>
              <a:t> Notice the WHERE clause in the DELETE syntax. The WHERE clause specifies which record or records that should be deleted. If you omit the WHERE clause, all records will be deleted!</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17</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9" name="Table 8"/>
          <p:cNvGraphicFramePr>
            <a:graphicFrameLocks noGrp="1"/>
          </p:cNvGraphicFramePr>
          <p:nvPr/>
        </p:nvGraphicFramePr>
        <p:xfrm>
          <a:off x="457200" y="1676400"/>
          <a:ext cx="8229600" cy="1828800"/>
        </p:xfrm>
        <a:graphic>
          <a:graphicData uri="http://schemas.openxmlformats.org/drawingml/2006/table">
            <a:tbl>
              <a:tblPr firstRow="1" bandRow="1">
                <a:tableStyleId>{073A0DAA-6AF3-43AB-8588-CEC1D06C72B9}</a:tableStyleId>
              </a:tblPr>
              <a:tblGrid>
                <a:gridCol w="8229600"/>
              </a:tblGrid>
              <a:tr h="1828800">
                <a:tc>
                  <a:txBody>
                    <a:bodyPr/>
                    <a:lstStyle/>
                    <a:p>
                      <a:r>
                        <a:rPr lang="en-SG" sz="1800" b="0" i="0" kern="1200" dirty="0" smtClean="0">
                          <a:solidFill>
                            <a:schemeClr val="lt1"/>
                          </a:solidFill>
                          <a:latin typeface="+mn-lt"/>
                          <a:ea typeface="+mn-ea"/>
                          <a:cs typeface="+mn-cs"/>
                        </a:rPr>
                        <a:t>DELETE FROM </a:t>
                      </a:r>
                      <a:r>
                        <a:rPr lang="en-SG" sz="1800" b="0" i="0" kern="1200" dirty="0" err="1" smtClean="0">
                          <a:solidFill>
                            <a:schemeClr val="lt1"/>
                          </a:solidFill>
                          <a:latin typeface="+mn-lt"/>
                          <a:ea typeface="+mn-ea"/>
                          <a:cs typeface="+mn-cs"/>
                        </a:rPr>
                        <a:t>table_name</a:t>
                      </a:r>
                      <a:r>
                        <a:rPr lang="en-SG" dirty="0" smtClean="0"/>
                        <a:t/>
                      </a:r>
                      <a:br>
                        <a:rPr lang="en-SG" dirty="0" smtClean="0"/>
                      </a:br>
                      <a:r>
                        <a:rPr lang="en-SG" sz="1800" b="0" i="0" kern="1200" dirty="0" smtClean="0">
                          <a:solidFill>
                            <a:schemeClr val="lt1"/>
                          </a:solidFill>
                          <a:latin typeface="+mn-lt"/>
                          <a:ea typeface="+mn-ea"/>
                          <a:cs typeface="+mn-cs"/>
                        </a:rPr>
                        <a:t>WHERE </a:t>
                      </a:r>
                      <a:r>
                        <a:rPr lang="en-SG" sz="1800" b="0" i="0" kern="1200" dirty="0" err="1" smtClean="0">
                          <a:solidFill>
                            <a:schemeClr val="lt1"/>
                          </a:solidFill>
                          <a:latin typeface="+mn-lt"/>
                          <a:ea typeface="+mn-ea"/>
                          <a:cs typeface="+mn-cs"/>
                        </a:rPr>
                        <a:t>some_column</a:t>
                      </a:r>
                      <a:r>
                        <a:rPr lang="en-SG" sz="1800" b="0" i="0" kern="1200" dirty="0" smtClean="0">
                          <a:solidFill>
                            <a:schemeClr val="lt1"/>
                          </a:solidFill>
                          <a:latin typeface="+mn-lt"/>
                          <a:ea typeface="+mn-ea"/>
                          <a:cs typeface="+mn-cs"/>
                        </a:rPr>
                        <a:t> = </a:t>
                      </a:r>
                      <a:r>
                        <a:rPr lang="en-SG" sz="1800" b="0" i="0" kern="1200" dirty="0" err="1" smtClean="0">
                          <a:solidFill>
                            <a:schemeClr val="lt1"/>
                          </a:solidFill>
                          <a:latin typeface="+mn-lt"/>
                          <a:ea typeface="+mn-ea"/>
                          <a:cs typeface="+mn-cs"/>
                        </a:rPr>
                        <a:t>some_value</a:t>
                      </a:r>
                      <a:endParaRPr lang="en-SG" sz="1800" b="0" i="0" kern="1200" dirty="0" smtClean="0">
                        <a:solidFill>
                          <a:schemeClr val="lt1"/>
                        </a:solidFill>
                        <a:latin typeface="+mn-lt"/>
                        <a:ea typeface="+mn-ea"/>
                        <a:cs typeface="+mn-cs"/>
                      </a:endParaRPr>
                    </a:p>
                    <a:p>
                      <a:endParaRPr lang="en-US" sz="1800" b="0" i="0" kern="1200" dirty="0" smtClean="0">
                        <a:solidFill>
                          <a:schemeClr val="lt1"/>
                        </a:solidFill>
                        <a:latin typeface="+mn-lt"/>
                        <a:ea typeface="+mn-ea"/>
                        <a:cs typeface="+mn-cs"/>
                      </a:endParaRPr>
                    </a:p>
                    <a:p>
                      <a:endParaRPr lang="en-US" sz="1800" b="0" i="0" kern="1200" dirty="0" smtClean="0">
                        <a:solidFill>
                          <a:schemeClr val="lt1"/>
                        </a:solidFill>
                        <a:latin typeface="+mn-lt"/>
                        <a:ea typeface="+mn-ea"/>
                        <a:cs typeface="+mn-cs"/>
                      </a:endParaRPr>
                    </a:p>
                    <a:p>
                      <a:r>
                        <a:rPr lang="en-SG" sz="1800" b="0" i="0" kern="1200" dirty="0" smtClean="0">
                          <a:solidFill>
                            <a:schemeClr val="lt1"/>
                          </a:solidFill>
                          <a:latin typeface="+mn-lt"/>
                          <a:ea typeface="+mn-ea"/>
                          <a:cs typeface="+mn-cs"/>
                        </a:rPr>
                        <a:t>DELETE FROM Persons WHERE </a:t>
                      </a:r>
                      <a:r>
                        <a:rPr lang="en-SG" sz="1800" b="0" i="0" kern="1200" dirty="0" err="1" smtClean="0">
                          <a:solidFill>
                            <a:schemeClr val="lt1"/>
                          </a:solidFill>
                          <a:latin typeface="+mn-lt"/>
                          <a:ea typeface="+mn-ea"/>
                          <a:cs typeface="+mn-cs"/>
                        </a:rPr>
                        <a:t>LastName</a:t>
                      </a:r>
                      <a:r>
                        <a:rPr lang="en-SG" sz="1800" b="0" i="0" kern="1200" dirty="0" smtClean="0">
                          <a:solidFill>
                            <a:schemeClr val="lt1"/>
                          </a:solidFill>
                          <a:latin typeface="+mn-lt"/>
                          <a:ea typeface="+mn-ea"/>
                          <a:cs typeface="+mn-cs"/>
                        </a:rPr>
                        <a:t>=‘Lin'</a:t>
                      </a:r>
                      <a:endParaRPr lang="en-SG" sz="2800" dirty="0"/>
                    </a:p>
                  </a:txBody>
                  <a:tcPr/>
                </a:tc>
              </a:tr>
            </a:tbl>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Updating a record:</a:t>
            </a:r>
            <a:endParaRPr lang="en-US" sz="3600" dirty="0"/>
          </a:p>
        </p:txBody>
      </p:sp>
      <p:sp>
        <p:nvSpPr>
          <p:cNvPr id="3" name="Content Placeholder 2"/>
          <p:cNvSpPr>
            <a:spLocks noGrp="1"/>
          </p:cNvSpPr>
          <p:nvPr>
            <p:ph idx="1"/>
          </p:nvPr>
        </p:nvSpPr>
        <p:spPr>
          <a:xfrm>
            <a:off x="304800" y="1295400"/>
            <a:ext cx="8686800" cy="5334000"/>
          </a:xfrm>
          <a:solidFill>
            <a:srgbClr val="FFFF00"/>
          </a:solidFill>
        </p:spPr>
        <p:txBody>
          <a:bodyPr>
            <a:noAutofit/>
          </a:bodyPr>
          <a:lstStyle/>
          <a:p>
            <a:pPr>
              <a:spcAft>
                <a:spcPts val="1000"/>
              </a:spcAft>
              <a:buNone/>
            </a:pPr>
            <a:r>
              <a:rPr lang="en-SG" sz="1600" dirty="0" smtClean="0">
                <a:solidFill>
                  <a:srgbClr val="FF0000"/>
                </a:solidFill>
              </a:rPr>
              <a:t>&lt;?</a:t>
            </a:r>
            <a:r>
              <a:rPr lang="en-SG" sz="1600" dirty="0" err="1" smtClean="0">
                <a:solidFill>
                  <a:srgbClr val="FF0000"/>
                </a:solidFill>
              </a:rPr>
              <a:t>php</a:t>
            </a:r>
            <a:r>
              <a:rPr lang="en-SG" sz="1600" dirty="0" smtClean="0">
                <a:solidFill>
                  <a:srgbClr val="FF0000"/>
                </a:solidFill>
              </a:rPr>
              <a:t/>
            </a:r>
            <a:br>
              <a:rPr lang="en-SG" sz="1600" dirty="0" smtClean="0">
                <a:solidFill>
                  <a:srgbClr val="FF0000"/>
                </a:solidFill>
              </a:rPr>
            </a:br>
            <a:r>
              <a:rPr lang="en-US" sz="1600" dirty="0"/>
              <a:t>$con=</a:t>
            </a:r>
            <a:r>
              <a:rPr lang="en-US" sz="1600" dirty="0" err="1"/>
              <a:t>mysqli_connect</a:t>
            </a:r>
            <a:r>
              <a:rPr lang="en-US" sz="1600" dirty="0"/>
              <a:t>("example.com","peter","abc123","my_db");</a:t>
            </a:r>
            <a:r>
              <a:rPr lang="en-US" sz="1600" dirty="0"/>
              <a:t/>
            </a:r>
            <a:br>
              <a:rPr lang="en-US" sz="1600" dirty="0"/>
            </a:br>
            <a:r>
              <a:rPr lang="en-US" sz="1600" dirty="0"/>
              <a:t>// Check connection</a:t>
            </a:r>
            <a:r>
              <a:rPr lang="en-US" sz="1600" dirty="0"/>
              <a:t/>
            </a:r>
            <a:br>
              <a:rPr lang="en-US" sz="1600" dirty="0"/>
            </a:br>
            <a:r>
              <a:rPr lang="en-US" sz="1600" dirty="0"/>
              <a:t>if (</a:t>
            </a:r>
            <a:r>
              <a:rPr lang="en-US" sz="1600" dirty="0" err="1"/>
              <a:t>mysqli_connect_errno</a:t>
            </a:r>
            <a:r>
              <a:rPr lang="en-US" sz="1600" dirty="0"/>
              <a:t>()) </a:t>
            </a:r>
            <a:r>
              <a:rPr lang="en-US" sz="1600" dirty="0" smtClean="0"/>
              <a:t>{ </a:t>
            </a:r>
            <a:r>
              <a:rPr lang="en-US" sz="1600" dirty="0"/>
              <a:t>  echo "Failed to connect to MySQL: " . </a:t>
            </a:r>
            <a:r>
              <a:rPr lang="en-US" sz="1600" dirty="0" err="1"/>
              <a:t>mysqli_connect_error</a:t>
            </a:r>
            <a:r>
              <a:rPr lang="en-US" sz="1600" dirty="0" smtClean="0"/>
              <a:t>();}</a:t>
            </a:r>
          </a:p>
          <a:p>
            <a:pPr>
              <a:spcAft>
                <a:spcPts val="1000"/>
              </a:spcAft>
              <a:buNone/>
            </a:pPr>
            <a:r>
              <a:rPr lang="en-US" sz="2000" dirty="0" smtClean="0"/>
              <a:t>      </a:t>
            </a:r>
            <a:r>
              <a:rPr lang="en-US" sz="2000" dirty="0" err="1" smtClean="0"/>
              <a:t>mysqli_query</a:t>
            </a:r>
            <a:r>
              <a:rPr lang="en-US" sz="2000" dirty="0"/>
              <a:t>($</a:t>
            </a:r>
            <a:r>
              <a:rPr lang="en-US" sz="2000" dirty="0" err="1"/>
              <a:t>con,"DELETE</a:t>
            </a:r>
            <a:r>
              <a:rPr lang="en-US" sz="2000" dirty="0"/>
              <a:t> FROM Persons </a:t>
            </a:r>
            <a:r>
              <a:rPr lang="en-US" sz="2400" dirty="0"/>
              <a:t>WHERE </a:t>
            </a:r>
            <a:r>
              <a:rPr lang="en-US" sz="2400" dirty="0" err="1" smtClean="0"/>
              <a:t>LastName</a:t>
            </a:r>
            <a:r>
              <a:rPr lang="en-US" sz="2400" dirty="0" smtClean="0"/>
              <a:t>='Lin</a:t>
            </a:r>
            <a:r>
              <a:rPr lang="en-US" sz="2400" dirty="0"/>
              <a:t>' </a:t>
            </a:r>
            <a:r>
              <a:rPr lang="en-US" sz="2400" dirty="0" smtClean="0"/>
              <a:t> ");</a:t>
            </a:r>
            <a:r>
              <a:rPr lang="en-US" sz="2000" dirty="0"/>
              <a:t/>
            </a:r>
            <a:br>
              <a:rPr lang="en-US" sz="2000" dirty="0"/>
            </a:br>
            <a:r>
              <a:rPr lang="en-US" sz="2000" dirty="0" err="1" smtClean="0"/>
              <a:t>mysqli_close</a:t>
            </a:r>
            <a:r>
              <a:rPr lang="en-US" sz="2000" dirty="0"/>
              <a:t>($con</a:t>
            </a:r>
            <a:r>
              <a:rPr lang="en-US" sz="2000" dirty="0" smtClean="0"/>
              <a:t>);</a:t>
            </a:r>
          </a:p>
          <a:p>
            <a:pPr>
              <a:spcAft>
                <a:spcPts val="1000"/>
              </a:spcAft>
              <a:buNone/>
            </a:pPr>
            <a:r>
              <a:rPr lang="en-SG" sz="1600" dirty="0" smtClean="0">
                <a:solidFill>
                  <a:srgbClr val="FF0000"/>
                </a:solidFill>
              </a:rPr>
              <a:t>?&gt;</a:t>
            </a:r>
            <a:endParaRPr lang="en-US" sz="1600" dirty="0" smtClean="0">
              <a:solidFill>
                <a:srgbClr val="FF0000"/>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18</a:t>
            </a:fld>
            <a:endParaRPr lang="en-US"/>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11" name="Table 10"/>
          <p:cNvGraphicFramePr>
            <a:graphicFrameLocks noGrp="1"/>
          </p:cNvGraphicFramePr>
          <p:nvPr/>
        </p:nvGraphicFramePr>
        <p:xfrm>
          <a:off x="1819276" y="3657600"/>
          <a:ext cx="6029324" cy="1501207"/>
        </p:xfrm>
        <a:graphic>
          <a:graphicData uri="http://schemas.openxmlformats.org/drawingml/2006/table">
            <a:tbl>
              <a:tblPr/>
              <a:tblGrid>
                <a:gridCol w="1507331"/>
                <a:gridCol w="1507331"/>
                <a:gridCol w="1481138"/>
                <a:gridCol w="1533524"/>
              </a:tblGrid>
              <a:tr h="506797">
                <a:tc>
                  <a:txBody>
                    <a:bodyPr/>
                    <a:lstStyle/>
                    <a:p>
                      <a:pPr algn="l" fontAlgn="t"/>
                      <a:r>
                        <a:rPr lang="en-SG" dirty="0" err="1">
                          <a:latin typeface="verdana"/>
                        </a:rPr>
                        <a:t>LastName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a:latin typeface="verdana"/>
                        </a:rPr>
                        <a:t>FirstName</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Age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Address</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r>
              <a:tr h="314938">
                <a:tc>
                  <a:txBody>
                    <a:bodyPr/>
                    <a:lstStyle/>
                    <a:p>
                      <a:pPr fontAlgn="t"/>
                      <a:r>
                        <a:rPr lang="en-SG" dirty="0" smtClean="0">
                          <a:latin typeface="verdana"/>
                        </a:rPr>
                        <a:t>Low</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Tommy</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25</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err="1" smtClean="0">
                          <a:latin typeface="verdana"/>
                        </a:rPr>
                        <a:t>AMK</a:t>
                      </a:r>
                      <a:r>
                        <a:rPr lang="en-SG" dirty="0" smtClean="0">
                          <a:latin typeface="verdana"/>
                        </a:rPr>
                        <a:t> AVE 10</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14938">
                <a:tc>
                  <a:txBody>
                    <a:bodyPr/>
                    <a:lstStyle/>
                    <a:p>
                      <a:pPr fontAlgn="t"/>
                      <a:r>
                        <a:rPr lang="en-US" dirty="0" smtClean="0">
                          <a:latin typeface="verdana"/>
                        </a:rPr>
                        <a:t>Lin</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40000"/>
                        <a:lumOff val="60000"/>
                      </a:schemeClr>
                    </a:solidFill>
                  </a:tcPr>
                </a:tc>
                <a:tc>
                  <a:txBody>
                    <a:bodyPr/>
                    <a:lstStyle/>
                    <a:p>
                      <a:pPr fontAlgn="t"/>
                      <a:r>
                        <a:rPr lang="en-SG" dirty="0" smtClean="0">
                          <a:latin typeface="verdana"/>
                        </a:rPr>
                        <a:t>Vincent</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40000"/>
                        <a:lumOff val="60000"/>
                      </a:schemeClr>
                    </a:solidFill>
                  </a:tcPr>
                </a:tc>
                <a:tc>
                  <a:txBody>
                    <a:bodyPr/>
                    <a:lstStyle/>
                    <a:p>
                      <a:pPr fontAlgn="t"/>
                      <a:r>
                        <a:rPr lang="en-US" strike="noStrike" baseline="0" dirty="0" smtClean="0">
                          <a:solidFill>
                            <a:schemeClr val="tx1"/>
                          </a:solidFill>
                          <a:latin typeface="verdana"/>
                        </a:rPr>
                        <a:t>36</a:t>
                      </a:r>
                      <a:endParaRPr lang="en-SG" strike="noStrike" baseline="0" dirty="0">
                        <a:solidFill>
                          <a:schemeClr val="tx1"/>
                        </a:solidFill>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40000"/>
                        <a:lumOff val="60000"/>
                      </a:schemeClr>
                    </a:solidFill>
                  </a:tcPr>
                </a:tc>
                <a:tc>
                  <a:txBody>
                    <a:bodyPr/>
                    <a:lstStyle/>
                    <a:p>
                      <a:pPr fontAlgn="t"/>
                      <a:r>
                        <a:rPr lang="en-SG" dirty="0" err="1" smtClean="0">
                          <a:latin typeface="verdana"/>
                        </a:rPr>
                        <a:t>Bishan</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40000"/>
                        <a:lumOff val="60000"/>
                      </a:schemeClr>
                    </a:solidFill>
                  </a:tcPr>
                </a:tc>
              </a:tr>
              <a:tr h="314938">
                <a:tc>
                  <a:txBody>
                    <a:bodyPr/>
                    <a:lstStyle/>
                    <a:p>
                      <a:pPr fontAlgn="t"/>
                      <a:r>
                        <a:rPr lang="en-US" dirty="0" smtClean="0">
                          <a:latin typeface="verdana"/>
                        </a:rPr>
                        <a:t>Hong</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Tai</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20</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4 Toa </a:t>
                      </a:r>
                      <a:r>
                        <a:rPr lang="en-SG" dirty="0" err="1" smtClean="0">
                          <a:latin typeface="verdana"/>
                        </a:rPr>
                        <a:t>Payoh</a:t>
                      </a:r>
                      <a:r>
                        <a:rPr lang="en-SG" baseline="0" dirty="0" smtClean="0">
                          <a:latin typeface="verdana"/>
                        </a:rPr>
                        <a:t> </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graphicFrame>
        <p:nvGraphicFramePr>
          <p:cNvPr id="7" name="Table 6"/>
          <p:cNvGraphicFramePr>
            <a:graphicFrameLocks noGrp="1"/>
          </p:cNvGraphicFramePr>
          <p:nvPr/>
        </p:nvGraphicFramePr>
        <p:xfrm>
          <a:off x="1752600" y="5634990"/>
          <a:ext cx="6029324" cy="994410"/>
        </p:xfrm>
        <a:graphic>
          <a:graphicData uri="http://schemas.openxmlformats.org/drawingml/2006/table">
            <a:tbl>
              <a:tblPr/>
              <a:tblGrid>
                <a:gridCol w="1507331"/>
                <a:gridCol w="1507331"/>
                <a:gridCol w="1481138"/>
                <a:gridCol w="1533524"/>
              </a:tblGrid>
              <a:tr h="0">
                <a:tc>
                  <a:txBody>
                    <a:bodyPr/>
                    <a:lstStyle/>
                    <a:p>
                      <a:pPr algn="l" fontAlgn="t"/>
                      <a:r>
                        <a:rPr lang="en-SG" dirty="0" err="1">
                          <a:latin typeface="verdana"/>
                        </a:rPr>
                        <a:t>LastName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a:latin typeface="verdana"/>
                        </a:rPr>
                        <a:t>FirstName</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Age</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SG" dirty="0" smtClean="0">
                          <a:latin typeface="verdana"/>
                        </a:rPr>
                        <a:t>Address</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r>
              <a:tr h="0">
                <a:tc>
                  <a:txBody>
                    <a:bodyPr/>
                    <a:lstStyle/>
                    <a:p>
                      <a:pPr fontAlgn="t"/>
                      <a:r>
                        <a:rPr lang="en-SG" dirty="0" smtClean="0">
                          <a:latin typeface="verdana"/>
                        </a:rPr>
                        <a:t>Low</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Tommy</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25</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err="1" smtClean="0">
                          <a:latin typeface="verdana"/>
                        </a:rPr>
                        <a:t>AMK</a:t>
                      </a:r>
                      <a:r>
                        <a:rPr lang="en-SG" dirty="0" smtClean="0">
                          <a:latin typeface="verdana"/>
                        </a:rPr>
                        <a:t> AVE 10</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dirty="0" smtClean="0">
                          <a:latin typeface="verdana"/>
                        </a:rPr>
                        <a:t>Hong</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Tai</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smtClean="0">
                          <a:latin typeface="verdana"/>
                        </a:rPr>
                        <a:t>20</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dirty="0" smtClean="0">
                          <a:latin typeface="verdana"/>
                        </a:rPr>
                        <a:t>4 Toa </a:t>
                      </a:r>
                      <a:r>
                        <a:rPr lang="en-SG" dirty="0" err="1" smtClean="0">
                          <a:latin typeface="verdana"/>
                        </a:rPr>
                        <a:t>Payoh</a:t>
                      </a:r>
                      <a:r>
                        <a:rPr lang="en-SG" baseline="0" dirty="0" smtClean="0">
                          <a:latin typeface="verdana"/>
                        </a:rPr>
                        <a:t> </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
        <p:nvSpPr>
          <p:cNvPr id="8" name="Down Arrow 7"/>
          <p:cNvSpPr/>
          <p:nvPr/>
        </p:nvSpPr>
        <p:spPr>
          <a:xfrm>
            <a:off x="4267200" y="5257800"/>
            <a:ext cx="6858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E4A77F67-C282-4373-9A32-27375E749539}">
  <ds:schemaRefs>
    <ds:schemaRef ds:uri="http://schemas.microsoft.com/sharepoint/v3/contenttype/forms"/>
  </ds:schemaRefs>
</ds:datastoreItem>
</file>

<file path=customXml/itemProps2.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2CAF96FE-069F-4E95-9021-A70B136A67F9}">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Austin</Template>
  <TotalTime>10442</TotalTime>
  <Words>1225</Words>
  <Application>Microsoft Office PowerPoint</Application>
  <PresentationFormat>On-screen Show (4:3)</PresentationFormat>
  <Paragraphs>253</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Courier</vt:lpstr>
      <vt:lpstr>verdana</vt:lpstr>
      <vt:lpstr>Wingdings</vt:lpstr>
      <vt:lpstr>ppt template</vt:lpstr>
      <vt:lpstr>Jumpstart to PHP Part 2</vt:lpstr>
      <vt:lpstr>IT1322 – Principles of Web Usability Design</vt:lpstr>
      <vt:lpstr>PHP Database Connectivity</vt:lpstr>
      <vt:lpstr>PHP Creating a connection  </vt:lpstr>
      <vt:lpstr>PHP Creating a connection &amp; Selecting DB – Example 1</vt:lpstr>
      <vt:lpstr>Connection.php</vt:lpstr>
      <vt:lpstr>Including Connection.php in your files</vt:lpstr>
      <vt:lpstr>Using Constants.php</vt:lpstr>
      <vt:lpstr>Closing a connection</vt:lpstr>
      <vt:lpstr>Performing a database query, retrieve data and close connection</vt:lpstr>
      <vt:lpstr>Displaying Results in a table:</vt:lpstr>
      <vt:lpstr>Inserting Data:</vt:lpstr>
      <vt:lpstr>Inserting Data:</vt:lpstr>
      <vt:lpstr>Inserting Data using HTML Form:</vt:lpstr>
      <vt:lpstr>Update data into database:</vt:lpstr>
      <vt:lpstr>Updating a record:</vt:lpstr>
      <vt:lpstr>Deleting data:</vt:lpstr>
      <vt:lpstr>Updating a record: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tommy low</cp:lastModifiedBy>
  <cp:revision>288</cp:revision>
  <dcterms:created xsi:type="dcterms:W3CDTF">2012-03-19T05:26:54Z</dcterms:created>
  <dcterms:modified xsi:type="dcterms:W3CDTF">2014-09-18T16:38:35Z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ies>
</file>