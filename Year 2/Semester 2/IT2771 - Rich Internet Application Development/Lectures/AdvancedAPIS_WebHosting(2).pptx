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2"/>
  </p:notesMasterIdLst>
  <p:sldIdLst>
    <p:sldId id="315" r:id="rId5"/>
    <p:sldId id="321" r:id="rId6"/>
    <p:sldId id="317" r:id="rId7"/>
    <p:sldId id="318" r:id="rId8"/>
    <p:sldId id="319" r:id="rId9"/>
    <p:sldId id="320" r:id="rId10"/>
    <p:sldId id="323" r:id="rId11"/>
    <p:sldId id="322" r:id="rId12"/>
    <p:sldId id="256" r:id="rId13"/>
    <p:sldId id="324" r:id="rId14"/>
    <p:sldId id="340" r:id="rId15"/>
    <p:sldId id="325" r:id="rId16"/>
    <p:sldId id="326" r:id="rId17"/>
    <p:sldId id="328" r:id="rId18"/>
    <p:sldId id="342" r:id="rId19"/>
    <p:sldId id="329" r:id="rId20"/>
    <p:sldId id="332" r:id="rId21"/>
    <p:sldId id="330" r:id="rId22"/>
    <p:sldId id="333" r:id="rId23"/>
    <p:sldId id="334" r:id="rId24"/>
    <p:sldId id="335" r:id="rId25"/>
    <p:sldId id="336" r:id="rId26"/>
    <p:sldId id="331" r:id="rId27"/>
    <p:sldId id="338" r:id="rId28"/>
    <p:sldId id="337" r:id="rId29"/>
    <p:sldId id="339" r:id="rId30"/>
    <p:sldId id="34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1" autoAdjust="0"/>
    <p:restoredTop sz="86693" autoAdjust="0"/>
  </p:normalViewPr>
  <p:slideViewPr>
    <p:cSldViewPr>
      <p:cViewPr varScale="1">
        <p:scale>
          <a:sx n="102" d="100"/>
          <a:sy n="102" d="100"/>
        </p:scale>
        <p:origin x="72" y="7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14-Oct-15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365430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3387932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1729852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2700366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355967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2986066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1472579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201644150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IT1322 2012 S1</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smtClean="0"/>
              <a:t>IT1322 2012 S1</a:t>
            </a:r>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urelioDeRosa/HTML5-API-demo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davidwalsh.name/demo/vibrate.ph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aurelio.audero.it/demo/screen-orientation-api-demo.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davidwalsh.name/demo/fullscreen.ph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davidwalsh.name/demo/camera.ph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maps.google.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caniuse.com/nav-timin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PCMT6q89kZ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whatyouwant.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solidFill>
                  <a:srgbClr val="FF0000"/>
                </a:solidFill>
              </a:rPr>
              <a:t>HTML5 APIs for the mobile</a:t>
            </a:r>
            <a:br>
              <a:rPr lang="en-US" sz="4800" dirty="0" smtClean="0">
                <a:solidFill>
                  <a:srgbClr val="FF0000"/>
                </a:solidFill>
              </a:rPr>
            </a:br>
            <a:r>
              <a:rPr lang="en-US" sz="4800" dirty="0" smtClean="0">
                <a:solidFill>
                  <a:srgbClr val="FF0000"/>
                </a:solidFill>
              </a:rPr>
              <a:t>&amp; Web Hosting 101</a:t>
            </a:r>
            <a:endParaRPr lang="en-US" sz="4800" dirty="0">
              <a:solidFill>
                <a:srgbClr val="FF0000"/>
              </a:solidFill>
            </a:endParaRPr>
          </a:p>
        </p:txBody>
      </p:sp>
      <p:sp>
        <p:nvSpPr>
          <p:cNvPr id="3" name="Subtitle 2"/>
          <p:cNvSpPr>
            <a:spLocks noGrp="1"/>
          </p:cNvSpPr>
          <p:nvPr>
            <p:ph type="subTitle" idx="1"/>
          </p:nvPr>
        </p:nvSpPr>
        <p:spPr>
          <a:xfrm>
            <a:off x="685800" y="3581400"/>
            <a:ext cx="7467600" cy="1752600"/>
          </a:xfrm>
        </p:spPr>
        <p:txBody>
          <a:bodyPr/>
          <a:lstStyle/>
          <a:p>
            <a:r>
              <a:rPr lang="en-US" dirty="0" smtClean="0"/>
              <a:t>Useful HTML5 APIs  + Hosting</a:t>
            </a:r>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4000" dirty="0" smtClean="0"/>
              <a:t>Stepping into the real world</a:t>
            </a:r>
            <a:endParaRPr lang="en-US" sz="4000" dirty="0"/>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HTML5 APIs for Mobile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There are many new HTML5 APIs for the mobile devices that are being constantly developed and used. Some gain popularity, while others may not be used, or is eventually removed. Here is a list of some of the most updated ones available right now:</a:t>
            </a:r>
          </a:p>
          <a:p>
            <a:endParaRPr lang="en-US" dirty="0"/>
          </a:p>
          <a:p>
            <a:r>
              <a:rPr lang="en-US" dirty="0">
                <a:hlinkClick r:id="rId2"/>
              </a:rPr>
              <a:t>https://</a:t>
            </a:r>
            <a:r>
              <a:rPr lang="en-US" dirty="0" smtClean="0">
                <a:hlinkClick r:id="rId2"/>
              </a:rPr>
              <a:t>github.com/AurelioDeRosa/HTML5-API-demos</a:t>
            </a:r>
            <a:endParaRPr lang="en-US" dirty="0" smtClean="0"/>
          </a:p>
          <a:p>
            <a:r>
              <a:rPr lang="en-US" dirty="0" smtClean="0"/>
              <a:t>Click on Specifications to see the full w3c specifications</a:t>
            </a:r>
          </a:p>
          <a:p>
            <a:r>
              <a:rPr lang="en-US" dirty="0" smtClean="0"/>
              <a:t>In the next couple of slides, we will go through some of the more useful ones, pointing to you reference sites on how to implement them, as well as browser support and demos. So, get ready your mobile phone to access the demo and see the effects yourself.</a:t>
            </a:r>
          </a:p>
          <a:p>
            <a:endParaRPr lang="en-US" dirty="0" smtClean="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2</a:t>
            </a:fld>
            <a:endParaRPr lang="en-US"/>
          </a:p>
        </p:txBody>
      </p:sp>
    </p:spTree>
    <p:extLst>
      <p:ext uri="{BB962C8B-B14F-4D97-AF65-F5344CB8AC3E}">
        <p14:creationId xmlns:p14="http://schemas.microsoft.com/office/powerpoint/2010/main" val="54905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932455" y="3172716"/>
            <a:ext cx="7503710" cy="3048000"/>
          </a:xfrm>
        </p:spPr>
        <p:txBody>
          <a:bodyPr>
            <a:normAutofit fontScale="55000" lnSpcReduction="20000"/>
          </a:bodyPr>
          <a:lstStyle/>
          <a:p>
            <a:r>
              <a:rPr lang="en-US" dirty="0"/>
              <a:t>Wouldn’t it be great if you could use vibration in your application</a:t>
            </a:r>
            <a:r>
              <a:rPr lang="en-US" dirty="0" smtClean="0"/>
              <a:t>?…</a:t>
            </a:r>
          </a:p>
          <a:p>
            <a:endParaRPr lang="en-US" dirty="0"/>
          </a:p>
          <a:p>
            <a:r>
              <a:rPr lang="en-US" dirty="0"/>
              <a:t>Walking directions could be indicated using one vibration for left, two for right.</a:t>
            </a:r>
          </a:p>
          <a:p>
            <a:r>
              <a:rPr lang="en-US" dirty="0"/>
              <a:t>The phone could vibrate in a certain way when an event occurs or you’re close to someone.</a:t>
            </a:r>
          </a:p>
          <a:p>
            <a:r>
              <a:rPr lang="en-US" dirty="0"/>
              <a:t>You could send secret messages in vibration-based </a:t>
            </a:r>
            <a:r>
              <a:rPr lang="en-US" dirty="0" err="1"/>
              <a:t>morse</a:t>
            </a:r>
            <a:r>
              <a:rPr lang="en-US" dirty="0"/>
              <a:t> code!</a:t>
            </a:r>
          </a:p>
          <a:p>
            <a:r>
              <a:rPr lang="en-US" dirty="0"/>
              <a:t>A game could be enhanced by vibrating when you crash or are hit by a missile.</a:t>
            </a:r>
          </a:p>
          <a:p>
            <a:endParaRPr lang="en-US" dirty="0"/>
          </a:p>
          <a:p>
            <a:r>
              <a:rPr lang="en-US" dirty="0"/>
              <a:t>Reference:  http://davidwalsh.name/vibration-api</a:t>
            </a:r>
            <a:endParaRPr lang="en-US" dirty="0" smtClean="0"/>
          </a:p>
          <a:p>
            <a:endParaRPr lang="en-US" b="1" dirty="0" smtClean="0"/>
          </a:p>
          <a:p>
            <a:r>
              <a:rPr lang="en-US" b="1" dirty="0" err="1" smtClean="0"/>
              <a:t>Demo:http</a:t>
            </a:r>
            <a:r>
              <a:rPr lang="en-US" b="1" dirty="0"/>
              <a:t>://</a:t>
            </a:r>
            <a:r>
              <a:rPr lang="en-US" b="1" dirty="0" smtClean="0"/>
              <a:t>davidwalsh.name/demo/</a:t>
            </a:r>
            <a:r>
              <a:rPr lang="en-US" b="1" dirty="0" err="1" smtClean="0"/>
              <a:t>vibrate.php</a:t>
            </a:r>
            <a:r>
              <a:rPr lang="en-US" b="1" dirty="0" smtClean="0"/>
              <a:t>  (Access using mobile phone)</a:t>
            </a:r>
          </a:p>
          <a:p>
            <a:endParaRPr lang="en-US" dirty="0" smtClean="0"/>
          </a:p>
          <a:p>
            <a:r>
              <a:rPr lang="en-US" dirty="0" smtClean="0"/>
              <a:t>Support</a:t>
            </a:r>
            <a:r>
              <a:rPr lang="en-US" dirty="0"/>
              <a:t>: Moderate, see:  http://caniuse.com/#feat=vibration</a:t>
            </a:r>
          </a:p>
          <a:p>
            <a:endParaRPr lang="en-US" dirty="0"/>
          </a:p>
          <a:p>
            <a:endParaRPr lang="en-US" dirty="0" smtClean="0"/>
          </a:p>
          <a:p>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smtClean="0">
                <a:solidFill>
                  <a:schemeClr val="bg1"/>
                </a:solidFill>
              </a:rPr>
              <a:t>Vibration API</a:t>
            </a:r>
            <a:endParaRPr lang="en-US" sz="3600" dirty="0">
              <a:solidFill>
                <a:schemeClr val="bg1"/>
              </a:solidFill>
            </a:endParaRPr>
          </a:p>
        </p:txBody>
      </p:sp>
      <p:sp>
        <p:nvSpPr>
          <p:cNvPr id="5" name="Rectangle 1"/>
          <p:cNvSpPr>
            <a:spLocks noChangeArrowheads="1"/>
          </p:cNvSpPr>
          <p:nvPr/>
        </p:nvSpPr>
        <p:spPr bwMode="auto">
          <a:xfrm>
            <a:off x="0" y="0"/>
            <a:ext cx="9144000" cy="0"/>
          </a:xfrm>
          <a:prstGeom prst="rect">
            <a:avLst/>
          </a:prstGeom>
          <a:solidFill>
            <a:srgbClr val="E8E8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4A4A4A"/>
                </a:solidFill>
                <a:effectLst/>
                <a:latin typeface="Helvetica Neue"/>
              </a:rPr>
              <a:t>his API offers detailed timing information throughout the page load process accessible through the</a:t>
            </a:r>
            <a:r>
              <a:rPr kumimoji="0" lang="en-US" altLang="en-US" sz="1200" b="0" i="0" u="none" strike="noStrike" cap="none" normalizeH="0" baseline="0" smtClean="0">
                <a:ln>
                  <a:noFill/>
                </a:ln>
                <a:solidFill>
                  <a:srgbClr val="4A4A4A"/>
                </a:solidFill>
                <a:effectLst/>
                <a:latin typeface="Consolas" panose="020B0609020204030204" pitchFamily="49" charset="0"/>
                <a:cs typeface="Consolas" panose="020B0609020204030204" pitchFamily="49" charset="0"/>
              </a:rPr>
              <a:t>timing</a:t>
            </a:r>
            <a:r>
              <a:rPr kumimoji="0" lang="en-US" altLang="en-US" sz="1200" b="0" i="0" u="none" strike="noStrike" cap="none" normalizeH="0" baseline="0" smtClean="0">
                <a:ln>
                  <a:noFill/>
                </a:ln>
                <a:solidFill>
                  <a:srgbClr val="4A4A4A"/>
                </a:solidFill>
                <a:effectLst/>
                <a:latin typeface="Helvetica Neue"/>
              </a:rPr>
              <a:t> property of the </a:t>
            </a:r>
            <a:r>
              <a:rPr kumimoji="0" lang="en-US" altLang="en-US" sz="1200" b="0" i="0" u="none" strike="noStrike" cap="none" normalizeH="0" baseline="0" smtClean="0">
                <a:ln>
                  <a:noFill/>
                </a:ln>
                <a:solidFill>
                  <a:srgbClr val="4A4A4A"/>
                </a:solidFill>
                <a:effectLst/>
                <a:latin typeface="Consolas" panose="020B0609020204030204" pitchFamily="49" charset="0"/>
                <a:cs typeface="Consolas" panose="020B0609020204030204" pitchFamily="49" charset="0"/>
              </a:rPr>
              <a:t>window.performance</a:t>
            </a:r>
            <a:r>
              <a:rPr kumimoji="0" lang="en-US" altLang="en-US" sz="1200" b="0" i="0" u="none" strike="noStrike" cap="none" normalizeH="0" baseline="0" smtClean="0">
                <a:ln>
                  <a:noFill/>
                </a:ln>
                <a:solidFill>
                  <a:srgbClr val="4A4A4A"/>
                </a:solidFill>
                <a:effectLst/>
                <a:latin typeface="Helvetica Neue"/>
              </a:rPr>
              <a:t> object. In detail, it provides measurements related to page redirects, DNS lookup, time spent building the DOM, TCP connection establishment, and several other metrics.</a:t>
            </a:r>
            <a:r>
              <a:rPr kumimoji="0" lang="en-US" altLang="en-US" sz="6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 name="Picture 5">
            <a:hlinkClick r:id="rId3"/>
          </p:cNvPr>
          <p:cNvPicPr>
            <a:picLocks noChangeAspect="1"/>
          </p:cNvPicPr>
          <p:nvPr/>
        </p:nvPicPr>
        <p:blipFill>
          <a:blip r:embed="rId4"/>
          <a:stretch>
            <a:fillRect/>
          </a:stretch>
        </p:blipFill>
        <p:spPr>
          <a:xfrm>
            <a:off x="685800" y="1319909"/>
            <a:ext cx="4499554" cy="1621031"/>
          </a:xfrm>
          <a:prstGeom prst="rect">
            <a:avLst/>
          </a:prstGeom>
        </p:spPr>
      </p:pic>
    </p:spTree>
    <p:extLst>
      <p:ext uri="{BB962C8B-B14F-4D97-AF65-F5344CB8AC3E}">
        <p14:creationId xmlns:p14="http://schemas.microsoft.com/office/powerpoint/2010/main" val="17294546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667745" y="3008312"/>
            <a:ext cx="7503710" cy="3048000"/>
          </a:xfrm>
        </p:spPr>
        <p:txBody>
          <a:bodyPr>
            <a:normAutofit fontScale="92500" lnSpcReduction="20000"/>
          </a:bodyPr>
          <a:lstStyle/>
          <a:p>
            <a:r>
              <a:rPr lang="en-US" sz="2000" dirty="0" smtClean="0"/>
              <a:t>This API allows </a:t>
            </a:r>
            <a:r>
              <a:rPr lang="en-US" sz="2000" dirty="0"/>
              <a:t>you to inspect the state of a device’s battery and fires events about changes in battery level or </a:t>
            </a:r>
            <a:r>
              <a:rPr lang="en-US" sz="2000" dirty="0" smtClean="0"/>
              <a:t> status.</a:t>
            </a:r>
          </a:p>
          <a:p>
            <a:r>
              <a:rPr lang="en-US" sz="2000" dirty="0" smtClean="0"/>
              <a:t> </a:t>
            </a:r>
            <a:endParaRPr lang="en-US" sz="2000" dirty="0"/>
          </a:p>
          <a:p>
            <a:r>
              <a:rPr lang="en-US" sz="2000" dirty="0" err="1"/>
              <a:t>Reference:http</a:t>
            </a:r>
            <a:r>
              <a:rPr lang="en-US" sz="2000" dirty="0"/>
              <a:t>://www.hongkiat.com/blog/html5-battery-status/</a:t>
            </a:r>
            <a:endParaRPr lang="en-US" sz="2000" dirty="0" smtClean="0"/>
          </a:p>
          <a:p>
            <a:endParaRPr lang="en-US" sz="2000" dirty="0" smtClean="0"/>
          </a:p>
          <a:p>
            <a:r>
              <a:rPr lang="en-US" sz="2000" dirty="0" smtClean="0"/>
              <a:t>Demo (Try access via your mobile phone now</a:t>
            </a:r>
            <a:r>
              <a:rPr lang="en-US" sz="2000" dirty="0" smtClean="0">
                <a:sym typeface="Wingdings" panose="05000000000000000000" pitchFamily="2" charset="2"/>
              </a:rPr>
              <a:t>)</a:t>
            </a:r>
          </a:p>
          <a:p>
            <a:r>
              <a:rPr lang="en-US" sz="2000" b="1" dirty="0" smtClean="0"/>
              <a:t>http</a:t>
            </a:r>
            <a:r>
              <a:rPr lang="en-US" sz="2000" b="1" dirty="0"/>
              <a:t>://demo.hongkiat.com/html5-battery-status</a:t>
            </a:r>
            <a:r>
              <a:rPr lang="en-US" sz="2000" b="1" dirty="0" smtClean="0"/>
              <a:t>/</a:t>
            </a:r>
          </a:p>
          <a:p>
            <a:endParaRPr lang="en-US" sz="2000" dirty="0" smtClean="0"/>
          </a:p>
          <a:p>
            <a:r>
              <a:rPr lang="en-US" sz="2000" dirty="0" err="1" smtClean="0"/>
              <a:t>Support:Moderate.See</a:t>
            </a:r>
            <a:r>
              <a:rPr lang="en-US" sz="2000" dirty="0" smtClean="0"/>
              <a:t>: </a:t>
            </a:r>
          </a:p>
          <a:p>
            <a:r>
              <a:rPr lang="en-US" sz="2000" dirty="0" smtClean="0"/>
              <a:t>http</a:t>
            </a:r>
            <a:r>
              <a:rPr lang="en-US" sz="2000" dirty="0"/>
              <a:t>://caniuse.com/#feat=battery-status</a:t>
            </a:r>
            <a:endParaRPr lang="en-US" sz="2000" dirty="0" smtClean="0"/>
          </a:p>
          <a:p>
            <a:endParaRPr lang="en-US" sz="2000" dirty="0"/>
          </a:p>
          <a:p>
            <a:endParaRPr lang="en-US" sz="2000" dirty="0" smtClean="0"/>
          </a:p>
          <a:p>
            <a:endParaRPr lang="en-US" sz="2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smtClean="0">
                <a:solidFill>
                  <a:schemeClr val="bg1"/>
                </a:solidFill>
              </a:rPr>
              <a:t>Battery Status API</a:t>
            </a:r>
            <a:endParaRPr lang="en-US" sz="3600" dirty="0">
              <a:solidFill>
                <a:schemeClr val="bg1"/>
              </a:solidFill>
            </a:endParaRPr>
          </a:p>
        </p:txBody>
      </p:sp>
      <p:pic>
        <p:nvPicPr>
          <p:cNvPr id="10" name="Picture 9"/>
          <p:cNvPicPr>
            <a:picLocks noChangeAspect="1"/>
          </p:cNvPicPr>
          <p:nvPr/>
        </p:nvPicPr>
        <p:blipFill>
          <a:blip r:embed="rId3"/>
          <a:stretch>
            <a:fillRect/>
          </a:stretch>
        </p:blipFill>
        <p:spPr>
          <a:xfrm>
            <a:off x="685800" y="1473426"/>
            <a:ext cx="1496870" cy="1534886"/>
          </a:xfrm>
          <a:prstGeom prst="rect">
            <a:avLst/>
          </a:prstGeom>
        </p:spPr>
      </p:pic>
    </p:spTree>
    <p:extLst>
      <p:ext uri="{BB962C8B-B14F-4D97-AF65-F5344CB8AC3E}">
        <p14:creationId xmlns:p14="http://schemas.microsoft.com/office/powerpoint/2010/main" val="1271399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703855" y="3238911"/>
            <a:ext cx="7503710" cy="3048000"/>
          </a:xfrm>
        </p:spPr>
        <p:txBody>
          <a:bodyPr>
            <a:normAutofit fontScale="92500" lnSpcReduction="20000"/>
          </a:bodyPr>
          <a:lstStyle/>
          <a:p>
            <a:r>
              <a:rPr lang="en-US" sz="2000" dirty="0" smtClean="0"/>
              <a:t>This API allows </a:t>
            </a:r>
            <a:r>
              <a:rPr lang="en-US" sz="2000" dirty="0"/>
              <a:t>you to inspect the state of a device’s battery and fires events about changes in battery level or </a:t>
            </a:r>
            <a:r>
              <a:rPr lang="en-US" sz="2000" dirty="0" smtClean="0"/>
              <a:t> status.</a:t>
            </a:r>
          </a:p>
          <a:p>
            <a:r>
              <a:rPr lang="en-US" sz="2000" dirty="0" smtClean="0"/>
              <a:t> </a:t>
            </a:r>
          </a:p>
          <a:p>
            <a:r>
              <a:rPr lang="en-US" sz="2000" dirty="0" err="1" smtClean="0"/>
              <a:t>Reference:http</a:t>
            </a:r>
            <a:r>
              <a:rPr lang="en-US" sz="2000" dirty="0"/>
              <a:t>://www.sitepoint.com/introducing-screen-orientation-api</a:t>
            </a:r>
            <a:r>
              <a:rPr lang="en-US" sz="2000" dirty="0" smtClean="0"/>
              <a:t>/</a:t>
            </a:r>
          </a:p>
          <a:p>
            <a:endParaRPr lang="en-US" sz="2000" dirty="0" smtClean="0"/>
          </a:p>
          <a:p>
            <a:r>
              <a:rPr lang="en-US" sz="2000" dirty="0" smtClean="0"/>
              <a:t>Demo (Try access via your mobile phone now</a:t>
            </a:r>
            <a:r>
              <a:rPr lang="en-US" sz="2000" dirty="0" smtClean="0">
                <a:sym typeface="Wingdings" panose="05000000000000000000" pitchFamily="2" charset="2"/>
              </a:rPr>
              <a:t>)</a:t>
            </a:r>
          </a:p>
          <a:p>
            <a:r>
              <a:rPr lang="en-US" sz="2000" b="1" dirty="0">
                <a:hlinkClick r:id="rId3"/>
              </a:rPr>
              <a:t>http://</a:t>
            </a:r>
            <a:r>
              <a:rPr lang="en-US" sz="2000" b="1" dirty="0" smtClean="0">
                <a:hlinkClick r:id="rId3"/>
              </a:rPr>
              <a:t>aurelio.audero.it/demo/screen-orientation-api-demo.html</a:t>
            </a:r>
            <a:endParaRPr lang="en-US" sz="2000" b="1" dirty="0" smtClean="0"/>
          </a:p>
          <a:p>
            <a:endParaRPr lang="en-US" sz="2000" b="1" dirty="0"/>
          </a:p>
          <a:p>
            <a:r>
              <a:rPr lang="en-US" sz="2000" dirty="0" err="1" smtClean="0"/>
              <a:t>Support:Moderate.See</a:t>
            </a:r>
            <a:r>
              <a:rPr lang="en-US" sz="2000" dirty="0" smtClean="0"/>
              <a:t>: </a:t>
            </a:r>
          </a:p>
          <a:p>
            <a:r>
              <a:rPr lang="en-US" sz="2000" dirty="0"/>
              <a:t>http://caniuse.com/#feat=screen-orientation</a:t>
            </a:r>
          </a:p>
          <a:p>
            <a:endParaRPr lang="en-US" sz="2000" dirty="0" smtClean="0"/>
          </a:p>
          <a:p>
            <a:endParaRPr lang="en-US" sz="2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smtClean="0">
                <a:solidFill>
                  <a:schemeClr val="bg1"/>
                </a:solidFill>
              </a:rPr>
              <a:t>Screen Orientation API</a:t>
            </a:r>
            <a:endParaRPr lang="en-US" sz="3600" dirty="0">
              <a:solidFill>
                <a:schemeClr val="bg1"/>
              </a:solidFill>
            </a:endParaRPr>
          </a:p>
        </p:txBody>
      </p:sp>
      <p:pic>
        <p:nvPicPr>
          <p:cNvPr id="5" name="Picture 4"/>
          <p:cNvPicPr>
            <a:picLocks noChangeAspect="1"/>
          </p:cNvPicPr>
          <p:nvPr/>
        </p:nvPicPr>
        <p:blipFill>
          <a:blip r:embed="rId4"/>
          <a:stretch>
            <a:fillRect/>
          </a:stretch>
        </p:blipFill>
        <p:spPr>
          <a:xfrm>
            <a:off x="685800" y="1371600"/>
            <a:ext cx="3769910" cy="1714911"/>
          </a:xfrm>
          <a:prstGeom prst="rect">
            <a:avLst/>
          </a:prstGeom>
        </p:spPr>
      </p:pic>
    </p:spTree>
    <p:extLst>
      <p:ext uri="{BB962C8B-B14F-4D97-AF65-F5344CB8AC3E}">
        <p14:creationId xmlns:p14="http://schemas.microsoft.com/office/powerpoint/2010/main" val="8575893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03855" y="3505200"/>
            <a:ext cx="7503710" cy="3048000"/>
          </a:xfrm>
        </p:spPr>
        <p:txBody>
          <a:bodyPr>
            <a:normAutofit/>
          </a:bodyPr>
          <a:lstStyle/>
          <a:p>
            <a:r>
              <a:rPr lang="en-US" sz="2000" dirty="0"/>
              <a:t>The </a:t>
            </a:r>
            <a:r>
              <a:rPr lang="en-US" sz="2000" dirty="0" smtClean="0"/>
              <a:t> </a:t>
            </a:r>
            <a:r>
              <a:rPr lang="en-US" sz="2000" dirty="0" err="1" smtClean="0"/>
              <a:t>FullScreen</a:t>
            </a:r>
            <a:r>
              <a:rPr lang="en-US" sz="2000" dirty="0"/>
              <a:t> provides a way to request </a:t>
            </a:r>
            <a:r>
              <a:rPr lang="en-US" sz="2000" dirty="0" err="1"/>
              <a:t>fullscreen</a:t>
            </a:r>
            <a:r>
              <a:rPr lang="en-US" sz="2000" dirty="0"/>
              <a:t> display from the user, and exit this mode when desired</a:t>
            </a:r>
            <a:r>
              <a:rPr lang="en-US" sz="2000" dirty="0" smtClean="0"/>
              <a:t>.</a:t>
            </a:r>
          </a:p>
          <a:p>
            <a:r>
              <a:rPr lang="en-US" sz="2000" dirty="0" err="1"/>
              <a:t>Reference:http</a:t>
            </a:r>
            <a:r>
              <a:rPr lang="en-US" sz="2000" dirty="0"/>
              <a:t>://davidwalsh.name/</a:t>
            </a:r>
            <a:r>
              <a:rPr lang="en-US" sz="2000" dirty="0" err="1"/>
              <a:t>fullscreen</a:t>
            </a:r>
            <a:endParaRPr lang="en-US" sz="2000" dirty="0" smtClean="0"/>
          </a:p>
          <a:p>
            <a:r>
              <a:rPr lang="en-US" sz="2000" dirty="0" smtClean="0"/>
              <a:t>Demo (Try access via your mobile phone now</a:t>
            </a:r>
            <a:r>
              <a:rPr lang="en-US" sz="2000" dirty="0" smtClean="0">
                <a:sym typeface="Wingdings" panose="05000000000000000000" pitchFamily="2" charset="2"/>
              </a:rPr>
              <a:t>)</a:t>
            </a:r>
          </a:p>
          <a:p>
            <a:r>
              <a:rPr lang="en-US" sz="2000" b="1" dirty="0">
                <a:hlinkClick r:id="rId3"/>
              </a:rPr>
              <a:t>http://</a:t>
            </a:r>
            <a:r>
              <a:rPr lang="en-US" sz="2000" b="1" dirty="0" smtClean="0">
                <a:hlinkClick r:id="rId3"/>
              </a:rPr>
              <a:t>davidwalsh.name/demo/fullscreen.php</a:t>
            </a:r>
            <a:endParaRPr lang="en-US" sz="2000" b="1" dirty="0" smtClean="0"/>
          </a:p>
          <a:p>
            <a:endParaRPr lang="en-US" sz="2000" b="1" dirty="0"/>
          </a:p>
          <a:p>
            <a:r>
              <a:rPr lang="en-US" sz="2000" dirty="0" err="1" smtClean="0"/>
              <a:t>Support:Most</a:t>
            </a:r>
            <a:r>
              <a:rPr lang="en-US" sz="2000" dirty="0" smtClean="0"/>
              <a:t> browsers</a:t>
            </a:r>
          </a:p>
          <a:p>
            <a:endParaRPr lang="en-US" sz="2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smtClean="0">
                <a:solidFill>
                  <a:schemeClr val="bg1"/>
                </a:solidFill>
              </a:rPr>
              <a:t>Full Screen API</a:t>
            </a:r>
            <a:endParaRPr lang="en-US" sz="3600" dirty="0">
              <a:solidFill>
                <a:schemeClr val="bg1"/>
              </a:solidFill>
            </a:endParaRPr>
          </a:p>
        </p:txBody>
      </p:sp>
      <p:pic>
        <p:nvPicPr>
          <p:cNvPr id="6" name="Picture 5"/>
          <p:cNvPicPr>
            <a:picLocks noChangeAspect="1"/>
          </p:cNvPicPr>
          <p:nvPr/>
        </p:nvPicPr>
        <p:blipFill>
          <a:blip r:embed="rId4"/>
          <a:stretch>
            <a:fillRect/>
          </a:stretch>
        </p:blipFill>
        <p:spPr>
          <a:xfrm>
            <a:off x="838200" y="1332632"/>
            <a:ext cx="3352800" cy="2172568"/>
          </a:xfrm>
          <a:prstGeom prst="rect">
            <a:avLst/>
          </a:prstGeom>
        </p:spPr>
      </p:pic>
    </p:spTree>
    <p:extLst>
      <p:ext uri="{BB962C8B-B14F-4D97-AF65-F5344CB8AC3E}">
        <p14:creationId xmlns:p14="http://schemas.microsoft.com/office/powerpoint/2010/main" val="2066897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6008" y="1447801"/>
            <a:ext cx="5715000" cy="5105400"/>
          </a:xfrm>
        </p:spPr>
        <p:txBody>
          <a:bodyPr>
            <a:normAutofit fontScale="92500" lnSpcReduction="20000"/>
          </a:bodyPr>
          <a:lstStyle/>
          <a:p>
            <a:r>
              <a:rPr lang="en-US" sz="1800" dirty="0"/>
              <a:t>The </a:t>
            </a:r>
            <a:r>
              <a:rPr lang="en-US" sz="1800" dirty="0" err="1"/>
              <a:t>getUserMedia</a:t>
            </a:r>
            <a:r>
              <a:rPr lang="en-US" sz="1800" dirty="0"/>
              <a:t> API provides access to multimedia streams (video, audio, or both) from local devices. There are several use cases for this API. The first one is obviously real-time communication, but we can also employ it to record tutorials or lessons for online courses. Another interesting use case is the surveillance of your home or workplace. On its own, this API is only capable of acquiring audio and video, not sending the data or storing it in a file. </a:t>
            </a:r>
            <a:endParaRPr lang="en-US" sz="1800" dirty="0" smtClean="0"/>
          </a:p>
          <a:p>
            <a:endParaRPr lang="en-US" sz="1800" b="1" dirty="0"/>
          </a:p>
          <a:p>
            <a:r>
              <a:rPr lang="en-US" sz="1800" b="1" dirty="0" smtClean="0"/>
              <a:t>Reference: </a:t>
            </a:r>
          </a:p>
          <a:p>
            <a:r>
              <a:rPr lang="en-US" sz="1600" b="1" dirty="0"/>
              <a:t>http://www.html5rocks.com/en/tutorials/getusermedia/intro/</a:t>
            </a:r>
          </a:p>
          <a:p>
            <a:r>
              <a:rPr lang="en-US" sz="1800" b="1" dirty="0" smtClean="0"/>
              <a:t>http</a:t>
            </a:r>
            <a:r>
              <a:rPr lang="en-US" sz="1800" b="1" dirty="0"/>
              <a:t>://</a:t>
            </a:r>
            <a:r>
              <a:rPr lang="en-US" sz="1800" b="1" dirty="0" smtClean="0"/>
              <a:t>davidwalsh.name/browser-camera</a:t>
            </a:r>
          </a:p>
          <a:p>
            <a:r>
              <a:rPr lang="en-US" sz="1800" b="1" dirty="0" smtClean="0"/>
              <a:t>Demo</a:t>
            </a:r>
            <a:r>
              <a:rPr lang="en-US" sz="1800" dirty="0" smtClean="0"/>
              <a:t> (Try access via your mobile phone now</a:t>
            </a:r>
            <a:r>
              <a:rPr lang="en-US" sz="1800" dirty="0" smtClean="0">
                <a:sym typeface="Wingdings" panose="05000000000000000000" pitchFamily="2" charset="2"/>
              </a:rPr>
              <a:t>)</a:t>
            </a:r>
          </a:p>
          <a:p>
            <a:r>
              <a:rPr lang="en-US" sz="1800" b="1" dirty="0">
                <a:hlinkClick r:id="rId3"/>
              </a:rPr>
              <a:t>http://</a:t>
            </a:r>
            <a:r>
              <a:rPr lang="en-US" sz="1800" b="1" dirty="0" smtClean="0">
                <a:hlinkClick r:id="rId3"/>
              </a:rPr>
              <a:t>davidwalsh.name/demo/camera.php</a:t>
            </a:r>
            <a:endParaRPr lang="en-US" sz="1800" b="1" dirty="0" smtClean="0"/>
          </a:p>
          <a:p>
            <a:r>
              <a:rPr lang="en-US" sz="1800" b="1" dirty="0"/>
              <a:t>More </a:t>
            </a:r>
            <a:r>
              <a:rPr lang="en-US" sz="1800" b="1" dirty="0" smtClean="0"/>
              <a:t>DEMOS </a:t>
            </a:r>
            <a:r>
              <a:rPr lang="en-US" sz="1800" dirty="0" smtClean="0"/>
              <a:t>(capturing camera or video,  applying filters to video, audio capturing)</a:t>
            </a:r>
          </a:p>
          <a:p>
            <a:r>
              <a:rPr lang="en-US" sz="1600" dirty="0" smtClean="0"/>
              <a:t>http</a:t>
            </a:r>
            <a:r>
              <a:rPr lang="en-US" sz="1600" dirty="0"/>
              <a:t>://www.html5rocks.com/en/tutorials/getusermedia/intro/</a:t>
            </a:r>
          </a:p>
          <a:p>
            <a:r>
              <a:rPr lang="en-US" sz="1800" b="1" dirty="0" err="1" smtClean="0"/>
              <a:t>Convertingimage</a:t>
            </a:r>
            <a:r>
              <a:rPr lang="en-US" sz="1800" b="1" dirty="0" smtClean="0"/>
              <a:t> to jpeg:</a:t>
            </a:r>
          </a:p>
          <a:p>
            <a:r>
              <a:rPr lang="en-US" sz="1600" dirty="0"/>
              <a:t>http://davidwalsh.name/demo/convert-canvas-image.php</a:t>
            </a:r>
          </a:p>
          <a:p>
            <a:endParaRPr lang="en-US" sz="1800" dirty="0" smtClean="0"/>
          </a:p>
          <a:p>
            <a:r>
              <a:rPr lang="en-US" sz="1800" b="1" dirty="0" err="1" smtClean="0"/>
              <a:t>Support</a:t>
            </a:r>
            <a:r>
              <a:rPr lang="en-US" sz="1800" dirty="0" err="1" smtClean="0"/>
              <a:t>:Most</a:t>
            </a:r>
            <a:r>
              <a:rPr lang="en-US" sz="1800" dirty="0" smtClean="0"/>
              <a:t> browsers</a:t>
            </a:r>
          </a:p>
          <a:p>
            <a:endParaRPr lang="en-US" sz="20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err="1" smtClean="0">
                <a:solidFill>
                  <a:schemeClr val="bg1"/>
                </a:solidFill>
              </a:rPr>
              <a:t>Getusermedia</a:t>
            </a:r>
            <a:r>
              <a:rPr lang="en-US" sz="3600" dirty="0" smtClean="0">
                <a:solidFill>
                  <a:schemeClr val="bg1"/>
                </a:solidFill>
              </a:rPr>
              <a:t> </a:t>
            </a:r>
            <a:r>
              <a:rPr lang="en-US" sz="3600" dirty="0" smtClean="0">
                <a:solidFill>
                  <a:schemeClr val="bg1"/>
                </a:solidFill>
              </a:rPr>
              <a:t>API (Camera API)</a:t>
            </a:r>
          </a:p>
          <a:p>
            <a:endParaRPr lang="en-US" sz="3600" dirty="0">
              <a:solidFill>
                <a:schemeClr val="bg1"/>
              </a:solidFill>
            </a:endParaRPr>
          </a:p>
        </p:txBody>
      </p:sp>
      <p:pic>
        <p:nvPicPr>
          <p:cNvPr id="2" name="Picture 1"/>
          <p:cNvPicPr>
            <a:picLocks noChangeAspect="1"/>
          </p:cNvPicPr>
          <p:nvPr/>
        </p:nvPicPr>
        <p:blipFill>
          <a:blip r:embed="rId4"/>
          <a:stretch>
            <a:fillRect/>
          </a:stretch>
        </p:blipFill>
        <p:spPr>
          <a:xfrm>
            <a:off x="6061008" y="1447801"/>
            <a:ext cx="3082992" cy="2743200"/>
          </a:xfrm>
          <a:prstGeom prst="rect">
            <a:avLst/>
          </a:prstGeom>
        </p:spPr>
      </p:pic>
    </p:spTree>
    <p:extLst>
      <p:ext uri="{BB962C8B-B14F-4D97-AF65-F5344CB8AC3E}">
        <p14:creationId xmlns:p14="http://schemas.microsoft.com/office/powerpoint/2010/main" val="4378079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000" y="4800600"/>
            <a:ext cx="8382000" cy="3048000"/>
          </a:xfrm>
        </p:spPr>
        <p:txBody>
          <a:bodyPr>
            <a:normAutofit/>
          </a:bodyPr>
          <a:lstStyle/>
          <a:p>
            <a:r>
              <a:rPr lang="en-US" sz="1600" dirty="0" smtClean="0"/>
              <a:t>In the following demo, the creator use </a:t>
            </a:r>
            <a:r>
              <a:rPr lang="en-US" sz="1600" dirty="0"/>
              <a:t>the </a:t>
            </a:r>
            <a:r>
              <a:rPr lang="en-US" sz="1600" dirty="0" smtClean="0"/>
              <a:t>API to </a:t>
            </a:r>
            <a:r>
              <a:rPr lang="en-US" sz="1600" dirty="0"/>
              <a:t>create a set of functions to retrieve user’s location and show it in map with </a:t>
            </a:r>
            <a:r>
              <a:rPr lang="en-US" sz="1600" u="sng" dirty="0">
                <a:hlinkClick r:id="rId3"/>
              </a:rPr>
              <a:t>Google Maps</a:t>
            </a:r>
            <a:r>
              <a:rPr lang="en-US" sz="1600" dirty="0"/>
              <a:t>. </a:t>
            </a:r>
            <a:endParaRPr lang="en-US" sz="1600" dirty="0" smtClean="0"/>
          </a:p>
          <a:p>
            <a:r>
              <a:rPr lang="en-US" sz="1600" b="1" dirty="0" err="1" smtClean="0"/>
              <a:t>Reference:http</a:t>
            </a:r>
            <a:r>
              <a:rPr lang="en-US" sz="1600" b="1" dirty="0"/>
              <a:t>://www.hongkiat.com/blog/html5-geolocation</a:t>
            </a:r>
            <a:r>
              <a:rPr lang="en-US" sz="1600" b="1" dirty="0" smtClean="0"/>
              <a:t>/</a:t>
            </a:r>
          </a:p>
          <a:p>
            <a:r>
              <a:rPr lang="en-US" sz="1600" dirty="0" smtClean="0"/>
              <a:t>Demo (Try access via your mobile phone now</a:t>
            </a:r>
            <a:r>
              <a:rPr lang="en-US" sz="1600" dirty="0" smtClean="0">
                <a:sym typeface="Wingdings" panose="05000000000000000000" pitchFamily="2" charset="2"/>
              </a:rPr>
              <a:t>)</a:t>
            </a:r>
          </a:p>
          <a:p>
            <a:r>
              <a:rPr lang="en-US" sz="1600" b="1" dirty="0"/>
              <a:t>http://demo.hongkiat.com/html5-geolocation/</a:t>
            </a:r>
          </a:p>
          <a:p>
            <a:r>
              <a:rPr lang="en-US" sz="1600" dirty="0" err="1" smtClean="0"/>
              <a:t>Support:Most</a:t>
            </a:r>
            <a:r>
              <a:rPr lang="en-US" sz="1600" dirty="0" smtClean="0"/>
              <a:t> browsers</a:t>
            </a:r>
          </a:p>
          <a:p>
            <a:endParaRPr lang="en-US" sz="1600"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smtClean="0">
                <a:solidFill>
                  <a:schemeClr val="bg1"/>
                </a:solidFill>
              </a:rPr>
              <a:t>HTML5 Geolocation API</a:t>
            </a:r>
            <a:endParaRPr lang="en-US" sz="3600" dirty="0">
              <a:solidFill>
                <a:schemeClr val="bg1"/>
              </a:solidFill>
            </a:endParaRPr>
          </a:p>
        </p:txBody>
      </p:sp>
      <p:pic>
        <p:nvPicPr>
          <p:cNvPr id="2" name="Picture 1"/>
          <p:cNvPicPr>
            <a:picLocks noChangeAspect="1"/>
          </p:cNvPicPr>
          <p:nvPr/>
        </p:nvPicPr>
        <p:blipFill>
          <a:blip r:embed="rId4"/>
          <a:stretch>
            <a:fillRect/>
          </a:stretch>
        </p:blipFill>
        <p:spPr>
          <a:xfrm>
            <a:off x="228600" y="2106386"/>
            <a:ext cx="3264326" cy="1981200"/>
          </a:xfrm>
          <a:prstGeom prst="rect">
            <a:avLst/>
          </a:prstGeom>
        </p:spPr>
      </p:pic>
      <p:sp>
        <p:nvSpPr>
          <p:cNvPr id="5" name="TextBox 4"/>
          <p:cNvSpPr txBox="1"/>
          <p:nvPr/>
        </p:nvSpPr>
        <p:spPr>
          <a:xfrm>
            <a:off x="3657600" y="1393371"/>
            <a:ext cx="5181600" cy="3693319"/>
          </a:xfrm>
          <a:prstGeom prst="rect">
            <a:avLst/>
          </a:prstGeom>
          <a:noFill/>
        </p:spPr>
        <p:txBody>
          <a:bodyPr wrap="square" rtlCol="0">
            <a:spAutoFit/>
          </a:bodyPr>
          <a:lstStyle/>
          <a:p>
            <a:r>
              <a:rPr lang="en-US" dirty="0"/>
              <a:t>In many cases, obtaining user location would be extremely useful to establish better user experience, for example:</a:t>
            </a:r>
          </a:p>
          <a:p>
            <a:r>
              <a:rPr lang="en-US" dirty="0"/>
              <a:t>E-commerce sites can immediately provide shipping cost estimation and inform product availability from local retailers</a:t>
            </a:r>
          </a:p>
          <a:p>
            <a:r>
              <a:rPr lang="en-US" dirty="0"/>
              <a:t>News sites can provide localized headlines and weather report.</a:t>
            </a:r>
          </a:p>
          <a:p>
            <a:r>
              <a:rPr lang="en-US" dirty="0"/>
              <a:t>Daily deal sites </a:t>
            </a:r>
            <a:r>
              <a:rPr lang="en-US" dirty="0" smtClean="0"/>
              <a:t>can </a:t>
            </a:r>
            <a:r>
              <a:rPr lang="en-US" dirty="0"/>
              <a:t>provide offers and discounts available from user’s local stores or restaurants.</a:t>
            </a:r>
          </a:p>
          <a:p>
            <a:r>
              <a:rPr lang="en-US" dirty="0"/>
              <a:t>Movie sites can listed the ‘Now Playing’ movies in nearby theatres, </a:t>
            </a:r>
          </a:p>
          <a:p>
            <a:endParaRPr lang="en-US" dirty="0"/>
          </a:p>
        </p:txBody>
      </p:sp>
    </p:spTree>
    <p:extLst>
      <p:ext uri="{BB962C8B-B14F-4D97-AF65-F5344CB8AC3E}">
        <p14:creationId xmlns:p14="http://schemas.microsoft.com/office/powerpoint/2010/main" val="19554925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914400" y="2362200"/>
            <a:ext cx="7503710" cy="3048000"/>
          </a:xfrm>
        </p:spPr>
        <p:txBody>
          <a:bodyPr>
            <a:normAutofit fontScale="85000" lnSpcReduction="20000"/>
          </a:bodyPr>
          <a:lstStyle/>
          <a:p>
            <a:r>
              <a:rPr lang="en-US" dirty="0"/>
              <a:t>Page load time is one of the most important aspects of the user experience. </a:t>
            </a:r>
            <a:r>
              <a:rPr lang="en-US" dirty="0" smtClean="0"/>
              <a:t> </a:t>
            </a:r>
          </a:p>
          <a:p>
            <a:endParaRPr lang="en-US" dirty="0"/>
          </a:p>
          <a:p>
            <a:r>
              <a:rPr lang="en-US" dirty="0" smtClean="0"/>
              <a:t>This API offers detailed timing information throughout the page load process accessible through the timing property of the </a:t>
            </a:r>
            <a:r>
              <a:rPr lang="en-US" dirty="0" err="1" smtClean="0"/>
              <a:t>window.performance</a:t>
            </a:r>
            <a:r>
              <a:rPr lang="en-US" dirty="0" smtClean="0"/>
              <a:t> object.</a:t>
            </a:r>
          </a:p>
          <a:p>
            <a:endParaRPr lang="en-US" dirty="0"/>
          </a:p>
          <a:p>
            <a:r>
              <a:rPr lang="en-US" dirty="0"/>
              <a:t>The Navigation Timing API is </a:t>
            </a:r>
            <a:r>
              <a:rPr lang="en-US" dirty="0">
                <a:hlinkClick r:id="rId3"/>
              </a:rPr>
              <a:t>currently supported in</a:t>
            </a:r>
            <a:r>
              <a:rPr lang="en-US" dirty="0"/>
              <a:t> IE9+, Firefox 7+, Opera 15+, and Chrome 6+.</a:t>
            </a:r>
            <a:endParaRPr lang="en-US" dirty="0" smtClean="0"/>
          </a:p>
          <a:p>
            <a:endParaRPr lang="en-US" dirty="0" smtClean="0"/>
          </a:p>
          <a:p>
            <a:endParaRPr lang="en-US" dirty="0"/>
          </a:p>
          <a:p>
            <a:endParaRPr lang="en-US" dirty="0" smtClean="0"/>
          </a:p>
          <a:p>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r>
              <a:rPr lang="en-US" sz="3600" dirty="0">
                <a:solidFill>
                  <a:schemeClr val="bg1"/>
                </a:solidFill>
              </a:rPr>
              <a:t>Navigation Timing API</a:t>
            </a:r>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can I use them?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Now that you have access to some of the APIs, think of how you can use them in your mobile web application? </a:t>
            </a:r>
          </a:p>
          <a:p>
            <a:endParaRPr lang="en-US" dirty="0"/>
          </a:p>
          <a:p>
            <a:r>
              <a:rPr lang="en-US" dirty="0" smtClean="0"/>
              <a:t> Cam to monitor your child ?</a:t>
            </a:r>
          </a:p>
          <a:p>
            <a:r>
              <a:rPr lang="en-US" dirty="0" smtClean="0"/>
              <a:t>Attendance taking with photos?</a:t>
            </a:r>
          </a:p>
          <a:p>
            <a:r>
              <a:rPr lang="en-US" dirty="0" smtClean="0"/>
              <a:t>Display layout based on screen orientation?</a:t>
            </a:r>
          </a:p>
          <a:p>
            <a:r>
              <a:rPr lang="en-US" dirty="0" smtClean="0"/>
              <a:t>Vibration notification for certain interactions?</a:t>
            </a:r>
          </a:p>
          <a:p>
            <a:r>
              <a:rPr lang="en-US" dirty="0" smtClean="0"/>
              <a:t>Recommend user of the  cinema nearest to him or her?</a:t>
            </a:r>
          </a:p>
          <a:p>
            <a:r>
              <a:rPr lang="en-US" dirty="0" smtClean="0"/>
              <a:t>To test out these amazing features on your web application, it is recommended that you need sign up to a web hosting site. Here’s how.</a:t>
            </a:r>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spTree>
    <p:extLst>
      <p:ext uri="{BB962C8B-B14F-4D97-AF65-F5344CB8AC3E}">
        <p14:creationId xmlns:p14="http://schemas.microsoft.com/office/powerpoint/2010/main" val="4282904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Site Hosting</a:t>
            </a:r>
            <a:endParaRPr lang="en-US" dirty="0"/>
          </a:p>
        </p:txBody>
      </p:sp>
      <p:sp>
        <p:nvSpPr>
          <p:cNvPr id="3" name="Content Placeholder 2"/>
          <p:cNvSpPr>
            <a:spLocks noGrp="1"/>
          </p:cNvSpPr>
          <p:nvPr>
            <p:ph idx="1"/>
          </p:nvPr>
        </p:nvSpPr>
        <p:spPr/>
        <p:txBody>
          <a:bodyPr/>
          <a:lstStyle/>
          <a:p>
            <a:r>
              <a:rPr lang="en-US" dirty="0" smtClean="0"/>
              <a:t>Get started and own your first website </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11</a:t>
            </a:fld>
            <a:endParaRPr lang="en-US"/>
          </a:p>
        </p:txBody>
      </p:sp>
    </p:spTree>
    <p:extLst>
      <p:ext uri="{BB962C8B-B14F-4D97-AF65-F5344CB8AC3E}">
        <p14:creationId xmlns:p14="http://schemas.microsoft.com/office/powerpoint/2010/main" val="3506541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Hosting your site – Free or Paid?	</a:t>
            </a:r>
            <a:endParaRPr lang="en-US" sz="3200" dirty="0"/>
          </a:p>
        </p:txBody>
      </p:sp>
      <p:sp>
        <p:nvSpPr>
          <p:cNvPr id="3" name="Content Placeholder 2"/>
          <p:cNvSpPr>
            <a:spLocks noGrp="1"/>
          </p:cNvSpPr>
          <p:nvPr>
            <p:ph idx="1"/>
          </p:nvPr>
        </p:nvSpPr>
        <p:spPr/>
        <p:txBody>
          <a:bodyPr>
            <a:normAutofit lnSpcReduction="10000"/>
          </a:bodyPr>
          <a:lstStyle/>
          <a:p>
            <a:r>
              <a:rPr lang="en-US" dirty="0" smtClean="0"/>
              <a:t>At your own free time, understand web hosting through a series of videos on </a:t>
            </a:r>
            <a:r>
              <a:rPr lang="en-US" dirty="0" err="1" smtClean="0"/>
              <a:t>youtube</a:t>
            </a:r>
            <a:r>
              <a:rPr lang="en-US" dirty="0" smtClean="0"/>
              <a:t>. </a:t>
            </a:r>
            <a:r>
              <a:rPr lang="en-US" dirty="0" err="1" smtClean="0"/>
              <a:t>Eg</a:t>
            </a:r>
            <a:r>
              <a:rPr lang="en-US" dirty="0" smtClean="0"/>
              <a:t>,</a:t>
            </a:r>
          </a:p>
          <a:p>
            <a:r>
              <a:rPr lang="en-US" sz="2400" dirty="0">
                <a:hlinkClick r:id="rId2"/>
              </a:rPr>
              <a:t>https://</a:t>
            </a:r>
            <a:r>
              <a:rPr lang="en-US" sz="2400" dirty="0" smtClean="0">
                <a:hlinkClick r:id="rId2"/>
              </a:rPr>
              <a:t>www.youtube.com/watch?v=PCMT6q89kZA</a:t>
            </a:r>
            <a:endParaRPr lang="en-US" sz="2400" dirty="0" smtClean="0"/>
          </a:p>
          <a:p>
            <a:r>
              <a:rPr lang="en-US" dirty="0" smtClean="0"/>
              <a:t>Free Hosting  – Plenty out there, but slow in performance</a:t>
            </a:r>
          </a:p>
          <a:p>
            <a:r>
              <a:rPr lang="en-US" dirty="0" smtClean="0"/>
              <a:t>Paid Hosting </a:t>
            </a:r>
          </a:p>
          <a:p>
            <a:pPr lvl="1"/>
            <a:r>
              <a:rPr lang="en-US" dirty="0" err="1" smtClean="0"/>
              <a:t>ehost</a:t>
            </a:r>
            <a:r>
              <a:rPr lang="en-US" dirty="0" smtClean="0"/>
              <a:t> (USD$7 for one month only) or (for USD$60 for one year)</a:t>
            </a:r>
          </a:p>
          <a:p>
            <a:pPr marL="457200" lvl="1" indent="0">
              <a:buNone/>
            </a:pPr>
            <a:r>
              <a:rPr lang="en-US" dirty="0" smtClean="0"/>
              <a:t>    http://ehost.com</a:t>
            </a:r>
          </a:p>
          <a:p>
            <a:pPr lvl="1"/>
            <a:r>
              <a:rPr lang="en-US" dirty="0" smtClean="0"/>
              <a:t>HostGator.sg (SGD$8 a month) https</a:t>
            </a:r>
            <a:r>
              <a:rPr lang="en-US" dirty="0"/>
              <a:t>://www.hostgator.sg/</a:t>
            </a:r>
            <a:endParaRPr lang="en-US" dirty="0" smtClean="0"/>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Tree>
    <p:extLst>
      <p:ext uri="{BB962C8B-B14F-4D97-AF65-F5344CB8AC3E}">
        <p14:creationId xmlns:p14="http://schemas.microsoft.com/office/powerpoint/2010/main" val="1917074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Hosting 101 – What makes a good host?</a:t>
            </a:r>
            <a:endParaRPr lang="en-US" sz="3200" dirty="0"/>
          </a:p>
        </p:txBody>
      </p:sp>
      <p:sp>
        <p:nvSpPr>
          <p:cNvPr id="3" name="Content Placeholder 2"/>
          <p:cNvSpPr>
            <a:spLocks noGrp="1"/>
          </p:cNvSpPr>
          <p:nvPr>
            <p:ph idx="1"/>
          </p:nvPr>
        </p:nvSpPr>
        <p:spPr/>
        <p:txBody>
          <a:bodyPr>
            <a:normAutofit fontScale="92500" lnSpcReduction="20000"/>
          </a:bodyPr>
          <a:lstStyle/>
          <a:p>
            <a:r>
              <a:rPr lang="en-US" dirty="0" smtClean="0"/>
              <a:t>Choose a good site.</a:t>
            </a:r>
          </a:p>
          <a:p>
            <a:pPr lvl="1"/>
            <a:r>
              <a:rPr lang="en-US" dirty="0" smtClean="0"/>
              <a:t>Free domain names </a:t>
            </a:r>
            <a:r>
              <a:rPr lang="en-US" sz="1400" dirty="0" smtClean="0"/>
              <a:t>(</a:t>
            </a:r>
            <a:r>
              <a:rPr lang="en-US" sz="1400" dirty="0" smtClean="0">
                <a:hlinkClick r:id="rId2"/>
              </a:rPr>
              <a:t>www.whatyouwant.com</a:t>
            </a:r>
            <a:r>
              <a:rPr lang="en-US" sz="1400" dirty="0" smtClean="0"/>
              <a:t> as many as you can get)</a:t>
            </a:r>
          </a:p>
          <a:p>
            <a:pPr lvl="1"/>
            <a:r>
              <a:rPr lang="en-US" dirty="0" smtClean="0"/>
              <a:t>As many subdomains hosted </a:t>
            </a:r>
            <a:r>
              <a:rPr lang="en-US" sz="1400" dirty="0" smtClean="0"/>
              <a:t>(customized web addresses that allow you to create multiple pages for each site. &gt;25 per website is good.</a:t>
            </a:r>
          </a:p>
          <a:p>
            <a:pPr lvl="1"/>
            <a:r>
              <a:rPr lang="en-US" dirty="0" smtClean="0"/>
              <a:t>Free email address ( to help manage business operations, user feedbacks)</a:t>
            </a:r>
          </a:p>
          <a:p>
            <a:pPr lvl="1"/>
            <a:r>
              <a:rPr lang="en-US" dirty="0" smtClean="0"/>
              <a:t>Free marketing tools – google </a:t>
            </a:r>
            <a:r>
              <a:rPr lang="en-US" dirty="0" err="1" smtClean="0"/>
              <a:t>Adwords</a:t>
            </a:r>
            <a:r>
              <a:rPr lang="en-US" dirty="0" smtClean="0"/>
              <a:t>, affiliate </a:t>
            </a:r>
            <a:r>
              <a:rPr lang="en-US" dirty="0" err="1" smtClean="0"/>
              <a:t>programmes</a:t>
            </a:r>
            <a:endParaRPr lang="en-US" dirty="0" smtClean="0"/>
          </a:p>
          <a:p>
            <a:pPr lvl="1"/>
            <a:r>
              <a:rPr lang="en-US" dirty="0" smtClean="0"/>
              <a:t>Easy to use site builder</a:t>
            </a:r>
          </a:p>
          <a:p>
            <a:pPr lvl="1"/>
            <a:r>
              <a:rPr lang="en-US" dirty="0" smtClean="0"/>
              <a:t>Cheap yearly rates</a:t>
            </a:r>
          </a:p>
          <a:p>
            <a:pPr lvl="1"/>
            <a:r>
              <a:rPr lang="en-US" dirty="0" smtClean="0"/>
              <a:t>Large disk space</a:t>
            </a:r>
          </a:p>
          <a:p>
            <a:pPr lvl="1"/>
            <a:r>
              <a:rPr lang="en-US" dirty="0" smtClean="0"/>
              <a:t>Offer MySQL databases, </a:t>
            </a:r>
            <a:r>
              <a:rPr lang="en-US" dirty="0" err="1" smtClean="0"/>
              <a:t>php</a:t>
            </a:r>
            <a:r>
              <a:rPr lang="en-US" dirty="0" smtClean="0"/>
              <a:t> support, client scripts support </a:t>
            </a:r>
          </a:p>
          <a:p>
            <a:pPr lvl="1"/>
            <a:r>
              <a:rPr lang="en-US" dirty="0" err="1" smtClean="0"/>
              <a:t>Wordpress</a:t>
            </a:r>
            <a:r>
              <a:rPr lang="en-US" dirty="0" smtClean="0"/>
              <a:t> compatible</a:t>
            </a:r>
          </a:p>
          <a:p>
            <a:pPr lvl="1"/>
            <a:r>
              <a:rPr lang="en-US" dirty="0" smtClean="0"/>
              <a:t>Reliable – Don’t go down so often</a:t>
            </a:r>
          </a:p>
          <a:p>
            <a:pPr lvl="1"/>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Tree>
    <p:extLst>
      <p:ext uri="{BB962C8B-B14F-4D97-AF65-F5344CB8AC3E}">
        <p14:creationId xmlns:p14="http://schemas.microsoft.com/office/powerpoint/2010/main" val="3251606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Hosting 101 – What makes a good host?</a:t>
            </a:r>
            <a:endParaRPr lang="en-US" sz="3200" dirty="0"/>
          </a:p>
        </p:txBody>
      </p:sp>
      <p:sp>
        <p:nvSpPr>
          <p:cNvPr id="3" name="Content Placeholder 2"/>
          <p:cNvSpPr>
            <a:spLocks noGrp="1"/>
          </p:cNvSpPr>
          <p:nvPr>
            <p:ph idx="1"/>
          </p:nvPr>
        </p:nvSpPr>
        <p:spPr/>
        <p:txBody>
          <a:bodyPr>
            <a:normAutofit/>
          </a:bodyPr>
          <a:lstStyle/>
          <a:p>
            <a:r>
              <a:rPr lang="en-US" dirty="0" smtClean="0"/>
              <a:t>Choose a good site.</a:t>
            </a:r>
          </a:p>
          <a:p>
            <a:pPr lvl="1"/>
            <a:r>
              <a:rPr lang="en-US" dirty="0" smtClean="0"/>
              <a:t>Basically –</a:t>
            </a:r>
          </a:p>
          <a:p>
            <a:pPr lvl="2"/>
            <a:r>
              <a:rPr lang="en-US" dirty="0" smtClean="0"/>
              <a:t>Good Hosting Package(Cheap, Free Domains, Large Disk)</a:t>
            </a:r>
          </a:p>
          <a:p>
            <a:pPr lvl="2"/>
            <a:r>
              <a:rPr lang="en-US" dirty="0" smtClean="0"/>
              <a:t>Great Help &amp; Support(24/7 phone and online support, video tutorial)</a:t>
            </a:r>
          </a:p>
          <a:p>
            <a:pPr lvl="2"/>
            <a:r>
              <a:rPr lang="en-US" dirty="0" smtClean="0"/>
              <a:t>Easy to use control panel tools (</a:t>
            </a:r>
            <a:r>
              <a:rPr lang="en-US" dirty="0" err="1" smtClean="0"/>
              <a:t>wordpress</a:t>
            </a:r>
            <a:r>
              <a:rPr lang="en-US" dirty="0" smtClean="0"/>
              <a:t>, custom 404 pages, </a:t>
            </a:r>
            <a:r>
              <a:rPr lang="en-US" dirty="0" err="1" smtClean="0"/>
              <a:t>eCommerce</a:t>
            </a:r>
            <a:r>
              <a:rPr lang="en-US" dirty="0" smtClean="0"/>
              <a:t> solutions)</a:t>
            </a:r>
          </a:p>
          <a:p>
            <a:pPr lvl="2"/>
            <a:r>
              <a:rPr lang="en-US" dirty="0" smtClean="0"/>
              <a:t>Built-in website creation</a:t>
            </a:r>
          </a:p>
          <a:p>
            <a:pPr lvl="2"/>
            <a:r>
              <a:rPr lang="en-US" dirty="0" smtClean="0"/>
              <a:t>Great Security features (Site backup, SSL, Anti spam)</a:t>
            </a:r>
          </a:p>
          <a:p>
            <a:pPr marL="914400" lvl="2" indent="0">
              <a:buNone/>
            </a:pPr>
            <a:endParaRPr lang="en-US" dirty="0" smtClean="0"/>
          </a:p>
          <a:p>
            <a:pPr marL="914400" lvl="2" indent="0">
              <a:buNone/>
            </a:pPr>
            <a:r>
              <a:rPr lang="en-US" dirty="0" smtClean="0"/>
              <a:t>Browse:</a:t>
            </a:r>
          </a:p>
          <a:p>
            <a:pPr lvl="2"/>
            <a:r>
              <a:rPr lang="en-US" b="1" dirty="0"/>
              <a:t>http://web-hosting-review.toptenreviews.com/</a:t>
            </a:r>
            <a:endParaRPr lang="en-US" b="1" dirty="0" smtClean="0"/>
          </a:p>
          <a:p>
            <a:pPr lvl="1"/>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spTree>
    <p:extLst>
      <p:ext uri="{BB962C8B-B14F-4D97-AF65-F5344CB8AC3E}">
        <p14:creationId xmlns:p14="http://schemas.microsoft.com/office/powerpoint/2010/main" val="251802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Hosting 101 – Here we shall walk through the process of how to :</a:t>
            </a:r>
          </a:p>
          <a:p>
            <a:pPr lvl="1"/>
            <a:r>
              <a:rPr lang="en-US" dirty="0" smtClean="0"/>
              <a:t>set up and configure your website using C-Panel on your host site, </a:t>
            </a:r>
          </a:p>
          <a:p>
            <a:pPr lvl="1"/>
            <a:r>
              <a:rPr lang="en-US" dirty="0" smtClean="0"/>
              <a:t>upload your website via FTP</a:t>
            </a:r>
          </a:p>
          <a:p>
            <a:pPr lvl="1"/>
            <a:r>
              <a:rPr lang="en-US" dirty="0" smtClean="0"/>
              <a:t>create the </a:t>
            </a:r>
            <a:r>
              <a:rPr lang="en-US" dirty="0" err="1" smtClean="0"/>
              <a:t>php</a:t>
            </a:r>
            <a:r>
              <a:rPr lang="en-US" dirty="0" smtClean="0"/>
              <a:t> database for your website</a:t>
            </a:r>
          </a:p>
          <a:p>
            <a:pPr lvl="1"/>
            <a:endParaRPr lang="en-US" dirty="0"/>
          </a:p>
          <a:p>
            <a:pPr lvl="1"/>
            <a:r>
              <a:rPr lang="en-US" sz="1600" i="1" dirty="0" smtClean="0">
                <a:solidFill>
                  <a:srgbClr val="FF0000"/>
                </a:solidFill>
              </a:rPr>
              <a:t>For this to work, you will have to sign up with a web hosting site (at your own expense). You can sign up for 1 month so that you can experience how to configure and host your own content with database.</a:t>
            </a:r>
          </a:p>
          <a:p>
            <a:pPr lvl="1"/>
            <a:r>
              <a:rPr lang="en-US" sz="1600" i="1" dirty="0" smtClean="0">
                <a:solidFill>
                  <a:srgbClr val="FF0000"/>
                </a:solidFill>
              </a:rPr>
              <a:t>For our example, we are using ehost.com. Interface may varies for different hosting services.</a:t>
            </a:r>
          </a:p>
          <a:p>
            <a:pPr lvl="1"/>
            <a:r>
              <a:rPr lang="en-US" sz="1600" i="1" dirty="0" smtClean="0">
                <a:solidFill>
                  <a:srgbClr val="FF0000"/>
                </a:solidFill>
              </a:rPr>
              <a:t>Your tutor will walk through the slides, so to give you an idea of how to configure and set up.  For Assignment 2, </a:t>
            </a:r>
            <a:endParaRPr lang="en-US"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spTree>
    <p:extLst>
      <p:ext uri="{BB962C8B-B14F-4D97-AF65-F5344CB8AC3E}">
        <p14:creationId xmlns:p14="http://schemas.microsoft.com/office/powerpoint/2010/main" val="16368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740" y="1086635"/>
            <a:ext cx="7395380" cy="944562"/>
          </a:xfrm>
        </p:spPr>
        <p:txBody>
          <a:bodyPr>
            <a:normAutofit/>
          </a:bodyPr>
          <a:lstStyle/>
          <a:p>
            <a:r>
              <a:rPr lang="en-US" sz="2400" dirty="0" smtClean="0">
                <a:solidFill>
                  <a:schemeClr val="tx1"/>
                </a:solidFill>
              </a:rPr>
              <a:t>STEP 1 – Sign Up</a:t>
            </a:r>
            <a:endParaRPr lang="en-US" sz="2400" dirty="0">
              <a:solidFill>
                <a:schemeClr val="tx1"/>
              </a:solidFill>
            </a:endParaRPr>
          </a:p>
        </p:txBody>
      </p:sp>
      <p:sp>
        <p:nvSpPr>
          <p:cNvPr id="3" name="Content Placeholder 2"/>
          <p:cNvSpPr>
            <a:spLocks noGrp="1"/>
          </p:cNvSpPr>
          <p:nvPr>
            <p:ph idx="1"/>
          </p:nvPr>
        </p:nvSpPr>
        <p:spPr>
          <a:xfrm>
            <a:off x="794679" y="1852592"/>
            <a:ext cx="7395380" cy="4876800"/>
          </a:xfrm>
        </p:spPr>
        <p:txBody>
          <a:bodyPr>
            <a:normAutofit/>
          </a:bodyPr>
          <a:lstStyle/>
          <a:p>
            <a:r>
              <a:rPr lang="en-US" sz="2000" dirty="0" smtClean="0"/>
              <a:t>Go to sign up page and register</a:t>
            </a:r>
          </a:p>
          <a:p>
            <a:r>
              <a:rPr lang="en-US" sz="2000" dirty="0" smtClean="0"/>
              <a:t>Then choose a domain for your </a:t>
            </a:r>
          </a:p>
          <a:p>
            <a:pPr marL="0" indent="0">
              <a:buNone/>
            </a:pPr>
            <a:r>
              <a:rPr lang="en-US" sz="2000" dirty="0"/>
              <a:t> </a:t>
            </a:r>
            <a:r>
              <a:rPr lang="en-US" sz="2000" dirty="0" smtClean="0"/>
              <a:t>     website. After which sign up the plan of your    </a:t>
            </a:r>
          </a:p>
          <a:p>
            <a:pPr marL="0" indent="0">
              <a:buNone/>
            </a:pPr>
            <a:r>
              <a:rPr lang="en-US" sz="2000" dirty="0"/>
              <a:t> </a:t>
            </a:r>
            <a:r>
              <a:rPr lang="en-US" sz="2000" dirty="0" smtClean="0"/>
              <a:t>     choice</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pic>
        <p:nvPicPr>
          <p:cNvPr id="6" name="Picture 5"/>
          <p:cNvPicPr>
            <a:picLocks noChangeAspect="1"/>
          </p:cNvPicPr>
          <p:nvPr/>
        </p:nvPicPr>
        <p:blipFill>
          <a:blip r:embed="rId2"/>
          <a:stretch>
            <a:fillRect/>
          </a:stretch>
        </p:blipFill>
        <p:spPr>
          <a:xfrm>
            <a:off x="6981701" y="1424123"/>
            <a:ext cx="1752600" cy="2202521"/>
          </a:xfrm>
          <a:prstGeom prst="rect">
            <a:avLst/>
          </a:prstGeom>
        </p:spPr>
      </p:pic>
      <p:pic>
        <p:nvPicPr>
          <p:cNvPr id="7" name="Picture 6"/>
          <p:cNvPicPr>
            <a:picLocks noChangeAspect="1"/>
          </p:cNvPicPr>
          <p:nvPr/>
        </p:nvPicPr>
        <p:blipFill>
          <a:blip r:embed="rId3"/>
          <a:stretch>
            <a:fillRect/>
          </a:stretch>
        </p:blipFill>
        <p:spPr>
          <a:xfrm>
            <a:off x="685800" y="4191000"/>
            <a:ext cx="8418723" cy="1524000"/>
          </a:xfrm>
          <a:prstGeom prst="rect">
            <a:avLst/>
          </a:prstGeom>
        </p:spPr>
      </p:pic>
      <p:sp>
        <p:nvSpPr>
          <p:cNvPr id="8" name="Title 1"/>
          <p:cNvSpPr txBox="1">
            <a:spLocks/>
          </p:cNvSpPr>
          <p:nvPr/>
        </p:nvSpPr>
        <p:spPr>
          <a:xfrm>
            <a:off x="862710" y="3189278"/>
            <a:ext cx="7395380"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2400" dirty="0" smtClean="0">
                <a:solidFill>
                  <a:schemeClr val="tx1"/>
                </a:solidFill>
              </a:rPr>
              <a:t>STEP 2 – Create Domain</a:t>
            </a:r>
            <a:endParaRPr lang="en-US" sz="2400" dirty="0">
              <a:solidFill>
                <a:schemeClr val="tx1"/>
              </a:solidFill>
            </a:endParaRPr>
          </a:p>
        </p:txBody>
      </p:sp>
      <p:sp>
        <p:nvSpPr>
          <p:cNvPr id="9" name="Title 1"/>
          <p:cNvSpPr txBox="1">
            <a:spLocks/>
          </p:cNvSpPr>
          <p:nvPr/>
        </p:nvSpPr>
        <p:spPr>
          <a:xfrm>
            <a:off x="986620" y="274638"/>
            <a:ext cx="7395380"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Hosting 101 </a:t>
            </a:r>
            <a:r>
              <a:rPr lang="en-US" sz="3200" dirty="0" err="1" smtClean="0"/>
              <a:t>Eg</a:t>
            </a:r>
            <a:r>
              <a:rPr lang="en-US" sz="3200" dirty="0" smtClean="0"/>
              <a:t>. Sign up, create domain</a:t>
            </a:r>
            <a:endParaRPr lang="en-US" sz="3200" dirty="0"/>
          </a:p>
        </p:txBody>
      </p:sp>
    </p:spTree>
    <p:extLst>
      <p:ext uri="{BB962C8B-B14F-4D97-AF65-F5344CB8AC3E}">
        <p14:creationId xmlns:p14="http://schemas.microsoft.com/office/powerpoint/2010/main" val="1907244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740" y="1086635"/>
            <a:ext cx="7395380" cy="944562"/>
          </a:xfrm>
        </p:spPr>
        <p:txBody>
          <a:bodyPr>
            <a:normAutofit/>
          </a:bodyPr>
          <a:lstStyle/>
          <a:p>
            <a:r>
              <a:rPr lang="en-US" sz="2400" dirty="0" smtClean="0">
                <a:solidFill>
                  <a:schemeClr val="tx1"/>
                </a:solidFill>
              </a:rPr>
              <a:t>STEP 3 – Select Correct Plan &amp; Sign up</a:t>
            </a:r>
            <a:endParaRPr lang="en-US" sz="2400" dirty="0">
              <a:solidFill>
                <a:schemeClr val="tx1"/>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sp>
        <p:nvSpPr>
          <p:cNvPr id="9" name="Title 1"/>
          <p:cNvSpPr txBox="1">
            <a:spLocks/>
          </p:cNvSpPr>
          <p:nvPr/>
        </p:nvSpPr>
        <p:spPr>
          <a:xfrm>
            <a:off x="986620" y="274638"/>
            <a:ext cx="7395380"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Hosting </a:t>
            </a:r>
            <a:r>
              <a:rPr lang="en-US" sz="3200" dirty="0"/>
              <a:t>101 </a:t>
            </a:r>
            <a:r>
              <a:rPr lang="en-US" sz="3200" dirty="0" err="1"/>
              <a:t>Eg</a:t>
            </a:r>
            <a:r>
              <a:rPr lang="en-US" sz="3200" dirty="0" smtClean="0"/>
              <a:t>. Select plan, subscribe</a:t>
            </a:r>
            <a:endParaRPr lang="en-US" sz="3200" dirty="0"/>
          </a:p>
        </p:txBody>
      </p:sp>
      <p:pic>
        <p:nvPicPr>
          <p:cNvPr id="10" name="Picture 9"/>
          <p:cNvPicPr>
            <a:picLocks noChangeAspect="1"/>
          </p:cNvPicPr>
          <p:nvPr/>
        </p:nvPicPr>
        <p:blipFill>
          <a:blip r:embed="rId2"/>
          <a:stretch>
            <a:fillRect/>
          </a:stretch>
        </p:blipFill>
        <p:spPr>
          <a:xfrm>
            <a:off x="901700" y="2380406"/>
            <a:ext cx="3726730" cy="1551089"/>
          </a:xfrm>
          <a:prstGeom prst="rect">
            <a:avLst/>
          </a:prstGeom>
        </p:spPr>
      </p:pic>
      <p:sp>
        <p:nvSpPr>
          <p:cNvPr id="14" name="Content Placeholder 2"/>
          <p:cNvSpPr>
            <a:spLocks noGrp="1"/>
          </p:cNvSpPr>
          <p:nvPr>
            <p:ph idx="1"/>
          </p:nvPr>
        </p:nvSpPr>
        <p:spPr>
          <a:xfrm>
            <a:off x="1143000" y="3927140"/>
            <a:ext cx="6324600" cy="2245059"/>
          </a:xfrm>
        </p:spPr>
        <p:txBody>
          <a:bodyPr>
            <a:normAutofit fontScale="85000" lnSpcReduction="10000"/>
          </a:bodyPr>
          <a:lstStyle/>
          <a:p>
            <a:pPr marL="0" indent="0">
              <a:buNone/>
            </a:pPr>
            <a:r>
              <a:rPr lang="en-US" sz="2000" dirty="0" smtClean="0"/>
              <a:t>Please choose your plan wisely, if you choose 36months, you may need to pay upfront $2,39*36 = $USD36.</a:t>
            </a:r>
          </a:p>
          <a:p>
            <a:pPr marL="0" indent="0">
              <a:buNone/>
            </a:pPr>
            <a:endParaRPr lang="en-US" sz="2000" dirty="0"/>
          </a:p>
          <a:p>
            <a:pPr marL="0" indent="0">
              <a:buNone/>
            </a:pPr>
            <a:r>
              <a:rPr lang="en-US" sz="2000" dirty="0" smtClean="0"/>
              <a:t>I suggest you sign up for 1 month if its just for this module.. And renew if you need to extend. </a:t>
            </a:r>
          </a:p>
          <a:p>
            <a:pPr marL="0" indent="0">
              <a:buNone/>
            </a:pPr>
            <a:r>
              <a:rPr lang="en-US" sz="2000" dirty="0" smtClean="0"/>
              <a:t>But do read the terms and conditions to avoid unnecessary costs.</a:t>
            </a:r>
          </a:p>
          <a:p>
            <a:pPr marL="0" indent="0">
              <a:buNone/>
            </a:pPr>
            <a:r>
              <a:rPr lang="en-US" sz="2000" dirty="0" smtClean="0"/>
              <a:t>Sharing will help cut down costs too, but you will need to schedule the uploads.</a:t>
            </a:r>
          </a:p>
        </p:txBody>
      </p:sp>
    </p:spTree>
    <p:extLst>
      <p:ext uri="{BB962C8B-B14F-4D97-AF65-F5344CB8AC3E}">
        <p14:creationId xmlns:p14="http://schemas.microsoft.com/office/powerpoint/2010/main" val="1184287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457200" y="4105275"/>
            <a:ext cx="7419975" cy="2152650"/>
          </a:xfrm>
          <a:prstGeom prst="rect">
            <a:avLst/>
          </a:prstGeom>
        </p:spPr>
      </p:pic>
      <p:sp>
        <p:nvSpPr>
          <p:cNvPr id="2" name="Title 1"/>
          <p:cNvSpPr>
            <a:spLocks noGrp="1"/>
          </p:cNvSpPr>
          <p:nvPr>
            <p:ph type="title"/>
          </p:nvPr>
        </p:nvSpPr>
        <p:spPr>
          <a:xfrm>
            <a:off x="986620" y="1576419"/>
            <a:ext cx="7395380" cy="944562"/>
          </a:xfrm>
        </p:spPr>
        <p:txBody>
          <a:bodyPr>
            <a:noAutofit/>
          </a:bodyPr>
          <a:lstStyle/>
          <a:p>
            <a:r>
              <a:rPr lang="en-US" sz="2400" dirty="0" smtClean="0">
                <a:solidFill>
                  <a:schemeClr val="tx1"/>
                </a:solidFill>
              </a:rPr>
              <a:t>STEP 4 – Login and check your account, subscription and familiarize with the control panel</a:t>
            </a:r>
            <a:endParaRPr lang="en-US" sz="2400" dirty="0">
              <a:solidFill>
                <a:schemeClr val="tx1"/>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sp>
        <p:nvSpPr>
          <p:cNvPr id="9" name="Title 1"/>
          <p:cNvSpPr txBox="1">
            <a:spLocks/>
          </p:cNvSpPr>
          <p:nvPr/>
        </p:nvSpPr>
        <p:spPr>
          <a:xfrm>
            <a:off x="986620" y="274638"/>
            <a:ext cx="7395380" cy="944562"/>
          </a:xfrm>
          <a:prstGeom prst="rect">
            <a:avLst/>
          </a:prstGeom>
        </p:spPr>
        <p:txBody>
          <a:bodyPr vert="horz" lIns="91440" tIns="45720" rIns="91440" bIns="45720" rtlCol="0" anchor="ctr">
            <a:normAutofit fontScale="92500" lnSpcReduction="10000"/>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Hosting 101 </a:t>
            </a:r>
            <a:r>
              <a:rPr lang="en-US" sz="3200" dirty="0" err="1" smtClean="0"/>
              <a:t>Eg</a:t>
            </a:r>
            <a:r>
              <a:rPr lang="en-US" sz="3200" dirty="0"/>
              <a:t>. </a:t>
            </a:r>
            <a:r>
              <a:rPr lang="en-US" sz="3200" dirty="0" smtClean="0"/>
              <a:t>Familiarize with the dashboard / control panel of your host </a:t>
            </a:r>
            <a:endParaRPr lang="en-US" sz="3200" dirty="0"/>
          </a:p>
        </p:txBody>
      </p:sp>
      <p:sp>
        <p:nvSpPr>
          <p:cNvPr id="13" name="Content Placeholder 2"/>
          <p:cNvSpPr txBox="1">
            <a:spLocks/>
          </p:cNvSpPr>
          <p:nvPr/>
        </p:nvSpPr>
        <p:spPr>
          <a:xfrm>
            <a:off x="1085129" y="2784898"/>
            <a:ext cx="4782271" cy="2396702"/>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Click to check on your subscription plans, term, and your details. Browse around the interface and see what services are available to you. Find out where is the section for </a:t>
            </a:r>
          </a:p>
          <a:p>
            <a:pPr lvl="1"/>
            <a:r>
              <a:rPr lang="en-US" sz="1600" dirty="0" smtClean="0"/>
              <a:t>FTP upload </a:t>
            </a:r>
          </a:p>
          <a:p>
            <a:pPr lvl="1"/>
            <a:r>
              <a:rPr lang="en-US" sz="1600" dirty="0" smtClean="0"/>
              <a:t>creating email accounts.</a:t>
            </a:r>
          </a:p>
          <a:p>
            <a:pPr lvl="1"/>
            <a:r>
              <a:rPr lang="en-US" sz="1600" dirty="0" smtClean="0"/>
              <a:t>Access </a:t>
            </a:r>
            <a:r>
              <a:rPr lang="en-US" sz="1600" dirty="0" err="1" smtClean="0"/>
              <a:t>PHPmyadmin</a:t>
            </a:r>
            <a:endParaRPr lang="en-US" sz="1600" dirty="0" smtClean="0"/>
          </a:p>
        </p:txBody>
      </p:sp>
      <p:pic>
        <p:nvPicPr>
          <p:cNvPr id="16" name="Picture 15"/>
          <p:cNvPicPr>
            <a:picLocks noChangeAspect="1"/>
          </p:cNvPicPr>
          <p:nvPr/>
        </p:nvPicPr>
        <p:blipFill>
          <a:blip r:embed="rId3"/>
          <a:stretch>
            <a:fillRect/>
          </a:stretch>
        </p:blipFill>
        <p:spPr>
          <a:xfrm>
            <a:off x="6427804" y="2520981"/>
            <a:ext cx="1952625" cy="3686175"/>
          </a:xfrm>
          <a:prstGeom prst="rect">
            <a:avLst/>
          </a:prstGeom>
        </p:spPr>
      </p:pic>
    </p:spTree>
    <p:extLst>
      <p:ext uri="{BB962C8B-B14F-4D97-AF65-F5344CB8AC3E}">
        <p14:creationId xmlns:p14="http://schemas.microsoft.com/office/powerpoint/2010/main" val="3788704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Hosting 101 </a:t>
            </a:r>
            <a:r>
              <a:rPr lang="en-US" sz="3200" dirty="0" err="1"/>
              <a:t>Eg</a:t>
            </a:r>
            <a:r>
              <a:rPr lang="en-US" sz="3200" dirty="0" smtClean="0"/>
              <a:t>. The Control Panel</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19</a:t>
            </a:fld>
            <a:endParaRPr lang="en-US"/>
          </a:p>
        </p:txBody>
      </p:sp>
      <p:pic>
        <p:nvPicPr>
          <p:cNvPr id="6" name="Picture 5"/>
          <p:cNvPicPr>
            <a:picLocks noChangeAspect="1"/>
          </p:cNvPicPr>
          <p:nvPr/>
        </p:nvPicPr>
        <p:blipFill>
          <a:blip r:embed="rId2"/>
          <a:stretch>
            <a:fillRect/>
          </a:stretch>
        </p:blipFill>
        <p:spPr>
          <a:xfrm>
            <a:off x="410941" y="1344368"/>
            <a:ext cx="6085097" cy="3359870"/>
          </a:xfrm>
          <a:prstGeom prst="rect">
            <a:avLst/>
          </a:prstGeom>
        </p:spPr>
      </p:pic>
      <p:pic>
        <p:nvPicPr>
          <p:cNvPr id="7" name="Picture 6"/>
          <p:cNvPicPr>
            <a:picLocks noChangeAspect="1"/>
          </p:cNvPicPr>
          <p:nvPr/>
        </p:nvPicPr>
        <p:blipFill>
          <a:blip r:embed="rId3"/>
          <a:stretch>
            <a:fillRect/>
          </a:stretch>
        </p:blipFill>
        <p:spPr>
          <a:xfrm>
            <a:off x="457200" y="4724400"/>
            <a:ext cx="6312303" cy="1659148"/>
          </a:xfrm>
          <a:prstGeom prst="rect">
            <a:avLst/>
          </a:prstGeom>
        </p:spPr>
      </p:pic>
      <p:sp>
        <p:nvSpPr>
          <p:cNvPr id="8" name="Oval 7"/>
          <p:cNvSpPr/>
          <p:nvPr/>
        </p:nvSpPr>
        <p:spPr>
          <a:xfrm>
            <a:off x="2136123" y="3878772"/>
            <a:ext cx="1372266" cy="1111249"/>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01328" y="5359183"/>
            <a:ext cx="1372266" cy="1111249"/>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136123" y="5315741"/>
            <a:ext cx="1372266" cy="1111249"/>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65841" y="3056289"/>
            <a:ext cx="1372266" cy="1111249"/>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4"/>
          <a:stretch>
            <a:fillRect/>
          </a:stretch>
        </p:blipFill>
        <p:spPr>
          <a:xfrm>
            <a:off x="6827354" y="4310834"/>
            <a:ext cx="1981200" cy="2190750"/>
          </a:xfrm>
          <a:prstGeom prst="rect">
            <a:avLst/>
          </a:prstGeom>
        </p:spPr>
      </p:pic>
      <p:sp>
        <p:nvSpPr>
          <p:cNvPr id="13" name="Oval 12"/>
          <p:cNvSpPr/>
          <p:nvPr/>
        </p:nvSpPr>
        <p:spPr>
          <a:xfrm>
            <a:off x="7032032" y="5181600"/>
            <a:ext cx="1372266" cy="1111249"/>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p:cNvSpPr txBox="1">
            <a:spLocks/>
          </p:cNvSpPr>
          <p:nvPr/>
        </p:nvSpPr>
        <p:spPr>
          <a:xfrm>
            <a:off x="3946604" y="2124844"/>
            <a:ext cx="4800600" cy="2142356"/>
          </a:xfrm>
          <a:prstGeom prst="rect">
            <a:avLst/>
          </a:prstGeom>
          <a:gradFill>
            <a:gsLst>
              <a:gs pos="0">
                <a:schemeClr val="accent1">
                  <a:lumMod val="5000"/>
                  <a:lumOff val="95000"/>
                  <a:alpha val="4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o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Highlighted here are some useful functions:</a:t>
            </a:r>
            <a:endParaRPr lang="en-US" sz="1400" dirty="0" smtClean="0"/>
          </a:p>
          <a:p>
            <a:r>
              <a:rPr lang="en-US" sz="1400" dirty="0" smtClean="0"/>
              <a:t>File Manager – Manage your server files (Upload/edit)</a:t>
            </a:r>
          </a:p>
          <a:p>
            <a:r>
              <a:rPr lang="en-US" sz="1400" dirty="0" smtClean="0"/>
              <a:t>FTP Accounts – Create Ftp accounts so that you can upload bulk files using FTP tools (</a:t>
            </a:r>
            <a:r>
              <a:rPr lang="en-US" sz="1400" dirty="0" err="1" smtClean="0"/>
              <a:t>Eg</a:t>
            </a:r>
            <a:r>
              <a:rPr lang="en-US" sz="1400" dirty="0" smtClean="0"/>
              <a:t>. </a:t>
            </a:r>
            <a:r>
              <a:rPr lang="en-US" sz="1400" dirty="0" err="1" smtClean="0"/>
              <a:t>Filezilla</a:t>
            </a:r>
            <a:r>
              <a:rPr lang="en-US" sz="1400" dirty="0" smtClean="0"/>
              <a:t>)</a:t>
            </a:r>
          </a:p>
          <a:p>
            <a:r>
              <a:rPr lang="en-US" sz="1400" dirty="0" smtClean="0"/>
              <a:t>MySQL Databases – Create a new database here</a:t>
            </a:r>
          </a:p>
          <a:p>
            <a:r>
              <a:rPr lang="en-US" sz="1400" dirty="0" err="1" smtClean="0"/>
              <a:t>phpMyAdmin</a:t>
            </a:r>
            <a:r>
              <a:rPr lang="en-US" sz="1400" dirty="0" smtClean="0"/>
              <a:t> – Manage your </a:t>
            </a:r>
            <a:r>
              <a:rPr lang="en-US" sz="1400" dirty="0" err="1" smtClean="0"/>
              <a:t>php</a:t>
            </a:r>
            <a:r>
              <a:rPr lang="en-US" sz="1400" dirty="0" smtClean="0"/>
              <a:t> </a:t>
            </a:r>
            <a:r>
              <a:rPr lang="en-US" sz="1400" dirty="0" err="1" smtClean="0"/>
              <a:t>databasese</a:t>
            </a:r>
            <a:r>
              <a:rPr lang="en-US" sz="1400" dirty="0" smtClean="0"/>
              <a:t> here / Import data, create table</a:t>
            </a:r>
          </a:p>
          <a:p>
            <a:r>
              <a:rPr lang="en-US" sz="1400" dirty="0"/>
              <a:t>Accounts – create new email accounts for your admin</a:t>
            </a:r>
          </a:p>
          <a:p>
            <a:endParaRPr lang="en-US" sz="1400" dirty="0" smtClean="0"/>
          </a:p>
        </p:txBody>
      </p:sp>
      <p:sp>
        <p:nvSpPr>
          <p:cNvPr id="15" name="Content Placeholder 2"/>
          <p:cNvSpPr txBox="1">
            <a:spLocks/>
          </p:cNvSpPr>
          <p:nvPr/>
        </p:nvSpPr>
        <p:spPr>
          <a:xfrm>
            <a:off x="1634180" y="1319210"/>
            <a:ext cx="7163308" cy="55324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ormAutofit fontScale="85000" lnSpcReduction="200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Once you get in, you will be presented with a dashboard of various functions you did use often to manage your website</a:t>
            </a:r>
            <a:endParaRPr lang="en-US" sz="1600" dirty="0" smtClean="0"/>
          </a:p>
        </p:txBody>
      </p:sp>
    </p:spTree>
    <p:extLst>
      <p:ext uri="{BB962C8B-B14F-4D97-AF65-F5344CB8AC3E}">
        <p14:creationId xmlns:p14="http://schemas.microsoft.com/office/powerpoint/2010/main" val="3867343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5266093" y="2665414"/>
            <a:ext cx="3011457" cy="3690937"/>
          </a:xfrm>
          <a:prstGeom prst="rect">
            <a:avLst/>
          </a:prstGeom>
        </p:spPr>
      </p:pic>
      <p:sp>
        <p:nvSpPr>
          <p:cNvPr id="2" name="Title 1"/>
          <p:cNvSpPr>
            <a:spLocks noGrp="1"/>
          </p:cNvSpPr>
          <p:nvPr>
            <p:ph type="title"/>
          </p:nvPr>
        </p:nvSpPr>
        <p:spPr>
          <a:xfrm>
            <a:off x="986620" y="274638"/>
            <a:ext cx="7166780" cy="868362"/>
          </a:xfrm>
        </p:spPr>
        <p:txBody>
          <a:bodyPr>
            <a:normAutofit/>
          </a:bodyPr>
          <a:lstStyle/>
          <a:p>
            <a:r>
              <a:rPr lang="en-US" sz="2800" dirty="0" smtClean="0"/>
              <a:t>Hosting 101 </a:t>
            </a:r>
            <a:r>
              <a:rPr lang="en-US" sz="2800" dirty="0" err="1"/>
              <a:t>Eg</a:t>
            </a:r>
            <a:r>
              <a:rPr lang="en-US" sz="2800" dirty="0"/>
              <a:t>. </a:t>
            </a:r>
            <a:r>
              <a:rPr lang="en-US" sz="2800" dirty="0" smtClean="0"/>
              <a:t>Create accounts</a:t>
            </a:r>
            <a:endParaRPr lang="en-US" sz="28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20</a:t>
            </a:fld>
            <a:endParaRPr lang="en-US"/>
          </a:p>
        </p:txBody>
      </p:sp>
      <p:sp>
        <p:nvSpPr>
          <p:cNvPr id="6" name="Content Placeholder 2"/>
          <p:cNvSpPr txBox="1">
            <a:spLocks/>
          </p:cNvSpPr>
          <p:nvPr/>
        </p:nvSpPr>
        <p:spPr>
          <a:xfrm>
            <a:off x="909391" y="3505200"/>
            <a:ext cx="3737780" cy="2783631"/>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Create an FTP account (In some websites, you are already preassigned an account, in which you may skip this step)</a:t>
            </a:r>
          </a:p>
          <a:p>
            <a:endParaRPr lang="en-US" sz="2000" dirty="0" smtClean="0"/>
          </a:p>
          <a:p>
            <a:r>
              <a:rPr lang="en-US" sz="2000" dirty="0" smtClean="0"/>
              <a:t>You will need</a:t>
            </a:r>
          </a:p>
          <a:p>
            <a:pPr lvl="1"/>
            <a:r>
              <a:rPr lang="en-US" sz="1600" dirty="0" smtClean="0"/>
              <a:t>Your FTP login name (Username)</a:t>
            </a:r>
          </a:p>
          <a:p>
            <a:pPr lvl="1"/>
            <a:r>
              <a:rPr lang="en-US" sz="1600" dirty="0" smtClean="0"/>
              <a:t>Your password (Password)</a:t>
            </a:r>
          </a:p>
          <a:p>
            <a:pPr lvl="1"/>
            <a:r>
              <a:rPr lang="en-US" sz="1600" dirty="0" smtClean="0"/>
              <a:t>Assign which directory you want to login to</a:t>
            </a:r>
          </a:p>
          <a:p>
            <a:pPr lvl="1"/>
            <a:r>
              <a:rPr lang="en-US" sz="1600" dirty="0" smtClean="0"/>
              <a:t>Know what is the FTP host name (Host)</a:t>
            </a:r>
          </a:p>
          <a:p>
            <a:pPr lvl="1"/>
            <a:r>
              <a:rPr lang="en-US" sz="1600" dirty="0" smtClean="0"/>
              <a:t>This Information will be required for FTP upload, in the next slide.</a:t>
            </a:r>
          </a:p>
          <a:p>
            <a:pPr lvl="1"/>
            <a:endParaRPr lang="en-US" sz="1600" dirty="0" smtClean="0"/>
          </a:p>
        </p:txBody>
      </p:sp>
      <p:sp>
        <p:nvSpPr>
          <p:cNvPr id="8" name="Title 1"/>
          <p:cNvSpPr>
            <a:spLocks noGrp="1"/>
          </p:cNvSpPr>
          <p:nvPr>
            <p:ph idx="1"/>
          </p:nvPr>
        </p:nvSpPr>
        <p:spPr>
          <a:xfrm>
            <a:off x="969971" y="2858293"/>
            <a:ext cx="7014380" cy="534986"/>
          </a:xfrm>
        </p:spPr>
        <p:txBody>
          <a:bodyPr>
            <a:normAutofit fontScale="97500"/>
          </a:bodyPr>
          <a:lstStyle/>
          <a:p>
            <a:pPr marL="0" indent="0">
              <a:buNone/>
            </a:pPr>
            <a:r>
              <a:rPr lang="en-US" sz="2000" b="1" dirty="0" smtClean="0">
                <a:solidFill>
                  <a:schemeClr val="tx1"/>
                </a:solidFill>
              </a:rPr>
              <a:t>STEP 6 – Create your FTP accounts</a:t>
            </a:r>
          </a:p>
          <a:p>
            <a:endParaRPr lang="en-US" sz="2000" b="1" dirty="0">
              <a:solidFill>
                <a:schemeClr val="tx1"/>
              </a:solidFill>
            </a:endParaRPr>
          </a:p>
        </p:txBody>
      </p:sp>
      <p:sp>
        <p:nvSpPr>
          <p:cNvPr id="11" name="Title 1"/>
          <p:cNvSpPr txBox="1">
            <a:spLocks/>
          </p:cNvSpPr>
          <p:nvPr/>
        </p:nvSpPr>
        <p:spPr>
          <a:xfrm>
            <a:off x="930740" y="1086635"/>
            <a:ext cx="7395380" cy="944562"/>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2000" dirty="0" smtClean="0">
                <a:solidFill>
                  <a:schemeClr val="tx1"/>
                </a:solidFill>
              </a:rPr>
              <a:t>STEP 5– Create user account, email </a:t>
            </a:r>
            <a:r>
              <a:rPr lang="en-US" sz="1800" dirty="0" smtClean="0">
                <a:solidFill>
                  <a:schemeClr val="tx1"/>
                </a:solidFill>
              </a:rPr>
              <a:t>addresses</a:t>
            </a:r>
            <a:r>
              <a:rPr lang="en-US" sz="2000" dirty="0" smtClean="0">
                <a:solidFill>
                  <a:schemeClr val="tx1"/>
                </a:solidFill>
              </a:rPr>
              <a:t>  </a:t>
            </a:r>
            <a:endParaRPr lang="en-US" sz="2000" dirty="0">
              <a:solidFill>
                <a:schemeClr val="tx1"/>
              </a:solidFill>
            </a:endParaRPr>
          </a:p>
        </p:txBody>
      </p:sp>
      <p:sp>
        <p:nvSpPr>
          <p:cNvPr id="12" name="Content Placeholder 2"/>
          <p:cNvSpPr txBox="1">
            <a:spLocks/>
          </p:cNvSpPr>
          <p:nvPr/>
        </p:nvSpPr>
        <p:spPr>
          <a:xfrm>
            <a:off x="1295400" y="1865173"/>
            <a:ext cx="6444321" cy="12991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Create as many email address as required</a:t>
            </a:r>
          </a:p>
          <a:p>
            <a:r>
              <a:rPr lang="en-US" sz="2000" dirty="0" smtClean="0"/>
              <a:t> These will be used by your administrators</a:t>
            </a:r>
          </a:p>
        </p:txBody>
      </p:sp>
    </p:spTree>
    <p:extLst>
      <p:ext uri="{BB962C8B-B14F-4D97-AF65-F5344CB8AC3E}">
        <p14:creationId xmlns:p14="http://schemas.microsoft.com/office/powerpoint/2010/main" val="2613919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Hosting 101 </a:t>
            </a:r>
            <a:r>
              <a:rPr lang="en-US" sz="2800" dirty="0" err="1"/>
              <a:t>Eg</a:t>
            </a:r>
            <a:r>
              <a:rPr lang="en-US" sz="2800" dirty="0"/>
              <a:t>. </a:t>
            </a:r>
            <a:r>
              <a:rPr lang="en-US" sz="2800" dirty="0" smtClean="0"/>
              <a:t>Create FTP accounts, and upload</a:t>
            </a:r>
            <a:endParaRPr lang="en-US" sz="28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21</a:t>
            </a:fld>
            <a:endParaRPr lang="en-US"/>
          </a:p>
        </p:txBody>
      </p:sp>
      <p:sp>
        <p:nvSpPr>
          <p:cNvPr id="10" name="Title 1"/>
          <p:cNvSpPr txBox="1">
            <a:spLocks/>
          </p:cNvSpPr>
          <p:nvPr/>
        </p:nvSpPr>
        <p:spPr>
          <a:xfrm>
            <a:off x="828732" y="1661347"/>
            <a:ext cx="5724468" cy="1219200"/>
          </a:xfrm>
          <a:prstGeom prst="rect">
            <a:avLst/>
          </a:prstGeom>
        </p:spPr>
        <p:txBody>
          <a:bodyPr vert="horz" lIns="91440" tIns="45720" rIns="91440" bIns="45720" rtlCol="0">
            <a:normAutofit fontScale="975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smtClean="0"/>
              <a:t>STEP 7– Test out your website via URL</a:t>
            </a:r>
          </a:p>
          <a:p>
            <a:endParaRPr lang="en-US" sz="2000" b="1" dirty="0"/>
          </a:p>
        </p:txBody>
      </p:sp>
      <p:pic>
        <p:nvPicPr>
          <p:cNvPr id="3" name="Picture 2"/>
          <p:cNvPicPr>
            <a:picLocks noChangeAspect="1"/>
          </p:cNvPicPr>
          <p:nvPr/>
        </p:nvPicPr>
        <p:blipFill>
          <a:blip r:embed="rId2"/>
          <a:stretch>
            <a:fillRect/>
          </a:stretch>
        </p:blipFill>
        <p:spPr>
          <a:xfrm>
            <a:off x="4889800" y="2286000"/>
            <a:ext cx="3972317" cy="3298371"/>
          </a:xfrm>
          <a:prstGeom prst="rect">
            <a:avLst/>
          </a:prstGeom>
        </p:spPr>
      </p:pic>
      <p:pic>
        <p:nvPicPr>
          <p:cNvPr id="7" name="Picture 6"/>
          <p:cNvPicPr>
            <a:picLocks noChangeAspect="1"/>
          </p:cNvPicPr>
          <p:nvPr/>
        </p:nvPicPr>
        <p:blipFill>
          <a:blip r:embed="rId3"/>
          <a:stretch>
            <a:fillRect/>
          </a:stretch>
        </p:blipFill>
        <p:spPr>
          <a:xfrm>
            <a:off x="914400" y="4116023"/>
            <a:ext cx="3166506" cy="1850845"/>
          </a:xfrm>
          <a:prstGeom prst="rect">
            <a:avLst/>
          </a:prstGeom>
        </p:spPr>
      </p:pic>
      <p:pic>
        <p:nvPicPr>
          <p:cNvPr id="12" name="Picture 11"/>
          <p:cNvPicPr>
            <a:picLocks noChangeAspect="1"/>
          </p:cNvPicPr>
          <p:nvPr/>
        </p:nvPicPr>
        <p:blipFill>
          <a:blip r:embed="rId4"/>
          <a:stretch>
            <a:fillRect/>
          </a:stretch>
        </p:blipFill>
        <p:spPr>
          <a:xfrm>
            <a:off x="635108" y="3652527"/>
            <a:ext cx="4143375" cy="542925"/>
          </a:xfrm>
          <a:prstGeom prst="rect">
            <a:avLst/>
          </a:prstGeom>
        </p:spPr>
      </p:pic>
      <p:sp>
        <p:nvSpPr>
          <p:cNvPr id="14" name="Content Placeholder 2"/>
          <p:cNvSpPr txBox="1">
            <a:spLocks/>
          </p:cNvSpPr>
          <p:nvPr/>
        </p:nvSpPr>
        <p:spPr>
          <a:xfrm>
            <a:off x="626692" y="2196314"/>
            <a:ext cx="3962400" cy="12991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Test out your URL, to see if the files from your website are accessible from your domain URL</a:t>
            </a:r>
          </a:p>
        </p:txBody>
      </p:sp>
    </p:spTree>
    <p:extLst>
      <p:ext uri="{BB962C8B-B14F-4D97-AF65-F5344CB8AC3E}">
        <p14:creationId xmlns:p14="http://schemas.microsoft.com/office/powerpoint/2010/main" val="3430951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Hosting 101 </a:t>
            </a:r>
            <a:r>
              <a:rPr lang="en-US" sz="3200" dirty="0" err="1"/>
              <a:t>Eg</a:t>
            </a:r>
            <a:r>
              <a:rPr lang="en-US" sz="3200" dirty="0"/>
              <a:t>. </a:t>
            </a:r>
            <a:r>
              <a:rPr lang="en-US" sz="3200" dirty="0" smtClean="0"/>
              <a:t>Uploading website</a:t>
            </a:r>
            <a:endParaRPr lang="en-US" sz="3200"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22</a:t>
            </a:fld>
            <a:endParaRPr lang="en-US"/>
          </a:p>
        </p:txBody>
      </p:sp>
      <p:sp>
        <p:nvSpPr>
          <p:cNvPr id="10" name="Title 1"/>
          <p:cNvSpPr txBox="1">
            <a:spLocks/>
          </p:cNvSpPr>
          <p:nvPr/>
        </p:nvSpPr>
        <p:spPr>
          <a:xfrm>
            <a:off x="685799" y="1370375"/>
            <a:ext cx="7014380" cy="1219200"/>
          </a:xfrm>
          <a:prstGeom prst="rect">
            <a:avLst/>
          </a:prstGeom>
        </p:spPr>
        <p:txBody>
          <a:bodyPr vert="horz" lIns="91440" tIns="45720" rIns="91440" bIns="45720" rtlCol="0">
            <a:normAutofit fontScale="975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smtClean="0"/>
              <a:t>STEP 8 – Upload using FTP tool (</a:t>
            </a:r>
            <a:r>
              <a:rPr lang="en-US" sz="2000" b="1" dirty="0" err="1" smtClean="0"/>
              <a:t>Filezilla</a:t>
            </a:r>
            <a:r>
              <a:rPr lang="en-US" sz="2000" b="1" dirty="0" smtClean="0"/>
              <a:t>)</a:t>
            </a:r>
          </a:p>
          <a:p>
            <a:endParaRPr lang="en-US" sz="2000" b="1" dirty="0"/>
          </a:p>
        </p:txBody>
      </p:sp>
      <p:pic>
        <p:nvPicPr>
          <p:cNvPr id="7" name="Picture 6"/>
          <p:cNvPicPr>
            <a:picLocks noChangeAspect="1"/>
          </p:cNvPicPr>
          <p:nvPr/>
        </p:nvPicPr>
        <p:blipFill>
          <a:blip r:embed="rId2"/>
          <a:stretch>
            <a:fillRect/>
          </a:stretch>
        </p:blipFill>
        <p:spPr>
          <a:xfrm>
            <a:off x="982641" y="1979975"/>
            <a:ext cx="7375410" cy="4600575"/>
          </a:xfrm>
          <a:prstGeom prst="rect">
            <a:avLst/>
          </a:prstGeom>
        </p:spPr>
      </p:pic>
      <p:sp>
        <p:nvSpPr>
          <p:cNvPr id="11" name="TextBox 10"/>
          <p:cNvSpPr txBox="1"/>
          <p:nvPr/>
        </p:nvSpPr>
        <p:spPr>
          <a:xfrm>
            <a:off x="3657600" y="2518365"/>
            <a:ext cx="4572000" cy="646331"/>
          </a:xfrm>
          <a:prstGeom prst="rect">
            <a:avLst/>
          </a:prstGeom>
          <a:gradFill>
            <a:gsLst>
              <a:gs pos="0">
                <a:schemeClr val="accent1">
                  <a:lumMod val="5000"/>
                  <a:lumOff val="95000"/>
                  <a:alpha val="34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smtClean="0"/>
              <a:t>Key in correct host, </a:t>
            </a:r>
            <a:r>
              <a:rPr lang="en-US" dirty="0" err="1" smtClean="0"/>
              <a:t>username,password</a:t>
            </a:r>
            <a:r>
              <a:rPr lang="en-US" dirty="0" smtClean="0"/>
              <a:t> and port (if any), then click </a:t>
            </a:r>
            <a:r>
              <a:rPr lang="en-US" dirty="0" err="1" smtClean="0"/>
              <a:t>Quickconnect</a:t>
            </a:r>
            <a:r>
              <a:rPr lang="en-US" dirty="0" smtClean="0"/>
              <a:t>)</a:t>
            </a:r>
            <a:endParaRPr lang="en-US" dirty="0"/>
          </a:p>
        </p:txBody>
      </p:sp>
      <p:sp>
        <p:nvSpPr>
          <p:cNvPr id="13" name="TextBox 12"/>
          <p:cNvSpPr txBox="1"/>
          <p:nvPr/>
        </p:nvSpPr>
        <p:spPr>
          <a:xfrm>
            <a:off x="3531454" y="3747378"/>
            <a:ext cx="4876800" cy="646331"/>
          </a:xfrm>
          <a:prstGeom prst="rect">
            <a:avLst/>
          </a:prstGeom>
          <a:gradFill>
            <a:gsLst>
              <a:gs pos="0">
                <a:schemeClr val="accent1">
                  <a:lumMod val="5000"/>
                  <a:lumOff val="95000"/>
                  <a:alpha val="34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smtClean="0"/>
              <a:t>Once connected, navigate to the correct folder in your hosting server (in the Remote site window)</a:t>
            </a:r>
            <a:endParaRPr lang="en-US" dirty="0"/>
          </a:p>
        </p:txBody>
      </p:sp>
      <p:sp>
        <p:nvSpPr>
          <p:cNvPr id="14" name="Oval 13"/>
          <p:cNvSpPr/>
          <p:nvPr/>
        </p:nvSpPr>
        <p:spPr>
          <a:xfrm>
            <a:off x="3124200" y="3600420"/>
            <a:ext cx="457200" cy="430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5" name="TextBox 14"/>
          <p:cNvSpPr txBox="1"/>
          <p:nvPr/>
        </p:nvSpPr>
        <p:spPr>
          <a:xfrm>
            <a:off x="402402" y="4267199"/>
            <a:ext cx="2677197" cy="1477328"/>
          </a:xfrm>
          <a:prstGeom prst="rect">
            <a:avLst/>
          </a:prstGeom>
          <a:gradFill>
            <a:gsLst>
              <a:gs pos="0">
                <a:schemeClr val="accent1">
                  <a:lumMod val="5000"/>
                  <a:lumOff val="95000"/>
                  <a:alpha val="4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smtClean="0"/>
              <a:t>Drag and down files or folders to the remote window to upload. Always check the status to see if upload is successful</a:t>
            </a:r>
            <a:endParaRPr lang="en-US" dirty="0"/>
          </a:p>
        </p:txBody>
      </p:sp>
      <p:sp>
        <p:nvSpPr>
          <p:cNvPr id="16" name="Oval 15"/>
          <p:cNvSpPr/>
          <p:nvPr/>
        </p:nvSpPr>
        <p:spPr>
          <a:xfrm>
            <a:off x="321814" y="3855498"/>
            <a:ext cx="457200" cy="430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17" name="Rectangle 16"/>
          <p:cNvSpPr/>
          <p:nvPr/>
        </p:nvSpPr>
        <p:spPr>
          <a:xfrm>
            <a:off x="5715000" y="3391343"/>
            <a:ext cx="685800" cy="2934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64968" y="3414758"/>
            <a:ext cx="685800" cy="2934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018312" y="2260371"/>
            <a:ext cx="5534887" cy="2934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194539" y="2528519"/>
            <a:ext cx="457200" cy="430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pic>
        <p:nvPicPr>
          <p:cNvPr id="20" name="Picture 19"/>
          <p:cNvPicPr>
            <a:picLocks noChangeAspect="1"/>
          </p:cNvPicPr>
          <p:nvPr/>
        </p:nvPicPr>
        <p:blipFill>
          <a:blip r:embed="rId3"/>
          <a:stretch>
            <a:fillRect/>
          </a:stretch>
        </p:blipFill>
        <p:spPr>
          <a:xfrm>
            <a:off x="5715000" y="5302176"/>
            <a:ext cx="4687190" cy="279987"/>
          </a:xfrm>
          <a:prstGeom prst="rect">
            <a:avLst/>
          </a:prstGeom>
        </p:spPr>
      </p:pic>
      <p:sp>
        <p:nvSpPr>
          <p:cNvPr id="21" name="Down Arrow 20"/>
          <p:cNvSpPr/>
          <p:nvPr/>
        </p:nvSpPr>
        <p:spPr>
          <a:xfrm rot="16200000">
            <a:off x="4548747" y="3555804"/>
            <a:ext cx="323405" cy="26949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3283226" y="5467065"/>
            <a:ext cx="2677197" cy="1200329"/>
          </a:xfrm>
          <a:prstGeom prst="rect">
            <a:avLst/>
          </a:prstGeom>
          <a:gradFill>
            <a:gsLst>
              <a:gs pos="0">
                <a:schemeClr val="accent1">
                  <a:lumMod val="5000"/>
                  <a:lumOff val="95000"/>
                  <a:alpha val="34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dirty="0" smtClean="0"/>
              <a:t>Finally, when running your website, always check the </a:t>
            </a:r>
            <a:r>
              <a:rPr lang="en-US" dirty="0" err="1" smtClean="0"/>
              <a:t>error_log</a:t>
            </a:r>
            <a:r>
              <a:rPr lang="en-US" dirty="0" smtClean="0"/>
              <a:t> file for any errors.</a:t>
            </a:r>
            <a:endParaRPr lang="en-US" dirty="0"/>
          </a:p>
        </p:txBody>
      </p:sp>
      <p:sp>
        <p:nvSpPr>
          <p:cNvPr id="24" name="Down Arrow 23"/>
          <p:cNvSpPr/>
          <p:nvPr/>
        </p:nvSpPr>
        <p:spPr>
          <a:xfrm rot="14765714">
            <a:off x="6051414" y="5582460"/>
            <a:ext cx="323405" cy="6006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181413" y="5124899"/>
            <a:ext cx="457200" cy="4300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762795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34141" y="3602959"/>
            <a:ext cx="3093744" cy="2951947"/>
          </a:xfrm>
          <a:prstGeom prst="rect">
            <a:avLst/>
          </a:prstGeom>
        </p:spPr>
      </p:pic>
      <p:sp>
        <p:nvSpPr>
          <p:cNvPr id="2" name="Title 1"/>
          <p:cNvSpPr>
            <a:spLocks noGrp="1"/>
          </p:cNvSpPr>
          <p:nvPr>
            <p:ph type="title"/>
          </p:nvPr>
        </p:nvSpPr>
        <p:spPr>
          <a:xfrm>
            <a:off x="514172" y="1116932"/>
            <a:ext cx="7395380" cy="944562"/>
          </a:xfrm>
        </p:spPr>
        <p:txBody>
          <a:bodyPr>
            <a:normAutofit/>
          </a:bodyPr>
          <a:lstStyle/>
          <a:p>
            <a:r>
              <a:rPr lang="en-US" sz="2000" dirty="0" smtClean="0">
                <a:solidFill>
                  <a:schemeClr val="tx1"/>
                </a:solidFill>
              </a:rPr>
              <a:t>STEP 9 – Create an SQL database</a:t>
            </a:r>
            <a:endParaRPr lang="en-US" sz="2000" dirty="0">
              <a:solidFill>
                <a:schemeClr val="tx1"/>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23</a:t>
            </a:fld>
            <a:endParaRPr lang="en-US"/>
          </a:p>
        </p:txBody>
      </p:sp>
      <p:sp>
        <p:nvSpPr>
          <p:cNvPr id="9" name="Title 1"/>
          <p:cNvSpPr txBox="1">
            <a:spLocks/>
          </p:cNvSpPr>
          <p:nvPr/>
        </p:nvSpPr>
        <p:spPr>
          <a:xfrm>
            <a:off x="986620" y="274638"/>
            <a:ext cx="7395380"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Hosting 101 </a:t>
            </a:r>
            <a:r>
              <a:rPr lang="en-US" sz="3200" dirty="0" err="1"/>
              <a:t>Eg</a:t>
            </a:r>
            <a:r>
              <a:rPr lang="en-US" sz="3200" dirty="0"/>
              <a:t>. </a:t>
            </a:r>
            <a:r>
              <a:rPr lang="en-US" sz="3200" dirty="0" smtClean="0"/>
              <a:t>Create your database</a:t>
            </a:r>
            <a:endParaRPr lang="en-US" sz="3200" dirty="0"/>
          </a:p>
        </p:txBody>
      </p:sp>
      <p:pic>
        <p:nvPicPr>
          <p:cNvPr id="14" name="Picture 13"/>
          <p:cNvPicPr>
            <a:picLocks noChangeAspect="1"/>
          </p:cNvPicPr>
          <p:nvPr/>
        </p:nvPicPr>
        <p:blipFill>
          <a:blip r:embed="rId3"/>
          <a:stretch>
            <a:fillRect/>
          </a:stretch>
        </p:blipFill>
        <p:spPr>
          <a:xfrm>
            <a:off x="1066540" y="1737614"/>
            <a:ext cx="2159607" cy="1201546"/>
          </a:xfrm>
          <a:prstGeom prst="rect">
            <a:avLst/>
          </a:prstGeom>
        </p:spPr>
      </p:pic>
      <p:pic>
        <p:nvPicPr>
          <p:cNvPr id="15" name="Picture 14"/>
          <p:cNvPicPr>
            <a:picLocks noChangeAspect="1"/>
          </p:cNvPicPr>
          <p:nvPr/>
        </p:nvPicPr>
        <p:blipFill>
          <a:blip r:embed="rId4"/>
          <a:stretch>
            <a:fillRect/>
          </a:stretch>
        </p:blipFill>
        <p:spPr>
          <a:xfrm>
            <a:off x="5503290" y="1316735"/>
            <a:ext cx="2474575" cy="1779470"/>
          </a:xfrm>
          <a:prstGeom prst="rect">
            <a:avLst/>
          </a:prstGeom>
        </p:spPr>
      </p:pic>
      <p:sp>
        <p:nvSpPr>
          <p:cNvPr id="16" name="Right Arrow 15"/>
          <p:cNvSpPr/>
          <p:nvPr/>
        </p:nvSpPr>
        <p:spPr>
          <a:xfrm>
            <a:off x="3990430" y="2408895"/>
            <a:ext cx="842304" cy="4172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p:cNvSpPr txBox="1">
            <a:spLocks/>
          </p:cNvSpPr>
          <p:nvPr/>
        </p:nvSpPr>
        <p:spPr>
          <a:xfrm>
            <a:off x="533400" y="2816735"/>
            <a:ext cx="6113824"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2000" dirty="0" smtClean="0">
                <a:solidFill>
                  <a:schemeClr val="tx1"/>
                </a:solidFill>
              </a:rPr>
              <a:t>STEP 10 – Create NEW admin user for your website</a:t>
            </a:r>
            <a:endParaRPr lang="en-US" sz="2000" dirty="0">
              <a:solidFill>
                <a:schemeClr val="tx1"/>
              </a:solidFill>
            </a:endParaRPr>
          </a:p>
        </p:txBody>
      </p:sp>
      <p:pic>
        <p:nvPicPr>
          <p:cNvPr id="21" name="Picture 20"/>
          <p:cNvPicPr>
            <a:picLocks noChangeAspect="1"/>
          </p:cNvPicPr>
          <p:nvPr/>
        </p:nvPicPr>
        <p:blipFill>
          <a:blip r:embed="rId5"/>
          <a:stretch>
            <a:fillRect/>
          </a:stretch>
        </p:blipFill>
        <p:spPr>
          <a:xfrm>
            <a:off x="4566010" y="3511537"/>
            <a:ext cx="4530098" cy="1806949"/>
          </a:xfrm>
          <a:prstGeom prst="rect">
            <a:avLst/>
          </a:prstGeom>
        </p:spPr>
      </p:pic>
      <p:sp>
        <p:nvSpPr>
          <p:cNvPr id="18" name="Content Placeholder 2"/>
          <p:cNvSpPr txBox="1">
            <a:spLocks/>
          </p:cNvSpPr>
          <p:nvPr/>
        </p:nvSpPr>
        <p:spPr>
          <a:xfrm>
            <a:off x="2191117" y="3710780"/>
            <a:ext cx="2458554" cy="1913671"/>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Create the </a:t>
            </a:r>
            <a:r>
              <a:rPr lang="en-US" sz="2000" dirty="0" err="1" smtClean="0"/>
              <a:t>superuser</a:t>
            </a:r>
            <a:r>
              <a:rPr lang="en-US" sz="2000" dirty="0" smtClean="0"/>
              <a:t> and password.</a:t>
            </a:r>
          </a:p>
          <a:p>
            <a:r>
              <a:rPr lang="en-US" sz="2000" dirty="0" smtClean="0"/>
              <a:t>This should correspond to your connection string’s host, user, password &amp; database name</a:t>
            </a:r>
          </a:p>
        </p:txBody>
      </p:sp>
      <p:pic>
        <p:nvPicPr>
          <p:cNvPr id="25" name="Picture 24"/>
          <p:cNvPicPr>
            <a:picLocks noChangeAspect="1"/>
          </p:cNvPicPr>
          <p:nvPr/>
        </p:nvPicPr>
        <p:blipFill>
          <a:blip r:embed="rId6"/>
          <a:stretch>
            <a:fillRect/>
          </a:stretch>
        </p:blipFill>
        <p:spPr>
          <a:xfrm>
            <a:off x="4763278" y="4152949"/>
            <a:ext cx="4391025" cy="1981200"/>
          </a:xfrm>
          <a:prstGeom prst="rect">
            <a:avLst/>
          </a:prstGeom>
        </p:spPr>
      </p:pic>
      <p:sp>
        <p:nvSpPr>
          <p:cNvPr id="26" name="Left-Right Arrow 25"/>
          <p:cNvSpPr/>
          <p:nvPr/>
        </p:nvSpPr>
        <p:spPr>
          <a:xfrm>
            <a:off x="3228996" y="5677219"/>
            <a:ext cx="1676400" cy="49622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Corresponds </a:t>
            </a:r>
            <a:endParaRPr lang="en-US" dirty="0"/>
          </a:p>
        </p:txBody>
      </p:sp>
      <p:sp>
        <p:nvSpPr>
          <p:cNvPr id="27" name="Rectangle 26"/>
          <p:cNvSpPr/>
          <p:nvPr/>
        </p:nvSpPr>
        <p:spPr>
          <a:xfrm>
            <a:off x="6858000" y="4769482"/>
            <a:ext cx="1981200" cy="9077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8597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36534"/>
            <a:ext cx="7395380" cy="944562"/>
          </a:xfrm>
        </p:spPr>
        <p:txBody>
          <a:bodyPr>
            <a:normAutofit/>
          </a:bodyPr>
          <a:lstStyle/>
          <a:p>
            <a:r>
              <a:rPr lang="en-US" sz="2000" dirty="0" smtClean="0">
                <a:solidFill>
                  <a:schemeClr val="tx1"/>
                </a:solidFill>
              </a:rPr>
              <a:t>STEP 11 – Upload database design and content via </a:t>
            </a:r>
            <a:r>
              <a:rPr lang="en-US" sz="2000" dirty="0" err="1" smtClean="0">
                <a:solidFill>
                  <a:schemeClr val="tx1"/>
                </a:solidFill>
              </a:rPr>
              <a:t>phpMyAdmin</a:t>
            </a:r>
            <a:endParaRPr lang="en-US" sz="2000" dirty="0">
              <a:solidFill>
                <a:schemeClr val="tx1"/>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24</a:t>
            </a:fld>
            <a:endParaRPr lang="en-US"/>
          </a:p>
        </p:txBody>
      </p:sp>
      <p:sp>
        <p:nvSpPr>
          <p:cNvPr id="9" name="Title 1"/>
          <p:cNvSpPr txBox="1">
            <a:spLocks/>
          </p:cNvSpPr>
          <p:nvPr/>
        </p:nvSpPr>
        <p:spPr>
          <a:xfrm>
            <a:off x="986620" y="319008"/>
            <a:ext cx="7094560" cy="817526"/>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2800" dirty="0" smtClean="0"/>
              <a:t>Hosting 101 </a:t>
            </a:r>
            <a:r>
              <a:rPr lang="en-US" sz="2800" dirty="0" err="1"/>
              <a:t>Eg</a:t>
            </a:r>
            <a:r>
              <a:rPr lang="en-US" sz="2800" dirty="0"/>
              <a:t>. </a:t>
            </a:r>
            <a:r>
              <a:rPr lang="en-US" sz="2800" dirty="0" smtClean="0"/>
              <a:t>Import or Populate your database data &amp; design</a:t>
            </a:r>
            <a:endParaRPr lang="en-US" sz="2800" dirty="0"/>
          </a:p>
        </p:txBody>
      </p:sp>
      <p:sp>
        <p:nvSpPr>
          <p:cNvPr id="11" name="Content Placeholder 2"/>
          <p:cNvSpPr txBox="1">
            <a:spLocks/>
          </p:cNvSpPr>
          <p:nvPr/>
        </p:nvSpPr>
        <p:spPr>
          <a:xfrm>
            <a:off x="1295400" y="1865173"/>
            <a:ext cx="6444321" cy="12991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Go to the </a:t>
            </a:r>
            <a:r>
              <a:rPr lang="en-US" sz="2000" dirty="0" err="1" smtClean="0"/>
              <a:t>phpMyAdmin</a:t>
            </a:r>
            <a:r>
              <a:rPr lang="en-US" sz="2000" dirty="0" smtClean="0"/>
              <a:t> from the control panel, and import the .</a:t>
            </a:r>
            <a:r>
              <a:rPr lang="en-US" sz="2000" dirty="0" err="1" smtClean="0"/>
              <a:t>sql</a:t>
            </a:r>
            <a:r>
              <a:rPr lang="en-US" sz="2000" dirty="0" smtClean="0"/>
              <a:t> files that you have exported from your functioning website previously.</a:t>
            </a:r>
          </a:p>
        </p:txBody>
      </p:sp>
      <p:pic>
        <p:nvPicPr>
          <p:cNvPr id="4" name="Picture 3"/>
          <p:cNvPicPr>
            <a:picLocks noChangeAspect="1"/>
          </p:cNvPicPr>
          <p:nvPr/>
        </p:nvPicPr>
        <p:blipFill>
          <a:blip r:embed="rId2"/>
          <a:stretch>
            <a:fillRect/>
          </a:stretch>
        </p:blipFill>
        <p:spPr>
          <a:xfrm>
            <a:off x="3550095" y="4373562"/>
            <a:ext cx="5135993" cy="2119313"/>
          </a:xfrm>
          <a:prstGeom prst="rect">
            <a:avLst/>
          </a:prstGeom>
        </p:spPr>
      </p:pic>
      <p:pic>
        <p:nvPicPr>
          <p:cNvPr id="3" name="Picture 2"/>
          <p:cNvPicPr>
            <a:picLocks noChangeAspect="1"/>
          </p:cNvPicPr>
          <p:nvPr/>
        </p:nvPicPr>
        <p:blipFill>
          <a:blip r:embed="rId3"/>
          <a:stretch>
            <a:fillRect/>
          </a:stretch>
        </p:blipFill>
        <p:spPr>
          <a:xfrm>
            <a:off x="1271187" y="2954772"/>
            <a:ext cx="2310213" cy="1310602"/>
          </a:xfrm>
          <a:prstGeom prst="rect">
            <a:avLst/>
          </a:prstGeom>
        </p:spPr>
      </p:pic>
      <p:sp>
        <p:nvSpPr>
          <p:cNvPr id="16" name="Right Arrow 15"/>
          <p:cNvSpPr/>
          <p:nvPr/>
        </p:nvSpPr>
        <p:spPr>
          <a:xfrm rot="2508332">
            <a:off x="3003639" y="4164955"/>
            <a:ext cx="842304" cy="4172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6116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36534"/>
            <a:ext cx="7395380" cy="944562"/>
          </a:xfrm>
        </p:spPr>
        <p:txBody>
          <a:bodyPr>
            <a:normAutofit/>
          </a:bodyPr>
          <a:lstStyle/>
          <a:p>
            <a:r>
              <a:rPr lang="en-US" sz="2000" dirty="0" smtClean="0">
                <a:solidFill>
                  <a:schemeClr val="tx1"/>
                </a:solidFill>
              </a:rPr>
              <a:t>STEP 12 – Test out the entire website with database </a:t>
            </a:r>
            <a:r>
              <a:rPr lang="en-US" sz="2000" dirty="0" err="1" smtClean="0">
                <a:solidFill>
                  <a:schemeClr val="tx1"/>
                </a:solidFill>
              </a:rPr>
              <a:t>retrieveal</a:t>
            </a:r>
            <a:r>
              <a:rPr lang="en-US" sz="2000" dirty="0" smtClean="0">
                <a:solidFill>
                  <a:schemeClr val="tx1"/>
                </a:solidFill>
              </a:rPr>
              <a:t> and updates.</a:t>
            </a:r>
            <a:endParaRPr lang="en-US" sz="2000" dirty="0">
              <a:solidFill>
                <a:schemeClr val="tx1"/>
              </a:solidFill>
            </a:endParaRPr>
          </a:p>
        </p:txBody>
      </p:sp>
      <p:sp>
        <p:nvSpPr>
          <p:cNvPr id="5" name="Slide Number Placeholder 4"/>
          <p:cNvSpPr>
            <a:spLocks noGrp="1"/>
          </p:cNvSpPr>
          <p:nvPr>
            <p:ph type="sldNum" sz="quarter" idx="12"/>
          </p:nvPr>
        </p:nvSpPr>
        <p:spPr/>
        <p:txBody>
          <a:bodyPr/>
          <a:lstStyle/>
          <a:p>
            <a:fld id="{A6724466-CF14-4098-A57E-6BA1C4EB8FEB}" type="slidenum">
              <a:rPr lang="en-US" smtClean="0"/>
              <a:pPr/>
              <a:t>25</a:t>
            </a:fld>
            <a:endParaRPr lang="en-US"/>
          </a:p>
        </p:txBody>
      </p:sp>
      <p:sp>
        <p:nvSpPr>
          <p:cNvPr id="9" name="Title 1"/>
          <p:cNvSpPr txBox="1">
            <a:spLocks/>
          </p:cNvSpPr>
          <p:nvPr/>
        </p:nvSpPr>
        <p:spPr>
          <a:xfrm>
            <a:off x="986620" y="274638"/>
            <a:ext cx="7395380" cy="944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Hosting 101 </a:t>
            </a:r>
            <a:r>
              <a:rPr lang="en-US" sz="3200" dirty="0" err="1"/>
              <a:t>Eg</a:t>
            </a:r>
            <a:r>
              <a:rPr lang="en-US" sz="3200" dirty="0"/>
              <a:t>. </a:t>
            </a:r>
            <a:r>
              <a:rPr lang="en-US" sz="3200" dirty="0" smtClean="0"/>
              <a:t>Testing</a:t>
            </a:r>
            <a:endParaRPr lang="en-US" sz="3200" dirty="0"/>
          </a:p>
        </p:txBody>
      </p:sp>
      <p:sp>
        <p:nvSpPr>
          <p:cNvPr id="11" name="Content Placeholder 2"/>
          <p:cNvSpPr txBox="1">
            <a:spLocks/>
          </p:cNvSpPr>
          <p:nvPr/>
        </p:nvSpPr>
        <p:spPr>
          <a:xfrm>
            <a:off x="1295400" y="1865173"/>
            <a:ext cx="6444321" cy="12991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If the expected data displays on your website correctly, then congratulations, you have a website up and running, LIVE!</a:t>
            </a:r>
          </a:p>
          <a:p>
            <a:endParaRPr lang="en-US" sz="2000" dirty="0" smtClean="0"/>
          </a:p>
        </p:txBody>
      </p:sp>
      <p:pic>
        <p:nvPicPr>
          <p:cNvPr id="6" name="Picture 5"/>
          <p:cNvPicPr>
            <a:picLocks noChangeAspect="1"/>
          </p:cNvPicPr>
          <p:nvPr/>
        </p:nvPicPr>
        <p:blipFill>
          <a:blip r:embed="rId2"/>
          <a:stretch>
            <a:fillRect/>
          </a:stretch>
        </p:blipFill>
        <p:spPr>
          <a:xfrm>
            <a:off x="3962400" y="3276600"/>
            <a:ext cx="3217337" cy="2867025"/>
          </a:xfrm>
          <a:prstGeom prst="rect">
            <a:avLst/>
          </a:prstGeom>
        </p:spPr>
      </p:pic>
      <p:pic>
        <p:nvPicPr>
          <p:cNvPr id="7" name="Picture 6"/>
          <p:cNvPicPr>
            <a:picLocks noChangeAspect="1"/>
          </p:cNvPicPr>
          <p:nvPr/>
        </p:nvPicPr>
        <p:blipFill>
          <a:blip r:embed="rId3"/>
          <a:stretch>
            <a:fillRect/>
          </a:stretch>
        </p:blipFill>
        <p:spPr>
          <a:xfrm>
            <a:off x="2743200" y="3030963"/>
            <a:ext cx="4495800" cy="266700"/>
          </a:xfrm>
          <a:prstGeom prst="rect">
            <a:avLst/>
          </a:prstGeom>
        </p:spPr>
      </p:pic>
    </p:spTree>
    <p:extLst>
      <p:ext uri="{BB962C8B-B14F-4D97-AF65-F5344CB8AC3E}">
        <p14:creationId xmlns:p14="http://schemas.microsoft.com/office/powerpoint/2010/main" val="2720604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Hosting 101 - Maintenance</a:t>
            </a:r>
            <a:endParaRPr lang="en-US" sz="3200" dirty="0"/>
          </a:p>
        </p:txBody>
      </p:sp>
      <p:sp>
        <p:nvSpPr>
          <p:cNvPr id="3" name="Content Placeholder 2"/>
          <p:cNvSpPr>
            <a:spLocks noGrp="1"/>
          </p:cNvSpPr>
          <p:nvPr>
            <p:ph idx="1"/>
          </p:nvPr>
        </p:nvSpPr>
        <p:spPr>
          <a:xfrm>
            <a:off x="986620" y="1371600"/>
            <a:ext cx="7395380" cy="4876800"/>
          </a:xfrm>
        </p:spPr>
        <p:txBody>
          <a:bodyPr>
            <a:normAutofit fontScale="92500" lnSpcReduction="20000"/>
          </a:bodyPr>
          <a:lstStyle/>
          <a:p>
            <a:r>
              <a:rPr lang="en-US" dirty="0" smtClean="0"/>
              <a:t>You may encounter some errors when you test your website, so do debug and re-upload selected files as necessary.</a:t>
            </a:r>
          </a:p>
          <a:p>
            <a:r>
              <a:rPr lang="en-US" dirty="0" smtClean="0"/>
              <a:t>Also, you will notice that security may be severely lapsed, and your website is easily prone to hacking. So, clean up your website, and secure it. There are plenty of resources online to do that.</a:t>
            </a:r>
          </a:p>
          <a:p>
            <a:r>
              <a:rPr lang="en-US" dirty="0" smtClean="0"/>
              <a:t>You may also explore integrating your site with other useful plugins, and tools provided by your host. For </a:t>
            </a:r>
            <a:r>
              <a:rPr lang="en-US" dirty="0" err="1" smtClean="0"/>
              <a:t>eg</a:t>
            </a:r>
            <a:r>
              <a:rPr lang="en-US" dirty="0" smtClean="0"/>
              <a:t>. Improving your site visibility through SEOs, </a:t>
            </a:r>
            <a:r>
              <a:rPr lang="en-US" dirty="0" err="1" smtClean="0"/>
              <a:t>Affliate</a:t>
            </a:r>
            <a:r>
              <a:rPr lang="en-US" dirty="0" smtClean="0"/>
              <a:t> </a:t>
            </a:r>
            <a:r>
              <a:rPr lang="en-US" dirty="0" err="1" smtClean="0"/>
              <a:t>programmes</a:t>
            </a:r>
            <a:r>
              <a:rPr lang="en-US" dirty="0" smtClean="0"/>
              <a:t>, etc. </a:t>
            </a:r>
          </a:p>
          <a:p>
            <a:r>
              <a:rPr lang="en-US" dirty="0" smtClean="0"/>
              <a:t>Use this as a testbed for your future projects and when you are ready, become an entrepreneur and start a real business for income!</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26</a:t>
            </a:fld>
            <a:endParaRPr lang="en-US"/>
          </a:p>
        </p:txBody>
      </p:sp>
    </p:spTree>
    <p:extLst>
      <p:ext uri="{BB962C8B-B14F-4D97-AF65-F5344CB8AC3E}">
        <p14:creationId xmlns:p14="http://schemas.microsoft.com/office/powerpoint/2010/main" val="3377693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After you get a website, decide on what format your content will be like .</a:t>
            </a:r>
          </a:p>
          <a:p>
            <a:pPr lvl="1"/>
            <a:r>
              <a:rPr lang="en-US" dirty="0" smtClean="0"/>
              <a:t>Use </a:t>
            </a:r>
            <a:r>
              <a:rPr lang="en-US" dirty="0" err="1" smtClean="0"/>
              <a:t>wordpress</a:t>
            </a:r>
            <a:r>
              <a:rPr lang="en-US" dirty="0" smtClean="0"/>
              <a:t> templates?</a:t>
            </a:r>
          </a:p>
          <a:p>
            <a:pPr lvl="1"/>
            <a:r>
              <a:rPr lang="en-US" dirty="0" smtClean="0"/>
              <a:t>Develop my own website files and upload via ftp?</a:t>
            </a:r>
            <a:endParaRPr lang="en-US" dirty="0"/>
          </a:p>
          <a:p>
            <a:r>
              <a:rPr lang="en-US" dirty="0" smtClean="0"/>
              <a:t>Next, how do I get traffic into my webpage?</a:t>
            </a:r>
          </a:p>
          <a:p>
            <a:pPr lvl="1"/>
            <a:r>
              <a:rPr lang="en-US" dirty="0" smtClean="0"/>
              <a:t>SEOs, how to make it appear at the first few pages of google search?</a:t>
            </a:r>
          </a:p>
          <a:p>
            <a:pPr lvl="1"/>
            <a:r>
              <a:rPr lang="en-US" dirty="0" smtClean="0"/>
              <a:t>Social media marketing – spread the word through </a:t>
            </a:r>
            <a:r>
              <a:rPr lang="en-US" dirty="0" err="1" smtClean="0"/>
              <a:t>facebook</a:t>
            </a:r>
            <a:r>
              <a:rPr lang="en-US" dirty="0" smtClean="0"/>
              <a:t> pages, tweeter, forums, </a:t>
            </a:r>
            <a:r>
              <a:rPr lang="en-US" dirty="0" err="1" smtClean="0"/>
              <a:t>pinterest</a:t>
            </a:r>
            <a:r>
              <a:rPr lang="en-US" dirty="0" smtClean="0"/>
              <a:t>, </a:t>
            </a:r>
            <a:r>
              <a:rPr lang="en-US" dirty="0" err="1" smtClean="0"/>
              <a:t>tumblr</a:t>
            </a:r>
            <a:r>
              <a:rPr lang="en-US" dirty="0" smtClean="0"/>
              <a:t>, </a:t>
            </a:r>
            <a:r>
              <a:rPr lang="en-US" dirty="0" err="1" smtClean="0"/>
              <a:t>reddit</a:t>
            </a:r>
            <a:r>
              <a:rPr lang="en-US" dirty="0" smtClean="0"/>
              <a:t>, or pay with </a:t>
            </a:r>
            <a:r>
              <a:rPr lang="en-US" dirty="0" err="1" smtClean="0"/>
              <a:t>youtube</a:t>
            </a:r>
            <a:r>
              <a:rPr lang="en-US" dirty="0" smtClean="0"/>
              <a:t> ads, google </a:t>
            </a:r>
            <a:r>
              <a:rPr lang="en-US" dirty="0" err="1" smtClean="0"/>
              <a:t>adwords</a:t>
            </a:r>
            <a:r>
              <a:rPr lang="en-US" dirty="0" smtClean="0"/>
              <a:t>, etc.</a:t>
            </a:r>
          </a:p>
          <a:p>
            <a:pPr lvl="1"/>
            <a:r>
              <a:rPr lang="en-US" dirty="0" smtClean="0"/>
              <a:t>Go to google/</a:t>
            </a:r>
            <a:r>
              <a:rPr lang="en-US" dirty="0" err="1" smtClean="0"/>
              <a:t>youtube</a:t>
            </a:r>
            <a:r>
              <a:rPr lang="en-US" dirty="0" smtClean="0"/>
              <a:t>, find out more on SEOs, and social media marketing, and be very surprised that you can, with coordinated strategy, increase your website traffic flow through these methods.</a:t>
            </a:r>
          </a:p>
          <a:p>
            <a:pPr lvl="1"/>
            <a:endParaRPr lang="en-US" dirty="0" smtClean="0"/>
          </a:p>
          <a:p>
            <a:pPr lvl="1"/>
            <a:endParaRPr lang="en-US"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27</a:t>
            </a:fld>
            <a:endParaRPr lang="en-US"/>
          </a:p>
        </p:txBody>
      </p:sp>
    </p:spTree>
    <p:extLst>
      <p:ext uri="{BB962C8B-B14F-4D97-AF65-F5344CB8AC3E}">
        <p14:creationId xmlns:p14="http://schemas.microsoft.com/office/powerpoint/2010/main" val="3484451148"/>
      </p:ext>
    </p:extLst>
  </p:cSld>
  <p:clrMapOvr>
    <a:masterClrMapping/>
  </p:clrMapOvr>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E4A77F67-C282-4373-9A32-27375E749539}">
  <ds:schemaRefs>
    <ds:schemaRef ds:uri="http://schemas.microsoft.com/sharepoint/v3/contenttype/forms"/>
  </ds:schemaRefs>
</ds:datastoreItem>
</file>

<file path=customXml/itemProps2.xml><?xml version="1.0" encoding="utf-8"?>
<ds:datastoreItem xmlns:ds="http://schemas.openxmlformats.org/officeDocument/2006/customXml" ds:itemID="{2CAF96FE-069F-4E95-9021-A70B136A67F9}">
  <ds:schemaRefs>
    <ds:schemaRef ds:uri="http://purl.org/dc/elements/1.1/"/>
    <ds:schemaRef ds:uri="http://schemas.openxmlformats.org/package/2006/metadata/core-properties"/>
    <ds:schemaRef ds:uri="http://purl.org/dc/dcmitype/"/>
    <ds:schemaRef ds:uri="http://schemas.microsoft.com/office/2006/documentManagement/types"/>
    <ds:schemaRef ds:uri="http://purl.org/dc/term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Austin</Template>
  <TotalTime>11008</TotalTime>
  <Words>2085</Words>
  <Application>Microsoft Office PowerPoint</Application>
  <PresentationFormat>On-screen Show (4:3)</PresentationFormat>
  <Paragraphs>248</Paragraphs>
  <Slides>27</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Helvetica Neue</vt:lpstr>
      <vt:lpstr>Arial</vt:lpstr>
      <vt:lpstr>Calibri</vt:lpstr>
      <vt:lpstr>Consolas</vt:lpstr>
      <vt:lpstr>Wingdings</vt:lpstr>
      <vt:lpstr>ppt template</vt:lpstr>
      <vt:lpstr>HTML5 APIs for the mobile &amp; Web Hosting 101</vt:lpstr>
      <vt:lpstr>HTML5 APIs for Mobile</vt:lpstr>
      <vt:lpstr>IT1322 – Principles of Web Usability Design</vt:lpstr>
      <vt:lpstr>IT1322 – Principles of Web Usability Design</vt:lpstr>
      <vt:lpstr>IT1322 – Principles of Web Usability Design</vt:lpstr>
      <vt:lpstr>PowerPoint Presentation</vt:lpstr>
      <vt:lpstr>PowerPoint Presentation</vt:lpstr>
      <vt:lpstr>PowerPoint Presentation</vt:lpstr>
      <vt:lpstr>IT1322 – Principles of Web Usability Design</vt:lpstr>
      <vt:lpstr>How can I use them? </vt:lpstr>
      <vt:lpstr>Web Site Hosting</vt:lpstr>
      <vt:lpstr>Hosting your site – Free or Paid? </vt:lpstr>
      <vt:lpstr>Hosting 101 – What makes a good host?</vt:lpstr>
      <vt:lpstr>Hosting 101 – What makes a good host?</vt:lpstr>
      <vt:lpstr>PowerPoint Presentation</vt:lpstr>
      <vt:lpstr>STEP 1 – Sign Up</vt:lpstr>
      <vt:lpstr>STEP 3 – Select Correct Plan &amp; Sign up</vt:lpstr>
      <vt:lpstr>STEP 4 – Login and check your account, subscription and familiarize with the control panel</vt:lpstr>
      <vt:lpstr>Hosting 101 Eg. The Control Panel</vt:lpstr>
      <vt:lpstr>Hosting 101 Eg. Create accounts</vt:lpstr>
      <vt:lpstr>Hosting 101 Eg. Create FTP accounts, and upload</vt:lpstr>
      <vt:lpstr>Hosting 101 Eg. Uploading website</vt:lpstr>
      <vt:lpstr>STEP 9 – Create an SQL database</vt:lpstr>
      <vt:lpstr>STEP 11 – Upload database design and content via phpMyAdmin</vt:lpstr>
      <vt:lpstr>STEP 12 – Test out the entire website with database retrieveal and updates.</vt:lpstr>
      <vt:lpstr>Hosting 101 - Maintenance</vt:lpstr>
      <vt:lpstr>What’s Next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tommy low</cp:lastModifiedBy>
  <cp:revision>342</cp:revision>
  <dcterms:created xsi:type="dcterms:W3CDTF">2012-03-19T05:26:54Z</dcterms:created>
  <dcterms:modified xsi:type="dcterms:W3CDTF">2015-10-14T07:40:28Z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