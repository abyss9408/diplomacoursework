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2"/>
  </p:notesMasterIdLst>
  <p:sldIdLst>
    <p:sldId id="315" r:id="rId5"/>
    <p:sldId id="256" r:id="rId6"/>
    <p:sldId id="311" r:id="rId7"/>
    <p:sldId id="312" r:id="rId8"/>
    <p:sldId id="326" r:id="rId9"/>
    <p:sldId id="327" r:id="rId10"/>
    <p:sldId id="314" r:id="rId11"/>
    <p:sldId id="325" r:id="rId12"/>
    <p:sldId id="328" r:id="rId13"/>
    <p:sldId id="313" r:id="rId14"/>
    <p:sldId id="329" r:id="rId15"/>
    <p:sldId id="330" r:id="rId16"/>
    <p:sldId id="331" r:id="rId17"/>
    <p:sldId id="332" r:id="rId18"/>
    <p:sldId id="333" r:id="rId19"/>
    <p:sldId id="334" r:id="rId20"/>
    <p:sldId id="335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97" autoAdjust="0"/>
    <p:restoredTop sz="86323" autoAdjust="0"/>
  </p:normalViewPr>
  <p:slideViewPr>
    <p:cSldViewPr>
      <p:cViewPr varScale="1">
        <p:scale>
          <a:sx n="100" d="100"/>
          <a:sy n="100" d="100"/>
        </p:scale>
        <p:origin x="1914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FC8A15B-8BB3-4057-896C-04F0D3EBB8F7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E4CC13E-DC7A-4AC4-BA37-F5CA6FA1070C}">
      <dgm:prSet phldrT="[Text]" custT="1"/>
      <dgm:spPr/>
      <dgm:t>
        <a:bodyPr/>
        <a:lstStyle/>
        <a:p>
          <a:r>
            <a:rPr lang="en-US" sz="1800" b="1" i="1" dirty="0" err="1" smtClean="0"/>
            <a:t>loginform.php</a:t>
          </a:r>
          <a:r>
            <a:rPr lang="en-US" sz="1300" b="1" i="1" dirty="0" smtClean="0"/>
            <a:t> </a:t>
          </a:r>
        </a:p>
        <a:p>
          <a:r>
            <a:rPr lang="en-US" sz="1300" dirty="0" smtClean="0"/>
            <a:t>User enters login and password</a:t>
          </a:r>
          <a:endParaRPr lang="en-US" sz="1300" dirty="0"/>
        </a:p>
      </dgm:t>
    </dgm:pt>
    <dgm:pt modelId="{B14D7B1D-6B25-4F69-AC8D-072D606B8620}" type="parTrans" cxnId="{CED8D743-CC3B-4487-A7C4-45591E608A4C}">
      <dgm:prSet/>
      <dgm:spPr/>
      <dgm:t>
        <a:bodyPr/>
        <a:lstStyle/>
        <a:p>
          <a:endParaRPr lang="en-US"/>
        </a:p>
      </dgm:t>
    </dgm:pt>
    <dgm:pt modelId="{21C60B2B-6437-4CE1-91DE-9716BD2F093B}" type="sibTrans" cxnId="{CED8D743-CC3B-4487-A7C4-45591E608A4C}">
      <dgm:prSet/>
      <dgm:spPr/>
      <dgm:t>
        <a:bodyPr/>
        <a:lstStyle/>
        <a:p>
          <a:endParaRPr lang="en-US"/>
        </a:p>
      </dgm:t>
    </dgm:pt>
    <dgm:pt modelId="{972DBBCE-C2ED-4A27-A0E7-50D80E84CB32}">
      <dgm:prSet phldrT="[Text]" custT="1"/>
      <dgm:spPr/>
      <dgm:t>
        <a:bodyPr/>
        <a:lstStyle/>
        <a:p>
          <a:r>
            <a:rPr lang="en-US" sz="1800" b="1" i="1" dirty="0" err="1" smtClean="0"/>
            <a:t>Login.php</a:t>
          </a:r>
          <a:r>
            <a:rPr lang="en-US" sz="1800" b="1" i="1" dirty="0" smtClean="0"/>
            <a:t>  </a:t>
          </a:r>
        </a:p>
        <a:p>
          <a:r>
            <a:rPr lang="en-US" sz="1800" dirty="0" smtClean="0"/>
            <a:t>System checks with database to verify valid user login, also retrieve role of user, then redirects user to the appropriate page</a:t>
          </a:r>
          <a:endParaRPr lang="en-US" sz="1800" dirty="0"/>
        </a:p>
      </dgm:t>
    </dgm:pt>
    <dgm:pt modelId="{1D6B5936-A112-49B6-B659-1308AC1588E2}" type="parTrans" cxnId="{20F701B6-3217-4D51-A0D9-B2A1E1F611A0}">
      <dgm:prSet/>
      <dgm:spPr/>
      <dgm:t>
        <a:bodyPr/>
        <a:lstStyle/>
        <a:p>
          <a:endParaRPr lang="en-US"/>
        </a:p>
      </dgm:t>
    </dgm:pt>
    <dgm:pt modelId="{3558B14F-AC33-46E9-9BDD-CB5A9A43CB6B}" type="sibTrans" cxnId="{20F701B6-3217-4D51-A0D9-B2A1E1F611A0}">
      <dgm:prSet/>
      <dgm:spPr/>
      <dgm:t>
        <a:bodyPr/>
        <a:lstStyle/>
        <a:p>
          <a:endParaRPr lang="en-US"/>
        </a:p>
      </dgm:t>
    </dgm:pt>
    <dgm:pt modelId="{1C373614-14F1-4235-BBF1-917BA02B7CF9}">
      <dgm:prSet phldrT="[Text]" custT="1"/>
      <dgm:spPr/>
      <dgm:t>
        <a:bodyPr/>
        <a:lstStyle/>
        <a:p>
          <a:r>
            <a:rPr lang="en-US" sz="1600" dirty="0" smtClean="0"/>
            <a:t>Member</a:t>
          </a:r>
          <a:r>
            <a:rPr lang="en-US" sz="1000" dirty="0" smtClean="0"/>
            <a:t> Page</a:t>
          </a:r>
          <a:endParaRPr lang="en-US" sz="1000" dirty="0"/>
        </a:p>
      </dgm:t>
    </dgm:pt>
    <dgm:pt modelId="{8C973ACE-B4A7-485B-9461-738340B9E92A}" type="parTrans" cxnId="{88816B82-BB0F-42E6-9D6B-6AFE88FEDFFB}">
      <dgm:prSet/>
      <dgm:spPr/>
      <dgm:t>
        <a:bodyPr/>
        <a:lstStyle/>
        <a:p>
          <a:endParaRPr lang="en-US"/>
        </a:p>
      </dgm:t>
    </dgm:pt>
    <dgm:pt modelId="{AB827798-28CF-4495-A12A-BEA66C69B687}" type="sibTrans" cxnId="{88816B82-BB0F-42E6-9D6B-6AFE88FEDFFB}">
      <dgm:prSet/>
      <dgm:spPr/>
      <dgm:t>
        <a:bodyPr/>
        <a:lstStyle/>
        <a:p>
          <a:endParaRPr lang="en-US"/>
        </a:p>
      </dgm:t>
    </dgm:pt>
    <dgm:pt modelId="{B9A226CD-4FE1-4FDC-9429-8E5487AFAD95}">
      <dgm:prSet phldrT="[Text]"/>
      <dgm:spPr/>
      <dgm:t>
        <a:bodyPr/>
        <a:lstStyle/>
        <a:p>
          <a:r>
            <a:rPr lang="en-US" dirty="0" smtClean="0"/>
            <a:t>Administrator page</a:t>
          </a:r>
          <a:endParaRPr lang="en-US" dirty="0"/>
        </a:p>
      </dgm:t>
    </dgm:pt>
    <dgm:pt modelId="{305CC7E7-38C6-4942-9B0B-919379F727D4}" type="parTrans" cxnId="{C41010AD-EDA9-42DA-972D-9818AB033394}">
      <dgm:prSet/>
      <dgm:spPr/>
      <dgm:t>
        <a:bodyPr/>
        <a:lstStyle/>
        <a:p>
          <a:endParaRPr lang="en-US"/>
        </a:p>
      </dgm:t>
    </dgm:pt>
    <dgm:pt modelId="{B289796A-DDCA-47EF-AB6E-CCD06CD3C134}" type="sibTrans" cxnId="{C41010AD-EDA9-42DA-972D-9818AB033394}">
      <dgm:prSet/>
      <dgm:spPr/>
      <dgm:t>
        <a:bodyPr/>
        <a:lstStyle/>
        <a:p>
          <a:endParaRPr lang="en-US"/>
        </a:p>
      </dgm:t>
    </dgm:pt>
    <dgm:pt modelId="{213852DA-E1AA-4CDD-9570-B0F96FB88C81}" type="pres">
      <dgm:prSet presAssocID="{FFC8A15B-8BB3-4057-896C-04F0D3EBB8F7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D309F410-730A-49A9-80DB-E7051BA105C4}" type="pres">
      <dgm:prSet presAssocID="{4E4CC13E-DC7A-4AC4-BA37-F5CA6FA1070C}" presName="node" presStyleLbl="node1" presStyleIdx="0" presStyleCnt="4" custScaleX="249424" custScaleY="18217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E4AA1FB-F1E5-4A68-BFD3-C29EE71A8B00}" type="pres">
      <dgm:prSet presAssocID="{21C60B2B-6437-4CE1-91DE-9716BD2F093B}" presName="sibTrans" presStyleLbl="sibTrans2D1" presStyleIdx="0" presStyleCnt="3"/>
      <dgm:spPr/>
      <dgm:t>
        <a:bodyPr/>
        <a:lstStyle/>
        <a:p>
          <a:endParaRPr lang="en-US"/>
        </a:p>
      </dgm:t>
    </dgm:pt>
    <dgm:pt modelId="{BFD1D1B8-D8F3-4281-9A02-13B7A2DEB84A}" type="pres">
      <dgm:prSet presAssocID="{21C60B2B-6437-4CE1-91DE-9716BD2F093B}" presName="connectorText" presStyleLbl="sibTrans2D1" presStyleIdx="0" presStyleCnt="3"/>
      <dgm:spPr/>
      <dgm:t>
        <a:bodyPr/>
        <a:lstStyle/>
        <a:p>
          <a:endParaRPr lang="en-US"/>
        </a:p>
      </dgm:t>
    </dgm:pt>
    <dgm:pt modelId="{D10BF6DC-513D-4647-BEE7-0178CAD843F0}" type="pres">
      <dgm:prSet presAssocID="{972DBBCE-C2ED-4A27-A0E7-50D80E84CB32}" presName="node" presStyleLbl="node1" presStyleIdx="1" presStyleCnt="4" custScaleX="315565" custScaleY="279976" custLinFactNeighborX="-3911" custLinFactNeighborY="571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E04B8CF-4D49-48A3-A852-BAC268CA1161}" type="pres">
      <dgm:prSet presAssocID="{3558B14F-AC33-46E9-9BDD-CB5A9A43CB6B}" presName="sibTrans" presStyleLbl="sibTrans2D1" presStyleIdx="1" presStyleCnt="3" custScaleX="73120" custScaleY="79006" custLinFactY="6232" custLinFactNeighborX="-13766" custLinFactNeighborY="100000"/>
      <dgm:spPr/>
      <dgm:t>
        <a:bodyPr/>
        <a:lstStyle/>
        <a:p>
          <a:endParaRPr lang="en-US"/>
        </a:p>
      </dgm:t>
    </dgm:pt>
    <dgm:pt modelId="{8E870E5A-2842-49A0-8CD5-399E72077BC0}" type="pres">
      <dgm:prSet presAssocID="{3558B14F-AC33-46E9-9BDD-CB5A9A43CB6B}" presName="connectorText" presStyleLbl="sibTrans2D1" presStyleIdx="1" presStyleCnt="3"/>
      <dgm:spPr/>
      <dgm:t>
        <a:bodyPr/>
        <a:lstStyle/>
        <a:p>
          <a:endParaRPr lang="en-US"/>
        </a:p>
      </dgm:t>
    </dgm:pt>
    <dgm:pt modelId="{215230F0-11A5-4C09-A9C3-B75B46972EE1}" type="pres">
      <dgm:prSet presAssocID="{1C373614-14F1-4235-BBF1-917BA02B7CF9}" presName="node" presStyleLbl="node1" presStyleIdx="2" presStyleCnt="4" custScaleX="172731" custScaleY="110032" custLinFactNeighborX="63644" custLinFactNeighborY="-6376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D283761-F58D-412B-9AE7-1169FA330472}" type="pres">
      <dgm:prSet presAssocID="{AB827798-28CF-4495-A12A-BEA66C69B687}" presName="sibTrans" presStyleLbl="sibTrans2D1" presStyleIdx="2" presStyleCnt="3" custAng="19263446" custScaleX="55705" custScaleY="55706" custLinFactX="-126022" custLinFactY="100000" custLinFactNeighborX="-200000" custLinFactNeighborY="178797"/>
      <dgm:spPr/>
      <dgm:t>
        <a:bodyPr/>
        <a:lstStyle/>
        <a:p>
          <a:endParaRPr lang="en-US"/>
        </a:p>
      </dgm:t>
    </dgm:pt>
    <dgm:pt modelId="{965D32F1-145B-4126-9B23-2E7FF29886C3}" type="pres">
      <dgm:prSet presAssocID="{AB827798-28CF-4495-A12A-BEA66C69B687}" presName="connectorText" presStyleLbl="sibTrans2D1" presStyleIdx="2" presStyleCnt="3"/>
      <dgm:spPr/>
      <dgm:t>
        <a:bodyPr/>
        <a:lstStyle/>
        <a:p>
          <a:endParaRPr lang="en-US"/>
        </a:p>
      </dgm:t>
    </dgm:pt>
    <dgm:pt modelId="{D21CBEDA-3CAA-4040-8B6E-42E6B477663C}" type="pres">
      <dgm:prSet presAssocID="{B9A226CD-4FE1-4FDC-9429-8E5487AFAD95}" presName="node" presStyleLbl="node1" presStyleIdx="3" presStyleCnt="4" custScaleX="172731" custScaleY="110032" custLinFactX="-87458" custLinFactNeighborX="-100000" custLinFactNeighborY="6621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2A65910-4F76-430C-9B48-92185410C067}" type="presOf" srcId="{21C60B2B-6437-4CE1-91DE-9716BD2F093B}" destId="{BFD1D1B8-D8F3-4281-9A02-13B7A2DEB84A}" srcOrd="1" destOrd="0" presId="urn:microsoft.com/office/officeart/2005/8/layout/process1"/>
    <dgm:cxn modelId="{C41010AD-EDA9-42DA-972D-9818AB033394}" srcId="{FFC8A15B-8BB3-4057-896C-04F0D3EBB8F7}" destId="{B9A226CD-4FE1-4FDC-9429-8E5487AFAD95}" srcOrd="3" destOrd="0" parTransId="{305CC7E7-38C6-4942-9B0B-919379F727D4}" sibTransId="{B289796A-DDCA-47EF-AB6E-CCD06CD3C134}"/>
    <dgm:cxn modelId="{1D7F4416-C9DC-4E19-A1BF-97E80F5DC667}" type="presOf" srcId="{972DBBCE-C2ED-4A27-A0E7-50D80E84CB32}" destId="{D10BF6DC-513D-4647-BEE7-0178CAD843F0}" srcOrd="0" destOrd="0" presId="urn:microsoft.com/office/officeart/2005/8/layout/process1"/>
    <dgm:cxn modelId="{058AC72C-060D-40ED-B59F-5596A34B3284}" type="presOf" srcId="{FFC8A15B-8BB3-4057-896C-04F0D3EBB8F7}" destId="{213852DA-E1AA-4CDD-9570-B0F96FB88C81}" srcOrd="0" destOrd="0" presId="urn:microsoft.com/office/officeart/2005/8/layout/process1"/>
    <dgm:cxn modelId="{972717C0-E992-496E-810A-D778AE612FE0}" type="presOf" srcId="{4E4CC13E-DC7A-4AC4-BA37-F5CA6FA1070C}" destId="{D309F410-730A-49A9-80DB-E7051BA105C4}" srcOrd="0" destOrd="0" presId="urn:microsoft.com/office/officeart/2005/8/layout/process1"/>
    <dgm:cxn modelId="{CED8D743-CC3B-4487-A7C4-45591E608A4C}" srcId="{FFC8A15B-8BB3-4057-896C-04F0D3EBB8F7}" destId="{4E4CC13E-DC7A-4AC4-BA37-F5CA6FA1070C}" srcOrd="0" destOrd="0" parTransId="{B14D7B1D-6B25-4F69-AC8D-072D606B8620}" sibTransId="{21C60B2B-6437-4CE1-91DE-9716BD2F093B}"/>
    <dgm:cxn modelId="{F3CCAD51-2207-4310-97B6-E62E5C49A3AD}" type="presOf" srcId="{21C60B2B-6437-4CE1-91DE-9716BD2F093B}" destId="{AE4AA1FB-F1E5-4A68-BFD3-C29EE71A8B00}" srcOrd="0" destOrd="0" presId="urn:microsoft.com/office/officeart/2005/8/layout/process1"/>
    <dgm:cxn modelId="{1850F1E5-F220-40BE-84DA-DC157D883232}" type="presOf" srcId="{AB827798-28CF-4495-A12A-BEA66C69B687}" destId="{965D32F1-145B-4126-9B23-2E7FF29886C3}" srcOrd="1" destOrd="0" presId="urn:microsoft.com/office/officeart/2005/8/layout/process1"/>
    <dgm:cxn modelId="{29171531-AFFF-4F1D-868E-7AD508D231FF}" type="presOf" srcId="{B9A226CD-4FE1-4FDC-9429-8E5487AFAD95}" destId="{D21CBEDA-3CAA-4040-8B6E-42E6B477663C}" srcOrd="0" destOrd="0" presId="urn:microsoft.com/office/officeart/2005/8/layout/process1"/>
    <dgm:cxn modelId="{20F701B6-3217-4D51-A0D9-B2A1E1F611A0}" srcId="{FFC8A15B-8BB3-4057-896C-04F0D3EBB8F7}" destId="{972DBBCE-C2ED-4A27-A0E7-50D80E84CB32}" srcOrd="1" destOrd="0" parTransId="{1D6B5936-A112-49B6-B659-1308AC1588E2}" sibTransId="{3558B14F-AC33-46E9-9BDD-CB5A9A43CB6B}"/>
    <dgm:cxn modelId="{A5EFB698-82D7-41C5-92DC-7983E78F9ED8}" type="presOf" srcId="{AB827798-28CF-4495-A12A-BEA66C69B687}" destId="{ED283761-F58D-412B-9AE7-1169FA330472}" srcOrd="0" destOrd="0" presId="urn:microsoft.com/office/officeart/2005/8/layout/process1"/>
    <dgm:cxn modelId="{65233DFF-4A5E-4251-A969-38A933831803}" type="presOf" srcId="{3558B14F-AC33-46E9-9BDD-CB5A9A43CB6B}" destId="{8E870E5A-2842-49A0-8CD5-399E72077BC0}" srcOrd="1" destOrd="0" presId="urn:microsoft.com/office/officeart/2005/8/layout/process1"/>
    <dgm:cxn modelId="{51CE1979-8BB2-4FEE-94A6-1F0EC815EC4B}" type="presOf" srcId="{3558B14F-AC33-46E9-9BDD-CB5A9A43CB6B}" destId="{4E04B8CF-4D49-48A3-A852-BAC268CA1161}" srcOrd="0" destOrd="0" presId="urn:microsoft.com/office/officeart/2005/8/layout/process1"/>
    <dgm:cxn modelId="{88816B82-BB0F-42E6-9D6B-6AFE88FEDFFB}" srcId="{FFC8A15B-8BB3-4057-896C-04F0D3EBB8F7}" destId="{1C373614-14F1-4235-BBF1-917BA02B7CF9}" srcOrd="2" destOrd="0" parTransId="{8C973ACE-B4A7-485B-9461-738340B9E92A}" sibTransId="{AB827798-28CF-4495-A12A-BEA66C69B687}"/>
    <dgm:cxn modelId="{BCA2B3F2-CFE0-49C1-AF3B-69F289A23BE1}" type="presOf" srcId="{1C373614-14F1-4235-BBF1-917BA02B7CF9}" destId="{215230F0-11A5-4C09-A9C3-B75B46972EE1}" srcOrd="0" destOrd="0" presId="urn:microsoft.com/office/officeart/2005/8/layout/process1"/>
    <dgm:cxn modelId="{D2B7C2FD-5972-47FE-AE61-DECBEDCAD113}" type="presParOf" srcId="{213852DA-E1AA-4CDD-9570-B0F96FB88C81}" destId="{D309F410-730A-49A9-80DB-E7051BA105C4}" srcOrd="0" destOrd="0" presId="urn:microsoft.com/office/officeart/2005/8/layout/process1"/>
    <dgm:cxn modelId="{673C957C-AAD5-4263-8696-7D20C7691CE0}" type="presParOf" srcId="{213852DA-E1AA-4CDD-9570-B0F96FB88C81}" destId="{AE4AA1FB-F1E5-4A68-BFD3-C29EE71A8B00}" srcOrd="1" destOrd="0" presId="urn:microsoft.com/office/officeart/2005/8/layout/process1"/>
    <dgm:cxn modelId="{AE175318-F12B-4C97-84E7-6A92136C8272}" type="presParOf" srcId="{AE4AA1FB-F1E5-4A68-BFD3-C29EE71A8B00}" destId="{BFD1D1B8-D8F3-4281-9A02-13B7A2DEB84A}" srcOrd="0" destOrd="0" presId="urn:microsoft.com/office/officeart/2005/8/layout/process1"/>
    <dgm:cxn modelId="{400E516A-90B5-4B2F-B0B8-0D130CCFF1FB}" type="presParOf" srcId="{213852DA-E1AA-4CDD-9570-B0F96FB88C81}" destId="{D10BF6DC-513D-4647-BEE7-0178CAD843F0}" srcOrd="2" destOrd="0" presId="urn:microsoft.com/office/officeart/2005/8/layout/process1"/>
    <dgm:cxn modelId="{19D6E358-6CCE-4432-A766-AF0B3F7E77FA}" type="presParOf" srcId="{213852DA-E1AA-4CDD-9570-B0F96FB88C81}" destId="{4E04B8CF-4D49-48A3-A852-BAC268CA1161}" srcOrd="3" destOrd="0" presId="urn:microsoft.com/office/officeart/2005/8/layout/process1"/>
    <dgm:cxn modelId="{A17F688D-5A64-4240-9F97-37CE676AE8FE}" type="presParOf" srcId="{4E04B8CF-4D49-48A3-A852-BAC268CA1161}" destId="{8E870E5A-2842-49A0-8CD5-399E72077BC0}" srcOrd="0" destOrd="0" presId="urn:microsoft.com/office/officeart/2005/8/layout/process1"/>
    <dgm:cxn modelId="{1EF214F1-FBDF-4729-AFF2-629FA141B026}" type="presParOf" srcId="{213852DA-E1AA-4CDD-9570-B0F96FB88C81}" destId="{215230F0-11A5-4C09-A9C3-B75B46972EE1}" srcOrd="4" destOrd="0" presId="urn:microsoft.com/office/officeart/2005/8/layout/process1"/>
    <dgm:cxn modelId="{11A21E9D-198D-43AC-BBD4-FBF83D7D76AF}" type="presParOf" srcId="{213852DA-E1AA-4CDD-9570-B0F96FB88C81}" destId="{ED283761-F58D-412B-9AE7-1169FA330472}" srcOrd="5" destOrd="0" presId="urn:microsoft.com/office/officeart/2005/8/layout/process1"/>
    <dgm:cxn modelId="{DC83926C-1CA2-4813-89F9-7FEB9243CB01}" type="presParOf" srcId="{ED283761-F58D-412B-9AE7-1169FA330472}" destId="{965D32F1-145B-4126-9B23-2E7FF29886C3}" srcOrd="0" destOrd="0" presId="urn:microsoft.com/office/officeart/2005/8/layout/process1"/>
    <dgm:cxn modelId="{3D0C97EA-CAE9-47C8-93AA-5FCF7C4B3284}" type="presParOf" srcId="{213852DA-E1AA-4CDD-9570-B0F96FB88C81}" destId="{D21CBEDA-3CAA-4040-8B6E-42E6B477663C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09F410-730A-49A9-80DB-E7051BA105C4}">
      <dsp:nvSpPr>
        <dsp:cNvPr id="0" name=""/>
        <dsp:cNvSpPr/>
      </dsp:nvSpPr>
      <dsp:spPr>
        <a:xfrm>
          <a:off x="7876" y="665459"/>
          <a:ext cx="1711521" cy="24790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i="1" kern="1200" dirty="0" err="1" smtClean="0"/>
            <a:t>loginform.php</a:t>
          </a:r>
          <a:r>
            <a:rPr lang="en-US" sz="1300" b="1" i="1" kern="1200" dirty="0" smtClean="0"/>
            <a:t> 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User enters login and password</a:t>
          </a:r>
          <a:endParaRPr lang="en-US" sz="1300" kern="1200" dirty="0"/>
        </a:p>
      </dsp:txBody>
      <dsp:txXfrm>
        <a:off x="58005" y="715588"/>
        <a:ext cx="1611263" cy="2378822"/>
      </dsp:txXfrm>
    </dsp:sp>
    <dsp:sp modelId="{AE4AA1FB-F1E5-4A68-BFD3-C29EE71A8B00}">
      <dsp:nvSpPr>
        <dsp:cNvPr id="0" name=""/>
        <dsp:cNvSpPr/>
      </dsp:nvSpPr>
      <dsp:spPr>
        <a:xfrm>
          <a:off x="1784346" y="1819912"/>
          <a:ext cx="137691" cy="17017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700" kern="1200"/>
        </a:p>
      </dsp:txBody>
      <dsp:txXfrm>
        <a:off x="1784346" y="1853947"/>
        <a:ext cx="96384" cy="102105"/>
      </dsp:txXfrm>
    </dsp:sp>
    <dsp:sp modelId="{D10BF6DC-513D-4647-BEE7-0178CAD843F0}">
      <dsp:nvSpPr>
        <dsp:cNvPr id="0" name=""/>
        <dsp:cNvSpPr/>
      </dsp:nvSpPr>
      <dsp:spPr>
        <a:xfrm>
          <a:off x="1979192" y="0"/>
          <a:ext cx="2165374" cy="38100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i="1" kern="1200" dirty="0" err="1" smtClean="0"/>
            <a:t>Login.php</a:t>
          </a:r>
          <a:r>
            <a:rPr lang="en-US" sz="1800" b="1" i="1" kern="1200" dirty="0" smtClean="0"/>
            <a:t>  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System checks with database to verify valid user login, also retrieve role of user, then redirects user to the appropriate page</a:t>
          </a:r>
          <a:endParaRPr lang="en-US" sz="1800" kern="1200" dirty="0"/>
        </a:p>
      </dsp:txBody>
      <dsp:txXfrm>
        <a:off x="2042614" y="63422"/>
        <a:ext cx="2038530" cy="3683156"/>
      </dsp:txXfrm>
    </dsp:sp>
    <dsp:sp modelId="{4E04B8CF-4D49-48A3-A852-BAC268CA1161}">
      <dsp:nvSpPr>
        <dsp:cNvPr id="0" name=""/>
        <dsp:cNvSpPr/>
      </dsp:nvSpPr>
      <dsp:spPr>
        <a:xfrm rot="20348813">
          <a:off x="4282943" y="1487887"/>
          <a:ext cx="249960" cy="13444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4284264" y="1521956"/>
        <a:ext cx="209626" cy="80668"/>
      </dsp:txXfrm>
    </dsp:sp>
    <dsp:sp modelId="{215230F0-11A5-4C09-A9C3-B75B46972EE1}">
      <dsp:nvSpPr>
        <dsp:cNvPr id="0" name=""/>
        <dsp:cNvSpPr/>
      </dsp:nvSpPr>
      <dsp:spPr>
        <a:xfrm>
          <a:off x="4747317" y="288550"/>
          <a:ext cx="1185262" cy="14973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Member</a:t>
          </a:r>
          <a:r>
            <a:rPr lang="en-US" sz="1000" kern="1200" dirty="0" smtClean="0"/>
            <a:t> Page</a:t>
          </a:r>
          <a:endParaRPr lang="en-US" sz="1000" kern="1200" dirty="0"/>
        </a:p>
      </dsp:txBody>
      <dsp:txXfrm>
        <a:off x="4782032" y="323265"/>
        <a:ext cx="1115832" cy="1427919"/>
      </dsp:txXfrm>
    </dsp:sp>
    <dsp:sp modelId="{ED283761-F58D-412B-9AE7-1169FA330472}">
      <dsp:nvSpPr>
        <dsp:cNvPr id="0" name=""/>
        <dsp:cNvSpPr/>
      </dsp:nvSpPr>
      <dsp:spPr>
        <a:xfrm rot="2959917">
          <a:off x="4857276" y="2352766"/>
          <a:ext cx="80192" cy="9479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4861466" y="2362601"/>
        <a:ext cx="56134" cy="56879"/>
      </dsp:txXfrm>
    </dsp:sp>
    <dsp:sp modelId="{D21CBEDA-3CAA-4040-8B6E-42E6B477663C}">
      <dsp:nvSpPr>
        <dsp:cNvPr id="0" name=""/>
        <dsp:cNvSpPr/>
      </dsp:nvSpPr>
      <dsp:spPr>
        <a:xfrm>
          <a:off x="4800602" y="2057399"/>
          <a:ext cx="1185262" cy="14973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Administrator page</a:t>
          </a:r>
          <a:endParaRPr lang="en-US" sz="1300" kern="1200" dirty="0"/>
        </a:p>
      </dsp:txBody>
      <dsp:txXfrm>
        <a:off x="4835317" y="2092114"/>
        <a:ext cx="1115832" cy="14279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DB0A14-681B-4549-BB8C-4BD42BF055E8}" type="datetimeFigureOut">
              <a:rPr lang="en-US" smtClean="0"/>
              <a:pPr/>
              <a:t>9/17/2014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3B95CB-9792-46B1-8B63-E325EA9DE95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753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3B95CB-9792-46B1-8B63-E325EA9DE95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307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3B95CB-9792-46B1-8B63-E325EA9DE95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4415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you are working with an application, you open it, do some changes and then you close it. This is much like a Session. The computer knows who you are. It knows when you start the application and when you end. But on the internet there is one problem: the web server does not know who you are and what you do because the HTTP address doesn't maintain state.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3B95CB-9792-46B1-8B63-E325EA9DE95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1749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endParaRPr lang="en-SG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3B95CB-9792-46B1-8B63-E325EA9DE95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1749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3B95CB-9792-46B1-8B63-E325EA9DE95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1749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3B95CB-9792-46B1-8B63-E325EA9DE95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1749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3B95CB-9792-46B1-8B63-E325EA9DE95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1749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3B95CB-9792-46B1-8B63-E325EA9DE95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1749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</a:t>
            </a:r>
            <a:r>
              <a:rPr lang="en-US" sz="1200" dirty="0" smtClean="0"/>
              <a:t>changeable values are stored in another file </a:t>
            </a:r>
            <a:r>
              <a:rPr lang="en-US" sz="1200" dirty="0" err="1" smtClean="0"/>
              <a:t>constants.php</a:t>
            </a:r>
            <a:r>
              <a:rPr lang="en-US" sz="1200" dirty="0" smtClean="0"/>
              <a:t> where they are defined, and included in the </a:t>
            </a:r>
            <a:r>
              <a:rPr lang="en-US" sz="1200" dirty="0" err="1" smtClean="0"/>
              <a:t>connection.php</a:t>
            </a:r>
            <a:r>
              <a:rPr lang="en-US" sz="1200" dirty="0" smtClean="0"/>
              <a:t> file.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3B95CB-9792-46B1-8B63-E325EA9DE95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1749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3B95CB-9792-46B1-8B63-E325EA9DE95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1749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3B95CB-9792-46B1-8B63-E325EA9DE95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1749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For full code refer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your practical 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3B95CB-9792-46B1-8B63-E325EA9DE95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1749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3B95CB-9792-46B1-8B63-E325EA9DE95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1749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Isset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 is used to check if a session variable is set, if it is not set means session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has not been created.</a:t>
            </a:r>
          </a:p>
          <a:p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it is set, and not = “” blank, means a session exist.</a:t>
            </a:r>
          </a:p>
          <a:p>
            <a:endParaRPr lang="en-US" sz="1200" b="0" i="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dirty="0" smtClean="0">
                <a:solidFill>
                  <a:srgbClr val="FF0000"/>
                </a:solidFill>
              </a:rPr>
              <a:t>(!(</a:t>
            </a:r>
            <a:r>
              <a:rPr lang="en-US" sz="1200" dirty="0" err="1" smtClean="0">
                <a:solidFill>
                  <a:srgbClr val="FF0000"/>
                </a:solidFill>
              </a:rPr>
              <a:t>isset</a:t>
            </a:r>
            <a:r>
              <a:rPr lang="en-US" sz="1200" dirty="0" smtClean="0">
                <a:solidFill>
                  <a:srgbClr val="FF0000"/>
                </a:solidFill>
              </a:rPr>
              <a:t>($_SESSION['login']) &amp;&amp; $_SESSION['login'] != ''))  basically return false implies not login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3B95CB-9792-46B1-8B63-E325EA9DE95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1749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Using unset will destroy the session. Thereafter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allow link to another page on the website.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3B95CB-9792-46B1-8B63-E325EA9DE95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1749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3B95CB-9792-46B1-8B63-E325EA9DE95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1749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3B95CB-9792-46B1-8B63-E325EA9DE95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1749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gif"/><Relationship Id="rId4" Type="http://schemas.openxmlformats.org/officeDocument/2006/relationships/image" Target="../media/image2.jpeg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34" descr="Untitled-6"/>
          <p:cNvPicPr>
            <a:picLocks noChangeAspect="1" noChangeArrowheads="1"/>
          </p:cNvPicPr>
          <p:nvPr userDrawn="1"/>
        </p:nvPicPr>
        <p:blipFill>
          <a:blip r:embed="rId2" cstate="print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6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87"/>
            <a:ext cx="9324528" cy="7100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467600" cy="1755775"/>
          </a:xfrm>
        </p:spPr>
        <p:txBody>
          <a:bodyPr>
            <a:noAutofit/>
          </a:bodyPr>
          <a:lstStyle>
            <a:lvl1pPr>
              <a:defRPr sz="60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886200"/>
            <a:ext cx="74676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IT1322 2012 S1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360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IT1322 2012 S1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1159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34" descr="Untitled-6"/>
          <p:cNvPicPr>
            <a:picLocks noChangeAspect="1" noChangeArrowheads="1"/>
          </p:cNvPicPr>
          <p:nvPr userDrawn="1"/>
        </p:nvPicPr>
        <p:blipFill>
          <a:blip r:embed="rId2" cstate="print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6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87"/>
            <a:ext cx="9324528" cy="7100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274638"/>
            <a:ext cx="7467600" cy="94456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295400"/>
            <a:ext cx="7467600" cy="4876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IT1322 2012 S1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870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34" descr="Untitled-6"/>
          <p:cNvPicPr>
            <a:picLocks noChangeAspect="1" noChangeArrowheads="1"/>
          </p:cNvPicPr>
          <p:nvPr userDrawn="1"/>
        </p:nvPicPr>
        <p:blipFill>
          <a:blip r:embed="rId2" cstate="print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6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87"/>
            <a:ext cx="9324528" cy="7100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4638"/>
            <a:ext cx="7620000" cy="94456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295400"/>
            <a:ext cx="7620000" cy="4876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IT1322 2012 S1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82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 userDrawn="1"/>
        </p:nvGrpSpPr>
        <p:grpSpPr>
          <a:xfrm>
            <a:off x="0" y="887"/>
            <a:ext cx="9324528" cy="7100521"/>
            <a:chOff x="0" y="887"/>
            <a:chExt cx="9324528" cy="7100521"/>
          </a:xfrm>
        </p:grpSpPr>
        <p:pic>
          <p:nvPicPr>
            <p:cNvPr id="17" name="Picture 34" descr="Untitled-6"/>
            <p:cNvPicPr>
              <a:picLocks noChangeAspect="1" noChangeArrowheads="1"/>
            </p:cNvPicPr>
            <p:nvPr userDrawn="1"/>
          </p:nvPicPr>
          <p:blipFill>
            <a:blip r:embed="rId2" cstate="print">
              <a:biLevel thresh="75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50000"/>
                      </a14:imgEffect>
                      <a14:imgEffect>
                        <a14:saturation sat="62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887"/>
              <a:ext cx="9324528" cy="71005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21"/>
            <p:cNvPicPr>
              <a:picLocks noChangeAspect="1"/>
            </p:cNvPicPr>
            <p:nvPr userDrawn="1"/>
          </p:nvPicPr>
          <p:blipFill>
            <a:blip r:embed="rId4" cstate="print">
              <a:clrChange>
                <a:clrFrom>
                  <a:srgbClr val="FFFFFD"/>
                </a:clrFrom>
                <a:clrTo>
                  <a:srgbClr val="FFFFFD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6600" y="6282570"/>
              <a:ext cx="900611" cy="386790"/>
            </a:xfrm>
            <a:prstGeom prst="rect">
              <a:avLst/>
            </a:prstGeom>
          </p:spPr>
        </p:pic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9200" y="6332899"/>
              <a:ext cx="1428811" cy="286132"/>
            </a:xfrm>
            <a:prstGeom prst="rect">
              <a:avLst/>
            </a:prstGeom>
          </p:spPr>
        </p:pic>
        <p:pic>
          <p:nvPicPr>
            <p:cNvPr id="24" name="Picture 23"/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95800" y="1493963"/>
              <a:ext cx="4572000" cy="5059237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74638"/>
            <a:ext cx="7696200" cy="9445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0" y="1295400"/>
            <a:ext cx="7696200" cy="4876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IT1322 2012 S1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265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4" descr="Untitled-6"/>
          <p:cNvPicPr>
            <a:picLocks noChangeAspect="1" noChangeArrowheads="1"/>
          </p:cNvPicPr>
          <p:nvPr userDrawn="1"/>
        </p:nvPicPr>
        <p:blipFill>
          <a:blip r:embed="rId2" cstate="print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6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87"/>
            <a:ext cx="9324528" cy="7100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799" y="4406900"/>
            <a:ext cx="7315201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799" y="2906713"/>
            <a:ext cx="7315201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IT1322 2012 S1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42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34" descr="Untitled-6"/>
          <p:cNvPicPr>
            <a:picLocks noChangeAspect="1" noChangeArrowheads="1"/>
          </p:cNvPicPr>
          <p:nvPr userDrawn="1"/>
        </p:nvPicPr>
        <p:blipFill>
          <a:blip r:embed="rId2" cstate="print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6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87"/>
            <a:ext cx="9324528" cy="7100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600" y="1295400"/>
            <a:ext cx="3505200" cy="483076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3733800" cy="483076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IT1322 2012 S1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57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600" y="1295400"/>
            <a:ext cx="3506788" cy="762000"/>
          </a:xfrm>
        </p:spPr>
        <p:txBody>
          <a:bodyPr anchor="b">
            <a:no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0600" y="2133600"/>
            <a:ext cx="3506788" cy="39925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295400"/>
            <a:ext cx="3736975" cy="762000"/>
          </a:xfrm>
        </p:spPr>
        <p:txBody>
          <a:bodyPr anchor="b">
            <a:no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33600"/>
            <a:ext cx="3736975" cy="39925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IT1322 2012 S1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879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IT1322 2012 S1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330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IT1322 2012 S1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367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273050"/>
            <a:ext cx="2474913" cy="9461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48069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0600" y="1295400"/>
            <a:ext cx="2474913" cy="48307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IT1322 2012 S1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7019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IT1322 2012 S1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7537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IT1322 2012 S1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7599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IT1322 2012 S1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029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34" descr="Untitled-6"/>
          <p:cNvPicPr>
            <a:picLocks noChangeAspect="1" noChangeArrowheads="1"/>
          </p:cNvPicPr>
          <p:nvPr/>
        </p:nvPicPr>
        <p:blipFill>
          <a:blip r:embed="rId16" cstate="print">
            <a:biLevel thresh="75000"/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harpenSoften amount="50000"/>
                    </a14:imgEffect>
                    <a14:imgEffect>
                      <a14:saturation sat="6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87"/>
            <a:ext cx="9324528" cy="7100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6620" y="274638"/>
            <a:ext cx="7395380" cy="944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6620" y="1295400"/>
            <a:ext cx="739538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 Second level</a:t>
            </a:r>
          </a:p>
          <a:p>
            <a:pPr lvl="2"/>
            <a:r>
              <a:rPr lang="en-US" dirty="0" smtClean="0"/>
              <a:t> 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130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IT1322 2012 S1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86800" y="6492875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724466-CF14-4098-A57E-6BA1C4EB8F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382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61" r:id="rId4"/>
    <p:sldLayoutId id="2147483662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timing>
    <p:tnLst>
      <p:par>
        <p:cTn id="1" dur="indefinite" restart="never" nodeType="tmRoot"/>
      </p:par>
    </p:tnLst>
  </p:timing>
  <p:hf hdr="0" dt="0"/>
  <p:txStyles>
    <p:titleStyle>
      <a:lvl1pPr algn="l" defTabSz="914400" rtl="0" eaLnBrk="1" latinLnBrk="0" hangingPunct="1"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1">
            <a:lumMod val="75000"/>
          </a:schemeClr>
        </a:buClr>
        <a:buSzPct val="70000"/>
        <a:buFont typeface="Wingdings" pitchFamily="2" charset="2"/>
        <a:buChar char="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2"/>
        </a:buClr>
        <a:buSzPct val="80000"/>
        <a:buFont typeface="Wingdings" pitchFamily="2" charset="2"/>
        <a:buChar char="v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3"/>
        </a:buClr>
        <a:buFont typeface="Calibri" pitchFamily="34" charset="0"/>
        <a:buChar char="₪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4"/>
        </a:buClr>
        <a:buFont typeface="Wingdings" pitchFamily="2" charset="2"/>
        <a:buChar char="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800" dirty="0" smtClean="0">
                <a:solidFill>
                  <a:srgbClr val="FF0000"/>
                </a:solidFill>
              </a:rPr>
              <a:t>Sessions &amp; Login</a:t>
            </a:r>
            <a:endParaRPr lang="en-US" sz="4800" dirty="0">
              <a:solidFill>
                <a:srgbClr val="FF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81400"/>
            <a:ext cx="7467600" cy="1752600"/>
          </a:xfrm>
        </p:spPr>
        <p:txBody>
          <a:bodyPr/>
          <a:lstStyle/>
          <a:p>
            <a:r>
              <a:rPr lang="en-US" dirty="0" err="1" smtClean="0"/>
              <a:t>PHP</a:t>
            </a:r>
            <a:r>
              <a:rPr lang="en-US" dirty="0" smtClean="0"/>
              <a:t> Fundamentals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801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800" dirty="0" smtClean="0"/>
              <a:t>IT1322 – Principles of Web Usability Design</a:t>
            </a:r>
            <a:endParaRPr lang="en-US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50510" y="2362200"/>
            <a:ext cx="7467600" cy="1752600"/>
          </a:xfrm>
        </p:spPr>
        <p:txBody>
          <a:bodyPr>
            <a:normAutofit fontScale="92500"/>
          </a:bodyPr>
          <a:lstStyle/>
          <a:p>
            <a:r>
              <a:rPr lang="en-US" dirty="0"/>
              <a:t>A PHP session variable is used to store information about, or change settings for a user session. Session variables hold information about one single user, and are available to all pages in one application.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986620" y="274638"/>
            <a:ext cx="7395380" cy="944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PHP Sessions – Definition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280801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smtClean="0"/>
              <a:t>PHP Session Variables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00200"/>
            <a:ext cx="7395380" cy="2667000"/>
          </a:xfrm>
        </p:spPr>
        <p:txBody>
          <a:bodyPr>
            <a:noAutofit/>
          </a:bodyPr>
          <a:lstStyle/>
          <a:p>
            <a:pPr>
              <a:spcAft>
                <a:spcPts val="1000"/>
              </a:spcAft>
            </a:pPr>
            <a:r>
              <a:rPr lang="en-US" sz="3200" dirty="0" smtClean="0"/>
              <a:t>The internet is stateless, and web server doesn’t not know who you are as the HTTP address doesn’t maintain state.</a:t>
            </a:r>
            <a:endParaRPr lang="en-US" sz="3200" dirty="0"/>
          </a:p>
          <a:p>
            <a:pPr>
              <a:spcAft>
                <a:spcPts val="1000"/>
              </a:spcAft>
            </a:pPr>
            <a:r>
              <a:rPr lang="en-US" sz="3200" dirty="0" smtClean="0"/>
              <a:t>PHP session allow user to store useful information </a:t>
            </a:r>
            <a:r>
              <a:rPr lang="en-US" sz="3200" dirty="0"/>
              <a:t> (i.e. username, shopping items, </a:t>
            </a:r>
            <a:r>
              <a:rPr lang="en-US" sz="3200" dirty="0" err="1"/>
              <a:t>etc</a:t>
            </a:r>
            <a:r>
              <a:rPr lang="en-US" sz="3200" dirty="0" smtClean="0"/>
              <a:t>)</a:t>
            </a:r>
          </a:p>
          <a:p>
            <a:pPr>
              <a:spcAft>
                <a:spcPts val="1000"/>
              </a:spcAft>
            </a:pPr>
            <a:r>
              <a:rPr lang="en-US" sz="3200" dirty="0" smtClean="0"/>
              <a:t>These sessions are temporary and will be deleted when the user leaves the website.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015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smtClean="0"/>
              <a:t>PHP Starting a session</a:t>
            </a:r>
            <a:endParaRPr lang="en-US" sz="3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pPr/>
              <a:t>4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3398718"/>
              </p:ext>
            </p:extLst>
          </p:nvPr>
        </p:nvGraphicFramePr>
        <p:xfrm>
          <a:off x="457200" y="1676400"/>
          <a:ext cx="8229600" cy="7620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229600"/>
              </a:tblGrid>
              <a:tr h="762000"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Before you can store user information in your PHP session, you must first start up the session.     The </a:t>
                      </a:r>
                      <a:r>
                        <a:rPr lang="en-US" sz="1800" b="0" i="0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session_start</a:t>
                      </a:r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 function must appear BEFORE the &lt;html&gt; tag:</a:t>
                      </a:r>
                      <a:endParaRPr lang="en-SG" sz="40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/>
            </a: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/>
            </a:r>
            <a:b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8919471"/>
              </p:ext>
            </p:extLst>
          </p:nvPr>
        </p:nvGraphicFramePr>
        <p:xfrm>
          <a:off x="990600" y="2819400"/>
          <a:ext cx="60960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0"/>
              </a:tblGrid>
              <a:tr h="3048000">
                <a:tc>
                  <a:txBody>
                    <a:bodyPr/>
                    <a:lstStyle/>
                    <a:p>
                      <a:pPr>
                        <a:spcAft>
                          <a:spcPts val="1000"/>
                        </a:spcAft>
                        <a:buNone/>
                      </a:pPr>
                      <a:r>
                        <a:rPr lang="en-US" sz="2800" b="0" i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&lt;?</a:t>
                      </a:r>
                      <a:r>
                        <a:rPr lang="en-US" sz="2800" b="0" i="1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php</a:t>
                      </a:r>
                      <a:r>
                        <a:rPr lang="en-US" sz="2800" b="0" i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800" b="0" i="1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session_start</a:t>
                      </a:r>
                      <a:r>
                        <a:rPr lang="en-US" sz="2800" b="0" i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(); ?&gt;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/>
                      </a:r>
                      <a:br>
                        <a:rPr lang="en-US" sz="2000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/>
                      </a:r>
                      <a:br>
                        <a:rPr lang="en-US" sz="2000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sz="2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&lt;html&gt;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/>
                      </a:r>
                      <a:br>
                        <a:rPr lang="en-US" sz="2000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sz="2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&lt;body&gt;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/>
                      </a:r>
                      <a:br>
                        <a:rPr lang="en-US" sz="2000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/>
                      </a:r>
                      <a:br>
                        <a:rPr lang="en-US" sz="2000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sz="2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&lt;/body&gt;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/>
                      </a:r>
                      <a:br>
                        <a:rPr lang="en-US" sz="2000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sz="2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&lt;/html&gt;</a:t>
                      </a:r>
                      <a:endParaRPr lang="en-SG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5015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533400"/>
            <a:ext cx="7395380" cy="944562"/>
          </a:xfrm>
        </p:spPr>
        <p:txBody>
          <a:bodyPr>
            <a:noAutofit/>
          </a:bodyPr>
          <a:lstStyle/>
          <a:p>
            <a:r>
              <a:rPr lang="en-US" sz="3600" b="0" dirty="0"/>
              <a:t>Storing a Session Variable</a:t>
            </a:r>
            <a:br>
              <a:rPr lang="en-US" sz="3600" b="0" dirty="0"/>
            </a:br>
            <a:r>
              <a:rPr lang="en-US" sz="3600" dirty="0"/>
              <a:t/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pPr/>
              <a:t>5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9810310"/>
              </p:ext>
            </p:extLst>
          </p:nvPr>
        </p:nvGraphicFramePr>
        <p:xfrm>
          <a:off x="533400" y="1371600"/>
          <a:ext cx="8229600" cy="7620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229600"/>
              </a:tblGrid>
              <a:tr h="762000"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To store and retrieve session variables is to use the PHP</a:t>
                      </a:r>
                      <a:r>
                        <a:rPr lang="en-US" sz="1800" b="1" i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$_SESSION </a:t>
                      </a:r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variable:</a:t>
                      </a:r>
                      <a:endParaRPr lang="en-SG" sz="40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1886847"/>
              </p:ext>
            </p:extLst>
          </p:nvPr>
        </p:nvGraphicFramePr>
        <p:xfrm>
          <a:off x="304800" y="1905000"/>
          <a:ext cx="6096000" cy="36880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6096000"/>
              </a:tblGrid>
              <a:tr h="3048000">
                <a:tc>
                  <a:txBody>
                    <a:bodyPr/>
                    <a:lstStyle/>
                    <a:p>
                      <a:pPr>
                        <a:spcAft>
                          <a:spcPts val="1000"/>
                        </a:spcAft>
                        <a:buNone/>
                      </a:pP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&lt;?</a:t>
                      </a:r>
                      <a:r>
                        <a:rPr lang="en-US" sz="18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php</a:t>
                      </a:r>
                      <a:r>
                        <a:rPr lang="en-US" sz="2800" dirty="0" smtClean="0">
                          <a:solidFill>
                            <a:schemeClr val="tx1"/>
                          </a:solidFill>
                        </a:rPr>
                        <a:t/>
                      </a:r>
                      <a:br>
                        <a:rPr lang="en-US" sz="2800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8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session_start</a:t>
                      </a: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();</a:t>
                      </a:r>
                      <a:r>
                        <a:rPr lang="en-US" sz="2800" dirty="0" smtClean="0">
                          <a:solidFill>
                            <a:schemeClr val="tx1"/>
                          </a:solidFill>
                        </a:rPr>
                        <a:t/>
                      </a:r>
                      <a:br>
                        <a:rPr lang="en-US" sz="2800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800" b="1" i="0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// store session data</a:t>
                      </a:r>
                      <a:r>
                        <a:rPr lang="en-US" sz="2800" b="1" dirty="0" smtClean="0">
                          <a:solidFill>
                            <a:srgbClr val="00B050"/>
                          </a:solidFill>
                        </a:rPr>
                        <a:t/>
                      </a:r>
                      <a:br>
                        <a:rPr lang="en-US" sz="2800" b="1" dirty="0" smtClean="0">
                          <a:solidFill>
                            <a:srgbClr val="00B050"/>
                          </a:solidFill>
                        </a:rPr>
                      </a:br>
                      <a:r>
                        <a:rPr lang="en-US" sz="2000" b="1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$_SESSION['views']=1;</a:t>
                      </a:r>
                      <a:r>
                        <a:rPr lang="en-US" sz="3200" b="1" dirty="0" smtClean="0">
                          <a:solidFill>
                            <a:schemeClr val="tx1"/>
                          </a:solidFill>
                        </a:rPr>
                        <a:t/>
                      </a:r>
                      <a:br>
                        <a:rPr lang="en-US" sz="3200" b="1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?&gt;</a:t>
                      </a:r>
                      <a:r>
                        <a:rPr lang="en-US" sz="2800" dirty="0" smtClean="0">
                          <a:solidFill>
                            <a:schemeClr val="tx1"/>
                          </a:solidFill>
                        </a:rPr>
                        <a:t/>
                      </a:r>
                      <a:br>
                        <a:rPr lang="en-US" sz="2800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&lt;html&gt;</a:t>
                      </a:r>
                      <a:r>
                        <a:rPr lang="en-US" sz="2800" dirty="0" smtClean="0">
                          <a:solidFill>
                            <a:schemeClr val="tx1"/>
                          </a:solidFill>
                        </a:rPr>
                        <a:t/>
                      </a:r>
                      <a:br>
                        <a:rPr lang="en-US" sz="2800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&lt;body&gt;</a:t>
                      </a:r>
                      <a:r>
                        <a:rPr lang="en-US" sz="2800" dirty="0" smtClean="0">
                          <a:solidFill>
                            <a:schemeClr val="tx1"/>
                          </a:solidFill>
                        </a:rPr>
                        <a:t/>
                      </a:r>
                      <a:br>
                        <a:rPr lang="en-US" sz="2800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&lt;?</a:t>
                      </a:r>
                      <a:r>
                        <a:rPr lang="en-US" sz="18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php</a:t>
                      </a:r>
                      <a:r>
                        <a:rPr lang="en-US" sz="2800" b="1" i="1" dirty="0" smtClean="0">
                          <a:solidFill>
                            <a:schemeClr val="tx1"/>
                          </a:solidFill>
                        </a:rPr>
                        <a:t/>
                      </a:r>
                      <a:br>
                        <a:rPr lang="en-US" sz="2800" b="1" i="1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800" b="1" i="1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//retrieve session data</a:t>
                      </a:r>
                      <a:r>
                        <a:rPr lang="en-US" sz="2800" b="1" i="1" dirty="0" smtClean="0">
                          <a:solidFill>
                            <a:schemeClr val="tx1"/>
                          </a:solidFill>
                        </a:rPr>
                        <a:t/>
                      </a:r>
                      <a:br>
                        <a:rPr lang="en-US" sz="2800" b="1" i="1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800" b="1" i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echo "</a:t>
                      </a:r>
                      <a:r>
                        <a:rPr lang="en-US" sz="1800" b="1" i="1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Pageviews</a:t>
                      </a:r>
                      <a:r>
                        <a:rPr lang="en-US" sz="1800" b="1" i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=". $_SESSION['views'];</a:t>
                      </a:r>
                      <a:r>
                        <a:rPr lang="en-US" sz="2800" b="1" i="1" dirty="0" smtClean="0">
                          <a:solidFill>
                            <a:schemeClr val="tx1"/>
                          </a:solidFill>
                        </a:rPr>
                        <a:t/>
                      </a:r>
                      <a:br>
                        <a:rPr lang="en-US" sz="2800" b="1" i="1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?&gt;</a:t>
                      </a:r>
                      <a:r>
                        <a:rPr lang="en-US" sz="2800" dirty="0" smtClean="0">
                          <a:solidFill>
                            <a:schemeClr val="tx1"/>
                          </a:solidFill>
                        </a:rPr>
                        <a:t/>
                      </a:r>
                      <a:br>
                        <a:rPr lang="en-US" sz="2800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&lt;/body&gt;</a:t>
                      </a:r>
                      <a:r>
                        <a:rPr lang="en-US" sz="2800" dirty="0" smtClean="0">
                          <a:solidFill>
                            <a:schemeClr val="tx1"/>
                          </a:solidFill>
                        </a:rPr>
                        <a:t/>
                      </a:r>
                      <a:br>
                        <a:rPr lang="en-US" sz="2800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&lt;/html&gt;</a:t>
                      </a:r>
                      <a:endParaRPr lang="en-SG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6486316"/>
              </p:ext>
            </p:extLst>
          </p:nvPr>
        </p:nvGraphicFramePr>
        <p:xfrm>
          <a:off x="6400800" y="1905000"/>
          <a:ext cx="1782417" cy="16764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82417"/>
              </a:tblGrid>
              <a:tr h="1676400">
                <a:tc>
                  <a:txBody>
                    <a:bodyPr/>
                    <a:lstStyle/>
                    <a:p>
                      <a:pPr>
                        <a:spcAft>
                          <a:spcPts val="1000"/>
                        </a:spcAft>
                        <a:buNone/>
                      </a:pP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Output:</a:t>
                      </a:r>
                    </a:p>
                    <a:p>
                      <a:pPr>
                        <a:spcAft>
                          <a:spcPts val="1000"/>
                        </a:spcAft>
                        <a:buNone/>
                      </a:pPr>
                      <a:r>
                        <a:rPr lang="en-US" sz="18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Pageviews</a:t>
                      </a: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=1</a:t>
                      </a:r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5015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0" dirty="0"/>
              <a:t>Storing a Session </a:t>
            </a:r>
            <a:r>
              <a:rPr lang="en-US" sz="3600" b="0" dirty="0" smtClean="0"/>
              <a:t>Variable Example 2</a:t>
            </a:r>
            <a:endParaRPr lang="en-US" sz="3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pPr/>
              <a:t>6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448471"/>
              </p:ext>
            </p:extLst>
          </p:nvPr>
        </p:nvGraphicFramePr>
        <p:xfrm>
          <a:off x="304800" y="2819400"/>
          <a:ext cx="6096000" cy="30480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6096000"/>
              </a:tblGrid>
              <a:tr h="3048000">
                <a:tc>
                  <a:txBody>
                    <a:bodyPr/>
                    <a:lstStyle/>
                    <a:p>
                      <a:pPr>
                        <a:spcAft>
                          <a:spcPts val="1000"/>
                        </a:spcAft>
                        <a:buNone/>
                      </a:pP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&lt;?</a:t>
                      </a:r>
                      <a:r>
                        <a:rPr lang="en-US" sz="18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php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/>
                      </a:r>
                      <a:br>
                        <a:rPr lang="en-US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8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session_start</a:t>
                      </a: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();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/>
                      </a:r>
                      <a:br>
                        <a:rPr lang="en-US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/>
                      </a:r>
                      <a:br>
                        <a:rPr lang="en-US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if(</a:t>
                      </a:r>
                      <a:r>
                        <a:rPr lang="en-US" sz="18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isset</a:t>
                      </a: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($_SESSION['views']))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/>
                      </a:r>
                      <a:br>
                        <a:rPr lang="en-US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$_SESSION['views']=$_SESSION['views']+1;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/>
                      </a:r>
                      <a:br>
                        <a:rPr lang="en-US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else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/>
                      </a:r>
                      <a:br>
                        <a:rPr lang="en-US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$_SESSION['views']=1;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/>
                      </a:r>
                      <a:br>
                        <a:rPr lang="en-US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echo "Views=". $_SESSION['views'];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/>
                      </a:r>
                      <a:br>
                        <a:rPr lang="en-US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?&gt;</a:t>
                      </a:r>
                      <a:endParaRPr lang="en-SG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7817306"/>
              </p:ext>
            </p:extLst>
          </p:nvPr>
        </p:nvGraphicFramePr>
        <p:xfrm>
          <a:off x="381000" y="1371600"/>
          <a:ext cx="8229600" cy="11887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229600"/>
              </a:tblGrid>
              <a:tr h="762000"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 the example below, we create a simple page-views counter. The </a:t>
                      </a:r>
                      <a:r>
                        <a:rPr lang="en-US" sz="1800" b="0" i="0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isset</a:t>
                      </a:r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 function checks if the "views" variable has already been set. If "views" has been set, we can increment our counter. If "views" doesn't exist, we create a "views" variable, and set it to 1:</a:t>
                      </a:r>
                      <a:endParaRPr lang="en-SG" sz="40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5015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smtClean="0"/>
              <a:t>Destroying a session</a:t>
            </a:r>
            <a:endParaRPr lang="en-US" sz="3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pPr/>
              <a:t>7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7960804"/>
              </p:ext>
            </p:extLst>
          </p:nvPr>
        </p:nvGraphicFramePr>
        <p:xfrm>
          <a:off x="533400" y="1371600"/>
          <a:ext cx="8229600" cy="9144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229600"/>
              </a:tblGrid>
              <a:tr h="762000"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If you wish to delete some session data, you can use the unset() or the </a:t>
                      </a:r>
                      <a:r>
                        <a:rPr lang="en-US" sz="1800" b="0" i="0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session_destroy</a:t>
                      </a:r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 function. The unset() function is used to free the specified session variable:</a:t>
                      </a:r>
                      <a:endParaRPr lang="en-SG" sz="40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8327827"/>
              </p:ext>
            </p:extLst>
          </p:nvPr>
        </p:nvGraphicFramePr>
        <p:xfrm>
          <a:off x="1371600" y="2362200"/>
          <a:ext cx="6096000" cy="14630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6096000"/>
              </a:tblGrid>
              <a:tr h="1447800">
                <a:tc>
                  <a:txBody>
                    <a:bodyPr/>
                    <a:lstStyle/>
                    <a:p>
                      <a:pPr>
                        <a:spcAft>
                          <a:spcPts val="1000"/>
                        </a:spcAft>
                        <a:buNone/>
                      </a:pP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&lt;?</a:t>
                      </a:r>
                      <a:r>
                        <a:rPr lang="en-US" sz="18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php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/>
                      </a:r>
                      <a:br>
                        <a:rPr lang="en-US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8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session_start</a:t>
                      </a: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();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/>
                      </a:r>
                      <a:br>
                        <a:rPr lang="en-US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if(</a:t>
                      </a:r>
                      <a:r>
                        <a:rPr lang="en-US" sz="18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isset</a:t>
                      </a: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($_SESSION['views']))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/>
                      </a:r>
                      <a:br>
                        <a:rPr lang="en-US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unset($_SESSION['views']);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/>
                      </a:r>
                      <a:br>
                        <a:rPr lang="en-US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?&gt;</a:t>
                      </a:r>
                      <a:endParaRPr lang="en-SG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5972141"/>
              </p:ext>
            </p:extLst>
          </p:nvPr>
        </p:nvGraphicFramePr>
        <p:xfrm>
          <a:off x="228600" y="4114800"/>
          <a:ext cx="8229600" cy="7620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229600"/>
              </a:tblGrid>
              <a:tr h="762000"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You can also completely destroy the session by calling the </a:t>
                      </a:r>
                      <a:r>
                        <a:rPr lang="en-US" sz="1800" b="0" i="0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session_destroy</a:t>
                      </a:r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 function:</a:t>
                      </a:r>
                      <a:endParaRPr lang="en-SG" sz="40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5829033"/>
              </p:ext>
            </p:extLst>
          </p:nvPr>
        </p:nvGraphicFramePr>
        <p:xfrm>
          <a:off x="1066800" y="5105400"/>
          <a:ext cx="6096000" cy="14478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6096000"/>
              </a:tblGrid>
              <a:tr h="1447800">
                <a:tc>
                  <a:txBody>
                    <a:bodyPr/>
                    <a:lstStyle/>
                    <a:p>
                      <a:pPr>
                        <a:spcAft>
                          <a:spcPts val="1000"/>
                        </a:spcAft>
                        <a:buNone/>
                      </a:pP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&lt;?</a:t>
                      </a:r>
                      <a:r>
                        <a:rPr lang="en-US" sz="18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php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/>
                      </a:r>
                      <a:br>
                        <a:rPr lang="en-US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8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session_destroy</a:t>
                      </a: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();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/>
                      </a:r>
                      <a:br>
                        <a:rPr lang="en-US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?&gt;</a:t>
                      </a:r>
                      <a:endParaRPr lang="en-SG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5015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smtClean="0"/>
              <a:t>Login Example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8077200" cy="762000"/>
          </a:xfrm>
        </p:spPr>
        <p:txBody>
          <a:bodyPr>
            <a:noAutofit/>
          </a:bodyPr>
          <a:lstStyle/>
          <a:p>
            <a:pPr>
              <a:spcAft>
                <a:spcPts val="1000"/>
              </a:spcAft>
              <a:buNone/>
            </a:pPr>
            <a:r>
              <a:rPr lang="en-US" sz="2000" dirty="0" smtClean="0"/>
              <a:t>After the user filled up the login form , the login will be submitted to </a:t>
            </a:r>
            <a:r>
              <a:rPr lang="en-US" sz="2000" dirty="0" err="1" smtClean="0"/>
              <a:t>login.php</a:t>
            </a:r>
            <a:r>
              <a:rPr lang="en-US" sz="2000" dirty="0" smtClean="0"/>
              <a:t> for verification. Depending on the role of the user, he or she will be redirected to see the member page or the administrator page. Session variables for the </a:t>
            </a:r>
            <a:r>
              <a:rPr lang="en-US" sz="2000" b="1" dirty="0" smtClean="0"/>
              <a:t>username </a:t>
            </a:r>
            <a:r>
              <a:rPr lang="en-US" sz="2000" dirty="0" smtClean="0"/>
              <a:t>and </a:t>
            </a:r>
            <a:r>
              <a:rPr lang="en-US" sz="2000" b="1" dirty="0" smtClean="0"/>
              <a:t>role</a:t>
            </a:r>
            <a:r>
              <a:rPr lang="en-US" sz="2000" dirty="0" smtClean="0"/>
              <a:t> will be created.</a:t>
            </a:r>
            <a:endParaRPr lang="en-US" sz="2000" i="1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pPr/>
              <a:t>8</a:t>
            </a:fld>
            <a:endParaRPr lang="en-US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2145943755"/>
              </p:ext>
            </p:extLst>
          </p:nvPr>
        </p:nvGraphicFramePr>
        <p:xfrm>
          <a:off x="762000" y="2819400"/>
          <a:ext cx="7086600" cy="381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15015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smtClean="0"/>
              <a:t>Login example – </a:t>
            </a:r>
            <a:r>
              <a:rPr lang="en-US" sz="3600" dirty="0" err="1" smtClean="0"/>
              <a:t>login.php</a:t>
            </a:r>
            <a:endParaRPr lang="en-US" sz="3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pPr/>
              <a:t>9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698505"/>
              </p:ext>
            </p:extLst>
          </p:nvPr>
        </p:nvGraphicFramePr>
        <p:xfrm>
          <a:off x="685800" y="4865132"/>
          <a:ext cx="80772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77200"/>
              </a:tblGrid>
              <a:tr h="1600200">
                <a:tc>
                  <a:txBody>
                    <a:bodyPr/>
                    <a:lstStyle/>
                    <a:p>
                      <a:pPr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 ……</a:t>
                      </a:r>
                    </a:p>
                    <a:p>
                      <a:pPr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$</a:t>
                      </a:r>
                      <a:r>
                        <a:rPr lang="en-US" sz="1800" dirty="0" err="1" smtClean="0">
                          <a:solidFill>
                            <a:srgbClr val="FF0000"/>
                          </a:solidFill>
                        </a:rPr>
                        <a:t>uname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 = $_POST[‘</a:t>
                      </a:r>
                      <a:r>
                        <a:rPr lang="en-US" sz="1800" dirty="0" err="1" smtClean="0">
                          <a:solidFill>
                            <a:srgbClr val="FF0000"/>
                          </a:solidFill>
                        </a:rPr>
                        <a:t>formusername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']; //retrieve  username from previous page</a:t>
                      </a:r>
                    </a:p>
                    <a:p>
                      <a:pPr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$</a:t>
                      </a:r>
                      <a:r>
                        <a:rPr lang="en-US" sz="1800" dirty="0" err="1" smtClean="0">
                          <a:solidFill>
                            <a:srgbClr val="FF0000"/>
                          </a:solidFill>
                        </a:rPr>
                        <a:t>pword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 = $_POST[‘</a:t>
                      </a:r>
                      <a:r>
                        <a:rPr lang="en-US" sz="1800" dirty="0" err="1" smtClean="0">
                          <a:solidFill>
                            <a:srgbClr val="FF0000"/>
                          </a:solidFill>
                        </a:rPr>
                        <a:t>formpassword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']; //retrieve  password from previous page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590800" y="1905000"/>
            <a:ext cx="1111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Login.php</a:t>
            </a:r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4047401"/>
              </p:ext>
            </p:extLst>
          </p:nvPr>
        </p:nvGraphicFramePr>
        <p:xfrm>
          <a:off x="609600" y="3962400"/>
          <a:ext cx="8229600" cy="7620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229600"/>
              </a:tblGrid>
              <a:tr h="762000">
                <a:tc>
                  <a:txBody>
                    <a:bodyPr/>
                    <a:lstStyle/>
                    <a:p>
                      <a:r>
                        <a:rPr lang="en-US" sz="32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Step</a:t>
                      </a:r>
                      <a:r>
                        <a:rPr lang="en-US" sz="3200" b="0" i="0" kern="1200" baseline="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1</a:t>
                      </a:r>
                      <a:r>
                        <a:rPr lang="en-US" sz="1800" b="0" i="0" kern="1200" baseline="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–  retrieve the values entered in </a:t>
                      </a:r>
                      <a:r>
                        <a:rPr lang="en-US" sz="1800" b="0" i="0" kern="1200" baseline="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loginform.php</a:t>
                      </a:r>
                      <a:endParaRPr lang="en-SG" sz="4000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9" name="Picture 8"/>
          <p:cNvPicPr/>
          <p:nvPr/>
        </p:nvPicPr>
        <p:blipFill>
          <a:blip r:embed="rId3"/>
          <a:stretch>
            <a:fillRect/>
          </a:stretch>
        </p:blipFill>
        <p:spPr>
          <a:xfrm>
            <a:off x="1779104" y="2438400"/>
            <a:ext cx="5257800" cy="1411304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5545734"/>
              </p:ext>
            </p:extLst>
          </p:nvPr>
        </p:nvGraphicFramePr>
        <p:xfrm>
          <a:off x="685800" y="1512332"/>
          <a:ext cx="8229600" cy="8534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229600"/>
              </a:tblGrid>
              <a:tr h="762000">
                <a:tc>
                  <a:txBody>
                    <a:bodyPr/>
                    <a:lstStyle/>
                    <a:p>
                      <a:r>
                        <a:rPr lang="en-US" sz="32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Login Table </a:t>
                      </a:r>
                      <a:r>
                        <a:rPr lang="en-US" sz="3200" b="0" i="0" kern="1200" baseline="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– </a:t>
                      </a:r>
                      <a:r>
                        <a:rPr lang="en-US" sz="1800" b="0" i="0" kern="1200" baseline="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assuming you have the following table structure and data  in the database</a:t>
                      </a:r>
                      <a:endParaRPr lang="en-SG" sz="18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2942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smtClean="0"/>
              <a:t>Login example – </a:t>
            </a:r>
            <a:r>
              <a:rPr lang="en-US" sz="3600" dirty="0" err="1" smtClean="0"/>
              <a:t>login.php</a:t>
            </a:r>
            <a:endParaRPr lang="en-US" sz="3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pPr/>
              <a:t>10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4244070"/>
              </p:ext>
            </p:extLst>
          </p:nvPr>
        </p:nvGraphicFramePr>
        <p:xfrm>
          <a:off x="1066800" y="2274332"/>
          <a:ext cx="7620000" cy="41264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0"/>
              </a:tblGrid>
              <a:tr h="4126468">
                <a:tc>
                  <a:txBody>
                    <a:bodyPr/>
                    <a:lstStyle/>
                    <a:p>
                      <a:pPr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SQL = "SELECT * FROM login WHERE username='".$</a:t>
                      </a:r>
                      <a:r>
                        <a:rPr lang="en-US" sz="1800" dirty="0" err="1" smtClean="0">
                          <a:solidFill>
                            <a:srgbClr val="FF0000"/>
                          </a:solidFill>
                        </a:rPr>
                        <a:t>uname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."'"." AND password='".$</a:t>
                      </a:r>
                      <a:r>
                        <a:rPr lang="en-US" sz="1800" dirty="0" err="1" smtClean="0">
                          <a:solidFill>
                            <a:srgbClr val="FF0000"/>
                          </a:solidFill>
                        </a:rPr>
                        <a:t>pword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."'"; </a:t>
                      </a:r>
                      <a:r>
                        <a:rPr lang="en-US" sz="1800" dirty="0" smtClean="0">
                          <a:solidFill>
                            <a:srgbClr val="00B050"/>
                          </a:solidFill>
                        </a:rPr>
                        <a:t>//construct </a:t>
                      </a:r>
                      <a:r>
                        <a:rPr lang="en-US" sz="1800" dirty="0" err="1" smtClean="0">
                          <a:solidFill>
                            <a:srgbClr val="00B050"/>
                          </a:solidFill>
                        </a:rPr>
                        <a:t>sql</a:t>
                      </a:r>
                      <a:r>
                        <a:rPr lang="en-US" sz="1800" dirty="0" smtClean="0">
                          <a:solidFill>
                            <a:srgbClr val="00B050"/>
                          </a:solidFill>
                        </a:rPr>
                        <a:t> query</a:t>
                      </a:r>
                    </a:p>
                    <a:p>
                      <a:pPr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 $result = </a:t>
                      </a:r>
                      <a:r>
                        <a:rPr lang="en-US" sz="1800" dirty="0" err="1" smtClean="0">
                          <a:solidFill>
                            <a:srgbClr val="FF0000"/>
                          </a:solidFill>
                        </a:rPr>
                        <a:t>mysqli_query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($connection, $SQL 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);</a:t>
                      </a:r>
                    </a:p>
                    <a:p>
                      <a:pPr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$</a:t>
                      </a:r>
                      <a:r>
                        <a:rPr lang="en-US" sz="1800" dirty="0" err="1" smtClean="0">
                          <a:solidFill>
                            <a:srgbClr val="FF0000"/>
                          </a:solidFill>
                        </a:rPr>
                        <a:t>num_rows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 = </a:t>
                      </a:r>
                      <a:r>
                        <a:rPr lang="en-US" sz="1800" dirty="0" err="1" smtClean="0">
                          <a:solidFill>
                            <a:srgbClr val="FF0000"/>
                          </a:solidFill>
                        </a:rPr>
                        <a:t>mysqli_num_rows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($result);</a:t>
                      </a:r>
                    </a:p>
                    <a:p>
                      <a:pPr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echo "number of rows".$</a:t>
                      </a:r>
                      <a:r>
                        <a:rPr lang="en-US" sz="1800" dirty="0" err="1" smtClean="0">
                          <a:solidFill>
                            <a:srgbClr val="FF0000"/>
                          </a:solidFill>
                        </a:rPr>
                        <a:t>num_rows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;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solidFill>
                            <a:srgbClr val="00B050"/>
                          </a:solidFill>
                        </a:rPr>
                        <a:t>//if </a:t>
                      </a:r>
                      <a:r>
                        <a:rPr lang="en-US" sz="1800" dirty="0" err="1" smtClean="0">
                          <a:solidFill>
                            <a:srgbClr val="00B050"/>
                          </a:solidFill>
                        </a:rPr>
                        <a:t>num</a:t>
                      </a:r>
                      <a:r>
                        <a:rPr lang="en-US" sz="1800" dirty="0" smtClean="0">
                          <a:solidFill>
                            <a:srgbClr val="00B050"/>
                          </a:solidFill>
                        </a:rPr>
                        <a:t> rows return &gt; 0 means username &amp; password is found =&gt; login           // is successful.</a:t>
                      </a:r>
                    </a:p>
                    <a:p>
                      <a:pPr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if ($</a:t>
                      </a:r>
                      <a:r>
                        <a:rPr lang="en-US" sz="1800" dirty="0" err="1" smtClean="0">
                          <a:solidFill>
                            <a:srgbClr val="FF0000"/>
                          </a:solidFill>
                        </a:rPr>
                        <a:t>num_rows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 &gt; 0) {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solidFill>
                            <a:srgbClr val="00B050"/>
                          </a:solidFill>
                        </a:rPr>
                        <a:t>//start a new session</a:t>
                      </a:r>
                    </a:p>
                    <a:p>
                      <a:pPr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err="1" smtClean="0">
                          <a:solidFill>
                            <a:srgbClr val="FF0000"/>
                          </a:solidFill>
                        </a:rPr>
                        <a:t>session_start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(); </a:t>
                      </a:r>
                    </a:p>
                    <a:p>
                      <a:pPr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…….</a:t>
                      </a:r>
                      <a:r>
                        <a:rPr lang="en-US" sz="1800" dirty="0" smtClean="0">
                          <a:solidFill>
                            <a:srgbClr val="00B050"/>
                          </a:solidFill>
                        </a:rPr>
                        <a:t> 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590800" y="1905000"/>
            <a:ext cx="1111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Login.php</a:t>
            </a:r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3240142"/>
              </p:ext>
            </p:extLst>
          </p:nvPr>
        </p:nvGraphicFramePr>
        <p:xfrm>
          <a:off x="533400" y="1371600"/>
          <a:ext cx="8229600" cy="7620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229600"/>
              </a:tblGrid>
              <a:tr h="762000">
                <a:tc>
                  <a:txBody>
                    <a:bodyPr/>
                    <a:lstStyle/>
                    <a:p>
                      <a:r>
                        <a:rPr lang="en-US" sz="32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Step</a:t>
                      </a:r>
                      <a:r>
                        <a:rPr lang="en-US" sz="3200" b="1" i="0" kern="1200" baseline="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2</a:t>
                      </a:r>
                      <a:r>
                        <a:rPr lang="en-US" sz="1800" b="0" i="0" kern="1200" baseline="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– verifying if username and password is correct </a:t>
                      </a:r>
                      <a:endParaRPr lang="en-SG" sz="40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5015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smtClean="0"/>
              <a:t>Login example – </a:t>
            </a:r>
            <a:r>
              <a:rPr lang="en-US" sz="3600" dirty="0" err="1" smtClean="0"/>
              <a:t>login.php</a:t>
            </a:r>
            <a:endParaRPr lang="en-US" sz="3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pPr/>
              <a:t>11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3541200"/>
              </p:ext>
            </p:extLst>
          </p:nvPr>
        </p:nvGraphicFramePr>
        <p:xfrm>
          <a:off x="533400" y="2274332"/>
          <a:ext cx="8153400" cy="41264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53400"/>
              </a:tblGrid>
              <a:tr h="4126468">
                <a:tc>
                  <a:txBody>
                    <a:bodyPr/>
                    <a:lstStyle/>
                    <a:p>
                      <a:pPr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if ($</a:t>
                      </a:r>
                      <a:r>
                        <a:rPr lang="en-US" sz="1800" dirty="0" err="1" smtClean="0">
                          <a:solidFill>
                            <a:srgbClr val="FF0000"/>
                          </a:solidFill>
                        </a:rPr>
                        <a:t>num_rows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 &gt; 0) {</a:t>
                      </a:r>
                    </a:p>
                    <a:p>
                      <a:pPr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err="1" smtClean="0">
                          <a:solidFill>
                            <a:srgbClr val="FF0000"/>
                          </a:solidFill>
                        </a:rPr>
                        <a:t>session_start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();</a:t>
                      </a:r>
                      <a:r>
                        <a:rPr lang="en-US" sz="1800" dirty="0" smtClean="0">
                          <a:solidFill>
                            <a:srgbClr val="00B050"/>
                          </a:solidFill>
                        </a:rPr>
                        <a:t>            //start a new session</a:t>
                      </a:r>
                    </a:p>
                    <a:p>
                      <a:pPr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smtClean="0">
                          <a:solidFill>
                            <a:srgbClr val="00B050"/>
                          </a:solidFill>
                        </a:rPr>
                        <a:t>//create a new session variable named: </a:t>
                      </a:r>
                      <a:r>
                        <a:rPr lang="en-US" sz="1800" dirty="0" err="1" smtClean="0">
                          <a:solidFill>
                            <a:srgbClr val="00B050"/>
                          </a:solidFill>
                        </a:rPr>
                        <a:t>loginname</a:t>
                      </a:r>
                      <a:r>
                        <a:rPr lang="en-US" sz="1800" dirty="0" smtClean="0">
                          <a:solidFill>
                            <a:srgbClr val="00B050"/>
                          </a:solidFill>
                        </a:rPr>
                        <a:t>, and pass the username to it</a:t>
                      </a:r>
                    </a:p>
                    <a:p>
                      <a:pPr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$_SESSION['</a:t>
                      </a:r>
                      <a:r>
                        <a:rPr lang="en-US" sz="1800" dirty="0" err="1" smtClean="0">
                          <a:solidFill>
                            <a:srgbClr val="FF0000"/>
                          </a:solidFill>
                        </a:rPr>
                        <a:t>loginname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'] = $</a:t>
                      </a:r>
                      <a:r>
                        <a:rPr lang="en-US" sz="1800" dirty="0" err="1" smtClean="0">
                          <a:solidFill>
                            <a:srgbClr val="FF0000"/>
                          </a:solidFill>
                        </a:rPr>
                        <a:t>uname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;  </a:t>
                      </a:r>
                      <a:endParaRPr lang="en-US" sz="1800" dirty="0" smtClean="0">
                        <a:solidFill>
                          <a:srgbClr val="00B050"/>
                        </a:solidFill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solidFill>
                            <a:srgbClr val="00B050"/>
                          </a:solidFill>
                        </a:rPr>
                        <a:t>//retrieves the role from the $result</a:t>
                      </a:r>
                      <a:r>
                        <a:rPr lang="en-US" sz="1800" baseline="0" dirty="0" smtClean="0">
                          <a:solidFill>
                            <a:srgbClr val="00B050"/>
                          </a:solidFill>
                        </a:rPr>
                        <a:t> array of the returned query</a:t>
                      </a:r>
                      <a:endParaRPr lang="en-US" sz="1800" dirty="0" smtClean="0">
                        <a:solidFill>
                          <a:srgbClr val="00B050"/>
                        </a:solidFill>
                      </a:endParaRPr>
                    </a:p>
                    <a:p>
                      <a:pPr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while($row = </a:t>
                      </a:r>
                      <a:r>
                        <a:rPr lang="en-US" sz="1800" dirty="0" err="1" smtClean="0">
                          <a:solidFill>
                            <a:srgbClr val="FF0000"/>
                          </a:solidFill>
                        </a:rPr>
                        <a:t>mysqli_fetch_array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($result))</a:t>
                      </a:r>
                    </a:p>
                    <a:p>
                      <a:pPr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  { 	  $</a:t>
                      </a:r>
                      <a:r>
                        <a:rPr lang="en-US" sz="1800" dirty="0" err="1" smtClean="0">
                          <a:solidFill>
                            <a:srgbClr val="FF0000"/>
                          </a:solidFill>
                        </a:rPr>
                        <a:t>roletype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 = $row['</a:t>
                      </a:r>
                      <a:r>
                        <a:rPr lang="en-US" sz="1800" dirty="0" err="1" smtClean="0">
                          <a:solidFill>
                            <a:srgbClr val="FF0000"/>
                          </a:solidFill>
                        </a:rPr>
                        <a:t>usertype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']; } </a:t>
                      </a:r>
                      <a:r>
                        <a:rPr lang="en-US" sz="1800" dirty="0" smtClean="0">
                          <a:solidFill>
                            <a:srgbClr val="00B050"/>
                          </a:solidFill>
                        </a:rPr>
                        <a:t>//assign result</a:t>
                      </a:r>
                      <a:r>
                        <a:rPr lang="en-US" sz="1800" baseline="0" dirty="0" smtClean="0">
                          <a:solidFill>
                            <a:srgbClr val="00B050"/>
                          </a:solidFill>
                        </a:rPr>
                        <a:t> to variable $</a:t>
                      </a:r>
                      <a:r>
                        <a:rPr lang="en-US" sz="1800" baseline="0" dirty="0" err="1" smtClean="0">
                          <a:solidFill>
                            <a:srgbClr val="00B050"/>
                          </a:solidFill>
                        </a:rPr>
                        <a:t>roletype</a:t>
                      </a:r>
                      <a:endParaRPr lang="en-US" sz="1800" baseline="0" dirty="0" smtClean="0">
                        <a:solidFill>
                          <a:srgbClr val="00B050"/>
                        </a:solidFill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solidFill>
                            <a:srgbClr val="00B050"/>
                          </a:solidFill>
                        </a:rPr>
                        <a:t>//create a new session variable: </a:t>
                      </a:r>
                      <a:r>
                        <a:rPr lang="en-US" sz="1800" dirty="0" err="1" smtClean="0">
                          <a:solidFill>
                            <a:srgbClr val="00B050"/>
                          </a:solidFill>
                        </a:rPr>
                        <a:t>userrole</a:t>
                      </a:r>
                      <a:r>
                        <a:rPr lang="en-US" sz="1800" dirty="0" smtClean="0">
                          <a:solidFill>
                            <a:srgbClr val="00B050"/>
                          </a:solidFill>
                        </a:rPr>
                        <a:t>,  and pass the </a:t>
                      </a:r>
                      <a:r>
                        <a:rPr lang="en-US" sz="1800" dirty="0" err="1" smtClean="0">
                          <a:solidFill>
                            <a:srgbClr val="00B050"/>
                          </a:solidFill>
                        </a:rPr>
                        <a:t>roletype</a:t>
                      </a:r>
                      <a:r>
                        <a:rPr lang="en-US" sz="1800" dirty="0" smtClean="0">
                          <a:solidFill>
                            <a:srgbClr val="00B050"/>
                          </a:solidFill>
                        </a:rPr>
                        <a:t> to it</a:t>
                      </a:r>
                    </a:p>
                    <a:p>
                      <a:pPr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$_SESSION[‘</a:t>
                      </a:r>
                      <a:r>
                        <a:rPr lang="en-US" sz="1800" dirty="0" err="1" smtClean="0">
                          <a:solidFill>
                            <a:srgbClr val="FF0000"/>
                          </a:solidFill>
                        </a:rPr>
                        <a:t>userrole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'] = $</a:t>
                      </a:r>
                      <a:r>
                        <a:rPr lang="en-US" sz="1800" dirty="0" err="1" smtClean="0">
                          <a:solidFill>
                            <a:srgbClr val="FF0000"/>
                          </a:solidFill>
                        </a:rPr>
                        <a:t>roletype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; 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590800" y="1905000"/>
            <a:ext cx="1111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Login.php</a:t>
            </a:r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3948668"/>
              </p:ext>
            </p:extLst>
          </p:nvPr>
        </p:nvGraphicFramePr>
        <p:xfrm>
          <a:off x="533400" y="1524000"/>
          <a:ext cx="8229600" cy="6096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229600"/>
              </a:tblGrid>
              <a:tr h="609600">
                <a:tc>
                  <a:txBody>
                    <a:bodyPr/>
                    <a:lstStyle/>
                    <a:p>
                      <a:r>
                        <a:rPr lang="en-US" sz="32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Step</a:t>
                      </a:r>
                      <a:r>
                        <a:rPr lang="en-US" sz="3200" b="1" i="0" kern="1200" baseline="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3 </a:t>
                      </a:r>
                      <a:r>
                        <a:rPr lang="en-US" sz="1800" b="0" i="0" kern="1200" baseline="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– Create the sessions</a:t>
                      </a:r>
                      <a:endParaRPr lang="en-SG" sz="40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8689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smtClean="0"/>
              <a:t>Login example – </a:t>
            </a:r>
            <a:r>
              <a:rPr lang="en-US" sz="3600" dirty="0" err="1" smtClean="0"/>
              <a:t>login.php</a:t>
            </a:r>
            <a:endParaRPr lang="en-US" sz="3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pPr/>
              <a:t>12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4421729"/>
              </p:ext>
            </p:extLst>
          </p:nvPr>
        </p:nvGraphicFramePr>
        <p:xfrm>
          <a:off x="533400" y="2274332"/>
          <a:ext cx="8153400" cy="437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53400"/>
              </a:tblGrid>
              <a:tr h="4126468">
                <a:tc>
                  <a:txBody>
                    <a:bodyPr/>
                    <a:lstStyle/>
                    <a:p>
                      <a:pPr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 if($</a:t>
                      </a:r>
                      <a:r>
                        <a:rPr lang="en-US" sz="1800" dirty="0" err="1" smtClean="0">
                          <a:solidFill>
                            <a:srgbClr val="FF0000"/>
                          </a:solidFill>
                        </a:rPr>
                        <a:t>roletype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=="admin</a:t>
                      </a:r>
                      <a:r>
                        <a:rPr lang="en-US" sz="1800" dirty="0" smtClean="0">
                          <a:solidFill>
                            <a:srgbClr val="00B050"/>
                          </a:solidFill>
                        </a:rPr>
                        <a:t>")             // check if $</a:t>
                      </a:r>
                      <a:r>
                        <a:rPr lang="en-US" sz="1800" dirty="0" err="1" smtClean="0">
                          <a:solidFill>
                            <a:srgbClr val="00B050"/>
                          </a:solidFill>
                        </a:rPr>
                        <a:t>roletype</a:t>
                      </a:r>
                      <a:r>
                        <a:rPr lang="en-US" sz="1800" dirty="0" smtClean="0">
                          <a:solidFill>
                            <a:srgbClr val="00B050"/>
                          </a:solidFill>
                        </a:rPr>
                        <a:t> == "admin"  </a:t>
                      </a:r>
                    </a:p>
                    <a:p>
                      <a:pPr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{header ("Location: </a:t>
                      </a:r>
                      <a:r>
                        <a:rPr lang="en-US" sz="1800" dirty="0" err="1" smtClean="0">
                          <a:solidFill>
                            <a:srgbClr val="FF0000"/>
                          </a:solidFill>
                        </a:rPr>
                        <a:t>adminpage.php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");} </a:t>
                      </a:r>
                      <a:r>
                        <a:rPr lang="en-US" sz="1800" dirty="0" smtClean="0">
                          <a:solidFill>
                            <a:srgbClr val="00B050"/>
                          </a:solidFill>
                        </a:rPr>
                        <a:t>//redirect to </a:t>
                      </a:r>
                      <a:r>
                        <a:rPr lang="en-US" sz="1800" dirty="0" err="1" smtClean="0">
                          <a:solidFill>
                            <a:srgbClr val="00B050"/>
                          </a:solidFill>
                        </a:rPr>
                        <a:t>adminpage.php</a:t>
                      </a:r>
                      <a:endParaRPr lang="en-US" sz="1800" dirty="0" smtClean="0">
                        <a:solidFill>
                          <a:srgbClr val="00B050"/>
                        </a:solidFill>
                      </a:endParaRPr>
                    </a:p>
                    <a:p>
                      <a:pPr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else</a:t>
                      </a:r>
                    </a:p>
                    <a:p>
                      <a:pPr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{ </a:t>
                      </a:r>
                      <a:r>
                        <a:rPr lang="en-US" sz="1800" dirty="0" smtClean="0">
                          <a:solidFill>
                            <a:srgbClr val="00B050"/>
                          </a:solidFill>
                        </a:rPr>
                        <a:t>//else members are  redirected to </a:t>
                      </a:r>
                      <a:r>
                        <a:rPr lang="en-US" sz="1800" dirty="0" err="1" smtClean="0">
                          <a:solidFill>
                            <a:srgbClr val="00B050"/>
                          </a:solidFill>
                        </a:rPr>
                        <a:t>memberspage.php</a:t>
                      </a:r>
                      <a:endParaRPr lang="en-US" sz="1800" dirty="0" smtClean="0">
                        <a:solidFill>
                          <a:srgbClr val="FF0000"/>
                        </a:solidFill>
                      </a:endParaRPr>
                    </a:p>
                    <a:p>
                      <a:pPr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 header ("Location: </a:t>
                      </a:r>
                      <a:r>
                        <a:rPr lang="en-US" sz="1800" dirty="0" err="1" smtClean="0">
                          <a:solidFill>
                            <a:srgbClr val="FF0000"/>
                          </a:solidFill>
                        </a:rPr>
                        <a:t>memberspage.php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");}  </a:t>
                      </a:r>
                    </a:p>
                    <a:p>
                      <a:pPr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}  </a:t>
                      </a:r>
                    </a:p>
                    <a:p>
                      <a:pPr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else { </a:t>
                      </a:r>
                    </a:p>
                    <a:p>
                      <a:pPr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sz="1800" dirty="0" smtClean="0">
                          <a:solidFill>
                            <a:srgbClr val="00B050"/>
                          </a:solidFill>
                        </a:rPr>
                        <a:t>// user not found or invalid login</a:t>
                      </a:r>
                    </a:p>
                    <a:p>
                      <a:pPr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header ("Location: </a:t>
                      </a:r>
                      <a:r>
                        <a:rPr lang="en-US" sz="1800" dirty="0" err="1" smtClean="0">
                          <a:solidFill>
                            <a:srgbClr val="FF0000"/>
                          </a:solidFill>
                        </a:rPr>
                        <a:t>errorlogin.php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"); // user not found, redirect to </a:t>
                      </a:r>
                      <a:r>
                        <a:rPr lang="en-US" sz="1800" dirty="0" err="1" smtClean="0">
                          <a:solidFill>
                            <a:srgbClr val="FF0000"/>
                          </a:solidFill>
                        </a:rPr>
                        <a:t>errorlogin.php</a:t>
                      </a:r>
                      <a:endParaRPr lang="en-US" sz="1800" dirty="0" smtClean="0">
                        <a:solidFill>
                          <a:srgbClr val="FF0000"/>
                        </a:solidFill>
                      </a:endParaRPr>
                    </a:p>
                    <a:p>
                      <a:pPr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}</a:t>
                      </a:r>
                    </a:p>
                    <a:p>
                      <a:pPr>
                        <a:spcAft>
                          <a:spcPts val="1000"/>
                        </a:spcAft>
                        <a:buNone/>
                      </a:pPr>
                      <a:endParaRPr lang="en-US" sz="1800" dirty="0" smtClean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590800" y="1905000"/>
            <a:ext cx="1111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Login.php</a:t>
            </a:r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5731396"/>
              </p:ext>
            </p:extLst>
          </p:nvPr>
        </p:nvGraphicFramePr>
        <p:xfrm>
          <a:off x="533400" y="1295400"/>
          <a:ext cx="8229600" cy="8534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229600"/>
              </a:tblGrid>
              <a:tr h="609600">
                <a:tc>
                  <a:txBody>
                    <a:bodyPr/>
                    <a:lstStyle/>
                    <a:p>
                      <a:r>
                        <a:rPr lang="en-US" sz="32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Step</a:t>
                      </a:r>
                      <a:r>
                        <a:rPr lang="en-US" sz="3200" b="1" i="0" kern="1200" baseline="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4 </a:t>
                      </a:r>
                      <a:r>
                        <a:rPr lang="en-US" sz="1800" b="0" i="0" kern="1200" baseline="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– redirect the user accordingly to his role. Note header(“Location: target.html”) is used to redirect to the target.html  page.</a:t>
                      </a:r>
                      <a:endParaRPr lang="en-SG" sz="40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9851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smtClean="0"/>
              <a:t>Securing </a:t>
            </a:r>
            <a:r>
              <a:rPr lang="en-US" sz="3600" dirty="0"/>
              <a:t>your webpage</a:t>
            </a:r>
            <a:r>
              <a:rPr lang="en-US" sz="2000" dirty="0"/>
              <a:t> (Admin access only page)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pPr/>
              <a:t>13</a:t>
            </a:fld>
            <a:endParaRPr lang="en-US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6907167"/>
              </p:ext>
            </p:extLst>
          </p:nvPr>
        </p:nvGraphicFramePr>
        <p:xfrm>
          <a:off x="533400" y="1341120"/>
          <a:ext cx="8229600" cy="6096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229600"/>
              </a:tblGrid>
              <a:tr h="609600">
                <a:tc>
                  <a:txBody>
                    <a:bodyPr/>
                    <a:lstStyle/>
                    <a:p>
                      <a:r>
                        <a:rPr lang="en-US" sz="32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Three possible </a:t>
                      </a:r>
                      <a:r>
                        <a:rPr lang="en-US" sz="3200" b="1" i="0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scenerios</a:t>
                      </a:r>
                      <a:r>
                        <a:rPr lang="en-US" sz="1800" b="0" i="0" kern="1200" baseline="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SG" sz="40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0364180"/>
              </p:ext>
            </p:extLst>
          </p:nvPr>
        </p:nvGraphicFramePr>
        <p:xfrm>
          <a:off x="990600" y="2286000"/>
          <a:ext cx="7315201" cy="3048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63154"/>
                <a:gridCol w="3598756"/>
                <a:gridCol w="3353291"/>
              </a:tblGrid>
              <a:tr h="10160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800" dirty="0">
                          <a:effectLst/>
                        </a:rPr>
                        <a:t>1</a:t>
                      </a:r>
                      <a:endParaRPr lang="en-US" sz="2400" dirty="0">
                        <a:effectLst/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800">
                          <a:effectLst/>
                        </a:rPr>
                        <a:t>Person did not log in</a:t>
                      </a:r>
                      <a:endParaRPr lang="en-US" sz="2400">
                        <a:effectLst/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800" dirty="0" smtClean="0">
                          <a:effectLst/>
                        </a:rPr>
                        <a:t>Redirect to </a:t>
                      </a:r>
                      <a:r>
                        <a:rPr lang="en-SG" sz="1800" dirty="0">
                          <a:effectLst/>
                        </a:rPr>
                        <a:t>login </a:t>
                      </a:r>
                      <a:r>
                        <a:rPr lang="en-SG" sz="1800" dirty="0" smtClean="0">
                          <a:effectLst/>
                        </a:rPr>
                        <a:t>form</a:t>
                      </a:r>
                      <a:endParaRPr lang="en-US" sz="2400" dirty="0">
                        <a:effectLst/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10160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800" dirty="0">
                          <a:effectLst/>
                        </a:rPr>
                        <a:t>2</a:t>
                      </a:r>
                      <a:endParaRPr lang="en-US" sz="2400" dirty="0">
                        <a:effectLst/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800">
                          <a:effectLst/>
                        </a:rPr>
                        <a:t>Person is logged on but is a member</a:t>
                      </a:r>
                      <a:endParaRPr lang="en-US" sz="2400">
                        <a:effectLst/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800" dirty="0" smtClean="0">
                          <a:effectLst/>
                        </a:rPr>
                        <a:t>Redirect to denied </a:t>
                      </a:r>
                      <a:r>
                        <a:rPr lang="en-SG" sz="1800" dirty="0">
                          <a:effectLst/>
                        </a:rPr>
                        <a:t>page </a:t>
                      </a:r>
                      <a:r>
                        <a:rPr lang="en-SG" sz="1800" dirty="0" smtClean="0">
                          <a:effectLst/>
                        </a:rPr>
                        <a:t> </a:t>
                      </a:r>
                      <a:endParaRPr lang="en-US" sz="2400" dirty="0">
                        <a:effectLst/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10160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800">
                          <a:effectLst/>
                        </a:rPr>
                        <a:t>3</a:t>
                      </a:r>
                      <a:endParaRPr lang="en-US" sz="2400">
                        <a:effectLst/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800" dirty="0">
                          <a:effectLst/>
                        </a:rPr>
                        <a:t>Person is logged on and is an admin</a:t>
                      </a:r>
                      <a:endParaRPr lang="en-US" sz="2400" dirty="0">
                        <a:effectLst/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SG" sz="1800" dirty="0" smtClean="0">
                          <a:effectLst/>
                        </a:rPr>
                        <a:t>Allow access to this page</a:t>
                      </a:r>
                      <a:endParaRPr lang="en-US" sz="2400" dirty="0">
                        <a:effectLst/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920875" y="347027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SimSun" pitchFamily="2" charset="-122"/>
                <a:cs typeface="Times New Roman" pitchFamily="18" charset="0"/>
              </a:rPr>
              <a:t> 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4940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smtClean="0"/>
              <a:t>Securing a webpage </a:t>
            </a:r>
            <a:r>
              <a:rPr lang="en-US" sz="2400" dirty="0" smtClean="0"/>
              <a:t>(Admin access only page)</a:t>
            </a:r>
            <a:endParaRPr lang="en-US" sz="3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pPr/>
              <a:t>14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563917"/>
              </p:ext>
            </p:extLst>
          </p:nvPr>
        </p:nvGraphicFramePr>
        <p:xfrm>
          <a:off x="533400" y="2514600"/>
          <a:ext cx="8153400" cy="397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53400"/>
              </a:tblGrid>
              <a:tr h="3733800">
                <a:tc>
                  <a:txBody>
                    <a:bodyPr/>
                    <a:lstStyle/>
                    <a:p>
                      <a:pPr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&lt;?PHP</a:t>
                      </a:r>
                    </a:p>
                    <a:p>
                      <a:pPr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sz="1800" dirty="0" err="1" smtClean="0">
                          <a:solidFill>
                            <a:srgbClr val="FF0000"/>
                          </a:solidFill>
                        </a:rPr>
                        <a:t>session_start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(); </a:t>
                      </a:r>
                    </a:p>
                    <a:p>
                      <a:pPr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smtClean="0">
                          <a:solidFill>
                            <a:srgbClr val="00B050"/>
                          </a:solidFill>
                        </a:rPr>
                        <a:t>// check if user has login, if not direct user to login page</a:t>
                      </a:r>
                    </a:p>
                    <a:p>
                      <a:pPr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if (!(</a:t>
                      </a:r>
                      <a:r>
                        <a:rPr lang="en-US" sz="1800" dirty="0" err="1" smtClean="0">
                          <a:solidFill>
                            <a:srgbClr val="FF0000"/>
                          </a:solidFill>
                        </a:rPr>
                        <a:t>isset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($_SESSION['</a:t>
                      </a:r>
                      <a:r>
                        <a:rPr lang="en-US" sz="1800" dirty="0" err="1" smtClean="0">
                          <a:solidFill>
                            <a:srgbClr val="FF0000"/>
                          </a:solidFill>
                        </a:rPr>
                        <a:t>loginname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']) &amp;&amp; $_SESSION['</a:t>
                      </a:r>
                      <a:r>
                        <a:rPr lang="en-US" sz="1800" dirty="0" err="1" smtClean="0">
                          <a:solidFill>
                            <a:srgbClr val="FF0000"/>
                          </a:solidFill>
                        </a:rPr>
                        <a:t>loginname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'] != '')) {</a:t>
                      </a:r>
                    </a:p>
                    <a:p>
                      <a:pPr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header ("Location: </a:t>
                      </a:r>
                      <a:r>
                        <a:rPr lang="en-US" sz="1800" dirty="0" err="1" smtClean="0">
                          <a:solidFill>
                            <a:srgbClr val="FF0000"/>
                          </a:solidFill>
                        </a:rPr>
                        <a:t>pagelogin.php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");</a:t>
                      </a:r>
                    </a:p>
                    <a:p>
                      <a:pPr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}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solidFill>
                            <a:srgbClr val="00B050"/>
                          </a:solidFill>
                        </a:rPr>
                        <a:t>// check if user is login</a:t>
                      </a:r>
                      <a:r>
                        <a:rPr lang="en-US" sz="1800" baseline="0" dirty="0" smtClean="0">
                          <a:solidFill>
                            <a:srgbClr val="00B050"/>
                          </a:solidFill>
                        </a:rPr>
                        <a:t> and has admin role type, if not show access denied.</a:t>
                      </a:r>
                      <a:endParaRPr lang="en-US" sz="1800" dirty="0" smtClean="0">
                        <a:solidFill>
                          <a:srgbClr val="FF0000"/>
                        </a:solidFill>
                      </a:endParaRPr>
                    </a:p>
                    <a:p>
                      <a:pPr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err="1" smtClean="0">
                          <a:solidFill>
                            <a:srgbClr val="FF0000"/>
                          </a:solidFill>
                        </a:rPr>
                        <a:t>elseif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 (</a:t>
                      </a:r>
                      <a:r>
                        <a:rPr lang="en-US" sz="1800" dirty="0" err="1" smtClean="0">
                          <a:solidFill>
                            <a:srgbClr val="FF0000"/>
                          </a:solidFill>
                        </a:rPr>
                        <a:t>isset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($_SESSION['</a:t>
                      </a:r>
                      <a:r>
                        <a:rPr lang="en-US" sz="1800" dirty="0" err="1" smtClean="0">
                          <a:solidFill>
                            <a:srgbClr val="FF0000"/>
                          </a:solidFill>
                        </a:rPr>
                        <a:t>loginname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']) &amp;&amp; ($_SESSION[‘</a:t>
                      </a:r>
                      <a:r>
                        <a:rPr lang="en-US" sz="1800" dirty="0" err="1" smtClean="0">
                          <a:solidFill>
                            <a:srgbClr val="FF0000"/>
                          </a:solidFill>
                        </a:rPr>
                        <a:t>userrole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']!= "admin"))</a:t>
                      </a:r>
                    </a:p>
                    <a:p>
                      <a:pPr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{ header ("Location: </a:t>
                      </a:r>
                      <a:r>
                        <a:rPr lang="en-US" sz="1800" dirty="0" err="1" smtClean="0">
                          <a:solidFill>
                            <a:srgbClr val="FF0000"/>
                          </a:solidFill>
                        </a:rPr>
                        <a:t>access_denied.php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");}</a:t>
                      </a:r>
                    </a:p>
                    <a:p>
                      <a:pPr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?&gt;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590800" y="1905000"/>
            <a:ext cx="1111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Login.php</a:t>
            </a:r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5794821"/>
              </p:ext>
            </p:extLst>
          </p:nvPr>
        </p:nvGraphicFramePr>
        <p:xfrm>
          <a:off x="533400" y="1341120"/>
          <a:ext cx="8229600" cy="11277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229600"/>
              </a:tblGrid>
              <a:tr h="609600">
                <a:tc>
                  <a:txBody>
                    <a:bodyPr/>
                    <a:lstStyle/>
                    <a:p>
                      <a:r>
                        <a:rPr lang="en-US" sz="32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Preventing unauthorized access</a:t>
                      </a:r>
                      <a:r>
                        <a:rPr lang="en-US" sz="1800" b="0" i="0" kern="1200" baseline="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– Include this in every page that requires authorized access. If the person logged in is an admin </a:t>
                      </a:r>
                      <a:r>
                        <a:rPr lang="en-US" sz="1800" b="0" i="0" kern="1200" baseline="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userrole</a:t>
                      </a:r>
                      <a:r>
                        <a:rPr lang="en-US" sz="1800" b="0" i="0" kern="1200" baseline="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type, he should be able to see the html page after this set of codes.</a:t>
                      </a:r>
                      <a:endParaRPr lang="en-SG" sz="40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1315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smtClean="0"/>
              <a:t>Securing a webpage – </a:t>
            </a:r>
            <a:r>
              <a:rPr lang="en-US" sz="3600" dirty="0" err="1" smtClean="0"/>
              <a:t>Loggin</a:t>
            </a:r>
            <a:r>
              <a:rPr lang="en-US" sz="3600" dirty="0" smtClean="0"/>
              <a:t> out </a:t>
            </a:r>
            <a:endParaRPr lang="en-US" sz="3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pPr/>
              <a:t>15</a:t>
            </a:fld>
            <a:endParaRPr lang="en-US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6503241"/>
              </p:ext>
            </p:extLst>
          </p:nvPr>
        </p:nvGraphicFramePr>
        <p:xfrm>
          <a:off x="533400" y="1295400"/>
          <a:ext cx="8229600" cy="11277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229600"/>
              </a:tblGrid>
              <a:tr h="6096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Logging</a:t>
                      </a:r>
                      <a:r>
                        <a:rPr lang="en-US" sz="3200" b="1" i="0" kern="1200" baseline="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out - </a:t>
                      </a:r>
                      <a:r>
                        <a:rPr lang="en-US" sz="1800" b="0" i="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Using unset will destroy the session. Thereafter</a:t>
                      </a:r>
                      <a:r>
                        <a:rPr lang="en-US" sz="1800" b="0" i="0" kern="1200" baseline="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allow link to another page (</a:t>
                      </a:r>
                      <a:r>
                        <a:rPr lang="en-US" sz="1800" b="0" i="0" kern="1200" baseline="0" dirty="0" err="1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Eg</a:t>
                      </a:r>
                      <a:r>
                        <a:rPr lang="en-US" sz="1800" b="0" i="0" kern="1200" baseline="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. Home page) on the website.</a:t>
                      </a:r>
                      <a:endParaRPr lang="en-US" sz="1800" dirty="0" smtClean="0">
                        <a:solidFill>
                          <a:schemeClr val="bg1"/>
                        </a:solidFill>
                      </a:endParaRPr>
                    </a:p>
                    <a:p>
                      <a:endParaRPr lang="en-SG" sz="18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6359387"/>
              </p:ext>
            </p:extLst>
          </p:nvPr>
        </p:nvGraphicFramePr>
        <p:xfrm>
          <a:off x="533400" y="2209800"/>
          <a:ext cx="8305800" cy="419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05800"/>
              </a:tblGrid>
              <a:tr h="3733800">
                <a:tc>
                  <a:txBody>
                    <a:bodyPr/>
                    <a:lstStyle/>
                    <a:p>
                      <a:pPr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&lt;?PHP</a:t>
                      </a:r>
                    </a:p>
                    <a:p>
                      <a:pPr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err="1" smtClean="0">
                          <a:solidFill>
                            <a:srgbClr val="FF0000"/>
                          </a:solidFill>
                        </a:rPr>
                        <a:t>session_start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();</a:t>
                      </a:r>
                    </a:p>
                    <a:p>
                      <a:pPr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if(</a:t>
                      </a:r>
                      <a:r>
                        <a:rPr lang="en-US" sz="1800" dirty="0" err="1" smtClean="0">
                          <a:solidFill>
                            <a:srgbClr val="FF0000"/>
                          </a:solidFill>
                        </a:rPr>
                        <a:t>isset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($_SESSION['</a:t>
                      </a:r>
                      <a:r>
                        <a:rPr lang="en-US" sz="1800" dirty="0" err="1" smtClean="0">
                          <a:solidFill>
                            <a:srgbClr val="FF0000"/>
                          </a:solidFill>
                        </a:rPr>
                        <a:t>loginname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']))</a:t>
                      </a:r>
                    </a:p>
                    <a:p>
                      <a:pPr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  unset($_SESSION['</a:t>
                      </a:r>
                      <a:r>
                        <a:rPr lang="en-US" sz="1800" dirty="0" err="1" smtClean="0">
                          <a:solidFill>
                            <a:srgbClr val="FF0000"/>
                          </a:solidFill>
                        </a:rPr>
                        <a:t>loginname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']);</a:t>
                      </a:r>
                    </a:p>
                    <a:p>
                      <a:pPr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?&gt;</a:t>
                      </a:r>
                    </a:p>
                    <a:p>
                      <a:pPr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 smtClean="0">
                          <a:solidFill>
                            <a:srgbClr val="FF0000"/>
                          </a:solidFill>
                        </a:rPr>
                        <a:t>&lt;!DOCTYPE HTML&gt;</a:t>
                      </a:r>
                    </a:p>
                    <a:p>
                      <a:pPr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 smtClean="0">
                          <a:solidFill>
                            <a:srgbClr val="FF0000"/>
                          </a:solidFill>
                        </a:rPr>
                        <a:t> &lt;head&gt;         &lt;title&gt;Logout&lt;/title&gt; &lt;/head&gt;</a:t>
                      </a:r>
                    </a:p>
                    <a:p>
                      <a:pPr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 smtClean="0">
                          <a:solidFill>
                            <a:srgbClr val="FF0000"/>
                          </a:solidFill>
                        </a:rPr>
                        <a:t>&lt;body&gt;</a:t>
                      </a:r>
                    </a:p>
                    <a:p>
                      <a:pPr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 smtClean="0">
                          <a:solidFill>
                            <a:srgbClr val="FF0000"/>
                          </a:solidFill>
                        </a:rPr>
                        <a:t>&lt;h2&gt;You have logged out&lt;/h2&gt;</a:t>
                      </a:r>
                    </a:p>
                    <a:p>
                      <a:pPr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 smtClean="0">
                          <a:solidFill>
                            <a:srgbClr val="FF0000"/>
                          </a:solidFill>
                        </a:rPr>
                        <a:t>&lt;p&gt;&lt;a </a:t>
                      </a:r>
                      <a:r>
                        <a:rPr lang="en-US" sz="1600" dirty="0" err="1" smtClean="0">
                          <a:solidFill>
                            <a:srgbClr val="FF0000"/>
                          </a:solidFill>
                        </a:rPr>
                        <a:t>href</a:t>
                      </a:r>
                      <a:r>
                        <a:rPr lang="en-US" sz="1600" dirty="0" smtClean="0">
                          <a:solidFill>
                            <a:srgbClr val="FF0000"/>
                          </a:solidFill>
                        </a:rPr>
                        <a:t>=‘</a:t>
                      </a:r>
                      <a:r>
                        <a:rPr lang="en-US" sz="1600" dirty="0" err="1" smtClean="0">
                          <a:solidFill>
                            <a:srgbClr val="FF0000"/>
                          </a:solidFill>
                        </a:rPr>
                        <a:t>homepage.php</a:t>
                      </a:r>
                      <a:r>
                        <a:rPr lang="en-US" sz="1600" dirty="0" smtClean="0">
                          <a:solidFill>
                            <a:srgbClr val="FF0000"/>
                          </a:solidFill>
                        </a:rPr>
                        <a:t>'&gt;Return to Display Notes&lt;/a&gt;&lt;/p&gt;</a:t>
                      </a:r>
                    </a:p>
                    <a:p>
                      <a:pPr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 smtClean="0">
                          <a:solidFill>
                            <a:srgbClr val="FF0000"/>
                          </a:solidFill>
                        </a:rPr>
                        <a:t>&lt;/body&gt;&lt;/html&gt;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2948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smtClean="0"/>
              <a:t>Creating Dynamic Links</a:t>
            </a:r>
            <a:endParaRPr lang="en-US" sz="3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pPr/>
              <a:t>16</a:t>
            </a:fld>
            <a:endParaRPr lang="en-US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4361804"/>
              </p:ext>
            </p:extLst>
          </p:nvPr>
        </p:nvGraphicFramePr>
        <p:xfrm>
          <a:off x="533400" y="1295400"/>
          <a:ext cx="8229600" cy="10972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229600"/>
              </a:tblGrid>
              <a:tr h="6096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How to display dynamic</a:t>
                      </a:r>
                      <a:r>
                        <a:rPr lang="en-US" sz="2400" b="0" i="0" kern="1200" baseline="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login or logout screen depending on the login status.</a:t>
                      </a:r>
                      <a:endParaRPr lang="en-US" sz="1400" b="0" dirty="0" smtClean="0">
                        <a:solidFill>
                          <a:schemeClr val="bg1"/>
                        </a:solidFill>
                      </a:endParaRPr>
                    </a:p>
                    <a:p>
                      <a:endParaRPr lang="en-SG" sz="18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6" name="Picture 5"/>
          <p:cNvPicPr/>
          <p:nvPr/>
        </p:nvPicPr>
        <p:blipFill>
          <a:blip r:embed="rId3"/>
          <a:stretch>
            <a:fillRect/>
          </a:stretch>
        </p:blipFill>
        <p:spPr>
          <a:xfrm>
            <a:off x="152400" y="2490482"/>
            <a:ext cx="5067300" cy="1923415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4"/>
          <a:stretch>
            <a:fillRect/>
          </a:stretch>
        </p:blipFill>
        <p:spPr>
          <a:xfrm>
            <a:off x="2528570" y="4251877"/>
            <a:ext cx="5382260" cy="207645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3886200" y="2895600"/>
            <a:ext cx="1447800" cy="990600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6705600" y="4476845"/>
            <a:ext cx="1447800" cy="990600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342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smtClean="0"/>
              <a:t>Creating Dynamic Links</a:t>
            </a:r>
            <a:endParaRPr lang="en-US" sz="3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24466-CF14-4098-A57E-6BA1C4EB8FEB}" type="slidenum">
              <a:rPr lang="en-US" smtClean="0"/>
              <a:pPr/>
              <a:t>17</a:t>
            </a:fld>
            <a:endParaRPr lang="en-US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4776242"/>
              </p:ext>
            </p:extLst>
          </p:nvPr>
        </p:nvGraphicFramePr>
        <p:xfrm>
          <a:off x="533400" y="1295400"/>
          <a:ext cx="8229600" cy="1463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229600"/>
              </a:tblGrid>
              <a:tr h="6096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Within the menu list item, insert </a:t>
                      </a:r>
                      <a:r>
                        <a:rPr lang="en-US" sz="2400" b="0" i="0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php</a:t>
                      </a:r>
                      <a:r>
                        <a:rPr lang="en-US" sz="24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that will echo out the appropriate</a:t>
                      </a:r>
                      <a:r>
                        <a:rPr lang="en-US" sz="2400" b="0" i="0" kern="1200" baseline="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&lt;a </a:t>
                      </a:r>
                      <a:r>
                        <a:rPr lang="en-US" sz="2400" b="0" i="0" kern="1200" baseline="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href</a:t>
                      </a:r>
                      <a:r>
                        <a:rPr lang="en-US" sz="2400" b="0" i="0" kern="1200" baseline="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=….&gt;&lt;/a&gt; hyperlink tag and label, depending on if the session has been created or not.</a:t>
                      </a:r>
                      <a:endParaRPr lang="en-US" sz="1400" b="0" dirty="0" smtClean="0">
                        <a:solidFill>
                          <a:schemeClr val="bg1"/>
                        </a:solidFill>
                      </a:endParaRPr>
                    </a:p>
                    <a:p>
                      <a:endParaRPr lang="en-SG" sz="18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0887219"/>
              </p:ext>
            </p:extLst>
          </p:nvPr>
        </p:nvGraphicFramePr>
        <p:xfrm>
          <a:off x="457200" y="2667000"/>
          <a:ext cx="8305800" cy="397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05800"/>
              </a:tblGrid>
              <a:tr h="3733800">
                <a:tc>
                  <a:txBody>
                    <a:bodyPr/>
                    <a:lstStyle/>
                    <a:p>
                      <a:pPr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&lt;li&gt;	</a:t>
                      </a:r>
                    </a:p>
                    <a:p>
                      <a:pPr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&lt;?</a:t>
                      </a:r>
                      <a:r>
                        <a:rPr lang="en-US" sz="1800" dirty="0" err="1" smtClean="0">
                          <a:solidFill>
                            <a:srgbClr val="FF0000"/>
                          </a:solidFill>
                        </a:rPr>
                        <a:t>php</a:t>
                      </a:r>
                      <a:endParaRPr lang="en-US" sz="1800" dirty="0" smtClean="0">
                        <a:solidFill>
                          <a:srgbClr val="FF0000"/>
                        </a:solidFill>
                      </a:endParaRPr>
                    </a:p>
                    <a:p>
                      <a:pPr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		if(</a:t>
                      </a:r>
                      <a:r>
                        <a:rPr lang="en-US" sz="1800" dirty="0" err="1" smtClean="0">
                          <a:solidFill>
                            <a:srgbClr val="FF0000"/>
                          </a:solidFill>
                        </a:rPr>
                        <a:t>isset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($_SESSION['login']) &amp;&amp; $_SESSION['login']!="")</a:t>
                      </a:r>
                    </a:p>
                    <a:p>
                      <a:pPr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	{  // displays username</a:t>
                      </a:r>
                    </a:p>
                    <a:p>
                      <a:pPr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	 echo"&lt;a </a:t>
                      </a:r>
                      <a:r>
                        <a:rPr lang="en-US" sz="1800" dirty="0" err="1" smtClean="0">
                          <a:solidFill>
                            <a:srgbClr val="FF0000"/>
                          </a:solidFill>
                        </a:rPr>
                        <a:t>href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='</a:t>
                      </a:r>
                      <a:r>
                        <a:rPr lang="en-US" sz="1800" dirty="0" err="1" smtClean="0">
                          <a:solidFill>
                            <a:srgbClr val="FF0000"/>
                          </a:solidFill>
                        </a:rPr>
                        <a:t>logout.php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'&gt;Logout ".$_SESSION['login']."&lt;/a&gt;";</a:t>
                      </a:r>
                    </a:p>
                    <a:p>
                      <a:pPr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	}</a:t>
                      </a:r>
                    </a:p>
                    <a:p>
                      <a:pPr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	else</a:t>
                      </a:r>
                    </a:p>
                    <a:p>
                      <a:pPr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	{  echo("&lt;a </a:t>
                      </a:r>
                      <a:r>
                        <a:rPr lang="en-US" sz="1800" dirty="0" err="1" smtClean="0">
                          <a:solidFill>
                            <a:srgbClr val="FF0000"/>
                          </a:solidFill>
                        </a:rPr>
                        <a:t>href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='</a:t>
                      </a:r>
                      <a:r>
                        <a:rPr lang="en-US" sz="1800" dirty="0" err="1" smtClean="0">
                          <a:solidFill>
                            <a:srgbClr val="FF0000"/>
                          </a:solidFill>
                        </a:rPr>
                        <a:t>pagelogin.php</a:t>
                      </a: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'&gt;Login&lt;/a&gt; ");		}</a:t>
                      </a:r>
                    </a:p>
                    <a:p>
                      <a:pPr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?&gt;	</a:t>
                      </a:r>
                    </a:p>
                    <a:p>
                      <a:pPr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&lt;/li&gt;	</a:t>
                      </a:r>
                      <a:endParaRPr lang="en-US" sz="1600" dirty="0" smtClean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7858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pt 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F24B5D243E8524B805AE9E6462128D5" ma:contentTypeVersion="0" ma:contentTypeDescription="Create a new document." ma:contentTypeScope="" ma:versionID="e66dd09a9d80fa3eca15220829d7fdcb">
  <xsd:schema xmlns:xsd="http://www.w3.org/2001/XMLSchema" xmlns:p="http://schemas.microsoft.com/office/2006/metadata/properties" targetNamespace="http://schemas.microsoft.com/office/2006/metadata/properties" ma:root="true" ma:fieldsID="4aeb20c0e3442673af7ee1078645876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2.xml><?xml version="1.0" encoding="utf-8"?>
<p:properties xmlns:p="http://schemas.microsoft.com/office/2006/metadata/properties" xmlns:xsi="http://www.w3.org/2001/XMLSchema-instance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DA0D4D3-22A4-4BA6-B72A-0EA0A9DD589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2.xml><?xml version="1.0" encoding="utf-8"?>
<ds:datastoreItem xmlns:ds="http://schemas.openxmlformats.org/officeDocument/2006/customXml" ds:itemID="{2CAF96FE-069F-4E95-9021-A70B136A67F9}">
  <ds:schemaRefs>
    <ds:schemaRef ds:uri="http://purl.org/dc/terms/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E4A77F67-C282-4373-9A32-27375E74953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9491</TotalTime>
  <Words>1223</Words>
  <Application>Microsoft Office PowerPoint</Application>
  <PresentationFormat>On-screen Show (4:3)</PresentationFormat>
  <Paragraphs>179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SimSun</vt:lpstr>
      <vt:lpstr>Arial</vt:lpstr>
      <vt:lpstr>Calibri</vt:lpstr>
      <vt:lpstr>Times New Roman</vt:lpstr>
      <vt:lpstr>Wingdings</vt:lpstr>
      <vt:lpstr>ppt template</vt:lpstr>
      <vt:lpstr>Sessions &amp; Login</vt:lpstr>
      <vt:lpstr>IT1322 – Principles of Web Usability Design</vt:lpstr>
      <vt:lpstr>PHP Session Variables</vt:lpstr>
      <vt:lpstr>PHP Starting a session</vt:lpstr>
      <vt:lpstr>Storing a Session Variable  </vt:lpstr>
      <vt:lpstr>Storing a Session Variable Example 2</vt:lpstr>
      <vt:lpstr>Destroying a session</vt:lpstr>
      <vt:lpstr>Login Example</vt:lpstr>
      <vt:lpstr>Login example – login.php</vt:lpstr>
      <vt:lpstr>Login example – login.php</vt:lpstr>
      <vt:lpstr>Login example – login.php</vt:lpstr>
      <vt:lpstr>Login example – login.php</vt:lpstr>
      <vt:lpstr>Securing your webpage (Admin access only page)</vt:lpstr>
      <vt:lpstr>Securing a webpage (Admin access only page)</vt:lpstr>
      <vt:lpstr>Securing a webpage – Loggin out </vt:lpstr>
      <vt:lpstr>Creating Dynamic Links</vt:lpstr>
      <vt:lpstr>Creating Dynamic Links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IT1322 – Principles of Web Usability Design</dc:title>
  <dc:creator>EvyLim</dc:creator>
  <cp:lastModifiedBy>tommy low</cp:lastModifiedBy>
  <cp:revision>296</cp:revision>
  <dcterms:created xsi:type="dcterms:W3CDTF">2012-03-19T05:26:54Z</dcterms:created>
  <dcterms:modified xsi:type="dcterms:W3CDTF">2014-09-17T17:37:31Z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0x010100CF24B5D243E8524B805AE9E6462128D5</vt:lpwstr>
  </property>
</Properties>
</file>