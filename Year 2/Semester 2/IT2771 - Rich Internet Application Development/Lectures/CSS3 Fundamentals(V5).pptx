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8"/>
  </p:notesMasterIdLst>
  <p:sldIdLst>
    <p:sldId id="364" r:id="rId5"/>
    <p:sldId id="256" r:id="rId6"/>
    <p:sldId id="310" r:id="rId7"/>
    <p:sldId id="311" r:id="rId8"/>
    <p:sldId id="312" r:id="rId9"/>
    <p:sldId id="313" r:id="rId10"/>
    <p:sldId id="314" r:id="rId11"/>
    <p:sldId id="316" r:id="rId12"/>
    <p:sldId id="315" r:id="rId13"/>
    <p:sldId id="318" r:id="rId14"/>
    <p:sldId id="317" r:id="rId15"/>
    <p:sldId id="359" r:id="rId16"/>
    <p:sldId id="319" r:id="rId17"/>
    <p:sldId id="321" r:id="rId18"/>
    <p:sldId id="320" r:id="rId19"/>
    <p:sldId id="323" r:id="rId20"/>
    <p:sldId id="322" r:id="rId21"/>
    <p:sldId id="358" r:id="rId22"/>
    <p:sldId id="324" r:id="rId23"/>
    <p:sldId id="325" r:id="rId24"/>
    <p:sldId id="326" r:id="rId25"/>
    <p:sldId id="327" r:id="rId26"/>
    <p:sldId id="328" r:id="rId27"/>
    <p:sldId id="330" r:id="rId28"/>
    <p:sldId id="331" r:id="rId29"/>
    <p:sldId id="332" r:id="rId30"/>
    <p:sldId id="329" r:id="rId31"/>
    <p:sldId id="338" r:id="rId32"/>
    <p:sldId id="340" r:id="rId33"/>
    <p:sldId id="341" r:id="rId34"/>
    <p:sldId id="339" r:id="rId35"/>
    <p:sldId id="365" r:id="rId36"/>
    <p:sldId id="366" r:id="rId37"/>
    <p:sldId id="361" r:id="rId38"/>
    <p:sldId id="363" r:id="rId39"/>
    <p:sldId id="342" r:id="rId40"/>
    <p:sldId id="344" r:id="rId41"/>
    <p:sldId id="343" r:id="rId42"/>
    <p:sldId id="345" r:id="rId43"/>
    <p:sldId id="362" r:id="rId44"/>
    <p:sldId id="347" r:id="rId45"/>
    <p:sldId id="349" r:id="rId46"/>
    <p:sldId id="360" r:id="rId47"/>
    <p:sldId id="369" r:id="rId48"/>
    <p:sldId id="367" r:id="rId49"/>
    <p:sldId id="351" r:id="rId50"/>
    <p:sldId id="368" r:id="rId51"/>
    <p:sldId id="352" r:id="rId52"/>
    <p:sldId id="353" r:id="rId53"/>
    <p:sldId id="354" r:id="rId54"/>
    <p:sldId id="355" r:id="rId55"/>
    <p:sldId id="356" r:id="rId56"/>
    <p:sldId id="357"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8" autoAdjust="0"/>
    <p:restoredTop sz="72245" autoAdjust="0"/>
  </p:normalViewPr>
  <p:slideViewPr>
    <p:cSldViewPr>
      <p:cViewPr varScale="1">
        <p:scale>
          <a:sx n="65" d="100"/>
          <a:sy n="65" d="100"/>
        </p:scale>
        <p:origin x="570" y="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28-Sep-18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css3.bradshawenterprises.com/cfimg/"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SG" sz="1200" b="0" i="0" kern="1200" dirty="0" smtClean="0">
                <a:solidFill>
                  <a:schemeClr val="tx1"/>
                </a:solidFill>
                <a:latin typeface="+mn-lt"/>
                <a:ea typeface="+mn-ea"/>
                <a:cs typeface="+mn-cs"/>
              </a:rPr>
              <a:t>The </a:t>
            </a:r>
            <a:r>
              <a:rPr lang="en-SG" sz="1200" b="0" i="0" kern="1200" dirty="0" err="1" smtClean="0">
                <a:solidFill>
                  <a:schemeClr val="tx1"/>
                </a:solidFill>
                <a:latin typeface="+mn-lt"/>
                <a:ea typeface="+mn-ea"/>
                <a:cs typeface="+mn-cs"/>
              </a:rPr>
              <a:t>CSS3</a:t>
            </a:r>
            <a:r>
              <a:rPr lang="en-SG" sz="1200" b="0" i="0" kern="1200" dirty="0" smtClean="0">
                <a:solidFill>
                  <a:schemeClr val="tx1"/>
                </a:solidFill>
                <a:latin typeface="+mn-lt"/>
                <a:ea typeface="+mn-ea"/>
                <a:cs typeface="+mn-cs"/>
              </a:rPr>
              <a:t> specification is still under development by </a:t>
            </a:r>
            <a:r>
              <a:rPr lang="en-SG" sz="1200" b="0" i="0" kern="1200" dirty="0" err="1" smtClean="0">
                <a:solidFill>
                  <a:schemeClr val="tx1"/>
                </a:solidFill>
                <a:latin typeface="+mn-lt"/>
                <a:ea typeface="+mn-ea"/>
                <a:cs typeface="+mn-cs"/>
              </a:rPr>
              <a:t>W3C</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However, many of the new </a:t>
            </a:r>
            <a:r>
              <a:rPr lang="en-SG" sz="1200" b="0" i="0" kern="1200" dirty="0" err="1" smtClean="0">
                <a:solidFill>
                  <a:schemeClr val="tx1"/>
                </a:solidFill>
                <a:latin typeface="+mn-lt"/>
                <a:ea typeface="+mn-ea"/>
                <a:cs typeface="+mn-cs"/>
              </a:rPr>
              <a:t>CSS3</a:t>
            </a:r>
            <a:r>
              <a:rPr lang="en-SG" sz="1200" b="0" i="0" kern="1200" dirty="0" smtClean="0">
                <a:solidFill>
                  <a:schemeClr val="tx1"/>
                </a:solidFill>
                <a:latin typeface="+mn-lt"/>
                <a:ea typeface="+mn-ea"/>
                <a:cs typeface="+mn-cs"/>
              </a:rPr>
              <a:t> properties have been implemented in modern browsers. </a:t>
            </a:r>
            <a:endParaRPr lang="en-SG"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244505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SG" sz="1200" b="0" i="0" kern="1200" dirty="0" smtClean="0">
                <a:solidFill>
                  <a:schemeClr val="tx1"/>
                </a:solidFill>
                <a:latin typeface="+mn-lt"/>
                <a:ea typeface="+mn-ea"/>
                <a:cs typeface="+mn-cs"/>
              </a:rPr>
              <a:t>The </a:t>
            </a:r>
            <a:r>
              <a:rPr lang="en-SG" sz="1200" b="0" i="0" kern="1200" dirty="0" err="1" smtClean="0">
                <a:solidFill>
                  <a:schemeClr val="tx1"/>
                </a:solidFill>
                <a:latin typeface="+mn-lt"/>
                <a:ea typeface="+mn-ea"/>
                <a:cs typeface="+mn-cs"/>
              </a:rPr>
              <a:t>CSS3</a:t>
            </a:r>
            <a:r>
              <a:rPr lang="en-SG" sz="1200" b="0" i="0" kern="1200" dirty="0" smtClean="0">
                <a:solidFill>
                  <a:schemeClr val="tx1"/>
                </a:solidFill>
                <a:latin typeface="+mn-lt"/>
                <a:ea typeface="+mn-ea"/>
                <a:cs typeface="+mn-cs"/>
              </a:rPr>
              <a:t> specification is still under development by </a:t>
            </a:r>
            <a:r>
              <a:rPr lang="en-SG" sz="1200" b="0" i="0" kern="1200" dirty="0" err="1" smtClean="0">
                <a:solidFill>
                  <a:schemeClr val="tx1"/>
                </a:solidFill>
                <a:latin typeface="+mn-lt"/>
                <a:ea typeface="+mn-ea"/>
                <a:cs typeface="+mn-cs"/>
              </a:rPr>
              <a:t>W3C</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However, many of the new </a:t>
            </a:r>
            <a:r>
              <a:rPr lang="en-SG" sz="1200" b="0" i="0" kern="1200" dirty="0" err="1" smtClean="0">
                <a:solidFill>
                  <a:schemeClr val="tx1"/>
                </a:solidFill>
                <a:latin typeface="+mn-lt"/>
                <a:ea typeface="+mn-ea"/>
                <a:cs typeface="+mn-cs"/>
              </a:rPr>
              <a:t>CSS3</a:t>
            </a:r>
            <a:r>
              <a:rPr lang="en-SG" sz="1200" b="0" i="0" kern="1200" dirty="0" smtClean="0">
                <a:solidFill>
                  <a:schemeClr val="tx1"/>
                </a:solidFill>
                <a:latin typeface="+mn-lt"/>
                <a:ea typeface="+mn-ea"/>
                <a:cs typeface="+mn-cs"/>
              </a:rPr>
              <a:t> properties have been implemented in modern browsers. </a:t>
            </a:r>
            <a:endParaRPr lang="en-SG"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3186118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PHP codes are embedded in a document</a:t>
            </a:r>
            <a:r>
              <a:rPr lang="en-US" sz="1200" b="0" i="0" kern="1200" baseline="0" dirty="0" smtClean="0">
                <a:solidFill>
                  <a:schemeClr val="tx1"/>
                </a:solidFill>
                <a:latin typeface="+mn-lt"/>
                <a:ea typeface="+mn-ea"/>
                <a:cs typeface="+mn-cs"/>
              </a:rPr>
              <a:t> using the &lt;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The CSS3 specification is still under development by W3C.</a:t>
            </a:r>
          </a:p>
          <a:p>
            <a:r>
              <a:rPr lang="en-US" sz="1200" b="0" i="0" kern="1200" dirty="0" smtClean="0">
                <a:solidFill>
                  <a:schemeClr val="tx1"/>
                </a:solidFill>
                <a:latin typeface="+mn-lt"/>
                <a:ea typeface="+mn-ea"/>
                <a:cs typeface="+mn-cs"/>
              </a:rPr>
              <a:t>However, many of the new CSS3 properties have been implemented in modern browsers.</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The CSS3 specification is still under development by W3C.</a:t>
            </a:r>
          </a:p>
          <a:p>
            <a:r>
              <a:rPr lang="en-US" sz="1200" b="0" i="0" kern="1200" dirty="0" smtClean="0">
                <a:solidFill>
                  <a:schemeClr val="tx1"/>
                </a:solidFill>
                <a:latin typeface="+mn-lt"/>
                <a:ea typeface="+mn-ea"/>
                <a:cs typeface="+mn-cs"/>
              </a:rPr>
              <a:t>However, many of the new CSS3 properties have been implemented in modern browsers.</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p>
          <a:p>
            <a:r>
              <a:rPr lang="en-US" sz="1200" b="0" i="0" kern="1200" dirty="0" smtClean="0">
                <a:solidFill>
                  <a:schemeClr val="tx1"/>
                </a:solidFill>
                <a:latin typeface="+mn-lt"/>
                <a:ea typeface="+mn-ea"/>
                <a:cs typeface="+mn-cs"/>
              </a:rPr>
              <a:t>Before CSS3, the background image size was determined by the actual size of the image. In CSS3 it is possible to specify the size of the background image, which allows us to re-use background images in different contexts.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r>
              <a:rPr lang="en-SG" sz="1200" b="0" i="0" kern="1200" dirty="0" smtClean="0">
                <a:solidFill>
                  <a:schemeClr val="tx1"/>
                </a:solidFill>
                <a:latin typeface="+mn-lt"/>
                <a:ea typeface="+mn-ea"/>
                <a:cs typeface="+mn-cs"/>
              </a:rPr>
              <a:t>Internet Explorer does not yet support the text-shadow property.</a:t>
            </a:r>
          </a:p>
          <a:p>
            <a:r>
              <a:rPr lang="en-SG" sz="1200" b="0" i="0" kern="1200" dirty="0" smtClean="0">
                <a:solidFill>
                  <a:schemeClr val="tx1"/>
                </a:solidFill>
                <a:latin typeface="+mn-lt"/>
                <a:ea typeface="+mn-ea"/>
                <a:cs typeface="+mn-cs"/>
              </a:rPr>
              <a:t>Firefox, Chrome, Safari, and Opera support the text-shadow property.</a:t>
            </a:r>
          </a:p>
          <a:p>
            <a:r>
              <a:rPr lang="en-SG" sz="1200" b="0" i="0" kern="1200" dirty="0" smtClean="0">
                <a:solidFill>
                  <a:schemeClr val="tx1"/>
                </a:solidFill>
                <a:latin typeface="+mn-lt"/>
                <a:ea typeface="+mn-ea"/>
                <a:cs typeface="+mn-cs"/>
              </a:rPr>
              <a:t>All major browsers support the word-wrap property.</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Internet Explorer 9+, Firefox, Chrome, Safari, and Opera support the WOFF (Web Open Font Format) font.</a:t>
            </a:r>
          </a:p>
          <a:p>
            <a:r>
              <a:rPr lang="en-US" sz="1200" b="0" i="0" kern="1200" dirty="0" smtClean="0">
                <a:solidFill>
                  <a:schemeClr val="tx1"/>
                </a:solidFill>
                <a:effectLst/>
                <a:latin typeface="+mn-lt"/>
                <a:ea typeface="+mn-ea"/>
                <a:cs typeface="+mn-cs"/>
              </a:rPr>
              <a:t>Firefox, Chrome, Safari, and Opera also support fonts of type TTF (True Type Fonts) and OTF (</a:t>
            </a:r>
            <a:r>
              <a:rPr lang="en-US" sz="1200" b="0" i="0" kern="1200" dirty="0" err="1" smtClean="0">
                <a:solidFill>
                  <a:schemeClr val="tx1"/>
                </a:solidFill>
                <a:effectLst/>
                <a:latin typeface="+mn-lt"/>
                <a:ea typeface="+mn-ea"/>
                <a:cs typeface="+mn-cs"/>
              </a:rPr>
              <a:t>OpenType</a:t>
            </a:r>
            <a:r>
              <a:rPr lang="en-US" sz="1200" b="0" i="0" kern="1200" dirty="0" smtClean="0">
                <a:solidFill>
                  <a:schemeClr val="tx1"/>
                </a:solidFill>
                <a:effectLst/>
                <a:latin typeface="+mn-lt"/>
                <a:ea typeface="+mn-ea"/>
                <a:cs typeface="+mn-cs"/>
              </a:rPr>
              <a:t> Fonts).</a:t>
            </a:r>
          </a:p>
          <a:p>
            <a:r>
              <a:rPr lang="en-US" sz="1200" b="0" i="0" kern="1200" dirty="0" smtClean="0">
                <a:solidFill>
                  <a:schemeClr val="tx1"/>
                </a:solidFill>
                <a:effectLst/>
                <a:latin typeface="+mn-lt"/>
                <a:ea typeface="+mn-ea"/>
                <a:cs typeface="+mn-cs"/>
              </a:rPr>
              <a:t>Chrome, Safari and Opera also support SVG fonts/shapes.</a:t>
            </a:r>
          </a:p>
          <a:p>
            <a:r>
              <a:rPr lang="en-US" sz="1200" b="0" i="0" kern="1200" dirty="0" smtClean="0">
                <a:solidFill>
                  <a:schemeClr val="tx1"/>
                </a:solidFill>
                <a:effectLst/>
                <a:latin typeface="+mn-lt"/>
                <a:ea typeface="+mn-ea"/>
                <a:cs typeface="+mn-cs"/>
              </a:rPr>
              <a:t>Internet Explorer also supports EOT (Embedded </a:t>
            </a:r>
            <a:r>
              <a:rPr lang="en-US" sz="1200" b="0" i="0" kern="1200" dirty="0" err="1" smtClean="0">
                <a:solidFill>
                  <a:schemeClr val="tx1"/>
                </a:solidFill>
                <a:effectLst/>
                <a:latin typeface="+mn-lt"/>
                <a:ea typeface="+mn-ea"/>
                <a:cs typeface="+mn-cs"/>
              </a:rPr>
              <a:t>OpenType</a:t>
            </a:r>
            <a:r>
              <a:rPr lang="en-US" sz="1200" b="0" i="0" kern="1200" dirty="0" smtClean="0">
                <a:solidFill>
                  <a:schemeClr val="tx1"/>
                </a:solidFill>
                <a:effectLst/>
                <a:latin typeface="+mn-lt"/>
                <a:ea typeface="+mn-ea"/>
                <a:cs typeface="+mn-cs"/>
              </a:rPr>
              <a:t>) fonts.</a:t>
            </a:r>
          </a:p>
          <a:p>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Internet Explorer 8 and earlier versions, do not support the @font-face rule.</a:t>
            </a: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Internet Explorer 10, Firefox, and Opera support the transform property.</a:t>
            </a:r>
          </a:p>
          <a:p>
            <a:r>
              <a:rPr lang="en-US" sz="1200" b="0" i="0" kern="1200" dirty="0" smtClean="0">
                <a:solidFill>
                  <a:schemeClr val="tx1"/>
                </a:solidFill>
                <a:effectLst/>
                <a:latin typeface="+mn-lt"/>
                <a:ea typeface="+mn-ea"/>
                <a:cs typeface="+mn-cs"/>
              </a:rPr>
              <a:t>Chrome and Safari requires the prefix -</a:t>
            </a:r>
            <a:r>
              <a:rPr lang="en-US" sz="1200" b="0" i="0" kern="1200" dirty="0" err="1" smtClean="0">
                <a:solidFill>
                  <a:schemeClr val="tx1"/>
                </a:solidFill>
                <a:effectLst/>
                <a:latin typeface="+mn-lt"/>
                <a:ea typeface="+mn-ea"/>
                <a:cs typeface="+mn-cs"/>
              </a:rPr>
              <a:t>webkit</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Internet Explorer 9 requires the prefix -</a:t>
            </a:r>
            <a:r>
              <a:rPr lang="en-US" sz="1200" b="0" i="0" kern="1200" dirty="0" err="1" smtClean="0">
                <a:solidFill>
                  <a:schemeClr val="tx1"/>
                </a:solidFill>
                <a:effectLst/>
                <a:latin typeface="+mn-lt"/>
                <a:ea typeface="+mn-ea"/>
                <a:cs typeface="+mn-cs"/>
              </a:rPr>
              <a:t>ms</a:t>
            </a:r>
            <a:r>
              <a:rPr lang="en-US" sz="1200" b="0" i="0" kern="1200" dirty="0" smtClean="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Internet Explorer 10, Firefox, Chrome, and Opera supports the transition property.</a:t>
            </a:r>
          </a:p>
          <a:p>
            <a:r>
              <a:rPr lang="en-US" sz="1200" b="0" i="0" kern="1200" dirty="0" smtClean="0">
                <a:solidFill>
                  <a:schemeClr val="tx1"/>
                </a:solidFill>
                <a:effectLst/>
                <a:latin typeface="+mn-lt"/>
                <a:ea typeface="+mn-ea"/>
                <a:cs typeface="+mn-cs"/>
              </a:rPr>
              <a:t>Safari requires the prefix -</a:t>
            </a:r>
            <a:r>
              <a:rPr lang="en-US" sz="1200" b="0" i="0" kern="1200" dirty="0" err="1" smtClean="0">
                <a:solidFill>
                  <a:schemeClr val="tx1"/>
                </a:solidFill>
                <a:effectLst/>
                <a:latin typeface="+mn-lt"/>
                <a:ea typeface="+mn-ea"/>
                <a:cs typeface="+mn-cs"/>
              </a:rPr>
              <a:t>webkit</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Internet Explorer 9, and earlier versions, does not support the transition property.</a:t>
            </a:r>
          </a:p>
          <a:p>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Chrome 25, and earlier versions, requires the prefix -</a:t>
            </a:r>
            <a:r>
              <a:rPr lang="en-US" sz="1200" b="0" i="0" kern="1200" dirty="0" err="1" smtClean="0">
                <a:solidFill>
                  <a:schemeClr val="tx1"/>
                </a:solidFill>
                <a:effectLst/>
                <a:latin typeface="+mn-lt"/>
                <a:ea typeface="+mn-ea"/>
                <a:cs typeface="+mn-cs"/>
              </a:rPr>
              <a:t>webkit</a:t>
            </a:r>
            <a:r>
              <a:rPr lang="en-US" sz="1200" b="0" i="0" kern="1200" dirty="0" smtClean="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r>
              <a:rPr lang="en-SG" sz="1200" b="0" i="0" kern="1200" dirty="0" smtClean="0">
                <a:solidFill>
                  <a:schemeClr val="tx1"/>
                </a:solidFill>
                <a:latin typeface="+mn-lt"/>
                <a:ea typeface="+mn-ea"/>
                <a:cs typeface="+mn-cs"/>
              </a:rPr>
              <a:t>Internet Explorer does not yet support the transition property.</a:t>
            </a:r>
          </a:p>
          <a:p>
            <a:r>
              <a:rPr lang="en-SG" sz="1200" b="0" i="0" kern="1200" dirty="0" smtClean="0">
                <a:solidFill>
                  <a:schemeClr val="tx1"/>
                </a:solidFill>
                <a:latin typeface="+mn-lt"/>
                <a:ea typeface="+mn-ea"/>
                <a:cs typeface="+mn-cs"/>
              </a:rPr>
              <a:t>Firefox 4 requires the prefix -</a:t>
            </a:r>
            <a:r>
              <a:rPr lang="en-SG" sz="1200" b="0" i="0" kern="1200" dirty="0" err="1" smtClean="0">
                <a:solidFill>
                  <a:schemeClr val="tx1"/>
                </a:solidFill>
                <a:latin typeface="+mn-lt"/>
                <a:ea typeface="+mn-ea"/>
                <a:cs typeface="+mn-cs"/>
              </a:rPr>
              <a:t>moz</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Chrome and Safari requires the prefix -</a:t>
            </a:r>
            <a:r>
              <a:rPr lang="en-SG" sz="1200" b="0" i="0" kern="1200" dirty="0" err="1" smtClean="0">
                <a:solidFill>
                  <a:schemeClr val="tx1"/>
                </a:solidFill>
                <a:latin typeface="+mn-lt"/>
                <a:ea typeface="+mn-ea"/>
                <a:cs typeface="+mn-cs"/>
              </a:rPr>
              <a:t>webkit</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Opera requires the prefix -o-.</a:t>
            </a: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Reference: http://www.w3schools.com/cssref/tryit.asp?filename=trycss3_transition</a:t>
            </a:r>
            <a:endParaRPr lang="en-SG" sz="1200" b="0" i="0" kern="1200" dirty="0" smtClean="0">
              <a:solidFill>
                <a:schemeClr val="tx1"/>
              </a:solidFill>
              <a:latin typeface="+mn-lt"/>
              <a:ea typeface="+mn-ea"/>
              <a:cs typeface="+mn-cs"/>
            </a:endParaRP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r>
              <a:rPr lang="en-SG" dirty="0" smtClean="0"/>
              <a:t>For Transition-duration</a:t>
            </a:r>
            <a:r>
              <a:rPr lang="en-SG" baseline="0" dirty="0" smtClean="0"/>
              <a:t> example: http://www.w3schools.com/cssref/css3_pr_transition-duration.asp</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32</a:t>
            </a:fld>
            <a:endParaRPr lang="en-US"/>
          </a:p>
        </p:txBody>
      </p:sp>
    </p:spTree>
    <p:extLst>
      <p:ext uri="{BB962C8B-B14F-4D97-AF65-F5344CB8AC3E}">
        <p14:creationId xmlns:p14="http://schemas.microsoft.com/office/powerpoint/2010/main" val="18493281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33</a:t>
            </a:fld>
            <a:endParaRPr lang="en-US"/>
          </a:p>
        </p:txBody>
      </p:sp>
    </p:spTree>
    <p:extLst>
      <p:ext uri="{BB962C8B-B14F-4D97-AF65-F5344CB8AC3E}">
        <p14:creationId xmlns:p14="http://schemas.microsoft.com/office/powerpoint/2010/main" val="28954769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Some</a:t>
            </a:r>
            <a:r>
              <a:rPr lang="en-SG" baseline="0" dirty="0" smtClean="0"/>
              <a:t> notable examples</a:t>
            </a:r>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refer to </a:t>
            </a:r>
            <a:r>
              <a:rPr lang="en-SG" dirty="0" err="1" smtClean="0">
                <a:hlinkClick r:id="rId3"/>
              </a:rPr>
              <a:t>http://css3.bradshawenterprises.com/cfimg/</a:t>
            </a:r>
            <a:r>
              <a:rPr lang="en-SG" dirty="0" smtClean="0"/>
              <a:t> for more examples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Internet Explorer 10, Firefox, and Opera supports the @</a:t>
            </a:r>
            <a:r>
              <a:rPr lang="en-US" sz="1200" b="0" i="0" kern="1200" dirty="0" err="1" smtClean="0">
                <a:solidFill>
                  <a:schemeClr val="tx1"/>
                </a:solidFill>
                <a:effectLst/>
                <a:latin typeface="+mn-lt"/>
                <a:ea typeface="+mn-ea"/>
                <a:cs typeface="+mn-cs"/>
              </a:rPr>
              <a:t>keyframes</a:t>
            </a:r>
            <a:r>
              <a:rPr lang="en-US" sz="1200" b="0" i="0" kern="1200" dirty="0" smtClean="0">
                <a:solidFill>
                  <a:schemeClr val="tx1"/>
                </a:solidFill>
                <a:effectLst/>
                <a:latin typeface="+mn-lt"/>
                <a:ea typeface="+mn-ea"/>
                <a:cs typeface="+mn-cs"/>
              </a:rPr>
              <a:t> rule and animation property.</a:t>
            </a:r>
          </a:p>
          <a:p>
            <a:r>
              <a:rPr lang="en-US" sz="1200" b="0" i="0" kern="1200" dirty="0" smtClean="0">
                <a:solidFill>
                  <a:schemeClr val="tx1"/>
                </a:solidFill>
                <a:effectLst/>
                <a:latin typeface="+mn-lt"/>
                <a:ea typeface="+mn-ea"/>
                <a:cs typeface="+mn-cs"/>
              </a:rPr>
              <a:t>Chrome and Safari requires the prefix -</a:t>
            </a:r>
            <a:r>
              <a:rPr lang="en-US" sz="1200" b="0" i="0" kern="1200" dirty="0" err="1" smtClean="0">
                <a:solidFill>
                  <a:schemeClr val="tx1"/>
                </a:solidFill>
                <a:effectLst/>
                <a:latin typeface="+mn-lt"/>
                <a:ea typeface="+mn-ea"/>
                <a:cs typeface="+mn-cs"/>
              </a:rPr>
              <a:t>webkit</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Internet Explorer 9, and earlier versions, does not support the @</a:t>
            </a:r>
            <a:r>
              <a:rPr lang="en-US" sz="1200" b="0" i="0" kern="1200" dirty="0" err="1" smtClean="0">
                <a:solidFill>
                  <a:schemeClr val="tx1"/>
                </a:solidFill>
                <a:effectLst/>
                <a:latin typeface="+mn-lt"/>
                <a:ea typeface="+mn-ea"/>
                <a:cs typeface="+mn-cs"/>
              </a:rPr>
              <a:t>keyframe</a:t>
            </a:r>
            <a:r>
              <a:rPr lang="en-US" sz="1200" b="0" i="0" kern="1200" dirty="0" smtClean="0">
                <a:solidFill>
                  <a:schemeClr val="tx1"/>
                </a:solidFill>
                <a:effectLst/>
                <a:latin typeface="+mn-lt"/>
                <a:ea typeface="+mn-ea"/>
                <a:cs typeface="+mn-cs"/>
              </a:rPr>
              <a:t> rule or animation property.</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r>
              <a:rPr lang="en-SG" dirty="0" smtClean="0"/>
              <a:t>I</a:t>
            </a:r>
            <a:r>
              <a:rPr lang="en-SG" sz="1200" b="0" i="0" kern="1200" dirty="0" smtClean="0">
                <a:solidFill>
                  <a:schemeClr val="tx1"/>
                </a:solidFill>
                <a:latin typeface="+mn-lt"/>
                <a:ea typeface="+mn-ea"/>
                <a:cs typeface="+mn-cs"/>
              </a:rPr>
              <a:t>nternet Explorer does not yet support the @</a:t>
            </a:r>
            <a:r>
              <a:rPr lang="en-SG" sz="1200" b="0" i="0" kern="1200" dirty="0" err="1" smtClean="0">
                <a:solidFill>
                  <a:schemeClr val="tx1"/>
                </a:solidFill>
                <a:latin typeface="+mn-lt"/>
                <a:ea typeface="+mn-ea"/>
                <a:cs typeface="+mn-cs"/>
              </a:rPr>
              <a:t>keyframes</a:t>
            </a:r>
            <a:r>
              <a:rPr lang="en-SG" sz="1200" b="0" i="0" kern="1200" dirty="0" smtClean="0">
                <a:solidFill>
                  <a:schemeClr val="tx1"/>
                </a:solidFill>
                <a:latin typeface="+mn-lt"/>
                <a:ea typeface="+mn-ea"/>
                <a:cs typeface="+mn-cs"/>
              </a:rPr>
              <a:t> rule or the animation property.</a:t>
            </a:r>
          </a:p>
          <a:p>
            <a:r>
              <a:rPr lang="en-SG" sz="1200" b="0" i="0" kern="1200" dirty="0" smtClean="0">
                <a:solidFill>
                  <a:schemeClr val="tx1"/>
                </a:solidFill>
                <a:latin typeface="+mn-lt"/>
                <a:ea typeface="+mn-ea"/>
                <a:cs typeface="+mn-cs"/>
              </a:rPr>
              <a:t>Firefox requires the prefix -</a:t>
            </a:r>
            <a:r>
              <a:rPr lang="en-SG" sz="1200" b="0" i="0" kern="1200" dirty="0" err="1" smtClean="0">
                <a:solidFill>
                  <a:schemeClr val="tx1"/>
                </a:solidFill>
                <a:latin typeface="+mn-lt"/>
                <a:ea typeface="+mn-ea"/>
                <a:cs typeface="+mn-cs"/>
              </a:rPr>
              <a:t>moz</a:t>
            </a:r>
            <a:r>
              <a:rPr lang="en-SG" sz="1200" b="0" i="0" kern="1200" dirty="0" smtClean="0">
                <a:solidFill>
                  <a:schemeClr val="tx1"/>
                </a:solidFill>
                <a:latin typeface="+mn-lt"/>
                <a:ea typeface="+mn-ea"/>
                <a:cs typeface="+mn-cs"/>
              </a:rPr>
              <a:t>-, Chrome and Safari require the prefix -</a:t>
            </a:r>
            <a:r>
              <a:rPr lang="en-SG" sz="1200" b="0" i="0" kern="1200" dirty="0" err="1" smtClean="0">
                <a:solidFill>
                  <a:schemeClr val="tx1"/>
                </a:solidFill>
                <a:latin typeface="+mn-lt"/>
                <a:ea typeface="+mn-ea"/>
                <a:cs typeface="+mn-cs"/>
              </a:rPr>
              <a:t>webkit</a:t>
            </a:r>
            <a:r>
              <a:rPr lang="en-SG" sz="1200" b="0" i="0" kern="1200" dirty="0" smtClean="0">
                <a:solidFill>
                  <a:schemeClr val="tx1"/>
                </a:solidFill>
                <a:latin typeface="+mn-lt"/>
                <a:ea typeface="+mn-ea"/>
                <a:cs typeface="+mn-cs"/>
              </a:rPr>
              <a:t>-, and Opera require the prefix -o-.</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dirty="0" smtClean="0"/>
              <a:t>http://www.w3schools.com/cssref/tryit.asp?filename=trycss3_keyframes3</a:t>
            </a:r>
            <a:endParaRPr lang="en-US" sz="2000" dirty="0" smtClean="0"/>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SG" dirty="0" smtClean="0"/>
              <a:t/>
            </a:r>
            <a:br>
              <a:rPr lang="en-SG" dirty="0" smtClean="0"/>
            </a:br>
            <a:r>
              <a:rPr lang="en-SG" dirty="0" smtClean="0"/>
              <a:t>I</a:t>
            </a:r>
            <a:r>
              <a:rPr lang="en-SG" sz="1200" b="0" i="0" kern="1200" dirty="0" smtClean="0">
                <a:solidFill>
                  <a:schemeClr val="tx1"/>
                </a:solidFill>
                <a:latin typeface="+mn-lt"/>
                <a:ea typeface="+mn-ea"/>
                <a:cs typeface="+mn-cs"/>
              </a:rPr>
              <a:t>nternet Explorer does not yet support the @</a:t>
            </a:r>
            <a:r>
              <a:rPr lang="en-SG" sz="1200" b="0" i="0" kern="1200" dirty="0" err="1" smtClean="0">
                <a:solidFill>
                  <a:schemeClr val="tx1"/>
                </a:solidFill>
                <a:latin typeface="+mn-lt"/>
                <a:ea typeface="+mn-ea"/>
                <a:cs typeface="+mn-cs"/>
              </a:rPr>
              <a:t>keyframes</a:t>
            </a:r>
            <a:r>
              <a:rPr lang="en-SG" sz="1200" b="0" i="0" kern="1200" dirty="0" smtClean="0">
                <a:solidFill>
                  <a:schemeClr val="tx1"/>
                </a:solidFill>
                <a:latin typeface="+mn-lt"/>
                <a:ea typeface="+mn-ea"/>
                <a:cs typeface="+mn-cs"/>
              </a:rPr>
              <a:t> rule or the animation property.</a:t>
            </a:r>
          </a:p>
          <a:p>
            <a:r>
              <a:rPr lang="en-SG" sz="1200" b="0" i="0" kern="1200" dirty="0" smtClean="0">
                <a:solidFill>
                  <a:schemeClr val="tx1"/>
                </a:solidFill>
                <a:latin typeface="+mn-lt"/>
                <a:ea typeface="+mn-ea"/>
                <a:cs typeface="+mn-cs"/>
              </a:rPr>
              <a:t>Firefox requires the prefix -</a:t>
            </a:r>
            <a:r>
              <a:rPr lang="en-SG" sz="1200" b="0" i="0" kern="1200" dirty="0" err="1" smtClean="0">
                <a:solidFill>
                  <a:schemeClr val="tx1"/>
                </a:solidFill>
                <a:latin typeface="+mn-lt"/>
                <a:ea typeface="+mn-ea"/>
                <a:cs typeface="+mn-cs"/>
              </a:rPr>
              <a:t>moz</a:t>
            </a:r>
            <a:r>
              <a:rPr lang="en-SG" sz="1200" b="0" i="0" kern="1200" dirty="0" smtClean="0">
                <a:solidFill>
                  <a:schemeClr val="tx1"/>
                </a:solidFill>
                <a:latin typeface="+mn-lt"/>
                <a:ea typeface="+mn-ea"/>
                <a:cs typeface="+mn-cs"/>
              </a:rPr>
              <a:t>-, Chrome and Safari require the prefix -</a:t>
            </a:r>
            <a:r>
              <a:rPr lang="en-SG" sz="1200" b="0" i="0" kern="1200" dirty="0" err="1" smtClean="0">
                <a:solidFill>
                  <a:schemeClr val="tx1"/>
                </a:solidFill>
                <a:latin typeface="+mn-lt"/>
                <a:ea typeface="+mn-ea"/>
                <a:cs typeface="+mn-cs"/>
              </a:rPr>
              <a:t>webkit</a:t>
            </a:r>
            <a:r>
              <a:rPr lang="en-SG" sz="1200" b="0" i="0" kern="1200" dirty="0" smtClean="0">
                <a:solidFill>
                  <a:schemeClr val="tx1"/>
                </a:solidFill>
                <a:latin typeface="+mn-lt"/>
                <a:ea typeface="+mn-ea"/>
                <a:cs typeface="+mn-cs"/>
              </a:rPr>
              <a:t>-, and Opera require the prefix -o-.</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New </a:t>
            </a:r>
            <a:r>
              <a:rPr lang="en-US" sz="1200" b="0" i="0" kern="1200" dirty="0" err="1" smtClean="0">
                <a:solidFill>
                  <a:schemeClr val="tx1"/>
                </a:solidFill>
                <a:latin typeface="+mn-lt"/>
                <a:ea typeface="+mn-ea"/>
                <a:cs typeface="+mn-cs"/>
              </a:rPr>
              <a:t>int</a:t>
            </a:r>
            <a:endParaRPr lang="en-US" sz="1200" dirty="0" smtClean="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Internet Explorer does not yet support the multiple columns properties.</a:t>
            </a:r>
          </a:p>
          <a:p>
            <a:r>
              <a:rPr lang="en-SG" sz="1200" b="0" i="0" kern="1200" dirty="0" smtClean="0">
                <a:solidFill>
                  <a:schemeClr val="tx1"/>
                </a:solidFill>
                <a:latin typeface="+mn-lt"/>
                <a:ea typeface="+mn-ea"/>
                <a:cs typeface="+mn-cs"/>
              </a:rPr>
              <a:t>Firefox requires the prefix -</a:t>
            </a:r>
            <a:r>
              <a:rPr lang="en-SG" sz="1200" b="0" i="0" kern="1200" dirty="0" err="1" smtClean="0">
                <a:solidFill>
                  <a:schemeClr val="tx1"/>
                </a:solidFill>
                <a:latin typeface="+mn-lt"/>
                <a:ea typeface="+mn-ea"/>
                <a:cs typeface="+mn-cs"/>
              </a:rPr>
              <a:t>moz</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Chrome and Safari require the prefix -</a:t>
            </a:r>
            <a:r>
              <a:rPr lang="en-SG" sz="1200" b="0" i="0" kern="1200" dirty="0" err="1" smtClean="0">
                <a:solidFill>
                  <a:schemeClr val="tx1"/>
                </a:solidFill>
                <a:latin typeface="+mn-lt"/>
                <a:ea typeface="+mn-ea"/>
                <a:cs typeface="+mn-cs"/>
              </a:rPr>
              <a:t>webkit</a:t>
            </a:r>
            <a:r>
              <a:rPr lang="en-SG" sz="1200" b="0" i="0" kern="1200" dirty="0" smtClean="0">
                <a:solidFill>
                  <a:schemeClr val="tx1"/>
                </a:solidFill>
                <a:latin typeface="+mn-lt"/>
                <a:ea typeface="+mn-ea"/>
                <a:cs typeface="+mn-cs"/>
              </a:rPr>
              <a:t>-.</a:t>
            </a:r>
          </a:p>
          <a:p>
            <a:r>
              <a:rPr lang="en-SG" dirty="0" smtClean="0"/>
              <a:t/>
            </a:r>
            <a:br>
              <a:rPr lang="en-SG" dirty="0" smtClean="0"/>
            </a:b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44</a:t>
            </a:fld>
            <a:endParaRPr lang="en-US"/>
          </a:p>
        </p:txBody>
      </p:sp>
    </p:spTree>
    <p:extLst>
      <p:ext uri="{BB962C8B-B14F-4D97-AF65-F5344CB8AC3E}">
        <p14:creationId xmlns:p14="http://schemas.microsoft.com/office/powerpoint/2010/main" val="5231947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The resize property is supported in Firefox 4+, Chrome, and Safari.</a:t>
            </a:r>
          </a:p>
          <a:p>
            <a:r>
              <a:rPr lang="en-SG" sz="1200" b="0" i="0" kern="1200" dirty="0" smtClean="0">
                <a:solidFill>
                  <a:schemeClr val="tx1"/>
                </a:solidFill>
                <a:latin typeface="+mn-lt"/>
                <a:ea typeface="+mn-ea"/>
                <a:cs typeface="+mn-cs"/>
              </a:rPr>
              <a:t>The box-sizing is supported in Internet Explorer, Chrome, and Opera. Firefox requires the prefix -</a:t>
            </a:r>
            <a:r>
              <a:rPr lang="en-SG" sz="1200" b="0" i="0" kern="1200" dirty="0" err="1" smtClean="0">
                <a:solidFill>
                  <a:schemeClr val="tx1"/>
                </a:solidFill>
                <a:latin typeface="+mn-lt"/>
                <a:ea typeface="+mn-ea"/>
                <a:cs typeface="+mn-cs"/>
              </a:rPr>
              <a:t>moz</a:t>
            </a:r>
            <a:r>
              <a:rPr lang="en-SG" sz="1200" b="0" i="0" kern="1200" dirty="0" smtClean="0">
                <a:solidFill>
                  <a:schemeClr val="tx1"/>
                </a:solidFill>
                <a:latin typeface="+mn-lt"/>
                <a:ea typeface="+mn-ea"/>
                <a:cs typeface="+mn-cs"/>
              </a:rPr>
              <a:t>-. Safari requires the prefix -</a:t>
            </a:r>
            <a:r>
              <a:rPr lang="en-SG" sz="1200" b="0" i="0" kern="1200" dirty="0" err="1" smtClean="0">
                <a:solidFill>
                  <a:schemeClr val="tx1"/>
                </a:solidFill>
                <a:latin typeface="+mn-lt"/>
                <a:ea typeface="+mn-ea"/>
                <a:cs typeface="+mn-cs"/>
              </a:rPr>
              <a:t>webkit</a:t>
            </a:r>
            <a:r>
              <a:rPr lang="en-SG" sz="1200" b="0" i="0" kern="1200" dirty="0" smtClean="0">
                <a:solidFill>
                  <a:schemeClr val="tx1"/>
                </a:solidFill>
                <a:latin typeface="+mn-lt"/>
                <a:ea typeface="+mn-ea"/>
                <a:cs typeface="+mn-cs"/>
              </a:rPr>
              <a:t>-.</a:t>
            </a:r>
          </a:p>
          <a:p>
            <a:r>
              <a:rPr lang="en-SG" sz="1200" b="0" i="0" kern="1200" dirty="0" smtClean="0">
                <a:solidFill>
                  <a:schemeClr val="tx1"/>
                </a:solidFill>
                <a:latin typeface="+mn-lt"/>
                <a:ea typeface="+mn-ea"/>
                <a:cs typeface="+mn-cs"/>
              </a:rPr>
              <a:t>The outline property is supported in all major browsers, except Internet Explorer.</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53</a:t>
            </a:fld>
            <a:endParaRPr lang="en-US"/>
          </a:p>
        </p:txBody>
      </p:sp>
    </p:spTree>
    <p:extLst>
      <p:ext uri="{BB962C8B-B14F-4D97-AF65-F5344CB8AC3E}">
        <p14:creationId xmlns:p14="http://schemas.microsoft.com/office/powerpoint/2010/main" val="6961749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IT1322 2012 S1</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smtClean="0"/>
              <a:t>IT1322 2012 S1</a:t>
            </a:r>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3schools.com/cssref/css3_browsersupport.as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w3schools.com/cssref/css3_pr_border-image.as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w3schools.com/cssref/css3_pr_box-shadow.asp" TargetMode="External"/><Relationship Id="rId4" Type="http://schemas.openxmlformats.org/officeDocument/2006/relationships/hyperlink" Target="http://w3schools.com/cssref/css3_pr_border-radius.as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3schools.com/css3/tryit.asp?filename=trycss3_background-siz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www.w3schools.com/cssref/css3_pr_background-size.asp"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w3schools.com/cssref/playit.asp?filename=playcss_transform_translate"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hyperlink" Target="http://www.w3schools.com/cssref/playit.asp?filename=playcss_transform_translatex"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www.w3schools.com/cssref/playit.asp?filename=playcss_transform_translatey"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www.w3schools.com/cssref/playit.asp?filename=playcss_transform_scal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31.xml.rels><?xml version="1.0" encoding="UTF-8" standalone="yes"?>
<Relationships xmlns="http://schemas.openxmlformats.org/package/2006/relationships"><Relationship Id="rId3" Type="http://schemas.openxmlformats.org/officeDocument/2006/relationships/hyperlink" Target="http://www.w3schools.com/css3/tryit.asp?filename=trycss3_transition4"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css3/tryit.asp?filename=trycss3_transition4"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w3schools.com/css3/tryit.asp?filename=trycss3_transition4"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css3.bradshawenterprises.com/cfimg/"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hyperlink" Target="http://css3.bradshawenterprises.com/cfimg/"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adobe.com/products/spark.html#spark-marquee-cta-video" TargetMode="External"/><Relationship Id="rId7"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hyperlink" Target="http://tumult.com/hype/" TargetMode="External"/><Relationship Id="rId4" Type="http://schemas.openxmlformats.org/officeDocument/2006/relationships/hyperlink" Target="http://www.sencha.com/products/animator/"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www.w3schools.com/css3/tryit.asp?filename=trycss3_animation4"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hyperlink" Target="http://www.w3schools.com/cssref/css3_pr_columns.asp"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hyperlink" Target="http://www.w3schools.com/cssref/css3_pr_column-count.asp"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hyperlink" Target="http://www.w3schools.com/cssref/css3_pr_column-gap.asp"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hyperlink" Target="http://www.w3schools.com/cssref/css3_pr_column-rule-style.asp" TargetMode="External"/><Relationship Id="rId3" Type="http://schemas.openxmlformats.org/officeDocument/2006/relationships/hyperlink" Target="http://www.w3schools.com/cssref/css3_pr_column-count.asp" TargetMode="External"/><Relationship Id="rId7" Type="http://schemas.openxmlformats.org/officeDocument/2006/relationships/hyperlink" Target="http://www.w3schools.com/cssref/css3_pr_column-rule-color.asp" TargetMode="External"/><Relationship Id="rId12" Type="http://schemas.openxmlformats.org/officeDocument/2006/relationships/hyperlink" Target="http://www.w3schools.com/cssref/css3_pr_columns.asp"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hyperlink" Target="http://www.w3schools.com/cssref/css3_pr_column-rule.asp" TargetMode="External"/><Relationship Id="rId11" Type="http://schemas.openxmlformats.org/officeDocument/2006/relationships/hyperlink" Target="http://www.w3schools.com/cssref/css3_pr_column-width.asp" TargetMode="External"/><Relationship Id="rId5" Type="http://schemas.openxmlformats.org/officeDocument/2006/relationships/hyperlink" Target="http://www.w3schools.com/cssref/css3_pr_column-gap.asp" TargetMode="External"/><Relationship Id="rId10" Type="http://schemas.openxmlformats.org/officeDocument/2006/relationships/hyperlink" Target="http://www.w3schools.com/cssref/css3_pr_column-span.asp" TargetMode="External"/><Relationship Id="rId4" Type="http://schemas.openxmlformats.org/officeDocument/2006/relationships/hyperlink" Target="http://www.w3schools.com/cssref/css3_pr_column-fill.asp" TargetMode="External"/><Relationship Id="rId9" Type="http://schemas.openxmlformats.org/officeDocument/2006/relationships/hyperlink" Target="http://www.w3schools.com/cssref/css3_pr_column-rule-width.asp"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www.w3schools.com/cssref/css3_pr_nav-left.asp" TargetMode="External"/><Relationship Id="rId3" Type="http://schemas.openxmlformats.org/officeDocument/2006/relationships/hyperlink" Target="http://www.w3schools.com/cssref/css3_pr_appearance.asp" TargetMode="External"/><Relationship Id="rId7" Type="http://schemas.openxmlformats.org/officeDocument/2006/relationships/hyperlink" Target="http://www.w3schools.com/cssref/css3_pr_nav-index.asp" TargetMode="External"/><Relationship Id="rId12" Type="http://schemas.openxmlformats.org/officeDocument/2006/relationships/hyperlink" Target="http://www.w3schools.com/cssref/css3_pr_resize.asp"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hyperlink" Target="http://www.w3schools.com/cssref/css3_pr_nav-down.asp" TargetMode="External"/><Relationship Id="rId11" Type="http://schemas.openxmlformats.org/officeDocument/2006/relationships/hyperlink" Target="http://www.w3schools.com/cssref/css3_pr_outline-offset.asp" TargetMode="External"/><Relationship Id="rId5" Type="http://schemas.openxmlformats.org/officeDocument/2006/relationships/hyperlink" Target="http://www.w3schools.com/cssref/css3_pr_icon.asp" TargetMode="External"/><Relationship Id="rId10" Type="http://schemas.openxmlformats.org/officeDocument/2006/relationships/hyperlink" Target="http://www.w3schools.com/cssref/css3_pr_nav-up.asp" TargetMode="External"/><Relationship Id="rId4" Type="http://schemas.openxmlformats.org/officeDocument/2006/relationships/hyperlink" Target="http://www.w3schools.com/cssref/css3_pr_box-sizing.asp" TargetMode="External"/><Relationship Id="rId9" Type="http://schemas.openxmlformats.org/officeDocument/2006/relationships/hyperlink" Target="http://www.w3schools.com/cssref/css3_pr_nav-right.asp"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www.w3schools.com/cssref/sel_empty.asp" TargetMode="External"/><Relationship Id="rId13" Type="http://schemas.openxmlformats.org/officeDocument/2006/relationships/hyperlink" Target="http://www.w3schools.com/cssref/sel_not.asp" TargetMode="External"/><Relationship Id="rId3" Type="http://schemas.openxmlformats.org/officeDocument/2006/relationships/hyperlink" Target="http://www.w3schools.com/cssref/sel_gen_sibling.asp" TargetMode="External"/><Relationship Id="rId7" Type="http://schemas.openxmlformats.org/officeDocument/2006/relationships/hyperlink" Target="http://www.w3schools.com/cssref/sel_root.asp" TargetMode="External"/><Relationship Id="rId12" Type="http://schemas.openxmlformats.org/officeDocument/2006/relationships/hyperlink" Target="http://www.w3schools.com/cssref/sel_checked.asp"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hyperlink" Target="http://www.w3schools.com/cssref/sel_nth-child.asp" TargetMode="External"/><Relationship Id="rId11" Type="http://schemas.openxmlformats.org/officeDocument/2006/relationships/hyperlink" Target="http://www.w3schools.com/cssref/sel_disabled.asp" TargetMode="External"/><Relationship Id="rId5" Type="http://schemas.openxmlformats.org/officeDocument/2006/relationships/hyperlink" Target="http://www.w3schools.com/cssref/sel_only-child.asp" TargetMode="External"/><Relationship Id="rId10" Type="http://schemas.openxmlformats.org/officeDocument/2006/relationships/hyperlink" Target="http://www.w3schools.com/cssref/sel_enabled.asp" TargetMode="External"/><Relationship Id="rId4" Type="http://schemas.openxmlformats.org/officeDocument/2006/relationships/hyperlink" Target="http://www.w3schools.com/cssref/sel_only-of-type.asp" TargetMode="External"/><Relationship Id="rId9" Type="http://schemas.openxmlformats.org/officeDocument/2006/relationships/hyperlink" Target="http://www.w3schools.com/cssref/sel_target.asp" TargetMode="External"/><Relationship Id="rId14" Type="http://schemas.openxmlformats.org/officeDocument/2006/relationships/hyperlink" Target="http://www.w3schools.com/cssref/sel_selection.asp"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www.w3schools.com/cssref/tryit.asp?filename=trycss3_enabled_disabled"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hyperlink" Target="http://www.w3schools.com/cssref/tryit.asp?filename=trycss3_selection"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hyperlink" Target="http://www.w3schools.com/cssref/tryit.asp?filename=trycss3_selection"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hyperlink" Target="http://www.w3schools.com/cssref/tryit.asp?filename=trycss3_nth-child_odd_even"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09800"/>
            <a:ext cx="7467600" cy="1755775"/>
          </a:xfrm>
        </p:spPr>
        <p:txBody>
          <a:bodyPr/>
          <a:lstStyle/>
          <a:p>
            <a:r>
              <a:rPr lang="en-US" sz="4000" dirty="0" smtClean="0">
                <a:solidFill>
                  <a:schemeClr val="tx1"/>
                </a:solidFill>
              </a:rPr>
              <a:t>CSS3 Fundamentals </a:t>
            </a:r>
            <a:r>
              <a:rPr lang="en-US" sz="4000" smtClean="0">
                <a:solidFill>
                  <a:schemeClr val="tx1"/>
                </a:solidFill>
              </a:rPr>
              <a:t>(V5) </a:t>
            </a:r>
            <a:r>
              <a:rPr lang="en-SG" sz="2400" b="0" dirty="0" smtClean="0">
                <a:solidFill>
                  <a:schemeClr val="tx1"/>
                </a:solidFill>
              </a:rPr>
              <a:t> </a:t>
            </a:r>
            <a:r>
              <a:rPr lang="en-US" sz="2000" b="0" dirty="0" smtClean="0">
                <a:solidFill>
                  <a:schemeClr val="tx1"/>
                </a:solidFill>
              </a:rPr>
              <a:t> </a:t>
            </a:r>
            <a:endParaRPr lang="en-US" sz="4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a:noFill/>
                </a:ln>
                <a:solidFill>
                  <a:schemeClr val="bg1"/>
                </a:solidFill>
                <a:effectLst/>
                <a:uLnTx/>
                <a:uFillTx/>
                <a:latin typeface="+mj-lt"/>
                <a:ea typeface="+mj-ea"/>
                <a:cs typeface="+mj-cs"/>
              </a:rPr>
              <a:t>CSS3</a:t>
            </a:r>
            <a:endParaRPr kumimoji="0" lang="en-US" sz="3600" b="1" i="0" u="none" strike="noStrike" kern="1200" cap="none" spc="0" normalizeH="0" baseline="0" noProof="0" dirty="0">
              <a:ln>
                <a:noFill/>
              </a:ln>
              <a:solidFill>
                <a:schemeClr val="bg1"/>
              </a:solidFill>
              <a:effectLst/>
              <a:uLnTx/>
              <a:uFillTx/>
              <a:latin typeface="+mj-lt"/>
              <a:ea typeface="+mj-ea"/>
              <a:cs typeface="+mj-cs"/>
            </a:endParaRPr>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7774" y="1721922"/>
            <a:ext cx="7467600" cy="1755775"/>
          </a:xfrm>
        </p:spPr>
        <p:txBody>
          <a:bodyPr/>
          <a:lstStyle/>
          <a:p>
            <a:r>
              <a:rPr lang="en-US" sz="4000" dirty="0" smtClean="0">
                <a:solidFill>
                  <a:schemeClr val="tx1"/>
                </a:solidFill>
              </a:rPr>
              <a:t>For CSS3 browsers support:</a:t>
            </a:r>
            <a:br>
              <a:rPr lang="en-US" sz="4000" dirty="0" smtClean="0">
                <a:solidFill>
                  <a:schemeClr val="tx1"/>
                </a:solidFill>
              </a:rPr>
            </a:br>
            <a:r>
              <a:rPr lang="en-SG" sz="2400" b="0" dirty="0" smtClean="0">
                <a:solidFill>
                  <a:schemeClr val="tx1"/>
                </a:solidFill>
              </a:rPr>
              <a:t> </a:t>
            </a:r>
            <a:r>
              <a:rPr lang="en-SG" sz="2000" b="0" dirty="0" err="1" smtClean="0">
                <a:solidFill>
                  <a:schemeClr val="tx1"/>
                </a:solidFill>
              </a:rPr>
              <a:t>CSS3</a:t>
            </a:r>
            <a:r>
              <a:rPr lang="en-SG" sz="2000" b="0" dirty="0" smtClean="0">
                <a:solidFill>
                  <a:schemeClr val="tx1"/>
                </a:solidFill>
              </a:rPr>
              <a:t> is not yet a </a:t>
            </a:r>
            <a:r>
              <a:rPr lang="en-SG" sz="2000" b="0" dirty="0" err="1" smtClean="0">
                <a:solidFill>
                  <a:schemeClr val="tx1"/>
                </a:solidFill>
              </a:rPr>
              <a:t>W3C</a:t>
            </a:r>
            <a:r>
              <a:rPr lang="en-SG" sz="2000" b="0" dirty="0" smtClean="0">
                <a:solidFill>
                  <a:schemeClr val="tx1"/>
                </a:solidFill>
              </a:rPr>
              <a:t> standard, but all the major browsers are already supporting many of the new features. Below is a reference of all the new CSS3 properties and their browser support: </a:t>
            </a:r>
            <a:r>
              <a:rPr lang="en-US" sz="4000" dirty="0" smtClean="0">
                <a:solidFill>
                  <a:schemeClr val="tx1"/>
                </a:solidFill>
              </a:rPr>
              <a:t/>
            </a:r>
            <a:br>
              <a:rPr lang="en-US" sz="4000" dirty="0" smtClean="0">
                <a:solidFill>
                  <a:schemeClr val="tx1"/>
                </a:solidFill>
              </a:rPr>
            </a:br>
            <a:r>
              <a:rPr lang="en-US" sz="2400" dirty="0" err="1" smtClean="0">
                <a:hlinkClick r:id="rId3"/>
              </a:rPr>
              <a:t>http://w3schools.com/cssref/css3_browsersupport.asp</a:t>
            </a:r>
            <a:endParaRPr lang="en-US" sz="4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a:noFill/>
                </a:ln>
                <a:solidFill>
                  <a:schemeClr val="bg1"/>
                </a:solidFill>
                <a:effectLst/>
                <a:uLnTx/>
                <a:uFillTx/>
                <a:latin typeface="+mj-lt"/>
                <a:ea typeface="+mj-ea"/>
                <a:cs typeface="+mj-cs"/>
              </a:rPr>
              <a:t>CSS3</a:t>
            </a:r>
            <a:endParaRPr kumimoji="0" lang="en-US" sz="3600" b="1" i="0" u="none" strike="noStrike" kern="1200" cap="none" spc="0" normalizeH="0" baseline="0" noProof="0" dirty="0">
              <a:ln>
                <a:noFill/>
              </a:ln>
              <a:solidFill>
                <a:schemeClr val="bg1"/>
              </a:solidFill>
              <a:effectLst/>
              <a:uLnTx/>
              <a:uFillTx/>
              <a:latin typeface="+mj-lt"/>
              <a:ea typeface="+mj-ea"/>
              <a:cs typeface="+mj-cs"/>
            </a:endParaRPr>
          </a:p>
        </p:txBody>
      </p:sp>
      <p:pic>
        <p:nvPicPr>
          <p:cNvPr id="3" name="Picture 2"/>
          <p:cNvPicPr>
            <a:picLocks noChangeAspect="1"/>
          </p:cNvPicPr>
          <p:nvPr/>
        </p:nvPicPr>
        <p:blipFill>
          <a:blip r:embed="rId4"/>
          <a:stretch>
            <a:fillRect/>
          </a:stretch>
        </p:blipFill>
        <p:spPr>
          <a:xfrm>
            <a:off x="609600" y="3733800"/>
            <a:ext cx="7924800" cy="2476500"/>
          </a:xfrm>
          <a:prstGeom prst="rect">
            <a:avLst/>
          </a:prstGeom>
        </p:spPr>
      </p:pic>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CSS3</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r>
              <a:rPr lang="en-US" sz="3200" dirty="0" smtClean="0"/>
              <a:t>CSS3 is completely backwards compatible, so you will not have to change existing designs. Browsers will always support CSS2.</a:t>
            </a:r>
          </a:p>
          <a:p>
            <a:pPr>
              <a:buNone/>
            </a:pPr>
            <a:r>
              <a:rPr lang="en-US" sz="3200" dirty="0" smtClean="0"/>
              <a:t/>
            </a:r>
            <a:br>
              <a:rPr lang="en-US" sz="3200" dirty="0" smtClean="0"/>
            </a:b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
        <p:nvSpPr>
          <p:cNvPr id="6" name="5-Point Star 5"/>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CSS3</a:t>
            </a:r>
            <a:endParaRPr lang="en-US" sz="3600" dirty="0"/>
          </a:p>
        </p:txBody>
      </p:sp>
      <p:sp>
        <p:nvSpPr>
          <p:cNvPr id="3" name="Content Placeholder 2"/>
          <p:cNvSpPr>
            <a:spLocks noGrp="1"/>
          </p:cNvSpPr>
          <p:nvPr>
            <p:ph idx="1"/>
          </p:nvPr>
        </p:nvSpPr>
        <p:spPr>
          <a:xfrm>
            <a:off x="381000" y="1295400"/>
            <a:ext cx="7395380" cy="2667000"/>
          </a:xfrm>
        </p:spPr>
        <p:txBody>
          <a:bodyPr>
            <a:noAutofit/>
          </a:bodyPr>
          <a:lstStyle/>
          <a:p>
            <a:r>
              <a:rPr lang="en-US" sz="3200" dirty="0" smtClean="0"/>
              <a:t>CSS3 Modules</a:t>
            </a:r>
          </a:p>
          <a:p>
            <a:r>
              <a:rPr lang="en-US" dirty="0" smtClean="0"/>
              <a:t>Some of the most important CSS3 modules are:</a:t>
            </a:r>
          </a:p>
          <a:p>
            <a:r>
              <a:rPr lang="en-US" dirty="0" smtClean="0"/>
              <a:t>Selectors</a:t>
            </a:r>
          </a:p>
          <a:p>
            <a:r>
              <a:rPr lang="en-US" dirty="0" smtClean="0"/>
              <a:t>Box Model</a:t>
            </a:r>
          </a:p>
          <a:p>
            <a:r>
              <a:rPr lang="en-US" dirty="0" smtClean="0"/>
              <a:t>Backgrounds and Borders</a:t>
            </a:r>
          </a:p>
          <a:p>
            <a:r>
              <a:rPr lang="en-US" dirty="0" smtClean="0"/>
              <a:t>Text Effects</a:t>
            </a:r>
          </a:p>
          <a:p>
            <a:r>
              <a:rPr lang="en-US" dirty="0" smtClean="0"/>
              <a:t>2D/3D Transformations</a:t>
            </a:r>
          </a:p>
          <a:p>
            <a:r>
              <a:rPr lang="en-US" dirty="0" smtClean="0"/>
              <a:t>Animations</a:t>
            </a:r>
          </a:p>
          <a:p>
            <a:r>
              <a:rPr lang="en-US" dirty="0" smtClean="0"/>
              <a:t>Multiple Column Layout</a:t>
            </a:r>
          </a:p>
          <a:p>
            <a:r>
              <a:rPr lang="en-US" dirty="0" smtClean="0"/>
              <a:t>User Interface</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CSS3</a:t>
            </a:r>
            <a:endParaRPr lang="en-US" sz="3600" dirty="0"/>
          </a:p>
        </p:txBody>
      </p:sp>
      <p:sp>
        <p:nvSpPr>
          <p:cNvPr id="3" name="Content Placeholder 2"/>
          <p:cNvSpPr>
            <a:spLocks noGrp="1"/>
          </p:cNvSpPr>
          <p:nvPr>
            <p:ph idx="1"/>
          </p:nvPr>
        </p:nvSpPr>
        <p:spPr>
          <a:xfrm>
            <a:off x="381000" y="1295400"/>
            <a:ext cx="7395380" cy="2667000"/>
          </a:xfrm>
        </p:spPr>
        <p:txBody>
          <a:bodyPr>
            <a:noAutofit/>
          </a:bodyPr>
          <a:lstStyle/>
          <a:p>
            <a:r>
              <a:rPr lang="en-US" sz="3200" dirty="0" smtClean="0"/>
              <a:t>CSS3 Modules</a:t>
            </a:r>
          </a:p>
          <a:p>
            <a:r>
              <a:rPr lang="en-US" dirty="0" smtClean="0"/>
              <a:t>Some of the most important CSS3 modules are:</a:t>
            </a:r>
          </a:p>
          <a:p>
            <a:r>
              <a:rPr lang="en-US" dirty="0" smtClean="0"/>
              <a:t>Selectors</a:t>
            </a:r>
          </a:p>
          <a:p>
            <a:r>
              <a:rPr lang="en-US" dirty="0" smtClean="0"/>
              <a:t>Box Model</a:t>
            </a:r>
          </a:p>
          <a:p>
            <a:r>
              <a:rPr lang="en-US" dirty="0" smtClean="0"/>
              <a:t>Backgrounds and Borders</a:t>
            </a:r>
          </a:p>
          <a:p>
            <a:r>
              <a:rPr lang="en-US" dirty="0" smtClean="0"/>
              <a:t>Text Effects</a:t>
            </a:r>
          </a:p>
          <a:p>
            <a:r>
              <a:rPr lang="en-US" dirty="0" smtClean="0"/>
              <a:t>2D/3D Transformations</a:t>
            </a:r>
          </a:p>
          <a:p>
            <a:r>
              <a:rPr lang="en-US" dirty="0" smtClean="0"/>
              <a:t>Animations</a:t>
            </a:r>
          </a:p>
          <a:p>
            <a:r>
              <a:rPr lang="en-US" dirty="0" smtClean="0"/>
              <a:t>Multiple Column Layout</a:t>
            </a:r>
          </a:p>
          <a:p>
            <a:r>
              <a:rPr lang="en-US" dirty="0" smtClean="0"/>
              <a:t>User Interface</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Borders</a:t>
            </a:r>
            <a:endParaRPr lang="en-US" sz="3600" b="0" dirty="0"/>
          </a:p>
        </p:txBody>
      </p:sp>
      <p:sp>
        <p:nvSpPr>
          <p:cNvPr id="3" name="Content Placeholder 2"/>
          <p:cNvSpPr>
            <a:spLocks noGrp="1"/>
          </p:cNvSpPr>
          <p:nvPr>
            <p:ph idx="1"/>
          </p:nvPr>
        </p:nvSpPr>
        <p:spPr>
          <a:xfrm>
            <a:off x="381000" y="1295400"/>
            <a:ext cx="7395380" cy="2667000"/>
          </a:xfrm>
        </p:spPr>
        <p:txBody>
          <a:bodyPr>
            <a:noAutofit/>
          </a:bodyPr>
          <a:lstStyle/>
          <a:p>
            <a:r>
              <a:rPr lang="en-US" dirty="0" smtClean="0"/>
              <a:t>With CSS3, you can create rounded borders, add shadow to boxes, and use an image as a border - without using a design program, like Photoshop.</a:t>
            </a:r>
          </a:p>
          <a:p>
            <a:r>
              <a:rPr lang="en-US" sz="3200" dirty="0" smtClean="0"/>
              <a:t>Some border properties:</a:t>
            </a:r>
          </a:p>
          <a:p>
            <a:pPr lvl="1"/>
            <a:r>
              <a:rPr lang="en-US" dirty="0" smtClean="0"/>
              <a:t>border-radius</a:t>
            </a:r>
          </a:p>
          <a:p>
            <a:pPr lvl="1"/>
            <a:r>
              <a:rPr lang="en-US" dirty="0" smtClean="0"/>
              <a:t>box-shadow</a:t>
            </a:r>
          </a:p>
          <a:p>
            <a:pPr lvl="1"/>
            <a:r>
              <a:rPr lang="en-US" dirty="0" smtClean="0"/>
              <a:t>border-image</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Borders</a:t>
            </a:r>
            <a:endParaRPr lang="en-US" sz="3600" b="0" dirty="0"/>
          </a:p>
        </p:txBody>
      </p:sp>
      <p:sp>
        <p:nvSpPr>
          <p:cNvPr id="3" name="Content Placeholder 2"/>
          <p:cNvSpPr>
            <a:spLocks noGrp="1"/>
          </p:cNvSpPr>
          <p:nvPr>
            <p:ph idx="1"/>
          </p:nvPr>
        </p:nvSpPr>
        <p:spPr>
          <a:xfrm>
            <a:off x="381000" y="1295400"/>
            <a:ext cx="7395380" cy="1295400"/>
          </a:xfrm>
        </p:spPr>
        <p:txBody>
          <a:bodyPr>
            <a:noAutofit/>
          </a:bodyPr>
          <a:lstStyle/>
          <a:p>
            <a:r>
              <a:rPr lang="en-US" dirty="0" smtClean="0"/>
              <a:t>CSS3 Rounded Corners</a:t>
            </a:r>
          </a:p>
          <a:p>
            <a:r>
              <a:rPr lang="en-US" dirty="0" smtClean="0"/>
              <a:t> Creating rounded corners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533400" y="2362200"/>
            <a:ext cx="6756689" cy="971550"/>
          </a:xfrm>
          <a:prstGeom prst="rect">
            <a:avLst/>
          </a:prstGeom>
          <a:noFill/>
          <a:ln w="9525">
            <a:noFill/>
            <a:miter lim="800000"/>
            <a:headEnd/>
            <a:tailEnd/>
          </a:ln>
        </p:spPr>
      </p:pic>
      <p:sp>
        <p:nvSpPr>
          <p:cNvPr id="9" name="Round Same Side Corner Rectangle 8"/>
          <p:cNvSpPr/>
          <p:nvPr/>
        </p:nvSpPr>
        <p:spPr>
          <a:xfrm>
            <a:off x="838200" y="3733800"/>
            <a:ext cx="7239000" cy="2286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div</a:t>
            </a:r>
            <a:br>
              <a:rPr lang="en-US" sz="2400" dirty="0" smtClean="0"/>
            </a:br>
            <a:r>
              <a:rPr lang="en-US" sz="2400" dirty="0" smtClean="0"/>
              <a:t>{</a:t>
            </a:r>
            <a:br>
              <a:rPr lang="en-US" sz="2400" dirty="0" smtClean="0"/>
            </a:br>
            <a:r>
              <a:rPr lang="en-US" sz="2400" dirty="0" smtClean="0"/>
              <a:t>border:2px solid;</a:t>
            </a:r>
            <a:br>
              <a:rPr lang="en-US" sz="2400" dirty="0" smtClean="0"/>
            </a:br>
            <a:r>
              <a:rPr lang="en-US" sz="2400" dirty="0" smtClean="0"/>
              <a:t>border-radius:25px;</a:t>
            </a:r>
            <a:br>
              <a:rPr lang="en-US" sz="2400" dirty="0" smtClean="0"/>
            </a:br>
            <a:r>
              <a:rPr lang="en-US" sz="2400" dirty="0" smtClean="0"/>
              <a:t>-moz-border-radius:25px; /* Firefox 3.6 and earlier */</a:t>
            </a:r>
            <a:br>
              <a:rPr lang="en-US" sz="2400" dirty="0" smtClean="0"/>
            </a:br>
            <a:r>
              <a:rPr lang="en-US" sz="2400" dirty="0" smtClean="0"/>
              <a:t>}</a:t>
            </a:r>
            <a:endParaRPr lang="en-US" sz="2400" dirty="0"/>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Box  Shadow</a:t>
            </a:r>
            <a:endParaRPr lang="en-US" sz="3600" b="0" dirty="0"/>
          </a:p>
        </p:txBody>
      </p:sp>
      <p:sp>
        <p:nvSpPr>
          <p:cNvPr id="3" name="Content Placeholder 2"/>
          <p:cNvSpPr>
            <a:spLocks noGrp="1"/>
          </p:cNvSpPr>
          <p:nvPr>
            <p:ph idx="1"/>
          </p:nvPr>
        </p:nvSpPr>
        <p:spPr>
          <a:xfrm>
            <a:off x="304800" y="990600"/>
            <a:ext cx="7395380" cy="1295400"/>
          </a:xfrm>
        </p:spPr>
        <p:txBody>
          <a:bodyPr>
            <a:noAutofit/>
          </a:bodyPr>
          <a:lstStyle/>
          <a:p>
            <a:pPr>
              <a:buNone/>
            </a:pPr>
            <a:endParaRPr lang="en-US" dirty="0" smtClean="0"/>
          </a:p>
          <a:p>
            <a:r>
              <a:rPr lang="en-US" dirty="0" smtClean="0"/>
              <a:t> CSS3, the box-shadow property is used to add shadow to boxes:</a:t>
            </a:r>
          </a:p>
        </p:txBody>
      </p:sp>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sp>
        <p:nvSpPr>
          <p:cNvPr id="9" name="Round Same Side Corner Rectangle 8"/>
          <p:cNvSpPr/>
          <p:nvPr/>
        </p:nvSpPr>
        <p:spPr>
          <a:xfrm>
            <a:off x="914400" y="3733800"/>
            <a:ext cx="7239000" cy="28194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div</a:t>
            </a:r>
            <a:br>
              <a:rPr lang="en-US" sz="2400" dirty="0" smtClean="0"/>
            </a:br>
            <a:r>
              <a:rPr lang="en-US" sz="2400" dirty="0" smtClean="0"/>
              <a:t>{</a:t>
            </a:r>
            <a:br>
              <a:rPr lang="en-US" sz="2400" dirty="0" smtClean="0"/>
            </a:br>
            <a:r>
              <a:rPr lang="en-US" sz="2400" dirty="0" smtClean="0"/>
              <a:t>box-shadow: 10px </a:t>
            </a:r>
            <a:r>
              <a:rPr lang="en-US" sz="2400" dirty="0" err="1" smtClean="0"/>
              <a:t>10px</a:t>
            </a:r>
            <a:r>
              <a:rPr lang="en-US" sz="2400" dirty="0" smtClean="0"/>
              <a:t> 5px #888888;</a:t>
            </a:r>
          </a:p>
          <a:p>
            <a:r>
              <a:rPr lang="en-US" sz="2400" dirty="0" smtClean="0"/>
              <a:t>background-</a:t>
            </a:r>
            <a:r>
              <a:rPr lang="en-US" sz="2400" dirty="0" err="1" smtClean="0"/>
              <a:t>color:red</a:t>
            </a:r>
            <a:r>
              <a:rPr lang="en-US" sz="2400" dirty="0" smtClean="0"/>
              <a:t>;</a:t>
            </a:r>
          </a:p>
          <a:p>
            <a:r>
              <a:rPr lang="en-US" sz="2400" dirty="0" smtClean="0"/>
              <a:t>}</a:t>
            </a:r>
          </a:p>
          <a:p>
            <a:endParaRPr lang="en-US" sz="2400" dirty="0" smtClean="0"/>
          </a:p>
          <a:p>
            <a:endParaRPr lang="en-US" sz="2400" dirty="0"/>
          </a:p>
        </p:txBody>
      </p:sp>
      <p:pic>
        <p:nvPicPr>
          <p:cNvPr id="2051" name="Picture 3"/>
          <p:cNvPicPr>
            <a:picLocks noChangeAspect="1" noChangeArrowheads="1"/>
          </p:cNvPicPr>
          <p:nvPr/>
        </p:nvPicPr>
        <p:blipFill>
          <a:blip r:embed="rId3" cstate="print"/>
          <a:srcRect/>
          <a:stretch>
            <a:fillRect/>
          </a:stretch>
        </p:blipFill>
        <p:spPr bwMode="auto">
          <a:xfrm>
            <a:off x="4191000" y="2133600"/>
            <a:ext cx="2590800" cy="1526721"/>
          </a:xfrm>
          <a:prstGeom prst="rect">
            <a:avLst/>
          </a:prstGeom>
          <a:noFill/>
          <a:ln w="9525">
            <a:noFill/>
            <a:miter lim="800000"/>
            <a:headEnd/>
            <a:tailEnd/>
          </a:ln>
        </p:spPr>
      </p:pic>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Border Image</a:t>
            </a:r>
            <a:endParaRPr lang="en-US" sz="3600" b="0" dirty="0"/>
          </a:p>
        </p:txBody>
      </p:sp>
      <p:sp>
        <p:nvSpPr>
          <p:cNvPr id="3" name="Content Placeholder 2"/>
          <p:cNvSpPr>
            <a:spLocks noGrp="1"/>
          </p:cNvSpPr>
          <p:nvPr>
            <p:ph idx="1"/>
          </p:nvPr>
        </p:nvSpPr>
        <p:spPr>
          <a:xfrm>
            <a:off x="381000" y="1295400"/>
            <a:ext cx="7395380" cy="2667000"/>
          </a:xfrm>
        </p:spPr>
        <p:txBody>
          <a:bodyPr>
            <a:noAutofit/>
          </a:bodyPr>
          <a:lstStyle/>
          <a:p>
            <a:r>
              <a:rPr lang="en-US" sz="3200" dirty="0" smtClean="0"/>
              <a:t> CSS3 border-image property you can use an image to create a border: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pic>
        <p:nvPicPr>
          <p:cNvPr id="3074" name="Picture 2"/>
          <p:cNvPicPr>
            <a:picLocks noChangeAspect="1" noChangeArrowheads="1"/>
          </p:cNvPicPr>
          <p:nvPr/>
        </p:nvPicPr>
        <p:blipFill>
          <a:blip r:embed="rId3" cstate="print"/>
          <a:srcRect/>
          <a:stretch>
            <a:fillRect/>
          </a:stretch>
        </p:blipFill>
        <p:spPr bwMode="auto">
          <a:xfrm>
            <a:off x="1143000" y="2514600"/>
            <a:ext cx="5836831" cy="1476375"/>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7620000" y="2743200"/>
            <a:ext cx="1009650" cy="885825"/>
          </a:xfrm>
          <a:prstGeom prst="rect">
            <a:avLst/>
          </a:prstGeom>
          <a:noFill/>
          <a:ln w="9525">
            <a:noFill/>
            <a:miter lim="800000"/>
            <a:headEnd/>
            <a:tailEnd/>
          </a:ln>
        </p:spPr>
      </p:pic>
      <p:sp>
        <p:nvSpPr>
          <p:cNvPr id="8" name="Round Same Side Corner Rectangle 7"/>
          <p:cNvSpPr/>
          <p:nvPr/>
        </p:nvSpPr>
        <p:spPr>
          <a:xfrm>
            <a:off x="685800" y="3962400"/>
            <a:ext cx="7162800" cy="2667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dirty="0" smtClean="0"/>
          </a:p>
          <a:p>
            <a:r>
              <a:rPr lang="en-US" sz="2000" dirty="0" smtClean="0"/>
              <a:t>div</a:t>
            </a:r>
            <a:br>
              <a:rPr lang="en-US" sz="2000" dirty="0" smtClean="0"/>
            </a:br>
            <a:r>
              <a:rPr lang="en-US" sz="2000" dirty="0" smtClean="0"/>
              <a:t>{</a:t>
            </a:r>
            <a:br>
              <a:rPr lang="en-US" sz="2000" dirty="0" smtClean="0"/>
            </a:br>
            <a:r>
              <a:rPr lang="en-US" sz="2000" dirty="0" smtClean="0"/>
              <a:t>border-</a:t>
            </a:r>
            <a:r>
              <a:rPr lang="en-US" sz="2000" dirty="0" err="1" smtClean="0"/>
              <a:t>image:url</a:t>
            </a:r>
            <a:r>
              <a:rPr lang="en-US" sz="2000" dirty="0" smtClean="0"/>
              <a:t>(border.png) 30 30 round;</a:t>
            </a:r>
            <a:br>
              <a:rPr lang="en-US" sz="2000" dirty="0" smtClean="0"/>
            </a:br>
            <a:r>
              <a:rPr lang="en-US" sz="2000" dirty="0" smtClean="0"/>
              <a:t>-</a:t>
            </a:r>
            <a:r>
              <a:rPr lang="en-US" sz="2000" dirty="0" err="1" smtClean="0"/>
              <a:t>moz</a:t>
            </a:r>
            <a:r>
              <a:rPr lang="en-US" sz="2000" dirty="0" smtClean="0"/>
              <a:t>-border-</a:t>
            </a:r>
            <a:r>
              <a:rPr lang="en-US" sz="2000" dirty="0" err="1" smtClean="0"/>
              <a:t>image:url</a:t>
            </a:r>
            <a:r>
              <a:rPr lang="en-US" sz="2000" dirty="0" smtClean="0"/>
              <a:t>(border.png) 30 30 round; /* Firefox */</a:t>
            </a:r>
            <a:br>
              <a:rPr lang="en-US" sz="2000" dirty="0" smtClean="0"/>
            </a:br>
            <a:r>
              <a:rPr lang="en-US" sz="2000" dirty="0" smtClean="0"/>
              <a:t>-</a:t>
            </a:r>
            <a:r>
              <a:rPr lang="en-US" sz="2000" dirty="0" err="1" smtClean="0"/>
              <a:t>webkit</a:t>
            </a:r>
            <a:r>
              <a:rPr lang="en-US" sz="2000" dirty="0" smtClean="0"/>
              <a:t>-border-</a:t>
            </a:r>
            <a:r>
              <a:rPr lang="en-US" sz="2000" dirty="0" err="1" smtClean="0"/>
              <a:t>image:url</a:t>
            </a:r>
            <a:r>
              <a:rPr lang="en-US" sz="2000" dirty="0" smtClean="0"/>
              <a:t>(border.png) 30 30 round; /* Safari and Chrome */</a:t>
            </a:r>
            <a:br>
              <a:rPr lang="en-US" sz="2000" dirty="0" smtClean="0"/>
            </a:br>
            <a:r>
              <a:rPr lang="en-US" sz="2000" dirty="0" smtClean="0"/>
              <a:t>-o-border-</a:t>
            </a:r>
            <a:r>
              <a:rPr lang="en-US" sz="2000" dirty="0" err="1" smtClean="0"/>
              <a:t>image:url</a:t>
            </a:r>
            <a:r>
              <a:rPr lang="en-US" sz="2000" dirty="0" smtClean="0"/>
              <a:t>(border.png) 30 30 round; /* Opera */</a:t>
            </a:r>
            <a:br>
              <a:rPr lang="en-US" sz="2000" dirty="0" smtClean="0"/>
            </a:br>
            <a:r>
              <a:rPr lang="en-US" sz="2000" dirty="0" smtClean="0"/>
              <a:t>}</a:t>
            </a:r>
          </a:p>
          <a:p>
            <a:endParaRPr lang="en-US" sz="2000" dirty="0"/>
          </a:p>
        </p:txBody>
      </p:sp>
      <p:sp>
        <p:nvSpPr>
          <p:cNvPr id="9" name="TextBox 8"/>
          <p:cNvSpPr txBox="1"/>
          <p:nvPr/>
        </p:nvSpPr>
        <p:spPr>
          <a:xfrm>
            <a:off x="7620000" y="2286000"/>
            <a:ext cx="1213089" cy="369332"/>
          </a:xfrm>
          <a:prstGeom prst="rect">
            <a:avLst/>
          </a:prstGeom>
          <a:noFill/>
        </p:spPr>
        <p:txBody>
          <a:bodyPr wrap="none" rtlCol="0">
            <a:spAutoFit/>
          </a:bodyPr>
          <a:lstStyle/>
          <a:p>
            <a:r>
              <a:rPr lang="en-US" dirty="0" smtClean="0"/>
              <a:t>Border.png</a:t>
            </a:r>
            <a:endParaRPr lang="en-US"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Box  Shadow</a:t>
            </a:r>
            <a:endParaRPr lang="en-US" sz="3600" b="0" dirty="0"/>
          </a:p>
        </p:txBody>
      </p:sp>
      <p:sp>
        <p:nvSpPr>
          <p:cNvPr id="3" name="Content Placeholder 2"/>
          <p:cNvSpPr>
            <a:spLocks noGrp="1"/>
          </p:cNvSpPr>
          <p:nvPr>
            <p:ph idx="1"/>
          </p:nvPr>
        </p:nvSpPr>
        <p:spPr>
          <a:xfrm>
            <a:off x="304800" y="990600"/>
            <a:ext cx="7395380" cy="1295400"/>
          </a:xfrm>
        </p:spPr>
        <p:txBody>
          <a:bodyPr>
            <a:noAutofit/>
          </a:bodyPr>
          <a:lstStyle/>
          <a:p>
            <a:pPr>
              <a:buNone/>
            </a:pPr>
            <a:endParaRPr lang="en-US" dirty="0" smtClean="0"/>
          </a:p>
          <a:p>
            <a:r>
              <a:rPr lang="en-US" dirty="0" smtClean="0"/>
              <a:t> CSS3, the box-shadow property is used to add shadow to boxes:</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graphicFrame>
        <p:nvGraphicFramePr>
          <p:cNvPr id="7" name="Table 6"/>
          <p:cNvGraphicFramePr>
            <a:graphicFrameLocks noGrp="1"/>
          </p:cNvGraphicFramePr>
          <p:nvPr/>
        </p:nvGraphicFramePr>
        <p:xfrm>
          <a:off x="1066800" y="2895600"/>
          <a:ext cx="7696200" cy="2316480"/>
        </p:xfrm>
        <a:graphic>
          <a:graphicData uri="http://schemas.openxmlformats.org/drawingml/2006/table">
            <a:tbl>
              <a:tblPr/>
              <a:tblGrid>
                <a:gridCol w="2308860"/>
                <a:gridCol w="4396740"/>
                <a:gridCol w="990600"/>
              </a:tblGrid>
              <a:tr h="533400">
                <a:tc>
                  <a:txBody>
                    <a:bodyPr/>
                    <a:lstStyle/>
                    <a:p>
                      <a:pPr algn="l" fontAlgn="t"/>
                      <a:r>
                        <a:rPr lang="en-US" dirty="0">
                          <a:latin typeface="verdana"/>
                        </a:rPr>
                        <a:t>Property</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US" dirty="0">
                          <a:latin typeface="verdana"/>
                        </a:rPr>
                        <a:t>Description</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US" dirty="0" err="1">
                          <a:latin typeface="verdana"/>
                        </a:rPr>
                        <a:t>CSS</a:t>
                      </a:r>
                      <a:endParaRPr lang="en-US" dirty="0">
                        <a:latin typeface="verdana"/>
                      </a:endParaRP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chemeClr val="tx2">
                        <a:lumMod val="60000"/>
                        <a:lumOff val="40000"/>
                      </a:schemeClr>
                    </a:solidFill>
                  </a:tcPr>
                </a:tc>
              </a:tr>
              <a:tr h="0">
                <a:tc>
                  <a:txBody>
                    <a:bodyPr/>
                    <a:lstStyle/>
                    <a:p>
                      <a:pPr fontAlgn="t"/>
                      <a:r>
                        <a:rPr lang="en-US">
                          <a:solidFill>
                            <a:srgbClr val="900B09"/>
                          </a:solidFill>
                          <a:latin typeface="verdana"/>
                          <a:hlinkClick r:id="rId3"/>
                        </a:rPr>
                        <a:t>border-image</a:t>
                      </a:r>
                      <a:endParaRPr lang="en-US">
                        <a:latin typeface="verdana"/>
                      </a:endParaRP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a:latin typeface="verdana"/>
                        </a:rPr>
                        <a:t>A shorthand property for setting all the border-image-* properties</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a:latin typeface="verdana"/>
                        </a:rPr>
                        <a:t>3</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a:solidFill>
                            <a:srgbClr val="900B09"/>
                          </a:solidFill>
                          <a:latin typeface="verdana"/>
                          <a:hlinkClick r:id="rId4"/>
                        </a:rPr>
                        <a:t>border-radius</a:t>
                      </a:r>
                      <a:endParaRPr lang="en-US">
                        <a:latin typeface="verdana"/>
                      </a:endParaRP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a:latin typeface="verdana"/>
                        </a:rPr>
                        <a:t>A shorthand property for setting all the four border-*-radius properties</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a:latin typeface="verdana"/>
                        </a:rPr>
                        <a:t>3</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r>
              <a:tr h="0">
                <a:tc>
                  <a:txBody>
                    <a:bodyPr/>
                    <a:lstStyle/>
                    <a:p>
                      <a:pPr fontAlgn="t"/>
                      <a:r>
                        <a:rPr lang="en-US">
                          <a:solidFill>
                            <a:srgbClr val="900B09"/>
                          </a:solidFill>
                          <a:latin typeface="verdana"/>
                          <a:hlinkClick r:id="rId5"/>
                        </a:rPr>
                        <a:t>box-shadow</a:t>
                      </a:r>
                      <a:endParaRPr lang="en-US">
                        <a:latin typeface="verdana"/>
                      </a:endParaRP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a:latin typeface="verdana"/>
                        </a:rPr>
                        <a:t>Attaches one or more drop-shadows to the box</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c>
                  <a:txBody>
                    <a:bodyPr/>
                    <a:lstStyle/>
                    <a:p>
                      <a:pPr fontAlgn="t"/>
                      <a:r>
                        <a:rPr lang="en-US" dirty="0">
                          <a:latin typeface="verdana"/>
                        </a:rPr>
                        <a:t>3</a:t>
                      </a:r>
                    </a:p>
                  </a:txBody>
                  <a:tcPr marL="22860" marR="22860" marT="22860" marB="22860">
                    <a:lnL w="7620" cap="flat" cmpd="sng" algn="ctr">
                      <a:solidFill>
                        <a:srgbClr val="C3C3C3"/>
                      </a:solidFill>
                      <a:prstDash val="solid"/>
                      <a:round/>
                      <a:headEnd type="none" w="med" len="med"/>
                      <a:tailEnd type="none" w="med" len="med"/>
                    </a:lnL>
                    <a:lnR w="7620" cap="flat" cmpd="sng" algn="ctr">
                      <a:solidFill>
                        <a:srgbClr val="C3C3C3"/>
                      </a:solidFill>
                      <a:prstDash val="solid"/>
                      <a:round/>
                      <a:headEnd type="none" w="med" len="med"/>
                      <a:tailEnd type="none" w="med" len="med"/>
                    </a:lnR>
                    <a:lnT w="7620" cap="flat" cmpd="sng" algn="ctr">
                      <a:solidFill>
                        <a:srgbClr val="C3C3C3"/>
                      </a:solidFill>
                      <a:prstDash val="solid"/>
                      <a:round/>
                      <a:headEnd type="none" w="med" len="med"/>
                      <a:tailEnd type="none" w="med" len="med"/>
                    </a:lnT>
                    <a:lnB w="7620" cap="flat" cmpd="sng" algn="ctr">
                      <a:solidFill>
                        <a:srgbClr val="C3C3C3"/>
                      </a:solidFill>
                      <a:prstDash val="solid"/>
                      <a:round/>
                      <a:headEnd type="none" w="med" len="med"/>
                      <a:tailEnd type="none" w="med" len="med"/>
                    </a:lnB>
                    <a:solidFill>
                      <a:srgbClr val="FFFFFF"/>
                    </a:solidFill>
                  </a:tcPr>
                </a:tc>
              </a:tr>
            </a:tbl>
          </a:graphicData>
        </a:graphic>
      </p:graphicFrame>
      <p:sp>
        <p:nvSpPr>
          <p:cNvPr id="512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63480" rIns="91440" bIns="6348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Verdana" pitchFamily="34" charset="0"/>
                <a:cs typeface="Arial" pitchFamily="34" charset="0"/>
              </a:rPr>
              <a:t>New Border Properties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600" b="0" i="0" u="none" strike="noStrike" cap="none" normalizeH="0" baseline="0" smtClean="0">
                <a:ln>
                  <a:noFill/>
                </a:ln>
                <a:solidFill>
                  <a:schemeClr val="tx1"/>
                </a:solidFill>
                <a:effectLst/>
                <a:latin typeface="Arial" pitchFamily="34" charset="0"/>
                <a:cs typeface="Arial" pitchFamily="34" charset="0"/>
              </a:rPr>
              <a:t/>
            </a:r>
            <a:br>
              <a:rPr kumimoji="0" lang="en-US" sz="6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ectangle 7"/>
          <p:cNvSpPr/>
          <p:nvPr/>
        </p:nvSpPr>
        <p:spPr>
          <a:xfrm>
            <a:off x="838200" y="6172200"/>
            <a:ext cx="2360839" cy="369332"/>
          </a:xfrm>
          <a:prstGeom prst="rect">
            <a:avLst/>
          </a:prstGeom>
        </p:spPr>
        <p:txBody>
          <a:bodyPr wrap="none">
            <a:spAutoFit/>
          </a:bodyPr>
          <a:lstStyle/>
          <a:p>
            <a:r>
              <a:rPr lang="en-SG" dirty="0" smtClean="0"/>
              <a:t>Source from </a:t>
            </a:r>
            <a:r>
              <a:rPr lang="en-SG" dirty="0" err="1" smtClean="0"/>
              <a:t>w3schools</a:t>
            </a:r>
            <a:endParaRPr lang="en-SG" dirty="0" smtClean="0"/>
          </a:p>
        </p:txBody>
      </p:sp>
      <p:sp>
        <p:nvSpPr>
          <p:cNvPr id="9" name="5-Point Star 8"/>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 Background Size property</a:t>
            </a:r>
            <a:endParaRPr lang="en-US" sz="3600" b="0" dirty="0"/>
          </a:p>
        </p:txBody>
      </p:sp>
      <p:sp>
        <p:nvSpPr>
          <p:cNvPr id="3"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2400" dirty="0" smtClean="0"/>
              <a:t> The background-size property specifies the size of the background image.</a:t>
            </a:r>
          </a:p>
          <a:p>
            <a:r>
              <a:rPr lang="en-US" sz="2400" dirty="0" smtClean="0"/>
              <a:t>You can specify the size in pixels or in percentages. If you specify the size as a percentage, the size is relative to the width and height of the parent element.</a:t>
            </a:r>
          </a:p>
          <a:p>
            <a:endParaRPr lang="en-US" sz="2400" dirty="0" smtClean="0"/>
          </a:p>
          <a:p>
            <a:r>
              <a:rPr lang="en-US" sz="2400" dirty="0" smtClean="0"/>
              <a:t>Example1:</a:t>
            </a:r>
            <a:r>
              <a:rPr lang="en-US" sz="2400" dirty="0" smtClean="0">
                <a:hlinkClick r:id="rId3"/>
              </a:rPr>
              <a:t> </a:t>
            </a:r>
            <a:r>
              <a:rPr lang="en-US" sz="2400" dirty="0">
                <a:hlinkClick r:id="rId4"/>
              </a:rPr>
              <a:t>http://</a:t>
            </a:r>
            <a:r>
              <a:rPr lang="en-US" sz="2400" dirty="0" smtClean="0">
                <a:hlinkClick r:id="rId4"/>
              </a:rPr>
              <a:t>www.w3schools.com/cssref/css3_pr_background-size.asp</a:t>
            </a:r>
            <a:endParaRPr lang="en-US" sz="24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11</a:t>
            </a:fld>
            <a:endParaRPr lang="en-US"/>
          </a:p>
        </p:txBody>
      </p:sp>
      <p:sp>
        <p:nvSpPr>
          <p:cNvPr id="6" name="5-Point Star 5"/>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Background size</a:t>
            </a:r>
            <a:endParaRPr lang="en-SG" sz="20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
        <p:nvSpPr>
          <p:cNvPr id="6" name="Content Placeholder 2"/>
          <p:cNvSpPr>
            <a:spLocks noGrp="1"/>
          </p:cNvSpPr>
          <p:nvPr>
            <p:ph idx="1"/>
          </p:nvPr>
        </p:nvSpPr>
        <p:spPr>
          <a:xfrm>
            <a:off x="300820" y="914400"/>
            <a:ext cx="7395380" cy="1295400"/>
          </a:xfrm>
        </p:spPr>
        <p:txBody>
          <a:bodyPr>
            <a:normAutofit/>
          </a:bodyPr>
          <a:lstStyle/>
          <a:p>
            <a:pPr>
              <a:buNone/>
            </a:pPr>
            <a:endParaRPr lang="en-US" sz="1600" dirty="0" smtClean="0"/>
          </a:p>
          <a:p>
            <a:r>
              <a:rPr lang="en-SG" sz="2000" dirty="0" smtClean="0"/>
              <a:t>Background Size</a:t>
            </a:r>
          </a:p>
          <a:p>
            <a:r>
              <a:rPr lang="en-SG" sz="1400" dirty="0"/>
              <a:t>http://www.w3schools.com/cssref/tryit.asp?filename=trycss3_background-size</a:t>
            </a:r>
            <a:endParaRPr lang="en-SG" sz="1400" dirty="0" smtClean="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4684310" y="1881723"/>
            <a:ext cx="4114800" cy="4770438"/>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&lt;!DOCTYPE html&gt;</a:t>
            </a:r>
          </a:p>
          <a:p>
            <a:r>
              <a:rPr lang="en-US" dirty="0"/>
              <a:t>&lt;html&gt;</a:t>
            </a:r>
          </a:p>
          <a:p>
            <a:r>
              <a:rPr lang="en-US" dirty="0"/>
              <a:t>&lt;head&gt;</a:t>
            </a:r>
          </a:p>
          <a:p>
            <a:r>
              <a:rPr lang="en-US" dirty="0"/>
              <a:t>&lt;style&gt; </a:t>
            </a:r>
          </a:p>
          <a:p>
            <a:r>
              <a:rPr lang="en-US" dirty="0"/>
              <a:t>body {</a:t>
            </a:r>
          </a:p>
          <a:p>
            <a:r>
              <a:rPr lang="en-US" dirty="0"/>
              <a:t>    background: </a:t>
            </a:r>
            <a:r>
              <a:rPr lang="en-US" dirty="0" err="1"/>
              <a:t>url</a:t>
            </a:r>
            <a:r>
              <a:rPr lang="en-US" dirty="0"/>
              <a:t>("img_flwr.gif");</a:t>
            </a:r>
          </a:p>
          <a:p>
            <a:r>
              <a:rPr lang="en-US" dirty="0"/>
              <a:t>    background-size: 80px 60px;</a:t>
            </a:r>
          </a:p>
          <a:p>
            <a:r>
              <a:rPr lang="en-US" dirty="0"/>
              <a:t>    background-repeat: no-repeat;</a:t>
            </a:r>
          </a:p>
          <a:p>
            <a:r>
              <a:rPr lang="en-US" dirty="0"/>
              <a:t>    padding-top: 40px;</a:t>
            </a:r>
          </a:p>
          <a:p>
            <a:r>
              <a:rPr lang="en-US" dirty="0"/>
              <a:t>}</a:t>
            </a:r>
          </a:p>
          <a:p>
            <a:r>
              <a:rPr lang="en-US" dirty="0"/>
              <a:t>&lt;/style&gt;</a:t>
            </a:r>
          </a:p>
          <a:p>
            <a:r>
              <a:rPr lang="en-US" dirty="0"/>
              <a:t>&lt;/head&gt;</a:t>
            </a:r>
          </a:p>
          <a:p>
            <a:r>
              <a:rPr lang="en-US" dirty="0"/>
              <a:t>&lt;body&gt;&lt;</a:t>
            </a:r>
            <a:r>
              <a:rPr lang="en-US" dirty="0" smtClean="0"/>
              <a:t>p&gt;</a:t>
            </a:r>
          </a:p>
          <a:p>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nonummy</a:t>
            </a:r>
            <a:r>
              <a:rPr lang="en-US" dirty="0" smtClean="0"/>
              <a:t> </a:t>
            </a:r>
            <a:r>
              <a:rPr lang="en-US" dirty="0" err="1" smtClean="0"/>
              <a:t>nibh</a:t>
            </a:r>
            <a:r>
              <a:rPr lang="en-US" dirty="0" smtClean="0"/>
              <a:t> </a:t>
            </a:r>
            <a:r>
              <a:rPr lang="en-US" dirty="0" err="1" smtClean="0"/>
              <a:t>euismod</a:t>
            </a:r>
            <a:r>
              <a:rPr lang="en-US" dirty="0" smtClean="0"/>
              <a:t> </a:t>
            </a:r>
            <a:r>
              <a:rPr lang="en-US" dirty="0" err="1" smtClean="0"/>
              <a:t>tincidunt</a:t>
            </a:r>
            <a:r>
              <a:rPr lang="en-US" dirty="0" smtClean="0"/>
              <a:t> </a:t>
            </a:r>
            <a:r>
              <a:rPr lang="en-US" dirty="0" err="1" smtClean="0"/>
              <a:t>ut</a:t>
            </a:r>
            <a:r>
              <a:rPr lang="en-US" dirty="0" smtClean="0"/>
              <a:t> </a:t>
            </a:r>
            <a:r>
              <a:rPr lang="en-US" dirty="0" err="1" smtClean="0"/>
              <a:t>laoreet</a:t>
            </a:r>
            <a:r>
              <a:rPr lang="en-US" dirty="0" smtClean="0"/>
              <a:t> </a:t>
            </a:r>
            <a:r>
              <a:rPr lang="en-US" dirty="0" err="1" smtClean="0"/>
              <a:t>dolore</a:t>
            </a:r>
            <a:r>
              <a:rPr lang="en-US" dirty="0" smtClean="0"/>
              <a:t> magna </a:t>
            </a:r>
          </a:p>
          <a:p>
            <a:r>
              <a:rPr lang="en-US" dirty="0" smtClean="0"/>
              <a:t>&lt;/p&gt;&lt;/body&gt;</a:t>
            </a:r>
          </a:p>
          <a:p>
            <a:r>
              <a:rPr lang="en-US" dirty="0" smtClean="0"/>
              <a:t>&lt;/html&gt;</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685800" y="2057401"/>
            <a:ext cx="3048000" cy="1375172"/>
          </a:xfrm>
          <a:prstGeom prst="rect">
            <a:avLst/>
          </a:prstGeom>
          <a:noFill/>
          <a:ln w="9525">
            <a:noFill/>
            <a:miter lim="800000"/>
            <a:headEnd/>
            <a:tailEnd/>
          </a:ln>
        </p:spPr>
      </p:pic>
      <p:sp>
        <p:nvSpPr>
          <p:cNvPr id="10" name="5-Point Star 9"/>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9334157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Text Effects</a:t>
            </a:r>
            <a:endParaRPr lang="en-SG" sz="3600" b="0" dirty="0"/>
          </a:p>
        </p:txBody>
      </p:sp>
      <p:sp>
        <p:nvSpPr>
          <p:cNvPr id="3"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2400" dirty="0" smtClean="0"/>
              <a:t>Lets look at two new text effects:</a:t>
            </a:r>
          </a:p>
          <a:p>
            <a:pPr lvl="1"/>
            <a:r>
              <a:rPr lang="en-SG" sz="2000" dirty="0" smtClean="0"/>
              <a:t>text-shadow</a:t>
            </a:r>
          </a:p>
          <a:p>
            <a:pPr lvl="1"/>
            <a:r>
              <a:rPr lang="en-SG" sz="2000" dirty="0" smtClean="0"/>
              <a:t>word-wrap</a:t>
            </a:r>
          </a:p>
          <a:p>
            <a:endParaRPr lang="en-US" sz="2400" dirty="0" smtClean="0"/>
          </a:p>
          <a:p>
            <a:endParaRPr lang="en-US" sz="2400" dirty="0" smtClean="0"/>
          </a:p>
          <a:p>
            <a:endParaRPr lang="en-SG" sz="2400" dirty="0" smtClean="0"/>
          </a:p>
          <a:p>
            <a:r>
              <a:rPr lang="en-US" sz="2400" dirty="0"/>
              <a:t>Internet Explorer 10, Firefox, Chrome, Safari, and Opera support the text-shadow property.</a:t>
            </a:r>
          </a:p>
          <a:p>
            <a:r>
              <a:rPr lang="en-US" sz="2400" dirty="0"/>
              <a:t>All major browsers support the word-wrap property.</a:t>
            </a:r>
          </a:p>
          <a:p>
            <a:r>
              <a:rPr lang="en-US" sz="2400" b="1" dirty="0"/>
              <a:t>Note:</a:t>
            </a:r>
            <a:r>
              <a:rPr lang="en-US" sz="2400" dirty="0"/>
              <a:t> Internet Explorer 9 and earlier versions, does not support the text-shadow property.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
        <p:nvSpPr>
          <p:cNvPr id="6" name="5-Point Star 5"/>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180" y="2590800"/>
            <a:ext cx="4654420" cy="139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Text Shadows</a:t>
            </a:r>
            <a:endParaRPr lang="en-SG" sz="3600" b="0" dirty="0"/>
          </a:p>
        </p:txBody>
      </p:sp>
      <p:sp>
        <p:nvSpPr>
          <p:cNvPr id="3"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SG" sz="2400" dirty="0" smtClean="0"/>
              <a:t>You specify the horizontal shadow, the vertical shadow, the blur distance, and the </a:t>
            </a:r>
            <a:r>
              <a:rPr lang="en-SG" sz="2400" dirty="0" err="1" smtClean="0"/>
              <a:t>color</a:t>
            </a:r>
            <a:r>
              <a:rPr lang="en-SG" sz="2400" dirty="0" smtClean="0"/>
              <a:t> of the shadow:</a:t>
            </a:r>
          </a:p>
          <a:p>
            <a:endParaRPr lang="en-US" sz="2400" dirty="0" smtClean="0"/>
          </a:p>
          <a:p>
            <a:endParaRPr lang="en-SG" sz="2400" dirty="0" smtClean="0"/>
          </a:p>
          <a:p>
            <a:r>
              <a:rPr lang="en-SG" sz="2400" dirty="0" smtClean="0"/>
              <a:t>Add a shadow to a header:</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pic>
        <p:nvPicPr>
          <p:cNvPr id="2050" name="Picture 2"/>
          <p:cNvPicPr>
            <a:picLocks noChangeAspect="1" noChangeArrowheads="1"/>
          </p:cNvPicPr>
          <p:nvPr/>
        </p:nvPicPr>
        <p:blipFill>
          <a:blip r:embed="rId3" cstate="print"/>
          <a:srcRect/>
          <a:stretch>
            <a:fillRect/>
          </a:stretch>
        </p:blipFill>
        <p:spPr bwMode="auto">
          <a:xfrm>
            <a:off x="838200" y="2286000"/>
            <a:ext cx="4466253" cy="609600"/>
          </a:xfrm>
          <a:prstGeom prst="rect">
            <a:avLst/>
          </a:prstGeom>
          <a:noFill/>
          <a:ln w="9525">
            <a:noFill/>
            <a:miter lim="800000"/>
            <a:headEnd/>
            <a:tailEnd/>
          </a:ln>
        </p:spPr>
      </p:pic>
      <p:sp>
        <p:nvSpPr>
          <p:cNvPr id="7" name="Round Same Side Corner Rectangle 6"/>
          <p:cNvSpPr/>
          <p:nvPr/>
        </p:nvSpPr>
        <p:spPr>
          <a:xfrm>
            <a:off x="685800" y="4114800"/>
            <a:ext cx="6400800" cy="21336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h1 {</a:t>
            </a:r>
            <a:br>
              <a:rPr lang="en-US" sz="2400" dirty="0"/>
            </a:br>
            <a:r>
              <a:rPr lang="en-US" sz="2400" dirty="0"/>
              <a:t>    text-shadow: 2px </a:t>
            </a:r>
            <a:r>
              <a:rPr lang="en-US" sz="2400" dirty="0" err="1"/>
              <a:t>2px</a:t>
            </a:r>
            <a:r>
              <a:rPr lang="en-US" sz="2400" dirty="0"/>
              <a:t> #ff0000;</a:t>
            </a:r>
            <a:br>
              <a:rPr lang="en-US" sz="2400" dirty="0"/>
            </a:br>
            <a:r>
              <a:rPr lang="en-US" sz="2400" dirty="0"/>
              <a:t>}</a:t>
            </a:r>
            <a:endParaRPr lang="en-US" sz="2400" dirty="0" smtClean="0"/>
          </a:p>
          <a:p>
            <a:endParaRPr lang="en-US" sz="2400" dirty="0"/>
          </a:p>
        </p:txBody>
      </p:sp>
      <p:sp>
        <p:nvSpPr>
          <p:cNvPr id="8" name="5-Point Star 7"/>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Word Wrapping</a:t>
            </a:r>
            <a:endParaRPr lang="en-SG" sz="3600" b="0" dirty="0"/>
          </a:p>
        </p:txBody>
      </p:sp>
      <p:sp>
        <p:nvSpPr>
          <p:cNvPr id="3"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2400" dirty="0" smtClean="0"/>
              <a:t>Lets look at two new text effects:</a:t>
            </a:r>
          </a:p>
          <a:p>
            <a:pPr lvl="1"/>
            <a:r>
              <a:rPr lang="en-SG" sz="2000" dirty="0" smtClean="0"/>
              <a:t>text-shadow</a:t>
            </a:r>
          </a:p>
          <a:p>
            <a:pPr lvl="1"/>
            <a:r>
              <a:rPr lang="en-SG" sz="2000" dirty="0" smtClean="0"/>
              <a:t>word-wrap</a:t>
            </a:r>
          </a:p>
          <a:p>
            <a:pPr>
              <a:buFont typeface="Wingdings" pitchFamily="2" charset="2"/>
              <a:buChar char="q"/>
            </a:pPr>
            <a:r>
              <a:rPr lang="en-SG" sz="2000" dirty="0" smtClean="0"/>
              <a:t>If a word is too long to fit within an area, it expands outside:</a:t>
            </a:r>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r>
              <a:rPr lang="en-SG" sz="2000" dirty="0" smtClean="0"/>
              <a:t>In </a:t>
            </a:r>
            <a:r>
              <a:rPr lang="en-SG" sz="2000" dirty="0" err="1" smtClean="0"/>
              <a:t>CSS3</a:t>
            </a:r>
            <a:r>
              <a:rPr lang="en-SG" sz="2000" dirty="0" smtClean="0"/>
              <a:t>, the word-wrap property allows you to force the text to wrap - even if it means splitting it in the middle of a word:</a:t>
            </a:r>
          </a:p>
          <a:p>
            <a:endParaRPr lang="en-US" sz="2400" dirty="0" smtClean="0"/>
          </a:p>
          <a:p>
            <a:endParaRPr lang="en-US" sz="24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pic>
        <p:nvPicPr>
          <p:cNvPr id="3074" name="Picture 2"/>
          <p:cNvPicPr>
            <a:picLocks noChangeAspect="1" noChangeArrowheads="1"/>
          </p:cNvPicPr>
          <p:nvPr/>
        </p:nvPicPr>
        <p:blipFill>
          <a:blip r:embed="rId3" cstate="print"/>
          <a:srcRect/>
          <a:stretch>
            <a:fillRect/>
          </a:stretch>
        </p:blipFill>
        <p:spPr bwMode="auto">
          <a:xfrm>
            <a:off x="762000" y="2971800"/>
            <a:ext cx="4392999" cy="1362075"/>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914400" y="5181600"/>
            <a:ext cx="1952625" cy="1190625"/>
          </a:xfrm>
          <a:prstGeom prst="rect">
            <a:avLst/>
          </a:prstGeom>
          <a:noFill/>
          <a:ln w="9525">
            <a:noFill/>
            <a:miter lim="800000"/>
            <a:headEnd/>
            <a:tailEnd/>
          </a:ln>
        </p:spPr>
      </p:pic>
      <p:sp>
        <p:nvSpPr>
          <p:cNvPr id="8" name="Round Same Side Corner Rectangle 7"/>
          <p:cNvSpPr/>
          <p:nvPr/>
        </p:nvSpPr>
        <p:spPr>
          <a:xfrm>
            <a:off x="3581400" y="5562600"/>
            <a:ext cx="3962400" cy="838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2000" dirty="0" smtClean="0"/>
              <a:t>p {word-</a:t>
            </a:r>
            <a:r>
              <a:rPr lang="en-SG" sz="2000" dirty="0" err="1" smtClean="0"/>
              <a:t>wrap:break</a:t>
            </a:r>
            <a:r>
              <a:rPr lang="en-SG" sz="2000" dirty="0" smtClean="0"/>
              <a:t>-word;}</a:t>
            </a:r>
            <a:endParaRPr lang="en-US" sz="2000" dirty="0"/>
          </a:p>
        </p:txBody>
      </p:sp>
      <p:sp>
        <p:nvSpPr>
          <p:cNvPr id="9" name="5-Point Star 8"/>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Word Wrapping</a:t>
            </a:r>
            <a:endParaRPr lang="en-SG" sz="3600" b="0" dirty="0"/>
          </a:p>
        </p:txBody>
      </p:sp>
      <p:sp>
        <p:nvSpPr>
          <p:cNvPr id="3"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2400" dirty="0" smtClean="0"/>
              <a:t>Lets look at two new text effects:</a:t>
            </a:r>
          </a:p>
          <a:p>
            <a:pPr lvl="1"/>
            <a:r>
              <a:rPr lang="en-SG" sz="2000" dirty="0" smtClean="0"/>
              <a:t>text-shadow</a:t>
            </a:r>
          </a:p>
          <a:p>
            <a:pPr lvl="1"/>
            <a:r>
              <a:rPr lang="en-SG" sz="2000" dirty="0" smtClean="0"/>
              <a:t>word-wrap</a:t>
            </a:r>
          </a:p>
          <a:p>
            <a:pPr>
              <a:buFont typeface="Wingdings" pitchFamily="2" charset="2"/>
              <a:buChar char="q"/>
            </a:pPr>
            <a:r>
              <a:rPr lang="en-SG" sz="2000" dirty="0" smtClean="0"/>
              <a:t>If a word is too long to fit within an area, it expands outside:</a:t>
            </a:r>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endParaRPr lang="en-US" sz="2000" dirty="0" smtClean="0"/>
          </a:p>
          <a:p>
            <a:pPr>
              <a:buFont typeface="Wingdings" pitchFamily="2" charset="2"/>
              <a:buChar char="q"/>
            </a:pPr>
            <a:r>
              <a:rPr lang="en-SG" sz="2000" dirty="0" smtClean="0"/>
              <a:t>In </a:t>
            </a:r>
            <a:r>
              <a:rPr lang="en-SG" sz="2000" dirty="0" err="1" smtClean="0"/>
              <a:t>CSS3</a:t>
            </a:r>
            <a:r>
              <a:rPr lang="en-SG" sz="2000" dirty="0" smtClean="0"/>
              <a:t>, the word-wrap property allows you to force the text to wrap - even if it means splitting it in the middle of a word:</a:t>
            </a:r>
          </a:p>
          <a:p>
            <a:endParaRPr lang="en-US" sz="2400" dirty="0" smtClean="0"/>
          </a:p>
          <a:p>
            <a:endParaRPr lang="en-US" sz="24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pic>
        <p:nvPicPr>
          <p:cNvPr id="3074" name="Picture 2"/>
          <p:cNvPicPr>
            <a:picLocks noChangeAspect="1" noChangeArrowheads="1"/>
          </p:cNvPicPr>
          <p:nvPr/>
        </p:nvPicPr>
        <p:blipFill>
          <a:blip r:embed="rId3" cstate="print"/>
          <a:srcRect/>
          <a:stretch>
            <a:fillRect/>
          </a:stretch>
        </p:blipFill>
        <p:spPr bwMode="auto">
          <a:xfrm>
            <a:off x="762000" y="2971800"/>
            <a:ext cx="4392999" cy="1362075"/>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914400" y="5181600"/>
            <a:ext cx="1952625" cy="1190625"/>
          </a:xfrm>
          <a:prstGeom prst="rect">
            <a:avLst/>
          </a:prstGeom>
          <a:noFill/>
          <a:ln w="9525">
            <a:noFill/>
            <a:miter lim="800000"/>
            <a:headEnd/>
            <a:tailEnd/>
          </a:ln>
        </p:spPr>
      </p:pic>
      <p:sp>
        <p:nvSpPr>
          <p:cNvPr id="8" name="Round Same Side Corner Rectangle 7"/>
          <p:cNvSpPr/>
          <p:nvPr/>
        </p:nvSpPr>
        <p:spPr>
          <a:xfrm>
            <a:off x="3581400" y="5562600"/>
            <a:ext cx="3962400" cy="838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2000" dirty="0" smtClean="0"/>
              <a:t>p {word-</a:t>
            </a:r>
            <a:r>
              <a:rPr lang="en-SG" sz="2000" dirty="0" err="1" smtClean="0"/>
              <a:t>wrap:break</a:t>
            </a:r>
            <a:r>
              <a:rPr lang="en-SG" sz="2000" dirty="0" smtClean="0"/>
              <a:t>-word;}</a:t>
            </a:r>
            <a:endParaRPr lang="en-US" sz="2000"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Fonts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sp>
        <p:nvSpPr>
          <p:cNvPr id="6" name="Content Placeholder 2"/>
          <p:cNvSpPr>
            <a:spLocks noGrp="1"/>
          </p:cNvSpPr>
          <p:nvPr>
            <p:ph idx="1"/>
          </p:nvPr>
        </p:nvSpPr>
        <p:spPr>
          <a:xfrm>
            <a:off x="228600" y="990600"/>
            <a:ext cx="7395380" cy="1295400"/>
          </a:xfrm>
        </p:spPr>
        <p:txBody>
          <a:bodyPr>
            <a:noAutofit/>
          </a:bodyPr>
          <a:lstStyle/>
          <a:p>
            <a:pPr>
              <a:buNone/>
            </a:pPr>
            <a:endParaRPr lang="en-US" sz="2400" dirty="0" smtClean="0"/>
          </a:p>
          <a:p>
            <a:pPr marL="0" indent="0">
              <a:buNone/>
            </a:pPr>
            <a:r>
              <a:rPr lang="en-US" sz="3200" dirty="0"/>
              <a:t>The CSS3 @font-face </a:t>
            </a:r>
            <a:r>
              <a:rPr lang="en-US" sz="3200" dirty="0" smtClean="0"/>
              <a:t> Browser support</a:t>
            </a:r>
          </a:p>
          <a:p>
            <a:pPr marL="0" indent="0">
              <a:buNone/>
            </a:pPr>
            <a:endParaRPr lang="en-US" sz="3200" dirty="0" smtClean="0"/>
          </a:p>
          <a:p>
            <a:pPr marL="0" indent="0">
              <a:buNone/>
            </a:pPr>
            <a:endParaRPr lang="en-US" sz="3200" dirty="0" smtClean="0"/>
          </a:p>
          <a:p>
            <a:r>
              <a:rPr lang="en-US" sz="2000" dirty="0"/>
              <a:t>Internet Explorer 9+, Firefox, Chrome, Safari, and Opera support the WOFF (Web Open Font Format) font.</a:t>
            </a:r>
          </a:p>
          <a:p>
            <a:r>
              <a:rPr lang="en-US" sz="2000" dirty="0"/>
              <a:t>Firefox, Chrome, Safari, and Opera also support fonts of type TTF (True Type Fonts) and OTF (</a:t>
            </a:r>
            <a:r>
              <a:rPr lang="en-US" sz="2000" dirty="0" err="1"/>
              <a:t>OpenType</a:t>
            </a:r>
            <a:r>
              <a:rPr lang="en-US" sz="2000" dirty="0"/>
              <a:t> Fonts).</a:t>
            </a:r>
          </a:p>
          <a:p>
            <a:r>
              <a:rPr lang="en-US" sz="2000" dirty="0"/>
              <a:t>Chrome, Safari and Opera also support SVG fonts/shapes.</a:t>
            </a:r>
          </a:p>
          <a:p>
            <a:r>
              <a:rPr lang="en-US" sz="2000" dirty="0"/>
              <a:t>Internet Explorer also supports EOT (Embedded </a:t>
            </a:r>
            <a:r>
              <a:rPr lang="en-US" sz="2000" dirty="0" err="1"/>
              <a:t>OpenType</a:t>
            </a:r>
            <a:r>
              <a:rPr lang="en-US" sz="2000" dirty="0"/>
              <a:t>) fonts.</a:t>
            </a:r>
          </a:p>
          <a:p>
            <a:r>
              <a:rPr lang="en-US" sz="2000" b="1" dirty="0"/>
              <a:t>Note:</a:t>
            </a:r>
            <a:r>
              <a:rPr lang="en-US" sz="2000" dirty="0"/>
              <a:t> Internet Explorer 8 and earlier versions, do not support the @font-face rule.</a:t>
            </a:r>
          </a:p>
          <a:p>
            <a:pPr>
              <a:buNone/>
            </a:pPr>
            <a:r>
              <a:rPr lang="en-SG" sz="3200" dirty="0" smtClean="0"/>
              <a:t/>
            </a:r>
            <a:br>
              <a:rPr lang="en-SG" sz="3200" dirty="0" smtClean="0"/>
            </a:br>
            <a:endParaRPr lang="en-US" sz="3200" dirty="0"/>
          </a:p>
          <a:p>
            <a:endParaRPr lang="en-US" sz="2400" dirty="0" smtClean="0"/>
          </a:p>
        </p:txBody>
      </p:sp>
      <p:pic>
        <p:nvPicPr>
          <p:cNvPr id="5122" name="Picture 2"/>
          <p:cNvPicPr>
            <a:picLocks noChangeAspect="1" noChangeArrowheads="1"/>
          </p:cNvPicPr>
          <p:nvPr/>
        </p:nvPicPr>
        <p:blipFill>
          <a:blip r:embed="rId3" cstate="print"/>
          <a:srcRect/>
          <a:stretch>
            <a:fillRect/>
          </a:stretch>
        </p:blipFill>
        <p:spPr bwMode="auto">
          <a:xfrm>
            <a:off x="533400" y="2209800"/>
            <a:ext cx="5715000" cy="1027120"/>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527650" y="6096000"/>
            <a:ext cx="8334375" cy="533400"/>
          </a:xfrm>
          <a:prstGeom prst="rect">
            <a:avLst/>
          </a:prstGeom>
          <a:noFill/>
          <a:ln w="9525">
            <a:noFill/>
            <a:miter lim="800000"/>
            <a:headEnd/>
            <a:tailEnd/>
          </a:ln>
        </p:spPr>
      </p:pic>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Fonts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sp>
        <p:nvSpPr>
          <p:cNvPr id="6" name="Content Placeholder 2"/>
          <p:cNvSpPr>
            <a:spLocks noGrp="1"/>
          </p:cNvSpPr>
          <p:nvPr>
            <p:ph idx="1"/>
          </p:nvPr>
        </p:nvSpPr>
        <p:spPr>
          <a:xfrm>
            <a:off x="228600" y="990600"/>
            <a:ext cx="7395380" cy="1295400"/>
          </a:xfrm>
        </p:spPr>
        <p:txBody>
          <a:bodyPr>
            <a:noAutofit/>
          </a:bodyPr>
          <a:lstStyle/>
          <a:p>
            <a:pPr>
              <a:buNone/>
            </a:pPr>
            <a:endParaRPr lang="en-US" sz="2400" dirty="0" smtClean="0"/>
          </a:p>
          <a:p>
            <a:pPr marL="0" indent="0">
              <a:buNone/>
            </a:pPr>
            <a:r>
              <a:rPr lang="en-US" sz="3200" dirty="0"/>
              <a:t>The CSS3 @font-face Rule</a:t>
            </a:r>
          </a:p>
          <a:p>
            <a:endParaRPr lang="en-US" sz="2400" dirty="0" smtClean="0"/>
          </a:p>
          <a:p>
            <a:r>
              <a:rPr lang="en-US" sz="2400" dirty="0" smtClean="0"/>
              <a:t>Before </a:t>
            </a:r>
            <a:r>
              <a:rPr lang="en-US" sz="2400" dirty="0"/>
              <a:t>CSS3, web designers had to use fonts that were already installed on the user's computer.</a:t>
            </a:r>
          </a:p>
          <a:p>
            <a:r>
              <a:rPr lang="en-US" sz="2400" dirty="0"/>
              <a:t>With CSS3, web designers can use whatever font he/she likes.</a:t>
            </a:r>
          </a:p>
          <a:p>
            <a:r>
              <a:rPr lang="en-US" sz="2400" dirty="0"/>
              <a:t>When you have found/bought the font you wish to use, include the font file on your web server, and it will be automatically downloaded to the user when needed</a:t>
            </a:r>
            <a:r>
              <a:rPr lang="en-US" sz="2400" dirty="0" smtClean="0"/>
              <a:t>.</a:t>
            </a:r>
          </a:p>
          <a:p>
            <a:pPr marL="0" indent="0">
              <a:buNone/>
            </a:pPr>
            <a:endParaRPr lang="en-US" sz="2400" dirty="0"/>
          </a:p>
          <a:p>
            <a:r>
              <a:rPr lang="en-US" sz="2400" dirty="0"/>
              <a:t>Your "own" fonts are defined in the CSS3 @font-face rule.</a:t>
            </a: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Fonts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19</a:t>
            </a:fld>
            <a:endParaRPr lang="en-US"/>
          </a:p>
        </p:txBody>
      </p:sp>
      <p:sp>
        <p:nvSpPr>
          <p:cNvPr id="6"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3200" dirty="0"/>
              <a:t>Using The Font You Want</a:t>
            </a:r>
          </a:p>
          <a:p>
            <a:r>
              <a:rPr lang="en-US" sz="2400" dirty="0" smtClean="0"/>
              <a:t>In </a:t>
            </a:r>
            <a:r>
              <a:rPr lang="en-US" sz="2400" dirty="0"/>
              <a:t>the new @font-face rule you must first define a name for the font (e.g. </a:t>
            </a:r>
            <a:r>
              <a:rPr lang="en-US" sz="2400" dirty="0" err="1" smtClean="0"/>
              <a:t>myFont</a:t>
            </a:r>
            <a:r>
              <a:rPr lang="en-US" sz="2400" dirty="0"/>
              <a:t>), and then point to the font file.</a:t>
            </a:r>
          </a:p>
          <a:p>
            <a:r>
              <a:rPr lang="en-US" sz="2400" dirty="0"/>
              <a:t>To use the font for an HTML element, refer to the name of the font (</a:t>
            </a:r>
            <a:r>
              <a:rPr lang="en-US" sz="2400" dirty="0" err="1" smtClean="0"/>
              <a:t>myFont</a:t>
            </a:r>
            <a:r>
              <a:rPr lang="en-US" sz="2400" dirty="0"/>
              <a:t>) through the font-family property:</a:t>
            </a: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3796442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Fonts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20</a:t>
            </a:fld>
            <a:endParaRPr lang="en-US"/>
          </a:p>
        </p:txBody>
      </p:sp>
      <p:sp>
        <p:nvSpPr>
          <p:cNvPr id="6" name="Content Placeholder 2"/>
          <p:cNvSpPr>
            <a:spLocks noGrp="1"/>
          </p:cNvSpPr>
          <p:nvPr>
            <p:ph idx="1"/>
          </p:nvPr>
        </p:nvSpPr>
        <p:spPr>
          <a:xfrm>
            <a:off x="228600" y="990600"/>
            <a:ext cx="7395380" cy="1295400"/>
          </a:xfrm>
        </p:spPr>
        <p:txBody>
          <a:bodyPr>
            <a:noAutofit/>
          </a:bodyPr>
          <a:lstStyle/>
          <a:p>
            <a:pPr>
              <a:buNone/>
            </a:pPr>
            <a:endParaRPr lang="en-US" sz="2400" dirty="0" smtClean="0"/>
          </a:p>
          <a:p>
            <a:r>
              <a:rPr lang="en-US" sz="3200" dirty="0"/>
              <a:t>Using The Font You </a:t>
            </a:r>
            <a:r>
              <a:rPr lang="en-US" sz="3200" dirty="0" smtClean="0"/>
              <a:t>Want</a:t>
            </a:r>
            <a:endParaRPr lang="en-US" sz="3200" dirty="0"/>
          </a:p>
        </p:txBody>
      </p:sp>
      <p:sp>
        <p:nvSpPr>
          <p:cNvPr id="7" name="Round Same Side Corner Rectangle 6"/>
          <p:cNvSpPr/>
          <p:nvPr/>
        </p:nvSpPr>
        <p:spPr>
          <a:xfrm>
            <a:off x="457200" y="2014728"/>
            <a:ext cx="4038600" cy="4648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&lt;style&gt; </a:t>
            </a:r>
            <a:r>
              <a:rPr lang="en-US" sz="2400" dirty="0"/>
              <a:t/>
            </a:r>
            <a:br>
              <a:rPr lang="en-US" sz="2400" dirty="0"/>
            </a:br>
            <a:r>
              <a:rPr lang="en-US" sz="2400" dirty="0"/>
              <a:t>@font-face</a:t>
            </a:r>
          </a:p>
          <a:p>
            <a:r>
              <a:rPr lang="en-US" sz="2400" dirty="0"/>
              <a:t>{</a:t>
            </a:r>
          </a:p>
          <a:p>
            <a:r>
              <a:rPr lang="en-US" sz="2400" dirty="0"/>
              <a:t>font-family: </a:t>
            </a:r>
            <a:r>
              <a:rPr lang="en-US" sz="2400" dirty="0" err="1"/>
              <a:t>myFont</a:t>
            </a:r>
            <a:r>
              <a:rPr lang="en-US" sz="2400" dirty="0"/>
              <a:t>;</a:t>
            </a:r>
          </a:p>
          <a:p>
            <a:r>
              <a:rPr lang="en-US" sz="2400" dirty="0" err="1"/>
              <a:t>src</a:t>
            </a:r>
            <a:r>
              <a:rPr lang="en-US" sz="2400" dirty="0"/>
              <a:t>: </a:t>
            </a:r>
            <a:r>
              <a:rPr lang="en-US" sz="2400" dirty="0" err="1"/>
              <a:t>url</a:t>
            </a:r>
            <a:r>
              <a:rPr lang="en-US" sz="2400" dirty="0"/>
              <a:t>('fonts/Transformers Movie.ttf')</a:t>
            </a:r>
          </a:p>
          <a:p>
            <a:r>
              <a:rPr lang="en-US" sz="2400" dirty="0"/>
              <a:t>   </a:t>
            </a:r>
          </a:p>
          <a:p>
            <a:r>
              <a:rPr lang="en-US" sz="2400" dirty="0"/>
              <a:t>}</a:t>
            </a:r>
          </a:p>
          <a:p>
            <a:endParaRPr lang="en-US" sz="2400" dirty="0"/>
          </a:p>
          <a:p>
            <a:r>
              <a:rPr lang="en-US" sz="2400" dirty="0"/>
              <a:t>div</a:t>
            </a:r>
          </a:p>
          <a:p>
            <a:r>
              <a:rPr lang="en-US" sz="2400" dirty="0" smtClean="0"/>
              <a:t>{</a:t>
            </a:r>
            <a:r>
              <a:rPr lang="en-US" sz="2400" dirty="0" err="1" smtClean="0"/>
              <a:t>font-family:myFont</a:t>
            </a:r>
            <a:r>
              <a:rPr lang="en-US" sz="2400" dirty="0" smtClean="0"/>
              <a:t>;}</a:t>
            </a:r>
          </a:p>
          <a:p>
            <a:r>
              <a:rPr lang="en-US" sz="2400" dirty="0" smtClean="0"/>
              <a:t>&lt;/style&gt;</a:t>
            </a:r>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4724400" y="2209800"/>
            <a:ext cx="4191000" cy="1210733"/>
          </a:xfrm>
          <a:prstGeom prst="rect">
            <a:avLst/>
          </a:prstGeom>
          <a:noFill/>
          <a:ln w="9525">
            <a:noFill/>
            <a:miter lim="800000"/>
            <a:headEnd/>
            <a:tailEnd/>
          </a:ln>
        </p:spPr>
      </p:pic>
      <p:sp>
        <p:nvSpPr>
          <p:cNvPr id="8" name="5-Point Star 7"/>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1725764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Fonts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21</a:t>
            </a:fld>
            <a:endParaRPr lang="en-US"/>
          </a:p>
        </p:txBody>
      </p:sp>
      <p:sp>
        <p:nvSpPr>
          <p:cNvPr id="6" name="Content Placeholder 2"/>
          <p:cNvSpPr>
            <a:spLocks noGrp="1"/>
          </p:cNvSpPr>
          <p:nvPr>
            <p:ph idx="1"/>
          </p:nvPr>
        </p:nvSpPr>
        <p:spPr>
          <a:xfrm>
            <a:off x="228600" y="838200"/>
            <a:ext cx="7395380" cy="1295400"/>
          </a:xfrm>
        </p:spPr>
        <p:txBody>
          <a:bodyPr>
            <a:noAutofit/>
          </a:bodyPr>
          <a:lstStyle/>
          <a:p>
            <a:pPr>
              <a:buNone/>
            </a:pPr>
            <a:endParaRPr lang="en-US" sz="2400" dirty="0" smtClean="0"/>
          </a:p>
          <a:p>
            <a:r>
              <a:rPr lang="en-US" sz="3200" dirty="0" smtClean="0"/>
              <a:t>CSS 3 Font Descriptors</a:t>
            </a:r>
          </a:p>
          <a:p>
            <a:r>
              <a:rPr lang="en-US" sz="2400" dirty="0"/>
              <a:t>he following table lists all the font descriptors that can be defined inside the @font-face rule:</a:t>
            </a:r>
          </a:p>
        </p:txBody>
      </p:sp>
      <p:graphicFrame>
        <p:nvGraphicFramePr>
          <p:cNvPr id="3" name="Table 2"/>
          <p:cNvGraphicFramePr>
            <a:graphicFrameLocks noGrp="1"/>
          </p:cNvGraphicFramePr>
          <p:nvPr>
            <p:extLst>
              <p:ext uri="{D42A27DB-BD31-4B8C-83A1-F6EECF244321}">
                <p14:modId xmlns:p14="http://schemas.microsoft.com/office/powerpoint/2010/main" val="1852465002"/>
              </p:ext>
            </p:extLst>
          </p:nvPr>
        </p:nvGraphicFramePr>
        <p:xfrm>
          <a:off x="438149" y="2286000"/>
          <a:ext cx="8267701" cy="4259571"/>
        </p:xfrm>
        <a:graphic>
          <a:graphicData uri="http://schemas.openxmlformats.org/drawingml/2006/table">
            <a:tbl>
              <a:tblPr/>
              <a:tblGrid>
                <a:gridCol w="1338580"/>
                <a:gridCol w="2519680"/>
                <a:gridCol w="4409441"/>
              </a:tblGrid>
              <a:tr h="0">
                <a:tc>
                  <a:txBody>
                    <a:bodyPr/>
                    <a:lstStyle/>
                    <a:p>
                      <a:pPr algn="l" fontAlgn="t"/>
                      <a:r>
                        <a:rPr lang="en-US" sz="1600" dirty="0">
                          <a:effectLst/>
                          <a:latin typeface="verdana"/>
                        </a:rPr>
                        <a:t>Descriptor</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US" sz="1600" dirty="0">
                          <a:effectLst/>
                          <a:latin typeface="verdana"/>
                        </a:rPr>
                        <a:t>Values</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US" sz="1600" dirty="0">
                          <a:effectLst/>
                          <a:latin typeface="verdana"/>
                        </a:rPr>
                        <a:t>Description</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r>
              <a:tr h="264881">
                <a:tc>
                  <a:txBody>
                    <a:bodyPr/>
                    <a:lstStyle/>
                    <a:p>
                      <a:pPr fontAlgn="t"/>
                      <a:r>
                        <a:rPr lang="en-US" sz="1600">
                          <a:effectLst/>
                          <a:latin typeface="verdana"/>
                        </a:rPr>
                        <a:t>font-family</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i="1" dirty="0">
                          <a:effectLst/>
                          <a:latin typeface="verdana"/>
                        </a:rPr>
                        <a:t>name</a:t>
                      </a:r>
                      <a:endParaRPr lang="en-US" sz="1600" dirty="0">
                        <a:effectLst/>
                        <a:latin typeface="verdana"/>
                      </a:endParaRP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dirty="0">
                          <a:effectLst/>
                          <a:latin typeface="verdana"/>
                        </a:rPr>
                        <a:t>Required. Defines a name for the font</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64881">
                <a:tc>
                  <a:txBody>
                    <a:bodyPr/>
                    <a:lstStyle/>
                    <a:p>
                      <a:pPr fontAlgn="t"/>
                      <a:r>
                        <a:rPr lang="en-US" sz="1600">
                          <a:effectLst/>
                          <a:latin typeface="verdana"/>
                        </a:rPr>
                        <a:t>src</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i="1">
                          <a:effectLst/>
                          <a:latin typeface="verdana"/>
                        </a:rPr>
                        <a:t>URL</a:t>
                      </a:r>
                      <a:endParaRPr lang="en-US" sz="1600">
                        <a:effectLst/>
                        <a:latin typeface="verdana"/>
                      </a:endParaRP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a:effectLst/>
                          <a:latin typeface="verdana"/>
                        </a:rPr>
                        <a:t>Required. Defines the URL of the font file</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876324">
                <a:tc>
                  <a:txBody>
                    <a:bodyPr/>
                    <a:lstStyle/>
                    <a:p>
                      <a:pPr fontAlgn="t"/>
                      <a:r>
                        <a:rPr lang="en-US" sz="1600">
                          <a:effectLst/>
                          <a:latin typeface="verdana"/>
                        </a:rPr>
                        <a:t>font-stretch</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dirty="0">
                          <a:effectLst/>
                          <a:latin typeface="verdana"/>
                        </a:rPr>
                        <a:t>normal</a:t>
                      </a:r>
                      <a:br>
                        <a:rPr lang="en-US" sz="1600" dirty="0">
                          <a:effectLst/>
                          <a:latin typeface="verdana"/>
                        </a:rPr>
                      </a:br>
                      <a:r>
                        <a:rPr lang="en-US" sz="1600" dirty="0">
                          <a:effectLst/>
                          <a:latin typeface="verdana"/>
                        </a:rPr>
                        <a:t>condensed</a:t>
                      </a:r>
                      <a:br>
                        <a:rPr lang="en-US" sz="1600" dirty="0">
                          <a:effectLst/>
                          <a:latin typeface="verdana"/>
                        </a:rPr>
                      </a:br>
                      <a:r>
                        <a:rPr lang="en-US" sz="1600" dirty="0" smtClean="0">
                          <a:effectLst/>
                          <a:latin typeface="verdana"/>
                        </a:rPr>
                        <a:t>and more…</a:t>
                      </a:r>
                      <a:endParaRPr lang="en-US" sz="1600" dirty="0">
                        <a:effectLst/>
                        <a:latin typeface="verdana"/>
                      </a:endParaRP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a:effectLst/>
                          <a:latin typeface="verdana"/>
                        </a:rPr>
                        <a:t>Optional. Defines how the font should be stretched. Default is "normal"</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749249">
                <a:tc>
                  <a:txBody>
                    <a:bodyPr/>
                    <a:lstStyle/>
                    <a:p>
                      <a:pPr fontAlgn="t"/>
                      <a:r>
                        <a:rPr lang="en-US" sz="1600">
                          <a:effectLst/>
                          <a:latin typeface="verdana"/>
                        </a:rPr>
                        <a:t>font-style</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a:effectLst/>
                          <a:latin typeface="verdana"/>
                        </a:rPr>
                        <a:t>normal</a:t>
                      </a:r>
                      <a:br>
                        <a:rPr lang="en-US" sz="1600">
                          <a:effectLst/>
                          <a:latin typeface="verdana"/>
                        </a:rPr>
                      </a:br>
                      <a:r>
                        <a:rPr lang="en-US" sz="1600">
                          <a:effectLst/>
                          <a:latin typeface="verdana"/>
                        </a:rPr>
                        <a:t>italic</a:t>
                      </a:r>
                      <a:br>
                        <a:rPr lang="en-US" sz="1600">
                          <a:effectLst/>
                          <a:latin typeface="verdana"/>
                        </a:rPr>
                      </a:br>
                      <a:r>
                        <a:rPr lang="en-US" sz="1600">
                          <a:effectLst/>
                          <a:latin typeface="verdana"/>
                        </a:rPr>
                        <a:t>oblique</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a:effectLst/>
                          <a:latin typeface="verdana"/>
                        </a:rPr>
                        <a:t>Optional. Defines how the font should be styled. Default is "normal"</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074427">
                <a:tc>
                  <a:txBody>
                    <a:bodyPr/>
                    <a:lstStyle/>
                    <a:p>
                      <a:pPr fontAlgn="t"/>
                      <a:r>
                        <a:rPr lang="en-US" sz="1600">
                          <a:effectLst/>
                          <a:latin typeface="verdana"/>
                        </a:rPr>
                        <a:t>font-weight</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dirty="0">
                          <a:effectLst/>
                          <a:latin typeface="verdana"/>
                        </a:rPr>
                        <a:t>normal</a:t>
                      </a:r>
                      <a:br>
                        <a:rPr lang="en-US" sz="1600" dirty="0">
                          <a:effectLst/>
                          <a:latin typeface="verdana"/>
                        </a:rPr>
                      </a:br>
                      <a:r>
                        <a:rPr lang="en-US" sz="1600" dirty="0">
                          <a:effectLst/>
                          <a:latin typeface="verdana"/>
                        </a:rPr>
                        <a:t>bold</a:t>
                      </a:r>
                      <a:br>
                        <a:rPr lang="en-US" sz="1600" dirty="0">
                          <a:effectLst/>
                          <a:latin typeface="verdana"/>
                        </a:rPr>
                      </a:br>
                      <a:r>
                        <a:rPr lang="en-US" sz="1600" dirty="0">
                          <a:effectLst/>
                          <a:latin typeface="verdana"/>
                        </a:rPr>
                        <a:t>100</a:t>
                      </a:r>
                      <a:br>
                        <a:rPr lang="en-US" sz="1600" dirty="0">
                          <a:effectLst/>
                          <a:latin typeface="verdana"/>
                        </a:rPr>
                      </a:br>
                      <a:r>
                        <a:rPr lang="en-US" sz="1600" dirty="0" smtClean="0">
                          <a:effectLst/>
                          <a:latin typeface="verdana"/>
                        </a:rPr>
                        <a:t>200.. Until 900</a:t>
                      </a:r>
                      <a:endParaRPr lang="en-US" sz="1600" dirty="0">
                        <a:effectLst/>
                        <a:latin typeface="verdana"/>
                      </a:endParaRP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a:effectLst/>
                          <a:latin typeface="verdana"/>
                        </a:rPr>
                        <a:t>Optional. Defines the boldness of the font. Default is "normal"</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749249">
                <a:tc>
                  <a:txBody>
                    <a:bodyPr/>
                    <a:lstStyle/>
                    <a:p>
                      <a:pPr fontAlgn="t"/>
                      <a:r>
                        <a:rPr lang="en-US" sz="1600">
                          <a:effectLst/>
                          <a:latin typeface="verdana"/>
                        </a:rPr>
                        <a:t>unicode-range</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i="1">
                          <a:effectLst/>
                          <a:latin typeface="verdana"/>
                        </a:rPr>
                        <a:t>unicode-range</a:t>
                      </a:r>
                      <a:endParaRPr lang="en-US" sz="1600">
                        <a:effectLst/>
                        <a:latin typeface="verdana"/>
                      </a:endParaRP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600" dirty="0">
                          <a:effectLst/>
                          <a:latin typeface="verdana"/>
                        </a:rPr>
                        <a:t>Optional. Defines the range of UNICODE characters the font supports. Default is "U+0-10FFFF"</a:t>
                      </a:r>
                    </a:p>
                  </a:txBody>
                  <a:tcPr marL="11426" marR="11426" marT="11426" marB="1142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7941544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a:t>CSS3 transform Property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22</a:t>
            </a:fld>
            <a:endParaRPr lang="en-US"/>
          </a:p>
        </p:txBody>
      </p:sp>
      <p:sp>
        <p:nvSpPr>
          <p:cNvPr id="6" name="Content Placeholder 2"/>
          <p:cNvSpPr>
            <a:spLocks noGrp="1"/>
          </p:cNvSpPr>
          <p:nvPr>
            <p:ph idx="1"/>
          </p:nvPr>
        </p:nvSpPr>
        <p:spPr>
          <a:xfrm>
            <a:off x="629103" y="760774"/>
            <a:ext cx="7395380" cy="1295400"/>
          </a:xfrm>
        </p:spPr>
        <p:txBody>
          <a:bodyPr>
            <a:noAutofit/>
          </a:bodyPr>
          <a:lstStyle/>
          <a:p>
            <a:pPr>
              <a:buNone/>
            </a:pPr>
            <a:endParaRPr lang="en-US" sz="2400" dirty="0" smtClean="0"/>
          </a:p>
          <a:p>
            <a:r>
              <a:rPr lang="en-US" sz="2400" dirty="0" smtClean="0"/>
              <a:t>The </a:t>
            </a:r>
            <a:r>
              <a:rPr lang="en-US" sz="2400" dirty="0"/>
              <a:t>transform property applies a 2D or 3D transformation to an element. This property allows you to rotate, scale, move, skew, etc., elements.</a:t>
            </a:r>
            <a:endParaRPr lang="en-US" sz="2400" dirty="0" smtClean="0"/>
          </a:p>
          <a:p>
            <a:r>
              <a:rPr lang="en-US" sz="2400" dirty="0" err="1"/>
              <a:t>DEMO:http</a:t>
            </a:r>
            <a:r>
              <a:rPr lang="en-US" sz="2400" dirty="0"/>
              <a:t>://www.w3schools.com/cssref/trycss3_transform_inuse.htm</a:t>
            </a:r>
            <a:endParaRPr lang="en-US" sz="2400" dirty="0" smtClean="0"/>
          </a:p>
          <a:p>
            <a:endParaRPr lang="en-US" sz="2400" dirty="0"/>
          </a:p>
          <a:p>
            <a:r>
              <a:rPr lang="en-US" sz="2400" dirty="0" smtClean="0"/>
              <a:t>Reference:</a:t>
            </a:r>
          </a:p>
          <a:p>
            <a:pPr marL="0" indent="0">
              <a:buNone/>
            </a:pPr>
            <a:r>
              <a:rPr lang="en-US" sz="2400" dirty="0"/>
              <a:t>http://www.w3schools.com/cssref/css3_pr_transform.asp</a:t>
            </a:r>
          </a:p>
          <a:p>
            <a:pPr lvl="1"/>
            <a:endParaRPr lang="en-US" sz="2000" dirty="0"/>
          </a:p>
          <a:p>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16177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Transforms : </a:t>
            </a:r>
            <a:r>
              <a:rPr lang="en-SG" sz="3600" b="0" dirty="0" err="1" smtClean="0"/>
              <a:t>Eg</a:t>
            </a:r>
            <a:r>
              <a:rPr lang="en-SG" sz="3600" b="0" dirty="0" smtClean="0"/>
              <a:t>. Rotate</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23</a:t>
            </a:fld>
            <a:endParaRPr lang="en-US"/>
          </a:p>
        </p:txBody>
      </p:sp>
      <p:sp>
        <p:nvSpPr>
          <p:cNvPr id="6" name="Content Placeholder 2"/>
          <p:cNvSpPr>
            <a:spLocks noGrp="1"/>
          </p:cNvSpPr>
          <p:nvPr>
            <p:ph idx="1"/>
          </p:nvPr>
        </p:nvSpPr>
        <p:spPr>
          <a:xfrm>
            <a:off x="228600" y="838200"/>
            <a:ext cx="8610600" cy="1295400"/>
          </a:xfrm>
        </p:spPr>
        <p:txBody>
          <a:bodyPr>
            <a:noAutofit/>
          </a:bodyPr>
          <a:lstStyle/>
          <a:p>
            <a:pPr>
              <a:buNone/>
            </a:pPr>
            <a:endParaRPr lang="en-US" sz="2400" dirty="0" smtClean="0"/>
          </a:p>
          <a:p>
            <a:r>
              <a:rPr lang="en-US" sz="3200" dirty="0" smtClean="0"/>
              <a:t>CSS 3 Transforms</a:t>
            </a:r>
          </a:p>
          <a:p>
            <a:r>
              <a:rPr lang="en-US" sz="2400" dirty="0" smtClean="0"/>
              <a:t>Demo: </a:t>
            </a:r>
            <a:r>
              <a:rPr lang="en-US" sz="2000" dirty="0"/>
              <a:t>http://www.w3schools.com/cssref/tryit.asp?filename=trycss3_transform</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457200" y="2492634"/>
            <a:ext cx="7467600" cy="4170294"/>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&lt;head&gt;</a:t>
            </a:r>
          </a:p>
          <a:p>
            <a:r>
              <a:rPr lang="en-US" sz="1600" dirty="0"/>
              <a:t>&lt;style&gt; </a:t>
            </a:r>
          </a:p>
          <a:p>
            <a:r>
              <a:rPr lang="en-US" sz="1600" dirty="0"/>
              <a:t>div {</a:t>
            </a:r>
          </a:p>
          <a:p>
            <a:r>
              <a:rPr lang="en-US" sz="1600" dirty="0"/>
              <a:t>    width: 200px;</a:t>
            </a:r>
          </a:p>
          <a:p>
            <a:r>
              <a:rPr lang="en-US" sz="1600" dirty="0"/>
              <a:t>    height: 100px;</a:t>
            </a:r>
          </a:p>
          <a:p>
            <a:r>
              <a:rPr lang="en-US" sz="1600" dirty="0"/>
              <a:t>    background-color: yellow;</a:t>
            </a:r>
          </a:p>
          <a:p>
            <a:r>
              <a:rPr lang="en-US" sz="1600" dirty="0"/>
              <a:t>    /* Rotate div */</a:t>
            </a:r>
          </a:p>
          <a:p>
            <a:r>
              <a:rPr lang="en-US" sz="1600" dirty="0"/>
              <a:t>    -</a:t>
            </a:r>
            <a:r>
              <a:rPr lang="en-US" sz="1600" dirty="0" err="1"/>
              <a:t>ms</a:t>
            </a:r>
            <a:r>
              <a:rPr lang="en-US" sz="1600" dirty="0"/>
              <a:t>-transform: rotate(7deg); /* IE 9 */</a:t>
            </a:r>
          </a:p>
          <a:p>
            <a:r>
              <a:rPr lang="en-US" sz="1600" dirty="0"/>
              <a:t>    -</a:t>
            </a:r>
            <a:r>
              <a:rPr lang="en-US" sz="1600" dirty="0" err="1"/>
              <a:t>webkit</a:t>
            </a:r>
            <a:r>
              <a:rPr lang="en-US" sz="1600" dirty="0"/>
              <a:t>-transform: rotate(7deg); /* Chrome, Safari, Opera */</a:t>
            </a:r>
          </a:p>
          <a:p>
            <a:r>
              <a:rPr lang="en-US" sz="1600" dirty="0"/>
              <a:t>    transform: rotate(7deg);</a:t>
            </a:r>
          </a:p>
          <a:p>
            <a:r>
              <a:rPr lang="en-US" sz="1600" dirty="0"/>
              <a:t>}</a:t>
            </a:r>
          </a:p>
          <a:p>
            <a:r>
              <a:rPr lang="en-US" sz="1600" dirty="0"/>
              <a:t>&lt;/style&gt;</a:t>
            </a:r>
          </a:p>
          <a:p>
            <a:r>
              <a:rPr lang="en-US" sz="1600" dirty="0"/>
              <a:t>&lt;/head&gt;</a:t>
            </a:r>
          </a:p>
          <a:p>
            <a:r>
              <a:rPr lang="en-US" sz="1600" dirty="0"/>
              <a:t>&lt;body</a:t>
            </a:r>
            <a:r>
              <a:rPr lang="en-US" sz="1600" dirty="0" smtClean="0"/>
              <a:t>&gt;</a:t>
            </a:r>
          </a:p>
          <a:p>
            <a:r>
              <a:rPr lang="en-US" sz="1600" dirty="0" smtClean="0"/>
              <a:t>&lt;div&gt;Hello&lt;/div&gt;</a:t>
            </a:r>
          </a:p>
          <a:p>
            <a:r>
              <a:rPr lang="en-US" sz="1600" dirty="0" smtClean="0"/>
              <a:t>&lt;</a:t>
            </a:r>
            <a:r>
              <a:rPr lang="en-US" sz="1600" dirty="0" err="1"/>
              <a:t>br</a:t>
            </a:r>
            <a:r>
              <a:rPr lang="en-US" sz="1600" dirty="0"/>
              <a:t>&gt;</a:t>
            </a: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0720893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Transforms – Translate()</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24</a:t>
            </a:fld>
            <a:endParaRPr lang="en-US"/>
          </a:p>
        </p:txBody>
      </p:sp>
      <p:sp>
        <p:nvSpPr>
          <p:cNvPr id="6" name="Content Placeholder 2"/>
          <p:cNvSpPr>
            <a:spLocks noGrp="1"/>
          </p:cNvSpPr>
          <p:nvPr>
            <p:ph idx="1"/>
          </p:nvPr>
        </p:nvSpPr>
        <p:spPr>
          <a:xfrm>
            <a:off x="228600" y="838200"/>
            <a:ext cx="5867400" cy="1295400"/>
          </a:xfrm>
        </p:spPr>
        <p:txBody>
          <a:bodyPr>
            <a:noAutofit/>
          </a:bodyPr>
          <a:lstStyle/>
          <a:p>
            <a:pPr>
              <a:buNone/>
            </a:pPr>
            <a:endParaRPr lang="en-US" sz="2400" dirty="0" smtClean="0"/>
          </a:p>
          <a:p>
            <a:r>
              <a:rPr lang="en-US" sz="3200" dirty="0" smtClean="0"/>
              <a:t>CSS 3 The Translate Method</a:t>
            </a:r>
          </a:p>
          <a:p>
            <a:r>
              <a:rPr lang="en-US" sz="2400" dirty="0" smtClean="0"/>
              <a:t>Demo: </a:t>
            </a:r>
            <a:r>
              <a:rPr lang="en-US" sz="1400" u="sng" dirty="0"/>
              <a:t>http://www.w3schools.com/cssref/playit.asp?filename=playcss_transform_translate</a:t>
            </a:r>
            <a:endParaRPr lang="en-US" sz="2000" u="sng"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85582" y="2772473"/>
            <a:ext cx="7467600" cy="3919728"/>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 </a:t>
            </a:r>
            <a:endParaRPr lang="en-US" sz="2400" dirty="0"/>
          </a:p>
        </p:txBody>
      </p:sp>
      <p:sp>
        <p:nvSpPr>
          <p:cNvPr id="9" name="5-Point Star 8"/>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1"/>
          <p:cNvSpPr>
            <a:spLocks noChangeArrowheads="1"/>
          </p:cNvSpPr>
          <p:nvPr/>
        </p:nvSpPr>
        <p:spPr bwMode="auto">
          <a:xfrm>
            <a:off x="1295400" y="2824349"/>
            <a:ext cx="5449435" cy="110799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smtClean="0">
                <a:ln>
                  <a:noFill/>
                </a:ln>
                <a:solidFill>
                  <a:srgbClr val="222222"/>
                </a:solidFill>
                <a:effectLst/>
                <a:latin typeface="Courier New" panose="02070309020205020404" pitchFamily="49" charset="0"/>
                <a:cs typeface="Courier New" panose="02070309020205020404" pitchFamily="49" charset="0"/>
              </a:rPr>
              <a:t>myDIV</a:t>
            </a:r>
            <a: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t> {</a:t>
            </a:r>
            <a:b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br>
            <a:r>
              <a:rPr kumimoji="0" lang="en-US" altLang="en-US" sz="1600" b="0" i="0" u="none" strike="noStrike" cap="none" normalizeH="0" baseline="0" dirty="0" err="1" smtClean="0">
                <a:ln>
                  <a:noFill/>
                </a:ln>
                <a:solidFill>
                  <a:srgbClr val="222222"/>
                </a:solidFill>
                <a:effectLst/>
                <a:latin typeface="Courier New" panose="02070309020205020404" pitchFamily="49" charset="0"/>
                <a:cs typeface="Courier New" panose="02070309020205020404" pitchFamily="49" charset="0"/>
              </a:rPr>
              <a:t>background-color:lightblue</a:t>
            </a:r>
            <a: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t>;</a:t>
            </a:r>
            <a:b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br>
            <a:r>
              <a:rPr kumimoji="0" lang="en-US" altLang="en-US" sz="1600" b="0" i="0" u="none" strike="noStrike" cap="none" normalizeH="0" baseline="0" dirty="0" err="1" smtClean="0">
                <a:ln>
                  <a:noFill/>
                </a:ln>
                <a:solidFill>
                  <a:srgbClr val="222222"/>
                </a:solidFill>
                <a:effectLst/>
                <a:latin typeface="Courier New" panose="02070309020205020404" pitchFamily="49" charset="0"/>
                <a:cs typeface="Courier New" panose="02070309020205020404" pitchFamily="49" charset="0"/>
              </a:rPr>
              <a:t>transform:</a:t>
            </a:r>
            <a:r>
              <a:rPr kumimoji="0" lang="en-US" altLang="en-US" b="1"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translate</a:t>
            </a:r>
            <a:r>
              <a:rPr kumimoji="0" lang="en-US" altLang="en-US" b="1"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(20px,20px)</a:t>
            </a:r>
            <a: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t>;</a:t>
            </a:r>
            <a:b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br>
            <a:r>
              <a:rPr kumimoji="0" lang="en-US" altLang="en-US" sz="1600" b="0" i="0" u="none" strike="noStrike" cap="none" normalizeH="0" baseline="0" dirty="0" smtClean="0">
                <a:ln>
                  <a:noFill/>
                </a:ln>
                <a:solidFill>
                  <a:srgbClr val="222222"/>
                </a:solidFill>
                <a:effectLst/>
                <a:latin typeface="Courier New" panose="02070309020205020404" pitchFamily="49" charset="0"/>
                <a:cs typeface="Courier New" panose="02070309020205020404" pitchFamily="49" charset="0"/>
              </a:rPr>
              <a:t>}</a:t>
            </a:r>
            <a:r>
              <a:rPr kumimoji="0" lang="en-US" altLang="en-US" sz="1100" b="0" i="0" u="none" strike="noStrike" cap="none" normalizeH="0" baseline="0" dirty="0" smtClean="0">
                <a:ln>
                  <a:noFill/>
                </a:ln>
                <a:solidFill>
                  <a:schemeClr val="tx1"/>
                </a:solidFill>
                <a:effectLst/>
              </a:rPr>
              <a:t> </a:t>
            </a: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pic>
        <p:nvPicPr>
          <p:cNvPr id="10" name="Picture 9">
            <a:hlinkClick r:id="rId3"/>
          </p:cNvPr>
          <p:cNvPicPr>
            <a:picLocks noChangeAspect="1"/>
          </p:cNvPicPr>
          <p:nvPr/>
        </p:nvPicPr>
        <p:blipFill>
          <a:blip r:embed="rId4"/>
          <a:stretch>
            <a:fillRect/>
          </a:stretch>
        </p:blipFill>
        <p:spPr>
          <a:xfrm>
            <a:off x="1295400" y="3974325"/>
            <a:ext cx="5638800" cy="2618909"/>
          </a:xfrm>
          <a:prstGeom prst="rect">
            <a:avLst/>
          </a:prstGeom>
        </p:spPr>
      </p:pic>
    </p:spTree>
    <p:extLst>
      <p:ext uri="{BB962C8B-B14F-4D97-AF65-F5344CB8AC3E}">
        <p14:creationId xmlns:p14="http://schemas.microsoft.com/office/powerpoint/2010/main" val="26674301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2d Transforms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25</a:t>
            </a:fld>
            <a:endParaRPr lang="en-US"/>
          </a:p>
        </p:txBody>
      </p:sp>
      <p:sp>
        <p:nvSpPr>
          <p:cNvPr id="6" name="Content Placeholder 2"/>
          <p:cNvSpPr>
            <a:spLocks noGrp="1"/>
          </p:cNvSpPr>
          <p:nvPr>
            <p:ph idx="1"/>
          </p:nvPr>
        </p:nvSpPr>
        <p:spPr>
          <a:xfrm>
            <a:off x="228600" y="838200"/>
            <a:ext cx="6629400" cy="1295400"/>
          </a:xfrm>
        </p:spPr>
        <p:txBody>
          <a:bodyPr>
            <a:noAutofit/>
          </a:bodyPr>
          <a:lstStyle/>
          <a:p>
            <a:pPr>
              <a:buNone/>
            </a:pPr>
            <a:endParaRPr lang="en-US" sz="2400" dirty="0" smtClean="0"/>
          </a:p>
          <a:p>
            <a:r>
              <a:rPr lang="en-US" sz="3200" dirty="0" smtClean="0"/>
              <a:t>CSS 3 The Translate Method</a:t>
            </a:r>
          </a:p>
          <a:p>
            <a:r>
              <a:rPr lang="en-US" sz="2400" dirty="0" smtClean="0"/>
              <a:t>Translate Syntax and Examples:</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5-Point Star 8"/>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1"/>
          <p:cNvSpPr>
            <a:spLocks noChangeArrowheads="1"/>
          </p:cNvSpPr>
          <p:nvPr/>
        </p:nvSpPr>
        <p:spPr bwMode="auto">
          <a:xfrm>
            <a:off x="761427" y="3110782"/>
            <a:ext cx="67061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662147419"/>
              </p:ext>
            </p:extLst>
          </p:nvPr>
        </p:nvGraphicFramePr>
        <p:xfrm>
          <a:off x="533400" y="2524302"/>
          <a:ext cx="8360034" cy="3613501"/>
        </p:xfrm>
        <a:graphic>
          <a:graphicData uri="http://schemas.openxmlformats.org/drawingml/2006/table">
            <a:tbl>
              <a:tblPr/>
              <a:tblGrid>
                <a:gridCol w="2786678"/>
                <a:gridCol w="2786678"/>
                <a:gridCol w="2786678"/>
              </a:tblGrid>
              <a:tr h="644240">
                <a:tc>
                  <a:txBody>
                    <a:bodyPr/>
                    <a:lstStyle/>
                    <a:p>
                      <a:pPr algn="l" fontAlgn="t"/>
                      <a:r>
                        <a:rPr lang="en-US" sz="1700" dirty="0">
                          <a:effectLst/>
                          <a:latin typeface="verdana" panose="020B0604030504040204" pitchFamily="34" charset="0"/>
                        </a:rPr>
                        <a:t>translate3d(</a:t>
                      </a:r>
                      <a:r>
                        <a:rPr lang="en-US" sz="1700" i="1" dirty="0" err="1">
                          <a:effectLst/>
                          <a:latin typeface="verdana" panose="020B0604030504040204" pitchFamily="34" charset="0"/>
                        </a:rPr>
                        <a:t>x,y,z</a:t>
                      </a:r>
                      <a:r>
                        <a:rPr lang="en-US" sz="1700" dirty="0">
                          <a:effectLst/>
                          <a:latin typeface="verdana" panose="020B0604030504040204" pitchFamily="34" charset="0"/>
                        </a:rPr>
                        <a:t>)</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a:effectLst/>
                          <a:latin typeface="verdana" panose="020B0604030504040204" pitchFamily="34" charset="0"/>
                        </a:rPr>
                        <a:t>Defines a 3D translation</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endParaRPr lang="en-US" sz="1700">
                        <a:effectLst/>
                        <a:latin typeface="verdana" panose="020B0604030504040204" pitchFamily="34" charset="0"/>
                      </a:endParaRP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903375">
                <a:tc>
                  <a:txBody>
                    <a:bodyPr/>
                    <a:lstStyle/>
                    <a:p>
                      <a:pPr algn="l" fontAlgn="t"/>
                      <a:r>
                        <a:rPr lang="en-US" sz="1700">
                          <a:effectLst/>
                          <a:latin typeface="verdana" panose="020B0604030504040204" pitchFamily="34" charset="0"/>
                        </a:rPr>
                        <a:t>translateX(</a:t>
                      </a:r>
                      <a:r>
                        <a:rPr lang="en-US" sz="1700" i="1">
                          <a:effectLst/>
                          <a:latin typeface="verdana" panose="020B0604030504040204" pitchFamily="34" charset="0"/>
                        </a:rPr>
                        <a:t>x</a:t>
                      </a:r>
                      <a:r>
                        <a:rPr lang="en-US" sz="1700">
                          <a:effectLst/>
                          <a:latin typeface="verdana" panose="020B0604030504040204" pitchFamily="34" charset="0"/>
                        </a:rPr>
                        <a:t>)</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dirty="0">
                          <a:effectLst/>
                          <a:latin typeface="verdana" panose="020B0604030504040204" pitchFamily="34" charset="0"/>
                        </a:rPr>
                        <a:t>Defines a translation, using only the value for the X-axis</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b="1" u="none" strike="noStrike" dirty="0">
                          <a:solidFill>
                            <a:srgbClr val="FFFFFF"/>
                          </a:solidFill>
                          <a:effectLst/>
                          <a:latin typeface="verdana" panose="020B0604030504040204" pitchFamily="34" charset="0"/>
                          <a:hlinkClick r:id="rId3"/>
                        </a:rPr>
                        <a:t>Play it »</a:t>
                      </a:r>
                      <a:endParaRPr lang="en-US" sz="1700" dirty="0">
                        <a:effectLst/>
                        <a:latin typeface="verdana" panose="020B0604030504040204" pitchFamily="34" charset="0"/>
                      </a:endParaRP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903375">
                <a:tc>
                  <a:txBody>
                    <a:bodyPr/>
                    <a:lstStyle/>
                    <a:p>
                      <a:pPr algn="l" fontAlgn="t"/>
                      <a:r>
                        <a:rPr lang="en-US" sz="1700">
                          <a:effectLst/>
                          <a:latin typeface="verdana" panose="020B0604030504040204" pitchFamily="34" charset="0"/>
                        </a:rPr>
                        <a:t>translateY(</a:t>
                      </a:r>
                      <a:r>
                        <a:rPr lang="en-US" sz="1700" i="1">
                          <a:effectLst/>
                          <a:latin typeface="verdana" panose="020B0604030504040204" pitchFamily="34" charset="0"/>
                        </a:rPr>
                        <a:t>y</a:t>
                      </a:r>
                      <a:r>
                        <a:rPr lang="en-US" sz="1700">
                          <a:effectLst/>
                          <a:latin typeface="verdana" panose="020B0604030504040204" pitchFamily="34" charset="0"/>
                        </a:rPr>
                        <a:t>)</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dirty="0">
                          <a:effectLst/>
                          <a:latin typeface="verdana" panose="020B0604030504040204" pitchFamily="34" charset="0"/>
                        </a:rPr>
                        <a:t>Defines a translation, using only the value for the Y-axis</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b="1" u="none" strike="noStrike">
                          <a:solidFill>
                            <a:srgbClr val="FFFFFF"/>
                          </a:solidFill>
                          <a:effectLst/>
                          <a:latin typeface="verdana" panose="020B0604030504040204" pitchFamily="34" charset="0"/>
                          <a:hlinkClick r:id="rId4"/>
                        </a:rPr>
                        <a:t>Play it »</a:t>
                      </a:r>
                      <a:endParaRPr lang="en-US" sz="1700">
                        <a:effectLst/>
                        <a:latin typeface="verdana" panose="020B0604030504040204" pitchFamily="34" charset="0"/>
                      </a:endParaRP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1162511">
                <a:tc>
                  <a:txBody>
                    <a:bodyPr/>
                    <a:lstStyle/>
                    <a:p>
                      <a:pPr algn="l" fontAlgn="t"/>
                      <a:r>
                        <a:rPr lang="en-US" sz="1700">
                          <a:effectLst/>
                          <a:latin typeface="verdana" panose="020B0604030504040204" pitchFamily="34" charset="0"/>
                        </a:rPr>
                        <a:t>translateZ(</a:t>
                      </a:r>
                      <a:r>
                        <a:rPr lang="en-US" sz="1700" i="1">
                          <a:effectLst/>
                          <a:latin typeface="verdana" panose="020B0604030504040204" pitchFamily="34" charset="0"/>
                        </a:rPr>
                        <a:t>z</a:t>
                      </a:r>
                      <a:r>
                        <a:rPr lang="en-US" sz="1700">
                          <a:effectLst/>
                          <a:latin typeface="verdana" panose="020B0604030504040204" pitchFamily="34" charset="0"/>
                        </a:rPr>
                        <a:t>)</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l" fontAlgn="t"/>
                      <a:r>
                        <a:rPr lang="en-US" sz="1700" dirty="0">
                          <a:effectLst/>
                          <a:latin typeface="verdana" panose="020B0604030504040204" pitchFamily="34" charset="0"/>
                        </a:rPr>
                        <a:t>Defines a 3D translation, using only the value for the Z-axis</a:t>
                      </a:r>
                    </a:p>
                  </a:txBody>
                  <a:tcPr marL="44989" marR="44989" marT="62984" marB="62984">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endParaRPr lang="en-US" sz="1700" dirty="0"/>
                    </a:p>
                  </a:txBody>
                  <a:tcPr marL="86379" marR="86379" marT="43189" marB="43189">
                    <a:lnL w="9525" cap="flat" cmpd="sng" algn="ctr">
                      <a:solidFill>
                        <a:srgbClr val="D4D4D4"/>
                      </a:solidFill>
                      <a:prstDash val="solid"/>
                      <a:round/>
                      <a:headEnd type="none" w="med" len="med"/>
                      <a:tailEnd type="none" w="med" len="med"/>
                    </a:lnL>
                    <a:lnT w="9525" cap="flat" cmpd="sng" algn="ctr">
                      <a:solidFill>
                        <a:srgbClr val="D4D4D4"/>
                      </a:solidFill>
                      <a:prstDash val="solid"/>
                      <a:round/>
                      <a:headEnd type="none" w="med" len="med"/>
                      <a:tailEnd type="none" w="med" len="med"/>
                    </a:lnT>
                  </a:tcPr>
                </a:tc>
              </a:tr>
            </a:tbl>
          </a:graphicData>
        </a:graphic>
      </p:graphicFrame>
      <p:sp>
        <p:nvSpPr>
          <p:cNvPr id="11" name="Rectangle 2"/>
          <p:cNvSpPr>
            <a:spLocks noChangeArrowheads="1"/>
          </p:cNvSpPr>
          <p:nvPr/>
        </p:nvSpPr>
        <p:spPr bwMode="auto">
          <a:xfrm>
            <a:off x="533399" y="2201033"/>
            <a:ext cx="103356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3958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Transforms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26</a:t>
            </a:fld>
            <a:endParaRPr lang="en-US"/>
          </a:p>
        </p:txBody>
      </p:sp>
      <p:sp>
        <p:nvSpPr>
          <p:cNvPr id="6" name="Content Placeholder 2"/>
          <p:cNvSpPr>
            <a:spLocks noGrp="1"/>
          </p:cNvSpPr>
          <p:nvPr>
            <p:ph idx="1"/>
          </p:nvPr>
        </p:nvSpPr>
        <p:spPr>
          <a:xfrm>
            <a:off x="228600" y="838200"/>
            <a:ext cx="6705600" cy="1295400"/>
          </a:xfrm>
        </p:spPr>
        <p:txBody>
          <a:bodyPr>
            <a:noAutofit/>
          </a:bodyPr>
          <a:lstStyle/>
          <a:p>
            <a:pPr>
              <a:buNone/>
            </a:pPr>
            <a:endParaRPr lang="en-US" sz="2400" dirty="0" smtClean="0"/>
          </a:p>
          <a:p>
            <a:r>
              <a:rPr lang="en-US" sz="3200" dirty="0" smtClean="0"/>
              <a:t>CSS 3 The Scale Method</a:t>
            </a:r>
          </a:p>
          <a:p>
            <a:r>
              <a:rPr lang="en-US" sz="2400" dirty="0" smtClean="0"/>
              <a:t>Demo: </a:t>
            </a:r>
            <a:r>
              <a:rPr lang="en-US" sz="1400" dirty="0">
                <a:hlinkClick r:id="rId3"/>
              </a:rPr>
              <a:t>http://</a:t>
            </a:r>
            <a:r>
              <a:rPr lang="en-US" sz="1400" dirty="0" smtClean="0">
                <a:hlinkClick r:id="rId3"/>
              </a:rPr>
              <a:t>www.w3schools.com/cssref/playit.asp?filename=playcss_transform_scale</a:t>
            </a:r>
            <a:endParaRPr lang="en-US" sz="1400" dirty="0" smtClean="0"/>
          </a:p>
          <a:p>
            <a:r>
              <a:rPr lang="en-US" sz="2000" dirty="0" smtClean="0"/>
              <a:t>With </a:t>
            </a:r>
            <a:r>
              <a:rPr lang="en-US" sz="2000" dirty="0"/>
              <a:t>the scale() method, the element increases or decreases the size, depending on the parameters given for the width (X-axis) and the height (Y-axis):</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2050" name="Picture 2"/>
          <p:cNvPicPr>
            <a:picLocks noChangeAspect="1" noChangeArrowheads="1"/>
          </p:cNvPicPr>
          <p:nvPr/>
        </p:nvPicPr>
        <p:blipFill>
          <a:blip r:embed="rId4" cstate="print"/>
          <a:srcRect/>
          <a:stretch>
            <a:fillRect/>
          </a:stretch>
        </p:blipFill>
        <p:spPr bwMode="auto">
          <a:xfrm>
            <a:off x="6858000" y="1371600"/>
            <a:ext cx="2077107" cy="2590800"/>
          </a:xfrm>
          <a:prstGeom prst="rect">
            <a:avLst/>
          </a:prstGeom>
          <a:noFill/>
          <a:ln w="9525">
            <a:noFill/>
            <a:miter lim="800000"/>
            <a:headEnd/>
            <a:tailEnd/>
          </a:ln>
        </p:spPr>
      </p:pic>
      <p:sp>
        <p:nvSpPr>
          <p:cNvPr id="3" name="Rectangle 1"/>
          <p:cNvSpPr>
            <a:spLocks noChangeArrowheads="1"/>
          </p:cNvSpPr>
          <p:nvPr/>
        </p:nvSpPr>
        <p:spPr bwMode="auto">
          <a:xfrm>
            <a:off x="665986" y="3962400"/>
            <a:ext cx="6268214" cy="1384995"/>
          </a:xfrm>
          <a:prstGeom prst="rect">
            <a:avLst/>
          </a:prstGeom>
          <a:solidFill>
            <a:schemeClr val="tx2">
              <a:lumMod val="60000"/>
              <a:lumOff val="40000"/>
            </a:schemeClr>
          </a:solidFill>
          <a:ln>
            <a:noFill/>
          </a:ln>
          <a:effectLst/>
        </p:spPr>
        <p:txBody>
          <a:bodyPr vert="horz" wrap="square" lIns="4761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chemeClr val="bg1"/>
                </a:solidFill>
                <a:effectLst/>
                <a:latin typeface="Courier New" panose="02070309020205020404" pitchFamily="49" charset="0"/>
                <a:cs typeface="Courier New" panose="02070309020205020404" pitchFamily="49" charset="0"/>
              </a:rPr>
              <a:t>myDIV</a:t>
            </a:r>
            <a: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 {</a:t>
            </a:r>
            <a:b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dirty="0" err="1" smtClean="0">
                <a:ln>
                  <a:noFill/>
                </a:ln>
                <a:solidFill>
                  <a:schemeClr val="bg1"/>
                </a:solidFill>
                <a:effectLst/>
                <a:latin typeface="Courier New" panose="02070309020205020404" pitchFamily="49" charset="0"/>
                <a:cs typeface="Courier New" panose="02070309020205020404" pitchFamily="49" charset="0"/>
              </a:rPr>
              <a:t>background-color:lightblue</a:t>
            </a:r>
            <a: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a:t>
            </a:r>
            <a:b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dirty="0" err="1" smtClean="0">
                <a:ln>
                  <a:noFill/>
                </a:ln>
                <a:solidFill>
                  <a:schemeClr val="bg1"/>
                </a:solidFill>
                <a:effectLst/>
                <a:latin typeface="Courier New" panose="02070309020205020404" pitchFamily="49" charset="0"/>
                <a:cs typeface="Courier New" panose="02070309020205020404" pitchFamily="49" charset="0"/>
              </a:rPr>
              <a:t>transform:</a:t>
            </a:r>
            <a:r>
              <a:rPr kumimoji="0" lang="en-US" altLang="en-US" sz="2400" b="1" i="0" u="none" strike="noStrike" cap="none" normalizeH="0" baseline="0" dirty="0" err="1" smtClean="0">
                <a:ln>
                  <a:noFill/>
                </a:ln>
                <a:solidFill>
                  <a:schemeClr val="bg1"/>
                </a:solidFill>
                <a:effectLst/>
                <a:latin typeface="Courier New" panose="02070309020205020404" pitchFamily="49" charset="0"/>
                <a:cs typeface="Courier New" panose="02070309020205020404" pitchFamily="49" charset="0"/>
              </a:rPr>
              <a:t>scale</a:t>
            </a:r>
            <a:r>
              <a:rPr kumimoji="0" lang="en-US" altLang="en-US" sz="2400" b="1"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(2,2)</a:t>
            </a:r>
            <a: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a:t>
            </a:r>
            <a:b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dirty="0" smtClean="0">
                <a:ln>
                  <a:noFill/>
                </a:ln>
                <a:solidFill>
                  <a:schemeClr val="bg1"/>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chemeClr val="bg1"/>
                </a:solidFill>
                <a:effectLst/>
              </a:rPr>
              <a:t> </a:t>
            </a:r>
            <a:endParaRPr kumimoji="0" lang="en-US" altLang="en-US" sz="4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14242834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Transitions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27</a:t>
            </a:fld>
            <a:endParaRPr lang="en-US"/>
          </a:p>
        </p:txBody>
      </p:sp>
      <p:sp>
        <p:nvSpPr>
          <p:cNvPr id="6" name="Content Placeholder 2"/>
          <p:cNvSpPr>
            <a:spLocks noGrp="1"/>
          </p:cNvSpPr>
          <p:nvPr>
            <p:ph idx="1"/>
          </p:nvPr>
        </p:nvSpPr>
        <p:spPr>
          <a:xfrm>
            <a:off x="228600" y="838200"/>
            <a:ext cx="7395380" cy="1295400"/>
          </a:xfrm>
        </p:spPr>
        <p:txBody>
          <a:bodyPr>
            <a:noAutofit/>
          </a:bodyPr>
          <a:lstStyle/>
          <a:p>
            <a:pPr>
              <a:buNone/>
            </a:pPr>
            <a:endParaRPr lang="en-US" sz="2400" dirty="0" smtClean="0"/>
          </a:p>
          <a:p>
            <a:r>
              <a:rPr lang="en-SG" sz="2400" dirty="0" err="1" smtClean="0"/>
              <a:t>CSS3</a:t>
            </a:r>
            <a:r>
              <a:rPr lang="en-SG" sz="2400" dirty="0" smtClean="0"/>
              <a:t> Transitions</a:t>
            </a:r>
          </a:p>
          <a:p>
            <a:r>
              <a:rPr lang="en-US" sz="1800" dirty="0"/>
              <a:t>The transition property is a shorthand property for the four transition </a:t>
            </a:r>
            <a:r>
              <a:rPr lang="en-US" sz="1800" dirty="0" smtClean="0"/>
              <a:t>properties: transition-property</a:t>
            </a:r>
            <a:r>
              <a:rPr lang="en-US" sz="1800" dirty="0"/>
              <a:t>, transition-duration, transition-timing-function, and transition-delay.</a:t>
            </a:r>
          </a:p>
          <a:p>
            <a:r>
              <a:rPr lang="en-US" sz="1800" b="1" dirty="0"/>
              <a:t>Note:</a:t>
            </a:r>
            <a:r>
              <a:rPr lang="en-US" sz="1800" dirty="0"/>
              <a:t> Always specify the transition-duration property, otherwise the duration is 0, and the transition will have no effect</a:t>
            </a:r>
            <a:r>
              <a:rPr lang="en-US" sz="1800" dirty="0" smtClean="0"/>
              <a:t>.</a:t>
            </a:r>
            <a:endParaRPr lang="en-SG" sz="1800" dirty="0" smtClean="0"/>
          </a:p>
          <a:p>
            <a:r>
              <a:rPr lang="en-SG" dirty="0" err="1" smtClean="0"/>
              <a:t>CSS3</a:t>
            </a:r>
            <a:r>
              <a:rPr lang="en-SG" dirty="0" smtClean="0"/>
              <a:t> transitions are effects that let an element gradually change from one style to another.</a:t>
            </a:r>
          </a:p>
          <a:p>
            <a:pPr lvl="1"/>
            <a:r>
              <a:rPr lang="en-SG" sz="2000" dirty="0" smtClean="0"/>
              <a:t>To do this, you must specify two things:</a:t>
            </a:r>
          </a:p>
          <a:p>
            <a:pPr lvl="1"/>
            <a:r>
              <a:rPr lang="en-SG" b="1" dirty="0" smtClean="0">
                <a:solidFill>
                  <a:srgbClr val="FF0000"/>
                </a:solidFill>
              </a:rPr>
              <a:t>Specify the </a:t>
            </a:r>
            <a:r>
              <a:rPr lang="en-SG" b="1" dirty="0" err="1" smtClean="0">
                <a:solidFill>
                  <a:srgbClr val="FF0000"/>
                </a:solidFill>
              </a:rPr>
              <a:t>CSS</a:t>
            </a:r>
            <a:r>
              <a:rPr lang="en-SG" b="1" dirty="0" smtClean="0">
                <a:solidFill>
                  <a:srgbClr val="FF0000"/>
                </a:solidFill>
              </a:rPr>
              <a:t> property you want to add an effect to</a:t>
            </a:r>
          </a:p>
          <a:p>
            <a:pPr lvl="1"/>
            <a:r>
              <a:rPr lang="en-SG" b="1" dirty="0" smtClean="0">
                <a:solidFill>
                  <a:srgbClr val="FF0000"/>
                </a:solidFill>
              </a:rPr>
              <a:t>Specify the duration of the effect.</a:t>
            </a:r>
          </a:p>
          <a:p>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Transitions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28</a:t>
            </a:fld>
            <a:endParaRPr lang="en-US"/>
          </a:p>
        </p:txBody>
      </p:sp>
      <p:sp>
        <p:nvSpPr>
          <p:cNvPr id="6" name="Content Placeholder 2"/>
          <p:cNvSpPr>
            <a:spLocks noGrp="1"/>
          </p:cNvSpPr>
          <p:nvPr>
            <p:ph idx="1"/>
          </p:nvPr>
        </p:nvSpPr>
        <p:spPr>
          <a:xfrm>
            <a:off x="304800" y="1219200"/>
            <a:ext cx="7395380" cy="1295400"/>
          </a:xfrm>
        </p:spPr>
        <p:txBody>
          <a:bodyPr>
            <a:noAutofit/>
          </a:bodyPr>
          <a:lstStyle/>
          <a:p>
            <a:pPr>
              <a:buNone/>
            </a:pPr>
            <a:endParaRPr lang="en-US" sz="1600" dirty="0" smtClean="0"/>
          </a:p>
          <a:p>
            <a:r>
              <a:rPr lang="en-SG" sz="2000" b="1" dirty="0" smtClean="0"/>
              <a:t>Note:</a:t>
            </a:r>
            <a:r>
              <a:rPr lang="en-SG" sz="2000" dirty="0" smtClean="0"/>
              <a:t> If the duration is not specified, the transition will have no effect, because default value is 0.</a:t>
            </a:r>
          </a:p>
          <a:p>
            <a:r>
              <a:rPr lang="en-SG" sz="2000" dirty="0" smtClean="0"/>
              <a:t>The effect will start when the specified </a:t>
            </a:r>
            <a:r>
              <a:rPr lang="en-SG" sz="2000" dirty="0" err="1" smtClean="0"/>
              <a:t>CSS</a:t>
            </a:r>
            <a:r>
              <a:rPr lang="en-SG" sz="2000" dirty="0" smtClean="0"/>
              <a:t> property changes value. A typical </a:t>
            </a:r>
            <a:r>
              <a:rPr lang="en-SG" sz="2000" dirty="0" err="1" smtClean="0"/>
              <a:t>CSS</a:t>
            </a:r>
            <a:r>
              <a:rPr lang="en-SG" sz="2000" dirty="0" smtClean="0"/>
              <a:t> property change would be when a user mouse-over an element:</a:t>
            </a:r>
          </a:p>
          <a:p>
            <a:endParaRPr lang="en-US" sz="1600" dirty="0" smtClean="0"/>
          </a:p>
          <a:p>
            <a:r>
              <a:rPr lang="en-US" sz="2400" dirty="0" smtClean="0"/>
              <a:t>Example:  </a:t>
            </a:r>
            <a:r>
              <a:rPr lang="en-SG" sz="2400" dirty="0"/>
              <a:t>http://www.w3schools.com/cssref/tryit.asp?filename=trycss3_transition</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5-Point Star 6"/>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Transitions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29</a:t>
            </a:fld>
            <a:endParaRPr lang="en-US"/>
          </a:p>
        </p:txBody>
      </p:sp>
      <p:sp>
        <p:nvSpPr>
          <p:cNvPr id="6" name="Content Placeholder 2"/>
          <p:cNvSpPr>
            <a:spLocks noGrp="1"/>
          </p:cNvSpPr>
          <p:nvPr>
            <p:ph idx="1"/>
          </p:nvPr>
        </p:nvSpPr>
        <p:spPr>
          <a:xfrm>
            <a:off x="304800" y="914400"/>
            <a:ext cx="7395380" cy="1295400"/>
          </a:xfrm>
        </p:spPr>
        <p:txBody>
          <a:bodyPr>
            <a:noAutofit/>
          </a:bodyPr>
          <a:lstStyle/>
          <a:p>
            <a:pPr>
              <a:buNone/>
            </a:pPr>
            <a:endParaRPr lang="en-US" sz="1600" dirty="0" smtClean="0"/>
          </a:p>
          <a:p>
            <a:r>
              <a:rPr lang="en-US" sz="2000" b="1" dirty="0" smtClean="0"/>
              <a:t>Full Code:</a:t>
            </a:r>
            <a:endParaRPr lang="en-US" sz="16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3962400" y="685800"/>
            <a:ext cx="4953000" cy="59436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a:t>&lt;!DOCTYPE html&gt;</a:t>
            </a:r>
          </a:p>
          <a:p>
            <a:r>
              <a:rPr lang="en-SG" sz="1600" dirty="0"/>
              <a:t>&lt;html</a:t>
            </a:r>
            <a:r>
              <a:rPr lang="en-SG" sz="1600" dirty="0" smtClean="0"/>
              <a:t>&gt;&lt;</a:t>
            </a:r>
            <a:r>
              <a:rPr lang="en-SG" sz="1600" dirty="0"/>
              <a:t>head&gt;</a:t>
            </a:r>
          </a:p>
          <a:p>
            <a:r>
              <a:rPr lang="en-SG" sz="1600" dirty="0"/>
              <a:t>&lt;style&gt; </a:t>
            </a:r>
          </a:p>
          <a:p>
            <a:r>
              <a:rPr lang="en-SG" sz="1600" dirty="0"/>
              <a:t>div {</a:t>
            </a:r>
          </a:p>
          <a:p>
            <a:r>
              <a:rPr lang="en-SG" sz="1600" dirty="0"/>
              <a:t>    width: 100px;</a:t>
            </a:r>
          </a:p>
          <a:p>
            <a:r>
              <a:rPr lang="en-SG" sz="1600" dirty="0"/>
              <a:t>    height: 100px;</a:t>
            </a:r>
          </a:p>
          <a:p>
            <a:r>
              <a:rPr lang="en-SG" sz="1600" dirty="0"/>
              <a:t>    background: red;</a:t>
            </a:r>
          </a:p>
          <a:p>
            <a:r>
              <a:rPr lang="en-SG" sz="1600" dirty="0"/>
              <a:t>    transition: width 2s;</a:t>
            </a:r>
          </a:p>
          <a:p>
            <a:r>
              <a:rPr lang="en-SG" sz="1600" dirty="0"/>
              <a:t>    -</a:t>
            </a:r>
            <a:r>
              <a:rPr lang="en-SG" sz="1600" dirty="0" err="1"/>
              <a:t>webkit</a:t>
            </a:r>
            <a:r>
              <a:rPr lang="en-SG" sz="1600" dirty="0"/>
              <a:t>-transition: width 2s; /* Safari 3.1 to 6.0 */</a:t>
            </a:r>
          </a:p>
          <a:p>
            <a:r>
              <a:rPr lang="en-SG" sz="1600" dirty="0"/>
              <a:t>}</a:t>
            </a:r>
          </a:p>
          <a:p>
            <a:r>
              <a:rPr lang="en-SG" sz="1600" dirty="0" err="1" smtClean="0"/>
              <a:t>div:hover</a:t>
            </a:r>
            <a:r>
              <a:rPr lang="en-SG" sz="1600" dirty="0" smtClean="0"/>
              <a:t> </a:t>
            </a:r>
            <a:r>
              <a:rPr lang="en-SG" sz="1600" dirty="0"/>
              <a:t>{</a:t>
            </a:r>
          </a:p>
          <a:p>
            <a:r>
              <a:rPr lang="en-SG" sz="1600" dirty="0"/>
              <a:t>    width: 300px;</a:t>
            </a:r>
          </a:p>
          <a:p>
            <a:r>
              <a:rPr lang="en-SG" sz="1600" dirty="0"/>
              <a:t>}</a:t>
            </a:r>
          </a:p>
          <a:p>
            <a:r>
              <a:rPr lang="en-SG" sz="1600" dirty="0"/>
              <a:t>&lt;/style</a:t>
            </a:r>
            <a:r>
              <a:rPr lang="en-SG" sz="1600" dirty="0" smtClean="0"/>
              <a:t>&gt;&lt;/</a:t>
            </a:r>
            <a:r>
              <a:rPr lang="en-SG" sz="1600" dirty="0"/>
              <a:t>head&gt;</a:t>
            </a:r>
          </a:p>
          <a:p>
            <a:r>
              <a:rPr lang="en-SG" sz="1600" dirty="0"/>
              <a:t>&lt;body&gt;</a:t>
            </a:r>
          </a:p>
          <a:p>
            <a:r>
              <a:rPr lang="en-SG" sz="1600" dirty="0" smtClean="0"/>
              <a:t>&lt;</a:t>
            </a:r>
            <a:r>
              <a:rPr lang="en-SG" sz="1600" dirty="0"/>
              <a:t>p&gt;&lt;b&gt;Note:&lt;/b&gt; This example does not work in Internet Explorer 9 and earlier versions.&lt;/p&gt;</a:t>
            </a:r>
          </a:p>
          <a:p>
            <a:r>
              <a:rPr lang="en-SG" sz="1600" dirty="0" smtClean="0"/>
              <a:t>&lt;</a:t>
            </a:r>
            <a:r>
              <a:rPr lang="en-SG" sz="1600" dirty="0"/>
              <a:t>div&gt;&lt;/div&gt;</a:t>
            </a:r>
          </a:p>
          <a:p>
            <a:endParaRPr lang="en-SG" sz="1600" dirty="0"/>
          </a:p>
          <a:p>
            <a:r>
              <a:rPr lang="en-SG" sz="1600" dirty="0"/>
              <a:t>&lt;p&gt;Hover over the div element above, to see the transition effect.&lt;/p</a:t>
            </a:r>
            <a:r>
              <a:rPr lang="en-SG" sz="1600" dirty="0" smtClean="0"/>
              <a:t>&gt;</a:t>
            </a:r>
            <a:endParaRPr lang="en-SG" sz="1600" dirty="0"/>
          </a:p>
          <a:p>
            <a:r>
              <a:rPr lang="en-SG" sz="1600" dirty="0"/>
              <a:t>&lt;/body</a:t>
            </a:r>
            <a:r>
              <a:rPr lang="en-SG" sz="1600" dirty="0" smtClean="0"/>
              <a:t>&gt;&lt;/</a:t>
            </a:r>
            <a:r>
              <a:rPr lang="en-SG" sz="1600" dirty="0"/>
              <a:t>html&gt;</a:t>
            </a:r>
          </a:p>
        </p:txBody>
      </p:sp>
      <p:pic>
        <p:nvPicPr>
          <p:cNvPr id="8194" name="Picture 2"/>
          <p:cNvPicPr>
            <a:picLocks noChangeAspect="1" noChangeArrowheads="1"/>
          </p:cNvPicPr>
          <p:nvPr/>
        </p:nvPicPr>
        <p:blipFill>
          <a:blip r:embed="rId3" cstate="print"/>
          <a:srcRect/>
          <a:stretch>
            <a:fillRect/>
          </a:stretch>
        </p:blipFill>
        <p:spPr bwMode="auto">
          <a:xfrm>
            <a:off x="381000" y="1600200"/>
            <a:ext cx="2457450" cy="1895475"/>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a:stretch>
            <a:fillRect/>
          </a:stretch>
        </p:blipFill>
        <p:spPr bwMode="auto">
          <a:xfrm>
            <a:off x="304800" y="3048000"/>
            <a:ext cx="3048000" cy="1885950"/>
          </a:xfrm>
          <a:prstGeom prst="rect">
            <a:avLst/>
          </a:prstGeom>
          <a:noFill/>
          <a:ln w="9525">
            <a:noFill/>
            <a:miter lim="800000"/>
            <a:headEnd/>
            <a:tailEnd/>
          </a:ln>
        </p:spPr>
      </p:pic>
      <p:pic>
        <p:nvPicPr>
          <p:cNvPr id="8196" name="Picture 4"/>
          <p:cNvPicPr>
            <a:picLocks noChangeAspect="1" noChangeArrowheads="1"/>
          </p:cNvPicPr>
          <p:nvPr/>
        </p:nvPicPr>
        <p:blipFill>
          <a:blip r:embed="rId5" cstate="print"/>
          <a:srcRect/>
          <a:stretch>
            <a:fillRect/>
          </a:stretch>
        </p:blipFill>
        <p:spPr bwMode="auto">
          <a:xfrm>
            <a:off x="371475" y="4572000"/>
            <a:ext cx="2905125" cy="1838325"/>
          </a:xfrm>
          <a:prstGeom prst="rect">
            <a:avLst/>
          </a:prstGeom>
          <a:noFill/>
          <a:ln w="9525">
            <a:noFill/>
            <a:miter lim="800000"/>
            <a:headEnd/>
            <a:tailEnd/>
          </a:ln>
        </p:spPr>
      </p:pic>
      <p:sp>
        <p:nvSpPr>
          <p:cNvPr id="10" name="5-Point Star 9"/>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Transitions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30</a:t>
            </a:fld>
            <a:endParaRPr lang="en-US"/>
          </a:p>
        </p:txBody>
      </p:sp>
      <p:sp>
        <p:nvSpPr>
          <p:cNvPr id="6" name="Content Placeholder 2"/>
          <p:cNvSpPr>
            <a:spLocks noGrp="1"/>
          </p:cNvSpPr>
          <p:nvPr>
            <p:ph idx="1"/>
          </p:nvPr>
        </p:nvSpPr>
        <p:spPr>
          <a:xfrm>
            <a:off x="304800" y="914400"/>
            <a:ext cx="7395380" cy="1295400"/>
          </a:xfrm>
        </p:spPr>
        <p:txBody>
          <a:bodyPr>
            <a:noAutofit/>
          </a:bodyPr>
          <a:lstStyle/>
          <a:p>
            <a:pPr>
              <a:buNone/>
            </a:pPr>
            <a:endParaRPr lang="en-US" sz="1600" dirty="0" smtClean="0"/>
          </a:p>
          <a:p>
            <a:r>
              <a:rPr lang="en-US" sz="2000" b="1" dirty="0" smtClean="0"/>
              <a:t>Multiple Changes:</a:t>
            </a:r>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4495800" y="914400"/>
            <a:ext cx="4648200" cy="5715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smtClean="0"/>
              <a:t>&lt;head&gt;</a:t>
            </a:r>
          </a:p>
          <a:p>
            <a:r>
              <a:rPr lang="en-SG" sz="1600" dirty="0" smtClean="0"/>
              <a:t>&lt;style&gt; </a:t>
            </a:r>
          </a:p>
          <a:p>
            <a:r>
              <a:rPr lang="en-SG" sz="1600" dirty="0" smtClean="0"/>
              <a:t>div</a:t>
            </a:r>
          </a:p>
          <a:p>
            <a:r>
              <a:rPr lang="en-SG" sz="1600" dirty="0" smtClean="0"/>
              <a:t>{</a:t>
            </a:r>
            <a:r>
              <a:rPr lang="en-SG" sz="1600" dirty="0" err="1" smtClean="0"/>
              <a:t>width:100px</a:t>
            </a:r>
            <a:r>
              <a:rPr lang="en-SG" sz="1600" dirty="0" smtClean="0"/>
              <a:t>;</a:t>
            </a:r>
          </a:p>
          <a:p>
            <a:r>
              <a:rPr lang="en-SG" sz="1600" dirty="0" err="1" smtClean="0"/>
              <a:t>height:100px</a:t>
            </a:r>
            <a:r>
              <a:rPr lang="en-SG" sz="1600" dirty="0" smtClean="0"/>
              <a:t>;</a:t>
            </a:r>
          </a:p>
          <a:p>
            <a:r>
              <a:rPr lang="en-SG" sz="1600" dirty="0" err="1" smtClean="0"/>
              <a:t>background:red</a:t>
            </a:r>
            <a:r>
              <a:rPr lang="en-SG" sz="1600" dirty="0" smtClean="0"/>
              <a:t>;</a:t>
            </a:r>
          </a:p>
          <a:p>
            <a:r>
              <a:rPr lang="en-SG" sz="1600" dirty="0" err="1" smtClean="0"/>
              <a:t>transition:width</a:t>
            </a:r>
            <a:r>
              <a:rPr lang="en-SG" sz="1600" dirty="0" smtClean="0"/>
              <a:t> </a:t>
            </a:r>
            <a:r>
              <a:rPr lang="en-SG" sz="1600" dirty="0" err="1" smtClean="0"/>
              <a:t>2s</a:t>
            </a:r>
            <a:r>
              <a:rPr lang="en-SG" sz="1600" dirty="0" smtClean="0"/>
              <a:t>, height </a:t>
            </a:r>
            <a:r>
              <a:rPr lang="en-SG" sz="1600" dirty="0" err="1" smtClean="0"/>
              <a:t>2s</a:t>
            </a:r>
            <a:r>
              <a:rPr lang="en-SG" sz="1600" dirty="0" smtClean="0"/>
              <a:t>;</a:t>
            </a:r>
          </a:p>
          <a:p>
            <a:r>
              <a:rPr lang="en-SG" sz="1600" dirty="0" smtClean="0"/>
              <a:t>-</a:t>
            </a:r>
            <a:r>
              <a:rPr lang="en-SG" sz="1600" dirty="0" err="1" smtClean="0"/>
              <a:t>webkit-transition:width</a:t>
            </a:r>
            <a:r>
              <a:rPr lang="en-SG" sz="1600" dirty="0" smtClean="0"/>
              <a:t> </a:t>
            </a:r>
            <a:r>
              <a:rPr lang="en-SG" sz="1600" dirty="0" err="1" smtClean="0"/>
              <a:t>2s</a:t>
            </a:r>
            <a:r>
              <a:rPr lang="en-SG" sz="1600" dirty="0" smtClean="0"/>
              <a:t>, height </a:t>
            </a:r>
            <a:r>
              <a:rPr lang="en-SG" sz="1600" dirty="0" err="1" smtClean="0"/>
              <a:t>2s</a:t>
            </a:r>
            <a:r>
              <a:rPr lang="en-SG" sz="1600" dirty="0" smtClean="0"/>
              <a:t>, -</a:t>
            </a:r>
            <a:r>
              <a:rPr lang="en-SG" sz="1600" dirty="0" err="1" smtClean="0"/>
              <a:t>webkit</a:t>
            </a:r>
            <a:r>
              <a:rPr lang="en-SG" sz="1600" dirty="0" smtClean="0"/>
              <a:t>-transform </a:t>
            </a:r>
            <a:r>
              <a:rPr lang="en-SG" sz="1600" dirty="0" err="1" smtClean="0"/>
              <a:t>2s</a:t>
            </a:r>
            <a:r>
              <a:rPr lang="en-SG" sz="1600" dirty="0" smtClean="0"/>
              <a:t>; /* Safari and Chrome */}</a:t>
            </a:r>
          </a:p>
          <a:p>
            <a:endParaRPr lang="en-SG" sz="1600" dirty="0" smtClean="0"/>
          </a:p>
          <a:p>
            <a:r>
              <a:rPr lang="en-SG" sz="1600" dirty="0" err="1" smtClean="0"/>
              <a:t>div:hover</a:t>
            </a:r>
            <a:endParaRPr lang="en-SG" sz="1600" dirty="0" smtClean="0"/>
          </a:p>
          <a:p>
            <a:r>
              <a:rPr lang="en-SG" sz="1600" dirty="0" smtClean="0"/>
              <a:t>{</a:t>
            </a:r>
            <a:r>
              <a:rPr lang="en-SG" sz="1600" dirty="0" err="1" smtClean="0"/>
              <a:t>width:200px</a:t>
            </a:r>
            <a:r>
              <a:rPr lang="en-SG" sz="1600" dirty="0" smtClean="0"/>
              <a:t>;</a:t>
            </a:r>
          </a:p>
          <a:p>
            <a:r>
              <a:rPr lang="en-SG" sz="1600" dirty="0" err="1" smtClean="0"/>
              <a:t>height:200px</a:t>
            </a:r>
            <a:r>
              <a:rPr lang="en-SG" sz="1600" dirty="0" smtClean="0"/>
              <a:t>;</a:t>
            </a:r>
          </a:p>
          <a:p>
            <a:r>
              <a:rPr lang="en-SG" sz="1600" dirty="0" err="1" smtClean="0"/>
              <a:t>transform:rotate</a:t>
            </a:r>
            <a:r>
              <a:rPr lang="en-SG" sz="1600" dirty="0" smtClean="0"/>
              <a:t>(</a:t>
            </a:r>
            <a:r>
              <a:rPr lang="en-SG" sz="1600" dirty="0" err="1" smtClean="0"/>
              <a:t>180deg</a:t>
            </a:r>
            <a:r>
              <a:rPr lang="en-SG" sz="1600" dirty="0" smtClean="0"/>
              <a:t>);</a:t>
            </a:r>
          </a:p>
          <a:p>
            <a:r>
              <a:rPr lang="en-SG" sz="1600" dirty="0" smtClean="0"/>
              <a:t>-</a:t>
            </a:r>
            <a:r>
              <a:rPr lang="en-SG" sz="1600" dirty="0" err="1" smtClean="0"/>
              <a:t>webkit-transform:rotate</a:t>
            </a:r>
            <a:r>
              <a:rPr lang="en-SG" sz="1600" dirty="0" smtClean="0"/>
              <a:t>(</a:t>
            </a:r>
            <a:r>
              <a:rPr lang="en-SG" sz="1600" dirty="0" err="1" smtClean="0"/>
              <a:t>180deg</a:t>
            </a:r>
            <a:r>
              <a:rPr lang="en-SG" sz="1600" dirty="0" smtClean="0"/>
              <a:t>); /* Safari and Chrome */}</a:t>
            </a:r>
          </a:p>
          <a:p>
            <a:r>
              <a:rPr lang="en-SG" sz="1600" dirty="0" smtClean="0"/>
              <a:t>&lt;/style&gt;&lt;/head&gt;</a:t>
            </a:r>
          </a:p>
          <a:p>
            <a:r>
              <a:rPr lang="en-SG" sz="1600" dirty="0" smtClean="0"/>
              <a:t>&lt;body&gt;</a:t>
            </a:r>
          </a:p>
          <a:p>
            <a:r>
              <a:rPr lang="en-SG" sz="1600" dirty="0" smtClean="0"/>
              <a:t>&lt;p&gt;&lt;b&gt;Note:&lt;/b&gt; This example does not work in Internet Explorer.&lt;/p&gt;</a:t>
            </a:r>
          </a:p>
          <a:p>
            <a:r>
              <a:rPr lang="en-SG" sz="1600" dirty="0" smtClean="0"/>
              <a:t>&lt;div&gt;Hover over me to see the transition effect!&lt;/div&gt;</a:t>
            </a:r>
          </a:p>
          <a:p>
            <a:r>
              <a:rPr lang="en-SG" sz="1600" dirty="0" smtClean="0"/>
              <a:t>&lt;/body&gt;</a:t>
            </a:r>
          </a:p>
        </p:txBody>
      </p:sp>
      <p:pic>
        <p:nvPicPr>
          <p:cNvPr id="11" name="Picture 3" descr="C:\Users\Tommy\Desktop\ScreenHunter_23 Oct. 16 11.38.jpg"/>
          <p:cNvPicPr>
            <a:picLocks noChangeAspect="1" noChangeArrowheads="1"/>
          </p:cNvPicPr>
          <p:nvPr/>
        </p:nvPicPr>
        <p:blipFill>
          <a:blip r:embed="rId3" cstate="print"/>
          <a:srcRect/>
          <a:stretch>
            <a:fillRect/>
          </a:stretch>
        </p:blipFill>
        <p:spPr bwMode="auto">
          <a:xfrm>
            <a:off x="381000" y="2057400"/>
            <a:ext cx="1490870" cy="1371600"/>
          </a:xfrm>
          <a:prstGeom prst="rect">
            <a:avLst/>
          </a:prstGeom>
          <a:noFill/>
        </p:spPr>
      </p:pic>
      <p:pic>
        <p:nvPicPr>
          <p:cNvPr id="12" name="Picture 4" descr="C:\Users\Tommy\Desktop\ScreenHunter_24 Oct. 16 11.39.jpg"/>
          <p:cNvPicPr>
            <a:picLocks noChangeAspect="1" noChangeArrowheads="1"/>
          </p:cNvPicPr>
          <p:nvPr/>
        </p:nvPicPr>
        <p:blipFill>
          <a:blip r:embed="rId4" cstate="print"/>
          <a:srcRect/>
          <a:stretch>
            <a:fillRect/>
          </a:stretch>
        </p:blipFill>
        <p:spPr bwMode="auto">
          <a:xfrm>
            <a:off x="1676400" y="2819400"/>
            <a:ext cx="1752600" cy="1788078"/>
          </a:xfrm>
          <a:prstGeom prst="rect">
            <a:avLst/>
          </a:prstGeom>
          <a:noFill/>
        </p:spPr>
      </p:pic>
      <p:pic>
        <p:nvPicPr>
          <p:cNvPr id="13" name="Picture 2" descr="C:\Users\Tommy\Desktop\ScreenHunter_25 Oct. 16 11.39.jpg"/>
          <p:cNvPicPr>
            <a:picLocks noChangeAspect="1" noChangeArrowheads="1"/>
          </p:cNvPicPr>
          <p:nvPr/>
        </p:nvPicPr>
        <p:blipFill>
          <a:blip r:embed="rId5" cstate="print"/>
          <a:srcRect/>
          <a:stretch>
            <a:fillRect/>
          </a:stretch>
        </p:blipFill>
        <p:spPr bwMode="auto">
          <a:xfrm>
            <a:off x="609600" y="4114800"/>
            <a:ext cx="2257425" cy="2543175"/>
          </a:xfrm>
          <a:prstGeom prst="rect">
            <a:avLst/>
          </a:prstGeom>
          <a:noFill/>
        </p:spPr>
      </p:pic>
      <p:sp>
        <p:nvSpPr>
          <p:cNvPr id="10" name="5-Point Star 9"/>
          <p:cNvSpPr/>
          <p:nvPr/>
        </p:nvSpPr>
        <p:spPr>
          <a:xfrm rot="1367558">
            <a:off x="7837616" y="5224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a:t>
            </a:r>
            <a:r>
              <a:rPr lang="en-SG" sz="3600" dirty="0">
                <a:solidFill>
                  <a:srgbClr val="FF0000"/>
                </a:solidFill>
              </a:rPr>
              <a:t>Transition-delay</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31</a:t>
            </a:fld>
            <a:endParaRPr lang="en-US"/>
          </a:p>
        </p:txBody>
      </p:sp>
      <p:sp>
        <p:nvSpPr>
          <p:cNvPr id="6" name="Content Placeholder 2"/>
          <p:cNvSpPr>
            <a:spLocks noGrp="1"/>
          </p:cNvSpPr>
          <p:nvPr>
            <p:ph idx="1"/>
          </p:nvPr>
        </p:nvSpPr>
        <p:spPr>
          <a:xfrm>
            <a:off x="475187" y="999409"/>
            <a:ext cx="3738819" cy="1295400"/>
          </a:xfrm>
        </p:spPr>
        <p:txBody>
          <a:bodyPr>
            <a:noAutofit/>
          </a:bodyPr>
          <a:lstStyle/>
          <a:p>
            <a:pPr>
              <a:buNone/>
            </a:pPr>
            <a:endParaRPr lang="en-US" sz="2400" dirty="0" smtClean="0"/>
          </a:p>
          <a:p>
            <a:r>
              <a:rPr lang="en-SG" sz="2400" dirty="0" smtClean="0"/>
              <a:t>CSS3 </a:t>
            </a:r>
            <a:r>
              <a:rPr lang="en-SG" sz="2400" dirty="0" smtClean="0">
                <a:solidFill>
                  <a:srgbClr val="FF0000"/>
                </a:solidFill>
              </a:rPr>
              <a:t>Transition-delay </a:t>
            </a:r>
            <a:r>
              <a:rPr lang="en-SG" sz="2400" dirty="0" smtClean="0"/>
              <a:t>Property</a:t>
            </a:r>
          </a:p>
          <a:p>
            <a:r>
              <a:rPr lang="en-US" sz="2000" dirty="0"/>
              <a:t>The transition-delay property specifies when the transition effect will start.</a:t>
            </a:r>
          </a:p>
          <a:p>
            <a:r>
              <a:rPr lang="en-US" sz="2000" dirty="0"/>
              <a:t>The transition-delay value is defined in seconds (s) or milliseconds (</a:t>
            </a:r>
            <a:r>
              <a:rPr lang="en-US" sz="2000" dirty="0" err="1"/>
              <a:t>ms</a:t>
            </a:r>
            <a:r>
              <a:rPr lang="en-US" sz="2000" dirty="0" smtClean="0"/>
              <a:t>).</a:t>
            </a:r>
          </a:p>
          <a:p>
            <a:r>
              <a:rPr lang="en-US" sz="2400" dirty="0"/>
              <a:t>Demo: </a:t>
            </a:r>
            <a:r>
              <a:rPr lang="en-US" sz="2000" dirty="0" smtClean="0"/>
              <a:t>http</a:t>
            </a:r>
            <a:r>
              <a:rPr lang="en-US" sz="2000" dirty="0"/>
              <a:t>://www.w3schools.com/cssref/tryit.asp?filename=trycss3_transition-delay</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SG" sz="2400" dirty="0" smtClean="0"/>
              <a:t>Example: </a:t>
            </a:r>
            <a:r>
              <a:rPr lang="en-SG" sz="1800" dirty="0" smtClean="0">
                <a:hlinkClick r:id="rId3"/>
              </a:rPr>
              <a:t>http://www.w3schools.com/css3/tryit.asp?filename=trycss3_transition4</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5-Point Star 7"/>
          <p:cNvSpPr/>
          <p:nvPr/>
        </p:nvSpPr>
        <p:spPr>
          <a:xfrm rot="1367558">
            <a:off x="280801" y="289718"/>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ound Same Side Corner Rectangle 8"/>
          <p:cNvSpPr/>
          <p:nvPr/>
        </p:nvSpPr>
        <p:spPr>
          <a:xfrm>
            <a:off x="4495800" y="914400"/>
            <a:ext cx="4648200" cy="5715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smtClean="0"/>
              <a:t>&lt;html&gt; </a:t>
            </a:r>
            <a:r>
              <a:rPr lang="en-SG" sz="1600" dirty="0"/>
              <a:t>&lt;head</a:t>
            </a:r>
            <a:r>
              <a:rPr lang="en-SG" sz="1600" dirty="0" smtClean="0"/>
              <a:t>&gt;&lt;</a:t>
            </a:r>
            <a:r>
              <a:rPr lang="en-SG" sz="1600" dirty="0"/>
              <a:t>style&gt; </a:t>
            </a:r>
          </a:p>
          <a:p>
            <a:r>
              <a:rPr lang="en-SG" sz="1600" dirty="0"/>
              <a:t>div {</a:t>
            </a:r>
          </a:p>
          <a:p>
            <a:r>
              <a:rPr lang="en-SG" sz="1600" dirty="0"/>
              <a:t>    width: 100px;</a:t>
            </a:r>
          </a:p>
          <a:p>
            <a:r>
              <a:rPr lang="en-SG" sz="1600" dirty="0"/>
              <a:t>    height: 100px;</a:t>
            </a:r>
          </a:p>
          <a:p>
            <a:r>
              <a:rPr lang="en-SG" sz="1600" dirty="0"/>
              <a:t>    background: red;</a:t>
            </a:r>
          </a:p>
          <a:p>
            <a:r>
              <a:rPr lang="en-SG" sz="1600" dirty="0"/>
              <a:t>    -</a:t>
            </a:r>
            <a:r>
              <a:rPr lang="en-SG" sz="1600" dirty="0" err="1"/>
              <a:t>webkit</a:t>
            </a:r>
            <a:r>
              <a:rPr lang="en-SG" sz="1600" dirty="0"/>
              <a:t>-transition-property: width; /* Safari */</a:t>
            </a:r>
          </a:p>
          <a:p>
            <a:r>
              <a:rPr lang="en-SG" sz="1600" dirty="0"/>
              <a:t>    -</a:t>
            </a:r>
            <a:r>
              <a:rPr lang="en-SG" sz="1600" dirty="0" err="1"/>
              <a:t>webkit</a:t>
            </a:r>
            <a:r>
              <a:rPr lang="en-SG" sz="1600" dirty="0"/>
              <a:t>-transition-duration: 5s; /* Safari */</a:t>
            </a:r>
          </a:p>
          <a:p>
            <a:r>
              <a:rPr lang="en-SG" sz="1600" dirty="0"/>
              <a:t>    -</a:t>
            </a:r>
            <a:r>
              <a:rPr lang="en-SG" sz="1600" dirty="0" err="1"/>
              <a:t>webkit</a:t>
            </a:r>
            <a:r>
              <a:rPr lang="en-SG" sz="1600" dirty="0"/>
              <a:t>-transition-delay: 2s; /* Safari */</a:t>
            </a:r>
          </a:p>
          <a:p>
            <a:r>
              <a:rPr lang="en-SG" sz="1600" dirty="0"/>
              <a:t>    transition-property: width;</a:t>
            </a:r>
          </a:p>
          <a:p>
            <a:r>
              <a:rPr lang="en-SG" sz="1600" dirty="0"/>
              <a:t>    transition-duration: 5s;</a:t>
            </a:r>
          </a:p>
          <a:p>
            <a:r>
              <a:rPr lang="en-SG" sz="1600" dirty="0"/>
              <a:t>    transition-delay: 2s;</a:t>
            </a:r>
          </a:p>
          <a:p>
            <a:r>
              <a:rPr lang="en-SG" sz="1600" dirty="0" smtClean="0"/>
              <a:t>}</a:t>
            </a:r>
            <a:endParaRPr lang="en-SG" sz="1600" dirty="0"/>
          </a:p>
          <a:p>
            <a:r>
              <a:rPr lang="en-SG" sz="1600" dirty="0" err="1"/>
              <a:t>div:hover</a:t>
            </a:r>
            <a:r>
              <a:rPr lang="en-SG" sz="1600" dirty="0"/>
              <a:t> {</a:t>
            </a:r>
          </a:p>
          <a:p>
            <a:r>
              <a:rPr lang="en-SG" sz="1600" dirty="0"/>
              <a:t>    width: 300px;</a:t>
            </a:r>
          </a:p>
          <a:p>
            <a:r>
              <a:rPr lang="en-SG" sz="1600" dirty="0"/>
              <a:t>}</a:t>
            </a:r>
          </a:p>
          <a:p>
            <a:r>
              <a:rPr lang="en-SG" sz="1600" dirty="0"/>
              <a:t>&lt;/style</a:t>
            </a:r>
            <a:r>
              <a:rPr lang="en-SG" sz="1600" dirty="0" smtClean="0"/>
              <a:t>&gt;&lt;/</a:t>
            </a:r>
            <a:r>
              <a:rPr lang="en-SG" sz="1600" dirty="0"/>
              <a:t>head</a:t>
            </a:r>
            <a:r>
              <a:rPr lang="en-SG" sz="1600" dirty="0" smtClean="0"/>
              <a:t>&gt;</a:t>
            </a:r>
          </a:p>
          <a:p>
            <a:r>
              <a:rPr lang="en-SG" sz="1600" dirty="0" smtClean="0"/>
              <a:t>&lt;</a:t>
            </a:r>
            <a:r>
              <a:rPr lang="en-SG" sz="1600" dirty="0"/>
              <a:t>body&gt;</a:t>
            </a:r>
          </a:p>
          <a:p>
            <a:r>
              <a:rPr lang="en-SG" sz="1600" dirty="0" smtClean="0"/>
              <a:t>&lt;</a:t>
            </a:r>
            <a:r>
              <a:rPr lang="en-SG" sz="1600" dirty="0"/>
              <a:t>div&gt;&lt;/div&gt;   </a:t>
            </a:r>
            <a:endParaRPr lang="en-SG" sz="1600" dirty="0" smtClean="0"/>
          </a:p>
          <a:p>
            <a:r>
              <a:rPr lang="en-SG" sz="1600" dirty="0" smtClean="0"/>
              <a:t>&lt;/</a:t>
            </a:r>
            <a:r>
              <a:rPr lang="en-SG" sz="1600" dirty="0"/>
              <a:t>body</a:t>
            </a:r>
            <a:r>
              <a:rPr lang="en-SG" sz="1600" dirty="0" smtClean="0"/>
              <a:t>&gt;&lt;/html&gt;</a:t>
            </a: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a:t>
            </a:r>
            <a:r>
              <a:rPr lang="en-SG" sz="3600" dirty="0" smtClean="0">
                <a:solidFill>
                  <a:srgbClr val="FF0000"/>
                </a:solidFill>
              </a:rPr>
              <a:t>Transition-property</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32</a:t>
            </a:fld>
            <a:endParaRPr lang="en-US"/>
          </a:p>
        </p:txBody>
      </p:sp>
      <p:sp>
        <p:nvSpPr>
          <p:cNvPr id="6" name="Content Placeholder 2"/>
          <p:cNvSpPr>
            <a:spLocks noGrp="1"/>
          </p:cNvSpPr>
          <p:nvPr>
            <p:ph idx="1"/>
          </p:nvPr>
        </p:nvSpPr>
        <p:spPr>
          <a:xfrm>
            <a:off x="475187" y="999409"/>
            <a:ext cx="3738819" cy="1295400"/>
          </a:xfrm>
        </p:spPr>
        <p:txBody>
          <a:bodyPr>
            <a:noAutofit/>
          </a:bodyPr>
          <a:lstStyle/>
          <a:p>
            <a:pPr>
              <a:buNone/>
            </a:pPr>
            <a:endParaRPr lang="en-US" sz="2400" dirty="0" smtClean="0"/>
          </a:p>
          <a:p>
            <a:r>
              <a:rPr lang="en-SG" sz="2400" dirty="0"/>
              <a:t>CSS3 </a:t>
            </a:r>
            <a:r>
              <a:rPr lang="en-SG" sz="2400" dirty="0" smtClean="0">
                <a:solidFill>
                  <a:srgbClr val="FF0000"/>
                </a:solidFill>
              </a:rPr>
              <a:t>Transition-property </a:t>
            </a:r>
            <a:r>
              <a:rPr lang="en-SG" sz="2400" dirty="0"/>
              <a:t>Property</a:t>
            </a:r>
          </a:p>
          <a:p>
            <a:r>
              <a:rPr lang="en-US" sz="1600" dirty="0" smtClean="0"/>
              <a:t>The </a:t>
            </a:r>
            <a:r>
              <a:rPr lang="en-US" sz="1600" dirty="0"/>
              <a:t>transition-property property specifies the name of the CSS property the transition effect is for (the transition effect will start when the specified CSS property changes).</a:t>
            </a:r>
          </a:p>
          <a:p>
            <a:r>
              <a:rPr lang="en-US" sz="1600" b="1" dirty="0"/>
              <a:t>Tip:</a:t>
            </a:r>
            <a:r>
              <a:rPr lang="en-US" sz="1600" dirty="0"/>
              <a:t> A transition effect could typically occur when a user hover over an element.</a:t>
            </a:r>
          </a:p>
          <a:p>
            <a:r>
              <a:rPr lang="en-US" sz="1600" b="1" dirty="0"/>
              <a:t>Note:</a:t>
            </a:r>
            <a:r>
              <a:rPr lang="en-US" sz="1600" dirty="0"/>
              <a:t> Always specify the transition-duration property, otherwise the duration is 0, and the transition will have no effect.</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SG" sz="2400" dirty="0" smtClean="0"/>
              <a:t>Example: </a:t>
            </a:r>
            <a:r>
              <a:rPr lang="en-SG" sz="1800" dirty="0" smtClean="0">
                <a:hlinkClick r:id="rId3"/>
              </a:rPr>
              <a:t>http://www.w3schools.com/css3/tryit.asp?filename=trycss3_transition4</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5-Point Star 7"/>
          <p:cNvSpPr/>
          <p:nvPr/>
        </p:nvSpPr>
        <p:spPr>
          <a:xfrm rot="1367558">
            <a:off x="280801" y="289718"/>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ound Same Side Corner Rectangle 8"/>
          <p:cNvSpPr/>
          <p:nvPr/>
        </p:nvSpPr>
        <p:spPr>
          <a:xfrm>
            <a:off x="4495800" y="914400"/>
            <a:ext cx="4648200" cy="5715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a:t>&lt;!DOCTYPE html&gt;</a:t>
            </a:r>
          </a:p>
          <a:p>
            <a:r>
              <a:rPr lang="en-SG" sz="1600" dirty="0"/>
              <a:t>&lt;html</a:t>
            </a:r>
            <a:r>
              <a:rPr lang="en-SG" sz="1600" dirty="0" smtClean="0"/>
              <a:t>&gt;&lt;</a:t>
            </a:r>
            <a:r>
              <a:rPr lang="en-SG" sz="1600" dirty="0"/>
              <a:t>head</a:t>
            </a:r>
            <a:r>
              <a:rPr lang="en-SG" sz="1600" dirty="0" smtClean="0"/>
              <a:t>&gt;&lt;</a:t>
            </a:r>
            <a:r>
              <a:rPr lang="en-SG" sz="1600" dirty="0"/>
              <a:t>style&gt; </a:t>
            </a:r>
          </a:p>
          <a:p>
            <a:r>
              <a:rPr lang="en-SG" sz="1600" dirty="0"/>
              <a:t>div {</a:t>
            </a:r>
          </a:p>
          <a:p>
            <a:r>
              <a:rPr lang="en-SG" sz="1600" dirty="0"/>
              <a:t>    width: 100px;</a:t>
            </a:r>
          </a:p>
          <a:p>
            <a:r>
              <a:rPr lang="en-SG" sz="1600" dirty="0"/>
              <a:t>    height: 100px;</a:t>
            </a:r>
          </a:p>
          <a:p>
            <a:r>
              <a:rPr lang="en-SG" sz="1600" dirty="0"/>
              <a:t>    background: red;</a:t>
            </a:r>
          </a:p>
          <a:p>
            <a:r>
              <a:rPr lang="en-SG" sz="1400" dirty="0"/>
              <a:t>    -</a:t>
            </a:r>
            <a:r>
              <a:rPr lang="en-SG" sz="1400" dirty="0" err="1"/>
              <a:t>webkit</a:t>
            </a:r>
            <a:r>
              <a:rPr lang="en-SG" sz="1400" dirty="0"/>
              <a:t>-transition-property: width; /* Safari */</a:t>
            </a:r>
          </a:p>
          <a:p>
            <a:r>
              <a:rPr lang="en-SG" sz="1600" dirty="0"/>
              <a:t>    -</a:t>
            </a:r>
            <a:r>
              <a:rPr lang="en-SG" sz="1600" dirty="0" err="1"/>
              <a:t>webkit</a:t>
            </a:r>
            <a:r>
              <a:rPr lang="en-SG" sz="1600" dirty="0"/>
              <a:t>-transition-duration: 2s; /* Safari */</a:t>
            </a:r>
          </a:p>
          <a:p>
            <a:r>
              <a:rPr lang="en-SG" sz="1600" dirty="0"/>
              <a:t>    transition-property: width;</a:t>
            </a:r>
          </a:p>
          <a:p>
            <a:r>
              <a:rPr lang="en-SG" sz="1600" dirty="0"/>
              <a:t>    transition-duration: 2s;</a:t>
            </a:r>
          </a:p>
          <a:p>
            <a:r>
              <a:rPr lang="en-SG" sz="1600" dirty="0"/>
              <a:t>}</a:t>
            </a:r>
          </a:p>
          <a:p>
            <a:r>
              <a:rPr lang="en-SG" sz="1600" dirty="0" err="1" smtClean="0"/>
              <a:t>div:hover</a:t>
            </a:r>
            <a:r>
              <a:rPr lang="en-SG" sz="1600" dirty="0" smtClean="0"/>
              <a:t> </a:t>
            </a:r>
            <a:r>
              <a:rPr lang="en-SG" sz="1600" dirty="0"/>
              <a:t>{</a:t>
            </a:r>
          </a:p>
          <a:p>
            <a:r>
              <a:rPr lang="en-SG" sz="1600" dirty="0"/>
              <a:t>    width: 300px;</a:t>
            </a:r>
          </a:p>
          <a:p>
            <a:r>
              <a:rPr lang="en-SG" sz="1600" dirty="0"/>
              <a:t>}</a:t>
            </a:r>
          </a:p>
          <a:p>
            <a:r>
              <a:rPr lang="en-SG" sz="1600" dirty="0"/>
              <a:t>&lt;/style</a:t>
            </a:r>
            <a:r>
              <a:rPr lang="en-SG" sz="1600" dirty="0" smtClean="0"/>
              <a:t>&gt;&lt;/</a:t>
            </a:r>
            <a:r>
              <a:rPr lang="en-SG" sz="1600" dirty="0"/>
              <a:t>head&gt;</a:t>
            </a:r>
          </a:p>
          <a:p>
            <a:r>
              <a:rPr lang="en-SG" sz="1600" dirty="0"/>
              <a:t>&lt;body&gt;</a:t>
            </a:r>
          </a:p>
          <a:p>
            <a:r>
              <a:rPr lang="en-SG" sz="1600" dirty="0" smtClean="0"/>
              <a:t>&lt;</a:t>
            </a:r>
            <a:r>
              <a:rPr lang="en-SG" sz="1600" dirty="0"/>
              <a:t>p&gt;&lt;b&gt;Note:&lt;/b&gt; This example does not work in Internet Explorer 9 and earlier versions.&lt;/p&gt;</a:t>
            </a:r>
          </a:p>
          <a:p>
            <a:r>
              <a:rPr lang="en-SG" sz="1600" dirty="0" smtClean="0"/>
              <a:t>&lt;</a:t>
            </a:r>
            <a:r>
              <a:rPr lang="en-SG" sz="1600" dirty="0"/>
              <a:t>div&gt;&lt;/div&gt;</a:t>
            </a:r>
          </a:p>
          <a:p>
            <a:r>
              <a:rPr lang="en-SG" sz="1600" dirty="0" smtClean="0"/>
              <a:t>&lt;</a:t>
            </a:r>
            <a:r>
              <a:rPr lang="en-SG" sz="1600" dirty="0"/>
              <a:t>p&gt;Hover over the div element above, to see the transition effect.&lt;/p&gt;</a:t>
            </a:r>
          </a:p>
          <a:p>
            <a:r>
              <a:rPr lang="en-SG" sz="1600" dirty="0" smtClean="0"/>
              <a:t>&lt;/</a:t>
            </a:r>
            <a:r>
              <a:rPr lang="en-SG" sz="1600" dirty="0"/>
              <a:t>body</a:t>
            </a:r>
            <a:r>
              <a:rPr lang="en-SG" sz="1600" dirty="0" smtClean="0"/>
              <a:t>&gt;&lt;/</a:t>
            </a:r>
            <a:r>
              <a:rPr lang="en-SG" sz="1600" dirty="0"/>
              <a:t>html&gt;</a:t>
            </a:r>
          </a:p>
        </p:txBody>
      </p:sp>
    </p:spTree>
    <p:extLst>
      <p:ext uri="{BB962C8B-B14F-4D97-AF65-F5344CB8AC3E}">
        <p14:creationId xmlns:p14="http://schemas.microsoft.com/office/powerpoint/2010/main" val="20265429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a:t>
            </a:r>
            <a:r>
              <a:rPr lang="en-SG" sz="3600" dirty="0" smtClean="0">
                <a:solidFill>
                  <a:srgbClr val="FF0000"/>
                </a:solidFill>
              </a:rPr>
              <a:t>Transition-property</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33</a:t>
            </a:fld>
            <a:endParaRPr lang="en-US"/>
          </a:p>
        </p:txBody>
      </p:sp>
      <p:sp>
        <p:nvSpPr>
          <p:cNvPr id="6" name="Content Placeholder 2"/>
          <p:cNvSpPr>
            <a:spLocks noGrp="1"/>
          </p:cNvSpPr>
          <p:nvPr>
            <p:ph idx="1"/>
          </p:nvPr>
        </p:nvSpPr>
        <p:spPr>
          <a:xfrm>
            <a:off x="475187" y="999409"/>
            <a:ext cx="3738819" cy="1295400"/>
          </a:xfrm>
        </p:spPr>
        <p:txBody>
          <a:bodyPr>
            <a:noAutofit/>
          </a:bodyPr>
          <a:lstStyle/>
          <a:p>
            <a:pPr>
              <a:buNone/>
            </a:pPr>
            <a:endParaRPr lang="en-US" sz="2400" dirty="0" smtClean="0"/>
          </a:p>
          <a:p>
            <a:r>
              <a:rPr lang="en-SG" sz="2400" dirty="0"/>
              <a:t>CSS3 </a:t>
            </a:r>
            <a:r>
              <a:rPr lang="en-SG" sz="2400" dirty="0" smtClean="0">
                <a:solidFill>
                  <a:srgbClr val="FF0000"/>
                </a:solidFill>
              </a:rPr>
              <a:t>Transition-property </a:t>
            </a:r>
            <a:r>
              <a:rPr lang="en-SG" sz="2400" dirty="0"/>
              <a:t>Property</a:t>
            </a:r>
          </a:p>
          <a:p>
            <a:r>
              <a:rPr lang="en-US" sz="1600" dirty="0" smtClean="0"/>
              <a:t>The </a:t>
            </a:r>
            <a:r>
              <a:rPr lang="en-US" sz="1600" dirty="0"/>
              <a:t>transition-property property specifies the name of the CSS property the transition effect is for (the transition effect will start when the specified CSS property changes).</a:t>
            </a:r>
          </a:p>
          <a:p>
            <a:r>
              <a:rPr lang="en-US" sz="1600" b="1" dirty="0"/>
              <a:t>Tip:</a:t>
            </a:r>
            <a:r>
              <a:rPr lang="en-US" sz="1600" dirty="0"/>
              <a:t> A transition effect could typically occur when a user hover over an element.</a:t>
            </a:r>
          </a:p>
          <a:p>
            <a:r>
              <a:rPr lang="en-US" sz="1600" b="1" dirty="0"/>
              <a:t>Note:</a:t>
            </a:r>
            <a:r>
              <a:rPr lang="en-US" sz="1600" dirty="0"/>
              <a:t> Always specify the transition-duration property, otherwise the duration is 0, and the transition will have no effect.</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SG" sz="2400" dirty="0" smtClean="0"/>
              <a:t>Example: </a:t>
            </a:r>
            <a:r>
              <a:rPr lang="en-SG" sz="1800" dirty="0" smtClean="0">
                <a:hlinkClick r:id="rId3"/>
              </a:rPr>
              <a:t>http://www.w3schools.com/css3/tryit.asp?filename=trycss3_transition4</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5-Point Star 7"/>
          <p:cNvSpPr/>
          <p:nvPr/>
        </p:nvSpPr>
        <p:spPr>
          <a:xfrm rot="1367558">
            <a:off x="280801" y="289718"/>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ound Same Side Corner Rectangle 8"/>
          <p:cNvSpPr/>
          <p:nvPr/>
        </p:nvSpPr>
        <p:spPr>
          <a:xfrm>
            <a:off x="4495800" y="914400"/>
            <a:ext cx="4648200" cy="5715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a:t>&lt;!DOCTYPE html&gt;</a:t>
            </a:r>
          </a:p>
          <a:p>
            <a:r>
              <a:rPr lang="en-SG" sz="1600" dirty="0"/>
              <a:t>&lt;html</a:t>
            </a:r>
            <a:r>
              <a:rPr lang="en-SG" sz="1600" dirty="0" smtClean="0"/>
              <a:t>&gt;&lt;</a:t>
            </a:r>
            <a:r>
              <a:rPr lang="en-SG" sz="1600" dirty="0"/>
              <a:t>head</a:t>
            </a:r>
            <a:r>
              <a:rPr lang="en-SG" sz="1600" dirty="0" smtClean="0"/>
              <a:t>&gt;&lt;</a:t>
            </a:r>
            <a:r>
              <a:rPr lang="en-SG" sz="1600" dirty="0"/>
              <a:t>style&gt; </a:t>
            </a:r>
          </a:p>
          <a:p>
            <a:r>
              <a:rPr lang="en-SG" sz="1600" dirty="0"/>
              <a:t>div {</a:t>
            </a:r>
          </a:p>
          <a:p>
            <a:r>
              <a:rPr lang="en-SG" sz="1600" dirty="0"/>
              <a:t>    width: 100px;</a:t>
            </a:r>
          </a:p>
          <a:p>
            <a:r>
              <a:rPr lang="en-SG" sz="1600" dirty="0"/>
              <a:t>    height: 100px;</a:t>
            </a:r>
          </a:p>
          <a:p>
            <a:r>
              <a:rPr lang="en-SG" sz="1600" dirty="0"/>
              <a:t>    background: red;</a:t>
            </a:r>
          </a:p>
          <a:p>
            <a:r>
              <a:rPr lang="en-SG" sz="1400" dirty="0"/>
              <a:t>    -</a:t>
            </a:r>
            <a:r>
              <a:rPr lang="en-SG" sz="1400" dirty="0" err="1"/>
              <a:t>webkit</a:t>
            </a:r>
            <a:r>
              <a:rPr lang="en-SG" sz="1400" dirty="0"/>
              <a:t>-transition-property: width; /* Safari */</a:t>
            </a:r>
          </a:p>
          <a:p>
            <a:r>
              <a:rPr lang="en-SG" sz="1600" dirty="0"/>
              <a:t>    -</a:t>
            </a:r>
            <a:r>
              <a:rPr lang="en-SG" sz="1600" dirty="0" err="1"/>
              <a:t>webkit</a:t>
            </a:r>
            <a:r>
              <a:rPr lang="en-SG" sz="1600" dirty="0"/>
              <a:t>-transition-duration: 2s; /* Safari */</a:t>
            </a:r>
          </a:p>
          <a:p>
            <a:r>
              <a:rPr lang="en-SG" sz="1600" dirty="0"/>
              <a:t>    transition-property: width;</a:t>
            </a:r>
          </a:p>
          <a:p>
            <a:r>
              <a:rPr lang="en-SG" sz="1600" dirty="0"/>
              <a:t>    transition-duration: 2s;</a:t>
            </a:r>
          </a:p>
          <a:p>
            <a:r>
              <a:rPr lang="en-SG" sz="1600" dirty="0"/>
              <a:t>}</a:t>
            </a:r>
          </a:p>
          <a:p>
            <a:r>
              <a:rPr lang="en-SG" sz="1600" dirty="0" err="1" smtClean="0"/>
              <a:t>div:hover</a:t>
            </a:r>
            <a:r>
              <a:rPr lang="en-SG" sz="1600" dirty="0" smtClean="0"/>
              <a:t> </a:t>
            </a:r>
            <a:r>
              <a:rPr lang="en-SG" sz="1600" dirty="0"/>
              <a:t>{</a:t>
            </a:r>
          </a:p>
          <a:p>
            <a:r>
              <a:rPr lang="en-SG" sz="1600" dirty="0"/>
              <a:t>    width: 300px;</a:t>
            </a:r>
          </a:p>
          <a:p>
            <a:r>
              <a:rPr lang="en-SG" sz="1600" dirty="0"/>
              <a:t>}</a:t>
            </a:r>
          </a:p>
          <a:p>
            <a:r>
              <a:rPr lang="en-SG" sz="1600" dirty="0"/>
              <a:t>&lt;/style</a:t>
            </a:r>
            <a:r>
              <a:rPr lang="en-SG" sz="1600" dirty="0" smtClean="0"/>
              <a:t>&gt;&lt;/</a:t>
            </a:r>
            <a:r>
              <a:rPr lang="en-SG" sz="1600" dirty="0"/>
              <a:t>head&gt;</a:t>
            </a:r>
          </a:p>
          <a:p>
            <a:r>
              <a:rPr lang="en-SG" sz="1600" dirty="0"/>
              <a:t>&lt;body&gt;</a:t>
            </a:r>
          </a:p>
          <a:p>
            <a:r>
              <a:rPr lang="en-SG" sz="1600" dirty="0" smtClean="0"/>
              <a:t>&lt;</a:t>
            </a:r>
            <a:r>
              <a:rPr lang="en-SG" sz="1600" dirty="0"/>
              <a:t>p&gt;&lt;b&gt;Note:&lt;/b&gt; This example does not work in Internet Explorer 9 and earlier versions.&lt;/p&gt;</a:t>
            </a:r>
          </a:p>
          <a:p>
            <a:r>
              <a:rPr lang="en-SG" sz="1600" dirty="0" smtClean="0"/>
              <a:t>&lt;</a:t>
            </a:r>
            <a:r>
              <a:rPr lang="en-SG" sz="1600" dirty="0"/>
              <a:t>div&gt;&lt;/div&gt;</a:t>
            </a:r>
          </a:p>
          <a:p>
            <a:r>
              <a:rPr lang="en-SG" sz="1600" dirty="0" smtClean="0"/>
              <a:t>&lt;</a:t>
            </a:r>
            <a:r>
              <a:rPr lang="en-SG" sz="1600" dirty="0"/>
              <a:t>p&gt;Hover over the div element above, to see the transition effect.&lt;/p&gt;</a:t>
            </a:r>
          </a:p>
          <a:p>
            <a:r>
              <a:rPr lang="en-SG" sz="1600" dirty="0" smtClean="0"/>
              <a:t>&lt;/</a:t>
            </a:r>
            <a:r>
              <a:rPr lang="en-SG" sz="1600" dirty="0"/>
              <a:t>body</a:t>
            </a:r>
            <a:r>
              <a:rPr lang="en-SG" sz="1600" dirty="0" smtClean="0"/>
              <a:t>&gt;&lt;/</a:t>
            </a:r>
            <a:r>
              <a:rPr lang="en-SG" sz="1600" dirty="0"/>
              <a:t>html&gt;</a:t>
            </a:r>
          </a:p>
        </p:txBody>
      </p:sp>
    </p:spTree>
    <p:extLst>
      <p:ext uri="{BB962C8B-B14F-4D97-AF65-F5344CB8AC3E}">
        <p14:creationId xmlns:p14="http://schemas.microsoft.com/office/powerpoint/2010/main" val="17371123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Transitions - </a:t>
            </a:r>
            <a:r>
              <a:rPr lang="en-SG" sz="2800" dirty="0"/>
              <a:t>Some notable examples</a:t>
            </a:r>
            <a:endParaRPr lang="en-SG" sz="28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34</a:t>
            </a:fld>
            <a:endParaRPr lang="en-US"/>
          </a:p>
        </p:txBody>
      </p:sp>
      <p:sp>
        <p:nvSpPr>
          <p:cNvPr id="6" name="Content Placeholder 2"/>
          <p:cNvSpPr>
            <a:spLocks noGrp="1"/>
          </p:cNvSpPr>
          <p:nvPr>
            <p:ph idx="1"/>
          </p:nvPr>
        </p:nvSpPr>
        <p:spPr>
          <a:xfrm>
            <a:off x="304800" y="914400"/>
            <a:ext cx="7395380" cy="1295400"/>
          </a:xfrm>
        </p:spPr>
        <p:txBody>
          <a:bodyPr>
            <a:noAutofit/>
          </a:bodyPr>
          <a:lstStyle/>
          <a:p>
            <a:pPr>
              <a:buNone/>
            </a:pPr>
            <a:endParaRPr lang="en-US" sz="1600" dirty="0" smtClean="0"/>
          </a:p>
          <a:p>
            <a:r>
              <a:rPr lang="en-US" sz="2000" b="1" dirty="0" smtClean="0"/>
              <a:t>Cross Fading – Fading from one image to another on </a:t>
            </a:r>
            <a:r>
              <a:rPr lang="en-US" sz="2000" b="1" dirty="0" err="1" smtClean="0"/>
              <a:t>mouseover</a:t>
            </a:r>
            <a:endParaRPr lang="en-US" sz="2000" b="1" dirty="0" smtClean="0"/>
          </a:p>
          <a:p>
            <a:r>
              <a:rPr lang="en-SG" sz="1200" dirty="0" err="1" smtClean="0">
                <a:hlinkClick r:id="rId3"/>
              </a:rPr>
              <a:t>http://css3.bradshawenterprises.com/cfimg/</a:t>
            </a:r>
            <a:endParaRPr lang="en-US" sz="20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4495800" y="1981200"/>
            <a:ext cx="4648200" cy="4648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smtClean="0"/>
              <a:t>#</a:t>
            </a:r>
            <a:r>
              <a:rPr lang="en-SG" sz="1600" dirty="0" err="1" smtClean="0"/>
              <a:t>cf</a:t>
            </a:r>
            <a:r>
              <a:rPr lang="en-SG" sz="1600" dirty="0" smtClean="0"/>
              <a:t> { </a:t>
            </a:r>
          </a:p>
          <a:p>
            <a:r>
              <a:rPr lang="en-SG" sz="1600" dirty="0" err="1" smtClean="0"/>
              <a:t>position:relative</a:t>
            </a:r>
            <a:r>
              <a:rPr lang="en-SG" sz="1600" dirty="0" smtClean="0"/>
              <a:t>; </a:t>
            </a:r>
          </a:p>
          <a:p>
            <a:r>
              <a:rPr lang="en-SG" sz="1600" dirty="0" err="1" smtClean="0"/>
              <a:t>height:281px</a:t>
            </a:r>
            <a:r>
              <a:rPr lang="en-SG" sz="1600" dirty="0" smtClean="0"/>
              <a:t>; </a:t>
            </a:r>
          </a:p>
          <a:p>
            <a:r>
              <a:rPr lang="en-SG" sz="1600" dirty="0" err="1" smtClean="0"/>
              <a:t>width:450px</a:t>
            </a:r>
            <a:r>
              <a:rPr lang="en-SG" sz="1600" dirty="0" smtClean="0"/>
              <a:t>; </a:t>
            </a:r>
          </a:p>
          <a:p>
            <a:r>
              <a:rPr lang="en-SG" sz="1600" dirty="0" err="1" smtClean="0"/>
              <a:t>margin:0</a:t>
            </a:r>
            <a:r>
              <a:rPr lang="en-SG" sz="1600" dirty="0" smtClean="0"/>
              <a:t> auto; } </a:t>
            </a:r>
          </a:p>
          <a:p>
            <a:endParaRPr lang="en-SG" sz="1600" dirty="0" smtClean="0"/>
          </a:p>
          <a:p>
            <a:r>
              <a:rPr lang="en-SG" sz="1600" dirty="0" smtClean="0"/>
              <a:t>#</a:t>
            </a:r>
            <a:r>
              <a:rPr lang="en-SG" sz="1600" dirty="0" err="1" smtClean="0"/>
              <a:t>cf</a:t>
            </a:r>
            <a:r>
              <a:rPr lang="en-SG" sz="1600" dirty="0" smtClean="0"/>
              <a:t> </a:t>
            </a:r>
            <a:r>
              <a:rPr lang="en-SG" sz="1600" dirty="0" err="1" smtClean="0"/>
              <a:t>img</a:t>
            </a:r>
            <a:r>
              <a:rPr lang="en-SG" sz="1600" dirty="0" smtClean="0"/>
              <a:t> { </a:t>
            </a:r>
            <a:r>
              <a:rPr lang="en-SG" sz="1600" dirty="0" err="1" smtClean="0"/>
              <a:t>position:absolute</a:t>
            </a:r>
            <a:r>
              <a:rPr lang="en-SG" sz="1600" dirty="0" smtClean="0"/>
              <a:t>;</a:t>
            </a:r>
          </a:p>
          <a:p>
            <a:r>
              <a:rPr lang="en-SG" sz="1600" dirty="0" smtClean="0"/>
              <a:t> </a:t>
            </a:r>
            <a:r>
              <a:rPr lang="en-SG" sz="1600" dirty="0" err="1" smtClean="0"/>
              <a:t>left:0</a:t>
            </a:r>
            <a:r>
              <a:rPr lang="en-SG" sz="1600" dirty="0" smtClean="0"/>
              <a:t>; </a:t>
            </a:r>
          </a:p>
          <a:p>
            <a:r>
              <a:rPr lang="en-SG" sz="1600" dirty="0" smtClean="0"/>
              <a:t>-</a:t>
            </a:r>
            <a:r>
              <a:rPr lang="en-SG" sz="1600" dirty="0" err="1" smtClean="0"/>
              <a:t>webkit</a:t>
            </a:r>
            <a:r>
              <a:rPr lang="en-SG" sz="1600" dirty="0" smtClean="0"/>
              <a:t>-transition: opacity </a:t>
            </a:r>
            <a:r>
              <a:rPr lang="en-SG" sz="1600" dirty="0" err="1" smtClean="0"/>
              <a:t>1s</a:t>
            </a:r>
            <a:r>
              <a:rPr lang="en-SG" sz="1600" dirty="0" smtClean="0"/>
              <a:t> ease-in-out; </a:t>
            </a:r>
          </a:p>
          <a:p>
            <a:r>
              <a:rPr lang="en-SG" sz="1600" dirty="0" smtClean="0"/>
              <a:t>-</a:t>
            </a:r>
            <a:r>
              <a:rPr lang="en-SG" sz="1600" dirty="0" err="1" smtClean="0"/>
              <a:t>moz</a:t>
            </a:r>
            <a:r>
              <a:rPr lang="en-SG" sz="1600" dirty="0" smtClean="0"/>
              <a:t>-transition: opacity </a:t>
            </a:r>
            <a:r>
              <a:rPr lang="en-SG" sz="1600" dirty="0" err="1" smtClean="0"/>
              <a:t>1s</a:t>
            </a:r>
            <a:r>
              <a:rPr lang="en-SG" sz="1600" dirty="0" smtClean="0"/>
              <a:t> ease-in-out; </a:t>
            </a:r>
          </a:p>
          <a:p>
            <a:r>
              <a:rPr lang="en-SG" sz="1600" dirty="0" smtClean="0"/>
              <a:t>-o-transition: opacity </a:t>
            </a:r>
            <a:r>
              <a:rPr lang="en-SG" sz="1600" dirty="0" err="1" smtClean="0"/>
              <a:t>1s</a:t>
            </a:r>
            <a:r>
              <a:rPr lang="en-SG" sz="1600" dirty="0" smtClean="0"/>
              <a:t> ease-in-out; </a:t>
            </a:r>
          </a:p>
          <a:p>
            <a:r>
              <a:rPr lang="en-SG" sz="1600" dirty="0" smtClean="0"/>
              <a:t>transition: opacity </a:t>
            </a:r>
            <a:r>
              <a:rPr lang="en-SG" sz="1600" dirty="0" err="1" smtClean="0"/>
              <a:t>1s</a:t>
            </a:r>
            <a:r>
              <a:rPr lang="en-SG" sz="1600" dirty="0" smtClean="0"/>
              <a:t> ease-in-out; } </a:t>
            </a:r>
          </a:p>
          <a:p>
            <a:endParaRPr lang="en-SG" sz="1600" dirty="0" smtClean="0"/>
          </a:p>
          <a:p>
            <a:r>
              <a:rPr lang="en-SG" sz="1600" dirty="0" smtClean="0"/>
              <a:t>#</a:t>
            </a:r>
            <a:r>
              <a:rPr lang="en-SG" sz="1600" dirty="0" err="1" smtClean="0"/>
              <a:t>cf</a:t>
            </a:r>
            <a:r>
              <a:rPr lang="en-SG" sz="1600" dirty="0" smtClean="0"/>
              <a:t> </a:t>
            </a:r>
            <a:r>
              <a:rPr lang="en-SG" sz="1600" dirty="0" err="1" smtClean="0"/>
              <a:t>img.top:hover</a:t>
            </a:r>
            <a:r>
              <a:rPr lang="en-SG" sz="1600" dirty="0" smtClean="0"/>
              <a:t> { </a:t>
            </a:r>
            <a:r>
              <a:rPr lang="en-SG" sz="1600" dirty="0" err="1" smtClean="0"/>
              <a:t>opacity:0</a:t>
            </a:r>
            <a:r>
              <a:rPr lang="en-SG" sz="1600" dirty="0" smtClean="0"/>
              <a:t>; }</a:t>
            </a:r>
          </a:p>
        </p:txBody>
      </p:sp>
      <p:sp>
        <p:nvSpPr>
          <p:cNvPr id="10" name="Round Same Side Corner Rectangle 9"/>
          <p:cNvSpPr/>
          <p:nvPr/>
        </p:nvSpPr>
        <p:spPr>
          <a:xfrm>
            <a:off x="685800" y="4343400"/>
            <a:ext cx="3200400" cy="22860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dirty="0" smtClean="0"/>
              <a:t>&lt;div id="</a:t>
            </a:r>
            <a:r>
              <a:rPr lang="en-SG" dirty="0" err="1" smtClean="0"/>
              <a:t>cf</a:t>
            </a:r>
            <a:r>
              <a:rPr lang="en-SG" dirty="0" smtClean="0"/>
              <a:t>"&gt; </a:t>
            </a:r>
          </a:p>
          <a:p>
            <a:r>
              <a:rPr lang="en-SG" dirty="0" smtClean="0"/>
              <a:t>&lt;</a:t>
            </a:r>
            <a:r>
              <a:rPr lang="en-SG" dirty="0" err="1" smtClean="0"/>
              <a:t>img</a:t>
            </a:r>
            <a:r>
              <a:rPr lang="en-SG" dirty="0" smtClean="0"/>
              <a:t> class="bottom" </a:t>
            </a:r>
            <a:r>
              <a:rPr lang="en-SG" dirty="0" err="1" smtClean="0"/>
              <a:t>src</a:t>
            </a:r>
            <a:r>
              <a:rPr lang="en-SG" dirty="0" smtClean="0"/>
              <a:t>="/images/</a:t>
            </a:r>
            <a:r>
              <a:rPr lang="en-SG" dirty="0" err="1" smtClean="0"/>
              <a:t>Windows%20Logo.jpg</a:t>
            </a:r>
            <a:r>
              <a:rPr lang="en-SG" dirty="0" smtClean="0"/>
              <a:t>" /&gt; </a:t>
            </a:r>
          </a:p>
          <a:p>
            <a:r>
              <a:rPr lang="en-SG" dirty="0" smtClean="0"/>
              <a:t>&lt;</a:t>
            </a:r>
            <a:r>
              <a:rPr lang="en-SG" dirty="0" err="1" smtClean="0"/>
              <a:t>img</a:t>
            </a:r>
            <a:r>
              <a:rPr lang="en-SG" dirty="0" smtClean="0"/>
              <a:t> class="top" </a:t>
            </a:r>
            <a:r>
              <a:rPr lang="en-SG" dirty="0" err="1" smtClean="0"/>
              <a:t>src</a:t>
            </a:r>
            <a:r>
              <a:rPr lang="en-SG" dirty="0" smtClean="0"/>
              <a:t>="/images/</a:t>
            </a:r>
            <a:r>
              <a:rPr lang="en-SG" dirty="0" err="1" smtClean="0"/>
              <a:t>Turtle.jpg</a:t>
            </a:r>
            <a:r>
              <a:rPr lang="en-SG" dirty="0" smtClean="0"/>
              <a:t>" /&gt; &lt;/div&gt;</a:t>
            </a:r>
          </a:p>
        </p:txBody>
      </p:sp>
      <p:sp>
        <p:nvSpPr>
          <p:cNvPr id="14" name="TextBox 13"/>
          <p:cNvSpPr txBox="1"/>
          <p:nvPr/>
        </p:nvSpPr>
        <p:spPr>
          <a:xfrm>
            <a:off x="1219200" y="4267200"/>
            <a:ext cx="1589281" cy="369332"/>
          </a:xfrm>
          <a:prstGeom prst="rect">
            <a:avLst/>
          </a:prstGeom>
          <a:noFill/>
        </p:spPr>
        <p:txBody>
          <a:bodyPr wrap="none" rtlCol="0">
            <a:spAutoFit/>
          </a:bodyPr>
          <a:lstStyle/>
          <a:p>
            <a:r>
              <a:rPr lang="en-US" dirty="0" err="1" smtClean="0"/>
              <a:t>Crossfade.html</a:t>
            </a:r>
            <a:endParaRPr lang="en-SG" dirty="0"/>
          </a:p>
        </p:txBody>
      </p:sp>
      <p:sp>
        <p:nvSpPr>
          <p:cNvPr id="15" name="TextBox 14"/>
          <p:cNvSpPr txBox="1"/>
          <p:nvPr/>
        </p:nvSpPr>
        <p:spPr>
          <a:xfrm>
            <a:off x="6172200" y="2057400"/>
            <a:ext cx="974947" cy="369332"/>
          </a:xfrm>
          <a:prstGeom prst="rect">
            <a:avLst/>
          </a:prstGeom>
          <a:noFill/>
        </p:spPr>
        <p:txBody>
          <a:bodyPr wrap="none" rtlCol="0">
            <a:spAutoFit/>
          </a:bodyPr>
          <a:lstStyle/>
          <a:p>
            <a:r>
              <a:rPr lang="en-US" dirty="0" err="1" smtClean="0"/>
              <a:t>Style.css</a:t>
            </a:r>
            <a:endParaRPr lang="en-SG" dirty="0"/>
          </a:p>
        </p:txBody>
      </p:sp>
      <p:pic>
        <p:nvPicPr>
          <p:cNvPr id="3074" name="Picture 2"/>
          <p:cNvPicPr>
            <a:picLocks noChangeAspect="1" noChangeArrowheads="1"/>
          </p:cNvPicPr>
          <p:nvPr/>
        </p:nvPicPr>
        <p:blipFill>
          <a:blip r:embed="rId4" cstate="print"/>
          <a:srcRect/>
          <a:stretch>
            <a:fillRect/>
          </a:stretch>
        </p:blipFill>
        <p:spPr bwMode="auto">
          <a:xfrm>
            <a:off x="1828800" y="1828800"/>
            <a:ext cx="2209800" cy="1279571"/>
          </a:xfrm>
          <a:prstGeom prst="rect">
            <a:avLst/>
          </a:prstGeom>
          <a:noFill/>
          <a:ln w="9525">
            <a:noFill/>
            <a:miter lim="800000"/>
            <a:headEnd/>
            <a:tailEnd/>
          </a:ln>
        </p:spPr>
      </p:pic>
      <p:pic>
        <p:nvPicPr>
          <p:cNvPr id="3075" name="Picture 3"/>
          <p:cNvPicPr>
            <a:picLocks noChangeAspect="1" noChangeArrowheads="1"/>
          </p:cNvPicPr>
          <p:nvPr/>
        </p:nvPicPr>
        <p:blipFill>
          <a:blip r:embed="rId5" cstate="print"/>
          <a:srcRect/>
          <a:stretch>
            <a:fillRect/>
          </a:stretch>
        </p:blipFill>
        <p:spPr bwMode="auto">
          <a:xfrm>
            <a:off x="533400" y="2514600"/>
            <a:ext cx="2133600" cy="1356139"/>
          </a:xfrm>
          <a:prstGeom prst="rect">
            <a:avLst/>
          </a:prstGeom>
          <a:noFill/>
          <a:ln w="9525">
            <a:noFill/>
            <a:miter lim="800000"/>
            <a:headEnd/>
            <a:tailEnd/>
          </a:ln>
        </p:spPr>
      </p:pic>
      <p:pic>
        <p:nvPicPr>
          <p:cNvPr id="3076" name="Picture 4"/>
          <p:cNvPicPr>
            <a:picLocks noChangeAspect="1" noChangeArrowheads="1"/>
          </p:cNvPicPr>
          <p:nvPr/>
        </p:nvPicPr>
        <p:blipFill>
          <a:blip r:embed="rId6" cstate="print"/>
          <a:srcRect/>
          <a:stretch>
            <a:fillRect/>
          </a:stretch>
        </p:blipFill>
        <p:spPr bwMode="auto">
          <a:xfrm>
            <a:off x="2514600" y="3124200"/>
            <a:ext cx="1833365" cy="1157287"/>
          </a:xfrm>
          <a:prstGeom prst="rect">
            <a:avLst/>
          </a:prstGeom>
          <a:noFill/>
          <a:ln w="9525">
            <a:noFill/>
            <a:miter lim="800000"/>
            <a:headEnd/>
            <a:tailEnd/>
          </a:ln>
        </p:spPr>
      </p:pic>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 More awesome examples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35</a:t>
            </a:fld>
            <a:endParaRPr lang="en-US"/>
          </a:p>
        </p:txBody>
      </p:sp>
      <p:sp>
        <p:nvSpPr>
          <p:cNvPr id="6" name="Content Placeholder 2"/>
          <p:cNvSpPr>
            <a:spLocks noGrp="1"/>
          </p:cNvSpPr>
          <p:nvPr>
            <p:ph idx="1"/>
          </p:nvPr>
        </p:nvSpPr>
        <p:spPr>
          <a:xfrm>
            <a:off x="228600" y="838200"/>
            <a:ext cx="8229600" cy="1295400"/>
          </a:xfrm>
        </p:spPr>
        <p:txBody>
          <a:bodyPr>
            <a:noAutofit/>
          </a:bodyPr>
          <a:lstStyle/>
          <a:p>
            <a:pPr>
              <a:buNone/>
            </a:pPr>
            <a:endParaRPr lang="en-US" sz="2000" dirty="0" smtClean="0"/>
          </a:p>
          <a:p>
            <a:r>
              <a:rPr lang="en-SG" sz="2000" dirty="0" smtClean="0"/>
              <a:t>DEMOS at:  </a:t>
            </a:r>
            <a:r>
              <a:rPr lang="en-SG" sz="2000" dirty="0" err="1" smtClean="0">
                <a:hlinkClick r:id="rId3"/>
              </a:rPr>
              <a:t>http://css3.bradshawenterprises.com/cfimg/</a:t>
            </a:r>
            <a:endParaRPr lang="en-SG" sz="2000" b="1" dirty="0" smtClean="0"/>
          </a:p>
          <a:p>
            <a:r>
              <a:rPr lang="en-SG" sz="2000" b="1" dirty="0" smtClean="0"/>
              <a:t>Demo 2 - One image to another, when a button is pressed (transitions)</a:t>
            </a:r>
          </a:p>
          <a:p>
            <a:endParaRPr lang="en-US" sz="2000" b="1" dirty="0" smtClean="0"/>
          </a:p>
          <a:p>
            <a:endParaRPr lang="en-US" sz="2000" b="1" dirty="0" smtClean="0"/>
          </a:p>
          <a:p>
            <a:endParaRPr lang="en-US" sz="2000" b="1" dirty="0" smtClean="0"/>
          </a:p>
          <a:p>
            <a:endParaRPr lang="en-US" sz="2000" b="1" dirty="0" smtClean="0"/>
          </a:p>
          <a:p>
            <a:endParaRPr lang="en-US" sz="2000" b="1" dirty="0" smtClean="0"/>
          </a:p>
          <a:p>
            <a:endParaRPr lang="en-US" sz="2000" b="1" dirty="0" smtClean="0"/>
          </a:p>
          <a:p>
            <a:r>
              <a:rPr lang="en-SG" sz="2000" b="1" dirty="0" smtClean="0"/>
              <a:t>Demo 3 - One image to another with a timer (</a:t>
            </a:r>
            <a:r>
              <a:rPr lang="en-SG" sz="2000" b="1" dirty="0" err="1" smtClean="0"/>
              <a:t>CSS</a:t>
            </a:r>
            <a:r>
              <a:rPr lang="en-SG" sz="2000" b="1" dirty="0" smtClean="0"/>
              <a:t> animations)</a:t>
            </a:r>
          </a:p>
          <a:p>
            <a:r>
              <a:rPr lang="en-SG" sz="2000" b="1" dirty="0" smtClean="0"/>
              <a:t>Demo 4 - More than just fades</a:t>
            </a:r>
          </a:p>
          <a:p>
            <a:endParaRPr lang="en-SG" sz="2000" b="1" dirty="0" smtClean="0"/>
          </a:p>
          <a:p>
            <a:pPr>
              <a:buNone/>
            </a:pPr>
            <a:endParaRPr lang="en-US" sz="2000" dirty="0" smtClean="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1026" name="Picture 2"/>
          <p:cNvPicPr>
            <a:picLocks noChangeAspect="1" noChangeArrowheads="1"/>
          </p:cNvPicPr>
          <p:nvPr/>
        </p:nvPicPr>
        <p:blipFill>
          <a:blip r:embed="rId4" cstate="print"/>
          <a:srcRect/>
          <a:stretch>
            <a:fillRect/>
          </a:stretch>
        </p:blipFill>
        <p:spPr bwMode="auto">
          <a:xfrm>
            <a:off x="5181600" y="4876800"/>
            <a:ext cx="3470927" cy="1757362"/>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1295400" y="2133600"/>
            <a:ext cx="2971800" cy="1981200"/>
          </a:xfrm>
          <a:prstGeom prst="rect">
            <a:avLst/>
          </a:prstGeom>
          <a:noFill/>
          <a:ln w="9525">
            <a:noFill/>
            <a:miter lim="800000"/>
            <a:headEnd/>
            <a:tailEnd/>
          </a:ln>
        </p:spPr>
      </p:pic>
      <p:pic>
        <p:nvPicPr>
          <p:cNvPr id="1029" name="Picture 5"/>
          <p:cNvPicPr>
            <a:picLocks noChangeAspect="1" noChangeArrowheads="1"/>
          </p:cNvPicPr>
          <p:nvPr/>
        </p:nvPicPr>
        <p:blipFill>
          <a:blip r:embed="rId6" cstate="print"/>
          <a:srcRect/>
          <a:stretch>
            <a:fillRect/>
          </a:stretch>
        </p:blipFill>
        <p:spPr bwMode="auto">
          <a:xfrm>
            <a:off x="1371600" y="4800600"/>
            <a:ext cx="3046404" cy="1752600"/>
          </a:xfrm>
          <a:prstGeom prst="rect">
            <a:avLst/>
          </a:prstGeom>
          <a:noFill/>
          <a:ln w="9525">
            <a:noFill/>
            <a:miter lim="800000"/>
            <a:headEnd/>
            <a:tailEnd/>
          </a:ln>
        </p:spPr>
      </p:pic>
    </p:spTree>
    <p:extLst>
      <p:ext uri="{BB962C8B-B14F-4D97-AF65-F5344CB8AC3E}">
        <p14:creationId xmlns:p14="http://schemas.microsoft.com/office/powerpoint/2010/main" val="6603446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Animations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36</a:t>
            </a:fld>
            <a:endParaRPr lang="en-US"/>
          </a:p>
        </p:txBody>
      </p:sp>
      <p:sp>
        <p:nvSpPr>
          <p:cNvPr id="6" name="Content Placeholder 2"/>
          <p:cNvSpPr>
            <a:spLocks noGrp="1"/>
          </p:cNvSpPr>
          <p:nvPr>
            <p:ph idx="1"/>
          </p:nvPr>
        </p:nvSpPr>
        <p:spPr>
          <a:xfrm>
            <a:off x="381000" y="762000"/>
            <a:ext cx="7395380" cy="1295400"/>
          </a:xfrm>
        </p:spPr>
        <p:txBody>
          <a:bodyPr>
            <a:noAutofit/>
          </a:bodyPr>
          <a:lstStyle/>
          <a:p>
            <a:pPr>
              <a:buNone/>
            </a:pPr>
            <a:endParaRPr lang="en-US" sz="2400" dirty="0" smtClean="0"/>
          </a:p>
          <a:p>
            <a:r>
              <a:rPr lang="en-SG" sz="3200" dirty="0" err="1" smtClean="0"/>
              <a:t>CSS3</a:t>
            </a:r>
            <a:r>
              <a:rPr lang="en-SG" sz="3200" dirty="0" smtClean="0"/>
              <a:t> Animations with @</a:t>
            </a:r>
            <a:r>
              <a:rPr lang="en-SG" sz="3200" dirty="0" err="1" smtClean="0"/>
              <a:t>keyframes</a:t>
            </a:r>
            <a:endParaRPr lang="en-SG" sz="3200" dirty="0" smtClean="0"/>
          </a:p>
          <a:p>
            <a:r>
              <a:rPr lang="en-US" sz="1800" dirty="0"/>
              <a:t>With the @</a:t>
            </a:r>
            <a:r>
              <a:rPr lang="en-US" sz="1800" dirty="0" err="1"/>
              <a:t>keyframes</a:t>
            </a:r>
            <a:r>
              <a:rPr lang="en-US" sz="1800" dirty="0"/>
              <a:t> rule, you can create animations.</a:t>
            </a:r>
          </a:p>
          <a:p>
            <a:r>
              <a:rPr lang="en-US" sz="1800" dirty="0"/>
              <a:t>The animation is created by gradually changing from one set of CSS styles to another.</a:t>
            </a:r>
          </a:p>
          <a:p>
            <a:r>
              <a:rPr lang="en-US" sz="1800" dirty="0"/>
              <a:t>During the animation, you can change the set of CSS styles many times.</a:t>
            </a:r>
          </a:p>
          <a:p>
            <a:r>
              <a:rPr lang="en-US" sz="1800" dirty="0"/>
              <a:t>Specify when the change will happen in percent, or the keywords "from" and "to", which is the same as 0% and 100%.</a:t>
            </a:r>
          </a:p>
          <a:p>
            <a:r>
              <a:rPr lang="en-US" sz="1800" dirty="0"/>
              <a:t>0% is the beginning of the animation, 100% is when the animation is complete.</a:t>
            </a:r>
          </a:p>
          <a:p>
            <a:r>
              <a:rPr lang="en-US" sz="1800" dirty="0"/>
              <a:t>For best browser support, you should always define both the 0% and the 100% selectors.</a:t>
            </a:r>
          </a:p>
          <a:p>
            <a:r>
              <a:rPr lang="en-US" sz="1800" b="1" dirty="0"/>
              <a:t>Note:</a:t>
            </a:r>
            <a:r>
              <a:rPr lang="en-US" sz="1800" dirty="0"/>
              <a:t> Use the animation properties to control the appearance of the animation, and also to bind the animation to selectors.</a:t>
            </a:r>
          </a:p>
          <a:p>
            <a:r>
              <a:rPr lang="en-US" sz="1800" dirty="0"/>
              <a:t>&gt; } </a:t>
            </a:r>
            <a:endParaRPr lang="en-US" sz="2400" dirty="0" smtClean="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Animations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37</a:t>
            </a:fld>
            <a:endParaRPr lang="en-US"/>
          </a:p>
        </p:txBody>
      </p:sp>
      <p:sp>
        <p:nvSpPr>
          <p:cNvPr id="6" name="Content Placeholder 2"/>
          <p:cNvSpPr>
            <a:spLocks noGrp="1"/>
          </p:cNvSpPr>
          <p:nvPr>
            <p:ph idx="1"/>
          </p:nvPr>
        </p:nvSpPr>
        <p:spPr>
          <a:xfrm>
            <a:off x="381000" y="762000"/>
            <a:ext cx="7395380" cy="1295400"/>
          </a:xfrm>
        </p:spPr>
        <p:txBody>
          <a:bodyPr>
            <a:noAutofit/>
          </a:bodyPr>
          <a:lstStyle/>
          <a:p>
            <a:pPr>
              <a:buNone/>
            </a:pPr>
            <a:endParaRPr lang="en-US" sz="2400" dirty="0" smtClean="0"/>
          </a:p>
          <a:p>
            <a:r>
              <a:rPr lang="en-SG" sz="3200" dirty="0" err="1" smtClean="0"/>
              <a:t>CSS3</a:t>
            </a:r>
            <a:r>
              <a:rPr lang="en-SG" sz="3200" dirty="0" smtClean="0"/>
              <a:t> Animations with @</a:t>
            </a:r>
            <a:r>
              <a:rPr lang="en-SG" sz="3200" dirty="0" err="1" smtClean="0"/>
              <a:t>keyframe</a:t>
            </a:r>
            <a:endParaRPr lang="en-US" sz="2400" dirty="0" smtClean="0"/>
          </a:p>
          <a:p>
            <a:endParaRPr lang="en-US" sz="2400" dirty="0" smtClean="0"/>
          </a:p>
          <a:p>
            <a:r>
              <a:rPr lang="en-SG" sz="1800" dirty="0" smtClean="0"/>
              <a:t>When the animation is created in the @</a:t>
            </a:r>
            <a:r>
              <a:rPr lang="en-SG" sz="1800" dirty="0" err="1" smtClean="0"/>
              <a:t>keyframe</a:t>
            </a:r>
            <a:r>
              <a:rPr lang="en-SG" sz="1800" dirty="0" smtClean="0"/>
              <a:t>, bind it to a selector, otherwise the animation will have no effect.</a:t>
            </a:r>
          </a:p>
          <a:p>
            <a:r>
              <a:rPr lang="en-SG" sz="1800" dirty="0" smtClean="0"/>
              <a:t>Bind the animation to a selector by specifying at least these two </a:t>
            </a:r>
            <a:r>
              <a:rPr lang="en-SG" sz="1800" dirty="0" err="1" smtClean="0"/>
              <a:t>CSS3</a:t>
            </a:r>
            <a:r>
              <a:rPr lang="en-SG" sz="1800" dirty="0" smtClean="0"/>
              <a:t> animation properties:</a:t>
            </a:r>
          </a:p>
          <a:p>
            <a:r>
              <a:rPr lang="en-SG" sz="1800" dirty="0" smtClean="0"/>
              <a:t>Specify the name of the animation</a:t>
            </a:r>
          </a:p>
          <a:p>
            <a:r>
              <a:rPr lang="en-SG" sz="1800" dirty="0" smtClean="0"/>
              <a:t>Specify the duration of the animation</a:t>
            </a:r>
          </a:p>
          <a:p>
            <a:r>
              <a:rPr lang="en-SG" sz="1800" dirty="0"/>
              <a:t>You can change as many styles you want, as many times you want.</a:t>
            </a:r>
          </a:p>
          <a:p>
            <a:r>
              <a:rPr lang="en-SG" sz="1800" dirty="0"/>
              <a:t>0% is the beginning of the animation, 100% is when the animation is complete.</a:t>
            </a:r>
          </a:p>
          <a:p>
            <a:r>
              <a:rPr lang="en-SG" sz="1800" dirty="0"/>
              <a:t>For best browser support, you should always define both the 0% and the 100% selectors</a:t>
            </a:r>
            <a:r>
              <a:rPr lang="en-SG" sz="1800" dirty="0" smtClean="0"/>
              <a:t>.</a:t>
            </a:r>
            <a:endParaRPr lang="en-SG" sz="1800" dirty="0"/>
          </a:p>
          <a:p>
            <a:endParaRPr lang="en-SG" sz="1800" dirty="0" smtClean="0"/>
          </a:p>
          <a:p>
            <a:r>
              <a:rPr lang="en-SG" sz="1800" dirty="0" err="1"/>
              <a:t>DEMO:http</a:t>
            </a:r>
            <a:r>
              <a:rPr lang="en-SG" sz="1800" dirty="0"/>
              <a:t>://www.w3schools.com/cssref/tryit.asp?filename=trycss3_keyframes2</a:t>
            </a:r>
            <a:endParaRPr lang="en-US"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Animations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38</a:t>
            </a:fld>
            <a:endParaRPr lang="en-US"/>
          </a:p>
        </p:txBody>
      </p:sp>
      <p:sp>
        <p:nvSpPr>
          <p:cNvPr id="6" name="Content Placeholder 2"/>
          <p:cNvSpPr>
            <a:spLocks noGrp="1"/>
          </p:cNvSpPr>
          <p:nvPr>
            <p:ph idx="1"/>
          </p:nvPr>
        </p:nvSpPr>
        <p:spPr>
          <a:xfrm>
            <a:off x="215714" y="915987"/>
            <a:ext cx="4127686" cy="1295400"/>
          </a:xfrm>
        </p:spPr>
        <p:txBody>
          <a:bodyPr>
            <a:noAutofit/>
          </a:bodyPr>
          <a:lstStyle/>
          <a:p>
            <a:pPr>
              <a:buNone/>
            </a:pPr>
            <a:endParaRPr lang="en-US" sz="1600" dirty="0" smtClean="0"/>
          </a:p>
          <a:p>
            <a:r>
              <a:rPr lang="en-US" sz="2000" b="1" dirty="0" smtClean="0"/>
              <a:t>Multiple Changes:</a:t>
            </a:r>
          </a:p>
          <a:p>
            <a:r>
              <a:rPr lang="en-SG" sz="900" dirty="0"/>
              <a:t> </a:t>
            </a:r>
            <a:r>
              <a:rPr lang="en-SG" sz="1000" dirty="0"/>
              <a:t>http://www.w3schools.com/cssref/tryit.asp?filename=trycss3_keyframes3</a:t>
            </a:r>
            <a:endParaRPr lang="en-US" sz="1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4495800" y="152400"/>
            <a:ext cx="4648200" cy="6477000"/>
          </a:xfrm>
          <a:prstGeom prst="round2Same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smtClean="0"/>
              <a:t> </a:t>
            </a:r>
          </a:p>
        </p:txBody>
      </p:sp>
      <p:pic>
        <p:nvPicPr>
          <p:cNvPr id="3" name="Picture 2"/>
          <p:cNvPicPr>
            <a:picLocks noChangeAspect="1"/>
          </p:cNvPicPr>
          <p:nvPr/>
        </p:nvPicPr>
        <p:blipFill>
          <a:blip r:embed="rId3"/>
          <a:stretch>
            <a:fillRect/>
          </a:stretch>
        </p:blipFill>
        <p:spPr>
          <a:xfrm>
            <a:off x="679306" y="2274888"/>
            <a:ext cx="1790700" cy="1457325"/>
          </a:xfrm>
          <a:prstGeom prst="rect">
            <a:avLst/>
          </a:prstGeom>
        </p:spPr>
      </p:pic>
      <p:pic>
        <p:nvPicPr>
          <p:cNvPr id="7" name="Picture 6"/>
          <p:cNvPicPr>
            <a:picLocks noChangeAspect="1"/>
          </p:cNvPicPr>
          <p:nvPr/>
        </p:nvPicPr>
        <p:blipFill>
          <a:blip r:embed="rId4"/>
          <a:stretch>
            <a:fillRect/>
          </a:stretch>
        </p:blipFill>
        <p:spPr>
          <a:xfrm>
            <a:off x="679306" y="3795714"/>
            <a:ext cx="2209800" cy="1152525"/>
          </a:xfrm>
          <a:prstGeom prst="rect">
            <a:avLst/>
          </a:prstGeom>
        </p:spPr>
      </p:pic>
      <p:pic>
        <p:nvPicPr>
          <p:cNvPr id="9" name="Picture 8"/>
          <p:cNvPicPr>
            <a:picLocks noChangeAspect="1"/>
          </p:cNvPicPr>
          <p:nvPr/>
        </p:nvPicPr>
        <p:blipFill>
          <a:blip r:embed="rId5"/>
          <a:stretch>
            <a:fillRect/>
          </a:stretch>
        </p:blipFill>
        <p:spPr>
          <a:xfrm>
            <a:off x="679306" y="5011740"/>
            <a:ext cx="2943225" cy="1466850"/>
          </a:xfrm>
          <a:prstGeom prst="rect">
            <a:avLst/>
          </a:prstGeom>
        </p:spPr>
      </p:pic>
      <p:sp>
        <p:nvSpPr>
          <p:cNvPr id="10" name="Rectangle 9"/>
          <p:cNvSpPr/>
          <p:nvPr/>
        </p:nvSpPr>
        <p:spPr>
          <a:xfrm>
            <a:off x="4572000" y="504646"/>
            <a:ext cx="4572000" cy="6124754"/>
          </a:xfrm>
          <a:prstGeom prst="rect">
            <a:avLst/>
          </a:prstGeom>
        </p:spPr>
        <p:txBody>
          <a:bodyPr>
            <a:spAutoFit/>
          </a:bodyPr>
          <a:lstStyle/>
          <a:p>
            <a:r>
              <a:rPr lang="en-US" sz="1400" dirty="0"/>
              <a:t>&lt;!DOCTYPE html&gt;</a:t>
            </a:r>
          </a:p>
          <a:p>
            <a:r>
              <a:rPr lang="en-US" sz="1400" dirty="0"/>
              <a:t>&lt;html</a:t>
            </a:r>
            <a:r>
              <a:rPr lang="en-US" sz="1400" dirty="0" smtClean="0"/>
              <a:t>&gt;&lt;</a:t>
            </a:r>
            <a:r>
              <a:rPr lang="en-US" sz="1400" dirty="0"/>
              <a:t>head</a:t>
            </a:r>
            <a:r>
              <a:rPr lang="en-US" sz="1400" dirty="0" smtClean="0"/>
              <a:t>&gt;&lt;</a:t>
            </a:r>
            <a:r>
              <a:rPr lang="en-US" sz="1400" dirty="0"/>
              <a:t>style&gt; </a:t>
            </a:r>
          </a:p>
          <a:p>
            <a:r>
              <a:rPr lang="en-US" sz="1400" dirty="0"/>
              <a:t>div {</a:t>
            </a:r>
          </a:p>
          <a:p>
            <a:r>
              <a:rPr lang="en-US" sz="1400" dirty="0"/>
              <a:t>    width: 100px;</a:t>
            </a:r>
          </a:p>
          <a:p>
            <a:r>
              <a:rPr lang="en-US" sz="1400" dirty="0"/>
              <a:t>    height: 100px;</a:t>
            </a:r>
          </a:p>
          <a:p>
            <a:r>
              <a:rPr lang="en-US" sz="1400" dirty="0"/>
              <a:t>    background: red;</a:t>
            </a:r>
          </a:p>
          <a:p>
            <a:r>
              <a:rPr lang="en-US" sz="1400" dirty="0"/>
              <a:t>    position: relative;</a:t>
            </a:r>
          </a:p>
          <a:p>
            <a:r>
              <a:rPr lang="en-US" sz="1400" dirty="0"/>
              <a:t>    -</a:t>
            </a:r>
            <a:r>
              <a:rPr lang="en-US" sz="1400" dirty="0" err="1"/>
              <a:t>webkit</a:t>
            </a:r>
            <a:r>
              <a:rPr lang="en-US" sz="1400" dirty="0"/>
              <a:t>-animation: </a:t>
            </a:r>
            <a:r>
              <a:rPr lang="en-US" sz="1400" dirty="0" err="1"/>
              <a:t>mymove</a:t>
            </a:r>
            <a:r>
              <a:rPr lang="en-US" sz="1400" dirty="0"/>
              <a:t> 5s infinite; /* Chrome, Safari, Opera */ </a:t>
            </a:r>
          </a:p>
          <a:p>
            <a:r>
              <a:rPr lang="en-US" sz="1400" dirty="0"/>
              <a:t>    animation: </a:t>
            </a:r>
            <a:r>
              <a:rPr lang="en-US" sz="1400" dirty="0" err="1"/>
              <a:t>mymove</a:t>
            </a:r>
            <a:r>
              <a:rPr lang="en-US" sz="1400" dirty="0"/>
              <a:t> 5s infinite;</a:t>
            </a:r>
          </a:p>
          <a:p>
            <a:r>
              <a:rPr lang="en-US" sz="1400" dirty="0"/>
              <a:t>}</a:t>
            </a:r>
          </a:p>
          <a:p>
            <a:endParaRPr lang="en-US" sz="1400" dirty="0"/>
          </a:p>
          <a:p>
            <a:r>
              <a:rPr lang="en-US" sz="1400" dirty="0"/>
              <a:t>/* Chrome, Safari, Opera */ </a:t>
            </a:r>
          </a:p>
          <a:p>
            <a:r>
              <a:rPr lang="en-US" sz="1400" dirty="0"/>
              <a:t>@-</a:t>
            </a:r>
            <a:r>
              <a:rPr lang="en-US" sz="1400" dirty="0" err="1"/>
              <a:t>webkit-keyframes</a:t>
            </a:r>
            <a:r>
              <a:rPr lang="en-US" sz="1400" dirty="0"/>
              <a:t> </a:t>
            </a:r>
            <a:r>
              <a:rPr lang="en-US" sz="1400" dirty="0" err="1"/>
              <a:t>mymove</a:t>
            </a:r>
            <a:r>
              <a:rPr lang="en-US" sz="1400" dirty="0"/>
              <a:t> {</a:t>
            </a:r>
          </a:p>
          <a:p>
            <a:r>
              <a:rPr lang="en-US" sz="1400" dirty="0"/>
              <a:t>    0%   {top: 0px; background: red; width: 100px;}</a:t>
            </a:r>
          </a:p>
          <a:p>
            <a:r>
              <a:rPr lang="en-US" sz="1400" dirty="0"/>
              <a:t>    100% {top: 200px; background: yellow; width: 300px;}</a:t>
            </a:r>
          </a:p>
          <a:p>
            <a:r>
              <a:rPr lang="en-US" sz="1400" dirty="0"/>
              <a:t>}</a:t>
            </a:r>
          </a:p>
          <a:p>
            <a:r>
              <a:rPr lang="en-US" sz="1400" dirty="0" smtClean="0"/>
              <a:t>/* </a:t>
            </a:r>
            <a:r>
              <a:rPr lang="en-US" sz="1400" dirty="0"/>
              <a:t>Standard syntax */</a:t>
            </a:r>
          </a:p>
          <a:p>
            <a:r>
              <a:rPr lang="en-US" sz="1400" dirty="0"/>
              <a:t>@</a:t>
            </a:r>
            <a:r>
              <a:rPr lang="en-US" sz="1400" dirty="0" err="1"/>
              <a:t>keyframes</a:t>
            </a:r>
            <a:r>
              <a:rPr lang="en-US" sz="1400" dirty="0"/>
              <a:t> </a:t>
            </a:r>
            <a:r>
              <a:rPr lang="en-US" sz="1400" dirty="0" err="1"/>
              <a:t>mymove</a:t>
            </a:r>
            <a:r>
              <a:rPr lang="en-US" sz="1400" dirty="0"/>
              <a:t> {</a:t>
            </a:r>
          </a:p>
          <a:p>
            <a:r>
              <a:rPr lang="en-US" sz="1400" dirty="0"/>
              <a:t>    0%   {top: 0px; background: red; width: 100px;}</a:t>
            </a:r>
          </a:p>
          <a:p>
            <a:r>
              <a:rPr lang="en-US" sz="1400" dirty="0"/>
              <a:t>    100% {top: 200px; background: yellow; width: 300px;}</a:t>
            </a:r>
          </a:p>
          <a:p>
            <a:r>
              <a:rPr lang="en-US" sz="1400" dirty="0"/>
              <a:t>}</a:t>
            </a:r>
          </a:p>
          <a:p>
            <a:r>
              <a:rPr lang="en-US" sz="1400" dirty="0"/>
              <a:t>&lt;/style</a:t>
            </a:r>
            <a:r>
              <a:rPr lang="en-US" sz="1400" dirty="0" smtClean="0"/>
              <a:t>&gt;&lt;/</a:t>
            </a:r>
            <a:r>
              <a:rPr lang="en-US" sz="1400" dirty="0"/>
              <a:t>head&gt;</a:t>
            </a:r>
          </a:p>
          <a:p>
            <a:r>
              <a:rPr lang="en-US" sz="1400" dirty="0"/>
              <a:t>&lt;body&gt;</a:t>
            </a:r>
          </a:p>
          <a:p>
            <a:endParaRPr lang="en-US" sz="1400" dirty="0"/>
          </a:p>
          <a:p>
            <a:r>
              <a:rPr lang="en-US" sz="1400" dirty="0" smtClean="0"/>
              <a:t>&lt;</a:t>
            </a:r>
            <a:r>
              <a:rPr lang="en-US" sz="1400" dirty="0"/>
              <a:t>div&gt;&lt;/div&gt;</a:t>
            </a:r>
          </a:p>
          <a:p>
            <a:endParaRPr lang="en-US" sz="1400" dirty="0"/>
          </a:p>
          <a:p>
            <a:r>
              <a:rPr lang="en-US" sz="1400" dirty="0"/>
              <a:t>&lt;/body</a:t>
            </a:r>
            <a:r>
              <a:rPr lang="en-US" sz="1400" dirty="0" smtClean="0"/>
              <a:t>&gt;&lt;/</a:t>
            </a:r>
            <a:r>
              <a:rPr lang="en-US" sz="1400" dirty="0"/>
              <a:t>html&gt;</a:t>
            </a: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Animations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39</a:t>
            </a:fld>
            <a:endParaRPr lang="en-US"/>
          </a:p>
        </p:txBody>
      </p:sp>
      <p:sp>
        <p:nvSpPr>
          <p:cNvPr id="6" name="Content Placeholder 2"/>
          <p:cNvSpPr>
            <a:spLocks noGrp="1"/>
          </p:cNvSpPr>
          <p:nvPr>
            <p:ph idx="1"/>
          </p:nvPr>
        </p:nvSpPr>
        <p:spPr>
          <a:xfrm>
            <a:off x="381000" y="762000"/>
            <a:ext cx="7395380" cy="1295400"/>
          </a:xfrm>
        </p:spPr>
        <p:txBody>
          <a:bodyPr>
            <a:noAutofit/>
          </a:bodyPr>
          <a:lstStyle/>
          <a:p>
            <a:pPr>
              <a:buNone/>
            </a:pPr>
            <a:endParaRPr lang="en-US" sz="2400" dirty="0" smtClean="0"/>
          </a:p>
          <a:p>
            <a:endParaRPr lang="en-US" sz="2400" dirty="0" smtClean="0"/>
          </a:p>
          <a:p>
            <a:r>
              <a:rPr lang="en-SG" sz="1800" dirty="0"/>
              <a:t>MORE EXAMPLES:</a:t>
            </a:r>
          </a:p>
          <a:p>
            <a:r>
              <a:rPr lang="en-SG" sz="1800" dirty="0"/>
              <a:t>http://www.w3schools.com/cssref/css3_pr_animation-keyframes.asp</a:t>
            </a:r>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CSS3/HTML5 </a:t>
            </a:r>
            <a:r>
              <a:rPr lang="en-SG" sz="3600" b="0" dirty="0" smtClean="0"/>
              <a:t>Animations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40</a:t>
            </a:fld>
            <a:endParaRPr lang="en-US"/>
          </a:p>
        </p:txBody>
      </p:sp>
      <p:sp>
        <p:nvSpPr>
          <p:cNvPr id="6" name="Content Placeholder 2"/>
          <p:cNvSpPr>
            <a:spLocks noGrp="1"/>
          </p:cNvSpPr>
          <p:nvPr>
            <p:ph idx="1"/>
          </p:nvPr>
        </p:nvSpPr>
        <p:spPr>
          <a:xfrm>
            <a:off x="457200" y="914400"/>
            <a:ext cx="7395380" cy="1295400"/>
          </a:xfrm>
        </p:spPr>
        <p:txBody>
          <a:bodyPr>
            <a:noAutofit/>
          </a:bodyPr>
          <a:lstStyle/>
          <a:p>
            <a:pPr>
              <a:buNone/>
            </a:pPr>
            <a:endParaRPr lang="en-US" sz="1800" dirty="0" smtClean="0"/>
          </a:p>
          <a:p>
            <a:r>
              <a:rPr lang="en-US" sz="2400" dirty="0" smtClean="0"/>
              <a:t>New tools online offer fast and quick way to create –media rich internet content built on HTML5,CSS3,and scripts</a:t>
            </a:r>
          </a:p>
          <a:p>
            <a:r>
              <a:rPr lang="en-US" sz="2400" dirty="0"/>
              <a:t>Adobe Spark: </a:t>
            </a:r>
            <a:r>
              <a:rPr lang="en-US" sz="2400" dirty="0">
                <a:hlinkClick r:id="rId3"/>
              </a:rPr>
              <a:t>https://</a:t>
            </a:r>
            <a:r>
              <a:rPr lang="en-US" sz="2400" dirty="0" smtClean="0">
                <a:hlinkClick r:id="rId3"/>
              </a:rPr>
              <a:t>www.adobe.com/products/spark.html#spark-marquee-cta-video</a:t>
            </a:r>
            <a:endParaRPr lang="en-US" sz="2400" dirty="0" smtClean="0"/>
          </a:p>
          <a:p>
            <a:r>
              <a:rPr lang="en-US" sz="2400" dirty="0" smtClean="0"/>
              <a:t>Sencha</a:t>
            </a:r>
            <a:endParaRPr lang="en-US" sz="2400" dirty="0" smtClean="0"/>
          </a:p>
          <a:p>
            <a:pPr>
              <a:buNone/>
            </a:pPr>
            <a:r>
              <a:rPr lang="en-US" sz="2400" dirty="0" smtClean="0"/>
              <a:t>       </a:t>
            </a:r>
            <a:r>
              <a:rPr lang="en-US" sz="2400" dirty="0" err="1" smtClean="0">
                <a:hlinkClick r:id="rId4"/>
              </a:rPr>
              <a:t>http://www.sencha.com/products/animator/</a:t>
            </a:r>
            <a:endParaRPr lang="en-US" sz="2400" dirty="0" smtClean="0"/>
          </a:p>
          <a:p>
            <a:r>
              <a:rPr lang="en-US" sz="2400" dirty="0" smtClean="0"/>
              <a:t>Hype </a:t>
            </a:r>
            <a:r>
              <a:rPr lang="en-US" sz="2400" dirty="0">
                <a:hlinkClick r:id="rId5"/>
              </a:rPr>
              <a:t>http://tumult.com/hype</a:t>
            </a:r>
            <a:r>
              <a:rPr lang="en-US" sz="2400" dirty="0" smtClean="0">
                <a:hlinkClick r:id="rId5"/>
              </a:rPr>
              <a:t>/</a:t>
            </a:r>
            <a:endParaRPr lang="en-US" sz="2400" dirty="0" smtClean="0"/>
          </a:p>
          <a:p>
            <a:pPr marL="0" indent="0">
              <a:buNone/>
            </a:pPr>
            <a:endParaRPr lang="en-US" sz="2400" dirty="0" smtClean="0"/>
          </a:p>
          <a:p>
            <a:endParaRPr lang="en-US" sz="2400" dirty="0" smtClean="0"/>
          </a:p>
          <a:p>
            <a:endParaRPr lang="en-US" sz="2400" dirty="0" smtClean="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1027" name="Picture 3"/>
          <p:cNvPicPr>
            <a:picLocks noChangeAspect="1" noChangeArrowheads="1"/>
          </p:cNvPicPr>
          <p:nvPr/>
        </p:nvPicPr>
        <p:blipFill>
          <a:blip r:embed="rId6" cstate="print"/>
          <a:srcRect/>
          <a:stretch>
            <a:fillRect/>
          </a:stretch>
        </p:blipFill>
        <p:spPr bwMode="auto">
          <a:xfrm>
            <a:off x="5315510" y="4580798"/>
            <a:ext cx="3237380" cy="2057400"/>
          </a:xfrm>
          <a:prstGeom prst="rect">
            <a:avLst/>
          </a:prstGeom>
          <a:noFill/>
          <a:ln w="9525">
            <a:noFill/>
            <a:miter lim="800000"/>
            <a:headEnd/>
            <a:tailEnd/>
          </a:ln>
        </p:spPr>
      </p:pic>
      <p:pic>
        <p:nvPicPr>
          <p:cNvPr id="1028" name="Picture 4"/>
          <p:cNvPicPr>
            <a:picLocks noChangeAspect="1" noChangeArrowheads="1"/>
          </p:cNvPicPr>
          <p:nvPr/>
        </p:nvPicPr>
        <p:blipFill>
          <a:blip r:embed="rId7" cstate="print"/>
          <a:srcRect/>
          <a:stretch>
            <a:fillRect/>
          </a:stretch>
        </p:blipFill>
        <p:spPr bwMode="auto">
          <a:xfrm>
            <a:off x="4909934" y="4741135"/>
            <a:ext cx="3113240" cy="1736725"/>
          </a:xfrm>
          <a:prstGeom prst="rect">
            <a:avLst/>
          </a:prstGeom>
          <a:noFill/>
          <a:ln w="9525">
            <a:noFill/>
            <a:miter lim="800000"/>
            <a:headEnd/>
            <a:tailEnd/>
          </a:ln>
        </p:spPr>
      </p:pic>
      <p:sp>
        <p:nvSpPr>
          <p:cNvPr id="12" name="TextBox 11"/>
          <p:cNvSpPr txBox="1"/>
          <p:nvPr/>
        </p:nvSpPr>
        <p:spPr>
          <a:xfrm>
            <a:off x="6934200" y="2667000"/>
            <a:ext cx="857927" cy="369332"/>
          </a:xfrm>
          <a:prstGeom prst="rect">
            <a:avLst/>
          </a:prstGeom>
          <a:noFill/>
        </p:spPr>
        <p:txBody>
          <a:bodyPr wrap="none" rtlCol="0">
            <a:spAutoFit/>
          </a:bodyPr>
          <a:lstStyle/>
          <a:p>
            <a:r>
              <a:rPr lang="en-US" dirty="0" err="1" smtClean="0"/>
              <a:t>Sencha</a:t>
            </a:r>
            <a:endParaRPr lang="en-SG" dirty="0"/>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Multiple Columns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41</a:t>
            </a:fld>
            <a:endParaRPr lang="en-US"/>
          </a:p>
        </p:txBody>
      </p:sp>
      <p:sp>
        <p:nvSpPr>
          <p:cNvPr id="6" name="Content Placeholder 2"/>
          <p:cNvSpPr>
            <a:spLocks noGrp="1"/>
          </p:cNvSpPr>
          <p:nvPr>
            <p:ph idx="1"/>
          </p:nvPr>
        </p:nvSpPr>
        <p:spPr>
          <a:xfrm>
            <a:off x="533400" y="1371600"/>
            <a:ext cx="7395380" cy="1295400"/>
          </a:xfrm>
        </p:spPr>
        <p:txBody>
          <a:bodyPr>
            <a:noAutofit/>
          </a:bodyPr>
          <a:lstStyle/>
          <a:p>
            <a:r>
              <a:rPr lang="en-SG" sz="1800" dirty="0" smtClean="0"/>
              <a:t>With </a:t>
            </a:r>
            <a:r>
              <a:rPr lang="en-SG" sz="1800" dirty="0" err="1" smtClean="0"/>
              <a:t>CSS3</a:t>
            </a:r>
            <a:r>
              <a:rPr lang="en-SG" sz="1800" dirty="0" smtClean="0"/>
              <a:t>, you can create multiple columns for laying out text - like in newspapers!</a:t>
            </a:r>
          </a:p>
          <a:p>
            <a:r>
              <a:rPr lang="en-SG" sz="2400" dirty="0" smtClean="0"/>
              <a:t>Some multiple column properties:</a:t>
            </a:r>
          </a:p>
          <a:p>
            <a:pPr lvl="1"/>
            <a:r>
              <a:rPr lang="en-SG" sz="2000" dirty="0" smtClean="0"/>
              <a:t>column-count</a:t>
            </a:r>
          </a:p>
          <a:p>
            <a:pPr lvl="1"/>
            <a:r>
              <a:rPr lang="en-SG" sz="2000" dirty="0" smtClean="0"/>
              <a:t>column-gap</a:t>
            </a:r>
          </a:p>
          <a:p>
            <a:pPr lvl="1"/>
            <a:r>
              <a:rPr lang="en-SG" sz="2000" dirty="0" smtClean="0"/>
              <a:t>column-rule</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SG" sz="1800" dirty="0" smtClean="0">
                <a:hlinkClick r:id="rId3"/>
              </a:rPr>
              <a:t>http://www.w3schools.com/css3/tryit.asp?filename=trycss3_animation4</a:t>
            </a:r>
            <a:endParaRPr lang="en-US" sz="1800" dirty="0" smtClean="0"/>
          </a:p>
          <a:p>
            <a:r>
              <a:rPr lang="en-SG" sz="1400" dirty="0" smtClean="0"/>
              <a:t> </a:t>
            </a:r>
            <a:endParaRPr lang="en-SG" sz="1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5-Point Star 8"/>
          <p:cNvSpPr/>
          <p:nvPr/>
        </p:nvSpPr>
        <p:spPr>
          <a:xfrm rot="1367558">
            <a:off x="7707184" y="5986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810000"/>
            <a:ext cx="624840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Create Multiple Columns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42</a:t>
            </a:fld>
            <a:endParaRPr lang="en-US"/>
          </a:p>
        </p:txBody>
      </p:sp>
      <p:sp>
        <p:nvSpPr>
          <p:cNvPr id="6" name="Content Placeholder 2"/>
          <p:cNvSpPr>
            <a:spLocks noGrp="1"/>
          </p:cNvSpPr>
          <p:nvPr>
            <p:ph idx="1"/>
          </p:nvPr>
        </p:nvSpPr>
        <p:spPr>
          <a:xfrm>
            <a:off x="381000" y="804146"/>
            <a:ext cx="8534400" cy="1295400"/>
          </a:xfrm>
        </p:spPr>
        <p:txBody>
          <a:bodyPr>
            <a:noAutofit/>
          </a:bodyPr>
          <a:lstStyle/>
          <a:p>
            <a:pPr>
              <a:buNone/>
            </a:pPr>
            <a:endParaRPr lang="en-US" sz="2400" dirty="0" smtClean="0"/>
          </a:p>
          <a:p>
            <a:r>
              <a:rPr lang="en-US" sz="3200" dirty="0" smtClean="0"/>
              <a:t>CSS 3 Creating multiple columns in a division</a:t>
            </a:r>
          </a:p>
          <a:p>
            <a:r>
              <a:rPr lang="en-SG" sz="1600" dirty="0" smtClean="0"/>
              <a:t>Example: </a:t>
            </a:r>
            <a:r>
              <a:rPr lang="en-SG" sz="1600" dirty="0">
                <a:hlinkClick r:id="rId3"/>
              </a:rPr>
              <a:t>http://</a:t>
            </a:r>
            <a:r>
              <a:rPr lang="en-SG" sz="1600" dirty="0" smtClean="0">
                <a:hlinkClick r:id="rId3"/>
              </a:rPr>
              <a:t>www.w3schools.com/cssref/css3_pr_columns.asp</a:t>
            </a:r>
            <a:endParaRPr lang="en-SG" sz="1600" dirty="0" smtClean="0"/>
          </a:p>
          <a:p>
            <a:r>
              <a:rPr lang="en-US" sz="1800" dirty="0"/>
              <a:t>The columns property is a shorthand property for setting column-width and column-count.</a:t>
            </a:r>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734389" y="4694237"/>
            <a:ext cx="7467600" cy="1981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div {</a:t>
            </a:r>
            <a:br>
              <a:rPr lang="en-US" dirty="0"/>
            </a:br>
            <a:r>
              <a:rPr lang="en-US" dirty="0"/>
              <a:t>    -</a:t>
            </a:r>
            <a:r>
              <a:rPr lang="en-US" dirty="0" err="1"/>
              <a:t>webkit</a:t>
            </a:r>
            <a:r>
              <a:rPr lang="en-US" dirty="0"/>
              <a:t>-columns: 100px 3; /* Chrome, Safari, Opera */</a:t>
            </a:r>
            <a:br>
              <a:rPr lang="en-US" dirty="0"/>
            </a:br>
            <a:r>
              <a:rPr lang="en-US" dirty="0"/>
              <a:t>    -</a:t>
            </a:r>
            <a:r>
              <a:rPr lang="en-US" dirty="0" err="1"/>
              <a:t>moz</a:t>
            </a:r>
            <a:r>
              <a:rPr lang="en-US" dirty="0"/>
              <a:t>-columns: 100px 3; /* Firefox */</a:t>
            </a:r>
            <a:br>
              <a:rPr lang="en-US" dirty="0"/>
            </a:br>
            <a:r>
              <a:rPr lang="en-US" dirty="0"/>
              <a:t>    columns: 100px 3;</a:t>
            </a:r>
            <a:br>
              <a:rPr lang="en-US" dirty="0"/>
            </a:br>
            <a:r>
              <a:rPr lang="en-US" dirty="0"/>
              <a:t>}</a:t>
            </a:r>
          </a:p>
        </p:txBody>
      </p:sp>
      <p:pic>
        <p:nvPicPr>
          <p:cNvPr id="95234" name="Picture 2"/>
          <p:cNvPicPr>
            <a:picLocks noChangeAspect="1" noChangeArrowheads="1"/>
          </p:cNvPicPr>
          <p:nvPr/>
        </p:nvPicPr>
        <p:blipFill>
          <a:blip r:embed="rId4" cstate="print"/>
          <a:srcRect/>
          <a:stretch>
            <a:fillRect/>
          </a:stretch>
        </p:blipFill>
        <p:spPr bwMode="auto">
          <a:xfrm>
            <a:off x="924889" y="2668304"/>
            <a:ext cx="7086600" cy="1513126"/>
          </a:xfrm>
          <a:prstGeom prst="rect">
            <a:avLst/>
          </a:prstGeom>
          <a:noFill/>
          <a:ln w="9525">
            <a:noFill/>
            <a:miter lim="800000"/>
            <a:headEnd/>
            <a:tailEnd/>
          </a:ln>
        </p:spPr>
      </p:pic>
      <p:sp>
        <p:nvSpPr>
          <p:cNvPr id="9" name="5-Point Star 8"/>
          <p:cNvSpPr/>
          <p:nvPr/>
        </p:nvSpPr>
        <p:spPr>
          <a:xfrm rot="1367558">
            <a:off x="7707184" y="5986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p:cNvSpPr/>
          <p:nvPr/>
        </p:nvSpPr>
        <p:spPr>
          <a:xfrm>
            <a:off x="609600" y="4047906"/>
            <a:ext cx="4572000" cy="646331"/>
          </a:xfrm>
          <a:prstGeom prst="rect">
            <a:avLst/>
          </a:prstGeom>
        </p:spPr>
        <p:txBody>
          <a:bodyPr>
            <a:spAutoFit/>
          </a:bodyPr>
          <a:lstStyle/>
          <a:p>
            <a:r>
              <a:rPr lang="en-US" dirty="0" smtClean="0">
                <a:solidFill>
                  <a:srgbClr val="000000"/>
                </a:solidFill>
                <a:latin typeface="verdana" panose="020B0604030504040204" pitchFamily="34" charset="0"/>
              </a:rPr>
              <a:t>Example: Specify </a:t>
            </a:r>
            <a:r>
              <a:rPr lang="en-US" dirty="0">
                <a:solidFill>
                  <a:srgbClr val="000000"/>
                </a:solidFill>
                <a:latin typeface="verdana" panose="020B0604030504040204" pitchFamily="34" charset="0"/>
              </a:rPr>
              <a:t>the width and number of columns:</a:t>
            </a:r>
            <a:endParaRPr lang="en-US" dirty="0"/>
          </a:p>
        </p:txBody>
      </p:sp>
    </p:spTree>
    <p:extLst>
      <p:ext uri="{BB962C8B-B14F-4D97-AF65-F5344CB8AC3E}">
        <p14:creationId xmlns:p14="http://schemas.microsoft.com/office/powerpoint/2010/main" val="6603446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a:t>
            </a:r>
            <a:r>
              <a:rPr lang="en-US" sz="3600" b="0" dirty="0"/>
              <a:t> </a:t>
            </a:r>
            <a:r>
              <a:rPr lang="en-US" sz="3600" b="0" dirty="0">
                <a:solidFill>
                  <a:srgbClr val="FF0000"/>
                </a:solidFill>
              </a:rPr>
              <a:t>column-count </a:t>
            </a:r>
            <a:r>
              <a:rPr lang="en-US" sz="3600" b="0" dirty="0"/>
              <a:t>Property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43</a:t>
            </a:fld>
            <a:endParaRPr lang="en-US"/>
          </a:p>
        </p:txBody>
      </p:sp>
      <p:sp>
        <p:nvSpPr>
          <p:cNvPr id="6" name="Content Placeholder 2"/>
          <p:cNvSpPr>
            <a:spLocks noGrp="1"/>
          </p:cNvSpPr>
          <p:nvPr>
            <p:ph idx="1"/>
          </p:nvPr>
        </p:nvSpPr>
        <p:spPr>
          <a:xfrm>
            <a:off x="0" y="838200"/>
            <a:ext cx="8534400" cy="1295400"/>
          </a:xfrm>
        </p:spPr>
        <p:txBody>
          <a:bodyPr>
            <a:noAutofit/>
          </a:bodyPr>
          <a:lstStyle/>
          <a:p>
            <a:pPr>
              <a:buNone/>
            </a:pPr>
            <a:endParaRPr lang="en-US" sz="2400" dirty="0" smtClean="0"/>
          </a:p>
          <a:p>
            <a:r>
              <a:rPr lang="en-US" sz="3200" dirty="0"/>
              <a:t>CSS3 </a:t>
            </a:r>
            <a:r>
              <a:rPr lang="en-US" sz="3200" dirty="0">
                <a:solidFill>
                  <a:srgbClr val="FF0000"/>
                </a:solidFill>
              </a:rPr>
              <a:t>column-count</a:t>
            </a:r>
            <a:r>
              <a:rPr lang="en-US" sz="3200" dirty="0"/>
              <a:t> Property</a:t>
            </a:r>
          </a:p>
          <a:p>
            <a:r>
              <a:rPr lang="en-SG" sz="1600" dirty="0" smtClean="0"/>
              <a:t>Example: </a:t>
            </a:r>
            <a:r>
              <a:rPr lang="en-SG" sz="1600" dirty="0">
                <a:hlinkClick r:id="rId3"/>
              </a:rPr>
              <a:t>http://</a:t>
            </a:r>
            <a:r>
              <a:rPr lang="en-SG" sz="1600" dirty="0" smtClean="0">
                <a:hlinkClick r:id="rId3"/>
              </a:rPr>
              <a:t>www.w3schools.com/cssref/css3_pr_column-count.asp</a:t>
            </a:r>
            <a:endParaRPr lang="en-SG" sz="1600" dirty="0" smtClean="0"/>
          </a:p>
          <a:p>
            <a:r>
              <a:rPr lang="en-SG" sz="1800" dirty="0" smtClean="0"/>
              <a:t>Divide the text in a div element into three columns:</a:t>
            </a:r>
            <a:endParaRPr lang="en-US" sz="18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33400" y="4267200"/>
            <a:ext cx="7467600" cy="19812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div {</a:t>
            </a:r>
            <a:br>
              <a:rPr lang="en-US" dirty="0"/>
            </a:br>
            <a:r>
              <a:rPr lang="en-US" dirty="0"/>
              <a:t>    -</a:t>
            </a:r>
            <a:r>
              <a:rPr lang="en-US" dirty="0" err="1"/>
              <a:t>webkit</a:t>
            </a:r>
            <a:r>
              <a:rPr lang="en-US" dirty="0"/>
              <a:t>-column-count: 3; /* Chrome, Safari, Opera */</a:t>
            </a:r>
            <a:br>
              <a:rPr lang="en-US" dirty="0"/>
            </a:br>
            <a:r>
              <a:rPr lang="en-US" dirty="0"/>
              <a:t>    -</a:t>
            </a:r>
            <a:r>
              <a:rPr lang="en-US" dirty="0" err="1"/>
              <a:t>moz</a:t>
            </a:r>
            <a:r>
              <a:rPr lang="en-US" dirty="0"/>
              <a:t>-column-count: 3; /* Firefox */</a:t>
            </a:r>
            <a:br>
              <a:rPr lang="en-US" dirty="0"/>
            </a:br>
            <a:r>
              <a:rPr lang="en-US" dirty="0"/>
              <a:t>    column-count: 3;</a:t>
            </a:r>
            <a:br>
              <a:rPr lang="en-US" dirty="0"/>
            </a:br>
            <a:r>
              <a:rPr lang="en-US" dirty="0"/>
              <a:t>}</a:t>
            </a:r>
          </a:p>
        </p:txBody>
      </p:sp>
      <p:pic>
        <p:nvPicPr>
          <p:cNvPr id="2050" name="Picture 2"/>
          <p:cNvPicPr>
            <a:picLocks noChangeAspect="1" noChangeArrowheads="1"/>
          </p:cNvPicPr>
          <p:nvPr/>
        </p:nvPicPr>
        <p:blipFill>
          <a:blip r:embed="rId4" cstate="print"/>
          <a:srcRect/>
          <a:stretch>
            <a:fillRect/>
          </a:stretch>
        </p:blipFill>
        <p:spPr bwMode="auto">
          <a:xfrm>
            <a:off x="457200" y="2438400"/>
            <a:ext cx="4400550" cy="1695450"/>
          </a:xfrm>
          <a:prstGeom prst="rect">
            <a:avLst/>
          </a:prstGeom>
          <a:noFill/>
          <a:ln w="9525">
            <a:noFill/>
            <a:miter lim="800000"/>
            <a:headEnd/>
            <a:tailEnd/>
          </a:ln>
        </p:spPr>
      </p:pic>
      <p:sp>
        <p:nvSpPr>
          <p:cNvPr id="9" name="5-Point Star 8"/>
          <p:cNvSpPr/>
          <p:nvPr/>
        </p:nvSpPr>
        <p:spPr>
          <a:xfrm rot="1367558">
            <a:off x="7707184" y="5986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6603446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CSS3</a:t>
            </a:r>
            <a:r>
              <a:rPr lang="en-US" sz="3600" b="0" dirty="0"/>
              <a:t> </a:t>
            </a:r>
            <a:r>
              <a:rPr lang="en-US" sz="3600" b="0" dirty="0" smtClean="0">
                <a:solidFill>
                  <a:srgbClr val="FF0000"/>
                </a:solidFill>
              </a:rPr>
              <a:t>column-gap</a:t>
            </a:r>
            <a:r>
              <a:rPr lang="en-US" sz="3600" b="0" dirty="0">
                <a:solidFill>
                  <a:srgbClr val="FF0000"/>
                </a:solidFill>
              </a:rPr>
              <a:t> </a:t>
            </a:r>
            <a:r>
              <a:rPr lang="en-US" sz="3600" b="0" dirty="0"/>
              <a:t>Property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44</a:t>
            </a:fld>
            <a:endParaRPr lang="en-US"/>
          </a:p>
        </p:txBody>
      </p:sp>
      <p:sp>
        <p:nvSpPr>
          <p:cNvPr id="6" name="Content Placeholder 2"/>
          <p:cNvSpPr>
            <a:spLocks noGrp="1"/>
          </p:cNvSpPr>
          <p:nvPr>
            <p:ph idx="1"/>
          </p:nvPr>
        </p:nvSpPr>
        <p:spPr>
          <a:xfrm>
            <a:off x="0" y="838200"/>
            <a:ext cx="8534400" cy="1295400"/>
          </a:xfrm>
        </p:spPr>
        <p:txBody>
          <a:bodyPr>
            <a:noAutofit/>
          </a:bodyPr>
          <a:lstStyle/>
          <a:p>
            <a:pPr>
              <a:buNone/>
            </a:pPr>
            <a:endParaRPr lang="en-US" sz="2400" dirty="0" smtClean="0"/>
          </a:p>
          <a:p>
            <a:r>
              <a:rPr lang="en-US" sz="3200" dirty="0"/>
              <a:t>CSS3 </a:t>
            </a:r>
            <a:r>
              <a:rPr lang="en-US" sz="3200" dirty="0" smtClean="0">
                <a:solidFill>
                  <a:srgbClr val="FF0000"/>
                </a:solidFill>
              </a:rPr>
              <a:t>column-gap</a:t>
            </a:r>
            <a:r>
              <a:rPr lang="en-US" sz="3200" dirty="0"/>
              <a:t> Property</a:t>
            </a:r>
          </a:p>
          <a:p>
            <a:r>
              <a:rPr lang="en-SG" sz="1600" dirty="0" smtClean="0"/>
              <a:t>Example: </a:t>
            </a:r>
            <a:r>
              <a:rPr lang="en-SG" sz="1600" dirty="0">
                <a:hlinkClick r:id="rId3"/>
              </a:rPr>
              <a:t>http://</a:t>
            </a:r>
            <a:r>
              <a:rPr lang="en-SG" sz="1600" dirty="0" smtClean="0">
                <a:hlinkClick r:id="rId3"/>
              </a:rPr>
              <a:t>www.w3schools.com/cssref/css3_pr_column-gap.asp</a:t>
            </a:r>
            <a:endParaRPr lang="en-SG" sz="1600" dirty="0" smtClean="0"/>
          </a:p>
          <a:p>
            <a:r>
              <a:rPr lang="en-US" sz="1800" dirty="0"/>
              <a:t>The column-gap property specifies the gap between the columns.</a:t>
            </a:r>
          </a:p>
          <a:p>
            <a:r>
              <a:rPr lang="en-US" sz="1600" b="1" dirty="0"/>
              <a:t>Note:</a:t>
            </a:r>
            <a:r>
              <a:rPr lang="en-US" sz="1600" dirty="0"/>
              <a:t> If there is a column-rule between columns, it will appear in the middle of the gap.</a:t>
            </a:r>
          </a:p>
          <a:p>
            <a:pPr marL="400050" lvl="1" indent="0">
              <a:buNone/>
            </a:pPr>
            <a:r>
              <a:rPr lang="en-US" sz="1400" dirty="0" smtClean="0"/>
              <a:t>Example:</a:t>
            </a:r>
          </a:p>
          <a:p>
            <a:pPr marL="400050" lvl="1" indent="0">
              <a:buNone/>
            </a:pPr>
            <a:r>
              <a:rPr lang="en-US" sz="1400" dirty="0" smtClean="0"/>
              <a:t>Specify </a:t>
            </a:r>
            <a:r>
              <a:rPr lang="en-US" sz="1400" dirty="0"/>
              <a:t>a 40 pixels gap between the columns:</a:t>
            </a:r>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33400" y="4525529"/>
            <a:ext cx="7118754" cy="2067039"/>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div {</a:t>
            </a:r>
            <a:br>
              <a:rPr lang="en-US" dirty="0"/>
            </a:br>
            <a:r>
              <a:rPr lang="en-US" dirty="0"/>
              <a:t>    -</a:t>
            </a:r>
            <a:r>
              <a:rPr lang="en-US" dirty="0" err="1"/>
              <a:t>webkit</a:t>
            </a:r>
            <a:r>
              <a:rPr lang="en-US" dirty="0"/>
              <a:t>-column-gap: 40px; /* Chrome, Safari, Opera */</a:t>
            </a:r>
            <a:br>
              <a:rPr lang="en-US" dirty="0"/>
            </a:br>
            <a:r>
              <a:rPr lang="en-US" dirty="0"/>
              <a:t>    -</a:t>
            </a:r>
            <a:r>
              <a:rPr lang="en-US" dirty="0" err="1"/>
              <a:t>moz</a:t>
            </a:r>
            <a:r>
              <a:rPr lang="en-US" dirty="0"/>
              <a:t>-column-gap: 40px; /* Firefox */</a:t>
            </a:r>
            <a:br>
              <a:rPr lang="en-US" dirty="0"/>
            </a:br>
            <a:r>
              <a:rPr lang="en-US" dirty="0"/>
              <a:t>    column-gap: 40px;</a:t>
            </a:r>
            <a:br>
              <a:rPr lang="en-US" dirty="0"/>
            </a:br>
            <a:r>
              <a:rPr lang="en-US" dirty="0"/>
              <a:t>}</a:t>
            </a:r>
          </a:p>
        </p:txBody>
      </p:sp>
      <p:pic>
        <p:nvPicPr>
          <p:cNvPr id="2050" name="Picture 2"/>
          <p:cNvPicPr>
            <a:picLocks noChangeAspect="1" noChangeArrowheads="1"/>
          </p:cNvPicPr>
          <p:nvPr/>
        </p:nvPicPr>
        <p:blipFill>
          <a:blip r:embed="rId4" cstate="print"/>
          <a:srcRect/>
          <a:stretch>
            <a:fillRect/>
          </a:stretch>
        </p:blipFill>
        <p:spPr bwMode="auto">
          <a:xfrm>
            <a:off x="557152" y="3350957"/>
            <a:ext cx="2921062" cy="1125430"/>
          </a:xfrm>
          <a:prstGeom prst="rect">
            <a:avLst/>
          </a:prstGeom>
          <a:noFill/>
          <a:ln w="9525">
            <a:noFill/>
            <a:miter lim="800000"/>
            <a:headEnd/>
            <a:tailEnd/>
          </a:ln>
        </p:spPr>
      </p:pic>
      <p:sp>
        <p:nvSpPr>
          <p:cNvPr id="9" name="5-Point Star 8"/>
          <p:cNvSpPr/>
          <p:nvPr/>
        </p:nvSpPr>
        <p:spPr>
          <a:xfrm rot="1367558">
            <a:off x="7707184" y="5986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6718796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CSS3 </a:t>
            </a:r>
            <a:r>
              <a:rPr lang="en-US" dirty="0" smtClean="0">
                <a:solidFill>
                  <a:srgbClr val="FF0000"/>
                </a:solidFill>
              </a:rPr>
              <a:t>column-rule</a:t>
            </a:r>
            <a:r>
              <a:rPr lang="en-US" dirty="0"/>
              <a:t> Property</a:t>
            </a:r>
          </a:p>
        </p:txBody>
      </p:sp>
      <p:sp>
        <p:nvSpPr>
          <p:cNvPr id="3" name="Content Placeholder 2"/>
          <p:cNvSpPr>
            <a:spLocks noGrp="1"/>
          </p:cNvSpPr>
          <p:nvPr>
            <p:ph idx="1"/>
          </p:nvPr>
        </p:nvSpPr>
        <p:spPr>
          <a:xfrm>
            <a:off x="874310" y="1191491"/>
            <a:ext cx="7395380" cy="2057400"/>
          </a:xfrm>
        </p:spPr>
        <p:txBody>
          <a:bodyPr>
            <a:normAutofit/>
          </a:bodyPr>
          <a:lstStyle/>
          <a:p>
            <a:r>
              <a:rPr lang="en-US" sz="3200" dirty="0" smtClean="0"/>
              <a:t>CSS3 </a:t>
            </a:r>
            <a:r>
              <a:rPr lang="en-US" sz="3200" dirty="0" smtClean="0">
                <a:solidFill>
                  <a:srgbClr val="FF0000"/>
                </a:solidFill>
              </a:rPr>
              <a:t>column-rule</a:t>
            </a:r>
            <a:r>
              <a:rPr lang="en-US" sz="3200" dirty="0" smtClean="0"/>
              <a:t> Property</a:t>
            </a:r>
          </a:p>
          <a:p>
            <a:r>
              <a:rPr lang="en-US" sz="1600" dirty="0" err="1"/>
              <a:t>Example:http</a:t>
            </a:r>
            <a:r>
              <a:rPr lang="en-US" sz="1600" dirty="0"/>
              <a:t>://</a:t>
            </a:r>
            <a:r>
              <a:rPr lang="en-US" sz="1600" dirty="0" smtClean="0"/>
              <a:t>www.w3schools.com/cssref/css3_pr_column-rule.asp</a:t>
            </a:r>
          </a:p>
          <a:p>
            <a:r>
              <a:rPr lang="en-US" sz="1600" dirty="0"/>
              <a:t>The column-rule property is a shorthand property for setting all the column-rule-* properties.</a:t>
            </a:r>
          </a:p>
          <a:p>
            <a:r>
              <a:rPr lang="en-US" sz="1600" dirty="0"/>
              <a:t>The column-rule property sets the width, style, and color of the rule between columns.</a:t>
            </a:r>
          </a:p>
          <a:p>
            <a:endParaRPr lang="en-US" sz="1800"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45</a:t>
            </a:fld>
            <a:endParaRPr lang="en-US"/>
          </a:p>
        </p:txBody>
      </p:sp>
      <p:pic>
        <p:nvPicPr>
          <p:cNvPr id="6" name="Picture 5"/>
          <p:cNvPicPr>
            <a:picLocks noChangeAspect="1"/>
          </p:cNvPicPr>
          <p:nvPr/>
        </p:nvPicPr>
        <p:blipFill>
          <a:blip r:embed="rId2"/>
          <a:stretch>
            <a:fillRect/>
          </a:stretch>
        </p:blipFill>
        <p:spPr>
          <a:xfrm>
            <a:off x="1219200" y="3395840"/>
            <a:ext cx="5029200" cy="1254423"/>
          </a:xfrm>
          <a:prstGeom prst="rect">
            <a:avLst/>
          </a:prstGeom>
        </p:spPr>
      </p:pic>
      <p:sp>
        <p:nvSpPr>
          <p:cNvPr id="7" name="Round Same Side Corner Rectangle 6"/>
          <p:cNvSpPr/>
          <p:nvPr/>
        </p:nvSpPr>
        <p:spPr>
          <a:xfrm>
            <a:off x="838200" y="4953000"/>
            <a:ext cx="7467600" cy="1702506"/>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div {</a:t>
            </a:r>
            <a:br>
              <a:rPr lang="en-US" sz="1400" dirty="0"/>
            </a:br>
            <a:r>
              <a:rPr lang="en-US" sz="1400" dirty="0"/>
              <a:t>    -</a:t>
            </a:r>
            <a:r>
              <a:rPr lang="en-US" sz="1400" dirty="0" err="1"/>
              <a:t>webkit</a:t>
            </a:r>
            <a:r>
              <a:rPr lang="en-US" sz="1400" dirty="0"/>
              <a:t>-column-rule: 4px outset #ff00ff; /* Chrome, Safari, Opera */</a:t>
            </a:r>
            <a:br>
              <a:rPr lang="en-US" sz="1400" dirty="0"/>
            </a:br>
            <a:r>
              <a:rPr lang="en-US" sz="1400" dirty="0"/>
              <a:t>    -</a:t>
            </a:r>
            <a:r>
              <a:rPr lang="en-US" sz="1400" dirty="0" err="1"/>
              <a:t>moz</a:t>
            </a:r>
            <a:r>
              <a:rPr lang="en-US" sz="1400" dirty="0"/>
              <a:t>-column-rule: 4px outset #ff00ff; /* Firefox */</a:t>
            </a:r>
            <a:br>
              <a:rPr lang="en-US" sz="1400" dirty="0"/>
            </a:br>
            <a:r>
              <a:rPr lang="en-US" sz="1400" dirty="0"/>
              <a:t>    column-rule: 4px outset #ff00ff;</a:t>
            </a:r>
            <a:br>
              <a:rPr lang="en-US" sz="1400" dirty="0"/>
            </a:br>
            <a:r>
              <a:rPr lang="en-US" sz="1400" dirty="0"/>
              <a:t>}</a:t>
            </a:r>
          </a:p>
        </p:txBody>
      </p:sp>
      <p:sp>
        <p:nvSpPr>
          <p:cNvPr id="8" name="5-Point Star 7"/>
          <p:cNvSpPr/>
          <p:nvPr/>
        </p:nvSpPr>
        <p:spPr>
          <a:xfrm rot="1367558">
            <a:off x="7707184" y="598617"/>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915801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2800" b="0" dirty="0" smtClean="0"/>
              <a:t>REFERENCE: Other CSS3 Multiple Column Properties</a:t>
            </a:r>
            <a:endParaRPr lang="en-SG" sz="28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46</a:t>
            </a:fld>
            <a:endParaRPr lang="en-US"/>
          </a:p>
        </p:txBody>
      </p:sp>
      <p:sp>
        <p:nvSpPr>
          <p:cNvPr id="6" name="Content Placeholder 2"/>
          <p:cNvSpPr>
            <a:spLocks noGrp="1"/>
          </p:cNvSpPr>
          <p:nvPr>
            <p:ph idx="1"/>
          </p:nvPr>
        </p:nvSpPr>
        <p:spPr>
          <a:xfrm>
            <a:off x="457200" y="914400"/>
            <a:ext cx="7467600" cy="762000"/>
          </a:xfrm>
        </p:spPr>
        <p:txBody>
          <a:bodyPr>
            <a:noAutofit/>
          </a:bodyPr>
          <a:lstStyle/>
          <a:p>
            <a:pPr>
              <a:buNone/>
            </a:pPr>
            <a:endParaRPr lang="en-US" sz="1800" dirty="0" smtClean="0"/>
          </a:p>
          <a:p>
            <a:r>
              <a:rPr lang="en-SG" sz="2400" dirty="0" smtClean="0"/>
              <a:t>New Multiple Columns Properties</a:t>
            </a:r>
            <a:endParaRPr lang="en-SG" sz="24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423980620"/>
              </p:ext>
            </p:extLst>
          </p:nvPr>
        </p:nvGraphicFramePr>
        <p:xfrm>
          <a:off x="534390" y="1858962"/>
          <a:ext cx="8153400" cy="4272416"/>
        </p:xfrm>
        <a:graphic>
          <a:graphicData uri="http://schemas.openxmlformats.org/drawingml/2006/table">
            <a:tbl>
              <a:tblPr/>
              <a:tblGrid>
                <a:gridCol w="2282952"/>
                <a:gridCol w="5462779"/>
                <a:gridCol w="407669"/>
              </a:tblGrid>
              <a:tr h="387919">
                <a:tc>
                  <a:txBody>
                    <a:bodyPr/>
                    <a:lstStyle/>
                    <a:p>
                      <a:pPr algn="l" fontAlgn="t"/>
                      <a:r>
                        <a:rPr lang="en-SG" sz="1400" dirty="0">
                          <a:latin typeface="verdana"/>
                        </a:rPr>
                        <a:t>Property</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400" dirty="0">
                          <a:latin typeface="verdana"/>
                        </a:rPr>
                        <a:t>Description</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400" dirty="0" err="1">
                          <a:latin typeface="verdana"/>
                        </a:rPr>
                        <a:t>CSS</a:t>
                      </a:r>
                      <a:endParaRPr lang="en-SG" sz="1400" dirty="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r>
              <a:tr h="471479">
                <a:tc>
                  <a:txBody>
                    <a:bodyPr/>
                    <a:lstStyle/>
                    <a:p>
                      <a:pPr fontAlgn="t"/>
                      <a:r>
                        <a:rPr lang="en-SG" sz="1400" dirty="0">
                          <a:solidFill>
                            <a:srgbClr val="900B09"/>
                          </a:solidFill>
                          <a:latin typeface="verdana"/>
                          <a:hlinkClick r:id="rId3"/>
                        </a:rPr>
                        <a:t>column-count</a:t>
                      </a:r>
                      <a:endParaRPr lang="en-SG" sz="1400" dirty="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number of columns an element should be divided into</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54245">
                <a:tc>
                  <a:txBody>
                    <a:bodyPr/>
                    <a:lstStyle/>
                    <a:p>
                      <a:pPr fontAlgn="t"/>
                      <a:r>
                        <a:rPr lang="en-SG" sz="1400">
                          <a:solidFill>
                            <a:srgbClr val="900B09"/>
                          </a:solidFill>
                          <a:latin typeface="verdana"/>
                          <a:hlinkClick r:id="rId4"/>
                        </a:rPr>
                        <a:t>column-fill</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how to fill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92314">
                <a:tc>
                  <a:txBody>
                    <a:bodyPr/>
                    <a:lstStyle/>
                    <a:p>
                      <a:pPr fontAlgn="t"/>
                      <a:r>
                        <a:rPr lang="en-SG" sz="1400">
                          <a:solidFill>
                            <a:srgbClr val="900B09"/>
                          </a:solidFill>
                          <a:latin typeface="verdana"/>
                          <a:hlinkClick r:id="rId5"/>
                        </a:rPr>
                        <a:t>column-gap</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gap between the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1479">
                <a:tc>
                  <a:txBody>
                    <a:bodyPr/>
                    <a:lstStyle/>
                    <a:p>
                      <a:pPr fontAlgn="t"/>
                      <a:r>
                        <a:rPr lang="en-SG" sz="1400">
                          <a:solidFill>
                            <a:srgbClr val="900B09"/>
                          </a:solidFill>
                          <a:latin typeface="verdana"/>
                          <a:hlinkClick r:id="rId6"/>
                        </a:rPr>
                        <a:t>column-rule</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A shorthand property for setting all the column-rule-* properties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92314">
                <a:tc>
                  <a:txBody>
                    <a:bodyPr/>
                    <a:lstStyle/>
                    <a:p>
                      <a:pPr fontAlgn="t"/>
                      <a:r>
                        <a:rPr lang="en-SG" sz="1400">
                          <a:solidFill>
                            <a:srgbClr val="900B09"/>
                          </a:solidFill>
                          <a:latin typeface="verdana"/>
                          <a:hlinkClick r:id="rId7"/>
                        </a:rPr>
                        <a:t>column-rule-color</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color of the rule between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92314">
                <a:tc>
                  <a:txBody>
                    <a:bodyPr/>
                    <a:lstStyle/>
                    <a:p>
                      <a:pPr fontAlgn="t"/>
                      <a:r>
                        <a:rPr lang="en-SG" sz="1400">
                          <a:solidFill>
                            <a:srgbClr val="900B09"/>
                          </a:solidFill>
                          <a:latin typeface="verdana"/>
                          <a:hlinkClick r:id="rId8"/>
                        </a:rPr>
                        <a:t>column-rule-style</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style of the rule between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92314">
                <a:tc>
                  <a:txBody>
                    <a:bodyPr/>
                    <a:lstStyle/>
                    <a:p>
                      <a:pPr fontAlgn="t"/>
                      <a:r>
                        <a:rPr lang="en-SG" sz="1400">
                          <a:solidFill>
                            <a:srgbClr val="900B09"/>
                          </a:solidFill>
                          <a:latin typeface="verdana"/>
                          <a:hlinkClick r:id="rId9"/>
                        </a:rPr>
                        <a:t>column-rule-width</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width of the rule between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92314">
                <a:tc>
                  <a:txBody>
                    <a:bodyPr/>
                    <a:lstStyle/>
                    <a:p>
                      <a:pPr fontAlgn="t"/>
                      <a:r>
                        <a:rPr lang="en-SG" sz="1400">
                          <a:solidFill>
                            <a:srgbClr val="900B09"/>
                          </a:solidFill>
                          <a:latin typeface="verdana"/>
                          <a:hlinkClick r:id="rId10"/>
                        </a:rPr>
                        <a:t>column-span</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how many columns an element should span across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54245">
                <a:tc>
                  <a:txBody>
                    <a:bodyPr/>
                    <a:lstStyle/>
                    <a:p>
                      <a:pPr fontAlgn="t"/>
                      <a:r>
                        <a:rPr lang="en-SG" sz="1400">
                          <a:solidFill>
                            <a:srgbClr val="900B09"/>
                          </a:solidFill>
                          <a:latin typeface="verdana"/>
                          <a:hlinkClick r:id="rId11"/>
                        </a:rPr>
                        <a:t>column-width</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width of the columns</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1479">
                <a:tc>
                  <a:txBody>
                    <a:bodyPr/>
                    <a:lstStyle/>
                    <a:p>
                      <a:pPr fontAlgn="t"/>
                      <a:r>
                        <a:rPr lang="en-SG" sz="1400">
                          <a:solidFill>
                            <a:srgbClr val="900B09"/>
                          </a:solidFill>
                          <a:latin typeface="verdana"/>
                          <a:hlinkClick r:id="rId12"/>
                        </a:rPr>
                        <a:t>columns</a:t>
                      </a:r>
                      <a:endParaRPr lang="en-SG" sz="1400">
                        <a:latin typeface="verdana"/>
                      </a:endParaRP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A shorthand property for setting column-width and column-count</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dirty="0">
                          <a:latin typeface="verdana"/>
                        </a:rPr>
                        <a:t>3</a:t>
                      </a:r>
                    </a:p>
                  </a:txBody>
                  <a:tcPr marL="18175" marR="18175" marT="18175" marB="181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9830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Slides:</a:t>
            </a:r>
            <a:endParaRPr lang="en-US" dirty="0"/>
          </a:p>
        </p:txBody>
      </p:sp>
      <p:sp>
        <p:nvSpPr>
          <p:cNvPr id="3" name="Content Placeholder 2"/>
          <p:cNvSpPr>
            <a:spLocks noGrp="1"/>
          </p:cNvSpPr>
          <p:nvPr>
            <p:ph idx="1"/>
          </p:nvPr>
        </p:nvSpPr>
        <p:spPr/>
        <p:txBody>
          <a:bodyPr/>
          <a:lstStyle/>
          <a:p>
            <a:r>
              <a:rPr lang="en-US" dirty="0" smtClean="0"/>
              <a:t>These slides are for general knowledge. </a:t>
            </a:r>
          </a:p>
          <a:p>
            <a:r>
              <a:rPr lang="en-US" dirty="0" smtClean="0"/>
              <a:t>Your tutor may not go through all unless time permits.</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47</a:t>
            </a:fld>
            <a:endParaRPr lang="en-US"/>
          </a:p>
        </p:txBody>
      </p:sp>
    </p:spTree>
    <p:extLst>
      <p:ext uri="{BB962C8B-B14F-4D97-AF65-F5344CB8AC3E}">
        <p14:creationId xmlns:p14="http://schemas.microsoft.com/office/powerpoint/2010/main" val="37580317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User Interface</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48</a:t>
            </a:fld>
            <a:endParaRPr lang="en-US"/>
          </a:p>
        </p:txBody>
      </p:sp>
      <p:sp>
        <p:nvSpPr>
          <p:cNvPr id="6" name="Content Placeholder 2"/>
          <p:cNvSpPr>
            <a:spLocks noGrp="1"/>
          </p:cNvSpPr>
          <p:nvPr>
            <p:ph idx="1"/>
          </p:nvPr>
        </p:nvSpPr>
        <p:spPr>
          <a:xfrm>
            <a:off x="457200" y="914400"/>
            <a:ext cx="8686800" cy="1295400"/>
          </a:xfrm>
        </p:spPr>
        <p:txBody>
          <a:bodyPr>
            <a:noAutofit/>
          </a:bodyPr>
          <a:lstStyle/>
          <a:p>
            <a:pPr>
              <a:buNone/>
            </a:pPr>
            <a:endParaRPr lang="en-US" sz="1800" dirty="0" smtClean="0"/>
          </a:p>
          <a:p>
            <a:r>
              <a:rPr lang="en-SG" sz="2400" dirty="0" smtClean="0"/>
              <a:t>New User-interface Properties</a:t>
            </a:r>
            <a:r>
              <a:rPr lang="en-SG" sz="2000" dirty="0" smtClean="0"/>
              <a:t> (supported by some browsers)</a:t>
            </a:r>
            <a:endParaRPr lang="en-SG" sz="20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830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11" name="Table 10"/>
          <p:cNvGraphicFramePr>
            <a:graphicFrameLocks noGrp="1"/>
          </p:cNvGraphicFramePr>
          <p:nvPr/>
        </p:nvGraphicFramePr>
        <p:xfrm>
          <a:off x="533400" y="1752600"/>
          <a:ext cx="8305800" cy="4725676"/>
        </p:xfrm>
        <a:graphic>
          <a:graphicData uri="http://schemas.openxmlformats.org/drawingml/2006/table">
            <a:tbl>
              <a:tblPr/>
              <a:tblGrid>
                <a:gridCol w="1677132"/>
                <a:gridCol w="5714268"/>
                <a:gridCol w="914400"/>
              </a:tblGrid>
              <a:tr h="476534">
                <a:tc>
                  <a:txBody>
                    <a:bodyPr/>
                    <a:lstStyle/>
                    <a:p>
                      <a:pPr algn="l" fontAlgn="t"/>
                      <a:r>
                        <a:rPr lang="en-SG" sz="1400" dirty="0">
                          <a:latin typeface="verdana"/>
                        </a:rPr>
                        <a:t>Property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400" dirty="0">
                          <a:latin typeface="verdana"/>
                        </a:rPr>
                        <a:t>Description</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400" dirty="0" err="1">
                          <a:latin typeface="verdana"/>
                        </a:rPr>
                        <a:t>CSS</a:t>
                      </a:r>
                      <a:endParaRPr lang="en-SG" sz="1400" dirty="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r>
              <a:tr h="476534">
                <a:tc>
                  <a:txBody>
                    <a:bodyPr/>
                    <a:lstStyle/>
                    <a:p>
                      <a:pPr fontAlgn="t"/>
                      <a:r>
                        <a:rPr lang="en-SG" sz="1400">
                          <a:solidFill>
                            <a:srgbClr val="900B09"/>
                          </a:solidFill>
                          <a:latin typeface="verdana"/>
                          <a:hlinkClick r:id="rId3"/>
                        </a:rPr>
                        <a:t>appearance</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Allows you to make an element look like a standard user interface element</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4"/>
                        </a:rPr>
                        <a:t>box-sizing</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Allows you to define certain elements to fit an area in a certain way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5"/>
                        </a:rPr>
                        <a:t>icon</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dirty="0">
                          <a:latin typeface="verdana"/>
                        </a:rPr>
                        <a:t>Provides the author the ability to style an element with an iconic equivalent</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6"/>
                        </a:rPr>
                        <a:t>nav-down</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where to navigate when using the arrow-down navigation key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27754">
                <a:tc>
                  <a:txBody>
                    <a:bodyPr/>
                    <a:lstStyle/>
                    <a:p>
                      <a:pPr fontAlgn="t"/>
                      <a:r>
                        <a:rPr lang="en-SG" sz="1400">
                          <a:solidFill>
                            <a:srgbClr val="900B09"/>
                          </a:solidFill>
                          <a:latin typeface="verdana"/>
                          <a:hlinkClick r:id="rId7"/>
                        </a:rPr>
                        <a:t>nav-index</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the tabbing order for an element</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8"/>
                        </a:rPr>
                        <a:t>nav-left</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where to navigate when using the arrow-left navigation key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9"/>
                        </a:rPr>
                        <a:t>nav-right</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where to navigate when using the arrow-right navigation key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6534">
                <a:tc>
                  <a:txBody>
                    <a:bodyPr/>
                    <a:lstStyle/>
                    <a:p>
                      <a:pPr fontAlgn="t"/>
                      <a:r>
                        <a:rPr lang="en-SG" sz="1400">
                          <a:solidFill>
                            <a:srgbClr val="900B09"/>
                          </a:solidFill>
                          <a:latin typeface="verdana"/>
                          <a:hlinkClick r:id="rId10"/>
                        </a:rPr>
                        <a:t>nav-up</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Specifies where to navigate when using the arrow-up navigation key</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327754">
                <a:tc>
                  <a:txBody>
                    <a:bodyPr/>
                    <a:lstStyle/>
                    <a:p>
                      <a:pPr fontAlgn="t"/>
                      <a:r>
                        <a:rPr lang="en-SG" sz="1400">
                          <a:solidFill>
                            <a:srgbClr val="900B09"/>
                          </a:solidFill>
                          <a:latin typeface="verdana"/>
                          <a:hlinkClick r:id="rId11"/>
                        </a:rPr>
                        <a:t>outline-offset</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Offsets an outline, and draws it beyond the border edge</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a:latin typeface="verdana"/>
                        </a:rPr>
                        <a:t>3</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97089">
                <a:tc>
                  <a:txBody>
                    <a:bodyPr/>
                    <a:lstStyle/>
                    <a:p>
                      <a:pPr fontAlgn="t"/>
                      <a:r>
                        <a:rPr lang="en-SG" sz="1400">
                          <a:solidFill>
                            <a:srgbClr val="900B09"/>
                          </a:solidFill>
                          <a:latin typeface="verdana"/>
                          <a:hlinkClick r:id="rId12"/>
                        </a:rPr>
                        <a:t>resize</a:t>
                      </a:r>
                      <a:endParaRPr lang="en-SG" sz="1400">
                        <a:latin typeface="verdana"/>
                      </a:endParaRP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400" dirty="0">
                          <a:latin typeface="verdana"/>
                        </a:rPr>
                        <a:t>Specifies whether or n</a:t>
                      </a:r>
                    </a:p>
                  </a:txBody>
                  <a:tcPr marL="13918" marR="13918" marT="13918" marB="13918">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endParaRPr lang="en-SG" sz="1400" dirty="0"/>
                    </a:p>
                  </a:txBody>
                  <a:tcPr marL="44537" marR="44537" marT="22268" marB="22268">
                    <a:lnL w="9525" cap="flat" cmpd="sng" algn="ctr">
                      <a:solidFill>
                        <a:srgbClr val="C3C3C3"/>
                      </a:solidFill>
                      <a:prstDash val="solid"/>
                      <a:round/>
                      <a:headEnd type="none" w="med" len="med"/>
                      <a:tailEnd type="none" w="med" len="med"/>
                    </a:lnL>
                    <a:lnT w="9525" cap="flat" cmpd="sng" algn="ctr">
                      <a:solidFill>
                        <a:srgbClr val="C3C3C3"/>
                      </a:solidFill>
                      <a:prstDash val="solid"/>
                      <a:round/>
                      <a:headEnd type="none" w="med" len="med"/>
                      <a:tailEnd type="none" w="med" len="med"/>
                    </a:lnT>
                  </a:tcPr>
                </a:tc>
              </a:tr>
            </a:tbl>
          </a:graphicData>
        </a:graphic>
      </p:graphicFrame>
      <p:sp>
        <p:nvSpPr>
          <p:cNvPr id="1044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Selectors</a:t>
            </a:r>
            <a:endParaRPr lang="en-SG" sz="36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49</a:t>
            </a:fld>
            <a:endParaRPr lang="en-US"/>
          </a:p>
        </p:txBody>
      </p:sp>
      <p:sp>
        <p:nvSpPr>
          <p:cNvPr id="6" name="Content Placeholder 2"/>
          <p:cNvSpPr>
            <a:spLocks noGrp="1"/>
          </p:cNvSpPr>
          <p:nvPr>
            <p:ph idx="1"/>
          </p:nvPr>
        </p:nvSpPr>
        <p:spPr>
          <a:xfrm>
            <a:off x="457200" y="914400"/>
            <a:ext cx="8686800" cy="1295400"/>
          </a:xfrm>
        </p:spPr>
        <p:txBody>
          <a:bodyPr>
            <a:noAutofit/>
          </a:bodyPr>
          <a:lstStyle/>
          <a:p>
            <a:pPr>
              <a:buNone/>
            </a:pPr>
            <a:endParaRPr lang="en-US" sz="1800" dirty="0" smtClean="0"/>
          </a:p>
          <a:p>
            <a:r>
              <a:rPr lang="en-SG" sz="2400" dirty="0" smtClean="0"/>
              <a:t>In </a:t>
            </a:r>
            <a:r>
              <a:rPr lang="en-SG" sz="2400" dirty="0" err="1" smtClean="0"/>
              <a:t>CSS</a:t>
            </a:r>
            <a:r>
              <a:rPr lang="en-SG" sz="2400" dirty="0" smtClean="0"/>
              <a:t>, selectors are patterns used to select the element(s) you want to style.</a:t>
            </a:r>
            <a:endParaRPr lang="en-SG" sz="20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2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830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4449"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graphicFrame>
        <p:nvGraphicFramePr>
          <p:cNvPr id="12" name="Table 11"/>
          <p:cNvGraphicFramePr>
            <a:graphicFrameLocks noGrp="1"/>
          </p:cNvGraphicFramePr>
          <p:nvPr/>
        </p:nvGraphicFramePr>
        <p:xfrm>
          <a:off x="685800" y="2133600"/>
          <a:ext cx="8077199" cy="4228731"/>
        </p:xfrm>
        <a:graphic>
          <a:graphicData uri="http://schemas.openxmlformats.org/drawingml/2006/table">
            <a:tbl>
              <a:tblPr/>
              <a:tblGrid>
                <a:gridCol w="1776986"/>
                <a:gridCol w="1373125"/>
                <a:gridCol w="4523228"/>
                <a:gridCol w="403860"/>
              </a:tblGrid>
              <a:tr h="233046">
                <a:tc>
                  <a:txBody>
                    <a:bodyPr/>
                    <a:lstStyle/>
                    <a:p>
                      <a:pPr algn="l" fontAlgn="t"/>
                      <a:r>
                        <a:rPr lang="en-SG" sz="1200" dirty="0">
                          <a:latin typeface="verdana"/>
                        </a:rPr>
                        <a:t>Selector</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200" dirty="0">
                          <a:latin typeface="verdana"/>
                        </a:rPr>
                        <a:t>Example</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200" dirty="0">
                          <a:latin typeface="verdana"/>
                        </a:rPr>
                        <a:t>Example description</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c>
                  <a:txBody>
                    <a:bodyPr/>
                    <a:lstStyle/>
                    <a:p>
                      <a:pPr algn="l" fontAlgn="t"/>
                      <a:r>
                        <a:rPr lang="en-SG" sz="1200" dirty="0" err="1">
                          <a:latin typeface="verdana"/>
                        </a:rPr>
                        <a:t>CSS</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60000"/>
                        <a:lumOff val="40000"/>
                      </a:schemeClr>
                    </a:solidFill>
                  </a:tcPr>
                </a:tc>
              </a:tr>
              <a:tr h="432570">
                <a:tc>
                  <a:txBody>
                    <a:bodyPr/>
                    <a:lstStyle/>
                    <a:p>
                      <a:pPr fontAlgn="t"/>
                      <a:r>
                        <a:rPr lang="en-SG" sz="1200" i="1" dirty="0" err="1">
                          <a:solidFill>
                            <a:srgbClr val="900B09"/>
                          </a:solidFill>
                          <a:latin typeface="verdana"/>
                          <a:hlinkClick r:id="rId3"/>
                        </a:rPr>
                        <a:t>element1</a:t>
                      </a:r>
                      <a:r>
                        <a:rPr lang="en-SG" sz="1200" dirty="0" err="1">
                          <a:solidFill>
                            <a:srgbClr val="900B09"/>
                          </a:solidFill>
                          <a:latin typeface="verdana"/>
                          <a:hlinkClick r:id="rId3"/>
                        </a:rPr>
                        <a:t>~</a:t>
                      </a:r>
                      <a:r>
                        <a:rPr lang="en-SG" sz="1200" i="1" dirty="0" err="1">
                          <a:solidFill>
                            <a:srgbClr val="900B09"/>
                          </a:solidFill>
                          <a:latin typeface="verdana"/>
                          <a:hlinkClick r:id="rId3"/>
                        </a:rPr>
                        <a:t>element2</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p~ul</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Selects every &lt;</a:t>
                      </a:r>
                      <a:r>
                        <a:rPr lang="en-SG" sz="1200" dirty="0" err="1">
                          <a:latin typeface="verdana"/>
                        </a:rPr>
                        <a:t>ul</a:t>
                      </a:r>
                      <a:r>
                        <a:rPr lang="en-SG" sz="1200" dirty="0">
                          <a:latin typeface="verdana"/>
                        </a:rPr>
                        <a:t>&gt; element that are preceded by a &lt;p&gt;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32570">
                <a:tc>
                  <a:txBody>
                    <a:bodyPr/>
                    <a:lstStyle/>
                    <a:p>
                      <a:pPr fontAlgn="t"/>
                      <a:r>
                        <a:rPr lang="en-SG" sz="1200" dirty="0">
                          <a:solidFill>
                            <a:srgbClr val="900B09"/>
                          </a:solidFill>
                          <a:latin typeface="verdana"/>
                          <a:hlinkClick r:id="rId4"/>
                        </a:rPr>
                        <a:t>:only-of-type</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p:only-of-type</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&lt;p&gt; element that is the only &lt;p&gt; element of its parent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33046">
                <a:tc>
                  <a:txBody>
                    <a:bodyPr/>
                    <a:lstStyle/>
                    <a:p>
                      <a:pPr fontAlgn="t"/>
                      <a:r>
                        <a:rPr lang="en-SG" sz="1200" dirty="0">
                          <a:solidFill>
                            <a:srgbClr val="900B09"/>
                          </a:solidFill>
                          <a:latin typeface="verdana"/>
                          <a:hlinkClick r:id="rId5"/>
                        </a:rPr>
                        <a:t>:only-child</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p:only-child</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&lt;p&gt; element that is the only child of its parent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33046">
                <a:tc>
                  <a:txBody>
                    <a:bodyPr/>
                    <a:lstStyle/>
                    <a:p>
                      <a:pPr fontAlgn="t"/>
                      <a:r>
                        <a:rPr lang="en-SG" sz="1200" dirty="0">
                          <a:solidFill>
                            <a:srgbClr val="900B09"/>
                          </a:solidFill>
                          <a:latin typeface="verdana"/>
                          <a:hlinkClick r:id="rId6"/>
                        </a:rPr>
                        <a:t>:nth-child(</a:t>
                      </a:r>
                      <a:r>
                        <a:rPr lang="en-SG" sz="1200" i="1" dirty="0">
                          <a:solidFill>
                            <a:srgbClr val="900B09"/>
                          </a:solidFill>
                          <a:latin typeface="verdana"/>
                          <a:hlinkClick r:id="rId6"/>
                        </a:rPr>
                        <a:t>n</a:t>
                      </a:r>
                      <a:r>
                        <a:rPr lang="en-SG" sz="1200" dirty="0">
                          <a:solidFill>
                            <a:srgbClr val="900B09"/>
                          </a:solidFill>
                          <a:latin typeface="verdana"/>
                          <a:hlinkClick r:id="rId6"/>
                        </a:rPr>
                        <a:t>)</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p:nth-child(2)</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&lt;p&gt; element that is the second child of its parent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21047">
                <a:tc>
                  <a:txBody>
                    <a:bodyPr/>
                    <a:lstStyle/>
                    <a:p>
                      <a:pPr fontAlgn="t"/>
                      <a:r>
                        <a:rPr lang="en-SG" sz="1200" dirty="0">
                          <a:solidFill>
                            <a:srgbClr val="900B09"/>
                          </a:solidFill>
                          <a:latin typeface="verdana"/>
                          <a:hlinkClick r:id="rId7"/>
                        </a:rPr>
                        <a:t>:root</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:root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the document’s root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74874">
                <a:tc>
                  <a:txBody>
                    <a:bodyPr/>
                    <a:lstStyle/>
                    <a:p>
                      <a:pPr fontAlgn="t"/>
                      <a:r>
                        <a:rPr lang="en-SG" sz="1200" dirty="0">
                          <a:solidFill>
                            <a:srgbClr val="900B09"/>
                          </a:solidFill>
                          <a:latin typeface="verdana"/>
                          <a:hlinkClick r:id="rId8"/>
                        </a:rPr>
                        <a:t>:empty</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err="1">
                          <a:latin typeface="verdana"/>
                        </a:rPr>
                        <a:t>p:empty</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Selects every &lt;p&gt; element that has no children (including</a:t>
                      </a:r>
                      <a:r>
                        <a:rPr lang="en-SG" sz="1000" dirty="0">
                          <a:latin typeface="verdana"/>
                        </a:rPr>
                        <a:t> </a:t>
                      </a:r>
                      <a:r>
                        <a:rPr lang="en-SG" sz="1200" dirty="0">
                          <a:latin typeface="verdana"/>
                        </a:rPr>
                        <a:t>text nodes)</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432570">
                <a:tc>
                  <a:txBody>
                    <a:bodyPr/>
                    <a:lstStyle/>
                    <a:p>
                      <a:pPr fontAlgn="t"/>
                      <a:r>
                        <a:rPr lang="en-SG" sz="1200" dirty="0">
                          <a:solidFill>
                            <a:srgbClr val="900B09"/>
                          </a:solidFill>
                          <a:latin typeface="verdana"/>
                          <a:hlinkClick r:id="rId9"/>
                        </a:rPr>
                        <a:t>:target</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a:t>
                      </a:r>
                      <a:r>
                        <a:rPr lang="en-SG" sz="1200" dirty="0" err="1">
                          <a:latin typeface="verdana"/>
                        </a:rPr>
                        <a:t>news:target</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Selects the current active #news element (clicked on a URL containing that anchor name)</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21047">
                <a:tc>
                  <a:txBody>
                    <a:bodyPr/>
                    <a:lstStyle/>
                    <a:p>
                      <a:pPr fontAlgn="t"/>
                      <a:r>
                        <a:rPr lang="en-SG" sz="1200" dirty="0">
                          <a:solidFill>
                            <a:srgbClr val="900B09"/>
                          </a:solidFill>
                          <a:latin typeface="verdana"/>
                          <a:hlinkClick r:id="rId10"/>
                        </a:rPr>
                        <a:t>:enabled</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err="1">
                          <a:latin typeface="verdana"/>
                        </a:rPr>
                        <a:t>input:enabled</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enabled &lt;input&gt;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21047">
                <a:tc>
                  <a:txBody>
                    <a:bodyPr/>
                    <a:lstStyle/>
                    <a:p>
                      <a:pPr fontAlgn="t"/>
                      <a:r>
                        <a:rPr lang="en-SG" sz="1200" dirty="0">
                          <a:solidFill>
                            <a:srgbClr val="900B09"/>
                          </a:solidFill>
                          <a:latin typeface="verdana"/>
                          <a:hlinkClick r:id="rId11"/>
                        </a:rPr>
                        <a:t>:disabled</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err="1">
                          <a:latin typeface="verdana"/>
                        </a:rPr>
                        <a:t>input:disabled</a:t>
                      </a:r>
                      <a:endParaRPr lang="en-SG" sz="1200" dirty="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disabled &lt;input&gt;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21047">
                <a:tc>
                  <a:txBody>
                    <a:bodyPr/>
                    <a:lstStyle/>
                    <a:p>
                      <a:pPr fontAlgn="t"/>
                      <a:r>
                        <a:rPr lang="en-SG" sz="1200">
                          <a:solidFill>
                            <a:srgbClr val="900B09"/>
                          </a:solidFill>
                          <a:latin typeface="verdana"/>
                          <a:hlinkClick r:id="rId12"/>
                        </a:rPr>
                        <a:t>:checked</a:t>
                      </a:r>
                      <a:endParaRPr lang="en-SG" sz="120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input:checked</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checked &lt;input&gt;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21047">
                <a:tc>
                  <a:txBody>
                    <a:bodyPr/>
                    <a:lstStyle/>
                    <a:p>
                      <a:pPr fontAlgn="t"/>
                      <a:r>
                        <a:rPr lang="en-SG" sz="1200">
                          <a:solidFill>
                            <a:srgbClr val="900B09"/>
                          </a:solidFill>
                          <a:latin typeface="verdana"/>
                          <a:hlinkClick r:id="rId13"/>
                        </a:rPr>
                        <a:t>:not(</a:t>
                      </a:r>
                      <a:r>
                        <a:rPr lang="en-SG" sz="1200" i="1">
                          <a:solidFill>
                            <a:srgbClr val="900B09"/>
                          </a:solidFill>
                          <a:latin typeface="verdana"/>
                          <a:hlinkClick r:id="rId13"/>
                        </a:rPr>
                        <a:t>selector</a:t>
                      </a:r>
                      <a:r>
                        <a:rPr lang="en-SG" sz="1200">
                          <a:solidFill>
                            <a:srgbClr val="900B09"/>
                          </a:solidFill>
                          <a:latin typeface="verdana"/>
                          <a:hlinkClick r:id="rId13"/>
                        </a:rPr>
                        <a:t>)</a:t>
                      </a:r>
                      <a:endParaRPr lang="en-SG" sz="120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:not(p)</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Selects every element that is not a &lt;p&gt; element</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233046">
                <a:tc>
                  <a:txBody>
                    <a:bodyPr/>
                    <a:lstStyle/>
                    <a:p>
                      <a:pPr fontAlgn="t"/>
                      <a:r>
                        <a:rPr lang="en-SG" sz="1200">
                          <a:solidFill>
                            <a:srgbClr val="900B09"/>
                          </a:solidFill>
                          <a:latin typeface="verdana"/>
                          <a:hlinkClick r:id="rId14"/>
                        </a:rPr>
                        <a:t>::selection</a:t>
                      </a:r>
                      <a:endParaRPr lang="en-SG" sz="1200">
                        <a:latin typeface="verdana"/>
                      </a:endParaRP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a:latin typeface="verdana"/>
                        </a:rPr>
                        <a:t>::selection</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Selects the portion of an element that is selected by a user</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SG" sz="1200" dirty="0">
                          <a:latin typeface="verdana"/>
                        </a:rPr>
                        <a:t>3</a:t>
                      </a:r>
                    </a:p>
                  </a:txBody>
                  <a:tcPr marL="3431" marR="3431" marT="3431" marB="3431">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10649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Verdana" pitchFamily="34" charset="0"/>
                <a:cs typeface="Arial" pitchFamily="34" charset="0"/>
              </a:rPr>
              <a:t/>
            </a:r>
            <a:br>
              <a:rPr kumimoji="0" lang="en-US" sz="1200" b="0" i="0" u="none" strike="noStrike" cap="none" normalizeH="0" baseline="0" smtClean="0">
                <a:ln>
                  <a:noFill/>
                </a:ln>
                <a:solidFill>
                  <a:srgbClr val="000000"/>
                </a:solidFill>
                <a:effectLst/>
                <a:latin typeface="Verdana"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err="1" smtClean="0"/>
              <a:t>CSS3</a:t>
            </a:r>
            <a:r>
              <a:rPr lang="en-SG" sz="3600" b="0" dirty="0" smtClean="0"/>
              <a:t> </a:t>
            </a:r>
            <a:r>
              <a:rPr lang="en-SG" sz="3600" b="0" dirty="0" err="1" smtClean="0"/>
              <a:t>Enabed</a:t>
            </a:r>
            <a:r>
              <a:rPr lang="en-SG" sz="3600" b="0" dirty="0" smtClean="0"/>
              <a:t> </a:t>
            </a:r>
            <a:r>
              <a:rPr lang="en-SG" sz="2000" b="0" dirty="0" smtClean="0"/>
              <a:t>Selector</a:t>
            </a:r>
            <a:endParaRPr lang="en-SG" sz="20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50</a:t>
            </a:fld>
            <a:endParaRPr lang="en-US"/>
          </a:p>
        </p:txBody>
      </p:sp>
      <p:sp>
        <p:nvSpPr>
          <p:cNvPr id="6" name="Content Placeholder 2"/>
          <p:cNvSpPr>
            <a:spLocks noGrp="1"/>
          </p:cNvSpPr>
          <p:nvPr>
            <p:ph idx="1"/>
          </p:nvPr>
        </p:nvSpPr>
        <p:spPr>
          <a:xfrm>
            <a:off x="304800" y="914400"/>
            <a:ext cx="7395380" cy="1295400"/>
          </a:xfrm>
        </p:spPr>
        <p:txBody>
          <a:bodyPr>
            <a:noAutofit/>
          </a:bodyPr>
          <a:lstStyle/>
          <a:p>
            <a:pPr>
              <a:buNone/>
            </a:pPr>
            <a:endParaRPr lang="en-US" sz="1600" dirty="0" smtClean="0"/>
          </a:p>
          <a:p>
            <a:r>
              <a:rPr lang="en-US" sz="2000" b="1" dirty="0" smtClean="0"/>
              <a:t>Enabled Selector</a:t>
            </a:r>
          </a:p>
          <a:p>
            <a:pPr>
              <a:buNone/>
            </a:pPr>
            <a:r>
              <a:rPr lang="en-SG" sz="1050" dirty="0" smtClean="0">
                <a:hlinkClick r:id="rId3"/>
              </a:rPr>
              <a:t>http://www.w3schools.com/cssref/tryit.asp?filename=trycss3_enabled_disabled</a:t>
            </a:r>
            <a:endParaRPr lang="en-US" sz="16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029200" y="609600"/>
            <a:ext cx="4114800" cy="594360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1600" dirty="0" smtClean="0"/>
              <a:t>&lt;!</a:t>
            </a:r>
            <a:r>
              <a:rPr lang="en-SG" sz="1600" dirty="0" err="1" smtClean="0"/>
              <a:t>DOCTYPE</a:t>
            </a:r>
            <a:r>
              <a:rPr lang="en-SG" sz="1600" dirty="0" smtClean="0"/>
              <a:t> html&gt;</a:t>
            </a:r>
          </a:p>
          <a:p>
            <a:r>
              <a:rPr lang="en-SG" sz="1600" dirty="0" smtClean="0"/>
              <a:t>&lt;html&gt;&lt;head&gt;&lt;style&gt; </a:t>
            </a:r>
          </a:p>
          <a:p>
            <a:r>
              <a:rPr lang="en-SG" sz="1600" dirty="0" smtClean="0"/>
              <a:t>input[type="text"]:enabled</a:t>
            </a:r>
          </a:p>
          <a:p>
            <a:r>
              <a:rPr lang="en-SG" sz="1600" dirty="0" smtClean="0"/>
              <a:t>{</a:t>
            </a:r>
          </a:p>
          <a:p>
            <a:r>
              <a:rPr lang="en-SG" sz="1600" dirty="0" smtClean="0"/>
              <a:t>background:#</a:t>
            </a:r>
            <a:r>
              <a:rPr lang="en-SG" sz="1600" dirty="0" err="1" smtClean="0"/>
              <a:t>ffff00</a:t>
            </a:r>
            <a:r>
              <a:rPr lang="en-SG" sz="1600" dirty="0" smtClean="0"/>
              <a:t>;</a:t>
            </a:r>
          </a:p>
          <a:p>
            <a:r>
              <a:rPr lang="en-SG" sz="1600" dirty="0" smtClean="0"/>
              <a:t>}</a:t>
            </a:r>
          </a:p>
          <a:p>
            <a:r>
              <a:rPr lang="en-SG" sz="1600" dirty="0" smtClean="0"/>
              <a:t>input[type="text"]:disabled</a:t>
            </a:r>
          </a:p>
          <a:p>
            <a:r>
              <a:rPr lang="en-SG" sz="1600" dirty="0" smtClean="0"/>
              <a:t>{</a:t>
            </a:r>
          </a:p>
          <a:p>
            <a:r>
              <a:rPr lang="en-SG" sz="1600" dirty="0" smtClean="0"/>
              <a:t>background:#</a:t>
            </a:r>
            <a:r>
              <a:rPr lang="en-SG" sz="1600" dirty="0" err="1" smtClean="0"/>
              <a:t>dddddd</a:t>
            </a:r>
            <a:r>
              <a:rPr lang="en-SG" sz="1600" dirty="0" smtClean="0"/>
              <a:t>;</a:t>
            </a:r>
          </a:p>
          <a:p>
            <a:r>
              <a:rPr lang="en-SG" sz="1600" dirty="0" smtClean="0"/>
              <a:t>}</a:t>
            </a:r>
          </a:p>
          <a:p>
            <a:r>
              <a:rPr lang="en-SG" sz="1600" dirty="0" smtClean="0"/>
              <a:t>&lt;/style&gt;&lt;/head&gt;</a:t>
            </a:r>
          </a:p>
          <a:p>
            <a:r>
              <a:rPr lang="en-SG" sz="1600" dirty="0" smtClean="0"/>
              <a:t>&lt;body&gt;</a:t>
            </a:r>
          </a:p>
          <a:p>
            <a:endParaRPr lang="en-SG" sz="1600" dirty="0" smtClean="0"/>
          </a:p>
          <a:p>
            <a:r>
              <a:rPr lang="en-SG" sz="1600" dirty="0" smtClean="0"/>
              <a:t>&lt;form action=""&gt;</a:t>
            </a:r>
          </a:p>
          <a:p>
            <a:r>
              <a:rPr lang="en-SG" sz="1600" dirty="0" smtClean="0"/>
              <a:t>First name: &lt;input type="text" value="Mickey" /&gt;&lt;</a:t>
            </a:r>
            <a:r>
              <a:rPr lang="en-SG" sz="1600" dirty="0" err="1" smtClean="0"/>
              <a:t>br</a:t>
            </a:r>
            <a:r>
              <a:rPr lang="en-SG" sz="1600" dirty="0" smtClean="0"/>
              <a:t>&gt;</a:t>
            </a:r>
          </a:p>
          <a:p>
            <a:r>
              <a:rPr lang="en-SG" sz="1600" dirty="0" smtClean="0"/>
              <a:t>Last name: &lt;input type="text" value="Mouse" /&gt;&lt;</a:t>
            </a:r>
            <a:r>
              <a:rPr lang="en-SG" sz="1600" dirty="0" err="1" smtClean="0"/>
              <a:t>br</a:t>
            </a:r>
            <a:r>
              <a:rPr lang="en-SG" sz="1600" dirty="0" smtClean="0"/>
              <a:t>&gt;</a:t>
            </a:r>
          </a:p>
          <a:p>
            <a:r>
              <a:rPr lang="en-SG" sz="1600" dirty="0" smtClean="0"/>
              <a:t>Country: &lt;input type="text" disabled="disabled" value="Disneyland" /&gt;&lt;</a:t>
            </a:r>
            <a:r>
              <a:rPr lang="en-SG" sz="1600" dirty="0" err="1" smtClean="0"/>
              <a:t>br</a:t>
            </a:r>
            <a:r>
              <a:rPr lang="en-SG" sz="1600" dirty="0" smtClean="0"/>
              <a:t>&gt;</a:t>
            </a:r>
          </a:p>
          <a:p>
            <a:r>
              <a:rPr lang="en-SG" sz="1600" dirty="0" smtClean="0"/>
              <a:t>&lt;/form&gt;</a:t>
            </a:r>
          </a:p>
          <a:p>
            <a:r>
              <a:rPr lang="en-SG" sz="1600" dirty="0" smtClean="0"/>
              <a:t>&lt;/body&gt;&lt;/html&gt;</a:t>
            </a:r>
          </a:p>
        </p:txBody>
      </p:sp>
      <p:pic>
        <p:nvPicPr>
          <p:cNvPr id="107522" name="Picture 2"/>
          <p:cNvPicPr>
            <a:picLocks noChangeAspect="1" noChangeArrowheads="1"/>
          </p:cNvPicPr>
          <p:nvPr/>
        </p:nvPicPr>
        <p:blipFill>
          <a:blip r:embed="rId4" cstate="print"/>
          <a:srcRect/>
          <a:stretch>
            <a:fillRect/>
          </a:stretch>
        </p:blipFill>
        <p:spPr bwMode="auto">
          <a:xfrm>
            <a:off x="914400" y="2438400"/>
            <a:ext cx="3216166" cy="1371600"/>
          </a:xfrm>
          <a:prstGeom prst="rect">
            <a:avLst/>
          </a:prstGeom>
          <a:noFill/>
          <a:ln w="9525">
            <a:noFill/>
            <a:miter lim="800000"/>
            <a:headEnd/>
            <a:tailEnd/>
          </a:ln>
        </p:spPr>
      </p:pic>
      <p:sp>
        <p:nvSpPr>
          <p:cNvPr id="9" name="Round Same Side Corner Rectangle 8"/>
          <p:cNvSpPr/>
          <p:nvPr/>
        </p:nvSpPr>
        <p:spPr>
          <a:xfrm>
            <a:off x="533400" y="4267200"/>
            <a:ext cx="3597166" cy="2286000"/>
          </a:xfrm>
          <a:prstGeom prst="round2Same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input[type="text"]:enabled</a:t>
            </a:r>
            <a:br>
              <a:rPr lang="en-US" sz="2000" dirty="0"/>
            </a:br>
            <a:r>
              <a:rPr lang="en-US" sz="2000" dirty="0"/>
              <a:t>{</a:t>
            </a:r>
            <a:br>
              <a:rPr lang="en-US" sz="2000" dirty="0"/>
            </a:br>
            <a:r>
              <a:rPr lang="en-US" sz="2000" dirty="0"/>
              <a:t>background:#ffff00;</a:t>
            </a:r>
            <a:br>
              <a:rPr lang="en-US" sz="2000" dirty="0"/>
            </a:br>
            <a:r>
              <a:rPr lang="en-US" sz="2000" dirty="0"/>
              <a:t>}</a:t>
            </a:r>
          </a:p>
        </p:txBody>
      </p:sp>
    </p:spTree>
    <p:extLst>
      <p:ext uri="{BB962C8B-B14F-4D97-AF65-F5344CB8AC3E}">
        <p14:creationId xmlns:p14="http://schemas.microsoft.com/office/powerpoint/2010/main" val="297771769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Selection selector</a:t>
            </a:r>
            <a:endParaRPr lang="en-SG" sz="20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51</a:t>
            </a:fld>
            <a:endParaRPr lang="en-US"/>
          </a:p>
        </p:txBody>
      </p:sp>
      <p:sp>
        <p:nvSpPr>
          <p:cNvPr id="6" name="Content Placeholder 2"/>
          <p:cNvSpPr>
            <a:spLocks noGrp="1"/>
          </p:cNvSpPr>
          <p:nvPr>
            <p:ph idx="1"/>
          </p:nvPr>
        </p:nvSpPr>
        <p:spPr>
          <a:xfrm>
            <a:off x="300820" y="914400"/>
            <a:ext cx="7395380" cy="1295400"/>
          </a:xfrm>
        </p:spPr>
        <p:txBody>
          <a:bodyPr>
            <a:noAutofit/>
          </a:bodyPr>
          <a:lstStyle/>
          <a:p>
            <a:pPr>
              <a:buNone/>
            </a:pPr>
            <a:endParaRPr lang="en-US" sz="1600" dirty="0" smtClean="0"/>
          </a:p>
          <a:p>
            <a:r>
              <a:rPr lang="en-US" sz="2000" dirty="0" err="1" smtClean="0"/>
              <a:t>Input:checked</a:t>
            </a:r>
            <a:r>
              <a:rPr lang="en-US" sz="2000" dirty="0" smtClean="0"/>
              <a:t> selector</a:t>
            </a:r>
          </a:p>
          <a:p>
            <a:r>
              <a:rPr lang="en-US" sz="2000" dirty="0" err="1" smtClean="0"/>
              <a:t>Eg</a:t>
            </a:r>
            <a:r>
              <a:rPr lang="en-US" sz="2000" dirty="0" smtClean="0"/>
              <a:t>. </a:t>
            </a:r>
            <a:r>
              <a:rPr lang="en-US" sz="2000" dirty="0"/>
              <a:t>Make the selected text red:</a:t>
            </a:r>
            <a:endParaRPr lang="en-US" sz="2000" dirty="0" smtClean="0"/>
          </a:p>
          <a:p>
            <a:r>
              <a:rPr lang="en-US" sz="1100" dirty="0">
                <a:hlinkClick r:id="rId3"/>
              </a:rPr>
              <a:t>http://www.w3schools.com/cssref/tryit.asp?filename=trycss3_selection</a:t>
            </a:r>
            <a:endParaRPr lang="en-US" sz="18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004816" y="972312"/>
            <a:ext cx="4114800" cy="5593080"/>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&lt;!DOCTYPE html&gt;</a:t>
            </a:r>
          </a:p>
          <a:p>
            <a:r>
              <a:rPr lang="en-US" dirty="0"/>
              <a:t>&lt;html&gt;</a:t>
            </a:r>
          </a:p>
          <a:p>
            <a:r>
              <a:rPr lang="en-US" dirty="0"/>
              <a:t>&lt;head</a:t>
            </a:r>
            <a:r>
              <a:rPr lang="en-US" dirty="0" smtClean="0"/>
              <a:t>&gt;&lt;</a:t>
            </a:r>
            <a:r>
              <a:rPr lang="en-US" dirty="0"/>
              <a:t>style&gt;</a:t>
            </a:r>
          </a:p>
          <a:p>
            <a:r>
              <a:rPr lang="en-US" dirty="0"/>
              <a:t>::selection</a:t>
            </a:r>
          </a:p>
          <a:p>
            <a:r>
              <a:rPr lang="en-US" dirty="0" smtClean="0"/>
              <a:t>{color</a:t>
            </a:r>
            <a:r>
              <a:rPr lang="en-US" dirty="0"/>
              <a:t>:#ff0000</a:t>
            </a:r>
            <a:r>
              <a:rPr lang="en-US" dirty="0" smtClean="0"/>
              <a:t>;}</a:t>
            </a:r>
            <a:endParaRPr lang="en-US" dirty="0"/>
          </a:p>
          <a:p>
            <a:r>
              <a:rPr lang="en-US" dirty="0"/>
              <a:t>::-</a:t>
            </a:r>
            <a:r>
              <a:rPr lang="en-US" dirty="0" err="1"/>
              <a:t>moz</a:t>
            </a:r>
            <a:r>
              <a:rPr lang="en-US" dirty="0"/>
              <a:t>-selection</a:t>
            </a:r>
          </a:p>
          <a:p>
            <a:r>
              <a:rPr lang="en-US" dirty="0" smtClean="0"/>
              <a:t>{color</a:t>
            </a:r>
            <a:r>
              <a:rPr lang="en-US" dirty="0"/>
              <a:t>:#ff0000</a:t>
            </a:r>
            <a:r>
              <a:rPr lang="en-US" dirty="0" smtClean="0"/>
              <a:t>;}</a:t>
            </a:r>
            <a:endParaRPr lang="en-US" dirty="0"/>
          </a:p>
          <a:p>
            <a:r>
              <a:rPr lang="en-US" dirty="0"/>
              <a:t>&lt;/style</a:t>
            </a:r>
            <a:r>
              <a:rPr lang="en-US" dirty="0" smtClean="0"/>
              <a:t>&gt;&lt;/</a:t>
            </a:r>
            <a:r>
              <a:rPr lang="en-US" dirty="0"/>
              <a:t>head&gt;</a:t>
            </a:r>
          </a:p>
          <a:p>
            <a:r>
              <a:rPr lang="en-US" dirty="0"/>
              <a:t>&lt;body&gt;</a:t>
            </a:r>
          </a:p>
          <a:p>
            <a:r>
              <a:rPr lang="en-US" dirty="0" smtClean="0"/>
              <a:t>&lt;</a:t>
            </a:r>
            <a:r>
              <a:rPr lang="en-US" dirty="0"/>
              <a:t>h1&gt;Try to select some text on this page&lt;/h1&gt;</a:t>
            </a:r>
          </a:p>
          <a:p>
            <a:r>
              <a:rPr lang="en-US" dirty="0" smtClean="0"/>
              <a:t>&lt;</a:t>
            </a:r>
            <a:r>
              <a:rPr lang="en-US" dirty="0"/>
              <a:t>p&gt;This is a paragraph.&lt;/p&gt;</a:t>
            </a:r>
          </a:p>
          <a:p>
            <a:r>
              <a:rPr lang="en-US" dirty="0" smtClean="0"/>
              <a:t>&lt;</a:t>
            </a:r>
            <a:r>
              <a:rPr lang="en-US" dirty="0"/>
              <a:t>div&gt;This is some text in a div element.&lt;/div&gt;</a:t>
            </a:r>
          </a:p>
          <a:p>
            <a:r>
              <a:rPr lang="en-US" dirty="0" smtClean="0"/>
              <a:t>&lt;</a:t>
            </a:r>
            <a:r>
              <a:rPr lang="en-US" dirty="0"/>
              <a:t>a </a:t>
            </a:r>
            <a:r>
              <a:rPr lang="en-US" dirty="0" err="1"/>
              <a:t>href</a:t>
            </a:r>
            <a:r>
              <a:rPr lang="en-US" dirty="0"/>
              <a:t>="http://www.w3schools.com" target="_blank"&gt;Link to W3Schools!&lt;/a&gt;</a:t>
            </a:r>
          </a:p>
          <a:p>
            <a:r>
              <a:rPr lang="en-US" dirty="0" smtClean="0"/>
              <a:t>&lt;/</a:t>
            </a:r>
            <a:r>
              <a:rPr lang="en-US" dirty="0"/>
              <a:t>body</a:t>
            </a:r>
            <a:r>
              <a:rPr lang="en-US" dirty="0" smtClean="0"/>
              <a:t>&gt;&lt;/</a:t>
            </a:r>
            <a:r>
              <a:rPr lang="en-US" dirty="0"/>
              <a:t>html&gt;</a:t>
            </a:r>
          </a:p>
        </p:txBody>
      </p:sp>
      <p:sp>
        <p:nvSpPr>
          <p:cNvPr id="9" name="Round Same Side Corner Rectangle 8"/>
          <p:cNvSpPr/>
          <p:nvPr/>
        </p:nvSpPr>
        <p:spPr>
          <a:xfrm>
            <a:off x="533400" y="4267200"/>
            <a:ext cx="3597166" cy="2286000"/>
          </a:xfrm>
          <a:prstGeom prst="round2Same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::selection</a:t>
            </a:r>
            <a:br>
              <a:rPr lang="en-US" sz="2000" dirty="0"/>
            </a:br>
            <a:r>
              <a:rPr lang="en-US" sz="2000" dirty="0" smtClean="0"/>
              <a:t>{color</a:t>
            </a:r>
            <a:r>
              <a:rPr lang="en-US" sz="2000" dirty="0"/>
              <a:t>:#ff0000</a:t>
            </a:r>
            <a:r>
              <a:rPr lang="en-US" sz="2000" dirty="0" smtClean="0"/>
              <a:t>;}</a:t>
            </a:r>
            <a:r>
              <a:rPr lang="en-US" sz="2000" dirty="0"/>
              <a:t/>
            </a:r>
            <a:br>
              <a:rPr lang="en-US" sz="2000" dirty="0"/>
            </a:br>
            <a:r>
              <a:rPr lang="en-US" sz="2000" dirty="0"/>
              <a:t>::-</a:t>
            </a:r>
            <a:r>
              <a:rPr lang="en-US" sz="2000" dirty="0" err="1"/>
              <a:t>moz</a:t>
            </a:r>
            <a:r>
              <a:rPr lang="en-US" sz="2000" dirty="0"/>
              <a:t>-selection</a:t>
            </a:r>
            <a:br>
              <a:rPr lang="en-US" sz="2000" dirty="0"/>
            </a:br>
            <a:r>
              <a:rPr lang="en-US" sz="2000" dirty="0" smtClean="0"/>
              <a:t>{color</a:t>
            </a:r>
            <a:r>
              <a:rPr lang="en-US" sz="2000" dirty="0"/>
              <a:t>:#ff0000</a:t>
            </a:r>
            <a:r>
              <a:rPr lang="en-US" sz="2000" dirty="0" smtClean="0"/>
              <a:t>;}</a:t>
            </a:r>
            <a:endParaRPr lang="en-US" sz="2000" dirty="0"/>
          </a:p>
        </p:txBody>
      </p:sp>
      <p:pic>
        <p:nvPicPr>
          <p:cNvPr id="1027" name="Picture 3"/>
          <p:cNvPicPr>
            <a:picLocks noChangeAspect="1" noChangeArrowheads="1"/>
          </p:cNvPicPr>
          <p:nvPr/>
        </p:nvPicPr>
        <p:blipFill>
          <a:blip r:embed="rId4" cstate="print"/>
          <a:srcRect/>
          <a:stretch>
            <a:fillRect/>
          </a:stretch>
        </p:blipFill>
        <p:spPr bwMode="auto">
          <a:xfrm>
            <a:off x="381000" y="2362201"/>
            <a:ext cx="4461933" cy="1143000"/>
          </a:xfrm>
          <a:prstGeom prst="rect">
            <a:avLst/>
          </a:prstGeom>
          <a:noFill/>
          <a:ln w="9525">
            <a:noFill/>
            <a:miter lim="800000"/>
            <a:headEnd/>
            <a:tailEnd/>
          </a:ln>
        </p:spPr>
      </p:pic>
    </p:spTree>
    <p:extLst>
      <p:ext uri="{BB962C8B-B14F-4D97-AF65-F5344CB8AC3E}">
        <p14:creationId xmlns:p14="http://schemas.microsoft.com/office/powerpoint/2010/main" val="9334157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Selection selector</a:t>
            </a:r>
            <a:endParaRPr lang="en-SG" sz="20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52</a:t>
            </a:fld>
            <a:endParaRPr lang="en-US"/>
          </a:p>
        </p:txBody>
      </p:sp>
      <p:sp>
        <p:nvSpPr>
          <p:cNvPr id="6" name="Content Placeholder 2"/>
          <p:cNvSpPr>
            <a:spLocks noGrp="1"/>
          </p:cNvSpPr>
          <p:nvPr>
            <p:ph idx="1"/>
          </p:nvPr>
        </p:nvSpPr>
        <p:spPr>
          <a:xfrm>
            <a:off x="300820" y="914400"/>
            <a:ext cx="7395380" cy="1295400"/>
          </a:xfrm>
        </p:spPr>
        <p:txBody>
          <a:bodyPr>
            <a:normAutofit/>
          </a:bodyPr>
          <a:lstStyle/>
          <a:p>
            <a:pPr>
              <a:buNone/>
            </a:pPr>
            <a:endParaRPr lang="en-US" sz="1600" dirty="0" smtClean="0"/>
          </a:p>
          <a:p>
            <a:r>
              <a:rPr lang="en-SG" sz="2000" dirty="0" err="1" smtClean="0"/>
              <a:t>CSS3</a:t>
            </a:r>
            <a:r>
              <a:rPr lang="en-SG" sz="2000" dirty="0" smtClean="0"/>
              <a:t> :nth-child() Selector</a:t>
            </a:r>
          </a:p>
          <a:p>
            <a:r>
              <a:rPr lang="en-US" sz="2000" dirty="0" err="1" smtClean="0"/>
              <a:t>Eg</a:t>
            </a:r>
            <a:r>
              <a:rPr lang="en-US" sz="2000" dirty="0" smtClean="0"/>
              <a:t>. </a:t>
            </a:r>
            <a:r>
              <a:rPr lang="en-US" sz="2000" dirty="0"/>
              <a:t>Make the selected text red:</a:t>
            </a:r>
            <a:endParaRPr lang="en-US" sz="2000" dirty="0" smtClean="0"/>
          </a:p>
          <a:p>
            <a:r>
              <a:rPr lang="en-US" sz="1100" dirty="0">
                <a:hlinkClick r:id="rId3"/>
              </a:rPr>
              <a:t>http://www.w3schools.com/cssref/tryit.asp?filename=trycss3_selection</a:t>
            </a:r>
            <a:endParaRPr lang="en-US" sz="18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004816" y="972312"/>
            <a:ext cx="4114800" cy="5657088"/>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&lt;!</a:t>
            </a:r>
            <a:r>
              <a:rPr lang="en-US" dirty="0" err="1" smtClean="0"/>
              <a:t>DOCTYPE</a:t>
            </a:r>
            <a:r>
              <a:rPr lang="en-US" dirty="0" smtClean="0"/>
              <a:t> html&gt;</a:t>
            </a:r>
          </a:p>
          <a:p>
            <a:r>
              <a:rPr lang="en-US" dirty="0" smtClean="0"/>
              <a:t>&lt;html&gt;</a:t>
            </a:r>
          </a:p>
          <a:p>
            <a:r>
              <a:rPr lang="en-US" dirty="0" smtClean="0"/>
              <a:t>&lt;head&gt;&lt;style&gt; </a:t>
            </a:r>
          </a:p>
          <a:p>
            <a:r>
              <a:rPr lang="en-US" dirty="0" err="1" smtClean="0"/>
              <a:t>p:nth</a:t>
            </a:r>
            <a:r>
              <a:rPr lang="en-US" dirty="0" smtClean="0"/>
              <a:t>-child(2)</a:t>
            </a:r>
          </a:p>
          <a:p>
            <a:r>
              <a:rPr lang="en-US" dirty="0" smtClean="0"/>
              <a:t>{</a:t>
            </a:r>
          </a:p>
          <a:p>
            <a:r>
              <a:rPr lang="en-US" dirty="0" smtClean="0"/>
              <a:t>background:#</a:t>
            </a:r>
            <a:r>
              <a:rPr lang="en-US" dirty="0" err="1" smtClean="0"/>
              <a:t>ff0000</a:t>
            </a:r>
            <a:r>
              <a:rPr lang="en-US" dirty="0" smtClean="0"/>
              <a:t>;</a:t>
            </a:r>
          </a:p>
          <a:p>
            <a:r>
              <a:rPr lang="en-US" dirty="0" smtClean="0"/>
              <a:t>}</a:t>
            </a:r>
          </a:p>
          <a:p>
            <a:r>
              <a:rPr lang="en-US" dirty="0" smtClean="0"/>
              <a:t>&lt;/style&gt;&lt;/head&gt;</a:t>
            </a:r>
          </a:p>
          <a:p>
            <a:r>
              <a:rPr lang="en-US" dirty="0" smtClean="0"/>
              <a:t>&lt;body&gt;</a:t>
            </a:r>
          </a:p>
          <a:p>
            <a:r>
              <a:rPr lang="en-US" dirty="0" smtClean="0"/>
              <a:t>&lt;</a:t>
            </a:r>
            <a:r>
              <a:rPr lang="en-US" dirty="0" err="1" smtClean="0"/>
              <a:t>h1</a:t>
            </a:r>
            <a:r>
              <a:rPr lang="en-US" dirty="0" smtClean="0"/>
              <a:t>&gt;This is a heading&lt;/</a:t>
            </a:r>
            <a:r>
              <a:rPr lang="en-US" dirty="0" err="1" smtClean="0"/>
              <a:t>h1</a:t>
            </a:r>
            <a:r>
              <a:rPr lang="en-US" dirty="0" smtClean="0"/>
              <a:t>&gt;</a:t>
            </a:r>
          </a:p>
          <a:p>
            <a:r>
              <a:rPr lang="en-US" dirty="0" smtClean="0"/>
              <a:t>&lt;p&gt;The first paragraph.&lt;/p&gt;</a:t>
            </a:r>
          </a:p>
          <a:p>
            <a:r>
              <a:rPr lang="en-US" dirty="0" smtClean="0"/>
              <a:t>&lt;p&gt;The second paragraph.&lt;/p&gt;</a:t>
            </a:r>
          </a:p>
          <a:p>
            <a:r>
              <a:rPr lang="en-US" dirty="0" smtClean="0"/>
              <a:t>&lt;p&gt;The third paragraph.&lt;/p&gt;</a:t>
            </a:r>
          </a:p>
          <a:p>
            <a:r>
              <a:rPr lang="en-US" dirty="0" smtClean="0"/>
              <a:t>&lt;p&gt;The fourth paragraph.&lt;/p&gt;</a:t>
            </a:r>
          </a:p>
          <a:p>
            <a:endParaRPr lang="en-US" dirty="0" smtClean="0"/>
          </a:p>
          <a:p>
            <a:r>
              <a:rPr lang="en-US" dirty="0" smtClean="0"/>
              <a:t>&lt;p&gt;&lt;b&gt;Note:&lt;/b&gt; Internet Explorer does not support the :nth-child() selector.&lt;/p&gt;</a:t>
            </a:r>
          </a:p>
          <a:p>
            <a:r>
              <a:rPr lang="en-US" dirty="0" smtClean="0"/>
              <a:t>&lt;/body&gt;</a:t>
            </a:r>
          </a:p>
          <a:p>
            <a:r>
              <a:rPr lang="en-US" dirty="0" smtClean="0"/>
              <a:t>&lt;/html&gt;</a:t>
            </a:r>
            <a:endParaRPr lang="en-US" dirty="0"/>
          </a:p>
        </p:txBody>
      </p:sp>
      <p:sp>
        <p:nvSpPr>
          <p:cNvPr id="9" name="Round Same Side Corner Rectangle 8"/>
          <p:cNvSpPr/>
          <p:nvPr/>
        </p:nvSpPr>
        <p:spPr>
          <a:xfrm>
            <a:off x="533400" y="4724400"/>
            <a:ext cx="3597166" cy="1828800"/>
          </a:xfrm>
          <a:prstGeom prst="round2Same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2000" dirty="0" err="1" smtClean="0"/>
              <a:t>p:nth</a:t>
            </a:r>
            <a:r>
              <a:rPr lang="en-SG" sz="2000" dirty="0" smtClean="0"/>
              <a:t>-child(2)</a:t>
            </a:r>
            <a:br>
              <a:rPr lang="en-SG" sz="2000" dirty="0" smtClean="0"/>
            </a:br>
            <a:r>
              <a:rPr lang="en-SG" sz="2000" dirty="0" smtClean="0"/>
              <a:t>{</a:t>
            </a:r>
            <a:br>
              <a:rPr lang="en-SG" sz="2000" dirty="0" smtClean="0"/>
            </a:br>
            <a:r>
              <a:rPr lang="en-SG" sz="2000" dirty="0" smtClean="0"/>
              <a:t>background:#</a:t>
            </a:r>
            <a:r>
              <a:rPr lang="en-SG" sz="2000" dirty="0" err="1" smtClean="0"/>
              <a:t>ff0000</a:t>
            </a:r>
            <a:r>
              <a:rPr lang="en-SG" sz="2000" dirty="0" smtClean="0"/>
              <a:t>;</a:t>
            </a:r>
            <a:br>
              <a:rPr lang="en-SG" sz="2000" dirty="0" smtClean="0"/>
            </a:br>
            <a:r>
              <a:rPr lang="en-SG" sz="2000" dirty="0" smtClean="0"/>
              <a:t>}</a:t>
            </a:r>
            <a:endParaRPr lang="en-US" sz="2000" dirty="0"/>
          </a:p>
        </p:txBody>
      </p:sp>
      <p:pic>
        <p:nvPicPr>
          <p:cNvPr id="2050" name="Picture 2"/>
          <p:cNvPicPr>
            <a:picLocks noChangeAspect="1" noChangeArrowheads="1"/>
          </p:cNvPicPr>
          <p:nvPr/>
        </p:nvPicPr>
        <p:blipFill>
          <a:blip r:embed="rId4" cstate="print"/>
          <a:srcRect/>
          <a:stretch>
            <a:fillRect/>
          </a:stretch>
        </p:blipFill>
        <p:spPr bwMode="auto">
          <a:xfrm>
            <a:off x="457200" y="2209800"/>
            <a:ext cx="4257675" cy="2400300"/>
          </a:xfrm>
          <a:prstGeom prst="rect">
            <a:avLst/>
          </a:prstGeom>
          <a:noFill/>
          <a:ln w="9525">
            <a:noFill/>
            <a:miter lim="800000"/>
            <a:headEnd/>
            <a:tailEnd/>
          </a:ln>
        </p:spPr>
      </p:pic>
    </p:spTree>
    <p:extLst>
      <p:ext uri="{BB962C8B-B14F-4D97-AF65-F5344CB8AC3E}">
        <p14:creationId xmlns:p14="http://schemas.microsoft.com/office/powerpoint/2010/main" val="9334157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SG" sz="3600" b="0" dirty="0" smtClean="0"/>
              <a:t>CSS3 Selection selector</a:t>
            </a:r>
            <a:endParaRPr lang="en-SG" sz="2000" b="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53</a:t>
            </a:fld>
            <a:endParaRPr lang="en-US"/>
          </a:p>
        </p:txBody>
      </p:sp>
      <p:sp>
        <p:nvSpPr>
          <p:cNvPr id="6" name="Content Placeholder 2"/>
          <p:cNvSpPr>
            <a:spLocks noGrp="1"/>
          </p:cNvSpPr>
          <p:nvPr>
            <p:ph idx="1"/>
          </p:nvPr>
        </p:nvSpPr>
        <p:spPr>
          <a:xfrm>
            <a:off x="300820" y="914400"/>
            <a:ext cx="7395380" cy="1295400"/>
          </a:xfrm>
        </p:spPr>
        <p:txBody>
          <a:bodyPr>
            <a:normAutofit/>
          </a:bodyPr>
          <a:lstStyle/>
          <a:p>
            <a:pPr>
              <a:buNone/>
            </a:pPr>
            <a:endParaRPr lang="en-US" sz="1600" dirty="0" smtClean="0"/>
          </a:p>
          <a:p>
            <a:r>
              <a:rPr lang="en-SG" sz="2000" dirty="0" err="1" smtClean="0"/>
              <a:t>CSS3</a:t>
            </a:r>
            <a:r>
              <a:rPr lang="en-SG" sz="2000" dirty="0" smtClean="0"/>
              <a:t> :nth-child(odd) or (even) Selector</a:t>
            </a:r>
          </a:p>
          <a:p>
            <a:r>
              <a:rPr lang="en-US" sz="2000" dirty="0" err="1" smtClean="0"/>
              <a:t>Eg</a:t>
            </a:r>
            <a:r>
              <a:rPr lang="en-US" sz="2000" dirty="0" smtClean="0"/>
              <a:t>. </a:t>
            </a:r>
            <a:r>
              <a:rPr lang="en-US" sz="2000" dirty="0"/>
              <a:t>Make the selected text red:</a:t>
            </a:r>
            <a:endParaRPr lang="en-US" sz="2000" dirty="0" smtClean="0"/>
          </a:p>
          <a:p>
            <a:r>
              <a:rPr lang="en-SG" sz="1100" dirty="0" smtClean="0">
                <a:hlinkClick r:id="rId3"/>
              </a:rPr>
              <a:t>http://www.w3schools.com/cssref/tryit.asp?filename=trycss3_nth-child_odd_even</a:t>
            </a:r>
            <a:endParaRPr lang="en-US" sz="1800" dirty="0"/>
          </a:p>
        </p:txBody>
      </p:sp>
      <p:sp>
        <p:nvSpPr>
          <p:cNvPr id="4" name="Rectangle 1"/>
          <p:cNvSpPr>
            <a:spLocks noChangeArrowheads="1"/>
          </p:cNvSpPr>
          <p:nvPr/>
        </p:nvSpPr>
        <p:spPr bwMode="auto">
          <a:xfrm>
            <a:off x="3478213" y="1295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Round Same Side Corner Rectangle 7"/>
          <p:cNvSpPr/>
          <p:nvPr/>
        </p:nvSpPr>
        <p:spPr>
          <a:xfrm>
            <a:off x="5004816" y="972312"/>
            <a:ext cx="4114800" cy="5657088"/>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&lt;!</a:t>
            </a:r>
            <a:r>
              <a:rPr lang="en-US" dirty="0" err="1" smtClean="0"/>
              <a:t>DOCTYPE</a:t>
            </a:r>
            <a:r>
              <a:rPr lang="en-US" dirty="0" smtClean="0"/>
              <a:t> html&gt;</a:t>
            </a:r>
          </a:p>
          <a:p>
            <a:r>
              <a:rPr lang="en-US" dirty="0" smtClean="0"/>
              <a:t>&lt;html&gt;</a:t>
            </a:r>
          </a:p>
          <a:p>
            <a:r>
              <a:rPr lang="en-US" dirty="0" smtClean="0"/>
              <a:t>&lt;head&gt;&lt;style&gt; </a:t>
            </a:r>
          </a:p>
          <a:p>
            <a:r>
              <a:rPr lang="en-US" dirty="0" err="1" smtClean="0"/>
              <a:t>p:nth</a:t>
            </a:r>
            <a:r>
              <a:rPr lang="en-US" dirty="0" smtClean="0"/>
              <a:t>-child(odd)</a:t>
            </a:r>
          </a:p>
          <a:p>
            <a:r>
              <a:rPr lang="en-US" dirty="0" smtClean="0"/>
              <a:t>{background:#</a:t>
            </a:r>
            <a:r>
              <a:rPr lang="en-US" dirty="0" err="1" smtClean="0"/>
              <a:t>B0B0B0</a:t>
            </a:r>
            <a:r>
              <a:rPr lang="en-US" dirty="0" smtClean="0"/>
              <a:t>;}</a:t>
            </a:r>
          </a:p>
          <a:p>
            <a:endParaRPr lang="en-US" dirty="0" smtClean="0"/>
          </a:p>
          <a:p>
            <a:r>
              <a:rPr lang="en-US" dirty="0" err="1" smtClean="0"/>
              <a:t>p:nth</a:t>
            </a:r>
            <a:r>
              <a:rPr lang="en-US" dirty="0" smtClean="0"/>
              <a:t>-child(even)</a:t>
            </a:r>
          </a:p>
          <a:p>
            <a:r>
              <a:rPr lang="en-US" dirty="0" smtClean="0"/>
              <a:t>{background:#808080;}</a:t>
            </a:r>
          </a:p>
          <a:p>
            <a:r>
              <a:rPr lang="en-US" dirty="0" smtClean="0"/>
              <a:t>&lt;/style&gt;&lt;/head&gt;&lt;body&gt;</a:t>
            </a:r>
          </a:p>
          <a:p>
            <a:endParaRPr lang="en-US" dirty="0" smtClean="0"/>
          </a:p>
          <a:p>
            <a:r>
              <a:rPr lang="en-US" dirty="0" smtClean="0"/>
              <a:t>&lt;</a:t>
            </a:r>
            <a:r>
              <a:rPr lang="en-US" dirty="0" err="1" smtClean="0"/>
              <a:t>h1</a:t>
            </a:r>
            <a:r>
              <a:rPr lang="en-US" dirty="0" smtClean="0"/>
              <a:t>&gt;This is a heading&lt;/</a:t>
            </a:r>
            <a:r>
              <a:rPr lang="en-US" dirty="0" err="1" smtClean="0"/>
              <a:t>h1</a:t>
            </a:r>
            <a:r>
              <a:rPr lang="en-US" dirty="0" smtClean="0"/>
              <a:t>&gt;</a:t>
            </a:r>
          </a:p>
          <a:p>
            <a:r>
              <a:rPr lang="en-US" dirty="0" smtClean="0"/>
              <a:t>&lt;p&gt;The first paragraph.&lt;/p&gt;</a:t>
            </a:r>
          </a:p>
          <a:p>
            <a:r>
              <a:rPr lang="en-US" dirty="0" smtClean="0"/>
              <a:t>&lt;p&gt;The second paragraph.&lt;/p&gt;</a:t>
            </a:r>
          </a:p>
          <a:p>
            <a:r>
              <a:rPr lang="en-US" dirty="0" smtClean="0"/>
              <a:t>&lt;p&gt;The third paragraph.&lt;/p&gt;</a:t>
            </a:r>
          </a:p>
          <a:p>
            <a:r>
              <a:rPr lang="en-US" dirty="0" smtClean="0"/>
              <a:t>&lt;p&gt;&lt;b&gt;Note:&lt;/b&gt; Internet Explorer does not support the :nth-child() selector.&lt;/p&gt;</a:t>
            </a:r>
          </a:p>
          <a:p>
            <a:r>
              <a:rPr lang="en-US" dirty="0" smtClean="0"/>
              <a:t>&lt;/body&gt;</a:t>
            </a:r>
          </a:p>
          <a:p>
            <a:r>
              <a:rPr lang="en-US" dirty="0" smtClean="0"/>
              <a:t>&lt;/html&gt;</a:t>
            </a:r>
            <a:endParaRPr lang="en-US" dirty="0"/>
          </a:p>
        </p:txBody>
      </p:sp>
      <p:sp>
        <p:nvSpPr>
          <p:cNvPr id="9" name="Round Same Side Corner Rectangle 8"/>
          <p:cNvSpPr/>
          <p:nvPr/>
        </p:nvSpPr>
        <p:spPr>
          <a:xfrm>
            <a:off x="533400" y="4724400"/>
            <a:ext cx="3597166" cy="1828800"/>
          </a:xfrm>
          <a:prstGeom prst="round2Same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SG" sz="2000" dirty="0" err="1" smtClean="0"/>
              <a:t>p:nth</a:t>
            </a:r>
            <a:r>
              <a:rPr lang="en-SG" sz="2000" dirty="0" smtClean="0"/>
              <a:t>-child(odd)</a:t>
            </a:r>
            <a:br>
              <a:rPr lang="en-SG" sz="2000" dirty="0" smtClean="0"/>
            </a:br>
            <a:r>
              <a:rPr lang="en-SG" sz="2000" dirty="0" smtClean="0"/>
              <a:t>{background:#</a:t>
            </a:r>
            <a:r>
              <a:rPr lang="en-SG" sz="2000" dirty="0" err="1" smtClean="0"/>
              <a:t>ff0000</a:t>
            </a:r>
            <a:r>
              <a:rPr lang="en-SG" sz="2000" dirty="0" smtClean="0"/>
              <a:t>;}</a:t>
            </a:r>
            <a:br>
              <a:rPr lang="en-SG" sz="2000" dirty="0" smtClean="0"/>
            </a:br>
            <a:endParaRPr lang="en-SG" sz="2000" dirty="0" smtClean="0"/>
          </a:p>
          <a:p>
            <a:r>
              <a:rPr lang="en-SG" sz="2000" dirty="0" err="1" smtClean="0"/>
              <a:t>p:nth</a:t>
            </a:r>
            <a:r>
              <a:rPr lang="en-SG" sz="2000" dirty="0" smtClean="0"/>
              <a:t>-child(even)</a:t>
            </a:r>
            <a:br>
              <a:rPr lang="en-SG" sz="2000" dirty="0" smtClean="0"/>
            </a:br>
            <a:r>
              <a:rPr lang="en-SG" sz="2000" dirty="0" smtClean="0"/>
              <a:t>{background:#</a:t>
            </a:r>
            <a:r>
              <a:rPr lang="en-SG" sz="2000" dirty="0" err="1" smtClean="0"/>
              <a:t>0000ff</a:t>
            </a:r>
            <a:r>
              <a:rPr lang="en-SG" sz="2000" dirty="0" smtClean="0"/>
              <a:t>;}</a:t>
            </a:r>
            <a:endParaRPr lang="en-US" sz="2000" dirty="0"/>
          </a:p>
        </p:txBody>
      </p:sp>
      <p:pic>
        <p:nvPicPr>
          <p:cNvPr id="3074" name="Picture 2"/>
          <p:cNvPicPr>
            <a:picLocks noChangeAspect="1" noChangeArrowheads="1"/>
          </p:cNvPicPr>
          <p:nvPr/>
        </p:nvPicPr>
        <p:blipFill>
          <a:blip r:embed="rId4" cstate="print"/>
          <a:srcRect/>
          <a:stretch>
            <a:fillRect/>
          </a:stretch>
        </p:blipFill>
        <p:spPr bwMode="auto">
          <a:xfrm>
            <a:off x="533400" y="2286000"/>
            <a:ext cx="3952875" cy="2124075"/>
          </a:xfrm>
          <a:prstGeom prst="rect">
            <a:avLst/>
          </a:prstGeom>
          <a:noFill/>
          <a:ln w="9525">
            <a:noFill/>
            <a:miter lim="800000"/>
            <a:headEnd/>
            <a:tailEnd/>
          </a:ln>
        </p:spPr>
      </p:pic>
    </p:spTree>
    <p:extLst>
      <p:ext uri="{BB962C8B-B14F-4D97-AF65-F5344CB8AC3E}">
        <p14:creationId xmlns:p14="http://schemas.microsoft.com/office/powerpoint/2010/main" val="933415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2CAF96FE-069F-4E95-9021-A70B136A67F9}">
  <ds:schemaRefs>
    <ds:schemaRef ds:uri="http://schemas.microsoft.com/office/2006/documentManagement/types"/>
    <ds:schemaRef ds:uri="http://schemas.microsoft.com/office/2006/metadata/properties"/>
    <ds:schemaRef ds:uri="http://purl.org/dc/elements/1.1/"/>
    <ds:schemaRef ds:uri="http://purl.org/dc/dcmitype/"/>
    <ds:schemaRef ds:uri="http://purl.org/dc/terms/"/>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E4A77F67-C282-4373-9A32-27375E749539}">
  <ds:schemaRefs>
    <ds:schemaRef ds:uri="http://schemas.microsoft.com/sharepoint/v3/contenttype/forms"/>
  </ds:schemaRefs>
</ds:datastoreItem>
</file>

<file path=customXml/itemProps3.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Austin</Template>
  <TotalTime>9231</TotalTime>
  <Words>4079</Words>
  <Application>Microsoft Office PowerPoint</Application>
  <PresentationFormat>On-screen Show (4:3)</PresentationFormat>
  <Paragraphs>1036</Paragraphs>
  <Slides>53</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Calibri</vt:lpstr>
      <vt:lpstr>Courier New</vt:lpstr>
      <vt:lpstr>Verdana</vt:lpstr>
      <vt:lpstr>Verdana</vt:lpstr>
      <vt:lpstr>Wingdings</vt:lpstr>
      <vt:lpstr>ppt template</vt:lpstr>
      <vt:lpstr>CSS3 Fundamentals (V5)   </vt:lpstr>
      <vt:lpstr>For CSS3 browsers support:  CSS3 is not yet a W3C standard, but all the major browsers are already supporting many of the new features. Below is a reference of all the new CSS3 properties and their browser support:  http://w3schools.com/cssref/css3_browsersupport.asp</vt:lpstr>
      <vt:lpstr>CSS3</vt:lpstr>
      <vt:lpstr>CSS3</vt:lpstr>
      <vt:lpstr>CSS3</vt:lpstr>
      <vt:lpstr>CSS3 Borders</vt:lpstr>
      <vt:lpstr>CSS3 Borders</vt:lpstr>
      <vt:lpstr>CSS3 Box  Shadow</vt:lpstr>
      <vt:lpstr>CSS3 Border Image</vt:lpstr>
      <vt:lpstr>CSS3 Box  Shadow</vt:lpstr>
      <vt:lpstr>CSS3 Background Size property</vt:lpstr>
      <vt:lpstr>CSS3 Background size</vt:lpstr>
      <vt:lpstr>CSS3 Text Effects</vt:lpstr>
      <vt:lpstr>CSS3 Text Shadows</vt:lpstr>
      <vt:lpstr>CSS3 Word Wrapping</vt:lpstr>
      <vt:lpstr>CSS3 Word Wrapping</vt:lpstr>
      <vt:lpstr>CSS3 Fonts</vt:lpstr>
      <vt:lpstr>CSS3 Fonts</vt:lpstr>
      <vt:lpstr>CSS3 Fonts</vt:lpstr>
      <vt:lpstr>CSS3 Fonts</vt:lpstr>
      <vt:lpstr>CSS3 Fonts</vt:lpstr>
      <vt:lpstr>CSS3 transform Property</vt:lpstr>
      <vt:lpstr>CSS3 Transforms : Eg. Rotate</vt:lpstr>
      <vt:lpstr>CSS3 Transforms – Translate()</vt:lpstr>
      <vt:lpstr>CSS3 2d Transforms</vt:lpstr>
      <vt:lpstr>CSS3  Transforms</vt:lpstr>
      <vt:lpstr>CSS3 Transitions</vt:lpstr>
      <vt:lpstr>CSS3 Transitions</vt:lpstr>
      <vt:lpstr>CSS3 Transitions</vt:lpstr>
      <vt:lpstr>CSS3 Transitions</vt:lpstr>
      <vt:lpstr>CSS3 Transition-delay</vt:lpstr>
      <vt:lpstr>CSS3 Transition-property</vt:lpstr>
      <vt:lpstr>CSS3 Transition-property</vt:lpstr>
      <vt:lpstr>CSS3 Transitions - Some notable examples</vt:lpstr>
      <vt:lpstr>CSS3 – More awesome examples</vt:lpstr>
      <vt:lpstr>CSS3 Animations</vt:lpstr>
      <vt:lpstr>CSS3 Animations</vt:lpstr>
      <vt:lpstr>CSS3 Animations</vt:lpstr>
      <vt:lpstr>CSS3 Animations</vt:lpstr>
      <vt:lpstr>CSS3/HTML5 Animations</vt:lpstr>
      <vt:lpstr>CSS3 Multiple Columns</vt:lpstr>
      <vt:lpstr>CSS3 Create Multiple Columns</vt:lpstr>
      <vt:lpstr>CSS3 column-count Property</vt:lpstr>
      <vt:lpstr>CSS3 column-gap Property</vt:lpstr>
      <vt:lpstr>CSS3 column-rule Property</vt:lpstr>
      <vt:lpstr>REFERENCE: Other CSS3 Multiple Column Properties</vt:lpstr>
      <vt:lpstr>Reference Slides:</vt:lpstr>
      <vt:lpstr>CSS3 User Interface</vt:lpstr>
      <vt:lpstr>CSS3 Selectors</vt:lpstr>
      <vt:lpstr>CSS3 Enabed Selector</vt:lpstr>
      <vt:lpstr>CSS3 Selection selector</vt:lpstr>
      <vt:lpstr>CSS3 Selection selector</vt:lpstr>
      <vt:lpstr>CSS3 Selection selector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tommy low</cp:lastModifiedBy>
  <cp:revision>350</cp:revision>
  <dcterms:created xsi:type="dcterms:W3CDTF">2012-03-19T05:26:54Z</dcterms:created>
  <dcterms:modified xsi:type="dcterms:W3CDTF">2018-09-28T06:48:02Z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