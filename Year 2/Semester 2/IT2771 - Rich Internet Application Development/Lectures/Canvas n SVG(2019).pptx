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tags/tag13.xml" ContentType="application/vnd.openxmlformats-officedocument.presentationml.tags+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ppt/tags/tag16.xml" ContentType="application/vnd.openxmlformats-officedocument.presentationml.tags+xml"/>
  <Override PartName="/ppt/notesSlides/notesSlide18.xml" ContentType="application/vnd.openxmlformats-officedocument.presentationml.notesSlide+xml"/>
  <Override PartName="/ppt/tags/tag17.xml" ContentType="application/vnd.openxmlformats-officedocument.presentationml.tags+xml"/>
  <Override PartName="/ppt/notesSlides/notesSlide19.xml" ContentType="application/vnd.openxmlformats-officedocument.presentationml.notesSlide+xml"/>
  <Override PartName="/ppt/tags/tag18.xml" ContentType="application/vnd.openxmlformats-officedocument.presentationml.tags+xml"/>
  <Override PartName="/ppt/notesSlides/notesSlide20.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28.xml" ContentType="application/vnd.openxmlformats-officedocument.presentationml.notesSlide+xml"/>
  <Override PartName="/ppt/tags/tag32.xml" ContentType="application/vnd.openxmlformats-officedocument.presentationml.tags+xml"/>
  <Override PartName="/ppt/notesSlides/notesSlide29.xml" ContentType="application/vnd.openxmlformats-officedocument.presentationml.notesSlide+xml"/>
  <Override PartName="/ppt/tags/tag33.xml" ContentType="application/vnd.openxmlformats-officedocument.presentationml.tags+xml"/>
  <Override PartName="/ppt/notesSlides/notesSlide30.xml" ContentType="application/vnd.openxmlformats-officedocument.presentationml.notesSlide+xml"/>
  <Override PartName="/ppt/tags/tag34.xml" ContentType="application/vnd.openxmlformats-officedocument.presentationml.tags+xml"/>
  <Override PartName="/ppt/notesSlides/notesSlide31.xml" ContentType="application/vnd.openxmlformats-officedocument.presentationml.notesSlide+xml"/>
  <Override PartName="/ppt/tags/tag35.xml" ContentType="application/vnd.openxmlformats-officedocument.presentationml.tags+xml"/>
  <Override PartName="/ppt/notesSlides/notesSlide32.xml" ContentType="application/vnd.openxmlformats-officedocument.presentationml.notesSlide+xml"/>
  <Override PartName="/ppt/tags/tag36.xml" ContentType="application/vnd.openxmlformats-officedocument.presentationml.tags+xml"/>
  <Override PartName="/ppt/notesSlides/notesSlide33.xml" ContentType="application/vnd.openxmlformats-officedocument.presentationml.notesSlide+xml"/>
  <Override PartName="/ppt/tags/tag37.xml" ContentType="application/vnd.openxmlformats-officedocument.presentationml.tags+xml"/>
  <Override PartName="/ppt/notesSlides/notesSlide34.xml" ContentType="application/vnd.openxmlformats-officedocument.presentationml.notesSlide+xml"/>
  <Override PartName="/ppt/tags/tag38.xml" ContentType="application/vnd.openxmlformats-officedocument.presentationml.tags+xml"/>
  <Override PartName="/ppt/notesSlides/notesSlide35.xml" ContentType="application/vnd.openxmlformats-officedocument.presentationml.notesSlide+xml"/>
  <Override PartName="/ppt/tags/tag39.xml" ContentType="application/vnd.openxmlformats-officedocument.presentationml.tags+xml"/>
  <Override PartName="/ppt/notesSlides/notesSlide36.xml" ContentType="application/vnd.openxmlformats-officedocument.presentationml.notesSlide+xml"/>
  <Override PartName="/ppt/tags/tag40.xml" ContentType="application/vnd.openxmlformats-officedocument.presentationml.tags+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2"/>
  </p:notesMasterIdLst>
  <p:sldIdLst>
    <p:sldId id="256" r:id="rId5"/>
    <p:sldId id="298" r:id="rId6"/>
    <p:sldId id="299" r:id="rId7"/>
    <p:sldId id="310" r:id="rId8"/>
    <p:sldId id="311" r:id="rId9"/>
    <p:sldId id="330" r:id="rId10"/>
    <p:sldId id="331" r:id="rId11"/>
    <p:sldId id="332" r:id="rId12"/>
    <p:sldId id="359" r:id="rId13"/>
    <p:sldId id="333" r:id="rId14"/>
    <p:sldId id="358" r:id="rId15"/>
    <p:sldId id="312" r:id="rId16"/>
    <p:sldId id="320" r:id="rId17"/>
    <p:sldId id="321" r:id="rId18"/>
    <p:sldId id="323" r:id="rId19"/>
    <p:sldId id="324" r:id="rId20"/>
    <p:sldId id="325" r:id="rId21"/>
    <p:sldId id="326" r:id="rId22"/>
    <p:sldId id="327" r:id="rId23"/>
    <p:sldId id="328" r:id="rId24"/>
    <p:sldId id="329" r:id="rId25"/>
    <p:sldId id="313" r:id="rId26"/>
    <p:sldId id="334" r:id="rId27"/>
    <p:sldId id="335" r:id="rId28"/>
    <p:sldId id="336" r:id="rId29"/>
    <p:sldId id="319" r:id="rId30"/>
    <p:sldId id="340" r:id="rId31"/>
    <p:sldId id="343" r:id="rId32"/>
    <p:sldId id="341" r:id="rId33"/>
    <p:sldId id="344" r:id="rId34"/>
    <p:sldId id="354" r:id="rId35"/>
    <p:sldId id="355" r:id="rId36"/>
    <p:sldId id="356" r:id="rId37"/>
    <p:sldId id="357" r:id="rId38"/>
    <p:sldId id="337" r:id="rId39"/>
    <p:sldId id="338" r:id="rId40"/>
    <p:sldId id="339" r:id="rId41"/>
    <p:sldId id="317" r:id="rId42"/>
    <p:sldId id="345" r:id="rId43"/>
    <p:sldId id="347" r:id="rId44"/>
    <p:sldId id="348" r:id="rId45"/>
    <p:sldId id="350" r:id="rId46"/>
    <p:sldId id="352" r:id="rId47"/>
    <p:sldId id="353" r:id="rId48"/>
    <p:sldId id="351" r:id="rId49"/>
    <p:sldId id="346" r:id="rId50"/>
    <p:sldId id="322" r:id="rId51"/>
  </p:sldIdLst>
  <p:sldSz cx="9144000" cy="6858000" type="screen4x3"/>
  <p:notesSz cx="6858000" cy="9144000"/>
  <p:custDataLst>
    <p:tags r:id="rId5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97" autoAdjust="0"/>
    <p:restoredTop sz="63722" autoAdjust="0"/>
  </p:normalViewPr>
  <p:slideViewPr>
    <p:cSldViewPr>
      <p:cViewPr varScale="1">
        <p:scale>
          <a:sx n="46" d="100"/>
          <a:sy n="46" d="100"/>
        </p:scale>
        <p:origin x="2070" y="-24"/>
      </p:cViewPr>
      <p:guideLst>
        <p:guide orient="horz" pos="2160"/>
        <p:guide pos="2880"/>
      </p:guideLst>
    </p:cSldViewPr>
  </p:slideViewPr>
  <p:notesTextViewPr>
    <p:cViewPr>
      <p:scale>
        <a:sx n="1" d="1"/>
        <a:sy n="1" d="1"/>
      </p:scale>
      <p:origin x="0" y="0"/>
    </p:cViewPr>
  </p:notesTextViewPr>
  <p:notesViewPr>
    <p:cSldViewPr>
      <p:cViewPr varScale="1">
        <p:scale>
          <a:sx n="88" d="100"/>
          <a:sy n="88" d="100"/>
        </p:scale>
        <p:origin x="-3870"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gs" Target="tags/tag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DB0A14-681B-4549-BB8C-4BD42BF055E8}" type="datetimeFigureOut">
              <a:rPr lang="en-US" smtClean="0"/>
              <a:pPr/>
              <a:t>10/29/2019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3B95CB-9792-46B1-8B63-E325EA9DE95B}" type="slidenum">
              <a:rPr lang="en-US" smtClean="0"/>
              <a:pPr/>
              <a:t>‹#›</a:t>
            </a:fld>
            <a:endParaRPr lang="en-US"/>
          </a:p>
        </p:txBody>
      </p:sp>
    </p:spTree>
    <p:extLst>
      <p:ext uri="{BB962C8B-B14F-4D97-AF65-F5344CB8AC3E}">
        <p14:creationId xmlns:p14="http://schemas.microsoft.com/office/powerpoint/2010/main" val="55775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raphaeljs.com/"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www.w3.org/TR/DOM-Level-2-Events/events.html#Events-EventListener"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www.highcharts.com/demo/area-basic/gray"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open up this week demo </a:t>
            </a:r>
            <a:r>
              <a:rPr lang="en-US"/>
              <a:t>folder at \HTML5_Canvas_SVG_Demo_Files  using </a:t>
            </a:r>
            <a:r>
              <a:rPr lang="en-US" dirty="0"/>
              <a:t>Visual studio 2010 .</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a:t>
            </a:fld>
            <a:endParaRPr lang="en-US"/>
          </a:p>
        </p:txBody>
      </p:sp>
    </p:spTree>
    <p:extLst>
      <p:ext uri="{BB962C8B-B14F-4D97-AF65-F5344CB8AC3E}">
        <p14:creationId xmlns:p14="http://schemas.microsoft.com/office/powerpoint/2010/main" val="71698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 005 - Canvas Basic - bluerect.htm</a:t>
            </a:r>
          </a:p>
          <a:p>
            <a:endParaRPr lang="en-US" dirty="0"/>
          </a:p>
          <a:p>
            <a:r>
              <a:rPr lang="en-US" dirty="0"/>
              <a:t>Declare your&lt;canvas&gt; element in your html5 markup, give it an ID</a:t>
            </a:r>
          </a:p>
          <a:p>
            <a:endParaRPr lang="en-US" dirty="0"/>
          </a:p>
          <a:p>
            <a:r>
              <a:rPr lang="en-US" dirty="0"/>
              <a:t>Get</a:t>
            </a:r>
            <a:r>
              <a:rPr lang="en-US" baseline="0" dirty="0"/>
              <a:t> the context of the canvas, the ID and the 2d context.</a:t>
            </a:r>
          </a:p>
          <a:p>
            <a:endParaRPr lang="en-US" baseline="0" dirty="0"/>
          </a:p>
          <a:p>
            <a:r>
              <a:rPr lang="en-US" baseline="0" dirty="0"/>
              <a:t>After that you can use </a:t>
            </a:r>
            <a:r>
              <a:rPr lang="en-US" baseline="0" dirty="0" err="1"/>
              <a:t>javascript</a:t>
            </a:r>
            <a:r>
              <a:rPr lang="en-US" baseline="0" dirty="0"/>
              <a:t> library/API to draw the rectangle in the library.</a:t>
            </a:r>
          </a:p>
          <a:p>
            <a:endParaRPr lang="en-US" baseline="0" dirty="0"/>
          </a:p>
          <a:p>
            <a:endParaRPr lang="en-US" baseline="0" dirty="0"/>
          </a:p>
          <a:p>
            <a:r>
              <a:rPr lang="en-US" baseline="0" dirty="0"/>
              <a:t>Then you can define once the document loads, you want to call the </a:t>
            </a:r>
            <a:r>
              <a:rPr lang="en-US" baseline="0" dirty="0" err="1"/>
              <a:t>init</a:t>
            </a:r>
            <a:r>
              <a:rPr lang="en-US" baseline="0" dirty="0"/>
              <a:t>() function, which will draw the rectangle on your canvas.</a:t>
            </a:r>
          </a:p>
          <a:p>
            <a:r>
              <a:rPr lang="en-US" dirty="0"/>
              <a:t>In </a:t>
            </a:r>
            <a:r>
              <a:rPr lang="en-US" dirty="0" err="1"/>
              <a:t>init</a:t>
            </a:r>
            <a:r>
              <a:rPr lang="en-US" dirty="0"/>
              <a:t>(),</a:t>
            </a:r>
            <a:r>
              <a:rPr lang="en-US" baseline="0" dirty="0"/>
              <a:t> it will receive your </a:t>
            </a:r>
            <a:r>
              <a:rPr lang="en-US" baseline="0" dirty="0" err="1"/>
              <a:t>myCanvas</a:t>
            </a:r>
            <a:r>
              <a:rPr lang="en-US" baseline="0" dirty="0"/>
              <a:t> DOM element, and get the 3d context, then after that draw the rectangle and fill with color.</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006 - Canvas Basic - OnClick.htm</a:t>
            </a:r>
          </a:p>
          <a:p>
            <a:endParaRPr lang="en-US" dirty="0"/>
          </a:p>
          <a:p>
            <a:r>
              <a:rPr lang="en-US" dirty="0"/>
              <a:t>SVG</a:t>
            </a:r>
            <a:r>
              <a:rPr lang="en-US" baseline="0" dirty="0"/>
              <a:t> will let u know every element you draw so its easy to identify where you have clicked.</a:t>
            </a:r>
          </a:p>
          <a:p>
            <a:r>
              <a:rPr lang="en-US" baseline="0" dirty="0"/>
              <a:t>CANVAS IS </a:t>
            </a:r>
            <a:r>
              <a:rPr lang="en-US" baseline="0" dirty="0" err="1"/>
              <a:t>LIKe</a:t>
            </a:r>
            <a:r>
              <a:rPr lang="en-US" baseline="0" dirty="0"/>
              <a:t> a </a:t>
            </a:r>
            <a:r>
              <a:rPr lang="en-US" baseline="0" dirty="0" err="1"/>
              <a:t>blackbox</a:t>
            </a:r>
            <a:r>
              <a:rPr lang="en-US" baseline="0" dirty="0"/>
              <a:t>, you need to use </a:t>
            </a:r>
            <a:r>
              <a:rPr lang="en-US" baseline="0" dirty="0" err="1"/>
              <a:t>javascript</a:t>
            </a:r>
            <a:r>
              <a:rPr lang="en-US" baseline="0" dirty="0"/>
              <a:t> to detect your mouse position.</a:t>
            </a:r>
          </a:p>
          <a:p>
            <a:endParaRPr lang="en-US" baseline="0" dirty="0"/>
          </a:p>
          <a:p>
            <a:r>
              <a:rPr lang="en-US" baseline="0" dirty="0"/>
              <a:t>So in this example, even if you click outside the yellow circle, the pop up will appear.</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6</a:t>
            </a:fld>
            <a:endParaRPr lang="en-US"/>
          </a:p>
        </p:txBody>
      </p:sp>
    </p:spTree>
    <p:extLst>
      <p:ext uri="{BB962C8B-B14F-4D97-AF65-F5344CB8AC3E}">
        <p14:creationId xmlns:p14="http://schemas.microsoft.com/office/powerpoint/2010/main" val="2760003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DEMO: 006 - Canvas Basic - OnClick.htm</a:t>
            </a:r>
          </a:p>
          <a:p>
            <a:endParaRPr lang="en-US" dirty="0"/>
          </a:p>
          <a:p>
            <a:r>
              <a:rPr lang="en-US" dirty="0" err="1"/>
              <a:t>Codings</a:t>
            </a:r>
            <a:r>
              <a:rPr lang="en-US" dirty="0"/>
              <a:t> for Canvas with event handler.</a:t>
            </a:r>
          </a:p>
        </p:txBody>
      </p:sp>
      <p:sp>
        <p:nvSpPr>
          <p:cNvPr id="4" name="Slide Number Placeholder 3"/>
          <p:cNvSpPr>
            <a:spLocks noGrp="1"/>
          </p:cNvSpPr>
          <p:nvPr>
            <p:ph type="sldNum" sz="quarter" idx="10"/>
          </p:nvPr>
        </p:nvSpPr>
        <p:spPr/>
        <p:txBody>
          <a:bodyPr/>
          <a:lstStyle/>
          <a:p>
            <a:fld id="{833B95CB-9792-46B1-8B63-E325EA9DE95B}" type="slidenum">
              <a:rPr lang="en-US" smtClean="0"/>
              <a:pPr/>
              <a:t>7</a:t>
            </a:fld>
            <a:endParaRPr lang="en-US"/>
          </a:p>
        </p:txBody>
      </p:sp>
    </p:spTree>
    <p:extLst>
      <p:ext uri="{BB962C8B-B14F-4D97-AF65-F5344CB8AC3E}">
        <p14:creationId xmlns:p14="http://schemas.microsoft.com/office/powerpoint/2010/main" val="3794232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833B95CB-9792-46B1-8B63-E325EA9DE95B}" type="slidenum">
              <a:rPr lang="en-US" smtClean="0"/>
              <a:pPr/>
              <a:t>8</a:t>
            </a:fld>
            <a:endParaRPr lang="en-US"/>
          </a:p>
        </p:txBody>
      </p:sp>
    </p:spTree>
    <p:extLst>
      <p:ext uri="{BB962C8B-B14F-4D97-AF65-F5344CB8AC3E}">
        <p14:creationId xmlns:p14="http://schemas.microsoft.com/office/powerpoint/2010/main" val="3794232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effects are supported / can</a:t>
            </a:r>
            <a:r>
              <a:rPr lang="en-US" baseline="0" dirty="0"/>
              <a:t> be achieved by CSS3. </a:t>
            </a:r>
          </a:p>
          <a:p>
            <a:r>
              <a:rPr lang="en-US" baseline="0" dirty="0"/>
              <a:t>Most SVG features are supported by the latest versions  of major browsers  </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9</a:t>
            </a:fld>
            <a:endParaRPr lang="en-US"/>
          </a:p>
        </p:txBody>
      </p:sp>
    </p:spTree>
    <p:extLst>
      <p:ext uri="{BB962C8B-B14F-4D97-AF65-F5344CB8AC3E}">
        <p14:creationId xmlns:p14="http://schemas.microsoft.com/office/powerpoint/2010/main" val="1378481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US" baseline="0" dirty="0"/>
          </a:p>
          <a:p>
            <a:endParaRPr lang="en-US" baseline="0" dirty="0"/>
          </a:p>
          <a:p>
            <a:r>
              <a:rPr lang="en-US" dirty="0"/>
              <a:t> </a:t>
            </a:r>
          </a:p>
        </p:txBody>
      </p:sp>
      <p:sp>
        <p:nvSpPr>
          <p:cNvPr id="4" name="Slide Number Placeholder 3"/>
          <p:cNvSpPr>
            <a:spLocks noGrp="1"/>
          </p:cNvSpPr>
          <p:nvPr>
            <p:ph type="sldNum" sz="quarter" idx="10"/>
          </p:nvPr>
        </p:nvSpPr>
        <p:spPr/>
        <p:txBody>
          <a:bodyPr/>
          <a:lstStyle/>
          <a:p>
            <a:fld id="{833B95CB-9792-46B1-8B63-E325EA9DE95B}" type="slidenum">
              <a:rPr lang="en-US" smtClean="0"/>
              <a:pPr/>
              <a:t>10</a:t>
            </a:fld>
            <a:endParaRPr lang="en-US"/>
          </a:p>
        </p:txBody>
      </p:sp>
    </p:spTree>
    <p:extLst>
      <p:ext uri="{BB962C8B-B14F-4D97-AF65-F5344CB8AC3E}">
        <p14:creationId xmlns:p14="http://schemas.microsoft.com/office/powerpoint/2010/main" val="26043919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12</a:t>
            </a:fld>
            <a:endParaRPr lang="en-US"/>
          </a:p>
        </p:txBody>
      </p:sp>
    </p:spTree>
    <p:extLst>
      <p:ext uri="{BB962C8B-B14F-4D97-AF65-F5344CB8AC3E}">
        <p14:creationId xmlns:p14="http://schemas.microsoft.com/office/powerpoint/2010/main" val="2583605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it is kept in memory, the SVG elements</a:t>
            </a:r>
            <a:r>
              <a:rPr lang="en-US" baseline="0" dirty="0"/>
              <a:t> can be accessed via DOM. This gives</a:t>
            </a:r>
          </a:p>
          <a:p>
            <a:r>
              <a:rPr lang="en-US" baseline="0" dirty="0"/>
              <a:t>Also you can style SVG elements using CSS</a:t>
            </a:r>
          </a:p>
          <a:p>
            <a:r>
              <a:rPr lang="en-US" baseline="0" dirty="0"/>
              <a:t>Aria tool is good for accessibility in SVG</a:t>
            </a:r>
          </a:p>
          <a:p>
            <a:r>
              <a:rPr lang="en-US" baseline="0" dirty="0"/>
              <a:t>Can be stored as XML definition inside SVG file, so you can use/reference it in your HTML document</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13</a:t>
            </a:fld>
            <a:endParaRPr lang="en-US"/>
          </a:p>
        </p:txBody>
      </p:sp>
    </p:spTree>
    <p:extLst>
      <p:ext uri="{BB962C8B-B14F-4D97-AF65-F5344CB8AC3E}">
        <p14:creationId xmlns:p14="http://schemas.microsoft.com/office/powerpoint/2010/main" val="4037644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rectangle</a:t>
            </a:r>
            <a:r>
              <a:rPr lang="en-US" baseline="0" dirty="0"/>
              <a:t> primitive (RECT) . To define the size (</a:t>
            </a:r>
            <a:r>
              <a:rPr lang="en-US" baseline="0" dirty="0" err="1"/>
              <a:t>px</a:t>
            </a:r>
            <a:r>
              <a:rPr lang="en-US" baseline="0" dirty="0"/>
              <a:t>) and fill type to draw it on html.</a:t>
            </a:r>
          </a:p>
          <a:p>
            <a:r>
              <a:rPr lang="en-US" dirty="0"/>
              <a:t>Place this inside the &lt;body&gt;</a:t>
            </a:r>
            <a:r>
              <a:rPr lang="en-US" baseline="0" dirty="0"/>
              <a:t> &lt;/body&gt; tag</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14</a:t>
            </a:fld>
            <a:endParaRPr lang="en-US"/>
          </a:p>
        </p:txBody>
      </p:sp>
    </p:spTree>
    <p:extLst>
      <p:ext uri="{BB962C8B-B14F-4D97-AF65-F5344CB8AC3E}">
        <p14:creationId xmlns:p14="http://schemas.microsoft.com/office/powerpoint/2010/main" val="19356717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001b - SVG Basics - RichScene.htm</a:t>
            </a:r>
          </a:p>
          <a:p>
            <a:endParaRPr lang="en-US" dirty="0"/>
          </a:p>
          <a:p>
            <a:r>
              <a:rPr lang="en-US" dirty="0"/>
              <a:t>For more complex scenes, notice that every SVG</a:t>
            </a:r>
            <a:r>
              <a:rPr lang="en-US" baseline="0" dirty="0"/>
              <a:t> path/object  path can be </a:t>
            </a:r>
            <a:r>
              <a:rPr lang="en-US" baseline="0" dirty="0" err="1"/>
              <a:t>targetted</a:t>
            </a:r>
            <a:r>
              <a:rPr lang="en-US" baseline="0" dirty="0"/>
              <a:t>.</a:t>
            </a:r>
          </a:p>
          <a:p>
            <a:r>
              <a:rPr lang="en-US" baseline="0" dirty="0"/>
              <a:t>Every graphic can be </a:t>
            </a:r>
            <a:r>
              <a:rPr lang="en-US" baseline="0" dirty="0" err="1"/>
              <a:t>targetted</a:t>
            </a:r>
            <a:r>
              <a:rPr lang="en-US" baseline="0" dirty="0"/>
              <a:t>. </a:t>
            </a:r>
          </a:p>
          <a:p>
            <a:r>
              <a:rPr lang="en-US" b="1" baseline="0" dirty="0"/>
              <a:t>Every element of the SVG tree, is alive in the DOM, so you can manipulate every element through usage of CSS, </a:t>
            </a:r>
            <a:r>
              <a:rPr lang="en-US" b="1" baseline="0" dirty="0" err="1"/>
              <a:t>Javascript</a:t>
            </a:r>
            <a:r>
              <a:rPr lang="en-US" b="1" baseline="0" dirty="0"/>
              <a:t> or APIs.</a:t>
            </a:r>
          </a:p>
          <a:p>
            <a:endParaRPr lang="en-US" baseline="0" dirty="0"/>
          </a:p>
          <a:p>
            <a:r>
              <a:rPr lang="en-US" b="1" baseline="0" dirty="0"/>
              <a:t>Also you can include text in SVG. </a:t>
            </a:r>
          </a:p>
          <a:p>
            <a:r>
              <a:rPr lang="en-US" b="1" baseline="0" dirty="0"/>
              <a:t>Do a Ctrl-F you can find the text “Text”.</a:t>
            </a:r>
          </a:p>
          <a:p>
            <a:r>
              <a:rPr lang="en-US" b="1" baseline="0" dirty="0"/>
              <a:t>These text are searchable via web crawlers such as Google search. So SEO can be incorporated into the SVG page.</a:t>
            </a:r>
          </a:p>
          <a:p>
            <a:endParaRPr lang="en-US" baseline="0" dirty="0"/>
          </a:p>
          <a:p>
            <a:r>
              <a:rPr lang="en-US" dirty="0" err="1"/>
              <a:t>Lastly,If</a:t>
            </a:r>
            <a:r>
              <a:rPr lang="en-US" dirty="0"/>
              <a:t> you zoom in, quality is not lost as its vector based</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15</a:t>
            </a:fld>
            <a:endParaRPr lang="en-US"/>
          </a:p>
        </p:txBody>
      </p:sp>
    </p:spTree>
    <p:extLst>
      <p:ext uri="{BB962C8B-B14F-4D97-AF65-F5344CB8AC3E}">
        <p14:creationId xmlns:p14="http://schemas.microsoft.com/office/powerpoint/2010/main" val="3389069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 002 - SVG Basics - svgstyling.htm</a:t>
            </a:r>
          </a:p>
          <a:p>
            <a:r>
              <a:rPr lang="en-US" dirty="0"/>
              <a:t>See code first: </a:t>
            </a:r>
          </a:p>
          <a:p>
            <a:endParaRPr lang="en-US" dirty="0"/>
          </a:p>
          <a:p>
            <a:r>
              <a:rPr lang="en-US" dirty="0"/>
              <a:t>Example of 4 different rectangles</a:t>
            </a:r>
          </a:p>
          <a:p>
            <a:r>
              <a:rPr lang="en-US" dirty="0"/>
              <a:t>1</a:t>
            </a:r>
            <a:r>
              <a:rPr lang="en-US" baseline="30000" dirty="0"/>
              <a:t>st</a:t>
            </a:r>
            <a:r>
              <a:rPr lang="en-US" baseline="0" dirty="0"/>
              <a:t> one use default color  </a:t>
            </a:r>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&lt;</a:t>
            </a:r>
            <a:r>
              <a:rPr lang="en-US" sz="1200" kern="1200" dirty="0" err="1">
                <a:solidFill>
                  <a:schemeClr val="tx1"/>
                </a:solidFill>
                <a:latin typeface="+mn-lt"/>
                <a:ea typeface="+mn-ea"/>
                <a:cs typeface="+mn-cs"/>
              </a:rPr>
              <a:t>rect</a:t>
            </a:r>
            <a:r>
              <a:rPr lang="en-US" sz="1200" kern="1200" dirty="0">
                <a:solidFill>
                  <a:schemeClr val="tx1"/>
                </a:solidFill>
                <a:latin typeface="+mn-lt"/>
                <a:ea typeface="+mn-ea"/>
                <a:cs typeface="+mn-cs"/>
              </a:rPr>
              <a:t> id="myRect1" height="100%" width="100%" &gt;</a:t>
            </a: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2</a:t>
            </a:r>
            <a:r>
              <a:rPr lang="en-US" baseline="30000" dirty="0"/>
              <a:t>nd</a:t>
            </a:r>
            <a:r>
              <a:rPr lang="en-US" baseline="0" dirty="0"/>
              <a:t> one use CSS class “</a:t>
            </a:r>
            <a:r>
              <a:rPr lang="en-US" baseline="0" dirty="0" err="1"/>
              <a:t>greenrect</a:t>
            </a:r>
            <a:r>
              <a:rPr lang="en-US" baseline="0" dirty="0"/>
              <a:t>” so it uses fill color specified in the </a:t>
            </a:r>
            <a:r>
              <a:rPr lang="en-US" baseline="0" dirty="0" err="1"/>
              <a:t>css</a:t>
            </a:r>
            <a:r>
              <a:rPr lang="en-US" baseline="0" dirty="0"/>
              <a:t> file </a:t>
            </a:r>
            <a:r>
              <a:rPr lang="en-US" sz="1200" kern="1200" dirty="0">
                <a:solidFill>
                  <a:schemeClr val="tx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&lt;</a:t>
            </a:r>
            <a:r>
              <a:rPr lang="en-US" sz="1200" kern="1200" dirty="0" err="1">
                <a:solidFill>
                  <a:schemeClr val="tx1"/>
                </a:solidFill>
                <a:latin typeface="+mn-lt"/>
                <a:ea typeface="+mn-ea"/>
                <a:cs typeface="+mn-cs"/>
              </a:rPr>
              <a:t>rect</a:t>
            </a:r>
            <a:r>
              <a:rPr lang="en-US" sz="1200" kern="1200" dirty="0">
                <a:solidFill>
                  <a:schemeClr val="tx1"/>
                </a:solidFill>
                <a:latin typeface="+mn-lt"/>
                <a:ea typeface="+mn-ea"/>
                <a:cs typeface="+mn-cs"/>
              </a:rPr>
              <a:t> id="myRect2" height="100%" width="100%" class="</a:t>
            </a:r>
            <a:r>
              <a:rPr lang="en-US" sz="1200" kern="1200" dirty="0" err="1">
                <a:solidFill>
                  <a:schemeClr val="tx1"/>
                </a:solidFill>
                <a:latin typeface="+mn-lt"/>
                <a:ea typeface="+mn-ea"/>
                <a:cs typeface="+mn-cs"/>
              </a:rPr>
              <a:t>greenrect</a:t>
            </a:r>
            <a:r>
              <a:rPr lang="en-US" sz="1200" kern="1200" dirty="0">
                <a:solidFill>
                  <a:schemeClr val="tx1"/>
                </a:solidFill>
                <a:latin typeface="+mn-lt"/>
                <a:ea typeface="+mn-ea"/>
                <a:cs typeface="+mn-cs"/>
              </a:rPr>
              <a:t>"/&gt;</a:t>
            </a:r>
          </a:p>
          <a:p>
            <a:endParaRPr lang="en-US" baseline="0" dirty="0"/>
          </a:p>
          <a:p>
            <a:r>
              <a:rPr lang="en-US" baseline="0" dirty="0"/>
              <a:t>3</a:t>
            </a:r>
            <a:r>
              <a:rPr lang="en-US" baseline="30000" dirty="0"/>
              <a:t>rd</a:t>
            </a:r>
            <a:r>
              <a:rPr lang="en-US" baseline="0" dirty="0"/>
              <a:t> one use implicit style specified in the marker tag “pink”</a:t>
            </a:r>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&lt;</a:t>
            </a:r>
            <a:r>
              <a:rPr lang="en-US" sz="1200" kern="1200" dirty="0" err="1">
                <a:solidFill>
                  <a:schemeClr val="tx1"/>
                </a:solidFill>
                <a:latin typeface="+mn-lt"/>
                <a:ea typeface="+mn-ea"/>
                <a:cs typeface="+mn-cs"/>
              </a:rPr>
              <a:t>rect</a:t>
            </a:r>
            <a:r>
              <a:rPr lang="en-US" sz="1200" kern="1200" dirty="0">
                <a:solidFill>
                  <a:schemeClr val="tx1"/>
                </a:solidFill>
                <a:latin typeface="+mn-lt"/>
                <a:ea typeface="+mn-ea"/>
                <a:cs typeface="+mn-cs"/>
              </a:rPr>
              <a:t> id="myRect3" height="100%" width="100%" style="</a:t>
            </a:r>
            <a:r>
              <a:rPr lang="en-US" sz="1200" kern="1200" dirty="0" err="1">
                <a:solidFill>
                  <a:schemeClr val="tx1"/>
                </a:solidFill>
                <a:latin typeface="+mn-lt"/>
                <a:ea typeface="+mn-ea"/>
                <a:cs typeface="+mn-cs"/>
              </a:rPr>
              <a:t>fill:pink</a:t>
            </a:r>
            <a:r>
              <a:rPr lang="en-US" sz="1200" kern="1200" dirty="0">
                <a:solidFill>
                  <a:schemeClr val="tx1"/>
                </a:solidFill>
                <a:latin typeface="+mn-lt"/>
                <a:ea typeface="+mn-ea"/>
                <a:cs typeface="+mn-cs"/>
              </a:rPr>
              <a:t>"/&gt; </a:t>
            </a:r>
            <a:endParaRPr lang="en-US" baseline="0" dirty="0"/>
          </a:p>
          <a:p>
            <a:endParaRPr lang="en-US" baseline="0" dirty="0"/>
          </a:p>
          <a:p>
            <a:r>
              <a:rPr lang="en-US" baseline="0" dirty="0"/>
              <a:t>4</a:t>
            </a:r>
            <a:r>
              <a:rPr lang="en-US" baseline="30000" dirty="0"/>
              <a:t>th</a:t>
            </a:r>
            <a:r>
              <a:rPr lang="en-US" baseline="0" dirty="0"/>
              <a:t> one uses fill property.</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 &lt;</a:t>
            </a:r>
            <a:r>
              <a:rPr lang="en-US" sz="1200" kern="1200" dirty="0" err="1">
                <a:solidFill>
                  <a:schemeClr val="tx1"/>
                </a:solidFill>
                <a:latin typeface="+mn-lt"/>
                <a:ea typeface="+mn-ea"/>
                <a:cs typeface="+mn-cs"/>
              </a:rPr>
              <a:t>rect</a:t>
            </a:r>
            <a:r>
              <a:rPr lang="en-US" sz="1200" kern="1200" dirty="0">
                <a:solidFill>
                  <a:schemeClr val="tx1"/>
                </a:solidFill>
                <a:latin typeface="+mn-lt"/>
                <a:ea typeface="+mn-ea"/>
                <a:cs typeface="+mn-cs"/>
              </a:rPr>
              <a:t> id="myRect4" height="100%" width="100%" fill="red"/&gt;</a:t>
            </a:r>
          </a:p>
          <a:p>
            <a:endParaRPr lang="en-US" baseline="0" dirty="0"/>
          </a:p>
          <a:p>
            <a:endParaRPr lang="en-US" baseline="0" dirty="0"/>
          </a:p>
          <a:p>
            <a:r>
              <a:rPr lang="en-US" baseline="0" dirty="0"/>
              <a:t>Looking at </a:t>
            </a:r>
            <a:r>
              <a:rPr lang="en-US" baseline="0" dirty="0" err="1"/>
              <a:t>css</a:t>
            </a:r>
            <a:r>
              <a:rPr lang="en-US" baseline="0" dirty="0"/>
              <a:t> on top:</a:t>
            </a:r>
          </a:p>
          <a:p>
            <a:r>
              <a:rPr lang="en-US" sz="1200" kern="1200" dirty="0">
                <a:solidFill>
                  <a:schemeClr val="tx1"/>
                </a:solidFill>
                <a:latin typeface="+mn-lt"/>
                <a:ea typeface="+mn-ea"/>
                <a:cs typeface="+mn-cs"/>
              </a:rPr>
              <a:t> &lt;style type="text/</a:t>
            </a:r>
            <a:r>
              <a:rPr lang="en-US" sz="1200" kern="1200" dirty="0" err="1">
                <a:solidFill>
                  <a:schemeClr val="tx1"/>
                </a:solidFill>
                <a:latin typeface="+mn-lt"/>
                <a:ea typeface="+mn-ea"/>
                <a:cs typeface="+mn-cs"/>
              </a:rPr>
              <a:t>css</a:t>
            </a:r>
            <a:r>
              <a:rPr lang="en-US" sz="1200" kern="1200" dirty="0">
                <a:solidFill>
                  <a:schemeClr val="tx1"/>
                </a:solidFill>
                <a:latin typeface="+mn-lt"/>
                <a:ea typeface="+mn-ea"/>
                <a:cs typeface="+mn-cs"/>
              </a:rPr>
              <a:t>" media="screen"&gt;</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rect.greenrect</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fill:green</a:t>
            </a:r>
            <a:r>
              <a:rPr lang="en-US" sz="1200" kern="1200" dirty="0">
                <a:solidFill>
                  <a:schemeClr val="tx1"/>
                </a:solidFill>
                <a:latin typeface="+mn-lt"/>
                <a:ea typeface="+mn-ea"/>
                <a:cs typeface="+mn-cs"/>
              </a:rPr>
              <a:t>;}</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rect:hover</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fill:yellow</a:t>
            </a:r>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&lt;/style&gt;</a:t>
            </a:r>
          </a:p>
          <a:p>
            <a:endParaRPr lang="en-US" baseline="0" dirty="0"/>
          </a:p>
          <a:p>
            <a:r>
              <a:rPr lang="en-US" baseline="0" dirty="0"/>
              <a:t>Class </a:t>
            </a:r>
            <a:r>
              <a:rPr lang="en-US" baseline="0" dirty="0" err="1"/>
              <a:t>Greenrect</a:t>
            </a:r>
            <a:r>
              <a:rPr lang="en-US" baseline="0" dirty="0"/>
              <a:t> fills green color</a:t>
            </a:r>
          </a:p>
          <a:p>
            <a:r>
              <a:rPr lang="en-US" baseline="0" dirty="0"/>
              <a:t>Hovering the rectangle, fill yellow color</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16</a:t>
            </a:fld>
            <a:endParaRPr lang="en-US"/>
          </a:p>
        </p:txBody>
      </p:sp>
    </p:spTree>
    <p:extLst>
      <p:ext uri="{BB962C8B-B14F-4D97-AF65-F5344CB8AC3E}">
        <p14:creationId xmlns:p14="http://schemas.microsoft.com/office/powerpoint/2010/main" val="6225596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 002 - SVG Basics - svgstyling.htm</a:t>
            </a:r>
          </a:p>
        </p:txBody>
      </p:sp>
      <p:sp>
        <p:nvSpPr>
          <p:cNvPr id="4" name="Slide Number Placeholder 3"/>
          <p:cNvSpPr>
            <a:spLocks noGrp="1"/>
          </p:cNvSpPr>
          <p:nvPr>
            <p:ph type="sldNum" sz="quarter" idx="10"/>
          </p:nvPr>
        </p:nvSpPr>
        <p:spPr/>
        <p:txBody>
          <a:bodyPr/>
          <a:lstStyle/>
          <a:p>
            <a:fld id="{833B95CB-9792-46B1-8B63-E325EA9DE95B}" type="slidenum">
              <a:rPr lang="en-US" smtClean="0"/>
              <a:pPr/>
              <a:t>17</a:t>
            </a:fld>
            <a:endParaRPr lang="en-US"/>
          </a:p>
        </p:txBody>
      </p:sp>
    </p:spTree>
    <p:extLst>
      <p:ext uri="{BB962C8B-B14F-4D97-AF65-F5344CB8AC3E}">
        <p14:creationId xmlns:p14="http://schemas.microsoft.com/office/powerpoint/2010/main" val="39836652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Primitive Circle</a:t>
            </a:r>
            <a:r>
              <a:rPr lang="en-US" baseline="0" dirty="0"/>
              <a:t> is drawn in the </a:t>
            </a:r>
            <a:r>
              <a:rPr lang="en-US" baseline="0" dirty="0" err="1"/>
              <a:t>svg</a:t>
            </a:r>
            <a:r>
              <a:rPr lang="en-US" baseline="0" dirty="0"/>
              <a:t> here.</a:t>
            </a:r>
          </a:p>
          <a:p>
            <a:r>
              <a:rPr lang="en-US" baseline="0" dirty="0"/>
              <a:t>IS </a:t>
            </a:r>
            <a:r>
              <a:rPr lang="en-US" baseline="0" dirty="0" err="1"/>
              <a:t>is</a:t>
            </a:r>
            <a:r>
              <a:rPr lang="en-US" baseline="0" dirty="0"/>
              <a:t> named the DOM id </a:t>
            </a:r>
            <a:r>
              <a:rPr lang="en-US" baseline="0" dirty="0" err="1"/>
              <a:t>uIElement</a:t>
            </a:r>
            <a:r>
              <a:rPr lang="en-US" baseline="0" dirty="0"/>
              <a:t> and assigned the </a:t>
            </a:r>
            <a:r>
              <a:rPr lang="en-US" baseline="0" dirty="0" err="1"/>
              <a:t>onclick</a:t>
            </a:r>
            <a:r>
              <a:rPr lang="en-US" baseline="0" dirty="0"/>
              <a:t> event handler.</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So upon clicking inside circle, </a:t>
            </a:r>
            <a:r>
              <a:rPr lang="en-US" baseline="0" dirty="0" err="1"/>
              <a:t>messagebox</a:t>
            </a:r>
            <a:r>
              <a:rPr lang="en-US" baseline="0" dirty="0"/>
              <a:t> is displayed.</a:t>
            </a:r>
            <a:endParaRPr lang="en-US" dirty="0"/>
          </a:p>
          <a:p>
            <a:endParaRPr lang="en-US" baseline="0" dirty="0"/>
          </a:p>
          <a:p>
            <a:r>
              <a:rPr lang="en-US" baseline="0" dirty="0"/>
              <a:t>Click outside circle – no events raised.</a:t>
            </a:r>
          </a:p>
          <a:p>
            <a:r>
              <a:rPr lang="en-US" baseline="0" dirty="0"/>
              <a:t>Click in circle – event is raised.</a:t>
            </a:r>
          </a:p>
        </p:txBody>
      </p:sp>
      <p:sp>
        <p:nvSpPr>
          <p:cNvPr id="4" name="Slide Number Placeholder 3"/>
          <p:cNvSpPr>
            <a:spLocks noGrp="1"/>
          </p:cNvSpPr>
          <p:nvPr>
            <p:ph type="sldNum" sz="quarter" idx="10"/>
          </p:nvPr>
        </p:nvSpPr>
        <p:spPr/>
        <p:txBody>
          <a:bodyPr/>
          <a:lstStyle/>
          <a:p>
            <a:fld id="{833B95CB-9792-46B1-8B63-E325EA9DE95B}" type="slidenum">
              <a:rPr lang="en-US" smtClean="0"/>
              <a:pPr/>
              <a:t>18</a:t>
            </a:fld>
            <a:endParaRPr lang="en-US"/>
          </a:p>
        </p:txBody>
      </p:sp>
    </p:spTree>
    <p:extLst>
      <p:ext uri="{BB962C8B-B14F-4D97-AF65-F5344CB8AC3E}">
        <p14:creationId xmlns:p14="http://schemas.microsoft.com/office/powerpoint/2010/main" val="2206600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Primitive Circle</a:t>
            </a:r>
            <a:r>
              <a:rPr lang="en-US" baseline="0" dirty="0"/>
              <a:t> is drawn in the </a:t>
            </a:r>
            <a:r>
              <a:rPr lang="en-US" baseline="0" dirty="0" err="1"/>
              <a:t>svg</a:t>
            </a:r>
            <a:r>
              <a:rPr lang="en-US" baseline="0" dirty="0"/>
              <a:t> here.</a:t>
            </a:r>
          </a:p>
          <a:p>
            <a:r>
              <a:rPr lang="en-US" baseline="0" dirty="0"/>
              <a:t>IS </a:t>
            </a:r>
            <a:r>
              <a:rPr lang="en-US" baseline="0" dirty="0" err="1"/>
              <a:t>is</a:t>
            </a:r>
            <a:r>
              <a:rPr lang="en-US" baseline="0" dirty="0"/>
              <a:t> named the DOM id </a:t>
            </a:r>
            <a:r>
              <a:rPr lang="en-US" baseline="0" dirty="0" err="1"/>
              <a:t>uIElement</a:t>
            </a:r>
            <a:r>
              <a:rPr lang="en-US" baseline="0" dirty="0"/>
              <a:t> and assigned the </a:t>
            </a:r>
            <a:r>
              <a:rPr lang="en-US" baseline="0" dirty="0" err="1"/>
              <a:t>onclick</a:t>
            </a:r>
            <a:r>
              <a:rPr lang="en-US" baseline="0" dirty="0"/>
              <a:t> event handler.</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So upon clicking inside circle, </a:t>
            </a:r>
            <a:r>
              <a:rPr lang="en-US" baseline="0" dirty="0" err="1"/>
              <a:t>messagebox</a:t>
            </a:r>
            <a:r>
              <a:rPr lang="en-US" baseline="0" dirty="0"/>
              <a:t> is displayed.</a:t>
            </a:r>
            <a:endParaRPr lang="en-US" dirty="0"/>
          </a:p>
          <a:p>
            <a:endParaRPr lang="en-US" baseline="0" dirty="0"/>
          </a:p>
          <a:p>
            <a:r>
              <a:rPr lang="en-US" baseline="0" dirty="0"/>
              <a:t>Click outside circle – no events raised.</a:t>
            </a:r>
          </a:p>
          <a:p>
            <a:r>
              <a:rPr lang="en-US" baseline="0" dirty="0"/>
              <a:t>Click in circle – event is raised.</a:t>
            </a:r>
          </a:p>
        </p:txBody>
      </p:sp>
      <p:sp>
        <p:nvSpPr>
          <p:cNvPr id="4" name="Slide Number Placeholder 3"/>
          <p:cNvSpPr>
            <a:spLocks noGrp="1"/>
          </p:cNvSpPr>
          <p:nvPr>
            <p:ph type="sldNum" sz="quarter" idx="10"/>
          </p:nvPr>
        </p:nvSpPr>
        <p:spPr/>
        <p:txBody>
          <a:bodyPr/>
          <a:lstStyle/>
          <a:p>
            <a:fld id="{833B95CB-9792-46B1-8B63-E325EA9DE95B}" type="slidenum">
              <a:rPr lang="en-US" smtClean="0"/>
              <a:pPr/>
              <a:t>19</a:t>
            </a:fld>
            <a:endParaRPr lang="en-US"/>
          </a:p>
        </p:txBody>
      </p:sp>
    </p:spTree>
    <p:extLst>
      <p:ext uri="{BB962C8B-B14F-4D97-AF65-F5344CB8AC3E}">
        <p14:creationId xmlns:p14="http://schemas.microsoft.com/office/powerpoint/2010/main" val="22066008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 004 - SVG Basics - svginteractivity.htm</a:t>
            </a:r>
          </a:p>
          <a:p>
            <a:endParaRPr lang="en-US" dirty="0"/>
          </a:p>
          <a:p>
            <a:r>
              <a:rPr lang="en-US" dirty="0" err="1"/>
              <a:t>Eg</a:t>
            </a:r>
            <a:r>
              <a:rPr lang="en-US" dirty="0"/>
              <a:t>. Combing the events and styling, </a:t>
            </a:r>
          </a:p>
          <a:p>
            <a:r>
              <a:rPr lang="en-US" dirty="0"/>
              <a:t>For</a:t>
            </a:r>
            <a:r>
              <a:rPr lang="en-US" baseline="0" dirty="0"/>
              <a:t> </a:t>
            </a:r>
            <a:r>
              <a:rPr lang="en-US" baseline="0" dirty="0" err="1"/>
              <a:t>eg</a:t>
            </a:r>
            <a:r>
              <a:rPr lang="en-US" baseline="0" dirty="0"/>
              <a:t> you need to know which.</a:t>
            </a:r>
          </a:p>
          <a:p>
            <a:endParaRPr lang="en-US" baseline="0"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20</a:t>
            </a:fld>
            <a:endParaRPr lang="en-US"/>
          </a:p>
        </p:txBody>
      </p:sp>
    </p:spTree>
    <p:extLst>
      <p:ext uri="{BB962C8B-B14F-4D97-AF65-F5344CB8AC3E}">
        <p14:creationId xmlns:p14="http://schemas.microsoft.com/office/powerpoint/2010/main" val="3817295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(Coding)</a:t>
            </a:r>
            <a:r>
              <a:rPr lang="en-US" baseline="0" dirty="0"/>
              <a:t> </a:t>
            </a:r>
            <a:r>
              <a:rPr lang="en-US" dirty="0"/>
              <a:t> : 004 </a:t>
            </a:r>
          </a:p>
          <a:p>
            <a:endParaRPr lang="en-US" dirty="0"/>
          </a:p>
          <a:p>
            <a:pPr marL="171450" indent="-171450">
              <a:buFontTx/>
              <a:buChar char="-"/>
            </a:pPr>
            <a:r>
              <a:rPr lang="en-US" dirty="0"/>
              <a:t>SVG  Basics - svginteractivity.htm  </a:t>
            </a:r>
          </a:p>
          <a:p>
            <a:pPr marL="171450" indent="-171450">
              <a:buFontTx/>
              <a:buChar char="-"/>
            </a:pPr>
            <a:endParaRPr lang="en-US" dirty="0"/>
          </a:p>
          <a:p>
            <a:pPr marL="171450" indent="-171450">
              <a:buFontTx/>
              <a:buChar char="-"/>
            </a:pPr>
            <a:endParaRPr lang="en-US" dirty="0"/>
          </a:p>
          <a:p>
            <a:r>
              <a:rPr lang="en-US" baseline="0" dirty="0"/>
              <a:t>The maps drawn on &lt;</a:t>
            </a:r>
            <a:r>
              <a:rPr lang="en-US" baseline="0" dirty="0" err="1"/>
              <a:t>Svg</a:t>
            </a:r>
            <a:r>
              <a:rPr lang="en-US" baseline="0" dirty="0"/>
              <a:t>&gt;, which contains several areas of complex paths &lt;path&gt; which can be generated by tools shown later.  </a:t>
            </a:r>
          </a:p>
          <a:p>
            <a:r>
              <a:rPr lang="pl-PL" sz="1200" kern="1200" dirty="0">
                <a:solidFill>
                  <a:schemeClr val="tx1"/>
                </a:solidFill>
                <a:latin typeface="+mn-lt"/>
                <a:ea typeface="+mn-ea"/>
                <a:cs typeface="+mn-cs"/>
              </a:rPr>
              <a:t> d="m 233.08751,519.30948 1.93993,-3.55655 2.26326,-0.32332 </a:t>
            </a:r>
            <a:r>
              <a:rPr lang="en-US" sz="1200" kern="1200" dirty="0">
                <a:solidFill>
                  <a:schemeClr val="tx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d="m 158.07671,453.67502 -0.32332,85.35713 1.6166,0.96996 3.071…..</a:t>
            </a:r>
          </a:p>
          <a:p>
            <a:endParaRPr lang="pl-PL" sz="1200" kern="1200" dirty="0">
              <a:solidFill>
                <a:schemeClr val="tx1"/>
              </a:solidFill>
              <a:latin typeface="+mn-lt"/>
              <a:ea typeface="+mn-ea"/>
              <a:cs typeface="+mn-cs"/>
            </a:endParaRPr>
          </a:p>
          <a:p>
            <a:r>
              <a:rPr lang="en-US" sz="1200" kern="1200" dirty="0">
                <a:solidFill>
                  <a:schemeClr val="tx1"/>
                </a:solidFill>
                <a:latin typeface="+mn-lt"/>
                <a:ea typeface="+mn-ea"/>
                <a:cs typeface="+mn-cs"/>
              </a:rPr>
              <a:t>                </a:t>
            </a:r>
            <a:endParaRPr lang="en-US" baseline="0" dirty="0"/>
          </a:p>
          <a:p>
            <a:r>
              <a:rPr lang="en-US" dirty="0"/>
              <a:t>Then register</a:t>
            </a:r>
            <a:r>
              <a:rPr lang="en-US" baseline="0" dirty="0"/>
              <a:t> each &lt;path&gt; area with</a:t>
            </a:r>
            <a:r>
              <a:rPr lang="en-US" dirty="0"/>
              <a:t> some event handler, which will creates the popup alert</a:t>
            </a:r>
            <a:r>
              <a:rPr lang="en-US" baseline="0" dirty="0"/>
              <a:t> </a:t>
            </a:r>
          </a:p>
          <a:p>
            <a:r>
              <a:rPr lang="en-US" sz="1200" kern="1200" baseline="0" dirty="0">
                <a:solidFill>
                  <a:schemeClr val="tx1"/>
                </a:solidFill>
                <a:latin typeface="+mn-lt"/>
                <a:ea typeface="+mn-ea"/>
                <a:cs typeface="+mn-cs"/>
              </a:rPr>
              <a:t> </a:t>
            </a:r>
            <a:r>
              <a:rPr lang="en-US" sz="1200" kern="1200" dirty="0">
                <a:solidFill>
                  <a:schemeClr val="tx1"/>
                </a:solidFill>
                <a:latin typeface="+mn-lt"/>
                <a:ea typeface="+mn-ea"/>
                <a:cs typeface="+mn-cs"/>
              </a:rPr>
              <a:t>&lt;path fill="blue" </a:t>
            </a:r>
            <a:r>
              <a:rPr lang="en-US" sz="1200" kern="1200" dirty="0" err="1">
                <a:solidFill>
                  <a:schemeClr val="tx1"/>
                </a:solidFill>
                <a:latin typeface="+mn-lt"/>
                <a:ea typeface="+mn-ea"/>
                <a:cs typeface="+mn-cs"/>
              </a:rPr>
              <a:t>onmousedown</a:t>
            </a:r>
            <a:r>
              <a:rPr lang="en-US" sz="1200" kern="1200" dirty="0">
                <a:solidFill>
                  <a:schemeClr val="tx1"/>
                </a:solidFill>
                <a:latin typeface="+mn-lt"/>
                <a:ea typeface="+mn-ea"/>
                <a:cs typeface="+mn-cs"/>
              </a:rPr>
              <a:t>="alert('I am Hawaii');"  </a:t>
            </a:r>
          </a:p>
          <a:p>
            <a:r>
              <a:rPr lang="en-US" sz="1200" kern="1200" dirty="0">
                <a:solidFill>
                  <a:schemeClr val="tx1"/>
                </a:solidFill>
                <a:latin typeface="+mn-lt"/>
                <a:ea typeface="+mn-ea"/>
                <a:cs typeface="+mn-cs"/>
              </a:rPr>
              <a:t> &lt;path fill="red" </a:t>
            </a:r>
            <a:r>
              <a:rPr lang="en-US" sz="1200" kern="1200" dirty="0" err="1">
                <a:solidFill>
                  <a:schemeClr val="tx1"/>
                </a:solidFill>
                <a:latin typeface="+mn-lt"/>
                <a:ea typeface="+mn-ea"/>
                <a:cs typeface="+mn-cs"/>
              </a:rPr>
              <a:t>onmousedown</a:t>
            </a:r>
            <a:r>
              <a:rPr lang="en-US" sz="1200" kern="1200" dirty="0">
                <a:solidFill>
                  <a:schemeClr val="tx1"/>
                </a:solidFill>
                <a:latin typeface="+mn-lt"/>
                <a:ea typeface="+mn-ea"/>
                <a:cs typeface="+mn-cs"/>
              </a:rPr>
              <a:t>="alert('I am Alaska');"   </a:t>
            </a:r>
          </a:p>
          <a:p>
            <a:endParaRPr lang="en-US" sz="1200" kern="120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and the CSS hover property</a:t>
            </a:r>
            <a:r>
              <a:rPr lang="en-US" baseline="0" dirty="0"/>
              <a:t> will help create the </a:t>
            </a:r>
            <a:r>
              <a:rPr lang="en-US" baseline="0" dirty="0" err="1"/>
              <a:t>mouseover</a:t>
            </a:r>
            <a:r>
              <a:rPr lang="en-US" baseline="0" dirty="0"/>
              <a:t> effect. (Change to yellow)</a:t>
            </a:r>
            <a:endParaRPr lang="en-US" dirty="0"/>
          </a:p>
          <a:p>
            <a:r>
              <a:rPr lang="en-US" sz="1200" kern="1200" dirty="0">
                <a:solidFill>
                  <a:schemeClr val="tx1"/>
                </a:solidFill>
                <a:latin typeface="+mn-lt"/>
                <a:ea typeface="+mn-ea"/>
                <a:cs typeface="+mn-cs"/>
              </a:rPr>
              <a:t> &lt;style type="text/</a:t>
            </a:r>
            <a:r>
              <a:rPr lang="en-US" sz="1200" kern="1200" dirty="0" err="1">
                <a:solidFill>
                  <a:schemeClr val="tx1"/>
                </a:solidFill>
                <a:latin typeface="+mn-lt"/>
                <a:ea typeface="+mn-ea"/>
                <a:cs typeface="+mn-cs"/>
              </a:rPr>
              <a:t>css</a:t>
            </a:r>
            <a:r>
              <a:rPr lang="en-US" sz="1200" kern="1200" dirty="0">
                <a:solidFill>
                  <a:schemeClr val="tx1"/>
                </a:solidFill>
                <a:latin typeface="+mn-lt"/>
                <a:ea typeface="+mn-ea"/>
                <a:cs typeface="+mn-cs"/>
              </a:rPr>
              <a:t>" media="screen"&gt;</a:t>
            </a:r>
          </a:p>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path:hover</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fill:yellow</a:t>
            </a:r>
            <a:r>
              <a:rPr lang="en-US" sz="1200" kern="1200" dirty="0">
                <a:solidFill>
                  <a:schemeClr val="tx1"/>
                </a:solidFill>
                <a:latin typeface="+mn-lt"/>
                <a:ea typeface="+mn-ea"/>
                <a:cs typeface="+mn-cs"/>
              </a:rPr>
              <a:t>;} </a:t>
            </a:r>
          </a:p>
          <a:p>
            <a:r>
              <a:rPr lang="en-US" sz="1200" kern="1200" dirty="0">
                <a:solidFill>
                  <a:schemeClr val="tx1"/>
                </a:solidFill>
                <a:latin typeface="+mn-lt"/>
                <a:ea typeface="+mn-ea"/>
                <a:cs typeface="+mn-cs"/>
              </a:rPr>
              <a:t>        &lt;/style&gt;</a:t>
            </a:r>
          </a:p>
          <a:p>
            <a:endParaRPr lang="en-US" sz="1200" kern="1200" dirty="0">
              <a:solidFill>
                <a:schemeClr val="tx1"/>
              </a:solidFill>
              <a:latin typeface="+mn-lt"/>
              <a:ea typeface="+mn-ea"/>
              <a:cs typeface="+mn-cs"/>
            </a:endParaRPr>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21</a:t>
            </a:fld>
            <a:endParaRPr lang="en-US"/>
          </a:p>
        </p:txBody>
      </p:sp>
    </p:spTree>
    <p:extLst>
      <p:ext uri="{BB962C8B-B14F-4D97-AF65-F5344CB8AC3E}">
        <p14:creationId xmlns:p14="http://schemas.microsoft.com/office/powerpoint/2010/main" val="3954734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dirty="0"/>
              <a:t>Using</a:t>
            </a:r>
            <a:r>
              <a:rPr lang="en-US" baseline="0" dirty="0"/>
              <a:t> vector, good for complex diagrams need to be zoomed in.</a:t>
            </a:r>
          </a:p>
          <a:p>
            <a:pPr marL="171450" indent="-171450">
              <a:buFont typeface="Arial" pitchFamily="34" charset="0"/>
              <a:buChar char="•"/>
            </a:pPr>
            <a:r>
              <a:rPr lang="en-US" baseline="0" dirty="0"/>
              <a:t>Keep rendering at client side, Good for graphs and charts, maps,</a:t>
            </a:r>
          </a:p>
          <a:p>
            <a:pPr marL="171450" indent="-171450">
              <a:buFont typeface="Arial" pitchFamily="34" charset="0"/>
              <a:buChar char="•"/>
            </a:pPr>
            <a:r>
              <a:rPr lang="en-US" baseline="0" dirty="0" err="1"/>
              <a:t>Eg</a:t>
            </a:r>
            <a:r>
              <a:rPr lang="en-US" baseline="0" dirty="0"/>
              <a:t>. Rather than reading images from server side.</a:t>
            </a:r>
          </a:p>
          <a:p>
            <a:pPr marL="171450" indent="-171450">
              <a:buFont typeface="Arial" pitchFamily="34" charset="0"/>
              <a:buChar char="•"/>
            </a:pPr>
            <a:endParaRPr lang="en-US" baseline="0" dirty="0"/>
          </a:p>
          <a:p>
            <a:pPr marL="171450" indent="-171450">
              <a:buFont typeface="Arial" pitchFamily="34" charset="0"/>
              <a:buChar char="•"/>
            </a:pPr>
            <a:r>
              <a:rPr lang="en-US" baseline="0" dirty="0"/>
              <a:t>Supports user interactivity such as charts with values, etc.</a:t>
            </a:r>
          </a:p>
          <a:p>
            <a:pPr marL="171450" indent="-171450">
              <a:buFont typeface="Arial" pitchFamily="34" charset="0"/>
              <a:buChar char="•"/>
            </a:pPr>
            <a:endParaRPr lang="en-US" baseline="0" dirty="0"/>
          </a:p>
          <a:p>
            <a:pPr marL="171450" indent="-171450">
              <a:buFont typeface="Arial" pitchFamily="34" charset="0"/>
              <a:buChar char="•"/>
            </a:pPr>
            <a:r>
              <a:rPr lang="en-US" baseline="0" dirty="0"/>
              <a:t>Media and Graphics – smaller size using vector based drawing.  Can apply CSS and interactivity to graphics with </a:t>
            </a:r>
            <a:r>
              <a:rPr lang="en-US" baseline="0" dirty="0" err="1"/>
              <a:t>javascript</a:t>
            </a:r>
            <a:endParaRPr lang="en-US" baseline="0" dirty="0"/>
          </a:p>
          <a:p>
            <a:pPr marL="171450" indent="-171450">
              <a:buFont typeface="Arial" pitchFamily="34" charset="0"/>
              <a:buChar char="•"/>
            </a:pPr>
            <a:endParaRPr lang="en-US" baseline="0" dirty="0"/>
          </a:p>
          <a:p>
            <a:pPr marL="171450" indent="-171450">
              <a:buFont typeface="Arial" pitchFamily="34" charset="0"/>
              <a:buChar char="•"/>
            </a:pPr>
            <a:endParaRPr lang="en-US" baseline="0" dirty="0"/>
          </a:p>
          <a:p>
            <a:pPr marL="171450" indent="-171450">
              <a:buFont typeface="Arial" pitchFamily="34" charset="0"/>
              <a:buChar char="•"/>
            </a:pPr>
            <a:endParaRPr lang="en-US" baseline="0" dirty="0"/>
          </a:p>
          <a:p>
            <a:endParaRPr lang="en-US" baseline="0" dirty="0"/>
          </a:p>
          <a:p>
            <a:endParaRPr lang="en-US" baseline="0" dirty="0"/>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23</a:t>
            </a:fld>
            <a:endParaRPr lang="en-US"/>
          </a:p>
        </p:txBody>
      </p:sp>
    </p:spTree>
    <p:extLst>
      <p:ext uri="{BB962C8B-B14F-4D97-AF65-F5344CB8AC3E}">
        <p14:creationId xmlns:p14="http://schemas.microsoft.com/office/powerpoint/2010/main" val="16466123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Gaming usually better with Canvas, but some </a:t>
            </a:r>
            <a:r>
              <a:rPr lang="en-US" dirty="0" err="1"/>
              <a:t>scenerios</a:t>
            </a:r>
            <a:r>
              <a:rPr lang="en-US" dirty="0"/>
              <a:t> SVG works too.</a:t>
            </a:r>
          </a:p>
          <a:p>
            <a:endParaRPr lang="en-US" dirty="0"/>
          </a:p>
          <a:p>
            <a:r>
              <a:rPr lang="en-US" dirty="0"/>
              <a:t>Better for Search Engine Optimization are text can be embedded</a:t>
            </a:r>
            <a:r>
              <a:rPr lang="en-US" baseline="0" dirty="0"/>
              <a:t> through SVG</a:t>
            </a:r>
            <a:r>
              <a:rPr lang="en-US" dirty="0"/>
              <a:t>.</a:t>
            </a:r>
          </a:p>
        </p:txBody>
      </p:sp>
      <p:sp>
        <p:nvSpPr>
          <p:cNvPr id="4" name="Slide Number Placeholder 3"/>
          <p:cNvSpPr>
            <a:spLocks noGrp="1"/>
          </p:cNvSpPr>
          <p:nvPr>
            <p:ph type="sldNum" sz="quarter" idx="10"/>
          </p:nvPr>
        </p:nvSpPr>
        <p:spPr/>
        <p:txBody>
          <a:bodyPr/>
          <a:lstStyle/>
          <a:p>
            <a:fld id="{833B95CB-9792-46B1-8B63-E325EA9DE95B}" type="slidenum">
              <a:rPr lang="en-US" smtClean="0"/>
              <a:pPr/>
              <a:t>24</a:t>
            </a:fld>
            <a:endParaRPr lang="en-US"/>
          </a:p>
        </p:txBody>
      </p:sp>
    </p:spTree>
    <p:extLst>
      <p:ext uri="{BB962C8B-B14F-4D97-AF65-F5344CB8AC3E}">
        <p14:creationId xmlns:p14="http://schemas.microsoft.com/office/powerpoint/2010/main" val="13212689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KeySVGScenarios.aspx</a:t>
            </a:r>
          </a:p>
          <a:p>
            <a:endParaRPr lang="en-US" dirty="0"/>
          </a:p>
          <a:p>
            <a:r>
              <a:rPr lang="en-US" dirty="0"/>
              <a:t>1. Bing Map - MAP</a:t>
            </a:r>
            <a:r>
              <a:rPr lang="en-US" baseline="0" dirty="0"/>
              <a:t> and overlay.  Zoom in, no loss of quality</a:t>
            </a:r>
          </a:p>
          <a:p>
            <a:endParaRPr lang="en-US" baseline="0" dirty="0"/>
          </a:p>
          <a:p>
            <a:r>
              <a:rPr lang="en-US" baseline="0" dirty="0"/>
              <a:t>2. Complex Document –  Zoom in for no loss of quality</a:t>
            </a:r>
          </a:p>
          <a:p>
            <a:endParaRPr lang="en-US" baseline="0" dirty="0"/>
          </a:p>
          <a:p>
            <a:r>
              <a:rPr lang="en-US" baseline="0" dirty="0"/>
              <a:t>3. Animation and Charting with </a:t>
            </a:r>
            <a:r>
              <a:rPr lang="en-US" baseline="0" dirty="0" err="1"/>
              <a:t>RaphaelJS</a:t>
            </a:r>
            <a:r>
              <a:rPr lang="en-US" baseline="0" dirty="0"/>
              <a:t> (</a:t>
            </a:r>
            <a:r>
              <a:rPr lang="en-US" dirty="0">
                <a:hlinkClick r:id="rId3"/>
              </a:rPr>
              <a:t>http://raphaeljs.com/</a:t>
            </a:r>
            <a:r>
              <a:rPr lang="en-US" dirty="0"/>
              <a:t>)</a:t>
            </a: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Helps u use high level primitives (And other classes from libraries) to create interactive elements or drawing easily on SVG. Charting is also supported </a:t>
            </a:r>
          </a:p>
          <a:p>
            <a:endParaRPr lang="en-US" baseline="0" dirty="0"/>
          </a:p>
          <a:p>
            <a:endParaRPr lang="en-US" baseline="0" dirty="0"/>
          </a:p>
          <a:p>
            <a:r>
              <a:rPr lang="en-US" baseline="0" dirty="0"/>
              <a:t>4. High Level JS Library  – </a:t>
            </a:r>
            <a:r>
              <a:rPr lang="en-US" baseline="0" dirty="0" err="1"/>
              <a:t>HighChart</a:t>
            </a:r>
            <a:r>
              <a:rPr lang="en-US" baseline="0" dirty="0"/>
              <a:t>.</a:t>
            </a:r>
          </a:p>
          <a:p>
            <a:r>
              <a:rPr lang="en-US" baseline="0" dirty="0"/>
              <a:t>Just need to specify the different data you want to provide to the library, and to call a full line of different functions to achieve very interactive output in real time</a:t>
            </a:r>
          </a:p>
          <a:p>
            <a:r>
              <a:rPr lang="en-US" baseline="0" dirty="0"/>
              <a:t>Backward compatibility using VML (Old version of Vector graphics). So supported by older browsers. </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25</a:t>
            </a:fld>
            <a:endParaRPr lang="en-US"/>
          </a:p>
        </p:txBody>
      </p:sp>
    </p:spTree>
    <p:extLst>
      <p:ext uri="{BB962C8B-B14F-4D97-AF65-F5344CB8AC3E}">
        <p14:creationId xmlns:p14="http://schemas.microsoft.com/office/powerpoint/2010/main" val="23113718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your vector graphics shape in </a:t>
            </a:r>
            <a:r>
              <a:rPr lang="en-US" dirty="0" err="1"/>
              <a:t>viso</a:t>
            </a:r>
            <a:r>
              <a:rPr lang="en-US" dirty="0"/>
              <a:t> or illustrator with plug ins ,</a:t>
            </a:r>
            <a:r>
              <a:rPr lang="en-US" baseline="0" dirty="0"/>
              <a:t> and export/ save  it as SVG</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26</a:t>
            </a:fld>
            <a:endParaRPr lang="en-US"/>
          </a:p>
        </p:txBody>
      </p:sp>
    </p:spTree>
    <p:extLst>
      <p:ext uri="{BB962C8B-B14F-4D97-AF65-F5344CB8AC3E}">
        <p14:creationId xmlns:p14="http://schemas.microsoft.com/office/powerpoint/2010/main" val="40329904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Save the file as SVG format.</a:t>
            </a:r>
          </a:p>
          <a:p>
            <a:endParaRPr lang="en-US" sz="1200" dirty="0"/>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27</a:t>
            </a:fld>
            <a:endParaRPr lang="en-US"/>
          </a:p>
        </p:txBody>
      </p:sp>
    </p:spTree>
    <p:extLst>
      <p:ext uri="{BB962C8B-B14F-4D97-AF65-F5344CB8AC3E}">
        <p14:creationId xmlns:p14="http://schemas.microsoft.com/office/powerpoint/2010/main" val="24203589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Save the file as SVG format.</a:t>
            </a:r>
          </a:p>
          <a:p>
            <a:endParaRPr lang="en-US" sz="1200" dirty="0"/>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28</a:t>
            </a:fld>
            <a:endParaRPr lang="en-US"/>
          </a:p>
        </p:txBody>
      </p:sp>
    </p:spTree>
    <p:extLst>
      <p:ext uri="{BB962C8B-B14F-4D97-AF65-F5344CB8AC3E}">
        <p14:creationId xmlns:p14="http://schemas.microsoft.com/office/powerpoint/2010/main" val="2420358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above example will cause</a:t>
            </a:r>
            <a:r>
              <a:rPr lang="en-US" baseline="0" dirty="0"/>
              <a:t> the message box to pop up when the user first click on his mouse, when the page is first loaded.</a:t>
            </a:r>
          </a:p>
          <a:p>
            <a:endParaRPr lang="en-US" dirty="0"/>
          </a:p>
          <a:p>
            <a:r>
              <a:rPr lang="en-US" dirty="0" err="1"/>
              <a:t>Source:</a:t>
            </a:r>
            <a:r>
              <a:rPr lang="en-US" dirty="0" err="1">
                <a:hlinkClick r:id="rId3"/>
              </a:rPr>
              <a:t>http</a:t>
            </a:r>
            <a:r>
              <a:rPr lang="en-US" dirty="0">
                <a:hlinkClick r:id="rId3"/>
              </a:rPr>
              <a:t>://www.w3.org/TR/DOM-Level-2-Events/events.html#Events-EventListener</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32</a:t>
            </a:fld>
            <a:endParaRPr lang="en-US"/>
          </a:p>
        </p:txBody>
      </p:sp>
    </p:spTree>
    <p:extLst>
      <p:ext uri="{BB962C8B-B14F-4D97-AF65-F5344CB8AC3E}">
        <p14:creationId xmlns:p14="http://schemas.microsoft.com/office/powerpoint/2010/main" val="1950687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rectangle</a:t>
            </a:r>
            <a:r>
              <a:rPr lang="en-US" baseline="0" dirty="0"/>
              <a:t> is drawn in </a:t>
            </a:r>
            <a:r>
              <a:rPr lang="en-US" baseline="0" dirty="0" err="1"/>
              <a:t>svg</a:t>
            </a:r>
            <a:r>
              <a:rPr lang="en-US" baseline="0" dirty="0"/>
              <a:t>. Rectangle ID is = rect1</a:t>
            </a:r>
          </a:p>
          <a:p>
            <a:r>
              <a:rPr lang="en-US" baseline="0" dirty="0"/>
              <a:t>An event </a:t>
            </a:r>
            <a:r>
              <a:rPr lang="en-US" baseline="0" dirty="0" err="1"/>
              <a:t>listern</a:t>
            </a:r>
            <a:r>
              <a:rPr lang="en-US" baseline="0" dirty="0"/>
              <a:t> is added to listen to CLICK events</a:t>
            </a:r>
          </a:p>
          <a:p>
            <a:endParaRPr lang="en-US" baseline="0" dirty="0"/>
          </a:p>
          <a:p>
            <a:endParaRPr lang="en-US" baseline="0" dirty="0"/>
          </a:p>
          <a:p>
            <a:r>
              <a:rPr lang="en-US" dirty="0"/>
              <a:t>The following triggers</a:t>
            </a:r>
            <a:r>
              <a:rPr lang="en-US" baseline="0" dirty="0"/>
              <a:t> the dosomething1 function, which causes the NYP website to open.</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34</a:t>
            </a:fld>
            <a:endParaRPr lang="en-US"/>
          </a:p>
        </p:txBody>
      </p:sp>
    </p:spTree>
    <p:extLst>
      <p:ext uri="{BB962C8B-B14F-4D97-AF65-F5344CB8AC3E}">
        <p14:creationId xmlns:p14="http://schemas.microsoft.com/office/powerpoint/2010/main" val="24600046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KeyCanvasScenarios.aspx</a:t>
            </a:r>
          </a:p>
          <a:p>
            <a:r>
              <a:rPr lang="en-US" dirty="0"/>
              <a:t>1 </a:t>
            </a:r>
            <a:r>
              <a:rPr lang="en-US" dirty="0" err="1"/>
              <a:t>RayTracer</a:t>
            </a:r>
            <a:endParaRPr lang="en-US" baseline="0" dirty="0"/>
          </a:p>
          <a:p>
            <a:r>
              <a:rPr lang="en-US" baseline="0" dirty="0"/>
              <a:t> </a:t>
            </a:r>
          </a:p>
          <a:p>
            <a:r>
              <a:rPr lang="en-US" baseline="0" dirty="0"/>
              <a:t>2. Video Manipulation</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35</a:t>
            </a:fld>
            <a:endParaRPr lang="en-US"/>
          </a:p>
        </p:txBody>
      </p:sp>
    </p:spTree>
    <p:extLst>
      <p:ext uri="{BB962C8B-B14F-4D97-AF65-F5344CB8AC3E}">
        <p14:creationId xmlns:p14="http://schemas.microsoft.com/office/powerpoint/2010/main" val="23113718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36</a:t>
            </a:fld>
            <a:endParaRPr lang="en-US"/>
          </a:p>
        </p:txBody>
      </p:sp>
    </p:spTree>
    <p:extLst>
      <p:ext uri="{BB962C8B-B14F-4D97-AF65-F5344CB8AC3E}">
        <p14:creationId xmlns:p14="http://schemas.microsoft.com/office/powerpoint/2010/main" val="22791673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a:t>
            </a:r>
            <a:r>
              <a:rPr lang="en-US" baseline="0" dirty="0"/>
              <a:t> more preferred for games.</a:t>
            </a:r>
          </a:p>
          <a:p>
            <a:r>
              <a:rPr lang="en-US" baseline="0" dirty="0"/>
              <a:t>Interactive websites – </a:t>
            </a:r>
            <a:r>
              <a:rPr lang="en-US" baseline="0" dirty="0" err="1"/>
              <a:t>eg</a:t>
            </a:r>
            <a:r>
              <a:rPr lang="en-US" baseline="0" dirty="0"/>
              <a:t> charts – SVG preferred.</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37</a:t>
            </a:fld>
            <a:endParaRPr lang="en-US"/>
          </a:p>
        </p:txBody>
      </p:sp>
    </p:spTree>
    <p:extLst>
      <p:ext uri="{BB962C8B-B14F-4D97-AF65-F5344CB8AC3E}">
        <p14:creationId xmlns:p14="http://schemas.microsoft.com/office/powerpoint/2010/main" val="8745349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38</a:t>
            </a:fld>
            <a:endParaRPr lang="en-US"/>
          </a:p>
        </p:txBody>
      </p:sp>
    </p:spTree>
    <p:extLst>
      <p:ext uri="{BB962C8B-B14F-4D97-AF65-F5344CB8AC3E}">
        <p14:creationId xmlns:p14="http://schemas.microsoft.com/office/powerpoint/2010/main" val="10873711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43</a:t>
            </a:fld>
            <a:endParaRPr lang="en-US"/>
          </a:p>
        </p:txBody>
      </p:sp>
    </p:spTree>
    <p:extLst>
      <p:ext uri="{BB962C8B-B14F-4D97-AF65-F5344CB8AC3E}">
        <p14:creationId xmlns:p14="http://schemas.microsoft.com/office/powerpoint/2010/main" val="33276971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Styles include also Dark Blue and Dark green</a:t>
            </a:r>
          </a:p>
          <a:p>
            <a:r>
              <a:rPr lang="en-US" dirty="0">
                <a:hlinkClick r:id="rId3"/>
              </a:rPr>
              <a:t>http://www.highcharts.com/demo/area-basic/gray</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44</a:t>
            </a:fld>
            <a:endParaRPr lang="en-US"/>
          </a:p>
        </p:txBody>
      </p:sp>
    </p:spTree>
    <p:extLst>
      <p:ext uri="{BB962C8B-B14F-4D97-AF65-F5344CB8AC3E}">
        <p14:creationId xmlns:p14="http://schemas.microsoft.com/office/powerpoint/2010/main" val="33276971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45</a:t>
            </a:fld>
            <a:endParaRPr lang="en-US"/>
          </a:p>
        </p:txBody>
      </p:sp>
    </p:spTree>
    <p:extLst>
      <p:ext uri="{BB962C8B-B14F-4D97-AF65-F5344CB8AC3E}">
        <p14:creationId xmlns:p14="http://schemas.microsoft.com/office/powerpoint/2010/main" val="1414364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Show</a:t>
            </a:r>
            <a:r>
              <a:rPr lang="en-US" baseline="0" dirty="0"/>
              <a:t> demo</a:t>
            </a:r>
          </a:p>
          <a:p>
            <a:pPr marL="228600" indent="-228600">
              <a:buAutoNum type="arabicParenR"/>
            </a:pPr>
            <a:r>
              <a:rPr lang="en-US" baseline="0" dirty="0"/>
              <a:t>Use </a:t>
            </a:r>
            <a:r>
              <a:rPr lang="en-US" baseline="0" dirty="0" err="1"/>
              <a:t>JSFiddle</a:t>
            </a:r>
            <a:r>
              <a:rPr lang="en-US" baseline="0" dirty="0"/>
              <a:t> to demonstrate how to change values</a:t>
            </a:r>
          </a:p>
          <a:p>
            <a:pPr marL="228600" indent="-228600">
              <a:buAutoNum type="arabicParenR"/>
            </a:pPr>
            <a:r>
              <a:rPr lang="en-US" baseline="0" dirty="0"/>
              <a:t>Show high charts API reference</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46</a:t>
            </a:fld>
            <a:endParaRPr lang="en-US"/>
          </a:p>
        </p:txBody>
      </p:sp>
    </p:spTree>
    <p:extLst>
      <p:ext uri="{BB962C8B-B14F-4D97-AF65-F5344CB8AC3E}">
        <p14:creationId xmlns:p14="http://schemas.microsoft.com/office/powerpoint/2010/main" val="32989195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effects are supported / can</a:t>
            </a:r>
            <a:r>
              <a:rPr lang="en-US" baseline="0" dirty="0"/>
              <a:t> be achieved by CSS3. </a:t>
            </a:r>
          </a:p>
          <a:p>
            <a:r>
              <a:rPr lang="en-US" baseline="0" dirty="0"/>
              <a:t>Most SVG features are supported by the latest versions  of major browsers  </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47</a:t>
            </a:fld>
            <a:endParaRPr lang="en-US"/>
          </a:p>
        </p:txBody>
      </p:sp>
    </p:spTree>
    <p:extLst>
      <p:ext uri="{BB962C8B-B14F-4D97-AF65-F5344CB8AC3E}">
        <p14:creationId xmlns:p14="http://schemas.microsoft.com/office/powerpoint/2010/main" val="179813166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gif"/><Relationship Id="rId4"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2130425"/>
            <a:ext cx="7467600" cy="1755775"/>
          </a:xfrm>
        </p:spPr>
        <p:txBody>
          <a:bodyPr>
            <a:noAutofit/>
          </a:bodyPr>
          <a:lstStyle>
            <a:lvl1pPr>
              <a:defRPr sz="6000"/>
            </a:lvl1pPr>
          </a:lstStyle>
          <a:p>
            <a:r>
              <a:rPr lang="en-US" dirty="0"/>
              <a:t>Click to edit Master title style</a:t>
            </a:r>
          </a:p>
        </p:txBody>
      </p:sp>
      <p:sp>
        <p:nvSpPr>
          <p:cNvPr id="3" name="Subtitle 2"/>
          <p:cNvSpPr>
            <a:spLocks noGrp="1"/>
          </p:cNvSpPr>
          <p:nvPr>
            <p:ph type="subTitle" idx="1"/>
          </p:nvPr>
        </p:nvSpPr>
        <p:spPr>
          <a:xfrm>
            <a:off x="685800" y="3886200"/>
            <a:ext cx="74676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85136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8811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143000" y="274638"/>
            <a:ext cx="7467600" cy="944562"/>
          </a:xfrm>
        </p:spPr>
        <p:txBody>
          <a:bodyPr/>
          <a:lstStyle/>
          <a:p>
            <a:r>
              <a:rPr lang="en-US"/>
              <a:t>Click to edit Master title style</a:t>
            </a:r>
          </a:p>
        </p:txBody>
      </p:sp>
      <p:sp>
        <p:nvSpPr>
          <p:cNvPr id="3" name="Content Placeholder 2"/>
          <p:cNvSpPr>
            <a:spLocks noGrp="1"/>
          </p:cNvSpPr>
          <p:nvPr>
            <p:ph idx="1"/>
          </p:nvPr>
        </p:nvSpPr>
        <p:spPr>
          <a:xfrm>
            <a:off x="1143000" y="1295400"/>
            <a:ext cx="7467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5870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pic>
        <p:nvPicPr>
          <p:cNvPr id="16"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219200" y="274638"/>
            <a:ext cx="7620000" cy="944562"/>
          </a:xfrm>
        </p:spPr>
        <p:txBody>
          <a:bodyPr/>
          <a:lstStyle/>
          <a:p>
            <a:r>
              <a:rPr lang="en-US"/>
              <a:t>Click to edit Master title style</a:t>
            </a:r>
          </a:p>
        </p:txBody>
      </p:sp>
      <p:sp>
        <p:nvSpPr>
          <p:cNvPr id="3" name="Content Placeholder 2"/>
          <p:cNvSpPr>
            <a:spLocks noGrp="1"/>
          </p:cNvSpPr>
          <p:nvPr>
            <p:ph idx="1"/>
          </p:nvPr>
        </p:nvSpPr>
        <p:spPr>
          <a:xfrm>
            <a:off x="1219200" y="1295400"/>
            <a:ext cx="76200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88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3_Title and Content">
    <p:spTree>
      <p:nvGrpSpPr>
        <p:cNvPr id="1" name=""/>
        <p:cNvGrpSpPr/>
        <p:nvPr/>
      </p:nvGrpSpPr>
      <p:grpSpPr>
        <a:xfrm>
          <a:off x="0" y="0"/>
          <a:ext cx="0" cy="0"/>
          <a:chOff x="0" y="0"/>
          <a:chExt cx="0" cy="0"/>
        </a:xfrm>
      </p:grpSpPr>
      <p:grpSp>
        <p:nvGrpSpPr>
          <p:cNvPr id="25" name="Group 24"/>
          <p:cNvGrpSpPr/>
          <p:nvPr userDrawn="1"/>
        </p:nvGrpSpPr>
        <p:grpSpPr>
          <a:xfrm>
            <a:off x="0" y="887"/>
            <a:ext cx="9324528" cy="7100521"/>
            <a:chOff x="0" y="887"/>
            <a:chExt cx="9324528" cy="7100521"/>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p:cNvPicPr>
              <a:picLocks noChangeAspect="1"/>
            </p:cNvPicPr>
            <p:nvPr userDrawn="1"/>
          </p:nvPicPr>
          <p:blipFill>
            <a:blip r:embed="rId4" cstate="print">
              <a:clrChange>
                <a:clrFrom>
                  <a:srgbClr val="FFFFFD"/>
                </a:clrFrom>
                <a:clrTo>
                  <a:srgbClr val="FFFFFD">
                    <a:alpha val="0"/>
                  </a:srgbClr>
                </a:clrTo>
              </a:clrChange>
              <a:extLst>
                <a:ext uri="{28A0092B-C50C-407E-A947-70E740481C1C}">
                  <a14:useLocalDpi xmlns:a14="http://schemas.microsoft.com/office/drawing/2010/main" val="0"/>
                </a:ext>
              </a:extLst>
            </a:blip>
            <a:stretch>
              <a:fillRect/>
            </a:stretch>
          </p:blipFill>
          <p:spPr>
            <a:xfrm>
              <a:off x="7086600" y="6282570"/>
              <a:ext cx="900611" cy="386790"/>
            </a:xfrm>
            <a:prstGeom prst="rect">
              <a:avLst/>
            </a:prstGeom>
          </p:spPr>
        </p:pic>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19200" y="6332899"/>
              <a:ext cx="1428811" cy="286132"/>
            </a:xfrm>
            <a:prstGeom prst="rect">
              <a:avLst/>
            </a:prstGeom>
          </p:spPr>
        </p:pic>
        <p:pic>
          <p:nvPicPr>
            <p:cNvPr id="24" name="Picture 2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495800" y="1493963"/>
              <a:ext cx="4572000" cy="5059237"/>
            </a:xfrm>
            <a:prstGeom prst="rect">
              <a:avLst/>
            </a:prstGeom>
          </p:spPr>
        </p:pic>
      </p:grpSp>
      <p:sp>
        <p:nvSpPr>
          <p:cNvPr id="2" name="Title 1"/>
          <p:cNvSpPr>
            <a:spLocks noGrp="1"/>
          </p:cNvSpPr>
          <p:nvPr>
            <p:ph type="title"/>
          </p:nvPr>
        </p:nvSpPr>
        <p:spPr>
          <a:xfrm>
            <a:off x="1295400" y="274638"/>
            <a:ext cx="7696200" cy="944562"/>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295400" y="1295400"/>
            <a:ext cx="76962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81126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066799" y="4406900"/>
            <a:ext cx="7315201"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1066799" y="2906713"/>
            <a:ext cx="73152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844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990600" y="1295400"/>
            <a:ext cx="35052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37338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19357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90600" y="1295400"/>
            <a:ext cx="3506788"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90600" y="2133600"/>
            <a:ext cx="3506788"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295400"/>
            <a:ext cx="3736975"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33600"/>
            <a:ext cx="3736975"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32287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4333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53367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0600" y="273050"/>
            <a:ext cx="2474913" cy="946150"/>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73050"/>
            <a:ext cx="48069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90600" y="1295400"/>
            <a:ext cx="2474913" cy="4830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833701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666753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08759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82029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16" cstate="print">
            <a:biLevel thresh="75000"/>
            <a:extLst>
              <a:ext uri="{BEBA8EAE-BF5A-486C-A8C5-ECC9F3942E4B}">
                <a14:imgProps xmlns:a14="http://schemas.microsoft.com/office/drawing/2010/main">
                  <a14:imgLayer r:embed="rId17">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86620" y="274638"/>
            <a:ext cx="7395380" cy="9445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86620" y="1295400"/>
            <a:ext cx="7395380" cy="4876800"/>
          </a:xfrm>
          <a:prstGeom prst="rect">
            <a:avLst/>
          </a:prstGeom>
        </p:spPr>
        <p:txBody>
          <a:bodyPr vert="horz" lIns="91440" tIns="45720" rIns="91440" bIns="45720" rtlCol="0">
            <a:normAutofit/>
          </a:bodyPr>
          <a:lstStyle/>
          <a:p>
            <a:pPr lvl="0"/>
            <a:r>
              <a:rPr lang="en-US" dirty="0"/>
              <a:t>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24466-CF14-4098-A57E-6BA1C4EB8FEB}" type="slidenum">
              <a:rPr lang="en-US" smtClean="0"/>
              <a:pPr/>
              <a:t>‹#›</a:t>
            </a:fld>
            <a:endParaRPr lang="en-US"/>
          </a:p>
        </p:txBody>
      </p:sp>
    </p:spTree>
    <p:extLst>
      <p:ext uri="{BB962C8B-B14F-4D97-AF65-F5344CB8AC3E}">
        <p14:creationId xmlns:p14="http://schemas.microsoft.com/office/powerpoint/2010/main" val="3084382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dt="0"/>
  <p:txStyles>
    <p:titleStyle>
      <a:lvl1pPr algn="l"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hyperlink" Target="https://davidwalsh.name/canvas-demos"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hyperlink" Target="http://caniuse.com/svg"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http://snapsvg.io/demos" TargetMode="Externa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0.xml"/><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notesSlide" Target="../notesSlides/notesSlide24.xml"/><Relationship Id="rId7"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media/image31.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4.xml"/><Relationship Id="rId5" Type="http://schemas.openxmlformats.org/officeDocument/2006/relationships/image" Target="../media/image36.png"/><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5.xml"/><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hyperlink" Target="http://www.javascriptkit.com/domref/domevent.shtml" TargetMode="Externa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31.xml"/><Relationship Id="rId5" Type="http://schemas.openxmlformats.org/officeDocument/2006/relationships/image" Target="../media/image44.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2.xml"/><Relationship Id="rId5" Type="http://schemas.openxmlformats.org/officeDocument/2006/relationships/image" Target="../media/image46.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33.xml"/><Relationship Id="rId5" Type="http://schemas.openxmlformats.org/officeDocument/2006/relationships/image" Target="../media/image47.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34.xml"/><Relationship Id="rId5" Type="http://schemas.openxmlformats.org/officeDocument/2006/relationships/image" Target="../media/image11.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7.xml"/><Relationship Id="rId5" Type="http://schemas.openxmlformats.org/officeDocument/2006/relationships/image" Target="../media/image58.png"/><Relationship Id="rId4" Type="http://schemas.openxmlformats.org/officeDocument/2006/relationships/image" Target="../media/image57.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hyperlink" Target="http://www.highcharts.com/docs/getting-started/installation" TargetMode="Externa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9.xml"/><Relationship Id="rId6" Type="http://schemas.openxmlformats.org/officeDocument/2006/relationships/hyperlink" Target="http://api.highcharts.com/highcharts" TargetMode="External"/><Relationship Id="rId5" Type="http://schemas.openxmlformats.org/officeDocument/2006/relationships/hyperlink" Target="http://jsfiddle.net/gh/get/jquery/1.9.1/highslide-software/highcharts.com/tree/master/samples/highcharts/demo/line-basic/" TargetMode="External"/><Relationship Id="rId4" Type="http://schemas.openxmlformats.org/officeDocument/2006/relationships/hyperlink" Target="http://www.highcharts.com/demo/" TargetMode="Externa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40.xml"/><Relationship Id="rId5" Type="http://schemas.openxmlformats.org/officeDocument/2006/relationships/image" Target="../media/image59.png"/><Relationship Id="rId4" Type="http://schemas.openxmlformats.org/officeDocument/2006/relationships/hyperlink" Target="http://caniuse.com/sv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6425" y="1752600"/>
            <a:ext cx="7165976" cy="2362200"/>
          </a:xfrm>
        </p:spPr>
        <p:txBody>
          <a:bodyPr/>
          <a:lstStyle/>
          <a:p>
            <a:r>
              <a:rPr lang="en-US" dirty="0">
                <a:solidFill>
                  <a:schemeClr val="tx1"/>
                </a:solidFill>
              </a:rPr>
              <a:t>Rich Internet Application Development</a:t>
            </a:r>
            <a:r>
              <a:rPr lang="en-US" dirty="0"/>
              <a:t>Design</a:t>
            </a:r>
          </a:p>
        </p:txBody>
      </p:sp>
      <p:sp>
        <p:nvSpPr>
          <p:cNvPr id="3" name="Subtitle 2"/>
          <p:cNvSpPr>
            <a:spLocks noGrp="1"/>
          </p:cNvSpPr>
          <p:nvPr>
            <p:ph type="subTitle" idx="1"/>
          </p:nvPr>
        </p:nvSpPr>
        <p:spPr>
          <a:xfrm>
            <a:off x="606425" y="4495800"/>
            <a:ext cx="7467600" cy="1905000"/>
          </a:xfrm>
        </p:spPr>
        <p:txBody>
          <a:bodyPr>
            <a:normAutofit fontScale="85000" lnSpcReduction="20000"/>
          </a:bodyPr>
          <a:lstStyle/>
          <a:p>
            <a:r>
              <a:rPr lang="en-US" sz="5700" dirty="0"/>
              <a:t>HTML5 </a:t>
            </a:r>
            <a:br>
              <a:rPr lang="en-US" sz="5700" dirty="0"/>
            </a:br>
            <a:r>
              <a:rPr lang="en-US" sz="5700" dirty="0"/>
              <a:t>(Canvas </a:t>
            </a:r>
            <a:r>
              <a:rPr lang="en-US" sz="5700"/>
              <a:t>&amp; SVG)</a:t>
            </a:r>
            <a:br>
              <a:rPr lang="en-SG" sz="5700" dirty="0"/>
            </a:br>
            <a:endParaRPr lang="en-SG" sz="5700" dirty="0"/>
          </a:p>
          <a:p>
            <a:endParaRPr lang="en-US" dirty="0"/>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8400" y="2819400"/>
            <a:ext cx="2139950" cy="213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0801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WHAT IS A CANVAS?</a:t>
            </a:r>
          </a:p>
        </p:txBody>
      </p:sp>
      <p:sp>
        <p:nvSpPr>
          <p:cNvPr id="3" name="Content Placeholder 2"/>
          <p:cNvSpPr>
            <a:spLocks noGrp="1"/>
          </p:cNvSpPr>
          <p:nvPr>
            <p:ph idx="1"/>
          </p:nvPr>
        </p:nvSpPr>
        <p:spPr>
          <a:xfrm>
            <a:off x="609600" y="1600200"/>
            <a:ext cx="8077200" cy="4495800"/>
          </a:xfrm>
        </p:spPr>
        <p:txBody>
          <a:bodyPr>
            <a:noAutofit/>
          </a:bodyPr>
          <a:lstStyle/>
          <a:p>
            <a:pPr>
              <a:buFont typeface="Wingdings" pitchFamily="2" charset="2"/>
              <a:buChar char="ü"/>
            </a:pPr>
            <a:r>
              <a:rPr lang="en-US" sz="3200" dirty="0"/>
              <a:t>The &lt;canvas&gt; element is used to draw graphics on a webpage via scripting (JavaScript)</a:t>
            </a:r>
          </a:p>
          <a:p>
            <a:pPr>
              <a:buFont typeface="Wingdings" pitchFamily="2" charset="2"/>
              <a:buChar char="ü"/>
            </a:pPr>
            <a:r>
              <a:rPr lang="en-US" sz="3200" dirty="0"/>
              <a:t>The &lt;canvas&gt; element is only a container for the graphics. You must use script to draw the graphics.</a:t>
            </a:r>
          </a:p>
          <a:p>
            <a:r>
              <a:rPr lang="en-US" sz="3200" dirty="0"/>
              <a:t>Internet explorer 9, Firefox, Opera, Chrome, and Safari support &lt;canvas&gt;.</a:t>
            </a:r>
            <a:r>
              <a:rPr lang="en-SG" sz="3200" dirty="0"/>
              <a:t> Internet</a:t>
            </a:r>
          </a:p>
          <a:p>
            <a:r>
              <a:rPr lang="en-SG" sz="1800" b="1" dirty="0"/>
              <a:t>Note:</a:t>
            </a:r>
            <a:r>
              <a:rPr lang="en-SG" sz="1800" dirty="0"/>
              <a:t> Internet Explorer 8 and earlier versions, do not support the &lt;canvas&gt; element.</a:t>
            </a:r>
          </a:p>
          <a:p>
            <a:pPr>
              <a:buFont typeface="Wingdings" pitchFamily="2" charset="2"/>
              <a:buChar char="ü"/>
            </a:pPr>
            <a:endParaRPr lang="en-US" sz="3200" dirty="0"/>
          </a:p>
          <a:p>
            <a:pPr>
              <a:buFont typeface="Wingdings" pitchFamily="2" charset="2"/>
              <a:buChar char="ü"/>
            </a:pPr>
            <a:endParaRPr lang="en-US" sz="3200" dirty="0"/>
          </a:p>
          <a:p>
            <a:pPr>
              <a:buFont typeface="Wingdings" pitchFamily="2" charset="2"/>
              <a:buChar char="ü"/>
            </a:pP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a:t>
            </a:fld>
            <a:endParaRPr lang="en-US"/>
          </a:p>
        </p:txBody>
      </p:sp>
      <p:sp>
        <p:nvSpPr>
          <p:cNvPr id="7" name="5-Point Star 6"/>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HOW TO CREATE A CANVAS?</a:t>
            </a:r>
          </a:p>
        </p:txBody>
      </p:sp>
      <p:sp>
        <p:nvSpPr>
          <p:cNvPr id="3" name="Content Placeholder 2"/>
          <p:cNvSpPr>
            <a:spLocks noGrp="1"/>
          </p:cNvSpPr>
          <p:nvPr>
            <p:ph idx="1"/>
          </p:nvPr>
        </p:nvSpPr>
        <p:spPr>
          <a:xfrm>
            <a:off x="990600" y="1447800"/>
            <a:ext cx="7395380" cy="4572000"/>
          </a:xfrm>
        </p:spPr>
        <p:txBody>
          <a:bodyPr>
            <a:noAutofit/>
          </a:bodyPr>
          <a:lstStyle/>
          <a:p>
            <a:pPr lvl="1">
              <a:spcAft>
                <a:spcPts val="1000"/>
              </a:spcAft>
              <a:buFont typeface="Wingdings" pitchFamily="2" charset="2"/>
              <a:buChar char="ü"/>
            </a:pPr>
            <a:r>
              <a:rPr lang="en-US" sz="2000" dirty="0"/>
              <a:t>A canvas is a rectangular area on a HTML page. By default the canvas will not be visible.</a:t>
            </a:r>
          </a:p>
          <a:p>
            <a:pPr lvl="1">
              <a:spcAft>
                <a:spcPts val="1000"/>
              </a:spcAft>
              <a:buFont typeface="Wingdings" pitchFamily="2" charset="2"/>
              <a:buChar char="ü"/>
            </a:pPr>
            <a:r>
              <a:rPr lang="en-US" sz="2000" dirty="0"/>
              <a:t>To make the canvas visible, add the borders like this :     </a:t>
            </a:r>
          </a:p>
          <a:p>
            <a:pPr lvl="1">
              <a:spcAft>
                <a:spcPts val="1000"/>
              </a:spcAft>
              <a:buFont typeface="Wingdings" pitchFamily="2" charset="2"/>
              <a:buChar char="ü"/>
            </a:pPr>
            <a:endParaRPr lang="en-US" sz="2000" dirty="0"/>
          </a:p>
          <a:p>
            <a:pPr lvl="1">
              <a:spcAft>
                <a:spcPts val="1000"/>
              </a:spcAft>
              <a:buFont typeface="Wingdings" pitchFamily="2" charset="2"/>
              <a:buChar char="ü"/>
            </a:pPr>
            <a:endParaRPr lang="en-US" sz="2000" dirty="0"/>
          </a:p>
          <a:p>
            <a:pPr lvl="1">
              <a:spcAft>
                <a:spcPts val="1000"/>
              </a:spcAft>
              <a:buFont typeface="Wingdings" pitchFamily="2" charset="2"/>
              <a:buChar char="ü"/>
            </a:pPr>
            <a:r>
              <a:rPr lang="en-US" sz="2000" dirty="0"/>
              <a:t>You can also add </a:t>
            </a:r>
            <a:r>
              <a:rPr lang="en-US" sz="2000" dirty="0" err="1"/>
              <a:t>colours</a:t>
            </a:r>
            <a:r>
              <a:rPr lang="en-US" sz="2000" dirty="0"/>
              <a:t> to the canvas. </a:t>
            </a:r>
            <a:r>
              <a:rPr lang="en-SG" sz="2000" dirty="0"/>
              <a:t>The </a:t>
            </a:r>
            <a:r>
              <a:rPr lang="en-SG" sz="2000" dirty="0" err="1"/>
              <a:t>fillRect</a:t>
            </a:r>
            <a:r>
              <a:rPr lang="en-SG" sz="2000" dirty="0"/>
              <a:t>(</a:t>
            </a:r>
            <a:r>
              <a:rPr lang="en-SG" sz="2000" i="1" dirty="0" err="1"/>
              <a:t>x,y,width,height</a:t>
            </a:r>
            <a:r>
              <a:rPr lang="en-SG" sz="2000" dirty="0"/>
              <a:t>) method draws a rectangle filled with the current fill style. </a:t>
            </a:r>
            <a:r>
              <a:rPr lang="en-SG" sz="2000" dirty="0" err="1"/>
              <a:t>FillStyle</a:t>
            </a:r>
            <a:r>
              <a:rPr lang="en-SG" sz="2000" dirty="0"/>
              <a:t> property can be a CSS </a:t>
            </a:r>
            <a:r>
              <a:rPr lang="en-SG" sz="2000" dirty="0" err="1"/>
              <a:t>color</a:t>
            </a:r>
            <a:r>
              <a:rPr lang="en-SG" sz="2000" dirty="0"/>
              <a:t>, a gradient, or a pattern.</a:t>
            </a:r>
            <a:endParaRPr lang="en-US" sz="2000" dirty="0"/>
          </a:p>
          <a:p>
            <a:pPr marL="457200" lvl="1" indent="0">
              <a:spcAft>
                <a:spcPts val="1000"/>
              </a:spcAft>
              <a:buNone/>
            </a:pPr>
            <a:endParaRPr lang="en-US" sz="28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a:t>
            </a:fld>
            <a:endParaRPr lang="en-US"/>
          </a:p>
        </p:txBody>
      </p:sp>
      <p:sp>
        <p:nvSpPr>
          <p:cNvPr id="6" name="Rectangle 5"/>
          <p:cNvSpPr/>
          <p:nvPr/>
        </p:nvSpPr>
        <p:spPr>
          <a:xfrm>
            <a:off x="1924050" y="2667000"/>
            <a:ext cx="47244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rgbClr val="000000"/>
                </a:solidFill>
                <a:latin typeface="courier new"/>
              </a:rPr>
              <a:t>&lt;canvas id="</a:t>
            </a:r>
            <a:r>
              <a:rPr lang="en-SG" dirty="0" err="1">
                <a:solidFill>
                  <a:srgbClr val="000000"/>
                </a:solidFill>
                <a:latin typeface="courier new"/>
              </a:rPr>
              <a:t>myCanvas</a:t>
            </a:r>
            <a:r>
              <a:rPr lang="en-SG" dirty="0">
                <a:solidFill>
                  <a:srgbClr val="000000"/>
                </a:solidFill>
                <a:latin typeface="courier new"/>
              </a:rPr>
              <a:t>" width="200" height="100"&gt;&lt;/canvas&gt;</a:t>
            </a:r>
            <a:endParaRPr lang="en-SG" dirty="0"/>
          </a:p>
        </p:txBody>
      </p:sp>
      <p:sp>
        <p:nvSpPr>
          <p:cNvPr id="8" name="Rectangle 7"/>
          <p:cNvSpPr/>
          <p:nvPr/>
        </p:nvSpPr>
        <p:spPr>
          <a:xfrm>
            <a:off x="1924050" y="5043487"/>
            <a:ext cx="5105400" cy="152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SG" sz="1000" dirty="0">
              <a:solidFill>
                <a:schemeClr val="tx1"/>
              </a:solidFill>
            </a:endParaRPr>
          </a:p>
          <a:p>
            <a:endParaRPr lang="en-SG" sz="1000" dirty="0">
              <a:solidFill>
                <a:schemeClr val="tx1"/>
              </a:solidFill>
            </a:endParaRPr>
          </a:p>
          <a:p>
            <a:endParaRPr lang="en-SG" sz="1000" dirty="0">
              <a:solidFill>
                <a:schemeClr val="tx1"/>
              </a:solidFill>
            </a:endParaRPr>
          </a:p>
          <a:p>
            <a:r>
              <a:rPr lang="en-SG" sz="1600" dirty="0">
                <a:solidFill>
                  <a:schemeClr val="tx1"/>
                </a:solidFill>
              </a:rPr>
              <a:t>&lt;script type="text/</a:t>
            </a:r>
            <a:r>
              <a:rPr lang="en-SG" sz="1600" dirty="0" err="1">
                <a:solidFill>
                  <a:schemeClr val="tx1"/>
                </a:solidFill>
              </a:rPr>
              <a:t>javascript</a:t>
            </a:r>
            <a:r>
              <a:rPr lang="en-SG" sz="1600" dirty="0">
                <a:solidFill>
                  <a:schemeClr val="tx1"/>
                </a:solidFill>
              </a:rPr>
              <a:t>"&gt;</a:t>
            </a:r>
            <a:br>
              <a:rPr lang="en-SG" sz="1600" dirty="0">
                <a:solidFill>
                  <a:schemeClr val="tx1"/>
                </a:solidFill>
              </a:rPr>
            </a:br>
            <a:r>
              <a:rPr lang="en-SG" sz="1600" dirty="0" err="1">
                <a:solidFill>
                  <a:schemeClr val="tx1"/>
                </a:solidFill>
              </a:rPr>
              <a:t>var</a:t>
            </a:r>
            <a:r>
              <a:rPr lang="en-SG" sz="1600" dirty="0">
                <a:solidFill>
                  <a:schemeClr val="tx1"/>
                </a:solidFill>
              </a:rPr>
              <a:t> c=</a:t>
            </a:r>
            <a:r>
              <a:rPr lang="en-SG" sz="1600" dirty="0" err="1">
                <a:solidFill>
                  <a:schemeClr val="tx1"/>
                </a:solidFill>
              </a:rPr>
              <a:t>document.getElementById</a:t>
            </a:r>
            <a:r>
              <a:rPr lang="en-SG" sz="1600" dirty="0">
                <a:solidFill>
                  <a:schemeClr val="tx1"/>
                </a:solidFill>
              </a:rPr>
              <a:t>("</a:t>
            </a:r>
            <a:r>
              <a:rPr lang="en-SG" sz="1600" dirty="0" err="1">
                <a:solidFill>
                  <a:schemeClr val="tx1"/>
                </a:solidFill>
              </a:rPr>
              <a:t>myCanvas</a:t>
            </a:r>
            <a:r>
              <a:rPr lang="en-SG" sz="1600" dirty="0">
                <a:solidFill>
                  <a:schemeClr val="tx1"/>
                </a:solidFill>
              </a:rPr>
              <a:t>");</a:t>
            </a:r>
            <a:br>
              <a:rPr lang="en-SG" sz="1600" dirty="0">
                <a:solidFill>
                  <a:schemeClr val="tx1"/>
                </a:solidFill>
              </a:rPr>
            </a:br>
            <a:r>
              <a:rPr lang="en-SG" sz="1600" dirty="0" err="1">
                <a:solidFill>
                  <a:schemeClr val="tx1"/>
                </a:solidFill>
              </a:rPr>
              <a:t>var</a:t>
            </a:r>
            <a:r>
              <a:rPr lang="en-SG" sz="1600" dirty="0">
                <a:solidFill>
                  <a:schemeClr val="tx1"/>
                </a:solidFill>
              </a:rPr>
              <a:t> </a:t>
            </a:r>
            <a:r>
              <a:rPr lang="en-SG" sz="1600" dirty="0" err="1">
                <a:solidFill>
                  <a:schemeClr val="tx1"/>
                </a:solidFill>
              </a:rPr>
              <a:t>ctx</a:t>
            </a:r>
            <a:r>
              <a:rPr lang="en-SG" sz="1600" dirty="0">
                <a:solidFill>
                  <a:schemeClr val="tx1"/>
                </a:solidFill>
              </a:rPr>
              <a:t>=</a:t>
            </a:r>
            <a:r>
              <a:rPr lang="en-SG" sz="1600" dirty="0" err="1">
                <a:solidFill>
                  <a:schemeClr val="tx1"/>
                </a:solidFill>
              </a:rPr>
              <a:t>c.getContext</a:t>
            </a:r>
            <a:r>
              <a:rPr lang="en-SG" sz="1600" dirty="0">
                <a:solidFill>
                  <a:schemeClr val="tx1"/>
                </a:solidFill>
              </a:rPr>
              <a:t>("2d");</a:t>
            </a:r>
            <a:br>
              <a:rPr lang="en-SG" sz="1600" dirty="0">
                <a:solidFill>
                  <a:schemeClr val="tx1"/>
                </a:solidFill>
              </a:rPr>
            </a:br>
            <a:r>
              <a:rPr lang="en-SG" sz="1600" dirty="0" err="1">
                <a:solidFill>
                  <a:schemeClr val="tx1"/>
                </a:solidFill>
              </a:rPr>
              <a:t>ctx.fillStyle</a:t>
            </a:r>
            <a:r>
              <a:rPr lang="en-SG" sz="1600" dirty="0">
                <a:solidFill>
                  <a:schemeClr val="tx1"/>
                </a:solidFill>
              </a:rPr>
              <a:t>="#FF0000";</a:t>
            </a:r>
            <a:br>
              <a:rPr lang="en-SG" sz="1600" dirty="0">
                <a:solidFill>
                  <a:schemeClr val="tx1"/>
                </a:solidFill>
              </a:rPr>
            </a:br>
            <a:r>
              <a:rPr lang="en-SG" sz="1600" dirty="0" err="1">
                <a:solidFill>
                  <a:schemeClr val="tx1"/>
                </a:solidFill>
              </a:rPr>
              <a:t>ctx.fillRect</a:t>
            </a:r>
            <a:r>
              <a:rPr lang="en-SG" sz="1600" dirty="0">
                <a:solidFill>
                  <a:schemeClr val="tx1"/>
                </a:solidFill>
              </a:rPr>
              <a:t>(0,0,150,75);</a:t>
            </a:r>
            <a:br>
              <a:rPr lang="en-SG" sz="1600" dirty="0">
                <a:solidFill>
                  <a:schemeClr val="tx1"/>
                </a:solidFill>
              </a:rPr>
            </a:br>
            <a:r>
              <a:rPr lang="en-SG" sz="1600" dirty="0">
                <a:solidFill>
                  <a:schemeClr val="tx1"/>
                </a:solidFill>
              </a:rPr>
              <a:t>&lt;/script&gt;</a:t>
            </a:r>
          </a:p>
          <a:p>
            <a:br>
              <a:rPr lang="en-SG" dirty="0">
                <a:solidFill>
                  <a:schemeClr val="tx1"/>
                </a:solidFill>
              </a:rPr>
            </a:br>
            <a:endParaRPr lang="en-SG" dirty="0">
              <a:solidFill>
                <a:schemeClr val="tx1"/>
              </a:solidFill>
            </a:endParaRPr>
          </a:p>
        </p:txBody>
      </p:sp>
      <p:sp>
        <p:nvSpPr>
          <p:cNvPr id="9" name="5-Point Star 8"/>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02160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HOW TO CREATE A CANVAS?</a:t>
            </a:r>
          </a:p>
        </p:txBody>
      </p:sp>
      <p:sp>
        <p:nvSpPr>
          <p:cNvPr id="3" name="Content Placeholder 2"/>
          <p:cNvSpPr>
            <a:spLocks noGrp="1"/>
          </p:cNvSpPr>
          <p:nvPr>
            <p:ph idx="1"/>
          </p:nvPr>
        </p:nvSpPr>
        <p:spPr>
          <a:xfrm>
            <a:off x="990600" y="1295400"/>
            <a:ext cx="7395380" cy="4572000"/>
          </a:xfrm>
        </p:spPr>
        <p:txBody>
          <a:bodyPr>
            <a:noAutofit/>
          </a:bodyPr>
          <a:lstStyle/>
          <a:p>
            <a:pPr marL="914400" lvl="1" indent="-457200">
              <a:spcAft>
                <a:spcPts val="1000"/>
              </a:spcAft>
              <a:buNone/>
            </a:pPr>
            <a:r>
              <a:rPr lang="en-SG" sz="2000" dirty="0"/>
              <a:t>Step 1 - Create a &lt;canvas&gt; tag in your first</a:t>
            </a:r>
          </a:p>
          <a:p>
            <a:pPr marL="914400" lvl="1" indent="-457200">
              <a:spcAft>
                <a:spcPts val="1000"/>
              </a:spcAft>
              <a:buNone/>
            </a:pPr>
            <a:r>
              <a:rPr lang="en-US" sz="2000" dirty="0"/>
              <a:t>Step 2 - </a:t>
            </a:r>
            <a:r>
              <a:rPr lang="en-SG" sz="2000" dirty="0"/>
              <a:t>find the &lt;canvas&gt; element:</a:t>
            </a:r>
          </a:p>
          <a:p>
            <a:pPr marL="914400" lvl="1" indent="-457200">
              <a:spcAft>
                <a:spcPts val="1000"/>
              </a:spcAft>
              <a:buNone/>
            </a:pPr>
            <a:endParaRPr lang="en-US" sz="2000" dirty="0"/>
          </a:p>
          <a:p>
            <a:pPr marL="914400" lvl="1" indent="-457200">
              <a:spcAft>
                <a:spcPts val="1000"/>
              </a:spcAft>
              <a:buNone/>
            </a:pPr>
            <a:r>
              <a:rPr lang="en-US" sz="2000" dirty="0"/>
              <a:t>Step 3 - C</a:t>
            </a:r>
            <a:r>
              <a:rPr lang="en-SG" sz="2000" dirty="0"/>
              <a:t>all its </a:t>
            </a:r>
            <a:r>
              <a:rPr lang="en-SG" sz="2000" dirty="0" err="1"/>
              <a:t>getContext</a:t>
            </a:r>
            <a:r>
              <a:rPr lang="en-SG" sz="2000" dirty="0"/>
              <a:t>() method (you must pass the string "2d" to the </a:t>
            </a:r>
            <a:r>
              <a:rPr lang="en-SG" sz="2000" dirty="0" err="1"/>
              <a:t>getContext</a:t>
            </a:r>
            <a:r>
              <a:rPr lang="en-SG" sz="2000" dirty="0"/>
              <a:t>() method</a:t>
            </a:r>
            <a:endParaRPr lang="en-US" sz="2000" dirty="0"/>
          </a:p>
          <a:p>
            <a:pPr marL="914400" lvl="1" indent="-457200">
              <a:spcAft>
                <a:spcPts val="1000"/>
              </a:spcAft>
              <a:buNone/>
            </a:pPr>
            <a:endParaRPr lang="en-US" sz="2000" dirty="0"/>
          </a:p>
          <a:p>
            <a:pPr marL="914400" lvl="1" indent="-457200">
              <a:spcAft>
                <a:spcPts val="1000"/>
              </a:spcAft>
              <a:buNone/>
            </a:pPr>
            <a:r>
              <a:rPr lang="en-US" sz="2000" dirty="0"/>
              <a:t>Step 4 - </a:t>
            </a:r>
            <a:r>
              <a:rPr lang="en-SG" sz="2000" dirty="0"/>
              <a:t>The </a:t>
            </a:r>
            <a:r>
              <a:rPr lang="en-SG" sz="2000" dirty="0" err="1"/>
              <a:t>getContext</a:t>
            </a:r>
            <a:r>
              <a:rPr lang="en-SG" sz="2000" dirty="0"/>
              <a:t>("2d") object is a built-in HTML5 object, with many properties and methods for drawing paths, boxes, circles, text, images, and more.</a:t>
            </a:r>
            <a:r>
              <a:rPr lang="en-US" sz="2000" dirty="0"/>
              <a:t> </a:t>
            </a:r>
          </a:p>
          <a:p>
            <a:pPr marL="914400" lvl="1" indent="-457200">
              <a:spcAft>
                <a:spcPts val="1000"/>
              </a:spcAft>
              <a:buNone/>
            </a:pPr>
            <a:r>
              <a:rPr lang="en-US" sz="2000" dirty="0"/>
              <a:t>Step 5 – Do your drawing, </a:t>
            </a:r>
            <a:r>
              <a:rPr lang="en-US" sz="2000" dirty="0" err="1"/>
              <a:t>Eg</a:t>
            </a:r>
            <a:r>
              <a:rPr lang="en-US" sz="2000" dirty="0"/>
              <a:t>. </a:t>
            </a:r>
            <a:r>
              <a:rPr lang="en-SG" sz="2000" dirty="0"/>
              <a:t>The next two lines draws a red rectangle:</a:t>
            </a:r>
            <a:endParaRPr lang="en-US" sz="20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a:t>
            </a:fld>
            <a:endParaRPr lang="en-US"/>
          </a:p>
        </p:txBody>
      </p:sp>
      <p:grpSp>
        <p:nvGrpSpPr>
          <p:cNvPr id="10" name="Group 9"/>
          <p:cNvGrpSpPr/>
          <p:nvPr/>
        </p:nvGrpSpPr>
        <p:grpSpPr>
          <a:xfrm>
            <a:off x="1447800" y="2133600"/>
            <a:ext cx="6096000" cy="685800"/>
            <a:chOff x="0" y="457199"/>
            <a:chExt cx="6096000" cy="754525"/>
          </a:xfrm>
        </p:grpSpPr>
        <p:sp>
          <p:nvSpPr>
            <p:cNvPr id="11" name="Rounded Rectangle 10"/>
            <p:cNvSpPr/>
            <p:nvPr/>
          </p:nvSpPr>
          <p:spPr>
            <a:xfrm>
              <a:off x="0" y="457199"/>
              <a:ext cx="6096000" cy="75452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Rounded Rectangle 4"/>
            <p:cNvSpPr/>
            <p:nvPr/>
          </p:nvSpPr>
          <p:spPr>
            <a:xfrm>
              <a:off x="36833" y="494032"/>
              <a:ext cx="6022334" cy="68085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SG" sz="2000" b="0" i="0" kern="1200" dirty="0" err="1"/>
                <a:t>var</a:t>
              </a:r>
              <a:r>
                <a:rPr lang="en-SG" sz="2000" b="0" i="0" kern="1200" dirty="0"/>
                <a:t> c=</a:t>
              </a:r>
              <a:r>
                <a:rPr lang="en-SG" sz="2000" b="0" i="0" kern="1200" dirty="0" err="1"/>
                <a:t>document.getElementById</a:t>
              </a:r>
              <a:r>
                <a:rPr lang="en-SG" sz="2000" b="0" i="0" kern="1200" dirty="0"/>
                <a:t>("</a:t>
              </a:r>
              <a:r>
                <a:rPr lang="en-SG" sz="2000" b="0" i="0" kern="1200" dirty="0" err="1"/>
                <a:t>myCanvas</a:t>
              </a:r>
              <a:r>
                <a:rPr lang="en-SG" sz="2000" b="0" i="0" kern="1200" dirty="0"/>
                <a:t>");</a:t>
              </a:r>
              <a:endParaRPr lang="en-SG" sz="2000" kern="1200" dirty="0"/>
            </a:p>
          </p:txBody>
        </p:sp>
      </p:grpSp>
      <p:grpSp>
        <p:nvGrpSpPr>
          <p:cNvPr id="13" name="Group 12"/>
          <p:cNvGrpSpPr/>
          <p:nvPr/>
        </p:nvGrpSpPr>
        <p:grpSpPr>
          <a:xfrm>
            <a:off x="1447800" y="3386278"/>
            <a:ext cx="6096000" cy="728522"/>
            <a:chOff x="0" y="494032"/>
            <a:chExt cx="6096000" cy="801528"/>
          </a:xfrm>
        </p:grpSpPr>
        <p:sp>
          <p:nvSpPr>
            <p:cNvPr id="14" name="Rounded Rectangle 13"/>
            <p:cNvSpPr/>
            <p:nvPr/>
          </p:nvSpPr>
          <p:spPr>
            <a:xfrm>
              <a:off x="0" y="541035"/>
              <a:ext cx="6096000" cy="75452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5" name="Rounded Rectangle 4"/>
            <p:cNvSpPr/>
            <p:nvPr/>
          </p:nvSpPr>
          <p:spPr>
            <a:xfrm>
              <a:off x="36833" y="494032"/>
              <a:ext cx="6022334" cy="68085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SG" sz="2000" dirty="0" err="1"/>
                <a:t>var</a:t>
              </a:r>
              <a:r>
                <a:rPr lang="en-SG" sz="2000" dirty="0"/>
                <a:t> </a:t>
              </a:r>
              <a:r>
                <a:rPr lang="en-SG" sz="2000" dirty="0" err="1"/>
                <a:t>ctx</a:t>
              </a:r>
              <a:r>
                <a:rPr lang="en-SG" sz="2000" dirty="0"/>
                <a:t>=</a:t>
              </a:r>
              <a:r>
                <a:rPr lang="en-SG" sz="2000" dirty="0" err="1"/>
                <a:t>c.getContext</a:t>
              </a:r>
              <a:r>
                <a:rPr lang="en-SG" sz="2000" dirty="0"/>
                <a:t>("2d");</a:t>
              </a:r>
              <a:endParaRPr lang="en-SG" sz="2000" kern="1200" dirty="0"/>
            </a:p>
          </p:txBody>
        </p:sp>
      </p:grpSp>
      <p:grpSp>
        <p:nvGrpSpPr>
          <p:cNvPr id="16" name="Group 15"/>
          <p:cNvGrpSpPr/>
          <p:nvPr/>
        </p:nvGrpSpPr>
        <p:grpSpPr>
          <a:xfrm>
            <a:off x="1600200" y="5867400"/>
            <a:ext cx="6096000" cy="685800"/>
            <a:chOff x="0" y="457199"/>
            <a:chExt cx="6096000" cy="754525"/>
          </a:xfrm>
        </p:grpSpPr>
        <p:sp>
          <p:nvSpPr>
            <p:cNvPr id="17" name="Rounded Rectangle 16"/>
            <p:cNvSpPr/>
            <p:nvPr/>
          </p:nvSpPr>
          <p:spPr>
            <a:xfrm>
              <a:off x="0" y="457199"/>
              <a:ext cx="6096000" cy="75452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 name="Rounded Rectangle 4"/>
            <p:cNvSpPr/>
            <p:nvPr/>
          </p:nvSpPr>
          <p:spPr>
            <a:xfrm>
              <a:off x="36833" y="494032"/>
              <a:ext cx="6022334" cy="68085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lvl="0" defTabSz="889000">
                <a:lnSpc>
                  <a:spcPct val="90000"/>
                </a:lnSpc>
                <a:spcBef>
                  <a:spcPct val="0"/>
                </a:spcBef>
                <a:spcAft>
                  <a:spcPct val="35000"/>
                </a:spcAft>
              </a:pPr>
              <a:r>
                <a:rPr lang="en-SG" sz="2000" dirty="0" err="1"/>
                <a:t>ctx.fillStyle</a:t>
              </a:r>
              <a:r>
                <a:rPr lang="en-SG" sz="2000" dirty="0"/>
                <a:t>="#FF0000";</a:t>
              </a:r>
              <a:br>
                <a:rPr lang="en-SG" sz="2000" dirty="0"/>
              </a:br>
              <a:r>
                <a:rPr lang="en-SG" sz="2000" dirty="0" err="1"/>
                <a:t>ctx.fillRect</a:t>
              </a:r>
              <a:r>
                <a:rPr lang="en-SG" sz="2000" dirty="0"/>
                <a:t>(0,0,150,75);</a:t>
              </a:r>
              <a:endParaRPr lang="en-SG" sz="2000" kern="1200" dirty="0"/>
            </a:p>
          </p:txBody>
        </p:sp>
      </p:grpSp>
      <p:sp>
        <p:nvSpPr>
          <p:cNvPr id="19" name="5-Point Star 18"/>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02160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Creating CANVAS with </a:t>
            </a:r>
            <a:r>
              <a:rPr lang="en-US" sz="3600" dirty="0" err="1"/>
              <a:t>onload</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a:t>
            </a:fld>
            <a:endParaRPr lang="en-US"/>
          </a:p>
        </p:txBody>
      </p:sp>
      <p:sp>
        <p:nvSpPr>
          <p:cNvPr id="3" name="TextBox 2"/>
          <p:cNvSpPr txBox="1"/>
          <p:nvPr/>
        </p:nvSpPr>
        <p:spPr>
          <a:xfrm>
            <a:off x="606967" y="1600200"/>
            <a:ext cx="6745244" cy="4801314"/>
          </a:xfrm>
          <a:prstGeom prst="rect">
            <a:avLst/>
          </a:prstGeom>
          <a:noFill/>
        </p:spPr>
        <p:txBody>
          <a:bodyPr wrap="none" rtlCol="0">
            <a:spAutoFit/>
          </a:bodyPr>
          <a:lstStyle/>
          <a:p>
            <a:r>
              <a:rPr lang="en-US" dirty="0"/>
              <a:t> &lt;head&gt;</a:t>
            </a:r>
          </a:p>
          <a:p>
            <a:r>
              <a:rPr lang="it-IT" dirty="0"/>
              <a:t>        &lt;meta http-equiv="X-UA-Compatible" content="IE=9"/&gt;</a:t>
            </a:r>
          </a:p>
          <a:p>
            <a:r>
              <a:rPr lang="en-US" dirty="0"/>
              <a:t>        &lt;style type="text/</a:t>
            </a:r>
            <a:r>
              <a:rPr lang="en-US" dirty="0" err="1"/>
              <a:t>css</a:t>
            </a:r>
            <a:r>
              <a:rPr lang="en-US" dirty="0"/>
              <a:t>" media="screen"&gt;</a:t>
            </a:r>
          </a:p>
          <a:p>
            <a:r>
              <a:rPr lang="en-US" dirty="0"/>
              <a:t>        &lt;/style&gt;</a:t>
            </a:r>
          </a:p>
          <a:p>
            <a:r>
              <a:rPr lang="en-US" dirty="0"/>
              <a:t>        &lt;script type="text/</a:t>
            </a:r>
            <a:r>
              <a:rPr lang="en-US" dirty="0" err="1"/>
              <a:t>javascript</a:t>
            </a:r>
            <a:r>
              <a:rPr lang="en-US" dirty="0"/>
              <a:t>"&gt;</a:t>
            </a:r>
          </a:p>
          <a:p>
            <a:r>
              <a:rPr lang="en-US" dirty="0"/>
              <a:t>            function </a:t>
            </a:r>
            <a:r>
              <a:rPr lang="en-US" dirty="0" err="1"/>
              <a:t>init</a:t>
            </a:r>
            <a:r>
              <a:rPr lang="en-US" dirty="0"/>
              <a:t>() {</a:t>
            </a:r>
          </a:p>
          <a:p>
            <a:r>
              <a:rPr lang="en-US" dirty="0"/>
              <a:t>                </a:t>
            </a:r>
            <a:r>
              <a:rPr lang="en-US" dirty="0" err="1"/>
              <a:t>var</a:t>
            </a:r>
            <a:r>
              <a:rPr lang="en-US" dirty="0"/>
              <a:t> canvas = </a:t>
            </a:r>
            <a:r>
              <a:rPr lang="en-US" dirty="0" err="1"/>
              <a:t>document.getElementById</a:t>
            </a:r>
            <a:r>
              <a:rPr lang="en-US" dirty="0"/>
              <a:t>("</a:t>
            </a:r>
            <a:r>
              <a:rPr lang="en-US" dirty="0" err="1"/>
              <a:t>myCanvas</a:t>
            </a:r>
            <a:r>
              <a:rPr lang="en-US" dirty="0"/>
              <a:t>");</a:t>
            </a:r>
          </a:p>
          <a:p>
            <a:r>
              <a:rPr lang="en-US" dirty="0"/>
              <a:t>                </a:t>
            </a:r>
            <a:r>
              <a:rPr lang="en-US" dirty="0" err="1"/>
              <a:t>var</a:t>
            </a:r>
            <a:r>
              <a:rPr lang="en-US" dirty="0"/>
              <a:t> </a:t>
            </a:r>
            <a:r>
              <a:rPr lang="en-US" dirty="0" err="1"/>
              <a:t>ctx</a:t>
            </a:r>
            <a:r>
              <a:rPr lang="en-US" dirty="0"/>
              <a:t> = </a:t>
            </a:r>
            <a:r>
              <a:rPr lang="en-US" dirty="0" err="1"/>
              <a:t>canvas.getContext</a:t>
            </a:r>
            <a:r>
              <a:rPr lang="en-US" dirty="0"/>
              <a:t>("2d");</a:t>
            </a:r>
          </a:p>
          <a:p>
            <a:r>
              <a:rPr lang="en-US" dirty="0"/>
              <a:t>                </a:t>
            </a:r>
            <a:r>
              <a:rPr lang="en-US" dirty="0" err="1"/>
              <a:t>ctx.fillStyle</a:t>
            </a:r>
            <a:r>
              <a:rPr lang="en-US" dirty="0"/>
              <a:t> = "</a:t>
            </a:r>
            <a:r>
              <a:rPr lang="en-US" dirty="0" err="1"/>
              <a:t>rgb</a:t>
            </a:r>
            <a:r>
              <a:rPr lang="en-US" dirty="0"/>
              <a:t>(0,0,255)";</a:t>
            </a:r>
          </a:p>
          <a:p>
            <a:r>
              <a:rPr lang="en-US" dirty="0"/>
              <a:t>                </a:t>
            </a:r>
            <a:r>
              <a:rPr lang="en-US" dirty="0" err="1"/>
              <a:t>ctx.fillRect</a:t>
            </a:r>
            <a:r>
              <a:rPr lang="en-US" dirty="0"/>
              <a:t>(10, 10, 100, 100);</a:t>
            </a:r>
          </a:p>
          <a:p>
            <a:r>
              <a:rPr lang="en-US" dirty="0"/>
              <a:t>            }</a:t>
            </a:r>
          </a:p>
          <a:p>
            <a:r>
              <a:rPr lang="en-US" dirty="0"/>
              <a:t>        &lt;/script&gt;</a:t>
            </a:r>
          </a:p>
          <a:p>
            <a:r>
              <a:rPr lang="en-US" dirty="0"/>
              <a:t>    &lt;/head&gt;</a:t>
            </a:r>
          </a:p>
          <a:p>
            <a:r>
              <a:rPr lang="en-US" dirty="0"/>
              <a:t>    &lt;body </a:t>
            </a:r>
            <a:r>
              <a:rPr lang="en-US" dirty="0" err="1"/>
              <a:t>onload</a:t>
            </a:r>
            <a:r>
              <a:rPr lang="en-US" dirty="0"/>
              <a:t>="</a:t>
            </a:r>
            <a:r>
              <a:rPr lang="en-US" dirty="0" err="1"/>
              <a:t>init</a:t>
            </a:r>
            <a:r>
              <a:rPr lang="en-US" dirty="0"/>
              <a:t>();"&gt;</a:t>
            </a:r>
          </a:p>
          <a:p>
            <a:r>
              <a:rPr lang="en-US" dirty="0"/>
              <a:t>      &lt;canvas id="</a:t>
            </a:r>
            <a:r>
              <a:rPr lang="en-US" dirty="0" err="1"/>
              <a:t>myCanvas</a:t>
            </a:r>
            <a:r>
              <a:rPr lang="en-US" dirty="0"/>
              <a:t>" width="100px" height="100px"&gt;&lt;/canvas&gt;</a:t>
            </a:r>
          </a:p>
          <a:p>
            <a:r>
              <a:rPr lang="en-US" dirty="0"/>
              <a:t>    &lt;/body&gt;</a:t>
            </a:r>
          </a:p>
          <a:p>
            <a:endParaRPr lang="en-US"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0211" y="3733800"/>
            <a:ext cx="1524000"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5-Point Star 6"/>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1021604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CANVAS with </a:t>
            </a:r>
            <a:r>
              <a:rPr lang="en-US" dirty="0" err="1"/>
              <a:t>onload</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6</a:t>
            </a:fld>
            <a:endParaRPr lang="en-US"/>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600200"/>
            <a:ext cx="7626536"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Point Star 5"/>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2925606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30480"/>
            <a:ext cx="7620000" cy="1447800"/>
          </a:xfrm>
        </p:spPr>
        <p:txBody>
          <a:bodyPr>
            <a:normAutofit/>
          </a:bodyPr>
          <a:lstStyle/>
          <a:p>
            <a:r>
              <a:rPr lang="en-US" dirty="0"/>
              <a:t>Canvas with Event handler</a:t>
            </a:r>
          </a:p>
        </p:txBody>
      </p:sp>
      <p:sp>
        <p:nvSpPr>
          <p:cNvPr id="3" name="Content Placeholder 2"/>
          <p:cNvSpPr>
            <a:spLocks noGrp="1"/>
          </p:cNvSpPr>
          <p:nvPr>
            <p:ph idx="1"/>
          </p:nvPr>
        </p:nvSpPr>
        <p:spPr/>
        <p:txBody>
          <a:bodyPr/>
          <a:lstStyle/>
          <a:p>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7</a:t>
            </a:fld>
            <a:endParaRPr lang="en-US"/>
          </a:p>
        </p:txBody>
      </p:sp>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371600"/>
            <a:ext cx="443253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903908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
            <a:ext cx="8153400" cy="1447800"/>
          </a:xfrm>
        </p:spPr>
        <p:txBody>
          <a:bodyPr>
            <a:normAutofit/>
          </a:bodyPr>
          <a:lstStyle/>
          <a:p>
            <a:r>
              <a:rPr lang="en-US" sz="4000" dirty="0"/>
              <a:t>Canvas DEMO with drawing, images, videos, animation</a:t>
            </a:r>
          </a:p>
        </p:txBody>
      </p:sp>
      <p:sp>
        <p:nvSpPr>
          <p:cNvPr id="3" name="Content Placeholder 2"/>
          <p:cNvSpPr>
            <a:spLocks noGrp="1"/>
          </p:cNvSpPr>
          <p:nvPr>
            <p:ph idx="1"/>
          </p:nvPr>
        </p:nvSpPr>
        <p:spPr/>
        <p:txBody>
          <a:bodyPr/>
          <a:lstStyle/>
          <a:p>
            <a:r>
              <a:rPr lang="en-SG" dirty="0">
                <a:hlinkClick r:id="rId4"/>
              </a:rPr>
              <a:t>https://davidwalsh.name/canvas-demos</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8</a:t>
            </a:fld>
            <a:endParaRPr lang="en-US"/>
          </a:p>
        </p:txBody>
      </p:sp>
      <p:sp>
        <p:nvSpPr>
          <p:cNvPr id="6" name="5-Point Star 5"/>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2270044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6724466-CF14-4098-A57E-6BA1C4EB8FEB}" type="slidenum">
              <a:rPr lang="en-US" smtClean="0"/>
              <a:pPr/>
              <a:t>9</a:t>
            </a:fld>
            <a:endParaRPr lang="en-US"/>
          </a:p>
        </p:txBody>
      </p:sp>
      <p:sp>
        <p:nvSpPr>
          <p:cNvPr id="3" name="TextBox 2"/>
          <p:cNvSpPr txBox="1"/>
          <p:nvPr/>
        </p:nvSpPr>
        <p:spPr>
          <a:xfrm>
            <a:off x="1005988" y="6038088"/>
            <a:ext cx="6658939" cy="369332"/>
          </a:xfrm>
          <a:prstGeom prst="rect">
            <a:avLst/>
          </a:prstGeom>
          <a:noFill/>
        </p:spPr>
        <p:txBody>
          <a:bodyPr wrap="none" rtlCol="0">
            <a:spAutoFit/>
          </a:bodyPr>
          <a:lstStyle/>
          <a:p>
            <a:r>
              <a:rPr lang="en-US" dirty="0">
                <a:hlinkClick r:id="rId4"/>
              </a:rPr>
              <a:t>For other browsers support and versions : http://caniuse.com/</a:t>
            </a:r>
            <a:r>
              <a:rPr lang="en-US" dirty="0"/>
              <a:t>canvas</a:t>
            </a:r>
          </a:p>
        </p:txBody>
      </p:sp>
      <p:sp>
        <p:nvSpPr>
          <p:cNvPr id="7" name="Title 6">
            <a:extLst>
              <a:ext uri="{FF2B5EF4-FFF2-40B4-BE49-F238E27FC236}">
                <a16:creationId xmlns:a16="http://schemas.microsoft.com/office/drawing/2014/main" id="{4E7FE7CA-6FA3-47BF-8346-4ADC1E59B7F0}"/>
              </a:ext>
            </a:extLst>
          </p:cNvPr>
          <p:cNvSpPr>
            <a:spLocks noGrp="1"/>
          </p:cNvSpPr>
          <p:nvPr>
            <p:ph type="title"/>
          </p:nvPr>
        </p:nvSpPr>
        <p:spPr/>
        <p:txBody>
          <a:bodyPr/>
          <a:lstStyle/>
          <a:p>
            <a:r>
              <a:rPr lang="en-US" dirty="0"/>
              <a:t>  Canvas Support</a:t>
            </a:r>
            <a:endParaRPr lang="en-SG" dirty="0"/>
          </a:p>
        </p:txBody>
      </p:sp>
      <p:pic>
        <p:nvPicPr>
          <p:cNvPr id="2" name="Picture 1">
            <a:extLst>
              <a:ext uri="{FF2B5EF4-FFF2-40B4-BE49-F238E27FC236}">
                <a16:creationId xmlns:a16="http://schemas.microsoft.com/office/drawing/2014/main" id="{96C56BE8-FAED-485A-A8DB-548DD0536829}"/>
              </a:ext>
            </a:extLst>
          </p:cNvPr>
          <p:cNvPicPr>
            <a:picLocks noChangeAspect="1"/>
          </p:cNvPicPr>
          <p:nvPr/>
        </p:nvPicPr>
        <p:blipFill>
          <a:blip r:embed="rId5"/>
          <a:stretch>
            <a:fillRect/>
          </a:stretch>
        </p:blipFill>
        <p:spPr>
          <a:xfrm>
            <a:off x="762000" y="2435402"/>
            <a:ext cx="7620000" cy="2386483"/>
          </a:xfrm>
          <a:prstGeom prst="rect">
            <a:avLst/>
          </a:prstGeom>
        </p:spPr>
      </p:pic>
    </p:spTree>
    <p:custDataLst>
      <p:tags r:id="rId1"/>
    </p:custDataLst>
    <p:extLst>
      <p:ext uri="{BB962C8B-B14F-4D97-AF65-F5344CB8AC3E}">
        <p14:creationId xmlns:p14="http://schemas.microsoft.com/office/powerpoint/2010/main" val="3126331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Canvas Characteristics Overview</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10</a:t>
            </a:fld>
            <a:endParaRPr lang="en-US"/>
          </a:p>
        </p:txBody>
      </p:sp>
      <p:sp>
        <p:nvSpPr>
          <p:cNvPr id="6" name="Content Placeholder 2"/>
          <p:cNvSpPr>
            <a:spLocks noGrp="1"/>
          </p:cNvSpPr>
          <p:nvPr>
            <p:ph idx="1"/>
          </p:nvPr>
        </p:nvSpPr>
        <p:spPr>
          <a:xfrm>
            <a:off x="990600" y="1371600"/>
            <a:ext cx="7395380" cy="4876800"/>
          </a:xfrm>
          <a:prstGeom prst="rect">
            <a:avLst/>
          </a:prstGeom>
        </p:spPr>
        <p:txBody>
          <a:bodyPr vert="horz" wrap="square" lIns="0" tIns="0" rIns="0" bIns="0" rtlCol="0">
            <a:noAutofit/>
          </a:bodyPr>
          <a:lstStyle>
            <a:lvl1pPr marL="460375" indent="-460375" algn="l" defTabSz="914363" rtl="0" eaLnBrk="1" latinLnBrk="0" hangingPunct="1">
              <a:lnSpc>
                <a:spcPct val="90000"/>
              </a:lnSpc>
              <a:spcBef>
                <a:spcPct val="20000"/>
              </a:spcBef>
              <a:buSzPct val="90000"/>
              <a:buFontTx/>
              <a:buBlip>
                <a:blip r:embed="rId4"/>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Tx/>
              <a:buBlip>
                <a:blip r:embed="rId5"/>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Tx/>
              <a:buBlip>
                <a:blip r:embed="rId5"/>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Char char="•"/>
            </a:pPr>
            <a:r>
              <a:rPr lang="en-US" dirty="0"/>
              <a:t>Allow drawing into a bitmap area</a:t>
            </a:r>
          </a:p>
          <a:p>
            <a:pPr lvl="1"/>
            <a:r>
              <a:rPr lang="en-US" dirty="0"/>
              <a:t>See it as a dynamic PNG ;-) </a:t>
            </a:r>
          </a:p>
          <a:p>
            <a:pPr lvl="1"/>
            <a:endParaRPr lang="en-US" sz="2400" dirty="0"/>
          </a:p>
          <a:p>
            <a:pPr>
              <a:buFont typeface="Arial" pitchFamily="34" charset="0"/>
              <a:buChar char="•"/>
            </a:pPr>
            <a:r>
              <a:rPr lang="en-US" dirty="0"/>
              <a:t>Uses JavaScript APIs &amp; drawing primitives</a:t>
            </a:r>
          </a:p>
          <a:p>
            <a:pPr lvl="1"/>
            <a:r>
              <a:rPr lang="en-US" dirty="0"/>
              <a:t>Rectangles, lines, fills, arcs, Bezier curves, etc. similar to SVG</a:t>
            </a:r>
            <a:endParaRPr lang="en-US" sz="1600" dirty="0"/>
          </a:p>
          <a:p>
            <a:pPr>
              <a:buFont typeface="Arial" pitchFamily="34" charset="0"/>
              <a:buChar char="•"/>
            </a:pPr>
            <a:r>
              <a:rPr lang="en-US" dirty="0"/>
              <a:t>Immediate mode : « Fire and Forget »</a:t>
            </a:r>
          </a:p>
          <a:p>
            <a:pPr lvl="1"/>
            <a:r>
              <a:rPr lang="en-US" dirty="0"/>
              <a:t>It’s up to you to maintain your objects tree</a:t>
            </a:r>
            <a:endParaRPr lang="en-US" sz="2400" dirty="0"/>
          </a:p>
          <a:p>
            <a:pPr>
              <a:buFont typeface="Arial" pitchFamily="34" charset="0"/>
              <a:buChar char="•"/>
            </a:pPr>
            <a:r>
              <a:rPr lang="en-US" dirty="0"/>
              <a:t>Canvas is a black box : content not visible into the DOM</a:t>
            </a:r>
          </a:p>
          <a:p>
            <a:pPr lvl="1"/>
            <a:r>
              <a:rPr lang="en-US" dirty="0"/>
              <a:t>Beware of accessibility issues</a:t>
            </a:r>
          </a:p>
          <a:p>
            <a:pPr marL="0" indent="0">
              <a:buNone/>
            </a:pPr>
            <a:endParaRPr lang="en-US" dirty="0"/>
          </a:p>
          <a:p>
            <a:pPr marL="0" indent="0">
              <a:buNone/>
            </a:pPr>
            <a:endParaRPr lang="en-US" dirty="0"/>
          </a:p>
        </p:txBody>
      </p:sp>
      <p:sp>
        <p:nvSpPr>
          <p:cNvPr id="7" name="5-Point Star 6"/>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3727838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90A72-7620-47CD-B3AC-B9A58E1F248B}"/>
              </a:ext>
            </a:extLst>
          </p:cNvPr>
          <p:cNvSpPr>
            <a:spLocks noGrp="1"/>
          </p:cNvSpPr>
          <p:nvPr>
            <p:ph type="title"/>
          </p:nvPr>
        </p:nvSpPr>
        <p:spPr/>
        <p:txBody>
          <a:bodyPr/>
          <a:lstStyle/>
          <a:p>
            <a:r>
              <a:rPr lang="en-US" dirty="0"/>
              <a:t>SVG DEMO</a:t>
            </a:r>
            <a:endParaRPr lang="en-SG" dirty="0"/>
          </a:p>
        </p:txBody>
      </p:sp>
      <p:sp>
        <p:nvSpPr>
          <p:cNvPr id="3" name="Content Placeholder 2">
            <a:extLst>
              <a:ext uri="{FF2B5EF4-FFF2-40B4-BE49-F238E27FC236}">
                <a16:creationId xmlns:a16="http://schemas.microsoft.com/office/drawing/2014/main" id="{796EC0B8-D7F1-4E13-AB4E-69D975E8A448}"/>
              </a:ext>
            </a:extLst>
          </p:cNvPr>
          <p:cNvSpPr>
            <a:spLocks noGrp="1"/>
          </p:cNvSpPr>
          <p:nvPr>
            <p:ph idx="1"/>
          </p:nvPr>
        </p:nvSpPr>
        <p:spPr/>
        <p:txBody>
          <a:bodyPr/>
          <a:lstStyle/>
          <a:p>
            <a:r>
              <a:rPr lang="en-SG" dirty="0">
                <a:hlinkClick r:id="rId3"/>
              </a:rPr>
              <a:t>http://snapsvg.io/demos</a:t>
            </a:r>
            <a:endParaRPr lang="en-SG" dirty="0"/>
          </a:p>
        </p:txBody>
      </p:sp>
      <p:sp>
        <p:nvSpPr>
          <p:cNvPr id="4" name="Slide Number Placeholder 3">
            <a:extLst>
              <a:ext uri="{FF2B5EF4-FFF2-40B4-BE49-F238E27FC236}">
                <a16:creationId xmlns:a16="http://schemas.microsoft.com/office/drawing/2014/main" id="{564B945E-C058-4D0C-83F4-40B61D854318}"/>
              </a:ext>
            </a:extLst>
          </p:cNvPr>
          <p:cNvSpPr>
            <a:spLocks noGrp="1"/>
          </p:cNvSpPr>
          <p:nvPr>
            <p:ph type="sldNum" sz="quarter" idx="12"/>
          </p:nvPr>
        </p:nvSpPr>
        <p:spPr/>
        <p:txBody>
          <a:bodyPr/>
          <a:lstStyle/>
          <a:p>
            <a:fld id="{A6724466-CF14-4098-A57E-6BA1C4EB8FEB}" type="slidenum">
              <a:rPr lang="en-US" smtClean="0"/>
              <a:pPr/>
              <a:t>11</a:t>
            </a:fld>
            <a:endParaRPr lang="en-US"/>
          </a:p>
        </p:txBody>
      </p:sp>
    </p:spTree>
    <p:custDataLst>
      <p:tags r:id="rId1"/>
    </p:custDataLst>
    <p:extLst>
      <p:ext uri="{BB962C8B-B14F-4D97-AF65-F5344CB8AC3E}">
        <p14:creationId xmlns:p14="http://schemas.microsoft.com/office/powerpoint/2010/main" val="1081434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SVG</a:t>
            </a:r>
            <a:endParaRPr lang="en-SG" dirty="0"/>
          </a:p>
        </p:txBody>
      </p:sp>
      <p:sp>
        <p:nvSpPr>
          <p:cNvPr id="3" name="Content Placeholder 2"/>
          <p:cNvSpPr>
            <a:spLocks noGrp="1"/>
          </p:cNvSpPr>
          <p:nvPr>
            <p:ph idx="1"/>
          </p:nvPr>
        </p:nvSpPr>
        <p:spPr>
          <a:xfrm>
            <a:off x="533400" y="1295400"/>
            <a:ext cx="8153400" cy="5105400"/>
          </a:xfrm>
        </p:spPr>
        <p:txBody>
          <a:bodyPr>
            <a:normAutofit fontScale="92500"/>
          </a:bodyPr>
          <a:lstStyle/>
          <a:p>
            <a:pPr>
              <a:buFont typeface="Wingdings" pitchFamily="2" charset="2"/>
              <a:buChar char="v"/>
            </a:pPr>
            <a:r>
              <a:rPr lang="en-SG" sz="2600" dirty="0"/>
              <a:t>HTML5 has support for inline SVG</a:t>
            </a:r>
            <a:r>
              <a:rPr lang="en-US" sz="2600" b="1" dirty="0"/>
              <a:t> </a:t>
            </a:r>
          </a:p>
          <a:p>
            <a:pPr>
              <a:buFont typeface="Wingdings" pitchFamily="2" charset="2"/>
              <a:buChar char="v"/>
            </a:pPr>
            <a:endParaRPr lang="en-SG" dirty="0"/>
          </a:p>
          <a:p>
            <a:pPr>
              <a:buFont typeface="Wingdings" pitchFamily="2" charset="2"/>
              <a:buChar char="v"/>
            </a:pPr>
            <a:r>
              <a:rPr lang="en-SG" dirty="0"/>
              <a:t>What is SVG?</a:t>
            </a:r>
          </a:p>
          <a:p>
            <a:r>
              <a:rPr lang="en-SG" dirty="0"/>
              <a:t>SVG stands for Scalable Vector Graphics</a:t>
            </a:r>
          </a:p>
          <a:p>
            <a:r>
              <a:rPr lang="en-SG" dirty="0"/>
              <a:t>SVG is used to define vector-based graphics for the Web</a:t>
            </a:r>
          </a:p>
          <a:p>
            <a:r>
              <a:rPr lang="en-SG" dirty="0"/>
              <a:t>SVG defines the graphics in XML format</a:t>
            </a:r>
          </a:p>
          <a:p>
            <a:r>
              <a:rPr lang="en-SG" dirty="0"/>
              <a:t>SVG graphics do NOT lose any quality if they are zoomed or resized</a:t>
            </a:r>
          </a:p>
          <a:p>
            <a:r>
              <a:rPr lang="en-SG" dirty="0"/>
              <a:t>Every element and every attribute in SVG files can be animated</a:t>
            </a:r>
          </a:p>
          <a:p>
            <a:r>
              <a:rPr lang="en-SG" dirty="0"/>
              <a:t>SVG is a W3C recommendation</a:t>
            </a:r>
          </a:p>
          <a:p>
            <a:pPr>
              <a:buFont typeface="Wingdings" pitchFamily="2" charset="2"/>
              <a:buChar char="v"/>
            </a:pPr>
            <a:endParaRPr lang="en-SG" b="1" dirty="0"/>
          </a:p>
          <a:p>
            <a:pPr marL="0" indent="0">
              <a:buNone/>
            </a:pPr>
            <a:endParaRPr lang="en-SG" dirty="0"/>
          </a:p>
          <a:p>
            <a:pPr marL="0" indent="0">
              <a:buNone/>
            </a:pPr>
            <a:endParaRPr lang="en-SG"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12</a:t>
            </a:fld>
            <a:endParaRPr lang="en-US"/>
          </a:p>
        </p:txBody>
      </p:sp>
      <p:sp>
        <p:nvSpPr>
          <p:cNvPr id="7" name="5-Point Star 6"/>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2025825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fontScale="90000"/>
          </a:bodyPr>
          <a:lstStyle/>
          <a:p>
            <a:r>
              <a:rPr lang="en-US" dirty="0"/>
              <a:t>SVG Basics – Scalable Vector Graphic</a:t>
            </a:r>
          </a:p>
        </p:txBody>
      </p:sp>
      <p:sp>
        <p:nvSpPr>
          <p:cNvPr id="3" name="Content Placeholder 2"/>
          <p:cNvSpPr>
            <a:spLocks noGrp="1"/>
          </p:cNvSpPr>
          <p:nvPr>
            <p:ph idx="1"/>
          </p:nvPr>
        </p:nvSpPr>
        <p:spPr/>
        <p:txBody>
          <a:bodyPr>
            <a:normAutofit fontScale="92500" lnSpcReduction="10000"/>
          </a:bodyPr>
          <a:lstStyle/>
          <a:p>
            <a:r>
              <a:rPr lang="en-US" dirty="0"/>
              <a:t>To draw 2D vector graphics using XML</a:t>
            </a:r>
          </a:p>
          <a:p>
            <a:endParaRPr lang="en-US" sz="2400" dirty="0"/>
          </a:p>
          <a:p>
            <a:r>
              <a:rPr lang="en-US" dirty="0"/>
              <a:t>“retained mode” : the objects tree is kept in memory</a:t>
            </a:r>
          </a:p>
          <a:p>
            <a:endParaRPr lang="en-US" sz="2400" dirty="0"/>
          </a:p>
          <a:p>
            <a:r>
              <a:rPr lang="en-US" dirty="0"/>
              <a:t>Access to the SVG elements through the DOM</a:t>
            </a:r>
          </a:p>
          <a:p>
            <a:endParaRPr lang="en-US" sz="2400" dirty="0"/>
          </a:p>
          <a:p>
            <a:r>
              <a:rPr lang="en-US" dirty="0"/>
              <a:t>SVG elements can be styled with CSS &amp; can be decorated with ARIA</a:t>
            </a:r>
          </a:p>
          <a:p>
            <a:endParaRPr lang="en-US" sz="2400" dirty="0"/>
          </a:p>
          <a:p>
            <a:r>
              <a:rPr lang="en-US" dirty="0"/>
              <a:t>Can be used from an external .</a:t>
            </a:r>
            <a:r>
              <a:rPr lang="en-US" dirty="0" err="1"/>
              <a:t>svg</a:t>
            </a:r>
            <a:r>
              <a:rPr lang="en-US" dirty="0"/>
              <a:t> file or in-line in the document</a:t>
            </a:r>
          </a:p>
          <a:p>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13</a:t>
            </a:fld>
            <a:endParaRPr lang="en-US"/>
          </a:p>
        </p:txBody>
      </p:sp>
      <p:sp>
        <p:nvSpPr>
          <p:cNvPr id="6" name="5-Point Star 5"/>
          <p:cNvSpPr/>
          <p:nvPr/>
        </p:nvSpPr>
        <p:spPr>
          <a:xfrm rot="1367558">
            <a:off x="8371017" y="957896"/>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2068150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5 &lt;SVG&gt;Example</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14</a:t>
            </a:fld>
            <a:endParaRPr lang="en-US"/>
          </a:p>
        </p:txBody>
      </p:sp>
      <p:sp>
        <p:nvSpPr>
          <p:cNvPr id="6" name="Text Placeholder 4"/>
          <p:cNvSpPr>
            <a:spLocks noGrp="1"/>
          </p:cNvSpPr>
          <p:nvPr>
            <p:ph idx="1"/>
          </p:nvPr>
        </p:nvSpPr>
        <p:spPr>
          <a:prstGeom prst="round2DiagRect">
            <a:avLst/>
          </a:prstGeom>
        </p:spPr>
        <p:style>
          <a:lnRef idx="2">
            <a:schemeClr val="accent4"/>
          </a:lnRef>
          <a:fillRef idx="1">
            <a:schemeClr val="lt1"/>
          </a:fillRef>
          <a:effectRef idx="0">
            <a:schemeClr val="accent4"/>
          </a:effectRef>
          <a:fontRef idx="minor">
            <a:schemeClr val="dk1"/>
          </a:fontRef>
        </p:style>
        <p:txBody>
          <a:bodyPr vert="horz" wrap="square" lIns="91440" tIns="91440" rIns="91440" bIns="91440" rtlCol="0">
            <a:noAutofit/>
          </a:bodyPr>
          <a:lstStyle>
            <a:lvl1pPr marL="0" indent="0" algn="l" defTabSz="914363" rtl="0" eaLnBrk="1" latinLnBrk="0" hangingPunct="1">
              <a:lnSpc>
                <a:spcPct val="90000"/>
              </a:lnSpc>
              <a:spcBef>
                <a:spcPct val="20000"/>
              </a:spcBef>
              <a:buSzPct val="90000"/>
              <a:buFont typeface="Arial" pitchFamily="34" charset="0"/>
              <a:buNone/>
              <a:defRPr sz="2400" kern="1200">
                <a:solidFill>
                  <a:schemeClr val="dk1"/>
                </a:solidFill>
                <a:latin typeface="Consolas" pitchFamily="49" charset="0"/>
                <a:ea typeface="+mn-ea"/>
                <a:cs typeface="Consolas" pitchFamily="49" charset="0"/>
              </a:defRPr>
            </a:lvl1pPr>
            <a:lvl2pPr marL="460375" indent="0" algn="l" defTabSz="914363" rtl="0" eaLnBrk="1" latinLnBrk="0" hangingPunct="1">
              <a:lnSpc>
                <a:spcPct val="90000"/>
              </a:lnSpc>
              <a:spcBef>
                <a:spcPct val="20000"/>
              </a:spcBef>
              <a:buSzPct val="90000"/>
              <a:buFont typeface="Arial" pitchFamily="34" charset="0"/>
              <a:buNone/>
              <a:defRPr sz="2000" kern="1200">
                <a:solidFill>
                  <a:schemeClr val="dk1"/>
                </a:solidFill>
                <a:latin typeface="Consolas" pitchFamily="49" charset="0"/>
                <a:ea typeface="+mn-ea"/>
                <a:cs typeface="Consolas" pitchFamily="49" charset="0"/>
              </a:defRPr>
            </a:lvl2pPr>
            <a:lvl3pPr marL="855663" indent="0" algn="l" defTabSz="914363" rtl="0" eaLnBrk="1" latinLnBrk="0" hangingPunct="1">
              <a:lnSpc>
                <a:spcPct val="90000"/>
              </a:lnSpc>
              <a:spcBef>
                <a:spcPct val="20000"/>
              </a:spcBef>
              <a:buSzPct val="90000"/>
              <a:buFont typeface="Arial" pitchFamily="34" charset="0"/>
              <a:buNone/>
              <a:defRPr sz="1800" kern="1200">
                <a:solidFill>
                  <a:schemeClr val="dk1"/>
                </a:solidFill>
                <a:latin typeface="Consolas" pitchFamily="49" charset="0"/>
                <a:ea typeface="+mn-ea"/>
                <a:cs typeface="Consolas" pitchFamily="49" charset="0"/>
              </a:defRPr>
            </a:lvl3pPr>
            <a:lvl4pPr marL="1258888" indent="0" algn="l" defTabSz="914363" rtl="0" eaLnBrk="1" latinLnBrk="0" hangingPunct="1">
              <a:lnSpc>
                <a:spcPct val="90000"/>
              </a:lnSpc>
              <a:spcBef>
                <a:spcPct val="20000"/>
              </a:spcBef>
              <a:buSzPct val="90000"/>
              <a:buFont typeface="Arial" pitchFamily="34" charset="0"/>
              <a:buNone/>
              <a:defRPr sz="1600" kern="1200">
                <a:solidFill>
                  <a:schemeClr val="dk1"/>
                </a:solidFill>
                <a:latin typeface="Consolas" pitchFamily="49" charset="0"/>
                <a:ea typeface="+mn-ea"/>
                <a:cs typeface="Consolas" pitchFamily="49" charset="0"/>
              </a:defRPr>
            </a:lvl4pPr>
            <a:lvl5pPr marL="1604963" indent="0" algn="l" defTabSz="914363" rtl="0" eaLnBrk="1" latinLnBrk="0" hangingPunct="1">
              <a:lnSpc>
                <a:spcPct val="90000"/>
              </a:lnSpc>
              <a:spcBef>
                <a:spcPct val="20000"/>
              </a:spcBef>
              <a:buSzPct val="90000"/>
              <a:buFont typeface="Arial" pitchFamily="34" charset="0"/>
              <a:buNone/>
              <a:defRPr sz="1600" kern="1200">
                <a:solidFill>
                  <a:schemeClr val="dk1"/>
                </a:solidFill>
                <a:latin typeface="Consolas" pitchFamily="49" charset="0"/>
                <a:ea typeface="+mn-ea"/>
                <a:cs typeface="Consolas" pitchFamily="49" charset="0"/>
              </a:defRPr>
            </a:lvl5pPr>
            <a:lvl6pPr marL="2514499" indent="-228591" algn="l" defTabSz="914363"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r>
              <a:rPr lang="en-US" sz="2000" dirty="0">
                <a:solidFill>
                  <a:srgbClr val="000000"/>
                </a:solidFill>
              </a:rPr>
              <a:t>&lt;</a:t>
            </a:r>
            <a:r>
              <a:rPr lang="en-US" sz="2000" dirty="0" err="1">
                <a:solidFill>
                  <a:srgbClr val="000000"/>
                </a:solidFill>
              </a:rPr>
              <a:t>svg</a:t>
            </a:r>
            <a:r>
              <a:rPr lang="en-US" sz="2000" dirty="0">
                <a:solidFill>
                  <a:srgbClr val="000000"/>
                </a:solidFill>
              </a:rPr>
              <a:t> width="400" height="200" </a:t>
            </a:r>
            <a:r>
              <a:rPr lang="en-US" sz="2000" dirty="0" err="1">
                <a:solidFill>
                  <a:srgbClr val="000000"/>
                </a:solidFill>
              </a:rPr>
              <a:t>xmlns</a:t>
            </a:r>
            <a:r>
              <a:rPr lang="en-US" sz="2000" dirty="0">
                <a:solidFill>
                  <a:srgbClr val="000000"/>
                </a:solidFill>
              </a:rPr>
              <a:t>="http://www.w3.org/2000/svg"&gt;</a:t>
            </a:r>
          </a:p>
          <a:p>
            <a:r>
              <a:rPr lang="en-US" sz="2000" dirty="0">
                <a:solidFill>
                  <a:srgbClr val="000000"/>
                </a:solidFill>
              </a:rPr>
              <a:t>    &lt;</a:t>
            </a:r>
            <a:r>
              <a:rPr lang="en-US" sz="2000" dirty="0" err="1">
                <a:solidFill>
                  <a:srgbClr val="000000"/>
                </a:solidFill>
              </a:rPr>
              <a:t>rect</a:t>
            </a:r>
            <a:r>
              <a:rPr lang="en-US" sz="2000" dirty="0">
                <a:solidFill>
                  <a:srgbClr val="000000"/>
                </a:solidFill>
              </a:rPr>
              <a:t> fill="red" x="20" y="20" width="100" height="75" /&gt;</a:t>
            </a:r>
          </a:p>
          <a:p>
            <a:r>
              <a:rPr lang="en-US" sz="2000" dirty="0">
                <a:solidFill>
                  <a:srgbClr val="000000"/>
                </a:solidFill>
              </a:rPr>
              <a:t>    &lt;</a:t>
            </a:r>
            <a:r>
              <a:rPr lang="en-US" sz="2000" dirty="0" err="1">
                <a:solidFill>
                  <a:srgbClr val="000000"/>
                </a:solidFill>
              </a:rPr>
              <a:t>rect</a:t>
            </a:r>
            <a:r>
              <a:rPr lang="en-US" sz="2000" dirty="0">
                <a:solidFill>
                  <a:srgbClr val="000000"/>
                </a:solidFill>
              </a:rPr>
              <a:t> fill="blue" x="50" y="50" width="100" height="75" /&gt;</a:t>
            </a:r>
          </a:p>
          <a:p>
            <a:r>
              <a:rPr lang="en-US" sz="2000" dirty="0">
                <a:solidFill>
                  <a:srgbClr val="000000"/>
                </a:solidFill>
              </a:rPr>
              <a:t>&lt;/</a:t>
            </a:r>
            <a:r>
              <a:rPr lang="en-US" sz="2000" dirty="0" err="1">
                <a:solidFill>
                  <a:srgbClr val="000000"/>
                </a:solidFill>
              </a:rPr>
              <a:t>svg</a:t>
            </a:r>
            <a:r>
              <a:rPr lang="en-US" sz="2000" dirty="0">
                <a:solidFill>
                  <a:srgbClr val="000000"/>
                </a:solidFill>
              </a:rPr>
              <a:t>&gt; </a:t>
            </a:r>
          </a:p>
        </p:txBody>
      </p:sp>
      <p:pic>
        <p:nvPicPr>
          <p:cNvPr id="7" name="Picture 6"/>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67200" y="2743200"/>
            <a:ext cx="4264496" cy="350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5-Point Star 7"/>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3501867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15</a:t>
            </a:fld>
            <a:endParaRPr 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563440"/>
            <a:ext cx="7620000" cy="3970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0" y="3048000"/>
            <a:ext cx="40386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Oval 6"/>
          <p:cNvSpPr/>
          <p:nvPr/>
        </p:nvSpPr>
        <p:spPr>
          <a:xfrm>
            <a:off x="990600" y="1600200"/>
            <a:ext cx="1143000" cy="1219200"/>
          </a:xfrm>
          <a:prstGeom prst="ellipse">
            <a:avLst/>
          </a:prstGeom>
          <a:solidFill>
            <a:schemeClr val="accent1">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867150" y="1143000"/>
            <a:ext cx="800100" cy="762000"/>
          </a:xfrm>
          <a:prstGeom prst="ellipse">
            <a:avLst/>
          </a:prstGeom>
          <a:solidFill>
            <a:schemeClr val="accent1">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667250" y="1600200"/>
            <a:ext cx="1143000" cy="1219200"/>
          </a:xfrm>
          <a:prstGeom prst="ellipse">
            <a:avLst/>
          </a:prstGeom>
          <a:solidFill>
            <a:schemeClr val="accent1">
              <a:alpha val="2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536036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609600"/>
            <a:ext cx="7688036"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447800" y="-76200"/>
            <a:ext cx="7395380" cy="944562"/>
          </a:xfrm>
        </p:spPr>
        <p:txBody>
          <a:bodyPr/>
          <a:lstStyle/>
          <a:p>
            <a:r>
              <a:rPr lang="en-US" dirty="0"/>
              <a:t>CSS Styling with SVG </a:t>
            </a:r>
          </a:p>
        </p:txBody>
      </p:sp>
      <p:sp>
        <p:nvSpPr>
          <p:cNvPr id="3" name="Content Placeholder 2"/>
          <p:cNvSpPr>
            <a:spLocks noGrp="1"/>
          </p:cNvSpPr>
          <p:nvPr>
            <p:ph idx="1"/>
          </p:nvPr>
        </p:nvSpPr>
        <p:spPr>
          <a:xfrm>
            <a:off x="9149862" y="1066800"/>
            <a:ext cx="7395380" cy="4876800"/>
          </a:xfrm>
        </p:spPr>
        <p:txBody>
          <a:bodyPr/>
          <a:lstStyle/>
          <a:p>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16</a:t>
            </a:fld>
            <a:endParaRPr lang="en-US"/>
          </a:p>
        </p:txBody>
      </p:sp>
      <p:sp>
        <p:nvSpPr>
          <p:cNvPr id="6" name="5-Point Star 5"/>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3775235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Styling with SVG </a:t>
            </a:r>
          </a:p>
        </p:txBody>
      </p:sp>
      <p:sp>
        <p:nvSpPr>
          <p:cNvPr id="3" name="Content Placeholder 2"/>
          <p:cNvSpPr>
            <a:spLocks noGrp="1"/>
          </p:cNvSpPr>
          <p:nvPr>
            <p:ph idx="1"/>
          </p:nvPr>
        </p:nvSpPr>
        <p:spPr/>
        <p:txBody>
          <a:bodyPr/>
          <a:lstStyle/>
          <a:p>
            <a:r>
              <a:rPr lang="en-US" dirty="0"/>
              <a:t>On mouse out – based on predefined styling</a:t>
            </a:r>
          </a:p>
          <a:p>
            <a:endParaRPr lang="en-US" dirty="0"/>
          </a:p>
          <a:p>
            <a:endParaRPr lang="en-US" dirty="0"/>
          </a:p>
          <a:p>
            <a:endParaRPr lang="en-US" dirty="0"/>
          </a:p>
          <a:p>
            <a:endParaRPr lang="en-US" dirty="0"/>
          </a:p>
          <a:p>
            <a:r>
              <a:rPr lang="en-US" dirty="0"/>
              <a:t>On mouse over</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17</a:t>
            </a:fld>
            <a:endParaRPr lang="en-US"/>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905000"/>
            <a:ext cx="6749041"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9908" y="4343399"/>
            <a:ext cx="6295292" cy="1818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5-Point Star 6"/>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2713031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click event with SVG</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18</a:t>
            </a:fld>
            <a:endParaRPr lang="en-US"/>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524000"/>
            <a:ext cx="8692662" cy="4808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Point Star 5"/>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3290524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click event with SVG</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19</a:t>
            </a:fld>
            <a:endParaRPr lang="en-US"/>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1" y="1447800"/>
            <a:ext cx="317472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6276" y="1905000"/>
            <a:ext cx="414095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3124200"/>
            <a:ext cx="35052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5-Point Star 6"/>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3472977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049" y="3665272"/>
            <a:ext cx="3086100" cy="278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Combining events &amp; styling</a:t>
            </a:r>
          </a:p>
        </p:txBody>
      </p:sp>
      <p:sp>
        <p:nvSpPr>
          <p:cNvPr id="5" name="Slide Number Placeholder 4"/>
          <p:cNvSpPr>
            <a:spLocks noGrp="1"/>
          </p:cNvSpPr>
          <p:nvPr>
            <p:ph type="sldNum" sz="quarter" idx="12"/>
          </p:nvPr>
        </p:nvSpPr>
        <p:spPr/>
        <p:txBody>
          <a:bodyPr/>
          <a:lstStyle/>
          <a:p>
            <a:fld id="{A6724466-CF14-4098-A57E-6BA1C4EB8FEB}" type="slidenum">
              <a:rPr lang="en-US" smtClean="0"/>
              <a:pPr/>
              <a:t>20</a:t>
            </a:fld>
            <a:endParaRPr lang="en-US"/>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295399"/>
            <a:ext cx="3313585" cy="1905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1524000"/>
            <a:ext cx="4343400" cy="2475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5"/>
          <p:cNvSpPr>
            <a:spLocks noGrp="1"/>
          </p:cNvSpPr>
          <p:nvPr>
            <p:ph idx="1"/>
          </p:nvPr>
        </p:nvSpPr>
        <p:spPr>
          <a:xfrm>
            <a:off x="990600" y="3200400"/>
            <a:ext cx="7772400" cy="1108816"/>
          </a:xfrm>
        </p:spPr>
        <p:txBody>
          <a:bodyPr>
            <a:normAutofit/>
          </a:bodyPr>
          <a:lstStyle/>
          <a:p>
            <a:pPr marL="0" indent="0">
              <a:buNone/>
            </a:pPr>
            <a:r>
              <a:rPr lang="en-US" dirty="0"/>
              <a:t>Before mouse over         After mouse over</a:t>
            </a:r>
          </a:p>
        </p:txBody>
      </p:sp>
      <p:pic>
        <p:nvPicPr>
          <p:cNvPr id="102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3211" y="4038600"/>
            <a:ext cx="3419475"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Content Placeholder 5"/>
          <p:cNvSpPr txBox="1">
            <a:spLocks/>
          </p:cNvSpPr>
          <p:nvPr/>
        </p:nvSpPr>
        <p:spPr>
          <a:xfrm>
            <a:off x="990600" y="5638800"/>
            <a:ext cx="7772400" cy="110881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itchFamily="2" charset="2"/>
              <a:buNone/>
            </a:pPr>
            <a:r>
              <a:rPr lang="en-US" dirty="0"/>
              <a:t>On clicking the Alaska map, pop up appears</a:t>
            </a:r>
          </a:p>
        </p:txBody>
      </p:sp>
      <p:sp>
        <p:nvSpPr>
          <p:cNvPr id="13" name="5-Point Star 12"/>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118187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030"/>
                                        </p:tgtEl>
                                        <p:attrNameLst>
                                          <p:attrName>style.visibility</p:attrName>
                                        </p:attrNameLst>
                                      </p:cBhvr>
                                      <p:to>
                                        <p:strVal val="visible"/>
                                      </p:to>
                                    </p:set>
                                    <p:animEffect transition="in" filter="wipe(down)">
                                      <p:cBhvr>
                                        <p:cTn id="23" dur="500"/>
                                        <p:tgtEl>
                                          <p:spTgt spid="1030"/>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029"/>
                                        </p:tgtEl>
                                        <p:attrNameLst>
                                          <p:attrName>style.visibility</p:attrName>
                                        </p:attrNameLst>
                                      </p:cBhvr>
                                      <p:to>
                                        <p:strVal val="visible"/>
                                      </p:to>
                                    </p:set>
                                    <p:anim calcmode="lin" valueType="num">
                                      <p:cBhvr additive="base">
                                        <p:cTn id="28" dur="500" fill="hold"/>
                                        <p:tgtEl>
                                          <p:spTgt spid="1029"/>
                                        </p:tgtEl>
                                        <p:attrNameLst>
                                          <p:attrName>ppt_x</p:attrName>
                                        </p:attrNameLst>
                                      </p:cBhvr>
                                      <p:tavLst>
                                        <p:tav tm="0">
                                          <p:val>
                                            <p:strVal val="#ppt_x"/>
                                          </p:val>
                                        </p:tav>
                                        <p:tav tm="100000">
                                          <p:val>
                                            <p:strVal val="#ppt_x"/>
                                          </p:val>
                                        </p:tav>
                                      </p:tavLst>
                                    </p:anim>
                                    <p:anim calcmode="lin" valueType="num">
                                      <p:cBhvr additive="base">
                                        <p:cTn id="29" dur="500" fill="hold"/>
                                        <p:tgtEl>
                                          <p:spTgt spid="10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events &amp; styling</a:t>
            </a:r>
          </a:p>
        </p:txBody>
      </p:sp>
      <p:sp>
        <p:nvSpPr>
          <p:cNvPr id="3" name="Content Placeholder 2"/>
          <p:cNvSpPr>
            <a:spLocks noGrp="1"/>
          </p:cNvSpPr>
          <p:nvPr>
            <p:ph idx="1"/>
          </p:nvPr>
        </p:nvSpPr>
        <p:spPr/>
        <p:txBody>
          <a:bodyPr/>
          <a:lstStyle/>
          <a:p>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21</a:t>
            </a:fld>
            <a:endParaRPr lang="en-US"/>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828800"/>
            <a:ext cx="8529577" cy="455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Point Star 5"/>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2987698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SVG - Advantages</a:t>
            </a:r>
            <a:endParaRPr lang="en-SG" dirty="0"/>
          </a:p>
        </p:txBody>
      </p:sp>
      <p:sp>
        <p:nvSpPr>
          <p:cNvPr id="3" name="Content Placeholder 2"/>
          <p:cNvSpPr>
            <a:spLocks noGrp="1"/>
          </p:cNvSpPr>
          <p:nvPr>
            <p:ph idx="1"/>
          </p:nvPr>
        </p:nvSpPr>
        <p:spPr>
          <a:xfrm>
            <a:off x="533400" y="1295400"/>
            <a:ext cx="8153400" cy="5105400"/>
          </a:xfrm>
        </p:spPr>
        <p:txBody>
          <a:bodyPr>
            <a:normAutofit fontScale="92500" lnSpcReduction="20000"/>
          </a:bodyPr>
          <a:lstStyle/>
          <a:p>
            <a:pPr>
              <a:buFont typeface="Wingdings" pitchFamily="2" charset="2"/>
              <a:buChar char="v"/>
            </a:pPr>
            <a:endParaRPr lang="en-SG" dirty="0"/>
          </a:p>
          <a:p>
            <a:r>
              <a:rPr lang="en-SG" dirty="0"/>
              <a:t>Advantages of using SVG over other image formats (like JPEG and GIF) are:</a:t>
            </a:r>
          </a:p>
          <a:p>
            <a:r>
              <a:rPr lang="en-SG" dirty="0"/>
              <a:t>SVG images can be created and edited with any text editor</a:t>
            </a:r>
          </a:p>
          <a:p>
            <a:r>
              <a:rPr lang="en-SG" dirty="0"/>
              <a:t>SVG images can be searched, indexed, scripted, and compressed</a:t>
            </a:r>
          </a:p>
          <a:p>
            <a:r>
              <a:rPr lang="en-SG" dirty="0"/>
              <a:t>SVG images are scalable</a:t>
            </a:r>
          </a:p>
          <a:p>
            <a:r>
              <a:rPr lang="en-SG" dirty="0"/>
              <a:t>SVG images can be printed with high quality at any resolution</a:t>
            </a:r>
          </a:p>
          <a:p>
            <a:r>
              <a:rPr lang="en-SG" dirty="0"/>
              <a:t>SVG images are </a:t>
            </a:r>
            <a:r>
              <a:rPr lang="en-SG" dirty="0" err="1"/>
              <a:t>zoomable</a:t>
            </a:r>
            <a:r>
              <a:rPr lang="en-SG" dirty="0"/>
              <a:t> (and the image can be zoomed without degradation)</a:t>
            </a:r>
          </a:p>
          <a:p>
            <a:pPr>
              <a:buNone/>
            </a:pPr>
            <a:br>
              <a:rPr lang="en-SG" dirty="0"/>
            </a:br>
            <a:endParaRPr lang="en-SG" b="1" dirty="0"/>
          </a:p>
          <a:p>
            <a:pPr marL="0" indent="0">
              <a:buNone/>
            </a:pPr>
            <a:endParaRPr lang="en-SG" dirty="0"/>
          </a:p>
          <a:p>
            <a:pPr marL="0" indent="0">
              <a:buNone/>
            </a:pPr>
            <a:endParaRPr lang="en-SG"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22</a:t>
            </a:fld>
            <a:endParaRPr lang="en-US"/>
          </a:p>
        </p:txBody>
      </p:sp>
      <p:sp>
        <p:nvSpPr>
          <p:cNvPr id="7" name="5-Point Star 6"/>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2025825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Key SVG Scenarios</a:t>
            </a:r>
          </a:p>
        </p:txBody>
      </p:sp>
      <p:sp>
        <p:nvSpPr>
          <p:cNvPr id="4" name="Footer Placeholder 3"/>
          <p:cNvSpPr>
            <a:spLocks noGrp="1"/>
          </p:cNvSpPr>
          <p:nvPr>
            <p:ph type="ftr" sz="quarter" idx="4294967295"/>
          </p:nvPr>
        </p:nvSpPr>
        <p:spPr>
          <a:xfrm>
            <a:off x="3124200" y="6356351"/>
            <a:ext cx="2895600" cy="313010"/>
          </a:xfrm>
          <a:prstGeom prst="rect">
            <a:avLst/>
          </a:prstGeom>
        </p:spPr>
        <p:txBody>
          <a:bodyPr/>
          <a:lstStyle/>
          <a:p>
            <a:r>
              <a:rPr lang="en-US"/>
              <a:t>IT1322 2012 S1</a:t>
            </a:r>
          </a:p>
        </p:txBody>
      </p:sp>
      <p:sp>
        <p:nvSpPr>
          <p:cNvPr id="5" name="Slide Number Placeholder 4"/>
          <p:cNvSpPr>
            <a:spLocks noGrp="1"/>
          </p:cNvSpPr>
          <p:nvPr>
            <p:ph type="sldNum" sz="quarter" idx="12"/>
          </p:nvPr>
        </p:nvSpPr>
        <p:spPr/>
        <p:txBody>
          <a:bodyPr/>
          <a:lstStyle/>
          <a:p>
            <a:fld id="{A6724466-CF14-4098-A57E-6BA1C4EB8FEB}" type="slidenum">
              <a:rPr lang="en-US" smtClean="0"/>
              <a:pPr/>
              <a:t>23</a:t>
            </a:fld>
            <a:endParaRPr lang="en-US"/>
          </a:p>
        </p:txBody>
      </p:sp>
      <p:sp>
        <p:nvSpPr>
          <p:cNvPr id="7" name="Content Placeholder 2"/>
          <p:cNvSpPr>
            <a:spLocks noGrp="1"/>
          </p:cNvSpPr>
          <p:nvPr/>
        </p:nvSpPr>
        <p:spPr>
          <a:xfrm>
            <a:off x="457201" y="1371600"/>
            <a:ext cx="8382000" cy="5181601"/>
          </a:xfrm>
          <a:prstGeom prst="rect">
            <a:avLst/>
          </a:prstGeom>
        </p:spPr>
        <p:txBody>
          <a:bodyPr vert="horz" wrap="square" lIns="0" tIns="0" rIns="0" bIns="0" rtlCol="0">
            <a:noAutofit/>
          </a:bodyPr>
          <a:lstStyle>
            <a:lvl1pPr marL="460375" indent="-460375" algn="l" defTabSz="914363" rtl="0" eaLnBrk="1" latinLnBrk="0" hangingPunct="1">
              <a:lnSpc>
                <a:spcPct val="90000"/>
              </a:lnSpc>
              <a:spcBef>
                <a:spcPct val="20000"/>
              </a:spcBef>
              <a:buSzPct val="90000"/>
              <a:buFontTx/>
              <a:buBlip>
                <a:blip r:embed="rId4"/>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Tx/>
              <a:buBlip>
                <a:blip r:embed="rId5"/>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Tx/>
              <a:buBlip>
                <a:blip r:embed="rId5"/>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q"/>
            </a:pPr>
            <a:r>
              <a:rPr lang="en-US" dirty="0"/>
              <a:t>High Fidelity Complex Vector Document</a:t>
            </a:r>
            <a:endParaRPr lang="fr-FR" dirty="0"/>
          </a:p>
          <a:p>
            <a:pPr>
              <a:buFont typeface="Wingdings" pitchFamily="2" charset="2"/>
              <a:buChar char="q"/>
            </a:pPr>
            <a:r>
              <a:rPr lang="en-US" dirty="0"/>
              <a:t>Graphs / Charts / Maps </a:t>
            </a:r>
          </a:p>
          <a:p>
            <a:pPr lvl="1">
              <a:buFont typeface="Wingdings" pitchFamily="2" charset="2"/>
              <a:buChar char="q"/>
            </a:pPr>
            <a:r>
              <a:rPr lang="en-US" dirty="0"/>
              <a:t>Removes load from server to produce high fidelity graphics</a:t>
            </a:r>
          </a:p>
          <a:p>
            <a:pPr lvl="1">
              <a:buFont typeface="Wingdings" pitchFamily="2" charset="2"/>
              <a:buChar char="q"/>
            </a:pPr>
            <a:r>
              <a:rPr lang="en-US" dirty="0"/>
              <a:t>Supports end user interactivity and Ajax style data updates</a:t>
            </a:r>
          </a:p>
          <a:p>
            <a:pPr lvl="2">
              <a:buFont typeface="Wingdings" pitchFamily="2" charset="2"/>
              <a:buChar char="q"/>
            </a:pPr>
            <a:r>
              <a:rPr lang="en-US" dirty="0"/>
              <a:t>Currently used on Google and Bing</a:t>
            </a:r>
          </a:p>
          <a:p>
            <a:pPr>
              <a:buFont typeface="Wingdings" pitchFamily="2" charset="2"/>
              <a:buChar char="q"/>
            </a:pPr>
            <a:r>
              <a:rPr lang="en-US" dirty="0"/>
              <a:t>Media and Graphics</a:t>
            </a:r>
          </a:p>
          <a:p>
            <a:pPr lvl="1">
              <a:buFont typeface="Wingdings" pitchFamily="2" charset="2"/>
              <a:buChar char="q"/>
            </a:pPr>
            <a:r>
              <a:rPr lang="en-US" dirty="0"/>
              <a:t>CSS or background images</a:t>
            </a:r>
          </a:p>
          <a:p>
            <a:pPr lvl="1">
              <a:buFont typeface="Wingdings" pitchFamily="2" charset="2"/>
              <a:buChar char="q"/>
            </a:pPr>
            <a:r>
              <a:rPr lang="en-US" dirty="0"/>
              <a:t>Posters (great for printing)</a:t>
            </a:r>
          </a:p>
          <a:p>
            <a:pPr lvl="1">
              <a:buFont typeface="Wingdings" pitchFamily="2" charset="2"/>
              <a:buChar char="q"/>
            </a:pPr>
            <a:r>
              <a:rPr lang="en-US" dirty="0"/>
              <a:t>JavaScript-animated Graphics</a:t>
            </a:r>
          </a:p>
          <a:p>
            <a:pPr>
              <a:buFont typeface="Wingdings" pitchFamily="2" charset="2"/>
              <a:buChar char="q"/>
            </a:pPr>
            <a:endParaRPr lang="fr-FR" dirty="0"/>
          </a:p>
        </p:txBody>
      </p:sp>
      <p:sp>
        <p:nvSpPr>
          <p:cNvPr id="6" name="5-Point Star 5"/>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1528712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Key SVG Scenarios</a:t>
            </a:r>
          </a:p>
        </p:txBody>
      </p:sp>
      <p:sp>
        <p:nvSpPr>
          <p:cNvPr id="3" name="Content Placeholder 2"/>
          <p:cNvSpPr>
            <a:spLocks noGrp="1"/>
          </p:cNvSpPr>
          <p:nvPr>
            <p:ph idx="1"/>
          </p:nvPr>
        </p:nvSpPr>
        <p:spPr/>
        <p:txBody>
          <a:bodyPr/>
          <a:lstStyle/>
          <a:p>
            <a:pPr>
              <a:buFont typeface="Wingdings" pitchFamily="2" charset="2"/>
              <a:buChar char="q"/>
            </a:pPr>
            <a:r>
              <a:rPr lang="en-US" dirty="0"/>
              <a:t>Gaming</a:t>
            </a:r>
          </a:p>
          <a:p>
            <a:pPr>
              <a:buFont typeface="Wingdings" pitchFamily="2" charset="2"/>
              <a:buChar char="q"/>
            </a:pPr>
            <a:r>
              <a:rPr lang="en-US" dirty="0"/>
              <a:t>Better SEO &amp; Accessibility (can be coupled with ARIA)</a:t>
            </a:r>
          </a:p>
          <a:p>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24</a:t>
            </a:fld>
            <a:endParaRPr lang="en-US"/>
          </a:p>
        </p:txBody>
      </p:sp>
    </p:spTree>
    <p:custDataLst>
      <p:tags r:id="rId1"/>
    </p:custDataLst>
    <p:extLst>
      <p:ext uri="{BB962C8B-B14F-4D97-AF65-F5344CB8AC3E}">
        <p14:creationId xmlns:p14="http://schemas.microsoft.com/office/powerpoint/2010/main" val="1332754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SVG Scenarios &amp; Demo</a:t>
            </a:r>
          </a:p>
        </p:txBody>
      </p:sp>
      <p:sp>
        <p:nvSpPr>
          <p:cNvPr id="5" name="Slide Number Placeholder 4"/>
          <p:cNvSpPr>
            <a:spLocks noGrp="1"/>
          </p:cNvSpPr>
          <p:nvPr>
            <p:ph type="sldNum" sz="quarter" idx="12"/>
          </p:nvPr>
        </p:nvSpPr>
        <p:spPr/>
        <p:txBody>
          <a:bodyPr/>
          <a:lstStyle/>
          <a:p>
            <a:fld id="{A6724466-CF14-4098-A57E-6BA1C4EB8FEB}" type="slidenum">
              <a:rPr lang="en-US" smtClean="0"/>
              <a:pPr/>
              <a:t>25</a:t>
            </a:fld>
            <a:endParaRPr lang="en-US"/>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600200"/>
            <a:ext cx="8407509"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4205696"/>
            <a:ext cx="3914775"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5687" y="3962400"/>
            <a:ext cx="1952625" cy="220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8352" y="3390900"/>
            <a:ext cx="3416098"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5-Point Star 7"/>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3459063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72387"/>
            <a:ext cx="7395380" cy="944562"/>
          </a:xfrm>
        </p:spPr>
        <p:txBody>
          <a:bodyPr/>
          <a:lstStyle/>
          <a:p>
            <a:r>
              <a:rPr lang="en-US" dirty="0"/>
              <a:t>Tools to generate SVG</a:t>
            </a:r>
          </a:p>
        </p:txBody>
      </p:sp>
      <p:sp>
        <p:nvSpPr>
          <p:cNvPr id="5" name="Slide Number Placeholder 4"/>
          <p:cNvSpPr>
            <a:spLocks noGrp="1"/>
          </p:cNvSpPr>
          <p:nvPr>
            <p:ph type="sldNum" sz="quarter" idx="12"/>
          </p:nvPr>
        </p:nvSpPr>
        <p:spPr/>
        <p:txBody>
          <a:bodyPr/>
          <a:lstStyle/>
          <a:p>
            <a:fld id="{A6724466-CF14-4098-A57E-6BA1C4EB8FEB}" type="slidenum">
              <a:rPr lang="en-US" smtClean="0"/>
              <a:pPr/>
              <a:t>26</a:t>
            </a:fld>
            <a:endParaRPr lang="en-US"/>
          </a:p>
        </p:txBody>
      </p:sp>
      <p:sp>
        <p:nvSpPr>
          <p:cNvPr id="7" name="Content Placeholder 2"/>
          <p:cNvSpPr>
            <a:spLocks noGrp="1"/>
          </p:cNvSpPr>
          <p:nvPr/>
        </p:nvSpPr>
        <p:spPr>
          <a:xfrm>
            <a:off x="457200" y="1676400"/>
            <a:ext cx="8012906" cy="4343401"/>
          </a:xfrm>
          <a:prstGeom prst="rect">
            <a:avLst/>
          </a:prstGeom>
        </p:spPr>
        <p:txBody>
          <a:bodyPr vert="horz" wrap="square" lIns="0" tIns="0" rIns="0" bIns="0" rtlCol="0">
            <a:noAutofit/>
          </a:bodyPr>
          <a:lstStyle>
            <a:lvl1pPr marL="460375" indent="-460375" algn="l" defTabSz="914363" rtl="0" eaLnBrk="1" latinLnBrk="0" hangingPunct="1">
              <a:lnSpc>
                <a:spcPct val="90000"/>
              </a:lnSpc>
              <a:spcBef>
                <a:spcPct val="20000"/>
              </a:spcBef>
              <a:buSzPct val="90000"/>
              <a:buFontTx/>
              <a:buBlip>
                <a:blip r:embed="rId4"/>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Tx/>
              <a:buBlip>
                <a:blip r:embed="rId5"/>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Tx/>
              <a:buBlip>
                <a:blip r:embed="rId5"/>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v"/>
            </a:pPr>
            <a:r>
              <a:rPr lang="fr-FR" dirty="0"/>
              <a:t>Microsoft Visio</a:t>
            </a:r>
          </a:p>
          <a:p>
            <a:pPr lvl="1">
              <a:buFont typeface="Wingdings" pitchFamily="2" charset="2"/>
              <a:buChar char="v"/>
            </a:pPr>
            <a:r>
              <a:rPr lang="fr-FR" dirty="0"/>
              <a:t>Export as SVG</a:t>
            </a:r>
          </a:p>
          <a:p>
            <a:pPr>
              <a:buFont typeface="Wingdings" pitchFamily="2" charset="2"/>
              <a:buChar char="v"/>
            </a:pPr>
            <a:endParaRPr lang="fr-FR" dirty="0"/>
          </a:p>
          <a:p>
            <a:pPr>
              <a:buFont typeface="Wingdings" pitchFamily="2" charset="2"/>
              <a:buChar char="v"/>
            </a:pPr>
            <a:r>
              <a:rPr lang="fr-FR" dirty="0"/>
              <a:t>Adobe Illustrator</a:t>
            </a:r>
          </a:p>
          <a:p>
            <a:pPr lvl="1">
              <a:buFont typeface="Wingdings" pitchFamily="2" charset="2"/>
              <a:buChar char="v"/>
            </a:pPr>
            <a:r>
              <a:rPr lang="fr-FR" dirty="0"/>
              <a:t>Save as SVG</a:t>
            </a:r>
          </a:p>
          <a:p>
            <a:pPr>
              <a:buFont typeface="Wingdings" pitchFamily="2" charset="2"/>
              <a:buChar char="v"/>
            </a:pPr>
            <a:endParaRPr lang="fr-FR" dirty="0"/>
          </a:p>
          <a:p>
            <a:pPr>
              <a:buFont typeface="Wingdings" pitchFamily="2" charset="2"/>
              <a:buChar char="v"/>
            </a:pPr>
            <a:r>
              <a:rPr lang="fr-FR" dirty="0" err="1"/>
              <a:t>Inkspace</a:t>
            </a:r>
            <a:endParaRPr lang="fr-FR" dirty="0"/>
          </a:p>
          <a:p>
            <a:pPr lvl="1">
              <a:buFont typeface="Wingdings" pitchFamily="2" charset="2"/>
              <a:buChar char="v"/>
            </a:pPr>
            <a:r>
              <a:rPr lang="fr-FR" dirty="0"/>
              <a:t>Free Open source software</a:t>
            </a:r>
          </a:p>
        </p:txBody>
      </p:sp>
      <p:sp>
        <p:nvSpPr>
          <p:cNvPr id="8" name="Text Placeholder 3"/>
          <p:cNvSpPr>
            <a:spLocks noGrp="1"/>
          </p:cNvSpPr>
          <p:nvPr/>
        </p:nvSpPr>
        <p:spPr>
          <a:xfrm>
            <a:off x="990600" y="914400"/>
            <a:ext cx="11146536" cy="443198"/>
          </a:xfrm>
          <a:prstGeom prst="rect">
            <a:avLst/>
          </a:prstGeom>
        </p:spPr>
        <p:txBody>
          <a:bodyPr vert="horz" wrap="square" lIns="0" tIns="0" rIns="0" bIns="0" rtlCol="0">
            <a:spAutoFit/>
          </a:bodyPr>
          <a:lstStyle>
            <a:lvl1pPr marL="0" indent="0" algn="l" defTabSz="914363" rtl="0" eaLnBrk="1" latinLnBrk="0" hangingPunct="1">
              <a:lnSpc>
                <a:spcPct val="90000"/>
              </a:lnSpc>
              <a:spcBef>
                <a:spcPct val="20000"/>
              </a:spcBef>
              <a:buSzPct val="90000"/>
              <a:buFont typeface="Arial" pitchFamily="34" charset="0"/>
              <a:buNone/>
              <a:defRPr sz="3600" kern="1200" spc="-100" baseline="0">
                <a:solidFill>
                  <a:schemeClr val="accent2"/>
                </a:solidFill>
                <a:latin typeface="+mj-lt"/>
                <a:ea typeface="+mn-ea"/>
                <a:cs typeface="+mn-cs"/>
              </a:defRPr>
            </a:lvl1pPr>
            <a:lvl2pPr marL="855663" indent="-395288" algn="l" defTabSz="914363" rtl="0" eaLnBrk="1" latinLnBrk="0" hangingPunct="1">
              <a:lnSpc>
                <a:spcPct val="90000"/>
              </a:lnSpc>
              <a:spcBef>
                <a:spcPct val="20000"/>
              </a:spcBef>
              <a:buSzPct val="90000"/>
              <a:buFontTx/>
              <a:buBlip>
                <a:blip r:embed="rId5"/>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Tx/>
              <a:buBlip>
                <a:blip r:embed="rId5"/>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dirty="0">
                <a:solidFill>
                  <a:schemeClr val="bg1"/>
                </a:solidFill>
              </a:rPr>
              <a:t>You won’t be forced to type XML in notepad!</a:t>
            </a: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9299" y="1638300"/>
            <a:ext cx="12573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1357598"/>
            <a:ext cx="2996240" cy="2495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1303" y="3791273"/>
            <a:ext cx="38100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67400" y="3667758"/>
            <a:ext cx="2996240" cy="2832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5-Point Star 9"/>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3411243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206" y="326889"/>
            <a:ext cx="7395380" cy="944562"/>
          </a:xfrm>
        </p:spPr>
        <p:txBody>
          <a:bodyPr>
            <a:noAutofit/>
          </a:bodyPr>
          <a:lstStyle/>
          <a:p>
            <a:r>
              <a:rPr lang="en-US" sz="2800" dirty="0"/>
              <a:t>Using Adobe illustrator to </a:t>
            </a:r>
            <a:r>
              <a:rPr lang="en-US" sz="2400" dirty="0"/>
              <a:t>generate</a:t>
            </a:r>
            <a:r>
              <a:rPr lang="en-US" sz="2800" dirty="0"/>
              <a:t> SVG paths</a:t>
            </a:r>
          </a:p>
        </p:txBody>
      </p:sp>
      <p:sp>
        <p:nvSpPr>
          <p:cNvPr id="3" name="Content Placeholder 2"/>
          <p:cNvSpPr>
            <a:spLocks noGrp="1"/>
          </p:cNvSpPr>
          <p:nvPr>
            <p:ph idx="1"/>
          </p:nvPr>
        </p:nvSpPr>
        <p:spPr>
          <a:xfrm>
            <a:off x="914400" y="1447800"/>
            <a:ext cx="7547780" cy="4876800"/>
          </a:xfrm>
        </p:spPr>
        <p:txBody>
          <a:bodyPr numCol="2">
            <a:normAutofit lnSpcReduction="10000"/>
          </a:bodyPr>
          <a:lstStyle/>
          <a:p>
            <a:pPr marL="457200" indent="-457200">
              <a:buFont typeface="+mj-lt"/>
              <a:buAutoNum type="arabicPeriod"/>
            </a:pPr>
            <a:r>
              <a:rPr lang="en-US" sz="2400" dirty="0"/>
              <a:t>For </a:t>
            </a:r>
            <a:r>
              <a:rPr lang="en-US" sz="2400" dirty="0" err="1"/>
              <a:t>eg</a:t>
            </a:r>
            <a:r>
              <a:rPr lang="en-US" sz="2400" dirty="0"/>
              <a:t>. You can design something in Adobe </a:t>
            </a:r>
            <a:r>
              <a:rPr lang="en-US" sz="2400" dirty="0" err="1"/>
              <a:t>llustrator</a:t>
            </a:r>
            <a:r>
              <a:rPr lang="en-US" sz="2400" dirty="0"/>
              <a:t>. Here's a Kiwi bird standing on an oval.</a:t>
            </a:r>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r>
              <a:rPr lang="en-US" sz="2400" dirty="0"/>
              <a:t>The layer name will become the id for the respective path in SVG. In this case, we name them Bird and Eclipse. </a:t>
            </a:r>
          </a:p>
          <a:p>
            <a:pPr marL="457200" indent="-457200">
              <a:buFont typeface="+mj-lt"/>
              <a:buAutoNum type="arabicPeriod"/>
            </a:pPr>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sp>
        <p:nvSpPr>
          <p:cNvPr id="4" name="Slide Number Placeholder 3"/>
          <p:cNvSpPr>
            <a:spLocks noGrp="1"/>
          </p:cNvSpPr>
          <p:nvPr>
            <p:ph type="sldNum" sz="quarter" idx="12"/>
          </p:nvPr>
        </p:nvSpPr>
        <p:spPr/>
        <p:txBody>
          <a:bodyPr/>
          <a:lstStyle/>
          <a:p>
            <a:fld id="{A6724466-CF14-4098-A57E-6BA1C4EB8FEB}" type="slidenum">
              <a:rPr lang="en-US" smtClean="0"/>
              <a:pPr/>
              <a:t>27</a:t>
            </a:fld>
            <a:endParaRPr 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3255666"/>
            <a:ext cx="3429000" cy="2956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0308" y="3124200"/>
            <a:ext cx="3352800" cy="288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966161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206" y="326889"/>
            <a:ext cx="7395380" cy="944562"/>
          </a:xfrm>
        </p:spPr>
        <p:txBody>
          <a:bodyPr>
            <a:noAutofit/>
          </a:bodyPr>
          <a:lstStyle/>
          <a:p>
            <a:r>
              <a:rPr lang="en-US" sz="2800" dirty="0"/>
              <a:t>Using Adobe illustrator to </a:t>
            </a:r>
            <a:r>
              <a:rPr lang="en-US" sz="2400" dirty="0"/>
              <a:t>generate</a:t>
            </a:r>
            <a:r>
              <a:rPr lang="en-US" sz="2800" dirty="0"/>
              <a:t> SVG paths</a:t>
            </a:r>
          </a:p>
        </p:txBody>
      </p:sp>
      <p:sp>
        <p:nvSpPr>
          <p:cNvPr id="3" name="Content Placeholder 2"/>
          <p:cNvSpPr>
            <a:spLocks noGrp="1"/>
          </p:cNvSpPr>
          <p:nvPr>
            <p:ph idx="1"/>
          </p:nvPr>
        </p:nvSpPr>
        <p:spPr>
          <a:xfrm>
            <a:off x="914400" y="1447800"/>
            <a:ext cx="7547780" cy="4876800"/>
          </a:xfrm>
        </p:spPr>
        <p:txBody>
          <a:bodyPr numCol="2">
            <a:normAutofit/>
          </a:bodyPr>
          <a:lstStyle/>
          <a:p>
            <a:pPr marL="457200" indent="-457200">
              <a:buFont typeface="+mj-lt"/>
              <a:buAutoNum type="arabicPeriod"/>
            </a:pPr>
            <a:r>
              <a:rPr lang="en-US" sz="2400" dirty="0"/>
              <a:t>Save the file as SVG Format</a:t>
            </a:r>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r>
              <a:rPr lang="en-US" sz="2400" dirty="0"/>
              <a:t>After you have saved the file, you can reopen the file using any text editor, and find the code representing the SVG vector image. </a:t>
            </a:r>
            <a:r>
              <a:rPr lang="en-US" sz="2400" i="1" dirty="0"/>
              <a:t>Note the ids Bird and Eclipse generated. </a:t>
            </a:r>
          </a:p>
        </p:txBody>
      </p:sp>
      <p:sp>
        <p:nvSpPr>
          <p:cNvPr id="4" name="Slide Number Placeholder 3"/>
          <p:cNvSpPr>
            <a:spLocks noGrp="1"/>
          </p:cNvSpPr>
          <p:nvPr>
            <p:ph type="sldNum" sz="quarter" idx="12"/>
          </p:nvPr>
        </p:nvSpPr>
        <p:spPr/>
        <p:txBody>
          <a:bodyPr/>
          <a:lstStyle/>
          <a:p>
            <a:fld id="{A6724466-CF14-4098-A57E-6BA1C4EB8FEB}" type="slidenum">
              <a:rPr lang="en-US" smtClean="0"/>
              <a:pPr/>
              <a:t>28</a:t>
            </a:fld>
            <a:endParaRPr lang="en-US"/>
          </a:p>
        </p:txBody>
      </p:sp>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362200"/>
            <a:ext cx="3422469" cy="2908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4589" y="3801033"/>
            <a:ext cx="3028950"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0379551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Using Adobe illustrator – Styling &amp; Interactivity with CSS3</a:t>
            </a:r>
          </a:p>
        </p:txBody>
      </p:sp>
      <p:sp>
        <p:nvSpPr>
          <p:cNvPr id="3" name="Content Placeholder 2"/>
          <p:cNvSpPr>
            <a:spLocks noGrp="1"/>
          </p:cNvSpPr>
          <p:nvPr>
            <p:ph idx="1"/>
          </p:nvPr>
        </p:nvSpPr>
        <p:spPr/>
        <p:txBody>
          <a:bodyPr numCol="2">
            <a:normAutofit/>
          </a:bodyPr>
          <a:lstStyle/>
          <a:p>
            <a:r>
              <a:rPr lang="en-US" sz="2000" dirty="0"/>
              <a:t>Including the </a:t>
            </a:r>
            <a:r>
              <a:rPr lang="en-US" sz="2000" dirty="0" err="1"/>
              <a:t>svg</a:t>
            </a:r>
            <a:r>
              <a:rPr lang="en-US" sz="2000" dirty="0"/>
              <a:t> in your HTML document gives you:</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We can jump into the code and give them class names, and then style it in your CSS document. Here, we can add interactivity and CSS to it.</a:t>
            </a:r>
          </a:p>
          <a:p>
            <a:endParaRPr lang="en-US" sz="2000" dirty="0"/>
          </a:p>
          <a:p>
            <a:endParaRPr lang="en-US" sz="2000" dirty="0"/>
          </a:p>
          <a:p>
            <a:r>
              <a:rPr lang="en-US" sz="2000" dirty="0"/>
              <a:t>.</a:t>
            </a:r>
          </a:p>
        </p:txBody>
      </p:sp>
      <p:sp>
        <p:nvSpPr>
          <p:cNvPr id="4" name="Slide Number Placeholder 3"/>
          <p:cNvSpPr>
            <a:spLocks noGrp="1"/>
          </p:cNvSpPr>
          <p:nvPr>
            <p:ph type="sldNum" sz="quarter" idx="12"/>
          </p:nvPr>
        </p:nvSpPr>
        <p:spPr/>
        <p:txBody>
          <a:bodyPr/>
          <a:lstStyle/>
          <a:p>
            <a:fld id="{A6724466-CF14-4098-A57E-6BA1C4EB8FEB}" type="slidenum">
              <a:rPr lang="en-US" smtClean="0"/>
              <a:pPr/>
              <a:t>29</a:t>
            </a:fld>
            <a:endParaRPr lang="en-US"/>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362200"/>
            <a:ext cx="3248909" cy="333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Table 5"/>
          <p:cNvGraphicFramePr>
            <a:graphicFrameLocks noGrp="1"/>
          </p:cNvGraphicFramePr>
          <p:nvPr>
            <p:extLst>
              <p:ext uri="{D42A27DB-BD31-4B8C-83A1-F6EECF244321}">
                <p14:modId xmlns:p14="http://schemas.microsoft.com/office/powerpoint/2010/main" val="1522309977"/>
              </p:ext>
            </p:extLst>
          </p:nvPr>
        </p:nvGraphicFramePr>
        <p:xfrm>
          <a:off x="4953000" y="3657600"/>
          <a:ext cx="3429000" cy="22860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20000"/>
                    </a:ext>
                  </a:extLst>
                </a:gridCol>
              </a:tblGrid>
              <a:tr h="1498600">
                <a:tc>
                  <a:txBody>
                    <a:bodyPr/>
                    <a:lstStyle/>
                    <a:p>
                      <a:r>
                        <a:rPr lang="en-US" sz="1800" b="0" i="0" kern="1200" dirty="0">
                          <a:solidFill>
                            <a:schemeClr val="lt1"/>
                          </a:solidFill>
                          <a:effectLst/>
                          <a:latin typeface="+mn-lt"/>
                          <a:ea typeface="+mn-ea"/>
                          <a:cs typeface="+mn-cs"/>
                        </a:rPr>
                        <a:t>&lt;</a:t>
                      </a:r>
                      <a:r>
                        <a:rPr lang="en-US" sz="1800" b="0" i="0" kern="1200" dirty="0" err="1">
                          <a:solidFill>
                            <a:schemeClr val="lt1"/>
                          </a:solidFill>
                          <a:effectLst/>
                          <a:latin typeface="+mn-lt"/>
                          <a:ea typeface="+mn-ea"/>
                          <a:cs typeface="+mn-cs"/>
                        </a:rPr>
                        <a:t>svg</a:t>
                      </a:r>
                      <a:r>
                        <a:rPr lang="en-US" sz="1800" b="0" i="0" kern="1200" dirty="0">
                          <a:solidFill>
                            <a:schemeClr val="lt1"/>
                          </a:solidFill>
                          <a:effectLst/>
                          <a:latin typeface="+mn-lt"/>
                          <a:ea typeface="+mn-ea"/>
                          <a:cs typeface="+mn-cs"/>
                        </a:rPr>
                        <a:t> ...&gt;</a:t>
                      </a:r>
                    </a:p>
                    <a:p>
                      <a:r>
                        <a:rPr lang="en-US" sz="1800" b="0" i="0" kern="1200" dirty="0">
                          <a:solidFill>
                            <a:schemeClr val="lt1"/>
                          </a:solidFill>
                          <a:effectLst/>
                          <a:latin typeface="+mn-lt"/>
                          <a:ea typeface="+mn-ea"/>
                          <a:cs typeface="+mn-cs"/>
                        </a:rPr>
                        <a:t>&lt;g id="Bird" &gt;</a:t>
                      </a:r>
                    </a:p>
                    <a:p>
                      <a:r>
                        <a:rPr lang="en-US" sz="1800" b="0" i="0" kern="1200" dirty="0">
                          <a:solidFill>
                            <a:schemeClr val="lt1"/>
                          </a:solidFill>
                          <a:effectLst/>
                          <a:latin typeface="+mn-lt"/>
                          <a:ea typeface="+mn-ea"/>
                          <a:cs typeface="+mn-cs"/>
                        </a:rPr>
                        <a:t>&lt;path </a:t>
                      </a:r>
                      <a:r>
                        <a:rPr lang="en-US" sz="1800" b="0" i="0" kern="1200" dirty="0">
                          <a:solidFill>
                            <a:srgbClr val="FF0000"/>
                          </a:solidFill>
                          <a:effectLst/>
                          <a:latin typeface="+mn-lt"/>
                          <a:ea typeface="+mn-ea"/>
                          <a:cs typeface="+mn-cs"/>
                        </a:rPr>
                        <a:t>class="kiwi" </a:t>
                      </a:r>
                      <a:r>
                        <a:rPr lang="en-US" sz="1800" b="0" i="0" kern="1200" dirty="0">
                          <a:solidFill>
                            <a:schemeClr val="lt1"/>
                          </a:solidFill>
                          <a:effectLst/>
                          <a:latin typeface="+mn-lt"/>
                          <a:ea typeface="+mn-ea"/>
                          <a:cs typeface="+mn-cs"/>
                        </a:rPr>
                        <a:t>.../&gt; </a:t>
                      </a:r>
                    </a:p>
                    <a:p>
                      <a:r>
                        <a:rPr lang="en-US" sz="1800" b="0" i="0" kern="1200" dirty="0">
                          <a:solidFill>
                            <a:schemeClr val="lt1"/>
                          </a:solidFill>
                          <a:effectLst/>
                          <a:latin typeface="+mn-lt"/>
                          <a:ea typeface="+mn-ea"/>
                          <a:cs typeface="+mn-cs"/>
                        </a:rPr>
                        <a:t>&lt;/g&gt;</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lt1"/>
                          </a:solidFill>
                          <a:effectLst/>
                          <a:latin typeface="+mn-lt"/>
                          <a:ea typeface="+mn-ea"/>
                          <a:cs typeface="+mn-cs"/>
                        </a:rPr>
                        <a:t> &lt;g  id="Eclipse"&gt;</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lt1"/>
                          </a:solidFill>
                          <a:effectLst/>
                          <a:latin typeface="+mn-lt"/>
                          <a:ea typeface="+mn-ea"/>
                          <a:cs typeface="+mn-cs"/>
                        </a:rPr>
                        <a:t>&lt;ellipse </a:t>
                      </a:r>
                      <a:r>
                        <a:rPr lang="en-US" sz="1800" b="0" i="0" kern="1200" dirty="0">
                          <a:solidFill>
                            <a:srgbClr val="FF0000"/>
                          </a:solidFill>
                          <a:effectLst/>
                          <a:latin typeface="+mn-lt"/>
                          <a:ea typeface="+mn-ea"/>
                          <a:cs typeface="+mn-cs"/>
                        </a:rPr>
                        <a:t>class="ground" </a:t>
                      </a:r>
                      <a:r>
                        <a:rPr lang="en-US" sz="1800" b="0" i="0" kern="1200" dirty="0">
                          <a:solidFill>
                            <a:schemeClr val="lt1"/>
                          </a:solidFill>
                          <a:effectLst/>
                          <a:latin typeface="+mn-lt"/>
                          <a:ea typeface="+mn-ea"/>
                          <a:cs typeface="+mn-cs"/>
                        </a:rPr>
                        <a:t>.../&gt;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lt1"/>
                          </a:solidFill>
                          <a:effectLst/>
                          <a:latin typeface="+mn-lt"/>
                          <a:ea typeface="+mn-ea"/>
                          <a:cs typeface="+mn-cs"/>
                        </a:rPr>
                        <a:t>&lt;/g&gt;</a:t>
                      </a:r>
                    </a:p>
                    <a:p>
                      <a:r>
                        <a:rPr lang="en-US" sz="1800" b="0" i="0" kern="1200" dirty="0">
                          <a:solidFill>
                            <a:schemeClr val="lt1"/>
                          </a:solidFill>
                          <a:effectLst/>
                          <a:latin typeface="+mn-lt"/>
                          <a:ea typeface="+mn-ea"/>
                          <a:cs typeface="+mn-cs"/>
                        </a:rPr>
                        <a:t>&lt;/</a:t>
                      </a:r>
                      <a:r>
                        <a:rPr lang="en-US" sz="1800" b="0" i="0" kern="1200" dirty="0" err="1">
                          <a:solidFill>
                            <a:schemeClr val="lt1"/>
                          </a:solidFill>
                          <a:effectLst/>
                          <a:latin typeface="+mn-lt"/>
                          <a:ea typeface="+mn-ea"/>
                          <a:cs typeface="+mn-cs"/>
                        </a:rPr>
                        <a:t>svg</a:t>
                      </a:r>
                      <a:r>
                        <a:rPr lang="en-US" sz="1800" b="0" i="0" kern="1200" dirty="0">
                          <a:solidFill>
                            <a:schemeClr val="lt1"/>
                          </a:solidFill>
                          <a:effectLst/>
                          <a:latin typeface="+mn-lt"/>
                          <a:ea typeface="+mn-ea"/>
                          <a:cs typeface="+mn-cs"/>
                        </a:rPr>
                        <a:t>&gt;</a:t>
                      </a:r>
                      <a:endParaRPr lang="en-US" dirty="0"/>
                    </a:p>
                  </a:txBody>
                  <a:tcPr/>
                </a:tc>
                <a:extLst>
                  <a:ext uri="{0D108BD9-81ED-4DB2-BD59-A6C34878D82A}">
                    <a16:rowId xmlns:a16="http://schemas.microsoft.com/office/drawing/2014/main" val="10000"/>
                  </a:ext>
                </a:extLst>
              </a:tr>
            </a:tbl>
          </a:graphicData>
        </a:graphic>
      </p:graphicFrame>
    </p:spTree>
    <p:custDataLst>
      <p:tags r:id="rId1"/>
    </p:custDataLst>
    <p:extLst>
      <p:ext uri="{BB962C8B-B14F-4D97-AF65-F5344CB8AC3E}">
        <p14:creationId xmlns:p14="http://schemas.microsoft.com/office/powerpoint/2010/main" val="5947475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Using Adobe illustrator - Styling &amp; Interactivity with CSS3</a:t>
            </a:r>
          </a:p>
        </p:txBody>
      </p:sp>
      <p:sp>
        <p:nvSpPr>
          <p:cNvPr id="3" name="Content Placeholder 2"/>
          <p:cNvSpPr>
            <a:spLocks noGrp="1"/>
          </p:cNvSpPr>
          <p:nvPr>
            <p:ph idx="1"/>
          </p:nvPr>
        </p:nvSpPr>
        <p:spPr/>
        <p:txBody>
          <a:bodyPr numCol="2">
            <a:normAutofit/>
          </a:bodyPr>
          <a:lstStyle/>
          <a:p>
            <a:r>
              <a:rPr lang="en-US" sz="2000" dirty="0"/>
              <a:t>Then include the interactive hover property in CSS definition, to achieve the desired interactivity:</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 </a:t>
            </a:r>
          </a:p>
          <a:p>
            <a:endParaRPr lang="en-US" sz="2000" dirty="0"/>
          </a:p>
          <a:p>
            <a:endParaRPr lang="en-US" sz="2000" dirty="0"/>
          </a:p>
          <a:p>
            <a:r>
              <a:rPr lang="en-US" sz="2000" dirty="0"/>
              <a:t>.</a:t>
            </a:r>
          </a:p>
        </p:txBody>
      </p:sp>
      <p:sp>
        <p:nvSpPr>
          <p:cNvPr id="4" name="Slide Number Placeholder 3"/>
          <p:cNvSpPr>
            <a:spLocks noGrp="1"/>
          </p:cNvSpPr>
          <p:nvPr>
            <p:ph type="sldNum" sz="quarter" idx="12"/>
          </p:nvPr>
        </p:nvSpPr>
        <p:spPr/>
        <p:txBody>
          <a:bodyPr/>
          <a:lstStyle/>
          <a:p>
            <a:fld id="{A6724466-CF14-4098-A57E-6BA1C4EB8FEB}" type="slidenum">
              <a:rPr lang="en-US" smtClean="0"/>
              <a:pPr/>
              <a:t>30</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983008372"/>
              </p:ext>
            </p:extLst>
          </p:nvPr>
        </p:nvGraphicFramePr>
        <p:xfrm>
          <a:off x="1219200" y="3124200"/>
          <a:ext cx="3429000" cy="2362199"/>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20000"/>
                    </a:ext>
                  </a:extLst>
                </a:gridCol>
              </a:tblGrid>
              <a:tr h="2362199">
                <a:tc>
                  <a:txBody>
                    <a:bodyPr/>
                    <a:lstStyle/>
                    <a:p>
                      <a:pPr algn="l"/>
                      <a:r>
                        <a:rPr lang="en-US" sz="1800" b="0" i="0" kern="1200" dirty="0">
                          <a:solidFill>
                            <a:schemeClr val="lt1"/>
                          </a:solidFill>
                          <a:effectLst/>
                          <a:latin typeface="+mn-lt"/>
                          <a:ea typeface="+mn-ea"/>
                          <a:cs typeface="+mn-cs"/>
                        </a:rPr>
                        <a:t>&lt;style&gt;</a:t>
                      </a:r>
                    </a:p>
                    <a:p>
                      <a:pPr algn="l"/>
                      <a:r>
                        <a:rPr lang="en-US" sz="1800" b="0" i="0" kern="1200" dirty="0">
                          <a:solidFill>
                            <a:schemeClr val="lt1"/>
                          </a:solidFill>
                          <a:effectLst/>
                          <a:latin typeface="+mn-lt"/>
                          <a:ea typeface="+mn-ea"/>
                          <a:cs typeface="+mn-cs"/>
                        </a:rPr>
                        <a:t>.kiwi {  fill: #94d31b; }</a:t>
                      </a:r>
                    </a:p>
                    <a:p>
                      <a:pPr algn="l"/>
                      <a:r>
                        <a:rPr lang="en-US" sz="1800" b="0" i="0" kern="1200" dirty="0">
                          <a:solidFill>
                            <a:schemeClr val="lt1"/>
                          </a:solidFill>
                          <a:effectLst/>
                          <a:latin typeface="+mn-lt"/>
                          <a:ea typeface="+mn-ea"/>
                          <a:cs typeface="+mn-cs"/>
                        </a:rPr>
                        <a:t>.</a:t>
                      </a:r>
                      <a:r>
                        <a:rPr lang="en-US" sz="1800" b="0" i="0" kern="1200" dirty="0" err="1">
                          <a:solidFill>
                            <a:schemeClr val="lt1"/>
                          </a:solidFill>
                          <a:effectLst/>
                          <a:latin typeface="+mn-lt"/>
                          <a:ea typeface="+mn-ea"/>
                          <a:cs typeface="+mn-cs"/>
                        </a:rPr>
                        <a:t>kiwi:hover</a:t>
                      </a:r>
                      <a:r>
                        <a:rPr lang="en-US" sz="1800" b="0" i="0" kern="1200" dirty="0">
                          <a:solidFill>
                            <a:schemeClr val="lt1"/>
                          </a:solidFill>
                          <a:effectLst/>
                          <a:latin typeface="+mn-lt"/>
                          <a:ea typeface="+mn-ea"/>
                          <a:cs typeface="+mn-cs"/>
                        </a:rPr>
                        <a:t> {  fill: #ace63c;}</a:t>
                      </a:r>
                    </a:p>
                    <a:p>
                      <a:pPr algn="l"/>
                      <a:r>
                        <a:rPr lang="en-US" sz="1800" b="0" i="0" kern="1200" dirty="0">
                          <a:solidFill>
                            <a:schemeClr val="lt1"/>
                          </a:solidFill>
                          <a:effectLst/>
                          <a:latin typeface="+mn-lt"/>
                          <a:ea typeface="+mn-ea"/>
                          <a:cs typeface="+mn-cs"/>
                        </a:rPr>
                        <a:t>.ground {  fill: #FFFFF;}</a:t>
                      </a:r>
                    </a:p>
                    <a:p>
                      <a:pPr algn="l"/>
                      <a:r>
                        <a:rPr lang="en-US" sz="1800" b="0" i="0" kern="1200" dirty="0">
                          <a:solidFill>
                            <a:schemeClr val="lt1"/>
                          </a:solidFill>
                          <a:effectLst/>
                          <a:latin typeface="+mn-lt"/>
                          <a:ea typeface="+mn-ea"/>
                          <a:cs typeface="+mn-cs"/>
                        </a:rPr>
                        <a:t>.</a:t>
                      </a:r>
                      <a:r>
                        <a:rPr lang="en-US" sz="1800" b="0" i="0" kern="1200" dirty="0" err="1">
                          <a:solidFill>
                            <a:schemeClr val="lt1"/>
                          </a:solidFill>
                          <a:effectLst/>
                          <a:latin typeface="+mn-lt"/>
                          <a:ea typeface="+mn-ea"/>
                          <a:cs typeface="+mn-cs"/>
                        </a:rPr>
                        <a:t>ground:hover</a:t>
                      </a:r>
                      <a:r>
                        <a:rPr lang="en-US" sz="1800" b="0" i="0" kern="1200" dirty="0">
                          <a:solidFill>
                            <a:schemeClr val="lt1"/>
                          </a:solidFill>
                          <a:effectLst/>
                          <a:latin typeface="+mn-lt"/>
                          <a:ea typeface="+mn-ea"/>
                          <a:cs typeface="+mn-cs"/>
                        </a:rPr>
                        <a:t> {  fill: yellow;}</a:t>
                      </a:r>
                    </a:p>
                    <a:p>
                      <a:pPr algn="l"/>
                      <a:endParaRPr lang="en-US" sz="1800" b="0" i="0" kern="1200" dirty="0">
                        <a:solidFill>
                          <a:schemeClr val="lt1"/>
                        </a:solidFill>
                        <a:effectLst/>
                        <a:latin typeface="+mn-lt"/>
                        <a:ea typeface="+mn-ea"/>
                        <a:cs typeface="+mn-cs"/>
                      </a:endParaRPr>
                    </a:p>
                    <a:p>
                      <a:pPr algn="l"/>
                      <a:r>
                        <a:rPr lang="en-US" sz="1800" b="0" i="0" kern="1200" dirty="0">
                          <a:solidFill>
                            <a:schemeClr val="lt1"/>
                          </a:solidFill>
                          <a:effectLst/>
                          <a:latin typeface="+mn-lt"/>
                          <a:ea typeface="+mn-ea"/>
                          <a:cs typeface="+mn-cs"/>
                        </a:rPr>
                        <a:t>&lt;/style&gt;</a:t>
                      </a:r>
                      <a:endParaRPr lang="en-US" dirty="0"/>
                    </a:p>
                  </a:txBody>
                  <a:tcPr/>
                </a:tc>
                <a:extLst>
                  <a:ext uri="{0D108BD9-81ED-4DB2-BD59-A6C34878D82A}">
                    <a16:rowId xmlns:a16="http://schemas.microsoft.com/office/drawing/2014/main" val="10000"/>
                  </a:ext>
                </a:extLst>
              </a:tr>
            </a:tbl>
          </a:graphicData>
        </a:graphic>
      </p:graphicFrame>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295400"/>
            <a:ext cx="2709862" cy="250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1057" y="3980305"/>
            <a:ext cx="2809943" cy="2420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966748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Adding Event Listeners to with </a:t>
            </a:r>
            <a:r>
              <a:rPr lang="en-US" dirty="0" err="1"/>
              <a:t>Javascript</a:t>
            </a:r>
            <a:r>
              <a:rPr lang="en-US" dirty="0"/>
              <a:t> DOM</a:t>
            </a:r>
          </a:p>
        </p:txBody>
      </p:sp>
      <p:sp>
        <p:nvSpPr>
          <p:cNvPr id="3" name="Content Placeholder 2"/>
          <p:cNvSpPr>
            <a:spLocks noGrp="1"/>
          </p:cNvSpPr>
          <p:nvPr>
            <p:ph idx="1"/>
          </p:nvPr>
        </p:nvSpPr>
        <p:spPr>
          <a:xfrm>
            <a:off x="912410" y="1524000"/>
            <a:ext cx="7395380" cy="4876800"/>
          </a:xfrm>
        </p:spPr>
        <p:txBody>
          <a:bodyPr>
            <a:normAutofit fontScale="70000" lnSpcReduction="20000"/>
          </a:bodyPr>
          <a:lstStyle/>
          <a:p>
            <a:pPr marL="0" indent="0">
              <a:buNone/>
            </a:pPr>
            <a:r>
              <a:rPr lang="en-US" dirty="0"/>
              <a:t>In DOM using </a:t>
            </a:r>
            <a:r>
              <a:rPr lang="en-US" dirty="0" err="1"/>
              <a:t>Javascript</a:t>
            </a:r>
            <a:r>
              <a:rPr lang="en-US" dirty="0"/>
              <a:t>,</a:t>
            </a:r>
          </a:p>
          <a:p>
            <a:r>
              <a:rPr lang="en-US" dirty="0"/>
              <a:t>The </a:t>
            </a:r>
            <a:r>
              <a:rPr lang="en-US" b="1" dirty="0" err="1"/>
              <a:t>addEventListener</a:t>
            </a:r>
            <a:r>
              <a:rPr lang="en-US" dirty="0"/>
              <a:t> method of the document object is used to add event listeners to it that apply to corresponding handler functions.</a:t>
            </a:r>
          </a:p>
          <a:p>
            <a:endParaRPr lang="en-US" dirty="0"/>
          </a:p>
          <a:p>
            <a:endParaRPr lang="en-US" dirty="0"/>
          </a:p>
          <a:p>
            <a:r>
              <a:rPr lang="en-US" b="1" dirty="0"/>
              <a:t>Parameters</a:t>
            </a:r>
          </a:p>
          <a:p>
            <a:r>
              <a:rPr lang="en-US" b="1" i="1" dirty="0"/>
              <a:t>event</a:t>
            </a:r>
            <a:br>
              <a:rPr lang="en-US" dirty="0"/>
            </a:br>
            <a:r>
              <a:rPr lang="en-US" dirty="0"/>
              <a:t>A string representing the DOM event you wish to target.</a:t>
            </a:r>
          </a:p>
          <a:p>
            <a:r>
              <a:rPr lang="en-US" b="1" i="1" dirty="0"/>
              <a:t>function</a:t>
            </a:r>
            <a:br>
              <a:rPr lang="en-US" dirty="0"/>
            </a:br>
            <a:r>
              <a:rPr lang="en-US" dirty="0"/>
              <a:t>The function that stands ready to run when the event fires off.</a:t>
            </a:r>
          </a:p>
          <a:p>
            <a:r>
              <a:rPr lang="en-US" b="1" i="1" dirty="0" err="1"/>
              <a:t>useCapture</a:t>
            </a:r>
            <a:br>
              <a:rPr lang="en-US" dirty="0"/>
            </a:br>
            <a:r>
              <a:rPr lang="en-US" dirty="0"/>
              <a:t>An optional </a:t>
            </a:r>
            <a:r>
              <a:rPr lang="en-US" dirty="0" err="1"/>
              <a:t>boolean</a:t>
            </a:r>
            <a:r>
              <a:rPr lang="en-US" dirty="0"/>
              <a:t> value that specifies whether or not you want all events of this type to be associated with the specified listener function before reaching other listeners beneath it in the document for that type of event. Default value is false if not specified.</a:t>
            </a:r>
          </a:p>
          <a:p>
            <a:endParaRPr lang="en-US" dirty="0"/>
          </a:p>
        </p:txBody>
      </p:sp>
      <p:sp>
        <p:nvSpPr>
          <p:cNvPr id="4" name="Slide Number Placeholder 3"/>
          <p:cNvSpPr>
            <a:spLocks noGrp="1"/>
          </p:cNvSpPr>
          <p:nvPr>
            <p:ph type="sldNum" sz="quarter" idx="12"/>
          </p:nvPr>
        </p:nvSpPr>
        <p:spPr/>
        <p:txBody>
          <a:bodyPr/>
          <a:lstStyle/>
          <a:p>
            <a:fld id="{A6724466-CF14-4098-A57E-6BA1C4EB8FEB}" type="slidenum">
              <a:rPr lang="en-US" smtClean="0"/>
              <a:pPr/>
              <a:t>31</a:t>
            </a:fld>
            <a:endParaRPr lang="en-US"/>
          </a:p>
        </p:txBody>
      </p:sp>
      <p:sp>
        <p:nvSpPr>
          <p:cNvPr id="5" name="Rounded Rectangle 4"/>
          <p:cNvSpPr/>
          <p:nvPr/>
        </p:nvSpPr>
        <p:spPr>
          <a:xfrm>
            <a:off x="1371600" y="2451463"/>
            <a:ext cx="61722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document.addEventListener</a:t>
            </a:r>
            <a:r>
              <a:rPr lang="en-US" dirty="0"/>
              <a:t>( event, function, </a:t>
            </a:r>
            <a:r>
              <a:rPr lang="en-US" dirty="0" err="1"/>
              <a:t>useCapture</a:t>
            </a:r>
            <a:r>
              <a:rPr lang="en-US" dirty="0"/>
              <a:t> )</a:t>
            </a:r>
          </a:p>
        </p:txBody>
      </p:sp>
      <p:sp>
        <p:nvSpPr>
          <p:cNvPr id="6" name="5-Point Star 5"/>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1786792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Adding Event Listeners (</a:t>
            </a:r>
            <a:r>
              <a:rPr lang="en-US" dirty="0" err="1"/>
              <a:t>Javascript</a:t>
            </a:r>
            <a:r>
              <a:rPr lang="en-US" dirty="0"/>
              <a:t>) – Example 1</a:t>
            </a:r>
          </a:p>
        </p:txBody>
      </p:sp>
      <p:sp>
        <p:nvSpPr>
          <p:cNvPr id="3" name="Content Placeholder 2"/>
          <p:cNvSpPr>
            <a:spLocks noGrp="1"/>
          </p:cNvSpPr>
          <p:nvPr>
            <p:ph idx="1"/>
          </p:nvPr>
        </p:nvSpPr>
        <p:spPr>
          <a:xfrm>
            <a:off x="912410" y="1524000"/>
            <a:ext cx="7395380" cy="4876800"/>
          </a:xfrm>
        </p:spPr>
        <p:txBody>
          <a:bodyPr>
            <a:normAutofit/>
          </a:bodyPr>
          <a:lstStyle/>
          <a:p>
            <a:pPr marL="0" indent="0">
              <a:buNone/>
            </a:pPr>
            <a:r>
              <a:rPr lang="en-US" dirty="0"/>
              <a:t>In DOM using </a:t>
            </a:r>
            <a:r>
              <a:rPr lang="en-US" dirty="0" err="1"/>
              <a:t>Javascript</a:t>
            </a:r>
            <a:r>
              <a:rPr lang="en-US" dirty="0"/>
              <a:t>,</a:t>
            </a:r>
          </a:p>
          <a:p>
            <a:pPr marL="0" indent="0">
              <a:buNone/>
            </a:pPr>
            <a:r>
              <a:rPr lang="en-US" dirty="0"/>
              <a:t> </a:t>
            </a:r>
          </a:p>
        </p:txBody>
      </p:sp>
      <p:sp>
        <p:nvSpPr>
          <p:cNvPr id="4" name="Slide Number Placeholder 3"/>
          <p:cNvSpPr>
            <a:spLocks noGrp="1"/>
          </p:cNvSpPr>
          <p:nvPr>
            <p:ph type="sldNum" sz="quarter" idx="12"/>
          </p:nvPr>
        </p:nvSpPr>
        <p:spPr/>
        <p:txBody>
          <a:bodyPr/>
          <a:lstStyle/>
          <a:p>
            <a:fld id="{A6724466-CF14-4098-A57E-6BA1C4EB8FEB}" type="slidenum">
              <a:rPr lang="en-US" smtClean="0"/>
              <a:pPr/>
              <a:t>32</a:t>
            </a:fld>
            <a:endParaRPr lang="en-US"/>
          </a:p>
        </p:txBody>
      </p:sp>
      <p:sp>
        <p:nvSpPr>
          <p:cNvPr id="5" name="Rounded Rectangle 4"/>
          <p:cNvSpPr/>
          <p:nvPr/>
        </p:nvSpPr>
        <p:spPr>
          <a:xfrm>
            <a:off x="381000" y="2057400"/>
            <a:ext cx="6172200" cy="449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&lt;!DOCTYPE html&gt;</a:t>
            </a:r>
            <a:br>
              <a:rPr lang="en-US" dirty="0"/>
            </a:br>
            <a:r>
              <a:rPr lang="en-US" dirty="0"/>
              <a:t>&lt;html&gt; </a:t>
            </a:r>
            <a:br>
              <a:rPr lang="en-US" dirty="0"/>
            </a:br>
            <a:r>
              <a:rPr lang="en-US" dirty="0"/>
              <a:t>&lt;head&gt; </a:t>
            </a:r>
            <a:br>
              <a:rPr lang="en-US" dirty="0"/>
            </a:br>
            <a:r>
              <a:rPr lang="en-US" dirty="0"/>
              <a:t>&lt;script type="text/</a:t>
            </a:r>
            <a:r>
              <a:rPr lang="en-US" dirty="0" err="1"/>
              <a:t>javascript</a:t>
            </a:r>
            <a:r>
              <a:rPr lang="en-US" dirty="0"/>
              <a:t>"&gt;</a:t>
            </a:r>
            <a:br>
              <a:rPr lang="en-US" dirty="0"/>
            </a:br>
            <a:r>
              <a:rPr lang="en-US" dirty="0"/>
              <a:t>function </a:t>
            </a:r>
            <a:r>
              <a:rPr lang="en-US" dirty="0" err="1"/>
              <a:t>init</a:t>
            </a:r>
            <a:r>
              <a:rPr lang="en-US" dirty="0"/>
              <a:t>(){</a:t>
            </a:r>
            <a:br>
              <a:rPr lang="en-US" dirty="0"/>
            </a:br>
            <a:r>
              <a:rPr lang="en-US" dirty="0"/>
              <a:t>    </a:t>
            </a:r>
            <a:r>
              <a:rPr lang="en-US" dirty="0" err="1"/>
              <a:t>document.addEventListener</a:t>
            </a:r>
            <a:r>
              <a:rPr lang="en-US" dirty="0"/>
              <a:t>(</a:t>
            </a:r>
            <a:r>
              <a:rPr lang="en-US" b="1" dirty="0">
                <a:solidFill>
                  <a:srgbClr val="FF0000"/>
                </a:solidFill>
              </a:rPr>
              <a:t>"</a:t>
            </a:r>
            <a:r>
              <a:rPr lang="en-US" b="1" dirty="0">
                <a:solidFill>
                  <a:srgbClr val="FFFF00"/>
                </a:solidFill>
              </a:rPr>
              <a:t>click</a:t>
            </a:r>
            <a:r>
              <a:rPr lang="en-US" b="1" dirty="0">
                <a:solidFill>
                  <a:srgbClr val="FF0000"/>
                </a:solidFill>
              </a:rPr>
              <a:t>"</a:t>
            </a:r>
            <a:r>
              <a:rPr lang="en-US" dirty="0"/>
              <a:t>, </a:t>
            </a:r>
            <a:r>
              <a:rPr lang="en-US" dirty="0" err="1"/>
              <a:t>myFunction</a:t>
            </a:r>
            <a:r>
              <a:rPr lang="en-US" dirty="0"/>
              <a:t>, false);</a:t>
            </a:r>
            <a:br>
              <a:rPr lang="en-US" dirty="0"/>
            </a:br>
            <a:r>
              <a:rPr lang="en-US" dirty="0"/>
              <a:t>    function </a:t>
            </a:r>
            <a:r>
              <a:rPr lang="en-US" dirty="0" err="1"/>
              <a:t>myFunction</a:t>
            </a:r>
            <a:r>
              <a:rPr lang="en-US" dirty="0"/>
              <a:t>(){</a:t>
            </a:r>
            <a:br>
              <a:rPr lang="en-US" dirty="0"/>
            </a:br>
            <a:r>
              <a:rPr lang="en-US" dirty="0"/>
              <a:t>        alert("You just clicked the mouse");</a:t>
            </a:r>
            <a:br>
              <a:rPr lang="en-US" dirty="0"/>
            </a:br>
            <a:r>
              <a:rPr lang="en-US" dirty="0"/>
              <a:t>    }</a:t>
            </a:r>
            <a:br>
              <a:rPr lang="en-US" dirty="0"/>
            </a:br>
            <a:r>
              <a:rPr lang="en-US" dirty="0"/>
              <a:t>}</a:t>
            </a:r>
            <a:br>
              <a:rPr lang="en-US" dirty="0"/>
            </a:br>
            <a:r>
              <a:rPr lang="en-US" dirty="0" err="1"/>
              <a:t>window.onload</a:t>
            </a:r>
            <a:r>
              <a:rPr lang="en-US" dirty="0"/>
              <a:t> = </a:t>
            </a:r>
            <a:r>
              <a:rPr lang="en-US" dirty="0" err="1"/>
              <a:t>init</a:t>
            </a:r>
            <a:r>
              <a:rPr lang="en-US" dirty="0"/>
              <a:t>;</a:t>
            </a:r>
            <a:br>
              <a:rPr lang="en-US" dirty="0"/>
            </a:br>
            <a:r>
              <a:rPr lang="en-US" dirty="0"/>
              <a:t>&lt;/script&gt; </a:t>
            </a:r>
            <a:br>
              <a:rPr lang="en-US" dirty="0"/>
            </a:br>
            <a:r>
              <a:rPr lang="en-US" dirty="0"/>
              <a:t>&lt;/head&gt;</a:t>
            </a:r>
            <a:br>
              <a:rPr lang="en-US" dirty="0"/>
            </a:br>
            <a:r>
              <a:rPr lang="en-US" dirty="0"/>
              <a:t>&lt;body&gt;</a:t>
            </a:r>
            <a:br>
              <a:rPr lang="en-US" dirty="0"/>
            </a:br>
            <a:r>
              <a:rPr lang="en-US" dirty="0"/>
              <a:t>&lt;/body&gt; </a:t>
            </a:r>
            <a:br>
              <a:rPr lang="en-US" dirty="0"/>
            </a:br>
            <a:r>
              <a:rPr lang="en-US" dirty="0"/>
              <a:t>&lt;/html&gt;</a:t>
            </a:r>
          </a:p>
        </p:txBody>
      </p:sp>
      <p:sp>
        <p:nvSpPr>
          <p:cNvPr id="6" name="Rounded Rectangle 5"/>
          <p:cNvSpPr/>
          <p:nvPr/>
        </p:nvSpPr>
        <p:spPr>
          <a:xfrm>
            <a:off x="6858000" y="2072640"/>
            <a:ext cx="1981200" cy="449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Possible Mouse Events:</a:t>
            </a:r>
          </a:p>
          <a:p>
            <a:endParaRPr lang="en-US" dirty="0"/>
          </a:p>
          <a:p>
            <a:r>
              <a:rPr lang="en-US" sz="2400" b="1" dirty="0">
                <a:solidFill>
                  <a:srgbClr val="FFFF00"/>
                </a:solidFill>
              </a:rPr>
              <a:t>click</a:t>
            </a:r>
          </a:p>
          <a:p>
            <a:r>
              <a:rPr lang="en-US" sz="2400" b="1" dirty="0" err="1">
                <a:solidFill>
                  <a:srgbClr val="FFFF00"/>
                </a:solidFill>
              </a:rPr>
              <a:t>mousedown</a:t>
            </a:r>
            <a:endParaRPr lang="en-US" sz="2400" b="1" dirty="0">
              <a:solidFill>
                <a:srgbClr val="FFFF00"/>
              </a:solidFill>
            </a:endParaRPr>
          </a:p>
          <a:p>
            <a:r>
              <a:rPr lang="en-US" sz="2400" b="1" dirty="0" err="1">
                <a:solidFill>
                  <a:srgbClr val="FFFF00"/>
                </a:solidFill>
              </a:rPr>
              <a:t>mouseup</a:t>
            </a:r>
            <a:endParaRPr lang="en-US" sz="2400" b="1" dirty="0">
              <a:solidFill>
                <a:srgbClr val="FFFF00"/>
              </a:solidFill>
            </a:endParaRPr>
          </a:p>
          <a:p>
            <a:r>
              <a:rPr lang="en-US" sz="2400" b="1" dirty="0" err="1">
                <a:solidFill>
                  <a:srgbClr val="FFFF00"/>
                </a:solidFill>
              </a:rPr>
              <a:t>mouseover</a:t>
            </a:r>
            <a:endParaRPr lang="en-US" sz="2400" b="1" dirty="0">
              <a:solidFill>
                <a:srgbClr val="FFFF00"/>
              </a:solidFill>
            </a:endParaRPr>
          </a:p>
          <a:p>
            <a:r>
              <a:rPr lang="en-US" sz="2400" b="1" dirty="0" err="1">
                <a:solidFill>
                  <a:srgbClr val="FFFF00"/>
                </a:solidFill>
              </a:rPr>
              <a:t>mousemove</a:t>
            </a:r>
            <a:endParaRPr lang="en-US" sz="2400" b="1" dirty="0">
              <a:solidFill>
                <a:srgbClr val="FFFF00"/>
              </a:solidFill>
            </a:endParaRPr>
          </a:p>
          <a:p>
            <a:r>
              <a:rPr lang="en-US" sz="2400" b="1" dirty="0" err="1">
                <a:solidFill>
                  <a:srgbClr val="FFFF00"/>
                </a:solidFill>
              </a:rPr>
              <a:t>mouseout</a:t>
            </a:r>
            <a:endParaRPr lang="en-US" dirty="0"/>
          </a:p>
          <a:p>
            <a:endParaRPr lang="en-US" dirty="0"/>
          </a:p>
          <a:p>
            <a:endParaRPr lang="en-US"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4572000"/>
            <a:ext cx="3063429"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5-Point Star 7"/>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1714476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Adding Event Listeners (</a:t>
            </a:r>
            <a:r>
              <a:rPr lang="en-US" dirty="0" err="1"/>
              <a:t>Javascript</a:t>
            </a:r>
            <a:r>
              <a:rPr lang="en-US" dirty="0"/>
              <a:t>)- Example 2 </a:t>
            </a:r>
          </a:p>
        </p:txBody>
      </p:sp>
      <p:sp>
        <p:nvSpPr>
          <p:cNvPr id="3" name="Content Placeholder 2"/>
          <p:cNvSpPr>
            <a:spLocks noGrp="1"/>
          </p:cNvSpPr>
          <p:nvPr>
            <p:ph idx="1"/>
          </p:nvPr>
        </p:nvSpPr>
        <p:spPr>
          <a:xfrm>
            <a:off x="960494" y="1295400"/>
            <a:ext cx="7395380" cy="4876800"/>
          </a:xfrm>
        </p:spPr>
        <p:txBody>
          <a:bodyPr>
            <a:normAutofit/>
          </a:bodyPr>
          <a:lstStyle/>
          <a:p>
            <a:pPr marL="0" indent="0">
              <a:buNone/>
            </a:pPr>
            <a:r>
              <a:rPr lang="en-US" sz="2400" dirty="0"/>
              <a:t>For events such as "click" or "</a:t>
            </a:r>
            <a:r>
              <a:rPr lang="en-US" sz="2400" dirty="0" err="1"/>
              <a:t>mousemove</a:t>
            </a:r>
            <a:r>
              <a:rPr lang="en-US" sz="2400" dirty="0"/>
              <a:t>" that populate the </a:t>
            </a:r>
            <a:r>
              <a:rPr lang="en-US" sz="2400" dirty="0">
                <a:hlinkClick r:id="rId3"/>
              </a:rPr>
              <a:t>Event object</a:t>
            </a:r>
            <a:r>
              <a:rPr lang="en-US" sz="2400" dirty="0"/>
              <a:t> with additional info such as where the mouse is at the time, </a:t>
            </a:r>
            <a:r>
              <a:rPr lang="en-US" sz="2400" dirty="0" err="1"/>
              <a:t>addEventListener</a:t>
            </a:r>
            <a:r>
              <a:rPr lang="en-US" sz="2400" dirty="0"/>
              <a:t>() passes this object silently to the listener. To receive it, define a single parameter in the anonymous function: </a:t>
            </a:r>
          </a:p>
        </p:txBody>
      </p:sp>
      <p:sp>
        <p:nvSpPr>
          <p:cNvPr id="4" name="Slide Number Placeholder 3"/>
          <p:cNvSpPr>
            <a:spLocks noGrp="1"/>
          </p:cNvSpPr>
          <p:nvPr>
            <p:ph type="sldNum" sz="quarter" idx="12"/>
          </p:nvPr>
        </p:nvSpPr>
        <p:spPr/>
        <p:txBody>
          <a:bodyPr/>
          <a:lstStyle/>
          <a:p>
            <a:fld id="{A6724466-CF14-4098-A57E-6BA1C4EB8FEB}" type="slidenum">
              <a:rPr lang="en-US" smtClean="0"/>
              <a:pPr/>
              <a:t>33</a:t>
            </a:fld>
            <a:endParaRPr lang="en-US"/>
          </a:p>
        </p:txBody>
      </p:sp>
      <p:sp>
        <p:nvSpPr>
          <p:cNvPr id="5" name="Rounded Rectangle 4"/>
          <p:cNvSpPr/>
          <p:nvPr/>
        </p:nvSpPr>
        <p:spPr>
          <a:xfrm>
            <a:off x="1143000" y="3505200"/>
            <a:ext cx="7010400" cy="3048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function </a:t>
            </a:r>
            <a:r>
              <a:rPr lang="en-US" dirty="0" err="1"/>
              <a:t>getcoord</a:t>
            </a:r>
            <a:r>
              <a:rPr lang="en-US" dirty="0"/>
              <a:t>(</a:t>
            </a:r>
            <a:r>
              <a:rPr lang="en-US" b="1" dirty="0" err="1">
                <a:solidFill>
                  <a:srgbClr val="FFFF00"/>
                </a:solidFill>
              </a:rPr>
              <a:t>evt</a:t>
            </a:r>
            <a:r>
              <a:rPr lang="en-US" dirty="0"/>
              <a:t>){</a:t>
            </a:r>
            <a:br>
              <a:rPr lang="en-US" dirty="0"/>
            </a:br>
            <a:r>
              <a:rPr lang="en-US" dirty="0"/>
              <a:t> alert("You clicked at coordinates [" + </a:t>
            </a:r>
            <a:r>
              <a:rPr lang="en-US" dirty="0" err="1"/>
              <a:t>evt.clientX</a:t>
            </a:r>
            <a:r>
              <a:rPr lang="en-US" dirty="0"/>
              <a:t> + "," + </a:t>
            </a:r>
            <a:r>
              <a:rPr lang="en-US" dirty="0" err="1"/>
              <a:t>evt.clientY</a:t>
            </a:r>
            <a:r>
              <a:rPr lang="en-US" dirty="0"/>
              <a:t> + "]")</a:t>
            </a:r>
            <a:br>
              <a:rPr lang="en-US" dirty="0"/>
            </a:br>
            <a:r>
              <a:rPr lang="en-US" dirty="0"/>
              <a:t>}</a:t>
            </a:r>
            <a:br>
              <a:rPr lang="en-US" dirty="0"/>
            </a:br>
            <a:br>
              <a:rPr lang="en-US" dirty="0"/>
            </a:br>
            <a:r>
              <a:rPr lang="en-US" dirty="0"/>
              <a:t>if (</a:t>
            </a:r>
            <a:r>
              <a:rPr lang="en-US" dirty="0" err="1"/>
              <a:t>document.addEventListener</a:t>
            </a:r>
            <a:r>
              <a:rPr lang="en-US" dirty="0"/>
              <a:t>)</a:t>
            </a:r>
            <a:br>
              <a:rPr lang="en-US" dirty="0"/>
            </a:br>
            <a:r>
              <a:rPr lang="en-US" dirty="0"/>
              <a:t> </a:t>
            </a:r>
            <a:r>
              <a:rPr lang="en-US" dirty="0" err="1"/>
              <a:t>document.addEventListener</a:t>
            </a:r>
            <a:r>
              <a:rPr lang="en-US" dirty="0"/>
              <a:t>(</a:t>
            </a:r>
            <a:r>
              <a:rPr lang="en-US" b="1" dirty="0">
                <a:solidFill>
                  <a:srgbClr val="FFFF00"/>
                </a:solidFill>
              </a:rPr>
              <a:t>"click</a:t>
            </a:r>
            <a:r>
              <a:rPr lang="en-US" dirty="0"/>
              <a:t>", function(</a:t>
            </a:r>
            <a:r>
              <a:rPr lang="en-US" sz="2000" b="1" dirty="0" err="1">
                <a:solidFill>
                  <a:srgbClr val="FFFF00"/>
                </a:solidFill>
              </a:rPr>
              <a:t>evt</a:t>
            </a:r>
            <a:r>
              <a:rPr lang="en-US" dirty="0"/>
              <a:t>){</a:t>
            </a:r>
            <a:r>
              <a:rPr lang="en-US" dirty="0" err="1"/>
              <a:t>getcoord</a:t>
            </a:r>
            <a:r>
              <a:rPr lang="en-US" dirty="0"/>
              <a:t>(</a:t>
            </a:r>
            <a:r>
              <a:rPr lang="en-US" dirty="0" err="1"/>
              <a:t>evt</a:t>
            </a:r>
            <a:r>
              <a:rPr lang="en-US" dirty="0"/>
              <a:t>)}, false) //invoke function</a:t>
            </a:r>
          </a:p>
        </p:txBody>
      </p:sp>
      <p:sp>
        <p:nvSpPr>
          <p:cNvPr id="6" name="5-Point Star 5"/>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29300309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Adding Event Listeners to an SVG Object (</a:t>
            </a:r>
            <a:r>
              <a:rPr lang="en-US" dirty="0" err="1"/>
              <a:t>Javascript</a:t>
            </a:r>
            <a:r>
              <a:rPr lang="en-US" dirty="0"/>
              <a:t>) – Example 3</a:t>
            </a:r>
          </a:p>
        </p:txBody>
      </p:sp>
      <p:sp>
        <p:nvSpPr>
          <p:cNvPr id="3" name="Content Placeholder 2"/>
          <p:cNvSpPr>
            <a:spLocks noGrp="1"/>
          </p:cNvSpPr>
          <p:nvPr>
            <p:ph idx="1"/>
          </p:nvPr>
        </p:nvSpPr>
        <p:spPr>
          <a:xfrm>
            <a:off x="3352800" y="1295400"/>
            <a:ext cx="5638800" cy="5181600"/>
          </a:xfrm>
          <a:solidFill>
            <a:srgbClr val="FFFF00"/>
          </a:solidFill>
          <a:ln>
            <a:gradFill>
              <a:gsLst>
                <a:gs pos="700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txBody>
          <a:bodyPr>
            <a:noAutofit/>
          </a:bodyPr>
          <a:lstStyle/>
          <a:p>
            <a:pPr marL="0" indent="0">
              <a:buNone/>
            </a:pPr>
            <a:r>
              <a:rPr lang="en-US" sz="1600" dirty="0"/>
              <a:t>&lt;!DOCTYPE html&gt;</a:t>
            </a:r>
          </a:p>
          <a:p>
            <a:pPr marL="0" indent="0">
              <a:buNone/>
            </a:pPr>
            <a:r>
              <a:rPr lang="en-US" sz="1600" dirty="0"/>
              <a:t>&lt;html&gt;&lt;head&gt;&lt;/head&gt;&lt;body&gt;</a:t>
            </a:r>
          </a:p>
          <a:p>
            <a:pPr marL="0" indent="0">
              <a:buNone/>
            </a:pPr>
            <a:r>
              <a:rPr lang="en-US" sz="1600" b="1" dirty="0"/>
              <a:t>&lt;</a:t>
            </a:r>
            <a:r>
              <a:rPr lang="en-US" sz="1600" b="1" dirty="0" err="1"/>
              <a:t>svg</a:t>
            </a:r>
            <a:r>
              <a:rPr lang="en-US" sz="1600" b="1" dirty="0"/>
              <a:t> </a:t>
            </a:r>
            <a:r>
              <a:rPr lang="en-US" sz="1600" dirty="0"/>
              <a:t>width="500" height="100"&gt;</a:t>
            </a:r>
          </a:p>
          <a:p>
            <a:pPr marL="0" indent="0">
              <a:buNone/>
            </a:pPr>
            <a:r>
              <a:rPr lang="en-US" sz="1600" dirty="0"/>
              <a:t>    &lt;</a:t>
            </a:r>
            <a:r>
              <a:rPr lang="en-US" sz="1600" dirty="0" err="1"/>
              <a:t>rect</a:t>
            </a:r>
            <a:r>
              <a:rPr lang="en-US" sz="1600" dirty="0"/>
              <a:t> </a:t>
            </a:r>
            <a:r>
              <a:rPr lang="en-US" sz="1600" b="1" dirty="0"/>
              <a:t>id="rect1" </a:t>
            </a:r>
            <a:r>
              <a:rPr lang="en-US" sz="1600" dirty="0"/>
              <a:t>x="10" y="10" width="50" height="80"</a:t>
            </a:r>
          </a:p>
          <a:p>
            <a:pPr marL="0" indent="0">
              <a:buNone/>
            </a:pPr>
            <a:r>
              <a:rPr lang="en-US" sz="1600" dirty="0"/>
              <a:t>          style="stroke:#000000; </a:t>
            </a:r>
            <a:r>
              <a:rPr lang="en-US" sz="1600" dirty="0" err="1"/>
              <a:t>fill:green</a:t>
            </a:r>
            <a:r>
              <a:rPr lang="en-US" sz="1600" dirty="0"/>
              <a:t>;"/&gt;</a:t>
            </a:r>
          </a:p>
          <a:p>
            <a:pPr marL="0" indent="0">
              <a:buNone/>
            </a:pPr>
            <a:r>
              <a:rPr lang="en-US" sz="1600" b="1" dirty="0"/>
              <a:t>&lt;/</a:t>
            </a:r>
            <a:r>
              <a:rPr lang="en-US" sz="1600" b="1" dirty="0" err="1"/>
              <a:t>svg</a:t>
            </a:r>
            <a:r>
              <a:rPr lang="en-US" sz="1600" b="1" dirty="0"/>
              <a:t>&gt;</a:t>
            </a:r>
          </a:p>
          <a:p>
            <a:pPr marL="0" indent="0">
              <a:buNone/>
            </a:pPr>
            <a:r>
              <a:rPr lang="en-US" sz="1600" dirty="0"/>
              <a:t>&lt;script type="text/</a:t>
            </a:r>
            <a:r>
              <a:rPr lang="en-US" sz="1600" dirty="0" err="1"/>
              <a:t>javascript</a:t>
            </a:r>
            <a:r>
              <a:rPr lang="en-US" sz="1600" dirty="0"/>
              <a:t>"&gt;</a:t>
            </a:r>
          </a:p>
          <a:p>
            <a:pPr marL="0" indent="0">
              <a:buNone/>
            </a:pPr>
            <a:r>
              <a:rPr lang="en-US" sz="1600" dirty="0" err="1"/>
              <a:t>var</a:t>
            </a:r>
            <a:r>
              <a:rPr lang="en-US" sz="1600" dirty="0"/>
              <a:t> </a:t>
            </a:r>
            <a:r>
              <a:rPr lang="en-US" sz="1600" dirty="0" err="1"/>
              <a:t>svgElement</a:t>
            </a:r>
            <a:r>
              <a:rPr lang="en-US" sz="1600" dirty="0"/>
              <a:t> = </a:t>
            </a:r>
            <a:r>
              <a:rPr lang="en-US" sz="1600" dirty="0" err="1"/>
              <a:t>document.getElementById</a:t>
            </a:r>
            <a:r>
              <a:rPr lang="en-US" sz="1600" dirty="0"/>
              <a:t>("</a:t>
            </a:r>
            <a:r>
              <a:rPr lang="en-US" sz="1600" b="1" dirty="0"/>
              <a:t>rect1</a:t>
            </a:r>
            <a:r>
              <a:rPr lang="en-US" sz="1600" dirty="0"/>
              <a:t>");</a:t>
            </a:r>
          </a:p>
          <a:p>
            <a:pPr marL="0" indent="0">
              <a:buNone/>
            </a:pPr>
            <a:r>
              <a:rPr lang="en-US" sz="1600" dirty="0" err="1"/>
              <a:t>svgElement.</a:t>
            </a:r>
            <a:r>
              <a:rPr lang="en-US" sz="1800" b="1" dirty="0" err="1">
                <a:solidFill>
                  <a:srgbClr val="0070C0"/>
                </a:solidFill>
              </a:rPr>
              <a:t>addEventListener</a:t>
            </a:r>
            <a:r>
              <a:rPr lang="en-US" sz="1600" dirty="0"/>
              <a:t>("</a:t>
            </a:r>
            <a:r>
              <a:rPr lang="en-US" sz="1800" b="1" dirty="0">
                <a:solidFill>
                  <a:schemeClr val="accent6">
                    <a:lumMod val="75000"/>
                  </a:schemeClr>
                </a:solidFill>
              </a:rPr>
              <a:t>click</a:t>
            </a:r>
            <a:r>
              <a:rPr lang="en-US" sz="1600" dirty="0"/>
              <a:t>", </a:t>
            </a:r>
            <a:r>
              <a:rPr lang="en-US" sz="1600" b="1" dirty="0">
                <a:solidFill>
                  <a:srgbClr val="FF0000"/>
                </a:solidFill>
              </a:rPr>
              <a:t>dosomething1</a:t>
            </a:r>
            <a:r>
              <a:rPr lang="en-US" sz="1600" dirty="0">
                <a:solidFill>
                  <a:srgbClr val="FF0000"/>
                </a:solidFill>
              </a:rPr>
              <a:t>,</a:t>
            </a:r>
            <a:r>
              <a:rPr lang="en-US" sz="1600" dirty="0"/>
              <a:t> false);</a:t>
            </a:r>
          </a:p>
          <a:p>
            <a:pPr marL="0" indent="0">
              <a:buNone/>
            </a:pPr>
            <a:endParaRPr lang="en-US" sz="1600" dirty="0"/>
          </a:p>
          <a:p>
            <a:pPr marL="0" indent="0">
              <a:buNone/>
            </a:pPr>
            <a:r>
              <a:rPr lang="en-US" sz="1600" dirty="0"/>
              <a:t> function  </a:t>
            </a:r>
            <a:r>
              <a:rPr lang="en-US" sz="1600" b="1" dirty="0">
                <a:solidFill>
                  <a:srgbClr val="FF0000"/>
                </a:solidFill>
              </a:rPr>
              <a:t>dosomething1</a:t>
            </a:r>
            <a:r>
              <a:rPr lang="en-US" sz="1600" dirty="0"/>
              <a:t>(</a:t>
            </a:r>
            <a:r>
              <a:rPr lang="en-US" sz="1600" dirty="0" err="1"/>
              <a:t>evt</a:t>
            </a:r>
            <a:r>
              <a:rPr lang="en-US" sz="1600" dirty="0"/>
              <a:t>) {</a:t>
            </a:r>
          </a:p>
          <a:p>
            <a:pPr marL="0" indent="0">
              <a:buNone/>
            </a:pPr>
            <a:r>
              <a:rPr lang="en-US" sz="1600" dirty="0" err="1"/>
              <a:t>window.open</a:t>
            </a:r>
            <a:r>
              <a:rPr lang="en-US" sz="1600" dirty="0"/>
              <a:t>("http://www.nyp.edu.sg");</a:t>
            </a:r>
          </a:p>
          <a:p>
            <a:pPr marL="0" indent="0">
              <a:buNone/>
            </a:pPr>
            <a:r>
              <a:rPr lang="en-US" sz="1600" dirty="0"/>
              <a:t>}</a:t>
            </a:r>
          </a:p>
          <a:p>
            <a:pPr marL="0" indent="0">
              <a:buNone/>
            </a:pPr>
            <a:r>
              <a:rPr lang="en-US" sz="1600" dirty="0"/>
              <a:t>&lt;/script&gt;&lt;/body&gt; &lt;/html&gt;</a:t>
            </a:r>
          </a:p>
        </p:txBody>
      </p:sp>
      <p:sp>
        <p:nvSpPr>
          <p:cNvPr id="4" name="Slide Number Placeholder 3"/>
          <p:cNvSpPr>
            <a:spLocks noGrp="1"/>
          </p:cNvSpPr>
          <p:nvPr>
            <p:ph type="sldNum" sz="quarter" idx="12"/>
          </p:nvPr>
        </p:nvSpPr>
        <p:spPr/>
        <p:txBody>
          <a:bodyPr/>
          <a:lstStyle/>
          <a:p>
            <a:fld id="{A6724466-CF14-4098-A57E-6BA1C4EB8FEB}" type="slidenum">
              <a:rPr lang="en-US" smtClean="0"/>
              <a:pPr/>
              <a:t>34</a:t>
            </a:fld>
            <a:endParaRPr lang="en-US"/>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285" y="1447800"/>
            <a:ext cx="1828800" cy="1771650"/>
          </a:xfrm>
          <a:prstGeom prst="rect">
            <a:avLst/>
          </a:prstGeom>
          <a:noFill/>
          <a:ln>
            <a:noFill/>
          </a:ln>
          <a:effectLst>
            <a:outerShdw dist="35921" dir="21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530" y="3962400"/>
            <a:ext cx="2615681" cy="1830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own Arrow 4"/>
          <p:cNvSpPr/>
          <p:nvPr/>
        </p:nvSpPr>
        <p:spPr>
          <a:xfrm>
            <a:off x="1342674" y="2743200"/>
            <a:ext cx="1706880" cy="971550"/>
          </a:xfrm>
          <a:prstGeom prst="downArrow">
            <a:avLst>
              <a:gd name="adj1" fmla="val 50000"/>
              <a:gd name="adj2" fmla="val 3593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On </a:t>
            </a:r>
            <a:r>
              <a:rPr lang="en-US" dirty="0" err="1"/>
              <a:t>mouseclick</a:t>
            </a:r>
            <a:endParaRPr lang="en-US" dirty="0"/>
          </a:p>
        </p:txBody>
      </p:sp>
      <p:sp>
        <p:nvSpPr>
          <p:cNvPr id="9" name="5-Point Star 8"/>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5"/>
          <p:cNvSpPr txBox="1"/>
          <p:nvPr/>
        </p:nvSpPr>
        <p:spPr>
          <a:xfrm>
            <a:off x="544285" y="5410200"/>
            <a:ext cx="7630984" cy="1200329"/>
          </a:xfrm>
          <a:prstGeom prst="rect">
            <a:avLst/>
          </a:prstGeom>
          <a:solidFill>
            <a:schemeClr val="tx2">
              <a:lumMod val="60000"/>
              <a:lumOff val="40000"/>
            </a:schemeClr>
          </a:solidFill>
          <a:effectLst>
            <a:outerShdw blurRad="50800" dist="38100" dir="5400000" algn="t" rotWithShape="0">
              <a:prstClr val="black">
                <a:alpha val="40000"/>
              </a:prstClr>
            </a:outerShdw>
          </a:effectLst>
        </p:spPr>
        <p:txBody>
          <a:bodyPr wrap="square" rtlCol="0">
            <a:spAutoFit/>
          </a:bodyPr>
          <a:lstStyle/>
          <a:p>
            <a:r>
              <a:rPr lang="en-US" dirty="0"/>
              <a:t>A rectangle is drawn in </a:t>
            </a:r>
            <a:r>
              <a:rPr lang="en-US" dirty="0" err="1"/>
              <a:t>svg</a:t>
            </a:r>
            <a:r>
              <a:rPr lang="en-US" dirty="0"/>
              <a:t>. Rectangle ID is = rect1</a:t>
            </a:r>
          </a:p>
          <a:p>
            <a:r>
              <a:rPr lang="en-US" dirty="0"/>
              <a:t>An event listener is added to listen to CLICK events</a:t>
            </a:r>
          </a:p>
          <a:p>
            <a:r>
              <a:rPr lang="en-US" dirty="0"/>
              <a:t>The following triggers the dosomething1 function, which causes the NYP website to open.</a:t>
            </a:r>
          </a:p>
        </p:txBody>
      </p:sp>
      <p:sp>
        <p:nvSpPr>
          <p:cNvPr id="10" name="5-Point Star 9"/>
          <p:cNvSpPr/>
          <p:nvPr/>
        </p:nvSpPr>
        <p:spPr>
          <a:xfrm rot="1367558">
            <a:off x="286856"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78456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Canvas Scenarios &amp; Demo</a:t>
            </a:r>
          </a:p>
        </p:txBody>
      </p:sp>
      <p:sp>
        <p:nvSpPr>
          <p:cNvPr id="5" name="Slide Number Placeholder 4"/>
          <p:cNvSpPr>
            <a:spLocks noGrp="1"/>
          </p:cNvSpPr>
          <p:nvPr>
            <p:ph type="sldNum" sz="quarter" idx="12"/>
          </p:nvPr>
        </p:nvSpPr>
        <p:spPr/>
        <p:txBody>
          <a:bodyPr/>
          <a:lstStyle/>
          <a:p>
            <a:fld id="{A6724466-CF14-4098-A57E-6BA1C4EB8FEB}" type="slidenum">
              <a:rPr lang="en-US" smtClean="0"/>
              <a:pPr/>
              <a:t>35</a:t>
            </a:fld>
            <a:endParaRPr lang="en-US"/>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440724"/>
            <a:ext cx="4895850"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4343400"/>
            <a:ext cx="3771900" cy="189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9042428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SVG </a:t>
            </a:r>
            <a:r>
              <a:rPr lang="en-US" dirty="0" err="1"/>
              <a:t>vs</a:t>
            </a:r>
            <a:r>
              <a:rPr lang="en-US" dirty="0"/>
              <a:t> Canvas</a:t>
            </a:r>
            <a:br>
              <a:rPr lang="fr-FR" dirty="0"/>
            </a:br>
            <a:endParaRPr lang="en-US" dirty="0"/>
          </a:p>
        </p:txBody>
      </p:sp>
      <p:sp>
        <p:nvSpPr>
          <p:cNvPr id="4" name="Slide Number Placeholder 3"/>
          <p:cNvSpPr>
            <a:spLocks noGrp="1"/>
          </p:cNvSpPr>
          <p:nvPr>
            <p:ph type="sldNum" sz="quarter" idx="12"/>
          </p:nvPr>
        </p:nvSpPr>
        <p:spPr/>
        <p:txBody>
          <a:bodyPr/>
          <a:lstStyle/>
          <a:p>
            <a:fld id="{A6724466-CF14-4098-A57E-6BA1C4EB8FEB}" type="slidenum">
              <a:rPr lang="en-US" smtClean="0"/>
              <a:pPr/>
              <a:t>36</a:t>
            </a:fld>
            <a:endParaRPr lang="en-US"/>
          </a:p>
        </p:txBody>
      </p:sp>
      <p:sp>
        <p:nvSpPr>
          <p:cNvPr id="6" name="Text Placeholder 6"/>
          <p:cNvSpPr>
            <a:spLocks noGrp="1"/>
          </p:cNvSpPr>
          <p:nvPr/>
        </p:nvSpPr>
        <p:spPr>
          <a:xfrm>
            <a:off x="1066800" y="655291"/>
            <a:ext cx="11146536" cy="498598"/>
          </a:xfrm>
          <a:prstGeom prst="rect">
            <a:avLst/>
          </a:prstGeom>
        </p:spPr>
        <p:txBody>
          <a:bodyPr vert="horz" wrap="square" lIns="0" tIns="0" rIns="0" bIns="0" rtlCol="0">
            <a:spAutoFit/>
          </a:bodyPr>
          <a:lstStyle>
            <a:lvl1pPr marL="0" indent="0" algn="l" defTabSz="914363" rtl="0" eaLnBrk="1" latinLnBrk="0" hangingPunct="1">
              <a:lnSpc>
                <a:spcPct val="90000"/>
              </a:lnSpc>
              <a:spcBef>
                <a:spcPct val="20000"/>
              </a:spcBef>
              <a:buSzPct val="90000"/>
              <a:buFont typeface="Arial" pitchFamily="34" charset="0"/>
              <a:buNone/>
              <a:defRPr sz="3600" kern="1200" spc="-100" baseline="0">
                <a:solidFill>
                  <a:schemeClr val="accent2"/>
                </a:solidFill>
                <a:latin typeface="+mj-lt"/>
                <a:ea typeface="+mn-ea"/>
                <a:cs typeface="+mn-cs"/>
              </a:defRPr>
            </a:lvl1pPr>
            <a:lvl2pPr marL="855663" indent="-395288" algn="l" defTabSz="914363" rtl="0" eaLnBrk="1" latinLnBrk="0" hangingPunct="1">
              <a:lnSpc>
                <a:spcPct val="90000"/>
              </a:lnSpc>
              <a:spcBef>
                <a:spcPct val="20000"/>
              </a:spcBef>
              <a:buSzPct val="90000"/>
              <a:buFontTx/>
              <a:buBlip>
                <a:blip r:embed="rId4"/>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Tx/>
              <a:buBlip>
                <a:blip r:embed="rId4"/>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Tx/>
              <a:buBlip>
                <a:blip r:embed="rId4"/>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Tx/>
              <a:buBlip>
                <a:blip r:embed="rId4"/>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a:t>The </a:t>
            </a:r>
            <a:r>
              <a:rPr lang="fr-FR" dirty="0" err="1"/>
              <a:t>easiest</a:t>
            </a:r>
            <a:r>
              <a:rPr lang="fr-FR" dirty="0"/>
              <a:t> </a:t>
            </a:r>
            <a:r>
              <a:rPr lang="fr-FR" dirty="0" err="1"/>
              <a:t>choices</a:t>
            </a:r>
            <a:endParaRPr lang="fr-FR" dirty="0"/>
          </a:p>
        </p:txBody>
      </p:sp>
      <p:pic>
        <p:nvPicPr>
          <p:cNvPr id="7" name="Picture 6"/>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2103" y="1676400"/>
            <a:ext cx="8754886" cy="4112978"/>
          </a:xfrm>
          <a:prstGeom prst="rect">
            <a:avLst/>
          </a:prstGeom>
          <a:noFill/>
        </p:spPr>
      </p:pic>
      <p:sp>
        <p:nvSpPr>
          <p:cNvPr id="8" name="5-Point Star 7"/>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6315705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354"/>
            <a:ext cx="7395380" cy="944562"/>
          </a:xfrm>
        </p:spPr>
        <p:txBody>
          <a:bodyPr>
            <a:normAutofit fontScale="90000"/>
          </a:bodyPr>
          <a:lstStyle/>
          <a:p>
            <a:r>
              <a:rPr lang="en-US" dirty="0"/>
              <a:t>Combination/Crossover Scenarios</a:t>
            </a:r>
          </a:p>
        </p:txBody>
      </p:sp>
      <p:sp>
        <p:nvSpPr>
          <p:cNvPr id="4" name="Slide Number Placeholder 3"/>
          <p:cNvSpPr>
            <a:spLocks noGrp="1"/>
          </p:cNvSpPr>
          <p:nvPr>
            <p:ph type="sldNum" sz="quarter" idx="12"/>
          </p:nvPr>
        </p:nvSpPr>
        <p:spPr/>
        <p:txBody>
          <a:bodyPr/>
          <a:lstStyle/>
          <a:p>
            <a:fld id="{A6724466-CF14-4098-A57E-6BA1C4EB8FEB}" type="slidenum">
              <a:rPr lang="en-US" smtClean="0"/>
              <a:pPr/>
              <a:t>37</a:t>
            </a:fld>
            <a:endParaRPr lang="en-US"/>
          </a:p>
        </p:txBody>
      </p:sp>
      <p:sp>
        <p:nvSpPr>
          <p:cNvPr id="6" name="Content Placeholder 2"/>
          <p:cNvSpPr>
            <a:spLocks noGrp="1"/>
          </p:cNvSpPr>
          <p:nvPr/>
        </p:nvSpPr>
        <p:spPr>
          <a:xfrm>
            <a:off x="381000" y="1371600"/>
            <a:ext cx="8229600" cy="5181601"/>
          </a:xfrm>
          <a:prstGeom prst="rect">
            <a:avLst/>
          </a:prstGeom>
        </p:spPr>
        <p:txBody>
          <a:bodyPr vert="horz" wrap="square" lIns="0" tIns="0" rIns="0" bIns="0" rtlCol="0">
            <a:noAutofit/>
          </a:bodyPr>
          <a:lstStyle>
            <a:lvl1pPr marL="460375" indent="-460375" algn="l" defTabSz="914363" rtl="0" eaLnBrk="1" latinLnBrk="0" hangingPunct="1">
              <a:lnSpc>
                <a:spcPct val="90000"/>
              </a:lnSpc>
              <a:spcBef>
                <a:spcPct val="20000"/>
              </a:spcBef>
              <a:buSzPct val="90000"/>
              <a:buFontTx/>
              <a:buBlip>
                <a:blip r:embed="rId4"/>
              </a:buBlip>
              <a:defRPr sz="3200" kern="1200">
                <a:gradFill>
                  <a:gsLst>
                    <a:gs pos="0">
                      <a:schemeClr val="tx1"/>
                    </a:gs>
                    <a:gs pos="86000">
                      <a:schemeClr val="tx1"/>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90000"/>
              <a:buFontTx/>
              <a:buBlip>
                <a:blip r:embed="rId5"/>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Tx/>
              <a:buBlip>
                <a:blip r:embed="rId5"/>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q"/>
            </a:pPr>
            <a:r>
              <a:rPr lang="en-US" dirty="0"/>
              <a:t>Charts and Graphs</a:t>
            </a:r>
          </a:p>
          <a:p>
            <a:pPr lvl="1">
              <a:buFont typeface="Wingdings" pitchFamily="2" charset="2"/>
              <a:buChar char="q"/>
            </a:pPr>
            <a:r>
              <a:rPr lang="en-US" dirty="0"/>
              <a:t>SVG better for interaction, XML data loading &amp; for printing</a:t>
            </a:r>
          </a:p>
          <a:p>
            <a:pPr lvl="1">
              <a:buFont typeface="Wingdings" pitchFamily="2" charset="2"/>
              <a:buChar char="q"/>
            </a:pPr>
            <a:r>
              <a:rPr lang="en-US" dirty="0"/>
              <a:t>Canvas could be a faster rendering choice for some browsers</a:t>
            </a:r>
          </a:p>
          <a:p>
            <a:pPr>
              <a:buFont typeface="Wingdings" pitchFamily="2" charset="2"/>
              <a:buChar char="q"/>
            </a:pPr>
            <a:r>
              <a:rPr lang="en-US" dirty="0"/>
              <a:t>Two-Dimensional Games</a:t>
            </a:r>
          </a:p>
          <a:p>
            <a:pPr lvl="1">
              <a:buFont typeface="Wingdings" pitchFamily="2" charset="2"/>
              <a:buChar char="q"/>
            </a:pPr>
            <a:r>
              <a:rPr lang="en-US" dirty="0"/>
              <a:t>Canvas offers a more familiar experience to game developers (low level APIs, immediate mode as XNA, etc.)</a:t>
            </a:r>
          </a:p>
          <a:p>
            <a:pPr lvl="1">
              <a:buFont typeface="Wingdings" pitchFamily="2" charset="2"/>
              <a:buChar char="q"/>
            </a:pPr>
            <a:r>
              <a:rPr lang="en-US" dirty="0"/>
              <a:t>SVG does a lot of DOM operations and cost more memory</a:t>
            </a:r>
          </a:p>
          <a:p>
            <a:pPr>
              <a:buFont typeface="Wingdings" pitchFamily="2" charset="2"/>
              <a:buChar char="q"/>
            </a:pPr>
            <a:endParaRPr lang="fr-FR" dirty="0"/>
          </a:p>
          <a:p>
            <a:pPr marL="0" indent="0">
              <a:buNone/>
            </a:pPr>
            <a:endParaRPr lang="fr-FR" dirty="0"/>
          </a:p>
        </p:txBody>
      </p:sp>
      <p:sp>
        <p:nvSpPr>
          <p:cNvPr id="7" name="Text Placeholder 3"/>
          <p:cNvSpPr>
            <a:spLocks noGrp="1"/>
          </p:cNvSpPr>
          <p:nvPr/>
        </p:nvSpPr>
        <p:spPr>
          <a:xfrm>
            <a:off x="533400" y="685800"/>
            <a:ext cx="7620000" cy="498598"/>
          </a:xfrm>
          <a:prstGeom prst="rect">
            <a:avLst/>
          </a:prstGeom>
        </p:spPr>
        <p:txBody>
          <a:bodyPr vert="horz" wrap="square" lIns="0" tIns="0" rIns="0" bIns="0" rtlCol="0">
            <a:spAutoFit/>
          </a:bodyPr>
          <a:lstStyle>
            <a:lvl1pPr marL="0" indent="0" algn="l" defTabSz="914363" rtl="0" eaLnBrk="1" latinLnBrk="0" hangingPunct="1">
              <a:lnSpc>
                <a:spcPct val="90000"/>
              </a:lnSpc>
              <a:spcBef>
                <a:spcPct val="20000"/>
              </a:spcBef>
              <a:buSzPct val="90000"/>
              <a:buFont typeface="Arial" pitchFamily="34" charset="0"/>
              <a:buNone/>
              <a:defRPr sz="3600" kern="1200" spc="-100" baseline="0">
                <a:solidFill>
                  <a:schemeClr val="accent2"/>
                </a:solidFill>
                <a:latin typeface="+mj-lt"/>
                <a:ea typeface="+mn-ea"/>
                <a:cs typeface="+mn-cs"/>
              </a:defRPr>
            </a:lvl1pPr>
            <a:lvl2pPr marL="855663" indent="-395288" algn="l" defTabSz="914363" rtl="0" eaLnBrk="1" latinLnBrk="0" hangingPunct="1">
              <a:lnSpc>
                <a:spcPct val="90000"/>
              </a:lnSpc>
              <a:spcBef>
                <a:spcPct val="20000"/>
              </a:spcBef>
              <a:buSzPct val="90000"/>
              <a:buFontTx/>
              <a:buBlip>
                <a:blip r:embed="rId5"/>
              </a:buBlip>
              <a:defRPr sz="2800" kern="1200">
                <a:gradFill>
                  <a:gsLst>
                    <a:gs pos="0">
                      <a:schemeClr val="tx1"/>
                    </a:gs>
                    <a:gs pos="86000">
                      <a:schemeClr val="tx1"/>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90000"/>
              <a:buFontTx/>
              <a:buBlip>
                <a:blip r:embed="rId5"/>
              </a:buBlip>
              <a:defRPr sz="2400" kern="1200">
                <a:gradFill>
                  <a:gsLst>
                    <a:gs pos="0">
                      <a:schemeClr val="tx1"/>
                    </a:gs>
                    <a:gs pos="86000">
                      <a:schemeClr val="tx1"/>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90000"/>
              <a:buFontTx/>
              <a:buBlip>
                <a:blip r:embed="rId5"/>
              </a:buBlip>
              <a:defRPr sz="20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fr-FR" dirty="0">
                <a:solidFill>
                  <a:schemeClr val="bg1"/>
                </a:solidFill>
              </a:rPr>
              <a:t>More </a:t>
            </a:r>
            <a:r>
              <a:rPr lang="fr-FR" dirty="0" err="1">
                <a:solidFill>
                  <a:schemeClr val="bg1"/>
                </a:solidFill>
              </a:rPr>
              <a:t>subtle</a:t>
            </a:r>
            <a:r>
              <a:rPr lang="fr-FR" dirty="0">
                <a:solidFill>
                  <a:schemeClr val="bg1"/>
                </a:solidFill>
              </a:rPr>
              <a:t> </a:t>
            </a:r>
            <a:r>
              <a:rPr lang="fr-FR" dirty="0" err="1">
                <a:solidFill>
                  <a:schemeClr val="bg1"/>
                </a:solidFill>
              </a:rPr>
              <a:t>differences</a:t>
            </a:r>
            <a:endParaRPr lang="fr-FR" dirty="0">
              <a:solidFill>
                <a:schemeClr val="bg1"/>
              </a:solidFill>
            </a:endParaRPr>
          </a:p>
        </p:txBody>
      </p:sp>
    </p:spTree>
    <p:custDataLst>
      <p:tags r:id="rId1"/>
    </p:custDataLst>
    <p:extLst>
      <p:ext uri="{BB962C8B-B14F-4D97-AF65-F5344CB8AC3E}">
        <p14:creationId xmlns:p14="http://schemas.microsoft.com/office/powerpoint/2010/main" val="947314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Comparison of Canvas and SVG</a:t>
            </a:r>
          </a:p>
        </p:txBody>
      </p:sp>
      <p:sp>
        <p:nvSpPr>
          <p:cNvPr id="3" name="Content Placeholder 2"/>
          <p:cNvSpPr>
            <a:spLocks noGrp="1"/>
          </p:cNvSpPr>
          <p:nvPr>
            <p:ph idx="1"/>
          </p:nvPr>
        </p:nvSpPr>
        <p:spPr>
          <a:xfrm>
            <a:off x="457200" y="1524000"/>
            <a:ext cx="8077200" cy="3886200"/>
          </a:xfrm>
        </p:spPr>
        <p:txBody>
          <a:bodyPr>
            <a:normAutofit/>
          </a:bodyPr>
          <a:lstStyle/>
          <a:p>
            <a:pPr marL="0" indent="0">
              <a:buNone/>
            </a:pPr>
            <a:endParaRPr lang="en-SG" sz="1800" dirty="0"/>
          </a:p>
          <a:p>
            <a:pPr>
              <a:buNone/>
            </a:pPr>
            <a:r>
              <a:rPr lang="en-SG" sz="1800" dirty="0"/>
              <a:t>The table below shows some important differences between Canvas and SVG:</a:t>
            </a:r>
          </a:p>
          <a:p>
            <a:pPr marL="0" indent="0">
              <a:buNone/>
            </a:pPr>
            <a:endParaRPr lang="en-SG" sz="18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38</a:t>
            </a:fld>
            <a:endParaRPr lang="en-US"/>
          </a:p>
        </p:txBody>
      </p:sp>
      <p:sp>
        <p:nvSpPr>
          <p:cNvPr id="8" name="Content Placeholder 2"/>
          <p:cNvSpPr txBox="1">
            <a:spLocks/>
          </p:cNvSpPr>
          <p:nvPr/>
        </p:nvSpPr>
        <p:spPr>
          <a:xfrm>
            <a:off x="685800" y="4953000"/>
            <a:ext cx="8153400" cy="14478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Pct val="70000"/>
              <a:buFont typeface="Wingdings" pitchFamily="2" charset="2"/>
              <a:buChar char=""/>
              <a:tabLst/>
              <a:defRPr/>
            </a:pPr>
            <a:br>
              <a:rPr kumimoji="0" lang="en-SG" sz="2000" b="0" i="0" u="none" strike="noStrike" kern="1200" cap="none" spc="0" normalizeH="0" baseline="0" noProof="0" dirty="0">
                <a:ln>
                  <a:noFill/>
                </a:ln>
                <a:solidFill>
                  <a:schemeClr val="tx1"/>
                </a:solidFill>
                <a:effectLst/>
                <a:uLnTx/>
                <a:uFillTx/>
                <a:latin typeface="+mn-lt"/>
                <a:ea typeface="+mn-ea"/>
                <a:cs typeface="+mn-cs"/>
              </a:rPr>
            </a:br>
            <a:endParaRPr kumimoji="0" lang="en-SG"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
                <a:schemeClr val="accent1">
                  <a:lumMod val="75000"/>
                </a:schemeClr>
              </a:buClr>
              <a:buSzPct val="70000"/>
              <a:buFont typeface="Wingdings" pitchFamily="2" charset="2"/>
              <a:buNone/>
              <a:tabLst/>
              <a:defRPr/>
            </a:pPr>
            <a:endParaRPr kumimoji="0" lang="en-SG" sz="2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
                <a:schemeClr val="accent1">
                  <a:lumMod val="75000"/>
                </a:schemeClr>
              </a:buClr>
              <a:buSzPct val="70000"/>
              <a:buFont typeface="Wingdings" pitchFamily="2" charset="2"/>
              <a:buNone/>
              <a:tabLst/>
              <a:defRPr/>
            </a:pPr>
            <a:endParaRPr kumimoji="0" lang="en-SG" sz="2800" b="0"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1161322003"/>
              </p:ext>
            </p:extLst>
          </p:nvPr>
        </p:nvGraphicFramePr>
        <p:xfrm>
          <a:off x="838200" y="2209800"/>
          <a:ext cx="7772400" cy="3657600"/>
        </p:xfrm>
        <a:graphic>
          <a:graphicData uri="http://schemas.openxmlformats.org/drawingml/2006/table">
            <a:tbl>
              <a:tblPr/>
              <a:tblGrid>
                <a:gridCol w="38862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0">
                <a:tc>
                  <a:txBody>
                    <a:bodyPr/>
                    <a:lstStyle/>
                    <a:p>
                      <a:pPr algn="l" fontAlgn="t"/>
                      <a:r>
                        <a:rPr lang="en-SG" dirty="0">
                          <a:latin typeface="verdana"/>
                        </a:rPr>
                        <a:t>Canvas</a:t>
                      </a: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40000"/>
                        <a:lumOff val="60000"/>
                      </a:schemeClr>
                    </a:solidFill>
                  </a:tcPr>
                </a:tc>
                <a:tc>
                  <a:txBody>
                    <a:bodyPr/>
                    <a:lstStyle/>
                    <a:p>
                      <a:pPr algn="l" fontAlgn="t"/>
                      <a:r>
                        <a:rPr lang="en-SG" dirty="0" err="1">
                          <a:latin typeface="verdana"/>
                        </a:rPr>
                        <a:t>SVG</a:t>
                      </a:r>
                      <a:endParaRPr lang="en-SG" dirty="0">
                        <a:latin typeface="verdana"/>
                      </a:endParaRP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3326130">
                <a:tc>
                  <a:txBody>
                    <a:bodyPr/>
                    <a:lstStyle/>
                    <a:p>
                      <a:pPr fontAlgn="t">
                        <a:buFont typeface="Arial"/>
                        <a:buChar char="•"/>
                      </a:pPr>
                      <a:r>
                        <a:rPr lang="en-SG" dirty="0">
                          <a:latin typeface="verdana"/>
                        </a:rPr>
                        <a:t>Resolution dependent</a:t>
                      </a:r>
                    </a:p>
                    <a:p>
                      <a:pPr fontAlgn="t">
                        <a:buFont typeface="Arial"/>
                        <a:buChar char="•"/>
                      </a:pPr>
                      <a:r>
                        <a:rPr lang="en-SG" dirty="0">
                          <a:latin typeface="verdana"/>
                        </a:rPr>
                        <a:t>No support for event handlers</a:t>
                      </a:r>
                    </a:p>
                    <a:p>
                      <a:pPr fontAlgn="t">
                        <a:buFont typeface="Arial"/>
                        <a:buChar char="•"/>
                      </a:pPr>
                      <a:r>
                        <a:rPr lang="en-SG" dirty="0">
                          <a:latin typeface="verdana"/>
                        </a:rPr>
                        <a:t>Poor text rendering capabilities</a:t>
                      </a:r>
                    </a:p>
                    <a:p>
                      <a:pPr fontAlgn="t">
                        <a:buFont typeface="Arial"/>
                        <a:buChar char="•"/>
                      </a:pPr>
                      <a:r>
                        <a:rPr lang="en-SG" dirty="0">
                          <a:latin typeface="verdana"/>
                        </a:rPr>
                        <a:t>You can save the resulting image as .</a:t>
                      </a:r>
                      <a:r>
                        <a:rPr lang="en-SG" dirty="0" err="1">
                          <a:latin typeface="verdana"/>
                        </a:rPr>
                        <a:t>png</a:t>
                      </a:r>
                      <a:r>
                        <a:rPr lang="en-SG" dirty="0">
                          <a:latin typeface="verdana"/>
                        </a:rPr>
                        <a:t> or .jpg</a:t>
                      </a:r>
                    </a:p>
                    <a:p>
                      <a:pPr fontAlgn="t">
                        <a:buFont typeface="Arial"/>
                        <a:buChar char="•"/>
                      </a:pPr>
                      <a:r>
                        <a:rPr lang="en-SG" b="1" dirty="0">
                          <a:latin typeface="verdana"/>
                        </a:rPr>
                        <a:t>Well suited for graphic-intensive games</a:t>
                      </a: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buFont typeface="Arial"/>
                        <a:buChar char="•"/>
                      </a:pPr>
                      <a:r>
                        <a:rPr lang="en-SG" dirty="0">
                          <a:latin typeface="verdana"/>
                        </a:rPr>
                        <a:t>Resolution independent</a:t>
                      </a:r>
                    </a:p>
                    <a:p>
                      <a:pPr fontAlgn="t">
                        <a:buFont typeface="Arial"/>
                        <a:buChar char="•"/>
                      </a:pPr>
                      <a:r>
                        <a:rPr lang="en-SG" b="1" dirty="0">
                          <a:latin typeface="verdana"/>
                        </a:rPr>
                        <a:t>Support for event handlers</a:t>
                      </a:r>
                    </a:p>
                    <a:p>
                      <a:pPr fontAlgn="t">
                        <a:buFont typeface="Arial"/>
                        <a:buChar char="•"/>
                      </a:pPr>
                      <a:r>
                        <a:rPr lang="en-SG" b="1" dirty="0">
                          <a:latin typeface="verdana"/>
                        </a:rPr>
                        <a:t>Best suited for applications with large rendering areas (Google Maps)</a:t>
                      </a:r>
                    </a:p>
                    <a:p>
                      <a:pPr fontAlgn="t">
                        <a:buFont typeface="Arial"/>
                        <a:buChar char="•"/>
                      </a:pPr>
                      <a:r>
                        <a:rPr lang="en-SG" dirty="0">
                          <a:latin typeface="verdana"/>
                        </a:rPr>
                        <a:t>Slow rendering if complex (anything that uses the DOM a lot will be slow)</a:t>
                      </a:r>
                    </a:p>
                    <a:p>
                      <a:pPr fontAlgn="t">
                        <a:buFont typeface="Arial"/>
                        <a:buChar char="•"/>
                      </a:pPr>
                      <a:r>
                        <a:rPr lang="en-SG" dirty="0">
                          <a:latin typeface="verdana"/>
                        </a:rPr>
                        <a:t>Not suited for game applications</a:t>
                      </a:r>
                    </a:p>
                    <a:p>
                      <a:pPr fontAlgn="t">
                        <a:buFont typeface="Arial"/>
                        <a:buChar char="•"/>
                      </a:pPr>
                      <a:r>
                        <a:rPr lang="en-SG" dirty="0">
                          <a:solidFill>
                            <a:srgbClr val="FF0000"/>
                          </a:solidFill>
                          <a:latin typeface="verdana"/>
                        </a:rPr>
                        <a:t>Good for assistive technology (</a:t>
                      </a:r>
                      <a:r>
                        <a:rPr lang="en-SG" dirty="0" err="1">
                          <a:solidFill>
                            <a:srgbClr val="FF0000"/>
                          </a:solidFill>
                          <a:latin typeface="verdana"/>
                        </a:rPr>
                        <a:t>Eg</a:t>
                      </a:r>
                      <a:r>
                        <a:rPr lang="en-SG" dirty="0">
                          <a:solidFill>
                            <a:srgbClr val="FF0000"/>
                          </a:solidFill>
                          <a:latin typeface="verdana"/>
                        </a:rPr>
                        <a:t> for blind, deaf) </a:t>
                      </a:r>
                    </a:p>
                  </a:txBody>
                  <a:tcPr marL="28575" marR="28575" marT="28575" marB="28575">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5121"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9" name="5-Point Star 8"/>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2025825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Charts with SVG</a:t>
            </a:r>
          </a:p>
        </p:txBody>
      </p:sp>
      <p:sp>
        <p:nvSpPr>
          <p:cNvPr id="3" name="Content Placeholder 2"/>
          <p:cNvSpPr>
            <a:spLocks noGrp="1"/>
          </p:cNvSpPr>
          <p:nvPr>
            <p:ph idx="1"/>
          </p:nvPr>
        </p:nvSpPr>
        <p:spPr>
          <a:xfrm>
            <a:off x="572589" y="3733800"/>
            <a:ext cx="8191500" cy="2819400"/>
          </a:xfrm>
        </p:spPr>
        <p:txBody>
          <a:bodyPr>
            <a:normAutofit/>
          </a:bodyPr>
          <a:lstStyle/>
          <a:p>
            <a:endParaRPr lang="en-US" sz="2400" dirty="0"/>
          </a:p>
          <a:p>
            <a:r>
              <a:rPr lang="en-US" sz="2400" dirty="0" err="1"/>
              <a:t>Highcharts</a:t>
            </a:r>
            <a:r>
              <a:rPr lang="en-US" sz="2400" dirty="0"/>
              <a:t> is a charting library written in pure HTML5/JavaScript, offering intuitive, interactive charts to your web site or web application. </a:t>
            </a:r>
            <a:r>
              <a:rPr lang="en-US" sz="2400" dirty="0" err="1"/>
              <a:t>Highcharts</a:t>
            </a:r>
            <a:r>
              <a:rPr lang="en-US" sz="2400" dirty="0"/>
              <a:t> currently supports line, spline, area, </a:t>
            </a:r>
            <a:r>
              <a:rPr lang="en-US" sz="2400" dirty="0" err="1"/>
              <a:t>areaspline</a:t>
            </a:r>
            <a:r>
              <a:rPr lang="en-US" sz="2400" dirty="0"/>
              <a:t>, column, bar, pie, scatter, angular gauges, </a:t>
            </a:r>
            <a:r>
              <a:rPr lang="en-US" sz="2400" dirty="0" err="1"/>
              <a:t>arearange</a:t>
            </a:r>
            <a:r>
              <a:rPr lang="en-US" sz="2400" dirty="0"/>
              <a:t>, </a:t>
            </a:r>
            <a:r>
              <a:rPr lang="en-US" sz="2400" dirty="0" err="1"/>
              <a:t>areasplinerange</a:t>
            </a:r>
            <a:r>
              <a:rPr lang="en-US" sz="2400" dirty="0"/>
              <a:t>, </a:t>
            </a:r>
            <a:r>
              <a:rPr lang="en-US" sz="2400" dirty="0" err="1"/>
              <a:t>columnrange</a:t>
            </a:r>
            <a:r>
              <a:rPr lang="en-US" sz="2400" dirty="0"/>
              <a:t>, bubble, box plot, error bars, funnel, waterfall and polar chart types.</a:t>
            </a:r>
          </a:p>
        </p:txBody>
      </p:sp>
      <p:sp>
        <p:nvSpPr>
          <p:cNvPr id="4" name="Slide Number Placeholder 3"/>
          <p:cNvSpPr>
            <a:spLocks noGrp="1"/>
          </p:cNvSpPr>
          <p:nvPr>
            <p:ph type="sldNum" sz="quarter" idx="12"/>
          </p:nvPr>
        </p:nvSpPr>
        <p:spPr/>
        <p:txBody>
          <a:bodyPr/>
          <a:lstStyle/>
          <a:p>
            <a:fld id="{A6724466-CF14-4098-A57E-6BA1C4EB8FEB}" type="slidenum">
              <a:rPr lang="en-US" smtClean="0"/>
              <a:pPr/>
              <a:t>39</a:t>
            </a:fld>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 y="1676400"/>
            <a:ext cx="819150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Point Star 5"/>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22422783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Chart Types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362441053"/>
              </p:ext>
            </p:extLst>
          </p:nvPr>
        </p:nvGraphicFramePr>
        <p:xfrm>
          <a:off x="304800" y="1295400"/>
          <a:ext cx="8458200" cy="4518660"/>
        </p:xfrm>
        <a:graphic>
          <a:graphicData uri="http://schemas.openxmlformats.org/drawingml/2006/table">
            <a:tbl>
              <a:tblPr firstRow="1" bandRow="1">
                <a:tableStyleId>{5C22544A-7EE6-4342-B048-85BDC9FD1C3A}</a:tableStyleId>
              </a:tblPr>
              <a:tblGrid>
                <a:gridCol w="1661140">
                  <a:extLst>
                    <a:ext uri="{9D8B030D-6E8A-4147-A177-3AD203B41FA5}">
                      <a16:colId xmlns:a16="http://schemas.microsoft.com/office/drawing/2014/main" val="20000"/>
                    </a:ext>
                  </a:extLst>
                </a:gridCol>
                <a:gridCol w="6797060">
                  <a:extLst>
                    <a:ext uri="{9D8B030D-6E8A-4147-A177-3AD203B41FA5}">
                      <a16:colId xmlns:a16="http://schemas.microsoft.com/office/drawing/2014/main" val="20001"/>
                    </a:ext>
                  </a:extLst>
                </a:gridCol>
              </a:tblGrid>
              <a:tr h="495300">
                <a:tc>
                  <a:txBody>
                    <a:bodyPr/>
                    <a:lstStyle/>
                    <a:p>
                      <a:r>
                        <a:rPr lang="en-US" dirty="0"/>
                        <a:t>Chart Type</a:t>
                      </a:r>
                    </a:p>
                  </a:txBody>
                  <a:tcPr/>
                </a:tc>
                <a:tc>
                  <a:txBody>
                    <a:bodyPr/>
                    <a:lstStyle/>
                    <a:p>
                      <a:r>
                        <a:rPr lang="en-US" dirty="0"/>
                        <a:t>Example</a:t>
                      </a:r>
                    </a:p>
                  </a:txBody>
                  <a:tcPr/>
                </a:tc>
                <a:extLst>
                  <a:ext uri="{0D108BD9-81ED-4DB2-BD59-A6C34878D82A}">
                    <a16:rowId xmlns:a16="http://schemas.microsoft.com/office/drawing/2014/main" val="10000"/>
                  </a:ext>
                </a:extLst>
              </a:tr>
              <a:tr h="495300">
                <a:tc>
                  <a:txBody>
                    <a:bodyPr/>
                    <a:lstStyle/>
                    <a:p>
                      <a:r>
                        <a:rPr lang="en-US" dirty="0"/>
                        <a:t>Line</a:t>
                      </a:r>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r h="495300">
                <a:tc>
                  <a:txBody>
                    <a:bodyPr/>
                    <a:lstStyle/>
                    <a:p>
                      <a:r>
                        <a:rPr lang="en-US" dirty="0"/>
                        <a:t>Area</a:t>
                      </a:r>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fld id="{A6724466-CF14-4098-A57E-6BA1C4EB8FEB}" type="slidenum">
              <a:rPr lang="en-US" smtClean="0"/>
              <a:pPr/>
              <a:t>40</a:t>
            </a:fld>
            <a:endParaRPr lang="en-US"/>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9837" y="1909354"/>
            <a:ext cx="5638800" cy="1595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9837" y="4038600"/>
            <a:ext cx="6077462"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Content Placeholder 2"/>
          <p:cNvSpPr txBox="1">
            <a:spLocks/>
          </p:cNvSpPr>
          <p:nvPr/>
        </p:nvSpPr>
        <p:spPr>
          <a:xfrm>
            <a:off x="572589" y="5410200"/>
            <a:ext cx="8191500" cy="1104900"/>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400" dirty="0"/>
          </a:p>
          <a:p>
            <a:r>
              <a:rPr lang="en-US" sz="2400" dirty="0" err="1"/>
              <a:t>Highcharts</a:t>
            </a:r>
            <a:r>
              <a:rPr lang="en-US" sz="2400" dirty="0"/>
              <a:t> supports many chart types. Here are some examples.</a:t>
            </a:r>
          </a:p>
        </p:txBody>
      </p:sp>
      <p:sp>
        <p:nvSpPr>
          <p:cNvPr id="8" name="5-Point Star 7"/>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3423592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Chart Types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288073488"/>
              </p:ext>
            </p:extLst>
          </p:nvPr>
        </p:nvGraphicFramePr>
        <p:xfrm>
          <a:off x="304800" y="1295400"/>
          <a:ext cx="8458200" cy="5067300"/>
        </p:xfrm>
        <a:graphic>
          <a:graphicData uri="http://schemas.openxmlformats.org/drawingml/2006/table">
            <a:tbl>
              <a:tblPr firstRow="1" bandRow="1">
                <a:tableStyleId>{5C22544A-7EE6-4342-B048-85BDC9FD1C3A}</a:tableStyleId>
              </a:tblPr>
              <a:tblGrid>
                <a:gridCol w="1661140">
                  <a:extLst>
                    <a:ext uri="{9D8B030D-6E8A-4147-A177-3AD203B41FA5}">
                      <a16:colId xmlns:a16="http://schemas.microsoft.com/office/drawing/2014/main" val="20000"/>
                    </a:ext>
                  </a:extLst>
                </a:gridCol>
                <a:gridCol w="6797060">
                  <a:extLst>
                    <a:ext uri="{9D8B030D-6E8A-4147-A177-3AD203B41FA5}">
                      <a16:colId xmlns:a16="http://schemas.microsoft.com/office/drawing/2014/main" val="20001"/>
                    </a:ext>
                  </a:extLst>
                </a:gridCol>
              </a:tblGrid>
              <a:tr h="495300">
                <a:tc>
                  <a:txBody>
                    <a:bodyPr/>
                    <a:lstStyle/>
                    <a:p>
                      <a:r>
                        <a:rPr lang="en-US" dirty="0"/>
                        <a:t>Chart Type</a:t>
                      </a:r>
                    </a:p>
                  </a:txBody>
                  <a:tcPr/>
                </a:tc>
                <a:tc>
                  <a:txBody>
                    <a:bodyPr/>
                    <a:lstStyle/>
                    <a:p>
                      <a:r>
                        <a:rPr lang="en-US" dirty="0"/>
                        <a:t>Example</a:t>
                      </a:r>
                    </a:p>
                  </a:txBody>
                  <a:tcPr/>
                </a:tc>
                <a:extLst>
                  <a:ext uri="{0D108BD9-81ED-4DB2-BD59-A6C34878D82A}">
                    <a16:rowId xmlns:a16="http://schemas.microsoft.com/office/drawing/2014/main" val="10000"/>
                  </a:ext>
                </a:extLst>
              </a:tr>
              <a:tr h="495300">
                <a:tc>
                  <a:txBody>
                    <a:bodyPr/>
                    <a:lstStyle/>
                    <a:p>
                      <a:r>
                        <a:rPr lang="en-US" dirty="0"/>
                        <a:t>Column</a:t>
                      </a:r>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r h="495300">
                <a:tc>
                  <a:txBody>
                    <a:bodyPr/>
                    <a:lstStyle/>
                    <a:p>
                      <a:r>
                        <a:rPr lang="en-US" dirty="0"/>
                        <a:t>Pie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fld id="{A6724466-CF14-4098-A57E-6BA1C4EB8FEB}" type="slidenum">
              <a:rPr lang="en-US" smtClean="0"/>
              <a:pPr/>
              <a:t>41</a:t>
            </a:fld>
            <a:endParaRPr lang="en-US"/>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0" y="1981200"/>
            <a:ext cx="4689055" cy="1651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886200"/>
            <a:ext cx="2857500"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5-Point Star 6"/>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331373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Chart Types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688607028"/>
              </p:ext>
            </p:extLst>
          </p:nvPr>
        </p:nvGraphicFramePr>
        <p:xfrm>
          <a:off x="304800" y="1295400"/>
          <a:ext cx="8458200" cy="5067300"/>
        </p:xfrm>
        <a:graphic>
          <a:graphicData uri="http://schemas.openxmlformats.org/drawingml/2006/table">
            <a:tbl>
              <a:tblPr firstRow="1" bandRow="1">
                <a:tableStyleId>{5C22544A-7EE6-4342-B048-85BDC9FD1C3A}</a:tableStyleId>
              </a:tblPr>
              <a:tblGrid>
                <a:gridCol w="1661140">
                  <a:extLst>
                    <a:ext uri="{9D8B030D-6E8A-4147-A177-3AD203B41FA5}">
                      <a16:colId xmlns:a16="http://schemas.microsoft.com/office/drawing/2014/main" val="20000"/>
                    </a:ext>
                  </a:extLst>
                </a:gridCol>
                <a:gridCol w="6797060">
                  <a:extLst>
                    <a:ext uri="{9D8B030D-6E8A-4147-A177-3AD203B41FA5}">
                      <a16:colId xmlns:a16="http://schemas.microsoft.com/office/drawing/2014/main" val="20001"/>
                    </a:ext>
                  </a:extLst>
                </a:gridCol>
              </a:tblGrid>
              <a:tr h="495300">
                <a:tc>
                  <a:txBody>
                    <a:bodyPr/>
                    <a:lstStyle/>
                    <a:p>
                      <a:r>
                        <a:rPr lang="en-US" dirty="0"/>
                        <a:t>Chart Type</a:t>
                      </a:r>
                    </a:p>
                  </a:txBody>
                  <a:tcPr/>
                </a:tc>
                <a:tc>
                  <a:txBody>
                    <a:bodyPr/>
                    <a:lstStyle/>
                    <a:p>
                      <a:r>
                        <a:rPr lang="en-US" dirty="0"/>
                        <a:t>Example</a:t>
                      </a:r>
                    </a:p>
                  </a:txBody>
                  <a:tcPr/>
                </a:tc>
                <a:extLst>
                  <a:ext uri="{0D108BD9-81ED-4DB2-BD59-A6C34878D82A}">
                    <a16:rowId xmlns:a16="http://schemas.microsoft.com/office/drawing/2014/main" val="10000"/>
                  </a:ext>
                </a:extLst>
              </a:tr>
              <a:tr h="495300">
                <a:tc>
                  <a:txBody>
                    <a:bodyPr/>
                    <a:lstStyle/>
                    <a:p>
                      <a:r>
                        <a:rPr lang="en-US" dirty="0"/>
                        <a:t>Column with negative values</a:t>
                      </a:r>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r h="495300">
                <a:tc>
                  <a:txBody>
                    <a:bodyPr/>
                    <a:lstStyle/>
                    <a:p>
                      <a:r>
                        <a:rPr lang="en-US" dirty="0"/>
                        <a:t>Scatter Plot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fld id="{A6724466-CF14-4098-A57E-6BA1C4EB8FEB}" type="slidenum">
              <a:rPr lang="en-US" smtClean="0"/>
              <a:pPr/>
              <a:t>42</a:t>
            </a:fld>
            <a:endParaRPr lang="en-US"/>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0" y="1905000"/>
            <a:ext cx="3457575" cy="1642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9800" y="3962400"/>
            <a:ext cx="5824538" cy="1587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5-Point Star 6"/>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38270753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Chart Style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076763383"/>
              </p:ext>
            </p:extLst>
          </p:nvPr>
        </p:nvGraphicFramePr>
        <p:xfrm>
          <a:off x="533400" y="1447800"/>
          <a:ext cx="7963472" cy="5212080"/>
        </p:xfrm>
        <a:graphic>
          <a:graphicData uri="http://schemas.openxmlformats.org/drawingml/2006/table">
            <a:tbl>
              <a:tblPr firstRow="1" bandRow="1">
                <a:tableStyleId>{5C22544A-7EE6-4342-B048-85BDC9FD1C3A}</a:tableStyleId>
              </a:tblPr>
              <a:tblGrid>
                <a:gridCol w="1563978">
                  <a:extLst>
                    <a:ext uri="{9D8B030D-6E8A-4147-A177-3AD203B41FA5}">
                      <a16:colId xmlns:a16="http://schemas.microsoft.com/office/drawing/2014/main" val="20000"/>
                    </a:ext>
                  </a:extLst>
                </a:gridCol>
                <a:gridCol w="6399494">
                  <a:extLst>
                    <a:ext uri="{9D8B030D-6E8A-4147-A177-3AD203B41FA5}">
                      <a16:colId xmlns:a16="http://schemas.microsoft.com/office/drawing/2014/main" val="20001"/>
                    </a:ext>
                  </a:extLst>
                </a:gridCol>
              </a:tblGrid>
              <a:tr h="337639">
                <a:tc>
                  <a:txBody>
                    <a:bodyPr/>
                    <a:lstStyle/>
                    <a:p>
                      <a:r>
                        <a:rPr lang="en-US" dirty="0"/>
                        <a:t>Chart Style</a:t>
                      </a:r>
                    </a:p>
                  </a:txBody>
                  <a:tcPr/>
                </a:tc>
                <a:tc>
                  <a:txBody>
                    <a:bodyPr/>
                    <a:lstStyle/>
                    <a:p>
                      <a:r>
                        <a:rPr lang="en-US" dirty="0"/>
                        <a:t>Example</a:t>
                      </a:r>
                    </a:p>
                  </a:txBody>
                  <a:tcPr/>
                </a:tc>
                <a:extLst>
                  <a:ext uri="{0D108BD9-81ED-4DB2-BD59-A6C34878D82A}">
                    <a16:rowId xmlns:a16="http://schemas.microsoft.com/office/drawing/2014/main" val="10000"/>
                  </a:ext>
                </a:extLst>
              </a:tr>
              <a:tr h="1599509">
                <a:tc>
                  <a:txBody>
                    <a:bodyPr/>
                    <a:lstStyle/>
                    <a:p>
                      <a:r>
                        <a:rPr lang="en-US" dirty="0"/>
                        <a:t>Default</a:t>
                      </a:r>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r h="2253852">
                <a:tc>
                  <a:txBody>
                    <a:bodyPr/>
                    <a:lstStyle/>
                    <a:p>
                      <a:r>
                        <a:rPr lang="en-US" dirty="0"/>
                        <a:t>Grid</a:t>
                      </a:r>
                    </a:p>
                    <a:p>
                      <a:r>
                        <a:rPr lang="en-US" dirty="0"/>
                        <a:t>Grid.js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2"/>
                  </a:ext>
                </a:extLst>
              </a:tr>
            </a:tbl>
          </a:graphicData>
        </a:graphic>
      </p:graphicFrame>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10384" y="1828800"/>
            <a:ext cx="6019800" cy="173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10384" y="4343400"/>
            <a:ext cx="5957888" cy="1543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Content Placeholder 2"/>
          <p:cNvSpPr txBox="1">
            <a:spLocks/>
          </p:cNvSpPr>
          <p:nvPr/>
        </p:nvSpPr>
        <p:spPr>
          <a:xfrm>
            <a:off x="572589" y="5410200"/>
            <a:ext cx="8191500" cy="11049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400" dirty="0"/>
          </a:p>
          <a:p>
            <a:r>
              <a:rPr lang="en-US" sz="2400" dirty="0" err="1"/>
              <a:t>Highcharts</a:t>
            </a:r>
            <a:r>
              <a:rPr lang="en-US" sz="2400" dirty="0"/>
              <a:t> supports several predefined styles</a:t>
            </a:r>
          </a:p>
        </p:txBody>
      </p:sp>
      <p:sp>
        <p:nvSpPr>
          <p:cNvPr id="7" name="5-Point Star 6"/>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4558008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Chart Style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998651063"/>
              </p:ext>
            </p:extLst>
          </p:nvPr>
        </p:nvGraphicFramePr>
        <p:xfrm>
          <a:off x="304800" y="1295400"/>
          <a:ext cx="8458200" cy="4792980"/>
        </p:xfrm>
        <a:graphic>
          <a:graphicData uri="http://schemas.openxmlformats.org/drawingml/2006/table">
            <a:tbl>
              <a:tblPr firstRow="1" bandRow="1">
                <a:tableStyleId>{5C22544A-7EE6-4342-B048-85BDC9FD1C3A}</a:tableStyleId>
              </a:tblPr>
              <a:tblGrid>
                <a:gridCol w="1661140">
                  <a:extLst>
                    <a:ext uri="{9D8B030D-6E8A-4147-A177-3AD203B41FA5}">
                      <a16:colId xmlns:a16="http://schemas.microsoft.com/office/drawing/2014/main" val="20000"/>
                    </a:ext>
                  </a:extLst>
                </a:gridCol>
                <a:gridCol w="6797060">
                  <a:extLst>
                    <a:ext uri="{9D8B030D-6E8A-4147-A177-3AD203B41FA5}">
                      <a16:colId xmlns:a16="http://schemas.microsoft.com/office/drawing/2014/main" val="20001"/>
                    </a:ext>
                  </a:extLst>
                </a:gridCol>
              </a:tblGrid>
              <a:tr h="495300">
                <a:tc>
                  <a:txBody>
                    <a:bodyPr/>
                    <a:lstStyle/>
                    <a:p>
                      <a:r>
                        <a:rPr lang="en-US" dirty="0"/>
                        <a:t>Chart Style</a:t>
                      </a:r>
                    </a:p>
                  </a:txBody>
                  <a:tcPr/>
                </a:tc>
                <a:tc>
                  <a:txBody>
                    <a:bodyPr/>
                    <a:lstStyle/>
                    <a:p>
                      <a:r>
                        <a:rPr lang="en-US" dirty="0"/>
                        <a:t>Example</a:t>
                      </a:r>
                    </a:p>
                  </a:txBody>
                  <a:tcPr/>
                </a:tc>
                <a:extLst>
                  <a:ext uri="{0D108BD9-81ED-4DB2-BD59-A6C34878D82A}">
                    <a16:rowId xmlns:a16="http://schemas.microsoft.com/office/drawing/2014/main" val="10000"/>
                  </a:ext>
                </a:extLst>
              </a:tr>
              <a:tr h="495300">
                <a:tc>
                  <a:txBody>
                    <a:bodyPr/>
                    <a:lstStyle/>
                    <a:p>
                      <a:r>
                        <a:rPr lang="en-US" dirty="0"/>
                        <a:t>Skies</a:t>
                      </a:r>
                    </a:p>
                    <a:p>
                      <a:r>
                        <a:rPr lang="en-US" dirty="0"/>
                        <a:t>skies.js</a:t>
                      </a:r>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1"/>
                  </a:ext>
                </a:extLst>
              </a:tr>
              <a:tr h="495300">
                <a:tc>
                  <a:txBody>
                    <a:bodyPr/>
                    <a:lstStyle/>
                    <a:p>
                      <a:r>
                        <a:rPr lang="en-US" dirty="0"/>
                        <a:t>Gray</a:t>
                      </a:r>
                    </a:p>
                    <a:p>
                      <a:endParaRPr lang="en-US" dirty="0"/>
                    </a:p>
                    <a:p>
                      <a:r>
                        <a:rPr lang="en-US" dirty="0"/>
                        <a:t>Gray.js</a:t>
                      </a:r>
                    </a:p>
                    <a:p>
                      <a:endParaRPr lang="en-US" dirty="0"/>
                    </a:p>
                    <a:p>
                      <a:endParaRPr lang="en-US" dirty="0"/>
                    </a:p>
                    <a:p>
                      <a:endParaRPr lang="en-US" dirty="0"/>
                    </a:p>
                    <a:p>
                      <a:endParaRPr lang="en-US" dirty="0"/>
                    </a:p>
                    <a:p>
                      <a:endParaRPr lang="en-US" dirty="0"/>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txBody>
                  <a:tcPr/>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fld id="{A6724466-CF14-4098-A57E-6BA1C4EB8FEB}" type="slidenum">
              <a:rPr lang="en-US" smtClean="0"/>
              <a:pPr/>
              <a:t>44</a:t>
            </a:fld>
            <a:endParaRPr lang="en-US"/>
          </a:p>
        </p:txBody>
      </p:sp>
      <p:pic>
        <p:nvPicPr>
          <p:cNvPr id="61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52700" y="1981200"/>
            <a:ext cx="5772150" cy="1572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42525" y="4041648"/>
            <a:ext cx="5882325" cy="1520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5-Point Star 6"/>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40652944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Chart Installation</a:t>
            </a:r>
          </a:p>
        </p:txBody>
      </p:sp>
      <p:sp>
        <p:nvSpPr>
          <p:cNvPr id="3" name="Content Placeholder 2"/>
          <p:cNvSpPr>
            <a:spLocks noGrp="1"/>
          </p:cNvSpPr>
          <p:nvPr>
            <p:ph idx="1"/>
          </p:nvPr>
        </p:nvSpPr>
        <p:spPr>
          <a:xfrm>
            <a:off x="990600" y="1447800"/>
            <a:ext cx="7395380" cy="4876800"/>
          </a:xfrm>
        </p:spPr>
        <p:txBody>
          <a:bodyPr>
            <a:normAutofit/>
          </a:bodyPr>
          <a:lstStyle/>
          <a:p>
            <a:r>
              <a:rPr lang="en-US" dirty="0" err="1"/>
              <a:t>Highcharts</a:t>
            </a:r>
            <a:r>
              <a:rPr lang="en-US" dirty="0"/>
              <a:t> requires the following script in the head of the html document:  </a:t>
            </a:r>
          </a:p>
          <a:p>
            <a:pPr lvl="1"/>
            <a:r>
              <a:rPr lang="en-SG" dirty="0"/>
              <a:t>&lt;script </a:t>
            </a:r>
            <a:r>
              <a:rPr lang="en-SG" dirty="0" err="1"/>
              <a:t>src</a:t>
            </a:r>
            <a:r>
              <a:rPr lang="en-SG" dirty="0"/>
              <a:t>="https://code.highcharts.com/highcharts.js"&gt;</a:t>
            </a:r>
          </a:p>
          <a:p>
            <a:pPr lvl="1"/>
            <a:r>
              <a:rPr lang="en-SG" dirty="0"/>
              <a:t>&lt;/script&gt;</a:t>
            </a:r>
            <a:endParaRPr lang="en-US" dirty="0"/>
          </a:p>
          <a:p>
            <a:endParaRPr lang="en-US" dirty="0"/>
          </a:p>
          <a:p>
            <a:endParaRPr lang="en-US" dirty="0"/>
          </a:p>
          <a:p>
            <a:r>
              <a:rPr lang="en-US" dirty="0"/>
              <a:t>For more info:</a:t>
            </a:r>
          </a:p>
          <a:p>
            <a:pPr marL="400050" lvl="1" indent="0">
              <a:buNone/>
            </a:pPr>
            <a:r>
              <a:rPr lang="en-US" dirty="0">
                <a:hlinkClick r:id="rId4"/>
              </a:rPr>
              <a:t>http://www.highcharts.com/docs/getting-started/installation</a:t>
            </a:r>
            <a:r>
              <a:rPr lang="en-US" dirty="0"/>
              <a:t> </a:t>
            </a:r>
          </a:p>
          <a:p>
            <a:endParaRPr lang="en-US" dirty="0"/>
          </a:p>
        </p:txBody>
      </p:sp>
      <p:sp>
        <p:nvSpPr>
          <p:cNvPr id="4" name="Slide Number Placeholder 3"/>
          <p:cNvSpPr>
            <a:spLocks noGrp="1"/>
          </p:cNvSpPr>
          <p:nvPr>
            <p:ph type="sldNum" sz="quarter" idx="12"/>
          </p:nvPr>
        </p:nvSpPr>
        <p:spPr/>
        <p:txBody>
          <a:bodyPr/>
          <a:lstStyle/>
          <a:p>
            <a:fld id="{A6724466-CF14-4098-A57E-6BA1C4EB8FEB}" type="slidenum">
              <a:rPr lang="en-US" smtClean="0"/>
              <a:pPr/>
              <a:t>45</a:t>
            </a:fld>
            <a:endParaRPr lang="en-US"/>
          </a:p>
        </p:txBody>
      </p:sp>
      <p:sp>
        <p:nvSpPr>
          <p:cNvPr id="6" name="5-Point Star 5"/>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13619479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Charts with SVG</a:t>
            </a:r>
          </a:p>
        </p:txBody>
      </p:sp>
      <p:sp>
        <p:nvSpPr>
          <p:cNvPr id="3" name="Content Placeholder 2"/>
          <p:cNvSpPr>
            <a:spLocks noGrp="1"/>
          </p:cNvSpPr>
          <p:nvPr>
            <p:ph idx="1"/>
          </p:nvPr>
        </p:nvSpPr>
        <p:spPr/>
        <p:txBody>
          <a:bodyPr/>
          <a:lstStyle/>
          <a:p>
            <a:r>
              <a:rPr lang="en-US" dirty="0"/>
              <a:t>High Chart demo</a:t>
            </a:r>
          </a:p>
          <a:p>
            <a:r>
              <a:rPr lang="en-US" dirty="0">
                <a:hlinkClick r:id="rId4"/>
              </a:rPr>
              <a:t>http://www.highcharts.com/demo/</a:t>
            </a:r>
            <a:endParaRPr lang="en-US" dirty="0"/>
          </a:p>
          <a:p>
            <a:r>
              <a:rPr lang="en-US" dirty="0" err="1"/>
              <a:t>JSFiddle</a:t>
            </a:r>
            <a:r>
              <a:rPr lang="en-US" dirty="0"/>
              <a:t> </a:t>
            </a:r>
          </a:p>
          <a:p>
            <a:r>
              <a:rPr lang="en-US" sz="1800" dirty="0">
                <a:hlinkClick r:id="rId5"/>
              </a:rPr>
              <a:t>http://jsfiddle.net/gh/get/jquery/1.9.1/highslide-software/highcharts.com/tree/master/samples/highcharts/demo/line-basic/</a:t>
            </a:r>
            <a:endParaRPr lang="en-US" sz="1800" dirty="0"/>
          </a:p>
          <a:p>
            <a:r>
              <a:rPr lang="en-US" dirty="0"/>
              <a:t>High charts API reference</a:t>
            </a:r>
          </a:p>
          <a:p>
            <a:r>
              <a:rPr lang="en-US" dirty="0">
                <a:hlinkClick r:id="rId6"/>
              </a:rPr>
              <a:t>http://api.highcharts.com/highcharts</a:t>
            </a:r>
            <a:endParaRPr lang="en-US" dirty="0"/>
          </a:p>
          <a:p>
            <a:pPr marL="400050" lvl="1" indent="0">
              <a:buNone/>
            </a:pPr>
            <a:r>
              <a:rPr lang="en-US" sz="2000" dirty="0"/>
              <a:t>We will learn how to use this API in the practical lesson that follows.</a:t>
            </a:r>
          </a:p>
          <a:p>
            <a:endParaRPr lang="en-US" dirty="0"/>
          </a:p>
        </p:txBody>
      </p:sp>
      <p:sp>
        <p:nvSpPr>
          <p:cNvPr id="4" name="Slide Number Placeholder 3"/>
          <p:cNvSpPr>
            <a:spLocks noGrp="1"/>
          </p:cNvSpPr>
          <p:nvPr>
            <p:ph type="sldNum" sz="quarter" idx="12"/>
          </p:nvPr>
        </p:nvSpPr>
        <p:spPr/>
        <p:txBody>
          <a:bodyPr/>
          <a:lstStyle/>
          <a:p>
            <a:fld id="{A6724466-CF14-4098-A57E-6BA1C4EB8FEB}" type="slidenum">
              <a:rPr lang="en-US" smtClean="0"/>
              <a:pPr/>
              <a:t>46</a:t>
            </a:fld>
            <a:endParaRPr lang="en-US"/>
          </a:p>
        </p:txBody>
      </p:sp>
      <p:sp>
        <p:nvSpPr>
          <p:cNvPr id="5" name="5-Point Star 4"/>
          <p:cNvSpPr/>
          <p:nvPr/>
        </p:nvSpPr>
        <p:spPr>
          <a:xfrm rot="1367558">
            <a:off x="8088184" y="337943"/>
            <a:ext cx="914400" cy="914400"/>
          </a:xfrm>
          <a:prstGeom prst="star5">
            <a:avLst/>
          </a:prstGeom>
          <a:gradFill flip="none" rotWithShape="1">
            <a:gsLst>
              <a:gs pos="0">
                <a:srgbClr val="FFCC00">
                  <a:shade val="30000"/>
                  <a:satMod val="115000"/>
                </a:srgbClr>
              </a:gs>
              <a:gs pos="50000">
                <a:srgbClr val="FFCC00">
                  <a:shade val="67500"/>
                  <a:satMod val="115000"/>
                </a:srgbClr>
              </a:gs>
              <a:gs pos="100000">
                <a:srgbClr val="FFCC00">
                  <a:shade val="100000"/>
                  <a:satMod val="115000"/>
                </a:srgb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ustDataLst>
      <p:tags r:id="rId1"/>
    </p:custDataLst>
    <p:extLst>
      <p:ext uri="{BB962C8B-B14F-4D97-AF65-F5344CB8AC3E}">
        <p14:creationId xmlns:p14="http://schemas.microsoft.com/office/powerpoint/2010/main" val="25656293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6724466-CF14-4098-A57E-6BA1C4EB8FEB}" type="slidenum">
              <a:rPr lang="en-US" smtClean="0"/>
              <a:pPr/>
              <a:t>47</a:t>
            </a:fld>
            <a:endParaRPr lang="en-US"/>
          </a:p>
        </p:txBody>
      </p:sp>
      <p:sp>
        <p:nvSpPr>
          <p:cNvPr id="3" name="TextBox 2"/>
          <p:cNvSpPr txBox="1"/>
          <p:nvPr/>
        </p:nvSpPr>
        <p:spPr>
          <a:xfrm>
            <a:off x="1005988" y="6038088"/>
            <a:ext cx="6438429" cy="369332"/>
          </a:xfrm>
          <a:prstGeom prst="rect">
            <a:avLst/>
          </a:prstGeom>
          <a:noFill/>
        </p:spPr>
        <p:txBody>
          <a:bodyPr wrap="none" rtlCol="0">
            <a:spAutoFit/>
          </a:bodyPr>
          <a:lstStyle/>
          <a:p>
            <a:r>
              <a:rPr lang="en-US" dirty="0">
                <a:hlinkClick r:id="rId4"/>
              </a:rPr>
              <a:t>For other browsers support and versions : http://caniuse.com/svg</a:t>
            </a:r>
            <a:endParaRPr lang="en-US" dirty="0"/>
          </a:p>
        </p:txBody>
      </p:sp>
      <p:sp>
        <p:nvSpPr>
          <p:cNvPr id="7" name="Title 6">
            <a:extLst>
              <a:ext uri="{FF2B5EF4-FFF2-40B4-BE49-F238E27FC236}">
                <a16:creationId xmlns:a16="http://schemas.microsoft.com/office/drawing/2014/main" id="{4E7FE7CA-6FA3-47BF-8346-4ADC1E59B7F0}"/>
              </a:ext>
            </a:extLst>
          </p:cNvPr>
          <p:cNvSpPr>
            <a:spLocks noGrp="1"/>
          </p:cNvSpPr>
          <p:nvPr>
            <p:ph type="title"/>
          </p:nvPr>
        </p:nvSpPr>
        <p:spPr/>
        <p:txBody>
          <a:bodyPr/>
          <a:lstStyle/>
          <a:p>
            <a:r>
              <a:rPr lang="en-US" dirty="0"/>
              <a:t>SVG Support</a:t>
            </a:r>
            <a:endParaRPr lang="en-SG" dirty="0"/>
          </a:p>
        </p:txBody>
      </p:sp>
      <p:pic>
        <p:nvPicPr>
          <p:cNvPr id="8" name="Picture 7">
            <a:extLst>
              <a:ext uri="{FF2B5EF4-FFF2-40B4-BE49-F238E27FC236}">
                <a16:creationId xmlns:a16="http://schemas.microsoft.com/office/drawing/2014/main" id="{B22C81D3-E8C0-4657-88D4-E15B27F3524D}"/>
              </a:ext>
            </a:extLst>
          </p:cNvPr>
          <p:cNvPicPr>
            <a:picLocks noChangeAspect="1"/>
          </p:cNvPicPr>
          <p:nvPr/>
        </p:nvPicPr>
        <p:blipFill>
          <a:blip r:embed="rId5"/>
          <a:stretch>
            <a:fillRect/>
          </a:stretch>
        </p:blipFill>
        <p:spPr>
          <a:xfrm>
            <a:off x="662653" y="2012050"/>
            <a:ext cx="8024147" cy="2833900"/>
          </a:xfrm>
          <a:prstGeom prst="rect">
            <a:avLst/>
          </a:prstGeom>
        </p:spPr>
      </p:pic>
    </p:spTree>
    <p:custDataLst>
      <p:tags r:id="rId1"/>
    </p:custDataLst>
    <p:extLst>
      <p:ext uri="{BB962C8B-B14F-4D97-AF65-F5344CB8AC3E}">
        <p14:creationId xmlns:p14="http://schemas.microsoft.com/office/powerpoint/2010/main" val="5929107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4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24B5D243E8524B805AE9E6462128D5" ma:contentTypeVersion="0" ma:contentTypeDescription="Create a new document." ma:contentTypeScope="" ma:versionID="e66dd09a9d80fa3eca15220829d7fdcb">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AF96FE-069F-4E95-9021-A70B136A67F9}">
  <ds:schemaRefs>
    <ds:schemaRef ds:uri="http://purl.org/dc/elements/1.1/"/>
    <ds:schemaRef ds:uri="http://schemas.microsoft.com/office/2006/documentManagement/types"/>
    <ds:schemaRef ds:uri="http://purl.org/dc/dcmitype/"/>
    <ds:schemaRef ds:uri="http://www.w3.org/XML/1998/namespace"/>
    <ds:schemaRef ds:uri="http://purl.org/dc/terms/"/>
    <ds:schemaRef ds:uri="http://schemas.microsoft.com/office/2006/metadata/properties"/>
    <ds:schemaRef ds:uri="http://schemas.openxmlformats.org/package/2006/metadata/core-properties"/>
  </ds:schemaRefs>
</ds:datastoreItem>
</file>

<file path=customXml/itemProps2.xml><?xml version="1.0" encoding="utf-8"?>
<ds:datastoreItem xmlns:ds="http://schemas.openxmlformats.org/officeDocument/2006/customXml" ds:itemID="{9DA0D4D3-22A4-4BA6-B72A-0EA0A9DD58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E4A77F67-C282-4373-9A32-27375E7495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Austin</Template>
  <TotalTime>11039</TotalTime>
  <Words>3351</Words>
  <Application>Microsoft Office PowerPoint</Application>
  <PresentationFormat>On-screen Show (4:3)</PresentationFormat>
  <Paragraphs>657</Paragraphs>
  <Slides>47</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Consolas</vt:lpstr>
      <vt:lpstr>courier new</vt:lpstr>
      <vt:lpstr>verdana</vt:lpstr>
      <vt:lpstr>Wingdings</vt:lpstr>
      <vt:lpstr>ppt template</vt:lpstr>
      <vt:lpstr>Rich Internet Application DevelopmentDesign</vt:lpstr>
      <vt:lpstr>WHAT IS A CANVAS?</vt:lpstr>
      <vt:lpstr>HOW TO CREATE A CANVAS?</vt:lpstr>
      <vt:lpstr>HOW TO CREATE A CANVAS?</vt:lpstr>
      <vt:lpstr>Creating CANVAS with onload</vt:lpstr>
      <vt:lpstr>Creating CANVAS with onload</vt:lpstr>
      <vt:lpstr>Canvas with Event handler</vt:lpstr>
      <vt:lpstr>Canvas DEMO with drawing, images, videos, animation</vt:lpstr>
      <vt:lpstr>  Canvas Support</vt:lpstr>
      <vt:lpstr>Canvas Characteristics Overview</vt:lpstr>
      <vt:lpstr>SVG DEMO</vt:lpstr>
      <vt:lpstr>SVG</vt:lpstr>
      <vt:lpstr>SVG Basics – Scalable Vector Graphic</vt:lpstr>
      <vt:lpstr>HTML 5 &lt;SVG&gt;Example</vt:lpstr>
      <vt:lpstr>PowerPoint Presentation</vt:lpstr>
      <vt:lpstr>CSS Styling with SVG </vt:lpstr>
      <vt:lpstr>CSS Styling with SVG </vt:lpstr>
      <vt:lpstr>Handling click event with SVG</vt:lpstr>
      <vt:lpstr>Handling click event with SVG</vt:lpstr>
      <vt:lpstr>Combining events &amp; styling</vt:lpstr>
      <vt:lpstr>Combining events &amp; styling</vt:lpstr>
      <vt:lpstr>SVG - Advantages</vt:lpstr>
      <vt:lpstr>Key SVG Scenarios</vt:lpstr>
      <vt:lpstr>Key SVG Scenarios</vt:lpstr>
      <vt:lpstr>SVG Scenarios &amp; Demo</vt:lpstr>
      <vt:lpstr>Tools to generate SVG</vt:lpstr>
      <vt:lpstr>Using Adobe illustrator to generate SVG paths</vt:lpstr>
      <vt:lpstr>Using Adobe illustrator to generate SVG paths</vt:lpstr>
      <vt:lpstr>Using Adobe illustrator – Styling &amp; Interactivity with CSS3</vt:lpstr>
      <vt:lpstr>Using Adobe illustrator - Styling &amp; Interactivity with CSS3</vt:lpstr>
      <vt:lpstr>Adding Event Listeners to with Javascript DOM</vt:lpstr>
      <vt:lpstr>Adding Event Listeners (Javascript) – Example 1</vt:lpstr>
      <vt:lpstr>Adding Event Listeners (Javascript)- Example 2 </vt:lpstr>
      <vt:lpstr>Adding Event Listeners to an SVG Object (Javascript) – Example 3</vt:lpstr>
      <vt:lpstr>Canvas Scenarios &amp; Demo</vt:lpstr>
      <vt:lpstr>SVG vs Canvas </vt:lpstr>
      <vt:lpstr>Combination/Crossover Scenarios</vt:lpstr>
      <vt:lpstr>Comparison of Canvas and SVG</vt:lpstr>
      <vt:lpstr>High Charts with SVG</vt:lpstr>
      <vt:lpstr>Chart Types</vt:lpstr>
      <vt:lpstr>Chart Types</vt:lpstr>
      <vt:lpstr>Chart Types</vt:lpstr>
      <vt:lpstr>Chart Style</vt:lpstr>
      <vt:lpstr>Chart Style</vt:lpstr>
      <vt:lpstr>Chart Installation</vt:lpstr>
      <vt:lpstr>High Charts with SVG</vt:lpstr>
      <vt:lpstr>SVG Support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IT1322 – Principles of Web Usability Design</dc:title>
  <dc:creator>EvyLim</dc:creator>
  <cp:lastModifiedBy>LOW TOMMY</cp:lastModifiedBy>
  <cp:revision>285</cp:revision>
  <dcterms:created xsi:type="dcterms:W3CDTF">2012-03-19T05:26:54Z</dcterms:created>
  <dcterms:modified xsi:type="dcterms:W3CDTF">2019-10-29T02:30:09Z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0x010100CF24B5D243E8524B805AE9E6462128D5</vt:lpwstr>
  </property>
  <property fmtid="{D5CDD505-2E9C-101B-9397-08002B2CF9AE}" pid="3" name="ArticulateGUID">
    <vt:lpwstr>817C2D31-976A-4CDC-95CF-64A4F89102AF</vt:lpwstr>
  </property>
  <property fmtid="{D5CDD505-2E9C-101B-9397-08002B2CF9AE}" pid="4" name="ArticulatePath">
    <vt:lpwstr>Canvas n SVG(2019)</vt:lpwstr>
  </property>
</Properties>
</file>