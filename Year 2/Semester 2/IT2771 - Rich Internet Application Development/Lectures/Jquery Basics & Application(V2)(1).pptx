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9"/>
  </p:notesMasterIdLst>
  <p:sldIdLst>
    <p:sldId id="256" r:id="rId5"/>
    <p:sldId id="300" r:id="rId6"/>
    <p:sldId id="298" r:id="rId7"/>
    <p:sldId id="321" r:id="rId8"/>
    <p:sldId id="322" r:id="rId9"/>
    <p:sldId id="323" r:id="rId10"/>
    <p:sldId id="324" r:id="rId11"/>
    <p:sldId id="325" r:id="rId12"/>
    <p:sldId id="326" r:id="rId13"/>
    <p:sldId id="327" r:id="rId14"/>
    <p:sldId id="328" r:id="rId15"/>
    <p:sldId id="329" r:id="rId16"/>
    <p:sldId id="330" r:id="rId17"/>
    <p:sldId id="331" r:id="rId18"/>
    <p:sldId id="332" r:id="rId19"/>
    <p:sldId id="333" r:id="rId20"/>
    <p:sldId id="334" r:id="rId21"/>
    <p:sldId id="335" r:id="rId22"/>
    <p:sldId id="336" r:id="rId23"/>
    <p:sldId id="337" r:id="rId24"/>
    <p:sldId id="338" r:id="rId25"/>
    <p:sldId id="339" r:id="rId26"/>
    <p:sldId id="340" r:id="rId27"/>
    <p:sldId id="341" r:id="rId28"/>
    <p:sldId id="342" r:id="rId29"/>
    <p:sldId id="343" r:id="rId30"/>
    <p:sldId id="344" r:id="rId31"/>
    <p:sldId id="346" r:id="rId32"/>
    <p:sldId id="345" r:id="rId33"/>
    <p:sldId id="347" r:id="rId34"/>
    <p:sldId id="348" r:id="rId35"/>
    <p:sldId id="349" r:id="rId36"/>
    <p:sldId id="350" r:id="rId37"/>
    <p:sldId id="351" r:id="rId38"/>
    <p:sldId id="352" r:id="rId39"/>
    <p:sldId id="353" r:id="rId40"/>
    <p:sldId id="354" r:id="rId41"/>
    <p:sldId id="355" r:id="rId42"/>
    <p:sldId id="356" r:id="rId43"/>
    <p:sldId id="357" r:id="rId44"/>
    <p:sldId id="358" r:id="rId45"/>
    <p:sldId id="359" r:id="rId46"/>
    <p:sldId id="360" r:id="rId47"/>
    <p:sldId id="361" r:id="rId48"/>
    <p:sldId id="362" r:id="rId49"/>
    <p:sldId id="364" r:id="rId50"/>
    <p:sldId id="363" r:id="rId51"/>
    <p:sldId id="365" r:id="rId52"/>
    <p:sldId id="366" r:id="rId53"/>
    <p:sldId id="367" r:id="rId54"/>
    <p:sldId id="368" r:id="rId55"/>
    <p:sldId id="369" r:id="rId56"/>
    <p:sldId id="370" r:id="rId57"/>
    <p:sldId id="371"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59" autoAdjust="0"/>
    <p:restoredTop sz="72245" autoAdjust="0"/>
  </p:normalViewPr>
  <p:slideViewPr>
    <p:cSldViewPr>
      <p:cViewPr>
        <p:scale>
          <a:sx n="58" d="100"/>
          <a:sy n="58" d="100"/>
        </p:scale>
        <p:origin x="-87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CDB0A14-681B-4549-BB8C-4BD42BF055E8}" type="datetimeFigureOut">
              <a:rPr lang="en-US" smtClean="0"/>
              <a:pPr/>
              <a:t>11/18/2013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33B95CB-9792-46B1-8B63-E325EA9DE95B}" type="slidenum">
              <a:rPr lang="en-US" smtClean="0"/>
              <a:pPr/>
              <a:t>‹#›</a:t>
            </a:fld>
            <a:endParaRPr lang="en-US"/>
          </a:p>
        </p:txBody>
      </p:sp>
    </p:spTree>
    <p:extLst>
      <p:ext uri="{BB962C8B-B14F-4D97-AF65-F5344CB8AC3E}">
        <p14:creationId xmlns:p14="http://schemas.microsoft.com/office/powerpoint/2010/main" val="557753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jquery.com/download/"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jquery.com/download/"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www.w3schools.com/cssref/css_selectors.asp"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www.w3schools.com/jquery/tryit.asp?filename=tryjquery_dblclick"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www.w3schools.com/jquery/tryit.asp?filename=tryjquery_slide_up" TargetMode="External"/><Relationship Id="rId2" Type="http://schemas.openxmlformats.org/officeDocument/2006/relationships/slide" Target="../slides/slide31.xml"/><Relationship Id="rId1" Type="http://schemas.openxmlformats.org/officeDocument/2006/relationships/notesMaster" Target="../notesMasters/notesMaster1.xml"/><Relationship Id="rId4" Type="http://schemas.openxmlformats.org/officeDocument/2006/relationships/hyperlink" Target="http://www.w3schools.com/jquery/tryit.asp?filename=tryjquery_slide_toggle" TargetMode="Externa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www.w3schools.com/jquery/tryit.asp?filename=tryjquery_animation1"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www.w3schools.com/jquery/tryit.asp?filename=tryjquery_animation1_relative"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www.w3schools.com/jquery/tryit.asp?filename=tryjquery_animation1_toggle"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www.w3schools.com/jquery/tryit.asp?filename=tryjquery_animation"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www.w3schools.com/jquery/tryit.asp?filename=tryjquery_stop_slide"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www.w3schools.com/jquery/tryit.asp?filename=tryjquery_hide_callback"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www.w3schools.com/jquery/tryit.asp?filename=tryjquery_chaining2"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www.w3schools.com/jquery/tryit.asp?filename=tryjquery_dom_html_get"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www.w3schools.com/jquery/tryit.asp?filename=tryjquery_dom_val_get"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www.w3schools.com/jquery/tryit.asp?filename=tryjquery_dom_attr_get" TargetMode="External"/><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www.w3schools.com/jquery/tryit.asp?filename=tryjquery_dom_html_set"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www.w3schools.com/jquery/tryit.asp?filename=tryjquery_dom_html_callback" TargetMode="External"/><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www.w3schools.com/jquery/tryit.asp?filename=tryjquery_dom_attr_set"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www.w3schools.com/jquery/tryit.asp?filename=tryjquery_html_after" TargetMode="External"/><Relationship Id="rId2" Type="http://schemas.openxmlformats.org/officeDocument/2006/relationships/slide" Target="../slides/slide46.xml"/><Relationship Id="rId1" Type="http://schemas.openxmlformats.org/officeDocument/2006/relationships/notesMaster" Target="../notesMasters/notesMaster1.xml"/><Relationship Id="rId5" Type="http://schemas.openxmlformats.org/officeDocument/2006/relationships/hyperlink" Target="http://www.w3schools.com/jquery/tryit.asp?filename=tryjquery_dom_empty" TargetMode="External"/><Relationship Id="rId4" Type="http://schemas.openxmlformats.org/officeDocument/2006/relationships/hyperlink" Target="http://www.w3schools.com/jquery/tryit.asp?filename=tryjquery_dom_remove" TargetMode="Externa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w3schools.com/jquery/tryit.asp?filename=tryjquery_dom_toggleclass"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3" Type="http://schemas.openxmlformats.org/officeDocument/2006/relationships/hyperlink" Target="http://w3schools.com/jquery/tryit.asp?filename=tryjquery_css_setcolor" TargetMode="External"/><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w3schools.com/jquery/jquery_dimensions.asp"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3" Type="http://schemas.openxmlformats.org/officeDocument/2006/relationships/hyperlink" Target="http://w3schools.com/jquery" TargetMode="External"/><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effectLst/>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2</a:t>
            </a:fld>
            <a:endParaRPr lang="en-US"/>
          </a:p>
        </p:txBody>
      </p:sp>
    </p:spTree>
    <p:extLst>
      <p:ext uri="{BB962C8B-B14F-4D97-AF65-F5344CB8AC3E}">
        <p14:creationId xmlns:p14="http://schemas.microsoft.com/office/powerpoint/2010/main" val="11462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3</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 </a:t>
            </a:r>
            <a:r>
              <a:rPr lang="en-US" sz="1200" b="0" i="0" kern="1200" dirty="0" smtClean="0">
                <a:solidFill>
                  <a:schemeClr val="tx1"/>
                </a:solidFill>
                <a:latin typeface="+mn-lt"/>
                <a:ea typeface="+mn-ea"/>
                <a:cs typeface="+mn-cs"/>
              </a:rPr>
              <a:t>There are two versions of </a:t>
            </a:r>
            <a:r>
              <a:rPr lang="en-US" sz="1200" b="0" i="0" kern="1200" dirty="0" err="1" smtClean="0">
                <a:solidFill>
                  <a:schemeClr val="tx1"/>
                </a:solidFill>
                <a:latin typeface="+mn-lt"/>
                <a:ea typeface="+mn-ea"/>
                <a:cs typeface="+mn-cs"/>
              </a:rPr>
              <a:t>jQuery</a:t>
            </a:r>
            <a:r>
              <a:rPr lang="en-US" sz="1200" b="0" i="0" kern="1200" dirty="0" smtClean="0">
                <a:solidFill>
                  <a:schemeClr val="tx1"/>
                </a:solidFill>
                <a:latin typeface="+mn-lt"/>
                <a:ea typeface="+mn-ea"/>
                <a:cs typeface="+mn-cs"/>
              </a:rPr>
              <a:t> available for downloading:</a:t>
            </a:r>
          </a:p>
          <a:p>
            <a:r>
              <a:rPr lang="en-US" sz="1200" b="0" i="0" kern="1200" dirty="0" smtClean="0">
                <a:solidFill>
                  <a:schemeClr val="tx1"/>
                </a:solidFill>
                <a:latin typeface="+mn-lt"/>
                <a:ea typeface="+mn-ea"/>
                <a:cs typeface="+mn-cs"/>
              </a:rPr>
              <a:t>Production version - this is for your live website because it has been minified and compressed</a:t>
            </a:r>
          </a:p>
          <a:p>
            <a:r>
              <a:rPr lang="en-US" sz="1200" b="0" i="0" kern="1200" dirty="0" smtClean="0">
                <a:solidFill>
                  <a:schemeClr val="tx1"/>
                </a:solidFill>
                <a:latin typeface="+mn-lt"/>
                <a:ea typeface="+mn-ea"/>
                <a:cs typeface="+mn-cs"/>
              </a:rPr>
              <a:t>Development version - this is for testing and development (uncompressed and readable code)</a:t>
            </a:r>
          </a:p>
          <a:p>
            <a:r>
              <a:rPr lang="en-US" sz="1200" b="0" i="0" kern="1200" dirty="0" smtClean="0">
                <a:solidFill>
                  <a:schemeClr val="tx1"/>
                </a:solidFill>
                <a:latin typeface="+mn-lt"/>
                <a:ea typeface="+mn-ea"/>
                <a:cs typeface="+mn-cs"/>
              </a:rPr>
              <a:t>Both versions can be downloaded from </a:t>
            </a:r>
            <a:r>
              <a:rPr lang="en-US" sz="1200" b="0" i="0" kern="1200" dirty="0" smtClean="0">
                <a:solidFill>
                  <a:schemeClr val="tx1"/>
                </a:solidFill>
                <a:latin typeface="+mn-lt"/>
                <a:ea typeface="+mn-ea"/>
                <a:cs typeface="+mn-cs"/>
                <a:hlinkClick r:id="rId3"/>
              </a:rPr>
              <a:t>jQuery.com</a:t>
            </a:r>
            <a:r>
              <a:rPr lang="en-US" sz="1200" b="0" i="0" kern="1200" dirty="0" smtClean="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4</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 </a:t>
            </a:r>
            <a:r>
              <a:rPr lang="en-US" sz="1200" b="0" i="0" kern="1200" dirty="0" smtClean="0">
                <a:solidFill>
                  <a:schemeClr val="tx1"/>
                </a:solidFill>
                <a:latin typeface="+mn-lt"/>
                <a:ea typeface="+mn-ea"/>
                <a:cs typeface="+mn-cs"/>
              </a:rPr>
              <a:t>There are two versions of </a:t>
            </a:r>
            <a:r>
              <a:rPr lang="en-US" sz="1200" b="0" i="0" kern="1200" dirty="0" err="1" smtClean="0">
                <a:solidFill>
                  <a:schemeClr val="tx1"/>
                </a:solidFill>
                <a:latin typeface="+mn-lt"/>
                <a:ea typeface="+mn-ea"/>
                <a:cs typeface="+mn-cs"/>
              </a:rPr>
              <a:t>jQuery</a:t>
            </a:r>
            <a:r>
              <a:rPr lang="en-US" sz="1200" b="0" i="0" kern="1200" dirty="0" smtClean="0">
                <a:solidFill>
                  <a:schemeClr val="tx1"/>
                </a:solidFill>
                <a:latin typeface="+mn-lt"/>
                <a:ea typeface="+mn-ea"/>
                <a:cs typeface="+mn-cs"/>
              </a:rPr>
              <a:t> available for downloading:</a:t>
            </a:r>
          </a:p>
          <a:p>
            <a:r>
              <a:rPr lang="en-US" sz="1200" b="0" i="0" kern="1200" dirty="0" smtClean="0">
                <a:solidFill>
                  <a:schemeClr val="tx1"/>
                </a:solidFill>
                <a:latin typeface="+mn-lt"/>
                <a:ea typeface="+mn-ea"/>
                <a:cs typeface="+mn-cs"/>
              </a:rPr>
              <a:t>Production version - this is for your live website because it has been minified and compressed</a:t>
            </a:r>
          </a:p>
          <a:p>
            <a:r>
              <a:rPr lang="en-US" sz="1200" b="0" i="0" kern="1200" dirty="0" smtClean="0">
                <a:solidFill>
                  <a:schemeClr val="tx1"/>
                </a:solidFill>
                <a:latin typeface="+mn-lt"/>
                <a:ea typeface="+mn-ea"/>
                <a:cs typeface="+mn-cs"/>
              </a:rPr>
              <a:t>Development version - this is for testing and development (uncompressed and readable code)</a:t>
            </a:r>
          </a:p>
          <a:p>
            <a:r>
              <a:rPr lang="en-US" sz="1200" b="0" i="0" kern="1200" dirty="0" smtClean="0">
                <a:solidFill>
                  <a:schemeClr val="tx1"/>
                </a:solidFill>
                <a:latin typeface="+mn-lt"/>
                <a:ea typeface="+mn-ea"/>
                <a:cs typeface="+mn-cs"/>
              </a:rPr>
              <a:t>Both versions can be downloaded from </a:t>
            </a:r>
            <a:r>
              <a:rPr lang="en-US" sz="1200" b="0" i="0" kern="1200" dirty="0" smtClean="0">
                <a:solidFill>
                  <a:schemeClr val="tx1"/>
                </a:solidFill>
                <a:latin typeface="+mn-lt"/>
                <a:ea typeface="+mn-ea"/>
                <a:cs typeface="+mn-cs"/>
                <a:hlinkClick r:id="rId3"/>
              </a:rPr>
              <a:t>jQuery.com</a:t>
            </a:r>
            <a:r>
              <a:rPr lang="en-US" sz="1200" b="0" i="0" kern="1200" dirty="0" smtClean="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5</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Both Google and Microsoft host </a:t>
            </a:r>
            <a:r>
              <a:rPr lang="en-US" sz="1200" dirty="0" err="1" smtClean="0"/>
              <a:t>jQuery</a:t>
            </a:r>
            <a:r>
              <a:rPr lang="en-US" sz="1200" dirty="0" smtClean="0"/>
              <a:t>. </a:t>
            </a:r>
          </a:p>
          <a:p>
            <a:r>
              <a:rPr lang="en-US" sz="1200" b="1" kern="1200" dirty="0" smtClean="0">
                <a:solidFill>
                  <a:schemeClr val="tx1"/>
                </a:solidFill>
                <a:latin typeface="+mn-lt"/>
                <a:ea typeface="+mn-ea"/>
                <a:cs typeface="+mn-cs"/>
              </a:rPr>
              <a:t/>
            </a:r>
            <a:br>
              <a:rPr lang="en-US" sz="1200" b="1" kern="1200" dirty="0" smtClean="0">
                <a:solidFill>
                  <a:schemeClr val="tx1"/>
                </a:solidFill>
                <a:latin typeface="+mn-lt"/>
                <a:ea typeface="+mn-ea"/>
                <a:cs typeface="+mn-cs"/>
              </a:rPr>
            </a:br>
            <a:r>
              <a:rPr lang="en-US" sz="1200" b="1" kern="1200" dirty="0" smtClean="0">
                <a:solidFill>
                  <a:schemeClr val="tx1"/>
                </a:solidFill>
                <a:latin typeface="+mn-lt"/>
                <a:ea typeface="+mn-ea"/>
                <a:cs typeface="+mn-cs"/>
              </a:rPr>
              <a:t>One big advantage of using the hosted </a:t>
            </a:r>
            <a:r>
              <a:rPr lang="en-US" sz="1200" b="1" kern="1200" dirty="0" err="1" smtClean="0">
                <a:solidFill>
                  <a:schemeClr val="tx1"/>
                </a:solidFill>
                <a:latin typeface="+mn-lt"/>
                <a:ea typeface="+mn-ea"/>
                <a:cs typeface="+mn-cs"/>
              </a:rPr>
              <a:t>jQuery</a:t>
            </a:r>
            <a:r>
              <a:rPr lang="en-US" sz="1200" b="1" kern="1200" dirty="0" smtClean="0">
                <a:solidFill>
                  <a:schemeClr val="tx1"/>
                </a:solidFill>
                <a:latin typeface="+mn-lt"/>
                <a:ea typeface="+mn-ea"/>
                <a:cs typeface="+mn-cs"/>
              </a:rPr>
              <a:t> from Google or Microsoft:</a:t>
            </a:r>
            <a:r>
              <a:rPr lang="en-US" sz="1200" kern="1200" dirty="0" smtClean="0">
                <a:solidFill>
                  <a:schemeClr val="tx1"/>
                </a:solidFill>
                <a:latin typeface="+mn-lt"/>
                <a:ea typeface="+mn-ea"/>
                <a:cs typeface="+mn-cs"/>
              </a:rPr>
              <a:t/>
            </a:r>
            <a:br>
              <a:rPr lang="en-US" sz="1200" kern="1200" dirty="0" smtClean="0">
                <a:solidFill>
                  <a:schemeClr val="tx1"/>
                </a:solidFill>
                <a:latin typeface="+mn-lt"/>
                <a:ea typeface="+mn-ea"/>
                <a:cs typeface="+mn-cs"/>
              </a:rPr>
            </a:br>
            <a:r>
              <a:rPr lang="en-US" sz="1200" kern="1200" dirty="0" smtClean="0">
                <a:solidFill>
                  <a:schemeClr val="tx1"/>
                </a:solidFill>
                <a:latin typeface="+mn-lt"/>
                <a:ea typeface="+mn-ea"/>
                <a:cs typeface="+mn-cs"/>
              </a:rPr>
              <a:t/>
            </a:r>
            <a:br>
              <a:rPr lang="en-US" sz="1200" kern="1200" dirty="0" smtClean="0">
                <a:solidFill>
                  <a:schemeClr val="tx1"/>
                </a:solidFill>
                <a:latin typeface="+mn-lt"/>
                <a:ea typeface="+mn-ea"/>
                <a:cs typeface="+mn-cs"/>
              </a:rPr>
            </a:br>
            <a:r>
              <a:rPr lang="en-US" sz="1200" kern="1200" dirty="0" smtClean="0">
                <a:solidFill>
                  <a:schemeClr val="tx1"/>
                </a:solidFill>
                <a:latin typeface="+mn-lt"/>
                <a:ea typeface="+mn-ea"/>
                <a:cs typeface="+mn-cs"/>
              </a:rPr>
              <a:t>Many users already have downloaded </a:t>
            </a:r>
            <a:r>
              <a:rPr lang="en-US" sz="1200" kern="1200" dirty="0" err="1" smtClean="0">
                <a:solidFill>
                  <a:schemeClr val="tx1"/>
                </a:solidFill>
                <a:latin typeface="+mn-lt"/>
                <a:ea typeface="+mn-ea"/>
                <a:cs typeface="+mn-cs"/>
              </a:rPr>
              <a:t>jQuery</a:t>
            </a:r>
            <a:r>
              <a:rPr lang="en-US" sz="1200" kern="1200" dirty="0" smtClean="0">
                <a:solidFill>
                  <a:schemeClr val="tx1"/>
                </a:solidFill>
                <a:latin typeface="+mn-lt"/>
                <a:ea typeface="+mn-ea"/>
                <a:cs typeface="+mn-cs"/>
              </a:rPr>
              <a:t> from Google or Microsoft when visiting another site. As a result, it will be loaded from cache when they visit your site, which leads to faster loading time. Also, most CDN's will make sure that once a user requests a file from it, it will be served from the server closest to them, which also leads to faster loading time.</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6</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 </a:t>
            </a:r>
          </a:p>
          <a:p>
            <a:endParaRPr lang="en-US" sz="1200" dirty="0" smtClean="0"/>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7</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smtClean="0"/>
              <a:t> </a:t>
            </a:r>
          </a:p>
          <a:p>
            <a:endParaRPr lang="en-US" sz="1200" dirty="0" smtClean="0"/>
          </a:p>
          <a:p>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8</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It is good practice to wait for the document to be fully loaded and ready before working with it. This also allows you to have your JavaScript code before the body of your document, in the head section.</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9</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It is good practice to wait for the document to be fully loaded and ready before working with it. This also allows you to have your JavaScript code before the body of your document, in the head section.</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10</a:t>
            </a:fld>
            <a:endParaRPr lang="en-US"/>
          </a:p>
        </p:txBody>
      </p:sp>
    </p:spTree>
    <p:extLst>
      <p:ext uri="{BB962C8B-B14F-4D97-AF65-F5344CB8AC3E}">
        <p14:creationId xmlns:p14="http://schemas.microsoft.com/office/powerpoint/2010/main" val="696174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hlinkClick r:id="rId3"/>
              </a:rPr>
              <a:t>See http://www.w3schools.com/cssref/css_selectors.asp</a:t>
            </a:r>
            <a:r>
              <a:rPr lang="en-US" dirty="0" smtClean="0"/>
              <a:t> for</a:t>
            </a:r>
            <a:r>
              <a:rPr lang="en-US" baseline="0" dirty="0" smtClean="0"/>
              <a:t> CSS Selectors</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Open  Eg1.html or visit link</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Open  Eg2.html or visit link</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Open  Eg3.html or visit link</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833B95CB-9792-46B1-8B63-E325EA9DE95B}" type="slidenum">
              <a:rPr lang="en-US" smtClean="0"/>
              <a:pPr/>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r>
              <a:rPr lang="en-US" sz="1200" dirty="0" smtClean="0"/>
              <a:t>Examples:</a:t>
            </a:r>
          </a:p>
          <a:p>
            <a:r>
              <a:rPr lang="en-US" sz="1200" dirty="0" smtClean="0"/>
              <a:t>moving a mouse over an element</a:t>
            </a:r>
          </a:p>
          <a:p>
            <a:r>
              <a:rPr lang="en-US" sz="1200" dirty="0" smtClean="0"/>
              <a:t>selecting a radio button</a:t>
            </a:r>
          </a:p>
          <a:p>
            <a:r>
              <a:rPr lang="en-US" sz="1200" dirty="0" smtClean="0"/>
              <a:t>clicking on an element</a:t>
            </a:r>
          </a:p>
        </p:txBody>
      </p:sp>
      <p:sp>
        <p:nvSpPr>
          <p:cNvPr id="4" name="Slide Number Placeholder 3"/>
          <p:cNvSpPr>
            <a:spLocks noGrp="1"/>
          </p:cNvSpPr>
          <p:nvPr>
            <p:ph type="sldNum" sz="quarter" idx="10"/>
          </p:nvPr>
        </p:nvSpPr>
        <p:spPr/>
        <p:txBody>
          <a:bodyPr/>
          <a:lstStyle/>
          <a:p>
            <a:fld id="{833B95CB-9792-46B1-8B63-E325EA9DE95B}" type="slidenum">
              <a:rPr lang="en-US" smtClean="0"/>
              <a:pPr/>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See Eg4.</a:t>
            </a:r>
            <a:r>
              <a:rPr lang="en-US" baseline="0" dirty="0" smtClean="0"/>
              <a:t> or link . See also </a:t>
            </a:r>
            <a:r>
              <a:rPr lang="en-US" baseline="0" dirty="0" err="1" smtClean="0"/>
              <a:t>Doubleclik</a:t>
            </a:r>
            <a:r>
              <a:rPr lang="en-US" baseline="0" dirty="0" smtClean="0"/>
              <a:t> </a:t>
            </a:r>
            <a:r>
              <a:rPr lang="en-US" baseline="0" dirty="0" err="1" smtClean="0"/>
              <a:t>eg</a:t>
            </a:r>
            <a:r>
              <a:rPr lang="en-US" baseline="0" dirty="0" smtClean="0"/>
              <a:t>. </a:t>
            </a:r>
            <a:r>
              <a:rPr lang="en-US" dirty="0" smtClean="0">
                <a:hlinkClick r:id="rId3"/>
              </a:rPr>
              <a:t>http://www.w3schools.com/jquery/tryit.asp?filename=tryjquery_dblclick</a:t>
            </a:r>
            <a:endParaRPr lang="en-US" sz="1200" dirty="0" smtClean="0"/>
          </a:p>
          <a:p>
            <a:r>
              <a:rPr lang="en-US" baseline="0" dirty="0" smtClean="0"/>
              <a:t> </a:t>
            </a:r>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Eg5a -mouseenter.html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Eg5b -mouseleave.html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Show Eg5c -hover.html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Show Eg5d-focus.html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Show Eg5e- blur.html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Show Eg6 - HideShow.html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Show Eg6b - HideShowCallback.html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Show Eg6c - Toggle.html</a:t>
            </a:r>
          </a:p>
          <a:p>
            <a:r>
              <a:rPr lang="en-US" sz="1200" b="0" i="0" kern="1200" dirty="0" smtClean="0">
                <a:solidFill>
                  <a:schemeClr val="tx1"/>
                </a:solidFill>
                <a:latin typeface="+mn-lt"/>
                <a:ea typeface="+mn-ea"/>
                <a:cs typeface="+mn-cs"/>
              </a:rPr>
              <a:t>The optional speed parameter can take the following values: "slow", "fast", or milliseconds.</a:t>
            </a:r>
          </a:p>
          <a:p>
            <a:r>
              <a:rPr lang="en-US" sz="1200" b="0" i="0" kern="1200" dirty="0" smtClean="0">
                <a:solidFill>
                  <a:schemeClr val="tx1"/>
                </a:solidFill>
                <a:latin typeface="+mn-lt"/>
                <a:ea typeface="+mn-ea"/>
                <a:cs typeface="+mn-cs"/>
              </a:rPr>
              <a:t>The optional callback parameter is a function to be executed after toggle() completes.</a:t>
            </a:r>
          </a:p>
          <a:p>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 </a:t>
            </a:r>
            <a:endParaRPr lang="en-US" sz="1200" b="0" i="0" kern="1200" dirty="0" smtClean="0">
              <a:solidFill>
                <a:schemeClr val="tx1"/>
              </a:solidFill>
              <a:latin typeface="+mn-lt"/>
              <a:ea typeface="+mn-ea"/>
              <a:cs typeface="+mn-cs"/>
            </a:endParaRPr>
          </a:p>
          <a:p>
            <a:r>
              <a:rPr lang="en-US" sz="1200" dirty="0" smtClean="0"/>
              <a:t>Demo</a:t>
            </a:r>
            <a:r>
              <a:rPr lang="en-US" sz="1200" baseline="0" dirty="0" smtClean="0"/>
              <a:t> Eg6d - Fadein.html or link</a:t>
            </a:r>
          </a:p>
          <a:p>
            <a:endParaRPr lang="en-US" sz="1200" baseline="0" smtClean="0"/>
          </a:p>
          <a:p>
            <a:endParaRPr lang="en-US" sz="1200" baseline="0" smtClean="0"/>
          </a:p>
          <a:p>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28</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 </a:t>
            </a:r>
            <a:endParaRPr lang="en-US" sz="1200" b="0" i="0" kern="1200" dirty="0" smtClean="0">
              <a:solidFill>
                <a:schemeClr val="tx1"/>
              </a:solidFill>
              <a:latin typeface="+mn-lt"/>
              <a:ea typeface="+mn-ea"/>
              <a:cs typeface="+mn-cs"/>
            </a:endParaRPr>
          </a:p>
          <a:p>
            <a:r>
              <a:rPr lang="en-US" sz="1200" dirty="0" smtClean="0"/>
              <a:t>Demo</a:t>
            </a:r>
            <a:r>
              <a:rPr lang="en-US" sz="1200" baseline="0" dirty="0" smtClean="0"/>
              <a:t> Eg6d - Fadein.html or link</a:t>
            </a:r>
          </a:p>
          <a:p>
            <a:endParaRPr lang="en-US" sz="1200" baseline="0" dirty="0" smtClean="0"/>
          </a:p>
          <a:p>
            <a:endParaRPr lang="en-US" sz="1200" baseline="0" dirty="0" smtClean="0"/>
          </a:p>
          <a:p>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29</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The optional speed parameter specifies the duration of the effect. It can take the following values: "slow", "fast", or milliseconds.</a:t>
            </a:r>
          </a:p>
          <a:p>
            <a:r>
              <a:rPr lang="en-US" sz="1200" b="0" i="0" kern="1200" dirty="0" smtClean="0">
                <a:solidFill>
                  <a:schemeClr val="tx1"/>
                </a:solidFill>
                <a:latin typeface="+mn-lt"/>
                <a:ea typeface="+mn-ea"/>
                <a:cs typeface="+mn-cs"/>
              </a:rPr>
              <a:t>The optional callback parameter is a function to be executed after the fading completes.</a:t>
            </a:r>
          </a:p>
          <a:p>
            <a:endParaRPr lang="en-US" sz="1200" baseline="0" dirty="0" smtClean="0"/>
          </a:p>
          <a:p>
            <a:r>
              <a:rPr lang="en-US" sz="1200" baseline="0" dirty="0" smtClean="0"/>
              <a:t>Demo Eg6f - FadeToggle.html</a:t>
            </a:r>
          </a:p>
          <a:p>
            <a:endParaRPr lang="en-US" sz="1200" baseline="0" dirty="0" smtClean="0"/>
          </a:p>
          <a:p>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30</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Slide down</a:t>
            </a:r>
            <a:r>
              <a:rPr lang="en-US" sz="1200" b="0" i="0" kern="1200" baseline="0" dirty="0" smtClean="0">
                <a:solidFill>
                  <a:schemeClr val="tx1"/>
                </a:solidFill>
                <a:latin typeface="+mn-lt"/>
                <a:ea typeface="+mn-ea"/>
                <a:cs typeface="+mn-cs"/>
              </a:rPr>
              <a:t> demo:</a:t>
            </a:r>
          </a:p>
          <a:p>
            <a:r>
              <a:rPr lang="en-US" dirty="0" smtClean="0"/>
              <a:t> Eg6g-SlideUp.html </a:t>
            </a:r>
          </a:p>
          <a:p>
            <a:r>
              <a:rPr lang="en-US" sz="1200" b="0" i="0" kern="1200" dirty="0" smtClean="0">
                <a:solidFill>
                  <a:schemeClr val="tx1"/>
                </a:solidFill>
                <a:latin typeface="+mn-lt"/>
                <a:ea typeface="+mn-ea"/>
                <a:cs typeface="+mn-cs"/>
              </a:rPr>
              <a:t>Slide up</a:t>
            </a:r>
            <a:r>
              <a:rPr lang="en-US" sz="1200" b="0" i="0" kern="1200" baseline="0" dirty="0" smtClean="0">
                <a:solidFill>
                  <a:schemeClr val="tx1"/>
                </a:solidFill>
                <a:latin typeface="+mn-lt"/>
                <a:ea typeface="+mn-ea"/>
                <a:cs typeface="+mn-cs"/>
              </a:rPr>
              <a:t> demo:</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Eg6h-SlideDown.html</a:t>
            </a:r>
          </a:p>
          <a:p>
            <a:r>
              <a:rPr lang="en-US" sz="1200" b="0" i="0" kern="1200" baseline="0" dirty="0" smtClean="0">
                <a:solidFill>
                  <a:schemeClr val="tx1"/>
                </a:solidFill>
                <a:latin typeface="+mn-lt"/>
                <a:ea typeface="+mn-ea"/>
                <a:cs typeface="+mn-cs"/>
              </a:rPr>
              <a:t>or</a:t>
            </a:r>
          </a:p>
          <a:p>
            <a:r>
              <a:rPr lang="en-US" dirty="0" smtClean="0">
                <a:hlinkClick r:id="rId3"/>
              </a:rPr>
              <a:t>http://www.w3schools.com/jquery/tryit.asp?filename=tryjquery_slide_up</a:t>
            </a:r>
            <a:endParaRPr lang="en-US" sz="1200" b="0" i="0" kern="1200" dirty="0" smtClean="0">
              <a:solidFill>
                <a:schemeClr val="tx1"/>
              </a:solidFill>
              <a:latin typeface="+mn-lt"/>
              <a:ea typeface="+mn-ea"/>
              <a:cs typeface="+mn-cs"/>
            </a:endParaRPr>
          </a:p>
          <a:p>
            <a:r>
              <a:rPr lang="en-US" sz="1200" baseline="0" dirty="0" smtClean="0"/>
              <a:t>Slide Toggle Demo:</a:t>
            </a:r>
          </a:p>
          <a:p>
            <a:r>
              <a:rPr lang="en-US" sz="1200" baseline="0" dirty="0" smtClean="0"/>
              <a:t> Eg6g-SlideToggle.html or</a:t>
            </a:r>
          </a:p>
          <a:p>
            <a:r>
              <a:rPr lang="en-US" sz="1200" dirty="0" smtClean="0">
                <a:hlinkClick r:id="rId4"/>
              </a:rPr>
              <a:t>http://www.w3schools.com/jquery/tryit.asp?filename=tryjquery_slide_toggle</a:t>
            </a:r>
            <a:endParaRPr lang="en-US" sz="1200" baseline="0" dirty="0" smtClean="0"/>
          </a:p>
          <a:p>
            <a:endParaRPr lang="en-US" sz="1200" baseline="0" dirty="0" smtClean="0"/>
          </a:p>
          <a:p>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31</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Demo :</a:t>
            </a:r>
          </a:p>
          <a:p>
            <a:r>
              <a:rPr lang="en-US" dirty="0" smtClean="0">
                <a:hlinkClick r:id="rId3"/>
              </a:rPr>
              <a:t>http://www.w3schools.com/jquery/tryit.asp?filename=tryjquery_animation1</a:t>
            </a:r>
            <a:endParaRPr lang="en-US" dirty="0" smtClean="0"/>
          </a:p>
          <a:p>
            <a:r>
              <a:rPr lang="en-US" sz="1200" dirty="0" smtClean="0"/>
              <a:t>Or Eg7-Animate.html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32</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Demo :</a:t>
            </a:r>
          </a:p>
          <a:p>
            <a:r>
              <a:rPr lang="en-US" dirty="0" smtClean="0"/>
              <a:t> </a:t>
            </a:r>
            <a:r>
              <a:rPr lang="en-US" dirty="0" smtClean="0">
                <a:hlinkClick r:id="rId3"/>
              </a:rPr>
              <a:t>http://www.w3schools.com/jquery/tryit.asp?filename=tryjquery_animation1_relative</a:t>
            </a:r>
            <a:endParaRPr lang="en-US" dirty="0" smtClean="0"/>
          </a:p>
          <a:p>
            <a:r>
              <a:rPr lang="en-US" sz="1200" dirty="0" smtClean="0"/>
              <a:t>Or Eg7b-Animate Multipleppt.html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33</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Demo :</a:t>
            </a:r>
          </a:p>
          <a:p>
            <a:r>
              <a:rPr lang="en-US" dirty="0" smtClean="0">
                <a:hlinkClick r:id="rId3"/>
              </a:rPr>
              <a:t>http://www.w3schools.com/jquery/tryit.asp?filename=tryjquery_animation1_toggle</a:t>
            </a:r>
            <a:r>
              <a:rPr lang="en-US" dirty="0" smtClean="0"/>
              <a:t> </a:t>
            </a:r>
          </a:p>
          <a:p>
            <a:r>
              <a:rPr lang="en-US" sz="1200" dirty="0" smtClean="0"/>
              <a:t>Or Eg7c-AnimateToggle.html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34</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Demo :</a:t>
            </a:r>
          </a:p>
          <a:p>
            <a:r>
              <a:rPr lang="en-US" dirty="0" smtClean="0">
                <a:hlinkClick r:id="rId3"/>
              </a:rPr>
              <a:t>http://www.w3schools.com/jquery/tryit.asp?filename=tryjquery_animation</a:t>
            </a:r>
            <a:r>
              <a:rPr lang="en-US" dirty="0" smtClean="0"/>
              <a:t> or see</a:t>
            </a:r>
          </a:p>
          <a:p>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35</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Demo :</a:t>
            </a:r>
          </a:p>
          <a:p>
            <a:r>
              <a:rPr lang="en-US" dirty="0" smtClean="0">
                <a:hlinkClick r:id="rId3"/>
              </a:rPr>
              <a:t>http://www.w3schools.com/jquery/tryit.asp?filename=tryjquery_stop_slide</a:t>
            </a:r>
            <a:r>
              <a:rPr lang="en-US" dirty="0" smtClean="0"/>
              <a:t> </a:t>
            </a:r>
          </a:p>
          <a:p>
            <a:r>
              <a:rPr lang="en-US" dirty="0" smtClean="0"/>
              <a:t>or see Eg7e -Animation Stop.html</a:t>
            </a:r>
          </a:p>
          <a:p>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36</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 </a:t>
            </a:r>
            <a:endParaRPr lang="en-US" dirty="0" smtClean="0"/>
          </a:p>
          <a:p>
            <a:r>
              <a:rPr lang="en-US" sz="1200" dirty="0" smtClean="0"/>
              <a:t>Demo:</a:t>
            </a:r>
          </a:p>
          <a:p>
            <a:r>
              <a:rPr lang="en-US" dirty="0" smtClean="0">
                <a:hlinkClick r:id="rId3"/>
              </a:rPr>
              <a:t>http://www.w3schools.com/jquery/tryit.asp?filename=tryjquery_hide_callback</a:t>
            </a:r>
            <a:endParaRPr lang="en-US" dirty="0" smtClean="0"/>
          </a:p>
          <a:p>
            <a:r>
              <a:rPr lang="en-US" sz="1200" dirty="0" smtClean="0"/>
              <a:t>Or</a:t>
            </a:r>
          </a:p>
          <a:p>
            <a:r>
              <a:rPr lang="en-US" sz="1200" dirty="0" smtClean="0"/>
              <a:t>Eg7f -Animation Callback.html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37</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 </a:t>
            </a:r>
            <a:endParaRPr lang="en-US" dirty="0" smtClean="0"/>
          </a:p>
          <a:p>
            <a:r>
              <a:rPr lang="en-US" sz="1200" dirty="0" smtClean="0"/>
              <a:t>Demo:</a:t>
            </a:r>
          </a:p>
          <a:p>
            <a:r>
              <a:rPr lang="en-US" dirty="0" smtClean="0">
                <a:hlinkClick r:id="rId3"/>
              </a:rPr>
              <a:t>http://www.w3schools.com/jquery/tryit.asp?filename=tryjquery_chaining2</a:t>
            </a:r>
            <a:r>
              <a:rPr lang="en-US" sz="1200" dirty="0" smtClean="0"/>
              <a:t>Or</a:t>
            </a:r>
          </a:p>
          <a:p>
            <a:r>
              <a:rPr lang="en-US" sz="1200" dirty="0" smtClean="0"/>
              <a:t> </a:t>
            </a:r>
          </a:p>
        </p:txBody>
      </p:sp>
      <p:sp>
        <p:nvSpPr>
          <p:cNvPr id="4" name="Slide Number Placeholder 3"/>
          <p:cNvSpPr>
            <a:spLocks noGrp="1"/>
          </p:cNvSpPr>
          <p:nvPr>
            <p:ph type="sldNum" sz="quarter" idx="10"/>
          </p:nvPr>
        </p:nvSpPr>
        <p:spPr/>
        <p:txBody>
          <a:bodyPr/>
          <a:lstStyle/>
          <a:p>
            <a:fld id="{833B95CB-9792-46B1-8B63-E325EA9DE95B}" type="slidenum">
              <a:rPr lang="en-US" smtClean="0"/>
              <a:pPr/>
              <a:t>38</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 </a:t>
            </a:r>
            <a:r>
              <a:rPr lang="en-US" sz="1200" b="1" i="0" kern="1200" dirty="0" smtClean="0">
                <a:solidFill>
                  <a:schemeClr val="tx1"/>
                </a:solidFill>
                <a:latin typeface="+mn-lt"/>
                <a:ea typeface="+mn-ea"/>
                <a:cs typeface="+mn-cs"/>
              </a:rPr>
              <a:t>DOM = Document Object Model</a:t>
            </a:r>
            <a:r>
              <a:rPr lang="en-US" dirty="0" smtClean="0"/>
              <a:t/>
            </a:r>
            <a:br>
              <a:rPr lang="en-US" dirty="0" smtClean="0"/>
            </a:br>
            <a:r>
              <a:rPr lang="en-US" dirty="0" smtClean="0"/>
              <a:t/>
            </a:r>
            <a:br>
              <a:rPr lang="en-US" dirty="0" smtClean="0"/>
            </a:br>
            <a:r>
              <a:rPr lang="en-US" sz="1200" b="0" i="0" kern="1200" dirty="0" smtClean="0">
                <a:solidFill>
                  <a:schemeClr val="tx1"/>
                </a:solidFill>
                <a:latin typeface="+mn-lt"/>
                <a:ea typeface="+mn-ea"/>
                <a:cs typeface="+mn-cs"/>
              </a:rPr>
              <a:t>The DOM defines a standard for accessing HTML and XML documents:</a:t>
            </a:r>
            <a:r>
              <a:rPr lang="en-US" sz="1200" dirty="0" smtClean="0"/>
              <a:t> </a:t>
            </a:r>
          </a:p>
        </p:txBody>
      </p:sp>
      <p:sp>
        <p:nvSpPr>
          <p:cNvPr id="4" name="Slide Number Placeholder 3"/>
          <p:cNvSpPr>
            <a:spLocks noGrp="1"/>
          </p:cNvSpPr>
          <p:nvPr>
            <p:ph type="sldNum" sz="quarter" idx="10"/>
          </p:nvPr>
        </p:nvSpPr>
        <p:spPr/>
        <p:txBody>
          <a:bodyPr/>
          <a:lstStyle/>
          <a:p>
            <a:fld id="{833B95CB-9792-46B1-8B63-E325EA9DE95B}" type="slidenum">
              <a:rPr lang="en-US" smtClean="0"/>
              <a:pPr/>
              <a:t>39</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hlinkClick r:id="rId3"/>
              </a:rPr>
              <a:t>http://www.w3schools.com/jquery/tryit.asp?filename=tryjquery_dom_html_get</a:t>
            </a:r>
            <a:endParaRPr lang="en-US" dirty="0" smtClean="0"/>
          </a:p>
          <a:p>
            <a:r>
              <a:rPr lang="en-US" sz="1200" dirty="0" smtClean="0"/>
              <a:t>Or</a:t>
            </a:r>
          </a:p>
          <a:p>
            <a:r>
              <a:rPr lang="en-US" sz="1200" dirty="0" smtClean="0"/>
              <a:t>Eg8a-Domget.html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40</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hlinkClick r:id="rId3"/>
              </a:rPr>
              <a:t>http://www.w3schools.com/jquery/tryit.asp?filename=tryjquery_dom_val_get</a:t>
            </a:r>
            <a:r>
              <a:rPr lang="en-US" dirty="0" smtClean="0"/>
              <a:t>   </a:t>
            </a:r>
            <a:r>
              <a:rPr lang="en-US" sz="1200" dirty="0" smtClean="0"/>
              <a:t>Or</a:t>
            </a:r>
          </a:p>
          <a:p>
            <a:r>
              <a:rPr lang="en-US" sz="1200" dirty="0" smtClean="0"/>
              <a:t>Eg8b - Domval.html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41</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hlinkClick r:id="rId3"/>
              </a:rPr>
              <a:t>http://www.w3schools.com/jquery/tryit.asp?filename=tryjquery_dom_attr_get</a:t>
            </a:r>
            <a:r>
              <a:rPr lang="en-US" dirty="0" smtClean="0"/>
              <a:t>  </a:t>
            </a:r>
            <a:r>
              <a:rPr lang="en-US" sz="1200" dirty="0" smtClean="0"/>
              <a:t>Or</a:t>
            </a:r>
          </a:p>
          <a:p>
            <a:r>
              <a:rPr lang="en-US" sz="1200" dirty="0" smtClean="0"/>
              <a:t>Eg8c - DomgetAttri.html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42</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r>
              <a:rPr lang="en-US" dirty="0" smtClean="0">
                <a:hlinkClick r:id="rId3"/>
              </a:rPr>
              <a:t>http://www.w3schools.com/jquery/tryit.asp?filename=tryjquery_dom_html_set</a:t>
            </a:r>
            <a:r>
              <a:rPr lang="en-US" dirty="0" smtClean="0"/>
              <a:t> </a:t>
            </a:r>
            <a:r>
              <a:rPr lang="en-US" sz="1200" dirty="0" smtClean="0"/>
              <a:t>Or</a:t>
            </a:r>
          </a:p>
          <a:p>
            <a:r>
              <a:rPr lang="en-US" sz="1200" dirty="0" smtClean="0"/>
              <a:t>Eg9a - DomSet.html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43</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hlinkClick r:id="rId3"/>
              </a:rPr>
              <a:t>http://www.w3schools.com/jquery/tryit.asp?filename=tryjquery_dom_html_callback</a:t>
            </a:r>
            <a:r>
              <a:rPr lang="en-US" dirty="0" smtClean="0"/>
              <a:t> </a:t>
            </a:r>
            <a:r>
              <a:rPr lang="en-US" sz="1200" dirty="0" smtClean="0"/>
              <a:t>Or</a:t>
            </a:r>
          </a:p>
          <a:p>
            <a:r>
              <a:rPr lang="en-US" sz="1200" dirty="0" smtClean="0"/>
              <a:t>Eg9b - </a:t>
            </a:r>
            <a:r>
              <a:rPr lang="en-US" sz="1200" dirty="0" err="1" smtClean="0"/>
              <a:t>DomSet</a:t>
            </a:r>
            <a:r>
              <a:rPr lang="en-US" sz="1200" dirty="0" smtClean="0"/>
              <a:t> Callback.html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44</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hlinkClick r:id="rId3"/>
              </a:rPr>
              <a:t>http://www.w3schools.com/jquery/tryit.asp?filename=tryjquery_dom_attr_set</a:t>
            </a:r>
            <a:r>
              <a:rPr lang="en-US" sz="1200" dirty="0" smtClean="0"/>
              <a:t>Or</a:t>
            </a:r>
          </a:p>
          <a:p>
            <a:r>
              <a:rPr lang="en-US" sz="1200" dirty="0" smtClean="0"/>
              <a:t>Eg9c - DomSetAttr.html</a:t>
            </a:r>
          </a:p>
        </p:txBody>
      </p:sp>
      <p:sp>
        <p:nvSpPr>
          <p:cNvPr id="4" name="Slide Number Placeholder 3"/>
          <p:cNvSpPr>
            <a:spLocks noGrp="1"/>
          </p:cNvSpPr>
          <p:nvPr>
            <p:ph type="sldNum" sz="quarter" idx="10"/>
          </p:nvPr>
        </p:nvSpPr>
        <p:spPr/>
        <p:txBody>
          <a:bodyPr/>
          <a:lstStyle/>
          <a:p>
            <a:fld id="{833B95CB-9792-46B1-8B63-E325EA9DE95B}" type="slidenum">
              <a:rPr lang="en-US" smtClean="0"/>
              <a:pPr/>
              <a:t>45</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r>
              <a:rPr lang="en-US" dirty="0" smtClean="0">
                <a:hlinkClick r:id="rId3"/>
              </a:rPr>
              <a:t>http://www.w3schools.com/jquery/tryit.asp?filename=tryjquery_html_after</a:t>
            </a:r>
            <a:r>
              <a:rPr lang="en-US" dirty="0" smtClean="0"/>
              <a:t>   or</a:t>
            </a:r>
            <a:endParaRPr lang="en-US" sz="1200" dirty="0" smtClean="0"/>
          </a:p>
          <a:p>
            <a:r>
              <a:rPr lang="en-US" sz="1200" dirty="0" smtClean="0"/>
              <a:t>Eg9d - </a:t>
            </a:r>
            <a:r>
              <a:rPr lang="en-US" sz="1200" dirty="0" err="1" smtClean="0"/>
              <a:t>DomInsert</a:t>
            </a:r>
            <a:r>
              <a:rPr lang="en-US" sz="1200" dirty="0" smtClean="0"/>
              <a:t>- BeforeAfter.html</a:t>
            </a:r>
          </a:p>
          <a:p>
            <a:endParaRPr lang="en-US" sz="1200" dirty="0" smtClean="0"/>
          </a:p>
          <a:p>
            <a:r>
              <a:rPr lang="en-US" dirty="0" smtClean="0">
                <a:hlinkClick r:id="rId4"/>
              </a:rPr>
              <a:t>http://www.w3schools.com/jquery/tryit.asp?filename=tryjquery_dom_remove</a:t>
            </a:r>
            <a:r>
              <a:rPr lang="en-US" dirty="0" smtClean="0"/>
              <a:t>  or</a:t>
            </a:r>
          </a:p>
          <a:p>
            <a:r>
              <a:rPr lang="en-US" sz="1200" dirty="0" smtClean="0"/>
              <a:t>Eg9e - DomRemove.html</a:t>
            </a:r>
          </a:p>
          <a:p>
            <a:endParaRPr lang="en-US" sz="1200" dirty="0" smtClean="0"/>
          </a:p>
          <a:p>
            <a:r>
              <a:rPr lang="en-US" smtClean="0">
                <a:hlinkClick r:id="rId5"/>
              </a:rPr>
              <a:t>http://www.w3schools.com/jquery/tryit.asp?filename=tryjquery_dom_empty</a:t>
            </a:r>
            <a:r>
              <a:rPr lang="en-US" smtClean="0"/>
              <a:t>  or</a:t>
            </a:r>
          </a:p>
          <a:p>
            <a:endParaRPr lang="en-US" sz="1200" smtClean="0"/>
          </a:p>
          <a:p>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46</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a:t>
            </a:r>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47</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err="1" smtClean="0"/>
              <a:t>addClass</a:t>
            </a:r>
            <a:r>
              <a:rPr lang="en-US" sz="1200" dirty="0" smtClean="0"/>
              <a:t>()</a:t>
            </a:r>
            <a:endParaRPr lang="en-US" dirty="0" smtClean="0"/>
          </a:p>
          <a:p>
            <a:r>
              <a:rPr lang="en-US" dirty="0" smtClean="0"/>
              <a:t>Eg10 - DomAddClass.html</a:t>
            </a:r>
          </a:p>
          <a:p>
            <a:endParaRPr lang="en-US" dirty="0" smtClean="0"/>
          </a:p>
          <a:p>
            <a:r>
              <a:rPr lang="en-US" sz="1200" dirty="0" err="1" smtClean="0"/>
              <a:t>toggleClass</a:t>
            </a:r>
            <a:r>
              <a:rPr lang="en-US" sz="1200" dirty="0" smtClean="0"/>
              <a:t>() </a:t>
            </a:r>
            <a:endParaRPr lang="en-US" dirty="0" smtClean="0"/>
          </a:p>
          <a:p>
            <a:r>
              <a:rPr lang="en-US" dirty="0" smtClean="0"/>
              <a:t> Eg10b- DomToggleClass.html or</a:t>
            </a:r>
          </a:p>
          <a:p>
            <a:r>
              <a:rPr lang="en-US" dirty="0" smtClean="0">
                <a:hlinkClick r:id="rId3"/>
              </a:rPr>
              <a:t>http://w3schools.com/jquery/tryit.asp?filename=tryjquery_dom_toggleclass</a:t>
            </a:r>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48</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49</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Set CSS Property </a:t>
            </a:r>
            <a:r>
              <a:rPr lang="en-US" sz="1200" dirty="0" err="1" smtClean="0"/>
              <a:t>Eg</a:t>
            </a:r>
            <a:r>
              <a:rPr lang="en-US" sz="1200" dirty="0" smtClean="0"/>
              <a:t>:</a:t>
            </a:r>
          </a:p>
          <a:p>
            <a:endParaRPr lang="en-US" dirty="0" smtClean="0"/>
          </a:p>
          <a:p>
            <a:r>
              <a:rPr lang="en-US" dirty="0" smtClean="0"/>
              <a:t>Eg10d – DomSetCSS.html</a:t>
            </a:r>
          </a:p>
          <a:p>
            <a:r>
              <a:rPr lang="en-US" dirty="0" smtClean="0">
                <a:hlinkClick r:id="rId3"/>
              </a:rPr>
              <a:t>http://w3schools.com/jquery/tryit.asp?filename=tryjquery_css_setcolor</a:t>
            </a:r>
            <a:r>
              <a:rPr lang="en-US" dirty="0" smtClean="0"/>
              <a:t>.html</a:t>
            </a:r>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50</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 </a:t>
            </a:r>
          </a:p>
        </p:txBody>
      </p:sp>
      <p:sp>
        <p:nvSpPr>
          <p:cNvPr id="4" name="Slide Number Placeholder 3"/>
          <p:cNvSpPr>
            <a:spLocks noGrp="1"/>
          </p:cNvSpPr>
          <p:nvPr>
            <p:ph type="sldNum" sz="quarter" idx="10"/>
          </p:nvPr>
        </p:nvSpPr>
        <p:spPr/>
        <p:txBody>
          <a:bodyPr/>
          <a:lstStyle/>
          <a:p>
            <a:fld id="{833B95CB-9792-46B1-8B63-E325EA9DE95B}" type="slidenum">
              <a:rPr lang="en-US" smtClean="0"/>
              <a:pPr/>
              <a:t>51</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 </a:t>
            </a:r>
          </a:p>
        </p:txBody>
      </p:sp>
      <p:sp>
        <p:nvSpPr>
          <p:cNvPr id="4" name="Slide Number Placeholder 3"/>
          <p:cNvSpPr>
            <a:spLocks noGrp="1"/>
          </p:cNvSpPr>
          <p:nvPr>
            <p:ph type="sldNum" sz="quarter" idx="10"/>
          </p:nvPr>
        </p:nvSpPr>
        <p:spPr/>
        <p:txBody>
          <a:bodyPr/>
          <a:lstStyle/>
          <a:p>
            <a:fld id="{833B95CB-9792-46B1-8B63-E325EA9DE95B}" type="slidenum">
              <a:rPr lang="en-US" smtClean="0"/>
              <a:pPr/>
              <a:t>52</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 DEMO : Eg11 - WidthHeight.html or</a:t>
            </a:r>
          </a:p>
          <a:p>
            <a:r>
              <a:rPr lang="en-US" dirty="0" smtClean="0">
                <a:hlinkClick r:id="rId3"/>
              </a:rPr>
              <a:t>http://w3schools.com/jquery/jquery_dimensions.asp</a:t>
            </a:r>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53</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smtClean="0"/>
              <a:t> For more references: </a:t>
            </a:r>
            <a:r>
              <a:rPr lang="en-US" dirty="0" smtClean="0">
                <a:hlinkClick r:id="rId3"/>
              </a:rPr>
              <a:t>http://w3schools.com/jquery</a:t>
            </a:r>
            <a:endParaRPr lang="en-US" sz="1200" dirty="0" smtClean="0"/>
          </a:p>
        </p:txBody>
      </p:sp>
      <p:sp>
        <p:nvSpPr>
          <p:cNvPr id="4" name="Slide Number Placeholder 3"/>
          <p:cNvSpPr>
            <a:spLocks noGrp="1"/>
          </p:cNvSpPr>
          <p:nvPr>
            <p:ph type="sldNum" sz="quarter" idx="10"/>
          </p:nvPr>
        </p:nvSpPr>
        <p:spPr/>
        <p:txBody>
          <a:bodyPr/>
          <a:lstStyle/>
          <a:p>
            <a:fld id="{833B95CB-9792-46B1-8B63-E325EA9DE95B}" type="slidenum">
              <a:rPr lang="en-US" smtClean="0"/>
              <a:pPr/>
              <a:t>54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gif"/><Relationship Id="rId4"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85800" y="2130425"/>
            <a:ext cx="7467600" cy="1755775"/>
          </a:xfrm>
        </p:spPr>
        <p:txBody>
          <a:bodyPr>
            <a:noAutofit/>
          </a:bodyPr>
          <a:lstStyle>
            <a:lvl1pPr>
              <a:defRPr sz="6000"/>
            </a:lvl1pPr>
          </a:lstStyle>
          <a:p>
            <a:r>
              <a:rPr lang="en-US" dirty="0" smtClean="0"/>
              <a:t>Click to edit Master title style</a:t>
            </a:r>
            <a:endParaRPr lang="en-US" dirty="0"/>
          </a:p>
        </p:txBody>
      </p:sp>
      <p:sp>
        <p:nvSpPr>
          <p:cNvPr id="3" name="Subtitle 2"/>
          <p:cNvSpPr>
            <a:spLocks noGrp="1"/>
          </p:cNvSpPr>
          <p:nvPr>
            <p:ph type="subTitle" idx="1"/>
          </p:nvPr>
        </p:nvSpPr>
        <p:spPr>
          <a:xfrm>
            <a:off x="685800" y="3886200"/>
            <a:ext cx="74676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851360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28811595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143000" y="274638"/>
            <a:ext cx="7467600" cy="944562"/>
          </a:xfrm>
        </p:spPr>
        <p:txBody>
          <a:bodyPr/>
          <a:lstStyle/>
          <a:p>
            <a:r>
              <a:rPr lang="en-US" smtClean="0"/>
              <a:t>Click to edit Master title style</a:t>
            </a:r>
            <a:endParaRPr lang="en-US"/>
          </a:p>
        </p:txBody>
      </p:sp>
      <p:sp>
        <p:nvSpPr>
          <p:cNvPr id="3" name="Content Placeholder 2"/>
          <p:cNvSpPr>
            <a:spLocks noGrp="1"/>
          </p:cNvSpPr>
          <p:nvPr>
            <p:ph idx="1"/>
          </p:nvPr>
        </p:nvSpPr>
        <p:spPr>
          <a:xfrm>
            <a:off x="1143000" y="1295400"/>
            <a:ext cx="74676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575870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2_Title and Content">
    <p:spTree>
      <p:nvGrpSpPr>
        <p:cNvPr id="1" name=""/>
        <p:cNvGrpSpPr/>
        <p:nvPr/>
      </p:nvGrpSpPr>
      <p:grpSpPr>
        <a:xfrm>
          <a:off x="0" y="0"/>
          <a:ext cx="0" cy="0"/>
          <a:chOff x="0" y="0"/>
          <a:chExt cx="0" cy="0"/>
        </a:xfrm>
      </p:grpSpPr>
      <p:pic>
        <p:nvPicPr>
          <p:cNvPr id="16"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219200" y="274638"/>
            <a:ext cx="7620000" cy="944562"/>
          </a:xfrm>
        </p:spPr>
        <p:txBody>
          <a:bodyPr/>
          <a:lstStyle/>
          <a:p>
            <a:r>
              <a:rPr lang="en-US" smtClean="0"/>
              <a:t>Click to edit Master title style</a:t>
            </a:r>
            <a:endParaRPr lang="en-US"/>
          </a:p>
        </p:txBody>
      </p:sp>
      <p:sp>
        <p:nvSpPr>
          <p:cNvPr id="3" name="Content Placeholder 2"/>
          <p:cNvSpPr>
            <a:spLocks noGrp="1"/>
          </p:cNvSpPr>
          <p:nvPr>
            <p:ph idx="1"/>
          </p:nvPr>
        </p:nvSpPr>
        <p:spPr>
          <a:xfrm>
            <a:off x="1219200" y="1295400"/>
            <a:ext cx="76200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57882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3_Title and Content">
    <p:spTree>
      <p:nvGrpSpPr>
        <p:cNvPr id="1" name=""/>
        <p:cNvGrpSpPr/>
        <p:nvPr/>
      </p:nvGrpSpPr>
      <p:grpSpPr>
        <a:xfrm>
          <a:off x="0" y="0"/>
          <a:ext cx="0" cy="0"/>
          <a:chOff x="0" y="0"/>
          <a:chExt cx="0" cy="0"/>
        </a:xfrm>
      </p:grpSpPr>
      <p:grpSp>
        <p:nvGrpSpPr>
          <p:cNvPr id="25" name="Group 24"/>
          <p:cNvGrpSpPr/>
          <p:nvPr userDrawn="1"/>
        </p:nvGrpSpPr>
        <p:grpSpPr>
          <a:xfrm>
            <a:off x="0" y="887"/>
            <a:ext cx="9324528" cy="7100521"/>
            <a:chOff x="0" y="887"/>
            <a:chExt cx="9324528" cy="7100521"/>
          </a:xfrm>
        </p:grpSpPr>
        <p:pic>
          <p:nvPicPr>
            <p:cNvPr id="1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p:cNvPicPr>
              <a:picLocks noChangeAspect="1"/>
            </p:cNvPicPr>
            <p:nvPr userDrawn="1"/>
          </p:nvPicPr>
          <p:blipFill>
            <a:blip r:embed="rId4" cstate="print">
              <a:clrChange>
                <a:clrFrom>
                  <a:srgbClr val="FFFFFD"/>
                </a:clrFrom>
                <a:clrTo>
                  <a:srgbClr val="FFFFFD">
                    <a:alpha val="0"/>
                  </a:srgbClr>
                </a:clrTo>
              </a:clrChange>
              <a:extLst>
                <a:ext uri="{28A0092B-C50C-407E-A947-70E740481C1C}">
                  <a14:useLocalDpi xmlns:a14="http://schemas.microsoft.com/office/drawing/2010/main" val="0"/>
                </a:ext>
              </a:extLst>
            </a:blip>
            <a:stretch>
              <a:fillRect/>
            </a:stretch>
          </p:blipFill>
          <p:spPr>
            <a:xfrm>
              <a:off x="7086600" y="6282570"/>
              <a:ext cx="900611" cy="386790"/>
            </a:xfrm>
            <a:prstGeom prst="rect">
              <a:avLst/>
            </a:prstGeom>
          </p:spPr>
        </p:pic>
        <p:pic>
          <p:nvPicPr>
            <p:cNvPr id="23" name="Picture 2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219200" y="6332899"/>
              <a:ext cx="1428811" cy="286132"/>
            </a:xfrm>
            <a:prstGeom prst="rect">
              <a:avLst/>
            </a:prstGeom>
          </p:spPr>
        </p:pic>
        <p:pic>
          <p:nvPicPr>
            <p:cNvPr id="24" name="Picture 23"/>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495800" y="1493963"/>
              <a:ext cx="4572000" cy="5059237"/>
            </a:xfrm>
            <a:prstGeom prst="rect">
              <a:avLst/>
            </a:prstGeom>
          </p:spPr>
        </p:pic>
      </p:grpSp>
      <p:sp>
        <p:nvSpPr>
          <p:cNvPr id="2" name="Title 1"/>
          <p:cNvSpPr>
            <a:spLocks noGrp="1"/>
          </p:cNvSpPr>
          <p:nvPr>
            <p:ph type="title"/>
          </p:nvPr>
        </p:nvSpPr>
        <p:spPr>
          <a:xfrm>
            <a:off x="1295400" y="274638"/>
            <a:ext cx="7696200" cy="944562"/>
          </a:xfrm>
        </p:spPr>
        <p:txBody>
          <a:bodyPr/>
          <a:lstStyle>
            <a:lvl1pPr>
              <a:defRPr>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1295400" y="1295400"/>
            <a:ext cx="7696200" cy="4876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811265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066799" y="4406900"/>
            <a:ext cx="7315201"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1066799" y="2906713"/>
            <a:ext cx="73152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38442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34" descr="Untitled-6"/>
          <p:cNvPicPr>
            <a:picLocks noChangeAspect="1" noChangeArrowheads="1"/>
          </p:cNvPicPr>
          <p:nvPr userDrawn="1"/>
        </p:nvPicPr>
        <p:blipFill>
          <a:blip r:embed="rId2" cstate="print">
            <a:biLevel thresh="75000"/>
            <a:extLst>
              <a:ext uri="{BEBA8EAE-BF5A-486C-A8C5-ECC9F3942E4B}">
                <a14:imgProps xmlns:a14="http://schemas.microsoft.com/office/drawing/2010/main">
                  <a14:imgLayer r:embed="rId3">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lvl1pPr>
              <a:defRPr>
                <a:solidFill>
                  <a:schemeClr val="bg1"/>
                </a:solidFill>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990600" y="1295400"/>
            <a:ext cx="35052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295400"/>
            <a:ext cx="3733800" cy="48307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19357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990600" y="1295400"/>
            <a:ext cx="3506788"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90600" y="2133600"/>
            <a:ext cx="3506788"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295400"/>
            <a:ext cx="3736975" cy="762000"/>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33600"/>
            <a:ext cx="3736975" cy="3992563"/>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Slide Number Placeholder 8"/>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322879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4243330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2253367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90600" y="273050"/>
            <a:ext cx="2474913" cy="946150"/>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3575050" y="273050"/>
            <a:ext cx="48069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990600" y="1295400"/>
            <a:ext cx="2474913" cy="4830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833701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Slide Number Placeholder 6"/>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3666753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1308759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2"/>
          </p:nvPr>
        </p:nvSpPr>
        <p:spPr/>
        <p:txBody>
          <a:bodyPr/>
          <a:lstStyle/>
          <a:p>
            <a:fld id="{A6724466-CF14-4098-A57E-6BA1C4EB8FEB}" type="slidenum">
              <a:rPr lang="en-US" smtClean="0"/>
              <a:pPr/>
              <a:t>‹#›</a:t>
            </a:fld>
            <a:endParaRPr lang="en-US"/>
          </a:p>
        </p:txBody>
      </p:sp>
    </p:spTree>
    <p:extLst>
      <p:ext uri="{BB962C8B-B14F-4D97-AF65-F5344CB8AC3E}">
        <p14:creationId xmlns:p14="http://schemas.microsoft.com/office/powerpoint/2010/main" val="4282029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17" name="Picture 34" descr="Untitled-6"/>
          <p:cNvPicPr>
            <a:picLocks noChangeAspect="1" noChangeArrowheads="1"/>
          </p:cNvPicPr>
          <p:nvPr userDrawn="1"/>
        </p:nvPicPr>
        <p:blipFill>
          <a:blip r:embed="rId16" cstate="print">
            <a:biLevel thresh="75000"/>
            <a:extLst>
              <a:ext uri="{BEBA8EAE-BF5A-486C-A8C5-ECC9F3942E4B}">
                <a14:imgProps xmlns:a14="http://schemas.microsoft.com/office/drawing/2010/main">
                  <a14:imgLayer r:embed="rId17">
                    <a14:imgEffect>
                      <a14:sharpenSoften amount="50000"/>
                    </a14:imgEffect>
                    <a14:imgEffect>
                      <a14:saturation sat="62000"/>
                    </a14:imgEffect>
                  </a14:imgLayer>
                </a14:imgProps>
              </a:ext>
              <a:ext uri="{28A0092B-C50C-407E-A947-70E740481C1C}">
                <a14:useLocalDpi xmlns:a14="http://schemas.microsoft.com/office/drawing/2010/main" val="0"/>
              </a:ext>
            </a:extLst>
          </a:blip>
          <a:srcRect/>
          <a:stretch>
            <a:fillRect/>
          </a:stretch>
        </p:blipFill>
        <p:spPr bwMode="auto">
          <a:xfrm>
            <a:off x="0" y="887"/>
            <a:ext cx="9324528" cy="710052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86620" y="274638"/>
            <a:ext cx="7395380" cy="94456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986620" y="1295400"/>
            <a:ext cx="7395380" cy="48768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3124200" y="6356351"/>
            <a:ext cx="2895600" cy="313010"/>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IT1322 2012 S1</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724466-CF14-4098-A57E-6BA1C4EB8FEB}" type="slidenum">
              <a:rPr lang="en-US" smtClean="0"/>
              <a:pPr/>
              <a:t>‹#›</a:t>
            </a:fld>
            <a:endParaRPr lang="en-US"/>
          </a:p>
        </p:txBody>
      </p:sp>
    </p:spTree>
    <p:extLst>
      <p:ext uri="{BB962C8B-B14F-4D97-AF65-F5344CB8AC3E}">
        <p14:creationId xmlns:p14="http://schemas.microsoft.com/office/powerpoint/2010/main" val="3084382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62"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timing>
    <p:tnLst>
      <p:par>
        <p:cTn id="1" dur="indefinite" restart="never" nodeType="tmRoot"/>
      </p:par>
    </p:tnLst>
  </p:timing>
  <p:hf hdr="0" dt="0"/>
  <p:txStyles>
    <p:titleStyle>
      <a:lvl1pPr algn="l" defTabSz="914400" rtl="0" eaLnBrk="1" latinLnBrk="0" hangingPunct="1">
        <a:spcBef>
          <a:spcPct val="0"/>
        </a:spcBef>
        <a:buNone/>
        <a:defRPr sz="4400" b="1" kern="120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SzPct val="70000"/>
        <a:buFont typeface="Wingdings" pitchFamily="2" charset="2"/>
        <a:buChar char=""/>
        <a:defRPr sz="2800" kern="1200">
          <a:solidFill>
            <a:schemeClr val="tx1"/>
          </a:solidFill>
          <a:latin typeface="+mn-lt"/>
          <a:ea typeface="+mn-ea"/>
          <a:cs typeface="+mn-cs"/>
        </a:defRPr>
      </a:lvl1pPr>
      <a:lvl2pPr marL="742950" indent="-285750" algn="l" defTabSz="914400" rtl="0" eaLnBrk="1" latinLnBrk="0" hangingPunct="1">
        <a:spcBef>
          <a:spcPct val="20000"/>
        </a:spcBef>
        <a:buClr>
          <a:schemeClr val="accent2"/>
        </a:buClr>
        <a:buSzPct val="80000"/>
        <a:buFont typeface="Wingdings" pitchFamily="2" charset="2"/>
        <a:buChar char="v"/>
        <a:defRPr sz="2400" kern="1200">
          <a:solidFill>
            <a:schemeClr val="tx1"/>
          </a:solidFill>
          <a:latin typeface="+mn-lt"/>
          <a:ea typeface="+mn-ea"/>
          <a:cs typeface="+mn-cs"/>
        </a:defRPr>
      </a:lvl2pPr>
      <a:lvl3pPr marL="1143000" indent="-228600" algn="l" defTabSz="914400" rtl="0" eaLnBrk="1" latinLnBrk="0" hangingPunct="1">
        <a:spcBef>
          <a:spcPct val="20000"/>
        </a:spcBef>
        <a:buClr>
          <a:schemeClr val="accent3"/>
        </a:buClr>
        <a:buFont typeface="Calibri"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buClr>
        <a:buFont typeface="Wingdings" pitchFamily="2" charset="2"/>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accent5"/>
        </a:buClr>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w3schools.com/cssref/css_selectors.asp"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w3schools.com/jquery/tryit.asp?filename=tryjquery_hide_p"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w3schools.com/jquery/tryit.asp?filename=tryjquery_hide_id"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ww.w3schools.com/jquery/tryit.asp?filename=tryjquery_hide_clas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w3schools.com/jquery/tryit.asp?filename=tryjquery_click"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w3schools.com/jquery/tryit.asp?filename=tryjquery_mouseenter"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ww.w3schools.com/jquery/tryit.asp?filename=tryjquery_mouseleave"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w3schools.com/jquery/tryit.asp?filename=tryjquery_hover"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w3schools.com/jquery/tryit.asp?filename=tryjquery_focus_blur"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ww.w3schools.com/jquery/tryit.asp?filename=tryjquery_focus_blur"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hyperlink" Target="http://www.w3schools.com/jquery/jquery_ref_events.asp"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www.w3schools.com/jquery/tryit.asp?filename=tryjquery_hide_show"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www.w3schools.com/jquery/tryit.asp?filename=tryjquery_hide_slow"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w3schools.com/jquery/tryit.asp?filename=tryjquery_toggle"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www.w3schools.com/jquery/tryit.asp?filename=tryjquery_fadein"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www.w3schools.com/jquery/tryit.asp?filename=tryjquery_fadeout"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www.w3schools.com/jquery/tryit.asp?filename=tryjquery_fadetoggle"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www.w3schools.com/jquery/tryit.asp?filename=tryjquery_slide_down"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hyperlink" Target="http://www.w3schools.com/jquery/tryit.asp?filename=tryjquery_slide_toggle" TargetMode="External"/><Relationship Id="rId4" Type="http://schemas.openxmlformats.org/officeDocument/2006/relationships/hyperlink" Target="http://www.w3schools.com/jquery/tryit.asp?filename=tryjquery_slide_up"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www.w3schools.com/jquery/tryit.asp?filename=tryjquery_slide_down"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w3schools.com/jquery/jquery_ref_selectors.asp"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hyperlink" Target="http://w3schools.com/jquery/jquery_ref_html.asp" TargetMode="External"/><Relationship Id="rId5" Type="http://schemas.openxmlformats.org/officeDocument/2006/relationships/hyperlink" Target="http://w3schools.com/jquery/jquery_ref_effects.asp" TargetMode="External"/><Relationship Id="rId4" Type="http://schemas.openxmlformats.org/officeDocument/2006/relationships/hyperlink" Target="http://w3schools.com/jquery/jquery_ref_events.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t>IT1322 – Principles of Web Usability Design</a:t>
            </a:r>
            <a:endParaRPr lang="en-US" sz="4800" dirty="0"/>
          </a:p>
        </p:txBody>
      </p:sp>
      <p:sp>
        <p:nvSpPr>
          <p:cNvPr id="3" name="Subtitle 2"/>
          <p:cNvSpPr>
            <a:spLocks noGrp="1"/>
          </p:cNvSpPr>
          <p:nvPr>
            <p:ph type="subTitle" idx="1"/>
          </p:nvPr>
        </p:nvSpPr>
        <p:spPr>
          <a:xfrm>
            <a:off x="685800" y="1828800"/>
            <a:ext cx="7239000" cy="3810000"/>
          </a:xfrm>
        </p:spPr>
        <p:txBody>
          <a:bodyPr>
            <a:normAutofit fontScale="85000" lnSpcReduction="20000"/>
          </a:bodyPr>
          <a:lstStyle/>
          <a:p>
            <a:r>
              <a:rPr lang="en-US" dirty="0" smtClean="0"/>
              <a:t>Query is a lightweight, "write less, do more", JavaScript library.</a:t>
            </a:r>
          </a:p>
          <a:p>
            <a:endParaRPr lang="en-US" dirty="0" smtClean="0"/>
          </a:p>
          <a:p>
            <a:r>
              <a:rPr lang="en-US" dirty="0" err="1" smtClean="0"/>
              <a:t>jQuery</a:t>
            </a:r>
            <a:r>
              <a:rPr lang="en-US" dirty="0" smtClean="0"/>
              <a:t> is to make it much easier to use JavaScript on your website.</a:t>
            </a:r>
          </a:p>
          <a:p>
            <a:r>
              <a:rPr lang="en-US" dirty="0" err="1" smtClean="0"/>
              <a:t>jQuery</a:t>
            </a:r>
            <a:r>
              <a:rPr lang="en-US" dirty="0" smtClean="0"/>
              <a:t> takes a lot of common tasks that require many lines of JavaScript code to accomplish, and wraps them into methods that you can call with a single line of code.</a:t>
            </a:r>
          </a:p>
          <a:p>
            <a:endParaRPr lang="en-US" dirty="0" smtClean="0"/>
          </a:p>
          <a:p>
            <a:r>
              <a:rPr lang="en-US" dirty="0" err="1" smtClean="0"/>
              <a:t>JQuery</a:t>
            </a:r>
            <a:r>
              <a:rPr lang="en-US" dirty="0" smtClean="0"/>
              <a:t> also simplifies a lot of the complicated things from JavaScript, like AJAX calls and DOM manipulation.</a:t>
            </a:r>
          </a:p>
          <a:p>
            <a:endParaRPr lang="en-US" dirty="0" smtClean="0"/>
          </a:p>
          <a:p>
            <a:endParaRPr lang="en-US" dirty="0"/>
          </a:p>
        </p:txBody>
      </p:sp>
      <p:sp>
        <p:nvSpPr>
          <p:cNvPr id="4" name="Title 1"/>
          <p:cNvSpPr txBox="1">
            <a:spLocks/>
          </p:cNvSpPr>
          <p:nvPr/>
        </p:nvSpPr>
        <p:spPr>
          <a:xfrm>
            <a:off x="986620" y="274638"/>
            <a:ext cx="7395380" cy="944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6000" b="1" kern="1200">
                <a:solidFill>
                  <a:schemeClr val="bg1"/>
                </a:solidFill>
                <a:latin typeface="+mj-lt"/>
                <a:ea typeface="+mj-ea"/>
                <a:cs typeface="+mj-cs"/>
              </a:defRPr>
            </a:lvl1pPr>
          </a:lstStyle>
          <a:p>
            <a:r>
              <a:rPr lang="en-US" sz="3600" dirty="0" err="1" smtClean="0"/>
              <a:t>Jquery</a:t>
            </a:r>
            <a:r>
              <a:rPr lang="en-US" sz="3600" dirty="0" smtClean="0"/>
              <a:t> Introduced</a:t>
            </a:r>
            <a:endParaRPr lang="en-US" sz="3600" dirty="0"/>
          </a:p>
        </p:txBody>
      </p:sp>
      <p:sp>
        <p:nvSpPr>
          <p:cNvPr id="6" name="5-Point Star 5"/>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0801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smtClean="0"/>
              <a:t>IT1322 – Principles of Web Usability Design</a:t>
            </a:r>
            <a:endParaRPr lang="en-US" sz="4800" dirty="0"/>
          </a:p>
        </p:txBody>
      </p:sp>
      <p:sp>
        <p:nvSpPr>
          <p:cNvPr id="3" name="Subtitle 2"/>
          <p:cNvSpPr>
            <a:spLocks noGrp="1"/>
          </p:cNvSpPr>
          <p:nvPr>
            <p:ph type="subTitle" idx="1"/>
          </p:nvPr>
        </p:nvSpPr>
        <p:spPr>
          <a:xfrm>
            <a:off x="838200" y="2133600"/>
            <a:ext cx="7620000" cy="3505200"/>
          </a:xfrm>
        </p:spPr>
        <p:txBody>
          <a:bodyPr>
            <a:normAutofit lnSpcReduction="10000"/>
          </a:bodyPr>
          <a:lstStyle/>
          <a:p>
            <a:r>
              <a:rPr lang="en-US" dirty="0" smtClean="0"/>
              <a:t>The </a:t>
            </a:r>
            <a:r>
              <a:rPr lang="en-US" dirty="0" err="1" smtClean="0"/>
              <a:t>jQuery</a:t>
            </a:r>
            <a:r>
              <a:rPr lang="en-US" dirty="0" smtClean="0"/>
              <a:t> library contains the following features:</a:t>
            </a:r>
          </a:p>
          <a:p>
            <a:pPr>
              <a:buFont typeface="Arial" pitchFamily="34" charset="0"/>
              <a:buChar char="•"/>
            </a:pPr>
            <a:r>
              <a:rPr lang="en-US" dirty="0" smtClean="0"/>
              <a:t>HTML/DOM manipulation</a:t>
            </a:r>
          </a:p>
          <a:p>
            <a:pPr>
              <a:buFont typeface="Arial" pitchFamily="34" charset="0"/>
              <a:buChar char="•"/>
            </a:pPr>
            <a:r>
              <a:rPr lang="en-US" dirty="0" smtClean="0"/>
              <a:t>CSS manipulation</a:t>
            </a:r>
          </a:p>
          <a:p>
            <a:pPr>
              <a:buFont typeface="Arial" pitchFamily="34" charset="0"/>
              <a:buChar char="•"/>
            </a:pPr>
            <a:r>
              <a:rPr lang="en-US" dirty="0" smtClean="0"/>
              <a:t>HTML event methods</a:t>
            </a:r>
          </a:p>
          <a:p>
            <a:pPr>
              <a:buFont typeface="Arial" pitchFamily="34" charset="0"/>
              <a:buChar char="•"/>
            </a:pPr>
            <a:r>
              <a:rPr lang="en-US" dirty="0" smtClean="0"/>
              <a:t>Effects and animations</a:t>
            </a:r>
          </a:p>
          <a:p>
            <a:pPr>
              <a:buFont typeface="Arial" pitchFamily="34" charset="0"/>
              <a:buChar char="•"/>
            </a:pPr>
            <a:r>
              <a:rPr lang="en-US" dirty="0" smtClean="0"/>
              <a:t>AJAX</a:t>
            </a:r>
          </a:p>
          <a:p>
            <a:pPr>
              <a:buFont typeface="Arial" pitchFamily="34" charset="0"/>
              <a:buChar char="•"/>
            </a:pPr>
            <a:r>
              <a:rPr lang="en-US" dirty="0" smtClean="0"/>
              <a:t>Utilities</a:t>
            </a:r>
          </a:p>
        </p:txBody>
      </p:sp>
      <p:sp>
        <p:nvSpPr>
          <p:cNvPr id="4" name="Title 1"/>
          <p:cNvSpPr txBox="1">
            <a:spLocks/>
          </p:cNvSpPr>
          <p:nvPr/>
        </p:nvSpPr>
        <p:spPr>
          <a:xfrm>
            <a:off x="986620" y="274638"/>
            <a:ext cx="7395380" cy="9445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6000" b="1" kern="1200">
                <a:solidFill>
                  <a:schemeClr val="bg1"/>
                </a:solidFill>
                <a:latin typeface="+mj-lt"/>
                <a:ea typeface="+mj-ea"/>
                <a:cs typeface="+mj-cs"/>
              </a:defRPr>
            </a:lvl1pPr>
          </a:lstStyle>
          <a:p>
            <a:r>
              <a:rPr lang="en-US" sz="3600" dirty="0" err="1" smtClean="0"/>
              <a:t>Jquery</a:t>
            </a:r>
            <a:r>
              <a:rPr lang="en-US" sz="3600" dirty="0" smtClean="0"/>
              <a:t> Features</a:t>
            </a:r>
            <a:endParaRPr lang="en-US" sz="3600" dirty="0"/>
          </a:p>
        </p:txBody>
      </p:sp>
      <p:sp>
        <p:nvSpPr>
          <p:cNvPr id="6" name="5-Point Star 5"/>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80696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Installing </a:t>
            </a:r>
            <a:r>
              <a:rPr lang="en-US" sz="3600" dirty="0" err="1" smtClean="0"/>
              <a:t>Jquery</a:t>
            </a:r>
            <a:endParaRPr lang="en-US" sz="3600" dirty="0"/>
          </a:p>
        </p:txBody>
      </p:sp>
      <p:sp>
        <p:nvSpPr>
          <p:cNvPr id="3" name="Content Placeholder 2"/>
          <p:cNvSpPr>
            <a:spLocks noGrp="1"/>
          </p:cNvSpPr>
          <p:nvPr>
            <p:ph idx="1"/>
          </p:nvPr>
        </p:nvSpPr>
        <p:spPr>
          <a:xfrm>
            <a:off x="1000474" y="1828800"/>
            <a:ext cx="7395380" cy="2667000"/>
          </a:xfrm>
        </p:spPr>
        <p:txBody>
          <a:bodyPr>
            <a:noAutofit/>
          </a:bodyPr>
          <a:lstStyle/>
          <a:p>
            <a:r>
              <a:rPr lang="en-US" sz="3200" dirty="0" smtClean="0"/>
              <a:t>Adding </a:t>
            </a:r>
            <a:r>
              <a:rPr lang="en-US" sz="3200" dirty="0" err="1" smtClean="0"/>
              <a:t>jQuery</a:t>
            </a:r>
            <a:r>
              <a:rPr lang="en-US" sz="3200" dirty="0" smtClean="0"/>
              <a:t> to Your Web Pages</a:t>
            </a:r>
          </a:p>
          <a:p>
            <a:r>
              <a:rPr lang="en-US" sz="1800" dirty="0" smtClean="0"/>
              <a:t>There are several ways to start using </a:t>
            </a:r>
            <a:r>
              <a:rPr lang="en-US" sz="1800" dirty="0" err="1" smtClean="0"/>
              <a:t>jQuery</a:t>
            </a:r>
            <a:r>
              <a:rPr lang="en-US" sz="1800" dirty="0" smtClean="0"/>
              <a:t> on your web site. You can:</a:t>
            </a:r>
          </a:p>
          <a:p>
            <a:pPr marL="514350" indent="-514350">
              <a:buFont typeface="+mj-lt"/>
              <a:buAutoNum type="arabicPeriod"/>
            </a:pPr>
            <a:r>
              <a:rPr lang="en-US" sz="3200" dirty="0" smtClean="0"/>
              <a:t>Download the </a:t>
            </a:r>
            <a:r>
              <a:rPr lang="en-US" sz="3200" dirty="0" err="1" smtClean="0"/>
              <a:t>jQuery</a:t>
            </a:r>
            <a:r>
              <a:rPr lang="en-US" sz="3200" dirty="0" smtClean="0"/>
              <a:t> library from jQuery.com</a:t>
            </a:r>
          </a:p>
          <a:p>
            <a:pPr marL="514350" indent="-514350">
              <a:buFont typeface="+mj-lt"/>
              <a:buAutoNum type="arabicPeriod"/>
            </a:pPr>
            <a:r>
              <a:rPr lang="en-US" sz="3200" dirty="0" smtClean="0"/>
              <a:t>Include </a:t>
            </a:r>
            <a:r>
              <a:rPr lang="en-US" sz="3200" dirty="0" err="1" smtClean="0"/>
              <a:t>jQuery</a:t>
            </a:r>
            <a:r>
              <a:rPr lang="en-US" sz="3200" dirty="0" smtClean="0"/>
              <a:t> from a CDN, like Google</a:t>
            </a:r>
          </a:p>
          <a:p>
            <a:pPr>
              <a:spcAft>
                <a:spcPts val="1000"/>
              </a:spcAft>
            </a:pPr>
            <a:endParaRPr lang="en-US" sz="32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3</a:t>
            </a:fld>
            <a:endParaRPr lang="en-US"/>
          </a:p>
        </p:txBody>
      </p:sp>
      <p:sp>
        <p:nvSpPr>
          <p:cNvPr id="6" name="5-Point Star 5"/>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Installing </a:t>
            </a:r>
            <a:r>
              <a:rPr lang="en-US" sz="3600" dirty="0" err="1" smtClean="0"/>
              <a:t>Jquery</a:t>
            </a:r>
            <a:endParaRPr lang="en-US" sz="3600" dirty="0"/>
          </a:p>
        </p:txBody>
      </p:sp>
      <p:sp>
        <p:nvSpPr>
          <p:cNvPr id="3" name="Content Placeholder 2"/>
          <p:cNvSpPr>
            <a:spLocks noGrp="1"/>
          </p:cNvSpPr>
          <p:nvPr>
            <p:ph idx="1"/>
          </p:nvPr>
        </p:nvSpPr>
        <p:spPr>
          <a:xfrm>
            <a:off x="1000474" y="1828800"/>
            <a:ext cx="7395380" cy="2667000"/>
          </a:xfrm>
        </p:spPr>
        <p:txBody>
          <a:bodyPr>
            <a:noAutofit/>
          </a:bodyPr>
          <a:lstStyle/>
          <a:p>
            <a:r>
              <a:rPr lang="en-US" sz="2400" dirty="0" smtClean="0"/>
              <a:t> The </a:t>
            </a:r>
            <a:r>
              <a:rPr lang="en-US" sz="2400" dirty="0" err="1" smtClean="0"/>
              <a:t>jQuery</a:t>
            </a:r>
            <a:r>
              <a:rPr lang="en-US" sz="2400" dirty="0" smtClean="0"/>
              <a:t> library is a single JavaScript file, and you reference it with the HTML &lt;script&gt; tag (notice that the &lt;script&gt; tag should be inside the &lt;head&gt; section):</a:t>
            </a:r>
          </a:p>
          <a:p>
            <a:endParaRPr lang="en-US" sz="2400" dirty="0" smtClean="0"/>
          </a:p>
          <a:p>
            <a:endParaRPr lang="en-US" sz="2400" dirty="0" smtClean="0"/>
          </a:p>
          <a:p>
            <a:endParaRPr lang="en-US" sz="2400" dirty="0" smtClean="0"/>
          </a:p>
          <a:p>
            <a:endParaRPr lang="en-US" sz="2400" dirty="0" smtClean="0"/>
          </a:p>
          <a:p>
            <a:r>
              <a:rPr lang="en-US" sz="2400" dirty="0" smtClean="0"/>
              <a:t>Both Production and development versions of the </a:t>
            </a:r>
            <a:r>
              <a:rPr lang="en-US" sz="2400" dirty="0" err="1" smtClean="0"/>
              <a:t>js</a:t>
            </a:r>
            <a:r>
              <a:rPr lang="en-US" sz="2400" dirty="0" smtClean="0"/>
              <a:t> library can be downloaded from jQuery.com</a:t>
            </a:r>
          </a:p>
          <a:p>
            <a:pPr>
              <a:spcAft>
                <a:spcPts val="1000"/>
              </a:spcAft>
            </a:pPr>
            <a:endParaRPr lang="en-US" sz="24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4</a:t>
            </a:fld>
            <a:endParaRPr lang="en-US"/>
          </a:p>
        </p:txBody>
      </p:sp>
      <p:sp>
        <p:nvSpPr>
          <p:cNvPr id="6" name="TextBox 5"/>
          <p:cNvSpPr txBox="1"/>
          <p:nvPr/>
        </p:nvSpPr>
        <p:spPr>
          <a:xfrm>
            <a:off x="1066800" y="3124200"/>
            <a:ext cx="7162800" cy="1384995"/>
          </a:xfrm>
          <a:prstGeom prst="rect">
            <a:avLst/>
          </a:prstGeom>
          <a:solidFill>
            <a:schemeClr val="accent6">
              <a:lumMod val="40000"/>
              <a:lumOff val="60000"/>
            </a:schemeClr>
          </a:solidFill>
        </p:spPr>
        <p:txBody>
          <a:bodyPr wrap="square" rtlCol="0">
            <a:spAutoFit/>
          </a:bodyPr>
          <a:lstStyle/>
          <a:p>
            <a:r>
              <a:rPr lang="en-US" sz="2800" dirty="0" smtClean="0"/>
              <a:t>&lt;head&gt;</a:t>
            </a:r>
            <a:br>
              <a:rPr lang="en-US" sz="2800" dirty="0" smtClean="0"/>
            </a:br>
            <a:r>
              <a:rPr lang="en-US" sz="2800" dirty="0" smtClean="0"/>
              <a:t>&lt;script </a:t>
            </a:r>
            <a:r>
              <a:rPr lang="en-US" sz="2800" dirty="0" err="1" smtClean="0"/>
              <a:t>src</a:t>
            </a:r>
            <a:r>
              <a:rPr lang="en-US" sz="2800" dirty="0" smtClean="0"/>
              <a:t>="jquery-1.10.2.min.js"&gt;&lt;/script&gt;</a:t>
            </a:r>
            <a:br>
              <a:rPr lang="en-US" sz="2800" dirty="0" smtClean="0"/>
            </a:br>
            <a:r>
              <a:rPr lang="en-US" sz="2800" dirty="0" smtClean="0"/>
              <a:t>&lt;/head&gt;</a:t>
            </a:r>
            <a:endParaRPr lang="en-US" sz="2800" dirty="0"/>
          </a:p>
        </p:txBody>
      </p:sp>
      <p:sp>
        <p:nvSpPr>
          <p:cNvPr id="7" name="5-Point Star 6"/>
          <p:cNvSpPr/>
          <p:nvPr/>
        </p:nvSpPr>
        <p:spPr>
          <a:xfrm rot="18984008">
            <a:off x="7945523" y="42041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Installing </a:t>
            </a:r>
            <a:r>
              <a:rPr lang="en-US" sz="3600" dirty="0" err="1" smtClean="0"/>
              <a:t>Jquery</a:t>
            </a:r>
            <a:r>
              <a:rPr lang="en-US" sz="3600" dirty="0" smtClean="0"/>
              <a:t> – </a:t>
            </a:r>
            <a:br>
              <a:rPr lang="en-US" sz="3600" dirty="0" smtClean="0"/>
            </a:br>
            <a:r>
              <a:rPr lang="en-US" sz="3600" dirty="0" smtClean="0"/>
              <a:t> Download and host </a:t>
            </a:r>
            <a:r>
              <a:rPr lang="en-US" sz="3600" dirty="0" err="1" smtClean="0"/>
              <a:t>jQuery</a:t>
            </a:r>
            <a:r>
              <a:rPr lang="en-US" sz="3600" dirty="0" smtClean="0"/>
              <a:t> yourself</a:t>
            </a:r>
            <a:endParaRPr lang="en-US" sz="3600" dirty="0"/>
          </a:p>
        </p:txBody>
      </p:sp>
      <p:sp>
        <p:nvSpPr>
          <p:cNvPr id="3" name="Content Placeholder 2"/>
          <p:cNvSpPr>
            <a:spLocks noGrp="1"/>
          </p:cNvSpPr>
          <p:nvPr>
            <p:ph idx="1"/>
          </p:nvPr>
        </p:nvSpPr>
        <p:spPr>
          <a:xfrm>
            <a:off x="1000474" y="1828800"/>
            <a:ext cx="7395380" cy="2667000"/>
          </a:xfrm>
        </p:spPr>
        <p:txBody>
          <a:bodyPr>
            <a:noAutofit/>
          </a:bodyPr>
          <a:lstStyle/>
          <a:p>
            <a:r>
              <a:rPr lang="en-US" sz="2400" dirty="0" smtClean="0"/>
              <a:t> The </a:t>
            </a:r>
            <a:r>
              <a:rPr lang="en-US" sz="2400" dirty="0" err="1" smtClean="0"/>
              <a:t>jQuery</a:t>
            </a:r>
            <a:r>
              <a:rPr lang="en-US" sz="2400" dirty="0" smtClean="0"/>
              <a:t> library is a single JavaScript file, and you reference it with the HTML &lt;script&gt; tag (notice that the &lt;script&gt; tag should be inside the &lt;head&gt; section):</a:t>
            </a:r>
          </a:p>
          <a:p>
            <a:endParaRPr lang="en-US" sz="2400" dirty="0" smtClean="0"/>
          </a:p>
          <a:p>
            <a:endParaRPr lang="en-US" sz="2400" dirty="0" smtClean="0"/>
          </a:p>
          <a:p>
            <a:endParaRPr lang="en-US" sz="2400" dirty="0" smtClean="0"/>
          </a:p>
          <a:p>
            <a:endParaRPr lang="en-US" sz="2400" dirty="0" smtClean="0"/>
          </a:p>
          <a:p>
            <a:r>
              <a:rPr lang="en-US" sz="2400" dirty="0" smtClean="0"/>
              <a:t>Both Production and development versions of the </a:t>
            </a:r>
            <a:r>
              <a:rPr lang="en-US" sz="2400" dirty="0" err="1" smtClean="0"/>
              <a:t>js</a:t>
            </a:r>
            <a:r>
              <a:rPr lang="en-US" sz="2400" dirty="0" smtClean="0"/>
              <a:t> library can be downloaded from jQuery.com</a:t>
            </a:r>
          </a:p>
          <a:p>
            <a:pPr>
              <a:spcAft>
                <a:spcPts val="1000"/>
              </a:spcAft>
            </a:pPr>
            <a:endParaRPr lang="en-US" sz="2400" dirty="0" smtClean="0"/>
          </a:p>
        </p:txBody>
      </p:sp>
      <p:sp>
        <p:nvSpPr>
          <p:cNvPr id="5" name="Slide Number Placeholder 4"/>
          <p:cNvSpPr>
            <a:spLocks noGrp="1"/>
          </p:cNvSpPr>
          <p:nvPr>
            <p:ph type="sldNum" sz="quarter" idx="12"/>
          </p:nvPr>
        </p:nvSpPr>
        <p:spPr/>
        <p:txBody>
          <a:bodyPr/>
          <a:lstStyle/>
          <a:p>
            <a:fld id="{A6724466-CF14-4098-A57E-6BA1C4EB8FEB}" type="slidenum">
              <a:rPr lang="en-US" smtClean="0"/>
              <a:pPr/>
              <a:t>5</a:t>
            </a:fld>
            <a:endParaRPr lang="en-US"/>
          </a:p>
        </p:txBody>
      </p:sp>
      <p:sp>
        <p:nvSpPr>
          <p:cNvPr id="6" name="TextBox 5"/>
          <p:cNvSpPr txBox="1"/>
          <p:nvPr/>
        </p:nvSpPr>
        <p:spPr>
          <a:xfrm>
            <a:off x="1066800" y="3124200"/>
            <a:ext cx="7162800" cy="1384995"/>
          </a:xfrm>
          <a:prstGeom prst="rect">
            <a:avLst/>
          </a:prstGeom>
          <a:solidFill>
            <a:schemeClr val="accent6">
              <a:lumMod val="40000"/>
              <a:lumOff val="60000"/>
            </a:schemeClr>
          </a:solidFill>
        </p:spPr>
        <p:txBody>
          <a:bodyPr wrap="square" rtlCol="0">
            <a:spAutoFit/>
          </a:bodyPr>
          <a:lstStyle/>
          <a:p>
            <a:r>
              <a:rPr lang="en-US" sz="2800" dirty="0" smtClean="0"/>
              <a:t>&lt;head&gt;</a:t>
            </a:r>
            <a:br>
              <a:rPr lang="en-US" sz="2800" dirty="0" smtClean="0"/>
            </a:br>
            <a:r>
              <a:rPr lang="en-US" sz="2800" dirty="0" smtClean="0"/>
              <a:t>&lt;script </a:t>
            </a:r>
            <a:r>
              <a:rPr lang="en-US" sz="2800" dirty="0" err="1" smtClean="0"/>
              <a:t>src</a:t>
            </a:r>
            <a:r>
              <a:rPr lang="en-US" sz="2800" dirty="0" smtClean="0"/>
              <a:t>="jquery-1.10.2.min.js"&gt;&lt;/script&gt;</a:t>
            </a:r>
            <a:br>
              <a:rPr lang="en-US" sz="2800" dirty="0" smtClean="0"/>
            </a:br>
            <a:r>
              <a:rPr lang="en-US" sz="2800" dirty="0" smtClean="0"/>
              <a:t>&lt;/head&gt;</a:t>
            </a:r>
            <a:endParaRPr lang="en-US" sz="2800" dirty="0"/>
          </a:p>
        </p:txBody>
      </p:sp>
      <p:sp>
        <p:nvSpPr>
          <p:cNvPr id="7" name="5-Point Star 6"/>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Installing </a:t>
            </a:r>
            <a:r>
              <a:rPr lang="en-US" sz="3600" dirty="0" err="1" smtClean="0"/>
              <a:t>Jquery</a:t>
            </a:r>
            <a:r>
              <a:rPr lang="en-US" sz="3600" dirty="0" smtClean="0"/>
              <a:t> – </a:t>
            </a:r>
            <a:br>
              <a:rPr lang="en-US" sz="3600" dirty="0" smtClean="0"/>
            </a:br>
            <a:r>
              <a:rPr lang="en-US" sz="3600" dirty="0" smtClean="0"/>
              <a:t>Hosted on CDN (</a:t>
            </a:r>
            <a:r>
              <a:rPr lang="en-US" sz="3600" dirty="0" err="1" smtClean="0"/>
              <a:t>Eg</a:t>
            </a:r>
            <a:r>
              <a:rPr lang="en-US" sz="3600" dirty="0" smtClean="0"/>
              <a:t> Google)</a:t>
            </a:r>
            <a:endParaRPr lang="en-US" sz="3600" dirty="0"/>
          </a:p>
        </p:txBody>
      </p:sp>
      <p:sp>
        <p:nvSpPr>
          <p:cNvPr id="3" name="Content Placeholder 2"/>
          <p:cNvSpPr>
            <a:spLocks noGrp="1"/>
          </p:cNvSpPr>
          <p:nvPr>
            <p:ph idx="1"/>
          </p:nvPr>
        </p:nvSpPr>
        <p:spPr>
          <a:xfrm>
            <a:off x="1000474" y="1828800"/>
            <a:ext cx="7395380" cy="2667000"/>
          </a:xfrm>
        </p:spPr>
        <p:txBody>
          <a:bodyPr>
            <a:noAutofit/>
          </a:bodyPr>
          <a:lstStyle/>
          <a:p>
            <a:r>
              <a:rPr lang="en-US" sz="2400" dirty="0" smtClean="0"/>
              <a:t>Alternatively, you can include it from a CDN (Content Delivery Network).</a:t>
            </a:r>
          </a:p>
          <a:p>
            <a:r>
              <a:rPr lang="en-US" sz="2400" dirty="0" err="1" smtClean="0"/>
              <a:t>Eg</a:t>
            </a:r>
            <a:r>
              <a:rPr lang="en-US" sz="2400" dirty="0" smtClean="0"/>
              <a:t>. Installing </a:t>
            </a:r>
            <a:r>
              <a:rPr lang="en-US" sz="2400" dirty="0" err="1" smtClean="0"/>
              <a:t>Jquery</a:t>
            </a:r>
            <a:r>
              <a:rPr lang="en-US" sz="2400" dirty="0" smtClean="0"/>
              <a:t> via Google CDN: </a:t>
            </a:r>
          </a:p>
        </p:txBody>
      </p:sp>
      <p:sp>
        <p:nvSpPr>
          <p:cNvPr id="5" name="Slide Number Placeholder 4"/>
          <p:cNvSpPr>
            <a:spLocks noGrp="1"/>
          </p:cNvSpPr>
          <p:nvPr>
            <p:ph type="sldNum" sz="quarter" idx="12"/>
          </p:nvPr>
        </p:nvSpPr>
        <p:spPr/>
        <p:txBody>
          <a:bodyPr/>
          <a:lstStyle/>
          <a:p>
            <a:fld id="{A6724466-CF14-4098-A57E-6BA1C4EB8FEB}" type="slidenum">
              <a:rPr lang="en-US" smtClean="0"/>
              <a:pPr/>
              <a:t>6</a:t>
            </a:fld>
            <a:endParaRPr lang="en-US"/>
          </a:p>
        </p:txBody>
      </p:sp>
      <p:sp>
        <p:nvSpPr>
          <p:cNvPr id="6" name="TextBox 5"/>
          <p:cNvSpPr txBox="1"/>
          <p:nvPr/>
        </p:nvSpPr>
        <p:spPr>
          <a:xfrm>
            <a:off x="1066800" y="3124200"/>
            <a:ext cx="7162800" cy="2677656"/>
          </a:xfrm>
          <a:prstGeom prst="rect">
            <a:avLst/>
          </a:prstGeom>
          <a:solidFill>
            <a:schemeClr val="accent6">
              <a:lumMod val="40000"/>
              <a:lumOff val="60000"/>
            </a:schemeClr>
          </a:solidFill>
        </p:spPr>
        <p:txBody>
          <a:bodyPr wrap="square" rtlCol="0">
            <a:spAutoFit/>
          </a:bodyPr>
          <a:lstStyle/>
          <a:p>
            <a:r>
              <a:rPr lang="en-US" sz="2800" dirty="0" smtClean="0"/>
              <a:t>&lt;head&gt;</a:t>
            </a:r>
            <a:br>
              <a:rPr lang="en-US" sz="2800" dirty="0" smtClean="0"/>
            </a:br>
            <a:r>
              <a:rPr lang="en-US" sz="2800" dirty="0" smtClean="0"/>
              <a:t>&lt;script </a:t>
            </a:r>
            <a:r>
              <a:rPr lang="en-US" sz="2800" dirty="0" err="1" smtClean="0"/>
              <a:t>src</a:t>
            </a:r>
            <a:r>
              <a:rPr lang="en-US" sz="2800" dirty="0" smtClean="0"/>
              <a:t>="http://ajax.googleapis.com/ajax/libs/jquery/1.10.2/jquery.min.js"&gt;</a:t>
            </a:r>
            <a:br>
              <a:rPr lang="en-US" sz="2800" dirty="0" smtClean="0"/>
            </a:br>
            <a:r>
              <a:rPr lang="en-US" sz="2800" dirty="0" smtClean="0"/>
              <a:t>&lt;/script&gt;</a:t>
            </a:r>
            <a:br>
              <a:rPr lang="en-US" sz="2800" dirty="0" smtClean="0"/>
            </a:br>
            <a:r>
              <a:rPr lang="en-US" sz="2800" dirty="0" smtClean="0"/>
              <a:t>&lt;/head&gt;</a:t>
            </a:r>
            <a:endParaRPr lang="en-US" sz="2800" dirty="0"/>
          </a:p>
        </p:txBody>
      </p:sp>
      <p:sp>
        <p:nvSpPr>
          <p:cNvPr id="7" name="5-Point Star 6"/>
          <p:cNvSpPr/>
          <p:nvPr/>
        </p:nvSpPr>
        <p:spPr>
          <a:xfrm rot="18984008">
            <a:off x="7945523" y="34421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err="1" smtClean="0"/>
              <a:t>Jquery</a:t>
            </a:r>
            <a:r>
              <a:rPr lang="en-US" sz="3600" dirty="0" smtClean="0"/>
              <a:t> Syntax</a:t>
            </a:r>
            <a:endParaRPr lang="en-US" sz="3600" dirty="0"/>
          </a:p>
        </p:txBody>
      </p:sp>
      <p:sp>
        <p:nvSpPr>
          <p:cNvPr id="3" name="Content Placeholder 2"/>
          <p:cNvSpPr>
            <a:spLocks noGrp="1"/>
          </p:cNvSpPr>
          <p:nvPr>
            <p:ph idx="1"/>
          </p:nvPr>
        </p:nvSpPr>
        <p:spPr>
          <a:xfrm>
            <a:off x="1000474" y="1828800"/>
            <a:ext cx="7395380" cy="2667000"/>
          </a:xfrm>
        </p:spPr>
        <p:txBody>
          <a:bodyPr>
            <a:noAutofit/>
          </a:bodyPr>
          <a:lstStyle/>
          <a:p>
            <a:r>
              <a:rPr lang="en-US" sz="2400" dirty="0" smtClean="0"/>
              <a:t>The </a:t>
            </a:r>
            <a:r>
              <a:rPr lang="en-US" sz="2400" dirty="0" err="1" smtClean="0"/>
              <a:t>jQuery</a:t>
            </a:r>
            <a:r>
              <a:rPr lang="en-US" sz="2400" dirty="0" smtClean="0"/>
              <a:t> syntax is tailor made for </a:t>
            </a:r>
            <a:r>
              <a:rPr lang="en-US" sz="2400" b="1" dirty="0" smtClean="0"/>
              <a:t>selecting</a:t>
            </a:r>
            <a:r>
              <a:rPr lang="en-US" sz="2400" dirty="0" smtClean="0"/>
              <a:t> HTML elements and performing some </a:t>
            </a:r>
            <a:r>
              <a:rPr lang="en-US" sz="2400" b="1" dirty="0" smtClean="0"/>
              <a:t>action</a:t>
            </a:r>
            <a:r>
              <a:rPr lang="en-US" sz="2400" dirty="0" smtClean="0"/>
              <a:t> on the element(s).</a:t>
            </a:r>
          </a:p>
          <a:p>
            <a:r>
              <a:rPr lang="en-US" sz="2400" dirty="0" smtClean="0"/>
              <a:t>Basic syntax is: </a:t>
            </a:r>
            <a:r>
              <a:rPr lang="en-US" sz="2400" b="1" dirty="0" smtClean="0"/>
              <a:t>$(</a:t>
            </a:r>
            <a:r>
              <a:rPr lang="en-US" sz="2400" b="1" i="1" dirty="0" smtClean="0"/>
              <a:t>selector</a:t>
            </a:r>
            <a:r>
              <a:rPr lang="en-US" sz="2400" b="1" dirty="0" smtClean="0"/>
              <a:t>).</a:t>
            </a:r>
            <a:r>
              <a:rPr lang="en-US" sz="2400" b="1" i="1" dirty="0" smtClean="0"/>
              <a:t>action</a:t>
            </a:r>
            <a:r>
              <a:rPr lang="en-US" sz="2400" b="1" dirty="0" smtClean="0"/>
              <a:t>()</a:t>
            </a:r>
            <a:endParaRPr lang="en-US" sz="2400" dirty="0" smtClean="0"/>
          </a:p>
          <a:p>
            <a:r>
              <a:rPr lang="en-US" sz="2400" dirty="0" smtClean="0"/>
              <a:t>A $ sign to define/access </a:t>
            </a:r>
            <a:r>
              <a:rPr lang="en-US" sz="2400" dirty="0" err="1" smtClean="0"/>
              <a:t>jQuery</a:t>
            </a:r>
            <a:endParaRPr lang="en-US" sz="2400" dirty="0" smtClean="0"/>
          </a:p>
          <a:p>
            <a:r>
              <a:rPr lang="en-US" sz="2400" dirty="0" smtClean="0"/>
              <a:t>A (</a:t>
            </a:r>
            <a:r>
              <a:rPr lang="en-US" sz="2400" i="1" dirty="0" smtClean="0"/>
              <a:t>selector</a:t>
            </a:r>
            <a:r>
              <a:rPr lang="en-US" sz="2400" dirty="0" smtClean="0"/>
              <a:t>) to "query (or find)" HTML elements</a:t>
            </a:r>
          </a:p>
          <a:p>
            <a:r>
              <a:rPr lang="en-US" sz="2400" dirty="0" smtClean="0"/>
              <a:t>A </a:t>
            </a:r>
            <a:r>
              <a:rPr lang="en-US" sz="2400" dirty="0" err="1" smtClean="0"/>
              <a:t>jQuery</a:t>
            </a:r>
            <a:r>
              <a:rPr lang="en-US" sz="2400" dirty="0" smtClean="0"/>
              <a:t> </a:t>
            </a:r>
            <a:r>
              <a:rPr lang="en-US" sz="2400" i="1" dirty="0" smtClean="0"/>
              <a:t>action</a:t>
            </a:r>
            <a:r>
              <a:rPr lang="en-US" sz="2400" dirty="0" smtClean="0"/>
              <a:t>() to be performed on the element(s)</a:t>
            </a:r>
          </a:p>
        </p:txBody>
      </p:sp>
      <p:sp>
        <p:nvSpPr>
          <p:cNvPr id="5" name="Slide Number Placeholder 4"/>
          <p:cNvSpPr>
            <a:spLocks noGrp="1"/>
          </p:cNvSpPr>
          <p:nvPr>
            <p:ph type="sldNum" sz="quarter" idx="12"/>
          </p:nvPr>
        </p:nvSpPr>
        <p:spPr/>
        <p:txBody>
          <a:bodyPr/>
          <a:lstStyle/>
          <a:p>
            <a:fld id="{A6724466-CF14-4098-A57E-6BA1C4EB8FEB}" type="slidenum">
              <a:rPr lang="en-US" smtClean="0"/>
              <a:pPr/>
              <a:t>7</a:t>
            </a:fld>
            <a:endParaRPr lang="en-US"/>
          </a:p>
        </p:txBody>
      </p:sp>
      <p:sp>
        <p:nvSpPr>
          <p:cNvPr id="6" name="5-Point Star 5"/>
          <p:cNvSpPr/>
          <p:nvPr/>
        </p:nvSpPr>
        <p:spPr>
          <a:xfrm rot="18984008">
            <a:off x="7945523" y="34421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err="1" smtClean="0"/>
              <a:t>Jquery</a:t>
            </a:r>
            <a:r>
              <a:rPr lang="en-US" sz="3600" dirty="0" smtClean="0"/>
              <a:t> Syntax</a:t>
            </a:r>
            <a:endParaRPr lang="en-US" sz="36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8</a:t>
            </a:fld>
            <a:endParaRPr lang="en-US"/>
          </a:p>
        </p:txBody>
      </p:sp>
      <p:graphicFrame>
        <p:nvGraphicFramePr>
          <p:cNvPr id="6" name="Table 5"/>
          <p:cNvGraphicFramePr>
            <a:graphicFrameLocks noGrp="1"/>
          </p:cNvGraphicFramePr>
          <p:nvPr/>
        </p:nvGraphicFramePr>
        <p:xfrm>
          <a:off x="838200" y="1752600"/>
          <a:ext cx="7391400" cy="4038601"/>
        </p:xfrm>
        <a:graphic>
          <a:graphicData uri="http://schemas.openxmlformats.org/drawingml/2006/table">
            <a:tbl>
              <a:tblPr firstRow="1" bandRow="1">
                <a:tableStyleId>{5C22544A-7EE6-4342-B048-85BDC9FD1C3A}</a:tableStyleId>
              </a:tblPr>
              <a:tblGrid>
                <a:gridCol w="3695700"/>
                <a:gridCol w="3695700"/>
              </a:tblGrid>
              <a:tr h="542943">
                <a:tc>
                  <a:txBody>
                    <a:bodyPr/>
                    <a:lstStyle/>
                    <a:p>
                      <a:r>
                        <a:rPr lang="en-US" sz="2400" dirty="0" smtClean="0"/>
                        <a:t>Example</a:t>
                      </a:r>
                      <a:endParaRPr lang="en-US" sz="2400" dirty="0"/>
                    </a:p>
                  </a:txBody>
                  <a:tcPr/>
                </a:tc>
                <a:tc>
                  <a:txBody>
                    <a:bodyPr/>
                    <a:lstStyle/>
                    <a:p>
                      <a:r>
                        <a:rPr lang="en-US" sz="2400" dirty="0" smtClean="0"/>
                        <a:t>what</a:t>
                      </a:r>
                      <a:r>
                        <a:rPr lang="en-US" sz="2400" baseline="0" dirty="0" smtClean="0"/>
                        <a:t> it does</a:t>
                      </a:r>
                      <a:endParaRPr lang="en-US" sz="2400" dirty="0"/>
                    </a:p>
                  </a:txBody>
                  <a:tcPr/>
                </a:tc>
              </a:tr>
              <a:tr h="684256">
                <a:tc>
                  <a:txBody>
                    <a:bodyPr/>
                    <a:lstStyle/>
                    <a:p>
                      <a:r>
                        <a:rPr lang="en-US" sz="2400" dirty="0" smtClean="0"/>
                        <a:t>$(this).hide() </a:t>
                      </a:r>
                      <a:endParaRPr lang="en-US" sz="2400" dirty="0"/>
                    </a:p>
                  </a:txBody>
                  <a:tcPr/>
                </a:tc>
                <a:tc>
                  <a:txBody>
                    <a:bodyPr/>
                    <a:lstStyle/>
                    <a:p>
                      <a:r>
                        <a:rPr lang="en-US" sz="2400" dirty="0" smtClean="0"/>
                        <a:t>hides the current element.</a:t>
                      </a:r>
                      <a:endParaRPr lang="en-US" sz="2400" dirty="0"/>
                    </a:p>
                  </a:txBody>
                  <a:tcPr/>
                </a:tc>
              </a:tr>
              <a:tr h="937134">
                <a:tc>
                  <a:txBody>
                    <a:bodyPr/>
                    <a:lstStyle/>
                    <a:p>
                      <a:r>
                        <a:rPr lang="en-US" sz="2400" dirty="0" smtClean="0"/>
                        <a:t>$("p").hide() </a:t>
                      </a:r>
                      <a:endParaRPr lang="en-US" sz="2400" dirty="0"/>
                    </a:p>
                  </a:txBody>
                  <a:tcPr/>
                </a:tc>
                <a:tc>
                  <a:txBody>
                    <a:bodyPr/>
                    <a:lstStyle/>
                    <a:p>
                      <a:r>
                        <a:rPr lang="en-US" sz="2400" dirty="0" smtClean="0"/>
                        <a:t>hides all &lt;p&gt; paragraph elements.</a:t>
                      </a:r>
                      <a:endParaRPr lang="en-US" sz="2400" dirty="0"/>
                    </a:p>
                  </a:txBody>
                  <a:tcPr/>
                </a:tc>
              </a:tr>
              <a:tr h="937134">
                <a:tc>
                  <a:txBody>
                    <a:bodyPr/>
                    <a:lstStyle/>
                    <a:p>
                      <a:r>
                        <a:rPr lang="en-US" sz="2400" dirty="0" smtClean="0"/>
                        <a:t>$(".test").hide() </a:t>
                      </a:r>
                      <a:endParaRPr lang="en-US" sz="2400" dirty="0"/>
                    </a:p>
                  </a:txBody>
                  <a:tcPr/>
                </a:tc>
                <a:tc>
                  <a:txBody>
                    <a:bodyPr/>
                    <a:lstStyle/>
                    <a:p>
                      <a:r>
                        <a:rPr lang="en-US" sz="2400" dirty="0" smtClean="0"/>
                        <a:t>hides all elements with class="test".</a:t>
                      </a:r>
                      <a:endParaRPr lang="en-US" sz="2400" dirty="0"/>
                    </a:p>
                  </a:txBody>
                  <a:tcPr/>
                </a:tc>
              </a:tr>
              <a:tr h="937134">
                <a:tc>
                  <a:txBody>
                    <a:bodyPr/>
                    <a:lstStyle/>
                    <a:p>
                      <a:r>
                        <a:rPr lang="en-US" sz="2400" dirty="0" smtClean="0"/>
                        <a:t>$("#test").hide() </a:t>
                      </a:r>
                      <a:endParaRPr lang="en-US" sz="2400" dirty="0"/>
                    </a:p>
                  </a:txBody>
                  <a:tcPr/>
                </a:tc>
                <a:tc>
                  <a:txBody>
                    <a:bodyPr/>
                    <a:lstStyle/>
                    <a:p>
                      <a:r>
                        <a:rPr lang="en-US" sz="2400" dirty="0" smtClean="0"/>
                        <a:t>hides the element with id="test".</a:t>
                      </a:r>
                      <a:endParaRPr lang="en-US" sz="2400" dirty="0"/>
                    </a:p>
                  </a:txBody>
                  <a:tcPr/>
                </a:tc>
              </a:tr>
            </a:tbl>
          </a:graphicData>
        </a:graphic>
      </p:graphicFrame>
      <p:sp>
        <p:nvSpPr>
          <p:cNvPr id="7" name="5-Point Star 6"/>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 </a:t>
            </a:r>
            <a:r>
              <a:rPr lang="en-US" sz="3600" b="0" dirty="0" smtClean="0"/>
              <a:t>The Document Ready Event</a:t>
            </a:r>
            <a:br>
              <a:rPr lang="en-US" sz="3600" b="0" dirty="0" smtClean="0"/>
            </a:br>
            <a:endParaRPr lang="en-US" sz="3600" dirty="0"/>
          </a:p>
        </p:txBody>
      </p:sp>
      <p:sp>
        <p:nvSpPr>
          <p:cNvPr id="3" name="Content Placeholder 2"/>
          <p:cNvSpPr>
            <a:spLocks noGrp="1"/>
          </p:cNvSpPr>
          <p:nvPr>
            <p:ph idx="1"/>
          </p:nvPr>
        </p:nvSpPr>
        <p:spPr>
          <a:xfrm>
            <a:off x="990600" y="1371600"/>
            <a:ext cx="7395380" cy="2667000"/>
          </a:xfrm>
        </p:spPr>
        <p:txBody>
          <a:bodyPr>
            <a:noAutofit/>
          </a:bodyPr>
          <a:lstStyle/>
          <a:p>
            <a:r>
              <a:rPr lang="en-US" sz="2400" dirty="0" smtClean="0"/>
              <a:t>There are two ways to invoke </a:t>
            </a:r>
            <a:r>
              <a:rPr lang="en-US" sz="2400" dirty="0" err="1" smtClean="0"/>
              <a:t>Jquery</a:t>
            </a:r>
            <a:r>
              <a:rPr lang="en-US" sz="2400" dirty="0" smtClean="0"/>
              <a:t> methods. Many </a:t>
            </a:r>
            <a:r>
              <a:rPr lang="en-US" sz="2400" dirty="0" err="1" smtClean="0"/>
              <a:t>jQuery</a:t>
            </a:r>
            <a:r>
              <a:rPr lang="en-US" sz="2400" dirty="0" smtClean="0"/>
              <a:t> methods are inside a document ready event:</a:t>
            </a:r>
          </a:p>
          <a:p>
            <a:endParaRPr lang="en-US" sz="2400" dirty="0" smtClean="0"/>
          </a:p>
          <a:p>
            <a:endParaRPr lang="en-US" sz="2400" dirty="0" smtClean="0"/>
          </a:p>
          <a:p>
            <a:endParaRPr lang="en-US" sz="2400" dirty="0" smtClean="0"/>
          </a:p>
          <a:p>
            <a:r>
              <a:rPr lang="en-US" sz="2400" dirty="0" smtClean="0"/>
              <a:t>A shorter version would be:</a:t>
            </a:r>
          </a:p>
          <a:p>
            <a:endParaRPr lang="en-US" sz="2400" dirty="0" smtClean="0"/>
          </a:p>
          <a:p>
            <a:endParaRPr lang="en-US" sz="2400" dirty="0" smtClean="0"/>
          </a:p>
          <a:p>
            <a:endParaRPr lang="en-US" sz="2400" dirty="0" smtClean="0"/>
          </a:p>
          <a:p>
            <a:r>
              <a:rPr lang="en-US" sz="2400" dirty="0" smtClean="0"/>
              <a:t>This is to prevent any </a:t>
            </a:r>
            <a:r>
              <a:rPr lang="en-US" sz="2400" dirty="0" err="1" smtClean="0"/>
              <a:t>jQuery</a:t>
            </a:r>
            <a:r>
              <a:rPr lang="en-US" sz="2400" dirty="0" smtClean="0"/>
              <a:t> code from running before the document is finished loading (is ready).</a:t>
            </a:r>
          </a:p>
        </p:txBody>
      </p:sp>
      <p:sp>
        <p:nvSpPr>
          <p:cNvPr id="5" name="Slide Number Placeholder 4"/>
          <p:cNvSpPr>
            <a:spLocks noGrp="1"/>
          </p:cNvSpPr>
          <p:nvPr>
            <p:ph type="sldNum" sz="quarter" idx="12"/>
          </p:nvPr>
        </p:nvSpPr>
        <p:spPr/>
        <p:txBody>
          <a:bodyPr/>
          <a:lstStyle/>
          <a:p>
            <a:fld id="{A6724466-CF14-4098-A57E-6BA1C4EB8FEB}" type="slidenum">
              <a:rPr lang="en-US" smtClean="0"/>
              <a:pPr/>
              <a:t>9</a:t>
            </a:fld>
            <a:endParaRPr lang="en-US"/>
          </a:p>
        </p:txBody>
      </p:sp>
      <p:sp>
        <p:nvSpPr>
          <p:cNvPr id="6" name="TextBox 5"/>
          <p:cNvSpPr txBox="1"/>
          <p:nvPr/>
        </p:nvSpPr>
        <p:spPr>
          <a:xfrm>
            <a:off x="1295400" y="2209800"/>
            <a:ext cx="7162800" cy="1384995"/>
          </a:xfrm>
          <a:prstGeom prst="rect">
            <a:avLst/>
          </a:prstGeom>
          <a:solidFill>
            <a:schemeClr val="accent6">
              <a:lumMod val="40000"/>
              <a:lumOff val="60000"/>
            </a:schemeClr>
          </a:solidFill>
        </p:spPr>
        <p:txBody>
          <a:bodyPr wrap="square" rtlCol="0">
            <a:spAutoFit/>
          </a:bodyPr>
          <a:lstStyle/>
          <a:p>
            <a:r>
              <a:rPr lang="en-US" sz="2800" dirty="0" smtClean="0"/>
              <a:t>$(document).ready(function(){</a:t>
            </a:r>
            <a:br>
              <a:rPr lang="en-US" sz="2800" dirty="0" smtClean="0"/>
            </a:br>
            <a:r>
              <a:rPr lang="en-US" sz="2800" dirty="0" smtClean="0"/>
              <a:t>   </a:t>
            </a:r>
            <a:r>
              <a:rPr lang="en-US" sz="2800" i="1" dirty="0" smtClean="0"/>
              <a:t>// </a:t>
            </a:r>
            <a:r>
              <a:rPr lang="en-US" sz="2800" i="1" dirty="0" err="1" smtClean="0"/>
              <a:t>jQuery</a:t>
            </a:r>
            <a:r>
              <a:rPr lang="en-US" sz="2800" i="1" dirty="0" smtClean="0"/>
              <a:t> methods go here...</a:t>
            </a:r>
            <a:r>
              <a:rPr lang="en-US" sz="2800" dirty="0" smtClean="0"/>
              <a:t/>
            </a:r>
            <a:br>
              <a:rPr lang="en-US" sz="2800" dirty="0" smtClean="0"/>
            </a:br>
            <a:r>
              <a:rPr lang="en-US" sz="2800" dirty="0" smtClean="0"/>
              <a:t>});</a:t>
            </a:r>
            <a:endParaRPr lang="en-US" sz="2800" dirty="0"/>
          </a:p>
        </p:txBody>
      </p:sp>
      <p:sp>
        <p:nvSpPr>
          <p:cNvPr id="7" name="TextBox 6"/>
          <p:cNvSpPr txBox="1"/>
          <p:nvPr/>
        </p:nvSpPr>
        <p:spPr>
          <a:xfrm>
            <a:off x="1295400" y="3962400"/>
            <a:ext cx="7162800" cy="1384995"/>
          </a:xfrm>
          <a:prstGeom prst="rect">
            <a:avLst/>
          </a:prstGeom>
          <a:solidFill>
            <a:schemeClr val="accent6">
              <a:lumMod val="40000"/>
              <a:lumOff val="60000"/>
            </a:schemeClr>
          </a:solidFill>
        </p:spPr>
        <p:txBody>
          <a:bodyPr wrap="square" rtlCol="0">
            <a:spAutoFit/>
          </a:bodyPr>
          <a:lstStyle/>
          <a:p>
            <a:r>
              <a:rPr lang="en-US" sz="2800" dirty="0" smtClean="0"/>
              <a:t>$(function(){</a:t>
            </a:r>
            <a:br>
              <a:rPr lang="en-US" sz="2800" dirty="0" smtClean="0"/>
            </a:br>
            <a:r>
              <a:rPr lang="en-US" sz="2800" dirty="0" smtClean="0"/>
              <a:t>   </a:t>
            </a:r>
            <a:r>
              <a:rPr lang="en-US" sz="2800" i="1" dirty="0" smtClean="0"/>
              <a:t>// </a:t>
            </a:r>
            <a:r>
              <a:rPr lang="en-US" sz="2800" i="1" dirty="0" err="1" smtClean="0"/>
              <a:t>jQuery</a:t>
            </a:r>
            <a:r>
              <a:rPr lang="en-US" sz="2800" i="1" dirty="0" smtClean="0"/>
              <a:t> methods go here…</a:t>
            </a:r>
            <a:r>
              <a:rPr lang="en-US" sz="2800" dirty="0" smtClean="0"/>
              <a:t/>
            </a:r>
            <a:br>
              <a:rPr lang="en-US" sz="2800" dirty="0" smtClean="0"/>
            </a:br>
            <a:r>
              <a:rPr lang="en-US" sz="2800" dirty="0" smtClean="0"/>
              <a:t>});</a:t>
            </a:r>
            <a:endParaRPr lang="en-US" sz="2800" dirty="0"/>
          </a:p>
        </p:txBody>
      </p:sp>
      <p:sp>
        <p:nvSpPr>
          <p:cNvPr id="8" name="TextBox 7"/>
          <p:cNvSpPr txBox="1"/>
          <p:nvPr/>
        </p:nvSpPr>
        <p:spPr>
          <a:xfrm>
            <a:off x="533400" y="3962400"/>
            <a:ext cx="617477" cy="523220"/>
          </a:xfrm>
          <a:prstGeom prst="rect">
            <a:avLst/>
          </a:prstGeom>
          <a:noFill/>
        </p:spPr>
        <p:txBody>
          <a:bodyPr wrap="none" rtlCol="0">
            <a:spAutoFit/>
          </a:bodyPr>
          <a:lstStyle/>
          <a:p>
            <a:r>
              <a:rPr lang="en-US" sz="2800" dirty="0" smtClean="0"/>
              <a:t>OR</a:t>
            </a:r>
            <a:endParaRPr lang="en-US" sz="2800" dirty="0"/>
          </a:p>
        </p:txBody>
      </p:sp>
      <p:sp>
        <p:nvSpPr>
          <p:cNvPr id="9" name="5-Point Star 8"/>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fade">
                                      <p:cBhvr>
                                        <p:cTn id="1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 </a:t>
            </a:r>
            <a:r>
              <a:rPr lang="en-US" sz="3600" b="0" dirty="0" smtClean="0"/>
              <a:t>The Document Ready Event</a:t>
            </a:r>
            <a:br>
              <a:rPr lang="en-US" sz="3600" b="0" dirty="0" smtClean="0"/>
            </a:br>
            <a:endParaRPr lang="en-US" sz="3600" dirty="0"/>
          </a:p>
        </p:txBody>
      </p:sp>
      <p:sp>
        <p:nvSpPr>
          <p:cNvPr id="3" name="Content Placeholder 2"/>
          <p:cNvSpPr>
            <a:spLocks noGrp="1"/>
          </p:cNvSpPr>
          <p:nvPr>
            <p:ph idx="1"/>
          </p:nvPr>
        </p:nvSpPr>
        <p:spPr>
          <a:xfrm>
            <a:off x="1000474" y="1828800"/>
            <a:ext cx="7395380" cy="2667000"/>
          </a:xfrm>
        </p:spPr>
        <p:txBody>
          <a:bodyPr>
            <a:noAutofit/>
          </a:bodyPr>
          <a:lstStyle/>
          <a:p>
            <a:r>
              <a:rPr lang="en-US" sz="2400" dirty="0" smtClean="0"/>
              <a:t>Many </a:t>
            </a:r>
            <a:r>
              <a:rPr lang="en-US" sz="2400" dirty="0" err="1" smtClean="0"/>
              <a:t>jQuery</a:t>
            </a:r>
            <a:r>
              <a:rPr lang="en-US" sz="2400" dirty="0" smtClean="0"/>
              <a:t> methods are inside a document ready event:</a:t>
            </a:r>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2400" dirty="0" smtClean="0"/>
              <a:t>This is to prevent any </a:t>
            </a:r>
            <a:r>
              <a:rPr lang="en-US" sz="2400" dirty="0" err="1" smtClean="0"/>
              <a:t>jQuery</a:t>
            </a:r>
            <a:r>
              <a:rPr lang="en-US" sz="2400" dirty="0" smtClean="0"/>
              <a:t> code from running before the document is finished loading (is ready).</a:t>
            </a:r>
          </a:p>
        </p:txBody>
      </p:sp>
      <p:sp>
        <p:nvSpPr>
          <p:cNvPr id="5" name="Slide Number Placeholder 4"/>
          <p:cNvSpPr>
            <a:spLocks noGrp="1"/>
          </p:cNvSpPr>
          <p:nvPr>
            <p:ph type="sldNum" sz="quarter" idx="12"/>
          </p:nvPr>
        </p:nvSpPr>
        <p:spPr/>
        <p:txBody>
          <a:bodyPr/>
          <a:lstStyle/>
          <a:p>
            <a:fld id="{A6724466-CF14-4098-A57E-6BA1C4EB8FEB}" type="slidenum">
              <a:rPr lang="en-US" smtClean="0"/>
              <a:pPr/>
              <a:t>10</a:t>
            </a:fld>
            <a:endParaRPr lang="en-US"/>
          </a:p>
        </p:txBody>
      </p:sp>
      <p:sp>
        <p:nvSpPr>
          <p:cNvPr id="6" name="TextBox 5"/>
          <p:cNvSpPr txBox="1"/>
          <p:nvPr/>
        </p:nvSpPr>
        <p:spPr>
          <a:xfrm>
            <a:off x="1066800" y="3124200"/>
            <a:ext cx="7162800" cy="1384995"/>
          </a:xfrm>
          <a:prstGeom prst="rect">
            <a:avLst/>
          </a:prstGeom>
          <a:solidFill>
            <a:schemeClr val="accent6">
              <a:lumMod val="40000"/>
              <a:lumOff val="60000"/>
            </a:schemeClr>
          </a:solidFill>
        </p:spPr>
        <p:txBody>
          <a:bodyPr wrap="square" rtlCol="0">
            <a:spAutoFit/>
          </a:bodyPr>
          <a:lstStyle/>
          <a:p>
            <a:r>
              <a:rPr lang="en-US" sz="2800" dirty="0" smtClean="0"/>
              <a:t>$(document).ready(function(){</a:t>
            </a:r>
            <a:br>
              <a:rPr lang="en-US" sz="2800" dirty="0" smtClean="0"/>
            </a:br>
            <a:r>
              <a:rPr lang="en-US" sz="2800" dirty="0" smtClean="0"/>
              <a:t>   </a:t>
            </a:r>
            <a:r>
              <a:rPr lang="en-US" sz="2800" i="1" dirty="0" smtClean="0"/>
              <a:t>// </a:t>
            </a:r>
            <a:r>
              <a:rPr lang="en-US" sz="2800" i="1" dirty="0" err="1" smtClean="0"/>
              <a:t>jQuery</a:t>
            </a:r>
            <a:r>
              <a:rPr lang="en-US" sz="2800" i="1" dirty="0" smtClean="0"/>
              <a:t> methods go here...</a:t>
            </a:r>
            <a:r>
              <a:rPr lang="en-US" sz="2800" dirty="0" smtClean="0"/>
              <a:t/>
            </a:r>
            <a:br>
              <a:rPr lang="en-US" sz="2800" dirty="0" smtClean="0"/>
            </a:br>
            <a:r>
              <a:rPr lang="en-US" sz="2800" dirty="0" smtClean="0"/>
              <a:t>});</a:t>
            </a:r>
            <a:endParaRPr lang="en-US" sz="2800" dirty="0"/>
          </a:p>
        </p:txBody>
      </p:sp>
      <p:sp>
        <p:nvSpPr>
          <p:cNvPr id="7" name="5-Point Star 6"/>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5015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Jquery</a:t>
            </a:r>
            <a:r>
              <a:rPr lang="en-US" dirty="0" smtClean="0"/>
              <a:t> Selector</a:t>
            </a:r>
            <a:endParaRPr lang="en-US" dirty="0"/>
          </a:p>
        </p:txBody>
      </p:sp>
      <p:sp>
        <p:nvSpPr>
          <p:cNvPr id="3" name="Content Placeholder 2"/>
          <p:cNvSpPr>
            <a:spLocks noGrp="1"/>
          </p:cNvSpPr>
          <p:nvPr>
            <p:ph idx="1"/>
          </p:nvPr>
        </p:nvSpPr>
        <p:spPr/>
        <p:txBody>
          <a:bodyPr/>
          <a:lstStyle/>
          <a:p>
            <a:r>
              <a:rPr lang="en-US" dirty="0" err="1" smtClean="0"/>
              <a:t>jQuery</a:t>
            </a:r>
            <a:r>
              <a:rPr lang="en-US" dirty="0" smtClean="0"/>
              <a:t> selectors allow you to select and manipulate HTML element(s).</a:t>
            </a:r>
          </a:p>
          <a:p>
            <a:r>
              <a:rPr lang="en-US" dirty="0" err="1" smtClean="0"/>
              <a:t>jQuery</a:t>
            </a:r>
            <a:r>
              <a:rPr lang="en-US" dirty="0" smtClean="0"/>
              <a:t> selectors are used to "find" (or select) HTML elements based on their id, classes, types, attributes, values of attributes and much more. It's based on the existing </a:t>
            </a:r>
            <a:r>
              <a:rPr lang="en-US" dirty="0" smtClean="0">
                <a:hlinkClick r:id="rId3"/>
              </a:rPr>
              <a:t>CSS Selectors</a:t>
            </a:r>
            <a:r>
              <a:rPr lang="en-US" dirty="0" smtClean="0"/>
              <a:t>, and in addition, it has some own custom selectors.</a:t>
            </a:r>
          </a:p>
          <a:p>
            <a:r>
              <a:rPr lang="en-US" dirty="0" smtClean="0"/>
              <a:t>All selectors in </a:t>
            </a:r>
            <a:r>
              <a:rPr lang="en-US" dirty="0" err="1" smtClean="0"/>
              <a:t>jQuery</a:t>
            </a:r>
            <a:r>
              <a:rPr lang="en-US" dirty="0" smtClean="0"/>
              <a:t> start with the dollar sign and parentheses: $().</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11</a:t>
            </a:fld>
            <a:endParaRPr lang="en-US"/>
          </a:p>
        </p:txBody>
      </p:sp>
      <p:sp>
        <p:nvSpPr>
          <p:cNvPr id="6" name="5-Point Star 5"/>
          <p:cNvSpPr/>
          <p:nvPr/>
        </p:nvSpPr>
        <p:spPr>
          <a:xfrm rot="18984008">
            <a:off x="7945523" y="34421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Jquery</a:t>
            </a:r>
            <a:r>
              <a:rPr lang="en-US" dirty="0" smtClean="0"/>
              <a:t> Element Selector</a:t>
            </a:r>
            <a:endParaRPr lang="en-US" dirty="0"/>
          </a:p>
        </p:txBody>
      </p:sp>
      <p:sp>
        <p:nvSpPr>
          <p:cNvPr id="3" name="Content Placeholder 2"/>
          <p:cNvSpPr>
            <a:spLocks noGrp="1"/>
          </p:cNvSpPr>
          <p:nvPr>
            <p:ph idx="1"/>
          </p:nvPr>
        </p:nvSpPr>
        <p:spPr/>
        <p:txBody>
          <a:bodyPr/>
          <a:lstStyle/>
          <a:p>
            <a:r>
              <a:rPr lang="en-US" dirty="0" smtClean="0"/>
              <a:t> The </a:t>
            </a:r>
            <a:r>
              <a:rPr lang="en-US" dirty="0" err="1" smtClean="0"/>
              <a:t>jQuery</a:t>
            </a:r>
            <a:r>
              <a:rPr lang="en-US" dirty="0" smtClean="0"/>
              <a:t> element selector selects elements based on the element name.</a:t>
            </a:r>
          </a:p>
          <a:p>
            <a:r>
              <a:rPr lang="en-US" dirty="0" smtClean="0"/>
              <a:t>For </a:t>
            </a:r>
            <a:r>
              <a:rPr lang="en-US" dirty="0" err="1" smtClean="0"/>
              <a:t>eg</a:t>
            </a:r>
            <a:r>
              <a:rPr lang="en-US" dirty="0" smtClean="0"/>
              <a:t>. To select all &lt;p&gt; elements on a page :</a:t>
            </a:r>
          </a:p>
          <a:p>
            <a:endParaRPr lang="en-US" dirty="0" smtClean="0"/>
          </a:p>
          <a:p>
            <a:r>
              <a:rPr lang="en-US" sz="2000" dirty="0" smtClean="0"/>
              <a:t>See Example 1:    </a:t>
            </a:r>
            <a:r>
              <a:rPr lang="en-US" sz="1400" dirty="0" smtClean="0">
                <a:hlinkClick r:id="rId3"/>
              </a:rPr>
              <a:t>http://www.w3schools.com/jquery/tryit.asp?filename=tryjquery_hide_p</a:t>
            </a:r>
            <a:r>
              <a:rPr lang="en-US" sz="1400" dirty="0" smtClean="0"/>
              <a:t> </a:t>
            </a:r>
          </a:p>
          <a:p>
            <a:r>
              <a:rPr lang="en-US" dirty="0" smtClean="0"/>
              <a:t>When a user clicks on a button, all &lt;p&gt; elements will be hidden:</a:t>
            </a:r>
            <a:endParaRPr lang="en-US"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12</a:t>
            </a:fld>
            <a:endParaRPr lang="en-US"/>
          </a:p>
        </p:txBody>
      </p:sp>
      <p:sp>
        <p:nvSpPr>
          <p:cNvPr id="6" name="TextBox 5"/>
          <p:cNvSpPr txBox="1"/>
          <p:nvPr/>
        </p:nvSpPr>
        <p:spPr>
          <a:xfrm>
            <a:off x="1143000" y="2743200"/>
            <a:ext cx="7162800" cy="523220"/>
          </a:xfrm>
          <a:prstGeom prst="rect">
            <a:avLst/>
          </a:prstGeom>
          <a:solidFill>
            <a:schemeClr val="accent6">
              <a:lumMod val="40000"/>
              <a:lumOff val="60000"/>
            </a:schemeClr>
          </a:solidFill>
        </p:spPr>
        <p:txBody>
          <a:bodyPr wrap="square" rtlCol="0">
            <a:spAutoFit/>
          </a:bodyPr>
          <a:lstStyle/>
          <a:p>
            <a:r>
              <a:rPr lang="en-US" sz="2800" dirty="0" smtClean="0"/>
              <a:t>$("p")</a:t>
            </a:r>
            <a:endParaRPr lang="en-US" sz="2800" dirty="0"/>
          </a:p>
        </p:txBody>
      </p:sp>
      <p:sp>
        <p:nvSpPr>
          <p:cNvPr id="7" name="TextBox 6"/>
          <p:cNvSpPr txBox="1"/>
          <p:nvPr/>
        </p:nvSpPr>
        <p:spPr>
          <a:xfrm>
            <a:off x="1371600" y="4724400"/>
            <a:ext cx="7162800" cy="1815882"/>
          </a:xfrm>
          <a:prstGeom prst="rect">
            <a:avLst/>
          </a:prstGeom>
          <a:solidFill>
            <a:schemeClr val="accent6">
              <a:lumMod val="40000"/>
              <a:lumOff val="60000"/>
            </a:schemeClr>
          </a:solidFill>
        </p:spPr>
        <p:txBody>
          <a:bodyPr wrap="square" rtlCol="0">
            <a:spAutoFit/>
          </a:bodyPr>
          <a:lstStyle/>
          <a:p>
            <a:r>
              <a:rPr lang="en-US" sz="2800" dirty="0" smtClean="0"/>
              <a:t>$(document).ready(function(){</a:t>
            </a:r>
            <a:br>
              <a:rPr lang="en-US" sz="2800" dirty="0" smtClean="0"/>
            </a:br>
            <a:r>
              <a:rPr lang="en-US" sz="2800" dirty="0" smtClean="0"/>
              <a:t>  $("button").click(function(){</a:t>
            </a:r>
            <a:br>
              <a:rPr lang="en-US" sz="2800" dirty="0" smtClean="0"/>
            </a:br>
            <a:r>
              <a:rPr lang="en-US" sz="2800" dirty="0" smtClean="0"/>
              <a:t>    $("p").hide();                        });</a:t>
            </a:r>
            <a:br>
              <a:rPr lang="en-US" sz="2800" dirty="0" smtClean="0"/>
            </a:br>
            <a:r>
              <a:rPr lang="en-US" sz="2800" dirty="0" smtClean="0"/>
              <a:t>});</a:t>
            </a:r>
            <a:endParaRPr lang="en-US" sz="2800" dirty="0"/>
          </a:p>
        </p:txBody>
      </p:sp>
      <p:sp>
        <p:nvSpPr>
          <p:cNvPr id="8" name="5-Point Star 7"/>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Jquery</a:t>
            </a:r>
            <a:r>
              <a:rPr lang="en-US" dirty="0" smtClean="0"/>
              <a:t> #Id Selector</a:t>
            </a:r>
            <a:endParaRPr lang="en-US" dirty="0"/>
          </a:p>
        </p:txBody>
      </p:sp>
      <p:sp>
        <p:nvSpPr>
          <p:cNvPr id="3" name="Content Placeholder 2"/>
          <p:cNvSpPr>
            <a:spLocks noGrp="1"/>
          </p:cNvSpPr>
          <p:nvPr>
            <p:ph idx="1"/>
          </p:nvPr>
        </p:nvSpPr>
        <p:spPr>
          <a:xfrm>
            <a:off x="986620" y="1295400"/>
            <a:ext cx="7776380" cy="4876800"/>
          </a:xfrm>
        </p:spPr>
        <p:txBody>
          <a:bodyPr>
            <a:normAutofit/>
          </a:bodyPr>
          <a:lstStyle/>
          <a:p>
            <a:r>
              <a:rPr lang="en-US" sz="2400" dirty="0" smtClean="0"/>
              <a:t> The </a:t>
            </a:r>
            <a:r>
              <a:rPr lang="en-US" sz="2400" dirty="0" err="1" smtClean="0"/>
              <a:t>jQuery</a:t>
            </a:r>
            <a:r>
              <a:rPr lang="en-US" sz="2400" dirty="0" smtClean="0"/>
              <a:t> #id selector uses the id attribute of an HTML tag to find the specific element.</a:t>
            </a:r>
          </a:p>
          <a:p>
            <a:r>
              <a:rPr lang="en-US" sz="2400" dirty="0" smtClean="0"/>
              <a:t>An id should be unique within a page, so   use the #id selector when you want to find a single, unique element. To find the element with a specific id, write a hash #, followed by the element’s id:</a:t>
            </a:r>
          </a:p>
          <a:p>
            <a:r>
              <a:rPr lang="en-US" sz="1800" dirty="0" smtClean="0"/>
              <a:t>See Example 2: </a:t>
            </a:r>
            <a:r>
              <a:rPr lang="en-US" sz="1200" dirty="0" smtClean="0">
                <a:hlinkClick r:id="rId3"/>
              </a:rPr>
              <a:t>http://www.w3schools.com/jquery/tryit.asp?filename=tryjquery_hide_id</a:t>
            </a:r>
            <a:endParaRPr lang="en-US" sz="1200" dirty="0" smtClean="0"/>
          </a:p>
          <a:p>
            <a:r>
              <a:rPr lang="en-US" sz="2400" dirty="0" smtClean="0"/>
              <a:t>When a user clicks on a button, the element with id="test" will be hidden:</a:t>
            </a:r>
            <a:endParaRPr lang="en-US" sz="24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13</a:t>
            </a:fld>
            <a:endParaRPr lang="en-US"/>
          </a:p>
        </p:txBody>
      </p:sp>
      <p:sp>
        <p:nvSpPr>
          <p:cNvPr id="6" name="TextBox 5"/>
          <p:cNvSpPr txBox="1"/>
          <p:nvPr/>
        </p:nvSpPr>
        <p:spPr>
          <a:xfrm>
            <a:off x="5181600" y="3200400"/>
            <a:ext cx="3276600" cy="523220"/>
          </a:xfrm>
          <a:prstGeom prst="rect">
            <a:avLst/>
          </a:prstGeom>
          <a:solidFill>
            <a:schemeClr val="accent6">
              <a:lumMod val="40000"/>
              <a:lumOff val="60000"/>
            </a:schemeClr>
          </a:solidFill>
        </p:spPr>
        <p:txBody>
          <a:bodyPr wrap="square" rtlCol="0">
            <a:spAutoFit/>
          </a:bodyPr>
          <a:lstStyle/>
          <a:p>
            <a:r>
              <a:rPr lang="en-US" sz="2800" dirty="0" smtClean="0"/>
              <a:t>$("#test")</a:t>
            </a:r>
            <a:endParaRPr lang="en-US" sz="2800" dirty="0"/>
          </a:p>
        </p:txBody>
      </p:sp>
      <p:sp>
        <p:nvSpPr>
          <p:cNvPr id="7" name="TextBox 6"/>
          <p:cNvSpPr txBox="1"/>
          <p:nvPr/>
        </p:nvSpPr>
        <p:spPr>
          <a:xfrm>
            <a:off x="1371600" y="4724400"/>
            <a:ext cx="7162800" cy="1815882"/>
          </a:xfrm>
          <a:prstGeom prst="rect">
            <a:avLst/>
          </a:prstGeom>
          <a:solidFill>
            <a:schemeClr val="accent6">
              <a:lumMod val="40000"/>
              <a:lumOff val="60000"/>
            </a:schemeClr>
          </a:solidFill>
        </p:spPr>
        <p:txBody>
          <a:bodyPr wrap="square" rtlCol="0">
            <a:spAutoFit/>
          </a:bodyPr>
          <a:lstStyle/>
          <a:p>
            <a:r>
              <a:rPr lang="en-US" sz="2800" dirty="0" smtClean="0"/>
              <a:t>$(document).ready(function(){</a:t>
            </a:r>
            <a:br>
              <a:rPr lang="en-US" sz="2800" dirty="0" smtClean="0"/>
            </a:br>
            <a:r>
              <a:rPr lang="en-US" sz="2800" dirty="0" smtClean="0"/>
              <a:t>  $("button").click(function(){</a:t>
            </a:r>
            <a:br>
              <a:rPr lang="en-US" sz="2800" dirty="0" smtClean="0"/>
            </a:br>
            <a:r>
              <a:rPr lang="en-US" sz="2800" dirty="0" smtClean="0"/>
              <a:t>    $("#test").hide();  });</a:t>
            </a:r>
            <a:br>
              <a:rPr lang="en-US" sz="2800" dirty="0" smtClean="0"/>
            </a:br>
            <a:r>
              <a:rPr lang="en-US" sz="2800" dirty="0" smtClean="0"/>
              <a:t>});</a:t>
            </a:r>
            <a:endParaRPr lang="en-US" sz="2800" dirty="0"/>
          </a:p>
        </p:txBody>
      </p:sp>
      <p:sp>
        <p:nvSpPr>
          <p:cNvPr id="8" name="5-Point Star 7"/>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Jquery</a:t>
            </a:r>
            <a:r>
              <a:rPr lang="en-US" dirty="0" smtClean="0"/>
              <a:t> Class Selector</a:t>
            </a:r>
            <a:endParaRPr lang="en-US" dirty="0"/>
          </a:p>
        </p:txBody>
      </p:sp>
      <p:sp>
        <p:nvSpPr>
          <p:cNvPr id="3" name="Content Placeholder 2"/>
          <p:cNvSpPr>
            <a:spLocks noGrp="1"/>
          </p:cNvSpPr>
          <p:nvPr>
            <p:ph idx="1"/>
          </p:nvPr>
        </p:nvSpPr>
        <p:spPr>
          <a:xfrm>
            <a:off x="986620" y="1295400"/>
            <a:ext cx="7776380" cy="4876800"/>
          </a:xfrm>
        </p:spPr>
        <p:txBody>
          <a:bodyPr>
            <a:normAutofit/>
          </a:bodyPr>
          <a:lstStyle/>
          <a:p>
            <a:r>
              <a:rPr lang="en-US" sz="2400" dirty="0" smtClean="0"/>
              <a:t> The </a:t>
            </a:r>
            <a:r>
              <a:rPr lang="en-US" sz="2400" dirty="0" err="1" smtClean="0"/>
              <a:t>jQuery</a:t>
            </a:r>
            <a:r>
              <a:rPr lang="en-US" sz="2400" dirty="0" smtClean="0"/>
              <a:t> class selector finds elements with a specific class.</a:t>
            </a:r>
          </a:p>
          <a:p>
            <a:r>
              <a:rPr lang="en-US" sz="2400" dirty="0" smtClean="0"/>
              <a:t>To find elements with a specific class, write a period character, followed by the name of the class:</a:t>
            </a:r>
          </a:p>
          <a:p>
            <a:endParaRPr lang="en-US" sz="1800" dirty="0" smtClean="0"/>
          </a:p>
          <a:p>
            <a:endParaRPr lang="en-US" sz="1800" dirty="0" smtClean="0"/>
          </a:p>
          <a:p>
            <a:r>
              <a:rPr lang="en-US" sz="1800" dirty="0" smtClean="0"/>
              <a:t>See Example 2: </a:t>
            </a:r>
            <a:r>
              <a:rPr lang="en-US" sz="1200" dirty="0" smtClean="0"/>
              <a:t> </a:t>
            </a:r>
            <a:r>
              <a:rPr lang="en-US" sz="1200" dirty="0" smtClean="0">
                <a:hlinkClick r:id="rId3"/>
              </a:rPr>
              <a:t>http://www.w3schools.com/jquery/tryit.asp?filename=tryjquery_hide_class</a:t>
            </a:r>
            <a:endParaRPr lang="en-US" sz="1200" dirty="0" smtClean="0"/>
          </a:p>
          <a:p>
            <a:r>
              <a:rPr lang="en-US" sz="2400" dirty="0" smtClean="0"/>
              <a:t>When a user clicks on a button, the element with id="test" will be hidden:</a:t>
            </a:r>
            <a:endParaRPr lang="en-US" sz="24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14</a:t>
            </a:fld>
            <a:endParaRPr lang="en-US"/>
          </a:p>
        </p:txBody>
      </p:sp>
      <p:sp>
        <p:nvSpPr>
          <p:cNvPr id="6" name="TextBox 5"/>
          <p:cNvSpPr txBox="1"/>
          <p:nvPr/>
        </p:nvSpPr>
        <p:spPr>
          <a:xfrm>
            <a:off x="1447800" y="2971800"/>
            <a:ext cx="3276600" cy="523220"/>
          </a:xfrm>
          <a:prstGeom prst="rect">
            <a:avLst/>
          </a:prstGeom>
          <a:solidFill>
            <a:schemeClr val="accent6">
              <a:lumMod val="40000"/>
              <a:lumOff val="60000"/>
            </a:schemeClr>
          </a:solidFill>
        </p:spPr>
        <p:txBody>
          <a:bodyPr wrap="square" rtlCol="0">
            <a:spAutoFit/>
          </a:bodyPr>
          <a:lstStyle/>
          <a:p>
            <a:r>
              <a:rPr lang="en-US" sz="2800" dirty="0" smtClean="0"/>
              <a:t>$(".test")</a:t>
            </a:r>
            <a:endParaRPr lang="en-US" sz="2800" dirty="0"/>
          </a:p>
        </p:txBody>
      </p:sp>
      <p:sp>
        <p:nvSpPr>
          <p:cNvPr id="7" name="TextBox 6"/>
          <p:cNvSpPr txBox="1"/>
          <p:nvPr/>
        </p:nvSpPr>
        <p:spPr>
          <a:xfrm>
            <a:off x="1371600" y="4724400"/>
            <a:ext cx="7162800" cy="1815882"/>
          </a:xfrm>
          <a:prstGeom prst="rect">
            <a:avLst/>
          </a:prstGeom>
          <a:solidFill>
            <a:schemeClr val="accent6">
              <a:lumMod val="40000"/>
              <a:lumOff val="60000"/>
            </a:schemeClr>
          </a:solidFill>
        </p:spPr>
        <p:txBody>
          <a:bodyPr wrap="square" rtlCol="0">
            <a:spAutoFit/>
          </a:bodyPr>
          <a:lstStyle/>
          <a:p>
            <a:r>
              <a:rPr lang="en-US" sz="2800" dirty="0" smtClean="0"/>
              <a:t>$(document).ready(function(){</a:t>
            </a:r>
            <a:br>
              <a:rPr lang="en-US" sz="2800" dirty="0" smtClean="0"/>
            </a:br>
            <a:r>
              <a:rPr lang="en-US" sz="2800" dirty="0" smtClean="0"/>
              <a:t>  $("button").click(function(){</a:t>
            </a:r>
            <a:br>
              <a:rPr lang="en-US" sz="2800" dirty="0" smtClean="0"/>
            </a:br>
            <a:r>
              <a:rPr lang="en-US" sz="2800" dirty="0" smtClean="0"/>
              <a:t>    $(".test").hide();  });</a:t>
            </a:r>
            <a:br>
              <a:rPr lang="en-US" sz="2800" dirty="0" smtClean="0"/>
            </a:br>
            <a:r>
              <a:rPr lang="en-US" sz="2800" dirty="0" smtClean="0"/>
              <a:t>});</a:t>
            </a:r>
            <a:endParaRPr lang="en-US" sz="2800" dirty="0"/>
          </a:p>
        </p:txBody>
      </p:sp>
      <p:sp>
        <p:nvSpPr>
          <p:cNvPr id="8" name="5-Point Star 7"/>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Jquery</a:t>
            </a:r>
            <a:r>
              <a:rPr lang="en-US" dirty="0" smtClean="0"/>
              <a:t>  Selectors – More </a:t>
            </a:r>
            <a:r>
              <a:rPr lang="en-US" dirty="0" err="1" smtClean="0"/>
              <a:t>Eg</a:t>
            </a:r>
            <a:r>
              <a:rPr lang="en-US" dirty="0" smtClean="0"/>
              <a:t>.</a:t>
            </a:r>
            <a:endParaRPr lang="en-US" dirty="0"/>
          </a:p>
        </p:txBody>
      </p:sp>
      <p:sp>
        <p:nvSpPr>
          <p:cNvPr id="3" name="Content Placeholder 2"/>
          <p:cNvSpPr>
            <a:spLocks noGrp="1"/>
          </p:cNvSpPr>
          <p:nvPr>
            <p:ph idx="1"/>
          </p:nvPr>
        </p:nvSpPr>
        <p:spPr>
          <a:xfrm>
            <a:off x="986620" y="1295400"/>
            <a:ext cx="7776380" cy="4876800"/>
          </a:xfrm>
        </p:spPr>
        <p:txBody>
          <a:bodyPr>
            <a:normAutofit/>
          </a:bodyPr>
          <a:lstStyle/>
          <a:p>
            <a:r>
              <a:rPr lang="en-US" sz="2400" dirty="0" smtClean="0"/>
              <a:t>  </a:t>
            </a:r>
            <a:endParaRPr lang="en-US" sz="24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15</a:t>
            </a:fld>
            <a:endParaRPr lang="en-US"/>
          </a:p>
        </p:txBody>
      </p:sp>
      <p:graphicFrame>
        <p:nvGraphicFramePr>
          <p:cNvPr id="8" name="Table 7"/>
          <p:cNvGraphicFramePr>
            <a:graphicFrameLocks noGrp="1"/>
          </p:cNvGraphicFramePr>
          <p:nvPr/>
        </p:nvGraphicFramePr>
        <p:xfrm>
          <a:off x="685800" y="1371600"/>
          <a:ext cx="8229600" cy="4876802"/>
        </p:xfrm>
        <a:graphic>
          <a:graphicData uri="http://schemas.openxmlformats.org/drawingml/2006/table">
            <a:tbl>
              <a:tblPr/>
              <a:tblGrid>
                <a:gridCol w="2286001"/>
                <a:gridCol w="5943599"/>
              </a:tblGrid>
              <a:tr h="485249">
                <a:tc>
                  <a:txBody>
                    <a:bodyPr/>
                    <a:lstStyle/>
                    <a:p>
                      <a:pPr algn="l" fontAlgn="t"/>
                      <a:r>
                        <a:rPr lang="en-US" sz="1800">
                          <a:solidFill>
                            <a:srgbClr val="FFFFFF"/>
                          </a:solidFill>
                          <a:latin typeface="verdana"/>
                        </a:rPr>
                        <a:t>Syntax</a:t>
                      </a:r>
                    </a:p>
                  </a:txBody>
                  <a:tcPr marL="9722" marR="9722" marT="9722" marB="9722">
                    <a:lnL w="7620" cap="flat" cmpd="sng" algn="ctr">
                      <a:solidFill>
                        <a:srgbClr val="555555"/>
                      </a:solidFill>
                      <a:prstDash val="solid"/>
                      <a:round/>
                      <a:headEnd type="none" w="med" len="med"/>
                      <a:tailEnd type="none" w="med" len="med"/>
                    </a:lnL>
                    <a:lnR w="7620" cap="flat" cmpd="sng" algn="ctr">
                      <a:solidFill>
                        <a:srgbClr val="555555"/>
                      </a:solidFill>
                      <a:prstDash val="solid"/>
                      <a:round/>
                      <a:headEnd type="none" w="med" len="med"/>
                      <a:tailEnd type="none" w="med" len="med"/>
                    </a:lnR>
                    <a:lnT w="7620" cap="flat" cmpd="sng" algn="ctr">
                      <a:solidFill>
                        <a:srgbClr val="555555"/>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555555"/>
                    </a:solidFill>
                  </a:tcPr>
                </a:tc>
                <a:tc>
                  <a:txBody>
                    <a:bodyPr/>
                    <a:lstStyle/>
                    <a:p>
                      <a:pPr algn="l" fontAlgn="t"/>
                      <a:r>
                        <a:rPr lang="en-US" sz="1800">
                          <a:solidFill>
                            <a:srgbClr val="FFFFFF"/>
                          </a:solidFill>
                          <a:latin typeface="verdana"/>
                        </a:rPr>
                        <a:t>Description</a:t>
                      </a:r>
                    </a:p>
                  </a:txBody>
                  <a:tcPr marL="9722" marR="9722" marT="9722" marB="9722">
                    <a:lnL w="7620" cap="flat" cmpd="sng" algn="ctr">
                      <a:solidFill>
                        <a:srgbClr val="555555"/>
                      </a:solidFill>
                      <a:prstDash val="solid"/>
                      <a:round/>
                      <a:headEnd type="none" w="med" len="med"/>
                      <a:tailEnd type="none" w="med" len="med"/>
                    </a:lnL>
                    <a:lnR w="7620" cap="flat" cmpd="sng" algn="ctr">
                      <a:solidFill>
                        <a:srgbClr val="555555"/>
                      </a:solidFill>
                      <a:prstDash val="solid"/>
                      <a:round/>
                      <a:headEnd type="none" w="med" len="med"/>
                      <a:tailEnd type="none" w="med" len="med"/>
                    </a:lnR>
                    <a:lnT w="7620" cap="flat" cmpd="sng" algn="ctr">
                      <a:solidFill>
                        <a:srgbClr val="555555"/>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555555"/>
                    </a:solidFill>
                  </a:tcPr>
                </a:tc>
              </a:tr>
              <a:tr h="379425">
                <a:tc>
                  <a:txBody>
                    <a:bodyPr/>
                    <a:lstStyle/>
                    <a:p>
                      <a:pPr fontAlgn="t"/>
                      <a:r>
                        <a:rPr lang="en-US" sz="1800">
                          <a:latin typeface="verdana"/>
                        </a:rPr>
                        <a:t>$("*")</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en-US" sz="1800">
                          <a:latin typeface="verdana"/>
                        </a:rPr>
                        <a:t>Selects all elements</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r>
              <a:tr h="379425">
                <a:tc>
                  <a:txBody>
                    <a:bodyPr/>
                    <a:lstStyle/>
                    <a:p>
                      <a:pPr fontAlgn="t"/>
                      <a:r>
                        <a:rPr lang="en-US" sz="1800">
                          <a:latin typeface="verdana"/>
                        </a:rPr>
                        <a:t>$(this)</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en-US" sz="1800">
                          <a:latin typeface="verdana"/>
                        </a:rPr>
                        <a:t>Selects the current HTML element</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r>
              <a:tr h="705001">
                <a:tc>
                  <a:txBody>
                    <a:bodyPr/>
                    <a:lstStyle/>
                    <a:p>
                      <a:pPr fontAlgn="t"/>
                      <a:r>
                        <a:rPr lang="en-US" sz="1800">
                          <a:latin typeface="verdana"/>
                        </a:rPr>
                        <a:t>$("p.intro")</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en-US" sz="1800">
                          <a:latin typeface="verdana"/>
                        </a:rPr>
                        <a:t>Selects all &lt;p&gt; elements with class="intro"</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r>
              <a:tr h="379425">
                <a:tc>
                  <a:txBody>
                    <a:bodyPr/>
                    <a:lstStyle/>
                    <a:p>
                      <a:pPr fontAlgn="t"/>
                      <a:r>
                        <a:rPr lang="en-US" sz="1800" dirty="0">
                          <a:latin typeface="verdana"/>
                        </a:rPr>
                        <a:t>$("p:first")</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en-US" sz="1800">
                          <a:latin typeface="verdana"/>
                        </a:rPr>
                        <a:t>Selects the first &lt;p&gt; element</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r>
              <a:tr h="379425">
                <a:tc>
                  <a:txBody>
                    <a:bodyPr/>
                    <a:lstStyle/>
                    <a:p>
                      <a:pPr fontAlgn="t"/>
                      <a:r>
                        <a:rPr lang="en-US" sz="1800" dirty="0">
                          <a:latin typeface="verdana"/>
                        </a:rPr>
                        <a:t>$("[</a:t>
                      </a:r>
                      <a:r>
                        <a:rPr lang="en-US" sz="1800" dirty="0" err="1">
                          <a:latin typeface="verdana"/>
                        </a:rPr>
                        <a:t>href</a:t>
                      </a:r>
                      <a:r>
                        <a:rPr lang="en-US" sz="1800" dirty="0">
                          <a:latin typeface="verdana"/>
                        </a:rPr>
                        <a:t>]")</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en-US" sz="1800">
                          <a:latin typeface="verdana"/>
                        </a:rPr>
                        <a:t>Selects all elements with an href attribute</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r>
              <a:tr h="705001">
                <a:tc>
                  <a:txBody>
                    <a:bodyPr/>
                    <a:lstStyle/>
                    <a:p>
                      <a:pPr fontAlgn="t"/>
                      <a:r>
                        <a:rPr lang="en-US" sz="1800" dirty="0">
                          <a:latin typeface="verdana"/>
                        </a:rPr>
                        <a:t>$("a[target='_blank']")</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en-US" sz="1800">
                          <a:latin typeface="verdana"/>
                        </a:rPr>
                        <a:t>Selects all &lt;a&gt; elements with a target attribute value equal to "_blank"</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r>
              <a:tr h="705001">
                <a:tc>
                  <a:txBody>
                    <a:bodyPr/>
                    <a:lstStyle/>
                    <a:p>
                      <a:pPr fontAlgn="t"/>
                      <a:r>
                        <a:rPr lang="en-US" sz="1800" dirty="0">
                          <a:latin typeface="verdana"/>
                        </a:rPr>
                        <a:t>$(":button")</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en-US" sz="1800">
                          <a:latin typeface="verdana"/>
                        </a:rPr>
                        <a:t>Selects all &lt;button&gt; elements and &lt;input&gt; elements of type="button"</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r>
              <a:tr h="379425">
                <a:tc>
                  <a:txBody>
                    <a:bodyPr/>
                    <a:lstStyle/>
                    <a:p>
                      <a:pPr fontAlgn="t"/>
                      <a:r>
                        <a:rPr lang="en-US" sz="1800">
                          <a:latin typeface="verdana"/>
                        </a:rPr>
                        <a:t>$("tr:even")</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fontAlgn="t"/>
                      <a:r>
                        <a:rPr lang="en-US" sz="1800">
                          <a:latin typeface="verdana"/>
                        </a:rPr>
                        <a:t>Selects all even &lt;tr&gt; elements</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r>
              <a:tr h="379425">
                <a:tc>
                  <a:txBody>
                    <a:bodyPr/>
                    <a:lstStyle/>
                    <a:p>
                      <a:pPr fontAlgn="t"/>
                      <a:r>
                        <a:rPr lang="en-US" sz="1800">
                          <a:latin typeface="verdana"/>
                        </a:rPr>
                        <a:t>$("tr:odd")</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fontAlgn="t"/>
                      <a:r>
                        <a:rPr lang="en-US" sz="1800" dirty="0">
                          <a:latin typeface="verdana"/>
                        </a:rPr>
                        <a:t>Selects all odd &lt;</a:t>
                      </a:r>
                      <a:r>
                        <a:rPr lang="en-US" sz="1800" dirty="0" err="1">
                          <a:latin typeface="verdana"/>
                        </a:rPr>
                        <a:t>tr</a:t>
                      </a:r>
                      <a:r>
                        <a:rPr lang="en-US" sz="1800" dirty="0">
                          <a:latin typeface="verdana"/>
                        </a:rPr>
                        <a:t>&gt; elements</a:t>
                      </a:r>
                    </a:p>
                  </a:txBody>
                  <a:tcPr marL="16204" marR="16204" marT="22686" marB="22686">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r>
            </a:tbl>
          </a:graphicData>
        </a:graphic>
      </p:graphicFrame>
      <p:sp>
        <p:nvSpPr>
          <p:cNvPr id="6" name="5-Point Star 5"/>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 </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Jquery</a:t>
            </a:r>
            <a:r>
              <a:rPr lang="en-US" dirty="0" smtClean="0"/>
              <a:t> codes in a separate file</a:t>
            </a:r>
            <a:endParaRPr lang="en-US" dirty="0"/>
          </a:p>
        </p:txBody>
      </p:sp>
      <p:sp>
        <p:nvSpPr>
          <p:cNvPr id="3" name="Content Placeholder 2"/>
          <p:cNvSpPr>
            <a:spLocks noGrp="1"/>
          </p:cNvSpPr>
          <p:nvPr>
            <p:ph idx="1"/>
          </p:nvPr>
        </p:nvSpPr>
        <p:spPr>
          <a:xfrm>
            <a:off x="986620" y="1295400"/>
            <a:ext cx="7776380" cy="4876800"/>
          </a:xfrm>
        </p:spPr>
        <p:txBody>
          <a:bodyPr>
            <a:normAutofit/>
          </a:bodyPr>
          <a:lstStyle/>
          <a:p>
            <a:r>
              <a:rPr lang="en-US" sz="2400" dirty="0" smtClean="0"/>
              <a:t> If your website contains a lot of pages, and you want your </a:t>
            </a:r>
            <a:r>
              <a:rPr lang="en-US" sz="2400" dirty="0" err="1" smtClean="0"/>
              <a:t>jQuery</a:t>
            </a:r>
            <a:r>
              <a:rPr lang="en-US" sz="2400" dirty="0" smtClean="0"/>
              <a:t> functions to be easy to maintain, you can put your </a:t>
            </a:r>
            <a:r>
              <a:rPr lang="en-US" sz="2400" dirty="0" err="1" smtClean="0"/>
              <a:t>jQuery</a:t>
            </a:r>
            <a:r>
              <a:rPr lang="en-US" sz="2400" dirty="0" smtClean="0"/>
              <a:t> functions in a separate .</a:t>
            </a:r>
            <a:r>
              <a:rPr lang="en-US" sz="2400" dirty="0" err="1" smtClean="0"/>
              <a:t>js</a:t>
            </a:r>
            <a:r>
              <a:rPr lang="en-US" sz="2400" dirty="0" smtClean="0"/>
              <a:t> file.</a:t>
            </a:r>
          </a:p>
          <a:p>
            <a:r>
              <a:rPr lang="en-US" sz="2400" dirty="0" smtClean="0"/>
              <a:t> Example:</a:t>
            </a:r>
            <a:r>
              <a:rPr lang="en-US" sz="1800" dirty="0" smtClean="0"/>
              <a:t> </a:t>
            </a:r>
            <a:endParaRPr lang="en-US" sz="24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16</a:t>
            </a:fld>
            <a:endParaRPr lang="en-US"/>
          </a:p>
        </p:txBody>
      </p:sp>
      <p:sp>
        <p:nvSpPr>
          <p:cNvPr id="7" name="TextBox 6"/>
          <p:cNvSpPr txBox="1"/>
          <p:nvPr/>
        </p:nvSpPr>
        <p:spPr>
          <a:xfrm>
            <a:off x="1371600" y="2971800"/>
            <a:ext cx="7162800" cy="2862322"/>
          </a:xfrm>
          <a:prstGeom prst="rect">
            <a:avLst/>
          </a:prstGeom>
          <a:solidFill>
            <a:schemeClr val="accent6">
              <a:lumMod val="40000"/>
              <a:lumOff val="60000"/>
            </a:schemeClr>
          </a:solidFill>
        </p:spPr>
        <p:txBody>
          <a:bodyPr wrap="square" rtlCol="0">
            <a:spAutoFit/>
          </a:bodyPr>
          <a:lstStyle/>
          <a:p>
            <a:r>
              <a:rPr lang="en-US" sz="2800" dirty="0" smtClean="0"/>
              <a:t>&lt;head&gt;</a:t>
            </a:r>
            <a:br>
              <a:rPr lang="en-US" sz="2800" dirty="0" smtClean="0"/>
            </a:br>
            <a:r>
              <a:rPr lang="en-US" sz="2400" dirty="0" smtClean="0">
                <a:solidFill>
                  <a:schemeClr val="bg1">
                    <a:lumMod val="50000"/>
                  </a:schemeClr>
                </a:solidFill>
              </a:rPr>
              <a:t>&lt;script </a:t>
            </a:r>
            <a:r>
              <a:rPr lang="en-US" sz="2400" dirty="0" err="1" smtClean="0">
                <a:solidFill>
                  <a:schemeClr val="bg1">
                    <a:lumMod val="50000"/>
                  </a:schemeClr>
                </a:solidFill>
              </a:rPr>
              <a:t>src</a:t>
            </a:r>
            <a:r>
              <a:rPr lang="en-US" sz="2400" dirty="0" smtClean="0">
                <a:solidFill>
                  <a:schemeClr val="bg1">
                    <a:lumMod val="50000"/>
                  </a:schemeClr>
                </a:solidFill>
              </a:rPr>
              <a:t>="http://ajax.googleapis.com/ajax/libs/jquery/1.10.2/jquery.min.js"&gt;</a:t>
            </a:r>
            <a:br>
              <a:rPr lang="en-US" sz="2400" dirty="0" smtClean="0">
                <a:solidFill>
                  <a:schemeClr val="bg1">
                    <a:lumMod val="50000"/>
                  </a:schemeClr>
                </a:solidFill>
              </a:rPr>
            </a:br>
            <a:r>
              <a:rPr lang="en-US" sz="2400" dirty="0" smtClean="0">
                <a:solidFill>
                  <a:schemeClr val="bg1">
                    <a:lumMod val="50000"/>
                  </a:schemeClr>
                </a:solidFill>
              </a:rPr>
              <a:t>&lt;/script&gt;</a:t>
            </a:r>
            <a:r>
              <a:rPr lang="en-US" sz="2800" dirty="0" smtClean="0"/>
              <a:t/>
            </a:r>
            <a:br>
              <a:rPr lang="en-US" sz="2800" dirty="0" smtClean="0"/>
            </a:br>
            <a:r>
              <a:rPr lang="en-US" sz="2800" dirty="0" smtClean="0"/>
              <a:t>&lt;script </a:t>
            </a:r>
            <a:r>
              <a:rPr lang="en-US" sz="2800" dirty="0" err="1" smtClean="0"/>
              <a:t>src</a:t>
            </a:r>
            <a:r>
              <a:rPr lang="en-US" sz="2800" dirty="0" smtClean="0"/>
              <a:t>="my_jquery_functions.js"&gt;&lt;/script&gt;</a:t>
            </a:r>
            <a:br>
              <a:rPr lang="en-US" sz="2800" dirty="0" smtClean="0"/>
            </a:br>
            <a:r>
              <a:rPr lang="en-US" sz="2800" dirty="0" smtClean="0"/>
              <a:t>&lt;/head&gt;</a:t>
            </a:r>
            <a:endParaRPr lang="en-US" sz="2800" dirty="0"/>
          </a:p>
        </p:txBody>
      </p:sp>
      <p:sp>
        <p:nvSpPr>
          <p:cNvPr id="6" name="5-Point Star 5"/>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Jquery</a:t>
            </a:r>
            <a:r>
              <a:rPr lang="en-US" dirty="0" smtClean="0"/>
              <a:t> Event Methods</a:t>
            </a:r>
            <a:endParaRPr lang="en-US" dirty="0"/>
          </a:p>
        </p:txBody>
      </p:sp>
      <p:sp>
        <p:nvSpPr>
          <p:cNvPr id="3" name="Content Placeholder 2"/>
          <p:cNvSpPr>
            <a:spLocks noGrp="1"/>
          </p:cNvSpPr>
          <p:nvPr>
            <p:ph idx="1"/>
          </p:nvPr>
        </p:nvSpPr>
        <p:spPr>
          <a:xfrm>
            <a:off x="986620" y="1295400"/>
            <a:ext cx="7776380" cy="4876800"/>
          </a:xfrm>
        </p:spPr>
        <p:txBody>
          <a:bodyPr>
            <a:normAutofit/>
          </a:bodyPr>
          <a:lstStyle/>
          <a:p>
            <a:r>
              <a:rPr lang="en-US" sz="2400" dirty="0" smtClean="0"/>
              <a:t> All the different visitor's actions that a web page can respond to are called events. </a:t>
            </a:r>
          </a:p>
          <a:p>
            <a:r>
              <a:rPr lang="en-US" sz="2400" dirty="0" smtClean="0"/>
              <a:t>Here are some common DOM events: </a:t>
            </a:r>
          </a:p>
          <a:p>
            <a:endParaRPr lang="en-US" sz="24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17</a:t>
            </a:fld>
            <a:endParaRPr lang="en-US"/>
          </a:p>
        </p:txBody>
      </p:sp>
      <p:graphicFrame>
        <p:nvGraphicFramePr>
          <p:cNvPr id="8" name="Table 7"/>
          <p:cNvGraphicFramePr>
            <a:graphicFrameLocks noGrp="1"/>
          </p:cNvGraphicFramePr>
          <p:nvPr/>
        </p:nvGraphicFramePr>
        <p:xfrm>
          <a:off x="914400" y="2590800"/>
          <a:ext cx="7924800" cy="3124200"/>
        </p:xfrm>
        <a:graphic>
          <a:graphicData uri="http://schemas.openxmlformats.org/drawingml/2006/table">
            <a:tbl>
              <a:tblPr/>
              <a:tblGrid>
                <a:gridCol w="1822704"/>
                <a:gridCol w="1834895"/>
                <a:gridCol w="1889761"/>
                <a:gridCol w="2377440"/>
              </a:tblGrid>
              <a:tr h="696250">
                <a:tc>
                  <a:txBody>
                    <a:bodyPr/>
                    <a:lstStyle/>
                    <a:p>
                      <a:pPr algn="ctr" fontAlgn="t"/>
                      <a:r>
                        <a:rPr lang="en-US">
                          <a:solidFill>
                            <a:srgbClr val="FFFFFF"/>
                          </a:solidFill>
                          <a:latin typeface="verdana"/>
                        </a:rPr>
                        <a:t>Mouse Events</a:t>
                      </a:r>
                    </a:p>
                  </a:txBody>
                  <a:tcPr marL="22860" marR="22860" marT="22860" marB="22860">
                    <a:lnL w="7620" cap="flat" cmpd="sng" algn="ctr">
                      <a:solidFill>
                        <a:srgbClr val="555555"/>
                      </a:solidFill>
                      <a:prstDash val="solid"/>
                      <a:round/>
                      <a:headEnd type="none" w="med" len="med"/>
                      <a:tailEnd type="none" w="med" len="med"/>
                    </a:lnL>
                    <a:lnR w="7620" cap="flat" cmpd="sng" algn="ctr">
                      <a:solidFill>
                        <a:srgbClr val="555555"/>
                      </a:solidFill>
                      <a:prstDash val="solid"/>
                      <a:round/>
                      <a:headEnd type="none" w="med" len="med"/>
                      <a:tailEnd type="none" w="med" len="med"/>
                    </a:lnR>
                    <a:lnT w="7620" cap="flat" cmpd="sng" algn="ctr">
                      <a:solidFill>
                        <a:srgbClr val="555555"/>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555555"/>
                    </a:solidFill>
                  </a:tcPr>
                </a:tc>
                <a:tc>
                  <a:txBody>
                    <a:bodyPr/>
                    <a:lstStyle/>
                    <a:p>
                      <a:pPr algn="ctr" fontAlgn="t"/>
                      <a:r>
                        <a:rPr lang="en-US">
                          <a:solidFill>
                            <a:srgbClr val="FFFFFF"/>
                          </a:solidFill>
                          <a:latin typeface="verdana"/>
                        </a:rPr>
                        <a:t>Keyboard Events</a:t>
                      </a:r>
                    </a:p>
                  </a:txBody>
                  <a:tcPr marL="22860" marR="22860" marT="22860" marB="22860">
                    <a:lnL w="7620" cap="flat" cmpd="sng" algn="ctr">
                      <a:solidFill>
                        <a:srgbClr val="555555"/>
                      </a:solidFill>
                      <a:prstDash val="solid"/>
                      <a:round/>
                      <a:headEnd type="none" w="med" len="med"/>
                      <a:tailEnd type="none" w="med" len="med"/>
                    </a:lnL>
                    <a:lnR w="7620" cap="flat" cmpd="sng" algn="ctr">
                      <a:solidFill>
                        <a:srgbClr val="555555"/>
                      </a:solidFill>
                      <a:prstDash val="solid"/>
                      <a:round/>
                      <a:headEnd type="none" w="med" len="med"/>
                      <a:tailEnd type="none" w="med" len="med"/>
                    </a:lnR>
                    <a:lnT w="7620" cap="flat" cmpd="sng" algn="ctr">
                      <a:solidFill>
                        <a:srgbClr val="555555"/>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555555"/>
                    </a:solidFill>
                  </a:tcPr>
                </a:tc>
                <a:tc>
                  <a:txBody>
                    <a:bodyPr/>
                    <a:lstStyle/>
                    <a:p>
                      <a:pPr algn="ctr" fontAlgn="t"/>
                      <a:r>
                        <a:rPr lang="en-US">
                          <a:solidFill>
                            <a:srgbClr val="FFFFFF"/>
                          </a:solidFill>
                          <a:latin typeface="verdana"/>
                        </a:rPr>
                        <a:t>Form Events</a:t>
                      </a:r>
                    </a:p>
                  </a:txBody>
                  <a:tcPr marL="22860" marR="22860" marT="22860" marB="22860">
                    <a:lnL w="7620" cap="flat" cmpd="sng" algn="ctr">
                      <a:solidFill>
                        <a:srgbClr val="555555"/>
                      </a:solidFill>
                      <a:prstDash val="solid"/>
                      <a:round/>
                      <a:headEnd type="none" w="med" len="med"/>
                      <a:tailEnd type="none" w="med" len="med"/>
                    </a:lnL>
                    <a:lnR w="7620" cap="flat" cmpd="sng" algn="ctr">
                      <a:solidFill>
                        <a:srgbClr val="555555"/>
                      </a:solidFill>
                      <a:prstDash val="solid"/>
                      <a:round/>
                      <a:headEnd type="none" w="med" len="med"/>
                      <a:tailEnd type="none" w="med" len="med"/>
                    </a:lnR>
                    <a:lnT w="7620" cap="flat" cmpd="sng" algn="ctr">
                      <a:solidFill>
                        <a:srgbClr val="555555"/>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555555"/>
                    </a:solidFill>
                  </a:tcPr>
                </a:tc>
                <a:tc>
                  <a:txBody>
                    <a:bodyPr/>
                    <a:lstStyle/>
                    <a:p>
                      <a:pPr algn="ctr" fontAlgn="t"/>
                      <a:r>
                        <a:rPr lang="en-US">
                          <a:solidFill>
                            <a:srgbClr val="FFFFFF"/>
                          </a:solidFill>
                          <a:latin typeface="verdana"/>
                        </a:rPr>
                        <a:t>Document/Window Events</a:t>
                      </a:r>
                    </a:p>
                  </a:txBody>
                  <a:tcPr marL="22860" marR="22860" marT="22860" marB="22860">
                    <a:lnL w="7620" cap="flat" cmpd="sng" algn="ctr">
                      <a:solidFill>
                        <a:srgbClr val="555555"/>
                      </a:solidFill>
                      <a:prstDash val="solid"/>
                      <a:round/>
                      <a:headEnd type="none" w="med" len="med"/>
                      <a:tailEnd type="none" w="med" len="med"/>
                    </a:lnL>
                    <a:lnR w="7620" cap="flat" cmpd="sng" algn="ctr">
                      <a:solidFill>
                        <a:srgbClr val="555555"/>
                      </a:solidFill>
                      <a:prstDash val="solid"/>
                      <a:round/>
                      <a:headEnd type="none" w="med" len="med"/>
                      <a:tailEnd type="none" w="med" len="med"/>
                    </a:lnR>
                    <a:lnT w="7620" cap="flat" cmpd="sng" algn="ctr">
                      <a:solidFill>
                        <a:srgbClr val="555555"/>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555555"/>
                    </a:solidFill>
                  </a:tcPr>
                </a:tc>
              </a:tr>
              <a:tr h="446314">
                <a:tc>
                  <a:txBody>
                    <a:bodyPr/>
                    <a:lstStyle/>
                    <a:p>
                      <a:pPr algn="ctr" fontAlgn="t"/>
                      <a:r>
                        <a:rPr lang="en-US">
                          <a:latin typeface="verdana"/>
                        </a:rPr>
                        <a:t>click</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algn="ctr" fontAlgn="t"/>
                      <a:r>
                        <a:rPr lang="en-US">
                          <a:latin typeface="verdana"/>
                        </a:rPr>
                        <a:t>keypress</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algn="ctr" fontAlgn="t"/>
                      <a:r>
                        <a:rPr lang="en-US">
                          <a:latin typeface="verdana"/>
                        </a:rPr>
                        <a:t>submit</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algn="ctr" fontAlgn="t"/>
                      <a:r>
                        <a:rPr lang="en-US">
                          <a:latin typeface="verdana"/>
                        </a:rPr>
                        <a:t>load</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r>
              <a:tr h="446314">
                <a:tc>
                  <a:txBody>
                    <a:bodyPr/>
                    <a:lstStyle/>
                    <a:p>
                      <a:pPr algn="ctr" fontAlgn="t"/>
                      <a:r>
                        <a:rPr lang="en-US">
                          <a:latin typeface="verdana"/>
                        </a:rPr>
                        <a:t>dblclick</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algn="ctr" fontAlgn="t"/>
                      <a:r>
                        <a:rPr lang="en-US">
                          <a:latin typeface="verdana"/>
                        </a:rPr>
                        <a:t>keydown</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algn="ctr" fontAlgn="t"/>
                      <a:r>
                        <a:rPr lang="en-US">
                          <a:latin typeface="verdana"/>
                        </a:rPr>
                        <a:t>change</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algn="ctr" fontAlgn="t"/>
                      <a:r>
                        <a:rPr lang="en-US">
                          <a:latin typeface="verdana"/>
                        </a:rPr>
                        <a:t>resize</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r>
              <a:tr h="767661">
                <a:tc>
                  <a:txBody>
                    <a:bodyPr/>
                    <a:lstStyle/>
                    <a:p>
                      <a:pPr algn="ctr" fontAlgn="t"/>
                      <a:r>
                        <a:rPr lang="en-US">
                          <a:latin typeface="verdana"/>
                        </a:rPr>
                        <a:t>mouseenter</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algn="ctr" fontAlgn="t"/>
                      <a:r>
                        <a:rPr lang="en-US">
                          <a:latin typeface="verdana"/>
                        </a:rPr>
                        <a:t>keyup</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algn="ctr" fontAlgn="t"/>
                      <a:r>
                        <a:rPr lang="en-US">
                          <a:latin typeface="verdana"/>
                        </a:rPr>
                        <a:t>focus</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c>
                  <a:txBody>
                    <a:bodyPr/>
                    <a:lstStyle/>
                    <a:p>
                      <a:pPr algn="ctr" fontAlgn="t"/>
                      <a:r>
                        <a:rPr lang="en-US">
                          <a:latin typeface="verdana"/>
                        </a:rPr>
                        <a:t>scroll</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FFFFF"/>
                    </a:solidFill>
                  </a:tcPr>
                </a:tc>
              </a:tr>
              <a:tr h="767661">
                <a:tc>
                  <a:txBody>
                    <a:bodyPr/>
                    <a:lstStyle/>
                    <a:p>
                      <a:pPr algn="ctr" fontAlgn="t"/>
                      <a:r>
                        <a:rPr lang="en-US">
                          <a:latin typeface="verdana"/>
                        </a:rPr>
                        <a:t>mouseleave</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algn="ctr" fontAlgn="t"/>
                      <a:r>
                        <a:rPr lang="en-US">
                          <a:latin typeface="verdana"/>
                        </a:rPr>
                        <a:t> </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algn="ctr" fontAlgn="t"/>
                      <a:r>
                        <a:rPr lang="en-US">
                          <a:latin typeface="verdana"/>
                        </a:rPr>
                        <a:t>blur</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c>
                  <a:txBody>
                    <a:bodyPr/>
                    <a:lstStyle/>
                    <a:p>
                      <a:pPr algn="ctr" fontAlgn="t"/>
                      <a:r>
                        <a:rPr lang="en-US" dirty="0">
                          <a:latin typeface="verdana"/>
                        </a:rPr>
                        <a:t>unload</a:t>
                      </a:r>
                    </a:p>
                  </a:txBody>
                  <a:tcPr marL="38100" marR="38100" marT="53340" marB="53340">
                    <a:lnL w="7620" cap="flat" cmpd="sng" algn="ctr">
                      <a:solidFill>
                        <a:srgbClr val="D4D4D4"/>
                      </a:solidFill>
                      <a:prstDash val="solid"/>
                      <a:round/>
                      <a:headEnd type="none" w="med" len="med"/>
                      <a:tailEnd type="none" w="med" len="med"/>
                    </a:lnL>
                    <a:lnR w="7620" cap="flat" cmpd="sng" algn="ctr">
                      <a:solidFill>
                        <a:srgbClr val="D4D4D4"/>
                      </a:solidFill>
                      <a:prstDash val="solid"/>
                      <a:round/>
                      <a:headEnd type="none" w="med" len="med"/>
                      <a:tailEnd type="none" w="med" len="med"/>
                    </a:lnR>
                    <a:lnT w="7620" cap="flat" cmpd="sng" algn="ctr">
                      <a:solidFill>
                        <a:srgbClr val="D4D4D4"/>
                      </a:solidFill>
                      <a:prstDash val="solid"/>
                      <a:round/>
                      <a:headEnd type="none" w="med" len="med"/>
                      <a:tailEnd type="none" w="med" len="med"/>
                    </a:lnT>
                    <a:lnB w="7620" cap="flat" cmpd="sng" algn="ctr">
                      <a:solidFill>
                        <a:srgbClr val="D4D4D4"/>
                      </a:solidFill>
                      <a:prstDash val="solid"/>
                      <a:round/>
                      <a:headEnd type="none" w="med" len="med"/>
                      <a:tailEnd type="none" w="med" len="med"/>
                    </a:lnB>
                    <a:solidFill>
                      <a:srgbClr val="F6F4F0"/>
                    </a:solidFill>
                  </a:tcPr>
                </a:tc>
              </a:tr>
            </a:tbl>
          </a:graphicData>
        </a:graphic>
      </p:graphicFrame>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7" name="5-Point Star 6"/>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smtClean="0"/>
              <a:t>Event Handling </a:t>
            </a:r>
            <a:r>
              <a:rPr lang="en-US" b="0" dirty="0" err="1" smtClean="0"/>
              <a:t>jQuery</a:t>
            </a:r>
            <a:r>
              <a:rPr lang="en-US" b="0" dirty="0" smtClean="0"/>
              <a:t> Syntax  </a:t>
            </a:r>
            <a:endParaRPr lang="en-US" b="0" dirty="0"/>
          </a:p>
        </p:txBody>
      </p:sp>
      <p:sp>
        <p:nvSpPr>
          <p:cNvPr id="3" name="Content Placeholder 2"/>
          <p:cNvSpPr>
            <a:spLocks noGrp="1"/>
          </p:cNvSpPr>
          <p:nvPr>
            <p:ph idx="1"/>
          </p:nvPr>
        </p:nvSpPr>
        <p:spPr>
          <a:xfrm>
            <a:off x="986620" y="1295400"/>
            <a:ext cx="7776380" cy="4876800"/>
          </a:xfrm>
        </p:spPr>
        <p:txBody>
          <a:bodyPr>
            <a:normAutofit/>
          </a:bodyPr>
          <a:lstStyle/>
          <a:p>
            <a:r>
              <a:rPr lang="en-US" sz="2400" dirty="0" smtClean="0"/>
              <a:t> In </a:t>
            </a:r>
            <a:r>
              <a:rPr lang="en-US" sz="2400" dirty="0" err="1" smtClean="0"/>
              <a:t>jQuery</a:t>
            </a:r>
            <a:r>
              <a:rPr lang="en-US" sz="2400" dirty="0" smtClean="0"/>
              <a:t>, most DOM events have an equivalent </a:t>
            </a:r>
            <a:r>
              <a:rPr lang="en-US" sz="2400" dirty="0" err="1" smtClean="0"/>
              <a:t>jQuery</a:t>
            </a:r>
            <a:r>
              <a:rPr lang="en-US" sz="2400" dirty="0" smtClean="0"/>
              <a:t> method.</a:t>
            </a:r>
          </a:p>
          <a:p>
            <a:r>
              <a:rPr lang="en-US" sz="2400" dirty="0" smtClean="0"/>
              <a:t>To assign a click event to all paragraphs on a page, you can do this:</a:t>
            </a:r>
          </a:p>
          <a:p>
            <a:endParaRPr lang="en-US" sz="2400" dirty="0" smtClean="0"/>
          </a:p>
          <a:p>
            <a:endParaRPr lang="en-US" sz="2400" dirty="0" smtClean="0"/>
          </a:p>
          <a:p>
            <a:r>
              <a:rPr lang="en-US" sz="2400" dirty="0" smtClean="0"/>
              <a:t>Next is to define what should happen when the event fires. You must pass a function to the event:</a:t>
            </a:r>
          </a:p>
          <a:p>
            <a:endParaRPr lang="en-US" sz="2400" dirty="0" smtClean="0"/>
          </a:p>
          <a:p>
            <a:endParaRPr lang="en-US" sz="24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18</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1371600" y="2971800"/>
            <a:ext cx="7162800" cy="523220"/>
          </a:xfrm>
          <a:prstGeom prst="rect">
            <a:avLst/>
          </a:prstGeom>
          <a:solidFill>
            <a:schemeClr val="accent6">
              <a:lumMod val="40000"/>
              <a:lumOff val="60000"/>
            </a:schemeClr>
          </a:solidFill>
        </p:spPr>
        <p:txBody>
          <a:bodyPr wrap="square" rtlCol="0">
            <a:spAutoFit/>
          </a:bodyPr>
          <a:lstStyle/>
          <a:p>
            <a:r>
              <a:rPr lang="en-US" sz="2800" dirty="0" smtClean="0"/>
              <a:t>$("p").click();</a:t>
            </a:r>
            <a:endParaRPr lang="en-US" sz="2800" dirty="0"/>
          </a:p>
        </p:txBody>
      </p:sp>
      <p:sp>
        <p:nvSpPr>
          <p:cNvPr id="10" name="TextBox 9"/>
          <p:cNvSpPr txBox="1"/>
          <p:nvPr/>
        </p:nvSpPr>
        <p:spPr>
          <a:xfrm>
            <a:off x="1295400" y="4953000"/>
            <a:ext cx="7162800" cy="1384995"/>
          </a:xfrm>
          <a:prstGeom prst="rect">
            <a:avLst/>
          </a:prstGeom>
          <a:solidFill>
            <a:schemeClr val="accent6">
              <a:lumMod val="40000"/>
              <a:lumOff val="60000"/>
            </a:schemeClr>
          </a:solidFill>
        </p:spPr>
        <p:txBody>
          <a:bodyPr wrap="square" rtlCol="0">
            <a:spAutoFit/>
          </a:bodyPr>
          <a:lstStyle/>
          <a:p>
            <a:r>
              <a:rPr lang="en-US" sz="2800" dirty="0" smtClean="0"/>
              <a:t> $("p").click(function(){</a:t>
            </a:r>
            <a:br>
              <a:rPr lang="en-US" sz="2800" dirty="0" smtClean="0"/>
            </a:br>
            <a:r>
              <a:rPr lang="en-US" sz="2800" dirty="0" smtClean="0"/>
              <a:t>  // action goes here!!</a:t>
            </a:r>
            <a:br>
              <a:rPr lang="en-US" sz="2800" dirty="0" smtClean="0"/>
            </a:br>
            <a:r>
              <a:rPr lang="en-US" sz="2800" dirty="0" smtClean="0"/>
              <a:t>});</a:t>
            </a:r>
            <a:endParaRPr lang="en-US" sz="2800" dirty="0"/>
          </a:p>
        </p:txBody>
      </p:sp>
      <p:sp>
        <p:nvSpPr>
          <p:cNvPr id="8" name="5-Point Star 7"/>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smtClean="0"/>
              <a:t>Useful </a:t>
            </a:r>
            <a:r>
              <a:rPr lang="en-US" b="0" dirty="0" err="1" smtClean="0"/>
              <a:t>jQuery</a:t>
            </a:r>
            <a:r>
              <a:rPr lang="en-US" b="0" dirty="0" smtClean="0"/>
              <a:t> Event Methods</a:t>
            </a:r>
            <a:endParaRPr lang="en-US" b="0" dirty="0"/>
          </a:p>
        </p:txBody>
      </p:sp>
      <p:sp>
        <p:nvSpPr>
          <p:cNvPr id="3" name="Content Placeholder 2"/>
          <p:cNvSpPr>
            <a:spLocks noGrp="1"/>
          </p:cNvSpPr>
          <p:nvPr>
            <p:ph idx="1"/>
          </p:nvPr>
        </p:nvSpPr>
        <p:spPr>
          <a:xfrm>
            <a:off x="986620" y="1295400"/>
            <a:ext cx="7776380" cy="4876800"/>
          </a:xfrm>
        </p:spPr>
        <p:txBody>
          <a:bodyPr>
            <a:normAutofit/>
          </a:bodyPr>
          <a:lstStyle/>
          <a:p>
            <a:endParaRPr lang="en-US" sz="2400" dirty="0" smtClean="0"/>
          </a:p>
          <a:p>
            <a:endParaRPr lang="en-US" sz="2400" dirty="0" smtClean="0"/>
          </a:p>
          <a:p>
            <a:r>
              <a:rPr lang="en-US" sz="2400" dirty="0" smtClean="0"/>
              <a:t>The $(document).ready() method allows us to execute a function when the document is fully loaded.  </a:t>
            </a:r>
          </a:p>
          <a:p>
            <a:r>
              <a:rPr lang="en-US" sz="2400" dirty="0" smtClean="0"/>
              <a:t> </a:t>
            </a:r>
            <a:r>
              <a:rPr lang="en-US" sz="2400" b="1" dirty="0" smtClean="0"/>
              <a:t>click()</a:t>
            </a:r>
            <a:endParaRPr lang="en-US" sz="2400" dirty="0" smtClean="0"/>
          </a:p>
          <a:p>
            <a:r>
              <a:rPr lang="en-US" sz="2400" dirty="0" smtClean="0"/>
              <a:t>The click() method attaches an event handler function to an HTML element.</a:t>
            </a:r>
          </a:p>
          <a:p>
            <a:r>
              <a:rPr lang="en-US" sz="2400" dirty="0" smtClean="0"/>
              <a:t>The function is executed when the user clicks on the HTML element. </a:t>
            </a:r>
            <a:r>
              <a:rPr lang="en-US" sz="1600" dirty="0" smtClean="0">
                <a:hlinkClick r:id="rId3"/>
              </a:rPr>
              <a:t>http://www.w3schools.com/jquery/tryit.asp?filename=tryjquery_click</a:t>
            </a:r>
            <a:endParaRPr lang="en-US" sz="2400" dirty="0" smtClean="0"/>
          </a:p>
          <a:p>
            <a:endParaRPr lang="en-US" sz="2400" dirty="0"/>
          </a:p>
        </p:txBody>
      </p:sp>
      <p:sp>
        <p:nvSpPr>
          <p:cNvPr id="4" name="Footer Placeholder 3"/>
          <p:cNvSpPr>
            <a:spLocks noGrp="1"/>
          </p:cNvSpPr>
          <p:nvPr>
            <p:ph type="ftr" sz="quarter" idx="4294967295"/>
          </p:nvPr>
        </p:nvSpPr>
        <p:spPr>
          <a:xfrm>
            <a:off x="3124200" y="6356351"/>
            <a:ext cx="2895600" cy="313010"/>
          </a:xfrm>
        </p:spPr>
        <p:txBody>
          <a:bodyPr/>
          <a:lstStyle/>
          <a:p>
            <a:r>
              <a:rPr lang="en-US" smtClean="0"/>
              <a:t>IT1322 2012 S1</a:t>
            </a:r>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19</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1371600" y="1447800"/>
            <a:ext cx="7162800" cy="523220"/>
          </a:xfrm>
          <a:prstGeom prst="rect">
            <a:avLst/>
          </a:prstGeom>
          <a:solidFill>
            <a:schemeClr val="accent6">
              <a:lumMod val="40000"/>
              <a:lumOff val="60000"/>
            </a:schemeClr>
          </a:solidFill>
        </p:spPr>
        <p:txBody>
          <a:bodyPr wrap="square" rtlCol="0">
            <a:spAutoFit/>
          </a:bodyPr>
          <a:lstStyle/>
          <a:p>
            <a:r>
              <a:rPr lang="en-US" sz="2800" b="1" dirty="0" smtClean="0"/>
              <a:t>$(document).ready()</a:t>
            </a:r>
            <a:endParaRPr lang="en-US" sz="2800" dirty="0"/>
          </a:p>
        </p:txBody>
      </p:sp>
      <p:sp>
        <p:nvSpPr>
          <p:cNvPr id="10" name="TextBox 9"/>
          <p:cNvSpPr txBox="1"/>
          <p:nvPr/>
        </p:nvSpPr>
        <p:spPr>
          <a:xfrm>
            <a:off x="1295400" y="5181600"/>
            <a:ext cx="7162800" cy="1384995"/>
          </a:xfrm>
          <a:prstGeom prst="rect">
            <a:avLst/>
          </a:prstGeom>
          <a:solidFill>
            <a:schemeClr val="accent6">
              <a:lumMod val="40000"/>
              <a:lumOff val="60000"/>
            </a:schemeClr>
          </a:solidFill>
        </p:spPr>
        <p:txBody>
          <a:bodyPr wrap="square" rtlCol="0">
            <a:spAutoFit/>
          </a:bodyPr>
          <a:lstStyle/>
          <a:p>
            <a:r>
              <a:rPr lang="en-US" sz="2800" dirty="0" smtClean="0"/>
              <a:t>$("p").click(function(){</a:t>
            </a:r>
            <a:br>
              <a:rPr lang="en-US" sz="2800" dirty="0" smtClean="0"/>
            </a:br>
            <a:r>
              <a:rPr lang="en-US" sz="2800" dirty="0" smtClean="0"/>
              <a:t>  $(this).hide();</a:t>
            </a:r>
            <a:br>
              <a:rPr lang="en-US" sz="2800" dirty="0" smtClean="0"/>
            </a:br>
            <a:r>
              <a:rPr lang="en-US" sz="2800" dirty="0" smtClean="0"/>
              <a:t>});</a:t>
            </a:r>
            <a:endParaRPr lang="en-US" sz="2800" dirty="0"/>
          </a:p>
        </p:txBody>
      </p:sp>
      <p:sp>
        <p:nvSpPr>
          <p:cNvPr id="11" name="5-Point Star 10"/>
          <p:cNvSpPr/>
          <p:nvPr/>
        </p:nvSpPr>
        <p:spPr>
          <a:xfrm rot="18984008">
            <a:off x="7945523" y="34421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smtClean="0"/>
              <a:t>Useful </a:t>
            </a:r>
            <a:r>
              <a:rPr lang="en-US" b="0" dirty="0" err="1" smtClean="0"/>
              <a:t>jQuery</a:t>
            </a:r>
            <a:r>
              <a:rPr lang="en-US" b="0" dirty="0" smtClean="0"/>
              <a:t> Event Methods</a:t>
            </a:r>
            <a:endParaRPr lang="en-US" b="0" dirty="0"/>
          </a:p>
        </p:txBody>
      </p:sp>
      <p:sp>
        <p:nvSpPr>
          <p:cNvPr id="3" name="Content Placeholder 2"/>
          <p:cNvSpPr>
            <a:spLocks noGrp="1"/>
          </p:cNvSpPr>
          <p:nvPr>
            <p:ph idx="1"/>
          </p:nvPr>
        </p:nvSpPr>
        <p:spPr>
          <a:xfrm>
            <a:off x="986620" y="1295400"/>
            <a:ext cx="7776380" cy="4876800"/>
          </a:xfrm>
        </p:spPr>
        <p:txBody>
          <a:bodyPr>
            <a:normAutofit/>
          </a:bodyPr>
          <a:lstStyle/>
          <a:p>
            <a:endParaRPr lang="en-US" sz="2400" dirty="0" smtClean="0"/>
          </a:p>
          <a:p>
            <a:endParaRPr lang="en-US" sz="2400" dirty="0" smtClean="0"/>
          </a:p>
          <a:p>
            <a:r>
              <a:rPr lang="en-US" sz="2400" dirty="0" smtClean="0"/>
              <a:t>The </a:t>
            </a:r>
            <a:r>
              <a:rPr lang="en-US" sz="2400" dirty="0" err="1" smtClean="0"/>
              <a:t>mouseenter</a:t>
            </a:r>
            <a:r>
              <a:rPr lang="en-US" sz="2400" dirty="0" smtClean="0"/>
              <a:t>() method attaches an event handler function to an HTML element.</a:t>
            </a:r>
          </a:p>
          <a:p>
            <a:r>
              <a:rPr lang="en-US" sz="2400" dirty="0" smtClean="0"/>
              <a:t>The function is executed when the mouse pointer enters the HTML element: </a:t>
            </a:r>
            <a:r>
              <a:rPr lang="en-US" sz="1600" dirty="0" smtClean="0">
                <a:hlinkClick r:id="rId3"/>
              </a:rPr>
              <a:t>http://www.w3schools.com/jquery/tryit.asp?filename=tryjquery_mouseenter</a:t>
            </a:r>
            <a:endParaRPr lang="en-US" sz="2400" dirty="0" smtClean="0"/>
          </a:p>
          <a:p>
            <a:endParaRPr lang="en-US" sz="24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20</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1371600" y="1447800"/>
            <a:ext cx="7162800" cy="523220"/>
          </a:xfrm>
          <a:prstGeom prst="rect">
            <a:avLst/>
          </a:prstGeom>
          <a:solidFill>
            <a:schemeClr val="accent6">
              <a:lumMod val="40000"/>
              <a:lumOff val="60000"/>
            </a:schemeClr>
          </a:solidFill>
        </p:spPr>
        <p:txBody>
          <a:bodyPr wrap="square" rtlCol="0">
            <a:spAutoFit/>
          </a:bodyPr>
          <a:lstStyle/>
          <a:p>
            <a:r>
              <a:rPr lang="en-US" sz="2800" b="1" dirty="0" err="1" smtClean="0"/>
              <a:t>mouseenter</a:t>
            </a:r>
            <a:r>
              <a:rPr lang="en-US" sz="2800" b="1" dirty="0" smtClean="0"/>
              <a:t>()</a:t>
            </a:r>
            <a:endParaRPr lang="en-US" sz="2800" dirty="0"/>
          </a:p>
        </p:txBody>
      </p:sp>
      <p:sp>
        <p:nvSpPr>
          <p:cNvPr id="10" name="TextBox 9"/>
          <p:cNvSpPr txBox="1"/>
          <p:nvPr/>
        </p:nvSpPr>
        <p:spPr>
          <a:xfrm>
            <a:off x="1371600" y="4114800"/>
            <a:ext cx="7162800" cy="1384995"/>
          </a:xfrm>
          <a:prstGeom prst="rect">
            <a:avLst/>
          </a:prstGeom>
          <a:solidFill>
            <a:schemeClr val="accent6">
              <a:lumMod val="40000"/>
              <a:lumOff val="60000"/>
            </a:schemeClr>
          </a:solidFill>
        </p:spPr>
        <p:txBody>
          <a:bodyPr wrap="square" rtlCol="0">
            <a:spAutoFit/>
          </a:bodyPr>
          <a:lstStyle/>
          <a:p>
            <a:r>
              <a:rPr lang="en-US" sz="2800" dirty="0" smtClean="0"/>
              <a:t>$("#p1").</a:t>
            </a:r>
            <a:r>
              <a:rPr lang="en-US" sz="2800" dirty="0" err="1" smtClean="0"/>
              <a:t>mouseenter</a:t>
            </a:r>
            <a:r>
              <a:rPr lang="en-US" sz="2800" dirty="0" smtClean="0"/>
              <a:t>(function(){</a:t>
            </a:r>
            <a:br>
              <a:rPr lang="en-US" sz="2800" dirty="0" smtClean="0"/>
            </a:br>
            <a:r>
              <a:rPr lang="en-US" sz="2800" dirty="0" smtClean="0"/>
              <a:t>  alert("You entered p1!");</a:t>
            </a:r>
            <a:br>
              <a:rPr lang="en-US" sz="2800" dirty="0" smtClean="0"/>
            </a:br>
            <a:r>
              <a:rPr lang="en-US" sz="2800" dirty="0" smtClean="0"/>
              <a:t>});</a:t>
            </a:r>
            <a:endParaRPr lang="en-US" sz="2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smtClean="0"/>
              <a:t>Useful </a:t>
            </a:r>
            <a:r>
              <a:rPr lang="en-US" b="0" dirty="0" err="1" smtClean="0"/>
              <a:t>jQuery</a:t>
            </a:r>
            <a:r>
              <a:rPr lang="en-US" b="0" dirty="0" smtClean="0"/>
              <a:t> Event Methods</a:t>
            </a:r>
            <a:endParaRPr lang="en-US" b="0" dirty="0"/>
          </a:p>
        </p:txBody>
      </p:sp>
      <p:sp>
        <p:nvSpPr>
          <p:cNvPr id="3" name="Content Placeholder 2"/>
          <p:cNvSpPr>
            <a:spLocks noGrp="1"/>
          </p:cNvSpPr>
          <p:nvPr>
            <p:ph idx="1"/>
          </p:nvPr>
        </p:nvSpPr>
        <p:spPr>
          <a:xfrm>
            <a:off x="986620" y="1295400"/>
            <a:ext cx="7776380" cy="4876800"/>
          </a:xfrm>
        </p:spPr>
        <p:txBody>
          <a:bodyPr>
            <a:normAutofit/>
          </a:bodyPr>
          <a:lstStyle/>
          <a:p>
            <a:endParaRPr lang="en-US" sz="2400" dirty="0" smtClean="0"/>
          </a:p>
          <a:p>
            <a:endParaRPr lang="en-US" sz="2400" dirty="0" smtClean="0"/>
          </a:p>
          <a:p>
            <a:r>
              <a:rPr lang="en-US" sz="2400" dirty="0" smtClean="0"/>
              <a:t>The </a:t>
            </a:r>
            <a:r>
              <a:rPr lang="en-US" sz="2400" dirty="0" err="1" smtClean="0"/>
              <a:t>mouseleave</a:t>
            </a:r>
            <a:r>
              <a:rPr lang="en-US" sz="2400" dirty="0" smtClean="0"/>
              <a:t>() method attaches an event handler function to an HTML element.</a:t>
            </a:r>
          </a:p>
          <a:p>
            <a:r>
              <a:rPr lang="en-US" sz="2400" dirty="0" smtClean="0"/>
              <a:t>The function is executed when the mouse pointer leaves the HTML element:</a:t>
            </a:r>
          </a:p>
          <a:p>
            <a:r>
              <a:rPr lang="en-US" sz="1600" dirty="0" smtClean="0">
                <a:hlinkClick r:id="rId3"/>
              </a:rPr>
              <a:t>http://www.w3schools.com/jquery/tryit.asp?filename=tryjquery_mouseleave</a:t>
            </a:r>
            <a:endParaRPr lang="en-US" sz="24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21</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1371600" y="1447800"/>
            <a:ext cx="7162800" cy="523220"/>
          </a:xfrm>
          <a:prstGeom prst="rect">
            <a:avLst/>
          </a:prstGeom>
          <a:solidFill>
            <a:schemeClr val="accent6">
              <a:lumMod val="40000"/>
              <a:lumOff val="60000"/>
            </a:schemeClr>
          </a:solidFill>
        </p:spPr>
        <p:txBody>
          <a:bodyPr wrap="square" rtlCol="0">
            <a:spAutoFit/>
          </a:bodyPr>
          <a:lstStyle/>
          <a:p>
            <a:r>
              <a:rPr lang="en-US" sz="2800" b="1" dirty="0" err="1" smtClean="0"/>
              <a:t>mouseleave</a:t>
            </a:r>
            <a:r>
              <a:rPr lang="en-US" sz="2800" b="1" dirty="0" smtClean="0"/>
              <a:t>()</a:t>
            </a:r>
            <a:endParaRPr lang="en-US" sz="2800" dirty="0"/>
          </a:p>
        </p:txBody>
      </p:sp>
      <p:sp>
        <p:nvSpPr>
          <p:cNvPr id="10" name="TextBox 9"/>
          <p:cNvSpPr txBox="1"/>
          <p:nvPr/>
        </p:nvSpPr>
        <p:spPr>
          <a:xfrm>
            <a:off x="1371600" y="4114800"/>
            <a:ext cx="7162800" cy="1384995"/>
          </a:xfrm>
          <a:prstGeom prst="rect">
            <a:avLst/>
          </a:prstGeom>
          <a:solidFill>
            <a:schemeClr val="accent6">
              <a:lumMod val="40000"/>
              <a:lumOff val="60000"/>
            </a:schemeClr>
          </a:solidFill>
        </p:spPr>
        <p:txBody>
          <a:bodyPr wrap="square" rtlCol="0">
            <a:spAutoFit/>
          </a:bodyPr>
          <a:lstStyle/>
          <a:p>
            <a:r>
              <a:rPr lang="en-US" sz="2800" dirty="0" smtClean="0"/>
              <a:t>$("#p1").</a:t>
            </a:r>
            <a:r>
              <a:rPr lang="en-US" sz="2800" dirty="0" err="1" smtClean="0"/>
              <a:t>mouseleave</a:t>
            </a:r>
            <a:r>
              <a:rPr lang="en-US" sz="2800" dirty="0" smtClean="0"/>
              <a:t>(function(){</a:t>
            </a:r>
            <a:br>
              <a:rPr lang="en-US" sz="2800" dirty="0" smtClean="0"/>
            </a:br>
            <a:r>
              <a:rPr lang="en-US" sz="2800" dirty="0" smtClean="0"/>
              <a:t>  alert("Bye! You now leave p1!");</a:t>
            </a:r>
            <a:br>
              <a:rPr lang="en-US" sz="2800" dirty="0" smtClean="0"/>
            </a:br>
            <a:r>
              <a:rPr lang="en-US" sz="2800" dirty="0" smtClean="0"/>
              <a:t>});</a:t>
            </a:r>
            <a:endParaRPr lang="en-US" sz="2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smtClean="0"/>
              <a:t>Useful </a:t>
            </a:r>
            <a:r>
              <a:rPr lang="en-US" b="0" dirty="0" err="1" smtClean="0"/>
              <a:t>jQuery</a:t>
            </a:r>
            <a:r>
              <a:rPr lang="en-US" b="0" dirty="0" smtClean="0"/>
              <a:t> Event Methods</a:t>
            </a:r>
            <a:endParaRPr lang="en-US" b="0" dirty="0"/>
          </a:p>
        </p:txBody>
      </p:sp>
      <p:sp>
        <p:nvSpPr>
          <p:cNvPr id="3" name="Content Placeholder 2"/>
          <p:cNvSpPr>
            <a:spLocks noGrp="1"/>
          </p:cNvSpPr>
          <p:nvPr>
            <p:ph idx="1"/>
          </p:nvPr>
        </p:nvSpPr>
        <p:spPr>
          <a:xfrm>
            <a:off x="986620" y="1295400"/>
            <a:ext cx="7776380" cy="4876800"/>
          </a:xfrm>
        </p:spPr>
        <p:txBody>
          <a:bodyPr>
            <a:normAutofit/>
          </a:bodyPr>
          <a:lstStyle/>
          <a:p>
            <a:endParaRPr lang="en-US" sz="2400" dirty="0" smtClean="0"/>
          </a:p>
          <a:p>
            <a:r>
              <a:rPr lang="en-US" sz="2400" dirty="0" smtClean="0"/>
              <a:t>The hover() method takes two functions and is a combination of the </a:t>
            </a:r>
            <a:r>
              <a:rPr lang="en-US" sz="2400" dirty="0" err="1" smtClean="0"/>
              <a:t>mouseenter</a:t>
            </a:r>
            <a:r>
              <a:rPr lang="en-US" sz="2400" dirty="0" smtClean="0"/>
              <a:t>() and </a:t>
            </a:r>
            <a:r>
              <a:rPr lang="en-US" sz="2400" dirty="0" err="1" smtClean="0"/>
              <a:t>mouseleave</a:t>
            </a:r>
            <a:r>
              <a:rPr lang="en-US" sz="2400" dirty="0" smtClean="0"/>
              <a:t>() methods.</a:t>
            </a:r>
          </a:p>
          <a:p>
            <a:r>
              <a:rPr lang="en-US" sz="2400" dirty="0" smtClean="0"/>
              <a:t>The first function is executed when the mouse enters the HTML element, and the second function is executed when the mouse leaves the HTML element:</a:t>
            </a:r>
          </a:p>
          <a:p>
            <a:r>
              <a:rPr lang="en-US" sz="1600" dirty="0" smtClean="0">
                <a:hlinkClick r:id="rId3"/>
              </a:rPr>
              <a:t>http://www.w3schools.com/jquery/tryit.asp?filename=tryjquery_hover</a:t>
            </a:r>
            <a:endParaRPr lang="en-US" sz="2400" dirty="0"/>
          </a:p>
        </p:txBody>
      </p:sp>
      <p:sp>
        <p:nvSpPr>
          <p:cNvPr id="4" name="Footer Placeholder 3"/>
          <p:cNvSpPr>
            <a:spLocks noGrp="1"/>
          </p:cNvSpPr>
          <p:nvPr>
            <p:ph type="ftr" sz="quarter" idx="4294967295"/>
          </p:nvPr>
        </p:nvSpPr>
        <p:spPr>
          <a:xfrm>
            <a:off x="3124200" y="6356351"/>
            <a:ext cx="2895600" cy="313010"/>
          </a:xfrm>
        </p:spPr>
        <p:txBody>
          <a:bodyPr/>
          <a:lstStyle/>
          <a:p>
            <a:r>
              <a:rPr lang="en-US" smtClean="0"/>
              <a:t>IT1322 2012 S1</a:t>
            </a:r>
            <a:endParaRPr lang="en-US"/>
          </a:p>
        </p:txBody>
      </p:sp>
      <p:sp>
        <p:nvSpPr>
          <p:cNvPr id="5" name="Slide Number Placeholder 4"/>
          <p:cNvSpPr>
            <a:spLocks noGrp="1"/>
          </p:cNvSpPr>
          <p:nvPr>
            <p:ph type="sldNum" sz="quarter" idx="12"/>
          </p:nvPr>
        </p:nvSpPr>
        <p:spPr/>
        <p:txBody>
          <a:bodyPr/>
          <a:lstStyle/>
          <a:p>
            <a:fld id="{A6724466-CF14-4098-A57E-6BA1C4EB8FEB}" type="slidenum">
              <a:rPr lang="en-US" smtClean="0"/>
              <a:pPr/>
              <a:t>22</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1371600" y="1229380"/>
            <a:ext cx="7162800" cy="523220"/>
          </a:xfrm>
          <a:prstGeom prst="rect">
            <a:avLst/>
          </a:prstGeom>
          <a:solidFill>
            <a:schemeClr val="accent6">
              <a:lumMod val="40000"/>
              <a:lumOff val="60000"/>
            </a:schemeClr>
          </a:solidFill>
        </p:spPr>
        <p:txBody>
          <a:bodyPr wrap="square" rtlCol="0">
            <a:spAutoFit/>
          </a:bodyPr>
          <a:lstStyle/>
          <a:p>
            <a:r>
              <a:rPr lang="en-US" sz="2800" b="1" dirty="0" smtClean="0"/>
              <a:t>hover()</a:t>
            </a:r>
            <a:endParaRPr lang="en-US" sz="2800" dirty="0"/>
          </a:p>
        </p:txBody>
      </p:sp>
      <p:sp>
        <p:nvSpPr>
          <p:cNvPr id="10" name="TextBox 9"/>
          <p:cNvSpPr txBox="1"/>
          <p:nvPr/>
        </p:nvSpPr>
        <p:spPr>
          <a:xfrm>
            <a:off x="1295400" y="4419600"/>
            <a:ext cx="7162800" cy="2246769"/>
          </a:xfrm>
          <a:prstGeom prst="rect">
            <a:avLst/>
          </a:prstGeom>
          <a:solidFill>
            <a:schemeClr val="accent6">
              <a:lumMod val="40000"/>
              <a:lumOff val="60000"/>
            </a:schemeClr>
          </a:solidFill>
        </p:spPr>
        <p:txBody>
          <a:bodyPr wrap="square" rtlCol="0">
            <a:spAutoFit/>
          </a:bodyPr>
          <a:lstStyle/>
          <a:p>
            <a:r>
              <a:rPr lang="en-US" sz="2800" dirty="0" smtClean="0"/>
              <a:t>$("#p1").hover(function(){</a:t>
            </a:r>
            <a:br>
              <a:rPr lang="en-US" sz="2800" dirty="0" smtClean="0"/>
            </a:br>
            <a:r>
              <a:rPr lang="en-US" sz="2800" dirty="0" smtClean="0"/>
              <a:t>  alert("You entered p1!");  },</a:t>
            </a:r>
            <a:br>
              <a:rPr lang="en-US" sz="2800" dirty="0" smtClean="0"/>
            </a:br>
            <a:r>
              <a:rPr lang="en-US" sz="2800" dirty="0" smtClean="0"/>
              <a:t>  function(){</a:t>
            </a:r>
            <a:br>
              <a:rPr lang="en-US" sz="2800" dirty="0" smtClean="0"/>
            </a:br>
            <a:r>
              <a:rPr lang="en-US" sz="2800" dirty="0" smtClean="0"/>
              <a:t>  alert("Bye! You now leave p1!");</a:t>
            </a:r>
            <a:br>
              <a:rPr lang="en-US" sz="2800" dirty="0" smtClean="0"/>
            </a:br>
            <a:r>
              <a:rPr lang="en-US" sz="2800" dirty="0" smtClean="0"/>
              <a:t>});</a:t>
            </a:r>
            <a:endParaRPr lang="en-US" sz="2800" dirty="0"/>
          </a:p>
        </p:txBody>
      </p:sp>
      <p:sp>
        <p:nvSpPr>
          <p:cNvPr id="11" name="5-Point Star 10"/>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smtClean="0"/>
              <a:t>Useful </a:t>
            </a:r>
            <a:r>
              <a:rPr lang="en-US" b="0" dirty="0" err="1" smtClean="0"/>
              <a:t>jQuery</a:t>
            </a:r>
            <a:r>
              <a:rPr lang="en-US" b="0" dirty="0" smtClean="0"/>
              <a:t> Event Methods</a:t>
            </a:r>
            <a:endParaRPr lang="en-US" b="0" dirty="0"/>
          </a:p>
        </p:txBody>
      </p:sp>
      <p:sp>
        <p:nvSpPr>
          <p:cNvPr id="3" name="Content Placeholder 2"/>
          <p:cNvSpPr>
            <a:spLocks noGrp="1"/>
          </p:cNvSpPr>
          <p:nvPr>
            <p:ph idx="1"/>
          </p:nvPr>
        </p:nvSpPr>
        <p:spPr>
          <a:xfrm>
            <a:off x="914400" y="1600200"/>
            <a:ext cx="7776380" cy="4876800"/>
          </a:xfrm>
        </p:spPr>
        <p:txBody>
          <a:bodyPr>
            <a:normAutofit/>
          </a:bodyPr>
          <a:lstStyle/>
          <a:p>
            <a:endParaRPr lang="en-US" sz="2400" dirty="0" smtClean="0"/>
          </a:p>
          <a:p>
            <a:r>
              <a:rPr lang="en-US" sz="2400" dirty="0" smtClean="0"/>
              <a:t>The focus() method attaches an event handler function to an HTML form field.</a:t>
            </a:r>
          </a:p>
          <a:p>
            <a:r>
              <a:rPr lang="en-US" sz="2400" dirty="0" smtClean="0"/>
              <a:t>The function is executed when the form field gets focus:</a:t>
            </a:r>
          </a:p>
          <a:p>
            <a:r>
              <a:rPr lang="en-US" sz="1600" dirty="0" smtClean="0">
                <a:hlinkClick r:id="rId3"/>
              </a:rPr>
              <a:t>http://www.w3schools.com/jquery/tryit.asp?filename=tryjquery_focus_blur</a:t>
            </a:r>
            <a:endParaRPr lang="en-US" sz="24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23</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1295400" y="1524000"/>
            <a:ext cx="7162800" cy="523220"/>
          </a:xfrm>
          <a:prstGeom prst="rect">
            <a:avLst/>
          </a:prstGeom>
          <a:solidFill>
            <a:schemeClr val="accent6">
              <a:lumMod val="40000"/>
              <a:lumOff val="60000"/>
            </a:schemeClr>
          </a:solidFill>
        </p:spPr>
        <p:txBody>
          <a:bodyPr wrap="square" rtlCol="0">
            <a:spAutoFit/>
          </a:bodyPr>
          <a:lstStyle/>
          <a:p>
            <a:r>
              <a:rPr lang="en-US" sz="2800" b="1" dirty="0" smtClean="0"/>
              <a:t>focus()</a:t>
            </a:r>
            <a:endParaRPr lang="en-US" sz="2800" dirty="0"/>
          </a:p>
        </p:txBody>
      </p:sp>
      <p:sp>
        <p:nvSpPr>
          <p:cNvPr id="10" name="TextBox 9"/>
          <p:cNvSpPr txBox="1"/>
          <p:nvPr/>
        </p:nvSpPr>
        <p:spPr>
          <a:xfrm>
            <a:off x="1371600" y="3810000"/>
            <a:ext cx="7162800" cy="1384995"/>
          </a:xfrm>
          <a:prstGeom prst="rect">
            <a:avLst/>
          </a:prstGeom>
          <a:solidFill>
            <a:schemeClr val="accent6">
              <a:lumMod val="40000"/>
              <a:lumOff val="60000"/>
            </a:schemeClr>
          </a:solidFill>
        </p:spPr>
        <p:txBody>
          <a:bodyPr wrap="square" rtlCol="0">
            <a:spAutoFit/>
          </a:bodyPr>
          <a:lstStyle/>
          <a:p>
            <a:r>
              <a:rPr lang="en-US" sz="2800" dirty="0" smtClean="0"/>
              <a:t>$("input").focus(function(){</a:t>
            </a:r>
            <a:br>
              <a:rPr lang="en-US" sz="2800" dirty="0" smtClean="0"/>
            </a:br>
            <a:r>
              <a:rPr lang="en-US" sz="2800" dirty="0" smtClean="0"/>
              <a:t>  $(this).</a:t>
            </a:r>
            <a:r>
              <a:rPr lang="en-US" sz="2800" dirty="0" err="1" smtClean="0"/>
              <a:t>css</a:t>
            </a:r>
            <a:r>
              <a:rPr lang="en-US" sz="2800" dirty="0" smtClean="0"/>
              <a:t>("background-color","#</a:t>
            </a:r>
            <a:r>
              <a:rPr lang="en-US" sz="2800" dirty="0" err="1" smtClean="0"/>
              <a:t>cccccc</a:t>
            </a:r>
            <a:r>
              <a:rPr lang="en-US" sz="2800" dirty="0" smtClean="0"/>
              <a:t>");</a:t>
            </a:r>
            <a:br>
              <a:rPr lang="en-US" sz="2800" dirty="0" smtClean="0"/>
            </a:br>
            <a:r>
              <a:rPr lang="en-US" sz="2800" dirty="0" smtClean="0"/>
              <a:t>});</a:t>
            </a:r>
            <a:endParaRPr lang="en-US" sz="2800" dirty="0"/>
          </a:p>
        </p:txBody>
      </p:sp>
      <p:sp>
        <p:nvSpPr>
          <p:cNvPr id="8" name="5-Point Star 7"/>
          <p:cNvSpPr/>
          <p:nvPr/>
        </p:nvSpPr>
        <p:spPr>
          <a:xfrm rot="18984008">
            <a:off x="7945523" y="34421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smtClean="0"/>
              <a:t>Useful </a:t>
            </a:r>
            <a:r>
              <a:rPr lang="en-US" b="0" dirty="0" err="1" smtClean="0"/>
              <a:t>jQuery</a:t>
            </a:r>
            <a:r>
              <a:rPr lang="en-US" b="0" dirty="0" smtClean="0"/>
              <a:t> Event Methods</a:t>
            </a:r>
            <a:endParaRPr lang="en-US" b="0" dirty="0"/>
          </a:p>
        </p:txBody>
      </p:sp>
      <p:sp>
        <p:nvSpPr>
          <p:cNvPr id="3" name="Content Placeholder 2"/>
          <p:cNvSpPr>
            <a:spLocks noGrp="1"/>
          </p:cNvSpPr>
          <p:nvPr>
            <p:ph idx="1"/>
          </p:nvPr>
        </p:nvSpPr>
        <p:spPr>
          <a:xfrm>
            <a:off x="838200" y="1600200"/>
            <a:ext cx="7776380" cy="4876800"/>
          </a:xfrm>
        </p:spPr>
        <p:txBody>
          <a:bodyPr>
            <a:normAutofit/>
          </a:bodyPr>
          <a:lstStyle/>
          <a:p>
            <a:endParaRPr lang="en-US" sz="2400" dirty="0" smtClean="0"/>
          </a:p>
          <a:p>
            <a:r>
              <a:rPr lang="en-US" sz="2400" dirty="0" smtClean="0"/>
              <a:t>The blur() method attaches an event handler function to an HTML form field.</a:t>
            </a:r>
          </a:p>
          <a:p>
            <a:r>
              <a:rPr lang="en-US" sz="2400" dirty="0" smtClean="0"/>
              <a:t>The function is executed when the form field loses focus:</a:t>
            </a:r>
          </a:p>
          <a:p>
            <a:r>
              <a:rPr lang="en-US" sz="1600" dirty="0" smtClean="0">
                <a:hlinkClick r:id="rId3"/>
              </a:rPr>
              <a:t>http://www.w3schools.com/jquery/tryit.asp?filename=tryjquery_focus_blur</a:t>
            </a:r>
            <a:endParaRPr lang="en-US" sz="1600" dirty="0" smtClean="0"/>
          </a:p>
          <a:p>
            <a:endParaRPr lang="en-US" sz="1600" dirty="0" smtClean="0"/>
          </a:p>
          <a:p>
            <a:endParaRPr lang="en-US" sz="1600" dirty="0" smtClean="0"/>
          </a:p>
          <a:p>
            <a:endParaRPr lang="en-US" sz="1600" dirty="0" smtClean="0"/>
          </a:p>
          <a:p>
            <a:endParaRPr lang="en-US" sz="1600" dirty="0" smtClean="0"/>
          </a:p>
          <a:p>
            <a:endParaRPr lang="en-US" sz="1600" dirty="0" smtClean="0"/>
          </a:p>
          <a:p>
            <a:endParaRPr lang="en-US" sz="1600" dirty="0" smtClean="0"/>
          </a:p>
          <a:p>
            <a:r>
              <a:rPr lang="en-US" sz="2400" dirty="0" smtClean="0"/>
              <a:t>For a full </a:t>
            </a:r>
            <a:r>
              <a:rPr lang="en-US" sz="2400" dirty="0" err="1" smtClean="0"/>
              <a:t>jQuery</a:t>
            </a:r>
            <a:r>
              <a:rPr lang="en-US" sz="2400" dirty="0" smtClean="0"/>
              <a:t> event reference, please go to   </a:t>
            </a:r>
            <a:r>
              <a:rPr lang="en-US" sz="2400" dirty="0" err="1" smtClean="0">
                <a:hlinkClick r:id="rId4"/>
              </a:rPr>
              <a:t>jQuery</a:t>
            </a:r>
            <a:r>
              <a:rPr lang="en-US" sz="2400" dirty="0" smtClean="0">
                <a:hlinkClick r:id="rId4"/>
              </a:rPr>
              <a:t> Events Reference</a:t>
            </a:r>
            <a:r>
              <a:rPr lang="en-US" sz="2400" dirty="0" smtClean="0"/>
              <a:t>.</a:t>
            </a:r>
            <a:endParaRPr lang="en-US" sz="24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24</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1295400" y="1524000"/>
            <a:ext cx="7162800" cy="523220"/>
          </a:xfrm>
          <a:prstGeom prst="rect">
            <a:avLst/>
          </a:prstGeom>
          <a:solidFill>
            <a:schemeClr val="accent6">
              <a:lumMod val="40000"/>
              <a:lumOff val="60000"/>
            </a:schemeClr>
          </a:solidFill>
        </p:spPr>
        <p:txBody>
          <a:bodyPr wrap="square" rtlCol="0">
            <a:spAutoFit/>
          </a:bodyPr>
          <a:lstStyle/>
          <a:p>
            <a:r>
              <a:rPr lang="en-US" sz="2800" b="1" dirty="0" smtClean="0"/>
              <a:t>blur()</a:t>
            </a:r>
            <a:endParaRPr lang="en-US" sz="2800" dirty="0"/>
          </a:p>
        </p:txBody>
      </p:sp>
      <p:sp>
        <p:nvSpPr>
          <p:cNvPr id="10" name="TextBox 9"/>
          <p:cNvSpPr txBox="1"/>
          <p:nvPr/>
        </p:nvSpPr>
        <p:spPr>
          <a:xfrm>
            <a:off x="1371600" y="3810000"/>
            <a:ext cx="7162800" cy="1384995"/>
          </a:xfrm>
          <a:prstGeom prst="rect">
            <a:avLst/>
          </a:prstGeom>
          <a:solidFill>
            <a:schemeClr val="accent6">
              <a:lumMod val="40000"/>
              <a:lumOff val="60000"/>
            </a:schemeClr>
          </a:solidFill>
        </p:spPr>
        <p:txBody>
          <a:bodyPr wrap="square" rtlCol="0">
            <a:spAutoFit/>
          </a:bodyPr>
          <a:lstStyle/>
          <a:p>
            <a:r>
              <a:rPr lang="en-US" sz="2800" dirty="0" smtClean="0"/>
              <a:t>$("input").blur(function(){</a:t>
            </a:r>
            <a:br>
              <a:rPr lang="en-US" sz="2800" dirty="0" smtClean="0"/>
            </a:br>
            <a:r>
              <a:rPr lang="en-US" sz="2800" dirty="0" smtClean="0"/>
              <a:t>  $(this).</a:t>
            </a:r>
            <a:r>
              <a:rPr lang="en-US" sz="2800" dirty="0" err="1" smtClean="0"/>
              <a:t>css</a:t>
            </a:r>
            <a:r>
              <a:rPr lang="en-US" sz="2800" dirty="0" smtClean="0"/>
              <a:t>("background-color","#</a:t>
            </a:r>
            <a:r>
              <a:rPr lang="en-US" sz="2800" dirty="0" err="1" smtClean="0"/>
              <a:t>ffffff</a:t>
            </a:r>
            <a:r>
              <a:rPr lang="en-US" sz="2800" dirty="0" smtClean="0"/>
              <a:t>");</a:t>
            </a:r>
            <a:br>
              <a:rPr lang="en-US" sz="2800" dirty="0" smtClean="0"/>
            </a:br>
            <a:r>
              <a:rPr lang="en-US" sz="2800" dirty="0" smtClean="0"/>
              <a:t>});</a:t>
            </a:r>
            <a:endParaRPr lang="en-US" sz="2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err="1" smtClean="0"/>
              <a:t>jQuery</a:t>
            </a:r>
            <a:r>
              <a:rPr lang="en-US" b="0" dirty="0" smtClean="0"/>
              <a:t> Effects </a:t>
            </a:r>
            <a:endParaRPr lang="en-US" b="0" dirty="0"/>
          </a:p>
        </p:txBody>
      </p:sp>
      <p:sp>
        <p:nvSpPr>
          <p:cNvPr id="3" name="Content Placeholder 2"/>
          <p:cNvSpPr>
            <a:spLocks noGrp="1"/>
          </p:cNvSpPr>
          <p:nvPr>
            <p:ph idx="1"/>
          </p:nvPr>
        </p:nvSpPr>
        <p:spPr>
          <a:xfrm>
            <a:off x="914400" y="1600200"/>
            <a:ext cx="7776380" cy="5029200"/>
          </a:xfrm>
        </p:spPr>
        <p:txBody>
          <a:bodyPr>
            <a:normAutofit fontScale="92500" lnSpcReduction="10000"/>
          </a:bodyPr>
          <a:lstStyle/>
          <a:p>
            <a:r>
              <a:rPr lang="en-US" sz="2400" dirty="0" smtClean="0"/>
              <a:t> With </a:t>
            </a:r>
            <a:r>
              <a:rPr lang="en-US" sz="2400" dirty="0" err="1" smtClean="0"/>
              <a:t>jQuery</a:t>
            </a:r>
            <a:r>
              <a:rPr lang="en-US" sz="2400" dirty="0" smtClean="0"/>
              <a:t>, you can hide and show HTML elements with the hide() and show() methods:</a:t>
            </a:r>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2400" dirty="0" smtClean="0"/>
              <a:t>Demo - </a:t>
            </a:r>
            <a:r>
              <a:rPr lang="en-US" sz="2400" dirty="0" smtClean="0">
                <a:hlinkClick r:id="rId3"/>
              </a:rPr>
              <a:t>http://www.w3schools.com/jquery/tryit.asp?filename=tryjquery_hide_show</a:t>
            </a:r>
            <a:endParaRPr lang="en-US" sz="24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25</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10" name="TextBox 9"/>
          <p:cNvSpPr txBox="1"/>
          <p:nvPr/>
        </p:nvSpPr>
        <p:spPr>
          <a:xfrm>
            <a:off x="1143000" y="2362200"/>
            <a:ext cx="7162800" cy="3108543"/>
          </a:xfrm>
          <a:prstGeom prst="rect">
            <a:avLst/>
          </a:prstGeom>
          <a:solidFill>
            <a:schemeClr val="accent6">
              <a:lumMod val="40000"/>
              <a:lumOff val="60000"/>
            </a:schemeClr>
          </a:solidFill>
        </p:spPr>
        <p:txBody>
          <a:bodyPr wrap="square" rtlCol="0">
            <a:spAutoFit/>
          </a:bodyPr>
          <a:lstStyle/>
          <a:p>
            <a:r>
              <a:rPr lang="en-US" sz="2800" dirty="0" smtClean="0"/>
              <a:t>$("#hide").click(function(){</a:t>
            </a:r>
            <a:br>
              <a:rPr lang="en-US" sz="2800" dirty="0" smtClean="0"/>
            </a:br>
            <a:r>
              <a:rPr lang="en-US" sz="2800" dirty="0" smtClean="0"/>
              <a:t>  $("p").hide();</a:t>
            </a:r>
            <a:br>
              <a:rPr lang="en-US" sz="2800" dirty="0" smtClean="0"/>
            </a:br>
            <a:r>
              <a:rPr lang="en-US" sz="2800" dirty="0" smtClean="0"/>
              <a:t>});</a:t>
            </a:r>
            <a:br>
              <a:rPr lang="en-US" sz="2800" dirty="0" smtClean="0"/>
            </a:br>
            <a:r>
              <a:rPr lang="en-US" sz="2800" dirty="0" smtClean="0"/>
              <a:t/>
            </a:r>
            <a:br>
              <a:rPr lang="en-US" sz="2800" dirty="0" smtClean="0"/>
            </a:br>
            <a:r>
              <a:rPr lang="en-US" sz="2800" dirty="0" smtClean="0"/>
              <a:t>$("#show").click(function(){</a:t>
            </a:r>
            <a:br>
              <a:rPr lang="en-US" sz="2800" dirty="0" smtClean="0"/>
            </a:br>
            <a:r>
              <a:rPr lang="en-US" sz="2800" dirty="0" smtClean="0"/>
              <a:t>  $("p").show();</a:t>
            </a:r>
            <a:br>
              <a:rPr lang="en-US" sz="2800" dirty="0" smtClean="0"/>
            </a:br>
            <a:r>
              <a:rPr lang="en-US" sz="2800" dirty="0" smtClean="0"/>
              <a:t>});</a:t>
            </a:r>
            <a:endParaRPr lang="en-US" sz="2800" dirty="0"/>
          </a:p>
        </p:txBody>
      </p:sp>
      <p:sp>
        <p:nvSpPr>
          <p:cNvPr id="11" name="Rectangle 10"/>
          <p:cNvSpPr/>
          <p:nvPr/>
        </p:nvSpPr>
        <p:spPr>
          <a:xfrm>
            <a:off x="3509914" y="3244334"/>
            <a:ext cx="2124171" cy="369332"/>
          </a:xfrm>
          <a:prstGeom prst="rect">
            <a:avLst/>
          </a:prstGeom>
        </p:spPr>
        <p:txBody>
          <a:bodyPr wrap="none">
            <a:spAutoFit/>
          </a:bodyPr>
          <a:lstStyle/>
          <a:p>
            <a:r>
              <a:rPr lang="en-US" dirty="0" smtClean="0"/>
              <a:t>Eg6 - HideShow.html</a:t>
            </a:r>
            <a:endParaRPr lang="en-US" dirty="0"/>
          </a:p>
        </p:txBody>
      </p:sp>
      <p:sp>
        <p:nvSpPr>
          <p:cNvPr id="8" name="5-Point Star 7"/>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err="1" smtClean="0"/>
              <a:t>jQuery</a:t>
            </a:r>
            <a:r>
              <a:rPr lang="en-US" b="0" dirty="0" smtClean="0"/>
              <a:t> Effects </a:t>
            </a:r>
            <a:endParaRPr lang="en-US" b="0" dirty="0"/>
          </a:p>
        </p:txBody>
      </p:sp>
      <p:sp>
        <p:nvSpPr>
          <p:cNvPr id="3" name="Content Placeholder 2"/>
          <p:cNvSpPr>
            <a:spLocks noGrp="1"/>
          </p:cNvSpPr>
          <p:nvPr>
            <p:ph idx="1"/>
          </p:nvPr>
        </p:nvSpPr>
        <p:spPr>
          <a:xfrm>
            <a:off x="838200" y="1219200"/>
            <a:ext cx="7776380" cy="5257800"/>
          </a:xfrm>
        </p:spPr>
        <p:txBody>
          <a:bodyPr>
            <a:normAutofit/>
          </a:bodyPr>
          <a:lstStyle/>
          <a:p>
            <a:r>
              <a:rPr lang="en-US" sz="2400" dirty="0" smtClean="0"/>
              <a:t>The optional parameter specifies the speed of the hiding/showing, and can take the following values: "slow", "fast", or milliseconds.</a:t>
            </a:r>
          </a:p>
          <a:p>
            <a:endParaRPr lang="en-US" sz="2400" dirty="0" smtClean="0"/>
          </a:p>
          <a:p>
            <a:endParaRPr lang="en-US" sz="2400" dirty="0" smtClean="0"/>
          </a:p>
          <a:p>
            <a:r>
              <a:rPr lang="en-US" sz="2400" dirty="0" smtClean="0"/>
              <a:t>The optional callback parameter is a function to be executed after the hide() or show() method completes  </a:t>
            </a:r>
          </a:p>
          <a:p>
            <a:endParaRPr lang="en-US" sz="2400" dirty="0" smtClean="0"/>
          </a:p>
          <a:p>
            <a:endParaRPr lang="en-US" sz="2400" dirty="0" smtClean="0"/>
          </a:p>
          <a:p>
            <a:endParaRPr lang="en-US" sz="2400" dirty="0" smtClean="0"/>
          </a:p>
          <a:p>
            <a:r>
              <a:rPr lang="en-US" sz="2400" dirty="0" smtClean="0"/>
              <a:t>Demo - </a:t>
            </a:r>
            <a:r>
              <a:rPr lang="en-US" sz="2000" dirty="0" smtClean="0"/>
              <a:t> </a:t>
            </a:r>
            <a:r>
              <a:rPr lang="en-US" sz="1800" dirty="0" smtClean="0">
                <a:hlinkClick r:id="rId3"/>
              </a:rPr>
              <a:t>http://www.w3schools.com/jquery/tryit.asp?filename=tryjquery_hide_slow</a:t>
            </a:r>
            <a:endParaRPr lang="en-US" sz="24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26</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10" name="TextBox 9"/>
          <p:cNvSpPr txBox="1"/>
          <p:nvPr/>
        </p:nvSpPr>
        <p:spPr>
          <a:xfrm>
            <a:off x="1143000" y="2286000"/>
            <a:ext cx="7162800" cy="954107"/>
          </a:xfrm>
          <a:prstGeom prst="rect">
            <a:avLst/>
          </a:prstGeom>
          <a:solidFill>
            <a:schemeClr val="accent6">
              <a:lumMod val="40000"/>
              <a:lumOff val="60000"/>
            </a:schemeClr>
          </a:solidFill>
        </p:spPr>
        <p:txBody>
          <a:bodyPr wrap="square" rtlCol="0">
            <a:spAutoFit/>
          </a:bodyPr>
          <a:lstStyle/>
          <a:p>
            <a:r>
              <a:rPr lang="en-US" sz="2800" dirty="0" smtClean="0"/>
              <a:t>$(</a:t>
            </a:r>
            <a:r>
              <a:rPr lang="en-US" sz="2800" i="1" dirty="0" smtClean="0"/>
              <a:t>selector</a:t>
            </a:r>
            <a:r>
              <a:rPr lang="en-US" sz="2800" dirty="0" smtClean="0"/>
              <a:t>).hide(</a:t>
            </a:r>
            <a:r>
              <a:rPr lang="en-US" sz="2800" i="1" dirty="0" err="1" smtClean="0"/>
              <a:t>speed,callback</a:t>
            </a:r>
            <a:r>
              <a:rPr lang="en-US" sz="2800" dirty="0" smtClean="0"/>
              <a:t>);</a:t>
            </a:r>
            <a:br>
              <a:rPr lang="en-US" sz="2800" dirty="0" smtClean="0"/>
            </a:br>
            <a:r>
              <a:rPr lang="en-US" sz="2800" dirty="0" smtClean="0"/>
              <a:t>$(</a:t>
            </a:r>
            <a:r>
              <a:rPr lang="en-US" sz="2800" i="1" dirty="0" smtClean="0"/>
              <a:t>selector</a:t>
            </a:r>
            <a:r>
              <a:rPr lang="en-US" sz="2800" dirty="0" smtClean="0"/>
              <a:t>).show(</a:t>
            </a:r>
            <a:r>
              <a:rPr lang="en-US" sz="2800" i="1" dirty="0" err="1" smtClean="0"/>
              <a:t>speed,callback</a:t>
            </a:r>
            <a:r>
              <a:rPr lang="en-US" sz="2800" dirty="0" smtClean="0"/>
              <a:t>);</a:t>
            </a:r>
            <a:endParaRPr lang="en-US" sz="2800" dirty="0"/>
          </a:p>
        </p:txBody>
      </p:sp>
      <p:sp>
        <p:nvSpPr>
          <p:cNvPr id="8" name="TextBox 7"/>
          <p:cNvSpPr txBox="1"/>
          <p:nvPr/>
        </p:nvSpPr>
        <p:spPr>
          <a:xfrm>
            <a:off x="1143000" y="4267200"/>
            <a:ext cx="7162800" cy="954107"/>
          </a:xfrm>
          <a:prstGeom prst="rect">
            <a:avLst/>
          </a:prstGeom>
          <a:solidFill>
            <a:schemeClr val="accent6">
              <a:lumMod val="40000"/>
              <a:lumOff val="60000"/>
            </a:schemeClr>
          </a:solidFill>
        </p:spPr>
        <p:txBody>
          <a:bodyPr wrap="square" rtlCol="0">
            <a:spAutoFit/>
          </a:bodyPr>
          <a:lstStyle/>
          <a:p>
            <a:r>
              <a:rPr lang="en-US" sz="2800" dirty="0" smtClean="0"/>
              <a:t>$(</a:t>
            </a:r>
            <a:r>
              <a:rPr lang="en-US" sz="2800" i="1" dirty="0" smtClean="0"/>
              <a:t>selector</a:t>
            </a:r>
            <a:r>
              <a:rPr lang="en-US" sz="2800" dirty="0" smtClean="0"/>
              <a:t>).hide(</a:t>
            </a:r>
            <a:r>
              <a:rPr lang="en-US" sz="2800" i="1" dirty="0" err="1" smtClean="0"/>
              <a:t>speed,callback</a:t>
            </a:r>
            <a:r>
              <a:rPr lang="en-US" sz="2800" dirty="0" smtClean="0"/>
              <a:t>);</a:t>
            </a:r>
            <a:br>
              <a:rPr lang="en-US" sz="2800" dirty="0" smtClean="0"/>
            </a:br>
            <a:r>
              <a:rPr lang="en-US" sz="2800" dirty="0" smtClean="0"/>
              <a:t>$(</a:t>
            </a:r>
            <a:r>
              <a:rPr lang="en-US" sz="2800" i="1" dirty="0" smtClean="0"/>
              <a:t>selector</a:t>
            </a:r>
            <a:r>
              <a:rPr lang="en-US" sz="2800" dirty="0" smtClean="0"/>
              <a:t>).show(</a:t>
            </a:r>
            <a:r>
              <a:rPr lang="en-US" sz="2800" i="1" dirty="0" err="1" smtClean="0"/>
              <a:t>speed,callback</a:t>
            </a:r>
            <a:r>
              <a:rPr lang="en-US" sz="2800" dirty="0" smtClean="0"/>
              <a:t>);</a:t>
            </a:r>
            <a:endParaRPr lang="en-US" sz="2800" dirty="0"/>
          </a:p>
        </p:txBody>
      </p:sp>
      <p:sp>
        <p:nvSpPr>
          <p:cNvPr id="9" name="5-Point Star 8"/>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err="1" smtClean="0"/>
              <a:t>jQuery</a:t>
            </a:r>
            <a:r>
              <a:rPr lang="en-US" b="0" dirty="0" smtClean="0"/>
              <a:t> Effects –Toggle() </a:t>
            </a:r>
            <a:endParaRPr lang="en-US" b="0" dirty="0"/>
          </a:p>
        </p:txBody>
      </p:sp>
      <p:sp>
        <p:nvSpPr>
          <p:cNvPr id="3" name="Content Placeholder 2"/>
          <p:cNvSpPr>
            <a:spLocks noGrp="1"/>
          </p:cNvSpPr>
          <p:nvPr>
            <p:ph idx="1"/>
          </p:nvPr>
        </p:nvSpPr>
        <p:spPr>
          <a:xfrm>
            <a:off x="838200" y="1219200"/>
            <a:ext cx="7776380" cy="4495800"/>
          </a:xfrm>
        </p:spPr>
        <p:txBody>
          <a:bodyPr>
            <a:normAutofit/>
          </a:bodyPr>
          <a:lstStyle/>
          <a:p>
            <a:r>
              <a:rPr lang="en-US" sz="2400" dirty="0" smtClean="0"/>
              <a:t>With </a:t>
            </a:r>
            <a:r>
              <a:rPr lang="en-US" sz="2400" dirty="0" err="1" smtClean="0"/>
              <a:t>jQuery</a:t>
            </a:r>
            <a:r>
              <a:rPr lang="en-US" sz="2400" dirty="0" smtClean="0"/>
              <a:t>, you can switch between the hide() and show() methods with the toggle() method.</a:t>
            </a:r>
          </a:p>
          <a:p>
            <a:r>
              <a:rPr lang="en-US" sz="2400" dirty="0" smtClean="0"/>
              <a:t>Shown elements are hidden and hidden elements are shown:</a:t>
            </a:r>
          </a:p>
          <a:p>
            <a:endParaRPr lang="en-US" sz="2400" dirty="0" smtClean="0"/>
          </a:p>
          <a:p>
            <a:endParaRPr lang="en-US" sz="2400" dirty="0" smtClean="0"/>
          </a:p>
          <a:p>
            <a:endParaRPr lang="en-US" sz="2400" dirty="0" smtClean="0"/>
          </a:p>
          <a:p>
            <a:endParaRPr lang="en-US" sz="2400" dirty="0" smtClean="0"/>
          </a:p>
          <a:p>
            <a:r>
              <a:rPr lang="en-US" sz="2400" dirty="0" smtClean="0"/>
              <a:t>Demo  - </a:t>
            </a:r>
            <a:r>
              <a:rPr lang="en-US" sz="1600" dirty="0" smtClean="0">
                <a:hlinkClick r:id="rId3"/>
              </a:rPr>
              <a:t>http://www.w3schools.com/jquery/tryit.asp?filename=tryjquery_toggle</a:t>
            </a:r>
            <a:endParaRPr lang="en-US" sz="1600" dirty="0" smtClean="0"/>
          </a:p>
          <a:p>
            <a:r>
              <a:rPr lang="en-US" sz="2400" dirty="0" smtClean="0"/>
              <a:t>Optional speed and callback parameters:</a:t>
            </a:r>
            <a:endParaRPr lang="en-US" sz="36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27</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10" name="TextBox 9"/>
          <p:cNvSpPr txBox="1"/>
          <p:nvPr/>
        </p:nvSpPr>
        <p:spPr>
          <a:xfrm>
            <a:off x="1219200" y="2819400"/>
            <a:ext cx="7162800" cy="1815882"/>
          </a:xfrm>
          <a:prstGeom prst="rect">
            <a:avLst/>
          </a:prstGeom>
          <a:solidFill>
            <a:schemeClr val="accent6">
              <a:lumMod val="40000"/>
              <a:lumOff val="60000"/>
            </a:schemeClr>
          </a:solidFill>
        </p:spPr>
        <p:txBody>
          <a:bodyPr wrap="square" rtlCol="0">
            <a:spAutoFit/>
          </a:bodyPr>
          <a:lstStyle/>
          <a:p>
            <a:r>
              <a:rPr lang="en-US" sz="2800" dirty="0" smtClean="0"/>
              <a:t>$("button").click(function(){</a:t>
            </a:r>
            <a:br>
              <a:rPr lang="en-US" sz="2800" dirty="0" smtClean="0"/>
            </a:br>
            <a:r>
              <a:rPr lang="en-US" sz="2800" dirty="0" smtClean="0"/>
              <a:t>  $("p").toggle();</a:t>
            </a:r>
            <a:br>
              <a:rPr lang="en-US" sz="2800" dirty="0" smtClean="0"/>
            </a:br>
            <a:r>
              <a:rPr lang="en-US" sz="2800" dirty="0" smtClean="0"/>
              <a:t>}); $("button").click(function(){</a:t>
            </a:r>
            <a:br>
              <a:rPr lang="en-US" sz="2800" dirty="0" smtClean="0"/>
            </a:br>
            <a:r>
              <a:rPr lang="en-US" sz="2800" dirty="0" smtClean="0"/>
              <a:t>  $("p").toggle();  });</a:t>
            </a:r>
            <a:endParaRPr lang="en-US" sz="2800" dirty="0"/>
          </a:p>
        </p:txBody>
      </p:sp>
      <p:sp>
        <p:nvSpPr>
          <p:cNvPr id="9" name="TextBox 8"/>
          <p:cNvSpPr txBox="1"/>
          <p:nvPr/>
        </p:nvSpPr>
        <p:spPr>
          <a:xfrm>
            <a:off x="1295400" y="5867400"/>
            <a:ext cx="7162800" cy="523220"/>
          </a:xfrm>
          <a:prstGeom prst="rect">
            <a:avLst/>
          </a:prstGeom>
          <a:solidFill>
            <a:schemeClr val="accent6">
              <a:lumMod val="40000"/>
              <a:lumOff val="60000"/>
            </a:schemeClr>
          </a:solidFill>
        </p:spPr>
        <p:txBody>
          <a:bodyPr wrap="square" rtlCol="0">
            <a:spAutoFit/>
          </a:bodyPr>
          <a:lstStyle/>
          <a:p>
            <a:r>
              <a:rPr lang="en-US" sz="2800" dirty="0" smtClean="0"/>
              <a:t>$(</a:t>
            </a:r>
            <a:r>
              <a:rPr lang="en-US" sz="2800" i="1" dirty="0" smtClean="0"/>
              <a:t>selector</a:t>
            </a:r>
            <a:r>
              <a:rPr lang="en-US" sz="2800" dirty="0" smtClean="0"/>
              <a:t>).toggle(</a:t>
            </a:r>
            <a:r>
              <a:rPr lang="en-US" sz="2800" i="1" dirty="0" err="1" smtClean="0"/>
              <a:t>speed,callback</a:t>
            </a:r>
            <a:r>
              <a:rPr lang="en-US" sz="2800" dirty="0" smtClean="0"/>
              <a:t>);</a:t>
            </a:r>
            <a:endParaRPr lang="en-US" sz="2800" dirty="0"/>
          </a:p>
        </p:txBody>
      </p:sp>
      <p:sp>
        <p:nvSpPr>
          <p:cNvPr id="8" name="5-Point Star 7"/>
          <p:cNvSpPr/>
          <p:nvPr/>
        </p:nvSpPr>
        <p:spPr>
          <a:xfrm rot="18984008">
            <a:off x="7945523" y="34421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err="1" smtClean="0"/>
              <a:t>jQuery</a:t>
            </a:r>
            <a:r>
              <a:rPr lang="en-US" b="0" dirty="0" smtClean="0"/>
              <a:t> Effects –</a:t>
            </a:r>
            <a:r>
              <a:rPr lang="en-US" b="0" dirty="0" err="1" smtClean="0"/>
              <a:t>FadeIn</a:t>
            </a:r>
            <a:r>
              <a:rPr lang="en-US" b="0" dirty="0" smtClean="0"/>
              <a:t>()</a:t>
            </a:r>
            <a:endParaRPr lang="en-US" b="0" dirty="0"/>
          </a:p>
        </p:txBody>
      </p:sp>
      <p:sp>
        <p:nvSpPr>
          <p:cNvPr id="3" name="Content Placeholder 2"/>
          <p:cNvSpPr>
            <a:spLocks noGrp="1"/>
          </p:cNvSpPr>
          <p:nvPr>
            <p:ph idx="1"/>
          </p:nvPr>
        </p:nvSpPr>
        <p:spPr>
          <a:xfrm>
            <a:off x="838200" y="1219200"/>
            <a:ext cx="7776380" cy="5105400"/>
          </a:xfrm>
        </p:spPr>
        <p:txBody>
          <a:bodyPr>
            <a:normAutofit/>
          </a:bodyPr>
          <a:lstStyle/>
          <a:p>
            <a:r>
              <a:rPr lang="en-US" sz="2400" dirty="0" smtClean="0"/>
              <a:t>The optional speed parameter specifies the duration of the effect. It can take the following values: "slow", "fast", or milliseconds.</a:t>
            </a:r>
          </a:p>
          <a:p>
            <a:endParaRPr lang="en-US" sz="2400" dirty="0" smtClean="0"/>
          </a:p>
          <a:p>
            <a:endParaRPr lang="en-US" sz="2400" dirty="0" smtClean="0"/>
          </a:p>
          <a:p>
            <a:r>
              <a:rPr lang="en-US" sz="2400" dirty="0" smtClean="0"/>
              <a:t>The optional callback parameter is a function to be executed after the fading completes.</a:t>
            </a:r>
          </a:p>
          <a:p>
            <a:endParaRPr lang="en-US" sz="2400" dirty="0" smtClean="0"/>
          </a:p>
          <a:p>
            <a:endParaRPr lang="en-US" sz="2400" dirty="0" smtClean="0"/>
          </a:p>
          <a:p>
            <a:endParaRPr lang="en-US" sz="2400" dirty="0" smtClean="0"/>
          </a:p>
          <a:p>
            <a:endParaRPr lang="en-US" sz="2400" dirty="0" smtClean="0"/>
          </a:p>
          <a:p>
            <a:r>
              <a:rPr lang="en-US" sz="2400" dirty="0" smtClean="0"/>
              <a:t>Demo  - </a:t>
            </a:r>
            <a:r>
              <a:rPr lang="en-US" sz="1600" dirty="0" smtClean="0">
                <a:hlinkClick r:id="rId3"/>
              </a:rPr>
              <a:t>http://www.w3schools.com/jquery/tryit.asp?filename=tryjquery_fadein</a:t>
            </a:r>
            <a:endParaRPr lang="en-US" sz="1600" dirty="0" smtClean="0"/>
          </a:p>
          <a:p>
            <a:endParaRPr lang="en-US" sz="36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28</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10" name="TextBox 9"/>
          <p:cNvSpPr txBox="1"/>
          <p:nvPr/>
        </p:nvSpPr>
        <p:spPr>
          <a:xfrm>
            <a:off x="1143000" y="4038600"/>
            <a:ext cx="7162800" cy="1815882"/>
          </a:xfrm>
          <a:prstGeom prst="rect">
            <a:avLst/>
          </a:prstGeom>
          <a:solidFill>
            <a:schemeClr val="accent6">
              <a:lumMod val="40000"/>
              <a:lumOff val="60000"/>
            </a:schemeClr>
          </a:solidFill>
        </p:spPr>
        <p:txBody>
          <a:bodyPr wrap="square" rtlCol="0">
            <a:spAutoFit/>
          </a:bodyPr>
          <a:lstStyle/>
          <a:p>
            <a:r>
              <a:rPr lang="en-US" sz="2800" dirty="0" smtClean="0"/>
              <a:t>$("button").click(function(){</a:t>
            </a:r>
            <a:br>
              <a:rPr lang="en-US" sz="2800" dirty="0" smtClean="0"/>
            </a:br>
            <a:r>
              <a:rPr lang="en-US" sz="2800" dirty="0" smtClean="0"/>
              <a:t>  $("#div1").</a:t>
            </a:r>
            <a:r>
              <a:rPr lang="en-US" sz="2800" dirty="0" err="1" smtClean="0"/>
              <a:t>fadeIn</a:t>
            </a:r>
            <a:r>
              <a:rPr lang="en-US" sz="2800" dirty="0" smtClean="0"/>
              <a:t>();</a:t>
            </a:r>
            <a:br>
              <a:rPr lang="en-US" sz="2800" dirty="0" smtClean="0"/>
            </a:br>
            <a:r>
              <a:rPr lang="en-US" sz="2800" dirty="0" smtClean="0"/>
              <a:t>  $("#div2").</a:t>
            </a:r>
            <a:r>
              <a:rPr lang="en-US" sz="2800" dirty="0" err="1" smtClean="0"/>
              <a:t>fadeIn</a:t>
            </a:r>
            <a:r>
              <a:rPr lang="en-US" sz="2800" dirty="0" smtClean="0"/>
              <a:t>("slow");</a:t>
            </a:r>
            <a:br>
              <a:rPr lang="en-US" sz="2800" dirty="0" smtClean="0"/>
            </a:br>
            <a:r>
              <a:rPr lang="en-US" sz="2800" dirty="0" smtClean="0"/>
              <a:t>  $("#div3").</a:t>
            </a:r>
            <a:r>
              <a:rPr lang="en-US" sz="2800" dirty="0" err="1" smtClean="0"/>
              <a:t>fadeIn</a:t>
            </a:r>
            <a:r>
              <a:rPr lang="en-US" sz="2800" dirty="0" smtClean="0"/>
              <a:t>(2000); });</a:t>
            </a:r>
            <a:endParaRPr lang="en-US" sz="2800" dirty="0"/>
          </a:p>
        </p:txBody>
      </p:sp>
      <p:sp>
        <p:nvSpPr>
          <p:cNvPr id="9" name="TextBox 8"/>
          <p:cNvSpPr txBox="1"/>
          <p:nvPr/>
        </p:nvSpPr>
        <p:spPr>
          <a:xfrm>
            <a:off x="1143000" y="2438400"/>
            <a:ext cx="7162800" cy="523220"/>
          </a:xfrm>
          <a:prstGeom prst="rect">
            <a:avLst/>
          </a:prstGeom>
          <a:solidFill>
            <a:schemeClr val="accent6">
              <a:lumMod val="40000"/>
              <a:lumOff val="60000"/>
            </a:schemeClr>
          </a:solidFill>
        </p:spPr>
        <p:txBody>
          <a:bodyPr wrap="square" rtlCol="0">
            <a:spAutoFit/>
          </a:bodyPr>
          <a:lstStyle/>
          <a:p>
            <a:r>
              <a:rPr lang="en-US" sz="2800" dirty="0" smtClean="0"/>
              <a:t>$(</a:t>
            </a:r>
            <a:r>
              <a:rPr lang="en-US" sz="2800" i="1" dirty="0" smtClean="0"/>
              <a:t>selector</a:t>
            </a:r>
            <a:r>
              <a:rPr lang="en-US" sz="2800" dirty="0" smtClean="0"/>
              <a:t>).</a:t>
            </a:r>
            <a:r>
              <a:rPr lang="en-US" sz="2800" dirty="0" err="1" smtClean="0"/>
              <a:t>fadeIn</a:t>
            </a:r>
            <a:r>
              <a:rPr lang="en-US" sz="2800" dirty="0" smtClean="0"/>
              <a:t>(</a:t>
            </a:r>
            <a:r>
              <a:rPr lang="en-US" sz="2800" i="1" dirty="0" err="1" smtClean="0"/>
              <a:t>speed,callback</a:t>
            </a:r>
            <a:r>
              <a:rPr lang="en-US" sz="2800" dirty="0" smtClean="0"/>
              <a:t>);</a:t>
            </a:r>
            <a:endParaRPr lang="en-US" sz="2800" dirty="0"/>
          </a:p>
        </p:txBody>
      </p:sp>
      <p:sp>
        <p:nvSpPr>
          <p:cNvPr id="8" name="5-Point Star 7"/>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err="1" smtClean="0"/>
              <a:t>jQuery</a:t>
            </a:r>
            <a:r>
              <a:rPr lang="en-US" b="0" dirty="0" smtClean="0"/>
              <a:t> Effects –</a:t>
            </a:r>
            <a:r>
              <a:rPr lang="en-US" b="0" dirty="0" err="1" smtClean="0"/>
              <a:t>fadeOut</a:t>
            </a:r>
            <a:r>
              <a:rPr lang="en-US" b="0" dirty="0" smtClean="0"/>
              <a:t>()</a:t>
            </a:r>
            <a:endParaRPr lang="en-US" b="0" dirty="0"/>
          </a:p>
        </p:txBody>
      </p:sp>
      <p:sp>
        <p:nvSpPr>
          <p:cNvPr id="3" name="Content Placeholder 2"/>
          <p:cNvSpPr>
            <a:spLocks noGrp="1"/>
          </p:cNvSpPr>
          <p:nvPr>
            <p:ph idx="1"/>
          </p:nvPr>
        </p:nvSpPr>
        <p:spPr>
          <a:xfrm>
            <a:off x="762000" y="1524000"/>
            <a:ext cx="7776380" cy="5105400"/>
          </a:xfrm>
        </p:spPr>
        <p:txBody>
          <a:bodyPr>
            <a:normAutofit/>
          </a:bodyPr>
          <a:lstStyle/>
          <a:p>
            <a:r>
              <a:rPr lang="en-US" sz="2400" dirty="0" smtClean="0"/>
              <a:t>The </a:t>
            </a:r>
            <a:r>
              <a:rPr lang="en-US" sz="2400" dirty="0" err="1" smtClean="0"/>
              <a:t>jQuery</a:t>
            </a:r>
            <a:r>
              <a:rPr lang="en-US" sz="2400" dirty="0" smtClean="0"/>
              <a:t> </a:t>
            </a:r>
            <a:r>
              <a:rPr lang="en-US" sz="2400" dirty="0" err="1" smtClean="0"/>
              <a:t>fadeOut</a:t>
            </a:r>
            <a:r>
              <a:rPr lang="en-US" sz="2400" dirty="0" smtClean="0"/>
              <a:t>() method is used to fade out a visible element.</a:t>
            </a:r>
          </a:p>
          <a:p>
            <a:r>
              <a:rPr lang="en-US" sz="2400" dirty="0" smtClean="0"/>
              <a:t>The optional speed parameter specifies the duration of the effect. It can take the following values: "slow", "fast", or milliseconds.</a:t>
            </a:r>
          </a:p>
          <a:p>
            <a:r>
              <a:rPr lang="en-US" sz="2400" dirty="0" smtClean="0"/>
              <a:t>The optional callback parameter is a function to be executed after the fading completes.</a:t>
            </a:r>
          </a:p>
          <a:p>
            <a:endParaRPr lang="en-US" sz="2400" dirty="0" smtClean="0"/>
          </a:p>
          <a:p>
            <a:endParaRPr lang="en-US" sz="2400" dirty="0" smtClean="0"/>
          </a:p>
          <a:p>
            <a:endParaRPr lang="en-US" sz="2400" dirty="0" smtClean="0"/>
          </a:p>
          <a:p>
            <a:endParaRPr lang="en-US" sz="2400" dirty="0" smtClean="0"/>
          </a:p>
          <a:p>
            <a:r>
              <a:rPr lang="en-US" sz="2400" dirty="0" smtClean="0"/>
              <a:t>Demo  -</a:t>
            </a:r>
            <a:r>
              <a:rPr lang="en-US" sz="1600" dirty="0" smtClean="0">
                <a:hlinkClick r:id="rId3"/>
              </a:rPr>
              <a:t>http://www.w3schools.com/jquery/tryit.asp?filename=tryjquery_fadeout</a:t>
            </a:r>
            <a:endParaRPr lang="en-US" sz="36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29</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10" name="TextBox 9"/>
          <p:cNvSpPr txBox="1"/>
          <p:nvPr/>
        </p:nvSpPr>
        <p:spPr>
          <a:xfrm>
            <a:off x="1066800" y="4191000"/>
            <a:ext cx="7162800" cy="1815882"/>
          </a:xfrm>
          <a:prstGeom prst="rect">
            <a:avLst/>
          </a:prstGeom>
          <a:solidFill>
            <a:schemeClr val="accent6">
              <a:lumMod val="40000"/>
              <a:lumOff val="60000"/>
            </a:schemeClr>
          </a:solidFill>
        </p:spPr>
        <p:txBody>
          <a:bodyPr wrap="square" rtlCol="0">
            <a:spAutoFit/>
          </a:bodyPr>
          <a:lstStyle/>
          <a:p>
            <a:r>
              <a:rPr lang="en-US" sz="2800" dirty="0" smtClean="0"/>
              <a:t>$("button").click(function(){</a:t>
            </a:r>
            <a:br>
              <a:rPr lang="en-US" sz="2800" dirty="0" smtClean="0"/>
            </a:br>
            <a:r>
              <a:rPr lang="en-US" sz="2800" dirty="0" smtClean="0"/>
              <a:t>  $("#div1").</a:t>
            </a:r>
            <a:r>
              <a:rPr lang="en-US" sz="2800" dirty="0" err="1" smtClean="0"/>
              <a:t>fadeOut</a:t>
            </a:r>
            <a:r>
              <a:rPr lang="en-US" sz="2800" dirty="0" smtClean="0"/>
              <a:t>();</a:t>
            </a:r>
            <a:br>
              <a:rPr lang="en-US" sz="2800" dirty="0" smtClean="0"/>
            </a:br>
            <a:r>
              <a:rPr lang="en-US" sz="2800" dirty="0" smtClean="0"/>
              <a:t>  $("#div2").</a:t>
            </a:r>
            <a:r>
              <a:rPr lang="en-US" sz="2800" dirty="0" err="1" smtClean="0"/>
              <a:t>fadeOut</a:t>
            </a:r>
            <a:r>
              <a:rPr lang="en-US" sz="2800" dirty="0" smtClean="0"/>
              <a:t>("slow");</a:t>
            </a:r>
            <a:br>
              <a:rPr lang="en-US" sz="2800" dirty="0" smtClean="0"/>
            </a:br>
            <a:r>
              <a:rPr lang="en-US" sz="2800" dirty="0" smtClean="0"/>
              <a:t>  $("#div3").</a:t>
            </a:r>
            <a:r>
              <a:rPr lang="en-US" sz="2800" dirty="0" err="1" smtClean="0"/>
              <a:t>fadeOut</a:t>
            </a:r>
            <a:r>
              <a:rPr lang="en-US" sz="2800" dirty="0" smtClean="0"/>
              <a:t>(3000);    });</a:t>
            </a:r>
            <a:endParaRPr lang="en-US" sz="2800" dirty="0"/>
          </a:p>
        </p:txBody>
      </p:sp>
      <p:sp>
        <p:nvSpPr>
          <p:cNvPr id="9" name="TextBox 8"/>
          <p:cNvSpPr txBox="1"/>
          <p:nvPr/>
        </p:nvSpPr>
        <p:spPr>
          <a:xfrm>
            <a:off x="1219200" y="1828800"/>
            <a:ext cx="7162800" cy="523220"/>
          </a:xfrm>
          <a:prstGeom prst="rect">
            <a:avLst/>
          </a:prstGeom>
          <a:solidFill>
            <a:schemeClr val="accent6">
              <a:lumMod val="40000"/>
              <a:lumOff val="60000"/>
            </a:schemeClr>
          </a:solidFill>
        </p:spPr>
        <p:txBody>
          <a:bodyPr wrap="square" rtlCol="0">
            <a:spAutoFit/>
          </a:bodyPr>
          <a:lstStyle/>
          <a:p>
            <a:r>
              <a:rPr lang="en-US" sz="2800" dirty="0" smtClean="0"/>
              <a:t>$(</a:t>
            </a:r>
            <a:r>
              <a:rPr lang="en-US" sz="2800" i="1" dirty="0" smtClean="0"/>
              <a:t>selector</a:t>
            </a:r>
            <a:r>
              <a:rPr lang="en-US" sz="2800" dirty="0" smtClean="0"/>
              <a:t>).</a:t>
            </a:r>
            <a:r>
              <a:rPr lang="en-US" sz="2800" dirty="0" err="1" smtClean="0"/>
              <a:t>fadeOut</a:t>
            </a:r>
            <a:r>
              <a:rPr lang="en-US" sz="2800" dirty="0" smtClean="0"/>
              <a:t>(</a:t>
            </a:r>
            <a:r>
              <a:rPr lang="en-US" sz="2800" i="1" dirty="0" err="1" smtClean="0"/>
              <a:t>speed,callback</a:t>
            </a:r>
            <a:r>
              <a:rPr lang="en-US" sz="2800" dirty="0" smtClean="0"/>
              <a:t>);</a:t>
            </a:r>
            <a:endParaRPr lang="en-US" sz="28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err="1" smtClean="0"/>
              <a:t>jQuery</a:t>
            </a:r>
            <a:r>
              <a:rPr lang="en-US" b="0" dirty="0" smtClean="0"/>
              <a:t> Effects –</a:t>
            </a:r>
            <a:r>
              <a:rPr lang="en-US" b="0" dirty="0" err="1" smtClean="0"/>
              <a:t>fadeToggle</a:t>
            </a:r>
            <a:r>
              <a:rPr lang="en-US" b="0" dirty="0" smtClean="0"/>
              <a:t>() </a:t>
            </a:r>
            <a:endParaRPr lang="en-US" b="0" dirty="0"/>
          </a:p>
        </p:txBody>
      </p:sp>
      <p:sp>
        <p:nvSpPr>
          <p:cNvPr id="3" name="Content Placeholder 2"/>
          <p:cNvSpPr>
            <a:spLocks noGrp="1"/>
          </p:cNvSpPr>
          <p:nvPr>
            <p:ph idx="1"/>
          </p:nvPr>
        </p:nvSpPr>
        <p:spPr>
          <a:xfrm>
            <a:off x="762000" y="1524000"/>
            <a:ext cx="8153400" cy="5334000"/>
          </a:xfrm>
        </p:spPr>
        <p:txBody>
          <a:bodyPr>
            <a:normAutofit/>
          </a:bodyPr>
          <a:lstStyle/>
          <a:p>
            <a:r>
              <a:rPr lang="en-US" sz="2400" dirty="0" smtClean="0"/>
              <a:t>The </a:t>
            </a:r>
            <a:r>
              <a:rPr lang="en-US" sz="2400" dirty="0" err="1" smtClean="0"/>
              <a:t>jQuery</a:t>
            </a:r>
            <a:r>
              <a:rPr lang="en-US" sz="2400" dirty="0" smtClean="0"/>
              <a:t> </a:t>
            </a:r>
            <a:r>
              <a:rPr lang="en-US" sz="2400" dirty="0" err="1" smtClean="0"/>
              <a:t>fadeToggle</a:t>
            </a:r>
            <a:r>
              <a:rPr lang="en-US" sz="2400" dirty="0" smtClean="0"/>
              <a:t>() method toggles between the </a:t>
            </a:r>
            <a:r>
              <a:rPr lang="en-US" sz="2400" dirty="0" err="1" smtClean="0"/>
              <a:t>fadeIn</a:t>
            </a:r>
            <a:r>
              <a:rPr lang="en-US" sz="2400" dirty="0" smtClean="0"/>
              <a:t>() and </a:t>
            </a:r>
            <a:r>
              <a:rPr lang="en-US" sz="2400" dirty="0" err="1" smtClean="0"/>
              <a:t>fadeOut</a:t>
            </a:r>
            <a:r>
              <a:rPr lang="en-US" sz="2400" dirty="0" smtClean="0"/>
              <a:t>() methods.</a:t>
            </a:r>
          </a:p>
          <a:p>
            <a:r>
              <a:rPr lang="en-US" sz="2400" dirty="0" smtClean="0"/>
              <a:t>If the elements are faded out, </a:t>
            </a:r>
            <a:r>
              <a:rPr lang="en-US" sz="2400" dirty="0" err="1" smtClean="0"/>
              <a:t>fadeToggle</a:t>
            </a:r>
            <a:r>
              <a:rPr lang="en-US" sz="2400" dirty="0" smtClean="0"/>
              <a:t>() will fade them in.</a:t>
            </a:r>
          </a:p>
          <a:p>
            <a:r>
              <a:rPr lang="en-US" sz="2400" dirty="0" smtClean="0"/>
              <a:t>If the elements are faded in, </a:t>
            </a:r>
            <a:r>
              <a:rPr lang="en-US" sz="2400" dirty="0" err="1" smtClean="0"/>
              <a:t>fadeToggle</a:t>
            </a:r>
            <a:r>
              <a:rPr lang="en-US" sz="2400" dirty="0" smtClean="0"/>
              <a:t>() will fade them out.</a:t>
            </a:r>
          </a:p>
          <a:p>
            <a:r>
              <a:rPr lang="en-US" sz="2400" dirty="0" smtClean="0"/>
              <a:t> </a:t>
            </a:r>
          </a:p>
          <a:p>
            <a:r>
              <a:rPr lang="en-US" sz="2400" dirty="0" smtClean="0"/>
              <a:t>The following example demonstrates the </a:t>
            </a:r>
            <a:r>
              <a:rPr lang="en-US" sz="2400" dirty="0" err="1" smtClean="0"/>
              <a:t>fadeToggle</a:t>
            </a:r>
            <a:r>
              <a:rPr lang="en-US" sz="2400" dirty="0" smtClean="0"/>
              <a:t>() method with different parameters:</a:t>
            </a:r>
          </a:p>
          <a:p>
            <a:endParaRPr lang="en-US" sz="2400" dirty="0" smtClean="0"/>
          </a:p>
          <a:p>
            <a:endParaRPr lang="en-US" sz="2400" dirty="0" smtClean="0"/>
          </a:p>
          <a:p>
            <a:endParaRPr lang="en-US" sz="2400" dirty="0" smtClean="0"/>
          </a:p>
          <a:p>
            <a:endParaRPr lang="en-US" sz="2400" dirty="0" smtClean="0"/>
          </a:p>
          <a:p>
            <a:r>
              <a:rPr lang="en-US" sz="2400" dirty="0" smtClean="0"/>
              <a:t>Demo  -</a:t>
            </a:r>
            <a:r>
              <a:rPr lang="en-US" sz="1600" dirty="0" smtClean="0">
                <a:hlinkClick r:id="rId3"/>
              </a:rPr>
              <a:t>http://www.w3schools.com/jquery/tryit.asp?filename=tryjquery_fadetoggle</a:t>
            </a:r>
            <a:endParaRPr lang="en-US" sz="3600" dirty="0"/>
          </a:p>
        </p:txBody>
      </p:sp>
      <p:sp>
        <p:nvSpPr>
          <p:cNvPr id="5" name="Slide Number Placeholder 4"/>
          <p:cNvSpPr>
            <a:spLocks noGrp="1"/>
          </p:cNvSpPr>
          <p:nvPr>
            <p:ph type="sldNum" sz="quarter" idx="12"/>
          </p:nvPr>
        </p:nvSpPr>
        <p:spPr/>
        <p:txBody>
          <a:bodyPr/>
          <a:lstStyle/>
          <a:p>
            <a:fld id="{A6724466-CF14-4098-A57E-6BA1C4EB8FEB}" type="slidenum">
              <a:rPr lang="en-US" smtClean="0"/>
              <a:pPr/>
              <a:t>30</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10" name="TextBox 9"/>
          <p:cNvSpPr txBox="1"/>
          <p:nvPr/>
        </p:nvSpPr>
        <p:spPr>
          <a:xfrm>
            <a:off x="914400" y="4495800"/>
            <a:ext cx="7162800" cy="1815882"/>
          </a:xfrm>
          <a:prstGeom prst="rect">
            <a:avLst/>
          </a:prstGeom>
          <a:solidFill>
            <a:schemeClr val="accent6">
              <a:lumMod val="40000"/>
              <a:lumOff val="60000"/>
            </a:schemeClr>
          </a:solidFill>
        </p:spPr>
        <p:txBody>
          <a:bodyPr wrap="square" rtlCol="0">
            <a:spAutoFit/>
          </a:bodyPr>
          <a:lstStyle/>
          <a:p>
            <a:r>
              <a:rPr lang="en-US" sz="2800" dirty="0" smtClean="0"/>
              <a:t>$("button").click(function(){</a:t>
            </a:r>
            <a:br>
              <a:rPr lang="en-US" sz="2800" dirty="0" smtClean="0"/>
            </a:br>
            <a:r>
              <a:rPr lang="en-US" sz="2800" dirty="0" smtClean="0"/>
              <a:t>  $("#div1").</a:t>
            </a:r>
            <a:r>
              <a:rPr lang="en-US" sz="2800" dirty="0" err="1" smtClean="0"/>
              <a:t>fadeToggle</a:t>
            </a:r>
            <a:r>
              <a:rPr lang="en-US" sz="2800" dirty="0" smtClean="0"/>
              <a:t>();</a:t>
            </a:r>
            <a:br>
              <a:rPr lang="en-US" sz="2800" dirty="0" smtClean="0"/>
            </a:br>
            <a:r>
              <a:rPr lang="en-US" sz="2800" dirty="0" smtClean="0"/>
              <a:t>  $("#div2").</a:t>
            </a:r>
            <a:r>
              <a:rPr lang="en-US" sz="2800" dirty="0" err="1" smtClean="0"/>
              <a:t>fadeToggle</a:t>
            </a:r>
            <a:r>
              <a:rPr lang="en-US" sz="2800" dirty="0" smtClean="0"/>
              <a:t>(“fast");</a:t>
            </a:r>
            <a:br>
              <a:rPr lang="en-US" sz="2800" dirty="0" smtClean="0"/>
            </a:br>
            <a:r>
              <a:rPr lang="en-US" sz="2800" dirty="0" smtClean="0"/>
              <a:t>  $("#div3").</a:t>
            </a:r>
            <a:r>
              <a:rPr lang="en-US" sz="2800" dirty="0" err="1" smtClean="0"/>
              <a:t>fadeToggle</a:t>
            </a:r>
            <a:r>
              <a:rPr lang="en-US" sz="2800" dirty="0" smtClean="0"/>
              <a:t>(2000); });</a:t>
            </a:r>
            <a:endParaRPr lang="en-US" sz="2800" dirty="0"/>
          </a:p>
        </p:txBody>
      </p:sp>
      <p:sp>
        <p:nvSpPr>
          <p:cNvPr id="9" name="TextBox 8"/>
          <p:cNvSpPr txBox="1"/>
          <p:nvPr/>
        </p:nvSpPr>
        <p:spPr>
          <a:xfrm>
            <a:off x="1219200" y="3200400"/>
            <a:ext cx="7162800" cy="523220"/>
          </a:xfrm>
          <a:prstGeom prst="rect">
            <a:avLst/>
          </a:prstGeom>
          <a:solidFill>
            <a:schemeClr val="accent6">
              <a:lumMod val="40000"/>
              <a:lumOff val="60000"/>
            </a:schemeClr>
          </a:solidFill>
        </p:spPr>
        <p:txBody>
          <a:bodyPr wrap="square" rtlCol="0">
            <a:spAutoFit/>
          </a:bodyPr>
          <a:lstStyle/>
          <a:p>
            <a:r>
              <a:rPr lang="en-US" sz="2800" dirty="0" smtClean="0"/>
              <a:t>$(</a:t>
            </a:r>
            <a:r>
              <a:rPr lang="en-US" sz="2800" i="1" dirty="0" smtClean="0"/>
              <a:t>selector</a:t>
            </a:r>
            <a:r>
              <a:rPr lang="en-US" sz="2800" dirty="0" smtClean="0"/>
              <a:t>).</a:t>
            </a:r>
            <a:r>
              <a:rPr lang="en-US" sz="2800" dirty="0" err="1" smtClean="0"/>
              <a:t>fadeToggle</a:t>
            </a:r>
            <a:r>
              <a:rPr lang="en-US" sz="2800" dirty="0" smtClean="0"/>
              <a:t>(</a:t>
            </a:r>
            <a:r>
              <a:rPr lang="en-US" sz="2800" i="1" dirty="0" err="1" smtClean="0"/>
              <a:t>speed,callback</a:t>
            </a:r>
            <a:r>
              <a:rPr lang="en-US" sz="2800" dirty="0" smtClean="0"/>
              <a:t>);</a:t>
            </a:r>
            <a:endParaRPr lang="en-US" sz="2800" dirty="0"/>
          </a:p>
        </p:txBody>
      </p:sp>
      <p:sp>
        <p:nvSpPr>
          <p:cNvPr id="8" name="5-Point Star 7"/>
          <p:cNvSpPr/>
          <p:nvPr/>
        </p:nvSpPr>
        <p:spPr>
          <a:xfrm rot="18984008">
            <a:off x="8040414" y="199251"/>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err="1" smtClean="0"/>
              <a:t>jQuery</a:t>
            </a:r>
            <a:r>
              <a:rPr lang="en-US" b="0" dirty="0" smtClean="0"/>
              <a:t> Effects –Slide() </a:t>
            </a:r>
            <a:endParaRPr lang="en-US"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err="1" smtClean="0">
                <a:hlinkClick r:id="rId3"/>
              </a:rPr>
              <a:t>jQuery</a:t>
            </a:r>
            <a:r>
              <a:rPr lang="en-US" sz="2400" dirty="0" smtClean="0">
                <a:hlinkClick r:id="rId3"/>
              </a:rPr>
              <a:t> </a:t>
            </a:r>
            <a:r>
              <a:rPr lang="en-US" sz="2400" dirty="0" err="1" smtClean="0">
                <a:hlinkClick r:id="rId3"/>
              </a:rPr>
              <a:t>slideDown</a:t>
            </a:r>
            <a:r>
              <a:rPr lang="en-US" sz="2400" dirty="0" smtClean="0">
                <a:hlinkClick r:id="rId3"/>
              </a:rPr>
              <a:t>()</a:t>
            </a:r>
            <a:r>
              <a:rPr lang="en-US" sz="2400" dirty="0" smtClean="0"/>
              <a:t/>
            </a:r>
            <a:br>
              <a:rPr lang="en-US" sz="2400" dirty="0" smtClean="0"/>
            </a:br>
            <a:r>
              <a:rPr lang="en-US" sz="2400" dirty="0" smtClean="0"/>
              <a:t>Demonstrates the </a:t>
            </a:r>
            <a:r>
              <a:rPr lang="en-US" sz="2400" dirty="0" err="1" smtClean="0"/>
              <a:t>jQuery</a:t>
            </a:r>
            <a:r>
              <a:rPr lang="en-US" sz="2400" dirty="0" smtClean="0"/>
              <a:t> </a:t>
            </a:r>
            <a:r>
              <a:rPr lang="en-US" sz="2400" dirty="0" err="1" smtClean="0"/>
              <a:t>slideDown</a:t>
            </a:r>
            <a:r>
              <a:rPr lang="en-US" sz="2400" dirty="0" smtClean="0"/>
              <a:t>() method.</a:t>
            </a:r>
          </a:p>
          <a:p>
            <a:endParaRPr lang="en-US" sz="2400" dirty="0" smtClean="0"/>
          </a:p>
          <a:p>
            <a:endParaRPr lang="en-US" sz="2400" dirty="0" smtClean="0"/>
          </a:p>
          <a:p>
            <a:endParaRPr lang="en-US" sz="2400" dirty="0" smtClean="0">
              <a:hlinkClick r:id="rId4"/>
            </a:endParaRPr>
          </a:p>
          <a:p>
            <a:r>
              <a:rPr lang="en-US" sz="2400" dirty="0" err="1" smtClean="0">
                <a:hlinkClick r:id="rId4"/>
              </a:rPr>
              <a:t>jQuery</a:t>
            </a:r>
            <a:r>
              <a:rPr lang="en-US" sz="2400" dirty="0" smtClean="0">
                <a:hlinkClick r:id="rId4"/>
              </a:rPr>
              <a:t> </a:t>
            </a:r>
            <a:r>
              <a:rPr lang="en-US" sz="2400" dirty="0" err="1" smtClean="0">
                <a:hlinkClick r:id="rId4"/>
              </a:rPr>
              <a:t>slideUp</a:t>
            </a:r>
            <a:r>
              <a:rPr lang="en-US" sz="2400" dirty="0" smtClean="0">
                <a:hlinkClick r:id="rId4"/>
              </a:rPr>
              <a:t>()</a:t>
            </a:r>
            <a:r>
              <a:rPr lang="en-US" sz="2400" dirty="0" smtClean="0"/>
              <a:t/>
            </a:r>
            <a:br>
              <a:rPr lang="en-US" sz="2400" dirty="0" smtClean="0"/>
            </a:br>
            <a:r>
              <a:rPr lang="en-US" sz="2400" dirty="0" smtClean="0"/>
              <a:t>Demonstrates the </a:t>
            </a:r>
            <a:r>
              <a:rPr lang="en-US" sz="2400" dirty="0" err="1" smtClean="0"/>
              <a:t>jQuery</a:t>
            </a:r>
            <a:r>
              <a:rPr lang="en-US" sz="2400" dirty="0" smtClean="0"/>
              <a:t> </a:t>
            </a:r>
            <a:r>
              <a:rPr lang="en-US" sz="2400" dirty="0" err="1" smtClean="0"/>
              <a:t>slideUp</a:t>
            </a:r>
            <a:r>
              <a:rPr lang="en-US" sz="2400" dirty="0" smtClean="0"/>
              <a:t>() method.</a:t>
            </a:r>
          </a:p>
          <a:p>
            <a:r>
              <a:rPr lang="en-US" sz="2400" dirty="0" err="1" smtClean="0">
                <a:hlinkClick r:id="rId5"/>
              </a:rPr>
              <a:t>jQuery</a:t>
            </a:r>
            <a:r>
              <a:rPr lang="en-US" sz="2400" dirty="0" smtClean="0">
                <a:hlinkClick r:id="rId5"/>
              </a:rPr>
              <a:t> </a:t>
            </a:r>
            <a:r>
              <a:rPr lang="en-US" sz="2400" dirty="0" err="1" smtClean="0">
                <a:hlinkClick r:id="rId5"/>
              </a:rPr>
              <a:t>slideToggle</a:t>
            </a:r>
            <a:r>
              <a:rPr lang="en-US" sz="2400" dirty="0" smtClean="0">
                <a:hlinkClick r:id="rId5"/>
              </a:rPr>
              <a:t>()</a:t>
            </a:r>
            <a:r>
              <a:rPr lang="en-US" sz="2400" dirty="0" smtClean="0"/>
              <a:t/>
            </a:r>
            <a:br>
              <a:rPr lang="en-US" sz="2400" dirty="0" smtClean="0"/>
            </a:br>
            <a:r>
              <a:rPr lang="en-US" sz="2400" dirty="0" smtClean="0"/>
              <a:t>Demonstrates the </a:t>
            </a:r>
            <a:r>
              <a:rPr lang="en-US" sz="2400" dirty="0" err="1" smtClean="0"/>
              <a:t>jQuery</a:t>
            </a:r>
            <a:r>
              <a:rPr lang="en-US" sz="2400" dirty="0" smtClean="0"/>
              <a:t> </a:t>
            </a:r>
            <a:r>
              <a:rPr lang="en-US" sz="2400" dirty="0" err="1" smtClean="0"/>
              <a:t>SlideToggle</a:t>
            </a:r>
            <a:r>
              <a:rPr lang="en-US" sz="2400" dirty="0" smtClean="0"/>
              <a:t>() method.</a:t>
            </a:r>
          </a:p>
          <a:p>
            <a:endParaRPr lang="en-US" sz="2400" dirty="0" smtClean="0"/>
          </a:p>
          <a:p>
            <a:endParaRPr lang="en-US" sz="2400" dirty="0" smtClean="0"/>
          </a:p>
          <a:p>
            <a:endParaRPr lang="en-US" sz="2400" dirty="0" smtClean="0"/>
          </a:p>
          <a:p>
            <a:pPr>
              <a:buNone/>
            </a:pPr>
            <a:endParaRPr lang="en-US" sz="3600" dirty="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31</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990600" y="5029200"/>
            <a:ext cx="7162800" cy="1384995"/>
          </a:xfrm>
          <a:prstGeom prst="rect">
            <a:avLst/>
          </a:prstGeom>
          <a:solidFill>
            <a:schemeClr val="accent6">
              <a:lumMod val="40000"/>
              <a:lumOff val="60000"/>
            </a:schemeClr>
          </a:solidFill>
        </p:spPr>
        <p:txBody>
          <a:bodyPr wrap="square" rtlCol="0">
            <a:spAutoFit/>
          </a:bodyPr>
          <a:lstStyle/>
          <a:p>
            <a:r>
              <a:rPr lang="en-US" sz="2800" dirty="0" smtClean="0"/>
              <a:t>$("#flip").click(function(){</a:t>
            </a:r>
            <a:br>
              <a:rPr lang="en-US" sz="2800" dirty="0" smtClean="0"/>
            </a:br>
            <a:r>
              <a:rPr lang="en-US" sz="2800" dirty="0" smtClean="0"/>
              <a:t>  $("#panel").</a:t>
            </a:r>
            <a:r>
              <a:rPr lang="en-US" sz="2800" dirty="0" err="1" smtClean="0"/>
              <a:t>slideToggle</a:t>
            </a:r>
            <a:r>
              <a:rPr lang="en-US" sz="2800" dirty="0" smtClean="0"/>
              <a:t>();</a:t>
            </a:r>
            <a:br>
              <a:rPr lang="en-US" sz="2800" dirty="0" smtClean="0"/>
            </a:br>
            <a:r>
              <a:rPr lang="en-US" sz="2800" dirty="0" smtClean="0"/>
              <a:t>});</a:t>
            </a:r>
            <a:endParaRPr lang="en-US" sz="2800" dirty="0"/>
          </a:p>
        </p:txBody>
      </p:sp>
      <p:sp>
        <p:nvSpPr>
          <p:cNvPr id="8" name="TextBox 7"/>
          <p:cNvSpPr txBox="1"/>
          <p:nvPr/>
        </p:nvSpPr>
        <p:spPr>
          <a:xfrm>
            <a:off x="1219200" y="2057400"/>
            <a:ext cx="7162800" cy="1384995"/>
          </a:xfrm>
          <a:prstGeom prst="rect">
            <a:avLst/>
          </a:prstGeom>
          <a:solidFill>
            <a:schemeClr val="accent6">
              <a:lumMod val="40000"/>
              <a:lumOff val="60000"/>
            </a:schemeClr>
          </a:solidFill>
        </p:spPr>
        <p:txBody>
          <a:bodyPr wrap="square" rtlCol="0">
            <a:spAutoFit/>
          </a:bodyPr>
          <a:lstStyle/>
          <a:p>
            <a:r>
              <a:rPr lang="en-US" sz="2800" dirty="0" smtClean="0"/>
              <a:t>$("#flip").click(function(){</a:t>
            </a:r>
            <a:br>
              <a:rPr lang="en-US" sz="2800" dirty="0" smtClean="0"/>
            </a:br>
            <a:r>
              <a:rPr lang="en-US" sz="2800" dirty="0" smtClean="0"/>
              <a:t>  $("#panel").</a:t>
            </a:r>
            <a:r>
              <a:rPr lang="en-US" sz="2800" dirty="0" err="1" smtClean="0"/>
              <a:t>slideDown</a:t>
            </a:r>
            <a:r>
              <a:rPr lang="en-US" sz="2800" dirty="0" smtClean="0"/>
              <a:t>();</a:t>
            </a:r>
            <a:br>
              <a:rPr lang="en-US" sz="2800" dirty="0" smtClean="0"/>
            </a:br>
            <a:r>
              <a:rPr lang="en-US" sz="2800" dirty="0" smtClean="0"/>
              <a:t>});</a:t>
            </a:r>
            <a:endParaRPr lang="en-US" sz="2800" dirty="0"/>
          </a:p>
        </p:txBody>
      </p:sp>
      <p:sp>
        <p:nvSpPr>
          <p:cNvPr id="10" name="5-Point Star 9"/>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0" dirty="0" err="1" smtClean="0"/>
              <a:t>jQuery</a:t>
            </a:r>
            <a:r>
              <a:rPr lang="en-US" b="0" dirty="0" smtClean="0"/>
              <a:t> Effects –Animate() </a:t>
            </a:r>
            <a:endParaRPr lang="en-US"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err="1" smtClean="0">
                <a:hlinkClick r:id="rId3"/>
              </a:rPr>
              <a:t>jQuery</a:t>
            </a:r>
            <a:r>
              <a:rPr lang="en-US" sz="2400" dirty="0" smtClean="0">
                <a:hlinkClick r:id="rId3"/>
              </a:rPr>
              <a:t> </a:t>
            </a:r>
            <a:r>
              <a:rPr lang="en-US" sz="2400" dirty="0" smtClean="0">
                <a:hlinkClick r:id="rId3"/>
              </a:rPr>
              <a:t>animate()</a:t>
            </a:r>
            <a:r>
              <a:rPr lang="en-US" sz="2400" dirty="0" smtClean="0"/>
              <a:t/>
            </a:r>
            <a:br>
              <a:rPr lang="en-US" sz="2400" dirty="0" smtClean="0"/>
            </a:br>
            <a:r>
              <a:rPr lang="en-US" sz="2400" dirty="0" smtClean="0"/>
              <a:t>Demonstrates the </a:t>
            </a:r>
            <a:r>
              <a:rPr lang="en-US" sz="2400" dirty="0" err="1" smtClean="0"/>
              <a:t>jQuery</a:t>
            </a:r>
            <a:r>
              <a:rPr lang="en-US" sz="2400" dirty="0" smtClean="0"/>
              <a:t> </a:t>
            </a:r>
            <a:r>
              <a:rPr lang="en-US" sz="2400" dirty="0" smtClean="0"/>
              <a:t>animate() </a:t>
            </a:r>
            <a:r>
              <a:rPr lang="en-US" sz="2400" dirty="0" smtClean="0"/>
              <a:t>method.</a:t>
            </a:r>
          </a:p>
          <a:p>
            <a:endParaRPr lang="en-US" sz="2400" dirty="0" smtClean="0"/>
          </a:p>
          <a:p>
            <a:r>
              <a:rPr lang="en-US" sz="2400" dirty="0" smtClean="0"/>
              <a:t>The required </a:t>
            </a:r>
            <a:r>
              <a:rPr lang="en-US" sz="2400" dirty="0" err="1" smtClean="0"/>
              <a:t>params</a:t>
            </a:r>
            <a:r>
              <a:rPr lang="en-US" sz="2400" dirty="0" smtClean="0"/>
              <a:t> parameter defines the CSS properties to be animated.</a:t>
            </a:r>
          </a:p>
          <a:p>
            <a:r>
              <a:rPr lang="en-US" sz="2400" dirty="0" smtClean="0"/>
              <a:t>The optional speed parameter specifies the effect’s duration  </a:t>
            </a:r>
          </a:p>
          <a:p>
            <a:r>
              <a:rPr lang="en-US" sz="2400" dirty="0" smtClean="0"/>
              <a:t>The optional callback parameter is a function to be executed after the animation completes.</a:t>
            </a:r>
          </a:p>
          <a:p>
            <a:r>
              <a:rPr lang="en-US" sz="2400" dirty="0" smtClean="0"/>
              <a:t>Example</a:t>
            </a:r>
          </a:p>
          <a:p>
            <a:endParaRPr lang="en-US" sz="2400" dirty="0" smtClean="0"/>
          </a:p>
          <a:p>
            <a:endParaRPr lang="en-US" sz="2400" dirty="0" smtClean="0"/>
          </a:p>
          <a:p>
            <a:pPr>
              <a:buNone/>
            </a:pPr>
            <a:endParaRPr lang="en-US" sz="3600" dirty="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32</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1066800" y="5105400"/>
            <a:ext cx="7162800" cy="1384995"/>
          </a:xfrm>
          <a:prstGeom prst="rect">
            <a:avLst/>
          </a:prstGeom>
          <a:solidFill>
            <a:schemeClr val="accent6">
              <a:lumMod val="40000"/>
              <a:lumOff val="60000"/>
            </a:schemeClr>
          </a:solidFill>
        </p:spPr>
        <p:txBody>
          <a:bodyPr wrap="square" rtlCol="0">
            <a:spAutoFit/>
          </a:bodyPr>
          <a:lstStyle/>
          <a:p>
            <a:r>
              <a:rPr lang="en-US" sz="2800" dirty="0" smtClean="0"/>
              <a:t>$("button").click(function(){</a:t>
            </a:r>
            <a:br>
              <a:rPr lang="en-US" sz="2800" dirty="0" smtClean="0"/>
            </a:br>
            <a:r>
              <a:rPr lang="en-US" sz="2800" dirty="0" smtClean="0"/>
              <a:t>  $("div").animate({left:'250px'});</a:t>
            </a:r>
            <a:br>
              <a:rPr lang="en-US" sz="2800" dirty="0" smtClean="0"/>
            </a:br>
            <a:r>
              <a:rPr lang="en-US" sz="2800" dirty="0" smtClean="0"/>
              <a:t>}); </a:t>
            </a:r>
            <a:endParaRPr lang="en-US" sz="2800" dirty="0"/>
          </a:p>
        </p:txBody>
      </p:sp>
      <p:sp>
        <p:nvSpPr>
          <p:cNvPr id="8" name="TextBox 7"/>
          <p:cNvSpPr txBox="1"/>
          <p:nvPr/>
        </p:nvSpPr>
        <p:spPr>
          <a:xfrm>
            <a:off x="1219200" y="2057400"/>
            <a:ext cx="7162800" cy="523220"/>
          </a:xfrm>
          <a:prstGeom prst="rect">
            <a:avLst/>
          </a:prstGeom>
          <a:solidFill>
            <a:schemeClr val="accent6">
              <a:lumMod val="40000"/>
              <a:lumOff val="60000"/>
            </a:schemeClr>
          </a:solidFill>
        </p:spPr>
        <p:txBody>
          <a:bodyPr wrap="square" rtlCol="0">
            <a:spAutoFit/>
          </a:bodyPr>
          <a:lstStyle/>
          <a:p>
            <a:r>
              <a:rPr lang="en-US" sz="2800" dirty="0" smtClean="0"/>
              <a:t>$(</a:t>
            </a:r>
            <a:r>
              <a:rPr lang="en-US" sz="2800" i="1" dirty="0" smtClean="0"/>
              <a:t>selector</a:t>
            </a:r>
            <a:r>
              <a:rPr lang="en-US" sz="2800" dirty="0" smtClean="0"/>
              <a:t>).animate({</a:t>
            </a:r>
            <a:r>
              <a:rPr lang="en-US" sz="2800" i="1" dirty="0" err="1" smtClean="0"/>
              <a:t>params</a:t>
            </a:r>
            <a:r>
              <a:rPr lang="en-US" sz="2800" dirty="0" smtClean="0"/>
              <a:t>}</a:t>
            </a:r>
            <a:r>
              <a:rPr lang="en-US" sz="2800" i="1" dirty="0" smtClean="0"/>
              <a:t>,</a:t>
            </a:r>
            <a:r>
              <a:rPr lang="en-US" sz="2800" i="1" dirty="0" err="1" smtClean="0"/>
              <a:t>speed,callback</a:t>
            </a:r>
            <a:r>
              <a:rPr lang="en-US" sz="2800" dirty="0" smtClean="0"/>
              <a:t>);</a:t>
            </a:r>
            <a:endParaRPr lang="en-US" sz="2800" dirty="0"/>
          </a:p>
        </p:txBody>
      </p:sp>
      <p:sp>
        <p:nvSpPr>
          <p:cNvPr id="10" name="5-Point Star 9"/>
          <p:cNvSpPr/>
          <p:nvPr/>
        </p:nvSpPr>
        <p:spPr>
          <a:xfrm rot="18984008">
            <a:off x="7945523" y="265386"/>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0" dirty="0" err="1" smtClean="0"/>
              <a:t>jQuery</a:t>
            </a:r>
            <a:r>
              <a:rPr lang="en-US" sz="3200" b="0" dirty="0" smtClean="0"/>
              <a:t> animate() - Using Relative Values</a:t>
            </a: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smtClean="0"/>
              <a:t> It is also possible to define relative values (the value is then relative to the element's current value). This is done by putting += or -= in front of the value:</a:t>
            </a:r>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2400" dirty="0" smtClean="0"/>
              <a:t>See Demo.</a:t>
            </a:r>
          </a:p>
          <a:p>
            <a:endParaRPr lang="en-US" sz="2400" dirty="0" smtClean="0"/>
          </a:p>
          <a:p>
            <a:endParaRPr lang="en-US" sz="2400" dirty="0" smtClean="0"/>
          </a:p>
          <a:p>
            <a:pPr>
              <a:buNone/>
            </a:pPr>
            <a:endParaRPr lang="en-US" sz="3600" dirty="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33</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990600" y="2819400"/>
            <a:ext cx="7162800" cy="3108543"/>
          </a:xfrm>
          <a:prstGeom prst="rect">
            <a:avLst/>
          </a:prstGeom>
          <a:solidFill>
            <a:schemeClr val="accent6">
              <a:lumMod val="40000"/>
              <a:lumOff val="60000"/>
            </a:schemeClr>
          </a:solidFill>
        </p:spPr>
        <p:txBody>
          <a:bodyPr wrap="square" rtlCol="0">
            <a:spAutoFit/>
          </a:bodyPr>
          <a:lstStyle/>
          <a:p>
            <a:r>
              <a:rPr lang="en-US" sz="2800" dirty="0" smtClean="0"/>
              <a:t>$("button").click(function(){</a:t>
            </a:r>
            <a:br>
              <a:rPr lang="en-US" sz="2800" dirty="0" smtClean="0"/>
            </a:br>
            <a:r>
              <a:rPr lang="en-US" sz="2800" dirty="0" smtClean="0"/>
              <a:t>  $("div").animate({</a:t>
            </a:r>
            <a:br>
              <a:rPr lang="en-US" sz="2800" dirty="0" smtClean="0"/>
            </a:br>
            <a:r>
              <a:rPr lang="en-US" sz="2800" dirty="0" smtClean="0"/>
              <a:t>    left:'250px',</a:t>
            </a:r>
            <a:br>
              <a:rPr lang="en-US" sz="2800" dirty="0" smtClean="0"/>
            </a:br>
            <a:r>
              <a:rPr lang="en-US" sz="2800" dirty="0" smtClean="0"/>
              <a:t>    height:'+=150px',</a:t>
            </a:r>
            <a:br>
              <a:rPr lang="en-US" sz="2800" dirty="0" smtClean="0"/>
            </a:br>
            <a:r>
              <a:rPr lang="en-US" sz="2800" dirty="0" smtClean="0"/>
              <a:t>    width:'+=150px'</a:t>
            </a:r>
            <a:br>
              <a:rPr lang="en-US" sz="2800" dirty="0" smtClean="0"/>
            </a:br>
            <a:r>
              <a:rPr lang="en-US" sz="2800" dirty="0" smtClean="0"/>
              <a:t>  });</a:t>
            </a:r>
            <a:br>
              <a:rPr lang="en-US" sz="2800" dirty="0" smtClean="0"/>
            </a:br>
            <a:r>
              <a:rPr lang="en-US" sz="2800" dirty="0" smtClean="0"/>
              <a:t>}); </a:t>
            </a:r>
            <a:endParaRPr lang="en-US" sz="2800" dirty="0"/>
          </a:p>
        </p:txBody>
      </p:sp>
      <p:sp>
        <p:nvSpPr>
          <p:cNvPr id="7" name="5-Point Star 6"/>
          <p:cNvSpPr/>
          <p:nvPr/>
        </p:nvSpPr>
        <p:spPr>
          <a:xfrm rot="18984008">
            <a:off x="8040414" y="199251"/>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animate() - Using Pre-defined Values</a:t>
            </a: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smtClean="0"/>
              <a:t> You can even specify a property's animation value as "show", "hide", or "toggle":</a:t>
            </a:r>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2400" dirty="0" smtClean="0"/>
              <a:t>See Demo</a:t>
            </a:r>
          </a:p>
          <a:p>
            <a:endParaRPr lang="en-US" sz="2400" dirty="0" smtClean="0"/>
          </a:p>
          <a:p>
            <a:endParaRPr lang="en-US" sz="2400" dirty="0" smtClean="0"/>
          </a:p>
          <a:p>
            <a:pPr>
              <a:buNone/>
            </a:pPr>
            <a:endParaRPr lang="en-US" sz="3600" dirty="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34</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990600" y="2819400"/>
            <a:ext cx="7162800" cy="2246769"/>
          </a:xfrm>
          <a:prstGeom prst="rect">
            <a:avLst/>
          </a:prstGeom>
          <a:solidFill>
            <a:schemeClr val="accent6">
              <a:lumMod val="40000"/>
              <a:lumOff val="60000"/>
            </a:schemeClr>
          </a:solidFill>
        </p:spPr>
        <p:txBody>
          <a:bodyPr wrap="square" rtlCol="0">
            <a:spAutoFit/>
          </a:bodyPr>
          <a:lstStyle/>
          <a:p>
            <a:r>
              <a:rPr lang="en-US" sz="2800" dirty="0" smtClean="0"/>
              <a:t>$("button").click(function(){</a:t>
            </a:r>
            <a:br>
              <a:rPr lang="en-US" sz="2800" dirty="0" smtClean="0"/>
            </a:br>
            <a:r>
              <a:rPr lang="en-US" sz="2800" dirty="0" smtClean="0"/>
              <a:t>  $("div").animate({</a:t>
            </a:r>
            <a:br>
              <a:rPr lang="en-US" sz="2800" dirty="0" smtClean="0"/>
            </a:br>
            <a:r>
              <a:rPr lang="en-US" sz="2800" dirty="0" smtClean="0"/>
              <a:t>    </a:t>
            </a:r>
            <a:r>
              <a:rPr lang="en-US" sz="2800" dirty="0" err="1" smtClean="0"/>
              <a:t>height:'toggle</a:t>
            </a:r>
            <a:r>
              <a:rPr lang="en-US" sz="2800" dirty="0" smtClean="0"/>
              <a:t>'</a:t>
            </a:r>
            <a:br>
              <a:rPr lang="en-US" sz="2800" dirty="0" smtClean="0"/>
            </a:br>
            <a:r>
              <a:rPr lang="en-US" sz="2800" dirty="0" smtClean="0"/>
              <a:t>  });</a:t>
            </a:r>
            <a:br>
              <a:rPr lang="en-US" sz="2800" dirty="0" smtClean="0"/>
            </a:br>
            <a:r>
              <a:rPr lang="en-US" sz="2800" dirty="0" smtClean="0"/>
              <a:t>}); </a:t>
            </a:r>
            <a:endParaRPr lang="en-US" sz="2800" dirty="0"/>
          </a:p>
        </p:txBody>
      </p:sp>
      <p:sp>
        <p:nvSpPr>
          <p:cNvPr id="7" name="5-Point Star 6"/>
          <p:cNvSpPr/>
          <p:nvPr/>
        </p:nvSpPr>
        <p:spPr>
          <a:xfrm rot="18984008">
            <a:off x="8040414" y="199251"/>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910" y="348210"/>
            <a:ext cx="7700180" cy="944562"/>
          </a:xfrm>
        </p:spPr>
        <p:txBody>
          <a:bodyPr>
            <a:noAutofit/>
          </a:bodyPr>
          <a:lstStyle/>
          <a:p>
            <a:r>
              <a:rPr lang="en-US" sz="3200" b="0" dirty="0" err="1" smtClean="0"/>
              <a:t>jQuery</a:t>
            </a:r>
            <a:r>
              <a:rPr lang="en-US" sz="3200" b="0" dirty="0" smtClean="0"/>
              <a:t> animate() - Uses Queue Functionality</a:t>
            </a:r>
            <a:endParaRPr lang="en-US" sz="3200" b="0" dirty="0"/>
          </a:p>
        </p:txBody>
      </p:sp>
      <p:sp>
        <p:nvSpPr>
          <p:cNvPr id="3" name="Content Placeholder 2"/>
          <p:cNvSpPr>
            <a:spLocks noGrp="1"/>
          </p:cNvSpPr>
          <p:nvPr>
            <p:ph idx="1"/>
          </p:nvPr>
        </p:nvSpPr>
        <p:spPr>
          <a:xfrm>
            <a:off x="762000" y="1295400"/>
            <a:ext cx="8153400" cy="5562600"/>
          </a:xfrm>
        </p:spPr>
        <p:txBody>
          <a:bodyPr>
            <a:normAutofit fontScale="92500"/>
          </a:bodyPr>
          <a:lstStyle/>
          <a:p>
            <a:r>
              <a:rPr lang="en-US" sz="2400" dirty="0" smtClean="0"/>
              <a:t> By default, </a:t>
            </a:r>
            <a:r>
              <a:rPr lang="en-US" sz="2400" dirty="0" err="1" smtClean="0"/>
              <a:t>jQuery</a:t>
            </a:r>
            <a:r>
              <a:rPr lang="en-US" sz="2400" dirty="0" smtClean="0"/>
              <a:t> comes with queue functionality for animations.</a:t>
            </a:r>
          </a:p>
          <a:p>
            <a:r>
              <a:rPr lang="en-US" sz="2400" dirty="0" smtClean="0"/>
              <a:t>This means that if you write multiple animate() calls after each other, </a:t>
            </a:r>
            <a:r>
              <a:rPr lang="en-US" sz="2400" dirty="0" err="1" smtClean="0"/>
              <a:t>jQuery</a:t>
            </a:r>
            <a:r>
              <a:rPr lang="en-US" sz="2400" dirty="0" smtClean="0"/>
              <a:t> creates an "internal" queue with these method calls. Then it runs the animate calls ONE by ONE.</a:t>
            </a:r>
          </a:p>
          <a:p>
            <a:r>
              <a:rPr lang="en-US" sz="2400" dirty="0" smtClean="0"/>
              <a:t>So, if you want to perform different animations after each other, we take advantage of the queue functionality:</a:t>
            </a:r>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2400" dirty="0" smtClean="0"/>
              <a:t>See Demo</a:t>
            </a:r>
          </a:p>
          <a:p>
            <a:endParaRPr lang="en-US" sz="2400" dirty="0" smtClean="0"/>
          </a:p>
          <a:p>
            <a:endParaRPr lang="en-US" sz="2400" dirty="0" smtClean="0"/>
          </a:p>
          <a:p>
            <a:pPr>
              <a:buNone/>
            </a:pPr>
            <a:endParaRPr lang="en-US" sz="3600" dirty="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35</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914400" y="3505200"/>
            <a:ext cx="7772400" cy="3108543"/>
          </a:xfrm>
          <a:prstGeom prst="rect">
            <a:avLst/>
          </a:prstGeom>
          <a:solidFill>
            <a:schemeClr val="accent6">
              <a:lumMod val="40000"/>
              <a:lumOff val="60000"/>
            </a:schemeClr>
          </a:solidFill>
        </p:spPr>
        <p:txBody>
          <a:bodyPr wrap="square" rtlCol="0">
            <a:spAutoFit/>
          </a:bodyPr>
          <a:lstStyle/>
          <a:p>
            <a:r>
              <a:rPr lang="en-US" sz="2800" dirty="0" smtClean="0"/>
              <a:t>$("button").click(function(){</a:t>
            </a:r>
            <a:br>
              <a:rPr lang="en-US" sz="2800" dirty="0" smtClean="0"/>
            </a:br>
            <a:r>
              <a:rPr lang="en-US" sz="2800" dirty="0" smtClean="0"/>
              <a:t>  </a:t>
            </a:r>
            <a:r>
              <a:rPr lang="en-US" sz="2800" dirty="0" err="1" smtClean="0"/>
              <a:t>var</a:t>
            </a:r>
            <a:r>
              <a:rPr lang="en-US" sz="2800" dirty="0" smtClean="0"/>
              <a:t> div=$("div");</a:t>
            </a:r>
            <a:br>
              <a:rPr lang="en-US" sz="2800" dirty="0" smtClean="0"/>
            </a:br>
            <a:r>
              <a:rPr lang="en-US" sz="2800" dirty="0" smtClean="0"/>
              <a:t>  </a:t>
            </a:r>
            <a:r>
              <a:rPr lang="en-US" sz="2800" dirty="0" err="1" smtClean="0"/>
              <a:t>div.animate</a:t>
            </a:r>
            <a:r>
              <a:rPr lang="en-US" sz="2800" dirty="0" smtClean="0"/>
              <a:t>({height:'300px',opacity:'0.4'},"slow");</a:t>
            </a:r>
            <a:br>
              <a:rPr lang="en-US" sz="2800" dirty="0" smtClean="0"/>
            </a:br>
            <a:r>
              <a:rPr lang="en-US" sz="2800" dirty="0" smtClean="0"/>
              <a:t>  </a:t>
            </a:r>
            <a:r>
              <a:rPr lang="en-US" sz="2800" dirty="0" err="1" smtClean="0"/>
              <a:t>div.animate</a:t>
            </a:r>
            <a:r>
              <a:rPr lang="en-US" sz="2800" dirty="0" smtClean="0"/>
              <a:t>({width:'300px',opacity:'0.8'},"slow");</a:t>
            </a:r>
            <a:br>
              <a:rPr lang="en-US" sz="2800" dirty="0" smtClean="0"/>
            </a:br>
            <a:r>
              <a:rPr lang="en-US" sz="2800" dirty="0" smtClean="0"/>
              <a:t>  </a:t>
            </a:r>
            <a:r>
              <a:rPr lang="en-US" sz="2800" dirty="0" err="1" smtClean="0"/>
              <a:t>div.animate</a:t>
            </a:r>
            <a:r>
              <a:rPr lang="en-US" sz="2800" dirty="0" smtClean="0"/>
              <a:t>({height:'100px',opacity:'0.4'},"slow");</a:t>
            </a:r>
            <a:br>
              <a:rPr lang="en-US" sz="2800" dirty="0" smtClean="0"/>
            </a:br>
            <a:r>
              <a:rPr lang="en-US" sz="2800" dirty="0" smtClean="0"/>
              <a:t>  </a:t>
            </a:r>
            <a:r>
              <a:rPr lang="en-US" sz="2800" dirty="0" err="1" smtClean="0"/>
              <a:t>div.animate</a:t>
            </a:r>
            <a:r>
              <a:rPr lang="en-US" sz="2800" dirty="0" smtClean="0"/>
              <a:t>({width:'100px',opacity:'0.8'},"slow");</a:t>
            </a:r>
            <a:br>
              <a:rPr lang="en-US" sz="2800" dirty="0" smtClean="0"/>
            </a:br>
            <a:r>
              <a:rPr lang="en-US" sz="2800" dirty="0" smtClean="0"/>
              <a:t>}); </a:t>
            </a:r>
            <a:endParaRPr lang="en-US" sz="28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stop() Method</a:t>
            </a: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smtClean="0"/>
              <a:t>  The </a:t>
            </a:r>
            <a:r>
              <a:rPr lang="en-US" sz="2400" dirty="0" err="1" smtClean="0"/>
              <a:t>jQuery</a:t>
            </a:r>
            <a:r>
              <a:rPr lang="en-US" sz="2400" dirty="0" smtClean="0"/>
              <a:t> stop() method is used to stop an animation or effect before it is finished.</a:t>
            </a:r>
          </a:p>
          <a:p>
            <a:r>
              <a:rPr lang="en-US" sz="2400" dirty="0" smtClean="0"/>
              <a:t>The stop() method works for all </a:t>
            </a:r>
            <a:r>
              <a:rPr lang="en-US" sz="2400" dirty="0" err="1" smtClean="0"/>
              <a:t>jQuery</a:t>
            </a:r>
            <a:r>
              <a:rPr lang="en-US" sz="2400" dirty="0" smtClean="0"/>
              <a:t> effect functions, including sliding, fading and custom animations.</a:t>
            </a:r>
          </a:p>
          <a:p>
            <a:endParaRPr lang="en-US" sz="2400" dirty="0" smtClean="0"/>
          </a:p>
          <a:p>
            <a:r>
              <a:rPr lang="en-US" sz="2400" dirty="0" smtClean="0"/>
              <a:t>The optional </a:t>
            </a:r>
            <a:r>
              <a:rPr lang="en-US" sz="2400" dirty="0" err="1" smtClean="0"/>
              <a:t>goToEnd</a:t>
            </a:r>
            <a:r>
              <a:rPr lang="en-US" sz="2400" dirty="0" smtClean="0"/>
              <a:t> parameter specifies whether or not to complete the current animation immediately. Default is false.</a:t>
            </a:r>
          </a:p>
          <a:p>
            <a:r>
              <a:rPr lang="en-US" sz="2400" dirty="0" smtClean="0"/>
              <a:t>So, by default, the stop() method kills the current animation being performed on the selected element. The following example demonstrates the stop() method, with no parameters:</a:t>
            </a:r>
          </a:p>
          <a:p>
            <a:endParaRPr lang="en-US" sz="2400" dirty="0" smtClean="0"/>
          </a:p>
          <a:p>
            <a:r>
              <a:rPr lang="en-US" sz="2400" dirty="0" smtClean="0"/>
              <a:t> </a:t>
            </a:r>
            <a:endParaRPr lang="en-US" sz="3600" dirty="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36</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1143000" y="2819400"/>
            <a:ext cx="7772400" cy="523220"/>
          </a:xfrm>
          <a:prstGeom prst="rect">
            <a:avLst/>
          </a:prstGeom>
          <a:solidFill>
            <a:schemeClr val="accent6">
              <a:lumMod val="40000"/>
              <a:lumOff val="60000"/>
            </a:schemeClr>
          </a:solidFill>
        </p:spPr>
        <p:txBody>
          <a:bodyPr wrap="square" rtlCol="0">
            <a:spAutoFit/>
          </a:bodyPr>
          <a:lstStyle/>
          <a:p>
            <a:r>
              <a:rPr lang="en-US" sz="2800" dirty="0" smtClean="0"/>
              <a:t>$(</a:t>
            </a:r>
            <a:r>
              <a:rPr lang="en-US" sz="2800" i="1" dirty="0" smtClean="0"/>
              <a:t>selector</a:t>
            </a:r>
            <a:r>
              <a:rPr lang="en-US" sz="2800" dirty="0" smtClean="0"/>
              <a:t>).stop(</a:t>
            </a:r>
            <a:r>
              <a:rPr lang="en-US" sz="2800" i="1" dirty="0" err="1" smtClean="0"/>
              <a:t>stopAll,goToEnd</a:t>
            </a:r>
            <a:r>
              <a:rPr lang="en-US" sz="2800" dirty="0" smtClean="0"/>
              <a:t>);</a:t>
            </a:r>
            <a:endParaRPr lang="en-US" sz="2800" dirty="0"/>
          </a:p>
        </p:txBody>
      </p:sp>
      <p:sp>
        <p:nvSpPr>
          <p:cNvPr id="7" name="TextBox 6"/>
          <p:cNvSpPr txBox="1"/>
          <p:nvPr/>
        </p:nvSpPr>
        <p:spPr>
          <a:xfrm>
            <a:off x="1219200" y="5638800"/>
            <a:ext cx="7467600" cy="954107"/>
          </a:xfrm>
          <a:prstGeom prst="rect">
            <a:avLst/>
          </a:prstGeom>
          <a:solidFill>
            <a:schemeClr val="accent6">
              <a:lumMod val="40000"/>
              <a:lumOff val="60000"/>
            </a:schemeClr>
          </a:solidFill>
        </p:spPr>
        <p:txBody>
          <a:bodyPr wrap="square" rtlCol="0">
            <a:spAutoFit/>
          </a:bodyPr>
          <a:lstStyle/>
          <a:p>
            <a:r>
              <a:rPr lang="en-US" sz="2800" dirty="0" smtClean="0"/>
              <a:t>$("#stop").click(function(){</a:t>
            </a:r>
            <a:br>
              <a:rPr lang="en-US" sz="2800" dirty="0" smtClean="0"/>
            </a:br>
            <a:r>
              <a:rPr lang="en-US" sz="2800" dirty="0" smtClean="0"/>
              <a:t>  $("#panel").stop();     });</a:t>
            </a:r>
            <a:endParaRPr lang="en-US" sz="2800" dirty="0"/>
          </a:p>
        </p:txBody>
      </p:sp>
      <p:sp>
        <p:nvSpPr>
          <p:cNvPr id="8" name="5-Point Star 7"/>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Callback Functions</a:t>
            </a:r>
            <a:endParaRPr lang="en-US" sz="3200" b="0" dirty="0"/>
          </a:p>
        </p:txBody>
      </p:sp>
      <p:sp>
        <p:nvSpPr>
          <p:cNvPr id="3" name="Content Placeholder 2"/>
          <p:cNvSpPr>
            <a:spLocks noGrp="1"/>
          </p:cNvSpPr>
          <p:nvPr>
            <p:ph idx="1"/>
          </p:nvPr>
        </p:nvSpPr>
        <p:spPr>
          <a:xfrm>
            <a:off x="762000" y="1143000"/>
            <a:ext cx="8153400" cy="5562600"/>
          </a:xfrm>
        </p:spPr>
        <p:txBody>
          <a:bodyPr>
            <a:normAutofit/>
          </a:bodyPr>
          <a:lstStyle/>
          <a:p>
            <a:r>
              <a:rPr lang="en-US" sz="2400" dirty="0" smtClean="0"/>
              <a:t> JavaScript statements are executed line by line. However, with effects, the next line of code can be run even though the effect is not finished. This can create errors.</a:t>
            </a:r>
          </a:p>
          <a:p>
            <a:r>
              <a:rPr lang="en-US" sz="2400" dirty="0" smtClean="0"/>
              <a:t>To prevent this, you can create a callback function.</a:t>
            </a:r>
          </a:p>
          <a:p>
            <a:r>
              <a:rPr lang="en-US" sz="2400" dirty="0" smtClean="0"/>
              <a:t>A callback function is executed after the current effect is finished.</a:t>
            </a:r>
          </a:p>
          <a:p>
            <a:endParaRPr lang="en-US" sz="2400" dirty="0" smtClean="0"/>
          </a:p>
          <a:p>
            <a:r>
              <a:rPr lang="en-US" sz="2400" dirty="0" smtClean="0"/>
              <a:t>The example below has a callback parameter that is a function that will be executed after the hide effect is completed:</a:t>
            </a:r>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37</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9" name="TextBox 8"/>
          <p:cNvSpPr txBox="1"/>
          <p:nvPr/>
        </p:nvSpPr>
        <p:spPr>
          <a:xfrm>
            <a:off x="1143000" y="3505200"/>
            <a:ext cx="7772400" cy="523220"/>
          </a:xfrm>
          <a:prstGeom prst="rect">
            <a:avLst/>
          </a:prstGeom>
          <a:solidFill>
            <a:schemeClr val="accent6">
              <a:lumMod val="40000"/>
              <a:lumOff val="60000"/>
            </a:schemeClr>
          </a:solidFill>
        </p:spPr>
        <p:txBody>
          <a:bodyPr wrap="square" rtlCol="0">
            <a:spAutoFit/>
          </a:bodyPr>
          <a:lstStyle/>
          <a:p>
            <a:r>
              <a:rPr lang="en-US" sz="2800" b="1" dirty="0" smtClean="0"/>
              <a:t>$(</a:t>
            </a:r>
            <a:r>
              <a:rPr lang="en-US" sz="2800" b="1" i="1" dirty="0" smtClean="0"/>
              <a:t>selector</a:t>
            </a:r>
            <a:r>
              <a:rPr lang="en-US" sz="2800" b="1" dirty="0" smtClean="0"/>
              <a:t>).hide(</a:t>
            </a:r>
            <a:r>
              <a:rPr lang="en-US" sz="2800" b="1" i="1" dirty="0" err="1" smtClean="0"/>
              <a:t>speed,callback</a:t>
            </a:r>
            <a:r>
              <a:rPr lang="en-US" sz="2800" b="1" dirty="0" smtClean="0"/>
              <a:t>);</a:t>
            </a:r>
            <a:endParaRPr lang="en-US" sz="2800" dirty="0"/>
          </a:p>
        </p:txBody>
      </p:sp>
      <p:sp>
        <p:nvSpPr>
          <p:cNvPr id="7" name="TextBox 6"/>
          <p:cNvSpPr txBox="1"/>
          <p:nvPr/>
        </p:nvSpPr>
        <p:spPr>
          <a:xfrm>
            <a:off x="1219200" y="5181600"/>
            <a:ext cx="7467600" cy="1323439"/>
          </a:xfrm>
          <a:prstGeom prst="rect">
            <a:avLst/>
          </a:prstGeom>
          <a:solidFill>
            <a:schemeClr val="accent6">
              <a:lumMod val="40000"/>
              <a:lumOff val="60000"/>
            </a:schemeClr>
          </a:solidFill>
        </p:spPr>
        <p:txBody>
          <a:bodyPr wrap="square" rtlCol="0">
            <a:spAutoFit/>
          </a:bodyPr>
          <a:lstStyle/>
          <a:p>
            <a:r>
              <a:rPr lang="en-US" sz="2000" dirty="0" smtClean="0"/>
              <a:t>$("button").click(function(){</a:t>
            </a:r>
            <a:br>
              <a:rPr lang="en-US" sz="2000" dirty="0" smtClean="0"/>
            </a:br>
            <a:r>
              <a:rPr lang="en-US" sz="2000" dirty="0" smtClean="0"/>
              <a:t>  $("p").hide("</a:t>
            </a:r>
            <a:r>
              <a:rPr lang="en-US" sz="2000" dirty="0" err="1" smtClean="0"/>
              <a:t>slow",function</a:t>
            </a:r>
            <a:r>
              <a:rPr lang="en-US" sz="2000" dirty="0" smtClean="0"/>
              <a:t>(){</a:t>
            </a:r>
            <a:br>
              <a:rPr lang="en-US" sz="2000" dirty="0" smtClean="0"/>
            </a:br>
            <a:r>
              <a:rPr lang="en-US" sz="2000" dirty="0" smtClean="0"/>
              <a:t>    alert("The paragraph is now hidden");</a:t>
            </a:r>
            <a:br>
              <a:rPr lang="en-US" sz="2000" dirty="0" smtClean="0"/>
            </a:br>
            <a:r>
              <a:rPr lang="en-US" sz="2000" dirty="0" smtClean="0"/>
              <a:t>  });    });</a:t>
            </a:r>
            <a:endParaRPr lang="en-US" sz="2000" dirty="0"/>
          </a:p>
        </p:txBody>
      </p:sp>
      <p:sp>
        <p:nvSpPr>
          <p:cNvPr id="8" name="5-Point Star 7"/>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Chaining</a:t>
            </a:r>
            <a:endParaRPr lang="en-US" sz="3200" b="0" dirty="0"/>
          </a:p>
        </p:txBody>
      </p:sp>
      <p:sp>
        <p:nvSpPr>
          <p:cNvPr id="3" name="Content Placeholder 2"/>
          <p:cNvSpPr>
            <a:spLocks noGrp="1"/>
          </p:cNvSpPr>
          <p:nvPr>
            <p:ph idx="1"/>
          </p:nvPr>
        </p:nvSpPr>
        <p:spPr>
          <a:xfrm>
            <a:off x="762000" y="1143000"/>
            <a:ext cx="8153400" cy="5562600"/>
          </a:xfrm>
        </p:spPr>
        <p:txBody>
          <a:bodyPr>
            <a:normAutofit/>
          </a:bodyPr>
          <a:lstStyle/>
          <a:p>
            <a:r>
              <a:rPr lang="en-US" sz="2400" dirty="0" smtClean="0"/>
              <a:t> With </a:t>
            </a:r>
            <a:r>
              <a:rPr lang="en-US" sz="2400" dirty="0" err="1" smtClean="0"/>
              <a:t>jQuery</a:t>
            </a:r>
            <a:r>
              <a:rPr lang="en-US" sz="2400" dirty="0" smtClean="0"/>
              <a:t>, you can chain together actions/methods.</a:t>
            </a:r>
          </a:p>
          <a:p>
            <a:r>
              <a:rPr lang="en-US" sz="2400" dirty="0" smtClean="0"/>
              <a:t>Chaining allows us to run multiple </a:t>
            </a:r>
            <a:r>
              <a:rPr lang="en-US" sz="2400" dirty="0" err="1" smtClean="0"/>
              <a:t>jQuery</a:t>
            </a:r>
            <a:r>
              <a:rPr lang="en-US" sz="2400" dirty="0" smtClean="0"/>
              <a:t> methods (on the same element) within a single statement.</a:t>
            </a:r>
          </a:p>
          <a:p>
            <a:r>
              <a:rPr lang="en-US" sz="2400" dirty="0" smtClean="0"/>
              <a:t>Eg1</a:t>
            </a:r>
          </a:p>
          <a:p>
            <a:endParaRPr lang="en-US" sz="2400" dirty="0" smtClean="0"/>
          </a:p>
          <a:p>
            <a:r>
              <a:rPr lang="en-US" sz="2400" dirty="0" smtClean="0"/>
              <a:t>Eg2</a:t>
            </a:r>
          </a:p>
          <a:p>
            <a:endParaRPr lang="en-US" sz="2400" dirty="0" smtClean="0"/>
          </a:p>
          <a:p>
            <a:endParaRPr lang="en-US" sz="2400" dirty="0" smtClean="0"/>
          </a:p>
          <a:p>
            <a:pPr>
              <a:buNone/>
            </a:pPr>
            <a:endParaRPr lang="en-US" sz="2400" dirty="0" smtClean="0"/>
          </a:p>
          <a:p>
            <a:pPr>
              <a:buNone/>
            </a:pPr>
            <a:r>
              <a:rPr lang="en-US" sz="2400" dirty="0" err="1" smtClean="0"/>
              <a:t>JQuery</a:t>
            </a:r>
            <a:r>
              <a:rPr lang="en-US" sz="2400" dirty="0" smtClean="0"/>
              <a:t> throws away extra whitespace and executes the lines above as one long line of code.</a:t>
            </a:r>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38</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7" name="TextBox 6"/>
          <p:cNvSpPr txBox="1"/>
          <p:nvPr/>
        </p:nvSpPr>
        <p:spPr>
          <a:xfrm>
            <a:off x="914400" y="2895600"/>
            <a:ext cx="7467600" cy="400110"/>
          </a:xfrm>
          <a:prstGeom prst="rect">
            <a:avLst/>
          </a:prstGeom>
          <a:solidFill>
            <a:schemeClr val="accent6">
              <a:lumMod val="40000"/>
              <a:lumOff val="60000"/>
            </a:schemeClr>
          </a:solidFill>
        </p:spPr>
        <p:txBody>
          <a:bodyPr wrap="square" rtlCol="0">
            <a:spAutoFit/>
          </a:bodyPr>
          <a:lstStyle/>
          <a:p>
            <a:r>
              <a:rPr lang="en-US" sz="2000" dirty="0" smtClean="0"/>
              <a:t>$("#p1").</a:t>
            </a:r>
            <a:r>
              <a:rPr lang="en-US" sz="2000" dirty="0" err="1" smtClean="0"/>
              <a:t>css</a:t>
            </a:r>
            <a:r>
              <a:rPr lang="en-US" sz="2000" dirty="0" smtClean="0"/>
              <a:t>("</a:t>
            </a:r>
            <a:r>
              <a:rPr lang="en-US" sz="2000" dirty="0" err="1" smtClean="0"/>
              <a:t>color","red</a:t>
            </a:r>
            <a:r>
              <a:rPr lang="en-US" sz="2000" dirty="0" smtClean="0"/>
              <a:t>").</a:t>
            </a:r>
            <a:r>
              <a:rPr lang="en-US" sz="2000" dirty="0" err="1" smtClean="0"/>
              <a:t>slideUp</a:t>
            </a:r>
            <a:r>
              <a:rPr lang="en-US" sz="2000" dirty="0" smtClean="0"/>
              <a:t>(2000).</a:t>
            </a:r>
            <a:r>
              <a:rPr lang="en-US" sz="2000" dirty="0" err="1" smtClean="0"/>
              <a:t>slideDown</a:t>
            </a:r>
            <a:r>
              <a:rPr lang="en-US" sz="2000" dirty="0" smtClean="0"/>
              <a:t>(2000);</a:t>
            </a:r>
            <a:endParaRPr lang="en-US" sz="2000" dirty="0"/>
          </a:p>
        </p:txBody>
      </p:sp>
      <p:sp>
        <p:nvSpPr>
          <p:cNvPr id="8" name="TextBox 7"/>
          <p:cNvSpPr txBox="1"/>
          <p:nvPr/>
        </p:nvSpPr>
        <p:spPr>
          <a:xfrm>
            <a:off x="1066800" y="3733800"/>
            <a:ext cx="7467600" cy="1015663"/>
          </a:xfrm>
          <a:prstGeom prst="rect">
            <a:avLst/>
          </a:prstGeom>
          <a:solidFill>
            <a:schemeClr val="accent6">
              <a:lumMod val="40000"/>
              <a:lumOff val="60000"/>
            </a:schemeClr>
          </a:solidFill>
        </p:spPr>
        <p:txBody>
          <a:bodyPr wrap="square" rtlCol="0">
            <a:spAutoFit/>
          </a:bodyPr>
          <a:lstStyle/>
          <a:p>
            <a:r>
              <a:rPr lang="en-US" sz="2000" dirty="0" smtClean="0"/>
              <a:t>$("#p1").</a:t>
            </a:r>
            <a:r>
              <a:rPr lang="en-US" sz="2000" dirty="0" err="1" smtClean="0"/>
              <a:t>css</a:t>
            </a:r>
            <a:r>
              <a:rPr lang="en-US" sz="2000" dirty="0" smtClean="0"/>
              <a:t>("</a:t>
            </a:r>
            <a:r>
              <a:rPr lang="en-US" sz="2000" dirty="0" err="1" smtClean="0"/>
              <a:t>color","red</a:t>
            </a:r>
            <a:r>
              <a:rPr lang="en-US" sz="2000" dirty="0" smtClean="0"/>
              <a:t>")</a:t>
            </a:r>
            <a:br>
              <a:rPr lang="en-US" sz="2000" dirty="0" smtClean="0"/>
            </a:br>
            <a:r>
              <a:rPr lang="en-US" sz="2000" dirty="0" smtClean="0"/>
              <a:t>  .</a:t>
            </a:r>
            <a:r>
              <a:rPr lang="en-US" sz="2000" dirty="0" err="1" smtClean="0"/>
              <a:t>slideUp</a:t>
            </a:r>
            <a:r>
              <a:rPr lang="en-US" sz="2000" dirty="0" smtClean="0"/>
              <a:t>(2000)</a:t>
            </a:r>
            <a:br>
              <a:rPr lang="en-US" sz="2000" dirty="0" smtClean="0"/>
            </a:br>
            <a:r>
              <a:rPr lang="en-US" sz="2000" dirty="0" smtClean="0"/>
              <a:t>  .</a:t>
            </a:r>
            <a:r>
              <a:rPr lang="en-US" sz="2000" dirty="0" err="1" smtClean="0"/>
              <a:t>slideDown</a:t>
            </a:r>
            <a:r>
              <a:rPr lang="en-US" sz="2000" dirty="0" smtClean="0"/>
              <a:t>(2000);</a:t>
            </a:r>
            <a:endParaRPr lang="en-US" sz="2000" dirty="0"/>
          </a:p>
        </p:txBody>
      </p:sp>
      <p:sp>
        <p:nvSpPr>
          <p:cNvPr id="9" name="5-Point Star 8"/>
          <p:cNvSpPr/>
          <p:nvPr/>
        </p:nvSpPr>
        <p:spPr>
          <a:xfrm rot="18984008">
            <a:off x="7945523" y="34421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 Get Content and Attributes</a:t>
            </a: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pPr>
              <a:buNone/>
            </a:pPr>
            <a:r>
              <a:rPr lang="en-US" dirty="0" err="1" smtClean="0"/>
              <a:t>jQuery</a:t>
            </a:r>
            <a:r>
              <a:rPr lang="en-US" dirty="0" smtClean="0"/>
              <a:t> DOM Manipulation</a:t>
            </a:r>
          </a:p>
          <a:p>
            <a:r>
              <a:rPr lang="en-US" sz="2400" dirty="0" smtClean="0"/>
              <a:t>One very important part of </a:t>
            </a:r>
            <a:r>
              <a:rPr lang="en-US" sz="2400" dirty="0" err="1" smtClean="0"/>
              <a:t>jQuery</a:t>
            </a:r>
            <a:r>
              <a:rPr lang="en-US" sz="2400" dirty="0" smtClean="0"/>
              <a:t> is the possibility to manipulate the DOM.</a:t>
            </a:r>
          </a:p>
          <a:p>
            <a:r>
              <a:rPr lang="en-US" sz="2400" dirty="0" err="1" smtClean="0"/>
              <a:t>jQuery</a:t>
            </a:r>
            <a:r>
              <a:rPr lang="en-US" sz="2400" dirty="0" smtClean="0"/>
              <a:t> comes with a few DOM related methods that make it easy to access and manipulate elements and attributes.</a:t>
            </a:r>
          </a:p>
          <a:p>
            <a:pPr>
              <a:buNone/>
            </a:pPr>
            <a:endParaRPr lang="en-US" sz="2400" dirty="0" smtClean="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39</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TextBox 7"/>
          <p:cNvSpPr txBox="1"/>
          <p:nvPr/>
        </p:nvSpPr>
        <p:spPr>
          <a:xfrm>
            <a:off x="914400" y="3962400"/>
            <a:ext cx="7391400" cy="1631216"/>
          </a:xfrm>
          <a:prstGeom prst="rect">
            <a:avLst/>
          </a:prstGeom>
          <a:solidFill>
            <a:schemeClr val="accent6">
              <a:lumMod val="40000"/>
              <a:lumOff val="60000"/>
            </a:schemeClr>
          </a:solidFill>
        </p:spPr>
        <p:txBody>
          <a:bodyPr wrap="square" rtlCol="0">
            <a:spAutoFit/>
          </a:bodyPr>
          <a:lstStyle/>
          <a:p>
            <a:r>
              <a:rPr lang="en-US" sz="2000" dirty="0" smtClean="0"/>
              <a:t>Three simple, but useful, </a:t>
            </a:r>
            <a:r>
              <a:rPr lang="en-US" sz="2000" dirty="0" err="1" smtClean="0"/>
              <a:t>jQuery</a:t>
            </a:r>
            <a:r>
              <a:rPr lang="en-US" sz="2000" dirty="0" smtClean="0"/>
              <a:t> methods for DOM manipulation are:</a:t>
            </a:r>
          </a:p>
          <a:p>
            <a:pPr marL="457200" indent="-457200">
              <a:buFont typeface="+mj-lt"/>
              <a:buAutoNum type="arabicPeriod"/>
            </a:pPr>
            <a:r>
              <a:rPr lang="en-US" sz="2000" dirty="0" smtClean="0"/>
              <a:t>text() - Sets or returns the text content of selected elements</a:t>
            </a:r>
          </a:p>
          <a:p>
            <a:pPr marL="457200" indent="-457200">
              <a:buFont typeface="+mj-lt"/>
              <a:buAutoNum type="arabicPeriod"/>
            </a:pPr>
            <a:r>
              <a:rPr lang="en-US" sz="2000" dirty="0" smtClean="0"/>
              <a:t>html() - Sets or returns the content of selected elements (including HTML markup)</a:t>
            </a:r>
          </a:p>
          <a:p>
            <a:pPr marL="457200" indent="-457200">
              <a:buFont typeface="+mj-lt"/>
              <a:buAutoNum type="arabicPeriod"/>
            </a:pPr>
            <a:r>
              <a:rPr lang="en-US" sz="2000" dirty="0" err="1" smtClean="0"/>
              <a:t>val</a:t>
            </a:r>
            <a:r>
              <a:rPr lang="en-US" sz="2000" dirty="0" smtClean="0"/>
              <a:t>() - Sets or returns the value of form fields</a:t>
            </a:r>
            <a:endParaRPr lang="en-US" sz="2000"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928780" cy="944562"/>
          </a:xfrm>
        </p:spPr>
        <p:txBody>
          <a:bodyPr>
            <a:noAutofit/>
          </a:bodyPr>
          <a:lstStyle/>
          <a:p>
            <a:r>
              <a:rPr lang="en-US" sz="3200" b="0" dirty="0" err="1" smtClean="0"/>
              <a:t>jQuery</a:t>
            </a:r>
            <a:r>
              <a:rPr lang="en-US" sz="3200" b="0" dirty="0" smtClean="0"/>
              <a:t> -  Get Content - text(), html(), and </a:t>
            </a:r>
            <a:r>
              <a:rPr lang="en-US" sz="3200" b="0" dirty="0" err="1" smtClean="0"/>
              <a:t>val</a:t>
            </a:r>
            <a:r>
              <a:rPr lang="en-US" sz="3200" b="0" dirty="0" smtClean="0"/>
              <a:t>()</a:t>
            </a:r>
            <a:br>
              <a:rPr lang="en-US" sz="3200" b="0" dirty="0" smtClean="0"/>
            </a:b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smtClean="0"/>
              <a:t>The following example demonstrates how to get content with the </a:t>
            </a:r>
            <a:r>
              <a:rPr lang="en-US" sz="2400" dirty="0" err="1" smtClean="0"/>
              <a:t>jQuery</a:t>
            </a:r>
            <a:r>
              <a:rPr lang="en-US" sz="2400" dirty="0" smtClean="0"/>
              <a:t> text() and html() methods:</a:t>
            </a:r>
            <a:endParaRPr lang="en-US" sz="2000" dirty="0" smtClean="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40</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TextBox 7"/>
          <p:cNvSpPr txBox="1"/>
          <p:nvPr/>
        </p:nvSpPr>
        <p:spPr>
          <a:xfrm>
            <a:off x="990600" y="2209800"/>
            <a:ext cx="7391400" cy="1938992"/>
          </a:xfrm>
          <a:prstGeom prst="rect">
            <a:avLst/>
          </a:prstGeom>
          <a:solidFill>
            <a:schemeClr val="accent6">
              <a:lumMod val="40000"/>
              <a:lumOff val="60000"/>
            </a:schemeClr>
          </a:solidFill>
        </p:spPr>
        <p:txBody>
          <a:bodyPr wrap="square" rtlCol="0">
            <a:spAutoFit/>
          </a:bodyPr>
          <a:lstStyle/>
          <a:p>
            <a:r>
              <a:rPr lang="en-US" sz="2000" dirty="0" smtClean="0"/>
              <a:t>$("#btn1").click(function(){</a:t>
            </a:r>
            <a:br>
              <a:rPr lang="en-US" sz="2000" dirty="0" smtClean="0"/>
            </a:br>
            <a:r>
              <a:rPr lang="en-US" sz="2000" dirty="0" smtClean="0"/>
              <a:t>  alert("Text: " + $("#test").text());</a:t>
            </a:r>
            <a:br>
              <a:rPr lang="en-US" sz="2000" dirty="0" smtClean="0"/>
            </a:br>
            <a:r>
              <a:rPr lang="en-US" sz="2000" dirty="0" smtClean="0"/>
              <a:t>});</a:t>
            </a:r>
            <a:br>
              <a:rPr lang="en-US" sz="2000" dirty="0" smtClean="0"/>
            </a:br>
            <a:r>
              <a:rPr lang="en-US" sz="2000" dirty="0" smtClean="0"/>
              <a:t>$("#btn2").click(function(){</a:t>
            </a:r>
            <a:br>
              <a:rPr lang="en-US" sz="2000" dirty="0" smtClean="0"/>
            </a:br>
            <a:r>
              <a:rPr lang="en-US" sz="2000" dirty="0" smtClean="0"/>
              <a:t>  alert("HTML: " + $("#test").html());</a:t>
            </a:r>
            <a:br>
              <a:rPr lang="en-US" sz="2000" dirty="0" smtClean="0"/>
            </a:br>
            <a:r>
              <a:rPr lang="en-US" sz="2000" dirty="0" smtClean="0"/>
              <a:t>});</a:t>
            </a:r>
            <a:endParaRPr lang="en-US" sz="20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928780" cy="944562"/>
          </a:xfrm>
        </p:spPr>
        <p:txBody>
          <a:bodyPr>
            <a:noAutofit/>
          </a:bodyPr>
          <a:lstStyle/>
          <a:p>
            <a:r>
              <a:rPr lang="en-US" sz="3200" b="0" dirty="0" err="1" smtClean="0"/>
              <a:t>jQuery</a:t>
            </a:r>
            <a:r>
              <a:rPr lang="en-US" sz="3200" b="0" dirty="0" smtClean="0"/>
              <a:t> -  Get Content - text(), html(), and </a:t>
            </a:r>
            <a:r>
              <a:rPr lang="en-US" sz="3200" b="0" dirty="0" err="1" smtClean="0"/>
              <a:t>val</a:t>
            </a:r>
            <a:r>
              <a:rPr lang="en-US" sz="3200" b="0" dirty="0" smtClean="0"/>
              <a:t>()</a:t>
            </a:r>
            <a:br>
              <a:rPr lang="en-US" sz="3200" b="0" dirty="0" smtClean="0"/>
            </a:b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smtClean="0"/>
              <a:t>The following example demonstrates how to get the value of an input field with the </a:t>
            </a:r>
            <a:r>
              <a:rPr lang="en-US" sz="2400" dirty="0" err="1" smtClean="0"/>
              <a:t>jQuery</a:t>
            </a:r>
            <a:r>
              <a:rPr lang="en-US" sz="2400" dirty="0" smtClean="0"/>
              <a:t> </a:t>
            </a:r>
            <a:r>
              <a:rPr lang="en-US" sz="2400" dirty="0" err="1" smtClean="0"/>
              <a:t>val</a:t>
            </a:r>
            <a:r>
              <a:rPr lang="en-US" sz="2400" dirty="0" smtClean="0"/>
              <a:t>() method:</a:t>
            </a:r>
            <a:endParaRPr lang="en-US" sz="2000" dirty="0" smtClean="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41</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TextBox 7"/>
          <p:cNvSpPr txBox="1"/>
          <p:nvPr/>
        </p:nvSpPr>
        <p:spPr>
          <a:xfrm>
            <a:off x="990600" y="2209800"/>
            <a:ext cx="7391400" cy="1015663"/>
          </a:xfrm>
          <a:prstGeom prst="rect">
            <a:avLst/>
          </a:prstGeom>
          <a:solidFill>
            <a:schemeClr val="accent6">
              <a:lumMod val="40000"/>
              <a:lumOff val="60000"/>
            </a:schemeClr>
          </a:solidFill>
        </p:spPr>
        <p:txBody>
          <a:bodyPr wrap="square" rtlCol="0">
            <a:spAutoFit/>
          </a:bodyPr>
          <a:lstStyle/>
          <a:p>
            <a:r>
              <a:rPr lang="en-US" sz="2000" dirty="0" smtClean="0"/>
              <a:t>$("#btn1").click(function(){</a:t>
            </a:r>
            <a:br>
              <a:rPr lang="en-US" sz="2000" dirty="0" smtClean="0"/>
            </a:br>
            <a:r>
              <a:rPr lang="en-US" sz="2000" dirty="0" smtClean="0"/>
              <a:t>  alert("Value: " + $("#test").</a:t>
            </a:r>
            <a:r>
              <a:rPr lang="en-US" sz="2000" dirty="0" err="1" smtClean="0"/>
              <a:t>val</a:t>
            </a:r>
            <a:r>
              <a:rPr lang="en-US" sz="2000" dirty="0" smtClean="0"/>
              <a:t>());</a:t>
            </a:r>
            <a:br>
              <a:rPr lang="en-US" sz="2000" dirty="0" smtClean="0"/>
            </a:br>
            <a:r>
              <a:rPr lang="en-US" sz="2000" dirty="0" smtClean="0"/>
              <a:t>});</a:t>
            </a:r>
            <a:endParaRPr lang="en-US" sz="20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  Get Attributes - </a:t>
            </a:r>
            <a:r>
              <a:rPr lang="en-US" sz="3200" b="0" dirty="0" err="1" smtClean="0"/>
              <a:t>attr</a:t>
            </a:r>
            <a:r>
              <a:rPr lang="en-US" sz="3200" b="0" dirty="0" smtClean="0"/>
              <a:t>()</a:t>
            </a:r>
            <a:br>
              <a:rPr lang="en-US" sz="3200" b="0" dirty="0" smtClean="0"/>
            </a:b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smtClean="0"/>
              <a:t>The </a:t>
            </a:r>
            <a:r>
              <a:rPr lang="en-US" sz="2400" dirty="0" err="1" smtClean="0"/>
              <a:t>jQuery</a:t>
            </a:r>
            <a:r>
              <a:rPr lang="en-US" sz="2400" dirty="0" smtClean="0"/>
              <a:t> </a:t>
            </a:r>
            <a:r>
              <a:rPr lang="en-US" sz="2400" dirty="0" err="1" smtClean="0"/>
              <a:t>attr</a:t>
            </a:r>
            <a:r>
              <a:rPr lang="en-US" sz="2400" dirty="0" smtClean="0"/>
              <a:t>() method is used to get attribute values.</a:t>
            </a:r>
          </a:p>
          <a:p>
            <a:r>
              <a:rPr lang="en-US" sz="2400" dirty="0" smtClean="0"/>
              <a:t>The following example demonstrates how to get the value of the </a:t>
            </a:r>
            <a:r>
              <a:rPr lang="en-US" sz="2400" dirty="0" err="1" smtClean="0"/>
              <a:t>href</a:t>
            </a:r>
            <a:r>
              <a:rPr lang="en-US" sz="2400" dirty="0" smtClean="0"/>
              <a:t> attribute in a link:</a:t>
            </a:r>
            <a:endParaRPr lang="en-US" sz="2400" dirty="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42</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TextBox 7"/>
          <p:cNvSpPr txBox="1"/>
          <p:nvPr/>
        </p:nvSpPr>
        <p:spPr>
          <a:xfrm>
            <a:off x="990600" y="2667000"/>
            <a:ext cx="7391400" cy="1015663"/>
          </a:xfrm>
          <a:prstGeom prst="rect">
            <a:avLst/>
          </a:prstGeom>
          <a:solidFill>
            <a:schemeClr val="accent6">
              <a:lumMod val="40000"/>
              <a:lumOff val="60000"/>
            </a:schemeClr>
          </a:solidFill>
        </p:spPr>
        <p:txBody>
          <a:bodyPr wrap="square" rtlCol="0">
            <a:spAutoFit/>
          </a:bodyPr>
          <a:lstStyle/>
          <a:p>
            <a:r>
              <a:rPr lang="en-US" sz="2000" dirty="0" smtClean="0"/>
              <a:t>$("button").click(function(){</a:t>
            </a:r>
            <a:br>
              <a:rPr lang="en-US" sz="2000" dirty="0" smtClean="0"/>
            </a:br>
            <a:r>
              <a:rPr lang="en-US" sz="2000" dirty="0" smtClean="0"/>
              <a:t>  alert($("#w3s").</a:t>
            </a:r>
            <a:r>
              <a:rPr lang="en-US" sz="2000" dirty="0" err="1" smtClean="0"/>
              <a:t>attr</a:t>
            </a:r>
            <a:r>
              <a:rPr lang="en-US" sz="2000" dirty="0" smtClean="0"/>
              <a:t>("</a:t>
            </a:r>
            <a:r>
              <a:rPr lang="en-US" sz="2000" dirty="0" err="1" smtClean="0"/>
              <a:t>href</a:t>
            </a:r>
            <a:r>
              <a:rPr lang="en-US" sz="2000" dirty="0" smtClean="0"/>
              <a:t>"));</a:t>
            </a:r>
            <a:br>
              <a:rPr lang="en-US" sz="2000" dirty="0" smtClean="0"/>
            </a:br>
            <a:r>
              <a:rPr lang="en-US" sz="2000" dirty="0" smtClean="0"/>
              <a:t>});</a:t>
            </a:r>
            <a:endParaRPr lang="en-US" sz="2000"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  Set Content - text(), html(), and </a:t>
            </a:r>
            <a:r>
              <a:rPr lang="en-US" sz="3200" b="0" dirty="0" err="1" smtClean="0"/>
              <a:t>val</a:t>
            </a:r>
            <a:r>
              <a:rPr lang="en-US" sz="3200" b="0" dirty="0" smtClean="0"/>
              <a:t>()</a:t>
            </a:r>
            <a:br>
              <a:rPr lang="en-US" sz="3200" b="0" dirty="0" smtClean="0"/>
            </a:b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000" dirty="0" smtClean="0"/>
              <a:t>We will use the same three methods from the previous page to </a:t>
            </a:r>
            <a:r>
              <a:rPr lang="en-US" sz="2000" b="1" dirty="0" smtClean="0"/>
              <a:t>set content</a:t>
            </a:r>
            <a:r>
              <a:rPr lang="en-US" sz="2000" dirty="0" smtClean="0"/>
              <a:t>:</a:t>
            </a:r>
          </a:p>
          <a:p>
            <a:r>
              <a:rPr lang="en-US" sz="2000" dirty="0" smtClean="0"/>
              <a:t>text() - Sets or returns the text content of selected elements</a:t>
            </a:r>
          </a:p>
          <a:p>
            <a:r>
              <a:rPr lang="en-US" sz="2000" dirty="0" smtClean="0"/>
              <a:t>html() - Sets or returns the content of selected elements (including HTML markup)</a:t>
            </a:r>
          </a:p>
          <a:p>
            <a:r>
              <a:rPr lang="en-US" sz="2000" dirty="0" err="1" smtClean="0"/>
              <a:t>val</a:t>
            </a:r>
            <a:r>
              <a:rPr lang="en-US" sz="2000" dirty="0" smtClean="0"/>
              <a:t>() - Sets or returns </a:t>
            </a:r>
            <a:r>
              <a:rPr lang="en-US" sz="2000" dirty="0" err="1" smtClean="0"/>
              <a:t>th</a:t>
            </a:r>
            <a:r>
              <a:rPr lang="en-US" sz="2000" dirty="0" smtClean="0"/>
              <a:t> value of form fields</a:t>
            </a:r>
            <a:endParaRPr lang="en-US" sz="2000" dirty="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43</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8" name="TextBox 7"/>
          <p:cNvSpPr txBox="1"/>
          <p:nvPr/>
        </p:nvSpPr>
        <p:spPr>
          <a:xfrm>
            <a:off x="914400" y="3429000"/>
            <a:ext cx="7391400" cy="2923877"/>
          </a:xfrm>
          <a:prstGeom prst="rect">
            <a:avLst/>
          </a:prstGeom>
          <a:solidFill>
            <a:schemeClr val="accent6">
              <a:lumMod val="40000"/>
              <a:lumOff val="60000"/>
            </a:schemeClr>
          </a:solidFill>
        </p:spPr>
        <p:txBody>
          <a:bodyPr wrap="square" rtlCol="0">
            <a:spAutoFit/>
          </a:bodyPr>
          <a:lstStyle/>
          <a:p>
            <a:r>
              <a:rPr lang="en-US" sz="2000" dirty="0" smtClean="0"/>
              <a:t>$("#btn1").click(function(){</a:t>
            </a:r>
            <a:br>
              <a:rPr lang="en-US" sz="2000" dirty="0" smtClean="0"/>
            </a:br>
            <a:r>
              <a:rPr lang="en-US" sz="2000" dirty="0" smtClean="0"/>
              <a:t>  $("#test1").text("Hello world!");</a:t>
            </a:r>
            <a:br>
              <a:rPr lang="en-US" sz="2000" dirty="0" smtClean="0"/>
            </a:br>
            <a:r>
              <a:rPr lang="en-US" sz="2000" dirty="0" smtClean="0"/>
              <a:t>});</a:t>
            </a:r>
            <a:br>
              <a:rPr lang="en-US" sz="2000" dirty="0" smtClean="0"/>
            </a:br>
            <a:r>
              <a:rPr lang="en-US" sz="2000" dirty="0" smtClean="0"/>
              <a:t>$("#btn2").click(function(){</a:t>
            </a:r>
            <a:br>
              <a:rPr lang="en-US" sz="2000" dirty="0" smtClean="0"/>
            </a:br>
            <a:r>
              <a:rPr lang="en-US" sz="2000" dirty="0" smtClean="0"/>
              <a:t>  $("#test2").html("&lt;b&gt;Hello world!&lt;/b&gt;");</a:t>
            </a:r>
            <a:br>
              <a:rPr lang="en-US" sz="2000" dirty="0" smtClean="0"/>
            </a:br>
            <a:r>
              <a:rPr lang="en-US" sz="2000" dirty="0" smtClean="0"/>
              <a:t>});</a:t>
            </a:r>
            <a:br>
              <a:rPr lang="en-US" sz="2000" dirty="0" smtClean="0"/>
            </a:br>
            <a:r>
              <a:rPr lang="en-US" sz="2000" dirty="0" smtClean="0"/>
              <a:t>$("#btn3").click(function(){</a:t>
            </a:r>
            <a:br>
              <a:rPr lang="en-US" sz="2000" dirty="0" smtClean="0"/>
            </a:br>
            <a:r>
              <a:rPr lang="en-US" sz="2000" dirty="0" smtClean="0"/>
              <a:t>  $("#test3").</a:t>
            </a:r>
            <a:r>
              <a:rPr lang="en-US" sz="2000" dirty="0" err="1" smtClean="0"/>
              <a:t>val</a:t>
            </a:r>
            <a:r>
              <a:rPr lang="en-US" sz="2000" dirty="0" smtClean="0"/>
              <a:t>("Dolly Duck");</a:t>
            </a:r>
            <a:br>
              <a:rPr lang="en-US" sz="2000" dirty="0" smtClean="0"/>
            </a:br>
            <a:r>
              <a:rPr lang="en-US" sz="2000" dirty="0" smtClean="0"/>
              <a:t>}); e</a:t>
            </a:r>
            <a:endParaRPr lang="en-US" sz="2000"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  Set Content - text(), html(), and </a:t>
            </a:r>
            <a:r>
              <a:rPr lang="en-US" sz="3200" b="0" dirty="0" err="1" smtClean="0"/>
              <a:t>val</a:t>
            </a:r>
            <a:r>
              <a:rPr lang="en-US" sz="3200" b="0" dirty="0" smtClean="0"/>
              <a:t>()</a:t>
            </a:r>
            <a:br>
              <a:rPr lang="en-US" sz="3200" b="0" dirty="0" smtClean="0"/>
            </a:b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000" dirty="0" smtClean="0"/>
              <a:t> A Callback Function for text(), html(), and </a:t>
            </a:r>
            <a:r>
              <a:rPr lang="en-US" sz="2000" dirty="0" err="1" smtClean="0"/>
              <a:t>val</a:t>
            </a:r>
            <a:r>
              <a:rPr lang="en-US" sz="2000" dirty="0" smtClean="0"/>
              <a:t>()</a:t>
            </a:r>
          </a:p>
          <a:p>
            <a:r>
              <a:rPr lang="en-US" sz="2000" dirty="0" smtClean="0"/>
              <a:t>All of the three </a:t>
            </a:r>
            <a:r>
              <a:rPr lang="en-US" sz="2000" dirty="0" err="1" smtClean="0"/>
              <a:t>jQuery</a:t>
            </a:r>
            <a:r>
              <a:rPr lang="en-US" sz="2000" dirty="0" smtClean="0"/>
              <a:t> methods above: text(), html(), and </a:t>
            </a:r>
            <a:r>
              <a:rPr lang="en-US" sz="2000" dirty="0" err="1" smtClean="0"/>
              <a:t>val</a:t>
            </a:r>
            <a:r>
              <a:rPr lang="en-US" sz="2000" dirty="0" smtClean="0"/>
              <a:t>(), also come with a callback function. The callback function has two parameters: the index of the current element in the list of elements selected and the original (old) value. You then return the string you wish to use as the new value from the function.</a:t>
            </a:r>
          </a:p>
          <a:p>
            <a:r>
              <a:rPr lang="en-US" sz="2000" dirty="0" smtClean="0"/>
              <a:t>For </a:t>
            </a:r>
            <a:r>
              <a:rPr lang="en-US" sz="2000" dirty="0" err="1" smtClean="0"/>
              <a:t>eg</a:t>
            </a:r>
            <a:r>
              <a:rPr lang="en-US" sz="2000" dirty="0" smtClean="0"/>
              <a:t>: text() and html() with a callback function:</a:t>
            </a:r>
          </a:p>
          <a:p>
            <a:pPr lvl="1"/>
            <a:r>
              <a:rPr lang="en-US" sz="1600" dirty="0" smtClean="0"/>
              <a:t>Demo Eg9b - </a:t>
            </a:r>
            <a:r>
              <a:rPr lang="en-US" sz="1600" dirty="0" err="1" smtClean="0"/>
              <a:t>DomSet</a:t>
            </a:r>
            <a:r>
              <a:rPr lang="en-US" sz="1600" dirty="0" smtClean="0"/>
              <a:t> Callback.html</a:t>
            </a:r>
          </a:p>
          <a:p>
            <a:endParaRPr lang="en-US" sz="2000" dirty="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44</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Set Attributes  - </a:t>
            </a:r>
            <a:r>
              <a:rPr lang="en-US" sz="3200" b="0" dirty="0" err="1" smtClean="0"/>
              <a:t>Attr</a:t>
            </a:r>
            <a:r>
              <a:rPr lang="en-US" sz="3200" b="0" dirty="0" smtClean="0"/>
              <a:t>()</a:t>
            </a: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000" dirty="0" smtClean="0"/>
              <a:t> The </a:t>
            </a:r>
            <a:r>
              <a:rPr lang="en-US" sz="2000" dirty="0" err="1" smtClean="0"/>
              <a:t>jQuery</a:t>
            </a:r>
            <a:r>
              <a:rPr lang="en-US" sz="2000" dirty="0" smtClean="0"/>
              <a:t> </a:t>
            </a:r>
            <a:r>
              <a:rPr lang="en-US" sz="2000" dirty="0" err="1" smtClean="0"/>
              <a:t>attr</a:t>
            </a:r>
            <a:r>
              <a:rPr lang="en-US" sz="2000" dirty="0" smtClean="0"/>
              <a:t>() method is also used to set/change attribute values.</a:t>
            </a:r>
          </a:p>
          <a:p>
            <a:r>
              <a:rPr lang="en-US" sz="2000" dirty="0" smtClean="0"/>
              <a:t>The following example demonstrates how to change (set) the value of the </a:t>
            </a:r>
            <a:r>
              <a:rPr lang="en-US" sz="2000" dirty="0" err="1" smtClean="0"/>
              <a:t>href</a:t>
            </a:r>
            <a:r>
              <a:rPr lang="en-US" sz="2000" dirty="0" smtClean="0"/>
              <a:t> attribute in a link:</a:t>
            </a:r>
          </a:p>
          <a:p>
            <a:endParaRPr lang="en-US" sz="2000" dirty="0" smtClean="0"/>
          </a:p>
          <a:p>
            <a:endParaRPr lang="en-US" sz="2000" dirty="0" smtClean="0"/>
          </a:p>
          <a:p>
            <a:endParaRPr lang="en-US" sz="2000" dirty="0" smtClean="0"/>
          </a:p>
          <a:p>
            <a:endParaRPr lang="en-US" sz="2000" dirty="0" smtClean="0"/>
          </a:p>
          <a:p>
            <a:r>
              <a:rPr lang="en-US" sz="2000" dirty="0" smtClean="0"/>
              <a:t>The </a:t>
            </a:r>
            <a:r>
              <a:rPr lang="en-US" sz="2000" dirty="0" err="1" smtClean="0"/>
              <a:t>jQuery</a:t>
            </a:r>
            <a:r>
              <a:rPr lang="en-US" sz="2000" dirty="0" smtClean="0"/>
              <a:t> method </a:t>
            </a:r>
            <a:r>
              <a:rPr lang="en-US" sz="2000" dirty="0" err="1" smtClean="0"/>
              <a:t>attr</a:t>
            </a:r>
            <a:r>
              <a:rPr lang="en-US" sz="2000" dirty="0" smtClean="0"/>
              <a:t>(), also come with a callback function. The callback function has two parameters: the index of the current element in the list of elements selected and the original (old) attribute value. You then return the string you wish to use as the new attribute value from the function.</a:t>
            </a:r>
            <a:endParaRPr lang="en-US" sz="2000" dirty="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45</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6" name="TextBox 5"/>
          <p:cNvSpPr txBox="1"/>
          <p:nvPr/>
        </p:nvSpPr>
        <p:spPr>
          <a:xfrm>
            <a:off x="990600" y="2667000"/>
            <a:ext cx="7391400" cy="1015663"/>
          </a:xfrm>
          <a:prstGeom prst="rect">
            <a:avLst/>
          </a:prstGeom>
          <a:solidFill>
            <a:schemeClr val="accent6">
              <a:lumMod val="40000"/>
              <a:lumOff val="60000"/>
            </a:schemeClr>
          </a:solidFill>
        </p:spPr>
        <p:txBody>
          <a:bodyPr wrap="square" rtlCol="0">
            <a:spAutoFit/>
          </a:bodyPr>
          <a:lstStyle/>
          <a:p>
            <a:r>
              <a:rPr lang="en-US" sz="2000" dirty="0" smtClean="0"/>
              <a:t>$("button").click(function(){</a:t>
            </a:r>
            <a:br>
              <a:rPr lang="en-US" sz="2000" dirty="0" smtClean="0"/>
            </a:br>
            <a:r>
              <a:rPr lang="en-US" sz="2000" dirty="0" smtClean="0"/>
              <a:t>  $("#w3s").</a:t>
            </a:r>
            <a:r>
              <a:rPr lang="en-US" sz="2000" dirty="0" err="1" smtClean="0"/>
              <a:t>attr</a:t>
            </a:r>
            <a:r>
              <a:rPr lang="en-US" sz="2000" dirty="0" smtClean="0"/>
              <a:t>("</a:t>
            </a:r>
            <a:r>
              <a:rPr lang="en-US" sz="2000" dirty="0" err="1" smtClean="0"/>
              <a:t>href","http</a:t>
            </a:r>
            <a:r>
              <a:rPr lang="en-US" sz="2000" dirty="0" smtClean="0"/>
              <a:t>://</a:t>
            </a:r>
            <a:r>
              <a:rPr lang="en-US" sz="2000" dirty="0" err="1" smtClean="0"/>
              <a:t>www.nyp.edu.sg</a:t>
            </a:r>
            <a:r>
              <a:rPr lang="en-US" sz="2000" dirty="0" smtClean="0"/>
              <a:t>/</a:t>
            </a:r>
            <a:r>
              <a:rPr lang="en-US" sz="2000" dirty="0" err="1" smtClean="0"/>
              <a:t>jquery</a:t>
            </a:r>
            <a:r>
              <a:rPr lang="en-US" sz="2000" dirty="0" smtClean="0"/>
              <a:t>");</a:t>
            </a:r>
            <a:br>
              <a:rPr lang="en-US" sz="2000" dirty="0" smtClean="0"/>
            </a:br>
            <a:r>
              <a:rPr lang="en-US" sz="2000" dirty="0" smtClean="0"/>
              <a:t>});</a:t>
            </a:r>
            <a:endParaRPr lang="en-US" sz="20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Set Attributes  - </a:t>
            </a:r>
            <a:r>
              <a:rPr lang="en-US" sz="3200" b="0" dirty="0" err="1" smtClean="0"/>
              <a:t>Attr</a:t>
            </a:r>
            <a:r>
              <a:rPr lang="en-US" sz="3200" b="0" dirty="0" smtClean="0"/>
              <a:t>()</a:t>
            </a: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000" dirty="0" smtClean="0"/>
              <a:t>  Other methods</a:t>
            </a:r>
          </a:p>
          <a:p>
            <a:r>
              <a:rPr lang="en-US" sz="2000" dirty="0" smtClean="0"/>
              <a:t>append() </a:t>
            </a:r>
          </a:p>
          <a:p>
            <a:pPr lvl="1"/>
            <a:r>
              <a:rPr lang="en-US" sz="1600" dirty="0" smtClean="0"/>
              <a:t> inserts content AT THE END of the selected HTML elements.</a:t>
            </a:r>
          </a:p>
          <a:p>
            <a:r>
              <a:rPr lang="en-US" sz="2000" dirty="0" err="1" smtClean="0"/>
              <a:t>prepend</a:t>
            </a:r>
            <a:r>
              <a:rPr lang="en-US" sz="2000" dirty="0" smtClean="0"/>
              <a:t>() </a:t>
            </a:r>
          </a:p>
          <a:p>
            <a:pPr lvl="1"/>
            <a:r>
              <a:rPr lang="en-US" sz="1600" dirty="0" smtClean="0"/>
              <a:t>inserts content AT THE BEGINNING of the selected HTML elements.</a:t>
            </a:r>
          </a:p>
          <a:p>
            <a:r>
              <a:rPr lang="en-US" sz="2000" b="1" dirty="0" smtClean="0"/>
              <a:t>after()  (See Demo)</a:t>
            </a:r>
          </a:p>
          <a:p>
            <a:pPr lvl="1"/>
            <a:r>
              <a:rPr lang="en-US" sz="2000" dirty="0" smtClean="0"/>
              <a:t> inserts content AFTER the selected HTML elements.</a:t>
            </a:r>
          </a:p>
          <a:p>
            <a:r>
              <a:rPr lang="en-US" sz="2000" dirty="0" smtClean="0"/>
              <a:t>before()</a:t>
            </a:r>
          </a:p>
          <a:p>
            <a:pPr lvl="1"/>
            <a:r>
              <a:rPr lang="en-US" sz="1800" dirty="0" smtClean="0"/>
              <a:t> inserts content BEFORE the selected HTML elements.</a:t>
            </a:r>
          </a:p>
          <a:p>
            <a:r>
              <a:rPr lang="en-US" sz="2000" b="1" dirty="0" smtClean="0"/>
              <a:t>remove() (See Demo)</a:t>
            </a:r>
          </a:p>
          <a:p>
            <a:pPr lvl="1"/>
            <a:r>
              <a:rPr lang="en-US" sz="1800" dirty="0" smtClean="0"/>
              <a:t>  removes the selected element(s) and its child elements</a:t>
            </a:r>
          </a:p>
          <a:p>
            <a:pPr lvl="1"/>
            <a:r>
              <a:rPr lang="en-US" sz="1800" dirty="0" smtClean="0"/>
              <a:t>The </a:t>
            </a:r>
            <a:r>
              <a:rPr lang="en-US" sz="1800" dirty="0" err="1" smtClean="0"/>
              <a:t>jQuery</a:t>
            </a:r>
            <a:r>
              <a:rPr lang="en-US" sz="1800" dirty="0" smtClean="0"/>
              <a:t> remove() method also accepts one parameter, which allows you to filter the elements to be removed.</a:t>
            </a:r>
          </a:p>
          <a:p>
            <a:r>
              <a:rPr lang="en-US" sz="1800" b="1" dirty="0" smtClean="0"/>
              <a:t>empty() (See Demo)</a:t>
            </a:r>
          </a:p>
          <a:p>
            <a:pPr lvl="1"/>
            <a:r>
              <a:rPr lang="en-US" sz="1800" dirty="0" smtClean="0"/>
              <a:t>  removes the child elements of the selected element(s).</a:t>
            </a:r>
          </a:p>
          <a:p>
            <a:pPr lvl="1"/>
            <a:endParaRPr lang="en-US" sz="1800" dirty="0" smtClean="0"/>
          </a:p>
          <a:p>
            <a:pPr lvl="1"/>
            <a:endParaRPr lang="en-US" sz="1800" dirty="0" smtClean="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46</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 Get and Set CSS Classes</a:t>
            </a: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err="1" smtClean="0"/>
              <a:t>jQuery</a:t>
            </a:r>
            <a:r>
              <a:rPr lang="en-US" sz="2400" dirty="0" smtClean="0"/>
              <a:t> Manipulating CSS</a:t>
            </a:r>
          </a:p>
          <a:p>
            <a:r>
              <a:rPr lang="en-US" sz="2400" dirty="0" err="1" smtClean="0"/>
              <a:t>jQuery</a:t>
            </a:r>
            <a:r>
              <a:rPr lang="en-US" sz="2400" dirty="0" smtClean="0"/>
              <a:t> has several methods for CSS manipulation. We will look at the following methods:</a:t>
            </a:r>
          </a:p>
          <a:p>
            <a:pPr marL="457200" indent="-457200">
              <a:buFont typeface="+mj-lt"/>
              <a:buAutoNum type="arabicPeriod"/>
            </a:pPr>
            <a:r>
              <a:rPr lang="en-US" sz="2400" dirty="0" err="1" smtClean="0"/>
              <a:t>addClass</a:t>
            </a:r>
            <a:r>
              <a:rPr lang="en-US" sz="2400" dirty="0" smtClean="0"/>
              <a:t>() - Adds one or more classes to the selected elements</a:t>
            </a:r>
          </a:p>
          <a:p>
            <a:pPr marL="457200" indent="-457200">
              <a:buFont typeface="+mj-lt"/>
              <a:buAutoNum type="arabicPeriod"/>
            </a:pPr>
            <a:r>
              <a:rPr lang="en-US" sz="2400" dirty="0" err="1" smtClean="0"/>
              <a:t>removeClass</a:t>
            </a:r>
            <a:r>
              <a:rPr lang="en-US" sz="2400" dirty="0" smtClean="0"/>
              <a:t>() - Removes one or more classes from the selected elements</a:t>
            </a:r>
          </a:p>
          <a:p>
            <a:pPr marL="457200" indent="-457200">
              <a:buFont typeface="+mj-lt"/>
              <a:buAutoNum type="arabicPeriod"/>
            </a:pPr>
            <a:r>
              <a:rPr lang="en-US" sz="2400" dirty="0" err="1" smtClean="0"/>
              <a:t>toggleClass</a:t>
            </a:r>
            <a:r>
              <a:rPr lang="en-US" sz="2400" dirty="0" smtClean="0"/>
              <a:t>() - Toggles between adding/removing classes from the selected elements</a:t>
            </a:r>
          </a:p>
          <a:p>
            <a:pPr marL="457200" indent="-457200">
              <a:buFont typeface="+mj-lt"/>
              <a:buAutoNum type="arabicPeriod"/>
            </a:pPr>
            <a:r>
              <a:rPr lang="en-US" sz="2400" dirty="0" err="1" smtClean="0"/>
              <a:t>css</a:t>
            </a:r>
            <a:r>
              <a:rPr lang="en-US" sz="2400" dirty="0" smtClean="0"/>
              <a:t>() - Sets or returns the style attribute</a:t>
            </a:r>
          </a:p>
          <a:p>
            <a:pPr lvl="1"/>
            <a:endParaRPr lang="en-US" sz="2000" dirty="0" smtClean="0"/>
          </a:p>
          <a:p>
            <a:pPr lvl="1"/>
            <a:endParaRPr lang="en-US" sz="2000" dirty="0" smtClean="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47</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 Add and Toggle Class</a:t>
            </a: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err="1"/>
              <a:t>addClass</a:t>
            </a:r>
            <a:r>
              <a:rPr lang="en-US" sz="2400" dirty="0"/>
              <a:t>()</a:t>
            </a:r>
          </a:p>
          <a:p>
            <a:r>
              <a:rPr lang="en-US" sz="2400" dirty="0" smtClean="0"/>
              <a:t>Demo Eg10 </a:t>
            </a:r>
            <a:r>
              <a:rPr lang="en-US" sz="2400" dirty="0"/>
              <a:t>- DomAddClass.html</a:t>
            </a:r>
          </a:p>
          <a:p>
            <a:endParaRPr lang="en-US" sz="2400" dirty="0"/>
          </a:p>
          <a:p>
            <a:r>
              <a:rPr lang="en-US" sz="2400" dirty="0" err="1"/>
              <a:t>toggleClass</a:t>
            </a:r>
            <a:r>
              <a:rPr lang="en-US" sz="2400" dirty="0"/>
              <a:t>() </a:t>
            </a:r>
          </a:p>
          <a:p>
            <a:r>
              <a:rPr lang="en-US" sz="2400" dirty="0"/>
              <a:t> </a:t>
            </a:r>
            <a:r>
              <a:rPr lang="en-US" sz="2400" dirty="0" smtClean="0"/>
              <a:t>Demo Eg10b- </a:t>
            </a:r>
            <a:r>
              <a:rPr lang="en-US" sz="2400" dirty="0"/>
              <a:t>DomToggleClass.html </a:t>
            </a:r>
            <a:r>
              <a:rPr lang="en-US" sz="2400" dirty="0" smtClean="0"/>
              <a:t> </a:t>
            </a:r>
            <a:endParaRPr lang="en-US" sz="2400" dirty="0"/>
          </a:p>
          <a:p>
            <a:pPr lvl="1"/>
            <a:endParaRPr lang="en-US" sz="2000" dirty="0" smtClean="0"/>
          </a:p>
          <a:p>
            <a:pPr lvl="1"/>
            <a:endParaRPr lang="en-US" sz="2000" dirty="0" smtClean="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48</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 CSS() Method</a:t>
            </a: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a:t>The </a:t>
            </a:r>
            <a:r>
              <a:rPr lang="en-US" sz="2400" dirty="0" err="1"/>
              <a:t>css</a:t>
            </a:r>
            <a:r>
              <a:rPr lang="en-US" sz="2400" dirty="0"/>
              <a:t>() method sets or returns one or more style properties for the selected </a:t>
            </a:r>
            <a:r>
              <a:rPr lang="en-US" sz="2400" dirty="0" smtClean="0"/>
              <a:t>element</a:t>
            </a:r>
          </a:p>
          <a:p>
            <a:endParaRPr lang="en-US" sz="2400" dirty="0"/>
          </a:p>
          <a:p>
            <a:endParaRPr lang="en-US" sz="2400" dirty="0" smtClean="0"/>
          </a:p>
          <a:p>
            <a:r>
              <a:rPr lang="en-US" sz="2400" dirty="0" smtClean="0"/>
              <a:t>The </a:t>
            </a:r>
            <a:r>
              <a:rPr lang="en-US" sz="2400" dirty="0"/>
              <a:t>following example will return the background-color value of the FIRST matched element</a:t>
            </a:r>
            <a:r>
              <a:rPr lang="en-US" sz="2400" dirty="0" smtClean="0"/>
              <a:t>:</a:t>
            </a:r>
          </a:p>
          <a:p>
            <a:endParaRPr lang="en-US" sz="2400" dirty="0"/>
          </a:p>
          <a:p>
            <a:endParaRPr lang="en-US" sz="2400" dirty="0" smtClean="0"/>
          </a:p>
          <a:p>
            <a:r>
              <a:rPr lang="en-US" sz="2400" dirty="0" smtClean="0"/>
              <a:t>Demo: </a:t>
            </a:r>
            <a:r>
              <a:rPr lang="en-US" sz="2000" dirty="0"/>
              <a:t>Eg10 - DomAddClass.html</a:t>
            </a:r>
          </a:p>
          <a:p>
            <a:r>
              <a:rPr lang="en-US" sz="2000" dirty="0"/>
              <a:t>Demo: Eg10b- DomToggleClass.html </a:t>
            </a:r>
            <a:endParaRPr lang="en-US" sz="2000" dirty="0" smtClean="0"/>
          </a:p>
          <a:p>
            <a:pPr lvl="1"/>
            <a:endParaRPr lang="en-US" sz="2000" dirty="0" smtClean="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49</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6" name="TextBox 5"/>
          <p:cNvSpPr txBox="1"/>
          <p:nvPr/>
        </p:nvSpPr>
        <p:spPr>
          <a:xfrm>
            <a:off x="1066800" y="2159168"/>
            <a:ext cx="7391400" cy="400110"/>
          </a:xfrm>
          <a:prstGeom prst="rect">
            <a:avLst/>
          </a:prstGeom>
          <a:solidFill>
            <a:schemeClr val="accent6">
              <a:lumMod val="40000"/>
              <a:lumOff val="60000"/>
            </a:schemeClr>
          </a:solidFill>
        </p:spPr>
        <p:txBody>
          <a:bodyPr wrap="square" rtlCol="0">
            <a:spAutoFit/>
          </a:bodyPr>
          <a:lstStyle/>
          <a:p>
            <a:r>
              <a:rPr lang="en-US" sz="2000" dirty="0" err="1"/>
              <a:t>css</a:t>
            </a:r>
            <a:r>
              <a:rPr lang="en-US" sz="2000" dirty="0"/>
              <a:t>("</a:t>
            </a:r>
            <a:r>
              <a:rPr lang="en-US" sz="2000" i="1" dirty="0" err="1"/>
              <a:t>propertyname</a:t>
            </a:r>
            <a:r>
              <a:rPr lang="en-US" sz="2000" dirty="0"/>
              <a:t>");</a:t>
            </a:r>
          </a:p>
        </p:txBody>
      </p:sp>
      <p:sp>
        <p:nvSpPr>
          <p:cNvPr id="7" name="TextBox 6"/>
          <p:cNvSpPr txBox="1"/>
          <p:nvPr/>
        </p:nvSpPr>
        <p:spPr>
          <a:xfrm>
            <a:off x="1066800" y="4095690"/>
            <a:ext cx="7391400" cy="400110"/>
          </a:xfrm>
          <a:prstGeom prst="rect">
            <a:avLst/>
          </a:prstGeom>
          <a:solidFill>
            <a:schemeClr val="accent6">
              <a:lumMod val="40000"/>
              <a:lumOff val="60000"/>
            </a:schemeClr>
          </a:solidFill>
        </p:spPr>
        <p:txBody>
          <a:bodyPr wrap="square" rtlCol="0">
            <a:spAutoFit/>
          </a:bodyPr>
          <a:lstStyle/>
          <a:p>
            <a:r>
              <a:rPr lang="en-US" sz="2000" dirty="0"/>
              <a:t>$("p").</a:t>
            </a:r>
            <a:r>
              <a:rPr lang="en-US" sz="2000" dirty="0" err="1"/>
              <a:t>css</a:t>
            </a:r>
            <a:r>
              <a:rPr lang="en-US" sz="2000" dirty="0"/>
              <a:t>("background-color");</a:t>
            </a:r>
          </a:p>
        </p:txBody>
      </p:sp>
      <p:sp>
        <p:nvSpPr>
          <p:cNvPr id="8" name="5-Point Star 7"/>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466377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 </a:t>
            </a:r>
            <a:r>
              <a:rPr lang="en-US" sz="3200" b="0" dirty="0"/>
              <a:t>Set a CSS </a:t>
            </a:r>
            <a:r>
              <a:rPr lang="en-US" sz="3200" b="0" dirty="0" smtClean="0"/>
              <a:t>Property with </a:t>
            </a:r>
            <a:r>
              <a:rPr lang="en-US" sz="3200" b="0" dirty="0" err="1" smtClean="0"/>
              <a:t>css</a:t>
            </a:r>
            <a:r>
              <a:rPr lang="en-US" sz="3200" b="0" dirty="0" smtClean="0"/>
              <a:t>()</a:t>
            </a: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a:t>Set a CSS Property</a:t>
            </a:r>
          </a:p>
          <a:p>
            <a:endParaRPr lang="en-US" sz="2400" dirty="0"/>
          </a:p>
          <a:p>
            <a:endParaRPr lang="en-US" sz="2400" dirty="0" smtClean="0"/>
          </a:p>
          <a:p>
            <a:r>
              <a:rPr lang="en-US" sz="2400" dirty="0"/>
              <a:t>The following example will set the background-color value for ALL matched elements</a:t>
            </a:r>
            <a:r>
              <a:rPr lang="en-US" sz="2400" dirty="0" smtClean="0"/>
              <a:t>:</a:t>
            </a:r>
          </a:p>
          <a:p>
            <a:endParaRPr lang="en-US" sz="2400" dirty="0"/>
          </a:p>
          <a:p>
            <a:endParaRPr lang="en-US" sz="2400" dirty="0" smtClean="0"/>
          </a:p>
          <a:p>
            <a:r>
              <a:rPr lang="en-US" sz="2400" dirty="0" smtClean="0"/>
              <a:t>Demo: Eg10d </a:t>
            </a:r>
            <a:r>
              <a:rPr lang="en-US" sz="2400" dirty="0"/>
              <a:t>– DomSetCSS.html</a:t>
            </a:r>
          </a:p>
          <a:p>
            <a:endParaRPr lang="en-US" sz="2400" dirty="0" smtClean="0"/>
          </a:p>
          <a:p>
            <a:endParaRPr lang="en-US" sz="2400" dirty="0"/>
          </a:p>
          <a:p>
            <a:endParaRPr lang="en-US" sz="2400" dirty="0" smtClean="0"/>
          </a:p>
          <a:p>
            <a:endParaRPr lang="en-US" sz="2000" dirty="0" smtClean="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50</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6" name="TextBox 5"/>
          <p:cNvSpPr txBox="1"/>
          <p:nvPr/>
        </p:nvSpPr>
        <p:spPr>
          <a:xfrm>
            <a:off x="1066800" y="1768584"/>
            <a:ext cx="7391400" cy="400110"/>
          </a:xfrm>
          <a:prstGeom prst="rect">
            <a:avLst/>
          </a:prstGeom>
          <a:solidFill>
            <a:schemeClr val="accent6">
              <a:lumMod val="40000"/>
              <a:lumOff val="60000"/>
            </a:schemeClr>
          </a:solidFill>
        </p:spPr>
        <p:txBody>
          <a:bodyPr wrap="square" rtlCol="0">
            <a:spAutoFit/>
          </a:bodyPr>
          <a:lstStyle/>
          <a:p>
            <a:r>
              <a:rPr lang="en-US" sz="2000" dirty="0" err="1"/>
              <a:t>css</a:t>
            </a:r>
            <a:r>
              <a:rPr lang="en-US" sz="2000" dirty="0"/>
              <a:t>("</a:t>
            </a:r>
            <a:r>
              <a:rPr lang="en-US" sz="2000" i="1" dirty="0" err="1"/>
              <a:t>propertyname</a:t>
            </a:r>
            <a:r>
              <a:rPr lang="en-US" sz="2000" dirty="0"/>
              <a:t>","</a:t>
            </a:r>
            <a:r>
              <a:rPr lang="en-US" sz="2000" i="1" dirty="0"/>
              <a:t>value</a:t>
            </a:r>
            <a:r>
              <a:rPr lang="en-US" sz="2000" dirty="0"/>
              <a:t>");</a:t>
            </a:r>
          </a:p>
        </p:txBody>
      </p:sp>
      <p:sp>
        <p:nvSpPr>
          <p:cNvPr id="7" name="TextBox 6"/>
          <p:cNvSpPr txBox="1"/>
          <p:nvPr/>
        </p:nvSpPr>
        <p:spPr>
          <a:xfrm>
            <a:off x="1066800" y="3668449"/>
            <a:ext cx="7391400" cy="400110"/>
          </a:xfrm>
          <a:prstGeom prst="rect">
            <a:avLst/>
          </a:prstGeom>
          <a:solidFill>
            <a:schemeClr val="accent6">
              <a:lumMod val="40000"/>
              <a:lumOff val="60000"/>
            </a:schemeClr>
          </a:solidFill>
        </p:spPr>
        <p:txBody>
          <a:bodyPr wrap="square" rtlCol="0">
            <a:spAutoFit/>
          </a:bodyPr>
          <a:lstStyle/>
          <a:p>
            <a:r>
              <a:rPr lang="en-US" sz="2000" dirty="0"/>
              <a:t>$("p").</a:t>
            </a:r>
            <a:r>
              <a:rPr lang="en-US" sz="2000" dirty="0" err="1"/>
              <a:t>css</a:t>
            </a:r>
            <a:r>
              <a:rPr lang="en-US" sz="2000" dirty="0"/>
              <a:t>("background-</a:t>
            </a:r>
            <a:r>
              <a:rPr lang="en-US" sz="2000" dirty="0" err="1"/>
              <a:t>color","yellow</a:t>
            </a:r>
            <a:r>
              <a:rPr lang="en-US" sz="2000" dirty="0"/>
              <a:t>");</a:t>
            </a:r>
          </a:p>
        </p:txBody>
      </p:sp>
      <p:sp>
        <p:nvSpPr>
          <p:cNvPr id="8" name="5-Point Star 7"/>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852387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 </a:t>
            </a:r>
            <a:r>
              <a:rPr lang="en-US" sz="3200" b="0" dirty="0"/>
              <a:t>Set </a:t>
            </a:r>
            <a:r>
              <a:rPr lang="en-US" sz="3200" b="0" dirty="0" smtClean="0"/>
              <a:t>multiple </a:t>
            </a:r>
            <a:r>
              <a:rPr lang="en-US" sz="3200" b="0" dirty="0"/>
              <a:t>CSS </a:t>
            </a:r>
            <a:r>
              <a:rPr lang="en-US" sz="3200" b="0" dirty="0" smtClean="0"/>
              <a:t>Property with </a:t>
            </a:r>
            <a:r>
              <a:rPr lang="en-US" sz="3200" b="0" dirty="0" err="1" smtClean="0"/>
              <a:t>css</a:t>
            </a:r>
            <a:r>
              <a:rPr lang="en-US" sz="3200" b="0" dirty="0" smtClean="0"/>
              <a:t>()</a:t>
            </a: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a:t>Set a CSS Property</a:t>
            </a:r>
          </a:p>
          <a:p>
            <a:endParaRPr lang="en-US" sz="2400" dirty="0"/>
          </a:p>
          <a:p>
            <a:endParaRPr lang="en-US" sz="2400" dirty="0" smtClean="0"/>
          </a:p>
          <a:p>
            <a:r>
              <a:rPr lang="en-US" sz="2400" dirty="0" smtClean="0"/>
              <a:t>The </a:t>
            </a:r>
            <a:r>
              <a:rPr lang="en-US" sz="2400" dirty="0"/>
              <a:t>following example will set a background-color and a font-size for ALL matched elements:</a:t>
            </a:r>
            <a:r>
              <a:rPr lang="en-US" sz="2400" dirty="0" smtClean="0"/>
              <a:t>:</a:t>
            </a:r>
          </a:p>
          <a:p>
            <a:endParaRPr lang="en-US" sz="2400" dirty="0"/>
          </a:p>
          <a:p>
            <a:r>
              <a:rPr lang="en-US" sz="2400" dirty="0" smtClean="0"/>
              <a:t> </a:t>
            </a:r>
            <a:endParaRPr lang="en-US" sz="2400" dirty="0"/>
          </a:p>
          <a:p>
            <a:endParaRPr lang="en-US" sz="2400" dirty="0" smtClean="0"/>
          </a:p>
          <a:p>
            <a:endParaRPr lang="en-US" sz="2400" dirty="0"/>
          </a:p>
          <a:p>
            <a:endParaRPr lang="en-US" sz="2400" dirty="0" smtClean="0"/>
          </a:p>
          <a:p>
            <a:endParaRPr lang="en-US" sz="2000" dirty="0" smtClean="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51</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6" name="TextBox 5"/>
          <p:cNvSpPr txBox="1"/>
          <p:nvPr/>
        </p:nvSpPr>
        <p:spPr>
          <a:xfrm>
            <a:off x="1066800" y="1768584"/>
            <a:ext cx="7391400" cy="400110"/>
          </a:xfrm>
          <a:prstGeom prst="rect">
            <a:avLst/>
          </a:prstGeom>
          <a:solidFill>
            <a:schemeClr val="accent6">
              <a:lumMod val="40000"/>
              <a:lumOff val="60000"/>
            </a:schemeClr>
          </a:solidFill>
        </p:spPr>
        <p:txBody>
          <a:bodyPr wrap="square" rtlCol="0">
            <a:spAutoFit/>
          </a:bodyPr>
          <a:lstStyle/>
          <a:p>
            <a:r>
              <a:rPr lang="en-US" sz="2000" dirty="0" err="1"/>
              <a:t>css</a:t>
            </a:r>
            <a:r>
              <a:rPr lang="en-US" sz="2000" dirty="0"/>
              <a:t>({"</a:t>
            </a:r>
            <a:r>
              <a:rPr lang="en-US" sz="2000" i="1" dirty="0" err="1"/>
              <a:t>propertyname</a:t>
            </a:r>
            <a:r>
              <a:rPr lang="en-US" sz="2000" dirty="0"/>
              <a:t>":"</a:t>
            </a:r>
            <a:r>
              <a:rPr lang="en-US" sz="2000" i="1" dirty="0"/>
              <a:t>value</a:t>
            </a:r>
            <a:r>
              <a:rPr lang="en-US" sz="2000" dirty="0"/>
              <a:t>","</a:t>
            </a:r>
            <a:r>
              <a:rPr lang="en-US" sz="2000" i="1" dirty="0" err="1"/>
              <a:t>propertyname</a:t>
            </a:r>
            <a:r>
              <a:rPr lang="en-US" sz="2000" dirty="0"/>
              <a:t>":"</a:t>
            </a:r>
            <a:r>
              <a:rPr lang="en-US" sz="2000" i="1" dirty="0"/>
              <a:t>value</a:t>
            </a:r>
            <a:r>
              <a:rPr lang="en-US" sz="2000" dirty="0"/>
              <a:t>",...});</a:t>
            </a:r>
          </a:p>
        </p:txBody>
      </p:sp>
      <p:sp>
        <p:nvSpPr>
          <p:cNvPr id="7" name="TextBox 6"/>
          <p:cNvSpPr txBox="1"/>
          <p:nvPr/>
        </p:nvSpPr>
        <p:spPr>
          <a:xfrm>
            <a:off x="876300" y="3650985"/>
            <a:ext cx="7391400" cy="400110"/>
          </a:xfrm>
          <a:prstGeom prst="rect">
            <a:avLst/>
          </a:prstGeom>
          <a:solidFill>
            <a:schemeClr val="accent6">
              <a:lumMod val="40000"/>
              <a:lumOff val="60000"/>
            </a:schemeClr>
          </a:solidFill>
        </p:spPr>
        <p:txBody>
          <a:bodyPr wrap="square" rtlCol="0">
            <a:spAutoFit/>
          </a:bodyPr>
          <a:lstStyle/>
          <a:p>
            <a:r>
              <a:rPr lang="en-US" sz="2000" dirty="0"/>
              <a:t>$("p").</a:t>
            </a:r>
            <a:r>
              <a:rPr lang="en-US" sz="2000" dirty="0" err="1"/>
              <a:t>css</a:t>
            </a:r>
            <a:r>
              <a:rPr lang="en-US" sz="2000" dirty="0"/>
              <a:t>({"background-color":"yellow","font-size":"200%"});</a:t>
            </a:r>
          </a:p>
        </p:txBody>
      </p:sp>
      <p:sp>
        <p:nvSpPr>
          <p:cNvPr id="8" name="5-Point Star 7"/>
          <p:cNvSpPr/>
          <p:nvPr/>
        </p:nvSpPr>
        <p:spPr>
          <a:xfrm rot="18984008">
            <a:off x="7945523" y="34421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778740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 Dimensions</a:t>
            </a: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err="1"/>
              <a:t>jQuery</a:t>
            </a:r>
            <a:r>
              <a:rPr lang="en-US" sz="2400" dirty="0"/>
              <a:t> Dimension Methods</a:t>
            </a:r>
          </a:p>
          <a:p>
            <a:r>
              <a:rPr lang="en-US" sz="2400" dirty="0" err="1"/>
              <a:t>jQuery</a:t>
            </a:r>
            <a:r>
              <a:rPr lang="en-US" sz="2400" dirty="0"/>
              <a:t> has several important methods for working with dimensions:</a:t>
            </a:r>
          </a:p>
          <a:p>
            <a:r>
              <a:rPr lang="en-US" sz="2400" dirty="0"/>
              <a:t>width()</a:t>
            </a:r>
          </a:p>
          <a:p>
            <a:r>
              <a:rPr lang="en-US" sz="2400" dirty="0"/>
              <a:t>height()</a:t>
            </a:r>
          </a:p>
          <a:p>
            <a:r>
              <a:rPr lang="en-US" sz="2400" dirty="0" err="1"/>
              <a:t>innerWidth</a:t>
            </a:r>
            <a:r>
              <a:rPr lang="en-US" sz="2400" dirty="0"/>
              <a:t>()</a:t>
            </a:r>
          </a:p>
          <a:p>
            <a:r>
              <a:rPr lang="en-US" sz="2400" dirty="0" err="1"/>
              <a:t>innerHeight</a:t>
            </a:r>
            <a:r>
              <a:rPr lang="en-US" sz="2400" dirty="0"/>
              <a:t>()</a:t>
            </a:r>
          </a:p>
          <a:p>
            <a:r>
              <a:rPr lang="en-US" sz="2400" dirty="0" err="1"/>
              <a:t>outerWidth</a:t>
            </a:r>
            <a:r>
              <a:rPr lang="en-US" sz="2400" dirty="0"/>
              <a:t>()</a:t>
            </a:r>
          </a:p>
          <a:p>
            <a:r>
              <a:rPr lang="en-US" sz="2400" dirty="0" err="1"/>
              <a:t>outerHeight</a:t>
            </a:r>
            <a:r>
              <a:rPr lang="en-US" sz="2400" dirty="0"/>
              <a:t>()</a:t>
            </a:r>
          </a:p>
          <a:p>
            <a:r>
              <a:rPr lang="en-US" sz="2400" dirty="0"/>
              <a:t/>
            </a:r>
            <a:br>
              <a:rPr lang="en-US" sz="2400" dirty="0"/>
            </a:br>
            <a:r>
              <a:rPr lang="en-US" sz="2400" dirty="0"/>
              <a:t> </a:t>
            </a:r>
          </a:p>
          <a:p>
            <a:endParaRPr lang="en-US" sz="2400" dirty="0" smtClean="0"/>
          </a:p>
          <a:p>
            <a:endParaRPr lang="en-US" sz="2400" dirty="0"/>
          </a:p>
          <a:p>
            <a:endParaRPr lang="en-US" sz="2400" dirty="0" smtClean="0"/>
          </a:p>
          <a:p>
            <a:endParaRPr lang="en-US" sz="2000" dirty="0" smtClean="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52</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1098" y="2286000"/>
            <a:ext cx="4900613"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5-Point Star 6"/>
          <p:cNvSpPr/>
          <p:nvPr/>
        </p:nvSpPr>
        <p:spPr>
          <a:xfrm rot="18984008">
            <a:off x="7945523" y="322054"/>
            <a:ext cx="914400" cy="914400"/>
          </a:xfrm>
          <a:prstGeom prst="star5">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841241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 width() and height()</a:t>
            </a: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a:t>The width() method sets or returns the width of an element (includes NO padding, border, or margin).</a:t>
            </a:r>
          </a:p>
          <a:p>
            <a:r>
              <a:rPr lang="en-US" sz="2400" dirty="0"/>
              <a:t>The height() method sets or returns the height of an element (includes NO padding, border, or margin).</a:t>
            </a:r>
          </a:p>
          <a:p>
            <a:r>
              <a:rPr lang="en-US" sz="2400" dirty="0"/>
              <a:t>The following example returns the width and height of a specified &lt;div&gt; element:</a:t>
            </a:r>
          </a:p>
          <a:p>
            <a:endParaRPr lang="en-US" sz="2400" dirty="0" smtClean="0"/>
          </a:p>
          <a:p>
            <a:endParaRPr lang="en-US" sz="2400" dirty="0"/>
          </a:p>
          <a:p>
            <a:endParaRPr lang="en-US" sz="2400" dirty="0" smtClean="0"/>
          </a:p>
          <a:p>
            <a:endParaRPr lang="en-US" sz="2400" dirty="0"/>
          </a:p>
          <a:p>
            <a:endParaRPr lang="en-US" sz="2400" dirty="0" smtClean="0"/>
          </a:p>
          <a:p>
            <a:r>
              <a:rPr lang="en-US" sz="2400" dirty="0"/>
              <a:t> DEMO : Eg11 - WidthHeight.html</a:t>
            </a:r>
            <a:br>
              <a:rPr lang="en-US" sz="2400" dirty="0"/>
            </a:br>
            <a:r>
              <a:rPr lang="en-US" sz="2400" dirty="0"/>
              <a:t> </a:t>
            </a:r>
          </a:p>
          <a:p>
            <a:endParaRPr lang="en-US" sz="2400" dirty="0" smtClean="0"/>
          </a:p>
          <a:p>
            <a:endParaRPr lang="en-US" sz="2400" dirty="0"/>
          </a:p>
          <a:p>
            <a:endParaRPr lang="en-US" sz="2400" dirty="0" smtClean="0"/>
          </a:p>
          <a:p>
            <a:endParaRPr lang="en-US" sz="2000" dirty="0" smtClean="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53</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7" name="TextBox 6"/>
          <p:cNvSpPr txBox="1"/>
          <p:nvPr/>
        </p:nvSpPr>
        <p:spPr>
          <a:xfrm>
            <a:off x="1066800" y="4095690"/>
            <a:ext cx="7391400" cy="1938992"/>
          </a:xfrm>
          <a:prstGeom prst="rect">
            <a:avLst/>
          </a:prstGeom>
          <a:solidFill>
            <a:schemeClr val="accent6">
              <a:lumMod val="40000"/>
              <a:lumOff val="60000"/>
            </a:schemeClr>
          </a:solidFill>
        </p:spPr>
        <p:txBody>
          <a:bodyPr wrap="square" rtlCol="0">
            <a:spAutoFit/>
          </a:bodyPr>
          <a:lstStyle/>
          <a:p>
            <a:r>
              <a:rPr lang="en-US" sz="2000" dirty="0"/>
              <a:t>$("button").click(function(){</a:t>
            </a:r>
            <a:br>
              <a:rPr lang="en-US" sz="2000" dirty="0"/>
            </a:br>
            <a:r>
              <a:rPr lang="en-US" sz="2000" dirty="0"/>
              <a:t>  </a:t>
            </a:r>
            <a:r>
              <a:rPr lang="en-US" sz="2000" dirty="0" err="1"/>
              <a:t>var</a:t>
            </a:r>
            <a:r>
              <a:rPr lang="en-US" sz="2000" dirty="0"/>
              <a:t> txt="";</a:t>
            </a:r>
            <a:br>
              <a:rPr lang="en-US" sz="2000" dirty="0"/>
            </a:br>
            <a:r>
              <a:rPr lang="en-US" sz="2000" dirty="0"/>
              <a:t>  txt+="Width: " + $("#div1").width() + "&lt;/</a:t>
            </a:r>
            <a:r>
              <a:rPr lang="en-US" sz="2000" dirty="0" err="1"/>
              <a:t>br</a:t>
            </a:r>
            <a:r>
              <a:rPr lang="en-US" sz="2000" dirty="0"/>
              <a:t>&gt;";</a:t>
            </a:r>
            <a:br>
              <a:rPr lang="en-US" sz="2000" dirty="0"/>
            </a:br>
            <a:r>
              <a:rPr lang="en-US" sz="2000" dirty="0"/>
              <a:t>  txt+="Height: " + $("#div1").height();</a:t>
            </a:r>
            <a:br>
              <a:rPr lang="en-US" sz="2000" dirty="0"/>
            </a:br>
            <a:r>
              <a:rPr lang="en-US" sz="2000" dirty="0"/>
              <a:t>  $("#div1").html(txt);</a:t>
            </a:r>
            <a:br>
              <a:rPr lang="en-US" sz="2000" dirty="0"/>
            </a:br>
            <a:r>
              <a:rPr lang="en-US" sz="2000" dirty="0"/>
              <a:t>});</a:t>
            </a:r>
          </a:p>
        </p:txBody>
      </p:sp>
    </p:spTree>
    <p:extLst>
      <p:ext uri="{BB962C8B-B14F-4D97-AF65-F5344CB8AC3E}">
        <p14:creationId xmlns:p14="http://schemas.microsoft.com/office/powerpoint/2010/main" val="100200760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6620" y="274638"/>
            <a:ext cx="7700180" cy="944562"/>
          </a:xfrm>
        </p:spPr>
        <p:txBody>
          <a:bodyPr>
            <a:noAutofit/>
          </a:bodyPr>
          <a:lstStyle/>
          <a:p>
            <a:r>
              <a:rPr lang="en-US" sz="3200" b="0" dirty="0" err="1" smtClean="0"/>
              <a:t>jQuery</a:t>
            </a:r>
            <a:r>
              <a:rPr lang="en-US" sz="3200" b="0" dirty="0" smtClean="0"/>
              <a:t> : Useful References</a:t>
            </a:r>
            <a:endParaRPr lang="en-US" sz="3200" b="0" dirty="0"/>
          </a:p>
        </p:txBody>
      </p:sp>
      <p:sp>
        <p:nvSpPr>
          <p:cNvPr id="3" name="Content Placeholder 2"/>
          <p:cNvSpPr>
            <a:spLocks noGrp="1"/>
          </p:cNvSpPr>
          <p:nvPr>
            <p:ph idx="1"/>
          </p:nvPr>
        </p:nvSpPr>
        <p:spPr>
          <a:xfrm>
            <a:off x="762000" y="1295400"/>
            <a:ext cx="8153400" cy="5562600"/>
          </a:xfrm>
        </p:spPr>
        <p:txBody>
          <a:bodyPr>
            <a:normAutofit/>
          </a:bodyPr>
          <a:lstStyle/>
          <a:p>
            <a:r>
              <a:rPr lang="en-US" sz="2400" dirty="0"/>
              <a:t/>
            </a:r>
            <a:br>
              <a:rPr lang="en-US" sz="2400" dirty="0"/>
            </a:br>
            <a:r>
              <a:rPr lang="en-US" sz="2400" dirty="0"/>
              <a:t> </a:t>
            </a:r>
          </a:p>
          <a:p>
            <a:endParaRPr lang="en-US" sz="2400" dirty="0" smtClean="0"/>
          </a:p>
          <a:p>
            <a:endParaRPr lang="en-US" sz="2400" dirty="0"/>
          </a:p>
          <a:p>
            <a:endParaRPr lang="en-US" sz="2400" dirty="0" smtClean="0"/>
          </a:p>
          <a:p>
            <a:endParaRPr lang="en-US" sz="2000" dirty="0" smtClean="0"/>
          </a:p>
        </p:txBody>
      </p:sp>
      <p:sp>
        <p:nvSpPr>
          <p:cNvPr id="5" name="Slide Number Placeholder 4"/>
          <p:cNvSpPr>
            <a:spLocks noGrp="1"/>
          </p:cNvSpPr>
          <p:nvPr>
            <p:ph type="sldNum" sz="quarter" idx="12"/>
          </p:nvPr>
        </p:nvSpPr>
        <p:spPr>
          <a:xfrm>
            <a:off x="5715000" y="6492875"/>
            <a:ext cx="457200" cy="365125"/>
          </a:xfrm>
        </p:spPr>
        <p:txBody>
          <a:bodyPr/>
          <a:lstStyle/>
          <a:p>
            <a:fld id="{A6724466-CF14-4098-A57E-6BA1C4EB8FEB}" type="slidenum">
              <a:rPr lang="en-US" smtClean="0"/>
              <a:pPr/>
              <a:t>54</a:t>
            </a:fld>
            <a:endParaRPr lang="en-US"/>
          </a:p>
        </p:txBody>
      </p:sp>
      <p:sp>
        <p:nvSpPr>
          <p:cNvPr id="91137" name="Rectangle 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r>
              <a:rPr kumimoji="0" lang="en-US" sz="1800" b="0" i="0" u="none" strike="noStrike" cap="none" normalizeH="0" baseline="0" smtClean="0">
                <a:ln>
                  <a:noFill/>
                </a:ln>
                <a:solidFill>
                  <a:schemeClr val="tx1"/>
                </a:solidFill>
                <a:effectLst/>
                <a:latin typeface="Arial" charset="0"/>
                <a:cs typeface="Arial" charset="0"/>
              </a:rPr>
              <a:t/>
            </a:r>
            <a:br>
              <a:rPr kumimoji="0" lang="en-US" sz="1800" b="0" i="0" u="none" strike="noStrike" cap="none" normalizeH="0" baseline="0" smtClean="0">
                <a:ln>
                  <a:noFill/>
                </a:ln>
                <a:solidFill>
                  <a:schemeClr val="tx1"/>
                </a:solidFill>
                <a:effectLst/>
                <a:latin typeface="Arial" charset="0"/>
                <a:cs typeface="Arial" charset="0"/>
              </a:rPr>
            </a:br>
            <a:endParaRPr kumimoji="0" lang="en-US" sz="1800" b="0" i="0" u="none" strike="noStrike" cap="none" normalizeH="0" baseline="0" smtClean="0">
              <a:ln>
                <a:noFill/>
              </a:ln>
              <a:solidFill>
                <a:schemeClr val="tx1"/>
              </a:solidFill>
              <a:effectLst/>
              <a:latin typeface="Arial" charset="0"/>
              <a:cs typeface="Arial" charset="0"/>
            </a:endParaRPr>
          </a:p>
        </p:txBody>
      </p:sp>
      <p:sp>
        <p:nvSpPr>
          <p:cNvPr id="7" name="TextBox 6"/>
          <p:cNvSpPr txBox="1"/>
          <p:nvPr/>
        </p:nvSpPr>
        <p:spPr>
          <a:xfrm>
            <a:off x="1066800" y="1524000"/>
            <a:ext cx="7391400" cy="4093428"/>
          </a:xfrm>
          <a:prstGeom prst="rect">
            <a:avLst/>
          </a:prstGeom>
          <a:solidFill>
            <a:schemeClr val="accent6">
              <a:lumMod val="40000"/>
              <a:lumOff val="60000"/>
            </a:schemeClr>
          </a:solidFill>
        </p:spPr>
        <p:txBody>
          <a:bodyPr wrap="square" rtlCol="0">
            <a:spAutoFit/>
          </a:bodyPr>
          <a:lstStyle/>
          <a:p>
            <a:r>
              <a:rPr lang="en-US" sz="2000" dirty="0" err="1" smtClean="0"/>
              <a:t>Jquery</a:t>
            </a:r>
            <a:r>
              <a:rPr lang="en-US" sz="2000" dirty="0" smtClean="0"/>
              <a:t> Selector: </a:t>
            </a:r>
            <a:r>
              <a:rPr lang="en-US" sz="2000" dirty="0">
                <a:hlinkClick r:id="rId3"/>
              </a:rPr>
              <a:t>http://</a:t>
            </a:r>
            <a:r>
              <a:rPr lang="en-US" sz="2000" dirty="0" smtClean="0">
                <a:hlinkClick r:id="rId3"/>
              </a:rPr>
              <a:t>w3schools.com/jquery/jquery_ref_selectors.asp</a:t>
            </a:r>
            <a:endParaRPr lang="en-US" sz="2000" dirty="0" smtClean="0"/>
          </a:p>
          <a:p>
            <a:endParaRPr lang="en-US" sz="2000" dirty="0"/>
          </a:p>
          <a:p>
            <a:r>
              <a:rPr lang="en-US" sz="2000" dirty="0" err="1" smtClean="0"/>
              <a:t>Jquery</a:t>
            </a:r>
            <a:r>
              <a:rPr lang="en-US" sz="2000" dirty="0" smtClean="0"/>
              <a:t> events:</a:t>
            </a:r>
          </a:p>
          <a:p>
            <a:r>
              <a:rPr lang="en-US" sz="2000" dirty="0">
                <a:hlinkClick r:id="rId4"/>
              </a:rPr>
              <a:t>http://</a:t>
            </a:r>
            <a:r>
              <a:rPr lang="en-US" sz="2000" dirty="0" smtClean="0">
                <a:hlinkClick r:id="rId4"/>
              </a:rPr>
              <a:t>w3schools.com/jquery/jquery_ref_events.asp</a:t>
            </a:r>
            <a:endParaRPr lang="en-US" sz="2000" dirty="0" smtClean="0"/>
          </a:p>
          <a:p>
            <a:endParaRPr lang="en-US" sz="2000" dirty="0"/>
          </a:p>
          <a:p>
            <a:r>
              <a:rPr lang="en-US" sz="2000" dirty="0" err="1" smtClean="0"/>
              <a:t>Jquery</a:t>
            </a:r>
            <a:r>
              <a:rPr lang="en-US" sz="2000" dirty="0" smtClean="0"/>
              <a:t> Effects:</a:t>
            </a:r>
          </a:p>
          <a:p>
            <a:r>
              <a:rPr lang="en-US" sz="2000" dirty="0">
                <a:hlinkClick r:id="rId5"/>
              </a:rPr>
              <a:t>http://</a:t>
            </a:r>
            <a:r>
              <a:rPr lang="en-US" sz="2000" dirty="0" smtClean="0">
                <a:hlinkClick r:id="rId5"/>
              </a:rPr>
              <a:t>w3schools.com/jquery/jquery_ref_effects.asp</a:t>
            </a:r>
            <a:endParaRPr lang="en-US" sz="2000" dirty="0" smtClean="0"/>
          </a:p>
          <a:p>
            <a:endParaRPr lang="en-US" sz="2000" dirty="0"/>
          </a:p>
          <a:p>
            <a:r>
              <a:rPr lang="en-US" sz="2000" dirty="0" err="1" smtClean="0"/>
              <a:t>Jquery</a:t>
            </a:r>
            <a:r>
              <a:rPr lang="en-US" sz="2000" dirty="0" smtClean="0"/>
              <a:t> HTML/CSS manipulation methods:</a:t>
            </a:r>
          </a:p>
          <a:p>
            <a:r>
              <a:rPr lang="en-US" sz="2000" dirty="0">
                <a:hlinkClick r:id="rId6"/>
              </a:rPr>
              <a:t>http://w3schools.com/jquery/jquery_ref_html.asp</a:t>
            </a:r>
            <a:endParaRPr lang="en-US" sz="2000" dirty="0" smtClean="0"/>
          </a:p>
          <a:p>
            <a:endParaRPr lang="en-US" sz="2000" dirty="0"/>
          </a:p>
          <a:p>
            <a:endParaRPr lang="en-US" sz="2000" dirty="0"/>
          </a:p>
        </p:txBody>
      </p:sp>
    </p:spTree>
    <p:extLst>
      <p:ext uri="{BB962C8B-B14F-4D97-AF65-F5344CB8AC3E}">
        <p14:creationId xmlns:p14="http://schemas.microsoft.com/office/powerpoint/2010/main" val="2531962007"/>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F24B5D243E8524B805AE9E6462128D5" ma:contentTypeVersion="0" ma:contentTypeDescription="Create a new document." ma:contentTypeScope="" ma:versionID="e66dd09a9d80fa3eca15220829d7fdcb">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E4A77F67-C282-4373-9A32-27375E749539}">
  <ds:schemaRefs>
    <ds:schemaRef ds:uri="http://schemas.microsoft.com/sharepoint/v3/contenttype/forms"/>
  </ds:schemaRefs>
</ds:datastoreItem>
</file>

<file path=customXml/itemProps2.xml><?xml version="1.0" encoding="utf-8"?>
<ds:datastoreItem xmlns:ds="http://schemas.openxmlformats.org/officeDocument/2006/customXml" ds:itemID="{9DA0D4D3-22A4-4BA6-B72A-0EA0A9DD58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2CAF96FE-069F-4E95-9021-A70B136A67F9}">
  <ds:schemaRefs>
    <ds:schemaRef ds:uri="http://schemas.openxmlformats.org/package/2006/metadata/core-properties"/>
    <ds:schemaRef ds:uri="http://schemas.microsoft.com/office/2006/documentManagement/types"/>
    <ds:schemaRef ds:uri="http://schemas.microsoft.com/office/2006/metadata/properties"/>
    <ds:schemaRef ds:uri="http://purl.org/dc/dcmitype/"/>
    <ds:schemaRef ds:uri="http://purl.org/dc/terms/"/>
    <ds:schemaRef ds:uri="http://purl.org/dc/elements/1.1/"/>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Austin</Template>
  <TotalTime>8509</TotalTime>
  <Words>3632</Words>
  <Application>Microsoft Office PowerPoint</Application>
  <PresentationFormat>On-screen Show (4:3)</PresentationFormat>
  <Paragraphs>784</Paragraphs>
  <Slides>54</Slides>
  <Notes>53</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ppt template</vt:lpstr>
      <vt:lpstr>IT1322 – Principles of Web Usability Design</vt:lpstr>
      <vt:lpstr>IT1322 – Principles of Web Usability Design</vt:lpstr>
      <vt:lpstr>Installing Jquery</vt:lpstr>
      <vt:lpstr>Installing Jquery</vt:lpstr>
      <vt:lpstr>Installing Jquery –   Download and host jQuery yourself</vt:lpstr>
      <vt:lpstr>Installing Jquery –  Hosted on CDN (Eg Google)</vt:lpstr>
      <vt:lpstr>Jquery Syntax</vt:lpstr>
      <vt:lpstr>Jquery Syntax</vt:lpstr>
      <vt:lpstr> The Document Ready Event </vt:lpstr>
      <vt:lpstr> The Document Ready Event </vt:lpstr>
      <vt:lpstr>Jquery Selector</vt:lpstr>
      <vt:lpstr>Jquery Element Selector</vt:lpstr>
      <vt:lpstr>Jquery #Id Selector</vt:lpstr>
      <vt:lpstr>Jquery Class Selector</vt:lpstr>
      <vt:lpstr>Jquery  Selectors – More Eg.</vt:lpstr>
      <vt:lpstr>Jquery codes in a separate file</vt:lpstr>
      <vt:lpstr>Jquery Event Methods</vt:lpstr>
      <vt:lpstr>Event Handling jQuery Syntax  </vt:lpstr>
      <vt:lpstr>Useful jQuery Event Methods</vt:lpstr>
      <vt:lpstr>Useful jQuery Event Methods</vt:lpstr>
      <vt:lpstr>Useful jQuery Event Methods</vt:lpstr>
      <vt:lpstr>Useful jQuery Event Methods</vt:lpstr>
      <vt:lpstr>Useful jQuery Event Methods</vt:lpstr>
      <vt:lpstr>Useful jQuery Event Methods</vt:lpstr>
      <vt:lpstr>jQuery Effects </vt:lpstr>
      <vt:lpstr>jQuery Effects </vt:lpstr>
      <vt:lpstr>jQuery Effects –Toggle() </vt:lpstr>
      <vt:lpstr>jQuery Effects –FadeIn()</vt:lpstr>
      <vt:lpstr>jQuery Effects –fadeOut()</vt:lpstr>
      <vt:lpstr>jQuery Effects –fadeToggle() </vt:lpstr>
      <vt:lpstr>jQuery Effects –Slide() </vt:lpstr>
      <vt:lpstr>jQuery Effects –Animate() </vt:lpstr>
      <vt:lpstr>jQuery animate() - Using Relative Values</vt:lpstr>
      <vt:lpstr>jQuery animate() - Using Pre-defined Values</vt:lpstr>
      <vt:lpstr>jQuery animate() - Uses Queue Functionality</vt:lpstr>
      <vt:lpstr>jQuery stop() Method</vt:lpstr>
      <vt:lpstr>jQuery Callback Functions</vt:lpstr>
      <vt:lpstr>jQuery Chaining</vt:lpstr>
      <vt:lpstr>jQuery - Get Content and Attributes</vt:lpstr>
      <vt:lpstr>jQuery -  Get Content - text(), html(), and val() </vt:lpstr>
      <vt:lpstr>jQuery -  Get Content - text(), html(), and val() </vt:lpstr>
      <vt:lpstr>jQuery -  Get Attributes - attr() </vt:lpstr>
      <vt:lpstr>jQuery -  Set Content - text(), html(), and val() </vt:lpstr>
      <vt:lpstr>jQuery -  Set Content - text(), html(), and val() </vt:lpstr>
      <vt:lpstr>jQuery  Set Attributes  - Attr()</vt:lpstr>
      <vt:lpstr>jQuery  Set Attributes  - Attr()</vt:lpstr>
      <vt:lpstr>jQuery : Get and Set CSS Classes</vt:lpstr>
      <vt:lpstr>jQuery : Add and Toggle Class</vt:lpstr>
      <vt:lpstr>jQuery : CSS() Method</vt:lpstr>
      <vt:lpstr>jQuery : Set a CSS Property with css()</vt:lpstr>
      <vt:lpstr>jQuery : Set multiple CSS Property with css()</vt:lpstr>
      <vt:lpstr>jQuery : Dimensions</vt:lpstr>
      <vt:lpstr>jQuery : width() and height()</vt:lpstr>
      <vt:lpstr>jQuery : Useful 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IT1322 – Principles of Web Usability Design</dc:title>
  <dc:creator>EvyLim</dc:creator>
  <cp:lastModifiedBy>Phua Chwee San</cp:lastModifiedBy>
  <cp:revision>261</cp:revision>
  <dcterms:created xsi:type="dcterms:W3CDTF">2012-03-19T05:26:54Z</dcterms:created>
  <dcterms:modified xsi:type="dcterms:W3CDTF">2013-11-18T07:14:53Z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0x010100CF24B5D243E8524B805AE9E6462128D5</vt:lpwstr>
  </property>
</Properties>
</file>