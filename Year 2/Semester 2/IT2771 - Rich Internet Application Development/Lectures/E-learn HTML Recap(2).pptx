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3" r:id="rId4"/>
  </p:sldMasterIdLst>
  <p:notesMasterIdLst>
    <p:notesMasterId r:id="rId26"/>
  </p:notesMasterIdLst>
  <p:sldIdLst>
    <p:sldId id="256" r:id="rId5"/>
    <p:sldId id="259" r:id="rId6"/>
    <p:sldId id="264" r:id="rId7"/>
    <p:sldId id="266" r:id="rId8"/>
    <p:sldId id="278" r:id="rId9"/>
    <p:sldId id="279" r:id="rId10"/>
    <p:sldId id="280" r:id="rId11"/>
    <p:sldId id="282" r:id="rId12"/>
    <p:sldId id="281" r:id="rId13"/>
    <p:sldId id="283" r:id="rId14"/>
    <p:sldId id="285" r:id="rId15"/>
    <p:sldId id="286" r:id="rId16"/>
    <p:sldId id="287" r:id="rId17"/>
    <p:sldId id="288" r:id="rId18"/>
    <p:sldId id="289" r:id="rId19"/>
    <p:sldId id="290" r:id="rId20"/>
    <p:sldId id="294" r:id="rId21"/>
    <p:sldId id="291" r:id="rId22"/>
    <p:sldId id="295" r:id="rId23"/>
    <p:sldId id="292" r:id="rId24"/>
    <p:sldId id="293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1" d="100"/>
          <a:sy n="71" d="100"/>
        </p:scale>
        <p:origin x="-1500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8" d="100"/>
          <a:sy n="58" d="100"/>
        </p:scale>
        <p:origin x="-3012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FC81E0-B6C5-45F7-80FB-354CF568EA3B}" type="datetimeFigureOut">
              <a:rPr lang="en-US" smtClean="0"/>
              <a:t>9/25/2012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46394E-C66E-42AD-894C-FFC0DEF888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3895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46394E-C66E-42AD-894C-FFC0DEF888E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0182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Demo: firsthtml.html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46394E-C66E-42AD-894C-FFC0DEF888E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4113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Demo: html-styles.html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46394E-C66E-42AD-894C-FFC0DEF888E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9265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Demo: html-tables.html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46394E-C66E-42AD-894C-FFC0DEF888E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4482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Demo: html-lists.html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46394E-C66E-42AD-894C-FFC0DEF888E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7272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Demo: html-textfields.html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46394E-C66E-42AD-894C-FFC0DEF888E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9088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Demo: html-selectoption.html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46394E-C66E-42AD-894C-FFC0DEF888E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6605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Demo: html-submit.html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46394E-C66E-42AD-894C-FFC0DEF888E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087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gif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4649096" y="-21511"/>
            <a:ext cx="3505200" cy="23128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33365" y="2708476"/>
            <a:ext cx="3313355" cy="170216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33365" y="4421080"/>
            <a:ext cx="3309803" cy="126062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42424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38744" y="1516828"/>
            <a:ext cx="2133600" cy="750981"/>
          </a:xfrm>
        </p:spPr>
        <p:txBody>
          <a:bodyPr anchor="b"/>
          <a:lstStyle>
            <a:lvl1pPr algn="l">
              <a:defRPr sz="2400"/>
            </a:lvl1pPr>
          </a:lstStyle>
          <a:p>
            <a:fld id="{0A98AF03-7270-45C2-A683-C5E353EF01A5}" type="datetime4">
              <a:rPr lang="en-US" smtClean="0"/>
              <a:pPr/>
              <a:t>September 25, 2012</a:t>
            </a:fld>
            <a:endParaRPr lang="en-US" dirty="0"/>
          </a:p>
        </p:txBody>
      </p:sp>
      <p:sp>
        <p:nvSpPr>
          <p:cNvPr id="50" name="Rectangle 49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03520" y="5719966"/>
            <a:ext cx="2831592" cy="3651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IT1322 2012 S1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9096" y="5719966"/>
            <a:ext cx="643666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A6724466-CF14-4098-A57E-6BA1C4EB8FEB}" type="slidenum">
              <a:rPr lang="en-US" smtClean="0"/>
              <a:t>‹#›</a:t>
            </a:fld>
            <a:endParaRPr lang="en-US"/>
          </a:p>
        </p:txBody>
      </p:sp>
      <p:sp>
        <p:nvSpPr>
          <p:cNvPr id="89" name="Rectangle 88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2" name="Group 71"/>
          <p:cNvGrpSpPr/>
          <p:nvPr userDrawn="1"/>
        </p:nvGrpSpPr>
        <p:grpSpPr>
          <a:xfrm>
            <a:off x="1219200" y="1493963"/>
            <a:ext cx="7162800" cy="5175397"/>
            <a:chOff x="1219200" y="1493963"/>
            <a:chExt cx="7162800" cy="5175397"/>
          </a:xfrm>
        </p:grpSpPr>
        <p:pic>
          <p:nvPicPr>
            <p:cNvPr id="84" name="Picture 83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10000" y="1493963"/>
              <a:ext cx="4572000" cy="5059237"/>
            </a:xfrm>
            <a:prstGeom prst="rect">
              <a:avLst/>
            </a:prstGeom>
          </p:spPr>
        </p:pic>
        <p:pic>
          <p:nvPicPr>
            <p:cNvPr id="80" name="Picture 79"/>
            <p:cNvPicPr>
              <a:picLocks noChangeAspect="1"/>
            </p:cNvPicPr>
            <p:nvPr userDrawn="1"/>
          </p:nvPicPr>
          <p:blipFill>
            <a:blip r:embed="rId3" cstate="print">
              <a:clrChange>
                <a:clrFrom>
                  <a:srgbClr val="FFFFFD"/>
                </a:clrFrom>
                <a:clrTo>
                  <a:srgbClr val="FFFFFD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10400" y="6282570"/>
              <a:ext cx="900611" cy="386790"/>
            </a:xfrm>
            <a:prstGeom prst="rect">
              <a:avLst/>
            </a:prstGeom>
          </p:spPr>
        </p:pic>
        <p:pic>
          <p:nvPicPr>
            <p:cNvPr id="82" name="Picture 81"/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9200" y="6332899"/>
              <a:ext cx="1428811" cy="286132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93482-8E69-40F7-BCAD-5662A6CADB27}" type="datetime4">
              <a:rPr lang="en-US" smtClean="0"/>
              <a:pPr/>
              <a:t>September 25, 2012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990600"/>
            <a:ext cx="6637468" cy="1362075"/>
          </a:xfrm>
        </p:spPr>
        <p:txBody>
          <a:bodyPr anchor="b"/>
          <a:lstStyle>
            <a:lvl1pPr algn="l">
              <a:defRPr sz="4000" b="0" cap="none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9200" y="2438400"/>
            <a:ext cx="6637467" cy="1520413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7EAE1-CAAC-4AEF-919E-158692B1E55E}" type="datetime4">
              <a:rPr lang="en-US" smtClean="0"/>
              <a:pPr/>
              <a:t>September 25, 2012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5A706-D8F2-4D1A-855A-CADC92600C26}" type="datetime4">
              <a:rPr lang="en-US" smtClean="0"/>
              <a:pPr/>
              <a:t>September 25, 2012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042416" y="2313432"/>
            <a:ext cx="3419856" cy="349300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313431"/>
            <a:ext cx="3419856" cy="349300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2111" y="2316009"/>
            <a:ext cx="305714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721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1837" y="2316010"/>
            <a:ext cx="30557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4F123-1704-49AC-9D15-C4B1462B8014}" type="datetime4">
              <a:rPr lang="en-US" smtClean="0"/>
              <a:pPr/>
              <a:t>September 25, 2012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IT1322 2012 S1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2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4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 79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7" name="Freeform 46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reeform 58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Freeform 69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49BF1-FCD3-4395-8FF6-0047AF66228E}" type="datetime4">
              <a:rPr lang="en-US" smtClean="0"/>
              <a:pPr/>
              <a:t>September 25, 2012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t>‹#›</a:t>
            </a:fld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5894" y="856527"/>
            <a:ext cx="3090440" cy="5150734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1" name="Rectangle 60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smtClean="0"/>
              <a:t>IT1322 2012 S1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9833" y="2657434"/>
            <a:ext cx="3304572" cy="1463153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6592" y="4136994"/>
            <a:ext cx="3298784" cy="151790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5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7" name="Rectangle 8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6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84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7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8" name="Rectangle 77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Freeform 45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Freeform 62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Hexagon 69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Hexagon 70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Hexagon 71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 72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Freeform 73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4" name="Rectangle 93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rgbClr val="FFFFFF"/>
          </a:solidFill>
          <a:ln w="31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4424" y="2660904"/>
            <a:ext cx="3300984" cy="146304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05208" y="693795"/>
            <a:ext cx="3359623" cy="5468112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4630" y="4133088"/>
            <a:ext cx="3300573" cy="151956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61222-2C8B-4501-BE87-6797EC025925}" type="datetime4">
              <a:rPr lang="en-US" smtClean="0"/>
              <a:pPr/>
              <a:t>September 25, 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smtClean="0"/>
              <a:t>IT1322 2012 S1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B5AFD-D735-4504-A039-ADEBB6448D55}" type="datetime4">
              <a:rPr lang="en-US" smtClean="0"/>
              <a:pPr/>
              <a:t>September 25, 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IT1322 2012 S1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030147"/>
            <a:ext cx="1484453" cy="4780344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53296" y="1030147"/>
            <a:ext cx="5423704" cy="47803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C8118-FB93-4E87-B380-0175F2FE2167}" type="datetime4">
              <a:rPr lang="en-US" smtClean="0"/>
              <a:pPr/>
              <a:t>September 25, 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IT1322 2012 S1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304800" y="0"/>
            <a:ext cx="9932332" cy="68580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6" name="Rectangle 65"/>
          <p:cNvSpPr/>
          <p:nvPr/>
        </p:nvSpPr>
        <p:spPr>
          <a:xfrm>
            <a:off x="446442" y="451022"/>
            <a:ext cx="8229600" cy="618564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4561242" y="-21511"/>
            <a:ext cx="3679116" cy="699244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57714" y="290459"/>
            <a:ext cx="7024744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2004" y="1579947"/>
            <a:ext cx="6777317" cy="35089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EFEFE"/>
                </a:solidFill>
              </a:defRPr>
            </a:lvl1pPr>
          </a:lstStyle>
          <a:p>
            <a:fld id="{16C01193-8287-4834-A286-6B880643E934}" type="datetime4">
              <a:rPr lang="en-US" smtClean="0"/>
              <a:pPr/>
              <a:t>September 25, 2012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EFEFE"/>
                </a:solidFill>
              </a:defRPr>
            </a:lvl1pPr>
          </a:lstStyle>
          <a:p>
            <a:fld id="{A6724466-CF14-4098-A57E-6BA1C4EB8FE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2471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2588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w3schools.com/html/html_intro.asp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w3schools.com/html/html_intro.asp" TargetMode="Externa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://validator.w3.org/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w3schools.com/html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24400" y="660040"/>
            <a:ext cx="3313355" cy="1702160"/>
          </a:xfrm>
        </p:spPr>
        <p:txBody>
          <a:bodyPr>
            <a:noAutofit/>
          </a:bodyPr>
          <a:lstStyle/>
          <a:p>
            <a:r>
              <a:rPr lang="en-US" dirty="0" smtClean="0"/>
              <a:t>IT2771 </a:t>
            </a:r>
            <a:r>
              <a:rPr lang="en-US" dirty="0" smtClean="0"/>
              <a:t>– </a:t>
            </a:r>
            <a:r>
              <a:rPr lang="en-US" dirty="0" smtClean="0"/>
              <a:t>Rich Internet Applications</a:t>
            </a:r>
            <a:br>
              <a:rPr lang="en-US" dirty="0" smtClean="0"/>
            </a:br>
            <a:r>
              <a:rPr lang="en-US" dirty="0" smtClean="0"/>
              <a:t>Development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Markup Languages I (HTML)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0801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HTML?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language for describing web pages</a:t>
            </a:r>
          </a:p>
          <a:p>
            <a:pPr lvl="1"/>
            <a:r>
              <a:rPr lang="en-US" dirty="0"/>
              <a:t>HTML stands for </a:t>
            </a:r>
            <a:r>
              <a:rPr lang="en-US" b="1" u="sng" dirty="0" err="1" smtClean="0">
                <a:solidFill>
                  <a:schemeClr val="accent2"/>
                </a:solidFill>
              </a:rPr>
              <a:t>H</a:t>
            </a:r>
            <a:r>
              <a:rPr lang="en-US" b="1" dirty="0" err="1" smtClean="0"/>
              <a:t>yper</a:t>
            </a:r>
            <a:r>
              <a:rPr lang="en-US" b="1" u="sng" dirty="0" err="1" smtClean="0">
                <a:solidFill>
                  <a:schemeClr val="accent2"/>
                </a:solidFill>
              </a:rPr>
              <a:t>T</a:t>
            </a:r>
            <a:r>
              <a:rPr lang="en-US" b="1" dirty="0" err="1" smtClean="0"/>
              <a:t>ext</a:t>
            </a:r>
            <a:r>
              <a:rPr lang="en-US" b="1" dirty="0" smtClean="0"/>
              <a:t> </a:t>
            </a:r>
            <a:r>
              <a:rPr lang="en-US" b="1" u="sng" dirty="0">
                <a:solidFill>
                  <a:schemeClr val="accent2"/>
                </a:solidFill>
              </a:rPr>
              <a:t>M</a:t>
            </a:r>
            <a:r>
              <a:rPr lang="en-US" b="1" dirty="0"/>
              <a:t>arkup </a:t>
            </a:r>
            <a:r>
              <a:rPr lang="en-US" b="1" u="sng" dirty="0">
                <a:solidFill>
                  <a:schemeClr val="accent2"/>
                </a:solidFill>
              </a:rPr>
              <a:t>L</a:t>
            </a:r>
            <a:r>
              <a:rPr lang="en-US" b="1" dirty="0"/>
              <a:t>anguage</a:t>
            </a:r>
          </a:p>
          <a:p>
            <a:pPr lvl="1"/>
            <a:r>
              <a:rPr lang="en-US" dirty="0"/>
              <a:t>HTML is not a programming language, it is a </a:t>
            </a:r>
            <a:r>
              <a:rPr lang="en-US" b="1" dirty="0"/>
              <a:t>markup language</a:t>
            </a:r>
          </a:p>
          <a:p>
            <a:pPr lvl="1"/>
            <a:r>
              <a:rPr lang="en-US" dirty="0"/>
              <a:t>A markup language is a set of </a:t>
            </a:r>
            <a:r>
              <a:rPr lang="en-US" b="1" dirty="0"/>
              <a:t>markup tags</a:t>
            </a:r>
          </a:p>
          <a:p>
            <a:pPr lvl="1"/>
            <a:r>
              <a:rPr lang="en-US" dirty="0"/>
              <a:t>HTML uses </a:t>
            </a:r>
            <a:r>
              <a:rPr lang="en-US" b="1" dirty="0"/>
              <a:t>markup tags </a:t>
            </a:r>
            <a:r>
              <a:rPr lang="en-US" dirty="0"/>
              <a:t>to describe web pages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t>2</a:t>
            </a:fld>
            <a:endParaRPr lang="en-US"/>
          </a:p>
        </p:txBody>
      </p:sp>
      <p:pic>
        <p:nvPicPr>
          <p:cNvPr id="1026" name="Picture 2" descr="C:\Users\EvyLim\AppData\Local\Microsoft\Windows\Temporary Internet Files\Content.IE5\BCCEXEW4\MP900390092[1]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4191000"/>
            <a:ext cx="2560320" cy="182636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/>
        </p:spPr>
      </p:pic>
      <p:sp>
        <p:nvSpPr>
          <p:cNvPr id="6" name="TextBox 5"/>
          <p:cNvSpPr txBox="1"/>
          <p:nvPr/>
        </p:nvSpPr>
        <p:spPr>
          <a:xfrm>
            <a:off x="914400" y="6036083"/>
            <a:ext cx="32481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hlinkClick r:id="rId4"/>
              </a:rPr>
              <a:t>http://www.w3schools.com/html/html_intro.asp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35378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HTML Documents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Web browsers (E.g.: Internet Explorer, Firefox, Chrome) </a:t>
            </a:r>
          </a:p>
          <a:p>
            <a:pPr lvl="1"/>
            <a:r>
              <a:rPr lang="en-US" sz="2000" dirty="0" smtClean="0"/>
              <a:t>Read </a:t>
            </a:r>
            <a:r>
              <a:rPr lang="en-US" sz="2000" dirty="0"/>
              <a:t>HTML documents and display them as web </a:t>
            </a:r>
            <a:r>
              <a:rPr lang="en-US" sz="2000" dirty="0" smtClean="0"/>
              <a:t>pages</a:t>
            </a:r>
          </a:p>
          <a:p>
            <a:pPr lvl="1"/>
            <a:r>
              <a:rPr lang="en-US" sz="2000" dirty="0" smtClean="0"/>
              <a:t>Does </a:t>
            </a:r>
            <a:r>
              <a:rPr lang="en-US" sz="2000" dirty="0"/>
              <a:t>not display the HTML tags, but uses the tags to interpret the content of the page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t>3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1066800" y="2743200"/>
            <a:ext cx="7848601" cy="3581294"/>
            <a:chOff x="1066800" y="2743200"/>
            <a:chExt cx="7848601" cy="3581294"/>
          </a:xfrm>
        </p:grpSpPr>
        <p:pic>
          <p:nvPicPr>
            <p:cNvPr id="5122" name="Picture 2" descr="C:\Users\EvyLim\AppData\Local\Temp\SNAGHTML114da5c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6800" y="3124200"/>
              <a:ext cx="3621804" cy="2743199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124" name="Picture 4" descr="C:\Users\EvyLim\AppData\Local\Temp\SNAGHTML1161fb5.PN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8966" y="2743200"/>
              <a:ext cx="3416783" cy="2209800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TextBox 5"/>
            <p:cNvSpPr txBox="1"/>
            <p:nvPr/>
          </p:nvSpPr>
          <p:spPr>
            <a:xfrm>
              <a:off x="4572001" y="4508612"/>
              <a:ext cx="4343400" cy="1815882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sz="1400" dirty="0" smtClean="0"/>
                <a:t>Text between </a:t>
              </a:r>
              <a:r>
                <a:rPr lang="en-US" sz="1400" dirty="0"/>
                <a:t>&lt;html&gt; and &lt;/html&gt; describes the web page</a:t>
              </a:r>
            </a:p>
            <a:p>
              <a:r>
                <a:rPr lang="en-US" sz="1400" dirty="0" smtClean="0"/>
                <a:t>Text between </a:t>
              </a:r>
              <a:r>
                <a:rPr lang="en-US" sz="1400" dirty="0"/>
                <a:t>&lt;body&gt; and &lt;/body&gt; is the visible page content</a:t>
              </a:r>
            </a:p>
            <a:p>
              <a:r>
                <a:rPr lang="en-US" sz="1400" dirty="0" smtClean="0"/>
                <a:t>Text between </a:t>
              </a:r>
              <a:r>
                <a:rPr lang="en-US" sz="1400" dirty="0"/>
                <a:t>&lt;h1&gt; and &lt;/h1&gt; is displayed as a heading</a:t>
              </a:r>
            </a:p>
            <a:p>
              <a:r>
                <a:rPr lang="en-US" sz="1400" dirty="0" smtClean="0"/>
                <a:t>Text between </a:t>
              </a:r>
              <a:r>
                <a:rPr lang="en-US" sz="1400" dirty="0"/>
                <a:t>&lt;p&gt; and &lt;/p&gt; is displayed as a </a:t>
              </a:r>
              <a:r>
                <a:rPr lang="en-US" sz="1400" dirty="0" smtClean="0"/>
                <a:t>paragraph</a:t>
              </a:r>
              <a:endParaRPr lang="en-US" sz="1400" dirty="0"/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914400" y="6036083"/>
            <a:ext cx="32481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hlinkClick r:id="rId5"/>
              </a:rPr>
              <a:t>http://www.w3schools.com/html/html_intro.asp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722282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.HTM or .HTML File Extension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 lang="en-US" dirty="0"/>
              <a:t>When you save </a:t>
            </a:r>
            <a:r>
              <a:rPr lang="en-US" dirty="0" smtClean="0"/>
              <a:t>a </a:t>
            </a:r>
            <a:r>
              <a:rPr lang="en-US" dirty="0"/>
              <a:t>HTML file, you can use either the .</a:t>
            </a:r>
            <a:r>
              <a:rPr lang="en-US" dirty="0" err="1"/>
              <a:t>htm</a:t>
            </a:r>
            <a:r>
              <a:rPr lang="en-US" dirty="0"/>
              <a:t> or the .html file </a:t>
            </a:r>
            <a:r>
              <a:rPr lang="en-US" dirty="0" smtClean="0"/>
              <a:t>extension</a:t>
            </a:r>
          </a:p>
          <a:p>
            <a:pPr>
              <a:spcAft>
                <a:spcPts val="1000"/>
              </a:spcAft>
            </a:pPr>
            <a:r>
              <a:rPr lang="en-US" dirty="0" smtClean="0"/>
              <a:t>There </a:t>
            </a:r>
            <a:r>
              <a:rPr lang="en-US" dirty="0"/>
              <a:t>is no difference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t>4</a:t>
            </a:fld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2209800" y="3276600"/>
            <a:ext cx="5715000" cy="2345028"/>
            <a:chOff x="1981200" y="3505200"/>
            <a:chExt cx="4724400" cy="2345028"/>
          </a:xfrm>
        </p:grpSpPr>
        <p:sp>
          <p:nvSpPr>
            <p:cNvPr id="6" name="Webpage"/>
            <p:cNvSpPr>
              <a:spLocks noEditPoints="1" noChangeArrowheads="1"/>
            </p:cNvSpPr>
            <p:nvPr/>
          </p:nvSpPr>
          <p:spPr bwMode="auto">
            <a:xfrm>
              <a:off x="1981200" y="3505200"/>
              <a:ext cx="1752600" cy="2345028"/>
            </a:xfrm>
            <a:custGeom>
              <a:avLst/>
              <a:gdLst>
                <a:gd name="T0" fmla="*/ 5187 w 21600"/>
                <a:gd name="T1" fmla="*/ 21600 h 21600"/>
                <a:gd name="T2" fmla="*/ 0 w 21600"/>
                <a:gd name="T3" fmla="*/ 17509 h 21600"/>
                <a:gd name="T4" fmla="*/ 21600 w 21600"/>
                <a:gd name="T5" fmla="*/ 0 h 21600"/>
                <a:gd name="T6" fmla="*/ 0 w 21600"/>
                <a:gd name="T7" fmla="*/ 0 h 21600"/>
                <a:gd name="T8" fmla="*/ 10800 w 21600"/>
                <a:gd name="T9" fmla="*/ 0 h 21600"/>
                <a:gd name="T10" fmla="*/ 21600 w 21600"/>
                <a:gd name="T11" fmla="*/ 0 h 21600"/>
                <a:gd name="T12" fmla="*/ 21600 w 21600"/>
                <a:gd name="T13" fmla="*/ 10800 h 21600"/>
                <a:gd name="T14" fmla="*/ 21600 w 21600"/>
                <a:gd name="T15" fmla="*/ 21600 h 21600"/>
                <a:gd name="T16" fmla="*/ 10800 w 21600"/>
                <a:gd name="T17" fmla="*/ 21600 h 21600"/>
                <a:gd name="T18" fmla="*/ 0 w 21600"/>
                <a:gd name="T19" fmla="*/ 10800 h 21600"/>
                <a:gd name="T20" fmla="*/ 1955 w 21600"/>
                <a:gd name="T21" fmla="*/ 12829 h 21600"/>
                <a:gd name="T22" fmla="*/ 19814 w 21600"/>
                <a:gd name="T23" fmla="*/ 20749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T20" t="T21" r="T22" b="T23"/>
              <a:pathLst>
                <a:path w="21600" h="21600" extrusionOk="0">
                  <a:moveTo>
                    <a:pt x="9184" y="949"/>
                  </a:moveTo>
                  <a:lnTo>
                    <a:pt x="9758" y="1309"/>
                  </a:lnTo>
                  <a:lnTo>
                    <a:pt x="11544" y="1292"/>
                  </a:lnTo>
                  <a:lnTo>
                    <a:pt x="12437" y="1292"/>
                  </a:lnTo>
                  <a:lnTo>
                    <a:pt x="13414" y="1161"/>
                  </a:lnTo>
                  <a:lnTo>
                    <a:pt x="13648" y="1243"/>
                  </a:lnTo>
                  <a:lnTo>
                    <a:pt x="13542" y="1390"/>
                  </a:lnTo>
                  <a:lnTo>
                    <a:pt x="13967" y="1849"/>
                  </a:lnTo>
                  <a:lnTo>
                    <a:pt x="14562" y="2520"/>
                  </a:lnTo>
                  <a:lnTo>
                    <a:pt x="14669" y="3223"/>
                  </a:lnTo>
                  <a:lnTo>
                    <a:pt x="14796" y="3518"/>
                  </a:lnTo>
                  <a:lnTo>
                    <a:pt x="15264" y="3665"/>
                  </a:lnTo>
                  <a:lnTo>
                    <a:pt x="15753" y="3518"/>
                  </a:lnTo>
                  <a:lnTo>
                    <a:pt x="15902" y="2978"/>
                  </a:lnTo>
                  <a:lnTo>
                    <a:pt x="16008" y="2323"/>
                  </a:lnTo>
                  <a:moveTo>
                    <a:pt x="10757" y="21632"/>
                  </a:moveTo>
                  <a:lnTo>
                    <a:pt x="5187" y="21632"/>
                  </a:lnTo>
                  <a:lnTo>
                    <a:pt x="85" y="17509"/>
                  </a:lnTo>
                  <a:lnTo>
                    <a:pt x="85" y="10849"/>
                  </a:lnTo>
                  <a:lnTo>
                    <a:pt x="85" y="81"/>
                  </a:lnTo>
                  <a:lnTo>
                    <a:pt x="10757" y="81"/>
                  </a:lnTo>
                  <a:lnTo>
                    <a:pt x="21706" y="81"/>
                  </a:lnTo>
                  <a:lnTo>
                    <a:pt x="21706" y="10652"/>
                  </a:lnTo>
                  <a:lnTo>
                    <a:pt x="21706" y="21632"/>
                  </a:lnTo>
                  <a:lnTo>
                    <a:pt x="10757" y="21632"/>
                  </a:lnTo>
                  <a:close/>
                </a:path>
                <a:path w="21600" h="21600" extrusionOk="0">
                  <a:moveTo>
                    <a:pt x="85" y="17509"/>
                  </a:moveTo>
                  <a:lnTo>
                    <a:pt x="5187" y="17509"/>
                  </a:lnTo>
                  <a:lnTo>
                    <a:pt x="5187" y="21632"/>
                  </a:lnTo>
                  <a:lnTo>
                    <a:pt x="85" y="17509"/>
                  </a:lnTo>
                  <a:close/>
                </a:path>
                <a:path w="21600" h="21600" extrusionOk="0">
                  <a:moveTo>
                    <a:pt x="5591" y="10620"/>
                  </a:moveTo>
                  <a:lnTo>
                    <a:pt x="6122" y="10996"/>
                  </a:lnTo>
                  <a:lnTo>
                    <a:pt x="6696" y="11340"/>
                  </a:lnTo>
                  <a:lnTo>
                    <a:pt x="7313" y="11618"/>
                  </a:lnTo>
                  <a:lnTo>
                    <a:pt x="7972" y="11863"/>
                  </a:lnTo>
                  <a:lnTo>
                    <a:pt x="8652" y="12060"/>
                  </a:lnTo>
                  <a:lnTo>
                    <a:pt x="9396" y="12190"/>
                  </a:lnTo>
                  <a:lnTo>
                    <a:pt x="10119" y="12272"/>
                  </a:lnTo>
                  <a:lnTo>
                    <a:pt x="10906" y="12305"/>
                  </a:lnTo>
                  <a:lnTo>
                    <a:pt x="11650" y="12272"/>
                  </a:lnTo>
                  <a:lnTo>
                    <a:pt x="12373" y="12190"/>
                  </a:lnTo>
                  <a:lnTo>
                    <a:pt x="13117" y="12060"/>
                  </a:lnTo>
                  <a:lnTo>
                    <a:pt x="13797" y="11863"/>
                  </a:lnTo>
                  <a:lnTo>
                    <a:pt x="14456" y="11618"/>
                  </a:lnTo>
                  <a:lnTo>
                    <a:pt x="15073" y="11340"/>
                  </a:lnTo>
                  <a:lnTo>
                    <a:pt x="15647" y="11029"/>
                  </a:lnTo>
                  <a:lnTo>
                    <a:pt x="16178" y="10652"/>
                  </a:lnTo>
                  <a:lnTo>
                    <a:pt x="16667" y="10243"/>
                  </a:lnTo>
                  <a:lnTo>
                    <a:pt x="17071" y="9801"/>
                  </a:lnTo>
                  <a:lnTo>
                    <a:pt x="17475" y="9327"/>
                  </a:lnTo>
                  <a:lnTo>
                    <a:pt x="17815" y="8820"/>
                  </a:lnTo>
                  <a:lnTo>
                    <a:pt x="18049" y="8296"/>
                  </a:lnTo>
                  <a:lnTo>
                    <a:pt x="18262" y="7723"/>
                  </a:lnTo>
                  <a:lnTo>
                    <a:pt x="18347" y="7134"/>
                  </a:lnTo>
                  <a:lnTo>
                    <a:pt x="18389" y="6561"/>
                  </a:lnTo>
                  <a:lnTo>
                    <a:pt x="18347" y="5956"/>
                  </a:lnTo>
                  <a:lnTo>
                    <a:pt x="18262" y="5400"/>
                  </a:lnTo>
                  <a:lnTo>
                    <a:pt x="18049" y="4827"/>
                  </a:lnTo>
                  <a:lnTo>
                    <a:pt x="17815" y="4303"/>
                  </a:lnTo>
                  <a:lnTo>
                    <a:pt x="17475" y="3796"/>
                  </a:lnTo>
                  <a:lnTo>
                    <a:pt x="17114" y="3321"/>
                  </a:lnTo>
                  <a:lnTo>
                    <a:pt x="16710" y="2880"/>
                  </a:lnTo>
                  <a:lnTo>
                    <a:pt x="16221" y="2470"/>
                  </a:lnTo>
                  <a:lnTo>
                    <a:pt x="15689" y="2094"/>
                  </a:lnTo>
                  <a:lnTo>
                    <a:pt x="15115" y="1750"/>
                  </a:lnTo>
                  <a:lnTo>
                    <a:pt x="14499" y="1472"/>
                  </a:lnTo>
                  <a:lnTo>
                    <a:pt x="13797" y="1227"/>
                  </a:lnTo>
                  <a:lnTo>
                    <a:pt x="13117" y="1030"/>
                  </a:lnTo>
                  <a:lnTo>
                    <a:pt x="12415" y="883"/>
                  </a:lnTo>
                  <a:lnTo>
                    <a:pt x="11650" y="818"/>
                  </a:lnTo>
                  <a:lnTo>
                    <a:pt x="10906" y="785"/>
                  </a:lnTo>
                  <a:lnTo>
                    <a:pt x="10119" y="818"/>
                  </a:lnTo>
                  <a:lnTo>
                    <a:pt x="9396" y="883"/>
                  </a:lnTo>
                  <a:lnTo>
                    <a:pt x="8652" y="1030"/>
                  </a:lnTo>
                  <a:lnTo>
                    <a:pt x="8014" y="1227"/>
                  </a:lnTo>
                  <a:lnTo>
                    <a:pt x="7355" y="1440"/>
                  </a:lnTo>
                  <a:lnTo>
                    <a:pt x="6739" y="1750"/>
                  </a:lnTo>
                  <a:lnTo>
                    <a:pt x="6122" y="2061"/>
                  </a:lnTo>
                  <a:lnTo>
                    <a:pt x="5591" y="2438"/>
                  </a:lnTo>
                  <a:lnTo>
                    <a:pt x="5102" y="2847"/>
                  </a:lnTo>
                  <a:lnTo>
                    <a:pt x="4698" y="3289"/>
                  </a:lnTo>
                  <a:lnTo>
                    <a:pt x="4294" y="3763"/>
                  </a:lnTo>
                  <a:lnTo>
                    <a:pt x="3996" y="4270"/>
                  </a:lnTo>
                  <a:lnTo>
                    <a:pt x="3720" y="4794"/>
                  </a:lnTo>
                  <a:lnTo>
                    <a:pt x="3550" y="5367"/>
                  </a:lnTo>
                  <a:lnTo>
                    <a:pt x="3422" y="5956"/>
                  </a:lnTo>
                  <a:lnTo>
                    <a:pt x="3380" y="6561"/>
                  </a:lnTo>
                  <a:lnTo>
                    <a:pt x="3422" y="7134"/>
                  </a:lnTo>
                  <a:lnTo>
                    <a:pt x="3550" y="7690"/>
                  </a:lnTo>
                  <a:lnTo>
                    <a:pt x="3720" y="8263"/>
                  </a:lnTo>
                  <a:lnTo>
                    <a:pt x="3954" y="8787"/>
                  </a:lnTo>
                  <a:lnTo>
                    <a:pt x="4294" y="9294"/>
                  </a:lnTo>
                  <a:lnTo>
                    <a:pt x="4655" y="9769"/>
                  </a:lnTo>
                  <a:lnTo>
                    <a:pt x="5102" y="10210"/>
                  </a:lnTo>
                  <a:lnTo>
                    <a:pt x="5591" y="10620"/>
                  </a:lnTo>
                  <a:close/>
                </a:path>
                <a:path w="21600" h="21600" extrusionOk="0">
                  <a:moveTo>
                    <a:pt x="3401" y="6021"/>
                  </a:moveTo>
                  <a:lnTo>
                    <a:pt x="4039" y="5530"/>
                  </a:lnTo>
                  <a:lnTo>
                    <a:pt x="4294" y="4892"/>
                  </a:lnTo>
                  <a:lnTo>
                    <a:pt x="4677" y="4156"/>
                  </a:lnTo>
                  <a:lnTo>
                    <a:pt x="5166" y="3763"/>
                  </a:lnTo>
                  <a:lnTo>
                    <a:pt x="5378" y="3354"/>
                  </a:lnTo>
                  <a:lnTo>
                    <a:pt x="5293" y="2732"/>
                  </a:lnTo>
                  <a:moveTo>
                    <a:pt x="3507" y="7380"/>
                  </a:moveTo>
                  <a:lnTo>
                    <a:pt x="3890" y="7200"/>
                  </a:lnTo>
                  <a:lnTo>
                    <a:pt x="4103" y="7249"/>
                  </a:lnTo>
                  <a:lnTo>
                    <a:pt x="4400" y="7527"/>
                  </a:lnTo>
                  <a:lnTo>
                    <a:pt x="4719" y="7674"/>
                  </a:lnTo>
                  <a:lnTo>
                    <a:pt x="5293" y="7641"/>
                  </a:lnTo>
                  <a:lnTo>
                    <a:pt x="5740" y="7543"/>
                  </a:lnTo>
                  <a:lnTo>
                    <a:pt x="6144" y="7543"/>
                  </a:lnTo>
                  <a:lnTo>
                    <a:pt x="6526" y="7821"/>
                  </a:lnTo>
                  <a:lnTo>
                    <a:pt x="6569" y="8312"/>
                  </a:lnTo>
                  <a:lnTo>
                    <a:pt x="6059" y="8852"/>
                  </a:lnTo>
                  <a:lnTo>
                    <a:pt x="5803" y="8967"/>
                  </a:lnTo>
                  <a:lnTo>
                    <a:pt x="5803" y="9147"/>
                  </a:lnTo>
                  <a:lnTo>
                    <a:pt x="5421" y="9294"/>
                  </a:lnTo>
                  <a:lnTo>
                    <a:pt x="4868" y="9163"/>
                  </a:lnTo>
                  <a:lnTo>
                    <a:pt x="4337" y="9049"/>
                  </a:lnTo>
                  <a:lnTo>
                    <a:pt x="4081" y="9000"/>
                  </a:lnTo>
                  <a:moveTo>
                    <a:pt x="14988" y="11372"/>
                  </a:moveTo>
                  <a:lnTo>
                    <a:pt x="15115" y="10865"/>
                  </a:lnTo>
                  <a:lnTo>
                    <a:pt x="16072" y="10096"/>
                  </a:lnTo>
                  <a:lnTo>
                    <a:pt x="16455" y="9605"/>
                  </a:lnTo>
                  <a:lnTo>
                    <a:pt x="16455" y="8329"/>
                  </a:lnTo>
                  <a:lnTo>
                    <a:pt x="17156" y="7969"/>
                  </a:lnTo>
                  <a:lnTo>
                    <a:pt x="17879" y="7870"/>
                  </a:lnTo>
                  <a:lnTo>
                    <a:pt x="18177" y="7821"/>
                  </a:lnTo>
                  <a:moveTo>
                    <a:pt x="18368" y="6840"/>
                  </a:moveTo>
                  <a:lnTo>
                    <a:pt x="18049" y="6610"/>
                  </a:lnTo>
                  <a:lnTo>
                    <a:pt x="17411" y="6512"/>
                  </a:lnTo>
                  <a:lnTo>
                    <a:pt x="16859" y="6545"/>
                  </a:lnTo>
                  <a:lnTo>
                    <a:pt x="16603" y="6201"/>
                  </a:lnTo>
                  <a:lnTo>
                    <a:pt x="16731" y="5874"/>
                  </a:lnTo>
                  <a:lnTo>
                    <a:pt x="17241" y="5465"/>
                  </a:lnTo>
                  <a:lnTo>
                    <a:pt x="17858" y="5236"/>
                  </a:lnTo>
                  <a:lnTo>
                    <a:pt x="18007" y="5089"/>
                  </a:lnTo>
                  <a:lnTo>
                    <a:pt x="18049" y="4892"/>
                  </a:lnTo>
                  <a:moveTo>
                    <a:pt x="8100" y="1260"/>
                  </a:moveTo>
                  <a:cubicBezTo>
                    <a:pt x="8333" y="1276"/>
                    <a:pt x="8206" y="1554"/>
                    <a:pt x="8695" y="1652"/>
                  </a:cubicBezTo>
                  <a:cubicBezTo>
                    <a:pt x="9184" y="1750"/>
                    <a:pt x="10481" y="1685"/>
                    <a:pt x="10991" y="1881"/>
                  </a:cubicBezTo>
                  <a:cubicBezTo>
                    <a:pt x="11501" y="2078"/>
                    <a:pt x="11629" y="2503"/>
                    <a:pt x="11799" y="2830"/>
                  </a:cubicBezTo>
                  <a:cubicBezTo>
                    <a:pt x="11969" y="3158"/>
                    <a:pt x="11905" y="3910"/>
                    <a:pt x="12054" y="3894"/>
                  </a:cubicBezTo>
                  <a:cubicBezTo>
                    <a:pt x="12203" y="3878"/>
                    <a:pt x="12351" y="2880"/>
                    <a:pt x="12649" y="2683"/>
                  </a:cubicBezTo>
                  <a:cubicBezTo>
                    <a:pt x="12947" y="2487"/>
                    <a:pt x="13670" y="2536"/>
                    <a:pt x="13840" y="2683"/>
                  </a:cubicBezTo>
                  <a:cubicBezTo>
                    <a:pt x="14010" y="2830"/>
                    <a:pt x="13733" y="3370"/>
                    <a:pt x="13648" y="3616"/>
                  </a:cubicBezTo>
                  <a:cubicBezTo>
                    <a:pt x="13563" y="3861"/>
                    <a:pt x="13457" y="4058"/>
                    <a:pt x="13351" y="4156"/>
                  </a:cubicBezTo>
                  <a:cubicBezTo>
                    <a:pt x="13244" y="4254"/>
                    <a:pt x="13096" y="4221"/>
                    <a:pt x="12947" y="4254"/>
                  </a:cubicBezTo>
                  <a:cubicBezTo>
                    <a:pt x="12777" y="4303"/>
                    <a:pt x="12585" y="4369"/>
                    <a:pt x="12394" y="4401"/>
                  </a:cubicBezTo>
                  <a:cubicBezTo>
                    <a:pt x="12139" y="4500"/>
                    <a:pt x="12054" y="4614"/>
                    <a:pt x="11862" y="4647"/>
                  </a:cubicBezTo>
                  <a:cubicBezTo>
                    <a:pt x="11650" y="4761"/>
                    <a:pt x="11671" y="4680"/>
                    <a:pt x="11437" y="4778"/>
                  </a:cubicBezTo>
                  <a:cubicBezTo>
                    <a:pt x="11352" y="4827"/>
                    <a:pt x="11225" y="4974"/>
                    <a:pt x="11246" y="5072"/>
                  </a:cubicBezTo>
                  <a:cubicBezTo>
                    <a:pt x="11225" y="5154"/>
                    <a:pt x="11267" y="5220"/>
                    <a:pt x="11310" y="5269"/>
                  </a:cubicBezTo>
                  <a:cubicBezTo>
                    <a:pt x="11352" y="5318"/>
                    <a:pt x="11480" y="5383"/>
                    <a:pt x="11565" y="5416"/>
                  </a:cubicBezTo>
                  <a:cubicBezTo>
                    <a:pt x="11629" y="5400"/>
                    <a:pt x="11820" y="5465"/>
                    <a:pt x="11862" y="5432"/>
                  </a:cubicBezTo>
                  <a:cubicBezTo>
                    <a:pt x="11905" y="5416"/>
                    <a:pt x="11926" y="5269"/>
                    <a:pt x="11884" y="5236"/>
                  </a:cubicBezTo>
                  <a:cubicBezTo>
                    <a:pt x="11841" y="5203"/>
                    <a:pt x="11629" y="5269"/>
                    <a:pt x="11565" y="5220"/>
                  </a:cubicBezTo>
                  <a:cubicBezTo>
                    <a:pt x="11480" y="5187"/>
                    <a:pt x="11459" y="5040"/>
                    <a:pt x="11480" y="4974"/>
                  </a:cubicBezTo>
                  <a:cubicBezTo>
                    <a:pt x="11501" y="4909"/>
                    <a:pt x="11607" y="4860"/>
                    <a:pt x="11692" y="4843"/>
                  </a:cubicBezTo>
                  <a:cubicBezTo>
                    <a:pt x="11905" y="4876"/>
                    <a:pt x="11820" y="4876"/>
                    <a:pt x="12054" y="4876"/>
                  </a:cubicBezTo>
                  <a:cubicBezTo>
                    <a:pt x="12075" y="5040"/>
                    <a:pt x="12096" y="5269"/>
                    <a:pt x="12139" y="5416"/>
                  </a:cubicBezTo>
                  <a:cubicBezTo>
                    <a:pt x="12160" y="5465"/>
                    <a:pt x="12330" y="5465"/>
                    <a:pt x="12373" y="5416"/>
                  </a:cubicBezTo>
                  <a:cubicBezTo>
                    <a:pt x="12415" y="5367"/>
                    <a:pt x="12330" y="4974"/>
                    <a:pt x="12394" y="4892"/>
                  </a:cubicBezTo>
                  <a:cubicBezTo>
                    <a:pt x="12458" y="4810"/>
                    <a:pt x="12692" y="4925"/>
                    <a:pt x="12755" y="4892"/>
                  </a:cubicBezTo>
                  <a:cubicBezTo>
                    <a:pt x="12798" y="4860"/>
                    <a:pt x="12840" y="4761"/>
                    <a:pt x="12755" y="4729"/>
                  </a:cubicBezTo>
                  <a:cubicBezTo>
                    <a:pt x="12670" y="4696"/>
                    <a:pt x="12118" y="4745"/>
                    <a:pt x="12203" y="4696"/>
                  </a:cubicBezTo>
                  <a:cubicBezTo>
                    <a:pt x="12543" y="4549"/>
                    <a:pt x="12819" y="4434"/>
                    <a:pt x="13266" y="4401"/>
                  </a:cubicBezTo>
                  <a:cubicBezTo>
                    <a:pt x="13436" y="4385"/>
                    <a:pt x="13585" y="4500"/>
                    <a:pt x="13776" y="4532"/>
                  </a:cubicBezTo>
                  <a:cubicBezTo>
                    <a:pt x="13967" y="4630"/>
                    <a:pt x="13861" y="4843"/>
                    <a:pt x="13712" y="4925"/>
                  </a:cubicBezTo>
                  <a:cubicBezTo>
                    <a:pt x="13648" y="5023"/>
                    <a:pt x="13521" y="5121"/>
                    <a:pt x="13414" y="5187"/>
                  </a:cubicBezTo>
                  <a:cubicBezTo>
                    <a:pt x="13351" y="5285"/>
                    <a:pt x="13287" y="5334"/>
                    <a:pt x="13159" y="5383"/>
                  </a:cubicBezTo>
                  <a:cubicBezTo>
                    <a:pt x="13117" y="5563"/>
                    <a:pt x="12862" y="5743"/>
                    <a:pt x="12649" y="5809"/>
                  </a:cubicBezTo>
                  <a:cubicBezTo>
                    <a:pt x="12543" y="5907"/>
                    <a:pt x="12437" y="5940"/>
                    <a:pt x="12309" y="6005"/>
                  </a:cubicBezTo>
                  <a:cubicBezTo>
                    <a:pt x="12245" y="6120"/>
                    <a:pt x="12139" y="6185"/>
                    <a:pt x="12075" y="6300"/>
                  </a:cubicBezTo>
                  <a:cubicBezTo>
                    <a:pt x="12118" y="6561"/>
                    <a:pt x="12075" y="6643"/>
                    <a:pt x="12373" y="6741"/>
                  </a:cubicBezTo>
                  <a:cubicBezTo>
                    <a:pt x="12500" y="6840"/>
                    <a:pt x="12522" y="6970"/>
                    <a:pt x="12330" y="7036"/>
                  </a:cubicBezTo>
                  <a:cubicBezTo>
                    <a:pt x="12011" y="6987"/>
                    <a:pt x="12033" y="6823"/>
                    <a:pt x="11799" y="6692"/>
                  </a:cubicBezTo>
                  <a:cubicBezTo>
                    <a:pt x="11714" y="6529"/>
                    <a:pt x="11459" y="6430"/>
                    <a:pt x="11246" y="6398"/>
                  </a:cubicBezTo>
                  <a:cubicBezTo>
                    <a:pt x="11076" y="6332"/>
                    <a:pt x="11182" y="6365"/>
                    <a:pt x="10906" y="6365"/>
                  </a:cubicBezTo>
                  <a:cubicBezTo>
                    <a:pt x="10608" y="6512"/>
                    <a:pt x="10544" y="7347"/>
                    <a:pt x="11246" y="7478"/>
                  </a:cubicBezTo>
                  <a:cubicBezTo>
                    <a:pt x="12394" y="7429"/>
                    <a:pt x="13329" y="7772"/>
                    <a:pt x="13733" y="7985"/>
                  </a:cubicBezTo>
                  <a:cubicBezTo>
                    <a:pt x="13840" y="8410"/>
                    <a:pt x="13329" y="8901"/>
                    <a:pt x="12500" y="9343"/>
                  </a:cubicBezTo>
                  <a:cubicBezTo>
                    <a:pt x="11629" y="9736"/>
                    <a:pt x="11480" y="10194"/>
                    <a:pt x="11246" y="10980"/>
                  </a:cubicBezTo>
                  <a:cubicBezTo>
                    <a:pt x="10991" y="11372"/>
                    <a:pt x="10481" y="10930"/>
                    <a:pt x="10289" y="10096"/>
                  </a:cubicBezTo>
                  <a:cubicBezTo>
                    <a:pt x="10140" y="9196"/>
                    <a:pt x="9907" y="8165"/>
                    <a:pt x="10459" y="7576"/>
                  </a:cubicBezTo>
                  <a:cubicBezTo>
                    <a:pt x="9375" y="6790"/>
                    <a:pt x="9269" y="6070"/>
                    <a:pt x="9056" y="6218"/>
                  </a:cubicBezTo>
                  <a:cubicBezTo>
                    <a:pt x="9205" y="6987"/>
                    <a:pt x="8929" y="6660"/>
                    <a:pt x="8737" y="6021"/>
                  </a:cubicBezTo>
                  <a:cubicBezTo>
                    <a:pt x="8822" y="5023"/>
                    <a:pt x="8610" y="4385"/>
                    <a:pt x="8440" y="3550"/>
                  </a:cubicBezTo>
                  <a:lnTo>
                    <a:pt x="7844" y="2290"/>
                  </a:lnTo>
                  <a:lnTo>
                    <a:pt x="6654" y="1849"/>
                  </a:lnTo>
                </a:path>
              </a:pathLst>
            </a:custGeom>
            <a:solidFill>
              <a:srgbClr val="D8EBB3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sz="2000" b="1" dirty="0" smtClean="0">
                  <a:solidFill>
                    <a:schemeClr val="tx2"/>
                  </a:solidFill>
                </a:rPr>
                <a:t>index.htm</a:t>
              </a:r>
              <a:endParaRPr lang="en-US" sz="2000" b="1" dirty="0">
                <a:solidFill>
                  <a:schemeClr val="tx2"/>
                </a:solidFill>
              </a:endParaRPr>
            </a:p>
          </p:txBody>
        </p:sp>
        <p:sp>
          <p:nvSpPr>
            <p:cNvPr id="7" name="Webpage"/>
            <p:cNvSpPr>
              <a:spLocks noEditPoints="1" noChangeArrowheads="1"/>
            </p:cNvSpPr>
            <p:nvPr/>
          </p:nvSpPr>
          <p:spPr bwMode="auto">
            <a:xfrm>
              <a:off x="4953000" y="3505200"/>
              <a:ext cx="1752600" cy="2345028"/>
            </a:xfrm>
            <a:custGeom>
              <a:avLst/>
              <a:gdLst>
                <a:gd name="T0" fmla="*/ 5187 w 21600"/>
                <a:gd name="T1" fmla="*/ 21600 h 21600"/>
                <a:gd name="T2" fmla="*/ 0 w 21600"/>
                <a:gd name="T3" fmla="*/ 17509 h 21600"/>
                <a:gd name="T4" fmla="*/ 21600 w 21600"/>
                <a:gd name="T5" fmla="*/ 0 h 21600"/>
                <a:gd name="T6" fmla="*/ 0 w 21600"/>
                <a:gd name="T7" fmla="*/ 0 h 21600"/>
                <a:gd name="T8" fmla="*/ 10800 w 21600"/>
                <a:gd name="T9" fmla="*/ 0 h 21600"/>
                <a:gd name="T10" fmla="*/ 21600 w 21600"/>
                <a:gd name="T11" fmla="*/ 0 h 21600"/>
                <a:gd name="T12" fmla="*/ 21600 w 21600"/>
                <a:gd name="T13" fmla="*/ 10800 h 21600"/>
                <a:gd name="T14" fmla="*/ 21600 w 21600"/>
                <a:gd name="T15" fmla="*/ 21600 h 21600"/>
                <a:gd name="T16" fmla="*/ 10800 w 21600"/>
                <a:gd name="T17" fmla="*/ 21600 h 21600"/>
                <a:gd name="T18" fmla="*/ 0 w 21600"/>
                <a:gd name="T19" fmla="*/ 10800 h 21600"/>
                <a:gd name="T20" fmla="*/ 1955 w 21600"/>
                <a:gd name="T21" fmla="*/ 12829 h 21600"/>
                <a:gd name="T22" fmla="*/ 19814 w 21600"/>
                <a:gd name="T23" fmla="*/ 20749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T20" t="T21" r="T22" b="T23"/>
              <a:pathLst>
                <a:path w="21600" h="21600" extrusionOk="0">
                  <a:moveTo>
                    <a:pt x="9184" y="949"/>
                  </a:moveTo>
                  <a:lnTo>
                    <a:pt x="9758" y="1309"/>
                  </a:lnTo>
                  <a:lnTo>
                    <a:pt x="11544" y="1292"/>
                  </a:lnTo>
                  <a:lnTo>
                    <a:pt x="12437" y="1292"/>
                  </a:lnTo>
                  <a:lnTo>
                    <a:pt x="13414" y="1161"/>
                  </a:lnTo>
                  <a:lnTo>
                    <a:pt x="13648" y="1243"/>
                  </a:lnTo>
                  <a:lnTo>
                    <a:pt x="13542" y="1390"/>
                  </a:lnTo>
                  <a:lnTo>
                    <a:pt x="13967" y="1849"/>
                  </a:lnTo>
                  <a:lnTo>
                    <a:pt x="14562" y="2520"/>
                  </a:lnTo>
                  <a:lnTo>
                    <a:pt x="14669" y="3223"/>
                  </a:lnTo>
                  <a:lnTo>
                    <a:pt x="14796" y="3518"/>
                  </a:lnTo>
                  <a:lnTo>
                    <a:pt x="15264" y="3665"/>
                  </a:lnTo>
                  <a:lnTo>
                    <a:pt x="15753" y="3518"/>
                  </a:lnTo>
                  <a:lnTo>
                    <a:pt x="15902" y="2978"/>
                  </a:lnTo>
                  <a:lnTo>
                    <a:pt x="16008" y="2323"/>
                  </a:lnTo>
                  <a:moveTo>
                    <a:pt x="10757" y="21632"/>
                  </a:moveTo>
                  <a:lnTo>
                    <a:pt x="5187" y="21632"/>
                  </a:lnTo>
                  <a:lnTo>
                    <a:pt x="85" y="17509"/>
                  </a:lnTo>
                  <a:lnTo>
                    <a:pt x="85" y="10849"/>
                  </a:lnTo>
                  <a:lnTo>
                    <a:pt x="85" y="81"/>
                  </a:lnTo>
                  <a:lnTo>
                    <a:pt x="10757" y="81"/>
                  </a:lnTo>
                  <a:lnTo>
                    <a:pt x="21706" y="81"/>
                  </a:lnTo>
                  <a:lnTo>
                    <a:pt x="21706" y="10652"/>
                  </a:lnTo>
                  <a:lnTo>
                    <a:pt x="21706" y="21632"/>
                  </a:lnTo>
                  <a:lnTo>
                    <a:pt x="10757" y="21632"/>
                  </a:lnTo>
                  <a:close/>
                </a:path>
                <a:path w="21600" h="21600" extrusionOk="0">
                  <a:moveTo>
                    <a:pt x="85" y="17509"/>
                  </a:moveTo>
                  <a:lnTo>
                    <a:pt x="5187" y="17509"/>
                  </a:lnTo>
                  <a:lnTo>
                    <a:pt x="5187" y="21632"/>
                  </a:lnTo>
                  <a:lnTo>
                    <a:pt x="85" y="17509"/>
                  </a:lnTo>
                  <a:close/>
                </a:path>
                <a:path w="21600" h="21600" extrusionOk="0">
                  <a:moveTo>
                    <a:pt x="5591" y="10620"/>
                  </a:moveTo>
                  <a:lnTo>
                    <a:pt x="6122" y="10996"/>
                  </a:lnTo>
                  <a:lnTo>
                    <a:pt x="6696" y="11340"/>
                  </a:lnTo>
                  <a:lnTo>
                    <a:pt x="7313" y="11618"/>
                  </a:lnTo>
                  <a:lnTo>
                    <a:pt x="7972" y="11863"/>
                  </a:lnTo>
                  <a:lnTo>
                    <a:pt x="8652" y="12060"/>
                  </a:lnTo>
                  <a:lnTo>
                    <a:pt x="9396" y="12190"/>
                  </a:lnTo>
                  <a:lnTo>
                    <a:pt x="10119" y="12272"/>
                  </a:lnTo>
                  <a:lnTo>
                    <a:pt x="10906" y="12305"/>
                  </a:lnTo>
                  <a:lnTo>
                    <a:pt x="11650" y="12272"/>
                  </a:lnTo>
                  <a:lnTo>
                    <a:pt x="12373" y="12190"/>
                  </a:lnTo>
                  <a:lnTo>
                    <a:pt x="13117" y="12060"/>
                  </a:lnTo>
                  <a:lnTo>
                    <a:pt x="13797" y="11863"/>
                  </a:lnTo>
                  <a:lnTo>
                    <a:pt x="14456" y="11618"/>
                  </a:lnTo>
                  <a:lnTo>
                    <a:pt x="15073" y="11340"/>
                  </a:lnTo>
                  <a:lnTo>
                    <a:pt x="15647" y="11029"/>
                  </a:lnTo>
                  <a:lnTo>
                    <a:pt x="16178" y="10652"/>
                  </a:lnTo>
                  <a:lnTo>
                    <a:pt x="16667" y="10243"/>
                  </a:lnTo>
                  <a:lnTo>
                    <a:pt x="17071" y="9801"/>
                  </a:lnTo>
                  <a:lnTo>
                    <a:pt x="17475" y="9327"/>
                  </a:lnTo>
                  <a:lnTo>
                    <a:pt x="17815" y="8820"/>
                  </a:lnTo>
                  <a:lnTo>
                    <a:pt x="18049" y="8296"/>
                  </a:lnTo>
                  <a:lnTo>
                    <a:pt x="18262" y="7723"/>
                  </a:lnTo>
                  <a:lnTo>
                    <a:pt x="18347" y="7134"/>
                  </a:lnTo>
                  <a:lnTo>
                    <a:pt x="18389" y="6561"/>
                  </a:lnTo>
                  <a:lnTo>
                    <a:pt x="18347" y="5956"/>
                  </a:lnTo>
                  <a:lnTo>
                    <a:pt x="18262" y="5400"/>
                  </a:lnTo>
                  <a:lnTo>
                    <a:pt x="18049" y="4827"/>
                  </a:lnTo>
                  <a:lnTo>
                    <a:pt x="17815" y="4303"/>
                  </a:lnTo>
                  <a:lnTo>
                    <a:pt x="17475" y="3796"/>
                  </a:lnTo>
                  <a:lnTo>
                    <a:pt x="17114" y="3321"/>
                  </a:lnTo>
                  <a:lnTo>
                    <a:pt x="16710" y="2880"/>
                  </a:lnTo>
                  <a:lnTo>
                    <a:pt x="16221" y="2470"/>
                  </a:lnTo>
                  <a:lnTo>
                    <a:pt x="15689" y="2094"/>
                  </a:lnTo>
                  <a:lnTo>
                    <a:pt x="15115" y="1750"/>
                  </a:lnTo>
                  <a:lnTo>
                    <a:pt x="14499" y="1472"/>
                  </a:lnTo>
                  <a:lnTo>
                    <a:pt x="13797" y="1227"/>
                  </a:lnTo>
                  <a:lnTo>
                    <a:pt x="13117" y="1030"/>
                  </a:lnTo>
                  <a:lnTo>
                    <a:pt x="12415" y="883"/>
                  </a:lnTo>
                  <a:lnTo>
                    <a:pt x="11650" y="818"/>
                  </a:lnTo>
                  <a:lnTo>
                    <a:pt x="10906" y="785"/>
                  </a:lnTo>
                  <a:lnTo>
                    <a:pt x="10119" y="818"/>
                  </a:lnTo>
                  <a:lnTo>
                    <a:pt x="9396" y="883"/>
                  </a:lnTo>
                  <a:lnTo>
                    <a:pt x="8652" y="1030"/>
                  </a:lnTo>
                  <a:lnTo>
                    <a:pt x="8014" y="1227"/>
                  </a:lnTo>
                  <a:lnTo>
                    <a:pt x="7355" y="1440"/>
                  </a:lnTo>
                  <a:lnTo>
                    <a:pt x="6739" y="1750"/>
                  </a:lnTo>
                  <a:lnTo>
                    <a:pt x="6122" y="2061"/>
                  </a:lnTo>
                  <a:lnTo>
                    <a:pt x="5591" y="2438"/>
                  </a:lnTo>
                  <a:lnTo>
                    <a:pt x="5102" y="2847"/>
                  </a:lnTo>
                  <a:lnTo>
                    <a:pt x="4698" y="3289"/>
                  </a:lnTo>
                  <a:lnTo>
                    <a:pt x="4294" y="3763"/>
                  </a:lnTo>
                  <a:lnTo>
                    <a:pt x="3996" y="4270"/>
                  </a:lnTo>
                  <a:lnTo>
                    <a:pt x="3720" y="4794"/>
                  </a:lnTo>
                  <a:lnTo>
                    <a:pt x="3550" y="5367"/>
                  </a:lnTo>
                  <a:lnTo>
                    <a:pt x="3422" y="5956"/>
                  </a:lnTo>
                  <a:lnTo>
                    <a:pt x="3380" y="6561"/>
                  </a:lnTo>
                  <a:lnTo>
                    <a:pt x="3422" y="7134"/>
                  </a:lnTo>
                  <a:lnTo>
                    <a:pt x="3550" y="7690"/>
                  </a:lnTo>
                  <a:lnTo>
                    <a:pt x="3720" y="8263"/>
                  </a:lnTo>
                  <a:lnTo>
                    <a:pt x="3954" y="8787"/>
                  </a:lnTo>
                  <a:lnTo>
                    <a:pt x="4294" y="9294"/>
                  </a:lnTo>
                  <a:lnTo>
                    <a:pt x="4655" y="9769"/>
                  </a:lnTo>
                  <a:lnTo>
                    <a:pt x="5102" y="10210"/>
                  </a:lnTo>
                  <a:lnTo>
                    <a:pt x="5591" y="10620"/>
                  </a:lnTo>
                  <a:close/>
                </a:path>
                <a:path w="21600" h="21600" extrusionOk="0">
                  <a:moveTo>
                    <a:pt x="3401" y="6021"/>
                  </a:moveTo>
                  <a:lnTo>
                    <a:pt x="4039" y="5530"/>
                  </a:lnTo>
                  <a:lnTo>
                    <a:pt x="4294" y="4892"/>
                  </a:lnTo>
                  <a:lnTo>
                    <a:pt x="4677" y="4156"/>
                  </a:lnTo>
                  <a:lnTo>
                    <a:pt x="5166" y="3763"/>
                  </a:lnTo>
                  <a:lnTo>
                    <a:pt x="5378" y="3354"/>
                  </a:lnTo>
                  <a:lnTo>
                    <a:pt x="5293" y="2732"/>
                  </a:lnTo>
                  <a:moveTo>
                    <a:pt x="3507" y="7380"/>
                  </a:moveTo>
                  <a:lnTo>
                    <a:pt x="3890" y="7200"/>
                  </a:lnTo>
                  <a:lnTo>
                    <a:pt x="4103" y="7249"/>
                  </a:lnTo>
                  <a:lnTo>
                    <a:pt x="4400" y="7527"/>
                  </a:lnTo>
                  <a:lnTo>
                    <a:pt x="4719" y="7674"/>
                  </a:lnTo>
                  <a:lnTo>
                    <a:pt x="5293" y="7641"/>
                  </a:lnTo>
                  <a:lnTo>
                    <a:pt x="5740" y="7543"/>
                  </a:lnTo>
                  <a:lnTo>
                    <a:pt x="6144" y="7543"/>
                  </a:lnTo>
                  <a:lnTo>
                    <a:pt x="6526" y="7821"/>
                  </a:lnTo>
                  <a:lnTo>
                    <a:pt x="6569" y="8312"/>
                  </a:lnTo>
                  <a:lnTo>
                    <a:pt x="6059" y="8852"/>
                  </a:lnTo>
                  <a:lnTo>
                    <a:pt x="5803" y="8967"/>
                  </a:lnTo>
                  <a:lnTo>
                    <a:pt x="5803" y="9147"/>
                  </a:lnTo>
                  <a:lnTo>
                    <a:pt x="5421" y="9294"/>
                  </a:lnTo>
                  <a:lnTo>
                    <a:pt x="4868" y="9163"/>
                  </a:lnTo>
                  <a:lnTo>
                    <a:pt x="4337" y="9049"/>
                  </a:lnTo>
                  <a:lnTo>
                    <a:pt x="4081" y="9000"/>
                  </a:lnTo>
                  <a:moveTo>
                    <a:pt x="14988" y="11372"/>
                  </a:moveTo>
                  <a:lnTo>
                    <a:pt x="15115" y="10865"/>
                  </a:lnTo>
                  <a:lnTo>
                    <a:pt x="16072" y="10096"/>
                  </a:lnTo>
                  <a:lnTo>
                    <a:pt x="16455" y="9605"/>
                  </a:lnTo>
                  <a:lnTo>
                    <a:pt x="16455" y="8329"/>
                  </a:lnTo>
                  <a:lnTo>
                    <a:pt x="17156" y="7969"/>
                  </a:lnTo>
                  <a:lnTo>
                    <a:pt x="17879" y="7870"/>
                  </a:lnTo>
                  <a:lnTo>
                    <a:pt x="18177" y="7821"/>
                  </a:lnTo>
                  <a:moveTo>
                    <a:pt x="18368" y="6840"/>
                  </a:moveTo>
                  <a:lnTo>
                    <a:pt x="18049" y="6610"/>
                  </a:lnTo>
                  <a:lnTo>
                    <a:pt x="17411" y="6512"/>
                  </a:lnTo>
                  <a:lnTo>
                    <a:pt x="16859" y="6545"/>
                  </a:lnTo>
                  <a:lnTo>
                    <a:pt x="16603" y="6201"/>
                  </a:lnTo>
                  <a:lnTo>
                    <a:pt x="16731" y="5874"/>
                  </a:lnTo>
                  <a:lnTo>
                    <a:pt x="17241" y="5465"/>
                  </a:lnTo>
                  <a:lnTo>
                    <a:pt x="17858" y="5236"/>
                  </a:lnTo>
                  <a:lnTo>
                    <a:pt x="18007" y="5089"/>
                  </a:lnTo>
                  <a:lnTo>
                    <a:pt x="18049" y="4892"/>
                  </a:lnTo>
                  <a:moveTo>
                    <a:pt x="8100" y="1260"/>
                  </a:moveTo>
                  <a:cubicBezTo>
                    <a:pt x="8333" y="1276"/>
                    <a:pt x="8206" y="1554"/>
                    <a:pt x="8695" y="1652"/>
                  </a:cubicBezTo>
                  <a:cubicBezTo>
                    <a:pt x="9184" y="1750"/>
                    <a:pt x="10481" y="1685"/>
                    <a:pt x="10991" y="1881"/>
                  </a:cubicBezTo>
                  <a:cubicBezTo>
                    <a:pt x="11501" y="2078"/>
                    <a:pt x="11629" y="2503"/>
                    <a:pt x="11799" y="2830"/>
                  </a:cubicBezTo>
                  <a:cubicBezTo>
                    <a:pt x="11969" y="3158"/>
                    <a:pt x="11905" y="3910"/>
                    <a:pt x="12054" y="3894"/>
                  </a:cubicBezTo>
                  <a:cubicBezTo>
                    <a:pt x="12203" y="3878"/>
                    <a:pt x="12351" y="2880"/>
                    <a:pt x="12649" y="2683"/>
                  </a:cubicBezTo>
                  <a:cubicBezTo>
                    <a:pt x="12947" y="2487"/>
                    <a:pt x="13670" y="2536"/>
                    <a:pt x="13840" y="2683"/>
                  </a:cubicBezTo>
                  <a:cubicBezTo>
                    <a:pt x="14010" y="2830"/>
                    <a:pt x="13733" y="3370"/>
                    <a:pt x="13648" y="3616"/>
                  </a:cubicBezTo>
                  <a:cubicBezTo>
                    <a:pt x="13563" y="3861"/>
                    <a:pt x="13457" y="4058"/>
                    <a:pt x="13351" y="4156"/>
                  </a:cubicBezTo>
                  <a:cubicBezTo>
                    <a:pt x="13244" y="4254"/>
                    <a:pt x="13096" y="4221"/>
                    <a:pt x="12947" y="4254"/>
                  </a:cubicBezTo>
                  <a:cubicBezTo>
                    <a:pt x="12777" y="4303"/>
                    <a:pt x="12585" y="4369"/>
                    <a:pt x="12394" y="4401"/>
                  </a:cubicBezTo>
                  <a:cubicBezTo>
                    <a:pt x="12139" y="4500"/>
                    <a:pt x="12054" y="4614"/>
                    <a:pt x="11862" y="4647"/>
                  </a:cubicBezTo>
                  <a:cubicBezTo>
                    <a:pt x="11650" y="4761"/>
                    <a:pt x="11671" y="4680"/>
                    <a:pt x="11437" y="4778"/>
                  </a:cubicBezTo>
                  <a:cubicBezTo>
                    <a:pt x="11352" y="4827"/>
                    <a:pt x="11225" y="4974"/>
                    <a:pt x="11246" y="5072"/>
                  </a:cubicBezTo>
                  <a:cubicBezTo>
                    <a:pt x="11225" y="5154"/>
                    <a:pt x="11267" y="5220"/>
                    <a:pt x="11310" y="5269"/>
                  </a:cubicBezTo>
                  <a:cubicBezTo>
                    <a:pt x="11352" y="5318"/>
                    <a:pt x="11480" y="5383"/>
                    <a:pt x="11565" y="5416"/>
                  </a:cubicBezTo>
                  <a:cubicBezTo>
                    <a:pt x="11629" y="5400"/>
                    <a:pt x="11820" y="5465"/>
                    <a:pt x="11862" y="5432"/>
                  </a:cubicBezTo>
                  <a:cubicBezTo>
                    <a:pt x="11905" y="5416"/>
                    <a:pt x="11926" y="5269"/>
                    <a:pt x="11884" y="5236"/>
                  </a:cubicBezTo>
                  <a:cubicBezTo>
                    <a:pt x="11841" y="5203"/>
                    <a:pt x="11629" y="5269"/>
                    <a:pt x="11565" y="5220"/>
                  </a:cubicBezTo>
                  <a:cubicBezTo>
                    <a:pt x="11480" y="5187"/>
                    <a:pt x="11459" y="5040"/>
                    <a:pt x="11480" y="4974"/>
                  </a:cubicBezTo>
                  <a:cubicBezTo>
                    <a:pt x="11501" y="4909"/>
                    <a:pt x="11607" y="4860"/>
                    <a:pt x="11692" y="4843"/>
                  </a:cubicBezTo>
                  <a:cubicBezTo>
                    <a:pt x="11905" y="4876"/>
                    <a:pt x="11820" y="4876"/>
                    <a:pt x="12054" y="4876"/>
                  </a:cubicBezTo>
                  <a:cubicBezTo>
                    <a:pt x="12075" y="5040"/>
                    <a:pt x="12096" y="5269"/>
                    <a:pt x="12139" y="5416"/>
                  </a:cubicBezTo>
                  <a:cubicBezTo>
                    <a:pt x="12160" y="5465"/>
                    <a:pt x="12330" y="5465"/>
                    <a:pt x="12373" y="5416"/>
                  </a:cubicBezTo>
                  <a:cubicBezTo>
                    <a:pt x="12415" y="5367"/>
                    <a:pt x="12330" y="4974"/>
                    <a:pt x="12394" y="4892"/>
                  </a:cubicBezTo>
                  <a:cubicBezTo>
                    <a:pt x="12458" y="4810"/>
                    <a:pt x="12692" y="4925"/>
                    <a:pt x="12755" y="4892"/>
                  </a:cubicBezTo>
                  <a:cubicBezTo>
                    <a:pt x="12798" y="4860"/>
                    <a:pt x="12840" y="4761"/>
                    <a:pt x="12755" y="4729"/>
                  </a:cubicBezTo>
                  <a:cubicBezTo>
                    <a:pt x="12670" y="4696"/>
                    <a:pt x="12118" y="4745"/>
                    <a:pt x="12203" y="4696"/>
                  </a:cubicBezTo>
                  <a:cubicBezTo>
                    <a:pt x="12543" y="4549"/>
                    <a:pt x="12819" y="4434"/>
                    <a:pt x="13266" y="4401"/>
                  </a:cubicBezTo>
                  <a:cubicBezTo>
                    <a:pt x="13436" y="4385"/>
                    <a:pt x="13585" y="4500"/>
                    <a:pt x="13776" y="4532"/>
                  </a:cubicBezTo>
                  <a:cubicBezTo>
                    <a:pt x="13967" y="4630"/>
                    <a:pt x="13861" y="4843"/>
                    <a:pt x="13712" y="4925"/>
                  </a:cubicBezTo>
                  <a:cubicBezTo>
                    <a:pt x="13648" y="5023"/>
                    <a:pt x="13521" y="5121"/>
                    <a:pt x="13414" y="5187"/>
                  </a:cubicBezTo>
                  <a:cubicBezTo>
                    <a:pt x="13351" y="5285"/>
                    <a:pt x="13287" y="5334"/>
                    <a:pt x="13159" y="5383"/>
                  </a:cubicBezTo>
                  <a:cubicBezTo>
                    <a:pt x="13117" y="5563"/>
                    <a:pt x="12862" y="5743"/>
                    <a:pt x="12649" y="5809"/>
                  </a:cubicBezTo>
                  <a:cubicBezTo>
                    <a:pt x="12543" y="5907"/>
                    <a:pt x="12437" y="5940"/>
                    <a:pt x="12309" y="6005"/>
                  </a:cubicBezTo>
                  <a:cubicBezTo>
                    <a:pt x="12245" y="6120"/>
                    <a:pt x="12139" y="6185"/>
                    <a:pt x="12075" y="6300"/>
                  </a:cubicBezTo>
                  <a:cubicBezTo>
                    <a:pt x="12118" y="6561"/>
                    <a:pt x="12075" y="6643"/>
                    <a:pt x="12373" y="6741"/>
                  </a:cubicBezTo>
                  <a:cubicBezTo>
                    <a:pt x="12500" y="6840"/>
                    <a:pt x="12522" y="6970"/>
                    <a:pt x="12330" y="7036"/>
                  </a:cubicBezTo>
                  <a:cubicBezTo>
                    <a:pt x="12011" y="6987"/>
                    <a:pt x="12033" y="6823"/>
                    <a:pt x="11799" y="6692"/>
                  </a:cubicBezTo>
                  <a:cubicBezTo>
                    <a:pt x="11714" y="6529"/>
                    <a:pt x="11459" y="6430"/>
                    <a:pt x="11246" y="6398"/>
                  </a:cubicBezTo>
                  <a:cubicBezTo>
                    <a:pt x="11076" y="6332"/>
                    <a:pt x="11182" y="6365"/>
                    <a:pt x="10906" y="6365"/>
                  </a:cubicBezTo>
                  <a:cubicBezTo>
                    <a:pt x="10608" y="6512"/>
                    <a:pt x="10544" y="7347"/>
                    <a:pt x="11246" y="7478"/>
                  </a:cubicBezTo>
                  <a:cubicBezTo>
                    <a:pt x="12394" y="7429"/>
                    <a:pt x="13329" y="7772"/>
                    <a:pt x="13733" y="7985"/>
                  </a:cubicBezTo>
                  <a:cubicBezTo>
                    <a:pt x="13840" y="8410"/>
                    <a:pt x="13329" y="8901"/>
                    <a:pt x="12500" y="9343"/>
                  </a:cubicBezTo>
                  <a:cubicBezTo>
                    <a:pt x="11629" y="9736"/>
                    <a:pt x="11480" y="10194"/>
                    <a:pt x="11246" y="10980"/>
                  </a:cubicBezTo>
                  <a:cubicBezTo>
                    <a:pt x="10991" y="11372"/>
                    <a:pt x="10481" y="10930"/>
                    <a:pt x="10289" y="10096"/>
                  </a:cubicBezTo>
                  <a:cubicBezTo>
                    <a:pt x="10140" y="9196"/>
                    <a:pt x="9907" y="8165"/>
                    <a:pt x="10459" y="7576"/>
                  </a:cubicBezTo>
                  <a:cubicBezTo>
                    <a:pt x="9375" y="6790"/>
                    <a:pt x="9269" y="6070"/>
                    <a:pt x="9056" y="6218"/>
                  </a:cubicBezTo>
                  <a:cubicBezTo>
                    <a:pt x="9205" y="6987"/>
                    <a:pt x="8929" y="6660"/>
                    <a:pt x="8737" y="6021"/>
                  </a:cubicBezTo>
                  <a:cubicBezTo>
                    <a:pt x="8822" y="5023"/>
                    <a:pt x="8610" y="4385"/>
                    <a:pt x="8440" y="3550"/>
                  </a:cubicBezTo>
                  <a:lnTo>
                    <a:pt x="7844" y="2290"/>
                  </a:lnTo>
                  <a:lnTo>
                    <a:pt x="6654" y="1849"/>
                  </a:lnTo>
                </a:path>
              </a:pathLst>
            </a:custGeom>
            <a:solidFill>
              <a:srgbClr val="D8EBB3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sz="2000" b="1" dirty="0" smtClean="0">
                  <a:solidFill>
                    <a:schemeClr val="tx2"/>
                  </a:solidFill>
                </a:rPr>
                <a:t>index.html</a:t>
              </a:r>
              <a:endParaRPr lang="en-US" sz="2000" b="1" dirty="0">
                <a:solidFill>
                  <a:schemeClr val="tx2"/>
                </a:solidFill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886200" y="4416104"/>
              <a:ext cx="9144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 smtClean="0">
                  <a:solidFill>
                    <a:schemeClr val="accent2"/>
                  </a:solidFill>
                </a:rPr>
                <a:t>==</a:t>
              </a:r>
              <a:endParaRPr lang="en-US" sz="2800" b="1" dirty="0">
                <a:solidFill>
                  <a:schemeClr val="accent2"/>
                </a:solidFill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719671" y="4308382"/>
              <a:ext cx="12650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 smtClean="0">
                  <a:solidFill>
                    <a:schemeClr val="accent2"/>
                  </a:solidFill>
                </a:rPr>
                <a:t>is the same</a:t>
              </a:r>
              <a:endParaRPr lang="en-US" b="1" dirty="0">
                <a:solidFill>
                  <a:schemeClr val="accent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85674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HTML Styles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spcAft>
                <a:spcPts val="1000"/>
              </a:spcAft>
            </a:pPr>
            <a:r>
              <a:rPr lang="en-US" sz="2400" b="1" dirty="0" smtClean="0"/>
              <a:t>Cascading Style Sheet (CSS) </a:t>
            </a:r>
            <a:r>
              <a:rPr lang="en-US" sz="2400" dirty="0" smtClean="0"/>
              <a:t>is used to style HTML elements</a:t>
            </a:r>
          </a:p>
          <a:p>
            <a:pPr>
              <a:spcAft>
                <a:spcPts val="1000"/>
              </a:spcAft>
            </a:pPr>
            <a:r>
              <a:rPr lang="en-US" sz="2400" dirty="0" smtClean="0"/>
              <a:t>CSS can be added to HTML in the following ways:</a:t>
            </a:r>
          </a:p>
          <a:p>
            <a:pPr lvl="1">
              <a:spcAft>
                <a:spcPts val="1000"/>
              </a:spcAft>
            </a:pPr>
            <a:r>
              <a:rPr lang="en-US" sz="2000" dirty="0" smtClean="0"/>
              <a:t>In </a:t>
            </a:r>
            <a:r>
              <a:rPr lang="en-US" sz="2000" b="1" dirty="0" smtClean="0"/>
              <a:t>Cascading Style Sheets </a:t>
            </a:r>
            <a:r>
              <a:rPr lang="en-US" sz="2000" dirty="0" smtClean="0"/>
              <a:t>files (CSS files)</a:t>
            </a:r>
          </a:p>
          <a:p>
            <a:pPr lvl="1">
              <a:spcAft>
                <a:spcPts val="1000"/>
              </a:spcAft>
            </a:pPr>
            <a:r>
              <a:rPr lang="en-US" sz="2000" dirty="0" smtClean="0"/>
              <a:t>In the </a:t>
            </a:r>
            <a:r>
              <a:rPr lang="en-US" sz="2000" b="1" dirty="0" smtClean="0"/>
              <a:t>&lt;style&gt; element</a:t>
            </a:r>
            <a:r>
              <a:rPr lang="en-US" sz="2000" dirty="0" smtClean="0"/>
              <a:t> in the HTML head section</a:t>
            </a:r>
          </a:p>
          <a:p>
            <a:pPr lvl="1">
              <a:spcAft>
                <a:spcPts val="1000"/>
              </a:spcAft>
            </a:pPr>
            <a:r>
              <a:rPr lang="en-US" sz="2000" dirty="0" smtClean="0"/>
              <a:t>In the </a:t>
            </a:r>
            <a:r>
              <a:rPr lang="en-US" sz="2000" b="1" dirty="0" smtClean="0"/>
              <a:t>style attribute </a:t>
            </a:r>
            <a:r>
              <a:rPr lang="en-US" sz="2000" dirty="0" smtClean="0"/>
              <a:t>in single HTML elements</a:t>
            </a:r>
          </a:p>
          <a:p>
            <a:pPr>
              <a:spcAft>
                <a:spcPts val="1000"/>
              </a:spcAft>
            </a:pPr>
            <a:r>
              <a:rPr lang="en-US" sz="2400" dirty="0" smtClean="0"/>
              <a:t>Preferred way to add CSS to HTML, is to put CSS syntax in separate CSS files (further discussed in Topic 4)</a:t>
            </a:r>
            <a:endParaRPr lang="en-US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667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HTML Styles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HTML &lt;font&gt; tag should NOT be used</a:t>
            </a:r>
          </a:p>
          <a:p>
            <a:pPr lvl="1"/>
            <a:r>
              <a:rPr lang="en-US" sz="2000" dirty="0" smtClean="0"/>
              <a:t>Deprecated in HTML 4, and removed from HTML 5</a:t>
            </a:r>
            <a:endParaRPr lang="en-US" sz="2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IT1322 2012 S1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t>6</a:t>
            </a:fld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76200" y="3124200"/>
            <a:ext cx="8692102" cy="3628787"/>
            <a:chOff x="76200" y="3048000"/>
            <a:chExt cx="8692102" cy="3628787"/>
          </a:xfrm>
        </p:grpSpPr>
        <p:pic>
          <p:nvPicPr>
            <p:cNvPr id="12292" name="Picture 4" descr="C:\Users\EvyLim\AppData\Local\Temp\SNAGHTML201463d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00" y="3048000"/>
              <a:ext cx="5419725" cy="3505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TextBox 6"/>
            <p:cNvSpPr txBox="1"/>
            <p:nvPr/>
          </p:nvSpPr>
          <p:spPr>
            <a:xfrm>
              <a:off x="4191000" y="3352800"/>
              <a:ext cx="4577302" cy="3323987"/>
            </a:xfrm>
            <a:prstGeom prst="rect">
              <a:avLst/>
            </a:prstGeom>
            <a:solidFill>
              <a:srgbClr val="FFFFCC"/>
            </a:solidFill>
            <a:ln>
              <a:solidFill>
                <a:srgbClr val="FFC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1">
                      <a:lumMod val="50000"/>
                    </a:schemeClr>
                  </a:solidFill>
                </a:rPr>
                <a:t>&lt;html&gt;</a:t>
              </a:r>
            </a:p>
            <a:p>
              <a:r>
                <a:rPr lang="en-US" sz="1400" dirty="0">
                  <a:solidFill>
                    <a:schemeClr val="bg1">
                      <a:lumMod val="50000"/>
                    </a:schemeClr>
                  </a:solidFill>
                </a:rPr>
                <a:t>&lt;head&gt;</a:t>
              </a:r>
            </a:p>
            <a:p>
              <a:r>
                <a:rPr lang="en-US" sz="1400" dirty="0">
                  <a:solidFill>
                    <a:schemeClr val="bg1">
                      <a:lumMod val="50000"/>
                    </a:schemeClr>
                  </a:solidFill>
                </a:rPr>
                <a:t>&lt;title&gt;HTML </a:t>
              </a:r>
              <a:r>
                <a:rPr lang="en-US" sz="1400" dirty="0" smtClean="0">
                  <a:solidFill>
                    <a:schemeClr val="bg1">
                      <a:lumMod val="50000"/>
                    </a:schemeClr>
                  </a:solidFill>
                </a:rPr>
                <a:t>Line Breaks&lt;/</a:t>
              </a:r>
              <a:r>
                <a:rPr lang="en-US" sz="1400" dirty="0">
                  <a:solidFill>
                    <a:schemeClr val="bg1">
                      <a:lumMod val="50000"/>
                    </a:schemeClr>
                  </a:solidFill>
                </a:rPr>
                <a:t>title&gt;</a:t>
              </a:r>
            </a:p>
            <a:p>
              <a:r>
                <a:rPr lang="en-US" sz="1400" dirty="0">
                  <a:solidFill>
                    <a:schemeClr val="bg1">
                      <a:lumMod val="50000"/>
                    </a:schemeClr>
                  </a:solidFill>
                </a:rPr>
                <a:t>&lt;/head&gt;</a:t>
              </a:r>
            </a:p>
            <a:p>
              <a:endParaRPr lang="en-US" sz="1400" dirty="0">
                <a:solidFill>
                  <a:schemeClr val="bg1">
                    <a:lumMod val="50000"/>
                  </a:schemeClr>
                </a:solidFill>
              </a:endParaRPr>
            </a:p>
            <a:p>
              <a:r>
                <a:rPr lang="en-US" sz="1400" dirty="0">
                  <a:solidFill>
                    <a:schemeClr val="bg1">
                      <a:lumMod val="50000"/>
                    </a:schemeClr>
                  </a:solidFill>
                </a:rPr>
                <a:t>&lt;body&gt;</a:t>
              </a:r>
            </a:p>
            <a:p>
              <a:r>
                <a:rPr lang="en-US" sz="1400" b="1" dirty="0"/>
                <a:t>&lt;p style="</a:t>
              </a:r>
              <a:r>
                <a:rPr lang="en-US" sz="1400" b="1" dirty="0" err="1"/>
                <a:t>font-family:verdana</a:t>
              </a:r>
              <a:r>
                <a:rPr lang="en-US" sz="1400" b="1" dirty="0"/>
                <a:t>; </a:t>
              </a:r>
              <a:r>
                <a:rPr lang="en-US" sz="1400" b="1" dirty="0" err="1"/>
                <a:t>color:red</a:t>
              </a:r>
              <a:r>
                <a:rPr lang="en-US" sz="1400" b="1" dirty="0"/>
                <a:t>;"&gt;This text is in Verdana </a:t>
              </a:r>
              <a:r>
                <a:rPr lang="en-US" sz="1400" b="1" dirty="0" smtClean="0"/>
                <a:t>and </a:t>
              </a:r>
              <a:r>
                <a:rPr lang="en-US" sz="1400" b="1" dirty="0"/>
                <a:t>red&lt;/p&gt;</a:t>
              </a:r>
            </a:p>
            <a:p>
              <a:endParaRPr lang="en-US" sz="1400" b="1" dirty="0"/>
            </a:p>
            <a:p>
              <a:r>
                <a:rPr lang="en-US" sz="1400" b="1" dirty="0"/>
                <a:t>&lt;p style="</a:t>
              </a:r>
              <a:r>
                <a:rPr lang="en-US" sz="1400" b="1" dirty="0" err="1"/>
                <a:t>font-family:Times</a:t>
              </a:r>
              <a:r>
                <a:rPr lang="en-US" sz="1400" b="1" dirty="0"/>
                <a:t> New Roman; </a:t>
              </a:r>
              <a:r>
                <a:rPr lang="en-US" sz="1400" b="1" dirty="0" err="1"/>
                <a:t>color:blue</a:t>
              </a:r>
              <a:r>
                <a:rPr lang="en-US" sz="1400" b="1" dirty="0"/>
                <a:t>;"&gt;This text is in </a:t>
              </a:r>
              <a:r>
                <a:rPr lang="en-US" sz="1400" b="1" dirty="0" smtClean="0"/>
                <a:t>Times and blue&lt;/</a:t>
              </a:r>
              <a:r>
                <a:rPr lang="en-US" sz="1400" b="1" dirty="0"/>
                <a:t>p&gt;</a:t>
              </a:r>
            </a:p>
            <a:p>
              <a:endParaRPr lang="en-US" sz="1400" b="1" dirty="0"/>
            </a:p>
            <a:p>
              <a:r>
                <a:rPr lang="en-US" sz="1400" b="1" dirty="0"/>
                <a:t>&lt;p style="</a:t>
              </a:r>
              <a:r>
                <a:rPr lang="en-US" sz="1400" b="1" dirty="0" err="1" smtClean="0"/>
                <a:t>font-family:arial</a:t>
              </a:r>
              <a:r>
                <a:rPr lang="en-US" sz="1400" b="1" dirty="0"/>
                <a:t>; </a:t>
              </a:r>
              <a:r>
                <a:rPr lang="en-US" sz="1400" b="1" dirty="0" smtClean="0"/>
                <a:t>font-size:30px;"&gt;</a:t>
              </a:r>
              <a:r>
                <a:rPr lang="en-US" sz="1400" b="1" dirty="0"/>
                <a:t>This text is in 30 </a:t>
              </a:r>
              <a:r>
                <a:rPr lang="en-US" sz="1400" b="1" dirty="0" smtClean="0"/>
                <a:t>pixels high</a:t>
              </a:r>
              <a:r>
                <a:rPr lang="en-US" sz="1400" b="1" dirty="0"/>
                <a:t>&lt;/p&gt;</a:t>
              </a:r>
              <a:r>
                <a:rPr lang="en-US" sz="1400" dirty="0" smtClean="0">
                  <a:solidFill>
                    <a:schemeClr val="bg1">
                      <a:lumMod val="50000"/>
                    </a:schemeClr>
                  </a:solidFill>
                </a:rPr>
                <a:t>&lt;/</a:t>
              </a:r>
              <a:r>
                <a:rPr lang="en-US" sz="1400" dirty="0">
                  <a:solidFill>
                    <a:schemeClr val="bg1">
                      <a:lumMod val="50000"/>
                    </a:schemeClr>
                  </a:solidFill>
                </a:rPr>
                <a:t>body&gt;</a:t>
              </a:r>
            </a:p>
            <a:p>
              <a:r>
                <a:rPr lang="en-US" sz="1400" dirty="0">
                  <a:solidFill>
                    <a:schemeClr val="bg1">
                      <a:lumMod val="50000"/>
                    </a:schemeClr>
                  </a:solidFill>
                </a:rPr>
                <a:t>&lt;/html&gt;</a:t>
              </a: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1828800" y="2080736"/>
            <a:ext cx="5638800" cy="83099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&lt;font size="5" face="</a:t>
            </a:r>
            <a:r>
              <a:rPr lang="en-US" sz="1600" dirty="0" err="1"/>
              <a:t>arial</a:t>
            </a:r>
            <a:r>
              <a:rPr lang="en-US" sz="1600" dirty="0"/>
              <a:t>" color="red"&gt;</a:t>
            </a:r>
          </a:p>
          <a:p>
            <a:r>
              <a:rPr lang="en-US" sz="1600" dirty="0"/>
              <a:t>This paragraph is in Arial, size 5, and in red text color.</a:t>
            </a:r>
          </a:p>
          <a:p>
            <a:r>
              <a:rPr lang="en-US" sz="1600" dirty="0"/>
              <a:t>&lt;/font&gt;</a:t>
            </a:r>
          </a:p>
        </p:txBody>
      </p:sp>
    </p:spTree>
    <p:extLst>
      <p:ext uri="{BB962C8B-B14F-4D97-AF65-F5344CB8AC3E}">
        <p14:creationId xmlns:p14="http://schemas.microsoft.com/office/powerpoint/2010/main" val="2476319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HTML Links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spcAft>
                <a:spcPts val="1000"/>
              </a:spcAft>
            </a:pPr>
            <a:r>
              <a:rPr lang="en-US" dirty="0" smtClean="0"/>
              <a:t>Allow users to click from one page to another</a:t>
            </a:r>
          </a:p>
          <a:p>
            <a:pPr>
              <a:spcAft>
                <a:spcPts val="1000"/>
              </a:spcAft>
            </a:pPr>
            <a:r>
              <a:rPr lang="en-US" dirty="0" smtClean="0"/>
              <a:t>Hyperlink (or link) is a word, group of words, or image that you can click on to jump to a new document or a new section within the current document</a:t>
            </a:r>
          </a:p>
          <a:p>
            <a:pPr>
              <a:spcAft>
                <a:spcPts val="1000"/>
              </a:spcAft>
            </a:pPr>
            <a:r>
              <a:rPr lang="en-US" dirty="0" smtClean="0"/>
              <a:t>Move your cursor over a link in a Web page, the arrow will turn into a little hand</a:t>
            </a:r>
          </a:p>
          <a:p>
            <a:pPr>
              <a:spcAft>
                <a:spcPts val="1000"/>
              </a:spcAft>
            </a:pPr>
            <a:r>
              <a:rPr lang="en-US" dirty="0" smtClean="0"/>
              <a:t>Specified in HTML using &lt;a&gt; tag</a:t>
            </a:r>
          </a:p>
          <a:p>
            <a:pPr>
              <a:spcAft>
                <a:spcPts val="1000"/>
              </a:spcAft>
            </a:pPr>
            <a:r>
              <a:rPr lang="en-US" dirty="0" smtClean="0"/>
              <a:t>&lt;a&gt; tag can be used in two ways:</a:t>
            </a:r>
          </a:p>
          <a:p>
            <a:pPr lvl="1">
              <a:spcAft>
                <a:spcPts val="1000"/>
              </a:spcAft>
            </a:pPr>
            <a:r>
              <a:rPr lang="en-US" dirty="0" smtClean="0"/>
              <a:t>To create a link to another document (</a:t>
            </a:r>
            <a:r>
              <a:rPr lang="en-US" dirty="0" err="1" smtClean="0"/>
              <a:t>href</a:t>
            </a:r>
            <a:r>
              <a:rPr lang="en-US" dirty="0" smtClean="0"/>
              <a:t> attribute)</a:t>
            </a:r>
          </a:p>
          <a:p>
            <a:pPr lvl="1">
              <a:spcAft>
                <a:spcPts val="1000"/>
              </a:spcAft>
            </a:pPr>
            <a:r>
              <a:rPr lang="en-US" dirty="0" smtClean="0"/>
              <a:t>To create a bookmark inside a document (name attribute)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816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HTML Links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 err="1" smtClean="0">
                <a:solidFill>
                  <a:schemeClr val="accent1"/>
                </a:solidFill>
              </a:rPr>
              <a:t>href</a:t>
            </a:r>
            <a:r>
              <a:rPr lang="en-US" sz="2400" b="1" dirty="0" smtClean="0">
                <a:solidFill>
                  <a:schemeClr val="accent1"/>
                </a:solidFill>
              </a:rPr>
              <a:t> attribute </a:t>
            </a:r>
            <a:r>
              <a:rPr lang="en-US" sz="2400" dirty="0" smtClean="0"/>
              <a:t>specifies the destination of a link</a:t>
            </a:r>
          </a:p>
          <a:p>
            <a:endParaRPr lang="en-US" sz="2400" dirty="0"/>
          </a:p>
          <a:p>
            <a:endParaRPr lang="en-US" sz="2400" dirty="0" smtClean="0"/>
          </a:p>
          <a:p>
            <a:endParaRPr lang="en-US" sz="2400" b="1" dirty="0" smtClean="0"/>
          </a:p>
          <a:p>
            <a:r>
              <a:rPr lang="en-US" sz="2400" b="1" dirty="0" smtClean="0">
                <a:solidFill>
                  <a:schemeClr val="accent1"/>
                </a:solidFill>
              </a:rPr>
              <a:t>target attribute </a:t>
            </a:r>
            <a:r>
              <a:rPr lang="en-US" sz="2400" dirty="0" smtClean="0"/>
              <a:t>specifies where to open the linked document</a:t>
            </a:r>
          </a:p>
          <a:p>
            <a:endParaRPr lang="en-US" sz="2400" dirty="0"/>
          </a:p>
          <a:p>
            <a:endParaRPr lang="en-US" sz="2400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t>8</a:t>
            </a:fld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>
            <a:off x="1447800" y="2250013"/>
            <a:ext cx="6400800" cy="1559987"/>
            <a:chOff x="1447800" y="1911459"/>
            <a:chExt cx="5638800" cy="755541"/>
          </a:xfrm>
        </p:grpSpPr>
        <p:sp>
          <p:nvSpPr>
            <p:cNvPr id="6" name="TextBox 5"/>
            <p:cNvSpPr txBox="1"/>
            <p:nvPr/>
          </p:nvSpPr>
          <p:spPr>
            <a:xfrm>
              <a:off x="1447800" y="1911459"/>
              <a:ext cx="5638800" cy="33855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accent3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 smtClean="0"/>
                <a:t>&lt;a </a:t>
              </a:r>
              <a:r>
                <a:rPr lang="en-US" sz="1600" b="1" dirty="0" err="1" smtClean="0"/>
                <a:t>href</a:t>
              </a:r>
              <a:r>
                <a:rPr lang="en-US" sz="1600" b="1" dirty="0" smtClean="0"/>
                <a:t>=“http://www.nyp.edu.sg”</a:t>
              </a:r>
              <a:r>
                <a:rPr lang="en-US" sz="1600" dirty="0" smtClean="0"/>
                <a:t>&gt;Visit NYP&lt;/a&gt;</a:t>
              </a:r>
              <a:endParaRPr lang="en-US" sz="1600" dirty="0"/>
            </a:p>
          </p:txBody>
        </p:sp>
        <p:sp>
          <p:nvSpPr>
            <p:cNvPr id="9" name="Line Callout 1 8"/>
            <p:cNvSpPr/>
            <p:nvPr/>
          </p:nvSpPr>
          <p:spPr>
            <a:xfrm>
              <a:off x="2438400" y="2360676"/>
              <a:ext cx="4648200" cy="306324"/>
            </a:xfrm>
            <a:prstGeom prst="borderCallout1">
              <a:avLst>
                <a:gd name="adj1" fmla="val 50833"/>
                <a:gd name="adj2" fmla="val -432"/>
                <a:gd name="adj3" fmla="val -26146"/>
                <a:gd name="adj4" fmla="val -8781"/>
              </a:avLst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400" dirty="0" smtClean="0"/>
                <a:t>Clicking on this link with send the user to NYP’s homepage</a:t>
              </a:r>
              <a:endParaRPr lang="en-US" sz="1400" dirty="0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952500" y="4663553"/>
            <a:ext cx="7391400" cy="763524"/>
            <a:chOff x="1447800" y="3810000"/>
            <a:chExt cx="7391400" cy="763524"/>
          </a:xfrm>
        </p:grpSpPr>
        <p:sp>
          <p:nvSpPr>
            <p:cNvPr id="7" name="TextBox 6"/>
            <p:cNvSpPr txBox="1"/>
            <p:nvPr/>
          </p:nvSpPr>
          <p:spPr>
            <a:xfrm>
              <a:off x="1447800" y="3810000"/>
              <a:ext cx="5638800" cy="33855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accent3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 smtClean="0"/>
                <a:t>&lt;a </a:t>
              </a:r>
              <a:r>
                <a:rPr lang="en-US" sz="1600" dirty="0" err="1" smtClean="0"/>
                <a:t>href</a:t>
              </a:r>
              <a:r>
                <a:rPr lang="en-US" sz="1600" dirty="0" smtClean="0"/>
                <a:t>=“http://www.nyp.edu.sg” </a:t>
              </a:r>
              <a:r>
                <a:rPr lang="en-US" sz="1600" b="1" dirty="0" smtClean="0"/>
                <a:t>target=“_blank”</a:t>
              </a:r>
              <a:r>
                <a:rPr lang="en-US" sz="1600" dirty="0" smtClean="0"/>
                <a:t>&gt;Visit NYP&lt;/a&gt;</a:t>
              </a:r>
              <a:endParaRPr lang="en-US" sz="1600" dirty="0"/>
            </a:p>
          </p:txBody>
        </p:sp>
        <p:sp>
          <p:nvSpPr>
            <p:cNvPr id="10" name="Line Callout 1 9"/>
            <p:cNvSpPr/>
            <p:nvPr/>
          </p:nvSpPr>
          <p:spPr>
            <a:xfrm>
              <a:off x="2438400" y="4267200"/>
              <a:ext cx="6400800" cy="306324"/>
            </a:xfrm>
            <a:prstGeom prst="borderCallout1">
              <a:avLst>
                <a:gd name="adj1" fmla="val 50833"/>
                <a:gd name="adj2" fmla="val -432"/>
                <a:gd name="adj3" fmla="val -38087"/>
                <a:gd name="adj4" fmla="val -6158"/>
              </a:avLst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400" dirty="0" smtClean="0"/>
                <a:t>Clicking on this link will open linked document in a new browser window or a new tab</a:t>
              </a:r>
              <a:endParaRPr 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3838059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HTML Links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 smtClean="0">
                <a:solidFill>
                  <a:schemeClr val="accent1"/>
                </a:solidFill>
              </a:rPr>
              <a:t>name attribute </a:t>
            </a:r>
            <a:r>
              <a:rPr lang="en-US" sz="2400" dirty="0" smtClean="0"/>
              <a:t>specifies the name of an anchor, used to create a bookmark inside a HTML document</a:t>
            </a:r>
          </a:p>
          <a:p>
            <a:pPr lvl="1"/>
            <a:r>
              <a:rPr lang="en-US" sz="2000" dirty="0" smtClean="0"/>
              <a:t>Bookmarks are not displayed, invisible to the reader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t>9</a:t>
            </a:fld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>
            <a:off x="1219200" y="3130659"/>
            <a:ext cx="5638800" cy="755541"/>
            <a:chOff x="1447800" y="1911459"/>
            <a:chExt cx="5638800" cy="755541"/>
          </a:xfrm>
        </p:grpSpPr>
        <p:sp>
          <p:nvSpPr>
            <p:cNvPr id="6" name="TextBox 5"/>
            <p:cNvSpPr txBox="1"/>
            <p:nvPr/>
          </p:nvSpPr>
          <p:spPr>
            <a:xfrm>
              <a:off x="1447800" y="1911459"/>
              <a:ext cx="5638800" cy="33855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accent3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 smtClean="0"/>
                <a:t>&lt;a </a:t>
              </a:r>
              <a:r>
                <a:rPr lang="en-US" sz="1600" b="1" dirty="0" smtClean="0"/>
                <a:t>name=“</a:t>
              </a:r>
              <a:r>
                <a:rPr lang="en-US" sz="1600" b="1" dirty="0" err="1" smtClean="0"/>
                <a:t>aboutus</a:t>
              </a:r>
              <a:r>
                <a:rPr lang="en-US" sz="1600" b="1" dirty="0" smtClean="0"/>
                <a:t>”</a:t>
              </a:r>
              <a:r>
                <a:rPr lang="en-US" sz="1600" dirty="0" smtClean="0"/>
                <a:t>&gt;About Us Section&lt;/a&gt;</a:t>
              </a:r>
              <a:endParaRPr lang="en-US" sz="1600" dirty="0"/>
            </a:p>
          </p:txBody>
        </p:sp>
        <p:sp>
          <p:nvSpPr>
            <p:cNvPr id="9" name="Line Callout 1 8"/>
            <p:cNvSpPr/>
            <p:nvPr/>
          </p:nvSpPr>
          <p:spPr>
            <a:xfrm>
              <a:off x="2438400" y="2360676"/>
              <a:ext cx="4648200" cy="306324"/>
            </a:xfrm>
            <a:prstGeom prst="borderCallout1">
              <a:avLst>
                <a:gd name="adj1" fmla="val 50833"/>
                <a:gd name="adj2" fmla="val -432"/>
                <a:gd name="adj3" fmla="val -26146"/>
                <a:gd name="adj4" fmla="val -8781"/>
              </a:avLst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400" dirty="0" smtClean="0"/>
                <a:t>Named anchor inside a HTML document</a:t>
              </a:r>
              <a:endParaRPr lang="en-US" sz="1400" dirty="0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990600" y="4181094"/>
            <a:ext cx="7391400" cy="763524"/>
            <a:chOff x="1447800" y="3810000"/>
            <a:chExt cx="7391400" cy="763524"/>
          </a:xfrm>
        </p:grpSpPr>
        <p:sp>
          <p:nvSpPr>
            <p:cNvPr id="7" name="TextBox 6"/>
            <p:cNvSpPr txBox="1"/>
            <p:nvPr/>
          </p:nvSpPr>
          <p:spPr>
            <a:xfrm>
              <a:off x="1447800" y="3810000"/>
              <a:ext cx="5638800" cy="33855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accent3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 smtClean="0"/>
                <a:t>&lt;a </a:t>
              </a:r>
              <a:r>
                <a:rPr lang="en-US" sz="1600" b="1" dirty="0" err="1" smtClean="0"/>
                <a:t>href</a:t>
              </a:r>
              <a:r>
                <a:rPr lang="en-US" sz="1600" b="1" dirty="0" smtClean="0"/>
                <a:t>=“#</a:t>
              </a:r>
              <a:r>
                <a:rPr lang="en-US" sz="1600" b="1" dirty="0" err="1" smtClean="0"/>
                <a:t>aboutus</a:t>
              </a:r>
              <a:r>
                <a:rPr lang="en-US" sz="1600" b="1" dirty="0" smtClean="0"/>
                <a:t>”</a:t>
              </a:r>
              <a:r>
                <a:rPr lang="en-US" sz="1600" dirty="0" smtClean="0"/>
                <a:t>&gt;Visit the About Us Section&lt;/a&gt;</a:t>
              </a:r>
              <a:endParaRPr lang="en-US" sz="1600" dirty="0"/>
            </a:p>
          </p:txBody>
        </p:sp>
        <p:sp>
          <p:nvSpPr>
            <p:cNvPr id="10" name="Line Callout 1 9"/>
            <p:cNvSpPr/>
            <p:nvPr/>
          </p:nvSpPr>
          <p:spPr>
            <a:xfrm>
              <a:off x="2438400" y="4267200"/>
              <a:ext cx="6400800" cy="306324"/>
            </a:xfrm>
            <a:prstGeom prst="borderCallout1">
              <a:avLst>
                <a:gd name="adj1" fmla="val 50833"/>
                <a:gd name="adj2" fmla="val -432"/>
                <a:gd name="adj3" fmla="val -38087"/>
                <a:gd name="adj4" fmla="val -6158"/>
              </a:avLst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400" dirty="0" smtClean="0"/>
                <a:t>Create a link to the “About Us Section” inside the same document</a:t>
              </a:r>
              <a:endParaRPr lang="en-US" sz="1400" dirty="0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990600" y="5332476"/>
            <a:ext cx="7391400" cy="1069848"/>
            <a:chOff x="1447800" y="3810000"/>
            <a:chExt cx="7391400" cy="1069848"/>
          </a:xfrm>
        </p:grpSpPr>
        <p:sp>
          <p:nvSpPr>
            <p:cNvPr id="17" name="TextBox 16"/>
            <p:cNvSpPr txBox="1"/>
            <p:nvPr/>
          </p:nvSpPr>
          <p:spPr>
            <a:xfrm>
              <a:off x="1447800" y="3810000"/>
              <a:ext cx="7391400" cy="584775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accent3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 smtClean="0"/>
                <a:t>&lt;a </a:t>
              </a:r>
              <a:r>
                <a:rPr lang="en-US" sz="1600" b="1" dirty="0" err="1" smtClean="0"/>
                <a:t>href</a:t>
              </a:r>
              <a:r>
                <a:rPr lang="en-US" sz="1600" b="1" dirty="0" smtClean="0"/>
                <a:t>=“http://www.nyp.edu.sg/</a:t>
              </a:r>
              <a:r>
                <a:rPr lang="en-US" sz="1600" b="1" dirty="0" err="1" smtClean="0"/>
                <a:t>index.html#aboutus</a:t>
              </a:r>
              <a:r>
                <a:rPr lang="en-US" sz="1600" b="1" dirty="0" smtClean="0"/>
                <a:t>”</a:t>
              </a:r>
              <a:r>
                <a:rPr lang="en-US" sz="1600" dirty="0" smtClean="0"/>
                <a:t>&gt;Visit the About Us Section&lt;/a&gt;</a:t>
              </a:r>
              <a:endParaRPr lang="en-US" sz="1600" dirty="0"/>
            </a:p>
          </p:txBody>
        </p:sp>
        <p:sp>
          <p:nvSpPr>
            <p:cNvPr id="18" name="Line Callout 1 17"/>
            <p:cNvSpPr/>
            <p:nvPr/>
          </p:nvSpPr>
          <p:spPr>
            <a:xfrm>
              <a:off x="2438400" y="4573524"/>
              <a:ext cx="6400800" cy="306324"/>
            </a:xfrm>
            <a:prstGeom prst="borderCallout1">
              <a:avLst>
                <a:gd name="adj1" fmla="val 50833"/>
                <a:gd name="adj2" fmla="val -432"/>
                <a:gd name="adj3" fmla="val -38087"/>
                <a:gd name="adj4" fmla="val -6158"/>
              </a:avLst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400" dirty="0" smtClean="0"/>
                <a:t>Create a link to the “About Us Section” from another page</a:t>
              </a:r>
              <a:endParaRPr 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2010349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HTML Images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spcAft>
                <a:spcPts val="1000"/>
              </a:spcAft>
            </a:pPr>
            <a:r>
              <a:rPr lang="en-US" sz="2400" dirty="0" smtClean="0"/>
              <a:t>Images are defined with the </a:t>
            </a:r>
            <a:r>
              <a:rPr lang="en-US" sz="2400" b="1" dirty="0" smtClean="0"/>
              <a:t>&lt;</a:t>
            </a:r>
            <a:r>
              <a:rPr lang="en-US" sz="2400" b="1" dirty="0" err="1" smtClean="0"/>
              <a:t>img</a:t>
            </a:r>
            <a:r>
              <a:rPr lang="en-US" sz="2400" b="1" dirty="0" smtClean="0"/>
              <a:t>&gt; </a:t>
            </a:r>
            <a:r>
              <a:rPr lang="en-US" sz="2400" dirty="0" smtClean="0"/>
              <a:t>tag</a:t>
            </a:r>
          </a:p>
          <a:p>
            <a:pPr>
              <a:spcAft>
                <a:spcPts val="1000"/>
              </a:spcAft>
            </a:pPr>
            <a:r>
              <a:rPr lang="en-US" sz="2400" dirty="0" smtClean="0"/>
              <a:t>&lt;</a:t>
            </a:r>
            <a:r>
              <a:rPr lang="en-US" sz="2400" dirty="0" err="1" smtClean="0"/>
              <a:t>img</a:t>
            </a:r>
            <a:r>
              <a:rPr lang="en-US" sz="2400" dirty="0" smtClean="0"/>
              <a:t> /&gt; </a:t>
            </a:r>
            <a:r>
              <a:rPr lang="en-US" sz="2400" dirty="0" smtClean="0">
                <a:sym typeface="Wingdings" pitchFamily="2" charset="2"/>
              </a:rPr>
              <a:t> an </a:t>
            </a:r>
            <a:r>
              <a:rPr lang="en-US" sz="2400" dirty="0" smtClean="0"/>
              <a:t>empty tag, contains attributes only, has no closing tag</a:t>
            </a:r>
          </a:p>
          <a:p>
            <a:pPr>
              <a:spcAft>
                <a:spcPts val="1000"/>
              </a:spcAft>
            </a:pPr>
            <a:r>
              <a:rPr lang="en-US" sz="2400" b="1" dirty="0" err="1" smtClean="0">
                <a:solidFill>
                  <a:schemeClr val="accent1"/>
                </a:solidFill>
              </a:rPr>
              <a:t>src</a:t>
            </a:r>
            <a:r>
              <a:rPr lang="en-US" sz="2400" b="1" dirty="0" smtClean="0">
                <a:solidFill>
                  <a:schemeClr val="accent1"/>
                </a:solidFill>
              </a:rPr>
              <a:t> attribute</a:t>
            </a:r>
            <a:r>
              <a:rPr lang="en-US" sz="2400" dirty="0" smtClean="0"/>
              <a:t>: URL of the image to be displayed, </a:t>
            </a:r>
            <a:r>
              <a:rPr lang="en-US" sz="2400" dirty="0" err="1" smtClean="0"/>
              <a:t>src</a:t>
            </a:r>
            <a:r>
              <a:rPr lang="en-US" sz="2400" dirty="0" smtClean="0"/>
              <a:t> stands for “source”</a:t>
            </a:r>
          </a:p>
          <a:p>
            <a:pPr>
              <a:spcAft>
                <a:spcPts val="1000"/>
              </a:spcAft>
            </a:pPr>
            <a:r>
              <a:rPr lang="en-US" sz="2400" b="1" dirty="0" smtClean="0">
                <a:solidFill>
                  <a:schemeClr val="accent1"/>
                </a:solidFill>
              </a:rPr>
              <a:t>alt attribute</a:t>
            </a:r>
            <a:r>
              <a:rPr lang="en-US" sz="2400" dirty="0" smtClean="0"/>
              <a:t>: specifies an alternate text for an image</a:t>
            </a:r>
          </a:p>
          <a:p>
            <a:pPr>
              <a:spcAft>
                <a:spcPts val="1000"/>
              </a:spcAft>
            </a:pPr>
            <a:r>
              <a:rPr lang="en-US" sz="2400" b="1" dirty="0" smtClean="0">
                <a:solidFill>
                  <a:schemeClr val="accent1"/>
                </a:solidFill>
              </a:rPr>
              <a:t>width and height attribute</a:t>
            </a:r>
            <a:r>
              <a:rPr lang="en-US" sz="2400" dirty="0" smtClean="0"/>
              <a:t>: specifies the height and width of an image, specified in pixels by default</a:t>
            </a:r>
            <a:endParaRPr lang="en-US" sz="2400" dirty="0"/>
          </a:p>
          <a:p>
            <a:endParaRPr lang="en-US" sz="2400" dirty="0" smtClean="0"/>
          </a:p>
          <a:p>
            <a:endParaRPr lang="en-US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t>10</a:t>
            </a:fld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990600" y="5256276"/>
            <a:ext cx="7391400" cy="1146048"/>
            <a:chOff x="1447800" y="3810000"/>
            <a:chExt cx="7391400" cy="1146048"/>
          </a:xfrm>
        </p:grpSpPr>
        <p:sp>
          <p:nvSpPr>
            <p:cNvPr id="7" name="TextBox 6"/>
            <p:cNvSpPr txBox="1"/>
            <p:nvPr/>
          </p:nvSpPr>
          <p:spPr>
            <a:xfrm>
              <a:off x="1447800" y="3810000"/>
              <a:ext cx="7086600" cy="584775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accent3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b="1" dirty="0" smtClean="0"/>
                <a:t>&lt;</a:t>
              </a:r>
              <a:r>
                <a:rPr lang="en-US" sz="1600" b="1" dirty="0" err="1" smtClean="0"/>
                <a:t>img</a:t>
              </a:r>
              <a:r>
                <a:rPr lang="en-US" sz="1600" b="1" dirty="0" smtClean="0"/>
                <a:t> </a:t>
              </a:r>
              <a:r>
                <a:rPr lang="en-US" sz="1600" b="1" dirty="0" err="1" smtClean="0"/>
                <a:t>src</a:t>
              </a:r>
              <a:r>
                <a:rPr lang="en-US" sz="1600" b="1" dirty="0" smtClean="0"/>
                <a:t>=“images/nyp.gif” alt=“</a:t>
              </a:r>
              <a:r>
                <a:rPr lang="en-US" sz="1600" b="1" dirty="0" err="1" smtClean="0"/>
                <a:t>Nanyang</a:t>
              </a:r>
              <a:r>
                <a:rPr lang="en-US" sz="1600" b="1" dirty="0" smtClean="0"/>
                <a:t> Polytechnic” width=“304” height=“225” /&gt;</a:t>
              </a:r>
              <a:endParaRPr lang="en-US" sz="1600" b="1" dirty="0"/>
            </a:p>
          </p:txBody>
        </p:sp>
        <p:sp>
          <p:nvSpPr>
            <p:cNvPr id="8" name="Line Callout 1 7"/>
            <p:cNvSpPr/>
            <p:nvPr/>
          </p:nvSpPr>
          <p:spPr>
            <a:xfrm>
              <a:off x="2438400" y="4649724"/>
              <a:ext cx="6400800" cy="306324"/>
            </a:xfrm>
            <a:prstGeom prst="borderCallout1">
              <a:avLst>
                <a:gd name="adj1" fmla="val 50833"/>
                <a:gd name="adj2" fmla="val -432"/>
                <a:gd name="adj3" fmla="val -38087"/>
                <a:gd name="adj4" fmla="val -6158"/>
              </a:avLst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400" dirty="0" smtClean="0"/>
                <a:t>An image named “nyp.gif” located in the “images” directory </a:t>
              </a:r>
              <a:endParaRPr 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4195888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HTML Tables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IT1322 2012 S1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t>11</a:t>
            </a:fld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1129394" y="1676400"/>
            <a:ext cx="7709806" cy="5047536"/>
            <a:chOff x="1129394" y="1676400"/>
            <a:chExt cx="7709806" cy="5047536"/>
          </a:xfrm>
        </p:grpSpPr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29394" y="3493532"/>
              <a:ext cx="3747406" cy="320158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" name="TextBox 6"/>
            <p:cNvSpPr txBox="1"/>
            <p:nvPr/>
          </p:nvSpPr>
          <p:spPr>
            <a:xfrm>
              <a:off x="4953000" y="1676400"/>
              <a:ext cx="3886200" cy="5047536"/>
            </a:xfrm>
            <a:prstGeom prst="rect">
              <a:avLst/>
            </a:prstGeom>
            <a:solidFill>
              <a:srgbClr val="FFFFCC"/>
            </a:solidFill>
            <a:ln>
              <a:solidFill>
                <a:srgbClr val="FFC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1">
                      <a:lumMod val="50000"/>
                    </a:schemeClr>
                  </a:solidFill>
                </a:rPr>
                <a:t>&lt;html&gt;</a:t>
              </a:r>
            </a:p>
            <a:p>
              <a:r>
                <a:rPr lang="en-US" sz="1400" dirty="0">
                  <a:solidFill>
                    <a:schemeClr val="bg1">
                      <a:lumMod val="50000"/>
                    </a:schemeClr>
                  </a:solidFill>
                </a:rPr>
                <a:t>&lt;head&gt;</a:t>
              </a:r>
            </a:p>
            <a:p>
              <a:r>
                <a:rPr lang="en-US" sz="1400" dirty="0">
                  <a:solidFill>
                    <a:schemeClr val="bg1">
                      <a:lumMod val="50000"/>
                    </a:schemeClr>
                  </a:solidFill>
                </a:rPr>
                <a:t>&lt;title&gt;HTML </a:t>
              </a:r>
              <a:r>
                <a:rPr lang="en-US" sz="1400" dirty="0" smtClean="0">
                  <a:solidFill>
                    <a:schemeClr val="bg1">
                      <a:lumMod val="50000"/>
                    </a:schemeClr>
                  </a:solidFill>
                </a:rPr>
                <a:t>Tables&lt;/</a:t>
              </a:r>
              <a:r>
                <a:rPr lang="en-US" sz="1400" dirty="0">
                  <a:solidFill>
                    <a:schemeClr val="bg1">
                      <a:lumMod val="50000"/>
                    </a:schemeClr>
                  </a:solidFill>
                </a:rPr>
                <a:t>title&gt;</a:t>
              </a:r>
            </a:p>
            <a:p>
              <a:r>
                <a:rPr lang="en-US" sz="1400" dirty="0">
                  <a:solidFill>
                    <a:schemeClr val="bg1">
                      <a:lumMod val="50000"/>
                    </a:schemeClr>
                  </a:solidFill>
                </a:rPr>
                <a:t>&lt;/head&gt;</a:t>
              </a:r>
            </a:p>
            <a:p>
              <a:endParaRPr lang="en-US" sz="1400" dirty="0">
                <a:solidFill>
                  <a:schemeClr val="bg1">
                    <a:lumMod val="50000"/>
                  </a:schemeClr>
                </a:solidFill>
              </a:endParaRPr>
            </a:p>
            <a:p>
              <a:r>
                <a:rPr lang="en-US" sz="1400" dirty="0">
                  <a:solidFill>
                    <a:schemeClr val="bg1">
                      <a:lumMod val="50000"/>
                    </a:schemeClr>
                  </a:solidFill>
                </a:rPr>
                <a:t>&lt;body&gt;</a:t>
              </a:r>
            </a:p>
            <a:p>
              <a:r>
                <a:rPr lang="en-US" sz="1400" b="1" dirty="0"/>
                <a:t>&lt;table border="</a:t>
              </a:r>
              <a:r>
                <a:rPr lang="en-US" sz="1400" b="1" dirty="0" smtClean="0"/>
                <a:t>1" </a:t>
              </a:r>
              <a:r>
                <a:rPr lang="en-US" sz="1400" b="1" dirty="0" err="1" smtClean="0"/>
                <a:t>cellpadding</a:t>
              </a:r>
              <a:r>
                <a:rPr lang="en-US" sz="1400" b="1" dirty="0" smtClean="0"/>
                <a:t>="5"&gt;</a:t>
              </a:r>
            </a:p>
            <a:p>
              <a:r>
                <a:rPr lang="en-US" sz="1400" b="1" dirty="0" smtClean="0"/>
                <a:t>&lt;caption&gt;HTML Table Caption&lt;/caption&gt;</a:t>
              </a:r>
            </a:p>
            <a:p>
              <a:r>
                <a:rPr lang="en-US" sz="1400" b="1" dirty="0"/>
                <a:t>&lt;</a:t>
              </a:r>
              <a:r>
                <a:rPr lang="en-US" sz="1400" b="1" dirty="0" err="1"/>
                <a:t>tr</a:t>
              </a:r>
              <a:r>
                <a:rPr lang="en-US" sz="1400" b="1" dirty="0"/>
                <a:t>&gt;</a:t>
              </a:r>
            </a:p>
            <a:p>
              <a:r>
                <a:rPr lang="en-US" sz="1400" b="1" dirty="0"/>
                <a:t>&lt;</a:t>
              </a:r>
              <a:r>
                <a:rPr lang="en-US" sz="1400" b="1" dirty="0" err="1"/>
                <a:t>th</a:t>
              </a:r>
              <a:r>
                <a:rPr lang="en-US" sz="1400" b="1" dirty="0"/>
                <a:t>&gt;Header 1&lt;/</a:t>
              </a:r>
              <a:r>
                <a:rPr lang="en-US" sz="1400" b="1" dirty="0" err="1"/>
                <a:t>th</a:t>
              </a:r>
              <a:r>
                <a:rPr lang="en-US" sz="1400" b="1" dirty="0"/>
                <a:t>&gt;</a:t>
              </a:r>
            </a:p>
            <a:p>
              <a:r>
                <a:rPr lang="en-US" sz="1400" b="1" dirty="0"/>
                <a:t>&lt;</a:t>
              </a:r>
              <a:r>
                <a:rPr lang="en-US" sz="1400" b="1" dirty="0" err="1"/>
                <a:t>th</a:t>
              </a:r>
              <a:r>
                <a:rPr lang="en-US" sz="1400" b="1" dirty="0"/>
                <a:t>&gt;Header 2&lt;/</a:t>
              </a:r>
              <a:r>
                <a:rPr lang="en-US" sz="1400" b="1" dirty="0" err="1"/>
                <a:t>th</a:t>
              </a:r>
              <a:r>
                <a:rPr lang="en-US" sz="1400" b="1" dirty="0"/>
                <a:t>&gt;</a:t>
              </a:r>
            </a:p>
            <a:p>
              <a:r>
                <a:rPr lang="en-US" sz="1400" b="1" dirty="0"/>
                <a:t>&lt;/</a:t>
              </a:r>
              <a:r>
                <a:rPr lang="en-US" sz="1400" b="1" dirty="0" err="1"/>
                <a:t>tr</a:t>
              </a:r>
              <a:r>
                <a:rPr lang="en-US" sz="1400" b="1" dirty="0"/>
                <a:t>&gt;</a:t>
              </a:r>
            </a:p>
            <a:p>
              <a:r>
                <a:rPr lang="en-US" sz="1400" b="1" dirty="0"/>
                <a:t>&lt;</a:t>
              </a:r>
              <a:r>
                <a:rPr lang="en-US" sz="1400" b="1" dirty="0" err="1"/>
                <a:t>tr</a:t>
              </a:r>
              <a:r>
                <a:rPr lang="en-US" sz="1400" b="1" dirty="0"/>
                <a:t>&gt;</a:t>
              </a:r>
            </a:p>
            <a:p>
              <a:r>
                <a:rPr lang="en-US" sz="1400" b="1" dirty="0"/>
                <a:t>&lt;td&gt;row 1, cell 1&lt;/td&gt;</a:t>
              </a:r>
            </a:p>
            <a:p>
              <a:r>
                <a:rPr lang="en-US" sz="1400" b="1" dirty="0"/>
                <a:t>&lt;td&gt;row 1, cell 2&lt;/td&gt;</a:t>
              </a:r>
            </a:p>
            <a:p>
              <a:r>
                <a:rPr lang="en-US" sz="1400" b="1" dirty="0"/>
                <a:t>&lt;/</a:t>
              </a:r>
              <a:r>
                <a:rPr lang="en-US" sz="1400" b="1" dirty="0" err="1"/>
                <a:t>tr</a:t>
              </a:r>
              <a:r>
                <a:rPr lang="en-US" sz="1400" b="1" dirty="0"/>
                <a:t>&gt;</a:t>
              </a:r>
            </a:p>
            <a:p>
              <a:r>
                <a:rPr lang="en-US" sz="1400" b="1" dirty="0"/>
                <a:t>&lt;</a:t>
              </a:r>
              <a:r>
                <a:rPr lang="en-US" sz="1400" b="1" dirty="0" err="1"/>
                <a:t>tr</a:t>
              </a:r>
              <a:r>
                <a:rPr lang="en-US" sz="1400" b="1" dirty="0"/>
                <a:t>&gt;</a:t>
              </a:r>
            </a:p>
            <a:p>
              <a:r>
                <a:rPr lang="en-US" sz="1400" b="1" dirty="0"/>
                <a:t>&lt;td&gt;row 2, cell 1&lt;/td&gt;</a:t>
              </a:r>
            </a:p>
            <a:p>
              <a:r>
                <a:rPr lang="en-US" sz="1400" b="1" dirty="0"/>
                <a:t>&lt;td&gt;row 2, cell 2&lt;/td&gt;</a:t>
              </a:r>
            </a:p>
            <a:p>
              <a:r>
                <a:rPr lang="en-US" sz="1400" b="1" dirty="0"/>
                <a:t>&lt;/</a:t>
              </a:r>
              <a:r>
                <a:rPr lang="en-US" sz="1400" b="1" dirty="0" err="1"/>
                <a:t>tr</a:t>
              </a:r>
              <a:r>
                <a:rPr lang="en-US" sz="1400" b="1" dirty="0"/>
                <a:t>&gt;</a:t>
              </a:r>
            </a:p>
            <a:p>
              <a:r>
                <a:rPr lang="en-US" sz="1400" b="1" dirty="0"/>
                <a:t>&lt;/table</a:t>
              </a:r>
              <a:r>
                <a:rPr lang="en-US" sz="1400" b="1" dirty="0" smtClean="0"/>
                <a:t>&gt;</a:t>
              </a:r>
            </a:p>
            <a:p>
              <a:r>
                <a:rPr lang="en-US" sz="1400" dirty="0" smtClean="0">
                  <a:solidFill>
                    <a:schemeClr val="bg1">
                      <a:lumMod val="50000"/>
                    </a:schemeClr>
                  </a:solidFill>
                </a:rPr>
                <a:t>&lt;/</a:t>
              </a:r>
              <a:r>
                <a:rPr lang="en-US" sz="1400" dirty="0">
                  <a:solidFill>
                    <a:schemeClr val="bg1">
                      <a:lumMod val="50000"/>
                    </a:schemeClr>
                  </a:solidFill>
                </a:rPr>
                <a:t>body&gt;</a:t>
              </a:r>
            </a:p>
            <a:p>
              <a:r>
                <a:rPr lang="en-US" sz="1400" dirty="0">
                  <a:solidFill>
                    <a:schemeClr val="bg1">
                      <a:lumMod val="50000"/>
                    </a:schemeClr>
                  </a:solidFill>
                </a:rPr>
                <a:t>&lt;/html&gt;</a:t>
              </a:r>
            </a:p>
          </p:txBody>
        </p:sp>
      </p:grp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1876033"/>
              </p:ext>
            </p:extLst>
          </p:nvPr>
        </p:nvGraphicFramePr>
        <p:xfrm>
          <a:off x="962026" y="1752600"/>
          <a:ext cx="2895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7800"/>
                <a:gridCol w="1447800"/>
              </a:tblGrid>
              <a:tr h="0">
                <a:tc>
                  <a:txBody>
                    <a:bodyPr/>
                    <a:lstStyle/>
                    <a:p>
                      <a:r>
                        <a:rPr lang="en-GB" dirty="0" smtClean="0"/>
                        <a:t>&lt;</a:t>
                      </a:r>
                      <a:r>
                        <a:rPr lang="en-GB" dirty="0" err="1" smtClean="0"/>
                        <a:t>th</a:t>
                      </a:r>
                      <a:r>
                        <a:rPr lang="en-GB" dirty="0" smtClean="0"/>
                        <a:t>&gt;&lt;/</a:t>
                      </a:r>
                      <a:r>
                        <a:rPr lang="en-GB" dirty="0" err="1" smtClean="0"/>
                        <a:t>th</a:t>
                      </a:r>
                      <a:r>
                        <a:rPr lang="en-GB" dirty="0" smtClean="0"/>
                        <a:t>&gt;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&lt;</a:t>
                      </a:r>
                      <a:r>
                        <a:rPr lang="en-GB" dirty="0" err="1" smtClean="0"/>
                        <a:t>th</a:t>
                      </a:r>
                      <a:r>
                        <a:rPr lang="en-GB" dirty="0" smtClean="0"/>
                        <a:t>&gt;&lt;/</a:t>
                      </a:r>
                      <a:r>
                        <a:rPr lang="en-GB" dirty="0" err="1" smtClean="0"/>
                        <a:t>th</a:t>
                      </a:r>
                      <a:r>
                        <a:rPr lang="en-GB" dirty="0" smtClean="0"/>
                        <a:t>&gt;</a:t>
                      </a:r>
                      <a:endParaRPr lang="en-SG" dirty="0"/>
                    </a:p>
                  </a:txBody>
                  <a:tcPr/>
                </a:tc>
              </a:tr>
              <a:tr h="279400">
                <a:tc>
                  <a:txBody>
                    <a:bodyPr/>
                    <a:lstStyle/>
                    <a:p>
                      <a:r>
                        <a:rPr lang="en-GB" dirty="0" smtClean="0"/>
                        <a:t>&lt;td&gt;&lt;/td&gt;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&lt;td&gt;&lt;/td&gt;</a:t>
                      </a:r>
                      <a:endParaRPr lang="en-SG" dirty="0"/>
                    </a:p>
                  </a:txBody>
                  <a:tcPr/>
                </a:tc>
              </a:tr>
              <a:tr h="279400">
                <a:tc>
                  <a:txBody>
                    <a:bodyPr/>
                    <a:lstStyle/>
                    <a:p>
                      <a:r>
                        <a:rPr lang="en-GB" dirty="0" smtClean="0"/>
                        <a:t>&lt;td&gt;&lt;/td&gt;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&lt;td&gt;&lt;/td&gt;</a:t>
                      </a:r>
                      <a:endParaRPr lang="en-SG" dirty="0"/>
                    </a:p>
                  </a:txBody>
                  <a:tcPr/>
                </a:tc>
              </a:tr>
              <a:tr h="279400">
                <a:tc>
                  <a:txBody>
                    <a:bodyPr/>
                    <a:lstStyle/>
                    <a:p>
                      <a:r>
                        <a:rPr lang="en-GB" dirty="0" smtClean="0"/>
                        <a:t>&lt;td&gt;&lt;/td&gt;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&lt;td&gt;&lt;/td&gt;</a:t>
                      </a:r>
                      <a:endParaRPr lang="en-SG" dirty="0"/>
                    </a:p>
                  </a:txBody>
                  <a:tcPr/>
                </a:tc>
              </a:tr>
            </a:tbl>
          </a:graphicData>
        </a:graphic>
      </p:graphicFrame>
      <p:grpSp>
        <p:nvGrpSpPr>
          <p:cNvPr id="11" name="Group 10"/>
          <p:cNvGrpSpPr/>
          <p:nvPr/>
        </p:nvGrpSpPr>
        <p:grpSpPr>
          <a:xfrm>
            <a:off x="838200" y="1219200"/>
            <a:ext cx="4164333" cy="2274332"/>
            <a:chOff x="838200" y="1219200"/>
            <a:chExt cx="4164333" cy="2274332"/>
          </a:xfrm>
        </p:grpSpPr>
        <p:sp>
          <p:nvSpPr>
            <p:cNvPr id="9" name="Rounded Rectangle 8"/>
            <p:cNvSpPr/>
            <p:nvPr/>
          </p:nvSpPr>
          <p:spPr>
            <a:xfrm>
              <a:off x="838200" y="2122714"/>
              <a:ext cx="3095626" cy="315686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0" name="TextBox 9"/>
            <p:cNvSpPr txBox="1"/>
            <p:nvPr/>
          </p:nvSpPr>
          <p:spPr>
            <a:xfrm flipH="1">
              <a:off x="3933826" y="2069068"/>
              <a:ext cx="10687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b="1" dirty="0" smtClean="0">
                  <a:solidFill>
                    <a:srgbClr val="FF0000"/>
                  </a:solidFill>
                </a:rPr>
                <a:t>&lt;</a:t>
              </a:r>
              <a:r>
                <a:rPr lang="en-GB" b="1" dirty="0" err="1" smtClean="0">
                  <a:solidFill>
                    <a:srgbClr val="FF0000"/>
                  </a:solidFill>
                </a:rPr>
                <a:t>tr</a:t>
              </a:r>
              <a:r>
                <a:rPr lang="en-GB" b="1" dirty="0" smtClean="0">
                  <a:solidFill>
                    <a:srgbClr val="FF0000"/>
                  </a:solidFill>
                </a:rPr>
                <a:t>&gt;&lt;/</a:t>
              </a:r>
              <a:r>
                <a:rPr lang="en-GB" b="1" dirty="0" err="1" smtClean="0">
                  <a:solidFill>
                    <a:srgbClr val="FF0000"/>
                  </a:solidFill>
                </a:rPr>
                <a:t>tr</a:t>
              </a:r>
              <a:r>
                <a:rPr lang="en-GB" b="1" dirty="0" smtClean="0">
                  <a:solidFill>
                    <a:srgbClr val="FF0000"/>
                  </a:solidFill>
                </a:rPr>
                <a:t>&gt;</a:t>
              </a:r>
              <a:endParaRPr lang="en-SG" b="1" dirty="0">
                <a:solidFill>
                  <a:srgbClr val="FF0000"/>
                </a:solidFill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 flipH="1">
              <a:off x="962025" y="1459468"/>
              <a:ext cx="28479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b="1" dirty="0" smtClean="0">
                  <a:solidFill>
                    <a:srgbClr val="FF0000"/>
                  </a:solidFill>
                </a:rPr>
                <a:t>&lt;caption&gt;&lt;/caption&gt;</a:t>
              </a:r>
              <a:endParaRPr lang="en-SG" b="1" dirty="0">
                <a:solidFill>
                  <a:srgbClr val="FF0000"/>
                </a:solidFill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 flipH="1">
              <a:off x="892630" y="3124200"/>
              <a:ext cx="10687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b="1" dirty="0" smtClean="0">
                  <a:solidFill>
                    <a:srgbClr val="FF0000"/>
                  </a:solidFill>
                </a:rPr>
                <a:t>&lt;/table&gt;</a:t>
              </a:r>
              <a:endParaRPr lang="en-SG" b="1" dirty="0">
                <a:solidFill>
                  <a:srgbClr val="FF0000"/>
                </a:solidFill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 flipH="1">
              <a:off x="892630" y="1219200"/>
              <a:ext cx="10687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b="1" dirty="0" smtClean="0">
                  <a:solidFill>
                    <a:srgbClr val="FF0000"/>
                  </a:solidFill>
                </a:rPr>
                <a:t>&lt;table&gt;</a:t>
              </a:r>
              <a:endParaRPr lang="en-SG" b="1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6351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HTML Lists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spcAft>
                <a:spcPts val="1000"/>
              </a:spcAft>
            </a:pPr>
            <a:r>
              <a:rPr lang="en-US" sz="2400" dirty="0" smtClean="0"/>
              <a:t>Two type of lists: ordered and unordered lists</a:t>
            </a:r>
          </a:p>
          <a:p>
            <a:pPr>
              <a:spcAft>
                <a:spcPts val="1000"/>
              </a:spcAft>
            </a:pPr>
            <a:r>
              <a:rPr lang="en-US" sz="2400" b="1" dirty="0" smtClean="0">
                <a:solidFill>
                  <a:schemeClr val="accent2"/>
                </a:solidFill>
              </a:rPr>
              <a:t>unordered list</a:t>
            </a:r>
            <a:r>
              <a:rPr lang="en-US" sz="2400" dirty="0" smtClean="0"/>
              <a:t>:</a:t>
            </a:r>
          </a:p>
          <a:p>
            <a:pPr lvl="1">
              <a:spcAft>
                <a:spcPts val="1000"/>
              </a:spcAft>
            </a:pPr>
            <a:r>
              <a:rPr lang="en-US" sz="2000" dirty="0" smtClean="0"/>
              <a:t>Starts with the </a:t>
            </a:r>
            <a:r>
              <a:rPr lang="en-US" sz="2000" b="1" dirty="0" smtClean="0"/>
              <a:t>&lt;</a:t>
            </a:r>
            <a:r>
              <a:rPr lang="en-US" sz="2000" b="1" dirty="0" err="1" smtClean="0"/>
              <a:t>ul</a:t>
            </a:r>
            <a:r>
              <a:rPr lang="en-US" sz="2000" b="1" dirty="0" smtClean="0"/>
              <a:t>&gt; </a:t>
            </a:r>
            <a:r>
              <a:rPr lang="en-US" sz="2000" dirty="0" smtClean="0"/>
              <a:t>tag, each list items starts with the </a:t>
            </a:r>
            <a:r>
              <a:rPr lang="en-US" sz="2000" b="1" dirty="0" smtClean="0"/>
              <a:t>&lt;li&gt; </a:t>
            </a:r>
            <a:r>
              <a:rPr lang="en-US" sz="2000" dirty="0" smtClean="0"/>
              <a:t>tag</a:t>
            </a:r>
          </a:p>
          <a:p>
            <a:pPr lvl="1">
              <a:spcAft>
                <a:spcPts val="1000"/>
              </a:spcAft>
            </a:pPr>
            <a:r>
              <a:rPr lang="en-US" sz="2000" dirty="0" smtClean="0"/>
              <a:t>Items are marked with bullets</a:t>
            </a:r>
          </a:p>
          <a:p>
            <a:pPr>
              <a:spcAft>
                <a:spcPts val="1000"/>
              </a:spcAft>
            </a:pPr>
            <a:r>
              <a:rPr lang="en-US" sz="2400" b="1" dirty="0" smtClean="0">
                <a:solidFill>
                  <a:schemeClr val="accent2"/>
                </a:solidFill>
              </a:rPr>
              <a:t>ordered list</a:t>
            </a:r>
            <a:r>
              <a:rPr lang="en-US" sz="2400" dirty="0" smtClean="0"/>
              <a:t>:</a:t>
            </a:r>
          </a:p>
          <a:p>
            <a:pPr lvl="1">
              <a:spcAft>
                <a:spcPts val="1000"/>
              </a:spcAft>
            </a:pPr>
            <a:r>
              <a:rPr lang="en-US" sz="2000" dirty="0" smtClean="0"/>
              <a:t>Starts with the </a:t>
            </a:r>
            <a:r>
              <a:rPr lang="en-US" sz="2000" b="1" dirty="0" smtClean="0"/>
              <a:t>&lt;</a:t>
            </a:r>
            <a:r>
              <a:rPr lang="en-US" sz="2000" b="1" dirty="0" err="1" smtClean="0"/>
              <a:t>ol</a:t>
            </a:r>
            <a:r>
              <a:rPr lang="en-US" sz="2000" b="1" dirty="0" smtClean="0"/>
              <a:t>&gt; </a:t>
            </a:r>
            <a:r>
              <a:rPr lang="en-US" sz="2000" dirty="0" smtClean="0"/>
              <a:t>tag, each list items starts with the </a:t>
            </a:r>
            <a:r>
              <a:rPr lang="en-US" sz="2000" b="1" dirty="0" smtClean="0"/>
              <a:t>&lt;li&gt; </a:t>
            </a:r>
            <a:r>
              <a:rPr lang="en-US" sz="2000" dirty="0" smtClean="0"/>
              <a:t>tag</a:t>
            </a:r>
          </a:p>
          <a:p>
            <a:pPr lvl="1">
              <a:spcAft>
                <a:spcPts val="1000"/>
              </a:spcAft>
            </a:pPr>
            <a:r>
              <a:rPr lang="en-US" sz="2000" dirty="0" smtClean="0"/>
              <a:t>Items are marked with numbers</a:t>
            </a:r>
            <a:endParaRPr lang="en-US" sz="2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406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HTML Lists</a:t>
            </a:r>
            <a:endParaRPr lang="en-US" dirty="0"/>
          </a:p>
        </p:txBody>
      </p:sp>
      <p:pic>
        <p:nvPicPr>
          <p:cNvPr id="18434" name="Picture 2" descr="C:\Users\EvyLim\AppData\Local\Temp\SNAGHTML237e99e.PNG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524000"/>
            <a:ext cx="5419048" cy="3657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t>13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3733800" y="2286000"/>
            <a:ext cx="4577302" cy="3754874"/>
          </a:xfrm>
          <a:prstGeom prst="rect">
            <a:avLst/>
          </a:prstGeom>
          <a:solidFill>
            <a:srgbClr val="FFFFCC"/>
          </a:solidFill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&lt;html&gt;</a:t>
            </a:r>
          </a:p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&lt;head&gt;</a:t>
            </a:r>
          </a:p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&lt;title&gt;HTML </a:t>
            </a:r>
            <a:r>
              <a:rPr lang="en-US" sz="1400" dirty="0" smtClean="0">
                <a:solidFill>
                  <a:schemeClr val="bg1">
                    <a:lumMod val="50000"/>
                  </a:schemeClr>
                </a:solidFill>
              </a:rPr>
              <a:t>Lists&lt;/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title&gt;</a:t>
            </a:r>
          </a:p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&lt;/head&gt;</a:t>
            </a:r>
          </a:p>
          <a:p>
            <a:endParaRPr lang="en-US" sz="140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&lt;body&gt;</a:t>
            </a:r>
          </a:p>
          <a:p>
            <a:r>
              <a:rPr lang="it-IT" sz="1400" b="1" dirty="0"/>
              <a:t>&lt;ul&gt;</a:t>
            </a:r>
          </a:p>
          <a:p>
            <a:r>
              <a:rPr lang="it-IT" sz="1400" b="1" dirty="0"/>
              <a:t>&lt;li&gt;Apple&lt;/li&gt;</a:t>
            </a:r>
          </a:p>
          <a:p>
            <a:r>
              <a:rPr lang="it-IT" sz="1400" b="1" dirty="0"/>
              <a:t>&lt;li&gt;Orange&lt;/li&gt;</a:t>
            </a:r>
          </a:p>
          <a:p>
            <a:r>
              <a:rPr lang="it-IT" sz="1400" b="1" dirty="0"/>
              <a:t>&lt;/ul&gt;</a:t>
            </a:r>
          </a:p>
          <a:p>
            <a:endParaRPr lang="it-IT" sz="1400" b="1" dirty="0"/>
          </a:p>
          <a:p>
            <a:r>
              <a:rPr lang="it-IT" sz="1400" b="1" dirty="0"/>
              <a:t>&lt;ol&gt;</a:t>
            </a:r>
          </a:p>
          <a:p>
            <a:r>
              <a:rPr lang="it-IT" sz="1400" b="1" dirty="0"/>
              <a:t>&lt;li&gt;Coffee&lt;/li&gt;</a:t>
            </a:r>
          </a:p>
          <a:p>
            <a:r>
              <a:rPr lang="it-IT" sz="1400" b="1" dirty="0"/>
              <a:t>&lt;li&gt;Tea&lt;/li&gt;</a:t>
            </a:r>
          </a:p>
          <a:p>
            <a:r>
              <a:rPr lang="it-IT" sz="1400" b="1" dirty="0"/>
              <a:t>&lt;/ol</a:t>
            </a:r>
            <a:r>
              <a:rPr lang="it-IT" sz="1400" b="1" dirty="0" smtClean="0"/>
              <a:t>&gt;</a:t>
            </a:r>
          </a:p>
          <a:p>
            <a:r>
              <a:rPr lang="en-US" sz="1400" dirty="0" smtClean="0">
                <a:solidFill>
                  <a:schemeClr val="bg1">
                    <a:lumMod val="50000"/>
                  </a:schemeClr>
                </a:solidFill>
              </a:rPr>
              <a:t>&lt;/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body&gt;</a:t>
            </a:r>
          </a:p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1758838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HTML Forms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1000"/>
              </a:spcAft>
            </a:pPr>
            <a:r>
              <a:rPr lang="en-US" sz="1800" dirty="0" smtClean="0"/>
              <a:t>Used to select different kinds of user input and pass the data to a server</a:t>
            </a:r>
          </a:p>
          <a:p>
            <a:pPr>
              <a:spcAft>
                <a:spcPts val="1000"/>
              </a:spcAft>
            </a:pPr>
            <a:r>
              <a:rPr lang="en-US" sz="1800" dirty="0" smtClean="0"/>
              <a:t>Contain input elements like text fields, checkboxes, </a:t>
            </a:r>
            <a:r>
              <a:rPr lang="en-US" sz="1800" dirty="0" err="1" smtClean="0"/>
              <a:t>radiobuttons</a:t>
            </a:r>
            <a:r>
              <a:rPr lang="en-US" sz="1800" dirty="0" smtClean="0"/>
              <a:t>, submit buttons, select lists, text area, </a:t>
            </a:r>
            <a:r>
              <a:rPr lang="en-US" sz="1800" dirty="0" err="1" smtClean="0"/>
              <a:t>fieldset</a:t>
            </a:r>
            <a:r>
              <a:rPr lang="en-US" sz="1800" dirty="0" smtClean="0"/>
              <a:t>, legend and label elements</a:t>
            </a:r>
          </a:p>
          <a:p>
            <a:pPr>
              <a:spcAft>
                <a:spcPts val="1000"/>
              </a:spcAft>
            </a:pPr>
            <a:r>
              <a:rPr lang="en-US" sz="1800" b="1" dirty="0" smtClean="0"/>
              <a:t>&lt;form&gt; </a:t>
            </a:r>
            <a:r>
              <a:rPr lang="en-US" sz="1800" dirty="0" smtClean="0"/>
              <a:t>tag is used to create HTML form</a:t>
            </a:r>
            <a:endParaRPr lang="en-US" sz="1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IT1322 2012 S1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t>14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6800467"/>
              </p:ext>
            </p:extLst>
          </p:nvPr>
        </p:nvGraphicFramePr>
        <p:xfrm>
          <a:off x="1143000" y="2971800"/>
          <a:ext cx="7086600" cy="36880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676400"/>
                <a:gridCol w="5410200"/>
              </a:tblGrid>
              <a:tr h="332509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Tag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Description</a:t>
                      </a:r>
                      <a:endParaRPr lang="en-US" sz="1600" dirty="0"/>
                    </a:p>
                  </a:txBody>
                  <a:tcPr/>
                </a:tc>
              </a:tr>
              <a:tr h="332509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&lt;form&gt;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smtClean="0"/>
                        <a:t>Defines a</a:t>
                      </a:r>
                      <a:r>
                        <a:rPr lang="en-US" sz="1600" baseline="0" smtClean="0"/>
                        <a:t> HTML </a:t>
                      </a:r>
                      <a:r>
                        <a:rPr lang="en-US" sz="1600" baseline="0" dirty="0" smtClean="0"/>
                        <a:t>form for user input</a:t>
                      </a:r>
                      <a:endParaRPr lang="en-US" sz="1600" dirty="0"/>
                    </a:p>
                  </a:txBody>
                  <a:tcPr/>
                </a:tc>
              </a:tr>
              <a:tr h="332509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&lt;input /&gt;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Defines an input control</a:t>
                      </a:r>
                      <a:endParaRPr lang="en-US" sz="1600" dirty="0"/>
                    </a:p>
                  </a:txBody>
                  <a:tcPr/>
                </a:tc>
              </a:tr>
              <a:tr h="332509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&lt;</a:t>
                      </a:r>
                      <a:r>
                        <a:rPr lang="en-US" sz="1600" dirty="0" err="1" smtClean="0"/>
                        <a:t>textarea</a:t>
                      </a:r>
                      <a:r>
                        <a:rPr lang="en-US" sz="1600" dirty="0" smtClean="0"/>
                        <a:t>&gt;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Defines a multi-line text input</a:t>
                      </a:r>
                      <a:r>
                        <a:rPr lang="en-US" sz="1600" baseline="0" dirty="0" smtClean="0"/>
                        <a:t> control</a:t>
                      </a:r>
                      <a:endParaRPr lang="en-US" sz="1600" dirty="0"/>
                    </a:p>
                  </a:txBody>
                  <a:tcPr/>
                </a:tc>
              </a:tr>
              <a:tr h="332509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&lt;label&gt;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Defines a label for an input control</a:t>
                      </a:r>
                      <a:endParaRPr lang="en-US" sz="1600" dirty="0"/>
                    </a:p>
                  </a:txBody>
                  <a:tcPr/>
                </a:tc>
              </a:tr>
              <a:tr h="332509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&lt;</a:t>
                      </a:r>
                      <a:r>
                        <a:rPr lang="en-US" sz="1600" dirty="0" err="1" smtClean="0"/>
                        <a:t>fieldset</a:t>
                      </a:r>
                      <a:r>
                        <a:rPr lang="en-US" sz="1600" dirty="0" smtClean="0"/>
                        <a:t>&gt;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Defines a border around elements in a form</a:t>
                      </a:r>
                      <a:endParaRPr lang="en-US" sz="1600" dirty="0"/>
                    </a:p>
                  </a:txBody>
                  <a:tcPr/>
                </a:tc>
              </a:tr>
              <a:tr h="332509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&lt;legend&gt;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Defines</a:t>
                      </a:r>
                      <a:r>
                        <a:rPr lang="en-US" sz="1600" baseline="0" dirty="0" smtClean="0"/>
                        <a:t> a caption for a </a:t>
                      </a:r>
                      <a:r>
                        <a:rPr lang="en-US" sz="1600" baseline="0" dirty="0" err="1" smtClean="0"/>
                        <a:t>fieldset</a:t>
                      </a:r>
                      <a:r>
                        <a:rPr lang="en-US" sz="1600" baseline="0" dirty="0" smtClean="0"/>
                        <a:t> element</a:t>
                      </a:r>
                      <a:endParaRPr lang="en-US" sz="1600" dirty="0"/>
                    </a:p>
                  </a:txBody>
                  <a:tcPr/>
                </a:tc>
              </a:tr>
              <a:tr h="332509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&lt;select&gt;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Defines a select list (drop-down</a:t>
                      </a:r>
                      <a:r>
                        <a:rPr lang="en-US" sz="1600" baseline="0" dirty="0" smtClean="0"/>
                        <a:t> list)</a:t>
                      </a:r>
                      <a:endParaRPr lang="en-US" sz="1600" dirty="0"/>
                    </a:p>
                  </a:txBody>
                  <a:tcPr/>
                </a:tc>
              </a:tr>
              <a:tr h="332509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&lt;</a:t>
                      </a:r>
                      <a:r>
                        <a:rPr lang="en-US" sz="1600" dirty="0" err="1" smtClean="0"/>
                        <a:t>optgroup</a:t>
                      </a:r>
                      <a:r>
                        <a:rPr lang="en-US" sz="1600" dirty="0" smtClean="0"/>
                        <a:t>&gt;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Defines a group of related</a:t>
                      </a:r>
                      <a:r>
                        <a:rPr lang="en-US" sz="1600" baseline="0" dirty="0" smtClean="0"/>
                        <a:t> options in a select list</a:t>
                      </a:r>
                      <a:endParaRPr lang="en-US" sz="1600" dirty="0"/>
                    </a:p>
                  </a:txBody>
                  <a:tcPr/>
                </a:tc>
              </a:tr>
              <a:tr h="332509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&lt;option&gt;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Defines an option in a select list</a:t>
                      </a:r>
                      <a:endParaRPr lang="en-US" sz="1600" dirty="0"/>
                    </a:p>
                  </a:txBody>
                  <a:tcPr/>
                </a:tc>
              </a:tr>
              <a:tr h="332509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&lt;button&gt;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Defines a push button</a:t>
                      </a:r>
                      <a:endParaRPr lang="en-US" sz="16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7621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HTML Forms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b="1" dirty="0" smtClean="0">
                <a:solidFill>
                  <a:schemeClr val="tx2"/>
                </a:solidFill>
              </a:rPr>
              <a:t>Text Fields</a:t>
            </a:r>
          </a:p>
          <a:p>
            <a:pPr marL="457200" lvl="1" indent="0">
              <a:spcAft>
                <a:spcPts val="1000"/>
              </a:spcAft>
              <a:buNone/>
            </a:pPr>
            <a:r>
              <a:rPr lang="en-US" sz="1600" b="1" dirty="0" smtClean="0"/>
              <a:t>&lt;input type=“text” /&gt; </a:t>
            </a:r>
            <a:r>
              <a:rPr lang="en-US" sz="1600" dirty="0" smtClean="0"/>
              <a:t>defines a one-line input field that a user can enter text into</a:t>
            </a:r>
            <a:endParaRPr lang="en-US" sz="1600" dirty="0"/>
          </a:p>
          <a:p>
            <a:r>
              <a:rPr lang="en-US" sz="2000" b="1" dirty="0" smtClean="0">
                <a:solidFill>
                  <a:schemeClr val="tx2"/>
                </a:solidFill>
              </a:rPr>
              <a:t>Password Field</a:t>
            </a:r>
          </a:p>
          <a:p>
            <a:pPr marL="457200" lvl="1" indent="0">
              <a:buNone/>
            </a:pPr>
            <a:r>
              <a:rPr lang="en-US" sz="1600" b="1" dirty="0" smtClean="0"/>
              <a:t>&lt;input type=“password” /&gt; </a:t>
            </a:r>
            <a:r>
              <a:rPr lang="en-US" sz="1600" dirty="0" smtClean="0"/>
              <a:t>defines a password field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IT1322 2012 S1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t>15</a:t>
            </a:fld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481608" y="2913888"/>
            <a:ext cx="7595592" cy="3563112"/>
            <a:chOff x="481608" y="3124200"/>
            <a:chExt cx="7595592" cy="3563112"/>
          </a:xfrm>
        </p:grpSpPr>
        <p:pic>
          <p:nvPicPr>
            <p:cNvPr id="19458" name="Picture 2" descr="C:\Users\EvyLim\AppData\Local\Temp\SNAGHTML5555961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1608" y="3124200"/>
              <a:ext cx="5080992" cy="3429000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TextBox 6"/>
            <p:cNvSpPr txBox="1"/>
            <p:nvPr/>
          </p:nvSpPr>
          <p:spPr>
            <a:xfrm>
              <a:off x="4038600" y="3124200"/>
              <a:ext cx="4038600" cy="3563112"/>
            </a:xfrm>
            <a:prstGeom prst="rect">
              <a:avLst/>
            </a:prstGeom>
            <a:solidFill>
              <a:srgbClr val="FFFFCC"/>
            </a:solidFill>
            <a:ln>
              <a:solidFill>
                <a:srgbClr val="FFC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1">
                      <a:lumMod val="50000"/>
                    </a:schemeClr>
                  </a:solidFill>
                </a:rPr>
                <a:t>&lt;html&gt;</a:t>
              </a:r>
            </a:p>
            <a:p>
              <a:r>
                <a:rPr lang="en-US" sz="1400" dirty="0">
                  <a:solidFill>
                    <a:schemeClr val="bg1">
                      <a:lumMod val="50000"/>
                    </a:schemeClr>
                  </a:solidFill>
                </a:rPr>
                <a:t>&lt;head&gt;</a:t>
              </a:r>
            </a:p>
            <a:p>
              <a:r>
                <a:rPr lang="en-US" sz="1400" dirty="0">
                  <a:solidFill>
                    <a:schemeClr val="bg1">
                      <a:lumMod val="50000"/>
                    </a:schemeClr>
                  </a:solidFill>
                </a:rPr>
                <a:t>&lt;title&gt;HTML </a:t>
              </a:r>
              <a:r>
                <a:rPr lang="en-US" sz="1400" dirty="0" smtClean="0">
                  <a:solidFill>
                    <a:schemeClr val="bg1">
                      <a:lumMod val="50000"/>
                    </a:schemeClr>
                  </a:solidFill>
                </a:rPr>
                <a:t>Text &amp; Password Fields&lt;/</a:t>
              </a:r>
              <a:r>
                <a:rPr lang="en-US" sz="1400" dirty="0">
                  <a:solidFill>
                    <a:schemeClr val="bg1">
                      <a:lumMod val="50000"/>
                    </a:schemeClr>
                  </a:solidFill>
                </a:rPr>
                <a:t>title&gt;</a:t>
              </a:r>
            </a:p>
            <a:p>
              <a:r>
                <a:rPr lang="en-US" sz="1400" dirty="0">
                  <a:solidFill>
                    <a:schemeClr val="bg1">
                      <a:lumMod val="50000"/>
                    </a:schemeClr>
                  </a:solidFill>
                </a:rPr>
                <a:t>&lt;/head&gt;</a:t>
              </a:r>
            </a:p>
            <a:p>
              <a:endParaRPr lang="en-US" sz="1400" dirty="0">
                <a:solidFill>
                  <a:schemeClr val="bg1">
                    <a:lumMod val="50000"/>
                  </a:schemeClr>
                </a:solidFill>
              </a:endParaRPr>
            </a:p>
            <a:p>
              <a:r>
                <a:rPr lang="en-US" sz="1400" dirty="0">
                  <a:solidFill>
                    <a:schemeClr val="bg1">
                      <a:lumMod val="50000"/>
                    </a:schemeClr>
                  </a:solidFill>
                </a:rPr>
                <a:t>&lt;body&gt;</a:t>
              </a:r>
            </a:p>
            <a:p>
              <a:r>
                <a:rPr lang="en-US" sz="1400" b="1" dirty="0"/>
                <a:t>&lt;form&gt;</a:t>
              </a:r>
            </a:p>
            <a:p>
              <a:r>
                <a:rPr lang="en-US" sz="1400" b="1" dirty="0"/>
                <a:t>First Name: &lt;input type="text" name="</a:t>
              </a:r>
              <a:r>
                <a:rPr lang="en-US" sz="1400" b="1" dirty="0" err="1"/>
                <a:t>firstname</a:t>
              </a:r>
              <a:r>
                <a:rPr lang="en-US" sz="1400" b="1" dirty="0"/>
                <a:t>" /&gt; &lt;</a:t>
              </a:r>
              <a:r>
                <a:rPr lang="en-US" sz="1400" b="1" dirty="0" err="1"/>
                <a:t>br</a:t>
              </a:r>
              <a:r>
                <a:rPr lang="en-US" sz="1400" b="1" dirty="0"/>
                <a:t> /&gt;</a:t>
              </a:r>
            </a:p>
            <a:p>
              <a:r>
                <a:rPr lang="en-US" sz="1400" b="1" dirty="0"/>
                <a:t>Last Name: &lt;input type="text" name="</a:t>
              </a:r>
              <a:r>
                <a:rPr lang="en-US" sz="1400" b="1" dirty="0" err="1"/>
                <a:t>lastname</a:t>
              </a:r>
              <a:r>
                <a:rPr lang="en-US" sz="1400" b="1" dirty="0"/>
                <a:t>" /&gt; &lt;</a:t>
              </a:r>
              <a:r>
                <a:rPr lang="en-US" sz="1400" b="1" dirty="0" err="1"/>
                <a:t>br</a:t>
              </a:r>
              <a:r>
                <a:rPr lang="en-US" sz="1400" b="1" dirty="0"/>
                <a:t> /&gt;</a:t>
              </a:r>
            </a:p>
            <a:p>
              <a:r>
                <a:rPr lang="en-US" sz="1400" b="1" dirty="0"/>
                <a:t>Password: &lt;input type="password" name="password" /&gt;</a:t>
              </a:r>
            </a:p>
            <a:p>
              <a:r>
                <a:rPr lang="en-US" sz="1400" b="1" dirty="0"/>
                <a:t>&lt;/form</a:t>
              </a:r>
              <a:r>
                <a:rPr lang="en-US" sz="1400" b="1" dirty="0" smtClean="0"/>
                <a:t>&gt;</a:t>
              </a:r>
            </a:p>
            <a:p>
              <a:r>
                <a:rPr lang="en-US" sz="1400" dirty="0" smtClean="0">
                  <a:solidFill>
                    <a:schemeClr val="bg1">
                      <a:lumMod val="50000"/>
                    </a:schemeClr>
                  </a:solidFill>
                </a:rPr>
                <a:t>&lt;/</a:t>
              </a:r>
              <a:r>
                <a:rPr lang="en-US" sz="1400" dirty="0">
                  <a:solidFill>
                    <a:schemeClr val="bg1">
                      <a:lumMod val="50000"/>
                    </a:schemeClr>
                  </a:solidFill>
                </a:rPr>
                <a:t>body&gt;</a:t>
              </a:r>
            </a:p>
            <a:p>
              <a:r>
                <a:rPr lang="en-US" sz="1400" dirty="0">
                  <a:solidFill>
                    <a:schemeClr val="bg1">
                      <a:lumMod val="50000"/>
                    </a:schemeClr>
                  </a:solidFill>
                </a:rPr>
                <a:t>&lt;/html&gt;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55408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HTML Forms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b="1" dirty="0" smtClean="0">
                <a:solidFill>
                  <a:schemeClr val="tx2"/>
                </a:solidFill>
              </a:rPr>
              <a:t>Radio Buttons</a:t>
            </a:r>
          </a:p>
          <a:p>
            <a:pPr marL="457200" lvl="1" indent="0">
              <a:spcAft>
                <a:spcPts val="1000"/>
              </a:spcAft>
              <a:buNone/>
            </a:pPr>
            <a:r>
              <a:rPr lang="en-US" sz="1600" b="1" dirty="0" smtClean="0"/>
              <a:t>&lt;input type=“radio” /&gt; </a:t>
            </a:r>
            <a:r>
              <a:rPr lang="en-US" sz="1600" dirty="0" smtClean="0"/>
              <a:t>defines a radio button, user only allow to select ONE of a limited number of choices, </a:t>
            </a:r>
            <a:r>
              <a:rPr lang="en-US" sz="1600" b="1" dirty="0" smtClean="0"/>
              <a:t>checked</a:t>
            </a:r>
            <a:r>
              <a:rPr lang="en-US" sz="1600" dirty="0" smtClean="0"/>
              <a:t> attribute makes the state of control selected</a:t>
            </a:r>
            <a:endParaRPr lang="en-US" sz="1600" dirty="0"/>
          </a:p>
          <a:p>
            <a:r>
              <a:rPr lang="en-US" sz="2000" b="1" dirty="0" smtClean="0">
                <a:solidFill>
                  <a:schemeClr val="tx2"/>
                </a:solidFill>
              </a:rPr>
              <a:t>Checkboxes</a:t>
            </a:r>
          </a:p>
          <a:p>
            <a:pPr marL="457200" lvl="1" indent="0">
              <a:buNone/>
            </a:pPr>
            <a:r>
              <a:rPr lang="en-US" sz="1600" b="1" dirty="0" smtClean="0"/>
              <a:t>&lt;input type=“checkbox” /&gt; </a:t>
            </a:r>
            <a:r>
              <a:rPr lang="en-US" sz="1600" dirty="0" smtClean="0"/>
              <a:t>defines a checkbox, allow user to select ONE or more options of a limited number of choices</a:t>
            </a:r>
            <a:r>
              <a:rPr lang="en-US" sz="1600" dirty="0"/>
              <a:t> , </a:t>
            </a:r>
            <a:r>
              <a:rPr lang="en-US" sz="1600" b="1" dirty="0"/>
              <a:t>checked</a:t>
            </a:r>
            <a:r>
              <a:rPr lang="en-US" sz="1600" dirty="0"/>
              <a:t> attribute makes the state of control selected</a:t>
            </a:r>
            <a:endParaRPr lang="en-US" sz="1600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IT1322 2012 S1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t>16</a:t>
            </a:fld>
            <a:endParaRPr lang="en-US"/>
          </a:p>
        </p:txBody>
      </p:sp>
      <p:grpSp>
        <p:nvGrpSpPr>
          <p:cNvPr id="9" name="Group 8"/>
          <p:cNvGrpSpPr/>
          <p:nvPr/>
        </p:nvGrpSpPr>
        <p:grpSpPr>
          <a:xfrm>
            <a:off x="185738" y="3467100"/>
            <a:ext cx="8348662" cy="3438287"/>
            <a:chOff x="185738" y="3467100"/>
            <a:chExt cx="8348662" cy="3438287"/>
          </a:xfrm>
        </p:grpSpPr>
        <p:pic>
          <p:nvPicPr>
            <p:cNvPr id="20488" name="Picture 8" descr="C:\Users\EvyLim\AppData\Local\Temp\SNAGHTML641115e.PN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5738" y="3467100"/>
              <a:ext cx="5419725" cy="2857500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TextBox 6"/>
            <p:cNvSpPr txBox="1"/>
            <p:nvPr/>
          </p:nvSpPr>
          <p:spPr>
            <a:xfrm>
              <a:off x="1985682" y="3581400"/>
              <a:ext cx="6548718" cy="3323987"/>
            </a:xfrm>
            <a:prstGeom prst="rect">
              <a:avLst/>
            </a:prstGeom>
            <a:solidFill>
              <a:srgbClr val="FFFFCC"/>
            </a:solidFill>
            <a:ln>
              <a:solidFill>
                <a:srgbClr val="FFC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1">
                      <a:lumMod val="50000"/>
                    </a:schemeClr>
                  </a:solidFill>
                </a:rPr>
                <a:t>&lt;html&gt;</a:t>
              </a:r>
            </a:p>
            <a:p>
              <a:r>
                <a:rPr lang="en-US" sz="1400" dirty="0">
                  <a:solidFill>
                    <a:schemeClr val="bg1">
                      <a:lumMod val="50000"/>
                    </a:schemeClr>
                  </a:solidFill>
                </a:rPr>
                <a:t>&lt;head&gt;</a:t>
              </a:r>
            </a:p>
            <a:p>
              <a:r>
                <a:rPr lang="en-US" sz="1400" dirty="0">
                  <a:solidFill>
                    <a:schemeClr val="bg1">
                      <a:lumMod val="50000"/>
                    </a:schemeClr>
                  </a:solidFill>
                </a:rPr>
                <a:t>&lt;title&gt;HTML </a:t>
              </a:r>
              <a:r>
                <a:rPr lang="en-US" sz="1400" dirty="0" smtClean="0">
                  <a:solidFill>
                    <a:schemeClr val="bg1">
                      <a:lumMod val="50000"/>
                    </a:schemeClr>
                  </a:solidFill>
                </a:rPr>
                <a:t>Radio Buttons &amp; Checkboxes&lt;/</a:t>
              </a:r>
              <a:r>
                <a:rPr lang="en-US" sz="1400" dirty="0">
                  <a:solidFill>
                    <a:schemeClr val="bg1">
                      <a:lumMod val="50000"/>
                    </a:schemeClr>
                  </a:solidFill>
                </a:rPr>
                <a:t>title&gt;</a:t>
              </a:r>
            </a:p>
            <a:p>
              <a:r>
                <a:rPr lang="en-US" sz="1400" dirty="0">
                  <a:solidFill>
                    <a:schemeClr val="bg1">
                      <a:lumMod val="50000"/>
                    </a:schemeClr>
                  </a:solidFill>
                </a:rPr>
                <a:t>&lt;/head</a:t>
              </a:r>
              <a:r>
                <a:rPr lang="en-US" sz="1400" dirty="0" smtClean="0">
                  <a:solidFill>
                    <a:schemeClr val="bg1">
                      <a:lumMod val="50000"/>
                    </a:schemeClr>
                  </a:solidFill>
                </a:rPr>
                <a:t>&gt;</a:t>
              </a:r>
              <a:endParaRPr lang="en-US" sz="1400" dirty="0">
                <a:solidFill>
                  <a:schemeClr val="bg1">
                    <a:lumMod val="50000"/>
                  </a:schemeClr>
                </a:solidFill>
              </a:endParaRPr>
            </a:p>
            <a:p>
              <a:r>
                <a:rPr lang="en-US" sz="1400" dirty="0" smtClean="0">
                  <a:solidFill>
                    <a:schemeClr val="bg1">
                      <a:lumMod val="50000"/>
                    </a:schemeClr>
                  </a:solidFill>
                </a:rPr>
                <a:t>&lt;</a:t>
              </a:r>
              <a:r>
                <a:rPr lang="en-US" sz="1400" dirty="0">
                  <a:solidFill>
                    <a:schemeClr val="bg1">
                      <a:lumMod val="50000"/>
                    </a:schemeClr>
                  </a:solidFill>
                </a:rPr>
                <a:t>body&gt;</a:t>
              </a:r>
            </a:p>
            <a:p>
              <a:r>
                <a:rPr lang="en-US" sz="1400" b="1" dirty="0"/>
                <a:t>&lt;form&gt;</a:t>
              </a:r>
            </a:p>
            <a:p>
              <a:r>
                <a:rPr lang="en-US" sz="1400" b="1" dirty="0"/>
                <a:t>&lt;input type="radio" name="gender" value="male</a:t>
              </a:r>
              <a:r>
                <a:rPr lang="en-US" sz="1400" b="1" dirty="0" smtClean="0"/>
                <a:t>“ checked /&gt; </a:t>
              </a:r>
              <a:r>
                <a:rPr lang="en-US" sz="1400" b="1" dirty="0"/>
                <a:t>Male &lt;</a:t>
              </a:r>
              <a:r>
                <a:rPr lang="en-US" sz="1400" b="1" dirty="0" err="1"/>
                <a:t>br</a:t>
              </a:r>
              <a:r>
                <a:rPr lang="en-US" sz="1400" b="1" dirty="0"/>
                <a:t> /&gt;</a:t>
              </a:r>
            </a:p>
            <a:p>
              <a:r>
                <a:rPr lang="en-US" sz="1400" b="1" dirty="0"/>
                <a:t>&lt;input type="radio" name="gender" value="female" /&gt; Female &lt;</a:t>
              </a:r>
              <a:r>
                <a:rPr lang="en-US" sz="1400" b="1" dirty="0" err="1"/>
                <a:t>br</a:t>
              </a:r>
              <a:r>
                <a:rPr lang="en-US" sz="1400" b="1" dirty="0" smtClean="0"/>
                <a:t>/&gt;&lt;</a:t>
              </a:r>
              <a:r>
                <a:rPr lang="en-US" sz="1400" b="1" dirty="0" err="1"/>
                <a:t>br</a:t>
              </a:r>
              <a:r>
                <a:rPr lang="en-US" sz="1400" b="1" dirty="0"/>
                <a:t>/&gt;</a:t>
              </a:r>
            </a:p>
            <a:p>
              <a:r>
                <a:rPr lang="en-US" sz="1400" b="1" dirty="0"/>
                <a:t>&lt;input type="checkbox" name="sports" value="running" /&gt; Running &lt;</a:t>
              </a:r>
              <a:r>
                <a:rPr lang="en-US" sz="1400" b="1" dirty="0" err="1" smtClean="0"/>
                <a:t>br</a:t>
              </a:r>
              <a:r>
                <a:rPr lang="en-US" sz="1400" b="1" dirty="0" smtClean="0"/>
                <a:t> /&gt;</a:t>
              </a:r>
              <a:endParaRPr lang="en-US" sz="1400" b="1" dirty="0"/>
            </a:p>
            <a:p>
              <a:r>
                <a:rPr lang="en-US" sz="1400" b="1" dirty="0"/>
                <a:t>&lt;input type="checkbox" name="sports" value="cycling"  </a:t>
              </a:r>
              <a:r>
                <a:rPr lang="en-US" sz="1400" b="1" dirty="0" smtClean="0"/>
                <a:t>checked /&gt; </a:t>
              </a:r>
              <a:r>
                <a:rPr lang="en-US" sz="1400" b="1" dirty="0"/>
                <a:t>Cycling </a:t>
              </a:r>
            </a:p>
            <a:p>
              <a:r>
                <a:rPr lang="en-US" sz="1400" b="1" dirty="0"/>
                <a:t>&lt;/form</a:t>
              </a:r>
              <a:r>
                <a:rPr lang="en-US" sz="1400" b="1" dirty="0" smtClean="0"/>
                <a:t>&gt;</a:t>
              </a:r>
            </a:p>
            <a:p>
              <a:r>
                <a:rPr lang="en-US" sz="1400" dirty="0" smtClean="0">
                  <a:solidFill>
                    <a:schemeClr val="bg1">
                      <a:lumMod val="50000"/>
                    </a:schemeClr>
                  </a:solidFill>
                </a:rPr>
                <a:t>&lt;/</a:t>
              </a:r>
              <a:r>
                <a:rPr lang="en-US" sz="1400" dirty="0">
                  <a:solidFill>
                    <a:schemeClr val="bg1">
                      <a:lumMod val="50000"/>
                    </a:schemeClr>
                  </a:solidFill>
                </a:rPr>
                <a:t>body&gt;</a:t>
              </a:r>
            </a:p>
            <a:p>
              <a:r>
                <a:rPr lang="en-US" sz="1400" dirty="0">
                  <a:solidFill>
                    <a:schemeClr val="bg1">
                      <a:lumMod val="50000"/>
                    </a:schemeClr>
                  </a:solidFill>
                </a:rPr>
                <a:t>&lt;/html&gt;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62007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HTML Forms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b="1" dirty="0" smtClean="0">
                <a:solidFill>
                  <a:schemeClr val="tx2"/>
                </a:solidFill>
              </a:rPr>
              <a:t>Select</a:t>
            </a:r>
          </a:p>
          <a:p>
            <a:pPr marL="457200" lvl="1" indent="0">
              <a:spcAft>
                <a:spcPts val="1000"/>
              </a:spcAft>
              <a:buNone/>
            </a:pPr>
            <a:r>
              <a:rPr lang="en-US" sz="1600" b="1" dirty="0" smtClean="0"/>
              <a:t>&lt;select&gt; </a:t>
            </a:r>
            <a:r>
              <a:rPr lang="en-US" sz="1600" dirty="0"/>
              <a:t>defines a </a:t>
            </a:r>
            <a:r>
              <a:rPr lang="en-US" sz="1600" dirty="0" smtClean="0"/>
              <a:t>drop-down select boxes, </a:t>
            </a:r>
            <a:r>
              <a:rPr lang="en-US" sz="1600" dirty="0"/>
              <a:t>user only allow to select ONE of a limited number of </a:t>
            </a:r>
            <a:r>
              <a:rPr lang="en-US" sz="1600" dirty="0" smtClean="0"/>
              <a:t>choices</a:t>
            </a:r>
          </a:p>
          <a:p>
            <a:pPr marL="457200" lvl="1" indent="0">
              <a:spcAft>
                <a:spcPts val="1000"/>
              </a:spcAft>
              <a:buNone/>
            </a:pPr>
            <a:r>
              <a:rPr lang="en-US" sz="1600" b="1" dirty="0" smtClean="0"/>
              <a:t>&lt;option&gt; </a:t>
            </a:r>
            <a:r>
              <a:rPr lang="en-US" sz="1600" dirty="0" smtClean="0"/>
              <a:t>defines the choices in the drop-down select box, </a:t>
            </a:r>
            <a:r>
              <a:rPr lang="en-US" sz="1600" b="1" dirty="0" smtClean="0"/>
              <a:t>selected</a:t>
            </a:r>
            <a:r>
              <a:rPr lang="en-US" sz="1600" dirty="0" smtClean="0"/>
              <a:t> attribute </a:t>
            </a:r>
            <a:r>
              <a:rPr lang="en-US" sz="1600" dirty="0"/>
              <a:t>makes the state of </a:t>
            </a:r>
            <a:r>
              <a:rPr lang="en-US" sz="1600" dirty="0" smtClean="0"/>
              <a:t>the option selected</a:t>
            </a:r>
            <a:endParaRPr lang="en-US" sz="1600" dirty="0"/>
          </a:p>
          <a:p>
            <a:pPr marL="457200" lvl="1" indent="0">
              <a:spcAft>
                <a:spcPts val="1000"/>
              </a:spcAft>
              <a:buNone/>
            </a:pPr>
            <a:endParaRPr lang="en-US" sz="1600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IT1322 2012 S1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t>17</a:t>
            </a:fld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981075" y="2971800"/>
            <a:ext cx="7477125" cy="3733800"/>
            <a:chOff x="981075" y="2971800"/>
            <a:chExt cx="7477125" cy="3733800"/>
          </a:xfrm>
        </p:grpSpPr>
        <p:pic>
          <p:nvPicPr>
            <p:cNvPr id="24578" name="Picture 2" descr="C:\Users\EvyLim\AppData\Local\Temp\SNAGHTML65290ea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1075" y="2971800"/>
              <a:ext cx="5419725" cy="3619500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TextBox 6"/>
            <p:cNvSpPr txBox="1"/>
            <p:nvPr/>
          </p:nvSpPr>
          <p:spPr>
            <a:xfrm>
              <a:off x="3429000" y="3597057"/>
              <a:ext cx="5029200" cy="3108543"/>
            </a:xfrm>
            <a:prstGeom prst="rect">
              <a:avLst/>
            </a:prstGeom>
            <a:solidFill>
              <a:srgbClr val="FFFFCC"/>
            </a:solidFill>
            <a:ln>
              <a:solidFill>
                <a:srgbClr val="FFC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1">
                      <a:lumMod val="50000"/>
                    </a:schemeClr>
                  </a:solidFill>
                </a:rPr>
                <a:t>&lt;html&gt;</a:t>
              </a:r>
            </a:p>
            <a:p>
              <a:r>
                <a:rPr lang="en-US" sz="1400" dirty="0">
                  <a:solidFill>
                    <a:schemeClr val="bg1">
                      <a:lumMod val="50000"/>
                    </a:schemeClr>
                  </a:solidFill>
                </a:rPr>
                <a:t>&lt;head&gt;</a:t>
              </a:r>
            </a:p>
            <a:p>
              <a:r>
                <a:rPr lang="en-US" sz="1400" dirty="0">
                  <a:solidFill>
                    <a:schemeClr val="bg1">
                      <a:lumMod val="50000"/>
                    </a:schemeClr>
                  </a:solidFill>
                </a:rPr>
                <a:t>&lt;title&gt;HTML </a:t>
              </a:r>
              <a:r>
                <a:rPr lang="en-US" sz="1400" dirty="0" smtClean="0">
                  <a:solidFill>
                    <a:schemeClr val="bg1">
                      <a:lumMod val="50000"/>
                    </a:schemeClr>
                  </a:solidFill>
                </a:rPr>
                <a:t>Radio Buttons &amp; Checkboxes&lt;/</a:t>
              </a:r>
              <a:r>
                <a:rPr lang="en-US" sz="1400" dirty="0">
                  <a:solidFill>
                    <a:schemeClr val="bg1">
                      <a:lumMod val="50000"/>
                    </a:schemeClr>
                  </a:solidFill>
                </a:rPr>
                <a:t>title&gt;</a:t>
              </a:r>
            </a:p>
            <a:p>
              <a:r>
                <a:rPr lang="en-US" sz="1400" dirty="0">
                  <a:solidFill>
                    <a:schemeClr val="bg1">
                      <a:lumMod val="50000"/>
                    </a:schemeClr>
                  </a:solidFill>
                </a:rPr>
                <a:t>&lt;/head</a:t>
              </a:r>
              <a:r>
                <a:rPr lang="en-US" sz="1400" dirty="0" smtClean="0">
                  <a:solidFill>
                    <a:schemeClr val="bg1">
                      <a:lumMod val="50000"/>
                    </a:schemeClr>
                  </a:solidFill>
                </a:rPr>
                <a:t>&gt;</a:t>
              </a:r>
              <a:endParaRPr lang="en-US" sz="1400" dirty="0">
                <a:solidFill>
                  <a:schemeClr val="bg1">
                    <a:lumMod val="50000"/>
                  </a:schemeClr>
                </a:solidFill>
              </a:endParaRPr>
            </a:p>
            <a:p>
              <a:r>
                <a:rPr lang="en-US" sz="1400" dirty="0" smtClean="0">
                  <a:solidFill>
                    <a:schemeClr val="bg1">
                      <a:lumMod val="50000"/>
                    </a:schemeClr>
                  </a:solidFill>
                </a:rPr>
                <a:t>&lt;</a:t>
              </a:r>
              <a:r>
                <a:rPr lang="en-US" sz="1400" dirty="0">
                  <a:solidFill>
                    <a:schemeClr val="bg1">
                      <a:lumMod val="50000"/>
                    </a:schemeClr>
                  </a:solidFill>
                </a:rPr>
                <a:t>body&gt;</a:t>
              </a:r>
            </a:p>
            <a:p>
              <a:r>
                <a:rPr lang="en-US" sz="1400" b="1" dirty="0"/>
                <a:t>&lt;form&gt;</a:t>
              </a:r>
            </a:p>
            <a:p>
              <a:r>
                <a:rPr lang="en-US" sz="1400" b="1" dirty="0"/>
                <a:t>Favorite Fruit: </a:t>
              </a:r>
            </a:p>
            <a:p>
              <a:r>
                <a:rPr lang="en-US" sz="1400" b="1" dirty="0"/>
                <a:t>&lt;select&gt;</a:t>
              </a:r>
            </a:p>
            <a:p>
              <a:r>
                <a:rPr lang="en-US" sz="1400" b="1" dirty="0"/>
                <a:t>&lt;option value="apple"&gt;Apple&lt;/option&gt;</a:t>
              </a:r>
            </a:p>
            <a:p>
              <a:r>
                <a:rPr lang="en-US" sz="1400" b="1" dirty="0"/>
                <a:t>&lt;option value="banana" </a:t>
              </a:r>
              <a:r>
                <a:rPr lang="en-US" sz="1400" b="1" dirty="0" smtClean="0"/>
                <a:t>selected&gt;Banana</a:t>
              </a:r>
              <a:r>
                <a:rPr lang="en-US" sz="1400" b="1" dirty="0"/>
                <a:t>&lt;/option&gt;</a:t>
              </a:r>
            </a:p>
            <a:p>
              <a:r>
                <a:rPr lang="en-US" sz="1400" b="1" dirty="0"/>
                <a:t>&lt;option value="orange"&gt;Orange&lt;/option&gt;</a:t>
              </a:r>
            </a:p>
            <a:p>
              <a:r>
                <a:rPr lang="en-US" sz="1400" b="1" dirty="0"/>
                <a:t>&lt;/select&gt;</a:t>
              </a:r>
            </a:p>
            <a:p>
              <a:r>
                <a:rPr lang="en-US" sz="1400" b="1" dirty="0"/>
                <a:t>&lt;/form&gt;</a:t>
              </a:r>
              <a:r>
                <a:rPr lang="en-US" sz="1400" dirty="0" smtClean="0">
                  <a:solidFill>
                    <a:schemeClr val="bg1">
                      <a:lumMod val="50000"/>
                    </a:schemeClr>
                  </a:solidFill>
                </a:rPr>
                <a:t>&lt;/</a:t>
              </a:r>
              <a:r>
                <a:rPr lang="en-US" sz="1400" dirty="0">
                  <a:solidFill>
                    <a:schemeClr val="bg1">
                      <a:lumMod val="50000"/>
                    </a:schemeClr>
                  </a:solidFill>
                </a:rPr>
                <a:t>body&gt;</a:t>
              </a:r>
            </a:p>
            <a:p>
              <a:r>
                <a:rPr lang="en-US" sz="1400" dirty="0">
                  <a:solidFill>
                    <a:schemeClr val="bg1">
                      <a:lumMod val="50000"/>
                    </a:schemeClr>
                  </a:solidFill>
                </a:rPr>
                <a:t>&lt;/html&gt;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12401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HTML Forms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b="1" dirty="0" smtClean="0">
                <a:solidFill>
                  <a:schemeClr val="tx2"/>
                </a:solidFill>
              </a:rPr>
              <a:t>Submit Button</a:t>
            </a:r>
          </a:p>
          <a:p>
            <a:pPr marL="457200" lvl="1" indent="0">
              <a:spcAft>
                <a:spcPts val="1000"/>
              </a:spcAft>
              <a:buNone/>
            </a:pPr>
            <a:r>
              <a:rPr lang="en-US" sz="1600" b="1" dirty="0" smtClean="0"/>
              <a:t>&lt;input type=“submit” /&gt; </a:t>
            </a:r>
            <a:r>
              <a:rPr lang="en-US" sz="1600" dirty="0" smtClean="0"/>
              <a:t>defines a submit button, used to send data to a server. Data is sent to the page specified in the form’s action attribute. </a:t>
            </a:r>
          </a:p>
          <a:p>
            <a:pPr marL="457200" lvl="1" indent="0">
              <a:spcAft>
                <a:spcPts val="1000"/>
              </a:spcAft>
              <a:buNone/>
            </a:pPr>
            <a:r>
              <a:rPr lang="en-US" sz="1600" b="1" dirty="0" smtClean="0"/>
              <a:t>&lt;input type=“reset” /&gt; </a:t>
            </a:r>
            <a:r>
              <a:rPr lang="en-US" sz="1600" dirty="0" smtClean="0"/>
              <a:t>defines a reset button, used to clear values in the form</a:t>
            </a:r>
          </a:p>
          <a:p>
            <a:pPr marL="457200" lvl="1" indent="0">
              <a:spcAft>
                <a:spcPts val="1000"/>
              </a:spcAft>
              <a:buNone/>
            </a:pPr>
            <a:r>
              <a:rPr lang="en-US" sz="1600" b="1" dirty="0" smtClean="0"/>
              <a:t>&lt;input type=“hidden” /&gt; </a:t>
            </a:r>
            <a:r>
              <a:rPr lang="en-US" sz="1600" dirty="0" smtClean="0"/>
              <a:t>defines hidden value, control not displayed in the form</a:t>
            </a:r>
            <a:endParaRPr lang="en-US" sz="1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IT1322 2012 S1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t>18</a:t>
            </a:fld>
            <a:endParaRPr lang="en-US"/>
          </a:p>
        </p:txBody>
      </p:sp>
      <p:grpSp>
        <p:nvGrpSpPr>
          <p:cNvPr id="9" name="Group 8"/>
          <p:cNvGrpSpPr/>
          <p:nvPr/>
        </p:nvGrpSpPr>
        <p:grpSpPr>
          <a:xfrm>
            <a:off x="76200" y="3073908"/>
            <a:ext cx="8839200" cy="3631692"/>
            <a:chOff x="76200" y="3073908"/>
            <a:chExt cx="8839200" cy="3631692"/>
          </a:xfrm>
        </p:grpSpPr>
        <p:pic>
          <p:nvPicPr>
            <p:cNvPr id="21508" name="Picture 4" descr="C:\Users\EvyLim\AppData\Local\Temp\SNAGHTML647f9f8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00" y="3073908"/>
              <a:ext cx="5419725" cy="3619500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TextBox 6"/>
            <p:cNvSpPr txBox="1"/>
            <p:nvPr/>
          </p:nvSpPr>
          <p:spPr>
            <a:xfrm>
              <a:off x="3581401" y="3812500"/>
              <a:ext cx="5333999" cy="2893100"/>
            </a:xfrm>
            <a:prstGeom prst="rect">
              <a:avLst/>
            </a:prstGeom>
            <a:solidFill>
              <a:srgbClr val="FFFFCC"/>
            </a:solidFill>
            <a:ln>
              <a:solidFill>
                <a:srgbClr val="FFC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1">
                      <a:lumMod val="50000"/>
                    </a:schemeClr>
                  </a:solidFill>
                </a:rPr>
                <a:t>&lt;html&gt;</a:t>
              </a:r>
            </a:p>
            <a:p>
              <a:r>
                <a:rPr lang="en-US" sz="1400" dirty="0">
                  <a:solidFill>
                    <a:schemeClr val="bg1">
                      <a:lumMod val="50000"/>
                    </a:schemeClr>
                  </a:solidFill>
                </a:rPr>
                <a:t>&lt;head&gt;</a:t>
              </a:r>
            </a:p>
            <a:p>
              <a:r>
                <a:rPr lang="en-US" sz="1400" dirty="0">
                  <a:solidFill>
                    <a:schemeClr val="bg1">
                      <a:lumMod val="50000"/>
                    </a:schemeClr>
                  </a:solidFill>
                </a:rPr>
                <a:t>&lt;title&gt;HTML </a:t>
              </a:r>
              <a:r>
                <a:rPr lang="en-US" sz="1400" dirty="0" smtClean="0">
                  <a:solidFill>
                    <a:schemeClr val="bg1">
                      <a:lumMod val="50000"/>
                    </a:schemeClr>
                  </a:solidFill>
                </a:rPr>
                <a:t>Submit Button&lt;/</a:t>
              </a:r>
              <a:r>
                <a:rPr lang="en-US" sz="1400" dirty="0">
                  <a:solidFill>
                    <a:schemeClr val="bg1">
                      <a:lumMod val="50000"/>
                    </a:schemeClr>
                  </a:solidFill>
                </a:rPr>
                <a:t>title&gt;</a:t>
              </a:r>
            </a:p>
            <a:p>
              <a:r>
                <a:rPr lang="en-US" sz="1400" dirty="0">
                  <a:solidFill>
                    <a:schemeClr val="bg1">
                      <a:lumMod val="50000"/>
                    </a:schemeClr>
                  </a:solidFill>
                </a:rPr>
                <a:t>&lt;/head</a:t>
              </a:r>
              <a:r>
                <a:rPr lang="en-US" sz="1400" dirty="0" smtClean="0">
                  <a:solidFill>
                    <a:schemeClr val="bg1">
                      <a:lumMod val="50000"/>
                    </a:schemeClr>
                  </a:solidFill>
                </a:rPr>
                <a:t>&gt;</a:t>
              </a:r>
              <a:endParaRPr lang="en-US" sz="1400" dirty="0">
                <a:solidFill>
                  <a:schemeClr val="bg1">
                    <a:lumMod val="50000"/>
                  </a:schemeClr>
                </a:solidFill>
              </a:endParaRPr>
            </a:p>
            <a:p>
              <a:r>
                <a:rPr lang="en-US" sz="1400" dirty="0" smtClean="0">
                  <a:solidFill>
                    <a:schemeClr val="bg1">
                      <a:lumMod val="50000"/>
                    </a:schemeClr>
                  </a:solidFill>
                </a:rPr>
                <a:t>&lt;</a:t>
              </a:r>
              <a:r>
                <a:rPr lang="en-US" sz="1400" dirty="0">
                  <a:solidFill>
                    <a:schemeClr val="bg1">
                      <a:lumMod val="50000"/>
                    </a:schemeClr>
                  </a:solidFill>
                </a:rPr>
                <a:t>body&gt;</a:t>
              </a:r>
            </a:p>
            <a:p>
              <a:r>
                <a:rPr lang="en-US" sz="1400" b="1" dirty="0"/>
                <a:t>&lt;form name="input" action="html_form_action.asp" method="get"&gt;</a:t>
              </a:r>
            </a:p>
            <a:p>
              <a:r>
                <a:rPr lang="en-US" sz="1400" b="1" dirty="0"/>
                <a:t>Username: &lt;input type="text" name="username" /&gt;</a:t>
              </a:r>
            </a:p>
            <a:p>
              <a:r>
                <a:rPr lang="en-US" sz="1400" b="1" dirty="0"/>
                <a:t>&lt;input type="submit" value="Submit" /&gt;</a:t>
              </a:r>
            </a:p>
            <a:p>
              <a:r>
                <a:rPr lang="en-US" sz="1400" b="1" dirty="0"/>
                <a:t>&lt;input type="reset" /&gt;</a:t>
              </a:r>
            </a:p>
            <a:p>
              <a:r>
                <a:rPr lang="en-US" sz="1400" b="1" dirty="0"/>
                <a:t>&lt;input type="hidden" name="</a:t>
              </a:r>
              <a:r>
                <a:rPr lang="en-US" sz="1400" b="1" dirty="0" err="1"/>
                <a:t>userid</a:t>
              </a:r>
              <a:r>
                <a:rPr lang="en-US" sz="1400" b="1" dirty="0"/>
                <a:t>" value="</a:t>
              </a:r>
              <a:r>
                <a:rPr lang="en-US" sz="1400" b="1" dirty="0" err="1"/>
                <a:t>hiddenvalue</a:t>
              </a:r>
              <a:r>
                <a:rPr lang="en-US" sz="1400" b="1" dirty="0"/>
                <a:t>" /&gt; </a:t>
              </a:r>
              <a:endParaRPr lang="en-US" sz="1400" b="1" dirty="0" smtClean="0"/>
            </a:p>
            <a:p>
              <a:r>
                <a:rPr lang="en-US" sz="1400" b="1" dirty="0" smtClean="0"/>
                <a:t>&lt;/</a:t>
              </a:r>
              <a:r>
                <a:rPr lang="en-US" sz="1400" b="1" dirty="0"/>
                <a:t>form</a:t>
              </a:r>
              <a:r>
                <a:rPr lang="en-US" sz="1400" b="1" dirty="0" smtClean="0"/>
                <a:t>&gt;</a:t>
              </a:r>
            </a:p>
            <a:p>
              <a:r>
                <a:rPr lang="en-US" sz="1400" dirty="0" smtClean="0">
                  <a:solidFill>
                    <a:schemeClr val="bg1">
                      <a:lumMod val="50000"/>
                    </a:schemeClr>
                  </a:solidFill>
                </a:rPr>
                <a:t>&lt;/</a:t>
              </a:r>
              <a:r>
                <a:rPr lang="en-US" sz="1400" dirty="0">
                  <a:solidFill>
                    <a:schemeClr val="bg1">
                      <a:lumMod val="50000"/>
                    </a:schemeClr>
                  </a:solidFill>
                </a:rPr>
                <a:t>body&gt;</a:t>
              </a:r>
            </a:p>
            <a:p>
              <a:r>
                <a:rPr lang="en-US" sz="1400" dirty="0">
                  <a:solidFill>
                    <a:schemeClr val="bg1">
                      <a:lumMod val="50000"/>
                    </a:schemeClr>
                  </a:solidFill>
                </a:rPr>
                <a:t>&lt;/html&gt;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54408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Validate HTML code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Automated process of comparing your written code against current coding standard by using validator</a:t>
            </a:r>
          </a:p>
          <a:p>
            <a:pPr lvl="1"/>
            <a:r>
              <a:rPr lang="en-US" sz="2000" dirty="0" smtClean="0"/>
              <a:t>W3C Validator (</a:t>
            </a:r>
            <a:r>
              <a:rPr lang="en-US" sz="2000" dirty="0" smtClean="0">
                <a:hlinkClick r:id="rId2"/>
              </a:rPr>
              <a:t>http://validator.w3.org/</a:t>
            </a:r>
            <a:r>
              <a:rPr lang="en-US" sz="2000" dirty="0" smtClean="0"/>
              <a:t>)</a:t>
            </a:r>
          </a:p>
          <a:p>
            <a:pPr lvl="1"/>
            <a:r>
              <a:rPr lang="en-US" sz="2000" dirty="0" smtClean="0"/>
              <a:t>Chrome </a:t>
            </a:r>
            <a:r>
              <a:rPr lang="en-US" sz="2000" dirty="0" err="1" smtClean="0"/>
              <a:t>Addon</a:t>
            </a:r>
            <a:r>
              <a:rPr lang="en-US" sz="2000" dirty="0" smtClean="0"/>
              <a:t> – HTML Validator</a:t>
            </a:r>
            <a:endParaRPr lang="en-US" sz="2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t>19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2971800"/>
            <a:ext cx="7030577" cy="27432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06358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Use lowercase for tag and attribute</a:t>
            </a:r>
          </a:p>
          <a:p>
            <a:r>
              <a:rPr lang="en-US" sz="2000" dirty="0"/>
              <a:t>All tags must be nested properly and not overlap</a:t>
            </a:r>
          </a:p>
          <a:p>
            <a:endParaRPr lang="en-US" sz="2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IT1322 2012 S1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t>20</a:t>
            </a:fld>
            <a:endParaRPr lang="en-US"/>
          </a:p>
        </p:txBody>
      </p:sp>
      <p:grpSp>
        <p:nvGrpSpPr>
          <p:cNvPr id="14" name="Group 13"/>
          <p:cNvGrpSpPr/>
          <p:nvPr/>
        </p:nvGrpSpPr>
        <p:grpSpPr>
          <a:xfrm>
            <a:off x="152400" y="2133599"/>
            <a:ext cx="8763000" cy="4141114"/>
            <a:chOff x="152400" y="2133599"/>
            <a:chExt cx="8763000" cy="4141114"/>
          </a:xfrm>
        </p:grpSpPr>
        <p:sp>
          <p:nvSpPr>
            <p:cNvPr id="7" name="TextBox 6"/>
            <p:cNvSpPr txBox="1"/>
            <p:nvPr/>
          </p:nvSpPr>
          <p:spPr>
            <a:xfrm>
              <a:off x="152400" y="2133600"/>
              <a:ext cx="2819400" cy="2246769"/>
            </a:xfrm>
            <a:prstGeom prst="rect">
              <a:avLst/>
            </a:prstGeom>
            <a:solidFill>
              <a:srgbClr val="FFFFCC"/>
            </a:solidFill>
            <a:ln>
              <a:solidFill>
                <a:srgbClr val="FFC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b="1" u="sng" dirty="0" smtClean="0"/>
                <a:t>HTML Basic Document</a:t>
              </a:r>
            </a:p>
            <a:p>
              <a:r>
                <a:rPr lang="en-US" sz="1400" dirty="0" smtClean="0"/>
                <a:t>&lt;</a:t>
              </a:r>
              <a:r>
                <a:rPr lang="en-US" sz="1400" dirty="0"/>
                <a:t>html&gt;</a:t>
              </a:r>
            </a:p>
            <a:p>
              <a:r>
                <a:rPr lang="en-US" sz="1400" dirty="0"/>
                <a:t>&lt;head&gt;</a:t>
              </a:r>
            </a:p>
            <a:p>
              <a:r>
                <a:rPr lang="en-US" sz="1400" dirty="0"/>
                <a:t>&lt;</a:t>
              </a:r>
              <a:r>
                <a:rPr lang="en-US" sz="1400" dirty="0" smtClean="0"/>
                <a:t>title&gt;Document Title&lt;/</a:t>
              </a:r>
              <a:r>
                <a:rPr lang="en-US" sz="1400" dirty="0"/>
                <a:t>title&gt;</a:t>
              </a:r>
            </a:p>
            <a:p>
              <a:r>
                <a:rPr lang="en-US" sz="1400" dirty="0"/>
                <a:t>&lt;/head&gt;</a:t>
              </a:r>
            </a:p>
            <a:p>
              <a:endParaRPr lang="en-US" sz="1400" dirty="0"/>
            </a:p>
            <a:p>
              <a:r>
                <a:rPr lang="en-US" sz="1400" dirty="0"/>
                <a:t>&lt;body</a:t>
              </a:r>
              <a:r>
                <a:rPr lang="en-US" sz="1400" dirty="0" smtClean="0"/>
                <a:t>&gt;</a:t>
              </a:r>
            </a:p>
            <a:p>
              <a:r>
                <a:rPr lang="en-US" sz="1400" dirty="0" smtClean="0"/>
                <a:t>Content of document</a:t>
              </a:r>
              <a:endParaRPr lang="en-US" sz="1400" dirty="0"/>
            </a:p>
            <a:p>
              <a:r>
                <a:rPr lang="en-US" sz="1400" dirty="0" smtClean="0"/>
                <a:t>&lt;/</a:t>
              </a:r>
              <a:r>
                <a:rPr lang="en-US" sz="1400" dirty="0"/>
                <a:t>body&gt;</a:t>
              </a:r>
            </a:p>
            <a:p>
              <a:r>
                <a:rPr lang="en-US" sz="1400" dirty="0"/>
                <a:t>&lt;/html&gt;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124200" y="2133600"/>
              <a:ext cx="2819400" cy="2246769"/>
            </a:xfrm>
            <a:prstGeom prst="rect">
              <a:avLst/>
            </a:prstGeom>
            <a:solidFill>
              <a:srgbClr val="FFFFCC"/>
            </a:solidFill>
            <a:ln>
              <a:solidFill>
                <a:srgbClr val="FFC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b="1" u="sng" dirty="0" smtClean="0"/>
                <a:t>Heading Elements</a:t>
              </a:r>
            </a:p>
            <a:p>
              <a:r>
                <a:rPr lang="en-US" sz="1400" dirty="0" smtClean="0"/>
                <a:t>&lt;h1&gt;Largest Heading &lt;/h1&gt;</a:t>
              </a:r>
            </a:p>
            <a:p>
              <a:endParaRPr lang="en-US" sz="1400" dirty="0"/>
            </a:p>
            <a:p>
              <a:r>
                <a:rPr lang="en-US" sz="1400" dirty="0" smtClean="0"/>
                <a:t>&lt;h2&gt; . . . &lt;/h2&gt;</a:t>
              </a:r>
            </a:p>
            <a:p>
              <a:r>
                <a:rPr lang="en-US" sz="1400" dirty="0" smtClean="0"/>
                <a:t>&lt;h3&gt; . . . &lt;/h3&gt;</a:t>
              </a:r>
            </a:p>
            <a:p>
              <a:r>
                <a:rPr lang="en-US" sz="1400" dirty="0" smtClean="0"/>
                <a:t>&lt;h4&gt; . . . &lt;/h4&gt;</a:t>
              </a:r>
            </a:p>
            <a:p>
              <a:r>
                <a:rPr lang="en-US" sz="1400" dirty="0" smtClean="0"/>
                <a:t>&lt;h5&gt; . . . &lt;/h5&gt;</a:t>
              </a:r>
            </a:p>
            <a:p>
              <a:endParaRPr lang="en-US" sz="1400" dirty="0" smtClean="0"/>
            </a:p>
            <a:p>
              <a:r>
                <a:rPr lang="en-US" sz="1400" dirty="0" smtClean="0"/>
                <a:t>&lt;h6&gt;Smallest Heading&lt;/h6&gt;</a:t>
              </a:r>
            </a:p>
            <a:p>
              <a:endParaRPr lang="en-US" sz="1400" dirty="0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096000" y="2133599"/>
              <a:ext cx="2819400" cy="2246769"/>
            </a:xfrm>
            <a:prstGeom prst="rect">
              <a:avLst/>
            </a:prstGeom>
            <a:solidFill>
              <a:srgbClr val="FFFFCC"/>
            </a:solidFill>
            <a:ln>
              <a:solidFill>
                <a:srgbClr val="FFC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b="1" u="sng" dirty="0" smtClean="0"/>
                <a:t>Text Elements</a:t>
              </a:r>
            </a:p>
            <a:p>
              <a:r>
                <a:rPr lang="en-US" sz="1400" dirty="0" smtClean="0"/>
                <a:t>&lt;p&gt;This is a paragraph &lt;/p&gt;</a:t>
              </a:r>
            </a:p>
            <a:p>
              <a:r>
                <a:rPr lang="en-US" sz="1400" dirty="0" smtClean="0"/>
                <a:t>&lt;</a:t>
              </a:r>
              <a:r>
                <a:rPr lang="en-US" sz="1400" dirty="0" err="1" smtClean="0"/>
                <a:t>br</a:t>
              </a:r>
              <a:r>
                <a:rPr lang="en-US" sz="1400" dirty="0" smtClean="0"/>
                <a:t> /&gt; (line break)</a:t>
              </a:r>
            </a:p>
            <a:p>
              <a:r>
                <a:rPr lang="en-US" sz="1400" dirty="0" smtClean="0"/>
                <a:t>&lt;</a:t>
              </a:r>
              <a:r>
                <a:rPr lang="en-US" sz="1400" dirty="0" err="1" smtClean="0"/>
                <a:t>hr</a:t>
              </a:r>
              <a:r>
                <a:rPr lang="en-US" sz="1400" dirty="0" smtClean="0"/>
                <a:t> /&gt; (horizontal rule)</a:t>
              </a:r>
            </a:p>
            <a:p>
              <a:r>
                <a:rPr lang="en-US" sz="1400" dirty="0" smtClean="0"/>
                <a:t>&lt;!-- This is comment --&gt;</a:t>
              </a:r>
            </a:p>
            <a:p>
              <a:endParaRPr lang="en-US" sz="1400" dirty="0" smtClean="0"/>
            </a:p>
            <a:p>
              <a:r>
                <a:rPr lang="en-US" sz="1400" dirty="0" smtClean="0"/>
                <a:t>&lt;</a:t>
              </a:r>
              <a:r>
                <a:rPr lang="en-US" sz="1400" dirty="0" err="1" smtClean="0"/>
                <a:t>em</a:t>
              </a:r>
              <a:r>
                <a:rPr lang="en-US" sz="1400" dirty="0" smtClean="0"/>
                <a:t>&gt;This text is emphasized&lt;/</a:t>
              </a:r>
              <a:r>
                <a:rPr lang="en-US" sz="1400" dirty="0" err="1" smtClean="0"/>
                <a:t>em</a:t>
              </a:r>
              <a:r>
                <a:rPr lang="en-US" sz="1400" dirty="0" smtClean="0"/>
                <a:t>&gt;</a:t>
              </a:r>
            </a:p>
            <a:p>
              <a:r>
                <a:rPr lang="en-US" sz="1400" dirty="0" smtClean="0"/>
                <a:t>&lt;strong&gt;This text is strong&lt;/strong&gt;</a:t>
              </a:r>
            </a:p>
            <a:p>
              <a:r>
                <a:rPr lang="en-US" sz="1400" dirty="0" smtClean="0"/>
                <a:t>&lt;b&gt; This text is bold &lt;/b&gt;</a:t>
              </a:r>
            </a:p>
            <a:p>
              <a:r>
                <a:rPr lang="en-US" sz="1400" dirty="0" smtClean="0"/>
                <a:t>&lt;</a:t>
              </a:r>
              <a:r>
                <a:rPr lang="en-US" sz="1400" dirty="0" err="1" smtClean="0"/>
                <a:t>i</a:t>
              </a:r>
              <a:r>
                <a:rPr lang="en-US" sz="1400" dirty="0" smtClean="0"/>
                <a:t>&gt;This text is italic&lt;/</a:t>
              </a:r>
              <a:r>
                <a:rPr lang="en-US" sz="1400" dirty="0" err="1" smtClean="0"/>
                <a:t>i</a:t>
              </a:r>
              <a:r>
                <a:rPr lang="en-US" sz="1400" dirty="0" smtClean="0"/>
                <a:t>&gt;</a:t>
              </a:r>
              <a:endParaRPr lang="en-US" sz="1400" dirty="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52400" y="4458831"/>
              <a:ext cx="2819400" cy="1815882"/>
            </a:xfrm>
            <a:prstGeom prst="rect">
              <a:avLst/>
            </a:prstGeom>
            <a:solidFill>
              <a:srgbClr val="FFFFCC"/>
            </a:solidFill>
            <a:ln>
              <a:solidFill>
                <a:srgbClr val="FFC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b="1" u="sng" dirty="0" smtClean="0"/>
                <a:t>Links</a:t>
              </a:r>
            </a:p>
            <a:p>
              <a:r>
                <a:rPr lang="en-US" sz="1400" dirty="0" smtClean="0"/>
                <a:t>&lt;a </a:t>
              </a:r>
              <a:r>
                <a:rPr lang="en-US" sz="1400" dirty="0" err="1" smtClean="0"/>
                <a:t>href</a:t>
              </a:r>
              <a:r>
                <a:rPr lang="en-US" sz="1400" dirty="0" smtClean="0"/>
                <a:t>=“index.html”&gt;Link text&lt;/a&gt;</a:t>
              </a:r>
            </a:p>
            <a:p>
              <a:endParaRPr lang="en-US" sz="1400" dirty="0"/>
            </a:p>
            <a:p>
              <a:r>
                <a:rPr lang="en-US" sz="1400" dirty="0" smtClean="0"/>
                <a:t>Named anchor:</a:t>
              </a:r>
            </a:p>
            <a:p>
              <a:r>
                <a:rPr lang="en-US" sz="1400" dirty="0" smtClean="0"/>
                <a:t>&lt;a name=“</a:t>
              </a:r>
              <a:r>
                <a:rPr lang="en-US" sz="1400" dirty="0" err="1" smtClean="0"/>
                <a:t>aboutus</a:t>
              </a:r>
              <a:r>
                <a:rPr lang="en-US" sz="1400" dirty="0" smtClean="0"/>
                <a:t>”&gt;About Us&lt;/a&gt;</a:t>
              </a:r>
            </a:p>
            <a:p>
              <a:r>
                <a:rPr lang="en-US" sz="1400" dirty="0" smtClean="0"/>
                <a:t>&lt;a </a:t>
              </a:r>
              <a:r>
                <a:rPr lang="en-US" sz="1400" dirty="0" err="1" smtClean="0"/>
                <a:t>href</a:t>
              </a:r>
              <a:r>
                <a:rPr lang="en-US" sz="1400" dirty="0" smtClean="0"/>
                <a:t>=“#</a:t>
              </a:r>
              <a:r>
                <a:rPr lang="en-US" sz="1400" dirty="0" err="1" smtClean="0"/>
                <a:t>aboutus</a:t>
              </a:r>
              <a:r>
                <a:rPr lang="en-US" sz="1400" dirty="0" smtClean="0"/>
                <a:t>”&gt;Jump to About Us&lt;/a&gt;</a:t>
              </a:r>
            </a:p>
            <a:p>
              <a:endParaRPr lang="en-US" sz="1400" dirty="0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124200" y="4458831"/>
              <a:ext cx="2819400" cy="1815882"/>
            </a:xfrm>
            <a:prstGeom prst="rect">
              <a:avLst/>
            </a:prstGeom>
            <a:solidFill>
              <a:srgbClr val="FFFFCC"/>
            </a:solidFill>
            <a:ln>
              <a:solidFill>
                <a:srgbClr val="FFC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b="1" u="sng" dirty="0" smtClean="0"/>
                <a:t>Unordered List</a:t>
              </a:r>
            </a:p>
            <a:p>
              <a:r>
                <a:rPr lang="en-US" sz="1400" dirty="0" smtClean="0"/>
                <a:t>&lt;</a:t>
              </a:r>
              <a:r>
                <a:rPr lang="en-US" sz="1400" dirty="0" err="1" smtClean="0"/>
                <a:t>ul</a:t>
              </a:r>
              <a:r>
                <a:rPr lang="en-US" sz="1400" dirty="0" smtClean="0"/>
                <a:t>&gt;</a:t>
              </a:r>
            </a:p>
            <a:p>
              <a:r>
                <a:rPr lang="en-US" sz="1400" dirty="0"/>
                <a:t> </a:t>
              </a:r>
              <a:r>
                <a:rPr lang="en-US" sz="1400" dirty="0" smtClean="0"/>
                <a:t> &lt;li&gt;Item&lt;/li&gt;</a:t>
              </a:r>
            </a:p>
            <a:p>
              <a:r>
                <a:rPr lang="en-US" sz="1400" dirty="0"/>
                <a:t> </a:t>
              </a:r>
              <a:r>
                <a:rPr lang="en-US" sz="1400" dirty="0" smtClean="0"/>
                <a:t> &lt;li&gt;Item&lt;/li&gt;</a:t>
              </a:r>
            </a:p>
            <a:p>
              <a:r>
                <a:rPr lang="en-US" sz="1400" dirty="0" smtClean="0"/>
                <a:t>&lt;/</a:t>
              </a:r>
              <a:r>
                <a:rPr lang="en-US" sz="1400" dirty="0" err="1" smtClean="0"/>
                <a:t>ul</a:t>
              </a:r>
              <a:r>
                <a:rPr lang="en-US" sz="1400" dirty="0" smtClean="0"/>
                <a:t>&gt;</a:t>
              </a:r>
            </a:p>
            <a:p>
              <a:endParaRPr lang="en-US" sz="1400" dirty="0" smtClean="0"/>
            </a:p>
            <a:p>
              <a:endParaRPr lang="en-US" sz="1400" dirty="0" smtClean="0"/>
            </a:p>
            <a:p>
              <a:endParaRPr lang="en-US" sz="1400"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096000" y="4458830"/>
              <a:ext cx="2819400" cy="1815882"/>
            </a:xfrm>
            <a:prstGeom prst="rect">
              <a:avLst/>
            </a:prstGeom>
            <a:solidFill>
              <a:srgbClr val="FFFFCC"/>
            </a:solidFill>
            <a:ln>
              <a:solidFill>
                <a:srgbClr val="FFC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b="1" u="sng" dirty="0" smtClean="0"/>
                <a:t>Ordered List</a:t>
              </a:r>
            </a:p>
            <a:p>
              <a:r>
                <a:rPr lang="en-US" sz="1400" dirty="0" smtClean="0"/>
                <a:t>&lt;</a:t>
              </a:r>
              <a:r>
                <a:rPr lang="en-US" sz="1400" dirty="0" err="1"/>
                <a:t>o</a:t>
              </a:r>
              <a:r>
                <a:rPr lang="en-US" sz="1400" dirty="0" err="1" smtClean="0"/>
                <a:t>l</a:t>
              </a:r>
              <a:r>
                <a:rPr lang="en-US" sz="1400" dirty="0" smtClean="0"/>
                <a:t>&gt;</a:t>
              </a:r>
            </a:p>
            <a:p>
              <a:r>
                <a:rPr lang="en-US" sz="1400" dirty="0"/>
                <a:t> </a:t>
              </a:r>
              <a:r>
                <a:rPr lang="en-US" sz="1400" dirty="0" smtClean="0"/>
                <a:t> &lt;li&gt;Item 1&lt;/li&gt;</a:t>
              </a:r>
            </a:p>
            <a:p>
              <a:r>
                <a:rPr lang="en-US" sz="1400" dirty="0"/>
                <a:t> </a:t>
              </a:r>
              <a:r>
                <a:rPr lang="en-US" sz="1400" dirty="0" smtClean="0"/>
                <a:t> &lt;li&gt;Item 2&lt;/li&gt;</a:t>
              </a:r>
            </a:p>
            <a:p>
              <a:r>
                <a:rPr lang="en-US" sz="1400" dirty="0" smtClean="0"/>
                <a:t>&lt;/</a:t>
              </a:r>
              <a:r>
                <a:rPr lang="en-US" sz="1400" dirty="0" err="1"/>
                <a:t>o</a:t>
              </a:r>
              <a:r>
                <a:rPr lang="en-US" sz="1400" smtClean="0"/>
                <a:t>l</a:t>
              </a:r>
              <a:r>
                <a:rPr lang="en-US" sz="1400" dirty="0" smtClean="0"/>
                <a:t>&gt;</a:t>
              </a:r>
            </a:p>
            <a:p>
              <a:endParaRPr lang="en-US" sz="1400" dirty="0"/>
            </a:p>
            <a:p>
              <a:endParaRPr lang="en-US" sz="1400" dirty="0" smtClean="0"/>
            </a:p>
            <a:p>
              <a:endParaRPr 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614304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986620" y="5410200"/>
            <a:ext cx="7395380" cy="99060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To learn more about HTML, refer to </a:t>
            </a:r>
            <a:r>
              <a:rPr lang="en-SG" sz="2000" dirty="0">
                <a:hlinkClick r:id="rId2"/>
              </a:rPr>
              <a:t>http://</a:t>
            </a:r>
            <a:r>
              <a:rPr lang="en-SG" sz="2000" dirty="0" smtClean="0">
                <a:hlinkClick r:id="rId2"/>
              </a:rPr>
              <a:t>www.w3schools.com/html</a:t>
            </a:r>
            <a:endParaRPr lang="en-US" sz="2000" dirty="0"/>
          </a:p>
          <a:p>
            <a:endParaRPr lang="en-US" sz="2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t>21</a:t>
            </a:fld>
            <a:endParaRPr lang="en-US"/>
          </a:p>
        </p:txBody>
      </p:sp>
      <p:grpSp>
        <p:nvGrpSpPr>
          <p:cNvPr id="13" name="Group 12"/>
          <p:cNvGrpSpPr/>
          <p:nvPr/>
        </p:nvGrpSpPr>
        <p:grpSpPr>
          <a:xfrm>
            <a:off x="152400" y="1371601"/>
            <a:ext cx="8534400" cy="3970318"/>
            <a:chOff x="152400" y="1371601"/>
            <a:chExt cx="8534400" cy="3970318"/>
          </a:xfrm>
        </p:grpSpPr>
        <p:sp>
          <p:nvSpPr>
            <p:cNvPr id="7" name="TextBox 6"/>
            <p:cNvSpPr txBox="1"/>
            <p:nvPr/>
          </p:nvSpPr>
          <p:spPr>
            <a:xfrm>
              <a:off x="152400" y="1371601"/>
              <a:ext cx="2819400" cy="3970318"/>
            </a:xfrm>
            <a:prstGeom prst="rect">
              <a:avLst/>
            </a:prstGeom>
            <a:solidFill>
              <a:srgbClr val="FFFFCC"/>
            </a:solidFill>
            <a:ln>
              <a:solidFill>
                <a:srgbClr val="FFC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b="1" u="sng" dirty="0" smtClean="0"/>
                <a:t>Tables</a:t>
              </a:r>
            </a:p>
            <a:p>
              <a:r>
                <a:rPr lang="en-US" sz="1400" dirty="0" smtClean="0"/>
                <a:t>&lt;table border=“1” </a:t>
              </a:r>
              <a:r>
                <a:rPr lang="en-US" sz="1400" dirty="0" err="1" smtClean="0"/>
                <a:t>cellpadding</a:t>
              </a:r>
              <a:r>
                <a:rPr lang="en-US" sz="1400" dirty="0" smtClean="0"/>
                <a:t>=“5” </a:t>
              </a:r>
              <a:r>
                <a:rPr lang="en-US" sz="1400" dirty="0" err="1" smtClean="0"/>
                <a:t>cellspacing</a:t>
              </a:r>
              <a:r>
                <a:rPr lang="en-US" sz="1400" dirty="0" smtClean="0"/>
                <a:t>=“5”&gt;</a:t>
              </a:r>
            </a:p>
            <a:p>
              <a:r>
                <a:rPr lang="en-US" sz="1400" dirty="0"/>
                <a:t> </a:t>
              </a:r>
              <a:r>
                <a:rPr lang="en-US" sz="1400" dirty="0" smtClean="0"/>
                <a:t> &lt;caption&gt;Table Caption&lt;/caption&gt;</a:t>
              </a:r>
            </a:p>
            <a:p>
              <a:r>
                <a:rPr lang="en-US" sz="1400" dirty="0"/>
                <a:t> </a:t>
              </a:r>
              <a:r>
                <a:rPr lang="en-US" sz="1400" dirty="0" smtClean="0"/>
                <a:t>&lt;</a:t>
              </a:r>
              <a:r>
                <a:rPr lang="en-US" sz="1400" dirty="0" err="1" smtClean="0"/>
                <a:t>tr</a:t>
              </a:r>
              <a:r>
                <a:rPr lang="en-US" sz="1400" dirty="0" smtClean="0"/>
                <a:t>&gt;</a:t>
              </a:r>
            </a:p>
            <a:p>
              <a:r>
                <a:rPr lang="en-US" sz="1400" dirty="0"/>
                <a:t> </a:t>
              </a:r>
              <a:r>
                <a:rPr lang="en-US" sz="1400" dirty="0" smtClean="0"/>
                <a:t>  &lt;</a:t>
              </a:r>
              <a:r>
                <a:rPr lang="en-US" sz="1400" dirty="0" err="1" smtClean="0"/>
                <a:t>th</a:t>
              </a:r>
              <a:r>
                <a:rPr lang="en-US" sz="1400" dirty="0" smtClean="0"/>
                <a:t>&gt;Table Header&lt;/</a:t>
              </a:r>
              <a:r>
                <a:rPr lang="en-US" sz="1400" dirty="0" err="1" smtClean="0"/>
                <a:t>th</a:t>
              </a:r>
              <a:r>
                <a:rPr lang="en-US" sz="1400" dirty="0" smtClean="0"/>
                <a:t>&gt;</a:t>
              </a:r>
            </a:p>
            <a:p>
              <a:r>
                <a:rPr lang="en-US" sz="1400" dirty="0" smtClean="0"/>
                <a:t>   </a:t>
              </a:r>
              <a:r>
                <a:rPr lang="en-US" sz="1400" dirty="0"/>
                <a:t>&lt;</a:t>
              </a:r>
              <a:r>
                <a:rPr lang="en-US" sz="1400" dirty="0" err="1"/>
                <a:t>th</a:t>
              </a:r>
              <a:r>
                <a:rPr lang="en-US" sz="1400" dirty="0"/>
                <a:t>&gt;Table Header&lt;/</a:t>
              </a:r>
              <a:r>
                <a:rPr lang="en-US" sz="1400" dirty="0" err="1"/>
                <a:t>th</a:t>
              </a:r>
              <a:r>
                <a:rPr lang="en-US" sz="1400" dirty="0" smtClean="0"/>
                <a:t>&gt;</a:t>
              </a:r>
            </a:p>
            <a:p>
              <a:r>
                <a:rPr lang="en-US" sz="1400" dirty="0"/>
                <a:t> </a:t>
              </a:r>
              <a:r>
                <a:rPr lang="en-US" sz="1400" dirty="0" smtClean="0"/>
                <a:t>&lt;/</a:t>
              </a:r>
              <a:r>
                <a:rPr lang="en-US" sz="1400" dirty="0" err="1" smtClean="0"/>
                <a:t>tr</a:t>
              </a:r>
              <a:r>
                <a:rPr lang="en-US" sz="1400" dirty="0" smtClean="0"/>
                <a:t>&gt;</a:t>
              </a:r>
            </a:p>
            <a:p>
              <a:r>
                <a:rPr lang="en-US" sz="1400" dirty="0"/>
                <a:t> </a:t>
              </a:r>
              <a:r>
                <a:rPr lang="en-US" sz="1400" dirty="0" smtClean="0"/>
                <a:t>&lt;</a:t>
              </a:r>
              <a:r>
                <a:rPr lang="en-US" sz="1400" dirty="0" err="1" smtClean="0"/>
                <a:t>tr</a:t>
              </a:r>
              <a:r>
                <a:rPr lang="en-US" sz="1400" dirty="0" smtClean="0"/>
                <a:t>&gt;</a:t>
              </a:r>
            </a:p>
            <a:p>
              <a:r>
                <a:rPr lang="en-US" sz="1400" dirty="0" smtClean="0"/>
                <a:t>   &lt;td&gt;Table Data&lt;/td&gt;</a:t>
              </a:r>
            </a:p>
            <a:p>
              <a:r>
                <a:rPr lang="en-US" sz="1400" dirty="0"/>
                <a:t> </a:t>
              </a:r>
              <a:r>
                <a:rPr lang="en-US" sz="1400" dirty="0" smtClean="0"/>
                <a:t>  &lt;td&gt;Table Data&lt;/td&gt;</a:t>
              </a:r>
            </a:p>
            <a:p>
              <a:r>
                <a:rPr lang="en-US" sz="1400" dirty="0"/>
                <a:t> </a:t>
              </a:r>
              <a:r>
                <a:rPr lang="en-US" sz="1400" dirty="0" smtClean="0"/>
                <a:t>&lt;/</a:t>
              </a:r>
              <a:r>
                <a:rPr lang="en-US" sz="1400" dirty="0" err="1" smtClean="0"/>
                <a:t>tr</a:t>
              </a:r>
              <a:r>
                <a:rPr lang="en-US" sz="1400" dirty="0" smtClean="0"/>
                <a:t>&gt;</a:t>
              </a:r>
            </a:p>
            <a:p>
              <a:r>
                <a:rPr lang="en-US" sz="1400" dirty="0" smtClean="0"/>
                <a:t>&lt;/table&gt;</a:t>
              </a:r>
            </a:p>
            <a:p>
              <a:endParaRPr lang="en-US" sz="1400" dirty="0"/>
            </a:p>
            <a:p>
              <a:endParaRPr lang="en-US" sz="1400" dirty="0" smtClean="0"/>
            </a:p>
            <a:p>
              <a:endParaRPr lang="en-US" sz="1400" dirty="0"/>
            </a:p>
            <a:p>
              <a:endParaRPr lang="en-US" sz="1400" dirty="0" smtClean="0"/>
            </a:p>
            <a:p>
              <a:endParaRPr lang="en-US" sz="1400" dirty="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124200" y="1371601"/>
              <a:ext cx="5562600" cy="3970318"/>
            </a:xfrm>
            <a:prstGeom prst="rect">
              <a:avLst/>
            </a:prstGeom>
            <a:solidFill>
              <a:srgbClr val="FFFFCC"/>
            </a:solidFill>
            <a:ln>
              <a:solidFill>
                <a:srgbClr val="FFC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b="1" u="sng" dirty="0" smtClean="0"/>
                <a:t>Forms</a:t>
              </a:r>
            </a:p>
            <a:p>
              <a:r>
                <a:rPr lang="en-US" sz="1400" dirty="0" smtClean="0"/>
                <a:t>&lt;form action=“some_page.asp” method=“get/post”&gt;</a:t>
              </a:r>
            </a:p>
            <a:p>
              <a:endParaRPr lang="en-US" sz="1400" dirty="0"/>
            </a:p>
            <a:p>
              <a:r>
                <a:rPr lang="en-US" sz="1400" dirty="0" smtClean="0"/>
                <a:t>&lt;input type=“text” name=“email” /&gt;</a:t>
              </a:r>
            </a:p>
            <a:p>
              <a:r>
                <a:rPr lang="en-US" sz="1400" dirty="0" smtClean="0"/>
                <a:t>&lt;input type=“password” /&gt;</a:t>
              </a:r>
            </a:p>
            <a:p>
              <a:r>
                <a:rPr lang="en-US" sz="1400" dirty="0" smtClean="0"/>
                <a:t>&lt;input type=“checkbox” checked /&gt;</a:t>
              </a:r>
            </a:p>
            <a:p>
              <a:r>
                <a:rPr lang="en-US" sz="1400" dirty="0" smtClean="0"/>
                <a:t>&lt;input type=“radio” checked/&gt;</a:t>
              </a:r>
            </a:p>
            <a:p>
              <a:r>
                <a:rPr lang="en-US" sz="1400" dirty="0" smtClean="0"/>
                <a:t>&lt;input type=“submit” value=“Submit” /&gt;</a:t>
              </a:r>
            </a:p>
            <a:p>
              <a:r>
                <a:rPr lang="en-US" sz="1400" dirty="0" smtClean="0"/>
                <a:t>&lt;input type=“reset”  /&gt;</a:t>
              </a:r>
            </a:p>
            <a:p>
              <a:r>
                <a:rPr lang="en-US" sz="1400" dirty="0" smtClean="0"/>
                <a:t>&lt;input type=“hidden” /&gt;</a:t>
              </a:r>
            </a:p>
            <a:p>
              <a:endParaRPr lang="en-US" sz="1400" dirty="0" smtClean="0"/>
            </a:p>
            <a:p>
              <a:r>
                <a:rPr lang="en-US" sz="1400" dirty="0" smtClean="0"/>
                <a:t>&lt;select&gt;</a:t>
              </a:r>
            </a:p>
            <a:p>
              <a:r>
                <a:rPr lang="en-US" sz="1400" dirty="0" smtClean="0"/>
                <a:t>&lt;option&gt;Apples&lt;/option&gt;</a:t>
              </a:r>
            </a:p>
            <a:p>
              <a:r>
                <a:rPr lang="en-US" sz="1400" dirty="0" smtClean="0"/>
                <a:t>&lt;option selected&gt;Bananas&lt;/option&gt;</a:t>
              </a:r>
            </a:p>
            <a:p>
              <a:r>
                <a:rPr lang="en-US" sz="1400" dirty="0" smtClean="0"/>
                <a:t>&lt;option&gt;Cherries&lt;/option&gt;</a:t>
              </a:r>
            </a:p>
            <a:p>
              <a:r>
                <a:rPr lang="en-US" sz="1400" dirty="0" smtClean="0"/>
                <a:t>&lt;/select&gt;</a:t>
              </a:r>
            </a:p>
            <a:p>
              <a:endParaRPr lang="en-US" sz="1400" dirty="0" smtClean="0"/>
            </a:p>
            <a:p>
              <a:r>
                <a:rPr lang="en-US" sz="1400" dirty="0" smtClean="0"/>
                <a:t>&lt;/form&gt;</a:t>
              </a:r>
              <a:endParaRPr 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3409002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ustin">
  <a:themeElements>
    <a:clrScheme name="Austin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F24B5D243E8524B805AE9E6462128D5" ma:contentTypeVersion="0" ma:contentTypeDescription="Create a new document." ma:contentTypeScope="" ma:versionID="e66dd09a9d80fa3eca15220829d7fdcb">
  <xsd:schema xmlns:xsd="http://www.w3.org/2001/XMLSchema" xmlns:p="http://schemas.microsoft.com/office/2006/metadata/properties" targetNamespace="http://schemas.microsoft.com/office/2006/metadata/properties" ma:root="true" ma:fieldsID="4aeb20c0e3442673af7ee10786458764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Props1.xml><?xml version="1.0" encoding="utf-8"?>
<ds:datastoreItem xmlns:ds="http://schemas.openxmlformats.org/officeDocument/2006/customXml" ds:itemID="{52FA27D2-9938-422A-A9AE-B6F9B5C6252E}">
  <ds:schemaRefs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3CDE8C12-93A0-43FD-AA22-5E7032F7873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767EAB3-F62D-49C0-AF6D-6F36140ED9D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Austin</Template>
  <TotalTime>2037</TotalTime>
  <Words>2332</Words>
  <Application>Microsoft Office PowerPoint</Application>
  <PresentationFormat>On-screen Show (4:3)</PresentationFormat>
  <Paragraphs>377</Paragraphs>
  <Slides>21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Austin</vt:lpstr>
      <vt:lpstr>IT2771 – Rich Internet Applications Development</vt:lpstr>
      <vt:lpstr>What is HTML?</vt:lpstr>
      <vt:lpstr>HTML Documents</vt:lpstr>
      <vt:lpstr>.HTM or .HTML File Extension</vt:lpstr>
      <vt:lpstr>HTML Styles</vt:lpstr>
      <vt:lpstr>HTML Styles</vt:lpstr>
      <vt:lpstr>HTML Links</vt:lpstr>
      <vt:lpstr>HTML Links</vt:lpstr>
      <vt:lpstr>HTML Links</vt:lpstr>
      <vt:lpstr>HTML Images</vt:lpstr>
      <vt:lpstr>HTML Tables</vt:lpstr>
      <vt:lpstr>HTML Lists</vt:lpstr>
      <vt:lpstr>HTML Lists</vt:lpstr>
      <vt:lpstr>HTML Forms</vt:lpstr>
      <vt:lpstr>HTML Forms</vt:lpstr>
      <vt:lpstr>HTML Forms</vt:lpstr>
      <vt:lpstr>HTML Forms</vt:lpstr>
      <vt:lpstr>HTML Forms</vt:lpstr>
      <vt:lpstr>Validate HTML code</vt:lpstr>
      <vt:lpstr>Summary</vt:lpstr>
      <vt:lpstr>Summary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IT1322 – Principles of Web Usability Design</dc:title>
  <dc:creator>EvyLim</dc:creator>
  <cp:lastModifiedBy>Owner</cp:lastModifiedBy>
  <cp:revision>236</cp:revision>
  <dcterms:created xsi:type="dcterms:W3CDTF">2012-03-19T05:26:54Z</dcterms:created>
  <dcterms:modified xsi:type="dcterms:W3CDTF">2012-09-25T11:07:03Z</dcterms:modified>
</cp:coreProperties>
</file>