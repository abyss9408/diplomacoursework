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296" r:id="rId3"/>
    <p:sldId id="276" r:id="rId4"/>
    <p:sldId id="262" r:id="rId5"/>
    <p:sldId id="260" r:id="rId6"/>
    <p:sldId id="261" r:id="rId7"/>
    <p:sldId id="259" r:id="rId8"/>
    <p:sldId id="264" r:id="rId9"/>
    <p:sldId id="265" r:id="rId10"/>
    <p:sldId id="266" r:id="rId11"/>
    <p:sldId id="267" r:id="rId12"/>
    <p:sldId id="271" r:id="rId13"/>
    <p:sldId id="268" r:id="rId14"/>
    <p:sldId id="273" r:id="rId15"/>
    <p:sldId id="272" r:id="rId16"/>
    <p:sldId id="270" r:id="rId17"/>
    <p:sldId id="284" r:id="rId18"/>
    <p:sldId id="295" r:id="rId19"/>
    <p:sldId id="269" r:id="rId20"/>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006666"/>
    <a:srgbClr val="422C16"/>
    <a:srgbClr val="0C788E"/>
    <a:srgbClr val="0099CC"/>
    <a:srgbClr val="660066"/>
    <a:srgbClr val="CC0000"/>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23" autoAdjust="0"/>
    <p:restoredTop sz="75714" autoAdjust="0"/>
  </p:normalViewPr>
  <p:slideViewPr>
    <p:cSldViewPr>
      <p:cViewPr varScale="1">
        <p:scale>
          <a:sx n="65" d="100"/>
          <a:sy n="65" d="100"/>
        </p:scale>
        <p:origin x="1242"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8" d="100"/>
          <a:sy n="88" d="100"/>
        </p:scale>
        <p:origin x="-3858"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E86F1E32-D32A-4657-B621-DA8CFEE5D26D}" type="datetimeFigureOut">
              <a:rPr lang="en-US" altLang="en-US"/>
              <a:pPr>
                <a:defRPr/>
              </a:pPr>
              <a:t>28-Sep-18</a:t>
            </a:fld>
            <a:endParaRPr lang="en-US"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1123CB4-8C53-409D-8D0C-5934CF6D072F}" type="slidenum">
              <a:rPr lang="en-US" altLang="en-US"/>
              <a:pPr>
                <a:defRPr/>
              </a:pPr>
              <a:t>‹#›</a:t>
            </a:fld>
            <a:endParaRPr lang="en-US" altLang="en-US"/>
          </a:p>
        </p:txBody>
      </p:sp>
    </p:spTree>
    <p:extLst>
      <p:ext uri="{BB962C8B-B14F-4D97-AF65-F5344CB8AC3E}">
        <p14:creationId xmlns:p14="http://schemas.microsoft.com/office/powerpoint/2010/main" val="26253495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BF3FB4C9-2198-438B-9D68-D6761BF7B403}" type="datetimeFigureOut">
              <a:rPr lang="en-US" altLang="en-US"/>
              <a:pPr>
                <a:defRPr/>
              </a:pPr>
              <a:t>28-Sep-18</a:t>
            </a:fld>
            <a:endParaRPr lang="en-US"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D00D1C7-40C3-4850-AB08-2D781C6E091D}" type="slidenum">
              <a:rPr lang="en-US" altLang="en-US"/>
              <a:pPr>
                <a:defRPr/>
              </a:pPr>
              <a:t>‹#›</a:t>
            </a:fld>
            <a:endParaRPr lang="en-US" altLang="en-US"/>
          </a:p>
        </p:txBody>
      </p:sp>
    </p:spTree>
    <p:extLst>
      <p:ext uri="{BB962C8B-B14F-4D97-AF65-F5344CB8AC3E}">
        <p14:creationId xmlns:p14="http://schemas.microsoft.com/office/powerpoint/2010/main" val="211715403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en.wikipedia.org/wiki/HTML5" TargetMode="External"/><Relationship Id="rId7" Type="http://schemas.openxmlformats.org/officeDocument/2006/relationships/hyperlink" Target="http://en.wikipedia.org/wiki/Smartphone"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en.wikipedia.org/wiki/HTML5#Features" TargetMode="External"/><Relationship Id="rId5" Type="http://schemas.openxmlformats.org/officeDocument/2006/relationships/hyperlink" Target="http://en.wikipedia.org/wiki/Web_applications" TargetMode="External"/><Relationship Id="rId4" Type="http://schemas.openxmlformats.org/officeDocument/2006/relationships/hyperlink" Target="http://en.wikipedia.org/wiki/Mobile_device"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www.bradshawenterprises.com/tests/formdemo.php"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html5demos.com/geo"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www.w3schools.com/css3/css3_transitions.asp"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www.w3schools.com/css3/css3_3dtransforms.asp"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1787E62-DA08-419B-9AF9-67D7EA38EAFA}" type="slidenum">
              <a:rPr lang="en-US" altLang="en-US" smtClean="0"/>
              <a:pPr/>
              <a:t>1</a:t>
            </a:fld>
            <a:endParaRPr lang="en-US" altLang="en-US" smtClean="0"/>
          </a:p>
        </p:txBody>
      </p:sp>
    </p:spTree>
    <p:extLst>
      <p:ext uri="{BB962C8B-B14F-4D97-AF65-F5344CB8AC3E}">
        <p14:creationId xmlns:p14="http://schemas.microsoft.com/office/powerpoint/2010/main" val="417097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smtClean="0"/>
          </a:p>
        </p:txBody>
      </p:sp>
      <p:sp>
        <p:nvSpPr>
          <p:cNvPr id="133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3D7D5A6-F177-400E-9197-85C627690115}" type="slidenum">
              <a:rPr lang="en-US" altLang="en-US" smtClean="0"/>
              <a:pPr/>
              <a:t>4</a:t>
            </a:fld>
            <a:endParaRPr lang="en-US" altLang="en-US" smtClean="0"/>
          </a:p>
        </p:txBody>
      </p:sp>
    </p:spTree>
    <p:extLst>
      <p:ext uri="{BB962C8B-B14F-4D97-AF65-F5344CB8AC3E}">
        <p14:creationId xmlns:p14="http://schemas.microsoft.com/office/powerpoint/2010/main" val="2988263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Point 1</a:t>
            </a:r>
          </a:p>
          <a:p>
            <a:pPr eaLnBrk="1" hangingPunct="1"/>
            <a:r>
              <a:rPr lang="en-US" altLang="en-US" smtClean="0"/>
              <a:t>Example  a Hotel website. You can view a hotel through images from a photo gallery, as well as a 360 view of the bedroom, or say a video clip of the</a:t>
            </a:r>
          </a:p>
          <a:p>
            <a:pPr eaLnBrk="1" hangingPunct="1"/>
            <a:r>
              <a:rPr lang="en-US" altLang="en-US" smtClean="0"/>
              <a:t>Beautiful beachfront of the hotel – you hear the waves, you see the colour of the ocean, or even fishes.</a:t>
            </a:r>
          </a:p>
          <a:p>
            <a:pPr eaLnBrk="1" hangingPunct="1"/>
            <a:endParaRPr lang="en-US" altLang="en-US" smtClean="0"/>
          </a:p>
          <a:p>
            <a:pPr eaLnBrk="1" hangingPunct="1"/>
            <a:r>
              <a:rPr lang="en-US" altLang="en-US" smtClean="0"/>
              <a:t>Point 2</a:t>
            </a:r>
          </a:p>
          <a:p>
            <a:pPr eaLnBrk="1" hangingPunct="1"/>
            <a:r>
              <a:rPr lang="en-US" altLang="en-US" smtClean="0"/>
              <a:t>For example, the user will be able to contact the booking conceirge through skype, or online chat.</a:t>
            </a:r>
          </a:p>
          <a:p>
            <a:pPr eaLnBrk="1" hangingPunct="1"/>
            <a:r>
              <a:rPr lang="en-US" altLang="en-US" smtClean="0"/>
              <a:t>They can also inquire or make a booking through interactive forms </a:t>
            </a:r>
          </a:p>
          <a:p>
            <a:pPr eaLnBrk="1" hangingPunct="1"/>
            <a:endParaRPr lang="en-US" altLang="en-US" smtClean="0"/>
          </a:p>
          <a:p>
            <a:pPr eaLnBrk="1" hangingPunct="1"/>
            <a:endParaRPr lang="en-US" altLang="en-US" smtClean="0"/>
          </a:p>
          <a:p>
            <a:pPr eaLnBrk="1" hangingPunct="1"/>
            <a:endParaRPr lang="en-US" altLang="en-US" smtClean="0"/>
          </a:p>
        </p:txBody>
      </p:sp>
      <p:sp>
        <p:nvSpPr>
          <p:cNvPr id="15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EF3980B-73BF-4D1E-ACEA-E999D89A8486}" type="slidenum">
              <a:rPr lang="en-US" altLang="en-US" smtClean="0"/>
              <a:pPr/>
              <a:t>5</a:t>
            </a:fld>
            <a:endParaRPr lang="en-US" altLang="en-US" smtClean="0"/>
          </a:p>
        </p:txBody>
      </p:sp>
    </p:spTree>
    <p:extLst>
      <p:ext uri="{BB962C8B-B14F-4D97-AF65-F5344CB8AC3E}">
        <p14:creationId xmlns:p14="http://schemas.microsoft.com/office/powerpoint/2010/main" val="772818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Examples:</a:t>
            </a:r>
          </a:p>
          <a:p>
            <a:pPr eaLnBrk="1" hangingPunct="1"/>
            <a:r>
              <a:rPr lang="en-US" altLang="en-US" smtClean="0"/>
              <a:t>An ad for a Hollywood movie that includes a streaming video sample of a scene from the movie</a:t>
            </a:r>
          </a:p>
          <a:p>
            <a:pPr eaLnBrk="1" hangingPunct="1"/>
            <a:endParaRPr lang="en-US" altLang="en-US" smtClean="0"/>
          </a:p>
          <a:p>
            <a:pPr eaLnBrk="1" hangingPunct="1"/>
            <a:endParaRPr lang="en-US" altLang="en-US" smtClean="0"/>
          </a:p>
          <a:p>
            <a:pPr eaLnBrk="1" hangingPunct="1"/>
            <a:endParaRPr lang="en-US" altLang="en-US" smtClean="0"/>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DEB0192-9990-424C-8331-3FA3D24363E7}" type="slidenum">
              <a:rPr lang="en-US" altLang="en-US" smtClean="0"/>
              <a:pPr/>
              <a:t>6</a:t>
            </a:fld>
            <a:endParaRPr lang="en-US" altLang="en-US" smtClean="0"/>
          </a:p>
        </p:txBody>
      </p:sp>
    </p:spTree>
    <p:extLst>
      <p:ext uri="{BB962C8B-B14F-4D97-AF65-F5344CB8AC3E}">
        <p14:creationId xmlns:p14="http://schemas.microsoft.com/office/powerpoint/2010/main" val="4114772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Online animated advertisment banners, photo galleries, interactive maps or forms are different kinds of rich media.</a:t>
            </a:r>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919D419-E154-457E-BF8A-9FA0D7C5A8F3}" type="slidenum">
              <a:rPr lang="en-US" altLang="en-US" smtClean="0"/>
              <a:pPr/>
              <a:t>7</a:t>
            </a:fld>
            <a:endParaRPr lang="en-US" altLang="en-US" smtClean="0"/>
          </a:p>
        </p:txBody>
      </p:sp>
    </p:spTree>
    <p:extLst>
      <p:ext uri="{BB962C8B-B14F-4D97-AF65-F5344CB8AC3E}">
        <p14:creationId xmlns:p14="http://schemas.microsoft.com/office/powerpoint/2010/main" val="1863363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Web standards have advanced so much that it’s now possible to build almost anything using HTML, CSS, and JavaScript— almost anything.</a:t>
            </a:r>
          </a:p>
          <a:p>
            <a:pPr eaLnBrk="1" hangingPunct="1"/>
            <a:endParaRPr lang="en-US" altLang="en-US" smtClean="0"/>
          </a:p>
        </p:txBody>
      </p:sp>
      <p:sp>
        <p:nvSpPr>
          <p:cNvPr id="215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8FB3396-4026-4876-9A60-CEEE555A799C}" type="slidenum">
              <a:rPr lang="en-US" altLang="en-US" smtClean="0"/>
              <a:pPr/>
              <a:t>8</a:t>
            </a:fld>
            <a:endParaRPr lang="en-US" altLang="en-US" smtClean="0"/>
          </a:p>
        </p:txBody>
      </p:sp>
    </p:spTree>
    <p:extLst>
      <p:ext uri="{BB962C8B-B14F-4D97-AF65-F5344CB8AC3E}">
        <p14:creationId xmlns:p14="http://schemas.microsoft.com/office/powerpoint/2010/main" val="2090738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Mutuality</a:t>
            </a:r>
          </a:p>
          <a:p>
            <a:pPr eaLnBrk="1" hangingPunct="1"/>
            <a:r>
              <a:rPr lang="en-US" altLang="en-US" smtClean="0"/>
              <a:t>Due to usability purpose the web sites made by developers are highly interactive nowadays and for this developers need to include fluid animations, stream video, play music and Social Network sites like Facebook and Twitter into the websites. Till now they have only the option to integrate it with the help of Flash or Silverlight, Flex or javascript like tools. But these consume so much time to develop and even the complexity of web application also increased. But now with the help of HTML5 it is possible to embed video and audio, high quality drawings, charts and animation and many other rich content without using any plugins and third party programmas as the functionality is built into the browser.</a:t>
            </a:r>
          </a:p>
          <a:p>
            <a:pPr eaLnBrk="1" hangingPunct="1"/>
            <a:endParaRPr lang="en-US" altLang="en-US" smtClean="0"/>
          </a:p>
          <a:p>
            <a:pPr eaLnBrk="1" hangingPunct="1"/>
            <a:r>
              <a:rPr lang="en-US" altLang="en-US" smtClean="0"/>
              <a:t>HTML5 introduce tags like &lt;Video&gt; so that plug ins will not be necessary.</a:t>
            </a:r>
          </a:p>
          <a:p>
            <a:pPr eaLnBrk="1" hangingPunct="1"/>
            <a:endParaRPr lang="en-US" altLang="en-US" smtClean="0"/>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F887131-8231-4E9D-A10A-7128EAE808DE}" type="slidenum">
              <a:rPr lang="en-US" altLang="en-US" smtClean="0"/>
              <a:pPr/>
              <a:t>9</a:t>
            </a:fld>
            <a:endParaRPr lang="en-US" altLang="en-US" smtClean="0"/>
          </a:p>
        </p:txBody>
      </p:sp>
    </p:spTree>
    <p:extLst>
      <p:ext uri="{BB962C8B-B14F-4D97-AF65-F5344CB8AC3E}">
        <p14:creationId xmlns:p14="http://schemas.microsoft.com/office/powerpoint/2010/main" val="2659985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Device independent</a:t>
            </a:r>
          </a:p>
          <a:p>
            <a:pPr eaLnBrk="1" hangingPunct="1"/>
            <a:r>
              <a:rPr lang="en-US" altLang="en-US" smtClean="0">
                <a:hlinkClick r:id="rId3" tooltip="HTML5"/>
              </a:rPr>
              <a:t>HTML5</a:t>
            </a:r>
            <a:r>
              <a:rPr lang="en-US" altLang="en-US" smtClean="0"/>
              <a:t> provides </a:t>
            </a:r>
            <a:r>
              <a:rPr lang="en-US" altLang="en-US" smtClean="0">
                <a:hlinkClick r:id="rId4" tooltip="Mobile device"/>
              </a:rPr>
              <a:t>mobile device</a:t>
            </a:r>
            <a:r>
              <a:rPr lang="en-US" altLang="en-US" smtClean="0"/>
              <a:t> users richer </a:t>
            </a:r>
            <a:r>
              <a:rPr lang="en-US" altLang="en-US" smtClean="0">
                <a:hlinkClick r:id="rId5" tooltip="Web applications"/>
              </a:rPr>
              <a:t>web applications</a:t>
            </a:r>
            <a:r>
              <a:rPr lang="en-US" altLang="en-US" smtClean="0"/>
              <a:t> and improved usability. The </a:t>
            </a:r>
            <a:r>
              <a:rPr lang="en-US" altLang="en-US" smtClean="0">
                <a:hlinkClick r:id="rId6" tooltip="HTML5"/>
              </a:rPr>
              <a:t>new features of HTML5</a:t>
            </a:r>
            <a:r>
              <a:rPr lang="en-US" altLang="en-US" smtClean="0"/>
              <a:t> standardize the use cases and technologies that are common in </a:t>
            </a:r>
            <a:r>
              <a:rPr lang="en-US" altLang="en-US" smtClean="0">
                <a:hlinkClick r:id="rId7" tooltip="Smartphone"/>
              </a:rPr>
              <a:t>smartphone</a:t>
            </a:r>
            <a:r>
              <a:rPr lang="en-US" altLang="en-US" smtClean="0"/>
              <a:t>-optimized mobile web applications. </a:t>
            </a:r>
          </a:p>
          <a:p>
            <a:pPr eaLnBrk="1" hangingPunct="1"/>
            <a:endParaRPr lang="en-US" altLang="en-US" smtClean="0"/>
          </a:p>
          <a:p>
            <a:pPr eaLnBrk="1" hangingPunct="1"/>
            <a:r>
              <a:rPr lang="en-US" altLang="en-US" smtClean="0"/>
              <a:t>With HTML5 ,you can be accessing the same page from Andriod, Windows or Apple devices.  </a:t>
            </a:r>
          </a:p>
          <a:p>
            <a:pPr eaLnBrk="1" hangingPunct="1"/>
            <a:endParaRPr lang="en-US" altLang="en-US" smtClean="0"/>
          </a:p>
          <a:p>
            <a:pPr eaLnBrk="1" hangingPunct="1"/>
            <a:endParaRPr lang="en-US" altLang="en-US" smtClean="0"/>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D4B56C6-5D17-4829-BA47-0D6DB380CB7C}" type="slidenum">
              <a:rPr lang="en-US" altLang="en-US" smtClean="0"/>
              <a:pPr/>
              <a:t>10</a:t>
            </a:fld>
            <a:endParaRPr lang="en-US" altLang="en-US" smtClean="0"/>
          </a:p>
        </p:txBody>
      </p:sp>
    </p:spTree>
    <p:extLst>
      <p:ext uri="{BB962C8B-B14F-4D97-AF65-F5344CB8AC3E}">
        <p14:creationId xmlns:p14="http://schemas.microsoft.com/office/powerpoint/2010/main" val="643907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 </a:t>
            </a:r>
          </a:p>
          <a:p>
            <a:pPr eaLnBrk="1" hangingPunct="1"/>
            <a:endParaRPr lang="en-US" altLang="en-US" smtClean="0"/>
          </a:p>
          <a:p>
            <a:pPr eaLnBrk="1" hangingPunct="1"/>
            <a:r>
              <a:rPr lang="en-US" altLang="en-US" smtClean="0"/>
              <a:t>Elegant forms</a:t>
            </a:r>
          </a:p>
          <a:p>
            <a:pPr eaLnBrk="1" hangingPunct="1"/>
            <a:r>
              <a:rPr lang="en-US" altLang="en-US" smtClean="0"/>
              <a:t>HTML5 enables designer to use more fancier forms. Even it makes form validation native to HTML, User interface enhancements and reduced need for JavaScript (only needed in browsers that don’t support form types). There will be different type of text inputs, search and different fields for different purpose.</a:t>
            </a:r>
          </a:p>
          <a:p>
            <a:pPr eaLnBrk="1" hangingPunct="1"/>
            <a:endParaRPr lang="en-US" altLang="en-US" smtClean="0"/>
          </a:p>
          <a:p>
            <a:pPr eaLnBrk="1" hangingPunct="1"/>
            <a:r>
              <a:rPr lang="en-US" altLang="en-US" smtClean="0">
                <a:hlinkClick r:id="rId3"/>
              </a:rPr>
              <a:t>http://www.bradshawenterprises.com/tests/formdemo.php</a:t>
            </a:r>
            <a:endParaRPr lang="en-US" altLang="en-US" smtClean="0"/>
          </a:p>
          <a:p>
            <a:pPr eaLnBrk="1" hangingPunct="1"/>
            <a:endParaRPr lang="en-US" altLang="en-US" smtClean="0"/>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FC160BD-5548-4C1B-9B96-EE96BB7CF5D6}" type="slidenum">
              <a:rPr lang="en-US" altLang="en-US" smtClean="0"/>
              <a:pPr/>
              <a:t>11</a:t>
            </a:fld>
            <a:endParaRPr lang="en-US" altLang="en-US" smtClean="0"/>
          </a:p>
        </p:txBody>
      </p:sp>
    </p:spTree>
    <p:extLst>
      <p:ext uri="{BB962C8B-B14F-4D97-AF65-F5344CB8AC3E}">
        <p14:creationId xmlns:p14="http://schemas.microsoft.com/office/powerpoint/2010/main" val="33422723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 </a:t>
            </a:r>
          </a:p>
          <a:p>
            <a:pPr eaLnBrk="1" hangingPunct="1"/>
            <a:r>
              <a:rPr lang="en-US" altLang="en-US" smtClean="0"/>
              <a:t>New Elements –</a:t>
            </a:r>
          </a:p>
          <a:p>
            <a:pPr eaLnBrk="1" hangingPunct="1"/>
            <a:r>
              <a:rPr lang="en-US" altLang="en-US" smtClean="0"/>
              <a:t>&lt;article&gt;Defines an article</a:t>
            </a:r>
          </a:p>
          <a:p>
            <a:pPr eaLnBrk="1" hangingPunct="1"/>
            <a:r>
              <a:rPr lang="en-US" altLang="en-US" smtClean="0"/>
              <a:t>&lt;aside&gt;Defines content aside from the page </a:t>
            </a:r>
          </a:p>
          <a:p>
            <a:pPr eaLnBrk="1" hangingPunct="1"/>
            <a:r>
              <a:rPr lang="en-US" altLang="en-US" smtClean="0"/>
              <a:t>&lt;footer&gt;Defines a footer for a document or section</a:t>
            </a:r>
          </a:p>
          <a:p>
            <a:pPr eaLnBrk="1" hangingPunct="1"/>
            <a:r>
              <a:rPr lang="en-US" altLang="en-US" smtClean="0"/>
              <a:t>&lt;header&gt;Defines a header for a document or </a:t>
            </a:r>
          </a:p>
          <a:p>
            <a:pPr eaLnBrk="1" hangingPunct="1"/>
            <a:r>
              <a:rPr lang="en-US" altLang="en-US" smtClean="0"/>
              <a:t>&lt;nav&gt;Defines navigation </a:t>
            </a:r>
          </a:p>
          <a:p>
            <a:pPr eaLnBrk="1" hangingPunct="1"/>
            <a:r>
              <a:rPr lang="en-US" altLang="en-US" smtClean="0"/>
              <a:t>&lt;section&gt;Defines a section in a document</a:t>
            </a:r>
          </a:p>
          <a:p>
            <a:pPr eaLnBrk="1" hangingPunct="1"/>
            <a:r>
              <a:rPr lang="en-US" altLang="en-US" smtClean="0"/>
              <a:t>It also include new Media Tags such as:</a:t>
            </a:r>
          </a:p>
          <a:p>
            <a:pPr eaLnBrk="1" hangingPunct="1"/>
            <a:r>
              <a:rPr lang="en-US" altLang="en-US" smtClean="0"/>
              <a:t>&lt;audio&gt;Defines sound content</a:t>
            </a:r>
          </a:p>
          <a:p>
            <a:pPr eaLnBrk="1" hangingPunct="1"/>
            <a:r>
              <a:rPr lang="en-US" altLang="en-US" smtClean="0"/>
              <a:t>&lt;video&gt;Defines a video or movie</a:t>
            </a:r>
          </a:p>
          <a:p>
            <a:pPr eaLnBrk="1" hangingPunct="1"/>
            <a:r>
              <a:rPr lang="en-US" altLang="en-US" smtClean="0"/>
              <a:t>&lt;source&gt;Defines multiple media resources for &lt;video&gt; and &lt;audio&gt;</a:t>
            </a:r>
          </a:p>
          <a:p>
            <a:pPr eaLnBrk="1" hangingPunct="1"/>
            <a:r>
              <a:rPr lang="en-US" altLang="en-US" smtClean="0"/>
              <a:t> </a:t>
            </a:r>
          </a:p>
          <a:p>
            <a:pPr eaLnBrk="1" hangingPunct="1"/>
            <a:r>
              <a:rPr lang="en-US" altLang="en-US" smtClean="0"/>
              <a:t>Full CSS3 Support – which we will cover in a while.</a:t>
            </a:r>
          </a:p>
          <a:p>
            <a:pPr eaLnBrk="1" hangingPunct="1"/>
            <a:endParaRPr lang="en-US" altLang="en-US" smtClean="0"/>
          </a:p>
          <a:p>
            <a:pPr eaLnBrk="1" hangingPunct="1"/>
            <a:r>
              <a:rPr lang="en-US" altLang="en-US" smtClean="0"/>
              <a:t>Video and Audio – reduce need of plug ins. </a:t>
            </a:r>
          </a:p>
          <a:p>
            <a:pPr eaLnBrk="1" hangingPunct="1"/>
            <a:r>
              <a:rPr lang="en-US" altLang="en-US" smtClean="0"/>
              <a:t>2D/3D Graphics –</a:t>
            </a:r>
          </a:p>
          <a:p>
            <a:pPr eaLnBrk="1" hangingPunct="1"/>
            <a:r>
              <a:rPr lang="en-US" altLang="en-US" smtClean="0"/>
              <a:t> 2d/3d graphics can be drawn using SVG or Canvas.</a:t>
            </a:r>
          </a:p>
          <a:p>
            <a:pPr eaLnBrk="1" hangingPunct="1"/>
            <a:endParaRPr lang="en-US" altLang="en-US" smtClean="0"/>
          </a:p>
          <a:p>
            <a:pPr eaLnBrk="1" hangingPunct="1"/>
            <a:r>
              <a:rPr lang="en-US" altLang="en-US" smtClean="0"/>
              <a:t>SVG is a language for describing 2D graphics in XML.</a:t>
            </a:r>
          </a:p>
          <a:p>
            <a:pPr eaLnBrk="1" hangingPunct="1"/>
            <a:r>
              <a:rPr lang="en-US" altLang="en-US" smtClean="0"/>
              <a:t>SVG is XML based, which means that every element is available within the SVG DOM. You can attach JavaScript event handlers for an element.</a:t>
            </a:r>
          </a:p>
          <a:p>
            <a:pPr eaLnBrk="1" hangingPunct="1"/>
            <a:r>
              <a:rPr lang="en-US" altLang="en-US" smtClean="0"/>
              <a:t>In SVG, each drawn shape is remembered as an object. If attributes of an SVG object are changed, the browser can automatically re-render the shape.</a:t>
            </a:r>
          </a:p>
          <a:p>
            <a:pPr eaLnBrk="1" hangingPunct="1"/>
            <a:endParaRPr lang="en-US" altLang="en-US" smtClean="0"/>
          </a:p>
          <a:p>
            <a:pPr eaLnBrk="1" hangingPunct="1"/>
            <a:r>
              <a:rPr lang="en-US" altLang="en-US" smtClean="0"/>
              <a:t>Canvas</a:t>
            </a:r>
          </a:p>
          <a:p>
            <a:pPr eaLnBrk="1" hangingPunct="1"/>
            <a:r>
              <a:rPr lang="en-US" altLang="en-US" smtClean="0"/>
              <a:t>Canvas draws 2D graphics, on the fly (with a JavaScript).</a:t>
            </a:r>
          </a:p>
          <a:p>
            <a:pPr eaLnBrk="1" hangingPunct="1"/>
            <a:r>
              <a:rPr lang="en-US" altLang="en-US" smtClean="0"/>
              <a:t>Canvas is rendered pixel by pixel.</a:t>
            </a:r>
          </a:p>
          <a:p>
            <a:pPr eaLnBrk="1" hangingPunct="1"/>
            <a:r>
              <a:rPr lang="en-US" altLang="en-US" smtClean="0"/>
              <a:t>In canvas, once the graphic is drawn, it is forgotten by the browser. If its position should be changed, the entire scene needs to be redrawn, including any objects that might have been covered by the graphic.</a:t>
            </a:r>
          </a:p>
          <a:p>
            <a:pPr eaLnBrk="1" hangingPunct="1"/>
            <a:endParaRPr lang="en-US" altLang="en-US" smtClean="0"/>
          </a:p>
          <a:p>
            <a:pPr eaLnBrk="1" hangingPunct="1"/>
            <a:endParaRPr lang="en-US" altLang="en-US" smtClean="0"/>
          </a:p>
          <a:p>
            <a:pPr eaLnBrk="1" hangingPunct="1"/>
            <a:r>
              <a:rPr lang="en-US" altLang="en-US" smtClean="0"/>
              <a:t>Local Storage</a:t>
            </a:r>
          </a:p>
          <a:p>
            <a:pPr eaLnBrk="1" hangingPunct="1"/>
            <a:r>
              <a:rPr lang="en-US" altLang="en-US" smtClean="0"/>
              <a:t>Local SQL Database</a:t>
            </a:r>
          </a:p>
          <a:p>
            <a:pPr eaLnBrk="1" hangingPunct="1"/>
            <a:r>
              <a:rPr lang="en-US" altLang="en-US" smtClean="0"/>
              <a:t>Web Applications</a:t>
            </a:r>
          </a:p>
          <a:p>
            <a:pPr eaLnBrk="1" hangingPunct="1"/>
            <a:endParaRPr lang="en-US" altLang="en-US" smtClean="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317F0F1-0DA4-42B8-BDF4-4BE3A833A5B4}" type="slidenum">
              <a:rPr lang="en-US" altLang="en-US" smtClean="0"/>
              <a:pPr/>
              <a:t>12</a:t>
            </a:fld>
            <a:endParaRPr lang="en-US" altLang="en-US" smtClean="0"/>
          </a:p>
        </p:txBody>
      </p:sp>
    </p:spTree>
    <p:extLst>
      <p:ext uri="{BB962C8B-B14F-4D97-AF65-F5344CB8AC3E}">
        <p14:creationId xmlns:p14="http://schemas.microsoft.com/office/powerpoint/2010/main" val="3680844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 </a:t>
            </a:r>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0CEF9B0-A150-4FFD-988E-9F7E8B2A3A0E}" type="slidenum">
              <a:rPr lang="en-US" altLang="en-US" smtClean="0"/>
              <a:pPr/>
              <a:t>13</a:t>
            </a:fld>
            <a:endParaRPr lang="en-US" altLang="en-US" smtClean="0"/>
          </a:p>
        </p:txBody>
      </p:sp>
    </p:spTree>
    <p:extLst>
      <p:ext uri="{BB962C8B-B14F-4D97-AF65-F5344CB8AC3E}">
        <p14:creationId xmlns:p14="http://schemas.microsoft.com/office/powerpoint/2010/main" val="3509598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 </a:t>
            </a:r>
          </a:p>
          <a:p>
            <a:pPr eaLnBrk="1" hangingPunct="1"/>
            <a:r>
              <a:rPr lang="en-US" altLang="en-US" smtClean="0"/>
              <a:t> Example: </a:t>
            </a:r>
            <a:r>
              <a:rPr lang="en-US" altLang="en-US" smtClean="0">
                <a:hlinkClick r:id="rId3"/>
              </a:rPr>
              <a:t>http://html5demos.com/geo</a:t>
            </a:r>
            <a:endParaRPr lang="en-US" altLang="en-US" smtClean="0"/>
          </a:p>
          <a:p>
            <a:pPr eaLnBrk="1" hangingPunct="1"/>
            <a:endParaRPr lang="en-US" altLang="en-US" smtClean="0"/>
          </a:p>
          <a:p>
            <a:pPr eaLnBrk="1" hangingPunct="1"/>
            <a:r>
              <a:rPr lang="en-US" altLang="en-US" smtClean="0"/>
              <a:t>With this, companies can locate stores and their services near you and make recommendations accordingly.</a:t>
            </a:r>
          </a:p>
          <a:p>
            <a:pPr eaLnBrk="1" hangingPunct="1"/>
            <a:endParaRPr lang="en-US" altLang="en-US" smtClean="0"/>
          </a:p>
        </p:txBody>
      </p:sp>
      <p:sp>
        <p:nvSpPr>
          <p:cNvPr id="337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376FB38-FBAC-4005-BB15-FF5A4F3EC184}" type="slidenum">
              <a:rPr lang="en-US" altLang="en-US" smtClean="0"/>
              <a:pPr/>
              <a:t>14</a:t>
            </a:fld>
            <a:endParaRPr lang="en-US" altLang="en-US" smtClean="0"/>
          </a:p>
        </p:txBody>
      </p:sp>
    </p:spTree>
    <p:extLst>
      <p:ext uri="{BB962C8B-B14F-4D97-AF65-F5344CB8AC3E}">
        <p14:creationId xmlns:p14="http://schemas.microsoft.com/office/powerpoint/2010/main" val="21485222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 </a:t>
            </a:r>
          </a:p>
          <a:p>
            <a:pPr eaLnBrk="1" hangingPunct="1"/>
            <a:endParaRPr lang="en-US" altLang="en-US" smtClean="0"/>
          </a:p>
          <a:p>
            <a:pPr eaLnBrk="1" hangingPunct="1"/>
            <a:endParaRPr lang="en-US" altLang="en-US" smtClean="0"/>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EB5830C-B4C3-43F1-BA5A-289739DA0AA2}" type="slidenum">
              <a:rPr lang="en-US" altLang="en-US" smtClean="0"/>
              <a:pPr/>
              <a:t>15</a:t>
            </a:fld>
            <a:endParaRPr lang="en-US" altLang="en-US" smtClean="0"/>
          </a:p>
        </p:txBody>
      </p:sp>
    </p:spTree>
    <p:extLst>
      <p:ext uri="{BB962C8B-B14F-4D97-AF65-F5344CB8AC3E}">
        <p14:creationId xmlns:p14="http://schemas.microsoft.com/office/powerpoint/2010/main" val="3731562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 EG.</a:t>
            </a:r>
          </a:p>
          <a:p>
            <a:pPr eaLnBrk="1" hangingPunct="1"/>
            <a:endParaRPr lang="en-US" altLang="en-US" smtClean="0"/>
          </a:p>
          <a:p>
            <a:pPr eaLnBrk="1" hangingPunct="1"/>
            <a:r>
              <a:rPr lang="en-US" altLang="en-US" smtClean="0"/>
              <a:t>Transitions:</a:t>
            </a:r>
          </a:p>
          <a:p>
            <a:pPr eaLnBrk="1" hangingPunct="1"/>
            <a:r>
              <a:rPr lang="en-US" altLang="en-US" smtClean="0"/>
              <a:t>With CSS3, we can add an effect when changing from one style to another, without using Flash animations or JavaScripts.</a:t>
            </a:r>
          </a:p>
          <a:p>
            <a:pPr eaLnBrk="1" hangingPunct="1"/>
            <a:r>
              <a:rPr lang="en-US" altLang="en-US" smtClean="0">
                <a:hlinkClick r:id="rId3"/>
              </a:rPr>
              <a:t>http://www.w3 schools.com/css3/css3_transitions.asp</a:t>
            </a:r>
            <a:r>
              <a:rPr lang="en-US" altLang="en-US" smtClean="0"/>
              <a:t> </a:t>
            </a:r>
          </a:p>
          <a:p>
            <a:pPr eaLnBrk="1" hangingPunct="1"/>
            <a:r>
              <a:rPr lang="en-US" altLang="en-US" smtClean="0"/>
              <a:t>Transformations</a:t>
            </a:r>
          </a:p>
          <a:p>
            <a:pPr eaLnBrk="1" hangingPunct="1"/>
            <a:r>
              <a:rPr lang="en-US" altLang="en-US" smtClean="0">
                <a:hlinkClick r:id="rId4"/>
              </a:rPr>
              <a:t>http://www.w3schools.com/css3/css3_3dtransforms.asp</a:t>
            </a:r>
            <a:endParaRPr lang="en-US" altLang="en-US" smtClean="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FC3F493-A58E-4DD6-B8B7-1B89A4AA7768}" type="slidenum">
              <a:rPr lang="en-US" altLang="en-US" smtClean="0"/>
              <a:pPr/>
              <a:t>16</a:t>
            </a:fld>
            <a:endParaRPr lang="en-US" altLang="en-US" smtClean="0"/>
          </a:p>
        </p:txBody>
      </p:sp>
    </p:spTree>
    <p:extLst>
      <p:ext uri="{BB962C8B-B14F-4D97-AF65-F5344CB8AC3E}">
        <p14:creationId xmlns:p14="http://schemas.microsoft.com/office/powerpoint/2010/main" val="4693833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t> Always check back this website for compatibility.</a:t>
            </a:r>
          </a:p>
        </p:txBody>
      </p:sp>
      <p:sp>
        <p:nvSpPr>
          <p:cNvPr id="399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39E176A-8655-48CE-A2CC-B74C48291111}" type="slidenum">
              <a:rPr lang="en-US" altLang="en-US" smtClean="0"/>
              <a:pPr/>
              <a:t>17</a:t>
            </a:fld>
            <a:endParaRPr lang="en-US" altLang="en-US" smtClean="0"/>
          </a:p>
        </p:txBody>
      </p:sp>
    </p:spTree>
    <p:extLst>
      <p:ext uri="{BB962C8B-B14F-4D97-AF65-F5344CB8AC3E}">
        <p14:creationId xmlns:p14="http://schemas.microsoft.com/office/powerpoint/2010/main" val="3087812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t>Also you can check w3school for updates on different CSS3 properties and their support. Same goes for HTML5 tags. So check back often.</a:t>
            </a:r>
          </a:p>
          <a:p>
            <a:endParaRPr lang="en-US" altLang="en-US" smtClean="0"/>
          </a:p>
        </p:txBody>
      </p:sp>
      <p:sp>
        <p:nvSpPr>
          <p:cNvPr id="419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43BB014-6D5E-4EEC-B58E-66AF6B2173DD}" type="slidenum">
              <a:rPr lang="en-US" altLang="en-US" smtClean="0"/>
              <a:pPr/>
              <a:t>18</a:t>
            </a:fld>
            <a:endParaRPr lang="en-US" altLang="en-US" smtClean="0"/>
          </a:p>
        </p:txBody>
      </p:sp>
    </p:spTree>
    <p:extLst>
      <p:ext uri="{BB962C8B-B14F-4D97-AF65-F5344CB8AC3E}">
        <p14:creationId xmlns:p14="http://schemas.microsoft.com/office/powerpoint/2010/main" val="20494184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Click on each link (or picture) to demo the effects and site. Examine source behind using Inspect element on Chrome Browser</a:t>
            </a:r>
          </a:p>
          <a:p>
            <a:pPr eaLnBrk="1" hangingPunct="1"/>
            <a:endParaRPr lang="en-US" altLang="en-US" smtClean="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6652CC3-E901-4077-BBDE-C2E57E2C67D7}" type="slidenum">
              <a:rPr lang="en-US" altLang="en-US" smtClean="0"/>
              <a:pPr/>
              <a:t>19</a:t>
            </a:fld>
            <a:endParaRPr lang="en-US" altLang="en-US" smtClean="0"/>
          </a:p>
        </p:txBody>
      </p:sp>
    </p:spTree>
    <p:extLst>
      <p:ext uri="{BB962C8B-B14F-4D97-AF65-F5344CB8AC3E}">
        <p14:creationId xmlns:p14="http://schemas.microsoft.com/office/powerpoint/2010/main" val="7733068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cid:image002.jpg@01CD5B5F.D3AC7D50" TargetMode="Externa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cid:image002.jpg@01CD5B5F.D3AC7D50"/>
          <p:cNvPicPr>
            <a:picLocks noChangeAspect="1" noChangeArrowheads="1"/>
          </p:cNvPicPr>
          <p:nvPr userDrawn="1"/>
        </p:nvPicPr>
        <p:blipFill>
          <a:blip r:embed="rId2" r:link="rId3">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221904" y="2105273"/>
            <a:ext cx="7772400" cy="1470025"/>
          </a:xfrm>
        </p:spPr>
        <p:txBody>
          <a:bodyPr/>
          <a:lstStyle>
            <a:lvl1pPr>
              <a:defRPr>
                <a:solidFill>
                  <a:schemeClr val="tx1"/>
                </a:solidFill>
              </a:defRPr>
            </a:lvl1pPr>
          </a:lstStyle>
          <a:p>
            <a:r>
              <a:rPr lang="en-US" smtClean="0"/>
              <a:t>Click to edit Master title style</a:t>
            </a:r>
            <a:endParaRPr lang="en-US"/>
          </a:p>
        </p:txBody>
      </p:sp>
      <p:sp>
        <p:nvSpPr>
          <p:cNvPr id="3" name="Subtitle 2"/>
          <p:cNvSpPr>
            <a:spLocks noGrp="1"/>
          </p:cNvSpPr>
          <p:nvPr>
            <p:ph type="subTitle" idx="1"/>
          </p:nvPr>
        </p:nvSpPr>
        <p:spPr>
          <a:xfrm>
            <a:off x="1907704" y="3861048"/>
            <a:ext cx="6400800" cy="1752600"/>
          </a:xfrm>
        </p:spPr>
        <p:txBody>
          <a:bodyPr/>
          <a:lstStyle>
            <a:lvl1pPr marL="0" indent="0" algn="ctr">
              <a:buNone/>
              <a:defRPr>
                <a:solidFill>
                  <a:schemeClr val="tx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5" name="Rectangle 4"/>
          <p:cNvSpPr>
            <a:spLocks noGrp="1" noChangeArrowheads="1"/>
          </p:cNvSpPr>
          <p:nvPr>
            <p:ph type="dt" sz="half" idx="10"/>
          </p:nvPr>
        </p:nvSpPr>
        <p:spPr>
          <a:xfrm>
            <a:off x="468313" y="6543675"/>
            <a:ext cx="1938337" cy="314325"/>
          </a:xfrm>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xfrm>
            <a:off x="3135313" y="6543675"/>
            <a:ext cx="2632075" cy="314325"/>
          </a:xfrm>
        </p:spPr>
        <p:txBody>
          <a:bodyPr/>
          <a:lstStyle>
            <a:lvl1pPr>
              <a:defRPr sz="1100"/>
            </a:lvl1pPr>
          </a:lstStyle>
          <a:p>
            <a:pPr>
              <a:defRPr/>
            </a:pPr>
            <a:endParaRPr lang="en-US" altLang="en-US"/>
          </a:p>
        </p:txBody>
      </p:sp>
      <p:sp>
        <p:nvSpPr>
          <p:cNvPr id="7" name="Rectangle 6"/>
          <p:cNvSpPr>
            <a:spLocks noGrp="1" noChangeArrowheads="1"/>
          </p:cNvSpPr>
          <p:nvPr>
            <p:ph type="sldNum" sz="quarter" idx="12"/>
          </p:nvPr>
        </p:nvSpPr>
        <p:spPr>
          <a:xfrm>
            <a:off x="6094413" y="6543675"/>
            <a:ext cx="2365375" cy="314325"/>
          </a:xfrm>
        </p:spPr>
        <p:txBody>
          <a:bodyPr/>
          <a:lstStyle>
            <a:lvl1pPr>
              <a:defRPr lang="en-SG" sz="800">
                <a:solidFill>
                  <a:schemeClr val="tx1"/>
                </a:solidFill>
                <a:effectLst/>
                <a:latin typeface="Arial" charset="0"/>
                <a:cs typeface="Arial" charset="0"/>
              </a:defRPr>
            </a:lvl1pPr>
          </a:lstStyle>
          <a:p>
            <a:pPr>
              <a:defRPr/>
            </a:pPr>
            <a:r>
              <a:rPr lang="en-US"/>
              <a:t>Copyright© 2012 NYP, Singapore.</a:t>
            </a:r>
          </a:p>
          <a:p>
            <a:pPr>
              <a:defRPr/>
            </a:pPr>
            <a:r>
              <a:rPr lang="en-US"/>
              <a:t> All rights reserved. </a:t>
            </a:r>
          </a:p>
        </p:txBody>
      </p:sp>
    </p:spTree>
    <p:extLst>
      <p:ext uri="{BB962C8B-B14F-4D97-AF65-F5344CB8AC3E}">
        <p14:creationId xmlns:p14="http://schemas.microsoft.com/office/powerpoint/2010/main" val="3992615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400">
                <a:solidFill>
                  <a:schemeClr val="tx1"/>
                </a:solidFill>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4"/>
          <p:cNvSpPr>
            <a:spLocks noGrp="1" noChangeArrowheads="1"/>
          </p:cNvSpPr>
          <p:nvPr>
            <p:ph type="dt" sz="half" idx="10"/>
          </p:nvPr>
        </p:nvSpPr>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p:txBody>
          <a:bodyPr/>
          <a:lstStyle>
            <a:lvl1pPr>
              <a:defRPr sz="1100"/>
            </a:lvl1pPr>
          </a:lstStyle>
          <a:p>
            <a:pPr>
              <a:defRPr/>
            </a:pPr>
            <a:endParaRPr lang="en-US" altLang="en-US"/>
          </a:p>
        </p:txBody>
      </p:sp>
      <p:sp>
        <p:nvSpPr>
          <p:cNvPr id="6" name="Rectangle 6"/>
          <p:cNvSpPr>
            <a:spLocks noGrp="1" noChangeArrowheads="1"/>
          </p:cNvSpPr>
          <p:nvPr>
            <p:ph type="sldNum" sz="quarter" idx="12"/>
          </p:nvPr>
        </p:nvSpPr>
        <p:spPr/>
        <p:txBody>
          <a:bodyPr/>
          <a:lstStyle>
            <a:lvl1pPr marL="0" marR="0" indent="0" algn="r" defTabSz="914400" rtl="0" eaLnBrk="1" fontAlgn="base" latinLnBrk="0" hangingPunct="1">
              <a:lnSpc>
                <a:spcPct val="100000"/>
              </a:lnSpc>
              <a:spcBef>
                <a:spcPct val="0"/>
              </a:spcBef>
              <a:spcAft>
                <a:spcPct val="0"/>
              </a:spcAft>
              <a:buClrTx/>
              <a:buSzTx/>
              <a:buFontTx/>
              <a:buNone/>
              <a:tabLst/>
              <a:defRPr sz="900">
                <a:solidFill>
                  <a:schemeClr val="tx1"/>
                </a:solidFill>
                <a:latin typeface="Arial" charset="0"/>
                <a:cs typeface="Arial" charset="0"/>
              </a:defRPr>
            </a:lvl1pPr>
          </a:lstStyle>
          <a:p>
            <a:pPr>
              <a:defRPr/>
            </a:pPr>
            <a:r>
              <a:rPr lang="en-US" sz="1000"/>
              <a:t>Copyright© 2012 NYP, Singapore.</a:t>
            </a:r>
          </a:p>
          <a:p>
            <a:pPr>
              <a:defRPr/>
            </a:pPr>
            <a:r>
              <a:rPr lang="en-US"/>
              <a:t> All rights reserved. </a:t>
            </a:r>
            <a:endParaRPr lang="en-US" dirty="0"/>
          </a:p>
        </p:txBody>
      </p:sp>
    </p:spTree>
    <p:extLst>
      <p:ext uri="{BB962C8B-B14F-4D97-AF65-F5344CB8AC3E}">
        <p14:creationId xmlns:p14="http://schemas.microsoft.com/office/powerpoint/2010/main" val="1599897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p:txBody>
          <a:bodyPr/>
          <a:lstStyle>
            <a:lvl1pPr>
              <a:defRPr sz="1100"/>
            </a:lvl1pPr>
          </a:lstStyle>
          <a:p>
            <a:pPr>
              <a:defRPr/>
            </a:pPr>
            <a:endParaRPr lang="en-US" altLang="en-US"/>
          </a:p>
        </p:txBody>
      </p:sp>
      <p:sp>
        <p:nvSpPr>
          <p:cNvPr id="6" name="Rectangle 6"/>
          <p:cNvSpPr>
            <a:spLocks noGrp="1" noChangeArrowheads="1"/>
          </p:cNvSpPr>
          <p:nvPr>
            <p:ph type="sldNum" sz="quarter" idx="12"/>
          </p:nvPr>
        </p:nvSpPr>
        <p:spPr>
          <a:xfrm>
            <a:off x="6300788" y="6245225"/>
            <a:ext cx="2386012" cy="476250"/>
          </a:xfrm>
        </p:spPr>
        <p:txBody>
          <a:bodyPr/>
          <a:lstStyle>
            <a:lvl1pPr>
              <a:defRPr sz="700"/>
            </a:lvl1pPr>
          </a:lstStyle>
          <a:p>
            <a:pPr>
              <a:defRPr/>
            </a:pPr>
            <a:r>
              <a:rPr lang="en-US" altLang="en-US" sz="1100"/>
              <a:t>Copyright© 2012 NYP Singapore.</a:t>
            </a:r>
          </a:p>
          <a:p>
            <a:pPr>
              <a:defRPr/>
            </a:pPr>
            <a:r>
              <a:rPr lang="en-US" altLang="en-US"/>
              <a:t> All rights reserved. </a:t>
            </a:r>
          </a:p>
          <a:p>
            <a:pPr>
              <a:defRPr/>
            </a:pPr>
            <a:endParaRPr lang="es-ES" altLang="en-US" sz="800"/>
          </a:p>
        </p:txBody>
      </p:sp>
    </p:spTree>
    <p:extLst>
      <p:ext uri="{BB962C8B-B14F-4D97-AF65-F5344CB8AC3E}">
        <p14:creationId xmlns:p14="http://schemas.microsoft.com/office/powerpoint/2010/main" val="257029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p:txBody>
          <a:bodyPr/>
          <a:lstStyle>
            <a:lvl1pPr>
              <a:defRPr sz="1100"/>
            </a:lvl1pPr>
          </a:lstStyle>
          <a:p>
            <a:pPr>
              <a:defRPr/>
            </a:pPr>
            <a:endParaRPr lang="en-US" altLang="en-US"/>
          </a:p>
        </p:txBody>
      </p:sp>
      <p:sp>
        <p:nvSpPr>
          <p:cNvPr id="6" name="Rectangle 6"/>
          <p:cNvSpPr>
            <a:spLocks noGrp="1" noChangeArrowheads="1"/>
          </p:cNvSpPr>
          <p:nvPr>
            <p:ph type="sldNum" sz="quarter" idx="12"/>
          </p:nvPr>
        </p:nvSpPr>
        <p:spPr>
          <a:xfrm>
            <a:off x="6300788" y="6245225"/>
            <a:ext cx="2386012" cy="476250"/>
          </a:xfrm>
        </p:spPr>
        <p:txBody>
          <a:bodyPr/>
          <a:lstStyle>
            <a:lvl1pPr>
              <a:defRPr sz="700"/>
            </a:lvl1pPr>
          </a:lstStyle>
          <a:p>
            <a:pPr>
              <a:defRPr/>
            </a:pPr>
            <a:r>
              <a:rPr lang="en-US" altLang="en-US" sz="1100"/>
              <a:t>Copyright© 2012 NYP Singapore.</a:t>
            </a:r>
          </a:p>
          <a:p>
            <a:pPr>
              <a:defRPr/>
            </a:pPr>
            <a:r>
              <a:rPr lang="en-US" altLang="en-US"/>
              <a:t> All rights reserved. </a:t>
            </a:r>
          </a:p>
          <a:p>
            <a:pPr>
              <a:defRPr/>
            </a:pPr>
            <a:endParaRPr lang="es-ES" altLang="en-US" sz="800"/>
          </a:p>
        </p:txBody>
      </p:sp>
    </p:spTree>
    <p:extLst>
      <p:ext uri="{BB962C8B-B14F-4D97-AF65-F5344CB8AC3E}">
        <p14:creationId xmlns:p14="http://schemas.microsoft.com/office/powerpoint/2010/main" val="26078345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n-US" smtClean="0"/>
              <a:t>Haga clic para cambiar el estilo de título	</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smtClean="0"/>
              <a:t>Haga clic para modificar el estilo de texto del patrón</a:t>
            </a:r>
          </a:p>
          <a:p>
            <a:pPr lvl="1"/>
            <a:r>
              <a:rPr lang="es-ES" altLang="en-US" smtClean="0"/>
              <a:t>Segundo nivel</a:t>
            </a:r>
          </a:p>
          <a:p>
            <a:pPr lvl="2"/>
            <a:r>
              <a:rPr lang="es-ES" altLang="en-US" smtClean="0"/>
              <a:t>Tercer nivel</a:t>
            </a:r>
          </a:p>
          <a:p>
            <a:pPr lvl="3"/>
            <a:r>
              <a:rPr lang="es-ES" altLang="en-US" smtClean="0"/>
              <a:t>Cuarto nivel</a:t>
            </a:r>
          </a:p>
          <a:p>
            <a:pPr lvl="4"/>
            <a:r>
              <a:rPr lang="es-ES" altLang="en-US" smtClean="0"/>
              <a:t>Quinto nivel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100"/>
            </a:lvl1pPr>
          </a:lstStyle>
          <a:p>
            <a:pPr>
              <a:defRPr/>
            </a:pPr>
            <a:r>
              <a:rPr lang="en-US" altLang="en-US"/>
              <a:t>Copyright© 2012 NYP, Singapore.</a:t>
            </a:r>
          </a:p>
          <a:p>
            <a:pPr>
              <a:defRPr/>
            </a:pPr>
            <a:r>
              <a:rPr lang="en-US" altLang="en-US" sz="1000"/>
              <a:t> All rights reserved. </a:t>
            </a:r>
          </a:p>
          <a:p>
            <a:pPr>
              <a:defRPr/>
            </a:pPr>
            <a:endParaRPr lang="es-ES" altLang="en-US" sz="100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600"/>
            </a:lvl1pPr>
          </a:lstStyle>
          <a:p>
            <a:pPr>
              <a:defRPr/>
            </a:pPr>
            <a:fld id="{9FFE521F-38CA-4356-BE6B-6C538888B05A}" type="slidenum">
              <a:rPr lang="es-ES" altLang="en-US"/>
              <a:pPr>
                <a:defRPr/>
              </a:pPr>
              <a:t>‹#›</a:t>
            </a:fld>
            <a:endParaRPr lang="es-ES" alt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Arial" charset="0"/>
          <a:cs typeface="Arial" charset="0"/>
        </a:defRPr>
      </a:lvl2pPr>
      <a:lvl3pPr algn="ctr" rtl="0" eaLnBrk="0" fontAlgn="base" hangingPunct="0">
        <a:spcBef>
          <a:spcPct val="0"/>
        </a:spcBef>
        <a:spcAft>
          <a:spcPct val="0"/>
        </a:spcAft>
        <a:defRPr sz="4400">
          <a:solidFill>
            <a:schemeClr val="tx1"/>
          </a:solidFill>
          <a:latin typeface="Arial" charset="0"/>
          <a:cs typeface="Arial" charset="0"/>
        </a:defRPr>
      </a:lvl3pPr>
      <a:lvl4pPr algn="ctr" rtl="0" eaLnBrk="0" fontAlgn="base" hangingPunct="0">
        <a:spcBef>
          <a:spcPct val="0"/>
        </a:spcBef>
        <a:spcAft>
          <a:spcPct val="0"/>
        </a:spcAft>
        <a:defRPr sz="4400">
          <a:solidFill>
            <a:schemeClr val="tx1"/>
          </a:solidFill>
          <a:latin typeface="Arial" charset="0"/>
          <a:cs typeface="Arial" charset="0"/>
        </a:defRPr>
      </a:lvl4pPr>
      <a:lvl5pPr algn="ctr" rtl="0" eaLnBrk="0" fontAlgn="base" hangingPunct="0">
        <a:spcBef>
          <a:spcPct val="0"/>
        </a:spcBef>
        <a:spcAft>
          <a:spcPct val="0"/>
        </a:spcAft>
        <a:defRPr sz="4400">
          <a:solidFill>
            <a:schemeClr val="tx1"/>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cid:image002.jpg@01CD5B5F.D3AC7D50"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www.virtualtoursforhotels.com/" TargetMode="External"/><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cid:image002.jpg@01CD5B5F.D3AC7D50" TargetMode="External"/><Relationship Id="rId5" Type="http://schemas.openxmlformats.org/officeDocument/2006/relationships/image" Target="../media/image2.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cid:image002.jpg@01CD5B5F.D3AC7D50"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www.youtube.com/watch?v=mzPxo7Y6JyA"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cid:image002.jpg@01CD5B5F.D3AC7D50" TargetMode="Externa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cid:image002.jpg@01CD5B5F.D3AC7D50"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cid:image002.jpg@01CD5B5F.D3AC7D50" TargetMode="External"/><Relationship Id="rId5" Type="http://schemas.openxmlformats.org/officeDocument/2006/relationships/image" Target="../media/image2.jpe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cid:image002.jpg@01CD5B5F.D3AC7D50" TargetMode="Externa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cid:image002.jpg@01CD5B5F.D3AC7D50" TargetMode="External"/><Relationship Id="rId5" Type="http://schemas.openxmlformats.org/officeDocument/2006/relationships/image" Target="../media/image2.jpeg"/><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cid:image002.jpg@01CD5B5F.D3AC7D50"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cid:image002.jpg@01CD5B5F.D3AC7D50"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html5demos.com/geo" TargetMode="External"/><Relationship Id="rId4" Type="http://schemas.openxmlformats.org/officeDocument/2006/relationships/image" Target="cid:image002.jpg@01CD5B5F.D3AC7D50"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cid:image002.jpg@01CD5B5F.D3AC7D50" TargetMode="Externa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cid:image002.jpg@01CD5B5F.D3AC7D50"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caniuse.com/"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hyperlink" Target="http://www.w3schools.com/cssref/css3_pr_background-size.asp"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hyperlink" Target="http://html5-showcase.com/2014/02/flappy-bird/"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cid:image002.jpg@01CD5B5F.D3AC7D50" TargetMode="Externa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801603496"/>
              </p:ext>
            </p:extLst>
          </p:nvPr>
        </p:nvGraphicFramePr>
        <p:xfrm>
          <a:off x="0" y="29019"/>
          <a:ext cx="5903912" cy="5329238"/>
        </p:xfrm>
        <a:graphic>
          <a:graphicData uri="http://schemas.openxmlformats.org/drawingml/2006/table">
            <a:tbl>
              <a:tblPr/>
              <a:tblGrid>
                <a:gridCol w="5903912"/>
              </a:tblGrid>
              <a:tr h="3318053">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15000"/>
                        </a:lnSpc>
                        <a:spcBef>
                          <a:spcPct val="0"/>
                        </a:spcBef>
                        <a:spcAft>
                          <a:spcPct val="0"/>
                        </a:spcAft>
                        <a:buClrTx/>
                        <a:buSzTx/>
                        <a:buFontTx/>
                        <a:buNone/>
                        <a:tabLst/>
                      </a:pPr>
                      <a:r>
                        <a:rPr kumimoji="0" lang="en-US" altLang="en-US" sz="36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Rich Internet Applications</a:t>
                      </a:r>
                      <a:endParaRPr kumimoji="0" lang="en-US" altLang="en-US" sz="1100" b="1" i="0" u="none" strike="noStrike" cap="none" normalizeH="0" baseline="0" dirty="0" smtClean="0">
                        <a:ln>
                          <a:noFill/>
                        </a:ln>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73025" marR="73025" marT="228580" marB="22858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D9D9D9"/>
                    </a:solidFill>
                  </a:tcPr>
                </a:tc>
              </a:tr>
              <a:tr h="1254014">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endParaRPr kumimoji="0" lang="en-US" altLang="en-US" sz="1100" b="1" i="0" u="none" strike="noStrike" cap="none" normalizeH="0" baseline="0" dirty="0" smtClean="0">
                        <a:ln>
                          <a:noFill/>
                        </a:ln>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73025" marR="73025" marT="228580" marB="22858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9D9D9"/>
                    </a:solidFill>
                  </a:tcPr>
                </a:tc>
              </a:tr>
              <a:tr h="757171">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15000"/>
                        </a:lnSpc>
                        <a:spcBef>
                          <a:spcPct val="0"/>
                        </a:spcBef>
                        <a:spcAft>
                          <a:spcPct val="0"/>
                        </a:spcAft>
                        <a:buClrTx/>
                        <a:buSzTx/>
                        <a:buFontTx/>
                        <a:buNone/>
                        <a:tabLst/>
                      </a:pPr>
                      <a:r>
                        <a:rPr kumimoji="0" lang="en-SG" altLang="en-US" sz="1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Tommy Low</a:t>
                      </a:r>
                      <a:endParaRPr kumimoji="0" lang="en-US" altLang="en-US" sz="1100" b="1" i="0" u="none" strike="noStrike" cap="none" normalizeH="0" baseline="0" dirty="0" smtClean="0">
                        <a:ln>
                          <a:noFill/>
                        </a:ln>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73025" marR="73025" marT="228580" marB="22858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9D9D9"/>
                    </a:solidFill>
                  </a:tcPr>
                </a:tc>
              </a:tr>
            </a:tbl>
          </a:graphicData>
        </a:graphic>
      </p:graphicFrame>
      <p:pic>
        <p:nvPicPr>
          <p:cNvPr id="8205"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504" y="3201987"/>
            <a:ext cx="5832475" cy="365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smtClean="0"/>
              <a:t>Topics</a:t>
            </a:r>
          </a:p>
        </p:txBody>
      </p:sp>
      <p:sp>
        <p:nvSpPr>
          <p:cNvPr id="10243" name="Content Placeholder 2"/>
          <p:cNvSpPr>
            <a:spLocks noGrp="1"/>
          </p:cNvSpPr>
          <p:nvPr>
            <p:ph idx="1"/>
          </p:nvPr>
        </p:nvSpPr>
        <p:spPr/>
        <p:txBody>
          <a:bodyPr/>
          <a:lstStyle/>
          <a:p>
            <a:r>
              <a:rPr lang="en-US" altLang="en-US" dirty="0" smtClean="0"/>
              <a:t>What is Rich Internet Applications (RIA)?</a:t>
            </a:r>
          </a:p>
          <a:p>
            <a:r>
              <a:rPr lang="en-US" altLang="en-US" dirty="0" smtClean="0"/>
              <a:t>Introduction to HTML5 and CSS3</a:t>
            </a:r>
          </a:p>
          <a:p>
            <a:r>
              <a:rPr lang="en-US" altLang="en-US" dirty="0" smtClean="0"/>
              <a:t>Compatibility checks</a:t>
            </a:r>
          </a:p>
          <a:p>
            <a:r>
              <a:rPr lang="en-US" altLang="en-US" dirty="0" smtClean="0"/>
              <a:t>Demo Sites of RIA using HTML5 and CSS3</a:t>
            </a:r>
          </a:p>
          <a:p>
            <a:r>
              <a:rPr lang="en-US" altLang="en-US" dirty="0" smtClean="0"/>
              <a:t>UI Frameworks, boilerplates and bootstraps</a:t>
            </a:r>
          </a:p>
          <a:p>
            <a:endParaRPr lang="en-US" altLang="en-US" dirty="0" smtClean="0"/>
          </a:p>
          <a:p>
            <a:endParaRPr lang="en-US" altLang="en-US"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s-UY" altLang="en-US" b="1" smtClean="0"/>
              <a:t>What is Rich Media?</a:t>
            </a:r>
            <a:endParaRPr lang="en-US" altLang="en-US" smtClean="0"/>
          </a:p>
        </p:txBody>
      </p:sp>
      <p:sp>
        <p:nvSpPr>
          <p:cNvPr id="11267" name="Content Placeholder 2"/>
          <p:cNvSpPr>
            <a:spLocks noGrp="1"/>
          </p:cNvSpPr>
          <p:nvPr>
            <p:ph idx="1"/>
          </p:nvPr>
        </p:nvSpPr>
        <p:spPr/>
        <p:txBody>
          <a:bodyPr/>
          <a:lstStyle/>
          <a:p>
            <a:r>
              <a:rPr lang="en-US" altLang="en-US" smtClean="0"/>
              <a:t>rich media</a:t>
            </a:r>
            <a:r>
              <a:rPr lang="en-US" altLang="en-US" sz="3600" smtClean="0"/>
              <a:t> </a:t>
            </a:r>
            <a:r>
              <a:rPr lang="en-US" altLang="en-US" smtClean="0"/>
              <a:t>webpage contains images or video and involves some kind of user interaction.</a:t>
            </a:r>
          </a:p>
          <a:p>
            <a:endParaRPr lang="en-US" altLang="en-US" smtClean="0"/>
          </a:p>
        </p:txBody>
      </p:sp>
      <p:pic>
        <p:nvPicPr>
          <p:cNvPr id="11268" name="Picture 3" descr="what_is_rich_media.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3141663"/>
            <a:ext cx="5946775" cy="246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539750" y="449263"/>
            <a:ext cx="8229600" cy="981075"/>
          </a:xfrm>
        </p:spPr>
        <p:txBody>
          <a:bodyPr/>
          <a:lstStyle/>
          <a:p>
            <a:pPr eaLnBrk="1" hangingPunct="1"/>
            <a:r>
              <a:rPr lang="es-UY" altLang="en-US" b="1" dirty="0" err="1" smtClean="0"/>
              <a:t>What</a:t>
            </a:r>
            <a:r>
              <a:rPr lang="es-UY" altLang="en-US" b="1" dirty="0" smtClean="0"/>
              <a:t> </a:t>
            </a:r>
            <a:r>
              <a:rPr lang="es-UY" altLang="en-US" b="1" dirty="0" err="1" smtClean="0"/>
              <a:t>is</a:t>
            </a:r>
            <a:r>
              <a:rPr lang="es-UY" altLang="en-US" b="1" dirty="0" smtClean="0"/>
              <a:t> </a:t>
            </a:r>
            <a:r>
              <a:rPr lang="es-UY" altLang="en-US" b="1" dirty="0" err="1" smtClean="0"/>
              <a:t>Interactive</a:t>
            </a:r>
            <a:r>
              <a:rPr lang="es-UY" altLang="en-US" b="1" dirty="0" smtClean="0"/>
              <a:t> Media? </a:t>
            </a:r>
            <a:br>
              <a:rPr lang="es-UY" altLang="en-US" b="1" dirty="0" smtClean="0"/>
            </a:br>
            <a:endParaRPr lang="en-US" altLang="en-US" sz="1800" dirty="0" smtClean="0"/>
          </a:p>
        </p:txBody>
      </p:sp>
      <p:sp>
        <p:nvSpPr>
          <p:cNvPr id="12291" name="Rectangle 3"/>
          <p:cNvSpPr>
            <a:spLocks noGrp="1" noChangeArrowheads="1"/>
          </p:cNvSpPr>
          <p:nvPr>
            <p:ph type="body" idx="1"/>
          </p:nvPr>
        </p:nvSpPr>
        <p:spPr>
          <a:xfrm>
            <a:off x="1042988" y="1557338"/>
            <a:ext cx="6778625" cy="1900237"/>
          </a:xfrm>
        </p:spPr>
        <p:txBody>
          <a:bodyPr/>
          <a:lstStyle/>
          <a:p>
            <a:pPr algn="r" eaLnBrk="1" hangingPunct="1"/>
            <a:r>
              <a:rPr lang="en-US" altLang="en-US" sz="2400" b="1" dirty="0" smtClean="0"/>
              <a:t>Interactive media</a:t>
            </a:r>
            <a:r>
              <a:rPr lang="en-US" altLang="en-US" sz="2400" dirty="0" smtClean="0"/>
              <a:t> normally refers to products and services on digital computer-based systems which respond to the user’s actions by presenting content such as text, graphics, animation, video, audio, games, etc.</a:t>
            </a:r>
          </a:p>
        </p:txBody>
      </p:sp>
      <p:sp>
        <p:nvSpPr>
          <p:cNvPr id="12292" name="Rectangle 3"/>
          <p:cNvSpPr txBox="1">
            <a:spLocks noChangeArrowheads="1"/>
          </p:cNvSpPr>
          <p:nvPr/>
        </p:nvSpPr>
        <p:spPr bwMode="auto">
          <a:xfrm>
            <a:off x="250825" y="4005263"/>
            <a:ext cx="8229600" cy="190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buFontTx/>
              <a:buNone/>
            </a:pPr>
            <a:r>
              <a:rPr lang="en-US" altLang="en-US" sz="2400" dirty="0" smtClean="0"/>
              <a:t>These content will </a:t>
            </a:r>
            <a:r>
              <a:rPr lang="en-US" altLang="en-US" sz="2400" dirty="0"/>
              <a:t>engage the viewer in many levels, </a:t>
            </a:r>
            <a:r>
              <a:rPr lang="en-US" altLang="en-US" sz="2400" b="1" dirty="0"/>
              <a:t>bringing the viewer close to a real experience. </a:t>
            </a:r>
            <a:endParaRPr lang="en-US" altLang="en-US" sz="2400" dirty="0"/>
          </a:p>
        </p:txBody>
      </p:sp>
      <p:pic>
        <p:nvPicPr>
          <p:cNvPr id="12294" name="Picture 6" descr="cid:image002.jpg@01CD5B5F.D3AC7D50"/>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5"/>
          <p:cNvSpPr>
            <a:spLocks noGrp="1"/>
          </p:cNvSpPr>
          <p:nvPr>
            <p:ph type="title"/>
          </p:nvPr>
        </p:nvSpPr>
        <p:spPr>
          <a:xfrm>
            <a:off x="1116013" y="454025"/>
            <a:ext cx="8229600" cy="1143000"/>
          </a:xfrm>
        </p:spPr>
        <p:txBody>
          <a:bodyPr/>
          <a:lstStyle/>
          <a:p>
            <a:r>
              <a:rPr lang="en-US" altLang="en-US" b="1" smtClean="0"/>
              <a:t>Why Rich Interactive Media?</a:t>
            </a:r>
          </a:p>
        </p:txBody>
      </p:sp>
      <p:sp>
        <p:nvSpPr>
          <p:cNvPr id="14339" name="Content Placeholder 6"/>
          <p:cNvSpPr>
            <a:spLocks noGrp="1"/>
          </p:cNvSpPr>
          <p:nvPr>
            <p:ph idx="1"/>
          </p:nvPr>
        </p:nvSpPr>
        <p:spPr>
          <a:xfrm>
            <a:off x="1120775" y="1484313"/>
            <a:ext cx="7281863" cy="4525962"/>
          </a:xfrm>
        </p:spPr>
        <p:txBody>
          <a:bodyPr/>
          <a:lstStyle/>
          <a:p>
            <a:r>
              <a:rPr lang="en-US" altLang="en-US" sz="2000" dirty="0" smtClean="0"/>
              <a:t>It brings user closer to the real experience.</a:t>
            </a:r>
          </a:p>
          <a:p>
            <a:r>
              <a:rPr lang="en-US" altLang="en-US" sz="2000" dirty="0" smtClean="0"/>
              <a:t>It allows the user to engage with the business / owner</a:t>
            </a:r>
          </a:p>
          <a:p>
            <a:endParaRPr lang="en-US" altLang="en-US" sz="2000" dirty="0" smtClean="0"/>
          </a:p>
          <a:p>
            <a:endParaRPr lang="en-US" altLang="en-US" sz="2000" dirty="0" smtClean="0"/>
          </a:p>
          <a:p>
            <a:endParaRPr lang="en-US" altLang="en-US" sz="2000" dirty="0" smtClean="0"/>
          </a:p>
          <a:p>
            <a:endParaRPr lang="en-US" altLang="en-US" sz="2000" dirty="0" smtClean="0"/>
          </a:p>
          <a:p>
            <a:endParaRPr lang="en-US" altLang="en-US" sz="2000" dirty="0" smtClean="0"/>
          </a:p>
          <a:p>
            <a:endParaRPr lang="en-US" altLang="en-US" sz="2000" dirty="0" smtClean="0"/>
          </a:p>
          <a:p>
            <a:endParaRPr lang="en-US" altLang="en-US" sz="2000" dirty="0" smtClean="0"/>
          </a:p>
          <a:p>
            <a:endParaRPr lang="en-US" altLang="en-US" sz="2000" dirty="0" smtClean="0"/>
          </a:p>
          <a:p>
            <a:r>
              <a:rPr lang="en-US" altLang="en-US" sz="2000" dirty="0" smtClean="0">
                <a:hlinkClick r:id="rId3"/>
              </a:rPr>
              <a:t>http://www.virtualtoursforhotels.com/</a:t>
            </a:r>
            <a:endParaRPr lang="en-US" altLang="en-US" sz="2000" dirty="0" smtClean="0"/>
          </a:p>
          <a:p>
            <a:endParaRPr lang="en-US" altLang="en-US" sz="2000" dirty="0" smtClean="0"/>
          </a:p>
        </p:txBody>
      </p:sp>
      <p:pic>
        <p:nvPicPr>
          <p:cNvPr id="14340" name="Picture 2" descr="C:\Users\Tommy\Desktop\ScreenHunter_01 Aug. 27 20.3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1988" y="4376738"/>
            <a:ext cx="9525" cy="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6" descr="cid:image002.jpg@01CD5B5F.D3AC7D50"/>
          <p:cNvPicPr>
            <a:picLocks noChangeAspect="1" noChangeArrowheads="1"/>
          </p:cNvPicPr>
          <p:nvPr/>
        </p:nvPicPr>
        <p:blipFill>
          <a:blip r:embed="rId5" r:link="rId6">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7"/>
          <a:stretch>
            <a:fillRect/>
          </a:stretch>
        </p:blipFill>
        <p:spPr>
          <a:xfrm>
            <a:off x="1331640" y="2417425"/>
            <a:ext cx="5172806" cy="2379727"/>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5"/>
          <p:cNvSpPr>
            <a:spLocks noGrp="1"/>
          </p:cNvSpPr>
          <p:nvPr>
            <p:ph type="title"/>
          </p:nvPr>
        </p:nvSpPr>
        <p:spPr>
          <a:xfrm>
            <a:off x="147638" y="908050"/>
            <a:ext cx="8229600" cy="1143000"/>
          </a:xfrm>
        </p:spPr>
        <p:txBody>
          <a:bodyPr/>
          <a:lstStyle/>
          <a:p>
            <a:r>
              <a:rPr lang="en-US" altLang="en-US" smtClean="0"/>
              <a:t>What is Rich Internet Application?</a:t>
            </a:r>
          </a:p>
        </p:txBody>
      </p:sp>
      <p:sp>
        <p:nvSpPr>
          <p:cNvPr id="16387" name="Content Placeholder 6"/>
          <p:cNvSpPr>
            <a:spLocks noGrp="1"/>
          </p:cNvSpPr>
          <p:nvPr>
            <p:ph idx="1"/>
          </p:nvPr>
        </p:nvSpPr>
        <p:spPr>
          <a:xfrm>
            <a:off x="946150" y="2852738"/>
            <a:ext cx="6994525" cy="4525962"/>
          </a:xfrm>
        </p:spPr>
        <p:txBody>
          <a:bodyPr/>
          <a:lstStyle/>
          <a:p>
            <a:r>
              <a:rPr lang="en-US" altLang="en-US" sz="2400" smtClean="0"/>
              <a:t>A Rich Internet Application (RIA) is a Web application that has many of the characteristics of desktop application software, typically delivered by way of a site-specific browser, a browser plug-in, an independent sandbox, extensive use of JavaScript, or a virtual machine</a:t>
            </a:r>
          </a:p>
        </p:txBody>
      </p:sp>
      <p:pic>
        <p:nvPicPr>
          <p:cNvPr id="16388" name="Picture 3" descr="cid:image002.jpg@01CD5B5F.D3AC7D50"/>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84213" y="225425"/>
            <a:ext cx="8229600" cy="1143000"/>
          </a:xfrm>
        </p:spPr>
        <p:txBody>
          <a:bodyPr/>
          <a:lstStyle/>
          <a:p>
            <a:pPr eaLnBrk="1" hangingPunct="1"/>
            <a:r>
              <a:rPr lang="en-US" altLang="en-US" smtClean="0"/>
              <a:t>Evolution of HTML (5)</a:t>
            </a:r>
          </a:p>
        </p:txBody>
      </p:sp>
      <p:sp>
        <p:nvSpPr>
          <p:cNvPr id="18435" name="Rectangle 3"/>
          <p:cNvSpPr>
            <a:spLocks noGrp="1" noChangeArrowheads="1"/>
          </p:cNvSpPr>
          <p:nvPr>
            <p:ph idx="1"/>
          </p:nvPr>
        </p:nvSpPr>
        <p:spPr>
          <a:xfrm>
            <a:off x="468313" y="1628775"/>
            <a:ext cx="8229600" cy="4525963"/>
          </a:xfrm>
        </p:spPr>
        <p:txBody>
          <a:bodyPr/>
          <a:lstStyle/>
          <a:p>
            <a:pPr algn="ctr" eaLnBrk="1" hangingPunct="1"/>
            <a:r>
              <a:rPr lang="en-US" altLang="en-US" sz="2400" dirty="0" smtClean="0"/>
              <a:t>Show video here:                    </a:t>
            </a:r>
            <a:r>
              <a:rPr lang="en-US" altLang="en-US" sz="2400" dirty="0" smtClean="0">
                <a:hlinkClick r:id="rId3"/>
              </a:rPr>
              <a:t>http://www.youtube.com/watch?v=mzPxo7Y6JyA</a:t>
            </a:r>
            <a:endParaRPr lang="en-US" altLang="en-US" sz="2400" dirty="0" smtClean="0"/>
          </a:p>
          <a:p>
            <a:pPr algn="r" eaLnBrk="1" hangingPunct="1"/>
            <a:r>
              <a:rPr lang="en-US" altLang="en-US" sz="2400" dirty="0" smtClean="0"/>
              <a:t> </a:t>
            </a:r>
          </a:p>
        </p:txBody>
      </p:sp>
      <p:pic>
        <p:nvPicPr>
          <p:cNvPr id="18436" name="Picture 5" descr="cid:image002.jpg@01CD5B5F.D3AC7D50"/>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5"/>
          <p:cNvSpPr>
            <a:spLocks noGrp="1"/>
          </p:cNvSpPr>
          <p:nvPr>
            <p:ph type="title"/>
          </p:nvPr>
        </p:nvSpPr>
        <p:spPr>
          <a:xfrm>
            <a:off x="-638484" y="224631"/>
            <a:ext cx="8229600" cy="1143000"/>
          </a:xfrm>
        </p:spPr>
        <p:txBody>
          <a:bodyPr/>
          <a:lstStyle/>
          <a:p>
            <a:r>
              <a:rPr lang="en-US" altLang="en-US" dirty="0" smtClean="0"/>
              <a:t>Introducing HTML5  </a:t>
            </a:r>
          </a:p>
        </p:txBody>
      </p:sp>
      <p:sp>
        <p:nvSpPr>
          <p:cNvPr id="20483" name="Content Placeholder 6"/>
          <p:cNvSpPr>
            <a:spLocks noGrp="1"/>
          </p:cNvSpPr>
          <p:nvPr>
            <p:ph idx="1"/>
          </p:nvPr>
        </p:nvSpPr>
        <p:spPr>
          <a:xfrm>
            <a:off x="971600" y="1556792"/>
            <a:ext cx="6778625" cy="4525962"/>
          </a:xfrm>
        </p:spPr>
        <p:txBody>
          <a:bodyPr/>
          <a:lstStyle/>
          <a:p>
            <a:pPr marL="0" indent="0">
              <a:buFontTx/>
              <a:buNone/>
            </a:pPr>
            <a:r>
              <a:rPr lang="en-US" altLang="en-US" sz="2000" b="1" dirty="0" smtClean="0"/>
              <a:t>HTML5 will be the new standard for HTML.</a:t>
            </a:r>
          </a:p>
          <a:p>
            <a:pPr marL="0" indent="0"/>
            <a:r>
              <a:rPr lang="en-US" altLang="en-US" sz="2000" dirty="0" smtClean="0"/>
              <a:t>HTML5 is still a work in progress. However, the major browsers support many of the new HTML5 elements and APIs.</a:t>
            </a:r>
          </a:p>
          <a:p>
            <a:pPr marL="0" indent="0"/>
            <a:r>
              <a:rPr lang="en-US" altLang="en-US" sz="2000" dirty="0" smtClean="0"/>
              <a:t>Some rules for HTML5 were established:</a:t>
            </a:r>
          </a:p>
          <a:p>
            <a:pPr marL="0" indent="0"/>
            <a:r>
              <a:rPr lang="en-US" altLang="en-US" sz="2000" dirty="0" smtClean="0"/>
              <a:t>New features should be based on HTML, CSS, DOM, and JavaScript</a:t>
            </a:r>
          </a:p>
          <a:p>
            <a:pPr marL="0" indent="0"/>
            <a:r>
              <a:rPr lang="en-US" altLang="en-US" sz="2000" dirty="0" smtClean="0"/>
              <a:t>More markup to replace scripting</a:t>
            </a:r>
          </a:p>
          <a:p>
            <a:pPr marL="0" indent="0"/>
            <a:r>
              <a:rPr lang="en-US" altLang="en-US" sz="2000" dirty="0" smtClean="0"/>
              <a:t>The development process should be visible to the public</a:t>
            </a:r>
          </a:p>
          <a:p>
            <a:pPr marL="0" indent="0"/>
            <a:r>
              <a:rPr lang="en-US" altLang="en-US" sz="2000" dirty="0" smtClean="0"/>
              <a:t>Reduce the need for external plugins (like Flash)</a:t>
            </a:r>
          </a:p>
          <a:p>
            <a:pPr marL="0" indent="0"/>
            <a:r>
              <a:rPr lang="en-US" altLang="en-US" sz="2000" dirty="0" smtClean="0"/>
              <a:t>HTML5 should be device independent</a:t>
            </a:r>
          </a:p>
          <a:p>
            <a:pPr marL="0" indent="0"/>
            <a:r>
              <a:rPr lang="en-US" altLang="en-US" sz="2000" dirty="0" smtClean="0"/>
              <a:t>Better error handling</a:t>
            </a:r>
          </a:p>
          <a:p>
            <a:pPr marL="0" indent="0"/>
            <a:endParaRPr lang="en-US" altLang="en-US" sz="2000" dirty="0" smtClean="0"/>
          </a:p>
          <a:p>
            <a:pPr marL="0" indent="0"/>
            <a:endParaRPr lang="en-US" altLang="en-US" sz="2000" dirty="0" smtClean="0"/>
          </a:p>
          <a:p>
            <a:pPr marL="0" indent="0"/>
            <a:endParaRPr lang="en-US" altLang="en-US" sz="2000" dirty="0" smtClean="0"/>
          </a:p>
        </p:txBody>
      </p:sp>
      <p:pic>
        <p:nvPicPr>
          <p:cNvPr id="20484" name="Picture 4" descr="cid:image002.jpg@01CD5B5F.D3AC7D50"/>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5"/>
          <p:cNvSpPr>
            <a:spLocks noGrp="1"/>
          </p:cNvSpPr>
          <p:nvPr>
            <p:ph type="title"/>
          </p:nvPr>
        </p:nvSpPr>
        <p:spPr/>
        <p:txBody>
          <a:bodyPr/>
          <a:lstStyle/>
          <a:p>
            <a:r>
              <a:rPr lang="en-US" altLang="en-US" smtClean="0"/>
              <a:t>Why HTML5 ?</a:t>
            </a:r>
          </a:p>
        </p:txBody>
      </p:sp>
      <p:sp>
        <p:nvSpPr>
          <p:cNvPr id="7" name="Content Placeholder 6"/>
          <p:cNvSpPr>
            <a:spLocks noGrp="1"/>
          </p:cNvSpPr>
          <p:nvPr>
            <p:ph idx="1"/>
          </p:nvPr>
        </p:nvSpPr>
        <p:spPr>
          <a:xfrm>
            <a:off x="2255838" y="1400175"/>
            <a:ext cx="6121400" cy="1470025"/>
          </a:xfrm>
        </p:spPr>
        <p:txBody>
          <a:bodyPr/>
          <a:lstStyle/>
          <a:p>
            <a:r>
              <a:rPr lang="en-US" altLang="en-US" sz="2400" smtClean="0"/>
              <a:t>Mutuality - No Plug-ins required for video / audio</a:t>
            </a:r>
          </a:p>
          <a:p>
            <a:endParaRPr lang="en-US" altLang="en-US" sz="2800" smtClean="0"/>
          </a:p>
          <a:p>
            <a:endParaRPr lang="en-US" altLang="en-US" sz="2800" smtClean="0"/>
          </a:p>
          <a:p>
            <a:endParaRPr lang="en-US" altLang="en-US" sz="2800" smtClean="0"/>
          </a:p>
          <a:p>
            <a:endParaRPr lang="en-US" altLang="en-US" sz="2800" smtClean="0"/>
          </a:p>
          <a:p>
            <a:endParaRPr lang="en-US" altLang="en-US" sz="2800" smtClean="0"/>
          </a:p>
        </p:txBody>
      </p:sp>
      <p:pic>
        <p:nvPicPr>
          <p:cNvPr id="21506" name="Picture 2" descr="C:\Users\Tommy\Desktop\ScreenHunter_05 Aug. 27 20.5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6725" y="2306638"/>
            <a:ext cx="6480175" cy="375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7" name="Picture 3" descr="C:\Users\Tommy\Desktop\ScreenHunter_09 Aug. 27 21.2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2276475"/>
            <a:ext cx="8345488" cy="261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4" name="Picture 7" descr="cid:image002.jpg@01CD5B5F.D3AC7D50"/>
          <p:cNvPicPr>
            <a:picLocks noChangeAspect="1" noChangeArrowheads="1"/>
          </p:cNvPicPr>
          <p:nvPr/>
        </p:nvPicPr>
        <p:blipFill>
          <a:blip r:embed="rId5" r:link="rId6">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21506"/>
                                        </p:tgtEl>
                                        <p:attrNameLst>
                                          <p:attrName>style.visibility</p:attrName>
                                        </p:attrNameLst>
                                      </p:cBhvr>
                                      <p:to>
                                        <p:strVal val="visible"/>
                                      </p:to>
                                    </p:set>
                                    <p:animEffect transition="in" filter="fade">
                                      <p:cBhvr>
                                        <p:cTn id="13" dur="2000"/>
                                        <p:tgtEl>
                                          <p:spTgt spid="2150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21507"/>
                                        </p:tgtEl>
                                        <p:attrNameLst>
                                          <p:attrName>style.visibility</p:attrName>
                                        </p:attrNameLst>
                                      </p:cBhvr>
                                      <p:to>
                                        <p:strVal val="visible"/>
                                      </p:to>
                                    </p:set>
                                    <p:animEffect transition="in" filter="fade">
                                      <p:cBhvr>
                                        <p:cTn id="18" dur="2000"/>
                                        <p:tgtEl>
                                          <p:spTgt spid="21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5"/>
          <p:cNvSpPr>
            <a:spLocks noGrp="1"/>
          </p:cNvSpPr>
          <p:nvPr>
            <p:ph type="title"/>
          </p:nvPr>
        </p:nvSpPr>
        <p:spPr/>
        <p:txBody>
          <a:bodyPr/>
          <a:lstStyle/>
          <a:p>
            <a:r>
              <a:rPr lang="en-US" altLang="en-US" smtClean="0"/>
              <a:t>Why HTML5 ?</a:t>
            </a:r>
          </a:p>
        </p:txBody>
      </p:sp>
      <p:sp>
        <p:nvSpPr>
          <p:cNvPr id="7" name="Content Placeholder 6"/>
          <p:cNvSpPr>
            <a:spLocks noGrp="1"/>
          </p:cNvSpPr>
          <p:nvPr>
            <p:ph idx="1"/>
          </p:nvPr>
        </p:nvSpPr>
        <p:spPr>
          <a:xfrm>
            <a:off x="2124075" y="1341438"/>
            <a:ext cx="6264275" cy="1511300"/>
          </a:xfrm>
        </p:spPr>
        <p:txBody>
          <a:bodyPr/>
          <a:lstStyle/>
          <a:p>
            <a:r>
              <a:rPr lang="en-US" altLang="en-US" sz="2400" smtClean="0"/>
              <a:t>Platform &amp; Device independent</a:t>
            </a:r>
          </a:p>
        </p:txBody>
      </p:sp>
      <p:grpSp>
        <p:nvGrpSpPr>
          <p:cNvPr id="2" name="Group 7"/>
          <p:cNvGrpSpPr>
            <a:grpSpLocks/>
          </p:cNvGrpSpPr>
          <p:nvPr/>
        </p:nvGrpSpPr>
        <p:grpSpPr bwMode="auto">
          <a:xfrm>
            <a:off x="-28575" y="2133600"/>
            <a:ext cx="9144000" cy="3657600"/>
            <a:chOff x="0" y="2852936"/>
            <a:chExt cx="9144000" cy="3657600"/>
          </a:xfrm>
        </p:grpSpPr>
        <p:pic>
          <p:nvPicPr>
            <p:cNvPr id="24584" name="Picture 2" descr="C:\Users\Tommy\Desktop\ScreenHunter_04 Aug. 27 20.3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52936"/>
              <a:ext cx="91440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5" name="TextBox 4"/>
            <p:cNvSpPr txBox="1">
              <a:spLocks noChangeArrowheads="1"/>
            </p:cNvSpPr>
            <p:nvPr/>
          </p:nvSpPr>
          <p:spPr bwMode="auto">
            <a:xfrm>
              <a:off x="6732240" y="4797152"/>
              <a:ext cx="1656184" cy="1692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500"/>
            </a:p>
          </p:txBody>
        </p:sp>
      </p:grpSp>
      <p:pic>
        <p:nvPicPr>
          <p:cNvPr id="24582" name="Picture 8" descr="cid:image002.jpg@01CD5B5F.D3AC7D50"/>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2" name="Picture 4" descr="C:\Users\Tommy\Desktop\ScreenHunter_08 Aug. 27 21.17.jpg"/>
          <p:cNvPicPr>
            <a:picLocks noChangeAspect="1" noChangeArrowheads="1"/>
          </p:cNvPicPr>
          <p:nvPr/>
        </p:nvPicPr>
        <p:blipFill>
          <a:blip r:embed="rId3"/>
          <a:srcRect/>
          <a:stretch>
            <a:fillRect/>
          </a:stretch>
        </p:blipFill>
        <p:spPr bwMode="auto">
          <a:xfrm>
            <a:off x="179388" y="2852738"/>
            <a:ext cx="4321175" cy="3406775"/>
          </a:xfrm>
          <a:prstGeom prst="rect">
            <a:avLst/>
          </a:prstGeom>
          <a:noFill/>
          <a:effectLst>
            <a:outerShdw blurRad="50800" dist="50800" dir="5400000" sx="45000" sy="45000" algn="ctr" rotWithShape="0">
              <a:srgbClr val="000000">
                <a:alpha val="43137"/>
              </a:srgbClr>
            </a:outerShdw>
          </a:effectLst>
        </p:spPr>
      </p:pic>
      <p:sp>
        <p:nvSpPr>
          <p:cNvPr id="26627" name="Title 5"/>
          <p:cNvSpPr>
            <a:spLocks noGrp="1"/>
          </p:cNvSpPr>
          <p:nvPr>
            <p:ph type="title"/>
          </p:nvPr>
        </p:nvSpPr>
        <p:spPr/>
        <p:txBody>
          <a:bodyPr/>
          <a:lstStyle/>
          <a:p>
            <a:r>
              <a:rPr lang="en-US" altLang="en-US" smtClean="0"/>
              <a:t>Why HTML5 ?</a:t>
            </a:r>
          </a:p>
        </p:txBody>
      </p:sp>
      <p:sp>
        <p:nvSpPr>
          <p:cNvPr id="7" name="Content Placeholder 6"/>
          <p:cNvSpPr>
            <a:spLocks noGrp="1"/>
          </p:cNvSpPr>
          <p:nvPr>
            <p:ph idx="1"/>
          </p:nvPr>
        </p:nvSpPr>
        <p:spPr>
          <a:xfrm>
            <a:off x="2339975" y="1425575"/>
            <a:ext cx="6037263" cy="1539875"/>
          </a:xfrm>
        </p:spPr>
        <p:txBody>
          <a:bodyPr/>
          <a:lstStyle/>
          <a:p>
            <a:r>
              <a:rPr lang="en-US" altLang="en-US" sz="2400" smtClean="0"/>
              <a:t>Elegant forms – Bulit in validation, customizable styling </a:t>
            </a:r>
          </a:p>
        </p:txBody>
      </p:sp>
      <p:pic>
        <p:nvPicPr>
          <p:cNvPr id="22531" name="Picture 3" descr="C:\Users\Tommy\Desktop\ScreenHunter_07 Aug. 27 21.15.jpg"/>
          <p:cNvPicPr>
            <a:picLocks noChangeAspect="1" noChangeArrowheads="1"/>
          </p:cNvPicPr>
          <p:nvPr/>
        </p:nvPicPr>
        <p:blipFill>
          <a:blip r:embed="rId4"/>
          <a:srcRect/>
          <a:stretch>
            <a:fillRect/>
          </a:stretch>
        </p:blipFill>
        <p:spPr bwMode="auto">
          <a:xfrm>
            <a:off x="4014788" y="2822575"/>
            <a:ext cx="4968875" cy="3400425"/>
          </a:xfrm>
          <a:prstGeom prst="rect">
            <a:avLst/>
          </a:prstGeom>
          <a:noFill/>
          <a:effectLst>
            <a:outerShdw blurRad="50800" dist="38100" dir="10800000" algn="r" rotWithShape="0">
              <a:prstClr val="black">
                <a:alpha val="40000"/>
              </a:prstClr>
            </a:outerShdw>
          </a:effectLst>
        </p:spPr>
      </p:pic>
      <p:pic>
        <p:nvPicPr>
          <p:cNvPr id="26630" name="Picture 7" descr="cid:image002.jpg@01CD5B5F.D3AC7D50"/>
          <p:cNvPicPr>
            <a:picLocks noChangeAspect="1" noChangeArrowheads="1"/>
          </p:cNvPicPr>
          <p:nvPr/>
        </p:nvPicPr>
        <p:blipFill>
          <a:blip r:embed="rId5" r:link="rId6">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22532"/>
                                        </p:tgtEl>
                                        <p:attrNameLst>
                                          <p:attrName>style.visibility</p:attrName>
                                        </p:attrNameLst>
                                      </p:cBhvr>
                                      <p:to>
                                        <p:strVal val="visible"/>
                                      </p:to>
                                    </p:set>
                                    <p:animEffect transition="in" filter="fade">
                                      <p:cBhvr>
                                        <p:cTn id="13" dur="2000"/>
                                        <p:tgtEl>
                                          <p:spTgt spid="2253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22531"/>
                                        </p:tgtEl>
                                        <p:attrNameLst>
                                          <p:attrName>style.visibility</p:attrName>
                                        </p:attrNameLst>
                                      </p:cBhvr>
                                      <p:to>
                                        <p:strVal val="visible"/>
                                      </p:to>
                                    </p:set>
                                    <p:animEffect transition="in" filter="fade">
                                      <p:cBhvr>
                                        <p:cTn id="18" dur="2000"/>
                                        <p:tgtEl>
                                          <p:spTgt spid="22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5"/>
          <p:cNvSpPr>
            <a:spLocks noGrp="1"/>
          </p:cNvSpPr>
          <p:nvPr>
            <p:ph type="title"/>
          </p:nvPr>
        </p:nvSpPr>
        <p:spPr/>
        <p:txBody>
          <a:bodyPr/>
          <a:lstStyle/>
          <a:p>
            <a:r>
              <a:rPr lang="en-US" altLang="en-US" smtClean="0"/>
              <a:t>Other Features of HTML5</a:t>
            </a:r>
          </a:p>
        </p:txBody>
      </p:sp>
      <p:sp>
        <p:nvSpPr>
          <p:cNvPr id="7" name="Content Placeholder 6"/>
          <p:cNvSpPr>
            <a:spLocks noGrp="1"/>
          </p:cNvSpPr>
          <p:nvPr>
            <p:ph idx="1"/>
          </p:nvPr>
        </p:nvSpPr>
        <p:spPr>
          <a:xfrm>
            <a:off x="3343275" y="1700213"/>
            <a:ext cx="4259263" cy="4525962"/>
          </a:xfrm>
        </p:spPr>
        <p:txBody>
          <a:bodyPr/>
          <a:lstStyle/>
          <a:p>
            <a:r>
              <a:rPr lang="en-US" altLang="en-US" sz="2400" smtClean="0"/>
              <a:t>New Elements</a:t>
            </a:r>
          </a:p>
          <a:p>
            <a:r>
              <a:rPr lang="en-US" altLang="en-US" sz="2400" smtClean="0"/>
              <a:t>New Attributes</a:t>
            </a:r>
          </a:p>
          <a:p>
            <a:r>
              <a:rPr lang="en-US" altLang="en-US" sz="2400" smtClean="0"/>
              <a:t>Full CSS3 Support</a:t>
            </a:r>
          </a:p>
          <a:p>
            <a:r>
              <a:rPr lang="en-US" altLang="en-US" sz="2400" smtClean="0"/>
              <a:t>Video and Audio</a:t>
            </a:r>
          </a:p>
          <a:p>
            <a:r>
              <a:rPr lang="en-US" altLang="en-US" sz="2400" smtClean="0"/>
              <a:t>2D/3D Graphics</a:t>
            </a:r>
          </a:p>
          <a:p>
            <a:r>
              <a:rPr lang="en-US" altLang="en-US" sz="2400" smtClean="0"/>
              <a:t>Web Storage</a:t>
            </a:r>
          </a:p>
          <a:p>
            <a:r>
              <a:rPr lang="en-US" altLang="en-US" sz="2400" smtClean="0"/>
              <a:t>Local SQL Database</a:t>
            </a:r>
          </a:p>
          <a:p>
            <a:r>
              <a:rPr lang="en-US" altLang="en-US" sz="2400" smtClean="0"/>
              <a:t>Web Applications</a:t>
            </a:r>
          </a:p>
          <a:p>
            <a:r>
              <a:rPr lang="en-US" altLang="en-US" sz="2400" smtClean="0"/>
              <a:t>Geolocation</a:t>
            </a:r>
          </a:p>
        </p:txBody>
      </p:sp>
      <p:pic>
        <p:nvPicPr>
          <p:cNvPr id="28676" name="Picture 4" descr="cid:image002.jpg@01CD5B5F.D3AC7D50"/>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 calcmode="lin" valueType="num">
                                      <p:cBhvr additive="base">
                                        <p:cTn id="3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xEl>
                                              <p:pRg st="6" end="6"/>
                                            </p:txEl>
                                          </p:spTgt>
                                        </p:tgtEl>
                                        <p:attrNameLst>
                                          <p:attrName>style.visibility</p:attrName>
                                        </p:attrNameLst>
                                      </p:cBhvr>
                                      <p:to>
                                        <p:strVal val="visible"/>
                                      </p:to>
                                    </p:set>
                                    <p:anim calcmode="lin" valueType="num">
                                      <p:cBhvr additive="base">
                                        <p:cTn id="4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 calcmode="lin" valueType="num">
                                      <p:cBhvr additive="base">
                                        <p:cTn id="4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7">
                                            <p:txEl>
                                              <p:pRg st="8" end="8"/>
                                            </p:txEl>
                                          </p:spTgt>
                                        </p:tgtEl>
                                        <p:attrNameLst>
                                          <p:attrName>style.visibility</p:attrName>
                                        </p:attrNameLst>
                                      </p:cBhvr>
                                      <p:to>
                                        <p:strVal val="visible"/>
                                      </p:to>
                                    </p:set>
                                    <p:anim calcmode="lin" valueType="num">
                                      <p:cBhvr additive="base">
                                        <p:cTn id="5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5"/>
          <p:cNvSpPr>
            <a:spLocks noGrp="1"/>
          </p:cNvSpPr>
          <p:nvPr>
            <p:ph type="title"/>
          </p:nvPr>
        </p:nvSpPr>
        <p:spPr/>
        <p:txBody>
          <a:bodyPr/>
          <a:lstStyle/>
          <a:p>
            <a:r>
              <a:rPr lang="en-US" altLang="en-US" smtClean="0"/>
              <a:t>Other Features of HTML5</a:t>
            </a:r>
          </a:p>
        </p:txBody>
      </p:sp>
      <p:sp>
        <p:nvSpPr>
          <p:cNvPr id="7" name="Content Placeholder 6"/>
          <p:cNvSpPr>
            <a:spLocks noGrp="1"/>
          </p:cNvSpPr>
          <p:nvPr>
            <p:ph idx="1"/>
          </p:nvPr>
        </p:nvSpPr>
        <p:spPr>
          <a:xfrm>
            <a:off x="1476375" y="1700213"/>
            <a:ext cx="6780213" cy="4525962"/>
          </a:xfrm>
        </p:spPr>
        <p:txBody>
          <a:bodyPr/>
          <a:lstStyle/>
          <a:p>
            <a:r>
              <a:rPr lang="en-US" altLang="en-US" smtClean="0"/>
              <a:t>What is HTML5 Web storage</a:t>
            </a:r>
          </a:p>
          <a:p>
            <a:endParaRPr lang="en-US" altLang="en-US" sz="3600" smtClean="0"/>
          </a:p>
          <a:p>
            <a:r>
              <a:rPr lang="en-US" altLang="en-US" sz="2400" smtClean="0"/>
              <a:t>With HTML5, web pages can store data locally within the user's browser.</a:t>
            </a:r>
          </a:p>
          <a:p>
            <a:endParaRPr lang="en-US" altLang="en-US" sz="2400" smtClean="0"/>
          </a:p>
          <a:p>
            <a:r>
              <a:rPr lang="en-US" altLang="en-US" sz="2400" smtClean="0"/>
              <a:t>Earlier, this was done with cookies. However, Web Storage is more secure and faster. The data is not included with every server request, but used ONLY when asked for. </a:t>
            </a:r>
          </a:p>
          <a:p>
            <a:endParaRPr lang="en-US" altLang="en-US" sz="3600" smtClean="0"/>
          </a:p>
        </p:txBody>
      </p:sp>
      <p:pic>
        <p:nvPicPr>
          <p:cNvPr id="30724" name="Picture 4" descr="cid:image002.jpg@01CD5B5F.D3AC7D50"/>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 calcmode="lin" valueType="num">
                                      <p:cBhvr additive="base">
                                        <p:cTn id="19"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5"/>
          <p:cNvSpPr>
            <a:spLocks noGrp="1"/>
          </p:cNvSpPr>
          <p:nvPr>
            <p:ph type="title"/>
          </p:nvPr>
        </p:nvSpPr>
        <p:spPr/>
        <p:txBody>
          <a:bodyPr/>
          <a:lstStyle/>
          <a:p>
            <a:r>
              <a:rPr lang="en-US" altLang="en-US" smtClean="0"/>
              <a:t>Other Features of HTML5</a:t>
            </a:r>
          </a:p>
        </p:txBody>
      </p:sp>
      <p:sp>
        <p:nvSpPr>
          <p:cNvPr id="7" name="Content Placeholder 6"/>
          <p:cNvSpPr>
            <a:spLocks noGrp="1"/>
          </p:cNvSpPr>
          <p:nvPr>
            <p:ph idx="1"/>
          </p:nvPr>
        </p:nvSpPr>
        <p:spPr>
          <a:xfrm>
            <a:off x="1476375" y="1700213"/>
            <a:ext cx="6419850" cy="3384550"/>
          </a:xfrm>
        </p:spPr>
        <p:txBody>
          <a:bodyPr/>
          <a:lstStyle/>
          <a:p>
            <a:r>
              <a:rPr lang="en-US" altLang="en-US" smtClean="0"/>
              <a:t>Geolocation</a:t>
            </a:r>
          </a:p>
          <a:p>
            <a:endParaRPr lang="en-US" altLang="en-US" sz="3600" smtClean="0"/>
          </a:p>
          <a:p>
            <a:r>
              <a:rPr lang="en-US" altLang="en-US" sz="2400" smtClean="0"/>
              <a:t>The HTML5 Geolocation API is used to get the geographical position of a user.</a:t>
            </a:r>
          </a:p>
          <a:p>
            <a:r>
              <a:rPr lang="en-US" altLang="en-US" sz="2400" smtClean="0"/>
              <a:t>Since this can compromise user privacy, the position is not available unless the user approves it.</a:t>
            </a:r>
          </a:p>
        </p:txBody>
      </p:sp>
      <p:pic>
        <p:nvPicPr>
          <p:cNvPr id="32772" name="Picture 3" descr="cid:image002.jpg@01CD5B5F.D3AC7D50"/>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4" name="Rectangle 1"/>
          <p:cNvSpPr>
            <a:spLocks noChangeArrowheads="1"/>
          </p:cNvSpPr>
          <p:nvPr/>
        </p:nvSpPr>
        <p:spPr bwMode="auto">
          <a:xfrm>
            <a:off x="1619250" y="5445125"/>
            <a:ext cx="405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 Example: </a:t>
            </a:r>
            <a:r>
              <a:rPr lang="en-US" altLang="en-US" sz="1800">
                <a:hlinkClick r:id="rId5"/>
              </a:rPr>
              <a:t>http://html5demos.com/geo</a:t>
            </a:r>
            <a:endParaRPr lang="en-US"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5"/>
          <p:cNvSpPr>
            <a:spLocks noGrp="1"/>
          </p:cNvSpPr>
          <p:nvPr>
            <p:ph type="title"/>
          </p:nvPr>
        </p:nvSpPr>
        <p:spPr/>
        <p:txBody>
          <a:bodyPr/>
          <a:lstStyle/>
          <a:p>
            <a:r>
              <a:rPr lang="en-US" altLang="en-US" smtClean="0"/>
              <a:t>What is CSS / CSS3?</a:t>
            </a:r>
          </a:p>
        </p:txBody>
      </p:sp>
      <p:sp>
        <p:nvSpPr>
          <p:cNvPr id="7" name="Content Placeholder 6"/>
          <p:cNvSpPr>
            <a:spLocks noGrp="1"/>
          </p:cNvSpPr>
          <p:nvPr>
            <p:ph idx="1"/>
          </p:nvPr>
        </p:nvSpPr>
        <p:spPr>
          <a:xfrm>
            <a:off x="249238" y="1281113"/>
            <a:ext cx="3960812" cy="5373687"/>
          </a:xfrm>
        </p:spPr>
        <p:txBody>
          <a:bodyPr/>
          <a:lstStyle/>
          <a:p>
            <a:r>
              <a:rPr lang="en-US" altLang="en-US" sz="1800" smtClean="0"/>
              <a:t>Cascading Style Sheets (CSS) is a style sheet language used for describing the presentation semantics (the look and formatting) of a document written in a markup language. Its most common application is to style web pages written in HTMLand XHTML.</a:t>
            </a:r>
          </a:p>
          <a:p>
            <a:endParaRPr lang="en-US" altLang="en-US" sz="1800" smtClean="0"/>
          </a:p>
          <a:p>
            <a:r>
              <a:rPr lang="en-US" altLang="en-US" sz="1800" smtClean="0"/>
              <a:t>CSS is used to control the style and layout of Web pages.</a:t>
            </a:r>
          </a:p>
          <a:p>
            <a:r>
              <a:rPr lang="en-US" altLang="en-US" sz="1800" smtClean="0"/>
              <a:t>CSS3 is the latest standard for CSS.</a:t>
            </a:r>
          </a:p>
          <a:p>
            <a:pPr>
              <a:buFontTx/>
              <a:buNone/>
            </a:pPr>
            <a:r>
              <a:rPr lang="en-US" altLang="en-US" sz="1800" smtClean="0"/>
              <a:t> </a:t>
            </a:r>
          </a:p>
        </p:txBody>
      </p:sp>
      <p:pic>
        <p:nvPicPr>
          <p:cNvPr id="8" name="Picture 2" descr="C:\Users\Tommy\Desktop\ScreenHunter_11 Aug. 27 21.4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9588" y="2636838"/>
            <a:ext cx="4457700"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5" descr="cid:image002.jpg@01CD5B5F.D3AC7D50"/>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 calcmode="lin" valueType="num">
                                      <p:cBhvr additive="base">
                                        <p:cTn id="25"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5"/>
          <p:cNvSpPr>
            <a:spLocks noGrp="1"/>
          </p:cNvSpPr>
          <p:nvPr>
            <p:ph type="title"/>
          </p:nvPr>
        </p:nvSpPr>
        <p:spPr/>
        <p:txBody>
          <a:bodyPr/>
          <a:lstStyle/>
          <a:p>
            <a:r>
              <a:rPr lang="en-US" altLang="en-US" smtClean="0"/>
              <a:t>What’s new in CSS3?</a:t>
            </a:r>
            <a:br>
              <a:rPr lang="en-US" altLang="en-US" smtClean="0"/>
            </a:br>
            <a:r>
              <a:rPr lang="en-US" altLang="en-US" smtClean="0"/>
              <a:t>Just some of the many..</a:t>
            </a:r>
          </a:p>
        </p:txBody>
      </p:sp>
      <p:sp>
        <p:nvSpPr>
          <p:cNvPr id="7" name="Content Placeholder 6"/>
          <p:cNvSpPr>
            <a:spLocks noGrp="1"/>
          </p:cNvSpPr>
          <p:nvPr>
            <p:ph idx="1"/>
          </p:nvPr>
        </p:nvSpPr>
        <p:spPr>
          <a:xfrm>
            <a:off x="1547813" y="1662113"/>
            <a:ext cx="5554662" cy="4525962"/>
          </a:xfrm>
        </p:spPr>
        <p:txBody>
          <a:bodyPr/>
          <a:lstStyle/>
          <a:p>
            <a:pPr>
              <a:defRPr/>
            </a:pPr>
            <a:r>
              <a:rPr lang="en-US" altLang="en-US" sz="2400" dirty="0" smtClean="0"/>
              <a:t>Border Radius &amp; Border Images</a:t>
            </a:r>
          </a:p>
          <a:p>
            <a:pPr>
              <a:defRPr/>
            </a:pPr>
            <a:r>
              <a:rPr lang="en-US" altLang="en-US" sz="2400" dirty="0" smtClean="0"/>
              <a:t>Box Shadow</a:t>
            </a:r>
          </a:p>
          <a:p>
            <a:pPr>
              <a:defRPr/>
            </a:pPr>
            <a:r>
              <a:rPr lang="en-US" altLang="en-US" sz="2400" dirty="0" smtClean="0"/>
              <a:t>Multi-Column Layout</a:t>
            </a:r>
          </a:p>
          <a:p>
            <a:pPr>
              <a:defRPr/>
            </a:pPr>
            <a:r>
              <a:rPr lang="en-US" altLang="en-US" sz="2400" dirty="0" smtClean="0"/>
              <a:t>Multiple Backgrounds</a:t>
            </a:r>
          </a:p>
          <a:p>
            <a:pPr>
              <a:defRPr/>
            </a:pPr>
            <a:r>
              <a:rPr lang="en-US" altLang="en-US" sz="2400" dirty="0" smtClean="0"/>
              <a:t>@font-face</a:t>
            </a:r>
          </a:p>
          <a:p>
            <a:pPr>
              <a:defRPr/>
            </a:pPr>
            <a:r>
              <a:rPr lang="en-US" altLang="en-US" sz="2400" dirty="0" smtClean="0"/>
              <a:t> Opacity</a:t>
            </a:r>
          </a:p>
          <a:p>
            <a:pPr>
              <a:defRPr/>
            </a:pPr>
            <a:r>
              <a:rPr lang="en-US" altLang="en-US" sz="2400" dirty="0" smtClean="0"/>
              <a:t>Transformations</a:t>
            </a:r>
          </a:p>
          <a:p>
            <a:pPr>
              <a:defRPr/>
            </a:pPr>
            <a:r>
              <a:rPr lang="en-US" altLang="en-US" sz="2400" dirty="0" smtClean="0"/>
              <a:t>Transitions, animations</a:t>
            </a:r>
          </a:p>
          <a:p>
            <a:pPr marL="0" indent="0">
              <a:buFontTx/>
              <a:buNone/>
              <a:defRPr/>
            </a:pPr>
            <a:r>
              <a:rPr lang="en-US" altLang="en-US" sz="2000" dirty="0" smtClean="0"/>
              <a:t>Check out w3schools.com for more</a:t>
            </a:r>
          </a:p>
          <a:p>
            <a:pPr marL="0" indent="0">
              <a:buFontTx/>
              <a:buNone/>
              <a:defRPr/>
            </a:pPr>
            <a:r>
              <a:rPr lang="en-US" altLang="en-US" sz="2000" dirty="0" smtClean="0"/>
              <a:t>We will cover more in the weeks to come.</a:t>
            </a:r>
          </a:p>
        </p:txBody>
      </p:sp>
      <p:pic>
        <p:nvPicPr>
          <p:cNvPr id="36868" name="Picture 4" descr="cid:image002.jpg@01CD5B5F.D3AC7D50"/>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 calcmode="lin" valueType="num">
                                      <p:cBhvr additive="base">
                                        <p:cTn id="3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xEl>
                                              <p:pRg st="6" end="6"/>
                                            </p:txEl>
                                          </p:spTgt>
                                        </p:tgtEl>
                                        <p:attrNameLst>
                                          <p:attrName>style.visibility</p:attrName>
                                        </p:attrNameLst>
                                      </p:cBhvr>
                                      <p:to>
                                        <p:strVal val="visible"/>
                                      </p:to>
                                    </p:set>
                                    <p:anim calcmode="lin" valueType="num">
                                      <p:cBhvr additive="base">
                                        <p:cTn id="4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 calcmode="lin" valueType="num">
                                      <p:cBhvr additive="base">
                                        <p:cTn id="4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7">
                                            <p:txEl>
                                              <p:pRg st="8" end="8"/>
                                            </p:txEl>
                                          </p:spTgt>
                                        </p:tgtEl>
                                        <p:attrNameLst>
                                          <p:attrName>style.visibility</p:attrName>
                                        </p:attrNameLst>
                                      </p:cBhvr>
                                      <p:to>
                                        <p:strVal val="visible"/>
                                      </p:to>
                                    </p:set>
                                    <p:anim calcmode="lin" valueType="num">
                                      <p:cBhvr additive="base">
                                        <p:cTn id="5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7">
                                            <p:txEl>
                                              <p:pRg st="9" end="9"/>
                                            </p:txEl>
                                          </p:spTgt>
                                        </p:tgtEl>
                                        <p:attrNameLst>
                                          <p:attrName>style.visibility</p:attrName>
                                        </p:attrNameLst>
                                      </p:cBhvr>
                                      <p:to>
                                        <p:strVal val="visible"/>
                                      </p:to>
                                    </p:set>
                                    <p:anim calcmode="lin" valueType="num">
                                      <p:cBhvr additive="base">
                                        <p:cTn id="61"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itle 5"/>
          <p:cNvSpPr>
            <a:spLocks noGrp="1"/>
          </p:cNvSpPr>
          <p:nvPr>
            <p:ph type="title"/>
          </p:nvPr>
        </p:nvSpPr>
        <p:spPr/>
        <p:txBody>
          <a:bodyPr/>
          <a:lstStyle/>
          <a:p>
            <a:r>
              <a:rPr lang="en-US" altLang="en-US" smtClean="0"/>
              <a:t>Compability Check</a:t>
            </a:r>
          </a:p>
        </p:txBody>
      </p:sp>
      <p:sp>
        <p:nvSpPr>
          <p:cNvPr id="38916" name="Content Placeholder 6"/>
          <p:cNvSpPr>
            <a:spLocks noGrp="1"/>
          </p:cNvSpPr>
          <p:nvPr>
            <p:ph idx="1"/>
          </p:nvPr>
        </p:nvSpPr>
        <p:spPr>
          <a:xfrm>
            <a:off x="869950" y="1398588"/>
            <a:ext cx="7848600" cy="2260600"/>
          </a:xfrm>
        </p:spPr>
        <p:txBody>
          <a:bodyPr/>
          <a:lstStyle/>
          <a:p>
            <a:r>
              <a:rPr lang="en-US" altLang="en-US" sz="2400" i="1" smtClean="0"/>
              <a:t>As HTML5/CSS3 are in development, we need to check if lower browser support certain new HTML5 tags/CSS3 properties/etc.</a:t>
            </a:r>
          </a:p>
          <a:p>
            <a:r>
              <a:rPr lang="en-US" altLang="en-US" sz="2400" i="1" smtClean="0"/>
              <a:t>Compatibility tables for support of HTML5, CSS3, SVG and more in desktop and mobile browsers. This website will help you determine if the feature you use is widely compatible or not</a:t>
            </a:r>
          </a:p>
          <a:p>
            <a:pPr lvl="1"/>
            <a:r>
              <a:rPr lang="en-US" altLang="en-US" sz="2000" smtClean="0">
                <a:hlinkClick r:id="rId3"/>
              </a:rPr>
              <a:t>http://caniuse.com/</a:t>
            </a:r>
            <a:endParaRPr lang="en-US" altLang="en-US" sz="2000" smtClean="0"/>
          </a:p>
        </p:txBody>
      </p:sp>
      <p:pic>
        <p:nvPicPr>
          <p:cNvPr id="3891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4559300"/>
            <a:ext cx="6142038"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457200" y="4763"/>
            <a:ext cx="8229600" cy="1143000"/>
          </a:xfrm>
        </p:spPr>
        <p:txBody>
          <a:bodyPr/>
          <a:lstStyle/>
          <a:p>
            <a:r>
              <a:rPr lang="en-US" altLang="en-US" smtClean="0"/>
              <a:t>Compability Check</a:t>
            </a:r>
          </a:p>
        </p:txBody>
      </p:sp>
      <p:sp>
        <p:nvSpPr>
          <p:cNvPr id="3" name="Content Placeholder 2"/>
          <p:cNvSpPr>
            <a:spLocks noGrp="1"/>
          </p:cNvSpPr>
          <p:nvPr>
            <p:ph idx="1"/>
          </p:nvPr>
        </p:nvSpPr>
        <p:spPr>
          <a:xfrm>
            <a:off x="457200" y="981075"/>
            <a:ext cx="8229600" cy="4525963"/>
          </a:xfrm>
        </p:spPr>
        <p:txBody>
          <a:bodyPr/>
          <a:lstStyle/>
          <a:p>
            <a:pPr marL="0" indent="0">
              <a:buFontTx/>
              <a:buNone/>
              <a:defRPr/>
            </a:pPr>
            <a:r>
              <a:rPr lang="en-US" dirty="0" smtClean="0"/>
              <a:t>For example, in w3schools : </a:t>
            </a:r>
          </a:p>
          <a:p>
            <a:pPr>
              <a:defRPr/>
            </a:pPr>
            <a:r>
              <a:rPr lang="en-US" sz="1800" dirty="0">
                <a:hlinkClick r:id="rId3"/>
              </a:rPr>
              <a:t>http://</a:t>
            </a:r>
            <a:r>
              <a:rPr lang="en-US" sz="1800" dirty="0" smtClean="0">
                <a:hlinkClick r:id="rId3"/>
              </a:rPr>
              <a:t>www.w3schools.com/cssref/css3_pr_background-size.asp</a:t>
            </a:r>
            <a:endParaRPr lang="en-US" sz="1800" dirty="0" smtClean="0"/>
          </a:p>
          <a:p>
            <a:pPr>
              <a:defRPr/>
            </a:pPr>
            <a:endParaRPr lang="en-US" sz="2000" dirty="0"/>
          </a:p>
          <a:p>
            <a:pPr>
              <a:defRPr/>
            </a:pPr>
            <a:endParaRPr lang="en-US" sz="2000" dirty="0" smtClean="0"/>
          </a:p>
          <a:p>
            <a:pPr>
              <a:defRPr/>
            </a:pPr>
            <a:endParaRPr lang="en-US" sz="2000" dirty="0"/>
          </a:p>
          <a:p>
            <a:pPr>
              <a:defRPr/>
            </a:pPr>
            <a:endParaRPr lang="en-US" sz="2000" dirty="0" smtClean="0"/>
          </a:p>
          <a:p>
            <a:pPr>
              <a:defRPr/>
            </a:pPr>
            <a:endParaRPr lang="en-US" sz="2000" dirty="0" smtClean="0"/>
          </a:p>
          <a:p>
            <a:pPr>
              <a:defRPr/>
            </a:pPr>
            <a:endParaRPr lang="en-US" sz="1800" dirty="0" smtClean="0"/>
          </a:p>
          <a:p>
            <a:pPr>
              <a:defRPr/>
            </a:pPr>
            <a:r>
              <a:rPr lang="en-US" sz="1800" dirty="0" smtClean="0"/>
              <a:t>Under Brower support section for </a:t>
            </a:r>
            <a:r>
              <a:rPr lang="en-US" sz="1800" i="1" dirty="0" smtClean="0"/>
              <a:t>the </a:t>
            </a:r>
            <a:r>
              <a:rPr lang="en-US" sz="1800" i="1" dirty="0" smtClean="0">
                <a:solidFill>
                  <a:srgbClr val="FF0000"/>
                </a:solidFill>
              </a:rPr>
              <a:t>background-size CSS3 property </a:t>
            </a:r>
            <a:r>
              <a:rPr lang="en-US" sz="1800" dirty="0" smtClean="0"/>
              <a:t>– you can see that some earlier browser versions need </a:t>
            </a:r>
            <a:r>
              <a:rPr lang="en-US" sz="1800" dirty="0" smtClean="0"/>
              <a:t>prefixes to be added to the CSS code </a:t>
            </a:r>
            <a:r>
              <a:rPr lang="en-US" sz="1800" dirty="0" smtClean="0"/>
              <a:t>in order for the CSS to work.</a:t>
            </a:r>
          </a:p>
          <a:p>
            <a:pPr marL="0" indent="0">
              <a:buFontTx/>
              <a:buNone/>
              <a:defRPr/>
            </a:pPr>
            <a:r>
              <a:rPr lang="en-US" sz="2000" dirty="0" smtClean="0"/>
              <a:t> </a:t>
            </a:r>
            <a:endParaRPr lang="en-US" sz="2000" dirty="0"/>
          </a:p>
        </p:txBody>
      </p:sp>
      <p:pic>
        <p:nvPicPr>
          <p:cNvPr id="40964"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989138"/>
            <a:ext cx="4464050" cy="192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5" name="Picture 5"/>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27088" y="4922838"/>
            <a:ext cx="7129462" cy="193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5292725" y="1860550"/>
            <a:ext cx="3394075" cy="2184400"/>
          </a:xfrm>
          <a:prstGeom prst="rect">
            <a:avLst/>
          </a:prstGeom>
          <a:noFill/>
        </p:spPr>
        <p:txBody>
          <a:bodyPr>
            <a:spAutoFit/>
          </a:bodyPr>
          <a:lstStyle/>
          <a:p>
            <a:pPr eaLnBrk="1" hangingPunct="1">
              <a:defRPr/>
            </a:pPr>
            <a:r>
              <a:rPr lang="en-US" dirty="0"/>
              <a:t>For example, I would like to use the CSS3 property </a:t>
            </a:r>
            <a:r>
              <a:rPr lang="en-US" i="1" dirty="0">
                <a:solidFill>
                  <a:schemeClr val="tx2">
                    <a:lumMod val="50000"/>
                    <a:lumOff val="50000"/>
                  </a:schemeClr>
                </a:solidFill>
              </a:rPr>
              <a:t>background-size. </a:t>
            </a:r>
          </a:p>
          <a:p>
            <a:pPr eaLnBrk="1" hangingPunct="1">
              <a:defRPr/>
            </a:pPr>
            <a:r>
              <a:rPr lang="en-US" dirty="0"/>
              <a:t>If the user is using Chrome 1.0 or earlier, I will need to type  </a:t>
            </a:r>
          </a:p>
          <a:p>
            <a:pPr eaLnBrk="1" hangingPunct="1">
              <a:defRPr/>
            </a:pPr>
            <a:r>
              <a:rPr lang="en-US" i="1" dirty="0" err="1">
                <a:solidFill>
                  <a:schemeClr val="tx2">
                    <a:lumMod val="50000"/>
                    <a:lumOff val="50000"/>
                  </a:schemeClr>
                </a:solidFill>
              </a:rPr>
              <a:t>webkit</a:t>
            </a:r>
            <a:r>
              <a:rPr lang="en-US" i="1" dirty="0">
                <a:solidFill>
                  <a:schemeClr val="tx2">
                    <a:lumMod val="50000"/>
                    <a:lumOff val="50000"/>
                  </a:schemeClr>
                </a:solidFill>
              </a:rPr>
              <a:t>-background-size</a:t>
            </a:r>
            <a:r>
              <a:rPr lang="en-US" sz="2800" dirty="0"/>
              <a:t>..</a:t>
            </a:r>
          </a:p>
          <a:p>
            <a:pPr eaLnBrk="1" hangingPunct="1">
              <a:defRPr/>
            </a:pPr>
            <a:r>
              <a:rPr lang="en-US" dirty="0"/>
              <a:t>in order for it to work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5"/>
          <p:cNvSpPr>
            <a:spLocks noGrp="1"/>
          </p:cNvSpPr>
          <p:nvPr>
            <p:ph type="title"/>
          </p:nvPr>
        </p:nvSpPr>
        <p:spPr>
          <a:xfrm>
            <a:off x="684213" y="955675"/>
            <a:ext cx="8229600" cy="1143000"/>
          </a:xfrm>
        </p:spPr>
        <p:txBody>
          <a:bodyPr/>
          <a:lstStyle/>
          <a:p>
            <a:pPr algn="l"/>
            <a:r>
              <a:rPr lang="en-US" altLang="en-US" sz="2800" smtClean="0"/>
              <a:t>What can you achieve with </a:t>
            </a:r>
            <a:r>
              <a:rPr lang="en-US" altLang="en-US" sz="1400" smtClean="0"/>
              <a:t>HTML5 + CSS3 + Scripting?</a:t>
            </a:r>
            <a:br>
              <a:rPr lang="en-US" altLang="en-US" sz="1400" smtClean="0"/>
            </a:br>
            <a:r>
              <a:rPr lang="en-US" altLang="en-US" smtClean="0"/>
              <a:t>Demo Sites:</a:t>
            </a:r>
            <a:br>
              <a:rPr lang="en-US" altLang="en-US" smtClean="0"/>
            </a:br>
            <a:endParaRPr lang="en-US" altLang="en-US" smtClean="0"/>
          </a:p>
        </p:txBody>
      </p:sp>
      <p:sp>
        <p:nvSpPr>
          <p:cNvPr id="43011" name="Content Placeholder 6"/>
          <p:cNvSpPr>
            <a:spLocks noGrp="1"/>
          </p:cNvSpPr>
          <p:nvPr>
            <p:ph idx="1"/>
          </p:nvPr>
        </p:nvSpPr>
        <p:spPr>
          <a:xfrm>
            <a:off x="323850" y="2068513"/>
            <a:ext cx="8704263" cy="1655762"/>
          </a:xfrm>
        </p:spPr>
        <p:txBody>
          <a:bodyPr/>
          <a:lstStyle/>
          <a:p>
            <a:pPr eaLnBrk="1" hangingPunct="1"/>
            <a:r>
              <a:rPr lang="en-US" altLang="en-US" sz="1800" dirty="0"/>
              <a:t>https://www.mercedes-amg.com/en.html </a:t>
            </a:r>
            <a:r>
              <a:rPr lang="en-US" altLang="en-US" sz="1800" dirty="0" smtClean="0"/>
              <a:t> Interactive </a:t>
            </a:r>
            <a:r>
              <a:rPr lang="en-US" altLang="en-US" sz="1800" dirty="0" smtClean="0"/>
              <a:t>Website</a:t>
            </a:r>
          </a:p>
          <a:p>
            <a:pPr eaLnBrk="1" hangingPunct="1"/>
            <a:r>
              <a:rPr lang="en-US" altLang="en-US" sz="1800" dirty="0" smtClean="0">
                <a:hlinkClick r:id="rId3"/>
              </a:rPr>
              <a:t>http://html5-showcase.com/2014/02/flappy-bird/</a:t>
            </a:r>
            <a:r>
              <a:rPr lang="en-US" altLang="en-US" sz="1800" dirty="0" smtClean="0"/>
              <a:t> - Game</a:t>
            </a:r>
          </a:p>
          <a:p>
            <a:pPr eaLnBrk="1" hangingPunct="1"/>
            <a:r>
              <a:rPr lang="en-US" altLang="en-US" sz="1800" dirty="0"/>
              <a:t>http://www.designfever.com/ - </a:t>
            </a:r>
            <a:r>
              <a:rPr lang="en-US" altLang="en-US" sz="1800" dirty="0" smtClean="0"/>
              <a:t>interactive Website</a:t>
            </a:r>
          </a:p>
          <a:p>
            <a:pPr eaLnBrk="1" hangingPunct="1"/>
            <a:endParaRPr lang="en-US" altLang="en-US" sz="1800" dirty="0" smtClean="0"/>
          </a:p>
          <a:p>
            <a:pPr eaLnBrk="1" hangingPunct="1"/>
            <a:endParaRPr lang="en-US" altLang="en-US" sz="1800" dirty="0" smtClean="0"/>
          </a:p>
          <a:p>
            <a:pPr eaLnBrk="1" hangingPunct="1"/>
            <a:endParaRPr lang="en-US" altLang="en-US" sz="1800" dirty="0" smtClean="0"/>
          </a:p>
          <a:p>
            <a:pPr eaLnBrk="1" hangingPunct="1"/>
            <a:endParaRPr lang="en-US" altLang="en-US" sz="1800" dirty="0" smtClean="0"/>
          </a:p>
          <a:p>
            <a:pPr eaLnBrk="1" hangingPunct="1"/>
            <a:endParaRPr lang="en-US" altLang="en-US" sz="1800" dirty="0" smtClean="0"/>
          </a:p>
          <a:p>
            <a:pPr eaLnBrk="1" hangingPunct="1"/>
            <a:endParaRPr lang="en-US" altLang="en-US" sz="1800" dirty="0" smtClean="0"/>
          </a:p>
          <a:p>
            <a:pPr eaLnBrk="1" hangingPunct="1"/>
            <a:endParaRPr lang="en-US" altLang="en-US" sz="1800" dirty="0" smtClean="0"/>
          </a:p>
          <a:p>
            <a:endParaRPr lang="en-US" altLang="en-US" sz="1800" dirty="0" smtClean="0"/>
          </a:p>
        </p:txBody>
      </p:sp>
      <p:pic>
        <p:nvPicPr>
          <p:cNvPr id="43012" name="Picture 4" descr="cid:image002.jpg@01CD5B5F.D3AC7D50"/>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7610475" y="0"/>
            <a:ext cx="1533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Rectangle 6"/>
          <p:cNvSpPr>
            <a:spLocks noGrp="1" noChangeArrowheads="1"/>
          </p:cNvSpPr>
          <p:nvPr>
            <p:ph type="sldNum" sz="quarter" idx="12"/>
          </p:nvPr>
        </p:nvSpPr>
        <p:spPr>
          <a:xfrm>
            <a:off x="6757988" y="6543675"/>
            <a:ext cx="2365375" cy="3143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800" smtClean="0"/>
              <a:t>Copyright© 2012 NYP, Singapore.</a:t>
            </a:r>
          </a:p>
          <a:p>
            <a:pPr>
              <a:spcBef>
                <a:spcPct val="0"/>
              </a:spcBef>
              <a:buFontTx/>
              <a:buNone/>
            </a:pPr>
            <a:r>
              <a:rPr lang="en-US" altLang="en-US" sz="800" smtClean="0"/>
              <a:t> All rights reserved. </a:t>
            </a:r>
          </a:p>
        </p:txBody>
      </p:sp>
      <p:pic>
        <p:nvPicPr>
          <p:cNvPr id="43014" name="Picture 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39750" y="3724275"/>
            <a:ext cx="4648200"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5406</TotalTime>
  <Words>1360</Words>
  <Application>Microsoft Office PowerPoint</Application>
  <PresentationFormat>On-screen Show (4:3)</PresentationFormat>
  <Paragraphs>213</Paragraphs>
  <Slides>19</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SimSun</vt:lpstr>
      <vt:lpstr>Arial</vt:lpstr>
      <vt:lpstr>Calibri</vt:lpstr>
      <vt:lpstr>Times New Roman</vt:lpstr>
      <vt:lpstr>Diseño predeterminado</vt:lpstr>
      <vt:lpstr>PowerPoint Presentation</vt:lpstr>
      <vt:lpstr>Topics</vt:lpstr>
      <vt:lpstr>What is Rich Media?</vt:lpstr>
      <vt:lpstr>What is Interactive Media?  </vt:lpstr>
      <vt:lpstr>Why Rich Interactive Media?</vt:lpstr>
      <vt:lpstr>What is Rich Internet Application?</vt:lpstr>
      <vt:lpstr>Evolution of HTML (5)</vt:lpstr>
      <vt:lpstr>Introducing HTML5  </vt:lpstr>
      <vt:lpstr>Why HTML5 ?</vt:lpstr>
      <vt:lpstr>Why HTML5 ?</vt:lpstr>
      <vt:lpstr>Why HTML5 ?</vt:lpstr>
      <vt:lpstr>Other Features of HTML5</vt:lpstr>
      <vt:lpstr>Other Features of HTML5</vt:lpstr>
      <vt:lpstr>Other Features of HTML5</vt:lpstr>
      <vt:lpstr>What is CSS / CSS3?</vt:lpstr>
      <vt:lpstr>What’s new in CSS3? Just some of the many..</vt:lpstr>
      <vt:lpstr>Compability Check</vt:lpstr>
      <vt:lpstr>Compability Check</vt:lpstr>
      <vt:lpstr>What can you achieve with HTML5 + CSS3 + Scripting? Demo Sites: </vt:lpstr>
    </vt:vector>
  </TitlesOfParts>
  <Company>Toshiba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tommy low</cp:lastModifiedBy>
  <cp:revision>745</cp:revision>
  <dcterms:created xsi:type="dcterms:W3CDTF">2010-05-23T14:28:12Z</dcterms:created>
  <dcterms:modified xsi:type="dcterms:W3CDTF">2018-09-28T06:40:18Z</dcterms:modified>
</cp:coreProperties>
</file>