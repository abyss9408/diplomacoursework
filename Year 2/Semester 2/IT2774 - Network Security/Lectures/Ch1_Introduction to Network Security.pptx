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4" r:id="rId14"/>
    <p:sldId id="271" r:id="rId15"/>
    <p:sldId id="266" r:id="rId16"/>
    <p:sldId id="267" r:id="rId17"/>
    <p:sldId id="270" r:id="rId18"/>
    <p:sldId id="273" r:id="rId19"/>
    <p:sldId id="272" r:id="rId20"/>
    <p:sldId id="275" r:id="rId21"/>
    <p:sldId id="277" r:id="rId22"/>
    <p:sldId id="278" r:id="rId23"/>
    <p:sldId id="279" r:id="rId24"/>
    <p:sldId id="280" r:id="rId25"/>
    <p:sldId id="284" r:id="rId26"/>
    <p:sldId id="285" r:id="rId27"/>
    <p:sldId id="276" r:id="rId28"/>
    <p:sldId id="281" r:id="rId29"/>
    <p:sldId id="282" r:id="rId30"/>
    <p:sldId id="283"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4578" autoAdjust="0"/>
  </p:normalViewPr>
  <p:slideViewPr>
    <p:cSldViewPr snapToGrid="0">
      <p:cViewPr varScale="1">
        <p:scale>
          <a:sx n="90" d="100"/>
          <a:sy n="90" d="100"/>
        </p:scale>
        <p:origin x="6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723E8F-29C4-43D0-BA83-09C8C02EDD8F}" type="datetimeFigureOut">
              <a:rPr lang="en-SG" smtClean="0"/>
              <a:t>16/10/2017</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BAA5A-41B1-4906-9649-A2C41765365E}" type="slidenum">
              <a:rPr lang="en-SG" smtClean="0"/>
              <a:t>‹#›</a:t>
            </a:fld>
            <a:endParaRPr lang="en-SG"/>
          </a:p>
        </p:txBody>
      </p:sp>
    </p:spTree>
    <p:extLst>
      <p:ext uri="{BB962C8B-B14F-4D97-AF65-F5344CB8AC3E}">
        <p14:creationId xmlns:p14="http://schemas.microsoft.com/office/powerpoint/2010/main" val="3289556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webopedia.com/TERM/e/executable_file.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en.wikipedia.org/wiki/Social_engineering_%28computer_security%29"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The article describes something called Traps</a:t>
            </a:r>
            <a:r>
              <a:rPr lang="en-SG" baseline="0" dirty="0" smtClean="0"/>
              <a:t> which replaces Antivirus.</a:t>
            </a:r>
          </a:p>
          <a:p>
            <a:r>
              <a:rPr lang="en-SG" baseline="0" dirty="0" smtClean="0"/>
              <a:t>So Traps uses </a:t>
            </a:r>
            <a:r>
              <a:rPr lang="en-SG" baseline="0" dirty="0" err="1" smtClean="0"/>
              <a:t>Mutli</a:t>
            </a:r>
            <a:r>
              <a:rPr lang="en-SG" baseline="0" dirty="0" smtClean="0"/>
              <a:t> method malware prevention techniques to prevent known and unknown threats before they compromise the endpoint.</a:t>
            </a:r>
          </a:p>
          <a:p>
            <a:r>
              <a:rPr lang="en-SG" baseline="0" dirty="0" smtClean="0"/>
              <a:t>Multi-Method Malware protection is done with Statics Analysis via Machine learning!!- which can examine a file’s characteristics and behavioural analysis in a sec and determine if it is malicious or not.</a:t>
            </a:r>
          </a:p>
          <a:p>
            <a:r>
              <a:rPr lang="en-SG" baseline="0" dirty="0" smtClean="0"/>
              <a:t>Wildfire inspection Analysis – cloud based analysis to compare unknown threats with other known threats to see pattern.</a:t>
            </a:r>
          </a:p>
          <a:p>
            <a:r>
              <a:rPr lang="en-SG" baseline="0" dirty="0" smtClean="0"/>
              <a:t>Policy based restrictions – cannot exe from outlook temp or USB Drive. Whitelisting and black listing.</a:t>
            </a:r>
          </a:p>
          <a:p>
            <a:endParaRPr lang="en-SG" baseline="0" dirty="0" smtClean="0"/>
          </a:p>
        </p:txBody>
      </p:sp>
      <p:sp>
        <p:nvSpPr>
          <p:cNvPr id="4" name="Slide Number Placeholder 3"/>
          <p:cNvSpPr>
            <a:spLocks noGrp="1"/>
          </p:cNvSpPr>
          <p:nvPr>
            <p:ph type="sldNum" sz="quarter" idx="10"/>
          </p:nvPr>
        </p:nvSpPr>
        <p:spPr/>
        <p:txBody>
          <a:bodyPr/>
          <a:lstStyle/>
          <a:p>
            <a:fld id="{EEFBAA5A-41B1-4906-9649-A2C41765365E}" type="slidenum">
              <a:rPr lang="en-SG" smtClean="0"/>
              <a:t>5</a:t>
            </a:fld>
            <a:endParaRPr lang="en-SG"/>
          </a:p>
        </p:txBody>
      </p:sp>
    </p:spTree>
    <p:extLst>
      <p:ext uri="{BB962C8B-B14F-4D97-AF65-F5344CB8AC3E}">
        <p14:creationId xmlns:p14="http://schemas.microsoft.com/office/powerpoint/2010/main" val="3160009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EEFBAA5A-41B1-4906-9649-A2C41765365E}" type="slidenum">
              <a:rPr lang="en-SG" smtClean="0"/>
              <a:t>7</a:t>
            </a:fld>
            <a:endParaRPr lang="en-SG"/>
          </a:p>
        </p:txBody>
      </p:sp>
    </p:spTree>
    <p:extLst>
      <p:ext uri="{BB962C8B-B14F-4D97-AF65-F5344CB8AC3E}">
        <p14:creationId xmlns:p14="http://schemas.microsoft.com/office/powerpoint/2010/main" val="975199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http://www.telegraph.co.uk/technology/5012057/Top-10-worst-computer-viruses-of-all-time.html</a:t>
            </a:r>
          </a:p>
          <a:p>
            <a:pPr fontAlgn="base"/>
            <a:r>
              <a:rPr lang="en-SG" sz="1200" b="0" i="0" kern="1200" dirty="0" smtClean="0">
                <a:solidFill>
                  <a:schemeClr val="tx1"/>
                </a:solidFill>
                <a:effectLst/>
                <a:latin typeface="+mn-lt"/>
                <a:ea typeface="+mn-ea"/>
                <a:cs typeface="+mn-cs"/>
              </a:rPr>
              <a:t>Viruses</a:t>
            </a:r>
          </a:p>
          <a:p>
            <a:pPr fontAlgn="base"/>
            <a:r>
              <a:rPr lang="en-SG" sz="1200" b="0" i="0" kern="1200" dirty="0" smtClean="0">
                <a:solidFill>
                  <a:schemeClr val="tx1"/>
                </a:solidFill>
                <a:effectLst/>
                <a:latin typeface="+mn-lt"/>
                <a:ea typeface="+mn-ea"/>
                <a:cs typeface="+mn-cs"/>
              </a:rPr>
              <a:t>A computer virus is a type of malware that propagates by inserting a copy of itself into and becoming part of another program. It spreads from one computer to another, leaving infections as it travels. Viruses can range in severity from causing mildly annoying effects to damaging data or software and causing denial-of-service (</a:t>
            </a:r>
            <a:r>
              <a:rPr lang="en-SG" sz="1200" b="0" i="0" kern="1200" dirty="0" err="1" smtClean="0">
                <a:solidFill>
                  <a:schemeClr val="tx1"/>
                </a:solidFill>
                <a:effectLst/>
                <a:latin typeface="+mn-lt"/>
                <a:ea typeface="+mn-ea"/>
                <a:cs typeface="+mn-cs"/>
              </a:rPr>
              <a:t>DoS</a:t>
            </a:r>
            <a:r>
              <a:rPr lang="en-SG" sz="1200" b="0" i="0" kern="1200" dirty="0" smtClean="0">
                <a:solidFill>
                  <a:schemeClr val="tx1"/>
                </a:solidFill>
                <a:effectLst/>
                <a:latin typeface="+mn-lt"/>
                <a:ea typeface="+mn-ea"/>
                <a:cs typeface="+mn-cs"/>
              </a:rPr>
              <a:t>) conditions. Almost all viruses are attached to an </a:t>
            </a:r>
            <a:r>
              <a:rPr lang="en-SG" sz="1200" b="0" i="0" u="none" strike="noStrike" kern="1200" dirty="0" smtClean="0">
                <a:solidFill>
                  <a:schemeClr val="tx1"/>
                </a:solidFill>
                <a:effectLst/>
                <a:latin typeface="+mn-lt"/>
                <a:ea typeface="+mn-ea"/>
                <a:cs typeface="+mn-cs"/>
                <a:hlinkClick r:id="rId3"/>
              </a:rPr>
              <a:t>executable file</a:t>
            </a:r>
            <a:r>
              <a:rPr lang="en-SG" sz="1200" b="0" i="0" kern="1200" dirty="0" smtClean="0">
                <a:solidFill>
                  <a:schemeClr val="tx1"/>
                </a:solidFill>
                <a:effectLst/>
                <a:latin typeface="+mn-lt"/>
                <a:ea typeface="+mn-ea"/>
                <a:cs typeface="+mn-cs"/>
              </a:rPr>
              <a:t>, which means the virus may exist on a system but will not be active or able to spread until a user runs or opens the malicious host file or program. When the host code is executed, the viral code is executed as well. Normally, the host program keeps functioning after it is infected by the virus. However, some viruses overwrite other programs with copies of themselves, which destroys the host program altogether. Viruses spread when the software or document they are attached to is transferred from one computer to another using the network, a disk, file sharing, or infected e-mail attachments.</a:t>
            </a:r>
          </a:p>
          <a:p>
            <a:pPr fontAlgn="base"/>
            <a:r>
              <a:rPr lang="en-SG" dirty="0" smtClean="0"/>
              <a:t/>
            </a:r>
            <a:br>
              <a:rPr lang="en-SG" dirty="0" smtClean="0"/>
            </a:br>
            <a:r>
              <a:rPr lang="en-SG" sz="1200" b="0" i="0" kern="1200" dirty="0" err="1" smtClean="0">
                <a:solidFill>
                  <a:schemeClr val="tx1"/>
                </a:solidFill>
                <a:effectLst/>
                <a:latin typeface="+mn-lt"/>
                <a:ea typeface="+mn-ea"/>
                <a:cs typeface="+mn-cs"/>
              </a:rPr>
              <a:t>WormsComputer</a:t>
            </a:r>
            <a:r>
              <a:rPr lang="en-SG" sz="1200" b="0" i="0" kern="1200" dirty="0" smtClean="0">
                <a:solidFill>
                  <a:schemeClr val="tx1"/>
                </a:solidFill>
                <a:effectLst/>
                <a:latin typeface="+mn-lt"/>
                <a:ea typeface="+mn-ea"/>
                <a:cs typeface="+mn-cs"/>
              </a:rPr>
              <a:t> worms are similar to viruses in that they replicate functional copies of themselves and can cause the same type of damage. In contrast to viruses, which require the spreading of an infected host file, worms are standalone software and do not require a host program or human help to propagate. To spread, worms either exploit a vulnerability on the target system or use some kind of </a:t>
            </a:r>
            <a:r>
              <a:rPr lang="en-SG" sz="1200" b="0" i="0" u="none" strike="noStrike" kern="1200" dirty="0" smtClean="0">
                <a:solidFill>
                  <a:schemeClr val="tx1"/>
                </a:solidFill>
                <a:effectLst/>
                <a:latin typeface="+mn-lt"/>
                <a:ea typeface="+mn-ea"/>
                <a:cs typeface="+mn-cs"/>
                <a:hlinkClick r:id="rId4"/>
              </a:rPr>
              <a:t>social engineering</a:t>
            </a:r>
            <a:r>
              <a:rPr lang="en-SG" sz="1200" b="0" i="0" kern="1200" dirty="0" smtClean="0">
                <a:solidFill>
                  <a:schemeClr val="tx1"/>
                </a:solidFill>
                <a:effectLst/>
                <a:latin typeface="+mn-lt"/>
                <a:ea typeface="+mn-ea"/>
                <a:cs typeface="+mn-cs"/>
              </a:rPr>
              <a:t> to trick users into executing them. A worm enters a computer through a vulnerability in the system and takes advantage of file-transport or information-transport features on the system, allowing it to travel unaided.</a:t>
            </a:r>
          </a:p>
          <a:p>
            <a:endParaRPr lang="en-SG" dirty="0"/>
          </a:p>
        </p:txBody>
      </p:sp>
      <p:sp>
        <p:nvSpPr>
          <p:cNvPr id="4" name="Slide Number Placeholder 3"/>
          <p:cNvSpPr>
            <a:spLocks noGrp="1"/>
          </p:cNvSpPr>
          <p:nvPr>
            <p:ph type="sldNum" sz="quarter" idx="10"/>
          </p:nvPr>
        </p:nvSpPr>
        <p:spPr/>
        <p:txBody>
          <a:bodyPr/>
          <a:lstStyle/>
          <a:p>
            <a:fld id="{EEFBAA5A-41B1-4906-9649-A2C41765365E}" type="slidenum">
              <a:rPr lang="en-SG" smtClean="0"/>
              <a:t>11</a:t>
            </a:fld>
            <a:endParaRPr lang="en-SG"/>
          </a:p>
        </p:txBody>
      </p:sp>
    </p:spTree>
    <p:extLst>
      <p:ext uri="{BB962C8B-B14F-4D97-AF65-F5344CB8AC3E}">
        <p14:creationId xmlns:p14="http://schemas.microsoft.com/office/powerpoint/2010/main" val="4129011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Application Hardening: </a:t>
            </a:r>
          </a:p>
          <a:p>
            <a:r>
              <a:rPr lang="en-SG" dirty="0" smtClean="0"/>
              <a:t>Turn off Change language settings</a:t>
            </a:r>
            <a:r>
              <a:rPr lang="en-SG" baseline="0" dirty="0" smtClean="0"/>
              <a:t> </a:t>
            </a:r>
            <a:r>
              <a:rPr lang="en-SG" sz="1200" b="0" i="0" kern="1200" dirty="0" err="1" smtClean="0">
                <a:solidFill>
                  <a:schemeClr val="tx1"/>
                </a:solidFill>
                <a:effectLst/>
                <a:latin typeface="+mn-lt"/>
                <a:ea typeface="+mn-ea"/>
                <a:cs typeface="+mn-cs"/>
              </a:rPr>
              <a:t>Settings</a:t>
            </a:r>
            <a:r>
              <a:rPr lang="en-SG" sz="1200" b="0" i="0" kern="1200" dirty="0" smtClean="0">
                <a:solidFill>
                  <a:schemeClr val="tx1"/>
                </a:solidFill>
                <a:effectLst/>
                <a:latin typeface="+mn-lt"/>
                <a:ea typeface="+mn-ea"/>
                <a:cs typeface="+mn-cs"/>
              </a:rPr>
              <a:t> &gt; System &gt; Apps &amp; features &gt; Manage optional features &gt; </a:t>
            </a:r>
            <a:endParaRPr lang="en-SG" dirty="0" smtClean="0"/>
          </a:p>
          <a:p>
            <a:r>
              <a:rPr lang="en-SG" sz="1200" b="0" i="0" kern="1200" dirty="0" smtClean="0">
                <a:solidFill>
                  <a:schemeClr val="tx1"/>
                </a:solidFill>
                <a:effectLst/>
                <a:latin typeface="+mn-lt"/>
                <a:ea typeface="+mn-ea"/>
                <a:cs typeface="+mn-cs"/>
              </a:rPr>
              <a:t>Settings &gt; Devices &gt; AutoPlay - not enabled for security reasons</a:t>
            </a:r>
          </a:p>
          <a:p>
            <a:r>
              <a:rPr lang="en-SG" sz="1200" b="0" i="0" kern="1200" dirty="0" smtClean="0">
                <a:solidFill>
                  <a:schemeClr val="tx1"/>
                </a:solidFill>
                <a:effectLst/>
                <a:latin typeface="+mn-lt"/>
                <a:ea typeface="+mn-ea"/>
                <a:cs typeface="+mn-cs"/>
              </a:rPr>
              <a:t>Settings &gt; Network &amp; Internet &gt; VPN - I have no VPN service</a:t>
            </a:r>
          </a:p>
          <a:p>
            <a:r>
              <a:rPr lang="en-SG" sz="1200" b="0" i="0" kern="1200" dirty="0" smtClean="0">
                <a:solidFill>
                  <a:schemeClr val="tx1"/>
                </a:solidFill>
                <a:effectLst/>
                <a:latin typeface="+mn-lt"/>
                <a:ea typeface="+mn-ea"/>
                <a:cs typeface="+mn-cs"/>
              </a:rPr>
              <a:t>Settings &gt; Network &amp; Internet &gt; Dial-up - I am not using dial-up</a:t>
            </a:r>
          </a:p>
          <a:p>
            <a:endParaRPr lang="en-SG" dirty="0"/>
          </a:p>
        </p:txBody>
      </p:sp>
      <p:sp>
        <p:nvSpPr>
          <p:cNvPr id="4" name="Slide Number Placeholder 3"/>
          <p:cNvSpPr>
            <a:spLocks noGrp="1"/>
          </p:cNvSpPr>
          <p:nvPr>
            <p:ph type="sldNum" sz="quarter" idx="10"/>
          </p:nvPr>
        </p:nvSpPr>
        <p:spPr/>
        <p:txBody>
          <a:bodyPr/>
          <a:lstStyle/>
          <a:p>
            <a:fld id="{EEFBAA5A-41B1-4906-9649-A2C41765365E}" type="slidenum">
              <a:rPr lang="en-SG" smtClean="0"/>
              <a:t>13</a:t>
            </a:fld>
            <a:endParaRPr lang="en-SG"/>
          </a:p>
        </p:txBody>
      </p:sp>
    </p:spTree>
    <p:extLst>
      <p:ext uri="{BB962C8B-B14F-4D97-AF65-F5344CB8AC3E}">
        <p14:creationId xmlns:p14="http://schemas.microsoft.com/office/powerpoint/2010/main" val="671133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host outside the network can reach the host on the public services segment (Host A), but not the host on the inside (Host B). The host on the public services segment can reach the host on both the outside and the inside. If hackers are able to compromise the public services segment host, they can install software to redirect traffic from the outside host directly to the inside host. Though neither communication violates the rules that are implemented in the firewall, the outside host has now achieved connectivity to the inside host through the port redirection process on the public services host. An example of an application that provides that type of access is </a:t>
            </a:r>
            <a:r>
              <a:rPr lang="en-US" dirty="0" err="1" smtClean="0"/>
              <a:t>Netcat</a:t>
            </a:r>
            <a:r>
              <a:rPr lang="en-US" dirty="0" smtClean="0"/>
              <a:t>.</a:t>
            </a:r>
          </a:p>
          <a:p>
            <a:endParaRPr lang="en-US" dirty="0" smtClean="0"/>
          </a:p>
          <a:p>
            <a:endParaRPr lang="en-SG" dirty="0"/>
          </a:p>
        </p:txBody>
      </p:sp>
      <p:sp>
        <p:nvSpPr>
          <p:cNvPr id="4" name="Slide Number Placeholder 3"/>
          <p:cNvSpPr>
            <a:spLocks noGrp="1"/>
          </p:cNvSpPr>
          <p:nvPr>
            <p:ph type="sldNum" sz="quarter" idx="10"/>
          </p:nvPr>
        </p:nvSpPr>
        <p:spPr/>
        <p:txBody>
          <a:bodyPr/>
          <a:lstStyle/>
          <a:p>
            <a:fld id="{EEFBAA5A-41B1-4906-9649-A2C41765365E}" type="slidenum">
              <a:rPr lang="en-SG" smtClean="0"/>
              <a:t>23</a:t>
            </a:fld>
            <a:endParaRPr lang="en-SG"/>
          </a:p>
        </p:txBody>
      </p:sp>
    </p:spTree>
    <p:extLst>
      <p:ext uri="{BB962C8B-B14F-4D97-AF65-F5344CB8AC3E}">
        <p14:creationId xmlns:p14="http://schemas.microsoft.com/office/powerpoint/2010/main" val="3918077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smtClean="0"/>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SG"/>
          </a:p>
        </p:txBody>
      </p:sp>
      <p:sp>
        <p:nvSpPr>
          <p:cNvPr id="4" name="Date Placeholder 3"/>
          <p:cNvSpPr>
            <a:spLocks noGrp="1"/>
          </p:cNvSpPr>
          <p:nvPr>
            <p:ph type="dt" sz="half" idx="10"/>
          </p:nvPr>
        </p:nvSpPr>
        <p:spPr/>
        <p:txBody>
          <a:bodyPr/>
          <a:lstStyle/>
          <a:p>
            <a:fld id="{76991157-7EA4-48AC-8972-361E86CDC23A}" type="datetimeFigureOut">
              <a:rPr lang="en-SG" smtClean="0"/>
              <a:t>16/10/2017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366203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dirty="0" smtClean="0"/>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SG" dirty="0"/>
          </a:p>
        </p:txBody>
      </p:sp>
      <p:sp>
        <p:nvSpPr>
          <p:cNvPr id="4" name="Date Placeholder 3"/>
          <p:cNvSpPr>
            <a:spLocks noGrp="1"/>
          </p:cNvSpPr>
          <p:nvPr>
            <p:ph type="dt" sz="half" idx="10"/>
          </p:nvPr>
        </p:nvSpPr>
        <p:spPr/>
        <p:txBody>
          <a:bodyPr/>
          <a:lstStyle/>
          <a:p>
            <a:fld id="{76991157-7EA4-48AC-8972-361E86CDC23A}" type="datetimeFigureOut">
              <a:rPr lang="en-SG" smtClean="0"/>
              <a:t>16/10/2017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58001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991157-7EA4-48AC-8972-361E86CDC23A}" type="datetimeFigureOut">
              <a:rPr lang="en-SG" smtClean="0"/>
              <a:t>16/10/2017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314558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Date Placeholder 4"/>
          <p:cNvSpPr>
            <a:spLocks noGrp="1"/>
          </p:cNvSpPr>
          <p:nvPr>
            <p:ph type="dt" sz="half" idx="10"/>
          </p:nvPr>
        </p:nvSpPr>
        <p:spPr/>
        <p:txBody>
          <a:bodyPr/>
          <a:lstStyle/>
          <a:p>
            <a:fld id="{76991157-7EA4-48AC-8972-361E86CDC23A}" type="datetimeFigureOut">
              <a:rPr lang="en-SG" smtClean="0"/>
              <a:t>16/10/2017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3692360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Date Placeholder 6"/>
          <p:cNvSpPr>
            <a:spLocks noGrp="1"/>
          </p:cNvSpPr>
          <p:nvPr>
            <p:ph type="dt" sz="half" idx="10"/>
          </p:nvPr>
        </p:nvSpPr>
        <p:spPr/>
        <p:txBody>
          <a:bodyPr/>
          <a:lstStyle/>
          <a:p>
            <a:fld id="{76991157-7EA4-48AC-8972-361E86CDC23A}" type="datetimeFigureOut">
              <a:rPr lang="en-SG" smtClean="0"/>
              <a:t>16/10/2017</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1964457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Date Placeholder 2"/>
          <p:cNvSpPr>
            <a:spLocks noGrp="1"/>
          </p:cNvSpPr>
          <p:nvPr>
            <p:ph type="dt" sz="half" idx="10"/>
          </p:nvPr>
        </p:nvSpPr>
        <p:spPr/>
        <p:txBody>
          <a:bodyPr/>
          <a:lstStyle/>
          <a:p>
            <a:fld id="{76991157-7EA4-48AC-8972-361E86CDC23A}" type="datetimeFigureOut">
              <a:rPr lang="en-SG" smtClean="0"/>
              <a:t>16/10/2017</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3899424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991157-7EA4-48AC-8972-361E86CDC23A}" type="datetimeFigureOut">
              <a:rPr lang="en-SG" smtClean="0"/>
              <a:t>16/10/2017</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2301245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991157-7EA4-48AC-8972-361E86CDC23A}" type="datetimeFigureOut">
              <a:rPr lang="en-SG" smtClean="0"/>
              <a:t>16/10/2017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1322498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991157-7EA4-48AC-8972-361E86CDC23A}" type="datetimeFigureOut">
              <a:rPr lang="en-SG" smtClean="0"/>
              <a:t>16/10/2017</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3391526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76991157-7EA4-48AC-8972-361E86CDC23A}" type="datetimeFigureOut">
              <a:rPr lang="en-SG" smtClean="0"/>
              <a:t>16/10/2017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163353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76991157-7EA4-48AC-8972-361E86CDC23A}" type="datetimeFigureOut">
              <a:rPr lang="en-SG" smtClean="0"/>
              <a:t>16/10/2017</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2278538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991157-7EA4-48AC-8972-361E86CDC23A}" type="datetimeFigureOut">
              <a:rPr lang="en-SG" smtClean="0"/>
              <a:t>16/10/2017</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D80D96-96DC-4F0E-B80E-7CF35BCF94D7}" type="slidenum">
              <a:rPr lang="en-SG" smtClean="0"/>
              <a:t>‹#›</a:t>
            </a:fld>
            <a:endParaRPr lang="en-SG"/>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2125692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cert.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n8mbzU0X2nQ"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YyQopOYlaEw"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20287" y="1190602"/>
            <a:ext cx="7401636" cy="2387600"/>
          </a:xfrm>
        </p:spPr>
        <p:txBody>
          <a:bodyPr>
            <a:normAutofit/>
          </a:bodyPr>
          <a:lstStyle/>
          <a:p>
            <a:r>
              <a:rPr lang="en-SG" dirty="0" smtClean="0"/>
              <a:t>Introduction to Network Security</a:t>
            </a:r>
            <a:endParaRPr lang="en-SG" dirty="0"/>
          </a:p>
        </p:txBody>
      </p:sp>
      <p:sp>
        <p:nvSpPr>
          <p:cNvPr id="3" name="Subtitle 2"/>
          <p:cNvSpPr>
            <a:spLocks noGrp="1"/>
          </p:cNvSpPr>
          <p:nvPr>
            <p:ph type="subTitle" idx="1"/>
          </p:nvPr>
        </p:nvSpPr>
        <p:spPr>
          <a:xfrm>
            <a:off x="1524000" y="4053384"/>
            <a:ext cx="9144000" cy="1204415"/>
          </a:xfrm>
        </p:spPr>
        <p:txBody>
          <a:bodyPr/>
          <a:lstStyle/>
          <a:p>
            <a:r>
              <a:rPr lang="en-SG" dirty="0" smtClean="0"/>
              <a:t>Chapter 1</a:t>
            </a:r>
            <a:endParaRPr lang="en-SG" dirty="0"/>
          </a:p>
        </p:txBody>
      </p:sp>
    </p:spTree>
    <p:extLst>
      <p:ext uri="{BB962C8B-B14F-4D97-AF65-F5344CB8AC3E}">
        <p14:creationId xmlns:p14="http://schemas.microsoft.com/office/powerpoint/2010/main" val="3641039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Learning Outcomes</a:t>
            </a:r>
            <a:endParaRPr lang="en-SG" dirty="0"/>
          </a:p>
        </p:txBody>
      </p:sp>
      <p:sp>
        <p:nvSpPr>
          <p:cNvPr id="3" name="Content Placeholder 2"/>
          <p:cNvSpPr>
            <a:spLocks noGrp="1"/>
          </p:cNvSpPr>
          <p:nvPr>
            <p:ph idx="1"/>
          </p:nvPr>
        </p:nvSpPr>
        <p:spPr/>
        <p:txBody>
          <a:bodyPr/>
          <a:lstStyle/>
          <a:p>
            <a:r>
              <a:rPr lang="en-SG" dirty="0" smtClean="0"/>
              <a:t>Students must be able to explain purpose of Network Security with CIA Concepts</a:t>
            </a:r>
          </a:p>
          <a:p>
            <a:pPr marL="0" indent="0">
              <a:buNone/>
            </a:pPr>
            <a:endParaRPr lang="en-SG" dirty="0" smtClean="0"/>
          </a:p>
          <a:p>
            <a:r>
              <a:rPr lang="en-SG" dirty="0" smtClean="0"/>
              <a:t>Students must be able to define common threats and vulnerabilities on the Internet and explain how to protect against them</a:t>
            </a:r>
            <a:endParaRPr lang="en-SG" dirty="0"/>
          </a:p>
        </p:txBody>
      </p:sp>
    </p:spTree>
    <p:extLst>
      <p:ext uri="{BB962C8B-B14F-4D97-AF65-F5344CB8AC3E}">
        <p14:creationId xmlns:p14="http://schemas.microsoft.com/office/powerpoint/2010/main" val="2196146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Network Security?</a:t>
            </a:r>
            <a:endParaRPr lang="en-SG" dirty="0"/>
          </a:p>
        </p:txBody>
      </p:sp>
      <p:sp>
        <p:nvSpPr>
          <p:cNvPr id="3" name="Content Placeholder 2"/>
          <p:cNvSpPr>
            <a:spLocks noGrp="1"/>
          </p:cNvSpPr>
          <p:nvPr>
            <p:ph idx="1"/>
          </p:nvPr>
        </p:nvSpPr>
        <p:spPr/>
        <p:txBody>
          <a:bodyPr/>
          <a:lstStyle/>
          <a:p>
            <a:r>
              <a:rPr lang="en-SG" dirty="0" smtClean="0"/>
              <a:t>The main purpose of network security is to protect assets </a:t>
            </a:r>
          </a:p>
          <a:p>
            <a:r>
              <a:rPr lang="en-SG" dirty="0" smtClean="0"/>
              <a:t>In terms of computer networks the assets can be:</a:t>
            </a:r>
          </a:p>
          <a:p>
            <a:pPr marL="457200" lvl="1" indent="0">
              <a:buNone/>
            </a:pPr>
            <a:r>
              <a:rPr lang="en-SG" dirty="0" smtClean="0"/>
              <a:t>- Information – files, data streams</a:t>
            </a:r>
          </a:p>
          <a:p>
            <a:pPr marL="457200" lvl="1" indent="0">
              <a:buNone/>
            </a:pPr>
            <a:r>
              <a:rPr lang="en-SG" dirty="0" smtClean="0"/>
              <a:t>- Servers</a:t>
            </a:r>
          </a:p>
          <a:p>
            <a:pPr marL="457200" lvl="1" indent="0">
              <a:buNone/>
            </a:pPr>
            <a:r>
              <a:rPr lang="en-SG" dirty="0" smtClean="0"/>
              <a:t>- Configurations</a:t>
            </a:r>
          </a:p>
          <a:p>
            <a:pPr marL="457200" lvl="1" indent="0">
              <a:buNone/>
            </a:pPr>
            <a:r>
              <a:rPr lang="en-SG" dirty="0" smtClean="0"/>
              <a:t>- User accounts</a:t>
            </a:r>
          </a:p>
          <a:p>
            <a:pPr marL="457200" lvl="1" indent="0">
              <a:buNone/>
            </a:pPr>
            <a:r>
              <a:rPr lang="en-SG" dirty="0" smtClean="0"/>
              <a:t>- Passwords</a:t>
            </a:r>
          </a:p>
          <a:p>
            <a:pPr marL="457200" lvl="1" indent="0">
              <a:buNone/>
            </a:pPr>
            <a:r>
              <a:rPr lang="en-SG" dirty="0" smtClean="0"/>
              <a:t>- Devices</a:t>
            </a:r>
            <a:endParaRPr lang="en-SG" dirty="0"/>
          </a:p>
        </p:txBody>
      </p:sp>
    </p:spTree>
    <p:extLst>
      <p:ext uri="{BB962C8B-B14F-4D97-AF65-F5344CB8AC3E}">
        <p14:creationId xmlns:p14="http://schemas.microsoft.com/office/powerpoint/2010/main" val="3346531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How to protect assets? CIA</a:t>
            </a:r>
            <a:endParaRPr lang="en-SG" dirty="0"/>
          </a:p>
        </p:txBody>
      </p:sp>
      <p:sp>
        <p:nvSpPr>
          <p:cNvPr id="3" name="Content Placeholder 2"/>
          <p:cNvSpPr>
            <a:spLocks noGrp="1"/>
          </p:cNvSpPr>
          <p:nvPr>
            <p:ph idx="1"/>
          </p:nvPr>
        </p:nvSpPr>
        <p:spPr/>
        <p:txBody>
          <a:bodyPr>
            <a:normAutofit/>
          </a:bodyPr>
          <a:lstStyle/>
          <a:p>
            <a:r>
              <a:rPr lang="en-SG" dirty="0" smtClean="0"/>
              <a:t>Confidentiality: Ensure that the secrecy is enforced and the information is not read by unauthorized users. Cryptography and encryption may ensure the confidentiality of the transferred data.</a:t>
            </a:r>
          </a:p>
          <a:p>
            <a:r>
              <a:rPr lang="en-SG" dirty="0" smtClean="0"/>
              <a:t>Integrity: modification of data or tampering of </a:t>
            </a:r>
            <a:r>
              <a:rPr lang="en-SG" dirty="0" smtClean="0"/>
              <a:t>data </a:t>
            </a:r>
            <a:r>
              <a:rPr lang="en-SG" dirty="0" smtClean="0"/>
              <a:t>is not permitted by unauthorized users; it provides assurance of the accuracy of information and systems. Users obtain information through authorized means (signatures).</a:t>
            </a:r>
          </a:p>
          <a:p>
            <a:r>
              <a:rPr lang="en-SG" dirty="0" smtClean="0"/>
              <a:t>Availability: prevention of loss of access to resources and information. Information requested has to be available to the authorized users at all times. </a:t>
            </a:r>
            <a:endParaRPr lang="en-SG" dirty="0"/>
          </a:p>
        </p:txBody>
      </p:sp>
    </p:spTree>
    <p:extLst>
      <p:ext uri="{BB962C8B-B14F-4D97-AF65-F5344CB8AC3E}">
        <p14:creationId xmlns:p14="http://schemas.microsoft.com/office/powerpoint/2010/main" val="3026563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My network is protected….Are you sure?</a:t>
            </a:r>
            <a:endParaRPr lang="en-SG" dirty="0"/>
          </a:p>
        </p:txBody>
      </p:sp>
      <p:sp>
        <p:nvSpPr>
          <p:cNvPr id="3" name="Content Placeholder 2"/>
          <p:cNvSpPr>
            <a:spLocks noGrp="1"/>
          </p:cNvSpPr>
          <p:nvPr>
            <p:ph idx="1"/>
          </p:nvPr>
        </p:nvSpPr>
        <p:spPr>
          <a:xfrm>
            <a:off x="838201" y="1825625"/>
            <a:ext cx="5890146" cy="3142160"/>
          </a:xfrm>
        </p:spPr>
        <p:txBody>
          <a:bodyPr>
            <a:normAutofit/>
          </a:bodyPr>
          <a:lstStyle/>
          <a:p>
            <a:r>
              <a:rPr lang="en-SG" dirty="0" smtClean="0"/>
              <a:t>I have the top notch Anti-Virus program on all my end point devices. Nothing can attack my network.</a:t>
            </a:r>
          </a:p>
          <a:p>
            <a:endParaRPr lang="en-SG" dirty="0" smtClean="0"/>
          </a:p>
          <a:p>
            <a:r>
              <a:rPr lang="en-SG" dirty="0" smtClean="0"/>
              <a:t>My firewall blocks all malicious software </a:t>
            </a:r>
            <a:r>
              <a:rPr lang="en-SG" dirty="0" smtClean="0"/>
              <a:t>ports </a:t>
            </a:r>
            <a:endParaRPr lang="en-SG" dirty="0"/>
          </a:p>
        </p:txBody>
      </p:sp>
      <p:pic>
        <p:nvPicPr>
          <p:cNvPr id="4" name="Picture 3"/>
          <p:cNvPicPr>
            <a:picLocks noChangeAspect="1"/>
          </p:cNvPicPr>
          <p:nvPr/>
        </p:nvPicPr>
        <p:blipFill>
          <a:blip r:embed="rId3"/>
          <a:stretch>
            <a:fillRect/>
          </a:stretch>
        </p:blipFill>
        <p:spPr>
          <a:xfrm>
            <a:off x="6540098" y="2006221"/>
            <a:ext cx="5354139" cy="3447694"/>
          </a:xfrm>
          <a:prstGeom prst="rect">
            <a:avLst/>
          </a:prstGeom>
        </p:spPr>
      </p:pic>
      <p:sp>
        <p:nvSpPr>
          <p:cNvPr id="5" name="TextBox 4"/>
          <p:cNvSpPr txBox="1"/>
          <p:nvPr/>
        </p:nvSpPr>
        <p:spPr>
          <a:xfrm>
            <a:off x="5866641" y="5769448"/>
            <a:ext cx="6325359" cy="369332"/>
          </a:xfrm>
          <a:prstGeom prst="rect">
            <a:avLst/>
          </a:prstGeom>
          <a:noFill/>
        </p:spPr>
        <p:txBody>
          <a:bodyPr wrap="square" rtlCol="0">
            <a:spAutoFit/>
          </a:bodyPr>
          <a:lstStyle/>
          <a:p>
            <a:r>
              <a:rPr lang="en-SG" dirty="0" smtClean="0"/>
              <a:t>Read this article by Palo Alto Networks for a different perspective</a:t>
            </a:r>
            <a:endParaRPr lang="en-SG" dirty="0"/>
          </a:p>
        </p:txBody>
      </p:sp>
    </p:spTree>
    <p:extLst>
      <p:ext uri="{BB962C8B-B14F-4D97-AF65-F5344CB8AC3E}">
        <p14:creationId xmlns:p14="http://schemas.microsoft.com/office/powerpoint/2010/main" val="88203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Terminology</a:t>
            </a:r>
            <a:endParaRPr lang="en-SG" dirty="0"/>
          </a:p>
        </p:txBody>
      </p:sp>
      <p:sp>
        <p:nvSpPr>
          <p:cNvPr id="3" name="Content Placeholder 2"/>
          <p:cNvSpPr>
            <a:spLocks noGrp="1"/>
          </p:cNvSpPr>
          <p:nvPr>
            <p:ph idx="1"/>
          </p:nvPr>
        </p:nvSpPr>
        <p:spPr/>
        <p:txBody>
          <a:bodyPr/>
          <a:lstStyle/>
          <a:p>
            <a:r>
              <a:rPr lang="en-SG" b="1" dirty="0" smtClean="0"/>
              <a:t>Vulnerability</a:t>
            </a:r>
          </a:p>
          <a:p>
            <a:pPr marL="457200" lvl="1" indent="0">
              <a:buNone/>
            </a:pPr>
            <a:r>
              <a:rPr lang="en-SG" sz="2800" dirty="0" smtClean="0"/>
              <a:t>Is a weakness which is inherent in every network and device. E.g. routers, switches, desktops, servers.</a:t>
            </a:r>
          </a:p>
          <a:p>
            <a:r>
              <a:rPr lang="en-SG" b="1" dirty="0" smtClean="0"/>
              <a:t>Threat</a:t>
            </a:r>
          </a:p>
          <a:p>
            <a:pPr marL="457200" lvl="1" indent="0">
              <a:buNone/>
            </a:pPr>
            <a:r>
              <a:rPr lang="en-SG" sz="2800" dirty="0" smtClean="0"/>
              <a:t>Is a person continually trying to exploit the weakness of the network. They use a variety of tools, scripts and programs to launch attacks against networks and devices.</a:t>
            </a:r>
            <a:endParaRPr lang="en-SG" sz="2800" dirty="0"/>
          </a:p>
        </p:txBody>
      </p:sp>
    </p:spTree>
    <p:extLst>
      <p:ext uri="{BB962C8B-B14F-4D97-AF65-F5344CB8AC3E}">
        <p14:creationId xmlns:p14="http://schemas.microsoft.com/office/powerpoint/2010/main" val="61385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Vulnerability</a:t>
            </a:r>
            <a:endParaRPr lang="en-SG" dirty="0"/>
          </a:p>
        </p:txBody>
      </p:sp>
      <p:sp>
        <p:nvSpPr>
          <p:cNvPr id="3" name="Content Placeholder 2"/>
          <p:cNvSpPr>
            <a:spLocks noGrp="1"/>
          </p:cNvSpPr>
          <p:nvPr>
            <p:ph idx="1"/>
          </p:nvPr>
        </p:nvSpPr>
        <p:spPr/>
        <p:txBody>
          <a:bodyPr>
            <a:normAutofit fontScale="92500"/>
          </a:bodyPr>
          <a:lstStyle/>
          <a:p>
            <a:r>
              <a:rPr lang="en-SG" sz="3000" dirty="0" smtClean="0"/>
              <a:t>Technology Weakness</a:t>
            </a:r>
          </a:p>
          <a:p>
            <a:pPr lvl="1">
              <a:buFont typeface="Wingdings" panose="05000000000000000000" pitchFamily="2" charset="2"/>
              <a:buChar char="ü"/>
            </a:pPr>
            <a:r>
              <a:rPr lang="en-SG" sz="2800" dirty="0" smtClean="0"/>
              <a:t>Protocols </a:t>
            </a:r>
            <a:r>
              <a:rPr lang="en-SG" sz="2800" dirty="0" smtClean="0"/>
              <a:t>are insecure; HTTP, FTP, ICMP</a:t>
            </a:r>
          </a:p>
          <a:p>
            <a:pPr lvl="1">
              <a:buFont typeface="Wingdings" panose="05000000000000000000" pitchFamily="2" charset="2"/>
              <a:buChar char="ü"/>
            </a:pPr>
            <a:r>
              <a:rPr lang="en-SG" sz="2800" dirty="0" smtClean="0"/>
              <a:t>Operating system weakness ;The </a:t>
            </a:r>
            <a:r>
              <a:rPr lang="en-SG" sz="2800" dirty="0"/>
              <a:t>recent </a:t>
            </a:r>
            <a:r>
              <a:rPr lang="en-SG" sz="2800" dirty="0" err="1"/>
              <a:t>ransomeware</a:t>
            </a:r>
            <a:r>
              <a:rPr lang="en-SG" sz="2800" dirty="0"/>
              <a:t> “</a:t>
            </a:r>
            <a:r>
              <a:rPr lang="en-SG" sz="2800" dirty="0" err="1"/>
              <a:t>Wannacry</a:t>
            </a:r>
            <a:r>
              <a:rPr lang="en-SG" sz="2800" dirty="0"/>
              <a:t>” is an exploitation of the Win7 OS weakness. </a:t>
            </a:r>
            <a:r>
              <a:rPr lang="en-SG" sz="2800" dirty="0">
                <a:hlinkClick r:id="rId3"/>
              </a:rPr>
              <a:t>www.cert.org</a:t>
            </a:r>
            <a:r>
              <a:rPr lang="en-SG" sz="2800" dirty="0"/>
              <a:t> for details.</a:t>
            </a:r>
          </a:p>
          <a:p>
            <a:pPr lvl="1">
              <a:buFont typeface="Wingdings" panose="05000000000000000000" pitchFamily="2" charset="2"/>
              <a:buChar char="ü"/>
            </a:pPr>
            <a:r>
              <a:rPr lang="en-SG" sz="2800" dirty="0" smtClean="0"/>
              <a:t>Network equipment weakness; security holes</a:t>
            </a:r>
          </a:p>
          <a:p>
            <a:r>
              <a:rPr lang="en-SG" sz="3000" dirty="0" smtClean="0"/>
              <a:t>Configuration Weakness</a:t>
            </a:r>
          </a:p>
          <a:p>
            <a:pPr lvl="1">
              <a:buFont typeface="Wingdings" panose="05000000000000000000" pitchFamily="2" charset="2"/>
              <a:buChar char="ü"/>
            </a:pPr>
            <a:r>
              <a:rPr lang="en-SG" sz="2800" dirty="0" smtClean="0"/>
              <a:t>weak passwords, default settings, open access</a:t>
            </a:r>
          </a:p>
          <a:p>
            <a:r>
              <a:rPr lang="en-SG" sz="3000" dirty="0" smtClean="0"/>
              <a:t>Security Policy Weakness</a:t>
            </a:r>
          </a:p>
          <a:p>
            <a:pPr lvl="1">
              <a:buFont typeface="Wingdings" panose="05000000000000000000" pitchFamily="2" charset="2"/>
              <a:buChar char="ü"/>
            </a:pPr>
            <a:r>
              <a:rPr lang="en-SG" sz="2800" dirty="0" smtClean="0"/>
              <a:t>Users don’t follow written security policy, non existent policy or plan</a:t>
            </a:r>
            <a:endParaRPr lang="en-SG" sz="2800" dirty="0"/>
          </a:p>
        </p:txBody>
      </p:sp>
    </p:spTree>
    <p:extLst>
      <p:ext uri="{BB962C8B-B14F-4D97-AF65-F5344CB8AC3E}">
        <p14:creationId xmlns:p14="http://schemas.microsoft.com/office/powerpoint/2010/main" val="203512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Threats</a:t>
            </a:r>
            <a:endParaRPr lang="en-SG" dirty="0"/>
          </a:p>
        </p:txBody>
      </p:sp>
      <p:sp>
        <p:nvSpPr>
          <p:cNvPr id="3" name="Content Placeholder 2"/>
          <p:cNvSpPr>
            <a:spLocks noGrp="1"/>
          </p:cNvSpPr>
          <p:nvPr>
            <p:ph idx="1"/>
          </p:nvPr>
        </p:nvSpPr>
        <p:spPr>
          <a:xfrm>
            <a:off x="838200" y="1690688"/>
            <a:ext cx="10515600" cy="4745296"/>
          </a:xfrm>
        </p:spPr>
        <p:txBody>
          <a:bodyPr>
            <a:normAutofit/>
          </a:bodyPr>
          <a:lstStyle/>
          <a:p>
            <a:r>
              <a:rPr lang="en-SG" dirty="0" smtClean="0"/>
              <a:t>Structured Threats</a:t>
            </a:r>
          </a:p>
          <a:p>
            <a:pPr marL="457200" lvl="1" indent="0">
              <a:buNone/>
            </a:pPr>
            <a:r>
              <a:rPr lang="en-SG" sz="2600" dirty="0" smtClean="0"/>
              <a:t>Come from hackers who are highly motivated and competent to seek out vulnerabilities and break the network.</a:t>
            </a:r>
          </a:p>
          <a:p>
            <a:r>
              <a:rPr lang="en-SG" dirty="0" smtClean="0"/>
              <a:t>Unstructured Threats</a:t>
            </a:r>
          </a:p>
          <a:p>
            <a:pPr marL="457200" lvl="1" indent="0">
              <a:buNone/>
            </a:pPr>
            <a:r>
              <a:rPr lang="en-SG" sz="2600" dirty="0" smtClean="0"/>
              <a:t>Come from inexperienced individuals using easily available hacking tools such as shell scripts and password crackers.</a:t>
            </a:r>
          </a:p>
          <a:p>
            <a:r>
              <a:rPr lang="en-SG" dirty="0" smtClean="0"/>
              <a:t>External Threats</a:t>
            </a:r>
          </a:p>
          <a:p>
            <a:pPr marL="457200" lvl="1" indent="0">
              <a:buNone/>
            </a:pPr>
            <a:r>
              <a:rPr lang="en-SG" sz="2600" dirty="0" smtClean="0"/>
              <a:t>Come from outside the company</a:t>
            </a:r>
            <a:r>
              <a:rPr lang="en-SG" sz="2800" dirty="0" smtClean="0"/>
              <a:t>.</a:t>
            </a:r>
          </a:p>
          <a:p>
            <a:r>
              <a:rPr lang="en-SG" dirty="0" smtClean="0"/>
              <a:t>Internal Threats</a:t>
            </a:r>
          </a:p>
          <a:p>
            <a:pPr marL="457200" lvl="1" indent="0">
              <a:buNone/>
            </a:pPr>
            <a:r>
              <a:rPr lang="en-SG" sz="2600" dirty="0" smtClean="0"/>
              <a:t>Come from inside the company and have physical access to servers</a:t>
            </a:r>
            <a:r>
              <a:rPr lang="en-SG" sz="2800" dirty="0" smtClean="0"/>
              <a:t>.</a:t>
            </a:r>
            <a:endParaRPr lang="en-SG" sz="2800" dirty="0"/>
          </a:p>
        </p:txBody>
      </p:sp>
    </p:spTree>
    <p:extLst>
      <p:ext uri="{BB962C8B-B14F-4D97-AF65-F5344CB8AC3E}">
        <p14:creationId xmlns:p14="http://schemas.microsoft.com/office/powerpoint/2010/main" val="1542823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Attacks</a:t>
            </a:r>
            <a:endParaRPr lang="en-SG" dirty="0"/>
          </a:p>
        </p:txBody>
      </p:sp>
      <p:sp>
        <p:nvSpPr>
          <p:cNvPr id="3" name="Content Placeholder 2"/>
          <p:cNvSpPr>
            <a:spLocks noGrp="1"/>
          </p:cNvSpPr>
          <p:nvPr>
            <p:ph idx="1"/>
          </p:nvPr>
        </p:nvSpPr>
        <p:spPr/>
        <p:txBody>
          <a:bodyPr/>
          <a:lstStyle/>
          <a:p>
            <a:r>
              <a:rPr lang="en-SG" dirty="0" smtClean="0"/>
              <a:t>Malware: Caused by malicious codes like virus, worms, Trojan horses</a:t>
            </a:r>
          </a:p>
          <a:p>
            <a:r>
              <a:rPr lang="en-SG" dirty="0" smtClean="0"/>
              <a:t>Reconnaissance attacks</a:t>
            </a:r>
          </a:p>
          <a:p>
            <a:r>
              <a:rPr lang="en-SG" dirty="0" smtClean="0"/>
              <a:t>Access attacks</a:t>
            </a:r>
          </a:p>
          <a:p>
            <a:r>
              <a:rPr lang="en-SG" dirty="0" smtClean="0"/>
              <a:t>Denial of Service (</a:t>
            </a:r>
            <a:r>
              <a:rPr lang="en-SG" dirty="0" err="1" smtClean="0"/>
              <a:t>DoS</a:t>
            </a:r>
            <a:r>
              <a:rPr lang="en-SG" dirty="0" smtClean="0"/>
              <a:t>) attacks</a:t>
            </a:r>
            <a:endParaRPr lang="en-SG" dirty="0"/>
          </a:p>
        </p:txBody>
      </p:sp>
    </p:spTree>
    <p:extLst>
      <p:ext uri="{BB962C8B-B14F-4D97-AF65-F5344CB8AC3E}">
        <p14:creationId xmlns:p14="http://schemas.microsoft.com/office/powerpoint/2010/main" val="623226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Malware</a:t>
            </a:r>
            <a:endParaRPr lang="en-SG" dirty="0"/>
          </a:p>
        </p:txBody>
      </p:sp>
      <p:sp>
        <p:nvSpPr>
          <p:cNvPr id="3" name="Content Placeholder 2"/>
          <p:cNvSpPr>
            <a:spLocks noGrp="1"/>
          </p:cNvSpPr>
          <p:nvPr>
            <p:ph idx="1"/>
          </p:nvPr>
        </p:nvSpPr>
        <p:spPr/>
        <p:txBody>
          <a:bodyPr/>
          <a:lstStyle/>
          <a:p>
            <a:pPr marL="0" indent="0">
              <a:buNone/>
            </a:pPr>
            <a:r>
              <a:rPr lang="en-SG" dirty="0" smtClean="0"/>
              <a:t>This is a malicious software designed to infiltrate a computer without the owner’s informed consent in order to damage, corrupt or deny access to networks and systems. This includes:</a:t>
            </a:r>
          </a:p>
          <a:p>
            <a:pPr lvl="1"/>
            <a:r>
              <a:rPr lang="en-SG" dirty="0" smtClean="0"/>
              <a:t>Viruses</a:t>
            </a:r>
          </a:p>
          <a:p>
            <a:pPr lvl="1"/>
            <a:r>
              <a:rPr lang="en-SG" dirty="0" smtClean="0"/>
              <a:t>Worms</a:t>
            </a:r>
          </a:p>
          <a:p>
            <a:pPr lvl="1"/>
            <a:r>
              <a:rPr lang="en-SG" dirty="0" smtClean="0"/>
              <a:t>Trojan Horses</a:t>
            </a:r>
          </a:p>
          <a:p>
            <a:pPr lvl="1"/>
            <a:r>
              <a:rPr lang="en-SG" dirty="0" smtClean="0"/>
              <a:t>Rootkits</a:t>
            </a:r>
          </a:p>
          <a:p>
            <a:pPr lvl="1"/>
            <a:endParaRPr lang="en-SG" dirty="0"/>
          </a:p>
        </p:txBody>
      </p:sp>
    </p:spTree>
    <p:extLst>
      <p:ext uri="{BB962C8B-B14F-4D97-AF65-F5344CB8AC3E}">
        <p14:creationId xmlns:p14="http://schemas.microsoft.com/office/powerpoint/2010/main" val="1547320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Let’s look at some definition!</a:t>
            </a:r>
            <a:endParaRPr lang="en-SG" dirty="0"/>
          </a:p>
        </p:txBody>
      </p:sp>
      <p:sp>
        <p:nvSpPr>
          <p:cNvPr id="5" name="Rectangle 3"/>
          <p:cNvSpPr txBox="1">
            <a:spLocks noChangeArrowheads="1"/>
          </p:cNvSpPr>
          <p:nvPr/>
        </p:nvSpPr>
        <p:spPr bwMode="auto">
          <a:xfrm>
            <a:off x="990599" y="1842448"/>
            <a:ext cx="10200565" cy="44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11163" indent="-342900" algn="l" rtl="0" eaLnBrk="0" fontAlgn="base" hangingPunct="0">
              <a:lnSpc>
                <a:spcPct val="95000"/>
              </a:lnSpc>
              <a:spcBef>
                <a:spcPts val="1480"/>
              </a:spcBef>
              <a:spcAft>
                <a:spcPct val="0"/>
              </a:spcAft>
              <a:buClr>
                <a:schemeClr val="accent1"/>
              </a:buClr>
              <a:buSzPct val="95000"/>
              <a:buFont typeface="Wingdings" panose="05000000000000000000" pitchFamily="2" charset="2"/>
              <a:buChar char=""/>
              <a:defRPr sz="2200" kern="1200">
                <a:solidFill>
                  <a:srgbClr val="000000"/>
                </a:solidFill>
                <a:latin typeface="+mj-lt"/>
                <a:ea typeface="Trebuchet MS" pitchFamily="34" charset="0"/>
                <a:cs typeface="Trebuchet MS" pitchFamily="34" charset="0"/>
              </a:defRPr>
            </a:lvl1pPr>
            <a:lvl2pPr marL="739775" indent="-285750" algn="l" rtl="0" eaLnBrk="0" fontAlgn="base" hangingPunct="0">
              <a:lnSpc>
                <a:spcPct val="95000"/>
              </a:lnSpc>
              <a:spcBef>
                <a:spcPts val="600"/>
              </a:spcBef>
              <a:spcAft>
                <a:spcPct val="0"/>
              </a:spcAft>
              <a:buClr>
                <a:srgbClr val="007EEA"/>
              </a:buClr>
              <a:buSzPct val="90000"/>
              <a:buFont typeface="Wingdings" panose="05000000000000000000" pitchFamily="2" charset="2"/>
              <a:buChar char=""/>
              <a:defRPr sz="2400" kern="1200">
                <a:solidFill>
                  <a:srgbClr val="000000"/>
                </a:solidFill>
                <a:latin typeface="+mj-lt"/>
                <a:ea typeface="Trebuchet MS" pitchFamily="34" charset="0"/>
                <a:cs typeface="Trebuchet MS" pitchFamily="34" charset="0"/>
              </a:defRPr>
            </a:lvl2pPr>
            <a:lvl3pPr marL="995363" indent="-228600" algn="l" rtl="0" eaLnBrk="0" fontAlgn="base" hangingPunct="0">
              <a:spcBef>
                <a:spcPct val="20000"/>
              </a:spcBef>
              <a:spcAft>
                <a:spcPct val="0"/>
              </a:spcAft>
              <a:buClr>
                <a:srgbClr val="61B6FF"/>
              </a:buClr>
              <a:buFont typeface="Wingdings 2" panose="05020102010507070707" pitchFamily="18" charset="2"/>
              <a:buChar char=""/>
              <a:defRPr sz="2200" kern="1200">
                <a:solidFill>
                  <a:srgbClr val="000000"/>
                </a:solidFill>
                <a:latin typeface="+mj-lt"/>
                <a:ea typeface="Trebuchet MS" pitchFamily="34" charset="0"/>
                <a:cs typeface="Trebuchet MS" pitchFamily="34" charset="0"/>
              </a:defRPr>
            </a:lvl3pPr>
            <a:lvl4pPr marL="1260475" indent="-228600" algn="l" rtl="0" eaLnBrk="0" fontAlgn="base" hangingPunct="0">
              <a:spcBef>
                <a:spcPct val="20000"/>
              </a:spcBef>
              <a:spcAft>
                <a:spcPct val="0"/>
              </a:spcAft>
              <a:buClr>
                <a:srgbClr val="FEB80A"/>
              </a:buClr>
              <a:buFont typeface="Wingdings 3" panose="05040102010807070707" pitchFamily="18" charset="2"/>
              <a:buChar char=""/>
              <a:defRPr sz="2000" kern="1200">
                <a:solidFill>
                  <a:srgbClr val="000000"/>
                </a:solidFill>
                <a:latin typeface="+mj-lt"/>
                <a:ea typeface="Trebuchet MS" pitchFamily="34" charset="0"/>
                <a:cs typeface="Trebuchet MS" pitchFamily="34" charset="0"/>
              </a:defRPr>
            </a:lvl4pPr>
            <a:lvl5pPr marL="1481138" indent="-209550" algn="l" rtl="0" eaLnBrk="0" fontAlgn="base" hangingPunct="0">
              <a:spcBef>
                <a:spcPct val="20000"/>
              </a:spcBef>
              <a:spcAft>
                <a:spcPct val="0"/>
              </a:spcAft>
              <a:buClr>
                <a:srgbClr val="FEB80A"/>
              </a:buClr>
              <a:buFont typeface="Wingdings 2" panose="05020102010507070707" pitchFamily="18" charset="2"/>
              <a:buChar char=""/>
              <a:defRPr sz="2000" kern="1200">
                <a:solidFill>
                  <a:srgbClr val="000000"/>
                </a:solidFill>
                <a:latin typeface="+mj-lt"/>
                <a:ea typeface="Trebuchet MS" pitchFamily="34" charset="0"/>
                <a:cs typeface="Trebuchet MS" pitchFamily="34" charset="0"/>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lstStyle>
          <a:p>
            <a:r>
              <a:rPr lang="en-US" sz="2800" dirty="0" smtClean="0">
                <a:latin typeface="Gill Sans MT" panose="020B0502020104020203" pitchFamily="34" charset="0"/>
                <a:cs typeface="Arial" panose="020B0604020202020204" pitchFamily="34" charset="0"/>
              </a:rPr>
              <a:t>A </a:t>
            </a:r>
            <a:r>
              <a:rPr lang="en-US" sz="2800" b="1" dirty="0">
                <a:latin typeface="Gill Sans MT" panose="020B0502020104020203" pitchFamily="34" charset="0"/>
                <a:cs typeface="Arial" panose="020B0604020202020204" pitchFamily="34" charset="0"/>
              </a:rPr>
              <a:t>V</a:t>
            </a:r>
            <a:r>
              <a:rPr lang="en-US" sz="2800" b="1" dirty="0" smtClean="0">
                <a:latin typeface="Gill Sans MT" panose="020B0502020104020203" pitchFamily="34" charset="0"/>
                <a:cs typeface="Arial" panose="020B0604020202020204" pitchFamily="34" charset="0"/>
              </a:rPr>
              <a:t>irus</a:t>
            </a:r>
            <a:r>
              <a:rPr lang="en-US" sz="2800" dirty="0" smtClean="0">
                <a:latin typeface="Gill Sans MT" panose="020B0502020104020203" pitchFamily="34" charset="0"/>
                <a:cs typeface="Arial" panose="020B0604020202020204" pitchFamily="34" charset="0"/>
              </a:rPr>
              <a:t> is malicious software that is attached to another program to execute a particular unwanted function on a user's workstation. </a:t>
            </a:r>
          </a:p>
          <a:p>
            <a:r>
              <a:rPr lang="en-US" sz="2800" dirty="0" smtClean="0">
                <a:latin typeface="Gill Sans MT" panose="020B0502020104020203" pitchFamily="34" charset="0"/>
                <a:cs typeface="Arial" panose="020B0604020202020204" pitchFamily="34" charset="0"/>
              </a:rPr>
              <a:t>A </a:t>
            </a:r>
            <a:r>
              <a:rPr lang="en-US" sz="2800" b="1" dirty="0">
                <a:latin typeface="Gill Sans MT" panose="020B0502020104020203" pitchFamily="34" charset="0"/>
                <a:cs typeface="Arial" panose="020B0604020202020204" pitchFamily="34" charset="0"/>
              </a:rPr>
              <a:t>W</a:t>
            </a:r>
            <a:r>
              <a:rPr lang="en-US" sz="2800" b="1" dirty="0" smtClean="0">
                <a:latin typeface="Gill Sans MT" panose="020B0502020104020203" pitchFamily="34" charset="0"/>
                <a:cs typeface="Arial" panose="020B0604020202020204" pitchFamily="34" charset="0"/>
              </a:rPr>
              <a:t>orm</a:t>
            </a:r>
            <a:r>
              <a:rPr lang="en-US" sz="2800" dirty="0" smtClean="0">
                <a:latin typeface="Gill Sans MT" panose="020B0502020104020203" pitchFamily="34" charset="0"/>
                <a:cs typeface="Arial" panose="020B0604020202020204" pitchFamily="34" charset="0"/>
              </a:rPr>
              <a:t> executes arbitrary code and installs copies of itself in the infected computer</a:t>
            </a:r>
            <a:r>
              <a:rPr lang="ja-JP" altLang="en-US" sz="2800" dirty="0" smtClean="0">
                <a:latin typeface="Gill Sans MT" panose="020B0502020104020203" pitchFamily="34" charset="0"/>
                <a:cs typeface="Arial" panose="020B0604020202020204" pitchFamily="34" charset="0"/>
              </a:rPr>
              <a:t>’</a:t>
            </a:r>
            <a:r>
              <a:rPr lang="en-US" sz="2800" dirty="0" smtClean="0">
                <a:latin typeface="Gill Sans MT" panose="020B0502020104020203" pitchFamily="34" charset="0"/>
                <a:cs typeface="Arial" panose="020B0604020202020204" pitchFamily="34" charset="0"/>
              </a:rPr>
              <a:t>s memory, which infects other hosts. </a:t>
            </a:r>
          </a:p>
          <a:p>
            <a:r>
              <a:rPr lang="en-US" sz="2800" dirty="0" smtClean="0">
                <a:latin typeface="Gill Sans MT" panose="020B0502020104020203" pitchFamily="34" charset="0"/>
                <a:cs typeface="Arial" panose="020B0604020202020204" pitchFamily="34" charset="0"/>
              </a:rPr>
              <a:t>A </a:t>
            </a:r>
            <a:r>
              <a:rPr lang="en-US" sz="2800" b="1" dirty="0" smtClean="0">
                <a:latin typeface="Gill Sans MT" panose="020B0502020104020203" pitchFamily="34" charset="0"/>
                <a:cs typeface="Arial" panose="020B0604020202020204" pitchFamily="34" charset="0"/>
              </a:rPr>
              <a:t>Trojan</a:t>
            </a:r>
            <a:r>
              <a:rPr lang="en-US" sz="2800" dirty="0" smtClean="0">
                <a:latin typeface="Gill Sans MT" panose="020B0502020104020203" pitchFamily="34" charset="0"/>
                <a:cs typeface="Arial" panose="020B0604020202020204" pitchFamily="34" charset="0"/>
              </a:rPr>
              <a:t> horse is different only in that the entire application was written to look like something else, when in fact it is an attack tool. </a:t>
            </a:r>
            <a:endParaRPr lang="en-US" sz="2800" dirty="0" smtClean="0">
              <a:latin typeface="Gill Sans MT" panose="020B0502020104020203" pitchFamily="34" charset="0"/>
              <a:cs typeface="Arial" panose="020B0604020202020204" pitchFamily="34" charset="0"/>
            </a:endParaRPr>
          </a:p>
          <a:p>
            <a:pPr marL="68263" indent="0">
              <a:buNone/>
            </a:pPr>
            <a:r>
              <a:rPr lang="en-US" sz="2800" dirty="0">
                <a:latin typeface="Gill Sans MT" panose="020B0502020104020203" pitchFamily="34" charset="0"/>
                <a:cs typeface="Arial" panose="020B0604020202020204" pitchFamily="34" charset="0"/>
                <a:hlinkClick r:id="rId3"/>
              </a:rPr>
              <a:t>https://</a:t>
            </a:r>
            <a:r>
              <a:rPr lang="en-US" sz="2800" dirty="0" smtClean="0">
                <a:latin typeface="Gill Sans MT" panose="020B0502020104020203" pitchFamily="34" charset="0"/>
                <a:cs typeface="Arial" panose="020B0604020202020204" pitchFamily="34" charset="0"/>
                <a:hlinkClick r:id="rId3"/>
              </a:rPr>
              <a:t>www.youtube.com/watch?v=n8mbzU0X2nQ</a:t>
            </a:r>
            <a:endParaRPr lang="en-US" sz="2800" dirty="0" smtClean="0">
              <a:latin typeface="Gill Sans MT" panose="020B0502020104020203" pitchFamily="34" charset="0"/>
              <a:cs typeface="Arial" panose="020B0604020202020204" pitchFamily="34" charset="0"/>
            </a:endParaRPr>
          </a:p>
          <a:p>
            <a:pPr marL="68263" indent="0">
              <a:buNone/>
            </a:pPr>
            <a:endParaRPr lang="en-US" sz="2800" dirty="0">
              <a:latin typeface="Gill Sans MT" panose="020B0502020104020203" pitchFamily="34" charset="0"/>
              <a:cs typeface="Arial" panose="020B0604020202020204" pitchFamily="34" charset="0"/>
            </a:endParaRPr>
          </a:p>
        </p:txBody>
      </p:sp>
    </p:spTree>
    <p:extLst>
      <p:ext uri="{BB962C8B-B14F-4D97-AF65-F5344CB8AC3E}">
        <p14:creationId xmlns:p14="http://schemas.microsoft.com/office/powerpoint/2010/main" val="3323848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The threat is real…</a:t>
            </a:r>
            <a:endParaRPr lang="en-SG" dirty="0"/>
          </a:p>
        </p:txBody>
      </p:sp>
      <p:sp>
        <p:nvSpPr>
          <p:cNvPr id="3" name="Content Placeholder 2"/>
          <p:cNvSpPr>
            <a:spLocks noGrp="1"/>
          </p:cNvSpPr>
          <p:nvPr>
            <p:ph idx="1"/>
          </p:nvPr>
        </p:nvSpPr>
        <p:spPr>
          <a:xfrm>
            <a:off x="497006" y="1690688"/>
            <a:ext cx="6201677" cy="4351338"/>
          </a:xfrm>
        </p:spPr>
        <p:txBody>
          <a:bodyPr>
            <a:normAutofit/>
          </a:bodyPr>
          <a:lstStyle/>
          <a:p>
            <a:pPr marL="0" indent="0">
              <a:buNone/>
            </a:pPr>
            <a:r>
              <a:rPr lang="en-SG" sz="2000" dirty="0" smtClean="0"/>
              <a:t>2016, February</a:t>
            </a:r>
            <a:r>
              <a:rPr lang="en-SG" sz="2000" dirty="0"/>
              <a:t>: Tiny Banker Trojan (</a:t>
            </a:r>
            <a:r>
              <a:rPr lang="en-SG" sz="2000" dirty="0" err="1"/>
              <a:t>Tinba</a:t>
            </a:r>
            <a:r>
              <a:rPr lang="en-SG" sz="2000" dirty="0"/>
              <a:t>) makes headlines</a:t>
            </a:r>
            <a:r>
              <a:rPr lang="en-SG" sz="2000" dirty="0" smtClean="0"/>
              <a:t>. (Wikipedia)</a:t>
            </a:r>
          </a:p>
          <a:p>
            <a:pPr marL="0" indent="0">
              <a:buNone/>
            </a:pPr>
            <a:r>
              <a:rPr lang="en-SG" sz="2000" dirty="0" smtClean="0"/>
              <a:t>Since </a:t>
            </a:r>
            <a:r>
              <a:rPr lang="en-SG" sz="2000" dirty="0"/>
              <a:t>its discovery, it has been found to have infected more than two dozen major banking </a:t>
            </a:r>
            <a:r>
              <a:rPr lang="en-SG" sz="2000" dirty="0" smtClean="0"/>
              <a:t>institutions, </a:t>
            </a:r>
            <a:r>
              <a:rPr lang="en-SG" sz="2000" dirty="0"/>
              <a:t>including TD Bank, Chase, HSBC, Wells Fargo, PNC and Bank of </a:t>
            </a:r>
            <a:r>
              <a:rPr lang="en-SG" sz="2000" dirty="0" smtClean="0"/>
              <a:t>America. Tiny </a:t>
            </a:r>
            <a:r>
              <a:rPr lang="en-SG" sz="2000" dirty="0"/>
              <a:t>Banker Trojan uses HTTP injection to force the user's computer to believe that it is on the bank's website. This spoof page will look and function just as the real one. The user then enters their information to log on, at which point </a:t>
            </a:r>
            <a:r>
              <a:rPr lang="en-SG" sz="2000" dirty="0" err="1"/>
              <a:t>Tinba</a:t>
            </a:r>
            <a:r>
              <a:rPr lang="en-SG" sz="2000" dirty="0"/>
              <a:t> can launch the bank webpage's "incorrect login information" return, and redirect the user to the real website. This is to trick the user into thinking they had entered the wrong information and proceed as normal, although now </a:t>
            </a:r>
            <a:r>
              <a:rPr lang="en-SG" sz="2000" dirty="0" err="1"/>
              <a:t>Tinba</a:t>
            </a:r>
            <a:r>
              <a:rPr lang="en-SG" sz="2000" dirty="0"/>
              <a:t> has captured the credentials and sent them to its host</a:t>
            </a:r>
            <a:r>
              <a:rPr lang="en-SG" sz="2000" dirty="0" smtClean="0"/>
              <a:t>.</a:t>
            </a:r>
            <a:endParaRPr lang="en-SG" sz="2000" dirty="0"/>
          </a:p>
        </p:txBody>
      </p:sp>
      <p:pic>
        <p:nvPicPr>
          <p:cNvPr id="4" name="Picture 3"/>
          <p:cNvPicPr>
            <a:picLocks noChangeAspect="1"/>
          </p:cNvPicPr>
          <p:nvPr/>
        </p:nvPicPr>
        <p:blipFill>
          <a:blip r:embed="rId2"/>
          <a:stretch>
            <a:fillRect/>
          </a:stretch>
        </p:blipFill>
        <p:spPr>
          <a:xfrm>
            <a:off x="6917048" y="1987657"/>
            <a:ext cx="5274952" cy="3757400"/>
          </a:xfrm>
          <a:prstGeom prst="rect">
            <a:avLst/>
          </a:prstGeom>
        </p:spPr>
      </p:pic>
      <p:sp>
        <p:nvSpPr>
          <p:cNvPr id="5" name="Rectangle 4"/>
          <p:cNvSpPr/>
          <p:nvPr/>
        </p:nvSpPr>
        <p:spPr>
          <a:xfrm>
            <a:off x="4826758" y="6434529"/>
            <a:ext cx="7365242" cy="338554"/>
          </a:xfrm>
          <a:prstGeom prst="rect">
            <a:avLst/>
          </a:prstGeom>
        </p:spPr>
        <p:txBody>
          <a:bodyPr wrap="square">
            <a:spAutoFit/>
          </a:bodyPr>
          <a:lstStyle/>
          <a:p>
            <a:r>
              <a:rPr lang="en-SG" sz="1600" dirty="0"/>
              <a:t>http://securityaffairs.co/wordpress/43740/cyber-crime/tinba-targets-asia-pacific.html</a:t>
            </a:r>
          </a:p>
        </p:txBody>
      </p:sp>
    </p:spTree>
    <p:extLst>
      <p:ext uri="{BB962C8B-B14F-4D97-AF65-F5344CB8AC3E}">
        <p14:creationId xmlns:p14="http://schemas.microsoft.com/office/powerpoint/2010/main" val="151690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Mitigating Malware</a:t>
            </a:r>
            <a:endParaRPr lang="en-SG" dirty="0"/>
          </a:p>
        </p:txBody>
      </p:sp>
      <p:sp>
        <p:nvSpPr>
          <p:cNvPr id="12" name="Content Placeholder 11"/>
          <p:cNvSpPr>
            <a:spLocks noGrp="1"/>
          </p:cNvSpPr>
          <p:nvPr>
            <p:ph idx="1"/>
          </p:nvPr>
        </p:nvSpPr>
        <p:spPr>
          <a:xfrm>
            <a:off x="838200" y="1690688"/>
            <a:ext cx="10515600" cy="4791999"/>
          </a:xfrm>
        </p:spPr>
        <p:txBody>
          <a:bodyPr>
            <a:normAutofit/>
          </a:bodyPr>
          <a:lstStyle/>
          <a:p>
            <a:r>
              <a:rPr lang="en-SG" dirty="0" smtClean="0"/>
              <a:t>Application Whitelisting: only trusted programs can run</a:t>
            </a:r>
          </a:p>
          <a:p>
            <a:r>
              <a:rPr lang="en-SG" dirty="0" smtClean="0"/>
              <a:t>Patch Application: Especially OS patches on user machines</a:t>
            </a:r>
          </a:p>
          <a:p>
            <a:r>
              <a:rPr lang="en-SG" dirty="0" smtClean="0"/>
              <a:t>Application Hardening: Turn </a:t>
            </a:r>
            <a:r>
              <a:rPr lang="en-SG" dirty="0" smtClean="0"/>
              <a:t>off </a:t>
            </a:r>
            <a:r>
              <a:rPr lang="en-SG" dirty="0" smtClean="0"/>
              <a:t>unused features in MS Office, Web browsers (block Flash)</a:t>
            </a:r>
          </a:p>
          <a:p>
            <a:r>
              <a:rPr lang="en-SG" dirty="0" smtClean="0"/>
              <a:t>Email content filtering</a:t>
            </a:r>
          </a:p>
          <a:p>
            <a:r>
              <a:rPr lang="en-SG" dirty="0" smtClean="0"/>
              <a:t>Web content filtering</a:t>
            </a:r>
          </a:p>
          <a:p>
            <a:r>
              <a:rPr lang="en-SG" dirty="0" smtClean="0"/>
              <a:t>Deny corporate computers direct Internet connectivity.</a:t>
            </a:r>
          </a:p>
          <a:p>
            <a:pPr marL="0" indent="0">
              <a:buNone/>
            </a:pPr>
            <a:endParaRPr lang="en-SG" dirty="0" smtClean="0"/>
          </a:p>
          <a:p>
            <a:pPr marL="0" indent="0">
              <a:buNone/>
            </a:pPr>
            <a:r>
              <a:rPr lang="en-SG" sz="2000" dirty="0" smtClean="0"/>
              <a:t>Further reading: https</a:t>
            </a:r>
            <a:r>
              <a:rPr lang="en-SG" sz="2000" dirty="0"/>
              <a:t>://www.asd.gov.au/infosec/top-mitigations/mitigations-2017-details.htm#application</a:t>
            </a:r>
          </a:p>
        </p:txBody>
      </p:sp>
    </p:spTree>
    <p:extLst>
      <p:ext uri="{BB962C8B-B14F-4D97-AF65-F5344CB8AC3E}">
        <p14:creationId xmlns:p14="http://schemas.microsoft.com/office/powerpoint/2010/main" val="3088016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Attacks</a:t>
            </a:r>
            <a:endParaRPr lang="en-SG" dirty="0"/>
          </a:p>
        </p:txBody>
      </p:sp>
      <p:sp>
        <p:nvSpPr>
          <p:cNvPr id="3" name="Content Placeholder 2"/>
          <p:cNvSpPr>
            <a:spLocks noGrp="1"/>
          </p:cNvSpPr>
          <p:nvPr>
            <p:ph idx="1"/>
          </p:nvPr>
        </p:nvSpPr>
        <p:spPr/>
        <p:txBody>
          <a:bodyPr/>
          <a:lstStyle/>
          <a:p>
            <a:r>
              <a:rPr lang="en-SG" dirty="0" smtClean="0"/>
              <a:t>Malware: Caused by malicious codes like virus, worms, Trojan horses</a:t>
            </a:r>
          </a:p>
          <a:p>
            <a:r>
              <a:rPr lang="en-SG" dirty="0" smtClean="0">
                <a:solidFill>
                  <a:srgbClr val="FF0000"/>
                </a:solidFill>
              </a:rPr>
              <a:t>Reconnaissance attacks</a:t>
            </a:r>
          </a:p>
          <a:p>
            <a:r>
              <a:rPr lang="en-SG" dirty="0" smtClean="0"/>
              <a:t>Access attacks</a:t>
            </a:r>
          </a:p>
          <a:p>
            <a:r>
              <a:rPr lang="en-SG" dirty="0" smtClean="0"/>
              <a:t>Denial of Service (</a:t>
            </a:r>
            <a:r>
              <a:rPr lang="en-SG" dirty="0" err="1" smtClean="0"/>
              <a:t>DoS</a:t>
            </a:r>
            <a:r>
              <a:rPr lang="en-SG" dirty="0" smtClean="0"/>
              <a:t>) attacks</a:t>
            </a:r>
            <a:endParaRPr lang="en-SG" dirty="0"/>
          </a:p>
        </p:txBody>
      </p:sp>
    </p:spTree>
    <p:extLst>
      <p:ext uri="{BB962C8B-B14F-4D97-AF65-F5344CB8AC3E}">
        <p14:creationId xmlns:p14="http://schemas.microsoft.com/office/powerpoint/2010/main" val="2865673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Reconnaissance Attacks</a:t>
            </a:r>
            <a:endParaRPr lang="en-SG" dirty="0"/>
          </a:p>
        </p:txBody>
      </p:sp>
      <p:sp>
        <p:nvSpPr>
          <p:cNvPr id="3" name="Content Placeholder 2"/>
          <p:cNvSpPr>
            <a:spLocks noGrp="1"/>
          </p:cNvSpPr>
          <p:nvPr>
            <p:ph idx="1"/>
          </p:nvPr>
        </p:nvSpPr>
        <p:spPr>
          <a:xfrm>
            <a:off x="838200" y="1488558"/>
            <a:ext cx="10515600" cy="5082363"/>
          </a:xfrm>
        </p:spPr>
        <p:txBody>
          <a:bodyPr>
            <a:normAutofit/>
          </a:bodyPr>
          <a:lstStyle/>
          <a:p>
            <a:pPr marL="0" indent="0">
              <a:buNone/>
            </a:pPr>
            <a:r>
              <a:rPr lang="en-SG" dirty="0"/>
              <a:t>Reconnaissance attacks can use various </a:t>
            </a:r>
            <a:r>
              <a:rPr lang="en-SG" dirty="0" smtClean="0"/>
              <a:t>tools and </a:t>
            </a:r>
            <a:r>
              <a:rPr lang="en-SG" dirty="0"/>
              <a:t>techniques for example:</a:t>
            </a:r>
          </a:p>
          <a:p>
            <a:pPr marL="0" indent="0">
              <a:buNone/>
            </a:pPr>
            <a:r>
              <a:rPr lang="en-SG" dirty="0" smtClean="0"/>
              <a:t>Packet sniffers(Eavesdropping)</a:t>
            </a:r>
            <a:endParaRPr lang="en-SG" dirty="0"/>
          </a:p>
          <a:p>
            <a:pPr>
              <a:buFont typeface="Wingdings" panose="05000000000000000000" pitchFamily="2" charset="2"/>
              <a:buChar char="ü"/>
            </a:pPr>
            <a:r>
              <a:rPr lang="en-SG" sz="2400" dirty="0" smtClean="0"/>
              <a:t>A </a:t>
            </a:r>
            <a:r>
              <a:rPr lang="en-SG" sz="2400" dirty="0"/>
              <a:t>packet sniffer is a software application that uses a network adapter card in promiscuous mode to capture all network packets that are sent across a LAN.</a:t>
            </a:r>
          </a:p>
          <a:p>
            <a:pPr>
              <a:buFont typeface="Wingdings" panose="05000000000000000000" pitchFamily="2" charset="2"/>
              <a:buChar char="ü"/>
            </a:pPr>
            <a:r>
              <a:rPr lang="en-SG" sz="2400" dirty="0"/>
              <a:t>Packet sniffers can only work in the same collision domain as the network being attacked.</a:t>
            </a:r>
          </a:p>
          <a:p>
            <a:pPr>
              <a:buFont typeface="Wingdings" panose="05000000000000000000" pitchFamily="2" charset="2"/>
              <a:buChar char="ü"/>
            </a:pPr>
            <a:r>
              <a:rPr lang="en-SG" sz="2400" dirty="0"/>
              <a:t>Promiscuous mode is a mode in which the network adapter card sends all packets that are received on the physical network wire to an application for processing.</a:t>
            </a:r>
          </a:p>
          <a:p>
            <a:pPr>
              <a:buFont typeface="Wingdings" panose="05000000000000000000" pitchFamily="2" charset="2"/>
              <a:buChar char="ü"/>
            </a:pPr>
            <a:r>
              <a:rPr lang="en-SG" sz="2400" dirty="0"/>
              <a:t>Wireshark is an example of a packet sniffer</a:t>
            </a:r>
          </a:p>
        </p:txBody>
      </p:sp>
    </p:spTree>
    <p:extLst>
      <p:ext uri="{BB962C8B-B14F-4D97-AF65-F5344CB8AC3E}">
        <p14:creationId xmlns:p14="http://schemas.microsoft.com/office/powerpoint/2010/main" val="125024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Ping Sweeps and Port Scans</a:t>
            </a:r>
          </a:p>
          <a:p>
            <a:pPr>
              <a:buFont typeface="Wingdings" panose="05000000000000000000" pitchFamily="2" charset="2"/>
              <a:buChar char="ü"/>
            </a:pPr>
            <a:r>
              <a:rPr lang="en-US" sz="2400" dirty="0" smtClean="0"/>
              <a:t>A </a:t>
            </a:r>
            <a:r>
              <a:rPr lang="en-US" sz="2400" dirty="0"/>
              <a:t>ping sweep, or ICMP sweep, scans to determine which range of IP addresses map to live hosts. </a:t>
            </a:r>
            <a:endParaRPr lang="en-US" sz="2400" dirty="0" smtClean="0"/>
          </a:p>
          <a:p>
            <a:pPr marL="0" indent="0">
              <a:buNone/>
            </a:pPr>
            <a:endParaRPr lang="en-US" sz="2400" dirty="0"/>
          </a:p>
          <a:p>
            <a:pPr>
              <a:buFont typeface="Wingdings" panose="05000000000000000000" pitchFamily="2" charset="2"/>
              <a:buChar char="ü"/>
            </a:pPr>
            <a:r>
              <a:rPr lang="en-US" sz="2400" dirty="0"/>
              <a:t>A port scan consists of sending a message to each port, one port at a time. </a:t>
            </a:r>
          </a:p>
          <a:p>
            <a:pPr marL="457200" lvl="1" indent="0">
              <a:buNone/>
            </a:pPr>
            <a:r>
              <a:rPr lang="en-US" dirty="0"/>
              <a:t>Response received indicates whether the port is used and can therefore be probed for weakness</a:t>
            </a:r>
            <a:endParaRPr lang="en-SG" dirty="0"/>
          </a:p>
        </p:txBody>
      </p:sp>
      <p:sp>
        <p:nvSpPr>
          <p:cNvPr id="4" name="Title 1"/>
          <p:cNvSpPr>
            <a:spLocks noGrp="1"/>
          </p:cNvSpPr>
          <p:nvPr>
            <p:ph type="title"/>
          </p:nvPr>
        </p:nvSpPr>
        <p:spPr>
          <a:xfrm>
            <a:off x="838200" y="365125"/>
            <a:ext cx="10515600" cy="1325563"/>
          </a:xfrm>
        </p:spPr>
        <p:txBody>
          <a:bodyPr/>
          <a:lstStyle/>
          <a:p>
            <a:r>
              <a:rPr lang="en-SG" dirty="0" smtClean="0"/>
              <a:t>Reconnaissance Attacks</a:t>
            </a:r>
            <a:endParaRPr lang="en-SG" dirty="0"/>
          </a:p>
        </p:txBody>
      </p:sp>
    </p:spTree>
    <p:extLst>
      <p:ext uri="{BB962C8B-B14F-4D97-AF65-F5344CB8AC3E}">
        <p14:creationId xmlns:p14="http://schemas.microsoft.com/office/powerpoint/2010/main" val="430627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Internet Information Queries</a:t>
            </a:r>
          </a:p>
          <a:p>
            <a:pPr>
              <a:buFont typeface="Wingdings" panose="05000000000000000000" pitchFamily="2" charset="2"/>
              <a:buChar char="ü"/>
            </a:pPr>
            <a:r>
              <a:rPr lang="en-US" sz="2400" dirty="0" smtClean="0"/>
              <a:t>DNS </a:t>
            </a:r>
            <a:r>
              <a:rPr lang="en-US" sz="2400" dirty="0"/>
              <a:t>queries can reveal information such as who owns a particular domain and what addresses have been assigned to that </a:t>
            </a:r>
            <a:r>
              <a:rPr lang="en-US" sz="2400" dirty="0" smtClean="0"/>
              <a:t>domain.</a:t>
            </a:r>
          </a:p>
          <a:p>
            <a:pPr>
              <a:buFont typeface="Wingdings" panose="05000000000000000000" pitchFamily="2" charset="2"/>
              <a:buChar char="ü"/>
            </a:pPr>
            <a:endParaRPr lang="en-US" sz="2400" dirty="0" smtClean="0"/>
          </a:p>
          <a:p>
            <a:pPr>
              <a:buFont typeface="Wingdings" panose="05000000000000000000" pitchFamily="2" charset="2"/>
              <a:buChar char="ü"/>
            </a:pPr>
            <a:r>
              <a:rPr lang="en-US" sz="2400" dirty="0" smtClean="0"/>
              <a:t>Use </a:t>
            </a:r>
            <a:r>
              <a:rPr lang="en-US" sz="2400" dirty="0"/>
              <a:t>tools such as </a:t>
            </a:r>
            <a:r>
              <a:rPr lang="en-US" sz="2400" b="1" dirty="0" err="1"/>
              <a:t>whois</a:t>
            </a:r>
            <a:r>
              <a:rPr lang="en-US" sz="2400" dirty="0"/>
              <a:t>, </a:t>
            </a:r>
            <a:r>
              <a:rPr lang="en-US" sz="2400" b="1" dirty="0" err="1" smtClean="0"/>
              <a:t>nslookup</a:t>
            </a:r>
            <a:endParaRPr lang="en-US" sz="2400" b="1" dirty="0" smtClean="0"/>
          </a:p>
          <a:p>
            <a:pPr>
              <a:buFont typeface="Wingdings" panose="05000000000000000000" pitchFamily="2" charset="2"/>
              <a:buChar char="ü"/>
            </a:pPr>
            <a:endParaRPr lang="en-US" sz="2400" b="1" dirty="0"/>
          </a:p>
          <a:p>
            <a:pPr>
              <a:buFont typeface="Wingdings" panose="05000000000000000000" pitchFamily="2" charset="2"/>
              <a:buChar char="ü"/>
            </a:pPr>
            <a:endParaRPr lang="en-US" sz="2400" b="1" dirty="0" smtClean="0"/>
          </a:p>
          <a:p>
            <a:pPr marL="0" indent="0">
              <a:buNone/>
            </a:pPr>
            <a:r>
              <a:rPr lang="en-US" sz="2400" smtClean="0">
                <a:hlinkClick r:id="rId2"/>
              </a:rPr>
              <a:t>Video on Reconnaissance Attacks https</a:t>
            </a:r>
            <a:r>
              <a:rPr lang="en-US" sz="2400">
                <a:hlinkClick r:id="rId2"/>
              </a:rPr>
              <a:t>://</a:t>
            </a:r>
            <a:r>
              <a:rPr lang="en-US" sz="2400" smtClean="0">
                <a:hlinkClick r:id="rId2"/>
              </a:rPr>
              <a:t>www.youtube.com/watch?v=YyQopOYlaEw</a:t>
            </a:r>
            <a:endParaRPr lang="en-US" sz="2400" smtClean="0"/>
          </a:p>
          <a:p>
            <a:pPr marL="0" indent="0">
              <a:buNone/>
            </a:pPr>
            <a:endParaRPr lang="en-US" sz="2400" dirty="0"/>
          </a:p>
          <a:p>
            <a:endParaRPr lang="en-SG" dirty="0"/>
          </a:p>
        </p:txBody>
      </p:sp>
      <p:sp>
        <p:nvSpPr>
          <p:cNvPr id="4" name="Title 1"/>
          <p:cNvSpPr>
            <a:spLocks noGrp="1"/>
          </p:cNvSpPr>
          <p:nvPr>
            <p:ph type="title"/>
          </p:nvPr>
        </p:nvSpPr>
        <p:spPr>
          <a:xfrm>
            <a:off x="838200" y="365125"/>
            <a:ext cx="10515600" cy="1325563"/>
          </a:xfrm>
        </p:spPr>
        <p:txBody>
          <a:bodyPr/>
          <a:lstStyle/>
          <a:p>
            <a:r>
              <a:rPr lang="en-SG" dirty="0" smtClean="0"/>
              <a:t>Reconnaissance Attacks</a:t>
            </a:r>
            <a:endParaRPr lang="en-SG" dirty="0"/>
          </a:p>
        </p:txBody>
      </p:sp>
    </p:spTree>
    <p:extLst>
      <p:ext uri="{BB962C8B-B14F-4D97-AF65-F5344CB8AC3E}">
        <p14:creationId xmlns:p14="http://schemas.microsoft.com/office/powerpoint/2010/main" val="1738269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Mitigating Reconnaissance</a:t>
            </a:r>
            <a:endParaRPr lang="en-S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SG" sz="2400" dirty="0"/>
              <a:t>Using encryption that meets the data security needs of the organization without imposing an excessive burden on the system resources or the users</a:t>
            </a:r>
            <a:r>
              <a:rPr lang="en-SG" sz="2400" dirty="0" smtClean="0"/>
              <a:t>.</a:t>
            </a:r>
          </a:p>
          <a:p>
            <a:pPr>
              <a:buFont typeface="Wingdings" panose="05000000000000000000" pitchFamily="2" charset="2"/>
              <a:buChar char="ü"/>
            </a:pPr>
            <a:r>
              <a:rPr lang="en-US" sz="2400" dirty="0"/>
              <a:t>Ping sweeps can be stopped if ICMP echo and echo-reply are turned off on edge </a:t>
            </a:r>
            <a:r>
              <a:rPr lang="en-US" sz="2400" dirty="0" smtClean="0"/>
              <a:t>routers</a:t>
            </a:r>
          </a:p>
          <a:p>
            <a:pPr>
              <a:buFont typeface="Wingdings" panose="05000000000000000000" pitchFamily="2" charset="2"/>
              <a:buChar char="ü"/>
            </a:pPr>
            <a:r>
              <a:rPr lang="en-US" sz="2400" dirty="0" smtClean="0">
                <a:cs typeface="Arial" panose="020B0604020202020204" pitchFamily="34" charset="0"/>
              </a:rPr>
              <a:t>Using </a:t>
            </a:r>
            <a:r>
              <a:rPr lang="en-US" sz="2400" dirty="0">
                <a:cs typeface="Arial" panose="020B0604020202020204" pitchFamily="34" charset="0"/>
              </a:rPr>
              <a:t>intrusion prevention systems (IPS) at network and host </a:t>
            </a:r>
            <a:r>
              <a:rPr lang="en-US" sz="2400" dirty="0" smtClean="0">
                <a:cs typeface="Arial" panose="020B0604020202020204" pitchFamily="34" charset="0"/>
              </a:rPr>
              <a:t>levels (more later)</a:t>
            </a:r>
            <a:endParaRPr lang="en-US" sz="2400" dirty="0">
              <a:cs typeface="Arial" panose="020B0604020202020204" pitchFamily="34" charset="0"/>
            </a:endParaRPr>
          </a:p>
          <a:p>
            <a:pPr>
              <a:buFont typeface="Wingdings" panose="05000000000000000000" pitchFamily="2" charset="2"/>
              <a:buChar char="ü"/>
            </a:pPr>
            <a:r>
              <a:rPr lang="en-US" sz="2400" dirty="0" smtClean="0">
                <a:cs typeface="Arial" panose="020B0604020202020204" pitchFamily="34" charset="0"/>
              </a:rPr>
              <a:t>Anti sniffer </a:t>
            </a:r>
            <a:r>
              <a:rPr lang="en-US" sz="2400" dirty="0">
                <a:cs typeface="Arial" panose="020B0604020202020204" pitchFamily="34" charset="0"/>
              </a:rPr>
              <a:t>tools detect changes in the response time of hosts to determine whether the hosts are processing more traffic than their own traffic loads would indicate</a:t>
            </a:r>
            <a:endParaRPr lang="en-SG" sz="2400" dirty="0"/>
          </a:p>
        </p:txBody>
      </p:sp>
    </p:spTree>
    <p:extLst>
      <p:ext uri="{BB962C8B-B14F-4D97-AF65-F5344CB8AC3E}">
        <p14:creationId xmlns:p14="http://schemas.microsoft.com/office/powerpoint/2010/main" val="214172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Attacks</a:t>
            </a:r>
            <a:endParaRPr lang="en-SG" dirty="0"/>
          </a:p>
        </p:txBody>
      </p:sp>
      <p:sp>
        <p:nvSpPr>
          <p:cNvPr id="3" name="Content Placeholder 2"/>
          <p:cNvSpPr>
            <a:spLocks noGrp="1"/>
          </p:cNvSpPr>
          <p:nvPr>
            <p:ph idx="1"/>
          </p:nvPr>
        </p:nvSpPr>
        <p:spPr/>
        <p:txBody>
          <a:bodyPr/>
          <a:lstStyle/>
          <a:p>
            <a:r>
              <a:rPr lang="en-SG" dirty="0" smtClean="0"/>
              <a:t>Malware: Caused by malicious codes like virus, worms, Trojan horses</a:t>
            </a:r>
          </a:p>
          <a:p>
            <a:r>
              <a:rPr lang="en-SG" dirty="0" smtClean="0"/>
              <a:t>Reconnaissance attacks</a:t>
            </a:r>
          </a:p>
          <a:p>
            <a:r>
              <a:rPr lang="en-SG" dirty="0" smtClean="0">
                <a:solidFill>
                  <a:srgbClr val="FF0000"/>
                </a:solidFill>
              </a:rPr>
              <a:t>Access attacks</a:t>
            </a:r>
          </a:p>
          <a:p>
            <a:r>
              <a:rPr lang="en-SG" dirty="0" smtClean="0"/>
              <a:t>Denial of Service (</a:t>
            </a:r>
            <a:r>
              <a:rPr lang="en-SG" dirty="0" err="1" smtClean="0"/>
              <a:t>DoS</a:t>
            </a:r>
            <a:r>
              <a:rPr lang="en-SG" dirty="0" smtClean="0"/>
              <a:t>) attacks</a:t>
            </a:r>
            <a:endParaRPr lang="en-SG" dirty="0"/>
          </a:p>
        </p:txBody>
      </p:sp>
    </p:spTree>
    <p:extLst>
      <p:ext uri="{BB962C8B-B14F-4D97-AF65-F5344CB8AC3E}">
        <p14:creationId xmlns:p14="http://schemas.microsoft.com/office/powerpoint/2010/main" val="3933889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Access Attacks</a:t>
            </a:r>
            <a:endParaRPr lang="en-SG" dirty="0"/>
          </a:p>
        </p:txBody>
      </p:sp>
      <p:sp>
        <p:nvSpPr>
          <p:cNvPr id="3" name="Content Placeholder 2"/>
          <p:cNvSpPr>
            <a:spLocks noGrp="1"/>
          </p:cNvSpPr>
          <p:nvPr>
            <p:ph idx="1"/>
          </p:nvPr>
        </p:nvSpPr>
        <p:spPr/>
        <p:txBody>
          <a:bodyPr>
            <a:normAutofit/>
          </a:bodyPr>
          <a:lstStyle/>
          <a:p>
            <a:pPr marL="0" indent="0">
              <a:buNone/>
            </a:pPr>
            <a:r>
              <a:rPr lang="en-SG" dirty="0" smtClean="0"/>
              <a:t>These attacks exploit vulnerabilities in the authentication service to retrieve sensitive date, gain access or escalate their access privileges.</a:t>
            </a:r>
          </a:p>
          <a:p>
            <a:pPr marL="0" indent="0">
              <a:buNone/>
            </a:pPr>
            <a:r>
              <a:rPr lang="en-SG" dirty="0" smtClean="0"/>
              <a:t>Types of Access Attacks</a:t>
            </a:r>
          </a:p>
          <a:p>
            <a:pPr lvl="1">
              <a:buFont typeface="Wingdings" panose="05000000000000000000" pitchFamily="2" charset="2"/>
              <a:buChar char="ü"/>
            </a:pPr>
            <a:r>
              <a:rPr lang="en-SG" dirty="0"/>
              <a:t>Password Attacks</a:t>
            </a:r>
          </a:p>
          <a:p>
            <a:pPr lvl="1">
              <a:buFont typeface="Wingdings" panose="05000000000000000000" pitchFamily="2" charset="2"/>
              <a:buChar char="ü"/>
            </a:pPr>
            <a:r>
              <a:rPr lang="en-SG" dirty="0" smtClean="0"/>
              <a:t>Trust </a:t>
            </a:r>
            <a:r>
              <a:rPr lang="en-SG" dirty="0"/>
              <a:t>exploitation</a:t>
            </a:r>
          </a:p>
          <a:p>
            <a:pPr lvl="1">
              <a:buFont typeface="Wingdings" panose="05000000000000000000" pitchFamily="2" charset="2"/>
              <a:buChar char="ü"/>
            </a:pPr>
            <a:r>
              <a:rPr lang="en-SG" dirty="0" smtClean="0"/>
              <a:t>Port </a:t>
            </a:r>
            <a:r>
              <a:rPr lang="en-SG" dirty="0"/>
              <a:t>redirection</a:t>
            </a:r>
          </a:p>
          <a:p>
            <a:pPr lvl="1">
              <a:buFont typeface="Wingdings" panose="05000000000000000000" pitchFamily="2" charset="2"/>
              <a:buChar char="ü"/>
            </a:pPr>
            <a:r>
              <a:rPr lang="en-SG" dirty="0" smtClean="0"/>
              <a:t>Man-in-the middle</a:t>
            </a:r>
          </a:p>
          <a:p>
            <a:pPr lvl="1">
              <a:buFont typeface="Wingdings" panose="05000000000000000000" pitchFamily="2" charset="2"/>
              <a:buChar char="ü"/>
            </a:pPr>
            <a:r>
              <a:rPr lang="en-SG" dirty="0"/>
              <a:t>Social engineering</a:t>
            </a:r>
          </a:p>
          <a:p>
            <a:pPr lvl="1">
              <a:buFont typeface="Wingdings" panose="05000000000000000000" pitchFamily="2" charset="2"/>
              <a:buChar char="ü"/>
            </a:pPr>
            <a:r>
              <a:rPr lang="en-SG" dirty="0" smtClean="0"/>
              <a:t>Phishing</a:t>
            </a:r>
            <a:endParaRPr lang="en-SG" dirty="0"/>
          </a:p>
        </p:txBody>
      </p:sp>
    </p:spTree>
    <p:extLst>
      <p:ext uri="{BB962C8B-B14F-4D97-AF65-F5344CB8AC3E}">
        <p14:creationId xmlns:p14="http://schemas.microsoft.com/office/powerpoint/2010/main" val="1835154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Access Attacks</a:t>
            </a:r>
            <a:endParaRPr lang="en-SG"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SG" dirty="0" smtClean="0"/>
              <a:t>Password attacks can be done in the following ways:</a:t>
            </a:r>
          </a:p>
          <a:p>
            <a:pPr lvl="1"/>
            <a:r>
              <a:rPr lang="en-SG" dirty="0" smtClean="0"/>
              <a:t>Brute-force or </a:t>
            </a:r>
            <a:r>
              <a:rPr lang="en-SG" dirty="0"/>
              <a:t>D</a:t>
            </a:r>
            <a:r>
              <a:rPr lang="en-SG" dirty="0" smtClean="0"/>
              <a:t>ictionary attacks</a:t>
            </a:r>
          </a:p>
          <a:p>
            <a:pPr lvl="1"/>
            <a:r>
              <a:rPr lang="en-SG" dirty="0" smtClean="0"/>
              <a:t>Trojan horse programs (</a:t>
            </a:r>
            <a:r>
              <a:rPr lang="en-SG" dirty="0" err="1" smtClean="0"/>
              <a:t>keylogger</a:t>
            </a:r>
            <a:r>
              <a:rPr lang="en-SG" dirty="0" smtClean="0"/>
              <a:t>)</a:t>
            </a:r>
          </a:p>
          <a:p>
            <a:pPr lvl="1"/>
            <a:r>
              <a:rPr lang="en-SG" dirty="0" smtClean="0"/>
              <a:t>IP Spoofing</a:t>
            </a:r>
          </a:p>
          <a:p>
            <a:pPr lvl="1"/>
            <a:r>
              <a:rPr lang="en-SG" dirty="0" smtClean="0"/>
              <a:t>Packet sniffers (</a:t>
            </a:r>
            <a:r>
              <a:rPr lang="en-SG" dirty="0" err="1" smtClean="0"/>
              <a:t>wireshark</a:t>
            </a:r>
            <a:r>
              <a:rPr lang="en-SG" dirty="0" smtClean="0"/>
              <a:t>)</a:t>
            </a:r>
          </a:p>
          <a:p>
            <a:pPr>
              <a:buFont typeface="Wingdings" panose="05000000000000000000" pitchFamily="2" charset="2"/>
              <a:buChar char="ü"/>
            </a:pPr>
            <a:r>
              <a:rPr lang="en-SG" dirty="0" smtClean="0"/>
              <a:t>Trust Exploitation</a:t>
            </a:r>
          </a:p>
          <a:p>
            <a:pPr lvl="1"/>
            <a:r>
              <a:rPr lang="en-SG" dirty="0" smtClean="0"/>
              <a:t>If one system is down, then the other systems in the same trust network will be affected. DNS, SMTP and HTTP are usually in the same network segment an are vulnerable if any one is infected</a:t>
            </a:r>
          </a:p>
          <a:p>
            <a:pPr lvl="1"/>
            <a:endParaRPr lang="en-SG" dirty="0"/>
          </a:p>
        </p:txBody>
      </p:sp>
    </p:spTree>
    <p:extLst>
      <p:ext uri="{BB962C8B-B14F-4D97-AF65-F5344CB8AC3E}">
        <p14:creationId xmlns:p14="http://schemas.microsoft.com/office/powerpoint/2010/main" val="2013995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Access Attacks</a:t>
            </a:r>
            <a:endParaRPr lang="en-SG"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SG" dirty="0" smtClean="0"/>
              <a:t>Port redirection </a:t>
            </a:r>
            <a:r>
              <a:rPr lang="en-US" dirty="0" smtClean="0"/>
              <a:t>is </a:t>
            </a:r>
            <a:r>
              <a:rPr lang="en-US" dirty="0"/>
              <a:t>a type of trust exploitation attack that uses a compromised host to pass traffic through a firewall that would otherwise have been dropped. </a:t>
            </a:r>
          </a:p>
          <a:p>
            <a:pPr lvl="1"/>
            <a:r>
              <a:rPr lang="en-US" dirty="0"/>
              <a:t>Port redirection bypasses the firewall rule sets by changing the normal source port for a type of network traffic.</a:t>
            </a:r>
          </a:p>
          <a:p>
            <a:pPr lvl="1"/>
            <a:r>
              <a:rPr lang="en-US" dirty="0"/>
              <a:t>You can mitigate port redirection by using proper trust models that are network-specific. </a:t>
            </a:r>
          </a:p>
          <a:p>
            <a:pPr lvl="1"/>
            <a:r>
              <a:rPr lang="en-US" dirty="0"/>
              <a:t>Assuming a system is under attack, an IPS can help detect a hacker and prevent installation of such utilities on a host.</a:t>
            </a:r>
          </a:p>
          <a:p>
            <a:endParaRPr lang="en-SG" dirty="0"/>
          </a:p>
        </p:txBody>
      </p:sp>
    </p:spTree>
    <p:extLst>
      <p:ext uri="{BB962C8B-B14F-4D97-AF65-F5344CB8AC3E}">
        <p14:creationId xmlns:p14="http://schemas.microsoft.com/office/powerpoint/2010/main" val="435931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2635" r="-2635"/>
          <a:stretch>
            <a:fillRect/>
          </a:stretch>
        </p:blipFill>
        <p:spPr>
          <a:xfrm>
            <a:off x="2163762" y="1690688"/>
            <a:ext cx="7864475" cy="4887912"/>
          </a:xfrm>
        </p:spPr>
      </p:pic>
      <p:sp>
        <p:nvSpPr>
          <p:cNvPr id="5" name="Title 1"/>
          <p:cNvSpPr>
            <a:spLocks noGrp="1"/>
          </p:cNvSpPr>
          <p:nvPr>
            <p:ph type="title"/>
          </p:nvPr>
        </p:nvSpPr>
        <p:spPr>
          <a:xfrm>
            <a:off x="838200" y="365125"/>
            <a:ext cx="10515600" cy="1325563"/>
          </a:xfrm>
        </p:spPr>
        <p:txBody>
          <a:bodyPr/>
          <a:lstStyle/>
          <a:p>
            <a:r>
              <a:rPr lang="en-SG" dirty="0" smtClean="0"/>
              <a:t>Access Attacks</a:t>
            </a:r>
            <a:endParaRPr lang="en-SG" dirty="0"/>
          </a:p>
        </p:txBody>
      </p:sp>
    </p:spTree>
    <p:extLst>
      <p:ext uri="{BB962C8B-B14F-4D97-AF65-F5344CB8AC3E}">
        <p14:creationId xmlns:p14="http://schemas.microsoft.com/office/powerpoint/2010/main" val="1287850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Access Attacks</a:t>
            </a:r>
            <a:endParaRPr lang="en-SG"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SG" dirty="0" smtClean="0"/>
              <a:t>Social Engineering involves an intruder trying to extract confidential information from an insider in an organisation through social conversation. Information such as location of files, servers, passwords if leaked can cause havoc.</a:t>
            </a:r>
          </a:p>
          <a:p>
            <a:pPr>
              <a:buFont typeface="Wingdings" panose="05000000000000000000" pitchFamily="2" charset="2"/>
              <a:buChar char="ü"/>
            </a:pPr>
            <a:r>
              <a:rPr lang="en-SG" dirty="0" smtClean="0"/>
              <a:t>Phishing is a type of social engineering attack that involves email or other types of messages in an attempt to trick people into providing sensitive information such as credit card numbers or passwords.</a:t>
            </a:r>
            <a:endParaRPr lang="en-SG" dirty="0"/>
          </a:p>
        </p:txBody>
      </p:sp>
    </p:spTree>
    <p:extLst>
      <p:ext uri="{BB962C8B-B14F-4D97-AF65-F5344CB8AC3E}">
        <p14:creationId xmlns:p14="http://schemas.microsoft.com/office/powerpoint/2010/main" val="31336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Mitigating Access Attacks</a:t>
            </a:r>
            <a:endParaRPr lang="en-SG" dirty="0"/>
          </a:p>
        </p:txBody>
      </p:sp>
      <p:sp>
        <p:nvSpPr>
          <p:cNvPr id="3" name="Content Placeholder 2"/>
          <p:cNvSpPr>
            <a:spLocks noGrp="1"/>
          </p:cNvSpPr>
          <p:nvPr>
            <p:ph idx="1"/>
          </p:nvPr>
        </p:nvSpPr>
        <p:spPr/>
        <p:txBody>
          <a:bodyPr/>
          <a:lstStyle/>
          <a:p>
            <a:pPr marL="0" indent="0">
              <a:buNone/>
            </a:pPr>
            <a:r>
              <a:rPr lang="en-US" dirty="0" smtClean="0">
                <a:latin typeface="Arial" panose="020B0604020202020204" pitchFamily="34" charset="0"/>
                <a:cs typeface="Arial" panose="020B0604020202020204" pitchFamily="34" charset="0"/>
              </a:rPr>
              <a:t>Mitigating password attacks and social engineering attacks</a:t>
            </a:r>
          </a:p>
          <a:p>
            <a:pPr>
              <a:buFont typeface="Wingdings" panose="05000000000000000000" pitchFamily="2" charset="2"/>
              <a:buChar char="ü"/>
            </a:pPr>
            <a:r>
              <a:rPr lang="en-US" dirty="0" smtClean="0">
                <a:latin typeface="Arial" panose="020B0604020202020204" pitchFamily="34" charset="0"/>
                <a:cs typeface="Arial" panose="020B0604020202020204" pitchFamily="34" charset="0"/>
              </a:rPr>
              <a:t>Use </a:t>
            </a:r>
            <a:r>
              <a:rPr lang="ja-JP" altLang="en-US"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strong</a:t>
            </a:r>
            <a:r>
              <a:rPr lang="ja-JP" altLang="en-US"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passwords that are at least eight characters long and contain uppercase letters, lowercase letters, numbers, and special characters.</a:t>
            </a:r>
          </a:p>
          <a:p>
            <a:pPr>
              <a:buFont typeface="Wingdings" panose="05000000000000000000" pitchFamily="2" charset="2"/>
              <a:buChar char="ü"/>
            </a:pPr>
            <a:r>
              <a:rPr lang="en-US" dirty="0">
                <a:latin typeface="Arial" panose="020B0604020202020204" pitchFamily="34" charset="0"/>
                <a:cs typeface="Arial" panose="020B0604020202020204" pitchFamily="34" charset="0"/>
              </a:rPr>
              <a:t>Disable accounts after a certain number of unsuccessful login attempts</a:t>
            </a:r>
            <a:r>
              <a:rPr lang="en-US" dirty="0" smtClean="0">
                <a:latin typeface="Arial" panose="020B0604020202020204" pitchFamily="34" charset="0"/>
                <a:cs typeface="Arial" panose="020B0604020202020204" pitchFamily="34" charset="0"/>
              </a:rPr>
              <a:t>.</a:t>
            </a:r>
          </a:p>
          <a:p>
            <a:pPr>
              <a:buFont typeface="Wingdings" panose="05000000000000000000" pitchFamily="2" charset="2"/>
              <a:buChar char="ü"/>
            </a:pPr>
            <a:r>
              <a:rPr lang="en-US" dirty="0" smtClean="0">
                <a:latin typeface="Arial" panose="020B0604020202020204" pitchFamily="34" charset="0"/>
                <a:cs typeface="Arial" panose="020B0604020202020204" pitchFamily="34" charset="0"/>
              </a:rPr>
              <a:t>Do not disclose vital information to suspicious </a:t>
            </a:r>
            <a:r>
              <a:rPr lang="en-US" dirty="0" smtClean="0">
                <a:latin typeface="Arial" panose="020B0604020202020204" pitchFamily="34" charset="0"/>
                <a:cs typeface="Arial" panose="020B0604020202020204" pitchFamily="34" charset="0"/>
              </a:rPr>
              <a:t>personnel</a:t>
            </a:r>
            <a:endParaRPr lang="en-US"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en-US" dirty="0" smtClean="0">
                <a:latin typeface="Arial" panose="020B0604020202020204" pitchFamily="34" charset="0"/>
                <a:cs typeface="Arial" panose="020B0604020202020204" pitchFamily="34" charset="0"/>
              </a:rPr>
              <a:t>Do not click on suspicious emails or web URLs</a:t>
            </a:r>
            <a:endParaRPr lang="en-US" dirty="0">
              <a:latin typeface="Arial" panose="020B0604020202020204" pitchFamily="34" charset="0"/>
              <a:cs typeface="Arial" panose="020B0604020202020204" pitchFamily="34" charset="0"/>
            </a:endParaRPr>
          </a:p>
          <a:p>
            <a:endParaRPr lang="en-SG" dirty="0"/>
          </a:p>
        </p:txBody>
      </p:sp>
    </p:spTree>
    <p:extLst>
      <p:ext uri="{BB962C8B-B14F-4D97-AF65-F5344CB8AC3E}">
        <p14:creationId xmlns:p14="http://schemas.microsoft.com/office/powerpoint/2010/main" val="125413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SG" dirty="0" smtClean="0"/>
              <a:t>Mitigating Access Attacks</a:t>
            </a:r>
            <a:endParaRPr lang="en-SG"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469664" y="3384883"/>
            <a:ext cx="6609524" cy="2943636"/>
          </a:xfrm>
        </p:spPr>
      </p:pic>
      <p:sp>
        <p:nvSpPr>
          <p:cNvPr id="8" name="Rectangle 3"/>
          <p:cNvSpPr txBox="1">
            <a:spLocks noChangeArrowheads="1"/>
          </p:cNvSpPr>
          <p:nvPr/>
        </p:nvSpPr>
        <p:spPr bwMode="auto">
          <a:xfrm>
            <a:off x="914399" y="1676400"/>
            <a:ext cx="10439401" cy="463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11163" indent="-342900" algn="l" rtl="0" eaLnBrk="0" fontAlgn="base" hangingPunct="0">
              <a:lnSpc>
                <a:spcPct val="95000"/>
              </a:lnSpc>
              <a:spcBef>
                <a:spcPts val="1480"/>
              </a:spcBef>
              <a:spcAft>
                <a:spcPct val="0"/>
              </a:spcAft>
              <a:buClr>
                <a:schemeClr val="accent1"/>
              </a:buClr>
              <a:buSzPct val="95000"/>
              <a:buFont typeface="Wingdings" panose="05000000000000000000" pitchFamily="2" charset="2"/>
              <a:buChar char=""/>
              <a:defRPr sz="2200" kern="1200">
                <a:solidFill>
                  <a:srgbClr val="000000"/>
                </a:solidFill>
                <a:latin typeface="+mj-lt"/>
                <a:ea typeface="Trebuchet MS" pitchFamily="34" charset="0"/>
                <a:cs typeface="Trebuchet MS" pitchFamily="34" charset="0"/>
              </a:defRPr>
            </a:lvl1pPr>
            <a:lvl2pPr marL="739775" indent="-285750" algn="l" rtl="0" eaLnBrk="0" fontAlgn="base" hangingPunct="0">
              <a:lnSpc>
                <a:spcPct val="95000"/>
              </a:lnSpc>
              <a:spcBef>
                <a:spcPts val="600"/>
              </a:spcBef>
              <a:spcAft>
                <a:spcPct val="0"/>
              </a:spcAft>
              <a:buClr>
                <a:srgbClr val="007EEA"/>
              </a:buClr>
              <a:buSzPct val="90000"/>
              <a:buFont typeface="Wingdings" panose="05000000000000000000" pitchFamily="2" charset="2"/>
              <a:buChar char=""/>
              <a:defRPr sz="2400" kern="1200">
                <a:solidFill>
                  <a:srgbClr val="000000"/>
                </a:solidFill>
                <a:latin typeface="+mj-lt"/>
                <a:ea typeface="Trebuchet MS" pitchFamily="34" charset="0"/>
                <a:cs typeface="Trebuchet MS" pitchFamily="34" charset="0"/>
              </a:defRPr>
            </a:lvl2pPr>
            <a:lvl3pPr marL="995363" indent="-228600" algn="l" rtl="0" eaLnBrk="0" fontAlgn="base" hangingPunct="0">
              <a:spcBef>
                <a:spcPct val="20000"/>
              </a:spcBef>
              <a:spcAft>
                <a:spcPct val="0"/>
              </a:spcAft>
              <a:buClr>
                <a:srgbClr val="61B6FF"/>
              </a:buClr>
              <a:buFont typeface="Wingdings 2" panose="05020102010507070707" pitchFamily="18" charset="2"/>
              <a:buChar char=""/>
              <a:defRPr sz="2200" kern="1200">
                <a:solidFill>
                  <a:srgbClr val="000000"/>
                </a:solidFill>
                <a:latin typeface="+mj-lt"/>
                <a:ea typeface="Trebuchet MS" pitchFamily="34" charset="0"/>
                <a:cs typeface="Trebuchet MS" pitchFamily="34" charset="0"/>
              </a:defRPr>
            </a:lvl3pPr>
            <a:lvl4pPr marL="1260475" indent="-228600" algn="l" rtl="0" eaLnBrk="0" fontAlgn="base" hangingPunct="0">
              <a:spcBef>
                <a:spcPct val="20000"/>
              </a:spcBef>
              <a:spcAft>
                <a:spcPct val="0"/>
              </a:spcAft>
              <a:buClr>
                <a:srgbClr val="FEB80A"/>
              </a:buClr>
              <a:buFont typeface="Wingdings 3" panose="05040102010807070707" pitchFamily="18" charset="2"/>
              <a:buChar char=""/>
              <a:defRPr sz="2000" kern="1200">
                <a:solidFill>
                  <a:srgbClr val="000000"/>
                </a:solidFill>
                <a:latin typeface="+mj-lt"/>
                <a:ea typeface="Trebuchet MS" pitchFamily="34" charset="0"/>
                <a:cs typeface="Trebuchet MS" pitchFamily="34" charset="0"/>
              </a:defRPr>
            </a:lvl4pPr>
            <a:lvl5pPr marL="1481138" indent="-209550" algn="l" rtl="0" eaLnBrk="0" fontAlgn="base" hangingPunct="0">
              <a:spcBef>
                <a:spcPct val="20000"/>
              </a:spcBef>
              <a:spcAft>
                <a:spcPct val="0"/>
              </a:spcAft>
              <a:buClr>
                <a:srgbClr val="FEB80A"/>
              </a:buClr>
              <a:buFont typeface="Wingdings 2" panose="05020102010507070707" pitchFamily="18" charset="2"/>
              <a:buChar char=""/>
              <a:defRPr sz="2000" kern="1200">
                <a:solidFill>
                  <a:srgbClr val="000000"/>
                </a:solidFill>
                <a:latin typeface="+mj-lt"/>
                <a:ea typeface="Trebuchet MS" pitchFamily="34" charset="0"/>
                <a:cs typeface="Trebuchet MS" pitchFamily="34" charset="0"/>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lstStyle>
          <a:p>
            <a:pPr marL="68263" indent="0">
              <a:buNone/>
            </a:pPr>
            <a:r>
              <a:rPr lang="en-US" sz="2800" dirty="0" smtClean="0">
                <a:latin typeface="Gill Sans MT" panose="020B0502020104020203" pitchFamily="34" charset="0"/>
              </a:rPr>
              <a:t>Mitigating trust exploitations</a:t>
            </a:r>
          </a:p>
          <a:p>
            <a:pPr>
              <a:buClrTx/>
              <a:buFont typeface="Wingdings" panose="05000000000000000000" pitchFamily="2" charset="2"/>
              <a:buChar char="ü"/>
            </a:pPr>
            <a:r>
              <a:rPr lang="en-US" sz="2800" dirty="0" smtClean="0">
                <a:latin typeface="Gill Sans MT" panose="020B0502020104020203" pitchFamily="34" charset="0"/>
              </a:rPr>
              <a:t>Trust levels within a network should be tightly restrained by ensuring that systems inside a firewall never absolutely trust systems outside the firewall. </a:t>
            </a:r>
          </a:p>
          <a:p>
            <a:pPr>
              <a:buClrTx/>
              <a:buFont typeface="Wingdings" panose="05000000000000000000" pitchFamily="2" charset="2"/>
              <a:buChar char="ü"/>
            </a:pPr>
            <a:r>
              <a:rPr lang="en-US" sz="2800" dirty="0" smtClean="0">
                <a:latin typeface="Gill Sans MT" panose="020B0502020104020203" pitchFamily="34" charset="0"/>
              </a:rPr>
              <a:t>IDS/IPS implementation (more later)</a:t>
            </a:r>
            <a:endParaRPr lang="en-US" sz="2800" dirty="0">
              <a:latin typeface="Gill Sans MT" panose="020B0502020104020203" pitchFamily="34" charset="0"/>
            </a:endParaRPr>
          </a:p>
        </p:txBody>
      </p:sp>
    </p:spTree>
    <p:extLst>
      <p:ext uri="{BB962C8B-B14F-4D97-AF65-F5344CB8AC3E}">
        <p14:creationId xmlns:p14="http://schemas.microsoft.com/office/powerpoint/2010/main" val="851877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Attacks</a:t>
            </a:r>
            <a:endParaRPr lang="en-SG" dirty="0"/>
          </a:p>
        </p:txBody>
      </p:sp>
      <p:sp>
        <p:nvSpPr>
          <p:cNvPr id="3" name="Content Placeholder 2"/>
          <p:cNvSpPr>
            <a:spLocks noGrp="1"/>
          </p:cNvSpPr>
          <p:nvPr>
            <p:ph idx="1"/>
          </p:nvPr>
        </p:nvSpPr>
        <p:spPr/>
        <p:txBody>
          <a:bodyPr/>
          <a:lstStyle/>
          <a:p>
            <a:r>
              <a:rPr lang="en-SG" dirty="0" smtClean="0"/>
              <a:t>Malware: Caused by malicious codes like virus, worms, Trojan horses</a:t>
            </a:r>
          </a:p>
          <a:p>
            <a:r>
              <a:rPr lang="en-SG" dirty="0" smtClean="0"/>
              <a:t>Reconnaissance attacks</a:t>
            </a:r>
          </a:p>
          <a:p>
            <a:r>
              <a:rPr lang="en-SG" dirty="0" smtClean="0"/>
              <a:t>Access attacks</a:t>
            </a:r>
          </a:p>
          <a:p>
            <a:r>
              <a:rPr lang="en-SG" dirty="0" smtClean="0">
                <a:solidFill>
                  <a:srgbClr val="FF0000"/>
                </a:solidFill>
              </a:rPr>
              <a:t>Denial of Service (</a:t>
            </a:r>
            <a:r>
              <a:rPr lang="en-SG" dirty="0" err="1" smtClean="0">
                <a:solidFill>
                  <a:srgbClr val="FF0000"/>
                </a:solidFill>
              </a:rPr>
              <a:t>DoS</a:t>
            </a:r>
            <a:r>
              <a:rPr lang="en-SG" dirty="0" smtClean="0">
                <a:solidFill>
                  <a:srgbClr val="FF0000"/>
                </a:solidFill>
              </a:rPr>
              <a:t>) attacks</a:t>
            </a:r>
            <a:endParaRPr lang="en-SG" dirty="0">
              <a:solidFill>
                <a:srgbClr val="FF0000"/>
              </a:solidFill>
            </a:endParaRPr>
          </a:p>
        </p:txBody>
      </p:sp>
    </p:spTree>
    <p:extLst>
      <p:ext uri="{BB962C8B-B14F-4D97-AF65-F5344CB8AC3E}">
        <p14:creationId xmlns:p14="http://schemas.microsoft.com/office/powerpoint/2010/main" val="1101106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Denial of Service Attacks</a:t>
            </a:r>
            <a:endParaRPr lang="en-SG"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SG" dirty="0" smtClean="0"/>
              <a:t>DOS attacks are </a:t>
            </a:r>
            <a:r>
              <a:rPr lang="en-SG" dirty="0"/>
              <a:t>designed to saturate network links </a:t>
            </a:r>
            <a:r>
              <a:rPr lang="en-SG" dirty="0" smtClean="0"/>
              <a:t>with spurious </a:t>
            </a:r>
            <a:r>
              <a:rPr lang="en-SG" dirty="0"/>
              <a:t>data. This data can overwhelm an Internet link, </a:t>
            </a:r>
            <a:r>
              <a:rPr lang="en-SG" dirty="0" smtClean="0"/>
              <a:t>causing legitimate </a:t>
            </a:r>
            <a:r>
              <a:rPr lang="en-SG" dirty="0"/>
              <a:t>traffic to be dropped.</a:t>
            </a:r>
          </a:p>
          <a:p>
            <a:pPr>
              <a:buFont typeface="Wingdings" panose="05000000000000000000" pitchFamily="2" charset="2"/>
              <a:buChar char="ü"/>
            </a:pPr>
            <a:r>
              <a:rPr lang="en-SG" dirty="0" smtClean="0"/>
              <a:t>Distributed </a:t>
            </a:r>
            <a:r>
              <a:rPr lang="en-SG" dirty="0" err="1" smtClean="0"/>
              <a:t>DoS</a:t>
            </a:r>
            <a:r>
              <a:rPr lang="en-SG" dirty="0" smtClean="0"/>
              <a:t> </a:t>
            </a:r>
            <a:r>
              <a:rPr lang="en-SG" dirty="0"/>
              <a:t>uses attack methods similar to standard </a:t>
            </a:r>
            <a:r>
              <a:rPr lang="en-SG" dirty="0" err="1"/>
              <a:t>DoS</a:t>
            </a:r>
            <a:r>
              <a:rPr lang="en-SG" dirty="0"/>
              <a:t> attacks </a:t>
            </a:r>
            <a:r>
              <a:rPr lang="en-SG" dirty="0" smtClean="0"/>
              <a:t>but operates </a:t>
            </a:r>
            <a:r>
              <a:rPr lang="en-SG" dirty="0"/>
              <a:t>on a much larger scale</a:t>
            </a:r>
            <a:r>
              <a:rPr lang="en-SG" dirty="0" smtClean="0"/>
              <a:t>. Typically </a:t>
            </a:r>
            <a:r>
              <a:rPr lang="en-SG" dirty="0"/>
              <a:t>hundreds or thousands of attack </a:t>
            </a:r>
            <a:r>
              <a:rPr lang="en-SG" dirty="0" smtClean="0"/>
              <a:t>points </a:t>
            </a:r>
            <a:r>
              <a:rPr lang="en-SG" dirty="0"/>
              <a:t>attempt </a:t>
            </a:r>
            <a:r>
              <a:rPr lang="en-SG" dirty="0" smtClean="0"/>
              <a:t>to overwhelm </a:t>
            </a:r>
            <a:r>
              <a:rPr lang="en-SG" dirty="0"/>
              <a:t>a target</a:t>
            </a:r>
            <a:r>
              <a:rPr lang="en-SG" dirty="0" smtClean="0"/>
              <a:t>.</a:t>
            </a:r>
          </a:p>
          <a:p>
            <a:pPr>
              <a:buFont typeface="Wingdings" panose="05000000000000000000" pitchFamily="2" charset="2"/>
              <a:buChar char="ü"/>
            </a:pPr>
            <a:r>
              <a:rPr lang="en-SG" dirty="0" err="1" smtClean="0"/>
              <a:t>Mirai</a:t>
            </a:r>
            <a:r>
              <a:rPr lang="en-SG" dirty="0" smtClean="0"/>
              <a:t> botnet DDOS malware</a:t>
            </a:r>
          </a:p>
          <a:p>
            <a:pPr marL="0" indent="0">
              <a:buNone/>
            </a:pPr>
            <a:r>
              <a:rPr lang="en-SG" sz="2400" dirty="0"/>
              <a:t>https://www.incapsula.com/blog/malware-analysis-mirai-ddos-botnet.html</a:t>
            </a:r>
          </a:p>
        </p:txBody>
      </p:sp>
    </p:spTree>
    <p:extLst>
      <p:ext uri="{BB962C8B-B14F-4D97-AF65-F5344CB8AC3E}">
        <p14:creationId xmlns:p14="http://schemas.microsoft.com/office/powerpoint/2010/main" val="2506792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DDOS Example: Smurf Attack</a:t>
            </a:r>
            <a:endParaRPr lang="en-SG" dirty="0"/>
          </a:p>
        </p:txBody>
      </p:sp>
      <p:pic>
        <p:nvPicPr>
          <p:cNvPr id="4" name="Picture 8"/>
          <p:cNvPicPr>
            <a:picLocks noGrp="1" noChangeAspect="1" noChangeArrowheads="1"/>
          </p:cNvPicPr>
          <p:nvPr>
            <p:ph idx="1"/>
          </p:nvPr>
        </p:nvPicPr>
        <p:blipFill>
          <a:blip r:embed="rId2"/>
          <a:srcRect/>
          <a:stretch>
            <a:fillRect/>
          </a:stretch>
        </p:blipFill>
        <p:spPr bwMode="auto">
          <a:xfrm>
            <a:off x="2261438" y="1825625"/>
            <a:ext cx="7669124" cy="4351338"/>
          </a:xfrm>
          <a:prstGeom prst="rect">
            <a:avLst/>
          </a:prstGeom>
          <a:solidFill>
            <a:srgbClr val="CCFFFF"/>
          </a:solidFill>
          <a:ln w="9525">
            <a:noFill/>
            <a:miter lim="800000"/>
            <a:headEnd/>
            <a:tailEnd/>
          </a:ln>
        </p:spPr>
      </p:pic>
    </p:spTree>
    <p:extLst>
      <p:ext uri="{BB962C8B-B14F-4D97-AF65-F5344CB8AC3E}">
        <p14:creationId xmlns:p14="http://schemas.microsoft.com/office/powerpoint/2010/main" val="2877063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lstStyle/>
          <a:p>
            <a:pPr>
              <a:buFont typeface="Wingdings" panose="05000000000000000000" pitchFamily="2" charset="2"/>
              <a:buChar char="ü"/>
              <a:defRPr/>
            </a:pPr>
            <a:r>
              <a:rPr lang="en-US" dirty="0" smtClean="0">
                <a:cs typeface="Arial" panose="020B0604020202020204" pitchFamily="34" charset="0"/>
              </a:rPr>
              <a:t>This attack sends a large number of ICMP requests to directed broadcast addresses, all with spoofed source addresses on the same network as the respective directed broadcast. </a:t>
            </a:r>
          </a:p>
          <a:p>
            <a:pPr lvl="1">
              <a:defRPr/>
            </a:pPr>
            <a:r>
              <a:rPr lang="en-US" dirty="0" smtClean="0">
                <a:cs typeface="Arial" panose="020B0604020202020204" pitchFamily="34" charset="0"/>
              </a:rPr>
              <a:t>If the routing device delivering traffic to those broadcast addresses forwards the directed broadcasts, all hosts on the destination networks send ICMP replies, multiplying the traffic by the number of hosts on the networks. </a:t>
            </a:r>
          </a:p>
          <a:p>
            <a:pPr lvl="1">
              <a:defRPr/>
            </a:pPr>
            <a:r>
              <a:rPr lang="en-US" dirty="0" smtClean="0">
                <a:cs typeface="Arial" panose="020B0604020202020204" pitchFamily="34" charset="0"/>
              </a:rPr>
              <a:t>On a multi-access broadcast network, hundreds of machines might reply to each packet. </a:t>
            </a:r>
            <a:endParaRPr lang="en-US" b="1" dirty="0" smtClean="0">
              <a:solidFill>
                <a:schemeClr val="hlink"/>
              </a:solidFill>
              <a:effectLst>
                <a:outerShdw blurRad="38100" dist="38100" dir="2700000" algn="tl">
                  <a:srgbClr val="C0C0C0"/>
                </a:outerShdw>
              </a:effectLst>
              <a:cs typeface="Arial" panose="020B0604020202020204" pitchFamily="34" charset="0"/>
            </a:endParaRPr>
          </a:p>
        </p:txBody>
      </p:sp>
      <p:sp>
        <p:nvSpPr>
          <p:cNvPr id="5" name="Title 1"/>
          <p:cNvSpPr>
            <a:spLocks noGrp="1"/>
          </p:cNvSpPr>
          <p:nvPr>
            <p:ph type="title"/>
          </p:nvPr>
        </p:nvSpPr>
        <p:spPr>
          <a:xfrm>
            <a:off x="838200" y="365125"/>
            <a:ext cx="10515600" cy="1325563"/>
          </a:xfrm>
        </p:spPr>
        <p:txBody>
          <a:bodyPr/>
          <a:lstStyle/>
          <a:p>
            <a:r>
              <a:rPr lang="en-SG" dirty="0" smtClean="0"/>
              <a:t>DDOS Example: Smurf Attack</a:t>
            </a:r>
            <a:endParaRPr lang="en-SG" dirty="0"/>
          </a:p>
        </p:txBody>
      </p:sp>
    </p:spTree>
    <p:extLst>
      <p:ext uri="{BB962C8B-B14F-4D97-AF65-F5344CB8AC3E}">
        <p14:creationId xmlns:p14="http://schemas.microsoft.com/office/powerpoint/2010/main" val="22724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Mitigating DDOS</a:t>
            </a:r>
            <a:endParaRPr lang="en-SG" dirty="0"/>
          </a:p>
        </p:txBody>
      </p:sp>
      <p:sp>
        <p:nvSpPr>
          <p:cNvPr id="4" name="Rectangle 5"/>
          <p:cNvSpPr>
            <a:spLocks noGrp="1" noChangeArrowheads="1"/>
          </p:cNvSpPr>
          <p:nvPr>
            <p:ph idx="1"/>
          </p:nvPr>
        </p:nvSpPr>
        <p:spPr/>
        <p:txBody>
          <a:bodyPr>
            <a:normAutofit/>
          </a:bodyPr>
          <a:lstStyle/>
          <a:p>
            <a:pPr>
              <a:buFont typeface="Wingdings" panose="05000000000000000000" pitchFamily="2" charset="2"/>
              <a:buChar char="ü"/>
            </a:pPr>
            <a:r>
              <a:rPr lang="en-US" sz="2400" dirty="0" smtClean="0">
                <a:cs typeface="Arial" panose="020B0604020202020204" pitchFamily="34" charset="0"/>
              </a:rPr>
              <a:t>Anti-</a:t>
            </a:r>
            <a:r>
              <a:rPr lang="en-US" sz="2400" dirty="0" err="1" smtClean="0">
                <a:cs typeface="Arial" panose="020B0604020202020204" pitchFamily="34" charset="0"/>
              </a:rPr>
              <a:t>DoS</a:t>
            </a:r>
            <a:r>
              <a:rPr lang="en-US" sz="2400" dirty="0" smtClean="0">
                <a:cs typeface="Arial" panose="020B0604020202020204" pitchFamily="34" charset="0"/>
              </a:rPr>
              <a:t> features on routers and firewalls:</a:t>
            </a:r>
          </a:p>
          <a:p>
            <a:pPr lvl="1"/>
            <a:r>
              <a:rPr lang="en-US" dirty="0" smtClean="0">
                <a:cs typeface="Arial" panose="020B0604020202020204" pitchFamily="34" charset="0"/>
              </a:rPr>
              <a:t>Proper configuration of anti-</a:t>
            </a:r>
            <a:r>
              <a:rPr lang="en-US" dirty="0" err="1" smtClean="0">
                <a:cs typeface="Arial" panose="020B0604020202020204" pitchFamily="34" charset="0"/>
              </a:rPr>
              <a:t>DoS</a:t>
            </a:r>
            <a:r>
              <a:rPr lang="en-US" dirty="0" smtClean="0">
                <a:cs typeface="Arial" panose="020B0604020202020204" pitchFamily="34" charset="0"/>
              </a:rPr>
              <a:t> features on routers and firewalls can help limit the effectiveness of an attack. </a:t>
            </a:r>
          </a:p>
          <a:p>
            <a:pPr lvl="1"/>
            <a:r>
              <a:rPr lang="en-US" dirty="0" smtClean="0">
                <a:cs typeface="Arial" panose="020B0604020202020204" pitchFamily="34" charset="0"/>
              </a:rPr>
              <a:t>These features often involve limits on the amount of half-open TCP connections that a system allows at any given time. </a:t>
            </a:r>
          </a:p>
          <a:p>
            <a:pPr>
              <a:buFont typeface="Wingdings" panose="05000000000000000000" pitchFamily="2" charset="2"/>
              <a:buChar char="ü"/>
            </a:pPr>
            <a:r>
              <a:rPr lang="en-US" sz="2400" dirty="0" smtClean="0">
                <a:cs typeface="Arial" panose="020B0604020202020204" pitchFamily="34" charset="0"/>
              </a:rPr>
              <a:t>Anti-spoof features on routers and firewalls:</a:t>
            </a:r>
          </a:p>
          <a:p>
            <a:pPr lvl="1"/>
            <a:r>
              <a:rPr lang="en-US" dirty="0" smtClean="0">
                <a:cs typeface="Arial" panose="020B0604020202020204" pitchFamily="34" charset="0"/>
              </a:rPr>
              <a:t>Proper configuration of anti-spoof features on your routers and firewalls can reduce your risk of attack. </a:t>
            </a:r>
          </a:p>
          <a:p>
            <a:pPr lvl="1"/>
            <a:r>
              <a:rPr lang="en-US" dirty="0" smtClean="0">
                <a:cs typeface="Arial" panose="020B0604020202020204" pitchFamily="34" charset="0"/>
              </a:rPr>
              <a:t>These features include an appropriate filtering with access lists, unicast reverse path forwarding that looks up the routing table to identify spoofed packets, disabling of source route options, and others.</a:t>
            </a:r>
          </a:p>
          <a:p>
            <a:pPr marL="457200" lvl="1" indent="0">
              <a:buNone/>
            </a:pPr>
            <a:endParaRPr lang="en-US" dirty="0" smtClean="0">
              <a:cs typeface="Arial" panose="020B0604020202020204" pitchFamily="34" charset="0"/>
            </a:endParaRPr>
          </a:p>
        </p:txBody>
      </p:sp>
    </p:spTree>
    <p:extLst>
      <p:ext uri="{BB962C8B-B14F-4D97-AF65-F5344CB8AC3E}">
        <p14:creationId xmlns:p14="http://schemas.microsoft.com/office/powerpoint/2010/main" val="153601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smtClean="0"/>
              <a:t>THE END</a:t>
            </a:r>
            <a:endParaRPr lang="en-SG" dirty="0"/>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3507287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TotalTime>
  <Words>2105</Words>
  <Application>Microsoft Office PowerPoint</Application>
  <PresentationFormat>Widescreen</PresentationFormat>
  <Paragraphs>191</Paragraphs>
  <Slides>32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游ゴシック</vt:lpstr>
      <vt:lpstr>Arial</vt:lpstr>
      <vt:lpstr>Calibri</vt:lpstr>
      <vt:lpstr>Gill Sans MT</vt:lpstr>
      <vt:lpstr>Trebuchet MS</vt:lpstr>
      <vt:lpstr>Wingdings</vt:lpstr>
      <vt:lpstr>Office Theme</vt:lpstr>
      <vt:lpstr>Introduction to Network Security</vt:lpstr>
      <vt:lpstr>Learning Outcomes</vt:lpstr>
      <vt:lpstr>What is Network Security?</vt:lpstr>
      <vt:lpstr>How to protect assets? CIA</vt:lpstr>
      <vt:lpstr>My network is protected….Are you sure?</vt:lpstr>
      <vt:lpstr>Terminology</vt:lpstr>
      <vt:lpstr>Types of Vulnerability</vt:lpstr>
      <vt:lpstr>Types of Threats</vt:lpstr>
      <vt:lpstr>Types of Attacks</vt:lpstr>
      <vt:lpstr>Malware</vt:lpstr>
      <vt:lpstr>Let’s look at some definition!</vt:lpstr>
      <vt:lpstr>The threat is real…</vt:lpstr>
      <vt:lpstr>Mitigating Malware</vt:lpstr>
      <vt:lpstr>Types of Attacks</vt:lpstr>
      <vt:lpstr>Reconnaissance Attacks</vt:lpstr>
      <vt:lpstr>Reconnaissance Attacks</vt:lpstr>
      <vt:lpstr>Reconnaissance Attacks</vt:lpstr>
      <vt:lpstr>Mitigating Reconnaissance</vt:lpstr>
      <vt:lpstr>Types of Attacks</vt:lpstr>
      <vt:lpstr>Access Attacks</vt:lpstr>
      <vt:lpstr>Access Attacks</vt:lpstr>
      <vt:lpstr>Access Attacks</vt:lpstr>
      <vt:lpstr>Access Attacks</vt:lpstr>
      <vt:lpstr>Access Attacks</vt:lpstr>
      <vt:lpstr>Mitigating Access Attacks</vt:lpstr>
      <vt:lpstr>Mitigating Access Attacks</vt:lpstr>
      <vt:lpstr>Types of Attacks</vt:lpstr>
      <vt:lpstr>Denial of Service Attacks</vt:lpstr>
      <vt:lpstr>DDOS Example: Smurf Attack</vt:lpstr>
      <vt:lpstr>DDOS Example: Smurf Attack</vt:lpstr>
      <vt:lpstr>Mitigating DDOS</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Network Security</dc:title>
  <dc:creator>ARTHI CHANDRASEKARAN</dc:creator>
  <cp:lastModifiedBy>ARTHI CHANDRASEKARAN</cp:lastModifiedBy>
  <cp:revision>75</cp:revision>
  <dcterms:created xsi:type="dcterms:W3CDTF">2017-05-12T03:12:33Z</dcterms:created>
  <dcterms:modified xsi:type="dcterms:W3CDTF">2017-10-16T08:25:51Z</dcterms:modified>
</cp:coreProperties>
</file>