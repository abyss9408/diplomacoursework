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9" r:id="rId4"/>
    <p:sldId id="258" r:id="rId5"/>
    <p:sldId id="260" r:id="rId6"/>
    <p:sldId id="283" r:id="rId7"/>
    <p:sldId id="263" r:id="rId8"/>
    <p:sldId id="262" r:id="rId9"/>
    <p:sldId id="261" r:id="rId10"/>
    <p:sldId id="267" r:id="rId11"/>
    <p:sldId id="264" r:id="rId12"/>
    <p:sldId id="266" r:id="rId13"/>
    <p:sldId id="265" r:id="rId14"/>
    <p:sldId id="268" r:id="rId15"/>
    <p:sldId id="269" r:id="rId16"/>
    <p:sldId id="270" r:id="rId17"/>
    <p:sldId id="272" r:id="rId18"/>
    <p:sldId id="271" r:id="rId19"/>
    <p:sldId id="273" r:id="rId20"/>
    <p:sldId id="274" r:id="rId21"/>
    <p:sldId id="275" r:id="rId22"/>
    <p:sldId id="28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96" autoAdjust="0"/>
    <p:restoredTop sz="94660"/>
  </p:normalViewPr>
  <p:slideViewPr>
    <p:cSldViewPr snapToGrid="0">
      <p:cViewPr varScale="1">
        <p:scale>
          <a:sx n="69" d="100"/>
          <a:sy n="69" d="100"/>
        </p:scale>
        <p:origin x="8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4E685-A775-4170-B06A-62043F7872C0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6B66C-E9CF-4350-821B-249DF0A5D53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011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79D2C-2513-4C1B-9532-8FA5C66044E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10.1.2.3</a:t>
            </a:r>
            <a:r>
              <a:rPr lang="en-US" sz="1200" b="1" i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DHCPv4 Relay</a:t>
            </a:r>
          </a:p>
        </p:txBody>
      </p:sp>
    </p:spTree>
    <p:extLst>
      <p:ext uri="{BB962C8B-B14F-4D97-AF65-F5344CB8AC3E}">
        <p14:creationId xmlns:p14="http://schemas.microsoft.com/office/powerpoint/2010/main" val="176019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203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  <a:lvl2pPr>
              <a:defRPr sz="2400">
                <a:latin typeface="Gill Sans MT" panose="020B0502020104020203" pitchFamily="34" charset="0"/>
              </a:defRPr>
            </a:lvl2pPr>
            <a:lvl3pPr>
              <a:defRPr sz="2000">
                <a:latin typeface="Gill Sans MT" panose="020B0502020104020203" pitchFamily="34" charset="0"/>
              </a:defRPr>
            </a:lvl3pPr>
            <a:lvl4pPr>
              <a:defRPr sz="1800">
                <a:latin typeface="Gill Sans MT" panose="020B0502020104020203" pitchFamily="34" charset="0"/>
              </a:defRPr>
            </a:lvl4pPr>
            <a:lvl5pPr>
              <a:defRPr sz="1800"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898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5125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835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1129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777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150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4138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75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904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9760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1C62-9724-4230-B8E4-0FE573A11A38}" type="datetimeFigureOut">
              <a:rPr lang="en-SG" smtClean="0"/>
              <a:t>30/10/2018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FAD32-A482-4C98-976B-612E7700232B}" type="slidenum">
              <a:rPr lang="en-SG" smtClean="0"/>
              <a:t>‹#›</a:t>
            </a:fld>
            <a:endParaRPr lang="en-SG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445" y="156548"/>
            <a:ext cx="2347642" cy="51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iSl89al4nI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Address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425704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SG" dirty="0"/>
              <a:t>Define the use of </a:t>
            </a:r>
            <a:r>
              <a:rPr lang="en-SG"/>
              <a:t>DHCP by </a:t>
            </a:r>
            <a:r>
              <a:rPr lang="en-SG" dirty="0"/>
              <a:t>simulating it in an enterprise network </a:t>
            </a:r>
          </a:p>
          <a:p>
            <a:pPr lvl="0"/>
            <a:r>
              <a:rPr lang="en-SG" dirty="0"/>
              <a:t>Explain DHCP snooping and implement mitigation using simulation tools</a:t>
            </a:r>
          </a:p>
        </p:txBody>
      </p:sp>
    </p:spTree>
    <p:extLst>
      <p:ext uri="{BB962C8B-B14F-4D97-AF65-F5344CB8AC3E}">
        <p14:creationId xmlns:p14="http://schemas.microsoft.com/office/powerpoint/2010/main" val="381351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192" y="1523872"/>
            <a:ext cx="10515600" cy="5096384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2000" b="1" dirty="0"/>
              <a:t>Manual Allocation</a:t>
            </a:r>
          </a:p>
          <a:p>
            <a:pPr marL="800100" lvl="1" indent="-342900">
              <a:lnSpc>
                <a:spcPct val="100000"/>
              </a:lnSpc>
              <a:defRPr/>
            </a:pPr>
            <a:r>
              <a:rPr lang="en-US" dirty="0"/>
              <a:t>The administrator </a:t>
            </a:r>
            <a:r>
              <a:rPr lang="en-US" u="sng" dirty="0"/>
              <a:t>assigns a static IPv4 address</a:t>
            </a:r>
            <a:r>
              <a:rPr lang="en-US" i="1" dirty="0"/>
              <a:t> </a:t>
            </a:r>
            <a:r>
              <a:rPr lang="en-US" dirty="0"/>
              <a:t>to the device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2000" b="1" dirty="0"/>
              <a:t>Automatic Allocation</a:t>
            </a:r>
            <a:endParaRPr lang="en-US" sz="2000" dirty="0"/>
          </a:p>
          <a:p>
            <a:pPr marL="800100" lvl="1" indent="-342900">
              <a:lnSpc>
                <a:spcPct val="100000"/>
              </a:lnSpc>
              <a:defRPr/>
            </a:pPr>
            <a:r>
              <a:rPr lang="en-US" dirty="0"/>
              <a:t>DHCPv4 automatically assigns a static IPv4 address from a pool of available addresses  permanently to a device. 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2000" b="1" dirty="0"/>
              <a:t>Dynamic Allocation</a:t>
            </a:r>
            <a:endParaRPr lang="en-US" sz="2000" dirty="0"/>
          </a:p>
          <a:p>
            <a:pPr marL="800100" lvl="1" indent="-342900">
              <a:lnSpc>
                <a:spcPct val="100000"/>
              </a:lnSpc>
              <a:defRPr/>
            </a:pPr>
            <a:r>
              <a:rPr lang="en-US" dirty="0"/>
              <a:t>DHCPv4 </a:t>
            </a:r>
            <a:r>
              <a:rPr lang="en-US" u="sng" dirty="0"/>
              <a:t>dynamically</a:t>
            </a:r>
            <a:r>
              <a:rPr lang="en-US" dirty="0"/>
              <a:t> assigns, or leases, an IPv4 address from a pool of addresses </a:t>
            </a:r>
            <a:r>
              <a:rPr lang="en-US" u="sng" dirty="0"/>
              <a:t>for a limited period of time</a:t>
            </a:r>
            <a:r>
              <a:rPr lang="en-US" dirty="0"/>
              <a:t> chosen by the server, or until the client no longer needs the address. </a:t>
            </a:r>
          </a:p>
          <a:p>
            <a:pPr marL="800100" lvl="1" indent="-342900">
              <a:lnSpc>
                <a:spcPct val="100000"/>
              </a:lnSpc>
              <a:defRPr/>
            </a:pPr>
            <a:r>
              <a:rPr lang="en-US" u="sng" dirty="0"/>
              <a:t>This method is the most commonly used.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37332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DHCPv4 Operation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805678" y="1534810"/>
            <a:ext cx="5715000" cy="51158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683074" y="1856232"/>
            <a:ext cx="4711885" cy="43223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517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Configuring DHCPv4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2000" dirty="0"/>
              <a:t>A Cisco router can be configured to act as a DHCPv4 server. To configure DHCP: </a:t>
            </a:r>
          </a:p>
          <a:p>
            <a:pPr marL="795337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1800" dirty="0"/>
              <a:t>Exclude reserved addresses from the pool.</a:t>
            </a:r>
          </a:p>
          <a:p>
            <a:pPr marL="795337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1800" dirty="0"/>
              <a:t>Set up a DHCP pool name.</a:t>
            </a:r>
          </a:p>
          <a:p>
            <a:pPr marL="795337" lvl="1" indent="-457200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sz="1800" dirty="0"/>
              <a:t>Define the network and subnet mask. Use the 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default-router</a:t>
            </a:r>
            <a:r>
              <a:rPr lang="en-US" sz="1800" dirty="0"/>
              <a:t> command for the default gateway. Optional parameters – </a:t>
            </a:r>
            <a:r>
              <a:rPr lang="en-US" sz="1800" i="1" dirty="0" err="1"/>
              <a:t>dns</a:t>
            </a:r>
            <a:r>
              <a:rPr lang="en-US" sz="1800" i="1" dirty="0"/>
              <a:t> server</a:t>
            </a:r>
            <a:r>
              <a:rPr lang="en-US" sz="1800" dirty="0"/>
              <a:t>, </a:t>
            </a:r>
            <a:r>
              <a:rPr lang="en-US" sz="1800" i="1" dirty="0"/>
              <a:t>domain-name</a:t>
            </a:r>
            <a:r>
              <a:rPr lang="en-US" sz="1800" dirty="0"/>
              <a:t>.</a:t>
            </a:r>
          </a:p>
          <a:p>
            <a:pPr marL="719137" lvl="1" indent="-381000">
              <a:lnSpc>
                <a:spcPct val="100000"/>
              </a:lnSpc>
              <a:defRPr/>
            </a:pPr>
            <a:endParaRPr lang="en-US" b="1" dirty="0"/>
          </a:p>
          <a:p>
            <a:pPr marL="719137" lvl="1" indent="-381000">
              <a:lnSpc>
                <a:spcPct val="100000"/>
              </a:lnSpc>
              <a:defRPr/>
            </a:pPr>
            <a:endParaRPr lang="en-US" b="1" dirty="0"/>
          </a:p>
          <a:p>
            <a:pPr marL="719137" lvl="1" indent="-381000">
              <a:lnSpc>
                <a:spcPct val="100000"/>
              </a:lnSpc>
              <a:defRPr/>
            </a:pPr>
            <a:endParaRPr lang="en-US" b="1" dirty="0"/>
          </a:p>
          <a:p>
            <a:endParaRPr lang="en-SG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856826" y="3544914"/>
            <a:ext cx="6187044" cy="233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078992" y="6035040"/>
            <a:ext cx="64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Verify configuration by “show running-</a:t>
            </a:r>
            <a:r>
              <a:rPr lang="en-SG" dirty="0" err="1"/>
              <a:t>config</a:t>
            </a:r>
            <a:r>
              <a:rPr lang="en-SG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98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05217" y="676496"/>
            <a:ext cx="8959923" cy="838200"/>
          </a:xfrm>
        </p:spPr>
        <p:txBody>
          <a:bodyPr>
            <a:normAutofit/>
          </a:bodyPr>
          <a:lstStyle/>
          <a:p>
            <a:r>
              <a:rPr lang="en-US" kern="1200" dirty="0"/>
              <a:t>DHCPv4 Relay</a:t>
            </a:r>
            <a:endParaRPr lang="en-US" dirty="0"/>
          </a:p>
        </p:txBody>
      </p:sp>
      <p:sp>
        <p:nvSpPr>
          <p:cNvPr id="7171" name="Rectangle 6"/>
          <p:cNvSpPr>
            <a:spLocks noGrp="1" noChangeArrowheads="1"/>
          </p:cNvSpPr>
          <p:nvPr>
            <p:ph idx="1"/>
          </p:nvPr>
        </p:nvSpPr>
        <p:spPr>
          <a:xfrm>
            <a:off x="1296537" y="1514696"/>
            <a:ext cx="8952363" cy="4933730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defRPr/>
            </a:pPr>
            <a:r>
              <a:rPr lang="en-US" sz="2000" dirty="0"/>
              <a:t>To relay a DHCP request beyond the subnet, </a:t>
            </a:r>
            <a:r>
              <a:rPr lang="en-US" sz="2000" u="sng" dirty="0"/>
              <a:t>the router interface receiving the DHCP request</a:t>
            </a:r>
            <a:r>
              <a:rPr lang="en-US" sz="2000" dirty="0"/>
              <a:t> needs to be configured with a “helper address” pointing to the DHCP server.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896320" y="3217761"/>
            <a:ext cx="8115618" cy="3308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3847513" y="2728301"/>
            <a:ext cx="55085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SG" i="1" dirty="0"/>
              <a:t>Interface receiving the DHCP request          DHCP server IP</a:t>
            </a:r>
          </a:p>
          <a:p>
            <a:pPr algn="r"/>
            <a:endParaRPr lang="en-SG" i="1" dirty="0"/>
          </a:p>
          <a:p>
            <a:pPr algn="r"/>
            <a:endParaRPr lang="en-SG" i="1" dirty="0"/>
          </a:p>
          <a:p>
            <a:pPr algn="r"/>
            <a:endParaRPr lang="en-SG" i="1" dirty="0"/>
          </a:p>
          <a:p>
            <a:pPr algn="r"/>
            <a:endParaRPr lang="en-SG" i="1" dirty="0"/>
          </a:p>
          <a:p>
            <a:pPr algn="r"/>
            <a:endParaRPr lang="en-SG" i="1" dirty="0"/>
          </a:p>
          <a:p>
            <a:pPr algn="r"/>
            <a:r>
              <a:rPr lang="en-SG" i="1" dirty="0"/>
              <a:t>check</a:t>
            </a:r>
          </a:p>
        </p:txBody>
      </p:sp>
      <p:cxnSp>
        <p:nvCxnSpPr>
          <p:cNvPr id="4" name="Straight Arrow Connector 3"/>
          <p:cNvCxnSpPr/>
          <p:nvPr/>
        </p:nvCxnSpPr>
        <p:spPr bwMode="auto">
          <a:xfrm flipH="1">
            <a:off x="7057946" y="2991937"/>
            <a:ext cx="1646810" cy="7865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>
            <a:off x="4596165" y="2991937"/>
            <a:ext cx="237506" cy="4516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5581934" y="4442997"/>
            <a:ext cx="3007885" cy="78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6179127" y="4521275"/>
            <a:ext cx="2410692" cy="14183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674748713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about DHCP in IPv6?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01" t="24500" r="16311" b="10698"/>
          <a:stretch/>
        </p:blipFill>
        <p:spPr bwMode="auto">
          <a:xfrm>
            <a:off x="5331396" y="1347159"/>
            <a:ext cx="6246421" cy="530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4493196" cy="4351338"/>
          </a:xfrm>
        </p:spPr>
        <p:txBody>
          <a:bodyPr/>
          <a:lstStyle/>
          <a:p>
            <a:r>
              <a:rPr lang="en-SG" dirty="0"/>
              <a:t>The client PC will send a Router solicitation asking for a Router Advertisement containing important information like IP addresses, gateway and server options</a:t>
            </a:r>
          </a:p>
          <a:p>
            <a:r>
              <a:rPr lang="en-SG" dirty="0"/>
              <a:t>RA can be given through SLAAC, DHCPv6 or a combination of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5014" y="4971768"/>
            <a:ext cx="1726986" cy="1588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/>
              <a:t>Router Advertisement options to be determined by 2 flags:-</a:t>
            </a:r>
          </a:p>
          <a:p>
            <a:r>
              <a:rPr lang="en-SG" sz="1800" dirty="0"/>
              <a:t>“M” and “O”</a:t>
            </a:r>
          </a:p>
        </p:txBody>
      </p:sp>
      <p:sp>
        <p:nvSpPr>
          <p:cNvPr id="8" name="Left Brace 7"/>
          <p:cNvSpPr/>
          <p:nvPr/>
        </p:nvSpPr>
        <p:spPr bwMode="auto">
          <a:xfrm flipH="1">
            <a:off x="10159589" y="4626591"/>
            <a:ext cx="305425" cy="2028838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63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SLAAC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dirty="0"/>
              <a:t>Stateless Address </a:t>
            </a:r>
            <a:r>
              <a:rPr lang="en-SG" dirty="0" err="1"/>
              <a:t>Autoconfiguration</a:t>
            </a:r>
            <a:r>
              <a:rPr lang="en-SG" dirty="0"/>
              <a:t> (SLAAC) is a method in which a device can obtain an IPv6 global unicast address without the services of a DHCPv6 server.</a:t>
            </a:r>
          </a:p>
          <a:p>
            <a:r>
              <a:rPr lang="en-SG" dirty="0"/>
              <a:t>Stateless means that the method does not require a dedicated server to provide information.</a:t>
            </a:r>
          </a:p>
          <a:p>
            <a:r>
              <a:rPr lang="en-SG" dirty="0"/>
              <a:t>After receiving the RA, Client can generate its unique interface ID using EUI-64 process or randomly generated.</a:t>
            </a:r>
          </a:p>
          <a:p>
            <a:r>
              <a:rPr lang="en-SG" dirty="0"/>
              <a:t>Then the client will check for duplicate address in the network using the DAD multicast.</a:t>
            </a:r>
          </a:p>
        </p:txBody>
      </p:sp>
    </p:spTree>
    <p:extLst>
      <p:ext uri="{BB962C8B-B14F-4D97-AF65-F5344CB8AC3E}">
        <p14:creationId xmlns:p14="http://schemas.microsoft.com/office/powerpoint/2010/main" val="2792828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Pure SLAAC operation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0" t="23550" r="18961" b="15636"/>
          <a:stretch/>
        </p:blipFill>
        <p:spPr bwMode="auto">
          <a:xfrm>
            <a:off x="5243586" y="1394659"/>
            <a:ext cx="5890162" cy="521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0635" y="3155748"/>
            <a:ext cx="4922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400" dirty="0">
                <a:latin typeface="Gill Sans MT" panose="020B0502020104020203" pitchFamily="34" charset="0"/>
              </a:rPr>
              <a:t>Purely SLAAC, both M (managed </a:t>
            </a:r>
            <a:r>
              <a:rPr lang="en-SG" sz="2400" dirty="0" err="1">
                <a:latin typeface="Gill Sans MT" panose="020B0502020104020203" pitchFamily="34" charset="0"/>
              </a:rPr>
              <a:t>config</a:t>
            </a:r>
            <a:r>
              <a:rPr lang="en-SG" sz="2400" dirty="0">
                <a:latin typeface="Gill Sans MT" panose="020B0502020104020203" pitchFamily="34" charset="0"/>
              </a:rPr>
              <a:t>) flag and O (other </a:t>
            </a:r>
            <a:r>
              <a:rPr lang="en-SG" sz="2400" dirty="0" err="1">
                <a:latin typeface="Gill Sans MT" panose="020B0502020104020203" pitchFamily="34" charset="0"/>
              </a:rPr>
              <a:t>config</a:t>
            </a:r>
            <a:r>
              <a:rPr lang="en-SG" sz="2400" dirty="0">
                <a:latin typeface="Gill Sans MT" panose="020B0502020104020203" pitchFamily="34" charset="0"/>
              </a:rPr>
              <a:t>) flag are set to 0 (by default)</a:t>
            </a:r>
          </a:p>
        </p:txBody>
      </p:sp>
    </p:spTree>
    <p:extLst>
      <p:ext uri="{BB962C8B-B14F-4D97-AF65-F5344CB8AC3E}">
        <p14:creationId xmlns:p14="http://schemas.microsoft.com/office/powerpoint/2010/main" val="3114595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Configuring SLAAC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>
                <a:solidFill>
                  <a:srgbClr val="002060"/>
                </a:solidFill>
              </a:rPr>
              <a:t>R1(</a:t>
            </a:r>
            <a:r>
              <a:rPr lang="en-SG" dirty="0" err="1">
                <a:solidFill>
                  <a:srgbClr val="002060"/>
                </a:solidFill>
              </a:rPr>
              <a:t>config</a:t>
            </a:r>
            <a:r>
              <a:rPr lang="en-SG" dirty="0">
                <a:solidFill>
                  <a:srgbClr val="002060"/>
                </a:solidFill>
              </a:rPr>
              <a:t>)#ipv6 unicast-routing</a:t>
            </a:r>
          </a:p>
          <a:p>
            <a:pPr marL="0" indent="0">
              <a:buNone/>
            </a:pPr>
            <a:r>
              <a:rPr lang="en-SG" dirty="0"/>
              <a:t>Activates IPv6 on Router</a:t>
            </a:r>
          </a:p>
          <a:p>
            <a:pPr marL="0" indent="0">
              <a:buNone/>
            </a:pPr>
            <a:r>
              <a:rPr lang="en-SG" dirty="0">
                <a:solidFill>
                  <a:srgbClr val="002060"/>
                </a:solidFill>
              </a:rPr>
              <a:t>R1(config-if)# ipv6 </a:t>
            </a:r>
            <a:r>
              <a:rPr lang="en-SG" dirty="0" err="1">
                <a:solidFill>
                  <a:srgbClr val="002060"/>
                </a:solidFill>
              </a:rPr>
              <a:t>addr</a:t>
            </a:r>
            <a:r>
              <a:rPr lang="en-SG" dirty="0">
                <a:solidFill>
                  <a:srgbClr val="002060"/>
                </a:solidFill>
              </a:rPr>
              <a:t> 2001:DB8:0:20::1/64</a:t>
            </a:r>
          </a:p>
          <a:p>
            <a:pPr marL="0" indent="0">
              <a:buNone/>
            </a:pPr>
            <a:r>
              <a:rPr lang="en-SG" dirty="0"/>
              <a:t>Assign the </a:t>
            </a:r>
            <a:r>
              <a:rPr lang="en-SG" dirty="0" err="1"/>
              <a:t>initerface</a:t>
            </a:r>
            <a:r>
              <a:rPr lang="en-SG" dirty="0"/>
              <a:t> with the global prefix with which the clients will derive their interface ID with</a:t>
            </a:r>
          </a:p>
          <a:p>
            <a:pPr marL="0" indent="0">
              <a:buNone/>
            </a:pPr>
            <a:r>
              <a:rPr lang="en-SG" dirty="0">
                <a:solidFill>
                  <a:srgbClr val="002060"/>
                </a:solidFill>
              </a:rPr>
              <a:t>R1(</a:t>
            </a:r>
            <a:r>
              <a:rPr lang="en-SG" dirty="0" err="1">
                <a:solidFill>
                  <a:srgbClr val="002060"/>
                </a:solidFill>
              </a:rPr>
              <a:t>config</a:t>
            </a:r>
            <a:r>
              <a:rPr lang="en-SG" dirty="0">
                <a:solidFill>
                  <a:srgbClr val="002060"/>
                </a:solidFill>
              </a:rPr>
              <a:t>-if)#ipv6 enable</a:t>
            </a:r>
          </a:p>
          <a:p>
            <a:pPr marL="0" indent="0">
              <a:buNone/>
            </a:pPr>
            <a:r>
              <a:rPr lang="en-SG" dirty="0"/>
              <a:t>Enable ipv6 on the interface</a:t>
            </a:r>
          </a:p>
          <a:p>
            <a:pPr marL="0" indent="0">
              <a:buNone/>
            </a:pPr>
            <a:r>
              <a:rPr lang="en-SG" dirty="0"/>
              <a:t>Both M and O flags are = 0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C1D89-BE68-400E-BA8B-B0F22D3932AD}"/>
              </a:ext>
            </a:extLst>
          </p:cNvPr>
          <p:cNvSpPr txBox="1"/>
          <p:nvPr/>
        </p:nvSpPr>
        <p:spPr>
          <a:xfrm>
            <a:off x="6359236" y="5971309"/>
            <a:ext cx="425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Packet tracer example</a:t>
            </a:r>
          </a:p>
        </p:txBody>
      </p:sp>
    </p:spTree>
    <p:extLst>
      <p:ext uri="{BB962C8B-B14F-4D97-AF65-F5344CB8AC3E}">
        <p14:creationId xmlns:p14="http://schemas.microsoft.com/office/powerpoint/2010/main" val="177343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SLAAC with Stateless DHCPv6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44675"/>
            <a:ext cx="3486150" cy="4351338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The IP address is still generated by the client with the prefix given by the router. Other information can be obtained thro the server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12" t="24065" r="15299" b="23020"/>
          <a:stretch/>
        </p:blipFill>
        <p:spPr bwMode="auto">
          <a:xfrm>
            <a:off x="3560956" y="1842470"/>
            <a:ext cx="6460178" cy="4334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880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>
            <a:extLst>
              <a:ext uri="{FF2B5EF4-FFF2-40B4-BE49-F238E27FC236}">
                <a16:creationId xmlns:a16="http://schemas.microsoft.com/office/drawing/2014/main" id="{A173B104-AEAF-4688-AFFE-200CFFC500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86" t="49807" r="18987" b="24014"/>
          <a:stretch/>
        </p:blipFill>
        <p:spPr bwMode="auto">
          <a:xfrm>
            <a:off x="105169" y="4119868"/>
            <a:ext cx="7193209" cy="2613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642" y="365125"/>
            <a:ext cx="10728158" cy="1325563"/>
          </a:xfrm>
        </p:spPr>
        <p:txBody>
          <a:bodyPr>
            <a:normAutofit/>
          </a:bodyPr>
          <a:lstStyle/>
          <a:p>
            <a:r>
              <a:rPr lang="en-SG" sz="4000" dirty="0"/>
              <a:t>Configuring SLAAC with Stateless DHCPv6 Server</a:t>
            </a:r>
          </a:p>
        </p:txBody>
      </p:sp>
      <p:sp>
        <p:nvSpPr>
          <p:cNvPr id="6" name="Right Brace 5"/>
          <p:cNvSpPr/>
          <p:nvPr/>
        </p:nvSpPr>
        <p:spPr>
          <a:xfrm>
            <a:off x="5989721" y="4660439"/>
            <a:ext cx="247650" cy="6477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ight Brace 7"/>
          <p:cNvSpPr/>
          <p:nvPr/>
        </p:nvSpPr>
        <p:spPr>
          <a:xfrm>
            <a:off x="5837321" y="5864687"/>
            <a:ext cx="152400" cy="5905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80AE18A-4383-4E5E-8C04-A800EFABF0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76" t="23645" r="14935" b="44448"/>
          <a:stretch/>
        </p:blipFill>
        <p:spPr bwMode="auto">
          <a:xfrm>
            <a:off x="625642" y="1431309"/>
            <a:ext cx="6460178" cy="261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9B286B-50DE-4956-A4B5-CB6C427B03BE}"/>
              </a:ext>
            </a:extLst>
          </p:cNvPr>
          <p:cNvSpPr txBox="1"/>
          <p:nvPr/>
        </p:nvSpPr>
        <p:spPr>
          <a:xfrm>
            <a:off x="6442364" y="4807527"/>
            <a:ext cx="5644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Defines  where to find the DNS server for other info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AC2133-EEFD-4738-80E7-03C9E624571E}"/>
              </a:ext>
            </a:extLst>
          </p:cNvPr>
          <p:cNvSpPr/>
          <p:nvPr/>
        </p:nvSpPr>
        <p:spPr>
          <a:xfrm>
            <a:off x="7310692" y="6346182"/>
            <a:ext cx="4822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dirty="0"/>
              <a:t>https://www.youtube.com/watch?v=irtbIo0Nxuw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3F3877-EBE1-4878-9AF1-FBE3087FB8E4}"/>
              </a:ext>
            </a:extLst>
          </p:cNvPr>
          <p:cNvSpPr/>
          <p:nvPr/>
        </p:nvSpPr>
        <p:spPr>
          <a:xfrm>
            <a:off x="6002030" y="5901799"/>
            <a:ext cx="2167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SG" dirty="0"/>
              <a:t>M flag is 0. O flag is 1</a:t>
            </a:r>
          </a:p>
        </p:txBody>
      </p:sp>
    </p:spTree>
    <p:extLst>
      <p:ext uri="{BB962C8B-B14F-4D97-AF65-F5344CB8AC3E}">
        <p14:creationId xmlns:p14="http://schemas.microsoft.com/office/powerpoint/2010/main" val="143748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Stateful</a:t>
            </a:r>
            <a:r>
              <a:rPr lang="en-SG" dirty="0"/>
              <a:t> DHCPv6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922650"/>
            <a:ext cx="3543300" cy="4351338"/>
          </a:xfrm>
        </p:spPr>
        <p:txBody>
          <a:bodyPr/>
          <a:lstStyle/>
          <a:p>
            <a:r>
              <a:rPr lang="en-SG" dirty="0"/>
              <a:t>All IP addresses and information are obtained from a DHCP server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661351" y="2022662"/>
            <a:ext cx="6412674" cy="39572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1734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Configuring </a:t>
            </a:r>
            <a:r>
              <a:rPr lang="en-SG" dirty="0" err="1"/>
              <a:t>Stateful</a:t>
            </a:r>
            <a:r>
              <a:rPr lang="en-SG" dirty="0"/>
              <a:t> DHCPv6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183"/>
            <a:ext cx="10515600" cy="4486275"/>
          </a:xfrm>
        </p:spPr>
        <p:txBody>
          <a:bodyPr/>
          <a:lstStyle/>
          <a:p>
            <a:r>
              <a:rPr lang="en-SG" dirty="0"/>
              <a:t>Note: the router acts as a DHCPv6 Server. You may have a dedicated server which issues IPv6 addresses to Clients.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541124" y="2266950"/>
            <a:ext cx="6902413" cy="4591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588213" y="2592913"/>
            <a:ext cx="1494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>
                <a:latin typeface="Gill Sans MT" panose="020B0502020104020203" pitchFamily="34" charset="0"/>
              </a:rPr>
              <a:t>M Flag is 1</a:t>
            </a:r>
          </a:p>
        </p:txBody>
      </p:sp>
      <p:sp>
        <p:nvSpPr>
          <p:cNvPr id="6" name="Right Brace 5"/>
          <p:cNvSpPr/>
          <p:nvPr/>
        </p:nvSpPr>
        <p:spPr>
          <a:xfrm>
            <a:off x="6400800" y="4381500"/>
            <a:ext cx="304800" cy="8572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/>
          <p:cNvSpPr txBox="1"/>
          <p:nvPr/>
        </p:nvSpPr>
        <p:spPr>
          <a:xfrm>
            <a:off x="7443537" y="4071461"/>
            <a:ext cx="3552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latin typeface="Gill Sans MT" panose="020B0502020104020203" pitchFamily="34" charset="0"/>
              </a:rPr>
              <a:t>Create DHCP Pool from which IP </a:t>
            </a:r>
            <a:r>
              <a:rPr lang="en-SG" dirty="0" err="1">
                <a:latin typeface="Gill Sans MT" panose="020B0502020104020203" pitchFamily="34" charset="0"/>
              </a:rPr>
              <a:t>addr</a:t>
            </a:r>
            <a:r>
              <a:rPr lang="en-SG" dirty="0">
                <a:latin typeface="Gill Sans MT" panose="020B0502020104020203" pitchFamily="34" charset="0"/>
              </a:rPr>
              <a:t> are given out to the clients and all other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5094" y="5569569"/>
            <a:ext cx="3552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latin typeface="Gill Sans MT" panose="020B0502020104020203" pitchFamily="34" charset="0"/>
              </a:rPr>
              <a:t>Set flag to receive IP address from a DHCP server</a:t>
            </a:r>
          </a:p>
        </p:txBody>
      </p:sp>
    </p:spTree>
    <p:extLst>
      <p:ext uri="{BB962C8B-B14F-4D97-AF65-F5344CB8AC3E}">
        <p14:creationId xmlns:p14="http://schemas.microsoft.com/office/powerpoint/2010/main" val="1346029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DHCPv4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DHCP Starvation Attacks</a:t>
            </a:r>
          </a:p>
          <a:p>
            <a:r>
              <a:rPr lang="en-SG" dirty="0"/>
              <a:t>Rouge DHCP Server Attacks</a:t>
            </a:r>
          </a:p>
        </p:txBody>
      </p:sp>
    </p:spTree>
    <p:extLst>
      <p:ext uri="{BB962C8B-B14F-4D97-AF65-F5344CB8AC3E}">
        <p14:creationId xmlns:p14="http://schemas.microsoft.com/office/powerpoint/2010/main" val="221516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 Starvation Attack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/>
              <a:t>The attacker may use attack tools like Gobbler/Yersinia to request for all the available DHCP addresses in the server’s pool by using spoofed mac addresses.</a:t>
            </a:r>
          </a:p>
          <a:p>
            <a:endParaRPr lang="en-SG" dirty="0"/>
          </a:p>
          <a:p>
            <a:r>
              <a:rPr lang="en-SG" dirty="0"/>
              <a:t>Once the pool is exhausted of all the IP addresses, when a new request for IP comes along by a legitimate user, the user is denied of the DHCP service.</a:t>
            </a:r>
          </a:p>
          <a:p>
            <a:endParaRPr lang="en-SG" dirty="0"/>
          </a:p>
          <a:p>
            <a:r>
              <a:rPr lang="en-SG" dirty="0"/>
              <a:t>This is a kind of </a:t>
            </a:r>
            <a:r>
              <a:rPr lang="en-SG" dirty="0" err="1"/>
              <a:t>DoS</a:t>
            </a:r>
            <a:r>
              <a:rPr lang="en-SG" dirty="0"/>
              <a:t> attack using DHCP Leases</a:t>
            </a:r>
          </a:p>
          <a:p>
            <a:r>
              <a:rPr lang="en-SG" dirty="0"/>
              <a:t>This is an example of a DHCP starvation attack done </a:t>
            </a:r>
            <a:r>
              <a:rPr lang="en-SG" dirty="0">
                <a:hlinkClick r:id="rId2"/>
              </a:rPr>
              <a:t>https://www.youtube.com/watch?v=jiSl89al4nI</a:t>
            </a:r>
            <a:endParaRPr lang="en-SG" dirty="0"/>
          </a:p>
          <a:p>
            <a:endParaRPr lang="en-SG" dirty="0"/>
          </a:p>
          <a:p>
            <a:r>
              <a:rPr lang="en-SG" dirty="0"/>
              <a:t>These attacks are mitigated by simply configuring Port security to only allow maximum 1 MAC address per </a:t>
            </a:r>
            <a:r>
              <a:rPr lang="en-SG" dirty="0" err="1"/>
              <a:t>switchport</a:t>
            </a:r>
            <a:r>
              <a:rPr lang="en-SG" dirty="0"/>
              <a:t> interface.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716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861" y="1690688"/>
            <a:ext cx="7482139" cy="4969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 Starvation Attack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50" y="2258291"/>
            <a:ext cx="6281305" cy="4123459"/>
          </a:xfrm>
        </p:spPr>
        <p:txBody>
          <a:bodyPr>
            <a:normAutofit/>
          </a:bodyPr>
          <a:lstStyle/>
          <a:p>
            <a:r>
              <a:rPr lang="en-SG" dirty="0"/>
              <a:t>The attacker, with the installed tool will launch the </a:t>
            </a:r>
            <a:r>
              <a:rPr lang="en-SG" dirty="0" err="1"/>
              <a:t>DoS</a:t>
            </a:r>
            <a:r>
              <a:rPr lang="en-SG" dirty="0"/>
              <a:t> Attack to starve the pool of IP addresses at the DHCP server.</a:t>
            </a:r>
          </a:p>
          <a:p>
            <a:r>
              <a:rPr lang="en-SG" dirty="0"/>
              <a:t>Usually after the server is compromised, a rogue server is setup to issue fake IP addresses</a:t>
            </a:r>
          </a:p>
        </p:txBody>
      </p:sp>
    </p:spTree>
    <p:extLst>
      <p:ext uri="{BB962C8B-B14F-4D97-AF65-F5344CB8AC3E}">
        <p14:creationId xmlns:p14="http://schemas.microsoft.com/office/powerpoint/2010/main" val="1434310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6089" r="10356"/>
          <a:stretch/>
        </p:blipFill>
        <p:spPr>
          <a:xfrm>
            <a:off x="6448925" y="1299411"/>
            <a:ext cx="5269833" cy="5558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Rogue DHCP Server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63" y="1903036"/>
            <a:ext cx="6477000" cy="4351338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Attacker pretends to be a DHCP server issuing wrong IP Addresses, Default Gateways and DNS to clients.</a:t>
            </a:r>
          </a:p>
          <a:p>
            <a:r>
              <a:rPr lang="en-SG" dirty="0"/>
              <a:t>If client takes up the new IP address and default gateway, all packets destined to the outside network will then pass through the Rogue server, compromising confidentiality.</a:t>
            </a:r>
          </a:p>
          <a:p>
            <a:r>
              <a:rPr lang="en-SG" dirty="0"/>
              <a:t>To mitigate implement </a:t>
            </a:r>
            <a:r>
              <a:rPr lang="en-SG" dirty="0" err="1"/>
              <a:t>portsec</a:t>
            </a:r>
            <a:r>
              <a:rPr lang="en-SG" dirty="0"/>
              <a:t> to allow max 1 MAC address only</a:t>
            </a:r>
          </a:p>
          <a:p>
            <a:r>
              <a:rPr lang="en-SG" dirty="0"/>
              <a:t>Another mitigation is DHCP snooping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612065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Rogue DHCP Server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>
                <a:solidFill>
                  <a:srgbClr val="002060"/>
                </a:solidFill>
              </a:rPr>
              <a:t>R1(</a:t>
            </a:r>
            <a:r>
              <a:rPr lang="en-SG" dirty="0" err="1">
                <a:solidFill>
                  <a:srgbClr val="002060"/>
                </a:solidFill>
              </a:rPr>
              <a:t>config</a:t>
            </a:r>
            <a:r>
              <a:rPr lang="en-SG" dirty="0">
                <a:solidFill>
                  <a:srgbClr val="002060"/>
                </a:solidFill>
              </a:rPr>
              <a:t>)# </a:t>
            </a:r>
            <a:r>
              <a:rPr lang="en-SG" dirty="0" err="1">
                <a:solidFill>
                  <a:srgbClr val="002060"/>
                </a:solidFill>
              </a:rPr>
              <a:t>ip</a:t>
            </a:r>
            <a:r>
              <a:rPr lang="en-SG" dirty="0">
                <a:solidFill>
                  <a:srgbClr val="002060"/>
                </a:solidFill>
              </a:rPr>
              <a:t> </a:t>
            </a:r>
            <a:r>
              <a:rPr lang="en-SG" dirty="0" err="1">
                <a:solidFill>
                  <a:srgbClr val="002060"/>
                </a:solidFill>
              </a:rPr>
              <a:t>dhcp</a:t>
            </a:r>
            <a:r>
              <a:rPr lang="en-SG" dirty="0">
                <a:solidFill>
                  <a:srgbClr val="002060"/>
                </a:solidFill>
              </a:rPr>
              <a:t> snooping </a:t>
            </a:r>
            <a:r>
              <a:rPr lang="en-SG" dirty="0" err="1">
                <a:solidFill>
                  <a:srgbClr val="002060"/>
                </a:solidFill>
              </a:rPr>
              <a:t>vlan</a:t>
            </a:r>
            <a:r>
              <a:rPr lang="en-SG" dirty="0">
                <a:solidFill>
                  <a:srgbClr val="002060"/>
                </a:solidFill>
              </a:rPr>
              <a:t> 4</a:t>
            </a:r>
          </a:p>
          <a:p>
            <a:pPr marL="0" indent="0">
              <a:buNone/>
            </a:pPr>
            <a:r>
              <a:rPr lang="en-SG" dirty="0"/>
              <a:t>Enable DHCP snooping on VLAN 4. You can also simply leave it as ‘</a:t>
            </a:r>
            <a:r>
              <a:rPr lang="en-SG" dirty="0" err="1"/>
              <a:t>ip</a:t>
            </a:r>
            <a:r>
              <a:rPr lang="en-SG" dirty="0"/>
              <a:t> </a:t>
            </a:r>
            <a:r>
              <a:rPr lang="en-SG" dirty="0" err="1"/>
              <a:t>dhcp</a:t>
            </a:r>
            <a:r>
              <a:rPr lang="en-SG" dirty="0"/>
              <a:t> snooping’ and it will activate it on all.</a:t>
            </a:r>
          </a:p>
          <a:p>
            <a:pPr marL="0" indent="0">
              <a:buNone/>
            </a:pPr>
            <a:endParaRPr lang="en-SG" dirty="0"/>
          </a:p>
          <a:p>
            <a:pPr marL="0" indent="0">
              <a:buNone/>
            </a:pPr>
            <a:r>
              <a:rPr lang="en-SG" dirty="0"/>
              <a:t>Identify which port you can trust to receive DHCP responses like OFFER, ACK,NAK.</a:t>
            </a:r>
          </a:p>
          <a:p>
            <a:pPr marL="0" indent="0">
              <a:buNone/>
            </a:pPr>
            <a:r>
              <a:rPr lang="en-SG" dirty="0">
                <a:solidFill>
                  <a:srgbClr val="002060"/>
                </a:solidFill>
              </a:rPr>
              <a:t>R1(</a:t>
            </a:r>
            <a:r>
              <a:rPr lang="en-SG" dirty="0" err="1">
                <a:solidFill>
                  <a:srgbClr val="002060"/>
                </a:solidFill>
              </a:rPr>
              <a:t>config</a:t>
            </a:r>
            <a:r>
              <a:rPr lang="en-SG" dirty="0">
                <a:solidFill>
                  <a:srgbClr val="002060"/>
                </a:solidFill>
              </a:rPr>
              <a:t>-if)# </a:t>
            </a:r>
            <a:r>
              <a:rPr lang="en-SG" dirty="0" err="1">
                <a:solidFill>
                  <a:srgbClr val="002060"/>
                </a:solidFill>
              </a:rPr>
              <a:t>ip</a:t>
            </a:r>
            <a:r>
              <a:rPr lang="en-SG" dirty="0">
                <a:solidFill>
                  <a:srgbClr val="002060"/>
                </a:solidFill>
              </a:rPr>
              <a:t> </a:t>
            </a:r>
            <a:r>
              <a:rPr lang="en-SG" dirty="0" err="1">
                <a:solidFill>
                  <a:srgbClr val="002060"/>
                </a:solidFill>
              </a:rPr>
              <a:t>dhcp</a:t>
            </a:r>
            <a:r>
              <a:rPr lang="en-SG" dirty="0">
                <a:solidFill>
                  <a:srgbClr val="002060"/>
                </a:solidFill>
              </a:rPr>
              <a:t> snooping trust</a:t>
            </a:r>
          </a:p>
          <a:p>
            <a:pPr marL="0" indent="0">
              <a:buNone/>
            </a:pPr>
            <a:r>
              <a:rPr lang="en-SG" dirty="0"/>
              <a:t>On the trusted ports (the port connected to the DHCP server) enter the above command</a:t>
            </a:r>
          </a:p>
          <a:p>
            <a:pPr marL="0" indent="0">
              <a:buNone/>
            </a:pPr>
            <a:r>
              <a:rPr lang="en-SG" dirty="0"/>
              <a:t>R1(</a:t>
            </a:r>
            <a:r>
              <a:rPr lang="en-SG" dirty="0" err="1"/>
              <a:t>config</a:t>
            </a:r>
            <a:r>
              <a:rPr lang="en-SG" dirty="0"/>
              <a:t>-if)# no </a:t>
            </a:r>
            <a:r>
              <a:rPr lang="en-SG" dirty="0" err="1"/>
              <a:t>ip</a:t>
            </a:r>
            <a:r>
              <a:rPr lang="en-SG" dirty="0"/>
              <a:t> </a:t>
            </a:r>
            <a:r>
              <a:rPr lang="en-SG" dirty="0" err="1"/>
              <a:t>dhcp</a:t>
            </a:r>
            <a:r>
              <a:rPr lang="en-SG" dirty="0"/>
              <a:t> snooping trust 		(default)</a:t>
            </a:r>
          </a:p>
          <a:p>
            <a:pPr marL="0" indent="0">
              <a:buNone/>
            </a:pPr>
            <a:r>
              <a:rPr lang="en-SG" dirty="0"/>
              <a:t>R1(</a:t>
            </a:r>
            <a:r>
              <a:rPr lang="en-SG" dirty="0" err="1"/>
              <a:t>config</a:t>
            </a:r>
            <a:r>
              <a:rPr lang="en-SG" dirty="0"/>
              <a:t>-if)# </a:t>
            </a:r>
            <a:r>
              <a:rPr lang="en-SG" dirty="0" err="1"/>
              <a:t>ip</a:t>
            </a:r>
            <a:r>
              <a:rPr lang="en-SG" dirty="0"/>
              <a:t> </a:t>
            </a:r>
            <a:r>
              <a:rPr lang="en-SG" dirty="0" err="1"/>
              <a:t>dhcp</a:t>
            </a:r>
            <a:r>
              <a:rPr lang="en-SG" dirty="0"/>
              <a:t> snooping limit rate 10 	(</a:t>
            </a:r>
            <a:r>
              <a:rPr lang="en-SG" dirty="0" err="1"/>
              <a:t>pps</a:t>
            </a:r>
            <a:r>
              <a:rPr lang="en-SG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6730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238"/>
          <a:stretch/>
        </p:blipFill>
        <p:spPr>
          <a:xfrm>
            <a:off x="6472990" y="963620"/>
            <a:ext cx="5106152" cy="521334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858" y="1690688"/>
            <a:ext cx="5634790" cy="4486275"/>
          </a:xfrm>
        </p:spPr>
        <p:txBody>
          <a:bodyPr/>
          <a:lstStyle/>
          <a:p>
            <a:r>
              <a:rPr lang="en-SG" dirty="0"/>
              <a:t>When snooping is enabled on the switch, by default all ports in the VLAN are untrusted</a:t>
            </a:r>
          </a:p>
          <a:p>
            <a:r>
              <a:rPr lang="en-SG" dirty="0"/>
              <a:t>Trusted ports are usually the ports connected to the DHCP server</a:t>
            </a:r>
          </a:p>
          <a:p>
            <a:r>
              <a:rPr lang="en-SG" dirty="0"/>
              <a:t>Verify using “show </a:t>
            </a:r>
            <a:r>
              <a:rPr lang="en-SG" dirty="0" err="1"/>
              <a:t>ip</a:t>
            </a:r>
            <a:r>
              <a:rPr lang="en-SG" dirty="0"/>
              <a:t> </a:t>
            </a:r>
            <a:r>
              <a:rPr lang="en-SG" dirty="0" err="1"/>
              <a:t>dhcp</a:t>
            </a:r>
            <a:r>
              <a:rPr lang="en-SG" dirty="0"/>
              <a:t> snooping bindings” command on the switch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SG" dirty="0"/>
              <a:t>Rogue DHCP Server Mitigation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7642"/>
            <a:ext cx="7576134" cy="135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868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DHCPv6 Attacks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Similar to DHCPv4, DHCPv6 is also susceptible to rogue server attacks and thus needs definition of trusted and untrusted ports on the switch.</a:t>
            </a:r>
          </a:p>
          <a:p>
            <a:r>
              <a:rPr lang="en-SG" dirty="0"/>
              <a:t>The RA Guard and RA throttling commands help identify the trusted ports on the switch and control unnecessary traffic on the ports. </a:t>
            </a:r>
          </a:p>
          <a:p>
            <a:endParaRPr lang="en-SG" dirty="0"/>
          </a:p>
          <a:p>
            <a:r>
              <a:rPr lang="en-SG" dirty="0"/>
              <a:t>You may read the text “Configuring IPv6 Client Address Learning” by Cisco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3460309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THE END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16340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C1C5D1BB-B8B3-449E-ABE3-BD1ADC446175}" vid="{8783730B-F0DD-45C7-9301-B01A4242EBA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1279</TotalTime>
  <Words>993</Words>
  <Application>Microsoft Office PowerPoint</Application>
  <PresentationFormat>Widescreen</PresentationFormat>
  <Paragraphs>106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Gill Sans MT</vt:lpstr>
      <vt:lpstr>Theme</vt:lpstr>
      <vt:lpstr>Address Security</vt:lpstr>
      <vt:lpstr>Learning Outcomes</vt:lpstr>
      <vt:lpstr>DHCPv4</vt:lpstr>
      <vt:lpstr>DHCPv4 Operation</vt:lpstr>
      <vt:lpstr>Configuring DHCPv4</vt:lpstr>
      <vt:lpstr>DHCPv4 Relay</vt:lpstr>
      <vt:lpstr>How about DHCP in IPv6?</vt:lpstr>
      <vt:lpstr>SLAAC</vt:lpstr>
      <vt:lpstr>Pure SLAAC operation </vt:lpstr>
      <vt:lpstr>Configuring SLAAC</vt:lpstr>
      <vt:lpstr>SLAAC with Stateless DHCPv6 mode</vt:lpstr>
      <vt:lpstr>Configuring SLAAC with Stateless DHCPv6 Server</vt:lpstr>
      <vt:lpstr>Stateful DHCPv6</vt:lpstr>
      <vt:lpstr>Configuring Stateful DHCPv6</vt:lpstr>
      <vt:lpstr>DHCPv4 Attacks</vt:lpstr>
      <vt:lpstr>DHCP Starvation Attack and Mitigation</vt:lpstr>
      <vt:lpstr>DHCP Starvation Attack and Mitigation</vt:lpstr>
      <vt:lpstr>Rogue DHCP Server Attack</vt:lpstr>
      <vt:lpstr>Rogue DHCP Server Mitigation</vt:lpstr>
      <vt:lpstr>Rogue DHCP Server Mitigation</vt:lpstr>
      <vt:lpstr>DHCPv6 Attacks and Mitigation</vt:lpstr>
      <vt:lpstr>THE END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ARTHI CHANDRASEKARAN</dc:creator>
  <cp:lastModifiedBy>ARTHI CHANDRASEKARAN</cp:lastModifiedBy>
  <cp:revision>59</cp:revision>
  <dcterms:created xsi:type="dcterms:W3CDTF">2017-09-11T07:21:26Z</dcterms:created>
  <dcterms:modified xsi:type="dcterms:W3CDTF">2018-10-30T04:46:29Z</dcterms:modified>
</cp:coreProperties>
</file>