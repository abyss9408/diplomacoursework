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7" r:id="rId4"/>
  </p:sldMasterIdLst>
  <p:notesMasterIdLst>
    <p:notesMasterId r:id="rId38"/>
  </p:notesMasterIdLst>
  <p:handoutMasterIdLst>
    <p:handoutMasterId r:id="rId39"/>
  </p:handoutMasterIdLst>
  <p:sldIdLst>
    <p:sldId id="256" r:id="rId5"/>
    <p:sldId id="337" r:id="rId6"/>
    <p:sldId id="338" r:id="rId7"/>
    <p:sldId id="339" r:id="rId8"/>
    <p:sldId id="360" r:id="rId9"/>
    <p:sldId id="257" r:id="rId10"/>
    <p:sldId id="385" r:id="rId11"/>
    <p:sldId id="386" r:id="rId12"/>
    <p:sldId id="340" r:id="rId13"/>
    <p:sldId id="342" r:id="rId14"/>
    <p:sldId id="390" r:id="rId15"/>
    <p:sldId id="392" r:id="rId16"/>
    <p:sldId id="405" r:id="rId17"/>
    <p:sldId id="406" r:id="rId18"/>
    <p:sldId id="345" r:id="rId19"/>
    <p:sldId id="346" r:id="rId20"/>
    <p:sldId id="364" r:id="rId21"/>
    <p:sldId id="365" r:id="rId22"/>
    <p:sldId id="366" r:id="rId23"/>
    <p:sldId id="367" r:id="rId24"/>
    <p:sldId id="402" r:id="rId25"/>
    <p:sldId id="370" r:id="rId26"/>
    <p:sldId id="398" r:id="rId27"/>
    <p:sldId id="371" r:id="rId28"/>
    <p:sldId id="374" r:id="rId29"/>
    <p:sldId id="376" r:id="rId30"/>
    <p:sldId id="382" r:id="rId31"/>
    <p:sldId id="381" r:id="rId32"/>
    <p:sldId id="384" r:id="rId33"/>
    <p:sldId id="415" r:id="rId34"/>
    <p:sldId id="383" r:id="rId35"/>
    <p:sldId id="404" r:id="rId36"/>
    <p:sldId id="416" r:id="rId37"/>
  </p:sldIdLst>
  <p:sldSz cx="9144000" cy="6858000" type="screen4x3"/>
  <p:notesSz cx="6784975" cy="98567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5">
          <p15:clr>
            <a:srgbClr val="A4A3A4"/>
          </p15:clr>
        </p15:guide>
        <p15:guide id="2" pos="213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80"/>
    <a:srgbClr val="008000"/>
    <a:srgbClr val="0000FF"/>
    <a:srgbClr val="339966"/>
    <a:srgbClr val="FFFFCC"/>
    <a:srgbClr val="CCFF99"/>
    <a:srgbClr val="9933FF"/>
    <a:srgbClr val="6666FF"/>
    <a:srgbClr val="CC3300"/>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251" autoAdjust="0"/>
    <p:restoredTop sz="84124" autoAdjust="0"/>
  </p:normalViewPr>
  <p:slideViewPr>
    <p:cSldViewPr>
      <p:cViewPr varScale="1">
        <p:scale>
          <a:sx n="57" d="100"/>
          <a:sy n="57" d="100"/>
        </p:scale>
        <p:origin x="1380"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p:scale>
          <a:sx n="100" d="100"/>
          <a:sy n="100" d="100"/>
        </p:scale>
        <p:origin x="-792" y="3276"/>
      </p:cViewPr>
      <p:guideLst>
        <p:guide orient="horz" pos="3105"/>
        <p:guide pos="213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3490" name="Group 23"/>
          <p:cNvGrpSpPr>
            <a:grpSpLocks noChangeAspect="1"/>
          </p:cNvGrpSpPr>
          <p:nvPr/>
        </p:nvGrpSpPr>
        <p:grpSpPr bwMode="auto">
          <a:xfrm>
            <a:off x="671876" y="286846"/>
            <a:ext cx="534594" cy="288423"/>
            <a:chOff x="737" y="3045"/>
            <a:chExt cx="1284" cy="560"/>
          </a:xfrm>
        </p:grpSpPr>
        <p:sp>
          <p:nvSpPr>
            <p:cNvPr id="244760" name="Freeform 24"/>
            <p:cNvSpPr>
              <a:spLocks noChangeAspect="1"/>
            </p:cNvSpPr>
            <p:nvPr/>
          </p:nvSpPr>
          <p:spPr bwMode="auto">
            <a:xfrm>
              <a:off x="737" y="3045"/>
              <a:ext cx="656" cy="560"/>
            </a:xfrm>
            <a:custGeom>
              <a:avLst/>
              <a:gdLst/>
              <a:ahLst/>
              <a:cxnLst>
                <a:cxn ang="0">
                  <a:pos x="19988" y="19986"/>
                </a:cxn>
                <a:cxn ang="0">
                  <a:pos x="6659" y="0"/>
                </a:cxn>
                <a:cxn ang="0">
                  <a:pos x="0" y="0"/>
                </a:cxn>
                <a:cxn ang="0">
                  <a:pos x="0" y="801"/>
                </a:cxn>
                <a:cxn ang="0">
                  <a:pos x="2632" y="801"/>
                </a:cxn>
                <a:cxn ang="0">
                  <a:pos x="2632" y="19385"/>
                </a:cxn>
                <a:cxn ang="0">
                  <a:pos x="0" y="19385"/>
                </a:cxn>
                <a:cxn ang="0">
                  <a:pos x="0" y="19986"/>
                </a:cxn>
                <a:cxn ang="0">
                  <a:pos x="5961" y="19986"/>
                </a:cxn>
                <a:cxn ang="0">
                  <a:pos x="5961" y="19385"/>
                </a:cxn>
                <a:cxn ang="0">
                  <a:pos x="3501" y="19385"/>
                </a:cxn>
                <a:cxn ang="0">
                  <a:pos x="3501" y="1401"/>
                </a:cxn>
                <a:cxn ang="0">
                  <a:pos x="15777" y="19986"/>
                </a:cxn>
                <a:cxn ang="0">
                  <a:pos x="19988" y="19986"/>
                </a:cxn>
              </a:cxnLst>
              <a:rect l="0" t="0" r="r" b="b"/>
              <a:pathLst>
                <a:path w="20000" h="20000">
                  <a:moveTo>
                    <a:pt x="19988" y="19986"/>
                  </a:moveTo>
                  <a:lnTo>
                    <a:pt x="6659" y="0"/>
                  </a:lnTo>
                  <a:lnTo>
                    <a:pt x="0" y="0"/>
                  </a:lnTo>
                  <a:lnTo>
                    <a:pt x="0" y="801"/>
                  </a:lnTo>
                  <a:lnTo>
                    <a:pt x="2632" y="801"/>
                  </a:lnTo>
                  <a:lnTo>
                    <a:pt x="2632" y="19385"/>
                  </a:lnTo>
                  <a:lnTo>
                    <a:pt x="0" y="19385"/>
                  </a:lnTo>
                  <a:lnTo>
                    <a:pt x="0" y="19986"/>
                  </a:lnTo>
                  <a:lnTo>
                    <a:pt x="5961" y="19986"/>
                  </a:lnTo>
                  <a:lnTo>
                    <a:pt x="5961" y="19385"/>
                  </a:lnTo>
                  <a:lnTo>
                    <a:pt x="3501" y="19385"/>
                  </a:lnTo>
                  <a:lnTo>
                    <a:pt x="3501" y="1401"/>
                  </a:lnTo>
                  <a:lnTo>
                    <a:pt x="15777" y="19986"/>
                  </a:lnTo>
                  <a:lnTo>
                    <a:pt x="19988" y="19986"/>
                  </a:lnTo>
                  <a:close/>
                </a:path>
              </a:pathLst>
            </a:custGeom>
            <a:solidFill>
              <a:srgbClr val="0000FF"/>
            </a:solidFill>
            <a:ln w="8890" cap="flat">
              <a:noFill/>
              <a:round/>
              <a:headEnd type="none" w="med" len="med"/>
              <a:tailEnd type="none" w="med" len="med"/>
            </a:ln>
            <a:effectLst/>
          </p:spPr>
          <p:txBody>
            <a:bodyPr/>
            <a:lstStyle/>
            <a:p>
              <a:pPr>
                <a:defRPr/>
              </a:pPr>
              <a:endParaRPr lang="en-US"/>
            </a:p>
          </p:txBody>
        </p:sp>
        <p:sp>
          <p:nvSpPr>
            <p:cNvPr id="244761" name="Freeform 25"/>
            <p:cNvSpPr>
              <a:spLocks noChangeAspect="1"/>
            </p:cNvSpPr>
            <p:nvPr/>
          </p:nvSpPr>
          <p:spPr bwMode="auto">
            <a:xfrm>
              <a:off x="1086" y="3045"/>
              <a:ext cx="597" cy="560"/>
            </a:xfrm>
            <a:custGeom>
              <a:avLst/>
              <a:gdLst/>
              <a:ahLst/>
              <a:cxnLst>
                <a:cxn ang="0">
                  <a:pos x="19034" y="801"/>
                </a:cxn>
                <a:cxn ang="0">
                  <a:pos x="13074" y="9392"/>
                </a:cxn>
                <a:cxn ang="0">
                  <a:pos x="6336" y="0"/>
                </a:cxn>
                <a:cxn ang="0">
                  <a:pos x="188" y="0"/>
                </a:cxn>
                <a:cxn ang="0">
                  <a:pos x="0" y="801"/>
                </a:cxn>
                <a:cxn ang="0">
                  <a:pos x="2309" y="801"/>
                </a:cxn>
                <a:cxn ang="0">
                  <a:pos x="9611" y="10994"/>
                </a:cxn>
                <a:cxn ang="0">
                  <a:pos x="9611" y="19986"/>
                </a:cxn>
                <a:cxn ang="0">
                  <a:pos x="13262" y="19986"/>
                </a:cxn>
                <a:cxn ang="0">
                  <a:pos x="13262" y="10393"/>
                </a:cxn>
                <a:cxn ang="0">
                  <a:pos x="19987" y="801"/>
                </a:cxn>
                <a:cxn ang="0">
                  <a:pos x="19034" y="801"/>
                </a:cxn>
              </a:cxnLst>
              <a:rect l="0" t="0" r="r" b="b"/>
              <a:pathLst>
                <a:path w="20000" h="20000">
                  <a:moveTo>
                    <a:pt x="19034" y="801"/>
                  </a:moveTo>
                  <a:lnTo>
                    <a:pt x="13074" y="9392"/>
                  </a:lnTo>
                  <a:lnTo>
                    <a:pt x="6336" y="0"/>
                  </a:lnTo>
                  <a:lnTo>
                    <a:pt x="188" y="0"/>
                  </a:lnTo>
                  <a:lnTo>
                    <a:pt x="0" y="801"/>
                  </a:lnTo>
                  <a:lnTo>
                    <a:pt x="2309" y="801"/>
                  </a:lnTo>
                  <a:lnTo>
                    <a:pt x="9611" y="10994"/>
                  </a:lnTo>
                  <a:lnTo>
                    <a:pt x="9611" y="19986"/>
                  </a:lnTo>
                  <a:lnTo>
                    <a:pt x="13262" y="19986"/>
                  </a:lnTo>
                  <a:lnTo>
                    <a:pt x="13262" y="10393"/>
                  </a:lnTo>
                  <a:lnTo>
                    <a:pt x="19987" y="801"/>
                  </a:lnTo>
                  <a:lnTo>
                    <a:pt x="19034" y="801"/>
                  </a:lnTo>
                  <a:close/>
                </a:path>
              </a:pathLst>
            </a:custGeom>
            <a:solidFill>
              <a:srgbClr val="0000FF"/>
            </a:solidFill>
            <a:ln w="8890" cap="flat">
              <a:noFill/>
              <a:round/>
              <a:headEnd type="none" w="med" len="med"/>
              <a:tailEnd type="none" w="med" len="med"/>
            </a:ln>
            <a:effectLst/>
          </p:spPr>
          <p:txBody>
            <a:bodyPr/>
            <a:lstStyle/>
            <a:p>
              <a:pPr>
                <a:defRPr/>
              </a:pPr>
              <a:endParaRPr lang="en-US"/>
            </a:p>
          </p:txBody>
        </p:sp>
        <p:sp>
          <p:nvSpPr>
            <p:cNvPr id="244762" name="Freeform 26"/>
            <p:cNvSpPr>
              <a:spLocks noChangeAspect="1"/>
            </p:cNvSpPr>
            <p:nvPr/>
          </p:nvSpPr>
          <p:spPr bwMode="auto">
            <a:xfrm>
              <a:off x="1567" y="3045"/>
              <a:ext cx="454" cy="560"/>
            </a:xfrm>
            <a:custGeom>
              <a:avLst/>
              <a:gdLst/>
              <a:ahLst/>
              <a:cxnLst>
                <a:cxn ang="0">
                  <a:pos x="0" y="0"/>
                </a:cxn>
                <a:cxn ang="0">
                  <a:pos x="5049" y="801"/>
                </a:cxn>
                <a:cxn ang="0">
                  <a:pos x="10115" y="801"/>
                </a:cxn>
                <a:cxn ang="0">
                  <a:pos x="11121" y="1201"/>
                </a:cxn>
                <a:cxn ang="0">
                  <a:pos x="12145" y="1601"/>
                </a:cxn>
                <a:cxn ang="0">
                  <a:pos x="13151" y="2202"/>
                </a:cxn>
                <a:cxn ang="0">
                  <a:pos x="13645" y="2802"/>
                </a:cxn>
                <a:cxn ang="0">
                  <a:pos x="14157" y="3603"/>
                </a:cxn>
                <a:cxn ang="0">
                  <a:pos x="14404" y="4403"/>
                </a:cxn>
                <a:cxn ang="0">
                  <a:pos x="14669" y="5204"/>
                </a:cxn>
                <a:cxn ang="0">
                  <a:pos x="14669" y="5990"/>
                </a:cxn>
                <a:cxn ang="0">
                  <a:pos x="14404" y="6791"/>
                </a:cxn>
                <a:cxn ang="0">
                  <a:pos x="13910" y="7591"/>
                </a:cxn>
                <a:cxn ang="0">
                  <a:pos x="13398" y="8392"/>
                </a:cxn>
                <a:cxn ang="0">
                  <a:pos x="12639" y="8992"/>
                </a:cxn>
                <a:cxn ang="0">
                  <a:pos x="11633" y="9593"/>
                </a:cxn>
                <a:cxn ang="0">
                  <a:pos x="10627" y="9993"/>
                </a:cxn>
                <a:cxn ang="0">
                  <a:pos x="9356" y="10193"/>
                </a:cxn>
                <a:cxn ang="0">
                  <a:pos x="3283" y="10193"/>
                </a:cxn>
                <a:cxn ang="0">
                  <a:pos x="12145" y="19986"/>
                </a:cxn>
                <a:cxn ang="0">
                  <a:pos x="8085" y="19385"/>
                </a:cxn>
                <a:cxn ang="0">
                  <a:pos x="8350" y="10994"/>
                </a:cxn>
                <a:cxn ang="0">
                  <a:pos x="10115" y="10994"/>
                </a:cxn>
                <a:cxn ang="0">
                  <a:pos x="12145" y="10793"/>
                </a:cxn>
                <a:cxn ang="0">
                  <a:pos x="14157" y="10393"/>
                </a:cxn>
                <a:cxn ang="0">
                  <a:pos x="15922" y="9793"/>
                </a:cxn>
                <a:cxn ang="0">
                  <a:pos x="17440" y="9192"/>
                </a:cxn>
                <a:cxn ang="0">
                  <a:pos x="18711" y="8192"/>
                </a:cxn>
                <a:cxn ang="0">
                  <a:pos x="19718" y="6991"/>
                </a:cxn>
                <a:cxn ang="0">
                  <a:pos x="19982" y="5604"/>
                </a:cxn>
                <a:cxn ang="0">
                  <a:pos x="19718" y="4003"/>
                </a:cxn>
                <a:cxn ang="0">
                  <a:pos x="18959" y="2802"/>
                </a:cxn>
                <a:cxn ang="0">
                  <a:pos x="17952" y="2001"/>
                </a:cxn>
                <a:cxn ang="0">
                  <a:pos x="16434" y="1201"/>
                </a:cxn>
                <a:cxn ang="0">
                  <a:pos x="14916" y="801"/>
                </a:cxn>
                <a:cxn ang="0">
                  <a:pos x="13151" y="400"/>
                </a:cxn>
                <a:cxn ang="0">
                  <a:pos x="11121" y="200"/>
                </a:cxn>
                <a:cxn ang="0">
                  <a:pos x="9356" y="0"/>
                </a:cxn>
              </a:cxnLst>
              <a:rect l="0" t="0" r="r" b="b"/>
              <a:pathLst>
                <a:path w="20000" h="20000">
                  <a:moveTo>
                    <a:pt x="9356" y="0"/>
                  </a:moveTo>
                  <a:lnTo>
                    <a:pt x="0" y="0"/>
                  </a:lnTo>
                  <a:lnTo>
                    <a:pt x="0" y="801"/>
                  </a:lnTo>
                  <a:lnTo>
                    <a:pt x="5049" y="801"/>
                  </a:lnTo>
                  <a:lnTo>
                    <a:pt x="9356" y="801"/>
                  </a:lnTo>
                  <a:lnTo>
                    <a:pt x="10115" y="801"/>
                  </a:lnTo>
                  <a:lnTo>
                    <a:pt x="10627" y="1001"/>
                  </a:lnTo>
                  <a:lnTo>
                    <a:pt x="11121" y="1201"/>
                  </a:lnTo>
                  <a:lnTo>
                    <a:pt x="11880" y="1401"/>
                  </a:lnTo>
                  <a:lnTo>
                    <a:pt x="12145" y="1601"/>
                  </a:lnTo>
                  <a:lnTo>
                    <a:pt x="12639" y="1801"/>
                  </a:lnTo>
                  <a:lnTo>
                    <a:pt x="13151" y="2202"/>
                  </a:lnTo>
                  <a:lnTo>
                    <a:pt x="13398" y="2602"/>
                  </a:lnTo>
                  <a:lnTo>
                    <a:pt x="13645" y="2802"/>
                  </a:lnTo>
                  <a:lnTo>
                    <a:pt x="13910" y="3202"/>
                  </a:lnTo>
                  <a:lnTo>
                    <a:pt x="14157" y="3603"/>
                  </a:lnTo>
                  <a:lnTo>
                    <a:pt x="14404" y="4003"/>
                  </a:lnTo>
                  <a:lnTo>
                    <a:pt x="14404" y="4403"/>
                  </a:lnTo>
                  <a:lnTo>
                    <a:pt x="14669" y="4803"/>
                  </a:lnTo>
                  <a:lnTo>
                    <a:pt x="14669" y="5204"/>
                  </a:lnTo>
                  <a:lnTo>
                    <a:pt x="14669" y="5604"/>
                  </a:lnTo>
                  <a:lnTo>
                    <a:pt x="14669" y="5990"/>
                  </a:lnTo>
                  <a:lnTo>
                    <a:pt x="14669" y="6390"/>
                  </a:lnTo>
                  <a:lnTo>
                    <a:pt x="14404" y="6791"/>
                  </a:lnTo>
                  <a:lnTo>
                    <a:pt x="14157" y="7191"/>
                  </a:lnTo>
                  <a:lnTo>
                    <a:pt x="13910" y="7591"/>
                  </a:lnTo>
                  <a:lnTo>
                    <a:pt x="13645" y="7991"/>
                  </a:lnTo>
                  <a:lnTo>
                    <a:pt x="13398" y="8392"/>
                  </a:lnTo>
                  <a:lnTo>
                    <a:pt x="12904" y="8792"/>
                  </a:lnTo>
                  <a:lnTo>
                    <a:pt x="12639" y="8992"/>
                  </a:lnTo>
                  <a:lnTo>
                    <a:pt x="12145" y="9392"/>
                  </a:lnTo>
                  <a:lnTo>
                    <a:pt x="11633" y="9593"/>
                  </a:lnTo>
                  <a:lnTo>
                    <a:pt x="11121" y="9793"/>
                  </a:lnTo>
                  <a:lnTo>
                    <a:pt x="10627" y="9993"/>
                  </a:lnTo>
                  <a:lnTo>
                    <a:pt x="9868" y="9993"/>
                  </a:lnTo>
                  <a:lnTo>
                    <a:pt x="9356" y="10193"/>
                  </a:lnTo>
                  <a:lnTo>
                    <a:pt x="8597" y="10193"/>
                  </a:lnTo>
                  <a:lnTo>
                    <a:pt x="3283" y="10193"/>
                  </a:lnTo>
                  <a:lnTo>
                    <a:pt x="3283" y="19986"/>
                  </a:lnTo>
                  <a:lnTo>
                    <a:pt x="12145" y="19986"/>
                  </a:lnTo>
                  <a:lnTo>
                    <a:pt x="12145" y="19385"/>
                  </a:lnTo>
                  <a:lnTo>
                    <a:pt x="8085" y="19385"/>
                  </a:lnTo>
                  <a:lnTo>
                    <a:pt x="8085" y="10994"/>
                  </a:lnTo>
                  <a:lnTo>
                    <a:pt x="8350" y="10994"/>
                  </a:lnTo>
                  <a:lnTo>
                    <a:pt x="9356" y="10994"/>
                  </a:lnTo>
                  <a:lnTo>
                    <a:pt x="10115" y="10994"/>
                  </a:lnTo>
                  <a:lnTo>
                    <a:pt x="11121" y="10793"/>
                  </a:lnTo>
                  <a:lnTo>
                    <a:pt x="12145" y="10793"/>
                  </a:lnTo>
                  <a:lnTo>
                    <a:pt x="13151" y="10593"/>
                  </a:lnTo>
                  <a:lnTo>
                    <a:pt x="14157" y="10393"/>
                  </a:lnTo>
                  <a:lnTo>
                    <a:pt x="14916" y="10193"/>
                  </a:lnTo>
                  <a:lnTo>
                    <a:pt x="15922" y="9793"/>
                  </a:lnTo>
                  <a:lnTo>
                    <a:pt x="16681" y="9392"/>
                  </a:lnTo>
                  <a:lnTo>
                    <a:pt x="17440" y="9192"/>
                  </a:lnTo>
                  <a:lnTo>
                    <a:pt x="18199" y="8592"/>
                  </a:lnTo>
                  <a:lnTo>
                    <a:pt x="18711" y="8192"/>
                  </a:lnTo>
                  <a:lnTo>
                    <a:pt x="19223" y="7591"/>
                  </a:lnTo>
                  <a:lnTo>
                    <a:pt x="19718" y="6991"/>
                  </a:lnTo>
                  <a:lnTo>
                    <a:pt x="19982" y="6190"/>
                  </a:lnTo>
                  <a:lnTo>
                    <a:pt x="19982" y="5604"/>
                  </a:lnTo>
                  <a:lnTo>
                    <a:pt x="19982" y="4803"/>
                  </a:lnTo>
                  <a:lnTo>
                    <a:pt x="19718" y="4003"/>
                  </a:lnTo>
                  <a:lnTo>
                    <a:pt x="19470" y="3402"/>
                  </a:lnTo>
                  <a:lnTo>
                    <a:pt x="18959" y="2802"/>
                  </a:lnTo>
                  <a:lnTo>
                    <a:pt x="18464" y="2402"/>
                  </a:lnTo>
                  <a:lnTo>
                    <a:pt x="17952" y="2001"/>
                  </a:lnTo>
                  <a:lnTo>
                    <a:pt x="17193" y="1601"/>
                  </a:lnTo>
                  <a:lnTo>
                    <a:pt x="16434" y="1201"/>
                  </a:lnTo>
                  <a:lnTo>
                    <a:pt x="15675" y="1001"/>
                  </a:lnTo>
                  <a:lnTo>
                    <a:pt x="14916" y="801"/>
                  </a:lnTo>
                  <a:lnTo>
                    <a:pt x="13910" y="600"/>
                  </a:lnTo>
                  <a:lnTo>
                    <a:pt x="13151" y="400"/>
                  </a:lnTo>
                  <a:lnTo>
                    <a:pt x="12145" y="200"/>
                  </a:lnTo>
                  <a:lnTo>
                    <a:pt x="11121" y="200"/>
                  </a:lnTo>
                  <a:lnTo>
                    <a:pt x="10362" y="0"/>
                  </a:lnTo>
                  <a:lnTo>
                    <a:pt x="9356" y="0"/>
                  </a:lnTo>
                  <a:close/>
                </a:path>
              </a:pathLst>
            </a:custGeom>
            <a:solidFill>
              <a:srgbClr val="FF0000"/>
            </a:solidFill>
            <a:ln w="8890" cap="flat">
              <a:noFill/>
              <a:round/>
              <a:headEnd type="none" w="med" len="med"/>
              <a:tailEnd type="none" w="med" len="med"/>
            </a:ln>
            <a:effectLst/>
          </p:spPr>
          <p:txBody>
            <a:bodyPr/>
            <a:lstStyle/>
            <a:p>
              <a:pPr>
                <a:defRPr/>
              </a:pPr>
              <a:endParaRPr lang="en-US"/>
            </a:p>
          </p:txBody>
        </p:sp>
      </p:grpSp>
      <p:sp>
        <p:nvSpPr>
          <p:cNvPr id="244767" name="Line 31"/>
          <p:cNvSpPr>
            <a:spLocks noChangeShapeType="1"/>
          </p:cNvSpPr>
          <p:nvPr/>
        </p:nvSpPr>
        <p:spPr bwMode="auto">
          <a:xfrm>
            <a:off x="264874" y="9090814"/>
            <a:ext cx="6293989" cy="0"/>
          </a:xfrm>
          <a:prstGeom prst="line">
            <a:avLst/>
          </a:prstGeom>
          <a:noFill/>
          <a:ln w="9525">
            <a:solidFill>
              <a:srgbClr val="000000"/>
            </a:solidFill>
            <a:round/>
            <a:headEnd/>
            <a:tailEnd/>
          </a:ln>
        </p:spPr>
        <p:txBody>
          <a:bodyPr/>
          <a:lstStyle/>
          <a:p>
            <a:pPr>
              <a:defRPr/>
            </a:pPr>
            <a:endParaRPr lang="en-US"/>
          </a:p>
        </p:txBody>
      </p:sp>
      <p:sp>
        <p:nvSpPr>
          <p:cNvPr id="244768" name="Line 32"/>
          <p:cNvSpPr>
            <a:spLocks noChangeShapeType="1"/>
          </p:cNvSpPr>
          <p:nvPr/>
        </p:nvSpPr>
        <p:spPr bwMode="auto">
          <a:xfrm>
            <a:off x="302022" y="821137"/>
            <a:ext cx="6180932" cy="0"/>
          </a:xfrm>
          <a:prstGeom prst="line">
            <a:avLst/>
          </a:prstGeom>
          <a:noFill/>
          <a:ln w="9525">
            <a:solidFill>
              <a:schemeClr val="tx1"/>
            </a:solidFill>
            <a:round/>
            <a:headEnd/>
            <a:tailEnd/>
          </a:ln>
          <a:effectLst/>
        </p:spPr>
        <p:txBody>
          <a:bodyPr/>
          <a:lstStyle/>
          <a:p>
            <a:pPr>
              <a:defRPr/>
            </a:pPr>
            <a:endParaRPr lang="en-US"/>
          </a:p>
        </p:txBody>
      </p:sp>
      <p:sp>
        <p:nvSpPr>
          <p:cNvPr id="11" name="Text Box 22"/>
          <p:cNvSpPr txBox="1">
            <a:spLocks noChangeArrowheads="1"/>
          </p:cNvSpPr>
          <p:nvPr/>
        </p:nvSpPr>
        <p:spPr bwMode="auto">
          <a:xfrm>
            <a:off x="1346982" y="234836"/>
            <a:ext cx="3868130" cy="382986"/>
          </a:xfrm>
          <a:prstGeom prst="rect">
            <a:avLst/>
          </a:prstGeom>
          <a:noFill/>
          <a:ln w="9525">
            <a:noFill/>
            <a:miter lim="800000"/>
            <a:headEnd/>
            <a:tailEnd/>
          </a:ln>
          <a:effectLst/>
        </p:spPr>
        <p:txBody>
          <a:bodyPr wrap="none">
            <a:spAutoFit/>
          </a:bodyPr>
          <a:lstStyle/>
          <a:p>
            <a:pPr>
              <a:defRPr/>
            </a:pPr>
            <a:r>
              <a:rPr lang="en-US" sz="900" dirty="0">
                <a:latin typeface="Verdana" pitchFamily="34" charset="0"/>
              </a:rPr>
              <a:t>Diploma in Information Technology</a:t>
            </a:r>
          </a:p>
          <a:p>
            <a:pPr>
              <a:defRPr/>
            </a:pPr>
            <a:r>
              <a:rPr lang="en-US" sz="1000" dirty="0">
                <a:latin typeface="Verdana" pitchFamily="34" charset="0"/>
              </a:rPr>
              <a:t>School of Information Technology, Nanyang Polytechnic</a:t>
            </a:r>
          </a:p>
        </p:txBody>
      </p:sp>
      <p:sp>
        <p:nvSpPr>
          <p:cNvPr id="12" name="Rectangle 23"/>
          <p:cNvSpPr>
            <a:spLocks noGrp="1" noChangeArrowheads="1"/>
          </p:cNvSpPr>
          <p:nvPr>
            <p:ph type="ftr" sz="quarter" idx="2"/>
          </p:nvPr>
        </p:nvSpPr>
        <p:spPr bwMode="auto">
          <a:xfrm>
            <a:off x="218038" y="9164890"/>
            <a:ext cx="2942686" cy="47755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000" b="0" dirty="0" smtClean="0">
                <a:solidFill>
                  <a:schemeClr val="tx1"/>
                </a:solidFill>
              </a:defRPr>
            </a:lvl1pPr>
          </a:lstStyle>
          <a:p>
            <a:pPr>
              <a:defRPr/>
            </a:pPr>
            <a:r>
              <a:rPr lang="en-US"/>
              <a:t>IT3112 Lecture 6</a:t>
            </a:r>
          </a:p>
        </p:txBody>
      </p:sp>
      <p:sp>
        <p:nvSpPr>
          <p:cNvPr id="13" name="Rectangle 24"/>
          <p:cNvSpPr>
            <a:spLocks noGrp="1" noChangeArrowheads="1"/>
          </p:cNvSpPr>
          <p:nvPr>
            <p:ph type="sldNum" sz="quarter" idx="3"/>
          </p:nvPr>
        </p:nvSpPr>
        <p:spPr bwMode="auto">
          <a:xfrm>
            <a:off x="3675935" y="9163315"/>
            <a:ext cx="2942686" cy="4759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b="0">
                <a:solidFill>
                  <a:schemeClr val="tx1"/>
                </a:solidFill>
              </a:defRPr>
            </a:lvl1pPr>
          </a:lstStyle>
          <a:p>
            <a:pPr>
              <a:defRPr/>
            </a:pPr>
            <a:fld id="{F785B023-2D0C-43ED-82EA-E975737CB4DC}" type="slidenum">
              <a:rPr lang="en-US"/>
              <a:pPr>
                <a:defRPr/>
              </a:pPr>
              <a:t>‹#›</a:t>
            </a:fld>
            <a:endParaRPr lang="en-US" dirty="0"/>
          </a:p>
        </p:txBody>
      </p:sp>
    </p:spTree>
    <p:extLst>
      <p:ext uri="{BB962C8B-B14F-4D97-AF65-F5344CB8AC3E}">
        <p14:creationId xmlns:p14="http://schemas.microsoft.com/office/powerpoint/2010/main" val="112404783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3778" name="Rectangle 2"/>
          <p:cNvSpPr>
            <a:spLocks noGrp="1" noChangeArrowheads="1"/>
          </p:cNvSpPr>
          <p:nvPr>
            <p:ph type="hdr" sz="quarter"/>
          </p:nvPr>
        </p:nvSpPr>
        <p:spPr bwMode="auto">
          <a:xfrm>
            <a:off x="0" y="0"/>
            <a:ext cx="2939456" cy="4933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vl1pPr>
          </a:lstStyle>
          <a:p>
            <a:pPr>
              <a:defRPr/>
            </a:pPr>
            <a:endParaRPr lang="en-US"/>
          </a:p>
        </p:txBody>
      </p:sp>
      <p:sp>
        <p:nvSpPr>
          <p:cNvPr id="203779" name="Rectangle 3"/>
          <p:cNvSpPr>
            <a:spLocks noGrp="1" noChangeArrowheads="1"/>
          </p:cNvSpPr>
          <p:nvPr>
            <p:ph type="dt" idx="1"/>
          </p:nvPr>
        </p:nvSpPr>
        <p:spPr bwMode="auto">
          <a:xfrm>
            <a:off x="3843904" y="0"/>
            <a:ext cx="2939456" cy="4933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p>
        </p:txBody>
      </p:sp>
      <p:sp>
        <p:nvSpPr>
          <p:cNvPr id="59396" name="Rectangle 4"/>
          <p:cNvSpPr>
            <a:spLocks noGrp="1" noRot="1" noChangeAspect="1" noChangeArrowheads="1" noTextEdit="1"/>
          </p:cNvSpPr>
          <p:nvPr>
            <p:ph type="sldImg" idx="2"/>
          </p:nvPr>
        </p:nvSpPr>
        <p:spPr bwMode="auto">
          <a:xfrm>
            <a:off x="928688" y="739775"/>
            <a:ext cx="4927600" cy="3695700"/>
          </a:xfrm>
          <a:prstGeom prst="rect">
            <a:avLst/>
          </a:prstGeom>
          <a:noFill/>
          <a:ln w="9525">
            <a:solidFill>
              <a:srgbClr val="000000"/>
            </a:solidFill>
            <a:miter lim="800000"/>
            <a:headEnd/>
            <a:tailEnd/>
          </a:ln>
        </p:spPr>
      </p:sp>
      <p:sp>
        <p:nvSpPr>
          <p:cNvPr id="203781" name="Rectangle 5"/>
          <p:cNvSpPr>
            <a:spLocks noGrp="1" noChangeArrowheads="1"/>
          </p:cNvSpPr>
          <p:nvPr>
            <p:ph type="body" sz="quarter" idx="3"/>
          </p:nvPr>
        </p:nvSpPr>
        <p:spPr bwMode="auto">
          <a:xfrm>
            <a:off x="678336" y="4682527"/>
            <a:ext cx="5428303" cy="44350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3782" name="Rectangle 6"/>
          <p:cNvSpPr>
            <a:spLocks noGrp="1" noChangeArrowheads="1"/>
          </p:cNvSpPr>
          <p:nvPr>
            <p:ph type="ftr" sz="quarter" idx="4"/>
          </p:nvPr>
        </p:nvSpPr>
        <p:spPr bwMode="auto">
          <a:xfrm>
            <a:off x="0" y="9361900"/>
            <a:ext cx="2939456" cy="4933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vl1pPr>
          </a:lstStyle>
          <a:p>
            <a:pPr>
              <a:defRPr/>
            </a:pPr>
            <a:r>
              <a:rPr lang="en-US"/>
              <a:t>Lecture 6</a:t>
            </a:r>
          </a:p>
        </p:txBody>
      </p:sp>
      <p:sp>
        <p:nvSpPr>
          <p:cNvPr id="203783" name="Rectangle 7"/>
          <p:cNvSpPr>
            <a:spLocks noGrp="1" noChangeArrowheads="1"/>
          </p:cNvSpPr>
          <p:nvPr>
            <p:ph type="sldNum" sz="quarter" idx="5"/>
          </p:nvPr>
        </p:nvSpPr>
        <p:spPr bwMode="auto">
          <a:xfrm>
            <a:off x="3843904" y="9361900"/>
            <a:ext cx="2939456" cy="4933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E3CCB2D-00D0-4224-A948-06DA7E82D381}" type="slidenum">
              <a:rPr lang="en-US"/>
              <a:pPr>
                <a:defRPr/>
              </a:pPr>
              <a:t>‹#›</a:t>
            </a:fld>
            <a:endParaRPr lang="en-US"/>
          </a:p>
        </p:txBody>
      </p:sp>
    </p:spTree>
    <p:extLst>
      <p:ext uri="{BB962C8B-B14F-4D97-AF65-F5344CB8AC3E}">
        <p14:creationId xmlns:p14="http://schemas.microsoft.com/office/powerpoint/2010/main" val="142525074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pPr eaLnBrk="1" hangingPunct="1"/>
            <a:endParaRPr lang="en-US"/>
          </a:p>
        </p:txBody>
      </p:sp>
      <p:sp>
        <p:nvSpPr>
          <p:cNvPr id="60420" name="Slide Number Placeholder 3"/>
          <p:cNvSpPr>
            <a:spLocks noGrp="1"/>
          </p:cNvSpPr>
          <p:nvPr>
            <p:ph type="sldNum" sz="quarter" idx="5"/>
          </p:nvPr>
        </p:nvSpPr>
        <p:spPr>
          <a:noFill/>
        </p:spPr>
        <p:txBody>
          <a:bodyPr/>
          <a:lstStyle/>
          <a:p>
            <a:fld id="{465EFA41-C21A-42B4-9BDD-014451BD7723}" type="slidenum">
              <a:rPr lang="en-US" smtClean="0"/>
              <a:pPr/>
              <a:t>1</a:t>
            </a:fld>
            <a:endParaRPr lang="en-US"/>
          </a:p>
        </p:txBody>
      </p:sp>
      <p:sp>
        <p:nvSpPr>
          <p:cNvPr id="60421" name="Footer Placeholder 4"/>
          <p:cNvSpPr>
            <a:spLocks noGrp="1"/>
          </p:cNvSpPr>
          <p:nvPr>
            <p:ph type="ftr" sz="quarter" idx="4"/>
          </p:nvPr>
        </p:nvSpPr>
        <p:spPr>
          <a:noFill/>
        </p:spPr>
        <p:txBody>
          <a:bodyPr/>
          <a:lstStyle/>
          <a:p>
            <a:r>
              <a:rPr lang="en-US"/>
              <a:t>Lecture 6</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A355FAD1-D450-4C40-86E3-66C740685C60}" type="slidenum">
              <a:rPr lang="en-US" smtClean="0"/>
              <a:pPr/>
              <a:t>4</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xfrm>
            <a:off x="906064" y="4682527"/>
            <a:ext cx="4972848" cy="4435082"/>
          </a:xfrm>
          <a:noFill/>
          <a:ln/>
        </p:spPr>
        <p:txBody>
          <a:bodyPr/>
          <a:lstStyle/>
          <a:p>
            <a:pPr eaLnBrk="1" hangingPunct="1"/>
            <a:r>
              <a:rPr lang="en-GB"/>
              <a:t>A firewall controls the flow of traffic.  Rules are created to permit or deny various types of traffic and routing decisions are made to direct the traffic.</a:t>
            </a:r>
          </a:p>
        </p:txBody>
      </p:sp>
      <p:sp>
        <p:nvSpPr>
          <p:cNvPr id="61445" name="Footer Placeholder 7"/>
          <p:cNvSpPr>
            <a:spLocks noGrp="1"/>
          </p:cNvSpPr>
          <p:nvPr>
            <p:ph type="ftr" sz="quarter" idx="4"/>
          </p:nvPr>
        </p:nvSpPr>
        <p:spPr>
          <a:noFill/>
        </p:spPr>
        <p:txBody>
          <a:bodyPr/>
          <a:lstStyle/>
          <a:p>
            <a:r>
              <a:rPr lang="en-US"/>
              <a:t>Lecture 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pPr defTabSz="918381"/>
            <a:fld id="{0D74821B-B6CC-4C48-9977-973974EC81EC}" type="slidenum">
              <a:rPr lang="en-US" smtClean="0"/>
              <a:pPr defTabSz="918381"/>
              <a:t>7</a:t>
            </a:fld>
            <a:endParaRPr lang="en-US" dirty="0"/>
          </a:p>
        </p:txBody>
      </p:sp>
      <p:sp>
        <p:nvSpPr>
          <p:cNvPr id="54275" name="Rectangle 7"/>
          <p:cNvSpPr txBox="1">
            <a:spLocks noGrp="1" noChangeArrowheads="1"/>
          </p:cNvSpPr>
          <p:nvPr/>
        </p:nvSpPr>
        <p:spPr bwMode="auto">
          <a:xfrm>
            <a:off x="3844335" y="9365064"/>
            <a:ext cx="2940641" cy="491725"/>
          </a:xfrm>
          <a:prstGeom prst="rect">
            <a:avLst/>
          </a:prstGeom>
          <a:noFill/>
          <a:ln w="9525">
            <a:noFill/>
            <a:miter lim="800000"/>
            <a:headEnd/>
            <a:tailEnd/>
          </a:ln>
        </p:spPr>
        <p:txBody>
          <a:bodyPr lIns="91856" tIns="45927" rIns="91856" bIns="45927" anchor="b"/>
          <a:lstStyle/>
          <a:p>
            <a:pPr algn="r" defTabSz="918381"/>
            <a:fld id="{C475B825-8B77-4394-96E6-D88550E14F44}" type="slidenum">
              <a:rPr lang="en-US" sz="1200">
                <a:latin typeface="Times New Roman" pitchFamily="18" charset="0"/>
              </a:rPr>
              <a:pPr algn="r" defTabSz="918381"/>
              <a:t>7</a:t>
            </a:fld>
            <a:endParaRPr lang="en-US" sz="1200" dirty="0">
              <a:latin typeface="Times New Roman" pitchFamily="18" charset="0"/>
            </a:endParaRPr>
          </a:p>
        </p:txBody>
      </p:sp>
      <p:sp>
        <p:nvSpPr>
          <p:cNvPr id="54276" name="Rectangle 2"/>
          <p:cNvSpPr>
            <a:spLocks noGrp="1" noRot="1" noChangeAspect="1" noChangeArrowheads="1" noTextEdit="1"/>
          </p:cNvSpPr>
          <p:nvPr>
            <p:ph type="sldImg"/>
          </p:nvPr>
        </p:nvSpPr>
        <p:spPr>
          <a:xfrm>
            <a:off x="931863" y="741363"/>
            <a:ext cx="4924425" cy="3692525"/>
          </a:xfrm>
          <a:solidFill>
            <a:srgbClr val="FFFFFF"/>
          </a:solidFill>
          <a:ln/>
        </p:spPr>
      </p:sp>
      <p:sp>
        <p:nvSpPr>
          <p:cNvPr id="54277" name="Rectangle 3"/>
          <p:cNvSpPr>
            <a:spLocks noGrp="1" noChangeArrowheads="1"/>
          </p:cNvSpPr>
          <p:nvPr>
            <p:ph type="body" idx="1"/>
          </p:nvPr>
        </p:nvSpPr>
        <p:spPr>
          <a:xfrm>
            <a:off x="905311" y="4680145"/>
            <a:ext cx="4974355" cy="4436668"/>
          </a:xfrm>
          <a:solidFill>
            <a:srgbClr val="FFFFFF"/>
          </a:solidFill>
          <a:ln>
            <a:solidFill>
              <a:srgbClr val="000000"/>
            </a:solidFill>
          </a:ln>
        </p:spPr>
        <p:txBody>
          <a:bodyPr/>
          <a:lstStyle/>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pPr defTabSz="918381"/>
            <a:fld id="{6A8562D5-3825-45B1-BD4B-12ED0B6FCA36}" type="slidenum">
              <a:rPr lang="en-US" smtClean="0"/>
              <a:pPr defTabSz="918381"/>
              <a:t>8</a:t>
            </a:fld>
            <a:endParaRPr lang="en-US" dirty="0"/>
          </a:p>
        </p:txBody>
      </p:sp>
      <p:sp>
        <p:nvSpPr>
          <p:cNvPr id="55299" name="Rectangle 7"/>
          <p:cNvSpPr txBox="1">
            <a:spLocks noGrp="1" noChangeArrowheads="1"/>
          </p:cNvSpPr>
          <p:nvPr/>
        </p:nvSpPr>
        <p:spPr bwMode="auto">
          <a:xfrm>
            <a:off x="3844335" y="9365064"/>
            <a:ext cx="2940641" cy="491725"/>
          </a:xfrm>
          <a:prstGeom prst="rect">
            <a:avLst/>
          </a:prstGeom>
          <a:noFill/>
          <a:ln w="9525">
            <a:noFill/>
            <a:miter lim="800000"/>
            <a:headEnd/>
            <a:tailEnd/>
          </a:ln>
        </p:spPr>
        <p:txBody>
          <a:bodyPr lIns="91856" tIns="45927" rIns="91856" bIns="45927" anchor="b"/>
          <a:lstStyle/>
          <a:p>
            <a:pPr algn="r" defTabSz="918381"/>
            <a:fld id="{BF38CCCE-D077-4A23-BD47-F0962E5BE1C3}" type="slidenum">
              <a:rPr lang="en-US" sz="1200">
                <a:latin typeface="Times New Roman" pitchFamily="18" charset="0"/>
              </a:rPr>
              <a:pPr algn="r" defTabSz="918381"/>
              <a:t>8</a:t>
            </a:fld>
            <a:endParaRPr lang="en-US" sz="1200" dirty="0">
              <a:latin typeface="Times New Roman" pitchFamily="18" charset="0"/>
            </a:endParaRPr>
          </a:p>
        </p:txBody>
      </p:sp>
      <p:sp>
        <p:nvSpPr>
          <p:cNvPr id="55300" name="Rectangle 2"/>
          <p:cNvSpPr>
            <a:spLocks noGrp="1" noRot="1" noChangeAspect="1" noChangeArrowheads="1" noTextEdit="1"/>
          </p:cNvSpPr>
          <p:nvPr>
            <p:ph type="sldImg"/>
          </p:nvPr>
        </p:nvSpPr>
        <p:spPr>
          <a:xfrm>
            <a:off x="931863" y="741363"/>
            <a:ext cx="4924425" cy="3692525"/>
          </a:xfrm>
          <a:solidFill>
            <a:srgbClr val="FFFFFF"/>
          </a:solidFill>
          <a:ln/>
        </p:spPr>
      </p:sp>
      <p:sp>
        <p:nvSpPr>
          <p:cNvPr id="55301" name="Rectangle 3"/>
          <p:cNvSpPr>
            <a:spLocks noGrp="1" noChangeArrowheads="1"/>
          </p:cNvSpPr>
          <p:nvPr>
            <p:ph type="body" idx="1"/>
          </p:nvPr>
        </p:nvSpPr>
        <p:spPr>
          <a:xfrm>
            <a:off x="905311" y="4680145"/>
            <a:ext cx="4974355" cy="4436668"/>
          </a:xfrm>
          <a:solidFill>
            <a:srgbClr val="FFFFFF"/>
          </a:solidFill>
          <a:ln>
            <a:solidFill>
              <a:srgbClr val="000000"/>
            </a:solidFill>
          </a:ln>
        </p:spPr>
        <p:txBody>
          <a:bodyPr/>
          <a:lstStyle/>
          <a:p>
            <a:r>
              <a:rPr lang="en-GB"/>
              <a:t>Firewalls offer excellent protection against network threats.  But firewall is not everything.</a:t>
            </a:r>
          </a:p>
          <a:p>
            <a:r>
              <a:rPr lang="en-GB"/>
              <a:t>Firewalls also do not address insider attacks, since they provide perimeter defence only. Firewalls are not general-purpose access-control systems and do not control insiders' abuse of authorized access--perhaps the greatest risk of all. Information</a:t>
            </a:r>
          </a:p>
          <a:p>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518F8D76-897E-4DC8-8DB7-30BEA963026B}" type="slidenum">
              <a:rPr lang="en-US" smtClean="0"/>
              <a:pPr/>
              <a:t>9</a:t>
            </a:fld>
            <a:endParaRPr lang="en-US"/>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xfrm>
            <a:off x="906064" y="4682527"/>
            <a:ext cx="4972848" cy="4435082"/>
          </a:xfrm>
          <a:noFill/>
          <a:ln/>
        </p:spPr>
        <p:txBody>
          <a:bodyPr/>
          <a:lstStyle/>
          <a:p>
            <a:pPr eaLnBrk="1" hangingPunct="1"/>
            <a:r>
              <a:rPr lang="en-GB" dirty="0"/>
              <a:t>So far we have talked about firewalls in terms of threats, principles and policy. We now turn to the specifics of implementation--the mechanisms that enable firewalls to enforce policy and provide protection. When shopping for a firewall, one should bear in mind that the technology evolves very quickly. Today's firewalls tend to combine several different mechanisms, making rigid classification difficult (not to mention contentious--committees tasked with firewall selection should avoid lengthy debates over how to categorize a particular firewall). Our intention here is to describe the ingredients that can go into a firewall design. </a:t>
            </a:r>
          </a:p>
          <a:p>
            <a:pPr eaLnBrk="1" hangingPunct="1"/>
            <a:endParaRPr lang="en-GB" dirty="0"/>
          </a:p>
        </p:txBody>
      </p:sp>
      <p:sp>
        <p:nvSpPr>
          <p:cNvPr id="62469" name="Footer Placeholder 7"/>
          <p:cNvSpPr>
            <a:spLocks noGrp="1"/>
          </p:cNvSpPr>
          <p:nvPr>
            <p:ph type="ftr" sz="quarter" idx="4"/>
          </p:nvPr>
        </p:nvSpPr>
        <p:spPr>
          <a:noFill/>
        </p:spPr>
        <p:txBody>
          <a:bodyPr/>
          <a:lstStyle/>
          <a:p>
            <a:r>
              <a:rPr lang="en-US"/>
              <a:t>Lecture 6</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p:cNvSpPr>
          <p:nvPr>
            <p:ph type="sldImg"/>
          </p:nvPr>
        </p:nvSpPr>
        <p:spPr bwMode="auto">
          <a:noFill/>
          <a:ln>
            <a:solidFill>
              <a:srgbClr val="000000"/>
            </a:solidFill>
            <a:miter lim="800000"/>
            <a:headEnd/>
            <a:tailEnd/>
          </a:ln>
        </p:spPr>
      </p:sp>
      <p:sp>
        <p:nvSpPr>
          <p:cNvPr id="38914"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891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BE8D1BA-CC85-4899-8E4A-6131D036AB1C}" type="slidenum">
              <a:rPr lang="en-US"/>
              <a:pPr fontAlgn="base">
                <a:spcBef>
                  <a:spcPct val="0"/>
                </a:spcBef>
                <a:spcAft>
                  <a:spcPct val="0"/>
                </a:spcAft>
              </a:pPr>
              <a:t>13</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p:cNvSpPr>
          <p:nvPr>
            <p:ph type="sldImg"/>
          </p:nvPr>
        </p:nvSpPr>
        <p:spPr bwMode="auto">
          <a:noFill/>
          <a:ln>
            <a:solidFill>
              <a:srgbClr val="000000"/>
            </a:solidFill>
            <a:miter lim="800000"/>
            <a:headEnd/>
            <a:tailEnd/>
          </a:ln>
        </p:spPr>
      </p:sp>
      <p:sp>
        <p:nvSpPr>
          <p:cNvPr id="40962"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40963"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4AF646B-F63A-4938-8076-BFC65784116F}" type="slidenum">
              <a:rPr lang="en-US"/>
              <a:pPr fontAlgn="base">
                <a:spcBef>
                  <a:spcPct val="0"/>
                </a:spcBef>
                <a:spcAft>
                  <a:spcPct val="0"/>
                </a:spcAft>
              </a:pPr>
              <a:t>14</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a:ln/>
        </p:spPr>
      </p:sp>
      <p:sp>
        <p:nvSpPr>
          <p:cNvPr id="149507" name="Rectangle 3"/>
          <p:cNvSpPr>
            <a:spLocks noGrp="1" noChangeArrowheads="1"/>
          </p:cNvSpPr>
          <p:nvPr>
            <p:ph type="body" idx="1"/>
          </p:nvPr>
        </p:nvSpPr>
        <p:spPr>
          <a:noFill/>
          <a:ln/>
        </p:spPr>
        <p:txBody>
          <a:bodyPr/>
          <a:lstStyle/>
          <a:p>
            <a:r>
              <a:rPr lang="en-US" dirty="0"/>
              <a:t>https://www.youtube.com/watch?v=W0ZgFqazcQs</a:t>
            </a:r>
          </a:p>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Rot="1" noChangeAspect="1" noChangeArrowheads="1" noTextEdit="1"/>
          </p:cNvSpPr>
          <p:nvPr>
            <p:ph type="sldImg"/>
          </p:nvPr>
        </p:nvSpPr>
        <p:spPr>
          <a:ln/>
        </p:spPr>
      </p:sp>
      <p:sp>
        <p:nvSpPr>
          <p:cNvPr id="153603" name="Rectangle 3"/>
          <p:cNvSpPr>
            <a:spLocks noGrp="1" noChangeArrowheads="1"/>
          </p:cNvSpPr>
          <p:nvPr>
            <p:ph type="body" idx="1"/>
          </p:nvPr>
        </p:nvSpPr>
        <p:spPr>
          <a:noFill/>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atin typeface="Gill Sans MT" panose="020B0502020104020203" pitchFamily="34" charset="0"/>
              </a:defRPr>
            </a:lvl1pPr>
          </a:lstStyle>
          <a:p>
            <a:r>
              <a:rPr lang="en-US"/>
              <a:t>Click to edit Master title style</a:t>
            </a:r>
            <a:endParaRPr lang="en-SG"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atin typeface="Gill Sans MT" panose="020B05020201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pPr>
              <a:defRPr/>
            </a:pPr>
            <a:r>
              <a:rPr lang="en-US"/>
              <a:t>Lecture 6</a:t>
            </a:r>
            <a:endParaRPr lang="en-US" dirty="0"/>
          </a:p>
        </p:txBody>
      </p:sp>
      <p:sp>
        <p:nvSpPr>
          <p:cNvPr id="6" name="Slide Number Placeholder 5"/>
          <p:cNvSpPr>
            <a:spLocks noGrp="1"/>
          </p:cNvSpPr>
          <p:nvPr>
            <p:ph type="sldNum" sz="quarter" idx="12"/>
          </p:nvPr>
        </p:nvSpPr>
        <p:spPr/>
        <p:txBody>
          <a:bodyPr/>
          <a:lstStyle/>
          <a:p>
            <a:pPr>
              <a:defRPr/>
            </a:pPr>
            <a:fld id="{99F38497-A5A4-4072-BD9C-C0E0A0B8AA6A}" type="slidenum">
              <a:rPr lang="en-US" smtClean="0"/>
              <a:pPr>
                <a:defRPr/>
              </a:pPr>
              <a:t>‹#›</a:t>
            </a:fld>
            <a:endParaRPr lang="en-US"/>
          </a:p>
        </p:txBody>
      </p:sp>
    </p:spTree>
    <p:extLst>
      <p:ext uri="{BB962C8B-B14F-4D97-AF65-F5344CB8AC3E}">
        <p14:creationId xmlns:p14="http://schemas.microsoft.com/office/powerpoint/2010/main" val="1983809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MT" panose="020B0502020104020203" pitchFamily="34" charset="0"/>
              </a:defRPr>
            </a:lvl1pPr>
          </a:lstStyle>
          <a:p>
            <a:r>
              <a:rPr lang="en-US"/>
              <a:t>Click to edit Master title style</a:t>
            </a:r>
            <a:endParaRPr lang="en-SG" dirty="0"/>
          </a:p>
        </p:txBody>
      </p:sp>
      <p:sp>
        <p:nvSpPr>
          <p:cNvPr id="3" name="Content Placeholder 2"/>
          <p:cNvSpPr>
            <a:spLocks noGrp="1"/>
          </p:cNvSpPr>
          <p:nvPr>
            <p:ph idx="1"/>
          </p:nvPr>
        </p:nvSpPr>
        <p:spPr/>
        <p:txBody>
          <a:bodyPr>
            <a:normAutofit/>
          </a:bodyPr>
          <a:lstStyle>
            <a:lvl1pPr>
              <a:defRPr sz="2100">
                <a:latin typeface="Gill Sans MT" panose="020B0502020104020203" pitchFamily="34" charset="0"/>
              </a:defRPr>
            </a:lvl1pPr>
            <a:lvl2pPr>
              <a:defRPr sz="1800">
                <a:latin typeface="Gill Sans MT" panose="020B0502020104020203" pitchFamily="34" charset="0"/>
              </a:defRPr>
            </a:lvl2pPr>
            <a:lvl3pPr>
              <a:defRPr sz="1500">
                <a:latin typeface="Gill Sans MT" panose="020B0502020104020203" pitchFamily="34" charset="0"/>
              </a:defRPr>
            </a:lvl3pPr>
            <a:lvl4pPr>
              <a:defRPr sz="1350">
                <a:latin typeface="Gill Sans MT" panose="020B0502020104020203" pitchFamily="34" charset="0"/>
              </a:defRPr>
            </a:lvl4pPr>
            <a:lvl5pPr>
              <a:defRPr sz="1350">
                <a:latin typeface="Gill Sans MT" panose="020B05020201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Lecture 6</a:t>
            </a:r>
          </a:p>
        </p:txBody>
      </p:sp>
      <p:sp>
        <p:nvSpPr>
          <p:cNvPr id="6" name="Slide Number Placeholder 5"/>
          <p:cNvSpPr>
            <a:spLocks noGrp="1"/>
          </p:cNvSpPr>
          <p:nvPr>
            <p:ph type="sldNum" sz="quarter" idx="12"/>
          </p:nvPr>
        </p:nvSpPr>
        <p:spPr/>
        <p:txBody>
          <a:bodyPr/>
          <a:lstStyle/>
          <a:p>
            <a:pPr>
              <a:defRPr/>
            </a:pPr>
            <a:fld id="{2D6D2D43-CA30-4F72-B817-DC7AAAF44FBC}" type="slidenum">
              <a:rPr lang="en-US" smtClean="0"/>
              <a:pPr>
                <a:defRPr/>
              </a:pPr>
              <a:t>‹#›</a:t>
            </a:fld>
            <a:endParaRPr lang="en-US"/>
          </a:p>
        </p:txBody>
      </p:sp>
    </p:spTree>
    <p:extLst>
      <p:ext uri="{BB962C8B-B14F-4D97-AF65-F5344CB8AC3E}">
        <p14:creationId xmlns:p14="http://schemas.microsoft.com/office/powerpoint/2010/main" val="1325914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SG"/>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Lecture 6</a:t>
            </a:r>
          </a:p>
        </p:txBody>
      </p:sp>
      <p:sp>
        <p:nvSpPr>
          <p:cNvPr id="6" name="Slide Number Placeholder 5"/>
          <p:cNvSpPr>
            <a:spLocks noGrp="1"/>
          </p:cNvSpPr>
          <p:nvPr>
            <p:ph type="sldNum" sz="quarter" idx="12"/>
          </p:nvPr>
        </p:nvSpPr>
        <p:spPr/>
        <p:txBody>
          <a:bodyPr/>
          <a:lstStyle/>
          <a:p>
            <a:pPr>
              <a:defRPr/>
            </a:pPr>
            <a:fld id="{B890632D-4228-43E0-A9FB-C667A1E78C65}" type="slidenum">
              <a:rPr lang="en-US" smtClean="0"/>
              <a:pPr>
                <a:defRPr/>
              </a:pPr>
              <a:t>‹#›</a:t>
            </a:fld>
            <a:endParaRPr lang="en-US"/>
          </a:p>
        </p:txBody>
      </p:sp>
    </p:spTree>
    <p:extLst>
      <p:ext uri="{BB962C8B-B14F-4D97-AF65-F5344CB8AC3E}">
        <p14:creationId xmlns:p14="http://schemas.microsoft.com/office/powerpoint/2010/main" val="69994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Lecture 6</a:t>
            </a:r>
          </a:p>
        </p:txBody>
      </p:sp>
      <p:sp>
        <p:nvSpPr>
          <p:cNvPr id="7" name="Slide Number Placeholder 6"/>
          <p:cNvSpPr>
            <a:spLocks noGrp="1"/>
          </p:cNvSpPr>
          <p:nvPr>
            <p:ph type="sldNum" sz="quarter" idx="12"/>
          </p:nvPr>
        </p:nvSpPr>
        <p:spPr/>
        <p:txBody>
          <a:bodyPr/>
          <a:lstStyle/>
          <a:p>
            <a:pPr>
              <a:defRPr/>
            </a:pPr>
            <a:fld id="{B2781700-4467-408C-9D7F-9293367FE1A0}" type="slidenum">
              <a:rPr lang="en-US" smtClean="0"/>
              <a:pPr>
                <a:defRPr/>
              </a:pPr>
              <a:t>‹#›</a:t>
            </a:fld>
            <a:endParaRPr lang="en-US"/>
          </a:p>
        </p:txBody>
      </p:sp>
    </p:spTree>
    <p:extLst>
      <p:ext uri="{BB962C8B-B14F-4D97-AF65-F5344CB8AC3E}">
        <p14:creationId xmlns:p14="http://schemas.microsoft.com/office/powerpoint/2010/main" val="966616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r>
              <a:rPr lang="en-US"/>
              <a:t>Lecture 6</a:t>
            </a:r>
          </a:p>
        </p:txBody>
      </p:sp>
      <p:sp>
        <p:nvSpPr>
          <p:cNvPr id="9" name="Slide Number Placeholder 8"/>
          <p:cNvSpPr>
            <a:spLocks noGrp="1"/>
          </p:cNvSpPr>
          <p:nvPr>
            <p:ph type="sldNum" sz="quarter" idx="12"/>
          </p:nvPr>
        </p:nvSpPr>
        <p:spPr/>
        <p:txBody>
          <a:bodyPr/>
          <a:lstStyle/>
          <a:p>
            <a:pPr>
              <a:defRPr/>
            </a:pPr>
            <a:fld id="{5A727206-D6D6-4581-B7A1-30B575E43686}" type="slidenum">
              <a:rPr lang="en-US" smtClean="0"/>
              <a:pPr>
                <a:defRPr/>
              </a:pPr>
              <a:t>‹#›</a:t>
            </a:fld>
            <a:endParaRPr lang="en-US"/>
          </a:p>
        </p:txBody>
      </p:sp>
    </p:spTree>
    <p:extLst>
      <p:ext uri="{BB962C8B-B14F-4D97-AF65-F5344CB8AC3E}">
        <p14:creationId xmlns:p14="http://schemas.microsoft.com/office/powerpoint/2010/main" val="2883088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a:t>Lecture 6</a:t>
            </a:r>
          </a:p>
        </p:txBody>
      </p:sp>
      <p:sp>
        <p:nvSpPr>
          <p:cNvPr id="5" name="Slide Number Placeholder 4"/>
          <p:cNvSpPr>
            <a:spLocks noGrp="1"/>
          </p:cNvSpPr>
          <p:nvPr>
            <p:ph type="sldNum" sz="quarter" idx="12"/>
          </p:nvPr>
        </p:nvSpPr>
        <p:spPr/>
        <p:txBody>
          <a:bodyPr/>
          <a:lstStyle/>
          <a:p>
            <a:pPr>
              <a:defRPr/>
            </a:pPr>
            <a:fld id="{BDBA15F6-1F3F-4E1E-888B-920D073F5FD6}" type="slidenum">
              <a:rPr lang="en-US" smtClean="0"/>
              <a:pPr>
                <a:defRPr/>
              </a:pPr>
              <a:t>‹#›</a:t>
            </a:fld>
            <a:endParaRPr lang="en-US"/>
          </a:p>
        </p:txBody>
      </p:sp>
    </p:spTree>
    <p:extLst>
      <p:ext uri="{BB962C8B-B14F-4D97-AF65-F5344CB8AC3E}">
        <p14:creationId xmlns:p14="http://schemas.microsoft.com/office/powerpoint/2010/main" val="2746841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r>
              <a:rPr lang="en-US"/>
              <a:t>Lecture 6</a:t>
            </a:r>
          </a:p>
        </p:txBody>
      </p:sp>
      <p:sp>
        <p:nvSpPr>
          <p:cNvPr id="4" name="Slide Number Placeholder 3"/>
          <p:cNvSpPr>
            <a:spLocks noGrp="1"/>
          </p:cNvSpPr>
          <p:nvPr>
            <p:ph type="sldNum" sz="quarter" idx="12"/>
          </p:nvPr>
        </p:nvSpPr>
        <p:spPr/>
        <p:txBody>
          <a:bodyPr/>
          <a:lstStyle/>
          <a:p>
            <a:pPr>
              <a:defRPr/>
            </a:pPr>
            <a:fld id="{F7CFF3EB-A48D-42DF-B63A-082795389DD5}" type="slidenum">
              <a:rPr lang="en-US" smtClean="0"/>
              <a:pPr>
                <a:defRPr/>
              </a:pPr>
              <a:t>‹#›</a:t>
            </a:fld>
            <a:endParaRPr lang="en-US"/>
          </a:p>
        </p:txBody>
      </p:sp>
    </p:spTree>
    <p:extLst>
      <p:ext uri="{BB962C8B-B14F-4D97-AF65-F5344CB8AC3E}">
        <p14:creationId xmlns:p14="http://schemas.microsoft.com/office/powerpoint/2010/main" val="601313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SG"/>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Lecture 6</a:t>
            </a:r>
          </a:p>
        </p:txBody>
      </p:sp>
      <p:sp>
        <p:nvSpPr>
          <p:cNvPr id="7" name="Slide Number Placeholder 6"/>
          <p:cNvSpPr>
            <a:spLocks noGrp="1"/>
          </p:cNvSpPr>
          <p:nvPr>
            <p:ph type="sldNum" sz="quarter" idx="12"/>
          </p:nvPr>
        </p:nvSpPr>
        <p:spPr/>
        <p:txBody>
          <a:bodyPr/>
          <a:lstStyle/>
          <a:p>
            <a:pPr>
              <a:defRPr/>
            </a:pPr>
            <a:fld id="{91D53D00-FA79-4968-B43A-71CD9D470EDB}" type="slidenum">
              <a:rPr lang="en-US" smtClean="0"/>
              <a:pPr>
                <a:defRPr/>
              </a:pPr>
              <a:t>‹#›</a:t>
            </a:fld>
            <a:endParaRPr lang="en-US"/>
          </a:p>
        </p:txBody>
      </p:sp>
    </p:spTree>
    <p:extLst>
      <p:ext uri="{BB962C8B-B14F-4D97-AF65-F5344CB8AC3E}">
        <p14:creationId xmlns:p14="http://schemas.microsoft.com/office/powerpoint/2010/main" val="2799439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SG"/>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SG"/>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Lecture 6</a:t>
            </a:r>
          </a:p>
        </p:txBody>
      </p:sp>
      <p:sp>
        <p:nvSpPr>
          <p:cNvPr id="7" name="Slide Number Placeholder 6"/>
          <p:cNvSpPr>
            <a:spLocks noGrp="1"/>
          </p:cNvSpPr>
          <p:nvPr>
            <p:ph type="sldNum" sz="quarter" idx="12"/>
          </p:nvPr>
        </p:nvSpPr>
        <p:spPr/>
        <p:txBody>
          <a:bodyPr/>
          <a:lstStyle/>
          <a:p>
            <a:pPr>
              <a:defRPr/>
            </a:pPr>
            <a:fld id="{FB265917-24D6-4488-B6C6-127573F188F4}" type="slidenum">
              <a:rPr lang="en-US" smtClean="0"/>
              <a:pPr>
                <a:defRPr/>
              </a:pPr>
              <a:t>‹#›</a:t>
            </a:fld>
            <a:endParaRPr lang="en-US"/>
          </a:p>
        </p:txBody>
      </p:sp>
    </p:spTree>
    <p:extLst>
      <p:ext uri="{BB962C8B-B14F-4D97-AF65-F5344CB8AC3E}">
        <p14:creationId xmlns:p14="http://schemas.microsoft.com/office/powerpoint/2010/main" val="1074067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Lecture 6</a:t>
            </a:r>
          </a:p>
        </p:txBody>
      </p:sp>
      <p:sp>
        <p:nvSpPr>
          <p:cNvPr id="6" name="Slide Number Placeholder 5"/>
          <p:cNvSpPr>
            <a:spLocks noGrp="1"/>
          </p:cNvSpPr>
          <p:nvPr>
            <p:ph type="sldNum" sz="quarter" idx="12"/>
          </p:nvPr>
        </p:nvSpPr>
        <p:spPr/>
        <p:txBody>
          <a:bodyPr/>
          <a:lstStyle/>
          <a:p>
            <a:pPr>
              <a:defRPr/>
            </a:pPr>
            <a:fld id="{DB153FAC-10BC-4291-88D7-7C2AC19F67EB}" type="slidenum">
              <a:rPr lang="en-US" smtClean="0"/>
              <a:pPr>
                <a:defRPr/>
              </a:pPr>
              <a:t>‹#›</a:t>
            </a:fld>
            <a:endParaRPr lang="en-US"/>
          </a:p>
        </p:txBody>
      </p:sp>
    </p:spTree>
    <p:extLst>
      <p:ext uri="{BB962C8B-B14F-4D97-AF65-F5344CB8AC3E}">
        <p14:creationId xmlns:p14="http://schemas.microsoft.com/office/powerpoint/2010/main" val="3562073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Lecture 6</a:t>
            </a:r>
          </a:p>
        </p:txBody>
      </p:sp>
      <p:sp>
        <p:nvSpPr>
          <p:cNvPr id="6" name="Slide Number Placeholder 5"/>
          <p:cNvSpPr>
            <a:spLocks noGrp="1"/>
          </p:cNvSpPr>
          <p:nvPr>
            <p:ph type="sldNum" sz="quarter" idx="12"/>
          </p:nvPr>
        </p:nvSpPr>
        <p:spPr/>
        <p:txBody>
          <a:bodyPr/>
          <a:lstStyle/>
          <a:p>
            <a:pPr>
              <a:defRPr/>
            </a:pPr>
            <a:fld id="{C93B88D7-B579-4730-9B03-D9668B33C055}" type="slidenum">
              <a:rPr lang="en-US" smtClean="0"/>
              <a:pPr>
                <a:defRPr/>
              </a:pPr>
              <a:t>‹#›</a:t>
            </a:fld>
            <a:endParaRPr lang="en-US"/>
          </a:p>
        </p:txBody>
      </p:sp>
    </p:spTree>
    <p:extLst>
      <p:ext uri="{BB962C8B-B14F-4D97-AF65-F5344CB8AC3E}">
        <p14:creationId xmlns:p14="http://schemas.microsoft.com/office/powerpoint/2010/main" val="3761563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8077200" cy="1204913"/>
          </a:xfrm>
        </p:spPr>
        <p:txBody>
          <a:bodyPr/>
          <a:lstStyle/>
          <a:p>
            <a:r>
              <a:rPr lang="en-US"/>
              <a:t>Click to edit Master title style</a:t>
            </a:r>
          </a:p>
        </p:txBody>
      </p:sp>
      <p:sp>
        <p:nvSpPr>
          <p:cNvPr id="3" name="Text Placeholder 2"/>
          <p:cNvSpPr>
            <a:spLocks noGrp="1"/>
          </p:cNvSpPr>
          <p:nvPr>
            <p:ph type="body" sz="half" idx="1"/>
          </p:nvPr>
        </p:nvSpPr>
        <p:spPr>
          <a:xfrm>
            <a:off x="685800" y="1752600"/>
            <a:ext cx="39624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752600"/>
            <a:ext cx="39624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946150" y="6248400"/>
            <a:ext cx="1905000" cy="457200"/>
          </a:xfrm>
          <a:prstGeom prst="rect">
            <a:avLst/>
          </a:prstGeom>
        </p:spPr>
        <p:txBody>
          <a:bodyPr/>
          <a:lstStyle>
            <a:lvl1pPr>
              <a:defRPr/>
            </a:lvl1pPr>
          </a:lstStyle>
          <a:p>
            <a:pPr>
              <a:defRPr/>
            </a:pPr>
            <a:endParaRPr lang="en-US"/>
          </a:p>
        </p:txBody>
      </p:sp>
      <p:sp>
        <p:nvSpPr>
          <p:cNvPr id="6" name="Footer Placeholder 5"/>
          <p:cNvSpPr>
            <a:spLocks noGrp="1"/>
          </p:cNvSpPr>
          <p:nvPr>
            <p:ph type="ftr" sz="quarter" idx="11"/>
          </p:nvPr>
        </p:nvSpPr>
        <p:spPr>
          <a:xfrm>
            <a:off x="3352800" y="6248400"/>
            <a:ext cx="2895600" cy="457200"/>
          </a:xfrm>
        </p:spPr>
        <p:txBody>
          <a:bodyPr/>
          <a:lstStyle>
            <a:lvl1pPr>
              <a:defRPr/>
            </a:lvl1pPr>
          </a:lstStyle>
          <a:p>
            <a:pPr>
              <a:defRPr/>
            </a:pPr>
            <a:r>
              <a:rPr lang="en-US"/>
              <a:t>Lecture 6</a:t>
            </a:r>
          </a:p>
        </p:txBody>
      </p:sp>
      <p:sp>
        <p:nvSpPr>
          <p:cNvPr id="7" name="Slide Number Placeholder 6"/>
          <p:cNvSpPr>
            <a:spLocks noGrp="1"/>
          </p:cNvSpPr>
          <p:nvPr>
            <p:ph type="sldNum" sz="quarter" idx="12"/>
          </p:nvPr>
        </p:nvSpPr>
        <p:spPr>
          <a:xfrm>
            <a:off x="7239000" y="6400800"/>
            <a:ext cx="1905000" cy="457200"/>
          </a:xfrm>
        </p:spPr>
        <p:txBody>
          <a:bodyPr/>
          <a:lstStyle>
            <a:lvl1pPr>
              <a:defRPr/>
            </a:lvl1pPr>
          </a:lstStyle>
          <a:p>
            <a:pPr>
              <a:defRPr/>
            </a:pPr>
            <a:fld id="{610FAA76-E594-4F73-B2F5-356B412B59AE}" type="slidenum">
              <a:rPr lang="en-US"/>
              <a:pPr>
                <a:defRPr/>
              </a:pPr>
              <a:t>‹#›</a:t>
            </a:fld>
            <a:endParaRPr lang="en-US"/>
          </a:p>
        </p:txBody>
      </p:sp>
    </p:spTree>
    <p:extLst>
      <p:ext uri="{BB962C8B-B14F-4D97-AF65-F5344CB8AC3E}">
        <p14:creationId xmlns:p14="http://schemas.microsoft.com/office/powerpoint/2010/main" val="11726378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28600"/>
            <a:ext cx="8153400" cy="1204913"/>
          </a:xfrm>
        </p:spPr>
        <p:txBody>
          <a:bodyPr/>
          <a:lstStyle/>
          <a:p>
            <a:r>
              <a:rPr lang="en-US"/>
              <a:t>Click to edit Master title style</a:t>
            </a:r>
          </a:p>
        </p:txBody>
      </p:sp>
      <p:sp>
        <p:nvSpPr>
          <p:cNvPr id="3" name="Content Placeholder 2"/>
          <p:cNvSpPr>
            <a:spLocks noGrp="1"/>
          </p:cNvSpPr>
          <p:nvPr>
            <p:ph sz="quarter" idx="1"/>
          </p:nvPr>
        </p:nvSpPr>
        <p:spPr>
          <a:xfrm>
            <a:off x="609600" y="1752600"/>
            <a:ext cx="4000500" cy="2095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1752600"/>
            <a:ext cx="4000500" cy="2095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4000500"/>
            <a:ext cx="4000500" cy="2095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762500" y="4000500"/>
            <a:ext cx="4000500" cy="2095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946150" y="6248400"/>
            <a:ext cx="1905000" cy="457200"/>
          </a:xfrm>
          <a:prstGeom prst="rect">
            <a:avLst/>
          </a:prstGeom>
        </p:spPr>
        <p:txBody>
          <a:bodyPr/>
          <a:lstStyle>
            <a:lvl1pPr>
              <a:defRPr/>
            </a:lvl1pPr>
          </a:lstStyle>
          <a:p>
            <a:pPr>
              <a:defRPr/>
            </a:pPr>
            <a:endParaRPr lang="en-US"/>
          </a:p>
        </p:txBody>
      </p:sp>
      <p:sp>
        <p:nvSpPr>
          <p:cNvPr id="8" name="Footer Placeholder 7"/>
          <p:cNvSpPr>
            <a:spLocks noGrp="1"/>
          </p:cNvSpPr>
          <p:nvPr>
            <p:ph type="ftr" sz="quarter" idx="11"/>
          </p:nvPr>
        </p:nvSpPr>
        <p:spPr>
          <a:xfrm>
            <a:off x="3352800" y="6248400"/>
            <a:ext cx="2895600" cy="457200"/>
          </a:xfrm>
        </p:spPr>
        <p:txBody>
          <a:bodyPr/>
          <a:lstStyle>
            <a:lvl1pPr>
              <a:defRPr/>
            </a:lvl1pPr>
          </a:lstStyle>
          <a:p>
            <a:pPr>
              <a:defRPr/>
            </a:pPr>
            <a:r>
              <a:rPr lang="en-US"/>
              <a:t>Lecture 6</a:t>
            </a:r>
          </a:p>
        </p:txBody>
      </p:sp>
      <p:sp>
        <p:nvSpPr>
          <p:cNvPr id="9" name="Slide Number Placeholder 8"/>
          <p:cNvSpPr>
            <a:spLocks noGrp="1"/>
          </p:cNvSpPr>
          <p:nvPr>
            <p:ph type="sldNum" sz="quarter" idx="12"/>
          </p:nvPr>
        </p:nvSpPr>
        <p:spPr>
          <a:xfrm>
            <a:off x="7239000" y="6400800"/>
            <a:ext cx="1905000" cy="457200"/>
          </a:xfrm>
        </p:spPr>
        <p:txBody>
          <a:bodyPr/>
          <a:lstStyle>
            <a:lvl1pPr>
              <a:defRPr/>
            </a:lvl1pPr>
          </a:lstStyle>
          <a:p>
            <a:pPr>
              <a:defRPr/>
            </a:pPr>
            <a:fld id="{D387BE9B-57C1-4E0C-8772-E60E688F8D14}" type="slidenum">
              <a:rPr lang="en-US"/>
              <a:pPr>
                <a:defRPr/>
              </a:pPr>
              <a:t>‹#›</a:t>
            </a:fld>
            <a:endParaRPr lang="en-US"/>
          </a:p>
        </p:txBody>
      </p:sp>
    </p:spTree>
    <p:extLst>
      <p:ext uri="{BB962C8B-B14F-4D97-AF65-F5344CB8AC3E}">
        <p14:creationId xmlns:p14="http://schemas.microsoft.com/office/powerpoint/2010/main" val="177834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SG"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SG"/>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US"/>
              <a:t>Lecture 6</a:t>
            </a:r>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43EA0800-5D9C-40F9-8F2E-33BFC0A6E835}" type="slidenum">
              <a:rPr lang="en-US" smtClean="0"/>
              <a:pPr>
                <a:defRPr/>
              </a:pPr>
              <a:t>‹#›</a:t>
            </a:fld>
            <a:endParaRPr lang="en-US"/>
          </a:p>
        </p:txBody>
      </p:sp>
    </p:spTree>
    <p:extLst>
      <p:ext uri="{BB962C8B-B14F-4D97-AF65-F5344CB8AC3E}">
        <p14:creationId xmlns:p14="http://schemas.microsoft.com/office/powerpoint/2010/main" val="257822997"/>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Gill Sans MT" panose="020B0502020104020203"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Gill Sans MT" panose="020B0502020104020203"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Gill Sans MT" panose="020B0502020104020203"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Gill Sans MT" panose="020B0502020104020203"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Gill Sans MT" panose="020B0502020104020203"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6.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2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15.png"/><Relationship Id="rId7" Type="http://schemas.openxmlformats.org/officeDocument/2006/relationships/image" Target="../media/image3.wmf"/><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image" Target="../media/image14.wmf"/><Relationship Id="rId10" Type="http://schemas.openxmlformats.org/officeDocument/2006/relationships/image" Target="../media/image13.png"/><Relationship Id="rId4" Type="http://schemas.openxmlformats.org/officeDocument/2006/relationships/oleObject" Target="../embeddings/oleObject1.bin"/><Relationship Id="rId9" Type="http://schemas.openxmlformats.org/officeDocument/2006/relationships/image" Target="../media/image1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1143000" y="2666999"/>
            <a:ext cx="6858000" cy="842963"/>
          </a:xfrm>
        </p:spPr>
        <p:txBody>
          <a:bodyPr>
            <a:noAutofit/>
          </a:bodyPr>
          <a:lstStyle/>
          <a:p>
            <a:pPr eaLnBrk="1" hangingPunct="1"/>
            <a:r>
              <a:rPr lang="en-US" sz="6000" dirty="0"/>
              <a:t>Firewalls</a:t>
            </a:r>
          </a:p>
        </p:txBody>
      </p:sp>
      <p:sp>
        <p:nvSpPr>
          <p:cNvPr id="18435" name="Subtitle 3"/>
          <p:cNvSpPr>
            <a:spLocks noGrp="1"/>
          </p:cNvSpPr>
          <p:nvPr>
            <p:ph type="subTitle" idx="1"/>
          </p:nvPr>
        </p:nvSpPr>
        <p:spPr>
          <a:xfrm>
            <a:off x="990600" y="3581400"/>
            <a:ext cx="6705600" cy="1905000"/>
          </a:xfrm>
        </p:spPr>
        <p:txBody>
          <a:bodyPr>
            <a:normAutofit/>
          </a:bodyPr>
          <a:lstStyle/>
          <a:p>
            <a:pPr eaLnBrk="1" hangingPunct="1"/>
            <a:r>
              <a:rPr lang="en-US" sz="2400" dirty="0"/>
              <a:t>Chapter 9</a:t>
            </a:r>
          </a:p>
          <a:p>
            <a:pPr eaLnBrk="1" hangingPunct="1"/>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a:bodyPr>
          <a:lstStyle/>
          <a:p>
            <a:pPr eaLnBrk="1" hangingPunct="1"/>
            <a:r>
              <a:rPr lang="en-US" sz="4400" dirty="0"/>
              <a:t>Learning Objectives</a:t>
            </a:r>
          </a:p>
        </p:txBody>
      </p:sp>
      <p:sp>
        <p:nvSpPr>
          <p:cNvPr id="19459" name="Rectangle 3"/>
          <p:cNvSpPr>
            <a:spLocks noGrp="1" noChangeArrowheads="1"/>
          </p:cNvSpPr>
          <p:nvPr>
            <p:ph idx="1"/>
          </p:nvPr>
        </p:nvSpPr>
        <p:spPr>
          <a:xfrm>
            <a:off x="628650" y="1825625"/>
            <a:ext cx="7886700" cy="1374775"/>
          </a:xfrm>
        </p:spPr>
        <p:txBody>
          <a:bodyPr>
            <a:normAutofit/>
          </a:bodyPr>
          <a:lstStyle/>
          <a:p>
            <a:pPr lvl="0"/>
            <a:r>
              <a:rPr lang="en-SG" sz="2800" dirty="0"/>
              <a:t>Examine firewall technology by describing its architecture, functions and the various types.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a:bodyPr>
          <a:lstStyle/>
          <a:p>
            <a:pPr eaLnBrk="1" hangingPunct="1"/>
            <a:r>
              <a:rPr lang="en-GB" sz="4400" dirty="0"/>
              <a:t>What is a Firewall</a:t>
            </a:r>
          </a:p>
        </p:txBody>
      </p:sp>
      <p:sp>
        <p:nvSpPr>
          <p:cNvPr id="20483" name="Rectangle 3"/>
          <p:cNvSpPr>
            <a:spLocks noGrp="1" noChangeArrowheads="1"/>
          </p:cNvSpPr>
          <p:nvPr>
            <p:ph idx="1"/>
          </p:nvPr>
        </p:nvSpPr>
        <p:spPr>
          <a:xfrm>
            <a:off x="381000" y="1722440"/>
            <a:ext cx="8077200" cy="4754560"/>
          </a:xfrm>
        </p:spPr>
        <p:txBody>
          <a:bodyPr>
            <a:normAutofit/>
          </a:bodyPr>
          <a:lstStyle/>
          <a:p>
            <a:pPr marL="342900" indent="-342900" eaLnBrk="1" hangingPunct="1">
              <a:spcBef>
                <a:spcPts val="1200"/>
              </a:spcBef>
            </a:pPr>
            <a:r>
              <a:rPr lang="en-GB" sz="2800" dirty="0"/>
              <a:t>A firewall is a combination of hardware components (such as routers, host computers, NIC cards) &amp; appropriate software, that controls access between your private network (such as a LAN) and an external network (such as the Internet): </a:t>
            </a:r>
          </a:p>
        </p:txBody>
      </p:sp>
      <p:pic>
        <p:nvPicPr>
          <p:cNvPr id="20484" name="Picture 4" descr="firewall"/>
          <p:cNvPicPr>
            <a:picLocks noChangeAspect="1" noChangeArrowheads="1"/>
          </p:cNvPicPr>
          <p:nvPr/>
        </p:nvPicPr>
        <p:blipFill>
          <a:blip r:embed="rId2"/>
          <a:srcRect/>
          <a:stretch>
            <a:fillRect/>
          </a:stretch>
        </p:blipFill>
        <p:spPr bwMode="auto">
          <a:xfrm>
            <a:off x="1981200" y="3768725"/>
            <a:ext cx="4648200" cy="255587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a:bodyPr>
          <a:lstStyle/>
          <a:p>
            <a:pPr eaLnBrk="1" hangingPunct="1"/>
            <a:r>
              <a:rPr lang="en-GB" sz="4400" dirty="0"/>
              <a:t>What is a Firewall</a:t>
            </a:r>
          </a:p>
        </p:txBody>
      </p:sp>
      <p:sp>
        <p:nvSpPr>
          <p:cNvPr id="21507" name="Rectangle 3"/>
          <p:cNvSpPr>
            <a:spLocks noGrp="1" noChangeArrowheads="1"/>
          </p:cNvSpPr>
          <p:nvPr>
            <p:ph idx="1"/>
          </p:nvPr>
        </p:nvSpPr>
        <p:spPr/>
        <p:txBody>
          <a:bodyPr>
            <a:normAutofit/>
          </a:bodyPr>
          <a:lstStyle/>
          <a:p>
            <a:pPr marL="342900" indent="-342900" eaLnBrk="1" hangingPunct="1">
              <a:lnSpc>
                <a:spcPct val="90000"/>
              </a:lnSpc>
            </a:pPr>
            <a:r>
              <a:rPr lang="en-US" sz="2800" dirty="0"/>
              <a:t>A system used to regulate traffic between 2 networks</a:t>
            </a:r>
            <a:endParaRPr lang="en-GB" sz="2800" dirty="0"/>
          </a:p>
          <a:p>
            <a:pPr marL="342900" indent="-342900" eaLnBrk="1" hangingPunct="1">
              <a:lnSpc>
                <a:spcPct val="90000"/>
              </a:lnSpc>
            </a:pPr>
            <a:r>
              <a:rPr lang="en-US" sz="2800" dirty="0"/>
              <a:t>A mechanism to protect a trusted network from an untrusted network</a:t>
            </a:r>
          </a:p>
          <a:p>
            <a:pPr marL="742950" lvl="1" indent="-285750" eaLnBrk="1" hangingPunct="1">
              <a:lnSpc>
                <a:spcPct val="90000"/>
              </a:lnSpc>
            </a:pPr>
            <a:r>
              <a:rPr lang="en-GB" sz="2800" dirty="0"/>
              <a:t>All incoming and outgoing traffic must pass through the firewall</a:t>
            </a:r>
          </a:p>
          <a:p>
            <a:pPr marL="742950" lvl="1" indent="-285750" eaLnBrk="1" hangingPunct="1">
              <a:lnSpc>
                <a:spcPct val="90000"/>
              </a:lnSpc>
            </a:pPr>
            <a:r>
              <a:rPr lang="en-GB" sz="2800" dirty="0"/>
              <a:t>Only authorized traffic, as defined by security policy, is allowed to pass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eaLnBrk="1" hangingPunct="1"/>
            <a:r>
              <a:rPr lang="en-GB" sz="4400" dirty="0"/>
              <a:t>Basic Firewall Terms</a:t>
            </a:r>
          </a:p>
        </p:txBody>
      </p:sp>
      <p:sp>
        <p:nvSpPr>
          <p:cNvPr id="22531" name="Rectangle 3"/>
          <p:cNvSpPr>
            <a:spLocks noGrp="1" noChangeArrowheads="1"/>
          </p:cNvSpPr>
          <p:nvPr>
            <p:ph idx="1"/>
          </p:nvPr>
        </p:nvSpPr>
        <p:spPr/>
        <p:txBody>
          <a:bodyPr>
            <a:normAutofit/>
          </a:bodyPr>
          <a:lstStyle/>
          <a:p>
            <a:pPr eaLnBrk="1" hangingPunct="1"/>
            <a:r>
              <a:rPr lang="en-GB" sz="2800" dirty="0"/>
              <a:t>Border Firewall</a:t>
            </a:r>
          </a:p>
          <a:p>
            <a:pPr lvl="1" eaLnBrk="1" hangingPunct="1"/>
            <a:r>
              <a:rPr lang="en-GB" sz="2800" dirty="0"/>
              <a:t>Firewalls placed between an organization’s internal trusted network and an external untrusted network, usually the Internet.</a:t>
            </a:r>
          </a:p>
          <a:p>
            <a:pPr eaLnBrk="1" hangingPunct="1"/>
            <a:r>
              <a:rPr lang="en-GB" sz="2800" dirty="0"/>
              <a:t>Ingress Filtering</a:t>
            </a:r>
          </a:p>
          <a:p>
            <a:pPr lvl="1" eaLnBrk="1" hangingPunct="1"/>
            <a:r>
              <a:rPr lang="en-GB" sz="2800" dirty="0"/>
              <a:t>Examines packets coming into the organisation</a:t>
            </a:r>
          </a:p>
          <a:p>
            <a:pPr eaLnBrk="1" hangingPunct="1"/>
            <a:r>
              <a:rPr lang="en-GB" sz="2800" dirty="0"/>
              <a:t>Egress filtering </a:t>
            </a:r>
          </a:p>
          <a:p>
            <a:pPr lvl="1" eaLnBrk="1" hangingPunct="1"/>
            <a:r>
              <a:rPr lang="en-GB" sz="2800" dirty="0"/>
              <a:t>Examines packets going out of the organisation</a:t>
            </a:r>
          </a:p>
          <a:p>
            <a:pPr lvl="1" eaLnBrk="1" hangingPunct="1"/>
            <a:endParaRPr lang="en-GB"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a:bodyPr>
          <a:lstStyle/>
          <a:p>
            <a:pPr eaLnBrk="1" hangingPunct="1"/>
            <a:r>
              <a:rPr lang="en-US" sz="4400" dirty="0"/>
              <a:t>Border Firewall</a:t>
            </a:r>
          </a:p>
        </p:txBody>
      </p:sp>
      <p:sp>
        <p:nvSpPr>
          <p:cNvPr id="23555" name="Line 4"/>
          <p:cNvSpPr>
            <a:spLocks noChangeShapeType="1"/>
          </p:cNvSpPr>
          <p:nvPr/>
        </p:nvSpPr>
        <p:spPr bwMode="auto">
          <a:xfrm flipV="1">
            <a:off x="4471987" y="3028950"/>
            <a:ext cx="990600" cy="14288"/>
          </a:xfrm>
          <a:prstGeom prst="line">
            <a:avLst/>
          </a:prstGeom>
          <a:noFill/>
          <a:ln w="9525">
            <a:solidFill>
              <a:schemeClr val="tx1"/>
            </a:solidFill>
            <a:round/>
            <a:headEnd/>
            <a:tailEnd/>
          </a:ln>
        </p:spPr>
        <p:txBody>
          <a:bodyPr/>
          <a:lstStyle/>
          <a:p>
            <a:endParaRPr lang="en-US"/>
          </a:p>
        </p:txBody>
      </p:sp>
      <p:sp>
        <p:nvSpPr>
          <p:cNvPr id="23556" name="Rectangle 5"/>
          <p:cNvSpPr>
            <a:spLocks noChangeArrowheads="1"/>
          </p:cNvSpPr>
          <p:nvPr/>
        </p:nvSpPr>
        <p:spPr bwMode="auto">
          <a:xfrm>
            <a:off x="357187" y="1581150"/>
            <a:ext cx="4114800" cy="4419600"/>
          </a:xfrm>
          <a:prstGeom prst="rect">
            <a:avLst/>
          </a:prstGeom>
          <a:solidFill>
            <a:schemeClr val="bg1"/>
          </a:solidFill>
          <a:ln w="9525">
            <a:solidFill>
              <a:schemeClr val="tx1"/>
            </a:solidFill>
            <a:miter lim="800000"/>
            <a:headEnd/>
            <a:tailEnd/>
          </a:ln>
        </p:spPr>
        <p:txBody>
          <a:bodyPr wrap="none" anchor="ctr"/>
          <a:lstStyle/>
          <a:p>
            <a:endParaRPr lang="en-GB" sz="2000"/>
          </a:p>
        </p:txBody>
      </p:sp>
      <p:pic>
        <p:nvPicPr>
          <p:cNvPr id="23557" name="Picture 6" descr="PDN"/>
          <p:cNvPicPr>
            <a:picLocks noChangeAspect="1" noChangeArrowheads="1"/>
          </p:cNvPicPr>
          <p:nvPr/>
        </p:nvPicPr>
        <p:blipFill>
          <a:blip r:embed="rId2"/>
          <a:srcRect/>
          <a:stretch>
            <a:fillRect/>
          </a:stretch>
        </p:blipFill>
        <p:spPr bwMode="auto">
          <a:xfrm>
            <a:off x="5462587" y="2595563"/>
            <a:ext cx="1981200" cy="1042987"/>
          </a:xfrm>
          <a:prstGeom prst="rect">
            <a:avLst/>
          </a:prstGeom>
          <a:noFill/>
          <a:ln w="9525">
            <a:noFill/>
            <a:miter lim="800000"/>
            <a:headEnd/>
            <a:tailEnd/>
          </a:ln>
        </p:spPr>
      </p:pic>
      <p:grpSp>
        <p:nvGrpSpPr>
          <p:cNvPr id="23558" name="Group 7"/>
          <p:cNvGrpSpPr>
            <a:grpSpLocks/>
          </p:cNvGrpSpPr>
          <p:nvPr/>
        </p:nvGrpSpPr>
        <p:grpSpPr bwMode="auto">
          <a:xfrm>
            <a:off x="6637337" y="2535238"/>
            <a:ext cx="838200" cy="304800"/>
            <a:chOff x="3456" y="3312"/>
            <a:chExt cx="528" cy="192"/>
          </a:xfrm>
        </p:grpSpPr>
        <p:sp>
          <p:nvSpPr>
            <p:cNvPr id="23629" name="Rectangle 8"/>
            <p:cNvSpPr>
              <a:spLocks noChangeArrowheads="1"/>
            </p:cNvSpPr>
            <p:nvPr/>
          </p:nvSpPr>
          <p:spPr bwMode="auto">
            <a:xfrm>
              <a:off x="3648" y="3312"/>
              <a:ext cx="336" cy="192"/>
            </a:xfrm>
            <a:prstGeom prst="rect">
              <a:avLst/>
            </a:prstGeom>
            <a:solidFill>
              <a:srgbClr val="CC3300"/>
            </a:solidFill>
            <a:ln w="9525">
              <a:solidFill>
                <a:schemeClr val="tx1"/>
              </a:solidFill>
              <a:miter lim="800000"/>
              <a:headEnd/>
              <a:tailEnd/>
            </a:ln>
          </p:spPr>
          <p:txBody>
            <a:bodyPr wrap="none" anchor="ctr"/>
            <a:lstStyle/>
            <a:p>
              <a:endParaRPr lang="en-US"/>
            </a:p>
          </p:txBody>
        </p:sp>
        <p:sp>
          <p:nvSpPr>
            <p:cNvPr id="23630" name="Line 9"/>
            <p:cNvSpPr>
              <a:spLocks noChangeShapeType="1"/>
            </p:cNvSpPr>
            <p:nvPr/>
          </p:nvSpPr>
          <p:spPr bwMode="auto">
            <a:xfrm flipH="1">
              <a:off x="3456" y="3408"/>
              <a:ext cx="192" cy="0"/>
            </a:xfrm>
            <a:prstGeom prst="line">
              <a:avLst/>
            </a:prstGeom>
            <a:noFill/>
            <a:ln w="38100">
              <a:solidFill>
                <a:schemeClr val="tx1"/>
              </a:solidFill>
              <a:round/>
              <a:headEnd/>
              <a:tailEnd type="triangle" w="med" len="med"/>
            </a:ln>
          </p:spPr>
          <p:txBody>
            <a:bodyPr/>
            <a:lstStyle/>
            <a:p>
              <a:endParaRPr lang="en-US"/>
            </a:p>
          </p:txBody>
        </p:sp>
      </p:grpSp>
      <p:sp>
        <p:nvSpPr>
          <p:cNvPr id="23559" name="Text Box 10"/>
          <p:cNvSpPr txBox="1">
            <a:spLocks noChangeArrowheads="1"/>
          </p:cNvSpPr>
          <p:nvPr/>
        </p:nvSpPr>
        <p:spPr bwMode="auto">
          <a:xfrm>
            <a:off x="6751637" y="1809750"/>
            <a:ext cx="960438" cy="701675"/>
          </a:xfrm>
          <a:prstGeom prst="rect">
            <a:avLst/>
          </a:prstGeom>
          <a:noFill/>
          <a:ln w="9525">
            <a:noFill/>
            <a:miter lim="800000"/>
            <a:headEnd/>
            <a:tailEnd/>
          </a:ln>
        </p:spPr>
        <p:txBody>
          <a:bodyPr wrap="none">
            <a:spAutoFit/>
          </a:bodyPr>
          <a:lstStyle/>
          <a:p>
            <a:r>
              <a:rPr lang="en-US" sz="2000"/>
              <a:t>Attack</a:t>
            </a:r>
          </a:p>
          <a:p>
            <a:r>
              <a:rPr lang="en-US" sz="2000"/>
              <a:t>Packet</a:t>
            </a:r>
          </a:p>
        </p:txBody>
      </p:sp>
      <p:sp>
        <p:nvSpPr>
          <p:cNvPr id="23560" name="Text Box 11"/>
          <p:cNvSpPr txBox="1">
            <a:spLocks noChangeArrowheads="1"/>
          </p:cNvSpPr>
          <p:nvPr/>
        </p:nvSpPr>
        <p:spPr bwMode="auto">
          <a:xfrm>
            <a:off x="5668962" y="2774950"/>
            <a:ext cx="1677988" cy="701675"/>
          </a:xfrm>
          <a:prstGeom prst="rect">
            <a:avLst/>
          </a:prstGeom>
          <a:noFill/>
          <a:ln w="9525">
            <a:noFill/>
            <a:miter lim="800000"/>
            <a:headEnd/>
            <a:tailEnd/>
          </a:ln>
        </p:spPr>
        <p:txBody>
          <a:bodyPr wrap="none">
            <a:spAutoFit/>
          </a:bodyPr>
          <a:lstStyle/>
          <a:p>
            <a:r>
              <a:rPr lang="en-US" sz="2000"/>
              <a:t>Internet</a:t>
            </a:r>
          </a:p>
          <a:p>
            <a:r>
              <a:rPr lang="en-US" sz="2000"/>
              <a:t>(Not Trusted)</a:t>
            </a:r>
          </a:p>
        </p:txBody>
      </p:sp>
      <p:sp>
        <p:nvSpPr>
          <p:cNvPr id="23561" name="Text Box 12"/>
          <p:cNvSpPr txBox="1">
            <a:spLocks noChangeArrowheads="1"/>
          </p:cNvSpPr>
          <p:nvPr/>
        </p:nvSpPr>
        <p:spPr bwMode="auto">
          <a:xfrm>
            <a:off x="7572375" y="3470275"/>
            <a:ext cx="1114425" cy="396875"/>
          </a:xfrm>
          <a:prstGeom prst="rect">
            <a:avLst/>
          </a:prstGeom>
          <a:noFill/>
          <a:ln w="9525">
            <a:noFill/>
            <a:miter lim="800000"/>
            <a:headEnd/>
            <a:tailEnd/>
          </a:ln>
        </p:spPr>
        <p:txBody>
          <a:bodyPr wrap="none">
            <a:spAutoFit/>
          </a:bodyPr>
          <a:lstStyle/>
          <a:p>
            <a:r>
              <a:rPr lang="en-US" sz="2000"/>
              <a:t>Attacker</a:t>
            </a:r>
          </a:p>
        </p:txBody>
      </p:sp>
      <p:sp>
        <p:nvSpPr>
          <p:cNvPr id="23562" name="Text Box 13"/>
          <p:cNvSpPr txBox="1">
            <a:spLocks noChangeArrowheads="1"/>
          </p:cNvSpPr>
          <p:nvPr/>
        </p:nvSpPr>
        <p:spPr bwMode="auto">
          <a:xfrm>
            <a:off x="454025" y="2708275"/>
            <a:ext cx="1300162" cy="701675"/>
          </a:xfrm>
          <a:prstGeom prst="rect">
            <a:avLst/>
          </a:prstGeom>
          <a:noFill/>
          <a:ln w="9525">
            <a:noFill/>
            <a:miter lim="800000"/>
            <a:headEnd/>
            <a:tailEnd/>
          </a:ln>
        </p:spPr>
        <p:txBody>
          <a:bodyPr wrap="none">
            <a:spAutoFit/>
          </a:bodyPr>
          <a:lstStyle/>
          <a:p>
            <a:r>
              <a:rPr lang="en-US" sz="2000"/>
              <a:t>Hardened</a:t>
            </a:r>
          </a:p>
          <a:p>
            <a:r>
              <a:rPr lang="en-US" sz="2000"/>
              <a:t>Client PC</a:t>
            </a:r>
          </a:p>
        </p:txBody>
      </p:sp>
      <p:pic>
        <p:nvPicPr>
          <p:cNvPr id="23563" name="Picture 15" descr="FILSERVI"/>
          <p:cNvPicPr>
            <a:picLocks noChangeAspect="1" noChangeArrowheads="1"/>
          </p:cNvPicPr>
          <p:nvPr/>
        </p:nvPicPr>
        <p:blipFill>
          <a:blip r:embed="rId3"/>
          <a:srcRect/>
          <a:stretch>
            <a:fillRect/>
          </a:stretch>
        </p:blipFill>
        <p:spPr bwMode="auto">
          <a:xfrm>
            <a:off x="696912" y="3821113"/>
            <a:ext cx="660400" cy="1143000"/>
          </a:xfrm>
          <a:prstGeom prst="rect">
            <a:avLst/>
          </a:prstGeom>
          <a:noFill/>
          <a:ln w="9525">
            <a:noFill/>
            <a:miter lim="800000"/>
            <a:headEnd/>
            <a:tailEnd/>
          </a:ln>
        </p:spPr>
      </p:pic>
      <p:sp>
        <p:nvSpPr>
          <p:cNvPr id="23564" name="Text Box 16"/>
          <p:cNvSpPr txBox="1">
            <a:spLocks noChangeArrowheads="1"/>
          </p:cNvSpPr>
          <p:nvPr/>
        </p:nvSpPr>
        <p:spPr bwMode="auto">
          <a:xfrm>
            <a:off x="377825" y="4994275"/>
            <a:ext cx="1300162" cy="701675"/>
          </a:xfrm>
          <a:prstGeom prst="rect">
            <a:avLst/>
          </a:prstGeom>
          <a:noFill/>
          <a:ln w="9525">
            <a:noFill/>
            <a:miter lim="800000"/>
            <a:headEnd/>
            <a:tailEnd/>
          </a:ln>
        </p:spPr>
        <p:txBody>
          <a:bodyPr wrap="none">
            <a:spAutoFit/>
          </a:bodyPr>
          <a:lstStyle/>
          <a:p>
            <a:r>
              <a:rPr lang="en-US" sz="2000"/>
              <a:t>Hardened</a:t>
            </a:r>
          </a:p>
          <a:p>
            <a:r>
              <a:rPr lang="en-US" sz="2000"/>
              <a:t>Server</a:t>
            </a:r>
          </a:p>
        </p:txBody>
      </p:sp>
      <p:sp>
        <p:nvSpPr>
          <p:cNvPr id="23565" name="Text Box 17"/>
          <p:cNvSpPr txBox="1">
            <a:spLocks noChangeArrowheads="1"/>
          </p:cNvSpPr>
          <p:nvPr/>
        </p:nvSpPr>
        <p:spPr bwMode="auto">
          <a:xfrm>
            <a:off x="4548187" y="5213350"/>
            <a:ext cx="2228850" cy="701675"/>
          </a:xfrm>
          <a:prstGeom prst="rect">
            <a:avLst/>
          </a:prstGeom>
          <a:noFill/>
          <a:ln w="9525">
            <a:noFill/>
            <a:miter lim="800000"/>
            <a:headEnd/>
            <a:tailEnd/>
          </a:ln>
        </p:spPr>
        <p:txBody>
          <a:bodyPr wrap="none">
            <a:spAutoFit/>
          </a:bodyPr>
          <a:lstStyle/>
          <a:p>
            <a:pPr algn="l"/>
            <a:r>
              <a:rPr lang="en-US" sz="2000"/>
              <a:t>Internal Corporate</a:t>
            </a:r>
          </a:p>
          <a:p>
            <a:pPr algn="l"/>
            <a:r>
              <a:rPr lang="en-US" sz="2000"/>
              <a:t>Network (Trusted)</a:t>
            </a:r>
          </a:p>
        </p:txBody>
      </p:sp>
      <p:sp>
        <p:nvSpPr>
          <p:cNvPr id="23566" name="Line 18"/>
          <p:cNvSpPr>
            <a:spLocks noChangeShapeType="1"/>
          </p:cNvSpPr>
          <p:nvPr/>
        </p:nvSpPr>
        <p:spPr bwMode="auto">
          <a:xfrm flipH="1" flipV="1">
            <a:off x="1423987" y="2190750"/>
            <a:ext cx="3048000" cy="838200"/>
          </a:xfrm>
          <a:prstGeom prst="line">
            <a:avLst/>
          </a:prstGeom>
          <a:noFill/>
          <a:ln w="9525">
            <a:solidFill>
              <a:schemeClr val="tx1"/>
            </a:solidFill>
            <a:round/>
            <a:headEnd/>
            <a:tailEnd/>
          </a:ln>
        </p:spPr>
        <p:txBody>
          <a:bodyPr/>
          <a:lstStyle/>
          <a:p>
            <a:endParaRPr lang="en-US"/>
          </a:p>
        </p:txBody>
      </p:sp>
      <p:sp>
        <p:nvSpPr>
          <p:cNvPr id="23567" name="Line 19"/>
          <p:cNvSpPr>
            <a:spLocks noChangeShapeType="1"/>
          </p:cNvSpPr>
          <p:nvPr/>
        </p:nvSpPr>
        <p:spPr bwMode="auto">
          <a:xfrm flipH="1">
            <a:off x="1347787" y="3105150"/>
            <a:ext cx="3124200" cy="990600"/>
          </a:xfrm>
          <a:prstGeom prst="line">
            <a:avLst/>
          </a:prstGeom>
          <a:noFill/>
          <a:ln w="9525">
            <a:solidFill>
              <a:schemeClr val="tx1"/>
            </a:solidFill>
            <a:round/>
            <a:headEnd/>
            <a:tailEnd/>
          </a:ln>
        </p:spPr>
        <p:txBody>
          <a:bodyPr/>
          <a:lstStyle/>
          <a:p>
            <a:endParaRPr lang="en-US"/>
          </a:p>
        </p:txBody>
      </p:sp>
      <p:sp>
        <p:nvSpPr>
          <p:cNvPr id="23568" name="Line 20"/>
          <p:cNvSpPr>
            <a:spLocks noChangeShapeType="1"/>
          </p:cNvSpPr>
          <p:nvPr/>
        </p:nvSpPr>
        <p:spPr bwMode="auto">
          <a:xfrm>
            <a:off x="7367587" y="3043238"/>
            <a:ext cx="304800" cy="0"/>
          </a:xfrm>
          <a:prstGeom prst="line">
            <a:avLst/>
          </a:prstGeom>
          <a:noFill/>
          <a:ln w="9525">
            <a:solidFill>
              <a:schemeClr val="tx1"/>
            </a:solidFill>
            <a:round/>
            <a:headEnd/>
            <a:tailEnd/>
          </a:ln>
        </p:spPr>
        <p:txBody>
          <a:bodyPr/>
          <a:lstStyle/>
          <a:p>
            <a:endParaRPr lang="en-US"/>
          </a:p>
        </p:txBody>
      </p:sp>
      <p:pic>
        <p:nvPicPr>
          <p:cNvPr id="23569" name="Picture 21" descr="MULTMEDI"/>
          <p:cNvPicPr>
            <a:picLocks noChangeAspect="1" noChangeArrowheads="1"/>
          </p:cNvPicPr>
          <p:nvPr/>
        </p:nvPicPr>
        <p:blipFill>
          <a:blip r:embed="rId4"/>
          <a:srcRect/>
          <a:stretch>
            <a:fillRect/>
          </a:stretch>
        </p:blipFill>
        <p:spPr bwMode="auto">
          <a:xfrm>
            <a:off x="7596187" y="2509838"/>
            <a:ext cx="1066800" cy="950912"/>
          </a:xfrm>
          <a:prstGeom prst="rect">
            <a:avLst/>
          </a:prstGeom>
          <a:noFill/>
          <a:ln w="9525">
            <a:noFill/>
            <a:miter lim="800000"/>
            <a:headEnd/>
            <a:tailEnd/>
          </a:ln>
        </p:spPr>
      </p:pic>
      <p:pic>
        <p:nvPicPr>
          <p:cNvPr id="23570" name="Picture 27" descr="MACPOWRI"/>
          <p:cNvPicPr>
            <a:picLocks noChangeAspect="1" noChangeArrowheads="1"/>
          </p:cNvPicPr>
          <p:nvPr/>
        </p:nvPicPr>
        <p:blipFill>
          <a:blip r:embed="rId5"/>
          <a:srcRect/>
          <a:stretch>
            <a:fillRect/>
          </a:stretch>
        </p:blipFill>
        <p:spPr bwMode="auto">
          <a:xfrm>
            <a:off x="669925" y="1657350"/>
            <a:ext cx="950912" cy="1066800"/>
          </a:xfrm>
          <a:prstGeom prst="rect">
            <a:avLst/>
          </a:prstGeom>
          <a:noFill/>
          <a:ln w="9525">
            <a:noFill/>
            <a:miter lim="800000"/>
            <a:headEnd/>
            <a:tailEnd/>
          </a:ln>
        </p:spPr>
      </p:pic>
      <p:sp>
        <p:nvSpPr>
          <p:cNvPr id="23571" name="Text Box 33"/>
          <p:cNvSpPr txBox="1">
            <a:spLocks noChangeArrowheads="1"/>
          </p:cNvSpPr>
          <p:nvPr/>
        </p:nvSpPr>
        <p:spPr bwMode="auto">
          <a:xfrm>
            <a:off x="4552950" y="3775075"/>
            <a:ext cx="1062037" cy="1006475"/>
          </a:xfrm>
          <a:prstGeom prst="rect">
            <a:avLst/>
          </a:prstGeom>
          <a:noFill/>
          <a:ln w="9525">
            <a:noFill/>
            <a:miter lim="800000"/>
            <a:headEnd/>
            <a:tailEnd/>
          </a:ln>
        </p:spPr>
        <p:txBody>
          <a:bodyPr wrap="none">
            <a:spAutoFit/>
          </a:bodyPr>
          <a:lstStyle/>
          <a:p>
            <a:pPr algn="l"/>
            <a:r>
              <a:rPr lang="en-US" sz="2000"/>
              <a:t>Internet</a:t>
            </a:r>
          </a:p>
          <a:p>
            <a:pPr algn="l"/>
            <a:r>
              <a:rPr lang="en-US" sz="2000"/>
              <a:t>Border</a:t>
            </a:r>
          </a:p>
          <a:p>
            <a:pPr algn="l"/>
            <a:r>
              <a:rPr lang="en-US" sz="2000"/>
              <a:t>Firewall</a:t>
            </a:r>
          </a:p>
        </p:txBody>
      </p:sp>
      <p:pic>
        <p:nvPicPr>
          <p:cNvPr id="23572" name="Picture 34" descr="DATWAREI"/>
          <p:cNvPicPr>
            <a:picLocks noChangeAspect="1" noChangeArrowheads="1"/>
          </p:cNvPicPr>
          <p:nvPr/>
        </p:nvPicPr>
        <p:blipFill>
          <a:blip r:embed="rId6"/>
          <a:srcRect/>
          <a:stretch>
            <a:fillRect/>
          </a:stretch>
        </p:blipFill>
        <p:spPr bwMode="auto">
          <a:xfrm>
            <a:off x="2720975" y="5137150"/>
            <a:ext cx="912812" cy="635000"/>
          </a:xfrm>
          <a:prstGeom prst="rect">
            <a:avLst/>
          </a:prstGeom>
          <a:noFill/>
          <a:ln w="9525">
            <a:noFill/>
            <a:miter lim="800000"/>
            <a:headEnd/>
            <a:tailEnd/>
          </a:ln>
        </p:spPr>
      </p:pic>
      <p:sp>
        <p:nvSpPr>
          <p:cNvPr id="23573" name="Text Box 35"/>
          <p:cNvSpPr txBox="1">
            <a:spLocks noChangeArrowheads="1"/>
          </p:cNvSpPr>
          <p:nvPr/>
        </p:nvSpPr>
        <p:spPr bwMode="auto">
          <a:xfrm>
            <a:off x="3635375" y="5137150"/>
            <a:ext cx="608012" cy="701675"/>
          </a:xfrm>
          <a:prstGeom prst="rect">
            <a:avLst/>
          </a:prstGeom>
          <a:noFill/>
          <a:ln w="9525">
            <a:noFill/>
            <a:miter lim="800000"/>
            <a:headEnd/>
            <a:tailEnd/>
          </a:ln>
        </p:spPr>
        <p:txBody>
          <a:bodyPr wrap="none">
            <a:spAutoFit/>
          </a:bodyPr>
          <a:lstStyle/>
          <a:p>
            <a:r>
              <a:rPr lang="en-US" sz="2000"/>
              <a:t>Log</a:t>
            </a:r>
          </a:p>
          <a:p>
            <a:r>
              <a:rPr lang="en-US" sz="2000"/>
              <a:t>File</a:t>
            </a:r>
          </a:p>
        </p:txBody>
      </p:sp>
      <p:sp>
        <p:nvSpPr>
          <p:cNvPr id="23574" name="Rectangle 24"/>
          <p:cNvSpPr>
            <a:spLocks noChangeArrowheads="1"/>
          </p:cNvSpPr>
          <p:nvPr/>
        </p:nvSpPr>
        <p:spPr bwMode="auto">
          <a:xfrm>
            <a:off x="2576512" y="2419350"/>
            <a:ext cx="533400" cy="304800"/>
          </a:xfrm>
          <a:prstGeom prst="rect">
            <a:avLst/>
          </a:prstGeom>
          <a:solidFill>
            <a:srgbClr val="CC3300"/>
          </a:solidFill>
          <a:ln w="9525">
            <a:solidFill>
              <a:schemeClr val="tx1"/>
            </a:solidFill>
            <a:miter lim="800000"/>
            <a:headEnd/>
            <a:tailEnd/>
          </a:ln>
        </p:spPr>
        <p:txBody>
          <a:bodyPr wrap="none" anchor="ctr"/>
          <a:lstStyle/>
          <a:p>
            <a:endParaRPr lang="en-US"/>
          </a:p>
        </p:txBody>
      </p:sp>
      <p:sp>
        <p:nvSpPr>
          <p:cNvPr id="23575" name="Line 25"/>
          <p:cNvSpPr>
            <a:spLocks noChangeShapeType="1"/>
          </p:cNvSpPr>
          <p:nvPr/>
        </p:nvSpPr>
        <p:spPr bwMode="auto">
          <a:xfrm flipH="1">
            <a:off x="2271712" y="2571750"/>
            <a:ext cx="304800" cy="0"/>
          </a:xfrm>
          <a:prstGeom prst="line">
            <a:avLst/>
          </a:prstGeom>
          <a:noFill/>
          <a:ln w="38100">
            <a:solidFill>
              <a:schemeClr val="tx1"/>
            </a:solidFill>
            <a:round/>
            <a:headEnd/>
            <a:tailEnd type="triangle" w="med" len="med"/>
          </a:ln>
        </p:spPr>
        <p:txBody>
          <a:bodyPr/>
          <a:lstStyle/>
          <a:p>
            <a:endParaRPr lang="en-US"/>
          </a:p>
        </p:txBody>
      </p:sp>
      <p:sp>
        <p:nvSpPr>
          <p:cNvPr id="23576" name="Text Box 26"/>
          <p:cNvSpPr txBox="1">
            <a:spLocks noChangeArrowheads="1"/>
          </p:cNvSpPr>
          <p:nvPr/>
        </p:nvSpPr>
        <p:spPr bwMode="auto">
          <a:xfrm>
            <a:off x="1908175" y="1657350"/>
            <a:ext cx="1878012" cy="701675"/>
          </a:xfrm>
          <a:prstGeom prst="rect">
            <a:avLst/>
          </a:prstGeom>
          <a:noFill/>
          <a:ln w="9525">
            <a:noFill/>
            <a:miter lim="800000"/>
            <a:headEnd/>
            <a:tailEnd/>
          </a:ln>
        </p:spPr>
        <p:txBody>
          <a:bodyPr wrap="none">
            <a:spAutoFit/>
          </a:bodyPr>
          <a:lstStyle/>
          <a:p>
            <a:r>
              <a:rPr lang="en-US" sz="2000"/>
              <a:t>Passed Packet</a:t>
            </a:r>
          </a:p>
          <a:p>
            <a:r>
              <a:rPr lang="en-US" sz="2000"/>
              <a:t>(Ingress)</a:t>
            </a:r>
          </a:p>
        </p:txBody>
      </p:sp>
      <p:sp>
        <p:nvSpPr>
          <p:cNvPr id="23577" name="Rectangle 36"/>
          <p:cNvSpPr>
            <a:spLocks noChangeArrowheads="1"/>
          </p:cNvSpPr>
          <p:nvPr/>
        </p:nvSpPr>
        <p:spPr bwMode="auto">
          <a:xfrm>
            <a:off x="2947987" y="4064000"/>
            <a:ext cx="533400" cy="304800"/>
          </a:xfrm>
          <a:prstGeom prst="rect">
            <a:avLst/>
          </a:prstGeom>
          <a:solidFill>
            <a:srgbClr val="CC3300"/>
          </a:solidFill>
          <a:ln w="9525">
            <a:solidFill>
              <a:schemeClr val="tx1"/>
            </a:solidFill>
            <a:miter lim="800000"/>
            <a:headEnd/>
            <a:tailEnd/>
          </a:ln>
        </p:spPr>
        <p:txBody>
          <a:bodyPr wrap="none" anchor="ctr"/>
          <a:lstStyle/>
          <a:p>
            <a:endParaRPr lang="en-US"/>
          </a:p>
        </p:txBody>
      </p:sp>
      <p:sp>
        <p:nvSpPr>
          <p:cNvPr id="23578" name="Text Box 37"/>
          <p:cNvSpPr txBox="1">
            <a:spLocks noChangeArrowheads="1"/>
          </p:cNvSpPr>
          <p:nvPr/>
        </p:nvSpPr>
        <p:spPr bwMode="auto">
          <a:xfrm>
            <a:off x="2174875" y="4343400"/>
            <a:ext cx="2005012" cy="701675"/>
          </a:xfrm>
          <a:prstGeom prst="rect">
            <a:avLst/>
          </a:prstGeom>
          <a:noFill/>
          <a:ln w="9525">
            <a:noFill/>
            <a:miter lim="800000"/>
            <a:headEnd/>
            <a:tailEnd/>
          </a:ln>
        </p:spPr>
        <p:txBody>
          <a:bodyPr wrap="none">
            <a:spAutoFit/>
          </a:bodyPr>
          <a:lstStyle/>
          <a:p>
            <a:r>
              <a:rPr lang="en-US" sz="2000"/>
              <a:t>Dropped Packet</a:t>
            </a:r>
          </a:p>
          <a:p>
            <a:r>
              <a:rPr lang="en-US" sz="2000"/>
              <a:t>(Ingress)</a:t>
            </a:r>
          </a:p>
        </p:txBody>
      </p:sp>
      <p:sp>
        <p:nvSpPr>
          <p:cNvPr id="23579" name="Line 38"/>
          <p:cNvSpPr>
            <a:spLocks noChangeShapeType="1"/>
          </p:cNvSpPr>
          <p:nvPr/>
        </p:nvSpPr>
        <p:spPr bwMode="auto">
          <a:xfrm flipH="1">
            <a:off x="3252787" y="3333750"/>
            <a:ext cx="914400" cy="0"/>
          </a:xfrm>
          <a:prstGeom prst="line">
            <a:avLst/>
          </a:prstGeom>
          <a:noFill/>
          <a:ln w="9525">
            <a:solidFill>
              <a:schemeClr val="tx1"/>
            </a:solidFill>
            <a:round/>
            <a:headEnd/>
            <a:tailEnd/>
          </a:ln>
        </p:spPr>
        <p:txBody>
          <a:bodyPr/>
          <a:lstStyle/>
          <a:p>
            <a:endParaRPr lang="en-US"/>
          </a:p>
        </p:txBody>
      </p:sp>
      <p:sp>
        <p:nvSpPr>
          <p:cNvPr id="23580" name="Line 39"/>
          <p:cNvSpPr>
            <a:spLocks noChangeShapeType="1"/>
          </p:cNvSpPr>
          <p:nvPr/>
        </p:nvSpPr>
        <p:spPr bwMode="auto">
          <a:xfrm>
            <a:off x="3252787" y="3333750"/>
            <a:ext cx="0" cy="609600"/>
          </a:xfrm>
          <a:prstGeom prst="line">
            <a:avLst/>
          </a:prstGeom>
          <a:noFill/>
          <a:ln w="9525">
            <a:solidFill>
              <a:schemeClr val="tx1"/>
            </a:solidFill>
            <a:round/>
            <a:headEnd/>
            <a:tailEnd type="triangle" w="med" len="med"/>
          </a:ln>
        </p:spPr>
        <p:txBody>
          <a:bodyPr/>
          <a:lstStyle/>
          <a:p>
            <a:endParaRPr lang="en-US"/>
          </a:p>
        </p:txBody>
      </p:sp>
      <p:sp>
        <p:nvSpPr>
          <p:cNvPr id="23581" name="Rectangle 40"/>
          <p:cNvSpPr>
            <a:spLocks noChangeArrowheads="1"/>
          </p:cNvSpPr>
          <p:nvPr/>
        </p:nvSpPr>
        <p:spPr bwMode="auto">
          <a:xfrm>
            <a:off x="4243387" y="1809750"/>
            <a:ext cx="533400" cy="304800"/>
          </a:xfrm>
          <a:prstGeom prst="rect">
            <a:avLst/>
          </a:prstGeom>
          <a:solidFill>
            <a:srgbClr val="CC3300"/>
          </a:solidFill>
          <a:ln w="9525">
            <a:solidFill>
              <a:schemeClr val="tx1"/>
            </a:solidFill>
            <a:miter lim="800000"/>
            <a:headEnd/>
            <a:tailEnd/>
          </a:ln>
        </p:spPr>
        <p:txBody>
          <a:bodyPr wrap="none" anchor="ctr"/>
          <a:lstStyle/>
          <a:p>
            <a:endParaRPr lang="en-US"/>
          </a:p>
        </p:txBody>
      </p:sp>
      <p:sp>
        <p:nvSpPr>
          <p:cNvPr id="23582" name="Line 41"/>
          <p:cNvSpPr>
            <a:spLocks noChangeShapeType="1"/>
          </p:cNvSpPr>
          <p:nvPr/>
        </p:nvSpPr>
        <p:spPr bwMode="auto">
          <a:xfrm flipH="1">
            <a:off x="4776787" y="1962150"/>
            <a:ext cx="304800" cy="0"/>
          </a:xfrm>
          <a:prstGeom prst="line">
            <a:avLst/>
          </a:prstGeom>
          <a:noFill/>
          <a:ln w="38100">
            <a:solidFill>
              <a:schemeClr val="tx1"/>
            </a:solidFill>
            <a:round/>
            <a:headEnd type="triangle" w="med" len="med"/>
            <a:tailEnd/>
          </a:ln>
        </p:spPr>
        <p:txBody>
          <a:bodyPr/>
          <a:lstStyle/>
          <a:p>
            <a:endParaRPr lang="en-US"/>
          </a:p>
        </p:txBody>
      </p:sp>
      <p:sp>
        <p:nvSpPr>
          <p:cNvPr id="23583" name="Text Box 42"/>
          <p:cNvSpPr txBox="1">
            <a:spLocks noChangeArrowheads="1"/>
          </p:cNvSpPr>
          <p:nvPr/>
        </p:nvSpPr>
        <p:spPr bwMode="auto">
          <a:xfrm>
            <a:off x="4422775" y="1219200"/>
            <a:ext cx="1878012" cy="701675"/>
          </a:xfrm>
          <a:prstGeom prst="rect">
            <a:avLst/>
          </a:prstGeom>
          <a:noFill/>
          <a:ln w="9525">
            <a:noFill/>
            <a:miter lim="800000"/>
            <a:headEnd/>
            <a:tailEnd/>
          </a:ln>
        </p:spPr>
        <p:txBody>
          <a:bodyPr wrap="none">
            <a:spAutoFit/>
          </a:bodyPr>
          <a:lstStyle/>
          <a:p>
            <a:r>
              <a:rPr lang="en-US" sz="2000"/>
              <a:t>Passed Packet</a:t>
            </a:r>
          </a:p>
          <a:p>
            <a:r>
              <a:rPr lang="en-US" sz="2000"/>
              <a:t>(Egress)</a:t>
            </a:r>
          </a:p>
        </p:txBody>
      </p:sp>
      <p:grpSp>
        <p:nvGrpSpPr>
          <p:cNvPr id="23584" name="Group 45"/>
          <p:cNvGrpSpPr>
            <a:grpSpLocks/>
          </p:cNvGrpSpPr>
          <p:nvPr/>
        </p:nvGrpSpPr>
        <p:grpSpPr bwMode="auto">
          <a:xfrm>
            <a:off x="4090987" y="2647950"/>
            <a:ext cx="693738" cy="1149350"/>
            <a:chOff x="2706" y="1873"/>
            <a:chExt cx="437" cy="724"/>
          </a:xfrm>
        </p:grpSpPr>
        <p:sp>
          <p:nvSpPr>
            <p:cNvPr id="23587" name="AutoShape 46"/>
            <p:cNvSpPr>
              <a:spLocks noChangeAspect="1" noChangeArrowheads="1" noTextEdit="1"/>
            </p:cNvSpPr>
            <p:nvPr/>
          </p:nvSpPr>
          <p:spPr bwMode="auto">
            <a:xfrm>
              <a:off x="2711" y="1878"/>
              <a:ext cx="428" cy="714"/>
            </a:xfrm>
            <a:prstGeom prst="rect">
              <a:avLst/>
            </a:prstGeom>
            <a:noFill/>
            <a:ln w="9525">
              <a:noFill/>
              <a:miter lim="800000"/>
              <a:headEnd/>
              <a:tailEnd/>
            </a:ln>
          </p:spPr>
          <p:txBody>
            <a:bodyPr/>
            <a:lstStyle/>
            <a:p>
              <a:endParaRPr lang="en-US"/>
            </a:p>
          </p:txBody>
        </p:sp>
        <p:sp>
          <p:nvSpPr>
            <p:cNvPr id="23588" name="Rectangle 47"/>
            <p:cNvSpPr>
              <a:spLocks noChangeArrowheads="1"/>
            </p:cNvSpPr>
            <p:nvPr/>
          </p:nvSpPr>
          <p:spPr bwMode="auto">
            <a:xfrm>
              <a:off x="2711" y="1878"/>
              <a:ext cx="427" cy="699"/>
            </a:xfrm>
            <a:prstGeom prst="rect">
              <a:avLst/>
            </a:prstGeom>
            <a:solidFill>
              <a:srgbClr val="33F2FF"/>
            </a:solidFill>
            <a:ln w="9525">
              <a:noFill/>
              <a:miter lim="800000"/>
              <a:headEnd/>
              <a:tailEnd/>
            </a:ln>
          </p:spPr>
          <p:txBody>
            <a:bodyPr/>
            <a:lstStyle/>
            <a:p>
              <a:endParaRPr lang="en-US"/>
            </a:p>
          </p:txBody>
        </p:sp>
        <p:sp>
          <p:nvSpPr>
            <p:cNvPr id="23589" name="Freeform 48"/>
            <p:cNvSpPr>
              <a:spLocks/>
            </p:cNvSpPr>
            <p:nvPr/>
          </p:nvSpPr>
          <p:spPr bwMode="auto">
            <a:xfrm>
              <a:off x="3133" y="1873"/>
              <a:ext cx="10" cy="704"/>
            </a:xfrm>
            <a:custGeom>
              <a:avLst/>
              <a:gdLst>
                <a:gd name="T0" fmla="*/ 2 w 21"/>
                <a:gd name="T1" fmla="*/ 5 h 1409"/>
                <a:gd name="T2" fmla="*/ 0 w 21"/>
                <a:gd name="T3" fmla="*/ 2 h 1409"/>
                <a:gd name="T4" fmla="*/ 0 w 21"/>
                <a:gd name="T5" fmla="*/ 352 h 1409"/>
                <a:gd name="T6" fmla="*/ 5 w 21"/>
                <a:gd name="T7" fmla="*/ 352 h 1409"/>
                <a:gd name="T8" fmla="*/ 5 w 21"/>
                <a:gd name="T9" fmla="*/ 2 h 1409"/>
                <a:gd name="T10" fmla="*/ 2 w 21"/>
                <a:gd name="T11" fmla="*/ 0 h 1409"/>
                <a:gd name="T12" fmla="*/ 5 w 21"/>
                <a:gd name="T13" fmla="*/ 2 h 1409"/>
                <a:gd name="T14" fmla="*/ 4 w 21"/>
                <a:gd name="T15" fmla="*/ 0 h 1409"/>
                <a:gd name="T16" fmla="*/ 2 w 21"/>
                <a:gd name="T17" fmla="*/ 0 h 1409"/>
                <a:gd name="T18" fmla="*/ 0 w 21"/>
                <a:gd name="T19" fmla="*/ 0 h 1409"/>
                <a:gd name="T20" fmla="*/ 0 w 21"/>
                <a:gd name="T21" fmla="*/ 2 h 1409"/>
                <a:gd name="T22" fmla="*/ 2 w 21"/>
                <a:gd name="T23" fmla="*/ 5 h 140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1409"/>
                <a:gd name="T38" fmla="*/ 21 w 21"/>
                <a:gd name="T39" fmla="*/ 1409 h 140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1409">
                  <a:moveTo>
                    <a:pt x="11" y="20"/>
                  </a:moveTo>
                  <a:lnTo>
                    <a:pt x="0" y="10"/>
                  </a:lnTo>
                  <a:lnTo>
                    <a:pt x="0" y="1409"/>
                  </a:lnTo>
                  <a:lnTo>
                    <a:pt x="21" y="1409"/>
                  </a:lnTo>
                  <a:lnTo>
                    <a:pt x="21" y="10"/>
                  </a:lnTo>
                  <a:lnTo>
                    <a:pt x="11" y="0"/>
                  </a:lnTo>
                  <a:lnTo>
                    <a:pt x="21" y="10"/>
                  </a:lnTo>
                  <a:lnTo>
                    <a:pt x="18" y="3"/>
                  </a:lnTo>
                  <a:lnTo>
                    <a:pt x="11" y="0"/>
                  </a:lnTo>
                  <a:lnTo>
                    <a:pt x="3" y="3"/>
                  </a:lnTo>
                  <a:lnTo>
                    <a:pt x="0" y="10"/>
                  </a:lnTo>
                  <a:lnTo>
                    <a:pt x="11" y="20"/>
                  </a:lnTo>
                  <a:close/>
                </a:path>
              </a:pathLst>
            </a:custGeom>
            <a:solidFill>
              <a:srgbClr val="000000"/>
            </a:solidFill>
            <a:ln w="9525">
              <a:noFill/>
              <a:round/>
              <a:headEnd/>
              <a:tailEnd/>
            </a:ln>
          </p:spPr>
          <p:txBody>
            <a:bodyPr/>
            <a:lstStyle/>
            <a:p>
              <a:endParaRPr lang="en-US"/>
            </a:p>
          </p:txBody>
        </p:sp>
        <p:sp>
          <p:nvSpPr>
            <p:cNvPr id="23590" name="Freeform 49"/>
            <p:cNvSpPr>
              <a:spLocks/>
            </p:cNvSpPr>
            <p:nvPr/>
          </p:nvSpPr>
          <p:spPr bwMode="auto">
            <a:xfrm>
              <a:off x="2706" y="1873"/>
              <a:ext cx="432" cy="10"/>
            </a:xfrm>
            <a:custGeom>
              <a:avLst/>
              <a:gdLst>
                <a:gd name="T0" fmla="*/ 5 w 865"/>
                <a:gd name="T1" fmla="*/ 3 h 20"/>
                <a:gd name="T2" fmla="*/ 2 w 865"/>
                <a:gd name="T3" fmla="*/ 5 h 20"/>
                <a:gd name="T4" fmla="*/ 216 w 865"/>
                <a:gd name="T5" fmla="*/ 5 h 20"/>
                <a:gd name="T6" fmla="*/ 216 w 865"/>
                <a:gd name="T7" fmla="*/ 0 h 20"/>
                <a:gd name="T8" fmla="*/ 2 w 865"/>
                <a:gd name="T9" fmla="*/ 0 h 20"/>
                <a:gd name="T10" fmla="*/ 0 w 865"/>
                <a:gd name="T11" fmla="*/ 3 h 20"/>
                <a:gd name="T12" fmla="*/ 2 w 865"/>
                <a:gd name="T13" fmla="*/ 0 h 20"/>
                <a:gd name="T14" fmla="*/ 0 w 865"/>
                <a:gd name="T15" fmla="*/ 1 h 20"/>
                <a:gd name="T16" fmla="*/ 0 w 865"/>
                <a:gd name="T17" fmla="*/ 3 h 20"/>
                <a:gd name="T18" fmla="*/ 0 w 865"/>
                <a:gd name="T19" fmla="*/ 5 h 20"/>
                <a:gd name="T20" fmla="*/ 2 w 865"/>
                <a:gd name="T21" fmla="*/ 5 h 20"/>
                <a:gd name="T22" fmla="*/ 5 w 865"/>
                <a:gd name="T23" fmla="*/ 3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65"/>
                <a:gd name="T37" fmla="*/ 0 h 20"/>
                <a:gd name="T38" fmla="*/ 865 w 865"/>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65" h="20">
                  <a:moveTo>
                    <a:pt x="20" y="10"/>
                  </a:moveTo>
                  <a:lnTo>
                    <a:pt x="10" y="20"/>
                  </a:lnTo>
                  <a:lnTo>
                    <a:pt x="865" y="20"/>
                  </a:lnTo>
                  <a:lnTo>
                    <a:pt x="865" y="0"/>
                  </a:lnTo>
                  <a:lnTo>
                    <a:pt x="10" y="0"/>
                  </a:lnTo>
                  <a:lnTo>
                    <a:pt x="0" y="10"/>
                  </a:lnTo>
                  <a:lnTo>
                    <a:pt x="10" y="0"/>
                  </a:lnTo>
                  <a:lnTo>
                    <a:pt x="3" y="3"/>
                  </a:lnTo>
                  <a:lnTo>
                    <a:pt x="0" y="10"/>
                  </a:lnTo>
                  <a:lnTo>
                    <a:pt x="3" y="17"/>
                  </a:lnTo>
                  <a:lnTo>
                    <a:pt x="10" y="20"/>
                  </a:lnTo>
                  <a:lnTo>
                    <a:pt x="20" y="10"/>
                  </a:lnTo>
                  <a:close/>
                </a:path>
              </a:pathLst>
            </a:custGeom>
            <a:solidFill>
              <a:srgbClr val="000000"/>
            </a:solidFill>
            <a:ln w="9525">
              <a:noFill/>
              <a:round/>
              <a:headEnd/>
              <a:tailEnd/>
            </a:ln>
          </p:spPr>
          <p:txBody>
            <a:bodyPr/>
            <a:lstStyle/>
            <a:p>
              <a:endParaRPr lang="en-US"/>
            </a:p>
          </p:txBody>
        </p:sp>
        <p:sp>
          <p:nvSpPr>
            <p:cNvPr id="23591" name="Freeform 50"/>
            <p:cNvSpPr>
              <a:spLocks/>
            </p:cNvSpPr>
            <p:nvPr/>
          </p:nvSpPr>
          <p:spPr bwMode="auto">
            <a:xfrm>
              <a:off x="2706" y="1878"/>
              <a:ext cx="10" cy="705"/>
            </a:xfrm>
            <a:custGeom>
              <a:avLst/>
              <a:gdLst>
                <a:gd name="T0" fmla="*/ 3 w 20"/>
                <a:gd name="T1" fmla="*/ 348 h 1409"/>
                <a:gd name="T2" fmla="*/ 5 w 20"/>
                <a:gd name="T3" fmla="*/ 350 h 1409"/>
                <a:gd name="T4" fmla="*/ 5 w 20"/>
                <a:gd name="T5" fmla="*/ 0 h 1409"/>
                <a:gd name="T6" fmla="*/ 0 w 20"/>
                <a:gd name="T7" fmla="*/ 0 h 1409"/>
                <a:gd name="T8" fmla="*/ 0 w 20"/>
                <a:gd name="T9" fmla="*/ 350 h 1409"/>
                <a:gd name="T10" fmla="*/ 3 w 20"/>
                <a:gd name="T11" fmla="*/ 353 h 1409"/>
                <a:gd name="T12" fmla="*/ 0 w 20"/>
                <a:gd name="T13" fmla="*/ 350 h 1409"/>
                <a:gd name="T14" fmla="*/ 1 w 20"/>
                <a:gd name="T15" fmla="*/ 352 h 1409"/>
                <a:gd name="T16" fmla="*/ 3 w 20"/>
                <a:gd name="T17" fmla="*/ 353 h 1409"/>
                <a:gd name="T18" fmla="*/ 5 w 20"/>
                <a:gd name="T19" fmla="*/ 352 h 1409"/>
                <a:gd name="T20" fmla="*/ 5 w 20"/>
                <a:gd name="T21" fmla="*/ 350 h 1409"/>
                <a:gd name="T22" fmla="*/ 3 w 20"/>
                <a:gd name="T23" fmla="*/ 348 h 140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
                <a:gd name="T37" fmla="*/ 0 h 1409"/>
                <a:gd name="T38" fmla="*/ 20 w 20"/>
                <a:gd name="T39" fmla="*/ 1409 h 140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 h="1409">
                  <a:moveTo>
                    <a:pt x="10" y="1389"/>
                  </a:moveTo>
                  <a:lnTo>
                    <a:pt x="20" y="1399"/>
                  </a:lnTo>
                  <a:lnTo>
                    <a:pt x="20" y="0"/>
                  </a:lnTo>
                  <a:lnTo>
                    <a:pt x="0" y="0"/>
                  </a:lnTo>
                  <a:lnTo>
                    <a:pt x="0" y="1399"/>
                  </a:lnTo>
                  <a:lnTo>
                    <a:pt x="10" y="1409"/>
                  </a:lnTo>
                  <a:lnTo>
                    <a:pt x="0" y="1399"/>
                  </a:lnTo>
                  <a:lnTo>
                    <a:pt x="3" y="1406"/>
                  </a:lnTo>
                  <a:lnTo>
                    <a:pt x="10" y="1409"/>
                  </a:lnTo>
                  <a:lnTo>
                    <a:pt x="17" y="1406"/>
                  </a:lnTo>
                  <a:lnTo>
                    <a:pt x="20" y="1399"/>
                  </a:lnTo>
                  <a:lnTo>
                    <a:pt x="10" y="1389"/>
                  </a:lnTo>
                  <a:close/>
                </a:path>
              </a:pathLst>
            </a:custGeom>
            <a:solidFill>
              <a:srgbClr val="000000"/>
            </a:solidFill>
            <a:ln w="9525">
              <a:noFill/>
              <a:round/>
              <a:headEnd/>
              <a:tailEnd/>
            </a:ln>
          </p:spPr>
          <p:txBody>
            <a:bodyPr/>
            <a:lstStyle/>
            <a:p>
              <a:endParaRPr lang="en-US"/>
            </a:p>
          </p:txBody>
        </p:sp>
        <p:sp>
          <p:nvSpPr>
            <p:cNvPr id="23592" name="Freeform 51"/>
            <p:cNvSpPr>
              <a:spLocks/>
            </p:cNvSpPr>
            <p:nvPr/>
          </p:nvSpPr>
          <p:spPr bwMode="auto">
            <a:xfrm>
              <a:off x="2711" y="2572"/>
              <a:ext cx="432" cy="11"/>
            </a:xfrm>
            <a:custGeom>
              <a:avLst/>
              <a:gdLst>
                <a:gd name="T0" fmla="*/ 211 w 865"/>
                <a:gd name="T1" fmla="*/ 3 h 20"/>
                <a:gd name="T2" fmla="*/ 213 w 865"/>
                <a:gd name="T3" fmla="*/ 0 h 20"/>
                <a:gd name="T4" fmla="*/ 0 w 865"/>
                <a:gd name="T5" fmla="*/ 0 h 20"/>
                <a:gd name="T6" fmla="*/ 0 w 865"/>
                <a:gd name="T7" fmla="*/ 6 h 20"/>
                <a:gd name="T8" fmla="*/ 213 w 865"/>
                <a:gd name="T9" fmla="*/ 6 h 20"/>
                <a:gd name="T10" fmla="*/ 216 w 865"/>
                <a:gd name="T11" fmla="*/ 3 h 20"/>
                <a:gd name="T12" fmla="*/ 213 w 865"/>
                <a:gd name="T13" fmla="*/ 6 h 20"/>
                <a:gd name="T14" fmla="*/ 215 w 865"/>
                <a:gd name="T15" fmla="*/ 5 h 20"/>
                <a:gd name="T16" fmla="*/ 216 w 865"/>
                <a:gd name="T17" fmla="*/ 3 h 20"/>
                <a:gd name="T18" fmla="*/ 215 w 865"/>
                <a:gd name="T19" fmla="*/ 1 h 20"/>
                <a:gd name="T20" fmla="*/ 213 w 865"/>
                <a:gd name="T21" fmla="*/ 0 h 20"/>
                <a:gd name="T22" fmla="*/ 211 w 865"/>
                <a:gd name="T23" fmla="*/ 3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65"/>
                <a:gd name="T37" fmla="*/ 0 h 20"/>
                <a:gd name="T38" fmla="*/ 865 w 865"/>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65" h="20">
                  <a:moveTo>
                    <a:pt x="844" y="10"/>
                  </a:moveTo>
                  <a:lnTo>
                    <a:pt x="855" y="0"/>
                  </a:lnTo>
                  <a:lnTo>
                    <a:pt x="0" y="0"/>
                  </a:lnTo>
                  <a:lnTo>
                    <a:pt x="0" y="20"/>
                  </a:lnTo>
                  <a:lnTo>
                    <a:pt x="855" y="20"/>
                  </a:lnTo>
                  <a:lnTo>
                    <a:pt x="865" y="10"/>
                  </a:lnTo>
                  <a:lnTo>
                    <a:pt x="855" y="20"/>
                  </a:lnTo>
                  <a:lnTo>
                    <a:pt x="862" y="17"/>
                  </a:lnTo>
                  <a:lnTo>
                    <a:pt x="865" y="10"/>
                  </a:lnTo>
                  <a:lnTo>
                    <a:pt x="862" y="3"/>
                  </a:lnTo>
                  <a:lnTo>
                    <a:pt x="855" y="0"/>
                  </a:lnTo>
                  <a:lnTo>
                    <a:pt x="844" y="10"/>
                  </a:lnTo>
                  <a:close/>
                </a:path>
              </a:pathLst>
            </a:custGeom>
            <a:solidFill>
              <a:srgbClr val="000000"/>
            </a:solidFill>
            <a:ln w="9525">
              <a:noFill/>
              <a:round/>
              <a:headEnd/>
              <a:tailEnd/>
            </a:ln>
          </p:spPr>
          <p:txBody>
            <a:bodyPr/>
            <a:lstStyle/>
            <a:p>
              <a:endParaRPr lang="en-US"/>
            </a:p>
          </p:txBody>
        </p:sp>
        <p:sp>
          <p:nvSpPr>
            <p:cNvPr id="23593" name="Freeform 52"/>
            <p:cNvSpPr>
              <a:spLocks/>
            </p:cNvSpPr>
            <p:nvPr/>
          </p:nvSpPr>
          <p:spPr bwMode="auto">
            <a:xfrm>
              <a:off x="2981" y="2081"/>
              <a:ext cx="5" cy="7"/>
            </a:xfrm>
            <a:custGeom>
              <a:avLst/>
              <a:gdLst>
                <a:gd name="T0" fmla="*/ 3 w 10"/>
                <a:gd name="T1" fmla="*/ 0 h 15"/>
                <a:gd name="T2" fmla="*/ 1 w 10"/>
                <a:gd name="T3" fmla="*/ 3 h 15"/>
                <a:gd name="T4" fmla="*/ 1 w 10"/>
                <a:gd name="T5" fmla="*/ 3 h 15"/>
                <a:gd name="T6" fmla="*/ 1 w 10"/>
                <a:gd name="T7" fmla="*/ 0 h 15"/>
                <a:gd name="T8" fmla="*/ 1 w 10"/>
                <a:gd name="T9" fmla="*/ 0 h 15"/>
                <a:gd name="T10" fmla="*/ 1 w 10"/>
                <a:gd name="T11" fmla="*/ 3 h 15"/>
                <a:gd name="T12" fmla="*/ 1 w 10"/>
                <a:gd name="T13" fmla="*/ 0 h 15"/>
                <a:gd name="T14" fmla="*/ 1 w 10"/>
                <a:gd name="T15" fmla="*/ 0 h 15"/>
                <a:gd name="T16" fmla="*/ 0 w 10"/>
                <a:gd name="T17" fmla="*/ 1 h 15"/>
                <a:gd name="T18" fmla="*/ 1 w 10"/>
                <a:gd name="T19" fmla="*/ 3 h 15"/>
                <a:gd name="T20" fmla="*/ 1 w 10"/>
                <a:gd name="T21" fmla="*/ 3 h 15"/>
                <a:gd name="T22" fmla="*/ 3 w 10"/>
                <a:gd name="T23" fmla="*/ 0 h 1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
                <a:gd name="T37" fmla="*/ 0 h 15"/>
                <a:gd name="T38" fmla="*/ 10 w 10"/>
                <a:gd name="T39" fmla="*/ 15 h 1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 h="15">
                  <a:moveTo>
                    <a:pt x="10" y="2"/>
                  </a:moveTo>
                  <a:lnTo>
                    <a:pt x="6" y="15"/>
                  </a:lnTo>
                  <a:lnTo>
                    <a:pt x="7" y="15"/>
                  </a:lnTo>
                  <a:lnTo>
                    <a:pt x="7" y="0"/>
                  </a:lnTo>
                  <a:lnTo>
                    <a:pt x="6" y="0"/>
                  </a:lnTo>
                  <a:lnTo>
                    <a:pt x="1" y="13"/>
                  </a:lnTo>
                  <a:lnTo>
                    <a:pt x="6" y="0"/>
                  </a:lnTo>
                  <a:lnTo>
                    <a:pt x="1" y="3"/>
                  </a:lnTo>
                  <a:lnTo>
                    <a:pt x="0" y="7"/>
                  </a:lnTo>
                  <a:lnTo>
                    <a:pt x="1" y="12"/>
                  </a:lnTo>
                  <a:lnTo>
                    <a:pt x="6" y="15"/>
                  </a:lnTo>
                  <a:lnTo>
                    <a:pt x="10" y="2"/>
                  </a:lnTo>
                  <a:close/>
                </a:path>
              </a:pathLst>
            </a:custGeom>
            <a:solidFill>
              <a:srgbClr val="000000"/>
            </a:solidFill>
            <a:ln w="9525">
              <a:noFill/>
              <a:round/>
              <a:headEnd/>
              <a:tailEnd/>
            </a:ln>
          </p:spPr>
          <p:txBody>
            <a:bodyPr/>
            <a:lstStyle/>
            <a:p>
              <a:endParaRPr lang="en-US"/>
            </a:p>
          </p:txBody>
        </p:sp>
        <p:sp>
          <p:nvSpPr>
            <p:cNvPr id="23594" name="Freeform 53"/>
            <p:cNvSpPr>
              <a:spLocks/>
            </p:cNvSpPr>
            <p:nvPr/>
          </p:nvSpPr>
          <p:spPr bwMode="auto">
            <a:xfrm>
              <a:off x="2980" y="2424"/>
              <a:ext cx="6" cy="8"/>
            </a:xfrm>
            <a:custGeom>
              <a:avLst/>
              <a:gdLst>
                <a:gd name="T0" fmla="*/ 0 w 11"/>
                <a:gd name="T1" fmla="*/ 4 h 14"/>
                <a:gd name="T2" fmla="*/ 2 w 11"/>
                <a:gd name="T3" fmla="*/ 5 h 14"/>
                <a:gd name="T4" fmla="*/ 2 w 11"/>
                <a:gd name="T5" fmla="*/ 5 h 14"/>
                <a:gd name="T6" fmla="*/ 2 w 11"/>
                <a:gd name="T7" fmla="*/ 0 h 14"/>
                <a:gd name="T8" fmla="*/ 2 w 11"/>
                <a:gd name="T9" fmla="*/ 0 h 14"/>
                <a:gd name="T10" fmla="*/ 3 w 11"/>
                <a:gd name="T11" fmla="*/ 1 h 14"/>
                <a:gd name="T12" fmla="*/ 2 w 11"/>
                <a:gd name="T13" fmla="*/ 0 h 14"/>
                <a:gd name="T14" fmla="*/ 1 w 11"/>
                <a:gd name="T15" fmla="*/ 1 h 14"/>
                <a:gd name="T16" fmla="*/ 0 w 11"/>
                <a:gd name="T17" fmla="*/ 2 h 14"/>
                <a:gd name="T18" fmla="*/ 1 w 11"/>
                <a:gd name="T19" fmla="*/ 4 h 14"/>
                <a:gd name="T20" fmla="*/ 2 w 11"/>
                <a:gd name="T21" fmla="*/ 5 h 14"/>
                <a:gd name="T22" fmla="*/ 0 w 11"/>
                <a:gd name="T23" fmla="*/ 4 h 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
                <a:gd name="T37" fmla="*/ 0 h 14"/>
                <a:gd name="T38" fmla="*/ 11 w 11"/>
                <a:gd name="T39" fmla="*/ 14 h 1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 h="14">
                  <a:moveTo>
                    <a:pt x="0" y="12"/>
                  </a:moveTo>
                  <a:lnTo>
                    <a:pt x="5" y="14"/>
                  </a:lnTo>
                  <a:lnTo>
                    <a:pt x="8" y="14"/>
                  </a:lnTo>
                  <a:lnTo>
                    <a:pt x="8" y="0"/>
                  </a:lnTo>
                  <a:lnTo>
                    <a:pt x="5" y="0"/>
                  </a:lnTo>
                  <a:lnTo>
                    <a:pt x="11" y="3"/>
                  </a:lnTo>
                  <a:lnTo>
                    <a:pt x="5" y="0"/>
                  </a:lnTo>
                  <a:lnTo>
                    <a:pt x="1" y="3"/>
                  </a:lnTo>
                  <a:lnTo>
                    <a:pt x="0" y="7"/>
                  </a:lnTo>
                  <a:lnTo>
                    <a:pt x="1" y="12"/>
                  </a:lnTo>
                  <a:lnTo>
                    <a:pt x="5" y="14"/>
                  </a:lnTo>
                  <a:lnTo>
                    <a:pt x="0" y="12"/>
                  </a:lnTo>
                  <a:close/>
                </a:path>
              </a:pathLst>
            </a:custGeom>
            <a:solidFill>
              <a:srgbClr val="000000"/>
            </a:solidFill>
            <a:ln w="9525">
              <a:noFill/>
              <a:round/>
              <a:headEnd/>
              <a:tailEnd/>
            </a:ln>
          </p:spPr>
          <p:txBody>
            <a:bodyPr/>
            <a:lstStyle/>
            <a:p>
              <a:endParaRPr lang="en-US"/>
            </a:p>
          </p:txBody>
        </p:sp>
        <p:sp>
          <p:nvSpPr>
            <p:cNvPr id="23595" name="Rectangle 54"/>
            <p:cNvSpPr>
              <a:spLocks noChangeArrowheads="1"/>
            </p:cNvSpPr>
            <p:nvPr/>
          </p:nvSpPr>
          <p:spPr bwMode="auto">
            <a:xfrm>
              <a:off x="2723" y="2577"/>
              <a:ext cx="401" cy="15"/>
            </a:xfrm>
            <a:prstGeom prst="rect">
              <a:avLst/>
            </a:prstGeom>
            <a:solidFill>
              <a:srgbClr val="33F2FF"/>
            </a:solidFill>
            <a:ln w="9525">
              <a:noFill/>
              <a:miter lim="800000"/>
              <a:headEnd/>
              <a:tailEnd/>
            </a:ln>
          </p:spPr>
          <p:txBody>
            <a:bodyPr/>
            <a:lstStyle/>
            <a:p>
              <a:endParaRPr lang="en-US"/>
            </a:p>
          </p:txBody>
        </p:sp>
        <p:sp>
          <p:nvSpPr>
            <p:cNvPr id="23596" name="Freeform 55"/>
            <p:cNvSpPr>
              <a:spLocks/>
            </p:cNvSpPr>
            <p:nvPr/>
          </p:nvSpPr>
          <p:spPr bwMode="auto">
            <a:xfrm>
              <a:off x="3119" y="2572"/>
              <a:ext cx="10" cy="20"/>
            </a:xfrm>
            <a:custGeom>
              <a:avLst/>
              <a:gdLst>
                <a:gd name="T0" fmla="*/ 2 w 21"/>
                <a:gd name="T1" fmla="*/ 5 h 39"/>
                <a:gd name="T2" fmla="*/ 0 w 21"/>
                <a:gd name="T3" fmla="*/ 3 h 39"/>
                <a:gd name="T4" fmla="*/ 0 w 21"/>
                <a:gd name="T5" fmla="*/ 10 h 39"/>
                <a:gd name="T6" fmla="*/ 5 w 21"/>
                <a:gd name="T7" fmla="*/ 10 h 39"/>
                <a:gd name="T8" fmla="*/ 5 w 21"/>
                <a:gd name="T9" fmla="*/ 3 h 39"/>
                <a:gd name="T10" fmla="*/ 2 w 21"/>
                <a:gd name="T11" fmla="*/ 0 h 39"/>
                <a:gd name="T12" fmla="*/ 5 w 21"/>
                <a:gd name="T13" fmla="*/ 3 h 39"/>
                <a:gd name="T14" fmla="*/ 4 w 21"/>
                <a:gd name="T15" fmla="*/ 1 h 39"/>
                <a:gd name="T16" fmla="*/ 2 w 21"/>
                <a:gd name="T17" fmla="*/ 0 h 39"/>
                <a:gd name="T18" fmla="*/ 0 w 21"/>
                <a:gd name="T19" fmla="*/ 1 h 39"/>
                <a:gd name="T20" fmla="*/ 0 w 21"/>
                <a:gd name="T21" fmla="*/ 3 h 39"/>
                <a:gd name="T22" fmla="*/ 2 w 21"/>
                <a:gd name="T23" fmla="*/ 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9"/>
                <a:gd name="T38" fmla="*/ 21 w 2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9">
                  <a:moveTo>
                    <a:pt x="10" y="20"/>
                  </a:moveTo>
                  <a:lnTo>
                    <a:pt x="0" y="10"/>
                  </a:lnTo>
                  <a:lnTo>
                    <a:pt x="0" y="39"/>
                  </a:lnTo>
                  <a:lnTo>
                    <a:pt x="21" y="39"/>
                  </a:lnTo>
                  <a:lnTo>
                    <a:pt x="21" y="10"/>
                  </a:lnTo>
                  <a:lnTo>
                    <a:pt x="10" y="0"/>
                  </a:lnTo>
                  <a:lnTo>
                    <a:pt x="21" y="10"/>
                  </a:lnTo>
                  <a:lnTo>
                    <a:pt x="18" y="3"/>
                  </a:lnTo>
                  <a:lnTo>
                    <a:pt x="10" y="0"/>
                  </a:lnTo>
                  <a:lnTo>
                    <a:pt x="3" y="3"/>
                  </a:lnTo>
                  <a:lnTo>
                    <a:pt x="0" y="10"/>
                  </a:lnTo>
                  <a:lnTo>
                    <a:pt x="10" y="20"/>
                  </a:lnTo>
                  <a:close/>
                </a:path>
              </a:pathLst>
            </a:custGeom>
            <a:solidFill>
              <a:srgbClr val="000000"/>
            </a:solidFill>
            <a:ln w="9525">
              <a:noFill/>
              <a:round/>
              <a:headEnd/>
              <a:tailEnd/>
            </a:ln>
          </p:spPr>
          <p:txBody>
            <a:bodyPr/>
            <a:lstStyle/>
            <a:p>
              <a:endParaRPr lang="en-US"/>
            </a:p>
          </p:txBody>
        </p:sp>
        <p:sp>
          <p:nvSpPr>
            <p:cNvPr id="23597" name="Freeform 56"/>
            <p:cNvSpPr>
              <a:spLocks/>
            </p:cNvSpPr>
            <p:nvPr/>
          </p:nvSpPr>
          <p:spPr bwMode="auto">
            <a:xfrm>
              <a:off x="2718" y="2572"/>
              <a:ext cx="406" cy="11"/>
            </a:xfrm>
            <a:custGeom>
              <a:avLst/>
              <a:gdLst>
                <a:gd name="T0" fmla="*/ 6 w 812"/>
                <a:gd name="T1" fmla="*/ 3 h 20"/>
                <a:gd name="T2" fmla="*/ 3 w 812"/>
                <a:gd name="T3" fmla="*/ 6 h 20"/>
                <a:gd name="T4" fmla="*/ 203 w 812"/>
                <a:gd name="T5" fmla="*/ 6 h 20"/>
                <a:gd name="T6" fmla="*/ 203 w 812"/>
                <a:gd name="T7" fmla="*/ 0 h 20"/>
                <a:gd name="T8" fmla="*/ 3 w 812"/>
                <a:gd name="T9" fmla="*/ 0 h 20"/>
                <a:gd name="T10" fmla="*/ 0 w 812"/>
                <a:gd name="T11" fmla="*/ 3 h 20"/>
                <a:gd name="T12" fmla="*/ 3 w 812"/>
                <a:gd name="T13" fmla="*/ 0 h 20"/>
                <a:gd name="T14" fmla="*/ 1 w 812"/>
                <a:gd name="T15" fmla="*/ 1 h 20"/>
                <a:gd name="T16" fmla="*/ 0 w 812"/>
                <a:gd name="T17" fmla="*/ 3 h 20"/>
                <a:gd name="T18" fmla="*/ 1 w 812"/>
                <a:gd name="T19" fmla="*/ 5 h 20"/>
                <a:gd name="T20" fmla="*/ 3 w 812"/>
                <a:gd name="T21" fmla="*/ 6 h 20"/>
                <a:gd name="T22" fmla="*/ 6 w 812"/>
                <a:gd name="T23" fmla="*/ 3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12"/>
                <a:gd name="T37" fmla="*/ 0 h 20"/>
                <a:gd name="T38" fmla="*/ 812 w 81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12" h="20">
                  <a:moveTo>
                    <a:pt x="21" y="10"/>
                  </a:moveTo>
                  <a:lnTo>
                    <a:pt x="10" y="20"/>
                  </a:lnTo>
                  <a:lnTo>
                    <a:pt x="812" y="20"/>
                  </a:lnTo>
                  <a:lnTo>
                    <a:pt x="812" y="0"/>
                  </a:lnTo>
                  <a:lnTo>
                    <a:pt x="10" y="0"/>
                  </a:lnTo>
                  <a:lnTo>
                    <a:pt x="0" y="10"/>
                  </a:lnTo>
                  <a:lnTo>
                    <a:pt x="10" y="0"/>
                  </a:lnTo>
                  <a:lnTo>
                    <a:pt x="3" y="3"/>
                  </a:lnTo>
                  <a:lnTo>
                    <a:pt x="0" y="10"/>
                  </a:lnTo>
                  <a:lnTo>
                    <a:pt x="3" y="17"/>
                  </a:lnTo>
                  <a:lnTo>
                    <a:pt x="10" y="20"/>
                  </a:lnTo>
                  <a:lnTo>
                    <a:pt x="21" y="10"/>
                  </a:lnTo>
                  <a:close/>
                </a:path>
              </a:pathLst>
            </a:custGeom>
            <a:solidFill>
              <a:srgbClr val="000000"/>
            </a:solidFill>
            <a:ln w="9525">
              <a:noFill/>
              <a:round/>
              <a:headEnd/>
              <a:tailEnd/>
            </a:ln>
          </p:spPr>
          <p:txBody>
            <a:bodyPr/>
            <a:lstStyle/>
            <a:p>
              <a:endParaRPr lang="en-US"/>
            </a:p>
          </p:txBody>
        </p:sp>
        <p:sp>
          <p:nvSpPr>
            <p:cNvPr id="23598" name="Freeform 57"/>
            <p:cNvSpPr>
              <a:spLocks/>
            </p:cNvSpPr>
            <p:nvPr/>
          </p:nvSpPr>
          <p:spPr bwMode="auto">
            <a:xfrm>
              <a:off x="2718" y="2577"/>
              <a:ext cx="10" cy="20"/>
            </a:xfrm>
            <a:custGeom>
              <a:avLst/>
              <a:gdLst>
                <a:gd name="T0" fmla="*/ 2 w 21"/>
                <a:gd name="T1" fmla="*/ 5 h 39"/>
                <a:gd name="T2" fmla="*/ 5 w 21"/>
                <a:gd name="T3" fmla="*/ 8 h 39"/>
                <a:gd name="T4" fmla="*/ 5 w 21"/>
                <a:gd name="T5" fmla="*/ 0 h 39"/>
                <a:gd name="T6" fmla="*/ 0 w 21"/>
                <a:gd name="T7" fmla="*/ 0 h 39"/>
                <a:gd name="T8" fmla="*/ 0 w 21"/>
                <a:gd name="T9" fmla="*/ 8 h 39"/>
                <a:gd name="T10" fmla="*/ 2 w 21"/>
                <a:gd name="T11" fmla="*/ 10 h 39"/>
                <a:gd name="T12" fmla="*/ 0 w 21"/>
                <a:gd name="T13" fmla="*/ 8 h 39"/>
                <a:gd name="T14" fmla="*/ 0 w 21"/>
                <a:gd name="T15" fmla="*/ 9 h 39"/>
                <a:gd name="T16" fmla="*/ 2 w 21"/>
                <a:gd name="T17" fmla="*/ 10 h 39"/>
                <a:gd name="T18" fmla="*/ 4 w 21"/>
                <a:gd name="T19" fmla="*/ 9 h 39"/>
                <a:gd name="T20" fmla="*/ 5 w 21"/>
                <a:gd name="T21" fmla="*/ 8 h 39"/>
                <a:gd name="T22" fmla="*/ 2 w 21"/>
                <a:gd name="T23" fmla="*/ 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9"/>
                <a:gd name="T38" fmla="*/ 21 w 2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9">
                  <a:moveTo>
                    <a:pt x="10" y="19"/>
                  </a:moveTo>
                  <a:lnTo>
                    <a:pt x="21" y="29"/>
                  </a:lnTo>
                  <a:lnTo>
                    <a:pt x="21" y="0"/>
                  </a:lnTo>
                  <a:lnTo>
                    <a:pt x="0" y="0"/>
                  </a:lnTo>
                  <a:lnTo>
                    <a:pt x="0" y="29"/>
                  </a:lnTo>
                  <a:lnTo>
                    <a:pt x="10" y="39"/>
                  </a:lnTo>
                  <a:lnTo>
                    <a:pt x="0" y="29"/>
                  </a:lnTo>
                  <a:lnTo>
                    <a:pt x="3" y="36"/>
                  </a:lnTo>
                  <a:lnTo>
                    <a:pt x="10" y="39"/>
                  </a:lnTo>
                  <a:lnTo>
                    <a:pt x="18" y="36"/>
                  </a:lnTo>
                  <a:lnTo>
                    <a:pt x="21" y="29"/>
                  </a:lnTo>
                  <a:lnTo>
                    <a:pt x="10" y="19"/>
                  </a:lnTo>
                  <a:close/>
                </a:path>
              </a:pathLst>
            </a:custGeom>
            <a:solidFill>
              <a:srgbClr val="000000"/>
            </a:solidFill>
            <a:ln w="9525">
              <a:noFill/>
              <a:round/>
              <a:headEnd/>
              <a:tailEnd/>
            </a:ln>
          </p:spPr>
          <p:txBody>
            <a:bodyPr/>
            <a:lstStyle/>
            <a:p>
              <a:endParaRPr lang="en-US"/>
            </a:p>
          </p:txBody>
        </p:sp>
        <p:sp>
          <p:nvSpPr>
            <p:cNvPr id="23599" name="Freeform 58"/>
            <p:cNvSpPr>
              <a:spLocks/>
            </p:cNvSpPr>
            <p:nvPr/>
          </p:nvSpPr>
          <p:spPr bwMode="auto">
            <a:xfrm>
              <a:off x="2723" y="2587"/>
              <a:ext cx="406" cy="10"/>
            </a:xfrm>
            <a:custGeom>
              <a:avLst/>
              <a:gdLst>
                <a:gd name="T0" fmla="*/ 198 w 813"/>
                <a:gd name="T1" fmla="*/ 3 h 20"/>
                <a:gd name="T2" fmla="*/ 200 w 813"/>
                <a:gd name="T3" fmla="*/ 0 h 20"/>
                <a:gd name="T4" fmla="*/ 0 w 813"/>
                <a:gd name="T5" fmla="*/ 0 h 20"/>
                <a:gd name="T6" fmla="*/ 0 w 813"/>
                <a:gd name="T7" fmla="*/ 5 h 20"/>
                <a:gd name="T8" fmla="*/ 200 w 813"/>
                <a:gd name="T9" fmla="*/ 5 h 20"/>
                <a:gd name="T10" fmla="*/ 203 w 813"/>
                <a:gd name="T11" fmla="*/ 3 h 20"/>
                <a:gd name="T12" fmla="*/ 200 w 813"/>
                <a:gd name="T13" fmla="*/ 5 h 20"/>
                <a:gd name="T14" fmla="*/ 202 w 813"/>
                <a:gd name="T15" fmla="*/ 5 h 20"/>
                <a:gd name="T16" fmla="*/ 203 w 813"/>
                <a:gd name="T17" fmla="*/ 3 h 20"/>
                <a:gd name="T18" fmla="*/ 202 w 813"/>
                <a:gd name="T19" fmla="*/ 1 h 20"/>
                <a:gd name="T20" fmla="*/ 200 w 813"/>
                <a:gd name="T21" fmla="*/ 0 h 20"/>
                <a:gd name="T22" fmla="*/ 198 w 813"/>
                <a:gd name="T23" fmla="*/ 3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13"/>
                <a:gd name="T37" fmla="*/ 0 h 20"/>
                <a:gd name="T38" fmla="*/ 813 w 813"/>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13" h="20">
                  <a:moveTo>
                    <a:pt x="792" y="10"/>
                  </a:moveTo>
                  <a:lnTo>
                    <a:pt x="802" y="0"/>
                  </a:lnTo>
                  <a:lnTo>
                    <a:pt x="0" y="0"/>
                  </a:lnTo>
                  <a:lnTo>
                    <a:pt x="0" y="20"/>
                  </a:lnTo>
                  <a:lnTo>
                    <a:pt x="802" y="20"/>
                  </a:lnTo>
                  <a:lnTo>
                    <a:pt x="813" y="10"/>
                  </a:lnTo>
                  <a:lnTo>
                    <a:pt x="802" y="20"/>
                  </a:lnTo>
                  <a:lnTo>
                    <a:pt x="810" y="17"/>
                  </a:lnTo>
                  <a:lnTo>
                    <a:pt x="813" y="10"/>
                  </a:lnTo>
                  <a:lnTo>
                    <a:pt x="810" y="3"/>
                  </a:lnTo>
                  <a:lnTo>
                    <a:pt x="802" y="0"/>
                  </a:lnTo>
                  <a:lnTo>
                    <a:pt x="792" y="10"/>
                  </a:lnTo>
                  <a:close/>
                </a:path>
              </a:pathLst>
            </a:custGeom>
            <a:solidFill>
              <a:srgbClr val="000000"/>
            </a:solidFill>
            <a:ln w="9525">
              <a:noFill/>
              <a:round/>
              <a:headEnd/>
              <a:tailEnd/>
            </a:ln>
          </p:spPr>
          <p:txBody>
            <a:bodyPr/>
            <a:lstStyle/>
            <a:p>
              <a:endParaRPr lang="en-US"/>
            </a:p>
          </p:txBody>
        </p:sp>
        <p:sp>
          <p:nvSpPr>
            <p:cNvPr id="23600" name="Line 59"/>
            <p:cNvSpPr>
              <a:spLocks noChangeShapeType="1"/>
            </p:cNvSpPr>
            <p:nvPr/>
          </p:nvSpPr>
          <p:spPr bwMode="auto">
            <a:xfrm>
              <a:off x="2711" y="1917"/>
              <a:ext cx="424" cy="1"/>
            </a:xfrm>
            <a:prstGeom prst="line">
              <a:avLst/>
            </a:prstGeom>
            <a:noFill/>
            <a:ln w="0">
              <a:solidFill>
                <a:srgbClr val="000000"/>
              </a:solidFill>
              <a:round/>
              <a:headEnd/>
              <a:tailEnd/>
            </a:ln>
          </p:spPr>
          <p:txBody>
            <a:bodyPr/>
            <a:lstStyle/>
            <a:p>
              <a:endParaRPr lang="en-US"/>
            </a:p>
          </p:txBody>
        </p:sp>
        <p:sp>
          <p:nvSpPr>
            <p:cNvPr id="23601" name="Rectangle 60"/>
            <p:cNvSpPr>
              <a:spLocks noChangeArrowheads="1"/>
            </p:cNvSpPr>
            <p:nvPr/>
          </p:nvSpPr>
          <p:spPr bwMode="auto">
            <a:xfrm>
              <a:off x="2904" y="1937"/>
              <a:ext cx="206" cy="90"/>
            </a:xfrm>
            <a:prstGeom prst="rect">
              <a:avLst/>
            </a:prstGeom>
            <a:noFill/>
            <a:ln w="0">
              <a:solidFill>
                <a:srgbClr val="000000"/>
              </a:solidFill>
              <a:miter lim="800000"/>
              <a:headEnd/>
              <a:tailEnd/>
            </a:ln>
          </p:spPr>
          <p:txBody>
            <a:bodyPr/>
            <a:lstStyle/>
            <a:p>
              <a:endParaRPr lang="en-US"/>
            </a:p>
          </p:txBody>
        </p:sp>
        <p:sp>
          <p:nvSpPr>
            <p:cNvPr id="23602" name="Line 61"/>
            <p:cNvSpPr>
              <a:spLocks noChangeShapeType="1"/>
            </p:cNvSpPr>
            <p:nvPr/>
          </p:nvSpPr>
          <p:spPr bwMode="auto">
            <a:xfrm>
              <a:off x="2881" y="1917"/>
              <a:ext cx="2" cy="435"/>
            </a:xfrm>
            <a:prstGeom prst="line">
              <a:avLst/>
            </a:prstGeom>
            <a:noFill/>
            <a:ln w="0">
              <a:solidFill>
                <a:srgbClr val="000000"/>
              </a:solidFill>
              <a:round/>
              <a:headEnd/>
              <a:tailEnd/>
            </a:ln>
          </p:spPr>
          <p:txBody>
            <a:bodyPr/>
            <a:lstStyle/>
            <a:p>
              <a:endParaRPr lang="en-US"/>
            </a:p>
          </p:txBody>
        </p:sp>
        <p:sp>
          <p:nvSpPr>
            <p:cNvPr id="23603" name="Line 62"/>
            <p:cNvSpPr>
              <a:spLocks noChangeShapeType="1"/>
            </p:cNvSpPr>
            <p:nvPr/>
          </p:nvSpPr>
          <p:spPr bwMode="auto">
            <a:xfrm>
              <a:off x="2881" y="2352"/>
              <a:ext cx="1" cy="225"/>
            </a:xfrm>
            <a:prstGeom prst="line">
              <a:avLst/>
            </a:prstGeom>
            <a:noFill/>
            <a:ln w="0">
              <a:solidFill>
                <a:srgbClr val="000000"/>
              </a:solidFill>
              <a:round/>
              <a:headEnd/>
              <a:tailEnd/>
            </a:ln>
          </p:spPr>
          <p:txBody>
            <a:bodyPr/>
            <a:lstStyle/>
            <a:p>
              <a:endParaRPr lang="en-US"/>
            </a:p>
          </p:txBody>
        </p:sp>
        <p:sp>
          <p:nvSpPr>
            <p:cNvPr id="23604" name="Line 63"/>
            <p:cNvSpPr>
              <a:spLocks noChangeShapeType="1"/>
            </p:cNvSpPr>
            <p:nvPr/>
          </p:nvSpPr>
          <p:spPr bwMode="auto">
            <a:xfrm flipH="1">
              <a:off x="2751" y="1941"/>
              <a:ext cx="130" cy="1"/>
            </a:xfrm>
            <a:prstGeom prst="line">
              <a:avLst/>
            </a:prstGeom>
            <a:noFill/>
            <a:ln w="0">
              <a:solidFill>
                <a:srgbClr val="000000"/>
              </a:solidFill>
              <a:round/>
              <a:headEnd/>
              <a:tailEnd/>
            </a:ln>
          </p:spPr>
          <p:txBody>
            <a:bodyPr/>
            <a:lstStyle/>
            <a:p>
              <a:endParaRPr lang="en-US"/>
            </a:p>
          </p:txBody>
        </p:sp>
        <p:sp>
          <p:nvSpPr>
            <p:cNvPr id="23605" name="Line 64"/>
            <p:cNvSpPr>
              <a:spLocks noChangeShapeType="1"/>
            </p:cNvSpPr>
            <p:nvPr/>
          </p:nvSpPr>
          <p:spPr bwMode="auto">
            <a:xfrm flipH="1">
              <a:off x="2751" y="1971"/>
              <a:ext cx="130" cy="1"/>
            </a:xfrm>
            <a:prstGeom prst="line">
              <a:avLst/>
            </a:prstGeom>
            <a:noFill/>
            <a:ln w="0">
              <a:solidFill>
                <a:srgbClr val="000000"/>
              </a:solidFill>
              <a:round/>
              <a:headEnd/>
              <a:tailEnd/>
            </a:ln>
          </p:spPr>
          <p:txBody>
            <a:bodyPr/>
            <a:lstStyle/>
            <a:p>
              <a:endParaRPr lang="en-US"/>
            </a:p>
          </p:txBody>
        </p:sp>
        <p:sp>
          <p:nvSpPr>
            <p:cNvPr id="23606" name="Line 65"/>
            <p:cNvSpPr>
              <a:spLocks noChangeShapeType="1"/>
            </p:cNvSpPr>
            <p:nvPr/>
          </p:nvSpPr>
          <p:spPr bwMode="auto">
            <a:xfrm flipH="1">
              <a:off x="2751" y="2001"/>
              <a:ext cx="130" cy="1"/>
            </a:xfrm>
            <a:prstGeom prst="line">
              <a:avLst/>
            </a:prstGeom>
            <a:noFill/>
            <a:ln w="0">
              <a:solidFill>
                <a:srgbClr val="000000"/>
              </a:solidFill>
              <a:round/>
              <a:headEnd/>
              <a:tailEnd/>
            </a:ln>
          </p:spPr>
          <p:txBody>
            <a:bodyPr/>
            <a:lstStyle/>
            <a:p>
              <a:endParaRPr lang="en-US"/>
            </a:p>
          </p:txBody>
        </p:sp>
        <p:sp>
          <p:nvSpPr>
            <p:cNvPr id="23607" name="Line 66"/>
            <p:cNvSpPr>
              <a:spLocks noChangeShapeType="1"/>
            </p:cNvSpPr>
            <p:nvPr/>
          </p:nvSpPr>
          <p:spPr bwMode="auto">
            <a:xfrm flipH="1">
              <a:off x="2751" y="2031"/>
              <a:ext cx="130" cy="1"/>
            </a:xfrm>
            <a:prstGeom prst="line">
              <a:avLst/>
            </a:prstGeom>
            <a:noFill/>
            <a:ln w="0">
              <a:solidFill>
                <a:srgbClr val="000000"/>
              </a:solidFill>
              <a:round/>
              <a:headEnd/>
              <a:tailEnd/>
            </a:ln>
          </p:spPr>
          <p:txBody>
            <a:bodyPr/>
            <a:lstStyle/>
            <a:p>
              <a:endParaRPr lang="en-US"/>
            </a:p>
          </p:txBody>
        </p:sp>
        <p:sp>
          <p:nvSpPr>
            <p:cNvPr id="23608" name="Line 67"/>
            <p:cNvSpPr>
              <a:spLocks noChangeShapeType="1"/>
            </p:cNvSpPr>
            <p:nvPr/>
          </p:nvSpPr>
          <p:spPr bwMode="auto">
            <a:xfrm flipH="1">
              <a:off x="2751" y="2062"/>
              <a:ext cx="130" cy="1"/>
            </a:xfrm>
            <a:prstGeom prst="line">
              <a:avLst/>
            </a:prstGeom>
            <a:noFill/>
            <a:ln w="0">
              <a:solidFill>
                <a:srgbClr val="000000"/>
              </a:solidFill>
              <a:round/>
              <a:headEnd/>
              <a:tailEnd/>
            </a:ln>
          </p:spPr>
          <p:txBody>
            <a:bodyPr/>
            <a:lstStyle/>
            <a:p>
              <a:endParaRPr lang="en-US"/>
            </a:p>
          </p:txBody>
        </p:sp>
        <p:sp>
          <p:nvSpPr>
            <p:cNvPr id="23609" name="Line 68"/>
            <p:cNvSpPr>
              <a:spLocks noChangeShapeType="1"/>
            </p:cNvSpPr>
            <p:nvPr/>
          </p:nvSpPr>
          <p:spPr bwMode="auto">
            <a:xfrm flipH="1">
              <a:off x="2751" y="2091"/>
              <a:ext cx="130" cy="1"/>
            </a:xfrm>
            <a:prstGeom prst="line">
              <a:avLst/>
            </a:prstGeom>
            <a:noFill/>
            <a:ln w="0">
              <a:solidFill>
                <a:srgbClr val="000000"/>
              </a:solidFill>
              <a:round/>
              <a:headEnd/>
              <a:tailEnd/>
            </a:ln>
          </p:spPr>
          <p:txBody>
            <a:bodyPr/>
            <a:lstStyle/>
            <a:p>
              <a:endParaRPr lang="en-US"/>
            </a:p>
          </p:txBody>
        </p:sp>
        <p:sp>
          <p:nvSpPr>
            <p:cNvPr id="23610" name="Line 69"/>
            <p:cNvSpPr>
              <a:spLocks noChangeShapeType="1"/>
            </p:cNvSpPr>
            <p:nvPr/>
          </p:nvSpPr>
          <p:spPr bwMode="auto">
            <a:xfrm flipH="1">
              <a:off x="2736" y="2121"/>
              <a:ext cx="145" cy="2"/>
            </a:xfrm>
            <a:prstGeom prst="line">
              <a:avLst/>
            </a:prstGeom>
            <a:noFill/>
            <a:ln w="0">
              <a:solidFill>
                <a:srgbClr val="000000"/>
              </a:solidFill>
              <a:round/>
              <a:headEnd/>
              <a:tailEnd/>
            </a:ln>
          </p:spPr>
          <p:txBody>
            <a:bodyPr/>
            <a:lstStyle/>
            <a:p>
              <a:endParaRPr lang="en-US"/>
            </a:p>
          </p:txBody>
        </p:sp>
        <p:sp>
          <p:nvSpPr>
            <p:cNvPr id="23611" name="Line 70"/>
            <p:cNvSpPr>
              <a:spLocks noChangeShapeType="1"/>
            </p:cNvSpPr>
            <p:nvPr/>
          </p:nvSpPr>
          <p:spPr bwMode="auto">
            <a:xfrm flipH="1">
              <a:off x="2751" y="2422"/>
              <a:ext cx="130" cy="1"/>
            </a:xfrm>
            <a:prstGeom prst="line">
              <a:avLst/>
            </a:prstGeom>
            <a:noFill/>
            <a:ln w="0">
              <a:solidFill>
                <a:srgbClr val="000000"/>
              </a:solidFill>
              <a:round/>
              <a:headEnd/>
              <a:tailEnd/>
            </a:ln>
          </p:spPr>
          <p:txBody>
            <a:bodyPr/>
            <a:lstStyle/>
            <a:p>
              <a:endParaRPr lang="en-US"/>
            </a:p>
          </p:txBody>
        </p:sp>
        <p:sp>
          <p:nvSpPr>
            <p:cNvPr id="23612" name="Line 71"/>
            <p:cNvSpPr>
              <a:spLocks noChangeShapeType="1"/>
            </p:cNvSpPr>
            <p:nvPr/>
          </p:nvSpPr>
          <p:spPr bwMode="auto">
            <a:xfrm flipH="1">
              <a:off x="2751" y="2452"/>
              <a:ext cx="130" cy="1"/>
            </a:xfrm>
            <a:prstGeom prst="line">
              <a:avLst/>
            </a:prstGeom>
            <a:noFill/>
            <a:ln w="0">
              <a:solidFill>
                <a:srgbClr val="000000"/>
              </a:solidFill>
              <a:round/>
              <a:headEnd/>
              <a:tailEnd/>
            </a:ln>
          </p:spPr>
          <p:txBody>
            <a:bodyPr/>
            <a:lstStyle/>
            <a:p>
              <a:endParaRPr lang="en-US"/>
            </a:p>
          </p:txBody>
        </p:sp>
        <p:sp>
          <p:nvSpPr>
            <p:cNvPr id="23613" name="Line 72"/>
            <p:cNvSpPr>
              <a:spLocks noChangeShapeType="1"/>
            </p:cNvSpPr>
            <p:nvPr/>
          </p:nvSpPr>
          <p:spPr bwMode="auto">
            <a:xfrm flipH="1">
              <a:off x="2751" y="2482"/>
              <a:ext cx="130" cy="1"/>
            </a:xfrm>
            <a:prstGeom prst="line">
              <a:avLst/>
            </a:prstGeom>
            <a:noFill/>
            <a:ln w="0">
              <a:solidFill>
                <a:srgbClr val="000000"/>
              </a:solidFill>
              <a:round/>
              <a:headEnd/>
              <a:tailEnd/>
            </a:ln>
          </p:spPr>
          <p:txBody>
            <a:bodyPr/>
            <a:lstStyle/>
            <a:p>
              <a:endParaRPr lang="en-US"/>
            </a:p>
          </p:txBody>
        </p:sp>
        <p:sp>
          <p:nvSpPr>
            <p:cNvPr id="23614" name="Line 73"/>
            <p:cNvSpPr>
              <a:spLocks noChangeShapeType="1"/>
            </p:cNvSpPr>
            <p:nvPr/>
          </p:nvSpPr>
          <p:spPr bwMode="auto">
            <a:xfrm flipH="1">
              <a:off x="2751" y="2513"/>
              <a:ext cx="130" cy="1"/>
            </a:xfrm>
            <a:prstGeom prst="line">
              <a:avLst/>
            </a:prstGeom>
            <a:noFill/>
            <a:ln w="0">
              <a:solidFill>
                <a:srgbClr val="000000"/>
              </a:solidFill>
              <a:round/>
              <a:headEnd/>
              <a:tailEnd/>
            </a:ln>
          </p:spPr>
          <p:txBody>
            <a:bodyPr/>
            <a:lstStyle/>
            <a:p>
              <a:endParaRPr lang="en-US"/>
            </a:p>
          </p:txBody>
        </p:sp>
        <p:sp>
          <p:nvSpPr>
            <p:cNvPr id="23615" name="Line 74"/>
            <p:cNvSpPr>
              <a:spLocks noChangeShapeType="1"/>
            </p:cNvSpPr>
            <p:nvPr/>
          </p:nvSpPr>
          <p:spPr bwMode="auto">
            <a:xfrm flipH="1">
              <a:off x="2751" y="2542"/>
              <a:ext cx="130" cy="1"/>
            </a:xfrm>
            <a:prstGeom prst="line">
              <a:avLst/>
            </a:prstGeom>
            <a:noFill/>
            <a:ln w="0">
              <a:solidFill>
                <a:srgbClr val="000000"/>
              </a:solidFill>
              <a:round/>
              <a:headEnd/>
              <a:tailEnd/>
            </a:ln>
          </p:spPr>
          <p:txBody>
            <a:bodyPr/>
            <a:lstStyle/>
            <a:p>
              <a:endParaRPr lang="en-US"/>
            </a:p>
          </p:txBody>
        </p:sp>
        <p:sp>
          <p:nvSpPr>
            <p:cNvPr id="23616" name="Rectangle 75"/>
            <p:cNvSpPr>
              <a:spLocks noChangeArrowheads="1"/>
            </p:cNvSpPr>
            <p:nvPr/>
          </p:nvSpPr>
          <p:spPr bwMode="auto">
            <a:xfrm>
              <a:off x="2966" y="2039"/>
              <a:ext cx="86" cy="21"/>
            </a:xfrm>
            <a:prstGeom prst="rect">
              <a:avLst/>
            </a:prstGeom>
            <a:noFill/>
            <a:ln w="0">
              <a:solidFill>
                <a:srgbClr val="000000"/>
              </a:solidFill>
              <a:miter lim="800000"/>
              <a:headEnd/>
              <a:tailEnd/>
            </a:ln>
          </p:spPr>
          <p:txBody>
            <a:bodyPr/>
            <a:lstStyle/>
            <a:p>
              <a:endParaRPr lang="en-US"/>
            </a:p>
          </p:txBody>
        </p:sp>
        <p:sp>
          <p:nvSpPr>
            <p:cNvPr id="23617" name="Rectangle 76"/>
            <p:cNvSpPr>
              <a:spLocks noChangeArrowheads="1"/>
            </p:cNvSpPr>
            <p:nvPr/>
          </p:nvSpPr>
          <p:spPr bwMode="auto">
            <a:xfrm>
              <a:off x="2904" y="2448"/>
              <a:ext cx="206" cy="16"/>
            </a:xfrm>
            <a:prstGeom prst="rect">
              <a:avLst/>
            </a:prstGeom>
            <a:noFill/>
            <a:ln w="0">
              <a:solidFill>
                <a:srgbClr val="000000"/>
              </a:solidFill>
              <a:miter lim="800000"/>
              <a:headEnd/>
              <a:tailEnd/>
            </a:ln>
          </p:spPr>
          <p:txBody>
            <a:bodyPr/>
            <a:lstStyle/>
            <a:p>
              <a:endParaRPr lang="en-US"/>
            </a:p>
          </p:txBody>
        </p:sp>
        <p:sp>
          <p:nvSpPr>
            <p:cNvPr id="23618" name="Rectangle 77"/>
            <p:cNvSpPr>
              <a:spLocks noChangeArrowheads="1"/>
            </p:cNvSpPr>
            <p:nvPr/>
          </p:nvSpPr>
          <p:spPr bwMode="auto">
            <a:xfrm>
              <a:off x="2904" y="2480"/>
              <a:ext cx="206" cy="16"/>
            </a:xfrm>
            <a:prstGeom prst="rect">
              <a:avLst/>
            </a:prstGeom>
            <a:noFill/>
            <a:ln w="0">
              <a:solidFill>
                <a:srgbClr val="000000"/>
              </a:solidFill>
              <a:miter lim="800000"/>
              <a:headEnd/>
              <a:tailEnd/>
            </a:ln>
          </p:spPr>
          <p:txBody>
            <a:bodyPr/>
            <a:lstStyle/>
            <a:p>
              <a:endParaRPr lang="en-US"/>
            </a:p>
          </p:txBody>
        </p:sp>
        <p:sp>
          <p:nvSpPr>
            <p:cNvPr id="23619" name="Rectangle 78"/>
            <p:cNvSpPr>
              <a:spLocks noChangeArrowheads="1"/>
            </p:cNvSpPr>
            <p:nvPr/>
          </p:nvSpPr>
          <p:spPr bwMode="auto">
            <a:xfrm>
              <a:off x="2904" y="2513"/>
              <a:ext cx="206" cy="16"/>
            </a:xfrm>
            <a:prstGeom prst="rect">
              <a:avLst/>
            </a:prstGeom>
            <a:noFill/>
            <a:ln w="0">
              <a:solidFill>
                <a:srgbClr val="000000"/>
              </a:solidFill>
              <a:miter lim="800000"/>
              <a:headEnd/>
              <a:tailEnd/>
            </a:ln>
          </p:spPr>
          <p:txBody>
            <a:bodyPr/>
            <a:lstStyle/>
            <a:p>
              <a:endParaRPr lang="en-US"/>
            </a:p>
          </p:txBody>
        </p:sp>
        <p:sp>
          <p:nvSpPr>
            <p:cNvPr id="23620" name="Rectangle 79"/>
            <p:cNvSpPr>
              <a:spLocks noChangeArrowheads="1"/>
            </p:cNvSpPr>
            <p:nvPr/>
          </p:nvSpPr>
          <p:spPr bwMode="auto">
            <a:xfrm>
              <a:off x="2916" y="1951"/>
              <a:ext cx="52" cy="12"/>
            </a:xfrm>
            <a:prstGeom prst="rect">
              <a:avLst/>
            </a:prstGeom>
            <a:noFill/>
            <a:ln w="0">
              <a:solidFill>
                <a:srgbClr val="000000"/>
              </a:solidFill>
              <a:miter lim="800000"/>
              <a:headEnd/>
              <a:tailEnd/>
            </a:ln>
          </p:spPr>
          <p:txBody>
            <a:bodyPr/>
            <a:lstStyle/>
            <a:p>
              <a:endParaRPr lang="en-US"/>
            </a:p>
          </p:txBody>
        </p:sp>
        <p:sp>
          <p:nvSpPr>
            <p:cNvPr id="23621" name="Rectangle 80"/>
            <p:cNvSpPr>
              <a:spLocks noChangeArrowheads="1"/>
            </p:cNvSpPr>
            <p:nvPr/>
          </p:nvSpPr>
          <p:spPr bwMode="auto">
            <a:xfrm>
              <a:off x="3050" y="1951"/>
              <a:ext cx="53" cy="12"/>
            </a:xfrm>
            <a:prstGeom prst="rect">
              <a:avLst/>
            </a:prstGeom>
            <a:noFill/>
            <a:ln w="0">
              <a:solidFill>
                <a:srgbClr val="000000"/>
              </a:solidFill>
              <a:miter lim="800000"/>
              <a:headEnd/>
              <a:tailEnd/>
            </a:ln>
          </p:spPr>
          <p:txBody>
            <a:bodyPr/>
            <a:lstStyle/>
            <a:p>
              <a:endParaRPr lang="en-US"/>
            </a:p>
          </p:txBody>
        </p:sp>
        <p:sp>
          <p:nvSpPr>
            <p:cNvPr id="23622" name="Freeform 81"/>
            <p:cNvSpPr>
              <a:spLocks/>
            </p:cNvSpPr>
            <p:nvPr/>
          </p:nvSpPr>
          <p:spPr bwMode="auto">
            <a:xfrm>
              <a:off x="2985" y="1956"/>
              <a:ext cx="16" cy="13"/>
            </a:xfrm>
            <a:custGeom>
              <a:avLst/>
              <a:gdLst>
                <a:gd name="T0" fmla="*/ 4 w 32"/>
                <a:gd name="T1" fmla="*/ 7 h 26"/>
                <a:gd name="T2" fmla="*/ 4 w 32"/>
                <a:gd name="T3" fmla="*/ 7 h 26"/>
                <a:gd name="T4" fmla="*/ 5 w 32"/>
                <a:gd name="T5" fmla="*/ 7 h 26"/>
                <a:gd name="T6" fmla="*/ 7 w 32"/>
                <a:gd name="T7" fmla="*/ 6 h 26"/>
                <a:gd name="T8" fmla="*/ 7 w 32"/>
                <a:gd name="T9" fmla="*/ 5 h 26"/>
                <a:gd name="T10" fmla="*/ 8 w 32"/>
                <a:gd name="T11" fmla="*/ 3 h 26"/>
                <a:gd name="T12" fmla="*/ 8 w 32"/>
                <a:gd name="T13" fmla="*/ 3 h 26"/>
                <a:gd name="T14" fmla="*/ 7 w 32"/>
                <a:gd name="T15" fmla="*/ 2 h 26"/>
                <a:gd name="T16" fmla="*/ 7 w 32"/>
                <a:gd name="T17" fmla="*/ 1 h 26"/>
                <a:gd name="T18" fmla="*/ 5 w 32"/>
                <a:gd name="T19" fmla="*/ 1 h 26"/>
                <a:gd name="T20" fmla="*/ 4 w 32"/>
                <a:gd name="T21" fmla="*/ 0 h 26"/>
                <a:gd name="T22" fmla="*/ 4 w 32"/>
                <a:gd name="T23" fmla="*/ 0 h 26"/>
                <a:gd name="T24" fmla="*/ 2 w 32"/>
                <a:gd name="T25" fmla="*/ 1 h 26"/>
                <a:gd name="T26" fmla="*/ 1 w 32"/>
                <a:gd name="T27" fmla="*/ 1 h 26"/>
                <a:gd name="T28" fmla="*/ 1 w 32"/>
                <a:gd name="T29" fmla="*/ 2 h 26"/>
                <a:gd name="T30" fmla="*/ 0 w 32"/>
                <a:gd name="T31" fmla="*/ 3 h 26"/>
                <a:gd name="T32" fmla="*/ 0 w 32"/>
                <a:gd name="T33" fmla="*/ 3 h 26"/>
                <a:gd name="T34" fmla="*/ 1 w 32"/>
                <a:gd name="T35" fmla="*/ 5 h 26"/>
                <a:gd name="T36" fmla="*/ 1 w 32"/>
                <a:gd name="T37" fmla="*/ 6 h 26"/>
                <a:gd name="T38" fmla="*/ 2 w 32"/>
                <a:gd name="T39" fmla="*/ 7 h 26"/>
                <a:gd name="T40" fmla="*/ 4 w 32"/>
                <a:gd name="T41" fmla="*/ 7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2"/>
                <a:gd name="T64" fmla="*/ 0 h 26"/>
                <a:gd name="T65" fmla="*/ 32 w 32"/>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2" h="26">
                  <a:moveTo>
                    <a:pt x="16" y="26"/>
                  </a:moveTo>
                  <a:lnTo>
                    <a:pt x="16" y="26"/>
                  </a:lnTo>
                  <a:lnTo>
                    <a:pt x="22" y="25"/>
                  </a:lnTo>
                  <a:lnTo>
                    <a:pt x="28" y="22"/>
                  </a:lnTo>
                  <a:lnTo>
                    <a:pt x="30" y="19"/>
                  </a:lnTo>
                  <a:lnTo>
                    <a:pt x="32" y="13"/>
                  </a:lnTo>
                  <a:lnTo>
                    <a:pt x="30" y="7"/>
                  </a:lnTo>
                  <a:lnTo>
                    <a:pt x="28" y="4"/>
                  </a:lnTo>
                  <a:lnTo>
                    <a:pt x="22" y="1"/>
                  </a:lnTo>
                  <a:lnTo>
                    <a:pt x="16" y="0"/>
                  </a:lnTo>
                  <a:lnTo>
                    <a:pt x="10" y="1"/>
                  </a:lnTo>
                  <a:lnTo>
                    <a:pt x="4" y="4"/>
                  </a:lnTo>
                  <a:lnTo>
                    <a:pt x="1" y="7"/>
                  </a:lnTo>
                  <a:lnTo>
                    <a:pt x="0" y="13"/>
                  </a:lnTo>
                  <a:lnTo>
                    <a:pt x="1" y="19"/>
                  </a:lnTo>
                  <a:lnTo>
                    <a:pt x="4" y="22"/>
                  </a:lnTo>
                  <a:lnTo>
                    <a:pt x="10" y="25"/>
                  </a:lnTo>
                  <a:lnTo>
                    <a:pt x="16" y="26"/>
                  </a:lnTo>
                </a:path>
              </a:pathLst>
            </a:custGeom>
            <a:noFill/>
            <a:ln w="0">
              <a:solidFill>
                <a:srgbClr val="000000"/>
              </a:solidFill>
              <a:round/>
              <a:headEnd/>
              <a:tailEnd/>
            </a:ln>
          </p:spPr>
          <p:txBody>
            <a:bodyPr/>
            <a:lstStyle/>
            <a:p>
              <a:endParaRPr lang="en-US"/>
            </a:p>
          </p:txBody>
        </p:sp>
        <p:sp>
          <p:nvSpPr>
            <p:cNvPr id="23623" name="Freeform 82"/>
            <p:cNvSpPr>
              <a:spLocks/>
            </p:cNvSpPr>
            <p:nvPr/>
          </p:nvSpPr>
          <p:spPr bwMode="auto">
            <a:xfrm>
              <a:off x="3021" y="1956"/>
              <a:ext cx="17" cy="13"/>
            </a:xfrm>
            <a:custGeom>
              <a:avLst/>
              <a:gdLst>
                <a:gd name="T0" fmla="*/ 5 w 33"/>
                <a:gd name="T1" fmla="*/ 7 h 26"/>
                <a:gd name="T2" fmla="*/ 5 w 33"/>
                <a:gd name="T3" fmla="*/ 7 h 26"/>
                <a:gd name="T4" fmla="*/ 6 w 33"/>
                <a:gd name="T5" fmla="*/ 7 h 26"/>
                <a:gd name="T6" fmla="*/ 8 w 33"/>
                <a:gd name="T7" fmla="*/ 6 h 26"/>
                <a:gd name="T8" fmla="*/ 8 w 33"/>
                <a:gd name="T9" fmla="*/ 5 h 26"/>
                <a:gd name="T10" fmla="*/ 9 w 33"/>
                <a:gd name="T11" fmla="*/ 3 h 26"/>
                <a:gd name="T12" fmla="*/ 9 w 33"/>
                <a:gd name="T13" fmla="*/ 3 h 26"/>
                <a:gd name="T14" fmla="*/ 8 w 33"/>
                <a:gd name="T15" fmla="*/ 2 h 26"/>
                <a:gd name="T16" fmla="*/ 8 w 33"/>
                <a:gd name="T17" fmla="*/ 1 h 26"/>
                <a:gd name="T18" fmla="*/ 6 w 33"/>
                <a:gd name="T19" fmla="*/ 1 h 26"/>
                <a:gd name="T20" fmla="*/ 5 w 33"/>
                <a:gd name="T21" fmla="*/ 0 h 26"/>
                <a:gd name="T22" fmla="*/ 5 w 33"/>
                <a:gd name="T23" fmla="*/ 0 h 26"/>
                <a:gd name="T24" fmla="*/ 3 w 33"/>
                <a:gd name="T25" fmla="*/ 1 h 26"/>
                <a:gd name="T26" fmla="*/ 1 w 33"/>
                <a:gd name="T27" fmla="*/ 1 h 26"/>
                <a:gd name="T28" fmla="*/ 1 w 33"/>
                <a:gd name="T29" fmla="*/ 2 h 26"/>
                <a:gd name="T30" fmla="*/ 0 w 33"/>
                <a:gd name="T31" fmla="*/ 3 h 26"/>
                <a:gd name="T32" fmla="*/ 0 w 33"/>
                <a:gd name="T33" fmla="*/ 3 h 26"/>
                <a:gd name="T34" fmla="*/ 1 w 33"/>
                <a:gd name="T35" fmla="*/ 5 h 26"/>
                <a:gd name="T36" fmla="*/ 1 w 33"/>
                <a:gd name="T37" fmla="*/ 6 h 26"/>
                <a:gd name="T38" fmla="*/ 3 w 33"/>
                <a:gd name="T39" fmla="*/ 7 h 26"/>
                <a:gd name="T40" fmla="*/ 5 w 33"/>
                <a:gd name="T41" fmla="*/ 7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
                <a:gd name="T64" fmla="*/ 0 h 26"/>
                <a:gd name="T65" fmla="*/ 33 w 33"/>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 h="26">
                  <a:moveTo>
                    <a:pt x="17" y="26"/>
                  </a:moveTo>
                  <a:lnTo>
                    <a:pt x="17" y="26"/>
                  </a:lnTo>
                  <a:lnTo>
                    <a:pt x="23" y="25"/>
                  </a:lnTo>
                  <a:lnTo>
                    <a:pt x="29" y="22"/>
                  </a:lnTo>
                  <a:lnTo>
                    <a:pt x="32" y="19"/>
                  </a:lnTo>
                  <a:lnTo>
                    <a:pt x="33" y="13"/>
                  </a:lnTo>
                  <a:lnTo>
                    <a:pt x="32" y="7"/>
                  </a:lnTo>
                  <a:lnTo>
                    <a:pt x="29" y="4"/>
                  </a:lnTo>
                  <a:lnTo>
                    <a:pt x="23" y="1"/>
                  </a:lnTo>
                  <a:lnTo>
                    <a:pt x="17" y="0"/>
                  </a:lnTo>
                  <a:lnTo>
                    <a:pt x="10" y="1"/>
                  </a:lnTo>
                  <a:lnTo>
                    <a:pt x="4" y="4"/>
                  </a:lnTo>
                  <a:lnTo>
                    <a:pt x="1" y="7"/>
                  </a:lnTo>
                  <a:lnTo>
                    <a:pt x="0" y="13"/>
                  </a:lnTo>
                  <a:lnTo>
                    <a:pt x="1" y="19"/>
                  </a:lnTo>
                  <a:lnTo>
                    <a:pt x="4" y="22"/>
                  </a:lnTo>
                  <a:lnTo>
                    <a:pt x="10" y="25"/>
                  </a:lnTo>
                  <a:lnTo>
                    <a:pt x="17" y="26"/>
                  </a:lnTo>
                </a:path>
              </a:pathLst>
            </a:custGeom>
            <a:noFill/>
            <a:ln w="0">
              <a:solidFill>
                <a:srgbClr val="000000"/>
              </a:solidFill>
              <a:round/>
              <a:headEnd/>
              <a:tailEnd/>
            </a:ln>
          </p:spPr>
          <p:txBody>
            <a:bodyPr/>
            <a:lstStyle/>
            <a:p>
              <a:endParaRPr lang="en-US"/>
            </a:p>
          </p:txBody>
        </p:sp>
        <p:sp>
          <p:nvSpPr>
            <p:cNvPr id="23624" name="Freeform 83"/>
            <p:cNvSpPr>
              <a:spLocks/>
            </p:cNvSpPr>
            <p:nvPr/>
          </p:nvSpPr>
          <p:spPr bwMode="auto">
            <a:xfrm>
              <a:off x="2926" y="2000"/>
              <a:ext cx="12" cy="13"/>
            </a:xfrm>
            <a:custGeom>
              <a:avLst/>
              <a:gdLst>
                <a:gd name="T0" fmla="*/ 3 w 25"/>
                <a:gd name="T1" fmla="*/ 6 h 27"/>
                <a:gd name="T2" fmla="*/ 3 w 25"/>
                <a:gd name="T3" fmla="*/ 6 h 27"/>
                <a:gd name="T4" fmla="*/ 4 w 25"/>
                <a:gd name="T5" fmla="*/ 6 h 27"/>
                <a:gd name="T6" fmla="*/ 5 w 25"/>
                <a:gd name="T7" fmla="*/ 5 h 27"/>
                <a:gd name="T8" fmla="*/ 6 w 25"/>
                <a:gd name="T9" fmla="*/ 4 h 27"/>
                <a:gd name="T10" fmla="*/ 6 w 25"/>
                <a:gd name="T11" fmla="*/ 3 h 27"/>
                <a:gd name="T12" fmla="*/ 6 w 25"/>
                <a:gd name="T13" fmla="*/ 3 h 27"/>
                <a:gd name="T14" fmla="*/ 6 w 25"/>
                <a:gd name="T15" fmla="*/ 2 h 27"/>
                <a:gd name="T16" fmla="*/ 5 w 25"/>
                <a:gd name="T17" fmla="*/ 1 h 27"/>
                <a:gd name="T18" fmla="*/ 4 w 25"/>
                <a:gd name="T19" fmla="*/ 0 h 27"/>
                <a:gd name="T20" fmla="*/ 3 w 25"/>
                <a:gd name="T21" fmla="*/ 0 h 27"/>
                <a:gd name="T22" fmla="*/ 3 w 25"/>
                <a:gd name="T23" fmla="*/ 0 h 27"/>
                <a:gd name="T24" fmla="*/ 2 w 25"/>
                <a:gd name="T25" fmla="*/ 0 h 27"/>
                <a:gd name="T26" fmla="*/ 0 w 25"/>
                <a:gd name="T27" fmla="*/ 1 h 27"/>
                <a:gd name="T28" fmla="*/ 0 w 25"/>
                <a:gd name="T29" fmla="*/ 2 h 27"/>
                <a:gd name="T30" fmla="*/ 0 w 25"/>
                <a:gd name="T31" fmla="*/ 3 h 27"/>
                <a:gd name="T32" fmla="*/ 0 w 25"/>
                <a:gd name="T33" fmla="*/ 3 h 27"/>
                <a:gd name="T34" fmla="*/ 0 w 25"/>
                <a:gd name="T35" fmla="*/ 4 h 27"/>
                <a:gd name="T36" fmla="*/ 0 w 25"/>
                <a:gd name="T37" fmla="*/ 5 h 27"/>
                <a:gd name="T38" fmla="*/ 2 w 25"/>
                <a:gd name="T39" fmla="*/ 6 h 27"/>
                <a:gd name="T40" fmla="*/ 3 w 25"/>
                <a:gd name="T41" fmla="*/ 6 h 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
                <a:gd name="T64" fmla="*/ 0 h 27"/>
                <a:gd name="T65" fmla="*/ 25 w 25"/>
                <a:gd name="T66" fmla="*/ 27 h 2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 h="27">
                  <a:moveTo>
                    <a:pt x="12" y="27"/>
                  </a:moveTo>
                  <a:lnTo>
                    <a:pt x="12" y="27"/>
                  </a:lnTo>
                  <a:lnTo>
                    <a:pt x="18" y="25"/>
                  </a:lnTo>
                  <a:lnTo>
                    <a:pt x="21" y="22"/>
                  </a:lnTo>
                  <a:lnTo>
                    <a:pt x="24" y="19"/>
                  </a:lnTo>
                  <a:lnTo>
                    <a:pt x="25" y="13"/>
                  </a:lnTo>
                  <a:lnTo>
                    <a:pt x="24" y="8"/>
                  </a:lnTo>
                  <a:lnTo>
                    <a:pt x="21" y="5"/>
                  </a:lnTo>
                  <a:lnTo>
                    <a:pt x="18" y="2"/>
                  </a:lnTo>
                  <a:lnTo>
                    <a:pt x="12" y="0"/>
                  </a:lnTo>
                  <a:lnTo>
                    <a:pt x="8" y="2"/>
                  </a:lnTo>
                  <a:lnTo>
                    <a:pt x="3" y="5"/>
                  </a:lnTo>
                  <a:lnTo>
                    <a:pt x="2" y="8"/>
                  </a:lnTo>
                  <a:lnTo>
                    <a:pt x="0" y="13"/>
                  </a:lnTo>
                  <a:lnTo>
                    <a:pt x="2" y="19"/>
                  </a:lnTo>
                  <a:lnTo>
                    <a:pt x="3" y="22"/>
                  </a:lnTo>
                  <a:lnTo>
                    <a:pt x="8" y="25"/>
                  </a:lnTo>
                  <a:lnTo>
                    <a:pt x="12" y="27"/>
                  </a:lnTo>
                </a:path>
              </a:pathLst>
            </a:custGeom>
            <a:noFill/>
            <a:ln w="0">
              <a:solidFill>
                <a:srgbClr val="000000"/>
              </a:solidFill>
              <a:round/>
              <a:headEnd/>
              <a:tailEnd/>
            </a:ln>
          </p:spPr>
          <p:txBody>
            <a:bodyPr/>
            <a:lstStyle/>
            <a:p>
              <a:endParaRPr lang="en-US"/>
            </a:p>
          </p:txBody>
        </p:sp>
        <p:sp>
          <p:nvSpPr>
            <p:cNvPr id="23625" name="Freeform 84"/>
            <p:cNvSpPr>
              <a:spLocks/>
            </p:cNvSpPr>
            <p:nvPr/>
          </p:nvSpPr>
          <p:spPr bwMode="auto">
            <a:xfrm>
              <a:off x="2983" y="2000"/>
              <a:ext cx="13" cy="13"/>
            </a:xfrm>
            <a:custGeom>
              <a:avLst/>
              <a:gdLst>
                <a:gd name="T0" fmla="*/ 3 w 27"/>
                <a:gd name="T1" fmla="*/ 6 h 27"/>
                <a:gd name="T2" fmla="*/ 3 w 27"/>
                <a:gd name="T3" fmla="*/ 6 h 27"/>
                <a:gd name="T4" fmla="*/ 4 w 27"/>
                <a:gd name="T5" fmla="*/ 6 h 27"/>
                <a:gd name="T6" fmla="*/ 5 w 27"/>
                <a:gd name="T7" fmla="*/ 5 h 27"/>
                <a:gd name="T8" fmla="*/ 6 w 27"/>
                <a:gd name="T9" fmla="*/ 4 h 27"/>
                <a:gd name="T10" fmla="*/ 6 w 27"/>
                <a:gd name="T11" fmla="*/ 3 h 27"/>
                <a:gd name="T12" fmla="*/ 6 w 27"/>
                <a:gd name="T13" fmla="*/ 3 h 27"/>
                <a:gd name="T14" fmla="*/ 6 w 27"/>
                <a:gd name="T15" fmla="*/ 2 h 27"/>
                <a:gd name="T16" fmla="*/ 5 w 27"/>
                <a:gd name="T17" fmla="*/ 1 h 27"/>
                <a:gd name="T18" fmla="*/ 4 w 27"/>
                <a:gd name="T19" fmla="*/ 0 h 27"/>
                <a:gd name="T20" fmla="*/ 3 w 27"/>
                <a:gd name="T21" fmla="*/ 0 h 27"/>
                <a:gd name="T22" fmla="*/ 3 w 27"/>
                <a:gd name="T23" fmla="*/ 0 h 27"/>
                <a:gd name="T24" fmla="*/ 2 w 27"/>
                <a:gd name="T25" fmla="*/ 0 h 27"/>
                <a:gd name="T26" fmla="*/ 1 w 27"/>
                <a:gd name="T27" fmla="*/ 1 h 27"/>
                <a:gd name="T28" fmla="*/ 0 w 27"/>
                <a:gd name="T29" fmla="*/ 2 h 27"/>
                <a:gd name="T30" fmla="*/ 0 w 27"/>
                <a:gd name="T31" fmla="*/ 3 h 27"/>
                <a:gd name="T32" fmla="*/ 0 w 27"/>
                <a:gd name="T33" fmla="*/ 3 h 27"/>
                <a:gd name="T34" fmla="*/ 0 w 27"/>
                <a:gd name="T35" fmla="*/ 4 h 27"/>
                <a:gd name="T36" fmla="*/ 1 w 27"/>
                <a:gd name="T37" fmla="*/ 5 h 27"/>
                <a:gd name="T38" fmla="*/ 2 w 27"/>
                <a:gd name="T39" fmla="*/ 6 h 27"/>
                <a:gd name="T40" fmla="*/ 3 w 27"/>
                <a:gd name="T41" fmla="*/ 6 h 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7"/>
                <a:gd name="T64" fmla="*/ 0 h 27"/>
                <a:gd name="T65" fmla="*/ 27 w 27"/>
                <a:gd name="T66" fmla="*/ 27 h 2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7" h="27">
                  <a:moveTo>
                    <a:pt x="14" y="27"/>
                  </a:moveTo>
                  <a:lnTo>
                    <a:pt x="14" y="27"/>
                  </a:lnTo>
                  <a:lnTo>
                    <a:pt x="19" y="25"/>
                  </a:lnTo>
                  <a:lnTo>
                    <a:pt x="22" y="22"/>
                  </a:lnTo>
                  <a:lnTo>
                    <a:pt x="25" y="19"/>
                  </a:lnTo>
                  <a:lnTo>
                    <a:pt x="27" y="13"/>
                  </a:lnTo>
                  <a:lnTo>
                    <a:pt x="25" y="8"/>
                  </a:lnTo>
                  <a:lnTo>
                    <a:pt x="22" y="5"/>
                  </a:lnTo>
                  <a:lnTo>
                    <a:pt x="19" y="2"/>
                  </a:lnTo>
                  <a:lnTo>
                    <a:pt x="14" y="0"/>
                  </a:lnTo>
                  <a:lnTo>
                    <a:pt x="8" y="2"/>
                  </a:lnTo>
                  <a:lnTo>
                    <a:pt x="5" y="5"/>
                  </a:lnTo>
                  <a:lnTo>
                    <a:pt x="2" y="8"/>
                  </a:lnTo>
                  <a:lnTo>
                    <a:pt x="0" y="13"/>
                  </a:lnTo>
                  <a:lnTo>
                    <a:pt x="2" y="19"/>
                  </a:lnTo>
                  <a:lnTo>
                    <a:pt x="5" y="22"/>
                  </a:lnTo>
                  <a:lnTo>
                    <a:pt x="8" y="25"/>
                  </a:lnTo>
                  <a:lnTo>
                    <a:pt x="14" y="27"/>
                  </a:lnTo>
                </a:path>
              </a:pathLst>
            </a:custGeom>
            <a:noFill/>
            <a:ln w="0">
              <a:solidFill>
                <a:srgbClr val="000000"/>
              </a:solidFill>
              <a:round/>
              <a:headEnd/>
              <a:tailEnd/>
            </a:ln>
          </p:spPr>
          <p:txBody>
            <a:bodyPr/>
            <a:lstStyle/>
            <a:p>
              <a:endParaRPr lang="en-US"/>
            </a:p>
          </p:txBody>
        </p:sp>
        <p:sp>
          <p:nvSpPr>
            <p:cNvPr id="23626" name="Freeform 85"/>
            <p:cNvSpPr>
              <a:spLocks/>
            </p:cNvSpPr>
            <p:nvPr/>
          </p:nvSpPr>
          <p:spPr bwMode="auto">
            <a:xfrm>
              <a:off x="3008" y="2000"/>
              <a:ext cx="13" cy="13"/>
            </a:xfrm>
            <a:custGeom>
              <a:avLst/>
              <a:gdLst>
                <a:gd name="T0" fmla="*/ 3 w 26"/>
                <a:gd name="T1" fmla="*/ 6 h 27"/>
                <a:gd name="T2" fmla="*/ 3 w 26"/>
                <a:gd name="T3" fmla="*/ 6 h 27"/>
                <a:gd name="T4" fmla="*/ 5 w 26"/>
                <a:gd name="T5" fmla="*/ 6 h 27"/>
                <a:gd name="T6" fmla="*/ 6 w 26"/>
                <a:gd name="T7" fmla="*/ 5 h 27"/>
                <a:gd name="T8" fmla="*/ 6 w 26"/>
                <a:gd name="T9" fmla="*/ 4 h 27"/>
                <a:gd name="T10" fmla="*/ 7 w 26"/>
                <a:gd name="T11" fmla="*/ 3 h 27"/>
                <a:gd name="T12" fmla="*/ 7 w 26"/>
                <a:gd name="T13" fmla="*/ 3 h 27"/>
                <a:gd name="T14" fmla="*/ 6 w 26"/>
                <a:gd name="T15" fmla="*/ 2 h 27"/>
                <a:gd name="T16" fmla="*/ 6 w 26"/>
                <a:gd name="T17" fmla="*/ 1 h 27"/>
                <a:gd name="T18" fmla="*/ 5 w 26"/>
                <a:gd name="T19" fmla="*/ 0 h 27"/>
                <a:gd name="T20" fmla="*/ 3 w 26"/>
                <a:gd name="T21" fmla="*/ 0 h 27"/>
                <a:gd name="T22" fmla="*/ 3 w 26"/>
                <a:gd name="T23" fmla="*/ 0 h 27"/>
                <a:gd name="T24" fmla="*/ 2 w 26"/>
                <a:gd name="T25" fmla="*/ 0 h 27"/>
                <a:gd name="T26" fmla="*/ 1 w 26"/>
                <a:gd name="T27" fmla="*/ 1 h 27"/>
                <a:gd name="T28" fmla="*/ 1 w 26"/>
                <a:gd name="T29" fmla="*/ 2 h 27"/>
                <a:gd name="T30" fmla="*/ 0 w 26"/>
                <a:gd name="T31" fmla="*/ 3 h 27"/>
                <a:gd name="T32" fmla="*/ 0 w 26"/>
                <a:gd name="T33" fmla="*/ 3 h 27"/>
                <a:gd name="T34" fmla="*/ 1 w 26"/>
                <a:gd name="T35" fmla="*/ 4 h 27"/>
                <a:gd name="T36" fmla="*/ 1 w 26"/>
                <a:gd name="T37" fmla="*/ 5 h 27"/>
                <a:gd name="T38" fmla="*/ 2 w 26"/>
                <a:gd name="T39" fmla="*/ 6 h 27"/>
                <a:gd name="T40" fmla="*/ 3 w 26"/>
                <a:gd name="T41" fmla="*/ 6 h 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6"/>
                <a:gd name="T64" fmla="*/ 0 h 27"/>
                <a:gd name="T65" fmla="*/ 26 w 26"/>
                <a:gd name="T66" fmla="*/ 27 h 2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6" h="27">
                  <a:moveTo>
                    <a:pt x="13" y="27"/>
                  </a:moveTo>
                  <a:lnTo>
                    <a:pt x="13" y="27"/>
                  </a:lnTo>
                  <a:lnTo>
                    <a:pt x="19" y="25"/>
                  </a:lnTo>
                  <a:lnTo>
                    <a:pt x="21" y="22"/>
                  </a:lnTo>
                  <a:lnTo>
                    <a:pt x="24" y="19"/>
                  </a:lnTo>
                  <a:lnTo>
                    <a:pt x="26" y="13"/>
                  </a:lnTo>
                  <a:lnTo>
                    <a:pt x="24" y="8"/>
                  </a:lnTo>
                  <a:lnTo>
                    <a:pt x="21" y="5"/>
                  </a:lnTo>
                  <a:lnTo>
                    <a:pt x="19" y="2"/>
                  </a:lnTo>
                  <a:lnTo>
                    <a:pt x="13" y="0"/>
                  </a:lnTo>
                  <a:lnTo>
                    <a:pt x="7" y="2"/>
                  </a:lnTo>
                  <a:lnTo>
                    <a:pt x="4" y="5"/>
                  </a:lnTo>
                  <a:lnTo>
                    <a:pt x="1" y="8"/>
                  </a:lnTo>
                  <a:lnTo>
                    <a:pt x="0" y="13"/>
                  </a:lnTo>
                  <a:lnTo>
                    <a:pt x="1" y="19"/>
                  </a:lnTo>
                  <a:lnTo>
                    <a:pt x="4" y="22"/>
                  </a:lnTo>
                  <a:lnTo>
                    <a:pt x="7" y="25"/>
                  </a:lnTo>
                  <a:lnTo>
                    <a:pt x="13" y="27"/>
                  </a:lnTo>
                </a:path>
              </a:pathLst>
            </a:custGeom>
            <a:noFill/>
            <a:ln w="0">
              <a:solidFill>
                <a:srgbClr val="000000"/>
              </a:solidFill>
              <a:round/>
              <a:headEnd/>
              <a:tailEnd/>
            </a:ln>
          </p:spPr>
          <p:txBody>
            <a:bodyPr/>
            <a:lstStyle/>
            <a:p>
              <a:endParaRPr lang="en-US"/>
            </a:p>
          </p:txBody>
        </p:sp>
        <p:sp>
          <p:nvSpPr>
            <p:cNvPr id="23627" name="Freeform 86"/>
            <p:cNvSpPr>
              <a:spLocks/>
            </p:cNvSpPr>
            <p:nvPr/>
          </p:nvSpPr>
          <p:spPr bwMode="auto">
            <a:xfrm>
              <a:off x="3034" y="2000"/>
              <a:ext cx="13" cy="13"/>
            </a:xfrm>
            <a:custGeom>
              <a:avLst/>
              <a:gdLst>
                <a:gd name="T0" fmla="*/ 3 w 26"/>
                <a:gd name="T1" fmla="*/ 6 h 27"/>
                <a:gd name="T2" fmla="*/ 3 w 26"/>
                <a:gd name="T3" fmla="*/ 6 h 27"/>
                <a:gd name="T4" fmla="*/ 5 w 26"/>
                <a:gd name="T5" fmla="*/ 6 h 27"/>
                <a:gd name="T6" fmla="*/ 6 w 26"/>
                <a:gd name="T7" fmla="*/ 5 h 27"/>
                <a:gd name="T8" fmla="*/ 6 w 26"/>
                <a:gd name="T9" fmla="*/ 4 h 27"/>
                <a:gd name="T10" fmla="*/ 7 w 26"/>
                <a:gd name="T11" fmla="*/ 3 h 27"/>
                <a:gd name="T12" fmla="*/ 7 w 26"/>
                <a:gd name="T13" fmla="*/ 3 h 27"/>
                <a:gd name="T14" fmla="*/ 6 w 26"/>
                <a:gd name="T15" fmla="*/ 2 h 27"/>
                <a:gd name="T16" fmla="*/ 6 w 26"/>
                <a:gd name="T17" fmla="*/ 1 h 27"/>
                <a:gd name="T18" fmla="*/ 5 w 26"/>
                <a:gd name="T19" fmla="*/ 0 h 27"/>
                <a:gd name="T20" fmla="*/ 3 w 26"/>
                <a:gd name="T21" fmla="*/ 0 h 27"/>
                <a:gd name="T22" fmla="*/ 3 w 26"/>
                <a:gd name="T23" fmla="*/ 0 h 27"/>
                <a:gd name="T24" fmla="*/ 2 w 26"/>
                <a:gd name="T25" fmla="*/ 0 h 27"/>
                <a:gd name="T26" fmla="*/ 1 w 26"/>
                <a:gd name="T27" fmla="*/ 1 h 27"/>
                <a:gd name="T28" fmla="*/ 1 w 26"/>
                <a:gd name="T29" fmla="*/ 2 h 27"/>
                <a:gd name="T30" fmla="*/ 0 w 26"/>
                <a:gd name="T31" fmla="*/ 3 h 27"/>
                <a:gd name="T32" fmla="*/ 0 w 26"/>
                <a:gd name="T33" fmla="*/ 3 h 27"/>
                <a:gd name="T34" fmla="*/ 1 w 26"/>
                <a:gd name="T35" fmla="*/ 4 h 27"/>
                <a:gd name="T36" fmla="*/ 1 w 26"/>
                <a:gd name="T37" fmla="*/ 5 h 27"/>
                <a:gd name="T38" fmla="*/ 2 w 26"/>
                <a:gd name="T39" fmla="*/ 6 h 27"/>
                <a:gd name="T40" fmla="*/ 3 w 26"/>
                <a:gd name="T41" fmla="*/ 6 h 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6"/>
                <a:gd name="T64" fmla="*/ 0 h 27"/>
                <a:gd name="T65" fmla="*/ 26 w 26"/>
                <a:gd name="T66" fmla="*/ 27 h 2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6" h="27">
                  <a:moveTo>
                    <a:pt x="13" y="27"/>
                  </a:moveTo>
                  <a:lnTo>
                    <a:pt x="13" y="27"/>
                  </a:lnTo>
                  <a:lnTo>
                    <a:pt x="19" y="25"/>
                  </a:lnTo>
                  <a:lnTo>
                    <a:pt x="22" y="22"/>
                  </a:lnTo>
                  <a:lnTo>
                    <a:pt x="24" y="19"/>
                  </a:lnTo>
                  <a:lnTo>
                    <a:pt x="26" y="13"/>
                  </a:lnTo>
                  <a:lnTo>
                    <a:pt x="24" y="8"/>
                  </a:lnTo>
                  <a:lnTo>
                    <a:pt x="22" y="5"/>
                  </a:lnTo>
                  <a:lnTo>
                    <a:pt x="19" y="2"/>
                  </a:lnTo>
                  <a:lnTo>
                    <a:pt x="13" y="0"/>
                  </a:lnTo>
                  <a:lnTo>
                    <a:pt x="7" y="2"/>
                  </a:lnTo>
                  <a:lnTo>
                    <a:pt x="4" y="5"/>
                  </a:lnTo>
                  <a:lnTo>
                    <a:pt x="1" y="8"/>
                  </a:lnTo>
                  <a:lnTo>
                    <a:pt x="0" y="13"/>
                  </a:lnTo>
                  <a:lnTo>
                    <a:pt x="1" y="19"/>
                  </a:lnTo>
                  <a:lnTo>
                    <a:pt x="4" y="22"/>
                  </a:lnTo>
                  <a:lnTo>
                    <a:pt x="7" y="25"/>
                  </a:lnTo>
                  <a:lnTo>
                    <a:pt x="13" y="27"/>
                  </a:lnTo>
                </a:path>
              </a:pathLst>
            </a:custGeom>
            <a:noFill/>
            <a:ln w="0">
              <a:solidFill>
                <a:srgbClr val="000000"/>
              </a:solidFill>
              <a:round/>
              <a:headEnd/>
              <a:tailEnd/>
            </a:ln>
          </p:spPr>
          <p:txBody>
            <a:bodyPr/>
            <a:lstStyle/>
            <a:p>
              <a:endParaRPr lang="en-US"/>
            </a:p>
          </p:txBody>
        </p:sp>
        <p:sp>
          <p:nvSpPr>
            <p:cNvPr id="23628" name="Freeform 87"/>
            <p:cNvSpPr>
              <a:spLocks/>
            </p:cNvSpPr>
            <p:nvPr/>
          </p:nvSpPr>
          <p:spPr bwMode="auto">
            <a:xfrm>
              <a:off x="3083" y="2000"/>
              <a:ext cx="13" cy="13"/>
            </a:xfrm>
            <a:custGeom>
              <a:avLst/>
              <a:gdLst>
                <a:gd name="T0" fmla="*/ 3 w 26"/>
                <a:gd name="T1" fmla="*/ 6 h 27"/>
                <a:gd name="T2" fmla="*/ 3 w 26"/>
                <a:gd name="T3" fmla="*/ 6 h 27"/>
                <a:gd name="T4" fmla="*/ 5 w 26"/>
                <a:gd name="T5" fmla="*/ 6 h 27"/>
                <a:gd name="T6" fmla="*/ 6 w 26"/>
                <a:gd name="T7" fmla="*/ 5 h 27"/>
                <a:gd name="T8" fmla="*/ 6 w 26"/>
                <a:gd name="T9" fmla="*/ 4 h 27"/>
                <a:gd name="T10" fmla="*/ 7 w 26"/>
                <a:gd name="T11" fmla="*/ 3 h 27"/>
                <a:gd name="T12" fmla="*/ 7 w 26"/>
                <a:gd name="T13" fmla="*/ 3 h 27"/>
                <a:gd name="T14" fmla="*/ 6 w 26"/>
                <a:gd name="T15" fmla="*/ 2 h 27"/>
                <a:gd name="T16" fmla="*/ 6 w 26"/>
                <a:gd name="T17" fmla="*/ 1 h 27"/>
                <a:gd name="T18" fmla="*/ 5 w 26"/>
                <a:gd name="T19" fmla="*/ 0 h 27"/>
                <a:gd name="T20" fmla="*/ 3 w 26"/>
                <a:gd name="T21" fmla="*/ 0 h 27"/>
                <a:gd name="T22" fmla="*/ 3 w 26"/>
                <a:gd name="T23" fmla="*/ 0 h 27"/>
                <a:gd name="T24" fmla="*/ 2 w 26"/>
                <a:gd name="T25" fmla="*/ 0 h 27"/>
                <a:gd name="T26" fmla="*/ 1 w 26"/>
                <a:gd name="T27" fmla="*/ 1 h 27"/>
                <a:gd name="T28" fmla="*/ 1 w 26"/>
                <a:gd name="T29" fmla="*/ 2 h 27"/>
                <a:gd name="T30" fmla="*/ 0 w 26"/>
                <a:gd name="T31" fmla="*/ 3 h 27"/>
                <a:gd name="T32" fmla="*/ 0 w 26"/>
                <a:gd name="T33" fmla="*/ 3 h 27"/>
                <a:gd name="T34" fmla="*/ 1 w 26"/>
                <a:gd name="T35" fmla="*/ 4 h 27"/>
                <a:gd name="T36" fmla="*/ 1 w 26"/>
                <a:gd name="T37" fmla="*/ 5 h 27"/>
                <a:gd name="T38" fmla="*/ 2 w 26"/>
                <a:gd name="T39" fmla="*/ 6 h 27"/>
                <a:gd name="T40" fmla="*/ 3 w 26"/>
                <a:gd name="T41" fmla="*/ 6 h 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6"/>
                <a:gd name="T64" fmla="*/ 0 h 27"/>
                <a:gd name="T65" fmla="*/ 26 w 26"/>
                <a:gd name="T66" fmla="*/ 27 h 2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6" h="27">
                  <a:moveTo>
                    <a:pt x="13" y="27"/>
                  </a:moveTo>
                  <a:lnTo>
                    <a:pt x="13" y="27"/>
                  </a:lnTo>
                  <a:lnTo>
                    <a:pt x="19" y="25"/>
                  </a:lnTo>
                  <a:lnTo>
                    <a:pt x="21" y="22"/>
                  </a:lnTo>
                  <a:lnTo>
                    <a:pt x="24" y="19"/>
                  </a:lnTo>
                  <a:lnTo>
                    <a:pt x="26" y="13"/>
                  </a:lnTo>
                  <a:lnTo>
                    <a:pt x="24" y="8"/>
                  </a:lnTo>
                  <a:lnTo>
                    <a:pt x="21" y="5"/>
                  </a:lnTo>
                  <a:lnTo>
                    <a:pt x="19" y="2"/>
                  </a:lnTo>
                  <a:lnTo>
                    <a:pt x="13" y="0"/>
                  </a:lnTo>
                  <a:lnTo>
                    <a:pt x="7" y="2"/>
                  </a:lnTo>
                  <a:lnTo>
                    <a:pt x="4" y="5"/>
                  </a:lnTo>
                  <a:lnTo>
                    <a:pt x="1" y="8"/>
                  </a:lnTo>
                  <a:lnTo>
                    <a:pt x="0" y="13"/>
                  </a:lnTo>
                  <a:lnTo>
                    <a:pt x="1" y="19"/>
                  </a:lnTo>
                  <a:lnTo>
                    <a:pt x="4" y="22"/>
                  </a:lnTo>
                  <a:lnTo>
                    <a:pt x="7" y="25"/>
                  </a:lnTo>
                  <a:lnTo>
                    <a:pt x="13" y="27"/>
                  </a:lnTo>
                </a:path>
              </a:pathLst>
            </a:custGeom>
            <a:noFill/>
            <a:ln w="0">
              <a:solidFill>
                <a:srgbClr val="000000"/>
              </a:solidFill>
              <a:round/>
              <a:headEnd/>
              <a:tailEnd/>
            </a:ln>
          </p:spPr>
          <p:txBody>
            <a:bodyP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a:bodyPr>
          <a:lstStyle/>
          <a:p>
            <a:r>
              <a:rPr lang="en-GB" sz="4400" dirty="0"/>
              <a:t>What a Firewall Can Do</a:t>
            </a:r>
          </a:p>
        </p:txBody>
      </p:sp>
      <p:sp>
        <p:nvSpPr>
          <p:cNvPr id="8195" name="Rectangle 3"/>
          <p:cNvSpPr>
            <a:spLocks noGrp="1" noChangeArrowheads="1"/>
          </p:cNvSpPr>
          <p:nvPr>
            <p:ph idx="1"/>
          </p:nvPr>
        </p:nvSpPr>
        <p:spPr>
          <a:xfrm>
            <a:off x="304800" y="1690689"/>
            <a:ext cx="8382000" cy="4848224"/>
          </a:xfrm>
        </p:spPr>
        <p:txBody>
          <a:bodyPr>
            <a:noAutofit/>
          </a:bodyPr>
          <a:lstStyle/>
          <a:p>
            <a:r>
              <a:rPr lang="en-GB" sz="2400" dirty="0"/>
              <a:t>A firewall is a focus for security decisions</a:t>
            </a:r>
          </a:p>
          <a:p>
            <a:pPr lvl="1"/>
            <a:r>
              <a:rPr lang="en-GB" sz="2400" dirty="0"/>
              <a:t>Since all traffic passes through a single checkpoint, security measures can be concentrated on this point</a:t>
            </a:r>
          </a:p>
          <a:p>
            <a:r>
              <a:rPr lang="en-GB" sz="2400" dirty="0"/>
              <a:t>A firewall can enforce security policy</a:t>
            </a:r>
          </a:p>
          <a:p>
            <a:pPr lvl="1"/>
            <a:r>
              <a:rPr lang="en-GB" sz="2400" dirty="0"/>
              <a:t>Many internet services are inherently dangerous and firewall can allow or deny such services</a:t>
            </a:r>
          </a:p>
          <a:p>
            <a:r>
              <a:rPr lang="en-GB" sz="2400" dirty="0"/>
              <a:t>A firewall can log internet activity efficiently</a:t>
            </a:r>
          </a:p>
          <a:p>
            <a:pPr lvl="1"/>
            <a:r>
              <a:rPr lang="en-GB" sz="2400" dirty="0"/>
              <a:t>Firewall acts as a single point of access for collecting information on the use and misuse of the network</a:t>
            </a:r>
          </a:p>
          <a:p>
            <a:r>
              <a:rPr lang="en-GB" sz="2400" dirty="0"/>
              <a:t>A firewall limits exposure</a:t>
            </a:r>
          </a:p>
          <a:p>
            <a:pPr lvl="1"/>
            <a:r>
              <a:rPr lang="en-GB" sz="2400" dirty="0"/>
              <a:t>A firewall can protect the entire network, and a number of firewalls can be deployed to protect individual sub-networks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r>
              <a:rPr lang="en-GB" sz="4400" dirty="0"/>
              <a:t>What a Firewall Cannot Do</a:t>
            </a:r>
          </a:p>
        </p:txBody>
      </p:sp>
      <p:sp>
        <p:nvSpPr>
          <p:cNvPr id="9219" name="Rectangle 3"/>
          <p:cNvSpPr>
            <a:spLocks noGrp="1" noChangeArrowheads="1"/>
          </p:cNvSpPr>
          <p:nvPr>
            <p:ph idx="1"/>
          </p:nvPr>
        </p:nvSpPr>
        <p:spPr/>
        <p:txBody>
          <a:bodyPr>
            <a:normAutofit/>
          </a:bodyPr>
          <a:lstStyle/>
          <a:p>
            <a:r>
              <a:rPr lang="en-GB" sz="3200" dirty="0"/>
              <a:t>A firewall cannot protect against:</a:t>
            </a:r>
          </a:p>
          <a:p>
            <a:pPr lvl="1"/>
            <a:r>
              <a:rPr lang="en-GB" sz="2800" dirty="0"/>
              <a:t>Internal network snooping or intrusions</a:t>
            </a:r>
          </a:p>
          <a:p>
            <a:pPr lvl="1"/>
            <a:r>
              <a:rPr lang="en-GB" sz="2800" dirty="0"/>
              <a:t>Connections that do not pass through it</a:t>
            </a:r>
          </a:p>
          <a:p>
            <a:pPr lvl="1"/>
            <a:r>
              <a:rPr lang="en-GB" sz="2800" dirty="0"/>
              <a:t>Completely new threats</a:t>
            </a:r>
          </a:p>
          <a:p>
            <a:pPr lvl="1"/>
            <a:r>
              <a:rPr lang="en-GB" sz="2800" dirty="0"/>
              <a:t>Social Engineering</a:t>
            </a:r>
          </a:p>
          <a:p>
            <a:pPr lvl="1"/>
            <a:r>
              <a:rPr lang="en-GB" sz="2800" dirty="0"/>
              <a:t>Poorly trained firewall administrator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762000" y="457200"/>
            <a:ext cx="8549640" cy="838200"/>
          </a:xfrm>
        </p:spPr>
        <p:txBody>
          <a:bodyPr>
            <a:normAutofit/>
          </a:bodyPr>
          <a:lstStyle/>
          <a:p>
            <a:pPr eaLnBrk="1" hangingPunct="1"/>
            <a:r>
              <a:rPr lang="en-GB" sz="4400" dirty="0"/>
              <a:t>Types of Firewalls</a:t>
            </a:r>
          </a:p>
        </p:txBody>
      </p:sp>
      <p:sp>
        <p:nvSpPr>
          <p:cNvPr id="24579" name="Rectangle 3"/>
          <p:cNvSpPr>
            <a:spLocks noGrp="1" noChangeArrowheads="1"/>
          </p:cNvSpPr>
          <p:nvPr>
            <p:ph type="body" sz="half" idx="1"/>
          </p:nvPr>
        </p:nvSpPr>
        <p:spPr>
          <a:xfrm>
            <a:off x="762000" y="1752600"/>
            <a:ext cx="8077200" cy="4267200"/>
          </a:xfrm>
        </p:spPr>
        <p:txBody>
          <a:bodyPr>
            <a:noAutofit/>
          </a:bodyPr>
          <a:lstStyle/>
          <a:p>
            <a:pPr marL="342900" indent="-342900" eaLnBrk="1" hangingPunct="1"/>
            <a:r>
              <a:rPr lang="en-GB" sz="2800" dirty="0"/>
              <a:t>Static Packet Filtering (SPF)</a:t>
            </a:r>
          </a:p>
          <a:p>
            <a:pPr marL="898525" lvl="1" indent="-457200" eaLnBrk="1" hangingPunct="1">
              <a:buFont typeface="Wingdings" panose="05000000000000000000" pitchFamily="2" charset="2"/>
              <a:buChar char="v"/>
            </a:pPr>
            <a:r>
              <a:rPr lang="en-US" sz="2800" dirty="0"/>
              <a:t>Layer 3 &amp; sometimes Layer 4 information</a:t>
            </a:r>
            <a:endParaRPr lang="en-GB" sz="2800" dirty="0"/>
          </a:p>
          <a:p>
            <a:pPr marL="342900" indent="-342900" eaLnBrk="1" hangingPunct="1"/>
            <a:r>
              <a:rPr lang="en-GB" sz="2800" dirty="0" err="1"/>
              <a:t>Stateful</a:t>
            </a:r>
            <a:r>
              <a:rPr lang="en-GB" sz="2800" dirty="0"/>
              <a:t> Packet Inspection</a:t>
            </a:r>
          </a:p>
          <a:p>
            <a:pPr marL="898525" lvl="1" indent="-457200">
              <a:buFont typeface="Wingdings" panose="05000000000000000000" pitchFamily="2" charset="2"/>
              <a:buChar char="v"/>
            </a:pPr>
            <a:r>
              <a:rPr lang="en-GB" sz="2800" dirty="0"/>
              <a:t>Layer 3 to 5</a:t>
            </a:r>
          </a:p>
          <a:p>
            <a:pPr marL="342900" indent="-342900" eaLnBrk="1" hangingPunct="1"/>
            <a:r>
              <a:rPr lang="en-GB" sz="2800" dirty="0"/>
              <a:t>Proxy Services (Application-Level Gateway)</a:t>
            </a:r>
          </a:p>
          <a:p>
            <a:pPr marL="747713" lvl="2" indent="-342900" eaLnBrk="1" hangingPunct="1">
              <a:spcBef>
                <a:spcPct val="60000"/>
              </a:spcBef>
              <a:buFont typeface="Wingdings" pitchFamily="2" charset="2"/>
              <a:buChar char="v"/>
            </a:pPr>
            <a:r>
              <a:rPr lang="en-GB" sz="2800" dirty="0"/>
              <a:t>Layer 3 to 7</a:t>
            </a:r>
          </a:p>
          <a:p>
            <a:pPr marL="342900" indent="-342900" eaLnBrk="1" hangingPunct="1"/>
            <a:endParaRPr lang="en-GB"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a:bodyPr>
          <a:lstStyle/>
          <a:p>
            <a:pPr eaLnBrk="1" hangingPunct="1"/>
            <a:r>
              <a:rPr lang="en-GB" sz="4400" dirty="0"/>
              <a:t>Static Packet Filtering Firewall</a:t>
            </a:r>
          </a:p>
        </p:txBody>
      </p:sp>
      <p:pic>
        <p:nvPicPr>
          <p:cNvPr id="25603" name="Picture 3" descr="Packet Filtering Firewall"/>
          <p:cNvPicPr>
            <a:picLocks noGrp="1" noChangeAspect="1" noChangeArrowheads="1"/>
          </p:cNvPicPr>
          <p:nvPr>
            <p:ph idx="1"/>
          </p:nvPr>
        </p:nvPicPr>
        <p:blipFill>
          <a:blip r:embed="rId2"/>
          <a:stretch>
            <a:fillRect/>
          </a:stretch>
        </p:blipFill>
        <p:spPr>
          <a:xfrm>
            <a:off x="1931753" y="2819400"/>
            <a:ext cx="5542428" cy="3426228"/>
          </a:xfrm>
          <a:noFill/>
        </p:spPr>
      </p:pic>
      <p:sp>
        <p:nvSpPr>
          <p:cNvPr id="25604" name="Rectangle 4"/>
          <p:cNvSpPr>
            <a:spLocks noChangeArrowheads="1"/>
          </p:cNvSpPr>
          <p:nvPr/>
        </p:nvSpPr>
        <p:spPr bwMode="auto">
          <a:xfrm>
            <a:off x="381000" y="1690688"/>
            <a:ext cx="8077200" cy="3795711"/>
          </a:xfrm>
          <a:prstGeom prst="rect">
            <a:avLst/>
          </a:prstGeom>
          <a:noFill/>
          <a:ln w="9525">
            <a:noFill/>
            <a:miter lim="800000"/>
            <a:headEnd/>
            <a:tailEnd/>
          </a:ln>
        </p:spPr>
        <p:txBody>
          <a:bodyPr/>
          <a:lstStyle/>
          <a:p>
            <a:pPr algn="l" eaLnBrk="1" hangingPunct="1">
              <a:lnSpc>
                <a:spcPct val="95000"/>
              </a:lnSpc>
              <a:spcBef>
                <a:spcPct val="60000"/>
              </a:spcBef>
              <a:buClr>
                <a:schemeClr val="accent1"/>
              </a:buClr>
              <a:buSzPct val="70000"/>
            </a:pPr>
            <a:r>
              <a:rPr lang="en-GB" sz="2800" dirty="0"/>
              <a:t>Provides network-layer security to control the types of information sent between networks and hosts.</a:t>
            </a:r>
          </a:p>
        </p:txBody>
      </p:sp>
      <p:sp>
        <p:nvSpPr>
          <p:cNvPr id="2" name="TextBox 1"/>
          <p:cNvSpPr txBox="1"/>
          <p:nvPr/>
        </p:nvSpPr>
        <p:spPr>
          <a:xfrm>
            <a:off x="381000" y="4038600"/>
            <a:ext cx="1550753" cy="646331"/>
          </a:xfrm>
          <a:prstGeom prst="rect">
            <a:avLst/>
          </a:prstGeom>
          <a:noFill/>
        </p:spPr>
        <p:txBody>
          <a:bodyPr wrap="square" rtlCol="0">
            <a:spAutoFit/>
          </a:bodyPr>
          <a:lstStyle/>
          <a:p>
            <a:r>
              <a:rPr lang="en-SG" dirty="0"/>
              <a:t>E.g. Access Control Lists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a:bodyPr>
          <a:lstStyle/>
          <a:p>
            <a:r>
              <a:rPr lang="en-GB" sz="4400" dirty="0"/>
              <a:t>How </a:t>
            </a:r>
            <a:r>
              <a:rPr lang="en-SG" sz="4400" dirty="0"/>
              <a:t>SPF </a:t>
            </a:r>
            <a:r>
              <a:rPr lang="en-GB" sz="4400" dirty="0"/>
              <a:t>Works</a:t>
            </a:r>
          </a:p>
        </p:txBody>
      </p:sp>
      <p:sp>
        <p:nvSpPr>
          <p:cNvPr id="15363" name="Rectangle 3"/>
          <p:cNvSpPr>
            <a:spLocks noGrp="1" noChangeArrowheads="1"/>
          </p:cNvSpPr>
          <p:nvPr>
            <p:ph idx="1"/>
          </p:nvPr>
        </p:nvSpPr>
        <p:spPr>
          <a:xfrm>
            <a:off x="4419600" y="1981200"/>
            <a:ext cx="4267200" cy="4038600"/>
          </a:xfrm>
        </p:spPr>
        <p:txBody>
          <a:bodyPr>
            <a:noAutofit/>
          </a:bodyPr>
          <a:lstStyle/>
          <a:p>
            <a:pPr>
              <a:lnSpc>
                <a:spcPct val="90000"/>
              </a:lnSpc>
            </a:pPr>
            <a:r>
              <a:rPr lang="en-GB" sz="2800" dirty="0"/>
              <a:t>Inspect the IP header</a:t>
            </a:r>
          </a:p>
          <a:p>
            <a:pPr>
              <a:lnSpc>
                <a:spcPct val="90000"/>
              </a:lnSpc>
            </a:pPr>
            <a:r>
              <a:rPr lang="en-GB" sz="2800" dirty="0"/>
              <a:t>Apply the values against the filtering and access rules</a:t>
            </a:r>
          </a:p>
          <a:p>
            <a:pPr>
              <a:lnSpc>
                <a:spcPct val="90000"/>
              </a:lnSpc>
            </a:pPr>
            <a:r>
              <a:rPr lang="en-GB" sz="2800" dirty="0"/>
              <a:t>Decide whether to route (permit) or not to route (deny) the packet</a:t>
            </a:r>
          </a:p>
          <a:p>
            <a:pPr>
              <a:lnSpc>
                <a:spcPct val="90000"/>
              </a:lnSpc>
            </a:pPr>
            <a:r>
              <a:rPr lang="en-GB" sz="2800" dirty="0"/>
              <a:t>The decision is based on the security policy configured</a:t>
            </a:r>
          </a:p>
        </p:txBody>
      </p:sp>
      <p:grpSp>
        <p:nvGrpSpPr>
          <p:cNvPr id="2" name="Group 5"/>
          <p:cNvGrpSpPr>
            <a:grpSpLocks/>
          </p:cNvGrpSpPr>
          <p:nvPr/>
        </p:nvGrpSpPr>
        <p:grpSpPr bwMode="auto">
          <a:xfrm>
            <a:off x="628650" y="5041612"/>
            <a:ext cx="838200" cy="790575"/>
            <a:chOff x="2448" y="1584"/>
            <a:chExt cx="528" cy="498"/>
          </a:xfrm>
        </p:grpSpPr>
        <p:grpSp>
          <p:nvGrpSpPr>
            <p:cNvPr id="3" name="Group 6"/>
            <p:cNvGrpSpPr>
              <a:grpSpLocks/>
            </p:cNvGrpSpPr>
            <p:nvPr/>
          </p:nvGrpSpPr>
          <p:grpSpPr bwMode="auto">
            <a:xfrm>
              <a:off x="2544" y="1584"/>
              <a:ext cx="336" cy="288"/>
              <a:chOff x="2544" y="1584"/>
              <a:chExt cx="336" cy="288"/>
            </a:xfrm>
          </p:grpSpPr>
          <p:sp>
            <p:nvSpPr>
              <p:cNvPr id="15420" name="Rectangle 7"/>
              <p:cNvSpPr>
                <a:spLocks noChangeArrowheads="1"/>
              </p:cNvSpPr>
              <p:nvPr/>
            </p:nvSpPr>
            <p:spPr bwMode="auto">
              <a:xfrm>
                <a:off x="2544" y="1584"/>
                <a:ext cx="336" cy="288"/>
              </a:xfrm>
              <a:prstGeom prst="rect">
                <a:avLst/>
              </a:prstGeom>
              <a:solidFill>
                <a:schemeClr val="bg2"/>
              </a:solidFill>
              <a:ln w="9525">
                <a:solidFill>
                  <a:schemeClr val="tx1"/>
                </a:solidFill>
                <a:miter lim="800000"/>
                <a:headEnd/>
                <a:tailEnd/>
              </a:ln>
            </p:spPr>
            <p:txBody>
              <a:bodyPr wrap="none" anchor="ctr"/>
              <a:lstStyle/>
              <a:p>
                <a:endParaRPr lang="en-GB"/>
              </a:p>
            </p:txBody>
          </p:sp>
          <p:sp>
            <p:nvSpPr>
              <p:cNvPr id="15421" name="Rectangle 8"/>
              <p:cNvSpPr>
                <a:spLocks noChangeArrowheads="1"/>
              </p:cNvSpPr>
              <p:nvPr/>
            </p:nvSpPr>
            <p:spPr bwMode="auto">
              <a:xfrm>
                <a:off x="2568" y="1608"/>
                <a:ext cx="288" cy="240"/>
              </a:xfrm>
              <a:prstGeom prst="rect">
                <a:avLst/>
              </a:prstGeom>
              <a:solidFill>
                <a:schemeClr val="folHlink"/>
              </a:solidFill>
              <a:ln w="9525">
                <a:solidFill>
                  <a:schemeClr val="tx1"/>
                </a:solidFill>
                <a:miter lim="800000"/>
                <a:headEnd/>
                <a:tailEnd/>
              </a:ln>
            </p:spPr>
            <p:txBody>
              <a:bodyPr wrap="none" anchor="ctr"/>
              <a:lstStyle/>
              <a:p>
                <a:endParaRPr lang="en-GB"/>
              </a:p>
            </p:txBody>
          </p:sp>
        </p:grpSp>
        <p:grpSp>
          <p:nvGrpSpPr>
            <p:cNvPr id="4" name="Group 9"/>
            <p:cNvGrpSpPr>
              <a:grpSpLocks/>
            </p:cNvGrpSpPr>
            <p:nvPr/>
          </p:nvGrpSpPr>
          <p:grpSpPr bwMode="auto">
            <a:xfrm>
              <a:off x="2448" y="1890"/>
              <a:ext cx="528" cy="192"/>
              <a:chOff x="2448" y="1920"/>
              <a:chExt cx="528" cy="192"/>
            </a:xfrm>
          </p:grpSpPr>
          <p:sp>
            <p:nvSpPr>
              <p:cNvPr id="15413" name="Rectangle 10"/>
              <p:cNvSpPr>
                <a:spLocks noChangeArrowheads="1"/>
              </p:cNvSpPr>
              <p:nvPr/>
            </p:nvSpPr>
            <p:spPr bwMode="auto">
              <a:xfrm>
                <a:off x="2448" y="1920"/>
                <a:ext cx="528" cy="192"/>
              </a:xfrm>
              <a:prstGeom prst="rect">
                <a:avLst/>
              </a:prstGeom>
              <a:solidFill>
                <a:schemeClr val="folHlink"/>
              </a:solidFill>
              <a:ln w="9525">
                <a:solidFill>
                  <a:schemeClr val="tx1"/>
                </a:solidFill>
                <a:miter lim="800000"/>
                <a:headEnd/>
                <a:tailEnd/>
              </a:ln>
            </p:spPr>
            <p:txBody>
              <a:bodyPr wrap="none" anchor="ctr"/>
              <a:lstStyle/>
              <a:p>
                <a:endParaRPr lang="en-GB"/>
              </a:p>
            </p:txBody>
          </p:sp>
          <p:sp>
            <p:nvSpPr>
              <p:cNvPr id="15414" name="Line 11"/>
              <p:cNvSpPr>
                <a:spLocks noChangeShapeType="1"/>
              </p:cNvSpPr>
              <p:nvPr/>
            </p:nvSpPr>
            <p:spPr bwMode="auto">
              <a:xfrm>
                <a:off x="2832" y="1968"/>
                <a:ext cx="96" cy="0"/>
              </a:xfrm>
              <a:prstGeom prst="line">
                <a:avLst/>
              </a:prstGeom>
              <a:noFill/>
              <a:ln w="9525">
                <a:solidFill>
                  <a:schemeClr val="tx1"/>
                </a:solidFill>
                <a:round/>
                <a:headEnd/>
                <a:tailEnd/>
              </a:ln>
            </p:spPr>
            <p:txBody>
              <a:bodyPr/>
              <a:lstStyle/>
              <a:p>
                <a:endParaRPr lang="en-US"/>
              </a:p>
            </p:txBody>
          </p:sp>
          <p:sp>
            <p:nvSpPr>
              <p:cNvPr id="15415" name="Line 12"/>
              <p:cNvSpPr>
                <a:spLocks noChangeShapeType="1"/>
              </p:cNvSpPr>
              <p:nvPr/>
            </p:nvSpPr>
            <p:spPr bwMode="auto">
              <a:xfrm>
                <a:off x="2496" y="1968"/>
                <a:ext cx="0" cy="96"/>
              </a:xfrm>
              <a:prstGeom prst="line">
                <a:avLst/>
              </a:prstGeom>
              <a:noFill/>
              <a:ln w="19050">
                <a:solidFill>
                  <a:schemeClr val="tx1"/>
                </a:solidFill>
                <a:round/>
                <a:headEnd/>
                <a:tailEnd/>
              </a:ln>
            </p:spPr>
            <p:txBody>
              <a:bodyPr/>
              <a:lstStyle/>
              <a:p>
                <a:endParaRPr lang="en-US"/>
              </a:p>
            </p:txBody>
          </p:sp>
          <p:sp>
            <p:nvSpPr>
              <p:cNvPr id="15416" name="Line 13"/>
              <p:cNvSpPr>
                <a:spLocks noChangeShapeType="1"/>
              </p:cNvSpPr>
              <p:nvPr/>
            </p:nvSpPr>
            <p:spPr bwMode="auto">
              <a:xfrm>
                <a:off x="2544" y="1968"/>
                <a:ext cx="0" cy="96"/>
              </a:xfrm>
              <a:prstGeom prst="line">
                <a:avLst/>
              </a:prstGeom>
              <a:noFill/>
              <a:ln w="19050">
                <a:solidFill>
                  <a:schemeClr val="tx1"/>
                </a:solidFill>
                <a:round/>
                <a:headEnd/>
                <a:tailEnd/>
              </a:ln>
            </p:spPr>
            <p:txBody>
              <a:bodyPr/>
              <a:lstStyle/>
              <a:p>
                <a:endParaRPr lang="en-US"/>
              </a:p>
            </p:txBody>
          </p:sp>
          <p:sp>
            <p:nvSpPr>
              <p:cNvPr id="15417" name="Line 14"/>
              <p:cNvSpPr>
                <a:spLocks noChangeShapeType="1"/>
              </p:cNvSpPr>
              <p:nvPr/>
            </p:nvSpPr>
            <p:spPr bwMode="auto">
              <a:xfrm>
                <a:off x="2592" y="1968"/>
                <a:ext cx="0" cy="96"/>
              </a:xfrm>
              <a:prstGeom prst="line">
                <a:avLst/>
              </a:prstGeom>
              <a:noFill/>
              <a:ln w="19050">
                <a:solidFill>
                  <a:schemeClr val="tx1"/>
                </a:solidFill>
                <a:round/>
                <a:headEnd/>
                <a:tailEnd/>
              </a:ln>
            </p:spPr>
            <p:txBody>
              <a:bodyPr/>
              <a:lstStyle/>
              <a:p>
                <a:endParaRPr lang="en-US"/>
              </a:p>
            </p:txBody>
          </p:sp>
          <p:sp>
            <p:nvSpPr>
              <p:cNvPr id="15418" name="Line 15"/>
              <p:cNvSpPr>
                <a:spLocks noChangeShapeType="1"/>
              </p:cNvSpPr>
              <p:nvPr/>
            </p:nvSpPr>
            <p:spPr bwMode="auto">
              <a:xfrm>
                <a:off x="2640" y="1968"/>
                <a:ext cx="0" cy="96"/>
              </a:xfrm>
              <a:prstGeom prst="line">
                <a:avLst/>
              </a:prstGeom>
              <a:noFill/>
              <a:ln w="19050">
                <a:solidFill>
                  <a:schemeClr val="tx1"/>
                </a:solidFill>
                <a:round/>
                <a:headEnd/>
                <a:tailEnd/>
              </a:ln>
            </p:spPr>
            <p:txBody>
              <a:bodyPr/>
              <a:lstStyle/>
              <a:p>
                <a:endParaRPr lang="en-US"/>
              </a:p>
            </p:txBody>
          </p:sp>
          <p:sp>
            <p:nvSpPr>
              <p:cNvPr id="15419" name="Line 16"/>
              <p:cNvSpPr>
                <a:spLocks noChangeShapeType="1"/>
              </p:cNvSpPr>
              <p:nvPr/>
            </p:nvSpPr>
            <p:spPr bwMode="auto">
              <a:xfrm>
                <a:off x="2688" y="1968"/>
                <a:ext cx="0" cy="96"/>
              </a:xfrm>
              <a:prstGeom prst="line">
                <a:avLst/>
              </a:prstGeom>
              <a:noFill/>
              <a:ln w="19050">
                <a:solidFill>
                  <a:schemeClr val="tx1"/>
                </a:solidFill>
                <a:round/>
                <a:headEnd/>
                <a:tailEnd/>
              </a:ln>
            </p:spPr>
            <p:txBody>
              <a:bodyPr/>
              <a:lstStyle/>
              <a:p>
                <a:endParaRPr lang="en-US"/>
              </a:p>
            </p:txBody>
          </p:sp>
        </p:grpSp>
      </p:grpSp>
      <p:grpSp>
        <p:nvGrpSpPr>
          <p:cNvPr id="5" name="Group 17"/>
          <p:cNvGrpSpPr>
            <a:grpSpLocks/>
          </p:cNvGrpSpPr>
          <p:nvPr/>
        </p:nvGrpSpPr>
        <p:grpSpPr bwMode="auto">
          <a:xfrm>
            <a:off x="1716087" y="5035262"/>
            <a:ext cx="838200" cy="790575"/>
            <a:chOff x="1032" y="3029"/>
            <a:chExt cx="528" cy="498"/>
          </a:xfrm>
        </p:grpSpPr>
        <p:grpSp>
          <p:nvGrpSpPr>
            <p:cNvPr id="6" name="Group 18"/>
            <p:cNvGrpSpPr>
              <a:grpSpLocks/>
            </p:cNvGrpSpPr>
            <p:nvPr/>
          </p:nvGrpSpPr>
          <p:grpSpPr bwMode="auto">
            <a:xfrm>
              <a:off x="1128" y="3029"/>
              <a:ext cx="336" cy="288"/>
              <a:chOff x="2544" y="1584"/>
              <a:chExt cx="336" cy="288"/>
            </a:xfrm>
          </p:grpSpPr>
          <p:sp>
            <p:nvSpPr>
              <p:cNvPr id="15409" name="Rectangle 19"/>
              <p:cNvSpPr>
                <a:spLocks noChangeArrowheads="1"/>
              </p:cNvSpPr>
              <p:nvPr/>
            </p:nvSpPr>
            <p:spPr bwMode="auto">
              <a:xfrm>
                <a:off x="2544" y="1584"/>
                <a:ext cx="336" cy="288"/>
              </a:xfrm>
              <a:prstGeom prst="rect">
                <a:avLst/>
              </a:prstGeom>
              <a:solidFill>
                <a:schemeClr val="bg2"/>
              </a:solidFill>
              <a:ln w="9525">
                <a:solidFill>
                  <a:schemeClr val="tx1"/>
                </a:solidFill>
                <a:miter lim="800000"/>
                <a:headEnd/>
                <a:tailEnd/>
              </a:ln>
            </p:spPr>
            <p:txBody>
              <a:bodyPr wrap="none" anchor="ctr"/>
              <a:lstStyle/>
              <a:p>
                <a:endParaRPr lang="en-GB"/>
              </a:p>
            </p:txBody>
          </p:sp>
          <p:sp>
            <p:nvSpPr>
              <p:cNvPr id="15410" name="Rectangle 20"/>
              <p:cNvSpPr>
                <a:spLocks noChangeArrowheads="1"/>
              </p:cNvSpPr>
              <p:nvPr/>
            </p:nvSpPr>
            <p:spPr bwMode="auto">
              <a:xfrm>
                <a:off x="2568" y="1608"/>
                <a:ext cx="288" cy="240"/>
              </a:xfrm>
              <a:prstGeom prst="rect">
                <a:avLst/>
              </a:prstGeom>
              <a:solidFill>
                <a:schemeClr val="folHlink"/>
              </a:solidFill>
              <a:ln w="9525">
                <a:solidFill>
                  <a:schemeClr val="tx1"/>
                </a:solidFill>
                <a:miter lim="800000"/>
                <a:headEnd/>
                <a:tailEnd/>
              </a:ln>
            </p:spPr>
            <p:txBody>
              <a:bodyPr wrap="none" anchor="ctr"/>
              <a:lstStyle/>
              <a:p>
                <a:endParaRPr lang="en-GB"/>
              </a:p>
            </p:txBody>
          </p:sp>
        </p:grpSp>
        <p:grpSp>
          <p:nvGrpSpPr>
            <p:cNvPr id="7" name="Group 21"/>
            <p:cNvGrpSpPr>
              <a:grpSpLocks/>
            </p:cNvGrpSpPr>
            <p:nvPr/>
          </p:nvGrpSpPr>
          <p:grpSpPr bwMode="auto">
            <a:xfrm>
              <a:off x="1032" y="3335"/>
              <a:ext cx="528" cy="192"/>
              <a:chOff x="2448" y="1920"/>
              <a:chExt cx="528" cy="192"/>
            </a:xfrm>
          </p:grpSpPr>
          <p:sp>
            <p:nvSpPr>
              <p:cNvPr id="15402" name="Rectangle 22"/>
              <p:cNvSpPr>
                <a:spLocks noChangeArrowheads="1"/>
              </p:cNvSpPr>
              <p:nvPr/>
            </p:nvSpPr>
            <p:spPr bwMode="auto">
              <a:xfrm>
                <a:off x="2448" y="1920"/>
                <a:ext cx="528" cy="192"/>
              </a:xfrm>
              <a:prstGeom prst="rect">
                <a:avLst/>
              </a:prstGeom>
              <a:solidFill>
                <a:schemeClr val="folHlink"/>
              </a:solidFill>
              <a:ln w="9525">
                <a:solidFill>
                  <a:schemeClr val="tx1"/>
                </a:solidFill>
                <a:miter lim="800000"/>
                <a:headEnd/>
                <a:tailEnd/>
              </a:ln>
            </p:spPr>
            <p:txBody>
              <a:bodyPr wrap="none" anchor="ctr"/>
              <a:lstStyle/>
              <a:p>
                <a:endParaRPr lang="en-GB"/>
              </a:p>
            </p:txBody>
          </p:sp>
          <p:sp>
            <p:nvSpPr>
              <p:cNvPr id="15403" name="Line 23"/>
              <p:cNvSpPr>
                <a:spLocks noChangeShapeType="1"/>
              </p:cNvSpPr>
              <p:nvPr/>
            </p:nvSpPr>
            <p:spPr bwMode="auto">
              <a:xfrm>
                <a:off x="2832" y="1968"/>
                <a:ext cx="96" cy="0"/>
              </a:xfrm>
              <a:prstGeom prst="line">
                <a:avLst/>
              </a:prstGeom>
              <a:noFill/>
              <a:ln w="9525">
                <a:solidFill>
                  <a:schemeClr val="tx1"/>
                </a:solidFill>
                <a:round/>
                <a:headEnd/>
                <a:tailEnd/>
              </a:ln>
            </p:spPr>
            <p:txBody>
              <a:bodyPr/>
              <a:lstStyle/>
              <a:p>
                <a:endParaRPr lang="en-US"/>
              </a:p>
            </p:txBody>
          </p:sp>
          <p:sp>
            <p:nvSpPr>
              <p:cNvPr id="15404" name="Line 24"/>
              <p:cNvSpPr>
                <a:spLocks noChangeShapeType="1"/>
              </p:cNvSpPr>
              <p:nvPr/>
            </p:nvSpPr>
            <p:spPr bwMode="auto">
              <a:xfrm>
                <a:off x="2496" y="1968"/>
                <a:ext cx="0" cy="96"/>
              </a:xfrm>
              <a:prstGeom prst="line">
                <a:avLst/>
              </a:prstGeom>
              <a:noFill/>
              <a:ln w="19050">
                <a:solidFill>
                  <a:schemeClr val="tx1"/>
                </a:solidFill>
                <a:round/>
                <a:headEnd/>
                <a:tailEnd/>
              </a:ln>
            </p:spPr>
            <p:txBody>
              <a:bodyPr/>
              <a:lstStyle/>
              <a:p>
                <a:endParaRPr lang="en-US"/>
              </a:p>
            </p:txBody>
          </p:sp>
          <p:sp>
            <p:nvSpPr>
              <p:cNvPr id="15405" name="Line 25"/>
              <p:cNvSpPr>
                <a:spLocks noChangeShapeType="1"/>
              </p:cNvSpPr>
              <p:nvPr/>
            </p:nvSpPr>
            <p:spPr bwMode="auto">
              <a:xfrm>
                <a:off x="2544" y="1968"/>
                <a:ext cx="0" cy="96"/>
              </a:xfrm>
              <a:prstGeom prst="line">
                <a:avLst/>
              </a:prstGeom>
              <a:noFill/>
              <a:ln w="19050">
                <a:solidFill>
                  <a:schemeClr val="tx1"/>
                </a:solidFill>
                <a:round/>
                <a:headEnd/>
                <a:tailEnd/>
              </a:ln>
            </p:spPr>
            <p:txBody>
              <a:bodyPr/>
              <a:lstStyle/>
              <a:p>
                <a:endParaRPr lang="en-US"/>
              </a:p>
            </p:txBody>
          </p:sp>
          <p:sp>
            <p:nvSpPr>
              <p:cNvPr id="15406" name="Line 26"/>
              <p:cNvSpPr>
                <a:spLocks noChangeShapeType="1"/>
              </p:cNvSpPr>
              <p:nvPr/>
            </p:nvSpPr>
            <p:spPr bwMode="auto">
              <a:xfrm>
                <a:off x="2592" y="1968"/>
                <a:ext cx="0" cy="96"/>
              </a:xfrm>
              <a:prstGeom prst="line">
                <a:avLst/>
              </a:prstGeom>
              <a:noFill/>
              <a:ln w="19050">
                <a:solidFill>
                  <a:schemeClr val="tx1"/>
                </a:solidFill>
                <a:round/>
                <a:headEnd/>
                <a:tailEnd/>
              </a:ln>
            </p:spPr>
            <p:txBody>
              <a:bodyPr/>
              <a:lstStyle/>
              <a:p>
                <a:endParaRPr lang="en-US"/>
              </a:p>
            </p:txBody>
          </p:sp>
          <p:sp>
            <p:nvSpPr>
              <p:cNvPr id="15407" name="Line 27"/>
              <p:cNvSpPr>
                <a:spLocks noChangeShapeType="1"/>
              </p:cNvSpPr>
              <p:nvPr/>
            </p:nvSpPr>
            <p:spPr bwMode="auto">
              <a:xfrm>
                <a:off x="2640" y="1968"/>
                <a:ext cx="0" cy="96"/>
              </a:xfrm>
              <a:prstGeom prst="line">
                <a:avLst/>
              </a:prstGeom>
              <a:noFill/>
              <a:ln w="19050">
                <a:solidFill>
                  <a:schemeClr val="tx1"/>
                </a:solidFill>
                <a:round/>
                <a:headEnd/>
                <a:tailEnd/>
              </a:ln>
            </p:spPr>
            <p:txBody>
              <a:bodyPr/>
              <a:lstStyle/>
              <a:p>
                <a:endParaRPr lang="en-US"/>
              </a:p>
            </p:txBody>
          </p:sp>
          <p:sp>
            <p:nvSpPr>
              <p:cNvPr id="15408" name="Line 28"/>
              <p:cNvSpPr>
                <a:spLocks noChangeShapeType="1"/>
              </p:cNvSpPr>
              <p:nvPr/>
            </p:nvSpPr>
            <p:spPr bwMode="auto">
              <a:xfrm>
                <a:off x="2688" y="1968"/>
                <a:ext cx="0" cy="96"/>
              </a:xfrm>
              <a:prstGeom prst="line">
                <a:avLst/>
              </a:prstGeom>
              <a:noFill/>
              <a:ln w="19050">
                <a:solidFill>
                  <a:schemeClr val="tx1"/>
                </a:solidFill>
                <a:round/>
                <a:headEnd/>
                <a:tailEnd/>
              </a:ln>
            </p:spPr>
            <p:txBody>
              <a:bodyPr/>
              <a:lstStyle/>
              <a:p>
                <a:endParaRPr lang="en-US"/>
              </a:p>
            </p:txBody>
          </p:sp>
        </p:grpSp>
      </p:grpSp>
      <p:grpSp>
        <p:nvGrpSpPr>
          <p:cNvPr id="8" name="Group 29"/>
          <p:cNvGrpSpPr>
            <a:grpSpLocks/>
          </p:cNvGrpSpPr>
          <p:nvPr/>
        </p:nvGrpSpPr>
        <p:grpSpPr bwMode="auto">
          <a:xfrm>
            <a:off x="2774950" y="5022562"/>
            <a:ext cx="838200" cy="790575"/>
            <a:chOff x="2448" y="1584"/>
            <a:chExt cx="528" cy="498"/>
          </a:xfrm>
        </p:grpSpPr>
        <p:grpSp>
          <p:nvGrpSpPr>
            <p:cNvPr id="9" name="Group 30"/>
            <p:cNvGrpSpPr>
              <a:grpSpLocks/>
            </p:cNvGrpSpPr>
            <p:nvPr/>
          </p:nvGrpSpPr>
          <p:grpSpPr bwMode="auto">
            <a:xfrm>
              <a:off x="2544" y="1584"/>
              <a:ext cx="336" cy="288"/>
              <a:chOff x="2544" y="1584"/>
              <a:chExt cx="336" cy="288"/>
            </a:xfrm>
          </p:grpSpPr>
          <p:sp>
            <p:nvSpPr>
              <p:cNvPr id="15398" name="Rectangle 31"/>
              <p:cNvSpPr>
                <a:spLocks noChangeArrowheads="1"/>
              </p:cNvSpPr>
              <p:nvPr/>
            </p:nvSpPr>
            <p:spPr bwMode="auto">
              <a:xfrm>
                <a:off x="2544" y="1584"/>
                <a:ext cx="336" cy="288"/>
              </a:xfrm>
              <a:prstGeom prst="rect">
                <a:avLst/>
              </a:prstGeom>
              <a:solidFill>
                <a:schemeClr val="bg2"/>
              </a:solidFill>
              <a:ln w="9525">
                <a:solidFill>
                  <a:schemeClr val="tx1"/>
                </a:solidFill>
                <a:miter lim="800000"/>
                <a:headEnd/>
                <a:tailEnd/>
              </a:ln>
            </p:spPr>
            <p:txBody>
              <a:bodyPr wrap="none" anchor="ctr"/>
              <a:lstStyle/>
              <a:p>
                <a:endParaRPr lang="en-GB"/>
              </a:p>
            </p:txBody>
          </p:sp>
          <p:sp>
            <p:nvSpPr>
              <p:cNvPr id="15399" name="Rectangle 32"/>
              <p:cNvSpPr>
                <a:spLocks noChangeArrowheads="1"/>
              </p:cNvSpPr>
              <p:nvPr/>
            </p:nvSpPr>
            <p:spPr bwMode="auto">
              <a:xfrm>
                <a:off x="2568" y="1608"/>
                <a:ext cx="288" cy="240"/>
              </a:xfrm>
              <a:prstGeom prst="rect">
                <a:avLst/>
              </a:prstGeom>
              <a:solidFill>
                <a:schemeClr val="folHlink"/>
              </a:solidFill>
              <a:ln w="9525">
                <a:solidFill>
                  <a:schemeClr val="tx1"/>
                </a:solidFill>
                <a:miter lim="800000"/>
                <a:headEnd/>
                <a:tailEnd/>
              </a:ln>
            </p:spPr>
            <p:txBody>
              <a:bodyPr wrap="none" anchor="ctr"/>
              <a:lstStyle/>
              <a:p>
                <a:endParaRPr lang="en-GB"/>
              </a:p>
            </p:txBody>
          </p:sp>
        </p:grpSp>
        <p:grpSp>
          <p:nvGrpSpPr>
            <p:cNvPr id="10" name="Group 33"/>
            <p:cNvGrpSpPr>
              <a:grpSpLocks/>
            </p:cNvGrpSpPr>
            <p:nvPr/>
          </p:nvGrpSpPr>
          <p:grpSpPr bwMode="auto">
            <a:xfrm>
              <a:off x="2448" y="1890"/>
              <a:ext cx="528" cy="192"/>
              <a:chOff x="2448" y="1920"/>
              <a:chExt cx="528" cy="192"/>
            </a:xfrm>
          </p:grpSpPr>
          <p:sp>
            <p:nvSpPr>
              <p:cNvPr id="15391" name="Rectangle 34"/>
              <p:cNvSpPr>
                <a:spLocks noChangeArrowheads="1"/>
              </p:cNvSpPr>
              <p:nvPr/>
            </p:nvSpPr>
            <p:spPr bwMode="auto">
              <a:xfrm>
                <a:off x="2448" y="1920"/>
                <a:ext cx="528" cy="192"/>
              </a:xfrm>
              <a:prstGeom prst="rect">
                <a:avLst/>
              </a:prstGeom>
              <a:solidFill>
                <a:schemeClr val="folHlink"/>
              </a:solidFill>
              <a:ln w="9525">
                <a:solidFill>
                  <a:schemeClr val="tx1"/>
                </a:solidFill>
                <a:miter lim="800000"/>
                <a:headEnd/>
                <a:tailEnd/>
              </a:ln>
            </p:spPr>
            <p:txBody>
              <a:bodyPr wrap="none" anchor="ctr"/>
              <a:lstStyle/>
              <a:p>
                <a:endParaRPr lang="en-GB"/>
              </a:p>
            </p:txBody>
          </p:sp>
          <p:sp>
            <p:nvSpPr>
              <p:cNvPr id="15392" name="Line 35"/>
              <p:cNvSpPr>
                <a:spLocks noChangeShapeType="1"/>
              </p:cNvSpPr>
              <p:nvPr/>
            </p:nvSpPr>
            <p:spPr bwMode="auto">
              <a:xfrm>
                <a:off x="2832" y="1968"/>
                <a:ext cx="96" cy="0"/>
              </a:xfrm>
              <a:prstGeom prst="line">
                <a:avLst/>
              </a:prstGeom>
              <a:noFill/>
              <a:ln w="9525">
                <a:solidFill>
                  <a:schemeClr val="tx1"/>
                </a:solidFill>
                <a:round/>
                <a:headEnd/>
                <a:tailEnd/>
              </a:ln>
            </p:spPr>
            <p:txBody>
              <a:bodyPr/>
              <a:lstStyle/>
              <a:p>
                <a:endParaRPr lang="en-US"/>
              </a:p>
            </p:txBody>
          </p:sp>
          <p:sp>
            <p:nvSpPr>
              <p:cNvPr id="15393" name="Line 36"/>
              <p:cNvSpPr>
                <a:spLocks noChangeShapeType="1"/>
              </p:cNvSpPr>
              <p:nvPr/>
            </p:nvSpPr>
            <p:spPr bwMode="auto">
              <a:xfrm>
                <a:off x="2496" y="1968"/>
                <a:ext cx="0" cy="96"/>
              </a:xfrm>
              <a:prstGeom prst="line">
                <a:avLst/>
              </a:prstGeom>
              <a:noFill/>
              <a:ln w="19050">
                <a:solidFill>
                  <a:schemeClr val="tx1"/>
                </a:solidFill>
                <a:round/>
                <a:headEnd/>
                <a:tailEnd/>
              </a:ln>
            </p:spPr>
            <p:txBody>
              <a:bodyPr/>
              <a:lstStyle/>
              <a:p>
                <a:endParaRPr lang="en-US"/>
              </a:p>
            </p:txBody>
          </p:sp>
          <p:sp>
            <p:nvSpPr>
              <p:cNvPr id="15394" name="Line 37"/>
              <p:cNvSpPr>
                <a:spLocks noChangeShapeType="1"/>
              </p:cNvSpPr>
              <p:nvPr/>
            </p:nvSpPr>
            <p:spPr bwMode="auto">
              <a:xfrm>
                <a:off x="2544" y="1968"/>
                <a:ext cx="0" cy="96"/>
              </a:xfrm>
              <a:prstGeom prst="line">
                <a:avLst/>
              </a:prstGeom>
              <a:noFill/>
              <a:ln w="19050">
                <a:solidFill>
                  <a:schemeClr val="tx1"/>
                </a:solidFill>
                <a:round/>
                <a:headEnd/>
                <a:tailEnd/>
              </a:ln>
            </p:spPr>
            <p:txBody>
              <a:bodyPr/>
              <a:lstStyle/>
              <a:p>
                <a:endParaRPr lang="en-US"/>
              </a:p>
            </p:txBody>
          </p:sp>
          <p:sp>
            <p:nvSpPr>
              <p:cNvPr id="15395" name="Line 38"/>
              <p:cNvSpPr>
                <a:spLocks noChangeShapeType="1"/>
              </p:cNvSpPr>
              <p:nvPr/>
            </p:nvSpPr>
            <p:spPr bwMode="auto">
              <a:xfrm>
                <a:off x="2592" y="1968"/>
                <a:ext cx="0" cy="96"/>
              </a:xfrm>
              <a:prstGeom prst="line">
                <a:avLst/>
              </a:prstGeom>
              <a:noFill/>
              <a:ln w="19050">
                <a:solidFill>
                  <a:schemeClr val="tx1"/>
                </a:solidFill>
                <a:round/>
                <a:headEnd/>
                <a:tailEnd/>
              </a:ln>
            </p:spPr>
            <p:txBody>
              <a:bodyPr/>
              <a:lstStyle/>
              <a:p>
                <a:endParaRPr lang="en-US"/>
              </a:p>
            </p:txBody>
          </p:sp>
          <p:sp>
            <p:nvSpPr>
              <p:cNvPr id="15396" name="Line 39"/>
              <p:cNvSpPr>
                <a:spLocks noChangeShapeType="1"/>
              </p:cNvSpPr>
              <p:nvPr/>
            </p:nvSpPr>
            <p:spPr bwMode="auto">
              <a:xfrm>
                <a:off x="2640" y="1968"/>
                <a:ext cx="0" cy="96"/>
              </a:xfrm>
              <a:prstGeom prst="line">
                <a:avLst/>
              </a:prstGeom>
              <a:noFill/>
              <a:ln w="19050">
                <a:solidFill>
                  <a:schemeClr val="tx1"/>
                </a:solidFill>
                <a:round/>
                <a:headEnd/>
                <a:tailEnd/>
              </a:ln>
            </p:spPr>
            <p:txBody>
              <a:bodyPr/>
              <a:lstStyle/>
              <a:p>
                <a:endParaRPr lang="en-US"/>
              </a:p>
            </p:txBody>
          </p:sp>
          <p:sp>
            <p:nvSpPr>
              <p:cNvPr id="15397" name="Line 40"/>
              <p:cNvSpPr>
                <a:spLocks noChangeShapeType="1"/>
              </p:cNvSpPr>
              <p:nvPr/>
            </p:nvSpPr>
            <p:spPr bwMode="auto">
              <a:xfrm>
                <a:off x="2688" y="1968"/>
                <a:ext cx="0" cy="96"/>
              </a:xfrm>
              <a:prstGeom prst="line">
                <a:avLst/>
              </a:prstGeom>
              <a:noFill/>
              <a:ln w="19050">
                <a:solidFill>
                  <a:schemeClr val="tx1"/>
                </a:solidFill>
                <a:round/>
                <a:headEnd/>
                <a:tailEnd/>
              </a:ln>
            </p:spPr>
            <p:txBody>
              <a:bodyPr/>
              <a:lstStyle/>
              <a:p>
                <a:endParaRPr lang="en-US"/>
              </a:p>
            </p:txBody>
          </p:sp>
        </p:grpSp>
      </p:grpSp>
      <p:sp>
        <p:nvSpPr>
          <p:cNvPr id="15367" name="Line 41"/>
          <p:cNvSpPr>
            <a:spLocks noChangeShapeType="1"/>
          </p:cNvSpPr>
          <p:nvPr/>
        </p:nvSpPr>
        <p:spPr bwMode="auto">
          <a:xfrm rot="5400000" flipV="1">
            <a:off x="2135187" y="3239799"/>
            <a:ext cx="0" cy="3048000"/>
          </a:xfrm>
          <a:prstGeom prst="line">
            <a:avLst/>
          </a:prstGeom>
          <a:noFill/>
          <a:ln w="19050">
            <a:solidFill>
              <a:schemeClr val="tx1"/>
            </a:solidFill>
            <a:round/>
            <a:headEnd/>
            <a:tailEnd/>
          </a:ln>
        </p:spPr>
        <p:txBody>
          <a:bodyPr/>
          <a:lstStyle/>
          <a:p>
            <a:endParaRPr lang="en-US"/>
          </a:p>
        </p:txBody>
      </p:sp>
      <p:sp>
        <p:nvSpPr>
          <p:cNvPr id="15368" name="Line 42"/>
          <p:cNvSpPr>
            <a:spLocks noChangeShapeType="1"/>
          </p:cNvSpPr>
          <p:nvPr/>
        </p:nvSpPr>
        <p:spPr bwMode="auto">
          <a:xfrm rot="5400000" flipV="1">
            <a:off x="1982787" y="4916199"/>
            <a:ext cx="304800" cy="0"/>
          </a:xfrm>
          <a:prstGeom prst="line">
            <a:avLst/>
          </a:prstGeom>
          <a:noFill/>
          <a:ln w="19050">
            <a:solidFill>
              <a:schemeClr val="tx1"/>
            </a:solidFill>
            <a:round/>
            <a:headEnd/>
            <a:tailEnd/>
          </a:ln>
        </p:spPr>
        <p:txBody>
          <a:bodyPr/>
          <a:lstStyle/>
          <a:p>
            <a:endParaRPr lang="en-US"/>
          </a:p>
        </p:txBody>
      </p:sp>
      <p:sp>
        <p:nvSpPr>
          <p:cNvPr id="15369" name="Line 43"/>
          <p:cNvSpPr>
            <a:spLocks noChangeShapeType="1"/>
          </p:cNvSpPr>
          <p:nvPr/>
        </p:nvSpPr>
        <p:spPr bwMode="auto">
          <a:xfrm rot="5400000" flipV="1">
            <a:off x="3030537" y="4916199"/>
            <a:ext cx="304800" cy="0"/>
          </a:xfrm>
          <a:prstGeom prst="line">
            <a:avLst/>
          </a:prstGeom>
          <a:noFill/>
          <a:ln w="19050">
            <a:solidFill>
              <a:schemeClr val="tx1"/>
            </a:solidFill>
            <a:round/>
            <a:headEnd/>
            <a:tailEnd/>
          </a:ln>
        </p:spPr>
        <p:txBody>
          <a:bodyPr/>
          <a:lstStyle/>
          <a:p>
            <a:endParaRPr lang="en-US"/>
          </a:p>
        </p:txBody>
      </p:sp>
      <p:sp>
        <p:nvSpPr>
          <p:cNvPr id="15370" name="Line 44"/>
          <p:cNvSpPr>
            <a:spLocks noChangeShapeType="1"/>
          </p:cNvSpPr>
          <p:nvPr/>
        </p:nvSpPr>
        <p:spPr bwMode="auto">
          <a:xfrm rot="5400000" flipV="1">
            <a:off x="1481137" y="4597112"/>
            <a:ext cx="304800" cy="0"/>
          </a:xfrm>
          <a:prstGeom prst="line">
            <a:avLst/>
          </a:prstGeom>
          <a:noFill/>
          <a:ln w="19050">
            <a:solidFill>
              <a:schemeClr val="tx1"/>
            </a:solidFill>
            <a:round/>
            <a:headEnd/>
            <a:tailEnd/>
          </a:ln>
        </p:spPr>
        <p:txBody>
          <a:bodyPr/>
          <a:lstStyle/>
          <a:p>
            <a:endParaRPr lang="en-US"/>
          </a:p>
        </p:txBody>
      </p:sp>
      <p:sp>
        <p:nvSpPr>
          <p:cNvPr id="15371" name="AutoShape 45"/>
          <p:cNvSpPr>
            <a:spLocks noChangeArrowheads="1"/>
          </p:cNvSpPr>
          <p:nvPr/>
        </p:nvSpPr>
        <p:spPr bwMode="auto">
          <a:xfrm>
            <a:off x="725487" y="3292187"/>
            <a:ext cx="2705100" cy="1143000"/>
          </a:xfrm>
          <a:prstGeom prst="roundRect">
            <a:avLst>
              <a:gd name="adj" fmla="val 16667"/>
            </a:avLst>
          </a:prstGeom>
          <a:solidFill>
            <a:srgbClr val="FFFFCC"/>
          </a:solidFill>
          <a:ln w="9525">
            <a:solidFill>
              <a:schemeClr val="tx1"/>
            </a:solidFill>
            <a:round/>
            <a:headEnd/>
            <a:tailEnd/>
          </a:ln>
        </p:spPr>
        <p:txBody>
          <a:bodyPr wrap="none" anchor="ctr"/>
          <a:lstStyle/>
          <a:p>
            <a:endParaRPr lang="en-GB"/>
          </a:p>
        </p:txBody>
      </p:sp>
      <p:sp>
        <p:nvSpPr>
          <p:cNvPr id="15372" name="Text Box 46"/>
          <p:cNvSpPr txBox="1">
            <a:spLocks noChangeArrowheads="1"/>
          </p:cNvSpPr>
          <p:nvPr/>
        </p:nvSpPr>
        <p:spPr bwMode="auto">
          <a:xfrm>
            <a:off x="2058987" y="3579524"/>
            <a:ext cx="1295400" cy="641350"/>
          </a:xfrm>
          <a:prstGeom prst="rect">
            <a:avLst/>
          </a:prstGeom>
          <a:noFill/>
          <a:ln w="9525">
            <a:noFill/>
            <a:miter lim="800000"/>
            <a:headEnd/>
            <a:tailEnd/>
          </a:ln>
        </p:spPr>
        <p:txBody>
          <a:bodyPr>
            <a:spAutoFit/>
          </a:bodyPr>
          <a:lstStyle/>
          <a:p>
            <a:pPr>
              <a:lnSpc>
                <a:spcPct val="100000"/>
              </a:lnSpc>
              <a:spcBef>
                <a:spcPct val="0"/>
              </a:spcBef>
            </a:pPr>
            <a:r>
              <a:rPr lang="en-GB" sz="1800" b="1" dirty="0">
                <a:solidFill>
                  <a:srgbClr val="0000FF"/>
                </a:solidFill>
              </a:rPr>
              <a:t>Screening</a:t>
            </a:r>
          </a:p>
          <a:p>
            <a:pPr>
              <a:lnSpc>
                <a:spcPct val="100000"/>
              </a:lnSpc>
              <a:spcBef>
                <a:spcPct val="0"/>
              </a:spcBef>
            </a:pPr>
            <a:r>
              <a:rPr lang="en-GB" sz="1800" b="1" dirty="0">
                <a:solidFill>
                  <a:srgbClr val="0000FF"/>
                </a:solidFill>
              </a:rPr>
              <a:t>Router</a:t>
            </a:r>
          </a:p>
        </p:txBody>
      </p:sp>
      <p:sp>
        <p:nvSpPr>
          <p:cNvPr id="15373" name="Line 47"/>
          <p:cNvSpPr>
            <a:spLocks noChangeShapeType="1"/>
          </p:cNvSpPr>
          <p:nvPr/>
        </p:nvSpPr>
        <p:spPr bwMode="auto">
          <a:xfrm rot="5400000">
            <a:off x="1450975" y="3154074"/>
            <a:ext cx="304800" cy="0"/>
          </a:xfrm>
          <a:prstGeom prst="line">
            <a:avLst/>
          </a:prstGeom>
          <a:noFill/>
          <a:ln w="19050">
            <a:solidFill>
              <a:schemeClr val="tx1"/>
            </a:solidFill>
            <a:round/>
            <a:headEnd/>
            <a:tailEnd/>
          </a:ln>
        </p:spPr>
        <p:txBody>
          <a:bodyPr/>
          <a:lstStyle/>
          <a:p>
            <a:endParaRPr lang="en-US"/>
          </a:p>
        </p:txBody>
      </p:sp>
      <p:sp>
        <p:nvSpPr>
          <p:cNvPr id="15374" name="Text Box 48"/>
          <p:cNvSpPr txBox="1">
            <a:spLocks noChangeArrowheads="1"/>
          </p:cNvSpPr>
          <p:nvPr/>
        </p:nvSpPr>
        <p:spPr bwMode="auto">
          <a:xfrm>
            <a:off x="1982787" y="2869912"/>
            <a:ext cx="1043876" cy="369332"/>
          </a:xfrm>
          <a:prstGeom prst="rect">
            <a:avLst/>
          </a:prstGeom>
          <a:noFill/>
          <a:ln w="9525">
            <a:noFill/>
            <a:miter lim="800000"/>
            <a:headEnd/>
            <a:tailEnd/>
          </a:ln>
        </p:spPr>
        <p:txBody>
          <a:bodyPr wrap="none">
            <a:spAutoFit/>
          </a:bodyPr>
          <a:lstStyle/>
          <a:p>
            <a:pPr algn="l">
              <a:lnSpc>
                <a:spcPct val="100000"/>
              </a:lnSpc>
              <a:spcBef>
                <a:spcPct val="0"/>
              </a:spcBef>
            </a:pPr>
            <a:r>
              <a:rPr lang="en-GB" sz="1800" b="1" dirty="0">
                <a:solidFill>
                  <a:srgbClr val="0000FF"/>
                </a:solidFill>
              </a:rPr>
              <a:t>Firewall</a:t>
            </a:r>
          </a:p>
        </p:txBody>
      </p:sp>
      <p:grpSp>
        <p:nvGrpSpPr>
          <p:cNvPr id="11" name="Group 49"/>
          <p:cNvGrpSpPr>
            <a:grpSpLocks/>
          </p:cNvGrpSpPr>
          <p:nvPr/>
        </p:nvGrpSpPr>
        <p:grpSpPr bwMode="auto">
          <a:xfrm>
            <a:off x="1144587" y="3731924"/>
            <a:ext cx="838200" cy="304800"/>
            <a:chOff x="672" y="2208"/>
            <a:chExt cx="528" cy="192"/>
          </a:xfrm>
        </p:grpSpPr>
        <p:sp>
          <p:nvSpPr>
            <p:cNvPr id="15379" name="AutoShape 50"/>
            <p:cNvSpPr>
              <a:spLocks noChangeArrowheads="1"/>
            </p:cNvSpPr>
            <p:nvPr/>
          </p:nvSpPr>
          <p:spPr bwMode="auto">
            <a:xfrm>
              <a:off x="672" y="2208"/>
              <a:ext cx="528" cy="192"/>
            </a:xfrm>
            <a:prstGeom prst="roundRect">
              <a:avLst>
                <a:gd name="adj" fmla="val 16667"/>
              </a:avLst>
            </a:prstGeom>
            <a:solidFill>
              <a:schemeClr val="bg2"/>
            </a:solidFill>
            <a:ln w="9525">
              <a:solidFill>
                <a:schemeClr val="tx1"/>
              </a:solidFill>
              <a:round/>
              <a:headEnd/>
              <a:tailEnd/>
            </a:ln>
          </p:spPr>
          <p:txBody>
            <a:bodyPr wrap="none" anchor="ctr"/>
            <a:lstStyle/>
            <a:p>
              <a:endParaRPr lang="en-GB"/>
            </a:p>
          </p:txBody>
        </p:sp>
        <p:sp>
          <p:nvSpPr>
            <p:cNvPr id="15380" name="Line 51"/>
            <p:cNvSpPr>
              <a:spLocks noChangeShapeType="1"/>
            </p:cNvSpPr>
            <p:nvPr/>
          </p:nvSpPr>
          <p:spPr bwMode="auto">
            <a:xfrm>
              <a:off x="720" y="2256"/>
              <a:ext cx="0" cy="96"/>
            </a:xfrm>
            <a:prstGeom prst="line">
              <a:avLst/>
            </a:prstGeom>
            <a:noFill/>
            <a:ln w="19050">
              <a:solidFill>
                <a:schemeClr val="tx1"/>
              </a:solidFill>
              <a:round/>
              <a:headEnd/>
              <a:tailEnd/>
            </a:ln>
          </p:spPr>
          <p:txBody>
            <a:bodyPr/>
            <a:lstStyle/>
            <a:p>
              <a:endParaRPr lang="en-US"/>
            </a:p>
          </p:txBody>
        </p:sp>
        <p:sp>
          <p:nvSpPr>
            <p:cNvPr id="15381" name="Line 52"/>
            <p:cNvSpPr>
              <a:spLocks noChangeShapeType="1"/>
            </p:cNvSpPr>
            <p:nvPr/>
          </p:nvSpPr>
          <p:spPr bwMode="auto">
            <a:xfrm>
              <a:off x="768" y="2256"/>
              <a:ext cx="0" cy="96"/>
            </a:xfrm>
            <a:prstGeom prst="line">
              <a:avLst/>
            </a:prstGeom>
            <a:noFill/>
            <a:ln w="19050">
              <a:solidFill>
                <a:schemeClr val="tx1"/>
              </a:solidFill>
              <a:round/>
              <a:headEnd/>
              <a:tailEnd/>
            </a:ln>
          </p:spPr>
          <p:txBody>
            <a:bodyPr/>
            <a:lstStyle/>
            <a:p>
              <a:endParaRPr lang="en-US"/>
            </a:p>
          </p:txBody>
        </p:sp>
        <p:sp>
          <p:nvSpPr>
            <p:cNvPr id="15382" name="Line 53"/>
            <p:cNvSpPr>
              <a:spLocks noChangeShapeType="1"/>
            </p:cNvSpPr>
            <p:nvPr/>
          </p:nvSpPr>
          <p:spPr bwMode="auto">
            <a:xfrm>
              <a:off x="816" y="2256"/>
              <a:ext cx="0" cy="96"/>
            </a:xfrm>
            <a:prstGeom prst="line">
              <a:avLst/>
            </a:prstGeom>
            <a:noFill/>
            <a:ln w="19050">
              <a:solidFill>
                <a:schemeClr val="tx1"/>
              </a:solidFill>
              <a:round/>
              <a:headEnd/>
              <a:tailEnd/>
            </a:ln>
          </p:spPr>
          <p:txBody>
            <a:bodyPr/>
            <a:lstStyle/>
            <a:p>
              <a:endParaRPr lang="en-US"/>
            </a:p>
          </p:txBody>
        </p:sp>
        <p:sp>
          <p:nvSpPr>
            <p:cNvPr id="15383" name="Line 54"/>
            <p:cNvSpPr>
              <a:spLocks noChangeShapeType="1"/>
            </p:cNvSpPr>
            <p:nvPr/>
          </p:nvSpPr>
          <p:spPr bwMode="auto">
            <a:xfrm>
              <a:off x="864" y="2256"/>
              <a:ext cx="0" cy="96"/>
            </a:xfrm>
            <a:prstGeom prst="line">
              <a:avLst/>
            </a:prstGeom>
            <a:noFill/>
            <a:ln w="19050">
              <a:solidFill>
                <a:schemeClr val="tx1"/>
              </a:solidFill>
              <a:round/>
              <a:headEnd/>
              <a:tailEnd/>
            </a:ln>
          </p:spPr>
          <p:txBody>
            <a:bodyPr/>
            <a:lstStyle/>
            <a:p>
              <a:endParaRPr lang="en-US"/>
            </a:p>
          </p:txBody>
        </p:sp>
        <p:sp>
          <p:nvSpPr>
            <p:cNvPr id="15384" name="Line 55"/>
            <p:cNvSpPr>
              <a:spLocks noChangeShapeType="1"/>
            </p:cNvSpPr>
            <p:nvPr/>
          </p:nvSpPr>
          <p:spPr bwMode="auto">
            <a:xfrm>
              <a:off x="912" y="2256"/>
              <a:ext cx="0" cy="96"/>
            </a:xfrm>
            <a:prstGeom prst="line">
              <a:avLst/>
            </a:prstGeom>
            <a:noFill/>
            <a:ln w="19050">
              <a:solidFill>
                <a:schemeClr val="tx1"/>
              </a:solidFill>
              <a:round/>
              <a:headEnd/>
              <a:tailEnd/>
            </a:ln>
          </p:spPr>
          <p:txBody>
            <a:bodyPr/>
            <a:lstStyle/>
            <a:p>
              <a:endParaRPr lang="en-US"/>
            </a:p>
          </p:txBody>
        </p:sp>
        <p:sp>
          <p:nvSpPr>
            <p:cNvPr id="15385" name="Oval 56"/>
            <p:cNvSpPr>
              <a:spLocks noChangeArrowheads="1"/>
            </p:cNvSpPr>
            <p:nvPr/>
          </p:nvSpPr>
          <p:spPr bwMode="auto">
            <a:xfrm>
              <a:off x="1008" y="2304"/>
              <a:ext cx="48" cy="48"/>
            </a:xfrm>
            <a:prstGeom prst="ellipse">
              <a:avLst/>
            </a:prstGeom>
            <a:solidFill>
              <a:srgbClr val="FF0000"/>
            </a:solidFill>
            <a:ln w="9525">
              <a:solidFill>
                <a:schemeClr val="tx1"/>
              </a:solidFill>
              <a:round/>
              <a:headEnd/>
              <a:tailEnd/>
            </a:ln>
          </p:spPr>
          <p:txBody>
            <a:bodyPr wrap="none" anchor="ctr"/>
            <a:lstStyle/>
            <a:p>
              <a:endParaRPr lang="en-GB"/>
            </a:p>
          </p:txBody>
        </p:sp>
        <p:sp>
          <p:nvSpPr>
            <p:cNvPr id="15386" name="Oval 57"/>
            <p:cNvSpPr>
              <a:spLocks noChangeArrowheads="1"/>
            </p:cNvSpPr>
            <p:nvPr/>
          </p:nvSpPr>
          <p:spPr bwMode="auto">
            <a:xfrm>
              <a:off x="1056" y="2304"/>
              <a:ext cx="48" cy="48"/>
            </a:xfrm>
            <a:prstGeom prst="ellipse">
              <a:avLst/>
            </a:prstGeom>
            <a:solidFill>
              <a:schemeClr val="accent1"/>
            </a:solidFill>
            <a:ln w="9525">
              <a:solidFill>
                <a:schemeClr val="tx1"/>
              </a:solidFill>
              <a:round/>
              <a:headEnd/>
              <a:tailEnd/>
            </a:ln>
          </p:spPr>
          <p:txBody>
            <a:bodyPr wrap="none" anchor="ctr"/>
            <a:lstStyle/>
            <a:p>
              <a:endParaRPr lang="en-GB"/>
            </a:p>
          </p:txBody>
        </p:sp>
        <p:sp>
          <p:nvSpPr>
            <p:cNvPr id="15387" name="Oval 58"/>
            <p:cNvSpPr>
              <a:spLocks noChangeArrowheads="1"/>
            </p:cNvSpPr>
            <p:nvPr/>
          </p:nvSpPr>
          <p:spPr bwMode="auto">
            <a:xfrm>
              <a:off x="1104" y="2304"/>
              <a:ext cx="48" cy="48"/>
            </a:xfrm>
            <a:prstGeom prst="ellipse">
              <a:avLst/>
            </a:prstGeom>
            <a:solidFill>
              <a:srgbClr val="FFCC00"/>
            </a:solidFill>
            <a:ln w="9525">
              <a:solidFill>
                <a:schemeClr val="tx1"/>
              </a:solidFill>
              <a:round/>
              <a:headEnd/>
              <a:tailEnd/>
            </a:ln>
          </p:spPr>
          <p:txBody>
            <a:bodyPr wrap="none" anchor="ctr"/>
            <a:lstStyle/>
            <a:p>
              <a:endParaRPr lang="en-GB"/>
            </a:p>
          </p:txBody>
        </p:sp>
        <p:sp>
          <p:nvSpPr>
            <p:cNvPr id="15388" name="Oval 59"/>
            <p:cNvSpPr>
              <a:spLocks noChangeArrowheads="1"/>
            </p:cNvSpPr>
            <p:nvPr/>
          </p:nvSpPr>
          <p:spPr bwMode="auto">
            <a:xfrm>
              <a:off x="960" y="2304"/>
              <a:ext cx="48" cy="48"/>
            </a:xfrm>
            <a:prstGeom prst="ellipse">
              <a:avLst/>
            </a:prstGeom>
            <a:solidFill>
              <a:schemeClr val="accent1"/>
            </a:solidFill>
            <a:ln w="9525">
              <a:solidFill>
                <a:schemeClr val="tx1"/>
              </a:solidFill>
              <a:round/>
              <a:headEnd/>
              <a:tailEnd/>
            </a:ln>
          </p:spPr>
          <p:txBody>
            <a:bodyPr wrap="none" anchor="ctr"/>
            <a:lstStyle/>
            <a:p>
              <a:endParaRPr lang="en-GB"/>
            </a:p>
          </p:txBody>
        </p:sp>
      </p:grpSp>
      <p:sp>
        <p:nvSpPr>
          <p:cNvPr id="15376" name="Line 60"/>
          <p:cNvSpPr>
            <a:spLocks noChangeShapeType="1"/>
          </p:cNvSpPr>
          <p:nvPr/>
        </p:nvSpPr>
        <p:spPr bwMode="auto">
          <a:xfrm rot="5400000" flipV="1">
            <a:off x="906462" y="4922549"/>
            <a:ext cx="304800" cy="0"/>
          </a:xfrm>
          <a:prstGeom prst="line">
            <a:avLst/>
          </a:prstGeom>
          <a:noFill/>
          <a:ln w="19050">
            <a:solidFill>
              <a:schemeClr val="tx1"/>
            </a:solidFill>
            <a:round/>
            <a:headEnd/>
            <a:tailEnd/>
          </a:ln>
        </p:spPr>
        <p:txBody>
          <a:bodyPr/>
          <a:lstStyle/>
          <a:p>
            <a:endParaRPr lang="en-US"/>
          </a:p>
        </p:txBody>
      </p:sp>
      <p:sp>
        <p:nvSpPr>
          <p:cNvPr id="15377" name="Text Box 61"/>
          <p:cNvSpPr txBox="1">
            <a:spLocks noChangeArrowheads="1"/>
          </p:cNvSpPr>
          <p:nvPr/>
        </p:nvSpPr>
        <p:spPr bwMode="auto">
          <a:xfrm>
            <a:off x="1830387" y="4417724"/>
            <a:ext cx="1981200" cy="366713"/>
          </a:xfrm>
          <a:prstGeom prst="rect">
            <a:avLst/>
          </a:prstGeom>
          <a:noFill/>
          <a:ln w="9525">
            <a:noFill/>
            <a:miter lim="800000"/>
            <a:headEnd/>
            <a:tailEnd/>
          </a:ln>
        </p:spPr>
        <p:txBody>
          <a:bodyPr>
            <a:spAutoFit/>
          </a:bodyPr>
          <a:lstStyle/>
          <a:p>
            <a:pPr algn="l">
              <a:lnSpc>
                <a:spcPct val="100000"/>
              </a:lnSpc>
              <a:spcBef>
                <a:spcPct val="0"/>
              </a:spcBef>
            </a:pPr>
            <a:r>
              <a:rPr lang="en-GB" sz="1800" b="1" dirty="0">
                <a:solidFill>
                  <a:srgbClr val="0000FF"/>
                </a:solidFill>
              </a:rPr>
              <a:t>Internal Network</a:t>
            </a:r>
          </a:p>
        </p:txBody>
      </p:sp>
      <p:sp>
        <p:nvSpPr>
          <p:cNvPr id="15378" name="Cloud"/>
          <p:cNvSpPr>
            <a:spLocks noChangeAspect="1" noEditPoints="1" noChangeArrowheads="1"/>
          </p:cNvSpPr>
          <p:nvPr/>
        </p:nvSpPr>
        <p:spPr bwMode="auto">
          <a:xfrm>
            <a:off x="839787" y="2284124"/>
            <a:ext cx="1524000" cy="708025"/>
          </a:xfrm>
          <a:custGeom>
            <a:avLst/>
            <a:gdLst>
              <a:gd name="T0" fmla="*/ 1660270399 w 21600"/>
              <a:gd name="T1" fmla="*/ 2147483647 h 21600"/>
              <a:gd name="T2" fmla="*/ 2147483647 w 21600"/>
              <a:gd name="T3" fmla="*/ 2147483647 h 21600"/>
              <a:gd name="T4" fmla="*/ 2147483647 w 21600"/>
              <a:gd name="T5" fmla="*/ 2147483647 h 21600"/>
              <a:gd name="T6" fmla="*/ 2147483647 w 21600"/>
              <a:gd name="T7" fmla="*/ 1425759916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99"/>
          </a:solidFill>
          <a:ln w="9525">
            <a:solidFill>
              <a:srgbClr val="000000"/>
            </a:solidFill>
            <a:miter lim="800000"/>
            <a:headEnd/>
            <a:tailEnd/>
          </a:ln>
        </p:spPr>
        <p:txBody>
          <a:bodyPr/>
          <a:lstStyle/>
          <a:p>
            <a:pPr algn="l">
              <a:lnSpc>
                <a:spcPct val="100000"/>
              </a:lnSpc>
              <a:spcBef>
                <a:spcPct val="0"/>
              </a:spcBef>
            </a:pPr>
            <a:r>
              <a:rPr lang="en-GB" sz="1600" b="1" dirty="0">
                <a:solidFill>
                  <a:srgbClr val="0000FF"/>
                </a:solidFill>
              </a:rPr>
              <a:t>Internet</a:t>
            </a:r>
            <a:endParaRPr lang="en-US" sz="1600" b="1" dirty="0">
              <a:solidFill>
                <a:srgbClr val="0000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a:bodyPr>
          <a:lstStyle/>
          <a:p>
            <a:r>
              <a:rPr lang="en-GB" sz="4400" dirty="0"/>
              <a:t>Types of </a:t>
            </a:r>
            <a:r>
              <a:rPr lang="en-US" sz="4400" dirty="0"/>
              <a:t>Static </a:t>
            </a:r>
            <a:r>
              <a:rPr lang="en-GB" sz="4400" dirty="0"/>
              <a:t>Packet Filtering</a:t>
            </a:r>
            <a:endParaRPr lang="en-US" sz="4400" dirty="0"/>
          </a:p>
        </p:txBody>
      </p:sp>
      <p:sp>
        <p:nvSpPr>
          <p:cNvPr id="17411" name="Rectangle 3"/>
          <p:cNvSpPr>
            <a:spLocks noGrp="1" noChangeArrowheads="1"/>
          </p:cNvSpPr>
          <p:nvPr>
            <p:ph idx="1"/>
          </p:nvPr>
        </p:nvSpPr>
        <p:spPr/>
        <p:txBody>
          <a:bodyPr>
            <a:normAutofit/>
          </a:bodyPr>
          <a:lstStyle/>
          <a:p>
            <a:r>
              <a:rPr lang="en-GB" sz="2800" dirty="0"/>
              <a:t>Filtering by address</a:t>
            </a:r>
          </a:p>
          <a:p>
            <a:pPr lvl="1">
              <a:buFont typeface="Wingdings" panose="05000000000000000000" pitchFamily="2" charset="2"/>
              <a:buChar char="ü"/>
            </a:pPr>
            <a:r>
              <a:rPr lang="en-GB" sz="2800" dirty="0"/>
              <a:t>Example source, destination addresses</a:t>
            </a:r>
          </a:p>
          <a:p>
            <a:r>
              <a:rPr lang="en-GB" sz="2800" dirty="0"/>
              <a:t>Filtering by protocol</a:t>
            </a:r>
          </a:p>
          <a:p>
            <a:pPr lvl="1">
              <a:buFont typeface="Wingdings" panose="05000000000000000000" pitchFamily="2" charset="2"/>
              <a:buChar char="ü"/>
            </a:pPr>
            <a:r>
              <a:rPr lang="en-GB" sz="2800" dirty="0"/>
              <a:t>Example TCP, UDP, ICMP</a:t>
            </a:r>
            <a:endParaRPr lang="en-US" sz="2800" dirty="0"/>
          </a:p>
          <a:p>
            <a:r>
              <a:rPr lang="en-GB" sz="2800" dirty="0"/>
              <a:t>Filtering by services</a:t>
            </a:r>
          </a:p>
          <a:p>
            <a:pPr lvl="1">
              <a:buFont typeface="Wingdings" panose="05000000000000000000" pitchFamily="2" charset="2"/>
              <a:buChar char="ü"/>
            </a:pPr>
            <a:r>
              <a:rPr lang="en-GB" sz="2800" dirty="0"/>
              <a:t>Example port number 23 for Telnet</a:t>
            </a:r>
          </a:p>
          <a:p>
            <a:pPr lvl="1">
              <a:buFont typeface="Wingdings" panose="05000000000000000000" pitchFamily="2" charset="2"/>
              <a:buChar char="ü"/>
            </a:pPr>
            <a:r>
              <a:rPr lang="en-GB" sz="2800" dirty="0"/>
              <a:t>Example port number 80 for HTTP</a:t>
            </a:r>
            <a:endParaRPr lang="en-US" sz="2800" dirty="0"/>
          </a:p>
          <a:p>
            <a:endParaRPr lang="en-GB"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28650" y="365127"/>
            <a:ext cx="7886700" cy="1311274"/>
          </a:xfrm>
        </p:spPr>
        <p:txBody>
          <a:bodyPr>
            <a:normAutofit/>
          </a:bodyPr>
          <a:lstStyle/>
          <a:p>
            <a:pPr fontAlgn="auto">
              <a:spcAft>
                <a:spcPts val="0"/>
              </a:spcAft>
              <a:defRPr/>
            </a:pPr>
            <a:r>
              <a:rPr lang="en-US" sz="4400" dirty="0"/>
              <a:t>Well-Known Port Numbers</a:t>
            </a:r>
          </a:p>
        </p:txBody>
      </p:sp>
      <p:graphicFrame>
        <p:nvGraphicFramePr>
          <p:cNvPr id="7" name="Table 6"/>
          <p:cNvGraphicFramePr>
            <a:graphicFrameLocks noGrp="1"/>
          </p:cNvGraphicFramePr>
          <p:nvPr>
            <p:extLst>
              <p:ext uri="{D42A27DB-BD31-4B8C-83A1-F6EECF244321}">
                <p14:modId xmlns:p14="http://schemas.microsoft.com/office/powerpoint/2010/main" val="3254639225"/>
              </p:ext>
            </p:extLst>
          </p:nvPr>
        </p:nvGraphicFramePr>
        <p:xfrm>
          <a:off x="609600" y="1447800"/>
          <a:ext cx="7981279" cy="3276600"/>
        </p:xfrm>
        <a:graphic>
          <a:graphicData uri="http://schemas.openxmlformats.org/drawingml/2006/table">
            <a:tbl>
              <a:tblPr/>
              <a:tblGrid>
                <a:gridCol w="892190">
                  <a:extLst>
                    <a:ext uri="{9D8B030D-6E8A-4147-A177-3AD203B41FA5}">
                      <a16:colId xmlns:a16="http://schemas.microsoft.com/office/drawing/2014/main" val="20000"/>
                    </a:ext>
                  </a:extLst>
                </a:gridCol>
                <a:gridCol w="1354966">
                  <a:extLst>
                    <a:ext uri="{9D8B030D-6E8A-4147-A177-3AD203B41FA5}">
                      <a16:colId xmlns:a16="http://schemas.microsoft.com/office/drawing/2014/main" val="20001"/>
                    </a:ext>
                  </a:extLst>
                </a:gridCol>
                <a:gridCol w="5734123">
                  <a:extLst>
                    <a:ext uri="{9D8B030D-6E8A-4147-A177-3AD203B41FA5}">
                      <a16:colId xmlns:a16="http://schemas.microsoft.com/office/drawing/2014/main" val="20002"/>
                    </a:ext>
                  </a:extLst>
                </a:gridCol>
              </a:tblGrid>
              <a:tr h="819150">
                <a:tc>
                  <a:txBody>
                    <a:bodyPr/>
                    <a:lstStyle/>
                    <a:p>
                      <a:pPr marL="0" marR="0" algn="r" hangingPunct="0">
                        <a:spcBef>
                          <a:spcPts val="900"/>
                        </a:spcBef>
                        <a:spcAft>
                          <a:spcPts val="300"/>
                        </a:spcAft>
                      </a:pPr>
                      <a:r>
                        <a:rPr lang="en-US" sz="2000" b="1" dirty="0">
                          <a:solidFill>
                            <a:srgbClr val="0000FF"/>
                          </a:solidFill>
                          <a:latin typeface="Gill Sans MT" panose="020B0502020104020203" pitchFamily="34" charset="0"/>
                          <a:ea typeface="Times New Roman"/>
                          <a:cs typeface="Times New Roman"/>
                        </a:rPr>
                        <a:t>Port</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spcBef>
                          <a:spcPts val="900"/>
                        </a:spcBef>
                        <a:spcAft>
                          <a:spcPts val="300"/>
                        </a:spcAft>
                      </a:pPr>
                      <a:r>
                        <a:rPr lang="en-US" sz="2000" b="1" dirty="0">
                          <a:solidFill>
                            <a:srgbClr val="0000FF"/>
                          </a:solidFill>
                          <a:latin typeface="Gill Sans MT" panose="020B0502020104020203" pitchFamily="34" charset="0"/>
                          <a:ea typeface="Times New Roman"/>
                          <a:cs typeface="Times New Roman"/>
                        </a:rPr>
                        <a:t>Primary Protocol*</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900"/>
                        </a:spcBef>
                        <a:spcAft>
                          <a:spcPts val="300"/>
                        </a:spcAft>
                      </a:pPr>
                      <a:r>
                        <a:rPr lang="en-US" sz="2000" b="1">
                          <a:solidFill>
                            <a:srgbClr val="0000FF"/>
                          </a:solidFill>
                          <a:latin typeface="Gill Sans MT" panose="020B0502020104020203" pitchFamily="34" charset="0"/>
                          <a:ea typeface="Times New Roman"/>
                          <a:cs typeface="Times New Roman"/>
                        </a:rPr>
                        <a:t>Application</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9575">
                <a:tc>
                  <a:txBody>
                    <a:bodyPr/>
                    <a:lstStyle/>
                    <a:p>
                      <a:pPr marL="0" marR="0" algn="r" hangingPunct="0">
                        <a:spcBef>
                          <a:spcPts val="300"/>
                        </a:spcBef>
                        <a:spcAft>
                          <a:spcPts val="300"/>
                        </a:spcAft>
                      </a:pPr>
                      <a:r>
                        <a:rPr lang="en-US" sz="2000" dirty="0">
                          <a:latin typeface="Gill Sans MT" panose="020B0502020104020203" pitchFamily="34" charset="0"/>
                          <a:ea typeface="Times New Roman"/>
                          <a:cs typeface="Times New Roman"/>
                        </a:rPr>
                        <a:t>20</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hangingPunct="0">
                        <a:spcBef>
                          <a:spcPts val="300"/>
                        </a:spcBef>
                        <a:spcAft>
                          <a:spcPts val="300"/>
                        </a:spcAft>
                      </a:pPr>
                      <a:r>
                        <a:rPr lang="en-US" sz="2000" dirty="0">
                          <a:latin typeface="Gill Sans MT" panose="020B0502020104020203" pitchFamily="34" charset="0"/>
                          <a:ea typeface="Times New Roman"/>
                          <a:cs typeface="Times New Roman"/>
                        </a:rPr>
                        <a:t>TCP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hangingPunct="0">
                        <a:spcBef>
                          <a:spcPts val="300"/>
                        </a:spcBef>
                        <a:spcAft>
                          <a:spcPts val="300"/>
                        </a:spcAft>
                      </a:pPr>
                      <a:r>
                        <a:rPr lang="en-US" sz="2000" dirty="0">
                          <a:latin typeface="Gill Sans MT" panose="020B0502020104020203" pitchFamily="34" charset="0"/>
                          <a:ea typeface="Times New Roman"/>
                          <a:cs typeface="Times New Roman"/>
                        </a:rPr>
                        <a:t>FTP Data Traffic</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409575">
                <a:tc>
                  <a:txBody>
                    <a:bodyPr/>
                    <a:lstStyle/>
                    <a:p>
                      <a:pPr marL="0" marR="0" algn="r" hangingPunct="0">
                        <a:spcBef>
                          <a:spcPts val="300"/>
                        </a:spcBef>
                        <a:spcAft>
                          <a:spcPts val="300"/>
                        </a:spcAft>
                      </a:pPr>
                      <a:r>
                        <a:rPr lang="en-US" sz="2000">
                          <a:latin typeface="Gill Sans MT" panose="020B0502020104020203" pitchFamily="34" charset="0"/>
                          <a:ea typeface="Times New Roman"/>
                          <a:cs typeface="Times New Roman"/>
                        </a:rPr>
                        <a:t>21</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hangingPunct="0">
                        <a:spcBef>
                          <a:spcPts val="300"/>
                        </a:spcBef>
                        <a:spcAft>
                          <a:spcPts val="300"/>
                        </a:spcAft>
                      </a:pPr>
                      <a:r>
                        <a:rPr lang="en-US" sz="2000" dirty="0">
                          <a:latin typeface="Gill Sans MT" panose="020B0502020104020203" pitchFamily="34" charset="0"/>
                          <a:ea typeface="Times New Roman"/>
                          <a:cs typeface="Times New Roman"/>
                        </a:rPr>
                        <a:t>TCP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hangingPunct="0">
                        <a:spcBef>
                          <a:spcPts val="300"/>
                        </a:spcBef>
                        <a:spcAft>
                          <a:spcPts val="300"/>
                        </a:spcAft>
                      </a:pPr>
                      <a:r>
                        <a:rPr lang="en-US" sz="2000" dirty="0">
                          <a:latin typeface="Gill Sans MT" panose="020B0502020104020203" pitchFamily="34" charset="0"/>
                          <a:ea typeface="Times New Roman"/>
                          <a:cs typeface="Times New Roman"/>
                        </a:rPr>
                        <a:t>FTP Supervisory Connection</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409575">
                <a:tc>
                  <a:txBody>
                    <a:bodyPr/>
                    <a:lstStyle/>
                    <a:p>
                      <a:pPr marL="0" marR="0" algn="r" hangingPunct="0">
                        <a:spcBef>
                          <a:spcPts val="300"/>
                        </a:spcBef>
                        <a:spcAft>
                          <a:spcPts val="300"/>
                        </a:spcAft>
                      </a:pPr>
                      <a:r>
                        <a:rPr lang="en-US" sz="2000">
                          <a:latin typeface="Gill Sans MT" panose="020B0502020104020203" pitchFamily="34" charset="0"/>
                          <a:ea typeface="Times New Roman"/>
                          <a:cs typeface="Times New Roman"/>
                        </a:rPr>
                        <a:t>22</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spcBef>
                          <a:spcPts val="300"/>
                        </a:spcBef>
                        <a:spcAft>
                          <a:spcPts val="300"/>
                        </a:spcAft>
                      </a:pPr>
                      <a:r>
                        <a:rPr lang="en-US" sz="2000" dirty="0">
                          <a:latin typeface="Gill Sans MT" panose="020B0502020104020203" pitchFamily="34" charset="0"/>
                          <a:ea typeface="Times New Roman"/>
                          <a:cs typeface="Times New Roman"/>
                        </a:rPr>
                        <a:t>TCP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300"/>
                        </a:spcBef>
                        <a:spcAft>
                          <a:spcPts val="300"/>
                        </a:spcAft>
                      </a:pPr>
                      <a:r>
                        <a:rPr lang="en-US" sz="2000" dirty="0">
                          <a:latin typeface="Gill Sans MT" panose="020B0502020104020203" pitchFamily="34" charset="0"/>
                          <a:ea typeface="Times New Roman"/>
                          <a:cs typeface="Times New Roman"/>
                        </a:rPr>
                        <a:t>Secure Shell (SSH)</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09575">
                <a:tc>
                  <a:txBody>
                    <a:bodyPr/>
                    <a:lstStyle/>
                    <a:p>
                      <a:pPr marL="0" marR="0" algn="r" hangingPunct="0">
                        <a:spcBef>
                          <a:spcPts val="300"/>
                        </a:spcBef>
                        <a:spcAft>
                          <a:spcPts val="300"/>
                        </a:spcAft>
                      </a:pPr>
                      <a:r>
                        <a:rPr lang="en-US" sz="2000">
                          <a:latin typeface="Gill Sans MT" panose="020B0502020104020203" pitchFamily="34" charset="0"/>
                          <a:ea typeface="Times New Roman"/>
                          <a:cs typeface="Times New Roman"/>
                        </a:rPr>
                        <a:t>23</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spcBef>
                          <a:spcPts val="300"/>
                        </a:spcBef>
                        <a:spcAft>
                          <a:spcPts val="300"/>
                        </a:spcAft>
                      </a:pPr>
                      <a:r>
                        <a:rPr lang="en-US" sz="2000">
                          <a:latin typeface="Gill Sans MT" panose="020B0502020104020203" pitchFamily="34" charset="0"/>
                          <a:ea typeface="Times New Roman"/>
                          <a:cs typeface="Times New Roman"/>
                        </a:rPr>
                        <a:t>TCP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300"/>
                        </a:spcBef>
                        <a:spcAft>
                          <a:spcPts val="300"/>
                        </a:spcAft>
                      </a:pPr>
                      <a:r>
                        <a:rPr lang="en-US" sz="2000" dirty="0">
                          <a:latin typeface="Gill Sans MT" panose="020B0502020104020203" pitchFamily="34" charset="0"/>
                          <a:ea typeface="Times New Roman"/>
                          <a:cs typeface="Times New Roman"/>
                        </a:rPr>
                        <a:t>Telnet</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09575">
                <a:tc>
                  <a:txBody>
                    <a:bodyPr/>
                    <a:lstStyle/>
                    <a:p>
                      <a:pPr marL="0" marR="0" algn="r" hangingPunct="0">
                        <a:spcBef>
                          <a:spcPts val="300"/>
                        </a:spcBef>
                        <a:spcAft>
                          <a:spcPts val="300"/>
                        </a:spcAft>
                      </a:pPr>
                      <a:r>
                        <a:rPr lang="en-US" sz="2000" dirty="0">
                          <a:latin typeface="Gill Sans MT" panose="020B0502020104020203" pitchFamily="34" charset="0"/>
                          <a:ea typeface="Times New Roman"/>
                          <a:cs typeface="Times New Roman"/>
                        </a:rPr>
                        <a:t>25</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hangingPunct="0">
                        <a:spcBef>
                          <a:spcPts val="300"/>
                        </a:spcBef>
                        <a:spcAft>
                          <a:spcPts val="300"/>
                        </a:spcAft>
                      </a:pPr>
                      <a:r>
                        <a:rPr lang="en-US" sz="2000" dirty="0">
                          <a:latin typeface="Gill Sans MT" panose="020B0502020104020203" pitchFamily="34" charset="0"/>
                          <a:ea typeface="Times New Roman"/>
                          <a:cs typeface="Times New Roman"/>
                        </a:rPr>
                        <a:t>TCP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hangingPunct="0">
                        <a:spcBef>
                          <a:spcPts val="300"/>
                        </a:spcBef>
                        <a:spcAft>
                          <a:spcPts val="300"/>
                        </a:spcAft>
                      </a:pPr>
                      <a:r>
                        <a:rPr lang="en-US" sz="2000" dirty="0">
                          <a:latin typeface="Gill Sans MT" panose="020B0502020104020203" pitchFamily="34" charset="0"/>
                          <a:ea typeface="Times New Roman"/>
                          <a:cs typeface="Times New Roman"/>
                        </a:rPr>
                        <a:t>Simple Mail Transfer Protocol (SMTP)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409575">
                <a:tc>
                  <a:txBody>
                    <a:bodyPr/>
                    <a:lstStyle/>
                    <a:p>
                      <a:pPr marL="0" marR="0" algn="r" hangingPunct="0">
                        <a:spcBef>
                          <a:spcPts val="300"/>
                        </a:spcBef>
                        <a:spcAft>
                          <a:spcPts val="300"/>
                        </a:spcAft>
                      </a:pPr>
                      <a:r>
                        <a:rPr lang="en-US" sz="2000" dirty="0">
                          <a:latin typeface="Gill Sans MT" panose="020B0502020104020203" pitchFamily="34" charset="0"/>
                          <a:ea typeface="Times New Roman"/>
                          <a:cs typeface="Times New Roman"/>
                        </a:rPr>
                        <a:t>53</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hangingPunct="0">
                        <a:spcBef>
                          <a:spcPts val="300"/>
                        </a:spcBef>
                        <a:spcAft>
                          <a:spcPts val="300"/>
                        </a:spcAft>
                      </a:pPr>
                      <a:r>
                        <a:rPr lang="en-US" sz="2000">
                          <a:latin typeface="Gill Sans MT" panose="020B0502020104020203" pitchFamily="34" charset="0"/>
                          <a:ea typeface="Times New Roman"/>
                          <a:cs typeface="Times New Roman"/>
                        </a:rPr>
                        <a:t>TCP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hangingPunct="0">
                        <a:spcBef>
                          <a:spcPts val="300"/>
                        </a:spcBef>
                        <a:spcAft>
                          <a:spcPts val="300"/>
                        </a:spcAft>
                      </a:pPr>
                      <a:r>
                        <a:rPr lang="en-US" sz="2000" dirty="0">
                          <a:latin typeface="Gill Sans MT" panose="020B0502020104020203" pitchFamily="34" charset="0"/>
                          <a:ea typeface="Times New Roman"/>
                          <a:cs typeface="Times New Roman"/>
                        </a:rPr>
                        <a:t>Domain Name System (DNS)</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37926" name="Rectangle 7"/>
          <p:cNvSpPr>
            <a:spLocks noChangeArrowheads="1"/>
          </p:cNvSpPr>
          <p:nvPr/>
        </p:nvSpPr>
        <p:spPr bwMode="auto">
          <a:xfrm>
            <a:off x="628650" y="4969253"/>
            <a:ext cx="8077200" cy="1569660"/>
          </a:xfrm>
          <a:prstGeom prst="rect">
            <a:avLst/>
          </a:prstGeom>
          <a:noFill/>
          <a:ln w="9525">
            <a:noFill/>
            <a:miter lim="800000"/>
            <a:headEnd/>
            <a:tailEnd/>
          </a:ln>
        </p:spPr>
        <p:txBody>
          <a:bodyPr>
            <a:spAutoFit/>
          </a:bodyPr>
          <a:lstStyle/>
          <a:p>
            <a:pPr algn="just" hangingPunct="0"/>
            <a:r>
              <a:rPr lang="en-US" sz="2400" dirty="0">
                <a:latin typeface="Gill Sans MT" panose="020B0502020104020203" pitchFamily="34" charset="0"/>
              </a:rPr>
              <a:t>In many cases, both TCP and UDP can be used by an application. In such cases, the same port number is used for both. Typically, however, the use of either TCP or UDP will be predominant.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pPr fontAlgn="auto">
              <a:spcAft>
                <a:spcPts val="0"/>
              </a:spcAft>
              <a:defRPr/>
            </a:pPr>
            <a:r>
              <a:rPr lang="en-US" sz="4400" dirty="0"/>
              <a:t>Well-Known Port Numbers</a:t>
            </a:r>
          </a:p>
        </p:txBody>
      </p:sp>
      <p:graphicFrame>
        <p:nvGraphicFramePr>
          <p:cNvPr id="7" name="Table 6"/>
          <p:cNvGraphicFramePr>
            <a:graphicFrameLocks noGrp="1"/>
          </p:cNvGraphicFramePr>
          <p:nvPr>
            <p:extLst>
              <p:ext uri="{D42A27DB-BD31-4B8C-83A1-F6EECF244321}">
                <p14:modId xmlns:p14="http://schemas.microsoft.com/office/powerpoint/2010/main" val="3717255534"/>
              </p:ext>
            </p:extLst>
          </p:nvPr>
        </p:nvGraphicFramePr>
        <p:xfrm>
          <a:off x="609600" y="1371600"/>
          <a:ext cx="7981279" cy="4267202"/>
        </p:xfrm>
        <a:graphic>
          <a:graphicData uri="http://schemas.openxmlformats.org/drawingml/2006/table">
            <a:tbl>
              <a:tblPr/>
              <a:tblGrid>
                <a:gridCol w="892190">
                  <a:extLst>
                    <a:ext uri="{9D8B030D-6E8A-4147-A177-3AD203B41FA5}">
                      <a16:colId xmlns:a16="http://schemas.microsoft.com/office/drawing/2014/main" val="20000"/>
                    </a:ext>
                  </a:extLst>
                </a:gridCol>
                <a:gridCol w="1354966">
                  <a:extLst>
                    <a:ext uri="{9D8B030D-6E8A-4147-A177-3AD203B41FA5}">
                      <a16:colId xmlns:a16="http://schemas.microsoft.com/office/drawing/2014/main" val="20001"/>
                    </a:ext>
                  </a:extLst>
                </a:gridCol>
                <a:gridCol w="5734123">
                  <a:extLst>
                    <a:ext uri="{9D8B030D-6E8A-4147-A177-3AD203B41FA5}">
                      <a16:colId xmlns:a16="http://schemas.microsoft.com/office/drawing/2014/main" val="20002"/>
                    </a:ext>
                  </a:extLst>
                </a:gridCol>
              </a:tblGrid>
              <a:tr h="853441">
                <a:tc>
                  <a:txBody>
                    <a:bodyPr/>
                    <a:lstStyle/>
                    <a:p>
                      <a:pPr marL="0" marR="0" algn="r" hangingPunct="0">
                        <a:spcBef>
                          <a:spcPts val="900"/>
                        </a:spcBef>
                        <a:spcAft>
                          <a:spcPts val="300"/>
                        </a:spcAft>
                      </a:pPr>
                      <a:r>
                        <a:rPr lang="en-US" sz="2000" b="1" dirty="0">
                          <a:solidFill>
                            <a:srgbClr val="0000FF"/>
                          </a:solidFill>
                          <a:latin typeface="Gill Sans MT" panose="020B0502020104020203" pitchFamily="34" charset="0"/>
                          <a:ea typeface="Times New Roman"/>
                          <a:cs typeface="Times New Roman"/>
                        </a:rPr>
                        <a:t>Port</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spcBef>
                          <a:spcPts val="900"/>
                        </a:spcBef>
                        <a:spcAft>
                          <a:spcPts val="300"/>
                        </a:spcAft>
                      </a:pPr>
                      <a:r>
                        <a:rPr lang="en-US" sz="2000" b="1" dirty="0">
                          <a:solidFill>
                            <a:srgbClr val="0000FF"/>
                          </a:solidFill>
                          <a:latin typeface="Gill Sans MT" panose="020B0502020104020203" pitchFamily="34" charset="0"/>
                          <a:ea typeface="Times New Roman"/>
                          <a:cs typeface="Times New Roman"/>
                        </a:rPr>
                        <a:t>Primary Protocol</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900"/>
                        </a:spcBef>
                        <a:spcAft>
                          <a:spcPts val="300"/>
                        </a:spcAft>
                      </a:pPr>
                      <a:r>
                        <a:rPr lang="en-US" sz="2000" b="1">
                          <a:solidFill>
                            <a:srgbClr val="0000FF"/>
                          </a:solidFill>
                          <a:latin typeface="Gill Sans MT" panose="020B0502020104020203" pitchFamily="34" charset="0"/>
                          <a:ea typeface="Times New Roman"/>
                          <a:cs typeface="Times New Roman"/>
                        </a:rPr>
                        <a:t>Application</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6720">
                <a:tc>
                  <a:txBody>
                    <a:bodyPr/>
                    <a:lstStyle/>
                    <a:p>
                      <a:pPr marL="0" marR="0" algn="r" hangingPunct="0">
                        <a:spcBef>
                          <a:spcPts val="300"/>
                        </a:spcBef>
                        <a:spcAft>
                          <a:spcPts val="300"/>
                        </a:spcAft>
                      </a:pPr>
                      <a:r>
                        <a:rPr lang="en-US" sz="2000" dirty="0">
                          <a:latin typeface="Gill Sans MT" panose="020B0502020104020203" pitchFamily="34" charset="0"/>
                          <a:ea typeface="Times New Roman"/>
                          <a:cs typeface="Times New Roman"/>
                        </a:rPr>
                        <a:t>69</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spcBef>
                          <a:spcPts val="300"/>
                        </a:spcBef>
                        <a:spcAft>
                          <a:spcPts val="300"/>
                        </a:spcAft>
                      </a:pPr>
                      <a:r>
                        <a:rPr lang="en-US" sz="2000" dirty="0">
                          <a:latin typeface="Gill Sans MT" panose="020B0502020104020203" pitchFamily="34" charset="0"/>
                          <a:ea typeface="Times New Roman"/>
                          <a:cs typeface="Times New Roman"/>
                        </a:rPr>
                        <a:t>UDP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300"/>
                        </a:spcBef>
                        <a:spcAft>
                          <a:spcPts val="300"/>
                        </a:spcAft>
                      </a:pPr>
                      <a:r>
                        <a:rPr lang="en-US" sz="2000" dirty="0">
                          <a:latin typeface="Gill Sans MT" panose="020B0502020104020203" pitchFamily="34" charset="0"/>
                          <a:ea typeface="Times New Roman"/>
                          <a:cs typeface="Times New Roman"/>
                        </a:rPr>
                        <a:t>Trivial File Transfer Protocol (TFTP)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6720">
                <a:tc>
                  <a:txBody>
                    <a:bodyPr/>
                    <a:lstStyle/>
                    <a:p>
                      <a:pPr marL="0" marR="0" algn="r" hangingPunct="0">
                        <a:spcBef>
                          <a:spcPts val="300"/>
                        </a:spcBef>
                        <a:spcAft>
                          <a:spcPts val="300"/>
                        </a:spcAft>
                      </a:pPr>
                      <a:r>
                        <a:rPr lang="en-US" sz="2000">
                          <a:latin typeface="Gill Sans MT" panose="020B0502020104020203" pitchFamily="34" charset="0"/>
                          <a:ea typeface="Times New Roman"/>
                          <a:cs typeface="Times New Roman"/>
                        </a:rPr>
                        <a:t>80</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spcBef>
                          <a:spcPts val="300"/>
                        </a:spcBef>
                        <a:spcAft>
                          <a:spcPts val="300"/>
                        </a:spcAft>
                      </a:pPr>
                      <a:r>
                        <a:rPr lang="en-US" sz="2000">
                          <a:latin typeface="Gill Sans MT" panose="020B0502020104020203" pitchFamily="34" charset="0"/>
                          <a:ea typeface="Times New Roman"/>
                          <a:cs typeface="Times New Roman"/>
                        </a:rPr>
                        <a:t>TCP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300"/>
                        </a:spcBef>
                        <a:spcAft>
                          <a:spcPts val="300"/>
                        </a:spcAft>
                      </a:pPr>
                      <a:r>
                        <a:rPr lang="en-US" sz="2000" dirty="0">
                          <a:latin typeface="Gill Sans MT" panose="020B0502020104020203" pitchFamily="34" charset="0"/>
                          <a:ea typeface="Times New Roman"/>
                          <a:cs typeface="Times New Roman"/>
                        </a:rPr>
                        <a:t>Hypertext Transfer Protocol (HTTP)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6720">
                <a:tc>
                  <a:txBody>
                    <a:bodyPr/>
                    <a:lstStyle/>
                    <a:p>
                      <a:pPr marL="0" marR="0" algn="r" hangingPunct="0">
                        <a:spcBef>
                          <a:spcPts val="300"/>
                        </a:spcBef>
                        <a:spcAft>
                          <a:spcPts val="300"/>
                        </a:spcAft>
                      </a:pPr>
                      <a:r>
                        <a:rPr lang="en-US" sz="2000">
                          <a:latin typeface="Gill Sans MT" panose="020B0502020104020203" pitchFamily="34" charset="0"/>
                          <a:ea typeface="Times New Roman"/>
                          <a:cs typeface="Times New Roman"/>
                        </a:rPr>
                        <a:t>110</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spcBef>
                          <a:spcPts val="300"/>
                        </a:spcBef>
                        <a:spcAft>
                          <a:spcPts val="300"/>
                        </a:spcAft>
                      </a:pPr>
                      <a:r>
                        <a:rPr lang="en-US" sz="2000">
                          <a:latin typeface="Gill Sans MT" panose="020B0502020104020203" pitchFamily="34" charset="0"/>
                          <a:ea typeface="Times New Roman"/>
                          <a:cs typeface="Times New Roman"/>
                        </a:rPr>
                        <a:t>TCP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300"/>
                        </a:spcBef>
                        <a:spcAft>
                          <a:spcPts val="300"/>
                        </a:spcAft>
                      </a:pPr>
                      <a:r>
                        <a:rPr lang="en-US" sz="2000" dirty="0">
                          <a:latin typeface="Gill Sans MT" panose="020B0502020104020203" pitchFamily="34" charset="0"/>
                          <a:ea typeface="Times New Roman"/>
                          <a:cs typeface="Times New Roman"/>
                        </a:rPr>
                        <a:t>Post Office Protocol (POP)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53441">
                <a:tc>
                  <a:txBody>
                    <a:bodyPr/>
                    <a:lstStyle/>
                    <a:p>
                      <a:pPr marL="0" marR="0" algn="r" hangingPunct="0">
                        <a:spcBef>
                          <a:spcPts val="300"/>
                        </a:spcBef>
                        <a:spcAft>
                          <a:spcPts val="300"/>
                        </a:spcAft>
                      </a:pPr>
                      <a:r>
                        <a:rPr lang="en-US" sz="2000">
                          <a:latin typeface="Gill Sans MT" panose="020B0502020104020203" pitchFamily="34" charset="0"/>
                          <a:ea typeface="Times New Roman"/>
                          <a:cs typeface="Times New Roman"/>
                        </a:rPr>
                        <a:t>135-139</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spcBef>
                          <a:spcPts val="300"/>
                        </a:spcBef>
                        <a:spcAft>
                          <a:spcPts val="300"/>
                        </a:spcAft>
                      </a:pPr>
                      <a:r>
                        <a:rPr lang="en-US" sz="2000">
                          <a:latin typeface="Gill Sans MT" panose="020B0502020104020203" pitchFamily="34" charset="0"/>
                          <a:ea typeface="Times New Roman"/>
                          <a:cs typeface="Times New Roman"/>
                        </a:rPr>
                        <a:t>TCP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300"/>
                        </a:spcBef>
                        <a:spcAft>
                          <a:spcPts val="300"/>
                        </a:spcAft>
                      </a:pPr>
                      <a:r>
                        <a:rPr lang="en-US" sz="2000" dirty="0">
                          <a:latin typeface="Gill Sans MT" panose="020B0502020104020203" pitchFamily="34" charset="0"/>
                          <a:ea typeface="Times New Roman"/>
                          <a:cs typeface="Times New Roman"/>
                        </a:rPr>
                        <a:t>NETBIOS service for peer-to-peer file sharing in older versions of Windows</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6720">
                <a:tc>
                  <a:txBody>
                    <a:bodyPr/>
                    <a:lstStyle/>
                    <a:p>
                      <a:pPr marL="0" marR="0" algn="r" hangingPunct="0">
                        <a:spcBef>
                          <a:spcPts val="300"/>
                        </a:spcBef>
                        <a:spcAft>
                          <a:spcPts val="300"/>
                        </a:spcAft>
                      </a:pPr>
                      <a:r>
                        <a:rPr lang="en-US" sz="2000">
                          <a:latin typeface="Gill Sans MT" panose="020B0502020104020203" pitchFamily="34" charset="0"/>
                          <a:ea typeface="Times New Roman"/>
                          <a:cs typeface="Times New Roman"/>
                        </a:rPr>
                        <a:t>143</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spcBef>
                          <a:spcPts val="300"/>
                        </a:spcBef>
                        <a:spcAft>
                          <a:spcPts val="300"/>
                        </a:spcAft>
                      </a:pPr>
                      <a:r>
                        <a:rPr lang="en-US" sz="2000">
                          <a:latin typeface="Gill Sans MT" panose="020B0502020104020203" pitchFamily="34" charset="0"/>
                          <a:ea typeface="Times New Roman"/>
                          <a:cs typeface="Times New Roman"/>
                        </a:rPr>
                        <a:t>TCP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300"/>
                        </a:spcBef>
                        <a:spcAft>
                          <a:spcPts val="300"/>
                        </a:spcAft>
                      </a:pPr>
                      <a:r>
                        <a:rPr lang="en-US" sz="2000" dirty="0">
                          <a:latin typeface="Gill Sans MT" panose="020B0502020104020203" pitchFamily="34" charset="0"/>
                          <a:ea typeface="Times New Roman"/>
                          <a:cs typeface="Times New Roman"/>
                        </a:rPr>
                        <a:t>Internet Message Access Protocol (IMAP)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26720">
                <a:tc>
                  <a:txBody>
                    <a:bodyPr/>
                    <a:lstStyle/>
                    <a:p>
                      <a:pPr marL="0" marR="0" algn="r" hangingPunct="0">
                        <a:spcBef>
                          <a:spcPts val="300"/>
                        </a:spcBef>
                        <a:spcAft>
                          <a:spcPts val="300"/>
                        </a:spcAft>
                      </a:pPr>
                      <a:r>
                        <a:rPr lang="en-US" sz="2000" dirty="0">
                          <a:latin typeface="Gill Sans MT" panose="020B0502020104020203" pitchFamily="34" charset="0"/>
                          <a:ea typeface="Times New Roman"/>
                          <a:cs typeface="Times New Roman"/>
                        </a:rPr>
                        <a:t>161</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hangingPunct="0">
                        <a:spcBef>
                          <a:spcPts val="300"/>
                        </a:spcBef>
                        <a:spcAft>
                          <a:spcPts val="300"/>
                        </a:spcAft>
                      </a:pPr>
                      <a:r>
                        <a:rPr lang="en-US" sz="2000" dirty="0">
                          <a:latin typeface="Gill Sans MT" panose="020B0502020104020203" pitchFamily="34" charset="0"/>
                          <a:ea typeface="Times New Roman"/>
                          <a:cs typeface="Times New Roman"/>
                        </a:rPr>
                        <a:t>UDP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hangingPunct="0">
                        <a:spcBef>
                          <a:spcPts val="300"/>
                        </a:spcBef>
                        <a:spcAft>
                          <a:spcPts val="300"/>
                        </a:spcAft>
                      </a:pPr>
                      <a:r>
                        <a:rPr lang="en-US" sz="2000" dirty="0">
                          <a:latin typeface="Gill Sans MT" panose="020B0502020104020203" pitchFamily="34" charset="0"/>
                          <a:ea typeface="Times New Roman"/>
                          <a:cs typeface="Times New Roman"/>
                        </a:rPr>
                        <a:t>Simple Network Management Protocol (SNMP)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426720">
                <a:tc>
                  <a:txBody>
                    <a:bodyPr/>
                    <a:lstStyle/>
                    <a:p>
                      <a:pPr marL="0" marR="0" algn="r" hangingPunct="0">
                        <a:spcBef>
                          <a:spcPts val="300"/>
                        </a:spcBef>
                        <a:spcAft>
                          <a:spcPts val="300"/>
                        </a:spcAft>
                      </a:pPr>
                      <a:r>
                        <a:rPr lang="en-US" sz="2000">
                          <a:latin typeface="Gill Sans MT" panose="020B0502020104020203" pitchFamily="34" charset="0"/>
                          <a:ea typeface="Times New Roman"/>
                          <a:cs typeface="Times New Roman"/>
                        </a:rPr>
                        <a:t>443</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hangingPunct="0">
                        <a:spcBef>
                          <a:spcPts val="300"/>
                        </a:spcBef>
                        <a:spcAft>
                          <a:spcPts val="300"/>
                        </a:spcAft>
                      </a:pPr>
                      <a:r>
                        <a:rPr lang="en-US" sz="2000">
                          <a:latin typeface="Gill Sans MT" panose="020B0502020104020203" pitchFamily="34" charset="0"/>
                          <a:ea typeface="Times New Roman"/>
                          <a:cs typeface="Times New Roman"/>
                        </a:rPr>
                        <a:t>TCP</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hangingPunct="0">
                        <a:spcBef>
                          <a:spcPts val="300"/>
                        </a:spcBef>
                        <a:spcAft>
                          <a:spcPts val="300"/>
                        </a:spcAft>
                      </a:pPr>
                      <a:r>
                        <a:rPr lang="en-US" sz="2000" dirty="0">
                          <a:latin typeface="Gill Sans MT" panose="020B0502020104020203" pitchFamily="34" charset="0"/>
                          <a:ea typeface="Times New Roman"/>
                          <a:cs typeface="Times New Roman"/>
                        </a:rPr>
                        <a:t>HTTP over SSL/TLS</a:t>
                      </a:r>
                    </a:p>
                  </a:txBody>
                  <a:tcPr marL="98534" marR="985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pPr eaLnBrk="1" hangingPunct="1"/>
            <a:r>
              <a:rPr lang="en-GB" sz="4400" dirty="0"/>
              <a:t>Advantages of </a:t>
            </a:r>
            <a:r>
              <a:rPr lang="en-SG" sz="4400" dirty="0"/>
              <a:t>SPF</a:t>
            </a:r>
            <a:endParaRPr lang="en-GB" sz="4400" dirty="0"/>
          </a:p>
        </p:txBody>
      </p:sp>
      <p:sp>
        <p:nvSpPr>
          <p:cNvPr id="28675" name="Rectangle 3"/>
          <p:cNvSpPr>
            <a:spLocks noGrp="1" noChangeArrowheads="1"/>
          </p:cNvSpPr>
          <p:nvPr>
            <p:ph idx="1"/>
          </p:nvPr>
        </p:nvSpPr>
        <p:spPr>
          <a:xfrm>
            <a:off x="381000" y="1905000"/>
            <a:ext cx="8229600" cy="4343400"/>
          </a:xfrm>
        </p:spPr>
        <p:txBody>
          <a:bodyPr>
            <a:normAutofit/>
          </a:bodyPr>
          <a:lstStyle/>
          <a:p>
            <a:pPr marL="342900" indent="-342900" eaLnBrk="1" hangingPunct="1">
              <a:lnSpc>
                <a:spcPct val="70000"/>
              </a:lnSpc>
              <a:spcBef>
                <a:spcPct val="50000"/>
              </a:spcBef>
            </a:pPr>
            <a:r>
              <a:rPr lang="en-GB" sz="2800" dirty="0"/>
              <a:t>Low impact on network performance</a:t>
            </a:r>
          </a:p>
          <a:p>
            <a:pPr marL="342900" indent="-342900" eaLnBrk="1" hangingPunct="1">
              <a:lnSpc>
                <a:spcPct val="70000"/>
              </a:lnSpc>
              <a:spcBef>
                <a:spcPct val="50000"/>
              </a:spcBef>
            </a:pPr>
            <a:r>
              <a:rPr lang="en-GB" sz="2800" dirty="0"/>
              <a:t>Scalable and easy to implement</a:t>
            </a:r>
          </a:p>
          <a:p>
            <a:pPr marL="342900" indent="-342900" eaLnBrk="1" hangingPunct="1">
              <a:lnSpc>
                <a:spcPct val="70000"/>
              </a:lnSpc>
              <a:spcBef>
                <a:spcPct val="50000"/>
              </a:spcBef>
            </a:pPr>
            <a:r>
              <a:rPr lang="en-GB" sz="2800" dirty="0"/>
              <a:t>It provides good traffic management</a:t>
            </a:r>
          </a:p>
          <a:p>
            <a:pPr marL="342900" indent="-342900" eaLnBrk="1" hangingPunct="1">
              <a:lnSpc>
                <a:spcPct val="70000"/>
              </a:lnSpc>
              <a:spcBef>
                <a:spcPct val="50000"/>
              </a:spcBef>
            </a:pPr>
            <a:r>
              <a:rPr lang="en-GB" sz="2800" dirty="0"/>
              <a:t>It is transparent to the users </a:t>
            </a:r>
          </a:p>
          <a:p>
            <a:pPr marL="914400" lvl="1" indent="-457200" eaLnBrk="1" hangingPunct="1">
              <a:lnSpc>
                <a:spcPct val="70000"/>
              </a:lnSpc>
              <a:spcBef>
                <a:spcPct val="50000"/>
              </a:spcBef>
              <a:buFont typeface="Wingdings" panose="05000000000000000000" pitchFamily="2" charset="2"/>
              <a:buChar char="ü"/>
            </a:pPr>
            <a:r>
              <a:rPr lang="en-GB" sz="2800" dirty="0"/>
              <a:t>It does not require user knowledge or cooperation</a:t>
            </a:r>
          </a:p>
          <a:p>
            <a:pPr marL="342900" indent="-342900" eaLnBrk="1" hangingPunct="1">
              <a:lnSpc>
                <a:spcPct val="70000"/>
              </a:lnSpc>
              <a:spcBef>
                <a:spcPct val="50000"/>
              </a:spcBef>
            </a:pPr>
            <a:r>
              <a:rPr lang="en-GB" sz="2800" dirty="0"/>
              <a:t>It is widely available in most routers</a:t>
            </a:r>
          </a:p>
          <a:p>
            <a:pPr marL="342900" indent="-342900" eaLnBrk="1" hangingPunct="1">
              <a:lnSpc>
                <a:spcPct val="70000"/>
              </a:lnSpc>
              <a:spcBef>
                <a:spcPct val="50000"/>
              </a:spcBef>
            </a:pPr>
            <a:r>
              <a:rPr lang="en-GB" sz="2800" dirty="0"/>
              <a:t>Cheaper than other types of firewalls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a:bodyPr>
          <a:lstStyle/>
          <a:p>
            <a:pPr eaLnBrk="1" hangingPunct="1"/>
            <a:r>
              <a:rPr lang="en-GB" sz="4400" dirty="0"/>
              <a:t>Disadvantages of SPF</a:t>
            </a:r>
          </a:p>
        </p:txBody>
      </p:sp>
      <p:sp>
        <p:nvSpPr>
          <p:cNvPr id="29699" name="Rectangle 3"/>
          <p:cNvSpPr>
            <a:spLocks noGrp="1" noChangeArrowheads="1"/>
          </p:cNvSpPr>
          <p:nvPr>
            <p:ph idx="1"/>
          </p:nvPr>
        </p:nvSpPr>
        <p:spPr>
          <a:xfrm>
            <a:off x="304800" y="1828800"/>
            <a:ext cx="8458200" cy="4876800"/>
          </a:xfrm>
        </p:spPr>
        <p:txBody>
          <a:bodyPr>
            <a:normAutofit/>
          </a:bodyPr>
          <a:lstStyle/>
          <a:p>
            <a:pPr marL="342900" indent="-342900" eaLnBrk="1" hangingPunct="1">
              <a:lnSpc>
                <a:spcPct val="90000"/>
              </a:lnSpc>
            </a:pPr>
            <a:r>
              <a:rPr lang="en-GB" sz="2400" dirty="0"/>
              <a:t>More granular security policies cannot be implemented with just TCP,UDP,ICMP only protocols. </a:t>
            </a:r>
            <a:r>
              <a:rPr lang="en-GB" sz="2400" dirty="0" err="1"/>
              <a:t>E.g.Users</a:t>
            </a:r>
            <a:r>
              <a:rPr lang="en-GB" sz="2400" dirty="0"/>
              <a:t>/Group Filtering</a:t>
            </a:r>
          </a:p>
          <a:p>
            <a:pPr marL="342900" indent="-342900"/>
            <a:r>
              <a:rPr lang="en-GB" sz="2400" dirty="0"/>
              <a:t>Prone to certain types of attacks, </a:t>
            </a:r>
            <a:r>
              <a:rPr lang="en-GB" sz="2400" dirty="0" err="1"/>
              <a:t>eg</a:t>
            </a:r>
            <a:r>
              <a:rPr lang="en-GB" sz="2400" dirty="0"/>
              <a:t> IP spoofing and DOS</a:t>
            </a:r>
          </a:p>
          <a:p>
            <a:pPr marL="342900" indent="-342900"/>
            <a:r>
              <a:rPr lang="en-GB" sz="2400" dirty="0"/>
              <a:t>They are Stateless, so they do not remember if previous TCP SYN packets were sent. (Established ACLs are a workaround)</a:t>
            </a:r>
          </a:p>
          <a:p>
            <a:pPr marL="342900" indent="-342900" eaLnBrk="1" hangingPunct="1">
              <a:lnSpc>
                <a:spcPct val="90000"/>
              </a:lnSpc>
            </a:pPr>
            <a:r>
              <a:rPr lang="en-GB" sz="2400" dirty="0"/>
              <a:t>It is difficult to configure, test &amp; manage in complex environment</a:t>
            </a:r>
          </a:p>
          <a:p>
            <a:pPr marL="342900" indent="-342900" eaLnBrk="1" hangingPunct="1">
              <a:lnSpc>
                <a:spcPct val="90000"/>
              </a:lnSpc>
            </a:pPr>
            <a:r>
              <a:rPr lang="en-GB" sz="2400" dirty="0"/>
              <a:t>Network administrator must have a good understanding of services &amp; protocols &amp; be able to translate the organization's security requirements into an accurate list of rules or filters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normAutofit/>
          </a:bodyPr>
          <a:lstStyle/>
          <a:p>
            <a:pPr eaLnBrk="1" hangingPunct="1"/>
            <a:r>
              <a:rPr lang="en-GB" sz="4400" dirty="0" err="1"/>
              <a:t>Stateful</a:t>
            </a:r>
            <a:r>
              <a:rPr lang="en-GB" sz="4400" dirty="0"/>
              <a:t> Packet Inspection (SPI) Firewall</a:t>
            </a:r>
          </a:p>
        </p:txBody>
      </p:sp>
      <p:sp>
        <p:nvSpPr>
          <p:cNvPr id="40964" name="Rectangle 3"/>
          <p:cNvSpPr>
            <a:spLocks noGrp="1" noChangeArrowheads="1"/>
          </p:cNvSpPr>
          <p:nvPr>
            <p:ph idx="1"/>
          </p:nvPr>
        </p:nvSpPr>
        <p:spPr>
          <a:xfrm>
            <a:off x="304800" y="1905000"/>
            <a:ext cx="8458200" cy="4114799"/>
          </a:xfrm>
        </p:spPr>
        <p:txBody>
          <a:bodyPr>
            <a:normAutofit/>
          </a:bodyPr>
          <a:lstStyle/>
          <a:p>
            <a:pPr marL="342900" indent="-342900" eaLnBrk="1" hangingPunct="1"/>
            <a:r>
              <a:rPr lang="en-GB" sz="2800" dirty="0"/>
              <a:t>Also known as dynamic packet filtering</a:t>
            </a:r>
          </a:p>
          <a:p>
            <a:pPr marL="342900" indent="-342900" eaLnBrk="1" hangingPunct="1"/>
            <a:r>
              <a:rPr lang="en-GB" sz="2800" dirty="0"/>
              <a:t>SPI uses the same fundamental packet screening technique that packet filtering does. </a:t>
            </a:r>
          </a:p>
          <a:p>
            <a:pPr marL="342900" indent="-342900" eaLnBrk="1" hangingPunct="1"/>
            <a:r>
              <a:rPr lang="en-GB" sz="2800" dirty="0"/>
              <a:t>In addition, it examines the packet header information from the network layer  to the session layer to verify that the packet is </a:t>
            </a:r>
            <a:r>
              <a:rPr lang="en-GB" sz="2800" dirty="0">
                <a:solidFill>
                  <a:srgbClr val="CC3300"/>
                </a:solidFill>
              </a:rPr>
              <a:t>part of a legitimate connection</a:t>
            </a:r>
            <a:r>
              <a:rPr lang="en-GB" sz="2800" dirty="0"/>
              <a:t> and the protocols are behaving as expected.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Title 4"/>
          <p:cNvSpPr>
            <a:spLocks noGrp="1"/>
          </p:cNvSpPr>
          <p:nvPr>
            <p:ph type="title"/>
          </p:nvPr>
        </p:nvSpPr>
        <p:spPr/>
        <p:txBody>
          <a:bodyPr>
            <a:normAutofit/>
          </a:bodyPr>
          <a:lstStyle/>
          <a:p>
            <a:pPr eaLnBrk="1" hangingPunct="1"/>
            <a:r>
              <a:rPr lang="en-US" sz="4400" dirty="0"/>
              <a:t>SPI Firewall</a:t>
            </a:r>
          </a:p>
        </p:txBody>
      </p:sp>
      <p:sp>
        <p:nvSpPr>
          <p:cNvPr id="41987" name="Rectangle 3"/>
          <p:cNvSpPr>
            <a:spLocks noGrp="1" noChangeArrowheads="1"/>
          </p:cNvSpPr>
          <p:nvPr>
            <p:ph idx="1"/>
          </p:nvPr>
        </p:nvSpPr>
        <p:spPr>
          <a:xfrm>
            <a:off x="613410" y="1690689"/>
            <a:ext cx="7886700" cy="4351338"/>
          </a:xfrm>
        </p:spPr>
        <p:txBody>
          <a:bodyPr>
            <a:noAutofit/>
          </a:bodyPr>
          <a:lstStyle/>
          <a:p>
            <a:pPr marL="342900" indent="-342900" eaLnBrk="1" hangingPunct="1">
              <a:lnSpc>
                <a:spcPct val="90000"/>
              </a:lnSpc>
            </a:pPr>
            <a:r>
              <a:rPr lang="en-GB" sz="2400" dirty="0"/>
              <a:t>A SPI-based firewall has ability to keep track of state of a connection</a:t>
            </a:r>
          </a:p>
          <a:p>
            <a:pPr marL="365125" lvl="1" indent="-285750" eaLnBrk="1" hangingPunct="1">
              <a:lnSpc>
                <a:spcPct val="90000"/>
              </a:lnSpc>
            </a:pPr>
            <a:r>
              <a:rPr lang="en-GB" sz="2400" dirty="0"/>
              <a:t>Operates by examining each packet as it passes through firewall and permit/deny packet based on whether it is part of existing conversation that has previously been passed </a:t>
            </a:r>
          </a:p>
          <a:p>
            <a:pPr marL="342900" indent="-342900" eaLnBrk="1" hangingPunct="1">
              <a:lnSpc>
                <a:spcPct val="90000"/>
              </a:lnSpc>
            </a:pPr>
            <a:r>
              <a:rPr lang="en-GB" sz="2400" dirty="0"/>
              <a:t>SPI first checks the state table for any entry (</a:t>
            </a:r>
            <a:r>
              <a:rPr lang="en-GB" sz="2400" dirty="0" err="1"/>
              <a:t>ie</a:t>
            </a:r>
            <a:r>
              <a:rPr lang="en-GB" sz="2400" dirty="0"/>
              <a:t> active connection). If yes, then packet is allowed through. If no, then checks against the rule base.</a:t>
            </a:r>
          </a:p>
          <a:p>
            <a:pPr marL="342900" indent="-342900" eaLnBrk="1" hangingPunct="1">
              <a:lnSpc>
                <a:spcPct val="90000"/>
              </a:lnSpc>
            </a:pPr>
            <a:r>
              <a:rPr lang="en-GB" sz="2400" dirty="0"/>
              <a:t>The rules can prevent DOS attacks like Ping of Death by dropping packets larger than the allowed IP size.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0" y="352425"/>
            <a:ext cx="9144000" cy="1066800"/>
          </a:xfrm>
        </p:spPr>
        <p:txBody>
          <a:bodyPr>
            <a:normAutofit/>
          </a:bodyPr>
          <a:lstStyle/>
          <a:p>
            <a:pPr marL="346075" indent="0" eaLnBrk="1" hangingPunct="1"/>
            <a:r>
              <a:rPr lang="en-US" sz="4400" dirty="0"/>
              <a:t>SPI Firewall Operation</a:t>
            </a:r>
          </a:p>
        </p:txBody>
      </p:sp>
      <p:pic>
        <p:nvPicPr>
          <p:cNvPr id="43020" name="Picture 13"/>
          <p:cNvPicPr>
            <a:picLocks noGrp="1" noChangeAspect="1" noChangeArrowheads="1"/>
          </p:cNvPicPr>
          <p:nvPr>
            <p:ph idx="1"/>
          </p:nvPr>
        </p:nvPicPr>
        <p:blipFill>
          <a:blip r:embed="rId2"/>
          <a:srcRect/>
          <a:stretch>
            <a:fillRect/>
          </a:stretch>
        </p:blipFill>
        <p:spPr>
          <a:xfrm>
            <a:off x="4144963" y="2735263"/>
            <a:ext cx="962025" cy="327025"/>
          </a:xfrm>
          <a:noFill/>
        </p:spPr>
      </p:pic>
      <p:grpSp>
        <p:nvGrpSpPr>
          <p:cNvPr id="43012" name="Group 3"/>
          <p:cNvGrpSpPr>
            <a:grpSpLocks/>
          </p:cNvGrpSpPr>
          <p:nvPr/>
        </p:nvGrpSpPr>
        <p:grpSpPr bwMode="auto">
          <a:xfrm>
            <a:off x="7677150" y="2438400"/>
            <a:ext cx="1390650" cy="2078038"/>
            <a:chOff x="4548" y="1764"/>
            <a:chExt cx="876" cy="1309"/>
          </a:xfrm>
        </p:grpSpPr>
        <p:pic>
          <p:nvPicPr>
            <p:cNvPr id="43037" name="Picture 4" descr="FILSERVI"/>
            <p:cNvPicPr>
              <a:picLocks noChangeAspect="1" noChangeArrowheads="1"/>
            </p:cNvPicPr>
            <p:nvPr/>
          </p:nvPicPr>
          <p:blipFill>
            <a:blip r:embed="rId3"/>
            <a:srcRect/>
            <a:stretch>
              <a:fillRect/>
            </a:stretch>
          </p:blipFill>
          <p:spPr bwMode="auto">
            <a:xfrm>
              <a:off x="4768" y="1764"/>
              <a:ext cx="416" cy="720"/>
            </a:xfrm>
            <a:prstGeom prst="rect">
              <a:avLst/>
            </a:prstGeom>
            <a:noFill/>
            <a:ln w="9525">
              <a:noFill/>
              <a:miter lim="800000"/>
              <a:headEnd/>
              <a:tailEnd/>
            </a:ln>
          </p:spPr>
        </p:pic>
        <p:sp>
          <p:nvSpPr>
            <p:cNvPr id="43038" name="Text Box 5"/>
            <p:cNvSpPr txBox="1">
              <a:spLocks noChangeArrowheads="1"/>
            </p:cNvSpPr>
            <p:nvPr/>
          </p:nvSpPr>
          <p:spPr bwMode="auto">
            <a:xfrm>
              <a:off x="4548" y="2496"/>
              <a:ext cx="876" cy="577"/>
            </a:xfrm>
            <a:prstGeom prst="rect">
              <a:avLst/>
            </a:prstGeom>
            <a:noFill/>
            <a:ln w="9525">
              <a:noFill/>
              <a:miter lim="800000"/>
              <a:headEnd/>
              <a:tailEnd/>
            </a:ln>
          </p:spPr>
          <p:txBody>
            <a:bodyPr wrap="none">
              <a:spAutoFit/>
            </a:bodyPr>
            <a:lstStyle/>
            <a:p>
              <a:r>
                <a:rPr lang="en-US"/>
                <a:t>External</a:t>
              </a:r>
            </a:p>
            <a:p>
              <a:r>
                <a:rPr lang="en-US"/>
                <a:t>Webserver</a:t>
              </a:r>
            </a:p>
            <a:p>
              <a:r>
                <a:rPr lang="en-US"/>
                <a:t>123.80.5.34</a:t>
              </a:r>
            </a:p>
          </p:txBody>
        </p:sp>
      </p:grpSp>
      <p:pic>
        <p:nvPicPr>
          <p:cNvPr id="43013" name="Picture 6" descr="MACPOWRI"/>
          <p:cNvPicPr>
            <a:picLocks noChangeAspect="1" noChangeArrowheads="1"/>
          </p:cNvPicPr>
          <p:nvPr/>
        </p:nvPicPr>
        <p:blipFill>
          <a:blip r:embed="rId4"/>
          <a:srcRect/>
          <a:stretch>
            <a:fillRect/>
          </a:stretch>
        </p:blipFill>
        <p:spPr bwMode="auto">
          <a:xfrm>
            <a:off x="323850" y="2457450"/>
            <a:ext cx="866775" cy="971550"/>
          </a:xfrm>
          <a:prstGeom prst="rect">
            <a:avLst/>
          </a:prstGeom>
          <a:noFill/>
          <a:ln w="9525">
            <a:noFill/>
            <a:miter lim="800000"/>
            <a:headEnd/>
            <a:tailEnd/>
          </a:ln>
        </p:spPr>
      </p:pic>
      <p:sp>
        <p:nvSpPr>
          <p:cNvPr id="43014" name="Text Box 7"/>
          <p:cNvSpPr txBox="1">
            <a:spLocks noChangeArrowheads="1"/>
          </p:cNvSpPr>
          <p:nvPr/>
        </p:nvSpPr>
        <p:spPr bwMode="auto">
          <a:xfrm>
            <a:off x="0" y="3408363"/>
            <a:ext cx="1390650" cy="915987"/>
          </a:xfrm>
          <a:prstGeom prst="rect">
            <a:avLst/>
          </a:prstGeom>
          <a:noFill/>
          <a:ln w="9525">
            <a:noFill/>
            <a:miter lim="800000"/>
            <a:headEnd/>
            <a:tailEnd/>
          </a:ln>
        </p:spPr>
        <p:txBody>
          <a:bodyPr wrap="none">
            <a:spAutoFit/>
          </a:bodyPr>
          <a:lstStyle/>
          <a:p>
            <a:r>
              <a:rPr lang="en-US"/>
              <a:t>Internal</a:t>
            </a:r>
          </a:p>
          <a:p>
            <a:r>
              <a:rPr lang="en-US"/>
              <a:t>Client PC</a:t>
            </a:r>
          </a:p>
          <a:p>
            <a:r>
              <a:rPr lang="en-US"/>
              <a:t>60.55.33.12</a:t>
            </a:r>
          </a:p>
        </p:txBody>
      </p:sp>
      <p:sp>
        <p:nvSpPr>
          <p:cNvPr id="43015" name="Line 8"/>
          <p:cNvSpPr>
            <a:spLocks noChangeShapeType="1"/>
          </p:cNvSpPr>
          <p:nvPr/>
        </p:nvSpPr>
        <p:spPr bwMode="auto">
          <a:xfrm>
            <a:off x="1490663" y="2971800"/>
            <a:ext cx="2638425" cy="0"/>
          </a:xfrm>
          <a:prstGeom prst="line">
            <a:avLst/>
          </a:prstGeom>
          <a:noFill/>
          <a:ln w="9525">
            <a:solidFill>
              <a:schemeClr val="tx1"/>
            </a:solidFill>
            <a:round/>
            <a:headEnd/>
            <a:tailEnd type="triangle" w="med" len="med"/>
          </a:ln>
        </p:spPr>
        <p:txBody>
          <a:bodyPr/>
          <a:lstStyle/>
          <a:p>
            <a:endParaRPr lang="en-US"/>
          </a:p>
        </p:txBody>
      </p:sp>
      <p:sp>
        <p:nvSpPr>
          <p:cNvPr id="43016" name="Line 9"/>
          <p:cNvSpPr>
            <a:spLocks noChangeShapeType="1"/>
          </p:cNvSpPr>
          <p:nvPr/>
        </p:nvSpPr>
        <p:spPr bwMode="auto">
          <a:xfrm>
            <a:off x="5300663" y="2971800"/>
            <a:ext cx="2514600" cy="0"/>
          </a:xfrm>
          <a:prstGeom prst="line">
            <a:avLst/>
          </a:prstGeom>
          <a:noFill/>
          <a:ln w="9525">
            <a:solidFill>
              <a:schemeClr val="tx1"/>
            </a:solidFill>
            <a:round/>
            <a:headEnd/>
            <a:tailEnd type="triangle" w="med" len="med"/>
          </a:ln>
        </p:spPr>
        <p:txBody>
          <a:bodyPr/>
          <a:lstStyle/>
          <a:p>
            <a:endParaRPr lang="en-US"/>
          </a:p>
        </p:txBody>
      </p:sp>
      <p:sp>
        <p:nvSpPr>
          <p:cNvPr id="43017" name="Text Box 10"/>
          <p:cNvSpPr txBox="1">
            <a:spLocks noChangeArrowheads="1"/>
          </p:cNvSpPr>
          <p:nvPr/>
        </p:nvSpPr>
        <p:spPr bwMode="auto">
          <a:xfrm>
            <a:off x="1435100" y="1752600"/>
            <a:ext cx="2749550" cy="1190625"/>
          </a:xfrm>
          <a:prstGeom prst="rect">
            <a:avLst/>
          </a:prstGeom>
          <a:noFill/>
          <a:ln w="9525">
            <a:noFill/>
            <a:miter lim="800000"/>
            <a:headEnd/>
            <a:tailEnd/>
          </a:ln>
        </p:spPr>
        <p:txBody>
          <a:bodyPr wrap="none">
            <a:spAutoFit/>
          </a:bodyPr>
          <a:lstStyle/>
          <a:p>
            <a:r>
              <a:rPr lang="en-US"/>
              <a:t> 1.</a:t>
            </a:r>
          </a:p>
          <a:p>
            <a:r>
              <a:rPr lang="en-US"/>
              <a:t>TCP SYN Segment</a:t>
            </a:r>
          </a:p>
          <a:p>
            <a:r>
              <a:rPr lang="en-US"/>
              <a:t>From: 60.55.33.12:62600</a:t>
            </a:r>
          </a:p>
          <a:p>
            <a:r>
              <a:rPr lang="en-US"/>
              <a:t>To: 123.80.5.34:80</a:t>
            </a:r>
          </a:p>
        </p:txBody>
      </p:sp>
      <p:sp>
        <p:nvSpPr>
          <p:cNvPr id="43018" name="Text Box 11"/>
          <p:cNvSpPr txBox="1">
            <a:spLocks noChangeArrowheads="1"/>
          </p:cNvSpPr>
          <p:nvPr/>
        </p:nvSpPr>
        <p:spPr bwMode="auto">
          <a:xfrm>
            <a:off x="4025900" y="1143000"/>
            <a:ext cx="1339850" cy="915988"/>
          </a:xfrm>
          <a:prstGeom prst="rect">
            <a:avLst/>
          </a:prstGeom>
          <a:noFill/>
          <a:ln w="9525">
            <a:noFill/>
            <a:miter lim="800000"/>
            <a:headEnd/>
            <a:tailEnd/>
          </a:ln>
        </p:spPr>
        <p:txBody>
          <a:bodyPr wrap="none">
            <a:spAutoFit/>
          </a:bodyPr>
          <a:lstStyle/>
          <a:p>
            <a:r>
              <a:rPr lang="en-US"/>
              <a:t> 2.</a:t>
            </a:r>
          </a:p>
          <a:p>
            <a:r>
              <a:rPr lang="en-US"/>
              <a:t>Establish</a:t>
            </a:r>
          </a:p>
          <a:p>
            <a:r>
              <a:rPr lang="en-US"/>
              <a:t>Connection</a:t>
            </a:r>
          </a:p>
        </p:txBody>
      </p:sp>
      <p:sp>
        <p:nvSpPr>
          <p:cNvPr id="43019" name="Text Box 12"/>
          <p:cNvSpPr txBox="1">
            <a:spLocks noChangeArrowheads="1"/>
          </p:cNvSpPr>
          <p:nvPr/>
        </p:nvSpPr>
        <p:spPr bwMode="auto">
          <a:xfrm>
            <a:off x="5183188" y="1752600"/>
            <a:ext cx="2749550" cy="1190625"/>
          </a:xfrm>
          <a:prstGeom prst="rect">
            <a:avLst/>
          </a:prstGeom>
          <a:noFill/>
          <a:ln w="9525">
            <a:noFill/>
            <a:miter lim="800000"/>
            <a:headEnd/>
            <a:tailEnd/>
          </a:ln>
        </p:spPr>
        <p:txBody>
          <a:bodyPr wrap="none">
            <a:spAutoFit/>
          </a:bodyPr>
          <a:lstStyle/>
          <a:p>
            <a:r>
              <a:rPr lang="en-US"/>
              <a:t> 3.</a:t>
            </a:r>
          </a:p>
          <a:p>
            <a:r>
              <a:rPr lang="en-US"/>
              <a:t>TCP SYN Segment</a:t>
            </a:r>
          </a:p>
          <a:p>
            <a:r>
              <a:rPr lang="en-US"/>
              <a:t>From: 60.55.33.12:62600</a:t>
            </a:r>
          </a:p>
          <a:p>
            <a:r>
              <a:rPr lang="en-US"/>
              <a:t>To: 123.80.5.34:80</a:t>
            </a:r>
          </a:p>
        </p:txBody>
      </p:sp>
      <p:sp>
        <p:nvSpPr>
          <p:cNvPr id="43021" name="Text Box 14"/>
          <p:cNvSpPr txBox="1">
            <a:spLocks noChangeArrowheads="1"/>
          </p:cNvSpPr>
          <p:nvPr/>
        </p:nvSpPr>
        <p:spPr bwMode="auto">
          <a:xfrm>
            <a:off x="4191000" y="3276600"/>
            <a:ext cx="990600" cy="641350"/>
          </a:xfrm>
          <a:prstGeom prst="rect">
            <a:avLst/>
          </a:prstGeom>
          <a:noFill/>
          <a:ln w="9525">
            <a:noFill/>
            <a:miter lim="800000"/>
            <a:headEnd/>
            <a:tailEnd/>
          </a:ln>
        </p:spPr>
        <p:txBody>
          <a:bodyPr>
            <a:spAutoFit/>
          </a:bodyPr>
          <a:lstStyle/>
          <a:p>
            <a:pPr>
              <a:spcBef>
                <a:spcPct val="50000"/>
              </a:spcBef>
            </a:pPr>
            <a:r>
              <a:rPr lang="en-US"/>
              <a:t>Stateful Firewall</a:t>
            </a:r>
          </a:p>
        </p:txBody>
      </p:sp>
      <p:sp>
        <p:nvSpPr>
          <p:cNvPr id="43022" name="Rectangle 15"/>
          <p:cNvSpPr>
            <a:spLocks noChangeArrowheads="1"/>
          </p:cNvSpPr>
          <p:nvPr/>
        </p:nvSpPr>
        <p:spPr bwMode="auto">
          <a:xfrm>
            <a:off x="533400" y="4800600"/>
            <a:ext cx="990600" cy="762000"/>
          </a:xfrm>
          <a:prstGeom prst="rect">
            <a:avLst/>
          </a:prstGeom>
          <a:solidFill>
            <a:schemeClr val="bg1"/>
          </a:solidFill>
          <a:ln w="9525">
            <a:solidFill>
              <a:schemeClr val="tx1"/>
            </a:solidFill>
            <a:miter lim="800000"/>
            <a:headEnd/>
            <a:tailEnd/>
          </a:ln>
        </p:spPr>
        <p:txBody>
          <a:bodyPr wrap="none" anchor="ctr"/>
          <a:lstStyle/>
          <a:p>
            <a:r>
              <a:rPr lang="en-US"/>
              <a:t>Type</a:t>
            </a:r>
          </a:p>
        </p:txBody>
      </p:sp>
      <p:sp>
        <p:nvSpPr>
          <p:cNvPr id="43023" name="Rectangle 16"/>
          <p:cNvSpPr>
            <a:spLocks noChangeArrowheads="1"/>
          </p:cNvSpPr>
          <p:nvPr/>
        </p:nvSpPr>
        <p:spPr bwMode="auto">
          <a:xfrm>
            <a:off x="533400" y="5562600"/>
            <a:ext cx="990600" cy="457200"/>
          </a:xfrm>
          <a:prstGeom prst="rect">
            <a:avLst/>
          </a:prstGeom>
          <a:solidFill>
            <a:schemeClr val="accent2"/>
          </a:solidFill>
          <a:ln w="9525">
            <a:solidFill>
              <a:schemeClr val="tx1"/>
            </a:solidFill>
            <a:miter lim="800000"/>
            <a:headEnd/>
            <a:tailEnd/>
          </a:ln>
        </p:spPr>
        <p:txBody>
          <a:bodyPr wrap="none" anchor="ctr"/>
          <a:lstStyle/>
          <a:p>
            <a:r>
              <a:rPr lang="en-US"/>
              <a:t>TCP</a:t>
            </a:r>
          </a:p>
        </p:txBody>
      </p:sp>
      <p:sp>
        <p:nvSpPr>
          <p:cNvPr id="43024" name="Rectangle 17"/>
          <p:cNvSpPr>
            <a:spLocks noChangeArrowheads="1"/>
          </p:cNvSpPr>
          <p:nvPr/>
        </p:nvSpPr>
        <p:spPr bwMode="auto">
          <a:xfrm>
            <a:off x="1524000" y="4800600"/>
            <a:ext cx="1447800" cy="762000"/>
          </a:xfrm>
          <a:prstGeom prst="rect">
            <a:avLst/>
          </a:prstGeom>
          <a:solidFill>
            <a:schemeClr val="bg1"/>
          </a:solidFill>
          <a:ln w="9525">
            <a:solidFill>
              <a:schemeClr val="tx1"/>
            </a:solidFill>
            <a:miter lim="800000"/>
            <a:headEnd/>
            <a:tailEnd/>
          </a:ln>
        </p:spPr>
        <p:txBody>
          <a:bodyPr wrap="none" anchor="ctr"/>
          <a:lstStyle/>
          <a:p>
            <a:r>
              <a:rPr lang="en-US"/>
              <a:t>Internal</a:t>
            </a:r>
          </a:p>
          <a:p>
            <a:r>
              <a:rPr lang="en-US"/>
              <a:t>IP</a:t>
            </a:r>
          </a:p>
        </p:txBody>
      </p:sp>
      <p:sp>
        <p:nvSpPr>
          <p:cNvPr id="43025" name="Rectangle 18"/>
          <p:cNvSpPr>
            <a:spLocks noChangeArrowheads="1"/>
          </p:cNvSpPr>
          <p:nvPr/>
        </p:nvSpPr>
        <p:spPr bwMode="auto">
          <a:xfrm>
            <a:off x="1524000" y="5562600"/>
            <a:ext cx="1447800" cy="457200"/>
          </a:xfrm>
          <a:prstGeom prst="rect">
            <a:avLst/>
          </a:prstGeom>
          <a:solidFill>
            <a:schemeClr val="accent2"/>
          </a:solidFill>
          <a:ln w="9525">
            <a:solidFill>
              <a:schemeClr val="tx1"/>
            </a:solidFill>
            <a:miter lim="800000"/>
            <a:headEnd/>
            <a:tailEnd/>
          </a:ln>
        </p:spPr>
        <p:txBody>
          <a:bodyPr wrap="none" anchor="ctr"/>
          <a:lstStyle/>
          <a:p>
            <a:r>
              <a:rPr lang="en-US"/>
              <a:t>60.55.33.12</a:t>
            </a:r>
          </a:p>
        </p:txBody>
      </p:sp>
      <p:sp>
        <p:nvSpPr>
          <p:cNvPr id="43026" name="Rectangle 19"/>
          <p:cNvSpPr>
            <a:spLocks noChangeArrowheads="1"/>
          </p:cNvSpPr>
          <p:nvPr/>
        </p:nvSpPr>
        <p:spPr bwMode="auto">
          <a:xfrm>
            <a:off x="2971800" y="4800600"/>
            <a:ext cx="1371600" cy="762000"/>
          </a:xfrm>
          <a:prstGeom prst="rect">
            <a:avLst/>
          </a:prstGeom>
          <a:solidFill>
            <a:schemeClr val="bg1"/>
          </a:solidFill>
          <a:ln w="9525">
            <a:solidFill>
              <a:schemeClr val="tx1"/>
            </a:solidFill>
            <a:miter lim="800000"/>
            <a:headEnd/>
            <a:tailEnd/>
          </a:ln>
        </p:spPr>
        <p:txBody>
          <a:bodyPr wrap="none" anchor="ctr"/>
          <a:lstStyle/>
          <a:p>
            <a:r>
              <a:rPr lang="en-US"/>
              <a:t>Internal</a:t>
            </a:r>
          </a:p>
          <a:p>
            <a:r>
              <a:rPr lang="en-US"/>
              <a:t>Port</a:t>
            </a:r>
          </a:p>
        </p:txBody>
      </p:sp>
      <p:sp>
        <p:nvSpPr>
          <p:cNvPr id="43027" name="Rectangle 20"/>
          <p:cNvSpPr>
            <a:spLocks noChangeArrowheads="1"/>
          </p:cNvSpPr>
          <p:nvPr/>
        </p:nvSpPr>
        <p:spPr bwMode="auto">
          <a:xfrm>
            <a:off x="2971800" y="5562600"/>
            <a:ext cx="1371600" cy="457200"/>
          </a:xfrm>
          <a:prstGeom prst="rect">
            <a:avLst/>
          </a:prstGeom>
          <a:solidFill>
            <a:schemeClr val="accent2"/>
          </a:solidFill>
          <a:ln w="9525">
            <a:solidFill>
              <a:schemeClr val="tx1"/>
            </a:solidFill>
            <a:miter lim="800000"/>
            <a:headEnd/>
            <a:tailEnd/>
          </a:ln>
        </p:spPr>
        <p:txBody>
          <a:bodyPr wrap="none" anchor="ctr"/>
          <a:lstStyle/>
          <a:p>
            <a:r>
              <a:rPr lang="en-US"/>
              <a:t>62600</a:t>
            </a:r>
          </a:p>
        </p:txBody>
      </p:sp>
      <p:sp>
        <p:nvSpPr>
          <p:cNvPr id="43028" name="Rectangle 21"/>
          <p:cNvSpPr>
            <a:spLocks noChangeArrowheads="1"/>
          </p:cNvSpPr>
          <p:nvPr/>
        </p:nvSpPr>
        <p:spPr bwMode="auto">
          <a:xfrm>
            <a:off x="4343400" y="4800600"/>
            <a:ext cx="1447800" cy="762000"/>
          </a:xfrm>
          <a:prstGeom prst="rect">
            <a:avLst/>
          </a:prstGeom>
          <a:solidFill>
            <a:schemeClr val="bg1"/>
          </a:solidFill>
          <a:ln w="9525">
            <a:solidFill>
              <a:schemeClr val="tx1"/>
            </a:solidFill>
            <a:miter lim="800000"/>
            <a:headEnd/>
            <a:tailEnd/>
          </a:ln>
        </p:spPr>
        <p:txBody>
          <a:bodyPr wrap="none" anchor="ctr"/>
          <a:lstStyle/>
          <a:p>
            <a:r>
              <a:rPr lang="en-US"/>
              <a:t>External</a:t>
            </a:r>
          </a:p>
          <a:p>
            <a:r>
              <a:rPr lang="en-US"/>
              <a:t>IP</a:t>
            </a:r>
          </a:p>
        </p:txBody>
      </p:sp>
      <p:sp>
        <p:nvSpPr>
          <p:cNvPr id="43029" name="Rectangle 22"/>
          <p:cNvSpPr>
            <a:spLocks noChangeArrowheads="1"/>
          </p:cNvSpPr>
          <p:nvPr/>
        </p:nvSpPr>
        <p:spPr bwMode="auto">
          <a:xfrm>
            <a:off x="4343400" y="5562600"/>
            <a:ext cx="1447800" cy="457200"/>
          </a:xfrm>
          <a:prstGeom prst="rect">
            <a:avLst/>
          </a:prstGeom>
          <a:solidFill>
            <a:schemeClr val="accent2"/>
          </a:solidFill>
          <a:ln w="9525">
            <a:solidFill>
              <a:schemeClr val="tx1"/>
            </a:solidFill>
            <a:miter lim="800000"/>
            <a:headEnd/>
            <a:tailEnd/>
          </a:ln>
        </p:spPr>
        <p:txBody>
          <a:bodyPr wrap="none" anchor="ctr"/>
          <a:lstStyle/>
          <a:p>
            <a:r>
              <a:rPr lang="en-US"/>
              <a:t>123.80.5.34</a:t>
            </a:r>
          </a:p>
        </p:txBody>
      </p:sp>
      <p:sp>
        <p:nvSpPr>
          <p:cNvPr id="43030" name="Rectangle 23"/>
          <p:cNvSpPr>
            <a:spLocks noChangeArrowheads="1"/>
          </p:cNvSpPr>
          <p:nvPr/>
        </p:nvSpPr>
        <p:spPr bwMode="auto">
          <a:xfrm>
            <a:off x="5791200" y="4800600"/>
            <a:ext cx="1143000" cy="762000"/>
          </a:xfrm>
          <a:prstGeom prst="rect">
            <a:avLst/>
          </a:prstGeom>
          <a:solidFill>
            <a:schemeClr val="bg1"/>
          </a:solidFill>
          <a:ln w="9525">
            <a:solidFill>
              <a:schemeClr val="tx1"/>
            </a:solidFill>
            <a:miter lim="800000"/>
            <a:headEnd/>
            <a:tailEnd/>
          </a:ln>
        </p:spPr>
        <p:txBody>
          <a:bodyPr wrap="none" anchor="ctr"/>
          <a:lstStyle/>
          <a:p>
            <a:r>
              <a:rPr lang="en-US"/>
              <a:t>External</a:t>
            </a:r>
          </a:p>
          <a:p>
            <a:r>
              <a:rPr lang="en-US"/>
              <a:t>Port</a:t>
            </a:r>
          </a:p>
        </p:txBody>
      </p:sp>
      <p:sp>
        <p:nvSpPr>
          <p:cNvPr id="43031" name="Rectangle 24"/>
          <p:cNvSpPr>
            <a:spLocks noChangeArrowheads="1"/>
          </p:cNvSpPr>
          <p:nvPr/>
        </p:nvSpPr>
        <p:spPr bwMode="auto">
          <a:xfrm>
            <a:off x="5791200" y="5562600"/>
            <a:ext cx="1143000" cy="457200"/>
          </a:xfrm>
          <a:prstGeom prst="rect">
            <a:avLst/>
          </a:prstGeom>
          <a:solidFill>
            <a:schemeClr val="accent2"/>
          </a:solidFill>
          <a:ln w="9525">
            <a:solidFill>
              <a:schemeClr val="tx1"/>
            </a:solidFill>
            <a:miter lim="800000"/>
            <a:headEnd/>
            <a:tailEnd/>
          </a:ln>
        </p:spPr>
        <p:txBody>
          <a:bodyPr wrap="none" anchor="ctr"/>
          <a:lstStyle/>
          <a:p>
            <a:r>
              <a:rPr lang="en-US"/>
              <a:t>80</a:t>
            </a:r>
          </a:p>
        </p:txBody>
      </p:sp>
      <p:sp>
        <p:nvSpPr>
          <p:cNvPr id="43032" name="Rectangle 25"/>
          <p:cNvSpPr>
            <a:spLocks noChangeArrowheads="1"/>
          </p:cNvSpPr>
          <p:nvPr/>
        </p:nvSpPr>
        <p:spPr bwMode="auto">
          <a:xfrm>
            <a:off x="6934200" y="4800600"/>
            <a:ext cx="990600" cy="762000"/>
          </a:xfrm>
          <a:prstGeom prst="rect">
            <a:avLst/>
          </a:prstGeom>
          <a:solidFill>
            <a:schemeClr val="bg1"/>
          </a:solidFill>
          <a:ln w="9525">
            <a:solidFill>
              <a:schemeClr val="tx1"/>
            </a:solidFill>
            <a:miter lim="800000"/>
            <a:headEnd/>
            <a:tailEnd/>
          </a:ln>
        </p:spPr>
        <p:txBody>
          <a:bodyPr wrap="none" anchor="ctr"/>
          <a:lstStyle/>
          <a:p>
            <a:r>
              <a:rPr lang="en-US"/>
              <a:t>Status</a:t>
            </a:r>
          </a:p>
        </p:txBody>
      </p:sp>
      <p:sp>
        <p:nvSpPr>
          <p:cNvPr id="43033" name="Rectangle 26"/>
          <p:cNvSpPr>
            <a:spLocks noChangeArrowheads="1"/>
          </p:cNvSpPr>
          <p:nvPr/>
        </p:nvSpPr>
        <p:spPr bwMode="auto">
          <a:xfrm>
            <a:off x="6934200" y="5562600"/>
            <a:ext cx="990600" cy="457200"/>
          </a:xfrm>
          <a:prstGeom prst="rect">
            <a:avLst/>
          </a:prstGeom>
          <a:solidFill>
            <a:schemeClr val="accent2"/>
          </a:solidFill>
          <a:ln w="9525">
            <a:solidFill>
              <a:schemeClr val="tx1"/>
            </a:solidFill>
            <a:miter lim="800000"/>
            <a:headEnd/>
            <a:tailEnd/>
          </a:ln>
        </p:spPr>
        <p:txBody>
          <a:bodyPr wrap="none" anchor="ctr"/>
          <a:lstStyle/>
          <a:p>
            <a:r>
              <a:rPr lang="en-US"/>
              <a:t>OK</a:t>
            </a:r>
          </a:p>
        </p:txBody>
      </p:sp>
      <p:sp>
        <p:nvSpPr>
          <p:cNvPr id="43034" name="Text Box 27"/>
          <p:cNvSpPr txBox="1">
            <a:spLocks noChangeArrowheads="1"/>
          </p:cNvSpPr>
          <p:nvPr/>
        </p:nvSpPr>
        <p:spPr bwMode="auto">
          <a:xfrm>
            <a:off x="3276600" y="4419600"/>
            <a:ext cx="1974850" cy="366713"/>
          </a:xfrm>
          <a:prstGeom prst="rect">
            <a:avLst/>
          </a:prstGeom>
          <a:noFill/>
          <a:ln w="9525">
            <a:noFill/>
            <a:miter lim="800000"/>
            <a:headEnd/>
            <a:tailEnd/>
          </a:ln>
        </p:spPr>
        <p:txBody>
          <a:bodyPr wrap="none">
            <a:spAutoFit/>
          </a:bodyPr>
          <a:lstStyle/>
          <a:p>
            <a:pPr algn="l"/>
            <a:r>
              <a:rPr lang="en-US"/>
              <a:t>Connection Table</a:t>
            </a:r>
          </a:p>
        </p:txBody>
      </p:sp>
      <p:sp>
        <p:nvSpPr>
          <p:cNvPr id="43035" name="Text Box 28"/>
          <p:cNvSpPr txBox="1">
            <a:spLocks noChangeArrowheads="1"/>
          </p:cNvSpPr>
          <p:nvPr/>
        </p:nvSpPr>
        <p:spPr bwMode="auto">
          <a:xfrm>
            <a:off x="1600200" y="3160713"/>
            <a:ext cx="1720850" cy="1190625"/>
          </a:xfrm>
          <a:prstGeom prst="rect">
            <a:avLst/>
          </a:prstGeom>
          <a:noFill/>
          <a:ln w="9525">
            <a:noFill/>
            <a:miter lim="800000"/>
            <a:headEnd/>
            <a:tailEnd/>
          </a:ln>
        </p:spPr>
        <p:txBody>
          <a:bodyPr wrap="none">
            <a:spAutoFit/>
          </a:bodyPr>
          <a:lstStyle/>
          <a:p>
            <a:r>
              <a:rPr lang="en-US" dirty="0"/>
              <a:t>Note: Outgoing</a:t>
            </a:r>
          </a:p>
          <a:p>
            <a:r>
              <a:rPr lang="en-US" dirty="0"/>
              <a:t>Connections</a:t>
            </a:r>
          </a:p>
          <a:p>
            <a:r>
              <a:rPr lang="en-US" dirty="0"/>
              <a:t>Allowed By</a:t>
            </a:r>
          </a:p>
          <a:p>
            <a:r>
              <a:rPr lang="en-US" dirty="0"/>
              <a:t>Default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43" name="Picture 13"/>
          <p:cNvPicPr>
            <a:picLocks noGrp="1" noChangeAspect="1" noChangeArrowheads="1"/>
          </p:cNvPicPr>
          <p:nvPr>
            <p:ph idx="1"/>
          </p:nvPr>
        </p:nvPicPr>
        <p:blipFill>
          <a:blip r:embed="rId2"/>
          <a:srcRect/>
          <a:stretch>
            <a:fillRect/>
          </a:stretch>
        </p:blipFill>
        <p:spPr>
          <a:xfrm>
            <a:off x="4297363" y="1765300"/>
            <a:ext cx="962025" cy="327025"/>
          </a:xfrm>
          <a:noFill/>
        </p:spPr>
      </p:pic>
      <p:grpSp>
        <p:nvGrpSpPr>
          <p:cNvPr id="44035" name="Group 3"/>
          <p:cNvGrpSpPr>
            <a:grpSpLocks/>
          </p:cNvGrpSpPr>
          <p:nvPr/>
        </p:nvGrpSpPr>
        <p:grpSpPr bwMode="auto">
          <a:xfrm>
            <a:off x="7829550" y="1524000"/>
            <a:ext cx="1390650" cy="2078038"/>
            <a:chOff x="4548" y="1764"/>
            <a:chExt cx="876" cy="1309"/>
          </a:xfrm>
        </p:grpSpPr>
        <p:pic>
          <p:nvPicPr>
            <p:cNvPr id="44061" name="Picture 4" descr="FILSERVI"/>
            <p:cNvPicPr>
              <a:picLocks noChangeAspect="1" noChangeArrowheads="1"/>
            </p:cNvPicPr>
            <p:nvPr/>
          </p:nvPicPr>
          <p:blipFill>
            <a:blip r:embed="rId3"/>
            <a:srcRect/>
            <a:stretch>
              <a:fillRect/>
            </a:stretch>
          </p:blipFill>
          <p:spPr bwMode="auto">
            <a:xfrm>
              <a:off x="4768" y="1764"/>
              <a:ext cx="416" cy="720"/>
            </a:xfrm>
            <a:prstGeom prst="rect">
              <a:avLst/>
            </a:prstGeom>
            <a:noFill/>
            <a:ln w="9525">
              <a:noFill/>
              <a:miter lim="800000"/>
              <a:headEnd/>
              <a:tailEnd/>
            </a:ln>
          </p:spPr>
        </p:pic>
        <p:sp>
          <p:nvSpPr>
            <p:cNvPr id="44062" name="Text Box 5"/>
            <p:cNvSpPr txBox="1">
              <a:spLocks noChangeArrowheads="1"/>
            </p:cNvSpPr>
            <p:nvPr/>
          </p:nvSpPr>
          <p:spPr bwMode="auto">
            <a:xfrm>
              <a:off x="4548" y="2496"/>
              <a:ext cx="876" cy="577"/>
            </a:xfrm>
            <a:prstGeom prst="rect">
              <a:avLst/>
            </a:prstGeom>
            <a:noFill/>
            <a:ln w="9525">
              <a:noFill/>
              <a:miter lim="800000"/>
              <a:headEnd/>
              <a:tailEnd/>
            </a:ln>
          </p:spPr>
          <p:txBody>
            <a:bodyPr wrap="none">
              <a:spAutoFit/>
            </a:bodyPr>
            <a:lstStyle/>
            <a:p>
              <a:r>
                <a:rPr lang="en-US"/>
                <a:t>External</a:t>
              </a:r>
            </a:p>
            <a:p>
              <a:r>
                <a:rPr lang="en-US"/>
                <a:t>Webserver</a:t>
              </a:r>
            </a:p>
            <a:p>
              <a:r>
                <a:rPr lang="en-US"/>
                <a:t>123.80.5.34</a:t>
              </a:r>
            </a:p>
          </p:txBody>
        </p:sp>
      </p:grpSp>
      <p:pic>
        <p:nvPicPr>
          <p:cNvPr id="44036" name="Picture 6" descr="MACPOWRI"/>
          <p:cNvPicPr>
            <a:picLocks noChangeAspect="1" noChangeArrowheads="1"/>
          </p:cNvPicPr>
          <p:nvPr/>
        </p:nvPicPr>
        <p:blipFill>
          <a:blip r:embed="rId4"/>
          <a:srcRect/>
          <a:stretch>
            <a:fillRect/>
          </a:stretch>
        </p:blipFill>
        <p:spPr bwMode="auto">
          <a:xfrm>
            <a:off x="476250" y="1543050"/>
            <a:ext cx="866775" cy="971550"/>
          </a:xfrm>
          <a:prstGeom prst="rect">
            <a:avLst/>
          </a:prstGeom>
          <a:noFill/>
          <a:ln w="9525">
            <a:noFill/>
            <a:miter lim="800000"/>
            <a:headEnd/>
            <a:tailEnd/>
          </a:ln>
        </p:spPr>
      </p:pic>
      <p:sp>
        <p:nvSpPr>
          <p:cNvPr id="44037" name="Text Box 7"/>
          <p:cNvSpPr txBox="1">
            <a:spLocks noChangeArrowheads="1"/>
          </p:cNvSpPr>
          <p:nvPr/>
        </p:nvSpPr>
        <p:spPr bwMode="auto">
          <a:xfrm>
            <a:off x="152400" y="2493963"/>
            <a:ext cx="1390650" cy="915987"/>
          </a:xfrm>
          <a:prstGeom prst="rect">
            <a:avLst/>
          </a:prstGeom>
          <a:noFill/>
          <a:ln w="9525">
            <a:noFill/>
            <a:miter lim="800000"/>
            <a:headEnd/>
            <a:tailEnd/>
          </a:ln>
        </p:spPr>
        <p:txBody>
          <a:bodyPr wrap="none">
            <a:spAutoFit/>
          </a:bodyPr>
          <a:lstStyle/>
          <a:p>
            <a:r>
              <a:rPr lang="en-US"/>
              <a:t>Internal</a:t>
            </a:r>
          </a:p>
          <a:p>
            <a:r>
              <a:rPr lang="en-US"/>
              <a:t>Client PC</a:t>
            </a:r>
          </a:p>
          <a:p>
            <a:r>
              <a:rPr lang="en-US"/>
              <a:t>60.55.33.12</a:t>
            </a:r>
          </a:p>
        </p:txBody>
      </p:sp>
      <p:sp>
        <p:nvSpPr>
          <p:cNvPr id="44038" name="Line 8"/>
          <p:cNvSpPr>
            <a:spLocks noChangeShapeType="1"/>
          </p:cNvSpPr>
          <p:nvPr/>
        </p:nvSpPr>
        <p:spPr bwMode="auto">
          <a:xfrm>
            <a:off x="1643063" y="2362200"/>
            <a:ext cx="2638425" cy="0"/>
          </a:xfrm>
          <a:prstGeom prst="line">
            <a:avLst/>
          </a:prstGeom>
          <a:noFill/>
          <a:ln w="9525">
            <a:solidFill>
              <a:schemeClr val="tx1"/>
            </a:solidFill>
            <a:round/>
            <a:headEnd type="triangle" w="med" len="med"/>
            <a:tailEnd/>
          </a:ln>
        </p:spPr>
        <p:txBody>
          <a:bodyPr/>
          <a:lstStyle/>
          <a:p>
            <a:endParaRPr lang="en-US"/>
          </a:p>
        </p:txBody>
      </p:sp>
      <p:sp>
        <p:nvSpPr>
          <p:cNvPr id="44039" name="Line 9"/>
          <p:cNvSpPr>
            <a:spLocks noChangeShapeType="1"/>
          </p:cNvSpPr>
          <p:nvPr/>
        </p:nvSpPr>
        <p:spPr bwMode="auto">
          <a:xfrm>
            <a:off x="5453063" y="2362200"/>
            <a:ext cx="2514600" cy="0"/>
          </a:xfrm>
          <a:prstGeom prst="line">
            <a:avLst/>
          </a:prstGeom>
          <a:noFill/>
          <a:ln w="9525">
            <a:solidFill>
              <a:schemeClr val="tx1"/>
            </a:solidFill>
            <a:round/>
            <a:headEnd type="triangle" w="med" len="med"/>
            <a:tailEnd/>
          </a:ln>
        </p:spPr>
        <p:txBody>
          <a:bodyPr/>
          <a:lstStyle/>
          <a:p>
            <a:endParaRPr lang="en-US"/>
          </a:p>
        </p:txBody>
      </p:sp>
      <p:sp>
        <p:nvSpPr>
          <p:cNvPr id="44040" name="Text Box 10"/>
          <p:cNvSpPr txBox="1">
            <a:spLocks noChangeArrowheads="1"/>
          </p:cNvSpPr>
          <p:nvPr/>
        </p:nvSpPr>
        <p:spPr bwMode="auto">
          <a:xfrm>
            <a:off x="1619250" y="2362200"/>
            <a:ext cx="2686050" cy="1190625"/>
          </a:xfrm>
          <a:prstGeom prst="rect">
            <a:avLst/>
          </a:prstGeom>
          <a:noFill/>
          <a:ln w="9525">
            <a:noFill/>
            <a:miter lim="800000"/>
            <a:headEnd/>
            <a:tailEnd/>
          </a:ln>
        </p:spPr>
        <p:txBody>
          <a:bodyPr wrap="none">
            <a:spAutoFit/>
          </a:bodyPr>
          <a:lstStyle/>
          <a:p>
            <a:r>
              <a:rPr lang="en-US"/>
              <a:t> 6.</a:t>
            </a:r>
          </a:p>
          <a:p>
            <a:r>
              <a:rPr lang="en-US"/>
              <a:t>TCP SYN/ACK Segment</a:t>
            </a:r>
          </a:p>
          <a:p>
            <a:r>
              <a:rPr lang="en-US"/>
              <a:t>From: 123.80.5.34:80</a:t>
            </a:r>
          </a:p>
          <a:p>
            <a:r>
              <a:rPr lang="en-US"/>
              <a:t>To: 60.55.33.12:62600</a:t>
            </a:r>
          </a:p>
        </p:txBody>
      </p:sp>
      <p:sp>
        <p:nvSpPr>
          <p:cNvPr id="44041" name="Text Box 11"/>
          <p:cNvSpPr txBox="1">
            <a:spLocks noChangeArrowheads="1"/>
          </p:cNvSpPr>
          <p:nvPr/>
        </p:nvSpPr>
        <p:spPr bwMode="auto">
          <a:xfrm>
            <a:off x="3822700" y="3581400"/>
            <a:ext cx="2051050" cy="915988"/>
          </a:xfrm>
          <a:prstGeom prst="rect">
            <a:avLst/>
          </a:prstGeom>
          <a:noFill/>
          <a:ln w="9525">
            <a:noFill/>
            <a:miter lim="800000"/>
            <a:headEnd/>
            <a:tailEnd/>
          </a:ln>
        </p:spPr>
        <p:txBody>
          <a:bodyPr wrap="none">
            <a:spAutoFit/>
          </a:bodyPr>
          <a:lstStyle/>
          <a:p>
            <a:r>
              <a:rPr lang="en-US"/>
              <a:t> 5.</a:t>
            </a:r>
          </a:p>
          <a:p>
            <a:r>
              <a:rPr lang="en-US"/>
              <a:t>Check Connection</a:t>
            </a:r>
          </a:p>
          <a:p>
            <a:r>
              <a:rPr lang="en-US"/>
              <a:t>OK</a:t>
            </a:r>
          </a:p>
        </p:txBody>
      </p:sp>
      <p:sp>
        <p:nvSpPr>
          <p:cNvPr id="44042" name="Text Box 12"/>
          <p:cNvSpPr txBox="1">
            <a:spLocks noChangeArrowheads="1"/>
          </p:cNvSpPr>
          <p:nvPr/>
        </p:nvSpPr>
        <p:spPr bwMode="auto">
          <a:xfrm>
            <a:off x="5295900" y="2362200"/>
            <a:ext cx="2686050" cy="1190625"/>
          </a:xfrm>
          <a:prstGeom prst="rect">
            <a:avLst/>
          </a:prstGeom>
          <a:noFill/>
          <a:ln w="9525">
            <a:noFill/>
            <a:miter lim="800000"/>
            <a:headEnd/>
            <a:tailEnd/>
          </a:ln>
        </p:spPr>
        <p:txBody>
          <a:bodyPr wrap="none">
            <a:spAutoFit/>
          </a:bodyPr>
          <a:lstStyle/>
          <a:p>
            <a:r>
              <a:rPr lang="en-US"/>
              <a:t> 4.</a:t>
            </a:r>
          </a:p>
          <a:p>
            <a:r>
              <a:rPr lang="en-US"/>
              <a:t>TCP SYN/ACK Segment</a:t>
            </a:r>
          </a:p>
          <a:p>
            <a:r>
              <a:rPr lang="en-US"/>
              <a:t>From: 123.80.5.34:80</a:t>
            </a:r>
          </a:p>
          <a:p>
            <a:r>
              <a:rPr lang="en-US"/>
              <a:t>To: 60.55.33.12:62600</a:t>
            </a:r>
          </a:p>
        </p:txBody>
      </p:sp>
      <p:sp>
        <p:nvSpPr>
          <p:cNvPr id="44044" name="Text Box 14"/>
          <p:cNvSpPr txBox="1">
            <a:spLocks noChangeArrowheads="1"/>
          </p:cNvSpPr>
          <p:nvPr/>
        </p:nvSpPr>
        <p:spPr bwMode="auto">
          <a:xfrm>
            <a:off x="4343400" y="2362200"/>
            <a:ext cx="990600" cy="641350"/>
          </a:xfrm>
          <a:prstGeom prst="rect">
            <a:avLst/>
          </a:prstGeom>
          <a:noFill/>
          <a:ln w="9525">
            <a:noFill/>
            <a:miter lim="800000"/>
            <a:headEnd/>
            <a:tailEnd/>
          </a:ln>
        </p:spPr>
        <p:txBody>
          <a:bodyPr>
            <a:spAutoFit/>
          </a:bodyPr>
          <a:lstStyle/>
          <a:p>
            <a:pPr>
              <a:spcBef>
                <a:spcPct val="50000"/>
              </a:spcBef>
            </a:pPr>
            <a:r>
              <a:rPr lang="en-US"/>
              <a:t>Stateful Firewall</a:t>
            </a:r>
          </a:p>
        </p:txBody>
      </p:sp>
      <p:sp>
        <p:nvSpPr>
          <p:cNvPr id="44045" name="Rectangle 15"/>
          <p:cNvSpPr>
            <a:spLocks noChangeArrowheads="1"/>
          </p:cNvSpPr>
          <p:nvPr/>
        </p:nvSpPr>
        <p:spPr bwMode="auto">
          <a:xfrm>
            <a:off x="457200" y="4800600"/>
            <a:ext cx="990600" cy="762000"/>
          </a:xfrm>
          <a:prstGeom prst="rect">
            <a:avLst/>
          </a:prstGeom>
          <a:solidFill>
            <a:schemeClr val="bg1"/>
          </a:solidFill>
          <a:ln w="9525">
            <a:solidFill>
              <a:schemeClr val="tx1"/>
            </a:solidFill>
            <a:miter lim="800000"/>
            <a:headEnd/>
            <a:tailEnd/>
          </a:ln>
        </p:spPr>
        <p:txBody>
          <a:bodyPr wrap="none" anchor="ctr"/>
          <a:lstStyle/>
          <a:p>
            <a:r>
              <a:rPr lang="en-US"/>
              <a:t>Type</a:t>
            </a:r>
          </a:p>
        </p:txBody>
      </p:sp>
      <p:sp>
        <p:nvSpPr>
          <p:cNvPr id="44046" name="Rectangle 16"/>
          <p:cNvSpPr>
            <a:spLocks noChangeArrowheads="1"/>
          </p:cNvSpPr>
          <p:nvPr/>
        </p:nvSpPr>
        <p:spPr bwMode="auto">
          <a:xfrm>
            <a:off x="457200" y="5562600"/>
            <a:ext cx="990600" cy="457200"/>
          </a:xfrm>
          <a:prstGeom prst="rect">
            <a:avLst/>
          </a:prstGeom>
          <a:solidFill>
            <a:schemeClr val="accent2"/>
          </a:solidFill>
          <a:ln w="9525">
            <a:solidFill>
              <a:schemeClr val="tx1"/>
            </a:solidFill>
            <a:miter lim="800000"/>
            <a:headEnd/>
            <a:tailEnd/>
          </a:ln>
        </p:spPr>
        <p:txBody>
          <a:bodyPr wrap="none" anchor="ctr"/>
          <a:lstStyle/>
          <a:p>
            <a:r>
              <a:rPr lang="en-US"/>
              <a:t>TCP</a:t>
            </a:r>
          </a:p>
        </p:txBody>
      </p:sp>
      <p:sp>
        <p:nvSpPr>
          <p:cNvPr id="44047" name="Rectangle 17"/>
          <p:cNvSpPr>
            <a:spLocks noChangeArrowheads="1"/>
          </p:cNvSpPr>
          <p:nvPr/>
        </p:nvSpPr>
        <p:spPr bwMode="auto">
          <a:xfrm>
            <a:off x="1447800" y="4800600"/>
            <a:ext cx="1447800" cy="762000"/>
          </a:xfrm>
          <a:prstGeom prst="rect">
            <a:avLst/>
          </a:prstGeom>
          <a:solidFill>
            <a:schemeClr val="bg1"/>
          </a:solidFill>
          <a:ln w="9525">
            <a:solidFill>
              <a:schemeClr val="tx1"/>
            </a:solidFill>
            <a:miter lim="800000"/>
            <a:headEnd/>
            <a:tailEnd/>
          </a:ln>
        </p:spPr>
        <p:txBody>
          <a:bodyPr wrap="none" anchor="ctr"/>
          <a:lstStyle/>
          <a:p>
            <a:r>
              <a:rPr lang="en-US"/>
              <a:t>Internal</a:t>
            </a:r>
          </a:p>
          <a:p>
            <a:r>
              <a:rPr lang="en-US"/>
              <a:t>IP</a:t>
            </a:r>
          </a:p>
        </p:txBody>
      </p:sp>
      <p:sp>
        <p:nvSpPr>
          <p:cNvPr id="44048" name="Rectangle 18"/>
          <p:cNvSpPr>
            <a:spLocks noChangeArrowheads="1"/>
          </p:cNvSpPr>
          <p:nvPr/>
        </p:nvSpPr>
        <p:spPr bwMode="auto">
          <a:xfrm>
            <a:off x="1447800" y="5562600"/>
            <a:ext cx="1447800" cy="457200"/>
          </a:xfrm>
          <a:prstGeom prst="rect">
            <a:avLst/>
          </a:prstGeom>
          <a:solidFill>
            <a:schemeClr val="accent2"/>
          </a:solidFill>
          <a:ln w="9525">
            <a:solidFill>
              <a:schemeClr val="tx1"/>
            </a:solidFill>
            <a:miter lim="800000"/>
            <a:headEnd/>
            <a:tailEnd/>
          </a:ln>
        </p:spPr>
        <p:txBody>
          <a:bodyPr wrap="none" anchor="ctr"/>
          <a:lstStyle/>
          <a:p>
            <a:r>
              <a:rPr lang="en-US"/>
              <a:t>60.55.33.12</a:t>
            </a:r>
          </a:p>
        </p:txBody>
      </p:sp>
      <p:sp>
        <p:nvSpPr>
          <p:cNvPr id="44049" name="Rectangle 19"/>
          <p:cNvSpPr>
            <a:spLocks noChangeArrowheads="1"/>
          </p:cNvSpPr>
          <p:nvPr/>
        </p:nvSpPr>
        <p:spPr bwMode="auto">
          <a:xfrm>
            <a:off x="2895600" y="4800600"/>
            <a:ext cx="1371600" cy="762000"/>
          </a:xfrm>
          <a:prstGeom prst="rect">
            <a:avLst/>
          </a:prstGeom>
          <a:solidFill>
            <a:schemeClr val="bg1"/>
          </a:solidFill>
          <a:ln w="9525">
            <a:solidFill>
              <a:schemeClr val="tx1"/>
            </a:solidFill>
            <a:miter lim="800000"/>
            <a:headEnd/>
            <a:tailEnd/>
          </a:ln>
        </p:spPr>
        <p:txBody>
          <a:bodyPr wrap="none" anchor="ctr"/>
          <a:lstStyle/>
          <a:p>
            <a:r>
              <a:rPr lang="en-US"/>
              <a:t>Internal</a:t>
            </a:r>
          </a:p>
          <a:p>
            <a:r>
              <a:rPr lang="en-US"/>
              <a:t>Port</a:t>
            </a:r>
          </a:p>
        </p:txBody>
      </p:sp>
      <p:sp>
        <p:nvSpPr>
          <p:cNvPr id="44050" name="Rectangle 20"/>
          <p:cNvSpPr>
            <a:spLocks noChangeArrowheads="1"/>
          </p:cNvSpPr>
          <p:nvPr/>
        </p:nvSpPr>
        <p:spPr bwMode="auto">
          <a:xfrm>
            <a:off x="2895600" y="5562600"/>
            <a:ext cx="1371600" cy="457200"/>
          </a:xfrm>
          <a:prstGeom prst="rect">
            <a:avLst/>
          </a:prstGeom>
          <a:solidFill>
            <a:schemeClr val="accent2"/>
          </a:solidFill>
          <a:ln w="9525">
            <a:solidFill>
              <a:schemeClr val="tx1"/>
            </a:solidFill>
            <a:miter lim="800000"/>
            <a:headEnd/>
            <a:tailEnd/>
          </a:ln>
        </p:spPr>
        <p:txBody>
          <a:bodyPr wrap="none" anchor="ctr"/>
          <a:lstStyle/>
          <a:p>
            <a:r>
              <a:rPr lang="en-US"/>
              <a:t>62600</a:t>
            </a:r>
          </a:p>
        </p:txBody>
      </p:sp>
      <p:sp>
        <p:nvSpPr>
          <p:cNvPr id="44051" name="Rectangle 21"/>
          <p:cNvSpPr>
            <a:spLocks noChangeArrowheads="1"/>
          </p:cNvSpPr>
          <p:nvPr/>
        </p:nvSpPr>
        <p:spPr bwMode="auto">
          <a:xfrm>
            <a:off x="4267200" y="4800600"/>
            <a:ext cx="1447800" cy="762000"/>
          </a:xfrm>
          <a:prstGeom prst="rect">
            <a:avLst/>
          </a:prstGeom>
          <a:solidFill>
            <a:schemeClr val="bg1"/>
          </a:solidFill>
          <a:ln w="9525">
            <a:solidFill>
              <a:schemeClr val="tx1"/>
            </a:solidFill>
            <a:miter lim="800000"/>
            <a:headEnd/>
            <a:tailEnd/>
          </a:ln>
        </p:spPr>
        <p:txBody>
          <a:bodyPr wrap="none" anchor="ctr"/>
          <a:lstStyle/>
          <a:p>
            <a:r>
              <a:rPr lang="en-US"/>
              <a:t>External</a:t>
            </a:r>
          </a:p>
          <a:p>
            <a:r>
              <a:rPr lang="en-US"/>
              <a:t>IP</a:t>
            </a:r>
          </a:p>
        </p:txBody>
      </p:sp>
      <p:sp>
        <p:nvSpPr>
          <p:cNvPr id="44052" name="Rectangle 22"/>
          <p:cNvSpPr>
            <a:spLocks noChangeArrowheads="1"/>
          </p:cNvSpPr>
          <p:nvPr/>
        </p:nvSpPr>
        <p:spPr bwMode="auto">
          <a:xfrm>
            <a:off x="4267200" y="5562600"/>
            <a:ext cx="1447800" cy="457200"/>
          </a:xfrm>
          <a:prstGeom prst="rect">
            <a:avLst/>
          </a:prstGeom>
          <a:solidFill>
            <a:schemeClr val="accent2"/>
          </a:solidFill>
          <a:ln w="9525">
            <a:solidFill>
              <a:schemeClr val="tx1"/>
            </a:solidFill>
            <a:miter lim="800000"/>
            <a:headEnd/>
            <a:tailEnd/>
          </a:ln>
        </p:spPr>
        <p:txBody>
          <a:bodyPr wrap="none" anchor="ctr"/>
          <a:lstStyle/>
          <a:p>
            <a:r>
              <a:rPr lang="en-US"/>
              <a:t>123.80.5.34</a:t>
            </a:r>
          </a:p>
        </p:txBody>
      </p:sp>
      <p:sp>
        <p:nvSpPr>
          <p:cNvPr id="44053" name="Rectangle 23"/>
          <p:cNvSpPr>
            <a:spLocks noChangeArrowheads="1"/>
          </p:cNvSpPr>
          <p:nvPr/>
        </p:nvSpPr>
        <p:spPr bwMode="auto">
          <a:xfrm>
            <a:off x="5715000" y="4800600"/>
            <a:ext cx="1143000" cy="762000"/>
          </a:xfrm>
          <a:prstGeom prst="rect">
            <a:avLst/>
          </a:prstGeom>
          <a:solidFill>
            <a:schemeClr val="bg1"/>
          </a:solidFill>
          <a:ln w="9525">
            <a:solidFill>
              <a:schemeClr val="tx1"/>
            </a:solidFill>
            <a:miter lim="800000"/>
            <a:headEnd/>
            <a:tailEnd/>
          </a:ln>
        </p:spPr>
        <p:txBody>
          <a:bodyPr wrap="none" anchor="ctr"/>
          <a:lstStyle/>
          <a:p>
            <a:r>
              <a:rPr lang="en-US"/>
              <a:t>External</a:t>
            </a:r>
          </a:p>
          <a:p>
            <a:r>
              <a:rPr lang="en-US"/>
              <a:t>Port</a:t>
            </a:r>
          </a:p>
        </p:txBody>
      </p:sp>
      <p:sp>
        <p:nvSpPr>
          <p:cNvPr id="44054" name="Rectangle 24"/>
          <p:cNvSpPr>
            <a:spLocks noChangeArrowheads="1"/>
          </p:cNvSpPr>
          <p:nvPr/>
        </p:nvSpPr>
        <p:spPr bwMode="auto">
          <a:xfrm>
            <a:off x="5715000" y="5562600"/>
            <a:ext cx="1143000" cy="457200"/>
          </a:xfrm>
          <a:prstGeom prst="rect">
            <a:avLst/>
          </a:prstGeom>
          <a:solidFill>
            <a:schemeClr val="accent2"/>
          </a:solidFill>
          <a:ln w="9525">
            <a:solidFill>
              <a:schemeClr val="tx1"/>
            </a:solidFill>
            <a:miter lim="800000"/>
            <a:headEnd/>
            <a:tailEnd/>
          </a:ln>
        </p:spPr>
        <p:txBody>
          <a:bodyPr wrap="none" anchor="ctr"/>
          <a:lstStyle/>
          <a:p>
            <a:r>
              <a:rPr lang="en-US"/>
              <a:t>80</a:t>
            </a:r>
          </a:p>
        </p:txBody>
      </p:sp>
      <p:sp>
        <p:nvSpPr>
          <p:cNvPr id="44055" name="Rectangle 25"/>
          <p:cNvSpPr>
            <a:spLocks noChangeArrowheads="1"/>
          </p:cNvSpPr>
          <p:nvPr/>
        </p:nvSpPr>
        <p:spPr bwMode="auto">
          <a:xfrm>
            <a:off x="6858000" y="4800600"/>
            <a:ext cx="990600" cy="762000"/>
          </a:xfrm>
          <a:prstGeom prst="rect">
            <a:avLst/>
          </a:prstGeom>
          <a:solidFill>
            <a:schemeClr val="bg1"/>
          </a:solidFill>
          <a:ln w="9525">
            <a:solidFill>
              <a:schemeClr val="tx1"/>
            </a:solidFill>
            <a:miter lim="800000"/>
            <a:headEnd/>
            <a:tailEnd/>
          </a:ln>
        </p:spPr>
        <p:txBody>
          <a:bodyPr wrap="none" anchor="ctr"/>
          <a:lstStyle/>
          <a:p>
            <a:r>
              <a:rPr lang="en-US"/>
              <a:t>Status</a:t>
            </a:r>
          </a:p>
        </p:txBody>
      </p:sp>
      <p:sp>
        <p:nvSpPr>
          <p:cNvPr id="44056" name="Rectangle 26"/>
          <p:cNvSpPr>
            <a:spLocks noChangeArrowheads="1"/>
          </p:cNvSpPr>
          <p:nvPr/>
        </p:nvSpPr>
        <p:spPr bwMode="auto">
          <a:xfrm>
            <a:off x="6858000" y="5562600"/>
            <a:ext cx="990600" cy="457200"/>
          </a:xfrm>
          <a:prstGeom prst="rect">
            <a:avLst/>
          </a:prstGeom>
          <a:solidFill>
            <a:schemeClr val="accent2"/>
          </a:solidFill>
          <a:ln w="9525">
            <a:solidFill>
              <a:schemeClr val="tx1"/>
            </a:solidFill>
            <a:miter lim="800000"/>
            <a:headEnd/>
            <a:tailEnd/>
          </a:ln>
        </p:spPr>
        <p:txBody>
          <a:bodyPr wrap="none" anchor="ctr"/>
          <a:lstStyle/>
          <a:p>
            <a:r>
              <a:rPr lang="en-US"/>
              <a:t>OK</a:t>
            </a:r>
          </a:p>
        </p:txBody>
      </p:sp>
      <p:sp>
        <p:nvSpPr>
          <p:cNvPr id="44057" name="Text Box 27"/>
          <p:cNvSpPr txBox="1">
            <a:spLocks noChangeArrowheads="1"/>
          </p:cNvSpPr>
          <p:nvPr/>
        </p:nvSpPr>
        <p:spPr bwMode="auto">
          <a:xfrm>
            <a:off x="533400" y="4343400"/>
            <a:ext cx="1974850" cy="366713"/>
          </a:xfrm>
          <a:prstGeom prst="rect">
            <a:avLst/>
          </a:prstGeom>
          <a:noFill/>
          <a:ln w="9525">
            <a:noFill/>
            <a:miter lim="800000"/>
            <a:headEnd/>
            <a:tailEnd/>
          </a:ln>
        </p:spPr>
        <p:txBody>
          <a:bodyPr wrap="none">
            <a:spAutoFit/>
          </a:bodyPr>
          <a:lstStyle/>
          <a:p>
            <a:pPr algn="l"/>
            <a:r>
              <a:rPr lang="en-US"/>
              <a:t>Connection Table</a:t>
            </a:r>
          </a:p>
        </p:txBody>
      </p:sp>
      <p:sp>
        <p:nvSpPr>
          <p:cNvPr id="29" name="Rectangle 2"/>
          <p:cNvSpPr txBox="1">
            <a:spLocks noChangeArrowheads="1"/>
          </p:cNvSpPr>
          <p:nvPr/>
        </p:nvSpPr>
        <p:spPr>
          <a:xfrm>
            <a:off x="76200" y="431007"/>
            <a:ext cx="9144000" cy="106680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Gill Sans MT" panose="020B0502020104020203" pitchFamily="34" charset="0"/>
                <a:ea typeface="+mj-ea"/>
                <a:cs typeface="+mj-cs"/>
              </a:defRPr>
            </a:lvl1pPr>
          </a:lstStyle>
          <a:p>
            <a:pPr marL="346075"/>
            <a:r>
              <a:rPr lang="en-US" sz="4400" dirty="0"/>
              <a:t>SPI Firewall Operation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369916" y="304800"/>
            <a:ext cx="9144000" cy="838200"/>
          </a:xfrm>
        </p:spPr>
        <p:txBody>
          <a:bodyPr>
            <a:normAutofit/>
          </a:bodyPr>
          <a:lstStyle/>
          <a:p>
            <a:pPr eaLnBrk="1" hangingPunct="1"/>
            <a:r>
              <a:rPr lang="en-GB" sz="4400" dirty="0"/>
              <a:t>SPI Firewalls</a:t>
            </a:r>
          </a:p>
        </p:txBody>
      </p:sp>
      <p:graphicFrame>
        <p:nvGraphicFramePr>
          <p:cNvPr id="975879" name="Group 7"/>
          <p:cNvGraphicFramePr>
            <a:graphicFrameLocks noGrp="1"/>
          </p:cNvGraphicFramePr>
          <p:nvPr>
            <p:ph sz="half" idx="2"/>
            <p:extLst>
              <p:ext uri="{D42A27DB-BD31-4B8C-83A1-F6EECF244321}">
                <p14:modId xmlns:p14="http://schemas.microsoft.com/office/powerpoint/2010/main" val="1794778264"/>
              </p:ext>
            </p:extLst>
          </p:nvPr>
        </p:nvGraphicFramePr>
        <p:xfrm>
          <a:off x="381000" y="990600"/>
          <a:ext cx="8382000" cy="5394960"/>
        </p:xfrm>
        <a:graphic>
          <a:graphicData uri="http://schemas.openxmlformats.org/drawingml/2006/table">
            <a:tbl>
              <a:tblPr/>
              <a:tblGrid>
                <a:gridCol w="739589">
                  <a:extLst>
                    <a:ext uri="{9D8B030D-6E8A-4147-A177-3AD203B41FA5}">
                      <a16:colId xmlns:a16="http://schemas.microsoft.com/office/drawing/2014/main" val="20000"/>
                    </a:ext>
                  </a:extLst>
                </a:gridCol>
                <a:gridCol w="7642411">
                  <a:extLst>
                    <a:ext uri="{9D8B030D-6E8A-4147-A177-3AD203B41FA5}">
                      <a16:colId xmlns:a16="http://schemas.microsoft.com/office/drawing/2014/main" val="20001"/>
                    </a:ext>
                  </a:extLst>
                </a:gridCol>
              </a:tblGrid>
              <a:tr h="2865599">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Gill Sans MT" panose="020B0502020104020203" pitchFamily="34" charset="0"/>
                        </a:rPr>
                        <a:t>Advantages</a:t>
                      </a:r>
                    </a:p>
                  </a:txBody>
                  <a:tcPr vert="vert27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3038" marR="0" lvl="0" indent="-173038" algn="l" defTabSz="914400" rtl="0" eaLnBrk="0" fontAlgn="base" latinLnBrk="0" hangingPunct="0">
                        <a:lnSpc>
                          <a:spcPct val="100000"/>
                        </a:lnSpc>
                        <a:spcBef>
                          <a:spcPct val="20000"/>
                        </a:spcBef>
                        <a:spcAft>
                          <a:spcPct val="0"/>
                        </a:spcAft>
                        <a:buClrTx/>
                        <a:buSzTx/>
                        <a:buFontTx/>
                        <a:buChar char="•"/>
                        <a:tabLst/>
                      </a:pPr>
                      <a:r>
                        <a:rPr kumimoji="0" lang="en-US" sz="2000" b="0" i="0" u="none" strike="noStrike" cap="none" normalizeH="0" baseline="0" dirty="0">
                          <a:ln>
                            <a:noFill/>
                          </a:ln>
                          <a:solidFill>
                            <a:schemeClr val="tx1"/>
                          </a:solidFill>
                          <a:effectLst/>
                          <a:latin typeface="Gill Sans MT" panose="020B0502020104020203" pitchFamily="34" charset="0"/>
                        </a:rPr>
                        <a:t>Often used as a primary means of defense by filtering unwanted, unnecessary, or undesirable traffic.</a:t>
                      </a:r>
                    </a:p>
                    <a:p>
                      <a:pPr marL="173038" marR="0" lvl="0" indent="-173038" algn="l" defTabSz="914400" rtl="0" eaLnBrk="0" fontAlgn="base" latinLnBrk="0" hangingPunct="0">
                        <a:lnSpc>
                          <a:spcPct val="100000"/>
                        </a:lnSpc>
                        <a:spcBef>
                          <a:spcPct val="20000"/>
                        </a:spcBef>
                        <a:spcAft>
                          <a:spcPct val="0"/>
                        </a:spcAft>
                        <a:buClrTx/>
                        <a:buSzTx/>
                        <a:buFontTx/>
                        <a:buChar char="•"/>
                        <a:tabLst/>
                      </a:pPr>
                      <a:r>
                        <a:rPr kumimoji="0" lang="en-US" sz="2000" b="0" i="0" u="none" strike="noStrike" cap="none" normalizeH="0" baseline="0" dirty="0">
                          <a:ln>
                            <a:noFill/>
                          </a:ln>
                          <a:solidFill>
                            <a:schemeClr val="tx1"/>
                          </a:solidFill>
                          <a:effectLst/>
                          <a:latin typeface="Gill Sans MT" panose="020B0502020104020203" pitchFamily="34" charset="0"/>
                        </a:rPr>
                        <a:t>Strengthens packet filtering by providing more stringent control over security than static packet filtering</a:t>
                      </a:r>
                    </a:p>
                    <a:p>
                      <a:pPr marL="173038" marR="0" lvl="0" indent="-173038" algn="l" defTabSz="914400" rtl="0" eaLnBrk="0" fontAlgn="base" latinLnBrk="0" hangingPunct="0">
                        <a:lnSpc>
                          <a:spcPct val="100000"/>
                        </a:lnSpc>
                        <a:spcBef>
                          <a:spcPct val="20000"/>
                        </a:spcBef>
                        <a:spcAft>
                          <a:spcPct val="0"/>
                        </a:spcAft>
                        <a:buClrTx/>
                        <a:buSzTx/>
                        <a:buFontTx/>
                        <a:buChar char="•"/>
                        <a:tabLst/>
                      </a:pPr>
                      <a:r>
                        <a:rPr kumimoji="0" lang="en-US" sz="2000" b="0" i="0" u="none" strike="noStrike" cap="none" normalizeH="0" baseline="0" dirty="0">
                          <a:ln>
                            <a:noFill/>
                          </a:ln>
                          <a:solidFill>
                            <a:schemeClr val="tx1"/>
                          </a:solidFill>
                          <a:effectLst/>
                          <a:latin typeface="Gill Sans MT" panose="020B0502020104020203" pitchFamily="34" charset="0"/>
                        </a:rPr>
                        <a:t>Improves performance over packet filters or proxy servers. </a:t>
                      </a:r>
                    </a:p>
                    <a:p>
                      <a:pPr marL="173038" marR="0" lvl="0" indent="-173038" algn="l" defTabSz="914400" rtl="0" eaLnBrk="0" fontAlgn="base" latinLnBrk="0" hangingPunct="0">
                        <a:lnSpc>
                          <a:spcPct val="100000"/>
                        </a:lnSpc>
                        <a:spcBef>
                          <a:spcPct val="20000"/>
                        </a:spcBef>
                        <a:spcAft>
                          <a:spcPct val="0"/>
                        </a:spcAft>
                        <a:buClrTx/>
                        <a:buSzTx/>
                        <a:buFontTx/>
                        <a:buChar char="•"/>
                        <a:tabLst/>
                      </a:pPr>
                      <a:r>
                        <a:rPr kumimoji="0" lang="en-US" sz="2000" b="0" i="0" u="none" strike="noStrike" cap="none" normalizeH="0" baseline="0" dirty="0">
                          <a:ln>
                            <a:noFill/>
                          </a:ln>
                          <a:solidFill>
                            <a:schemeClr val="tx1"/>
                          </a:solidFill>
                          <a:effectLst/>
                          <a:latin typeface="Gill Sans MT" panose="020B0502020104020203" pitchFamily="34" charset="0"/>
                        </a:rPr>
                        <a:t>Defends against spoofing and </a:t>
                      </a:r>
                      <a:r>
                        <a:rPr kumimoji="0" lang="en-US" sz="2000" b="0" i="0" u="none" strike="noStrike" cap="none" normalizeH="0" baseline="0" dirty="0" err="1">
                          <a:ln>
                            <a:noFill/>
                          </a:ln>
                          <a:solidFill>
                            <a:schemeClr val="tx1"/>
                          </a:solidFill>
                          <a:effectLst/>
                          <a:latin typeface="Gill Sans MT" panose="020B0502020104020203" pitchFamily="34" charset="0"/>
                        </a:rPr>
                        <a:t>DoS</a:t>
                      </a:r>
                      <a:r>
                        <a:rPr kumimoji="0" lang="en-US" sz="2000" b="0" i="0" u="none" strike="noStrike" cap="none" normalizeH="0" baseline="0" dirty="0">
                          <a:ln>
                            <a:noFill/>
                          </a:ln>
                          <a:solidFill>
                            <a:schemeClr val="tx1"/>
                          </a:solidFill>
                          <a:effectLst/>
                          <a:latin typeface="Gill Sans MT" panose="020B0502020104020203" pitchFamily="34" charset="0"/>
                        </a:rPr>
                        <a:t> attacks </a:t>
                      </a:r>
                    </a:p>
                    <a:p>
                      <a:pPr marL="173038" marR="0" lvl="0" indent="-173038" algn="l" defTabSz="914400" rtl="0" eaLnBrk="0" fontAlgn="base" latinLnBrk="0" hangingPunct="0">
                        <a:lnSpc>
                          <a:spcPct val="100000"/>
                        </a:lnSpc>
                        <a:spcBef>
                          <a:spcPct val="20000"/>
                        </a:spcBef>
                        <a:spcAft>
                          <a:spcPct val="0"/>
                        </a:spcAft>
                        <a:buClrTx/>
                        <a:buSzTx/>
                        <a:buFontTx/>
                        <a:buChar char="•"/>
                        <a:tabLst/>
                      </a:pPr>
                      <a:r>
                        <a:rPr kumimoji="0" lang="en-US" sz="2000" b="0" i="0" u="none" strike="noStrike" cap="none" normalizeH="0" baseline="0" dirty="0">
                          <a:ln>
                            <a:noFill/>
                          </a:ln>
                          <a:solidFill>
                            <a:schemeClr val="tx1"/>
                          </a:solidFill>
                          <a:effectLst/>
                          <a:latin typeface="Gill Sans MT" panose="020B0502020104020203" pitchFamily="34" charset="0"/>
                        </a:rPr>
                        <a:t>Allows for more log information than a packet filtering firewall </a:t>
                      </a:r>
                    </a:p>
                  </a:txBody>
                  <a:tcPr marL="274320" marR="274320" marT="274320" marB="2743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68389">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Gill Sans MT" panose="020B0502020104020203" pitchFamily="34" charset="0"/>
                        </a:rPr>
                        <a:t>Disadvantages</a:t>
                      </a:r>
                    </a:p>
                  </a:txBody>
                  <a:tcPr marL="0" marR="0" vert="vert27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3038" marR="0" lvl="0" indent="-173038" algn="l" defTabSz="914400" rtl="0" eaLnBrk="0" fontAlgn="base" latinLnBrk="0" hangingPunct="0">
                        <a:lnSpc>
                          <a:spcPct val="100000"/>
                        </a:lnSpc>
                        <a:spcBef>
                          <a:spcPct val="20000"/>
                        </a:spcBef>
                        <a:spcAft>
                          <a:spcPct val="0"/>
                        </a:spcAft>
                        <a:buClrTx/>
                        <a:buSzTx/>
                        <a:buFontTx/>
                        <a:buChar char="•"/>
                        <a:tabLst/>
                      </a:pPr>
                      <a:r>
                        <a:rPr kumimoji="0" lang="en-US" sz="2000" b="0" i="0" u="none" strike="noStrike" cap="none" normalizeH="0" baseline="0" dirty="0">
                          <a:ln>
                            <a:noFill/>
                          </a:ln>
                          <a:solidFill>
                            <a:schemeClr val="tx1"/>
                          </a:solidFill>
                          <a:effectLst/>
                          <a:latin typeface="Gill Sans MT" panose="020B0502020104020203" pitchFamily="34" charset="0"/>
                        </a:rPr>
                        <a:t>Cannot prevent application layer attacks because it does not examine the actual contents of the HTTP connection</a:t>
                      </a:r>
                    </a:p>
                    <a:p>
                      <a:pPr marL="173038" marR="0" lvl="0" indent="-173038" algn="l" defTabSz="914400" rtl="0" eaLnBrk="0" fontAlgn="base" latinLnBrk="0" hangingPunct="0">
                        <a:lnSpc>
                          <a:spcPct val="100000"/>
                        </a:lnSpc>
                        <a:spcBef>
                          <a:spcPct val="20000"/>
                        </a:spcBef>
                        <a:spcAft>
                          <a:spcPct val="0"/>
                        </a:spcAft>
                        <a:buClrTx/>
                        <a:buSzTx/>
                        <a:buFontTx/>
                        <a:buChar char="•"/>
                        <a:tabLst/>
                      </a:pPr>
                      <a:r>
                        <a:rPr kumimoji="0" lang="en-US" sz="2000" b="0" i="0" u="none" strike="noStrike" cap="none" normalizeH="0" baseline="0" dirty="0">
                          <a:ln>
                            <a:noFill/>
                          </a:ln>
                          <a:solidFill>
                            <a:schemeClr val="tx1"/>
                          </a:solidFill>
                          <a:effectLst/>
                          <a:latin typeface="Gill Sans MT" panose="020B0502020104020203" pitchFamily="34" charset="0"/>
                        </a:rPr>
                        <a:t>Not all protocols are </a:t>
                      </a:r>
                      <a:r>
                        <a:rPr kumimoji="0" lang="en-US" sz="2000" b="0" i="0" u="none" strike="noStrike" cap="none" normalizeH="0" baseline="0" dirty="0" err="1">
                          <a:ln>
                            <a:noFill/>
                          </a:ln>
                          <a:solidFill>
                            <a:schemeClr val="tx1"/>
                          </a:solidFill>
                          <a:effectLst/>
                          <a:latin typeface="Gill Sans MT" panose="020B0502020104020203" pitchFamily="34" charset="0"/>
                        </a:rPr>
                        <a:t>stateful</a:t>
                      </a:r>
                      <a:r>
                        <a:rPr kumimoji="0" lang="en-US" sz="2000" b="0" i="0" u="none" strike="noStrike" cap="none" normalizeH="0" baseline="0" dirty="0">
                          <a:ln>
                            <a:noFill/>
                          </a:ln>
                          <a:solidFill>
                            <a:schemeClr val="tx1"/>
                          </a:solidFill>
                          <a:effectLst/>
                          <a:latin typeface="Gill Sans MT" panose="020B0502020104020203" pitchFamily="34" charset="0"/>
                        </a:rPr>
                        <a:t>, such UDP and ICMP</a:t>
                      </a:r>
                    </a:p>
                    <a:p>
                      <a:pPr marL="173038" marR="0" lvl="0" indent="-173038" algn="l" defTabSz="914400" rtl="0" eaLnBrk="0" fontAlgn="base" latinLnBrk="0" hangingPunct="0">
                        <a:lnSpc>
                          <a:spcPct val="100000"/>
                        </a:lnSpc>
                        <a:spcBef>
                          <a:spcPct val="20000"/>
                        </a:spcBef>
                        <a:spcAft>
                          <a:spcPct val="0"/>
                        </a:spcAft>
                        <a:buClrTx/>
                        <a:buSzTx/>
                        <a:buFontTx/>
                        <a:buChar char="•"/>
                        <a:tabLst/>
                      </a:pPr>
                      <a:r>
                        <a:rPr kumimoji="0" lang="en-US" sz="2000" b="0" i="0" u="none" strike="noStrike" cap="none" normalizeH="0" baseline="0" dirty="0">
                          <a:ln>
                            <a:noFill/>
                          </a:ln>
                          <a:solidFill>
                            <a:schemeClr val="tx1"/>
                          </a:solidFill>
                          <a:effectLst/>
                          <a:latin typeface="Gill Sans MT" panose="020B0502020104020203" pitchFamily="34" charset="0"/>
                        </a:rPr>
                        <a:t>Some applications open multiple connections requiring a whole new range of ports opened to allow this second connection </a:t>
                      </a:r>
                    </a:p>
                    <a:p>
                      <a:pPr marL="173038" marR="0" lvl="0" indent="-173038" algn="l" defTabSz="914400" rtl="0" eaLnBrk="0" fontAlgn="base" latinLnBrk="0" hangingPunct="0">
                        <a:lnSpc>
                          <a:spcPct val="100000"/>
                        </a:lnSpc>
                        <a:spcBef>
                          <a:spcPct val="20000"/>
                        </a:spcBef>
                        <a:spcAft>
                          <a:spcPct val="0"/>
                        </a:spcAft>
                        <a:buClrTx/>
                        <a:buSzTx/>
                        <a:buFontTx/>
                        <a:buChar char="•"/>
                        <a:tabLst/>
                      </a:pPr>
                      <a:r>
                        <a:rPr kumimoji="0" lang="en-US" sz="2000" b="0" i="0" u="none" strike="noStrike" cap="none" normalizeH="0" baseline="0" dirty="0" err="1">
                          <a:ln>
                            <a:noFill/>
                          </a:ln>
                          <a:solidFill>
                            <a:schemeClr val="tx1"/>
                          </a:solidFill>
                          <a:effectLst/>
                          <a:latin typeface="Gill Sans MT" panose="020B0502020104020203" pitchFamily="34" charset="0"/>
                        </a:rPr>
                        <a:t>Stateful</a:t>
                      </a:r>
                      <a:r>
                        <a:rPr kumimoji="0" lang="en-US" sz="2000" b="0" i="0" u="none" strike="noStrike" cap="none" normalizeH="0" baseline="0" dirty="0">
                          <a:ln>
                            <a:noFill/>
                          </a:ln>
                          <a:solidFill>
                            <a:schemeClr val="tx1"/>
                          </a:solidFill>
                          <a:effectLst/>
                          <a:latin typeface="Gill Sans MT" panose="020B0502020104020203" pitchFamily="34" charset="0"/>
                        </a:rPr>
                        <a:t> firewalls do not support user authentication</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Gill Sans MT" panose="020B0502020104020203" pitchFamily="34" charset="0"/>
                      </a:endParaRPr>
                    </a:p>
                  </a:txBody>
                  <a:tcPr marL="274320" marR="27432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normAutofit/>
          </a:bodyPr>
          <a:lstStyle/>
          <a:p>
            <a:pPr eaLnBrk="1" hangingPunct="1"/>
            <a:r>
              <a:rPr lang="en-GB" sz="4400" dirty="0"/>
              <a:t>Application Firewalls</a:t>
            </a:r>
          </a:p>
        </p:txBody>
      </p:sp>
      <p:pic>
        <p:nvPicPr>
          <p:cNvPr id="47108" name="Picture 3" descr="Application level Gateway"/>
          <p:cNvPicPr>
            <a:picLocks noGrp="1" noChangeAspect="1" noChangeArrowheads="1"/>
          </p:cNvPicPr>
          <p:nvPr>
            <p:ph idx="1"/>
          </p:nvPr>
        </p:nvPicPr>
        <p:blipFill>
          <a:blip r:embed="rId2"/>
          <a:srcRect/>
          <a:stretch>
            <a:fillRect/>
          </a:stretch>
        </p:blipFill>
        <p:spPr>
          <a:xfrm>
            <a:off x="1676400" y="2522976"/>
            <a:ext cx="6353175" cy="4106423"/>
          </a:xfrm>
          <a:noFill/>
        </p:spPr>
      </p:pic>
      <p:sp>
        <p:nvSpPr>
          <p:cNvPr id="47109" name="Rectangle 4"/>
          <p:cNvSpPr>
            <a:spLocks noChangeArrowheads="1"/>
          </p:cNvSpPr>
          <p:nvPr/>
        </p:nvSpPr>
        <p:spPr bwMode="auto">
          <a:xfrm>
            <a:off x="304800" y="1690688"/>
            <a:ext cx="8077200" cy="3719511"/>
          </a:xfrm>
          <a:prstGeom prst="rect">
            <a:avLst/>
          </a:prstGeom>
          <a:noFill/>
          <a:ln w="9525">
            <a:noFill/>
            <a:miter lim="800000"/>
            <a:headEnd/>
            <a:tailEnd/>
          </a:ln>
        </p:spPr>
        <p:txBody>
          <a:bodyPr/>
          <a:lstStyle/>
          <a:p>
            <a:pPr algn="l" eaLnBrk="1" hangingPunct="1">
              <a:lnSpc>
                <a:spcPct val="95000"/>
              </a:lnSpc>
              <a:spcBef>
                <a:spcPct val="60000"/>
              </a:spcBef>
              <a:buClr>
                <a:schemeClr val="accent1"/>
              </a:buClr>
              <a:buSzPct val="70000"/>
            </a:pPr>
            <a:r>
              <a:rPr lang="en-GB" sz="2800" dirty="0">
                <a:latin typeface="Gill Sans MT" panose="020B0502020104020203" pitchFamily="34" charset="0"/>
              </a:rPr>
              <a:t>Also called Proxy Services, filter packets at the application layer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a:bodyPr>
          <a:lstStyle/>
          <a:p>
            <a:r>
              <a:rPr lang="en-GB" sz="4400" dirty="0"/>
              <a:t>Proxy Services</a:t>
            </a:r>
            <a:endParaRPr lang="en-US" sz="4400" dirty="0"/>
          </a:p>
        </p:txBody>
      </p:sp>
      <p:sp>
        <p:nvSpPr>
          <p:cNvPr id="27651" name="Rectangle 3"/>
          <p:cNvSpPr>
            <a:spLocks noGrp="1" noChangeArrowheads="1"/>
          </p:cNvSpPr>
          <p:nvPr>
            <p:ph sz="half" idx="1"/>
          </p:nvPr>
        </p:nvSpPr>
        <p:spPr/>
        <p:txBody>
          <a:bodyPr/>
          <a:lstStyle/>
          <a:p>
            <a:pPr>
              <a:lnSpc>
                <a:spcPct val="90000"/>
              </a:lnSpc>
              <a:buFontTx/>
              <a:buNone/>
            </a:pPr>
            <a:r>
              <a:rPr lang="en-GB" sz="2400" b="1" dirty="0"/>
              <a:t> </a:t>
            </a:r>
            <a:endParaRPr lang="en-US" sz="2400" b="1" dirty="0"/>
          </a:p>
        </p:txBody>
      </p:sp>
      <p:sp>
        <p:nvSpPr>
          <p:cNvPr id="27652" name="Rectangle 4"/>
          <p:cNvSpPr>
            <a:spLocks noGrp="1" noChangeArrowheads="1"/>
          </p:cNvSpPr>
          <p:nvPr>
            <p:ph sz="half" idx="2"/>
          </p:nvPr>
        </p:nvSpPr>
        <p:spPr>
          <a:xfrm>
            <a:off x="4572000" y="1589088"/>
            <a:ext cx="4572000" cy="4659312"/>
          </a:xfrm>
        </p:spPr>
        <p:txBody>
          <a:bodyPr/>
          <a:lstStyle/>
          <a:p>
            <a:pPr>
              <a:lnSpc>
                <a:spcPct val="90000"/>
              </a:lnSpc>
            </a:pPr>
            <a:r>
              <a:rPr lang="en-GB" sz="2600" dirty="0"/>
              <a:t>Specialised application that runs on a firewall host</a:t>
            </a:r>
          </a:p>
          <a:p>
            <a:pPr>
              <a:lnSpc>
                <a:spcPct val="90000"/>
              </a:lnSpc>
            </a:pPr>
            <a:r>
              <a:rPr lang="en-GB" sz="2600" dirty="0"/>
              <a:t>Host can be a dual-homed host, with an interface to the internal network and another interface to the external network</a:t>
            </a:r>
          </a:p>
          <a:p>
            <a:pPr>
              <a:lnSpc>
                <a:spcPct val="90000"/>
              </a:lnSpc>
            </a:pPr>
            <a:r>
              <a:rPr lang="en-GB" sz="2600" dirty="0"/>
              <a:t>Acts as an intermediary between the two endpoints</a:t>
            </a:r>
          </a:p>
          <a:p>
            <a:pPr>
              <a:lnSpc>
                <a:spcPct val="90000"/>
              </a:lnSpc>
            </a:pPr>
            <a:r>
              <a:rPr lang="en-GB" sz="2600" dirty="0"/>
              <a:t>Breaks the client/server model into two connections</a:t>
            </a:r>
            <a:endParaRPr lang="en-US" sz="2600" dirty="0"/>
          </a:p>
        </p:txBody>
      </p:sp>
      <p:sp>
        <p:nvSpPr>
          <p:cNvPr id="27654" name="Cloud"/>
          <p:cNvSpPr>
            <a:spLocks noChangeAspect="1" noEditPoints="1" noChangeArrowheads="1"/>
          </p:cNvSpPr>
          <p:nvPr/>
        </p:nvSpPr>
        <p:spPr bwMode="auto">
          <a:xfrm>
            <a:off x="1752600" y="1524000"/>
            <a:ext cx="2016054" cy="9366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70 w 21600"/>
              <a:gd name="T13" fmla="*/ 3245 h 21600"/>
              <a:gd name="T14" fmla="*/ 17078 w 21600"/>
              <a:gd name="T15" fmla="*/ 17338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p:spPr>
        <p:txBody>
          <a:bodyPr/>
          <a:lstStyle/>
          <a:p>
            <a:pPr algn="l">
              <a:lnSpc>
                <a:spcPct val="100000"/>
              </a:lnSpc>
              <a:spcBef>
                <a:spcPct val="0"/>
              </a:spcBef>
            </a:pPr>
            <a:r>
              <a:rPr lang="en-GB" sz="1600" b="1" dirty="0">
                <a:solidFill>
                  <a:srgbClr val="008000"/>
                </a:solidFill>
              </a:rPr>
              <a:t>      Internet</a:t>
            </a:r>
            <a:endParaRPr lang="en-US" sz="1600" b="1" dirty="0">
              <a:solidFill>
                <a:srgbClr val="008000"/>
              </a:solidFill>
            </a:endParaRPr>
          </a:p>
        </p:txBody>
      </p:sp>
      <p:sp>
        <p:nvSpPr>
          <p:cNvPr id="27655" name="Rectangle 7"/>
          <p:cNvSpPr>
            <a:spLocks noChangeArrowheads="1"/>
          </p:cNvSpPr>
          <p:nvPr/>
        </p:nvSpPr>
        <p:spPr bwMode="auto">
          <a:xfrm>
            <a:off x="1371600" y="4481513"/>
            <a:ext cx="1100138" cy="1524000"/>
          </a:xfrm>
          <a:prstGeom prst="rect">
            <a:avLst/>
          </a:prstGeom>
          <a:solidFill>
            <a:srgbClr val="CCFF99"/>
          </a:solidFill>
          <a:ln w="9525">
            <a:solidFill>
              <a:schemeClr val="tx1"/>
            </a:solidFill>
            <a:miter lim="800000"/>
            <a:headEnd/>
            <a:tailEnd/>
          </a:ln>
        </p:spPr>
        <p:txBody>
          <a:bodyPr wrap="none" anchor="ctr"/>
          <a:lstStyle/>
          <a:p>
            <a:pPr>
              <a:lnSpc>
                <a:spcPct val="100000"/>
              </a:lnSpc>
              <a:spcBef>
                <a:spcPct val="0"/>
              </a:spcBef>
            </a:pPr>
            <a:endParaRPr lang="en-GB" sz="1600" b="1" dirty="0">
              <a:solidFill>
                <a:schemeClr val="tx1"/>
              </a:solidFill>
              <a:latin typeface="Times New Roman" pitchFamily="18" charset="0"/>
            </a:endParaRPr>
          </a:p>
          <a:p>
            <a:pPr>
              <a:lnSpc>
                <a:spcPct val="100000"/>
              </a:lnSpc>
              <a:spcBef>
                <a:spcPct val="0"/>
              </a:spcBef>
            </a:pPr>
            <a:endParaRPr lang="en-GB" sz="1600" b="1" dirty="0">
              <a:solidFill>
                <a:schemeClr val="tx1"/>
              </a:solidFill>
              <a:latin typeface="Times New Roman" pitchFamily="18" charset="0"/>
            </a:endParaRPr>
          </a:p>
          <a:p>
            <a:pPr>
              <a:lnSpc>
                <a:spcPct val="100000"/>
              </a:lnSpc>
              <a:spcBef>
                <a:spcPct val="0"/>
              </a:spcBef>
            </a:pPr>
            <a:endParaRPr lang="en-GB" sz="1600" b="1" dirty="0">
              <a:solidFill>
                <a:schemeClr val="tx1"/>
              </a:solidFill>
              <a:latin typeface="Times New Roman" pitchFamily="18" charset="0"/>
            </a:endParaRPr>
          </a:p>
          <a:p>
            <a:pPr>
              <a:lnSpc>
                <a:spcPct val="100000"/>
              </a:lnSpc>
              <a:spcBef>
                <a:spcPct val="0"/>
              </a:spcBef>
            </a:pPr>
            <a:endParaRPr lang="en-GB" sz="1600" b="1" dirty="0">
              <a:solidFill>
                <a:schemeClr val="tx1"/>
              </a:solidFill>
              <a:latin typeface="Times New Roman" pitchFamily="18" charset="0"/>
            </a:endParaRPr>
          </a:p>
          <a:p>
            <a:pPr>
              <a:lnSpc>
                <a:spcPct val="100000"/>
              </a:lnSpc>
              <a:spcBef>
                <a:spcPct val="0"/>
              </a:spcBef>
            </a:pPr>
            <a:r>
              <a:rPr lang="en-GB" sz="1600" b="1" dirty="0">
                <a:solidFill>
                  <a:srgbClr val="0000FF"/>
                </a:solidFill>
              </a:rPr>
              <a:t>Proxy</a:t>
            </a:r>
          </a:p>
          <a:p>
            <a:pPr>
              <a:lnSpc>
                <a:spcPct val="100000"/>
              </a:lnSpc>
              <a:spcBef>
                <a:spcPct val="0"/>
              </a:spcBef>
            </a:pPr>
            <a:r>
              <a:rPr lang="en-GB" sz="1600" b="1" dirty="0">
                <a:solidFill>
                  <a:srgbClr val="0000FF"/>
                </a:solidFill>
              </a:rPr>
              <a:t>Client</a:t>
            </a:r>
          </a:p>
        </p:txBody>
      </p:sp>
      <p:grpSp>
        <p:nvGrpSpPr>
          <p:cNvPr id="3" name="Group 8"/>
          <p:cNvGrpSpPr>
            <a:grpSpLocks/>
          </p:cNvGrpSpPr>
          <p:nvPr/>
        </p:nvGrpSpPr>
        <p:grpSpPr bwMode="auto">
          <a:xfrm>
            <a:off x="1651000" y="4586288"/>
            <a:ext cx="533400" cy="457200"/>
            <a:chOff x="2544" y="1584"/>
            <a:chExt cx="336" cy="288"/>
          </a:xfrm>
        </p:grpSpPr>
        <p:sp>
          <p:nvSpPr>
            <p:cNvPr id="27721" name="Rectangle 9"/>
            <p:cNvSpPr>
              <a:spLocks noChangeArrowheads="1"/>
            </p:cNvSpPr>
            <p:nvPr/>
          </p:nvSpPr>
          <p:spPr bwMode="auto">
            <a:xfrm>
              <a:off x="2544" y="1584"/>
              <a:ext cx="336" cy="288"/>
            </a:xfrm>
            <a:prstGeom prst="rect">
              <a:avLst/>
            </a:prstGeom>
            <a:solidFill>
              <a:schemeClr val="bg2"/>
            </a:solidFill>
            <a:ln w="9525">
              <a:solidFill>
                <a:schemeClr val="tx1"/>
              </a:solidFill>
              <a:miter lim="800000"/>
              <a:headEnd/>
              <a:tailEnd/>
            </a:ln>
          </p:spPr>
          <p:txBody>
            <a:bodyPr wrap="none" anchor="ctr"/>
            <a:lstStyle/>
            <a:p>
              <a:endParaRPr lang="en-GB" b="1"/>
            </a:p>
          </p:txBody>
        </p:sp>
        <p:sp>
          <p:nvSpPr>
            <p:cNvPr id="27722" name="Rectangle 10"/>
            <p:cNvSpPr>
              <a:spLocks noChangeArrowheads="1"/>
            </p:cNvSpPr>
            <p:nvPr/>
          </p:nvSpPr>
          <p:spPr bwMode="auto">
            <a:xfrm>
              <a:off x="2568" y="1608"/>
              <a:ext cx="288" cy="240"/>
            </a:xfrm>
            <a:prstGeom prst="rect">
              <a:avLst/>
            </a:prstGeom>
            <a:solidFill>
              <a:schemeClr val="folHlink"/>
            </a:solidFill>
            <a:ln w="9525">
              <a:solidFill>
                <a:schemeClr val="tx1"/>
              </a:solidFill>
              <a:miter lim="800000"/>
              <a:headEnd/>
              <a:tailEnd/>
            </a:ln>
          </p:spPr>
          <p:txBody>
            <a:bodyPr wrap="none" anchor="ctr"/>
            <a:lstStyle/>
            <a:p>
              <a:endParaRPr lang="en-GB" b="1"/>
            </a:p>
          </p:txBody>
        </p:sp>
      </p:grpSp>
      <p:grpSp>
        <p:nvGrpSpPr>
          <p:cNvPr id="4" name="Group 11"/>
          <p:cNvGrpSpPr>
            <a:grpSpLocks/>
          </p:cNvGrpSpPr>
          <p:nvPr/>
        </p:nvGrpSpPr>
        <p:grpSpPr bwMode="auto">
          <a:xfrm>
            <a:off x="1498600" y="5072063"/>
            <a:ext cx="838200" cy="304800"/>
            <a:chOff x="2448" y="1920"/>
            <a:chExt cx="528" cy="192"/>
          </a:xfrm>
        </p:grpSpPr>
        <p:sp>
          <p:nvSpPr>
            <p:cNvPr id="27714" name="Rectangle 12"/>
            <p:cNvSpPr>
              <a:spLocks noChangeArrowheads="1"/>
            </p:cNvSpPr>
            <p:nvPr/>
          </p:nvSpPr>
          <p:spPr bwMode="auto">
            <a:xfrm>
              <a:off x="2448" y="1920"/>
              <a:ext cx="528" cy="192"/>
            </a:xfrm>
            <a:prstGeom prst="rect">
              <a:avLst/>
            </a:prstGeom>
            <a:solidFill>
              <a:schemeClr val="folHlink"/>
            </a:solidFill>
            <a:ln w="9525">
              <a:solidFill>
                <a:schemeClr val="tx1"/>
              </a:solidFill>
              <a:miter lim="800000"/>
              <a:headEnd/>
              <a:tailEnd/>
            </a:ln>
          </p:spPr>
          <p:txBody>
            <a:bodyPr wrap="none" anchor="ctr"/>
            <a:lstStyle/>
            <a:p>
              <a:endParaRPr lang="en-GB" b="1"/>
            </a:p>
          </p:txBody>
        </p:sp>
        <p:sp>
          <p:nvSpPr>
            <p:cNvPr id="27715" name="Line 13"/>
            <p:cNvSpPr>
              <a:spLocks noChangeShapeType="1"/>
            </p:cNvSpPr>
            <p:nvPr/>
          </p:nvSpPr>
          <p:spPr bwMode="auto">
            <a:xfrm>
              <a:off x="2832" y="1968"/>
              <a:ext cx="96" cy="0"/>
            </a:xfrm>
            <a:prstGeom prst="line">
              <a:avLst/>
            </a:prstGeom>
            <a:noFill/>
            <a:ln w="9525">
              <a:solidFill>
                <a:schemeClr val="tx1"/>
              </a:solidFill>
              <a:round/>
              <a:headEnd/>
              <a:tailEnd/>
            </a:ln>
          </p:spPr>
          <p:txBody>
            <a:bodyPr/>
            <a:lstStyle/>
            <a:p>
              <a:endParaRPr lang="en-US" b="1"/>
            </a:p>
          </p:txBody>
        </p:sp>
        <p:sp>
          <p:nvSpPr>
            <p:cNvPr id="27716" name="Line 14"/>
            <p:cNvSpPr>
              <a:spLocks noChangeShapeType="1"/>
            </p:cNvSpPr>
            <p:nvPr/>
          </p:nvSpPr>
          <p:spPr bwMode="auto">
            <a:xfrm>
              <a:off x="2496" y="1968"/>
              <a:ext cx="0" cy="96"/>
            </a:xfrm>
            <a:prstGeom prst="line">
              <a:avLst/>
            </a:prstGeom>
            <a:noFill/>
            <a:ln w="19050">
              <a:solidFill>
                <a:schemeClr val="tx1"/>
              </a:solidFill>
              <a:round/>
              <a:headEnd/>
              <a:tailEnd/>
            </a:ln>
          </p:spPr>
          <p:txBody>
            <a:bodyPr/>
            <a:lstStyle/>
            <a:p>
              <a:endParaRPr lang="en-US" b="1"/>
            </a:p>
          </p:txBody>
        </p:sp>
        <p:sp>
          <p:nvSpPr>
            <p:cNvPr id="27717" name="Line 15"/>
            <p:cNvSpPr>
              <a:spLocks noChangeShapeType="1"/>
            </p:cNvSpPr>
            <p:nvPr/>
          </p:nvSpPr>
          <p:spPr bwMode="auto">
            <a:xfrm>
              <a:off x="2544" y="1968"/>
              <a:ext cx="0" cy="96"/>
            </a:xfrm>
            <a:prstGeom prst="line">
              <a:avLst/>
            </a:prstGeom>
            <a:noFill/>
            <a:ln w="19050">
              <a:solidFill>
                <a:schemeClr val="tx1"/>
              </a:solidFill>
              <a:round/>
              <a:headEnd/>
              <a:tailEnd/>
            </a:ln>
          </p:spPr>
          <p:txBody>
            <a:bodyPr/>
            <a:lstStyle/>
            <a:p>
              <a:endParaRPr lang="en-US" b="1"/>
            </a:p>
          </p:txBody>
        </p:sp>
        <p:sp>
          <p:nvSpPr>
            <p:cNvPr id="27718" name="Line 16"/>
            <p:cNvSpPr>
              <a:spLocks noChangeShapeType="1"/>
            </p:cNvSpPr>
            <p:nvPr/>
          </p:nvSpPr>
          <p:spPr bwMode="auto">
            <a:xfrm>
              <a:off x="2592" y="1968"/>
              <a:ext cx="0" cy="96"/>
            </a:xfrm>
            <a:prstGeom prst="line">
              <a:avLst/>
            </a:prstGeom>
            <a:noFill/>
            <a:ln w="19050">
              <a:solidFill>
                <a:schemeClr val="tx1"/>
              </a:solidFill>
              <a:round/>
              <a:headEnd/>
              <a:tailEnd/>
            </a:ln>
          </p:spPr>
          <p:txBody>
            <a:bodyPr/>
            <a:lstStyle/>
            <a:p>
              <a:endParaRPr lang="en-US" b="1"/>
            </a:p>
          </p:txBody>
        </p:sp>
        <p:sp>
          <p:nvSpPr>
            <p:cNvPr id="27719" name="Line 17"/>
            <p:cNvSpPr>
              <a:spLocks noChangeShapeType="1"/>
            </p:cNvSpPr>
            <p:nvPr/>
          </p:nvSpPr>
          <p:spPr bwMode="auto">
            <a:xfrm>
              <a:off x="2640" y="1968"/>
              <a:ext cx="0" cy="96"/>
            </a:xfrm>
            <a:prstGeom prst="line">
              <a:avLst/>
            </a:prstGeom>
            <a:noFill/>
            <a:ln w="19050">
              <a:solidFill>
                <a:schemeClr val="tx1"/>
              </a:solidFill>
              <a:round/>
              <a:headEnd/>
              <a:tailEnd/>
            </a:ln>
          </p:spPr>
          <p:txBody>
            <a:bodyPr/>
            <a:lstStyle/>
            <a:p>
              <a:endParaRPr lang="en-US" b="1"/>
            </a:p>
          </p:txBody>
        </p:sp>
        <p:sp>
          <p:nvSpPr>
            <p:cNvPr id="27720" name="Line 18"/>
            <p:cNvSpPr>
              <a:spLocks noChangeShapeType="1"/>
            </p:cNvSpPr>
            <p:nvPr/>
          </p:nvSpPr>
          <p:spPr bwMode="auto">
            <a:xfrm>
              <a:off x="2688" y="1968"/>
              <a:ext cx="0" cy="96"/>
            </a:xfrm>
            <a:prstGeom prst="line">
              <a:avLst/>
            </a:prstGeom>
            <a:noFill/>
            <a:ln w="19050">
              <a:solidFill>
                <a:schemeClr val="tx1"/>
              </a:solidFill>
              <a:round/>
              <a:headEnd/>
              <a:tailEnd/>
            </a:ln>
          </p:spPr>
          <p:txBody>
            <a:bodyPr/>
            <a:lstStyle/>
            <a:p>
              <a:endParaRPr lang="en-US" b="1"/>
            </a:p>
          </p:txBody>
        </p:sp>
      </p:grpSp>
      <p:grpSp>
        <p:nvGrpSpPr>
          <p:cNvPr id="5" name="Group 19"/>
          <p:cNvGrpSpPr>
            <a:grpSpLocks/>
          </p:cNvGrpSpPr>
          <p:nvPr/>
        </p:nvGrpSpPr>
        <p:grpSpPr bwMode="auto">
          <a:xfrm>
            <a:off x="2738438" y="4579938"/>
            <a:ext cx="533400" cy="457200"/>
            <a:chOff x="2544" y="1584"/>
            <a:chExt cx="336" cy="288"/>
          </a:xfrm>
        </p:grpSpPr>
        <p:sp>
          <p:nvSpPr>
            <p:cNvPr id="27712" name="Rectangle 20"/>
            <p:cNvSpPr>
              <a:spLocks noChangeArrowheads="1"/>
            </p:cNvSpPr>
            <p:nvPr/>
          </p:nvSpPr>
          <p:spPr bwMode="auto">
            <a:xfrm>
              <a:off x="2544" y="1584"/>
              <a:ext cx="336" cy="288"/>
            </a:xfrm>
            <a:prstGeom prst="rect">
              <a:avLst/>
            </a:prstGeom>
            <a:solidFill>
              <a:schemeClr val="bg2"/>
            </a:solidFill>
            <a:ln w="9525">
              <a:solidFill>
                <a:schemeClr val="tx1"/>
              </a:solidFill>
              <a:miter lim="800000"/>
              <a:headEnd/>
              <a:tailEnd/>
            </a:ln>
          </p:spPr>
          <p:txBody>
            <a:bodyPr wrap="none" anchor="ctr"/>
            <a:lstStyle/>
            <a:p>
              <a:endParaRPr lang="en-GB" b="1"/>
            </a:p>
          </p:txBody>
        </p:sp>
        <p:sp>
          <p:nvSpPr>
            <p:cNvPr id="27713" name="Rectangle 21"/>
            <p:cNvSpPr>
              <a:spLocks noChangeArrowheads="1"/>
            </p:cNvSpPr>
            <p:nvPr/>
          </p:nvSpPr>
          <p:spPr bwMode="auto">
            <a:xfrm>
              <a:off x="2568" y="1608"/>
              <a:ext cx="288" cy="240"/>
            </a:xfrm>
            <a:prstGeom prst="rect">
              <a:avLst/>
            </a:prstGeom>
            <a:solidFill>
              <a:schemeClr val="folHlink"/>
            </a:solidFill>
            <a:ln w="9525">
              <a:solidFill>
                <a:schemeClr val="tx1"/>
              </a:solidFill>
              <a:miter lim="800000"/>
              <a:headEnd/>
              <a:tailEnd/>
            </a:ln>
          </p:spPr>
          <p:txBody>
            <a:bodyPr wrap="none" anchor="ctr"/>
            <a:lstStyle/>
            <a:p>
              <a:endParaRPr lang="en-GB" b="1"/>
            </a:p>
          </p:txBody>
        </p:sp>
      </p:grpSp>
      <p:grpSp>
        <p:nvGrpSpPr>
          <p:cNvPr id="6" name="Group 22"/>
          <p:cNvGrpSpPr>
            <a:grpSpLocks/>
          </p:cNvGrpSpPr>
          <p:nvPr/>
        </p:nvGrpSpPr>
        <p:grpSpPr bwMode="auto">
          <a:xfrm>
            <a:off x="2586038" y="5065713"/>
            <a:ext cx="838200" cy="304800"/>
            <a:chOff x="2448" y="1920"/>
            <a:chExt cx="528" cy="192"/>
          </a:xfrm>
        </p:grpSpPr>
        <p:sp>
          <p:nvSpPr>
            <p:cNvPr id="27705" name="Rectangle 23"/>
            <p:cNvSpPr>
              <a:spLocks noChangeArrowheads="1"/>
            </p:cNvSpPr>
            <p:nvPr/>
          </p:nvSpPr>
          <p:spPr bwMode="auto">
            <a:xfrm>
              <a:off x="2448" y="1920"/>
              <a:ext cx="528" cy="192"/>
            </a:xfrm>
            <a:prstGeom prst="rect">
              <a:avLst/>
            </a:prstGeom>
            <a:solidFill>
              <a:schemeClr val="folHlink"/>
            </a:solidFill>
            <a:ln w="9525">
              <a:solidFill>
                <a:schemeClr val="tx1"/>
              </a:solidFill>
              <a:miter lim="800000"/>
              <a:headEnd/>
              <a:tailEnd/>
            </a:ln>
          </p:spPr>
          <p:txBody>
            <a:bodyPr wrap="none" anchor="ctr"/>
            <a:lstStyle/>
            <a:p>
              <a:endParaRPr lang="en-GB" b="1"/>
            </a:p>
          </p:txBody>
        </p:sp>
        <p:sp>
          <p:nvSpPr>
            <p:cNvPr id="27706" name="Line 24"/>
            <p:cNvSpPr>
              <a:spLocks noChangeShapeType="1"/>
            </p:cNvSpPr>
            <p:nvPr/>
          </p:nvSpPr>
          <p:spPr bwMode="auto">
            <a:xfrm>
              <a:off x="2832" y="1968"/>
              <a:ext cx="96" cy="0"/>
            </a:xfrm>
            <a:prstGeom prst="line">
              <a:avLst/>
            </a:prstGeom>
            <a:noFill/>
            <a:ln w="9525">
              <a:solidFill>
                <a:schemeClr val="tx1"/>
              </a:solidFill>
              <a:round/>
              <a:headEnd/>
              <a:tailEnd/>
            </a:ln>
          </p:spPr>
          <p:txBody>
            <a:bodyPr/>
            <a:lstStyle/>
            <a:p>
              <a:endParaRPr lang="en-US" b="1"/>
            </a:p>
          </p:txBody>
        </p:sp>
        <p:sp>
          <p:nvSpPr>
            <p:cNvPr id="27707" name="Line 25"/>
            <p:cNvSpPr>
              <a:spLocks noChangeShapeType="1"/>
            </p:cNvSpPr>
            <p:nvPr/>
          </p:nvSpPr>
          <p:spPr bwMode="auto">
            <a:xfrm>
              <a:off x="2496" y="1968"/>
              <a:ext cx="0" cy="96"/>
            </a:xfrm>
            <a:prstGeom prst="line">
              <a:avLst/>
            </a:prstGeom>
            <a:noFill/>
            <a:ln w="19050">
              <a:solidFill>
                <a:schemeClr val="tx1"/>
              </a:solidFill>
              <a:round/>
              <a:headEnd/>
              <a:tailEnd/>
            </a:ln>
          </p:spPr>
          <p:txBody>
            <a:bodyPr/>
            <a:lstStyle/>
            <a:p>
              <a:endParaRPr lang="en-US" b="1"/>
            </a:p>
          </p:txBody>
        </p:sp>
        <p:sp>
          <p:nvSpPr>
            <p:cNvPr id="27708" name="Line 26"/>
            <p:cNvSpPr>
              <a:spLocks noChangeShapeType="1"/>
            </p:cNvSpPr>
            <p:nvPr/>
          </p:nvSpPr>
          <p:spPr bwMode="auto">
            <a:xfrm>
              <a:off x="2544" y="1968"/>
              <a:ext cx="0" cy="96"/>
            </a:xfrm>
            <a:prstGeom prst="line">
              <a:avLst/>
            </a:prstGeom>
            <a:noFill/>
            <a:ln w="19050">
              <a:solidFill>
                <a:schemeClr val="tx1"/>
              </a:solidFill>
              <a:round/>
              <a:headEnd/>
              <a:tailEnd/>
            </a:ln>
          </p:spPr>
          <p:txBody>
            <a:bodyPr/>
            <a:lstStyle/>
            <a:p>
              <a:endParaRPr lang="en-US" b="1"/>
            </a:p>
          </p:txBody>
        </p:sp>
        <p:sp>
          <p:nvSpPr>
            <p:cNvPr id="27709" name="Line 27"/>
            <p:cNvSpPr>
              <a:spLocks noChangeShapeType="1"/>
            </p:cNvSpPr>
            <p:nvPr/>
          </p:nvSpPr>
          <p:spPr bwMode="auto">
            <a:xfrm>
              <a:off x="2592" y="1968"/>
              <a:ext cx="0" cy="96"/>
            </a:xfrm>
            <a:prstGeom prst="line">
              <a:avLst/>
            </a:prstGeom>
            <a:noFill/>
            <a:ln w="19050">
              <a:solidFill>
                <a:schemeClr val="tx1"/>
              </a:solidFill>
              <a:round/>
              <a:headEnd/>
              <a:tailEnd/>
            </a:ln>
          </p:spPr>
          <p:txBody>
            <a:bodyPr/>
            <a:lstStyle/>
            <a:p>
              <a:endParaRPr lang="en-US" b="1"/>
            </a:p>
          </p:txBody>
        </p:sp>
        <p:sp>
          <p:nvSpPr>
            <p:cNvPr id="27710" name="Line 28"/>
            <p:cNvSpPr>
              <a:spLocks noChangeShapeType="1"/>
            </p:cNvSpPr>
            <p:nvPr/>
          </p:nvSpPr>
          <p:spPr bwMode="auto">
            <a:xfrm>
              <a:off x="2640" y="1968"/>
              <a:ext cx="0" cy="96"/>
            </a:xfrm>
            <a:prstGeom prst="line">
              <a:avLst/>
            </a:prstGeom>
            <a:noFill/>
            <a:ln w="19050">
              <a:solidFill>
                <a:schemeClr val="tx1"/>
              </a:solidFill>
              <a:round/>
              <a:headEnd/>
              <a:tailEnd/>
            </a:ln>
          </p:spPr>
          <p:txBody>
            <a:bodyPr/>
            <a:lstStyle/>
            <a:p>
              <a:endParaRPr lang="en-US" b="1"/>
            </a:p>
          </p:txBody>
        </p:sp>
        <p:sp>
          <p:nvSpPr>
            <p:cNvPr id="27711" name="Line 29"/>
            <p:cNvSpPr>
              <a:spLocks noChangeShapeType="1"/>
            </p:cNvSpPr>
            <p:nvPr/>
          </p:nvSpPr>
          <p:spPr bwMode="auto">
            <a:xfrm>
              <a:off x="2688" y="1968"/>
              <a:ext cx="0" cy="96"/>
            </a:xfrm>
            <a:prstGeom prst="line">
              <a:avLst/>
            </a:prstGeom>
            <a:noFill/>
            <a:ln w="19050">
              <a:solidFill>
                <a:schemeClr val="tx1"/>
              </a:solidFill>
              <a:round/>
              <a:headEnd/>
              <a:tailEnd/>
            </a:ln>
          </p:spPr>
          <p:txBody>
            <a:bodyPr/>
            <a:lstStyle/>
            <a:p>
              <a:endParaRPr lang="en-US" b="1"/>
            </a:p>
          </p:txBody>
        </p:sp>
      </p:grpSp>
      <p:grpSp>
        <p:nvGrpSpPr>
          <p:cNvPr id="7" name="Group 30"/>
          <p:cNvGrpSpPr>
            <a:grpSpLocks/>
          </p:cNvGrpSpPr>
          <p:nvPr/>
        </p:nvGrpSpPr>
        <p:grpSpPr bwMode="auto">
          <a:xfrm>
            <a:off x="3797300" y="4567238"/>
            <a:ext cx="533400" cy="457200"/>
            <a:chOff x="2544" y="1584"/>
            <a:chExt cx="336" cy="288"/>
          </a:xfrm>
        </p:grpSpPr>
        <p:sp>
          <p:nvSpPr>
            <p:cNvPr id="27703" name="Rectangle 31"/>
            <p:cNvSpPr>
              <a:spLocks noChangeArrowheads="1"/>
            </p:cNvSpPr>
            <p:nvPr/>
          </p:nvSpPr>
          <p:spPr bwMode="auto">
            <a:xfrm>
              <a:off x="2544" y="1584"/>
              <a:ext cx="336" cy="288"/>
            </a:xfrm>
            <a:prstGeom prst="rect">
              <a:avLst/>
            </a:prstGeom>
            <a:solidFill>
              <a:schemeClr val="bg2"/>
            </a:solidFill>
            <a:ln w="9525">
              <a:solidFill>
                <a:schemeClr val="tx1"/>
              </a:solidFill>
              <a:miter lim="800000"/>
              <a:headEnd/>
              <a:tailEnd/>
            </a:ln>
          </p:spPr>
          <p:txBody>
            <a:bodyPr wrap="none" anchor="ctr"/>
            <a:lstStyle/>
            <a:p>
              <a:endParaRPr lang="en-GB" b="1"/>
            </a:p>
          </p:txBody>
        </p:sp>
        <p:sp>
          <p:nvSpPr>
            <p:cNvPr id="27704" name="Rectangle 32"/>
            <p:cNvSpPr>
              <a:spLocks noChangeArrowheads="1"/>
            </p:cNvSpPr>
            <p:nvPr/>
          </p:nvSpPr>
          <p:spPr bwMode="auto">
            <a:xfrm>
              <a:off x="2568" y="1608"/>
              <a:ext cx="288" cy="240"/>
            </a:xfrm>
            <a:prstGeom prst="rect">
              <a:avLst/>
            </a:prstGeom>
            <a:solidFill>
              <a:schemeClr val="folHlink"/>
            </a:solidFill>
            <a:ln w="9525">
              <a:solidFill>
                <a:schemeClr val="tx1"/>
              </a:solidFill>
              <a:miter lim="800000"/>
              <a:headEnd/>
              <a:tailEnd/>
            </a:ln>
          </p:spPr>
          <p:txBody>
            <a:bodyPr wrap="none" anchor="ctr"/>
            <a:lstStyle/>
            <a:p>
              <a:endParaRPr lang="en-GB" b="1"/>
            </a:p>
          </p:txBody>
        </p:sp>
      </p:grpSp>
      <p:grpSp>
        <p:nvGrpSpPr>
          <p:cNvPr id="8" name="Group 33"/>
          <p:cNvGrpSpPr>
            <a:grpSpLocks/>
          </p:cNvGrpSpPr>
          <p:nvPr/>
        </p:nvGrpSpPr>
        <p:grpSpPr bwMode="auto">
          <a:xfrm>
            <a:off x="3644900" y="5053013"/>
            <a:ext cx="838200" cy="304800"/>
            <a:chOff x="2448" y="1920"/>
            <a:chExt cx="528" cy="192"/>
          </a:xfrm>
        </p:grpSpPr>
        <p:sp>
          <p:nvSpPr>
            <p:cNvPr id="27696" name="Rectangle 34"/>
            <p:cNvSpPr>
              <a:spLocks noChangeArrowheads="1"/>
            </p:cNvSpPr>
            <p:nvPr/>
          </p:nvSpPr>
          <p:spPr bwMode="auto">
            <a:xfrm>
              <a:off x="2448" y="1920"/>
              <a:ext cx="528" cy="192"/>
            </a:xfrm>
            <a:prstGeom prst="rect">
              <a:avLst/>
            </a:prstGeom>
            <a:solidFill>
              <a:schemeClr val="folHlink"/>
            </a:solidFill>
            <a:ln w="9525">
              <a:solidFill>
                <a:schemeClr val="tx1"/>
              </a:solidFill>
              <a:miter lim="800000"/>
              <a:headEnd/>
              <a:tailEnd/>
            </a:ln>
          </p:spPr>
          <p:txBody>
            <a:bodyPr wrap="none" anchor="ctr"/>
            <a:lstStyle/>
            <a:p>
              <a:endParaRPr lang="en-GB" b="1"/>
            </a:p>
          </p:txBody>
        </p:sp>
        <p:sp>
          <p:nvSpPr>
            <p:cNvPr id="27697" name="Line 35"/>
            <p:cNvSpPr>
              <a:spLocks noChangeShapeType="1"/>
            </p:cNvSpPr>
            <p:nvPr/>
          </p:nvSpPr>
          <p:spPr bwMode="auto">
            <a:xfrm>
              <a:off x="2832" y="1968"/>
              <a:ext cx="96" cy="0"/>
            </a:xfrm>
            <a:prstGeom prst="line">
              <a:avLst/>
            </a:prstGeom>
            <a:noFill/>
            <a:ln w="9525">
              <a:solidFill>
                <a:schemeClr val="tx1"/>
              </a:solidFill>
              <a:round/>
              <a:headEnd/>
              <a:tailEnd/>
            </a:ln>
          </p:spPr>
          <p:txBody>
            <a:bodyPr/>
            <a:lstStyle/>
            <a:p>
              <a:endParaRPr lang="en-US" b="1"/>
            </a:p>
          </p:txBody>
        </p:sp>
        <p:sp>
          <p:nvSpPr>
            <p:cNvPr id="27698" name="Line 36"/>
            <p:cNvSpPr>
              <a:spLocks noChangeShapeType="1"/>
            </p:cNvSpPr>
            <p:nvPr/>
          </p:nvSpPr>
          <p:spPr bwMode="auto">
            <a:xfrm>
              <a:off x="2496" y="1968"/>
              <a:ext cx="0" cy="96"/>
            </a:xfrm>
            <a:prstGeom prst="line">
              <a:avLst/>
            </a:prstGeom>
            <a:noFill/>
            <a:ln w="19050">
              <a:solidFill>
                <a:schemeClr val="tx1"/>
              </a:solidFill>
              <a:round/>
              <a:headEnd/>
              <a:tailEnd/>
            </a:ln>
          </p:spPr>
          <p:txBody>
            <a:bodyPr/>
            <a:lstStyle/>
            <a:p>
              <a:endParaRPr lang="en-US" b="1"/>
            </a:p>
          </p:txBody>
        </p:sp>
        <p:sp>
          <p:nvSpPr>
            <p:cNvPr id="27699" name="Line 37"/>
            <p:cNvSpPr>
              <a:spLocks noChangeShapeType="1"/>
            </p:cNvSpPr>
            <p:nvPr/>
          </p:nvSpPr>
          <p:spPr bwMode="auto">
            <a:xfrm>
              <a:off x="2544" y="1968"/>
              <a:ext cx="0" cy="96"/>
            </a:xfrm>
            <a:prstGeom prst="line">
              <a:avLst/>
            </a:prstGeom>
            <a:noFill/>
            <a:ln w="19050">
              <a:solidFill>
                <a:schemeClr val="tx1"/>
              </a:solidFill>
              <a:round/>
              <a:headEnd/>
              <a:tailEnd/>
            </a:ln>
          </p:spPr>
          <p:txBody>
            <a:bodyPr/>
            <a:lstStyle/>
            <a:p>
              <a:endParaRPr lang="en-US" b="1"/>
            </a:p>
          </p:txBody>
        </p:sp>
        <p:sp>
          <p:nvSpPr>
            <p:cNvPr id="27700" name="Line 38"/>
            <p:cNvSpPr>
              <a:spLocks noChangeShapeType="1"/>
            </p:cNvSpPr>
            <p:nvPr/>
          </p:nvSpPr>
          <p:spPr bwMode="auto">
            <a:xfrm>
              <a:off x="2592" y="1968"/>
              <a:ext cx="0" cy="96"/>
            </a:xfrm>
            <a:prstGeom prst="line">
              <a:avLst/>
            </a:prstGeom>
            <a:noFill/>
            <a:ln w="19050">
              <a:solidFill>
                <a:schemeClr val="tx1"/>
              </a:solidFill>
              <a:round/>
              <a:headEnd/>
              <a:tailEnd/>
            </a:ln>
          </p:spPr>
          <p:txBody>
            <a:bodyPr/>
            <a:lstStyle/>
            <a:p>
              <a:endParaRPr lang="en-US" b="1"/>
            </a:p>
          </p:txBody>
        </p:sp>
        <p:sp>
          <p:nvSpPr>
            <p:cNvPr id="27701" name="Line 39"/>
            <p:cNvSpPr>
              <a:spLocks noChangeShapeType="1"/>
            </p:cNvSpPr>
            <p:nvPr/>
          </p:nvSpPr>
          <p:spPr bwMode="auto">
            <a:xfrm>
              <a:off x="2640" y="1968"/>
              <a:ext cx="0" cy="96"/>
            </a:xfrm>
            <a:prstGeom prst="line">
              <a:avLst/>
            </a:prstGeom>
            <a:noFill/>
            <a:ln w="19050">
              <a:solidFill>
                <a:schemeClr val="tx1"/>
              </a:solidFill>
              <a:round/>
              <a:headEnd/>
              <a:tailEnd/>
            </a:ln>
          </p:spPr>
          <p:txBody>
            <a:bodyPr/>
            <a:lstStyle/>
            <a:p>
              <a:endParaRPr lang="en-US" b="1"/>
            </a:p>
          </p:txBody>
        </p:sp>
        <p:sp>
          <p:nvSpPr>
            <p:cNvPr id="27702" name="Line 40"/>
            <p:cNvSpPr>
              <a:spLocks noChangeShapeType="1"/>
            </p:cNvSpPr>
            <p:nvPr/>
          </p:nvSpPr>
          <p:spPr bwMode="auto">
            <a:xfrm>
              <a:off x="2688" y="1968"/>
              <a:ext cx="0" cy="96"/>
            </a:xfrm>
            <a:prstGeom prst="line">
              <a:avLst/>
            </a:prstGeom>
            <a:noFill/>
            <a:ln w="19050">
              <a:solidFill>
                <a:schemeClr val="tx1"/>
              </a:solidFill>
              <a:round/>
              <a:headEnd/>
              <a:tailEnd/>
            </a:ln>
          </p:spPr>
          <p:txBody>
            <a:bodyPr/>
            <a:lstStyle/>
            <a:p>
              <a:endParaRPr lang="en-US" b="1"/>
            </a:p>
          </p:txBody>
        </p:sp>
      </p:grpSp>
      <p:sp>
        <p:nvSpPr>
          <p:cNvPr id="27662" name="Line 41"/>
          <p:cNvSpPr>
            <a:spLocks noChangeShapeType="1"/>
          </p:cNvSpPr>
          <p:nvPr/>
        </p:nvSpPr>
        <p:spPr bwMode="auto">
          <a:xfrm rot="5400000" flipV="1">
            <a:off x="3005138" y="2784475"/>
            <a:ext cx="0" cy="3048000"/>
          </a:xfrm>
          <a:prstGeom prst="line">
            <a:avLst/>
          </a:prstGeom>
          <a:noFill/>
          <a:ln w="19050">
            <a:solidFill>
              <a:schemeClr val="tx1"/>
            </a:solidFill>
            <a:round/>
            <a:headEnd/>
            <a:tailEnd/>
          </a:ln>
        </p:spPr>
        <p:txBody>
          <a:bodyPr/>
          <a:lstStyle/>
          <a:p>
            <a:endParaRPr lang="en-US" b="1"/>
          </a:p>
        </p:txBody>
      </p:sp>
      <p:sp>
        <p:nvSpPr>
          <p:cNvPr id="27663" name="Line 42"/>
          <p:cNvSpPr>
            <a:spLocks noChangeShapeType="1"/>
          </p:cNvSpPr>
          <p:nvPr/>
        </p:nvSpPr>
        <p:spPr bwMode="auto">
          <a:xfrm rot="5400000" flipV="1">
            <a:off x="1785938" y="4460875"/>
            <a:ext cx="304800" cy="0"/>
          </a:xfrm>
          <a:prstGeom prst="line">
            <a:avLst/>
          </a:prstGeom>
          <a:noFill/>
          <a:ln w="19050">
            <a:solidFill>
              <a:schemeClr val="tx1"/>
            </a:solidFill>
            <a:round/>
            <a:headEnd/>
            <a:tailEnd/>
          </a:ln>
        </p:spPr>
        <p:txBody>
          <a:bodyPr/>
          <a:lstStyle/>
          <a:p>
            <a:endParaRPr lang="en-US" b="1"/>
          </a:p>
        </p:txBody>
      </p:sp>
      <p:sp>
        <p:nvSpPr>
          <p:cNvPr id="27664" name="Line 43"/>
          <p:cNvSpPr>
            <a:spLocks noChangeShapeType="1"/>
          </p:cNvSpPr>
          <p:nvPr/>
        </p:nvSpPr>
        <p:spPr bwMode="auto">
          <a:xfrm rot="5400000" flipV="1">
            <a:off x="2852738" y="4460875"/>
            <a:ext cx="304800" cy="0"/>
          </a:xfrm>
          <a:prstGeom prst="line">
            <a:avLst/>
          </a:prstGeom>
          <a:noFill/>
          <a:ln w="19050">
            <a:solidFill>
              <a:schemeClr val="tx1"/>
            </a:solidFill>
            <a:round/>
            <a:headEnd/>
            <a:tailEnd/>
          </a:ln>
        </p:spPr>
        <p:txBody>
          <a:bodyPr/>
          <a:lstStyle/>
          <a:p>
            <a:endParaRPr lang="en-US" b="1"/>
          </a:p>
        </p:txBody>
      </p:sp>
      <p:sp>
        <p:nvSpPr>
          <p:cNvPr id="27665" name="Line 44"/>
          <p:cNvSpPr>
            <a:spLocks noChangeShapeType="1"/>
          </p:cNvSpPr>
          <p:nvPr/>
        </p:nvSpPr>
        <p:spPr bwMode="auto">
          <a:xfrm rot="5400000" flipV="1">
            <a:off x="3900488" y="4460875"/>
            <a:ext cx="304800" cy="0"/>
          </a:xfrm>
          <a:prstGeom prst="line">
            <a:avLst/>
          </a:prstGeom>
          <a:noFill/>
          <a:ln w="19050">
            <a:solidFill>
              <a:schemeClr val="tx1"/>
            </a:solidFill>
            <a:round/>
            <a:headEnd/>
            <a:tailEnd/>
          </a:ln>
        </p:spPr>
        <p:txBody>
          <a:bodyPr/>
          <a:lstStyle/>
          <a:p>
            <a:endParaRPr lang="en-US" b="1"/>
          </a:p>
        </p:txBody>
      </p:sp>
      <p:sp>
        <p:nvSpPr>
          <p:cNvPr id="27666" name="Line 45"/>
          <p:cNvSpPr>
            <a:spLocks noChangeShapeType="1"/>
          </p:cNvSpPr>
          <p:nvPr/>
        </p:nvSpPr>
        <p:spPr bwMode="auto">
          <a:xfrm rot="5400000" flipV="1">
            <a:off x="2351088" y="4141788"/>
            <a:ext cx="304800" cy="0"/>
          </a:xfrm>
          <a:prstGeom prst="line">
            <a:avLst/>
          </a:prstGeom>
          <a:noFill/>
          <a:ln w="19050">
            <a:solidFill>
              <a:schemeClr val="tx1"/>
            </a:solidFill>
            <a:round/>
            <a:headEnd/>
            <a:tailEnd/>
          </a:ln>
        </p:spPr>
        <p:txBody>
          <a:bodyPr/>
          <a:lstStyle/>
          <a:p>
            <a:endParaRPr lang="en-US" b="1"/>
          </a:p>
        </p:txBody>
      </p:sp>
      <p:sp>
        <p:nvSpPr>
          <p:cNvPr id="27667" name="AutoShape 46"/>
          <p:cNvSpPr>
            <a:spLocks noChangeArrowheads="1"/>
          </p:cNvSpPr>
          <p:nvPr/>
        </p:nvSpPr>
        <p:spPr bwMode="auto">
          <a:xfrm>
            <a:off x="1371600" y="2836863"/>
            <a:ext cx="3005138" cy="1201738"/>
          </a:xfrm>
          <a:prstGeom prst="roundRect">
            <a:avLst>
              <a:gd name="adj" fmla="val 16667"/>
            </a:avLst>
          </a:prstGeom>
          <a:solidFill>
            <a:srgbClr val="CCFF99"/>
          </a:solidFill>
          <a:ln w="9525">
            <a:solidFill>
              <a:schemeClr val="tx1"/>
            </a:solidFill>
            <a:round/>
            <a:headEnd/>
            <a:tailEnd/>
          </a:ln>
        </p:spPr>
        <p:txBody>
          <a:bodyPr wrap="none" anchor="ctr"/>
          <a:lstStyle/>
          <a:p>
            <a:endParaRPr lang="en-GB" b="1"/>
          </a:p>
        </p:txBody>
      </p:sp>
      <p:sp>
        <p:nvSpPr>
          <p:cNvPr id="27668" name="Rectangle 47"/>
          <p:cNvSpPr>
            <a:spLocks noChangeArrowheads="1"/>
          </p:cNvSpPr>
          <p:nvPr/>
        </p:nvSpPr>
        <p:spPr bwMode="auto">
          <a:xfrm>
            <a:off x="2667000" y="3124200"/>
            <a:ext cx="390525" cy="328613"/>
          </a:xfrm>
          <a:prstGeom prst="rect">
            <a:avLst/>
          </a:prstGeom>
          <a:solidFill>
            <a:schemeClr val="bg2"/>
          </a:solidFill>
          <a:ln w="9525">
            <a:solidFill>
              <a:schemeClr val="tx1"/>
            </a:solidFill>
            <a:miter lim="800000"/>
            <a:headEnd/>
            <a:tailEnd/>
          </a:ln>
        </p:spPr>
        <p:txBody>
          <a:bodyPr wrap="none" anchor="ctr"/>
          <a:lstStyle/>
          <a:p>
            <a:endParaRPr lang="en-GB" b="1"/>
          </a:p>
        </p:txBody>
      </p:sp>
      <p:sp>
        <p:nvSpPr>
          <p:cNvPr id="27669" name="Rectangle 48"/>
          <p:cNvSpPr>
            <a:spLocks noChangeArrowheads="1"/>
          </p:cNvSpPr>
          <p:nvPr/>
        </p:nvSpPr>
        <p:spPr bwMode="auto">
          <a:xfrm>
            <a:off x="2695575" y="3151188"/>
            <a:ext cx="333375" cy="274638"/>
          </a:xfrm>
          <a:prstGeom prst="rect">
            <a:avLst/>
          </a:prstGeom>
          <a:solidFill>
            <a:schemeClr val="folHlink"/>
          </a:solidFill>
          <a:ln w="9525">
            <a:solidFill>
              <a:schemeClr val="tx1"/>
            </a:solidFill>
            <a:miter lim="800000"/>
            <a:headEnd/>
            <a:tailEnd/>
          </a:ln>
        </p:spPr>
        <p:txBody>
          <a:bodyPr wrap="none" anchor="ctr"/>
          <a:lstStyle/>
          <a:p>
            <a:endParaRPr lang="en-GB" b="1"/>
          </a:p>
        </p:txBody>
      </p:sp>
      <p:sp>
        <p:nvSpPr>
          <p:cNvPr id="27670" name="Rectangle 49"/>
          <p:cNvSpPr>
            <a:spLocks noChangeArrowheads="1"/>
          </p:cNvSpPr>
          <p:nvPr/>
        </p:nvSpPr>
        <p:spPr bwMode="auto">
          <a:xfrm>
            <a:off x="2513013" y="3506788"/>
            <a:ext cx="685800" cy="258763"/>
          </a:xfrm>
          <a:prstGeom prst="rect">
            <a:avLst/>
          </a:prstGeom>
          <a:solidFill>
            <a:schemeClr val="folHlink"/>
          </a:solidFill>
          <a:ln w="9525">
            <a:solidFill>
              <a:schemeClr val="tx1"/>
            </a:solidFill>
            <a:miter lim="800000"/>
            <a:headEnd/>
            <a:tailEnd/>
          </a:ln>
        </p:spPr>
        <p:txBody>
          <a:bodyPr wrap="none" anchor="ctr"/>
          <a:lstStyle/>
          <a:p>
            <a:endParaRPr lang="en-GB" b="1"/>
          </a:p>
        </p:txBody>
      </p:sp>
      <p:sp>
        <p:nvSpPr>
          <p:cNvPr id="27671" name="Line 50"/>
          <p:cNvSpPr>
            <a:spLocks noChangeShapeType="1"/>
          </p:cNvSpPr>
          <p:nvPr/>
        </p:nvSpPr>
        <p:spPr bwMode="auto">
          <a:xfrm>
            <a:off x="3011488" y="3571875"/>
            <a:ext cx="125413" cy="0"/>
          </a:xfrm>
          <a:prstGeom prst="line">
            <a:avLst/>
          </a:prstGeom>
          <a:noFill/>
          <a:ln w="9525">
            <a:solidFill>
              <a:schemeClr val="tx1"/>
            </a:solidFill>
            <a:round/>
            <a:headEnd/>
            <a:tailEnd/>
          </a:ln>
        </p:spPr>
        <p:txBody>
          <a:bodyPr/>
          <a:lstStyle/>
          <a:p>
            <a:endParaRPr lang="en-US" b="1"/>
          </a:p>
        </p:txBody>
      </p:sp>
      <p:sp>
        <p:nvSpPr>
          <p:cNvPr id="27672" name="Line 51"/>
          <p:cNvSpPr>
            <a:spLocks noChangeShapeType="1"/>
          </p:cNvSpPr>
          <p:nvPr/>
        </p:nvSpPr>
        <p:spPr bwMode="auto">
          <a:xfrm>
            <a:off x="2574925" y="3571875"/>
            <a:ext cx="0" cy="128588"/>
          </a:xfrm>
          <a:prstGeom prst="line">
            <a:avLst/>
          </a:prstGeom>
          <a:noFill/>
          <a:ln w="19050">
            <a:solidFill>
              <a:schemeClr val="tx1"/>
            </a:solidFill>
            <a:round/>
            <a:headEnd/>
            <a:tailEnd/>
          </a:ln>
        </p:spPr>
        <p:txBody>
          <a:bodyPr/>
          <a:lstStyle/>
          <a:p>
            <a:endParaRPr lang="en-US" b="1"/>
          </a:p>
        </p:txBody>
      </p:sp>
      <p:sp>
        <p:nvSpPr>
          <p:cNvPr id="27673" name="Line 52"/>
          <p:cNvSpPr>
            <a:spLocks noChangeShapeType="1"/>
          </p:cNvSpPr>
          <p:nvPr/>
        </p:nvSpPr>
        <p:spPr bwMode="auto">
          <a:xfrm>
            <a:off x="2638425" y="3571875"/>
            <a:ext cx="0" cy="128588"/>
          </a:xfrm>
          <a:prstGeom prst="line">
            <a:avLst/>
          </a:prstGeom>
          <a:noFill/>
          <a:ln w="19050">
            <a:solidFill>
              <a:schemeClr val="tx1"/>
            </a:solidFill>
            <a:round/>
            <a:headEnd/>
            <a:tailEnd/>
          </a:ln>
        </p:spPr>
        <p:txBody>
          <a:bodyPr/>
          <a:lstStyle/>
          <a:p>
            <a:endParaRPr lang="en-US" b="1"/>
          </a:p>
        </p:txBody>
      </p:sp>
      <p:sp>
        <p:nvSpPr>
          <p:cNvPr id="27674" name="Line 53"/>
          <p:cNvSpPr>
            <a:spLocks noChangeShapeType="1"/>
          </p:cNvSpPr>
          <p:nvPr/>
        </p:nvSpPr>
        <p:spPr bwMode="auto">
          <a:xfrm>
            <a:off x="2700338" y="3571875"/>
            <a:ext cx="0" cy="128588"/>
          </a:xfrm>
          <a:prstGeom prst="line">
            <a:avLst/>
          </a:prstGeom>
          <a:noFill/>
          <a:ln w="19050">
            <a:solidFill>
              <a:schemeClr val="tx1"/>
            </a:solidFill>
            <a:round/>
            <a:headEnd/>
            <a:tailEnd/>
          </a:ln>
        </p:spPr>
        <p:txBody>
          <a:bodyPr/>
          <a:lstStyle/>
          <a:p>
            <a:endParaRPr lang="en-US" b="1"/>
          </a:p>
        </p:txBody>
      </p:sp>
      <p:sp>
        <p:nvSpPr>
          <p:cNvPr id="27675" name="Line 54"/>
          <p:cNvSpPr>
            <a:spLocks noChangeShapeType="1"/>
          </p:cNvSpPr>
          <p:nvPr/>
        </p:nvSpPr>
        <p:spPr bwMode="auto">
          <a:xfrm>
            <a:off x="2762250" y="3571875"/>
            <a:ext cx="0" cy="128588"/>
          </a:xfrm>
          <a:prstGeom prst="line">
            <a:avLst/>
          </a:prstGeom>
          <a:noFill/>
          <a:ln w="19050">
            <a:solidFill>
              <a:schemeClr val="tx1"/>
            </a:solidFill>
            <a:round/>
            <a:headEnd/>
            <a:tailEnd/>
          </a:ln>
        </p:spPr>
        <p:txBody>
          <a:bodyPr/>
          <a:lstStyle/>
          <a:p>
            <a:endParaRPr lang="en-US" b="1"/>
          </a:p>
        </p:txBody>
      </p:sp>
      <p:sp>
        <p:nvSpPr>
          <p:cNvPr id="27676" name="Line 55"/>
          <p:cNvSpPr>
            <a:spLocks noChangeShapeType="1"/>
          </p:cNvSpPr>
          <p:nvPr/>
        </p:nvSpPr>
        <p:spPr bwMode="auto">
          <a:xfrm>
            <a:off x="2824163" y="3571875"/>
            <a:ext cx="0" cy="128588"/>
          </a:xfrm>
          <a:prstGeom prst="line">
            <a:avLst/>
          </a:prstGeom>
          <a:noFill/>
          <a:ln w="19050">
            <a:solidFill>
              <a:schemeClr val="tx1"/>
            </a:solidFill>
            <a:round/>
            <a:headEnd/>
            <a:tailEnd/>
          </a:ln>
        </p:spPr>
        <p:txBody>
          <a:bodyPr/>
          <a:lstStyle/>
          <a:p>
            <a:endParaRPr lang="en-US" b="1"/>
          </a:p>
        </p:txBody>
      </p:sp>
      <p:sp>
        <p:nvSpPr>
          <p:cNvPr id="27677" name="Text Box 56"/>
          <p:cNvSpPr txBox="1">
            <a:spLocks noChangeArrowheads="1"/>
          </p:cNvSpPr>
          <p:nvPr/>
        </p:nvSpPr>
        <p:spPr bwMode="auto">
          <a:xfrm>
            <a:off x="1447800" y="2971800"/>
            <a:ext cx="1143000" cy="915988"/>
          </a:xfrm>
          <a:prstGeom prst="rect">
            <a:avLst/>
          </a:prstGeom>
          <a:noFill/>
          <a:ln w="9525">
            <a:noFill/>
            <a:miter lim="800000"/>
            <a:headEnd/>
            <a:tailEnd/>
          </a:ln>
        </p:spPr>
        <p:txBody>
          <a:bodyPr>
            <a:spAutoFit/>
          </a:bodyPr>
          <a:lstStyle/>
          <a:p>
            <a:pPr>
              <a:lnSpc>
                <a:spcPct val="100000"/>
              </a:lnSpc>
              <a:spcBef>
                <a:spcPct val="0"/>
              </a:spcBef>
            </a:pPr>
            <a:r>
              <a:rPr lang="en-GB" sz="1800" b="1" dirty="0">
                <a:solidFill>
                  <a:srgbClr val="800080"/>
                </a:solidFill>
              </a:rPr>
              <a:t>Dual-homed Host</a:t>
            </a:r>
          </a:p>
        </p:txBody>
      </p:sp>
      <p:sp>
        <p:nvSpPr>
          <p:cNvPr id="27678" name="Line 57"/>
          <p:cNvSpPr>
            <a:spLocks noChangeShapeType="1"/>
          </p:cNvSpPr>
          <p:nvPr/>
        </p:nvSpPr>
        <p:spPr bwMode="auto">
          <a:xfrm rot="5400000">
            <a:off x="2628900" y="2628900"/>
            <a:ext cx="381000" cy="0"/>
          </a:xfrm>
          <a:prstGeom prst="line">
            <a:avLst/>
          </a:prstGeom>
          <a:noFill/>
          <a:ln w="19050">
            <a:solidFill>
              <a:schemeClr val="tx1"/>
            </a:solidFill>
            <a:round/>
            <a:headEnd/>
            <a:tailEnd/>
          </a:ln>
        </p:spPr>
        <p:txBody>
          <a:bodyPr/>
          <a:lstStyle/>
          <a:p>
            <a:endParaRPr lang="en-US" b="1"/>
          </a:p>
        </p:txBody>
      </p:sp>
      <p:sp>
        <p:nvSpPr>
          <p:cNvPr id="27679" name="Text Box 58"/>
          <p:cNvSpPr txBox="1">
            <a:spLocks noChangeArrowheads="1"/>
          </p:cNvSpPr>
          <p:nvPr/>
        </p:nvSpPr>
        <p:spPr bwMode="auto">
          <a:xfrm>
            <a:off x="1600200" y="2414588"/>
            <a:ext cx="1035050" cy="366713"/>
          </a:xfrm>
          <a:prstGeom prst="rect">
            <a:avLst/>
          </a:prstGeom>
          <a:noFill/>
          <a:ln w="9525">
            <a:noFill/>
            <a:miter lim="800000"/>
            <a:headEnd/>
            <a:tailEnd/>
          </a:ln>
        </p:spPr>
        <p:txBody>
          <a:bodyPr wrap="none">
            <a:spAutoFit/>
          </a:bodyPr>
          <a:lstStyle/>
          <a:p>
            <a:pPr algn="l">
              <a:lnSpc>
                <a:spcPct val="100000"/>
              </a:lnSpc>
              <a:spcBef>
                <a:spcPct val="0"/>
              </a:spcBef>
            </a:pPr>
            <a:r>
              <a:rPr lang="en-GB" sz="1800" b="1"/>
              <a:t>Firewall</a:t>
            </a:r>
          </a:p>
        </p:txBody>
      </p:sp>
      <p:sp>
        <p:nvSpPr>
          <p:cNvPr id="27680" name="Rectangle 59"/>
          <p:cNvSpPr>
            <a:spLocks noChangeArrowheads="1"/>
          </p:cNvSpPr>
          <p:nvPr/>
        </p:nvSpPr>
        <p:spPr bwMode="auto">
          <a:xfrm>
            <a:off x="3386138" y="3124200"/>
            <a:ext cx="762000" cy="685800"/>
          </a:xfrm>
          <a:prstGeom prst="rect">
            <a:avLst/>
          </a:prstGeom>
          <a:solidFill>
            <a:schemeClr val="folHlink"/>
          </a:solidFill>
          <a:ln w="9525">
            <a:solidFill>
              <a:schemeClr val="tx1"/>
            </a:solidFill>
            <a:miter lim="800000"/>
            <a:headEnd/>
            <a:tailEnd/>
          </a:ln>
        </p:spPr>
        <p:txBody>
          <a:bodyPr wrap="none" anchor="ctr"/>
          <a:lstStyle/>
          <a:p>
            <a:pPr>
              <a:lnSpc>
                <a:spcPct val="100000"/>
              </a:lnSpc>
              <a:spcBef>
                <a:spcPct val="0"/>
              </a:spcBef>
            </a:pPr>
            <a:r>
              <a:rPr lang="en-GB" sz="1600" b="1" dirty="0">
                <a:solidFill>
                  <a:schemeClr val="tx1"/>
                </a:solidFill>
              </a:rPr>
              <a:t>Proxy</a:t>
            </a:r>
          </a:p>
          <a:p>
            <a:pPr>
              <a:lnSpc>
                <a:spcPct val="100000"/>
              </a:lnSpc>
              <a:spcBef>
                <a:spcPct val="0"/>
              </a:spcBef>
            </a:pPr>
            <a:r>
              <a:rPr lang="en-GB" sz="1600" b="1" dirty="0">
                <a:solidFill>
                  <a:schemeClr val="tx1"/>
                </a:solidFill>
              </a:rPr>
              <a:t>Server</a:t>
            </a:r>
          </a:p>
        </p:txBody>
      </p:sp>
      <p:sp>
        <p:nvSpPr>
          <p:cNvPr id="27681" name="Rectangle 60"/>
          <p:cNvSpPr>
            <a:spLocks noChangeArrowheads="1"/>
          </p:cNvSpPr>
          <p:nvPr/>
        </p:nvSpPr>
        <p:spPr bwMode="auto">
          <a:xfrm>
            <a:off x="152400" y="1447800"/>
            <a:ext cx="1130300" cy="1524000"/>
          </a:xfrm>
          <a:prstGeom prst="rect">
            <a:avLst/>
          </a:prstGeom>
          <a:solidFill>
            <a:srgbClr val="CCFF99"/>
          </a:solidFill>
          <a:ln w="9525">
            <a:solidFill>
              <a:schemeClr val="tx1"/>
            </a:solidFill>
            <a:miter lim="800000"/>
            <a:headEnd/>
            <a:tailEnd/>
          </a:ln>
        </p:spPr>
        <p:txBody>
          <a:bodyPr wrap="none" anchor="b" anchorCtr="1"/>
          <a:lstStyle/>
          <a:p>
            <a:pPr>
              <a:lnSpc>
                <a:spcPct val="100000"/>
              </a:lnSpc>
              <a:spcBef>
                <a:spcPct val="0"/>
              </a:spcBef>
            </a:pPr>
            <a:r>
              <a:rPr lang="en-GB" sz="1600" b="1" dirty="0">
                <a:solidFill>
                  <a:srgbClr val="0000FF"/>
                </a:solidFill>
              </a:rPr>
              <a:t>Real Server</a:t>
            </a:r>
          </a:p>
        </p:txBody>
      </p:sp>
      <p:grpSp>
        <p:nvGrpSpPr>
          <p:cNvPr id="9" name="Group 61"/>
          <p:cNvGrpSpPr>
            <a:grpSpLocks/>
          </p:cNvGrpSpPr>
          <p:nvPr/>
        </p:nvGrpSpPr>
        <p:grpSpPr bwMode="auto">
          <a:xfrm>
            <a:off x="463550" y="1589088"/>
            <a:ext cx="533400" cy="457200"/>
            <a:chOff x="2544" y="1584"/>
            <a:chExt cx="336" cy="288"/>
          </a:xfrm>
        </p:grpSpPr>
        <p:sp>
          <p:nvSpPr>
            <p:cNvPr id="27694" name="Rectangle 62"/>
            <p:cNvSpPr>
              <a:spLocks noChangeArrowheads="1"/>
            </p:cNvSpPr>
            <p:nvPr/>
          </p:nvSpPr>
          <p:spPr bwMode="auto">
            <a:xfrm>
              <a:off x="2544" y="1584"/>
              <a:ext cx="336" cy="288"/>
            </a:xfrm>
            <a:prstGeom prst="rect">
              <a:avLst/>
            </a:prstGeom>
            <a:solidFill>
              <a:schemeClr val="bg2"/>
            </a:solidFill>
            <a:ln w="9525">
              <a:solidFill>
                <a:schemeClr val="tx1"/>
              </a:solidFill>
              <a:miter lim="800000"/>
              <a:headEnd/>
              <a:tailEnd/>
            </a:ln>
          </p:spPr>
          <p:txBody>
            <a:bodyPr wrap="none" anchor="ctr"/>
            <a:lstStyle/>
            <a:p>
              <a:endParaRPr lang="en-GB" b="1"/>
            </a:p>
          </p:txBody>
        </p:sp>
        <p:sp>
          <p:nvSpPr>
            <p:cNvPr id="27695" name="Rectangle 63"/>
            <p:cNvSpPr>
              <a:spLocks noChangeArrowheads="1"/>
            </p:cNvSpPr>
            <p:nvPr/>
          </p:nvSpPr>
          <p:spPr bwMode="auto">
            <a:xfrm>
              <a:off x="2568" y="1608"/>
              <a:ext cx="288" cy="240"/>
            </a:xfrm>
            <a:prstGeom prst="rect">
              <a:avLst/>
            </a:prstGeom>
            <a:solidFill>
              <a:schemeClr val="folHlink"/>
            </a:solidFill>
            <a:ln w="9525">
              <a:solidFill>
                <a:schemeClr val="tx1"/>
              </a:solidFill>
              <a:miter lim="800000"/>
              <a:headEnd/>
              <a:tailEnd/>
            </a:ln>
          </p:spPr>
          <p:txBody>
            <a:bodyPr wrap="none" anchor="ctr"/>
            <a:lstStyle/>
            <a:p>
              <a:endParaRPr lang="en-GB" b="1"/>
            </a:p>
          </p:txBody>
        </p:sp>
      </p:grpSp>
      <p:grpSp>
        <p:nvGrpSpPr>
          <p:cNvPr id="10" name="Group 64"/>
          <p:cNvGrpSpPr>
            <a:grpSpLocks/>
          </p:cNvGrpSpPr>
          <p:nvPr/>
        </p:nvGrpSpPr>
        <p:grpSpPr bwMode="auto">
          <a:xfrm>
            <a:off x="311150" y="2074863"/>
            <a:ext cx="838200" cy="304800"/>
            <a:chOff x="2448" y="1920"/>
            <a:chExt cx="528" cy="192"/>
          </a:xfrm>
        </p:grpSpPr>
        <p:sp>
          <p:nvSpPr>
            <p:cNvPr id="27687" name="Rectangle 65"/>
            <p:cNvSpPr>
              <a:spLocks noChangeArrowheads="1"/>
            </p:cNvSpPr>
            <p:nvPr/>
          </p:nvSpPr>
          <p:spPr bwMode="auto">
            <a:xfrm>
              <a:off x="2448" y="1920"/>
              <a:ext cx="528" cy="192"/>
            </a:xfrm>
            <a:prstGeom prst="rect">
              <a:avLst/>
            </a:prstGeom>
            <a:solidFill>
              <a:schemeClr val="folHlink"/>
            </a:solidFill>
            <a:ln w="9525">
              <a:solidFill>
                <a:schemeClr val="tx1"/>
              </a:solidFill>
              <a:miter lim="800000"/>
              <a:headEnd/>
              <a:tailEnd/>
            </a:ln>
          </p:spPr>
          <p:txBody>
            <a:bodyPr wrap="none" anchor="ctr"/>
            <a:lstStyle/>
            <a:p>
              <a:endParaRPr lang="en-GB" b="1"/>
            </a:p>
          </p:txBody>
        </p:sp>
        <p:sp>
          <p:nvSpPr>
            <p:cNvPr id="27688" name="Line 66"/>
            <p:cNvSpPr>
              <a:spLocks noChangeShapeType="1"/>
            </p:cNvSpPr>
            <p:nvPr/>
          </p:nvSpPr>
          <p:spPr bwMode="auto">
            <a:xfrm>
              <a:off x="2832" y="1968"/>
              <a:ext cx="96" cy="0"/>
            </a:xfrm>
            <a:prstGeom prst="line">
              <a:avLst/>
            </a:prstGeom>
            <a:noFill/>
            <a:ln w="9525">
              <a:solidFill>
                <a:schemeClr val="tx1"/>
              </a:solidFill>
              <a:round/>
              <a:headEnd/>
              <a:tailEnd/>
            </a:ln>
          </p:spPr>
          <p:txBody>
            <a:bodyPr/>
            <a:lstStyle/>
            <a:p>
              <a:endParaRPr lang="en-US" b="1"/>
            </a:p>
          </p:txBody>
        </p:sp>
        <p:sp>
          <p:nvSpPr>
            <p:cNvPr id="27689" name="Line 67"/>
            <p:cNvSpPr>
              <a:spLocks noChangeShapeType="1"/>
            </p:cNvSpPr>
            <p:nvPr/>
          </p:nvSpPr>
          <p:spPr bwMode="auto">
            <a:xfrm>
              <a:off x="2496" y="1968"/>
              <a:ext cx="0" cy="96"/>
            </a:xfrm>
            <a:prstGeom prst="line">
              <a:avLst/>
            </a:prstGeom>
            <a:noFill/>
            <a:ln w="19050">
              <a:solidFill>
                <a:schemeClr val="tx1"/>
              </a:solidFill>
              <a:round/>
              <a:headEnd/>
              <a:tailEnd/>
            </a:ln>
          </p:spPr>
          <p:txBody>
            <a:bodyPr/>
            <a:lstStyle/>
            <a:p>
              <a:endParaRPr lang="en-US" b="1"/>
            </a:p>
          </p:txBody>
        </p:sp>
        <p:sp>
          <p:nvSpPr>
            <p:cNvPr id="27690" name="Line 68"/>
            <p:cNvSpPr>
              <a:spLocks noChangeShapeType="1"/>
            </p:cNvSpPr>
            <p:nvPr/>
          </p:nvSpPr>
          <p:spPr bwMode="auto">
            <a:xfrm>
              <a:off x="2544" y="1968"/>
              <a:ext cx="0" cy="96"/>
            </a:xfrm>
            <a:prstGeom prst="line">
              <a:avLst/>
            </a:prstGeom>
            <a:noFill/>
            <a:ln w="19050">
              <a:solidFill>
                <a:schemeClr val="tx1"/>
              </a:solidFill>
              <a:round/>
              <a:headEnd/>
              <a:tailEnd/>
            </a:ln>
          </p:spPr>
          <p:txBody>
            <a:bodyPr/>
            <a:lstStyle/>
            <a:p>
              <a:endParaRPr lang="en-US" b="1"/>
            </a:p>
          </p:txBody>
        </p:sp>
        <p:sp>
          <p:nvSpPr>
            <p:cNvPr id="27691" name="Line 69"/>
            <p:cNvSpPr>
              <a:spLocks noChangeShapeType="1"/>
            </p:cNvSpPr>
            <p:nvPr/>
          </p:nvSpPr>
          <p:spPr bwMode="auto">
            <a:xfrm>
              <a:off x="2592" y="1968"/>
              <a:ext cx="0" cy="96"/>
            </a:xfrm>
            <a:prstGeom prst="line">
              <a:avLst/>
            </a:prstGeom>
            <a:noFill/>
            <a:ln w="19050">
              <a:solidFill>
                <a:schemeClr val="tx1"/>
              </a:solidFill>
              <a:round/>
              <a:headEnd/>
              <a:tailEnd/>
            </a:ln>
          </p:spPr>
          <p:txBody>
            <a:bodyPr/>
            <a:lstStyle/>
            <a:p>
              <a:endParaRPr lang="en-US" b="1"/>
            </a:p>
          </p:txBody>
        </p:sp>
        <p:sp>
          <p:nvSpPr>
            <p:cNvPr id="27692" name="Line 70"/>
            <p:cNvSpPr>
              <a:spLocks noChangeShapeType="1"/>
            </p:cNvSpPr>
            <p:nvPr/>
          </p:nvSpPr>
          <p:spPr bwMode="auto">
            <a:xfrm>
              <a:off x="2640" y="1968"/>
              <a:ext cx="0" cy="96"/>
            </a:xfrm>
            <a:prstGeom prst="line">
              <a:avLst/>
            </a:prstGeom>
            <a:noFill/>
            <a:ln w="19050">
              <a:solidFill>
                <a:schemeClr val="tx1"/>
              </a:solidFill>
              <a:round/>
              <a:headEnd/>
              <a:tailEnd/>
            </a:ln>
          </p:spPr>
          <p:txBody>
            <a:bodyPr/>
            <a:lstStyle/>
            <a:p>
              <a:endParaRPr lang="en-US" b="1"/>
            </a:p>
          </p:txBody>
        </p:sp>
        <p:sp>
          <p:nvSpPr>
            <p:cNvPr id="27693" name="Line 71"/>
            <p:cNvSpPr>
              <a:spLocks noChangeShapeType="1"/>
            </p:cNvSpPr>
            <p:nvPr/>
          </p:nvSpPr>
          <p:spPr bwMode="auto">
            <a:xfrm>
              <a:off x="2688" y="1968"/>
              <a:ext cx="0" cy="96"/>
            </a:xfrm>
            <a:prstGeom prst="line">
              <a:avLst/>
            </a:prstGeom>
            <a:noFill/>
            <a:ln w="19050">
              <a:solidFill>
                <a:schemeClr val="tx1"/>
              </a:solidFill>
              <a:round/>
              <a:headEnd/>
              <a:tailEnd/>
            </a:ln>
          </p:spPr>
          <p:txBody>
            <a:bodyPr/>
            <a:lstStyle/>
            <a:p>
              <a:endParaRPr lang="en-US" b="1"/>
            </a:p>
          </p:txBody>
        </p:sp>
      </p:grpSp>
      <p:sp>
        <p:nvSpPr>
          <p:cNvPr id="27684" name="Freeform 72"/>
          <p:cNvSpPr>
            <a:spLocks/>
          </p:cNvSpPr>
          <p:nvPr/>
        </p:nvSpPr>
        <p:spPr bwMode="auto">
          <a:xfrm>
            <a:off x="1295400" y="2209800"/>
            <a:ext cx="2514600" cy="914400"/>
          </a:xfrm>
          <a:custGeom>
            <a:avLst/>
            <a:gdLst>
              <a:gd name="T0" fmla="*/ 0 w 2208"/>
              <a:gd name="T1" fmla="*/ 0 h 624"/>
              <a:gd name="T2" fmla="*/ 815 w 2208"/>
              <a:gd name="T3" fmla="*/ 0 h 624"/>
              <a:gd name="T4" fmla="*/ 815 w 2208"/>
              <a:gd name="T5" fmla="*/ 491 h 624"/>
              <a:gd name="T6" fmla="*/ 0 60000 65536"/>
              <a:gd name="T7" fmla="*/ 0 60000 65536"/>
              <a:gd name="T8" fmla="*/ 0 60000 65536"/>
              <a:gd name="T9" fmla="*/ 0 w 2208"/>
              <a:gd name="T10" fmla="*/ 0 h 624"/>
              <a:gd name="T11" fmla="*/ 2208 w 2208"/>
              <a:gd name="T12" fmla="*/ 624 h 624"/>
            </a:gdLst>
            <a:ahLst/>
            <a:cxnLst>
              <a:cxn ang="T6">
                <a:pos x="T0" y="T1"/>
              </a:cxn>
              <a:cxn ang="T7">
                <a:pos x="T2" y="T3"/>
              </a:cxn>
              <a:cxn ang="T8">
                <a:pos x="T4" y="T5"/>
              </a:cxn>
            </a:cxnLst>
            <a:rect l="T9" t="T10" r="T11" b="T12"/>
            <a:pathLst>
              <a:path w="2208" h="624">
                <a:moveTo>
                  <a:pt x="0" y="0"/>
                </a:moveTo>
                <a:lnTo>
                  <a:pt x="2208" y="0"/>
                </a:lnTo>
                <a:lnTo>
                  <a:pt x="2208" y="624"/>
                </a:lnTo>
              </a:path>
            </a:pathLst>
          </a:custGeom>
          <a:noFill/>
          <a:ln w="38100">
            <a:solidFill>
              <a:srgbClr val="FF3300"/>
            </a:solidFill>
            <a:round/>
            <a:headEnd type="triangle" w="med" len="med"/>
            <a:tailEnd type="triangle" w="med" len="med"/>
          </a:ln>
        </p:spPr>
        <p:txBody>
          <a:bodyPr/>
          <a:lstStyle/>
          <a:p>
            <a:endParaRPr lang="en-GB" b="1"/>
          </a:p>
        </p:txBody>
      </p:sp>
      <p:sp>
        <p:nvSpPr>
          <p:cNvPr id="27685" name="Freeform 73"/>
          <p:cNvSpPr>
            <a:spLocks/>
          </p:cNvSpPr>
          <p:nvPr/>
        </p:nvSpPr>
        <p:spPr bwMode="auto">
          <a:xfrm>
            <a:off x="1752600" y="3810000"/>
            <a:ext cx="2057400" cy="762000"/>
          </a:xfrm>
          <a:custGeom>
            <a:avLst/>
            <a:gdLst>
              <a:gd name="T0" fmla="*/ 1296 w 1296"/>
              <a:gd name="T1" fmla="*/ 0 h 480"/>
              <a:gd name="T2" fmla="*/ 1296 w 1296"/>
              <a:gd name="T3" fmla="*/ 240 h 480"/>
              <a:gd name="T4" fmla="*/ 0 w 1296"/>
              <a:gd name="T5" fmla="*/ 240 h 480"/>
              <a:gd name="T6" fmla="*/ 0 w 1296"/>
              <a:gd name="T7" fmla="*/ 480 h 480"/>
              <a:gd name="T8" fmla="*/ 0 60000 65536"/>
              <a:gd name="T9" fmla="*/ 0 60000 65536"/>
              <a:gd name="T10" fmla="*/ 0 60000 65536"/>
              <a:gd name="T11" fmla="*/ 0 60000 65536"/>
              <a:gd name="T12" fmla="*/ 0 w 1296"/>
              <a:gd name="T13" fmla="*/ 0 h 480"/>
              <a:gd name="T14" fmla="*/ 1296 w 1296"/>
              <a:gd name="T15" fmla="*/ 480 h 480"/>
            </a:gdLst>
            <a:ahLst/>
            <a:cxnLst>
              <a:cxn ang="T8">
                <a:pos x="T0" y="T1"/>
              </a:cxn>
              <a:cxn ang="T9">
                <a:pos x="T2" y="T3"/>
              </a:cxn>
              <a:cxn ang="T10">
                <a:pos x="T4" y="T5"/>
              </a:cxn>
              <a:cxn ang="T11">
                <a:pos x="T6" y="T7"/>
              </a:cxn>
            </a:cxnLst>
            <a:rect l="T12" t="T13" r="T14" b="T15"/>
            <a:pathLst>
              <a:path w="1296" h="480">
                <a:moveTo>
                  <a:pt x="1296" y="0"/>
                </a:moveTo>
                <a:lnTo>
                  <a:pt x="1296" y="240"/>
                </a:lnTo>
                <a:lnTo>
                  <a:pt x="0" y="240"/>
                </a:lnTo>
                <a:lnTo>
                  <a:pt x="0" y="480"/>
                </a:lnTo>
              </a:path>
            </a:pathLst>
          </a:custGeom>
          <a:noFill/>
          <a:ln w="38100">
            <a:solidFill>
              <a:srgbClr val="FF3300"/>
            </a:solidFill>
            <a:round/>
            <a:headEnd type="triangle" w="med" len="med"/>
            <a:tailEnd type="triangle" w="med" len="med"/>
          </a:ln>
        </p:spPr>
        <p:txBody>
          <a:bodyPr/>
          <a:lstStyle/>
          <a:p>
            <a:endParaRPr lang="en-GB" b="1"/>
          </a:p>
        </p:txBody>
      </p:sp>
      <p:sp>
        <p:nvSpPr>
          <p:cNvPr id="27686" name="Text Box 74"/>
          <p:cNvSpPr txBox="1">
            <a:spLocks noChangeArrowheads="1"/>
          </p:cNvSpPr>
          <p:nvPr/>
        </p:nvSpPr>
        <p:spPr bwMode="auto">
          <a:xfrm>
            <a:off x="381000" y="3962400"/>
            <a:ext cx="1143000" cy="641350"/>
          </a:xfrm>
          <a:prstGeom prst="rect">
            <a:avLst/>
          </a:prstGeom>
          <a:noFill/>
          <a:ln w="9525">
            <a:noFill/>
            <a:miter lim="800000"/>
            <a:headEnd/>
            <a:tailEnd/>
          </a:ln>
        </p:spPr>
        <p:txBody>
          <a:bodyPr>
            <a:spAutoFit/>
          </a:bodyPr>
          <a:lstStyle/>
          <a:p>
            <a:pPr algn="l">
              <a:lnSpc>
                <a:spcPct val="100000"/>
              </a:lnSpc>
              <a:spcBef>
                <a:spcPct val="0"/>
              </a:spcBef>
            </a:pPr>
            <a:r>
              <a:rPr lang="en-GB" sz="1800" b="1"/>
              <a:t>Internal Network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normAutofit/>
          </a:bodyPr>
          <a:lstStyle/>
          <a:p>
            <a:pPr eaLnBrk="1" hangingPunct="1"/>
            <a:r>
              <a:rPr lang="en-GB" sz="4400" dirty="0"/>
              <a:t>Application Firewalls</a:t>
            </a:r>
            <a:endParaRPr lang="en-US" sz="4400" dirty="0"/>
          </a:p>
        </p:txBody>
      </p:sp>
      <p:sp>
        <p:nvSpPr>
          <p:cNvPr id="48132" name="Rectangle 3"/>
          <p:cNvSpPr>
            <a:spLocks noGrp="1" noChangeArrowheads="1"/>
          </p:cNvSpPr>
          <p:nvPr>
            <p:ph idx="1"/>
          </p:nvPr>
        </p:nvSpPr>
        <p:spPr>
          <a:xfrm>
            <a:off x="304800" y="1828800"/>
            <a:ext cx="8458200" cy="4724400"/>
          </a:xfrm>
        </p:spPr>
        <p:txBody>
          <a:bodyPr>
            <a:normAutofit/>
          </a:bodyPr>
          <a:lstStyle/>
          <a:p>
            <a:pPr marL="342900" indent="-342900" eaLnBrk="1" hangingPunct="1">
              <a:lnSpc>
                <a:spcPct val="80000"/>
              </a:lnSpc>
              <a:spcBef>
                <a:spcPct val="50000"/>
              </a:spcBef>
            </a:pPr>
            <a:r>
              <a:rPr lang="en-GB" sz="2800" dirty="0"/>
              <a:t>Sits between a user (proxy client in the internal network) and a service (real server in the external network)</a:t>
            </a:r>
          </a:p>
          <a:p>
            <a:pPr marL="342900" indent="-342900" eaLnBrk="1" hangingPunct="1">
              <a:lnSpc>
                <a:spcPct val="80000"/>
              </a:lnSpc>
              <a:spcBef>
                <a:spcPct val="50000"/>
              </a:spcBef>
            </a:pPr>
            <a:r>
              <a:rPr lang="en-GB" sz="2800" dirty="0"/>
              <a:t>Proxy client sends request to proxy server (Firewall)</a:t>
            </a:r>
          </a:p>
          <a:p>
            <a:pPr marL="342900" indent="-342900" eaLnBrk="1" hangingPunct="1">
              <a:lnSpc>
                <a:spcPct val="80000"/>
              </a:lnSpc>
              <a:spcBef>
                <a:spcPct val="50000"/>
              </a:spcBef>
            </a:pPr>
            <a:r>
              <a:rPr lang="en-GB" sz="2800" dirty="0"/>
              <a:t>Proxy server evaluates request based on security policy</a:t>
            </a:r>
          </a:p>
          <a:p>
            <a:pPr marL="342900" indent="-342900" eaLnBrk="1" hangingPunct="1">
              <a:lnSpc>
                <a:spcPct val="80000"/>
              </a:lnSpc>
              <a:spcBef>
                <a:spcPct val="50000"/>
              </a:spcBef>
            </a:pPr>
            <a:r>
              <a:rPr lang="en-GB" sz="2800" dirty="0"/>
              <a:t>If the request is permitted, the proxy server contacts the real server on behalf of the proxy client</a:t>
            </a:r>
          </a:p>
          <a:p>
            <a:pPr marL="342900" indent="-342900" eaLnBrk="1" hangingPunct="1">
              <a:lnSpc>
                <a:spcPct val="80000"/>
              </a:lnSpc>
              <a:spcBef>
                <a:spcPct val="50000"/>
              </a:spcBef>
            </a:pPr>
            <a:r>
              <a:rPr lang="en-GB" sz="2800" dirty="0"/>
              <a:t>Proxy server relays request from proxy client to the real server, and responses from the real server to the proxy client</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normAutofit/>
          </a:bodyPr>
          <a:lstStyle/>
          <a:p>
            <a:pPr eaLnBrk="1" hangingPunct="1"/>
            <a:r>
              <a:rPr lang="en-GB" sz="4000" dirty="0"/>
              <a:t>Advantages of Application Firewalls</a:t>
            </a:r>
            <a:endParaRPr lang="en-US" sz="4000" dirty="0"/>
          </a:p>
        </p:txBody>
      </p:sp>
      <p:sp>
        <p:nvSpPr>
          <p:cNvPr id="49156" name="Rectangle 3"/>
          <p:cNvSpPr>
            <a:spLocks noGrp="1" noChangeArrowheads="1"/>
          </p:cNvSpPr>
          <p:nvPr>
            <p:ph idx="1"/>
          </p:nvPr>
        </p:nvSpPr>
        <p:spPr>
          <a:xfrm>
            <a:off x="228600" y="1690688"/>
            <a:ext cx="8610600" cy="4710111"/>
          </a:xfrm>
        </p:spPr>
        <p:txBody>
          <a:bodyPr/>
          <a:lstStyle/>
          <a:p>
            <a:pPr marL="342900" indent="-342900" eaLnBrk="1" hangingPunct="1">
              <a:lnSpc>
                <a:spcPct val="80000"/>
              </a:lnSpc>
              <a:spcBef>
                <a:spcPct val="50000"/>
              </a:spcBef>
            </a:pPr>
            <a:r>
              <a:rPr lang="en-GB" sz="2600" dirty="0"/>
              <a:t>Does not allow a direct connection to be made between endpoints. Also does not route nor forward between networks. Hence, truly keeps the internal &amp; external networks separate. </a:t>
            </a:r>
          </a:p>
          <a:p>
            <a:pPr marL="342900" indent="-342900" eaLnBrk="1" hangingPunct="1">
              <a:lnSpc>
                <a:spcPct val="80000"/>
              </a:lnSpc>
              <a:spcBef>
                <a:spcPct val="50000"/>
              </a:spcBef>
            </a:pPr>
            <a:r>
              <a:rPr lang="en-GB" sz="2600" dirty="0"/>
              <a:t>Intelligent filtering at application level</a:t>
            </a:r>
          </a:p>
          <a:p>
            <a:pPr marL="742950" lvl="1" indent="-285750" eaLnBrk="1" hangingPunct="1">
              <a:lnSpc>
                <a:spcPct val="80000"/>
              </a:lnSpc>
              <a:spcBef>
                <a:spcPct val="50000"/>
              </a:spcBef>
            </a:pPr>
            <a:r>
              <a:rPr lang="en-GB" sz="2400" dirty="0">
                <a:solidFill>
                  <a:srgbClr val="800080"/>
                </a:solidFill>
              </a:rPr>
              <a:t>Example: Can filter on particular application specific operation such as ftp get or put, or username or filename</a:t>
            </a:r>
          </a:p>
          <a:p>
            <a:pPr marL="342900" indent="-342900" eaLnBrk="1" hangingPunct="1">
              <a:lnSpc>
                <a:spcPct val="80000"/>
              </a:lnSpc>
              <a:spcBef>
                <a:spcPct val="50000"/>
              </a:spcBef>
            </a:pPr>
            <a:r>
              <a:rPr lang="en-GB" sz="2600" dirty="0"/>
              <a:t>Offer a high level of security</a:t>
            </a:r>
          </a:p>
          <a:p>
            <a:pPr marL="342900" indent="-342900" eaLnBrk="1" hangingPunct="1">
              <a:lnSpc>
                <a:spcPct val="80000"/>
              </a:lnSpc>
              <a:spcBef>
                <a:spcPct val="50000"/>
              </a:spcBef>
            </a:pPr>
            <a:r>
              <a:rPr lang="en-GB" sz="2600" dirty="0"/>
              <a:t>Provides user authentication</a:t>
            </a:r>
          </a:p>
          <a:p>
            <a:pPr marL="742950" lvl="1" indent="-285750" eaLnBrk="1" hangingPunct="1">
              <a:lnSpc>
                <a:spcPct val="80000"/>
              </a:lnSpc>
              <a:spcBef>
                <a:spcPct val="50000"/>
              </a:spcBef>
            </a:pPr>
            <a:r>
              <a:rPr lang="en-GB" sz="2400" dirty="0">
                <a:solidFill>
                  <a:srgbClr val="800080"/>
                </a:solidFill>
              </a:rPr>
              <a:t>Can create an effective access control list to allow/deny certain users from accessing certain services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normAutofit/>
          </a:bodyPr>
          <a:lstStyle/>
          <a:p>
            <a:pPr eaLnBrk="1" hangingPunct="1"/>
            <a:r>
              <a:rPr lang="en-GB" sz="3600" dirty="0"/>
              <a:t>Disadvantages of Application Firewalls</a:t>
            </a:r>
            <a:endParaRPr lang="en-US" sz="3600" dirty="0"/>
          </a:p>
        </p:txBody>
      </p:sp>
      <p:sp>
        <p:nvSpPr>
          <p:cNvPr id="51204" name="Rectangle 3"/>
          <p:cNvSpPr>
            <a:spLocks noGrp="1" noChangeArrowheads="1"/>
          </p:cNvSpPr>
          <p:nvPr>
            <p:ph idx="1"/>
          </p:nvPr>
        </p:nvSpPr>
        <p:spPr>
          <a:xfrm>
            <a:off x="304800" y="1690688"/>
            <a:ext cx="8305800" cy="5167312"/>
          </a:xfrm>
        </p:spPr>
        <p:txBody>
          <a:bodyPr>
            <a:normAutofit lnSpcReduction="10000"/>
          </a:bodyPr>
          <a:lstStyle/>
          <a:p>
            <a:pPr marL="342900" indent="-342900" eaLnBrk="1" hangingPunct="1"/>
            <a:r>
              <a:rPr lang="en-GB" sz="2600" dirty="0"/>
              <a:t>Much slower performance than packet filtering firewall</a:t>
            </a:r>
          </a:p>
          <a:p>
            <a:pPr marL="742950" lvl="1" indent="-285750" eaLnBrk="1" hangingPunct="1"/>
            <a:r>
              <a:rPr lang="en-GB" sz="2400" dirty="0">
                <a:solidFill>
                  <a:srgbClr val="800080"/>
                </a:solidFill>
              </a:rPr>
              <a:t>Application-level overheads that is needed to process the information</a:t>
            </a:r>
          </a:p>
          <a:p>
            <a:pPr marL="342900" indent="-342900" eaLnBrk="1" hangingPunct="1"/>
            <a:r>
              <a:rPr lang="en-GB" sz="2600" dirty="0"/>
              <a:t>Proxy services are protocol-specific</a:t>
            </a:r>
          </a:p>
          <a:p>
            <a:pPr marL="742950" lvl="1" indent="-285750" eaLnBrk="1" hangingPunct="1"/>
            <a:r>
              <a:rPr lang="en-GB" sz="2400" dirty="0">
                <a:solidFill>
                  <a:srgbClr val="800080"/>
                </a:solidFill>
              </a:rPr>
              <a:t>Need to understand specifications of protocol. </a:t>
            </a:r>
          </a:p>
          <a:p>
            <a:pPr marL="742950" lvl="1" indent="-285750" eaLnBrk="1" hangingPunct="1"/>
            <a:r>
              <a:rPr lang="en-GB" sz="2400" dirty="0">
                <a:solidFill>
                  <a:srgbClr val="800080"/>
                </a:solidFill>
              </a:rPr>
              <a:t>Need one proxy service for each application protocol, hence additional overheads</a:t>
            </a:r>
          </a:p>
          <a:p>
            <a:pPr marL="742950" lvl="1" indent="-285750" eaLnBrk="1" hangingPunct="1"/>
            <a:r>
              <a:rPr lang="en-GB" sz="2400" dirty="0">
                <a:solidFill>
                  <a:srgbClr val="800080"/>
                </a:solidFill>
              </a:rPr>
              <a:t>May require different servers for each service</a:t>
            </a:r>
          </a:p>
          <a:p>
            <a:pPr marL="342900" indent="-342900"/>
            <a:r>
              <a:rPr lang="en-GB" sz="2600" dirty="0"/>
              <a:t>Scalability can be an issue in large networks </a:t>
            </a:r>
          </a:p>
          <a:p>
            <a:pPr marL="742950" lvl="1" indent="-285750"/>
            <a:r>
              <a:rPr lang="en-GB" sz="2400" dirty="0">
                <a:solidFill>
                  <a:srgbClr val="800080"/>
                </a:solidFill>
              </a:rPr>
              <a:t>Performance degrades when number of clients increases or number of proxy services located on any one host system increases</a:t>
            </a:r>
          </a:p>
          <a:p>
            <a:pPr marL="342900" indent="-342900"/>
            <a:r>
              <a:rPr lang="en-GB" sz="2600" dirty="0"/>
              <a:t>Usually require modifications to clients &amp; or procedures</a:t>
            </a:r>
          </a:p>
          <a:p>
            <a:pPr marL="742950" lvl="1" indent="-285750"/>
            <a:r>
              <a:rPr lang="en-GB" sz="2400" dirty="0">
                <a:solidFill>
                  <a:srgbClr val="800080"/>
                </a:solidFill>
              </a:rPr>
              <a:t>Need to configure client to be aware of proxy server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normAutofit/>
          </a:bodyPr>
          <a:lstStyle/>
          <a:p>
            <a:pPr eaLnBrk="1" hangingPunct="1"/>
            <a:r>
              <a:rPr lang="en-GB" sz="3600" dirty="0"/>
              <a:t>Firewall Architecture: Screened Subnet</a:t>
            </a:r>
          </a:p>
        </p:txBody>
      </p:sp>
      <p:sp>
        <p:nvSpPr>
          <p:cNvPr id="57348" name="Rectangle 3"/>
          <p:cNvSpPr>
            <a:spLocks noGrp="1" noChangeArrowheads="1"/>
          </p:cNvSpPr>
          <p:nvPr>
            <p:ph idx="1"/>
          </p:nvPr>
        </p:nvSpPr>
        <p:spPr>
          <a:xfrm>
            <a:off x="4267200" y="1524000"/>
            <a:ext cx="4800600" cy="5334000"/>
          </a:xfrm>
        </p:spPr>
        <p:txBody>
          <a:bodyPr>
            <a:normAutofit/>
          </a:bodyPr>
          <a:lstStyle/>
          <a:p>
            <a:pPr marL="342900" indent="-342900" eaLnBrk="1" hangingPunct="1">
              <a:lnSpc>
                <a:spcPct val="90000"/>
              </a:lnSpc>
            </a:pPr>
            <a:r>
              <a:rPr lang="en-GB" sz="2600" dirty="0"/>
              <a:t>A perimeter network isolates the internal network from the internet</a:t>
            </a:r>
          </a:p>
          <a:p>
            <a:pPr marL="342900" indent="-342900" eaLnBrk="1" hangingPunct="1">
              <a:lnSpc>
                <a:spcPct val="90000"/>
              </a:lnSpc>
            </a:pPr>
            <a:r>
              <a:rPr lang="en-GB" sz="2600" dirty="0"/>
              <a:t>There is no single point of vulnerability - to break into the internal network, the hacker needs to pass through 2 routers</a:t>
            </a:r>
          </a:p>
          <a:p>
            <a:pPr marL="342900" indent="-342900" eaLnBrk="1" hangingPunct="1">
              <a:lnSpc>
                <a:spcPct val="90000"/>
              </a:lnSpc>
            </a:pPr>
            <a:r>
              <a:rPr lang="en-GB" sz="2600" dirty="0"/>
              <a:t>All traffic passes through the proxy server in the DMZ</a:t>
            </a:r>
          </a:p>
        </p:txBody>
      </p:sp>
      <p:sp>
        <p:nvSpPr>
          <p:cNvPr id="57349" name="AutoShape 4"/>
          <p:cNvSpPr>
            <a:spLocks noChangeArrowheads="1"/>
          </p:cNvSpPr>
          <p:nvPr/>
        </p:nvSpPr>
        <p:spPr bwMode="auto">
          <a:xfrm>
            <a:off x="2547938" y="1828800"/>
            <a:ext cx="1371600" cy="2286000"/>
          </a:xfrm>
          <a:prstGeom prst="roundRect">
            <a:avLst>
              <a:gd name="adj" fmla="val 16667"/>
            </a:avLst>
          </a:prstGeom>
          <a:solidFill>
            <a:srgbClr val="CCFF99"/>
          </a:solidFill>
          <a:ln w="9525">
            <a:noFill/>
            <a:round/>
            <a:headEnd/>
            <a:tailEnd/>
          </a:ln>
        </p:spPr>
        <p:txBody>
          <a:bodyPr wrap="none" anchor="ctr"/>
          <a:lstStyle/>
          <a:p>
            <a:endParaRPr lang="en-US">
              <a:solidFill>
                <a:srgbClr val="FF0000"/>
              </a:solidFill>
            </a:endParaRPr>
          </a:p>
        </p:txBody>
      </p:sp>
      <p:sp>
        <p:nvSpPr>
          <p:cNvPr id="57350" name="AutoShape 5"/>
          <p:cNvSpPr>
            <a:spLocks noChangeArrowheads="1"/>
          </p:cNvSpPr>
          <p:nvPr/>
        </p:nvSpPr>
        <p:spPr bwMode="auto">
          <a:xfrm>
            <a:off x="228600" y="2743200"/>
            <a:ext cx="3581400" cy="2133600"/>
          </a:xfrm>
          <a:prstGeom prst="roundRect">
            <a:avLst>
              <a:gd name="adj" fmla="val 16667"/>
            </a:avLst>
          </a:prstGeom>
          <a:solidFill>
            <a:srgbClr val="CCFF99"/>
          </a:solidFill>
          <a:ln w="9525">
            <a:noFill/>
            <a:round/>
            <a:headEnd/>
            <a:tailEnd/>
          </a:ln>
        </p:spPr>
        <p:txBody>
          <a:bodyPr wrap="none" anchor="ctr"/>
          <a:lstStyle/>
          <a:p>
            <a:endParaRPr lang="en-US">
              <a:solidFill>
                <a:srgbClr val="FF0000"/>
              </a:solidFill>
            </a:endParaRPr>
          </a:p>
        </p:txBody>
      </p:sp>
      <p:sp>
        <p:nvSpPr>
          <p:cNvPr id="57351" name="Line 6"/>
          <p:cNvSpPr>
            <a:spLocks noChangeShapeType="1"/>
          </p:cNvSpPr>
          <p:nvPr/>
        </p:nvSpPr>
        <p:spPr bwMode="auto">
          <a:xfrm rot="16200000" flipH="1">
            <a:off x="1123951" y="2719387"/>
            <a:ext cx="412750" cy="3175"/>
          </a:xfrm>
          <a:prstGeom prst="line">
            <a:avLst/>
          </a:prstGeom>
          <a:noFill/>
          <a:ln w="19050">
            <a:solidFill>
              <a:schemeClr val="tx1"/>
            </a:solidFill>
            <a:round/>
            <a:headEnd/>
            <a:tailEnd/>
          </a:ln>
        </p:spPr>
        <p:txBody>
          <a:bodyPr/>
          <a:lstStyle/>
          <a:p>
            <a:endParaRPr lang="en-US"/>
          </a:p>
        </p:txBody>
      </p:sp>
      <p:grpSp>
        <p:nvGrpSpPr>
          <p:cNvPr id="57352" name="Group 7"/>
          <p:cNvGrpSpPr>
            <a:grpSpLocks/>
          </p:cNvGrpSpPr>
          <p:nvPr/>
        </p:nvGrpSpPr>
        <p:grpSpPr bwMode="auto">
          <a:xfrm>
            <a:off x="949325" y="2895600"/>
            <a:ext cx="838200" cy="304800"/>
            <a:chOff x="672" y="2208"/>
            <a:chExt cx="528" cy="192"/>
          </a:xfrm>
        </p:grpSpPr>
        <p:sp>
          <p:nvSpPr>
            <p:cNvPr id="57422" name="AutoShape 8"/>
            <p:cNvSpPr>
              <a:spLocks noChangeArrowheads="1"/>
            </p:cNvSpPr>
            <p:nvPr/>
          </p:nvSpPr>
          <p:spPr bwMode="auto">
            <a:xfrm>
              <a:off x="672" y="2208"/>
              <a:ext cx="528" cy="192"/>
            </a:xfrm>
            <a:prstGeom prst="roundRect">
              <a:avLst>
                <a:gd name="adj" fmla="val 16667"/>
              </a:avLst>
            </a:prstGeom>
            <a:solidFill>
              <a:schemeClr val="bg2"/>
            </a:solidFill>
            <a:ln w="9525">
              <a:solidFill>
                <a:schemeClr val="tx1"/>
              </a:solidFill>
              <a:round/>
              <a:headEnd/>
              <a:tailEnd/>
            </a:ln>
          </p:spPr>
          <p:txBody>
            <a:bodyPr wrap="none" anchor="ctr"/>
            <a:lstStyle/>
            <a:p>
              <a:endParaRPr lang="en-US">
                <a:solidFill>
                  <a:srgbClr val="FF0000"/>
                </a:solidFill>
              </a:endParaRPr>
            </a:p>
          </p:txBody>
        </p:sp>
        <p:sp>
          <p:nvSpPr>
            <p:cNvPr id="57423" name="Line 9"/>
            <p:cNvSpPr>
              <a:spLocks noChangeShapeType="1"/>
            </p:cNvSpPr>
            <p:nvPr/>
          </p:nvSpPr>
          <p:spPr bwMode="auto">
            <a:xfrm>
              <a:off x="720" y="2256"/>
              <a:ext cx="0" cy="96"/>
            </a:xfrm>
            <a:prstGeom prst="line">
              <a:avLst/>
            </a:prstGeom>
            <a:noFill/>
            <a:ln w="19050">
              <a:solidFill>
                <a:schemeClr val="tx1"/>
              </a:solidFill>
              <a:round/>
              <a:headEnd/>
              <a:tailEnd/>
            </a:ln>
          </p:spPr>
          <p:txBody>
            <a:bodyPr/>
            <a:lstStyle/>
            <a:p>
              <a:endParaRPr lang="en-US"/>
            </a:p>
          </p:txBody>
        </p:sp>
        <p:sp>
          <p:nvSpPr>
            <p:cNvPr id="57424" name="Line 10"/>
            <p:cNvSpPr>
              <a:spLocks noChangeShapeType="1"/>
            </p:cNvSpPr>
            <p:nvPr/>
          </p:nvSpPr>
          <p:spPr bwMode="auto">
            <a:xfrm>
              <a:off x="768" y="2256"/>
              <a:ext cx="0" cy="96"/>
            </a:xfrm>
            <a:prstGeom prst="line">
              <a:avLst/>
            </a:prstGeom>
            <a:noFill/>
            <a:ln w="19050">
              <a:solidFill>
                <a:schemeClr val="tx1"/>
              </a:solidFill>
              <a:round/>
              <a:headEnd/>
              <a:tailEnd/>
            </a:ln>
          </p:spPr>
          <p:txBody>
            <a:bodyPr/>
            <a:lstStyle/>
            <a:p>
              <a:endParaRPr lang="en-US"/>
            </a:p>
          </p:txBody>
        </p:sp>
        <p:sp>
          <p:nvSpPr>
            <p:cNvPr id="57425" name="Line 11"/>
            <p:cNvSpPr>
              <a:spLocks noChangeShapeType="1"/>
            </p:cNvSpPr>
            <p:nvPr/>
          </p:nvSpPr>
          <p:spPr bwMode="auto">
            <a:xfrm>
              <a:off x="816" y="2256"/>
              <a:ext cx="0" cy="96"/>
            </a:xfrm>
            <a:prstGeom prst="line">
              <a:avLst/>
            </a:prstGeom>
            <a:noFill/>
            <a:ln w="19050">
              <a:solidFill>
                <a:schemeClr val="tx1"/>
              </a:solidFill>
              <a:round/>
              <a:headEnd/>
              <a:tailEnd/>
            </a:ln>
          </p:spPr>
          <p:txBody>
            <a:bodyPr/>
            <a:lstStyle/>
            <a:p>
              <a:endParaRPr lang="en-US"/>
            </a:p>
          </p:txBody>
        </p:sp>
        <p:sp>
          <p:nvSpPr>
            <p:cNvPr id="57426" name="Line 12"/>
            <p:cNvSpPr>
              <a:spLocks noChangeShapeType="1"/>
            </p:cNvSpPr>
            <p:nvPr/>
          </p:nvSpPr>
          <p:spPr bwMode="auto">
            <a:xfrm>
              <a:off x="864" y="2256"/>
              <a:ext cx="0" cy="96"/>
            </a:xfrm>
            <a:prstGeom prst="line">
              <a:avLst/>
            </a:prstGeom>
            <a:noFill/>
            <a:ln w="19050">
              <a:solidFill>
                <a:schemeClr val="tx1"/>
              </a:solidFill>
              <a:round/>
              <a:headEnd/>
              <a:tailEnd/>
            </a:ln>
          </p:spPr>
          <p:txBody>
            <a:bodyPr/>
            <a:lstStyle/>
            <a:p>
              <a:endParaRPr lang="en-US"/>
            </a:p>
          </p:txBody>
        </p:sp>
        <p:sp>
          <p:nvSpPr>
            <p:cNvPr id="57427" name="Line 13"/>
            <p:cNvSpPr>
              <a:spLocks noChangeShapeType="1"/>
            </p:cNvSpPr>
            <p:nvPr/>
          </p:nvSpPr>
          <p:spPr bwMode="auto">
            <a:xfrm>
              <a:off x="912" y="2256"/>
              <a:ext cx="0" cy="96"/>
            </a:xfrm>
            <a:prstGeom prst="line">
              <a:avLst/>
            </a:prstGeom>
            <a:noFill/>
            <a:ln w="19050">
              <a:solidFill>
                <a:schemeClr val="tx1"/>
              </a:solidFill>
              <a:round/>
              <a:headEnd/>
              <a:tailEnd/>
            </a:ln>
          </p:spPr>
          <p:txBody>
            <a:bodyPr/>
            <a:lstStyle/>
            <a:p>
              <a:endParaRPr lang="en-US"/>
            </a:p>
          </p:txBody>
        </p:sp>
        <p:sp>
          <p:nvSpPr>
            <p:cNvPr id="57428" name="Oval 14"/>
            <p:cNvSpPr>
              <a:spLocks noChangeArrowheads="1"/>
            </p:cNvSpPr>
            <p:nvPr/>
          </p:nvSpPr>
          <p:spPr bwMode="auto">
            <a:xfrm>
              <a:off x="1008" y="2304"/>
              <a:ext cx="48" cy="48"/>
            </a:xfrm>
            <a:prstGeom prst="ellipse">
              <a:avLst/>
            </a:prstGeom>
            <a:solidFill>
              <a:srgbClr val="FF0000"/>
            </a:solidFill>
            <a:ln w="9525">
              <a:solidFill>
                <a:schemeClr val="tx1"/>
              </a:solidFill>
              <a:round/>
              <a:headEnd/>
              <a:tailEnd/>
            </a:ln>
          </p:spPr>
          <p:txBody>
            <a:bodyPr wrap="none" anchor="ctr"/>
            <a:lstStyle/>
            <a:p>
              <a:endParaRPr lang="en-US">
                <a:solidFill>
                  <a:srgbClr val="FF0000"/>
                </a:solidFill>
              </a:endParaRPr>
            </a:p>
          </p:txBody>
        </p:sp>
        <p:sp>
          <p:nvSpPr>
            <p:cNvPr id="57429" name="Oval 15"/>
            <p:cNvSpPr>
              <a:spLocks noChangeArrowheads="1"/>
            </p:cNvSpPr>
            <p:nvPr/>
          </p:nvSpPr>
          <p:spPr bwMode="auto">
            <a:xfrm>
              <a:off x="1056" y="2304"/>
              <a:ext cx="48" cy="48"/>
            </a:xfrm>
            <a:prstGeom prst="ellipse">
              <a:avLst/>
            </a:prstGeom>
            <a:solidFill>
              <a:schemeClr val="accent1"/>
            </a:solidFill>
            <a:ln w="9525">
              <a:solidFill>
                <a:schemeClr val="tx1"/>
              </a:solidFill>
              <a:round/>
              <a:headEnd/>
              <a:tailEnd/>
            </a:ln>
          </p:spPr>
          <p:txBody>
            <a:bodyPr wrap="none" anchor="ctr"/>
            <a:lstStyle/>
            <a:p>
              <a:endParaRPr lang="en-US">
                <a:solidFill>
                  <a:srgbClr val="FF0000"/>
                </a:solidFill>
              </a:endParaRPr>
            </a:p>
          </p:txBody>
        </p:sp>
        <p:sp>
          <p:nvSpPr>
            <p:cNvPr id="57430" name="Oval 16"/>
            <p:cNvSpPr>
              <a:spLocks noChangeArrowheads="1"/>
            </p:cNvSpPr>
            <p:nvPr/>
          </p:nvSpPr>
          <p:spPr bwMode="auto">
            <a:xfrm>
              <a:off x="1104" y="2304"/>
              <a:ext cx="48" cy="48"/>
            </a:xfrm>
            <a:prstGeom prst="ellipse">
              <a:avLst/>
            </a:prstGeom>
            <a:solidFill>
              <a:srgbClr val="FFCC00"/>
            </a:solidFill>
            <a:ln w="9525">
              <a:solidFill>
                <a:schemeClr val="tx1"/>
              </a:solidFill>
              <a:round/>
              <a:headEnd/>
              <a:tailEnd/>
            </a:ln>
          </p:spPr>
          <p:txBody>
            <a:bodyPr wrap="none" anchor="ctr"/>
            <a:lstStyle/>
            <a:p>
              <a:endParaRPr lang="en-US">
                <a:solidFill>
                  <a:srgbClr val="FF0000"/>
                </a:solidFill>
              </a:endParaRPr>
            </a:p>
          </p:txBody>
        </p:sp>
        <p:sp>
          <p:nvSpPr>
            <p:cNvPr id="57431" name="Oval 17"/>
            <p:cNvSpPr>
              <a:spLocks noChangeArrowheads="1"/>
            </p:cNvSpPr>
            <p:nvPr/>
          </p:nvSpPr>
          <p:spPr bwMode="auto">
            <a:xfrm>
              <a:off x="960" y="2304"/>
              <a:ext cx="48" cy="48"/>
            </a:xfrm>
            <a:prstGeom prst="ellipse">
              <a:avLst/>
            </a:prstGeom>
            <a:solidFill>
              <a:schemeClr val="accent1"/>
            </a:solidFill>
            <a:ln w="9525">
              <a:solidFill>
                <a:schemeClr val="tx1"/>
              </a:solidFill>
              <a:round/>
              <a:headEnd/>
              <a:tailEnd/>
            </a:ln>
          </p:spPr>
          <p:txBody>
            <a:bodyPr wrap="none" anchor="ctr"/>
            <a:lstStyle/>
            <a:p>
              <a:endParaRPr lang="en-US">
                <a:solidFill>
                  <a:srgbClr val="FF0000"/>
                </a:solidFill>
              </a:endParaRPr>
            </a:p>
          </p:txBody>
        </p:sp>
      </p:grpSp>
      <p:grpSp>
        <p:nvGrpSpPr>
          <p:cNvPr id="57353" name="Group 18"/>
          <p:cNvGrpSpPr>
            <a:grpSpLocks/>
          </p:cNvGrpSpPr>
          <p:nvPr/>
        </p:nvGrpSpPr>
        <p:grpSpPr bwMode="auto">
          <a:xfrm>
            <a:off x="573088" y="5353050"/>
            <a:ext cx="838200" cy="790575"/>
            <a:chOff x="2448" y="1584"/>
            <a:chExt cx="528" cy="498"/>
          </a:xfrm>
        </p:grpSpPr>
        <p:grpSp>
          <p:nvGrpSpPr>
            <p:cNvPr id="57411" name="Group 19"/>
            <p:cNvGrpSpPr>
              <a:grpSpLocks/>
            </p:cNvGrpSpPr>
            <p:nvPr/>
          </p:nvGrpSpPr>
          <p:grpSpPr bwMode="auto">
            <a:xfrm>
              <a:off x="2544" y="1584"/>
              <a:ext cx="336" cy="288"/>
              <a:chOff x="2544" y="1584"/>
              <a:chExt cx="336" cy="288"/>
            </a:xfrm>
          </p:grpSpPr>
          <p:sp>
            <p:nvSpPr>
              <p:cNvPr id="57420" name="Rectangle 20"/>
              <p:cNvSpPr>
                <a:spLocks noChangeArrowheads="1"/>
              </p:cNvSpPr>
              <p:nvPr/>
            </p:nvSpPr>
            <p:spPr bwMode="auto">
              <a:xfrm>
                <a:off x="2544" y="1584"/>
                <a:ext cx="336" cy="288"/>
              </a:xfrm>
              <a:prstGeom prst="rect">
                <a:avLst/>
              </a:prstGeom>
              <a:solidFill>
                <a:schemeClr val="bg2"/>
              </a:solidFill>
              <a:ln w="9525">
                <a:solidFill>
                  <a:schemeClr val="tx1"/>
                </a:solidFill>
                <a:miter lim="800000"/>
                <a:headEnd/>
                <a:tailEnd/>
              </a:ln>
            </p:spPr>
            <p:txBody>
              <a:bodyPr wrap="none" anchor="ctr"/>
              <a:lstStyle/>
              <a:p>
                <a:endParaRPr lang="en-US"/>
              </a:p>
            </p:txBody>
          </p:sp>
          <p:sp>
            <p:nvSpPr>
              <p:cNvPr id="57421" name="Rectangle 21"/>
              <p:cNvSpPr>
                <a:spLocks noChangeArrowheads="1"/>
              </p:cNvSpPr>
              <p:nvPr/>
            </p:nvSpPr>
            <p:spPr bwMode="auto">
              <a:xfrm>
                <a:off x="2568" y="1608"/>
                <a:ext cx="288" cy="240"/>
              </a:xfrm>
              <a:prstGeom prst="rect">
                <a:avLst/>
              </a:prstGeom>
              <a:solidFill>
                <a:schemeClr val="folHlink"/>
              </a:solidFill>
              <a:ln w="9525">
                <a:solidFill>
                  <a:schemeClr val="tx1"/>
                </a:solidFill>
                <a:miter lim="800000"/>
                <a:headEnd/>
                <a:tailEnd/>
              </a:ln>
            </p:spPr>
            <p:txBody>
              <a:bodyPr wrap="none" anchor="ctr"/>
              <a:lstStyle/>
              <a:p>
                <a:endParaRPr lang="en-US"/>
              </a:p>
            </p:txBody>
          </p:sp>
        </p:grpSp>
        <p:grpSp>
          <p:nvGrpSpPr>
            <p:cNvPr id="57412" name="Group 22"/>
            <p:cNvGrpSpPr>
              <a:grpSpLocks/>
            </p:cNvGrpSpPr>
            <p:nvPr/>
          </p:nvGrpSpPr>
          <p:grpSpPr bwMode="auto">
            <a:xfrm>
              <a:off x="2448" y="1890"/>
              <a:ext cx="528" cy="192"/>
              <a:chOff x="2448" y="1920"/>
              <a:chExt cx="528" cy="192"/>
            </a:xfrm>
          </p:grpSpPr>
          <p:sp>
            <p:nvSpPr>
              <p:cNvPr id="57413" name="Rectangle 23"/>
              <p:cNvSpPr>
                <a:spLocks noChangeArrowheads="1"/>
              </p:cNvSpPr>
              <p:nvPr/>
            </p:nvSpPr>
            <p:spPr bwMode="auto">
              <a:xfrm>
                <a:off x="2448" y="1920"/>
                <a:ext cx="528" cy="192"/>
              </a:xfrm>
              <a:prstGeom prst="rect">
                <a:avLst/>
              </a:prstGeom>
              <a:solidFill>
                <a:schemeClr val="folHlink"/>
              </a:solidFill>
              <a:ln w="9525">
                <a:solidFill>
                  <a:schemeClr val="tx1"/>
                </a:solidFill>
                <a:miter lim="800000"/>
                <a:headEnd/>
                <a:tailEnd/>
              </a:ln>
            </p:spPr>
            <p:txBody>
              <a:bodyPr wrap="none" anchor="ctr"/>
              <a:lstStyle/>
              <a:p>
                <a:endParaRPr lang="en-US"/>
              </a:p>
            </p:txBody>
          </p:sp>
          <p:sp>
            <p:nvSpPr>
              <p:cNvPr id="57414" name="Line 24"/>
              <p:cNvSpPr>
                <a:spLocks noChangeShapeType="1"/>
              </p:cNvSpPr>
              <p:nvPr/>
            </p:nvSpPr>
            <p:spPr bwMode="auto">
              <a:xfrm>
                <a:off x="2832" y="1968"/>
                <a:ext cx="96" cy="0"/>
              </a:xfrm>
              <a:prstGeom prst="line">
                <a:avLst/>
              </a:prstGeom>
              <a:noFill/>
              <a:ln w="9525">
                <a:solidFill>
                  <a:schemeClr val="tx1"/>
                </a:solidFill>
                <a:round/>
                <a:headEnd/>
                <a:tailEnd/>
              </a:ln>
            </p:spPr>
            <p:txBody>
              <a:bodyPr/>
              <a:lstStyle/>
              <a:p>
                <a:endParaRPr lang="en-US"/>
              </a:p>
            </p:txBody>
          </p:sp>
          <p:sp>
            <p:nvSpPr>
              <p:cNvPr id="57415" name="Line 25"/>
              <p:cNvSpPr>
                <a:spLocks noChangeShapeType="1"/>
              </p:cNvSpPr>
              <p:nvPr/>
            </p:nvSpPr>
            <p:spPr bwMode="auto">
              <a:xfrm>
                <a:off x="2496" y="1968"/>
                <a:ext cx="0" cy="96"/>
              </a:xfrm>
              <a:prstGeom prst="line">
                <a:avLst/>
              </a:prstGeom>
              <a:noFill/>
              <a:ln w="19050">
                <a:solidFill>
                  <a:schemeClr val="tx1"/>
                </a:solidFill>
                <a:round/>
                <a:headEnd/>
                <a:tailEnd/>
              </a:ln>
            </p:spPr>
            <p:txBody>
              <a:bodyPr/>
              <a:lstStyle/>
              <a:p>
                <a:endParaRPr lang="en-US"/>
              </a:p>
            </p:txBody>
          </p:sp>
          <p:sp>
            <p:nvSpPr>
              <p:cNvPr id="57416" name="Line 26"/>
              <p:cNvSpPr>
                <a:spLocks noChangeShapeType="1"/>
              </p:cNvSpPr>
              <p:nvPr/>
            </p:nvSpPr>
            <p:spPr bwMode="auto">
              <a:xfrm>
                <a:off x="2544" y="1968"/>
                <a:ext cx="0" cy="96"/>
              </a:xfrm>
              <a:prstGeom prst="line">
                <a:avLst/>
              </a:prstGeom>
              <a:noFill/>
              <a:ln w="19050">
                <a:solidFill>
                  <a:schemeClr val="tx1"/>
                </a:solidFill>
                <a:round/>
                <a:headEnd/>
                <a:tailEnd/>
              </a:ln>
            </p:spPr>
            <p:txBody>
              <a:bodyPr/>
              <a:lstStyle/>
              <a:p>
                <a:endParaRPr lang="en-US"/>
              </a:p>
            </p:txBody>
          </p:sp>
          <p:sp>
            <p:nvSpPr>
              <p:cNvPr id="57417" name="Line 27"/>
              <p:cNvSpPr>
                <a:spLocks noChangeShapeType="1"/>
              </p:cNvSpPr>
              <p:nvPr/>
            </p:nvSpPr>
            <p:spPr bwMode="auto">
              <a:xfrm>
                <a:off x="2592" y="1968"/>
                <a:ext cx="0" cy="96"/>
              </a:xfrm>
              <a:prstGeom prst="line">
                <a:avLst/>
              </a:prstGeom>
              <a:noFill/>
              <a:ln w="19050">
                <a:solidFill>
                  <a:schemeClr val="tx1"/>
                </a:solidFill>
                <a:round/>
                <a:headEnd/>
                <a:tailEnd/>
              </a:ln>
            </p:spPr>
            <p:txBody>
              <a:bodyPr/>
              <a:lstStyle/>
              <a:p>
                <a:endParaRPr lang="en-US"/>
              </a:p>
            </p:txBody>
          </p:sp>
          <p:sp>
            <p:nvSpPr>
              <p:cNvPr id="57418" name="Line 28"/>
              <p:cNvSpPr>
                <a:spLocks noChangeShapeType="1"/>
              </p:cNvSpPr>
              <p:nvPr/>
            </p:nvSpPr>
            <p:spPr bwMode="auto">
              <a:xfrm>
                <a:off x="2640" y="1968"/>
                <a:ext cx="0" cy="96"/>
              </a:xfrm>
              <a:prstGeom prst="line">
                <a:avLst/>
              </a:prstGeom>
              <a:noFill/>
              <a:ln w="19050">
                <a:solidFill>
                  <a:schemeClr val="tx1"/>
                </a:solidFill>
                <a:round/>
                <a:headEnd/>
                <a:tailEnd/>
              </a:ln>
            </p:spPr>
            <p:txBody>
              <a:bodyPr/>
              <a:lstStyle/>
              <a:p>
                <a:endParaRPr lang="en-US"/>
              </a:p>
            </p:txBody>
          </p:sp>
          <p:sp>
            <p:nvSpPr>
              <p:cNvPr id="57419" name="Line 29"/>
              <p:cNvSpPr>
                <a:spLocks noChangeShapeType="1"/>
              </p:cNvSpPr>
              <p:nvPr/>
            </p:nvSpPr>
            <p:spPr bwMode="auto">
              <a:xfrm>
                <a:off x="2688" y="1968"/>
                <a:ext cx="0" cy="96"/>
              </a:xfrm>
              <a:prstGeom prst="line">
                <a:avLst/>
              </a:prstGeom>
              <a:noFill/>
              <a:ln w="19050">
                <a:solidFill>
                  <a:schemeClr val="tx1"/>
                </a:solidFill>
                <a:round/>
                <a:headEnd/>
                <a:tailEnd/>
              </a:ln>
            </p:spPr>
            <p:txBody>
              <a:bodyPr/>
              <a:lstStyle/>
              <a:p>
                <a:endParaRPr lang="en-US"/>
              </a:p>
            </p:txBody>
          </p:sp>
        </p:grpSp>
      </p:grpSp>
      <p:grpSp>
        <p:nvGrpSpPr>
          <p:cNvPr id="57354" name="Group 30"/>
          <p:cNvGrpSpPr>
            <a:grpSpLocks/>
          </p:cNvGrpSpPr>
          <p:nvPr/>
        </p:nvGrpSpPr>
        <p:grpSpPr bwMode="auto">
          <a:xfrm>
            <a:off x="1660525" y="5353050"/>
            <a:ext cx="838200" cy="790575"/>
            <a:chOff x="1032" y="3029"/>
            <a:chExt cx="528" cy="498"/>
          </a:xfrm>
        </p:grpSpPr>
        <p:grpSp>
          <p:nvGrpSpPr>
            <p:cNvPr id="57400" name="Group 31"/>
            <p:cNvGrpSpPr>
              <a:grpSpLocks/>
            </p:cNvGrpSpPr>
            <p:nvPr/>
          </p:nvGrpSpPr>
          <p:grpSpPr bwMode="auto">
            <a:xfrm>
              <a:off x="1128" y="3029"/>
              <a:ext cx="336" cy="288"/>
              <a:chOff x="2544" y="1584"/>
              <a:chExt cx="336" cy="288"/>
            </a:xfrm>
          </p:grpSpPr>
          <p:sp>
            <p:nvSpPr>
              <p:cNvPr id="57409" name="Rectangle 32"/>
              <p:cNvSpPr>
                <a:spLocks noChangeArrowheads="1"/>
              </p:cNvSpPr>
              <p:nvPr/>
            </p:nvSpPr>
            <p:spPr bwMode="auto">
              <a:xfrm>
                <a:off x="2544" y="1584"/>
                <a:ext cx="336" cy="288"/>
              </a:xfrm>
              <a:prstGeom prst="rect">
                <a:avLst/>
              </a:prstGeom>
              <a:solidFill>
                <a:schemeClr val="bg2"/>
              </a:solidFill>
              <a:ln w="9525">
                <a:solidFill>
                  <a:schemeClr val="tx1"/>
                </a:solidFill>
                <a:miter lim="800000"/>
                <a:headEnd/>
                <a:tailEnd/>
              </a:ln>
            </p:spPr>
            <p:txBody>
              <a:bodyPr wrap="none" anchor="ctr"/>
              <a:lstStyle/>
              <a:p>
                <a:endParaRPr lang="en-US"/>
              </a:p>
            </p:txBody>
          </p:sp>
          <p:sp>
            <p:nvSpPr>
              <p:cNvPr id="57410" name="Rectangle 33"/>
              <p:cNvSpPr>
                <a:spLocks noChangeArrowheads="1"/>
              </p:cNvSpPr>
              <p:nvPr/>
            </p:nvSpPr>
            <p:spPr bwMode="auto">
              <a:xfrm>
                <a:off x="2568" y="1608"/>
                <a:ext cx="288" cy="240"/>
              </a:xfrm>
              <a:prstGeom prst="rect">
                <a:avLst/>
              </a:prstGeom>
              <a:solidFill>
                <a:schemeClr val="folHlink"/>
              </a:solidFill>
              <a:ln w="9525">
                <a:solidFill>
                  <a:schemeClr val="tx1"/>
                </a:solidFill>
                <a:miter lim="800000"/>
                <a:headEnd/>
                <a:tailEnd/>
              </a:ln>
            </p:spPr>
            <p:txBody>
              <a:bodyPr wrap="none" anchor="ctr"/>
              <a:lstStyle/>
              <a:p>
                <a:endParaRPr lang="en-US"/>
              </a:p>
            </p:txBody>
          </p:sp>
        </p:grpSp>
        <p:grpSp>
          <p:nvGrpSpPr>
            <p:cNvPr id="57401" name="Group 34"/>
            <p:cNvGrpSpPr>
              <a:grpSpLocks/>
            </p:cNvGrpSpPr>
            <p:nvPr/>
          </p:nvGrpSpPr>
          <p:grpSpPr bwMode="auto">
            <a:xfrm>
              <a:off x="1032" y="3335"/>
              <a:ext cx="528" cy="192"/>
              <a:chOff x="2448" y="1920"/>
              <a:chExt cx="528" cy="192"/>
            </a:xfrm>
          </p:grpSpPr>
          <p:sp>
            <p:nvSpPr>
              <p:cNvPr id="57402" name="Rectangle 35"/>
              <p:cNvSpPr>
                <a:spLocks noChangeArrowheads="1"/>
              </p:cNvSpPr>
              <p:nvPr/>
            </p:nvSpPr>
            <p:spPr bwMode="auto">
              <a:xfrm>
                <a:off x="2448" y="1920"/>
                <a:ext cx="528" cy="192"/>
              </a:xfrm>
              <a:prstGeom prst="rect">
                <a:avLst/>
              </a:prstGeom>
              <a:solidFill>
                <a:schemeClr val="folHlink"/>
              </a:solidFill>
              <a:ln w="9525">
                <a:solidFill>
                  <a:schemeClr val="tx1"/>
                </a:solidFill>
                <a:miter lim="800000"/>
                <a:headEnd/>
                <a:tailEnd/>
              </a:ln>
            </p:spPr>
            <p:txBody>
              <a:bodyPr wrap="none" anchor="ctr"/>
              <a:lstStyle/>
              <a:p>
                <a:endParaRPr lang="en-US"/>
              </a:p>
            </p:txBody>
          </p:sp>
          <p:sp>
            <p:nvSpPr>
              <p:cNvPr id="57403" name="Line 36"/>
              <p:cNvSpPr>
                <a:spLocks noChangeShapeType="1"/>
              </p:cNvSpPr>
              <p:nvPr/>
            </p:nvSpPr>
            <p:spPr bwMode="auto">
              <a:xfrm>
                <a:off x="2832" y="1968"/>
                <a:ext cx="96" cy="0"/>
              </a:xfrm>
              <a:prstGeom prst="line">
                <a:avLst/>
              </a:prstGeom>
              <a:noFill/>
              <a:ln w="9525">
                <a:solidFill>
                  <a:schemeClr val="tx1"/>
                </a:solidFill>
                <a:round/>
                <a:headEnd/>
                <a:tailEnd/>
              </a:ln>
            </p:spPr>
            <p:txBody>
              <a:bodyPr/>
              <a:lstStyle/>
              <a:p>
                <a:endParaRPr lang="en-US"/>
              </a:p>
            </p:txBody>
          </p:sp>
          <p:sp>
            <p:nvSpPr>
              <p:cNvPr id="57404" name="Line 37"/>
              <p:cNvSpPr>
                <a:spLocks noChangeShapeType="1"/>
              </p:cNvSpPr>
              <p:nvPr/>
            </p:nvSpPr>
            <p:spPr bwMode="auto">
              <a:xfrm>
                <a:off x="2496" y="1968"/>
                <a:ext cx="0" cy="96"/>
              </a:xfrm>
              <a:prstGeom prst="line">
                <a:avLst/>
              </a:prstGeom>
              <a:noFill/>
              <a:ln w="19050">
                <a:solidFill>
                  <a:schemeClr val="tx1"/>
                </a:solidFill>
                <a:round/>
                <a:headEnd/>
                <a:tailEnd/>
              </a:ln>
            </p:spPr>
            <p:txBody>
              <a:bodyPr/>
              <a:lstStyle/>
              <a:p>
                <a:endParaRPr lang="en-US"/>
              </a:p>
            </p:txBody>
          </p:sp>
          <p:sp>
            <p:nvSpPr>
              <p:cNvPr id="57405" name="Line 38"/>
              <p:cNvSpPr>
                <a:spLocks noChangeShapeType="1"/>
              </p:cNvSpPr>
              <p:nvPr/>
            </p:nvSpPr>
            <p:spPr bwMode="auto">
              <a:xfrm>
                <a:off x="2544" y="1968"/>
                <a:ext cx="0" cy="96"/>
              </a:xfrm>
              <a:prstGeom prst="line">
                <a:avLst/>
              </a:prstGeom>
              <a:noFill/>
              <a:ln w="19050">
                <a:solidFill>
                  <a:schemeClr val="tx1"/>
                </a:solidFill>
                <a:round/>
                <a:headEnd/>
                <a:tailEnd/>
              </a:ln>
            </p:spPr>
            <p:txBody>
              <a:bodyPr/>
              <a:lstStyle/>
              <a:p>
                <a:endParaRPr lang="en-US"/>
              </a:p>
            </p:txBody>
          </p:sp>
          <p:sp>
            <p:nvSpPr>
              <p:cNvPr id="57406" name="Line 39"/>
              <p:cNvSpPr>
                <a:spLocks noChangeShapeType="1"/>
              </p:cNvSpPr>
              <p:nvPr/>
            </p:nvSpPr>
            <p:spPr bwMode="auto">
              <a:xfrm>
                <a:off x="2592" y="1968"/>
                <a:ext cx="0" cy="96"/>
              </a:xfrm>
              <a:prstGeom prst="line">
                <a:avLst/>
              </a:prstGeom>
              <a:noFill/>
              <a:ln w="19050">
                <a:solidFill>
                  <a:schemeClr val="tx1"/>
                </a:solidFill>
                <a:round/>
                <a:headEnd/>
                <a:tailEnd/>
              </a:ln>
            </p:spPr>
            <p:txBody>
              <a:bodyPr/>
              <a:lstStyle/>
              <a:p>
                <a:endParaRPr lang="en-US"/>
              </a:p>
            </p:txBody>
          </p:sp>
          <p:sp>
            <p:nvSpPr>
              <p:cNvPr id="57407" name="Line 40"/>
              <p:cNvSpPr>
                <a:spLocks noChangeShapeType="1"/>
              </p:cNvSpPr>
              <p:nvPr/>
            </p:nvSpPr>
            <p:spPr bwMode="auto">
              <a:xfrm>
                <a:off x="2640" y="1968"/>
                <a:ext cx="0" cy="96"/>
              </a:xfrm>
              <a:prstGeom prst="line">
                <a:avLst/>
              </a:prstGeom>
              <a:noFill/>
              <a:ln w="19050">
                <a:solidFill>
                  <a:schemeClr val="tx1"/>
                </a:solidFill>
                <a:round/>
                <a:headEnd/>
                <a:tailEnd/>
              </a:ln>
            </p:spPr>
            <p:txBody>
              <a:bodyPr/>
              <a:lstStyle/>
              <a:p>
                <a:endParaRPr lang="en-US"/>
              </a:p>
            </p:txBody>
          </p:sp>
          <p:sp>
            <p:nvSpPr>
              <p:cNvPr id="57408" name="Line 41"/>
              <p:cNvSpPr>
                <a:spLocks noChangeShapeType="1"/>
              </p:cNvSpPr>
              <p:nvPr/>
            </p:nvSpPr>
            <p:spPr bwMode="auto">
              <a:xfrm>
                <a:off x="2688" y="1968"/>
                <a:ext cx="0" cy="96"/>
              </a:xfrm>
              <a:prstGeom prst="line">
                <a:avLst/>
              </a:prstGeom>
              <a:noFill/>
              <a:ln w="19050">
                <a:solidFill>
                  <a:schemeClr val="tx1"/>
                </a:solidFill>
                <a:round/>
                <a:headEnd/>
                <a:tailEnd/>
              </a:ln>
            </p:spPr>
            <p:txBody>
              <a:bodyPr/>
              <a:lstStyle/>
              <a:p>
                <a:endParaRPr lang="en-US"/>
              </a:p>
            </p:txBody>
          </p:sp>
        </p:grpSp>
      </p:grpSp>
      <p:sp>
        <p:nvSpPr>
          <p:cNvPr id="57355" name="Line 42"/>
          <p:cNvSpPr>
            <a:spLocks noChangeShapeType="1"/>
          </p:cNvSpPr>
          <p:nvPr/>
        </p:nvSpPr>
        <p:spPr bwMode="auto">
          <a:xfrm rot="5400000" flipV="1">
            <a:off x="2090738" y="3519488"/>
            <a:ext cx="0" cy="3048000"/>
          </a:xfrm>
          <a:prstGeom prst="line">
            <a:avLst/>
          </a:prstGeom>
          <a:noFill/>
          <a:ln w="19050">
            <a:solidFill>
              <a:schemeClr val="tx1"/>
            </a:solidFill>
            <a:round/>
            <a:headEnd/>
            <a:tailEnd/>
          </a:ln>
        </p:spPr>
        <p:txBody>
          <a:bodyPr/>
          <a:lstStyle/>
          <a:p>
            <a:endParaRPr lang="en-US"/>
          </a:p>
        </p:txBody>
      </p:sp>
      <p:sp>
        <p:nvSpPr>
          <p:cNvPr id="57356" name="Line 43"/>
          <p:cNvSpPr>
            <a:spLocks noChangeShapeType="1"/>
          </p:cNvSpPr>
          <p:nvPr/>
        </p:nvSpPr>
        <p:spPr bwMode="auto">
          <a:xfrm rot="5400000" flipV="1">
            <a:off x="1938338" y="5195888"/>
            <a:ext cx="304800" cy="0"/>
          </a:xfrm>
          <a:prstGeom prst="line">
            <a:avLst/>
          </a:prstGeom>
          <a:noFill/>
          <a:ln w="19050">
            <a:solidFill>
              <a:schemeClr val="tx1"/>
            </a:solidFill>
            <a:round/>
            <a:headEnd/>
            <a:tailEnd/>
          </a:ln>
        </p:spPr>
        <p:txBody>
          <a:bodyPr/>
          <a:lstStyle/>
          <a:p>
            <a:endParaRPr lang="en-US"/>
          </a:p>
        </p:txBody>
      </p:sp>
      <p:sp>
        <p:nvSpPr>
          <p:cNvPr id="57357" name="Line 44"/>
          <p:cNvSpPr>
            <a:spLocks noChangeShapeType="1"/>
          </p:cNvSpPr>
          <p:nvPr/>
        </p:nvSpPr>
        <p:spPr bwMode="auto">
          <a:xfrm rot="5400000" flipV="1">
            <a:off x="2986088" y="5195888"/>
            <a:ext cx="304800" cy="0"/>
          </a:xfrm>
          <a:prstGeom prst="line">
            <a:avLst/>
          </a:prstGeom>
          <a:noFill/>
          <a:ln w="19050">
            <a:solidFill>
              <a:schemeClr val="tx1"/>
            </a:solidFill>
            <a:round/>
            <a:headEnd/>
            <a:tailEnd/>
          </a:ln>
        </p:spPr>
        <p:txBody>
          <a:bodyPr/>
          <a:lstStyle/>
          <a:p>
            <a:endParaRPr lang="en-US"/>
          </a:p>
        </p:txBody>
      </p:sp>
      <p:grpSp>
        <p:nvGrpSpPr>
          <p:cNvPr id="57358" name="Group 45"/>
          <p:cNvGrpSpPr>
            <a:grpSpLocks/>
          </p:cNvGrpSpPr>
          <p:nvPr/>
        </p:nvGrpSpPr>
        <p:grpSpPr bwMode="auto">
          <a:xfrm>
            <a:off x="2762250" y="5353050"/>
            <a:ext cx="838200" cy="790575"/>
            <a:chOff x="1032" y="3029"/>
            <a:chExt cx="528" cy="498"/>
          </a:xfrm>
        </p:grpSpPr>
        <p:grpSp>
          <p:nvGrpSpPr>
            <p:cNvPr id="57389" name="Group 46"/>
            <p:cNvGrpSpPr>
              <a:grpSpLocks/>
            </p:cNvGrpSpPr>
            <p:nvPr/>
          </p:nvGrpSpPr>
          <p:grpSpPr bwMode="auto">
            <a:xfrm>
              <a:off x="1128" y="3029"/>
              <a:ext cx="336" cy="288"/>
              <a:chOff x="2544" y="1584"/>
              <a:chExt cx="336" cy="288"/>
            </a:xfrm>
          </p:grpSpPr>
          <p:sp>
            <p:nvSpPr>
              <p:cNvPr id="57398" name="Rectangle 47"/>
              <p:cNvSpPr>
                <a:spLocks noChangeArrowheads="1"/>
              </p:cNvSpPr>
              <p:nvPr/>
            </p:nvSpPr>
            <p:spPr bwMode="auto">
              <a:xfrm>
                <a:off x="2544" y="1584"/>
                <a:ext cx="336" cy="288"/>
              </a:xfrm>
              <a:prstGeom prst="rect">
                <a:avLst/>
              </a:prstGeom>
              <a:solidFill>
                <a:schemeClr val="bg2"/>
              </a:solidFill>
              <a:ln w="9525">
                <a:solidFill>
                  <a:schemeClr val="tx1"/>
                </a:solidFill>
                <a:miter lim="800000"/>
                <a:headEnd/>
                <a:tailEnd/>
              </a:ln>
            </p:spPr>
            <p:txBody>
              <a:bodyPr wrap="none" anchor="ctr"/>
              <a:lstStyle/>
              <a:p>
                <a:endParaRPr lang="en-US"/>
              </a:p>
            </p:txBody>
          </p:sp>
          <p:sp>
            <p:nvSpPr>
              <p:cNvPr id="57399" name="Rectangle 48"/>
              <p:cNvSpPr>
                <a:spLocks noChangeArrowheads="1"/>
              </p:cNvSpPr>
              <p:nvPr/>
            </p:nvSpPr>
            <p:spPr bwMode="auto">
              <a:xfrm>
                <a:off x="2568" y="1608"/>
                <a:ext cx="288" cy="240"/>
              </a:xfrm>
              <a:prstGeom prst="rect">
                <a:avLst/>
              </a:prstGeom>
              <a:solidFill>
                <a:schemeClr val="folHlink"/>
              </a:solidFill>
              <a:ln w="9525">
                <a:solidFill>
                  <a:schemeClr val="tx1"/>
                </a:solidFill>
                <a:miter lim="800000"/>
                <a:headEnd/>
                <a:tailEnd/>
              </a:ln>
            </p:spPr>
            <p:txBody>
              <a:bodyPr wrap="none" anchor="ctr"/>
              <a:lstStyle/>
              <a:p>
                <a:endParaRPr lang="en-US"/>
              </a:p>
            </p:txBody>
          </p:sp>
        </p:grpSp>
        <p:grpSp>
          <p:nvGrpSpPr>
            <p:cNvPr id="57390" name="Group 49"/>
            <p:cNvGrpSpPr>
              <a:grpSpLocks/>
            </p:cNvGrpSpPr>
            <p:nvPr/>
          </p:nvGrpSpPr>
          <p:grpSpPr bwMode="auto">
            <a:xfrm>
              <a:off x="1032" y="3335"/>
              <a:ext cx="528" cy="192"/>
              <a:chOff x="2448" y="1920"/>
              <a:chExt cx="528" cy="192"/>
            </a:xfrm>
          </p:grpSpPr>
          <p:sp>
            <p:nvSpPr>
              <p:cNvPr id="57391" name="Rectangle 50"/>
              <p:cNvSpPr>
                <a:spLocks noChangeArrowheads="1"/>
              </p:cNvSpPr>
              <p:nvPr/>
            </p:nvSpPr>
            <p:spPr bwMode="auto">
              <a:xfrm>
                <a:off x="2448" y="1920"/>
                <a:ext cx="528" cy="192"/>
              </a:xfrm>
              <a:prstGeom prst="rect">
                <a:avLst/>
              </a:prstGeom>
              <a:solidFill>
                <a:schemeClr val="folHlink"/>
              </a:solidFill>
              <a:ln w="9525">
                <a:solidFill>
                  <a:schemeClr val="tx1"/>
                </a:solidFill>
                <a:miter lim="800000"/>
                <a:headEnd/>
                <a:tailEnd/>
              </a:ln>
            </p:spPr>
            <p:txBody>
              <a:bodyPr wrap="none" anchor="ctr"/>
              <a:lstStyle/>
              <a:p>
                <a:endParaRPr lang="en-US"/>
              </a:p>
            </p:txBody>
          </p:sp>
          <p:sp>
            <p:nvSpPr>
              <p:cNvPr id="57392" name="Line 51"/>
              <p:cNvSpPr>
                <a:spLocks noChangeShapeType="1"/>
              </p:cNvSpPr>
              <p:nvPr/>
            </p:nvSpPr>
            <p:spPr bwMode="auto">
              <a:xfrm>
                <a:off x="2832" y="1968"/>
                <a:ext cx="96" cy="0"/>
              </a:xfrm>
              <a:prstGeom prst="line">
                <a:avLst/>
              </a:prstGeom>
              <a:noFill/>
              <a:ln w="9525">
                <a:solidFill>
                  <a:schemeClr val="tx1"/>
                </a:solidFill>
                <a:round/>
                <a:headEnd/>
                <a:tailEnd/>
              </a:ln>
            </p:spPr>
            <p:txBody>
              <a:bodyPr/>
              <a:lstStyle/>
              <a:p>
                <a:endParaRPr lang="en-US"/>
              </a:p>
            </p:txBody>
          </p:sp>
          <p:sp>
            <p:nvSpPr>
              <p:cNvPr id="57393" name="Line 52"/>
              <p:cNvSpPr>
                <a:spLocks noChangeShapeType="1"/>
              </p:cNvSpPr>
              <p:nvPr/>
            </p:nvSpPr>
            <p:spPr bwMode="auto">
              <a:xfrm>
                <a:off x="2496" y="1968"/>
                <a:ext cx="0" cy="96"/>
              </a:xfrm>
              <a:prstGeom prst="line">
                <a:avLst/>
              </a:prstGeom>
              <a:noFill/>
              <a:ln w="19050">
                <a:solidFill>
                  <a:schemeClr val="tx1"/>
                </a:solidFill>
                <a:round/>
                <a:headEnd/>
                <a:tailEnd/>
              </a:ln>
            </p:spPr>
            <p:txBody>
              <a:bodyPr/>
              <a:lstStyle/>
              <a:p>
                <a:endParaRPr lang="en-US"/>
              </a:p>
            </p:txBody>
          </p:sp>
          <p:sp>
            <p:nvSpPr>
              <p:cNvPr id="57394" name="Line 53"/>
              <p:cNvSpPr>
                <a:spLocks noChangeShapeType="1"/>
              </p:cNvSpPr>
              <p:nvPr/>
            </p:nvSpPr>
            <p:spPr bwMode="auto">
              <a:xfrm>
                <a:off x="2544" y="1968"/>
                <a:ext cx="0" cy="96"/>
              </a:xfrm>
              <a:prstGeom prst="line">
                <a:avLst/>
              </a:prstGeom>
              <a:noFill/>
              <a:ln w="19050">
                <a:solidFill>
                  <a:schemeClr val="tx1"/>
                </a:solidFill>
                <a:round/>
                <a:headEnd/>
                <a:tailEnd/>
              </a:ln>
            </p:spPr>
            <p:txBody>
              <a:bodyPr/>
              <a:lstStyle/>
              <a:p>
                <a:endParaRPr lang="en-US"/>
              </a:p>
            </p:txBody>
          </p:sp>
          <p:sp>
            <p:nvSpPr>
              <p:cNvPr id="57395" name="Line 54"/>
              <p:cNvSpPr>
                <a:spLocks noChangeShapeType="1"/>
              </p:cNvSpPr>
              <p:nvPr/>
            </p:nvSpPr>
            <p:spPr bwMode="auto">
              <a:xfrm>
                <a:off x="2592" y="1968"/>
                <a:ext cx="0" cy="96"/>
              </a:xfrm>
              <a:prstGeom prst="line">
                <a:avLst/>
              </a:prstGeom>
              <a:noFill/>
              <a:ln w="19050">
                <a:solidFill>
                  <a:schemeClr val="tx1"/>
                </a:solidFill>
                <a:round/>
                <a:headEnd/>
                <a:tailEnd/>
              </a:ln>
            </p:spPr>
            <p:txBody>
              <a:bodyPr/>
              <a:lstStyle/>
              <a:p>
                <a:endParaRPr lang="en-US"/>
              </a:p>
            </p:txBody>
          </p:sp>
          <p:sp>
            <p:nvSpPr>
              <p:cNvPr id="57396" name="Line 55"/>
              <p:cNvSpPr>
                <a:spLocks noChangeShapeType="1"/>
              </p:cNvSpPr>
              <p:nvPr/>
            </p:nvSpPr>
            <p:spPr bwMode="auto">
              <a:xfrm>
                <a:off x="2640" y="1968"/>
                <a:ext cx="0" cy="96"/>
              </a:xfrm>
              <a:prstGeom prst="line">
                <a:avLst/>
              </a:prstGeom>
              <a:noFill/>
              <a:ln w="19050">
                <a:solidFill>
                  <a:schemeClr val="tx1"/>
                </a:solidFill>
                <a:round/>
                <a:headEnd/>
                <a:tailEnd/>
              </a:ln>
            </p:spPr>
            <p:txBody>
              <a:bodyPr/>
              <a:lstStyle/>
              <a:p>
                <a:endParaRPr lang="en-US"/>
              </a:p>
            </p:txBody>
          </p:sp>
          <p:sp>
            <p:nvSpPr>
              <p:cNvPr id="57397" name="Line 56"/>
              <p:cNvSpPr>
                <a:spLocks noChangeShapeType="1"/>
              </p:cNvSpPr>
              <p:nvPr/>
            </p:nvSpPr>
            <p:spPr bwMode="auto">
              <a:xfrm>
                <a:off x="2688" y="1968"/>
                <a:ext cx="0" cy="96"/>
              </a:xfrm>
              <a:prstGeom prst="line">
                <a:avLst/>
              </a:prstGeom>
              <a:noFill/>
              <a:ln w="19050">
                <a:solidFill>
                  <a:schemeClr val="tx1"/>
                </a:solidFill>
                <a:round/>
                <a:headEnd/>
                <a:tailEnd/>
              </a:ln>
            </p:spPr>
            <p:txBody>
              <a:bodyPr/>
              <a:lstStyle/>
              <a:p>
                <a:endParaRPr lang="en-US"/>
              </a:p>
            </p:txBody>
          </p:sp>
        </p:grpSp>
      </p:grpSp>
      <p:sp>
        <p:nvSpPr>
          <p:cNvPr id="57359" name="Line 57"/>
          <p:cNvSpPr>
            <a:spLocks noChangeShapeType="1"/>
          </p:cNvSpPr>
          <p:nvPr/>
        </p:nvSpPr>
        <p:spPr bwMode="auto">
          <a:xfrm>
            <a:off x="1328738" y="3200400"/>
            <a:ext cx="0" cy="609600"/>
          </a:xfrm>
          <a:prstGeom prst="line">
            <a:avLst/>
          </a:prstGeom>
          <a:noFill/>
          <a:ln w="9525">
            <a:solidFill>
              <a:schemeClr val="bg2"/>
            </a:solidFill>
            <a:round/>
            <a:headEnd/>
            <a:tailEnd/>
          </a:ln>
        </p:spPr>
        <p:txBody>
          <a:bodyPr/>
          <a:lstStyle/>
          <a:p>
            <a:endParaRPr lang="en-US"/>
          </a:p>
        </p:txBody>
      </p:sp>
      <p:sp>
        <p:nvSpPr>
          <p:cNvPr id="57360" name="Line 58"/>
          <p:cNvSpPr>
            <a:spLocks noChangeShapeType="1"/>
          </p:cNvSpPr>
          <p:nvPr/>
        </p:nvSpPr>
        <p:spPr bwMode="auto">
          <a:xfrm>
            <a:off x="1023938" y="5029200"/>
            <a:ext cx="0" cy="304800"/>
          </a:xfrm>
          <a:prstGeom prst="line">
            <a:avLst/>
          </a:prstGeom>
          <a:noFill/>
          <a:ln w="9525">
            <a:solidFill>
              <a:schemeClr val="tx1"/>
            </a:solidFill>
            <a:round/>
            <a:headEnd/>
            <a:tailEnd/>
          </a:ln>
        </p:spPr>
        <p:txBody>
          <a:bodyPr/>
          <a:lstStyle/>
          <a:p>
            <a:endParaRPr lang="en-US"/>
          </a:p>
        </p:txBody>
      </p:sp>
      <p:grpSp>
        <p:nvGrpSpPr>
          <p:cNvPr id="57361" name="Group 59"/>
          <p:cNvGrpSpPr>
            <a:grpSpLocks/>
          </p:cNvGrpSpPr>
          <p:nvPr/>
        </p:nvGrpSpPr>
        <p:grpSpPr bwMode="auto">
          <a:xfrm>
            <a:off x="2928938" y="2362200"/>
            <a:ext cx="609600" cy="1066800"/>
            <a:chOff x="1865" y="2800"/>
            <a:chExt cx="384" cy="672"/>
          </a:xfrm>
        </p:grpSpPr>
        <p:sp>
          <p:nvSpPr>
            <p:cNvPr id="57386" name="Rectangle 60"/>
            <p:cNvSpPr>
              <a:spLocks noChangeArrowheads="1"/>
            </p:cNvSpPr>
            <p:nvPr/>
          </p:nvSpPr>
          <p:spPr bwMode="auto">
            <a:xfrm>
              <a:off x="1865" y="2800"/>
              <a:ext cx="324" cy="672"/>
            </a:xfrm>
            <a:prstGeom prst="rect">
              <a:avLst/>
            </a:prstGeom>
            <a:solidFill>
              <a:schemeClr val="bg1"/>
            </a:solidFill>
            <a:ln w="9525">
              <a:solidFill>
                <a:schemeClr val="tx1"/>
              </a:solidFill>
              <a:miter lim="800000"/>
              <a:headEnd/>
              <a:tailEnd/>
            </a:ln>
          </p:spPr>
          <p:txBody>
            <a:bodyPr wrap="none" anchor="ctr"/>
            <a:lstStyle/>
            <a:p>
              <a:endParaRPr lang="en-US">
                <a:solidFill>
                  <a:srgbClr val="FF0000"/>
                </a:solidFill>
              </a:endParaRPr>
            </a:p>
          </p:txBody>
        </p:sp>
        <p:sp>
          <p:nvSpPr>
            <p:cNvPr id="57387" name="Rectangle 61"/>
            <p:cNvSpPr>
              <a:spLocks noChangeArrowheads="1"/>
            </p:cNvSpPr>
            <p:nvPr/>
          </p:nvSpPr>
          <p:spPr bwMode="auto">
            <a:xfrm>
              <a:off x="2189" y="2800"/>
              <a:ext cx="60" cy="672"/>
            </a:xfrm>
            <a:prstGeom prst="rect">
              <a:avLst/>
            </a:prstGeom>
            <a:solidFill>
              <a:schemeClr val="bg1"/>
            </a:solidFill>
            <a:ln w="9525">
              <a:solidFill>
                <a:schemeClr val="tx1"/>
              </a:solidFill>
              <a:miter lim="800000"/>
              <a:headEnd/>
              <a:tailEnd/>
            </a:ln>
          </p:spPr>
          <p:txBody>
            <a:bodyPr wrap="none" anchor="ctr"/>
            <a:lstStyle/>
            <a:p>
              <a:endParaRPr lang="en-US">
                <a:solidFill>
                  <a:srgbClr val="FF0000"/>
                </a:solidFill>
              </a:endParaRPr>
            </a:p>
          </p:txBody>
        </p:sp>
        <p:sp>
          <p:nvSpPr>
            <p:cNvPr id="57388" name="Rectangle 62"/>
            <p:cNvSpPr>
              <a:spLocks noChangeArrowheads="1"/>
            </p:cNvSpPr>
            <p:nvPr/>
          </p:nvSpPr>
          <p:spPr bwMode="auto">
            <a:xfrm>
              <a:off x="2052" y="2868"/>
              <a:ext cx="96" cy="48"/>
            </a:xfrm>
            <a:prstGeom prst="rect">
              <a:avLst/>
            </a:prstGeom>
            <a:solidFill>
              <a:schemeClr val="bg1"/>
            </a:solidFill>
            <a:ln w="9525">
              <a:solidFill>
                <a:schemeClr val="tx1"/>
              </a:solidFill>
              <a:miter lim="800000"/>
              <a:headEnd/>
              <a:tailEnd/>
            </a:ln>
          </p:spPr>
          <p:txBody>
            <a:bodyPr wrap="none" anchor="ctr"/>
            <a:lstStyle/>
            <a:p>
              <a:endParaRPr lang="en-US">
                <a:solidFill>
                  <a:srgbClr val="FF0000"/>
                </a:solidFill>
              </a:endParaRPr>
            </a:p>
          </p:txBody>
        </p:sp>
      </p:grpSp>
      <p:sp>
        <p:nvSpPr>
          <p:cNvPr id="57362" name="Line 63"/>
          <p:cNvSpPr>
            <a:spLocks noChangeShapeType="1"/>
          </p:cNvSpPr>
          <p:nvPr/>
        </p:nvSpPr>
        <p:spPr bwMode="auto">
          <a:xfrm>
            <a:off x="566738" y="3810000"/>
            <a:ext cx="2971800" cy="0"/>
          </a:xfrm>
          <a:prstGeom prst="line">
            <a:avLst/>
          </a:prstGeom>
          <a:noFill/>
          <a:ln w="9525">
            <a:solidFill>
              <a:schemeClr val="bg2"/>
            </a:solidFill>
            <a:round/>
            <a:headEnd/>
            <a:tailEnd/>
          </a:ln>
        </p:spPr>
        <p:txBody>
          <a:bodyPr/>
          <a:lstStyle/>
          <a:p>
            <a:endParaRPr lang="en-US"/>
          </a:p>
        </p:txBody>
      </p:sp>
      <p:sp>
        <p:nvSpPr>
          <p:cNvPr id="57363" name="Line 64"/>
          <p:cNvSpPr>
            <a:spLocks noChangeShapeType="1"/>
          </p:cNvSpPr>
          <p:nvPr/>
        </p:nvSpPr>
        <p:spPr bwMode="auto">
          <a:xfrm>
            <a:off x="3233738" y="3429000"/>
            <a:ext cx="0" cy="381000"/>
          </a:xfrm>
          <a:prstGeom prst="line">
            <a:avLst/>
          </a:prstGeom>
          <a:noFill/>
          <a:ln w="9525">
            <a:solidFill>
              <a:schemeClr val="bg2"/>
            </a:solidFill>
            <a:round/>
            <a:headEnd/>
            <a:tailEnd/>
          </a:ln>
        </p:spPr>
        <p:txBody>
          <a:bodyPr/>
          <a:lstStyle/>
          <a:p>
            <a:endParaRPr lang="en-US"/>
          </a:p>
        </p:txBody>
      </p:sp>
      <p:sp>
        <p:nvSpPr>
          <p:cNvPr id="57364" name="Line 65"/>
          <p:cNvSpPr>
            <a:spLocks noChangeShapeType="1"/>
          </p:cNvSpPr>
          <p:nvPr/>
        </p:nvSpPr>
        <p:spPr bwMode="auto">
          <a:xfrm flipH="1">
            <a:off x="1646238" y="3825875"/>
            <a:ext cx="1587" cy="1219200"/>
          </a:xfrm>
          <a:prstGeom prst="line">
            <a:avLst/>
          </a:prstGeom>
          <a:noFill/>
          <a:ln w="9525">
            <a:solidFill>
              <a:schemeClr val="bg2"/>
            </a:solidFill>
            <a:round/>
            <a:headEnd/>
            <a:tailEnd/>
          </a:ln>
        </p:spPr>
        <p:txBody>
          <a:bodyPr/>
          <a:lstStyle/>
          <a:p>
            <a:endParaRPr lang="en-US"/>
          </a:p>
        </p:txBody>
      </p:sp>
      <p:sp>
        <p:nvSpPr>
          <p:cNvPr id="57365" name="Text Box 66"/>
          <p:cNvSpPr txBox="1">
            <a:spLocks noChangeArrowheads="1"/>
          </p:cNvSpPr>
          <p:nvPr/>
        </p:nvSpPr>
        <p:spPr bwMode="auto">
          <a:xfrm>
            <a:off x="1800225" y="4130675"/>
            <a:ext cx="1447800" cy="336550"/>
          </a:xfrm>
          <a:prstGeom prst="rect">
            <a:avLst/>
          </a:prstGeom>
          <a:noFill/>
          <a:ln w="9525">
            <a:noFill/>
            <a:miter lim="800000"/>
            <a:headEnd/>
            <a:tailEnd/>
          </a:ln>
        </p:spPr>
        <p:txBody>
          <a:bodyPr>
            <a:spAutoFit/>
          </a:bodyPr>
          <a:lstStyle/>
          <a:p>
            <a:endParaRPr lang="en-GB" sz="1600" b="1">
              <a:solidFill>
                <a:srgbClr val="FF0000"/>
              </a:solidFill>
            </a:endParaRPr>
          </a:p>
        </p:txBody>
      </p:sp>
      <p:grpSp>
        <p:nvGrpSpPr>
          <p:cNvPr id="57366" name="Group 67"/>
          <p:cNvGrpSpPr>
            <a:grpSpLocks/>
          </p:cNvGrpSpPr>
          <p:nvPr/>
        </p:nvGrpSpPr>
        <p:grpSpPr bwMode="auto">
          <a:xfrm>
            <a:off x="1266825" y="4283075"/>
            <a:ext cx="838200" cy="304800"/>
            <a:chOff x="672" y="2208"/>
            <a:chExt cx="528" cy="192"/>
          </a:xfrm>
        </p:grpSpPr>
        <p:sp>
          <p:nvSpPr>
            <p:cNvPr id="57376" name="AutoShape 68"/>
            <p:cNvSpPr>
              <a:spLocks noChangeArrowheads="1"/>
            </p:cNvSpPr>
            <p:nvPr/>
          </p:nvSpPr>
          <p:spPr bwMode="auto">
            <a:xfrm>
              <a:off x="672" y="2208"/>
              <a:ext cx="528" cy="192"/>
            </a:xfrm>
            <a:prstGeom prst="roundRect">
              <a:avLst>
                <a:gd name="adj" fmla="val 16667"/>
              </a:avLst>
            </a:prstGeom>
            <a:solidFill>
              <a:schemeClr val="bg2"/>
            </a:solidFill>
            <a:ln w="9525">
              <a:solidFill>
                <a:schemeClr val="tx1"/>
              </a:solidFill>
              <a:round/>
              <a:headEnd/>
              <a:tailEnd/>
            </a:ln>
          </p:spPr>
          <p:txBody>
            <a:bodyPr wrap="none" anchor="ctr"/>
            <a:lstStyle/>
            <a:p>
              <a:endParaRPr lang="en-US">
                <a:solidFill>
                  <a:srgbClr val="FF0000"/>
                </a:solidFill>
              </a:endParaRPr>
            </a:p>
          </p:txBody>
        </p:sp>
        <p:sp>
          <p:nvSpPr>
            <p:cNvPr id="57377" name="Line 69"/>
            <p:cNvSpPr>
              <a:spLocks noChangeShapeType="1"/>
            </p:cNvSpPr>
            <p:nvPr/>
          </p:nvSpPr>
          <p:spPr bwMode="auto">
            <a:xfrm>
              <a:off x="720" y="2256"/>
              <a:ext cx="0" cy="96"/>
            </a:xfrm>
            <a:prstGeom prst="line">
              <a:avLst/>
            </a:prstGeom>
            <a:noFill/>
            <a:ln w="19050">
              <a:solidFill>
                <a:schemeClr val="tx1"/>
              </a:solidFill>
              <a:round/>
              <a:headEnd/>
              <a:tailEnd/>
            </a:ln>
          </p:spPr>
          <p:txBody>
            <a:bodyPr/>
            <a:lstStyle/>
            <a:p>
              <a:endParaRPr lang="en-US"/>
            </a:p>
          </p:txBody>
        </p:sp>
        <p:sp>
          <p:nvSpPr>
            <p:cNvPr id="57378" name="Line 70"/>
            <p:cNvSpPr>
              <a:spLocks noChangeShapeType="1"/>
            </p:cNvSpPr>
            <p:nvPr/>
          </p:nvSpPr>
          <p:spPr bwMode="auto">
            <a:xfrm>
              <a:off x="768" y="2256"/>
              <a:ext cx="0" cy="96"/>
            </a:xfrm>
            <a:prstGeom prst="line">
              <a:avLst/>
            </a:prstGeom>
            <a:noFill/>
            <a:ln w="19050">
              <a:solidFill>
                <a:schemeClr val="tx1"/>
              </a:solidFill>
              <a:round/>
              <a:headEnd/>
              <a:tailEnd/>
            </a:ln>
          </p:spPr>
          <p:txBody>
            <a:bodyPr/>
            <a:lstStyle/>
            <a:p>
              <a:endParaRPr lang="en-US"/>
            </a:p>
          </p:txBody>
        </p:sp>
        <p:sp>
          <p:nvSpPr>
            <p:cNvPr id="57379" name="Line 71"/>
            <p:cNvSpPr>
              <a:spLocks noChangeShapeType="1"/>
            </p:cNvSpPr>
            <p:nvPr/>
          </p:nvSpPr>
          <p:spPr bwMode="auto">
            <a:xfrm>
              <a:off x="816" y="2256"/>
              <a:ext cx="0" cy="96"/>
            </a:xfrm>
            <a:prstGeom prst="line">
              <a:avLst/>
            </a:prstGeom>
            <a:noFill/>
            <a:ln w="19050">
              <a:solidFill>
                <a:schemeClr val="tx1"/>
              </a:solidFill>
              <a:round/>
              <a:headEnd/>
              <a:tailEnd/>
            </a:ln>
          </p:spPr>
          <p:txBody>
            <a:bodyPr/>
            <a:lstStyle/>
            <a:p>
              <a:endParaRPr lang="en-US"/>
            </a:p>
          </p:txBody>
        </p:sp>
        <p:sp>
          <p:nvSpPr>
            <p:cNvPr id="57380" name="Line 72"/>
            <p:cNvSpPr>
              <a:spLocks noChangeShapeType="1"/>
            </p:cNvSpPr>
            <p:nvPr/>
          </p:nvSpPr>
          <p:spPr bwMode="auto">
            <a:xfrm>
              <a:off x="864" y="2256"/>
              <a:ext cx="0" cy="96"/>
            </a:xfrm>
            <a:prstGeom prst="line">
              <a:avLst/>
            </a:prstGeom>
            <a:noFill/>
            <a:ln w="19050">
              <a:solidFill>
                <a:schemeClr val="tx1"/>
              </a:solidFill>
              <a:round/>
              <a:headEnd/>
              <a:tailEnd/>
            </a:ln>
          </p:spPr>
          <p:txBody>
            <a:bodyPr/>
            <a:lstStyle/>
            <a:p>
              <a:endParaRPr lang="en-US"/>
            </a:p>
          </p:txBody>
        </p:sp>
        <p:sp>
          <p:nvSpPr>
            <p:cNvPr id="57381" name="Line 73"/>
            <p:cNvSpPr>
              <a:spLocks noChangeShapeType="1"/>
            </p:cNvSpPr>
            <p:nvPr/>
          </p:nvSpPr>
          <p:spPr bwMode="auto">
            <a:xfrm>
              <a:off x="912" y="2256"/>
              <a:ext cx="0" cy="96"/>
            </a:xfrm>
            <a:prstGeom prst="line">
              <a:avLst/>
            </a:prstGeom>
            <a:noFill/>
            <a:ln w="19050">
              <a:solidFill>
                <a:schemeClr val="tx1"/>
              </a:solidFill>
              <a:round/>
              <a:headEnd/>
              <a:tailEnd/>
            </a:ln>
          </p:spPr>
          <p:txBody>
            <a:bodyPr/>
            <a:lstStyle/>
            <a:p>
              <a:endParaRPr lang="en-US"/>
            </a:p>
          </p:txBody>
        </p:sp>
        <p:sp>
          <p:nvSpPr>
            <p:cNvPr id="57382" name="Oval 74"/>
            <p:cNvSpPr>
              <a:spLocks noChangeArrowheads="1"/>
            </p:cNvSpPr>
            <p:nvPr/>
          </p:nvSpPr>
          <p:spPr bwMode="auto">
            <a:xfrm>
              <a:off x="1008" y="2304"/>
              <a:ext cx="48" cy="48"/>
            </a:xfrm>
            <a:prstGeom prst="ellipse">
              <a:avLst/>
            </a:prstGeom>
            <a:solidFill>
              <a:srgbClr val="FF0000"/>
            </a:solidFill>
            <a:ln w="9525">
              <a:solidFill>
                <a:schemeClr val="tx1"/>
              </a:solidFill>
              <a:round/>
              <a:headEnd/>
              <a:tailEnd/>
            </a:ln>
          </p:spPr>
          <p:txBody>
            <a:bodyPr wrap="none" anchor="ctr"/>
            <a:lstStyle/>
            <a:p>
              <a:endParaRPr lang="en-US">
                <a:solidFill>
                  <a:srgbClr val="FF0000"/>
                </a:solidFill>
              </a:endParaRPr>
            </a:p>
          </p:txBody>
        </p:sp>
        <p:sp>
          <p:nvSpPr>
            <p:cNvPr id="57383" name="Oval 75"/>
            <p:cNvSpPr>
              <a:spLocks noChangeArrowheads="1"/>
            </p:cNvSpPr>
            <p:nvPr/>
          </p:nvSpPr>
          <p:spPr bwMode="auto">
            <a:xfrm>
              <a:off x="1056" y="2304"/>
              <a:ext cx="48" cy="48"/>
            </a:xfrm>
            <a:prstGeom prst="ellipse">
              <a:avLst/>
            </a:prstGeom>
            <a:solidFill>
              <a:schemeClr val="accent1"/>
            </a:solidFill>
            <a:ln w="9525">
              <a:solidFill>
                <a:schemeClr val="tx1"/>
              </a:solidFill>
              <a:round/>
              <a:headEnd/>
              <a:tailEnd/>
            </a:ln>
          </p:spPr>
          <p:txBody>
            <a:bodyPr wrap="none" anchor="ctr"/>
            <a:lstStyle/>
            <a:p>
              <a:endParaRPr lang="en-US">
                <a:solidFill>
                  <a:srgbClr val="FF0000"/>
                </a:solidFill>
              </a:endParaRPr>
            </a:p>
          </p:txBody>
        </p:sp>
        <p:sp>
          <p:nvSpPr>
            <p:cNvPr id="57384" name="Oval 76"/>
            <p:cNvSpPr>
              <a:spLocks noChangeArrowheads="1"/>
            </p:cNvSpPr>
            <p:nvPr/>
          </p:nvSpPr>
          <p:spPr bwMode="auto">
            <a:xfrm>
              <a:off x="1104" y="2304"/>
              <a:ext cx="48" cy="48"/>
            </a:xfrm>
            <a:prstGeom prst="ellipse">
              <a:avLst/>
            </a:prstGeom>
            <a:solidFill>
              <a:srgbClr val="FFCC00"/>
            </a:solidFill>
            <a:ln w="9525">
              <a:solidFill>
                <a:schemeClr val="tx1"/>
              </a:solidFill>
              <a:round/>
              <a:headEnd/>
              <a:tailEnd/>
            </a:ln>
          </p:spPr>
          <p:txBody>
            <a:bodyPr wrap="none" anchor="ctr"/>
            <a:lstStyle/>
            <a:p>
              <a:endParaRPr lang="en-US">
                <a:solidFill>
                  <a:srgbClr val="FF0000"/>
                </a:solidFill>
              </a:endParaRPr>
            </a:p>
          </p:txBody>
        </p:sp>
        <p:sp>
          <p:nvSpPr>
            <p:cNvPr id="57385" name="Oval 77"/>
            <p:cNvSpPr>
              <a:spLocks noChangeArrowheads="1"/>
            </p:cNvSpPr>
            <p:nvPr/>
          </p:nvSpPr>
          <p:spPr bwMode="auto">
            <a:xfrm>
              <a:off x="960" y="2304"/>
              <a:ext cx="48" cy="48"/>
            </a:xfrm>
            <a:prstGeom prst="ellipse">
              <a:avLst/>
            </a:prstGeom>
            <a:solidFill>
              <a:schemeClr val="accent1"/>
            </a:solidFill>
            <a:ln w="9525">
              <a:solidFill>
                <a:schemeClr val="tx1"/>
              </a:solidFill>
              <a:round/>
              <a:headEnd/>
              <a:tailEnd/>
            </a:ln>
          </p:spPr>
          <p:txBody>
            <a:bodyPr wrap="none" anchor="ctr"/>
            <a:lstStyle/>
            <a:p>
              <a:endParaRPr lang="en-US">
                <a:solidFill>
                  <a:srgbClr val="FF0000"/>
                </a:solidFill>
              </a:endParaRPr>
            </a:p>
          </p:txBody>
        </p:sp>
      </p:grpSp>
      <p:sp>
        <p:nvSpPr>
          <p:cNvPr id="57368" name="Text Box 79"/>
          <p:cNvSpPr txBox="1">
            <a:spLocks noChangeArrowheads="1"/>
          </p:cNvSpPr>
          <p:nvPr/>
        </p:nvSpPr>
        <p:spPr bwMode="auto">
          <a:xfrm>
            <a:off x="1252538" y="5029200"/>
            <a:ext cx="1778000" cy="336550"/>
          </a:xfrm>
          <a:prstGeom prst="rect">
            <a:avLst/>
          </a:prstGeom>
          <a:noFill/>
          <a:ln w="9525">
            <a:noFill/>
            <a:miter lim="800000"/>
            <a:headEnd/>
            <a:tailEnd/>
          </a:ln>
        </p:spPr>
        <p:txBody>
          <a:bodyPr wrap="none">
            <a:spAutoFit/>
          </a:bodyPr>
          <a:lstStyle/>
          <a:p>
            <a:pPr algn="l"/>
            <a:r>
              <a:rPr lang="en-GB" sz="1600" b="1">
                <a:solidFill>
                  <a:schemeClr val="bg1"/>
                </a:solidFill>
              </a:rPr>
              <a:t>Internal Network</a:t>
            </a:r>
            <a:endParaRPr lang="en-US" sz="1600" b="1">
              <a:solidFill>
                <a:schemeClr val="bg1"/>
              </a:solidFill>
            </a:endParaRPr>
          </a:p>
        </p:txBody>
      </p:sp>
      <p:sp>
        <p:nvSpPr>
          <p:cNvPr id="57369" name="Text Box 80"/>
          <p:cNvSpPr txBox="1">
            <a:spLocks noChangeArrowheads="1"/>
          </p:cNvSpPr>
          <p:nvPr/>
        </p:nvSpPr>
        <p:spPr bwMode="auto">
          <a:xfrm>
            <a:off x="2133600" y="4114800"/>
            <a:ext cx="1489126" cy="584775"/>
          </a:xfrm>
          <a:prstGeom prst="rect">
            <a:avLst/>
          </a:prstGeom>
          <a:noFill/>
          <a:ln w="9525">
            <a:noFill/>
            <a:miter lim="800000"/>
            <a:headEnd/>
            <a:tailEnd/>
          </a:ln>
        </p:spPr>
        <p:txBody>
          <a:bodyPr wrap="none">
            <a:spAutoFit/>
          </a:bodyPr>
          <a:lstStyle/>
          <a:p>
            <a:r>
              <a:rPr lang="en-GB" sz="1600" b="1" dirty="0">
                <a:solidFill>
                  <a:srgbClr val="FF0000"/>
                </a:solidFill>
              </a:rPr>
              <a:t>Interior</a:t>
            </a:r>
          </a:p>
          <a:p>
            <a:r>
              <a:rPr lang="en-GB" sz="1600" b="1" dirty="0">
                <a:solidFill>
                  <a:srgbClr val="FF0000"/>
                </a:solidFill>
              </a:rPr>
              <a:t>Router/firewall</a:t>
            </a:r>
            <a:endParaRPr lang="en-US" sz="1600" b="1" dirty="0">
              <a:solidFill>
                <a:srgbClr val="FF0000"/>
              </a:solidFill>
            </a:endParaRPr>
          </a:p>
        </p:txBody>
      </p:sp>
      <p:sp>
        <p:nvSpPr>
          <p:cNvPr id="57370" name="Text Box 81"/>
          <p:cNvSpPr txBox="1">
            <a:spLocks noChangeArrowheads="1"/>
          </p:cNvSpPr>
          <p:nvPr/>
        </p:nvSpPr>
        <p:spPr bwMode="auto">
          <a:xfrm>
            <a:off x="566738" y="3429000"/>
            <a:ext cx="2614612" cy="336550"/>
          </a:xfrm>
          <a:prstGeom prst="rect">
            <a:avLst/>
          </a:prstGeom>
          <a:noFill/>
          <a:ln w="9525">
            <a:noFill/>
            <a:miter lim="800000"/>
            <a:headEnd/>
            <a:tailEnd/>
          </a:ln>
        </p:spPr>
        <p:txBody>
          <a:bodyPr wrap="none">
            <a:spAutoFit/>
          </a:bodyPr>
          <a:lstStyle/>
          <a:p>
            <a:pPr algn="l"/>
            <a:r>
              <a:rPr lang="en-GB" sz="1600" b="1">
                <a:solidFill>
                  <a:srgbClr val="FF0000"/>
                </a:solidFill>
              </a:rPr>
              <a:t>Perimeter Network (DMZ)</a:t>
            </a:r>
            <a:endParaRPr lang="en-US" sz="1600" b="1">
              <a:solidFill>
                <a:srgbClr val="FF0000"/>
              </a:solidFill>
            </a:endParaRPr>
          </a:p>
        </p:txBody>
      </p:sp>
      <p:sp>
        <p:nvSpPr>
          <p:cNvPr id="57371" name="Text Box 82"/>
          <p:cNvSpPr txBox="1">
            <a:spLocks noChangeArrowheads="1"/>
          </p:cNvSpPr>
          <p:nvPr/>
        </p:nvSpPr>
        <p:spPr bwMode="auto">
          <a:xfrm>
            <a:off x="1752600" y="2743200"/>
            <a:ext cx="952500" cy="581025"/>
          </a:xfrm>
          <a:prstGeom prst="rect">
            <a:avLst/>
          </a:prstGeom>
          <a:noFill/>
          <a:ln w="9525">
            <a:noFill/>
            <a:miter lim="800000"/>
            <a:headEnd/>
            <a:tailEnd/>
          </a:ln>
        </p:spPr>
        <p:txBody>
          <a:bodyPr wrap="none">
            <a:spAutoFit/>
          </a:bodyPr>
          <a:lstStyle/>
          <a:p>
            <a:r>
              <a:rPr lang="en-GB" sz="1600" b="1">
                <a:solidFill>
                  <a:srgbClr val="FF0000"/>
                </a:solidFill>
              </a:rPr>
              <a:t>Exterior</a:t>
            </a:r>
          </a:p>
          <a:p>
            <a:r>
              <a:rPr lang="en-GB" sz="1600" b="1">
                <a:solidFill>
                  <a:srgbClr val="FF0000"/>
                </a:solidFill>
              </a:rPr>
              <a:t>Router</a:t>
            </a:r>
            <a:endParaRPr lang="en-US" sz="1600" b="1">
              <a:solidFill>
                <a:srgbClr val="FF0000"/>
              </a:solidFill>
            </a:endParaRPr>
          </a:p>
        </p:txBody>
      </p:sp>
      <p:sp>
        <p:nvSpPr>
          <p:cNvPr id="57372" name="Text Box 83"/>
          <p:cNvSpPr txBox="1">
            <a:spLocks noChangeArrowheads="1"/>
          </p:cNvSpPr>
          <p:nvPr/>
        </p:nvSpPr>
        <p:spPr bwMode="auto">
          <a:xfrm>
            <a:off x="2743200" y="1828800"/>
            <a:ext cx="928688" cy="581025"/>
          </a:xfrm>
          <a:prstGeom prst="rect">
            <a:avLst/>
          </a:prstGeom>
          <a:noFill/>
          <a:ln w="9525">
            <a:noFill/>
            <a:miter lim="800000"/>
            <a:headEnd/>
            <a:tailEnd/>
          </a:ln>
        </p:spPr>
        <p:txBody>
          <a:bodyPr wrap="none">
            <a:spAutoFit/>
          </a:bodyPr>
          <a:lstStyle/>
          <a:p>
            <a:r>
              <a:rPr lang="en-GB" sz="1600" b="1">
                <a:solidFill>
                  <a:srgbClr val="FF0000"/>
                </a:solidFill>
              </a:rPr>
              <a:t>Bastion</a:t>
            </a:r>
          </a:p>
          <a:p>
            <a:r>
              <a:rPr lang="en-GB" sz="1600" b="1">
                <a:solidFill>
                  <a:srgbClr val="FF0000"/>
                </a:solidFill>
              </a:rPr>
              <a:t>Host</a:t>
            </a:r>
            <a:endParaRPr lang="en-US" sz="1600" b="1">
              <a:solidFill>
                <a:srgbClr val="FF0000"/>
              </a:solidFill>
            </a:endParaRPr>
          </a:p>
        </p:txBody>
      </p:sp>
      <p:sp>
        <p:nvSpPr>
          <p:cNvPr id="57373" name="Text Box 84"/>
          <p:cNvSpPr txBox="1">
            <a:spLocks noChangeArrowheads="1"/>
          </p:cNvSpPr>
          <p:nvPr/>
        </p:nvSpPr>
        <p:spPr bwMode="auto">
          <a:xfrm>
            <a:off x="1633538" y="2438400"/>
            <a:ext cx="942975" cy="336550"/>
          </a:xfrm>
          <a:prstGeom prst="rect">
            <a:avLst/>
          </a:prstGeom>
          <a:noFill/>
          <a:ln w="9525">
            <a:noFill/>
            <a:miter lim="800000"/>
            <a:headEnd/>
            <a:tailEnd/>
          </a:ln>
        </p:spPr>
        <p:txBody>
          <a:bodyPr wrap="none">
            <a:spAutoFit/>
          </a:bodyPr>
          <a:lstStyle/>
          <a:p>
            <a:pPr algn="l"/>
            <a:r>
              <a:rPr lang="en-GB" sz="1600" b="1">
                <a:solidFill>
                  <a:srgbClr val="FF0000"/>
                </a:solidFill>
              </a:rPr>
              <a:t>Firewall</a:t>
            </a:r>
          </a:p>
        </p:txBody>
      </p:sp>
      <p:sp>
        <p:nvSpPr>
          <p:cNvPr id="57374" name="Cloud"/>
          <p:cNvSpPr>
            <a:spLocks noChangeAspect="1" noEditPoints="1" noChangeArrowheads="1"/>
          </p:cNvSpPr>
          <p:nvPr/>
        </p:nvSpPr>
        <p:spPr bwMode="auto">
          <a:xfrm>
            <a:off x="566738" y="1828800"/>
            <a:ext cx="1524000" cy="708025"/>
          </a:xfrm>
          <a:custGeom>
            <a:avLst/>
            <a:gdLst>
              <a:gd name="T0" fmla="*/ 23531407 w 21600"/>
              <a:gd name="T1" fmla="*/ 380372264 h 21600"/>
              <a:gd name="T2" fmla="*/ 2147483647 w 21600"/>
              <a:gd name="T3" fmla="*/ 759933185 h 21600"/>
              <a:gd name="T4" fmla="*/ 2147483647 w 21600"/>
              <a:gd name="T5" fmla="*/ 380372264 h 21600"/>
              <a:gd name="T6" fmla="*/ 2147483647 w 21600"/>
              <a:gd name="T7" fmla="*/ 43496238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p:spPr>
        <p:txBody>
          <a:bodyPr/>
          <a:lstStyle/>
          <a:p>
            <a:pPr algn="l"/>
            <a:r>
              <a:rPr lang="en-GB" sz="1600" b="1">
                <a:solidFill>
                  <a:srgbClr val="FF0000"/>
                </a:solidFill>
              </a:rPr>
              <a:t>Internet</a:t>
            </a:r>
            <a:endParaRPr lang="en-US" sz="1600" b="1">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normAutofit/>
          </a:bodyPr>
          <a:lstStyle/>
          <a:p>
            <a:pPr eaLnBrk="1" hangingPunct="1"/>
            <a:r>
              <a:rPr lang="en-GB" sz="4400" dirty="0"/>
              <a:t>Bastion Host</a:t>
            </a:r>
          </a:p>
        </p:txBody>
      </p:sp>
      <p:sp>
        <p:nvSpPr>
          <p:cNvPr id="56324" name="Rectangle 3"/>
          <p:cNvSpPr>
            <a:spLocks noGrp="1" noChangeArrowheads="1"/>
          </p:cNvSpPr>
          <p:nvPr>
            <p:ph idx="1"/>
          </p:nvPr>
        </p:nvSpPr>
        <p:spPr>
          <a:xfrm>
            <a:off x="228600" y="1524000"/>
            <a:ext cx="8229600" cy="4343400"/>
          </a:xfrm>
        </p:spPr>
        <p:txBody>
          <a:bodyPr>
            <a:normAutofit/>
          </a:bodyPr>
          <a:lstStyle/>
          <a:p>
            <a:pPr marL="342900" indent="-342900" eaLnBrk="1" hangingPunct="1">
              <a:lnSpc>
                <a:spcPct val="85000"/>
              </a:lnSpc>
            </a:pPr>
            <a:r>
              <a:rPr lang="en-GB" sz="2800" dirty="0"/>
              <a:t>A secure but publicly accessible computer. </a:t>
            </a:r>
          </a:p>
          <a:p>
            <a:pPr marL="342900" indent="-342900" eaLnBrk="1" hangingPunct="1">
              <a:lnSpc>
                <a:spcPct val="85000"/>
              </a:lnSpc>
            </a:pPr>
            <a:r>
              <a:rPr lang="en-GB" sz="2800" dirty="0"/>
              <a:t>Can be any server, e.g. Web server, email server, DNS server that has an interface on the Internet</a:t>
            </a:r>
          </a:p>
          <a:p>
            <a:pPr marL="342900" indent="-342900" eaLnBrk="1" hangingPunct="1">
              <a:lnSpc>
                <a:spcPct val="85000"/>
              </a:lnSpc>
            </a:pPr>
            <a:r>
              <a:rPr lang="en-GB" sz="2800" dirty="0"/>
              <a:t>For incoming connections, bastion host is the main point of contact, e.g. SMTP, FTP, and DNS</a:t>
            </a:r>
          </a:p>
          <a:p>
            <a:pPr marL="342900" indent="-342900" eaLnBrk="1" hangingPunct="1">
              <a:lnSpc>
                <a:spcPct val="85000"/>
              </a:lnSpc>
            </a:pPr>
            <a:r>
              <a:rPr lang="en-GB" sz="2800" dirty="0"/>
              <a:t>Is exposed to attack. Should be hardened (as secure as possible)</a:t>
            </a:r>
          </a:p>
          <a:p>
            <a:pPr marL="342900" indent="-342900" eaLnBrk="1" hangingPunct="1">
              <a:lnSpc>
                <a:spcPct val="85000"/>
              </a:lnSpc>
            </a:pPr>
            <a:endParaRPr lang="en-GB"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a:xfrm>
            <a:off x="514350" y="132312"/>
            <a:ext cx="7886700" cy="1325563"/>
          </a:xfrm>
        </p:spPr>
        <p:txBody>
          <a:bodyPr>
            <a:normAutofit/>
          </a:bodyPr>
          <a:lstStyle/>
          <a:p>
            <a:pPr eaLnBrk="1" hangingPunct="1"/>
            <a:r>
              <a:rPr lang="en-US" sz="4400" dirty="0"/>
              <a:t>Demilitarized Zone (DMZ)</a:t>
            </a:r>
          </a:p>
        </p:txBody>
      </p:sp>
      <p:sp>
        <p:nvSpPr>
          <p:cNvPr id="58372" name="Rectangle 3"/>
          <p:cNvSpPr>
            <a:spLocks noGrp="1" noChangeArrowheads="1"/>
          </p:cNvSpPr>
          <p:nvPr>
            <p:ph idx="1"/>
          </p:nvPr>
        </p:nvSpPr>
        <p:spPr>
          <a:xfrm>
            <a:off x="304800" y="1148077"/>
            <a:ext cx="8305800" cy="1367471"/>
          </a:xfrm>
        </p:spPr>
        <p:txBody>
          <a:bodyPr/>
          <a:lstStyle/>
          <a:p>
            <a:pPr eaLnBrk="1" hangingPunct="1"/>
            <a:r>
              <a:rPr lang="en-GB" sz="2600" dirty="0"/>
              <a:t>Also called Perimeter Network</a:t>
            </a:r>
          </a:p>
          <a:p>
            <a:pPr eaLnBrk="1" hangingPunct="1"/>
            <a:r>
              <a:rPr lang="en-GB" sz="2600" dirty="0"/>
              <a:t>Provides a level of security between the external network and the internal network</a:t>
            </a:r>
          </a:p>
        </p:txBody>
      </p:sp>
      <p:grpSp>
        <p:nvGrpSpPr>
          <p:cNvPr id="26" name="Group 25"/>
          <p:cNvGrpSpPr/>
          <p:nvPr/>
        </p:nvGrpSpPr>
        <p:grpSpPr>
          <a:xfrm>
            <a:off x="1828800" y="2470734"/>
            <a:ext cx="6259098" cy="4183461"/>
            <a:chOff x="609600" y="990599"/>
            <a:chExt cx="7839075" cy="5430242"/>
          </a:xfrm>
        </p:grpSpPr>
        <p:pic>
          <p:nvPicPr>
            <p:cNvPr id="27" name="Picture 12" descr="computer"/>
            <p:cNvPicPr>
              <a:picLocks noChangeAspect="1" noChangeArrowheads="1"/>
            </p:cNvPicPr>
            <p:nvPr/>
          </p:nvPicPr>
          <p:blipFill>
            <a:blip r:embed="rId2"/>
            <a:srcRect/>
            <a:stretch>
              <a:fillRect/>
            </a:stretch>
          </p:blipFill>
          <p:spPr>
            <a:xfrm>
              <a:off x="762000" y="3429000"/>
              <a:ext cx="952500" cy="952500"/>
            </a:xfrm>
            <a:prstGeom prst="rect">
              <a:avLst/>
            </a:prstGeom>
            <a:noFill/>
          </p:spPr>
        </p:pic>
        <p:sp>
          <p:nvSpPr>
            <p:cNvPr id="28" name="Text Box 19"/>
            <p:cNvSpPr txBox="1">
              <a:spLocks noChangeArrowheads="1"/>
            </p:cNvSpPr>
            <p:nvPr/>
          </p:nvSpPr>
          <p:spPr bwMode="auto">
            <a:xfrm>
              <a:off x="609600" y="4495800"/>
              <a:ext cx="1399742" cy="830997"/>
            </a:xfrm>
            <a:prstGeom prst="rect">
              <a:avLst/>
            </a:prstGeom>
            <a:noFill/>
            <a:ln w="9525">
              <a:noFill/>
              <a:miter lim="800000"/>
              <a:headEnd/>
              <a:tailEnd/>
            </a:ln>
          </p:spPr>
          <p:txBody>
            <a:bodyPr wrap="none">
              <a:spAutoFit/>
            </a:bodyPr>
            <a:lstStyle/>
            <a:p>
              <a:pPr algn="l">
                <a:lnSpc>
                  <a:spcPct val="100000"/>
                </a:lnSpc>
                <a:spcBef>
                  <a:spcPct val="0"/>
                </a:spcBef>
              </a:pPr>
              <a:r>
                <a:rPr lang="en-GB" sz="2400" b="1" dirty="0">
                  <a:solidFill>
                    <a:srgbClr val="0000FF"/>
                  </a:solidFill>
                </a:rPr>
                <a:t>Internal </a:t>
              </a:r>
            </a:p>
            <a:p>
              <a:pPr algn="l">
                <a:lnSpc>
                  <a:spcPct val="100000"/>
                </a:lnSpc>
                <a:spcBef>
                  <a:spcPct val="0"/>
                </a:spcBef>
              </a:pPr>
              <a:r>
                <a:rPr lang="en-GB" sz="2400" b="1" dirty="0">
                  <a:solidFill>
                    <a:srgbClr val="0000FF"/>
                  </a:solidFill>
                </a:rPr>
                <a:t>Network</a:t>
              </a:r>
              <a:endParaRPr lang="en-US" sz="2400" b="1" dirty="0">
                <a:solidFill>
                  <a:srgbClr val="0000FF"/>
                </a:solidFill>
              </a:endParaRPr>
            </a:p>
          </p:txBody>
        </p:sp>
        <p:sp>
          <p:nvSpPr>
            <p:cNvPr id="29" name="Text Box 20"/>
            <p:cNvSpPr txBox="1">
              <a:spLocks noChangeArrowheads="1"/>
            </p:cNvSpPr>
            <p:nvPr/>
          </p:nvSpPr>
          <p:spPr bwMode="auto">
            <a:xfrm>
              <a:off x="4648200" y="4343400"/>
              <a:ext cx="1329210" cy="461665"/>
            </a:xfrm>
            <a:prstGeom prst="rect">
              <a:avLst/>
            </a:prstGeom>
            <a:noFill/>
            <a:ln w="9525">
              <a:noFill/>
              <a:miter lim="800000"/>
              <a:headEnd/>
              <a:tailEnd/>
            </a:ln>
          </p:spPr>
          <p:txBody>
            <a:bodyPr wrap="none">
              <a:spAutoFit/>
            </a:bodyPr>
            <a:lstStyle/>
            <a:p>
              <a:pPr algn="l">
                <a:lnSpc>
                  <a:spcPct val="100000"/>
                </a:lnSpc>
                <a:spcBef>
                  <a:spcPct val="0"/>
                </a:spcBef>
              </a:pPr>
              <a:r>
                <a:rPr lang="en-GB" sz="2400" b="1" dirty="0">
                  <a:solidFill>
                    <a:srgbClr val="0000FF"/>
                  </a:solidFill>
                </a:rPr>
                <a:t>Firewall</a:t>
              </a:r>
              <a:endParaRPr lang="en-US" sz="2400" b="1" dirty="0">
                <a:solidFill>
                  <a:srgbClr val="0000FF"/>
                </a:solidFill>
              </a:endParaRPr>
            </a:p>
          </p:txBody>
        </p:sp>
        <p:sp>
          <p:nvSpPr>
            <p:cNvPr id="30" name="Text Box 21"/>
            <p:cNvSpPr txBox="1">
              <a:spLocks noChangeArrowheads="1"/>
            </p:cNvSpPr>
            <p:nvPr/>
          </p:nvSpPr>
          <p:spPr bwMode="auto">
            <a:xfrm>
              <a:off x="4114800" y="2667000"/>
              <a:ext cx="851515" cy="461665"/>
            </a:xfrm>
            <a:prstGeom prst="rect">
              <a:avLst/>
            </a:prstGeom>
            <a:noFill/>
            <a:ln w="9525">
              <a:noFill/>
              <a:miter lim="800000"/>
              <a:headEnd/>
              <a:tailEnd/>
            </a:ln>
          </p:spPr>
          <p:txBody>
            <a:bodyPr wrap="none">
              <a:spAutoFit/>
            </a:bodyPr>
            <a:lstStyle/>
            <a:p>
              <a:pPr algn="l">
                <a:lnSpc>
                  <a:spcPct val="100000"/>
                </a:lnSpc>
                <a:spcBef>
                  <a:spcPct val="0"/>
                </a:spcBef>
              </a:pPr>
              <a:r>
                <a:rPr lang="en-GB" sz="2400" b="1" dirty="0">
                  <a:solidFill>
                    <a:srgbClr val="0000FF"/>
                  </a:solidFill>
                </a:rPr>
                <a:t>DMZ</a:t>
              </a:r>
              <a:endParaRPr lang="en-US" sz="2400" b="1" dirty="0">
                <a:solidFill>
                  <a:srgbClr val="0000FF"/>
                </a:solidFill>
              </a:endParaRPr>
            </a:p>
          </p:txBody>
        </p:sp>
        <p:sp>
          <p:nvSpPr>
            <p:cNvPr id="31" name="Line 22"/>
            <p:cNvSpPr>
              <a:spLocks noChangeShapeType="1"/>
            </p:cNvSpPr>
            <p:nvPr/>
          </p:nvSpPr>
          <p:spPr bwMode="auto">
            <a:xfrm>
              <a:off x="1752600" y="3886200"/>
              <a:ext cx="1676400" cy="0"/>
            </a:xfrm>
            <a:prstGeom prst="line">
              <a:avLst/>
            </a:prstGeom>
            <a:noFill/>
            <a:ln w="57150">
              <a:solidFill>
                <a:srgbClr val="00B0F0"/>
              </a:solidFill>
              <a:round/>
              <a:headEnd/>
              <a:tailEnd/>
            </a:ln>
          </p:spPr>
          <p:txBody>
            <a:bodyPr lIns="0" tIns="0" rIns="0" bIns="0">
              <a:spAutoFit/>
            </a:bodyPr>
            <a:lstStyle/>
            <a:p>
              <a:endParaRPr lang="en-US" b="1">
                <a:ln>
                  <a:solidFill>
                    <a:srgbClr val="00B050"/>
                  </a:solidFill>
                </a:ln>
              </a:endParaRPr>
            </a:p>
          </p:txBody>
        </p:sp>
        <p:sp>
          <p:nvSpPr>
            <p:cNvPr id="32" name="Line 23"/>
            <p:cNvSpPr>
              <a:spLocks noChangeShapeType="1"/>
            </p:cNvSpPr>
            <p:nvPr/>
          </p:nvSpPr>
          <p:spPr bwMode="auto">
            <a:xfrm>
              <a:off x="4800600" y="3886200"/>
              <a:ext cx="1828800" cy="0"/>
            </a:xfrm>
            <a:prstGeom prst="line">
              <a:avLst/>
            </a:prstGeom>
            <a:noFill/>
            <a:ln w="57150">
              <a:solidFill>
                <a:srgbClr val="00B0F0"/>
              </a:solidFill>
              <a:round/>
              <a:headEnd/>
              <a:tailEnd/>
            </a:ln>
          </p:spPr>
          <p:txBody>
            <a:bodyPr lIns="0" tIns="0" rIns="0" bIns="0">
              <a:spAutoFit/>
            </a:bodyPr>
            <a:lstStyle/>
            <a:p>
              <a:endParaRPr lang="en-US" b="1">
                <a:ln>
                  <a:solidFill>
                    <a:srgbClr val="00B050"/>
                  </a:solidFill>
                </a:ln>
              </a:endParaRPr>
            </a:p>
          </p:txBody>
        </p:sp>
        <p:sp>
          <p:nvSpPr>
            <p:cNvPr id="33" name="Line 24"/>
            <p:cNvSpPr>
              <a:spLocks noChangeShapeType="1"/>
            </p:cNvSpPr>
            <p:nvPr/>
          </p:nvSpPr>
          <p:spPr bwMode="auto">
            <a:xfrm flipV="1">
              <a:off x="4114800" y="2667000"/>
              <a:ext cx="0" cy="685800"/>
            </a:xfrm>
            <a:prstGeom prst="line">
              <a:avLst/>
            </a:prstGeom>
            <a:noFill/>
            <a:ln w="57150">
              <a:solidFill>
                <a:srgbClr val="00B0F0"/>
              </a:solidFill>
              <a:round/>
              <a:headEnd/>
              <a:tailEnd/>
            </a:ln>
          </p:spPr>
          <p:txBody>
            <a:bodyPr lIns="0" tIns="0" rIns="0" bIns="0">
              <a:spAutoFit/>
            </a:bodyPr>
            <a:lstStyle/>
            <a:p>
              <a:endParaRPr lang="en-US" b="1">
                <a:ln>
                  <a:solidFill>
                    <a:srgbClr val="00B050"/>
                  </a:solidFill>
                </a:ln>
              </a:endParaRPr>
            </a:p>
          </p:txBody>
        </p:sp>
        <p:sp>
          <p:nvSpPr>
            <p:cNvPr id="34" name="Line 28"/>
            <p:cNvSpPr>
              <a:spLocks noChangeShapeType="1"/>
            </p:cNvSpPr>
            <p:nvPr/>
          </p:nvSpPr>
          <p:spPr bwMode="auto">
            <a:xfrm flipH="1">
              <a:off x="3124200" y="5149850"/>
              <a:ext cx="1905000" cy="0"/>
            </a:xfrm>
            <a:prstGeom prst="line">
              <a:avLst/>
            </a:prstGeom>
            <a:noFill/>
            <a:ln w="57150">
              <a:solidFill>
                <a:srgbClr val="FF0000"/>
              </a:solidFill>
              <a:round/>
              <a:headEnd/>
              <a:tailEnd type="triangle" w="med" len="med"/>
            </a:ln>
          </p:spPr>
          <p:txBody>
            <a:bodyPr lIns="0" tIns="0" rIns="0" bIns="0">
              <a:spAutoFit/>
            </a:bodyPr>
            <a:lstStyle/>
            <a:p>
              <a:endParaRPr lang="en-US" b="1"/>
            </a:p>
          </p:txBody>
        </p:sp>
        <p:sp>
          <p:nvSpPr>
            <p:cNvPr id="35" name="Line 29"/>
            <p:cNvSpPr>
              <a:spLocks noChangeShapeType="1"/>
            </p:cNvSpPr>
            <p:nvPr/>
          </p:nvSpPr>
          <p:spPr bwMode="auto">
            <a:xfrm flipH="1">
              <a:off x="1981200" y="2438400"/>
              <a:ext cx="1371600" cy="914400"/>
            </a:xfrm>
            <a:prstGeom prst="line">
              <a:avLst/>
            </a:prstGeom>
            <a:noFill/>
            <a:ln w="57150">
              <a:solidFill>
                <a:srgbClr val="FF0000"/>
              </a:solidFill>
              <a:round/>
              <a:headEnd/>
              <a:tailEnd type="triangle" w="med" len="med"/>
            </a:ln>
          </p:spPr>
          <p:txBody>
            <a:bodyPr lIns="0" tIns="0" rIns="0" bIns="0">
              <a:spAutoFit/>
            </a:bodyPr>
            <a:lstStyle/>
            <a:p>
              <a:endParaRPr lang="en-US" b="1"/>
            </a:p>
          </p:txBody>
        </p:sp>
        <p:sp>
          <p:nvSpPr>
            <p:cNvPr id="36" name="Text Box 30"/>
            <p:cNvSpPr txBox="1">
              <a:spLocks noChangeArrowheads="1"/>
            </p:cNvSpPr>
            <p:nvPr/>
          </p:nvSpPr>
          <p:spPr bwMode="auto">
            <a:xfrm>
              <a:off x="2823928" y="5181600"/>
              <a:ext cx="3048000" cy="479403"/>
            </a:xfrm>
            <a:prstGeom prst="rect">
              <a:avLst/>
            </a:prstGeom>
            <a:noFill/>
            <a:ln w="9525">
              <a:noFill/>
              <a:miter lim="800000"/>
              <a:headEnd/>
              <a:tailEnd/>
            </a:ln>
          </p:spPr>
          <p:txBody>
            <a:bodyPr wrap="square">
              <a:spAutoFit/>
            </a:bodyPr>
            <a:lstStyle/>
            <a:p>
              <a:pPr algn="l">
                <a:lnSpc>
                  <a:spcPct val="100000"/>
                </a:lnSpc>
                <a:spcBef>
                  <a:spcPct val="0"/>
                </a:spcBef>
              </a:pPr>
              <a:r>
                <a:rPr lang="en-GB" b="1" dirty="0">
                  <a:solidFill>
                    <a:srgbClr val="CC3300"/>
                  </a:solidFill>
                </a:rPr>
                <a:t>No traffic initiated</a:t>
              </a:r>
              <a:endParaRPr lang="en-US" b="1" dirty="0">
                <a:solidFill>
                  <a:srgbClr val="CC3300"/>
                </a:solidFill>
              </a:endParaRPr>
            </a:p>
          </p:txBody>
        </p:sp>
        <p:sp>
          <p:nvSpPr>
            <p:cNvPr id="37" name="Text Box 31"/>
            <p:cNvSpPr txBox="1">
              <a:spLocks noChangeArrowheads="1"/>
            </p:cNvSpPr>
            <p:nvPr/>
          </p:nvSpPr>
          <p:spPr bwMode="auto">
            <a:xfrm rot="19500000">
              <a:off x="2351707" y="2704311"/>
              <a:ext cx="1381025" cy="838955"/>
            </a:xfrm>
            <a:prstGeom prst="rect">
              <a:avLst/>
            </a:prstGeom>
            <a:noFill/>
            <a:ln w="9525">
              <a:noFill/>
              <a:miter lim="800000"/>
              <a:headEnd/>
              <a:tailEnd/>
            </a:ln>
          </p:spPr>
          <p:txBody>
            <a:bodyPr wrap="none">
              <a:spAutoFit/>
            </a:bodyPr>
            <a:lstStyle/>
            <a:p>
              <a:pPr algn="l">
                <a:lnSpc>
                  <a:spcPct val="100000"/>
                </a:lnSpc>
                <a:spcBef>
                  <a:spcPct val="0"/>
                </a:spcBef>
              </a:pPr>
              <a:r>
                <a:rPr lang="en-GB" b="1" dirty="0">
                  <a:solidFill>
                    <a:srgbClr val="CC3300"/>
                  </a:solidFill>
                </a:rPr>
                <a:t>No traffic </a:t>
              </a:r>
            </a:p>
            <a:p>
              <a:pPr algn="l">
                <a:lnSpc>
                  <a:spcPct val="100000"/>
                </a:lnSpc>
                <a:spcBef>
                  <a:spcPct val="0"/>
                </a:spcBef>
              </a:pPr>
              <a:r>
                <a:rPr lang="en-GB" b="1" dirty="0">
                  <a:solidFill>
                    <a:srgbClr val="CC3300"/>
                  </a:solidFill>
                </a:rPr>
                <a:t>initiated</a:t>
              </a:r>
              <a:endParaRPr lang="en-US" b="1" dirty="0">
                <a:solidFill>
                  <a:srgbClr val="CC3300"/>
                </a:solidFill>
              </a:endParaRPr>
            </a:p>
          </p:txBody>
        </p:sp>
        <p:sp>
          <p:nvSpPr>
            <p:cNvPr id="38" name="Text Box 32"/>
            <p:cNvSpPr txBox="1">
              <a:spLocks noChangeArrowheads="1"/>
            </p:cNvSpPr>
            <p:nvPr/>
          </p:nvSpPr>
          <p:spPr bwMode="auto">
            <a:xfrm rot="19577774">
              <a:off x="1025992" y="1862395"/>
              <a:ext cx="2237147" cy="838955"/>
            </a:xfrm>
            <a:prstGeom prst="rect">
              <a:avLst/>
            </a:prstGeom>
            <a:noFill/>
            <a:ln w="9525">
              <a:noFill/>
              <a:miter lim="800000"/>
              <a:headEnd/>
              <a:tailEnd/>
            </a:ln>
          </p:spPr>
          <p:txBody>
            <a:bodyPr wrap="none">
              <a:spAutoFit/>
            </a:bodyPr>
            <a:lstStyle/>
            <a:p>
              <a:pPr algn="l">
                <a:lnSpc>
                  <a:spcPct val="100000"/>
                </a:lnSpc>
                <a:spcBef>
                  <a:spcPct val="0"/>
                </a:spcBef>
              </a:pPr>
              <a:r>
                <a:rPr lang="en-GB" b="1" dirty="0">
                  <a:solidFill>
                    <a:srgbClr val="008000"/>
                  </a:solidFill>
                </a:rPr>
                <a:t>Services offered </a:t>
              </a:r>
            </a:p>
            <a:p>
              <a:pPr algn="l">
                <a:lnSpc>
                  <a:spcPct val="100000"/>
                </a:lnSpc>
                <a:spcBef>
                  <a:spcPct val="0"/>
                </a:spcBef>
              </a:pPr>
              <a:r>
                <a:rPr lang="en-GB" b="1" dirty="0">
                  <a:solidFill>
                    <a:srgbClr val="008000"/>
                  </a:solidFill>
                </a:rPr>
                <a:t>by bastion hosts</a:t>
              </a:r>
            </a:p>
          </p:txBody>
        </p:sp>
        <p:sp>
          <p:nvSpPr>
            <p:cNvPr id="39" name="Text Box 33"/>
            <p:cNvSpPr txBox="1">
              <a:spLocks noChangeArrowheads="1"/>
            </p:cNvSpPr>
            <p:nvPr/>
          </p:nvSpPr>
          <p:spPr bwMode="auto">
            <a:xfrm rot="1808649">
              <a:off x="4756747" y="1912382"/>
              <a:ext cx="2588164" cy="838955"/>
            </a:xfrm>
            <a:prstGeom prst="rect">
              <a:avLst/>
            </a:prstGeom>
            <a:noFill/>
            <a:ln w="9525">
              <a:noFill/>
              <a:miter lim="800000"/>
              <a:headEnd/>
              <a:tailEnd/>
            </a:ln>
          </p:spPr>
          <p:txBody>
            <a:bodyPr wrap="square">
              <a:spAutoFit/>
            </a:bodyPr>
            <a:lstStyle/>
            <a:p>
              <a:pPr algn="l"/>
              <a:r>
                <a:rPr lang="en-GB" b="1" dirty="0">
                  <a:solidFill>
                    <a:srgbClr val="008000"/>
                  </a:solidFill>
                </a:rPr>
                <a:t>Services offered </a:t>
              </a:r>
            </a:p>
            <a:p>
              <a:pPr algn="l"/>
              <a:r>
                <a:rPr lang="en-GB" b="1" dirty="0">
                  <a:solidFill>
                    <a:srgbClr val="008000"/>
                  </a:solidFill>
                </a:rPr>
                <a:t>by bastion hosts</a:t>
              </a:r>
              <a:endParaRPr lang="en-US" b="1" dirty="0">
                <a:solidFill>
                  <a:srgbClr val="008000"/>
                </a:solidFill>
              </a:endParaRPr>
            </a:p>
          </p:txBody>
        </p:sp>
        <p:sp>
          <p:nvSpPr>
            <p:cNvPr id="40" name="Text Box 34"/>
            <p:cNvSpPr txBox="1">
              <a:spLocks noChangeArrowheads="1"/>
            </p:cNvSpPr>
            <p:nvPr/>
          </p:nvSpPr>
          <p:spPr bwMode="auto">
            <a:xfrm>
              <a:off x="7010400" y="4876800"/>
              <a:ext cx="1313180" cy="461665"/>
            </a:xfrm>
            <a:prstGeom prst="rect">
              <a:avLst/>
            </a:prstGeom>
            <a:noFill/>
            <a:ln w="9525">
              <a:noFill/>
              <a:miter lim="800000"/>
              <a:headEnd/>
              <a:tailEnd/>
            </a:ln>
          </p:spPr>
          <p:txBody>
            <a:bodyPr wrap="none">
              <a:spAutoFit/>
            </a:bodyPr>
            <a:lstStyle/>
            <a:p>
              <a:pPr algn="l">
                <a:lnSpc>
                  <a:spcPct val="100000"/>
                </a:lnSpc>
                <a:spcBef>
                  <a:spcPct val="0"/>
                </a:spcBef>
              </a:pPr>
              <a:r>
                <a:rPr lang="en-GB" sz="2400" b="1" dirty="0">
                  <a:solidFill>
                    <a:srgbClr val="0000FF"/>
                  </a:solidFill>
                </a:rPr>
                <a:t>Internet</a:t>
              </a:r>
              <a:endParaRPr lang="en-US" sz="2400" b="1" dirty="0">
                <a:solidFill>
                  <a:srgbClr val="0000FF"/>
                </a:solidFill>
              </a:endParaRPr>
            </a:p>
          </p:txBody>
        </p:sp>
        <p:pic>
          <p:nvPicPr>
            <p:cNvPr id="41" name="Picture 2"/>
            <p:cNvPicPr>
              <a:picLocks noChangeAspect="1" noChangeArrowheads="1"/>
            </p:cNvPicPr>
            <p:nvPr/>
          </p:nvPicPr>
          <p:blipFill>
            <a:blip r:embed="rId3"/>
            <a:srcRect/>
            <a:stretch>
              <a:fillRect/>
            </a:stretch>
          </p:blipFill>
          <p:spPr bwMode="auto">
            <a:xfrm>
              <a:off x="3505200" y="990599"/>
              <a:ext cx="1086119" cy="1676401"/>
            </a:xfrm>
            <a:prstGeom prst="rect">
              <a:avLst/>
            </a:prstGeom>
            <a:noFill/>
            <a:ln w="9525">
              <a:noFill/>
              <a:miter lim="800000"/>
              <a:headEnd/>
              <a:tailEnd/>
            </a:ln>
            <a:effectLst/>
          </p:spPr>
        </p:pic>
        <p:pic>
          <p:nvPicPr>
            <p:cNvPr id="42" name="Picture 3"/>
            <p:cNvPicPr>
              <a:picLocks noChangeAspect="1" noChangeArrowheads="1"/>
            </p:cNvPicPr>
            <p:nvPr/>
          </p:nvPicPr>
          <p:blipFill>
            <a:blip r:embed="rId4"/>
            <a:srcRect/>
            <a:stretch>
              <a:fillRect/>
            </a:stretch>
          </p:blipFill>
          <p:spPr bwMode="auto">
            <a:xfrm>
              <a:off x="3526941" y="3505200"/>
              <a:ext cx="1121259" cy="1447800"/>
            </a:xfrm>
            <a:prstGeom prst="rect">
              <a:avLst/>
            </a:prstGeom>
            <a:noFill/>
            <a:ln w="9525">
              <a:noFill/>
              <a:miter lim="800000"/>
              <a:headEnd/>
              <a:tailEnd/>
            </a:ln>
            <a:effectLst/>
          </p:spPr>
        </p:pic>
        <p:pic>
          <p:nvPicPr>
            <p:cNvPr id="43" name="Picture 5"/>
            <p:cNvPicPr>
              <a:picLocks noChangeAspect="1" noChangeArrowheads="1"/>
            </p:cNvPicPr>
            <p:nvPr/>
          </p:nvPicPr>
          <p:blipFill>
            <a:blip r:embed="rId5"/>
            <a:srcRect/>
            <a:stretch>
              <a:fillRect/>
            </a:stretch>
          </p:blipFill>
          <p:spPr bwMode="auto">
            <a:xfrm>
              <a:off x="6705600" y="3124200"/>
              <a:ext cx="1743075" cy="1743075"/>
            </a:xfrm>
            <a:prstGeom prst="rect">
              <a:avLst/>
            </a:prstGeom>
            <a:noFill/>
            <a:ln w="9525">
              <a:noFill/>
              <a:miter lim="800000"/>
              <a:headEnd/>
              <a:tailEnd/>
            </a:ln>
            <a:effectLst/>
          </p:spPr>
        </p:pic>
        <p:cxnSp>
          <p:nvCxnSpPr>
            <p:cNvPr id="44" name="Straight Arrow Connector 43"/>
            <p:cNvCxnSpPr/>
            <p:nvPr/>
          </p:nvCxnSpPr>
          <p:spPr bwMode="auto">
            <a:xfrm flipH="1">
              <a:off x="1371600" y="2019300"/>
              <a:ext cx="1981200" cy="1333500"/>
            </a:xfrm>
            <a:prstGeom prst="straightConnector1">
              <a:avLst/>
            </a:prstGeom>
            <a:solidFill>
              <a:schemeClr val="accent1"/>
            </a:solidFill>
            <a:ln w="38100" cap="flat" cmpd="sng" algn="ctr">
              <a:solidFill>
                <a:srgbClr val="008000"/>
              </a:solidFill>
              <a:prstDash val="solid"/>
              <a:round/>
              <a:headEnd type="arrow"/>
              <a:tailEnd type="arrow"/>
            </a:ln>
            <a:effectLst/>
          </p:spPr>
        </p:cxnSp>
        <p:cxnSp>
          <p:nvCxnSpPr>
            <p:cNvPr id="45" name="Straight Arrow Connector 44"/>
            <p:cNvCxnSpPr/>
            <p:nvPr/>
          </p:nvCxnSpPr>
          <p:spPr bwMode="auto">
            <a:xfrm flipH="1" flipV="1">
              <a:off x="4648201" y="2057400"/>
              <a:ext cx="2057399" cy="1295402"/>
            </a:xfrm>
            <a:prstGeom prst="straightConnector1">
              <a:avLst/>
            </a:prstGeom>
            <a:solidFill>
              <a:schemeClr val="accent1"/>
            </a:solidFill>
            <a:ln w="38100" cap="flat" cmpd="sng" algn="ctr">
              <a:solidFill>
                <a:srgbClr val="008000"/>
              </a:solidFill>
              <a:prstDash val="solid"/>
              <a:round/>
              <a:headEnd type="arrow"/>
              <a:tailEnd type="arrow"/>
            </a:ln>
            <a:effectLst/>
          </p:spPr>
        </p:cxnSp>
        <p:cxnSp>
          <p:nvCxnSpPr>
            <p:cNvPr id="46" name="Straight Arrow Connector 45"/>
            <p:cNvCxnSpPr/>
            <p:nvPr/>
          </p:nvCxnSpPr>
          <p:spPr bwMode="auto">
            <a:xfrm flipH="1">
              <a:off x="2590800" y="5941438"/>
              <a:ext cx="3657600" cy="0"/>
            </a:xfrm>
            <a:prstGeom prst="straightConnector1">
              <a:avLst/>
            </a:prstGeom>
            <a:solidFill>
              <a:schemeClr val="accent1"/>
            </a:solidFill>
            <a:ln w="38100" cap="flat" cmpd="sng" algn="ctr">
              <a:solidFill>
                <a:srgbClr val="008000"/>
              </a:solidFill>
              <a:prstDash val="solid"/>
              <a:round/>
              <a:headEnd type="arrow"/>
              <a:tailEnd type="arrow"/>
            </a:ln>
            <a:effectLst/>
          </p:spPr>
        </p:cxnSp>
        <p:sp>
          <p:nvSpPr>
            <p:cNvPr id="47" name="Text Box 32"/>
            <p:cNvSpPr txBox="1">
              <a:spLocks noChangeArrowheads="1"/>
            </p:cNvSpPr>
            <p:nvPr/>
          </p:nvSpPr>
          <p:spPr bwMode="auto">
            <a:xfrm>
              <a:off x="2436265" y="5941438"/>
              <a:ext cx="4078226" cy="479403"/>
            </a:xfrm>
            <a:prstGeom prst="rect">
              <a:avLst/>
            </a:prstGeom>
            <a:noFill/>
            <a:ln w="9525">
              <a:noFill/>
              <a:miter lim="800000"/>
              <a:headEnd/>
              <a:tailEnd/>
            </a:ln>
          </p:spPr>
          <p:txBody>
            <a:bodyPr wrap="square">
              <a:spAutoFit/>
            </a:bodyPr>
            <a:lstStyle/>
            <a:p>
              <a:pPr algn="l">
                <a:lnSpc>
                  <a:spcPct val="100000"/>
                </a:lnSpc>
                <a:spcBef>
                  <a:spcPct val="0"/>
                </a:spcBef>
              </a:pPr>
              <a:r>
                <a:rPr lang="en-GB" b="1" dirty="0">
                  <a:solidFill>
                    <a:srgbClr val="008000"/>
                  </a:solidFill>
                </a:rPr>
                <a:t>Services offered by Internet </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400" dirty="0"/>
              <a:t>General Guidelines - Firewall Rules</a:t>
            </a:r>
            <a:endParaRPr lang="en-SG" sz="4400" dirty="0"/>
          </a:p>
        </p:txBody>
      </p:sp>
      <p:sp>
        <p:nvSpPr>
          <p:cNvPr id="3" name="Content Placeholder 2"/>
          <p:cNvSpPr>
            <a:spLocks noGrp="1"/>
          </p:cNvSpPr>
          <p:nvPr>
            <p:ph idx="1"/>
          </p:nvPr>
        </p:nvSpPr>
        <p:spPr/>
        <p:txBody>
          <a:bodyPr>
            <a:normAutofit/>
          </a:bodyPr>
          <a:lstStyle/>
          <a:p>
            <a:r>
              <a:rPr lang="en-GB" sz="2400" dirty="0"/>
              <a:t>Internet &amp; DMZ</a:t>
            </a:r>
          </a:p>
          <a:p>
            <a:pPr lvl="1"/>
            <a:r>
              <a:rPr lang="en-GB" sz="2400" dirty="0"/>
              <a:t>Allow public users to access bastion hosts in DMZ</a:t>
            </a:r>
          </a:p>
          <a:p>
            <a:r>
              <a:rPr lang="en-GB" sz="2400" dirty="0"/>
              <a:t>Internal Network &amp; Internet</a:t>
            </a:r>
          </a:p>
          <a:p>
            <a:pPr lvl="1"/>
            <a:r>
              <a:rPr lang="en-GB" sz="2400" dirty="0"/>
              <a:t>Allow internal network to access Internet, e.g. web traffic, DNS, email</a:t>
            </a:r>
          </a:p>
          <a:p>
            <a:pPr lvl="1"/>
            <a:r>
              <a:rPr lang="en-GB" sz="2400" dirty="0"/>
              <a:t>Deny traffic initiated from Internet to internal network</a:t>
            </a:r>
          </a:p>
          <a:p>
            <a:r>
              <a:rPr lang="en-GB" sz="2400" dirty="0"/>
              <a:t>Internal Network &amp; DMZ</a:t>
            </a:r>
          </a:p>
          <a:p>
            <a:pPr lvl="1"/>
            <a:r>
              <a:rPr lang="en-GB" sz="2400" dirty="0"/>
              <a:t>Allow internal network to access bastion hosts in DMZ, e.g. web traffic, DNS, email</a:t>
            </a:r>
          </a:p>
          <a:p>
            <a:pPr lvl="1"/>
            <a:r>
              <a:rPr lang="en-GB" sz="2400" dirty="0"/>
              <a:t>Deny traffic initiated from DMZ to internal network</a:t>
            </a:r>
          </a:p>
          <a:p>
            <a:endParaRPr lang="en-GB" sz="2400" dirty="0"/>
          </a:p>
          <a:p>
            <a:endParaRPr lang="en-SG" sz="2400" dirty="0"/>
          </a:p>
        </p:txBody>
      </p:sp>
    </p:spTree>
    <p:extLst>
      <p:ext uri="{BB962C8B-B14F-4D97-AF65-F5344CB8AC3E}">
        <p14:creationId xmlns:p14="http://schemas.microsoft.com/office/powerpoint/2010/main" val="31764701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3"/>
          <a:srcRect/>
          <a:stretch>
            <a:fillRect/>
          </a:stretch>
        </p:blipFill>
        <p:spPr bwMode="auto">
          <a:xfrm>
            <a:off x="4953000" y="1905000"/>
            <a:ext cx="1714500" cy="914400"/>
          </a:xfrm>
          <a:prstGeom prst="rect">
            <a:avLst/>
          </a:prstGeom>
          <a:noFill/>
          <a:ln w="9525">
            <a:noFill/>
            <a:miter lim="800000"/>
            <a:headEnd/>
            <a:tailEnd/>
          </a:ln>
          <a:effectLst/>
        </p:spPr>
      </p:pic>
      <p:sp>
        <p:nvSpPr>
          <p:cNvPr id="3077" name="Rectangle 2"/>
          <p:cNvSpPr>
            <a:spLocks noGrp="1" noChangeArrowheads="1"/>
          </p:cNvSpPr>
          <p:nvPr>
            <p:ph type="title" sz="quarter"/>
          </p:nvPr>
        </p:nvSpPr>
        <p:spPr>
          <a:xfrm>
            <a:off x="0" y="214313"/>
            <a:ext cx="7948613" cy="990600"/>
          </a:xfrm>
        </p:spPr>
        <p:txBody>
          <a:bodyPr>
            <a:noAutofit/>
          </a:bodyPr>
          <a:lstStyle/>
          <a:p>
            <a:pPr marL="284163" indent="-4763" eaLnBrk="1" hangingPunct="1"/>
            <a:r>
              <a:rPr lang="en-US" sz="4000" dirty="0"/>
              <a:t>Single-Site Firewall Architecture for a Larger Firm</a:t>
            </a:r>
          </a:p>
        </p:txBody>
      </p:sp>
      <p:graphicFrame>
        <p:nvGraphicFramePr>
          <p:cNvPr id="3075" name="Object 3"/>
          <p:cNvGraphicFramePr>
            <a:graphicFrameLocks noGrp="1" noChangeAspect="1"/>
          </p:cNvGraphicFramePr>
          <p:nvPr>
            <p:ph sz="quarter" idx="2"/>
          </p:nvPr>
        </p:nvGraphicFramePr>
        <p:xfrm>
          <a:off x="495300" y="4086225"/>
          <a:ext cx="455613" cy="455613"/>
        </p:xfrm>
        <a:graphic>
          <a:graphicData uri="http://schemas.openxmlformats.org/presentationml/2006/ole">
            <mc:AlternateContent xmlns:mc="http://schemas.openxmlformats.org/markup-compatibility/2006">
              <mc:Choice xmlns:v="urn:schemas-microsoft-com:vml" Requires="v">
                <p:oleObj spid="_x0000_s3158" name="VISIO" r:id="rId4" imgW="389495" imgH="389495" progId="Visio.Drawing.11">
                  <p:embed/>
                </p:oleObj>
              </mc:Choice>
              <mc:Fallback>
                <p:oleObj name="VISIO" r:id="rId4" imgW="389495" imgH="389495" progId="Visio.Drawing.11">
                  <p:embed/>
                  <p:pic>
                    <p:nvPicPr>
                      <p:cNvPr id="0" name="Picture 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 y="4086225"/>
                        <a:ext cx="455613"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100" name="Picture 26" descr="MACPOWRI"/>
          <p:cNvPicPr>
            <a:picLocks noGrp="1" noChangeAspect="1" noChangeArrowheads="1"/>
          </p:cNvPicPr>
          <p:nvPr>
            <p:ph sz="quarter" idx="3"/>
          </p:nvPr>
        </p:nvPicPr>
        <p:blipFill>
          <a:blip r:embed="rId6"/>
          <a:srcRect/>
          <a:stretch>
            <a:fillRect/>
          </a:stretch>
        </p:blipFill>
        <p:spPr>
          <a:xfrm>
            <a:off x="762000" y="4038600"/>
            <a:ext cx="808038" cy="906463"/>
          </a:xfrm>
          <a:noFill/>
        </p:spPr>
      </p:pic>
      <p:pic>
        <p:nvPicPr>
          <p:cNvPr id="3078" name="Picture 3" descr="FILSERVI"/>
          <p:cNvPicPr>
            <a:picLocks noGrp="1" noChangeAspect="1" noChangeArrowheads="1"/>
          </p:cNvPicPr>
          <p:nvPr>
            <p:ph sz="quarter" idx="4"/>
          </p:nvPr>
        </p:nvPicPr>
        <p:blipFill>
          <a:blip r:embed="rId7"/>
          <a:srcRect/>
          <a:stretch>
            <a:fillRect/>
          </a:stretch>
        </p:blipFill>
        <p:spPr>
          <a:xfrm>
            <a:off x="1870075" y="4025900"/>
            <a:ext cx="542925" cy="930275"/>
          </a:xfrm>
          <a:noFill/>
        </p:spPr>
      </p:pic>
      <p:sp>
        <p:nvSpPr>
          <p:cNvPr id="3080" name="Line 5"/>
          <p:cNvSpPr>
            <a:spLocks noChangeShapeType="1"/>
          </p:cNvSpPr>
          <p:nvPr/>
        </p:nvSpPr>
        <p:spPr bwMode="auto">
          <a:xfrm flipH="1">
            <a:off x="6248400" y="2286000"/>
            <a:ext cx="609600" cy="0"/>
          </a:xfrm>
          <a:prstGeom prst="line">
            <a:avLst/>
          </a:prstGeom>
          <a:noFill/>
          <a:ln w="9525">
            <a:solidFill>
              <a:schemeClr val="tx1"/>
            </a:solidFill>
            <a:round/>
            <a:headEnd/>
            <a:tailEnd/>
          </a:ln>
        </p:spPr>
        <p:txBody>
          <a:bodyPr/>
          <a:lstStyle/>
          <a:p>
            <a:endParaRPr lang="en-US"/>
          </a:p>
        </p:txBody>
      </p:sp>
      <p:sp>
        <p:nvSpPr>
          <p:cNvPr id="3081" name="Line 6"/>
          <p:cNvSpPr>
            <a:spLocks noChangeShapeType="1"/>
          </p:cNvSpPr>
          <p:nvPr/>
        </p:nvSpPr>
        <p:spPr bwMode="auto">
          <a:xfrm flipH="1">
            <a:off x="4343400" y="2362200"/>
            <a:ext cx="762000" cy="0"/>
          </a:xfrm>
          <a:prstGeom prst="line">
            <a:avLst/>
          </a:prstGeom>
          <a:noFill/>
          <a:ln w="9525">
            <a:solidFill>
              <a:schemeClr val="tx1"/>
            </a:solidFill>
            <a:round/>
            <a:headEnd/>
            <a:tailEnd/>
          </a:ln>
        </p:spPr>
        <p:txBody>
          <a:bodyPr/>
          <a:lstStyle/>
          <a:p>
            <a:endParaRPr lang="en-US"/>
          </a:p>
        </p:txBody>
      </p:sp>
      <p:sp>
        <p:nvSpPr>
          <p:cNvPr id="3082" name="Line 7"/>
          <p:cNvSpPr>
            <a:spLocks noChangeShapeType="1"/>
          </p:cNvSpPr>
          <p:nvPr/>
        </p:nvSpPr>
        <p:spPr bwMode="auto">
          <a:xfrm flipH="1">
            <a:off x="1676400" y="2362200"/>
            <a:ext cx="2209800" cy="0"/>
          </a:xfrm>
          <a:prstGeom prst="line">
            <a:avLst/>
          </a:prstGeom>
          <a:noFill/>
          <a:ln w="9525">
            <a:solidFill>
              <a:schemeClr val="tx1"/>
            </a:solidFill>
            <a:round/>
            <a:headEnd/>
            <a:tailEnd/>
          </a:ln>
        </p:spPr>
        <p:txBody>
          <a:bodyPr/>
          <a:lstStyle/>
          <a:p>
            <a:endParaRPr lang="en-US"/>
          </a:p>
        </p:txBody>
      </p:sp>
      <p:sp>
        <p:nvSpPr>
          <p:cNvPr id="3083" name="Line 8"/>
          <p:cNvSpPr>
            <a:spLocks noChangeShapeType="1"/>
          </p:cNvSpPr>
          <p:nvPr/>
        </p:nvSpPr>
        <p:spPr bwMode="auto">
          <a:xfrm flipH="1">
            <a:off x="1143000" y="2971800"/>
            <a:ext cx="152400" cy="990600"/>
          </a:xfrm>
          <a:prstGeom prst="line">
            <a:avLst/>
          </a:prstGeom>
          <a:noFill/>
          <a:ln w="9525">
            <a:solidFill>
              <a:schemeClr val="tx1"/>
            </a:solidFill>
            <a:round/>
            <a:headEnd/>
            <a:tailEnd/>
          </a:ln>
        </p:spPr>
        <p:txBody>
          <a:bodyPr/>
          <a:lstStyle/>
          <a:p>
            <a:endParaRPr lang="en-US"/>
          </a:p>
        </p:txBody>
      </p:sp>
      <p:sp>
        <p:nvSpPr>
          <p:cNvPr id="3084" name="Line 9"/>
          <p:cNvSpPr>
            <a:spLocks noChangeShapeType="1"/>
          </p:cNvSpPr>
          <p:nvPr/>
        </p:nvSpPr>
        <p:spPr bwMode="auto">
          <a:xfrm>
            <a:off x="1524000" y="2971800"/>
            <a:ext cx="533400" cy="990600"/>
          </a:xfrm>
          <a:prstGeom prst="line">
            <a:avLst/>
          </a:prstGeom>
          <a:noFill/>
          <a:ln w="9525">
            <a:solidFill>
              <a:schemeClr val="tx1"/>
            </a:solidFill>
            <a:round/>
            <a:headEnd/>
            <a:tailEnd/>
          </a:ln>
        </p:spPr>
        <p:txBody>
          <a:bodyPr/>
          <a:lstStyle/>
          <a:p>
            <a:endParaRPr lang="en-US"/>
          </a:p>
        </p:txBody>
      </p:sp>
      <p:sp>
        <p:nvSpPr>
          <p:cNvPr id="3085" name="Line 10"/>
          <p:cNvSpPr>
            <a:spLocks noChangeShapeType="1"/>
          </p:cNvSpPr>
          <p:nvPr/>
        </p:nvSpPr>
        <p:spPr bwMode="auto">
          <a:xfrm>
            <a:off x="4114800" y="2895600"/>
            <a:ext cx="0" cy="1600200"/>
          </a:xfrm>
          <a:prstGeom prst="line">
            <a:avLst/>
          </a:prstGeom>
          <a:noFill/>
          <a:ln w="9525">
            <a:solidFill>
              <a:schemeClr val="tx1"/>
            </a:solidFill>
            <a:round/>
            <a:headEnd/>
            <a:tailEnd/>
          </a:ln>
        </p:spPr>
        <p:txBody>
          <a:bodyPr/>
          <a:lstStyle/>
          <a:p>
            <a:endParaRPr lang="en-US"/>
          </a:p>
        </p:txBody>
      </p:sp>
      <p:sp>
        <p:nvSpPr>
          <p:cNvPr id="3086" name="Line 11"/>
          <p:cNvSpPr>
            <a:spLocks noChangeShapeType="1"/>
          </p:cNvSpPr>
          <p:nvPr/>
        </p:nvSpPr>
        <p:spPr bwMode="auto">
          <a:xfrm>
            <a:off x="4114800" y="4495800"/>
            <a:ext cx="533400" cy="0"/>
          </a:xfrm>
          <a:prstGeom prst="line">
            <a:avLst/>
          </a:prstGeom>
          <a:noFill/>
          <a:ln w="9525">
            <a:solidFill>
              <a:schemeClr val="tx1"/>
            </a:solidFill>
            <a:round/>
            <a:headEnd/>
            <a:tailEnd/>
          </a:ln>
        </p:spPr>
        <p:txBody>
          <a:bodyPr/>
          <a:lstStyle/>
          <a:p>
            <a:endParaRPr lang="en-US"/>
          </a:p>
        </p:txBody>
      </p:sp>
      <p:sp>
        <p:nvSpPr>
          <p:cNvPr id="3087" name="Text Box 12"/>
          <p:cNvSpPr txBox="1">
            <a:spLocks noChangeArrowheads="1"/>
          </p:cNvSpPr>
          <p:nvPr/>
        </p:nvSpPr>
        <p:spPr bwMode="auto">
          <a:xfrm>
            <a:off x="1752600" y="2438400"/>
            <a:ext cx="2057400" cy="366713"/>
          </a:xfrm>
          <a:prstGeom prst="rect">
            <a:avLst/>
          </a:prstGeom>
          <a:noFill/>
          <a:ln w="9525">
            <a:noFill/>
            <a:miter lim="800000"/>
            <a:headEnd/>
            <a:tailEnd/>
          </a:ln>
        </p:spPr>
        <p:txBody>
          <a:bodyPr>
            <a:spAutoFit/>
          </a:bodyPr>
          <a:lstStyle/>
          <a:p>
            <a:pPr>
              <a:spcBef>
                <a:spcPct val="50000"/>
              </a:spcBef>
            </a:pPr>
            <a:r>
              <a:rPr lang="en-US"/>
              <a:t>172.18.9.x Subnet</a:t>
            </a:r>
          </a:p>
        </p:txBody>
      </p:sp>
      <p:sp>
        <p:nvSpPr>
          <p:cNvPr id="3088" name="Text Box 13"/>
          <p:cNvSpPr txBox="1">
            <a:spLocks noChangeArrowheads="1"/>
          </p:cNvSpPr>
          <p:nvPr/>
        </p:nvSpPr>
        <p:spPr bwMode="auto">
          <a:xfrm>
            <a:off x="152400" y="5029200"/>
            <a:ext cx="1752600" cy="1190625"/>
          </a:xfrm>
          <a:prstGeom prst="rect">
            <a:avLst/>
          </a:prstGeom>
          <a:noFill/>
          <a:ln w="9525">
            <a:noFill/>
            <a:miter lim="800000"/>
            <a:headEnd/>
            <a:tailEnd/>
          </a:ln>
        </p:spPr>
        <p:txBody>
          <a:bodyPr>
            <a:spAutoFit/>
          </a:bodyPr>
          <a:lstStyle/>
          <a:p>
            <a:pPr>
              <a:spcBef>
                <a:spcPct val="50000"/>
              </a:spcBef>
            </a:pPr>
            <a:r>
              <a:rPr lang="en-US"/>
              <a:t>Marketing Client on 172.18.5.x Subnet</a:t>
            </a:r>
          </a:p>
        </p:txBody>
      </p:sp>
      <p:sp>
        <p:nvSpPr>
          <p:cNvPr id="3089" name="Text Box 14"/>
          <p:cNvSpPr txBox="1">
            <a:spLocks noChangeArrowheads="1"/>
          </p:cNvSpPr>
          <p:nvPr/>
        </p:nvSpPr>
        <p:spPr bwMode="auto">
          <a:xfrm>
            <a:off x="1752600" y="5029200"/>
            <a:ext cx="1371600" cy="1190625"/>
          </a:xfrm>
          <a:prstGeom prst="rect">
            <a:avLst/>
          </a:prstGeom>
          <a:noFill/>
          <a:ln w="9525">
            <a:noFill/>
            <a:miter lim="800000"/>
            <a:headEnd/>
            <a:tailEnd/>
          </a:ln>
        </p:spPr>
        <p:txBody>
          <a:bodyPr>
            <a:spAutoFit/>
          </a:bodyPr>
          <a:lstStyle/>
          <a:p>
            <a:pPr>
              <a:spcBef>
                <a:spcPct val="50000"/>
              </a:spcBef>
            </a:pPr>
            <a:r>
              <a:rPr lang="en-US"/>
              <a:t>Accounting Server on 172.18.7.x Subnet</a:t>
            </a:r>
          </a:p>
        </p:txBody>
      </p:sp>
      <p:sp>
        <p:nvSpPr>
          <p:cNvPr id="3090" name="Text Box 15"/>
          <p:cNvSpPr txBox="1">
            <a:spLocks noChangeArrowheads="1"/>
          </p:cNvSpPr>
          <p:nvPr/>
        </p:nvSpPr>
        <p:spPr bwMode="auto">
          <a:xfrm>
            <a:off x="3581400" y="4495800"/>
            <a:ext cx="1295400" cy="366713"/>
          </a:xfrm>
          <a:prstGeom prst="rect">
            <a:avLst/>
          </a:prstGeom>
          <a:noFill/>
          <a:ln w="9525">
            <a:noFill/>
            <a:miter lim="800000"/>
            <a:headEnd/>
            <a:tailEnd/>
          </a:ln>
        </p:spPr>
        <p:txBody>
          <a:bodyPr>
            <a:spAutoFit/>
          </a:bodyPr>
          <a:lstStyle/>
          <a:p>
            <a:pPr>
              <a:spcBef>
                <a:spcPct val="50000"/>
              </a:spcBef>
            </a:pPr>
            <a:r>
              <a:rPr lang="en-US"/>
              <a:t>DMZ</a:t>
            </a:r>
          </a:p>
        </p:txBody>
      </p:sp>
      <p:sp>
        <p:nvSpPr>
          <p:cNvPr id="3091" name="Rectangle 16"/>
          <p:cNvSpPr>
            <a:spLocks noChangeArrowheads="1"/>
          </p:cNvSpPr>
          <p:nvPr/>
        </p:nvSpPr>
        <p:spPr bwMode="auto">
          <a:xfrm>
            <a:off x="4648200" y="2971800"/>
            <a:ext cx="4114800" cy="3200400"/>
          </a:xfrm>
          <a:prstGeom prst="rect">
            <a:avLst/>
          </a:prstGeom>
          <a:solidFill>
            <a:srgbClr val="99CC00">
              <a:alpha val="10196"/>
            </a:srgbClr>
          </a:solidFill>
          <a:ln w="9525">
            <a:solidFill>
              <a:schemeClr val="tx1"/>
            </a:solidFill>
            <a:miter lim="800000"/>
            <a:headEnd/>
            <a:tailEnd/>
          </a:ln>
        </p:spPr>
        <p:txBody>
          <a:bodyPr wrap="none" anchor="ctr"/>
          <a:lstStyle/>
          <a:p>
            <a:endParaRPr lang="en-US"/>
          </a:p>
        </p:txBody>
      </p:sp>
      <p:pic>
        <p:nvPicPr>
          <p:cNvPr id="3092" name="Picture 17" descr="FILSERVI"/>
          <p:cNvPicPr>
            <a:picLocks noChangeAspect="1" noChangeArrowheads="1"/>
          </p:cNvPicPr>
          <p:nvPr/>
        </p:nvPicPr>
        <p:blipFill>
          <a:blip r:embed="rId7"/>
          <a:srcRect/>
          <a:stretch>
            <a:fillRect/>
          </a:stretch>
        </p:blipFill>
        <p:spPr bwMode="auto">
          <a:xfrm>
            <a:off x="4876800" y="4038600"/>
            <a:ext cx="509588" cy="881063"/>
          </a:xfrm>
          <a:prstGeom prst="rect">
            <a:avLst/>
          </a:prstGeom>
          <a:noFill/>
          <a:ln w="9525">
            <a:noFill/>
            <a:miter lim="800000"/>
            <a:headEnd/>
            <a:tailEnd/>
          </a:ln>
        </p:spPr>
      </p:pic>
      <p:pic>
        <p:nvPicPr>
          <p:cNvPr id="3093" name="Picture 18" descr="FILSERVI"/>
          <p:cNvPicPr>
            <a:picLocks noChangeAspect="1" noChangeArrowheads="1"/>
          </p:cNvPicPr>
          <p:nvPr/>
        </p:nvPicPr>
        <p:blipFill>
          <a:blip r:embed="rId7"/>
          <a:srcRect/>
          <a:stretch>
            <a:fillRect/>
          </a:stretch>
        </p:blipFill>
        <p:spPr bwMode="auto">
          <a:xfrm>
            <a:off x="5867400" y="4038600"/>
            <a:ext cx="509588" cy="881063"/>
          </a:xfrm>
          <a:prstGeom prst="rect">
            <a:avLst/>
          </a:prstGeom>
          <a:noFill/>
          <a:ln w="9525">
            <a:noFill/>
            <a:miter lim="800000"/>
            <a:headEnd/>
            <a:tailEnd/>
          </a:ln>
        </p:spPr>
      </p:pic>
      <p:pic>
        <p:nvPicPr>
          <p:cNvPr id="3094" name="Picture 19" descr="FILSERVI"/>
          <p:cNvPicPr>
            <a:picLocks noChangeAspect="1" noChangeArrowheads="1"/>
          </p:cNvPicPr>
          <p:nvPr/>
        </p:nvPicPr>
        <p:blipFill>
          <a:blip r:embed="rId7"/>
          <a:srcRect/>
          <a:stretch>
            <a:fillRect/>
          </a:stretch>
        </p:blipFill>
        <p:spPr bwMode="auto">
          <a:xfrm>
            <a:off x="6781800" y="4038600"/>
            <a:ext cx="509588" cy="881063"/>
          </a:xfrm>
          <a:prstGeom prst="rect">
            <a:avLst/>
          </a:prstGeom>
          <a:noFill/>
          <a:ln w="9525">
            <a:noFill/>
            <a:miter lim="800000"/>
            <a:headEnd/>
            <a:tailEnd/>
          </a:ln>
        </p:spPr>
      </p:pic>
      <p:pic>
        <p:nvPicPr>
          <p:cNvPr id="3095" name="Picture 20" descr="FILSERVI"/>
          <p:cNvPicPr>
            <a:picLocks noChangeAspect="1" noChangeArrowheads="1"/>
          </p:cNvPicPr>
          <p:nvPr/>
        </p:nvPicPr>
        <p:blipFill>
          <a:blip r:embed="rId7"/>
          <a:srcRect/>
          <a:stretch>
            <a:fillRect/>
          </a:stretch>
        </p:blipFill>
        <p:spPr bwMode="auto">
          <a:xfrm>
            <a:off x="7948613" y="4038600"/>
            <a:ext cx="509587" cy="881063"/>
          </a:xfrm>
          <a:prstGeom prst="rect">
            <a:avLst/>
          </a:prstGeom>
          <a:noFill/>
          <a:ln w="9525">
            <a:noFill/>
            <a:miter lim="800000"/>
            <a:headEnd/>
            <a:tailEnd/>
          </a:ln>
        </p:spPr>
      </p:pic>
      <p:graphicFrame>
        <p:nvGraphicFramePr>
          <p:cNvPr id="3074" name="Object 2"/>
          <p:cNvGraphicFramePr>
            <a:graphicFrameLocks noChangeAspect="1"/>
          </p:cNvGraphicFramePr>
          <p:nvPr/>
        </p:nvGraphicFramePr>
        <p:xfrm>
          <a:off x="4724400" y="4191000"/>
          <a:ext cx="457200" cy="455613"/>
        </p:xfrm>
        <a:graphic>
          <a:graphicData uri="http://schemas.openxmlformats.org/presentationml/2006/ole">
            <mc:AlternateContent xmlns:mc="http://schemas.openxmlformats.org/markup-compatibility/2006">
              <mc:Choice xmlns:v="urn:schemas-microsoft-com:vml" Requires="v">
                <p:oleObj spid="_x0000_s3159" name="VISIO" r:id="rId8" imgW="389495" imgH="389495" progId="Visio.Drawing.11">
                  <p:embed/>
                </p:oleObj>
              </mc:Choice>
              <mc:Fallback>
                <p:oleObj name="VISIO" r:id="rId8" imgW="389495" imgH="389495" progId="Visio.Drawing.11">
                  <p:embed/>
                  <p:pic>
                    <p:nvPicPr>
                      <p:cNvPr id="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4191000"/>
                        <a:ext cx="4572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96" name="Text Box 22"/>
          <p:cNvSpPr txBox="1">
            <a:spLocks noChangeArrowheads="1"/>
          </p:cNvSpPr>
          <p:nvPr/>
        </p:nvSpPr>
        <p:spPr bwMode="auto">
          <a:xfrm>
            <a:off x="4648200" y="3124200"/>
            <a:ext cx="1295400" cy="915988"/>
          </a:xfrm>
          <a:prstGeom prst="rect">
            <a:avLst/>
          </a:prstGeom>
          <a:noFill/>
          <a:ln w="9525">
            <a:noFill/>
            <a:miter lim="800000"/>
            <a:headEnd/>
            <a:tailEnd/>
          </a:ln>
        </p:spPr>
        <p:txBody>
          <a:bodyPr>
            <a:spAutoFit/>
          </a:bodyPr>
          <a:lstStyle/>
          <a:p>
            <a:pPr>
              <a:spcBef>
                <a:spcPct val="50000"/>
              </a:spcBef>
            </a:pPr>
            <a:r>
              <a:rPr lang="en-US"/>
              <a:t>Public Webserver 60.47.3.9</a:t>
            </a:r>
          </a:p>
        </p:txBody>
      </p:sp>
      <p:sp>
        <p:nvSpPr>
          <p:cNvPr id="3097" name="Text Box 23"/>
          <p:cNvSpPr txBox="1">
            <a:spLocks noChangeArrowheads="1"/>
          </p:cNvSpPr>
          <p:nvPr/>
        </p:nvSpPr>
        <p:spPr bwMode="auto">
          <a:xfrm>
            <a:off x="5257800" y="4949825"/>
            <a:ext cx="1371600" cy="1190625"/>
          </a:xfrm>
          <a:prstGeom prst="rect">
            <a:avLst/>
          </a:prstGeom>
          <a:noFill/>
          <a:ln w="9525">
            <a:noFill/>
            <a:miter lim="800000"/>
            <a:headEnd/>
            <a:tailEnd/>
          </a:ln>
        </p:spPr>
        <p:txBody>
          <a:bodyPr>
            <a:spAutoFit/>
          </a:bodyPr>
          <a:lstStyle/>
          <a:p>
            <a:pPr>
              <a:spcBef>
                <a:spcPct val="50000"/>
              </a:spcBef>
            </a:pPr>
            <a:r>
              <a:rPr lang="en-US"/>
              <a:t>SMTP Relay Proxy 60.47.3.10</a:t>
            </a:r>
          </a:p>
        </p:txBody>
      </p:sp>
      <p:sp>
        <p:nvSpPr>
          <p:cNvPr id="3098" name="Text Box 24"/>
          <p:cNvSpPr txBox="1">
            <a:spLocks noChangeArrowheads="1"/>
          </p:cNvSpPr>
          <p:nvPr/>
        </p:nvSpPr>
        <p:spPr bwMode="auto">
          <a:xfrm>
            <a:off x="6705600" y="4953000"/>
            <a:ext cx="1371600" cy="1190625"/>
          </a:xfrm>
          <a:prstGeom prst="rect">
            <a:avLst/>
          </a:prstGeom>
          <a:noFill/>
          <a:ln w="9525">
            <a:noFill/>
            <a:miter lim="800000"/>
            <a:headEnd/>
            <a:tailEnd/>
          </a:ln>
        </p:spPr>
        <p:txBody>
          <a:bodyPr>
            <a:spAutoFit/>
          </a:bodyPr>
          <a:lstStyle/>
          <a:p>
            <a:pPr>
              <a:spcBef>
                <a:spcPct val="50000"/>
              </a:spcBef>
            </a:pPr>
            <a:r>
              <a:rPr lang="en-US"/>
              <a:t>HTTP</a:t>
            </a:r>
            <a:br>
              <a:rPr lang="en-US"/>
            </a:br>
            <a:r>
              <a:rPr lang="en-US"/>
              <a:t>Proxy </a:t>
            </a:r>
            <a:br>
              <a:rPr lang="en-US"/>
            </a:br>
            <a:r>
              <a:rPr lang="en-US"/>
              <a:t>Server 60.47.3.1</a:t>
            </a:r>
          </a:p>
        </p:txBody>
      </p:sp>
      <p:sp>
        <p:nvSpPr>
          <p:cNvPr id="3099" name="Text Box 25"/>
          <p:cNvSpPr txBox="1">
            <a:spLocks noChangeArrowheads="1"/>
          </p:cNvSpPr>
          <p:nvPr/>
        </p:nvSpPr>
        <p:spPr bwMode="auto">
          <a:xfrm>
            <a:off x="7239000" y="3124200"/>
            <a:ext cx="1447800" cy="915988"/>
          </a:xfrm>
          <a:prstGeom prst="rect">
            <a:avLst/>
          </a:prstGeom>
          <a:noFill/>
          <a:ln w="9525">
            <a:noFill/>
            <a:miter lim="800000"/>
            <a:headEnd/>
            <a:tailEnd/>
          </a:ln>
        </p:spPr>
        <p:txBody>
          <a:bodyPr>
            <a:spAutoFit/>
          </a:bodyPr>
          <a:lstStyle/>
          <a:p>
            <a:pPr>
              <a:spcBef>
                <a:spcPct val="50000"/>
              </a:spcBef>
            </a:pPr>
            <a:r>
              <a:rPr lang="en-US"/>
              <a:t>External DNS Server 60.47.3.4</a:t>
            </a:r>
          </a:p>
        </p:txBody>
      </p:sp>
      <p:sp>
        <p:nvSpPr>
          <p:cNvPr id="3104" name="Text Box 201"/>
          <p:cNvSpPr txBox="1">
            <a:spLocks noChangeArrowheads="1"/>
          </p:cNvSpPr>
          <p:nvPr/>
        </p:nvSpPr>
        <p:spPr bwMode="auto">
          <a:xfrm>
            <a:off x="3200400" y="1371600"/>
            <a:ext cx="2057400" cy="366713"/>
          </a:xfrm>
          <a:prstGeom prst="rect">
            <a:avLst/>
          </a:prstGeom>
          <a:noFill/>
          <a:ln w="9525">
            <a:noFill/>
            <a:miter lim="800000"/>
            <a:headEnd/>
            <a:tailEnd/>
          </a:ln>
        </p:spPr>
        <p:txBody>
          <a:bodyPr>
            <a:spAutoFit/>
          </a:bodyPr>
          <a:lstStyle/>
          <a:p>
            <a:pPr>
              <a:spcBef>
                <a:spcPct val="50000"/>
              </a:spcBef>
            </a:pPr>
            <a:r>
              <a:rPr lang="en-US"/>
              <a:t>Firewall</a:t>
            </a:r>
          </a:p>
        </p:txBody>
      </p:sp>
      <p:sp>
        <p:nvSpPr>
          <p:cNvPr id="3105" name="Text Box 202"/>
          <p:cNvSpPr txBox="1">
            <a:spLocks noChangeArrowheads="1"/>
          </p:cNvSpPr>
          <p:nvPr/>
        </p:nvSpPr>
        <p:spPr bwMode="auto">
          <a:xfrm>
            <a:off x="304800" y="1371600"/>
            <a:ext cx="2057400" cy="366713"/>
          </a:xfrm>
          <a:prstGeom prst="rect">
            <a:avLst/>
          </a:prstGeom>
          <a:noFill/>
          <a:ln w="9525">
            <a:noFill/>
            <a:miter lim="800000"/>
            <a:headEnd/>
            <a:tailEnd/>
          </a:ln>
        </p:spPr>
        <p:txBody>
          <a:bodyPr>
            <a:spAutoFit/>
          </a:bodyPr>
          <a:lstStyle/>
          <a:p>
            <a:pPr>
              <a:spcBef>
                <a:spcPct val="50000"/>
              </a:spcBef>
            </a:pPr>
            <a:r>
              <a:rPr lang="en-US" dirty="0"/>
              <a:t>Firewall</a:t>
            </a:r>
          </a:p>
        </p:txBody>
      </p:sp>
      <p:sp>
        <p:nvSpPr>
          <p:cNvPr id="3106" name="Text Box 203"/>
          <p:cNvSpPr txBox="1">
            <a:spLocks noChangeArrowheads="1"/>
          </p:cNvSpPr>
          <p:nvPr/>
        </p:nvSpPr>
        <p:spPr bwMode="auto">
          <a:xfrm>
            <a:off x="4800600" y="1676400"/>
            <a:ext cx="2057400" cy="366713"/>
          </a:xfrm>
          <a:prstGeom prst="rect">
            <a:avLst/>
          </a:prstGeom>
          <a:noFill/>
          <a:ln w="9525">
            <a:noFill/>
            <a:miter lim="800000"/>
            <a:headEnd/>
            <a:tailEnd/>
          </a:ln>
        </p:spPr>
        <p:txBody>
          <a:bodyPr>
            <a:spAutoFit/>
          </a:bodyPr>
          <a:lstStyle/>
          <a:p>
            <a:pPr>
              <a:spcBef>
                <a:spcPct val="50000"/>
              </a:spcBef>
            </a:pPr>
            <a:r>
              <a:rPr lang="en-US" dirty="0"/>
              <a:t>Router</a:t>
            </a:r>
          </a:p>
        </p:txBody>
      </p:sp>
      <p:sp>
        <p:nvSpPr>
          <p:cNvPr id="3107" name="Text Box 204"/>
          <p:cNvSpPr txBox="1">
            <a:spLocks noChangeArrowheads="1"/>
          </p:cNvSpPr>
          <p:nvPr/>
        </p:nvSpPr>
        <p:spPr bwMode="auto">
          <a:xfrm>
            <a:off x="5486400" y="2971800"/>
            <a:ext cx="2057400" cy="366713"/>
          </a:xfrm>
          <a:prstGeom prst="rect">
            <a:avLst/>
          </a:prstGeom>
          <a:noFill/>
          <a:ln w="9525">
            <a:noFill/>
            <a:miter lim="800000"/>
            <a:headEnd/>
            <a:tailEnd/>
          </a:ln>
        </p:spPr>
        <p:txBody>
          <a:bodyPr>
            <a:spAutoFit/>
          </a:bodyPr>
          <a:lstStyle/>
          <a:p>
            <a:pPr>
              <a:spcBef>
                <a:spcPct val="50000"/>
              </a:spcBef>
            </a:pPr>
            <a:r>
              <a:rPr lang="en-GB">
                <a:solidFill>
                  <a:schemeClr val="tx2"/>
                </a:solidFill>
              </a:rPr>
              <a:t>Bastion Hosts</a:t>
            </a:r>
            <a:endParaRPr lang="en-US">
              <a:solidFill>
                <a:schemeClr val="tx2"/>
              </a:solidFill>
            </a:endParaRPr>
          </a:p>
        </p:txBody>
      </p:sp>
      <p:pic>
        <p:nvPicPr>
          <p:cNvPr id="208" name="Picture 3"/>
          <p:cNvPicPr>
            <a:picLocks noChangeAspect="1" noChangeArrowheads="1"/>
          </p:cNvPicPr>
          <p:nvPr/>
        </p:nvPicPr>
        <p:blipFill>
          <a:blip r:embed="rId9"/>
          <a:srcRect/>
          <a:stretch>
            <a:fillRect/>
          </a:stretch>
        </p:blipFill>
        <p:spPr bwMode="auto">
          <a:xfrm>
            <a:off x="3810000" y="1828800"/>
            <a:ext cx="708163" cy="1066800"/>
          </a:xfrm>
          <a:prstGeom prst="rect">
            <a:avLst/>
          </a:prstGeom>
          <a:noFill/>
          <a:ln w="9525">
            <a:noFill/>
            <a:miter lim="800000"/>
            <a:headEnd/>
            <a:tailEnd/>
          </a:ln>
          <a:effectLst/>
        </p:spPr>
      </p:pic>
      <p:pic>
        <p:nvPicPr>
          <p:cNvPr id="209" name="Picture 3"/>
          <p:cNvPicPr>
            <a:picLocks noChangeAspect="1" noChangeArrowheads="1"/>
          </p:cNvPicPr>
          <p:nvPr/>
        </p:nvPicPr>
        <p:blipFill>
          <a:blip r:embed="rId9"/>
          <a:srcRect/>
          <a:stretch>
            <a:fillRect/>
          </a:stretch>
        </p:blipFill>
        <p:spPr bwMode="auto">
          <a:xfrm>
            <a:off x="990600" y="1828800"/>
            <a:ext cx="708163" cy="1066800"/>
          </a:xfrm>
          <a:prstGeom prst="rect">
            <a:avLst/>
          </a:prstGeom>
          <a:noFill/>
          <a:ln w="9525">
            <a:noFill/>
            <a:miter lim="800000"/>
            <a:headEnd/>
            <a:tailEnd/>
          </a:ln>
          <a:effectLst/>
        </p:spPr>
      </p:pic>
      <p:pic>
        <p:nvPicPr>
          <p:cNvPr id="210" name="Picture 5"/>
          <p:cNvPicPr>
            <a:picLocks noChangeAspect="1" noChangeArrowheads="1"/>
          </p:cNvPicPr>
          <p:nvPr/>
        </p:nvPicPr>
        <p:blipFill>
          <a:blip r:embed="rId10"/>
          <a:srcRect/>
          <a:stretch>
            <a:fillRect/>
          </a:stretch>
        </p:blipFill>
        <p:spPr bwMode="auto">
          <a:xfrm>
            <a:off x="6781800" y="1447800"/>
            <a:ext cx="1524000" cy="1524000"/>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spect="1" noChangeArrowheads="1"/>
          </p:cNvSpPr>
          <p:nvPr>
            <p:ph type="title"/>
          </p:nvPr>
        </p:nvSpPr>
        <p:spPr/>
        <p:txBody>
          <a:bodyPr>
            <a:normAutofit/>
          </a:bodyPr>
          <a:lstStyle/>
          <a:p>
            <a:r>
              <a:rPr lang="en-US" sz="4400" dirty="0"/>
              <a:t>Firewall Best Practices</a:t>
            </a:r>
          </a:p>
        </p:txBody>
      </p:sp>
      <p:sp>
        <p:nvSpPr>
          <p:cNvPr id="58371" name="Content Placeholder 5"/>
          <p:cNvSpPr>
            <a:spLocks noGrp="1"/>
          </p:cNvSpPr>
          <p:nvPr>
            <p:ph idx="1"/>
          </p:nvPr>
        </p:nvSpPr>
        <p:spPr>
          <a:xfrm>
            <a:off x="304800" y="1690688"/>
            <a:ext cx="8458200" cy="4633912"/>
          </a:xfrm>
        </p:spPr>
        <p:txBody>
          <a:bodyPr>
            <a:noAutofit/>
          </a:bodyPr>
          <a:lstStyle/>
          <a:p>
            <a:r>
              <a:rPr lang="en-US" sz="2000" dirty="0"/>
              <a:t>Deny all traffic by default, and only enable those services that are needed.</a:t>
            </a:r>
          </a:p>
          <a:p>
            <a:r>
              <a:rPr lang="en-US" sz="2000" dirty="0"/>
              <a:t>Disable or uninstall any unnecessary services and software on the firewall that are not specifically required.</a:t>
            </a:r>
          </a:p>
          <a:p>
            <a:r>
              <a:rPr lang="en-US" sz="2000" dirty="0"/>
              <a:t>Limit the number of applications that run on the firewall in order to let the firewall do what it's best at doing. </a:t>
            </a:r>
          </a:p>
          <a:p>
            <a:r>
              <a:rPr lang="en-US" sz="2000" dirty="0"/>
              <a:t>Run the firewall service as a unique user ID instead of administrator or root.</a:t>
            </a:r>
          </a:p>
          <a:p>
            <a:r>
              <a:rPr lang="en-US" sz="2000" dirty="0"/>
              <a:t>Change the default firewall administrator or root password. </a:t>
            </a:r>
          </a:p>
          <a:p>
            <a:r>
              <a:rPr lang="en-US" sz="2000" dirty="0"/>
              <a:t>Do not rely on packet filtering alone. Use </a:t>
            </a:r>
            <a:r>
              <a:rPr lang="en-US" sz="2000" dirty="0" err="1"/>
              <a:t>stateful</a:t>
            </a:r>
            <a:r>
              <a:rPr lang="en-US" sz="2000" dirty="0"/>
              <a:t> inspection and application proxies if possible.</a:t>
            </a:r>
          </a:p>
          <a:p>
            <a:pPr>
              <a:lnSpc>
                <a:spcPct val="90000"/>
              </a:lnSpc>
            </a:pPr>
            <a:r>
              <a:rPr lang="en-US" sz="2000" dirty="0"/>
              <a:t>Ensure that physical access to the firewall is controlled.</a:t>
            </a:r>
          </a:p>
          <a:p>
            <a:pPr>
              <a:lnSpc>
                <a:spcPct val="90000"/>
              </a:lnSpc>
            </a:pPr>
            <a:r>
              <a:rPr lang="en-US" sz="2000" dirty="0"/>
              <a:t>Regularly monitor firewall logs.</a:t>
            </a:r>
          </a:p>
          <a:p>
            <a:pPr>
              <a:lnSpc>
                <a:spcPct val="90000"/>
              </a:lnSpc>
            </a:pPr>
            <a:r>
              <a:rPr lang="en-US" sz="2000" dirty="0"/>
              <a:t>Document all firewall rule changes.</a:t>
            </a:r>
          </a:p>
          <a:p>
            <a:endParaRPr lang="en-US" sz="2000" dirty="0"/>
          </a:p>
          <a:p>
            <a:pPr>
              <a:buNone/>
            </a:pPr>
            <a:br>
              <a:rPr lang="en-US" sz="2000" dirty="0"/>
            </a:b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SG" dirty="0"/>
              <a:t>THE END</a:t>
            </a:r>
          </a:p>
        </p:txBody>
      </p:sp>
      <p:sp>
        <p:nvSpPr>
          <p:cNvPr id="3" name="Subtitle 2"/>
          <p:cNvSpPr>
            <a:spLocks noGrp="1"/>
          </p:cNvSpPr>
          <p:nvPr>
            <p:ph type="subTitle" idx="1"/>
          </p:nvPr>
        </p:nvSpPr>
        <p:spPr/>
        <p:txBody>
          <a:bodyPr/>
          <a:lstStyle/>
          <a:p>
            <a:endParaRPr lang="en-SG"/>
          </a:p>
        </p:txBody>
      </p:sp>
    </p:spTree>
    <p:extLst>
      <p:ext uri="{BB962C8B-B14F-4D97-AF65-F5344CB8AC3E}">
        <p14:creationId xmlns:p14="http://schemas.microsoft.com/office/powerpoint/2010/main" val="2799844639"/>
      </p:ext>
    </p:extLst>
  </p:cSld>
  <p:clrMapOvr>
    <a:masterClrMapping/>
  </p:clrMapOvr>
</p:sld>
</file>

<file path=ppt/theme/theme1.xml><?xml version="1.0" encoding="utf-8"?>
<a:theme xmlns:a="http://schemas.openxmlformats.org/drawingml/2006/main" name="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id="{C1C5D1BB-B8B3-449E-ABE3-BD1ADC446175}" vid="{8783730B-F0DD-45C7-9301-B01A4242EBAF}"/>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3394DE519FE44CA53192E15F204895" ma:contentTypeVersion="0" ma:contentTypeDescription="Create a new document." ma:contentTypeScope="" ma:versionID="d920bb81dca3772dbe36e1af8dd3f8fe">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02F1F2A-740B-4AA3-AA96-8153A07296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18496113-ADE9-45BF-A1BE-E05F8A13A941}">
  <ds:schemaRefs>
    <ds:schemaRef ds:uri="http://schemas.microsoft.com/sharepoint/v3/contenttype/forms"/>
  </ds:schemaRefs>
</ds:datastoreItem>
</file>

<file path=customXml/itemProps3.xml><?xml version="1.0" encoding="utf-8"?>
<ds:datastoreItem xmlns:ds="http://schemas.openxmlformats.org/officeDocument/2006/customXml" ds:itemID="{1445F679-97F7-4A5E-9EAE-FEE2DC51AC4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Theme</Template>
  <TotalTime>2146</TotalTime>
  <Words>2166</Words>
  <Application>Microsoft Office PowerPoint</Application>
  <PresentationFormat>On-screen Show (4:3)</PresentationFormat>
  <Paragraphs>376</Paragraphs>
  <Slides>33</Slides>
  <Notes>9</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1" baseType="lpstr">
      <vt:lpstr>Arial</vt:lpstr>
      <vt:lpstr>Calibri</vt:lpstr>
      <vt:lpstr>Gill Sans MT</vt:lpstr>
      <vt:lpstr>Times New Roman</vt:lpstr>
      <vt:lpstr>Verdana</vt:lpstr>
      <vt:lpstr>Wingdings</vt:lpstr>
      <vt:lpstr>Theme</vt:lpstr>
      <vt:lpstr>VISIO</vt:lpstr>
      <vt:lpstr>Firewalls</vt:lpstr>
      <vt:lpstr>Learning Objectives</vt:lpstr>
      <vt:lpstr>What is a Firewall</vt:lpstr>
      <vt:lpstr>What is a Firewall</vt:lpstr>
      <vt:lpstr>Basic Firewall Terms</vt:lpstr>
      <vt:lpstr>Border Firewall</vt:lpstr>
      <vt:lpstr>What a Firewall Can Do</vt:lpstr>
      <vt:lpstr>What a Firewall Cannot Do</vt:lpstr>
      <vt:lpstr>Types of Firewalls</vt:lpstr>
      <vt:lpstr>Static Packet Filtering Firewall</vt:lpstr>
      <vt:lpstr>How SPF Works</vt:lpstr>
      <vt:lpstr>Types of Static Packet Filtering</vt:lpstr>
      <vt:lpstr>Well-Known Port Numbers</vt:lpstr>
      <vt:lpstr>Well-Known Port Numbers</vt:lpstr>
      <vt:lpstr>Advantages of SPF</vt:lpstr>
      <vt:lpstr>Disadvantages of SPF</vt:lpstr>
      <vt:lpstr>Stateful Packet Inspection (SPI) Firewall</vt:lpstr>
      <vt:lpstr>SPI Firewall</vt:lpstr>
      <vt:lpstr>SPI Firewall Operation</vt:lpstr>
      <vt:lpstr>PowerPoint Presentation</vt:lpstr>
      <vt:lpstr>SPI Firewalls</vt:lpstr>
      <vt:lpstr>Application Firewalls</vt:lpstr>
      <vt:lpstr>Proxy Services</vt:lpstr>
      <vt:lpstr>Application Firewalls</vt:lpstr>
      <vt:lpstr>Advantages of Application Firewalls</vt:lpstr>
      <vt:lpstr>Disadvantages of Application Firewalls</vt:lpstr>
      <vt:lpstr>Firewall Architecture: Screened Subnet</vt:lpstr>
      <vt:lpstr>Bastion Host</vt:lpstr>
      <vt:lpstr>Demilitarized Zone (DMZ)</vt:lpstr>
      <vt:lpstr>General Guidelines - Firewall Rules</vt:lpstr>
      <vt:lpstr>Single-Site Firewall Architecture for a Larger Firm</vt:lpstr>
      <vt:lpstr>Firewall Best Practices</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8a - Firewalls</dc:title>
  <cp:lastModifiedBy>ARTHI CHANDRASEKARAN</cp:lastModifiedBy>
  <cp:revision>330</cp:revision>
  <cp:lastPrinted>1601-01-01T00:00:00Z</cp:lastPrinted>
  <dcterms:created xsi:type="dcterms:W3CDTF">2002-07-03T05:46:37Z</dcterms:created>
  <dcterms:modified xsi:type="dcterms:W3CDTF">2018-10-30T06:16:13Z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7</vt:i4>
  </property>
  <property fmtid="{D5CDD505-2E9C-101B-9397-08002B2CF9AE}" pid="3" name="ContentTypeId">
    <vt:lpwstr>0x010100DE3394DE519FE44CA53192E15F204895</vt:lpwstr>
  </property>
</Properties>
</file>