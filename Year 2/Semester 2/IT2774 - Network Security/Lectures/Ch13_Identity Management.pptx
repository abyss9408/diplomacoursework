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739" r:id="rId2"/>
  </p:sldMasterIdLst>
  <p:notesMasterIdLst>
    <p:notesMasterId r:id="rId15"/>
  </p:notesMasterIdLst>
  <p:handoutMasterIdLst>
    <p:handoutMasterId r:id="rId16"/>
  </p:handoutMasterIdLst>
  <p:sldIdLst>
    <p:sldId id="471" r:id="rId3"/>
    <p:sldId id="486" r:id="rId4"/>
    <p:sldId id="487" r:id="rId5"/>
    <p:sldId id="488" r:id="rId6"/>
    <p:sldId id="429" r:id="rId7"/>
    <p:sldId id="446" r:id="rId8"/>
    <p:sldId id="436" r:id="rId9"/>
    <p:sldId id="437" r:id="rId10"/>
    <p:sldId id="427" r:id="rId11"/>
    <p:sldId id="494" r:id="rId12"/>
    <p:sldId id="495" r:id="rId13"/>
    <p:sldId id="493" r:id="rId14"/>
  </p:sldIdLst>
  <p:sldSz cx="9144000" cy="6858000" type="screen4x3"/>
  <p:notesSz cx="6784975" cy="9856788"/>
  <p:custShowLst>
    <p:custShow name="ECSMP - Crypto 1" id="0">
      <p:sldLst/>
    </p:custShow>
    <p:custShow name="ECSMP - Crypto 2" id="1">
      <p:sldLst/>
    </p:custShow>
    <p:custShow name="Crypto" id="2">
      <p:sldLst/>
    </p:custShow>
  </p:custShow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>
          <p15:clr>
            <a:srgbClr val="A4A3A4"/>
          </p15:clr>
        </p15:guide>
        <p15:guide id="2" pos="21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000066"/>
    <a:srgbClr val="FF99CC"/>
    <a:srgbClr val="FF5050"/>
    <a:srgbClr val="33CC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5949" autoAdjust="0"/>
  </p:normalViewPr>
  <p:slideViewPr>
    <p:cSldViewPr>
      <p:cViewPr varScale="1">
        <p:scale>
          <a:sx n="48" d="100"/>
          <a:sy n="48" d="100"/>
        </p:scale>
        <p:origin x="42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6"/>
    </p:cViewPr>
  </p:sorterViewPr>
  <p:notesViewPr>
    <p:cSldViewPr>
      <p:cViewPr>
        <p:scale>
          <a:sx n="100" d="100"/>
          <a:sy n="100" d="100"/>
        </p:scale>
        <p:origin x="-750" y="2772"/>
      </p:cViewPr>
      <p:guideLst>
        <p:guide orient="horz" pos="3105"/>
        <p:guide pos="21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82" name="Rectangle 2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71488" y="9204325"/>
            <a:ext cx="2649537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900"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en-US"/>
              <a:t>IT0104: Data and Network Security</a:t>
            </a:r>
          </a:p>
          <a:p>
            <a:pPr>
              <a:defRPr/>
            </a:pPr>
            <a:r>
              <a:rPr lang="en-US"/>
              <a:t>Jul – Dec 2007, 10</a:t>
            </a:r>
            <a:r>
              <a:rPr lang="en-US" baseline="30000"/>
              <a:t>th</a:t>
            </a:r>
            <a:r>
              <a:rPr lang="en-US"/>
              <a:t> Intake</a:t>
            </a:r>
          </a:p>
        </p:txBody>
      </p:sp>
      <p:grpSp>
        <p:nvGrpSpPr>
          <p:cNvPr id="93187" name="Group 23"/>
          <p:cNvGrpSpPr>
            <a:grpSpLocks noChangeAspect="1"/>
          </p:cNvGrpSpPr>
          <p:nvPr/>
        </p:nvGrpSpPr>
        <p:grpSpPr bwMode="auto">
          <a:xfrm>
            <a:off x="709613" y="188913"/>
            <a:ext cx="695325" cy="333375"/>
            <a:chOff x="737" y="3045"/>
            <a:chExt cx="1284" cy="560"/>
          </a:xfrm>
        </p:grpSpPr>
        <p:sp>
          <p:nvSpPr>
            <p:cNvPr id="66584" name="Freeform 24"/>
            <p:cNvSpPr>
              <a:spLocks noChangeAspect="1"/>
            </p:cNvSpPr>
            <p:nvPr/>
          </p:nvSpPr>
          <p:spPr bwMode="auto">
            <a:xfrm>
              <a:off x="737" y="3045"/>
              <a:ext cx="654" cy="560"/>
            </a:xfrm>
            <a:custGeom>
              <a:avLst/>
              <a:gdLst/>
              <a:ahLst/>
              <a:cxnLst>
                <a:cxn ang="0">
                  <a:pos x="19988" y="19986"/>
                </a:cxn>
                <a:cxn ang="0">
                  <a:pos x="6659" y="0"/>
                </a:cxn>
                <a:cxn ang="0">
                  <a:pos x="0" y="0"/>
                </a:cxn>
                <a:cxn ang="0">
                  <a:pos x="0" y="801"/>
                </a:cxn>
                <a:cxn ang="0">
                  <a:pos x="2632" y="801"/>
                </a:cxn>
                <a:cxn ang="0">
                  <a:pos x="2632" y="19385"/>
                </a:cxn>
                <a:cxn ang="0">
                  <a:pos x="0" y="19385"/>
                </a:cxn>
                <a:cxn ang="0">
                  <a:pos x="0" y="19986"/>
                </a:cxn>
                <a:cxn ang="0">
                  <a:pos x="5961" y="19986"/>
                </a:cxn>
                <a:cxn ang="0">
                  <a:pos x="5961" y="19385"/>
                </a:cxn>
                <a:cxn ang="0">
                  <a:pos x="3501" y="19385"/>
                </a:cxn>
                <a:cxn ang="0">
                  <a:pos x="3501" y="1401"/>
                </a:cxn>
                <a:cxn ang="0">
                  <a:pos x="15777" y="19986"/>
                </a:cxn>
                <a:cxn ang="0">
                  <a:pos x="19988" y="19986"/>
                </a:cxn>
              </a:cxnLst>
              <a:rect l="0" t="0" r="r" b="b"/>
              <a:pathLst>
                <a:path w="20000" h="20000">
                  <a:moveTo>
                    <a:pt x="19988" y="19986"/>
                  </a:moveTo>
                  <a:lnTo>
                    <a:pt x="6659" y="0"/>
                  </a:lnTo>
                  <a:lnTo>
                    <a:pt x="0" y="0"/>
                  </a:lnTo>
                  <a:lnTo>
                    <a:pt x="0" y="801"/>
                  </a:lnTo>
                  <a:lnTo>
                    <a:pt x="2632" y="801"/>
                  </a:lnTo>
                  <a:lnTo>
                    <a:pt x="2632" y="19385"/>
                  </a:lnTo>
                  <a:lnTo>
                    <a:pt x="0" y="19385"/>
                  </a:lnTo>
                  <a:lnTo>
                    <a:pt x="0" y="19986"/>
                  </a:lnTo>
                  <a:lnTo>
                    <a:pt x="5961" y="19986"/>
                  </a:lnTo>
                  <a:lnTo>
                    <a:pt x="5961" y="19385"/>
                  </a:lnTo>
                  <a:lnTo>
                    <a:pt x="3501" y="19385"/>
                  </a:lnTo>
                  <a:lnTo>
                    <a:pt x="3501" y="1401"/>
                  </a:lnTo>
                  <a:lnTo>
                    <a:pt x="15777" y="19986"/>
                  </a:lnTo>
                  <a:lnTo>
                    <a:pt x="19988" y="19986"/>
                  </a:lnTo>
                  <a:close/>
                </a:path>
              </a:pathLst>
            </a:custGeom>
            <a:solidFill>
              <a:srgbClr val="0000FF"/>
            </a:solidFill>
            <a:ln w="8890" cap="flat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6585" name="Freeform 25"/>
            <p:cNvSpPr>
              <a:spLocks noChangeAspect="1"/>
            </p:cNvSpPr>
            <p:nvPr/>
          </p:nvSpPr>
          <p:spPr bwMode="auto">
            <a:xfrm>
              <a:off x="1086" y="3045"/>
              <a:ext cx="598" cy="560"/>
            </a:xfrm>
            <a:custGeom>
              <a:avLst/>
              <a:gdLst/>
              <a:ahLst/>
              <a:cxnLst>
                <a:cxn ang="0">
                  <a:pos x="19034" y="801"/>
                </a:cxn>
                <a:cxn ang="0">
                  <a:pos x="13074" y="9392"/>
                </a:cxn>
                <a:cxn ang="0">
                  <a:pos x="6336" y="0"/>
                </a:cxn>
                <a:cxn ang="0">
                  <a:pos x="188" y="0"/>
                </a:cxn>
                <a:cxn ang="0">
                  <a:pos x="0" y="801"/>
                </a:cxn>
                <a:cxn ang="0">
                  <a:pos x="2309" y="801"/>
                </a:cxn>
                <a:cxn ang="0">
                  <a:pos x="9611" y="10994"/>
                </a:cxn>
                <a:cxn ang="0">
                  <a:pos x="9611" y="19986"/>
                </a:cxn>
                <a:cxn ang="0">
                  <a:pos x="13262" y="19986"/>
                </a:cxn>
                <a:cxn ang="0">
                  <a:pos x="13262" y="10393"/>
                </a:cxn>
                <a:cxn ang="0">
                  <a:pos x="19987" y="801"/>
                </a:cxn>
                <a:cxn ang="0">
                  <a:pos x="19034" y="801"/>
                </a:cxn>
              </a:cxnLst>
              <a:rect l="0" t="0" r="r" b="b"/>
              <a:pathLst>
                <a:path w="20000" h="20000">
                  <a:moveTo>
                    <a:pt x="19034" y="801"/>
                  </a:moveTo>
                  <a:lnTo>
                    <a:pt x="13074" y="9392"/>
                  </a:lnTo>
                  <a:lnTo>
                    <a:pt x="6336" y="0"/>
                  </a:lnTo>
                  <a:lnTo>
                    <a:pt x="188" y="0"/>
                  </a:lnTo>
                  <a:lnTo>
                    <a:pt x="0" y="801"/>
                  </a:lnTo>
                  <a:lnTo>
                    <a:pt x="2309" y="801"/>
                  </a:lnTo>
                  <a:lnTo>
                    <a:pt x="9611" y="10994"/>
                  </a:lnTo>
                  <a:lnTo>
                    <a:pt x="9611" y="19986"/>
                  </a:lnTo>
                  <a:lnTo>
                    <a:pt x="13262" y="19986"/>
                  </a:lnTo>
                  <a:lnTo>
                    <a:pt x="13262" y="10393"/>
                  </a:lnTo>
                  <a:lnTo>
                    <a:pt x="19987" y="801"/>
                  </a:lnTo>
                  <a:lnTo>
                    <a:pt x="19034" y="801"/>
                  </a:lnTo>
                  <a:close/>
                </a:path>
              </a:pathLst>
            </a:custGeom>
            <a:solidFill>
              <a:srgbClr val="0000FF"/>
            </a:solidFill>
            <a:ln w="8890" cap="flat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6586" name="Freeform 26"/>
            <p:cNvSpPr>
              <a:spLocks noChangeAspect="1"/>
            </p:cNvSpPr>
            <p:nvPr/>
          </p:nvSpPr>
          <p:spPr bwMode="auto">
            <a:xfrm>
              <a:off x="1567" y="3045"/>
              <a:ext cx="454" cy="5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049" y="801"/>
                </a:cxn>
                <a:cxn ang="0">
                  <a:pos x="10115" y="801"/>
                </a:cxn>
                <a:cxn ang="0">
                  <a:pos x="11121" y="1201"/>
                </a:cxn>
                <a:cxn ang="0">
                  <a:pos x="12145" y="1601"/>
                </a:cxn>
                <a:cxn ang="0">
                  <a:pos x="13151" y="2202"/>
                </a:cxn>
                <a:cxn ang="0">
                  <a:pos x="13645" y="2802"/>
                </a:cxn>
                <a:cxn ang="0">
                  <a:pos x="14157" y="3603"/>
                </a:cxn>
                <a:cxn ang="0">
                  <a:pos x="14404" y="4403"/>
                </a:cxn>
                <a:cxn ang="0">
                  <a:pos x="14669" y="5204"/>
                </a:cxn>
                <a:cxn ang="0">
                  <a:pos x="14669" y="5990"/>
                </a:cxn>
                <a:cxn ang="0">
                  <a:pos x="14404" y="6791"/>
                </a:cxn>
                <a:cxn ang="0">
                  <a:pos x="13910" y="7591"/>
                </a:cxn>
                <a:cxn ang="0">
                  <a:pos x="13398" y="8392"/>
                </a:cxn>
                <a:cxn ang="0">
                  <a:pos x="12639" y="8992"/>
                </a:cxn>
                <a:cxn ang="0">
                  <a:pos x="11633" y="9593"/>
                </a:cxn>
                <a:cxn ang="0">
                  <a:pos x="10627" y="9993"/>
                </a:cxn>
                <a:cxn ang="0">
                  <a:pos x="9356" y="10193"/>
                </a:cxn>
                <a:cxn ang="0">
                  <a:pos x="3283" y="10193"/>
                </a:cxn>
                <a:cxn ang="0">
                  <a:pos x="12145" y="19986"/>
                </a:cxn>
                <a:cxn ang="0">
                  <a:pos x="8085" y="19385"/>
                </a:cxn>
                <a:cxn ang="0">
                  <a:pos x="8350" y="10994"/>
                </a:cxn>
                <a:cxn ang="0">
                  <a:pos x="10115" y="10994"/>
                </a:cxn>
                <a:cxn ang="0">
                  <a:pos x="12145" y="10793"/>
                </a:cxn>
                <a:cxn ang="0">
                  <a:pos x="14157" y="10393"/>
                </a:cxn>
                <a:cxn ang="0">
                  <a:pos x="15922" y="9793"/>
                </a:cxn>
                <a:cxn ang="0">
                  <a:pos x="17440" y="9192"/>
                </a:cxn>
                <a:cxn ang="0">
                  <a:pos x="18711" y="8192"/>
                </a:cxn>
                <a:cxn ang="0">
                  <a:pos x="19718" y="6991"/>
                </a:cxn>
                <a:cxn ang="0">
                  <a:pos x="19982" y="5604"/>
                </a:cxn>
                <a:cxn ang="0">
                  <a:pos x="19718" y="4003"/>
                </a:cxn>
                <a:cxn ang="0">
                  <a:pos x="18959" y="2802"/>
                </a:cxn>
                <a:cxn ang="0">
                  <a:pos x="17952" y="2001"/>
                </a:cxn>
                <a:cxn ang="0">
                  <a:pos x="16434" y="1201"/>
                </a:cxn>
                <a:cxn ang="0">
                  <a:pos x="14916" y="801"/>
                </a:cxn>
                <a:cxn ang="0">
                  <a:pos x="13151" y="400"/>
                </a:cxn>
                <a:cxn ang="0">
                  <a:pos x="11121" y="200"/>
                </a:cxn>
                <a:cxn ang="0">
                  <a:pos x="9356" y="0"/>
                </a:cxn>
              </a:cxnLst>
              <a:rect l="0" t="0" r="r" b="b"/>
              <a:pathLst>
                <a:path w="20000" h="20000">
                  <a:moveTo>
                    <a:pt x="9356" y="0"/>
                  </a:moveTo>
                  <a:lnTo>
                    <a:pt x="0" y="0"/>
                  </a:lnTo>
                  <a:lnTo>
                    <a:pt x="0" y="801"/>
                  </a:lnTo>
                  <a:lnTo>
                    <a:pt x="5049" y="801"/>
                  </a:lnTo>
                  <a:lnTo>
                    <a:pt x="9356" y="801"/>
                  </a:lnTo>
                  <a:lnTo>
                    <a:pt x="10115" y="801"/>
                  </a:lnTo>
                  <a:lnTo>
                    <a:pt x="10627" y="1001"/>
                  </a:lnTo>
                  <a:lnTo>
                    <a:pt x="11121" y="1201"/>
                  </a:lnTo>
                  <a:lnTo>
                    <a:pt x="11880" y="1401"/>
                  </a:lnTo>
                  <a:lnTo>
                    <a:pt x="12145" y="1601"/>
                  </a:lnTo>
                  <a:lnTo>
                    <a:pt x="12639" y="1801"/>
                  </a:lnTo>
                  <a:lnTo>
                    <a:pt x="13151" y="2202"/>
                  </a:lnTo>
                  <a:lnTo>
                    <a:pt x="13398" y="2602"/>
                  </a:lnTo>
                  <a:lnTo>
                    <a:pt x="13645" y="2802"/>
                  </a:lnTo>
                  <a:lnTo>
                    <a:pt x="13910" y="3202"/>
                  </a:lnTo>
                  <a:lnTo>
                    <a:pt x="14157" y="3603"/>
                  </a:lnTo>
                  <a:lnTo>
                    <a:pt x="14404" y="4003"/>
                  </a:lnTo>
                  <a:lnTo>
                    <a:pt x="14404" y="4403"/>
                  </a:lnTo>
                  <a:lnTo>
                    <a:pt x="14669" y="4803"/>
                  </a:lnTo>
                  <a:lnTo>
                    <a:pt x="14669" y="5204"/>
                  </a:lnTo>
                  <a:lnTo>
                    <a:pt x="14669" y="5604"/>
                  </a:lnTo>
                  <a:lnTo>
                    <a:pt x="14669" y="5990"/>
                  </a:lnTo>
                  <a:lnTo>
                    <a:pt x="14669" y="6390"/>
                  </a:lnTo>
                  <a:lnTo>
                    <a:pt x="14404" y="6791"/>
                  </a:lnTo>
                  <a:lnTo>
                    <a:pt x="14157" y="7191"/>
                  </a:lnTo>
                  <a:lnTo>
                    <a:pt x="13910" y="7591"/>
                  </a:lnTo>
                  <a:lnTo>
                    <a:pt x="13645" y="7991"/>
                  </a:lnTo>
                  <a:lnTo>
                    <a:pt x="13398" y="8392"/>
                  </a:lnTo>
                  <a:lnTo>
                    <a:pt x="12904" y="8792"/>
                  </a:lnTo>
                  <a:lnTo>
                    <a:pt x="12639" y="8992"/>
                  </a:lnTo>
                  <a:lnTo>
                    <a:pt x="12145" y="9392"/>
                  </a:lnTo>
                  <a:lnTo>
                    <a:pt x="11633" y="9593"/>
                  </a:lnTo>
                  <a:lnTo>
                    <a:pt x="11121" y="9793"/>
                  </a:lnTo>
                  <a:lnTo>
                    <a:pt x="10627" y="9993"/>
                  </a:lnTo>
                  <a:lnTo>
                    <a:pt x="9868" y="9993"/>
                  </a:lnTo>
                  <a:lnTo>
                    <a:pt x="9356" y="10193"/>
                  </a:lnTo>
                  <a:lnTo>
                    <a:pt x="8597" y="10193"/>
                  </a:lnTo>
                  <a:lnTo>
                    <a:pt x="3283" y="10193"/>
                  </a:lnTo>
                  <a:lnTo>
                    <a:pt x="3283" y="19986"/>
                  </a:lnTo>
                  <a:lnTo>
                    <a:pt x="12145" y="19986"/>
                  </a:lnTo>
                  <a:lnTo>
                    <a:pt x="12145" y="19385"/>
                  </a:lnTo>
                  <a:lnTo>
                    <a:pt x="8085" y="19385"/>
                  </a:lnTo>
                  <a:lnTo>
                    <a:pt x="8085" y="10994"/>
                  </a:lnTo>
                  <a:lnTo>
                    <a:pt x="8350" y="10994"/>
                  </a:lnTo>
                  <a:lnTo>
                    <a:pt x="9356" y="10994"/>
                  </a:lnTo>
                  <a:lnTo>
                    <a:pt x="10115" y="10994"/>
                  </a:lnTo>
                  <a:lnTo>
                    <a:pt x="11121" y="10793"/>
                  </a:lnTo>
                  <a:lnTo>
                    <a:pt x="12145" y="10793"/>
                  </a:lnTo>
                  <a:lnTo>
                    <a:pt x="13151" y="10593"/>
                  </a:lnTo>
                  <a:lnTo>
                    <a:pt x="14157" y="10393"/>
                  </a:lnTo>
                  <a:lnTo>
                    <a:pt x="14916" y="10193"/>
                  </a:lnTo>
                  <a:lnTo>
                    <a:pt x="15922" y="9793"/>
                  </a:lnTo>
                  <a:lnTo>
                    <a:pt x="16681" y="9392"/>
                  </a:lnTo>
                  <a:lnTo>
                    <a:pt x="17440" y="9192"/>
                  </a:lnTo>
                  <a:lnTo>
                    <a:pt x="18199" y="8592"/>
                  </a:lnTo>
                  <a:lnTo>
                    <a:pt x="18711" y="8192"/>
                  </a:lnTo>
                  <a:lnTo>
                    <a:pt x="19223" y="7591"/>
                  </a:lnTo>
                  <a:lnTo>
                    <a:pt x="19718" y="6991"/>
                  </a:lnTo>
                  <a:lnTo>
                    <a:pt x="19982" y="6190"/>
                  </a:lnTo>
                  <a:lnTo>
                    <a:pt x="19982" y="5604"/>
                  </a:lnTo>
                  <a:lnTo>
                    <a:pt x="19982" y="4803"/>
                  </a:lnTo>
                  <a:lnTo>
                    <a:pt x="19718" y="4003"/>
                  </a:lnTo>
                  <a:lnTo>
                    <a:pt x="19470" y="3402"/>
                  </a:lnTo>
                  <a:lnTo>
                    <a:pt x="18959" y="2802"/>
                  </a:lnTo>
                  <a:lnTo>
                    <a:pt x="18464" y="2402"/>
                  </a:lnTo>
                  <a:lnTo>
                    <a:pt x="17952" y="2001"/>
                  </a:lnTo>
                  <a:lnTo>
                    <a:pt x="17193" y="1601"/>
                  </a:lnTo>
                  <a:lnTo>
                    <a:pt x="16434" y="1201"/>
                  </a:lnTo>
                  <a:lnTo>
                    <a:pt x="15675" y="1001"/>
                  </a:lnTo>
                  <a:lnTo>
                    <a:pt x="14916" y="801"/>
                  </a:lnTo>
                  <a:lnTo>
                    <a:pt x="13910" y="600"/>
                  </a:lnTo>
                  <a:lnTo>
                    <a:pt x="13151" y="400"/>
                  </a:lnTo>
                  <a:lnTo>
                    <a:pt x="12145" y="200"/>
                  </a:lnTo>
                  <a:lnTo>
                    <a:pt x="11121" y="200"/>
                  </a:lnTo>
                  <a:lnTo>
                    <a:pt x="10362" y="0"/>
                  </a:lnTo>
                  <a:lnTo>
                    <a:pt x="9356" y="0"/>
                  </a:lnTo>
                  <a:close/>
                </a:path>
              </a:pathLst>
            </a:custGeom>
            <a:solidFill>
              <a:srgbClr val="FF0000"/>
            </a:solidFill>
            <a:ln w="8890" cap="flat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66587" name="Rectangle 27"/>
          <p:cNvSpPr>
            <a:spLocks noChangeArrowheads="1"/>
          </p:cNvSpPr>
          <p:nvPr/>
        </p:nvSpPr>
        <p:spPr bwMode="auto">
          <a:xfrm>
            <a:off x="0" y="4329113"/>
            <a:ext cx="64484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6588" name="Rectangle 28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687763" y="9129713"/>
            <a:ext cx="2579687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FAC19B2-8A21-458C-A046-BBF9212957DD}" type="slidenum">
              <a:rPr lang="en-US"/>
              <a:pPr>
                <a:defRPr/>
              </a:pPr>
              <a:t>‹#›</a:t>
            </a:fld>
            <a:endParaRPr lang="en-GB"/>
          </a:p>
        </p:txBody>
      </p:sp>
      <p:sp>
        <p:nvSpPr>
          <p:cNvPr id="66589" name="Line 29"/>
          <p:cNvSpPr>
            <a:spLocks noChangeShapeType="1"/>
          </p:cNvSpPr>
          <p:nvPr/>
        </p:nvSpPr>
        <p:spPr bwMode="auto">
          <a:xfrm flipV="1">
            <a:off x="590550" y="9126538"/>
            <a:ext cx="5676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590" name="Line 30"/>
          <p:cNvSpPr>
            <a:spLocks noChangeShapeType="1"/>
          </p:cNvSpPr>
          <p:nvPr/>
        </p:nvSpPr>
        <p:spPr bwMode="auto">
          <a:xfrm flipV="1">
            <a:off x="652463" y="646113"/>
            <a:ext cx="5676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591" name="Text Box 31"/>
          <p:cNvSpPr txBox="1">
            <a:spLocks noChangeArrowheads="1"/>
          </p:cNvSpPr>
          <p:nvPr/>
        </p:nvSpPr>
        <p:spPr bwMode="auto">
          <a:xfrm>
            <a:off x="1603375" y="161925"/>
            <a:ext cx="375761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b="1">
                <a:latin typeface="Verdana" pitchFamily="34" charset="0"/>
              </a:rPr>
              <a:t>Specialist Diploma in IT Security</a:t>
            </a:r>
          </a:p>
          <a:p>
            <a:pPr>
              <a:defRPr/>
            </a:pPr>
            <a:r>
              <a:rPr lang="en-US" sz="1000">
                <a:latin typeface="Verdana" pitchFamily="34" charset="0"/>
              </a:rPr>
              <a:t>School of Information Technology,Nanyang Polytechnic</a:t>
            </a:r>
          </a:p>
        </p:txBody>
      </p:sp>
    </p:spTree>
    <p:extLst>
      <p:ext uri="{BB962C8B-B14F-4D97-AF65-F5344CB8AC3E}">
        <p14:creationId xmlns:p14="http://schemas.microsoft.com/office/powerpoint/2010/main" val="41398735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00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l" defTabSz="931863">
              <a:defRPr sz="1200"/>
            </a:lvl1pPr>
          </a:lstStyle>
          <a:p>
            <a:pPr>
              <a:defRPr/>
            </a:pPr>
            <a:r>
              <a:rPr lang="en-US"/>
              <a:t>IT3503 (ISECA)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4925" y="0"/>
            <a:ext cx="29400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8688" y="739775"/>
            <a:ext cx="492760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683125"/>
            <a:ext cx="4975225" cy="443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3075"/>
            <a:ext cx="29400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l"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4925" y="9363075"/>
            <a:ext cx="29400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fld id="{CE10E8E4-AE55-4670-932F-910195A847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680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70661" name="Footer Placehold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Lecture 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22438-5AC1-4B6F-B1EC-9B65C3322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01122" cy="533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0066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5738" y="6400800"/>
            <a:ext cx="2028825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E7CC2-7937-497E-96F0-E007C30FFB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EEB37-37C4-4968-869B-D672F375B377}" type="datetime1">
              <a:rPr lang="en-SG" smtClean="0"/>
              <a:t>17/1/2018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D880A9-6E8F-4F99-971C-6090AFC85F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25D40-A326-455D-A9C0-3AF3DD8A92A3}" type="datetime1">
              <a:rPr lang="en-SG" smtClean="0"/>
              <a:t>17/1/2018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58E2C-FFC5-4F9B-A732-2E28FF2E66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148DC8-AA74-42D1-AA51-A9C9031F1FD0}" type="datetime1">
              <a:rPr lang="en-SG" smtClean="0"/>
              <a:t>17/1/2018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208D4-97A7-4B38-8AEA-0AEEF2F14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3A7FC-D96A-45EE-A2F5-A34DF8918B02}" type="datetime1">
              <a:rPr lang="en-SG" smtClean="0"/>
              <a:t>17/1/2018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F8392-828F-4E16-96F5-56CCE1A040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DFFD3-1D2E-4F72-9F47-4792F7FDE653}" type="datetime1">
              <a:rPr lang="en-SG" smtClean="0"/>
              <a:t>17/1/2018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AA8D2-C880-4D95-98F2-B77B0F6F02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50F0D-4DF5-49CE-8A59-456512E7CC41}" type="datetime1">
              <a:rPr lang="en-SG" smtClean="0"/>
              <a:t>17/1/2018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0B842-5D14-4B17-94EC-5457238F9D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2BE8F-2DE2-49FD-87E5-07B14F832CCE}" type="datetime1">
              <a:rPr lang="en-SG" smtClean="0"/>
              <a:t>17/1/2018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0B9047-8566-4643-BC15-DC66EF98DE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14857-DE5A-4C13-802A-1AFD4C5F0EA4}" type="datetime1">
              <a:rPr lang="en-SG" smtClean="0"/>
              <a:t>17/1/2018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4D951-F209-4BAA-8847-8AFE90C22B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930245-801F-49CA-ADE5-452BDC84B4C0}" type="datetime1">
              <a:rPr lang="en-SG" smtClean="0"/>
              <a:t>17/1/2018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CEA594-2BEA-4B23-90F2-3878DFBD31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44BCC-2ED4-4B29-87E3-39BB5B825F7F}" type="datetime1">
              <a:rPr lang="en-SG" smtClean="0"/>
              <a:t>17/1/2018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36668-215A-4894-BC25-EB21FBEA30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524000"/>
            <a:ext cx="3810000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86200"/>
            <a:ext cx="3810000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3E594F-0DCE-414B-80A2-CF1BEC0C527D}" type="datetime1">
              <a:rPr lang="en-SG" smtClean="0"/>
              <a:t>17/1/2018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F2490-B094-412B-A59B-E6CBCE8A34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77200" cy="12049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752600"/>
            <a:ext cx="3962400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52600"/>
            <a:ext cx="3962400" cy="2095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3962400" cy="2095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67622-CFCE-41C1-8A6F-AB37A6C2F5A6}" type="datetime1">
              <a:rPr lang="en-SG" smtClean="0"/>
              <a:t>17/1/2018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D6E01-6D0D-4FBD-B28F-1A2C5CDDB7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latin typeface="Gill Sans MT" panose="020B0502020104020203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Gill Sans MT" panose="020B05020201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6337-16BA-40AD-B674-6708BC67259F}" type="datetime1">
              <a:rPr lang="en-SG" smtClean="0"/>
              <a:t>17/1/2018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522438-5AC1-4B6F-B1EC-9B65C33222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03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100">
                <a:latin typeface="Gill Sans MT" panose="020B0502020104020203" pitchFamily="34" charset="0"/>
              </a:defRPr>
            </a:lvl1pPr>
            <a:lvl2pPr>
              <a:defRPr sz="1800">
                <a:latin typeface="Gill Sans MT" panose="020B0502020104020203" pitchFamily="34" charset="0"/>
              </a:defRPr>
            </a:lvl2pPr>
            <a:lvl3pPr>
              <a:defRPr sz="1500">
                <a:latin typeface="Gill Sans MT" panose="020B0502020104020203" pitchFamily="34" charset="0"/>
              </a:defRPr>
            </a:lvl3pPr>
            <a:lvl4pPr>
              <a:defRPr sz="1350">
                <a:latin typeface="Gill Sans MT" panose="020B0502020104020203" pitchFamily="34" charset="0"/>
              </a:defRPr>
            </a:lvl4pPr>
            <a:lvl5pPr>
              <a:defRPr sz="1350"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CA343-6E9A-4C67-8163-3AF5D2F99C44}" type="datetime1">
              <a:rPr lang="en-SG" smtClean="0"/>
              <a:t>17/1/2018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5E7CC2-7937-497E-96F0-E007C30FFB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76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F16B45-9F87-4906-86B4-1C1A35DE67F6}" type="datetime1">
              <a:rPr lang="en-SG" smtClean="0"/>
              <a:t>17/1/2018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D880A9-6E8F-4F99-971C-6090AFC85F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350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A3F97C-9F18-42FA-80D9-626328C32296}" type="datetime1">
              <a:rPr lang="en-SG" smtClean="0"/>
              <a:t>17/1/2018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E58E2C-FFC5-4F9B-A732-2E28FF2E66F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440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02F723-7E2F-41C8-8CEF-7823A9BBB035}" type="datetime1">
              <a:rPr lang="en-SG" smtClean="0"/>
              <a:t>17/1/2018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A208D4-97A7-4B38-8AEA-0AEEF2F14E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742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514FDC-31CF-4145-B8FB-973DAD5BED31}" type="datetime1">
              <a:rPr lang="en-SG" smtClean="0"/>
              <a:t>17/1/2018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FF8392-828F-4E16-96F5-56CCE1A040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501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C9DDAA-A157-4DF9-BB1E-76C9C01D0ED4}" type="datetime1">
              <a:rPr lang="en-SG" smtClean="0"/>
              <a:t>17/1/2018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BAA8D2-C880-4D95-98F2-B77B0F6F02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036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F96C7E-CE42-4DB0-A7C7-88B5279BEF77}" type="datetime1">
              <a:rPr lang="en-SG" smtClean="0"/>
              <a:t>17/1/2018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0B842-5D14-4B17-94EC-5457238F9D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359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958729-D48F-4566-8BD4-C45A08EE6EAC}" type="datetime1">
              <a:rPr lang="en-SG" smtClean="0"/>
              <a:t>17/1/2018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0B9047-8566-4643-BC15-DC66EF98DE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9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6B2181-E9CA-4E8E-A695-492F1077D6B9}" type="datetime1">
              <a:rPr lang="en-SG" smtClean="0"/>
              <a:t>17/1/2018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A4D951-F209-4BAA-8847-8AFE90C22B3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500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1E6829-9DB1-49E3-9964-4D0D2718C9F1}" type="datetime1">
              <a:rPr lang="en-SG" smtClean="0"/>
              <a:t>17/1/2018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A594-2BEA-4B23-90F2-3878DFBD31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553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524000"/>
            <a:ext cx="3810000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86200"/>
            <a:ext cx="3810000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091A5-4990-4929-8E4E-0B0FC720ECB2}" type="datetime1">
              <a:rPr lang="en-SG" smtClean="0"/>
              <a:t>17/1/2018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400800"/>
            <a:ext cx="502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F2490-B094-412B-A59B-E6CBCE8A34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6699"/>
            </a:gs>
            <a:gs pos="100000">
              <a:srgbClr val="00507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0063" y="214313"/>
            <a:ext cx="82867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Session 1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0063" y="1285875"/>
            <a:ext cx="828675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Yesk to edit Master text styles</a:t>
            </a:r>
          </a:p>
          <a:p>
            <a:pPr lvl="1"/>
            <a:r>
              <a:rPr lang="en-US" smtClean="0"/>
              <a:t>Yesd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73067" name="Line 11"/>
          <p:cNvSpPr>
            <a:spLocks noChangeShapeType="1"/>
          </p:cNvSpPr>
          <p:nvPr userDrawn="1"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38100">
            <a:solidFill>
              <a:srgbClr val="33CC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214313" y="6429375"/>
            <a:ext cx="2000250" cy="428625"/>
          </a:xfrm>
          <a:prstGeom prst="rect">
            <a:avLst/>
          </a:prstGeom>
          <a:ln/>
        </p:spPr>
        <p:txBody>
          <a:bodyPr/>
          <a:lstStyle>
            <a:lvl1pPr algn="l">
              <a:defRPr sz="1100"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72313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A2C89C4-F396-4C21-BFFE-0C6768D6C0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</a:defRPr>
      </a:lvl9pPr>
    </p:titleStyle>
    <p:bodyStyle>
      <a:lvl1pPr marL="508000" indent="-5080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Char char="v"/>
        <a:defRPr sz="28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14400" indent="-4572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Char char="Ø"/>
        <a:defRPr sz="2400">
          <a:solidFill>
            <a:srgbClr val="FFFF00"/>
          </a:solidFill>
          <a:latin typeface="Arial" pitchFamily="34" charset="0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Arial" pitchFamily="34" charset="0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Arial" pitchFamily="34" charset="0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7870A-F389-491F-8F83-DAA2446EB068}" type="datetime1">
              <a:rPr lang="en-SG" smtClean="0"/>
              <a:t>17/1/2018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A2C89C4-F396-4C21-BFFE-0C6768D6C0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084" y="156548"/>
            <a:ext cx="1760732" cy="51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02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0125" y="1676401"/>
            <a:ext cx="6572250" cy="1924050"/>
          </a:xfrm>
        </p:spPr>
        <p:txBody>
          <a:bodyPr>
            <a:noAutofit/>
          </a:bodyPr>
          <a:lstStyle/>
          <a:p>
            <a:pPr marL="346075" indent="1588" eaLnBrk="1" hangingPunct="1"/>
            <a:r>
              <a:rPr lang="en-GB" sz="6000" dirty="0" smtClean="0">
                <a:cs typeface="Arial" charset="0"/>
              </a:rPr>
              <a:t>Identity Management</a:t>
            </a:r>
            <a:endParaRPr lang="en-US" sz="6000" dirty="0" smtClean="0">
              <a:cs typeface="Arial" charset="0"/>
            </a:endParaRPr>
          </a:p>
        </p:txBody>
      </p:sp>
      <p:sp>
        <p:nvSpPr>
          <p:cNvPr id="19459" name="Subtitle 3"/>
          <p:cNvSpPr>
            <a:spLocks noGrp="1"/>
          </p:cNvSpPr>
          <p:nvPr>
            <p:ph type="subTitle" idx="1"/>
          </p:nvPr>
        </p:nvSpPr>
        <p:spPr>
          <a:xfrm>
            <a:off x="1357313" y="4419599"/>
            <a:ext cx="6224587" cy="105727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 smtClean="0">
                <a:cs typeface="Arial" charset="0"/>
              </a:rPr>
              <a:t>Chapter 13</a:t>
            </a:r>
          </a:p>
          <a:p>
            <a:pPr algn="l" eaLnBrk="1" hangingPunct="1"/>
            <a:endParaRPr lang="en-US" sz="2400" dirty="0" smtClean="0"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</a:t>
            </a:r>
            <a:r>
              <a:rPr lang="en-US" sz="4000" dirty="0" smtClean="0"/>
              <a:t>Identity Management?</a:t>
            </a:r>
            <a:endParaRPr lang="en-US" sz="4000" dirty="0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724400"/>
          </a:xfrm>
          <a:noFill/>
          <a:ln/>
        </p:spPr>
        <p:txBody>
          <a:bodyPr>
            <a:noAutofit/>
          </a:bodyPr>
          <a:lstStyle/>
          <a:p>
            <a:pPr marL="182880" indent="-182880">
              <a:buFont typeface="Arial" charset="0"/>
              <a:buChar char="•"/>
              <a:defRPr/>
            </a:pPr>
            <a:r>
              <a:rPr lang="en-US" sz="2800" dirty="0"/>
              <a:t>A system of standards, procedures and technologies that provides electronic credentials to individuals.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182880" indent="-182880">
              <a:buFont typeface="Arial" charset="0"/>
              <a:buChar char="•"/>
              <a:defRPr/>
            </a:pPr>
            <a:r>
              <a:rPr lang="en-US" sz="2800" dirty="0"/>
              <a:t>Maintains authoritative information about individuals. </a:t>
            </a:r>
          </a:p>
          <a:p>
            <a:pPr marL="182880" indent="-182880">
              <a:buFont typeface="Arial" charset="0"/>
              <a:buChar char="•"/>
              <a:defRPr/>
            </a:pPr>
            <a:endParaRPr lang="en-US" sz="2800" dirty="0"/>
          </a:p>
          <a:p>
            <a:pPr marL="182880" indent="-182880">
              <a:buFont typeface="Arial" charset="0"/>
              <a:buChar char="•"/>
              <a:defRPr/>
            </a:pPr>
            <a:r>
              <a:rPr lang="en-US" sz="2800" dirty="0"/>
              <a:t>Establishes </a:t>
            </a:r>
            <a:r>
              <a:rPr lang="en-US" sz="2800" dirty="0" smtClean="0"/>
              <a:t>the trust </a:t>
            </a:r>
            <a:r>
              <a:rPr lang="en-US" sz="2800" dirty="0"/>
              <a:t>needed for transactions.</a:t>
            </a:r>
          </a:p>
          <a:p>
            <a:pPr marL="182880" indent="-182880">
              <a:buFont typeface="Arial" charset="0"/>
              <a:buChar char="•"/>
              <a:defRPr/>
            </a:pPr>
            <a:endParaRPr lang="en-US" sz="2800" dirty="0"/>
          </a:p>
          <a:p>
            <a:pPr marL="182880" indent="-182880">
              <a:buFont typeface="Arial" charset="0"/>
              <a:buChar char="•"/>
              <a:defRPr/>
            </a:pPr>
            <a:r>
              <a:rPr lang="en-US" sz="2800" dirty="0"/>
              <a:t>Facilitates and controls user access to online applications or resources.</a:t>
            </a:r>
          </a:p>
        </p:txBody>
      </p:sp>
    </p:spTree>
    <p:extLst>
      <p:ext uri="{BB962C8B-B14F-4D97-AF65-F5344CB8AC3E}">
        <p14:creationId xmlns:p14="http://schemas.microsoft.com/office/powerpoint/2010/main" val="59697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525780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2400" dirty="0"/>
              <a:t>Who are you? (identification)</a:t>
            </a:r>
          </a:p>
          <a:p>
            <a:pPr marL="182880">
              <a:buFont typeface="Arial" charset="0"/>
              <a:buChar char="•"/>
              <a:defRPr/>
            </a:pPr>
            <a:r>
              <a:rPr lang="en-US" sz="2400" dirty="0" smtClean="0"/>
              <a:t>Collect </a:t>
            </a:r>
            <a:r>
              <a:rPr lang="en-US" sz="2400" dirty="0"/>
              <a:t>personally identifying information to prove you are who you say you are (identity proofing), such as drivers license, passport, or biometric data</a:t>
            </a:r>
          </a:p>
          <a:p>
            <a:pPr marL="182880">
              <a:buFont typeface="Arial" charset="0"/>
              <a:buChar char="•"/>
              <a:defRPr/>
            </a:pPr>
            <a:r>
              <a:rPr lang="en-US" sz="2400" dirty="0" smtClean="0"/>
              <a:t>Assign </a:t>
            </a:r>
            <a:r>
              <a:rPr lang="en-US" sz="2400" dirty="0"/>
              <a:t>attributes [(name, address, college or university, department, role (faculty, staff, student), major, email address]</a:t>
            </a:r>
          </a:p>
          <a:p>
            <a:pPr lvl="2">
              <a:buFont typeface="Arial" charset="0"/>
              <a:buAutoNum type="arabicPeriod"/>
              <a:defRPr/>
            </a:pPr>
            <a:endParaRPr lang="en-US" sz="2400" dirty="0">
              <a:cs typeface="ＭＳ Ｐゴシック" charset="0"/>
            </a:endParaRPr>
          </a:p>
          <a:p>
            <a:pPr marL="0" indent="0">
              <a:buNone/>
              <a:defRPr/>
            </a:pPr>
            <a:r>
              <a:rPr lang="en-US" sz="2400" dirty="0"/>
              <a:t>How can you prove it? (authentication)</a:t>
            </a:r>
          </a:p>
          <a:p>
            <a:pPr marL="182880">
              <a:buFont typeface="Arial" charset="0"/>
              <a:buChar char="•"/>
              <a:defRPr/>
            </a:pPr>
            <a:r>
              <a:rPr lang="en-US" sz="2400" dirty="0" smtClean="0"/>
              <a:t>Verifying </a:t>
            </a:r>
            <a:r>
              <a:rPr lang="en-US" sz="2400" dirty="0"/>
              <a:t>that the person seeking access to a resource is the one previously identified and approved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What is </a:t>
            </a:r>
            <a:r>
              <a:rPr lang="en-US" sz="4000" dirty="0" smtClean="0"/>
              <a:t>Identity Management?</a:t>
            </a:r>
            <a:endParaRPr lang="en-US" sz="4000" dirty="0"/>
          </a:p>
        </p:txBody>
      </p:sp>
      <p:pic>
        <p:nvPicPr>
          <p:cNvPr id="5" name="Picture 4" descr="grid_and_lock_Small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622" y="4811091"/>
            <a:ext cx="2527300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301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534400" cy="4800600"/>
          </a:xfrm>
        </p:spPr>
        <p:txBody>
          <a:bodyPr>
            <a:noAutofit/>
          </a:bodyPr>
          <a:lstStyle/>
          <a:p>
            <a:pPr>
              <a:spcAft>
                <a:spcPct val="0"/>
              </a:spcAft>
              <a:buNone/>
            </a:pPr>
            <a:r>
              <a:rPr lang="en-US" altLang="en-US" sz="2800" dirty="0"/>
              <a:t>Authentication</a:t>
            </a:r>
            <a:r>
              <a:rPr lang="en-US" altLang="en-US" sz="2400" dirty="0"/>
              <a:t> – Verification (via a user ID and password) that a </a:t>
            </a:r>
            <a:r>
              <a:rPr lang="en-US" altLang="en-US" sz="2400" dirty="0" smtClean="0"/>
              <a:t>user is who they claim to be. Multi-factor authentication can be used.</a:t>
            </a:r>
            <a:endParaRPr lang="en-US" altLang="en-US" sz="2400" dirty="0"/>
          </a:p>
          <a:p>
            <a:pPr>
              <a:spcAft>
                <a:spcPct val="0"/>
              </a:spcAft>
              <a:buNone/>
            </a:pPr>
            <a:endParaRPr lang="en-US" altLang="en-US" sz="2400" dirty="0"/>
          </a:p>
          <a:p>
            <a:pPr>
              <a:spcAft>
                <a:spcPct val="0"/>
              </a:spcAft>
              <a:buNone/>
            </a:pPr>
            <a:r>
              <a:rPr lang="en-US" altLang="en-US" sz="2800" dirty="0"/>
              <a:t>Authorization</a:t>
            </a:r>
            <a:r>
              <a:rPr lang="en-US" altLang="en-US" sz="2400" dirty="0"/>
              <a:t> – Determining whether a </a:t>
            </a:r>
            <a:r>
              <a:rPr lang="en-US" altLang="en-US" sz="2400" dirty="0" smtClean="0"/>
              <a:t>user </a:t>
            </a:r>
            <a:r>
              <a:rPr lang="en-US" altLang="en-US" sz="2400" dirty="0"/>
              <a:t>is eligible to gain access to a resource or service. The authorization decision is made by the </a:t>
            </a:r>
            <a:r>
              <a:rPr lang="en-US" altLang="en-US" sz="2400" dirty="0" smtClean="0"/>
              <a:t>company where the user works in.</a:t>
            </a:r>
            <a:endParaRPr lang="en-US" alt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800" dirty="0" smtClean="0"/>
              <a:t>Accounting</a:t>
            </a:r>
            <a:r>
              <a:rPr lang="en-US" sz="2400" dirty="0" smtClean="0"/>
              <a:t> – Charges user for what they use.</a:t>
            </a:r>
            <a:endParaRPr lang="en-US" sz="2400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377687" y="609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Key Terms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392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63844" y="304800"/>
            <a:ext cx="7886700" cy="1325563"/>
          </a:xfrm>
        </p:spPr>
        <p:txBody>
          <a:bodyPr>
            <a:normAutofit/>
          </a:bodyPr>
          <a:lstStyle/>
          <a:p>
            <a:r>
              <a:rPr lang="en-GB" sz="4000" dirty="0" smtClean="0">
                <a:cs typeface="Arial" charset="0"/>
              </a:rPr>
              <a:t>Identity Management tools</a:t>
            </a:r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2622550" y="5829300"/>
            <a:ext cx="14636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Source from Linksys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sz="2800" dirty="0" smtClean="0">
                <a:solidFill>
                  <a:srgbClr val="0000FF"/>
                </a:solidFill>
              </a:rPr>
              <a:t>Typically companies use</a:t>
            </a:r>
          </a:p>
          <a:p>
            <a:r>
              <a:rPr lang="en-SG" sz="2800" dirty="0" smtClean="0"/>
              <a:t>RADIUS (Remote Authentication Dial-In User Service) </a:t>
            </a:r>
          </a:p>
          <a:p>
            <a:r>
              <a:rPr lang="en-SG" sz="2800" dirty="0"/>
              <a:t>TACACS+(Terminal Access Control Access Control Server Plus </a:t>
            </a:r>
            <a:r>
              <a:rPr lang="en-SG" sz="2800" dirty="0" smtClean="0"/>
              <a:t>)</a:t>
            </a:r>
          </a:p>
          <a:p>
            <a:pPr marL="0" indent="0">
              <a:buNone/>
            </a:pPr>
            <a:r>
              <a:rPr lang="en-SG" sz="2800" dirty="0" smtClean="0">
                <a:solidFill>
                  <a:srgbClr val="0000FF"/>
                </a:solidFill>
              </a:rPr>
              <a:t>to authenticate and authorise users.</a:t>
            </a:r>
            <a:endParaRPr lang="en-SG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cs typeface="Arial" charset="0"/>
              </a:rPr>
              <a:t>RADIUS Protocol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>
          <a:xfrm>
            <a:off x="142874" y="1371600"/>
            <a:ext cx="8620125" cy="4772025"/>
          </a:xfrm>
        </p:spPr>
        <p:txBody>
          <a:bodyPr>
            <a:noAutofit/>
          </a:bodyPr>
          <a:lstStyle/>
          <a:p>
            <a:r>
              <a:rPr lang="en-US" sz="2400" dirty="0">
                <a:cs typeface="Arial" panose="020B0604020202020204" pitchFamily="34" charset="0"/>
              </a:rPr>
              <a:t>is an open IETF standard AAA protocol for applications such as network access or IP mobility. </a:t>
            </a:r>
            <a:endParaRPr lang="en-US" sz="2400" dirty="0" smtClean="0">
              <a:cs typeface="Arial" panose="020B0604020202020204" pitchFamily="34" charset="0"/>
            </a:endParaRPr>
          </a:p>
          <a:p>
            <a:r>
              <a:rPr lang="en-US" sz="2400" dirty="0" smtClean="0">
                <a:cs typeface="Arial" panose="020B0604020202020204" pitchFamily="34" charset="0"/>
              </a:rPr>
              <a:t>hides </a:t>
            </a:r>
            <a:r>
              <a:rPr lang="en-US" sz="2400" dirty="0">
                <a:cs typeface="Arial" panose="020B0604020202020204" pitchFamily="34" charset="0"/>
              </a:rPr>
              <a:t>passwords during transmission but the rest of the packet is sent in plaintext.</a:t>
            </a:r>
          </a:p>
          <a:p>
            <a:r>
              <a:rPr lang="en-SG" sz="2400" dirty="0" smtClean="0">
                <a:cs typeface="Arial" panose="020B0604020202020204" pitchFamily="34" charset="0"/>
              </a:rPr>
              <a:t>combines </a:t>
            </a:r>
            <a:r>
              <a:rPr lang="en-SG" sz="2400" dirty="0">
                <a:cs typeface="Arial" panose="020B0604020202020204" pitchFamily="34" charset="0"/>
              </a:rPr>
              <a:t>authentication and authorization as one process which means that when a user is authenticated, that user is also authorized. </a:t>
            </a:r>
          </a:p>
          <a:p>
            <a:pPr marL="171450" lvl="1"/>
            <a:r>
              <a:rPr lang="en-SG" sz="2400" dirty="0" smtClean="0">
                <a:cs typeface="Arial" panose="020B0604020202020204" pitchFamily="34" charset="0"/>
              </a:rPr>
              <a:t>uses </a:t>
            </a:r>
            <a:r>
              <a:rPr lang="en-SG" sz="2400" dirty="0">
                <a:cs typeface="Arial" panose="020B0604020202020204" pitchFamily="34" charset="0"/>
              </a:rPr>
              <a:t>UDP port 1645 or 1812 for authentication and UDP port 1646 or 1813 for accounting.</a:t>
            </a:r>
          </a:p>
          <a:p>
            <a:endParaRPr lang="en-US" sz="2400" dirty="0">
              <a:cs typeface="Arial" panose="020B0604020202020204" pitchFamily="34" charset="0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4" y="4658277"/>
            <a:ext cx="8537575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978024" y="5153577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 dirty="0">
                <a:solidFill>
                  <a:srgbClr val="C00000"/>
                </a:solidFill>
              </a:rPr>
              <a:t>Username?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968499" y="5515527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>
                <a:solidFill>
                  <a:srgbClr val="0000FF"/>
                </a:solidFill>
              </a:rPr>
              <a:t>JR-ADMIN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968499" y="5820327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 dirty="0">
                <a:solidFill>
                  <a:srgbClr val="C00000"/>
                </a:solidFill>
              </a:rPr>
              <a:t>Password?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968499" y="6201327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>
                <a:solidFill>
                  <a:srgbClr val="0000FF"/>
                </a:solidFill>
              </a:rPr>
              <a:t>Str0ngPa55w0rd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254624" y="4982127"/>
            <a:ext cx="2209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rgbClr val="0000FF"/>
                </a:solidFill>
              </a:rPr>
              <a:t>Access-Request</a:t>
            </a:r>
          </a:p>
          <a:p>
            <a:pPr algn="ctr" eaLnBrk="1" hangingPunct="1">
              <a:lnSpc>
                <a:spcPct val="100000"/>
              </a:lnSpc>
            </a:pPr>
            <a:r>
              <a:rPr lang="en-US" sz="1000" dirty="0">
                <a:solidFill>
                  <a:srgbClr val="0000FF"/>
                </a:solidFill>
              </a:rPr>
              <a:t>(JR_ADMIN, </a:t>
            </a:r>
            <a:r>
              <a:rPr lang="ja-JP" altLang="en-US" sz="1000" dirty="0">
                <a:solidFill>
                  <a:srgbClr val="0000FF"/>
                </a:solidFill>
              </a:rPr>
              <a:t>“</a:t>
            </a:r>
            <a:r>
              <a:rPr lang="en-US" sz="1000" dirty="0">
                <a:solidFill>
                  <a:srgbClr val="0000FF"/>
                </a:solidFill>
              </a:rPr>
              <a:t>Str0ngPa55w0rd</a:t>
            </a:r>
            <a:r>
              <a:rPr lang="ja-JP" altLang="en-US" sz="1000" dirty="0">
                <a:solidFill>
                  <a:srgbClr val="0000FF"/>
                </a:solidFill>
              </a:rPr>
              <a:t>”</a:t>
            </a:r>
            <a:r>
              <a:rPr lang="en-US" sz="1000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254624" y="5448852"/>
            <a:ext cx="2209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sz="1400" dirty="0">
                <a:solidFill>
                  <a:srgbClr val="0000FF"/>
                </a:solidFill>
              </a:rPr>
              <a:t>Access-Accept</a:t>
            </a:r>
            <a:endParaRPr lang="en-US" sz="1000" dirty="0">
              <a:solidFill>
                <a:srgbClr val="0000FF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2084" y="5949212"/>
            <a:ext cx="9905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SG" dirty="0" smtClean="0"/>
              <a:t>Server</a:t>
            </a:r>
            <a:endParaRPr lang="en-S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GB" sz="4000" dirty="0" smtClean="0">
                <a:cs typeface="Arial" charset="0"/>
              </a:rPr>
              <a:t>TACACS+ Protocol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572500" cy="4914899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SG" sz="2400" dirty="0">
                <a:cs typeface="Arial" charset="0"/>
              </a:rPr>
              <a:t>Both protocols can be used to communicate between client and AAA servers.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SG" sz="2400" dirty="0">
                <a:cs typeface="Arial" charset="0"/>
              </a:rPr>
              <a:t>TACACS+ is considered the more secure protocol because all exchanges are encrypted.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SG" sz="2400" dirty="0">
                <a:cs typeface="Arial" charset="0"/>
              </a:rPr>
              <a:t>Radius only encrypts the user </a:t>
            </a:r>
            <a:r>
              <a:rPr lang="en-SG" sz="2400" smtClean="0">
                <a:cs typeface="Arial" charset="0"/>
              </a:rPr>
              <a:t>password. It </a:t>
            </a:r>
            <a:r>
              <a:rPr lang="en-SG" sz="2400" dirty="0">
                <a:cs typeface="Arial" charset="0"/>
              </a:rPr>
              <a:t>does not encrypt user names, accounting information, or any other information carried in the radius message.</a:t>
            </a:r>
          </a:p>
        </p:txBody>
      </p:sp>
      <p:pic>
        <p:nvPicPr>
          <p:cNvPr id="4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3970259"/>
            <a:ext cx="8683625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870075" y="4383009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 dirty="0">
                <a:solidFill>
                  <a:srgbClr val="0000FF"/>
                </a:solidFill>
              </a:rPr>
              <a:t>Connect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680075" y="4354434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 dirty="0">
                <a:solidFill>
                  <a:srgbClr val="0000FF"/>
                </a:solidFill>
              </a:rPr>
              <a:t>Username prompt?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870075" y="4754484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 dirty="0">
                <a:solidFill>
                  <a:srgbClr val="C00000"/>
                </a:solidFill>
              </a:rPr>
              <a:t>Username?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680075" y="4716384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>
                <a:solidFill>
                  <a:srgbClr val="C00000"/>
                </a:solidFill>
              </a:rPr>
              <a:t>Use </a:t>
            </a:r>
            <a:r>
              <a:rPr lang="ja-JP" altLang="en-US" sz="1400">
                <a:solidFill>
                  <a:srgbClr val="C00000"/>
                </a:solidFill>
              </a:rPr>
              <a:t>“</a:t>
            </a:r>
            <a:r>
              <a:rPr lang="en-US" sz="1400">
                <a:solidFill>
                  <a:srgbClr val="C00000"/>
                </a:solidFill>
              </a:rPr>
              <a:t>Username</a:t>
            </a:r>
            <a:r>
              <a:rPr lang="ja-JP" altLang="en-US" sz="1400">
                <a:solidFill>
                  <a:srgbClr val="C00000"/>
                </a:solidFill>
              </a:rPr>
              <a:t>”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889125" y="5135484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>
                <a:solidFill>
                  <a:srgbClr val="0000FF"/>
                </a:solidFill>
              </a:rPr>
              <a:t>JR-ADMIN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680075" y="5078334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>
                <a:solidFill>
                  <a:srgbClr val="C00000"/>
                </a:solidFill>
              </a:rPr>
              <a:t>JR-ADMIN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870075" y="5821284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>
                <a:solidFill>
                  <a:srgbClr val="C00000"/>
                </a:solidFill>
              </a:rPr>
              <a:t>Password?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680075" y="5449809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>
                <a:solidFill>
                  <a:srgbClr val="0000FF"/>
                </a:solidFill>
              </a:rPr>
              <a:t>Password prompt?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879600" y="6173709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ja-JP" altLang="en-US" sz="1400">
                <a:solidFill>
                  <a:srgbClr val="0000FF"/>
                </a:solidFill>
              </a:rPr>
              <a:t>“</a:t>
            </a:r>
            <a:r>
              <a:rPr lang="en-US" sz="1400">
                <a:solidFill>
                  <a:srgbClr val="0000FF"/>
                </a:solidFill>
              </a:rPr>
              <a:t>Str0ngPa55w0rd</a:t>
            </a:r>
            <a:r>
              <a:rPr lang="ja-JP" altLang="en-US" sz="1400">
                <a:solidFill>
                  <a:srgbClr val="0000FF"/>
                </a:solidFill>
              </a:rPr>
              <a:t>”</a:t>
            </a:r>
            <a:endParaRPr lang="en-US" sz="1400">
              <a:solidFill>
                <a:srgbClr val="0000FF"/>
              </a:solidFill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680075" y="5840334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>
                <a:solidFill>
                  <a:srgbClr val="C00000"/>
                </a:solidFill>
              </a:rPr>
              <a:t>Use </a:t>
            </a:r>
            <a:r>
              <a:rPr lang="ja-JP" altLang="en-US" sz="1400">
                <a:solidFill>
                  <a:srgbClr val="C00000"/>
                </a:solidFill>
              </a:rPr>
              <a:t>“</a:t>
            </a:r>
            <a:r>
              <a:rPr lang="en-US" sz="1400">
                <a:solidFill>
                  <a:srgbClr val="C00000"/>
                </a:solidFill>
              </a:rPr>
              <a:t>Password</a:t>
            </a:r>
            <a:r>
              <a:rPr lang="ja-JP" altLang="en-US" sz="1400">
                <a:solidFill>
                  <a:srgbClr val="C00000"/>
                </a:solidFill>
              </a:rPr>
              <a:t>”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5756275" y="6516609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400">
                <a:solidFill>
                  <a:srgbClr val="C00000"/>
                </a:solidFill>
              </a:rPr>
              <a:t>Accept/Reject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5680075" y="6145134"/>
            <a:ext cx="16764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ja-JP" altLang="en-US" sz="1400">
                <a:solidFill>
                  <a:srgbClr val="C00000"/>
                </a:solidFill>
              </a:rPr>
              <a:t>“</a:t>
            </a:r>
            <a:r>
              <a:rPr lang="en-US" sz="1400">
                <a:solidFill>
                  <a:srgbClr val="C00000"/>
                </a:solidFill>
              </a:rPr>
              <a:t>Str0ngPa55w0rd</a:t>
            </a:r>
            <a:r>
              <a:rPr lang="ja-JP" altLang="en-US" sz="1400">
                <a:solidFill>
                  <a:srgbClr val="C00000"/>
                </a:solidFill>
              </a:rPr>
              <a:t>”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36460" y="5183109"/>
            <a:ext cx="9905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SG" dirty="0" smtClean="0"/>
              <a:t>Server</a:t>
            </a:r>
            <a:endParaRPr lang="en-S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04801"/>
            <a:ext cx="7886700" cy="880774"/>
          </a:xfrm>
        </p:spPr>
        <p:txBody>
          <a:bodyPr>
            <a:normAutofit/>
          </a:bodyPr>
          <a:lstStyle/>
          <a:p>
            <a:r>
              <a:rPr lang="en-GB" sz="3600" dirty="0" smtClean="0">
                <a:cs typeface="Arial" charset="0"/>
              </a:rPr>
              <a:t>TACACS+ Vs RADIUS</a:t>
            </a:r>
          </a:p>
        </p:txBody>
      </p:sp>
      <p:graphicFrame>
        <p:nvGraphicFramePr>
          <p:cNvPr id="5" name="Group 13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69238218"/>
              </p:ext>
            </p:extLst>
          </p:nvPr>
        </p:nvGraphicFramePr>
        <p:xfrm>
          <a:off x="532606" y="1066800"/>
          <a:ext cx="8078788" cy="5672426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2071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2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450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Feature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TACACS+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RADIUS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02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Functionality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bg1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Separates AAA according to the AAA architecture, allowing modularity of the security server implementation 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Combines authentication and authorization but separates accounting, allowing less flexibility in implementation than TACACS+.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16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Standard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Mostly Cisco supported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Open/RFC standard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323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Transport Protocol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TCP port 49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UDP port 1645 or 1812 for authentication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UDP port 1646 or 1813 for accounting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213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CHAP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Bidirectional challenge and response </a:t>
                      </a:r>
                    </a:p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as used in CHAP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Unidirectional challenge and response from the RADIUS security server to the RADIUS client.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628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Protocol Support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Multiprotocol support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No ARA, no NetBEUI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628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Confidentiality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Entire packet encrypted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Only the password is encrypted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213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Customization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  Provides authorization of router commands on a per-user or per-group basis. 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Has no option to authorize router commands on a per-user or per-group basis.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4104">
                <a:tc>
                  <a:txBody>
                    <a:bodyPr/>
                    <a:lstStyle/>
                    <a:p>
                      <a:pPr marL="0" marR="0" lvl="0" indent="0" algn="l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Accounting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Limited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8143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Gill Sans MT" panose="020B0502020104020203" pitchFamily="34" charset="0"/>
                        </a:rPr>
                        <a:t>Extensive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55902"/>
            <a:ext cx="7772400" cy="533400"/>
          </a:xfrm>
        </p:spPr>
        <p:txBody>
          <a:bodyPr>
            <a:noAutofit/>
          </a:bodyPr>
          <a:lstStyle/>
          <a:p>
            <a:r>
              <a:rPr lang="en-GB" sz="4000" dirty="0" smtClean="0">
                <a:cs typeface="Arial" charset="0"/>
              </a:rPr>
              <a:t>Problems with Identity Management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338263"/>
            <a:ext cx="7910512" cy="4876800"/>
          </a:xfrm>
        </p:spPr>
        <p:txBody>
          <a:bodyPr>
            <a:normAutofit/>
          </a:bodyPr>
          <a:lstStyle/>
          <a:p>
            <a:r>
              <a:rPr lang="en-SG" sz="2800" dirty="0">
                <a:cs typeface="Arial" charset="0"/>
              </a:rPr>
              <a:t>Networks use multiple identity systems</a:t>
            </a:r>
          </a:p>
          <a:p>
            <a:r>
              <a:rPr lang="en-SG" sz="2800" dirty="0" smtClean="0">
                <a:cs typeface="Arial" charset="0"/>
              </a:rPr>
              <a:t>Users </a:t>
            </a:r>
            <a:r>
              <a:rPr lang="en-SG" sz="2800" dirty="0">
                <a:cs typeface="Arial" charset="0"/>
              </a:rPr>
              <a:t>get confused with all of these IDs</a:t>
            </a:r>
          </a:p>
          <a:p>
            <a:r>
              <a:rPr lang="en-SG" sz="2800" dirty="0">
                <a:cs typeface="Arial" charset="0"/>
              </a:rPr>
              <a:t>Management and audit has difficulty keeping track of all these </a:t>
            </a:r>
            <a:r>
              <a:rPr lang="en-SG" sz="2800" dirty="0" smtClean="0">
                <a:cs typeface="Arial" charset="0"/>
              </a:rPr>
              <a:t>IDs</a:t>
            </a:r>
          </a:p>
          <a:p>
            <a:r>
              <a:rPr lang="en-SG" sz="2800" dirty="0" smtClean="0">
                <a:cs typeface="Arial" charset="0"/>
              </a:rPr>
              <a:t>Results in Identity theft</a:t>
            </a:r>
            <a:endParaRPr lang="en-SG" sz="2800" dirty="0"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465" y="3276601"/>
            <a:ext cx="5947377" cy="31836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Many are impacted…</a:t>
            </a:r>
            <a:endParaRPr lang="en-SG" dirty="0"/>
          </a:p>
        </p:txBody>
      </p:sp>
      <p:graphicFrame>
        <p:nvGraphicFramePr>
          <p:cNvPr id="8" name="Group 73"/>
          <p:cNvGraphicFramePr>
            <a:graphicFrameLocks noGrp="1"/>
          </p:cNvGraphicFramePr>
          <p:nvPr>
            <p:ph idx="1"/>
          </p:nvPr>
        </p:nvGraphicFramePr>
        <p:xfrm>
          <a:off x="566738" y="1752600"/>
          <a:ext cx="8001000" cy="3910542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1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End-users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o"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Too many IDs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o"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Too many passwords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o"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Must wait for access to applications</a:t>
                      </a:r>
                      <a:endParaRPr kumimoji="0" lang="en-US" sz="2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1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Administrators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o"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Too many IDs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o"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Too many end-user requests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o"/>
                        <a:tabLst/>
                      </a:pPr>
                      <a:r>
                        <a:rPr kumimoji="0" 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Difficult or unreliable ways to syncs all the accounts</a:t>
                      </a:r>
                      <a:endParaRPr kumimoji="0" lang="en-US" sz="2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5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Audit/Compliance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o"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Orphaned accounts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o"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Limited or no audit capability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o"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Where are the audit trails?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092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Solutions for an effective IM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5410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SG" sz="2800" dirty="0" smtClean="0"/>
              <a:t>Single Sign On</a:t>
            </a:r>
          </a:p>
          <a:p>
            <a:r>
              <a:rPr lang="en-SG" dirty="0"/>
              <a:t> a user logs in with a single ID and password to gain access to a connected system or systems without using different usernames or passwords, or in some configurations seamlessly sign on at each system.</a:t>
            </a:r>
            <a:endParaRPr lang="en-SG" sz="2800" dirty="0"/>
          </a:p>
          <a:p>
            <a:pPr marL="0" indent="0">
              <a:buNone/>
            </a:pPr>
            <a:endParaRPr lang="en-SG" sz="2800" dirty="0" smtClean="0"/>
          </a:p>
          <a:p>
            <a:pPr marL="0" indent="0">
              <a:buNone/>
            </a:pPr>
            <a:r>
              <a:rPr lang="en-SG" sz="2800" dirty="0" smtClean="0"/>
              <a:t>Automated password reset links</a:t>
            </a:r>
          </a:p>
          <a:p>
            <a:r>
              <a:rPr lang="en-SG" dirty="0" smtClean="0"/>
              <a:t>User answers predefined questions to verify identity and an automated tool will reset password for user.</a:t>
            </a:r>
          </a:p>
          <a:p>
            <a:pPr marL="0" indent="0">
              <a:buNone/>
            </a:pPr>
            <a:endParaRPr lang="en-SG" dirty="0" smtClean="0"/>
          </a:p>
          <a:p>
            <a:pPr marL="0" indent="0">
              <a:buNone/>
            </a:pPr>
            <a:r>
              <a:rPr lang="en-SG" sz="2800" dirty="0" smtClean="0"/>
              <a:t>Automated user provisioning to Active Directory</a:t>
            </a:r>
          </a:p>
          <a:p>
            <a:r>
              <a:rPr lang="en-SG" dirty="0"/>
              <a:t>Auto-provisioning. For example:</a:t>
            </a:r>
          </a:p>
          <a:p>
            <a:pPr lvl="1"/>
            <a:r>
              <a:rPr lang="en-SG" sz="2100" dirty="0"/>
              <a:t>Monitor an HR application and automatically create new users on other systems and applications when new employee records appear in the HR database.</a:t>
            </a:r>
          </a:p>
          <a:p>
            <a:r>
              <a:rPr lang="en-SG" dirty="0"/>
              <a:t>Auto-deactivation. For example:</a:t>
            </a:r>
          </a:p>
          <a:p>
            <a:pPr lvl="1"/>
            <a:r>
              <a:rPr lang="en-SG" sz="2100" dirty="0"/>
              <a:t>Monitor an HR application and automatically deactivate users objects on other systems and applications when an employee records either disappears or is marked as inactive in the HR database.</a:t>
            </a:r>
          </a:p>
          <a:p>
            <a:pPr marL="0" indent="0">
              <a:buNone/>
            </a:pP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26844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 smtClean="0"/>
              <a:t>THE END</a:t>
            </a:r>
            <a:endParaRPr lang="en-SG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1720074"/>
      </p:ext>
    </p:extLst>
  </p:cSld>
  <p:clrMapOvr>
    <a:masterClrMapping/>
  </p:clrMapOvr>
</p:sld>
</file>

<file path=ppt/theme/theme1.xml><?xml version="1.0" encoding="utf-8"?>
<a:theme xmlns:a="http://schemas.openxmlformats.org/drawingml/2006/main" name="1_Chap01-Intro">
  <a:themeElements>
    <a:clrScheme name="Chap01-Intro 2">
      <a:dk1>
        <a:srgbClr val="000000"/>
      </a:dk1>
      <a:lt1>
        <a:srgbClr val="FFFFFF"/>
      </a:lt1>
      <a:dk2>
        <a:srgbClr val="0000FF"/>
      </a:dk2>
      <a:lt2>
        <a:srgbClr val="FFFF00"/>
      </a:lt2>
      <a:accent1>
        <a:srgbClr val="FF9900"/>
      </a:accent1>
      <a:accent2>
        <a:srgbClr val="00FFFF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Chap01-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Chap01-Intr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01-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ap01-Intr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01-Intr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01-Intr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01-Intr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01-Intr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C1C5D1BB-B8B3-449E-ABE3-BD1ADC446175}" vid="{8783730B-F0DD-45C7-9301-B01A4242EBAF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9235</TotalTime>
  <Words>644</Words>
  <Application>Microsoft Office PowerPoint</Application>
  <PresentationFormat>On-screen Show (4:3)</PresentationFormat>
  <Paragraphs>121</Paragraphs>
  <Slides>12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  <vt:variant>
        <vt:lpstr>Custom Shows</vt:lpstr>
      </vt:variant>
      <vt:variant>
        <vt:i4>3</vt:i4>
      </vt:variant>
    </vt:vector>
  </HeadingPairs>
  <TitlesOfParts>
    <vt:vector size="23" baseType="lpstr">
      <vt:lpstr>ＭＳ Ｐゴシック</vt:lpstr>
      <vt:lpstr>Arial</vt:lpstr>
      <vt:lpstr>Gill Sans MT</vt:lpstr>
      <vt:lpstr>Times New Roman</vt:lpstr>
      <vt:lpstr>Verdana</vt:lpstr>
      <vt:lpstr>Wingdings</vt:lpstr>
      <vt:lpstr>1_Chap01-Intro</vt:lpstr>
      <vt:lpstr>Theme</vt:lpstr>
      <vt:lpstr>Identity Management</vt:lpstr>
      <vt:lpstr>What is Identity Management?</vt:lpstr>
      <vt:lpstr>What is Identity Management?</vt:lpstr>
      <vt:lpstr>Key Terms</vt:lpstr>
      <vt:lpstr>Identity Management tools</vt:lpstr>
      <vt:lpstr>RADIUS Protocol</vt:lpstr>
      <vt:lpstr>TACACS+ Protocol</vt:lpstr>
      <vt:lpstr>TACACS+ Vs RADIUS</vt:lpstr>
      <vt:lpstr>Problems with Identity Management</vt:lpstr>
      <vt:lpstr>Many are impacted…</vt:lpstr>
      <vt:lpstr>Solutions for an effective IM</vt:lpstr>
      <vt:lpstr>THE END</vt:lpstr>
      <vt:lpstr>ECSMP - Crypto 1</vt:lpstr>
      <vt:lpstr>ECSMP - Crypto 2</vt:lpstr>
      <vt:lpstr>Crypto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Application of Cryptography</dc:title>
  <dc:creator>ARTHI CHANDRASEKARAN</dc:creator>
  <cp:lastModifiedBy>ARTHI CHANDRASEKARAN</cp:lastModifiedBy>
  <cp:revision>433</cp:revision>
  <dcterms:created xsi:type="dcterms:W3CDTF">1601-01-01T00:00:00Z</dcterms:created>
  <dcterms:modified xsi:type="dcterms:W3CDTF">2018-01-17T07:46:37Z</dcterms:modified>
</cp:coreProperties>
</file>