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3" r:id="rId1"/>
  </p:sldMasterIdLst>
  <p:notesMasterIdLst>
    <p:notesMasterId r:id="rId60"/>
  </p:notesMasterIdLst>
  <p:handoutMasterIdLst>
    <p:handoutMasterId r:id="rId61"/>
  </p:handoutMasterIdLst>
  <p:sldIdLst>
    <p:sldId id="258" r:id="rId2"/>
    <p:sldId id="261" r:id="rId3"/>
    <p:sldId id="262" r:id="rId4"/>
    <p:sldId id="263" r:id="rId5"/>
    <p:sldId id="264" r:id="rId6"/>
    <p:sldId id="265" r:id="rId7"/>
    <p:sldId id="286" r:id="rId8"/>
    <p:sldId id="266" r:id="rId9"/>
    <p:sldId id="285" r:id="rId10"/>
    <p:sldId id="267" r:id="rId11"/>
    <p:sldId id="287" r:id="rId12"/>
    <p:sldId id="289" r:id="rId13"/>
    <p:sldId id="288" r:id="rId14"/>
    <p:sldId id="290" r:id="rId15"/>
    <p:sldId id="291" r:id="rId16"/>
    <p:sldId id="292" r:id="rId17"/>
    <p:sldId id="293" r:id="rId18"/>
    <p:sldId id="298" r:id="rId19"/>
    <p:sldId id="294" r:id="rId20"/>
    <p:sldId id="354" r:id="rId21"/>
    <p:sldId id="355" r:id="rId22"/>
    <p:sldId id="295" r:id="rId23"/>
    <p:sldId id="296" r:id="rId24"/>
    <p:sldId id="268" r:id="rId25"/>
    <p:sldId id="299" r:id="rId26"/>
    <p:sldId id="300" r:id="rId27"/>
    <p:sldId id="301" r:id="rId28"/>
    <p:sldId id="327" r:id="rId29"/>
    <p:sldId id="328" r:id="rId30"/>
    <p:sldId id="329" r:id="rId31"/>
    <p:sldId id="326" r:id="rId32"/>
    <p:sldId id="316" r:id="rId33"/>
    <p:sldId id="317" r:id="rId34"/>
    <p:sldId id="318" r:id="rId35"/>
    <p:sldId id="319" r:id="rId36"/>
    <p:sldId id="320" r:id="rId37"/>
    <p:sldId id="321" r:id="rId38"/>
    <p:sldId id="334" r:id="rId39"/>
    <p:sldId id="322" r:id="rId40"/>
    <p:sldId id="324" r:id="rId41"/>
    <p:sldId id="848" r:id="rId42"/>
    <p:sldId id="849" r:id="rId43"/>
    <p:sldId id="850" r:id="rId44"/>
    <p:sldId id="851" r:id="rId45"/>
    <p:sldId id="331" r:id="rId46"/>
    <p:sldId id="332" r:id="rId47"/>
    <p:sldId id="333" r:id="rId48"/>
    <p:sldId id="348" r:id="rId49"/>
    <p:sldId id="882" r:id="rId50"/>
    <p:sldId id="877" r:id="rId51"/>
    <p:sldId id="878" r:id="rId52"/>
    <p:sldId id="879" r:id="rId53"/>
    <p:sldId id="880" r:id="rId54"/>
    <p:sldId id="885" r:id="rId55"/>
    <p:sldId id="881" r:id="rId56"/>
    <p:sldId id="883" r:id="rId57"/>
    <p:sldId id="884" r:id="rId58"/>
    <p:sldId id="356" r:id="rId59"/>
  </p:sldIdLst>
  <p:sldSz cx="9144000" cy="6858000" type="screen4x3"/>
  <p:notesSz cx="6858000" cy="9199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838" autoAdjust="0"/>
    <p:restoredTop sz="90929"/>
  </p:normalViewPr>
  <p:slideViewPr>
    <p:cSldViewPr>
      <p:cViewPr varScale="1">
        <p:scale>
          <a:sx n="69" d="100"/>
          <a:sy n="69" d="100"/>
        </p:scale>
        <p:origin x="67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53.xml"/><Relationship Id="rId3" Type="http://schemas.openxmlformats.org/officeDocument/2006/relationships/slide" Target="slides/slide43.xml"/><Relationship Id="rId7" Type="http://schemas.openxmlformats.org/officeDocument/2006/relationships/slide" Target="slides/slide52.xml"/><Relationship Id="rId2" Type="http://schemas.openxmlformats.org/officeDocument/2006/relationships/slide" Target="slides/slide42.xml"/><Relationship Id="rId1" Type="http://schemas.openxmlformats.org/officeDocument/2006/relationships/slide" Target="slides/slide41.xml"/><Relationship Id="rId6" Type="http://schemas.openxmlformats.org/officeDocument/2006/relationships/slide" Target="slides/slide51.xml"/><Relationship Id="rId11" Type="http://schemas.openxmlformats.org/officeDocument/2006/relationships/slide" Target="slides/slide57.xml"/><Relationship Id="rId5" Type="http://schemas.openxmlformats.org/officeDocument/2006/relationships/slide" Target="slides/slide50.xml"/><Relationship Id="rId10" Type="http://schemas.openxmlformats.org/officeDocument/2006/relationships/slide" Target="slides/slide56.xml"/><Relationship Id="rId4" Type="http://schemas.openxmlformats.org/officeDocument/2006/relationships/slide" Target="slides/slide44.xml"/><Relationship Id="rId9" Type="http://schemas.openxmlformats.org/officeDocument/2006/relationships/slide" Target="slides/slide5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0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0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4B92C37-E215-48E1-B1CC-A19A0EC0B511}" type="datetimeFigureOut">
              <a:rPr lang="en-US" altLang="en-US"/>
              <a:pPr>
                <a:defRPr/>
              </a:pPr>
              <a:t>10/30/2018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37600"/>
            <a:ext cx="2971800" cy="4603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737600"/>
            <a:ext cx="2971800" cy="4603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DB69A25-C3AD-4D2E-AC7E-46625B8345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73534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0300" y="690563"/>
            <a:ext cx="4597400" cy="3449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0388"/>
            <a:ext cx="5029200" cy="413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39188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39188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7495E3BB-46CC-4C1D-BC4A-120F111379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6615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9.2.1.7 Creating Named Standard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ACLs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61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9.2.1.8 Commenting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ACLs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452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9.2.2.1 Editing Standard Numbered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ACLs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223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9.2.2.2 Editing Standard Numbered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ACLs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(Cont.)</a:t>
            </a:r>
          </a:p>
        </p:txBody>
      </p:sp>
    </p:spTree>
    <p:extLst>
      <p:ext uri="{BB962C8B-B14F-4D97-AF65-F5344CB8AC3E}">
        <p14:creationId xmlns:p14="http://schemas.microsoft.com/office/powerpoint/2010/main" val="3614114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9.5.1.1 Type of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ACLs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540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9.5.1.2 Comparing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IPv4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ACLs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7499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9.5.2.1 Configuring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Topology</a:t>
            </a:r>
          </a:p>
        </p:txBody>
      </p:sp>
    </p:spTree>
    <p:extLst>
      <p:ext uri="{BB962C8B-B14F-4D97-AF65-F5344CB8AC3E}">
        <p14:creationId xmlns:p14="http://schemas.microsoft.com/office/powerpoint/2010/main" val="175444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9.5.2.2 Configuring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ACLs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0929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9.5.2.3 Applying an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ACL to an Interface</a:t>
            </a:r>
          </a:p>
        </p:txBody>
      </p:sp>
    </p:spTree>
    <p:extLst>
      <p:ext uri="{BB962C8B-B14F-4D97-AF65-F5344CB8AC3E}">
        <p14:creationId xmlns:p14="http://schemas.microsoft.com/office/powerpoint/2010/main" val="3081232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9.5.2.4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ACL Examples</a:t>
            </a:r>
          </a:p>
        </p:txBody>
      </p:sp>
    </p:spTree>
    <p:extLst>
      <p:ext uri="{BB962C8B-B14F-4D97-AF65-F5344CB8AC3E}">
        <p14:creationId xmlns:p14="http://schemas.microsoft.com/office/powerpoint/2010/main" val="4280394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9.5.2.5 Verifying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ACLs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6867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009B-1AD0-4C4A-A885-7B82C05AE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BF245-4C29-4696-BEDC-CCEE2ED0AC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latin typeface="Gill Sans MT" panose="020B05020201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C9FC8-BFCF-49B5-B93E-A8B2F2343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9269C-26E7-4308-B2C8-867219859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F28CE-81B5-4338-A77C-DDFF36A0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77A0D0-B18C-404F-B05A-D512B8A8B26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9636861"/>
      </p:ext>
    </p:extLst>
  </p:cSld>
  <p:clrMapOvr>
    <a:masterClrMapping/>
  </p:clrMapOvr>
  <p:transition spd="med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85D6-125D-4AB8-80E3-771B8F04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B16D3-8BC8-4649-9E61-5F25CA2CE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56A8B-03F2-424F-A4B7-64D1C911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E45F-9CB0-4F27-BF9D-3783D2380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EA7DA-FA8C-4172-BFCD-1D197E15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55A167-0021-49C2-9BE2-74A7A3C89BF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580299"/>
      </p:ext>
    </p:extLst>
  </p:cSld>
  <p:clrMapOvr>
    <a:masterClrMapping/>
  </p:clrMapOvr>
  <p:transition spd="med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9CAAD-075D-4296-8B6F-958B947D9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B078A-98FD-42AD-A383-131FDD0D2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A174E-0375-4F27-AA41-ADD660B8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A13C5-A878-4071-8BC9-CB4F71757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altLang="en-US"/>
              <a:t>Essentials of IT and Networking       </a:t>
            </a:r>
            <a:r>
              <a:rPr lang="en-US" altLang="en-US"/>
              <a:t>Copyrights © Nanyang Polytechnic	</a:t>
            </a:r>
            <a:endParaRPr lang="en-US" altLang="en-US">
              <a:latin typeface="Trebuchet MS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9FAD6-2FA0-40A2-8AD5-7934B486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3D9C6-F984-4A71-88FB-CAE21B4F694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62275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FB97-D545-4623-9C9A-769A57ADB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B415E-C41F-4387-AFDC-38621EC5B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68C502-8E17-45FF-B49A-8C14F2495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5A5A1-BD42-4DAC-823C-5D87F75C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C9AF7-A283-481C-86E2-84560CDD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altLang="en-US"/>
              <a:t>Essentials of IT and Networking       </a:t>
            </a:r>
            <a:r>
              <a:rPr lang="en-US" altLang="en-US"/>
              <a:t>Copyrights © Nanyang Polytechnic	</a:t>
            </a:r>
            <a:endParaRPr lang="en-US" altLang="en-US">
              <a:latin typeface="Trebuchet MS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102E5-9207-417E-95EF-441E9A9A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3D9C6-F984-4A71-88FB-CAE21B4F694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33514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D574F-79AB-48DB-9B24-AA0DA258D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4BD7F-AB0A-4150-A41D-7F1D6E09B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8EF69-98F1-4B8D-90C4-FD840CBBB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D72DB-B1A6-466E-AF55-09D748A2E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49CAC8-43F3-429D-B0DE-638D15126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3E53F-0F6E-4AAF-9272-FFA935246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B81C69-ECAA-4088-89BC-2EAA691B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altLang="en-US"/>
              <a:t>Essentials of IT and Networking       </a:t>
            </a:r>
            <a:r>
              <a:rPr lang="en-US" altLang="en-US"/>
              <a:t>Copyrights © Nanyang Polytechnic	</a:t>
            </a:r>
            <a:endParaRPr lang="en-US" altLang="en-US">
              <a:latin typeface="Trebuchet MS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610322-5EAA-4EC9-B908-66F90FC3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3D9C6-F984-4A71-88FB-CAE21B4F694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19279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BB85-6735-4445-B8F7-9333CE1F9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1E770-7C3C-43AE-9145-ACB38B6E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0C566-0825-4AA8-845D-3121A8DC8A69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70CF9-B93F-47B0-BAAF-A6C3D52DB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B69A7-9686-417A-8AB7-214947AC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0B5FF-18D2-4F6E-83FF-E7EDB20F0CA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726516"/>
      </p:ext>
    </p:extLst>
  </p:cSld>
  <p:clrMapOvr>
    <a:masterClrMapping/>
  </p:clrMapOvr>
  <p:transition>
    <p:wheel spokes="8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54EAB-D18F-487C-B51A-506A7AF1A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4F91B-5B00-40E1-A399-2301CA077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altLang="en-US"/>
              <a:t>Essentials of IT and Networking       </a:t>
            </a:r>
            <a:r>
              <a:rPr lang="en-US" altLang="en-US"/>
              <a:t>Copyrights © Nanyang Polytechnic	</a:t>
            </a:r>
            <a:endParaRPr lang="en-US" altLang="en-US">
              <a:latin typeface="Trebuchet MS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EC9B5-A22E-4F97-A7E9-494C25CE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3D9C6-F984-4A71-88FB-CAE21B4F694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67860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4E91E-9B51-457A-9C5C-03E44EEC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1F3CC-8C87-4C66-9B7C-AC7A9C8BC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89ED8-1597-444B-948C-A8B9ADD8D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4FE29-3F89-4848-965A-F17C809E8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53302-2C00-455D-9086-E9EC8B1A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altLang="en-US"/>
              <a:t>Essentials of IT and Networking       </a:t>
            </a:r>
            <a:r>
              <a:rPr lang="en-US" altLang="en-US"/>
              <a:t>Copyrights © Nanyang Polytechnic	</a:t>
            </a:r>
            <a:endParaRPr lang="en-US" altLang="en-US">
              <a:latin typeface="Trebuchet MS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C113E-CF15-4619-9893-7E4E1FAE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3D9C6-F984-4A71-88FB-CAE21B4F694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12135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C6DA-98A3-43D0-A47B-44FDE532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DC60A-4A37-4DBC-BD0E-9A603D824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AF94B-E93D-424A-BB71-AF90DBD3F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46CE6-B767-423D-AECB-5B95CA5E0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236C4-3ADE-4C13-8A03-44E903464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altLang="en-US"/>
              <a:t>Essentials of IT and Networking       </a:t>
            </a:r>
            <a:r>
              <a:rPr lang="en-US" altLang="en-US"/>
              <a:t>Copyrights © Nanyang Polytechnic	</a:t>
            </a:r>
            <a:endParaRPr lang="en-US" altLang="en-US">
              <a:latin typeface="Trebuchet MS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F2B3A-AE0B-4ED1-9082-134DAABA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3D9C6-F984-4A71-88FB-CAE21B4F694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39863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B5379-5EAF-496F-86B3-A0EA4C69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06385-E112-4243-9425-306397B06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9D673-8362-4476-BEC0-9DE61CADD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CBE81-0505-4BE9-8E06-96078183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altLang="en-US"/>
              <a:t>Essentials of IT and Networking       </a:t>
            </a:r>
            <a:r>
              <a:rPr lang="en-US" altLang="en-US"/>
              <a:t>Copyrights © Nanyang Polytechnic	</a:t>
            </a:r>
            <a:endParaRPr lang="en-US" altLang="en-US">
              <a:latin typeface="Trebuchet MS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DB2E4-7A9F-4D5C-86E8-0040461F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3D9C6-F984-4A71-88FB-CAE21B4F694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8545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72F377-9755-4099-A505-A337B55BCA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82A3B-B68C-45EA-A330-23E5F8107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ED50E-F289-4BAC-BEAE-357ABE2D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21E07-6241-4DA0-9610-D3A61820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altLang="en-US"/>
              <a:t>Essentials of IT and Networking       </a:t>
            </a:r>
            <a:r>
              <a:rPr lang="en-US" altLang="en-US"/>
              <a:t>Copyrights © Nanyang Polytechnic	</a:t>
            </a:r>
            <a:endParaRPr lang="en-US" altLang="en-US">
              <a:latin typeface="Trebuchet MS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AC046-5955-4F92-9339-7972B2B19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3D9C6-F984-4A71-88FB-CAE21B4F694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939430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CA4C44-6E34-4375-B8DA-AB04BCAA4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A41ED-CE0E-450D-8693-43B3EBCB4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A0B8D-A2BB-487F-8959-807EC75658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8108B-7BE1-439B-B58C-E2980C359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SG" altLang="en-US"/>
              <a:t>Essentials of IT and Networking       </a:t>
            </a:r>
            <a:r>
              <a:rPr lang="en-US" altLang="en-US"/>
              <a:t>Copyrights © Nanyang Polytechnic	</a:t>
            </a:r>
            <a:endParaRPr lang="en-US" altLang="en-US">
              <a:latin typeface="Trebuchet MS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8FBB7-03E4-4261-ADFD-F9242C6E1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D93D9C6-F984-4A71-88FB-CAE21B4F694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715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ransition spd="med">
    <p:comb/>
  </p:transition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9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9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9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9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9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9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9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ln>
            <a:miter lim="800000"/>
            <a:headEnd/>
            <a:tailEnd/>
          </a:ln>
          <a:extLst/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6000" dirty="0">
                <a:latin typeface="Gill Sans MT" panose="020B0502020104020203" pitchFamily="34" charset="0"/>
              </a:rPr>
              <a:t>Access Control Lists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sz="2400" dirty="0">
                <a:latin typeface="Gill Sans MT" panose="020B0502020104020203" pitchFamily="34" charset="0"/>
              </a:rPr>
              <a:t>Chapter 7</a:t>
            </a:r>
          </a:p>
        </p:txBody>
      </p:sp>
    </p:spTree>
  </p:cSld>
  <p:clrMapOvr>
    <a:masterClrMapping/>
  </p:clrMapOvr>
  <p:transition spd="med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450" y="264552"/>
            <a:ext cx="4463950" cy="2817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322784" y="766763"/>
            <a:ext cx="4320480" cy="609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400" dirty="0">
                <a:latin typeface="Gill Sans MT" panose="020B0502020104020203" pitchFamily="34" charset="0"/>
              </a:rPr>
              <a:t>What are ACLs?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3240360"/>
            <a:ext cx="8534400" cy="364502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800" dirty="0">
                <a:latin typeface="Gill Sans MT" panose="020B0502020104020203" pitchFamily="34" charset="0"/>
              </a:rPr>
              <a:t>An access list is a </a:t>
            </a: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0"/>
              </a:rPr>
              <a:t>sequential series of commands or filters</a:t>
            </a:r>
            <a:r>
              <a:rPr lang="en-US" sz="2800" dirty="0">
                <a:latin typeface="Gill Sans MT" panose="020B0502020104020203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sz="2800" dirty="0">
                <a:latin typeface="Gill Sans MT" panose="020B0502020104020203" pitchFamily="34" charset="0"/>
                <a:cs typeface="Arial" pitchFamily="34" charset="0"/>
              </a:rPr>
              <a:t>These lists tell the router what types of packets to:</a:t>
            </a:r>
          </a:p>
          <a:p>
            <a:pPr lvl="1" eaLnBrk="1" hangingPunct="1">
              <a:defRPr/>
            </a:pP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0"/>
                <a:cs typeface="Arial" pitchFamily="34" charset="0"/>
              </a:rPr>
              <a:t>accept or</a:t>
            </a:r>
          </a:p>
          <a:p>
            <a:pPr lvl="1" eaLnBrk="1" hangingPunct="1">
              <a:defRPr/>
            </a:pP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0"/>
                <a:cs typeface="Arial" pitchFamily="34" charset="0"/>
              </a:rPr>
              <a:t>deny </a:t>
            </a:r>
          </a:p>
          <a:p>
            <a:pPr eaLnBrk="1" hangingPunct="1">
              <a:defRPr/>
            </a:pPr>
            <a:r>
              <a:rPr lang="en-US" sz="2800" dirty="0">
                <a:latin typeface="Gill Sans MT" panose="020B0502020104020203" pitchFamily="34" charset="0"/>
                <a:cs typeface="Arial" pitchFamily="34" charset="0"/>
              </a:rPr>
              <a:t>Acceptance and denial can be based on specified conditions. </a:t>
            </a:r>
          </a:p>
          <a:p>
            <a:pPr eaLnBrk="1" hangingPunct="1">
              <a:defRPr/>
            </a:pPr>
            <a:r>
              <a:rPr lang="en-US" sz="2800" dirty="0">
                <a:latin typeface="Gill Sans MT" panose="020B0502020104020203" pitchFamily="34" charset="0"/>
                <a:cs typeface="Arial" pitchFamily="34" charset="0"/>
              </a:rPr>
              <a:t>ACLs applied on the router's interfaces. </a:t>
            </a:r>
          </a:p>
        </p:txBody>
      </p:sp>
    </p:spTree>
  </p:cSld>
  <p:clrMapOvr>
    <a:masterClrMapping/>
  </p:clrMapOvr>
  <p:transition spd="med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53788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What are ACLs?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4221163"/>
            <a:ext cx="8534400" cy="233203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Clr>
                <a:srgbClr val="0D5A50"/>
              </a:buClr>
            </a:pPr>
            <a:r>
              <a:rPr lang="en-US" altLang="en-US" sz="2400" dirty="0">
                <a:solidFill>
                  <a:srgbClr val="0D5A50"/>
                </a:solidFill>
                <a:cs typeface="Arial" charset="0"/>
              </a:rPr>
              <a:t>The router examines each packet to determine </a:t>
            </a:r>
            <a:r>
              <a:rPr lang="en-US" altLang="en-US" sz="2400" dirty="0">
                <a:solidFill>
                  <a:srgbClr val="FF0000"/>
                </a:solidFill>
                <a:cs typeface="Arial" charset="0"/>
              </a:rPr>
              <a:t>whether to forward or drop it</a:t>
            </a:r>
            <a:r>
              <a:rPr lang="en-US" altLang="en-US" sz="2400" dirty="0">
                <a:solidFill>
                  <a:srgbClr val="0D5A50"/>
                </a:solidFill>
                <a:cs typeface="Arial" charset="0"/>
              </a:rPr>
              <a:t>, based on the conditions specified in the ACL. 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</a:pPr>
            <a:r>
              <a:rPr lang="en-US" altLang="en-US" sz="2400" i="1" dirty="0">
                <a:solidFill>
                  <a:srgbClr val="0D5A50"/>
                </a:solidFill>
                <a:cs typeface="Arial" charset="0"/>
              </a:rPr>
              <a:t>Some</a:t>
            </a:r>
            <a:r>
              <a:rPr lang="en-US" altLang="en-US" sz="2400" dirty="0">
                <a:solidFill>
                  <a:srgbClr val="0D5A50"/>
                </a:solidFill>
                <a:cs typeface="Arial" charset="0"/>
              </a:rPr>
              <a:t> ACL decision points are: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cs typeface="Arial" charset="0"/>
              </a:rPr>
              <a:t>IP source address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cs typeface="Arial" charset="0"/>
              </a:rPr>
              <a:t>IP destination addresses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cs typeface="Arial" charset="0"/>
              </a:rPr>
              <a:t>UDP or TCP protocols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cs typeface="Arial" charset="0"/>
              </a:rPr>
              <a:t>upper-layer (TCP/UDP) port numbers</a:t>
            </a:r>
            <a:endParaRPr lang="en-US" altLang="en-US" sz="2400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1057275"/>
            <a:ext cx="5126037" cy="315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comb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are ACLs?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3324944"/>
            <a:ext cx="8534400" cy="3200400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solidFill>
                  <a:srgbClr val="0D5A50"/>
                </a:solidFill>
                <a:cs typeface="Arial" charset="0"/>
              </a:rPr>
              <a:t>ACLs must be defined on a:</a:t>
            </a:r>
          </a:p>
          <a:p>
            <a:pPr lvl="1" eaLnBrk="1" hangingPunct="1"/>
            <a:r>
              <a:rPr lang="en-US" altLang="en-US" sz="2400" dirty="0">
                <a:cs typeface="Arial" charset="0"/>
              </a:rPr>
              <a:t>per-protocol (IP, IPX, AppleTalk)</a:t>
            </a:r>
          </a:p>
          <a:p>
            <a:pPr lvl="1" eaLnBrk="1" hangingPunct="1"/>
            <a:r>
              <a:rPr lang="en-US" altLang="en-US" sz="2400" dirty="0">
                <a:cs typeface="Arial" charset="0"/>
              </a:rPr>
              <a:t>per direction (in or out)</a:t>
            </a:r>
          </a:p>
          <a:p>
            <a:pPr lvl="1" eaLnBrk="1" hangingPunct="1"/>
            <a:r>
              <a:rPr lang="en-US" altLang="en-US" sz="2400" dirty="0">
                <a:cs typeface="Arial" charset="0"/>
              </a:rPr>
              <a:t>per port (interface) basis.   </a:t>
            </a:r>
          </a:p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cs typeface="Arial" charset="0"/>
              </a:rPr>
              <a:t>ACLs control traffic in one direction at a time on an interface.</a:t>
            </a:r>
          </a:p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cs typeface="Arial" charset="0"/>
              </a:rPr>
              <a:t>A separate ACL would need to be created for each direction, one for inbound and one for outbound traffic. </a:t>
            </a:r>
          </a:p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cs typeface="Arial" charset="0"/>
              </a:rPr>
              <a:t>Finally every interface can have multiple protocols and directions defined.  </a:t>
            </a:r>
            <a:endParaRPr lang="en-US" altLang="en-US" sz="2400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19200"/>
            <a:ext cx="514350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590800"/>
            <a:ext cx="60007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2460" y="311944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How ACLs work?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392460" y="4077073"/>
            <a:ext cx="8522940" cy="2592016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Clr>
                <a:srgbClr val="0D5A50"/>
              </a:buClr>
            </a:pPr>
            <a:r>
              <a:rPr lang="en-US" altLang="en-US" sz="2800" dirty="0">
                <a:solidFill>
                  <a:srgbClr val="0D5A50"/>
                </a:solidFill>
                <a:cs typeface="Arial" charset="0"/>
              </a:rPr>
              <a:t>An ACL is a group of statements that define whether packets are accepted or rejected coming into an interface or leaving an interface.  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D5A50"/>
              </a:buClr>
            </a:pPr>
            <a:r>
              <a:rPr lang="en-US" altLang="en-US" sz="2800" b="1" dirty="0">
                <a:solidFill>
                  <a:srgbClr val="FF0000"/>
                </a:solidFill>
              </a:rPr>
              <a:t>Access list statements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0D5A50"/>
                </a:solidFill>
              </a:rPr>
              <a:t>operate in sequential, logical order.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D5A50"/>
              </a:buClr>
            </a:pPr>
            <a:r>
              <a:rPr lang="en-US" altLang="en-US" sz="2800" dirty="0">
                <a:solidFill>
                  <a:srgbClr val="0D5A50"/>
                </a:solidFill>
              </a:rPr>
              <a:t>They evaluate packets from the </a:t>
            </a:r>
            <a:r>
              <a:rPr lang="en-US" altLang="en-US" sz="2800" b="1" dirty="0">
                <a:solidFill>
                  <a:srgbClr val="FF0000"/>
                </a:solidFill>
              </a:rPr>
              <a:t>top down</a:t>
            </a:r>
            <a:r>
              <a:rPr lang="en-US" altLang="en-US" sz="2800" dirty="0">
                <a:solidFill>
                  <a:srgbClr val="0D5A50"/>
                </a:solidFill>
              </a:rPr>
              <a:t>. 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endParaRPr lang="en-US" altLang="en-US" sz="2800" dirty="0">
              <a:solidFill>
                <a:srgbClr val="0D5A50"/>
              </a:solidFill>
              <a:cs typeface="Arial" charset="0"/>
            </a:endParaRP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774" y="311944"/>
            <a:ext cx="4800600" cy="349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64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How ACLs work?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196975"/>
            <a:ext cx="8534400" cy="56610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D5A50"/>
              </a:buClr>
            </a:pPr>
            <a:r>
              <a:rPr lang="en-US" altLang="en-US" sz="2800" dirty="0"/>
              <a:t>Once there is an access list statement </a:t>
            </a:r>
            <a:r>
              <a:rPr lang="en-US" altLang="en-US" sz="2800" b="1" dirty="0">
                <a:solidFill>
                  <a:srgbClr val="FF0000"/>
                </a:solidFill>
              </a:rPr>
              <a:t>match</a:t>
            </a:r>
            <a:r>
              <a:rPr lang="en-US" altLang="en-US" sz="2800" dirty="0">
                <a:solidFill>
                  <a:srgbClr val="FF0000"/>
                </a:solidFill>
              </a:rPr>
              <a:t>, </a:t>
            </a:r>
            <a:r>
              <a:rPr lang="en-US" altLang="en-US" sz="2800" dirty="0"/>
              <a:t>the packet skips the rest of the statements. 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/>
              <a:t>If a condition </a:t>
            </a:r>
            <a:r>
              <a:rPr lang="en-US" altLang="en-US" sz="2400" b="1" dirty="0"/>
              <a:t>match is true</a:t>
            </a:r>
            <a:r>
              <a:rPr lang="en-US" altLang="en-US" sz="2400" dirty="0"/>
              <a:t>, the packet is permitted or denied.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D5A50"/>
              </a:buClr>
            </a:pPr>
            <a:r>
              <a:rPr lang="en-US" altLang="en-US" sz="2800" dirty="0"/>
              <a:t>There can be </a:t>
            </a:r>
            <a:r>
              <a:rPr lang="en-US" altLang="en-US" sz="2800" b="1" dirty="0"/>
              <a:t>only one access list </a:t>
            </a:r>
            <a:r>
              <a:rPr lang="en-US" altLang="en-US" sz="2800" dirty="0"/>
              <a:t>per protocol</a:t>
            </a:r>
            <a:r>
              <a:rPr lang="en-US" altLang="en-US" sz="2800" b="1" dirty="0"/>
              <a:t> </a:t>
            </a:r>
            <a:r>
              <a:rPr lang="en-US" altLang="en-US" sz="2800" dirty="0"/>
              <a:t>per interface.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D5A50"/>
              </a:buClr>
            </a:pPr>
            <a:r>
              <a:rPr lang="en-US" altLang="en-US" sz="2800" dirty="0"/>
              <a:t>There is an implicit “deny any” at the end of every access list.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</a:pPr>
            <a:r>
              <a:rPr lang="en-US" altLang="en-US" sz="2800" dirty="0">
                <a:cs typeface="Arial" charset="0"/>
              </a:rPr>
              <a:t>If all the ACL statements are unmatched, an implicit </a:t>
            </a:r>
            <a:r>
              <a:rPr lang="en-US" altLang="en-US" sz="2800" b="1" i="1" dirty="0">
                <a:cs typeface="Arial" charset="0"/>
              </a:rPr>
              <a:t>"deny any"</a:t>
            </a:r>
            <a:r>
              <a:rPr lang="en-US" altLang="en-US" sz="2800" dirty="0">
                <a:cs typeface="Arial" charset="0"/>
              </a:rPr>
              <a:t> statement is placed at the end of the list by </a:t>
            </a:r>
            <a:r>
              <a:rPr lang="en-US" altLang="en-US" sz="2800" b="1" i="1" dirty="0">
                <a:cs typeface="Arial" charset="0"/>
              </a:rPr>
              <a:t>default</a:t>
            </a:r>
            <a:r>
              <a:rPr lang="en-US" altLang="en-US" sz="2800" dirty="0">
                <a:cs typeface="Arial" charset="0"/>
              </a:rPr>
              <a:t>. (not visible)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D5A50"/>
              </a:buClr>
            </a:pPr>
            <a:r>
              <a:rPr lang="en-US" altLang="en-US" sz="2800" b="1" dirty="0">
                <a:cs typeface="Arial" charset="0"/>
              </a:rPr>
              <a:t>ACLs do </a:t>
            </a:r>
            <a:r>
              <a:rPr lang="en-US" altLang="en-US" sz="2800" b="1" u="sng" dirty="0">
                <a:cs typeface="Arial" charset="0"/>
              </a:rPr>
              <a:t>not</a:t>
            </a:r>
            <a:r>
              <a:rPr lang="en-US" altLang="en-US" sz="2800" b="1" dirty="0">
                <a:cs typeface="Arial" charset="0"/>
              </a:rPr>
              <a:t> block packets that originate within the router.  (</a:t>
            </a:r>
            <a:r>
              <a:rPr lang="en-US" altLang="en-US" sz="2800" b="1" dirty="0" err="1">
                <a:cs typeface="Arial" charset="0"/>
              </a:rPr>
              <a:t>ie</a:t>
            </a:r>
            <a:r>
              <a:rPr lang="en-US" altLang="en-US" sz="2800" b="1" dirty="0">
                <a:cs typeface="Arial" charset="0"/>
              </a:rPr>
              <a:t>. pings, telnets, etc.)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D5A50"/>
              </a:buClr>
            </a:pPr>
            <a:endParaRPr lang="en-US" altLang="en-US" sz="2800" b="1" dirty="0">
              <a:cs typeface="Arial" charset="0"/>
            </a:endParaRPr>
          </a:p>
        </p:txBody>
      </p:sp>
    </p:spTree>
  </p:cSld>
  <p:clrMapOvr>
    <a:masterClrMapping/>
  </p:clrMapOvr>
  <p:transition spd="med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Two types of ACLs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412874"/>
            <a:ext cx="7696200" cy="5445125"/>
          </a:xfrm>
        </p:spPr>
        <p:txBody>
          <a:bodyPr>
            <a:normAutofit/>
          </a:bodyPr>
          <a:lstStyle/>
          <a:p>
            <a:pPr eaLnBrk="1" hangingPunct="1">
              <a:buClr>
                <a:srgbClr val="0D5A50"/>
              </a:buClr>
            </a:pPr>
            <a:r>
              <a:rPr lang="en-US" altLang="en-US" sz="3200" dirty="0">
                <a:solidFill>
                  <a:srgbClr val="0D5A50"/>
                </a:solidFill>
              </a:rPr>
              <a:t>Standard IP ACLs</a:t>
            </a:r>
          </a:p>
          <a:p>
            <a:pPr lvl="1" eaLnBrk="1" hangingPunct="1"/>
            <a:r>
              <a:rPr lang="en-US" altLang="en-US" sz="2800" dirty="0"/>
              <a:t>Can only filter on source IP addresses</a:t>
            </a:r>
          </a:p>
          <a:p>
            <a:pPr eaLnBrk="1" hangingPunct="1">
              <a:buClr>
                <a:srgbClr val="0D5A50"/>
              </a:buClr>
            </a:pPr>
            <a:endParaRPr lang="en-US" altLang="en-US" sz="3200" dirty="0">
              <a:solidFill>
                <a:srgbClr val="0D5A50"/>
              </a:solidFill>
            </a:endParaRPr>
          </a:p>
          <a:p>
            <a:pPr eaLnBrk="1" hangingPunct="1">
              <a:buClr>
                <a:srgbClr val="0D5A50"/>
              </a:buClr>
            </a:pPr>
            <a:r>
              <a:rPr lang="en-US" altLang="en-US" sz="3200" dirty="0">
                <a:solidFill>
                  <a:srgbClr val="0D5A50"/>
                </a:solidFill>
              </a:rPr>
              <a:t>Extended IP ACLs</a:t>
            </a:r>
          </a:p>
          <a:p>
            <a:pPr lvl="1" eaLnBrk="1" hangingPunct="1"/>
            <a:r>
              <a:rPr lang="en-US" altLang="en-US" sz="2800" dirty="0"/>
              <a:t>Can filter on:</a:t>
            </a:r>
          </a:p>
          <a:p>
            <a:pPr lvl="2" eaLnBrk="1" hangingPunct="1"/>
            <a:r>
              <a:rPr lang="en-US" altLang="en-US" sz="2000" dirty="0"/>
              <a:t>Source IP address</a:t>
            </a:r>
          </a:p>
          <a:p>
            <a:pPr lvl="2" eaLnBrk="1" hangingPunct="1"/>
            <a:r>
              <a:rPr lang="en-US" altLang="en-US" sz="2000" dirty="0"/>
              <a:t>Destination IP address</a:t>
            </a:r>
          </a:p>
          <a:p>
            <a:pPr lvl="2" eaLnBrk="1" hangingPunct="1"/>
            <a:r>
              <a:rPr lang="en-US" altLang="en-US" sz="2000" dirty="0"/>
              <a:t>Protocol (TCP, UDP)</a:t>
            </a:r>
          </a:p>
          <a:p>
            <a:pPr lvl="2" eaLnBrk="1" hangingPunct="1"/>
            <a:r>
              <a:rPr lang="en-US" altLang="en-US" sz="2000" dirty="0"/>
              <a:t>Port Numbers (Telnet – 23, http – 80, etc.)</a:t>
            </a:r>
          </a:p>
          <a:p>
            <a:pPr lvl="2" eaLnBrk="1" hangingPunct="1"/>
            <a:r>
              <a:rPr lang="en-US" altLang="en-US" sz="2000" i="1" dirty="0"/>
              <a:t>and other parameters</a:t>
            </a:r>
          </a:p>
        </p:txBody>
      </p:sp>
    </p:spTree>
  </p:cSld>
  <p:clrMapOvr>
    <a:masterClrMapping/>
  </p:clrMapOvr>
  <p:transition spd="med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/>
              <a:t>Creating Standard ACLs – 2 Steps</a:t>
            </a:r>
          </a:p>
        </p:txBody>
      </p:sp>
      <p:pic>
        <p:nvPicPr>
          <p:cNvPr id="1331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6096000" cy="311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495800"/>
            <a:ext cx="6096000" cy="188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39800" y="3048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/>
              <a:t>Creating ACLs – 2 Steps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6096000" cy="311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49"/>
          <a:stretch>
            <a:fillRect/>
          </a:stretch>
        </p:blipFill>
        <p:spPr bwMode="auto">
          <a:xfrm>
            <a:off x="914400" y="4572000"/>
            <a:ext cx="5786438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914400" y="4953000"/>
            <a:ext cx="4343400" cy="3048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4342" name="Text Box 7"/>
          <p:cNvSpPr txBox="1">
            <a:spLocks noChangeArrowheads="1"/>
          </p:cNvSpPr>
          <p:nvPr/>
        </p:nvSpPr>
        <p:spPr bwMode="auto">
          <a:xfrm>
            <a:off x="1447800" y="495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0">
                <a:solidFill>
                  <a:schemeClr val="tx1"/>
                </a:solidFill>
                <a:latin typeface="Arial" charset="0"/>
              </a:rPr>
              <a:t>(Standard IP)</a:t>
            </a:r>
          </a:p>
        </p:txBody>
      </p:sp>
    </p:spTree>
  </p:cSld>
  <p:clrMapOvr>
    <a:masterClrMapping/>
  </p:clrMapOvr>
  <p:transition spd="med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498004"/>
            <a:ext cx="5256584" cy="64499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Learn by example!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4038600"/>
            <a:ext cx="8534400" cy="2514600"/>
          </a:xfrm>
        </p:spPr>
        <p:txBody>
          <a:bodyPr>
            <a:normAutofit/>
          </a:bodyPr>
          <a:lstStyle/>
          <a:p>
            <a:pPr eaLnBrk="1" hangingPunct="1">
              <a:buClr>
                <a:srgbClr val="0D5A50"/>
              </a:buClr>
            </a:pPr>
            <a:r>
              <a:rPr lang="en-US" altLang="en-US" sz="2800" dirty="0">
                <a:solidFill>
                  <a:srgbClr val="0D5A50"/>
                </a:solidFill>
              </a:rPr>
              <a:t>Task: </a:t>
            </a:r>
          </a:p>
          <a:p>
            <a:pPr lvl="1" eaLnBrk="1" hangingPunct="1"/>
            <a:r>
              <a:rPr lang="en-US" altLang="en-US" sz="2400" dirty="0"/>
              <a:t>Permit only the host 172.16.30.2 from exiting the Sales network.</a:t>
            </a:r>
          </a:p>
          <a:p>
            <a:pPr lvl="1" eaLnBrk="1" hangingPunct="1"/>
            <a:r>
              <a:rPr lang="en-US" altLang="en-US" sz="2400" dirty="0"/>
              <a:t>Deny all other hosts on the Sales network from leaving the 172.16.30.0/24 network.</a:t>
            </a:r>
          </a:p>
          <a:p>
            <a:pPr eaLnBrk="1" hangingPunct="1">
              <a:buClr>
                <a:srgbClr val="0D5A50"/>
              </a:buClr>
            </a:pPr>
            <a:endParaRPr lang="en-US" altLang="en-US" sz="2800" dirty="0">
              <a:solidFill>
                <a:srgbClr val="0D5A50"/>
              </a:solidFill>
            </a:endParaRPr>
          </a:p>
        </p:txBody>
      </p:sp>
      <p:graphicFrame>
        <p:nvGraphicFramePr>
          <p:cNvPr id="1536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374988"/>
              </p:ext>
            </p:extLst>
          </p:nvPr>
        </p:nvGraphicFramePr>
        <p:xfrm>
          <a:off x="906206" y="1143000"/>
          <a:ext cx="6972557" cy="2790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206" y="1143000"/>
                        <a:ext cx="6972557" cy="2790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7"/>
          <p:cNvSpPr>
            <a:spLocks noChangeArrowheads="1"/>
          </p:cNvSpPr>
          <p:nvPr/>
        </p:nvSpPr>
        <p:spPr bwMode="auto">
          <a:xfrm>
            <a:off x="3429000" y="3629844"/>
            <a:ext cx="1123950" cy="294456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5366" name="Line 8"/>
          <p:cNvSpPr>
            <a:spLocks noChangeShapeType="1"/>
          </p:cNvSpPr>
          <p:nvPr/>
        </p:nvSpPr>
        <p:spPr bwMode="auto">
          <a:xfrm flipH="1">
            <a:off x="3429000" y="1828800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5367" name="Line 9"/>
          <p:cNvSpPr>
            <a:spLocks noChangeShapeType="1"/>
          </p:cNvSpPr>
          <p:nvPr/>
        </p:nvSpPr>
        <p:spPr bwMode="auto">
          <a:xfrm>
            <a:off x="4788024" y="1828800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5368" name="Line 11"/>
          <p:cNvSpPr>
            <a:spLocks noChangeShapeType="1"/>
          </p:cNvSpPr>
          <p:nvPr/>
        </p:nvSpPr>
        <p:spPr bwMode="auto">
          <a:xfrm flipV="1">
            <a:off x="4211960" y="1828800"/>
            <a:ext cx="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188913"/>
            <a:ext cx="4953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Learn by example!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4567808"/>
            <a:ext cx="8856538" cy="1741512"/>
          </a:xfrm>
          <a:ln>
            <a:solidFill>
              <a:schemeClr val="bg1"/>
            </a:solidFill>
          </a:ln>
        </p:spPr>
        <p:txBody>
          <a:bodyPr>
            <a:normAutofit fontScale="92500"/>
          </a:bodyPr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ea typeface="+mn-ea"/>
              </a:rPr>
              <a:t>RouterB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ea typeface="+mn-ea"/>
              </a:rPr>
              <a:t>(</a:t>
            </a:r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ea typeface="+mn-ea"/>
              </a:rPr>
              <a:t>config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ea typeface="+mn-ea"/>
              </a:rPr>
              <a:t>)#access-list 10 permit 172.16.30.2</a:t>
            </a:r>
          </a:p>
          <a:p>
            <a:pPr eaLnBrk="1" hangingPunct="1">
              <a:buFont typeface="Arial" pitchFamily="34" charset="0"/>
              <a:buNone/>
              <a:defRPr/>
            </a:pPr>
            <a:r>
              <a:rPr lang="en-US" sz="2400" i="1" dirty="0">
                <a:latin typeface="Courier New" pitchFamily="49" charset="0"/>
                <a:ea typeface="+mn-ea"/>
              </a:rPr>
              <a:t>Step 2- Implicit “</a:t>
            </a:r>
            <a:r>
              <a:rPr lang="en-US" sz="2400" b="1" i="1" dirty="0">
                <a:latin typeface="Courier New" pitchFamily="49" charset="0"/>
                <a:ea typeface="+mn-ea"/>
              </a:rPr>
              <a:t>deny any</a:t>
            </a:r>
            <a:r>
              <a:rPr lang="en-US" sz="2400" i="1" dirty="0">
                <a:latin typeface="Courier New" pitchFamily="49" charset="0"/>
                <a:ea typeface="+mn-ea"/>
              </a:rPr>
              <a:t>”</a:t>
            </a:r>
            <a:r>
              <a:rPr lang="en-US" sz="2400" dirty="0">
                <a:latin typeface="Courier New" pitchFamily="49" charset="0"/>
                <a:ea typeface="+mn-ea"/>
              </a:rPr>
              <a:t> </a:t>
            </a:r>
            <a:endParaRPr lang="en-US" sz="2400" dirty="0">
              <a:latin typeface="Courier New" pitchFamily="49" charset="0"/>
            </a:endParaRPr>
          </a:p>
          <a:p>
            <a:pPr eaLnBrk="1" hangingPunct="1">
              <a:buFont typeface="Arial" pitchFamily="34" charset="0"/>
              <a:buNone/>
              <a:defRPr/>
            </a:pPr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ea typeface="+mn-ea"/>
              </a:rPr>
              <a:t>RouterB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ea typeface="+mn-ea"/>
              </a:rPr>
              <a:t>(config)#access-list 10 deny 0.0.0.0 255.255.255.255</a:t>
            </a: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475335"/>
              </p:ext>
            </p:extLst>
          </p:nvPr>
        </p:nvGraphicFramePr>
        <p:xfrm>
          <a:off x="310686" y="1143000"/>
          <a:ext cx="6721939" cy="2690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86" y="1143000"/>
                        <a:ext cx="6721939" cy="2690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2805112" y="3504947"/>
            <a:ext cx="985838" cy="30321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 flipH="1">
            <a:off x="2920999" y="1993032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3987799" y="1993032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3606799" y="4000501"/>
            <a:ext cx="5584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0" dirty="0">
                <a:solidFill>
                  <a:schemeClr val="tx1"/>
                </a:solidFill>
                <a:latin typeface="Gill Sans MT" panose="020B0502020104020203" pitchFamily="34" charset="0"/>
              </a:rPr>
              <a:t>Step 1 – ACL statement to permit only 1 PC</a:t>
            </a:r>
          </a:p>
        </p:txBody>
      </p:sp>
      <p:sp>
        <p:nvSpPr>
          <p:cNvPr id="16393" name="Line 12"/>
          <p:cNvSpPr>
            <a:spLocks noChangeShapeType="1"/>
          </p:cNvSpPr>
          <p:nvPr/>
        </p:nvSpPr>
        <p:spPr bwMode="auto">
          <a:xfrm flipV="1">
            <a:off x="3606799" y="1916832"/>
            <a:ext cx="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394" name="AutoShape 16"/>
          <p:cNvSpPr>
            <a:spLocks/>
          </p:cNvSpPr>
          <p:nvPr/>
        </p:nvSpPr>
        <p:spPr bwMode="auto">
          <a:xfrm rot="16237660">
            <a:off x="7420038" y="3620257"/>
            <a:ext cx="228600" cy="1601787"/>
          </a:xfrm>
          <a:prstGeom prst="rightBrace">
            <a:avLst>
              <a:gd name="adj1" fmla="val 5839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4953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Learn by example!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3354388"/>
            <a:ext cx="8534400" cy="352425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en-US" sz="2000" b="1" dirty="0">
                <a:ea typeface="+mn-ea"/>
                <a:cs typeface="Arial" pitchFamily="34" charset="0"/>
              </a:rPr>
              <a:t>Applying ACLs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ea typeface="+mn-ea"/>
                <a:cs typeface="Arial" pitchFamily="34" charset="0"/>
              </a:rPr>
              <a:t>You can define ACLs without applying them.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ea typeface="+mn-ea"/>
                <a:cs typeface="Arial" pitchFamily="34" charset="0"/>
              </a:rPr>
              <a:t>However, the ACLs will have no effect until they are applied to the router's interface.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ea typeface="+mn-ea"/>
                <a:cs typeface="Arial" pitchFamily="34" charset="0"/>
              </a:rPr>
              <a:t>It is a good practice to apply the Standard ACLs on the interface closest to the destination of the traffic and Extended ACLs on the interface closest to the source.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b="1" dirty="0">
                <a:ea typeface="+mn-ea"/>
                <a:cs typeface="Arial" pitchFamily="34" charset="0"/>
              </a:rPr>
              <a:t>Defining In, Out, Source, and Destination</a:t>
            </a:r>
          </a:p>
          <a:p>
            <a:pPr lvl="1" eaLnBrk="1" hangingPunct="1">
              <a:lnSpc>
                <a:spcPct val="90000"/>
              </a:lnSpc>
              <a:buSzPct val="125000"/>
              <a:buFont typeface="Arial" pitchFamily="34" charset="0"/>
              <a:buChar char="•"/>
              <a:defRPr/>
            </a:pPr>
            <a:r>
              <a:rPr lang="en-US" sz="2000" b="1" dirty="0">
                <a:ea typeface="+mn-ea"/>
                <a:cs typeface="Arial" pitchFamily="34" charset="0"/>
              </a:rPr>
              <a:t>Out</a:t>
            </a:r>
            <a:r>
              <a:rPr lang="en-US" sz="2000" dirty="0">
                <a:ea typeface="+mn-ea"/>
                <a:cs typeface="Arial" pitchFamily="34" charset="0"/>
              </a:rPr>
              <a:t> - Traffic that has already been routed by the router and is leaving the interface</a:t>
            </a:r>
          </a:p>
          <a:p>
            <a:pPr lvl="1" eaLnBrk="1" hangingPunct="1">
              <a:lnSpc>
                <a:spcPct val="90000"/>
              </a:lnSpc>
              <a:buSzPct val="125000"/>
              <a:buFont typeface="Arial" pitchFamily="34" charset="0"/>
              <a:buChar char="•"/>
              <a:defRPr/>
            </a:pPr>
            <a:r>
              <a:rPr lang="en-US" sz="2000" b="1" dirty="0">
                <a:ea typeface="+mn-ea"/>
                <a:cs typeface="Arial" pitchFamily="34" charset="0"/>
              </a:rPr>
              <a:t>In</a:t>
            </a:r>
            <a:r>
              <a:rPr lang="en-US" sz="2000" dirty="0">
                <a:ea typeface="+mn-ea"/>
                <a:cs typeface="Arial" pitchFamily="34" charset="0"/>
              </a:rPr>
              <a:t> - Traffic that is arriving on the interface and which will be routed</a:t>
            </a: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1447800" y="11430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430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3429000" y="3124200"/>
            <a:ext cx="985838" cy="30321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 flipH="1">
            <a:off x="3429000" y="1828800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4495800" y="1828800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 flipV="1">
            <a:off x="4114800" y="1752600"/>
            <a:ext cx="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459904"/>
            <a:ext cx="4953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Learn by example!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274018" y="4033044"/>
            <a:ext cx="8928993" cy="2751137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2000" dirty="0">
                <a:solidFill>
                  <a:srgbClr val="0D5A50"/>
                </a:solidFill>
                <a:latin typeface="Courier New" pitchFamily="49" charset="0"/>
              </a:rPr>
              <a:t>(config)#</a:t>
            </a:r>
            <a:r>
              <a:rPr lang="en-US" altLang="en-US" sz="2000" b="1" dirty="0">
                <a:solidFill>
                  <a:srgbClr val="0D5A50"/>
                </a:solidFill>
                <a:latin typeface="Courier New" pitchFamily="49" charset="0"/>
              </a:rPr>
              <a:t>access-list 10 permit 172.16.30.2</a:t>
            </a: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2000" dirty="0">
                <a:solidFill>
                  <a:srgbClr val="0D5A50"/>
                </a:solidFill>
                <a:latin typeface="Courier New" pitchFamily="49" charset="0"/>
              </a:rPr>
              <a:t>(config)#</a:t>
            </a:r>
            <a:r>
              <a:rPr lang="en-US" altLang="en-US" sz="2000" b="1" dirty="0">
                <a:solidFill>
                  <a:srgbClr val="0D5A50"/>
                </a:solidFill>
                <a:latin typeface="Courier New" pitchFamily="49" charset="0"/>
              </a:rPr>
              <a:t>access-list 10 deny 0.0.0.0 255.255.255.255</a:t>
            </a: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endParaRPr lang="en-US" altLang="en-US" sz="2000" b="1" dirty="0">
              <a:solidFill>
                <a:srgbClr val="0D5A50"/>
              </a:solidFill>
              <a:latin typeface="Courier New" pitchFamily="49" charset="0"/>
            </a:endParaRP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2000" dirty="0">
                <a:solidFill>
                  <a:srgbClr val="0D5A50"/>
                </a:solidFill>
                <a:latin typeface="Courier New" pitchFamily="49" charset="0"/>
              </a:rPr>
              <a:t>(config)# </a:t>
            </a:r>
            <a:r>
              <a:rPr lang="en-US" altLang="en-US" sz="2000" b="1" dirty="0">
                <a:solidFill>
                  <a:srgbClr val="0D5A50"/>
                </a:solidFill>
                <a:latin typeface="Courier New" pitchFamily="49" charset="0"/>
              </a:rPr>
              <a:t>interface e 0</a:t>
            </a: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2000" dirty="0">
                <a:solidFill>
                  <a:srgbClr val="0D5A50"/>
                </a:solidFill>
                <a:latin typeface="Courier New" pitchFamily="49" charset="0"/>
              </a:rPr>
              <a:t>(config-if)#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itchFamily="49" charset="0"/>
              </a:rPr>
              <a:t>ip</a:t>
            </a:r>
            <a:r>
              <a:rPr lang="en-US" altLang="en-US" sz="2000" b="1" dirty="0">
                <a:solidFill>
                  <a:srgbClr val="FF0000"/>
                </a:solidFill>
                <a:latin typeface="Courier New" pitchFamily="49" charset="0"/>
              </a:rPr>
              <a:t> access-group 10 in</a:t>
            </a: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1447800" y="11430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430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3429000" y="3124200"/>
            <a:ext cx="985838" cy="30321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630238" y="3581400"/>
            <a:ext cx="3581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0">
                <a:solidFill>
                  <a:schemeClr val="bg1"/>
                </a:solidFill>
                <a:latin typeface="Arial" charset="0"/>
              </a:rPr>
              <a:t>Step 2 – Apply to an interface(s)</a:t>
            </a:r>
          </a:p>
        </p:txBody>
      </p:sp>
      <p:sp>
        <p:nvSpPr>
          <p:cNvPr id="18439" name="Line 13"/>
          <p:cNvSpPr>
            <a:spLocks noChangeShapeType="1"/>
          </p:cNvSpPr>
          <p:nvPr/>
        </p:nvSpPr>
        <p:spPr bwMode="auto">
          <a:xfrm flipV="1">
            <a:off x="4114800" y="1752600"/>
            <a:ext cx="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4953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Learn by example!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794125"/>
            <a:ext cx="8534400" cy="306705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1800" dirty="0">
                <a:solidFill>
                  <a:srgbClr val="0D5A50"/>
                </a:solidFill>
                <a:latin typeface="Courier New" pitchFamily="49" charset="0"/>
              </a:rPr>
              <a:t>(config)#</a:t>
            </a:r>
            <a:r>
              <a:rPr lang="en-US" altLang="en-US" sz="1800" b="1" dirty="0">
                <a:solidFill>
                  <a:srgbClr val="0D5A50"/>
                </a:solidFill>
                <a:latin typeface="Courier New" pitchFamily="49" charset="0"/>
              </a:rPr>
              <a:t>access-list 10 permit 172.16.30.2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1800" dirty="0">
                <a:solidFill>
                  <a:srgbClr val="0D5A50"/>
                </a:solidFill>
                <a:latin typeface="Courier New" pitchFamily="49" charset="0"/>
              </a:rPr>
              <a:t>(config)#</a:t>
            </a:r>
            <a:r>
              <a:rPr lang="en-US" altLang="en-US" sz="1800" b="1" dirty="0">
                <a:solidFill>
                  <a:srgbClr val="0D5A50"/>
                </a:solidFill>
                <a:latin typeface="Courier New" pitchFamily="49" charset="0"/>
              </a:rPr>
              <a:t>access-list 10 deny 0.0.0.0 255.255.255.255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endParaRPr lang="en-US" altLang="en-US" sz="1800" b="1" dirty="0">
              <a:solidFill>
                <a:srgbClr val="0D5A5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1800" dirty="0">
                <a:solidFill>
                  <a:srgbClr val="0D5A50"/>
                </a:solidFill>
                <a:latin typeface="Courier New" pitchFamily="49" charset="0"/>
              </a:rPr>
              <a:t>(config)# </a:t>
            </a:r>
            <a:r>
              <a:rPr lang="en-US" altLang="en-US" sz="1800" b="1" dirty="0">
                <a:solidFill>
                  <a:srgbClr val="0D5A50"/>
                </a:solidFill>
                <a:latin typeface="Courier New" pitchFamily="49" charset="0"/>
              </a:rPr>
              <a:t>interface s 0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1800" dirty="0">
                <a:solidFill>
                  <a:srgbClr val="0D5A50"/>
                </a:solidFill>
                <a:latin typeface="Courier New" pitchFamily="49" charset="0"/>
              </a:rPr>
              <a:t>(config-if)#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itchFamily="49" charset="0"/>
              </a:rPr>
              <a:t>ip</a:t>
            </a:r>
            <a:r>
              <a:rPr lang="en-US" altLang="en-US" sz="1800" b="1" dirty="0">
                <a:solidFill>
                  <a:srgbClr val="FF0000"/>
                </a:solidFill>
                <a:latin typeface="Courier New" pitchFamily="49" charset="0"/>
              </a:rPr>
              <a:t> access-group 10 out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1800" dirty="0">
                <a:solidFill>
                  <a:srgbClr val="0D5A50"/>
                </a:solidFill>
                <a:latin typeface="Courier New" pitchFamily="49" charset="0"/>
              </a:rPr>
              <a:t>(config)# </a:t>
            </a:r>
            <a:r>
              <a:rPr lang="en-US" altLang="en-US" sz="1800" b="1" dirty="0">
                <a:solidFill>
                  <a:srgbClr val="0D5A50"/>
                </a:solidFill>
                <a:latin typeface="Courier New" pitchFamily="49" charset="0"/>
              </a:rPr>
              <a:t>interface s 1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1800" dirty="0">
                <a:solidFill>
                  <a:srgbClr val="0D5A50"/>
                </a:solidFill>
                <a:latin typeface="Courier New" pitchFamily="49" charset="0"/>
              </a:rPr>
              <a:t>(config-if)#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itchFamily="49" charset="0"/>
              </a:rPr>
              <a:t>ip</a:t>
            </a:r>
            <a:r>
              <a:rPr lang="en-US" altLang="en-US" sz="1800" b="1" dirty="0">
                <a:solidFill>
                  <a:srgbClr val="FF0000"/>
                </a:solidFill>
                <a:latin typeface="Courier New" pitchFamily="49" charset="0"/>
              </a:rPr>
              <a:t> access-group 10 out</a:t>
            </a: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1447800" y="11430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430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3429000" y="3124200"/>
            <a:ext cx="985838" cy="30321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641350" y="3427413"/>
            <a:ext cx="861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0">
                <a:solidFill>
                  <a:schemeClr val="bg1"/>
                </a:solidFill>
                <a:latin typeface="Arial" charset="0"/>
              </a:rPr>
              <a:t>Step 2 – Or the outgoing interfaces… Which is preferable and why?  </a:t>
            </a:r>
          </a:p>
        </p:txBody>
      </p:sp>
      <p:sp>
        <p:nvSpPr>
          <p:cNvPr id="19463" name="Line 9"/>
          <p:cNvSpPr>
            <a:spLocks noChangeShapeType="1"/>
          </p:cNvSpPr>
          <p:nvPr/>
        </p:nvSpPr>
        <p:spPr bwMode="auto">
          <a:xfrm>
            <a:off x="4495800" y="1828800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464" name="Line 10"/>
          <p:cNvSpPr>
            <a:spLocks noChangeShapeType="1"/>
          </p:cNvSpPr>
          <p:nvPr/>
        </p:nvSpPr>
        <p:spPr bwMode="auto">
          <a:xfrm flipH="1">
            <a:off x="3429000" y="1828800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F9D3C0C7-5500-4A35-890D-C18C4BA220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123950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127FCC5A-9D43-4AE8-9E9A-77103AFECC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86300" y="1047750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AEE58F-BB4D-4710-9B38-34CE880D2E34}"/>
              </a:ext>
            </a:extLst>
          </p:cNvPr>
          <p:cNvSpPr txBox="1"/>
          <p:nvPr/>
        </p:nvSpPr>
        <p:spPr>
          <a:xfrm>
            <a:off x="3938588" y="893762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X</a:t>
            </a:r>
          </a:p>
        </p:txBody>
      </p:sp>
    </p:spTree>
  </p:cSld>
  <p:clrMapOvr>
    <a:masterClrMapping/>
  </p:clrMapOvr>
  <p:transition spd="med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4953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Learn by example!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44525" y="3948113"/>
            <a:ext cx="8534400" cy="25908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1800" dirty="0">
                <a:solidFill>
                  <a:srgbClr val="0D5A50"/>
                </a:solidFill>
                <a:latin typeface="Courier New" pitchFamily="49" charset="0"/>
              </a:rPr>
              <a:t>(config)#</a:t>
            </a:r>
            <a:r>
              <a:rPr lang="en-US" altLang="en-US" sz="1800" b="1" dirty="0">
                <a:solidFill>
                  <a:srgbClr val="0D5A50"/>
                </a:solidFill>
                <a:latin typeface="Courier New" pitchFamily="49" charset="0"/>
              </a:rPr>
              <a:t>access-list 10 permit 172.16.30.2</a:t>
            </a: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1800" dirty="0">
                <a:solidFill>
                  <a:srgbClr val="0D5A50"/>
                </a:solidFill>
                <a:latin typeface="Courier New" pitchFamily="49" charset="0"/>
              </a:rPr>
              <a:t>(config)#</a:t>
            </a:r>
            <a:r>
              <a:rPr lang="en-US" altLang="en-US" sz="1800" b="1" dirty="0">
                <a:solidFill>
                  <a:srgbClr val="0D5A50"/>
                </a:solidFill>
                <a:latin typeface="Courier New" pitchFamily="49" charset="0"/>
              </a:rPr>
              <a:t>access-list 10 deny 0.0.0.0 255.255.255.255</a:t>
            </a: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endParaRPr lang="en-US" altLang="en-US" sz="1800" b="1" dirty="0">
              <a:solidFill>
                <a:srgbClr val="0D5A50"/>
              </a:solidFill>
              <a:latin typeface="Courier New" pitchFamily="49" charset="0"/>
            </a:endParaRP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1800" dirty="0">
                <a:solidFill>
                  <a:srgbClr val="0D5A50"/>
                </a:solidFill>
                <a:latin typeface="Courier New" pitchFamily="49" charset="0"/>
              </a:rPr>
              <a:t>(config)# </a:t>
            </a:r>
            <a:r>
              <a:rPr lang="en-US" altLang="en-US" sz="1800" b="1" dirty="0">
                <a:solidFill>
                  <a:srgbClr val="0D5A50"/>
                </a:solidFill>
                <a:latin typeface="Courier New" pitchFamily="49" charset="0"/>
              </a:rPr>
              <a:t>interface e 0</a:t>
            </a: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D5A50"/>
                </a:solidFill>
                <a:latin typeface="Courier New" pitchFamily="49" charset="0"/>
              </a:rPr>
              <a:t>RouterB</a:t>
            </a:r>
            <a:r>
              <a:rPr lang="en-US" altLang="en-US" sz="1800" dirty="0">
                <a:solidFill>
                  <a:srgbClr val="0D5A50"/>
                </a:solidFill>
                <a:latin typeface="Courier New" pitchFamily="49" charset="0"/>
              </a:rPr>
              <a:t>(config-if)#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itchFamily="49" charset="0"/>
              </a:rPr>
              <a:t>ip</a:t>
            </a:r>
            <a:r>
              <a:rPr lang="en-US" altLang="en-US" sz="1800" b="1" dirty="0">
                <a:solidFill>
                  <a:srgbClr val="FF0000"/>
                </a:solidFill>
                <a:latin typeface="Courier New" pitchFamily="49" charset="0"/>
              </a:rPr>
              <a:t> access-group 10 in</a:t>
            </a: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1447800" y="11430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2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430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3429000" y="3124200"/>
            <a:ext cx="985838" cy="30321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684213" y="3581400"/>
            <a:ext cx="861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Arial" charset="0"/>
              </a:rPr>
              <a:t>Preferred</a:t>
            </a:r>
            <a:r>
              <a:rPr lang="en-US" altLang="en-US" sz="1800" b="0">
                <a:solidFill>
                  <a:schemeClr val="bg1"/>
                </a:solidFill>
                <a:latin typeface="Arial" charset="0"/>
              </a:rPr>
              <a:t>, this access list will work to all existing and new interfaces on RouterB.</a:t>
            </a:r>
          </a:p>
        </p:txBody>
      </p:sp>
      <p:sp>
        <p:nvSpPr>
          <p:cNvPr id="21511" name="Line 8"/>
          <p:cNvSpPr>
            <a:spLocks noChangeShapeType="1"/>
          </p:cNvSpPr>
          <p:nvPr/>
        </p:nvSpPr>
        <p:spPr bwMode="auto">
          <a:xfrm flipV="1">
            <a:off x="4114800" y="1752600"/>
            <a:ext cx="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35769"/>
            <a:ext cx="4953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2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4006650"/>
            <a:ext cx="8532440" cy="273585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>
                <a:ea typeface="+mn-ea"/>
              </a:rPr>
              <a:t>Task: 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</a:rPr>
              <a:t>Permit only the hosts 172.16.30.2, 172.16.30.3, 172.16.30.4, 172.16.30.5 from exiting the Sales network.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</a:rPr>
              <a:t>Deny all other hosts on the Sales network from leaving the 172.16.30.0/24 network.</a:t>
            </a:r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566327"/>
              </p:ext>
            </p:extLst>
          </p:nvPr>
        </p:nvGraphicFramePr>
        <p:xfrm>
          <a:off x="1154123" y="1251743"/>
          <a:ext cx="6835754" cy="273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23" y="1251743"/>
                        <a:ext cx="6835754" cy="2735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omb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4953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2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933825"/>
            <a:ext cx="8534400" cy="28638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02060"/>
                </a:solidFill>
              </a:rPr>
              <a:t>RouterB</a:t>
            </a:r>
            <a:r>
              <a:rPr lang="en-US" altLang="en-US" sz="1800" dirty="0">
                <a:solidFill>
                  <a:srgbClr val="002060"/>
                </a:solidFill>
              </a:rPr>
              <a:t>(config)#</a:t>
            </a:r>
            <a:r>
              <a:rPr lang="en-US" altLang="en-US" sz="1800" b="1" dirty="0">
                <a:solidFill>
                  <a:srgbClr val="002060"/>
                </a:solidFill>
              </a:rPr>
              <a:t>access-list 10 permit 172.16.30.2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02060"/>
                </a:solidFill>
              </a:rPr>
              <a:t>RouterB</a:t>
            </a:r>
            <a:r>
              <a:rPr lang="en-US" altLang="en-US" sz="1800" dirty="0">
                <a:solidFill>
                  <a:srgbClr val="002060"/>
                </a:solidFill>
              </a:rPr>
              <a:t>(config)#</a:t>
            </a:r>
            <a:r>
              <a:rPr lang="en-US" altLang="en-US" sz="1800" b="1" dirty="0">
                <a:solidFill>
                  <a:srgbClr val="002060"/>
                </a:solidFill>
              </a:rPr>
              <a:t>access-list 10 permit 172.16.30.3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02060"/>
                </a:solidFill>
              </a:rPr>
              <a:t>RouterB</a:t>
            </a:r>
            <a:r>
              <a:rPr lang="en-US" altLang="en-US" sz="1800" dirty="0">
                <a:solidFill>
                  <a:srgbClr val="002060"/>
                </a:solidFill>
              </a:rPr>
              <a:t>(config)#</a:t>
            </a:r>
            <a:r>
              <a:rPr lang="en-US" altLang="en-US" sz="1800" b="1" dirty="0">
                <a:solidFill>
                  <a:srgbClr val="002060"/>
                </a:solidFill>
              </a:rPr>
              <a:t>access-list 10 permit 172.16.30.4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02060"/>
                </a:solidFill>
              </a:rPr>
              <a:t>RouterB</a:t>
            </a:r>
            <a:r>
              <a:rPr lang="en-US" altLang="en-US" sz="1800" dirty="0">
                <a:solidFill>
                  <a:srgbClr val="002060"/>
                </a:solidFill>
              </a:rPr>
              <a:t>(config)#</a:t>
            </a:r>
            <a:r>
              <a:rPr lang="en-US" altLang="en-US" sz="1800" b="1" dirty="0">
                <a:solidFill>
                  <a:srgbClr val="002060"/>
                </a:solidFill>
              </a:rPr>
              <a:t>access-list 10 permit 172.16.30.5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i="1" dirty="0" err="1">
                <a:solidFill>
                  <a:srgbClr val="002060"/>
                </a:solidFill>
              </a:rPr>
              <a:t>RouterB</a:t>
            </a:r>
            <a:r>
              <a:rPr lang="en-US" altLang="en-US" sz="1800" i="1" dirty="0">
                <a:solidFill>
                  <a:srgbClr val="002060"/>
                </a:solidFill>
              </a:rPr>
              <a:t>(config)#access-list 10 deny 0.0.0.0 255.255.255.255 (implicit deny)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endParaRPr lang="en-US" altLang="en-US" sz="1800" i="1" dirty="0">
              <a:solidFill>
                <a:srgbClr val="002060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02060"/>
                </a:solidFill>
              </a:rPr>
              <a:t>RouterB</a:t>
            </a:r>
            <a:r>
              <a:rPr lang="en-US" altLang="en-US" sz="1800" dirty="0">
                <a:solidFill>
                  <a:srgbClr val="002060"/>
                </a:solidFill>
              </a:rPr>
              <a:t>(config)# </a:t>
            </a:r>
            <a:r>
              <a:rPr lang="en-US" altLang="en-US" sz="1800" b="1" dirty="0">
                <a:solidFill>
                  <a:srgbClr val="002060"/>
                </a:solidFill>
              </a:rPr>
              <a:t>interface e 0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1800" dirty="0" err="1">
                <a:solidFill>
                  <a:srgbClr val="002060"/>
                </a:solidFill>
              </a:rPr>
              <a:t>RouterB</a:t>
            </a:r>
            <a:r>
              <a:rPr lang="en-US" altLang="en-US" sz="1800" dirty="0">
                <a:solidFill>
                  <a:srgbClr val="002060"/>
                </a:solidFill>
              </a:rPr>
              <a:t>(config-if)# </a:t>
            </a:r>
            <a:r>
              <a:rPr lang="en-US" altLang="en-US" sz="1800" b="1" dirty="0" err="1">
                <a:solidFill>
                  <a:srgbClr val="002060"/>
                </a:solidFill>
              </a:rPr>
              <a:t>ip</a:t>
            </a:r>
            <a:r>
              <a:rPr lang="en-US" altLang="en-US" sz="1800" b="1" dirty="0">
                <a:solidFill>
                  <a:srgbClr val="002060"/>
                </a:solidFill>
              </a:rPr>
              <a:t> access-group 10 in</a:t>
            </a:r>
          </a:p>
        </p:txBody>
      </p:sp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385872"/>
              </p:ext>
            </p:extLst>
          </p:nvPr>
        </p:nvGraphicFramePr>
        <p:xfrm>
          <a:off x="781120" y="1143000"/>
          <a:ext cx="6251506" cy="250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120" y="1143000"/>
                        <a:ext cx="6251506" cy="2502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Text Box 6"/>
          <p:cNvSpPr txBox="1">
            <a:spLocks noChangeArrowheads="1"/>
          </p:cNvSpPr>
          <p:nvPr/>
        </p:nvSpPr>
        <p:spPr bwMode="auto">
          <a:xfrm>
            <a:off x="684213" y="3352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Arial" charset="0"/>
              </a:rPr>
              <a:t>Once a condition is met, all other statements are ignored, so the implicit </a:t>
            </a:r>
            <a:r>
              <a:rPr lang="en-US" altLang="en-US" sz="1800" i="1">
                <a:solidFill>
                  <a:schemeClr val="bg1"/>
                </a:solidFill>
                <a:latin typeface="Arial" charset="0"/>
              </a:rPr>
              <a:t>deny any</a:t>
            </a:r>
            <a:r>
              <a:rPr lang="en-US" altLang="en-US" sz="1800">
                <a:solidFill>
                  <a:schemeClr val="bg1"/>
                </a:solidFill>
                <a:latin typeface="Arial" charset="0"/>
              </a:rPr>
              <a:t> only applies to not-matched packets.</a:t>
            </a:r>
            <a:endParaRPr lang="en-US" altLang="en-US" sz="18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3558" name="Line 8"/>
          <p:cNvSpPr>
            <a:spLocks noChangeShapeType="1"/>
          </p:cNvSpPr>
          <p:nvPr/>
        </p:nvSpPr>
        <p:spPr bwMode="auto">
          <a:xfrm flipV="1">
            <a:off x="4114800" y="1676400"/>
            <a:ext cx="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4953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2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4300538"/>
            <a:ext cx="8316913" cy="22098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>
                <a:latin typeface="Courier New" pitchFamily="49" charset="0"/>
              </a:rPr>
              <a:t>RouterB</a:t>
            </a:r>
            <a:r>
              <a:rPr lang="en-US" altLang="en-US" sz="2000" dirty="0">
                <a:latin typeface="Courier New" pitchFamily="49" charset="0"/>
              </a:rPr>
              <a:t>(config)#</a:t>
            </a:r>
            <a:r>
              <a:rPr lang="en-US" altLang="en-US" sz="2000" b="1" dirty="0">
                <a:latin typeface="Courier New" pitchFamily="49" charset="0"/>
              </a:rPr>
              <a:t>no</a:t>
            </a:r>
            <a:r>
              <a:rPr lang="en-US" altLang="en-US" sz="2000" dirty="0"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access-list 10</a:t>
            </a: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endParaRPr lang="en-US" altLang="en-US" sz="2000" i="1" dirty="0">
              <a:latin typeface="Courier New" pitchFamily="49" charset="0"/>
            </a:endParaRP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>
                <a:latin typeface="Courier New" pitchFamily="49" charset="0"/>
              </a:rPr>
              <a:t>RouterB</a:t>
            </a:r>
            <a:r>
              <a:rPr lang="en-US" altLang="en-US" sz="2000" dirty="0">
                <a:latin typeface="Courier New" pitchFamily="49" charset="0"/>
              </a:rPr>
              <a:t>(config)# </a:t>
            </a:r>
            <a:r>
              <a:rPr lang="en-US" altLang="en-US" sz="2000" b="1" dirty="0">
                <a:latin typeface="Courier New" pitchFamily="49" charset="0"/>
              </a:rPr>
              <a:t>interface e 0</a:t>
            </a: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>
                <a:latin typeface="Courier New" pitchFamily="49" charset="0"/>
              </a:rPr>
              <a:t>RouterB</a:t>
            </a:r>
            <a:r>
              <a:rPr lang="en-US" altLang="en-US" sz="2000" dirty="0">
                <a:latin typeface="Courier New" pitchFamily="49" charset="0"/>
              </a:rPr>
              <a:t>(config-if)# </a:t>
            </a:r>
            <a:r>
              <a:rPr lang="en-US" altLang="en-US" sz="2000" b="1" dirty="0">
                <a:latin typeface="Courier New" pitchFamily="49" charset="0"/>
              </a:rPr>
              <a:t>no</a:t>
            </a:r>
            <a:r>
              <a:rPr lang="en-US" altLang="en-US" sz="2000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ip</a:t>
            </a:r>
            <a:r>
              <a:rPr lang="en-US" altLang="en-US" sz="2000" b="1" dirty="0">
                <a:latin typeface="Courier New" pitchFamily="49" charset="0"/>
              </a:rPr>
              <a:t> access-group 10 in</a:t>
            </a:r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1447800" y="11430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3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430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684213" y="3352800"/>
            <a:ext cx="8231187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latin typeface="Arial" charset="0"/>
              </a:rPr>
              <a:t>To remove an Access List, use the no access-list command.  Removing the access-group only from the interface leaves the access list, but they are not currently being applied.  Usually, best to remove it from both.</a:t>
            </a:r>
            <a:endParaRPr lang="en-US" altLang="en-US" sz="1800" b="0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 flipV="1">
            <a:off x="4114800" y="1676400"/>
            <a:ext cx="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4953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3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3833813"/>
            <a:ext cx="8534400" cy="302418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>
                <a:ea typeface="+mn-ea"/>
              </a:rPr>
              <a:t>Task: 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</a:rPr>
              <a:t>Deny only the host 172.16.30.2 from exiting the Sales network.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</a:rPr>
              <a:t>Permit all other hosts on the Sales network to leave the 172.16.30.0/24 network.</a:t>
            </a:r>
          </a:p>
          <a:p>
            <a:pPr eaLnBrk="1" hangingPunct="1">
              <a:defRPr/>
            </a:pPr>
            <a:r>
              <a:rPr lang="en-US" sz="2800" dirty="0">
                <a:ea typeface="+mn-ea"/>
              </a:rPr>
              <a:t>Keyword “any” can be used to represent all IP Addresses.</a:t>
            </a: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656473"/>
              </p:ext>
            </p:extLst>
          </p:nvPr>
        </p:nvGraphicFramePr>
        <p:xfrm>
          <a:off x="899592" y="1143000"/>
          <a:ext cx="6723210" cy="269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5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143000"/>
                        <a:ext cx="6723210" cy="269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omb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048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/>
              <a:t>“any” keyword </a:t>
            </a:r>
          </a:p>
        </p:txBody>
      </p:sp>
      <p:sp>
        <p:nvSpPr>
          <p:cNvPr id="26627" name="Rectangle 9"/>
          <p:cNvSpPr>
            <a:spLocks noGrp="1" noChangeArrowheads="1"/>
          </p:cNvSpPr>
          <p:nvPr>
            <p:ph idx="1"/>
          </p:nvPr>
        </p:nvSpPr>
        <p:spPr>
          <a:xfrm>
            <a:off x="609600" y="4652963"/>
            <a:ext cx="8534400" cy="19050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400" b="1" dirty="0"/>
              <a:t>any = 0.0.0.0 255.255.255.255</a:t>
            </a:r>
          </a:p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cs typeface="Arial" charset="0"/>
              </a:rPr>
              <a:t>Simply put, the </a:t>
            </a:r>
            <a:r>
              <a:rPr lang="en-US" altLang="en-US" sz="2400" b="1" dirty="0">
                <a:cs typeface="Courier New" pitchFamily="49" charset="0"/>
              </a:rPr>
              <a:t>any</a:t>
            </a:r>
            <a:r>
              <a:rPr lang="en-US" altLang="en-US" sz="2400" dirty="0">
                <a:cs typeface="Arial" charset="0"/>
              </a:rPr>
              <a:t> option substitutes 0.0.0.0 for the IP address and 255.255.255.255 for the wildcard mask. </a:t>
            </a:r>
          </a:p>
          <a:p>
            <a:pPr eaLnBrk="1" hangingPunct="1">
              <a:buClr>
                <a:srgbClr val="0D5A50"/>
              </a:buClr>
            </a:pP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This option will match any address that it is compared against. </a:t>
            </a:r>
            <a:endParaRPr lang="en-US" altLang="en-US" sz="2400" b="1" dirty="0">
              <a:solidFill>
                <a:srgbClr val="C00000"/>
              </a:solidFill>
            </a:endParaRP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endParaRPr lang="en-US" altLang="en-US" sz="1800" dirty="0"/>
          </a:p>
        </p:txBody>
      </p:sp>
      <p:graphicFrame>
        <p:nvGraphicFramePr>
          <p:cNvPr id="26628" name="Object 3"/>
          <p:cNvGraphicFramePr>
            <a:graphicFrameLocks noChangeAspect="1"/>
          </p:cNvGraphicFramePr>
          <p:nvPr/>
        </p:nvGraphicFramePr>
        <p:xfrm>
          <a:off x="1447800" y="11430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4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430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Oval 4"/>
          <p:cNvSpPr>
            <a:spLocks noChangeArrowheads="1"/>
          </p:cNvSpPr>
          <p:nvPr/>
        </p:nvSpPr>
        <p:spPr bwMode="auto">
          <a:xfrm>
            <a:off x="1981200" y="1219200"/>
            <a:ext cx="838200" cy="6096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6630" name="Line 5"/>
          <p:cNvSpPr>
            <a:spLocks noChangeShapeType="1"/>
          </p:cNvSpPr>
          <p:nvPr/>
        </p:nvSpPr>
        <p:spPr bwMode="auto">
          <a:xfrm flipH="1" flipV="1">
            <a:off x="3429000" y="2209800"/>
            <a:ext cx="5334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6631" name="Line 6"/>
          <p:cNvSpPr>
            <a:spLocks noChangeShapeType="1"/>
          </p:cNvSpPr>
          <p:nvPr/>
        </p:nvSpPr>
        <p:spPr bwMode="auto">
          <a:xfrm flipH="1" flipV="1">
            <a:off x="5181600" y="2743200"/>
            <a:ext cx="381000" cy="76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6632" name="Rectangle 7"/>
          <p:cNvSpPr>
            <a:spLocks noChangeArrowheads="1"/>
          </p:cNvSpPr>
          <p:nvPr/>
        </p:nvSpPr>
        <p:spPr bwMode="auto">
          <a:xfrm>
            <a:off x="684213" y="3505200"/>
            <a:ext cx="8459787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125000"/>
              <a:buFont typeface="Arial" charset="0"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Courier New" pitchFamily="49" charset="0"/>
              </a:rPr>
              <a:t>RouterA</a:t>
            </a:r>
            <a:r>
              <a:rPr lang="en-US" altLang="en-US" sz="1800" b="0" dirty="0">
                <a:solidFill>
                  <a:schemeClr val="tx1"/>
                </a:solidFill>
                <a:latin typeface="Courier New" pitchFamily="49" charset="0"/>
              </a:rPr>
              <a:t>(config)#</a:t>
            </a:r>
            <a:r>
              <a:rPr lang="en-US" altLang="en-US" sz="1800" dirty="0">
                <a:solidFill>
                  <a:schemeClr val="tx1"/>
                </a:solidFill>
                <a:latin typeface="Courier New" pitchFamily="49" charset="0"/>
              </a:rPr>
              <a:t>access-list 11 deny 0.0.0.0 255.255.255.255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125000"/>
              <a:buFont typeface="Arial" charset="0"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itchFamily="49" charset="0"/>
              </a:rPr>
              <a:t>Or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125000"/>
              <a:buFont typeface="Arial" charset="0"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Courier New" pitchFamily="49" charset="0"/>
              </a:rPr>
              <a:t>RouterA</a:t>
            </a:r>
            <a:r>
              <a:rPr lang="en-US" altLang="en-US" sz="1800" b="0" dirty="0">
                <a:solidFill>
                  <a:schemeClr val="tx1"/>
                </a:solidFill>
                <a:latin typeface="Courier New" pitchFamily="49" charset="0"/>
              </a:rPr>
              <a:t>(config)#</a:t>
            </a:r>
            <a:r>
              <a:rPr lang="en-US" altLang="en-US" sz="1800" dirty="0">
                <a:solidFill>
                  <a:schemeClr val="tx1"/>
                </a:solidFill>
                <a:latin typeface="Courier New" pitchFamily="49" charset="0"/>
              </a:rPr>
              <a:t>access-list 11 deny any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125000"/>
              <a:buFont typeface="Arial" charset="0"/>
              <a:buNone/>
            </a:pPr>
            <a:endParaRPr lang="en-US" altLang="en-US" sz="18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26633" name="Line 8"/>
          <p:cNvSpPr>
            <a:spLocks noChangeShapeType="1"/>
          </p:cNvSpPr>
          <p:nvPr/>
        </p:nvSpPr>
        <p:spPr bwMode="auto">
          <a:xfrm>
            <a:off x="2438400" y="1676400"/>
            <a:ext cx="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“host” option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598488" y="1916831"/>
            <a:ext cx="8534400" cy="4614143"/>
          </a:xfrm>
        </p:spPr>
        <p:txBody>
          <a:bodyPr>
            <a:normAutofit/>
          </a:bodyPr>
          <a:lstStyle/>
          <a:p>
            <a:pPr marL="457200" indent="-457200"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400" dirty="0" err="1"/>
              <a:t>RouterB</a:t>
            </a:r>
            <a:r>
              <a:rPr lang="en-US" altLang="en-US" sz="2400" dirty="0"/>
              <a:t>(config)#</a:t>
            </a:r>
            <a:r>
              <a:rPr lang="en-US" altLang="en-US" sz="2400" b="1" dirty="0"/>
              <a:t>access-list 10 permit 192.168.1.100 0.0.0.0</a:t>
            </a:r>
          </a:p>
          <a:p>
            <a:pPr marL="457200" indent="-457200"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400" dirty="0" err="1"/>
              <a:t>RouterB</a:t>
            </a:r>
            <a:r>
              <a:rPr lang="en-US" altLang="en-US" sz="2400" dirty="0"/>
              <a:t>(config)#</a:t>
            </a:r>
            <a:r>
              <a:rPr lang="en-US" altLang="en-US" sz="2400" b="1" dirty="0"/>
              <a:t>access-list 10 permit host 192.168.1.100</a:t>
            </a:r>
          </a:p>
          <a:p>
            <a:pPr marL="457200" indent="-457200" eaLnBrk="1" hangingPunct="1">
              <a:buClr>
                <a:srgbClr val="0D5A50"/>
              </a:buClr>
            </a:pPr>
            <a:r>
              <a:rPr lang="en-US" altLang="en-US" sz="2400" dirty="0">
                <a:cs typeface="Arial" charset="0"/>
              </a:rPr>
              <a:t>The </a:t>
            </a:r>
            <a:r>
              <a:rPr lang="en-US" altLang="en-US" sz="2400" b="1" dirty="0">
                <a:cs typeface="Courier New" pitchFamily="49" charset="0"/>
              </a:rPr>
              <a:t>host</a:t>
            </a:r>
            <a:r>
              <a:rPr lang="en-US" altLang="en-US" sz="2400" dirty="0">
                <a:cs typeface="Arial" charset="0"/>
              </a:rPr>
              <a:t> option substitutes for the 0.0.0.0 mask. </a:t>
            </a:r>
          </a:p>
          <a:p>
            <a:pPr marL="457200" indent="-457200" eaLnBrk="1" hangingPunct="1">
              <a:buClr>
                <a:srgbClr val="0D5A50"/>
              </a:buClr>
            </a:pPr>
            <a:r>
              <a:rPr lang="en-US" altLang="en-US" sz="2400" dirty="0">
                <a:cs typeface="Arial" charset="0"/>
              </a:rPr>
              <a:t>This mask requires that all bits of the ACL address and the packet address match. </a:t>
            </a:r>
          </a:p>
          <a:p>
            <a:pPr marL="457200" indent="-457200" eaLnBrk="1" hangingPunct="1">
              <a:buClr>
                <a:srgbClr val="0D5A50"/>
              </a:buClr>
            </a:pPr>
            <a:r>
              <a:rPr lang="en-US" altLang="en-US" sz="2400" dirty="0">
                <a:cs typeface="Arial" charset="0"/>
              </a:rPr>
              <a:t>The host keyword precedes the IP address.</a:t>
            </a:r>
          </a:p>
          <a:p>
            <a:pPr marL="457200" indent="-457200" eaLnBrk="1" hangingPunct="1">
              <a:buClr>
                <a:srgbClr val="0D5A50"/>
              </a:buClr>
            </a:pP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This option will match just one address.</a:t>
            </a:r>
          </a:p>
          <a:p>
            <a:pPr marL="457200" indent="-457200" eaLnBrk="1" hangingPunct="1">
              <a:buClr>
                <a:srgbClr val="0D5A50"/>
              </a:buClr>
            </a:pPr>
            <a:endParaRPr lang="en-US" altLang="en-US" sz="2400" dirty="0">
              <a:cs typeface="Arial" charset="0"/>
            </a:endParaRPr>
          </a:p>
          <a:p>
            <a:pPr marL="457200" indent="-457200"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400" b="1" dirty="0"/>
              <a:t>172.16.10.100 0.0.0.0  </a:t>
            </a:r>
            <a:r>
              <a:rPr lang="en-US" altLang="en-US" sz="2400" b="1" i="1" dirty="0"/>
              <a:t>replaced by</a:t>
            </a:r>
            <a:r>
              <a:rPr lang="en-US" altLang="en-US" sz="2400" b="1" dirty="0"/>
              <a:t>    host 172.16.10.100</a:t>
            </a:r>
          </a:p>
          <a:p>
            <a:pPr marL="457200" indent="-457200"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400" b="1" dirty="0"/>
              <a:t>192.168.1.100 0.0.0.0  </a:t>
            </a:r>
            <a:r>
              <a:rPr lang="en-US" altLang="en-US" sz="2400" b="1" i="1" dirty="0"/>
              <a:t>replaced by</a:t>
            </a:r>
            <a:r>
              <a:rPr lang="en-US" altLang="en-US" sz="2400" b="1" dirty="0"/>
              <a:t>    host 192.168.1.100 </a:t>
            </a:r>
          </a:p>
        </p:txBody>
      </p:sp>
    </p:spTree>
  </p:cSld>
  <p:clrMapOvr>
    <a:masterClrMapping/>
  </p:clrMapOvr>
  <p:transition spd="med">
    <p:comb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4953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3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638175" y="4149725"/>
            <a:ext cx="8534400" cy="25495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>
                <a:latin typeface="Courier New" pitchFamily="49" charset="0"/>
              </a:rPr>
              <a:t>RouterB</a:t>
            </a:r>
            <a:r>
              <a:rPr lang="en-US" altLang="en-US" sz="2000" dirty="0">
                <a:latin typeface="Courier New" pitchFamily="49" charset="0"/>
              </a:rPr>
              <a:t>(config)#</a:t>
            </a:r>
            <a:r>
              <a:rPr lang="en-US" altLang="en-US" sz="2000" b="1" dirty="0">
                <a:latin typeface="Courier New" pitchFamily="49" charset="0"/>
              </a:rPr>
              <a:t>access-list 10 deny host 172.16.30.2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>
                <a:latin typeface="Courier New" pitchFamily="49" charset="0"/>
              </a:rPr>
              <a:t>RouterB</a:t>
            </a:r>
            <a:r>
              <a:rPr lang="en-US" altLang="en-US" sz="2000" dirty="0">
                <a:latin typeface="Courier New" pitchFamily="49" charset="0"/>
              </a:rPr>
              <a:t>(config)#</a:t>
            </a:r>
            <a:r>
              <a:rPr lang="en-US" altLang="en-US" sz="2000" b="1" dirty="0">
                <a:latin typeface="Courier New" pitchFamily="49" charset="0"/>
              </a:rPr>
              <a:t>access-list 10 permit any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endParaRPr lang="en-US" altLang="en-US" sz="2000" i="1" dirty="0"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>
                <a:latin typeface="Courier New" pitchFamily="49" charset="0"/>
              </a:rPr>
              <a:t>RouterB</a:t>
            </a:r>
            <a:r>
              <a:rPr lang="en-US" altLang="en-US" sz="2000" dirty="0">
                <a:latin typeface="Courier New" pitchFamily="49" charset="0"/>
              </a:rPr>
              <a:t>(config)# </a:t>
            </a:r>
            <a:r>
              <a:rPr lang="en-US" altLang="en-US" sz="2000" b="1" dirty="0">
                <a:latin typeface="Courier New" pitchFamily="49" charset="0"/>
              </a:rPr>
              <a:t>interface e 0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>
                <a:latin typeface="Courier New" pitchFamily="49" charset="0"/>
              </a:rPr>
              <a:t>RouterB</a:t>
            </a:r>
            <a:r>
              <a:rPr lang="en-US" altLang="en-US" sz="2000" dirty="0">
                <a:latin typeface="Courier New" pitchFamily="49" charset="0"/>
              </a:rPr>
              <a:t>(config-if)# </a:t>
            </a:r>
            <a:r>
              <a:rPr lang="en-US" altLang="en-US" sz="2000" b="1" dirty="0" err="1">
                <a:latin typeface="Courier New" pitchFamily="49" charset="0"/>
              </a:rPr>
              <a:t>ip</a:t>
            </a:r>
            <a:r>
              <a:rPr lang="en-US" altLang="en-US" sz="2000" b="1" dirty="0">
                <a:latin typeface="Courier New" pitchFamily="49" charset="0"/>
              </a:rPr>
              <a:t> access-group 10 in</a:t>
            </a: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1476375" y="10414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0414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611188" y="3284538"/>
            <a:ext cx="8304212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Arial" charset="0"/>
              </a:rPr>
              <a:t>Order matters!  What if these two statements were reversed?  Does the </a:t>
            </a:r>
            <a:r>
              <a:rPr lang="en-US" altLang="en-US" sz="1800" i="1">
                <a:solidFill>
                  <a:schemeClr val="bg1"/>
                </a:solidFill>
                <a:latin typeface="Arial" charset="0"/>
              </a:rPr>
              <a:t>implicit deny any</a:t>
            </a:r>
            <a:r>
              <a:rPr lang="en-US" altLang="en-US" sz="1800">
                <a:solidFill>
                  <a:schemeClr val="bg1"/>
                </a:solidFill>
                <a:latin typeface="Arial" charset="0"/>
              </a:rPr>
              <a:t> ever get a match? No, the permit any will cover all other packets.</a:t>
            </a:r>
            <a:endParaRPr lang="en-US" altLang="en-US" sz="18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auto">
          <a:xfrm flipV="1">
            <a:off x="4114800" y="1676400"/>
            <a:ext cx="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4953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3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4621212"/>
            <a:ext cx="8534400" cy="21209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b="1" dirty="0" err="1">
                <a:solidFill>
                  <a:srgbClr val="7030A0"/>
                </a:solidFill>
                <a:latin typeface="Courier New" pitchFamily="49" charset="0"/>
              </a:rPr>
              <a:t>RouterB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</a:rPr>
              <a:t>(config)#access-list 10 permit any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b="1" dirty="0" err="1">
                <a:solidFill>
                  <a:srgbClr val="7030A0"/>
                </a:solidFill>
                <a:latin typeface="Courier New" pitchFamily="49" charset="0"/>
              </a:rPr>
              <a:t>RouterB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</a:rPr>
              <a:t>(config)#access-list 10 deny 172.16.30.2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endParaRPr lang="en-US" altLang="en-US" sz="2000" b="1" i="1" dirty="0">
              <a:solidFill>
                <a:srgbClr val="7030A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b="1" dirty="0" err="1">
                <a:solidFill>
                  <a:srgbClr val="7030A0"/>
                </a:solidFill>
                <a:latin typeface="Courier New" pitchFamily="49" charset="0"/>
              </a:rPr>
              <a:t>RouterB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</a:rPr>
              <a:t>(config)# interface e 0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b="1" dirty="0" err="1">
                <a:solidFill>
                  <a:srgbClr val="7030A0"/>
                </a:solidFill>
                <a:latin typeface="Courier New" pitchFamily="49" charset="0"/>
              </a:rPr>
              <a:t>RouterB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</a:rPr>
              <a:t>(config-if)# </a:t>
            </a:r>
            <a:r>
              <a:rPr lang="en-US" altLang="en-US" sz="2000" b="1" dirty="0" err="1">
                <a:solidFill>
                  <a:srgbClr val="7030A0"/>
                </a:solidFill>
                <a:latin typeface="Courier New" pitchFamily="49" charset="0"/>
              </a:rPr>
              <a:t>ip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</a:rPr>
              <a:t> access-group 10 in</a:t>
            </a:r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1547813" y="8636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4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8636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611188" y="3213100"/>
            <a:ext cx="85423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  <a:latin typeface="Arial" charset="0"/>
              </a:rPr>
              <a:t>Order matters!  </a:t>
            </a:r>
            <a:r>
              <a:rPr lang="en-US" altLang="en-US" sz="1800" dirty="0">
                <a:solidFill>
                  <a:schemeClr val="tx1"/>
                </a:solidFill>
                <a:latin typeface="Arial" charset="0"/>
              </a:rPr>
              <a:t>In this case all packets would be permitted, because all packets would match the first access list statement. Once a condition is met, all other statements are ignored.  The second access list statement and the implicit deny any would never be used.  This would </a:t>
            </a:r>
            <a:r>
              <a:rPr lang="en-US" altLang="en-US" sz="1800" u="sng" dirty="0">
                <a:solidFill>
                  <a:schemeClr val="tx1"/>
                </a:solidFill>
                <a:latin typeface="Arial" charset="0"/>
              </a:rPr>
              <a:t>not</a:t>
            </a:r>
            <a:r>
              <a:rPr lang="en-US" altLang="en-US" sz="1800" dirty="0">
                <a:solidFill>
                  <a:schemeClr val="tx1"/>
                </a:solidFill>
                <a:latin typeface="Arial" charset="0"/>
              </a:rPr>
              <a:t> do what we want.</a:t>
            </a:r>
          </a:p>
        </p:txBody>
      </p:sp>
      <p:sp>
        <p:nvSpPr>
          <p:cNvPr id="29702" name="Line 6"/>
          <p:cNvSpPr>
            <a:spLocks noChangeShapeType="1"/>
          </p:cNvSpPr>
          <p:nvPr/>
        </p:nvSpPr>
        <p:spPr bwMode="auto">
          <a:xfrm flipV="1">
            <a:off x="4114800" y="1676400"/>
            <a:ext cx="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 for Wildcard Masks!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905000"/>
            <a:ext cx="8375650" cy="4648200"/>
          </a:xfrm>
        </p:spPr>
        <p:txBody>
          <a:bodyPr>
            <a:normAutofit/>
          </a:bodyPr>
          <a:lstStyle/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800" dirty="0">
                <a:solidFill>
                  <a:srgbClr val="0D5A50"/>
                </a:solidFill>
                <a:cs typeface="Arial" charset="0"/>
              </a:rPr>
              <a:t>A </a:t>
            </a:r>
            <a:r>
              <a:rPr lang="en-US" altLang="en-US" sz="2800" b="1" dirty="0">
                <a:solidFill>
                  <a:srgbClr val="FF0000"/>
                </a:solidFill>
                <a:cs typeface="Arial" charset="0"/>
              </a:rPr>
              <a:t>wildcard mask</a:t>
            </a:r>
            <a:r>
              <a:rPr lang="en-US" altLang="en-US" sz="2800" dirty="0">
                <a:solidFill>
                  <a:srgbClr val="0D5A50"/>
                </a:solidFill>
                <a:cs typeface="Arial" charset="0"/>
              </a:rPr>
              <a:t> address:</a:t>
            </a:r>
          </a:p>
          <a:p>
            <a:pPr eaLnBrk="1" hangingPunct="1">
              <a:buClr>
                <a:srgbClr val="0D5A50"/>
              </a:buClr>
            </a:pPr>
            <a:r>
              <a:rPr lang="en-US" altLang="en-US" sz="2800" dirty="0">
                <a:solidFill>
                  <a:srgbClr val="0D5A50"/>
                </a:solidFill>
                <a:cs typeface="Arial" charset="0"/>
              </a:rPr>
              <a:t>Tells how much of the packet’s source IP address (or destination IP address) needs to match for this condition to be true.</a:t>
            </a:r>
          </a:p>
          <a:p>
            <a:pPr eaLnBrk="1" hangingPunct="1">
              <a:buClr>
                <a:srgbClr val="0D5A50"/>
              </a:buClr>
            </a:pPr>
            <a:endParaRPr lang="en-US" altLang="en-US" sz="2800" dirty="0">
              <a:solidFill>
                <a:srgbClr val="0D5A50"/>
              </a:solidFill>
              <a:cs typeface="Arial" charset="0"/>
            </a:endParaRPr>
          </a:p>
          <a:p>
            <a:pPr eaLnBrk="1" hangingPunct="1">
              <a:buClr>
                <a:srgbClr val="0D5A50"/>
              </a:buClr>
            </a:pPr>
            <a:r>
              <a:rPr lang="en-US" altLang="en-US" sz="2800" dirty="0">
                <a:solidFill>
                  <a:srgbClr val="0D5A50"/>
                </a:solidFill>
                <a:cs typeface="Arial" charset="0"/>
              </a:rPr>
              <a:t>Access-lists need to use wildcard masks when defining a network. Subnet masks DO NOT work!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19200"/>
            <a:ext cx="47625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Line 5"/>
          <p:cNvSpPr>
            <a:spLocks noChangeShapeType="1"/>
          </p:cNvSpPr>
          <p:nvPr/>
        </p:nvSpPr>
        <p:spPr bwMode="auto">
          <a:xfrm>
            <a:off x="4953000" y="1752600"/>
            <a:ext cx="1219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36290" y="443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4 – Using Wildcard Masks 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4162548"/>
            <a:ext cx="8534400" cy="2514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>
                <a:ea typeface="+mn-ea"/>
              </a:rPr>
              <a:t>Task: 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</a:rPr>
              <a:t>Want </a:t>
            </a:r>
            <a:r>
              <a:rPr lang="en-US" sz="2400" dirty="0" err="1">
                <a:ea typeface="+mn-ea"/>
              </a:rPr>
              <a:t>RouterA</a:t>
            </a:r>
            <a:r>
              <a:rPr lang="en-US" sz="2400" dirty="0">
                <a:ea typeface="+mn-ea"/>
              </a:rPr>
              <a:t> to permit entire sales network and just the 172.16.50.2 station.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</a:rPr>
              <a:t>Deny all other traffic from entering Administrative network.</a:t>
            </a:r>
          </a:p>
        </p:txBody>
      </p:sp>
      <p:graphicFrame>
        <p:nvGraphicFramePr>
          <p:cNvPr id="31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701492"/>
              </p:ext>
            </p:extLst>
          </p:nvPr>
        </p:nvGraphicFramePr>
        <p:xfrm>
          <a:off x="975333" y="1004889"/>
          <a:ext cx="7544581" cy="3019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2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333" y="1004889"/>
                        <a:ext cx="7544581" cy="3019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Oval 5"/>
          <p:cNvSpPr>
            <a:spLocks noChangeArrowheads="1"/>
          </p:cNvSpPr>
          <p:nvPr/>
        </p:nvSpPr>
        <p:spPr bwMode="auto">
          <a:xfrm>
            <a:off x="1981200" y="1219200"/>
            <a:ext cx="838200" cy="6096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H="1" flipV="1">
            <a:off x="3429001" y="2628900"/>
            <a:ext cx="5334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 flipH="1" flipV="1">
            <a:off x="6156176" y="2850418"/>
            <a:ext cx="381000" cy="76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4 – Using Wildcard Masks </a:t>
            </a:r>
          </a:p>
        </p:txBody>
      </p:sp>
      <p:graphicFrame>
        <p:nvGraphicFramePr>
          <p:cNvPr id="32771" name="Object 4"/>
          <p:cNvGraphicFramePr>
            <a:graphicFrameLocks noChangeAspect="1"/>
          </p:cNvGraphicFramePr>
          <p:nvPr/>
        </p:nvGraphicFramePr>
        <p:xfrm>
          <a:off x="1447800" y="11430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6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430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Oval 5"/>
          <p:cNvSpPr>
            <a:spLocks noChangeArrowheads="1"/>
          </p:cNvSpPr>
          <p:nvPr/>
        </p:nvSpPr>
        <p:spPr bwMode="auto">
          <a:xfrm>
            <a:off x="1981200" y="1219200"/>
            <a:ext cx="838200" cy="6096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2773" name="Line 6"/>
          <p:cNvSpPr>
            <a:spLocks noChangeShapeType="1"/>
          </p:cNvSpPr>
          <p:nvPr/>
        </p:nvSpPr>
        <p:spPr bwMode="auto">
          <a:xfrm flipH="1" flipV="1">
            <a:off x="3429000" y="2209800"/>
            <a:ext cx="5334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74" name="Line 7"/>
          <p:cNvSpPr>
            <a:spLocks noChangeShapeType="1"/>
          </p:cNvSpPr>
          <p:nvPr/>
        </p:nvSpPr>
        <p:spPr bwMode="auto">
          <a:xfrm flipH="1" flipV="1">
            <a:off x="5181600" y="2743200"/>
            <a:ext cx="381000" cy="76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75" name="Rectangle 8"/>
          <p:cNvSpPr>
            <a:spLocks noChangeArrowheads="1"/>
          </p:cNvSpPr>
          <p:nvPr/>
        </p:nvSpPr>
        <p:spPr bwMode="auto">
          <a:xfrm>
            <a:off x="304800" y="3925117"/>
            <a:ext cx="8534400" cy="7620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125000"/>
              <a:buFont typeface="Arial" charset="0"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Courier New" pitchFamily="49" charset="0"/>
              </a:rPr>
              <a:t>RouterA</a:t>
            </a:r>
            <a:r>
              <a:rPr lang="en-US" altLang="en-US" sz="1800" b="0" dirty="0">
                <a:solidFill>
                  <a:schemeClr val="tx1"/>
                </a:solidFill>
                <a:latin typeface="Courier New" pitchFamily="49" charset="0"/>
              </a:rPr>
              <a:t>(config)#</a:t>
            </a:r>
            <a:r>
              <a:rPr lang="en-US" altLang="en-US" sz="1800" dirty="0">
                <a:solidFill>
                  <a:schemeClr val="tx1"/>
                </a:solidFill>
                <a:latin typeface="Courier New" pitchFamily="49" charset="0"/>
              </a:rPr>
              <a:t>access-list 11 permit 172.16.30.0 0.0.0.255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125000"/>
              <a:buFont typeface="Arial" charset="0"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Courier New" pitchFamily="49" charset="0"/>
              </a:rPr>
              <a:t>RouterA</a:t>
            </a:r>
            <a:r>
              <a:rPr lang="en-US" altLang="en-US" sz="1800" b="0" dirty="0">
                <a:solidFill>
                  <a:schemeClr val="tx1"/>
                </a:solidFill>
                <a:latin typeface="Courier New" pitchFamily="49" charset="0"/>
              </a:rPr>
              <a:t>(config)#</a:t>
            </a:r>
            <a:r>
              <a:rPr lang="en-US" altLang="en-US" sz="1800" dirty="0">
                <a:solidFill>
                  <a:schemeClr val="tx1"/>
                </a:solidFill>
                <a:latin typeface="Courier New" pitchFamily="49" charset="0"/>
              </a:rPr>
              <a:t>access-list 11 permit 172.16.50.2 0.0.0.0</a:t>
            </a:r>
          </a:p>
        </p:txBody>
      </p:sp>
    </p:spTree>
  </p:cSld>
  <p:clrMapOvr>
    <a:masterClrMapping/>
  </p:clrMapOvr>
  <p:transition spd="med">
    <p:comb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4 – Using Wildcard Masks </a:t>
            </a:r>
          </a:p>
        </p:txBody>
      </p:sp>
      <p:graphicFrame>
        <p:nvGraphicFramePr>
          <p:cNvPr id="33795" name="Object 4"/>
          <p:cNvGraphicFramePr>
            <a:graphicFrameLocks noChangeAspect="1"/>
          </p:cNvGraphicFramePr>
          <p:nvPr/>
        </p:nvGraphicFramePr>
        <p:xfrm>
          <a:off x="1447800" y="11430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2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430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Oval 5"/>
          <p:cNvSpPr>
            <a:spLocks noChangeArrowheads="1"/>
          </p:cNvSpPr>
          <p:nvPr/>
        </p:nvSpPr>
        <p:spPr bwMode="auto">
          <a:xfrm>
            <a:off x="1981200" y="1219200"/>
            <a:ext cx="838200" cy="6096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3797" name="Line 6"/>
          <p:cNvSpPr>
            <a:spLocks noChangeShapeType="1"/>
          </p:cNvSpPr>
          <p:nvPr/>
        </p:nvSpPr>
        <p:spPr bwMode="auto">
          <a:xfrm flipH="1" flipV="1">
            <a:off x="3429000" y="2209800"/>
            <a:ext cx="533400" cy="152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798" name="Line 7"/>
          <p:cNvSpPr>
            <a:spLocks noChangeShapeType="1"/>
          </p:cNvSpPr>
          <p:nvPr/>
        </p:nvSpPr>
        <p:spPr bwMode="auto">
          <a:xfrm flipH="1" flipV="1">
            <a:off x="5181600" y="2743200"/>
            <a:ext cx="381000" cy="76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799" name="Rectangle 8"/>
          <p:cNvSpPr>
            <a:spLocks noChangeArrowheads="1"/>
          </p:cNvSpPr>
          <p:nvPr/>
        </p:nvSpPr>
        <p:spPr bwMode="auto">
          <a:xfrm>
            <a:off x="611188" y="4114800"/>
            <a:ext cx="8532812" cy="19065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125000"/>
              <a:buFont typeface="Arial" charset="0"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Courier New" pitchFamily="49" charset="0"/>
              </a:rPr>
              <a:t>RouterA</a:t>
            </a:r>
            <a:r>
              <a:rPr lang="en-US" altLang="en-US" sz="1800" b="0" dirty="0">
                <a:solidFill>
                  <a:schemeClr val="tx1"/>
                </a:solidFill>
                <a:latin typeface="Courier New" pitchFamily="49" charset="0"/>
              </a:rPr>
              <a:t>(config)#</a:t>
            </a:r>
            <a:r>
              <a:rPr lang="en-US" altLang="en-US" sz="1800" dirty="0">
                <a:solidFill>
                  <a:schemeClr val="tx1"/>
                </a:solidFill>
                <a:latin typeface="Courier New" pitchFamily="49" charset="0"/>
              </a:rPr>
              <a:t>access-list 11 permit 172.16.30.0 0.0.0.255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125000"/>
              <a:buFont typeface="Arial" charset="0"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Courier New" pitchFamily="49" charset="0"/>
              </a:rPr>
              <a:t>RouterA</a:t>
            </a:r>
            <a:r>
              <a:rPr lang="en-US" altLang="en-US" sz="1800" b="0" dirty="0">
                <a:solidFill>
                  <a:schemeClr val="tx1"/>
                </a:solidFill>
                <a:latin typeface="Courier New" pitchFamily="49" charset="0"/>
              </a:rPr>
              <a:t>(config)#</a:t>
            </a:r>
            <a:r>
              <a:rPr lang="en-US" altLang="en-US" sz="1800" dirty="0">
                <a:solidFill>
                  <a:schemeClr val="tx1"/>
                </a:solidFill>
                <a:latin typeface="Courier New" pitchFamily="49" charset="0"/>
              </a:rPr>
              <a:t>access-list 11 permit 172.16.50.2 0.0.0.0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9999"/>
              </a:buClr>
              <a:buSzPct val="125000"/>
              <a:buFont typeface="Arial" charset="0"/>
              <a:buNone/>
            </a:pPr>
            <a:endParaRPr lang="en-US" altLang="en-US" sz="18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Courier New" pitchFamily="49" charset="0"/>
              </a:rPr>
              <a:t>RouterA</a:t>
            </a:r>
            <a:r>
              <a:rPr lang="en-US" altLang="en-US" sz="1800" b="0" dirty="0">
                <a:solidFill>
                  <a:schemeClr val="tx1"/>
                </a:solidFill>
                <a:latin typeface="Courier New" pitchFamily="49" charset="0"/>
              </a:rPr>
              <a:t>(config)# </a:t>
            </a:r>
            <a:r>
              <a:rPr lang="en-US" altLang="en-US" sz="1800" dirty="0">
                <a:solidFill>
                  <a:schemeClr val="tx1"/>
                </a:solidFill>
                <a:latin typeface="Courier New" pitchFamily="49" charset="0"/>
              </a:rPr>
              <a:t>interface e 0</a:t>
            </a:r>
          </a:p>
          <a:p>
            <a:pPr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Courier New" pitchFamily="49" charset="0"/>
              </a:rPr>
              <a:t>RouterA</a:t>
            </a:r>
            <a:r>
              <a:rPr lang="en-US" altLang="en-US" sz="1800" b="0" dirty="0">
                <a:solidFill>
                  <a:schemeClr val="tx1"/>
                </a:solidFill>
                <a:latin typeface="Courier New" pitchFamily="49" charset="0"/>
              </a:rPr>
              <a:t>(config-if)#</a:t>
            </a:r>
            <a:r>
              <a:rPr lang="en-US" altLang="en-US" sz="1800" dirty="0" err="1">
                <a:solidFill>
                  <a:schemeClr val="tx1"/>
                </a:solidFill>
                <a:latin typeface="Courier New" pitchFamily="49" charset="0"/>
              </a:rPr>
              <a:t>ip</a:t>
            </a:r>
            <a:r>
              <a:rPr lang="en-US" altLang="en-US" sz="1800" dirty="0">
                <a:solidFill>
                  <a:schemeClr val="tx1"/>
                </a:solidFill>
                <a:latin typeface="Courier New" pitchFamily="49" charset="0"/>
              </a:rPr>
              <a:t> access-group 11 out</a:t>
            </a:r>
          </a:p>
        </p:txBody>
      </p:sp>
      <p:sp>
        <p:nvSpPr>
          <p:cNvPr id="33800" name="Text Box 11"/>
          <p:cNvSpPr txBox="1">
            <a:spLocks noChangeArrowheads="1"/>
          </p:cNvSpPr>
          <p:nvPr/>
        </p:nvSpPr>
        <p:spPr bwMode="auto">
          <a:xfrm>
            <a:off x="611188" y="3581400"/>
            <a:ext cx="83042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Arial" charset="0"/>
              </a:rPr>
              <a:t>Don’t forget to apply the access-list to an interface.</a:t>
            </a:r>
            <a:endParaRPr lang="en-US" altLang="en-US" sz="18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33801" name="Line 12"/>
          <p:cNvSpPr>
            <a:spLocks noChangeShapeType="1"/>
          </p:cNvSpPr>
          <p:nvPr/>
        </p:nvSpPr>
        <p:spPr bwMode="auto">
          <a:xfrm>
            <a:off x="2438400" y="1676400"/>
            <a:ext cx="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46037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Verifying Access Lists</a:t>
            </a:r>
          </a:p>
        </p:txBody>
      </p:sp>
      <p:pic>
        <p:nvPicPr>
          <p:cNvPr id="348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43000"/>
            <a:ext cx="517207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276600"/>
            <a:ext cx="508635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1676400" y="2819400"/>
            <a:ext cx="3886200" cy="457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4822" name="Rectangle 7"/>
          <p:cNvSpPr>
            <a:spLocks noChangeArrowheads="1"/>
          </p:cNvSpPr>
          <p:nvPr/>
        </p:nvSpPr>
        <p:spPr bwMode="auto">
          <a:xfrm>
            <a:off x="1676400" y="4724400"/>
            <a:ext cx="3886200" cy="457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comb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Verifying Access Lists</a:t>
            </a:r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685928"/>
            <a:ext cx="570547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heel spokes="8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952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Verifying Access Lists</a:t>
            </a: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19200"/>
            <a:ext cx="39052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1905000"/>
            <a:ext cx="44100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175" y="3733800"/>
            <a:ext cx="6143625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1752600" y="2514600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>
            <a:off x="1752600" y="3429000"/>
            <a:ext cx="457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6872" name="AutoShape 9"/>
          <p:cNvSpPr>
            <a:spLocks/>
          </p:cNvSpPr>
          <p:nvPr/>
        </p:nvSpPr>
        <p:spPr bwMode="auto">
          <a:xfrm>
            <a:off x="1828800" y="3810000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6873" name="AutoShape 10"/>
          <p:cNvSpPr>
            <a:spLocks/>
          </p:cNvSpPr>
          <p:nvPr/>
        </p:nvSpPr>
        <p:spPr bwMode="auto">
          <a:xfrm>
            <a:off x="1828800" y="4724400"/>
            <a:ext cx="304800" cy="838200"/>
          </a:xfrm>
          <a:prstGeom prst="leftBrace">
            <a:avLst>
              <a:gd name="adj1" fmla="val 22917"/>
              <a:gd name="adj2" fmla="val 50000"/>
            </a:avLst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6874" name="Rectangle 11"/>
          <p:cNvSpPr>
            <a:spLocks noChangeArrowheads="1"/>
          </p:cNvSpPr>
          <p:nvPr/>
        </p:nvSpPr>
        <p:spPr bwMode="auto">
          <a:xfrm>
            <a:off x="381000" y="5867400"/>
            <a:ext cx="853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9999"/>
              </a:buClr>
              <a:buSzPct val="125000"/>
              <a:buFont typeface="Arial" charset="0"/>
              <a:buChar char="•"/>
            </a:pPr>
            <a:r>
              <a:rPr lang="en-US" altLang="en-US" sz="2400" b="0" dirty="0">
                <a:solidFill>
                  <a:schemeClr val="tx1"/>
                </a:solidFill>
                <a:latin typeface="Arial" charset="0"/>
              </a:rPr>
              <a:t>Note: More than one interface can use the same access-list.</a:t>
            </a:r>
          </a:p>
        </p:txBody>
      </p:sp>
    </p:spTree>
  </p:cSld>
  <p:clrMapOvr>
    <a:masterClrMapping/>
  </p:clrMapOvr>
  <p:transition>
    <p:wheel spokes="8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ctrTitle"/>
          </p:nvPr>
        </p:nvSpPr>
        <p:spPr>
          <a:ln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>
                <a:ea typeface="+mj-ea"/>
              </a:rPr>
              <a:t>Extended ACL</a:t>
            </a:r>
          </a:p>
        </p:txBody>
      </p:sp>
    </p:spTree>
  </p:cSld>
  <p:clrMapOvr>
    <a:masterClrMapping/>
  </p:clrMapOvr>
  <p:transition spd="med">
    <p:comb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38150" y="146843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Extended Access Lists</a:t>
            </a:r>
          </a:p>
        </p:txBody>
      </p:sp>
      <p:pic>
        <p:nvPicPr>
          <p:cNvPr id="399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43000"/>
            <a:ext cx="7210425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4800600"/>
            <a:ext cx="7143750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Rectangle 7"/>
          <p:cNvSpPr>
            <a:spLocks noChangeArrowheads="1"/>
          </p:cNvSpPr>
          <p:nvPr/>
        </p:nvSpPr>
        <p:spPr bwMode="auto">
          <a:xfrm>
            <a:off x="914400" y="4038600"/>
            <a:ext cx="6934200" cy="228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9942" name="Rectangle 8"/>
          <p:cNvSpPr>
            <a:spLocks noChangeArrowheads="1"/>
          </p:cNvSpPr>
          <p:nvPr/>
        </p:nvSpPr>
        <p:spPr bwMode="auto">
          <a:xfrm>
            <a:off x="914400" y="4800600"/>
            <a:ext cx="7010400" cy="457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9943" name="Rectangle 9"/>
          <p:cNvSpPr>
            <a:spLocks noChangeArrowheads="1"/>
          </p:cNvSpPr>
          <p:nvPr/>
        </p:nvSpPr>
        <p:spPr bwMode="auto">
          <a:xfrm>
            <a:off x="5181600" y="5029200"/>
            <a:ext cx="990600" cy="228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9944" name="Rectangle 10"/>
          <p:cNvSpPr>
            <a:spLocks noChangeArrowheads="1"/>
          </p:cNvSpPr>
          <p:nvPr/>
        </p:nvSpPr>
        <p:spPr bwMode="auto">
          <a:xfrm>
            <a:off x="1905000" y="4876800"/>
            <a:ext cx="914400" cy="3048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9945" name="Rectangle 11"/>
          <p:cNvSpPr>
            <a:spLocks noChangeArrowheads="1"/>
          </p:cNvSpPr>
          <p:nvPr/>
        </p:nvSpPr>
        <p:spPr bwMode="auto">
          <a:xfrm>
            <a:off x="914400" y="3505200"/>
            <a:ext cx="6934200" cy="457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comb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Extended Access Lists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4114800"/>
            <a:ext cx="8686800" cy="2438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ea typeface="+mn-ea"/>
                <a:cs typeface="Arial" pitchFamily="34" charset="0"/>
              </a:rPr>
              <a:t>Extended ACLs are used more often than standard ACLs because they </a:t>
            </a:r>
            <a:r>
              <a:rPr lang="en-US" sz="2000" dirty="0">
                <a:solidFill>
                  <a:srgbClr val="FF0000"/>
                </a:solidFill>
                <a:ea typeface="+mn-ea"/>
                <a:cs typeface="Arial" pitchFamily="34" charset="0"/>
              </a:rPr>
              <a:t>provide a </a:t>
            </a:r>
            <a:r>
              <a:rPr lang="en-US" sz="2000" b="1" dirty="0">
                <a:solidFill>
                  <a:srgbClr val="FF0000"/>
                </a:solidFill>
                <a:ea typeface="+mn-ea"/>
                <a:cs typeface="Arial" pitchFamily="34" charset="0"/>
              </a:rPr>
              <a:t>greater range of control</a:t>
            </a:r>
            <a:r>
              <a:rPr lang="en-US" sz="2000" dirty="0">
                <a:ea typeface="+mn-ea"/>
                <a:cs typeface="Arial" pitchFamily="34" charset="0"/>
              </a:rPr>
              <a:t>.  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ea typeface="+mn-ea"/>
                <a:cs typeface="Arial" pitchFamily="34" charset="0"/>
              </a:rPr>
              <a:t>Extended ACLs </a:t>
            </a:r>
            <a:r>
              <a:rPr lang="en-US" sz="2000" b="1" dirty="0">
                <a:solidFill>
                  <a:srgbClr val="FF0000"/>
                </a:solidFill>
                <a:ea typeface="+mn-ea"/>
                <a:cs typeface="Arial" pitchFamily="34" charset="0"/>
              </a:rPr>
              <a:t>check the source and destination packet addresses</a:t>
            </a:r>
            <a:r>
              <a:rPr lang="en-US" sz="2000" dirty="0">
                <a:solidFill>
                  <a:srgbClr val="FF0000"/>
                </a:solidFill>
                <a:ea typeface="+mn-ea"/>
                <a:cs typeface="Arial" pitchFamily="34" charset="0"/>
              </a:rPr>
              <a:t> </a:t>
            </a:r>
            <a:r>
              <a:rPr lang="en-US" sz="2000" dirty="0">
                <a:ea typeface="+mn-ea"/>
                <a:cs typeface="Arial" pitchFamily="34" charset="0"/>
              </a:rPr>
              <a:t>as well as being able to </a:t>
            </a:r>
            <a:r>
              <a:rPr lang="en-US" sz="2000" b="1" dirty="0">
                <a:solidFill>
                  <a:srgbClr val="FF0000"/>
                </a:solidFill>
                <a:ea typeface="+mn-ea"/>
                <a:cs typeface="Arial" pitchFamily="34" charset="0"/>
              </a:rPr>
              <a:t>check for protocols and port numbers</a:t>
            </a:r>
            <a:r>
              <a:rPr lang="en-US" sz="2000" dirty="0">
                <a:ea typeface="+mn-ea"/>
                <a:cs typeface="Arial" pitchFamily="34" charset="0"/>
              </a:rPr>
              <a:t>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ea typeface="+mn-ea"/>
                <a:cs typeface="Arial" pitchFamily="34" charset="0"/>
              </a:rPr>
              <a:t>This gives </a:t>
            </a:r>
            <a:r>
              <a:rPr lang="en-US" sz="2000" b="1" dirty="0">
                <a:ea typeface="+mn-ea"/>
                <a:cs typeface="Arial" pitchFamily="34" charset="0"/>
              </a:rPr>
              <a:t>greater flexibility</a:t>
            </a:r>
            <a:r>
              <a:rPr lang="en-US" sz="2000" dirty="0">
                <a:ea typeface="+mn-ea"/>
                <a:cs typeface="Arial" pitchFamily="34" charset="0"/>
              </a:rPr>
              <a:t> to describe what the ACL will check.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ea typeface="+mn-ea"/>
                <a:cs typeface="Arial" pitchFamily="34" charset="0"/>
              </a:rPr>
              <a:t>Packets can be permitted or denied access based on where the packet originated and its destination as well as protocol type and port addresses. </a:t>
            </a:r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82" y="1677553"/>
            <a:ext cx="7332531" cy="2131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628650" y="2375911"/>
            <a:ext cx="4343400" cy="228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comb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137319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Extended Access Lists</a:t>
            </a:r>
          </a:p>
        </p:txBody>
      </p:sp>
      <p:sp>
        <p:nvSpPr>
          <p:cNvPr id="44035" name="Rectangle 13"/>
          <p:cNvSpPr>
            <a:spLocks noGrp="1" noChangeArrowheads="1"/>
          </p:cNvSpPr>
          <p:nvPr>
            <p:ph idx="1"/>
          </p:nvPr>
        </p:nvSpPr>
        <p:spPr>
          <a:xfrm>
            <a:off x="5105400" y="3660775"/>
            <a:ext cx="3810000" cy="2667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1800" b="1">
                <a:solidFill>
                  <a:srgbClr val="FF0000"/>
                </a:solidFill>
                <a:ea typeface="+mn-ea"/>
              </a:rPr>
              <a:t>Operator and operand</a:t>
            </a:r>
            <a:r>
              <a:rPr lang="en-US" sz="1800">
                <a:ea typeface="+mn-ea"/>
              </a:rPr>
              <a:t> can also refer to ICMP Types and Codes or whatever the </a:t>
            </a:r>
            <a:r>
              <a:rPr lang="en-US" sz="1800" b="1">
                <a:solidFill>
                  <a:schemeClr val="accent2"/>
                </a:solidFill>
                <a:ea typeface="+mn-ea"/>
              </a:rPr>
              <a:t>protocol</a:t>
            </a:r>
            <a:r>
              <a:rPr lang="en-US" sz="1800">
                <a:ea typeface="+mn-ea"/>
              </a:rPr>
              <a:t> is being checked.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>
                <a:ea typeface="+mn-ea"/>
              </a:rPr>
              <a:t>If the </a:t>
            </a:r>
            <a:r>
              <a:rPr lang="en-US" sz="1800" b="1">
                <a:solidFill>
                  <a:srgbClr val="FF0000"/>
                </a:solidFill>
                <a:ea typeface="+mn-ea"/>
              </a:rPr>
              <a:t>operator and operand</a:t>
            </a:r>
            <a:r>
              <a:rPr lang="en-US" sz="1800">
                <a:ea typeface="+mn-ea"/>
              </a:rPr>
              <a:t> follow the </a:t>
            </a:r>
            <a:r>
              <a:rPr lang="en-US" sz="1800" b="1">
                <a:ea typeface="+mn-ea"/>
              </a:rPr>
              <a:t>source address</a:t>
            </a:r>
            <a:r>
              <a:rPr lang="en-US" sz="1800">
                <a:ea typeface="+mn-ea"/>
              </a:rPr>
              <a:t> it refers to the </a:t>
            </a:r>
            <a:r>
              <a:rPr lang="en-US" sz="1800" b="1">
                <a:ea typeface="+mn-ea"/>
              </a:rPr>
              <a:t>source port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>
                <a:ea typeface="+mn-ea"/>
              </a:rPr>
              <a:t>If the </a:t>
            </a:r>
            <a:r>
              <a:rPr lang="en-US" sz="1800" b="1">
                <a:solidFill>
                  <a:srgbClr val="FF0000"/>
                </a:solidFill>
                <a:ea typeface="+mn-ea"/>
              </a:rPr>
              <a:t>operator and operand</a:t>
            </a:r>
            <a:r>
              <a:rPr lang="en-US" sz="1800">
                <a:ea typeface="+mn-ea"/>
              </a:rPr>
              <a:t> follow the </a:t>
            </a:r>
            <a:r>
              <a:rPr lang="en-US" sz="1800" b="1">
                <a:ea typeface="+mn-ea"/>
              </a:rPr>
              <a:t>destination address</a:t>
            </a:r>
            <a:r>
              <a:rPr lang="en-US" sz="1800">
                <a:ea typeface="+mn-ea"/>
              </a:rPr>
              <a:t> it refers to the </a:t>
            </a:r>
            <a:r>
              <a:rPr lang="en-US" sz="1800" b="1">
                <a:ea typeface="+mn-ea"/>
              </a:rPr>
              <a:t>destination port</a:t>
            </a:r>
            <a:r>
              <a:rPr lang="en-US" sz="1800">
                <a:ea typeface="+mn-ea"/>
              </a:rPr>
              <a:t>. </a:t>
            </a:r>
          </a:p>
        </p:txBody>
      </p:sp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1143000"/>
            <a:ext cx="72199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57600"/>
            <a:ext cx="4800600" cy="260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Line 6"/>
          <p:cNvSpPr>
            <a:spLocks noChangeShapeType="1"/>
          </p:cNvSpPr>
          <p:nvPr/>
        </p:nvSpPr>
        <p:spPr bwMode="auto">
          <a:xfrm>
            <a:off x="5461000" y="1981200"/>
            <a:ext cx="1981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pic>
        <p:nvPicPr>
          <p:cNvPr id="4199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2362200"/>
            <a:ext cx="69056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2" name="Line 8"/>
          <p:cNvSpPr>
            <a:spLocks noChangeShapeType="1"/>
          </p:cNvSpPr>
          <p:nvPr/>
        </p:nvSpPr>
        <p:spPr bwMode="auto">
          <a:xfrm>
            <a:off x="812800" y="1676400"/>
            <a:ext cx="990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1993" name="Line 9"/>
          <p:cNvSpPr>
            <a:spLocks noChangeShapeType="1"/>
          </p:cNvSpPr>
          <p:nvPr/>
        </p:nvSpPr>
        <p:spPr bwMode="auto">
          <a:xfrm>
            <a:off x="812800" y="2743200"/>
            <a:ext cx="990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990600" y="5410200"/>
            <a:ext cx="3200400" cy="3810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4199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3048000"/>
            <a:ext cx="63722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6" name="Line 12"/>
          <p:cNvSpPr>
            <a:spLocks noChangeShapeType="1"/>
          </p:cNvSpPr>
          <p:nvPr/>
        </p:nvSpPr>
        <p:spPr bwMode="auto">
          <a:xfrm>
            <a:off x="736600" y="3429000"/>
            <a:ext cx="1676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1997" name="Line 14"/>
          <p:cNvSpPr>
            <a:spLocks noChangeShapeType="1"/>
          </p:cNvSpPr>
          <p:nvPr/>
        </p:nvSpPr>
        <p:spPr bwMode="auto">
          <a:xfrm>
            <a:off x="1270000" y="2743200"/>
            <a:ext cx="0" cy="30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Extended Access Lists - Examples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4648200"/>
            <a:ext cx="8534400" cy="1905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Clr>
                <a:srgbClr val="0D5A50"/>
              </a:buClr>
            </a:pPr>
            <a:r>
              <a:rPr lang="en-US" altLang="en-US" sz="2000" dirty="0">
                <a:cs typeface="Arial" charset="0"/>
              </a:rPr>
              <a:t>The </a:t>
            </a:r>
            <a:r>
              <a:rPr lang="en-US" altLang="en-US" sz="2000" b="1" dirty="0" err="1">
                <a:latin typeface="Courier New" pitchFamily="49" charset="0"/>
                <a:cs typeface="Courier New" pitchFamily="49" charset="0"/>
              </a:rPr>
              <a:t>ip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access-group</a:t>
            </a:r>
            <a:r>
              <a:rPr lang="en-US" altLang="en-US" sz="2000" dirty="0">
                <a:cs typeface="Arial" charset="0"/>
              </a:rPr>
              <a:t> command links an existing extended ACL to an interface. 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</a:pPr>
            <a:r>
              <a:rPr lang="en-US" altLang="en-US" sz="2000" dirty="0">
                <a:cs typeface="Arial" charset="0"/>
              </a:rPr>
              <a:t>Remember that only one ACL per interface, per direction, per protocol is allowed. The format of the command is: </a:t>
            </a:r>
            <a:r>
              <a:rPr lang="en-US" altLang="en-US" sz="2000" dirty="0"/>
              <a:t> 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</a:pP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Router(config-if)#</a:t>
            </a:r>
            <a:r>
              <a:rPr lang="en-US" altLang="en-US" sz="2000" b="1" dirty="0" err="1">
                <a:latin typeface="Courier New" pitchFamily="49" charset="0"/>
                <a:cs typeface="Courier New" pitchFamily="49" charset="0"/>
              </a:rPr>
              <a:t>ip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access-group </a:t>
            </a:r>
            <a:r>
              <a:rPr lang="en-US" altLang="en-US" sz="2000" i="1" dirty="0">
                <a:latin typeface="Courier New" pitchFamily="49" charset="0"/>
                <a:cs typeface="Courier New" pitchFamily="49" charset="0"/>
              </a:rPr>
              <a:t>access-list-number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{in | out}</a:t>
            </a:r>
            <a:endParaRPr lang="en-US" altLang="en-US" sz="2000" dirty="0"/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9200"/>
            <a:ext cx="7315200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5029200" y="2133600"/>
            <a:ext cx="3962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charset="0"/>
              </a:rPr>
              <a:t>port number or protocol name</a:t>
            </a:r>
          </a:p>
        </p:txBody>
      </p:sp>
      <p:sp>
        <p:nvSpPr>
          <p:cNvPr id="43014" name="Rectangle 7"/>
          <p:cNvSpPr>
            <a:spLocks noChangeArrowheads="1"/>
          </p:cNvSpPr>
          <p:nvPr/>
        </p:nvSpPr>
        <p:spPr bwMode="auto">
          <a:xfrm>
            <a:off x="6629400" y="1371600"/>
            <a:ext cx="1371600" cy="7620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comb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1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02382" y="4229100"/>
            <a:ext cx="8534400" cy="2971800"/>
          </a:xfrm>
        </p:spPr>
        <p:txBody>
          <a:bodyPr>
            <a:normAutofit/>
          </a:bodyPr>
          <a:lstStyle/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400" dirty="0">
                <a:solidFill>
                  <a:srgbClr val="0D5A50"/>
                </a:solidFill>
              </a:rPr>
              <a:t>Task</a:t>
            </a:r>
          </a:p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solidFill>
                  <a:srgbClr val="0D5A50"/>
                </a:solidFill>
              </a:rPr>
              <a:t>What if we wanted Router A to permit only the Engineering workstation 172.16.50.2 to be able to access the web server in Administrative network with the IP address 172.16.10.2 and port address 80.</a:t>
            </a:r>
          </a:p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solidFill>
                  <a:srgbClr val="0D5A50"/>
                </a:solidFill>
              </a:rPr>
              <a:t>All other traffic is denied.</a:t>
            </a: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endParaRPr lang="en-US" altLang="en-US" sz="2400" dirty="0">
              <a:solidFill>
                <a:srgbClr val="0D5A50"/>
              </a:solidFill>
            </a:endParaRPr>
          </a:p>
          <a:p>
            <a:pPr eaLnBrk="1" hangingPunct="1">
              <a:buClr>
                <a:srgbClr val="0D5A50"/>
              </a:buClr>
            </a:pPr>
            <a:endParaRPr lang="en-US" altLang="en-US" sz="2400" dirty="0">
              <a:solidFill>
                <a:srgbClr val="0D5A50"/>
              </a:solidFill>
            </a:endParaRPr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886872"/>
              </p:ext>
            </p:extLst>
          </p:nvPr>
        </p:nvGraphicFramePr>
        <p:xfrm>
          <a:off x="1482130" y="1114426"/>
          <a:ext cx="6611341" cy="2646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1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130" y="1114426"/>
                        <a:ext cx="6611341" cy="2646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1657351" y="2977035"/>
            <a:ext cx="1143000" cy="838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auto">
          <a:xfrm>
            <a:off x="5924550" y="2713670"/>
            <a:ext cx="1066800" cy="12954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flipH="1" flipV="1">
            <a:off x="3409950" y="3913820"/>
            <a:ext cx="2514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2800351" y="3538538"/>
            <a:ext cx="838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  <a:latin typeface="Arial" charset="0"/>
              </a:rPr>
              <a:t>Port 80</a:t>
            </a:r>
          </a:p>
        </p:txBody>
      </p:sp>
    </p:spTree>
  </p:cSld>
  <p:clrMapOvr>
    <a:masterClrMapping/>
  </p:clrMapOvr>
  <p:transition spd="med">
    <p:comb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1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3657600"/>
            <a:ext cx="9098409" cy="2235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/>
              <a:t>RouterA</a:t>
            </a:r>
            <a:r>
              <a:rPr lang="en-US" altLang="en-US" sz="2000" dirty="0"/>
              <a:t>(config)#</a:t>
            </a:r>
            <a:r>
              <a:rPr lang="en-US" altLang="en-US" sz="2000" b="1" dirty="0"/>
              <a:t>access-list 110 permit </a:t>
            </a:r>
            <a:r>
              <a:rPr lang="en-US" altLang="en-US" sz="2000" b="1" dirty="0" err="1"/>
              <a:t>tcp</a:t>
            </a:r>
            <a:r>
              <a:rPr lang="en-US" altLang="en-US" sz="2000" b="1" dirty="0"/>
              <a:t> host 172.16.50.2 host 172.16.10.2 </a:t>
            </a:r>
            <a:r>
              <a:rPr lang="en-US" altLang="en-US" sz="2000" b="1" dirty="0" err="1"/>
              <a:t>eq</a:t>
            </a:r>
            <a:r>
              <a:rPr lang="en-US" altLang="en-US" sz="2000" b="1" dirty="0"/>
              <a:t> 80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/>
              <a:t>RouterA</a:t>
            </a:r>
            <a:r>
              <a:rPr lang="en-US" altLang="en-US" sz="2000" dirty="0"/>
              <a:t>(config)#</a:t>
            </a:r>
            <a:r>
              <a:rPr lang="en-US" altLang="en-US" sz="2000" b="1" dirty="0"/>
              <a:t>inter e 0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/>
              <a:t>RouterA</a:t>
            </a:r>
            <a:r>
              <a:rPr lang="en-US" altLang="en-US" sz="2000" dirty="0"/>
              <a:t>(config-if)#</a:t>
            </a:r>
            <a:r>
              <a:rPr lang="en-US" altLang="en-US" sz="2000" b="1" dirty="0" err="1"/>
              <a:t>ip</a:t>
            </a:r>
            <a:r>
              <a:rPr lang="en-US" altLang="en-US" sz="2000" b="1" dirty="0"/>
              <a:t> access-group 110 out</a:t>
            </a:r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1447800" y="11430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7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430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1447800" y="2590800"/>
            <a:ext cx="1143000" cy="838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5062" name="Text Box 8"/>
          <p:cNvSpPr txBox="1">
            <a:spLocks noChangeArrowheads="1"/>
          </p:cNvSpPr>
          <p:nvPr/>
        </p:nvSpPr>
        <p:spPr bwMode="auto">
          <a:xfrm>
            <a:off x="2590800" y="2971800"/>
            <a:ext cx="838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  <a:latin typeface="Arial" charset="0"/>
              </a:rPr>
              <a:t>Port 80</a:t>
            </a:r>
          </a:p>
        </p:txBody>
      </p:sp>
      <p:sp>
        <p:nvSpPr>
          <p:cNvPr id="45063" name="Oval 10"/>
          <p:cNvSpPr>
            <a:spLocks noChangeArrowheads="1"/>
          </p:cNvSpPr>
          <p:nvPr/>
        </p:nvSpPr>
        <p:spPr bwMode="auto">
          <a:xfrm>
            <a:off x="2133600" y="1676400"/>
            <a:ext cx="6096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5064" name="Line 11"/>
          <p:cNvSpPr>
            <a:spLocks noChangeShapeType="1"/>
          </p:cNvSpPr>
          <p:nvPr/>
        </p:nvSpPr>
        <p:spPr bwMode="auto">
          <a:xfrm>
            <a:off x="2438400" y="1676400"/>
            <a:ext cx="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65" name="Oval 13"/>
          <p:cNvSpPr>
            <a:spLocks noChangeArrowheads="1"/>
          </p:cNvSpPr>
          <p:nvPr/>
        </p:nvSpPr>
        <p:spPr bwMode="auto">
          <a:xfrm>
            <a:off x="5105400" y="2362200"/>
            <a:ext cx="1066800" cy="12954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5066" name="Line 14"/>
          <p:cNvSpPr>
            <a:spLocks noChangeShapeType="1"/>
          </p:cNvSpPr>
          <p:nvPr/>
        </p:nvSpPr>
        <p:spPr bwMode="auto">
          <a:xfrm flipH="1" flipV="1">
            <a:off x="2590800" y="2971800"/>
            <a:ext cx="2514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 spd="med">
    <p:comb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2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3581400"/>
            <a:ext cx="8304212" cy="2971800"/>
          </a:xfrm>
        </p:spPr>
        <p:txBody>
          <a:bodyPr>
            <a:normAutofit/>
          </a:bodyPr>
          <a:lstStyle/>
          <a:p>
            <a:pPr eaLnBrk="1" hangingPunct="1">
              <a:buClr>
                <a:srgbClr val="0D5A50"/>
              </a:buClr>
              <a:buFont typeface="Arial" charset="0"/>
              <a:buNone/>
            </a:pPr>
            <a:r>
              <a:rPr lang="en-US" altLang="en-US" sz="2400" dirty="0">
                <a:solidFill>
                  <a:srgbClr val="0D5A50"/>
                </a:solidFill>
              </a:rPr>
              <a:t>Task</a:t>
            </a:r>
          </a:p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solidFill>
                  <a:srgbClr val="0D5A50"/>
                </a:solidFill>
              </a:rPr>
              <a:t>What if we wanted Router A to permit any workstation on the Sales network be able to access the web server in Administrative network with the IP address 172.16.10.2 and port address 80.</a:t>
            </a:r>
          </a:p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solidFill>
                  <a:srgbClr val="0D5A50"/>
                </a:solidFill>
              </a:rPr>
              <a:t>All other traffic is denied.</a:t>
            </a:r>
          </a:p>
          <a:p>
            <a:pPr eaLnBrk="1" hangingPunct="1">
              <a:buClr>
                <a:srgbClr val="0D5A50"/>
              </a:buClr>
              <a:buFont typeface="Arial" charset="0"/>
              <a:buNone/>
            </a:pPr>
            <a:endParaRPr lang="en-US" altLang="en-US" sz="2400" dirty="0">
              <a:solidFill>
                <a:srgbClr val="0D5A50"/>
              </a:solidFill>
            </a:endParaRPr>
          </a:p>
          <a:p>
            <a:pPr eaLnBrk="1" hangingPunct="1">
              <a:buClr>
                <a:srgbClr val="0D5A50"/>
              </a:buClr>
            </a:pPr>
            <a:endParaRPr lang="en-US" altLang="en-US" sz="2400" dirty="0">
              <a:solidFill>
                <a:srgbClr val="0D5A50"/>
              </a:solidFill>
            </a:endParaRPr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1447800" y="11430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9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430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1447800" y="2590800"/>
            <a:ext cx="1143000" cy="838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6086" name="Oval 6"/>
          <p:cNvSpPr>
            <a:spLocks noChangeArrowheads="1"/>
          </p:cNvSpPr>
          <p:nvPr/>
        </p:nvSpPr>
        <p:spPr bwMode="auto">
          <a:xfrm>
            <a:off x="3276600" y="1676400"/>
            <a:ext cx="1905000" cy="1981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6087" name="Line 7"/>
          <p:cNvSpPr>
            <a:spLocks noChangeShapeType="1"/>
          </p:cNvSpPr>
          <p:nvPr/>
        </p:nvSpPr>
        <p:spPr bwMode="auto">
          <a:xfrm flipH="1" flipV="1">
            <a:off x="2590800" y="2971800"/>
            <a:ext cx="762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2590800" y="2971800"/>
            <a:ext cx="838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  <a:latin typeface="Arial" charset="0"/>
              </a:rPr>
              <a:t>Port 80</a:t>
            </a:r>
          </a:p>
        </p:txBody>
      </p:sp>
    </p:spTree>
  </p:cSld>
  <p:clrMapOvr>
    <a:masterClrMapping/>
  </p:clrMapOvr>
  <p:transition spd="med">
    <p:comb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2</a:t>
            </a:r>
          </a:p>
        </p:txBody>
      </p:sp>
      <p:sp>
        <p:nvSpPr>
          <p:cNvPr id="47107" name="Rectangle 10"/>
          <p:cNvSpPr>
            <a:spLocks noGrp="1" noChangeArrowheads="1"/>
          </p:cNvSpPr>
          <p:nvPr>
            <p:ph idx="1"/>
          </p:nvPr>
        </p:nvSpPr>
        <p:spPr>
          <a:xfrm>
            <a:off x="395536" y="3963888"/>
            <a:ext cx="8519864" cy="2057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/>
              <a:t>RouterA</a:t>
            </a:r>
            <a:r>
              <a:rPr lang="en-US" altLang="en-US" sz="2000" dirty="0"/>
              <a:t>(config)#</a:t>
            </a:r>
            <a:r>
              <a:rPr lang="en-US" altLang="en-US" sz="2000" b="1" dirty="0"/>
              <a:t>access-list 110 permit </a:t>
            </a:r>
            <a:r>
              <a:rPr lang="en-US" altLang="en-US" sz="2000" b="1" dirty="0" err="1"/>
              <a:t>tcp</a:t>
            </a:r>
            <a:r>
              <a:rPr lang="en-US" altLang="en-US" sz="2000" b="1" dirty="0"/>
              <a:t> 172.16.30.0 0.0.0.255 host 172.16.10.2 </a:t>
            </a:r>
            <a:r>
              <a:rPr lang="en-US" altLang="en-US" sz="2000" b="1" dirty="0" err="1"/>
              <a:t>eq</a:t>
            </a:r>
            <a:r>
              <a:rPr lang="en-US" altLang="en-US" sz="2000" b="1" dirty="0"/>
              <a:t> 80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/>
              <a:t>RouterA</a:t>
            </a:r>
            <a:r>
              <a:rPr lang="en-US" altLang="en-US" sz="2000" dirty="0"/>
              <a:t>(config)#</a:t>
            </a:r>
            <a:r>
              <a:rPr lang="en-US" altLang="en-US" sz="2000" b="1" dirty="0"/>
              <a:t>inter e 0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  <a:buFont typeface="Arial" charset="0"/>
              <a:buNone/>
            </a:pPr>
            <a:r>
              <a:rPr lang="en-US" altLang="en-US" sz="2000" dirty="0" err="1"/>
              <a:t>RouterA</a:t>
            </a:r>
            <a:r>
              <a:rPr lang="en-US" altLang="en-US" sz="2000" dirty="0"/>
              <a:t>(config-if)#</a:t>
            </a:r>
            <a:r>
              <a:rPr lang="en-US" altLang="en-US" sz="2000" b="1" dirty="0" err="1"/>
              <a:t>ip</a:t>
            </a:r>
            <a:r>
              <a:rPr lang="en-US" altLang="en-US" sz="2000" b="1" dirty="0"/>
              <a:t> access-group 110 out</a:t>
            </a:r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1447800" y="1143000"/>
          <a:ext cx="55848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4" name="VISIO" r:id="rId3" imgW="5590032" imgH="2234184" progId="Visio.Drawing.6">
                  <p:embed/>
                </p:oleObj>
              </mc:Choice>
              <mc:Fallback>
                <p:oleObj name="VISIO" r:id="rId3" imgW="5590032" imgH="2234184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43000"/>
                        <a:ext cx="558482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1447800" y="2590800"/>
            <a:ext cx="1143000" cy="838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7110" name="Oval 6"/>
          <p:cNvSpPr>
            <a:spLocks noChangeArrowheads="1"/>
          </p:cNvSpPr>
          <p:nvPr/>
        </p:nvSpPr>
        <p:spPr bwMode="auto">
          <a:xfrm>
            <a:off x="3276600" y="1676400"/>
            <a:ext cx="1905000" cy="1981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 flipH="1" flipV="1">
            <a:off x="2590800" y="2971800"/>
            <a:ext cx="762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2590800" y="2971800"/>
            <a:ext cx="838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  <a:latin typeface="Arial" charset="0"/>
              </a:rPr>
              <a:t>Port 80</a:t>
            </a:r>
          </a:p>
        </p:txBody>
      </p:sp>
    </p:spTree>
  </p:cSld>
  <p:clrMapOvr>
    <a:masterClrMapping/>
  </p:clrMapOvr>
  <p:transition spd="med">
    <p:comb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Named ACLs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348881"/>
            <a:ext cx="8371656" cy="414399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sz="2400" dirty="0">
                <a:ea typeface="+mn-ea"/>
              </a:rPr>
              <a:t>IP named ACLs were introduced in Cisco IOS Software Release 11.2.</a:t>
            </a:r>
          </a:p>
          <a:p>
            <a:pPr eaLnBrk="1" hangingPunct="1">
              <a:defRPr/>
            </a:pPr>
            <a:r>
              <a:rPr lang="en-US" sz="2400" dirty="0">
                <a:ea typeface="+mn-ea"/>
              </a:rPr>
              <a:t>Allows standard and extended ACLs to be given names instead of numbers.  </a:t>
            </a:r>
          </a:p>
          <a:p>
            <a:pPr eaLnBrk="1" hangingPunct="1">
              <a:defRPr/>
            </a:pPr>
            <a:r>
              <a:rPr lang="en-US" sz="2400" dirty="0">
                <a:ea typeface="+mn-ea"/>
              </a:rPr>
              <a:t>The advantages that a named access list provides are: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</a:rPr>
              <a:t>Intuitively identify an ACL using an alphanumeric name. 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</a:rPr>
              <a:t>Eliminate the limit of 798 simple and 799 extended ACLs 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</a:rPr>
              <a:t>Named ACLs provide the ability to modify ACLs without deleting and then reconfiguring them. 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</a:rPr>
              <a:t>It is important to note that a named access list will allow the deletion of statements but will only allow for statements to be inserted at the end of a list. </a:t>
            </a:r>
          </a:p>
          <a:p>
            <a:pPr lvl="1" eaLnBrk="1" hangingPunct="1">
              <a:defRPr/>
            </a:pPr>
            <a:r>
              <a:rPr lang="en-US" sz="2400" dirty="0">
                <a:ea typeface="+mn-ea"/>
              </a:rPr>
              <a:t>Even with named ACLs it is a good idea to use a text editor to create them. </a:t>
            </a:r>
          </a:p>
        </p:txBody>
      </p:sp>
      <p:pic>
        <p:nvPicPr>
          <p:cNvPr id="4813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14476"/>
            <a:ext cx="74676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comb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Creating Named Standard ACLs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rcRect l="-12277" r="-12277"/>
          <a:stretch>
            <a:fillRect/>
          </a:stretch>
        </p:blipFill>
        <p:spPr>
          <a:xfrm>
            <a:off x="554038" y="1565275"/>
            <a:ext cx="7940675" cy="4386263"/>
          </a:xfrm>
        </p:spPr>
      </p:pic>
    </p:spTree>
    <p:extLst>
      <p:ext uri="{BB962C8B-B14F-4D97-AF65-F5344CB8AC3E}">
        <p14:creationId xmlns:p14="http://schemas.microsoft.com/office/powerpoint/2010/main" val="1887727648"/>
      </p:ext>
    </p:extLst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Commenting Named </a:t>
            </a:r>
            <a:r>
              <a:rPr lang="en-US" dirty="0" err="1"/>
              <a:t>Std</a:t>
            </a:r>
            <a:r>
              <a:rPr lang="en-US" dirty="0"/>
              <a:t> ACLs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rcRect l="-21179" r="-21179"/>
          <a:stretch>
            <a:fillRect/>
          </a:stretch>
        </p:blipFill>
        <p:spPr>
          <a:xfrm>
            <a:off x="554038" y="1565275"/>
            <a:ext cx="7940675" cy="4386263"/>
          </a:xfrm>
        </p:spPr>
      </p:pic>
    </p:spTree>
    <p:extLst>
      <p:ext uri="{BB962C8B-B14F-4D97-AF65-F5344CB8AC3E}">
        <p14:creationId xmlns:p14="http://schemas.microsoft.com/office/powerpoint/2010/main" val="3883492642"/>
      </p:ext>
    </p:extLst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Editing Standard Numbered ACLs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rcRect l="-26468" r="-26468"/>
          <a:stretch>
            <a:fillRect/>
          </a:stretch>
        </p:blipFill>
        <p:spPr>
          <a:xfrm>
            <a:off x="554038" y="1707033"/>
            <a:ext cx="7940675" cy="4386263"/>
          </a:xfrm>
        </p:spPr>
      </p:pic>
    </p:spTree>
    <p:extLst>
      <p:ext uri="{BB962C8B-B14F-4D97-AF65-F5344CB8AC3E}">
        <p14:creationId xmlns:p14="http://schemas.microsoft.com/office/powerpoint/2010/main" val="1016731259"/>
      </p:ext>
    </p:extLst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Editing Standard Numbered ACLs (cont.)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rcRect l="-25567" r="-25567"/>
          <a:stretch>
            <a:fillRect/>
          </a:stretch>
        </p:blipFill>
        <p:spPr>
          <a:xfrm>
            <a:off x="554038" y="1565275"/>
            <a:ext cx="7940675" cy="4386263"/>
          </a:xfrm>
        </p:spPr>
      </p:pic>
    </p:spTree>
    <p:extLst>
      <p:ext uri="{BB962C8B-B14F-4D97-AF65-F5344CB8AC3E}">
        <p14:creationId xmlns:p14="http://schemas.microsoft.com/office/powerpoint/2010/main" val="976392474"/>
      </p:ext>
    </p:extLst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Named EXT ACLs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4876800"/>
            <a:ext cx="8534400" cy="990600"/>
          </a:xfrm>
        </p:spPr>
        <p:txBody>
          <a:bodyPr>
            <a:normAutofit/>
          </a:bodyPr>
          <a:lstStyle/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solidFill>
                  <a:srgbClr val="0D5A50"/>
                </a:solidFill>
                <a:cs typeface="Arial" charset="0"/>
              </a:rPr>
              <a:t>A named ACL is created with the </a:t>
            </a:r>
            <a:r>
              <a:rPr lang="en-US" altLang="en-US" sz="2400" b="1" dirty="0" err="1">
                <a:solidFill>
                  <a:srgbClr val="0D5A50"/>
                </a:solidFill>
                <a:latin typeface="Courier New" pitchFamily="49" charset="0"/>
                <a:cs typeface="Courier New" pitchFamily="49" charset="0"/>
              </a:rPr>
              <a:t>ip</a:t>
            </a:r>
            <a:r>
              <a:rPr lang="en-US" altLang="en-US" sz="2400" b="1" dirty="0">
                <a:solidFill>
                  <a:srgbClr val="0D5A50"/>
                </a:solidFill>
                <a:latin typeface="Courier New" pitchFamily="49" charset="0"/>
                <a:cs typeface="Courier New" pitchFamily="49" charset="0"/>
              </a:rPr>
              <a:t> access-list</a:t>
            </a:r>
            <a:r>
              <a:rPr lang="en-US" altLang="en-US" sz="2400" dirty="0">
                <a:solidFill>
                  <a:srgbClr val="0D5A50"/>
                </a:solidFill>
                <a:cs typeface="Arial" charset="0"/>
              </a:rPr>
              <a:t> command.   </a:t>
            </a:r>
          </a:p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solidFill>
                  <a:srgbClr val="0D5A50"/>
                </a:solidFill>
                <a:cs typeface="Arial" charset="0"/>
              </a:rPr>
              <a:t>This places the user in the ACL configuration mode.</a:t>
            </a:r>
            <a:endParaRPr lang="en-US" altLang="en-US" sz="2400" dirty="0">
              <a:solidFill>
                <a:srgbClr val="0D5A50"/>
              </a:solidFill>
            </a:endParaRPr>
          </a:p>
        </p:txBody>
      </p:sp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95400"/>
            <a:ext cx="6562725" cy="281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comb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Named EXT ACLs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3581400"/>
            <a:ext cx="8534400" cy="1371600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solidFill>
                  <a:srgbClr val="0D5A50"/>
                </a:solidFill>
                <a:cs typeface="Arial" charset="0"/>
              </a:rPr>
              <a:t>In ACL configuration mode, specify one or more conditions to be permitted or denied.   </a:t>
            </a:r>
          </a:p>
          <a:p>
            <a:pPr eaLnBrk="1" hangingPunct="1">
              <a:buClr>
                <a:srgbClr val="0D5A50"/>
              </a:buClr>
            </a:pPr>
            <a:r>
              <a:rPr lang="en-US" altLang="en-US" sz="2400" dirty="0">
                <a:solidFill>
                  <a:srgbClr val="0D5A50"/>
                </a:solidFill>
                <a:cs typeface="Arial" charset="0"/>
              </a:rPr>
              <a:t>This determines whether the packet is passed or dropped when the ACL statement matches.</a:t>
            </a:r>
            <a:endParaRPr lang="en-US" altLang="en-US" sz="2400" dirty="0">
              <a:solidFill>
                <a:srgbClr val="0D5A50"/>
              </a:solidFill>
            </a:endParaRPr>
          </a:p>
          <a:p>
            <a:pPr eaLnBrk="1" hangingPunct="1">
              <a:buClr>
                <a:srgbClr val="0D5A50"/>
              </a:buClr>
            </a:pPr>
            <a:endParaRPr lang="en-US" altLang="en-US" sz="2400" dirty="0">
              <a:solidFill>
                <a:srgbClr val="0D5A50"/>
              </a:solidFill>
            </a:endParaRPr>
          </a:p>
        </p:txBody>
      </p: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8675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comb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Named ACLs</a:t>
            </a:r>
          </a:p>
        </p:txBody>
      </p:sp>
      <p:pic>
        <p:nvPicPr>
          <p:cNvPr id="5120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87705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Line 5"/>
          <p:cNvSpPr>
            <a:spLocks noChangeShapeType="1"/>
          </p:cNvSpPr>
          <p:nvPr/>
        </p:nvSpPr>
        <p:spPr bwMode="auto">
          <a:xfrm>
            <a:off x="533400" y="2057400"/>
            <a:ext cx="533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1205" name="Line 6"/>
          <p:cNvSpPr>
            <a:spLocks noChangeShapeType="1"/>
          </p:cNvSpPr>
          <p:nvPr/>
        </p:nvSpPr>
        <p:spPr bwMode="auto">
          <a:xfrm>
            <a:off x="533400" y="2286000"/>
            <a:ext cx="533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1206" name="AutoShape 7"/>
          <p:cNvSpPr>
            <a:spLocks/>
          </p:cNvSpPr>
          <p:nvPr/>
        </p:nvSpPr>
        <p:spPr bwMode="auto">
          <a:xfrm>
            <a:off x="762000" y="2667000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207" name="AutoShape 8"/>
          <p:cNvSpPr>
            <a:spLocks/>
          </p:cNvSpPr>
          <p:nvPr/>
        </p:nvSpPr>
        <p:spPr bwMode="auto">
          <a:xfrm>
            <a:off x="762000" y="3429000"/>
            <a:ext cx="304800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208" name="Rectangle 9"/>
          <p:cNvSpPr>
            <a:spLocks noChangeArrowheads="1"/>
          </p:cNvSpPr>
          <p:nvPr/>
        </p:nvSpPr>
        <p:spPr bwMode="auto">
          <a:xfrm>
            <a:off x="1066800" y="2667000"/>
            <a:ext cx="4648200" cy="6858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209" name="Rectangle 10"/>
          <p:cNvSpPr>
            <a:spLocks noChangeArrowheads="1"/>
          </p:cNvSpPr>
          <p:nvPr/>
        </p:nvSpPr>
        <p:spPr bwMode="auto">
          <a:xfrm>
            <a:off x="1066800" y="3429000"/>
            <a:ext cx="5867400" cy="11430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51210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876800"/>
            <a:ext cx="603885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comb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188913"/>
            <a:ext cx="7772400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Restricting Virtual Terminal Access to a Router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4800600"/>
            <a:ext cx="8534400" cy="1752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Clr>
                <a:srgbClr val="0D5A50"/>
              </a:buClr>
            </a:pPr>
            <a:r>
              <a:rPr lang="en-US" altLang="en-US" sz="2000" dirty="0">
                <a:solidFill>
                  <a:srgbClr val="0D5A50"/>
                </a:solidFill>
                <a:cs typeface="Arial" charset="0"/>
              </a:rPr>
              <a:t>The purpose of restricted </a:t>
            </a:r>
            <a:r>
              <a:rPr lang="en-US" altLang="en-US" sz="2000" dirty="0" err="1">
                <a:solidFill>
                  <a:srgbClr val="0D5A50"/>
                </a:solidFill>
                <a:cs typeface="Arial" charset="0"/>
              </a:rPr>
              <a:t>vty</a:t>
            </a:r>
            <a:r>
              <a:rPr lang="en-US" altLang="en-US" sz="2000" dirty="0">
                <a:solidFill>
                  <a:srgbClr val="0D5A50"/>
                </a:solidFill>
                <a:cs typeface="Arial" charset="0"/>
              </a:rPr>
              <a:t> access is increased network security.  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</a:pPr>
            <a:r>
              <a:rPr lang="en-US" altLang="en-US" sz="2000" dirty="0">
                <a:solidFill>
                  <a:srgbClr val="0D5A50"/>
                </a:solidFill>
                <a:cs typeface="Arial" charset="0"/>
              </a:rPr>
              <a:t>Access to </a:t>
            </a:r>
            <a:r>
              <a:rPr lang="en-US" altLang="en-US" sz="2000" dirty="0" err="1">
                <a:solidFill>
                  <a:srgbClr val="0D5A50"/>
                </a:solidFill>
                <a:cs typeface="Arial" charset="0"/>
              </a:rPr>
              <a:t>vty</a:t>
            </a:r>
            <a:r>
              <a:rPr lang="en-US" altLang="en-US" sz="2000" dirty="0">
                <a:solidFill>
                  <a:srgbClr val="0D5A50"/>
                </a:solidFill>
                <a:cs typeface="Arial" charset="0"/>
              </a:rPr>
              <a:t> is also accomplished using the Telnet protocol to make a nonphysical connection to the router.</a:t>
            </a:r>
          </a:p>
          <a:p>
            <a:pPr eaLnBrk="1" hangingPunct="1">
              <a:lnSpc>
                <a:spcPct val="90000"/>
              </a:lnSpc>
              <a:buClr>
                <a:srgbClr val="0D5A50"/>
              </a:buClr>
            </a:pPr>
            <a:r>
              <a:rPr lang="en-US" altLang="en-US" sz="2000" dirty="0">
                <a:solidFill>
                  <a:srgbClr val="0D5A50"/>
                </a:solidFill>
                <a:cs typeface="Arial" charset="0"/>
              </a:rPr>
              <a:t>As a result, there is only one type of </a:t>
            </a:r>
            <a:r>
              <a:rPr lang="en-US" altLang="en-US" sz="2000" dirty="0" err="1">
                <a:solidFill>
                  <a:srgbClr val="0D5A50"/>
                </a:solidFill>
                <a:cs typeface="Arial" charset="0"/>
              </a:rPr>
              <a:t>vty</a:t>
            </a:r>
            <a:r>
              <a:rPr lang="en-US" altLang="en-US" sz="2000" dirty="0">
                <a:solidFill>
                  <a:srgbClr val="0D5A50"/>
                </a:solidFill>
                <a:cs typeface="Arial" charset="0"/>
              </a:rPr>
              <a:t> access list. Identical restrictions should be placed on all </a:t>
            </a:r>
            <a:r>
              <a:rPr lang="en-US" altLang="en-US" sz="2000" dirty="0" err="1">
                <a:solidFill>
                  <a:srgbClr val="0D5A50"/>
                </a:solidFill>
                <a:cs typeface="Arial" charset="0"/>
              </a:rPr>
              <a:t>vty</a:t>
            </a:r>
            <a:r>
              <a:rPr lang="en-US" altLang="en-US" sz="2000" dirty="0">
                <a:solidFill>
                  <a:srgbClr val="0D5A50"/>
                </a:solidFill>
                <a:cs typeface="Arial" charset="0"/>
              </a:rPr>
              <a:t> lines as it is not possible to control which line a user will connect on.</a:t>
            </a:r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97"/>
          <a:stretch>
            <a:fillRect/>
          </a:stretch>
        </p:blipFill>
        <p:spPr bwMode="auto">
          <a:xfrm>
            <a:off x="611188" y="1263650"/>
            <a:ext cx="6877050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401094"/>
            <a:ext cx="3962400" cy="205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Text Box 7"/>
          <p:cNvSpPr txBox="1">
            <a:spLocks noChangeArrowheads="1"/>
          </p:cNvSpPr>
          <p:nvPr/>
        </p:nvSpPr>
        <p:spPr bwMode="auto">
          <a:xfrm>
            <a:off x="633413" y="3134916"/>
            <a:ext cx="3794125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1"/>
              </a:buClr>
              <a:buSzPct val="95000"/>
              <a:buFont typeface="Wingdings" pitchFamily="2" charset="2"/>
              <a:buChar char=""/>
              <a:defRPr sz="2800">
                <a:solidFill>
                  <a:srgbClr val="2C7B09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7EEA"/>
              </a:buClr>
              <a:buSzPct val="90000"/>
              <a:buFont typeface="Wingdings" pitchFamily="2" charset="2"/>
              <a:buChar char=""/>
              <a:defRPr sz="24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1B6FF"/>
              </a:buClr>
              <a:buFont typeface="Wingdings 2" pitchFamily="18" charset="2"/>
              <a:buChar char=""/>
              <a:defRPr sz="22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EB80A"/>
              </a:buClr>
              <a:buFont typeface="Wingdings 3" pitchFamily="18" charset="2"/>
              <a:buChar char=""/>
              <a:defRPr sz="2000"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>
                <a:solidFill>
                  <a:srgbClr val="262626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0" dirty="0">
                <a:solidFill>
                  <a:srgbClr val="C00000"/>
                </a:solidFill>
                <a:latin typeface="Arial" charset="0"/>
              </a:rPr>
              <a:t>Rt1(config)#line </a:t>
            </a:r>
            <a:r>
              <a:rPr lang="en-US" altLang="en-US" sz="1600" b="0" dirty="0" err="1">
                <a:solidFill>
                  <a:srgbClr val="C00000"/>
                </a:solidFill>
                <a:latin typeface="Arial" charset="0"/>
              </a:rPr>
              <a:t>vty</a:t>
            </a:r>
            <a:r>
              <a:rPr lang="en-US" altLang="en-US" sz="1600" b="0" dirty="0">
                <a:solidFill>
                  <a:srgbClr val="C00000"/>
                </a:solidFill>
                <a:latin typeface="Arial" charset="0"/>
              </a:rPr>
              <a:t> 0 5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0" dirty="0">
                <a:solidFill>
                  <a:srgbClr val="C00000"/>
                </a:solidFill>
                <a:latin typeface="Arial" charset="0"/>
              </a:rPr>
              <a:t>Rt1(config-line)#login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0" dirty="0">
                <a:solidFill>
                  <a:srgbClr val="C00000"/>
                </a:solidFill>
                <a:latin typeface="Arial" charset="0"/>
              </a:rPr>
              <a:t>Rt1(config-line)#password secret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0" dirty="0">
                <a:solidFill>
                  <a:srgbClr val="C00000"/>
                </a:solidFill>
                <a:latin typeface="Arial" charset="0"/>
              </a:rPr>
              <a:t>Rt1(config-line)# access-class 2 in</a:t>
            </a:r>
          </a:p>
        </p:txBody>
      </p:sp>
    </p:spTree>
  </p:cSld>
  <p:clrMapOvr>
    <a:masterClrMapping/>
  </p:clrMapOvr>
  <p:transition spd="med">
    <p:comb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53DDE6-D387-4FA8-B7FF-7801E86D7E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IPv6 ACLs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7DA54A4-2C8D-4E63-804B-422DF573D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183607"/>
      </p:ext>
    </p:extLst>
  </p:cSld>
  <p:clrMapOvr>
    <a:masterClrMapping/>
  </p:clrMapOvr>
  <p:transition spd="med">
    <p:comb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Type of IPv6 ACLs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rcRect l="1733" r="1733"/>
          <a:stretch>
            <a:fillRect/>
          </a:stretch>
        </p:blipFill>
        <p:spPr>
          <a:xfrm>
            <a:off x="554038" y="1565275"/>
            <a:ext cx="7940675" cy="4386263"/>
          </a:xfrm>
        </p:spPr>
      </p:pic>
    </p:spTree>
    <p:extLst>
      <p:ext uri="{BB962C8B-B14F-4D97-AF65-F5344CB8AC3E}">
        <p14:creationId xmlns:p14="http://schemas.microsoft.com/office/powerpoint/2010/main" val="2316572025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Comparing IPv4 and IPv6 ACLs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565275"/>
            <a:ext cx="7940675" cy="43862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Although IPv4 and IPv6 ACLs are very similar, there are three significant differences between them.</a:t>
            </a:r>
          </a:p>
          <a:p>
            <a:r>
              <a:rPr lang="en-US" dirty="0"/>
              <a:t>Applying an IPv6 ACL</a:t>
            </a:r>
          </a:p>
          <a:p>
            <a:pPr marL="338137" lvl="1" indent="0"/>
            <a:r>
              <a:rPr lang="en-US" dirty="0"/>
              <a:t>IPv6 uses the </a:t>
            </a:r>
            <a:r>
              <a:rPr lang="en-US" b="1" dirty="0">
                <a:latin typeface="Courier"/>
                <a:cs typeface="Courier"/>
              </a:rPr>
              <a:t>ipv6 traffic-filter</a:t>
            </a:r>
            <a:r>
              <a:rPr lang="en-US" dirty="0">
                <a:latin typeface="Courier"/>
                <a:cs typeface="Courier"/>
              </a:rPr>
              <a:t> </a:t>
            </a:r>
            <a:r>
              <a:rPr lang="en-US" dirty="0"/>
              <a:t>command to perform the same function for IPv6 interfaces.</a:t>
            </a:r>
          </a:p>
          <a:p>
            <a:r>
              <a:rPr lang="en-US" dirty="0"/>
              <a:t>No Wildcard Masks</a:t>
            </a:r>
          </a:p>
          <a:p>
            <a:pPr marL="338137" lvl="1" indent="0"/>
            <a:r>
              <a:rPr lang="en-US" dirty="0"/>
              <a:t>The prefix-length is used to indicate how much of an IPv6 source or destination address should be matched.</a:t>
            </a:r>
          </a:p>
          <a:p>
            <a:r>
              <a:rPr lang="en-US" dirty="0"/>
              <a:t>Additional Default Statements</a:t>
            </a:r>
          </a:p>
          <a:p>
            <a:pPr marL="338137" lvl="1" indent="0"/>
            <a:r>
              <a:rPr lang="en-US" b="1" dirty="0">
                <a:latin typeface="Courier"/>
                <a:cs typeface="Courier"/>
              </a:rPr>
              <a:t>permit </a:t>
            </a:r>
            <a:r>
              <a:rPr lang="en-US" b="1" dirty="0" err="1">
                <a:latin typeface="Courier"/>
                <a:cs typeface="Courier"/>
              </a:rPr>
              <a:t>icmp</a:t>
            </a:r>
            <a:r>
              <a:rPr lang="en-US" b="1" dirty="0">
                <a:latin typeface="Courier"/>
                <a:cs typeface="Courier"/>
              </a:rPr>
              <a:t> any any </a:t>
            </a:r>
            <a:r>
              <a:rPr lang="en-US" b="1" dirty="0" err="1">
                <a:latin typeface="Courier"/>
                <a:cs typeface="Courier"/>
              </a:rPr>
              <a:t>nd-na</a:t>
            </a:r>
            <a:endParaRPr lang="en-US" dirty="0">
              <a:latin typeface="Courier"/>
              <a:cs typeface="Courier"/>
            </a:endParaRPr>
          </a:p>
          <a:p>
            <a:pPr marL="338137" lvl="1" indent="0"/>
            <a:r>
              <a:rPr lang="en-US" b="1" dirty="0">
                <a:latin typeface="Courier"/>
                <a:cs typeface="Courier"/>
              </a:rPr>
              <a:t>permit </a:t>
            </a:r>
            <a:r>
              <a:rPr lang="en-US" b="1" dirty="0" err="1">
                <a:latin typeface="Courier"/>
                <a:cs typeface="Courier"/>
              </a:rPr>
              <a:t>icmp</a:t>
            </a:r>
            <a:r>
              <a:rPr lang="en-US" b="1" dirty="0">
                <a:latin typeface="Courier"/>
                <a:cs typeface="Courier"/>
              </a:rPr>
              <a:t> any any </a:t>
            </a:r>
            <a:r>
              <a:rPr lang="en-US" b="1" dirty="0" err="1">
                <a:latin typeface="Courier"/>
                <a:cs typeface="Courier"/>
              </a:rPr>
              <a:t>nd</a:t>
            </a:r>
            <a:r>
              <a:rPr lang="en-US" b="1" dirty="0">
                <a:latin typeface="Courier"/>
                <a:cs typeface="Courier"/>
              </a:rPr>
              <a:t>-ns</a:t>
            </a:r>
            <a:endParaRPr lang="en-US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509965954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Configuring IPv6 Topology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rcRect l="-28826" r="-28826"/>
          <a:stretch>
            <a:fillRect/>
          </a:stretch>
        </p:blipFill>
        <p:spPr>
          <a:xfrm>
            <a:off x="554038" y="1565275"/>
            <a:ext cx="7940675" cy="43862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B54185-BB13-4DB5-87A3-B9B39BD0C8B9}"/>
              </a:ext>
            </a:extLst>
          </p:cNvPr>
          <p:cNvSpPr txBox="1"/>
          <p:nvPr/>
        </p:nvSpPr>
        <p:spPr>
          <a:xfrm>
            <a:off x="307614" y="2780173"/>
            <a:ext cx="2837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dirty="0">
                <a:solidFill>
                  <a:srgbClr val="FF0000"/>
                </a:solidFill>
              </a:rPr>
              <a:t>Task 1: Deny all R3 LAN traffic from entering S0/0/0 of R1</a:t>
            </a:r>
          </a:p>
        </p:txBody>
      </p:sp>
    </p:spTree>
    <p:extLst>
      <p:ext uri="{BB962C8B-B14F-4D97-AF65-F5344CB8AC3E}">
        <p14:creationId xmlns:p14="http://schemas.microsoft.com/office/powerpoint/2010/main" val="445637430"/>
      </p:ext>
    </p:extLst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Configuring IPv6 ACLs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565275"/>
            <a:ext cx="7940675" cy="43862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are three basic steps to configure an IPv6 ACL: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From global configuration mode, use the</a:t>
            </a:r>
            <a:r>
              <a:rPr lang="en-US" dirty="0">
                <a:latin typeface="Courier"/>
                <a:cs typeface="Courier"/>
              </a:rPr>
              <a:t> </a:t>
            </a:r>
            <a:r>
              <a:rPr lang="en-US" b="1" dirty="0">
                <a:latin typeface="Courier"/>
                <a:cs typeface="Courier"/>
              </a:rPr>
              <a:t>ipv6 access-list </a:t>
            </a:r>
            <a:r>
              <a:rPr lang="en-US" i="1" dirty="0">
                <a:latin typeface="Courier"/>
                <a:cs typeface="Courier"/>
              </a:rPr>
              <a:t>name</a:t>
            </a:r>
            <a:r>
              <a:rPr lang="en-US" dirty="0"/>
              <a:t> command to create an IPv6 ACL.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From the named ACL configuration mode, use the </a:t>
            </a:r>
            <a:r>
              <a:rPr lang="en-US" b="1" dirty="0">
                <a:latin typeface="Courier"/>
                <a:cs typeface="Courier"/>
              </a:rPr>
              <a:t>permit</a:t>
            </a:r>
            <a:r>
              <a:rPr lang="en-US" dirty="0"/>
              <a:t> or </a:t>
            </a:r>
            <a:r>
              <a:rPr lang="en-US" b="1" dirty="0">
                <a:latin typeface="Courier"/>
                <a:cs typeface="Courier"/>
              </a:rPr>
              <a:t>deny</a:t>
            </a:r>
            <a:r>
              <a:rPr lang="en-US" dirty="0"/>
              <a:t> statements to specify one or more conditions to determine if a packet is forwarded or dropped.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Return to privileged EXEC mode with the </a:t>
            </a:r>
            <a:r>
              <a:rPr lang="en-US" b="1" dirty="0">
                <a:latin typeface="Courier"/>
                <a:cs typeface="Courier"/>
              </a:rPr>
              <a:t>end</a:t>
            </a:r>
            <a:r>
              <a:rPr lang="en-US" dirty="0"/>
              <a:t> command.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0" y="4293096"/>
            <a:ext cx="7114622" cy="158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12161"/>
      </p:ext>
    </p:extLst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8881-80F2-4BE7-A440-40B3884A1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Task 1: Deny R3 LAN traffic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3FFAD-AB5E-4F75-A497-EEA0B052F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SG" sz="2400" dirty="0"/>
              <a:t>R1(config)# ipv6 access-list  NO-R3-LAN-ACCESS</a:t>
            </a:r>
          </a:p>
          <a:p>
            <a:pPr marL="0" indent="0">
              <a:buNone/>
            </a:pPr>
            <a:r>
              <a:rPr lang="en-SG" sz="2400" dirty="0"/>
              <a:t>R1(config-ipv6-acl)#deny ipv6 2001:db8:café:30::/64</a:t>
            </a:r>
          </a:p>
          <a:p>
            <a:pPr marL="0" indent="0">
              <a:buNone/>
            </a:pPr>
            <a:r>
              <a:rPr lang="en-SG" sz="2400" dirty="0"/>
              <a:t>R1(config-ipv6-acl)#permit ipv6 any </a:t>
            </a:r>
            <a:r>
              <a:rPr lang="en-SG" sz="2400" dirty="0" err="1"/>
              <a:t>any</a:t>
            </a:r>
            <a:endParaRPr lang="en-SG" sz="2400" dirty="0"/>
          </a:p>
          <a:p>
            <a:pPr marL="0" indent="0">
              <a:buNone/>
            </a:pPr>
            <a:r>
              <a:rPr lang="en-SG" sz="2400" dirty="0"/>
              <a:t>R1(config-ipv6-acl)#end</a:t>
            </a:r>
          </a:p>
        </p:txBody>
      </p:sp>
    </p:spTree>
    <p:extLst>
      <p:ext uri="{BB962C8B-B14F-4D97-AF65-F5344CB8AC3E}">
        <p14:creationId xmlns:p14="http://schemas.microsoft.com/office/powerpoint/2010/main" val="1207209969"/>
      </p:ext>
    </p:extLst>
  </p:cSld>
  <p:clrMapOvr>
    <a:masterClrMapping/>
  </p:clrMapOvr>
  <p:transition spd="med">
    <p:comb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Applying an IPv6 ACL to an Interface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rcRect l="-18089" r="-18089"/>
          <a:stretch>
            <a:fillRect/>
          </a:stretch>
        </p:blipFill>
        <p:spPr>
          <a:xfrm>
            <a:off x="554038" y="1565275"/>
            <a:ext cx="8327666" cy="4600029"/>
          </a:xfrm>
        </p:spPr>
      </p:pic>
    </p:spTree>
    <p:extLst>
      <p:ext uri="{BB962C8B-B14F-4D97-AF65-F5344CB8AC3E}">
        <p14:creationId xmlns:p14="http://schemas.microsoft.com/office/powerpoint/2010/main" val="3239606210"/>
      </p:ext>
    </p:extLst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IPv6 ACL Examples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565275"/>
            <a:ext cx="7940675" cy="4386263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Deny FTP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Restrict Access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473" y="1622686"/>
            <a:ext cx="4463773" cy="15102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668" y="3271443"/>
            <a:ext cx="4468579" cy="342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03518"/>
      </p:ext>
    </p:extLst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Verifying IPv6 ACLs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146" y="1528651"/>
            <a:ext cx="4848581" cy="24939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387" y="4041193"/>
            <a:ext cx="4829340" cy="249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67257"/>
      </p:ext>
    </p:extLst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3600" dirty="0"/>
              <a:t>THE END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552401732"/>
      </p:ext>
    </p:extLst>
  </p:cSld>
  <p:clrMapOvr>
    <a:masterClrMapping/>
  </p:clrMapOvr>
  <p:transition spd="med">
    <p:comb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PTINSA Lecture Template</Template>
  <TotalTime>1169</TotalTime>
  <Words>2320</Words>
  <Application>Microsoft Office PowerPoint</Application>
  <PresentationFormat>On-screen Show (4:3)</PresentationFormat>
  <Paragraphs>289</Paragraphs>
  <Slides>58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Courier</vt:lpstr>
      <vt:lpstr>Arial</vt:lpstr>
      <vt:lpstr>Courier New</vt:lpstr>
      <vt:lpstr>Gill Sans MT</vt:lpstr>
      <vt:lpstr>Times New Roman</vt:lpstr>
      <vt:lpstr>Trebuchet MS</vt:lpstr>
      <vt:lpstr>Office Theme</vt:lpstr>
      <vt:lpstr>VISIO</vt:lpstr>
      <vt:lpstr>Access Control Lists</vt:lpstr>
      <vt:lpstr>What are ACLs?</vt:lpstr>
      <vt:lpstr>What are ACLs?</vt:lpstr>
      <vt:lpstr>What are ACLs?</vt:lpstr>
      <vt:lpstr>How ACLs work?</vt:lpstr>
      <vt:lpstr>How ACLs work?</vt:lpstr>
      <vt:lpstr>Two types of ACLs</vt:lpstr>
      <vt:lpstr>Creating Standard ACLs – 2 Steps</vt:lpstr>
      <vt:lpstr>Creating ACLs – 2 Steps</vt:lpstr>
      <vt:lpstr>Learn by example!</vt:lpstr>
      <vt:lpstr>Learn by example!</vt:lpstr>
      <vt:lpstr>Learn by example!</vt:lpstr>
      <vt:lpstr>Learn by example!</vt:lpstr>
      <vt:lpstr>Learn by example!</vt:lpstr>
      <vt:lpstr>Learn by example!</vt:lpstr>
      <vt:lpstr>Example 2</vt:lpstr>
      <vt:lpstr>Example 2</vt:lpstr>
      <vt:lpstr>Example 2</vt:lpstr>
      <vt:lpstr>Example 3</vt:lpstr>
      <vt:lpstr>“any” keyword </vt:lpstr>
      <vt:lpstr>“host” option</vt:lpstr>
      <vt:lpstr>Example 3</vt:lpstr>
      <vt:lpstr>Example 3</vt:lpstr>
      <vt:lpstr>Time for Wildcard Masks!</vt:lpstr>
      <vt:lpstr>Example 4 – Using Wildcard Masks </vt:lpstr>
      <vt:lpstr>Example 4 – Using Wildcard Masks </vt:lpstr>
      <vt:lpstr>Example 4 – Using Wildcard Masks </vt:lpstr>
      <vt:lpstr>Verifying Access Lists</vt:lpstr>
      <vt:lpstr>Verifying Access Lists</vt:lpstr>
      <vt:lpstr>Verifying Access Lists</vt:lpstr>
      <vt:lpstr>Extended ACL</vt:lpstr>
      <vt:lpstr>Extended Access Lists</vt:lpstr>
      <vt:lpstr>Extended Access Lists</vt:lpstr>
      <vt:lpstr>Extended Access Lists</vt:lpstr>
      <vt:lpstr>Extended Access Lists - Examples</vt:lpstr>
      <vt:lpstr>Example 1</vt:lpstr>
      <vt:lpstr>Example 1</vt:lpstr>
      <vt:lpstr>Example 2</vt:lpstr>
      <vt:lpstr>Example 2</vt:lpstr>
      <vt:lpstr>Named ACLs</vt:lpstr>
      <vt:lpstr>Creating Named Standard ACLs</vt:lpstr>
      <vt:lpstr>Commenting Named Std ACLs</vt:lpstr>
      <vt:lpstr>Editing Standard Numbered ACLs</vt:lpstr>
      <vt:lpstr>Editing Standard Numbered ACLs (cont.)</vt:lpstr>
      <vt:lpstr>Named EXT ACLs</vt:lpstr>
      <vt:lpstr>Named EXT ACLs</vt:lpstr>
      <vt:lpstr>Named ACLs</vt:lpstr>
      <vt:lpstr>Restricting Virtual Terminal Access to a Router</vt:lpstr>
      <vt:lpstr>IPv6 ACLs</vt:lpstr>
      <vt:lpstr>Type of IPv6 ACLs</vt:lpstr>
      <vt:lpstr>Comparing IPv4 and IPv6 ACLs</vt:lpstr>
      <vt:lpstr>Configuring IPv6 Topology</vt:lpstr>
      <vt:lpstr>Configuring IPv6 ACLs</vt:lpstr>
      <vt:lpstr>Task 1: Deny R3 LAN traffic</vt:lpstr>
      <vt:lpstr>Applying an IPv6 ACL to an Interface</vt:lpstr>
      <vt:lpstr>IPv6 ACL Examples</vt:lpstr>
      <vt:lpstr>Verifying IPv6 ACLs</vt:lpstr>
      <vt:lpstr>PowerPoint Presentation</vt:lpstr>
    </vt:vector>
  </TitlesOfParts>
  <Company>Cabrillo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Rick Graziani</dc:creator>
  <cp:lastModifiedBy>ARTHI CHANDRASEKARAN</cp:lastModifiedBy>
  <cp:revision>257</cp:revision>
  <dcterms:created xsi:type="dcterms:W3CDTF">2003-07-27T17:48:43Z</dcterms:created>
  <dcterms:modified xsi:type="dcterms:W3CDTF">2018-10-30T05:07:01Z</dcterms:modified>
</cp:coreProperties>
</file>