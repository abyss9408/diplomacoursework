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58" r:id="rId5"/>
    <p:sldId id="260" r:id="rId6"/>
    <p:sldId id="262" r:id="rId7"/>
    <p:sldId id="263" r:id="rId8"/>
    <p:sldId id="265" r:id="rId9"/>
    <p:sldId id="264" r:id="rId10"/>
    <p:sldId id="266" r:id="rId11"/>
    <p:sldId id="267" r:id="rId12"/>
    <p:sldId id="268" r:id="rId13"/>
    <p:sldId id="269" r:id="rId14"/>
    <p:sldId id="270" r:id="rId15"/>
    <p:sldId id="271" r:id="rId16"/>
    <p:sldId id="272" r:id="rId17"/>
    <p:sldId id="273" r:id="rId18"/>
    <p:sldId id="274"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6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Gill Sans MT" panose="020B0502020104020203" pitchFamily="34" charset="0"/>
              </a:defRPr>
            </a:lvl1pPr>
          </a:lstStyle>
          <a:p>
            <a:r>
              <a:rPr lang="en-US"/>
              <a:t>Click to edit Master title style</a:t>
            </a:r>
            <a:endParaRPr lang="en-SG"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Gill Sans MT" panose="020B05020201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p:cNvSpPr>
            <a:spLocks noGrp="1"/>
          </p:cNvSpPr>
          <p:nvPr>
            <p:ph type="dt" sz="half" idx="10"/>
          </p:nvPr>
        </p:nvSpPr>
        <p:spPr/>
        <p:txBody>
          <a:bodyPr/>
          <a:lstStyle/>
          <a:p>
            <a:fld id="{26601C62-9724-4230-B8E4-0FE573A11A38}" type="datetimeFigureOut">
              <a:rPr lang="en-SG" smtClean="0"/>
              <a:t>30/10/2018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4262037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Gill Sans MT" panose="020B0502020104020203" pitchFamily="34" charset="0"/>
              </a:defRPr>
            </a:lvl1pPr>
          </a:lstStyle>
          <a:p>
            <a:r>
              <a:rPr lang="en-US"/>
              <a:t>Click to edit Master title style</a:t>
            </a:r>
            <a:endParaRPr lang="en-SG" dirty="0"/>
          </a:p>
        </p:txBody>
      </p:sp>
      <p:sp>
        <p:nvSpPr>
          <p:cNvPr id="3" name="Content Placeholder 2"/>
          <p:cNvSpPr>
            <a:spLocks noGrp="1"/>
          </p:cNvSpPr>
          <p:nvPr>
            <p:ph idx="1"/>
          </p:nvPr>
        </p:nvSpPr>
        <p:spPr/>
        <p:txBody>
          <a:bodyPr>
            <a:normAutofit/>
          </a:bodyPr>
          <a:lstStyle>
            <a:lvl1pPr>
              <a:defRPr sz="2800">
                <a:latin typeface="Gill Sans MT" panose="020B0502020104020203" pitchFamily="34" charset="0"/>
              </a:defRPr>
            </a:lvl1pPr>
            <a:lvl2pPr>
              <a:defRPr sz="2400">
                <a:latin typeface="Gill Sans MT" panose="020B0502020104020203" pitchFamily="34" charset="0"/>
              </a:defRPr>
            </a:lvl2pPr>
            <a:lvl3pPr>
              <a:defRPr sz="2000">
                <a:latin typeface="Gill Sans MT" panose="020B0502020104020203" pitchFamily="34" charset="0"/>
              </a:defRPr>
            </a:lvl3pPr>
            <a:lvl4pPr>
              <a:defRPr sz="1800">
                <a:latin typeface="Gill Sans MT" panose="020B0502020104020203" pitchFamily="34" charset="0"/>
              </a:defRPr>
            </a:lvl4pPr>
            <a:lvl5pPr>
              <a:defRPr sz="1800">
                <a:latin typeface="Gill Sans MT" panose="020B05020201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dirty="0"/>
          </a:p>
        </p:txBody>
      </p:sp>
      <p:sp>
        <p:nvSpPr>
          <p:cNvPr id="4" name="Date Placeholder 3"/>
          <p:cNvSpPr>
            <a:spLocks noGrp="1"/>
          </p:cNvSpPr>
          <p:nvPr>
            <p:ph type="dt" sz="half" idx="10"/>
          </p:nvPr>
        </p:nvSpPr>
        <p:spPr/>
        <p:txBody>
          <a:bodyPr/>
          <a:lstStyle/>
          <a:p>
            <a:fld id="{26601C62-9724-4230-B8E4-0FE573A11A38}" type="datetimeFigureOut">
              <a:rPr lang="en-SG" smtClean="0"/>
              <a:t>30/10/2018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1978982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6601C62-9724-4230-B8E4-0FE573A11A38}" type="datetimeFigureOut">
              <a:rPr lang="en-SG" smtClean="0"/>
              <a:t>30/10/2018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2705125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p:cNvSpPr>
            <a:spLocks noGrp="1"/>
          </p:cNvSpPr>
          <p:nvPr>
            <p:ph type="dt" sz="half" idx="10"/>
          </p:nvPr>
        </p:nvSpPr>
        <p:spPr/>
        <p:txBody>
          <a:bodyPr/>
          <a:lstStyle/>
          <a:p>
            <a:fld id="{26601C62-9724-4230-B8E4-0FE573A11A38}" type="datetimeFigureOut">
              <a:rPr lang="en-SG" smtClean="0"/>
              <a:t>30/10/2018</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3148350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p:cNvSpPr>
            <a:spLocks noGrp="1"/>
          </p:cNvSpPr>
          <p:nvPr>
            <p:ph type="dt" sz="half" idx="10"/>
          </p:nvPr>
        </p:nvSpPr>
        <p:spPr/>
        <p:txBody>
          <a:bodyPr/>
          <a:lstStyle/>
          <a:p>
            <a:fld id="{26601C62-9724-4230-B8E4-0FE573A11A38}" type="datetimeFigureOut">
              <a:rPr lang="en-SG" smtClean="0"/>
              <a:t>30/10/2018</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1221129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Date Placeholder 2"/>
          <p:cNvSpPr>
            <a:spLocks noGrp="1"/>
          </p:cNvSpPr>
          <p:nvPr>
            <p:ph type="dt" sz="half" idx="10"/>
          </p:nvPr>
        </p:nvSpPr>
        <p:spPr/>
        <p:txBody>
          <a:bodyPr/>
          <a:lstStyle/>
          <a:p>
            <a:fld id="{26601C62-9724-4230-B8E4-0FE573A11A38}" type="datetimeFigureOut">
              <a:rPr lang="en-SG" smtClean="0"/>
              <a:t>30/10/2018</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41777740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601C62-9724-4230-B8E4-0FE573A11A38}" type="datetimeFigureOut">
              <a:rPr lang="en-SG" smtClean="0"/>
              <a:t>30/10/2018</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2001500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6601C62-9724-4230-B8E4-0FE573A11A38}" type="datetimeFigureOut">
              <a:rPr lang="en-SG" smtClean="0"/>
              <a:t>30/10/2018</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2341386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6601C62-9724-4230-B8E4-0FE573A11A38}" type="datetimeFigureOut">
              <a:rPr lang="en-SG" smtClean="0"/>
              <a:t>30/10/2018</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118750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26601C62-9724-4230-B8E4-0FE573A11A38}" type="datetimeFigureOut">
              <a:rPr lang="en-SG" smtClean="0"/>
              <a:t>30/10/2018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1659046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26601C62-9724-4230-B8E4-0FE573A11A38}" type="datetimeFigureOut">
              <a:rPr lang="en-SG" smtClean="0"/>
              <a:t>30/10/2018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3399760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601C62-9724-4230-B8E4-0FE573A11A38}" type="datetimeFigureOut">
              <a:rPr lang="en-SG" smtClean="0"/>
              <a:t>30/10/2018</a:t>
            </a:fld>
            <a:endParaRPr lang="en-SG"/>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6FAD32-A482-4C98-976B-612E7700232B}" type="slidenum">
              <a:rPr lang="en-SG" smtClean="0"/>
              <a:t>‹#›</a:t>
            </a:fld>
            <a:endParaRPr lang="en-SG"/>
          </a:p>
        </p:txBody>
      </p:sp>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785445" y="156548"/>
            <a:ext cx="2347642" cy="514020"/>
          </a:xfrm>
          <a:prstGeom prst="rect">
            <a:avLst/>
          </a:prstGeom>
        </p:spPr>
      </p:pic>
    </p:spTree>
    <p:extLst>
      <p:ext uri="{BB962C8B-B14F-4D97-AF65-F5344CB8AC3E}">
        <p14:creationId xmlns:p14="http://schemas.microsoft.com/office/powerpoint/2010/main" val="2201968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Gill Sans MT" panose="020B050202010402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cisco.com/c/en/us/support/docs/ip/ip-version-6-ipv6/113328-ipv6-lla.html"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SG" dirty="0"/>
              <a:t>OSPF Routing</a:t>
            </a:r>
          </a:p>
        </p:txBody>
      </p:sp>
      <p:sp>
        <p:nvSpPr>
          <p:cNvPr id="3" name="Subtitle 2"/>
          <p:cNvSpPr>
            <a:spLocks noGrp="1"/>
          </p:cNvSpPr>
          <p:nvPr>
            <p:ph type="subTitle" idx="1"/>
          </p:nvPr>
        </p:nvSpPr>
        <p:spPr/>
        <p:txBody>
          <a:bodyPr/>
          <a:lstStyle/>
          <a:p>
            <a:r>
              <a:rPr lang="en-SG"/>
              <a:t>Chapter 5</a:t>
            </a:r>
            <a:endParaRPr lang="en-SG" dirty="0"/>
          </a:p>
        </p:txBody>
      </p:sp>
    </p:spTree>
    <p:extLst>
      <p:ext uri="{BB962C8B-B14F-4D97-AF65-F5344CB8AC3E}">
        <p14:creationId xmlns:p14="http://schemas.microsoft.com/office/powerpoint/2010/main" val="4257047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Learning Outcomes</a:t>
            </a:r>
          </a:p>
        </p:txBody>
      </p:sp>
      <p:sp>
        <p:nvSpPr>
          <p:cNvPr id="3" name="Content Placeholder 2"/>
          <p:cNvSpPr>
            <a:spLocks noGrp="1"/>
          </p:cNvSpPr>
          <p:nvPr>
            <p:ph idx="1"/>
          </p:nvPr>
        </p:nvSpPr>
        <p:spPr/>
        <p:txBody>
          <a:bodyPr/>
          <a:lstStyle/>
          <a:p>
            <a:pPr lvl="0"/>
            <a:r>
              <a:rPr lang="en-SG" dirty="0"/>
              <a:t>Explain the function of OSPFv2 and OSPFv3 Routing </a:t>
            </a:r>
          </a:p>
          <a:p>
            <a:pPr lvl="0"/>
            <a:r>
              <a:rPr lang="en-SG" dirty="0"/>
              <a:t>Implement a network with OSPF routing</a:t>
            </a:r>
          </a:p>
        </p:txBody>
      </p:sp>
    </p:spTree>
    <p:extLst>
      <p:ext uri="{BB962C8B-B14F-4D97-AF65-F5344CB8AC3E}">
        <p14:creationId xmlns:p14="http://schemas.microsoft.com/office/powerpoint/2010/main" val="3813517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Introduction to OSPF</a:t>
            </a:r>
          </a:p>
        </p:txBody>
      </p:sp>
      <p:sp>
        <p:nvSpPr>
          <p:cNvPr id="5" name="Content Placeholder 4"/>
          <p:cNvSpPr>
            <a:spLocks noGrp="1"/>
          </p:cNvSpPr>
          <p:nvPr>
            <p:ph idx="1"/>
          </p:nvPr>
        </p:nvSpPr>
        <p:spPr>
          <a:xfrm>
            <a:off x="1433512" y="4408653"/>
            <a:ext cx="9920288" cy="1768309"/>
          </a:xfrm>
        </p:spPr>
        <p:txBody>
          <a:bodyPr>
            <a:normAutofit lnSpcReduction="10000"/>
          </a:bodyPr>
          <a:lstStyle/>
          <a:p>
            <a:r>
              <a:rPr lang="en-SG" dirty="0"/>
              <a:t>OSPF is a classless, link-state routing protocol</a:t>
            </a:r>
          </a:p>
          <a:p>
            <a:r>
              <a:rPr lang="en-SG" dirty="0"/>
              <a:t>It is an open standard and inter-operate across multi vendor environments</a:t>
            </a:r>
          </a:p>
          <a:p>
            <a:r>
              <a:rPr lang="en-SG" dirty="0"/>
              <a:t>It is known for it’s scalability.</a:t>
            </a:r>
          </a:p>
        </p:txBody>
      </p:sp>
      <p:pic>
        <p:nvPicPr>
          <p:cNvPr id="6" name="Picture 5"/>
          <p:cNvPicPr>
            <a:picLocks noChangeAspect="1"/>
          </p:cNvPicPr>
          <p:nvPr/>
        </p:nvPicPr>
        <p:blipFill>
          <a:blip r:embed="rId2"/>
          <a:stretch>
            <a:fillRect/>
          </a:stretch>
        </p:blipFill>
        <p:spPr>
          <a:xfrm>
            <a:off x="1433512" y="1494004"/>
            <a:ext cx="9324975" cy="2914650"/>
          </a:xfrm>
          <a:prstGeom prst="rect">
            <a:avLst/>
          </a:prstGeom>
        </p:spPr>
      </p:pic>
    </p:spTree>
    <p:extLst>
      <p:ext uri="{BB962C8B-B14F-4D97-AF65-F5344CB8AC3E}">
        <p14:creationId xmlns:p14="http://schemas.microsoft.com/office/powerpoint/2010/main" val="4137332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OSPF Packet Types</a:t>
            </a:r>
          </a:p>
        </p:txBody>
      </p:sp>
      <p:pic>
        <p:nvPicPr>
          <p:cNvPr id="3" name="Picture 2"/>
          <p:cNvPicPr>
            <a:picLocks noChangeAspect="1"/>
          </p:cNvPicPr>
          <p:nvPr/>
        </p:nvPicPr>
        <p:blipFill rotWithShape="1">
          <a:blip r:embed="rId2"/>
          <a:srcRect l="2453" r="4807"/>
          <a:stretch/>
        </p:blipFill>
        <p:spPr>
          <a:xfrm>
            <a:off x="7101385" y="736978"/>
            <a:ext cx="5090615" cy="4453435"/>
          </a:xfrm>
          <a:prstGeom prst="rect">
            <a:avLst/>
          </a:prstGeom>
        </p:spPr>
      </p:pic>
      <p:sp>
        <p:nvSpPr>
          <p:cNvPr id="6" name="Rectangle 5"/>
          <p:cNvSpPr/>
          <p:nvPr/>
        </p:nvSpPr>
        <p:spPr>
          <a:xfrm>
            <a:off x="477671" y="1543419"/>
            <a:ext cx="6623713" cy="3847207"/>
          </a:xfrm>
          <a:prstGeom prst="rect">
            <a:avLst/>
          </a:prstGeom>
        </p:spPr>
        <p:txBody>
          <a:bodyPr wrap="square">
            <a:spAutoFit/>
          </a:bodyPr>
          <a:lstStyle/>
          <a:p>
            <a:r>
              <a:rPr lang="en-SG" sz="2800" dirty="0">
                <a:latin typeface="Gill Sans MT" panose="020B0502020104020203" pitchFamily="34" charset="0"/>
              </a:rPr>
              <a:t>Five types of OSPF LSPs (link-state packets).</a:t>
            </a:r>
          </a:p>
          <a:p>
            <a:pPr marL="342900" indent="-342900">
              <a:buFont typeface="Arial" panose="020B0604020202020204" pitchFamily="34" charset="0"/>
              <a:buChar char="•"/>
            </a:pPr>
            <a:r>
              <a:rPr lang="en-SG" sz="2400" dirty="0">
                <a:solidFill>
                  <a:srgbClr val="FF0066"/>
                </a:solidFill>
                <a:latin typeface="Gill Sans MT" panose="020B0502020104020203" pitchFamily="34" charset="0"/>
              </a:rPr>
              <a:t>Hello: </a:t>
            </a:r>
            <a:r>
              <a:rPr lang="en-SG" sz="2400" dirty="0">
                <a:latin typeface="Gill Sans MT" panose="020B0502020104020203" pitchFamily="34" charset="0"/>
              </a:rPr>
              <a:t>Used to establish and maintain adjacency.</a:t>
            </a:r>
          </a:p>
          <a:p>
            <a:pPr marL="342900" indent="-342900">
              <a:buFont typeface="Arial" panose="020B0604020202020204" pitchFamily="34" charset="0"/>
              <a:buChar char="•"/>
            </a:pPr>
            <a:r>
              <a:rPr lang="en-SG" sz="2400" dirty="0">
                <a:solidFill>
                  <a:srgbClr val="FF0066"/>
                </a:solidFill>
                <a:latin typeface="Gill Sans MT" panose="020B0502020104020203" pitchFamily="34" charset="0"/>
              </a:rPr>
              <a:t>DBD (Database Description): </a:t>
            </a:r>
            <a:r>
              <a:rPr lang="en-SG" sz="2400" dirty="0">
                <a:latin typeface="Gill Sans MT" panose="020B0502020104020203" pitchFamily="34" charset="0"/>
              </a:rPr>
              <a:t>Abbreviated list of the sending router’s </a:t>
            </a:r>
            <a:r>
              <a:rPr lang="en-SG" sz="2400" dirty="0" err="1">
                <a:latin typeface="Gill Sans MT" panose="020B0502020104020203" pitchFamily="34" charset="0"/>
              </a:rPr>
              <a:t>linkstate</a:t>
            </a:r>
            <a:r>
              <a:rPr lang="en-SG" sz="2400" dirty="0">
                <a:latin typeface="Gill Sans MT" panose="020B0502020104020203" pitchFamily="34" charset="0"/>
              </a:rPr>
              <a:t> database.</a:t>
            </a:r>
          </a:p>
          <a:p>
            <a:pPr marL="342900" indent="-342900">
              <a:buFont typeface="Arial" panose="020B0604020202020204" pitchFamily="34" charset="0"/>
              <a:buChar char="•"/>
            </a:pPr>
            <a:r>
              <a:rPr lang="en-SG" sz="2400" dirty="0">
                <a:solidFill>
                  <a:srgbClr val="FF0066"/>
                </a:solidFill>
                <a:latin typeface="Gill Sans MT" panose="020B0502020104020203" pitchFamily="34" charset="0"/>
              </a:rPr>
              <a:t>LSR (Link-State Request) : </a:t>
            </a:r>
            <a:r>
              <a:rPr lang="en-SG" sz="2400" dirty="0">
                <a:latin typeface="Gill Sans MT" panose="020B0502020104020203" pitchFamily="34" charset="0"/>
              </a:rPr>
              <a:t>Used by routers to request more information about any entry in the DBD.</a:t>
            </a:r>
          </a:p>
          <a:p>
            <a:pPr marL="342900" indent="-342900">
              <a:buFont typeface="Arial" panose="020B0604020202020204" pitchFamily="34" charset="0"/>
              <a:buChar char="•"/>
            </a:pPr>
            <a:r>
              <a:rPr lang="en-SG" sz="2400" dirty="0">
                <a:solidFill>
                  <a:srgbClr val="FF0066"/>
                </a:solidFill>
                <a:latin typeface="Gill Sans MT" panose="020B0502020104020203" pitchFamily="34" charset="0"/>
              </a:rPr>
              <a:t>LSU (Link-State Update): </a:t>
            </a:r>
            <a:r>
              <a:rPr lang="en-SG" sz="2400" dirty="0">
                <a:latin typeface="Gill Sans MT" panose="020B0502020104020203" pitchFamily="34" charset="0"/>
              </a:rPr>
              <a:t>Link-state information.</a:t>
            </a:r>
          </a:p>
          <a:p>
            <a:pPr marL="342900" indent="-342900">
              <a:buFont typeface="Arial" panose="020B0604020202020204" pitchFamily="34" charset="0"/>
              <a:buChar char="•"/>
            </a:pPr>
            <a:r>
              <a:rPr lang="en-SG" sz="2400" dirty="0" err="1">
                <a:solidFill>
                  <a:srgbClr val="FF0066"/>
                </a:solidFill>
                <a:latin typeface="Gill Sans MT" panose="020B0502020104020203" pitchFamily="34" charset="0"/>
              </a:rPr>
              <a:t>LSAck</a:t>
            </a:r>
            <a:r>
              <a:rPr lang="en-SG" sz="2400" dirty="0">
                <a:solidFill>
                  <a:srgbClr val="FF0066"/>
                </a:solidFill>
                <a:latin typeface="Gill Sans MT" panose="020B0502020104020203" pitchFamily="34" charset="0"/>
              </a:rPr>
              <a:t> (LSA Acknowledgment): </a:t>
            </a:r>
            <a:r>
              <a:rPr lang="en-SG" sz="2400" dirty="0">
                <a:latin typeface="Gill Sans MT" panose="020B0502020104020203" pitchFamily="34" charset="0"/>
              </a:rPr>
              <a:t>Router sends a link-state (</a:t>
            </a:r>
            <a:r>
              <a:rPr lang="en-SG" sz="2400" dirty="0" err="1">
                <a:latin typeface="Gill Sans MT" panose="020B0502020104020203" pitchFamily="34" charset="0"/>
              </a:rPr>
              <a:t>LSAck</a:t>
            </a:r>
            <a:r>
              <a:rPr lang="en-SG" sz="2400" dirty="0">
                <a:latin typeface="Gill Sans MT" panose="020B0502020104020203" pitchFamily="34" charset="0"/>
              </a:rPr>
              <a:t>) to confirm receipt of the LSU.</a:t>
            </a:r>
          </a:p>
        </p:txBody>
      </p:sp>
    </p:spTree>
    <p:extLst>
      <p:ext uri="{BB962C8B-B14F-4D97-AF65-F5344CB8AC3E}">
        <p14:creationId xmlns:p14="http://schemas.microsoft.com/office/powerpoint/2010/main" val="2325171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Hello Packet and Neighbour Establishment</a:t>
            </a:r>
          </a:p>
        </p:txBody>
      </p:sp>
      <p:grpSp>
        <p:nvGrpSpPr>
          <p:cNvPr id="9" name="Group 8"/>
          <p:cNvGrpSpPr/>
          <p:nvPr/>
        </p:nvGrpSpPr>
        <p:grpSpPr>
          <a:xfrm>
            <a:off x="5386316" y="1825625"/>
            <a:ext cx="6805684" cy="4203700"/>
            <a:chOff x="5386316" y="1825625"/>
            <a:chExt cx="6805684" cy="4203700"/>
          </a:xfrm>
        </p:grpSpPr>
        <p:pic>
          <p:nvPicPr>
            <p:cNvPr id="6" name="Picture 5"/>
            <p:cNvPicPr>
              <a:picLocks noChangeAspect="1"/>
            </p:cNvPicPr>
            <p:nvPr/>
          </p:nvPicPr>
          <p:blipFill>
            <a:blip r:embed="rId2"/>
            <a:stretch>
              <a:fillRect/>
            </a:stretch>
          </p:blipFill>
          <p:spPr>
            <a:xfrm>
              <a:off x="5855654" y="1825625"/>
              <a:ext cx="6336346" cy="4203700"/>
            </a:xfrm>
            <a:prstGeom prst="rect">
              <a:avLst/>
            </a:prstGeom>
          </p:spPr>
        </p:pic>
        <p:sp>
          <p:nvSpPr>
            <p:cNvPr id="8" name="Rectangle 7"/>
            <p:cNvSpPr/>
            <p:nvPr/>
          </p:nvSpPr>
          <p:spPr>
            <a:xfrm>
              <a:off x="5386316" y="1825625"/>
              <a:ext cx="878006" cy="168185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SG"/>
            </a:p>
          </p:txBody>
        </p:sp>
      </p:grpSp>
      <p:sp>
        <p:nvSpPr>
          <p:cNvPr id="10" name="TextBox 9"/>
          <p:cNvSpPr txBox="1"/>
          <p:nvPr/>
        </p:nvSpPr>
        <p:spPr>
          <a:xfrm>
            <a:off x="545910" y="1690688"/>
            <a:ext cx="6987654" cy="4524315"/>
          </a:xfrm>
          <a:prstGeom prst="rect">
            <a:avLst/>
          </a:prstGeom>
          <a:noFill/>
        </p:spPr>
        <p:txBody>
          <a:bodyPr wrap="square" rtlCol="0">
            <a:spAutoFit/>
          </a:bodyPr>
          <a:lstStyle/>
          <a:p>
            <a:pPr marL="342900" indent="-342900">
              <a:buFont typeface="Arial" panose="020B0604020202020204" pitchFamily="34" charset="0"/>
              <a:buChar char="•"/>
            </a:pPr>
            <a:r>
              <a:rPr lang="en-SG" sz="2400" dirty="0">
                <a:latin typeface="Gill Sans MT" panose="020B0502020104020203" pitchFamily="34" charset="0"/>
              </a:rPr>
              <a:t>Hello Packets are sent by OSPF enabled routers to </a:t>
            </a:r>
            <a:r>
              <a:rPr lang="en-SG" sz="2400" dirty="0">
                <a:solidFill>
                  <a:srgbClr val="FF0066"/>
                </a:solidFill>
                <a:latin typeface="Gill Sans MT" panose="020B0502020104020203" pitchFamily="34" charset="0"/>
              </a:rPr>
              <a:t>discover their neighbours </a:t>
            </a:r>
            <a:r>
              <a:rPr lang="en-SG" sz="2400" dirty="0">
                <a:latin typeface="Gill Sans MT" panose="020B0502020104020203" pitchFamily="34" charset="0"/>
              </a:rPr>
              <a:t>and establish adjacencies.</a:t>
            </a:r>
          </a:p>
          <a:p>
            <a:pPr marL="342900" indent="-342900">
              <a:buFont typeface="Arial" panose="020B0604020202020204" pitchFamily="34" charset="0"/>
              <a:buChar char="•"/>
            </a:pPr>
            <a:r>
              <a:rPr lang="en-SG" sz="2400" dirty="0">
                <a:latin typeface="Gill Sans MT" panose="020B0502020104020203" pitchFamily="34" charset="0"/>
              </a:rPr>
              <a:t>Only when the 3 parameters (</a:t>
            </a:r>
            <a:r>
              <a:rPr lang="en-SG" sz="2400" dirty="0">
                <a:solidFill>
                  <a:srgbClr val="FF0066"/>
                </a:solidFill>
                <a:latin typeface="Gill Sans MT" panose="020B0502020104020203" pitchFamily="34" charset="0"/>
              </a:rPr>
              <a:t>Hello interval, Dead interval and Network Type</a:t>
            </a:r>
            <a:r>
              <a:rPr lang="en-SG" sz="2400" dirty="0">
                <a:latin typeface="Gill Sans MT" panose="020B0502020104020203" pitchFamily="34" charset="0"/>
              </a:rPr>
              <a:t>) are agreed, the routers can become neighbours</a:t>
            </a:r>
          </a:p>
          <a:p>
            <a:pPr marL="342900" indent="-342900">
              <a:buFont typeface="Arial" panose="020B0604020202020204" pitchFamily="34" charset="0"/>
              <a:buChar char="•"/>
            </a:pPr>
            <a:endParaRPr lang="en-SG" sz="2400" dirty="0">
              <a:latin typeface="Gill Sans MT" panose="020B0502020104020203" pitchFamily="34" charset="0"/>
            </a:endParaRPr>
          </a:p>
          <a:p>
            <a:pPr marL="342900" indent="-342900">
              <a:buFont typeface="Arial" panose="020B0604020202020204" pitchFamily="34" charset="0"/>
              <a:buChar char="•"/>
            </a:pPr>
            <a:endParaRPr lang="en-SG" sz="2400" dirty="0">
              <a:latin typeface="Gill Sans MT" panose="020B0502020104020203" pitchFamily="34" charset="0"/>
            </a:endParaRPr>
          </a:p>
          <a:p>
            <a:pPr marL="342900" indent="-342900">
              <a:buFont typeface="Arial" panose="020B0604020202020204" pitchFamily="34" charset="0"/>
              <a:buChar char="•"/>
            </a:pPr>
            <a:endParaRPr lang="en-SG" sz="2400" dirty="0">
              <a:latin typeface="Gill Sans MT" panose="020B0502020104020203" pitchFamily="34" charset="0"/>
            </a:endParaRPr>
          </a:p>
          <a:p>
            <a:pPr marL="342900" indent="-342900">
              <a:buFont typeface="Arial" panose="020B0604020202020204" pitchFamily="34" charset="0"/>
              <a:buChar char="•"/>
            </a:pPr>
            <a:r>
              <a:rPr lang="en-SG" sz="2400" dirty="0">
                <a:latin typeface="Gill Sans MT" panose="020B0502020104020203" pitchFamily="34" charset="0"/>
              </a:rPr>
              <a:t>Now the routers can exchange their DBD.</a:t>
            </a:r>
          </a:p>
          <a:p>
            <a:pPr marL="342900" indent="-342900">
              <a:buFont typeface="Arial" panose="020B0604020202020204" pitchFamily="34" charset="0"/>
              <a:buChar char="•"/>
            </a:pPr>
            <a:r>
              <a:rPr lang="en-SG" sz="2400" dirty="0">
                <a:latin typeface="Gill Sans MT" panose="020B0502020104020203" pitchFamily="34" charset="0"/>
              </a:rPr>
              <a:t>Full adjacency happens after both routers on a link have exchanged LSUs and have identical link state databases.</a:t>
            </a:r>
          </a:p>
        </p:txBody>
      </p:sp>
    </p:spTree>
    <p:extLst>
      <p:ext uri="{BB962C8B-B14F-4D97-AF65-F5344CB8AC3E}">
        <p14:creationId xmlns:p14="http://schemas.microsoft.com/office/powerpoint/2010/main" val="6198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Administrative Distance</a:t>
            </a:r>
          </a:p>
        </p:txBody>
      </p:sp>
      <p:sp>
        <p:nvSpPr>
          <p:cNvPr id="3" name="Content Placeholder 2"/>
          <p:cNvSpPr>
            <a:spLocks noGrp="1"/>
          </p:cNvSpPr>
          <p:nvPr>
            <p:ph idx="1"/>
          </p:nvPr>
        </p:nvSpPr>
        <p:spPr/>
        <p:txBody>
          <a:bodyPr/>
          <a:lstStyle/>
          <a:p>
            <a:r>
              <a:rPr lang="en-SG" dirty="0"/>
              <a:t>Administrative distance (AD) is the trustworthiness (or preference) of the route source.</a:t>
            </a:r>
          </a:p>
          <a:p>
            <a:r>
              <a:rPr lang="en-SG" dirty="0"/>
              <a:t>OSPF has a default AD of 110.</a:t>
            </a:r>
          </a:p>
          <a:p>
            <a:endParaRPr lang="en-SG" dirty="0"/>
          </a:p>
          <a:p>
            <a:r>
              <a:rPr lang="en-SG" dirty="0"/>
              <a:t>So let’s say I want to reach destination 10.1.1.1</a:t>
            </a:r>
          </a:p>
          <a:p>
            <a:pPr marL="0" indent="0">
              <a:buNone/>
            </a:pPr>
            <a:r>
              <a:rPr lang="en-SG" dirty="0"/>
              <a:t>Both OSPF and Static routes on the router can </a:t>
            </a:r>
          </a:p>
          <a:p>
            <a:pPr marL="0" indent="0">
              <a:buNone/>
            </a:pPr>
            <a:r>
              <a:rPr lang="en-SG" dirty="0"/>
              <a:t>technically get me there. But which one will the </a:t>
            </a:r>
          </a:p>
          <a:p>
            <a:pPr marL="0" indent="0">
              <a:buNone/>
            </a:pPr>
            <a:r>
              <a:rPr lang="en-SG" dirty="0"/>
              <a:t>router choose?</a:t>
            </a:r>
          </a:p>
        </p:txBody>
      </p:sp>
      <p:pic>
        <p:nvPicPr>
          <p:cNvPr id="4" name="Picture 3"/>
          <p:cNvPicPr>
            <a:picLocks noChangeAspect="1"/>
          </p:cNvPicPr>
          <p:nvPr/>
        </p:nvPicPr>
        <p:blipFill rotWithShape="1">
          <a:blip r:embed="rId2"/>
          <a:srcRect b="11305"/>
          <a:stretch/>
        </p:blipFill>
        <p:spPr>
          <a:xfrm>
            <a:off x="8204990" y="2238232"/>
            <a:ext cx="3987010" cy="4339990"/>
          </a:xfrm>
          <a:prstGeom prst="rect">
            <a:avLst/>
          </a:prstGeom>
        </p:spPr>
      </p:pic>
    </p:spTree>
    <p:extLst>
      <p:ext uri="{BB962C8B-B14F-4D97-AF65-F5344CB8AC3E}">
        <p14:creationId xmlns:p14="http://schemas.microsoft.com/office/powerpoint/2010/main" val="2792828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OSPFv2 Configuration</a:t>
            </a:r>
          </a:p>
        </p:txBody>
      </p:sp>
      <p:sp>
        <p:nvSpPr>
          <p:cNvPr id="3" name="Content Placeholder 2"/>
          <p:cNvSpPr>
            <a:spLocks noGrp="1"/>
          </p:cNvSpPr>
          <p:nvPr>
            <p:ph idx="1"/>
          </p:nvPr>
        </p:nvSpPr>
        <p:spPr>
          <a:xfrm>
            <a:off x="838200" y="1825625"/>
            <a:ext cx="4798325" cy="4351338"/>
          </a:xfrm>
        </p:spPr>
        <p:txBody>
          <a:bodyPr/>
          <a:lstStyle/>
          <a:p>
            <a:r>
              <a:rPr lang="en-SG" dirty="0"/>
              <a:t>Let’s use this sample configuration</a:t>
            </a:r>
          </a:p>
          <a:p>
            <a:r>
              <a:rPr lang="en-SG" dirty="0"/>
              <a:t>Every router has a Router ID</a:t>
            </a:r>
          </a:p>
          <a:p>
            <a:r>
              <a:rPr lang="en-SG" dirty="0"/>
              <a:t>Every link has 2 IP Addresses </a:t>
            </a:r>
          </a:p>
          <a:p>
            <a:r>
              <a:rPr lang="en-SG" dirty="0"/>
              <a:t>Every Router has 3 connected ports</a:t>
            </a:r>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3948" t="31749" r="19351" b="16279"/>
          <a:stretch/>
        </p:blipFill>
        <p:spPr bwMode="auto">
          <a:xfrm>
            <a:off x="5808586" y="1302226"/>
            <a:ext cx="6008916" cy="4573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03345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Enabling OSPFv2 Routing</a:t>
            </a:r>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24291"/>
          <a:stretch/>
        </p:blipFill>
        <p:spPr bwMode="auto">
          <a:xfrm>
            <a:off x="5474917" y="3102655"/>
            <a:ext cx="6449328" cy="35700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838200" y="1566318"/>
            <a:ext cx="10762397" cy="1077218"/>
          </a:xfrm>
          <a:prstGeom prst="rect">
            <a:avLst/>
          </a:prstGeom>
          <a:noFill/>
        </p:spPr>
        <p:txBody>
          <a:bodyPr wrap="square" rtlCol="0">
            <a:spAutoFit/>
          </a:bodyPr>
          <a:lstStyle/>
          <a:p>
            <a:pPr algn="l"/>
            <a:r>
              <a:rPr lang="en-SG" sz="2400" dirty="0">
                <a:solidFill>
                  <a:srgbClr val="7030A0"/>
                </a:solidFill>
                <a:latin typeface="Gill Sans MT" panose="020B0502020104020203" pitchFamily="34" charset="0"/>
                <a:cs typeface="Courier New" panose="02070309020205020404" pitchFamily="49" charset="0"/>
              </a:rPr>
              <a:t>R1(</a:t>
            </a:r>
            <a:r>
              <a:rPr lang="en-SG" sz="2400" dirty="0" err="1">
                <a:solidFill>
                  <a:srgbClr val="7030A0"/>
                </a:solidFill>
                <a:latin typeface="Gill Sans MT" panose="020B0502020104020203" pitchFamily="34" charset="0"/>
                <a:cs typeface="Courier New" panose="02070309020205020404" pitchFamily="49" charset="0"/>
              </a:rPr>
              <a:t>config</a:t>
            </a:r>
            <a:r>
              <a:rPr lang="en-SG" sz="2400" dirty="0">
                <a:solidFill>
                  <a:srgbClr val="7030A0"/>
                </a:solidFill>
                <a:latin typeface="Gill Sans MT" panose="020B0502020104020203" pitchFamily="34" charset="0"/>
                <a:cs typeface="Courier New" panose="02070309020205020404" pitchFamily="49" charset="0"/>
              </a:rPr>
              <a:t>)# router </a:t>
            </a:r>
            <a:r>
              <a:rPr lang="en-SG" sz="2400" dirty="0" err="1">
                <a:solidFill>
                  <a:srgbClr val="7030A0"/>
                </a:solidFill>
                <a:latin typeface="Gill Sans MT" panose="020B0502020104020203" pitchFamily="34" charset="0"/>
                <a:cs typeface="Courier New" panose="02070309020205020404" pitchFamily="49" charset="0"/>
              </a:rPr>
              <a:t>ospf</a:t>
            </a:r>
            <a:r>
              <a:rPr lang="en-SG" sz="2400" dirty="0">
                <a:solidFill>
                  <a:srgbClr val="7030A0"/>
                </a:solidFill>
                <a:latin typeface="Gill Sans MT" panose="020B0502020104020203" pitchFamily="34" charset="0"/>
                <a:cs typeface="Courier New" panose="02070309020205020404" pitchFamily="49" charset="0"/>
              </a:rPr>
              <a:t> [ </a:t>
            </a:r>
            <a:r>
              <a:rPr lang="en-SG" sz="2400" u="sng" dirty="0">
                <a:solidFill>
                  <a:srgbClr val="7030A0"/>
                </a:solidFill>
                <a:latin typeface="Gill Sans MT" panose="020B0502020104020203" pitchFamily="34" charset="0"/>
                <a:cs typeface="Courier New" panose="02070309020205020404" pitchFamily="49" charset="0"/>
              </a:rPr>
              <a:t>process-id</a:t>
            </a:r>
            <a:r>
              <a:rPr lang="en-SG" sz="2400" dirty="0">
                <a:solidFill>
                  <a:srgbClr val="7030A0"/>
                </a:solidFill>
                <a:latin typeface="Gill Sans MT" panose="020B0502020104020203" pitchFamily="34" charset="0"/>
                <a:cs typeface="Courier New" panose="02070309020205020404" pitchFamily="49" charset="0"/>
              </a:rPr>
              <a:t> ]</a:t>
            </a:r>
          </a:p>
          <a:p>
            <a:pPr marL="285750" indent="-285750" algn="l">
              <a:buFont typeface="Arial" panose="020B0604020202020204" pitchFamily="34" charset="0"/>
              <a:buChar char="•"/>
            </a:pPr>
            <a:r>
              <a:rPr lang="en-SG" sz="2000" dirty="0">
                <a:latin typeface="Gill Sans MT" panose="020B0502020104020203" pitchFamily="34" charset="0"/>
                <a:cs typeface="Courier New" panose="02070309020205020404" pitchFamily="49" charset="0"/>
              </a:rPr>
              <a:t>This command enables OSPF on the router using process-id of 10 in this example</a:t>
            </a:r>
          </a:p>
          <a:p>
            <a:pPr marL="285750" indent="-285750" algn="l">
              <a:buFont typeface="Arial" panose="020B0604020202020204" pitchFamily="34" charset="0"/>
              <a:buChar char="•"/>
            </a:pPr>
            <a:r>
              <a:rPr lang="en-SG" sz="2000" dirty="0">
                <a:latin typeface="Gill Sans MT" panose="020B0502020104020203" pitchFamily="34" charset="0"/>
                <a:cs typeface="Courier New" panose="02070309020205020404" pitchFamily="49" charset="0"/>
              </a:rPr>
              <a:t>Note that process-id is of local significance only. It doesn’t have to be the same across all routers.</a:t>
            </a:r>
          </a:p>
        </p:txBody>
      </p:sp>
    </p:spTree>
    <p:extLst>
      <p:ext uri="{BB962C8B-B14F-4D97-AF65-F5344CB8AC3E}">
        <p14:creationId xmlns:p14="http://schemas.microsoft.com/office/powerpoint/2010/main" val="1921421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Router ID and Network statement</a:t>
            </a:r>
          </a:p>
        </p:txBody>
      </p:sp>
      <p:sp>
        <p:nvSpPr>
          <p:cNvPr id="3" name="Content Placeholder 2"/>
          <p:cNvSpPr>
            <a:spLocks noGrp="1"/>
          </p:cNvSpPr>
          <p:nvPr>
            <p:ph idx="1"/>
          </p:nvPr>
        </p:nvSpPr>
        <p:spPr>
          <a:xfrm>
            <a:off x="838200" y="1690688"/>
            <a:ext cx="10515600" cy="4848130"/>
          </a:xfrm>
        </p:spPr>
        <p:txBody>
          <a:bodyPr>
            <a:normAutofit fontScale="92500" lnSpcReduction="10000"/>
          </a:bodyPr>
          <a:lstStyle/>
          <a:p>
            <a:pPr marL="0" indent="0">
              <a:buNone/>
            </a:pPr>
            <a:r>
              <a:rPr lang="en-SG" dirty="0">
                <a:solidFill>
                  <a:srgbClr val="7030A0"/>
                </a:solidFill>
              </a:rPr>
              <a:t>R1(</a:t>
            </a:r>
            <a:r>
              <a:rPr lang="en-SG" dirty="0" err="1">
                <a:solidFill>
                  <a:srgbClr val="7030A0"/>
                </a:solidFill>
              </a:rPr>
              <a:t>config</a:t>
            </a:r>
            <a:r>
              <a:rPr lang="en-SG" dirty="0">
                <a:solidFill>
                  <a:srgbClr val="7030A0"/>
                </a:solidFill>
              </a:rPr>
              <a:t>)#router </a:t>
            </a:r>
            <a:r>
              <a:rPr lang="en-SG" dirty="0" err="1">
                <a:solidFill>
                  <a:srgbClr val="7030A0"/>
                </a:solidFill>
              </a:rPr>
              <a:t>ospf</a:t>
            </a:r>
            <a:r>
              <a:rPr lang="en-SG" dirty="0">
                <a:solidFill>
                  <a:srgbClr val="7030A0"/>
                </a:solidFill>
              </a:rPr>
              <a:t> 10</a:t>
            </a:r>
          </a:p>
          <a:p>
            <a:pPr marL="0" indent="0">
              <a:buNone/>
            </a:pPr>
            <a:r>
              <a:rPr lang="en-SG" dirty="0">
                <a:solidFill>
                  <a:srgbClr val="7030A0"/>
                </a:solidFill>
              </a:rPr>
              <a:t>R1(</a:t>
            </a:r>
            <a:r>
              <a:rPr lang="en-SG" dirty="0" err="1">
                <a:solidFill>
                  <a:srgbClr val="7030A0"/>
                </a:solidFill>
              </a:rPr>
              <a:t>config</a:t>
            </a:r>
            <a:r>
              <a:rPr lang="en-SG" dirty="0">
                <a:solidFill>
                  <a:srgbClr val="7030A0"/>
                </a:solidFill>
              </a:rPr>
              <a:t>-router)#router-id 1.1.1.1</a:t>
            </a:r>
          </a:p>
          <a:p>
            <a:r>
              <a:rPr lang="en-SG" dirty="0"/>
              <a:t>A Router ID uniquely identifies a router. It will be useful especially later in IPv6 configurations.</a:t>
            </a:r>
          </a:p>
          <a:p>
            <a:pPr marL="0" indent="0">
              <a:buNone/>
            </a:pPr>
            <a:r>
              <a:rPr lang="en-SG" dirty="0">
                <a:solidFill>
                  <a:srgbClr val="7030A0"/>
                </a:solidFill>
              </a:rPr>
              <a:t>R1(</a:t>
            </a:r>
            <a:r>
              <a:rPr lang="en-SG" dirty="0" err="1">
                <a:solidFill>
                  <a:srgbClr val="7030A0"/>
                </a:solidFill>
              </a:rPr>
              <a:t>config</a:t>
            </a:r>
            <a:r>
              <a:rPr lang="en-SG" dirty="0">
                <a:solidFill>
                  <a:srgbClr val="7030A0"/>
                </a:solidFill>
              </a:rPr>
              <a:t>-router)#network 172.16.3.0 255.255.255.252 area 0</a:t>
            </a:r>
          </a:p>
          <a:p>
            <a:r>
              <a:rPr lang="en-SG" dirty="0"/>
              <a:t>Identify all the router’s connected networks (you can do this by issuing a “show </a:t>
            </a:r>
            <a:r>
              <a:rPr lang="en-SG" dirty="0" err="1"/>
              <a:t>ip</a:t>
            </a:r>
            <a:r>
              <a:rPr lang="en-SG" dirty="0"/>
              <a:t> route“)</a:t>
            </a:r>
          </a:p>
          <a:p>
            <a:r>
              <a:rPr lang="en-SG" dirty="0"/>
              <a:t>Then use the network statement to advertise to other routers what R1 is connected to.</a:t>
            </a:r>
          </a:p>
          <a:p>
            <a:r>
              <a:rPr lang="en-SG" dirty="0"/>
              <a:t>If you do not advertise a route using the network statement, the other routers will not know that R1 has that connection to the network.</a:t>
            </a:r>
          </a:p>
          <a:p>
            <a:r>
              <a:rPr lang="en-SG" dirty="0"/>
              <a:t>Area 0 is the backbone area</a:t>
            </a:r>
          </a:p>
        </p:txBody>
      </p:sp>
    </p:spTree>
    <p:extLst>
      <p:ext uri="{BB962C8B-B14F-4D97-AF65-F5344CB8AC3E}">
        <p14:creationId xmlns:p14="http://schemas.microsoft.com/office/powerpoint/2010/main" val="301699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7331"/>
          </a:xfrm>
        </p:spPr>
        <p:txBody>
          <a:bodyPr/>
          <a:lstStyle/>
          <a:p>
            <a:r>
              <a:rPr lang="en-SG" dirty="0"/>
              <a:t>OSPF Passive Interface</a:t>
            </a:r>
          </a:p>
        </p:txBody>
      </p:sp>
      <p:sp>
        <p:nvSpPr>
          <p:cNvPr id="3" name="Content Placeholder 2"/>
          <p:cNvSpPr>
            <a:spLocks noGrp="1"/>
          </p:cNvSpPr>
          <p:nvPr>
            <p:ph idx="1"/>
          </p:nvPr>
        </p:nvSpPr>
        <p:spPr/>
        <p:txBody>
          <a:bodyPr>
            <a:normAutofit/>
          </a:bodyPr>
          <a:lstStyle/>
          <a:p>
            <a:r>
              <a:rPr lang="en-SG" sz="2600" dirty="0"/>
              <a:t>This is a kind of interface on which OSPF LSAs(Link State Advertisements) will not be sent out. LSAs are only useful to other OSPF Enabled routers, so why waste bandwidth by sending them on link which connect switches and PCs?</a:t>
            </a:r>
          </a:p>
          <a:p>
            <a:pPr marL="0" indent="0">
              <a:buNone/>
            </a:pPr>
            <a:r>
              <a:rPr lang="en-SG" sz="2600" dirty="0">
                <a:solidFill>
                  <a:srgbClr val="7030A0"/>
                </a:solidFill>
              </a:rPr>
              <a:t>R1(</a:t>
            </a:r>
            <a:r>
              <a:rPr lang="en-SG" sz="2600" dirty="0" err="1">
                <a:solidFill>
                  <a:srgbClr val="7030A0"/>
                </a:solidFill>
              </a:rPr>
              <a:t>config</a:t>
            </a:r>
            <a:r>
              <a:rPr lang="en-SG" sz="2600" dirty="0">
                <a:solidFill>
                  <a:srgbClr val="7030A0"/>
                </a:solidFill>
              </a:rPr>
              <a:t>-router)# passive-interface g0/0</a:t>
            </a:r>
          </a:p>
          <a:p>
            <a:pPr marL="0" indent="0">
              <a:buNone/>
            </a:pPr>
            <a:r>
              <a:rPr lang="en-SG" sz="2600" dirty="0"/>
              <a:t>Inside the routing configuration, you can define any interface to be a passive interface. This interface will then not receive any LSAs.</a:t>
            </a:r>
          </a:p>
          <a:p>
            <a:pPr marL="0" indent="0">
              <a:buNone/>
            </a:pPr>
            <a:endParaRPr lang="en-SG" sz="2600" dirty="0"/>
          </a:p>
        </p:txBody>
      </p:sp>
    </p:spTree>
    <p:extLst>
      <p:ext uri="{BB962C8B-B14F-4D97-AF65-F5344CB8AC3E}">
        <p14:creationId xmlns:p14="http://schemas.microsoft.com/office/powerpoint/2010/main" val="3553816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26006" y="2625465"/>
            <a:ext cx="5777769" cy="1745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SG" dirty="0"/>
              <a:t>Verifying OSPFv2 operation</a:t>
            </a:r>
          </a:p>
        </p:txBody>
      </p:sp>
      <p:sp>
        <p:nvSpPr>
          <p:cNvPr id="3" name="Content Placeholder 2"/>
          <p:cNvSpPr>
            <a:spLocks noGrp="1"/>
          </p:cNvSpPr>
          <p:nvPr>
            <p:ph idx="1"/>
          </p:nvPr>
        </p:nvSpPr>
        <p:spPr/>
        <p:txBody>
          <a:bodyPr/>
          <a:lstStyle/>
          <a:p>
            <a:pPr marL="0" indent="0">
              <a:buNone/>
            </a:pPr>
            <a:r>
              <a:rPr lang="en-SG" dirty="0">
                <a:solidFill>
                  <a:srgbClr val="7030A0"/>
                </a:solidFill>
              </a:rPr>
              <a:t>#show </a:t>
            </a:r>
            <a:r>
              <a:rPr lang="en-SG" dirty="0" err="1">
                <a:solidFill>
                  <a:srgbClr val="7030A0"/>
                </a:solidFill>
              </a:rPr>
              <a:t>ip</a:t>
            </a:r>
            <a:r>
              <a:rPr lang="en-SG" dirty="0">
                <a:solidFill>
                  <a:srgbClr val="7030A0"/>
                </a:solidFill>
              </a:rPr>
              <a:t> </a:t>
            </a:r>
            <a:r>
              <a:rPr lang="en-SG" dirty="0" err="1">
                <a:solidFill>
                  <a:srgbClr val="7030A0"/>
                </a:solidFill>
              </a:rPr>
              <a:t>ospf</a:t>
            </a:r>
            <a:r>
              <a:rPr lang="en-SG" dirty="0">
                <a:solidFill>
                  <a:srgbClr val="7030A0"/>
                </a:solidFill>
              </a:rPr>
              <a:t> </a:t>
            </a:r>
            <a:r>
              <a:rPr lang="en-SG" dirty="0" err="1">
                <a:solidFill>
                  <a:srgbClr val="7030A0"/>
                </a:solidFill>
              </a:rPr>
              <a:t>neighbors</a:t>
            </a:r>
            <a:endParaRPr lang="en-SG" dirty="0">
              <a:solidFill>
                <a:srgbClr val="7030A0"/>
              </a:solidFill>
            </a:endParaRPr>
          </a:p>
          <a:p>
            <a:r>
              <a:rPr lang="en-SG" dirty="0"/>
              <a:t>Verify that the router has formed an adjacency with its neighbouring routers.</a:t>
            </a:r>
          </a:p>
          <a:p>
            <a:pPr marL="0" indent="0">
              <a:buNone/>
            </a:pPr>
            <a:endParaRPr lang="en-SG" dirty="0"/>
          </a:p>
          <a:p>
            <a:pPr marL="0" indent="0">
              <a:buNone/>
            </a:pPr>
            <a:r>
              <a:rPr lang="en-SG" dirty="0">
                <a:solidFill>
                  <a:srgbClr val="7030A0"/>
                </a:solidFill>
              </a:rPr>
              <a:t>#show </a:t>
            </a:r>
            <a:r>
              <a:rPr lang="en-SG" dirty="0" err="1">
                <a:solidFill>
                  <a:srgbClr val="7030A0"/>
                </a:solidFill>
              </a:rPr>
              <a:t>ip</a:t>
            </a:r>
            <a:r>
              <a:rPr lang="en-SG" dirty="0">
                <a:solidFill>
                  <a:srgbClr val="7030A0"/>
                </a:solidFill>
              </a:rPr>
              <a:t> route</a:t>
            </a:r>
          </a:p>
          <a:p>
            <a:r>
              <a:rPr lang="en-SG" dirty="0"/>
              <a:t>Verify if the router is learning remote routes</a:t>
            </a:r>
          </a:p>
        </p:txBody>
      </p:sp>
      <p:pic>
        <p:nvPicPr>
          <p:cNvPr id="5" name="Picture 4"/>
          <p:cNvPicPr>
            <a:picLocks noChangeAspect="1"/>
          </p:cNvPicPr>
          <p:nvPr/>
        </p:nvPicPr>
        <p:blipFill>
          <a:blip r:embed="rId3"/>
          <a:stretch>
            <a:fillRect/>
          </a:stretch>
        </p:blipFill>
        <p:spPr>
          <a:xfrm>
            <a:off x="3858768" y="4778154"/>
            <a:ext cx="7629164" cy="1813443"/>
          </a:xfrm>
          <a:prstGeom prst="rect">
            <a:avLst/>
          </a:prstGeom>
        </p:spPr>
      </p:pic>
    </p:spTree>
    <p:extLst>
      <p:ext uri="{BB962C8B-B14F-4D97-AF65-F5344CB8AC3E}">
        <p14:creationId xmlns:p14="http://schemas.microsoft.com/office/powerpoint/2010/main" val="2447052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Verify OSPFv2 Operation</a:t>
            </a:r>
          </a:p>
        </p:txBody>
      </p:sp>
      <p:sp>
        <p:nvSpPr>
          <p:cNvPr id="3" name="Content Placeholder 2"/>
          <p:cNvSpPr>
            <a:spLocks noGrp="1"/>
          </p:cNvSpPr>
          <p:nvPr>
            <p:ph idx="1"/>
          </p:nvPr>
        </p:nvSpPr>
        <p:spPr/>
        <p:txBody>
          <a:bodyPr>
            <a:normAutofit fontScale="77500" lnSpcReduction="20000"/>
          </a:bodyPr>
          <a:lstStyle/>
          <a:p>
            <a:pPr marL="0" indent="0">
              <a:buNone/>
            </a:pPr>
            <a:r>
              <a:rPr lang="en-SG" dirty="0"/>
              <a:t>#show </a:t>
            </a:r>
            <a:r>
              <a:rPr lang="en-SG" dirty="0" err="1"/>
              <a:t>ip</a:t>
            </a:r>
            <a:r>
              <a:rPr lang="en-SG" dirty="0"/>
              <a:t> protocols</a:t>
            </a:r>
          </a:p>
          <a:p>
            <a:pPr marL="0" indent="0">
              <a:buNone/>
            </a:pPr>
            <a:endParaRPr lang="en-SG" dirty="0"/>
          </a:p>
          <a:p>
            <a:pPr marL="0" indent="0">
              <a:buNone/>
            </a:pPr>
            <a:r>
              <a:rPr lang="en-SG" dirty="0"/>
              <a:t>Process ID</a:t>
            </a:r>
          </a:p>
          <a:p>
            <a:pPr marL="0" indent="0">
              <a:buNone/>
            </a:pPr>
            <a:endParaRPr lang="en-SG" dirty="0"/>
          </a:p>
          <a:p>
            <a:pPr marL="0" indent="0">
              <a:buNone/>
            </a:pPr>
            <a:r>
              <a:rPr lang="en-SG" dirty="0"/>
              <a:t>Router ID</a:t>
            </a:r>
          </a:p>
          <a:p>
            <a:pPr marL="0" indent="0">
              <a:buNone/>
            </a:pPr>
            <a:endParaRPr lang="en-SG" dirty="0"/>
          </a:p>
          <a:p>
            <a:pPr marL="0" indent="0">
              <a:buNone/>
            </a:pPr>
            <a:endParaRPr lang="en-SG" dirty="0"/>
          </a:p>
          <a:p>
            <a:pPr marL="0" indent="0">
              <a:buNone/>
            </a:pPr>
            <a:r>
              <a:rPr lang="en-SG" dirty="0"/>
              <a:t>Networks advertised</a:t>
            </a:r>
          </a:p>
          <a:p>
            <a:pPr marL="0" indent="0">
              <a:buNone/>
            </a:pPr>
            <a:endParaRPr lang="en-SG" dirty="0"/>
          </a:p>
          <a:p>
            <a:pPr marL="0" indent="0">
              <a:buNone/>
            </a:pPr>
            <a:endParaRPr lang="en-SG" dirty="0"/>
          </a:p>
          <a:p>
            <a:pPr marL="0" indent="0">
              <a:buNone/>
            </a:pPr>
            <a:r>
              <a:rPr lang="en-SG" dirty="0"/>
              <a:t>Neighbour routers</a:t>
            </a:r>
          </a:p>
          <a:p>
            <a:pPr marL="0" indent="0">
              <a:buNone/>
            </a:pPr>
            <a:r>
              <a:rPr lang="en-SG" dirty="0"/>
              <a:t>l</a:t>
            </a:r>
          </a:p>
          <a:p>
            <a:pPr marL="0" indent="0">
              <a:buNone/>
            </a:pPr>
            <a:endParaRPr lang="en-SG" dirty="0"/>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852" t="9676"/>
          <a:stretch/>
        </p:blipFill>
        <p:spPr bwMode="auto">
          <a:xfrm>
            <a:off x="5679138" y="1894395"/>
            <a:ext cx="4999736" cy="42825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Arrow Connector 5"/>
          <p:cNvCxnSpPr/>
          <p:nvPr/>
        </p:nvCxnSpPr>
        <p:spPr>
          <a:xfrm>
            <a:off x="2231136" y="2679192"/>
            <a:ext cx="33467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2112264" y="3401568"/>
            <a:ext cx="34655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3334512" y="4504944"/>
            <a:ext cx="2344626" cy="121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3130296" y="5227320"/>
            <a:ext cx="2740152" cy="3931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6250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Similarities between OSPFv3 and OSPFv2</a:t>
            </a:r>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15568" y="1732326"/>
            <a:ext cx="9957815" cy="45365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27167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Differences between OSPFv2 and OSPFv3</a:t>
            </a:r>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3343" t="32322" r="17254" b="16279"/>
          <a:stretch/>
        </p:blipFill>
        <p:spPr bwMode="auto">
          <a:xfrm>
            <a:off x="2312428" y="1552401"/>
            <a:ext cx="7567143" cy="53055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82662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Configuring IPv6 Interface</a:t>
            </a:r>
          </a:p>
        </p:txBody>
      </p:sp>
      <p:sp>
        <p:nvSpPr>
          <p:cNvPr id="3" name="Content Placeholder 2"/>
          <p:cNvSpPr>
            <a:spLocks noGrp="1"/>
          </p:cNvSpPr>
          <p:nvPr>
            <p:ph idx="1"/>
          </p:nvPr>
        </p:nvSpPr>
        <p:spPr>
          <a:xfrm>
            <a:off x="838200" y="1825625"/>
            <a:ext cx="6840931" cy="4351338"/>
          </a:xfrm>
        </p:spPr>
        <p:txBody>
          <a:bodyPr>
            <a:normAutofit fontScale="92500" lnSpcReduction="10000"/>
          </a:bodyPr>
          <a:lstStyle/>
          <a:p>
            <a:pPr marL="0" indent="0">
              <a:buNone/>
            </a:pPr>
            <a:r>
              <a:rPr lang="en-SG" dirty="0">
                <a:solidFill>
                  <a:srgbClr val="7030A0"/>
                </a:solidFill>
              </a:rPr>
              <a:t>R1(</a:t>
            </a:r>
            <a:r>
              <a:rPr lang="en-SG" dirty="0" err="1">
                <a:solidFill>
                  <a:srgbClr val="7030A0"/>
                </a:solidFill>
              </a:rPr>
              <a:t>config</a:t>
            </a:r>
            <a:r>
              <a:rPr lang="en-SG" dirty="0">
                <a:solidFill>
                  <a:srgbClr val="7030A0"/>
                </a:solidFill>
              </a:rPr>
              <a:t>)#ipv6 unicast-routing</a:t>
            </a:r>
          </a:p>
          <a:p>
            <a:r>
              <a:rPr lang="en-SG" dirty="0"/>
              <a:t>To activate IPv6 on the router</a:t>
            </a:r>
          </a:p>
          <a:p>
            <a:pPr marL="0" indent="0">
              <a:buNone/>
            </a:pPr>
            <a:r>
              <a:rPr lang="en-SG" dirty="0">
                <a:solidFill>
                  <a:srgbClr val="7030A0"/>
                </a:solidFill>
              </a:rPr>
              <a:t>R1(</a:t>
            </a:r>
            <a:r>
              <a:rPr lang="en-SG" dirty="0" err="1">
                <a:solidFill>
                  <a:srgbClr val="7030A0"/>
                </a:solidFill>
              </a:rPr>
              <a:t>config</a:t>
            </a:r>
            <a:r>
              <a:rPr lang="en-SG" dirty="0">
                <a:solidFill>
                  <a:srgbClr val="7030A0"/>
                </a:solidFill>
              </a:rPr>
              <a:t>)#</a:t>
            </a:r>
            <a:r>
              <a:rPr lang="en-SG" dirty="0" err="1">
                <a:solidFill>
                  <a:srgbClr val="7030A0"/>
                </a:solidFill>
              </a:rPr>
              <a:t>int</a:t>
            </a:r>
            <a:r>
              <a:rPr lang="en-SG" dirty="0">
                <a:solidFill>
                  <a:srgbClr val="7030A0"/>
                </a:solidFill>
              </a:rPr>
              <a:t> s0/0/0</a:t>
            </a:r>
          </a:p>
          <a:p>
            <a:pPr marL="0" indent="0">
              <a:buNone/>
            </a:pPr>
            <a:r>
              <a:rPr lang="en-SG" sz="2600" dirty="0">
                <a:solidFill>
                  <a:srgbClr val="7030A0"/>
                </a:solidFill>
              </a:rPr>
              <a:t>R1(</a:t>
            </a:r>
            <a:r>
              <a:rPr lang="en-SG" sz="2600" dirty="0" err="1">
                <a:solidFill>
                  <a:srgbClr val="7030A0"/>
                </a:solidFill>
              </a:rPr>
              <a:t>config</a:t>
            </a:r>
            <a:r>
              <a:rPr lang="en-SG" sz="2600" dirty="0">
                <a:solidFill>
                  <a:srgbClr val="7030A0"/>
                </a:solidFill>
              </a:rPr>
              <a:t>-if)#ipv6 add 2001:db8:café:a001::1/64</a:t>
            </a:r>
          </a:p>
          <a:p>
            <a:r>
              <a:rPr lang="en-SG" dirty="0"/>
              <a:t>To configure global IPv6 Address on the interface.</a:t>
            </a:r>
          </a:p>
          <a:p>
            <a:pPr marL="0" indent="0">
              <a:buNone/>
            </a:pPr>
            <a:r>
              <a:rPr lang="en-SG" dirty="0">
                <a:solidFill>
                  <a:srgbClr val="7030A0"/>
                </a:solidFill>
              </a:rPr>
              <a:t>R1(</a:t>
            </a:r>
            <a:r>
              <a:rPr lang="en-SG" dirty="0" err="1">
                <a:solidFill>
                  <a:srgbClr val="7030A0"/>
                </a:solidFill>
              </a:rPr>
              <a:t>config</a:t>
            </a:r>
            <a:r>
              <a:rPr lang="en-SG" dirty="0">
                <a:solidFill>
                  <a:srgbClr val="7030A0"/>
                </a:solidFill>
              </a:rPr>
              <a:t>-if)#ipv6 </a:t>
            </a:r>
            <a:r>
              <a:rPr lang="en-SG" dirty="0" err="1">
                <a:solidFill>
                  <a:srgbClr val="7030A0"/>
                </a:solidFill>
              </a:rPr>
              <a:t>addr</a:t>
            </a:r>
            <a:r>
              <a:rPr lang="en-SG" dirty="0">
                <a:solidFill>
                  <a:srgbClr val="7030A0"/>
                </a:solidFill>
              </a:rPr>
              <a:t> fe80::1 link-local</a:t>
            </a:r>
          </a:p>
          <a:p>
            <a:r>
              <a:rPr lang="en-SG" dirty="0"/>
              <a:t>To configure link local address on interface (no need prefix. Default to /10). Link local addresses are only used to ping connected routers.</a:t>
            </a:r>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3881" t="31990" r="19313" b="11197"/>
          <a:stretch/>
        </p:blipFill>
        <p:spPr bwMode="auto">
          <a:xfrm>
            <a:off x="7679131" y="1527048"/>
            <a:ext cx="4218437" cy="34999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22621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Configuring OSPFv3</a:t>
            </a:r>
          </a:p>
        </p:txBody>
      </p:sp>
      <p:sp>
        <p:nvSpPr>
          <p:cNvPr id="3" name="Content Placeholder 2"/>
          <p:cNvSpPr>
            <a:spLocks noGrp="1"/>
          </p:cNvSpPr>
          <p:nvPr>
            <p:ph idx="1"/>
          </p:nvPr>
        </p:nvSpPr>
        <p:spPr/>
        <p:txBody>
          <a:bodyPr>
            <a:normAutofit fontScale="92500" lnSpcReduction="10000"/>
          </a:bodyPr>
          <a:lstStyle/>
          <a:p>
            <a:pPr marL="0" indent="0">
              <a:buNone/>
            </a:pPr>
            <a:r>
              <a:rPr lang="en-SG" dirty="0">
                <a:solidFill>
                  <a:srgbClr val="7030A0"/>
                </a:solidFill>
              </a:rPr>
              <a:t>R1(</a:t>
            </a:r>
            <a:r>
              <a:rPr lang="en-SG" dirty="0" err="1">
                <a:solidFill>
                  <a:srgbClr val="7030A0"/>
                </a:solidFill>
              </a:rPr>
              <a:t>config</a:t>
            </a:r>
            <a:r>
              <a:rPr lang="en-SG" dirty="0">
                <a:solidFill>
                  <a:srgbClr val="7030A0"/>
                </a:solidFill>
              </a:rPr>
              <a:t>)# ipv6 router </a:t>
            </a:r>
            <a:r>
              <a:rPr lang="en-SG" dirty="0" err="1">
                <a:solidFill>
                  <a:srgbClr val="7030A0"/>
                </a:solidFill>
              </a:rPr>
              <a:t>ospf</a:t>
            </a:r>
            <a:r>
              <a:rPr lang="en-SG" dirty="0">
                <a:solidFill>
                  <a:srgbClr val="7030A0"/>
                </a:solidFill>
              </a:rPr>
              <a:t> 10</a:t>
            </a:r>
          </a:p>
          <a:p>
            <a:pPr marL="0" indent="0">
              <a:buNone/>
            </a:pPr>
            <a:r>
              <a:rPr lang="en-SG" dirty="0">
                <a:solidFill>
                  <a:srgbClr val="7030A0"/>
                </a:solidFill>
              </a:rPr>
              <a:t>R1(</a:t>
            </a:r>
            <a:r>
              <a:rPr lang="en-SG" dirty="0" err="1">
                <a:solidFill>
                  <a:srgbClr val="7030A0"/>
                </a:solidFill>
              </a:rPr>
              <a:t>config</a:t>
            </a:r>
            <a:r>
              <a:rPr lang="en-SG" dirty="0">
                <a:solidFill>
                  <a:srgbClr val="7030A0"/>
                </a:solidFill>
              </a:rPr>
              <a:t>-router)#router-id 1.1.1.1</a:t>
            </a:r>
          </a:p>
          <a:p>
            <a:r>
              <a:rPr lang="en-SG" dirty="0"/>
              <a:t>Configure OSPFv3 process with ID 10 and configure a router ID</a:t>
            </a:r>
          </a:p>
          <a:p>
            <a:pPr marL="0" indent="0">
              <a:buNone/>
            </a:pPr>
            <a:r>
              <a:rPr lang="en-SG" dirty="0">
                <a:solidFill>
                  <a:srgbClr val="7030A0"/>
                </a:solidFill>
              </a:rPr>
              <a:t>R1(</a:t>
            </a:r>
            <a:r>
              <a:rPr lang="en-SG" dirty="0" err="1">
                <a:solidFill>
                  <a:srgbClr val="7030A0"/>
                </a:solidFill>
              </a:rPr>
              <a:t>config</a:t>
            </a:r>
            <a:r>
              <a:rPr lang="en-SG" dirty="0">
                <a:solidFill>
                  <a:srgbClr val="7030A0"/>
                </a:solidFill>
              </a:rPr>
              <a:t>-if)#ipv6 </a:t>
            </a:r>
            <a:r>
              <a:rPr lang="en-SG" dirty="0" err="1">
                <a:solidFill>
                  <a:srgbClr val="7030A0"/>
                </a:solidFill>
              </a:rPr>
              <a:t>ospf</a:t>
            </a:r>
            <a:r>
              <a:rPr lang="en-SG" dirty="0">
                <a:solidFill>
                  <a:srgbClr val="7030A0"/>
                </a:solidFill>
              </a:rPr>
              <a:t> 10 area 0</a:t>
            </a:r>
          </a:p>
          <a:p>
            <a:r>
              <a:rPr lang="en-SG" dirty="0"/>
              <a:t>Each participating interface must be individually configured with the above command to advertise their network in OSPF process. The command above replaces “network” command in OSPFv2.</a:t>
            </a:r>
          </a:p>
          <a:p>
            <a:endParaRPr lang="en-SG" dirty="0"/>
          </a:p>
          <a:p>
            <a:r>
              <a:rPr lang="en-SG" dirty="0"/>
              <a:t>Further reading at: </a:t>
            </a:r>
            <a:r>
              <a:rPr lang="en-SG" dirty="0">
                <a:hlinkClick r:id="rId2"/>
              </a:rPr>
              <a:t>https://www.cisco.com/c/en/us/support/docs/ip/ip-version-6-ipv6/113328-ipv6-lla.html</a:t>
            </a:r>
            <a:endParaRPr lang="en-SG" dirty="0"/>
          </a:p>
          <a:p>
            <a:endParaRPr lang="en-SG" dirty="0"/>
          </a:p>
        </p:txBody>
      </p:sp>
    </p:spTree>
    <p:extLst>
      <p:ext uri="{BB962C8B-B14F-4D97-AF65-F5344CB8AC3E}">
        <p14:creationId xmlns:p14="http://schemas.microsoft.com/office/powerpoint/2010/main" val="28013030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Verifying OSPFv3</a:t>
            </a:r>
          </a:p>
        </p:txBody>
      </p:sp>
      <p:sp>
        <p:nvSpPr>
          <p:cNvPr id="3" name="Content Placeholder 2"/>
          <p:cNvSpPr>
            <a:spLocks noGrp="1"/>
          </p:cNvSpPr>
          <p:nvPr>
            <p:ph idx="1"/>
          </p:nvPr>
        </p:nvSpPr>
        <p:spPr/>
        <p:txBody>
          <a:bodyPr>
            <a:normAutofit lnSpcReduction="10000"/>
          </a:bodyPr>
          <a:lstStyle/>
          <a:p>
            <a:pPr marL="0" indent="0">
              <a:buNone/>
            </a:pPr>
            <a:r>
              <a:rPr lang="en-SG" dirty="0">
                <a:solidFill>
                  <a:srgbClr val="7030A0"/>
                </a:solidFill>
              </a:rPr>
              <a:t>#Show ipv6 protocols</a:t>
            </a:r>
          </a:p>
          <a:p>
            <a:r>
              <a:rPr lang="en-SG" dirty="0"/>
              <a:t>Shows info about configured ipv6 protocols such as process ID, router ID, Area.</a:t>
            </a:r>
          </a:p>
          <a:p>
            <a:pPr marL="0" indent="0">
              <a:buNone/>
            </a:pPr>
            <a:r>
              <a:rPr lang="en-SG" dirty="0">
                <a:solidFill>
                  <a:srgbClr val="7030A0"/>
                </a:solidFill>
              </a:rPr>
              <a:t>#Show ipv6 </a:t>
            </a:r>
            <a:r>
              <a:rPr lang="en-SG" dirty="0" err="1">
                <a:solidFill>
                  <a:srgbClr val="7030A0"/>
                </a:solidFill>
              </a:rPr>
              <a:t>ospf</a:t>
            </a:r>
            <a:r>
              <a:rPr lang="en-SG" dirty="0">
                <a:solidFill>
                  <a:srgbClr val="7030A0"/>
                </a:solidFill>
              </a:rPr>
              <a:t> </a:t>
            </a:r>
            <a:r>
              <a:rPr lang="en-SG" dirty="0" err="1">
                <a:solidFill>
                  <a:srgbClr val="7030A0"/>
                </a:solidFill>
              </a:rPr>
              <a:t>neighbor</a:t>
            </a:r>
            <a:endParaRPr lang="en-SG" dirty="0">
              <a:solidFill>
                <a:srgbClr val="7030A0"/>
              </a:solidFill>
            </a:endParaRPr>
          </a:p>
          <a:p>
            <a:r>
              <a:rPr lang="en-SG" dirty="0"/>
              <a:t>Shows established OSPF neighbour adjacencies</a:t>
            </a:r>
          </a:p>
          <a:p>
            <a:pPr marL="0" indent="0">
              <a:buNone/>
            </a:pPr>
            <a:r>
              <a:rPr lang="en-SG" dirty="0">
                <a:solidFill>
                  <a:srgbClr val="7030A0"/>
                </a:solidFill>
              </a:rPr>
              <a:t>#Show ipv6 </a:t>
            </a:r>
            <a:r>
              <a:rPr lang="en-SG" dirty="0" err="1">
                <a:solidFill>
                  <a:srgbClr val="7030A0"/>
                </a:solidFill>
              </a:rPr>
              <a:t>ospf</a:t>
            </a:r>
            <a:r>
              <a:rPr lang="en-SG" dirty="0">
                <a:solidFill>
                  <a:srgbClr val="7030A0"/>
                </a:solidFill>
              </a:rPr>
              <a:t> interface</a:t>
            </a:r>
          </a:p>
          <a:p>
            <a:pPr marL="0" indent="0">
              <a:buNone/>
            </a:pPr>
            <a:r>
              <a:rPr lang="en-SG" dirty="0"/>
              <a:t>Shows all of protocol information and hello intervals</a:t>
            </a:r>
          </a:p>
          <a:p>
            <a:pPr marL="0" indent="0">
              <a:buNone/>
            </a:pPr>
            <a:r>
              <a:rPr lang="en-SG" dirty="0">
                <a:solidFill>
                  <a:srgbClr val="7030A0"/>
                </a:solidFill>
              </a:rPr>
              <a:t>#show ipv6 route</a:t>
            </a:r>
          </a:p>
          <a:p>
            <a:pPr marL="0" indent="0">
              <a:buNone/>
            </a:pPr>
            <a:r>
              <a:rPr lang="en-SG" dirty="0"/>
              <a:t>Shows the </a:t>
            </a:r>
            <a:r>
              <a:rPr lang="en-SG" dirty="0" err="1"/>
              <a:t>IPv</a:t>
            </a:r>
            <a:r>
              <a:rPr lang="en-SG" dirty="0"/>
              <a:t> Routing table</a:t>
            </a:r>
          </a:p>
        </p:txBody>
      </p:sp>
    </p:spTree>
    <p:extLst>
      <p:ext uri="{BB962C8B-B14F-4D97-AF65-F5344CB8AC3E}">
        <p14:creationId xmlns:p14="http://schemas.microsoft.com/office/powerpoint/2010/main" val="13227409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IPv6 Routing table</a:t>
            </a:r>
          </a:p>
        </p:txBody>
      </p:sp>
      <p:sp>
        <p:nvSpPr>
          <p:cNvPr id="3" name="Content Placeholder 2"/>
          <p:cNvSpPr>
            <a:spLocks noGrp="1"/>
          </p:cNvSpPr>
          <p:nvPr>
            <p:ph idx="1"/>
          </p:nvPr>
        </p:nvSpPr>
        <p:spPr>
          <a:xfrm>
            <a:off x="838200" y="1825625"/>
            <a:ext cx="4601967" cy="4351338"/>
          </a:xfrm>
        </p:spPr>
        <p:txBody>
          <a:bodyPr/>
          <a:lstStyle/>
          <a:p>
            <a:r>
              <a:rPr lang="en-SG" dirty="0"/>
              <a:t>Router R1 has learned 3 remote networks via OSPF</a:t>
            </a:r>
          </a:p>
          <a:p>
            <a:r>
              <a:rPr lang="en-SG" dirty="0"/>
              <a:t>Notice that they learn the global ipv6 destination routes through the link local interfaces </a:t>
            </a:r>
          </a:p>
          <a:p>
            <a:endParaRPr lang="en-SG" dirty="0"/>
          </a:p>
        </p:txBody>
      </p:sp>
      <p:pic>
        <p:nvPicPr>
          <p:cNvPr id="4" name="Picture 3"/>
          <p:cNvPicPr>
            <a:picLocks noChangeAspect="1"/>
          </p:cNvPicPr>
          <p:nvPr/>
        </p:nvPicPr>
        <p:blipFill>
          <a:blip r:embed="rId2"/>
          <a:stretch>
            <a:fillRect/>
          </a:stretch>
        </p:blipFill>
        <p:spPr>
          <a:xfrm>
            <a:off x="5933943" y="1260904"/>
            <a:ext cx="5913633" cy="5480779"/>
          </a:xfrm>
          <a:prstGeom prst="rect">
            <a:avLst/>
          </a:prstGeom>
        </p:spPr>
      </p:pic>
    </p:spTree>
    <p:extLst>
      <p:ext uri="{BB962C8B-B14F-4D97-AF65-F5344CB8AC3E}">
        <p14:creationId xmlns:p14="http://schemas.microsoft.com/office/powerpoint/2010/main" val="39353281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SG" dirty="0"/>
              <a:t>THE END</a:t>
            </a:r>
          </a:p>
        </p:txBody>
      </p:sp>
      <p:sp>
        <p:nvSpPr>
          <p:cNvPr id="5" name="Subtitle 4"/>
          <p:cNvSpPr>
            <a:spLocks noGrp="1"/>
          </p:cNvSpPr>
          <p:nvPr>
            <p:ph type="subTitle" idx="1"/>
          </p:nvPr>
        </p:nvSpPr>
        <p:spPr/>
        <p:txBody>
          <a:bodyPr/>
          <a:lstStyle/>
          <a:p>
            <a:endParaRPr lang="en-SG"/>
          </a:p>
        </p:txBody>
      </p:sp>
    </p:spTree>
    <p:extLst>
      <p:ext uri="{BB962C8B-B14F-4D97-AF65-F5344CB8AC3E}">
        <p14:creationId xmlns:p14="http://schemas.microsoft.com/office/powerpoint/2010/main" val="3925478750"/>
      </p:ext>
    </p:extLst>
  </p:cSld>
  <p:clrMapOvr>
    <a:masterClrMapping/>
  </p:clrMapOvr>
</p:sld>
</file>

<file path=ppt/theme/theme1.xml><?xml version="1.0" encoding="utf-8"?>
<a:theme xmlns:a="http://schemas.openxmlformats.org/drawingml/2006/main" name="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 id="{C1C5D1BB-B8B3-449E-ABE3-BD1ADC446175}" vid="{8783730B-F0DD-45C7-9301-B01A4242EBAF}"/>
    </a:ext>
  </a:extLst>
</a:theme>
</file>

<file path=docProps/app.xml><?xml version="1.0" encoding="utf-8"?>
<Properties xmlns="http://schemas.openxmlformats.org/officeDocument/2006/extended-properties" xmlns:vt="http://schemas.openxmlformats.org/officeDocument/2006/docPropsVTypes">
  <Template>Theme</Template>
  <TotalTime>2194</TotalTime>
  <Words>841</Words>
  <Application>Microsoft Office PowerPoint</Application>
  <PresentationFormat>Widescreen</PresentationFormat>
  <Paragraphs>104</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Courier New</vt:lpstr>
      <vt:lpstr>Gill Sans MT</vt:lpstr>
      <vt:lpstr>Theme</vt:lpstr>
      <vt:lpstr>OSPF Routing</vt:lpstr>
      <vt:lpstr>Learning Outcomes</vt:lpstr>
      <vt:lpstr>Introduction to OSPF</vt:lpstr>
      <vt:lpstr>OSPF Packet Types</vt:lpstr>
      <vt:lpstr>Hello Packet and Neighbour Establishment</vt:lpstr>
      <vt:lpstr>Administrative Distance</vt:lpstr>
      <vt:lpstr>OSPFv2 Configuration</vt:lpstr>
      <vt:lpstr>Enabling OSPFv2 Routing</vt:lpstr>
      <vt:lpstr>Router ID and Network statement</vt:lpstr>
      <vt:lpstr>OSPF Passive Interface</vt:lpstr>
      <vt:lpstr>Verifying OSPFv2 operation</vt:lpstr>
      <vt:lpstr>Verify OSPFv2 Operation</vt:lpstr>
      <vt:lpstr>Similarities between OSPFv3 and OSPFv2</vt:lpstr>
      <vt:lpstr>Differences between OSPFv2 and OSPFv3</vt:lpstr>
      <vt:lpstr>Configuring IPv6 Interface</vt:lpstr>
      <vt:lpstr>Configuring OSPFv3</vt:lpstr>
      <vt:lpstr>Verifying OSPFv3</vt:lpstr>
      <vt:lpstr>IPv6 Routing table</vt:lpstr>
      <vt:lpstr>THE END</vt:lpstr>
    </vt:vector>
  </TitlesOfParts>
  <Company>Nanyang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ARTHI CHANDRASEKARAN</dc:creator>
  <cp:lastModifiedBy>ARTHI CHANDRASEKARAN</cp:lastModifiedBy>
  <cp:revision>41</cp:revision>
  <dcterms:created xsi:type="dcterms:W3CDTF">2017-09-11T07:21:26Z</dcterms:created>
  <dcterms:modified xsi:type="dcterms:W3CDTF">2018-10-30T04:52:36Z</dcterms:modified>
</cp:coreProperties>
</file>