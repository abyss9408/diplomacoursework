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8" r:id="rId3"/>
    <p:sldId id="257" r:id="rId4"/>
    <p:sldId id="275" r:id="rId5"/>
    <p:sldId id="261" r:id="rId6"/>
    <p:sldId id="285" r:id="rId7"/>
    <p:sldId id="259" r:id="rId8"/>
    <p:sldId id="260" r:id="rId9"/>
    <p:sldId id="262" r:id="rId10"/>
    <p:sldId id="264" r:id="rId11"/>
    <p:sldId id="265" r:id="rId12"/>
    <p:sldId id="266" r:id="rId13"/>
    <p:sldId id="270" r:id="rId14"/>
    <p:sldId id="277" r:id="rId15"/>
    <p:sldId id="278" r:id="rId16"/>
    <p:sldId id="279" r:id="rId17"/>
    <p:sldId id="280" r:id="rId18"/>
    <p:sldId id="281" r:id="rId19"/>
    <p:sldId id="28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00" autoAdjust="0"/>
    <p:restoredTop sz="91566" autoAdjust="0"/>
  </p:normalViewPr>
  <p:slideViewPr>
    <p:cSldViewPr snapToGrid="0">
      <p:cViewPr varScale="1">
        <p:scale>
          <a:sx n="63" d="100"/>
          <a:sy n="63" d="100"/>
        </p:scale>
        <p:origin x="106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7C6618-20A5-4CCC-9DCF-5573C6DD2272}" type="datetimeFigureOut">
              <a:rPr lang="en-SG" smtClean="0"/>
              <a:t>9/10/2018</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889759-DCC2-4B2A-B80A-C1650215F436}" type="slidenum">
              <a:rPr lang="en-SG" smtClean="0"/>
              <a:t>‹#›</a:t>
            </a:fld>
            <a:endParaRPr lang="en-SG"/>
          </a:p>
        </p:txBody>
      </p:sp>
    </p:spTree>
    <p:extLst>
      <p:ext uri="{BB962C8B-B14F-4D97-AF65-F5344CB8AC3E}">
        <p14:creationId xmlns:p14="http://schemas.microsoft.com/office/powerpoint/2010/main" val="3930920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WqjpBn-0oI4"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https://www.youtube.com/watch?v=wKtA31whDSQ</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200" dirty="0">
                <a:hlinkClick r:id="rId3"/>
              </a:rPr>
              <a:t>https://www.youtube.com/watch?v=WqjpBn-0oI4</a:t>
            </a:r>
            <a:endParaRPr lang="en-SG" sz="1200" dirty="0"/>
          </a:p>
          <a:p>
            <a:endParaRPr lang="en-SG" dirty="0"/>
          </a:p>
          <a:p>
            <a:endParaRPr lang="en-SG" dirty="0"/>
          </a:p>
        </p:txBody>
      </p:sp>
      <p:sp>
        <p:nvSpPr>
          <p:cNvPr id="4" name="Slide Number Placeholder 3"/>
          <p:cNvSpPr>
            <a:spLocks noGrp="1"/>
          </p:cNvSpPr>
          <p:nvPr>
            <p:ph type="sldNum" sz="quarter" idx="10"/>
          </p:nvPr>
        </p:nvSpPr>
        <p:spPr/>
        <p:txBody>
          <a:bodyPr/>
          <a:lstStyle/>
          <a:p>
            <a:fld id="{CD889759-DCC2-4B2A-B80A-C1650215F436}" type="slidenum">
              <a:rPr lang="en-SG" smtClean="0"/>
              <a:t>5</a:t>
            </a:fld>
            <a:endParaRPr lang="en-SG"/>
          </a:p>
        </p:txBody>
      </p:sp>
    </p:spTree>
    <p:extLst>
      <p:ext uri="{BB962C8B-B14F-4D97-AF65-F5344CB8AC3E}">
        <p14:creationId xmlns:p14="http://schemas.microsoft.com/office/powerpoint/2010/main" val="2929934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In interval T0, inbound traffic is accepted as its rate never exceeds the rising threshold. In T1, the rising threshold is exceeded, and the switch makes a note to block incoming traffic for the next interval. In T2, traffic is blocked, but the switch continues to monitor the incoming rate. Although the rate has fallen below the rising threshold, it still exceeds the falling threshold, so the switch will continue to block traffic for the next interval.</a:t>
            </a:r>
          </a:p>
          <a:p>
            <a:r>
              <a:rPr lang="en-SG" sz="1200" b="0" i="0" kern="1200" dirty="0">
                <a:solidFill>
                  <a:schemeClr val="tx1"/>
                </a:solidFill>
                <a:effectLst/>
                <a:latin typeface="+mn-lt"/>
                <a:ea typeface="+mn-ea"/>
                <a:cs typeface="+mn-cs"/>
              </a:rPr>
              <a:t>During T3, traffic stays below the falling interval, so the switch removes the blocking for T4. Although traffic in T4 exceeds the falling threshold again, traffic will not be blocked for the next interval as the rising threshold hasn't been exceeded.</a:t>
            </a:r>
          </a:p>
          <a:p>
            <a:endParaRPr lang="en-SG" dirty="0"/>
          </a:p>
        </p:txBody>
      </p:sp>
      <p:sp>
        <p:nvSpPr>
          <p:cNvPr id="4" name="Slide Number Placeholder 3"/>
          <p:cNvSpPr>
            <a:spLocks noGrp="1"/>
          </p:cNvSpPr>
          <p:nvPr>
            <p:ph type="sldNum" sz="quarter" idx="10"/>
          </p:nvPr>
        </p:nvSpPr>
        <p:spPr/>
        <p:txBody>
          <a:bodyPr/>
          <a:lstStyle/>
          <a:p>
            <a:fld id="{CD889759-DCC2-4B2A-B80A-C1650215F436}" type="slidenum">
              <a:rPr lang="en-SG" smtClean="0"/>
              <a:t>18</a:t>
            </a:fld>
            <a:endParaRPr lang="en-SG"/>
          </a:p>
        </p:txBody>
      </p:sp>
    </p:spTree>
    <p:extLst>
      <p:ext uri="{BB962C8B-B14F-4D97-AF65-F5344CB8AC3E}">
        <p14:creationId xmlns:p14="http://schemas.microsoft.com/office/powerpoint/2010/main" val="2660409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Gill Sans MT" panose="020B0502020104020203" pitchFamily="34" charset="0"/>
              </a:defRPr>
            </a:lvl1pPr>
          </a:lstStyle>
          <a:p>
            <a:r>
              <a:rPr lang="en-US"/>
              <a:t>Click to edit Master title style</a:t>
            </a:r>
            <a:endParaRPr lang="en-SG"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Gill Sans MT" panose="020B05020201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B0549124-60D6-4E0F-AEE3-1E2EE87C9519}" type="datetimeFigureOut">
              <a:rPr lang="en-SG" smtClean="0"/>
              <a:t>9/10/2018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2351289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0"/>
              </a:defRPr>
            </a:lvl1pPr>
          </a:lstStyle>
          <a:p>
            <a:r>
              <a:rPr lang="en-US"/>
              <a:t>Click to edit Master title style</a:t>
            </a:r>
            <a:endParaRPr lang="en-SG" dirty="0"/>
          </a:p>
        </p:txBody>
      </p:sp>
      <p:sp>
        <p:nvSpPr>
          <p:cNvPr id="3" name="Content Placeholder 2"/>
          <p:cNvSpPr>
            <a:spLocks noGrp="1"/>
          </p:cNvSpPr>
          <p:nvPr>
            <p:ph idx="1"/>
          </p:nvPr>
        </p:nvSpPr>
        <p:spPr/>
        <p:txBody>
          <a:bodyPr>
            <a:normAutofit/>
          </a:bodyPr>
          <a:lstStyle>
            <a:lvl1pPr>
              <a:defRPr sz="2800">
                <a:latin typeface="Gill Sans MT" panose="020B0502020104020203" pitchFamily="34" charset="0"/>
              </a:defRPr>
            </a:lvl1pPr>
            <a:lvl2pPr>
              <a:defRPr sz="2400">
                <a:latin typeface="Gill Sans MT" panose="020B0502020104020203" pitchFamily="34" charset="0"/>
              </a:defRPr>
            </a:lvl2pPr>
            <a:lvl3pPr>
              <a:defRPr sz="2000">
                <a:latin typeface="Gill Sans MT" panose="020B0502020104020203" pitchFamily="34" charset="0"/>
              </a:defRPr>
            </a:lvl3pPr>
            <a:lvl4pPr>
              <a:defRPr sz="1800">
                <a:latin typeface="Gill Sans MT" panose="020B0502020104020203" pitchFamily="34" charset="0"/>
              </a:defRPr>
            </a:lvl4pPr>
            <a:lvl5pPr>
              <a:defRPr sz="1800">
                <a:latin typeface="Gill Sans MT" panose="020B05020201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dirty="0"/>
          </a:p>
        </p:txBody>
      </p:sp>
      <p:sp>
        <p:nvSpPr>
          <p:cNvPr id="4" name="Date Placeholder 3"/>
          <p:cNvSpPr>
            <a:spLocks noGrp="1"/>
          </p:cNvSpPr>
          <p:nvPr>
            <p:ph type="dt" sz="half" idx="10"/>
          </p:nvPr>
        </p:nvSpPr>
        <p:spPr/>
        <p:txBody>
          <a:bodyPr/>
          <a:lstStyle/>
          <a:p>
            <a:fld id="{B0549124-60D6-4E0F-AEE3-1E2EE87C9519}" type="datetimeFigureOut">
              <a:rPr lang="en-SG" smtClean="0"/>
              <a:t>9/10/2018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1562130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549124-60D6-4E0F-AEE3-1E2EE87C9519}" type="datetimeFigureOut">
              <a:rPr lang="en-SG" smtClean="0"/>
              <a:t>9/10/2018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1062222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B0549124-60D6-4E0F-AEE3-1E2EE87C9519}" type="datetimeFigureOut">
              <a:rPr lang="en-SG" smtClean="0"/>
              <a:t>9/10/2018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1396339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B0549124-60D6-4E0F-AEE3-1E2EE87C9519}" type="datetimeFigureOut">
              <a:rPr lang="en-SG" smtClean="0"/>
              <a:t>9/10/2018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2075813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B0549124-60D6-4E0F-AEE3-1E2EE87C9519}" type="datetimeFigureOut">
              <a:rPr lang="en-SG" smtClean="0"/>
              <a:t>9/10/2018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2919572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49124-60D6-4E0F-AEE3-1E2EE87C9519}" type="datetimeFigureOut">
              <a:rPr lang="en-SG" smtClean="0"/>
              <a:t>9/10/2018</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3922268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549124-60D6-4E0F-AEE3-1E2EE87C9519}" type="datetimeFigureOut">
              <a:rPr lang="en-SG" smtClean="0"/>
              <a:t>9/10/2018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1785620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549124-60D6-4E0F-AEE3-1E2EE87C9519}" type="datetimeFigureOut">
              <a:rPr lang="en-SG" smtClean="0"/>
              <a:t>9/10/2018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879796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0549124-60D6-4E0F-AEE3-1E2EE87C9519}" type="datetimeFigureOut">
              <a:rPr lang="en-SG" smtClean="0"/>
              <a:t>9/10/2018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216854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B0549124-60D6-4E0F-AEE3-1E2EE87C9519}" type="datetimeFigureOut">
              <a:rPr lang="en-SG" smtClean="0"/>
              <a:t>9/10/2018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DFAFE7CC-A2E4-446A-BA63-90C43B611740}" type="slidenum">
              <a:rPr lang="en-SG" smtClean="0"/>
              <a:t>‹#›</a:t>
            </a:fld>
            <a:endParaRPr lang="en-SG"/>
          </a:p>
        </p:txBody>
      </p:sp>
    </p:spTree>
    <p:extLst>
      <p:ext uri="{BB962C8B-B14F-4D97-AF65-F5344CB8AC3E}">
        <p14:creationId xmlns:p14="http://schemas.microsoft.com/office/powerpoint/2010/main" val="4205922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49124-60D6-4E0F-AEE3-1E2EE87C9519}" type="datetimeFigureOut">
              <a:rPr lang="en-SG" smtClean="0"/>
              <a:t>9/10/2018</a:t>
            </a:fld>
            <a:endParaRPr lang="en-S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FE7CC-A2E4-446A-BA63-90C43B611740}" type="slidenum">
              <a:rPr lang="en-SG" smtClean="0"/>
              <a:t>‹#›</a:t>
            </a:fld>
            <a:endParaRPr lang="en-SG"/>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785445" y="156548"/>
            <a:ext cx="2347642" cy="514020"/>
          </a:xfrm>
          <a:prstGeom prst="rect">
            <a:avLst/>
          </a:prstGeom>
        </p:spPr>
      </p:pic>
    </p:spTree>
    <p:extLst>
      <p:ext uri="{BB962C8B-B14F-4D97-AF65-F5344CB8AC3E}">
        <p14:creationId xmlns:p14="http://schemas.microsoft.com/office/powerpoint/2010/main" val="31699228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Gill Sans MT" panose="020B0502020104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ill Sans MT" panose="020B0502020104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ill Sans MT" panose="020B0502020104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ill Sans MT" panose="020B0502020104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ill Sans MT" panose="020B0502020104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packetlife.net/blog/2008/nov/27/storm-contro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a:t>Protocol Security</a:t>
            </a:r>
          </a:p>
        </p:txBody>
      </p:sp>
      <p:sp>
        <p:nvSpPr>
          <p:cNvPr id="3" name="Subtitle 2"/>
          <p:cNvSpPr>
            <a:spLocks noGrp="1"/>
          </p:cNvSpPr>
          <p:nvPr>
            <p:ph type="subTitle" idx="1"/>
          </p:nvPr>
        </p:nvSpPr>
        <p:spPr/>
        <p:txBody>
          <a:bodyPr/>
          <a:lstStyle/>
          <a:p>
            <a:r>
              <a:rPr lang="en-SG" dirty="0"/>
              <a:t>Chapter 3</a:t>
            </a:r>
          </a:p>
        </p:txBody>
      </p:sp>
    </p:spTree>
    <p:extLst>
      <p:ext uri="{BB962C8B-B14F-4D97-AF65-F5344CB8AC3E}">
        <p14:creationId xmlns:p14="http://schemas.microsoft.com/office/powerpoint/2010/main" val="3028933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Learning Outcomes</a:t>
            </a:r>
          </a:p>
        </p:txBody>
      </p:sp>
      <p:sp>
        <p:nvSpPr>
          <p:cNvPr id="3" name="Content Placeholder 2"/>
          <p:cNvSpPr>
            <a:spLocks noGrp="1"/>
          </p:cNvSpPr>
          <p:nvPr>
            <p:ph idx="1"/>
          </p:nvPr>
        </p:nvSpPr>
        <p:spPr/>
        <p:txBody>
          <a:bodyPr/>
          <a:lstStyle/>
          <a:p>
            <a:r>
              <a:rPr lang="en-SG" dirty="0"/>
              <a:t>Identify the various types of attacks on a switch and implement secure switch configuration by using mitigation techniques.</a:t>
            </a:r>
          </a:p>
          <a:p>
            <a:endParaRPr lang="en-SG" dirty="0"/>
          </a:p>
          <a:p>
            <a:pPr marL="0" indent="0">
              <a:buNone/>
            </a:pPr>
            <a:endParaRPr lang="en-SG" dirty="0"/>
          </a:p>
        </p:txBody>
      </p:sp>
    </p:spTree>
    <p:extLst>
      <p:ext uri="{BB962C8B-B14F-4D97-AF65-F5344CB8AC3E}">
        <p14:creationId xmlns:p14="http://schemas.microsoft.com/office/powerpoint/2010/main" val="1824529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Protecting the Layer 2 and 3 Switch</a:t>
            </a:r>
          </a:p>
        </p:txBody>
      </p:sp>
      <p:sp>
        <p:nvSpPr>
          <p:cNvPr id="3" name="Content Placeholder 2"/>
          <p:cNvSpPr>
            <a:spLocks noGrp="1"/>
          </p:cNvSpPr>
          <p:nvPr>
            <p:ph idx="1"/>
          </p:nvPr>
        </p:nvSpPr>
        <p:spPr>
          <a:xfrm>
            <a:off x="838200" y="1825625"/>
            <a:ext cx="10515600" cy="4708990"/>
          </a:xfrm>
        </p:spPr>
        <p:txBody>
          <a:bodyPr>
            <a:normAutofit/>
          </a:bodyPr>
          <a:lstStyle/>
          <a:p>
            <a:pPr marL="0" indent="0">
              <a:buNone/>
            </a:pPr>
            <a:r>
              <a:rPr lang="en-SG" dirty="0"/>
              <a:t>The switch plays an important role in any network and it is vital to secure them against network attacks. Most of these attacks occur internal to the network (i.e. attacker has physical access to the network/ LAN point in order to launch these attacks)</a:t>
            </a:r>
          </a:p>
          <a:p>
            <a:pPr marL="0" indent="0">
              <a:buNone/>
            </a:pPr>
            <a:r>
              <a:rPr lang="en-SG" b="1" u="sng" dirty="0"/>
              <a:t>Types of Attacks:</a:t>
            </a:r>
          </a:p>
          <a:p>
            <a:r>
              <a:rPr lang="en-SG" dirty="0"/>
              <a:t>MAC address spoofing</a:t>
            </a:r>
          </a:p>
          <a:p>
            <a:r>
              <a:rPr lang="en-SG" dirty="0"/>
              <a:t>MAC address table overflows</a:t>
            </a:r>
          </a:p>
          <a:p>
            <a:r>
              <a:rPr lang="en-SG" dirty="0"/>
              <a:t>LAN storms</a:t>
            </a:r>
          </a:p>
        </p:txBody>
      </p:sp>
    </p:spTree>
    <p:extLst>
      <p:ext uri="{BB962C8B-B14F-4D97-AF65-F5344CB8AC3E}">
        <p14:creationId xmlns:p14="http://schemas.microsoft.com/office/powerpoint/2010/main" val="202414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Types of Attacks:</a:t>
            </a:r>
          </a:p>
        </p:txBody>
      </p:sp>
      <p:sp>
        <p:nvSpPr>
          <p:cNvPr id="3" name="Content Placeholder 2"/>
          <p:cNvSpPr>
            <a:spLocks noGrp="1"/>
          </p:cNvSpPr>
          <p:nvPr>
            <p:ph idx="1"/>
          </p:nvPr>
        </p:nvSpPr>
        <p:spPr/>
        <p:txBody>
          <a:bodyPr/>
          <a:lstStyle/>
          <a:p>
            <a:r>
              <a:rPr lang="en-SG" dirty="0"/>
              <a:t>MAC address spoofing</a:t>
            </a:r>
          </a:p>
          <a:p>
            <a:r>
              <a:rPr lang="en-SG" dirty="0"/>
              <a:t>MAC address table overflows</a:t>
            </a:r>
          </a:p>
          <a:p>
            <a:r>
              <a:rPr lang="en-SG" dirty="0">
                <a:solidFill>
                  <a:schemeClr val="bg1">
                    <a:lumMod val="75000"/>
                  </a:schemeClr>
                </a:solidFill>
              </a:rPr>
              <a:t>LAN storms</a:t>
            </a:r>
          </a:p>
          <a:p>
            <a:pPr marL="0" indent="0">
              <a:buNone/>
            </a:pPr>
            <a:endParaRPr lang="en-SG" dirty="0"/>
          </a:p>
        </p:txBody>
      </p:sp>
    </p:spTree>
    <p:extLst>
      <p:ext uri="{BB962C8B-B14F-4D97-AF65-F5344CB8AC3E}">
        <p14:creationId xmlns:p14="http://schemas.microsoft.com/office/powerpoint/2010/main" val="2814316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flipH="1" flipV="1">
            <a:off x="4352283" y="2974182"/>
            <a:ext cx="4513112" cy="232860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4931475" y="2754398"/>
            <a:ext cx="3836287" cy="316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38199" y="450185"/>
            <a:ext cx="10980761" cy="1325563"/>
          </a:xfrm>
        </p:spPr>
        <p:txBody>
          <a:bodyPr/>
          <a:lstStyle/>
          <a:p>
            <a:r>
              <a:rPr lang="en-SG" dirty="0"/>
              <a:t>How does MAC address table in switch work?</a:t>
            </a:r>
          </a:p>
        </p:txBody>
      </p:sp>
      <p:sp>
        <p:nvSpPr>
          <p:cNvPr id="3" name="Content Placeholder 2"/>
          <p:cNvSpPr>
            <a:spLocks noGrp="1"/>
          </p:cNvSpPr>
          <p:nvPr>
            <p:ph idx="1"/>
          </p:nvPr>
        </p:nvSpPr>
        <p:spPr>
          <a:xfrm>
            <a:off x="610839" y="1428836"/>
            <a:ext cx="7873649" cy="483804"/>
          </a:xfrm>
        </p:spPr>
        <p:txBody>
          <a:bodyPr>
            <a:normAutofit/>
          </a:bodyPr>
          <a:lstStyle/>
          <a:p>
            <a:pPr marL="0" indent="0">
              <a:buNone/>
            </a:pPr>
            <a:endParaRPr lang="en-SG" sz="2400" dirty="0"/>
          </a:p>
          <a:p>
            <a:pPr marL="0" indent="0">
              <a:buNone/>
            </a:pPr>
            <a:endParaRPr lang="en-SG" sz="2400" dirty="0"/>
          </a:p>
        </p:txBody>
      </p:sp>
      <p:pic>
        <p:nvPicPr>
          <p:cNvPr id="1026" name="Picture 2" descr="Image result for switc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6166" y="1496035"/>
            <a:ext cx="4474181" cy="25167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7929562" y="2055273"/>
            <a:ext cx="2400300" cy="1800225"/>
          </a:xfrm>
          <a:prstGeom prst="rect">
            <a:avLst/>
          </a:prstGeom>
        </p:spPr>
      </p:pic>
      <p:pic>
        <p:nvPicPr>
          <p:cNvPr id="7" name="Picture 6"/>
          <p:cNvPicPr>
            <a:picLocks noChangeAspect="1"/>
          </p:cNvPicPr>
          <p:nvPr/>
        </p:nvPicPr>
        <p:blipFill>
          <a:blip r:embed="rId4"/>
          <a:stretch>
            <a:fillRect/>
          </a:stretch>
        </p:blipFill>
        <p:spPr>
          <a:xfrm>
            <a:off x="8484488" y="4571287"/>
            <a:ext cx="2400300" cy="1800225"/>
          </a:xfrm>
          <a:prstGeom prst="rect">
            <a:avLst/>
          </a:prstGeom>
        </p:spPr>
      </p:pic>
      <p:sp>
        <p:nvSpPr>
          <p:cNvPr id="6" name="TextBox 5"/>
          <p:cNvSpPr txBox="1"/>
          <p:nvPr/>
        </p:nvSpPr>
        <p:spPr>
          <a:xfrm>
            <a:off x="9051131" y="3485841"/>
            <a:ext cx="2586038" cy="646331"/>
          </a:xfrm>
          <a:prstGeom prst="rect">
            <a:avLst/>
          </a:prstGeom>
          <a:noFill/>
        </p:spPr>
        <p:txBody>
          <a:bodyPr wrap="square" rtlCol="0">
            <a:spAutoFit/>
          </a:bodyPr>
          <a:lstStyle/>
          <a:p>
            <a:r>
              <a:rPr lang="en-SG" dirty="0"/>
              <a:t>PCA with MAC=1111:1111:1111</a:t>
            </a:r>
          </a:p>
        </p:txBody>
      </p:sp>
      <p:sp>
        <p:nvSpPr>
          <p:cNvPr id="9" name="TextBox 8"/>
          <p:cNvSpPr txBox="1"/>
          <p:nvPr/>
        </p:nvSpPr>
        <p:spPr>
          <a:xfrm>
            <a:off x="8930822" y="6095849"/>
            <a:ext cx="2586038" cy="646331"/>
          </a:xfrm>
          <a:prstGeom prst="rect">
            <a:avLst/>
          </a:prstGeom>
          <a:noFill/>
        </p:spPr>
        <p:txBody>
          <a:bodyPr wrap="square" rtlCol="0">
            <a:spAutoFit/>
          </a:bodyPr>
          <a:lstStyle/>
          <a:p>
            <a:r>
              <a:rPr lang="en-SG" dirty="0"/>
              <a:t>PCB with MAC=2222:2222:2222</a:t>
            </a:r>
          </a:p>
        </p:txBody>
      </p:sp>
      <p:graphicFrame>
        <p:nvGraphicFramePr>
          <p:cNvPr id="8" name="Table 7"/>
          <p:cNvGraphicFramePr>
            <a:graphicFrameLocks noGrp="1"/>
          </p:cNvGraphicFramePr>
          <p:nvPr>
            <p:extLst>
              <p:ext uri="{D42A27DB-BD31-4B8C-83A1-F6EECF244321}">
                <p14:modId xmlns:p14="http://schemas.microsoft.com/office/powerpoint/2010/main" val="790586125"/>
              </p:ext>
            </p:extLst>
          </p:nvPr>
        </p:nvGraphicFramePr>
        <p:xfrm>
          <a:off x="712245" y="3657741"/>
          <a:ext cx="4187032" cy="1463040"/>
        </p:xfrm>
        <a:graphic>
          <a:graphicData uri="http://schemas.openxmlformats.org/drawingml/2006/table">
            <a:tbl>
              <a:tblPr firstRow="1" bandRow="1">
                <a:tableStyleId>{5A111915-BE36-4E01-A7E5-04B1672EAD32}</a:tableStyleId>
              </a:tblPr>
              <a:tblGrid>
                <a:gridCol w="2093516">
                  <a:extLst>
                    <a:ext uri="{9D8B030D-6E8A-4147-A177-3AD203B41FA5}">
                      <a16:colId xmlns:a16="http://schemas.microsoft.com/office/drawing/2014/main" val="105631402"/>
                    </a:ext>
                  </a:extLst>
                </a:gridCol>
                <a:gridCol w="2093516">
                  <a:extLst>
                    <a:ext uri="{9D8B030D-6E8A-4147-A177-3AD203B41FA5}">
                      <a16:colId xmlns:a16="http://schemas.microsoft.com/office/drawing/2014/main" val="2820518585"/>
                    </a:ext>
                  </a:extLst>
                </a:gridCol>
              </a:tblGrid>
              <a:tr h="169771">
                <a:tc>
                  <a:txBody>
                    <a:bodyPr/>
                    <a:lstStyle/>
                    <a:p>
                      <a:r>
                        <a:rPr lang="en-SG" dirty="0"/>
                        <a:t>MAC Address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dirty="0"/>
                        <a:t>Port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1558881"/>
                  </a:ext>
                </a:extLst>
              </a:tr>
              <a:tr h="169771">
                <a:tc>
                  <a:txBody>
                    <a:bodyPr/>
                    <a:lstStyle/>
                    <a:p>
                      <a:r>
                        <a:rPr lang="en-SG" dirty="0"/>
                        <a:t>1111:1111:1111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dirty="0"/>
                        <a:t>FA0/1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2494255"/>
                  </a:ext>
                </a:extLst>
              </a:tr>
              <a:tr h="169771">
                <a:tc>
                  <a:txBody>
                    <a:bodyPr/>
                    <a:lstStyle/>
                    <a:p>
                      <a:r>
                        <a:rPr lang="en-SG" dirty="0">
                          <a:solidFill>
                            <a:srgbClr val="FF0000"/>
                          </a:solidFill>
                        </a:rPr>
                        <a:t>2222:2222:2222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dirty="0">
                          <a:solidFill>
                            <a:srgbClr val="FF0000"/>
                          </a:solidFill>
                        </a:rPr>
                        <a:t>FA0/2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629948"/>
                  </a:ext>
                </a:extLst>
              </a:tr>
              <a:tr h="169771">
                <a:tc>
                  <a:txBody>
                    <a:bodyPr/>
                    <a:lstStyle/>
                    <a:p>
                      <a:endParaRPr lang="en-SG"/>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3632487"/>
                  </a:ext>
                </a:extLst>
              </a:tr>
            </a:tbl>
          </a:graphicData>
        </a:graphic>
      </p:graphicFrame>
      <p:sp>
        <p:nvSpPr>
          <p:cNvPr id="14" name="TextBox 13"/>
          <p:cNvSpPr txBox="1"/>
          <p:nvPr/>
        </p:nvSpPr>
        <p:spPr>
          <a:xfrm>
            <a:off x="5269612" y="2458122"/>
            <a:ext cx="814388" cy="369332"/>
          </a:xfrm>
          <a:prstGeom prst="rect">
            <a:avLst/>
          </a:prstGeom>
          <a:noFill/>
        </p:spPr>
        <p:txBody>
          <a:bodyPr wrap="square" rtlCol="0">
            <a:spAutoFit/>
          </a:bodyPr>
          <a:lstStyle/>
          <a:p>
            <a:r>
              <a:rPr lang="en-SG" b="1" dirty="0"/>
              <a:t>FA0/1</a:t>
            </a:r>
          </a:p>
        </p:txBody>
      </p:sp>
      <p:sp>
        <p:nvSpPr>
          <p:cNvPr id="16" name="TextBox 15"/>
          <p:cNvSpPr txBox="1"/>
          <p:nvPr/>
        </p:nvSpPr>
        <p:spPr>
          <a:xfrm>
            <a:off x="4196801" y="3257026"/>
            <a:ext cx="814388" cy="369332"/>
          </a:xfrm>
          <a:prstGeom prst="rect">
            <a:avLst/>
          </a:prstGeom>
          <a:noFill/>
        </p:spPr>
        <p:txBody>
          <a:bodyPr wrap="square" rtlCol="0">
            <a:spAutoFit/>
          </a:bodyPr>
          <a:lstStyle/>
          <a:p>
            <a:r>
              <a:rPr lang="en-SG" b="1" dirty="0"/>
              <a:t>FA0/2</a:t>
            </a:r>
          </a:p>
        </p:txBody>
      </p:sp>
      <p:cxnSp>
        <p:nvCxnSpPr>
          <p:cNvPr id="17" name="Straight Arrow Connector 16"/>
          <p:cNvCxnSpPr/>
          <p:nvPr/>
        </p:nvCxnSpPr>
        <p:spPr>
          <a:xfrm flipH="1" flipV="1">
            <a:off x="6084000" y="4111601"/>
            <a:ext cx="1107829" cy="5468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7005685" y="4151774"/>
            <a:ext cx="1714500" cy="376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Frame</a:t>
            </a:r>
          </a:p>
        </p:txBody>
      </p:sp>
      <p:sp>
        <p:nvSpPr>
          <p:cNvPr id="19" name="TextBox 18"/>
          <p:cNvSpPr txBox="1"/>
          <p:nvPr/>
        </p:nvSpPr>
        <p:spPr>
          <a:xfrm>
            <a:off x="477185" y="5220991"/>
            <a:ext cx="7929562" cy="1754326"/>
          </a:xfrm>
          <a:prstGeom prst="rect">
            <a:avLst/>
          </a:prstGeom>
          <a:noFill/>
        </p:spPr>
        <p:txBody>
          <a:bodyPr wrap="square" rtlCol="0">
            <a:spAutoFit/>
          </a:bodyPr>
          <a:lstStyle/>
          <a:p>
            <a:pPr marL="342900" indent="-342900">
              <a:buAutoNum type="arabicPeriod"/>
            </a:pPr>
            <a:r>
              <a:rPr lang="en-SG" dirty="0">
                <a:latin typeface="Gill Sans MT" panose="020B0502020104020203" pitchFamily="34" charset="0"/>
              </a:rPr>
              <a:t>If the source MAC entry doesn’t exist, the switch populates its table with the source MAC </a:t>
            </a:r>
            <a:r>
              <a:rPr lang="en-SG" dirty="0" err="1">
                <a:latin typeface="Gill Sans MT" panose="020B0502020104020203" pitchFamily="34" charset="0"/>
              </a:rPr>
              <a:t>addr</a:t>
            </a:r>
            <a:r>
              <a:rPr lang="en-SG" dirty="0">
                <a:latin typeface="Gill Sans MT" panose="020B0502020104020203" pitchFamily="34" charset="0"/>
              </a:rPr>
              <a:t> of an incoming frame and the port on which it came from. </a:t>
            </a:r>
          </a:p>
          <a:p>
            <a:pPr marL="342900" indent="-342900">
              <a:buAutoNum type="arabicPeriod"/>
            </a:pPr>
            <a:endParaRPr lang="en-SG" dirty="0">
              <a:latin typeface="Gill Sans MT" panose="020B0502020104020203" pitchFamily="34" charset="0"/>
            </a:endParaRPr>
          </a:p>
          <a:p>
            <a:pPr marL="342900" indent="-342900">
              <a:buAutoNum type="arabicPeriod"/>
            </a:pPr>
            <a:r>
              <a:rPr lang="en-SG" dirty="0">
                <a:latin typeface="Gill Sans MT" panose="020B0502020104020203" pitchFamily="34" charset="0"/>
              </a:rPr>
              <a:t>If destination MAC entry doesn’t exist, the switch will broadcast the frame on all ports except the one it received the frame on.</a:t>
            </a:r>
          </a:p>
          <a:p>
            <a:endParaRPr lang="en-SG" dirty="0">
              <a:latin typeface="Gill Sans MT" panose="020B0502020104020203" pitchFamily="34" charset="0"/>
            </a:endParaRPr>
          </a:p>
        </p:txBody>
      </p:sp>
    </p:spTree>
    <p:extLst>
      <p:ext uri="{BB962C8B-B14F-4D97-AF65-F5344CB8AC3E}">
        <p14:creationId xmlns:p14="http://schemas.microsoft.com/office/powerpoint/2010/main" val="3321938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D5089-633D-4921-B318-1B4E91C815C1}"/>
              </a:ext>
            </a:extLst>
          </p:cNvPr>
          <p:cNvSpPr>
            <a:spLocks noGrp="1"/>
          </p:cNvSpPr>
          <p:nvPr>
            <p:ph type="title"/>
          </p:nvPr>
        </p:nvSpPr>
        <p:spPr/>
        <p:txBody>
          <a:bodyPr/>
          <a:lstStyle/>
          <a:p>
            <a:r>
              <a:rPr lang="en-SG" dirty="0"/>
              <a:t>Packet Tracer Example</a:t>
            </a:r>
          </a:p>
        </p:txBody>
      </p:sp>
      <p:sp>
        <p:nvSpPr>
          <p:cNvPr id="3" name="Content Placeholder 2">
            <a:extLst>
              <a:ext uri="{FF2B5EF4-FFF2-40B4-BE49-F238E27FC236}">
                <a16:creationId xmlns:a16="http://schemas.microsoft.com/office/drawing/2014/main" id="{BDE10C6D-FD2E-4B51-97FE-851184DA5C94}"/>
              </a:ext>
            </a:extLst>
          </p:cNvPr>
          <p:cNvSpPr>
            <a:spLocks noGrp="1"/>
          </p:cNvSpPr>
          <p:nvPr>
            <p:ph idx="1"/>
          </p:nvPr>
        </p:nvSpPr>
        <p:spPr/>
        <p:txBody>
          <a:bodyPr/>
          <a:lstStyle/>
          <a:p>
            <a:endParaRPr lang="en-SG"/>
          </a:p>
        </p:txBody>
      </p:sp>
    </p:spTree>
    <p:extLst>
      <p:ext uri="{BB962C8B-B14F-4D97-AF65-F5344CB8AC3E}">
        <p14:creationId xmlns:p14="http://schemas.microsoft.com/office/powerpoint/2010/main" val="578447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78486" r="12014"/>
          <a:stretch/>
        </p:blipFill>
        <p:spPr>
          <a:xfrm>
            <a:off x="6087979" y="5664511"/>
            <a:ext cx="5101389" cy="1051767"/>
          </a:xfrm>
          <a:prstGeom prst="rect">
            <a:avLst/>
          </a:prstGeom>
        </p:spPr>
      </p:pic>
      <p:pic>
        <p:nvPicPr>
          <p:cNvPr id="4" name="Picture 3"/>
          <p:cNvPicPr>
            <a:picLocks noChangeAspect="1"/>
          </p:cNvPicPr>
          <p:nvPr/>
        </p:nvPicPr>
        <p:blipFill>
          <a:blip r:embed="rId3"/>
          <a:stretch>
            <a:fillRect/>
          </a:stretch>
        </p:blipFill>
        <p:spPr>
          <a:xfrm>
            <a:off x="6497842" y="791999"/>
            <a:ext cx="5694158" cy="5167312"/>
          </a:xfrm>
          <a:prstGeom prst="rect">
            <a:avLst/>
          </a:prstGeom>
        </p:spPr>
      </p:pic>
      <p:sp>
        <p:nvSpPr>
          <p:cNvPr id="2" name="Title 1"/>
          <p:cNvSpPr>
            <a:spLocks noGrp="1"/>
          </p:cNvSpPr>
          <p:nvPr>
            <p:ph type="title"/>
          </p:nvPr>
        </p:nvSpPr>
        <p:spPr/>
        <p:txBody>
          <a:bodyPr/>
          <a:lstStyle/>
          <a:p>
            <a:r>
              <a:rPr lang="en-SG" dirty="0"/>
              <a:t>MAC Address Spoofing</a:t>
            </a:r>
          </a:p>
        </p:txBody>
      </p:sp>
      <p:sp>
        <p:nvSpPr>
          <p:cNvPr id="3" name="Content Placeholder 2"/>
          <p:cNvSpPr>
            <a:spLocks noGrp="1"/>
          </p:cNvSpPr>
          <p:nvPr>
            <p:ph idx="1"/>
          </p:nvPr>
        </p:nvSpPr>
        <p:spPr>
          <a:xfrm>
            <a:off x="573506" y="1681247"/>
            <a:ext cx="6958263" cy="4527048"/>
          </a:xfrm>
        </p:spPr>
        <p:txBody>
          <a:bodyPr>
            <a:normAutofit/>
          </a:bodyPr>
          <a:lstStyle/>
          <a:p>
            <a:r>
              <a:rPr lang="en-SG" dirty="0"/>
              <a:t>Attacker changes his computer’s Ethernet adapter MAC address to the victim’s address. This is called spoofing.</a:t>
            </a:r>
          </a:p>
          <a:p>
            <a:r>
              <a:rPr lang="en-SG" dirty="0">
                <a:solidFill>
                  <a:srgbClr val="00B050"/>
                </a:solidFill>
              </a:rPr>
              <a:t>When the switch receives packets with source address of the victim on another port, it updates its MAC table.</a:t>
            </a:r>
          </a:p>
          <a:p>
            <a:r>
              <a:rPr lang="en-SG" dirty="0"/>
              <a:t>Now any packet destined to the victim can now be seen by the attacker.</a:t>
            </a:r>
          </a:p>
          <a:p>
            <a:r>
              <a:rPr lang="en-SG" dirty="0">
                <a:solidFill>
                  <a:srgbClr val="00B050"/>
                </a:solidFill>
              </a:rPr>
              <a:t>This is provided the victim doesn’t send any packets to the switch during the attack.</a:t>
            </a:r>
          </a:p>
        </p:txBody>
      </p:sp>
      <p:sp>
        <p:nvSpPr>
          <p:cNvPr id="6" name="Rectangle 5"/>
          <p:cNvSpPr/>
          <p:nvPr/>
        </p:nvSpPr>
        <p:spPr>
          <a:xfrm>
            <a:off x="573506" y="6277620"/>
            <a:ext cx="5132431" cy="369332"/>
          </a:xfrm>
          <a:prstGeom prst="rect">
            <a:avLst/>
          </a:prstGeom>
        </p:spPr>
        <p:txBody>
          <a:bodyPr wrap="none">
            <a:spAutoFit/>
          </a:bodyPr>
          <a:lstStyle/>
          <a:p>
            <a:r>
              <a:rPr lang="en-SG" dirty="0"/>
              <a:t>http://itsecurity.telelink.com/mac-address-spoofing/</a:t>
            </a:r>
          </a:p>
        </p:txBody>
      </p:sp>
      <p:pic>
        <p:nvPicPr>
          <p:cNvPr id="8" name="Picture 7"/>
          <p:cNvPicPr>
            <a:picLocks noChangeAspect="1"/>
          </p:cNvPicPr>
          <p:nvPr/>
        </p:nvPicPr>
        <p:blipFill>
          <a:blip r:embed="rId4"/>
          <a:stretch>
            <a:fillRect/>
          </a:stretch>
        </p:blipFill>
        <p:spPr>
          <a:xfrm>
            <a:off x="9661315" y="5000547"/>
            <a:ext cx="1910095" cy="958764"/>
          </a:xfrm>
          <a:prstGeom prst="rect">
            <a:avLst/>
          </a:prstGeom>
        </p:spPr>
      </p:pic>
      <p:sp>
        <p:nvSpPr>
          <p:cNvPr id="9" name="Right Arrow 8"/>
          <p:cNvSpPr/>
          <p:nvPr/>
        </p:nvSpPr>
        <p:spPr>
          <a:xfrm>
            <a:off x="9184943" y="5604421"/>
            <a:ext cx="491320" cy="25399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9056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362266" y="2296633"/>
            <a:ext cx="4652523" cy="3106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2" name="Title 1"/>
          <p:cNvSpPr>
            <a:spLocks noGrp="1"/>
          </p:cNvSpPr>
          <p:nvPr>
            <p:ph type="title"/>
          </p:nvPr>
        </p:nvSpPr>
        <p:spPr/>
        <p:txBody>
          <a:bodyPr/>
          <a:lstStyle/>
          <a:p>
            <a:r>
              <a:rPr lang="en-SG" dirty="0"/>
              <a:t>MAC Address Table Overflow Attack</a:t>
            </a:r>
          </a:p>
        </p:txBody>
      </p:sp>
      <p:sp>
        <p:nvSpPr>
          <p:cNvPr id="3" name="Content Placeholder 2"/>
          <p:cNvSpPr>
            <a:spLocks noGrp="1"/>
          </p:cNvSpPr>
          <p:nvPr>
            <p:ph idx="1"/>
          </p:nvPr>
        </p:nvSpPr>
        <p:spPr>
          <a:xfrm>
            <a:off x="838200" y="1552670"/>
            <a:ext cx="7497726" cy="4351338"/>
          </a:xfrm>
        </p:spPr>
        <p:txBody>
          <a:bodyPr/>
          <a:lstStyle/>
          <a:p>
            <a:r>
              <a:rPr lang="en-SG" dirty="0"/>
              <a:t>The attacker will send many spoofed source MAC addresses to the switch to flood it’s MAC address table or CAM.</a:t>
            </a:r>
          </a:p>
          <a:p>
            <a:r>
              <a:rPr lang="en-SG" dirty="0"/>
              <a:t>If the table is full with bogus entries, traffic without an entry on the CAM will be broadcast to all ports.</a:t>
            </a:r>
          </a:p>
          <a:p>
            <a:r>
              <a:rPr lang="en-SG" dirty="0"/>
              <a:t>The attacker can now sniff packets destined for the servers</a:t>
            </a:r>
          </a:p>
          <a:p>
            <a:r>
              <a:rPr lang="en-SG" sz="1600" dirty="0"/>
              <a:t>CAM- Content Addressable Memory table</a:t>
            </a:r>
          </a:p>
        </p:txBody>
      </p:sp>
    </p:spTree>
    <p:extLst>
      <p:ext uri="{BB962C8B-B14F-4D97-AF65-F5344CB8AC3E}">
        <p14:creationId xmlns:p14="http://schemas.microsoft.com/office/powerpoint/2010/main" val="953301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Mitigation Techniques for MAC attacks</a:t>
            </a:r>
          </a:p>
        </p:txBody>
      </p:sp>
      <p:sp>
        <p:nvSpPr>
          <p:cNvPr id="3" name="Content Placeholder 2"/>
          <p:cNvSpPr>
            <a:spLocks noGrp="1"/>
          </p:cNvSpPr>
          <p:nvPr>
            <p:ph idx="1"/>
          </p:nvPr>
        </p:nvSpPr>
        <p:spPr>
          <a:xfrm>
            <a:off x="838200" y="1825625"/>
            <a:ext cx="10515600" cy="4766244"/>
          </a:xfrm>
        </p:spPr>
        <p:txBody>
          <a:bodyPr>
            <a:normAutofit/>
          </a:bodyPr>
          <a:lstStyle/>
          <a:p>
            <a:r>
              <a:rPr lang="en-SG" dirty="0"/>
              <a:t>Both MAC spoofing and MAC address table overflow attacks can be mitigated by configuring port security on the switch. </a:t>
            </a:r>
          </a:p>
          <a:p>
            <a:r>
              <a:rPr lang="en-SG" dirty="0"/>
              <a:t>Port security is configurations done on a switch port to restrict the number of secure MAC address connections on a port. If the condition is violated, certain actions will be taken. </a:t>
            </a:r>
          </a:p>
          <a:p>
            <a:r>
              <a:rPr lang="en-SG" dirty="0"/>
              <a:t>This will prevent hackers from plugging in their “unregistered” MAC address devices into the switch port to cause havoc.</a:t>
            </a:r>
          </a:p>
          <a:p>
            <a:endParaRPr lang="en-SG" dirty="0"/>
          </a:p>
        </p:txBody>
      </p:sp>
    </p:spTree>
    <p:extLst>
      <p:ext uri="{BB962C8B-B14F-4D97-AF65-F5344CB8AC3E}">
        <p14:creationId xmlns:p14="http://schemas.microsoft.com/office/powerpoint/2010/main" val="2997368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Port Security</a:t>
            </a:r>
          </a:p>
        </p:txBody>
      </p:sp>
      <p:sp>
        <p:nvSpPr>
          <p:cNvPr id="3" name="Content Placeholder 2"/>
          <p:cNvSpPr>
            <a:spLocks noGrp="1"/>
          </p:cNvSpPr>
          <p:nvPr>
            <p:ph idx="1"/>
          </p:nvPr>
        </p:nvSpPr>
        <p:spPr>
          <a:xfrm>
            <a:off x="838200" y="1405720"/>
            <a:ext cx="10515600" cy="5240740"/>
          </a:xfrm>
        </p:spPr>
        <p:txBody>
          <a:bodyPr>
            <a:normAutofit fontScale="92500" lnSpcReduction="10000"/>
          </a:bodyPr>
          <a:lstStyle/>
          <a:p>
            <a:r>
              <a:rPr lang="en-SG" dirty="0"/>
              <a:t>There are 2 ways to configure port security:</a:t>
            </a:r>
          </a:p>
          <a:p>
            <a:pPr lvl="1"/>
            <a:r>
              <a:rPr lang="en-SG" dirty="0"/>
              <a:t>Statically specify the MAC addresses on a particular switch port. However this is a very tedious job if the company has many devices.</a:t>
            </a:r>
          </a:p>
          <a:p>
            <a:pPr lvl="1"/>
            <a:r>
              <a:rPr lang="en-SG" dirty="0">
                <a:solidFill>
                  <a:srgbClr val="0070C0"/>
                </a:solidFill>
              </a:rPr>
              <a:t>Allow the switch to dynamically learn a fixed number of MAC addresses for a switch port. This is an administratively scalable solution.</a:t>
            </a:r>
          </a:p>
          <a:p>
            <a:r>
              <a:rPr lang="en-SG" dirty="0"/>
              <a:t>When a MAC address differs from the list of configured or learnt secure addresses, the port either:</a:t>
            </a:r>
          </a:p>
          <a:p>
            <a:pPr lvl="1"/>
            <a:r>
              <a:rPr lang="en-SG" dirty="0">
                <a:solidFill>
                  <a:srgbClr val="0070C0"/>
                </a:solidFill>
              </a:rPr>
              <a:t>Shuts down until it is administratively enabled (default mode).</a:t>
            </a:r>
          </a:p>
          <a:p>
            <a:pPr lvl="1"/>
            <a:r>
              <a:rPr lang="en-SG" dirty="0"/>
              <a:t>Drops incoming frames from the insecure host and sends an log record to the Syslog server (restrict option). </a:t>
            </a:r>
          </a:p>
          <a:p>
            <a:pPr lvl="1"/>
            <a:r>
              <a:rPr lang="en-SG" dirty="0"/>
              <a:t>Drops incoming frames from the insecure host only. No traps sent (protect option).</a:t>
            </a:r>
          </a:p>
          <a:p>
            <a:r>
              <a:rPr lang="en-SG" dirty="0"/>
              <a:t>The port behaviour depends on how it is configured to respond to a security violation. Shutdown is the recommended security violation. Restrict/protect modes will revert back to normal operational modes if the violation is no  longer there.</a:t>
            </a:r>
          </a:p>
        </p:txBody>
      </p:sp>
    </p:spTree>
    <p:extLst>
      <p:ext uri="{BB962C8B-B14F-4D97-AF65-F5344CB8AC3E}">
        <p14:creationId xmlns:p14="http://schemas.microsoft.com/office/powerpoint/2010/main" val="426310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Port Security</a:t>
            </a:r>
          </a:p>
        </p:txBody>
      </p:sp>
      <p:sp>
        <p:nvSpPr>
          <p:cNvPr id="3" name="Content Placeholder 2"/>
          <p:cNvSpPr>
            <a:spLocks noGrp="1"/>
          </p:cNvSpPr>
          <p:nvPr>
            <p:ph idx="1"/>
          </p:nvPr>
        </p:nvSpPr>
        <p:spPr>
          <a:xfrm>
            <a:off x="838200" y="1539021"/>
            <a:ext cx="10515600" cy="4807187"/>
          </a:xfrm>
        </p:spPr>
        <p:txBody>
          <a:bodyPr>
            <a:normAutofit/>
          </a:bodyPr>
          <a:lstStyle/>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mode access</a:t>
            </a:r>
          </a:p>
          <a:p>
            <a:pPr marL="0" indent="0">
              <a:buNone/>
            </a:pPr>
            <a:r>
              <a:rPr lang="en-SG" dirty="0"/>
              <a:t>Change the switch interface port to access mode.</a:t>
            </a:r>
          </a:p>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port-security</a:t>
            </a:r>
          </a:p>
          <a:p>
            <a:pPr marL="0" indent="0">
              <a:buNone/>
            </a:pPr>
            <a:r>
              <a:rPr lang="en-SG" dirty="0"/>
              <a:t>Enable port security on the interface.</a:t>
            </a:r>
          </a:p>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port-security maximum 2</a:t>
            </a:r>
          </a:p>
          <a:p>
            <a:pPr marL="0" indent="0">
              <a:buNone/>
            </a:pPr>
            <a:r>
              <a:rPr lang="en-SG" dirty="0"/>
              <a:t>Set the maximum number of secure MAC addresses allowed on the interface. Range is 1 to 132 but the default is 1.</a:t>
            </a:r>
          </a:p>
          <a:p>
            <a:r>
              <a:rPr lang="en-SG" dirty="0">
                <a:solidFill>
                  <a:srgbClr val="0070C0"/>
                </a:solidFill>
              </a:rPr>
              <a:t>Switch(</a:t>
            </a:r>
            <a:r>
              <a:rPr lang="en-SG" dirty="0" err="1">
                <a:solidFill>
                  <a:srgbClr val="0070C0"/>
                </a:solidFill>
              </a:rPr>
              <a:t>config</a:t>
            </a:r>
            <a:r>
              <a:rPr lang="en-SG" dirty="0">
                <a:solidFill>
                  <a:srgbClr val="0070C0"/>
                </a:solidFill>
              </a:rPr>
              <a:t>-if)# show port-security</a:t>
            </a:r>
            <a:endParaRPr lang="en-SG" dirty="0"/>
          </a:p>
          <a:p>
            <a:pPr marL="0" indent="0">
              <a:buNone/>
            </a:pPr>
            <a:r>
              <a:rPr lang="en-SG" dirty="0"/>
              <a:t>To verify port security configurations</a:t>
            </a:r>
          </a:p>
        </p:txBody>
      </p:sp>
    </p:spTree>
    <p:extLst>
      <p:ext uri="{BB962C8B-B14F-4D97-AF65-F5344CB8AC3E}">
        <p14:creationId xmlns:p14="http://schemas.microsoft.com/office/powerpoint/2010/main" val="1621919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Port Security </a:t>
            </a:r>
            <a:r>
              <a:rPr lang="en-SG" dirty="0" err="1"/>
              <a:t>cont</a:t>
            </a:r>
            <a:r>
              <a:rPr lang="en-SG" dirty="0"/>
              <a:t>…</a:t>
            </a:r>
          </a:p>
        </p:txBody>
      </p:sp>
      <p:sp>
        <p:nvSpPr>
          <p:cNvPr id="3" name="Content Placeholder 2"/>
          <p:cNvSpPr>
            <a:spLocks noGrp="1"/>
          </p:cNvSpPr>
          <p:nvPr>
            <p:ph idx="1"/>
          </p:nvPr>
        </p:nvSpPr>
        <p:spPr>
          <a:xfrm>
            <a:off x="600501" y="1528549"/>
            <a:ext cx="11081983" cy="4648414"/>
          </a:xfrm>
        </p:spPr>
        <p:txBody>
          <a:bodyPr/>
          <a:lstStyle/>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port-security mac-address 2222:2222:2222</a:t>
            </a:r>
          </a:p>
          <a:p>
            <a:pPr marL="0" indent="0">
              <a:buNone/>
            </a:pPr>
            <a:r>
              <a:rPr lang="en-SG" dirty="0"/>
              <a:t>Statically entering a secure MAC address in the MAC table to be associated with this Interface.</a:t>
            </a:r>
          </a:p>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port-security mac-address sticky</a:t>
            </a:r>
          </a:p>
          <a:p>
            <a:pPr marL="0" indent="0">
              <a:buNone/>
            </a:pPr>
            <a:r>
              <a:rPr lang="en-SG" dirty="0"/>
              <a:t>Switch will dynamically learn the MAC address of the connected device when the device sends a frame. </a:t>
            </a:r>
          </a:p>
          <a:p>
            <a:r>
              <a:rPr lang="en-SG" dirty="0">
                <a:solidFill>
                  <a:srgbClr val="0070C0"/>
                </a:solidFill>
              </a:rPr>
              <a:t>Switch(</a:t>
            </a:r>
            <a:r>
              <a:rPr lang="en-SG" dirty="0" err="1">
                <a:solidFill>
                  <a:srgbClr val="0070C0"/>
                </a:solidFill>
              </a:rPr>
              <a:t>config</a:t>
            </a:r>
            <a:r>
              <a:rPr lang="en-SG" dirty="0">
                <a:solidFill>
                  <a:srgbClr val="0070C0"/>
                </a:solidFill>
              </a:rPr>
              <a:t>-if)# </a:t>
            </a:r>
            <a:r>
              <a:rPr lang="en-SG" dirty="0" err="1">
                <a:solidFill>
                  <a:srgbClr val="0070C0"/>
                </a:solidFill>
              </a:rPr>
              <a:t>switchport</a:t>
            </a:r>
            <a:r>
              <a:rPr lang="en-SG" dirty="0">
                <a:solidFill>
                  <a:srgbClr val="0070C0"/>
                </a:solidFill>
              </a:rPr>
              <a:t> port-security violation shutdown</a:t>
            </a:r>
          </a:p>
          <a:p>
            <a:pPr marL="0" indent="0">
              <a:buNone/>
            </a:pPr>
            <a:r>
              <a:rPr lang="en-SG" dirty="0"/>
              <a:t>If unregistered MAC address is detected on a switch port, switch will shutdown the port. You can also configure the switch to simple drop incoming packets until unregistered device is taken away.(restrict/protect).</a:t>
            </a:r>
          </a:p>
        </p:txBody>
      </p:sp>
    </p:spTree>
    <p:extLst>
      <p:ext uri="{BB962C8B-B14F-4D97-AF65-F5344CB8AC3E}">
        <p14:creationId xmlns:p14="http://schemas.microsoft.com/office/powerpoint/2010/main" val="1778585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How to revert port status?</a:t>
            </a:r>
          </a:p>
        </p:txBody>
      </p:sp>
      <p:sp>
        <p:nvSpPr>
          <p:cNvPr id="3" name="Content Placeholder 2"/>
          <p:cNvSpPr>
            <a:spLocks noGrp="1"/>
          </p:cNvSpPr>
          <p:nvPr>
            <p:ph idx="1"/>
          </p:nvPr>
        </p:nvSpPr>
        <p:spPr>
          <a:xfrm>
            <a:off x="719919" y="1402545"/>
            <a:ext cx="10515600" cy="4351338"/>
          </a:xfrm>
        </p:spPr>
        <p:txBody>
          <a:bodyPr/>
          <a:lstStyle/>
          <a:p>
            <a:r>
              <a:rPr lang="en-SG" dirty="0"/>
              <a:t>You have a port which is shutdown because of a port security violation. When you check the status of the port, it says err-disabled (i.e. Shutdown)</a:t>
            </a:r>
          </a:p>
          <a:p>
            <a:r>
              <a:rPr lang="en-SG" dirty="0"/>
              <a:t>How do you bring the port back up again assuming the threat has been resolved?</a:t>
            </a:r>
          </a:p>
          <a:p>
            <a:r>
              <a:rPr lang="en-SG" dirty="0"/>
              <a:t>What if the port were configured</a:t>
            </a:r>
          </a:p>
          <a:p>
            <a:pPr marL="0" indent="0">
              <a:buNone/>
            </a:pPr>
            <a:r>
              <a:rPr lang="en-SG" dirty="0"/>
              <a:t>with Restrict/Protect?</a:t>
            </a:r>
          </a:p>
        </p:txBody>
      </p:sp>
      <p:pic>
        <p:nvPicPr>
          <p:cNvPr id="4" name="Picture 3"/>
          <p:cNvPicPr>
            <a:picLocks noChangeAspect="1"/>
          </p:cNvPicPr>
          <p:nvPr/>
        </p:nvPicPr>
        <p:blipFill rotWithShape="1">
          <a:blip r:embed="rId2"/>
          <a:srcRect l="8557" t="30447" r="8309" b="2487"/>
          <a:stretch/>
        </p:blipFill>
        <p:spPr>
          <a:xfrm>
            <a:off x="5977719" y="3167002"/>
            <a:ext cx="6100549" cy="3690998"/>
          </a:xfrm>
          <a:prstGeom prst="rect">
            <a:avLst/>
          </a:prstGeom>
        </p:spPr>
      </p:pic>
    </p:spTree>
    <p:extLst>
      <p:ext uri="{BB962C8B-B14F-4D97-AF65-F5344CB8AC3E}">
        <p14:creationId xmlns:p14="http://schemas.microsoft.com/office/powerpoint/2010/main" val="3093698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Types of Attacks:</a:t>
            </a:r>
          </a:p>
        </p:txBody>
      </p:sp>
      <p:sp>
        <p:nvSpPr>
          <p:cNvPr id="3" name="Content Placeholder 2"/>
          <p:cNvSpPr>
            <a:spLocks noGrp="1"/>
          </p:cNvSpPr>
          <p:nvPr>
            <p:ph idx="1"/>
          </p:nvPr>
        </p:nvSpPr>
        <p:spPr/>
        <p:txBody>
          <a:bodyPr/>
          <a:lstStyle/>
          <a:p>
            <a:r>
              <a:rPr lang="en-SG" dirty="0">
                <a:solidFill>
                  <a:schemeClr val="bg1">
                    <a:lumMod val="75000"/>
                  </a:schemeClr>
                </a:solidFill>
              </a:rPr>
              <a:t>MAC address spoofing</a:t>
            </a:r>
          </a:p>
          <a:p>
            <a:r>
              <a:rPr lang="en-SG" dirty="0">
                <a:solidFill>
                  <a:schemeClr val="bg1">
                    <a:lumMod val="75000"/>
                  </a:schemeClr>
                </a:solidFill>
              </a:rPr>
              <a:t>MAC address table overflows</a:t>
            </a:r>
          </a:p>
          <a:p>
            <a:r>
              <a:rPr lang="en-SG"/>
              <a:t>LAN </a:t>
            </a:r>
            <a:r>
              <a:rPr lang="en-SG" dirty="0"/>
              <a:t>storms</a:t>
            </a:r>
          </a:p>
          <a:p>
            <a:pPr marL="0" indent="0">
              <a:buNone/>
            </a:pPr>
            <a:endParaRPr lang="en-SG" dirty="0"/>
          </a:p>
        </p:txBody>
      </p:sp>
    </p:spTree>
    <p:extLst>
      <p:ext uri="{BB962C8B-B14F-4D97-AF65-F5344CB8AC3E}">
        <p14:creationId xmlns:p14="http://schemas.microsoft.com/office/powerpoint/2010/main" val="1632191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How do LAN Storms Occur?</a:t>
            </a:r>
          </a:p>
        </p:txBody>
      </p:sp>
      <p:sp>
        <p:nvSpPr>
          <p:cNvPr id="3" name="Content Placeholder 2"/>
          <p:cNvSpPr>
            <a:spLocks noGrp="1"/>
          </p:cNvSpPr>
          <p:nvPr>
            <p:ph idx="1"/>
          </p:nvPr>
        </p:nvSpPr>
        <p:spPr/>
        <p:txBody>
          <a:bodyPr/>
          <a:lstStyle/>
          <a:p>
            <a:pPr marL="0" indent="0">
              <a:buNone/>
            </a:pPr>
            <a:r>
              <a:rPr lang="en-SG" dirty="0"/>
              <a:t>A LAN storm occurs when packets flood the LAN, creating excessive traffic and degrading network performance. </a:t>
            </a:r>
          </a:p>
          <a:p>
            <a:r>
              <a:rPr lang="en-SG" dirty="0"/>
              <a:t>Possible causes: </a:t>
            </a:r>
          </a:p>
          <a:p>
            <a:pPr lvl="1"/>
            <a:r>
              <a:rPr lang="en-SG" dirty="0"/>
              <a:t>No STP loop prevention configured on switches</a:t>
            </a:r>
          </a:p>
          <a:p>
            <a:pPr lvl="1"/>
            <a:r>
              <a:rPr lang="en-SG" dirty="0"/>
              <a:t>Misconfigurations or equipment plugged in wrongly</a:t>
            </a:r>
          </a:p>
          <a:p>
            <a:pPr lvl="1"/>
            <a:r>
              <a:rPr lang="en-SG" dirty="0"/>
              <a:t>Users issuing a </a:t>
            </a:r>
            <a:r>
              <a:rPr lang="en-SG" dirty="0" err="1"/>
              <a:t>DoS</a:t>
            </a:r>
            <a:r>
              <a:rPr lang="en-SG" dirty="0"/>
              <a:t> attack</a:t>
            </a:r>
          </a:p>
          <a:p>
            <a:endParaRPr lang="en-SG" dirty="0"/>
          </a:p>
        </p:txBody>
      </p:sp>
    </p:spTree>
    <p:extLst>
      <p:ext uri="{BB962C8B-B14F-4D97-AF65-F5344CB8AC3E}">
        <p14:creationId xmlns:p14="http://schemas.microsoft.com/office/powerpoint/2010/main" val="670218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Mitigation Techniques for </a:t>
            </a:r>
            <a:r>
              <a:rPr lang="en-SG" dirty="0" err="1"/>
              <a:t>B.Storms</a:t>
            </a:r>
            <a:endParaRPr lang="en-SG" dirty="0"/>
          </a:p>
        </p:txBody>
      </p:sp>
      <p:sp>
        <p:nvSpPr>
          <p:cNvPr id="3" name="Content Placeholder 2"/>
          <p:cNvSpPr>
            <a:spLocks noGrp="1"/>
          </p:cNvSpPr>
          <p:nvPr>
            <p:ph idx="1"/>
          </p:nvPr>
        </p:nvSpPr>
        <p:spPr>
          <a:xfrm>
            <a:off x="838200" y="1555846"/>
            <a:ext cx="10515600" cy="5172500"/>
          </a:xfrm>
        </p:spPr>
        <p:txBody>
          <a:bodyPr>
            <a:normAutofit/>
          </a:bodyPr>
          <a:lstStyle/>
          <a:p>
            <a:r>
              <a:rPr lang="en-SG" dirty="0"/>
              <a:t>LAN storm attacks can be mitigated by using storm control to monitor predefined suppression-level thresholds. Both a rising threshold and a falling threshold can be set.</a:t>
            </a:r>
          </a:p>
          <a:p>
            <a:r>
              <a:rPr lang="en-SG" dirty="0"/>
              <a:t>Storm control uses one of these methods to measure traffic activity: </a:t>
            </a:r>
          </a:p>
          <a:p>
            <a:pPr lvl="1"/>
            <a:r>
              <a:rPr lang="en-SG" dirty="0"/>
              <a:t>Bandwidth as a percentage (%) of the total available bandwidth of the port.</a:t>
            </a:r>
          </a:p>
          <a:p>
            <a:pPr lvl="1"/>
            <a:r>
              <a:rPr lang="en-SG" dirty="0"/>
              <a:t>Traffic rate in packets/sec or bits/sec at which packets are received.</a:t>
            </a:r>
          </a:p>
          <a:p>
            <a:r>
              <a:rPr lang="en-SG" dirty="0"/>
              <a:t>With each method, the port blocks traffic when the predefined rising threshold is reached. </a:t>
            </a:r>
          </a:p>
          <a:p>
            <a:pPr lvl="1"/>
            <a:r>
              <a:rPr lang="en-SG" dirty="0"/>
              <a:t>The port remains blocked until the traffic rate drops below the falling threshold if one is specified, and then resumes normal forwarding. </a:t>
            </a:r>
          </a:p>
        </p:txBody>
      </p:sp>
    </p:spTree>
    <p:extLst>
      <p:ext uri="{BB962C8B-B14F-4D97-AF65-F5344CB8AC3E}">
        <p14:creationId xmlns:p14="http://schemas.microsoft.com/office/powerpoint/2010/main" val="737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Storm Control</a:t>
            </a:r>
          </a:p>
        </p:txBody>
      </p:sp>
      <p:sp>
        <p:nvSpPr>
          <p:cNvPr id="3" name="Content Placeholder 2"/>
          <p:cNvSpPr>
            <a:spLocks noGrp="1"/>
          </p:cNvSpPr>
          <p:nvPr>
            <p:ph idx="1"/>
          </p:nvPr>
        </p:nvSpPr>
        <p:spPr/>
        <p:txBody>
          <a:bodyPr/>
          <a:lstStyle/>
          <a:p>
            <a:r>
              <a:rPr lang="en-SG" dirty="0">
                <a:solidFill>
                  <a:srgbClr val="0070C0"/>
                </a:solidFill>
              </a:rPr>
              <a:t>Switch(</a:t>
            </a:r>
            <a:r>
              <a:rPr lang="en-SG" dirty="0" err="1">
                <a:solidFill>
                  <a:srgbClr val="0070C0"/>
                </a:solidFill>
              </a:rPr>
              <a:t>config</a:t>
            </a:r>
            <a:r>
              <a:rPr lang="en-SG" dirty="0">
                <a:solidFill>
                  <a:srgbClr val="0070C0"/>
                </a:solidFill>
              </a:rPr>
              <a:t>-if)#storm-control </a:t>
            </a:r>
            <a:r>
              <a:rPr lang="en-SG" dirty="0">
                <a:solidFill>
                  <a:srgbClr val="FF0000"/>
                </a:solidFill>
              </a:rPr>
              <a:t>broadcast</a:t>
            </a:r>
            <a:r>
              <a:rPr lang="en-SG" dirty="0">
                <a:solidFill>
                  <a:srgbClr val="0070C0"/>
                </a:solidFill>
              </a:rPr>
              <a:t> level 75</a:t>
            </a:r>
          </a:p>
          <a:p>
            <a:pPr marL="0" indent="0">
              <a:buNone/>
            </a:pPr>
            <a:r>
              <a:rPr lang="en-SG" dirty="0"/>
              <a:t>You can configure to control </a:t>
            </a:r>
            <a:r>
              <a:rPr lang="en-SG" dirty="0">
                <a:solidFill>
                  <a:srgbClr val="FF0000"/>
                </a:solidFill>
              </a:rPr>
              <a:t>broadcast, multicast or unicast </a:t>
            </a:r>
            <a:r>
              <a:rPr lang="en-SG" dirty="0"/>
              <a:t>traffic. The level specifies the maximum traffic allowed on that link, which in this case is 75% of the max capacity.</a:t>
            </a:r>
          </a:p>
          <a:p>
            <a:r>
              <a:rPr lang="en-SG" dirty="0">
                <a:solidFill>
                  <a:srgbClr val="0070C0"/>
                </a:solidFill>
              </a:rPr>
              <a:t>Switch(</a:t>
            </a:r>
            <a:r>
              <a:rPr lang="en-SG" dirty="0" err="1">
                <a:solidFill>
                  <a:srgbClr val="0070C0"/>
                </a:solidFill>
              </a:rPr>
              <a:t>config</a:t>
            </a:r>
            <a:r>
              <a:rPr lang="en-SG" dirty="0">
                <a:solidFill>
                  <a:srgbClr val="0070C0"/>
                </a:solidFill>
              </a:rPr>
              <a:t>-if)#storm-control </a:t>
            </a:r>
            <a:r>
              <a:rPr lang="en-SG" dirty="0">
                <a:solidFill>
                  <a:srgbClr val="FF0000"/>
                </a:solidFill>
              </a:rPr>
              <a:t>action shutdown</a:t>
            </a:r>
            <a:endParaRPr lang="en-SG" dirty="0">
              <a:solidFill>
                <a:srgbClr val="0070C0"/>
              </a:solidFill>
            </a:endParaRPr>
          </a:p>
          <a:p>
            <a:pPr marL="0" indent="0">
              <a:buNone/>
            </a:pPr>
            <a:r>
              <a:rPr lang="en-SG" dirty="0"/>
              <a:t>If the threshold set above is exceeded, then port will shutdown. You can also set it to “trap”, which send SNMP log messages to server when storm occurs. </a:t>
            </a:r>
            <a:r>
              <a:rPr lang="en-SG" sz="1600" dirty="0"/>
              <a:t>(non-PT command)</a:t>
            </a:r>
          </a:p>
        </p:txBody>
      </p:sp>
    </p:spTree>
    <p:extLst>
      <p:ext uri="{BB962C8B-B14F-4D97-AF65-F5344CB8AC3E}">
        <p14:creationId xmlns:p14="http://schemas.microsoft.com/office/powerpoint/2010/main" val="259868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Configuring Storm Control </a:t>
            </a:r>
            <a:r>
              <a:rPr lang="en-SG" dirty="0" err="1"/>
              <a:t>cont</a:t>
            </a:r>
            <a:r>
              <a:rPr lang="en-SG" dirty="0"/>
              <a:t>…</a:t>
            </a:r>
          </a:p>
        </p:txBody>
      </p:sp>
      <p:sp>
        <p:nvSpPr>
          <p:cNvPr id="3" name="Content Placeholder 2"/>
          <p:cNvSpPr>
            <a:spLocks noGrp="1"/>
          </p:cNvSpPr>
          <p:nvPr>
            <p:ph idx="1"/>
          </p:nvPr>
        </p:nvSpPr>
        <p:spPr>
          <a:xfrm>
            <a:off x="838200" y="1825624"/>
            <a:ext cx="10515600" cy="5032376"/>
          </a:xfrm>
        </p:spPr>
        <p:txBody>
          <a:bodyPr>
            <a:normAutofit/>
          </a:bodyPr>
          <a:lstStyle/>
          <a:p>
            <a:r>
              <a:rPr lang="en-SG" sz="2400" dirty="0">
                <a:solidFill>
                  <a:srgbClr val="0070C0"/>
                </a:solidFill>
              </a:rPr>
              <a:t>Switch(</a:t>
            </a:r>
            <a:r>
              <a:rPr lang="en-SG" sz="2400" dirty="0" err="1">
                <a:solidFill>
                  <a:srgbClr val="0070C0"/>
                </a:solidFill>
              </a:rPr>
              <a:t>config</a:t>
            </a:r>
            <a:r>
              <a:rPr lang="en-SG" sz="2400" dirty="0">
                <a:solidFill>
                  <a:srgbClr val="0070C0"/>
                </a:solidFill>
              </a:rPr>
              <a:t>-if)#storm-control </a:t>
            </a:r>
            <a:r>
              <a:rPr lang="en-SG" sz="2400" dirty="0">
                <a:solidFill>
                  <a:srgbClr val="FF0000"/>
                </a:solidFill>
              </a:rPr>
              <a:t>multicast level </a:t>
            </a:r>
            <a:r>
              <a:rPr lang="en-SG" sz="2400" dirty="0" err="1">
                <a:solidFill>
                  <a:srgbClr val="FF0000"/>
                </a:solidFill>
              </a:rPr>
              <a:t>pps</a:t>
            </a:r>
            <a:r>
              <a:rPr lang="en-SG" sz="2400" dirty="0">
                <a:solidFill>
                  <a:srgbClr val="FF0000"/>
                </a:solidFill>
              </a:rPr>
              <a:t> 2k 1k</a:t>
            </a:r>
            <a:endParaRPr lang="en-SG" sz="2400" dirty="0">
              <a:solidFill>
                <a:srgbClr val="0070C0"/>
              </a:solidFill>
            </a:endParaRPr>
          </a:p>
          <a:p>
            <a:pPr marL="0" indent="0">
              <a:buNone/>
            </a:pPr>
            <a:r>
              <a:rPr lang="en-SG" sz="2400" dirty="0"/>
              <a:t>Enables multicast storm protection. If link’s packets per sec goes beyond 2000 </a:t>
            </a:r>
            <a:r>
              <a:rPr lang="en-SG" sz="2400" dirty="0" err="1"/>
              <a:t>pps</a:t>
            </a:r>
            <a:r>
              <a:rPr lang="en-SG" sz="2400" dirty="0"/>
              <a:t> (upper threshold) traffic will be blocked. It will be blocked until traffic is lower than lower threshold. </a:t>
            </a:r>
            <a:r>
              <a:rPr lang="en-SG" sz="1400" dirty="0"/>
              <a:t>(Non-PT command)</a:t>
            </a:r>
          </a:p>
          <a:p>
            <a:r>
              <a:rPr lang="en-SG" sz="2400" dirty="0">
                <a:solidFill>
                  <a:srgbClr val="0070C0"/>
                </a:solidFill>
              </a:rPr>
              <a:t>Switch(</a:t>
            </a:r>
            <a:r>
              <a:rPr lang="en-SG" sz="2400" dirty="0" err="1">
                <a:solidFill>
                  <a:srgbClr val="0070C0"/>
                </a:solidFill>
              </a:rPr>
              <a:t>config</a:t>
            </a:r>
            <a:r>
              <a:rPr lang="en-SG" sz="2400" dirty="0">
                <a:solidFill>
                  <a:srgbClr val="0070C0"/>
                </a:solidFill>
              </a:rPr>
              <a:t>-if)#show storm-control</a:t>
            </a:r>
            <a:endParaRPr lang="en-SG" sz="2400" dirty="0"/>
          </a:p>
          <a:p>
            <a:pPr marL="0" indent="0">
              <a:buNone/>
            </a:pPr>
            <a:endParaRPr lang="en-SG" dirty="0"/>
          </a:p>
          <a:p>
            <a:pPr marL="0" indent="0">
              <a:buNone/>
            </a:pPr>
            <a:endParaRPr lang="en-SG" dirty="0"/>
          </a:p>
          <a:p>
            <a:pPr marL="0" indent="0">
              <a:buNone/>
            </a:pPr>
            <a:endParaRPr lang="en-SG" dirty="0"/>
          </a:p>
          <a:p>
            <a:pPr marL="0" indent="0">
              <a:buNone/>
            </a:pPr>
            <a:endParaRPr lang="en-SG" dirty="0">
              <a:hlinkClick r:id="rId3"/>
            </a:endParaRPr>
          </a:p>
          <a:p>
            <a:pPr marL="0" indent="0">
              <a:buNone/>
            </a:pPr>
            <a:endParaRPr lang="en-SG" dirty="0">
              <a:hlinkClick r:id="rId3"/>
            </a:endParaRPr>
          </a:p>
          <a:p>
            <a:pPr marL="0" indent="0">
              <a:buNone/>
            </a:pPr>
            <a:r>
              <a:rPr lang="en-SG" sz="2400" dirty="0">
                <a:hlinkClick r:id="rId3"/>
              </a:rPr>
              <a:t>http://packetlife.net/blog/2008/nov/27/storm-control/</a:t>
            </a:r>
            <a:endParaRPr lang="en-SG" sz="2400" dirty="0"/>
          </a:p>
        </p:txBody>
      </p:sp>
      <p:pic>
        <p:nvPicPr>
          <p:cNvPr id="4" name="Picture 3"/>
          <p:cNvPicPr>
            <a:picLocks noChangeAspect="1"/>
          </p:cNvPicPr>
          <p:nvPr/>
        </p:nvPicPr>
        <p:blipFill>
          <a:blip r:embed="rId4"/>
          <a:stretch>
            <a:fillRect/>
          </a:stretch>
        </p:blipFill>
        <p:spPr>
          <a:xfrm>
            <a:off x="6470480" y="4108956"/>
            <a:ext cx="5305425" cy="1990725"/>
          </a:xfrm>
          <a:prstGeom prst="rect">
            <a:avLst/>
          </a:prstGeom>
        </p:spPr>
      </p:pic>
      <p:sp>
        <p:nvSpPr>
          <p:cNvPr id="6" name="Rectangle 7"/>
          <p:cNvSpPr>
            <a:spLocks noChangeArrowheads="1"/>
          </p:cNvSpPr>
          <p:nvPr/>
        </p:nvSpPr>
        <p:spPr bwMode="auto">
          <a:xfrm>
            <a:off x="702003" y="4221805"/>
            <a:ext cx="5272366" cy="1277915"/>
          </a:xfrm>
          <a:prstGeom prst="rect">
            <a:avLst/>
          </a:prstGeom>
          <a:noFill/>
          <a:ln w="12700" cmpd="sng">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lIns="92075" tIns="46038" rIns="92075" bIns="46038">
            <a:spAutoFit/>
          </a:bodyPr>
          <a:lstStyle/>
          <a:p>
            <a:pPr>
              <a:lnSpc>
                <a:spcPct val="100000"/>
              </a:lnSpc>
              <a:tabLst>
                <a:tab pos="7654925" algn="r"/>
              </a:tabLst>
            </a:pPr>
            <a:r>
              <a:rPr lang="en-US" sz="1100" b="0" dirty="0">
                <a:solidFill>
                  <a:srgbClr val="000000"/>
                </a:solidFill>
                <a:latin typeface="Courier New" charset="0"/>
              </a:rPr>
              <a:t>SW1# </a:t>
            </a:r>
            <a:r>
              <a:rPr lang="en-US" sz="1100" dirty="0">
                <a:solidFill>
                  <a:srgbClr val="000000"/>
                </a:solidFill>
                <a:latin typeface="Courier New" charset="0"/>
              </a:rPr>
              <a:t>show storm-control</a:t>
            </a:r>
          </a:p>
          <a:p>
            <a:pPr>
              <a:lnSpc>
                <a:spcPct val="100000"/>
              </a:lnSpc>
              <a:tabLst>
                <a:tab pos="7654925" algn="r"/>
              </a:tabLst>
            </a:pPr>
            <a:r>
              <a:rPr lang="en-US" sz="1100" b="0" dirty="0">
                <a:solidFill>
                  <a:srgbClr val="000000"/>
                </a:solidFill>
                <a:latin typeface="Courier New" charset="0"/>
              </a:rPr>
              <a:t>Interface    Filter State   Upper       Lower      Current</a:t>
            </a:r>
          </a:p>
          <a:p>
            <a:pPr>
              <a:lnSpc>
                <a:spcPct val="100000"/>
              </a:lnSpc>
              <a:tabLst>
                <a:tab pos="7654925" algn="r"/>
              </a:tabLst>
            </a:pPr>
            <a:r>
              <a:rPr lang="en-US" sz="1100" b="0" dirty="0">
                <a:solidFill>
                  <a:srgbClr val="000000"/>
                </a:solidFill>
                <a:latin typeface="Courier New" charset="0"/>
              </a:rPr>
              <a:t>---------    -------------  ----------  ---------  ---------</a:t>
            </a:r>
          </a:p>
          <a:p>
            <a:pPr>
              <a:lnSpc>
                <a:spcPct val="100000"/>
              </a:lnSpc>
              <a:tabLst>
                <a:tab pos="7654925" algn="r"/>
              </a:tabLst>
            </a:pPr>
            <a:r>
              <a:rPr lang="en-US" sz="1100" b="0" dirty="0">
                <a:solidFill>
                  <a:srgbClr val="000000"/>
                </a:solidFill>
                <a:latin typeface="Courier New" charset="0"/>
              </a:rPr>
              <a:t>Gi0/1        Forwarding     20 </a:t>
            </a:r>
            <a:r>
              <a:rPr lang="en-US" sz="1100" b="0" dirty="0" err="1">
                <a:solidFill>
                  <a:srgbClr val="000000"/>
                </a:solidFill>
                <a:latin typeface="Courier New" charset="0"/>
              </a:rPr>
              <a:t>pps</a:t>
            </a:r>
            <a:r>
              <a:rPr lang="en-US" sz="1100" b="0" dirty="0">
                <a:solidFill>
                  <a:srgbClr val="000000"/>
                </a:solidFill>
                <a:latin typeface="Courier New" charset="0"/>
              </a:rPr>
              <a:t>      10 </a:t>
            </a:r>
            <a:r>
              <a:rPr lang="en-US" sz="1100" b="0" dirty="0" err="1">
                <a:solidFill>
                  <a:srgbClr val="000000"/>
                </a:solidFill>
                <a:latin typeface="Courier New" charset="0"/>
              </a:rPr>
              <a:t>pps</a:t>
            </a:r>
            <a:r>
              <a:rPr lang="en-US" sz="1100" b="0" dirty="0">
                <a:solidFill>
                  <a:srgbClr val="000000"/>
                </a:solidFill>
                <a:latin typeface="Courier New" charset="0"/>
              </a:rPr>
              <a:t>     5 </a:t>
            </a:r>
            <a:r>
              <a:rPr lang="en-US" sz="1100" b="0" dirty="0" err="1">
                <a:solidFill>
                  <a:srgbClr val="000000"/>
                </a:solidFill>
                <a:latin typeface="Courier New" charset="0"/>
              </a:rPr>
              <a:t>pps</a:t>
            </a:r>
            <a:endParaRPr lang="en-US" sz="1100" b="0" dirty="0">
              <a:solidFill>
                <a:srgbClr val="000000"/>
              </a:solidFill>
              <a:latin typeface="Courier New" charset="0"/>
            </a:endParaRPr>
          </a:p>
          <a:p>
            <a:pPr>
              <a:lnSpc>
                <a:spcPct val="100000"/>
              </a:lnSpc>
              <a:tabLst>
                <a:tab pos="7654925" algn="r"/>
              </a:tabLst>
            </a:pPr>
            <a:r>
              <a:rPr lang="en-US" sz="1100" b="0" dirty="0">
                <a:solidFill>
                  <a:srgbClr val="000000"/>
                </a:solidFill>
                <a:latin typeface="Courier New" charset="0"/>
              </a:rPr>
              <a:t>Gi0/2        Forwarding     50.00%      40.00%     0.00%</a:t>
            </a:r>
          </a:p>
          <a:p>
            <a:pPr>
              <a:lnSpc>
                <a:spcPct val="100000"/>
              </a:lnSpc>
              <a:tabLst>
                <a:tab pos="7654925" algn="r"/>
              </a:tabLst>
            </a:pPr>
            <a:br>
              <a:rPr lang="en-US" sz="900" b="0" dirty="0">
                <a:solidFill>
                  <a:srgbClr val="000000"/>
                </a:solidFill>
              </a:rPr>
            </a:br>
            <a:r>
              <a:rPr lang="en-US" sz="900" b="0" dirty="0">
                <a:solidFill>
                  <a:srgbClr val="000000"/>
                </a:solidFill>
              </a:rPr>
              <a:t>&lt;output omitted&gt;</a:t>
            </a:r>
            <a:r>
              <a:rPr lang="en-US" sz="1100" b="0" dirty="0">
                <a:solidFill>
                  <a:srgbClr val="000000"/>
                </a:solidFill>
                <a:latin typeface="Courier New" charset="0"/>
              </a:rPr>
              <a:t> </a:t>
            </a:r>
          </a:p>
        </p:txBody>
      </p:sp>
    </p:spTree>
    <p:extLst>
      <p:ext uri="{BB962C8B-B14F-4D97-AF65-F5344CB8AC3E}">
        <p14:creationId xmlns:p14="http://schemas.microsoft.com/office/powerpoint/2010/main" val="1141109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a:t>THE END</a:t>
            </a:r>
          </a:p>
        </p:txBody>
      </p:sp>
      <p:sp>
        <p:nvSpPr>
          <p:cNvPr id="5" name="Subtitle 4"/>
          <p:cNvSpPr>
            <a:spLocks noGrp="1"/>
          </p:cNvSpPr>
          <p:nvPr>
            <p:ph type="subTitle" idx="1"/>
          </p:nvPr>
        </p:nvSpPr>
        <p:spPr/>
        <p:txBody>
          <a:bodyPr/>
          <a:lstStyle/>
          <a:p>
            <a:endParaRPr lang="en-SG"/>
          </a:p>
        </p:txBody>
      </p:sp>
    </p:spTree>
    <p:extLst>
      <p:ext uri="{BB962C8B-B14F-4D97-AF65-F5344CB8AC3E}">
        <p14:creationId xmlns:p14="http://schemas.microsoft.com/office/powerpoint/2010/main" val="1886980460"/>
      </p:ext>
    </p:extLst>
  </p:cSld>
  <p:clrMapOvr>
    <a:masterClrMapping/>
  </p:clrMapOvr>
</p:sld>
</file>

<file path=ppt/theme/theme1.xml><?xml version="1.0" encoding="utf-8"?>
<a:theme xmlns:a="http://schemas.openxmlformats.org/drawingml/2006/main" nam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id="{C1C5D1BB-B8B3-449E-ABE3-BD1ADC446175}" vid="{8783730B-F0DD-45C7-9301-B01A4242EB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Template>
  <TotalTime>1198</TotalTime>
  <Words>1347</Words>
  <Application>Microsoft Office PowerPoint</Application>
  <PresentationFormat>Widescreen</PresentationFormat>
  <Paragraphs>120</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Gill Sans MT</vt:lpstr>
      <vt:lpstr>Theme</vt:lpstr>
      <vt:lpstr>Protocol Security</vt:lpstr>
      <vt:lpstr>Learning Outcomes</vt:lpstr>
      <vt:lpstr>Protecting the Layer 2 and 3 Switch</vt:lpstr>
      <vt:lpstr>Types of Attacks:</vt:lpstr>
      <vt:lpstr>How does MAC address table in switch work?</vt:lpstr>
      <vt:lpstr>Packet Tracer Example</vt:lpstr>
      <vt:lpstr>MAC Address Spoofing</vt:lpstr>
      <vt:lpstr>MAC Address Table Overflow Attack</vt:lpstr>
      <vt:lpstr>Mitigation Techniques for MAC attacks</vt:lpstr>
      <vt:lpstr>Port Security</vt:lpstr>
      <vt:lpstr>Configuring Port Security</vt:lpstr>
      <vt:lpstr>Configuring Port Security cont…</vt:lpstr>
      <vt:lpstr>How to revert port status?</vt:lpstr>
      <vt:lpstr>Types of Attacks:</vt:lpstr>
      <vt:lpstr>How do LAN Storms Occur?</vt:lpstr>
      <vt:lpstr>Mitigation Techniques for B.Storms</vt:lpstr>
      <vt:lpstr>Configuring Storm Control</vt:lpstr>
      <vt:lpstr>Configuring Storm Control cont…</vt:lpstr>
      <vt:lpstr>THE END</vt:lpstr>
    </vt:vector>
  </TitlesOfParts>
  <Company>Nanyang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 Security</dc:title>
  <dc:creator>ARTHI CHANDRASEKARAN</dc:creator>
  <cp:lastModifiedBy>ARTHI CHANDRASEKARAN</cp:lastModifiedBy>
  <cp:revision>88</cp:revision>
  <dcterms:created xsi:type="dcterms:W3CDTF">2017-08-22T01:43:32Z</dcterms:created>
  <dcterms:modified xsi:type="dcterms:W3CDTF">2018-10-09T08:59:42Z</dcterms:modified>
</cp:coreProperties>
</file>