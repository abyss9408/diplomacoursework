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34" r:id="rId1"/>
    <p:sldMasterId id="2147483799" r:id="rId2"/>
  </p:sldMasterIdLst>
  <p:notesMasterIdLst>
    <p:notesMasterId r:id="rId54"/>
  </p:notesMasterIdLst>
  <p:handoutMasterIdLst>
    <p:handoutMasterId r:id="rId55"/>
  </p:handoutMasterIdLst>
  <p:sldIdLst>
    <p:sldId id="678" r:id="rId3"/>
    <p:sldId id="694" r:id="rId4"/>
    <p:sldId id="695" r:id="rId5"/>
    <p:sldId id="697" r:id="rId6"/>
    <p:sldId id="705" r:id="rId7"/>
    <p:sldId id="706" r:id="rId8"/>
    <p:sldId id="708" r:id="rId9"/>
    <p:sldId id="710" r:id="rId10"/>
    <p:sldId id="711" r:id="rId11"/>
    <p:sldId id="712" r:id="rId12"/>
    <p:sldId id="720" r:id="rId13"/>
    <p:sldId id="721" r:id="rId14"/>
    <p:sldId id="723" r:id="rId15"/>
    <p:sldId id="724" r:id="rId16"/>
    <p:sldId id="725" r:id="rId17"/>
    <p:sldId id="726" r:id="rId18"/>
    <p:sldId id="790" r:id="rId19"/>
    <p:sldId id="728" r:id="rId20"/>
    <p:sldId id="729" r:id="rId21"/>
    <p:sldId id="727" r:id="rId22"/>
    <p:sldId id="733" r:id="rId23"/>
    <p:sldId id="734" r:id="rId24"/>
    <p:sldId id="735" r:id="rId25"/>
    <p:sldId id="789" r:id="rId26"/>
    <p:sldId id="747" r:id="rId27"/>
    <p:sldId id="748" r:id="rId28"/>
    <p:sldId id="749" r:id="rId29"/>
    <p:sldId id="750" r:id="rId30"/>
    <p:sldId id="751" r:id="rId31"/>
    <p:sldId id="752" r:id="rId32"/>
    <p:sldId id="753" r:id="rId33"/>
    <p:sldId id="754" r:id="rId34"/>
    <p:sldId id="755" r:id="rId35"/>
    <p:sldId id="791" r:id="rId36"/>
    <p:sldId id="756" r:id="rId37"/>
    <p:sldId id="757" r:id="rId38"/>
    <p:sldId id="758" r:id="rId39"/>
    <p:sldId id="759" r:id="rId40"/>
    <p:sldId id="760" r:id="rId41"/>
    <p:sldId id="770" r:id="rId42"/>
    <p:sldId id="771" r:id="rId43"/>
    <p:sldId id="772" r:id="rId44"/>
    <p:sldId id="773" r:id="rId45"/>
    <p:sldId id="779" r:id="rId46"/>
    <p:sldId id="780" r:id="rId47"/>
    <p:sldId id="781" r:id="rId48"/>
    <p:sldId id="782" r:id="rId49"/>
    <p:sldId id="783" r:id="rId50"/>
    <p:sldId id="792" r:id="rId51"/>
    <p:sldId id="793" r:id="rId52"/>
    <p:sldId id="686" r:id="rId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08"/>
    <a:srgbClr val="EFFFEF"/>
    <a:srgbClr val="004E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10" autoAdjust="0"/>
    <p:restoredTop sz="94343" autoAdjust="0"/>
  </p:normalViewPr>
  <p:slideViewPr>
    <p:cSldViewPr>
      <p:cViewPr varScale="1">
        <p:scale>
          <a:sx n="69" d="100"/>
          <a:sy n="69" d="100"/>
        </p:scale>
        <p:origin x="1416" y="66"/>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1446"/>
    </p:cViewPr>
  </p:sorterViewPr>
  <p:notesViewPr>
    <p:cSldViewPr>
      <p:cViewPr varScale="1">
        <p:scale>
          <a:sx n="83" d="100"/>
          <a:sy n="83" d="100"/>
        </p:scale>
        <p:origin x="-204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_rels/viewProps.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smtClean="0">
                <a:latin typeface="Arial" charset="0"/>
                <a:cs typeface="Arial" charset="0"/>
              </a:defRPr>
            </a:lvl1pPr>
          </a:lstStyle>
          <a:p>
            <a:pPr>
              <a:defRPr/>
            </a:pPr>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smtClean="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D1528AB-8317-4179-B2C5-4621BD51016E}" type="slidenum">
              <a:rPr lang="en-US"/>
              <a:pPr/>
              <a:t>‹#›</a:t>
            </a:fld>
            <a:endParaRPr lang="en-US"/>
          </a:p>
        </p:txBody>
      </p:sp>
      <p:sp>
        <p:nvSpPr>
          <p:cNvPr id="106501" name="Text Box 22"/>
          <p:cNvSpPr txBox="1">
            <a:spLocks noChangeArrowheads="1"/>
          </p:cNvSpPr>
          <p:nvPr/>
        </p:nvSpPr>
        <p:spPr bwMode="auto">
          <a:xfrm>
            <a:off x="1066800" y="12700"/>
            <a:ext cx="3440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723" tIns="45862" rIns="91723" bIns="45862">
            <a:spAutoFit/>
          </a:bodyPr>
          <a:lstStyle>
            <a:lvl1pPr defTabSz="917575" eaLnBrk="0" hangingPunct="0">
              <a:defRPr>
                <a:solidFill>
                  <a:schemeClr val="tx1"/>
                </a:solidFill>
                <a:latin typeface="Arial" charset="0"/>
                <a:cs typeface="Arial" charset="0"/>
              </a:defRPr>
            </a:lvl1pPr>
            <a:lvl2pPr marL="742950" indent="-285750" defTabSz="917575" eaLnBrk="0" hangingPunct="0">
              <a:defRPr>
                <a:solidFill>
                  <a:schemeClr val="tx1"/>
                </a:solidFill>
                <a:latin typeface="Arial" charset="0"/>
                <a:cs typeface="Arial" charset="0"/>
              </a:defRPr>
            </a:lvl2pPr>
            <a:lvl3pPr marL="1143000" indent="-228600" defTabSz="917575" eaLnBrk="0" hangingPunct="0">
              <a:defRPr>
                <a:solidFill>
                  <a:schemeClr val="tx1"/>
                </a:solidFill>
                <a:latin typeface="Arial" charset="0"/>
                <a:cs typeface="Arial" charset="0"/>
              </a:defRPr>
            </a:lvl3pPr>
            <a:lvl4pPr marL="1600200" indent="-228600" defTabSz="917575" eaLnBrk="0" hangingPunct="0">
              <a:defRPr>
                <a:solidFill>
                  <a:schemeClr val="tx1"/>
                </a:solidFill>
                <a:latin typeface="Arial" charset="0"/>
                <a:cs typeface="Arial" charset="0"/>
              </a:defRPr>
            </a:lvl4pPr>
            <a:lvl5pPr marL="2057400" indent="-228600" defTabSz="917575" eaLnBrk="0" hangingPunct="0">
              <a:defRPr>
                <a:solidFill>
                  <a:schemeClr val="tx1"/>
                </a:solidFill>
                <a:latin typeface="Arial" charset="0"/>
                <a:cs typeface="Arial" charset="0"/>
              </a:defRPr>
            </a:lvl5pPr>
            <a:lvl6pPr marL="2514600" indent="-228600" defTabSz="917575" eaLnBrk="0" fontAlgn="base" hangingPunct="0">
              <a:spcBef>
                <a:spcPct val="0"/>
              </a:spcBef>
              <a:spcAft>
                <a:spcPct val="0"/>
              </a:spcAft>
              <a:defRPr>
                <a:solidFill>
                  <a:schemeClr val="tx1"/>
                </a:solidFill>
                <a:latin typeface="Arial" charset="0"/>
                <a:cs typeface="Arial" charset="0"/>
              </a:defRPr>
            </a:lvl6pPr>
            <a:lvl7pPr marL="2971800" indent="-228600" defTabSz="917575" eaLnBrk="0" fontAlgn="base" hangingPunct="0">
              <a:spcBef>
                <a:spcPct val="0"/>
              </a:spcBef>
              <a:spcAft>
                <a:spcPct val="0"/>
              </a:spcAft>
              <a:defRPr>
                <a:solidFill>
                  <a:schemeClr val="tx1"/>
                </a:solidFill>
                <a:latin typeface="Arial" charset="0"/>
                <a:cs typeface="Arial" charset="0"/>
              </a:defRPr>
            </a:lvl7pPr>
            <a:lvl8pPr marL="3429000" indent="-228600" defTabSz="917575" eaLnBrk="0" fontAlgn="base" hangingPunct="0">
              <a:spcBef>
                <a:spcPct val="0"/>
              </a:spcBef>
              <a:spcAft>
                <a:spcPct val="0"/>
              </a:spcAft>
              <a:defRPr>
                <a:solidFill>
                  <a:schemeClr val="tx1"/>
                </a:solidFill>
                <a:latin typeface="Arial" charset="0"/>
                <a:cs typeface="Arial" charset="0"/>
              </a:defRPr>
            </a:lvl8pPr>
            <a:lvl9pPr marL="3886200" indent="-228600" defTabSz="917575" eaLnBrk="0" fontAlgn="base" hangingPunct="0">
              <a:spcBef>
                <a:spcPct val="0"/>
              </a:spcBef>
              <a:spcAft>
                <a:spcPct val="0"/>
              </a:spcAft>
              <a:defRPr>
                <a:solidFill>
                  <a:schemeClr val="tx1"/>
                </a:solidFill>
                <a:latin typeface="Arial" charset="0"/>
                <a:cs typeface="Arial" charset="0"/>
              </a:defRPr>
            </a:lvl9pPr>
          </a:lstStyle>
          <a:p>
            <a:pPr algn="ctr">
              <a:defRPr/>
            </a:pPr>
            <a:r>
              <a:rPr lang="en-US" sz="900">
                <a:latin typeface="Verdana" pitchFamily="34" charset="0"/>
              </a:rPr>
              <a:t>Diploma in Engineering Informatics</a:t>
            </a:r>
          </a:p>
          <a:p>
            <a:pPr algn="ctr">
              <a:defRPr/>
            </a:pPr>
            <a:r>
              <a:rPr lang="en-US" sz="900">
                <a:latin typeface="Verdana" pitchFamily="34" charset="0"/>
              </a:rPr>
              <a:t>School of Information Technology, Nanyang Polytechnic</a:t>
            </a:r>
          </a:p>
        </p:txBody>
      </p:sp>
      <p:grpSp>
        <p:nvGrpSpPr>
          <p:cNvPr id="12294" name="Group 31"/>
          <p:cNvGrpSpPr>
            <a:grpSpLocks/>
          </p:cNvGrpSpPr>
          <p:nvPr/>
        </p:nvGrpSpPr>
        <p:grpSpPr bwMode="auto">
          <a:xfrm>
            <a:off x="4706938" y="0"/>
            <a:ext cx="2098675" cy="776288"/>
            <a:chOff x="6480" y="13680"/>
            <a:chExt cx="3060" cy="1260"/>
          </a:xfrm>
        </p:grpSpPr>
        <p:sp>
          <p:nvSpPr>
            <p:cNvPr id="106503" name="Text Box 32"/>
            <p:cNvSpPr txBox="1">
              <a:spLocks noChangeArrowheads="1"/>
            </p:cNvSpPr>
            <p:nvPr/>
          </p:nvSpPr>
          <p:spPr bwMode="auto">
            <a:xfrm>
              <a:off x="6480" y="13680"/>
              <a:ext cx="3060" cy="54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defRPr/>
              </a:pPr>
              <a:r>
                <a:rPr lang="en-US" altLang="ko-KR" sz="1000" b="1">
                  <a:latin typeface="Arial Narrow" pitchFamily="34" charset="0"/>
                  <a:ea typeface="Batang" pitchFamily="18" charset="-127"/>
                </a:rPr>
                <a:t>School of Information Technology</a:t>
              </a:r>
              <a:endParaRPr lang="en-US" sz="2400">
                <a:latin typeface="Times New Roman" pitchFamily="18" charset="0"/>
              </a:endParaRPr>
            </a:p>
          </p:txBody>
        </p:sp>
        <p:sp>
          <p:nvSpPr>
            <p:cNvPr id="106504" name="Text Box 33"/>
            <p:cNvSpPr txBox="1">
              <a:spLocks noChangeArrowheads="1"/>
            </p:cNvSpPr>
            <p:nvPr/>
          </p:nvSpPr>
          <p:spPr bwMode="auto">
            <a:xfrm>
              <a:off x="6480" y="14059"/>
              <a:ext cx="3060" cy="881"/>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altLang="ko-KR" sz="1200" b="1">
                  <a:latin typeface="Tahoma" pitchFamily="34" charset="0"/>
                  <a:ea typeface="Batang" pitchFamily="18" charset="-127"/>
                </a:rPr>
                <a:t>UNCONTROLLED</a:t>
              </a:r>
            </a:p>
            <a:p>
              <a:pPr algn="ctr">
                <a:defRPr/>
              </a:pPr>
              <a:r>
                <a:rPr lang="en-US" altLang="ko-KR" sz="1200" b="1">
                  <a:latin typeface="Tahoma" pitchFamily="34" charset="0"/>
                  <a:ea typeface="Batang" pitchFamily="18" charset="-127"/>
                </a:rPr>
                <a:t>COPY</a:t>
              </a:r>
              <a:endParaRPr lang="en-US" sz="2400">
                <a:latin typeface="Times New Roman" pitchFamily="18" charset="0"/>
              </a:endParaRPr>
            </a:p>
          </p:txBody>
        </p:sp>
      </p:grpSp>
    </p:spTree>
    <p:extLst>
      <p:ext uri="{BB962C8B-B14F-4D97-AF65-F5344CB8AC3E}">
        <p14:creationId xmlns:p14="http://schemas.microsoft.com/office/powerpoint/2010/main" val="1052907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smtClean="0">
                <a:latin typeface="Times New Roman" pitchFamily="18" charset="0"/>
                <a:cs typeface="Arial" charset="0"/>
              </a:defRPr>
            </a:lvl1pPr>
          </a:lstStyle>
          <a:p>
            <a:pPr>
              <a:defRPr/>
            </a:pPr>
            <a:endParaRPr lang="en-US"/>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smtClean="0">
                <a:latin typeface="Times New Roman" pitchFamily="18" charset="0"/>
                <a:cs typeface="Arial" charset="0"/>
              </a:defRPr>
            </a:lvl1pPr>
          </a:lstStyle>
          <a:p>
            <a:pPr>
              <a:defRPr/>
            </a:pPr>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smtClean="0">
                <a:latin typeface="Times New Roman" pitchFamily="18" charset="0"/>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fld id="{C099898C-F3C1-4D0B-A195-E8094C69516B}" type="slidenum">
              <a:rPr lang="en-US"/>
              <a:pPr/>
              <a:t>‹#›</a:t>
            </a:fld>
            <a:endParaRPr lang="en-US"/>
          </a:p>
        </p:txBody>
      </p:sp>
    </p:spTree>
    <p:extLst>
      <p:ext uri="{BB962C8B-B14F-4D97-AF65-F5344CB8AC3E}">
        <p14:creationId xmlns:p14="http://schemas.microsoft.com/office/powerpoint/2010/main" val="17078888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C099898C-F3C1-4D0B-A195-E8094C69516B}" type="slidenum">
              <a:rPr lang="en-US" smtClean="0"/>
              <a:pPr/>
              <a:t>1</a:t>
            </a:fld>
            <a:endParaRPr lang="en-US"/>
          </a:p>
        </p:txBody>
      </p:sp>
    </p:spTree>
    <p:extLst>
      <p:ext uri="{BB962C8B-B14F-4D97-AF65-F5344CB8AC3E}">
        <p14:creationId xmlns:p14="http://schemas.microsoft.com/office/powerpoint/2010/main" val="877384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B2A16C3D-BA0D-5340-84DF-A6F5D46ED3A6}" type="slidenum">
              <a:rPr lang="en-US" sz="800" b="0"/>
              <a:pPr/>
              <a:t>2</a:t>
            </a:fld>
            <a:endParaRPr lang="en-US" sz="800" b="0"/>
          </a:p>
        </p:txBody>
      </p:sp>
      <p:sp>
        <p:nvSpPr>
          <p:cNvPr id="136195" name="Rectangle 2"/>
          <p:cNvSpPr>
            <a:spLocks noGrp="1" noRot="1" noChangeAspect="1" noChangeArrowheads="1" noTextEdit="1"/>
          </p:cNvSpPr>
          <p:nvPr>
            <p:ph type="sldImg"/>
          </p:nvPr>
        </p:nvSpPr>
        <p:spPr>
          <a:xfrm>
            <a:off x="869950" y="242888"/>
            <a:ext cx="5316538" cy="3987800"/>
          </a:xfrm>
          <a:ln/>
        </p:spPr>
      </p:sp>
      <p:sp>
        <p:nvSpPr>
          <p:cNvPr id="136196" name="Rectangle 3"/>
          <p:cNvSpPr>
            <a:spLocks noGrp="1" noChangeArrowheads="1"/>
          </p:cNvSpPr>
          <p:nvPr>
            <p:ph type="body" idx="1"/>
          </p:nvPr>
        </p:nvSpPr>
        <p:spPr>
          <a:xfrm>
            <a:off x="403777" y="4372131"/>
            <a:ext cx="6112565" cy="424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intrusion detection system (IDS) is a software- or hardware-based solution that passively listens to network traffic. The IDS is not in the traffic path, but listens promiscuously to all traffic on the network. Typically, only one promiscuous interface is required for network monitoring. Additional promiscuous interfaces can be used to monitor multiple networks. When the IDS detects malicious traffic, the IDS sends an alert to the management station.</a:t>
            </a:r>
          </a:p>
          <a:p>
            <a:r>
              <a:rPr lang="en-US"/>
              <a:t>The IDS has limited active response capabilities. When configured, the IDS can block further malicious traffic by actively configuring network devices (for example, security appliances or routers) in response to malicious traffic detection. However, the original malicious traffic has already passed through the network to the intended destination and cannot be blocked. Only subsequent traffic will be blocked. The IDS also has the capability of sending a TCP reset to the end host to terminate any malicious TCP connections.</a:t>
            </a:r>
            <a:endParaRPr lang="en-GB"/>
          </a:p>
        </p:txBody>
      </p:sp>
    </p:spTree>
    <p:extLst>
      <p:ext uri="{BB962C8B-B14F-4D97-AF65-F5344CB8AC3E}">
        <p14:creationId xmlns:p14="http://schemas.microsoft.com/office/powerpoint/2010/main" val="3953857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0F6BDCFB-E583-CA46-9598-8359DCE57E17}" type="slidenum">
              <a:rPr lang="en-US" sz="800" b="0"/>
              <a:pPr/>
              <a:t>3</a:t>
            </a:fld>
            <a:endParaRPr lang="en-US" sz="800" b="0"/>
          </a:p>
        </p:txBody>
      </p:sp>
      <p:sp>
        <p:nvSpPr>
          <p:cNvPr id="137219" name="Rectangle 2"/>
          <p:cNvSpPr>
            <a:spLocks noGrp="1" noRot="1" noChangeAspect="1" noChangeArrowheads="1" noTextEdit="1"/>
          </p:cNvSpPr>
          <p:nvPr>
            <p:ph type="sldImg"/>
          </p:nvPr>
        </p:nvSpPr>
        <p:spPr>
          <a:xfrm>
            <a:off x="869950" y="242888"/>
            <a:ext cx="5316538" cy="3987800"/>
          </a:xfrm>
          <a:ln/>
        </p:spPr>
      </p:sp>
      <p:sp>
        <p:nvSpPr>
          <p:cNvPr id="137220" name="Rectangle 3"/>
          <p:cNvSpPr>
            <a:spLocks noGrp="1" noChangeArrowheads="1"/>
          </p:cNvSpPr>
          <p:nvPr>
            <p:ph type="body" idx="1"/>
          </p:nvPr>
        </p:nvSpPr>
        <p:spPr>
          <a:xfrm>
            <a:off x="403777" y="4372131"/>
            <a:ext cx="6112565" cy="424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287456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27D95BBA-90A1-0348-911C-32E7E768F55B}" type="slidenum">
              <a:rPr lang="en-US" sz="800" b="0"/>
              <a:pPr/>
              <a:t>4</a:t>
            </a:fld>
            <a:endParaRPr lang="en-US" sz="800" b="0"/>
          </a:p>
        </p:txBody>
      </p:sp>
      <p:sp>
        <p:nvSpPr>
          <p:cNvPr id="138243" name="Rectangle 2"/>
          <p:cNvSpPr>
            <a:spLocks noGrp="1" noRot="1" noChangeAspect="1" noChangeArrowheads="1" noTextEdit="1"/>
          </p:cNvSpPr>
          <p:nvPr>
            <p:ph type="sldImg"/>
          </p:nvPr>
        </p:nvSpPr>
        <p:spPr>
          <a:xfrm>
            <a:off x="841375" y="241300"/>
            <a:ext cx="5232400" cy="3924300"/>
          </a:xfrm>
          <a:ln/>
        </p:spPr>
      </p:sp>
      <p:sp>
        <p:nvSpPr>
          <p:cNvPr id="138244" name="Rectangle 3"/>
          <p:cNvSpPr>
            <a:spLocks noGrp="1" noChangeArrowheads="1"/>
          </p:cNvSpPr>
          <p:nvPr>
            <p:ph type="body" idx="1"/>
          </p:nvPr>
        </p:nvSpPr>
        <p:spPr>
          <a:xfrm>
            <a:off x="397566" y="4306550"/>
            <a:ext cx="5986774" cy="41831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2432481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BBBD198B-5E9C-DB4F-9C7D-53C00071727D}" type="slidenum">
              <a:rPr lang="en-US" sz="800" b="0"/>
              <a:pPr/>
              <a:t>20</a:t>
            </a:fld>
            <a:endParaRPr lang="en-US" sz="800" b="0"/>
          </a:p>
        </p:txBody>
      </p:sp>
      <p:sp>
        <p:nvSpPr>
          <p:cNvPr id="148483" name="Rectangle 2"/>
          <p:cNvSpPr>
            <a:spLocks noGrp="1" noRot="1" noChangeAspect="1" noChangeArrowheads="1" noTextEdit="1"/>
          </p:cNvSpPr>
          <p:nvPr>
            <p:ph type="sldImg"/>
          </p:nvPr>
        </p:nvSpPr>
        <p:spPr>
          <a:xfrm>
            <a:off x="841375" y="241300"/>
            <a:ext cx="5221288" cy="3917950"/>
          </a:xfrm>
          <a:ln/>
        </p:spPr>
      </p:sp>
      <p:sp>
        <p:nvSpPr>
          <p:cNvPr id="148484" name="Rectangle 3"/>
          <p:cNvSpPr>
            <a:spLocks noGrp="1" noChangeArrowheads="1"/>
          </p:cNvSpPr>
          <p:nvPr>
            <p:ph type="body" idx="1"/>
          </p:nvPr>
        </p:nvSpPr>
        <p:spPr>
          <a:xfrm>
            <a:off x="397565" y="4300303"/>
            <a:ext cx="5975902" cy="417850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89852" tIns="44928" rIns="89852" bIns="44928"/>
          <a:lstStyle/>
          <a:p>
            <a:endParaRPr lang="de-DE"/>
          </a:p>
        </p:txBody>
      </p:sp>
    </p:spTree>
    <p:extLst>
      <p:ext uri="{BB962C8B-B14F-4D97-AF65-F5344CB8AC3E}">
        <p14:creationId xmlns:p14="http://schemas.microsoft.com/office/powerpoint/2010/main" val="1110001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D1AECAA0-3ACD-044A-B0F7-1B3AF83E2716}" type="slidenum">
              <a:rPr lang="en-US" sz="800" b="0"/>
              <a:pPr/>
              <a:t>26</a:t>
            </a:fld>
            <a:endParaRPr lang="en-US" sz="800" b="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xfrm>
            <a:off x="396013" y="4306550"/>
            <a:ext cx="5988326" cy="41831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Cisco SDFs are updated and posted to Cisco.com on a regular basis. Thus, customers can download signatures that help protect networks from the latest known network attacks.</a:t>
            </a:r>
          </a:p>
          <a:p>
            <a:r>
              <a:rPr lang="en-US"/>
              <a:t>Multiple definition sources are available, such as the default, built-in signatures that are shipped with the routers, or the SDF files named 64MB.sdf, 128MB.sdf, and 256MB.sdf. The files differ in the number of configured signatures. The administrator should select the appropriate SDF file based on the amount of RAM memory in the router. </a:t>
            </a:r>
          </a:p>
        </p:txBody>
      </p:sp>
    </p:spTree>
    <p:extLst>
      <p:ext uri="{BB962C8B-B14F-4D97-AF65-F5344CB8AC3E}">
        <p14:creationId xmlns:p14="http://schemas.microsoft.com/office/powerpoint/2010/main" val="1452606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1EF1B587-A5DC-ED4A-9794-FA6DC29663AF}" type="slidenum">
              <a:rPr lang="en-US" sz="800" b="0"/>
              <a:pPr/>
              <a:t>44</a:t>
            </a:fld>
            <a:endParaRPr lang="en-US" sz="800" b="0"/>
          </a:p>
        </p:txBody>
      </p:sp>
      <p:sp>
        <p:nvSpPr>
          <p:cNvPr id="160771" name="Rectangle 2"/>
          <p:cNvSpPr>
            <a:spLocks noGrp="1" noRot="1" noChangeAspect="1" noChangeArrowheads="1" noTextEdit="1"/>
          </p:cNvSpPr>
          <p:nvPr>
            <p:ph type="sldImg"/>
          </p:nvPr>
        </p:nvSpPr>
        <p:spPr>
          <a:xfrm>
            <a:off x="1143000" y="685800"/>
            <a:ext cx="4572000" cy="3429000"/>
          </a:xfrm>
          <a:ln/>
        </p:spPr>
      </p:sp>
      <p:sp>
        <p:nvSpPr>
          <p:cNvPr id="160772" name="Rectangle 3"/>
          <p:cNvSpPr>
            <a:spLocks noGrp="1" noChangeArrowheads="1"/>
          </p:cNvSpPr>
          <p:nvPr>
            <p:ph type="body" idx="1"/>
          </p:nvPr>
        </p:nvSpPr>
        <p:spPr>
          <a:xfrm>
            <a:off x="914711" y="4344025"/>
            <a:ext cx="5028579"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1701887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772CAE83-C141-2D43-BAC6-02859A2E9BF7}" type="slidenum">
              <a:rPr lang="en-US" sz="800" b="0"/>
              <a:pPr/>
              <a:t>45</a:t>
            </a:fld>
            <a:endParaRPr lang="en-US" sz="800" b="0"/>
          </a:p>
        </p:txBody>
      </p:sp>
      <p:sp>
        <p:nvSpPr>
          <p:cNvPr id="161795" name="Rectangle 2"/>
          <p:cNvSpPr>
            <a:spLocks noGrp="1" noRot="1" noChangeAspect="1" noChangeArrowheads="1" noTextEdit="1"/>
          </p:cNvSpPr>
          <p:nvPr>
            <p:ph type="sldImg"/>
          </p:nvPr>
        </p:nvSpPr>
        <p:spPr>
          <a:xfrm>
            <a:off x="1143000" y="685800"/>
            <a:ext cx="4572000" cy="3429000"/>
          </a:xfrm>
          <a:ln/>
        </p:spPr>
      </p:sp>
      <p:sp>
        <p:nvSpPr>
          <p:cNvPr id="161796" name="Rectangle 3"/>
          <p:cNvSpPr>
            <a:spLocks noGrp="1" noChangeArrowheads="1"/>
          </p:cNvSpPr>
          <p:nvPr>
            <p:ph type="body" idx="1"/>
          </p:nvPr>
        </p:nvSpPr>
        <p:spPr>
          <a:xfrm>
            <a:off x="914711" y="4344025"/>
            <a:ext cx="5028579"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3517790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A8CCDCA3-48AC-A14B-A07E-3987578ADE65}" type="slidenum">
              <a:rPr lang="en-US" sz="800" b="0"/>
              <a:pPr/>
              <a:t>46</a:t>
            </a:fld>
            <a:endParaRPr lang="en-US" sz="800" b="0"/>
          </a:p>
        </p:txBody>
      </p:sp>
      <p:sp>
        <p:nvSpPr>
          <p:cNvPr id="162819" name="Rectangle 2"/>
          <p:cNvSpPr>
            <a:spLocks noGrp="1" noRot="1" noChangeAspect="1" noChangeArrowheads="1" noTextEdit="1"/>
          </p:cNvSpPr>
          <p:nvPr>
            <p:ph type="sldImg"/>
          </p:nvPr>
        </p:nvSpPr>
        <p:spPr>
          <a:xfrm>
            <a:off x="1143000" y="685800"/>
            <a:ext cx="4572000" cy="3429000"/>
          </a:xfrm>
          <a:ln/>
        </p:spPr>
      </p:sp>
      <p:sp>
        <p:nvSpPr>
          <p:cNvPr id="162820" name="Rectangle 3"/>
          <p:cNvSpPr>
            <a:spLocks noGrp="1" noChangeArrowheads="1"/>
          </p:cNvSpPr>
          <p:nvPr>
            <p:ph type="body" idx="1"/>
          </p:nvPr>
        </p:nvSpPr>
        <p:spPr>
          <a:xfrm>
            <a:off x="914711" y="4344025"/>
            <a:ext cx="5028579"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1123311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A8BD6B0D-1EFD-5A41-85A4-31BF4A70C819}" type="slidenum">
              <a:rPr lang="en-US" sz="800" b="0"/>
              <a:pPr/>
              <a:t>47</a:t>
            </a:fld>
            <a:endParaRPr lang="en-US" sz="800" b="0"/>
          </a:p>
        </p:txBody>
      </p:sp>
      <p:sp>
        <p:nvSpPr>
          <p:cNvPr id="163843" name="Rectangle 2"/>
          <p:cNvSpPr>
            <a:spLocks noGrp="1" noRot="1" noChangeAspect="1" noChangeArrowheads="1" noTextEdit="1"/>
          </p:cNvSpPr>
          <p:nvPr>
            <p:ph type="sldImg"/>
          </p:nvPr>
        </p:nvSpPr>
        <p:spPr>
          <a:xfrm>
            <a:off x="1143000" y="685800"/>
            <a:ext cx="4572000" cy="3429000"/>
          </a:xfrm>
          <a:ln/>
        </p:spPr>
      </p:sp>
      <p:sp>
        <p:nvSpPr>
          <p:cNvPr id="163844" name="Rectangle 3"/>
          <p:cNvSpPr>
            <a:spLocks noGrp="1" noChangeArrowheads="1"/>
          </p:cNvSpPr>
          <p:nvPr>
            <p:ph type="body" idx="1"/>
          </p:nvPr>
        </p:nvSpPr>
        <p:spPr>
          <a:xfrm>
            <a:off x="914711" y="4344025"/>
            <a:ext cx="5028579"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286759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b="1">
                <a:solidFill>
                  <a:schemeClr val="tx1"/>
                </a:solidFill>
                <a:latin typeface="Arial" charset="0"/>
                <a:ea typeface="ＭＳ Ｐゴシック" charset="0"/>
              </a:defRPr>
            </a:lvl1pPr>
            <a:lvl2pPr marL="729057" indent="-280406" defTabSz="886397">
              <a:defRPr sz="2400" b="1">
                <a:solidFill>
                  <a:schemeClr val="tx1"/>
                </a:solidFill>
                <a:latin typeface="Arial" charset="0"/>
                <a:ea typeface="ＭＳ Ｐゴシック" charset="0"/>
              </a:defRPr>
            </a:lvl2pPr>
            <a:lvl3pPr marL="1121626" indent="-224325" defTabSz="886397">
              <a:defRPr sz="2400" b="1">
                <a:solidFill>
                  <a:schemeClr val="tx1"/>
                </a:solidFill>
                <a:latin typeface="Arial" charset="0"/>
                <a:ea typeface="ＭＳ Ｐゴシック" charset="0"/>
              </a:defRPr>
            </a:lvl3pPr>
            <a:lvl4pPr marL="1570276" indent="-224325" defTabSz="886397">
              <a:defRPr sz="2400" b="1">
                <a:solidFill>
                  <a:schemeClr val="tx1"/>
                </a:solidFill>
                <a:latin typeface="Arial" charset="0"/>
                <a:ea typeface="ＭＳ Ｐゴシック" charset="0"/>
              </a:defRPr>
            </a:lvl4pPr>
            <a:lvl5pPr marL="2018927" indent="-224325" defTabSz="886397">
              <a:defRPr sz="2400" b="1">
                <a:solidFill>
                  <a:schemeClr val="tx1"/>
                </a:solidFill>
                <a:latin typeface="Arial" charset="0"/>
                <a:ea typeface="ＭＳ Ｐゴシック" charset="0"/>
              </a:defRPr>
            </a:lvl5pPr>
            <a:lvl6pPr marL="246757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16227"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36487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13528" indent="-224325" defTabSz="886397"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263E0E79-6CB4-4A44-B3A4-89AB0A3C9962}" type="slidenum">
              <a:rPr lang="en-US" sz="800" b="0"/>
              <a:pPr/>
              <a:t>48</a:t>
            </a:fld>
            <a:endParaRPr lang="en-US" sz="800" b="0"/>
          </a:p>
        </p:txBody>
      </p:sp>
      <p:sp>
        <p:nvSpPr>
          <p:cNvPr id="164867" name="Rectangle 2"/>
          <p:cNvSpPr>
            <a:spLocks noGrp="1" noRot="1" noChangeAspect="1" noChangeArrowheads="1" noTextEdit="1"/>
          </p:cNvSpPr>
          <p:nvPr>
            <p:ph type="sldImg"/>
          </p:nvPr>
        </p:nvSpPr>
        <p:spPr>
          <a:xfrm>
            <a:off x="1143000" y="685800"/>
            <a:ext cx="4572000" cy="3429000"/>
          </a:xfrm>
          <a:ln/>
        </p:spPr>
      </p:sp>
      <p:sp>
        <p:nvSpPr>
          <p:cNvPr id="164868" name="Rectangle 3"/>
          <p:cNvSpPr>
            <a:spLocks noGrp="1" noChangeArrowheads="1"/>
          </p:cNvSpPr>
          <p:nvPr>
            <p:ph type="body" idx="1"/>
          </p:nvPr>
        </p:nvSpPr>
        <p:spPr>
          <a:xfrm>
            <a:off x="914711" y="4344025"/>
            <a:ext cx="5028579"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p>
        </p:txBody>
      </p:sp>
    </p:spTree>
    <p:extLst>
      <p:ext uri="{BB962C8B-B14F-4D97-AF65-F5344CB8AC3E}">
        <p14:creationId xmlns:p14="http://schemas.microsoft.com/office/powerpoint/2010/main" val="1476524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CD6CE926-5A31-4115-BBFA-C013C0BAB72C}" type="slidenum">
              <a:rPr lang="en-US" smtClean="0"/>
              <a:pPr/>
              <a:t>51</a:t>
            </a:fld>
            <a:endParaRPr lang="en-US"/>
          </a:p>
        </p:txBody>
      </p:sp>
      <p:sp>
        <p:nvSpPr>
          <p:cNvPr id="119811" name="Rectangle 2"/>
          <p:cNvSpPr>
            <a:spLocks noGrp="1" noRot="1" noChangeAspect="1" noChangeArrowheads="1" noTextEdit="1"/>
          </p:cNvSpPr>
          <p:nvPr>
            <p:ph type="sldImg"/>
          </p:nvPr>
        </p:nvSpPr>
        <p:spPr>
          <a:solidFill>
            <a:srgbClr val="FFFFFF"/>
          </a:solidFill>
          <a:ln/>
        </p:spPr>
      </p:sp>
      <p:sp>
        <p:nvSpPr>
          <p:cNvPr id="1198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803321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41"/>
          <p:cNvSpPr/>
          <p:nvPr/>
        </p:nvSpPr>
        <p:spPr>
          <a:xfrm>
            <a:off x="222250" y="681038"/>
            <a:ext cx="793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5" name="Rectangle 19"/>
          <p:cNvSpPr>
            <a:spLocks noChangeArrowheads="1"/>
          </p:cNvSpPr>
          <p:nvPr/>
        </p:nvSpPr>
        <p:spPr bwMode="auto">
          <a:xfrm>
            <a:off x="790575" y="6532563"/>
            <a:ext cx="4572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SG" sz="800" dirty="0">
                <a:solidFill>
                  <a:srgbClr val="0D5A50"/>
                </a:solidFill>
              </a:rPr>
              <a:t>Network Security </a:t>
            </a:r>
            <a:r>
              <a:rPr lang="en-US" sz="800" dirty="0">
                <a:solidFill>
                  <a:srgbClr val="0D5A50"/>
                </a:solidFill>
              </a:rPr>
              <a:t>© </a:t>
            </a:r>
            <a:r>
              <a:rPr lang="en-US" sz="800" dirty="0" err="1">
                <a:solidFill>
                  <a:srgbClr val="0D5A50"/>
                </a:solidFill>
              </a:rPr>
              <a:t>Nanyang</a:t>
            </a:r>
            <a:r>
              <a:rPr lang="en-US" sz="800" dirty="0">
                <a:solidFill>
                  <a:srgbClr val="0D5A50"/>
                </a:solidFill>
              </a:rPr>
              <a:t> Polytechnic</a:t>
            </a:r>
            <a:endParaRPr lang="en-SG" sz="800" dirty="0">
              <a:solidFill>
                <a:srgbClr val="0D5A50"/>
              </a:solidFill>
            </a:endParaRPr>
          </a:p>
        </p:txBody>
      </p:sp>
      <p:sp>
        <p:nvSpPr>
          <p:cNvPr id="8" name="Title 7"/>
          <p:cNvSpPr>
            <a:spLocks noGrp="1"/>
          </p:cNvSpPr>
          <p:nvPr>
            <p:ph type="ctrTitle"/>
          </p:nvPr>
        </p:nvSpPr>
        <p:spPr>
          <a:xfrm>
            <a:off x="3505200" y="4343400"/>
            <a:ext cx="5181600" cy="1975104"/>
          </a:xfrm>
        </p:spPr>
        <p:txBody>
          <a:bodyPr/>
          <a:lstStyle>
            <a:lvl1pPr marR="9144" algn="l">
              <a:defRPr sz="3200" b="1" cap="all" spc="0" baseline="0">
                <a:solidFill>
                  <a:schemeClr val="accent6">
                    <a:lumMod val="50000"/>
                  </a:schemeClr>
                </a:solidFill>
                <a:effectLst>
                  <a:reflection blurRad="12700" stA="34000" endA="740" endPos="53000" dir="5400000" sy="-100000" algn="bl" rotWithShape="0"/>
                </a:effectLst>
                <a:latin typeface="Trebuchet MS" pitchFamily="34" charset="0"/>
              </a:defRPr>
            </a:lvl1pPr>
          </a:lstStyle>
          <a:p>
            <a:r>
              <a:rPr lang="en-US"/>
              <a:t>Click to edit Master title style</a:t>
            </a:r>
            <a:endParaRPr lang="en-US" dirty="0"/>
          </a:p>
        </p:txBody>
      </p:sp>
      <p:sp>
        <p:nvSpPr>
          <p:cNvPr id="9" name="Subtitle 8"/>
          <p:cNvSpPr>
            <a:spLocks noGrp="1"/>
          </p:cNvSpPr>
          <p:nvPr>
            <p:ph type="subTitle" idx="1"/>
          </p:nvPr>
        </p:nvSpPr>
        <p:spPr>
          <a:xfrm>
            <a:off x="3505200" y="2834640"/>
            <a:ext cx="5181600" cy="1508760"/>
          </a:xfrm>
        </p:spPr>
        <p:txBody>
          <a:bodyPr lIns="100584" anchor="b"/>
          <a:lstStyle>
            <a:lvl1pPr marL="0" indent="0" algn="l">
              <a:spcBef>
                <a:spcPts val="0"/>
              </a:spcBef>
              <a:buNone/>
              <a:defRPr sz="3200" b="1">
                <a:solidFill>
                  <a:schemeClr val="bg1">
                    <a:lumMod val="75000"/>
                    <a:lumOff val="25000"/>
                  </a:schemeClr>
                </a:solidFill>
                <a:latin typeface="Trebuchet MS"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6" name="Date Placeholder 27"/>
          <p:cNvSpPr>
            <a:spLocks noGrp="1"/>
          </p:cNvSpPr>
          <p:nvPr>
            <p:ph type="dt" sz="half" idx="10"/>
          </p:nvPr>
        </p:nvSpPr>
        <p:spPr/>
        <p:txBody>
          <a:bodyPr/>
          <a:lstStyle>
            <a:lvl1pPr>
              <a:defRPr smtClean="0"/>
            </a:lvl1pPr>
          </a:lstStyle>
          <a:p>
            <a:pPr>
              <a:defRPr/>
            </a:pPr>
            <a:endParaRPr lang="en-US"/>
          </a:p>
        </p:txBody>
      </p:sp>
      <p:sp>
        <p:nvSpPr>
          <p:cNvPr id="7" name="Slide Number Placeholder 28"/>
          <p:cNvSpPr>
            <a:spLocks noGrp="1"/>
          </p:cNvSpPr>
          <p:nvPr>
            <p:ph type="sldNum" sz="quarter" idx="11"/>
          </p:nvPr>
        </p:nvSpPr>
        <p:spPr/>
        <p:txBody>
          <a:bodyPr/>
          <a:lstStyle>
            <a:lvl1pPr>
              <a:defRPr/>
            </a:lvl1pPr>
          </a:lstStyle>
          <a:p>
            <a:fld id="{2A3EF8BB-7C6D-44F8-8182-B88F92658246}" type="slidenum">
              <a:rPr lang="en-US"/>
              <a:pPr/>
              <a:t>‹#›</a:t>
            </a:fld>
            <a:endParaRPr lang="en-US"/>
          </a:p>
        </p:txBody>
      </p:sp>
    </p:spTree>
    <p:extLst>
      <p:ext uri="{BB962C8B-B14F-4D97-AF65-F5344CB8AC3E}">
        <p14:creationId xmlns:p14="http://schemas.microsoft.com/office/powerpoint/2010/main" val="633580369"/>
      </p:ext>
    </p:extLst>
  </p:cSld>
  <p:clrMapOvr>
    <a:masterClrMapping/>
  </p:clrMapOvr>
  <p:transition spd="med" advTm="15000">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17"/>
          <p:cNvSpPr>
            <a:spLocks noChangeArrowheads="1"/>
          </p:cNvSpPr>
          <p:nvPr/>
        </p:nvSpPr>
        <p:spPr bwMode="auto">
          <a:xfrm>
            <a:off x="790575" y="6532563"/>
            <a:ext cx="4572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SG" sz="800" dirty="0">
                <a:solidFill>
                  <a:srgbClr val="0D5A50"/>
                </a:solidFill>
              </a:rPr>
              <a:t>Network</a:t>
            </a:r>
            <a:r>
              <a:rPr lang="en-SG" sz="800" baseline="0" dirty="0">
                <a:solidFill>
                  <a:srgbClr val="0D5A50"/>
                </a:solidFill>
              </a:rPr>
              <a:t> Security </a:t>
            </a:r>
            <a:r>
              <a:rPr lang="en-US" sz="800" dirty="0">
                <a:solidFill>
                  <a:srgbClr val="0D5A50"/>
                </a:solidFill>
              </a:rPr>
              <a:t>© </a:t>
            </a:r>
            <a:r>
              <a:rPr lang="en-US" sz="800" dirty="0" err="1">
                <a:solidFill>
                  <a:srgbClr val="0D5A50"/>
                </a:solidFill>
              </a:rPr>
              <a:t>Nanyang</a:t>
            </a:r>
            <a:r>
              <a:rPr lang="en-US" sz="800" dirty="0">
                <a:solidFill>
                  <a:srgbClr val="0D5A50"/>
                </a:solidFill>
              </a:rPr>
              <a:t> Polytechnic</a:t>
            </a:r>
            <a:endParaRPr lang="en-SG" sz="800" dirty="0">
              <a:solidFill>
                <a:srgbClr val="0D5A50"/>
              </a:solidFill>
            </a:endParaRPr>
          </a:p>
        </p:txBody>
      </p:sp>
      <p:sp>
        <p:nvSpPr>
          <p:cNvPr id="2" name="Title 1"/>
          <p:cNvSpPr>
            <a:spLocks noGrp="1"/>
          </p:cNvSpPr>
          <p:nvPr>
            <p:ph type="title"/>
          </p:nvPr>
        </p:nvSpPr>
        <p:spPr>
          <a:xfrm>
            <a:off x="776288" y="131765"/>
            <a:ext cx="8139111" cy="630236"/>
          </a:xfrm>
        </p:spPr>
        <p:txBody>
          <a:bodyPr/>
          <a:lstStyle/>
          <a:p>
            <a:r>
              <a:rPr lang="en-US"/>
              <a:t>Click to edit Master title style</a:t>
            </a:r>
          </a:p>
        </p:txBody>
      </p:sp>
      <p:sp>
        <p:nvSpPr>
          <p:cNvPr id="3" name="Content Placeholder 2"/>
          <p:cNvSpPr>
            <a:spLocks noGrp="1"/>
          </p:cNvSpPr>
          <p:nvPr>
            <p:ph idx="1"/>
          </p:nvPr>
        </p:nvSpPr>
        <p:spPr>
          <a:xfrm>
            <a:off x="776287" y="914400"/>
            <a:ext cx="8139111" cy="5441951"/>
          </a:xfrm>
        </p:spPr>
        <p:txBody>
          <a:bodyPr/>
          <a:lstStyle>
            <a:lvl1pPr>
              <a:buClr>
                <a:schemeClr val="accent6">
                  <a:lumMod val="50000"/>
                </a:schemeClr>
              </a:buClr>
              <a:defRPr>
                <a:solidFill>
                  <a:schemeClr val="accent6">
                    <a:lumMod val="50000"/>
                  </a:schemeClr>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13"/>
          <p:cNvSpPr>
            <a:spLocks noGrp="1"/>
          </p:cNvSpPr>
          <p:nvPr>
            <p:ph type="dt" sz="half" idx="10"/>
          </p:nvPr>
        </p:nvSpPr>
        <p:spPr/>
        <p:txBody>
          <a:bodyPr/>
          <a:lstStyle>
            <a:lvl1pPr>
              <a:defRPr smtClean="0"/>
            </a:lvl1pPr>
          </a:lstStyle>
          <a:p>
            <a:pPr>
              <a:defRPr/>
            </a:pPr>
            <a:endParaRPr lang="en-US"/>
          </a:p>
        </p:txBody>
      </p:sp>
      <p:sp>
        <p:nvSpPr>
          <p:cNvPr id="6" name="Slide Number Placeholder 22"/>
          <p:cNvSpPr>
            <a:spLocks noGrp="1"/>
          </p:cNvSpPr>
          <p:nvPr>
            <p:ph type="sldNum" sz="quarter" idx="11"/>
          </p:nvPr>
        </p:nvSpPr>
        <p:spPr/>
        <p:txBody>
          <a:bodyPr/>
          <a:lstStyle>
            <a:lvl1pPr>
              <a:defRPr/>
            </a:lvl1pPr>
          </a:lstStyle>
          <a:p>
            <a:fld id="{BFED3573-B3DD-4682-880B-EB337D5E1BDE}" type="slidenum">
              <a:rPr lang="en-US"/>
              <a:pPr/>
              <a:t>‹#›</a:t>
            </a:fld>
            <a:endParaRPr lang="en-US"/>
          </a:p>
        </p:txBody>
      </p:sp>
    </p:spTree>
    <p:extLst>
      <p:ext uri="{BB962C8B-B14F-4D97-AF65-F5344CB8AC3E}">
        <p14:creationId xmlns:p14="http://schemas.microsoft.com/office/powerpoint/2010/main" val="686258052"/>
      </p:ext>
    </p:extLst>
  </p:cSld>
  <p:clrMapOvr>
    <a:masterClrMapping/>
  </p:clrMapOvr>
  <p:transition spd="med" advTm="15000">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24639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61999" y="1082040"/>
            <a:ext cx="8056563" cy="5394960"/>
          </a:xfrm>
        </p:spPr>
        <p:txBody>
          <a:bodyPr/>
          <a:lstStyle>
            <a:lvl1pPr>
              <a:lnSpc>
                <a:spcPct val="95000"/>
              </a:lnSpc>
              <a:spcBef>
                <a:spcPts val="1480"/>
              </a:spcBef>
              <a:defRPr sz="2200">
                <a:solidFill>
                  <a:srgbClr val="000000"/>
                </a:solidFill>
                <a:latin typeface="+mj-lt"/>
              </a:defRPr>
            </a:lvl1pPr>
            <a:lvl2pPr>
              <a:lnSpc>
                <a:spcPct val="95000"/>
              </a:lnSpc>
              <a:spcBef>
                <a:spcPts val="600"/>
              </a:spcBef>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99890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Bullet_Heavy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2"/>
          <p:cNvSpPr>
            <a:spLocks noGrp="1"/>
          </p:cNvSpPr>
          <p:nvPr>
            <p:ph type="body" sz="half" idx="1"/>
          </p:nvPr>
        </p:nvSpPr>
        <p:spPr>
          <a:xfrm>
            <a:off x="838200" y="914400"/>
            <a:ext cx="3962400"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876800" y="914400"/>
            <a:ext cx="3962400"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0955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3495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50"/>
            <a:ext cx="8170863" cy="533400"/>
          </a:xfrm>
        </p:spPr>
        <p:txBody>
          <a:bodyPr/>
          <a:lstStyle/>
          <a:p>
            <a:r>
              <a:rPr lang="en-US"/>
              <a:t>Click to edit Master title style</a:t>
            </a:r>
          </a:p>
        </p:txBody>
      </p:sp>
      <p:sp>
        <p:nvSpPr>
          <p:cNvPr id="3" name="Table Placeholder 2"/>
          <p:cNvSpPr>
            <a:spLocks noGrp="1"/>
          </p:cNvSpPr>
          <p:nvPr>
            <p:ph type="tbl" idx="1"/>
          </p:nvPr>
        </p:nvSpPr>
        <p:spPr>
          <a:xfrm>
            <a:off x="838200" y="811213"/>
            <a:ext cx="8040688" cy="5822950"/>
          </a:xfrm>
        </p:spPr>
        <p:txBody>
          <a:bodyPr/>
          <a:lstStyle/>
          <a:p>
            <a:pPr lvl="0"/>
            <a:endParaRPr lang="en-US" noProof="0"/>
          </a:p>
        </p:txBody>
      </p:sp>
    </p:spTree>
    <p:extLst>
      <p:ext uri="{BB962C8B-B14F-4D97-AF65-F5344CB8AC3E}">
        <p14:creationId xmlns:p14="http://schemas.microsoft.com/office/powerpoint/2010/main" val="400448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atin typeface="Gill Sans MT" panose="020B05020201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2A3EF8BB-7C6D-44F8-8182-B88F92658246}" type="slidenum">
              <a:rPr lang="en-US" smtClean="0"/>
              <a:pPr/>
              <a:t>‹#›</a:t>
            </a:fld>
            <a:endParaRPr lang="en-US"/>
          </a:p>
        </p:txBody>
      </p:sp>
    </p:spTree>
    <p:extLst>
      <p:ext uri="{BB962C8B-B14F-4D97-AF65-F5344CB8AC3E}">
        <p14:creationId xmlns:p14="http://schemas.microsoft.com/office/powerpoint/2010/main" val="2960079571"/>
      </p:ext>
    </p:extLst>
  </p:cSld>
  <p:clrMapOvr>
    <a:masterClrMapping/>
  </p:clrMapOvr>
  <p:transition spd="med">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100">
                <a:latin typeface="Gill Sans MT" panose="020B0502020104020203" pitchFamily="34" charset="0"/>
              </a:defRPr>
            </a:lvl1pPr>
            <a:lvl2pPr>
              <a:defRPr sz="1800">
                <a:latin typeface="Gill Sans MT" panose="020B0502020104020203" pitchFamily="34" charset="0"/>
              </a:defRPr>
            </a:lvl2pPr>
            <a:lvl3pPr>
              <a:defRPr sz="1500">
                <a:latin typeface="Gill Sans MT" panose="020B0502020104020203" pitchFamily="34" charset="0"/>
              </a:defRPr>
            </a:lvl3pPr>
            <a:lvl4pPr>
              <a:defRPr sz="1350">
                <a:latin typeface="Gill Sans MT" panose="020B0502020104020203" pitchFamily="34" charset="0"/>
              </a:defRPr>
            </a:lvl4pPr>
            <a:lvl5pPr>
              <a:defRPr sz="135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FED3573-B3DD-4682-880B-EB337D5E1BDE}" type="slidenum">
              <a:rPr lang="en-US" smtClean="0"/>
              <a:pPr/>
              <a:t>‹#›</a:t>
            </a:fld>
            <a:endParaRPr lang="en-US"/>
          </a:p>
        </p:txBody>
      </p:sp>
    </p:spTree>
    <p:extLst>
      <p:ext uri="{BB962C8B-B14F-4D97-AF65-F5344CB8AC3E}">
        <p14:creationId xmlns:p14="http://schemas.microsoft.com/office/powerpoint/2010/main" val="1448677923"/>
      </p:ext>
    </p:extLst>
  </p:cSld>
  <p:clrMapOvr>
    <a:masterClrMapping/>
  </p:clrMapOvr>
  <p:transition spd="med">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SG"/>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991157-7EA4-48AC-8972-361E86CDC23A}" type="datetimeFigureOut">
              <a:rPr lang="en-SG" smtClean="0"/>
              <a:t>23/11/2018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1D80D96-96DC-4F0E-B80E-7CF35BCF94D7}" type="slidenum">
              <a:rPr lang="en-SG" smtClean="0"/>
              <a:t>‹#›</a:t>
            </a:fld>
            <a:endParaRPr lang="en-SG"/>
          </a:p>
        </p:txBody>
      </p:sp>
    </p:spTree>
    <p:extLst>
      <p:ext uri="{BB962C8B-B14F-4D97-AF65-F5344CB8AC3E}">
        <p14:creationId xmlns:p14="http://schemas.microsoft.com/office/powerpoint/2010/main" val="169711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7" name="Slide Number Placeholder 6"/>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236895844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9" name="Slide Number Placeholder 8"/>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134888236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5" name="Slide Number Placeholder 4"/>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93376036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4" name="Slide Number Placeholder 3"/>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60155065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7" name="Slide Number Placeholder 6"/>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390493254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SG"/>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SG"/>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7" name="Slide Number Placeholder 6"/>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377073809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6" name="Slide Number Placeholder 5"/>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266415266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SG"/>
              <a:t>Network Security       </a:t>
            </a:r>
            <a:r>
              <a:rPr lang="en-US"/>
              <a:t>Copyrights © Nanyang Polytechnic	</a:t>
            </a:r>
            <a:endParaRPr lang="en-US" dirty="0">
              <a:latin typeface="Trebuchet MS" pitchFamily="34" charset="0"/>
            </a:endParaRPr>
          </a:p>
        </p:txBody>
      </p:sp>
      <p:sp>
        <p:nvSpPr>
          <p:cNvPr id="6" name="Slide Number Placeholder 5"/>
          <p:cNvSpPr>
            <a:spLocks noGrp="1"/>
          </p:cNvSpPr>
          <p:nvPr>
            <p:ph type="sldNum" sz="quarter" idx="12"/>
          </p:nvPr>
        </p:nvSpPr>
        <p:spPr/>
        <p:txBody>
          <a:bodyPr/>
          <a:lstStyle/>
          <a:p>
            <a:fld id="{D9F99235-E2F7-43E8-9613-EEAE08E75797}" type="slidenum">
              <a:rPr lang="en-US" smtClean="0"/>
              <a:pPr/>
              <a:t>‹#›</a:t>
            </a:fld>
            <a:endParaRPr lang="en-US"/>
          </a:p>
        </p:txBody>
      </p:sp>
    </p:spTree>
    <p:extLst>
      <p:ext uri="{BB962C8B-B14F-4D97-AF65-F5344CB8AC3E}">
        <p14:creationId xmlns:p14="http://schemas.microsoft.com/office/powerpoint/2010/main" val="5262450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ullet_Heavy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2"/>
          <p:cNvSpPr>
            <a:spLocks noGrp="1"/>
          </p:cNvSpPr>
          <p:nvPr>
            <p:ph type="body" sz="half" idx="1"/>
          </p:nvPr>
        </p:nvSpPr>
        <p:spPr>
          <a:xfrm>
            <a:off x="838200" y="914400"/>
            <a:ext cx="3962400"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876800" y="914400"/>
            <a:ext cx="3962400"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84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761999" y="1082040"/>
            <a:ext cx="8056563" cy="5394960"/>
          </a:xfrm>
        </p:spPr>
        <p:txBody>
          <a:bodyPr/>
          <a:lstStyle>
            <a:lvl1pPr>
              <a:lnSpc>
                <a:spcPct val="95000"/>
              </a:lnSpc>
              <a:spcBef>
                <a:spcPts val="1480"/>
              </a:spcBef>
              <a:defRPr sz="2200">
                <a:solidFill>
                  <a:srgbClr val="000000"/>
                </a:solidFill>
                <a:latin typeface="+mj-lt"/>
              </a:defRPr>
            </a:lvl1pPr>
            <a:lvl2pPr>
              <a:lnSpc>
                <a:spcPct val="95000"/>
              </a:lnSpc>
              <a:spcBef>
                <a:spcPts val="600"/>
              </a:spcBef>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7561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4150"/>
            <a:ext cx="8170863" cy="533400"/>
          </a:xfrm>
        </p:spPr>
        <p:txBody>
          <a:bodyPr/>
          <a:lstStyle/>
          <a:p>
            <a:r>
              <a:rPr lang="en-US"/>
              <a:t>Click to edit Master title style</a:t>
            </a:r>
          </a:p>
        </p:txBody>
      </p:sp>
      <p:sp>
        <p:nvSpPr>
          <p:cNvPr id="3" name="Table Placeholder 2"/>
          <p:cNvSpPr>
            <a:spLocks noGrp="1"/>
          </p:cNvSpPr>
          <p:nvPr>
            <p:ph type="tbl" idx="1"/>
          </p:nvPr>
        </p:nvSpPr>
        <p:spPr>
          <a:xfrm>
            <a:off x="838200" y="811213"/>
            <a:ext cx="8040688" cy="5822950"/>
          </a:xfrm>
        </p:spPr>
        <p:txBody>
          <a:bodyPr/>
          <a:lstStyle/>
          <a:p>
            <a:pPr lvl="0"/>
            <a:endParaRPr lang="en-US" noProof="0"/>
          </a:p>
        </p:txBody>
      </p:sp>
    </p:spTree>
    <p:extLst>
      <p:ext uri="{BB962C8B-B14F-4D97-AF65-F5344CB8AC3E}">
        <p14:creationId xmlns:p14="http://schemas.microsoft.com/office/powerpoint/2010/main" val="83243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6" Type="http://schemas.openxmlformats.org/officeDocument/2006/relationships/image" Target="../media/image3.jpe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rgbClr val="5AB0AF"/>
            </a:gs>
            <a:gs pos="70000">
              <a:schemeClr val="tx1"/>
            </a:gs>
          </a:gsLst>
          <a:lin ang="5400000" scaled="0"/>
          <a:tileRect/>
        </a:gradFill>
        <a:effectLst/>
      </p:bgPr>
    </p:bg>
    <p:spTree>
      <p:nvGrpSpPr>
        <p:cNvPr id="1" name=""/>
        <p:cNvGrpSpPr/>
        <p:nvPr/>
      </p:nvGrpSpPr>
      <p:grpSpPr>
        <a:xfrm>
          <a:off x="0" y="0"/>
          <a:ext cx="0" cy="0"/>
          <a:chOff x="0" y="0"/>
          <a:chExt cx="0" cy="0"/>
        </a:xfrm>
      </p:grpSpPr>
      <p:sp>
        <p:nvSpPr>
          <p:cNvPr id="7" name="Rectangle 6"/>
          <p:cNvSpPr/>
          <p:nvPr/>
        </p:nvSpPr>
        <p:spPr>
          <a:xfrm>
            <a:off x="0" y="0"/>
            <a:ext cx="365125" cy="6854825"/>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8" name="Rectangle 7"/>
          <p:cNvSpPr/>
          <p:nvPr/>
        </p:nvSpPr>
        <p:spPr>
          <a:xfrm>
            <a:off x="255588" y="5046663"/>
            <a:ext cx="73025" cy="169227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9" name="Rectangle 8"/>
          <p:cNvSpPr/>
          <p:nvPr/>
        </p:nvSpPr>
        <p:spPr>
          <a:xfrm>
            <a:off x="255588" y="4797425"/>
            <a:ext cx="73025"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0" name="Rectangle 9"/>
          <p:cNvSpPr/>
          <p:nvPr/>
        </p:nvSpPr>
        <p:spPr>
          <a:xfrm>
            <a:off x="255588" y="4637088"/>
            <a:ext cx="73025" cy="138112"/>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1" name="Rectangle 10"/>
          <p:cNvSpPr/>
          <p:nvPr/>
        </p:nvSpPr>
        <p:spPr>
          <a:xfrm>
            <a:off x="255588" y="4541838"/>
            <a:ext cx="73025" cy="7461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2" name="Rectangle 11"/>
          <p:cNvSpPr/>
          <p:nvPr/>
        </p:nvSpPr>
        <p:spPr>
          <a:xfrm>
            <a:off x="309563" y="681038"/>
            <a:ext cx="46037"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5" name="Rectangle 14"/>
          <p:cNvSpPr/>
          <p:nvPr/>
        </p:nvSpPr>
        <p:spPr>
          <a:xfrm>
            <a:off x="268288" y="681038"/>
            <a:ext cx="2857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6" name="Rectangle 15"/>
          <p:cNvSpPr/>
          <p:nvPr/>
        </p:nvSpPr>
        <p:spPr>
          <a:xfrm>
            <a:off x="249238" y="681038"/>
            <a:ext cx="952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7" name="Rectangle 16"/>
          <p:cNvSpPr/>
          <p:nvPr/>
        </p:nvSpPr>
        <p:spPr>
          <a:xfrm>
            <a:off x="222250" y="681038"/>
            <a:ext cx="7938"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2400">
              <a:solidFill>
                <a:srgbClr val="FFFFFF"/>
              </a:solidFill>
              <a:cs typeface="Arial" charset="0"/>
            </a:endParaRPr>
          </a:p>
        </p:txBody>
      </p:sp>
      <p:sp>
        <p:nvSpPr>
          <p:cNvPr id="14" name="Date Placeholder 13"/>
          <p:cNvSpPr>
            <a:spLocks noGrp="1"/>
          </p:cNvSpPr>
          <p:nvPr>
            <p:ph type="dt" sz="half" idx="2"/>
          </p:nvPr>
        </p:nvSpPr>
        <p:spPr>
          <a:xfrm>
            <a:off x="6172200" y="6416675"/>
            <a:ext cx="1981200" cy="365125"/>
          </a:xfrm>
          <a:prstGeom prst="rect">
            <a:avLst/>
          </a:prstGeom>
        </p:spPr>
        <p:txBody>
          <a:bodyPr vert="horz" wrap="square" lIns="91440" tIns="45720" rIns="91440" bIns="45720" numCol="1" anchor="b" anchorCtr="0" compatLnSpc="1">
            <a:prstTxWarp prst="textNoShape">
              <a:avLst/>
            </a:prstTxWarp>
          </a:bodyPr>
          <a:lstStyle>
            <a:lvl1pPr algn="r">
              <a:defRPr sz="1000" smtClean="0">
                <a:solidFill>
                  <a:srgbClr val="7F7F7F"/>
                </a:solidFill>
                <a:latin typeface="Trebuchet MS" pitchFamily="34" charset="0"/>
                <a:cs typeface="Arial" charset="0"/>
              </a:defRPr>
            </a:lvl1pPr>
          </a:lstStyle>
          <a:p>
            <a:pPr>
              <a:defRPr/>
            </a:pPr>
            <a:endParaRPr lang="en-US"/>
          </a:p>
        </p:txBody>
      </p:sp>
      <p:sp>
        <p:nvSpPr>
          <p:cNvPr id="3" name="Footer Placeholder 2"/>
          <p:cNvSpPr>
            <a:spLocks noGrp="1"/>
          </p:cNvSpPr>
          <p:nvPr>
            <p:ph type="ftr" sz="quarter" idx="3"/>
          </p:nvPr>
        </p:nvSpPr>
        <p:spPr>
          <a:xfrm>
            <a:off x="914400" y="6416675"/>
            <a:ext cx="5181600" cy="365125"/>
          </a:xfrm>
          <a:prstGeom prst="rect">
            <a:avLst/>
          </a:prstGeom>
        </p:spPr>
        <p:txBody>
          <a:bodyPr vert="horz" wrap="square" lIns="91440" tIns="45720" rIns="91440" bIns="45720" numCol="1" anchor="b" anchorCtr="0" compatLnSpc="1">
            <a:prstTxWarp prst="textNoShape">
              <a:avLst/>
            </a:prstTxWarp>
          </a:bodyPr>
          <a:lstStyle>
            <a:lvl1pPr algn="r">
              <a:defRPr sz="1000" smtClean="0">
                <a:solidFill>
                  <a:srgbClr val="7F7F7F"/>
                </a:solidFill>
                <a:latin typeface="Arial" charset="0"/>
                <a:cs typeface="Arial" charset="0"/>
              </a:defRPr>
            </a:lvl1pPr>
          </a:lstStyle>
          <a:p>
            <a:pPr>
              <a:defRPr/>
            </a:pPr>
            <a:r>
              <a:rPr lang="en-SG" dirty="0"/>
              <a:t>Network Security       </a:t>
            </a:r>
            <a:r>
              <a:rPr lang="en-US" dirty="0"/>
              <a:t>Copyrights © </a:t>
            </a:r>
            <a:r>
              <a:rPr lang="en-US" dirty="0" err="1"/>
              <a:t>Nanyang</a:t>
            </a:r>
            <a:r>
              <a:rPr lang="en-US" dirty="0"/>
              <a:t> Polytechnic	</a:t>
            </a:r>
            <a:endParaRPr lang="en-US" dirty="0">
              <a:latin typeface="Trebuchet MS" pitchFamily="34" charset="0"/>
            </a:endParaRPr>
          </a:p>
        </p:txBody>
      </p:sp>
      <p:sp>
        <p:nvSpPr>
          <p:cNvPr id="23" name="Slide Number Placeholder 22"/>
          <p:cNvSpPr>
            <a:spLocks noGrp="1"/>
          </p:cNvSpPr>
          <p:nvPr>
            <p:ph type="sldNum" sz="quarter" idx="4"/>
          </p:nvPr>
        </p:nvSpPr>
        <p:spPr>
          <a:xfrm>
            <a:off x="8220075" y="6400800"/>
            <a:ext cx="457200" cy="365125"/>
          </a:xfrm>
          <a:prstGeom prst="rect">
            <a:avLst/>
          </a:prstGeom>
        </p:spPr>
        <p:txBody>
          <a:bodyPr vert="horz" wrap="square" lIns="91440" tIns="45720" rIns="91440" bIns="45720" numCol="1" anchor="b" anchorCtr="0" compatLnSpc="1">
            <a:prstTxWarp prst="textNoShape">
              <a:avLst/>
            </a:prstTxWarp>
          </a:bodyPr>
          <a:lstStyle>
            <a:lvl1pPr>
              <a:defRPr sz="1000">
                <a:solidFill>
                  <a:srgbClr val="7F7F7F"/>
                </a:solidFill>
                <a:latin typeface="Trebuchet MS" panose="020B0603020202020204" pitchFamily="34" charset="0"/>
              </a:defRPr>
            </a:lvl1pPr>
          </a:lstStyle>
          <a:p>
            <a:fld id="{D9F99235-E2F7-43E8-9613-EEAE08E75797}" type="slidenum">
              <a:rPr lang="en-US"/>
              <a:pPr/>
              <a:t>‹#›</a:t>
            </a:fld>
            <a:endParaRPr lang="en-US"/>
          </a:p>
        </p:txBody>
      </p:sp>
      <p:sp>
        <p:nvSpPr>
          <p:cNvPr id="1038" name="Title Placeholder 21"/>
          <p:cNvSpPr>
            <a:spLocks noGrp="1"/>
          </p:cNvSpPr>
          <p:nvPr>
            <p:ph type="title"/>
          </p:nvPr>
        </p:nvSpPr>
        <p:spPr bwMode="auto">
          <a:xfrm>
            <a:off x="776288" y="152400"/>
            <a:ext cx="8139111"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39" name="Text Placeholder 12"/>
          <p:cNvSpPr>
            <a:spLocks noGrp="1"/>
          </p:cNvSpPr>
          <p:nvPr>
            <p:ph type="body" idx="1"/>
          </p:nvPr>
        </p:nvSpPr>
        <p:spPr bwMode="auto">
          <a:xfrm>
            <a:off x="776287" y="1090613"/>
            <a:ext cx="8139111" cy="526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40" name="Picture 19" descr="PTDID_PPTsub.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38" y="-3175"/>
            <a:ext cx="1654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1" name="Rectangle 18"/>
          <p:cNvSpPr>
            <a:spLocks noChangeArrowheads="1"/>
          </p:cNvSpPr>
          <p:nvPr/>
        </p:nvSpPr>
        <p:spPr bwMode="auto">
          <a:xfrm rot="-5400000">
            <a:off x="-1472406" y="1227931"/>
            <a:ext cx="3619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solidFill>
                  <a:schemeClr val="bg1"/>
                </a:solidFill>
                <a:latin typeface="Trebuchet MS" panose="020B0603020202020204" pitchFamily="34" charset="0"/>
              </a:rPr>
              <a:t>Infocomm &amp; Digital Media</a:t>
            </a:r>
          </a:p>
          <a:p>
            <a:pPr eaLnBrk="1" hangingPunct="1"/>
            <a:r>
              <a:rPr lang="en-US" sz="1200">
                <a:solidFill>
                  <a:schemeClr val="bg1"/>
                </a:solidFill>
                <a:latin typeface="Trebuchet MS" panose="020B0603020202020204" pitchFamily="34" charset="0"/>
              </a:rPr>
              <a:t>(IT Network and System Administration)</a:t>
            </a:r>
          </a:p>
        </p:txBody>
      </p:sp>
    </p:spTree>
  </p:cSld>
  <p:clrMap bg1="dk1" tx1="lt1" bg2="dk2" tx2="lt2" accent1="accent1" accent2="accent2" accent3="accent3" accent4="accent4" accent5="accent5" accent6="accent6" hlink="hlink" folHlink="folHlink"/>
  <p:sldLayoutIdLst>
    <p:sldLayoutId id="2147483789" r:id="rId1"/>
    <p:sldLayoutId id="2147483790" r:id="rId2"/>
    <p:sldLayoutId id="2147483792" r:id="rId3"/>
    <p:sldLayoutId id="2147483794" r:id="rId4"/>
    <p:sldLayoutId id="2147483795" r:id="rId5"/>
    <p:sldLayoutId id="2147483796" r:id="rId6"/>
    <p:sldLayoutId id="2147483798" r:id="rId7"/>
  </p:sldLayoutIdLst>
  <p:transition spd="med" advTm="15000">
    <p:comb/>
  </p:transition>
  <p:hf hdr="0" ftr="0" dt="0"/>
  <p:txStyles>
    <p:titleStyle>
      <a:lvl1pPr algn="l" rtl="0" eaLnBrk="0" fontAlgn="base" hangingPunct="0">
        <a:spcBef>
          <a:spcPct val="0"/>
        </a:spcBef>
        <a:spcAft>
          <a:spcPct val="0"/>
        </a:spcAft>
        <a:defRPr sz="3600" b="1">
          <a:solidFill>
            <a:srgbClr val="024C00"/>
          </a:solidFill>
          <a:latin typeface="Trebuchet MS" pitchFamily="34" charset="0"/>
          <a:ea typeface="Trebuchet MS" pitchFamily="34" charset="0"/>
          <a:cs typeface="Trebuchet MS" pitchFamily="34" charset="0"/>
        </a:defRPr>
      </a:lvl1pPr>
      <a:lvl2pPr algn="l" rtl="0" eaLnBrk="0" fontAlgn="base" hangingPunct="0">
        <a:spcBef>
          <a:spcPct val="0"/>
        </a:spcBef>
        <a:spcAft>
          <a:spcPct val="0"/>
        </a:spcAft>
        <a:defRPr sz="3600" b="1">
          <a:solidFill>
            <a:srgbClr val="024C00"/>
          </a:solidFill>
          <a:latin typeface="Trebuchet MS" pitchFamily="34" charset="0"/>
          <a:ea typeface="Trebuchet MS" pitchFamily="34" charset="0"/>
          <a:cs typeface="Trebuchet MS" pitchFamily="34" charset="0"/>
        </a:defRPr>
      </a:lvl2pPr>
      <a:lvl3pPr algn="l" rtl="0" eaLnBrk="0" fontAlgn="base" hangingPunct="0">
        <a:spcBef>
          <a:spcPct val="0"/>
        </a:spcBef>
        <a:spcAft>
          <a:spcPct val="0"/>
        </a:spcAft>
        <a:defRPr sz="3600" b="1">
          <a:solidFill>
            <a:srgbClr val="024C00"/>
          </a:solidFill>
          <a:latin typeface="Trebuchet MS" pitchFamily="34" charset="0"/>
          <a:ea typeface="Trebuchet MS" pitchFamily="34" charset="0"/>
          <a:cs typeface="Trebuchet MS" pitchFamily="34" charset="0"/>
        </a:defRPr>
      </a:lvl3pPr>
      <a:lvl4pPr algn="l" rtl="0" eaLnBrk="0" fontAlgn="base" hangingPunct="0">
        <a:spcBef>
          <a:spcPct val="0"/>
        </a:spcBef>
        <a:spcAft>
          <a:spcPct val="0"/>
        </a:spcAft>
        <a:defRPr sz="3600" b="1">
          <a:solidFill>
            <a:srgbClr val="024C00"/>
          </a:solidFill>
          <a:latin typeface="Trebuchet MS" pitchFamily="34" charset="0"/>
          <a:ea typeface="Trebuchet MS" pitchFamily="34" charset="0"/>
          <a:cs typeface="Trebuchet MS" pitchFamily="34" charset="0"/>
        </a:defRPr>
      </a:lvl4pPr>
      <a:lvl5pPr algn="l" rtl="0" eaLnBrk="0" fontAlgn="base" hangingPunct="0">
        <a:spcBef>
          <a:spcPct val="0"/>
        </a:spcBef>
        <a:spcAft>
          <a:spcPct val="0"/>
        </a:spcAft>
        <a:defRPr sz="3600" b="1">
          <a:solidFill>
            <a:srgbClr val="024C00"/>
          </a:solidFill>
          <a:latin typeface="Trebuchet MS" pitchFamily="34" charset="0"/>
          <a:ea typeface="Trebuchet MS" pitchFamily="34" charset="0"/>
          <a:cs typeface="Trebuchet MS" pitchFamily="34" charset="0"/>
        </a:defRPr>
      </a:lvl5pPr>
      <a:lvl6pPr marL="457200" algn="l" rtl="0" eaLnBrk="1" fontAlgn="base" hangingPunct="1">
        <a:spcBef>
          <a:spcPct val="0"/>
        </a:spcBef>
        <a:spcAft>
          <a:spcPct val="0"/>
        </a:spcAft>
        <a:defRPr sz="3600" b="1">
          <a:solidFill>
            <a:srgbClr val="024C00"/>
          </a:solidFill>
          <a:latin typeface="Trebuchet MS" pitchFamily="34" charset="0"/>
        </a:defRPr>
      </a:lvl6pPr>
      <a:lvl7pPr marL="914400" algn="l" rtl="0" eaLnBrk="1" fontAlgn="base" hangingPunct="1">
        <a:spcBef>
          <a:spcPct val="0"/>
        </a:spcBef>
        <a:spcAft>
          <a:spcPct val="0"/>
        </a:spcAft>
        <a:defRPr sz="3600" b="1">
          <a:solidFill>
            <a:srgbClr val="024C00"/>
          </a:solidFill>
          <a:latin typeface="Trebuchet MS" pitchFamily="34" charset="0"/>
        </a:defRPr>
      </a:lvl7pPr>
      <a:lvl8pPr marL="1371600" algn="l" rtl="0" eaLnBrk="1" fontAlgn="base" hangingPunct="1">
        <a:spcBef>
          <a:spcPct val="0"/>
        </a:spcBef>
        <a:spcAft>
          <a:spcPct val="0"/>
        </a:spcAft>
        <a:defRPr sz="3600" b="1">
          <a:solidFill>
            <a:srgbClr val="024C00"/>
          </a:solidFill>
          <a:latin typeface="Trebuchet MS" pitchFamily="34" charset="0"/>
        </a:defRPr>
      </a:lvl8pPr>
      <a:lvl9pPr marL="1828800" algn="l" rtl="0" eaLnBrk="1" fontAlgn="base" hangingPunct="1">
        <a:spcBef>
          <a:spcPct val="0"/>
        </a:spcBef>
        <a:spcAft>
          <a:spcPct val="0"/>
        </a:spcAft>
        <a:defRPr sz="3600" b="1">
          <a:solidFill>
            <a:srgbClr val="024C00"/>
          </a:solidFill>
          <a:latin typeface="Trebuchet MS" pitchFamily="34" charset="0"/>
        </a:defRPr>
      </a:lvl9pPr>
    </p:titleStyle>
    <p:bodyStyle>
      <a:lvl1pPr marL="411163" indent="-342900" algn="l" rtl="0" eaLnBrk="0" fontAlgn="base" hangingPunct="0">
        <a:spcBef>
          <a:spcPts val="700"/>
        </a:spcBef>
        <a:spcAft>
          <a:spcPct val="0"/>
        </a:spcAft>
        <a:buClr>
          <a:schemeClr val="accent1"/>
        </a:buClr>
        <a:buSzPct val="95000"/>
        <a:buFont typeface="Wingdings" panose="05000000000000000000" pitchFamily="2" charset="2"/>
        <a:buChar char=""/>
        <a:defRPr sz="2800" kern="1200">
          <a:solidFill>
            <a:srgbClr val="2C7B09"/>
          </a:solidFill>
          <a:latin typeface="Trebuchet MS" pitchFamily="34" charset="0"/>
          <a:ea typeface="Trebuchet MS" pitchFamily="34" charset="0"/>
          <a:cs typeface="Trebuchet MS" pitchFamily="34" charset="0"/>
        </a:defRPr>
      </a:lvl1pPr>
      <a:lvl2pPr marL="739775" indent="-285750" algn="l" rtl="0" eaLnBrk="0" fontAlgn="base" hangingPunct="0">
        <a:spcBef>
          <a:spcPct val="20000"/>
        </a:spcBef>
        <a:spcAft>
          <a:spcPct val="0"/>
        </a:spcAft>
        <a:buClr>
          <a:srgbClr val="007EEA"/>
        </a:buClr>
        <a:buSzPct val="90000"/>
        <a:buFont typeface="Wingdings" panose="05000000000000000000" pitchFamily="2" charset="2"/>
        <a:buChar char=""/>
        <a:defRPr sz="2400" kern="1200">
          <a:solidFill>
            <a:srgbClr val="262626"/>
          </a:solidFill>
          <a:latin typeface="Trebuchet MS" pitchFamily="34" charset="0"/>
          <a:ea typeface="Trebuchet MS" pitchFamily="34" charset="0"/>
          <a:cs typeface="Trebuchet MS" pitchFamily="34" charset="0"/>
        </a:defRPr>
      </a:lvl2pPr>
      <a:lvl3pPr marL="995363" indent="-228600" algn="l" rtl="0" eaLnBrk="0" fontAlgn="base" hangingPunct="0">
        <a:spcBef>
          <a:spcPct val="20000"/>
        </a:spcBef>
        <a:spcAft>
          <a:spcPct val="0"/>
        </a:spcAft>
        <a:buClr>
          <a:srgbClr val="61B6FF"/>
        </a:buClr>
        <a:buFont typeface="Wingdings 2" panose="05020102010507070707" pitchFamily="18" charset="2"/>
        <a:buChar char=""/>
        <a:defRPr sz="2200" kern="1200">
          <a:solidFill>
            <a:srgbClr val="262626"/>
          </a:solidFill>
          <a:latin typeface="Trebuchet MS" pitchFamily="34" charset="0"/>
          <a:ea typeface="Trebuchet MS" pitchFamily="34" charset="0"/>
          <a:cs typeface="Trebuchet MS" pitchFamily="34" charset="0"/>
        </a:defRPr>
      </a:lvl3pPr>
      <a:lvl4pPr marL="1260475" indent="-228600" algn="l" rtl="0" eaLnBrk="0" fontAlgn="base" hangingPunct="0">
        <a:spcBef>
          <a:spcPct val="20000"/>
        </a:spcBef>
        <a:spcAft>
          <a:spcPct val="0"/>
        </a:spcAft>
        <a:buClr>
          <a:srgbClr val="FEB80A"/>
        </a:buClr>
        <a:buFont typeface="Wingdings 3" panose="05040102010807070707" pitchFamily="18" charset="2"/>
        <a:buChar char=""/>
        <a:defRPr sz="2000" kern="1200">
          <a:solidFill>
            <a:srgbClr val="262626"/>
          </a:solidFill>
          <a:latin typeface="Trebuchet MS" pitchFamily="34" charset="0"/>
          <a:ea typeface="Trebuchet MS" pitchFamily="34" charset="0"/>
          <a:cs typeface="Trebuchet MS" pitchFamily="34" charset="0"/>
        </a:defRPr>
      </a:lvl4pPr>
      <a:lvl5pPr marL="1481138" indent="-209550" algn="l" rtl="0" eaLnBrk="0" fontAlgn="base" hangingPunct="0">
        <a:spcBef>
          <a:spcPct val="20000"/>
        </a:spcBef>
        <a:spcAft>
          <a:spcPct val="0"/>
        </a:spcAft>
        <a:buClr>
          <a:srgbClr val="FEB80A"/>
        </a:buClr>
        <a:buFont typeface="Wingdings 2" panose="05020102010507070707" pitchFamily="18" charset="2"/>
        <a:buChar char=""/>
        <a:defRPr sz="2000" kern="1200">
          <a:solidFill>
            <a:srgbClr val="262626"/>
          </a:solidFill>
          <a:latin typeface="Trebuchet MS" pitchFamily="34" charset="0"/>
          <a:ea typeface="Trebuchet MS" pitchFamily="34" charset="0"/>
          <a:cs typeface="Trebuchet MS" pitchFamily="34" charset="0"/>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SG"/>
              <a:t>Network Security       </a:t>
            </a:r>
            <a:r>
              <a:rPr lang="en-US"/>
              <a:t>Copyrights © Nanyang Polytechnic	</a:t>
            </a:r>
            <a:endParaRPr lang="en-US" dirty="0">
              <a:latin typeface="Trebuchet MS" pitchFamily="34" charset="0"/>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9F99235-E2F7-43E8-9613-EEAE08E75797}" type="slidenum">
              <a:rPr lang="en-US" smtClean="0"/>
              <a:pPr/>
              <a:t>‹#›</a:t>
            </a:fld>
            <a:endParaRPr lang="en-US"/>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39084" y="156548"/>
            <a:ext cx="1760732" cy="514020"/>
          </a:xfrm>
          <a:prstGeom prst="rect">
            <a:avLst/>
          </a:prstGeom>
        </p:spPr>
      </p:pic>
    </p:spTree>
    <p:extLst>
      <p:ext uri="{BB962C8B-B14F-4D97-AF65-F5344CB8AC3E}">
        <p14:creationId xmlns:p14="http://schemas.microsoft.com/office/powerpoint/2010/main" val="308668164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Lst>
  <p:transition spd="med">
    <p:comb/>
  </p:transition>
  <p:hf hdr="0" ftr="0" dt="0"/>
  <p:txStyles>
    <p:title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Gill Sans MT" panose="020B0502020104020203"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Gill Sans MT" panose="020B0502020104020203"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Gill Sans MT" panose="020B050202010402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100" y="1447800"/>
            <a:ext cx="7543800" cy="2387600"/>
          </a:xfrm>
          <a:ln>
            <a:miter lim="800000"/>
            <a:headEnd/>
            <a:tailEnd/>
          </a:ln>
          <a:extLst/>
        </p:spPr>
        <p:txBody>
          <a:bodyPr>
            <a:noAutofit/>
          </a:bodyPr>
          <a:lstStyle/>
          <a:p>
            <a:pPr eaLnBrk="1" hangingPunct="1">
              <a:defRPr/>
            </a:pPr>
            <a:br>
              <a:rPr lang="en-US" sz="6000" dirty="0"/>
            </a:br>
            <a:r>
              <a:rPr lang="en-US" sz="6000" dirty="0"/>
              <a:t>Intrusion Detection and Prevention Systems</a:t>
            </a:r>
            <a:endParaRPr lang="en-SG" sz="6000" dirty="0"/>
          </a:p>
        </p:txBody>
      </p:sp>
      <p:sp>
        <p:nvSpPr>
          <p:cNvPr id="4099" name="Subtitle 2"/>
          <p:cNvSpPr>
            <a:spLocks noGrp="1"/>
          </p:cNvSpPr>
          <p:nvPr>
            <p:ph type="subTitle" idx="1"/>
          </p:nvPr>
        </p:nvSpPr>
        <p:spPr>
          <a:xfrm>
            <a:off x="1143000" y="4343400"/>
            <a:ext cx="6858000" cy="1655762"/>
          </a:xfrm>
        </p:spPr>
        <p:txBody>
          <a:bodyPr>
            <a:normAutofit/>
          </a:bodyPr>
          <a:lstStyle/>
          <a:p>
            <a:pPr eaLnBrk="1" hangingPunct="1">
              <a:spcBef>
                <a:spcPct val="0"/>
              </a:spcBef>
            </a:pPr>
            <a:r>
              <a:rPr lang="en-SG" sz="2400" dirty="0">
                <a:solidFill>
                  <a:srgbClr val="404040"/>
                </a:solidFill>
              </a:rPr>
              <a:t>Chapter 11</a:t>
            </a:r>
          </a:p>
        </p:txBody>
      </p:sp>
      <p:sp>
        <p:nvSpPr>
          <p:cNvPr id="4100" name="Slide Number Placeholder 3"/>
          <p:cNvSpPr>
            <a:spLocks noGrp="1"/>
          </p:cNvSpPr>
          <p:nvPr>
            <p:ph type="sldNum" sz="quarter" idx="4294967295"/>
          </p:nvPr>
        </p:nvSpPr>
        <p:spPr bwMode="auto">
          <a:xfrm>
            <a:off x="8686800" y="6400800"/>
            <a:ext cx="457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51D9CE-F7C2-4354-8F36-5EB73C23E9BA}" type="slidenum">
              <a:rPr lang="en-US">
                <a:solidFill>
                  <a:srgbClr val="7F7F7F"/>
                </a:solidFill>
                <a:latin typeface="Trebuchet MS" panose="020B0603020202020204" pitchFamily="34" charset="0"/>
              </a:rPr>
              <a:pPr eaLnBrk="1" hangingPunct="1"/>
              <a:t>1</a:t>
            </a:fld>
            <a:endParaRPr lang="en-US">
              <a:solidFill>
                <a:srgbClr val="7F7F7F"/>
              </a:solidFill>
              <a:latin typeface="Trebuchet MS" panose="020B0603020202020204" pitchFamily="34" charset="0"/>
            </a:endParaRPr>
          </a:p>
        </p:txBody>
      </p:sp>
    </p:spTree>
  </p:cSld>
  <p:clrMapOvr>
    <a:masterClrMapping/>
  </p:clrMapOvr>
  <p:transition spd="med">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sz="4400" dirty="0"/>
              <a:t>Intrusion Detection System</a:t>
            </a:r>
          </a:p>
        </p:txBody>
      </p:sp>
      <p:sp>
        <p:nvSpPr>
          <p:cNvPr id="11267" name="Rectangle 3"/>
          <p:cNvSpPr>
            <a:spLocks noGrp="1" noChangeArrowheads="1"/>
          </p:cNvSpPr>
          <p:nvPr>
            <p:ph sz="half" idx="2"/>
          </p:nvPr>
        </p:nvSpPr>
        <p:spPr>
          <a:xfrm>
            <a:off x="4800600" y="1716089"/>
            <a:ext cx="3962400" cy="4891089"/>
          </a:xfrm>
          <a:noFill/>
        </p:spPr>
        <p:txBody>
          <a:bodyPr/>
          <a:lstStyle/>
          <a:p>
            <a:pPr>
              <a:lnSpc>
                <a:spcPct val="85000"/>
              </a:lnSpc>
            </a:pPr>
            <a:r>
              <a:rPr lang="en-US" sz="2400" dirty="0"/>
              <a:t>An IDS monitors traffic offline and generates an alert (log) when it detects malicious traffic including:</a:t>
            </a:r>
          </a:p>
          <a:p>
            <a:pPr lvl="1">
              <a:lnSpc>
                <a:spcPct val="85000"/>
              </a:lnSpc>
            </a:pPr>
            <a:r>
              <a:rPr lang="en-US" sz="2000" dirty="0"/>
              <a:t>Reconnaissance attacks</a:t>
            </a:r>
          </a:p>
          <a:p>
            <a:pPr lvl="1">
              <a:lnSpc>
                <a:spcPct val="85000"/>
              </a:lnSpc>
            </a:pPr>
            <a:r>
              <a:rPr lang="en-US" sz="2000" dirty="0"/>
              <a:t>Access attacks</a:t>
            </a:r>
          </a:p>
          <a:p>
            <a:pPr lvl="1">
              <a:lnSpc>
                <a:spcPct val="85000"/>
              </a:lnSpc>
            </a:pPr>
            <a:r>
              <a:rPr lang="en-US" sz="2000" dirty="0"/>
              <a:t>Denial of Service attacks</a:t>
            </a:r>
          </a:p>
          <a:p>
            <a:pPr>
              <a:lnSpc>
                <a:spcPct val="85000"/>
              </a:lnSpc>
            </a:pPr>
            <a:r>
              <a:rPr lang="en-US" sz="2400" dirty="0"/>
              <a:t>It is a passive device because it analyzes copies of the traffic stream traffic.</a:t>
            </a:r>
          </a:p>
          <a:p>
            <a:pPr lvl="1">
              <a:lnSpc>
                <a:spcPct val="85000"/>
              </a:lnSpc>
            </a:pPr>
            <a:r>
              <a:rPr lang="en-US" sz="2000" dirty="0"/>
              <a:t>Only requires a promiscuous interface.</a:t>
            </a:r>
          </a:p>
          <a:p>
            <a:pPr lvl="1">
              <a:lnSpc>
                <a:spcPct val="85000"/>
              </a:lnSpc>
            </a:pPr>
            <a:r>
              <a:rPr lang="en-US" sz="2000" dirty="0"/>
              <a:t>Does not slow network traffic.</a:t>
            </a:r>
          </a:p>
          <a:p>
            <a:pPr lvl="1">
              <a:lnSpc>
                <a:spcPct val="85000"/>
              </a:lnSpc>
            </a:pPr>
            <a:r>
              <a:rPr lang="en-US" sz="2000" dirty="0"/>
              <a:t>Allows some malicious traffic into the network.</a:t>
            </a:r>
          </a:p>
        </p:txBody>
      </p:sp>
      <p:pic>
        <p:nvPicPr>
          <p:cNvPr id="12292" name="Picture 5"/>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5096" y="1447537"/>
            <a:ext cx="3989387"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032990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sz="4400" dirty="0"/>
              <a:t>Intrusion Prevention System</a:t>
            </a:r>
          </a:p>
        </p:txBody>
      </p:sp>
      <p:sp>
        <p:nvSpPr>
          <p:cNvPr id="12291" name="Rectangle 3"/>
          <p:cNvSpPr>
            <a:spLocks noGrp="1" noChangeArrowheads="1"/>
          </p:cNvSpPr>
          <p:nvPr>
            <p:ph sz="half" idx="2"/>
          </p:nvPr>
        </p:nvSpPr>
        <p:spPr>
          <a:xfrm>
            <a:off x="4876800" y="1690688"/>
            <a:ext cx="3962400" cy="4862512"/>
          </a:xfrm>
          <a:noFill/>
        </p:spPr>
        <p:txBody>
          <a:bodyPr>
            <a:normAutofit/>
          </a:bodyPr>
          <a:lstStyle/>
          <a:p>
            <a:r>
              <a:rPr lang="en-US" sz="2400" dirty="0"/>
              <a:t>It builds upon IDS technology to detect attacks.</a:t>
            </a:r>
          </a:p>
          <a:p>
            <a:pPr lvl="1"/>
            <a:r>
              <a:rPr lang="en-US" sz="2000" dirty="0"/>
              <a:t>However, it can also immediately address the threat.</a:t>
            </a:r>
          </a:p>
          <a:p>
            <a:r>
              <a:rPr lang="en-US" sz="2400" dirty="0"/>
              <a:t>An IPS is an active device because all traffic must pass through it.</a:t>
            </a:r>
          </a:p>
          <a:p>
            <a:pPr lvl="1"/>
            <a:r>
              <a:rPr lang="en-US" sz="2000" dirty="0"/>
              <a:t>Referred to as </a:t>
            </a:r>
            <a:r>
              <a:rPr lang="ja-JP" altLang="en-US" sz="2000" dirty="0"/>
              <a:t>“</a:t>
            </a:r>
            <a:r>
              <a:rPr lang="en-US" sz="2000" dirty="0"/>
              <a:t>inline-mode</a:t>
            </a:r>
            <a:r>
              <a:rPr lang="ja-JP" altLang="en-US" sz="2000" dirty="0"/>
              <a:t>”</a:t>
            </a:r>
            <a:r>
              <a:rPr lang="en-US" sz="2000" dirty="0"/>
              <a:t>, it works inline in real time to monitor Layer 2 through Layer 7 traffic and content.</a:t>
            </a:r>
          </a:p>
          <a:p>
            <a:pPr lvl="1"/>
            <a:r>
              <a:rPr lang="en-US" sz="2000" dirty="0"/>
              <a:t>It can also stop single-packet attacks from reaching the target system (IDS cannot). </a:t>
            </a:r>
          </a:p>
        </p:txBody>
      </p:sp>
      <p:pic>
        <p:nvPicPr>
          <p:cNvPr id="13316" name="Picture 5"/>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4800" y="2008941"/>
            <a:ext cx="4085081" cy="434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168956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21873347"/>
              </p:ext>
            </p:extLst>
          </p:nvPr>
        </p:nvGraphicFramePr>
        <p:xfrm>
          <a:off x="398086" y="1481011"/>
          <a:ext cx="8347827" cy="5175504"/>
        </p:xfrm>
        <a:graphic>
          <a:graphicData uri="http://schemas.openxmlformats.org/drawingml/2006/table">
            <a:tbl>
              <a:tblPr firstRow="1" firstCol="1" bandRow="1">
                <a:tableStyleId>{3C2FFA5D-87B4-456A-9821-1D502468CF0F}</a:tableStyleId>
              </a:tblPr>
              <a:tblGrid>
                <a:gridCol w="756175">
                  <a:extLst>
                    <a:ext uri="{9D8B030D-6E8A-4147-A177-3AD203B41FA5}">
                      <a16:colId xmlns:a16="http://schemas.microsoft.com/office/drawing/2014/main" val="20000"/>
                    </a:ext>
                  </a:extLst>
                </a:gridCol>
                <a:gridCol w="4809043">
                  <a:extLst>
                    <a:ext uri="{9D8B030D-6E8A-4147-A177-3AD203B41FA5}">
                      <a16:colId xmlns:a16="http://schemas.microsoft.com/office/drawing/2014/main" val="20001"/>
                    </a:ext>
                  </a:extLst>
                </a:gridCol>
                <a:gridCol w="2782609">
                  <a:extLst>
                    <a:ext uri="{9D8B030D-6E8A-4147-A177-3AD203B41FA5}">
                      <a16:colId xmlns:a16="http://schemas.microsoft.com/office/drawing/2014/main" val="20002"/>
                    </a:ext>
                  </a:extLst>
                </a:gridCol>
              </a:tblGrid>
              <a:tr h="332048">
                <a:tc>
                  <a:txBody>
                    <a:bodyPr/>
                    <a:lstStyle/>
                    <a:p>
                      <a:pPr algn="ctr"/>
                      <a:endParaRPr lang="en-US" sz="2400" dirty="0">
                        <a:latin typeface="Gill Sans MT" panose="020B0502020104020203" pitchFamily="34" charset="0"/>
                      </a:endParaRPr>
                    </a:p>
                  </a:txBody>
                  <a:tcPr anchor="ctr"/>
                </a:tc>
                <a:tc>
                  <a:txBody>
                    <a:bodyPr/>
                    <a:lstStyle/>
                    <a:p>
                      <a:r>
                        <a:rPr lang="en-US" sz="2400" dirty="0">
                          <a:latin typeface="Gill Sans MT" panose="020B0502020104020203" pitchFamily="34" charset="0"/>
                        </a:rPr>
                        <a:t>IDS (Promiscuous Mode)</a:t>
                      </a:r>
                    </a:p>
                  </a:txBody>
                  <a:tcPr/>
                </a:tc>
                <a:tc>
                  <a:txBody>
                    <a:bodyPr/>
                    <a:lstStyle/>
                    <a:p>
                      <a:r>
                        <a:rPr lang="en-US" sz="2400" dirty="0">
                          <a:latin typeface="Gill Sans MT" panose="020B0502020104020203" pitchFamily="34" charset="0"/>
                        </a:rPr>
                        <a:t>IPS (Inline</a:t>
                      </a:r>
                      <a:r>
                        <a:rPr lang="en-US" sz="2400" baseline="0" dirty="0">
                          <a:latin typeface="Gill Sans MT" panose="020B0502020104020203" pitchFamily="34" charset="0"/>
                        </a:rPr>
                        <a:t> Mode)</a:t>
                      </a:r>
                      <a:endParaRPr lang="en-US" sz="2400" dirty="0">
                        <a:latin typeface="Gill Sans MT" panose="020B0502020104020203" pitchFamily="34" charset="0"/>
                      </a:endParaRPr>
                    </a:p>
                  </a:txBody>
                  <a:tcPr/>
                </a:tc>
                <a:extLst>
                  <a:ext uri="{0D108BD9-81ED-4DB2-BD59-A6C34878D82A}">
                    <a16:rowId xmlns:a16="http://schemas.microsoft.com/office/drawing/2014/main" val="10000"/>
                  </a:ext>
                </a:extLst>
              </a:tr>
              <a:tr h="1474832">
                <a:tc>
                  <a:txBody>
                    <a:bodyPr/>
                    <a:lstStyle/>
                    <a:p>
                      <a:pPr algn="ctr"/>
                      <a:r>
                        <a:rPr lang="en-US" sz="2400" dirty="0">
                          <a:latin typeface="Gill Sans MT" panose="020B0502020104020203" pitchFamily="34" charset="0"/>
                        </a:rPr>
                        <a:t>Advantages</a:t>
                      </a:r>
                    </a:p>
                  </a:txBody>
                  <a:tcPr vert="vert270" anchor="ctr"/>
                </a:tc>
                <a:tc>
                  <a:txBody>
                    <a:bodyPr/>
                    <a:lstStyle/>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No impact on network (latency, jitter).</a:t>
                      </a:r>
                    </a:p>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No network impact if there is a sensor failure or a sensor overload.</a:t>
                      </a:r>
                      <a:endParaRPr lang="en-US" sz="2400" b="0" dirty="0">
                        <a:latin typeface="Gill Sans MT" panose="020B0502020104020203" pitchFamily="34" charset="0"/>
                      </a:endParaRPr>
                    </a:p>
                  </a:txBody>
                  <a:tcPr/>
                </a:tc>
                <a:tc>
                  <a:txBody>
                    <a:bodyPr/>
                    <a:lstStyle/>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Stops trigger packets.</a:t>
                      </a:r>
                    </a:p>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Can use stream normalization techniques.</a:t>
                      </a:r>
                    </a:p>
                  </a:txBody>
                  <a:tcPr/>
                </a:tc>
                <a:extLst>
                  <a:ext uri="{0D108BD9-81ED-4DB2-BD59-A6C34878D82A}">
                    <a16:rowId xmlns:a16="http://schemas.microsoft.com/office/drawing/2014/main" val="10001"/>
                  </a:ext>
                </a:extLst>
              </a:tr>
              <a:tr h="2530228">
                <a:tc>
                  <a:txBody>
                    <a:bodyPr/>
                    <a:lstStyle/>
                    <a:p>
                      <a:pPr algn="ctr"/>
                      <a:r>
                        <a:rPr lang="en-US" sz="2400" dirty="0">
                          <a:latin typeface="Gill Sans MT" panose="020B0502020104020203" pitchFamily="34" charset="0"/>
                        </a:rPr>
                        <a:t>Disadvantages</a:t>
                      </a:r>
                    </a:p>
                  </a:txBody>
                  <a:tcPr vert="vert270" anchor="ctr"/>
                </a:tc>
                <a:tc>
                  <a:txBody>
                    <a:bodyPr/>
                    <a:lstStyle/>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Response action cannot stop trigger packets.</a:t>
                      </a:r>
                    </a:p>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Correct tuning required for response actions.</a:t>
                      </a:r>
                    </a:p>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More vulnerable to network evasion techniques.</a:t>
                      </a:r>
                    </a:p>
                  </a:txBody>
                  <a:tcPr/>
                </a:tc>
                <a:tc>
                  <a:txBody>
                    <a:bodyPr/>
                    <a:lstStyle/>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Some impact on network (latency, jitter).</a:t>
                      </a:r>
                    </a:p>
                    <a:p>
                      <a:pPr marL="285750" indent="-285750" defTabSz="814388">
                        <a:lnSpc>
                          <a:spcPct val="95000"/>
                        </a:lnSpc>
                        <a:spcBef>
                          <a:spcPct val="50000"/>
                        </a:spcBef>
                        <a:buClr>
                          <a:schemeClr val="tx2"/>
                        </a:buClr>
                        <a:buSzPct val="100000"/>
                        <a:buFont typeface="Arial" pitchFamily="34" charset="0"/>
                        <a:buChar char="•"/>
                      </a:pPr>
                      <a:r>
                        <a:rPr lang="en-US" sz="2400" dirty="0">
                          <a:latin typeface="Gill Sans MT" panose="020B0502020104020203" pitchFamily="34" charset="0"/>
                        </a:rPr>
                        <a:t>Sensor failure or overloading impacts the network.</a:t>
                      </a:r>
                    </a:p>
                  </a:txBody>
                  <a:tcPr/>
                </a:tc>
                <a:extLst>
                  <a:ext uri="{0D108BD9-81ED-4DB2-BD59-A6C34878D82A}">
                    <a16:rowId xmlns:a16="http://schemas.microsoft.com/office/drawing/2014/main" val="10002"/>
                  </a:ext>
                </a:extLst>
              </a:tr>
            </a:tbl>
          </a:graphicData>
        </a:graphic>
      </p:graphicFrame>
      <p:sp>
        <p:nvSpPr>
          <p:cNvPr id="15362" name="Rectangle 2"/>
          <p:cNvSpPr>
            <a:spLocks noGrp="1" noChangeArrowheads="1"/>
          </p:cNvSpPr>
          <p:nvPr>
            <p:ph type="title"/>
          </p:nvPr>
        </p:nvSpPr>
        <p:spPr/>
        <p:txBody>
          <a:bodyPr>
            <a:normAutofit/>
          </a:bodyPr>
          <a:lstStyle/>
          <a:p>
            <a:pPr eaLnBrk="1" hangingPunct="1"/>
            <a:r>
              <a:rPr lang="en-US" sz="4400" dirty="0"/>
              <a:t>Comparing IDS and IPS Solutions</a:t>
            </a:r>
          </a:p>
        </p:txBody>
      </p:sp>
      <p:sp>
        <p:nvSpPr>
          <p:cNvPr id="15371" name="Rectangle 12"/>
          <p:cNvSpPr>
            <a:spLocks noChangeArrowheads="1"/>
          </p:cNvSpPr>
          <p:nvPr/>
        </p:nvSpPr>
        <p:spPr bwMode="auto">
          <a:xfrm>
            <a:off x="533400" y="1611313"/>
            <a:ext cx="12747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82124" tIns="41061" rIns="82124" bIns="41061"/>
          <a:lstStyle/>
          <a:p>
            <a:pPr defTabSz="814388">
              <a:lnSpc>
                <a:spcPct val="95000"/>
              </a:lnSpc>
              <a:spcBef>
                <a:spcPct val="50000"/>
              </a:spcBef>
              <a:buClr>
                <a:schemeClr val="tx2"/>
              </a:buClr>
              <a:buSzPct val="100000"/>
              <a:buFont typeface="Wingdings" charset="0"/>
              <a:buNone/>
            </a:pPr>
            <a:endParaRPr lang="en-US" sz="1600" b="0">
              <a:solidFill>
                <a:schemeClr val="bg1"/>
              </a:solidFill>
            </a:endParaRPr>
          </a:p>
        </p:txBody>
      </p:sp>
      <p:sp>
        <p:nvSpPr>
          <p:cNvPr id="15373" name="Line 14"/>
          <p:cNvSpPr>
            <a:spLocks noChangeShapeType="1"/>
          </p:cNvSpPr>
          <p:nvPr/>
        </p:nvSpPr>
        <p:spPr bwMode="auto">
          <a:xfrm>
            <a:off x="533400" y="1611313"/>
            <a:ext cx="127476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74" name="Line 15"/>
          <p:cNvSpPr>
            <a:spLocks noChangeShapeType="1"/>
          </p:cNvSpPr>
          <p:nvPr/>
        </p:nvSpPr>
        <p:spPr bwMode="auto">
          <a:xfrm>
            <a:off x="533400" y="1611313"/>
            <a:ext cx="0" cy="4286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78" name="Line 19"/>
          <p:cNvSpPr>
            <a:spLocks noChangeShapeType="1"/>
          </p:cNvSpPr>
          <p:nvPr/>
        </p:nvSpPr>
        <p:spPr bwMode="auto">
          <a:xfrm>
            <a:off x="5186363" y="1611313"/>
            <a:ext cx="337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79" name="Line 20"/>
          <p:cNvSpPr>
            <a:spLocks noChangeShapeType="1"/>
          </p:cNvSpPr>
          <p:nvPr/>
        </p:nvSpPr>
        <p:spPr bwMode="auto">
          <a:xfrm>
            <a:off x="1808163" y="1611313"/>
            <a:ext cx="3378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81" name="Line 22"/>
          <p:cNvSpPr>
            <a:spLocks noChangeShapeType="1"/>
          </p:cNvSpPr>
          <p:nvPr/>
        </p:nvSpPr>
        <p:spPr bwMode="auto">
          <a:xfrm>
            <a:off x="8564563" y="2039938"/>
            <a:ext cx="0" cy="202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lIns="82124" tIns="41061" rIns="82124" bIns="41061"/>
          <a:lstStyle/>
          <a:p>
            <a:endParaRPr lang="en-US"/>
          </a:p>
        </p:txBody>
      </p:sp>
      <p:sp>
        <p:nvSpPr>
          <p:cNvPr id="15382" name="Line 23"/>
          <p:cNvSpPr>
            <a:spLocks noChangeShapeType="1"/>
          </p:cNvSpPr>
          <p:nvPr/>
        </p:nvSpPr>
        <p:spPr bwMode="auto">
          <a:xfrm>
            <a:off x="533400" y="2039938"/>
            <a:ext cx="0" cy="202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83" name="Line 24"/>
          <p:cNvSpPr>
            <a:spLocks noChangeShapeType="1"/>
          </p:cNvSpPr>
          <p:nvPr/>
        </p:nvSpPr>
        <p:spPr bwMode="auto">
          <a:xfrm>
            <a:off x="533400" y="4068763"/>
            <a:ext cx="0" cy="202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84" name="Line 25"/>
          <p:cNvSpPr>
            <a:spLocks noChangeShapeType="1"/>
          </p:cNvSpPr>
          <p:nvPr/>
        </p:nvSpPr>
        <p:spPr bwMode="auto">
          <a:xfrm>
            <a:off x="8564563" y="1611313"/>
            <a:ext cx="0" cy="4286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lIns="82124" tIns="41061" rIns="82124" bIns="41061"/>
          <a:lstStyle/>
          <a:p>
            <a:endParaRPr lang="en-US"/>
          </a:p>
        </p:txBody>
      </p:sp>
      <p:sp>
        <p:nvSpPr>
          <p:cNvPr id="15386" name="Line 27"/>
          <p:cNvSpPr>
            <a:spLocks noChangeShapeType="1"/>
          </p:cNvSpPr>
          <p:nvPr/>
        </p:nvSpPr>
        <p:spPr bwMode="auto">
          <a:xfrm>
            <a:off x="8564563" y="4068763"/>
            <a:ext cx="0" cy="202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lIns="82124" tIns="41061" rIns="82124" bIns="41061"/>
          <a:lstStyle/>
          <a:p>
            <a:endParaRPr lang="en-US"/>
          </a:p>
        </p:txBody>
      </p:sp>
    </p:spTree>
    <p:extLst>
      <p:ext uri="{BB962C8B-B14F-4D97-AF65-F5344CB8AC3E}">
        <p14:creationId xmlns:p14="http://schemas.microsoft.com/office/powerpoint/2010/main" val="2966135845"/>
      </p:ext>
    </p:extLst>
  </p:cSld>
  <p:clrMapOvr>
    <a:masterClrMapping/>
  </p:clrMapOvr>
  <p:transition spd="med">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pPr eaLnBrk="1" hangingPunct="1"/>
            <a:r>
              <a:rPr lang="en-US" sz="4400" dirty="0"/>
              <a:t>IPS Signatures</a:t>
            </a:r>
          </a:p>
        </p:txBody>
      </p:sp>
      <p:sp>
        <p:nvSpPr>
          <p:cNvPr id="39939" name="Rectangle 3"/>
          <p:cNvSpPr>
            <a:spLocks noGrp="1" noChangeArrowheads="1"/>
          </p:cNvSpPr>
          <p:nvPr>
            <p:ph idx="1"/>
          </p:nvPr>
        </p:nvSpPr>
        <p:spPr>
          <a:xfrm>
            <a:off x="410029" y="1690689"/>
            <a:ext cx="8323942" cy="4710111"/>
          </a:xfrm>
        </p:spPr>
        <p:txBody>
          <a:bodyPr>
            <a:noAutofit/>
          </a:bodyPr>
          <a:lstStyle/>
          <a:p>
            <a:r>
              <a:rPr lang="en-US" sz="2800" dirty="0"/>
              <a:t>To stop incoming malicious traffic, the network must first be able to identify it. </a:t>
            </a:r>
          </a:p>
          <a:p>
            <a:pPr lvl="1"/>
            <a:r>
              <a:rPr lang="en-US" sz="2400" dirty="0"/>
              <a:t>Fortunately, malicious traffic displays distinct characteristics or "signatures." </a:t>
            </a:r>
          </a:p>
          <a:p>
            <a:r>
              <a:rPr lang="en-US" sz="2800" dirty="0"/>
              <a:t>A signature is a set of rules that an IDS and an IPS use to detect typical intrusive activity, such as </a:t>
            </a:r>
            <a:r>
              <a:rPr lang="en-US" sz="2800" dirty="0" err="1"/>
              <a:t>DoS</a:t>
            </a:r>
            <a:r>
              <a:rPr lang="en-US" sz="2800" dirty="0"/>
              <a:t> attacks. </a:t>
            </a:r>
          </a:p>
          <a:p>
            <a:pPr lvl="1"/>
            <a:r>
              <a:rPr lang="en-US" sz="2400" dirty="0"/>
              <a:t>Signatures uniquely identify specific worms, viruses, protocol anomalies, or malicious traffic. </a:t>
            </a:r>
          </a:p>
          <a:p>
            <a:pPr lvl="1"/>
            <a:r>
              <a:rPr lang="en-US" sz="2400" dirty="0"/>
              <a:t>IPS sensors are tuned to look for matching signatures or abnormal traffic patterns. </a:t>
            </a:r>
          </a:p>
          <a:p>
            <a:r>
              <a:rPr lang="en-US" sz="2800" dirty="0"/>
              <a:t>IPS signatures are conceptually similar to the </a:t>
            </a:r>
            <a:r>
              <a:rPr lang="en-US" sz="2800" dirty="0" err="1"/>
              <a:t>virus.dat</a:t>
            </a:r>
            <a:r>
              <a:rPr lang="en-US" sz="2800" dirty="0"/>
              <a:t> file used by virus scanners.</a:t>
            </a:r>
          </a:p>
        </p:txBody>
      </p:sp>
    </p:spTree>
    <p:extLst>
      <p:ext uri="{BB962C8B-B14F-4D97-AF65-F5344CB8AC3E}">
        <p14:creationId xmlns:p14="http://schemas.microsoft.com/office/powerpoint/2010/main" val="397840854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pPr eaLnBrk="1" hangingPunct="1"/>
            <a:r>
              <a:rPr lang="en-US" sz="4400" dirty="0"/>
              <a:t>Signature Attributes</a:t>
            </a:r>
          </a:p>
        </p:txBody>
      </p:sp>
      <p:sp>
        <p:nvSpPr>
          <p:cNvPr id="39939" name="Rectangle 3"/>
          <p:cNvSpPr>
            <a:spLocks noGrp="1" noChangeArrowheads="1"/>
          </p:cNvSpPr>
          <p:nvPr>
            <p:ph idx="1"/>
          </p:nvPr>
        </p:nvSpPr>
        <p:spPr>
          <a:xfrm>
            <a:off x="776288" y="1690689"/>
            <a:ext cx="8004854" cy="4614756"/>
          </a:xfrm>
        </p:spPr>
        <p:txBody>
          <a:bodyPr>
            <a:normAutofit/>
          </a:bodyPr>
          <a:lstStyle/>
          <a:p>
            <a:r>
              <a:rPr lang="en-US" sz="3200" dirty="0"/>
              <a:t>Signatures have three distinctive attributes:</a:t>
            </a:r>
          </a:p>
          <a:p>
            <a:pPr lvl="1">
              <a:buFont typeface="Wingdings" panose="05000000000000000000" pitchFamily="2" charset="2"/>
              <a:buChar char="ü"/>
            </a:pPr>
            <a:r>
              <a:rPr lang="en-US" sz="3200" dirty="0"/>
              <a:t>Signature Type</a:t>
            </a:r>
          </a:p>
          <a:p>
            <a:pPr lvl="2"/>
            <a:r>
              <a:rPr lang="en-US" sz="3200" dirty="0"/>
              <a:t>Atomic (one packet required)</a:t>
            </a:r>
          </a:p>
          <a:p>
            <a:pPr lvl="2"/>
            <a:r>
              <a:rPr lang="en-US" sz="3200" dirty="0"/>
              <a:t>Composite (many packets required)</a:t>
            </a:r>
          </a:p>
          <a:p>
            <a:pPr lvl="1">
              <a:buFont typeface="Wingdings" panose="05000000000000000000" pitchFamily="2" charset="2"/>
              <a:buChar char="ü"/>
            </a:pPr>
            <a:r>
              <a:rPr lang="en-US" sz="3200" dirty="0"/>
              <a:t>Trigger (alarm) </a:t>
            </a:r>
          </a:p>
          <a:p>
            <a:pPr lvl="1">
              <a:buFont typeface="Wingdings" panose="05000000000000000000" pitchFamily="2" charset="2"/>
              <a:buChar char="ü"/>
            </a:pPr>
            <a:r>
              <a:rPr lang="en-US" sz="3200" dirty="0"/>
              <a:t>Action</a:t>
            </a:r>
          </a:p>
        </p:txBody>
      </p:sp>
    </p:spTree>
    <p:extLst>
      <p:ext uri="{BB962C8B-B14F-4D97-AF65-F5344CB8AC3E}">
        <p14:creationId xmlns:p14="http://schemas.microsoft.com/office/powerpoint/2010/main" val="4253224020"/>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pPr eaLnBrk="1" hangingPunct="1"/>
            <a:r>
              <a:rPr lang="en-US" sz="4400" dirty="0"/>
              <a:t>Signature Type – Atomic Signature</a:t>
            </a:r>
          </a:p>
        </p:txBody>
      </p:sp>
      <p:sp>
        <p:nvSpPr>
          <p:cNvPr id="1525763" name="Rectangle 3"/>
          <p:cNvSpPr>
            <a:spLocks noGrp="1" noChangeArrowheads="1"/>
          </p:cNvSpPr>
          <p:nvPr>
            <p:ph idx="1"/>
          </p:nvPr>
        </p:nvSpPr>
        <p:spPr>
          <a:xfrm>
            <a:off x="776288" y="1905000"/>
            <a:ext cx="8004854" cy="4400445"/>
          </a:xfrm>
        </p:spPr>
        <p:txBody>
          <a:bodyPr>
            <a:normAutofit/>
          </a:bodyPr>
          <a:lstStyle/>
          <a:p>
            <a:r>
              <a:rPr lang="en-US" sz="2800" dirty="0"/>
              <a:t>Simplest form of an attack as it consists of a single packet, activity, or event that is examined to determine if it matches a configured signature. </a:t>
            </a:r>
          </a:p>
          <a:p>
            <a:pPr lvl="1">
              <a:buFont typeface="Wingdings" panose="05000000000000000000" pitchFamily="2" charset="2"/>
              <a:buChar char="ü"/>
            </a:pPr>
            <a:r>
              <a:rPr lang="en-US" sz="2800" dirty="0"/>
              <a:t>If it does, an alarm is triggered, and a signature action is performed. </a:t>
            </a:r>
          </a:p>
          <a:p>
            <a:pPr lvl="1">
              <a:buFont typeface="Wingdings" panose="05000000000000000000" pitchFamily="2" charset="2"/>
              <a:buChar char="ü"/>
            </a:pPr>
            <a:r>
              <a:rPr lang="en-US" sz="2800" dirty="0"/>
              <a:t>It does not require any knowledge of past or future activities (No state information is required). </a:t>
            </a:r>
          </a:p>
          <a:p>
            <a:pPr lvl="1"/>
            <a:endParaRPr lang="en-US" sz="2800" dirty="0"/>
          </a:p>
        </p:txBody>
      </p:sp>
    </p:spTree>
    <p:extLst>
      <p:ext uri="{BB962C8B-B14F-4D97-AF65-F5344CB8AC3E}">
        <p14:creationId xmlns:p14="http://schemas.microsoft.com/office/powerpoint/2010/main" val="392591747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1" name="Rectangle 3"/>
          <p:cNvSpPr>
            <a:spLocks noGrp="1" noChangeArrowheads="1"/>
          </p:cNvSpPr>
          <p:nvPr>
            <p:ph type="body" sz="quarter" idx="10"/>
          </p:nvPr>
        </p:nvSpPr>
        <p:spPr>
          <a:xfrm>
            <a:off x="761999" y="1690688"/>
            <a:ext cx="8056563" cy="4786311"/>
          </a:xfrm>
        </p:spPr>
        <p:txBody>
          <a:bodyPr>
            <a:normAutofit/>
          </a:bodyPr>
          <a:lstStyle/>
          <a:p>
            <a:r>
              <a:rPr lang="en-US" sz="2800" dirty="0">
                <a:latin typeface="Gill Sans MT" panose="020B0502020104020203" pitchFamily="34" charset="0"/>
                <a:cs typeface="Arial" panose="020B0604020202020204" pitchFamily="34" charset="0"/>
              </a:rPr>
              <a:t>Also called a </a:t>
            </a:r>
            <a:r>
              <a:rPr lang="en-US" sz="2800" dirty="0" err="1">
                <a:latin typeface="Gill Sans MT" panose="020B0502020104020203" pitchFamily="34" charset="0"/>
                <a:cs typeface="Arial" panose="020B0604020202020204" pitchFamily="34" charset="0"/>
              </a:rPr>
              <a:t>stateful</a:t>
            </a:r>
            <a:r>
              <a:rPr lang="en-US" sz="2800" dirty="0">
                <a:latin typeface="Gill Sans MT" panose="020B0502020104020203" pitchFamily="34" charset="0"/>
                <a:cs typeface="Arial" panose="020B0604020202020204" pitchFamily="34" charset="0"/>
              </a:rPr>
              <a:t> signature, it identifies a sequence of operations distributed across multiple hosts over an arbitrary period of time (event horizon). </a:t>
            </a:r>
          </a:p>
          <a:p>
            <a:pPr lvl="1"/>
            <a:r>
              <a:rPr lang="en-US" sz="2800" dirty="0">
                <a:latin typeface="Gill Sans MT" panose="020B0502020104020203" pitchFamily="34" charset="0"/>
                <a:cs typeface="Arial" panose="020B0604020202020204" pitchFamily="34" charset="0"/>
              </a:rPr>
              <a:t>Event horizon: The length of time that the signatures must maintain state. </a:t>
            </a:r>
          </a:p>
          <a:p>
            <a:r>
              <a:rPr lang="en-US" sz="2800" dirty="0">
                <a:latin typeface="Gill Sans MT" panose="020B0502020104020203" pitchFamily="34" charset="0"/>
                <a:cs typeface="Arial" panose="020B0604020202020204" pitchFamily="34" charset="0"/>
              </a:rPr>
              <a:t>Usually requires several pieces of data to match an attack signature, and an IPS device must maintain state. </a:t>
            </a:r>
          </a:p>
        </p:txBody>
      </p:sp>
      <p:sp>
        <p:nvSpPr>
          <p:cNvPr id="46082" name="Rectangle 2"/>
          <p:cNvSpPr>
            <a:spLocks noGrp="1" noChangeArrowheads="1"/>
          </p:cNvSpPr>
          <p:nvPr>
            <p:ph type="title"/>
          </p:nvPr>
        </p:nvSpPr>
        <p:spPr>
          <a:xfrm>
            <a:off x="628650" y="365126"/>
            <a:ext cx="8058150" cy="1325563"/>
          </a:xfrm>
        </p:spPr>
        <p:txBody>
          <a:bodyPr>
            <a:normAutofit/>
          </a:bodyPr>
          <a:lstStyle/>
          <a:p>
            <a:r>
              <a:rPr lang="en-US" sz="4000" dirty="0"/>
              <a:t>Signature Type – Composite Signature</a:t>
            </a:r>
          </a:p>
        </p:txBody>
      </p:sp>
    </p:spTree>
    <p:extLst>
      <p:ext uri="{BB962C8B-B14F-4D97-AF65-F5344CB8AC3E}">
        <p14:creationId xmlns:p14="http://schemas.microsoft.com/office/powerpoint/2010/main" val="149534885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28650" y="365126"/>
            <a:ext cx="7981950" cy="1325563"/>
          </a:xfrm>
        </p:spPr>
        <p:txBody>
          <a:bodyPr>
            <a:normAutofit/>
          </a:bodyPr>
          <a:lstStyle/>
          <a:p>
            <a:pPr eaLnBrk="1" hangingPunct="1"/>
            <a:r>
              <a:rPr lang="en-US" sz="4000" dirty="0"/>
              <a:t>Signature Type – Composite Signature</a:t>
            </a:r>
          </a:p>
        </p:txBody>
      </p:sp>
      <p:sp>
        <p:nvSpPr>
          <p:cNvPr id="1527811" name="Rectangle 3"/>
          <p:cNvSpPr>
            <a:spLocks noGrp="1" noChangeArrowheads="1"/>
          </p:cNvSpPr>
          <p:nvPr>
            <p:ph idx="1"/>
          </p:nvPr>
        </p:nvSpPr>
        <p:spPr>
          <a:xfrm>
            <a:off x="776288" y="1690689"/>
            <a:ext cx="8004854" cy="4614756"/>
          </a:xfrm>
        </p:spPr>
        <p:txBody>
          <a:bodyPr>
            <a:normAutofit/>
          </a:bodyPr>
          <a:lstStyle/>
          <a:p>
            <a:r>
              <a:rPr lang="en-US" sz="2400" dirty="0"/>
              <a:t>The length of an event horizon varies from one signature to another. </a:t>
            </a:r>
          </a:p>
          <a:p>
            <a:pPr lvl="1">
              <a:buFont typeface="Wingdings" panose="05000000000000000000" pitchFamily="2" charset="2"/>
              <a:buChar char="ü"/>
            </a:pPr>
            <a:r>
              <a:rPr lang="en-US" sz="2400" dirty="0"/>
              <a:t>An IPS cannot maintain state information indefinitely without eventually running out of resources. </a:t>
            </a:r>
          </a:p>
          <a:p>
            <a:r>
              <a:rPr lang="en-US" sz="2400" dirty="0"/>
              <a:t>Therefore, an IPS uses a configured event horizon to determine how long it looks for a specific attack signature when an initial signature component is detected. </a:t>
            </a:r>
          </a:p>
          <a:p>
            <a:pPr lvl="1">
              <a:buFont typeface="Wingdings" panose="05000000000000000000" pitchFamily="2" charset="2"/>
              <a:buChar char="ü"/>
            </a:pPr>
            <a:r>
              <a:rPr lang="en-US" sz="2400" dirty="0"/>
              <a:t>Configuring the length of the event horizon is a tradeoff between consuming system resources and being able to detect an attack that occurs over an extended period of time.</a:t>
            </a:r>
          </a:p>
        </p:txBody>
      </p:sp>
    </p:spTree>
    <p:extLst>
      <p:ext uri="{BB962C8B-B14F-4D97-AF65-F5344CB8AC3E}">
        <p14:creationId xmlns:p14="http://schemas.microsoft.com/office/powerpoint/2010/main" val="115198670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pPr eaLnBrk="1" hangingPunct="1"/>
            <a:r>
              <a:rPr lang="en-US" sz="4400" dirty="0"/>
              <a:t>Signature File</a:t>
            </a:r>
          </a:p>
        </p:txBody>
      </p:sp>
      <p:sp>
        <p:nvSpPr>
          <p:cNvPr id="48131" name="Rectangle 3"/>
          <p:cNvSpPr>
            <a:spLocks noGrp="1" noChangeArrowheads="1"/>
          </p:cNvSpPr>
          <p:nvPr>
            <p:ph idx="1"/>
          </p:nvPr>
        </p:nvSpPr>
        <p:spPr>
          <a:xfrm>
            <a:off x="776288" y="1690689"/>
            <a:ext cx="8004854" cy="4614756"/>
          </a:xfrm>
        </p:spPr>
        <p:txBody>
          <a:bodyPr>
            <a:normAutofit/>
          </a:bodyPr>
          <a:lstStyle/>
          <a:p>
            <a:r>
              <a:rPr lang="en-US" sz="2800" dirty="0"/>
              <a:t>As new threats are identified, new signatures must be created and uploaded to an IPS. </a:t>
            </a:r>
          </a:p>
          <a:p>
            <a:r>
              <a:rPr lang="en-US" sz="2800" dirty="0"/>
              <a:t>To make this process easier, all signatures are contained in a signature file and uploaded to an IPS on a regular basis.</a:t>
            </a:r>
          </a:p>
          <a:p>
            <a:pPr lvl="1">
              <a:buFont typeface="Wingdings" panose="05000000000000000000" pitchFamily="2" charset="2"/>
              <a:buChar char="ü"/>
            </a:pPr>
            <a:r>
              <a:rPr lang="en-US" sz="2800" dirty="0"/>
              <a:t>Networks deploying the latest signature files are better protected against network intrusions.</a:t>
            </a:r>
          </a:p>
        </p:txBody>
      </p:sp>
    </p:spTree>
    <p:extLst>
      <p:ext uri="{BB962C8B-B14F-4D97-AF65-F5344CB8AC3E}">
        <p14:creationId xmlns:p14="http://schemas.microsoft.com/office/powerpoint/2010/main" val="940118770"/>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sz="quarter" idx="10"/>
          </p:nvPr>
        </p:nvSpPr>
        <p:spPr>
          <a:xfrm>
            <a:off x="654050" y="1524000"/>
            <a:ext cx="8056563" cy="5334000"/>
          </a:xfrm>
        </p:spPr>
        <p:txBody>
          <a:bodyPr>
            <a:noAutofit/>
          </a:bodyPr>
          <a:lstStyle/>
          <a:p>
            <a:r>
              <a:rPr lang="en-US" sz="2400" dirty="0">
                <a:latin typeface="Gill Sans MT" panose="020B0502020104020203" pitchFamily="34" charset="0"/>
              </a:rPr>
              <a:t>Cisco investigates / creates signatures for new threats as they are discovered and publishes them regularly. </a:t>
            </a:r>
          </a:p>
          <a:p>
            <a:pPr lvl="1">
              <a:buFont typeface="Wingdings" panose="05000000000000000000" pitchFamily="2" charset="2"/>
              <a:buChar char="ü"/>
            </a:pPr>
            <a:r>
              <a:rPr lang="en-US" sz="2400" dirty="0">
                <a:latin typeface="Gill Sans MT" panose="020B0502020104020203" pitchFamily="34" charset="0"/>
              </a:rPr>
              <a:t>Lower priority IPS signature files are published biweekly.</a:t>
            </a:r>
          </a:p>
          <a:p>
            <a:pPr lvl="1">
              <a:buFont typeface="Wingdings" panose="05000000000000000000" pitchFamily="2" charset="2"/>
              <a:buChar char="ü"/>
            </a:pPr>
            <a:r>
              <a:rPr lang="en-US" sz="2400" dirty="0">
                <a:latin typeface="Gill Sans MT" panose="020B0502020104020203" pitchFamily="34" charset="0"/>
              </a:rPr>
              <a:t>If the threat is severe, Cisco publishes signature files within hours of identification.</a:t>
            </a:r>
          </a:p>
          <a:p>
            <a:r>
              <a:rPr lang="en-US" sz="2400" dirty="0">
                <a:latin typeface="Gill Sans MT" panose="020B0502020104020203" pitchFamily="34" charset="0"/>
              </a:rPr>
              <a:t>Update the signature file regularly to protect the network. </a:t>
            </a:r>
          </a:p>
          <a:p>
            <a:pPr lvl="1"/>
            <a:r>
              <a:rPr lang="en-US" sz="2400" dirty="0">
                <a:latin typeface="Gill Sans MT" panose="020B0502020104020203" pitchFamily="34" charset="0"/>
              </a:rPr>
              <a:t>Each update includes new signatures and all the signatures in the previous version. </a:t>
            </a:r>
          </a:p>
          <a:p>
            <a:pPr lvl="2">
              <a:buFont typeface="Wingdings" panose="05000000000000000000" pitchFamily="2" charset="2"/>
              <a:buChar char="ü"/>
            </a:pPr>
            <a:r>
              <a:rPr lang="en-US" sz="2400" dirty="0">
                <a:latin typeface="Gill Sans MT" panose="020B0502020104020203" pitchFamily="34" charset="0"/>
              </a:rPr>
              <a:t>For example, signature file IOS-S361-CLI.pkg includes all signatures in file IOS-S360-CLI.pkg plus signatures created for threats discovered subsequently. </a:t>
            </a:r>
          </a:p>
          <a:p>
            <a:r>
              <a:rPr lang="en-US" sz="2400" dirty="0">
                <a:latin typeface="Gill Sans MT" panose="020B0502020104020203" pitchFamily="34" charset="0"/>
              </a:rPr>
              <a:t>New signatures are downloadable from CCO.</a:t>
            </a:r>
          </a:p>
          <a:p>
            <a:pPr lvl="1">
              <a:buFont typeface="Wingdings" panose="05000000000000000000" pitchFamily="2" charset="2"/>
              <a:buChar char="ü"/>
            </a:pPr>
            <a:r>
              <a:rPr lang="en-US" sz="2400" dirty="0">
                <a:latin typeface="Gill Sans MT" panose="020B0502020104020203" pitchFamily="34" charset="0"/>
              </a:rPr>
              <a:t>Requires a valid CCO login.</a:t>
            </a:r>
          </a:p>
        </p:txBody>
      </p:sp>
      <p:sp>
        <p:nvSpPr>
          <p:cNvPr id="55298" name="Rectangle 2"/>
          <p:cNvSpPr>
            <a:spLocks noGrp="1" noChangeArrowheads="1"/>
          </p:cNvSpPr>
          <p:nvPr>
            <p:ph type="title"/>
          </p:nvPr>
        </p:nvSpPr>
        <p:spPr/>
        <p:txBody>
          <a:bodyPr>
            <a:normAutofit/>
          </a:bodyPr>
          <a:lstStyle/>
          <a:p>
            <a:pPr eaLnBrk="1" hangingPunct="1"/>
            <a:r>
              <a:rPr lang="en-US" sz="4400" dirty="0"/>
              <a:t>Updating Signatures</a:t>
            </a:r>
          </a:p>
        </p:txBody>
      </p:sp>
    </p:spTree>
    <p:extLst>
      <p:ext uri="{BB962C8B-B14F-4D97-AF65-F5344CB8AC3E}">
        <p14:creationId xmlns:p14="http://schemas.microsoft.com/office/powerpoint/2010/main" val="93132578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pPr eaLnBrk="1" hangingPunct="1"/>
            <a:r>
              <a:rPr lang="en-US" sz="4400" dirty="0"/>
              <a:t>Updating Signatures</a:t>
            </a:r>
          </a:p>
        </p:txBody>
      </p:sp>
      <p:pic>
        <p:nvPicPr>
          <p:cNvPr id="4" name="Picture 2"/>
          <p:cNvPicPr>
            <a:picLocks noChangeAspect="1" noChangeArrowheads="1"/>
          </p:cNvPicPr>
          <p:nvPr/>
        </p:nvPicPr>
        <p:blipFill>
          <a:blip r:embed="rId2"/>
          <a:srcRect/>
          <a:stretch>
            <a:fillRect/>
          </a:stretch>
        </p:blipFill>
        <p:spPr bwMode="auto">
          <a:xfrm>
            <a:off x="366208" y="1447800"/>
            <a:ext cx="8411583" cy="4797651"/>
          </a:xfrm>
          <a:prstGeom prst="rect">
            <a:avLst/>
          </a:prstGeom>
          <a:noFill/>
          <a:ln w="9525">
            <a:noFill/>
            <a:miter lim="800000"/>
            <a:headEnd/>
            <a:tailEnd/>
          </a:ln>
          <a:effectLst/>
        </p:spPr>
      </p:pic>
    </p:spTree>
    <p:extLst>
      <p:ext uri="{BB962C8B-B14F-4D97-AF65-F5344CB8AC3E}">
        <p14:creationId xmlns:p14="http://schemas.microsoft.com/office/powerpoint/2010/main" val="349020398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sz="quarter" idx="10"/>
          </p:nvPr>
        </p:nvSpPr>
        <p:spPr>
          <a:xfrm>
            <a:off x="662517" y="1524000"/>
            <a:ext cx="8056563" cy="5167312"/>
          </a:xfrm>
        </p:spPr>
        <p:txBody>
          <a:bodyPr>
            <a:noAutofit/>
          </a:bodyPr>
          <a:lstStyle/>
          <a:p>
            <a:r>
              <a:rPr lang="en-US" sz="2800" dirty="0">
                <a:latin typeface="Gill Sans MT" panose="020B0502020104020203" pitchFamily="34" charset="0"/>
              </a:rPr>
              <a:t>The signature trigger for an IPS sensor is anything that can reliably signal an intrusion or security policy violation. </a:t>
            </a:r>
          </a:p>
          <a:p>
            <a:pPr lvl="1"/>
            <a:r>
              <a:rPr lang="en-US" sz="2400" dirty="0">
                <a:latin typeface="Gill Sans MT" panose="020B0502020104020203" pitchFamily="34" charset="0"/>
              </a:rPr>
              <a:t>E.g., a packet with a payload containing a specific string going to a specific port. </a:t>
            </a:r>
          </a:p>
          <a:p>
            <a:r>
              <a:rPr lang="en-US" sz="2800" dirty="0">
                <a:latin typeface="Gill Sans MT" panose="020B0502020104020203" pitchFamily="34" charset="0"/>
              </a:rPr>
              <a:t>Four types of signature triggers:</a:t>
            </a:r>
          </a:p>
          <a:p>
            <a:pPr lvl="1"/>
            <a:r>
              <a:rPr lang="en-US" sz="2400" dirty="0">
                <a:latin typeface="Gill Sans MT" panose="020B0502020104020203" pitchFamily="34" charset="0"/>
              </a:rPr>
              <a:t>Pattern-based detection</a:t>
            </a:r>
          </a:p>
          <a:p>
            <a:pPr lvl="1"/>
            <a:r>
              <a:rPr lang="en-US" sz="2400" dirty="0">
                <a:latin typeface="Gill Sans MT" panose="020B0502020104020203" pitchFamily="34" charset="0"/>
              </a:rPr>
              <a:t>Policy-based detection</a:t>
            </a:r>
          </a:p>
          <a:p>
            <a:pPr lvl="1"/>
            <a:r>
              <a:rPr lang="en-US" sz="2400" dirty="0">
                <a:latin typeface="Gill Sans MT" panose="020B0502020104020203" pitchFamily="34" charset="0"/>
              </a:rPr>
              <a:t>Anomaly-based detection</a:t>
            </a:r>
          </a:p>
          <a:p>
            <a:pPr lvl="1"/>
            <a:r>
              <a:rPr lang="en-US" sz="2400" dirty="0">
                <a:latin typeface="Gill Sans MT" panose="020B0502020104020203" pitchFamily="34" charset="0"/>
              </a:rPr>
              <a:t>Reputation-based detection</a:t>
            </a:r>
          </a:p>
        </p:txBody>
      </p:sp>
      <p:sp>
        <p:nvSpPr>
          <p:cNvPr id="58370" name="Rectangle 2"/>
          <p:cNvSpPr>
            <a:spLocks noGrp="1" noChangeArrowheads="1"/>
          </p:cNvSpPr>
          <p:nvPr>
            <p:ph type="title"/>
          </p:nvPr>
        </p:nvSpPr>
        <p:spPr/>
        <p:txBody>
          <a:bodyPr>
            <a:normAutofit/>
          </a:bodyPr>
          <a:lstStyle/>
          <a:p>
            <a:pPr eaLnBrk="1" hangingPunct="1"/>
            <a:r>
              <a:rPr lang="en-US" sz="4000" dirty="0"/>
              <a:t>Signature Trigger (Signature Alarm)</a:t>
            </a:r>
          </a:p>
        </p:txBody>
      </p:sp>
    </p:spTree>
    <p:extLst>
      <p:ext uri="{BB962C8B-B14F-4D97-AF65-F5344CB8AC3E}">
        <p14:creationId xmlns:p14="http://schemas.microsoft.com/office/powerpoint/2010/main" val="349385562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sz="quarter" idx="10"/>
          </p:nvPr>
        </p:nvSpPr>
        <p:spPr>
          <a:xfrm>
            <a:off x="761999" y="1371600"/>
            <a:ext cx="8056563" cy="5105400"/>
          </a:xfrm>
        </p:spPr>
        <p:txBody>
          <a:bodyPr>
            <a:normAutofit/>
          </a:bodyPr>
          <a:lstStyle/>
          <a:p>
            <a:r>
              <a:rPr lang="en-US" sz="2800" dirty="0">
                <a:latin typeface="Gill Sans MT" panose="020B0502020104020203" pitchFamily="34" charset="0"/>
              </a:rPr>
              <a:t>Pattern-based detection (signature-based detection), is the simplest triggering mechanism because it searches for a specific, pre-defined pattern. </a:t>
            </a:r>
          </a:p>
          <a:p>
            <a:r>
              <a:rPr lang="en-US" sz="2800" dirty="0">
                <a:latin typeface="Gill Sans MT" panose="020B0502020104020203" pitchFamily="34" charset="0"/>
              </a:rPr>
              <a:t>The IPS sensor compares the network traffic to a database of known attacks and triggers an alarm or prevents communication if a match is found. </a:t>
            </a:r>
          </a:p>
        </p:txBody>
      </p:sp>
      <p:sp>
        <p:nvSpPr>
          <p:cNvPr id="59394" name="Rectangle 2"/>
          <p:cNvSpPr>
            <a:spLocks noGrp="1" noChangeArrowheads="1"/>
          </p:cNvSpPr>
          <p:nvPr>
            <p:ph type="title"/>
          </p:nvPr>
        </p:nvSpPr>
        <p:spPr>
          <a:xfrm>
            <a:off x="609600" y="381000"/>
            <a:ext cx="7886700" cy="1325563"/>
          </a:xfrm>
        </p:spPr>
        <p:txBody>
          <a:bodyPr>
            <a:normAutofit/>
          </a:bodyPr>
          <a:lstStyle/>
          <a:p>
            <a:pPr eaLnBrk="1" hangingPunct="1"/>
            <a:r>
              <a:rPr lang="en-US" sz="4400" dirty="0"/>
              <a:t>Pattern-Based Detection</a:t>
            </a:r>
          </a:p>
        </p:txBody>
      </p:sp>
      <p:pic>
        <p:nvPicPr>
          <p:cNvPr id="54276"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61999" y="4341283"/>
            <a:ext cx="7959799"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334798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sz="quarter" idx="10"/>
          </p:nvPr>
        </p:nvSpPr>
        <p:spPr>
          <a:xfrm>
            <a:off x="761999" y="1447800"/>
            <a:ext cx="8056563" cy="5029200"/>
          </a:xfrm>
        </p:spPr>
        <p:txBody>
          <a:bodyPr/>
          <a:lstStyle/>
          <a:p>
            <a:r>
              <a:rPr lang="en-US" sz="2800" dirty="0">
                <a:latin typeface="Gill Sans MT" panose="020B0502020104020203" pitchFamily="34" charset="0"/>
                <a:cs typeface="Arial" panose="020B0604020202020204" pitchFamily="34" charset="0"/>
              </a:rPr>
              <a:t>Similar to pattern-based detection, but instead of trying to define specific patterns, the administrator defines behaviors that are suspicious based on historical analysis. </a:t>
            </a:r>
          </a:p>
        </p:txBody>
      </p:sp>
      <p:sp>
        <p:nvSpPr>
          <p:cNvPr id="60418" name="Rectangle 2"/>
          <p:cNvSpPr>
            <a:spLocks noGrp="1" noChangeArrowheads="1"/>
          </p:cNvSpPr>
          <p:nvPr>
            <p:ph type="title"/>
          </p:nvPr>
        </p:nvSpPr>
        <p:spPr/>
        <p:txBody>
          <a:bodyPr>
            <a:normAutofit/>
          </a:bodyPr>
          <a:lstStyle/>
          <a:p>
            <a:r>
              <a:rPr lang="en-US" sz="4400" dirty="0"/>
              <a:t>Policy-Based Detection</a:t>
            </a:r>
          </a:p>
        </p:txBody>
      </p:sp>
      <p:pic>
        <p:nvPicPr>
          <p:cNvPr id="56324"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71865" y="3352800"/>
            <a:ext cx="7836829"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2702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sz="quarter" idx="10"/>
          </p:nvPr>
        </p:nvSpPr>
        <p:spPr>
          <a:xfrm>
            <a:off x="715213" y="1371600"/>
            <a:ext cx="8056563" cy="4648200"/>
          </a:xfrm>
        </p:spPr>
        <p:txBody>
          <a:bodyPr>
            <a:normAutofit/>
          </a:bodyPr>
          <a:lstStyle/>
          <a:p>
            <a:r>
              <a:rPr lang="en-US" sz="2400" dirty="0">
                <a:latin typeface="Gill Sans MT" panose="020B0502020104020203" pitchFamily="34" charset="0"/>
                <a:cs typeface="Arial" panose="020B0604020202020204" pitchFamily="34" charset="0"/>
              </a:rPr>
              <a:t>It can detect new and previously unpublished attacks. </a:t>
            </a:r>
          </a:p>
          <a:p>
            <a:r>
              <a:rPr lang="en-US" sz="2400" dirty="0">
                <a:latin typeface="Gill Sans MT" panose="020B0502020104020203" pitchFamily="34" charset="0"/>
                <a:cs typeface="Arial" panose="020B0604020202020204" pitchFamily="34" charset="0"/>
              </a:rPr>
              <a:t>Normal activity is defined and any activity that deviates from this profile is abnormal and triggers a signature action. </a:t>
            </a:r>
          </a:p>
          <a:p>
            <a:pPr lvl="1"/>
            <a:r>
              <a:rPr lang="en-US" sz="2400" dirty="0">
                <a:latin typeface="Gill Sans MT" panose="020B0502020104020203" pitchFamily="34" charset="0"/>
                <a:cs typeface="Arial" panose="020B0604020202020204" pitchFamily="34" charset="0"/>
              </a:rPr>
              <a:t>Note that an alert does not necessarily indicate an attack since a small deviation can sometimes occur from valid user traffic. </a:t>
            </a:r>
          </a:p>
          <a:p>
            <a:pPr lvl="1"/>
            <a:r>
              <a:rPr lang="en-US" sz="2400" dirty="0">
                <a:latin typeface="Gill Sans MT" panose="020B0502020104020203" pitchFamily="34" charset="0"/>
                <a:cs typeface="Arial" panose="020B0604020202020204" pitchFamily="34" charset="0"/>
              </a:rPr>
              <a:t>As the network evolves, the definition of normal usually changes, so the definition of normal must be redefined.</a:t>
            </a:r>
          </a:p>
        </p:txBody>
      </p:sp>
      <p:sp>
        <p:nvSpPr>
          <p:cNvPr id="61442" name="Rectangle 2"/>
          <p:cNvSpPr>
            <a:spLocks noGrp="1" noChangeArrowheads="1"/>
          </p:cNvSpPr>
          <p:nvPr>
            <p:ph type="title"/>
          </p:nvPr>
        </p:nvSpPr>
        <p:spPr/>
        <p:txBody>
          <a:bodyPr>
            <a:normAutofit/>
          </a:bodyPr>
          <a:lstStyle/>
          <a:p>
            <a:r>
              <a:rPr lang="en-US" sz="4400" dirty="0"/>
              <a:t>Anomaly-Based Detection</a:t>
            </a:r>
          </a:p>
        </p:txBody>
      </p:sp>
      <p:pic>
        <p:nvPicPr>
          <p:cNvPr id="55300"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02977" y="4743294"/>
            <a:ext cx="7885732"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725329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61999" y="1690688"/>
            <a:ext cx="8056563" cy="4786311"/>
          </a:xfrm>
        </p:spPr>
        <p:txBody>
          <a:bodyPr>
            <a:normAutofit/>
          </a:bodyPr>
          <a:lstStyle/>
          <a:p>
            <a:r>
              <a:rPr lang="en-SG" sz="2800" dirty="0">
                <a:latin typeface="Gill Sans MT" panose="020B0502020104020203" pitchFamily="34" charset="0"/>
              </a:rPr>
              <a:t>Ability to track the reputation of specific addresses and domains on the Internet.</a:t>
            </a:r>
          </a:p>
          <a:p>
            <a:r>
              <a:rPr lang="en-SG" sz="2800" dirty="0">
                <a:latin typeface="Gill Sans MT" panose="020B0502020104020203" pitchFamily="34" charset="0"/>
              </a:rPr>
              <a:t>Reputation scores decrease if domain is showing signs of malicious activity (e.g. Domain is more than 24hrs old and has sourced 10M emails in 24 hrs and IP is changing)</a:t>
            </a:r>
          </a:p>
          <a:p>
            <a:r>
              <a:rPr lang="en-SG" sz="2800" dirty="0">
                <a:latin typeface="Gill Sans MT" panose="020B0502020104020203" pitchFamily="34" charset="0"/>
              </a:rPr>
              <a:t>Reputation scores provide the IPS device a measure when deciding whether to drop or permit traffic.</a:t>
            </a:r>
          </a:p>
          <a:p>
            <a:r>
              <a:rPr lang="en-SG" sz="2800" dirty="0">
                <a:latin typeface="Gill Sans MT" panose="020B0502020104020203" pitchFamily="34" charset="0"/>
              </a:rPr>
              <a:t>Reputation tracking can change and is very dynamic </a:t>
            </a:r>
          </a:p>
        </p:txBody>
      </p:sp>
      <p:sp>
        <p:nvSpPr>
          <p:cNvPr id="3" name="Title 2"/>
          <p:cNvSpPr>
            <a:spLocks noGrp="1"/>
          </p:cNvSpPr>
          <p:nvPr>
            <p:ph type="title"/>
          </p:nvPr>
        </p:nvSpPr>
        <p:spPr/>
        <p:txBody>
          <a:bodyPr>
            <a:normAutofit/>
          </a:bodyPr>
          <a:lstStyle/>
          <a:p>
            <a:r>
              <a:rPr lang="en-SG" sz="4000" dirty="0"/>
              <a:t>Reputation- Based Detection</a:t>
            </a:r>
          </a:p>
        </p:txBody>
      </p:sp>
    </p:spTree>
    <p:extLst>
      <p:ext uri="{BB962C8B-B14F-4D97-AF65-F5344CB8AC3E}">
        <p14:creationId xmlns:p14="http://schemas.microsoft.com/office/powerpoint/2010/main" val="3017708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a:bodyPr>
          <a:lstStyle/>
          <a:p>
            <a:pPr eaLnBrk="1" hangingPunct="1"/>
            <a:r>
              <a:rPr lang="en-US" sz="4400" dirty="0"/>
              <a:t>Tuning Alarms</a:t>
            </a:r>
          </a:p>
        </p:txBody>
      </p:sp>
      <p:sp>
        <p:nvSpPr>
          <p:cNvPr id="63491" name="Rectangle 38"/>
          <p:cNvSpPr>
            <a:spLocks noGrp="1" noChangeArrowheads="1"/>
          </p:cNvSpPr>
          <p:nvPr>
            <p:ph idx="1"/>
          </p:nvPr>
        </p:nvSpPr>
        <p:spPr>
          <a:xfrm>
            <a:off x="776288" y="1371600"/>
            <a:ext cx="8004854" cy="4933845"/>
          </a:xfrm>
        </p:spPr>
        <p:txBody>
          <a:bodyPr>
            <a:normAutofit/>
          </a:bodyPr>
          <a:lstStyle/>
          <a:p>
            <a:r>
              <a:rPr lang="en-US" sz="2800" dirty="0"/>
              <a:t>Triggering mechanisms can generate various types of alarms including:</a:t>
            </a:r>
          </a:p>
        </p:txBody>
      </p:sp>
      <p:grpSp>
        <p:nvGrpSpPr>
          <p:cNvPr id="2" name="Group 1"/>
          <p:cNvGrpSpPr/>
          <p:nvPr/>
        </p:nvGrpSpPr>
        <p:grpSpPr>
          <a:xfrm>
            <a:off x="304800" y="2285999"/>
            <a:ext cx="8476342" cy="4267201"/>
            <a:chOff x="982663" y="1935163"/>
            <a:chExt cx="7340600" cy="3232150"/>
          </a:xfrm>
        </p:grpSpPr>
        <p:sp>
          <p:nvSpPr>
            <p:cNvPr id="1543283" name="Rectangle 115"/>
            <p:cNvSpPr>
              <a:spLocks noChangeArrowheads="1"/>
            </p:cNvSpPr>
            <p:nvPr/>
          </p:nvSpPr>
          <p:spPr bwMode="auto">
            <a:xfrm>
              <a:off x="6946900" y="3910013"/>
              <a:ext cx="1376363" cy="628650"/>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Tune alarm</a:t>
              </a:r>
            </a:p>
          </p:txBody>
        </p:sp>
        <p:sp>
          <p:nvSpPr>
            <p:cNvPr id="1543281" name="Rectangle 113"/>
            <p:cNvSpPr>
              <a:spLocks noChangeArrowheads="1"/>
            </p:cNvSpPr>
            <p:nvPr/>
          </p:nvSpPr>
          <p:spPr bwMode="auto">
            <a:xfrm>
              <a:off x="5111750" y="3910013"/>
              <a:ext cx="1835150" cy="628650"/>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dirty="0">
                  <a:solidFill>
                    <a:schemeClr val="tx1">
                      <a:lumMod val="95000"/>
                      <a:lumOff val="5000"/>
                    </a:schemeClr>
                  </a:solidFill>
                  <a:latin typeface="Gill Sans MT" panose="020B0502020104020203" pitchFamily="34" charset="0"/>
                </a:rPr>
                <a:t>Alarm generated</a:t>
              </a:r>
            </a:p>
          </p:txBody>
        </p:sp>
        <p:sp>
          <p:nvSpPr>
            <p:cNvPr id="1543279" name="Rectangle 111"/>
            <p:cNvSpPr>
              <a:spLocks noChangeArrowheads="1"/>
            </p:cNvSpPr>
            <p:nvPr/>
          </p:nvSpPr>
          <p:spPr bwMode="auto">
            <a:xfrm>
              <a:off x="2819400" y="3910013"/>
              <a:ext cx="2292350" cy="628650"/>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Normal user traffic</a:t>
              </a:r>
            </a:p>
          </p:txBody>
        </p:sp>
        <p:sp>
          <p:nvSpPr>
            <p:cNvPr id="1543277" name="Rectangle 109"/>
            <p:cNvSpPr>
              <a:spLocks noChangeArrowheads="1"/>
            </p:cNvSpPr>
            <p:nvPr/>
          </p:nvSpPr>
          <p:spPr bwMode="auto">
            <a:xfrm>
              <a:off x="982663" y="3910013"/>
              <a:ext cx="1836737" cy="628650"/>
            </a:xfrm>
            <a:prstGeom prst="rect">
              <a:avLst/>
            </a:prstGeom>
            <a:solidFill>
              <a:schemeClr val="tx1">
                <a:lumMod val="20000"/>
                <a:lumOff val="80000"/>
              </a:schemeClr>
            </a:solidFill>
            <a:ln w="9525">
              <a:solidFill>
                <a:srgbClr val="0096D6"/>
              </a:solidFill>
              <a:miter lim="800000"/>
              <a:headEnd/>
              <a:tailEnd/>
            </a:ln>
          </p:spPr>
          <p:txBody>
            <a:bodyPr anchor="ctr"/>
            <a:lstStyle/>
            <a:p>
              <a:pPr algn="ctr">
                <a:lnSpc>
                  <a:spcPct val="95000"/>
                </a:lnSpc>
                <a:buClr>
                  <a:schemeClr val="tx2"/>
                </a:buClr>
                <a:buSzPct val="100000"/>
                <a:buFont typeface="Wingdings" pitchFamily="2" charset="2"/>
                <a:buNone/>
                <a:defRPr/>
              </a:pPr>
              <a:r>
                <a:rPr lang="en-US" sz="2000" dirty="0">
                  <a:solidFill>
                    <a:schemeClr val="tx1">
                      <a:lumMod val="95000"/>
                      <a:lumOff val="5000"/>
                    </a:schemeClr>
                  </a:solidFill>
                  <a:latin typeface="Gill Sans MT" panose="020B0502020104020203" pitchFamily="34" charset="0"/>
                </a:rPr>
                <a:t>False positive</a:t>
              </a:r>
            </a:p>
          </p:txBody>
        </p:sp>
        <p:sp>
          <p:nvSpPr>
            <p:cNvPr id="1543275" name="Rectangle 107"/>
            <p:cNvSpPr>
              <a:spLocks noChangeArrowheads="1"/>
            </p:cNvSpPr>
            <p:nvPr/>
          </p:nvSpPr>
          <p:spPr bwMode="auto">
            <a:xfrm>
              <a:off x="6946900" y="4538663"/>
              <a:ext cx="1376363"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Tune alarm</a:t>
              </a:r>
            </a:p>
          </p:txBody>
        </p:sp>
        <p:sp>
          <p:nvSpPr>
            <p:cNvPr id="1543273" name="Rectangle 105"/>
            <p:cNvSpPr>
              <a:spLocks noChangeArrowheads="1"/>
            </p:cNvSpPr>
            <p:nvPr/>
          </p:nvSpPr>
          <p:spPr bwMode="auto">
            <a:xfrm>
              <a:off x="5111750" y="4538663"/>
              <a:ext cx="1835150"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No alarm generated</a:t>
              </a:r>
            </a:p>
          </p:txBody>
        </p:sp>
        <p:sp>
          <p:nvSpPr>
            <p:cNvPr id="1543271" name="Rectangle 103"/>
            <p:cNvSpPr>
              <a:spLocks noChangeArrowheads="1"/>
            </p:cNvSpPr>
            <p:nvPr/>
          </p:nvSpPr>
          <p:spPr bwMode="auto">
            <a:xfrm>
              <a:off x="2819400" y="4538663"/>
              <a:ext cx="2292350"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Attack traffic</a:t>
              </a:r>
            </a:p>
          </p:txBody>
        </p:sp>
        <p:sp>
          <p:nvSpPr>
            <p:cNvPr id="1543269" name="Rectangle 101"/>
            <p:cNvSpPr>
              <a:spLocks noChangeArrowheads="1"/>
            </p:cNvSpPr>
            <p:nvPr/>
          </p:nvSpPr>
          <p:spPr bwMode="auto">
            <a:xfrm>
              <a:off x="982663" y="4538663"/>
              <a:ext cx="1836737" cy="628650"/>
            </a:xfrm>
            <a:prstGeom prst="rect">
              <a:avLst/>
            </a:prstGeom>
            <a:noFill/>
            <a:ln w="9525">
              <a:solidFill>
                <a:srgbClr val="0096D6"/>
              </a:solidFill>
              <a:miter lim="800000"/>
              <a:headEnd/>
              <a:tailEnd/>
            </a:ln>
          </p:spPr>
          <p:txBody>
            <a:bodyPr anchor="ctr"/>
            <a:lstStyle/>
            <a:p>
              <a:pPr algn="ctr">
                <a:lnSpc>
                  <a:spcPct val="95000"/>
                </a:lnSpc>
                <a:buClr>
                  <a:schemeClr val="tx2"/>
                </a:buClr>
                <a:buSzPct val="100000"/>
                <a:defRPr/>
              </a:pPr>
              <a:r>
                <a:rPr lang="en-US" sz="2000" dirty="0">
                  <a:solidFill>
                    <a:schemeClr val="tx1">
                      <a:lumMod val="95000"/>
                      <a:lumOff val="5000"/>
                    </a:schemeClr>
                  </a:solidFill>
                  <a:latin typeface="Gill Sans MT" panose="020B0502020104020203" pitchFamily="34" charset="0"/>
                </a:rPr>
                <a:t>False negative</a:t>
              </a:r>
            </a:p>
          </p:txBody>
        </p:sp>
        <p:sp>
          <p:nvSpPr>
            <p:cNvPr id="1543173" name="Rectangle 5"/>
            <p:cNvSpPr>
              <a:spLocks noChangeArrowheads="1"/>
            </p:cNvSpPr>
            <p:nvPr/>
          </p:nvSpPr>
          <p:spPr bwMode="auto">
            <a:xfrm>
              <a:off x="6946900" y="3281363"/>
              <a:ext cx="1376363"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Ideal setting</a:t>
              </a:r>
            </a:p>
          </p:txBody>
        </p:sp>
        <p:sp>
          <p:nvSpPr>
            <p:cNvPr id="1543174" name="Rectangle 6"/>
            <p:cNvSpPr>
              <a:spLocks noChangeArrowheads="1"/>
            </p:cNvSpPr>
            <p:nvPr/>
          </p:nvSpPr>
          <p:spPr bwMode="auto">
            <a:xfrm>
              <a:off x="6946900" y="2651125"/>
              <a:ext cx="1376363" cy="630238"/>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dirty="0">
                  <a:solidFill>
                    <a:schemeClr val="tx1">
                      <a:lumMod val="95000"/>
                      <a:lumOff val="5000"/>
                    </a:schemeClr>
                  </a:solidFill>
                  <a:latin typeface="Gill Sans MT" panose="020B0502020104020203" pitchFamily="34" charset="0"/>
                </a:rPr>
                <a:t>Ideal setting</a:t>
              </a:r>
            </a:p>
          </p:txBody>
        </p:sp>
        <p:sp>
          <p:nvSpPr>
            <p:cNvPr id="63502" name="Rectangle 9"/>
            <p:cNvSpPr>
              <a:spLocks noChangeArrowheads="1"/>
            </p:cNvSpPr>
            <p:nvPr/>
          </p:nvSpPr>
          <p:spPr bwMode="auto">
            <a:xfrm>
              <a:off x="6946900" y="1935163"/>
              <a:ext cx="1376363" cy="715962"/>
            </a:xfrm>
            <a:prstGeom prst="rect">
              <a:avLst/>
            </a:prstGeom>
            <a:solidFill>
              <a:schemeClr val="accent1"/>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400" dirty="0">
                  <a:solidFill>
                    <a:schemeClr val="tx1">
                      <a:lumMod val="95000"/>
                      <a:lumOff val="5000"/>
                    </a:schemeClr>
                  </a:solidFill>
                  <a:latin typeface="Gill Sans MT" panose="020B0502020104020203" pitchFamily="34" charset="0"/>
                </a:rPr>
                <a:t>Outcome</a:t>
              </a:r>
            </a:p>
          </p:txBody>
        </p:sp>
        <p:sp>
          <p:nvSpPr>
            <p:cNvPr id="1543181" name="Rectangle 13"/>
            <p:cNvSpPr>
              <a:spLocks noChangeArrowheads="1"/>
            </p:cNvSpPr>
            <p:nvPr/>
          </p:nvSpPr>
          <p:spPr bwMode="auto">
            <a:xfrm>
              <a:off x="982663" y="3281363"/>
              <a:ext cx="1836737"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pPr>
              <a:r>
                <a:rPr lang="en-US" sz="2000">
                  <a:solidFill>
                    <a:schemeClr val="tx1">
                      <a:lumMod val="95000"/>
                      <a:lumOff val="5000"/>
                    </a:schemeClr>
                  </a:solidFill>
                  <a:latin typeface="Gill Sans MT" panose="020B0502020104020203" pitchFamily="34" charset="0"/>
                </a:rPr>
                <a:t>True negative</a:t>
              </a:r>
            </a:p>
          </p:txBody>
        </p:sp>
        <p:sp>
          <p:nvSpPr>
            <p:cNvPr id="1543182" name="Rectangle 14"/>
            <p:cNvSpPr>
              <a:spLocks noChangeArrowheads="1"/>
            </p:cNvSpPr>
            <p:nvPr/>
          </p:nvSpPr>
          <p:spPr bwMode="auto">
            <a:xfrm>
              <a:off x="982663" y="2651125"/>
              <a:ext cx="1836737" cy="630238"/>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dirty="0">
                  <a:solidFill>
                    <a:schemeClr val="tx1">
                      <a:lumMod val="95000"/>
                      <a:lumOff val="5000"/>
                    </a:schemeClr>
                  </a:solidFill>
                  <a:latin typeface="Gill Sans MT" panose="020B0502020104020203" pitchFamily="34" charset="0"/>
                </a:rPr>
                <a:t>True positive</a:t>
              </a:r>
            </a:p>
          </p:txBody>
        </p:sp>
        <p:sp>
          <p:nvSpPr>
            <p:cNvPr id="63505" name="Rectangle 16"/>
            <p:cNvSpPr>
              <a:spLocks noChangeArrowheads="1"/>
            </p:cNvSpPr>
            <p:nvPr/>
          </p:nvSpPr>
          <p:spPr bwMode="auto">
            <a:xfrm>
              <a:off x="982663" y="1935163"/>
              <a:ext cx="1836737" cy="715962"/>
            </a:xfrm>
            <a:prstGeom prst="rect">
              <a:avLst/>
            </a:prstGeom>
            <a:solidFill>
              <a:schemeClr val="accent1"/>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400" dirty="0">
                  <a:solidFill>
                    <a:schemeClr val="tx1">
                      <a:lumMod val="95000"/>
                      <a:lumOff val="5000"/>
                    </a:schemeClr>
                  </a:solidFill>
                  <a:latin typeface="Gill Sans MT" panose="020B0502020104020203" pitchFamily="34" charset="0"/>
                </a:rPr>
                <a:t>Alarm Type</a:t>
              </a:r>
              <a:endParaRPr lang="en-US" sz="2400" b="0" dirty="0">
                <a:solidFill>
                  <a:schemeClr val="tx1">
                    <a:lumMod val="95000"/>
                    <a:lumOff val="5000"/>
                  </a:schemeClr>
                </a:solidFill>
                <a:latin typeface="Gill Sans MT" panose="020B0502020104020203" pitchFamily="34" charset="0"/>
              </a:endParaRPr>
            </a:p>
          </p:txBody>
        </p:sp>
        <p:sp>
          <p:nvSpPr>
            <p:cNvPr id="1543185" name="Rectangle 17"/>
            <p:cNvSpPr>
              <a:spLocks noChangeArrowheads="1"/>
            </p:cNvSpPr>
            <p:nvPr/>
          </p:nvSpPr>
          <p:spPr bwMode="auto">
            <a:xfrm>
              <a:off x="5111750" y="3281363"/>
              <a:ext cx="1835150"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No alarm generated</a:t>
              </a:r>
            </a:p>
          </p:txBody>
        </p:sp>
        <p:sp>
          <p:nvSpPr>
            <p:cNvPr id="1543186" name="Rectangle 18"/>
            <p:cNvSpPr>
              <a:spLocks noChangeArrowheads="1"/>
            </p:cNvSpPr>
            <p:nvPr/>
          </p:nvSpPr>
          <p:spPr bwMode="auto">
            <a:xfrm>
              <a:off x="2819400" y="3281363"/>
              <a:ext cx="2292350" cy="628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lnSpc>
                  <a:spcPct val="95000"/>
                </a:lnSpc>
                <a:buClr>
                  <a:schemeClr val="tx2"/>
                </a:buClr>
                <a:buSzPct val="100000"/>
                <a:buFont typeface="Wingdings" charset="0"/>
                <a:buNone/>
              </a:pPr>
              <a:r>
                <a:rPr lang="en-US" sz="2000" b="0" dirty="0">
                  <a:solidFill>
                    <a:schemeClr val="tx1">
                      <a:lumMod val="95000"/>
                      <a:lumOff val="5000"/>
                    </a:schemeClr>
                  </a:solidFill>
                  <a:latin typeface="Gill Sans MT" panose="020B0502020104020203" pitchFamily="34" charset="0"/>
                </a:rPr>
                <a:t>Normal user traffic</a:t>
              </a:r>
            </a:p>
          </p:txBody>
        </p:sp>
        <p:sp>
          <p:nvSpPr>
            <p:cNvPr id="1543187" name="Rectangle 19"/>
            <p:cNvSpPr>
              <a:spLocks noChangeArrowheads="1"/>
            </p:cNvSpPr>
            <p:nvPr/>
          </p:nvSpPr>
          <p:spPr bwMode="auto">
            <a:xfrm>
              <a:off x="5111750" y="2651125"/>
              <a:ext cx="1835150" cy="630238"/>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a:solidFill>
                    <a:schemeClr val="tx1">
                      <a:lumMod val="95000"/>
                      <a:lumOff val="5000"/>
                    </a:schemeClr>
                  </a:solidFill>
                  <a:latin typeface="Gill Sans MT" panose="020B0502020104020203" pitchFamily="34" charset="0"/>
                </a:rPr>
                <a:t>Alarm generated</a:t>
              </a:r>
            </a:p>
          </p:txBody>
        </p:sp>
        <p:sp>
          <p:nvSpPr>
            <p:cNvPr id="1543188" name="Rectangle 20"/>
            <p:cNvSpPr>
              <a:spLocks noChangeArrowheads="1"/>
            </p:cNvSpPr>
            <p:nvPr/>
          </p:nvSpPr>
          <p:spPr bwMode="auto">
            <a:xfrm>
              <a:off x="2819400" y="2651125"/>
              <a:ext cx="2292350" cy="630238"/>
            </a:xfrm>
            <a:prstGeom prst="rect">
              <a:avLst/>
            </a:prstGeom>
            <a:solidFill>
              <a:schemeClr val="tx1">
                <a:lumMod val="20000"/>
                <a:lumOff val="80000"/>
              </a:schemeClr>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000" b="0" dirty="0">
                  <a:solidFill>
                    <a:schemeClr val="tx1">
                      <a:lumMod val="95000"/>
                      <a:lumOff val="5000"/>
                    </a:schemeClr>
                  </a:solidFill>
                  <a:latin typeface="Gill Sans MT" panose="020B0502020104020203" pitchFamily="34" charset="0"/>
                </a:rPr>
                <a:t>Attack traffic</a:t>
              </a:r>
            </a:p>
          </p:txBody>
        </p:sp>
        <p:sp>
          <p:nvSpPr>
            <p:cNvPr id="63510" name="Rectangle 23"/>
            <p:cNvSpPr>
              <a:spLocks noChangeArrowheads="1"/>
            </p:cNvSpPr>
            <p:nvPr/>
          </p:nvSpPr>
          <p:spPr bwMode="auto">
            <a:xfrm>
              <a:off x="5111750" y="1935163"/>
              <a:ext cx="1835150" cy="715962"/>
            </a:xfrm>
            <a:prstGeom prst="rect">
              <a:avLst/>
            </a:prstGeom>
            <a:solidFill>
              <a:schemeClr val="accent1"/>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400" dirty="0">
                  <a:solidFill>
                    <a:schemeClr val="tx1">
                      <a:lumMod val="95000"/>
                      <a:lumOff val="5000"/>
                    </a:schemeClr>
                  </a:solidFill>
                  <a:latin typeface="Gill Sans MT" panose="020B0502020104020203" pitchFamily="34" charset="0"/>
                </a:rPr>
                <a:t>IPS Activity</a:t>
              </a:r>
              <a:endParaRPr lang="en-US" sz="2400" b="0" dirty="0">
                <a:solidFill>
                  <a:schemeClr val="tx1">
                    <a:lumMod val="95000"/>
                    <a:lumOff val="5000"/>
                  </a:schemeClr>
                </a:solidFill>
                <a:latin typeface="Gill Sans MT" panose="020B0502020104020203" pitchFamily="34" charset="0"/>
              </a:endParaRPr>
            </a:p>
          </p:txBody>
        </p:sp>
        <p:sp>
          <p:nvSpPr>
            <p:cNvPr id="63511" name="Rectangle 24"/>
            <p:cNvSpPr>
              <a:spLocks noChangeArrowheads="1"/>
            </p:cNvSpPr>
            <p:nvPr/>
          </p:nvSpPr>
          <p:spPr bwMode="auto">
            <a:xfrm>
              <a:off x="2819400" y="1935163"/>
              <a:ext cx="2292350" cy="715962"/>
            </a:xfrm>
            <a:prstGeom prst="rect">
              <a:avLst/>
            </a:prstGeom>
            <a:solidFill>
              <a:schemeClr val="accent1"/>
            </a:solidFill>
            <a:ln w="9525">
              <a:solidFill>
                <a:srgbClr val="000000"/>
              </a:solidFill>
              <a:miter lim="800000"/>
              <a:headEnd/>
              <a:tailEnd/>
            </a:ln>
            <a:extLst/>
          </p:spPr>
          <p:txBody>
            <a:bodyPr anchor="ctr"/>
            <a:lstStyle/>
            <a:p>
              <a:pPr algn="ctr">
                <a:lnSpc>
                  <a:spcPct val="95000"/>
                </a:lnSpc>
                <a:buClr>
                  <a:schemeClr val="tx2"/>
                </a:buClr>
                <a:buSzPct val="100000"/>
                <a:buFont typeface="Wingdings" charset="0"/>
                <a:buNone/>
              </a:pPr>
              <a:r>
                <a:rPr lang="en-US" sz="2400" dirty="0">
                  <a:solidFill>
                    <a:schemeClr val="tx1">
                      <a:lumMod val="95000"/>
                      <a:lumOff val="5000"/>
                    </a:schemeClr>
                  </a:solidFill>
                  <a:latin typeface="Gill Sans MT" panose="020B0502020104020203" pitchFamily="34" charset="0"/>
                </a:rPr>
                <a:t>Network Activity</a:t>
              </a:r>
              <a:endParaRPr lang="en-US" sz="2400" b="0" dirty="0">
                <a:solidFill>
                  <a:schemeClr val="tx1">
                    <a:lumMod val="95000"/>
                    <a:lumOff val="5000"/>
                  </a:schemeClr>
                </a:solidFill>
                <a:latin typeface="Gill Sans MT" panose="020B0502020104020203" pitchFamily="34" charset="0"/>
              </a:endParaRPr>
            </a:p>
          </p:txBody>
        </p:sp>
        <p:sp>
          <p:nvSpPr>
            <p:cNvPr id="63512" name="Line 25"/>
            <p:cNvSpPr>
              <a:spLocks noChangeShapeType="1"/>
            </p:cNvSpPr>
            <p:nvPr/>
          </p:nvSpPr>
          <p:spPr bwMode="auto">
            <a:xfrm>
              <a:off x="982663" y="1935163"/>
              <a:ext cx="7340600" cy="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3" name="Line 26"/>
            <p:cNvSpPr>
              <a:spLocks noChangeShapeType="1"/>
            </p:cNvSpPr>
            <p:nvPr/>
          </p:nvSpPr>
          <p:spPr bwMode="auto">
            <a:xfrm>
              <a:off x="982663" y="5167313"/>
              <a:ext cx="7340600" cy="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4" name="Line 27"/>
            <p:cNvSpPr>
              <a:spLocks noChangeShapeType="1"/>
            </p:cNvSpPr>
            <p:nvPr/>
          </p:nvSpPr>
          <p:spPr bwMode="auto">
            <a:xfrm>
              <a:off x="982663" y="1935163"/>
              <a:ext cx="0" cy="323215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5" name="Line 28"/>
            <p:cNvSpPr>
              <a:spLocks noChangeShapeType="1"/>
            </p:cNvSpPr>
            <p:nvPr/>
          </p:nvSpPr>
          <p:spPr bwMode="auto">
            <a:xfrm>
              <a:off x="8323263" y="1935163"/>
              <a:ext cx="0" cy="323215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6" name="Line 29"/>
            <p:cNvSpPr>
              <a:spLocks noChangeShapeType="1"/>
            </p:cNvSpPr>
            <p:nvPr/>
          </p:nvSpPr>
          <p:spPr bwMode="auto">
            <a:xfrm>
              <a:off x="982663" y="2651125"/>
              <a:ext cx="7340600" cy="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7" name="Line 30"/>
            <p:cNvSpPr>
              <a:spLocks noChangeShapeType="1"/>
            </p:cNvSpPr>
            <p:nvPr/>
          </p:nvSpPr>
          <p:spPr bwMode="auto">
            <a:xfrm>
              <a:off x="5111750" y="1935163"/>
              <a:ext cx="0" cy="323215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8" name="Line 32"/>
            <p:cNvSpPr>
              <a:spLocks noChangeShapeType="1"/>
            </p:cNvSpPr>
            <p:nvPr/>
          </p:nvSpPr>
          <p:spPr bwMode="auto">
            <a:xfrm>
              <a:off x="982663" y="3281363"/>
              <a:ext cx="7340600" cy="0"/>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nchor="ctr"/>
            <a:lstStyle/>
            <a:p>
              <a:endParaRPr lang="en-US" sz="2000">
                <a:solidFill>
                  <a:schemeClr val="tx1">
                    <a:lumMod val="95000"/>
                    <a:lumOff val="5000"/>
                  </a:schemeClr>
                </a:solidFill>
                <a:latin typeface="Gill Sans MT" panose="020B0502020104020203" pitchFamily="34" charset="0"/>
              </a:endParaRPr>
            </a:p>
          </p:txBody>
        </p:sp>
        <p:sp>
          <p:nvSpPr>
            <p:cNvPr id="63519" name="Line 33"/>
            <p:cNvSpPr>
              <a:spLocks noChangeShapeType="1"/>
            </p:cNvSpPr>
            <p:nvPr/>
          </p:nvSpPr>
          <p:spPr bwMode="auto">
            <a:xfrm>
              <a:off x="2819400" y="1935163"/>
              <a:ext cx="0" cy="715962"/>
            </a:xfrm>
            <a:prstGeom prst="line">
              <a:avLst/>
            </a:prstGeom>
            <a:noFill/>
            <a:ln w="9525">
              <a:solidFill>
                <a:srgbClr val="0096D6"/>
              </a:solidFill>
              <a:round/>
              <a:headEnd/>
              <a:tailEnd/>
            </a:ln>
            <a:extLst>
              <a:ext uri="{909E8E84-426E-40DD-AFC4-6F175D3DCCD1}">
                <a14:hiddenFill xmlns:a14="http://schemas.microsoft.com/office/drawing/2010/main">
                  <a:noFill/>
                </a14:hiddenFill>
              </a:ext>
            </a:extLst>
          </p:spPr>
          <p:txBody>
            <a:bodyPr/>
            <a:lstStyle/>
            <a:p>
              <a:endParaRPr lang="en-US" sz="2000">
                <a:solidFill>
                  <a:schemeClr val="tx1">
                    <a:lumMod val="95000"/>
                    <a:lumOff val="5000"/>
                  </a:schemeClr>
                </a:solidFill>
                <a:latin typeface="Gill Sans MT" panose="020B0502020104020203" pitchFamily="34" charset="0"/>
              </a:endParaRPr>
            </a:p>
          </p:txBody>
        </p:sp>
        <p:sp>
          <p:nvSpPr>
            <p:cNvPr id="63520" name="Line 35"/>
            <p:cNvSpPr>
              <a:spLocks noChangeShapeType="1"/>
            </p:cNvSpPr>
            <p:nvPr/>
          </p:nvSpPr>
          <p:spPr bwMode="auto">
            <a:xfrm>
              <a:off x="2819400" y="2651125"/>
              <a:ext cx="0" cy="2516188"/>
            </a:xfrm>
            <a:prstGeom prst="line">
              <a:avLst/>
            </a:prstGeom>
            <a:noFill/>
            <a:ln w="9525" cap="rnd">
              <a:solidFill>
                <a:srgbClr val="0096D6"/>
              </a:solidFill>
              <a:round/>
              <a:headEnd/>
              <a:tailEnd/>
            </a:ln>
            <a:extLst>
              <a:ext uri="{909E8E84-426E-40DD-AFC4-6F175D3DCCD1}">
                <a14:hiddenFill xmlns:a14="http://schemas.microsoft.com/office/drawing/2010/main">
                  <a:noFill/>
                </a14:hiddenFill>
              </a:ext>
            </a:extLst>
          </p:spPr>
          <p:txBody>
            <a:bodyPr/>
            <a:lstStyle/>
            <a:p>
              <a:endParaRPr lang="en-US" sz="2000">
                <a:solidFill>
                  <a:schemeClr val="tx1">
                    <a:lumMod val="95000"/>
                    <a:lumOff val="5000"/>
                  </a:schemeClr>
                </a:solidFill>
                <a:latin typeface="Gill Sans MT" panose="020B0502020104020203" pitchFamily="34" charset="0"/>
              </a:endParaRPr>
            </a:p>
          </p:txBody>
        </p:sp>
        <p:sp>
          <p:nvSpPr>
            <p:cNvPr id="63521" name="Line 36"/>
            <p:cNvSpPr>
              <a:spLocks noChangeShapeType="1"/>
            </p:cNvSpPr>
            <p:nvPr/>
          </p:nvSpPr>
          <p:spPr bwMode="auto">
            <a:xfrm>
              <a:off x="6946900" y="1935163"/>
              <a:ext cx="0" cy="3232150"/>
            </a:xfrm>
            <a:prstGeom prst="line">
              <a:avLst/>
            </a:prstGeom>
            <a:noFill/>
            <a:ln w="12700">
              <a:solidFill>
                <a:srgbClr val="0096D6"/>
              </a:solidFill>
              <a:round/>
              <a:headEnd/>
              <a:tailEnd/>
            </a:ln>
            <a:extLst>
              <a:ext uri="{909E8E84-426E-40DD-AFC4-6F175D3DCCD1}">
                <a14:hiddenFill xmlns:a14="http://schemas.microsoft.com/office/drawing/2010/main">
                  <a:noFill/>
                </a14:hiddenFill>
              </a:ext>
            </a:extLst>
          </p:spPr>
          <p:txBody>
            <a:bodyPr/>
            <a:lstStyle/>
            <a:p>
              <a:endParaRPr lang="en-US" sz="2000">
                <a:solidFill>
                  <a:schemeClr val="tx1">
                    <a:lumMod val="95000"/>
                    <a:lumOff val="5000"/>
                  </a:schemeClr>
                </a:solidFill>
                <a:latin typeface="Gill Sans MT" panose="020B0502020104020203" pitchFamily="34" charset="0"/>
              </a:endParaRPr>
            </a:p>
          </p:txBody>
        </p:sp>
        <p:sp>
          <p:nvSpPr>
            <p:cNvPr id="63522" name="Line 93"/>
            <p:cNvSpPr>
              <a:spLocks noChangeShapeType="1"/>
            </p:cNvSpPr>
            <p:nvPr/>
          </p:nvSpPr>
          <p:spPr bwMode="auto">
            <a:xfrm>
              <a:off x="982663" y="3910013"/>
              <a:ext cx="7340600" cy="0"/>
            </a:xfrm>
            <a:prstGeom prst="line">
              <a:avLst/>
            </a:prstGeom>
            <a:noFill/>
            <a:ln w="9525">
              <a:solidFill>
                <a:srgbClr val="0096D6"/>
              </a:solidFill>
              <a:round/>
              <a:headEnd/>
              <a:tailEnd/>
            </a:ln>
            <a:extLst>
              <a:ext uri="{909E8E84-426E-40DD-AFC4-6F175D3DCCD1}">
                <a14:hiddenFill xmlns:a14="http://schemas.microsoft.com/office/drawing/2010/main">
                  <a:noFill/>
                </a14:hiddenFill>
              </a:ext>
            </a:extLst>
          </p:spPr>
          <p:txBody>
            <a:bodyPr wrap="none" lIns="82124" tIns="41061" rIns="82124" bIns="41061" anchor="ctr">
              <a:spAutoFit/>
            </a:bodyPr>
            <a:lstStyle/>
            <a:p>
              <a:endParaRPr lang="en-US" sz="2000">
                <a:solidFill>
                  <a:schemeClr val="tx1">
                    <a:lumMod val="95000"/>
                    <a:lumOff val="5000"/>
                  </a:schemeClr>
                </a:solidFill>
                <a:latin typeface="Gill Sans MT" panose="020B0502020104020203" pitchFamily="34" charset="0"/>
              </a:endParaRPr>
            </a:p>
          </p:txBody>
        </p:sp>
        <p:sp>
          <p:nvSpPr>
            <p:cNvPr id="63523" name="Line 110"/>
            <p:cNvSpPr>
              <a:spLocks noChangeShapeType="1"/>
            </p:cNvSpPr>
            <p:nvPr/>
          </p:nvSpPr>
          <p:spPr bwMode="auto">
            <a:xfrm>
              <a:off x="982663" y="4538663"/>
              <a:ext cx="7340600" cy="0"/>
            </a:xfrm>
            <a:prstGeom prst="line">
              <a:avLst/>
            </a:prstGeom>
            <a:noFill/>
            <a:ln w="9525">
              <a:solidFill>
                <a:srgbClr val="0096D6"/>
              </a:solidFill>
              <a:round/>
              <a:headEnd/>
              <a:tailEnd/>
            </a:ln>
            <a:extLst>
              <a:ext uri="{909E8E84-426E-40DD-AFC4-6F175D3DCCD1}">
                <a14:hiddenFill xmlns:a14="http://schemas.microsoft.com/office/drawing/2010/main">
                  <a:noFill/>
                </a14:hiddenFill>
              </a:ext>
            </a:extLst>
          </p:spPr>
          <p:txBody>
            <a:bodyPr wrap="none" lIns="82124" tIns="41061" rIns="82124" bIns="41061" anchor="ctr">
              <a:spAutoFit/>
            </a:bodyPr>
            <a:lstStyle/>
            <a:p>
              <a:endParaRPr lang="en-US" sz="2000">
                <a:solidFill>
                  <a:schemeClr val="tx1">
                    <a:lumMod val="95000"/>
                    <a:lumOff val="5000"/>
                  </a:schemeClr>
                </a:solidFill>
                <a:latin typeface="Gill Sans MT" panose="020B0502020104020203" pitchFamily="34" charset="0"/>
              </a:endParaRPr>
            </a:p>
          </p:txBody>
        </p:sp>
      </p:grpSp>
    </p:spTree>
    <p:extLst>
      <p:ext uri="{BB962C8B-B14F-4D97-AF65-F5344CB8AC3E}">
        <p14:creationId xmlns:p14="http://schemas.microsoft.com/office/powerpoint/2010/main" val="195645359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7267" name="Rectangle 3"/>
          <p:cNvSpPr>
            <a:spLocks noGrp="1" noChangeArrowheads="1"/>
          </p:cNvSpPr>
          <p:nvPr>
            <p:ph type="body" sz="quarter" idx="10"/>
          </p:nvPr>
        </p:nvSpPr>
        <p:spPr>
          <a:xfrm>
            <a:off x="304801" y="1447800"/>
            <a:ext cx="8513762" cy="5029200"/>
          </a:xfrm>
        </p:spPr>
        <p:txBody>
          <a:bodyPr>
            <a:noAutofit/>
          </a:bodyPr>
          <a:lstStyle/>
          <a:p>
            <a:r>
              <a:rPr lang="en-US" sz="2400" dirty="0">
                <a:latin typeface="Gill Sans MT" panose="020B0502020104020203" pitchFamily="34" charset="0"/>
                <a:cs typeface="Arial" panose="020B0604020202020204" pitchFamily="34" charset="0"/>
              </a:rPr>
              <a:t>False Positive:</a:t>
            </a:r>
          </a:p>
          <a:p>
            <a:pPr lvl="1"/>
            <a:r>
              <a:rPr lang="en-US" sz="2400" dirty="0">
                <a:latin typeface="Gill Sans MT" panose="020B0502020104020203" pitchFamily="34" charset="0"/>
                <a:cs typeface="Arial" panose="020B0604020202020204" pitchFamily="34" charset="0"/>
              </a:rPr>
              <a:t>False positive alarm is an expected but undesired result. </a:t>
            </a:r>
          </a:p>
          <a:p>
            <a:pPr lvl="1"/>
            <a:r>
              <a:rPr lang="en-US" sz="2400" dirty="0">
                <a:latin typeface="Gill Sans MT" panose="020B0502020104020203" pitchFamily="34" charset="0"/>
                <a:cs typeface="Arial" panose="020B0604020202020204" pitchFamily="34" charset="0"/>
              </a:rPr>
              <a:t>It occurs when an intrusion system generates an alarm after processing normal user traffic that should not have resulted in the alarm. </a:t>
            </a:r>
          </a:p>
          <a:p>
            <a:pPr lvl="1"/>
            <a:r>
              <a:rPr lang="en-US" sz="2400" dirty="0">
                <a:latin typeface="Gill Sans MT" panose="020B0502020104020203" pitchFamily="34" charset="0"/>
                <a:cs typeface="Arial" panose="020B0604020202020204" pitchFamily="34" charset="0"/>
              </a:rPr>
              <a:t>The administrator must be sure to tune the IPS to change these alarm types to true negatives. </a:t>
            </a:r>
          </a:p>
          <a:p>
            <a:r>
              <a:rPr lang="en-US" sz="2400" dirty="0">
                <a:latin typeface="Gill Sans MT" panose="020B0502020104020203" pitchFamily="34" charset="0"/>
                <a:cs typeface="Arial" panose="020B0604020202020204" pitchFamily="34" charset="0"/>
              </a:rPr>
              <a:t>False Negative:</a:t>
            </a:r>
          </a:p>
          <a:p>
            <a:pPr lvl="1"/>
            <a:r>
              <a:rPr lang="en-US" sz="2400" dirty="0">
                <a:latin typeface="Gill Sans MT" panose="020B0502020104020203" pitchFamily="34" charset="0"/>
                <a:cs typeface="Arial" panose="020B0604020202020204" pitchFamily="34" charset="0"/>
              </a:rPr>
              <a:t>The IPS fails to generate an alarm after processing attack traffic that it is configured to detect. </a:t>
            </a:r>
          </a:p>
          <a:p>
            <a:pPr lvl="1"/>
            <a:r>
              <a:rPr lang="en-US" sz="2400" dirty="0">
                <a:latin typeface="Gill Sans MT" panose="020B0502020104020203" pitchFamily="34" charset="0"/>
                <a:cs typeface="Arial" panose="020B0604020202020204" pitchFamily="34" charset="0"/>
              </a:rPr>
              <a:t>It is imperative that the IPS does not generate false negatives, because it means that known attacks are not being detected. </a:t>
            </a:r>
          </a:p>
          <a:p>
            <a:pPr lvl="1"/>
            <a:r>
              <a:rPr lang="en-US" sz="2400" dirty="0">
                <a:latin typeface="Gill Sans MT" panose="020B0502020104020203" pitchFamily="34" charset="0"/>
                <a:cs typeface="Arial" panose="020B0604020202020204" pitchFamily="34" charset="0"/>
              </a:rPr>
              <a:t>The goal is to render these alarm types as true positive. </a:t>
            </a:r>
          </a:p>
        </p:txBody>
      </p:sp>
      <p:sp>
        <p:nvSpPr>
          <p:cNvPr id="64514" name="Rectangle 2"/>
          <p:cNvSpPr>
            <a:spLocks noGrp="1" noChangeArrowheads="1"/>
          </p:cNvSpPr>
          <p:nvPr>
            <p:ph type="title"/>
          </p:nvPr>
        </p:nvSpPr>
        <p:spPr/>
        <p:txBody>
          <a:bodyPr>
            <a:normAutofit/>
          </a:bodyPr>
          <a:lstStyle/>
          <a:p>
            <a:r>
              <a:rPr lang="en-US" sz="4400" dirty="0"/>
              <a:t>Tuning Alarms</a:t>
            </a:r>
          </a:p>
        </p:txBody>
      </p:sp>
    </p:spTree>
    <p:extLst>
      <p:ext uri="{BB962C8B-B14F-4D97-AF65-F5344CB8AC3E}">
        <p14:creationId xmlns:p14="http://schemas.microsoft.com/office/powerpoint/2010/main" val="394770851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Autofit/>
          </a:bodyPr>
          <a:lstStyle/>
          <a:p>
            <a:pPr eaLnBrk="1" hangingPunct="1"/>
            <a:r>
              <a:rPr lang="en-CA" sz="4400" dirty="0"/>
              <a:t>Types of Signature Triggers</a:t>
            </a:r>
            <a:endParaRPr lang="en-GB" sz="4400" dirty="0"/>
          </a:p>
        </p:txBody>
      </p:sp>
      <p:graphicFrame>
        <p:nvGraphicFramePr>
          <p:cNvPr id="1540166" name="Group 70"/>
          <p:cNvGraphicFramePr>
            <a:graphicFrameLocks noGrp="1"/>
          </p:cNvGraphicFramePr>
          <p:nvPr>
            <p:ph type="tbl" idx="1"/>
            <p:extLst>
              <p:ext uri="{D42A27DB-BD31-4B8C-83A1-F6EECF244321}">
                <p14:modId xmlns:p14="http://schemas.microsoft.com/office/powerpoint/2010/main" val="1254008518"/>
              </p:ext>
            </p:extLst>
          </p:nvPr>
        </p:nvGraphicFramePr>
        <p:xfrm>
          <a:off x="304799" y="914399"/>
          <a:ext cx="8458201" cy="5630201"/>
        </p:xfrm>
        <a:graphic>
          <a:graphicData uri="http://schemas.openxmlformats.org/drawingml/2006/table">
            <a:tbl>
              <a:tblPr firstRow="1" firstCol="1" bandRow="1">
                <a:tableStyleId>{3C2FFA5D-87B4-456A-9821-1D502468CF0F}</a:tableStyleId>
              </a:tblPr>
              <a:tblGrid>
                <a:gridCol w="1852749">
                  <a:extLst>
                    <a:ext uri="{9D8B030D-6E8A-4147-A177-3AD203B41FA5}">
                      <a16:colId xmlns:a16="http://schemas.microsoft.com/office/drawing/2014/main" val="20000"/>
                    </a:ext>
                  </a:extLst>
                </a:gridCol>
                <a:gridCol w="2980509">
                  <a:extLst>
                    <a:ext uri="{9D8B030D-6E8A-4147-A177-3AD203B41FA5}">
                      <a16:colId xmlns:a16="http://schemas.microsoft.com/office/drawing/2014/main" val="20001"/>
                    </a:ext>
                  </a:extLst>
                </a:gridCol>
                <a:gridCol w="3624943">
                  <a:extLst>
                    <a:ext uri="{9D8B030D-6E8A-4147-A177-3AD203B41FA5}">
                      <a16:colId xmlns:a16="http://schemas.microsoft.com/office/drawing/2014/main" val="20002"/>
                    </a:ext>
                  </a:extLst>
                </a:gridCol>
              </a:tblGrid>
              <a:tr h="430643">
                <a:tc>
                  <a:txBody>
                    <a:bodyPr/>
                    <a:lstStyle/>
                    <a:p>
                      <a:pPr marL="0" marR="0" lvl="0" indent="0" algn="l"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endParaRPr kumimoji="0" lang="de-DE" sz="1800" b="0" i="0" u="none" strike="noStrike" cap="none" normalizeH="0" baseline="0" dirty="0">
                        <a:ln>
                          <a:noFill/>
                        </a:ln>
                        <a:solidFill>
                          <a:schemeClr val="tx2"/>
                        </a:solidFill>
                        <a:effectLst/>
                        <a:latin typeface="Gill Sans MT" panose="020B0502020104020203" pitchFamily="34" charset="0"/>
                      </a:endParaRPr>
                    </a:p>
                  </a:txBody>
                  <a:tcPr marR="0" marT="91440" marB="0" anchor="ctr" horzOverflow="overflow"/>
                </a:tc>
                <a:tc>
                  <a:txBody>
                    <a:bodyPr/>
                    <a:lstStyle/>
                    <a:p>
                      <a:pPr marL="0" marR="0" lvl="0" indent="0" algn="ctr"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GB" sz="2400" u="none" strike="noStrike" cap="none" normalizeH="0" baseline="0" dirty="0">
                          <a:ln>
                            <a:noFill/>
                          </a:ln>
                          <a:effectLst/>
                          <a:latin typeface="Gill Sans MT" panose="020B0502020104020203" pitchFamily="34" charset="0"/>
                        </a:rPr>
                        <a:t>Advantages</a:t>
                      </a:r>
                      <a:endParaRPr kumimoji="0" lang="en-GB" sz="2400" b="1" i="0" u="none" strike="noStrike" cap="none" normalizeH="0" baseline="0" dirty="0">
                        <a:ln>
                          <a:noFill/>
                        </a:ln>
                        <a:solidFill>
                          <a:schemeClr val="tx1"/>
                        </a:solidFill>
                        <a:effectLst/>
                        <a:latin typeface="Gill Sans MT" panose="020B0502020104020203" pitchFamily="34" charset="0"/>
                      </a:endParaRPr>
                    </a:p>
                  </a:txBody>
                  <a:tcPr marR="0" marT="91440" marB="0" anchor="ctr" horzOverflow="overflow"/>
                </a:tc>
                <a:tc>
                  <a:txBody>
                    <a:bodyPr/>
                    <a:lstStyle/>
                    <a:p>
                      <a:pPr marL="0" marR="0" lvl="0" indent="0" algn="ctr"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GB" sz="2400" u="none" strike="noStrike" cap="none" normalizeH="0" baseline="0" dirty="0">
                          <a:ln>
                            <a:noFill/>
                          </a:ln>
                          <a:effectLst/>
                          <a:latin typeface="Gill Sans MT" panose="020B0502020104020203" pitchFamily="34" charset="0"/>
                        </a:rPr>
                        <a:t>Disadvantages</a:t>
                      </a:r>
                      <a:endParaRPr kumimoji="0" lang="en-GB" sz="2400" b="1" i="0" u="none" strike="noStrike" cap="none" normalizeH="0" baseline="0" dirty="0">
                        <a:ln>
                          <a:noFill/>
                        </a:ln>
                        <a:solidFill>
                          <a:schemeClr val="tx1"/>
                        </a:solidFill>
                        <a:effectLst/>
                        <a:latin typeface="Gill Sans MT" panose="020B0502020104020203" pitchFamily="34" charset="0"/>
                      </a:endParaRPr>
                    </a:p>
                  </a:txBody>
                  <a:tcPr marR="0" marT="91440" marB="0" anchor="ctr" horzOverflow="overflow"/>
                </a:tc>
                <a:extLst>
                  <a:ext uri="{0D108BD9-81ED-4DB2-BD59-A6C34878D82A}">
                    <a16:rowId xmlns:a16="http://schemas.microsoft.com/office/drawing/2014/main" val="10000"/>
                  </a:ext>
                </a:extLst>
              </a:tr>
              <a:tr h="1453192">
                <a:tc>
                  <a:txBody>
                    <a:bodyPr/>
                    <a:lstStyle/>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600" u="none" strike="noStrike" cap="none" normalizeH="0" baseline="0" dirty="0">
                          <a:ln>
                            <a:noFill/>
                          </a:ln>
                          <a:effectLst/>
                        </a:rPr>
                        <a:t>Pattern detection</a:t>
                      </a:r>
                    </a:p>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100" u="none" strike="noStrike" cap="none" normalizeH="0" baseline="0" dirty="0">
                          <a:ln>
                            <a:noFill/>
                          </a:ln>
                          <a:effectLst/>
                        </a:rPr>
                        <a:t>(Signature-based)</a:t>
                      </a:r>
                      <a:endParaRPr kumimoji="0" lang="en-US" sz="1100" b="1"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Easy configuration</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Fewer false positives</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Good signature design</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No detection of unknown signatures</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Initially a lot of false positives</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Signatures must be created, updated, </a:t>
                      </a:r>
                      <a:br>
                        <a:rPr kumimoji="0" lang="en-GB" sz="1600" u="none" strike="noStrike" cap="none" normalizeH="0" baseline="0" dirty="0">
                          <a:ln>
                            <a:noFill/>
                          </a:ln>
                          <a:effectLst/>
                        </a:rPr>
                      </a:br>
                      <a:r>
                        <a:rPr kumimoji="0" lang="en-GB" sz="1600" u="none" strike="noStrike" cap="none" normalizeH="0" baseline="0" dirty="0">
                          <a:ln>
                            <a:noFill/>
                          </a:ln>
                          <a:effectLst/>
                        </a:rPr>
                        <a:t>and tuned</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extLst>
                  <a:ext uri="{0D108BD9-81ED-4DB2-BD59-A6C34878D82A}">
                    <a16:rowId xmlns:a16="http://schemas.microsoft.com/office/drawing/2014/main" val="10001"/>
                  </a:ext>
                </a:extLst>
              </a:tr>
              <a:tr h="999319">
                <a:tc>
                  <a:txBody>
                    <a:bodyPr/>
                    <a:lstStyle/>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600" u="none" strike="noStrike" cap="none" normalizeH="0" baseline="0">
                          <a:ln>
                            <a:noFill/>
                          </a:ln>
                          <a:effectLst/>
                        </a:rPr>
                        <a:t>Policy-based  detection</a:t>
                      </a:r>
                    </a:p>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100" u="none" strike="noStrike" cap="none" normalizeH="0" baseline="0">
                          <a:ln>
                            <a:noFill/>
                          </a:ln>
                          <a:effectLst/>
                        </a:rPr>
                        <a:t>(Behavior-based)</a:t>
                      </a:r>
                      <a:endParaRPr kumimoji="0" lang="en-US" sz="1100" b="1" i="0" u="none" strike="noStrike" cap="none" normalizeH="0" baseline="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Simple and reliable</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Customized policies</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Can detect unknown attacks</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Generic output</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Policy must be created</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extLst>
                  <a:ext uri="{0D108BD9-81ED-4DB2-BD59-A6C34878D82A}">
                    <a16:rowId xmlns:a16="http://schemas.microsoft.com/office/drawing/2014/main" val="10002"/>
                  </a:ext>
                </a:extLst>
              </a:tr>
              <a:tr h="879878">
                <a:tc>
                  <a:txBody>
                    <a:bodyPr/>
                    <a:lstStyle/>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600" u="none" strike="noStrike" cap="none" normalizeH="0" baseline="0">
                          <a:ln>
                            <a:noFill/>
                          </a:ln>
                          <a:effectLst/>
                        </a:rPr>
                        <a:t>Anomaly detection</a:t>
                      </a:r>
                    </a:p>
                    <a:p>
                      <a:pPr marL="0" marR="0" lvl="0" indent="0" algn="ctr" defTabSz="814388" rtl="0" eaLnBrk="0" fontAlgn="base" latinLnBrk="0" hangingPunct="0">
                        <a:lnSpc>
                          <a:spcPct val="95000"/>
                        </a:lnSpc>
                        <a:spcBef>
                          <a:spcPct val="0"/>
                        </a:spcBef>
                        <a:spcAft>
                          <a:spcPct val="0"/>
                        </a:spcAft>
                        <a:buClr>
                          <a:schemeClr val="tx2"/>
                        </a:buClr>
                        <a:buSzPct val="100000"/>
                        <a:buFont typeface="Wingdings" pitchFamily="2" charset="2"/>
                        <a:buNone/>
                        <a:tabLst/>
                      </a:pPr>
                      <a:r>
                        <a:rPr kumimoji="0" lang="en-US" sz="1100" u="none" strike="noStrike" cap="none" normalizeH="0" baseline="0">
                          <a:ln>
                            <a:noFill/>
                          </a:ln>
                          <a:effectLst/>
                        </a:rPr>
                        <a:t>(Profile-based)</a:t>
                      </a:r>
                      <a:endParaRPr kumimoji="0" lang="en-US" sz="1100" b="1" i="0" u="none" strike="noStrike" cap="none" normalizeH="0" baseline="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Easy configuration</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Can detect unknown attacks</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Difficult to profile typical activity in large networks</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Traffic profile must be constant</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extLst>
                  <a:ext uri="{0D108BD9-81ED-4DB2-BD59-A6C34878D82A}">
                    <a16:rowId xmlns:a16="http://schemas.microsoft.com/office/drawing/2014/main" val="10003"/>
                  </a:ext>
                </a:extLst>
              </a:tr>
              <a:tr h="1799569">
                <a:tc>
                  <a:txBody>
                    <a:bodyPr/>
                    <a:lstStyle/>
                    <a:p>
                      <a:pPr marL="0" marR="0" lvl="0" indent="0" algn="ctr" defTabSz="814388"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GB" sz="1600" u="none" strike="noStrike" cap="none" normalizeH="0" baseline="0" dirty="0">
                          <a:ln>
                            <a:noFill/>
                          </a:ln>
                          <a:effectLst/>
                        </a:rPr>
                        <a:t>Reputation Based detection</a:t>
                      </a:r>
                      <a:endParaRPr kumimoji="0" lang="en-GB" sz="2000" b="0"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 can determine dynamically the reputation of source</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defRPr/>
                      </a:pPr>
                      <a:r>
                        <a:rPr kumimoji="0" lang="en-GB" sz="1600" u="none" strike="noStrike" cap="none" normalizeH="0" baseline="0" dirty="0">
                          <a:ln>
                            <a:noFill/>
                          </a:ln>
                          <a:effectLst/>
                        </a:rPr>
                        <a:t>  Can detect unknown attacks</a:t>
                      </a:r>
                      <a:endParaRPr kumimoji="0" lang="en-GB" sz="1600" b="0" i="0" u="none" strike="noStrike" cap="none" normalizeH="0" baseline="0" dirty="0">
                        <a:ln>
                          <a:noFill/>
                        </a:ln>
                        <a:solidFill>
                          <a:schemeClr val="tx1"/>
                        </a:solidFill>
                        <a:effectLst/>
                        <a:latin typeface="Arial" charset="0"/>
                      </a:endParaRP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tc>
                  <a:txBody>
                    <a:bodyPr/>
                    <a:lstStyle/>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Difficult to profile typical activity </a:t>
                      </a:r>
                    </a:p>
                    <a:p>
                      <a:pPr marL="180975" marR="0" lvl="0" indent="-180975" algn="l" defTabSz="814388" rtl="0" eaLnBrk="0" fontAlgn="base" latinLnBrk="0" hangingPunct="0">
                        <a:lnSpc>
                          <a:spcPct val="95000"/>
                        </a:lnSpc>
                        <a:spcBef>
                          <a:spcPct val="50000"/>
                        </a:spcBef>
                        <a:spcAft>
                          <a:spcPct val="0"/>
                        </a:spcAft>
                        <a:buClr>
                          <a:schemeClr val="accent2"/>
                        </a:buClr>
                        <a:buSzPct val="100000"/>
                        <a:buFontTx/>
                        <a:buChar char="•"/>
                        <a:tabLst/>
                      </a:pPr>
                      <a:r>
                        <a:rPr kumimoji="0" lang="en-GB" sz="1600" u="none" strike="noStrike" cap="none" normalizeH="0" baseline="0" dirty="0">
                          <a:ln>
                            <a:noFill/>
                          </a:ln>
                          <a:effectLst/>
                        </a:rPr>
                        <a:t>Policy must be created</a:t>
                      </a:r>
                      <a:endParaRPr kumimoji="0" lang="en-GB" sz="1600" b="0" i="0" u="none" strike="noStrike" cap="none" normalizeH="0" baseline="0" dirty="0">
                        <a:ln>
                          <a:noFill/>
                        </a:ln>
                        <a:solidFill>
                          <a:schemeClr val="tx1"/>
                        </a:solidFill>
                        <a:effectLst/>
                        <a:latin typeface="Arial" charset="0"/>
                      </a:endParaRPr>
                    </a:p>
                  </a:txBody>
                  <a:tcPr marR="0" marT="91440" marB="0"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63471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normAutofit/>
          </a:bodyPr>
          <a:lstStyle/>
          <a:p>
            <a:pPr eaLnBrk="1" hangingPunct="1"/>
            <a:r>
              <a:rPr lang="en-US" sz="4400" dirty="0"/>
              <a:t>IPS Signature Actions</a:t>
            </a:r>
          </a:p>
        </p:txBody>
      </p:sp>
      <p:sp>
        <p:nvSpPr>
          <p:cNvPr id="3" name="Text Placeholder 2"/>
          <p:cNvSpPr>
            <a:spLocks noGrp="1"/>
          </p:cNvSpPr>
          <p:nvPr>
            <p:ph type="body" sz="half" idx="1"/>
          </p:nvPr>
        </p:nvSpPr>
        <p:spPr>
          <a:xfrm>
            <a:off x="0" y="1447800"/>
            <a:ext cx="5181600" cy="5181600"/>
          </a:xfrm>
        </p:spPr>
        <p:txBody>
          <a:bodyPr>
            <a:noAutofit/>
          </a:bodyPr>
          <a:lstStyle/>
          <a:p>
            <a:r>
              <a:rPr lang="en-US" sz="2800" dirty="0"/>
              <a:t>Whenever a signature detects the activity for which it is configured, the signature triggers one or more actions. </a:t>
            </a:r>
          </a:p>
          <a:p>
            <a:r>
              <a:rPr lang="en-US" sz="2800" dirty="0"/>
              <a:t>Several actions can be performed:</a:t>
            </a:r>
          </a:p>
          <a:p>
            <a:pPr lvl="1"/>
            <a:r>
              <a:rPr lang="en-US" sz="2400" dirty="0"/>
              <a:t>Allow the activity.</a:t>
            </a:r>
          </a:p>
          <a:p>
            <a:pPr lvl="1"/>
            <a:r>
              <a:rPr lang="en-US" sz="2400" dirty="0"/>
              <a:t>Drop or prevent the activity.</a:t>
            </a:r>
          </a:p>
          <a:p>
            <a:pPr lvl="1"/>
            <a:r>
              <a:rPr lang="en-US" sz="2400" dirty="0"/>
              <a:t>Block future activity.</a:t>
            </a:r>
          </a:p>
          <a:p>
            <a:pPr lvl="1"/>
            <a:r>
              <a:rPr lang="en-US" sz="2400" dirty="0"/>
              <a:t>Generate an alert.</a:t>
            </a:r>
          </a:p>
          <a:p>
            <a:pPr lvl="1"/>
            <a:r>
              <a:rPr lang="en-US" sz="2400" dirty="0"/>
              <a:t>Log the activity.</a:t>
            </a:r>
          </a:p>
          <a:p>
            <a:pPr lvl="1"/>
            <a:r>
              <a:rPr lang="en-US" sz="2400" dirty="0"/>
              <a:t>Reset a TCP connection.</a:t>
            </a:r>
          </a:p>
        </p:txBody>
      </p:sp>
      <p:pic>
        <p:nvPicPr>
          <p:cNvPr id="2" name="Picture 1" descr="5334.JPG"/>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814112" y="2878668"/>
            <a:ext cx="4068726" cy="3962399"/>
          </a:xfrm>
          <a:prstGeom prst="rect">
            <a:avLst/>
          </a:prstGeom>
        </p:spPr>
      </p:pic>
    </p:spTree>
    <p:extLst>
      <p:ext uri="{BB962C8B-B14F-4D97-AF65-F5344CB8AC3E}">
        <p14:creationId xmlns:p14="http://schemas.microsoft.com/office/powerpoint/2010/main" val="250917556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Rectangle 2"/>
          <p:cNvSpPr>
            <a:spLocks noGrp="1" noChangeArrowheads="1"/>
          </p:cNvSpPr>
          <p:nvPr>
            <p:ph type="title"/>
          </p:nvPr>
        </p:nvSpPr>
        <p:spPr>
          <a:xfrm>
            <a:off x="486116" y="0"/>
            <a:ext cx="7886700" cy="1325563"/>
          </a:xfrm>
        </p:spPr>
        <p:txBody>
          <a:bodyPr>
            <a:normAutofit/>
          </a:bodyPr>
          <a:lstStyle/>
          <a:p>
            <a:r>
              <a:rPr lang="en-US" sz="4400"/>
              <a:t>IPS Signature Actions</a:t>
            </a:r>
          </a:p>
        </p:txBody>
      </p:sp>
      <p:graphicFrame>
        <p:nvGraphicFramePr>
          <p:cNvPr id="1551441" name="Group 81"/>
          <p:cNvGraphicFramePr>
            <a:graphicFrameLocks noGrp="1"/>
          </p:cNvGraphicFramePr>
          <p:nvPr>
            <p:ph type="tbl" idx="4294967295"/>
            <p:extLst>
              <p:ext uri="{D42A27DB-BD31-4B8C-83A1-F6EECF244321}">
                <p14:modId xmlns:p14="http://schemas.microsoft.com/office/powerpoint/2010/main" val="395838632"/>
              </p:ext>
            </p:extLst>
          </p:nvPr>
        </p:nvGraphicFramePr>
        <p:xfrm>
          <a:off x="228600" y="1027906"/>
          <a:ext cx="8610599" cy="5677692"/>
        </p:xfrm>
        <a:graphic>
          <a:graphicData uri="http://schemas.openxmlformats.org/drawingml/2006/table">
            <a:tbl>
              <a:tblPr firstRow="1" firstCol="1" bandRow="1">
                <a:tableStyleId>{3C2FFA5D-87B4-456A-9821-1D502468CF0F}</a:tableStyleId>
              </a:tblPr>
              <a:tblGrid>
                <a:gridCol w="1315485">
                  <a:extLst>
                    <a:ext uri="{9D8B030D-6E8A-4147-A177-3AD203B41FA5}">
                      <a16:colId xmlns:a16="http://schemas.microsoft.com/office/drawing/2014/main" val="20000"/>
                    </a:ext>
                  </a:extLst>
                </a:gridCol>
                <a:gridCol w="1627497">
                  <a:extLst>
                    <a:ext uri="{9D8B030D-6E8A-4147-A177-3AD203B41FA5}">
                      <a16:colId xmlns:a16="http://schemas.microsoft.com/office/drawing/2014/main" val="20001"/>
                    </a:ext>
                  </a:extLst>
                </a:gridCol>
                <a:gridCol w="5667617">
                  <a:extLst>
                    <a:ext uri="{9D8B030D-6E8A-4147-A177-3AD203B41FA5}">
                      <a16:colId xmlns:a16="http://schemas.microsoft.com/office/drawing/2014/main" val="20002"/>
                    </a:ext>
                  </a:extLst>
                </a:gridCol>
              </a:tblGrid>
              <a:tr h="361192">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600" u="none" strike="noStrike" cap="none" normalizeH="0" baseline="0" dirty="0">
                          <a:ln>
                            <a:noFill/>
                          </a:ln>
                          <a:effectLst/>
                          <a:latin typeface="Gill Sans MT" panose="020B0502020104020203" pitchFamily="34" charset="0"/>
                        </a:rPr>
                        <a:t>Category</a:t>
                      </a:r>
                      <a:endParaRPr kumimoji="0" lang="en-US" sz="1600" b="1" i="0" u="none" strike="noStrike" cap="none" normalizeH="0" baseline="0" dirty="0">
                        <a:ln>
                          <a:noFill/>
                        </a:ln>
                        <a:solidFill>
                          <a:schemeClr val="bg1"/>
                        </a:solidFill>
                        <a:effectLst/>
                        <a:latin typeface="Gill Sans MT" panose="020B0502020104020203" pitchFamily="34" charset="0"/>
                      </a:endParaRPr>
                    </a:p>
                  </a:txBody>
                  <a:tcPr marT="45721" marB="45721" anchor="ctr" horzOverflow="overflow"/>
                </a:tc>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600" u="none" strike="noStrike" cap="none" normalizeH="0" baseline="0">
                          <a:ln>
                            <a:noFill/>
                          </a:ln>
                          <a:effectLst/>
                          <a:latin typeface="Gill Sans MT" panose="020B0502020104020203" pitchFamily="34" charset="0"/>
                        </a:rPr>
                        <a:t>Specific Alert</a:t>
                      </a:r>
                      <a:endParaRPr kumimoji="0" lang="en-US" sz="1600" b="1" i="0" u="none" strike="noStrike" cap="none" normalizeH="0" baseline="0">
                        <a:ln>
                          <a:noFill/>
                        </a:ln>
                        <a:solidFill>
                          <a:schemeClr val="bg1"/>
                        </a:solidFill>
                        <a:effectLst/>
                        <a:latin typeface="Gill Sans MT" panose="020B0502020104020203" pitchFamily="34"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600" u="none" strike="noStrike" cap="none" normalizeH="0" baseline="0" dirty="0">
                          <a:ln>
                            <a:noFill/>
                          </a:ln>
                          <a:effectLst/>
                          <a:latin typeface="Gill Sans MT" panose="020B0502020104020203" pitchFamily="34" charset="0"/>
                        </a:rPr>
                        <a:t>Description</a:t>
                      </a:r>
                      <a:endParaRPr kumimoji="0" lang="en-US" sz="1600" b="1" i="0" u="none" strike="noStrike" cap="none" normalizeH="0" baseline="0" dirty="0">
                        <a:ln>
                          <a:noFill/>
                        </a:ln>
                        <a:solidFill>
                          <a:schemeClr val="bg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0"/>
                  </a:ext>
                </a:extLst>
              </a:tr>
              <a:tr h="325750">
                <a:tc rowSpan="2">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latin typeface="Gill Sans MT" panose="020B0502020104020203" pitchFamily="34" charset="0"/>
                        </a:rPr>
                        <a:t>Generating an alert</a:t>
                      </a:r>
                      <a:endParaRPr kumimoji="0" lang="en-US" sz="1400" b="1"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Produce alert</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writes the event to the Event Store as an alert.</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1"/>
                  </a:ext>
                </a:extLst>
              </a:tr>
              <a:tr h="509720">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latin typeface="Gill Sans MT" panose="020B0502020104020203" pitchFamily="34" charset="0"/>
                        </a:rPr>
                        <a:t>Produce verbose alert</a:t>
                      </a:r>
                      <a:endParaRPr kumimoji="0" lang="en-US" sz="14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includes an encoded dump of the offending packet in the alert. </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2"/>
                  </a:ext>
                </a:extLst>
              </a:tr>
              <a:tr h="509720">
                <a:tc rowSpan="3">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Logging the activity</a:t>
                      </a:r>
                      <a:endParaRPr kumimoji="0" lang="en-US" sz="1400" b="1"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Log attacker packets</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starts IP logging on packets that contain the attacker address and sends an alert. </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3"/>
                  </a:ext>
                </a:extLst>
              </a:tr>
              <a:tr h="450305">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Log pair packets</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starts IP logging on packets that contain the attacker and victim address pair. </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4"/>
                  </a:ext>
                </a:extLst>
              </a:tr>
              <a:tr h="450305">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Log victim packets</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starts IP logging on packets that contain the victim address and sends an alert. </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5"/>
                  </a:ext>
                </a:extLst>
              </a:tr>
              <a:tr h="2251518">
                <a:tc rowSpan="3">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latin typeface="Gill Sans MT" panose="020B0502020104020203" pitchFamily="34" charset="0"/>
                        </a:rPr>
                        <a:t>Dropping or preventing the activity</a:t>
                      </a:r>
                    </a:p>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endParaRPr kumimoji="0" lang="en-US" sz="1400" b="1"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Deny attacker inline</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terminates the current packet and future packets from this attacker address for a specified period of time. </a:t>
                      </a:r>
                    </a:p>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The sensor maintains a list of the attackers currently being denied by the system. </a:t>
                      </a:r>
                    </a:p>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Entries may be removed from the list manually or wait for the timer to expire. </a:t>
                      </a:r>
                    </a:p>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The timer is a sliding timer for each entry. Therefore, if attacker A is currently being denied, but issues another attack, the timer for attacker A is reset and attacker A remains on the denied attacker list until the timer expires. </a:t>
                      </a:r>
                    </a:p>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If the denied attacker list is at capacity and cannot add a new entry, the packet is still denied.</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6"/>
                  </a:ext>
                </a:extLst>
              </a:tr>
              <a:tr h="509720">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latin typeface="Gill Sans MT" panose="020B0502020104020203" pitchFamily="34" charset="0"/>
                        </a:rPr>
                        <a:t>Deny connection inline</a:t>
                      </a:r>
                      <a:endParaRPr kumimoji="0" lang="en-US" sz="1400" b="0" i="0" u="none" strike="noStrike" cap="none" normalizeH="0" baseline="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terminates the current packet and future packets on this TCP flow.</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7"/>
                  </a:ext>
                </a:extLst>
              </a:tr>
              <a:tr h="309462">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latin typeface="Gill Sans MT" panose="020B0502020104020203" pitchFamily="34" charset="0"/>
                        </a:rPr>
                        <a:t>Deny packet inline</a:t>
                      </a:r>
                      <a:endParaRPr kumimoji="0" lang="en-US" sz="14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200" u="none" strike="noStrike" cap="none" normalizeH="0" baseline="0" dirty="0">
                          <a:ln>
                            <a:noFill/>
                          </a:ln>
                          <a:effectLst/>
                          <a:latin typeface="Gill Sans MT" panose="020B0502020104020203" pitchFamily="34" charset="0"/>
                        </a:rPr>
                        <a:t>This action terminates the packet.</a:t>
                      </a:r>
                      <a:endParaRPr kumimoji="0" lang="en-US" sz="1200" b="0" i="0" u="none" strike="noStrike" cap="none" normalizeH="0" baseline="0" dirty="0">
                        <a:ln>
                          <a:noFill/>
                        </a:ln>
                        <a:solidFill>
                          <a:schemeClr val="tx1"/>
                        </a:solidFill>
                        <a:effectLst/>
                        <a:latin typeface="Gill Sans MT" panose="020B0502020104020203" pitchFamily="34" charset="0"/>
                      </a:endParaRPr>
                    </a:p>
                  </a:txBody>
                  <a:tcPr marT="45721" marB="45721" anchor="ctr" horzOverflow="overflow"/>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90455667"/>
      </p:ext>
    </p:extLst>
  </p:cSld>
  <p:clrMapOvr>
    <a:masterClrMapping/>
  </p:clrMapOvr>
  <p:transition spd="med">
    <p:comb/>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Rectangle 2"/>
          <p:cNvSpPr>
            <a:spLocks noGrp="1" noChangeArrowheads="1"/>
          </p:cNvSpPr>
          <p:nvPr>
            <p:ph type="title"/>
          </p:nvPr>
        </p:nvSpPr>
        <p:spPr>
          <a:xfrm>
            <a:off x="685800" y="533400"/>
            <a:ext cx="8170863" cy="533400"/>
          </a:xfrm>
        </p:spPr>
        <p:txBody>
          <a:bodyPr>
            <a:noAutofit/>
          </a:bodyPr>
          <a:lstStyle/>
          <a:p>
            <a:pPr eaLnBrk="1" hangingPunct="1"/>
            <a:r>
              <a:rPr lang="en-US" sz="4400" dirty="0"/>
              <a:t>IPS Signature Actions</a:t>
            </a:r>
          </a:p>
        </p:txBody>
      </p:sp>
      <p:graphicFrame>
        <p:nvGraphicFramePr>
          <p:cNvPr id="1551441" name="Group 81"/>
          <p:cNvGraphicFramePr>
            <a:graphicFrameLocks noGrp="1"/>
          </p:cNvGraphicFramePr>
          <p:nvPr>
            <p:ph type="tbl" idx="1"/>
            <p:extLst>
              <p:ext uri="{D42A27DB-BD31-4B8C-83A1-F6EECF244321}">
                <p14:modId xmlns:p14="http://schemas.microsoft.com/office/powerpoint/2010/main" val="65919408"/>
              </p:ext>
            </p:extLst>
          </p:nvPr>
        </p:nvGraphicFramePr>
        <p:xfrm>
          <a:off x="533400" y="1295400"/>
          <a:ext cx="8161943" cy="2853902"/>
        </p:xfrm>
        <a:graphic>
          <a:graphicData uri="http://schemas.openxmlformats.org/drawingml/2006/table">
            <a:tbl>
              <a:tblPr firstRow="1" firstCol="1" bandRow="1">
                <a:tableStyleId>{3C2FFA5D-87B4-456A-9821-1D502468CF0F}</a:tableStyleId>
              </a:tblPr>
              <a:tblGrid>
                <a:gridCol w="1222986">
                  <a:extLst>
                    <a:ext uri="{9D8B030D-6E8A-4147-A177-3AD203B41FA5}">
                      <a16:colId xmlns:a16="http://schemas.microsoft.com/office/drawing/2014/main" val="20000"/>
                    </a:ext>
                  </a:extLst>
                </a:gridCol>
                <a:gridCol w="1785947">
                  <a:extLst>
                    <a:ext uri="{9D8B030D-6E8A-4147-A177-3AD203B41FA5}">
                      <a16:colId xmlns:a16="http://schemas.microsoft.com/office/drawing/2014/main" val="20001"/>
                    </a:ext>
                  </a:extLst>
                </a:gridCol>
                <a:gridCol w="5153010">
                  <a:extLst>
                    <a:ext uri="{9D8B030D-6E8A-4147-A177-3AD203B41FA5}">
                      <a16:colId xmlns:a16="http://schemas.microsoft.com/office/drawing/2014/main" val="20002"/>
                    </a:ext>
                  </a:extLst>
                </a:gridCol>
              </a:tblGrid>
              <a:tr h="393610">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800" u="none" strike="noStrike" cap="none" normalizeH="0" baseline="0" dirty="0">
                          <a:ln>
                            <a:noFill/>
                          </a:ln>
                          <a:effectLst/>
                        </a:rPr>
                        <a:t>Category</a:t>
                      </a:r>
                      <a:endParaRPr kumimoji="0" lang="en-US" sz="1800" b="1" i="0" u="none" strike="noStrike" cap="none" normalizeH="0" baseline="0" dirty="0">
                        <a:ln>
                          <a:noFill/>
                        </a:ln>
                        <a:solidFill>
                          <a:schemeClr val="bg1"/>
                        </a:solidFill>
                        <a:effectLst/>
                        <a:latin typeface="Arial" charset="0"/>
                      </a:endParaRPr>
                    </a:p>
                  </a:txBody>
                  <a:tcPr marT="45721" marB="45721" horzOverflow="overflow"/>
                </a:tc>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800" u="none" strike="noStrike" cap="none" normalizeH="0" baseline="0">
                          <a:ln>
                            <a:noFill/>
                          </a:ln>
                          <a:effectLst/>
                        </a:rPr>
                        <a:t>Specific Alert</a:t>
                      </a:r>
                      <a:endParaRPr kumimoji="0" lang="en-US" sz="1800" b="1" i="0" u="none" strike="noStrike" cap="none" normalizeH="0" baseline="0">
                        <a:ln>
                          <a:noFill/>
                        </a:ln>
                        <a:solidFill>
                          <a:schemeClr val="bg1"/>
                        </a:solidFill>
                        <a:effectLst/>
                        <a:latin typeface="Arial" charset="0"/>
                      </a:endParaRPr>
                    </a:p>
                  </a:txBody>
                  <a:tcPr marT="45721" marB="45721"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800" u="none" strike="noStrike" cap="none" normalizeH="0" baseline="0" dirty="0">
                          <a:ln>
                            <a:noFill/>
                          </a:ln>
                          <a:effectLst/>
                        </a:rPr>
                        <a:t>Description</a:t>
                      </a:r>
                      <a:endParaRPr kumimoji="0" lang="en-US" sz="1800" b="1" i="0" u="none" strike="noStrike" cap="none" normalizeH="0" baseline="0" dirty="0">
                        <a:ln>
                          <a:noFill/>
                        </a:ln>
                        <a:solidFill>
                          <a:schemeClr val="bg1"/>
                        </a:solidFill>
                        <a:effectLst/>
                        <a:latin typeface="Arial" charset="0"/>
                      </a:endParaRPr>
                    </a:p>
                  </a:txBody>
                  <a:tcPr marT="45721" marB="45721" horzOverflow="overflow"/>
                </a:tc>
                <a:extLst>
                  <a:ext uri="{0D108BD9-81ED-4DB2-BD59-A6C34878D82A}">
                    <a16:rowId xmlns:a16="http://schemas.microsoft.com/office/drawing/2014/main" val="10000"/>
                  </a:ext>
                </a:extLst>
              </a:tr>
              <a:tr h="684983">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rPr>
                        <a:t>Resetting a TCP connection</a:t>
                      </a:r>
                      <a:endParaRPr kumimoji="0" lang="en-US" sz="1400" b="1" i="0" u="none" strike="noStrike" cap="none" normalizeH="0" baseline="0" dirty="0">
                        <a:ln>
                          <a:noFill/>
                        </a:ln>
                        <a:solidFill>
                          <a:schemeClr val="tx1"/>
                        </a:solidFill>
                        <a:effectLst/>
                        <a:latin typeface="Arial"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rPr>
                        <a:t>Reset TCP connection</a:t>
                      </a:r>
                      <a:endParaRPr kumimoji="0" lang="en-US" sz="1400" b="0" i="0" u="none" strike="noStrike" cap="none" normalizeH="0" baseline="0">
                        <a:ln>
                          <a:noFill/>
                        </a:ln>
                        <a:solidFill>
                          <a:schemeClr val="tx1"/>
                        </a:solidFill>
                        <a:effectLst/>
                        <a:latin typeface="Arial"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400" u="none" strike="noStrike" cap="none" normalizeH="0" baseline="0" dirty="0">
                          <a:ln>
                            <a:noFill/>
                          </a:ln>
                          <a:effectLst/>
                        </a:rPr>
                        <a:t>This action sends TCP resets to hijack and terminate the TCP flow.</a:t>
                      </a:r>
                      <a:endParaRPr kumimoji="0" lang="en-US" sz="1400" b="0" i="0" u="none" strike="noStrike" cap="none" normalizeH="0" baseline="0" dirty="0">
                        <a:ln>
                          <a:noFill/>
                        </a:ln>
                        <a:solidFill>
                          <a:schemeClr val="tx1"/>
                        </a:solidFill>
                        <a:effectLst/>
                        <a:latin typeface="Arial" charset="0"/>
                      </a:endParaRPr>
                    </a:p>
                  </a:txBody>
                  <a:tcPr marT="45721" marB="45721" anchor="ctr" horzOverflow="overflow"/>
                </a:tc>
                <a:extLst>
                  <a:ext uri="{0D108BD9-81ED-4DB2-BD59-A6C34878D82A}">
                    <a16:rowId xmlns:a16="http://schemas.microsoft.com/office/drawing/2014/main" val="10001"/>
                  </a:ext>
                </a:extLst>
              </a:tr>
              <a:tr h="564430">
                <a:tc rowSpan="3">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rPr>
                        <a:t>Blocking future activity</a:t>
                      </a:r>
                      <a:endParaRPr kumimoji="0" lang="en-US" sz="1400" b="1" i="0" u="none" strike="noStrike" cap="none" normalizeH="0" baseline="0">
                        <a:ln>
                          <a:noFill/>
                        </a:ln>
                        <a:solidFill>
                          <a:schemeClr val="tx1"/>
                        </a:solidFill>
                        <a:effectLst/>
                        <a:latin typeface="Arial" charset="0"/>
                      </a:endParaRPr>
                    </a:p>
                  </a:txBody>
                  <a:tcPr marT="45721" marB="45721" anchor="ctr" horzOverflow="overflow"/>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rPr>
                        <a:t>Request block connection</a:t>
                      </a:r>
                      <a:endParaRPr kumimoji="0" lang="en-US" sz="1400" b="0" i="0" u="none" strike="noStrike" cap="none" normalizeH="0" baseline="0">
                        <a:ln>
                          <a:noFill/>
                        </a:ln>
                        <a:solidFill>
                          <a:schemeClr val="tx1"/>
                        </a:solidFill>
                        <a:effectLst/>
                        <a:latin typeface="Arial"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400" u="none" strike="noStrike" cap="none" normalizeH="0" baseline="0" dirty="0">
                          <a:ln>
                            <a:noFill/>
                          </a:ln>
                          <a:effectLst/>
                        </a:rPr>
                        <a:t>This action sends a request to a blocking device to block this connection.</a:t>
                      </a:r>
                      <a:endParaRPr kumimoji="0" lang="en-US" sz="1400" b="0" i="0" u="none" strike="noStrike" cap="none" normalizeH="0" baseline="0" dirty="0">
                        <a:ln>
                          <a:noFill/>
                        </a:ln>
                        <a:solidFill>
                          <a:schemeClr val="tx1"/>
                        </a:solidFill>
                        <a:effectLst/>
                        <a:latin typeface="Arial" charset="0"/>
                      </a:endParaRPr>
                    </a:p>
                  </a:txBody>
                  <a:tcPr marT="45721" marB="45721" anchor="ctr" horzOverflow="overflow"/>
                </a:tc>
                <a:extLst>
                  <a:ext uri="{0D108BD9-81ED-4DB2-BD59-A6C34878D82A}">
                    <a16:rowId xmlns:a16="http://schemas.microsoft.com/office/drawing/2014/main" val="10002"/>
                  </a:ext>
                </a:extLst>
              </a:tr>
              <a:tr h="339013">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a:ln>
                            <a:noFill/>
                          </a:ln>
                          <a:effectLst/>
                        </a:rPr>
                        <a:t>Request block host</a:t>
                      </a:r>
                      <a:endParaRPr kumimoji="0" lang="en-US" sz="1400" b="0" i="0" u="none" strike="noStrike" cap="none" normalizeH="0" baseline="0">
                        <a:ln>
                          <a:noFill/>
                        </a:ln>
                        <a:solidFill>
                          <a:schemeClr val="tx1"/>
                        </a:solidFill>
                        <a:effectLst/>
                        <a:latin typeface="Arial"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400" u="none" strike="noStrike" cap="none" normalizeH="0" baseline="0" dirty="0">
                          <a:ln>
                            <a:noFill/>
                          </a:ln>
                          <a:effectLst/>
                        </a:rPr>
                        <a:t>This action sends a request to a blocking device to block this attacker host.</a:t>
                      </a:r>
                      <a:endParaRPr kumimoji="0" lang="en-US" sz="1400" b="0" i="0" u="none" strike="noStrike" cap="none" normalizeH="0" baseline="0" dirty="0">
                        <a:ln>
                          <a:noFill/>
                        </a:ln>
                        <a:solidFill>
                          <a:schemeClr val="tx1"/>
                        </a:solidFill>
                        <a:effectLst/>
                        <a:latin typeface="Arial" charset="0"/>
                      </a:endParaRPr>
                    </a:p>
                  </a:txBody>
                  <a:tcPr marT="45721" marB="45721" anchor="ctr" horzOverflow="overflow"/>
                </a:tc>
                <a:extLst>
                  <a:ext uri="{0D108BD9-81ED-4DB2-BD59-A6C34878D82A}">
                    <a16:rowId xmlns:a16="http://schemas.microsoft.com/office/drawing/2014/main" val="10003"/>
                  </a:ext>
                </a:extLst>
              </a:tr>
              <a:tr h="684964">
                <a:tc vMerge="1">
                  <a:txBody>
                    <a:bodyPr/>
                    <a:lstStyle/>
                    <a:p>
                      <a:endParaRPr lang="en-US"/>
                    </a:p>
                  </a:txBody>
                  <a:tcPr/>
                </a:tc>
                <a:tc>
                  <a:txBody>
                    <a:bodyPr/>
                    <a:lstStyle/>
                    <a:p>
                      <a:pPr marL="0" marR="0" lvl="0" indent="0" algn="l" defTabSz="914400" rtl="0" eaLnBrk="0" fontAlgn="base" latinLnBrk="0" hangingPunct="0">
                        <a:lnSpc>
                          <a:spcPct val="95000"/>
                        </a:lnSpc>
                        <a:spcBef>
                          <a:spcPct val="50000"/>
                        </a:spcBef>
                        <a:spcAft>
                          <a:spcPct val="0"/>
                        </a:spcAft>
                        <a:buClr>
                          <a:schemeClr val="tx2"/>
                        </a:buClr>
                        <a:buSzPct val="100000"/>
                        <a:buFont typeface="Wingdings" pitchFamily="2" charset="2"/>
                        <a:buNone/>
                        <a:tabLst/>
                      </a:pPr>
                      <a:r>
                        <a:rPr kumimoji="0" lang="en-US" sz="1400" u="none" strike="noStrike" cap="none" normalizeH="0" baseline="0" dirty="0">
                          <a:ln>
                            <a:noFill/>
                          </a:ln>
                          <a:effectLst/>
                        </a:rPr>
                        <a:t>Request SNMP trap</a:t>
                      </a:r>
                      <a:endParaRPr kumimoji="0" lang="en-US" sz="1400" b="0" i="0" u="none" strike="noStrike" cap="none" normalizeH="0" baseline="0" dirty="0">
                        <a:ln>
                          <a:noFill/>
                        </a:ln>
                        <a:solidFill>
                          <a:schemeClr val="tx1"/>
                        </a:solidFill>
                        <a:effectLst/>
                        <a:latin typeface="Arial" charset="0"/>
                      </a:endParaRPr>
                    </a:p>
                  </a:txBody>
                  <a:tcPr marT="45721" marB="45721" anchor="ctr" horzOverflow="overflow"/>
                </a:tc>
                <a:tc>
                  <a:txBody>
                    <a:bodyPr/>
                    <a:lstStyle/>
                    <a:p>
                      <a:pPr marL="171450" marR="0" lvl="0" indent="-171450" algn="l" defTabSz="914400" rtl="0" eaLnBrk="0" fontAlgn="base" latinLnBrk="0" hangingPunct="0">
                        <a:lnSpc>
                          <a:spcPct val="95000"/>
                        </a:lnSpc>
                        <a:spcBef>
                          <a:spcPct val="50000"/>
                        </a:spcBef>
                        <a:spcAft>
                          <a:spcPct val="0"/>
                        </a:spcAft>
                        <a:buClr>
                          <a:schemeClr val="tx2"/>
                        </a:buClr>
                        <a:buSzPct val="100000"/>
                        <a:buFont typeface="Arial"/>
                        <a:buChar char="•"/>
                        <a:tabLst/>
                      </a:pPr>
                      <a:r>
                        <a:rPr kumimoji="0" lang="en-US" sz="1400" u="none" strike="noStrike" cap="none" normalizeH="0" baseline="0" dirty="0">
                          <a:ln>
                            <a:noFill/>
                          </a:ln>
                          <a:effectLst/>
                        </a:rPr>
                        <a:t>This action sends a request to the notification application component of the sensor to perform Simple Network Management Protocol (SNMP) notification.</a:t>
                      </a:r>
                      <a:endParaRPr kumimoji="0" lang="en-US" sz="1400" b="0" i="0" u="none" strike="noStrike" cap="none" normalizeH="0" baseline="0" dirty="0">
                        <a:ln>
                          <a:noFill/>
                        </a:ln>
                        <a:solidFill>
                          <a:schemeClr val="tx1"/>
                        </a:solidFill>
                        <a:effectLst/>
                        <a:latin typeface="Arial" charset="0"/>
                      </a:endParaRPr>
                    </a:p>
                  </a:txBody>
                  <a:tcPr marT="45721" marB="45721" anchor="ctr" horzOverflow="overflow"/>
                </a:tc>
                <a:extLst>
                  <a:ext uri="{0D108BD9-81ED-4DB2-BD59-A6C34878D82A}">
                    <a16:rowId xmlns:a16="http://schemas.microsoft.com/office/drawing/2014/main" val="10004"/>
                  </a:ext>
                </a:extLst>
              </a:tr>
            </a:tbl>
          </a:graphicData>
        </a:graphic>
      </p:graphicFrame>
      <p:sp>
        <p:nvSpPr>
          <p:cNvPr id="2" name="Rectangle 1"/>
          <p:cNvSpPr/>
          <p:nvPr/>
        </p:nvSpPr>
        <p:spPr>
          <a:xfrm>
            <a:off x="304800" y="4953000"/>
            <a:ext cx="8839200" cy="954107"/>
          </a:xfrm>
          <a:prstGeom prst="rect">
            <a:avLst/>
          </a:prstGeom>
        </p:spPr>
        <p:txBody>
          <a:bodyPr wrap="square">
            <a:spAutoFit/>
          </a:bodyPr>
          <a:lstStyle/>
          <a:p>
            <a:r>
              <a:rPr lang="en-SG" sz="2800" b="1" dirty="0"/>
              <a:t>Please watch video on IPS:</a:t>
            </a:r>
          </a:p>
          <a:p>
            <a:r>
              <a:rPr lang="en-SG" sz="2800" b="1" dirty="0"/>
              <a:t>https://www.youtube.com/watch?v=BKhCR7tNUss</a:t>
            </a:r>
          </a:p>
        </p:txBody>
      </p:sp>
    </p:spTree>
    <p:extLst>
      <p:ext uri="{BB962C8B-B14F-4D97-AF65-F5344CB8AC3E}">
        <p14:creationId xmlns:p14="http://schemas.microsoft.com/office/powerpoint/2010/main" val="552238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Implementing IPS</a:t>
            </a:r>
          </a:p>
        </p:txBody>
      </p:sp>
      <p:sp>
        <p:nvSpPr>
          <p:cNvPr id="3" name="Subtitle 2"/>
          <p:cNvSpPr>
            <a:spLocks noGrp="1"/>
          </p:cNvSpPr>
          <p:nvPr>
            <p:ph type="subTitle" idx="1"/>
          </p:nvPr>
        </p:nvSpPr>
        <p:spPr/>
        <p:txBody>
          <a:bodyPr/>
          <a:lstStyle/>
          <a:p>
            <a:endParaRPr lang="en-SG"/>
          </a:p>
        </p:txBody>
      </p:sp>
    </p:spTree>
    <p:extLst>
      <p:ext uri="{BB962C8B-B14F-4D97-AF65-F5344CB8AC3E}">
        <p14:creationId xmlns:p14="http://schemas.microsoft.com/office/powerpoint/2010/main" val="2323634917"/>
      </p:ext>
    </p:extLst>
  </p:cSld>
  <p:clrMapOvr>
    <a:masterClrMapping/>
  </p:clrMapOvr>
  <p:transition spd="med">
    <p:comb/>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819" name="Rectangle 3"/>
          <p:cNvSpPr>
            <a:spLocks noGrp="1" noChangeArrowheads="1"/>
          </p:cNvSpPr>
          <p:nvPr>
            <p:ph type="body" sz="quarter" idx="10"/>
          </p:nvPr>
        </p:nvSpPr>
        <p:spPr>
          <a:xfrm>
            <a:off x="761999" y="1905000"/>
            <a:ext cx="8056563" cy="4572000"/>
          </a:xfrm>
        </p:spPr>
        <p:txBody>
          <a:bodyPr>
            <a:normAutofit/>
          </a:bodyPr>
          <a:lstStyle/>
          <a:p>
            <a:pPr marL="457200" indent="-457200">
              <a:buFont typeface="+mj-lt"/>
              <a:buAutoNum type="arabicPeriod"/>
            </a:pPr>
            <a:r>
              <a:rPr lang="en-US" sz="2800" dirty="0">
                <a:latin typeface="Gill Sans MT" panose="020B0502020104020203" pitchFamily="34" charset="0"/>
                <a:cs typeface="Arial" panose="020B0604020202020204" pitchFamily="34" charset="0"/>
              </a:rPr>
              <a:t>Download the IOS IPS files. </a:t>
            </a:r>
          </a:p>
          <a:p>
            <a:pPr marL="457200" indent="-457200">
              <a:buFont typeface="+mj-lt"/>
              <a:buAutoNum type="arabicPeriod"/>
            </a:pPr>
            <a:r>
              <a:rPr lang="en-US" sz="2800" dirty="0">
                <a:latin typeface="Gill Sans MT" panose="020B0502020104020203" pitchFamily="34" charset="0"/>
                <a:cs typeface="Arial" panose="020B0604020202020204" pitchFamily="34" charset="0"/>
              </a:rPr>
              <a:t>Create an IOS IPS configuration directory in flash. </a:t>
            </a:r>
          </a:p>
          <a:p>
            <a:pPr marL="457200" indent="-457200">
              <a:buFont typeface="+mj-lt"/>
              <a:buAutoNum type="arabicPeriod"/>
            </a:pPr>
            <a:r>
              <a:rPr lang="en-US" sz="2800" dirty="0">
                <a:latin typeface="Gill Sans MT" panose="020B0502020104020203" pitchFamily="34" charset="0"/>
                <a:cs typeface="Arial" panose="020B0604020202020204" pitchFamily="34" charset="0"/>
              </a:rPr>
              <a:t>Configure an IOS IPS crypto key. </a:t>
            </a:r>
          </a:p>
          <a:p>
            <a:pPr marL="457200" indent="-457200">
              <a:buFont typeface="+mj-lt"/>
              <a:buAutoNum type="arabicPeriod"/>
            </a:pPr>
            <a:r>
              <a:rPr lang="en-US" sz="2800" dirty="0">
                <a:latin typeface="Gill Sans MT" panose="020B0502020104020203" pitchFamily="34" charset="0"/>
                <a:cs typeface="Arial" panose="020B0604020202020204" pitchFamily="34" charset="0"/>
              </a:rPr>
              <a:t>Enable IOS IPS (consists of several </a:t>
            </a:r>
            <a:r>
              <a:rPr lang="en-US" sz="2800" dirty="0" err="1">
                <a:latin typeface="Gill Sans MT" panose="020B0502020104020203" pitchFamily="34" charset="0"/>
                <a:cs typeface="Arial" panose="020B0604020202020204" pitchFamily="34" charset="0"/>
              </a:rPr>
              <a:t>substeps</a:t>
            </a:r>
            <a:r>
              <a:rPr lang="en-US" sz="2800" dirty="0">
                <a:latin typeface="Gill Sans MT" panose="020B0502020104020203" pitchFamily="34" charset="0"/>
                <a:cs typeface="Arial" panose="020B0604020202020204" pitchFamily="34" charset="0"/>
              </a:rPr>
              <a:t>).</a:t>
            </a:r>
          </a:p>
          <a:p>
            <a:pPr marL="457200" indent="-457200">
              <a:buFont typeface="+mj-lt"/>
              <a:buAutoNum type="arabicPeriod"/>
            </a:pPr>
            <a:r>
              <a:rPr lang="en-US" sz="2800" dirty="0">
                <a:latin typeface="Gill Sans MT" panose="020B0502020104020203" pitchFamily="34" charset="0"/>
                <a:cs typeface="Arial" panose="020B0604020202020204" pitchFamily="34" charset="0"/>
              </a:rPr>
              <a:t>Load the IOS IPS signature package to the router. </a:t>
            </a:r>
          </a:p>
        </p:txBody>
      </p:sp>
      <p:sp>
        <p:nvSpPr>
          <p:cNvPr id="81922" name="Rectangle 2"/>
          <p:cNvSpPr>
            <a:spLocks noGrp="1" noChangeArrowheads="1"/>
          </p:cNvSpPr>
          <p:nvPr>
            <p:ph type="title"/>
          </p:nvPr>
        </p:nvSpPr>
        <p:spPr/>
        <p:txBody>
          <a:bodyPr>
            <a:normAutofit/>
          </a:bodyPr>
          <a:lstStyle/>
          <a:p>
            <a:r>
              <a:rPr lang="en-US" sz="4000" dirty="0"/>
              <a:t>Steps to implement Cisco IOS IPS</a:t>
            </a:r>
          </a:p>
        </p:txBody>
      </p:sp>
    </p:spTree>
    <p:extLst>
      <p:ext uri="{BB962C8B-B14F-4D97-AF65-F5344CB8AC3E}">
        <p14:creationId xmlns:p14="http://schemas.microsoft.com/office/powerpoint/2010/main" val="364741551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title"/>
          </p:nvPr>
        </p:nvSpPr>
        <p:spPr>
          <a:xfrm>
            <a:off x="689648" y="339996"/>
            <a:ext cx="7825702" cy="1350693"/>
          </a:xfrm>
        </p:spPr>
        <p:txBody>
          <a:bodyPr>
            <a:normAutofit/>
          </a:bodyPr>
          <a:lstStyle/>
          <a:p>
            <a:pPr marL="609600" indent="-609600" eaLnBrk="1" hangingPunct="1"/>
            <a:r>
              <a:rPr lang="en-US" sz="4400" dirty="0"/>
              <a:t>1. Download the IOS IPS files. </a:t>
            </a:r>
          </a:p>
        </p:txBody>
      </p:sp>
      <p:sp>
        <p:nvSpPr>
          <p:cNvPr id="82947" name="Rectangle 8"/>
          <p:cNvSpPr>
            <a:spLocks noGrp="1" noChangeArrowheads="1"/>
          </p:cNvSpPr>
          <p:nvPr>
            <p:ph idx="1"/>
          </p:nvPr>
        </p:nvSpPr>
        <p:spPr>
          <a:xfrm>
            <a:off x="689648" y="1690690"/>
            <a:ext cx="8091494" cy="4614756"/>
          </a:xfrm>
        </p:spPr>
        <p:txBody>
          <a:bodyPr>
            <a:normAutofit/>
          </a:bodyPr>
          <a:lstStyle/>
          <a:p>
            <a:r>
              <a:rPr lang="en-US" sz="2800" dirty="0"/>
              <a:t>Download the IOS IPS signature file and public crypto key from cisco.com. </a:t>
            </a:r>
          </a:p>
          <a:p>
            <a:pPr lvl="1"/>
            <a:r>
              <a:rPr lang="en-US" sz="2400" dirty="0"/>
              <a:t>IOS-</a:t>
            </a:r>
            <a:r>
              <a:rPr lang="en-US" sz="2400" dirty="0" err="1"/>
              <a:t>Sxxx</a:t>
            </a:r>
            <a:r>
              <a:rPr lang="en-US" sz="2400" dirty="0"/>
              <a:t>-</a:t>
            </a:r>
            <a:r>
              <a:rPr lang="en-US" sz="2400" dirty="0" err="1"/>
              <a:t>CLI.pkg</a:t>
            </a:r>
            <a:r>
              <a:rPr lang="en-US" sz="2400" dirty="0"/>
              <a:t> - Format of the latest signature package.</a:t>
            </a:r>
          </a:p>
          <a:p>
            <a:pPr lvl="1"/>
            <a:r>
              <a:rPr lang="en-US" sz="2400" dirty="0"/>
              <a:t>realm-cisco.pub.key.txt - Public crypto key used by IOS IPS. </a:t>
            </a:r>
          </a:p>
          <a:p>
            <a:r>
              <a:rPr lang="en-US" sz="2800" dirty="0"/>
              <a:t>The specific IPS files to download vary depending on the current release. </a:t>
            </a:r>
          </a:p>
          <a:p>
            <a:pPr lvl="1"/>
            <a:r>
              <a:rPr lang="en-US" sz="2400" dirty="0"/>
              <a:t>Only registered customers can download the package files and key.</a:t>
            </a:r>
          </a:p>
          <a:p>
            <a:pPr lvl="1"/>
            <a:endParaRPr lang="en-US" sz="2400" dirty="0"/>
          </a:p>
        </p:txBody>
      </p:sp>
    </p:spTree>
    <p:extLst>
      <p:ext uri="{BB962C8B-B14F-4D97-AF65-F5344CB8AC3E}">
        <p14:creationId xmlns:p14="http://schemas.microsoft.com/office/powerpoint/2010/main" val="1139816420"/>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normAutofit/>
          </a:bodyPr>
          <a:lstStyle/>
          <a:p>
            <a:pPr marL="533400" indent="-533400" eaLnBrk="1" hangingPunct="1"/>
            <a:r>
              <a:rPr lang="en-US" sz="3600" dirty="0"/>
              <a:t>2. Create an IOS IPS directory in Flash</a:t>
            </a:r>
          </a:p>
        </p:txBody>
      </p:sp>
      <p:sp>
        <p:nvSpPr>
          <p:cNvPr id="84995" name="Rectangle 3"/>
          <p:cNvSpPr>
            <a:spLocks noGrp="1" noChangeArrowheads="1"/>
          </p:cNvSpPr>
          <p:nvPr>
            <p:ph idx="1"/>
          </p:nvPr>
        </p:nvSpPr>
        <p:spPr>
          <a:xfrm>
            <a:off x="776288" y="1600201"/>
            <a:ext cx="8004854" cy="2819400"/>
          </a:xfrm>
        </p:spPr>
        <p:txBody>
          <a:bodyPr>
            <a:normAutofit/>
          </a:bodyPr>
          <a:lstStyle/>
          <a:p>
            <a:r>
              <a:rPr lang="en-US" sz="2400" dirty="0"/>
              <a:t>Create a directory in flash to store the signature files and configurations. </a:t>
            </a:r>
          </a:p>
          <a:p>
            <a:pPr lvl="1"/>
            <a:r>
              <a:rPr lang="en-US" sz="2000" dirty="0"/>
              <a:t>Use the</a:t>
            </a:r>
            <a:r>
              <a:rPr lang="en-US" sz="2000" b="1" dirty="0"/>
              <a:t> </a:t>
            </a:r>
            <a:r>
              <a:rPr lang="en-US" sz="2000" b="1" dirty="0" err="1"/>
              <a:t>mkdir</a:t>
            </a:r>
            <a:r>
              <a:rPr lang="en-US" sz="2000" b="1" dirty="0"/>
              <a:t> </a:t>
            </a:r>
            <a:r>
              <a:rPr lang="en-US" sz="2000" i="1" dirty="0"/>
              <a:t>directory-name </a:t>
            </a:r>
            <a:r>
              <a:rPr lang="en-US" sz="2000" dirty="0"/>
              <a:t>privileged EXEC command to create the directory. </a:t>
            </a:r>
          </a:p>
          <a:p>
            <a:pPr lvl="1"/>
            <a:r>
              <a:rPr lang="en-US" sz="2000" dirty="0"/>
              <a:t>Use the</a:t>
            </a:r>
            <a:r>
              <a:rPr lang="en-US" sz="2000" b="1" dirty="0"/>
              <a:t> rename</a:t>
            </a:r>
            <a:r>
              <a:rPr lang="en-US" sz="2000" dirty="0"/>
              <a:t> </a:t>
            </a:r>
            <a:r>
              <a:rPr lang="en-US" sz="2000" i="1" dirty="0"/>
              <a:t>current-name new-name </a:t>
            </a:r>
            <a:r>
              <a:rPr lang="en-US" sz="2000" dirty="0"/>
              <a:t> command to change the name of the directory. </a:t>
            </a:r>
          </a:p>
          <a:p>
            <a:r>
              <a:rPr lang="en-US" sz="2400" dirty="0"/>
              <a:t>To verify the contents of flash, enter the</a:t>
            </a:r>
            <a:r>
              <a:rPr lang="en-US" sz="2400" b="1" dirty="0"/>
              <a:t> </a:t>
            </a:r>
            <a:r>
              <a:rPr lang="en-US" sz="2400" b="1" dirty="0" err="1"/>
              <a:t>dir</a:t>
            </a:r>
            <a:r>
              <a:rPr lang="en-US" sz="2400" b="1" dirty="0"/>
              <a:t> flash: </a:t>
            </a:r>
            <a:r>
              <a:rPr lang="en-US" sz="2400" dirty="0"/>
              <a:t>privileged EXEC command. </a:t>
            </a:r>
          </a:p>
        </p:txBody>
      </p:sp>
      <p:sp>
        <p:nvSpPr>
          <p:cNvPr id="4" name="Rectangle 7"/>
          <p:cNvSpPr>
            <a:spLocks noChangeArrowheads="1"/>
          </p:cNvSpPr>
          <p:nvPr/>
        </p:nvSpPr>
        <p:spPr bwMode="auto">
          <a:xfrm>
            <a:off x="997743" y="4419600"/>
            <a:ext cx="7696200" cy="2323713"/>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a:t>
            </a:r>
            <a:r>
              <a:rPr lang="en-US" sz="1200" dirty="0">
                <a:solidFill>
                  <a:schemeClr val="bg1"/>
                </a:solidFill>
                <a:latin typeface="Courier New" charset="0"/>
              </a:rPr>
              <a:t> </a:t>
            </a:r>
            <a:r>
              <a:rPr lang="en-US" sz="1200" dirty="0" err="1">
                <a:solidFill>
                  <a:schemeClr val="bg1"/>
                </a:solidFill>
                <a:latin typeface="Courier New" charset="0"/>
              </a:rPr>
              <a:t>mkdir</a:t>
            </a:r>
            <a:r>
              <a:rPr lang="en-US" sz="1200" dirty="0">
                <a:solidFill>
                  <a:schemeClr val="bg1"/>
                </a:solidFill>
                <a:latin typeface="Courier New" charset="0"/>
              </a:rPr>
              <a:t> </a:t>
            </a:r>
            <a:r>
              <a:rPr lang="en-US" sz="1200" dirty="0" err="1">
                <a:solidFill>
                  <a:schemeClr val="bg1"/>
                </a:solidFill>
                <a:latin typeface="Courier New" charset="0"/>
              </a:rPr>
              <a:t>ips</a:t>
            </a:r>
            <a:endParaRPr lang="en-US" sz="1200" dirty="0">
              <a:solidFill>
                <a:schemeClr val="bg1"/>
              </a:solidFill>
              <a:latin typeface="Courier New" charset="0"/>
            </a:endParaRPr>
          </a:p>
          <a:p>
            <a:pPr>
              <a:lnSpc>
                <a:spcPct val="110000"/>
              </a:lnSpc>
            </a:pPr>
            <a:r>
              <a:rPr lang="en-US" sz="1200" b="0" dirty="0">
                <a:solidFill>
                  <a:schemeClr val="bg1"/>
                </a:solidFill>
                <a:latin typeface="Courier New" charset="0"/>
              </a:rPr>
              <a:t>Create directory filename [</a:t>
            </a:r>
            <a:r>
              <a:rPr lang="en-US" sz="1200" b="0" dirty="0" err="1">
                <a:solidFill>
                  <a:schemeClr val="bg1"/>
                </a:solidFill>
                <a:latin typeface="Courier New" charset="0"/>
              </a:rPr>
              <a:t>ips</a:t>
            </a:r>
            <a:r>
              <a:rPr lang="en-US" sz="1200" b="0" dirty="0">
                <a:solidFill>
                  <a:schemeClr val="bg1"/>
                </a:solidFill>
                <a:latin typeface="Courier New" charset="0"/>
              </a:rPr>
              <a:t>]?</a:t>
            </a:r>
          </a:p>
          <a:p>
            <a:pPr>
              <a:lnSpc>
                <a:spcPct val="110000"/>
              </a:lnSpc>
            </a:pPr>
            <a:r>
              <a:rPr lang="en-US" sz="1200" b="0" dirty="0">
                <a:solidFill>
                  <a:schemeClr val="bg1"/>
                </a:solidFill>
                <a:latin typeface="Courier New" charset="0"/>
              </a:rPr>
              <a:t>Created </a:t>
            </a:r>
            <a:r>
              <a:rPr lang="en-US" sz="1200" b="0" dirty="0" err="1">
                <a:solidFill>
                  <a:schemeClr val="bg1"/>
                </a:solidFill>
                <a:latin typeface="Courier New" charset="0"/>
              </a:rPr>
              <a:t>dir</a:t>
            </a:r>
            <a:r>
              <a:rPr lang="en-US" sz="1200" b="0" dirty="0">
                <a:solidFill>
                  <a:schemeClr val="bg1"/>
                </a:solidFill>
                <a:latin typeface="Courier New" charset="0"/>
              </a:rPr>
              <a:t> </a:t>
            </a:r>
            <a:r>
              <a:rPr lang="en-US" sz="1200" b="0" dirty="0" err="1">
                <a:solidFill>
                  <a:schemeClr val="bg1"/>
                </a:solidFill>
                <a:latin typeface="Courier New" charset="0"/>
              </a:rPr>
              <a:t>flash:ips</a:t>
            </a: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R1#</a:t>
            </a:r>
          </a:p>
          <a:p>
            <a:pPr>
              <a:lnSpc>
                <a:spcPct val="110000"/>
              </a:lnSpc>
            </a:pPr>
            <a:r>
              <a:rPr lang="en-US" sz="1200" b="0" dirty="0">
                <a:solidFill>
                  <a:schemeClr val="bg1"/>
                </a:solidFill>
                <a:latin typeface="Courier New" charset="0"/>
              </a:rPr>
              <a:t>R1# </a:t>
            </a:r>
            <a:r>
              <a:rPr lang="en-US" sz="1200" dirty="0" err="1">
                <a:solidFill>
                  <a:schemeClr val="bg1"/>
                </a:solidFill>
                <a:latin typeface="Courier New" charset="0"/>
              </a:rPr>
              <a:t>dir</a:t>
            </a:r>
            <a:r>
              <a:rPr lang="en-US" sz="1200" dirty="0">
                <a:solidFill>
                  <a:schemeClr val="bg1"/>
                </a:solidFill>
                <a:latin typeface="Courier New" charset="0"/>
              </a:rPr>
              <a:t> flash:</a:t>
            </a:r>
          </a:p>
          <a:p>
            <a:pPr>
              <a:lnSpc>
                <a:spcPct val="110000"/>
              </a:lnSpc>
            </a:pPr>
            <a:r>
              <a:rPr lang="en-US" sz="1200" b="0" dirty="0">
                <a:solidFill>
                  <a:schemeClr val="bg1"/>
                </a:solidFill>
                <a:latin typeface="Courier New" charset="0"/>
              </a:rPr>
              <a:t>Directory of flash:/</a:t>
            </a:r>
          </a:p>
          <a:p>
            <a:pPr>
              <a:lnSpc>
                <a:spcPct val="110000"/>
              </a:lnSpc>
            </a:pPr>
            <a:r>
              <a:rPr lang="en-US" sz="1200" b="0" dirty="0">
                <a:solidFill>
                  <a:schemeClr val="bg1"/>
                </a:solidFill>
                <a:latin typeface="Courier New" charset="0"/>
              </a:rPr>
              <a:t>   5 -</a:t>
            </a:r>
            <a:r>
              <a:rPr lang="en-US" sz="1200" b="0" dirty="0" err="1">
                <a:solidFill>
                  <a:schemeClr val="bg1"/>
                </a:solidFill>
                <a:latin typeface="Courier New" charset="0"/>
              </a:rPr>
              <a:t>rw</a:t>
            </a:r>
            <a:r>
              <a:rPr lang="en-US" sz="1200" b="0" dirty="0">
                <a:solidFill>
                  <a:schemeClr val="bg1"/>
                </a:solidFill>
                <a:latin typeface="Courier New" charset="0"/>
              </a:rPr>
              <a:t>-   51054864 Jan 10 2009 15:46:14 -08:00 </a:t>
            </a:r>
          </a:p>
          <a:p>
            <a:pPr>
              <a:lnSpc>
                <a:spcPct val="110000"/>
              </a:lnSpc>
            </a:pPr>
            <a:r>
              <a:rPr lang="en-US" sz="1200" b="0" dirty="0">
                <a:solidFill>
                  <a:schemeClr val="bg1"/>
                </a:solidFill>
                <a:latin typeface="Courier New" charset="0"/>
              </a:rPr>
              <a:t>                     c2800nm-advipservicesk9-mz.124-20.T1.bin</a:t>
            </a:r>
          </a:p>
          <a:p>
            <a:pPr>
              <a:lnSpc>
                <a:spcPct val="110000"/>
              </a:lnSpc>
            </a:pPr>
            <a:r>
              <a:rPr lang="en-US" sz="1200" b="0" dirty="0">
                <a:solidFill>
                  <a:schemeClr val="bg1"/>
                </a:solidFill>
                <a:latin typeface="Courier New" charset="0"/>
              </a:rPr>
              <a:t>   6 </a:t>
            </a:r>
            <a:r>
              <a:rPr lang="en-US" sz="1200" b="0" dirty="0" err="1">
                <a:solidFill>
                  <a:schemeClr val="bg1"/>
                </a:solidFill>
                <a:latin typeface="Courier New" charset="0"/>
              </a:rPr>
              <a:t>drw</a:t>
            </a:r>
            <a:r>
              <a:rPr lang="en-US" sz="1200" b="0" dirty="0">
                <a:solidFill>
                  <a:schemeClr val="bg1"/>
                </a:solidFill>
                <a:latin typeface="Courier New" charset="0"/>
              </a:rPr>
              <a:t>-      0 Jan 15 2009 11:36:36 -08:00 </a:t>
            </a:r>
            <a:r>
              <a:rPr lang="en-US" sz="1200" b="0" dirty="0" err="1">
                <a:solidFill>
                  <a:schemeClr val="bg1"/>
                </a:solidFill>
                <a:latin typeface="Courier New" charset="0"/>
              </a:rPr>
              <a:t>ips</a:t>
            </a: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64016384 bytes total (12693504 bytes free)</a:t>
            </a:r>
          </a:p>
          <a:p>
            <a:pPr>
              <a:lnSpc>
                <a:spcPct val="110000"/>
              </a:lnSpc>
            </a:pPr>
            <a:r>
              <a:rPr lang="en-US" sz="1200" b="0" dirty="0">
                <a:solidFill>
                  <a:schemeClr val="bg1"/>
                </a:solidFill>
                <a:latin typeface="Courier New" charset="0"/>
              </a:rPr>
              <a:t>R1#</a:t>
            </a:r>
          </a:p>
        </p:txBody>
      </p:sp>
    </p:spTree>
    <p:extLst>
      <p:ext uri="{BB962C8B-B14F-4D97-AF65-F5344CB8AC3E}">
        <p14:creationId xmlns:p14="http://schemas.microsoft.com/office/powerpoint/2010/main" val="100478423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normAutofit/>
          </a:bodyPr>
          <a:lstStyle/>
          <a:p>
            <a:pPr marL="609600" indent="-609600" eaLnBrk="1" hangingPunct="1"/>
            <a:r>
              <a:rPr lang="en-US" sz="4000" dirty="0"/>
              <a:t>3. Configure an IOS IPS crypto key</a:t>
            </a:r>
          </a:p>
        </p:txBody>
      </p:sp>
      <p:sp>
        <p:nvSpPr>
          <p:cNvPr id="87043" name="Rectangle 3"/>
          <p:cNvSpPr>
            <a:spLocks noGrp="1" noChangeArrowheads="1"/>
          </p:cNvSpPr>
          <p:nvPr>
            <p:ph idx="1"/>
          </p:nvPr>
        </p:nvSpPr>
        <p:spPr>
          <a:xfrm>
            <a:off x="628650" y="1690690"/>
            <a:ext cx="8152492" cy="4614756"/>
          </a:xfrm>
        </p:spPr>
        <p:txBody>
          <a:bodyPr>
            <a:normAutofit lnSpcReduction="10000"/>
          </a:bodyPr>
          <a:lstStyle/>
          <a:p>
            <a:pPr marL="0" indent="0">
              <a:buNone/>
            </a:pPr>
            <a:r>
              <a:rPr lang="en-US" sz="2400" dirty="0"/>
              <a:t>Step 1: Open the text file, realm-cisco.pub.key.txt ,copy the contents of the file</a:t>
            </a:r>
          </a:p>
          <a:p>
            <a:pPr marL="0" indent="0">
              <a:buNone/>
            </a:pPr>
            <a:r>
              <a:rPr lang="en-US" sz="2400" dirty="0"/>
              <a:t>Step 2: Use the “configure terminal” command to enter </a:t>
            </a:r>
            <a:r>
              <a:rPr lang="en-US" sz="2400" dirty="0" err="1"/>
              <a:t>config</a:t>
            </a:r>
            <a:r>
              <a:rPr lang="en-US" sz="2400" dirty="0"/>
              <a:t> mode</a:t>
            </a:r>
          </a:p>
          <a:p>
            <a:pPr marL="0" indent="0">
              <a:buNone/>
            </a:pPr>
            <a:r>
              <a:rPr lang="en-US" sz="2400" dirty="0"/>
              <a:t>Step 3: Paste the text it in the global configuration prompt after the #</a:t>
            </a:r>
          </a:p>
          <a:p>
            <a:pPr lvl="1"/>
            <a:r>
              <a:rPr lang="en-US" sz="2000" dirty="0"/>
              <a:t>The text file issues the various commands to generate the RSA key.</a:t>
            </a:r>
          </a:p>
          <a:p>
            <a:pPr marL="0" indent="0">
              <a:buNone/>
            </a:pPr>
            <a:r>
              <a:rPr lang="en-US" sz="2400" dirty="0"/>
              <a:t>Step 4: You can #show run to verify that the crypto key is configured.</a:t>
            </a:r>
          </a:p>
          <a:p>
            <a:pPr marL="0" indent="0">
              <a:buNone/>
            </a:pPr>
            <a:endParaRPr lang="en-US" sz="2400" dirty="0"/>
          </a:p>
          <a:p>
            <a:pPr marL="0" indent="0">
              <a:buNone/>
            </a:pPr>
            <a:r>
              <a:rPr lang="en-SG" dirty="0"/>
              <a:t>The crypto key is used to verify the digital signature for the master signature file (sigdef-default.xml) whose contents are signed by a Cisco private key to guarantee its authenticity and integrity at every release.</a:t>
            </a:r>
            <a:endParaRPr lang="en-US" sz="2400" dirty="0"/>
          </a:p>
        </p:txBody>
      </p:sp>
    </p:spTree>
    <p:extLst>
      <p:ext uri="{BB962C8B-B14F-4D97-AF65-F5344CB8AC3E}">
        <p14:creationId xmlns:p14="http://schemas.microsoft.com/office/powerpoint/2010/main" val="40559917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61999" y="1219200"/>
            <a:ext cx="8056563" cy="5257800"/>
          </a:xfrm>
        </p:spPr>
        <p:txBody>
          <a:bodyPr>
            <a:normAutofit/>
          </a:bodyPr>
          <a:lstStyle/>
          <a:p>
            <a:r>
              <a:rPr lang="en-US" sz="2400" dirty="0">
                <a:latin typeface="Gill Sans MT" panose="020B0502020104020203" pitchFamily="34" charset="0"/>
                <a:cs typeface="Arial" panose="020B0604020202020204" pitchFamily="34" charset="0"/>
              </a:rPr>
              <a:t>Highlight and copy the text in the public key file.</a:t>
            </a:r>
          </a:p>
          <a:p>
            <a:endParaRPr lang="en-US" sz="2400" dirty="0">
              <a:latin typeface="Gill Sans MT" panose="020B0502020104020203" pitchFamily="34" charset="0"/>
              <a:cs typeface="Arial" panose="020B0604020202020204" pitchFamily="34" charset="0"/>
            </a:endParaRPr>
          </a:p>
          <a:p>
            <a:endParaRPr lang="en-US" sz="2400" dirty="0">
              <a:latin typeface="Gill Sans MT" panose="020B0502020104020203" pitchFamily="34" charset="0"/>
              <a:cs typeface="Arial" panose="020B0604020202020204" pitchFamily="34" charset="0"/>
            </a:endParaRPr>
          </a:p>
          <a:p>
            <a:endParaRPr lang="en-US" sz="2400" dirty="0">
              <a:latin typeface="Gill Sans MT" panose="020B0502020104020203" pitchFamily="34" charset="0"/>
              <a:cs typeface="Arial" panose="020B0604020202020204" pitchFamily="34" charset="0"/>
            </a:endParaRPr>
          </a:p>
          <a:p>
            <a:endParaRPr lang="en-US" sz="2400" dirty="0">
              <a:latin typeface="Gill Sans MT" panose="020B0502020104020203" pitchFamily="34" charset="0"/>
              <a:cs typeface="Arial" panose="020B0604020202020204" pitchFamily="34" charset="0"/>
            </a:endParaRPr>
          </a:p>
          <a:p>
            <a:endParaRPr lang="en-US" sz="2400" dirty="0">
              <a:latin typeface="Gill Sans MT" panose="020B0502020104020203" pitchFamily="34" charset="0"/>
              <a:cs typeface="Arial" panose="020B0604020202020204" pitchFamily="34" charset="0"/>
            </a:endParaRPr>
          </a:p>
          <a:p>
            <a:endParaRPr lang="en-US" sz="2400" dirty="0">
              <a:latin typeface="Gill Sans MT" panose="020B0502020104020203" pitchFamily="34" charset="0"/>
              <a:cs typeface="Arial" panose="020B0604020202020204" pitchFamily="34" charset="0"/>
            </a:endParaRPr>
          </a:p>
          <a:p>
            <a:r>
              <a:rPr lang="en-US" sz="2400" dirty="0">
                <a:latin typeface="Gill Sans MT" panose="020B0502020104020203" pitchFamily="34" charset="0"/>
                <a:cs typeface="Arial" panose="020B0604020202020204" pitchFamily="34" charset="0"/>
              </a:rPr>
              <a:t>Paste the copied text at the global </a:t>
            </a:r>
            <a:r>
              <a:rPr lang="en-US" sz="2400" dirty="0" err="1">
                <a:latin typeface="Gill Sans MT" panose="020B0502020104020203" pitchFamily="34" charset="0"/>
                <a:cs typeface="Arial" panose="020B0604020202020204" pitchFamily="34" charset="0"/>
              </a:rPr>
              <a:t>config</a:t>
            </a:r>
            <a:r>
              <a:rPr lang="en-US" sz="2400" dirty="0">
                <a:latin typeface="Gill Sans MT" panose="020B0502020104020203" pitchFamily="34" charset="0"/>
                <a:cs typeface="Arial" panose="020B0604020202020204" pitchFamily="34" charset="0"/>
              </a:rPr>
              <a:t> prompt.</a:t>
            </a:r>
          </a:p>
        </p:txBody>
      </p:sp>
      <p:sp>
        <p:nvSpPr>
          <p:cNvPr id="88066" name="Rectangle 2"/>
          <p:cNvSpPr>
            <a:spLocks noGrp="1" noChangeArrowheads="1"/>
          </p:cNvSpPr>
          <p:nvPr>
            <p:ph type="title"/>
          </p:nvPr>
        </p:nvSpPr>
        <p:spPr>
          <a:xfrm>
            <a:off x="628650" y="365127"/>
            <a:ext cx="7886700" cy="1082674"/>
          </a:xfrm>
        </p:spPr>
        <p:txBody>
          <a:bodyPr>
            <a:normAutofit/>
          </a:bodyPr>
          <a:lstStyle/>
          <a:p>
            <a:pPr marL="609600" indent="-609600" eaLnBrk="1" hangingPunct="1"/>
            <a:r>
              <a:rPr lang="en-US" sz="4000" dirty="0"/>
              <a:t>3. Configure an IOS IPS crypto key</a:t>
            </a:r>
          </a:p>
        </p:txBody>
      </p:sp>
      <p:sp>
        <p:nvSpPr>
          <p:cNvPr id="88068" name="Rectangle 6"/>
          <p:cNvSpPr>
            <a:spLocks noChangeArrowheads="1"/>
          </p:cNvSpPr>
          <p:nvPr/>
        </p:nvSpPr>
        <p:spPr bwMode="auto">
          <a:xfrm>
            <a:off x="1295400" y="5407919"/>
            <a:ext cx="6584950" cy="495520"/>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 </a:t>
            </a:r>
            <a:r>
              <a:rPr lang="en-US" sz="1200" dirty="0" err="1">
                <a:solidFill>
                  <a:schemeClr val="bg1"/>
                </a:solidFill>
                <a:latin typeface="Courier New" charset="0"/>
              </a:rPr>
              <a:t>conf</a:t>
            </a:r>
            <a:r>
              <a:rPr lang="en-US" sz="1200" dirty="0">
                <a:solidFill>
                  <a:schemeClr val="bg1"/>
                </a:solidFill>
                <a:latin typeface="Courier New" charset="0"/>
              </a:rPr>
              <a:t> 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p>
        </p:txBody>
      </p:sp>
      <p:pic>
        <p:nvPicPr>
          <p:cNvPr id="88069"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43000" y="1905000"/>
            <a:ext cx="6457950" cy="2722562"/>
          </a:xfrm>
          <a:prstGeom prst="rect">
            <a:avLst/>
          </a:prstGeom>
          <a:solidFill>
            <a:schemeClr val="bg1">
              <a:lumMod val="85000"/>
            </a:schemeClr>
          </a:solidFill>
          <a:ln w="12700" cmpd="sng">
            <a:solidFill>
              <a:srgbClr val="000000"/>
            </a:solidFill>
            <a:miter lim="800000"/>
            <a:headEnd/>
            <a:tailEnd/>
          </a:ln>
          <a:extLst/>
        </p:spPr>
      </p:pic>
    </p:spTree>
    <p:extLst>
      <p:ext uri="{BB962C8B-B14F-4D97-AF65-F5344CB8AC3E}">
        <p14:creationId xmlns:p14="http://schemas.microsoft.com/office/powerpoint/2010/main" val="292780024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61999" y="1295400"/>
            <a:ext cx="8056563" cy="3572797"/>
          </a:xfrm>
        </p:spPr>
        <p:txBody>
          <a:bodyPr>
            <a:normAutofit/>
          </a:bodyPr>
          <a:lstStyle/>
          <a:p>
            <a:r>
              <a:rPr lang="en-US" sz="2400" dirty="0">
                <a:latin typeface="Gill Sans MT" panose="020B0502020104020203" pitchFamily="34" charset="0"/>
                <a:cs typeface="Arial" panose="020B0604020202020204" pitchFamily="34" charset="0"/>
              </a:rPr>
              <a:t>Issue the </a:t>
            </a:r>
            <a:r>
              <a:rPr lang="en-US" sz="2400" b="1" dirty="0">
                <a:latin typeface="Gill Sans MT" panose="020B0502020104020203" pitchFamily="34" charset="0"/>
                <a:cs typeface="Arial" panose="020B0604020202020204" pitchFamily="34" charset="0"/>
              </a:rPr>
              <a:t>show run </a:t>
            </a:r>
            <a:r>
              <a:rPr lang="en-US" sz="2400" dirty="0">
                <a:latin typeface="Gill Sans MT" panose="020B0502020104020203" pitchFamily="34" charset="0"/>
                <a:cs typeface="Arial" panose="020B0604020202020204" pitchFamily="34" charset="0"/>
              </a:rPr>
              <a:t>command to verify that the key was copied.</a:t>
            </a:r>
          </a:p>
        </p:txBody>
      </p:sp>
      <p:sp>
        <p:nvSpPr>
          <p:cNvPr id="89090" name="Rectangle 2"/>
          <p:cNvSpPr>
            <a:spLocks noGrp="1" noChangeArrowheads="1"/>
          </p:cNvSpPr>
          <p:nvPr>
            <p:ph type="title"/>
          </p:nvPr>
        </p:nvSpPr>
        <p:spPr>
          <a:xfrm>
            <a:off x="628650" y="365127"/>
            <a:ext cx="7886700" cy="930274"/>
          </a:xfrm>
        </p:spPr>
        <p:txBody>
          <a:bodyPr>
            <a:normAutofit/>
          </a:bodyPr>
          <a:lstStyle/>
          <a:p>
            <a:pPr marL="609600" indent="-609600" eaLnBrk="1" hangingPunct="1"/>
            <a:r>
              <a:rPr lang="en-US" sz="4000" dirty="0"/>
              <a:t>3. Configure an IOS IPS crypto key</a:t>
            </a:r>
          </a:p>
        </p:txBody>
      </p:sp>
      <p:sp>
        <p:nvSpPr>
          <p:cNvPr id="89092" name="Rectangle 9"/>
          <p:cNvSpPr>
            <a:spLocks noChangeArrowheads="1"/>
          </p:cNvSpPr>
          <p:nvPr/>
        </p:nvSpPr>
        <p:spPr bwMode="auto">
          <a:xfrm>
            <a:off x="1027906" y="2362200"/>
            <a:ext cx="7088187" cy="4151905"/>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 </a:t>
            </a:r>
            <a:r>
              <a:rPr lang="en-US" sz="1200" dirty="0">
                <a:solidFill>
                  <a:schemeClr val="bg1"/>
                </a:solidFill>
                <a:latin typeface="Courier New" charset="0"/>
              </a:rPr>
              <a:t>show run</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&lt;Output omitted&gt;</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crypto key </a:t>
            </a:r>
            <a:r>
              <a:rPr lang="en-US" sz="1200" b="0" dirty="0" err="1">
                <a:solidFill>
                  <a:schemeClr val="bg1"/>
                </a:solidFill>
                <a:latin typeface="Courier New" charset="0"/>
              </a:rPr>
              <a:t>pubkey</a:t>
            </a:r>
            <a:r>
              <a:rPr lang="en-US" sz="1200" b="0" dirty="0">
                <a:solidFill>
                  <a:schemeClr val="bg1"/>
                </a:solidFill>
                <a:latin typeface="Courier New" charset="0"/>
              </a:rPr>
              <a:t>-chain </a:t>
            </a:r>
            <a:r>
              <a:rPr lang="en-US" sz="1200" b="0" dirty="0" err="1">
                <a:solidFill>
                  <a:schemeClr val="bg1"/>
                </a:solidFill>
                <a:latin typeface="Courier New" charset="0"/>
              </a:rPr>
              <a:t>rsa</a:t>
            </a: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named-key realm-</a:t>
            </a:r>
            <a:r>
              <a:rPr lang="en-US" sz="1200" b="0" dirty="0" err="1">
                <a:solidFill>
                  <a:schemeClr val="bg1"/>
                </a:solidFill>
                <a:latin typeface="Courier New" charset="0"/>
              </a:rPr>
              <a:t>cisco.pub</a:t>
            </a:r>
            <a:r>
              <a:rPr lang="en-US" sz="1200" b="0" dirty="0">
                <a:solidFill>
                  <a:schemeClr val="bg1"/>
                </a:solidFill>
                <a:latin typeface="Courier New" charset="0"/>
              </a:rPr>
              <a:t> signature</a:t>
            </a:r>
          </a:p>
          <a:p>
            <a:pPr>
              <a:lnSpc>
                <a:spcPct val="110000"/>
              </a:lnSpc>
            </a:pPr>
            <a:r>
              <a:rPr lang="en-US" sz="1200" b="0" dirty="0">
                <a:solidFill>
                  <a:schemeClr val="bg1"/>
                </a:solidFill>
                <a:latin typeface="Courier New" charset="0"/>
              </a:rPr>
              <a:t>key-string</a:t>
            </a:r>
          </a:p>
          <a:p>
            <a:pPr>
              <a:lnSpc>
                <a:spcPct val="110000"/>
              </a:lnSpc>
            </a:pPr>
            <a:r>
              <a:rPr lang="en-US" sz="1200" b="0" dirty="0">
                <a:solidFill>
                  <a:schemeClr val="bg1"/>
                </a:solidFill>
                <a:latin typeface="Courier New" charset="0"/>
              </a:rPr>
              <a:t>30820122 300D0609 2A864886 F70D0101 01050003 82010F00 3082010A 02820101</a:t>
            </a:r>
          </a:p>
          <a:p>
            <a:pPr>
              <a:lnSpc>
                <a:spcPct val="110000"/>
              </a:lnSpc>
            </a:pPr>
            <a:r>
              <a:rPr lang="en-US" sz="1200" b="0" dirty="0">
                <a:solidFill>
                  <a:schemeClr val="bg1"/>
                </a:solidFill>
                <a:latin typeface="Courier New" charset="0"/>
              </a:rPr>
              <a:t>00C19E93 A8AF124A D6CC7A24 5097A975 206BE3A2 06FBA13F 6F12CB5B 4E441F16</a:t>
            </a:r>
          </a:p>
          <a:p>
            <a:pPr>
              <a:lnSpc>
                <a:spcPct val="110000"/>
              </a:lnSpc>
            </a:pPr>
            <a:r>
              <a:rPr lang="en-US" sz="1200" b="0" dirty="0">
                <a:solidFill>
                  <a:schemeClr val="bg1"/>
                </a:solidFill>
                <a:latin typeface="Courier New" charset="0"/>
              </a:rPr>
              <a:t>17E630D5 C02AC252 912BE27F 37FDD9C8 11FC7AF7 DCDD81D9 43CDABC3 6007D128</a:t>
            </a:r>
          </a:p>
          <a:p>
            <a:pPr>
              <a:lnSpc>
                <a:spcPct val="110000"/>
              </a:lnSpc>
            </a:pPr>
            <a:r>
              <a:rPr lang="en-US" sz="1200" b="0" dirty="0">
                <a:solidFill>
                  <a:schemeClr val="bg1"/>
                </a:solidFill>
                <a:latin typeface="Courier New" charset="0"/>
              </a:rPr>
              <a:t>B199ABCB D34ED0F9 085FADC1 359C189E F30AF10A C0EFB624 7E0764BF 3E53053E</a:t>
            </a:r>
          </a:p>
          <a:p>
            <a:pPr>
              <a:lnSpc>
                <a:spcPct val="110000"/>
              </a:lnSpc>
            </a:pPr>
            <a:r>
              <a:rPr lang="en-US" sz="1200" b="0" dirty="0">
                <a:solidFill>
                  <a:schemeClr val="bg1"/>
                </a:solidFill>
                <a:latin typeface="Courier New" charset="0"/>
              </a:rPr>
              <a:t>5B2146A9 D7A5EDE3 0298AF03 DED7A5B8 9479039D 20F30663 9AC64B93 C0112A35</a:t>
            </a:r>
          </a:p>
          <a:p>
            <a:pPr>
              <a:lnSpc>
                <a:spcPct val="110000"/>
              </a:lnSpc>
            </a:pPr>
            <a:r>
              <a:rPr lang="en-US" sz="1200" b="0" dirty="0">
                <a:solidFill>
                  <a:schemeClr val="bg1"/>
                </a:solidFill>
                <a:latin typeface="Courier New" charset="0"/>
              </a:rPr>
              <a:t>FE3F0C87 89BCB7BB 994AE74C FA9E481D F65875D6 85EAF974 6D9CC8E3 F0B08B85</a:t>
            </a:r>
          </a:p>
          <a:p>
            <a:pPr>
              <a:lnSpc>
                <a:spcPct val="110000"/>
              </a:lnSpc>
            </a:pPr>
            <a:r>
              <a:rPr lang="en-US" sz="1200" b="0" dirty="0">
                <a:solidFill>
                  <a:schemeClr val="bg1"/>
                </a:solidFill>
                <a:latin typeface="Courier New" charset="0"/>
              </a:rPr>
              <a:t>50437722 FFBE85B9 5E4189FF CC189CB9 69C46F9C A84DFBA5 7A0AF99E AD768C36</a:t>
            </a:r>
          </a:p>
          <a:p>
            <a:pPr>
              <a:lnSpc>
                <a:spcPct val="110000"/>
              </a:lnSpc>
            </a:pPr>
            <a:r>
              <a:rPr lang="en-US" sz="1200" b="0" dirty="0">
                <a:solidFill>
                  <a:schemeClr val="bg1"/>
                </a:solidFill>
                <a:latin typeface="Courier New" charset="0"/>
              </a:rPr>
              <a:t>006CF498 079F88F8 A3B3FB1F 9FB7B3CB 5539E1D1 9693CCBB 551F78D2 892356AE</a:t>
            </a:r>
          </a:p>
          <a:p>
            <a:pPr>
              <a:lnSpc>
                <a:spcPct val="110000"/>
              </a:lnSpc>
            </a:pPr>
            <a:r>
              <a:rPr lang="en-US" sz="1200" b="0" dirty="0">
                <a:solidFill>
                  <a:schemeClr val="bg1"/>
                </a:solidFill>
                <a:latin typeface="Courier New" charset="0"/>
              </a:rPr>
              <a:t>2F56D826 8918EF3C 80CA4F4D 87BFCA3B BFF668E9 689782A5 CF31CB6E B4B094D3</a:t>
            </a:r>
          </a:p>
          <a:p>
            <a:pPr>
              <a:lnSpc>
                <a:spcPct val="110000"/>
              </a:lnSpc>
            </a:pPr>
            <a:r>
              <a:rPr lang="en-US" sz="1200" b="0" dirty="0">
                <a:solidFill>
                  <a:schemeClr val="bg1"/>
                </a:solidFill>
                <a:latin typeface="Courier New" charset="0"/>
              </a:rPr>
              <a:t>F3020301 0001</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&lt;Output omitted&gt;</a:t>
            </a:r>
          </a:p>
          <a:p>
            <a:pPr>
              <a:lnSpc>
                <a:spcPct val="110000"/>
              </a:lnSpc>
            </a:pPr>
            <a:endParaRPr lang="en-US" sz="1200" b="0" dirty="0">
              <a:solidFill>
                <a:schemeClr val="bg1"/>
              </a:solidFill>
              <a:latin typeface="Courier New" charset="0"/>
            </a:endParaRPr>
          </a:p>
        </p:txBody>
      </p:sp>
    </p:spTree>
    <p:extLst>
      <p:ext uri="{BB962C8B-B14F-4D97-AF65-F5344CB8AC3E}">
        <p14:creationId xmlns:p14="http://schemas.microsoft.com/office/powerpoint/2010/main" val="186679878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normAutofit/>
          </a:bodyPr>
          <a:lstStyle/>
          <a:p>
            <a:pPr marL="609600" indent="-609600" eaLnBrk="1" hangingPunct="1"/>
            <a:r>
              <a:rPr lang="en-US" sz="4000" dirty="0"/>
              <a:t>3. Configure an IOS IPS crypto key</a:t>
            </a:r>
          </a:p>
        </p:txBody>
      </p:sp>
      <p:sp>
        <p:nvSpPr>
          <p:cNvPr id="90115" name="Rectangle 3"/>
          <p:cNvSpPr>
            <a:spLocks noGrp="1" noChangeArrowheads="1"/>
          </p:cNvSpPr>
          <p:nvPr>
            <p:ph idx="1"/>
          </p:nvPr>
        </p:nvSpPr>
        <p:spPr>
          <a:xfrm>
            <a:off x="776288" y="1690689"/>
            <a:ext cx="8004854" cy="4614756"/>
          </a:xfrm>
        </p:spPr>
        <p:txBody>
          <a:bodyPr>
            <a:normAutofit/>
          </a:bodyPr>
          <a:lstStyle/>
          <a:p>
            <a:r>
              <a:rPr lang="en-US" sz="2800" dirty="0"/>
              <a:t>At the time of signature compilation, an error message is generated if the public crypto key is invalid. </a:t>
            </a:r>
          </a:p>
          <a:p>
            <a:pPr lvl="1"/>
            <a:r>
              <a:rPr lang="en-US" sz="2400" dirty="0"/>
              <a:t>If the key is configured incorrectly, the key must be removed and then reconfigured using the</a:t>
            </a:r>
            <a:r>
              <a:rPr lang="en-US" sz="2400" b="1" dirty="0"/>
              <a:t> no crypto key </a:t>
            </a:r>
            <a:r>
              <a:rPr lang="en-US" sz="2400" b="1" dirty="0" err="1"/>
              <a:t>pubkey</a:t>
            </a:r>
            <a:r>
              <a:rPr lang="en-US" sz="2400" b="1" dirty="0"/>
              <a:t>-chain </a:t>
            </a:r>
            <a:r>
              <a:rPr lang="en-US" sz="2400" b="1" dirty="0" err="1"/>
              <a:t>rsa</a:t>
            </a:r>
            <a:r>
              <a:rPr lang="en-US" sz="2400" b="1" dirty="0"/>
              <a:t> </a:t>
            </a:r>
            <a:r>
              <a:rPr lang="en-US" sz="2400" dirty="0"/>
              <a:t>and the</a:t>
            </a:r>
            <a:r>
              <a:rPr lang="en-US" sz="2400" b="1" dirty="0"/>
              <a:t> no named-key</a:t>
            </a:r>
            <a:r>
              <a:rPr lang="en-US" sz="2400" dirty="0"/>
              <a:t> </a:t>
            </a:r>
            <a:r>
              <a:rPr lang="en-US" sz="2400" b="1" dirty="0"/>
              <a:t>realm-</a:t>
            </a:r>
            <a:r>
              <a:rPr lang="en-US" sz="2400" b="1" dirty="0" err="1"/>
              <a:t>cisco.pub</a:t>
            </a:r>
            <a:r>
              <a:rPr lang="en-US" sz="2400" b="1" dirty="0"/>
              <a:t> signature </a:t>
            </a:r>
            <a:r>
              <a:rPr lang="en-US" sz="2400" dirty="0"/>
              <a:t>commands.</a:t>
            </a:r>
          </a:p>
        </p:txBody>
      </p:sp>
    </p:spTree>
    <p:extLst>
      <p:ext uri="{BB962C8B-B14F-4D97-AF65-F5344CB8AC3E}">
        <p14:creationId xmlns:p14="http://schemas.microsoft.com/office/powerpoint/2010/main" val="3324244880"/>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normAutofit/>
          </a:bodyPr>
          <a:lstStyle/>
          <a:p>
            <a:pPr marL="609600" indent="-609600" eaLnBrk="1" hangingPunct="1"/>
            <a:r>
              <a:rPr lang="en-US" sz="4000" dirty="0"/>
              <a:t>4a. Enable IOS IPS</a:t>
            </a:r>
          </a:p>
        </p:txBody>
      </p:sp>
      <p:sp>
        <p:nvSpPr>
          <p:cNvPr id="91139" name="Rectangle 3"/>
          <p:cNvSpPr>
            <a:spLocks noGrp="1" noChangeArrowheads="1"/>
          </p:cNvSpPr>
          <p:nvPr>
            <p:ph idx="1"/>
          </p:nvPr>
        </p:nvSpPr>
        <p:spPr>
          <a:xfrm>
            <a:off x="776288" y="1447800"/>
            <a:ext cx="8004854" cy="4857645"/>
          </a:xfrm>
        </p:spPr>
        <p:txBody>
          <a:bodyPr>
            <a:normAutofit/>
          </a:bodyPr>
          <a:lstStyle/>
          <a:p>
            <a:r>
              <a:rPr lang="en-US" sz="2400" dirty="0"/>
              <a:t>Identify the IPS rule name and specify the location. </a:t>
            </a:r>
          </a:p>
          <a:p>
            <a:pPr lvl="1"/>
            <a:r>
              <a:rPr lang="en-US" sz="2000" dirty="0"/>
              <a:t>Use the</a:t>
            </a:r>
            <a:r>
              <a:rPr lang="en-US" sz="2000" b="1" dirty="0"/>
              <a:t> </a:t>
            </a:r>
            <a:r>
              <a:rPr lang="en-US" sz="2000" b="1" dirty="0" err="1"/>
              <a:t>ip</a:t>
            </a:r>
            <a:r>
              <a:rPr lang="en-US" sz="2000" b="1" dirty="0"/>
              <a:t> </a:t>
            </a:r>
            <a:r>
              <a:rPr lang="en-US" sz="2000" b="1" dirty="0" err="1"/>
              <a:t>ips</a:t>
            </a:r>
            <a:r>
              <a:rPr lang="en-US" sz="2000" b="1" dirty="0"/>
              <a:t> name [</a:t>
            </a:r>
            <a:r>
              <a:rPr lang="en-US" sz="2000" i="1" dirty="0"/>
              <a:t>rule name</a:t>
            </a:r>
            <a:r>
              <a:rPr lang="en-US" sz="2000" b="1" dirty="0"/>
              <a:t>] [</a:t>
            </a:r>
            <a:r>
              <a:rPr lang="en-US" sz="2000" i="1" dirty="0"/>
              <a:t>optional</a:t>
            </a:r>
            <a:r>
              <a:rPr lang="en-US" sz="2000" b="1" dirty="0"/>
              <a:t> </a:t>
            </a:r>
            <a:r>
              <a:rPr lang="en-US" sz="2000" i="1" dirty="0"/>
              <a:t>ACL</a:t>
            </a:r>
            <a:r>
              <a:rPr lang="en-US" sz="2000" b="1" dirty="0"/>
              <a:t>] </a:t>
            </a:r>
            <a:r>
              <a:rPr lang="en-US" sz="2000" dirty="0"/>
              <a:t>command to create a rule name. </a:t>
            </a:r>
          </a:p>
          <a:p>
            <a:pPr lvl="1"/>
            <a:r>
              <a:rPr lang="en-SG" sz="1600" dirty="0"/>
              <a:t>You can specify an optional extended or standard access control list (ACL) in order to filter the traffic that will be scanned by this rule name. All traffic that is permitted by the ACL is subject to inspection by the IPS. Traffic that is denied by the ACL is not inspected by the IPS</a:t>
            </a:r>
            <a:r>
              <a:rPr lang="en-SG" sz="2400" dirty="0"/>
              <a:t>.</a:t>
            </a:r>
          </a:p>
          <a:p>
            <a:pPr marL="342900" lvl="1" indent="0">
              <a:buNone/>
            </a:pPr>
            <a:endParaRPr lang="en-US" sz="2000" dirty="0"/>
          </a:p>
          <a:p>
            <a:r>
              <a:rPr lang="en-US" sz="2400" dirty="0"/>
              <a:t>Use the</a:t>
            </a:r>
            <a:r>
              <a:rPr lang="en-US" sz="2400" b="1" dirty="0"/>
              <a:t> </a:t>
            </a:r>
            <a:r>
              <a:rPr lang="en-US" sz="2400" b="1" dirty="0" err="1"/>
              <a:t>ip</a:t>
            </a:r>
            <a:r>
              <a:rPr lang="en-US" sz="2400" b="1" dirty="0"/>
              <a:t> </a:t>
            </a:r>
            <a:r>
              <a:rPr lang="en-US" sz="2400" b="1" dirty="0" err="1"/>
              <a:t>ips</a:t>
            </a:r>
            <a:r>
              <a:rPr lang="en-US" sz="2400" b="1" dirty="0"/>
              <a:t> </a:t>
            </a:r>
            <a:r>
              <a:rPr lang="en-US" sz="2400" b="1" dirty="0" err="1"/>
              <a:t>config</a:t>
            </a:r>
            <a:r>
              <a:rPr lang="en-US" sz="2400" b="1" dirty="0"/>
              <a:t> location </a:t>
            </a:r>
            <a:r>
              <a:rPr lang="en-US" sz="2400" b="1" dirty="0" err="1"/>
              <a:t>flash:</a:t>
            </a:r>
            <a:r>
              <a:rPr lang="en-US" sz="2400" i="1" dirty="0" err="1"/>
              <a:t>directory-name</a:t>
            </a:r>
            <a:r>
              <a:rPr lang="en-US" sz="2400" b="1" dirty="0"/>
              <a:t> </a:t>
            </a:r>
            <a:r>
              <a:rPr lang="en-US" sz="2400" dirty="0"/>
              <a:t>command to configure the IPS signature storage location. </a:t>
            </a:r>
          </a:p>
        </p:txBody>
      </p:sp>
      <p:sp>
        <p:nvSpPr>
          <p:cNvPr id="4" name="Rectangle 5"/>
          <p:cNvSpPr>
            <a:spLocks noChangeArrowheads="1"/>
          </p:cNvSpPr>
          <p:nvPr/>
        </p:nvSpPr>
        <p:spPr bwMode="auto">
          <a:xfrm>
            <a:off x="1027906" y="4572000"/>
            <a:ext cx="7088187" cy="1511183"/>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name IOSIPS</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name </a:t>
            </a:r>
            <a:r>
              <a:rPr lang="en-US" sz="1200" dirty="0" err="1">
                <a:solidFill>
                  <a:schemeClr val="bg1"/>
                </a:solidFill>
                <a:latin typeface="Courier New" charset="0"/>
              </a:rPr>
              <a:t>ips</a:t>
            </a:r>
            <a:r>
              <a:rPr lang="en-US" sz="1200" dirty="0">
                <a:solidFill>
                  <a:schemeClr val="bg1"/>
                </a:solidFill>
                <a:latin typeface="Courier New" charset="0"/>
              </a:rPr>
              <a:t> list ?</a:t>
            </a:r>
          </a:p>
          <a:p>
            <a:pPr>
              <a:lnSpc>
                <a:spcPct val="110000"/>
              </a:lnSpc>
            </a:pPr>
            <a:r>
              <a:rPr lang="en-US" sz="1200" b="0" dirty="0">
                <a:solidFill>
                  <a:schemeClr val="bg1"/>
                </a:solidFill>
                <a:latin typeface="Courier New" charset="0"/>
              </a:rPr>
              <a:t>&lt;1-199&gt; Numbered access list</a:t>
            </a:r>
          </a:p>
          <a:p>
            <a:pPr>
              <a:lnSpc>
                <a:spcPct val="110000"/>
              </a:lnSpc>
            </a:pPr>
            <a:r>
              <a:rPr lang="en-US" sz="1200" b="0" dirty="0">
                <a:solidFill>
                  <a:schemeClr val="bg1"/>
                </a:solidFill>
                <a:latin typeface="Courier New" charset="0"/>
              </a:rPr>
              <a:t>WORD Named access list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a:t>
            </a:r>
            <a:r>
              <a:rPr lang="en-US" sz="1200" dirty="0" err="1">
                <a:solidFill>
                  <a:schemeClr val="bg1"/>
                </a:solidFill>
                <a:latin typeface="Courier New" charset="0"/>
              </a:rPr>
              <a:t>config</a:t>
            </a:r>
            <a:r>
              <a:rPr lang="en-US" sz="1200" dirty="0">
                <a:solidFill>
                  <a:schemeClr val="bg1"/>
                </a:solidFill>
                <a:latin typeface="Courier New" charset="0"/>
              </a:rPr>
              <a:t> location </a:t>
            </a:r>
            <a:r>
              <a:rPr lang="en-US" sz="1200" dirty="0" err="1">
                <a:solidFill>
                  <a:schemeClr val="bg1"/>
                </a:solidFill>
                <a:latin typeface="Courier New" charset="0"/>
              </a:rPr>
              <a:t>flash:ips</a:t>
            </a:r>
            <a:endParaRPr lang="en-US" sz="1200" dirty="0">
              <a:solidFill>
                <a:schemeClr val="bg1"/>
              </a:solidFill>
              <a:latin typeface="Courier New" charset="0"/>
            </a:endParaRP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p>
        </p:txBody>
      </p:sp>
    </p:spTree>
    <p:extLst>
      <p:ext uri="{BB962C8B-B14F-4D97-AF65-F5344CB8AC3E}">
        <p14:creationId xmlns:p14="http://schemas.microsoft.com/office/powerpoint/2010/main" val="246211954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a:bodyPr>
          <a:lstStyle/>
          <a:p>
            <a:pPr marL="609600" indent="-609600" eaLnBrk="1" hangingPunct="1"/>
            <a:r>
              <a:rPr lang="en-US" sz="4000" dirty="0"/>
              <a:t>4b. Enable IOS IPS</a:t>
            </a:r>
          </a:p>
        </p:txBody>
      </p:sp>
      <p:sp>
        <p:nvSpPr>
          <p:cNvPr id="93187" name="Rectangle 3"/>
          <p:cNvSpPr>
            <a:spLocks noGrp="1" noChangeArrowheads="1"/>
          </p:cNvSpPr>
          <p:nvPr>
            <p:ph idx="1"/>
          </p:nvPr>
        </p:nvSpPr>
        <p:spPr>
          <a:xfrm>
            <a:off x="776288" y="1371600"/>
            <a:ext cx="8004854" cy="4933845"/>
          </a:xfrm>
        </p:spPr>
        <p:txBody>
          <a:bodyPr>
            <a:normAutofit/>
          </a:bodyPr>
          <a:lstStyle/>
          <a:p>
            <a:r>
              <a:rPr lang="en-US" sz="2400" dirty="0"/>
              <a:t>Enable SDEE and HTTP. </a:t>
            </a:r>
          </a:p>
          <a:p>
            <a:pPr lvl="1"/>
            <a:r>
              <a:rPr lang="en-SG" sz="2000" dirty="0"/>
              <a:t>Security Device Event Exchange (SDEE) is an application-level communication protocol that is used to exchange IPS messages between IPS clients and IPS servers.</a:t>
            </a:r>
          </a:p>
          <a:p>
            <a:pPr lvl="1"/>
            <a:r>
              <a:rPr lang="en-SG" sz="2000" dirty="0"/>
              <a:t>SDEE is always running, but it does not receive and process events from IPS unless SDEE notification is enabled. If SDEE notification is not enabled and a client sends a request, SDEE responds with a fault response message, indicating that notification is not enabled</a:t>
            </a:r>
            <a:endParaRPr lang="en-US" sz="2000" dirty="0"/>
          </a:p>
          <a:p>
            <a:pPr lvl="1"/>
            <a:r>
              <a:rPr lang="en-US" sz="2000" dirty="0"/>
              <a:t>SDEE notification must be explicitly enabled using the</a:t>
            </a:r>
            <a:r>
              <a:rPr lang="en-US" sz="2000" b="1" dirty="0"/>
              <a:t> </a:t>
            </a:r>
            <a:r>
              <a:rPr lang="en-US" sz="2000" b="1" dirty="0" err="1"/>
              <a:t>ip</a:t>
            </a:r>
            <a:r>
              <a:rPr lang="en-US" sz="2000" b="1" dirty="0"/>
              <a:t> </a:t>
            </a:r>
            <a:r>
              <a:rPr lang="en-US" sz="2000" b="1" dirty="0" err="1"/>
              <a:t>ips</a:t>
            </a:r>
            <a:r>
              <a:rPr lang="en-US" sz="2000" b="1" dirty="0"/>
              <a:t> notify </a:t>
            </a:r>
            <a:r>
              <a:rPr lang="en-US" sz="2000" b="1" dirty="0" err="1"/>
              <a:t>sdee</a:t>
            </a:r>
            <a:r>
              <a:rPr lang="en-US" sz="2000" b="1" dirty="0"/>
              <a:t> </a:t>
            </a:r>
            <a:r>
              <a:rPr lang="en-US" sz="2000" dirty="0"/>
              <a:t>command. </a:t>
            </a:r>
          </a:p>
          <a:p>
            <a:pPr lvl="1"/>
            <a:r>
              <a:rPr lang="en-US" sz="2000" dirty="0"/>
              <a:t>The HTTP server must first be enabled using the</a:t>
            </a:r>
            <a:r>
              <a:rPr lang="en-US" sz="2000" b="1" dirty="0"/>
              <a:t> </a:t>
            </a:r>
            <a:r>
              <a:rPr lang="en-US" sz="2000" b="1" dirty="0" err="1"/>
              <a:t>ip</a:t>
            </a:r>
            <a:r>
              <a:rPr lang="en-US" sz="2000" b="1" dirty="0"/>
              <a:t> http server </a:t>
            </a:r>
            <a:r>
              <a:rPr lang="en-US" sz="2000" dirty="0"/>
              <a:t>command. </a:t>
            </a:r>
            <a:r>
              <a:rPr lang="en-SG" sz="2000" dirty="0"/>
              <a:t>If the HTTP server is not enabled, the router cannot respond to the SDEE clients because it cannot see the requests. </a:t>
            </a:r>
            <a:endParaRPr lang="en-US" sz="2000" dirty="0"/>
          </a:p>
          <a:p>
            <a:pPr lvl="1"/>
            <a:endParaRPr lang="en-US" sz="2000" dirty="0"/>
          </a:p>
        </p:txBody>
      </p:sp>
    </p:spTree>
    <p:extLst>
      <p:ext uri="{BB962C8B-B14F-4D97-AF65-F5344CB8AC3E}">
        <p14:creationId xmlns:p14="http://schemas.microsoft.com/office/powerpoint/2010/main" val="250996438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dirty="0"/>
              <a:t>IOS IPS also supports logging to send event notification. </a:t>
            </a:r>
          </a:p>
          <a:p>
            <a:pPr lvl="1"/>
            <a:r>
              <a:rPr lang="en-US" sz="2000" dirty="0"/>
              <a:t>SDEE and logging can be used independently or simultaneously. </a:t>
            </a:r>
          </a:p>
          <a:p>
            <a:pPr lvl="1"/>
            <a:r>
              <a:rPr lang="en-US" sz="2000" dirty="0"/>
              <a:t>Logging notification is enabled by default. </a:t>
            </a:r>
          </a:p>
          <a:p>
            <a:pPr lvl="1"/>
            <a:r>
              <a:rPr lang="en-US" sz="2000" dirty="0"/>
              <a:t>Use the</a:t>
            </a:r>
            <a:r>
              <a:rPr lang="en-US" sz="2000" b="1" dirty="0"/>
              <a:t> </a:t>
            </a:r>
            <a:r>
              <a:rPr lang="en-US" sz="2000" b="1" dirty="0" err="1"/>
              <a:t>ip</a:t>
            </a:r>
            <a:r>
              <a:rPr lang="en-US" sz="2000" b="1" dirty="0"/>
              <a:t> </a:t>
            </a:r>
            <a:r>
              <a:rPr lang="en-US" sz="2000" b="1" dirty="0" err="1"/>
              <a:t>ips</a:t>
            </a:r>
            <a:r>
              <a:rPr lang="en-US" sz="2000" b="1" dirty="0"/>
              <a:t> notify log </a:t>
            </a:r>
            <a:r>
              <a:rPr lang="en-US" sz="2000" dirty="0"/>
              <a:t>command to </a:t>
            </a:r>
            <a:r>
              <a:rPr lang="en-US" dirty="0"/>
              <a:t>enable logging. </a:t>
            </a:r>
          </a:p>
          <a:p>
            <a:pPr marL="342900" lvl="1" indent="0">
              <a:buNone/>
            </a:pPr>
            <a:endParaRPr lang="en-SG" dirty="0"/>
          </a:p>
        </p:txBody>
      </p:sp>
      <p:sp>
        <p:nvSpPr>
          <p:cNvPr id="4" name="Slide Number Placeholder 3"/>
          <p:cNvSpPr>
            <a:spLocks noGrp="1"/>
          </p:cNvSpPr>
          <p:nvPr>
            <p:ph type="sldNum" sz="quarter" idx="12"/>
          </p:nvPr>
        </p:nvSpPr>
        <p:spPr/>
        <p:txBody>
          <a:bodyPr/>
          <a:lstStyle/>
          <a:p>
            <a:fld id="{BFED3573-B3DD-4682-880B-EB337D5E1BDE}" type="slidenum">
              <a:rPr lang="en-US" smtClean="0"/>
              <a:pPr/>
              <a:t>34</a:t>
            </a:fld>
            <a:endParaRPr lang="en-US"/>
          </a:p>
        </p:txBody>
      </p:sp>
      <p:sp>
        <p:nvSpPr>
          <p:cNvPr id="5" name="Rectangle 5"/>
          <p:cNvSpPr>
            <a:spLocks noChangeArrowheads="1"/>
          </p:cNvSpPr>
          <p:nvPr/>
        </p:nvSpPr>
        <p:spPr bwMode="auto">
          <a:xfrm>
            <a:off x="1066800" y="4724400"/>
            <a:ext cx="7088187" cy="901785"/>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http server </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notify </a:t>
            </a:r>
            <a:r>
              <a:rPr lang="en-US" sz="1200" dirty="0" err="1">
                <a:solidFill>
                  <a:schemeClr val="bg1"/>
                </a:solidFill>
                <a:latin typeface="Courier New" charset="0"/>
              </a:rPr>
              <a:t>sdee</a:t>
            </a:r>
            <a:endParaRPr lang="en-US" sz="1200" dirty="0">
              <a:solidFill>
                <a:schemeClr val="bg1"/>
              </a:solidFill>
              <a:latin typeface="Courier New" charset="0"/>
            </a:endParaRP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notify log</a:t>
            </a:r>
          </a:p>
          <a:p>
            <a:pPr>
              <a:lnSpc>
                <a:spcPct val="110000"/>
              </a:lnSpc>
            </a:pPr>
            <a:r>
              <a:rPr lang="en-US" sz="1200" b="0" dirty="0">
                <a:solidFill>
                  <a:schemeClr val="bg1"/>
                </a:solidFill>
                <a:latin typeface="Courier New" charset="0"/>
              </a:rPr>
              <a:t>R1(config)#  </a:t>
            </a:r>
          </a:p>
        </p:txBody>
      </p:sp>
      <p:sp>
        <p:nvSpPr>
          <p:cNvPr id="6" name="Rectangle 2"/>
          <p:cNvSpPr>
            <a:spLocks noGrp="1" noChangeArrowheads="1"/>
          </p:cNvSpPr>
          <p:nvPr>
            <p:ph type="title"/>
          </p:nvPr>
        </p:nvSpPr>
        <p:spPr>
          <a:xfrm>
            <a:off x="628650" y="365126"/>
            <a:ext cx="7886700" cy="1325563"/>
          </a:xfrm>
        </p:spPr>
        <p:txBody>
          <a:bodyPr>
            <a:normAutofit/>
          </a:bodyPr>
          <a:lstStyle/>
          <a:p>
            <a:pPr marL="609600" indent="-609600" eaLnBrk="1" hangingPunct="1"/>
            <a:r>
              <a:rPr lang="en-US" sz="4000" dirty="0"/>
              <a:t>4b. Enable IOS IPS</a:t>
            </a:r>
          </a:p>
        </p:txBody>
      </p:sp>
    </p:spTree>
    <p:extLst>
      <p:ext uri="{BB962C8B-B14F-4D97-AF65-F5344CB8AC3E}">
        <p14:creationId xmlns:p14="http://schemas.microsoft.com/office/powerpoint/2010/main" val="863963359"/>
      </p:ext>
    </p:extLst>
  </p:cSld>
  <p:clrMapOvr>
    <a:masterClrMapping/>
  </p:clrMapOvr>
  <p:transition spd="med">
    <p:comb/>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663054" y="304800"/>
            <a:ext cx="7886700" cy="1325563"/>
          </a:xfrm>
        </p:spPr>
        <p:txBody>
          <a:bodyPr>
            <a:normAutofit/>
          </a:bodyPr>
          <a:lstStyle/>
          <a:p>
            <a:pPr marL="609600" indent="-609600" eaLnBrk="1" hangingPunct="1"/>
            <a:r>
              <a:rPr lang="en-US" sz="4000" dirty="0"/>
              <a:t>4c. Configure the Signature Category</a:t>
            </a:r>
          </a:p>
        </p:txBody>
      </p:sp>
      <p:sp>
        <p:nvSpPr>
          <p:cNvPr id="94211" name="Rectangle 3"/>
          <p:cNvSpPr>
            <a:spLocks noGrp="1" noChangeArrowheads="1"/>
          </p:cNvSpPr>
          <p:nvPr>
            <p:ph idx="1"/>
          </p:nvPr>
        </p:nvSpPr>
        <p:spPr>
          <a:xfrm>
            <a:off x="685800" y="1630364"/>
            <a:ext cx="8095342" cy="4675082"/>
          </a:xfrm>
        </p:spPr>
        <p:txBody>
          <a:bodyPr>
            <a:normAutofit/>
          </a:bodyPr>
          <a:lstStyle/>
          <a:p>
            <a:r>
              <a:rPr lang="en-US" sz="2800" dirty="0"/>
              <a:t>All signatures are grouped into three common categories:</a:t>
            </a:r>
          </a:p>
          <a:p>
            <a:pPr lvl="1"/>
            <a:r>
              <a:rPr lang="en-US" sz="2000" dirty="0"/>
              <a:t>All</a:t>
            </a:r>
          </a:p>
          <a:p>
            <a:pPr lvl="1"/>
            <a:r>
              <a:rPr lang="en-US" sz="2000" dirty="0"/>
              <a:t>Basic</a:t>
            </a:r>
          </a:p>
          <a:p>
            <a:pPr lvl="1"/>
            <a:r>
              <a:rPr lang="en-US" sz="2000" dirty="0"/>
              <a:t>Advanced</a:t>
            </a:r>
          </a:p>
          <a:p>
            <a:r>
              <a:rPr lang="en-US" sz="2800" dirty="0"/>
              <a:t>Signature Categories and Signatures that IOS IPS uses to scan traffic can be retired or unretired. </a:t>
            </a:r>
          </a:p>
          <a:p>
            <a:pPr lvl="1"/>
            <a:r>
              <a:rPr lang="en-US" sz="2400" dirty="0"/>
              <a:t>Retired means that IOS IPS does not compile that signature into memory. </a:t>
            </a:r>
          </a:p>
          <a:p>
            <a:pPr lvl="1"/>
            <a:r>
              <a:rPr lang="en-US" sz="2400" dirty="0"/>
              <a:t>Unretired instructs the IOS IPS to compile the signature into memory and use it to scan traffic. </a:t>
            </a:r>
          </a:p>
          <a:p>
            <a:pPr lvl="1"/>
            <a:endParaRPr lang="en-US" sz="2400" dirty="0"/>
          </a:p>
        </p:txBody>
      </p:sp>
    </p:spTree>
    <p:extLst>
      <p:ext uri="{BB962C8B-B14F-4D97-AF65-F5344CB8AC3E}">
        <p14:creationId xmlns:p14="http://schemas.microsoft.com/office/powerpoint/2010/main" val="375159299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628650" y="365127"/>
            <a:ext cx="7886700" cy="1082674"/>
          </a:xfrm>
        </p:spPr>
        <p:txBody>
          <a:bodyPr>
            <a:normAutofit/>
          </a:bodyPr>
          <a:lstStyle/>
          <a:p>
            <a:pPr marL="609600" indent="-609600" eaLnBrk="1" hangingPunct="1"/>
            <a:r>
              <a:rPr lang="en-US" sz="4000" dirty="0"/>
              <a:t>4c. Configure the Signature Category</a:t>
            </a:r>
          </a:p>
        </p:txBody>
      </p:sp>
      <p:sp>
        <p:nvSpPr>
          <p:cNvPr id="95235" name="Rectangle 6"/>
          <p:cNvSpPr>
            <a:spLocks noGrp="1" noChangeArrowheads="1"/>
          </p:cNvSpPr>
          <p:nvPr>
            <p:ph idx="1"/>
          </p:nvPr>
        </p:nvSpPr>
        <p:spPr>
          <a:xfrm>
            <a:off x="776288" y="1219200"/>
            <a:ext cx="8004854" cy="5086245"/>
          </a:xfrm>
        </p:spPr>
        <p:txBody>
          <a:bodyPr>
            <a:normAutofit/>
          </a:bodyPr>
          <a:lstStyle/>
          <a:p>
            <a:r>
              <a:rPr lang="en-US" sz="2800" dirty="0"/>
              <a:t>When IOS IPS is first configured, all signatures in the</a:t>
            </a:r>
            <a:r>
              <a:rPr lang="en-US" sz="2800" b="1" dirty="0"/>
              <a:t> all </a:t>
            </a:r>
            <a:r>
              <a:rPr lang="en-US" sz="2800" dirty="0"/>
              <a:t>category should be retired, and then selected signatures should be unretired in a less memory-intensive category. </a:t>
            </a:r>
          </a:p>
          <a:p>
            <a:pPr lvl="1"/>
            <a:r>
              <a:rPr lang="en-US" sz="2400" dirty="0"/>
              <a:t>To retire and unretired signatures, first enter IPS category mode using the</a:t>
            </a:r>
            <a:r>
              <a:rPr lang="en-US" sz="2400" b="1" dirty="0"/>
              <a:t> </a:t>
            </a:r>
            <a:r>
              <a:rPr lang="en-US" sz="2400" b="1" dirty="0" err="1"/>
              <a:t>ip</a:t>
            </a:r>
            <a:r>
              <a:rPr lang="en-US" sz="2400" b="1" dirty="0"/>
              <a:t> </a:t>
            </a:r>
            <a:r>
              <a:rPr lang="en-US" sz="2400" b="1" dirty="0" err="1"/>
              <a:t>ips</a:t>
            </a:r>
            <a:r>
              <a:rPr lang="en-US" sz="2400" b="1" dirty="0"/>
              <a:t> signature-category </a:t>
            </a:r>
            <a:r>
              <a:rPr lang="en-US" sz="2400" dirty="0"/>
              <a:t>command. </a:t>
            </a:r>
          </a:p>
          <a:p>
            <a:pPr lvl="1"/>
            <a:r>
              <a:rPr lang="en-US" sz="2400" dirty="0"/>
              <a:t>Next use the</a:t>
            </a:r>
            <a:r>
              <a:rPr lang="en-US" sz="2400" b="1" dirty="0"/>
              <a:t> category </a:t>
            </a:r>
            <a:r>
              <a:rPr lang="en-US" sz="2400" i="1" dirty="0"/>
              <a:t>category-name</a:t>
            </a:r>
            <a:r>
              <a:rPr lang="en-US" sz="2400" b="1" dirty="0"/>
              <a:t> </a:t>
            </a:r>
            <a:r>
              <a:rPr lang="en-US" sz="2400" dirty="0"/>
              <a:t>command to change a category.</a:t>
            </a:r>
          </a:p>
        </p:txBody>
      </p:sp>
      <p:sp>
        <p:nvSpPr>
          <p:cNvPr id="95237" name="Rectangle 8"/>
          <p:cNvSpPr>
            <a:spLocks noChangeArrowheads="1"/>
          </p:cNvSpPr>
          <p:nvPr/>
        </p:nvSpPr>
        <p:spPr bwMode="auto">
          <a:xfrm>
            <a:off x="1234621" y="4419600"/>
            <a:ext cx="7088187" cy="2323713"/>
          </a:xfrm>
          <a:prstGeom prst="rect">
            <a:avLst/>
          </a:prstGeom>
          <a:solidFill>
            <a:schemeClr val="tx1"/>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signature-category</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 </a:t>
            </a:r>
            <a:r>
              <a:rPr lang="en-US" sz="1200" dirty="0">
                <a:solidFill>
                  <a:schemeClr val="bg1"/>
                </a:solidFill>
                <a:latin typeface="Courier New" charset="0"/>
              </a:rPr>
              <a:t>category all</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-category-action)# </a:t>
            </a:r>
            <a:r>
              <a:rPr lang="en-US" sz="1200" dirty="0">
                <a:solidFill>
                  <a:schemeClr val="bg1"/>
                </a:solidFill>
                <a:latin typeface="Courier New" charset="0"/>
              </a:rPr>
              <a:t>retired true</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-category-action)# </a:t>
            </a:r>
            <a:r>
              <a:rPr lang="en-US" sz="1200" dirty="0">
                <a:solidFill>
                  <a:schemeClr val="bg1"/>
                </a:solidFill>
                <a:latin typeface="Courier New" charset="0"/>
              </a:rPr>
              <a:t>exit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 </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 </a:t>
            </a:r>
            <a:r>
              <a:rPr lang="en-US" sz="1200" dirty="0">
                <a:solidFill>
                  <a:schemeClr val="bg1"/>
                </a:solidFill>
                <a:latin typeface="Courier New" charset="0"/>
              </a:rPr>
              <a:t>category IOSIPS basic</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-category-action)# </a:t>
            </a:r>
            <a:r>
              <a:rPr lang="en-US" sz="1200" dirty="0">
                <a:solidFill>
                  <a:schemeClr val="bg1"/>
                </a:solidFill>
                <a:latin typeface="Courier New" charset="0"/>
              </a:rPr>
              <a:t>retired false</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-category-action)# </a:t>
            </a:r>
            <a:r>
              <a:rPr lang="en-US" sz="1200" dirty="0">
                <a:solidFill>
                  <a:schemeClr val="bg1"/>
                </a:solidFill>
                <a:latin typeface="Courier New" charset="0"/>
              </a:rPr>
              <a:t>exit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r>
              <a:rPr lang="en-US" sz="1200" b="0" dirty="0" err="1">
                <a:solidFill>
                  <a:schemeClr val="bg1"/>
                </a:solidFill>
                <a:latin typeface="Courier New" charset="0"/>
              </a:rPr>
              <a:t>ips</a:t>
            </a:r>
            <a:r>
              <a:rPr lang="en-US" sz="1200" b="0" dirty="0">
                <a:solidFill>
                  <a:schemeClr val="bg1"/>
                </a:solidFill>
                <a:latin typeface="Courier New" charset="0"/>
              </a:rPr>
              <a:t>-category)# </a:t>
            </a:r>
            <a:r>
              <a:rPr lang="en-US" sz="1200" dirty="0">
                <a:solidFill>
                  <a:schemeClr val="bg1"/>
                </a:solidFill>
                <a:latin typeface="Courier New" charset="0"/>
              </a:rPr>
              <a:t>exit</a:t>
            </a:r>
          </a:p>
          <a:p>
            <a:pPr>
              <a:lnSpc>
                <a:spcPct val="110000"/>
              </a:lnSpc>
            </a:pPr>
            <a:r>
              <a:rPr lang="en-US" sz="1200" b="0" dirty="0">
                <a:solidFill>
                  <a:schemeClr val="bg1"/>
                </a:solidFill>
                <a:latin typeface="Courier New" charset="0"/>
              </a:rPr>
              <a:t>Do you want to accept these changes? [confirm] </a:t>
            </a:r>
            <a:r>
              <a:rPr lang="en-US" sz="1200" dirty="0">
                <a:solidFill>
                  <a:schemeClr val="bg1"/>
                </a:solidFill>
                <a:latin typeface="Courier New" charset="0"/>
              </a:rPr>
              <a:t>y</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a:t>
            </a:r>
          </a:p>
        </p:txBody>
      </p:sp>
    </p:spTree>
    <p:extLst>
      <p:ext uri="{BB962C8B-B14F-4D97-AF65-F5344CB8AC3E}">
        <p14:creationId xmlns:p14="http://schemas.microsoft.com/office/powerpoint/2010/main" val="319020335"/>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ormAutofit/>
          </a:bodyPr>
          <a:lstStyle/>
          <a:p>
            <a:pPr eaLnBrk="1" hangingPunct="1"/>
            <a:r>
              <a:rPr lang="en-US" sz="4000" dirty="0"/>
              <a:t>4d. Configure the Signature Category</a:t>
            </a:r>
          </a:p>
        </p:txBody>
      </p:sp>
      <p:sp>
        <p:nvSpPr>
          <p:cNvPr id="96259" name="Rectangle 3"/>
          <p:cNvSpPr>
            <a:spLocks noGrp="1" noChangeArrowheads="1"/>
          </p:cNvSpPr>
          <p:nvPr>
            <p:ph idx="1"/>
          </p:nvPr>
        </p:nvSpPr>
        <p:spPr>
          <a:xfrm>
            <a:off x="776288" y="1600200"/>
            <a:ext cx="8004854" cy="4705245"/>
          </a:xfrm>
        </p:spPr>
        <p:txBody>
          <a:bodyPr>
            <a:normAutofit/>
          </a:bodyPr>
          <a:lstStyle/>
          <a:p>
            <a:r>
              <a:rPr lang="en-US" sz="2800" dirty="0"/>
              <a:t>Apply the IPS rule to a desired interface, and specify the direction.</a:t>
            </a:r>
          </a:p>
          <a:p>
            <a:r>
              <a:rPr lang="en-US" sz="2800" dirty="0"/>
              <a:t>Use the</a:t>
            </a:r>
            <a:r>
              <a:rPr lang="en-US" sz="2800" b="1" dirty="0"/>
              <a:t> </a:t>
            </a:r>
            <a:r>
              <a:rPr lang="en-US" sz="2800" b="1" dirty="0" err="1"/>
              <a:t>ip</a:t>
            </a:r>
            <a:r>
              <a:rPr lang="en-US" sz="2800" b="1" dirty="0"/>
              <a:t> </a:t>
            </a:r>
            <a:r>
              <a:rPr lang="en-US" sz="2800" b="1" dirty="0" err="1"/>
              <a:t>ips</a:t>
            </a:r>
            <a:r>
              <a:rPr lang="en-US" sz="2800" b="1" dirty="0"/>
              <a:t> </a:t>
            </a:r>
            <a:r>
              <a:rPr lang="en-US" sz="2800" i="1" dirty="0"/>
              <a:t>rule-name </a:t>
            </a:r>
            <a:r>
              <a:rPr lang="en-US" sz="2800" b="1" dirty="0"/>
              <a:t>[in | out] </a:t>
            </a:r>
            <a:r>
              <a:rPr lang="en-US" sz="2800" dirty="0"/>
              <a:t>interface configuration command to apply the IPS rule. </a:t>
            </a:r>
          </a:p>
          <a:p>
            <a:pPr lvl="1"/>
            <a:r>
              <a:rPr lang="en-US" sz="2400" dirty="0"/>
              <a:t>The</a:t>
            </a:r>
            <a:r>
              <a:rPr lang="en-US" sz="2400" b="1" dirty="0"/>
              <a:t> in </a:t>
            </a:r>
            <a:r>
              <a:rPr lang="en-US" sz="2400" dirty="0"/>
              <a:t>argument means that only traffic going into the interface is inspected by IPS. </a:t>
            </a:r>
          </a:p>
          <a:p>
            <a:pPr lvl="1"/>
            <a:r>
              <a:rPr lang="en-US" sz="2400" dirty="0"/>
              <a:t>The</a:t>
            </a:r>
            <a:r>
              <a:rPr lang="en-US" sz="2400" b="1" dirty="0"/>
              <a:t> out </a:t>
            </a:r>
            <a:r>
              <a:rPr lang="en-US" sz="2400" dirty="0"/>
              <a:t>argument specifies that only traffic going out of the interface is inspected.</a:t>
            </a:r>
          </a:p>
        </p:txBody>
      </p:sp>
      <p:sp>
        <p:nvSpPr>
          <p:cNvPr id="5" name="Rectangle 8"/>
          <p:cNvSpPr>
            <a:spLocks noChangeArrowheads="1"/>
          </p:cNvSpPr>
          <p:nvPr/>
        </p:nvSpPr>
        <p:spPr bwMode="auto">
          <a:xfrm>
            <a:off x="1234621" y="5163993"/>
            <a:ext cx="7088188" cy="1104918"/>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a:solidFill>
                  <a:schemeClr val="bg1"/>
                </a:solidFill>
                <a:latin typeface="Courier New" charset="0"/>
              </a:rPr>
              <a:t>interface </a:t>
            </a:r>
            <a:r>
              <a:rPr lang="en-US" sz="1200" dirty="0" err="1">
                <a:solidFill>
                  <a:schemeClr val="bg1"/>
                </a:solidFill>
                <a:latin typeface="Courier New" charset="0"/>
              </a:rPr>
              <a:t>GigabitEthernet</a:t>
            </a:r>
            <a:r>
              <a:rPr lang="en-US" sz="1200" dirty="0">
                <a:solidFill>
                  <a:schemeClr val="bg1"/>
                </a:solidFill>
                <a:latin typeface="Courier New" charset="0"/>
              </a:rPr>
              <a:t> 0/1</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-if)#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IOSIPS in</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-if)#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IOSIPS out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-if)# </a:t>
            </a:r>
            <a:r>
              <a:rPr lang="en-US" sz="1200" dirty="0">
                <a:solidFill>
                  <a:schemeClr val="bg1"/>
                </a:solidFill>
                <a:latin typeface="Courier New" charset="0"/>
              </a:rPr>
              <a:t>exit</a:t>
            </a:r>
          </a:p>
          <a:p>
            <a:pPr>
              <a:lnSpc>
                <a:spcPct val="110000"/>
              </a:lnSpc>
            </a:pPr>
            <a:r>
              <a:rPr lang="en-US" sz="1200" b="0" dirty="0">
                <a:solidFill>
                  <a:schemeClr val="bg1"/>
                </a:solidFill>
                <a:latin typeface="Courier New" charset="0"/>
              </a:rPr>
              <a:t>R1(</a:t>
            </a:r>
            <a:r>
              <a:rPr lang="en-US" sz="1200" b="0" dirty="0" err="1">
                <a:solidFill>
                  <a:schemeClr val="bg1"/>
                </a:solidFill>
                <a:latin typeface="Courier New" charset="0"/>
              </a:rPr>
              <a:t>config</a:t>
            </a:r>
            <a:r>
              <a:rPr lang="en-US" sz="1200" b="0" dirty="0">
                <a:solidFill>
                  <a:schemeClr val="bg1"/>
                </a:solidFill>
                <a:latin typeface="Courier New" charset="0"/>
              </a:rPr>
              <a:t>)# </a:t>
            </a:r>
            <a:r>
              <a:rPr lang="en-US" sz="1200" dirty="0">
                <a:solidFill>
                  <a:schemeClr val="bg1"/>
                </a:solidFill>
                <a:latin typeface="Courier New" charset="0"/>
              </a:rPr>
              <a:t>exit</a:t>
            </a:r>
          </a:p>
        </p:txBody>
      </p:sp>
    </p:spTree>
    <p:extLst>
      <p:ext uri="{BB962C8B-B14F-4D97-AF65-F5344CB8AC3E}">
        <p14:creationId xmlns:p14="http://schemas.microsoft.com/office/powerpoint/2010/main" val="279255799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normAutofit/>
          </a:bodyPr>
          <a:lstStyle/>
          <a:p>
            <a:pPr marL="609600" indent="-609600" eaLnBrk="1" hangingPunct="1"/>
            <a:r>
              <a:rPr lang="en-US" sz="4000" dirty="0"/>
              <a:t>5. Load the IOS IPS signature</a:t>
            </a:r>
          </a:p>
        </p:txBody>
      </p:sp>
      <p:sp>
        <p:nvSpPr>
          <p:cNvPr id="98307" name="Rectangle 3"/>
          <p:cNvSpPr>
            <a:spLocks noGrp="1" noChangeArrowheads="1"/>
          </p:cNvSpPr>
          <p:nvPr>
            <p:ph idx="1"/>
          </p:nvPr>
        </p:nvSpPr>
        <p:spPr>
          <a:xfrm>
            <a:off x="809691" y="1295400"/>
            <a:ext cx="7971451" cy="5010045"/>
          </a:xfrm>
        </p:spPr>
        <p:txBody>
          <a:bodyPr>
            <a:normAutofit/>
          </a:bodyPr>
          <a:lstStyle/>
          <a:p>
            <a:r>
              <a:rPr lang="en-US" sz="2400" dirty="0"/>
              <a:t>Load the signature package (IOS-</a:t>
            </a:r>
            <a:r>
              <a:rPr lang="en-US" sz="2400" dirty="0" err="1"/>
              <a:t>Sxxx</a:t>
            </a:r>
            <a:r>
              <a:rPr lang="en-US" sz="2400" dirty="0"/>
              <a:t>-</a:t>
            </a:r>
            <a:r>
              <a:rPr lang="en-US" sz="2400" dirty="0" err="1"/>
              <a:t>CLI.pkg</a:t>
            </a:r>
            <a:r>
              <a:rPr lang="en-US" sz="2400" dirty="0"/>
              <a:t>) to the router using either FTP or TFTP. </a:t>
            </a:r>
          </a:p>
          <a:p>
            <a:pPr lvl="1"/>
            <a:r>
              <a:rPr lang="en-US" sz="2000" dirty="0"/>
              <a:t>To copy the downloaded signature package from the FTP server to the router, make sure to use the</a:t>
            </a:r>
            <a:r>
              <a:rPr lang="en-US" sz="2000" b="1" dirty="0"/>
              <a:t> </a:t>
            </a:r>
            <a:r>
              <a:rPr lang="en-US" sz="2000" b="1" dirty="0" err="1"/>
              <a:t>idconf</a:t>
            </a:r>
            <a:r>
              <a:rPr lang="en-US" sz="2000" b="1" dirty="0"/>
              <a:t> </a:t>
            </a:r>
            <a:r>
              <a:rPr lang="en-US" sz="2000" dirty="0"/>
              <a:t>parameter at the end of the command.</a:t>
            </a:r>
          </a:p>
          <a:p>
            <a:pPr lvl="1"/>
            <a:r>
              <a:rPr lang="en-US" b="1" dirty="0"/>
              <a:t>copy ftp://</a:t>
            </a:r>
            <a:r>
              <a:rPr lang="en-US" b="1" dirty="0" err="1"/>
              <a:t>ftp_user:password@Server_IP_address</a:t>
            </a:r>
            <a:r>
              <a:rPr lang="en-US" b="1" dirty="0"/>
              <a:t>/</a:t>
            </a:r>
            <a:r>
              <a:rPr lang="en-US" b="1" dirty="0" err="1"/>
              <a:t>signature_package</a:t>
            </a:r>
            <a:r>
              <a:rPr lang="en-US" b="1" dirty="0"/>
              <a:t> </a:t>
            </a:r>
            <a:r>
              <a:rPr lang="en-US" b="1" dirty="0" err="1"/>
              <a:t>idconf</a:t>
            </a:r>
            <a:endParaRPr lang="en-US" b="1" dirty="0"/>
          </a:p>
        </p:txBody>
      </p:sp>
      <p:sp>
        <p:nvSpPr>
          <p:cNvPr id="4" name="Rectangle 6"/>
          <p:cNvSpPr>
            <a:spLocks noChangeArrowheads="1"/>
          </p:cNvSpPr>
          <p:nvPr/>
        </p:nvSpPr>
        <p:spPr bwMode="auto">
          <a:xfrm>
            <a:off x="936624" y="3810000"/>
            <a:ext cx="7818438" cy="2933110"/>
          </a:xfrm>
          <a:prstGeom prst="rect">
            <a:avLst/>
          </a:prstGeom>
          <a:solidFill>
            <a:schemeClr val="tx1">
              <a:lumMod val="85000"/>
            </a:schemeClr>
          </a:solidFill>
          <a:ln w="12700" cmpd="sng">
            <a:solidFill>
              <a:srgbClr val="000000"/>
            </a:solidFill>
            <a:miter lim="800000"/>
            <a:headEnd/>
            <a:tailEnd/>
          </a:ln>
          <a:extLst/>
        </p:spPr>
        <p:txBody>
          <a:bodyPr wrap="square" lIns="91440" tIns="45720" rIns="91440" bIns="45720">
            <a:spAutoFit/>
          </a:bodyPr>
          <a:lstStyle/>
          <a:p>
            <a:pPr>
              <a:lnSpc>
                <a:spcPct val="110000"/>
              </a:lnSpc>
            </a:pPr>
            <a:r>
              <a:rPr lang="en-US" sz="1200" b="0" dirty="0">
                <a:solidFill>
                  <a:schemeClr val="bg1"/>
                </a:solidFill>
                <a:latin typeface="Courier New" charset="0"/>
              </a:rPr>
              <a:t>R1# </a:t>
            </a:r>
            <a:r>
              <a:rPr lang="en-US" sz="1200" dirty="0">
                <a:solidFill>
                  <a:schemeClr val="bg1"/>
                </a:solidFill>
                <a:latin typeface="Courier New" charset="0"/>
              </a:rPr>
              <a:t>copy ftp://cisco:cisco@10.1.1.1/IOS-S376-CLI.pkg </a:t>
            </a:r>
            <a:r>
              <a:rPr lang="en-US" sz="1200" dirty="0" err="1">
                <a:solidFill>
                  <a:schemeClr val="bg1"/>
                </a:solidFill>
                <a:latin typeface="Courier New" charset="0"/>
              </a:rPr>
              <a:t>idconf</a:t>
            </a:r>
            <a:endParaRPr lang="en-US" sz="1200" dirty="0">
              <a:solidFill>
                <a:schemeClr val="bg1"/>
              </a:solidFill>
              <a:latin typeface="Courier New" charset="0"/>
            </a:endParaRPr>
          </a:p>
          <a:p>
            <a:pPr>
              <a:lnSpc>
                <a:spcPct val="110000"/>
              </a:lnSpc>
            </a:pPr>
            <a:r>
              <a:rPr lang="en-US" sz="1200" b="0" dirty="0">
                <a:solidFill>
                  <a:schemeClr val="bg1"/>
                </a:solidFill>
                <a:latin typeface="Courier New" charset="0"/>
              </a:rPr>
              <a:t>Loading IOS-S310-CLI.pkg !!!!!!!!!!!!!!!!!!!!!!!!!!!!!!</a:t>
            </a:r>
          </a:p>
          <a:p>
            <a:pPr>
              <a:lnSpc>
                <a:spcPct val="110000"/>
              </a:lnSpc>
            </a:pPr>
            <a:r>
              <a:rPr lang="en-US" sz="1200" b="0" dirty="0">
                <a:solidFill>
                  <a:schemeClr val="bg1"/>
                </a:solidFill>
                <a:latin typeface="Courier New" charset="0"/>
              </a:rPr>
              <a:t>[OK - 7608873/4096 bytes]</a:t>
            </a:r>
          </a:p>
          <a:p>
            <a:pPr>
              <a:lnSpc>
                <a:spcPct val="110000"/>
              </a:lnSpc>
            </a:pPr>
            <a:r>
              <a:rPr lang="en-US" sz="1200" b="0" dirty="0">
                <a:solidFill>
                  <a:schemeClr val="bg1"/>
                </a:solidFill>
                <a:latin typeface="Courier New" charset="0"/>
              </a:rPr>
              <a:t>*Jan 15 16:44:47 PST: %IPS-6-ENGINE_BUILDS_STARTED: 16:44:47 PST Jan 15 2008</a:t>
            </a:r>
          </a:p>
          <a:p>
            <a:pPr>
              <a:lnSpc>
                <a:spcPct val="110000"/>
              </a:lnSpc>
            </a:pPr>
            <a:r>
              <a:rPr lang="en-US" sz="1200" b="0" dirty="0">
                <a:solidFill>
                  <a:schemeClr val="bg1"/>
                </a:solidFill>
                <a:latin typeface="Courier New" charset="0"/>
              </a:rPr>
              <a:t>*Jan 15 16:44:47 PST: %IPS-6-ENGINE_BUILDING: multi-string - 8 signatures - 1 of 13 engines</a:t>
            </a:r>
          </a:p>
          <a:p>
            <a:pPr>
              <a:lnSpc>
                <a:spcPct val="110000"/>
              </a:lnSpc>
            </a:pPr>
            <a:r>
              <a:rPr lang="en-US" sz="1200" b="0" dirty="0">
                <a:solidFill>
                  <a:schemeClr val="bg1"/>
                </a:solidFill>
                <a:latin typeface="Courier New" charset="0"/>
              </a:rPr>
              <a:t>*Jan 15 16:44:47 PST: %IPS-6-ENGINE_READY: multi-string - build time 4 </a:t>
            </a:r>
            <a:r>
              <a:rPr lang="en-US" sz="1200" b="0" dirty="0" err="1">
                <a:solidFill>
                  <a:schemeClr val="bg1"/>
                </a:solidFill>
                <a:latin typeface="Courier New" charset="0"/>
              </a:rPr>
              <a:t>ms</a:t>
            </a:r>
            <a:r>
              <a:rPr lang="en-US" sz="1200" b="0" dirty="0">
                <a:solidFill>
                  <a:schemeClr val="bg1"/>
                </a:solidFill>
                <a:latin typeface="Courier New" charset="0"/>
              </a:rPr>
              <a:t> - packets for this engine will be scanned</a:t>
            </a:r>
          </a:p>
          <a:p>
            <a:pPr>
              <a:lnSpc>
                <a:spcPct val="110000"/>
              </a:lnSpc>
            </a:pPr>
            <a:r>
              <a:rPr lang="en-US" sz="1200" b="0" dirty="0">
                <a:solidFill>
                  <a:schemeClr val="bg1"/>
                </a:solidFill>
                <a:latin typeface="Courier New" charset="0"/>
              </a:rPr>
              <a:t>*Jan 15 16:44:47 PST: %IPS-6-ENGINE_BUILDING: service-http - 622 signatures - 2 of 13 engines</a:t>
            </a:r>
          </a:p>
          <a:p>
            <a:pPr>
              <a:lnSpc>
                <a:spcPct val="110000"/>
              </a:lnSpc>
            </a:pPr>
            <a:r>
              <a:rPr lang="en-US" sz="1200" b="0" dirty="0">
                <a:solidFill>
                  <a:schemeClr val="bg1"/>
                </a:solidFill>
                <a:latin typeface="Courier New" charset="0"/>
              </a:rPr>
              <a:t>*Jan 15 16:44:53 PST: %IPS-6-ENGINE_READY: service-http - build time 6024 </a:t>
            </a:r>
            <a:r>
              <a:rPr lang="en-US" sz="1200" b="0" dirty="0" err="1">
                <a:solidFill>
                  <a:schemeClr val="bg1"/>
                </a:solidFill>
                <a:latin typeface="Courier New" charset="0"/>
              </a:rPr>
              <a:t>ms</a:t>
            </a:r>
            <a:r>
              <a:rPr lang="en-US" sz="1200" b="0" dirty="0">
                <a:solidFill>
                  <a:schemeClr val="bg1"/>
                </a:solidFill>
                <a:latin typeface="Courier New" charset="0"/>
              </a:rPr>
              <a:t> - packets for this engine will be scanned</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&lt;Output omitted&gt;</a:t>
            </a:r>
          </a:p>
        </p:txBody>
      </p:sp>
    </p:spTree>
    <p:extLst>
      <p:ext uri="{BB962C8B-B14F-4D97-AF65-F5344CB8AC3E}">
        <p14:creationId xmlns:p14="http://schemas.microsoft.com/office/powerpoint/2010/main" val="422760409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ormAutofit/>
          </a:bodyPr>
          <a:lstStyle/>
          <a:p>
            <a:pPr marL="609600" indent="-609600" eaLnBrk="1" hangingPunct="1"/>
            <a:r>
              <a:rPr lang="en-US" sz="4000" dirty="0"/>
              <a:t>5. Load the IOS IPS signature</a:t>
            </a:r>
          </a:p>
        </p:txBody>
      </p:sp>
      <p:sp>
        <p:nvSpPr>
          <p:cNvPr id="100355" name="Rectangle 3"/>
          <p:cNvSpPr>
            <a:spLocks noGrp="1" noChangeArrowheads="1"/>
          </p:cNvSpPr>
          <p:nvPr>
            <p:ph idx="1"/>
          </p:nvPr>
        </p:nvSpPr>
        <p:spPr>
          <a:xfrm>
            <a:off x="776288" y="1447800"/>
            <a:ext cx="8004854" cy="4857645"/>
          </a:xfrm>
        </p:spPr>
        <p:txBody>
          <a:bodyPr>
            <a:normAutofit/>
          </a:bodyPr>
          <a:lstStyle/>
          <a:p>
            <a:r>
              <a:rPr lang="en-US" sz="2400" dirty="0"/>
              <a:t>Verify that the signature package is properly compiled using the</a:t>
            </a:r>
            <a:r>
              <a:rPr lang="en-US" sz="2400" b="1" dirty="0"/>
              <a:t> show </a:t>
            </a:r>
            <a:r>
              <a:rPr lang="en-US" sz="2400" b="1" dirty="0" err="1"/>
              <a:t>ip</a:t>
            </a:r>
            <a:r>
              <a:rPr lang="en-US" sz="2400" b="1" dirty="0"/>
              <a:t> </a:t>
            </a:r>
            <a:r>
              <a:rPr lang="en-US" sz="2400" b="1" dirty="0" err="1"/>
              <a:t>ips</a:t>
            </a:r>
            <a:r>
              <a:rPr lang="en-US" sz="2400" b="1" dirty="0"/>
              <a:t> signature count </a:t>
            </a:r>
            <a:r>
              <a:rPr lang="en-US" sz="2400" dirty="0"/>
              <a:t>command.</a:t>
            </a:r>
          </a:p>
          <a:p>
            <a:endParaRPr lang="en-US" sz="2400" dirty="0"/>
          </a:p>
        </p:txBody>
      </p:sp>
      <p:sp>
        <p:nvSpPr>
          <p:cNvPr id="100357" name="Rectangle 5"/>
          <p:cNvSpPr>
            <a:spLocks noChangeArrowheads="1"/>
          </p:cNvSpPr>
          <p:nvPr/>
        </p:nvSpPr>
        <p:spPr bwMode="auto">
          <a:xfrm>
            <a:off x="1111249" y="2299830"/>
            <a:ext cx="7469188" cy="4558170"/>
          </a:xfrm>
          <a:prstGeom prst="rect">
            <a:avLst/>
          </a:prstGeom>
          <a:solidFill>
            <a:schemeClr val="tx1">
              <a:lumMod val="85000"/>
            </a:schemeClr>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chemeClr val="bg1"/>
                </a:solidFill>
                <a:latin typeface="Courier New" charset="0"/>
              </a:rPr>
              <a:t>R1# </a:t>
            </a:r>
            <a:r>
              <a:rPr lang="en-US" sz="1200" dirty="0">
                <a:solidFill>
                  <a:schemeClr val="bg1"/>
                </a:solidFill>
                <a:latin typeface="Courier New" charset="0"/>
              </a:rPr>
              <a:t>show </a:t>
            </a:r>
            <a:r>
              <a:rPr lang="en-US" sz="1200" dirty="0" err="1">
                <a:solidFill>
                  <a:schemeClr val="bg1"/>
                </a:solidFill>
                <a:latin typeface="Courier New" charset="0"/>
              </a:rPr>
              <a:t>ip</a:t>
            </a:r>
            <a:r>
              <a:rPr lang="en-US" sz="1200" dirty="0">
                <a:solidFill>
                  <a:schemeClr val="bg1"/>
                </a:solidFill>
                <a:latin typeface="Courier New" charset="0"/>
              </a:rPr>
              <a:t> </a:t>
            </a:r>
            <a:r>
              <a:rPr lang="en-US" sz="1200" dirty="0" err="1">
                <a:solidFill>
                  <a:schemeClr val="bg1"/>
                </a:solidFill>
                <a:latin typeface="Courier New" charset="0"/>
              </a:rPr>
              <a:t>ips</a:t>
            </a:r>
            <a:r>
              <a:rPr lang="en-US" sz="1200" dirty="0">
                <a:solidFill>
                  <a:schemeClr val="bg1"/>
                </a:solidFill>
                <a:latin typeface="Courier New" charset="0"/>
              </a:rPr>
              <a:t> signature count</a:t>
            </a:r>
          </a:p>
          <a:p>
            <a:pPr>
              <a:lnSpc>
                <a:spcPct val="110000"/>
              </a:lnSpc>
            </a:pPr>
            <a:r>
              <a:rPr lang="en-US" sz="1200" b="0" dirty="0">
                <a:solidFill>
                  <a:schemeClr val="bg1"/>
                </a:solidFill>
                <a:latin typeface="Courier New" charset="0"/>
              </a:rPr>
              <a:t>Cisco SDF release version S310.0 ← signature package release version</a:t>
            </a:r>
          </a:p>
          <a:p>
            <a:pPr>
              <a:lnSpc>
                <a:spcPct val="110000"/>
              </a:lnSpc>
            </a:pPr>
            <a:r>
              <a:rPr lang="en-US" sz="1200" b="0" dirty="0">
                <a:solidFill>
                  <a:schemeClr val="bg1"/>
                </a:solidFill>
                <a:latin typeface="Courier New" charset="0"/>
              </a:rPr>
              <a:t>Trend SDF release version V0.0</a:t>
            </a:r>
          </a:p>
          <a:p>
            <a:pPr>
              <a:lnSpc>
                <a:spcPct val="110000"/>
              </a:lnSpc>
            </a:pPr>
            <a:r>
              <a:rPr lang="en-US" sz="1200" b="0" dirty="0">
                <a:solidFill>
                  <a:schemeClr val="bg1"/>
                </a:solidFill>
                <a:latin typeface="Courier New" charset="0"/>
              </a:rPr>
              <a:t>Signature Micro-Engine: multi-string: Total Signatures 8</a:t>
            </a:r>
          </a:p>
          <a:p>
            <a:pPr>
              <a:lnSpc>
                <a:spcPct val="110000"/>
              </a:lnSpc>
            </a:pPr>
            <a:r>
              <a:rPr lang="en-US" sz="1200" b="0" dirty="0">
                <a:solidFill>
                  <a:schemeClr val="bg1"/>
                </a:solidFill>
                <a:latin typeface="Courier New" charset="0"/>
              </a:rPr>
              <a:t>multi-string enabled signatures: 8</a:t>
            </a:r>
          </a:p>
          <a:p>
            <a:pPr>
              <a:lnSpc>
                <a:spcPct val="110000"/>
              </a:lnSpc>
            </a:pPr>
            <a:r>
              <a:rPr lang="en-US" sz="1200" b="0" dirty="0">
                <a:solidFill>
                  <a:schemeClr val="bg1"/>
                </a:solidFill>
                <a:latin typeface="Courier New" charset="0"/>
              </a:rPr>
              <a:t>multi-string retired signatures: 8</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mj-lt"/>
              </a:rPr>
              <a:t>&lt;output omitted&gt; </a:t>
            </a:r>
          </a:p>
          <a:p>
            <a:pPr>
              <a:lnSpc>
                <a:spcPct val="110000"/>
              </a:lnSpc>
            </a:pPr>
            <a:endParaRPr lang="en-US" sz="1200" b="0" dirty="0">
              <a:solidFill>
                <a:schemeClr val="bg1"/>
              </a:solidFill>
              <a:latin typeface="Courier New" charset="0"/>
            </a:endParaRPr>
          </a:p>
          <a:p>
            <a:pPr>
              <a:lnSpc>
                <a:spcPct val="110000"/>
              </a:lnSpc>
            </a:pPr>
            <a:r>
              <a:rPr lang="en-US" sz="1200" b="0" dirty="0">
                <a:solidFill>
                  <a:schemeClr val="bg1"/>
                </a:solidFill>
                <a:latin typeface="Courier New" charset="0"/>
              </a:rPr>
              <a:t>Signature Micro-Engine: service-</a:t>
            </a:r>
            <a:r>
              <a:rPr lang="en-US" sz="1200" b="0" dirty="0" err="1">
                <a:solidFill>
                  <a:schemeClr val="bg1"/>
                </a:solidFill>
                <a:latin typeface="Courier New" charset="0"/>
              </a:rPr>
              <a:t>msrpc</a:t>
            </a:r>
            <a:r>
              <a:rPr lang="en-US" sz="1200" b="0" dirty="0">
                <a:solidFill>
                  <a:schemeClr val="bg1"/>
                </a:solidFill>
                <a:latin typeface="Courier New" charset="0"/>
              </a:rPr>
              <a:t>: Total Signatures 25</a:t>
            </a:r>
          </a:p>
          <a:p>
            <a:pPr>
              <a:lnSpc>
                <a:spcPct val="110000"/>
              </a:lnSpc>
            </a:pPr>
            <a:r>
              <a:rPr lang="en-US" sz="1200" b="0" dirty="0">
                <a:solidFill>
                  <a:schemeClr val="bg1"/>
                </a:solidFill>
                <a:latin typeface="Courier New" charset="0"/>
              </a:rPr>
              <a:t>service-</a:t>
            </a:r>
            <a:r>
              <a:rPr lang="en-US" sz="1200" b="0" dirty="0" err="1">
                <a:solidFill>
                  <a:schemeClr val="bg1"/>
                </a:solidFill>
                <a:latin typeface="Courier New" charset="0"/>
              </a:rPr>
              <a:t>msrpc</a:t>
            </a:r>
            <a:r>
              <a:rPr lang="en-US" sz="1200" b="0" dirty="0">
                <a:solidFill>
                  <a:schemeClr val="bg1"/>
                </a:solidFill>
                <a:latin typeface="Courier New" charset="0"/>
              </a:rPr>
              <a:t> enabled signatures: 25</a:t>
            </a:r>
          </a:p>
          <a:p>
            <a:pPr>
              <a:lnSpc>
                <a:spcPct val="110000"/>
              </a:lnSpc>
            </a:pPr>
            <a:r>
              <a:rPr lang="en-US" sz="1200" b="0" dirty="0">
                <a:solidFill>
                  <a:schemeClr val="bg1"/>
                </a:solidFill>
                <a:latin typeface="Courier New" charset="0"/>
              </a:rPr>
              <a:t>service-</a:t>
            </a:r>
            <a:r>
              <a:rPr lang="en-US" sz="1200" b="0" dirty="0" err="1">
                <a:solidFill>
                  <a:schemeClr val="bg1"/>
                </a:solidFill>
                <a:latin typeface="Courier New" charset="0"/>
              </a:rPr>
              <a:t>msrpc</a:t>
            </a:r>
            <a:r>
              <a:rPr lang="en-US" sz="1200" b="0" dirty="0">
                <a:solidFill>
                  <a:schemeClr val="bg1"/>
                </a:solidFill>
                <a:latin typeface="Courier New" charset="0"/>
              </a:rPr>
              <a:t> retired signatures: 18</a:t>
            </a:r>
          </a:p>
          <a:p>
            <a:pPr>
              <a:lnSpc>
                <a:spcPct val="110000"/>
              </a:lnSpc>
            </a:pPr>
            <a:r>
              <a:rPr lang="en-US" sz="1200" b="0" dirty="0">
                <a:solidFill>
                  <a:schemeClr val="bg1"/>
                </a:solidFill>
                <a:latin typeface="Courier New" charset="0"/>
              </a:rPr>
              <a:t>service-</a:t>
            </a:r>
            <a:r>
              <a:rPr lang="en-US" sz="1200" b="0" dirty="0" err="1">
                <a:solidFill>
                  <a:schemeClr val="bg1"/>
                </a:solidFill>
                <a:latin typeface="Courier New" charset="0"/>
              </a:rPr>
              <a:t>msrpc</a:t>
            </a:r>
            <a:r>
              <a:rPr lang="en-US" sz="1200" b="0" dirty="0">
                <a:solidFill>
                  <a:schemeClr val="bg1"/>
                </a:solidFill>
                <a:latin typeface="Courier New" charset="0"/>
              </a:rPr>
              <a:t> compiled signatures: 1</a:t>
            </a:r>
          </a:p>
          <a:p>
            <a:pPr>
              <a:lnSpc>
                <a:spcPct val="110000"/>
              </a:lnSpc>
            </a:pPr>
            <a:r>
              <a:rPr lang="en-US" sz="1200" b="0" dirty="0">
                <a:solidFill>
                  <a:schemeClr val="bg1"/>
                </a:solidFill>
                <a:latin typeface="Courier New" charset="0"/>
              </a:rPr>
              <a:t>service-</a:t>
            </a:r>
            <a:r>
              <a:rPr lang="en-US" sz="1200" b="0" dirty="0" err="1">
                <a:solidFill>
                  <a:schemeClr val="bg1"/>
                </a:solidFill>
                <a:latin typeface="Courier New" charset="0"/>
              </a:rPr>
              <a:t>msrpc</a:t>
            </a:r>
            <a:r>
              <a:rPr lang="en-US" sz="1200" b="0" dirty="0">
                <a:solidFill>
                  <a:schemeClr val="bg1"/>
                </a:solidFill>
                <a:latin typeface="Courier New" charset="0"/>
              </a:rPr>
              <a:t> inactive signatures - invalid </a:t>
            </a:r>
            <a:r>
              <a:rPr lang="en-US" sz="1200" b="0" dirty="0" err="1">
                <a:solidFill>
                  <a:schemeClr val="bg1"/>
                </a:solidFill>
                <a:latin typeface="Courier New" charset="0"/>
              </a:rPr>
              <a:t>params</a:t>
            </a:r>
            <a:r>
              <a:rPr lang="en-US" sz="1200" b="0" dirty="0">
                <a:solidFill>
                  <a:schemeClr val="bg1"/>
                </a:solidFill>
                <a:latin typeface="Courier New" charset="0"/>
              </a:rPr>
              <a:t>: 6</a:t>
            </a:r>
          </a:p>
          <a:p>
            <a:pPr>
              <a:lnSpc>
                <a:spcPct val="110000"/>
              </a:lnSpc>
            </a:pPr>
            <a:r>
              <a:rPr lang="en-US" sz="1200" b="0" dirty="0">
                <a:solidFill>
                  <a:schemeClr val="bg1"/>
                </a:solidFill>
                <a:latin typeface="Courier New" charset="0"/>
              </a:rPr>
              <a:t>Total Signatures: 2136</a:t>
            </a:r>
          </a:p>
          <a:p>
            <a:pPr>
              <a:lnSpc>
                <a:spcPct val="110000"/>
              </a:lnSpc>
            </a:pPr>
            <a:r>
              <a:rPr lang="en-US" sz="1200" b="0" dirty="0">
                <a:solidFill>
                  <a:schemeClr val="bg1"/>
                </a:solidFill>
                <a:latin typeface="Courier New" charset="0"/>
              </a:rPr>
              <a:t>Total Enabled Signatures: 807</a:t>
            </a:r>
          </a:p>
          <a:p>
            <a:pPr>
              <a:lnSpc>
                <a:spcPct val="110000"/>
              </a:lnSpc>
            </a:pPr>
            <a:r>
              <a:rPr lang="en-US" sz="1200" b="0" dirty="0">
                <a:solidFill>
                  <a:schemeClr val="bg1"/>
                </a:solidFill>
                <a:latin typeface="Courier New" charset="0"/>
              </a:rPr>
              <a:t>Total Retired Signatures: 1779</a:t>
            </a:r>
          </a:p>
          <a:p>
            <a:pPr>
              <a:lnSpc>
                <a:spcPct val="110000"/>
              </a:lnSpc>
            </a:pPr>
            <a:r>
              <a:rPr lang="en-US" sz="1200" b="0" dirty="0">
                <a:solidFill>
                  <a:schemeClr val="bg1"/>
                </a:solidFill>
                <a:latin typeface="Courier New" charset="0"/>
              </a:rPr>
              <a:t>Total Compiled Signatures: </a:t>
            </a:r>
          </a:p>
          <a:p>
            <a:pPr>
              <a:lnSpc>
                <a:spcPct val="110000"/>
              </a:lnSpc>
            </a:pPr>
            <a:r>
              <a:rPr lang="en-US" sz="1200" b="0" dirty="0">
                <a:solidFill>
                  <a:schemeClr val="bg1"/>
                </a:solidFill>
                <a:latin typeface="Courier New" charset="0"/>
              </a:rPr>
              <a:t>      351 ← total compiled signatures for the IOS IPS Basic category</a:t>
            </a:r>
          </a:p>
          <a:p>
            <a:pPr>
              <a:lnSpc>
                <a:spcPct val="110000"/>
              </a:lnSpc>
            </a:pPr>
            <a:r>
              <a:rPr lang="en-US" sz="1200" b="0" dirty="0">
                <a:solidFill>
                  <a:schemeClr val="bg1"/>
                </a:solidFill>
                <a:latin typeface="Courier New" charset="0"/>
              </a:rPr>
              <a:t>Total Signatures with invalid parameters: 6</a:t>
            </a:r>
          </a:p>
          <a:p>
            <a:pPr>
              <a:lnSpc>
                <a:spcPct val="110000"/>
              </a:lnSpc>
            </a:pPr>
            <a:r>
              <a:rPr lang="en-US" sz="1200" b="0" dirty="0">
                <a:solidFill>
                  <a:schemeClr val="bg1"/>
                </a:solidFill>
                <a:latin typeface="Courier New" charset="0"/>
              </a:rPr>
              <a:t>Total Obsoleted Signatures: 11</a:t>
            </a:r>
          </a:p>
          <a:p>
            <a:pPr>
              <a:lnSpc>
                <a:spcPct val="110000"/>
              </a:lnSpc>
            </a:pPr>
            <a:r>
              <a:rPr lang="en-US" sz="1200" b="0" dirty="0">
                <a:solidFill>
                  <a:schemeClr val="bg1"/>
                </a:solidFill>
                <a:latin typeface="Courier New" charset="0"/>
              </a:rPr>
              <a:t>R1#</a:t>
            </a:r>
          </a:p>
        </p:txBody>
      </p:sp>
    </p:spTree>
    <p:extLst>
      <p:ext uri="{BB962C8B-B14F-4D97-AF65-F5344CB8AC3E}">
        <p14:creationId xmlns:p14="http://schemas.microsoft.com/office/powerpoint/2010/main" val="422030348"/>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8"/>
          <p:cNvSpPr>
            <a:spLocks noGrp="1" noChangeArrowheads="1"/>
          </p:cNvSpPr>
          <p:nvPr>
            <p:ph type="title"/>
          </p:nvPr>
        </p:nvSpPr>
        <p:spPr/>
        <p:txBody>
          <a:bodyPr>
            <a:normAutofit/>
          </a:bodyPr>
          <a:lstStyle/>
          <a:p>
            <a:pPr eaLnBrk="1" hangingPunct="1"/>
            <a:r>
              <a:rPr lang="en-US" sz="4000" dirty="0"/>
              <a:t>Modifying Signatures</a:t>
            </a:r>
          </a:p>
        </p:txBody>
      </p:sp>
      <p:sp>
        <p:nvSpPr>
          <p:cNvPr id="111619" name="Rectangle 9"/>
          <p:cNvSpPr>
            <a:spLocks noGrp="1" noChangeArrowheads="1"/>
          </p:cNvSpPr>
          <p:nvPr>
            <p:ph idx="1"/>
          </p:nvPr>
        </p:nvSpPr>
        <p:spPr>
          <a:xfrm>
            <a:off x="533400" y="1690689"/>
            <a:ext cx="8247742" cy="4614756"/>
          </a:xfrm>
        </p:spPr>
        <p:txBody>
          <a:bodyPr>
            <a:normAutofit/>
          </a:bodyPr>
          <a:lstStyle/>
          <a:p>
            <a:r>
              <a:rPr lang="en-US" sz="2800" dirty="0"/>
              <a:t>This example shows how to retire individual signatures. </a:t>
            </a:r>
          </a:p>
          <a:p>
            <a:pPr lvl="1"/>
            <a:r>
              <a:rPr lang="en-US" sz="2400" dirty="0"/>
              <a:t>In this example, signature 6130 with </a:t>
            </a:r>
            <a:r>
              <a:rPr lang="en-US" sz="2400" dirty="0" err="1"/>
              <a:t>subsig</a:t>
            </a:r>
            <a:r>
              <a:rPr lang="en-US" sz="2400" dirty="0"/>
              <a:t> ID of 10 is retired.</a:t>
            </a:r>
          </a:p>
        </p:txBody>
      </p:sp>
      <p:sp>
        <p:nvSpPr>
          <p:cNvPr id="111621" name="Rectangle 4"/>
          <p:cNvSpPr>
            <a:spLocks noChangeArrowheads="1"/>
          </p:cNvSpPr>
          <p:nvPr/>
        </p:nvSpPr>
        <p:spPr bwMode="auto">
          <a:xfrm>
            <a:off x="1113177" y="3581400"/>
            <a:ext cx="7088187" cy="2323713"/>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rgbClr val="000000"/>
                </a:solidFill>
                <a:latin typeface="Courier New" charset="0"/>
              </a:rPr>
              <a:t>R1# </a:t>
            </a:r>
            <a:r>
              <a:rPr lang="en-US" sz="1200" dirty="0">
                <a:solidFill>
                  <a:srgbClr val="000000"/>
                </a:solidFill>
                <a:latin typeface="Courier New" charset="0"/>
              </a:rPr>
              <a:t>configure terminal</a:t>
            </a:r>
          </a:p>
          <a:p>
            <a:pPr>
              <a:lnSpc>
                <a:spcPct val="110000"/>
              </a:lnSpc>
            </a:pPr>
            <a:r>
              <a:rPr lang="en-US" sz="1200" b="0" dirty="0">
                <a:solidFill>
                  <a:srgbClr val="000000"/>
                </a:solidFill>
                <a:latin typeface="Courier New" charset="0"/>
              </a:rPr>
              <a:t>Enter configuration commands, one per line. End with CNTL/Z.</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 </a:t>
            </a:r>
            <a:r>
              <a:rPr lang="en-US" sz="1200" dirty="0" err="1">
                <a:solidFill>
                  <a:srgbClr val="000000"/>
                </a:solidFill>
                <a:latin typeface="Courier New" charset="0"/>
              </a:rPr>
              <a:t>ip</a:t>
            </a:r>
            <a:r>
              <a:rPr lang="en-US" sz="1200" dirty="0">
                <a:solidFill>
                  <a:srgbClr val="000000"/>
                </a:solidFill>
                <a:latin typeface="Courier New" charset="0"/>
              </a:rPr>
              <a:t> </a:t>
            </a:r>
            <a:r>
              <a:rPr lang="en-US" sz="1200" dirty="0" err="1">
                <a:solidFill>
                  <a:srgbClr val="000000"/>
                </a:solidFill>
                <a:latin typeface="Courier New" charset="0"/>
              </a:rPr>
              <a:t>ips</a:t>
            </a:r>
            <a:r>
              <a:rPr lang="en-US" sz="1200" dirty="0">
                <a:solidFill>
                  <a:srgbClr val="000000"/>
                </a:solidFill>
                <a:latin typeface="Courier New" charset="0"/>
              </a:rPr>
              <a:t> signature-definition</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config-sigdef</a:t>
            </a:r>
            <a:r>
              <a:rPr lang="en-US" sz="1200" b="0" dirty="0">
                <a:solidFill>
                  <a:srgbClr val="000000"/>
                </a:solidFill>
                <a:latin typeface="Courier New" charset="0"/>
              </a:rPr>
              <a:t>)# </a:t>
            </a:r>
            <a:r>
              <a:rPr lang="en-US" sz="1200" dirty="0">
                <a:solidFill>
                  <a:srgbClr val="000000"/>
                </a:solidFill>
                <a:latin typeface="Courier New" charset="0"/>
              </a:rPr>
              <a:t>signature 6130 10</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 </a:t>
            </a:r>
            <a:r>
              <a:rPr lang="en-US" sz="1200" dirty="0">
                <a:solidFill>
                  <a:srgbClr val="000000"/>
                </a:solidFill>
                <a:latin typeface="Courier New" charset="0"/>
              </a:rPr>
              <a:t>status</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-sig-status)# </a:t>
            </a:r>
            <a:r>
              <a:rPr lang="en-US" sz="1200" dirty="0">
                <a:solidFill>
                  <a:srgbClr val="000000"/>
                </a:solidFill>
                <a:latin typeface="Courier New" charset="0"/>
              </a:rPr>
              <a:t>retired true</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-sig-status)#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config-sigdef</a:t>
            </a:r>
            <a:r>
              <a:rPr lang="en-US" sz="1200" b="0" dirty="0">
                <a:solidFill>
                  <a:srgbClr val="000000"/>
                </a:solidFill>
                <a:latin typeface="Courier New" charset="0"/>
              </a:rPr>
              <a:t>)#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Do you want to accept these changes? [confirm] </a:t>
            </a:r>
            <a:r>
              <a:rPr lang="en-US" sz="1200" dirty="0">
                <a:solidFill>
                  <a:srgbClr val="000000"/>
                </a:solidFill>
                <a:latin typeface="Courier New" charset="0"/>
              </a:rPr>
              <a:t>y</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p>
        </p:txBody>
      </p:sp>
    </p:spTree>
    <p:extLst>
      <p:ext uri="{BB962C8B-B14F-4D97-AF65-F5344CB8AC3E}">
        <p14:creationId xmlns:p14="http://schemas.microsoft.com/office/powerpoint/2010/main" val="37348864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normAutofit/>
          </a:bodyPr>
          <a:lstStyle/>
          <a:p>
            <a:pPr eaLnBrk="1" hangingPunct="1"/>
            <a:r>
              <a:rPr lang="en-US" sz="4000" dirty="0"/>
              <a:t>Modifying Signatures</a:t>
            </a:r>
          </a:p>
        </p:txBody>
      </p:sp>
      <p:sp>
        <p:nvSpPr>
          <p:cNvPr id="112643" name="Rectangle 3"/>
          <p:cNvSpPr>
            <a:spLocks noGrp="1" noChangeArrowheads="1"/>
          </p:cNvSpPr>
          <p:nvPr>
            <p:ph idx="1"/>
          </p:nvPr>
        </p:nvSpPr>
        <p:spPr>
          <a:xfrm>
            <a:off x="776288" y="1524000"/>
            <a:ext cx="8004854" cy="4781445"/>
          </a:xfrm>
        </p:spPr>
        <p:txBody>
          <a:bodyPr>
            <a:normAutofit/>
          </a:bodyPr>
          <a:lstStyle/>
          <a:p>
            <a:r>
              <a:rPr lang="en-US" sz="2800" dirty="0"/>
              <a:t>This example shows how to </a:t>
            </a:r>
            <a:r>
              <a:rPr lang="en-US" sz="2800" dirty="0" err="1"/>
              <a:t>unretire</a:t>
            </a:r>
            <a:r>
              <a:rPr lang="en-US" sz="2800" dirty="0"/>
              <a:t> all signatures that belong to the IOS IPS Basic category. (</a:t>
            </a:r>
            <a:r>
              <a:rPr lang="en-US" sz="2800" dirty="0" err="1"/>
              <a:t>Prev</a:t>
            </a:r>
            <a:r>
              <a:rPr lang="en-US" sz="2800" dirty="0"/>
              <a:t> example)</a:t>
            </a:r>
          </a:p>
        </p:txBody>
      </p:sp>
      <p:sp>
        <p:nvSpPr>
          <p:cNvPr id="112645" name="Rectangle 7"/>
          <p:cNvSpPr>
            <a:spLocks noChangeArrowheads="1"/>
          </p:cNvSpPr>
          <p:nvPr/>
        </p:nvSpPr>
        <p:spPr bwMode="auto">
          <a:xfrm>
            <a:off x="990600" y="2819400"/>
            <a:ext cx="7088187" cy="1917448"/>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rgbClr val="000000"/>
                </a:solidFill>
                <a:latin typeface="Courier New" charset="0"/>
              </a:rPr>
              <a:t>R1# </a:t>
            </a:r>
            <a:r>
              <a:rPr lang="en-US" sz="1200" dirty="0">
                <a:solidFill>
                  <a:srgbClr val="000000"/>
                </a:solidFill>
                <a:latin typeface="Courier New" charset="0"/>
              </a:rPr>
              <a:t>configure terminal</a:t>
            </a:r>
          </a:p>
          <a:p>
            <a:pPr>
              <a:lnSpc>
                <a:spcPct val="110000"/>
              </a:lnSpc>
            </a:pPr>
            <a:r>
              <a:rPr lang="en-US" sz="1200" b="0" dirty="0">
                <a:solidFill>
                  <a:srgbClr val="000000"/>
                </a:solidFill>
                <a:latin typeface="Courier New" charset="0"/>
              </a:rPr>
              <a:t>Enter configuration commands, one per line. End with CNTL/Z.</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 </a:t>
            </a:r>
            <a:r>
              <a:rPr lang="en-US" sz="1200" dirty="0" err="1">
                <a:solidFill>
                  <a:srgbClr val="000000"/>
                </a:solidFill>
                <a:latin typeface="Courier New" charset="0"/>
              </a:rPr>
              <a:t>ip</a:t>
            </a:r>
            <a:r>
              <a:rPr lang="en-US" sz="1200" dirty="0">
                <a:solidFill>
                  <a:srgbClr val="000000"/>
                </a:solidFill>
                <a:latin typeface="Courier New" charset="0"/>
              </a:rPr>
              <a:t> </a:t>
            </a:r>
            <a:r>
              <a:rPr lang="en-US" sz="1200" dirty="0" err="1">
                <a:solidFill>
                  <a:srgbClr val="000000"/>
                </a:solidFill>
                <a:latin typeface="Courier New" charset="0"/>
              </a:rPr>
              <a:t>ips</a:t>
            </a:r>
            <a:r>
              <a:rPr lang="en-US" sz="1200" dirty="0">
                <a:solidFill>
                  <a:srgbClr val="000000"/>
                </a:solidFill>
                <a:latin typeface="Courier New" charset="0"/>
              </a:rPr>
              <a:t> signature-category</a:t>
            </a:r>
            <a:endParaRPr lang="en-US" sz="1200" b="0" dirty="0">
              <a:solidFill>
                <a:srgbClr val="000000"/>
              </a:solidFill>
              <a:latin typeface="Courier New" charset="0"/>
            </a:endParaRP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 </a:t>
            </a:r>
            <a:r>
              <a:rPr lang="en-US" sz="1200" dirty="0">
                <a:solidFill>
                  <a:srgbClr val="000000"/>
                </a:solidFill>
                <a:latin typeface="Courier New" charset="0"/>
              </a:rPr>
              <a:t>category </a:t>
            </a:r>
            <a:r>
              <a:rPr lang="en-US" sz="1200" dirty="0" err="1">
                <a:solidFill>
                  <a:srgbClr val="000000"/>
                </a:solidFill>
                <a:latin typeface="Courier New" charset="0"/>
              </a:rPr>
              <a:t>ios_ips</a:t>
            </a:r>
            <a:r>
              <a:rPr lang="en-US" sz="1200" dirty="0">
                <a:solidFill>
                  <a:srgbClr val="000000"/>
                </a:solidFill>
                <a:latin typeface="Courier New" charset="0"/>
              </a:rPr>
              <a:t> basic</a:t>
            </a:r>
            <a:endParaRPr lang="en-US" sz="1200" b="0" dirty="0">
              <a:solidFill>
                <a:srgbClr val="000000"/>
              </a:solidFill>
              <a:latin typeface="Courier New" charset="0"/>
            </a:endParaRP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retired false</a:t>
            </a:r>
            <a:endParaRPr lang="en-US" sz="1200" b="0" dirty="0">
              <a:solidFill>
                <a:srgbClr val="000000"/>
              </a:solidFill>
              <a:latin typeface="Courier New" charset="0"/>
            </a:endParaRP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Do you want to accept these changes? [confirm] </a:t>
            </a:r>
            <a:r>
              <a:rPr lang="en-US" sz="1200" dirty="0">
                <a:solidFill>
                  <a:srgbClr val="000000"/>
                </a:solidFill>
                <a:latin typeface="Courier New" charset="0"/>
              </a:rPr>
              <a:t>y</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p>
        </p:txBody>
      </p:sp>
    </p:spTree>
    <p:extLst>
      <p:ext uri="{BB962C8B-B14F-4D97-AF65-F5344CB8AC3E}">
        <p14:creationId xmlns:p14="http://schemas.microsoft.com/office/powerpoint/2010/main" val="185629790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a:bodyPr>
          <a:lstStyle/>
          <a:p>
            <a:pPr eaLnBrk="1" hangingPunct="1"/>
            <a:r>
              <a:rPr lang="en-US" sz="4000" dirty="0"/>
              <a:t>Change Actions for a Signature</a:t>
            </a:r>
          </a:p>
        </p:txBody>
      </p:sp>
      <p:sp>
        <p:nvSpPr>
          <p:cNvPr id="113667" name="Rectangle 3"/>
          <p:cNvSpPr>
            <a:spLocks noGrp="1" noChangeArrowheads="1"/>
          </p:cNvSpPr>
          <p:nvPr>
            <p:ph idx="1"/>
          </p:nvPr>
        </p:nvSpPr>
        <p:spPr>
          <a:xfrm>
            <a:off x="776288" y="1524000"/>
            <a:ext cx="8004854" cy="4781445"/>
          </a:xfrm>
        </p:spPr>
        <p:txBody>
          <a:bodyPr>
            <a:normAutofit/>
          </a:bodyPr>
          <a:lstStyle/>
          <a:p>
            <a:r>
              <a:rPr lang="en-US" sz="2800" dirty="0"/>
              <a:t>This example shows how to change signature actions to alert, drop, and reset for signature 6130 with </a:t>
            </a:r>
            <a:r>
              <a:rPr lang="en-US" sz="2800" dirty="0" err="1"/>
              <a:t>subsig</a:t>
            </a:r>
            <a:r>
              <a:rPr lang="en-US" sz="2800" dirty="0"/>
              <a:t> ID of 10.</a:t>
            </a:r>
          </a:p>
        </p:txBody>
      </p:sp>
      <p:sp>
        <p:nvSpPr>
          <p:cNvPr id="113669" name="Rectangle 6"/>
          <p:cNvSpPr>
            <a:spLocks noChangeArrowheads="1"/>
          </p:cNvSpPr>
          <p:nvPr/>
        </p:nvSpPr>
        <p:spPr bwMode="auto">
          <a:xfrm>
            <a:off x="1234621" y="3048000"/>
            <a:ext cx="7088187" cy="2729978"/>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rgbClr val="000000"/>
                </a:solidFill>
                <a:latin typeface="Courier New" charset="0"/>
              </a:rPr>
              <a:t>R1# </a:t>
            </a:r>
            <a:r>
              <a:rPr lang="en-US" sz="1200" dirty="0">
                <a:solidFill>
                  <a:srgbClr val="000000"/>
                </a:solidFill>
                <a:latin typeface="Courier New" charset="0"/>
              </a:rPr>
              <a:t>configure terminal</a:t>
            </a:r>
          </a:p>
          <a:p>
            <a:pPr>
              <a:lnSpc>
                <a:spcPct val="110000"/>
              </a:lnSpc>
            </a:pPr>
            <a:r>
              <a:rPr lang="en-US" sz="1200" b="0" dirty="0">
                <a:solidFill>
                  <a:srgbClr val="000000"/>
                </a:solidFill>
                <a:latin typeface="Courier New" charset="0"/>
              </a:rPr>
              <a:t>Enter configuration commands, one per line. End with CNTL/Z.</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 </a:t>
            </a:r>
            <a:r>
              <a:rPr lang="en-US" sz="1200" dirty="0" err="1">
                <a:solidFill>
                  <a:srgbClr val="000000"/>
                </a:solidFill>
                <a:latin typeface="Courier New" charset="0"/>
              </a:rPr>
              <a:t>ip</a:t>
            </a:r>
            <a:r>
              <a:rPr lang="en-US" sz="1200" dirty="0">
                <a:solidFill>
                  <a:srgbClr val="000000"/>
                </a:solidFill>
                <a:latin typeface="Courier New" charset="0"/>
              </a:rPr>
              <a:t> </a:t>
            </a:r>
            <a:r>
              <a:rPr lang="en-US" sz="1200" dirty="0" err="1">
                <a:solidFill>
                  <a:srgbClr val="000000"/>
                </a:solidFill>
                <a:latin typeface="Courier New" charset="0"/>
              </a:rPr>
              <a:t>ips</a:t>
            </a:r>
            <a:r>
              <a:rPr lang="en-US" sz="1200" dirty="0">
                <a:solidFill>
                  <a:srgbClr val="000000"/>
                </a:solidFill>
                <a:latin typeface="Courier New" charset="0"/>
              </a:rPr>
              <a:t> signature-definition</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config-sigdef</a:t>
            </a:r>
            <a:r>
              <a:rPr lang="en-US" sz="1200" b="0" dirty="0">
                <a:solidFill>
                  <a:srgbClr val="000000"/>
                </a:solidFill>
                <a:latin typeface="Courier New" charset="0"/>
              </a:rPr>
              <a:t>)# </a:t>
            </a:r>
            <a:r>
              <a:rPr lang="en-US" sz="1200" dirty="0">
                <a:solidFill>
                  <a:srgbClr val="000000"/>
                </a:solidFill>
                <a:latin typeface="Courier New" charset="0"/>
              </a:rPr>
              <a:t>signature 6130 10</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 </a:t>
            </a:r>
            <a:r>
              <a:rPr lang="en-US" sz="1200" dirty="0">
                <a:solidFill>
                  <a:srgbClr val="000000"/>
                </a:solidFill>
                <a:latin typeface="Courier New" charset="0"/>
              </a:rPr>
              <a:t>engine</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-sig-engine)# </a:t>
            </a:r>
            <a:r>
              <a:rPr lang="en-US" sz="1200" dirty="0">
                <a:solidFill>
                  <a:srgbClr val="000000"/>
                </a:solidFill>
                <a:latin typeface="Courier New" charset="0"/>
              </a:rPr>
              <a:t>event-action produce-alert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-sig-engine)# </a:t>
            </a:r>
            <a:r>
              <a:rPr lang="en-US" sz="1200" dirty="0">
                <a:solidFill>
                  <a:srgbClr val="000000"/>
                </a:solidFill>
                <a:latin typeface="Courier New" charset="0"/>
              </a:rPr>
              <a:t>event-action deny-packet-inline</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-sig-engine)# </a:t>
            </a:r>
            <a:r>
              <a:rPr lang="en-US" sz="1200" dirty="0">
                <a:solidFill>
                  <a:srgbClr val="000000"/>
                </a:solidFill>
                <a:latin typeface="Courier New" charset="0"/>
              </a:rPr>
              <a:t>event-action reset-</a:t>
            </a:r>
            <a:r>
              <a:rPr lang="en-US" sz="1200" dirty="0" err="1">
                <a:solidFill>
                  <a:srgbClr val="000000"/>
                </a:solidFill>
                <a:latin typeface="Courier New" charset="0"/>
              </a:rPr>
              <a:t>tcp</a:t>
            </a:r>
            <a:r>
              <a:rPr lang="en-US" sz="1200" dirty="0">
                <a:solidFill>
                  <a:srgbClr val="000000"/>
                </a:solidFill>
                <a:latin typeface="Courier New" charset="0"/>
              </a:rPr>
              <a:t>-connection</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-sig-engine)#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sigdef</a:t>
            </a:r>
            <a:r>
              <a:rPr lang="en-US" sz="1200" b="0" dirty="0">
                <a:solidFill>
                  <a:srgbClr val="000000"/>
                </a:solidFill>
                <a:latin typeface="Courier New" charset="0"/>
              </a:rPr>
              <a:t>-sig)#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config-sigdef</a:t>
            </a:r>
            <a:r>
              <a:rPr lang="en-US" sz="1200" b="0" dirty="0">
                <a:solidFill>
                  <a:srgbClr val="000000"/>
                </a:solidFill>
                <a:latin typeface="Courier New" charset="0"/>
              </a:rPr>
              <a:t>)#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Do you want to accept these changes? [confirm] </a:t>
            </a:r>
            <a:r>
              <a:rPr lang="en-US" sz="1200" dirty="0">
                <a:solidFill>
                  <a:srgbClr val="000000"/>
                </a:solidFill>
                <a:latin typeface="Courier New" charset="0"/>
              </a:rPr>
              <a:t>y</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p>
        </p:txBody>
      </p:sp>
    </p:spTree>
    <p:extLst>
      <p:ext uri="{BB962C8B-B14F-4D97-AF65-F5344CB8AC3E}">
        <p14:creationId xmlns:p14="http://schemas.microsoft.com/office/powerpoint/2010/main" val="363122783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a:bodyPr>
          <a:lstStyle/>
          <a:p>
            <a:pPr eaLnBrk="1" hangingPunct="1"/>
            <a:r>
              <a:rPr lang="en-US" sz="4000" dirty="0"/>
              <a:t>Change Actions for a Category</a:t>
            </a:r>
          </a:p>
        </p:txBody>
      </p:sp>
      <p:sp>
        <p:nvSpPr>
          <p:cNvPr id="114691" name="Rectangle 3"/>
          <p:cNvSpPr>
            <a:spLocks noGrp="1" noChangeArrowheads="1"/>
          </p:cNvSpPr>
          <p:nvPr>
            <p:ph idx="1"/>
          </p:nvPr>
        </p:nvSpPr>
        <p:spPr>
          <a:xfrm>
            <a:off x="776288" y="1690689"/>
            <a:ext cx="8004854" cy="4614756"/>
          </a:xfrm>
        </p:spPr>
        <p:txBody>
          <a:bodyPr>
            <a:normAutofit/>
          </a:bodyPr>
          <a:lstStyle/>
          <a:p>
            <a:r>
              <a:rPr lang="en-US" sz="2800" dirty="0"/>
              <a:t>This example shows how to change event actions for all signatures that belong to the signature IOS IPS Basic category.</a:t>
            </a:r>
          </a:p>
        </p:txBody>
      </p:sp>
      <p:sp>
        <p:nvSpPr>
          <p:cNvPr id="114693" name="Rectangle 6"/>
          <p:cNvSpPr>
            <a:spLocks noChangeArrowheads="1"/>
          </p:cNvSpPr>
          <p:nvPr/>
        </p:nvSpPr>
        <p:spPr bwMode="auto">
          <a:xfrm>
            <a:off x="1234621" y="3048000"/>
            <a:ext cx="7088187" cy="2526846"/>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200" b="0" dirty="0">
                <a:solidFill>
                  <a:srgbClr val="000000"/>
                </a:solidFill>
                <a:latin typeface="Courier New" charset="0"/>
              </a:rPr>
              <a:t>R1# </a:t>
            </a:r>
            <a:r>
              <a:rPr lang="en-US" sz="1200" dirty="0">
                <a:solidFill>
                  <a:srgbClr val="000000"/>
                </a:solidFill>
                <a:latin typeface="Courier New" charset="0"/>
              </a:rPr>
              <a:t>configure terminal</a:t>
            </a:r>
          </a:p>
          <a:p>
            <a:pPr>
              <a:lnSpc>
                <a:spcPct val="110000"/>
              </a:lnSpc>
            </a:pPr>
            <a:r>
              <a:rPr lang="en-US" sz="1200" b="0" dirty="0">
                <a:solidFill>
                  <a:srgbClr val="000000"/>
                </a:solidFill>
                <a:latin typeface="Courier New" charset="0"/>
              </a:rPr>
              <a:t>Enter configuration commands, one per line. End with CNTL/Z.</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 </a:t>
            </a:r>
            <a:r>
              <a:rPr lang="en-US" sz="1200" dirty="0" err="1">
                <a:solidFill>
                  <a:srgbClr val="000000"/>
                </a:solidFill>
                <a:latin typeface="Courier New" charset="0"/>
              </a:rPr>
              <a:t>ip</a:t>
            </a:r>
            <a:r>
              <a:rPr lang="en-US" sz="1200" dirty="0">
                <a:solidFill>
                  <a:srgbClr val="000000"/>
                </a:solidFill>
                <a:latin typeface="Courier New" charset="0"/>
              </a:rPr>
              <a:t> </a:t>
            </a:r>
            <a:r>
              <a:rPr lang="en-US" sz="1200" dirty="0" err="1">
                <a:solidFill>
                  <a:srgbClr val="000000"/>
                </a:solidFill>
                <a:latin typeface="Courier New" charset="0"/>
              </a:rPr>
              <a:t>ips</a:t>
            </a:r>
            <a:r>
              <a:rPr lang="en-US" sz="1200" dirty="0">
                <a:solidFill>
                  <a:srgbClr val="000000"/>
                </a:solidFill>
                <a:latin typeface="Courier New" charset="0"/>
              </a:rPr>
              <a:t> signature-category</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 </a:t>
            </a:r>
            <a:r>
              <a:rPr lang="en-US" sz="1200" dirty="0">
                <a:solidFill>
                  <a:srgbClr val="000000"/>
                </a:solidFill>
                <a:latin typeface="Courier New" charset="0"/>
              </a:rPr>
              <a:t>category </a:t>
            </a:r>
            <a:r>
              <a:rPr lang="en-US" sz="1200" dirty="0" err="1">
                <a:solidFill>
                  <a:srgbClr val="000000"/>
                </a:solidFill>
                <a:latin typeface="Courier New" charset="0"/>
              </a:rPr>
              <a:t>ios_ips</a:t>
            </a:r>
            <a:r>
              <a:rPr lang="en-US" sz="1200" dirty="0">
                <a:solidFill>
                  <a:srgbClr val="000000"/>
                </a:solidFill>
                <a:latin typeface="Courier New" charset="0"/>
              </a:rPr>
              <a:t> basic</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event-action produce-alert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event-action deny-packet-inline</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event-action reset-</a:t>
            </a:r>
            <a:r>
              <a:rPr lang="en-US" sz="1200" dirty="0" err="1">
                <a:solidFill>
                  <a:srgbClr val="000000"/>
                </a:solidFill>
                <a:latin typeface="Courier New" charset="0"/>
              </a:rPr>
              <a:t>tcp</a:t>
            </a:r>
            <a:r>
              <a:rPr lang="en-US" sz="1200" dirty="0">
                <a:solidFill>
                  <a:srgbClr val="000000"/>
                </a:solidFill>
                <a:latin typeface="Courier New" charset="0"/>
              </a:rPr>
              <a:t>-connection</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-category-action)# </a:t>
            </a:r>
            <a:r>
              <a:rPr lang="en-US" sz="1200" dirty="0">
                <a:solidFill>
                  <a:srgbClr val="000000"/>
                </a:solidFill>
                <a:latin typeface="Courier New" charset="0"/>
              </a:rPr>
              <a:t>exit</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r>
              <a:rPr lang="en-US" sz="1200" b="0" dirty="0" err="1">
                <a:solidFill>
                  <a:srgbClr val="000000"/>
                </a:solidFill>
                <a:latin typeface="Courier New" charset="0"/>
              </a:rPr>
              <a:t>ips</a:t>
            </a:r>
            <a:r>
              <a:rPr lang="en-US" sz="1200" b="0" dirty="0">
                <a:solidFill>
                  <a:srgbClr val="000000"/>
                </a:solidFill>
                <a:latin typeface="Courier New" charset="0"/>
              </a:rPr>
              <a:t>-category)# </a:t>
            </a:r>
            <a:r>
              <a:rPr lang="en-US" sz="1200" dirty="0">
                <a:solidFill>
                  <a:srgbClr val="000000"/>
                </a:solidFill>
                <a:latin typeface="Courier New" charset="0"/>
              </a:rPr>
              <a:t>exit</a:t>
            </a:r>
          </a:p>
          <a:p>
            <a:pPr>
              <a:lnSpc>
                <a:spcPct val="110000"/>
              </a:lnSpc>
            </a:pPr>
            <a:endParaRPr lang="en-US" sz="1200" b="0" dirty="0">
              <a:solidFill>
                <a:srgbClr val="000000"/>
              </a:solidFill>
              <a:latin typeface="Courier New" charset="0"/>
            </a:endParaRPr>
          </a:p>
          <a:p>
            <a:pPr>
              <a:lnSpc>
                <a:spcPct val="110000"/>
              </a:lnSpc>
            </a:pPr>
            <a:r>
              <a:rPr lang="en-US" sz="1200" b="0" dirty="0">
                <a:solidFill>
                  <a:srgbClr val="000000"/>
                </a:solidFill>
                <a:latin typeface="Courier New" charset="0"/>
              </a:rPr>
              <a:t>Do you want to accept these changes? [confirm] </a:t>
            </a:r>
            <a:r>
              <a:rPr lang="en-US" sz="1200" dirty="0">
                <a:solidFill>
                  <a:srgbClr val="000000"/>
                </a:solidFill>
                <a:latin typeface="Courier New" charset="0"/>
              </a:rPr>
              <a:t>y</a:t>
            </a:r>
          </a:p>
          <a:p>
            <a:pPr>
              <a:lnSpc>
                <a:spcPct val="110000"/>
              </a:lnSpc>
            </a:pPr>
            <a:r>
              <a:rPr lang="en-US" sz="1200" b="0" dirty="0">
                <a:solidFill>
                  <a:srgbClr val="000000"/>
                </a:solidFill>
                <a:latin typeface="Courier New" charset="0"/>
              </a:rPr>
              <a:t>R1(</a:t>
            </a:r>
            <a:r>
              <a:rPr lang="en-US" sz="1200" b="0" dirty="0" err="1">
                <a:solidFill>
                  <a:srgbClr val="000000"/>
                </a:solidFill>
                <a:latin typeface="Courier New" charset="0"/>
              </a:rPr>
              <a:t>config</a:t>
            </a:r>
            <a:r>
              <a:rPr lang="en-US" sz="1200" b="0" dirty="0">
                <a:solidFill>
                  <a:srgbClr val="000000"/>
                </a:solidFill>
                <a:latin typeface="Courier New" charset="0"/>
              </a:rPr>
              <a:t>)#</a:t>
            </a:r>
          </a:p>
        </p:txBody>
      </p:sp>
    </p:spTree>
    <p:extLst>
      <p:ext uri="{BB962C8B-B14F-4D97-AF65-F5344CB8AC3E}">
        <p14:creationId xmlns:p14="http://schemas.microsoft.com/office/powerpoint/2010/main" val="280606320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628650" y="152400"/>
            <a:ext cx="7886700" cy="1006474"/>
          </a:xfrm>
        </p:spPr>
        <p:txBody>
          <a:bodyPr>
            <a:normAutofit/>
          </a:bodyPr>
          <a:lstStyle/>
          <a:p>
            <a:pPr eaLnBrk="1" hangingPunct="1"/>
            <a:r>
              <a:rPr lang="en-US" sz="4000" dirty="0"/>
              <a:t>Verify IOS IPS</a:t>
            </a:r>
          </a:p>
        </p:txBody>
      </p:sp>
      <p:sp>
        <p:nvSpPr>
          <p:cNvPr id="121860" name="Rectangle 4"/>
          <p:cNvSpPr>
            <a:spLocks noChangeArrowheads="1"/>
          </p:cNvSpPr>
          <p:nvPr/>
        </p:nvSpPr>
        <p:spPr bwMode="auto">
          <a:xfrm>
            <a:off x="1427162" y="1023359"/>
            <a:ext cx="7088188" cy="5832366"/>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000" b="0" dirty="0">
                <a:solidFill>
                  <a:srgbClr val="000000"/>
                </a:solidFill>
                <a:latin typeface="Courier New" charset="0"/>
              </a:rPr>
              <a:t>R1# </a:t>
            </a:r>
            <a:r>
              <a:rPr lang="en-US" sz="1000" dirty="0">
                <a:solidFill>
                  <a:srgbClr val="000000"/>
                </a:solidFill>
                <a:latin typeface="Courier New" charset="0"/>
              </a:rPr>
              <a:t>show </a:t>
            </a:r>
            <a:r>
              <a:rPr lang="en-US" sz="1000" dirty="0" err="1">
                <a:solidFill>
                  <a:srgbClr val="000000"/>
                </a:solidFill>
                <a:latin typeface="Courier New" charset="0"/>
              </a:rPr>
              <a:t>ip</a:t>
            </a:r>
            <a:r>
              <a:rPr lang="en-US" sz="1000" dirty="0">
                <a:solidFill>
                  <a:srgbClr val="000000"/>
                </a:solidFill>
                <a:latin typeface="Courier New" charset="0"/>
              </a:rPr>
              <a:t> </a:t>
            </a:r>
            <a:r>
              <a:rPr lang="en-US" sz="1000" dirty="0" err="1">
                <a:solidFill>
                  <a:srgbClr val="000000"/>
                </a:solidFill>
                <a:latin typeface="Courier New" charset="0"/>
              </a:rPr>
              <a:t>ips</a:t>
            </a:r>
            <a:r>
              <a:rPr lang="en-US" sz="1000" dirty="0">
                <a:solidFill>
                  <a:srgbClr val="000000"/>
                </a:solidFill>
                <a:latin typeface="Courier New" charset="0"/>
              </a:rPr>
              <a:t> all</a:t>
            </a:r>
          </a:p>
          <a:p>
            <a:pPr>
              <a:lnSpc>
                <a:spcPct val="110000"/>
              </a:lnSpc>
            </a:pPr>
            <a:r>
              <a:rPr lang="en-US" sz="1000" b="0" dirty="0">
                <a:solidFill>
                  <a:srgbClr val="000000"/>
                </a:solidFill>
                <a:latin typeface="Courier New" charset="0"/>
              </a:rPr>
              <a:t>IPS Signature File Configuration Status</a:t>
            </a:r>
            <a:br>
              <a:rPr lang="en-US" sz="1000" b="0" dirty="0">
                <a:solidFill>
                  <a:srgbClr val="000000"/>
                </a:solidFill>
                <a:latin typeface="Courier New" charset="0"/>
              </a:rPr>
            </a:br>
            <a:r>
              <a:rPr lang="en-US" sz="1000" b="0" dirty="0">
                <a:solidFill>
                  <a:srgbClr val="000000"/>
                </a:solidFill>
                <a:latin typeface="Courier New" charset="0"/>
              </a:rPr>
              <a:t>    Configured </a:t>
            </a:r>
            <a:r>
              <a:rPr lang="en-US" sz="1000" b="0" dirty="0" err="1">
                <a:solidFill>
                  <a:srgbClr val="000000"/>
                </a:solidFill>
                <a:latin typeface="Courier New" charset="0"/>
              </a:rPr>
              <a:t>Config</a:t>
            </a:r>
            <a:r>
              <a:rPr lang="en-US" sz="1000" b="0" dirty="0">
                <a:solidFill>
                  <a:srgbClr val="000000"/>
                </a:solidFill>
                <a:latin typeface="Courier New" charset="0"/>
              </a:rPr>
              <a:t> Locations: flash:/</a:t>
            </a:r>
            <a:r>
              <a:rPr lang="en-US" sz="1000" b="0" dirty="0" err="1">
                <a:solidFill>
                  <a:srgbClr val="000000"/>
                </a:solidFill>
                <a:latin typeface="Courier New" charset="0"/>
              </a:rPr>
              <a:t>ipsdir</a:t>
            </a:r>
            <a:r>
              <a:rPr lang="en-US" sz="1000" b="0" dirty="0">
                <a:solidFill>
                  <a:srgbClr val="000000"/>
                </a:solidFill>
                <a:latin typeface="Courier New" charset="0"/>
              </a:rPr>
              <a:t>/</a:t>
            </a:r>
            <a:br>
              <a:rPr lang="en-US" sz="1000" b="0" dirty="0">
                <a:solidFill>
                  <a:srgbClr val="000000"/>
                </a:solidFill>
                <a:latin typeface="Courier New" charset="0"/>
              </a:rPr>
            </a:br>
            <a:r>
              <a:rPr lang="en-US" sz="1000" b="0" dirty="0">
                <a:solidFill>
                  <a:srgbClr val="000000"/>
                </a:solidFill>
                <a:latin typeface="Courier New" charset="0"/>
              </a:rPr>
              <a:t>    Last signature default load time: 04:39:33 UTC Jan 15 2009</a:t>
            </a:r>
            <a:br>
              <a:rPr lang="en-US" sz="1000" b="0" dirty="0">
                <a:solidFill>
                  <a:srgbClr val="000000"/>
                </a:solidFill>
                <a:latin typeface="Courier New" charset="0"/>
              </a:rPr>
            </a:br>
            <a:r>
              <a:rPr lang="en-US" sz="1000" b="0" dirty="0">
                <a:solidFill>
                  <a:srgbClr val="000000"/>
                </a:solidFill>
                <a:latin typeface="Courier New" charset="0"/>
              </a:rPr>
              <a:t>    Last signature delta load time: -none-</a:t>
            </a:r>
            <a:br>
              <a:rPr lang="en-US" sz="1000" b="0" dirty="0">
                <a:solidFill>
                  <a:srgbClr val="000000"/>
                </a:solidFill>
                <a:latin typeface="Courier New" charset="0"/>
              </a:rPr>
            </a:br>
            <a:r>
              <a:rPr lang="en-US" sz="1000" b="0" dirty="0">
                <a:solidFill>
                  <a:srgbClr val="000000"/>
                </a:solidFill>
                <a:latin typeface="Courier New" charset="0"/>
              </a:rPr>
              <a:t>    Last event action (SEAP) load time: -none-</a:t>
            </a:r>
          </a:p>
          <a:p>
            <a:pPr>
              <a:lnSpc>
                <a:spcPct val="110000"/>
              </a:lnSpc>
            </a:pPr>
            <a:r>
              <a:rPr lang="en-US" sz="1000" b="0" dirty="0">
                <a:solidFill>
                  <a:srgbClr val="000000"/>
                </a:solidFill>
                <a:latin typeface="Courier New" charset="0"/>
              </a:rPr>
              <a:t> </a:t>
            </a:r>
          </a:p>
          <a:p>
            <a:pPr>
              <a:lnSpc>
                <a:spcPct val="110000"/>
              </a:lnSpc>
            </a:pPr>
            <a:r>
              <a:rPr lang="en-US" sz="1000" b="0" dirty="0">
                <a:solidFill>
                  <a:srgbClr val="000000"/>
                </a:solidFill>
                <a:latin typeface="Courier New" charset="0"/>
              </a:rPr>
              <a:t>    General SEAP </a:t>
            </a:r>
            <a:r>
              <a:rPr lang="en-US" sz="1000" b="0" dirty="0" err="1">
                <a:solidFill>
                  <a:srgbClr val="000000"/>
                </a:solidFill>
                <a:latin typeface="Courier New" charset="0"/>
              </a:rPr>
              <a:t>Config</a:t>
            </a:r>
            <a:r>
              <a:rPr lang="en-US" sz="1000" b="0" dirty="0">
                <a:solidFill>
                  <a:srgbClr val="000000"/>
                </a:solidFill>
                <a:latin typeface="Courier New" charset="0"/>
              </a:rPr>
              <a:t>:</a:t>
            </a:r>
            <a:br>
              <a:rPr lang="en-US" sz="1000" b="0" dirty="0">
                <a:solidFill>
                  <a:srgbClr val="000000"/>
                </a:solidFill>
                <a:latin typeface="Courier New" charset="0"/>
              </a:rPr>
            </a:br>
            <a:r>
              <a:rPr lang="en-US" sz="1000" b="0" dirty="0">
                <a:solidFill>
                  <a:srgbClr val="000000"/>
                </a:solidFill>
                <a:latin typeface="Courier New" charset="0"/>
              </a:rPr>
              <a:t>    Global Deny Timeout: 3600 seconds</a:t>
            </a:r>
            <a:br>
              <a:rPr lang="en-US" sz="1000" b="0" dirty="0">
                <a:solidFill>
                  <a:srgbClr val="000000"/>
                </a:solidFill>
                <a:latin typeface="Courier New" charset="0"/>
              </a:rPr>
            </a:br>
            <a:r>
              <a:rPr lang="en-US" sz="1000" b="0" dirty="0">
                <a:solidFill>
                  <a:srgbClr val="000000"/>
                </a:solidFill>
                <a:latin typeface="Courier New" charset="0"/>
              </a:rPr>
              <a:t>    Global Overrides Status: Enabled</a:t>
            </a:r>
            <a:br>
              <a:rPr lang="en-US" sz="1000" b="0" dirty="0">
                <a:solidFill>
                  <a:srgbClr val="000000"/>
                </a:solidFill>
                <a:latin typeface="Courier New" charset="0"/>
              </a:rPr>
            </a:br>
            <a:r>
              <a:rPr lang="en-US" sz="1000" b="0" dirty="0">
                <a:solidFill>
                  <a:srgbClr val="000000"/>
                </a:solidFill>
                <a:latin typeface="Courier New" charset="0"/>
              </a:rPr>
              <a:t>    Global Filters Status: Enabled</a:t>
            </a:r>
          </a:p>
          <a:p>
            <a:pPr>
              <a:lnSpc>
                <a:spcPct val="110000"/>
              </a:lnSpc>
            </a:pPr>
            <a:r>
              <a:rPr lang="en-US" sz="1000" b="0" dirty="0">
                <a:solidFill>
                  <a:srgbClr val="000000"/>
                </a:solidFill>
                <a:latin typeface="Courier New" charset="0"/>
              </a:rPr>
              <a:t> </a:t>
            </a:r>
          </a:p>
          <a:p>
            <a:pPr>
              <a:lnSpc>
                <a:spcPct val="110000"/>
              </a:lnSpc>
            </a:pPr>
            <a:r>
              <a:rPr lang="en-US" sz="1000" b="0" dirty="0">
                <a:solidFill>
                  <a:srgbClr val="000000"/>
                </a:solidFill>
                <a:latin typeface="Courier New" charset="0"/>
              </a:rPr>
              <a:t>IPS Auto Update is not currently configured</a:t>
            </a:r>
          </a:p>
          <a:p>
            <a:pPr>
              <a:lnSpc>
                <a:spcPct val="110000"/>
              </a:lnSpc>
            </a:pPr>
            <a:endParaRPr lang="en-US" sz="1000" b="0" dirty="0">
              <a:solidFill>
                <a:srgbClr val="000000"/>
              </a:solidFill>
              <a:latin typeface="Courier New" charset="0"/>
            </a:endParaRPr>
          </a:p>
          <a:p>
            <a:pPr>
              <a:lnSpc>
                <a:spcPct val="110000"/>
              </a:lnSpc>
            </a:pPr>
            <a:r>
              <a:rPr lang="en-US" sz="1000" b="0" dirty="0">
                <a:solidFill>
                  <a:srgbClr val="000000"/>
                </a:solidFill>
                <a:latin typeface="Courier New" charset="0"/>
              </a:rPr>
              <a:t>IPS Syslog and SDEE Notification Status</a:t>
            </a:r>
          </a:p>
          <a:p>
            <a:pPr>
              <a:lnSpc>
                <a:spcPct val="110000"/>
              </a:lnSpc>
            </a:pPr>
            <a:r>
              <a:rPr lang="en-US" sz="1000" b="0" dirty="0">
                <a:solidFill>
                  <a:srgbClr val="000000"/>
                </a:solidFill>
                <a:latin typeface="Courier New" charset="0"/>
              </a:rPr>
              <a:t>    Event notification through syslog is enabled</a:t>
            </a:r>
          </a:p>
          <a:p>
            <a:pPr>
              <a:lnSpc>
                <a:spcPct val="110000"/>
              </a:lnSpc>
            </a:pPr>
            <a:r>
              <a:rPr lang="en-US" sz="1000" b="0" dirty="0">
                <a:solidFill>
                  <a:srgbClr val="000000"/>
                </a:solidFill>
                <a:latin typeface="Courier New" charset="0"/>
              </a:rPr>
              <a:t>    Event notification through SDEE is enabled</a:t>
            </a:r>
          </a:p>
          <a:p>
            <a:pPr>
              <a:lnSpc>
                <a:spcPct val="110000"/>
              </a:lnSpc>
            </a:pPr>
            <a:r>
              <a:rPr lang="en-US" sz="1000" b="0" dirty="0">
                <a:solidFill>
                  <a:srgbClr val="000000"/>
                </a:solidFill>
                <a:latin typeface="Courier New" charset="0"/>
              </a:rPr>
              <a:t> </a:t>
            </a:r>
          </a:p>
          <a:p>
            <a:pPr>
              <a:lnSpc>
                <a:spcPct val="110000"/>
              </a:lnSpc>
            </a:pPr>
            <a:r>
              <a:rPr lang="en-US" sz="1000" b="0" dirty="0">
                <a:solidFill>
                  <a:srgbClr val="000000"/>
                </a:solidFill>
                <a:latin typeface="Courier New" charset="0"/>
              </a:rPr>
              <a:t>IPS Signature Status</a:t>
            </a:r>
          </a:p>
          <a:p>
            <a:pPr>
              <a:lnSpc>
                <a:spcPct val="110000"/>
              </a:lnSpc>
            </a:pPr>
            <a:r>
              <a:rPr lang="en-US" sz="1000" b="0" dirty="0">
                <a:solidFill>
                  <a:srgbClr val="000000"/>
                </a:solidFill>
                <a:latin typeface="Courier New" charset="0"/>
              </a:rPr>
              <a:t>    Total Active Signatures: 693</a:t>
            </a:r>
          </a:p>
          <a:p>
            <a:pPr>
              <a:lnSpc>
                <a:spcPct val="110000"/>
              </a:lnSpc>
            </a:pPr>
            <a:r>
              <a:rPr lang="en-US" sz="1000" b="0" dirty="0">
                <a:solidFill>
                  <a:srgbClr val="000000"/>
                </a:solidFill>
                <a:latin typeface="Courier New" charset="0"/>
              </a:rPr>
              <a:t>    Total Inactive Signatures: 1443</a:t>
            </a:r>
          </a:p>
          <a:p>
            <a:pPr>
              <a:lnSpc>
                <a:spcPct val="110000"/>
              </a:lnSpc>
            </a:pPr>
            <a:r>
              <a:rPr lang="en-US" sz="1000" b="0" dirty="0">
                <a:solidFill>
                  <a:srgbClr val="000000"/>
                </a:solidFill>
                <a:latin typeface="Courier New" charset="0"/>
              </a:rPr>
              <a:t> </a:t>
            </a:r>
          </a:p>
          <a:p>
            <a:pPr>
              <a:lnSpc>
                <a:spcPct val="110000"/>
              </a:lnSpc>
            </a:pPr>
            <a:r>
              <a:rPr lang="en-US" sz="1000" b="0" dirty="0">
                <a:solidFill>
                  <a:srgbClr val="000000"/>
                </a:solidFill>
                <a:latin typeface="Courier New" charset="0"/>
              </a:rPr>
              <a:t>IPS Packet Scanning and Interface Status</a:t>
            </a:r>
          </a:p>
          <a:p>
            <a:pPr>
              <a:lnSpc>
                <a:spcPct val="110000"/>
              </a:lnSpc>
            </a:pPr>
            <a:r>
              <a:rPr lang="en-US" sz="1000" b="0" dirty="0">
                <a:solidFill>
                  <a:srgbClr val="000000"/>
                </a:solidFill>
                <a:latin typeface="Courier New" charset="0"/>
              </a:rPr>
              <a:t>    IPS Rule Configuration</a:t>
            </a:r>
          </a:p>
          <a:p>
            <a:pPr>
              <a:lnSpc>
                <a:spcPct val="110000"/>
              </a:lnSpc>
            </a:pPr>
            <a:r>
              <a:rPr lang="en-US" sz="1000" b="0" dirty="0">
                <a:solidFill>
                  <a:srgbClr val="000000"/>
                </a:solidFill>
                <a:latin typeface="Courier New" charset="0"/>
              </a:rPr>
              <a:t>      IPS name </a:t>
            </a:r>
            <a:r>
              <a:rPr lang="en-US" sz="1000" b="0" dirty="0" err="1">
                <a:solidFill>
                  <a:srgbClr val="000000"/>
                </a:solidFill>
                <a:latin typeface="Courier New" charset="0"/>
              </a:rPr>
              <a:t>myips</a:t>
            </a:r>
            <a:endParaRPr lang="en-US" sz="1000" b="0" dirty="0">
              <a:solidFill>
                <a:srgbClr val="000000"/>
              </a:solidFill>
              <a:latin typeface="Courier New" charset="0"/>
            </a:endParaRPr>
          </a:p>
          <a:p>
            <a:pPr>
              <a:lnSpc>
                <a:spcPct val="110000"/>
              </a:lnSpc>
            </a:pPr>
            <a:r>
              <a:rPr lang="en-US" sz="1000" b="0" dirty="0">
                <a:solidFill>
                  <a:srgbClr val="000000"/>
                </a:solidFill>
                <a:latin typeface="Courier New" charset="0"/>
              </a:rPr>
              <a:t>    IPS fail closed is disabled</a:t>
            </a:r>
          </a:p>
          <a:p>
            <a:pPr>
              <a:lnSpc>
                <a:spcPct val="110000"/>
              </a:lnSpc>
            </a:pPr>
            <a:r>
              <a:rPr lang="en-US" sz="1000" b="0" dirty="0">
                <a:solidFill>
                  <a:srgbClr val="000000"/>
                </a:solidFill>
                <a:latin typeface="Courier New" charset="0"/>
              </a:rPr>
              <a:t>    IPS deny-action </a:t>
            </a:r>
            <a:r>
              <a:rPr lang="en-US" sz="1000" b="0" dirty="0" err="1">
                <a:solidFill>
                  <a:srgbClr val="000000"/>
                </a:solidFill>
                <a:latin typeface="Courier New" charset="0"/>
              </a:rPr>
              <a:t>ips</a:t>
            </a:r>
            <a:r>
              <a:rPr lang="en-US" sz="1000" b="0" dirty="0">
                <a:solidFill>
                  <a:srgbClr val="000000"/>
                </a:solidFill>
                <a:latin typeface="Courier New" charset="0"/>
              </a:rPr>
              <a:t>-interface is false</a:t>
            </a:r>
          </a:p>
          <a:p>
            <a:pPr>
              <a:lnSpc>
                <a:spcPct val="110000"/>
              </a:lnSpc>
            </a:pPr>
            <a:r>
              <a:rPr lang="en-US" sz="1000" b="0" dirty="0">
                <a:solidFill>
                  <a:srgbClr val="000000"/>
                </a:solidFill>
                <a:latin typeface="Courier New" charset="0"/>
              </a:rPr>
              <a:t>    </a:t>
            </a:r>
            <a:r>
              <a:rPr lang="en-US" sz="1000" b="0" dirty="0" err="1">
                <a:solidFill>
                  <a:srgbClr val="000000"/>
                </a:solidFill>
                <a:latin typeface="Courier New" charset="0"/>
              </a:rPr>
              <a:t>Fastpath</a:t>
            </a:r>
            <a:r>
              <a:rPr lang="en-US" sz="1000" b="0" dirty="0">
                <a:solidFill>
                  <a:srgbClr val="000000"/>
                </a:solidFill>
                <a:latin typeface="Courier New" charset="0"/>
              </a:rPr>
              <a:t> </a:t>
            </a:r>
            <a:r>
              <a:rPr lang="en-US" sz="1000" b="0" dirty="0" err="1">
                <a:solidFill>
                  <a:srgbClr val="000000"/>
                </a:solidFill>
                <a:latin typeface="Courier New" charset="0"/>
              </a:rPr>
              <a:t>ips</a:t>
            </a:r>
            <a:r>
              <a:rPr lang="en-US" sz="1000" b="0" dirty="0">
                <a:solidFill>
                  <a:srgbClr val="000000"/>
                </a:solidFill>
                <a:latin typeface="Courier New" charset="0"/>
              </a:rPr>
              <a:t> is enabled</a:t>
            </a:r>
          </a:p>
          <a:p>
            <a:pPr>
              <a:lnSpc>
                <a:spcPct val="110000"/>
              </a:lnSpc>
            </a:pPr>
            <a:r>
              <a:rPr lang="en-US" sz="1000" b="0" dirty="0">
                <a:solidFill>
                  <a:srgbClr val="000000"/>
                </a:solidFill>
                <a:latin typeface="Courier New" charset="0"/>
              </a:rPr>
              <a:t>    Quick run mode is enabled</a:t>
            </a:r>
          </a:p>
          <a:p>
            <a:pPr>
              <a:lnSpc>
                <a:spcPct val="110000"/>
              </a:lnSpc>
            </a:pPr>
            <a:r>
              <a:rPr lang="en-US" sz="1000" b="0" dirty="0">
                <a:solidFill>
                  <a:srgbClr val="000000"/>
                </a:solidFill>
                <a:latin typeface="Courier New" charset="0"/>
              </a:rPr>
              <a:t>    Interface Configuration</a:t>
            </a:r>
          </a:p>
          <a:p>
            <a:pPr>
              <a:lnSpc>
                <a:spcPct val="110000"/>
              </a:lnSpc>
            </a:pPr>
            <a:r>
              <a:rPr lang="en-US" sz="1000" b="0" dirty="0">
                <a:solidFill>
                  <a:srgbClr val="000000"/>
                </a:solidFill>
                <a:latin typeface="Courier New" charset="0"/>
              </a:rPr>
              <a:t>      Interface FastEthernet0/1</a:t>
            </a:r>
          </a:p>
          <a:p>
            <a:pPr>
              <a:lnSpc>
                <a:spcPct val="110000"/>
              </a:lnSpc>
            </a:pPr>
            <a:r>
              <a:rPr lang="en-US" sz="1000" b="0" dirty="0">
                <a:solidFill>
                  <a:srgbClr val="000000"/>
                </a:solidFill>
                <a:latin typeface="Courier New" charset="0"/>
              </a:rPr>
              <a:t>        Inbound IPS rule is not set</a:t>
            </a:r>
          </a:p>
          <a:p>
            <a:pPr>
              <a:lnSpc>
                <a:spcPct val="110000"/>
              </a:lnSpc>
            </a:pPr>
            <a:r>
              <a:rPr lang="en-US" sz="1000" b="0" dirty="0">
                <a:solidFill>
                  <a:srgbClr val="000000"/>
                </a:solidFill>
                <a:latin typeface="Courier New" charset="0"/>
              </a:rPr>
              <a:t>        Outgoing IPS rule is </a:t>
            </a:r>
            <a:r>
              <a:rPr lang="en-US" sz="1000" b="0" dirty="0" err="1">
                <a:solidFill>
                  <a:srgbClr val="000000"/>
                </a:solidFill>
                <a:latin typeface="Courier New" charset="0"/>
              </a:rPr>
              <a:t>myips</a:t>
            </a:r>
            <a:endParaRPr lang="en-US" sz="1000" b="0" dirty="0">
              <a:solidFill>
                <a:srgbClr val="000000"/>
              </a:solidFill>
              <a:latin typeface="Courier New" charset="0"/>
            </a:endParaRPr>
          </a:p>
          <a:p>
            <a:pPr>
              <a:lnSpc>
                <a:spcPct val="100000"/>
              </a:lnSpc>
            </a:pPr>
            <a:r>
              <a:rPr lang="en-US" sz="1000" b="0" dirty="0">
                <a:solidFill>
                  <a:srgbClr val="000000"/>
                </a:solidFill>
                <a:latin typeface="Courier New" charset="0"/>
              </a:rPr>
              <a:t> </a:t>
            </a:r>
            <a:r>
              <a:rPr lang="en-US" sz="1000" b="0" dirty="0">
                <a:solidFill>
                  <a:srgbClr val="000000"/>
                </a:solidFill>
                <a:latin typeface="Arial"/>
                <a:cs typeface="Arial"/>
              </a:rPr>
              <a:t>&lt;output omitted&gt;</a:t>
            </a:r>
          </a:p>
        </p:txBody>
      </p:sp>
    </p:spTree>
    <p:extLst>
      <p:ext uri="{BB962C8B-B14F-4D97-AF65-F5344CB8AC3E}">
        <p14:creationId xmlns:p14="http://schemas.microsoft.com/office/powerpoint/2010/main" val="64720381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normAutofit/>
          </a:bodyPr>
          <a:lstStyle/>
          <a:p>
            <a:pPr eaLnBrk="1" hangingPunct="1"/>
            <a:r>
              <a:rPr lang="en-US" sz="4000" dirty="0"/>
              <a:t>View Configuration</a:t>
            </a:r>
          </a:p>
        </p:txBody>
      </p:sp>
      <p:sp>
        <p:nvSpPr>
          <p:cNvPr id="122884" name="Rectangle 4"/>
          <p:cNvSpPr>
            <a:spLocks noChangeArrowheads="1"/>
          </p:cNvSpPr>
          <p:nvPr/>
        </p:nvSpPr>
        <p:spPr bwMode="auto">
          <a:xfrm>
            <a:off x="914400" y="1690689"/>
            <a:ext cx="7088187" cy="2604046"/>
          </a:xfrm>
          <a:prstGeom prst="rect">
            <a:avLst/>
          </a:prstGeom>
          <a:solidFill>
            <a:srgbClr val="D9D9D9"/>
          </a:solidFill>
          <a:ln w="12700" cmpd="sng">
            <a:solidFill>
              <a:srgbClr val="000000"/>
            </a:solidFill>
            <a:miter lim="800000"/>
            <a:headEnd/>
            <a:tailEnd/>
          </a:ln>
          <a:extLst/>
        </p:spPr>
        <p:txBody>
          <a:bodyPr lIns="182880" tIns="0" rIns="0" bIns="0">
            <a:spAutoFit/>
          </a:bodyPr>
          <a:lstStyle/>
          <a:p>
            <a:pPr>
              <a:lnSpc>
                <a:spcPct val="110000"/>
              </a:lnSpc>
            </a:pPr>
            <a:r>
              <a:rPr lang="en-US" sz="1100" b="0" dirty="0">
                <a:solidFill>
                  <a:srgbClr val="000000"/>
                </a:solidFill>
                <a:latin typeface="Courier New" charset="0"/>
              </a:rPr>
              <a:t>R1# </a:t>
            </a:r>
            <a:r>
              <a:rPr lang="en-US" sz="1100" dirty="0">
                <a:solidFill>
                  <a:srgbClr val="000000"/>
                </a:solidFill>
                <a:latin typeface="Courier New" charset="0"/>
              </a:rPr>
              <a:t>show </a:t>
            </a:r>
            <a:r>
              <a:rPr lang="en-US" sz="1100" dirty="0" err="1">
                <a:solidFill>
                  <a:srgbClr val="000000"/>
                </a:solidFill>
                <a:latin typeface="Courier New" charset="0"/>
              </a:rPr>
              <a:t>ip</a:t>
            </a:r>
            <a:r>
              <a:rPr lang="en-US" sz="1100" dirty="0">
                <a:solidFill>
                  <a:srgbClr val="000000"/>
                </a:solidFill>
                <a:latin typeface="Courier New" charset="0"/>
              </a:rPr>
              <a:t> </a:t>
            </a:r>
            <a:r>
              <a:rPr lang="en-US" sz="1100" dirty="0" err="1">
                <a:solidFill>
                  <a:srgbClr val="000000"/>
                </a:solidFill>
                <a:latin typeface="Courier New" charset="0"/>
              </a:rPr>
              <a:t>ips</a:t>
            </a:r>
            <a:r>
              <a:rPr lang="en-US" sz="1100" dirty="0">
                <a:solidFill>
                  <a:srgbClr val="000000"/>
                </a:solidFill>
                <a:latin typeface="Courier New" charset="0"/>
              </a:rPr>
              <a:t> configuration</a:t>
            </a:r>
            <a:endParaRPr lang="en-US" sz="1100" b="0" dirty="0">
              <a:solidFill>
                <a:srgbClr val="000000"/>
              </a:solidFill>
              <a:latin typeface="Courier New" charset="0"/>
            </a:endParaRPr>
          </a:p>
          <a:p>
            <a:pPr>
              <a:lnSpc>
                <a:spcPct val="110000"/>
              </a:lnSpc>
            </a:pPr>
            <a:r>
              <a:rPr lang="en-US" sz="1100" b="0" dirty="0">
                <a:solidFill>
                  <a:srgbClr val="000000"/>
                </a:solidFill>
                <a:latin typeface="Courier New" charset="0"/>
              </a:rPr>
              <a:t>Event notification through syslog is enabled</a:t>
            </a:r>
          </a:p>
          <a:p>
            <a:pPr>
              <a:lnSpc>
                <a:spcPct val="110000"/>
              </a:lnSpc>
            </a:pPr>
            <a:r>
              <a:rPr lang="en-US" sz="1100" b="0" dirty="0">
                <a:solidFill>
                  <a:srgbClr val="000000"/>
                </a:solidFill>
                <a:latin typeface="Courier New" charset="0"/>
              </a:rPr>
              <a:t>Event notification through Net Director is enabled</a:t>
            </a:r>
          </a:p>
          <a:p>
            <a:pPr>
              <a:lnSpc>
                <a:spcPct val="110000"/>
              </a:lnSpc>
            </a:pPr>
            <a:r>
              <a:rPr lang="en-US" sz="1100" b="0" dirty="0">
                <a:solidFill>
                  <a:srgbClr val="000000"/>
                </a:solidFill>
                <a:latin typeface="Courier New" charset="0"/>
              </a:rPr>
              <a:t>Default action(s) for info signatures is alarm</a:t>
            </a:r>
          </a:p>
          <a:p>
            <a:pPr>
              <a:lnSpc>
                <a:spcPct val="110000"/>
              </a:lnSpc>
            </a:pPr>
            <a:r>
              <a:rPr lang="en-US" sz="1100" b="0" dirty="0">
                <a:solidFill>
                  <a:srgbClr val="000000"/>
                </a:solidFill>
                <a:latin typeface="Courier New" charset="0"/>
              </a:rPr>
              <a:t>Default action(s) for attack signatures is alarm</a:t>
            </a:r>
          </a:p>
          <a:p>
            <a:pPr>
              <a:lnSpc>
                <a:spcPct val="110000"/>
              </a:lnSpc>
            </a:pPr>
            <a:r>
              <a:rPr lang="en-US" sz="1100" b="0" dirty="0">
                <a:solidFill>
                  <a:srgbClr val="000000"/>
                </a:solidFill>
                <a:latin typeface="Courier New" charset="0"/>
              </a:rPr>
              <a:t>Default threshold of recipients for spam signature is 25</a:t>
            </a:r>
          </a:p>
          <a:p>
            <a:pPr>
              <a:lnSpc>
                <a:spcPct val="110000"/>
              </a:lnSpc>
            </a:pPr>
            <a:r>
              <a:rPr lang="en-US" sz="1100" b="0" dirty="0">
                <a:solidFill>
                  <a:srgbClr val="000000"/>
                </a:solidFill>
                <a:latin typeface="Courier New" charset="0"/>
              </a:rPr>
              <a:t>PostOffice:HostID:5 OrgID:100 Addr:10.2.7.3 </a:t>
            </a:r>
            <a:r>
              <a:rPr lang="en-US" sz="1100" b="0" dirty="0" err="1">
                <a:solidFill>
                  <a:srgbClr val="000000"/>
                </a:solidFill>
                <a:latin typeface="Courier New" charset="0"/>
              </a:rPr>
              <a:t>Msg</a:t>
            </a:r>
            <a:r>
              <a:rPr lang="en-US" sz="1100" b="0" dirty="0">
                <a:solidFill>
                  <a:srgbClr val="000000"/>
                </a:solidFill>
                <a:latin typeface="Courier New" charset="0"/>
              </a:rPr>
              <a:t> dropped:0</a:t>
            </a:r>
          </a:p>
          <a:p>
            <a:pPr>
              <a:lnSpc>
                <a:spcPct val="110000"/>
              </a:lnSpc>
            </a:pPr>
            <a:r>
              <a:rPr lang="en-US" sz="1100" b="0" dirty="0">
                <a:solidFill>
                  <a:srgbClr val="000000"/>
                </a:solidFill>
                <a:latin typeface="Courier New" charset="0"/>
              </a:rPr>
              <a:t>HID:1000 OID:100 S:218 A:3 H:14092 HA:7118 DA:0 R:0</a:t>
            </a:r>
          </a:p>
          <a:p>
            <a:pPr>
              <a:lnSpc>
                <a:spcPct val="110000"/>
              </a:lnSpc>
            </a:pPr>
            <a:r>
              <a:rPr lang="en-US" sz="1100" b="0" dirty="0">
                <a:solidFill>
                  <a:srgbClr val="000000"/>
                </a:solidFill>
                <a:latin typeface="Courier New" charset="0"/>
              </a:rPr>
              <a:t>    CID:1 IP:172.21.160.20 P:45000 S:ESTAB (</a:t>
            </a:r>
            <a:r>
              <a:rPr lang="en-US" sz="1100" b="0" dirty="0" err="1">
                <a:solidFill>
                  <a:srgbClr val="000000"/>
                </a:solidFill>
                <a:latin typeface="Courier New" charset="0"/>
              </a:rPr>
              <a:t>Curr</a:t>
            </a:r>
            <a:r>
              <a:rPr lang="en-US" sz="1100" b="0" dirty="0">
                <a:solidFill>
                  <a:srgbClr val="000000"/>
                </a:solidFill>
                <a:latin typeface="Courier New" charset="0"/>
              </a:rPr>
              <a:t> Conn)</a:t>
            </a:r>
          </a:p>
          <a:p>
            <a:pPr>
              <a:lnSpc>
                <a:spcPct val="110000"/>
              </a:lnSpc>
            </a:pPr>
            <a:r>
              <a:rPr lang="en-US" sz="1100" b="0" dirty="0">
                <a:solidFill>
                  <a:srgbClr val="000000"/>
                </a:solidFill>
                <a:latin typeface="Courier New" charset="0"/>
              </a:rPr>
              <a:t>Audit Rule Configuration</a:t>
            </a:r>
          </a:p>
          <a:p>
            <a:pPr>
              <a:lnSpc>
                <a:spcPct val="110000"/>
              </a:lnSpc>
            </a:pPr>
            <a:r>
              <a:rPr lang="en-US" sz="1100" b="0" dirty="0">
                <a:solidFill>
                  <a:srgbClr val="000000"/>
                </a:solidFill>
                <a:latin typeface="Courier New" charset="0"/>
              </a:rPr>
              <a:t> Audit name AUDIT.1</a:t>
            </a:r>
          </a:p>
          <a:p>
            <a:pPr>
              <a:lnSpc>
                <a:spcPct val="110000"/>
              </a:lnSpc>
            </a:pPr>
            <a:r>
              <a:rPr lang="en-US" sz="1100" b="0" dirty="0">
                <a:solidFill>
                  <a:srgbClr val="000000"/>
                </a:solidFill>
                <a:latin typeface="Courier New" charset="0"/>
              </a:rPr>
              <a:t>    info actions alarm</a:t>
            </a:r>
          </a:p>
          <a:p>
            <a:pPr>
              <a:lnSpc>
                <a:spcPct val="110000"/>
              </a:lnSpc>
            </a:pPr>
            <a:endParaRPr lang="en-US" sz="1100" b="0" dirty="0">
              <a:solidFill>
                <a:srgbClr val="000000"/>
              </a:solidFill>
              <a:latin typeface="Courier New" charset="0"/>
            </a:endParaRPr>
          </a:p>
          <a:p>
            <a:pPr>
              <a:lnSpc>
                <a:spcPct val="110000"/>
              </a:lnSpc>
            </a:pPr>
            <a:r>
              <a:rPr lang="en-US" sz="1100" b="0" dirty="0">
                <a:solidFill>
                  <a:srgbClr val="000000"/>
                </a:solidFill>
              </a:rPr>
              <a:t>&lt;output omitted&gt;</a:t>
            </a:r>
          </a:p>
        </p:txBody>
      </p:sp>
    </p:spTree>
    <p:extLst>
      <p:ext uri="{BB962C8B-B14F-4D97-AF65-F5344CB8AC3E}">
        <p14:creationId xmlns:p14="http://schemas.microsoft.com/office/powerpoint/2010/main" val="383618823"/>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en-US" dirty="0">
                <a:latin typeface="Arial" charset="0"/>
              </a:rPr>
              <a:t>View IPS </a:t>
            </a:r>
            <a:r>
              <a:rPr lang="en-US" sz="4000" dirty="0"/>
              <a:t>Interface</a:t>
            </a:r>
            <a:r>
              <a:rPr lang="en-US" dirty="0">
                <a:latin typeface="Arial" charset="0"/>
              </a:rPr>
              <a:t> Configuration</a:t>
            </a:r>
          </a:p>
        </p:txBody>
      </p:sp>
      <p:sp>
        <p:nvSpPr>
          <p:cNvPr id="123908" name="Rectangle 4"/>
          <p:cNvSpPr>
            <a:spLocks noChangeArrowheads="1"/>
          </p:cNvSpPr>
          <p:nvPr/>
        </p:nvSpPr>
        <p:spPr bwMode="auto">
          <a:xfrm>
            <a:off x="838200" y="1708886"/>
            <a:ext cx="7088187" cy="1765355"/>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100" b="0" dirty="0">
                <a:solidFill>
                  <a:srgbClr val="000000"/>
                </a:solidFill>
                <a:latin typeface="Courier New" charset="0"/>
              </a:rPr>
              <a:t>R1# </a:t>
            </a:r>
            <a:r>
              <a:rPr lang="en-US" sz="1100" dirty="0">
                <a:solidFill>
                  <a:srgbClr val="000000"/>
                </a:solidFill>
                <a:latin typeface="Courier New" charset="0"/>
              </a:rPr>
              <a:t>show </a:t>
            </a:r>
            <a:r>
              <a:rPr lang="en-US" sz="1100" dirty="0" err="1">
                <a:solidFill>
                  <a:srgbClr val="000000"/>
                </a:solidFill>
                <a:latin typeface="Courier New" charset="0"/>
              </a:rPr>
              <a:t>ip</a:t>
            </a:r>
            <a:r>
              <a:rPr lang="en-US" sz="1100" dirty="0">
                <a:solidFill>
                  <a:srgbClr val="000000"/>
                </a:solidFill>
                <a:latin typeface="Courier New" charset="0"/>
              </a:rPr>
              <a:t> </a:t>
            </a:r>
            <a:r>
              <a:rPr lang="en-US" sz="1100" dirty="0" err="1">
                <a:solidFill>
                  <a:srgbClr val="000000"/>
                </a:solidFill>
                <a:latin typeface="Courier New" charset="0"/>
              </a:rPr>
              <a:t>ips</a:t>
            </a:r>
            <a:r>
              <a:rPr lang="en-US" sz="1100" dirty="0">
                <a:solidFill>
                  <a:srgbClr val="000000"/>
                </a:solidFill>
                <a:latin typeface="Courier New" charset="0"/>
              </a:rPr>
              <a:t> interfaces</a:t>
            </a:r>
          </a:p>
          <a:p>
            <a:pPr>
              <a:lnSpc>
                <a:spcPct val="110000"/>
              </a:lnSpc>
            </a:pPr>
            <a:r>
              <a:rPr lang="en-US" sz="1100" b="0" dirty="0">
                <a:solidFill>
                  <a:srgbClr val="000000"/>
                </a:solidFill>
                <a:latin typeface="Courier New" charset="0"/>
              </a:rPr>
              <a:t>Interface Configuration</a:t>
            </a:r>
          </a:p>
          <a:p>
            <a:pPr>
              <a:lnSpc>
                <a:spcPct val="110000"/>
              </a:lnSpc>
            </a:pPr>
            <a:r>
              <a:rPr lang="en-US" sz="1100" b="0" dirty="0">
                <a:solidFill>
                  <a:srgbClr val="000000"/>
                </a:solidFill>
                <a:latin typeface="Courier New" charset="0"/>
              </a:rPr>
              <a:t>      Interface FastEthernet0/0</a:t>
            </a:r>
          </a:p>
          <a:p>
            <a:pPr>
              <a:lnSpc>
                <a:spcPct val="110000"/>
              </a:lnSpc>
            </a:pPr>
            <a:r>
              <a:rPr lang="en-US" sz="1100" b="0" dirty="0">
                <a:solidFill>
                  <a:srgbClr val="000000"/>
                </a:solidFill>
                <a:latin typeface="Courier New" charset="0"/>
              </a:rPr>
              <a:t>        Inbound IPS rule is </a:t>
            </a:r>
            <a:r>
              <a:rPr lang="en-US" sz="1100" b="0" dirty="0" err="1">
                <a:solidFill>
                  <a:srgbClr val="000000"/>
                </a:solidFill>
                <a:latin typeface="Courier New" charset="0"/>
              </a:rPr>
              <a:t>sdm_ips_rule</a:t>
            </a:r>
            <a:endParaRPr lang="en-US" sz="1100" b="0" dirty="0">
              <a:solidFill>
                <a:srgbClr val="000000"/>
              </a:solidFill>
              <a:latin typeface="Courier New" charset="0"/>
            </a:endParaRPr>
          </a:p>
          <a:p>
            <a:pPr>
              <a:lnSpc>
                <a:spcPct val="110000"/>
              </a:lnSpc>
            </a:pPr>
            <a:r>
              <a:rPr lang="en-US" sz="1100" b="0" dirty="0">
                <a:solidFill>
                  <a:srgbClr val="000000"/>
                </a:solidFill>
                <a:latin typeface="Courier New" charset="0"/>
              </a:rPr>
              <a:t>        Outgoing IPS rule is not set</a:t>
            </a:r>
          </a:p>
          <a:p>
            <a:pPr>
              <a:lnSpc>
                <a:spcPct val="110000"/>
              </a:lnSpc>
            </a:pPr>
            <a:r>
              <a:rPr lang="en-US" sz="1100" b="0" dirty="0">
                <a:solidFill>
                  <a:srgbClr val="000000"/>
                </a:solidFill>
                <a:latin typeface="Courier New" charset="0"/>
              </a:rPr>
              <a:t>      Interface FastEthernet0/1</a:t>
            </a:r>
          </a:p>
          <a:p>
            <a:pPr>
              <a:lnSpc>
                <a:spcPct val="110000"/>
              </a:lnSpc>
            </a:pPr>
            <a:r>
              <a:rPr lang="en-US" sz="1100" b="0" dirty="0">
                <a:solidFill>
                  <a:srgbClr val="000000"/>
                </a:solidFill>
                <a:latin typeface="Courier New" charset="0"/>
              </a:rPr>
              <a:t>        Inbound IPS rule is </a:t>
            </a:r>
            <a:r>
              <a:rPr lang="en-US" sz="1100" b="0" dirty="0" err="1">
                <a:solidFill>
                  <a:srgbClr val="000000"/>
                </a:solidFill>
                <a:latin typeface="Courier New" charset="0"/>
              </a:rPr>
              <a:t>sdm_ips_rule</a:t>
            </a:r>
            <a:endParaRPr lang="en-US" sz="1100" b="0" dirty="0">
              <a:solidFill>
                <a:srgbClr val="000000"/>
              </a:solidFill>
              <a:latin typeface="Courier New" charset="0"/>
            </a:endParaRPr>
          </a:p>
          <a:p>
            <a:pPr>
              <a:lnSpc>
                <a:spcPct val="110000"/>
              </a:lnSpc>
            </a:pPr>
            <a:r>
              <a:rPr lang="en-US" sz="1100" b="0" dirty="0">
                <a:solidFill>
                  <a:srgbClr val="000000"/>
                </a:solidFill>
                <a:latin typeface="Courier New" charset="0"/>
              </a:rPr>
              <a:t>        Outgoing IPS rule is not set </a:t>
            </a:r>
          </a:p>
          <a:p>
            <a:pPr>
              <a:lnSpc>
                <a:spcPct val="110000"/>
              </a:lnSpc>
            </a:pPr>
            <a:r>
              <a:rPr lang="en-US" sz="1100" b="0" dirty="0">
                <a:solidFill>
                  <a:srgbClr val="000000"/>
                </a:solidFill>
                <a:latin typeface="Courier New" charset="0"/>
              </a:rPr>
              <a:t>R1# </a:t>
            </a:r>
          </a:p>
        </p:txBody>
      </p:sp>
    </p:spTree>
    <p:extLst>
      <p:ext uri="{BB962C8B-B14F-4D97-AF65-F5344CB8AC3E}">
        <p14:creationId xmlns:p14="http://schemas.microsoft.com/office/powerpoint/2010/main" val="296653611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normAutofit/>
          </a:bodyPr>
          <a:lstStyle/>
          <a:p>
            <a:pPr eaLnBrk="1" hangingPunct="1"/>
            <a:r>
              <a:rPr lang="en-US" sz="4000" dirty="0"/>
              <a:t>Show Signature Status</a:t>
            </a:r>
          </a:p>
        </p:txBody>
      </p:sp>
      <p:sp>
        <p:nvSpPr>
          <p:cNvPr id="124932" name="Rectangle 4"/>
          <p:cNvSpPr>
            <a:spLocks noChangeArrowheads="1"/>
          </p:cNvSpPr>
          <p:nvPr/>
        </p:nvSpPr>
        <p:spPr bwMode="auto">
          <a:xfrm>
            <a:off x="628650" y="1828800"/>
            <a:ext cx="7088187" cy="1765355"/>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100" b="0" dirty="0">
                <a:solidFill>
                  <a:srgbClr val="000000"/>
                </a:solidFill>
                <a:latin typeface="Courier New" charset="0"/>
              </a:rPr>
              <a:t>R1# </a:t>
            </a:r>
            <a:r>
              <a:rPr lang="en-US" sz="1100" dirty="0">
                <a:solidFill>
                  <a:srgbClr val="000000"/>
                </a:solidFill>
                <a:latin typeface="Courier New" charset="0"/>
              </a:rPr>
              <a:t>show </a:t>
            </a:r>
            <a:r>
              <a:rPr lang="en-US" sz="1100" dirty="0" err="1">
                <a:solidFill>
                  <a:srgbClr val="000000"/>
                </a:solidFill>
                <a:latin typeface="Courier New" charset="0"/>
              </a:rPr>
              <a:t>ip</a:t>
            </a:r>
            <a:r>
              <a:rPr lang="en-US" sz="1100" dirty="0">
                <a:solidFill>
                  <a:srgbClr val="000000"/>
                </a:solidFill>
                <a:latin typeface="Courier New" charset="0"/>
              </a:rPr>
              <a:t> </a:t>
            </a:r>
            <a:r>
              <a:rPr lang="en-US" sz="1100" dirty="0" err="1">
                <a:solidFill>
                  <a:srgbClr val="000000"/>
                </a:solidFill>
                <a:latin typeface="Courier New" charset="0"/>
              </a:rPr>
              <a:t>ips</a:t>
            </a:r>
            <a:r>
              <a:rPr lang="en-US" sz="1100" dirty="0">
                <a:solidFill>
                  <a:srgbClr val="000000"/>
                </a:solidFill>
                <a:latin typeface="Courier New" charset="0"/>
              </a:rPr>
              <a:t> signature | include 5000 </a:t>
            </a:r>
          </a:p>
          <a:p>
            <a:pPr>
              <a:lnSpc>
                <a:spcPct val="110000"/>
              </a:lnSpc>
            </a:pPr>
            <a:r>
              <a:rPr lang="en-US" sz="1100" b="0" dirty="0" err="1">
                <a:solidFill>
                  <a:srgbClr val="000000"/>
                </a:solidFill>
                <a:latin typeface="Courier New" charset="0"/>
              </a:rPr>
              <a:t>SigID:SubID</a:t>
            </a:r>
            <a:r>
              <a:rPr lang="en-US" sz="1100" b="0" dirty="0">
                <a:solidFill>
                  <a:srgbClr val="000000"/>
                </a:solidFill>
                <a:latin typeface="Courier New" charset="0"/>
              </a:rPr>
              <a:t>   On   Action   </a:t>
            </a:r>
            <a:r>
              <a:rPr lang="en-US" sz="1100" b="0" dirty="0" err="1">
                <a:solidFill>
                  <a:srgbClr val="000000"/>
                </a:solidFill>
                <a:latin typeface="Courier New" charset="0"/>
              </a:rPr>
              <a:t>Sev</a:t>
            </a:r>
            <a:r>
              <a:rPr lang="en-US" sz="1100" b="0" dirty="0">
                <a:solidFill>
                  <a:srgbClr val="000000"/>
                </a:solidFill>
                <a:latin typeface="Courier New" charset="0"/>
              </a:rPr>
              <a:t>   Trait   MH   AI   CT   TI   AT FA  WF Version </a:t>
            </a:r>
          </a:p>
          <a:p>
            <a:pPr>
              <a:lnSpc>
                <a:spcPct val="110000"/>
              </a:lnSpc>
            </a:pPr>
            <a:r>
              <a:rPr lang="en-US" sz="1100" b="0" dirty="0">
                <a:solidFill>
                  <a:srgbClr val="000000"/>
                </a:solidFill>
                <a:latin typeface="Courier New" charset="0"/>
              </a:rPr>
              <a:t>-----------   --   ------   ---   -----   --   --   --   --   -----  ----------</a:t>
            </a:r>
          </a:p>
          <a:p>
            <a:pPr>
              <a:lnSpc>
                <a:spcPct val="110000"/>
              </a:lnSpc>
            </a:pPr>
            <a:endParaRPr lang="en-US" sz="1100" b="0" dirty="0">
              <a:solidFill>
                <a:srgbClr val="000000"/>
              </a:solidFill>
              <a:latin typeface="Courier New" charset="0"/>
            </a:endParaRPr>
          </a:p>
          <a:p>
            <a:pPr>
              <a:lnSpc>
                <a:spcPct val="110000"/>
              </a:lnSpc>
            </a:pPr>
            <a:r>
              <a:rPr lang="en-US" sz="1100" b="0" dirty="0">
                <a:solidFill>
                  <a:srgbClr val="000000"/>
                </a:solidFill>
                <a:latin typeface="Courier New" charset="0"/>
              </a:rPr>
              <a:t>50000:0       N    A        HIGH  0       0    0    0    0    FA  N   OPACL</a:t>
            </a:r>
          </a:p>
          <a:p>
            <a:pPr>
              <a:lnSpc>
                <a:spcPct val="110000"/>
              </a:lnSpc>
            </a:pPr>
            <a:r>
              <a:rPr lang="en-US" sz="1100" b="0" dirty="0">
                <a:solidFill>
                  <a:srgbClr val="000000"/>
                </a:solidFill>
                <a:latin typeface="Courier New" charset="0"/>
              </a:rPr>
              <a:t>50000:1       N    A        HIGH  0       0    0    0    0    FA  N   OPACL</a:t>
            </a:r>
          </a:p>
          <a:p>
            <a:pPr>
              <a:lnSpc>
                <a:spcPct val="110000"/>
              </a:lnSpc>
            </a:pPr>
            <a:r>
              <a:rPr lang="en-US" sz="1100" b="0" dirty="0">
                <a:solidFill>
                  <a:srgbClr val="000000"/>
                </a:solidFill>
                <a:latin typeface="Courier New" charset="0"/>
              </a:rPr>
              <a:t>50000:2       N    A        HIGH  0       0    0    0    0    FA  N   OPACL</a:t>
            </a:r>
          </a:p>
          <a:p>
            <a:pPr>
              <a:lnSpc>
                <a:spcPct val="110000"/>
              </a:lnSpc>
            </a:pPr>
            <a:endParaRPr lang="en-US" sz="1100" b="0" dirty="0">
              <a:solidFill>
                <a:srgbClr val="000000"/>
              </a:solidFill>
              <a:latin typeface="Courier New" charset="0"/>
            </a:endParaRPr>
          </a:p>
          <a:p>
            <a:pPr>
              <a:lnSpc>
                <a:spcPct val="110000"/>
              </a:lnSpc>
            </a:pPr>
            <a:r>
              <a:rPr lang="en-US" sz="1100" b="0" dirty="0">
                <a:solidFill>
                  <a:srgbClr val="000000"/>
                </a:solidFill>
                <a:latin typeface="Courier New" charset="0"/>
              </a:rPr>
              <a:t>R1# </a:t>
            </a:r>
          </a:p>
        </p:txBody>
      </p:sp>
    </p:spTree>
    <p:extLst>
      <p:ext uri="{BB962C8B-B14F-4D97-AF65-F5344CB8AC3E}">
        <p14:creationId xmlns:p14="http://schemas.microsoft.com/office/powerpoint/2010/main" val="260646602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normAutofit/>
          </a:bodyPr>
          <a:lstStyle/>
          <a:p>
            <a:pPr eaLnBrk="1" hangingPunct="1"/>
            <a:r>
              <a:rPr lang="en-US" sz="4000" dirty="0"/>
              <a:t>View Alarm and Packet Statistics</a:t>
            </a:r>
          </a:p>
        </p:txBody>
      </p:sp>
      <p:sp>
        <p:nvSpPr>
          <p:cNvPr id="125956" name="Rectangle 4"/>
          <p:cNvSpPr>
            <a:spLocks noChangeArrowheads="1"/>
          </p:cNvSpPr>
          <p:nvPr/>
        </p:nvSpPr>
        <p:spPr bwMode="auto">
          <a:xfrm>
            <a:off x="762000" y="1705283"/>
            <a:ext cx="7088187" cy="2696379"/>
          </a:xfrm>
          <a:prstGeom prst="rect">
            <a:avLst/>
          </a:prstGeom>
          <a:solidFill>
            <a:srgbClr val="D9D9D9"/>
          </a:solidFill>
          <a:ln w="12700" cmpd="sng">
            <a:solidFill>
              <a:srgbClr val="000000"/>
            </a:solidFill>
            <a:miter lim="800000"/>
            <a:headEnd/>
            <a:tailEnd/>
          </a:ln>
          <a:extLst/>
        </p:spPr>
        <p:txBody>
          <a:bodyPr lIns="91440" tIns="45720" rIns="91440" bIns="45720">
            <a:spAutoFit/>
          </a:bodyPr>
          <a:lstStyle/>
          <a:p>
            <a:pPr>
              <a:lnSpc>
                <a:spcPct val="110000"/>
              </a:lnSpc>
            </a:pPr>
            <a:r>
              <a:rPr lang="en-US" sz="1100" b="0" dirty="0">
                <a:solidFill>
                  <a:srgbClr val="000000"/>
                </a:solidFill>
                <a:latin typeface="Courier New" charset="0"/>
              </a:rPr>
              <a:t>R1# </a:t>
            </a:r>
            <a:r>
              <a:rPr lang="en-US" sz="1100" dirty="0">
                <a:solidFill>
                  <a:srgbClr val="000000"/>
                </a:solidFill>
                <a:latin typeface="Courier New" charset="0"/>
              </a:rPr>
              <a:t>show </a:t>
            </a:r>
            <a:r>
              <a:rPr lang="en-US" sz="1100" dirty="0" err="1">
                <a:solidFill>
                  <a:srgbClr val="000000"/>
                </a:solidFill>
                <a:latin typeface="Courier New" charset="0"/>
              </a:rPr>
              <a:t>ip</a:t>
            </a:r>
            <a:r>
              <a:rPr lang="en-US" sz="1100" dirty="0">
                <a:solidFill>
                  <a:srgbClr val="000000"/>
                </a:solidFill>
                <a:latin typeface="Courier New" charset="0"/>
              </a:rPr>
              <a:t> </a:t>
            </a:r>
            <a:r>
              <a:rPr lang="en-US" sz="1100" dirty="0" err="1">
                <a:solidFill>
                  <a:srgbClr val="000000"/>
                </a:solidFill>
                <a:latin typeface="Courier New" charset="0"/>
              </a:rPr>
              <a:t>ips</a:t>
            </a:r>
            <a:r>
              <a:rPr lang="en-US" sz="1100" dirty="0">
                <a:solidFill>
                  <a:srgbClr val="000000"/>
                </a:solidFill>
                <a:latin typeface="Courier New" charset="0"/>
              </a:rPr>
              <a:t> statistics</a:t>
            </a:r>
          </a:p>
          <a:p>
            <a:pPr>
              <a:lnSpc>
                <a:spcPct val="110000"/>
              </a:lnSpc>
            </a:pPr>
            <a:r>
              <a:rPr lang="en-US" sz="1100" b="0" dirty="0">
                <a:solidFill>
                  <a:srgbClr val="000000"/>
                </a:solidFill>
                <a:latin typeface="Courier New" charset="0"/>
              </a:rPr>
              <a:t>Signature audit statistics [process </a:t>
            </a:r>
            <a:r>
              <a:rPr lang="en-US" sz="1100" b="0" dirty="0" err="1">
                <a:solidFill>
                  <a:srgbClr val="000000"/>
                </a:solidFill>
                <a:latin typeface="Courier New" charset="0"/>
              </a:rPr>
              <a:t>switch:fast</a:t>
            </a:r>
            <a:r>
              <a:rPr lang="en-US" sz="1100" b="0" dirty="0">
                <a:solidFill>
                  <a:srgbClr val="000000"/>
                </a:solidFill>
                <a:latin typeface="Courier New" charset="0"/>
              </a:rPr>
              <a:t> switch]</a:t>
            </a:r>
          </a:p>
          <a:p>
            <a:pPr>
              <a:lnSpc>
                <a:spcPct val="110000"/>
              </a:lnSpc>
            </a:pPr>
            <a:r>
              <a:rPr lang="en-US" sz="1100" b="0" dirty="0">
                <a:solidFill>
                  <a:srgbClr val="000000"/>
                </a:solidFill>
                <a:latin typeface="Courier New" charset="0"/>
              </a:rPr>
              <a:t>  signature 2000 packets audited: [0:2]</a:t>
            </a:r>
          </a:p>
          <a:p>
            <a:pPr>
              <a:lnSpc>
                <a:spcPct val="110000"/>
              </a:lnSpc>
            </a:pPr>
            <a:r>
              <a:rPr lang="en-US" sz="1100" b="0" dirty="0">
                <a:solidFill>
                  <a:srgbClr val="000000"/>
                </a:solidFill>
                <a:latin typeface="Courier New" charset="0"/>
              </a:rPr>
              <a:t>  signature 2001 packets audited: [9:9]</a:t>
            </a:r>
          </a:p>
          <a:p>
            <a:pPr>
              <a:lnSpc>
                <a:spcPct val="110000"/>
              </a:lnSpc>
            </a:pPr>
            <a:r>
              <a:rPr lang="en-US" sz="1100" b="0" dirty="0">
                <a:solidFill>
                  <a:srgbClr val="000000"/>
                </a:solidFill>
                <a:latin typeface="Courier New" charset="0"/>
              </a:rPr>
              <a:t>  signature 2004 packets audited: [0:2]</a:t>
            </a:r>
          </a:p>
          <a:p>
            <a:pPr>
              <a:lnSpc>
                <a:spcPct val="110000"/>
              </a:lnSpc>
            </a:pPr>
            <a:r>
              <a:rPr lang="en-US" sz="1100" b="0" dirty="0">
                <a:solidFill>
                  <a:srgbClr val="000000"/>
                </a:solidFill>
                <a:latin typeface="Courier New" charset="0"/>
              </a:rPr>
              <a:t>  signature 3151 packets audited: [0:12]</a:t>
            </a:r>
          </a:p>
          <a:p>
            <a:pPr>
              <a:lnSpc>
                <a:spcPct val="110000"/>
              </a:lnSpc>
            </a:pPr>
            <a:r>
              <a:rPr lang="en-US" sz="1100" b="0" dirty="0">
                <a:solidFill>
                  <a:srgbClr val="000000"/>
                </a:solidFill>
                <a:latin typeface="Courier New" charset="0"/>
              </a:rPr>
              <a:t>Interfaces configured for audit 2</a:t>
            </a:r>
          </a:p>
          <a:p>
            <a:pPr>
              <a:lnSpc>
                <a:spcPct val="110000"/>
              </a:lnSpc>
            </a:pPr>
            <a:r>
              <a:rPr lang="en-US" sz="1100" b="0" dirty="0">
                <a:solidFill>
                  <a:srgbClr val="000000"/>
                </a:solidFill>
                <a:latin typeface="Courier New" charset="0"/>
              </a:rPr>
              <a:t>Session creations since subsystem startup or last reset 11</a:t>
            </a:r>
          </a:p>
          <a:p>
            <a:pPr>
              <a:lnSpc>
                <a:spcPct val="110000"/>
              </a:lnSpc>
            </a:pPr>
            <a:r>
              <a:rPr lang="en-US" sz="1100" b="0" dirty="0">
                <a:solidFill>
                  <a:srgbClr val="000000"/>
                </a:solidFill>
                <a:latin typeface="Courier New" charset="0"/>
              </a:rPr>
              <a:t>Current session counts (</a:t>
            </a:r>
            <a:r>
              <a:rPr lang="en-US" sz="1100" b="0" dirty="0" err="1">
                <a:solidFill>
                  <a:srgbClr val="000000"/>
                </a:solidFill>
                <a:latin typeface="Courier New" charset="0"/>
              </a:rPr>
              <a:t>estab</a:t>
            </a:r>
            <a:r>
              <a:rPr lang="en-US" sz="1100" b="0" dirty="0">
                <a:solidFill>
                  <a:srgbClr val="000000"/>
                </a:solidFill>
                <a:latin typeface="Courier New" charset="0"/>
              </a:rPr>
              <a:t>/half-open/terminating) [0:0:0]</a:t>
            </a:r>
          </a:p>
          <a:p>
            <a:pPr>
              <a:lnSpc>
                <a:spcPct val="110000"/>
              </a:lnSpc>
            </a:pPr>
            <a:r>
              <a:rPr lang="en-US" sz="1100" b="0" dirty="0" err="1">
                <a:solidFill>
                  <a:srgbClr val="000000"/>
                </a:solidFill>
                <a:latin typeface="Courier New" charset="0"/>
              </a:rPr>
              <a:t>Maxever</a:t>
            </a:r>
            <a:r>
              <a:rPr lang="en-US" sz="1100" b="0" dirty="0">
                <a:solidFill>
                  <a:srgbClr val="000000"/>
                </a:solidFill>
                <a:latin typeface="Courier New" charset="0"/>
              </a:rPr>
              <a:t> session counts (</a:t>
            </a:r>
            <a:r>
              <a:rPr lang="en-US" sz="1100" b="0" dirty="0" err="1">
                <a:solidFill>
                  <a:srgbClr val="000000"/>
                </a:solidFill>
                <a:latin typeface="Courier New" charset="0"/>
              </a:rPr>
              <a:t>estab</a:t>
            </a:r>
            <a:r>
              <a:rPr lang="en-US" sz="1100" b="0" dirty="0">
                <a:solidFill>
                  <a:srgbClr val="000000"/>
                </a:solidFill>
                <a:latin typeface="Courier New" charset="0"/>
              </a:rPr>
              <a:t>/half-open/terminating) [2:1:0]</a:t>
            </a:r>
          </a:p>
          <a:p>
            <a:pPr>
              <a:lnSpc>
                <a:spcPct val="110000"/>
              </a:lnSpc>
            </a:pPr>
            <a:r>
              <a:rPr lang="en-US" sz="1100" b="0" dirty="0">
                <a:solidFill>
                  <a:srgbClr val="000000"/>
                </a:solidFill>
                <a:latin typeface="Courier New" charset="0"/>
              </a:rPr>
              <a:t>Last session created 19:18:27</a:t>
            </a:r>
          </a:p>
          <a:p>
            <a:pPr>
              <a:lnSpc>
                <a:spcPct val="110000"/>
              </a:lnSpc>
            </a:pPr>
            <a:r>
              <a:rPr lang="en-US" sz="1100" b="0" dirty="0">
                <a:solidFill>
                  <a:srgbClr val="000000"/>
                </a:solidFill>
                <a:latin typeface="Courier New" charset="0"/>
              </a:rPr>
              <a:t>Last statistic reset never</a:t>
            </a:r>
          </a:p>
          <a:p>
            <a:pPr>
              <a:lnSpc>
                <a:spcPct val="110000"/>
              </a:lnSpc>
            </a:pPr>
            <a:r>
              <a:rPr lang="en-US" sz="1100" b="0" dirty="0">
                <a:solidFill>
                  <a:srgbClr val="000000"/>
                </a:solidFill>
                <a:latin typeface="Courier New" charset="0"/>
              </a:rPr>
              <a:t>HID:1000 OID:100 S:218 A:3 H:14085 HA:7114 DA:0 R:0 </a:t>
            </a:r>
          </a:p>
          <a:p>
            <a:pPr>
              <a:lnSpc>
                <a:spcPct val="110000"/>
              </a:lnSpc>
            </a:pPr>
            <a:r>
              <a:rPr lang="en-US" sz="1100" b="0" dirty="0">
                <a:solidFill>
                  <a:srgbClr val="000000"/>
                </a:solidFill>
                <a:latin typeface="Courier New" charset="0"/>
              </a:rPr>
              <a:t>R1# </a:t>
            </a:r>
          </a:p>
        </p:txBody>
      </p:sp>
    </p:spTree>
    <p:extLst>
      <p:ext uri="{BB962C8B-B14F-4D97-AF65-F5344CB8AC3E}">
        <p14:creationId xmlns:p14="http://schemas.microsoft.com/office/powerpoint/2010/main" val="137497591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FD4594-3E8B-4C1F-A617-3EE029DC0C2F}"/>
              </a:ext>
            </a:extLst>
          </p:cNvPr>
          <p:cNvSpPr>
            <a:spLocks noGrp="1"/>
          </p:cNvSpPr>
          <p:nvPr>
            <p:ph type="sldNum" sz="quarter" idx="12"/>
          </p:nvPr>
        </p:nvSpPr>
        <p:spPr/>
        <p:txBody>
          <a:bodyPr/>
          <a:lstStyle/>
          <a:p>
            <a:fld id="{BFED3573-B3DD-4682-880B-EB337D5E1BDE}" type="slidenum">
              <a:rPr lang="en-US" smtClean="0"/>
              <a:pPr/>
              <a:t>49</a:t>
            </a:fld>
            <a:endParaRPr lang="en-US"/>
          </a:p>
        </p:txBody>
      </p:sp>
      <p:sp>
        <p:nvSpPr>
          <p:cNvPr id="5" name="Rectangle 2">
            <a:extLst>
              <a:ext uri="{FF2B5EF4-FFF2-40B4-BE49-F238E27FC236}">
                <a16:creationId xmlns:a16="http://schemas.microsoft.com/office/drawing/2014/main" id="{6BB1F15B-2A94-4120-A46C-7E6C107476A3}"/>
              </a:ext>
            </a:extLst>
          </p:cNvPr>
          <p:cNvSpPr txBox="1">
            <a:spLocks noChangeArrowheads="1"/>
          </p:cNvSpPr>
          <p:nvPr/>
        </p:nvSpPr>
        <p:spPr>
          <a:xfrm>
            <a:off x="594014" y="681037"/>
            <a:ext cx="8232382" cy="8960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a:lstStyle>
          <a:p>
            <a:pPr fontAlgn="auto">
              <a:spcAft>
                <a:spcPts val="0"/>
              </a:spcAft>
            </a:pPr>
            <a:r>
              <a:rPr lang="en-US" sz="4000" dirty="0"/>
              <a:t>Difference between Firewalls and IPS</a:t>
            </a:r>
            <a:endParaRPr lang="en-US" sz="5400" dirty="0"/>
          </a:p>
        </p:txBody>
      </p:sp>
      <p:pic>
        <p:nvPicPr>
          <p:cNvPr id="6" name="Picture 5">
            <a:extLst>
              <a:ext uri="{FF2B5EF4-FFF2-40B4-BE49-F238E27FC236}">
                <a16:creationId xmlns:a16="http://schemas.microsoft.com/office/drawing/2014/main" id="{95F01555-76BC-44F7-92A7-07E90C58C993}"/>
              </a:ext>
            </a:extLst>
          </p:cNvPr>
          <p:cNvPicPr>
            <a:picLocks noChangeAspect="1"/>
          </p:cNvPicPr>
          <p:nvPr/>
        </p:nvPicPr>
        <p:blipFill>
          <a:blip r:embed="rId2"/>
          <a:stretch>
            <a:fillRect/>
          </a:stretch>
        </p:blipFill>
        <p:spPr>
          <a:xfrm>
            <a:off x="1704975" y="1492251"/>
            <a:ext cx="5781675" cy="5229225"/>
          </a:xfrm>
          <a:prstGeom prst="rect">
            <a:avLst/>
          </a:prstGeom>
        </p:spPr>
      </p:pic>
      <p:sp>
        <p:nvSpPr>
          <p:cNvPr id="7" name="Rectangle 6">
            <a:extLst>
              <a:ext uri="{FF2B5EF4-FFF2-40B4-BE49-F238E27FC236}">
                <a16:creationId xmlns:a16="http://schemas.microsoft.com/office/drawing/2014/main" id="{C2C68834-2B75-4EC8-AF70-9D4DADB7E80A}"/>
              </a:ext>
            </a:extLst>
          </p:cNvPr>
          <p:cNvSpPr/>
          <p:nvPr/>
        </p:nvSpPr>
        <p:spPr>
          <a:xfrm>
            <a:off x="3943350" y="6443246"/>
            <a:ext cx="4572000" cy="338554"/>
          </a:xfrm>
          <a:prstGeom prst="rect">
            <a:avLst/>
          </a:prstGeom>
        </p:spPr>
        <p:txBody>
          <a:bodyPr>
            <a:spAutoFit/>
          </a:bodyPr>
          <a:lstStyle/>
          <a:p>
            <a:r>
              <a:rPr lang="en-SG" sz="1600" dirty="0"/>
              <a:t>https://ipwithease.com/firewall-vs-ips-vs-ids/</a:t>
            </a:r>
          </a:p>
        </p:txBody>
      </p:sp>
    </p:spTree>
    <p:extLst>
      <p:ext uri="{BB962C8B-B14F-4D97-AF65-F5344CB8AC3E}">
        <p14:creationId xmlns:p14="http://schemas.microsoft.com/office/powerpoint/2010/main" val="2272136080"/>
      </p:ext>
    </p:extLst>
  </p:cSld>
  <p:clrMapOvr>
    <a:masterClrMapping/>
  </p:clrMapOvr>
  <p:transition spd="med">
    <p:comb/>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B971A69-A286-4704-80C0-7498D9145463}"/>
              </a:ext>
            </a:extLst>
          </p:cNvPr>
          <p:cNvGraphicFramePr>
            <a:graphicFrameLocks noGrp="1"/>
          </p:cNvGraphicFramePr>
          <p:nvPr>
            <p:ph idx="1"/>
            <p:extLst>
              <p:ext uri="{D42A27DB-BD31-4B8C-83A1-F6EECF244321}">
                <p14:modId xmlns:p14="http://schemas.microsoft.com/office/powerpoint/2010/main" val="788225114"/>
              </p:ext>
            </p:extLst>
          </p:nvPr>
        </p:nvGraphicFramePr>
        <p:xfrm>
          <a:off x="236053" y="1433513"/>
          <a:ext cx="8604198" cy="5105400"/>
        </p:xfrm>
        <a:graphic>
          <a:graphicData uri="http://schemas.openxmlformats.org/drawingml/2006/table">
            <a:tbl>
              <a:tblPr firstRow="1" bandRow="1">
                <a:tableStyleId>{21E4AEA4-8DFA-4A89-87EB-49C32662AFE0}</a:tableStyleId>
              </a:tblPr>
              <a:tblGrid>
                <a:gridCol w="1156855">
                  <a:extLst>
                    <a:ext uri="{9D8B030D-6E8A-4147-A177-3AD203B41FA5}">
                      <a16:colId xmlns:a16="http://schemas.microsoft.com/office/drawing/2014/main" val="4071652245"/>
                    </a:ext>
                  </a:extLst>
                </a:gridCol>
                <a:gridCol w="2461710">
                  <a:extLst>
                    <a:ext uri="{9D8B030D-6E8A-4147-A177-3AD203B41FA5}">
                      <a16:colId xmlns:a16="http://schemas.microsoft.com/office/drawing/2014/main" val="4085981721"/>
                    </a:ext>
                  </a:extLst>
                </a:gridCol>
                <a:gridCol w="2425854">
                  <a:extLst>
                    <a:ext uri="{9D8B030D-6E8A-4147-A177-3AD203B41FA5}">
                      <a16:colId xmlns:a16="http://schemas.microsoft.com/office/drawing/2014/main" val="3193153388"/>
                    </a:ext>
                  </a:extLst>
                </a:gridCol>
                <a:gridCol w="2559779">
                  <a:extLst>
                    <a:ext uri="{9D8B030D-6E8A-4147-A177-3AD203B41FA5}">
                      <a16:colId xmlns:a16="http://schemas.microsoft.com/office/drawing/2014/main" val="3063622604"/>
                    </a:ext>
                  </a:extLst>
                </a:gridCol>
              </a:tblGrid>
              <a:tr h="376369">
                <a:tc>
                  <a:txBody>
                    <a:bodyPr/>
                    <a:lstStyle/>
                    <a:p>
                      <a:r>
                        <a:rPr lang="en-SG" sz="1600" dirty="0"/>
                        <a:t>Parameters</a:t>
                      </a:r>
                    </a:p>
                  </a:txBody>
                  <a:tcPr/>
                </a:tc>
                <a:tc>
                  <a:txBody>
                    <a:bodyPr/>
                    <a:lstStyle/>
                    <a:p>
                      <a:r>
                        <a:rPr lang="en-SG" sz="1600" dirty="0"/>
                        <a:t>Firewall (SPI)</a:t>
                      </a:r>
                    </a:p>
                  </a:txBody>
                  <a:tcPr/>
                </a:tc>
                <a:tc>
                  <a:txBody>
                    <a:bodyPr/>
                    <a:lstStyle/>
                    <a:p>
                      <a:r>
                        <a:rPr lang="en-SG" sz="1600" dirty="0"/>
                        <a:t>IPS</a:t>
                      </a:r>
                    </a:p>
                  </a:txBody>
                  <a:tcPr/>
                </a:tc>
                <a:tc>
                  <a:txBody>
                    <a:bodyPr/>
                    <a:lstStyle/>
                    <a:p>
                      <a:r>
                        <a:rPr lang="en-SG" sz="1600" dirty="0"/>
                        <a:t>IDS</a:t>
                      </a:r>
                    </a:p>
                  </a:txBody>
                  <a:tcPr/>
                </a:tc>
                <a:extLst>
                  <a:ext uri="{0D108BD9-81ED-4DB2-BD59-A6C34878D82A}">
                    <a16:rowId xmlns:a16="http://schemas.microsoft.com/office/drawing/2014/main" val="2147422942"/>
                  </a:ext>
                </a:extLst>
              </a:tr>
              <a:tr h="1577655">
                <a:tc>
                  <a:txBody>
                    <a:bodyPr/>
                    <a:lstStyle/>
                    <a:p>
                      <a:r>
                        <a:rPr lang="en-SG" sz="1600" dirty="0"/>
                        <a:t>Definition</a:t>
                      </a:r>
                    </a:p>
                  </a:txBody>
                  <a:tcPr/>
                </a:tc>
                <a:tc>
                  <a:txBody>
                    <a:bodyPr/>
                    <a:lstStyle/>
                    <a:p>
                      <a:r>
                        <a:rPr lang="en-SG" sz="1600" dirty="0"/>
                        <a:t>Firewall is a network security device that filters incoming and outgoing traffic based on predefined rules</a:t>
                      </a:r>
                    </a:p>
                  </a:txBody>
                  <a:tcPr/>
                </a:tc>
                <a:tc>
                  <a:txBody>
                    <a:bodyPr/>
                    <a:lstStyle/>
                    <a:p>
                      <a:r>
                        <a:rPr lang="en-SG" sz="1600" dirty="0"/>
                        <a:t>IPS is a device that inspects traffic, detects anomalies and proactively stops malicious traffics based on updated signatures</a:t>
                      </a:r>
                    </a:p>
                  </a:txBody>
                  <a:tcPr/>
                </a:tc>
                <a:tc>
                  <a:txBody>
                    <a:bodyPr/>
                    <a:lstStyle/>
                    <a:p>
                      <a:r>
                        <a:rPr lang="en-SG" sz="1600" dirty="0"/>
                        <a:t>IDS is a device that monitors traffic for anomalies and send an alert upon detection based on updated signatures</a:t>
                      </a:r>
                    </a:p>
                  </a:txBody>
                  <a:tcPr/>
                </a:tc>
                <a:extLst>
                  <a:ext uri="{0D108BD9-81ED-4DB2-BD59-A6C34878D82A}">
                    <a16:rowId xmlns:a16="http://schemas.microsoft.com/office/drawing/2014/main" val="2885683521"/>
                  </a:ext>
                </a:extLst>
              </a:tr>
              <a:tr h="1093976">
                <a:tc>
                  <a:txBody>
                    <a:bodyPr/>
                    <a:lstStyle/>
                    <a:p>
                      <a:r>
                        <a:rPr lang="en-SG" sz="1600" dirty="0"/>
                        <a:t>Detects threats based on :</a:t>
                      </a:r>
                    </a:p>
                  </a:txBody>
                  <a:tcPr/>
                </a:tc>
                <a:tc>
                  <a:txBody>
                    <a:bodyPr/>
                    <a:lstStyle/>
                    <a:p>
                      <a:r>
                        <a:rPr lang="en-SG" sz="1600" dirty="0"/>
                        <a:t>IP addresses and port numbers (generally Stateful Packet Inspection) and blocks traffic</a:t>
                      </a:r>
                    </a:p>
                  </a:txBody>
                  <a:tcPr/>
                </a:tc>
                <a:tc>
                  <a:txBody>
                    <a:bodyPr/>
                    <a:lstStyle/>
                    <a:p>
                      <a:r>
                        <a:rPr lang="en-SG" sz="1600" dirty="0"/>
                        <a:t>Traffic patterns and signatures of attack and prevents them</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dirty="0"/>
                        <a:t>Traffic patterns and signatures of attack and alerts only</a:t>
                      </a:r>
                    </a:p>
                    <a:p>
                      <a:endParaRPr lang="en-SG" sz="1600" dirty="0"/>
                    </a:p>
                  </a:txBody>
                  <a:tcPr/>
                </a:tc>
                <a:extLst>
                  <a:ext uri="{0D108BD9-81ED-4DB2-BD59-A6C34878D82A}">
                    <a16:rowId xmlns:a16="http://schemas.microsoft.com/office/drawing/2014/main" val="2081992315"/>
                  </a:ext>
                </a:extLst>
              </a:tr>
              <a:tr h="376369">
                <a:tc>
                  <a:txBody>
                    <a:bodyPr/>
                    <a:lstStyle/>
                    <a:p>
                      <a:r>
                        <a:rPr lang="en-SG" sz="1600" dirty="0"/>
                        <a:t>Layers </a:t>
                      </a:r>
                    </a:p>
                  </a:txBody>
                  <a:tcPr/>
                </a:tc>
                <a:tc>
                  <a:txBody>
                    <a:bodyPr/>
                    <a:lstStyle/>
                    <a:p>
                      <a:r>
                        <a:rPr lang="en-SG" sz="1600" dirty="0"/>
                        <a:t>Layer 3 mode</a:t>
                      </a:r>
                    </a:p>
                  </a:txBody>
                  <a:tcPr/>
                </a:tc>
                <a:tc>
                  <a:txBody>
                    <a:bodyPr/>
                    <a:lstStyle/>
                    <a:p>
                      <a:r>
                        <a:rPr lang="en-SG" sz="1600" dirty="0"/>
                        <a:t>Layers 2 and above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dirty="0"/>
                        <a:t>Layers 2 and above</a:t>
                      </a:r>
                    </a:p>
                  </a:txBody>
                  <a:tcPr/>
                </a:tc>
                <a:extLst>
                  <a:ext uri="{0D108BD9-81ED-4DB2-BD59-A6C34878D82A}">
                    <a16:rowId xmlns:a16="http://schemas.microsoft.com/office/drawing/2014/main" val="2787135484"/>
                  </a:ext>
                </a:extLst>
              </a:tr>
              <a:tr h="614231">
                <a:tc>
                  <a:txBody>
                    <a:bodyPr/>
                    <a:lstStyle/>
                    <a:p>
                      <a:r>
                        <a:rPr lang="en-SG" sz="1600" dirty="0"/>
                        <a:t>Placement</a:t>
                      </a:r>
                    </a:p>
                  </a:txBody>
                  <a:tcPr/>
                </a:tc>
                <a:tc>
                  <a:txBody>
                    <a:bodyPr/>
                    <a:lstStyle/>
                    <a:p>
                      <a:r>
                        <a:rPr lang="en-SG" sz="1600" dirty="0"/>
                        <a:t>1</a:t>
                      </a:r>
                      <a:r>
                        <a:rPr lang="en-SG" sz="1600" baseline="30000" dirty="0"/>
                        <a:t>st</a:t>
                      </a:r>
                      <a:r>
                        <a:rPr lang="en-SG" sz="1600" dirty="0"/>
                        <a:t> line of defence</a:t>
                      </a:r>
                    </a:p>
                  </a:txBody>
                  <a:tcPr/>
                </a:tc>
                <a:tc>
                  <a:txBody>
                    <a:bodyPr/>
                    <a:lstStyle/>
                    <a:p>
                      <a:r>
                        <a:rPr lang="en-SG" sz="1600" dirty="0"/>
                        <a:t>Placed after a firewall, “inline” to traffic</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dirty="0"/>
                        <a:t>Placed after a firewall, not “inline” to traffic</a:t>
                      </a:r>
                    </a:p>
                  </a:txBody>
                  <a:tcPr/>
                </a:tc>
                <a:extLst>
                  <a:ext uri="{0D108BD9-81ED-4DB2-BD59-A6C34878D82A}">
                    <a16:rowId xmlns:a16="http://schemas.microsoft.com/office/drawing/2014/main" val="2320168325"/>
                  </a:ext>
                </a:extLst>
              </a:tr>
              <a:tr h="835229">
                <a:tc>
                  <a:txBody>
                    <a:bodyPr/>
                    <a:lstStyle/>
                    <a:p>
                      <a:endParaRPr lang="en-SG" sz="1600" dirty="0"/>
                    </a:p>
                  </a:txBody>
                  <a:tcPr/>
                </a:tc>
                <a:tc>
                  <a:txBody>
                    <a:bodyPr/>
                    <a:lstStyle/>
                    <a:p>
                      <a:pPr marL="92075" indent="-92075">
                        <a:buFont typeface="Arial" panose="020B0604020202020204" pitchFamily="34" charset="0"/>
                        <a:buChar char="•"/>
                      </a:pPr>
                      <a:r>
                        <a:rPr lang="en-SG" sz="1600" dirty="0"/>
                        <a:t>Protocol /port rules based </a:t>
                      </a:r>
                    </a:p>
                    <a:p>
                      <a:pPr marL="92075" indent="-92075">
                        <a:buFont typeface="Arial" panose="020B0604020202020204" pitchFamily="34" charset="0"/>
                        <a:buChar char="•"/>
                      </a:pPr>
                      <a:r>
                        <a:rPr lang="en-SG" sz="1600" dirty="0"/>
                        <a:t>Blocks attacks</a:t>
                      </a:r>
                    </a:p>
                  </a:txBody>
                  <a:tcPr/>
                </a:tc>
                <a:tc>
                  <a:txBody>
                    <a:bodyPr/>
                    <a:lstStyle/>
                    <a:p>
                      <a:pPr marL="125413" indent="-119063">
                        <a:buFont typeface="Arial" panose="020B0604020202020204" pitchFamily="34" charset="0"/>
                        <a:buChar char="•"/>
                      </a:pPr>
                      <a:r>
                        <a:rPr lang="en-SG" sz="1600" dirty="0"/>
                        <a:t>Anomaly Based detection</a:t>
                      </a:r>
                    </a:p>
                    <a:p>
                      <a:pPr marL="125413" indent="-119063">
                        <a:buFont typeface="Arial" panose="020B0604020202020204" pitchFamily="34" charset="0"/>
                        <a:buChar char="•"/>
                      </a:pPr>
                      <a:r>
                        <a:rPr lang="en-SG" sz="1600" dirty="0"/>
                        <a:t>Signature detection</a:t>
                      </a:r>
                    </a:p>
                    <a:p>
                      <a:pPr marL="125413" indent="-119063">
                        <a:buFont typeface="Arial" panose="020B0604020202020204" pitchFamily="34" charset="0"/>
                        <a:buChar char="•"/>
                      </a:pPr>
                      <a:r>
                        <a:rPr lang="en-SG" sz="1600" dirty="0"/>
                        <a:t>Zero day attacks</a:t>
                      </a:r>
                    </a:p>
                    <a:p>
                      <a:pPr marL="125413" indent="-119063">
                        <a:buFont typeface="Arial" panose="020B0604020202020204" pitchFamily="34" charset="0"/>
                        <a:buChar char="•"/>
                      </a:pPr>
                      <a:r>
                        <a:rPr lang="en-SG" sz="1600" dirty="0"/>
                        <a:t>Blocks attacks</a:t>
                      </a:r>
                    </a:p>
                  </a:txBody>
                  <a:tcPr/>
                </a:tc>
                <a:tc>
                  <a:txBody>
                    <a:bodyPr/>
                    <a:lstStyle/>
                    <a:p>
                      <a:pPr marL="147638" indent="-147638">
                        <a:buFont typeface="Arial" panose="020B0604020202020204" pitchFamily="34" charset="0"/>
                        <a:buChar char="•"/>
                      </a:pPr>
                      <a:r>
                        <a:rPr lang="en-SG" sz="1600" dirty="0"/>
                        <a:t>Anomaly Based detection</a:t>
                      </a:r>
                    </a:p>
                    <a:p>
                      <a:pPr marL="147638" indent="-147638">
                        <a:buFont typeface="Arial" panose="020B0604020202020204" pitchFamily="34" charset="0"/>
                        <a:buChar char="•"/>
                      </a:pPr>
                      <a:r>
                        <a:rPr lang="en-SG" sz="1600" dirty="0"/>
                        <a:t>Signature detection</a:t>
                      </a:r>
                    </a:p>
                    <a:p>
                      <a:pPr marL="147638" indent="-147638">
                        <a:buFont typeface="Arial" panose="020B0604020202020204" pitchFamily="34" charset="0"/>
                        <a:buChar char="•"/>
                      </a:pPr>
                      <a:r>
                        <a:rPr lang="en-SG" sz="1600" dirty="0"/>
                        <a:t>Zero day attacks</a:t>
                      </a:r>
                    </a:p>
                    <a:p>
                      <a:pPr marL="147638" indent="-147638">
                        <a:buFont typeface="Arial" panose="020B0604020202020204" pitchFamily="34" charset="0"/>
                        <a:buChar char="•"/>
                      </a:pPr>
                      <a:r>
                        <a:rPr lang="en-SG" sz="1600" dirty="0"/>
                        <a:t>Send Alarms</a:t>
                      </a:r>
                    </a:p>
                  </a:txBody>
                  <a:tcPr/>
                </a:tc>
                <a:extLst>
                  <a:ext uri="{0D108BD9-81ED-4DB2-BD59-A6C34878D82A}">
                    <a16:rowId xmlns:a16="http://schemas.microsoft.com/office/drawing/2014/main" val="2280652009"/>
                  </a:ext>
                </a:extLst>
              </a:tr>
            </a:tbl>
          </a:graphicData>
        </a:graphic>
      </p:graphicFrame>
      <p:sp>
        <p:nvSpPr>
          <p:cNvPr id="4" name="Slide Number Placeholder 3">
            <a:extLst>
              <a:ext uri="{FF2B5EF4-FFF2-40B4-BE49-F238E27FC236}">
                <a16:creationId xmlns:a16="http://schemas.microsoft.com/office/drawing/2014/main" id="{D5EC3A11-DD1A-4283-AD16-488FAE99A3F6}"/>
              </a:ext>
            </a:extLst>
          </p:cNvPr>
          <p:cNvSpPr>
            <a:spLocks noGrp="1"/>
          </p:cNvSpPr>
          <p:nvPr>
            <p:ph type="sldNum" sz="quarter" idx="12"/>
          </p:nvPr>
        </p:nvSpPr>
        <p:spPr/>
        <p:txBody>
          <a:bodyPr/>
          <a:lstStyle/>
          <a:p>
            <a:fld id="{BFED3573-B3DD-4682-880B-EB337D5E1BDE}" type="slidenum">
              <a:rPr lang="en-US" smtClean="0"/>
              <a:pPr/>
              <a:t>50</a:t>
            </a:fld>
            <a:endParaRPr lang="en-US"/>
          </a:p>
        </p:txBody>
      </p:sp>
      <p:sp>
        <p:nvSpPr>
          <p:cNvPr id="5" name="Rectangle 2">
            <a:extLst>
              <a:ext uri="{FF2B5EF4-FFF2-40B4-BE49-F238E27FC236}">
                <a16:creationId xmlns:a16="http://schemas.microsoft.com/office/drawing/2014/main" id="{0C557B75-A904-49FD-8BB3-BEC7AAF67355}"/>
              </a:ext>
            </a:extLst>
          </p:cNvPr>
          <p:cNvSpPr txBox="1">
            <a:spLocks noChangeArrowheads="1"/>
          </p:cNvSpPr>
          <p:nvPr/>
        </p:nvSpPr>
        <p:spPr>
          <a:xfrm>
            <a:off x="594014" y="681037"/>
            <a:ext cx="8232382" cy="8960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Gill Sans MT" panose="020B0502020104020203" pitchFamily="34" charset="0"/>
                <a:ea typeface="+mj-ea"/>
                <a:cs typeface="+mj-cs"/>
              </a:defRPr>
            </a:lvl1pPr>
          </a:lstStyle>
          <a:p>
            <a:pPr fontAlgn="auto">
              <a:spcAft>
                <a:spcPts val="0"/>
              </a:spcAft>
            </a:pPr>
            <a:r>
              <a:rPr lang="en-US" sz="4000" dirty="0"/>
              <a:t>Difference between Firewalls and IPS</a:t>
            </a:r>
            <a:endParaRPr lang="en-US" sz="5400" dirty="0"/>
          </a:p>
        </p:txBody>
      </p:sp>
    </p:spTree>
    <p:extLst>
      <p:ext uri="{BB962C8B-B14F-4D97-AF65-F5344CB8AC3E}">
        <p14:creationId xmlns:p14="http://schemas.microsoft.com/office/powerpoint/2010/main" val="921552715"/>
      </p:ext>
    </p:extLst>
  </p:cSld>
  <p:clrMapOvr>
    <a:masterClrMapping/>
  </p:clrMapOvr>
  <p:transition spd="med">
    <p:comb/>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The End</a:t>
            </a:r>
          </a:p>
        </p:txBody>
      </p:sp>
    </p:spTree>
    <p:extLst>
      <p:ext uri="{BB962C8B-B14F-4D97-AF65-F5344CB8AC3E}">
        <p14:creationId xmlns:p14="http://schemas.microsoft.com/office/powerpoint/2010/main" val="34677122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TDP04 Lecture Templat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ITDP04 Lecture Template</Template>
  <TotalTime>0</TotalTime>
  <Words>4619</Words>
  <Application>Microsoft Office PowerPoint</Application>
  <PresentationFormat>On-screen Show (4:3)</PresentationFormat>
  <Paragraphs>564</Paragraphs>
  <Slides>51</Slides>
  <Notes>12</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51</vt:i4>
      </vt:variant>
    </vt:vector>
  </HeadingPairs>
  <TitlesOfParts>
    <vt:vector size="71" baseType="lpstr">
      <vt:lpstr>Batang</vt:lpstr>
      <vt:lpstr>ＭＳ Ｐゴシック</vt:lpstr>
      <vt:lpstr>游ゴシック</vt:lpstr>
      <vt:lpstr>Arial</vt:lpstr>
      <vt:lpstr>Arial Narrow</vt:lpstr>
      <vt:lpstr>Calibri</vt:lpstr>
      <vt:lpstr>Calibri Light</vt:lpstr>
      <vt:lpstr>Consolas</vt:lpstr>
      <vt:lpstr>Corbel</vt:lpstr>
      <vt:lpstr>Courier New</vt:lpstr>
      <vt:lpstr>Gill Sans MT</vt:lpstr>
      <vt:lpstr>Tahoma</vt:lpstr>
      <vt:lpstr>Times New Roman</vt:lpstr>
      <vt:lpstr>Trebuchet MS</vt:lpstr>
      <vt:lpstr>Verdana</vt:lpstr>
      <vt:lpstr>Wingdings</vt:lpstr>
      <vt:lpstr>Wingdings 2</vt:lpstr>
      <vt:lpstr>Wingdings 3</vt:lpstr>
      <vt:lpstr>ITDP04 Lecture Template</vt:lpstr>
      <vt:lpstr>Theme</vt:lpstr>
      <vt:lpstr> Intrusion Detection and Prevention Systems</vt:lpstr>
      <vt:lpstr>Intrusion Detection System</vt:lpstr>
      <vt:lpstr>Intrusion Prevention System</vt:lpstr>
      <vt:lpstr>Comparing IDS and IPS Solutions</vt:lpstr>
      <vt:lpstr>IPS Signatures</vt:lpstr>
      <vt:lpstr>Signature Attributes</vt:lpstr>
      <vt:lpstr>Signature Type – Atomic Signature</vt:lpstr>
      <vt:lpstr>Signature Type – Composite Signature</vt:lpstr>
      <vt:lpstr>Signature Type – Composite Signature</vt:lpstr>
      <vt:lpstr>Signature File</vt:lpstr>
      <vt:lpstr>Updating Signatures</vt:lpstr>
      <vt:lpstr>Updating Signatures</vt:lpstr>
      <vt:lpstr>Signature Trigger (Signature Alarm)</vt:lpstr>
      <vt:lpstr>Pattern-Based Detection</vt:lpstr>
      <vt:lpstr>Policy-Based Detection</vt:lpstr>
      <vt:lpstr>Anomaly-Based Detection</vt:lpstr>
      <vt:lpstr>Reputation- Based Detection</vt:lpstr>
      <vt:lpstr>Tuning Alarms</vt:lpstr>
      <vt:lpstr>Tuning Alarms</vt:lpstr>
      <vt:lpstr>Types of Signature Triggers</vt:lpstr>
      <vt:lpstr>IPS Signature Actions</vt:lpstr>
      <vt:lpstr>IPS Signature Actions</vt:lpstr>
      <vt:lpstr>IPS Signature Actions</vt:lpstr>
      <vt:lpstr>Implementing IPS</vt:lpstr>
      <vt:lpstr>Steps to implement Cisco IOS IPS</vt:lpstr>
      <vt:lpstr>1. Download the IOS IPS files. </vt:lpstr>
      <vt:lpstr>2. Create an IOS IPS directory in Flash</vt:lpstr>
      <vt:lpstr>3. Configure an IOS IPS crypto key</vt:lpstr>
      <vt:lpstr>3. Configure an IOS IPS crypto key</vt:lpstr>
      <vt:lpstr>3. Configure an IOS IPS crypto key</vt:lpstr>
      <vt:lpstr>3. Configure an IOS IPS crypto key</vt:lpstr>
      <vt:lpstr>4a. Enable IOS IPS</vt:lpstr>
      <vt:lpstr>4b. Enable IOS IPS</vt:lpstr>
      <vt:lpstr>4b. Enable IOS IPS</vt:lpstr>
      <vt:lpstr>4c. Configure the Signature Category</vt:lpstr>
      <vt:lpstr>4c. Configure the Signature Category</vt:lpstr>
      <vt:lpstr>4d. Configure the Signature Category</vt:lpstr>
      <vt:lpstr>5. Load the IOS IPS signature</vt:lpstr>
      <vt:lpstr>5. Load the IOS IPS signature</vt:lpstr>
      <vt:lpstr>Modifying Signatures</vt:lpstr>
      <vt:lpstr>Modifying Signatures</vt:lpstr>
      <vt:lpstr>Change Actions for a Signature</vt:lpstr>
      <vt:lpstr>Change Actions for a Category</vt:lpstr>
      <vt:lpstr>Verify IOS IPS</vt:lpstr>
      <vt:lpstr>View Configuration</vt:lpstr>
      <vt:lpstr>View IPS Interface Configuration</vt:lpstr>
      <vt:lpstr>Show Signature Status</vt:lpstr>
      <vt:lpstr>View Alarm and Packet Statistics</vt:lpstr>
      <vt:lpstr>PowerPoint Presentation</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2013-10-03T15:13:02Z</dcterms:created>
  <dcterms:modified xsi:type="dcterms:W3CDTF">2018-11-23T02:47:03Z</dcterms:modified>
</cp:coreProperties>
</file>