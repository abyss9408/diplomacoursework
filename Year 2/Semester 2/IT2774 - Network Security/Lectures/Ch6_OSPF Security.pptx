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0" r:id="rId5"/>
    <p:sldId id="283" r:id="rId6"/>
    <p:sldId id="262" r:id="rId7"/>
    <p:sldId id="276" r:id="rId8"/>
    <p:sldId id="277" r:id="rId9"/>
    <p:sldId id="284" r:id="rId10"/>
    <p:sldId id="278" r:id="rId11"/>
    <p:sldId id="279" r:id="rId12"/>
    <p:sldId id="280" r:id="rId13"/>
    <p:sldId id="281" r:id="rId14"/>
    <p:sldId id="282" r:id="rId15"/>
    <p:sldId id="285" r:id="rId16"/>
    <p:sldId id="27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000" autoAdjust="0"/>
    <p:restoredTop sz="94660"/>
  </p:normalViewPr>
  <p:slideViewPr>
    <p:cSldViewPr snapToGrid="0">
      <p:cViewPr varScale="1">
        <p:scale>
          <a:sx n="69" d="100"/>
          <a:sy n="69" d="100"/>
        </p:scale>
        <p:origin x="82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Gill Sans MT" panose="020B0502020104020203" pitchFamily="34" charset="0"/>
              </a:defRPr>
            </a:lvl1pPr>
          </a:lstStyle>
          <a:p>
            <a:r>
              <a:rPr lang="en-US"/>
              <a:t>Click to edit Master title style</a:t>
            </a:r>
            <a:endParaRPr lang="en-SG"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Gill Sans MT" panose="020B05020201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p:cNvSpPr>
            <a:spLocks noGrp="1"/>
          </p:cNvSpPr>
          <p:nvPr>
            <p:ph type="dt" sz="half" idx="10"/>
          </p:nvPr>
        </p:nvSpPr>
        <p:spPr/>
        <p:txBody>
          <a:bodyPr/>
          <a:lstStyle/>
          <a:p>
            <a:fld id="{26601C62-9724-4230-B8E4-0FE573A11A38}" type="datetimeFigureOut">
              <a:rPr lang="en-SG" smtClean="0"/>
              <a:t>30/10/2018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4262037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Gill Sans MT" panose="020B0502020104020203" pitchFamily="34" charset="0"/>
              </a:defRPr>
            </a:lvl1pPr>
          </a:lstStyle>
          <a:p>
            <a:r>
              <a:rPr lang="en-US"/>
              <a:t>Click to edit Master title style</a:t>
            </a:r>
            <a:endParaRPr lang="en-SG" dirty="0"/>
          </a:p>
        </p:txBody>
      </p:sp>
      <p:sp>
        <p:nvSpPr>
          <p:cNvPr id="3" name="Content Placeholder 2"/>
          <p:cNvSpPr>
            <a:spLocks noGrp="1"/>
          </p:cNvSpPr>
          <p:nvPr>
            <p:ph idx="1"/>
          </p:nvPr>
        </p:nvSpPr>
        <p:spPr/>
        <p:txBody>
          <a:bodyPr>
            <a:normAutofit/>
          </a:bodyPr>
          <a:lstStyle>
            <a:lvl1pPr>
              <a:defRPr sz="2800">
                <a:latin typeface="Gill Sans MT" panose="020B0502020104020203" pitchFamily="34" charset="0"/>
              </a:defRPr>
            </a:lvl1pPr>
            <a:lvl2pPr>
              <a:defRPr sz="2400">
                <a:latin typeface="Gill Sans MT" panose="020B0502020104020203" pitchFamily="34" charset="0"/>
              </a:defRPr>
            </a:lvl2pPr>
            <a:lvl3pPr>
              <a:defRPr sz="2000">
                <a:latin typeface="Gill Sans MT" panose="020B0502020104020203" pitchFamily="34" charset="0"/>
              </a:defRPr>
            </a:lvl3pPr>
            <a:lvl4pPr>
              <a:defRPr sz="1800">
                <a:latin typeface="Gill Sans MT" panose="020B0502020104020203" pitchFamily="34" charset="0"/>
              </a:defRPr>
            </a:lvl4pPr>
            <a:lvl5pPr>
              <a:defRPr sz="1800">
                <a:latin typeface="Gill Sans MT" panose="020B05020201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dirty="0"/>
          </a:p>
        </p:txBody>
      </p:sp>
      <p:sp>
        <p:nvSpPr>
          <p:cNvPr id="4" name="Date Placeholder 3"/>
          <p:cNvSpPr>
            <a:spLocks noGrp="1"/>
          </p:cNvSpPr>
          <p:nvPr>
            <p:ph type="dt" sz="half" idx="10"/>
          </p:nvPr>
        </p:nvSpPr>
        <p:spPr/>
        <p:txBody>
          <a:bodyPr/>
          <a:lstStyle/>
          <a:p>
            <a:fld id="{26601C62-9724-4230-B8E4-0FE573A11A38}" type="datetimeFigureOut">
              <a:rPr lang="en-SG" smtClean="0"/>
              <a:t>30/10/2018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1978982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6601C62-9724-4230-B8E4-0FE573A11A38}" type="datetimeFigureOut">
              <a:rPr lang="en-SG" smtClean="0"/>
              <a:t>30/10/2018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2705125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p:cNvSpPr>
            <a:spLocks noGrp="1"/>
          </p:cNvSpPr>
          <p:nvPr>
            <p:ph type="dt" sz="half" idx="10"/>
          </p:nvPr>
        </p:nvSpPr>
        <p:spPr/>
        <p:txBody>
          <a:bodyPr/>
          <a:lstStyle/>
          <a:p>
            <a:fld id="{26601C62-9724-4230-B8E4-0FE573A11A38}" type="datetimeFigureOut">
              <a:rPr lang="en-SG" smtClean="0"/>
              <a:t>30/10/2018</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3148350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p:cNvSpPr>
            <a:spLocks noGrp="1"/>
          </p:cNvSpPr>
          <p:nvPr>
            <p:ph type="dt" sz="half" idx="10"/>
          </p:nvPr>
        </p:nvSpPr>
        <p:spPr/>
        <p:txBody>
          <a:bodyPr/>
          <a:lstStyle/>
          <a:p>
            <a:fld id="{26601C62-9724-4230-B8E4-0FE573A11A38}" type="datetimeFigureOut">
              <a:rPr lang="en-SG" smtClean="0"/>
              <a:t>30/10/2018</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1221129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Date Placeholder 2"/>
          <p:cNvSpPr>
            <a:spLocks noGrp="1"/>
          </p:cNvSpPr>
          <p:nvPr>
            <p:ph type="dt" sz="half" idx="10"/>
          </p:nvPr>
        </p:nvSpPr>
        <p:spPr/>
        <p:txBody>
          <a:bodyPr/>
          <a:lstStyle/>
          <a:p>
            <a:fld id="{26601C62-9724-4230-B8E4-0FE573A11A38}" type="datetimeFigureOut">
              <a:rPr lang="en-SG" smtClean="0"/>
              <a:t>30/10/2018</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41777740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601C62-9724-4230-B8E4-0FE573A11A38}" type="datetimeFigureOut">
              <a:rPr lang="en-SG" smtClean="0"/>
              <a:t>30/10/2018</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20015004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6601C62-9724-4230-B8E4-0FE573A11A38}" type="datetimeFigureOut">
              <a:rPr lang="en-SG" smtClean="0"/>
              <a:t>30/10/2018</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2341386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S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6601C62-9724-4230-B8E4-0FE573A11A38}" type="datetimeFigureOut">
              <a:rPr lang="en-SG" smtClean="0"/>
              <a:t>30/10/2018</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118750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26601C62-9724-4230-B8E4-0FE573A11A38}" type="datetimeFigureOut">
              <a:rPr lang="en-SG" smtClean="0"/>
              <a:t>30/10/2018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1659046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26601C62-9724-4230-B8E4-0FE573A11A38}" type="datetimeFigureOut">
              <a:rPr lang="en-SG" smtClean="0"/>
              <a:t>30/10/2018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D6FAD32-A482-4C98-976B-612E7700232B}" type="slidenum">
              <a:rPr lang="en-SG" smtClean="0"/>
              <a:t>‹#›</a:t>
            </a:fld>
            <a:endParaRPr lang="en-SG"/>
          </a:p>
        </p:txBody>
      </p:sp>
    </p:spTree>
    <p:extLst>
      <p:ext uri="{BB962C8B-B14F-4D97-AF65-F5344CB8AC3E}">
        <p14:creationId xmlns:p14="http://schemas.microsoft.com/office/powerpoint/2010/main" val="3399760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601C62-9724-4230-B8E4-0FE573A11A38}" type="datetimeFigureOut">
              <a:rPr lang="en-SG" smtClean="0"/>
              <a:t>30/10/2018</a:t>
            </a:fld>
            <a:endParaRPr lang="en-SG"/>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6FAD32-A482-4C98-976B-612E7700232B}" type="slidenum">
              <a:rPr lang="en-SG" smtClean="0"/>
              <a:t>‹#›</a:t>
            </a:fld>
            <a:endParaRPr lang="en-SG"/>
          </a:p>
        </p:txBody>
      </p:sp>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785445" y="156548"/>
            <a:ext cx="2347642" cy="514020"/>
          </a:xfrm>
          <a:prstGeom prst="rect">
            <a:avLst/>
          </a:prstGeom>
        </p:spPr>
      </p:pic>
    </p:spTree>
    <p:extLst>
      <p:ext uri="{BB962C8B-B14F-4D97-AF65-F5344CB8AC3E}">
        <p14:creationId xmlns:p14="http://schemas.microsoft.com/office/powerpoint/2010/main" val="2201968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Gill Sans MT" panose="020B050202010402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SG" dirty="0"/>
              <a:t>OSPF Security</a:t>
            </a:r>
          </a:p>
        </p:txBody>
      </p:sp>
      <p:sp>
        <p:nvSpPr>
          <p:cNvPr id="3" name="Subtitle 2"/>
          <p:cNvSpPr>
            <a:spLocks noGrp="1"/>
          </p:cNvSpPr>
          <p:nvPr>
            <p:ph type="subTitle" idx="1"/>
          </p:nvPr>
        </p:nvSpPr>
        <p:spPr/>
        <p:txBody>
          <a:bodyPr/>
          <a:lstStyle/>
          <a:p>
            <a:r>
              <a:rPr lang="en-SG" dirty="0"/>
              <a:t>Chapter 6</a:t>
            </a:r>
          </a:p>
        </p:txBody>
      </p:sp>
    </p:spTree>
    <p:extLst>
      <p:ext uri="{BB962C8B-B14F-4D97-AF65-F5344CB8AC3E}">
        <p14:creationId xmlns:p14="http://schemas.microsoft.com/office/powerpoint/2010/main" val="42570473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Learning Outcomes</a:t>
            </a:r>
          </a:p>
        </p:txBody>
      </p:sp>
      <p:sp>
        <p:nvSpPr>
          <p:cNvPr id="3" name="Content Placeholder 2"/>
          <p:cNvSpPr>
            <a:spLocks noGrp="1"/>
          </p:cNvSpPr>
          <p:nvPr>
            <p:ph idx="1"/>
          </p:nvPr>
        </p:nvSpPr>
        <p:spPr/>
        <p:txBody>
          <a:bodyPr/>
          <a:lstStyle/>
          <a:p>
            <a:pPr lvl="0"/>
            <a:r>
              <a:rPr lang="en-SG" dirty="0"/>
              <a:t>Implement OSPFv2 and v3 security through various authentication and encryption methods</a:t>
            </a:r>
          </a:p>
        </p:txBody>
      </p:sp>
    </p:spTree>
    <p:extLst>
      <p:ext uri="{BB962C8B-B14F-4D97-AF65-F5344CB8AC3E}">
        <p14:creationId xmlns:p14="http://schemas.microsoft.com/office/powerpoint/2010/main" val="3813517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Routing Protocols</a:t>
            </a:r>
          </a:p>
        </p:txBody>
      </p:sp>
      <p:sp>
        <p:nvSpPr>
          <p:cNvPr id="5" name="Content Placeholder 4"/>
          <p:cNvSpPr>
            <a:spLocks noGrp="1"/>
          </p:cNvSpPr>
          <p:nvPr>
            <p:ph idx="1"/>
          </p:nvPr>
        </p:nvSpPr>
        <p:spPr>
          <a:xfrm>
            <a:off x="1299882" y="3440463"/>
            <a:ext cx="9964270" cy="3135385"/>
          </a:xfrm>
        </p:spPr>
        <p:txBody>
          <a:bodyPr>
            <a:normAutofit/>
          </a:bodyPr>
          <a:lstStyle/>
          <a:p>
            <a:pPr marL="0" indent="0">
              <a:buNone/>
            </a:pPr>
            <a:r>
              <a:rPr lang="en-SG" dirty="0"/>
              <a:t>Routing Protocols are used by the routers</a:t>
            </a:r>
          </a:p>
          <a:p>
            <a:r>
              <a:rPr lang="en-SG" dirty="0"/>
              <a:t>To communicate with each other</a:t>
            </a:r>
          </a:p>
          <a:p>
            <a:r>
              <a:rPr lang="en-SG" dirty="0"/>
              <a:t>To determine best path to the destination </a:t>
            </a:r>
          </a:p>
          <a:p>
            <a:r>
              <a:rPr lang="en-SG" dirty="0"/>
              <a:t>To make dynamic adjustments to its conditions</a:t>
            </a:r>
          </a:p>
          <a:p>
            <a:r>
              <a:rPr lang="en-SG" dirty="0"/>
              <a:t>You can enable authentication in OSPF in order to exchange routing update information in a secure manner.</a:t>
            </a:r>
          </a:p>
          <a:p>
            <a:endParaRPr lang="en-SG" dirty="0"/>
          </a:p>
        </p:txBody>
      </p:sp>
      <p:pic>
        <p:nvPicPr>
          <p:cNvPr id="6" name="Picture 5"/>
          <p:cNvPicPr>
            <a:picLocks noChangeAspect="1"/>
          </p:cNvPicPr>
          <p:nvPr/>
        </p:nvPicPr>
        <p:blipFill>
          <a:blip r:embed="rId2"/>
          <a:stretch>
            <a:fillRect/>
          </a:stretch>
        </p:blipFill>
        <p:spPr>
          <a:xfrm>
            <a:off x="4365811" y="1313450"/>
            <a:ext cx="6805052" cy="2127013"/>
          </a:xfrm>
          <a:prstGeom prst="rect">
            <a:avLst/>
          </a:prstGeom>
        </p:spPr>
      </p:pic>
    </p:spTree>
    <p:extLst>
      <p:ext uri="{BB962C8B-B14F-4D97-AF65-F5344CB8AC3E}">
        <p14:creationId xmlns:p14="http://schemas.microsoft.com/office/powerpoint/2010/main" val="4137332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OSPF Authentication</a:t>
            </a:r>
          </a:p>
        </p:txBody>
      </p:sp>
      <p:sp>
        <p:nvSpPr>
          <p:cNvPr id="10" name="TextBox 9"/>
          <p:cNvSpPr txBox="1"/>
          <p:nvPr/>
        </p:nvSpPr>
        <p:spPr>
          <a:xfrm>
            <a:off x="545910" y="1690688"/>
            <a:ext cx="10152570" cy="4401205"/>
          </a:xfrm>
          <a:prstGeom prst="rect">
            <a:avLst/>
          </a:prstGeom>
          <a:noFill/>
        </p:spPr>
        <p:txBody>
          <a:bodyPr wrap="square" rtlCol="0">
            <a:spAutoFit/>
          </a:bodyPr>
          <a:lstStyle/>
          <a:p>
            <a:r>
              <a:rPr lang="en-SG" sz="2800" dirty="0">
                <a:latin typeface="Gill Sans MT" panose="020B0502020104020203" pitchFamily="34" charset="0"/>
              </a:rPr>
              <a:t>There are 2 types of authentication done:</a:t>
            </a:r>
          </a:p>
          <a:p>
            <a:pPr marL="342900" indent="-342900">
              <a:buFont typeface="Arial" panose="020B0604020202020204" pitchFamily="34" charset="0"/>
              <a:buChar char="•"/>
            </a:pPr>
            <a:r>
              <a:rPr lang="en-SG" sz="2800" dirty="0">
                <a:latin typeface="Gill Sans MT" panose="020B0502020104020203" pitchFamily="34" charset="0"/>
              </a:rPr>
              <a:t>Null (no authentication, default) </a:t>
            </a:r>
            <a:r>
              <a:rPr lang="en-SG" sz="2800" dirty="0">
                <a:latin typeface="Gill Sans MT" panose="020B0502020104020203" pitchFamily="34" charset="0"/>
                <a:sym typeface="Wingdings" panose="05000000000000000000" pitchFamily="2" charset="2"/>
              </a:rPr>
              <a:t> </a:t>
            </a:r>
            <a:r>
              <a:rPr lang="en-SG" sz="2800" dirty="0">
                <a:solidFill>
                  <a:srgbClr val="0070C0"/>
                </a:solidFill>
                <a:latin typeface="Gill Sans MT" panose="020B0502020104020203" pitchFamily="34" charset="0"/>
                <a:sym typeface="Wingdings" panose="05000000000000000000" pitchFamily="2" charset="2"/>
              </a:rPr>
              <a:t>Type 0</a:t>
            </a:r>
            <a:endParaRPr lang="en-SG" sz="2800" dirty="0">
              <a:solidFill>
                <a:srgbClr val="0070C0"/>
              </a:solidFill>
              <a:latin typeface="Gill Sans MT" panose="020B0502020104020203" pitchFamily="34" charset="0"/>
            </a:endParaRPr>
          </a:p>
          <a:p>
            <a:pPr marL="342900" indent="-342900">
              <a:buFont typeface="Arial" panose="020B0604020202020204" pitchFamily="34" charset="0"/>
              <a:buChar char="•"/>
            </a:pPr>
            <a:r>
              <a:rPr lang="en-SG" sz="2800" dirty="0">
                <a:latin typeface="Gill Sans MT" panose="020B0502020104020203" pitchFamily="34" charset="0"/>
              </a:rPr>
              <a:t>Simple password  (or plaintext) authentication </a:t>
            </a:r>
            <a:r>
              <a:rPr lang="en-SG" sz="2800" dirty="0">
                <a:latin typeface="Gill Sans MT" panose="020B0502020104020203" pitchFamily="34" charset="0"/>
                <a:sym typeface="Wingdings" panose="05000000000000000000" pitchFamily="2" charset="2"/>
              </a:rPr>
              <a:t> </a:t>
            </a:r>
            <a:r>
              <a:rPr lang="en-SG" sz="2800" dirty="0">
                <a:solidFill>
                  <a:srgbClr val="0070C0"/>
                </a:solidFill>
                <a:latin typeface="Gill Sans MT" panose="020B0502020104020203" pitchFamily="34" charset="0"/>
                <a:sym typeface="Wingdings" panose="05000000000000000000" pitchFamily="2" charset="2"/>
              </a:rPr>
              <a:t>Type 1</a:t>
            </a:r>
            <a:endParaRPr lang="en-SG" sz="2800" dirty="0">
              <a:solidFill>
                <a:srgbClr val="0070C0"/>
              </a:solidFill>
              <a:latin typeface="Gill Sans MT" panose="020B0502020104020203" pitchFamily="34" charset="0"/>
            </a:endParaRPr>
          </a:p>
          <a:p>
            <a:pPr marL="342900" indent="-342900">
              <a:buFont typeface="Arial" panose="020B0604020202020204" pitchFamily="34" charset="0"/>
              <a:buChar char="•"/>
            </a:pPr>
            <a:r>
              <a:rPr lang="en-SG" sz="2800" dirty="0">
                <a:latin typeface="Gill Sans MT" panose="020B0502020104020203" pitchFamily="34" charset="0"/>
              </a:rPr>
              <a:t>MD5 authentication </a:t>
            </a:r>
            <a:r>
              <a:rPr lang="en-SG" sz="2800" dirty="0">
                <a:latin typeface="Gill Sans MT" panose="020B0502020104020203" pitchFamily="34" charset="0"/>
                <a:sym typeface="Wingdings" panose="05000000000000000000" pitchFamily="2" charset="2"/>
              </a:rPr>
              <a:t> </a:t>
            </a:r>
            <a:r>
              <a:rPr lang="en-SG" sz="2800" dirty="0">
                <a:solidFill>
                  <a:srgbClr val="0070C0"/>
                </a:solidFill>
                <a:latin typeface="Gill Sans MT" panose="020B0502020104020203" pitchFamily="34" charset="0"/>
                <a:sym typeface="Wingdings" panose="05000000000000000000" pitchFamily="2" charset="2"/>
              </a:rPr>
              <a:t>Type 2</a:t>
            </a:r>
            <a:endParaRPr lang="en-SG" sz="2800" dirty="0">
              <a:solidFill>
                <a:srgbClr val="0070C0"/>
              </a:solidFill>
              <a:latin typeface="Gill Sans MT" panose="020B0502020104020203" pitchFamily="34" charset="0"/>
            </a:endParaRPr>
          </a:p>
          <a:p>
            <a:endParaRPr lang="en-SG" sz="2800" dirty="0">
              <a:latin typeface="Gill Sans MT" panose="020B0502020104020203" pitchFamily="34" charset="0"/>
            </a:endParaRPr>
          </a:p>
          <a:p>
            <a:r>
              <a:rPr lang="en-SG" sz="2800" dirty="0">
                <a:latin typeface="Gill Sans MT" panose="020B0502020104020203" pitchFamily="34" charset="0"/>
              </a:rPr>
              <a:t>For both simple and MD5 authentication, the router which receives an OSPF LSA packet will first check to see from which source it arrived from (to authenticate the source).</a:t>
            </a:r>
          </a:p>
          <a:p>
            <a:r>
              <a:rPr lang="en-SG" sz="2800" dirty="0">
                <a:latin typeface="Gill Sans MT" panose="020B0502020104020203" pitchFamily="34" charset="0"/>
              </a:rPr>
              <a:t>The neighbour (source router) must have the same key (password) configured for a successful authentication link.</a:t>
            </a:r>
          </a:p>
        </p:txBody>
      </p:sp>
    </p:spTree>
    <p:extLst>
      <p:ext uri="{BB962C8B-B14F-4D97-AF65-F5344CB8AC3E}">
        <p14:creationId xmlns:p14="http://schemas.microsoft.com/office/powerpoint/2010/main" val="6198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Simple Password Authentication</a:t>
            </a:r>
          </a:p>
        </p:txBody>
      </p:sp>
      <p:sp>
        <p:nvSpPr>
          <p:cNvPr id="3" name="Content Placeholder 2"/>
          <p:cNvSpPr>
            <a:spLocks noGrp="1"/>
          </p:cNvSpPr>
          <p:nvPr>
            <p:ph idx="1"/>
          </p:nvPr>
        </p:nvSpPr>
        <p:spPr/>
        <p:txBody>
          <a:bodyPr>
            <a:normAutofit/>
          </a:bodyPr>
          <a:lstStyle/>
          <a:p>
            <a:r>
              <a:rPr lang="en-SG" sz="2400" dirty="0"/>
              <a:t>Simple authentication is used when devices within </a:t>
            </a:r>
            <a:r>
              <a:rPr lang="en-SG" sz="2400" dirty="0">
                <a:solidFill>
                  <a:srgbClr val="FF0000"/>
                </a:solidFill>
              </a:rPr>
              <a:t>an area cannot support the more secure MD5 authentication. </a:t>
            </a:r>
            <a:r>
              <a:rPr lang="en-SG" sz="2400" dirty="0"/>
              <a:t>This authentication leaves the internetwork vulnerable to a sniffer attack, in which packets are captured by a protocol analyser and the passwords can be read. However, it is useful when you perform </a:t>
            </a:r>
            <a:r>
              <a:rPr lang="en-SG" sz="2400" dirty="0">
                <a:solidFill>
                  <a:srgbClr val="FF0000"/>
                </a:solidFill>
              </a:rPr>
              <a:t>OSPF reconfiguration, rather than for security</a:t>
            </a:r>
            <a:r>
              <a:rPr lang="en-SG" sz="2400" dirty="0"/>
              <a:t>. For example, separate passwords can be used on older and newer OSPF routers that share a common broadcast network to prevent them from talking to each other. Plain text authentication </a:t>
            </a:r>
            <a:r>
              <a:rPr lang="en-SG" sz="2400" dirty="0">
                <a:solidFill>
                  <a:srgbClr val="0070C0"/>
                </a:solidFill>
              </a:rPr>
              <a:t>passwords do not have to be the same throughout an area, but they must be the same between neighbours</a:t>
            </a:r>
            <a:r>
              <a:rPr lang="en-SG" sz="2400" dirty="0"/>
              <a:t>.</a:t>
            </a:r>
          </a:p>
          <a:p>
            <a:pPr marL="0" indent="0">
              <a:buNone/>
            </a:pPr>
            <a:endParaRPr lang="en-SG" sz="2400" dirty="0"/>
          </a:p>
          <a:p>
            <a:endParaRPr lang="en-SG" sz="2400" dirty="0"/>
          </a:p>
          <a:p>
            <a:pPr marL="0" indent="0">
              <a:buNone/>
            </a:pPr>
            <a:r>
              <a:rPr lang="en-SG" sz="1400" dirty="0"/>
              <a:t>Source Cisco.com</a:t>
            </a:r>
          </a:p>
        </p:txBody>
      </p:sp>
    </p:spTree>
    <p:extLst>
      <p:ext uri="{BB962C8B-B14F-4D97-AF65-F5344CB8AC3E}">
        <p14:creationId xmlns:p14="http://schemas.microsoft.com/office/powerpoint/2010/main" val="1199288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Simple Password Authentication</a:t>
            </a:r>
          </a:p>
        </p:txBody>
      </p:sp>
      <p:sp>
        <p:nvSpPr>
          <p:cNvPr id="3" name="Content Placeholder 2"/>
          <p:cNvSpPr>
            <a:spLocks noGrp="1"/>
          </p:cNvSpPr>
          <p:nvPr>
            <p:ph idx="1"/>
          </p:nvPr>
        </p:nvSpPr>
        <p:spPr/>
        <p:txBody>
          <a:bodyPr>
            <a:normAutofit/>
          </a:bodyPr>
          <a:lstStyle/>
          <a:p>
            <a:pPr marL="0" indent="0">
              <a:buNone/>
            </a:pPr>
            <a:r>
              <a:rPr lang="en-SG" dirty="0">
                <a:solidFill>
                  <a:srgbClr val="7030A0"/>
                </a:solidFill>
              </a:rPr>
              <a:t>R1(</a:t>
            </a:r>
            <a:r>
              <a:rPr lang="en-SG" dirty="0" err="1">
                <a:solidFill>
                  <a:srgbClr val="7030A0"/>
                </a:solidFill>
              </a:rPr>
              <a:t>config</a:t>
            </a:r>
            <a:r>
              <a:rPr lang="en-SG" dirty="0">
                <a:solidFill>
                  <a:srgbClr val="7030A0"/>
                </a:solidFill>
              </a:rPr>
              <a:t>-if)# </a:t>
            </a:r>
            <a:r>
              <a:rPr lang="en-SG" dirty="0" err="1">
                <a:solidFill>
                  <a:srgbClr val="7030A0"/>
                </a:solidFill>
              </a:rPr>
              <a:t>ip</a:t>
            </a:r>
            <a:r>
              <a:rPr lang="en-SG" dirty="0">
                <a:solidFill>
                  <a:srgbClr val="7030A0"/>
                </a:solidFill>
              </a:rPr>
              <a:t> </a:t>
            </a:r>
            <a:r>
              <a:rPr lang="en-SG" dirty="0" err="1">
                <a:solidFill>
                  <a:srgbClr val="7030A0"/>
                </a:solidFill>
              </a:rPr>
              <a:t>ospf</a:t>
            </a:r>
            <a:r>
              <a:rPr lang="en-SG" dirty="0">
                <a:solidFill>
                  <a:srgbClr val="7030A0"/>
                </a:solidFill>
              </a:rPr>
              <a:t> authentication</a:t>
            </a:r>
          </a:p>
          <a:p>
            <a:pPr marL="0" indent="0">
              <a:buNone/>
            </a:pPr>
            <a:r>
              <a:rPr lang="en-SG" dirty="0">
                <a:solidFill>
                  <a:srgbClr val="7030A0"/>
                </a:solidFill>
              </a:rPr>
              <a:t>R1(</a:t>
            </a:r>
            <a:r>
              <a:rPr lang="en-SG" dirty="0" err="1">
                <a:solidFill>
                  <a:srgbClr val="7030A0"/>
                </a:solidFill>
              </a:rPr>
              <a:t>config</a:t>
            </a:r>
            <a:r>
              <a:rPr lang="en-SG" dirty="0">
                <a:solidFill>
                  <a:srgbClr val="7030A0"/>
                </a:solidFill>
              </a:rPr>
              <a:t>-router)# area 0 authentication</a:t>
            </a:r>
          </a:p>
          <a:p>
            <a:r>
              <a:rPr lang="en-SG" dirty="0"/>
              <a:t>Both the above commands activate the simple authentication type of the interface and the area respectively</a:t>
            </a:r>
          </a:p>
          <a:p>
            <a:pPr marL="0" indent="0">
              <a:buNone/>
            </a:pPr>
            <a:endParaRPr lang="en-SG" dirty="0"/>
          </a:p>
          <a:p>
            <a:pPr marL="0" indent="0">
              <a:buNone/>
            </a:pPr>
            <a:r>
              <a:rPr lang="en-SG" dirty="0"/>
              <a:t>R1(</a:t>
            </a:r>
            <a:r>
              <a:rPr lang="en-SG" dirty="0" err="1"/>
              <a:t>config</a:t>
            </a:r>
            <a:r>
              <a:rPr lang="en-SG" dirty="0"/>
              <a:t>-if)# </a:t>
            </a:r>
            <a:r>
              <a:rPr lang="en-SG" dirty="0" err="1"/>
              <a:t>ip</a:t>
            </a:r>
            <a:r>
              <a:rPr lang="en-SG" dirty="0"/>
              <a:t> </a:t>
            </a:r>
            <a:r>
              <a:rPr lang="en-SG" dirty="0" err="1"/>
              <a:t>ospf</a:t>
            </a:r>
            <a:r>
              <a:rPr lang="en-SG" dirty="0"/>
              <a:t> authentication-key Cisco123</a:t>
            </a:r>
          </a:p>
          <a:p>
            <a:r>
              <a:rPr lang="en-SG" dirty="0"/>
              <a:t>On the interface facing the neighbour router, a password (Cisco123) is being configured. The other side router needs to have the same password configured on it as well.</a:t>
            </a:r>
          </a:p>
          <a:p>
            <a:endParaRPr lang="en-SG" dirty="0"/>
          </a:p>
        </p:txBody>
      </p:sp>
    </p:spTree>
    <p:extLst>
      <p:ext uri="{BB962C8B-B14F-4D97-AF65-F5344CB8AC3E}">
        <p14:creationId xmlns:p14="http://schemas.microsoft.com/office/powerpoint/2010/main" val="2792828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Documents and Settings\scguthri\My Documents\Projects\GRX\Standard\ROUTE\Graphics\334P_137.bmp"/>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5735" y="1508760"/>
            <a:ext cx="8915826" cy="5135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p:cNvSpPr>
            <a:spLocks noGrp="1"/>
          </p:cNvSpPr>
          <p:nvPr>
            <p:ph type="title"/>
          </p:nvPr>
        </p:nvSpPr>
        <p:spPr>
          <a:xfrm>
            <a:off x="838200" y="365125"/>
            <a:ext cx="10515600" cy="1325563"/>
          </a:xfrm>
        </p:spPr>
        <p:txBody>
          <a:bodyPr/>
          <a:lstStyle/>
          <a:p>
            <a:r>
              <a:rPr lang="en-SG" dirty="0"/>
              <a:t>Simple Password Authentication</a:t>
            </a:r>
          </a:p>
        </p:txBody>
      </p:sp>
    </p:spTree>
    <p:extLst>
      <p:ext uri="{BB962C8B-B14F-4D97-AF65-F5344CB8AC3E}">
        <p14:creationId xmlns:p14="http://schemas.microsoft.com/office/powerpoint/2010/main" val="811157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Verifying Authentication</a:t>
            </a:r>
          </a:p>
        </p:txBody>
      </p:sp>
      <p:pic>
        <p:nvPicPr>
          <p:cNvPr id="4" name="Picture 3" descr="C:\Documents and Settings\scguthri\My Documents\Projects\GRX\Standard\ROUTE\Graphics\334P_141.b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8801" y="1690688"/>
            <a:ext cx="9125968" cy="4887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66883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MD5 Password Authentication</a:t>
            </a:r>
          </a:p>
        </p:txBody>
      </p:sp>
      <p:sp>
        <p:nvSpPr>
          <p:cNvPr id="3" name="Content Placeholder 2"/>
          <p:cNvSpPr>
            <a:spLocks noGrp="1"/>
          </p:cNvSpPr>
          <p:nvPr>
            <p:ph idx="1"/>
          </p:nvPr>
        </p:nvSpPr>
        <p:spPr/>
        <p:txBody>
          <a:bodyPr>
            <a:normAutofit/>
          </a:bodyPr>
          <a:lstStyle/>
          <a:p>
            <a:r>
              <a:rPr lang="en-SG" sz="2400" dirty="0"/>
              <a:t>MD5 authentication provides higher security than plain text authentication. This method uses the MD5 algorithm to compute a hash value from the contents of the OSPF packet and a password (or key). </a:t>
            </a:r>
          </a:p>
          <a:p>
            <a:r>
              <a:rPr lang="en-SG" sz="2400" dirty="0"/>
              <a:t>This hash value is transmitted in the packet, along with a key ID and a non-decreasing sequence number. </a:t>
            </a:r>
          </a:p>
          <a:p>
            <a:r>
              <a:rPr lang="en-SG" sz="2400" dirty="0"/>
              <a:t>The receiver, which knows the same password, calculates its own hash value. If nothing in the message changes, the hash value of the receiver should match the hash value of the sender which is transmitted with the message.</a:t>
            </a:r>
          </a:p>
          <a:p>
            <a:r>
              <a:rPr lang="en-SG" sz="2400" dirty="0"/>
              <a:t>Authentication is then deemed successful.</a:t>
            </a:r>
          </a:p>
          <a:p>
            <a:pPr marL="0" indent="0">
              <a:buNone/>
            </a:pPr>
            <a:endParaRPr lang="en-SG" sz="2400" dirty="0"/>
          </a:p>
          <a:p>
            <a:pPr marL="0" indent="0">
              <a:buNone/>
            </a:pPr>
            <a:r>
              <a:rPr lang="en-SG" sz="1400" dirty="0"/>
              <a:t>Source: Cisco.com</a:t>
            </a:r>
          </a:p>
        </p:txBody>
      </p:sp>
    </p:spTree>
    <p:extLst>
      <p:ext uri="{BB962C8B-B14F-4D97-AF65-F5344CB8AC3E}">
        <p14:creationId xmlns:p14="http://schemas.microsoft.com/office/powerpoint/2010/main" val="868491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MD5 Password Authentication</a:t>
            </a:r>
          </a:p>
        </p:txBody>
      </p:sp>
      <p:sp>
        <p:nvSpPr>
          <p:cNvPr id="3" name="Content Placeholder 2"/>
          <p:cNvSpPr>
            <a:spLocks noGrp="1"/>
          </p:cNvSpPr>
          <p:nvPr>
            <p:ph idx="1"/>
          </p:nvPr>
        </p:nvSpPr>
        <p:spPr/>
        <p:txBody>
          <a:bodyPr/>
          <a:lstStyle/>
          <a:p>
            <a:pPr marL="0" indent="0">
              <a:buNone/>
            </a:pPr>
            <a:r>
              <a:rPr lang="en-SG" dirty="0">
                <a:solidFill>
                  <a:srgbClr val="7030A0"/>
                </a:solidFill>
              </a:rPr>
              <a:t>R1(</a:t>
            </a:r>
            <a:r>
              <a:rPr lang="en-SG" dirty="0" err="1">
                <a:solidFill>
                  <a:srgbClr val="7030A0"/>
                </a:solidFill>
              </a:rPr>
              <a:t>config</a:t>
            </a:r>
            <a:r>
              <a:rPr lang="en-SG" dirty="0">
                <a:solidFill>
                  <a:srgbClr val="7030A0"/>
                </a:solidFill>
              </a:rPr>
              <a:t>-if)# </a:t>
            </a:r>
            <a:r>
              <a:rPr lang="en-SG" dirty="0" err="1">
                <a:solidFill>
                  <a:srgbClr val="7030A0"/>
                </a:solidFill>
              </a:rPr>
              <a:t>ip</a:t>
            </a:r>
            <a:r>
              <a:rPr lang="en-SG" dirty="0">
                <a:solidFill>
                  <a:srgbClr val="7030A0"/>
                </a:solidFill>
              </a:rPr>
              <a:t> </a:t>
            </a:r>
            <a:r>
              <a:rPr lang="en-SG" dirty="0" err="1">
                <a:solidFill>
                  <a:srgbClr val="7030A0"/>
                </a:solidFill>
              </a:rPr>
              <a:t>ospf</a:t>
            </a:r>
            <a:r>
              <a:rPr lang="en-SG" dirty="0">
                <a:solidFill>
                  <a:srgbClr val="7030A0"/>
                </a:solidFill>
              </a:rPr>
              <a:t> authentication message-digest</a:t>
            </a:r>
          </a:p>
          <a:p>
            <a:pPr marL="0" indent="0">
              <a:buNone/>
            </a:pPr>
            <a:r>
              <a:rPr lang="en-SG" dirty="0">
                <a:solidFill>
                  <a:srgbClr val="7030A0"/>
                </a:solidFill>
              </a:rPr>
              <a:t>R1(</a:t>
            </a:r>
            <a:r>
              <a:rPr lang="en-SG" dirty="0" err="1">
                <a:solidFill>
                  <a:srgbClr val="7030A0"/>
                </a:solidFill>
              </a:rPr>
              <a:t>config-rouer</a:t>
            </a:r>
            <a:r>
              <a:rPr lang="en-SG" dirty="0">
                <a:solidFill>
                  <a:srgbClr val="7030A0"/>
                </a:solidFill>
              </a:rPr>
              <a:t>)# area 0 authentication message-digest</a:t>
            </a:r>
          </a:p>
          <a:p>
            <a:r>
              <a:rPr lang="en-SG" dirty="0"/>
              <a:t>As with the simple authentication, the above 2 commands activate the MD5 authentication on the interface and area respectively</a:t>
            </a:r>
          </a:p>
          <a:p>
            <a:pPr marL="0" indent="0">
              <a:buNone/>
            </a:pPr>
            <a:endParaRPr lang="en-SG" dirty="0"/>
          </a:p>
          <a:p>
            <a:pPr marL="0" indent="0">
              <a:buNone/>
            </a:pPr>
            <a:r>
              <a:rPr lang="en-SG" dirty="0">
                <a:solidFill>
                  <a:srgbClr val="7030A0"/>
                </a:solidFill>
              </a:rPr>
              <a:t>R1(</a:t>
            </a:r>
            <a:r>
              <a:rPr lang="en-SG" dirty="0" err="1">
                <a:solidFill>
                  <a:srgbClr val="7030A0"/>
                </a:solidFill>
              </a:rPr>
              <a:t>config</a:t>
            </a:r>
            <a:r>
              <a:rPr lang="en-SG" dirty="0">
                <a:solidFill>
                  <a:srgbClr val="7030A0"/>
                </a:solidFill>
              </a:rPr>
              <a:t>-if)# </a:t>
            </a:r>
            <a:r>
              <a:rPr lang="en-SG" dirty="0" err="1">
                <a:solidFill>
                  <a:srgbClr val="7030A0"/>
                </a:solidFill>
              </a:rPr>
              <a:t>ip</a:t>
            </a:r>
            <a:r>
              <a:rPr lang="en-SG" dirty="0">
                <a:solidFill>
                  <a:srgbClr val="7030A0"/>
                </a:solidFill>
              </a:rPr>
              <a:t> </a:t>
            </a:r>
            <a:r>
              <a:rPr lang="en-SG" dirty="0" err="1">
                <a:solidFill>
                  <a:srgbClr val="7030A0"/>
                </a:solidFill>
              </a:rPr>
              <a:t>ospf</a:t>
            </a:r>
            <a:r>
              <a:rPr lang="en-SG" dirty="0">
                <a:solidFill>
                  <a:srgbClr val="7030A0"/>
                </a:solidFill>
              </a:rPr>
              <a:t> message-digest-key 1 md5 Cisco123</a:t>
            </a:r>
          </a:p>
          <a:p>
            <a:r>
              <a:rPr lang="en-SG" dirty="0"/>
              <a:t>This command defines a key ID of 1 and the key of Cisco123. The neighbouring router must a have the same combination of key ID and key configured in order for the authentication to be successful.</a:t>
            </a:r>
          </a:p>
        </p:txBody>
      </p:sp>
    </p:spTree>
    <p:extLst>
      <p:ext uri="{BB962C8B-B14F-4D97-AF65-F5344CB8AC3E}">
        <p14:creationId xmlns:p14="http://schemas.microsoft.com/office/powerpoint/2010/main" val="2135518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Documents and Settings\scguthri\My Documents\Projects\GRX\Standard\ROUTE\Graphics\334P_143.bmp"/>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59444" y="1417320"/>
            <a:ext cx="9034896" cy="520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p:cNvSpPr>
            <a:spLocks noGrp="1"/>
          </p:cNvSpPr>
          <p:nvPr>
            <p:ph type="title"/>
          </p:nvPr>
        </p:nvSpPr>
        <p:spPr>
          <a:xfrm>
            <a:off x="838200" y="365125"/>
            <a:ext cx="10515600" cy="1325563"/>
          </a:xfrm>
        </p:spPr>
        <p:txBody>
          <a:bodyPr/>
          <a:lstStyle/>
          <a:p>
            <a:r>
              <a:rPr lang="en-SG" dirty="0"/>
              <a:t>MD5 Password Authentication</a:t>
            </a:r>
          </a:p>
        </p:txBody>
      </p:sp>
    </p:spTree>
    <p:extLst>
      <p:ext uri="{BB962C8B-B14F-4D97-AF65-F5344CB8AC3E}">
        <p14:creationId xmlns:p14="http://schemas.microsoft.com/office/powerpoint/2010/main" val="35437897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Verifying Authentication</a:t>
            </a:r>
          </a:p>
        </p:txBody>
      </p:sp>
      <p:pic>
        <p:nvPicPr>
          <p:cNvPr id="5" name="Picture 4" descr="C:\Documents and Settings\scguthri\My Documents\Projects\GRX\Standard\ROUTE\Graphics\334P_145.b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6811" y="1690689"/>
            <a:ext cx="9413737" cy="516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04826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Troubleshooting Configuration </a:t>
            </a:r>
          </a:p>
        </p:txBody>
      </p:sp>
      <p:pic>
        <p:nvPicPr>
          <p:cNvPr id="4" name="Picture 3" descr="C:\Documents and Settings\scguthri\My Documents\Projects\GRX\Standard\ROUTE\Graphics\334P_149.b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2307" y="2213908"/>
            <a:ext cx="8118412" cy="1714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C:\Documents and Settings\scguthri\My Documents\Projects\GRX\Standard\ROUTE\Graphics\334P_151.b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0527" y="4640581"/>
            <a:ext cx="8010191" cy="1691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1442307" y="1690688"/>
            <a:ext cx="6695853" cy="523220"/>
          </a:xfrm>
          <a:prstGeom prst="rect">
            <a:avLst/>
          </a:prstGeom>
          <a:noFill/>
        </p:spPr>
        <p:txBody>
          <a:bodyPr wrap="square" rtlCol="0">
            <a:spAutoFit/>
          </a:bodyPr>
          <a:lstStyle/>
          <a:p>
            <a:r>
              <a:rPr lang="en-SG" sz="2800" dirty="0">
                <a:latin typeface="Gill Sans MT" panose="020B0502020104020203" pitchFamily="34" charset="0"/>
              </a:rPr>
              <a:t>Simple authentication not configured on R2</a:t>
            </a:r>
          </a:p>
        </p:txBody>
      </p:sp>
      <p:sp>
        <p:nvSpPr>
          <p:cNvPr id="7" name="TextBox 6"/>
          <p:cNvSpPr txBox="1"/>
          <p:nvPr/>
        </p:nvSpPr>
        <p:spPr>
          <a:xfrm>
            <a:off x="1442306" y="4023043"/>
            <a:ext cx="7518814" cy="523220"/>
          </a:xfrm>
          <a:prstGeom prst="rect">
            <a:avLst/>
          </a:prstGeom>
          <a:noFill/>
        </p:spPr>
        <p:txBody>
          <a:bodyPr wrap="square" rtlCol="0">
            <a:spAutoFit/>
          </a:bodyPr>
          <a:lstStyle/>
          <a:p>
            <a:r>
              <a:rPr lang="en-SG" sz="2800" dirty="0">
                <a:latin typeface="Gill Sans MT" panose="020B0502020104020203" pitchFamily="34" charset="0"/>
              </a:rPr>
              <a:t>Different Simple password Keys on R1 and R2</a:t>
            </a:r>
          </a:p>
        </p:txBody>
      </p:sp>
    </p:spTree>
    <p:extLst>
      <p:ext uri="{BB962C8B-B14F-4D97-AF65-F5344CB8AC3E}">
        <p14:creationId xmlns:p14="http://schemas.microsoft.com/office/powerpoint/2010/main" val="41290000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Troubleshooting Configuration</a:t>
            </a:r>
          </a:p>
        </p:txBody>
      </p:sp>
      <p:sp>
        <p:nvSpPr>
          <p:cNvPr id="3" name="Content Placeholder 2"/>
          <p:cNvSpPr>
            <a:spLocks noGrp="1"/>
          </p:cNvSpPr>
          <p:nvPr>
            <p:ph idx="1"/>
          </p:nvPr>
        </p:nvSpPr>
        <p:spPr/>
        <p:txBody>
          <a:bodyPr/>
          <a:lstStyle/>
          <a:p>
            <a:r>
              <a:rPr lang="en-SG" dirty="0"/>
              <a:t>MD5 authentication configured on both routers</a:t>
            </a:r>
          </a:p>
          <a:p>
            <a:r>
              <a:rPr lang="en-SG" dirty="0"/>
              <a:t>Router R1 has key 1 and router R2 has key 2, both with the same passwords:</a:t>
            </a:r>
          </a:p>
          <a:p>
            <a:pPr marL="0" indent="0">
              <a:buNone/>
            </a:pPr>
            <a:endParaRPr lang="en-SG" dirty="0"/>
          </a:p>
        </p:txBody>
      </p:sp>
      <p:pic>
        <p:nvPicPr>
          <p:cNvPr id="4" name="Picture 3" descr="C:\Documents and Settings\scguthri\My Documents\Projects\GRX\Standard\ROUTE\Graphics\334P_155.b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5635" y="3634741"/>
            <a:ext cx="8284642" cy="2677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01058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Service Password Encryption</a:t>
            </a:r>
          </a:p>
        </p:txBody>
      </p:sp>
      <p:sp>
        <p:nvSpPr>
          <p:cNvPr id="3" name="Content Placeholder 2"/>
          <p:cNvSpPr>
            <a:spLocks noGrp="1"/>
          </p:cNvSpPr>
          <p:nvPr>
            <p:ph idx="1"/>
          </p:nvPr>
        </p:nvSpPr>
        <p:spPr/>
        <p:txBody>
          <a:bodyPr/>
          <a:lstStyle/>
          <a:p>
            <a:r>
              <a:rPr lang="en-SG" dirty="0"/>
              <a:t>Both security options in OSPF strive to only authenticate the user but not to encrypt any data.</a:t>
            </a:r>
          </a:p>
          <a:p>
            <a:r>
              <a:rPr lang="en-SG" dirty="0"/>
              <a:t>It is recommended to configure the service password-encryption command on all routers to encrypt the passwords on any configuration file displays.</a:t>
            </a:r>
          </a:p>
          <a:p>
            <a:r>
              <a:rPr lang="en-SG" dirty="0"/>
              <a:t>This guards against the password being learnt by observing the text copy of the </a:t>
            </a:r>
            <a:r>
              <a:rPr lang="en-SG" dirty="0" err="1"/>
              <a:t>config</a:t>
            </a:r>
            <a:r>
              <a:rPr lang="en-SG" dirty="0"/>
              <a:t> file. </a:t>
            </a:r>
          </a:p>
          <a:p>
            <a:pPr marL="0" indent="0">
              <a:buNone/>
            </a:pPr>
            <a:r>
              <a:rPr lang="en-SG" dirty="0">
                <a:solidFill>
                  <a:srgbClr val="7030A0"/>
                </a:solidFill>
              </a:rPr>
              <a:t>R1(</a:t>
            </a:r>
            <a:r>
              <a:rPr lang="en-SG" dirty="0" err="1">
                <a:solidFill>
                  <a:srgbClr val="7030A0"/>
                </a:solidFill>
              </a:rPr>
              <a:t>config</a:t>
            </a:r>
            <a:r>
              <a:rPr lang="en-SG" dirty="0">
                <a:solidFill>
                  <a:srgbClr val="7030A0"/>
                </a:solidFill>
              </a:rPr>
              <a:t>)# service password-encryption</a:t>
            </a:r>
          </a:p>
          <a:p>
            <a:endParaRPr lang="en-SG" dirty="0"/>
          </a:p>
        </p:txBody>
      </p:sp>
    </p:spTree>
    <p:extLst>
      <p:ext uri="{BB962C8B-B14F-4D97-AF65-F5344CB8AC3E}">
        <p14:creationId xmlns:p14="http://schemas.microsoft.com/office/powerpoint/2010/main" val="42753994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SG" dirty="0"/>
              <a:t>THE END</a:t>
            </a:r>
          </a:p>
        </p:txBody>
      </p:sp>
      <p:sp>
        <p:nvSpPr>
          <p:cNvPr id="5" name="Subtitle 4"/>
          <p:cNvSpPr>
            <a:spLocks noGrp="1"/>
          </p:cNvSpPr>
          <p:nvPr>
            <p:ph type="subTitle" idx="1"/>
          </p:nvPr>
        </p:nvSpPr>
        <p:spPr/>
        <p:txBody>
          <a:bodyPr/>
          <a:lstStyle/>
          <a:p>
            <a:endParaRPr lang="en-SG"/>
          </a:p>
        </p:txBody>
      </p:sp>
    </p:spTree>
    <p:extLst>
      <p:ext uri="{BB962C8B-B14F-4D97-AF65-F5344CB8AC3E}">
        <p14:creationId xmlns:p14="http://schemas.microsoft.com/office/powerpoint/2010/main" val="3925478750"/>
      </p:ext>
    </p:extLst>
  </p:cSld>
  <p:clrMapOvr>
    <a:masterClrMapping/>
  </p:clrMapOvr>
</p:sld>
</file>

<file path=ppt/theme/theme1.xml><?xml version="1.0" encoding="utf-8"?>
<a:theme xmlns:a="http://schemas.openxmlformats.org/drawingml/2006/main" name="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 id="{C1C5D1BB-B8B3-449E-ABE3-BD1ADC446175}" vid="{8783730B-F0DD-45C7-9301-B01A4242EBAF}"/>
    </a:ext>
  </a:extLst>
</a:theme>
</file>

<file path=docProps/app.xml><?xml version="1.0" encoding="utf-8"?>
<Properties xmlns="http://schemas.openxmlformats.org/officeDocument/2006/extended-properties" xmlns:vt="http://schemas.openxmlformats.org/officeDocument/2006/docPropsVTypes">
  <Template>Theme</Template>
  <TotalTime>430</TotalTime>
  <Words>664</Words>
  <Application>Microsoft Office PowerPoint</Application>
  <PresentationFormat>Widescreen</PresentationFormat>
  <Paragraphs>60</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Gill Sans MT</vt:lpstr>
      <vt:lpstr>Wingdings</vt:lpstr>
      <vt:lpstr>Theme</vt:lpstr>
      <vt:lpstr>OSPF Security</vt:lpstr>
      <vt:lpstr>Learning Outcomes</vt:lpstr>
      <vt:lpstr>Routing Protocols</vt:lpstr>
      <vt:lpstr>OSPF Authentication</vt:lpstr>
      <vt:lpstr>Simple Password Authentication</vt:lpstr>
      <vt:lpstr>Simple Password Authentication</vt:lpstr>
      <vt:lpstr>Simple Password Authentication</vt:lpstr>
      <vt:lpstr>Verifying Authentication</vt:lpstr>
      <vt:lpstr>MD5 Password Authentication</vt:lpstr>
      <vt:lpstr>MD5 Password Authentication</vt:lpstr>
      <vt:lpstr>MD5 Password Authentication</vt:lpstr>
      <vt:lpstr>Verifying Authentication</vt:lpstr>
      <vt:lpstr>Troubleshooting Configuration </vt:lpstr>
      <vt:lpstr>Troubleshooting Configuration</vt:lpstr>
      <vt:lpstr>Service Password Encryption</vt:lpstr>
      <vt:lpstr>THE END</vt:lpstr>
    </vt:vector>
  </TitlesOfParts>
  <Company>Nanyang Polytechnic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ARTHI CHANDRASEKARAN</dc:creator>
  <cp:lastModifiedBy>ARTHI CHANDRASEKARAN</cp:lastModifiedBy>
  <cp:revision>54</cp:revision>
  <dcterms:created xsi:type="dcterms:W3CDTF">2017-09-11T07:21:26Z</dcterms:created>
  <dcterms:modified xsi:type="dcterms:W3CDTF">2018-10-30T04:57:29Z</dcterms:modified>
</cp:coreProperties>
</file>