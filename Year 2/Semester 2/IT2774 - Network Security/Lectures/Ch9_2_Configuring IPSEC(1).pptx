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808" r:id="rId2"/>
    <p:sldId id="762" r:id="rId3"/>
    <p:sldId id="764" r:id="rId4"/>
    <p:sldId id="765" r:id="rId5"/>
    <p:sldId id="766" r:id="rId6"/>
    <p:sldId id="769" r:id="rId7"/>
    <p:sldId id="767" r:id="rId8"/>
    <p:sldId id="768" r:id="rId9"/>
    <p:sldId id="770" r:id="rId10"/>
    <p:sldId id="771" r:id="rId11"/>
    <p:sldId id="772" r:id="rId12"/>
    <p:sldId id="773" r:id="rId13"/>
    <p:sldId id="774" r:id="rId14"/>
    <p:sldId id="775" r:id="rId15"/>
    <p:sldId id="776" r:id="rId16"/>
    <p:sldId id="777" r:id="rId17"/>
    <p:sldId id="778" r:id="rId18"/>
    <p:sldId id="779" r:id="rId19"/>
    <p:sldId id="780" r:id="rId20"/>
    <p:sldId id="782" r:id="rId21"/>
    <p:sldId id="784" r:id="rId22"/>
    <p:sldId id="783" r:id="rId23"/>
    <p:sldId id="785" r:id="rId24"/>
    <p:sldId id="786" r:id="rId25"/>
    <p:sldId id="787" r:id="rId26"/>
    <p:sldId id="788" r:id="rId27"/>
    <p:sldId id="789" r:id="rId28"/>
    <p:sldId id="790" r:id="rId29"/>
    <p:sldId id="791" r:id="rId30"/>
    <p:sldId id="793" r:id="rId31"/>
    <p:sldId id="794" r:id="rId32"/>
    <p:sldId id="795" r:id="rId33"/>
    <p:sldId id="796" r:id="rId34"/>
    <p:sldId id="797" r:id="rId35"/>
    <p:sldId id="798" r:id="rId36"/>
    <p:sldId id="799" r:id="rId37"/>
    <p:sldId id="800" r:id="rId38"/>
    <p:sldId id="801" r:id="rId39"/>
    <p:sldId id="686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BBF4F-03C8-4A77-A484-ABB19814FC81}" type="datetimeFigureOut">
              <a:rPr lang="en-SG" smtClean="0"/>
              <a:t>2/1/2019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FE342B-7B77-4BA0-970C-5D7290C21F9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808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52D707D-B8F1-934E-8A9C-EE433F54B10C}" type="slidenum">
              <a:rPr lang="en-US" sz="800" b="0"/>
              <a:pPr/>
              <a:t>2</a:t>
            </a:fld>
            <a:endParaRPr lang="en-US" sz="800" b="0"/>
          </a:p>
        </p:txBody>
      </p:sp>
      <p:sp>
        <p:nvSpPr>
          <p:cNvPr id="290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11175" y="563563"/>
            <a:ext cx="5846763" cy="3289300"/>
          </a:xfrm>
          <a:ln/>
        </p:spPr>
      </p:sp>
      <p:sp>
        <p:nvSpPr>
          <p:cNvPr id="290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11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5A440FE-BA10-EE45-BB6E-EC481951E8CF}" type="slidenum">
              <a:rPr lang="en-US" sz="800" b="0"/>
              <a:pPr/>
              <a:t>3</a:t>
            </a:fld>
            <a:endParaRPr lang="en-US" sz="800" b="0"/>
          </a:p>
        </p:txBody>
      </p:sp>
      <p:sp>
        <p:nvSpPr>
          <p:cNvPr id="292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292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573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A585D0E-354E-DB48-AE6D-40C31343CA63}" type="slidenum">
              <a:rPr lang="en-US" sz="800" b="0"/>
              <a:pPr/>
              <a:t>4</a:t>
            </a:fld>
            <a:endParaRPr lang="en-US" sz="800" b="0"/>
          </a:p>
        </p:txBody>
      </p:sp>
      <p:sp>
        <p:nvSpPr>
          <p:cNvPr id="293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293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02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A19AFDC-FF77-A64A-9254-200FDE60F3B6}" type="slidenum">
              <a:rPr lang="en-US" sz="800" b="0"/>
              <a:pPr/>
              <a:t>5</a:t>
            </a:fld>
            <a:endParaRPr lang="en-US" sz="800" b="0"/>
          </a:p>
        </p:txBody>
      </p:sp>
      <p:sp>
        <p:nvSpPr>
          <p:cNvPr id="294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294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93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9EF2474-0571-6C4C-8E54-06C07E590DB8}" type="slidenum">
              <a:rPr lang="en-US" sz="800" b="0"/>
              <a:pPr/>
              <a:t>7</a:t>
            </a:fld>
            <a:endParaRPr lang="en-US" sz="800" b="0"/>
          </a:p>
        </p:txBody>
      </p:sp>
      <p:sp>
        <p:nvSpPr>
          <p:cNvPr id="295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295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D9D7C6F-9F59-BF4B-BDBF-AF1B0BF83D0D}" type="slidenum">
              <a:rPr lang="en-US" sz="800" b="0"/>
              <a:pPr/>
              <a:t>8</a:t>
            </a:fld>
            <a:endParaRPr lang="en-US" sz="800" b="0"/>
          </a:p>
        </p:txBody>
      </p:sp>
      <p:sp>
        <p:nvSpPr>
          <p:cNvPr id="296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296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318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B535961-E64F-824D-A85B-AD0A1A51E2A8}" type="slidenum">
              <a:rPr lang="en-US" sz="800" b="0"/>
              <a:pPr/>
              <a:t>10</a:t>
            </a:fld>
            <a:endParaRPr lang="en-US" sz="800" b="0"/>
          </a:p>
        </p:txBody>
      </p:sp>
      <p:sp>
        <p:nvSpPr>
          <p:cNvPr id="297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297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49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C0EC927-CFE2-E547-BD32-68BF63E76401}" type="slidenum">
              <a:rPr lang="en-US" sz="800" b="0"/>
              <a:pPr/>
              <a:t>15</a:t>
            </a:fld>
            <a:endParaRPr lang="en-US" sz="800" b="0"/>
          </a:p>
        </p:txBody>
      </p:sp>
      <p:sp>
        <p:nvSpPr>
          <p:cNvPr id="299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299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96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EE11908-430A-2F43-B76F-32A8D545B0B7}" type="slidenum">
              <a:rPr lang="en-US" sz="800" b="0"/>
              <a:pPr/>
              <a:t>16</a:t>
            </a:fld>
            <a:endParaRPr lang="en-US" sz="800" b="0"/>
          </a:p>
        </p:txBody>
      </p:sp>
      <p:sp>
        <p:nvSpPr>
          <p:cNvPr id="300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00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03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52929C1-D398-D14E-8A01-F684146D6996}" type="slidenum">
              <a:rPr lang="en-US" sz="800" b="0"/>
              <a:pPr/>
              <a:t>17</a:t>
            </a:fld>
            <a:endParaRPr lang="en-US" sz="800" b="0"/>
          </a:p>
        </p:txBody>
      </p:sp>
      <p:sp>
        <p:nvSpPr>
          <p:cNvPr id="301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01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46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AC26135-8328-2944-8F86-286DAA88442E}" type="slidenum">
              <a:rPr lang="en-US" sz="800" b="0"/>
              <a:pPr/>
              <a:t>18</a:t>
            </a:fld>
            <a:endParaRPr lang="en-US" sz="800" b="0"/>
          </a:p>
        </p:txBody>
      </p:sp>
      <p:sp>
        <p:nvSpPr>
          <p:cNvPr id="302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02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859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78103F8-A87A-3D4E-BA82-01A4B96EB687}" type="slidenum">
              <a:rPr lang="en-US" sz="800" b="0"/>
              <a:pPr/>
              <a:t>19</a:t>
            </a:fld>
            <a:endParaRPr lang="en-US" sz="800" b="0"/>
          </a:p>
        </p:txBody>
      </p:sp>
      <p:sp>
        <p:nvSpPr>
          <p:cNvPr id="303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03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3684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A366B5C-5A37-624B-ACF7-71E28FAB5390}" type="slidenum">
              <a:rPr lang="en-US" sz="800" b="0"/>
              <a:pPr/>
              <a:t>20</a:t>
            </a:fld>
            <a:endParaRPr lang="en-US" sz="800" b="0"/>
          </a:p>
        </p:txBody>
      </p:sp>
      <p:sp>
        <p:nvSpPr>
          <p:cNvPr id="307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07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502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DB9B5AE-1CB6-C64A-AC06-5D619E2206DA}" type="slidenum">
              <a:rPr lang="en-US" sz="800" b="0"/>
              <a:pPr/>
              <a:t>21</a:t>
            </a:fld>
            <a:endParaRPr lang="en-US" sz="800" b="0"/>
          </a:p>
        </p:txBody>
      </p:sp>
      <p:sp>
        <p:nvSpPr>
          <p:cNvPr id="309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09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648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9212112-EA8E-C545-A57D-1810EF9CCAF8}" type="slidenum">
              <a:rPr lang="en-US" sz="800" b="0"/>
              <a:pPr/>
              <a:t>22</a:t>
            </a:fld>
            <a:endParaRPr lang="en-US" sz="800" b="0"/>
          </a:p>
        </p:txBody>
      </p:sp>
      <p:sp>
        <p:nvSpPr>
          <p:cNvPr id="308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08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680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A080819-6634-BC4E-91CA-E8AA6EBCF4E1}" type="slidenum">
              <a:rPr lang="en-US" sz="800" b="0"/>
              <a:pPr/>
              <a:t>23</a:t>
            </a:fld>
            <a:endParaRPr lang="en-US" sz="800" b="0"/>
          </a:p>
        </p:txBody>
      </p:sp>
      <p:sp>
        <p:nvSpPr>
          <p:cNvPr id="310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10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87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4F3C6C0-345D-DC4D-88B4-F7FA4DF80839}" type="slidenum">
              <a:rPr lang="en-US" sz="800" b="0"/>
              <a:pPr/>
              <a:t>24</a:t>
            </a:fld>
            <a:endParaRPr lang="en-US" sz="800" b="0"/>
          </a:p>
        </p:txBody>
      </p:sp>
      <p:sp>
        <p:nvSpPr>
          <p:cNvPr id="311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11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5745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B7C6082-2962-D542-8042-A65197D7BDDC}" type="slidenum">
              <a:rPr lang="en-US" sz="800" b="0"/>
              <a:pPr/>
              <a:t>25</a:t>
            </a:fld>
            <a:endParaRPr lang="en-US" sz="800" b="0"/>
          </a:p>
        </p:txBody>
      </p:sp>
      <p:sp>
        <p:nvSpPr>
          <p:cNvPr id="312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12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858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490D133-9BF4-F243-8AD3-04E7F267B1CC}" type="slidenum">
              <a:rPr lang="en-US" sz="800" b="0"/>
              <a:pPr/>
              <a:t>26</a:t>
            </a:fld>
            <a:endParaRPr lang="en-US" sz="800" b="0"/>
          </a:p>
        </p:txBody>
      </p:sp>
      <p:sp>
        <p:nvSpPr>
          <p:cNvPr id="313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13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03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1A28B78-71CA-8044-A3D5-F60CFC964EC3}" type="slidenum">
              <a:rPr lang="en-US" sz="800" b="0"/>
              <a:pPr/>
              <a:t>27</a:t>
            </a:fld>
            <a:endParaRPr lang="en-US" sz="800" b="0"/>
          </a:p>
        </p:txBody>
      </p:sp>
      <p:sp>
        <p:nvSpPr>
          <p:cNvPr id="314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14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309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AA2E393-989C-6444-98E6-E9BC86408F19}" type="slidenum">
              <a:rPr lang="en-US" sz="800" b="0"/>
              <a:pPr/>
              <a:t>28</a:t>
            </a:fld>
            <a:endParaRPr lang="en-US" sz="800" b="0"/>
          </a:p>
        </p:txBody>
      </p:sp>
      <p:sp>
        <p:nvSpPr>
          <p:cNvPr id="315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15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1819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ECA47CB-E671-2E46-980C-64EF619C3072}" type="slidenum">
              <a:rPr lang="en-US" sz="800" b="0"/>
              <a:pPr/>
              <a:t>29</a:t>
            </a:fld>
            <a:endParaRPr lang="en-US" sz="800" b="0"/>
          </a:p>
        </p:txBody>
      </p:sp>
      <p:sp>
        <p:nvSpPr>
          <p:cNvPr id="316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16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4350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A74F0BC-E1AE-1C4E-83DB-06D4596181C5}" type="slidenum">
              <a:rPr lang="en-US" sz="800" b="0"/>
              <a:pPr/>
              <a:t>30</a:t>
            </a:fld>
            <a:endParaRPr lang="en-US" sz="800" b="0"/>
          </a:p>
        </p:txBody>
      </p:sp>
      <p:sp>
        <p:nvSpPr>
          <p:cNvPr id="318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18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138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54FA220-38D5-4C4C-A3AD-EAD85EAA33FB}" type="slidenum">
              <a:rPr lang="en-US" sz="800" b="0"/>
              <a:pPr/>
              <a:t>31</a:t>
            </a:fld>
            <a:endParaRPr lang="en-US" sz="800" b="0"/>
          </a:p>
        </p:txBody>
      </p:sp>
      <p:sp>
        <p:nvSpPr>
          <p:cNvPr id="319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19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714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F4EFB98-2237-5B43-B237-B138495C5B5F}" type="slidenum">
              <a:rPr lang="en-US" sz="800" b="0"/>
              <a:pPr/>
              <a:t>33</a:t>
            </a:fld>
            <a:endParaRPr lang="en-US" sz="800" b="0"/>
          </a:p>
        </p:txBody>
      </p:sp>
      <p:sp>
        <p:nvSpPr>
          <p:cNvPr id="320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20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46" tIns="44922" rIns="89846" bIns="44922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241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532AAAF-5170-0541-A8B6-1A35020EDA80}" type="slidenum">
              <a:rPr lang="en-US" sz="800" b="0"/>
              <a:pPr/>
              <a:t>34</a:t>
            </a:fld>
            <a:endParaRPr lang="en-US" sz="800" b="0"/>
          </a:p>
        </p:txBody>
      </p:sp>
      <p:sp>
        <p:nvSpPr>
          <p:cNvPr id="321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21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090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799DFFF-B625-C44A-AD09-347DA3B98D29}" type="slidenum">
              <a:rPr lang="en-US" sz="800" b="0"/>
              <a:pPr/>
              <a:t>35</a:t>
            </a:fld>
            <a:endParaRPr lang="en-US" sz="800" b="0"/>
          </a:p>
        </p:txBody>
      </p:sp>
      <p:sp>
        <p:nvSpPr>
          <p:cNvPr id="322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22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1381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2EC3CD9-8123-504D-8A77-31D5715D30D7}" type="slidenum">
              <a:rPr lang="en-US" sz="800" b="0"/>
              <a:pPr/>
              <a:t>36</a:t>
            </a:fld>
            <a:endParaRPr lang="en-US" sz="800" b="0"/>
          </a:p>
        </p:txBody>
      </p:sp>
      <p:sp>
        <p:nvSpPr>
          <p:cNvPr id="323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23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319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6051E35-4A1F-C14B-B7F5-AE1AEB09A45D}" type="slidenum">
              <a:rPr lang="en-US" sz="800" b="0"/>
              <a:pPr/>
              <a:t>37</a:t>
            </a:fld>
            <a:endParaRPr lang="en-US" sz="800" b="0"/>
          </a:p>
        </p:txBody>
      </p:sp>
      <p:sp>
        <p:nvSpPr>
          <p:cNvPr id="324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24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801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3A089DB-3206-0B46-B35E-99B0C384BF40}" type="slidenum">
              <a:rPr lang="en-US" sz="800" b="0"/>
              <a:pPr/>
              <a:t>38</a:t>
            </a:fld>
            <a:endParaRPr lang="en-US" sz="800" b="0"/>
          </a:p>
        </p:txBody>
      </p:sp>
      <p:sp>
        <p:nvSpPr>
          <p:cNvPr id="325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3013" y="563563"/>
            <a:ext cx="4383087" cy="3289300"/>
          </a:xfrm>
          <a:ln/>
        </p:spPr>
      </p:sp>
      <p:sp>
        <p:nvSpPr>
          <p:cNvPr id="325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04" y="3997378"/>
            <a:ext cx="5160582" cy="43081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52" tIns="44925" rIns="89852" bIns="4492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581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6CE926-5A31-4115-BBFA-C013C0BAB72C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02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75C4-953C-4F26-957B-18A211701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CA0B00-B0B5-479F-A31A-0F5AB3F1C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EC8F1-25A3-43B0-8B2C-63F404C58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F442-5319-4E77-BB8D-CF8A9837BA2F}" type="datetimeFigureOut">
              <a:rPr lang="en-SG" smtClean="0"/>
              <a:t>2/1/2019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B3AA1-92CA-4242-954C-C90D5836C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F3206-B972-4BDE-80BC-7E7CCA29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8086-60D9-4045-A697-69702D87164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98323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07F4E-467B-48FB-8947-A53A16FBB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6E160-6879-4D4B-B1DA-63E251296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8598F-152F-4E9D-9B82-CCA22DBB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F442-5319-4E77-BB8D-CF8A9837BA2F}" type="datetimeFigureOut">
              <a:rPr lang="en-SG" smtClean="0"/>
              <a:t>2/1/2019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0009E-8291-4EF1-8AAA-6C8187DC7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66E21-BB56-4718-A814-D1DE36FBD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8086-60D9-4045-A697-69702D87164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89391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3E0D-25DB-4CBD-87FB-6536CB55D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74C8C-68A1-4A2E-A836-718B1DF38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9668C-56D5-404B-9FB2-3AAF0650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F442-5319-4E77-BB8D-CF8A9837BA2F}" type="datetimeFigureOut">
              <a:rPr lang="en-SG" smtClean="0"/>
              <a:t>2/1/2019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AD35B-DD72-4886-970E-E70BF08ED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7ED60-D0E6-4809-B928-70289AD52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8086-60D9-4045-A697-69702D87164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95507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150F9-966E-4522-A902-A0B36844F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5B589-1DBB-4323-B7C9-61E6C74F2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9D7A3-0B24-4B6C-95A8-5876DC794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E8B92-D448-448D-B9D0-998624B06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F442-5319-4E77-BB8D-CF8A9837BA2F}" type="datetimeFigureOut">
              <a:rPr lang="en-SG" smtClean="0"/>
              <a:t>2/1/2019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A2BF0-2A14-40E2-8CAA-50BD6FDE9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C92E6-BBCA-4F4D-B75D-729D355A5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8086-60D9-4045-A697-69702D87164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6357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00E92-F2BC-4308-992F-873C348AA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838BC-911B-45BD-9490-4B164DF03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7F3C6-F61F-45FD-A934-1DA7A0FDB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9ED9F2-E2A7-4D1E-AD3F-9BD0F9916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8A5A2A-0ADB-47A9-A4AE-92096D4862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286EC4-266B-4EC5-A245-78A871DAA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F442-5319-4E77-BB8D-CF8A9837BA2F}" type="datetimeFigureOut">
              <a:rPr lang="en-SG" smtClean="0"/>
              <a:t>2/1/2019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AE3061-014E-4928-BB5A-3D4DC9964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96CC6-B5C8-4B3D-8AC2-571D65A36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8086-60D9-4045-A697-69702D87164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017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8FCC3-222D-42AA-B403-4A15CDD34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3D1F04-5F63-475D-94F8-4A885439D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F442-5319-4E77-BB8D-CF8A9837BA2F}" type="datetimeFigureOut">
              <a:rPr lang="en-SG" smtClean="0"/>
              <a:t>2/1/2019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1B8249-67D6-4202-90CC-FCA8281B6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3A95A-28AF-4B22-A6B4-E811529E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8086-60D9-4045-A697-69702D87164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5601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45424C-BA23-46AE-BC5D-66FB8BE4B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F442-5319-4E77-BB8D-CF8A9837BA2F}" type="datetimeFigureOut">
              <a:rPr lang="en-SG" smtClean="0"/>
              <a:t>2/1/2019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666A88-B457-49FB-8D5C-A092AF78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F0D92-C039-48FF-AB55-CC4DFF16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8086-60D9-4045-A697-69702D87164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5868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1E962-7F14-432D-9BB4-CD8568945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2E8BA-CCE8-4DC7-A3C8-581A9A23E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2F101-80E2-4BC9-8EBD-B2A72770E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2E38A-F4D1-4A94-84E0-E7008D2B9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F442-5319-4E77-BB8D-CF8A9837BA2F}" type="datetimeFigureOut">
              <a:rPr lang="en-SG" smtClean="0"/>
              <a:t>2/1/2019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DD6C1-F423-45D6-A626-D5E2CA036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F8F40-4888-47EE-AE23-4D4F025B6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8086-60D9-4045-A697-69702D87164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42861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F2D65-E72F-4F2A-B0B2-7B943830D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8A0C09-866A-49EE-AF17-037BEC91A0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38F95-E720-475E-9B02-FA466AE01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E279B-D491-42CD-AF14-715AAAFCF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F442-5319-4E77-BB8D-CF8A9837BA2F}" type="datetimeFigureOut">
              <a:rPr lang="en-SG" smtClean="0"/>
              <a:t>2/1/2019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06726-A2DB-4F9A-8686-39C9F8468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FC076-F01B-4B5C-876F-83E833D42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8086-60D9-4045-A697-69702D87164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4742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0253A-614D-468C-BFA4-2366593EA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0DD1C-E06D-435D-B8FE-60B934D39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303F4-5076-47C0-B18B-657C750EF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F442-5319-4E77-BB8D-CF8A9837BA2F}" type="datetimeFigureOut">
              <a:rPr lang="en-SG" smtClean="0"/>
              <a:t>2/1/2019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DA105-F265-406E-919C-202D24930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DADD1-A1D1-4373-93DA-3CA8762A3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8086-60D9-4045-A697-69702D87164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5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298DBE-1ED0-401E-AB17-47271EC417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7AD72-2F52-48B2-93A6-0B7D001F9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37AF4-4C14-47DA-940D-7F8F0C91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F442-5319-4E77-BB8D-CF8A9837BA2F}" type="datetimeFigureOut">
              <a:rPr lang="en-SG" smtClean="0"/>
              <a:t>2/1/2019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27AC0-1639-4D32-B165-8F7D11F17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C5D63-E4D4-4E0B-8D30-0A5FB994C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8086-60D9-4045-A697-69702D87164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8094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19617" y="914400"/>
            <a:ext cx="11438467" cy="5394960"/>
          </a:xfrm>
        </p:spPr>
        <p:txBody>
          <a:bodyPr/>
          <a:lstStyle>
            <a:lvl1pPr>
              <a:lnSpc>
                <a:spcPct val="95000"/>
              </a:lnSpc>
              <a:spcBef>
                <a:spcPts val="1480"/>
              </a:spcBef>
              <a:defRPr sz="2200">
                <a:solidFill>
                  <a:srgbClr val="000000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>
                <a:solidFill>
                  <a:srgbClr val="000000"/>
                </a:solidFill>
                <a:latin typeface="+mj-lt"/>
              </a:defRPr>
            </a:lvl2pPr>
            <a:lvl3pPr>
              <a:defRPr>
                <a:solidFill>
                  <a:srgbClr val="000000"/>
                </a:solidFill>
                <a:latin typeface="+mj-lt"/>
              </a:defRPr>
            </a:lvl3pPr>
            <a:lvl4pPr>
              <a:defRPr>
                <a:solidFill>
                  <a:srgbClr val="000000"/>
                </a:solidFill>
                <a:latin typeface="+mj-lt"/>
              </a:defRPr>
            </a:lvl4pPr>
            <a:lvl5pPr>
              <a:defRPr>
                <a:solidFill>
                  <a:srgbClr val="000000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3785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7C341A-21C6-4F24-A447-F8D4936AD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E780B-949D-4911-B7AE-36BAAF116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5A019-BC8B-461F-8074-DF426285F9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BF442-5319-4E77-BB8D-CF8A9837BA2F}" type="datetimeFigureOut">
              <a:rPr lang="en-SG" smtClean="0"/>
              <a:t>2/1/2019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BE91C-939A-47C2-8C50-42D293D93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AC705-0AE3-4747-9B78-0AF3CBD9E9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98086-60D9-4045-A697-69702D87164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89072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Configuring IPSEC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9235-E2F7-43E8-9613-EEAE08E7579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35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296" y="1475480"/>
            <a:ext cx="8304213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IKE and IPsec Flowchart</a:t>
            </a:r>
          </a:p>
        </p:txBody>
      </p:sp>
      <p:pic>
        <p:nvPicPr>
          <p:cNvPr id="172749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5854" y="2655203"/>
            <a:ext cx="1395413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727497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407" y="2859991"/>
            <a:ext cx="1951037" cy="19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6033" name="Text Box 11"/>
          <p:cNvSpPr txBox="1">
            <a:spLocks noChangeArrowheads="1"/>
          </p:cNvSpPr>
          <p:nvPr/>
        </p:nvSpPr>
        <p:spPr bwMode="auto">
          <a:xfrm>
            <a:off x="1733560" y="3750579"/>
            <a:ext cx="457200" cy="544589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82124" tIns="41061" rIns="82124" bIns="41061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6031" name="Text Box 14"/>
          <p:cNvSpPr txBox="1">
            <a:spLocks noChangeArrowheads="1"/>
          </p:cNvSpPr>
          <p:nvPr/>
        </p:nvSpPr>
        <p:spPr bwMode="auto">
          <a:xfrm>
            <a:off x="1736968" y="2579004"/>
            <a:ext cx="457200" cy="544589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82124" tIns="41061" rIns="82124" bIns="41061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6029" name="Text Box 17"/>
          <p:cNvSpPr txBox="1">
            <a:spLocks noChangeArrowheads="1"/>
          </p:cNvSpPr>
          <p:nvPr/>
        </p:nvSpPr>
        <p:spPr bwMode="auto">
          <a:xfrm>
            <a:off x="1736968" y="1616979"/>
            <a:ext cx="457200" cy="544589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82124" tIns="41061" rIns="82124" bIns="41061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6030" name="Rectangle 18"/>
          <p:cNvSpPr>
            <a:spLocks noChangeArrowheads="1"/>
          </p:cNvSpPr>
          <p:nvPr/>
        </p:nvSpPr>
        <p:spPr bwMode="auto">
          <a:xfrm>
            <a:off x="7264644" y="1640217"/>
            <a:ext cx="2584217" cy="35992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82124" tIns="41061" rIns="82124" bIns="41061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87861"/>
      </p:ext>
    </p:extLst>
  </p:cSld>
  <p:clrMapOvr>
    <a:masterClrMapping/>
  </p:clrMapOvr>
  <p:transition spd="med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27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27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300288" y="1118656"/>
            <a:ext cx="8042275" cy="9604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Gill Sans MT" panose="020B0502020104020203" pitchFamily="34" charset="0"/>
                <a:cs typeface="Arial" panose="020B0604020202020204" pitchFamily="34" charset="0"/>
              </a:rPr>
              <a:t>ESP = protocol # 50, AH = protocol # 51, ISAKMP = UDP port 500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Gill Sans MT" panose="020B0502020104020203" pitchFamily="34" charset="0"/>
                <a:cs typeface="Arial" panose="020B0604020202020204" pitchFamily="34" charset="0"/>
              </a:rPr>
              <a:t>Allow the above to traverse the link over the internet.</a:t>
            </a:r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28601"/>
            <a:ext cx="7886700" cy="1096963"/>
          </a:xfrm>
        </p:spPr>
        <p:txBody>
          <a:bodyPr>
            <a:normAutofit/>
          </a:bodyPr>
          <a:lstStyle/>
          <a:p>
            <a:r>
              <a:rPr lang="en-US" sz="3600" dirty="0"/>
              <a:t>Task 1: Configure ACLs to Allow Traffic</a:t>
            </a:r>
          </a:p>
        </p:txBody>
      </p:sp>
      <p:pic>
        <p:nvPicPr>
          <p:cNvPr id="880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288" y="1859329"/>
            <a:ext cx="7809817" cy="5014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365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2417762" y="1371600"/>
            <a:ext cx="7904163" cy="4958397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Gill Sans MT" panose="020B0502020104020203" pitchFamily="34" charset="0"/>
                <a:cs typeface="Arial" panose="020B0604020202020204" pitchFamily="34" charset="0"/>
              </a:rPr>
              <a:t>Creating a plan in advance is mandatory to configure IPsec encryption correctly to minimize misconfiguration. </a:t>
            </a:r>
          </a:p>
          <a:p>
            <a:r>
              <a:rPr lang="en-US" sz="2800" dirty="0">
                <a:latin typeface="Gill Sans MT" panose="020B0502020104020203" pitchFamily="34" charset="0"/>
                <a:cs typeface="Arial" panose="020B0604020202020204" pitchFamily="34" charset="0"/>
              </a:rPr>
              <a:t>Determine the following policy details:</a:t>
            </a:r>
          </a:p>
          <a:p>
            <a:pPr lvl="1"/>
            <a:r>
              <a:rPr lang="en-US" dirty="0">
                <a:latin typeface="Gill Sans MT" panose="020B0502020104020203" pitchFamily="34" charset="0"/>
                <a:cs typeface="Arial" panose="020B0604020202020204" pitchFamily="34" charset="0"/>
              </a:rPr>
              <a:t>Key distribution method </a:t>
            </a:r>
          </a:p>
          <a:p>
            <a:pPr lvl="1"/>
            <a:r>
              <a:rPr lang="en-US" dirty="0">
                <a:latin typeface="Gill Sans MT" panose="020B0502020104020203" pitchFamily="34" charset="0"/>
                <a:cs typeface="Arial" panose="020B0604020202020204" pitchFamily="34" charset="0"/>
              </a:rPr>
              <a:t>Authentication method </a:t>
            </a:r>
          </a:p>
          <a:p>
            <a:pPr lvl="1"/>
            <a:r>
              <a:rPr lang="en-US" dirty="0">
                <a:latin typeface="Gill Sans MT" panose="020B0502020104020203" pitchFamily="34" charset="0"/>
                <a:cs typeface="Arial" panose="020B0604020202020204" pitchFamily="34" charset="0"/>
              </a:rPr>
              <a:t>IPsec peer IP addresses and hostnames </a:t>
            </a:r>
          </a:p>
          <a:p>
            <a:pPr lvl="1"/>
            <a:r>
              <a:rPr lang="en-US" dirty="0">
                <a:latin typeface="Gill Sans MT" panose="020B0502020104020203" pitchFamily="34" charset="0"/>
                <a:cs typeface="Arial" panose="020B0604020202020204" pitchFamily="34" charset="0"/>
              </a:rPr>
              <a:t>IKE phase 1 policies for all peers</a:t>
            </a:r>
          </a:p>
          <a:p>
            <a:pPr lvl="1"/>
            <a:r>
              <a:rPr lang="en-US" dirty="0">
                <a:latin typeface="Gill Sans MT" panose="020B0502020104020203" pitchFamily="34" charset="0"/>
                <a:cs typeface="Arial" panose="020B0604020202020204" pitchFamily="34" charset="0"/>
              </a:rPr>
              <a:t>Encryption algorithm, Hash algorithm, IKE SA lifetime</a:t>
            </a:r>
          </a:p>
          <a:p>
            <a:r>
              <a:rPr lang="en-US" sz="2800" dirty="0">
                <a:latin typeface="Gill Sans MT" panose="020B0502020104020203" pitchFamily="34" charset="0"/>
                <a:cs typeface="Arial" panose="020B0604020202020204" pitchFamily="34" charset="0"/>
              </a:rPr>
              <a:t>Goal: Minimize misconfiguration.</a:t>
            </a: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Task 2: Configure IKE</a:t>
            </a:r>
          </a:p>
        </p:txBody>
      </p:sp>
    </p:spTree>
    <p:extLst>
      <p:ext uri="{BB962C8B-B14F-4D97-AF65-F5344CB8AC3E}">
        <p14:creationId xmlns:p14="http://schemas.microsoft.com/office/powerpoint/2010/main" val="2047159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2109447" y="-92146"/>
            <a:ext cx="78867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dirty="0"/>
              <a:t>IKE Phase 1 Policy Parameters</a:t>
            </a:r>
          </a:p>
        </p:txBody>
      </p:sp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043" y="964407"/>
            <a:ext cx="7366000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2255043" y="3352800"/>
            <a:ext cx="8229600" cy="3079750"/>
            <a:chOff x="381000" y="3229292"/>
            <a:chExt cx="8229600" cy="3079750"/>
          </a:xfrm>
        </p:grpSpPr>
        <p:pic>
          <p:nvPicPr>
            <p:cNvPr id="1504260" name="Picture 4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" y="3229292"/>
              <a:ext cx="8229600" cy="3079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pic>
          <p:nvPicPr>
            <p:cNvPr id="1504261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2275" y="3794054"/>
              <a:ext cx="1706563" cy="25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grpSp>
          <p:nvGrpSpPr>
            <p:cNvPr id="2" name="Group 6"/>
            <p:cNvGrpSpPr>
              <a:grpSpLocks/>
            </p:cNvGrpSpPr>
            <p:nvPr/>
          </p:nvGrpSpPr>
          <p:grpSpPr bwMode="auto">
            <a:xfrm>
              <a:off x="5191125" y="3794054"/>
              <a:ext cx="2809875" cy="303213"/>
              <a:chOff x="3270" y="2652"/>
              <a:chExt cx="1770" cy="191"/>
            </a:xfrm>
          </p:grpSpPr>
          <p:pic>
            <p:nvPicPr>
              <p:cNvPr id="90141" name="Picture 7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70" y="2658"/>
                <a:ext cx="578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</p:pic>
          <p:pic>
            <p:nvPicPr>
              <p:cNvPr id="90142" name="Picture 8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62" y="2652"/>
                <a:ext cx="578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</p:pic>
        </p:grpSp>
        <p:pic>
          <p:nvPicPr>
            <p:cNvPr id="1504265" name="Picture 9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2775" y="4251254"/>
              <a:ext cx="12192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5391150" y="4260779"/>
              <a:ext cx="2470150" cy="225425"/>
              <a:chOff x="3396" y="2946"/>
              <a:chExt cx="1556" cy="142"/>
            </a:xfrm>
          </p:grpSpPr>
          <p:pic>
            <p:nvPicPr>
              <p:cNvPr id="90139" name="Picture 11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96" y="2946"/>
                <a:ext cx="356" cy="1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</p:pic>
          <p:pic>
            <p:nvPicPr>
              <p:cNvPr id="90140" name="Picture 12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96" y="2946"/>
                <a:ext cx="356" cy="1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</p:pic>
        </p:grpSp>
        <p:pic>
          <p:nvPicPr>
            <p:cNvPr id="1504269" name="Picture 13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8338" y="4679879"/>
              <a:ext cx="1277937" cy="25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grpSp>
          <p:nvGrpSpPr>
            <p:cNvPr id="4" name="Group 14"/>
            <p:cNvGrpSpPr>
              <a:grpSpLocks/>
            </p:cNvGrpSpPr>
            <p:nvPr/>
          </p:nvGrpSpPr>
          <p:grpSpPr bwMode="auto">
            <a:xfrm>
              <a:off x="5334000" y="4679879"/>
              <a:ext cx="2514600" cy="282575"/>
              <a:chOff x="3360" y="3210"/>
              <a:chExt cx="1584" cy="178"/>
            </a:xfrm>
          </p:grpSpPr>
          <p:pic>
            <p:nvPicPr>
              <p:cNvPr id="90137" name="Picture 15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60" y="3210"/>
                <a:ext cx="393" cy="1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</p:pic>
          <p:pic>
            <p:nvPicPr>
              <p:cNvPr id="90138" name="Picture 16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51" y="3216"/>
                <a:ext cx="393" cy="1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</p:pic>
        </p:grpSp>
        <p:pic>
          <p:nvPicPr>
            <p:cNvPr id="1504273" name="Picture 17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7525" y="5127554"/>
              <a:ext cx="1522413" cy="20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grpSp>
          <p:nvGrpSpPr>
            <p:cNvPr id="5" name="Group 18"/>
            <p:cNvGrpSpPr>
              <a:grpSpLocks/>
            </p:cNvGrpSpPr>
            <p:nvPr/>
          </p:nvGrpSpPr>
          <p:grpSpPr bwMode="auto">
            <a:xfrm>
              <a:off x="5183188" y="5102154"/>
              <a:ext cx="2960687" cy="234950"/>
              <a:chOff x="3265" y="3476"/>
              <a:chExt cx="1865" cy="148"/>
            </a:xfrm>
          </p:grpSpPr>
          <p:pic>
            <p:nvPicPr>
              <p:cNvPr id="90135" name="Picture 19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65" y="3476"/>
                <a:ext cx="695" cy="1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</p:pic>
          <p:pic>
            <p:nvPicPr>
              <p:cNvPr id="90136" name="Picture 20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35" y="3476"/>
                <a:ext cx="695" cy="1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</p:pic>
        </p:grpSp>
        <p:pic>
          <p:nvPicPr>
            <p:cNvPr id="1504277" name="Picture 21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0375" y="5500617"/>
              <a:ext cx="1677988" cy="303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grpSp>
          <p:nvGrpSpPr>
            <p:cNvPr id="6" name="Group 22"/>
            <p:cNvGrpSpPr>
              <a:grpSpLocks/>
            </p:cNvGrpSpPr>
            <p:nvPr/>
          </p:nvGrpSpPr>
          <p:grpSpPr bwMode="auto">
            <a:xfrm>
              <a:off x="5276850" y="5500617"/>
              <a:ext cx="2714625" cy="330200"/>
              <a:chOff x="3324" y="3727"/>
              <a:chExt cx="1710" cy="208"/>
            </a:xfrm>
          </p:grpSpPr>
          <p:pic>
            <p:nvPicPr>
              <p:cNvPr id="90133" name="Picture 23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24" y="3727"/>
                <a:ext cx="516" cy="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</p:pic>
          <p:pic>
            <p:nvPicPr>
              <p:cNvPr id="90134" name="Picture 24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18" y="3732"/>
                <a:ext cx="516" cy="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</p:pic>
        </p:grpSp>
        <p:pic>
          <p:nvPicPr>
            <p:cNvPr id="1504281" name="Picture 25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7025" y="5975279"/>
              <a:ext cx="1824038" cy="20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grpSp>
          <p:nvGrpSpPr>
            <p:cNvPr id="7" name="Group 26"/>
            <p:cNvGrpSpPr>
              <a:grpSpLocks/>
            </p:cNvGrpSpPr>
            <p:nvPr/>
          </p:nvGrpSpPr>
          <p:grpSpPr bwMode="auto">
            <a:xfrm>
              <a:off x="5327650" y="5975279"/>
              <a:ext cx="2654300" cy="223838"/>
              <a:chOff x="3356" y="4026"/>
              <a:chExt cx="1672" cy="141"/>
            </a:xfrm>
          </p:grpSpPr>
          <p:pic>
            <p:nvPicPr>
              <p:cNvPr id="90131" name="Picture 27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56" y="4032"/>
                <a:ext cx="42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</p:pic>
          <p:pic>
            <p:nvPicPr>
              <p:cNvPr id="90132" name="Picture 28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04" y="4026"/>
                <a:ext cx="42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</p:pic>
        </p:grpSp>
      </p:grpSp>
      <p:sp>
        <p:nvSpPr>
          <p:cNvPr id="1504285" name="Text Box 29"/>
          <p:cNvSpPr txBox="1">
            <a:spLocks noChangeArrowheads="1"/>
          </p:cNvSpPr>
          <p:nvPr/>
        </p:nvSpPr>
        <p:spPr bwMode="auto">
          <a:xfrm>
            <a:off x="8153400" y="1360418"/>
            <a:ext cx="838200" cy="329145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82124" tIns="41061" rIns="82124" bIns="41061">
            <a:spAutoFit/>
          </a:bodyPr>
          <a:lstStyle>
            <a:lvl1pPr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or AES</a:t>
            </a:r>
          </a:p>
        </p:txBody>
      </p:sp>
      <p:sp>
        <p:nvSpPr>
          <p:cNvPr id="1504286" name="Text Box 30"/>
          <p:cNvSpPr txBox="1">
            <a:spLocks noChangeArrowheads="1"/>
          </p:cNvSpPr>
          <p:nvPr/>
        </p:nvSpPr>
        <p:spPr bwMode="auto">
          <a:xfrm>
            <a:off x="8305800" y="2414518"/>
            <a:ext cx="1295400" cy="329145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82124" tIns="41061" rIns="82124" bIns="41061">
            <a:spAutoFit/>
          </a:bodyPr>
          <a:lstStyle>
            <a:lvl1pPr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814388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or D-H 5</a:t>
            </a:r>
          </a:p>
        </p:txBody>
      </p:sp>
    </p:spTree>
    <p:extLst>
      <p:ext uri="{BB962C8B-B14F-4D97-AF65-F5344CB8AC3E}">
        <p14:creationId xmlns:p14="http://schemas.microsoft.com/office/powerpoint/2010/main" val="1574285987"/>
      </p:ext>
    </p:extLst>
  </p:cSld>
  <p:clrMapOvr>
    <a:masterClrMapping/>
  </p:clrMapOvr>
  <p:transition spd="med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04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04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04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04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4285" grpId="0"/>
      <p:bldP spid="150428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1690690"/>
            <a:ext cx="8551863" cy="454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Default ISAKMP Settings</a:t>
            </a:r>
          </a:p>
        </p:txBody>
      </p:sp>
      <p:sp>
        <p:nvSpPr>
          <p:cNvPr id="1529861" name="Rectangle 5"/>
          <p:cNvSpPr>
            <a:spLocks noChangeArrowheads="1"/>
          </p:cNvSpPr>
          <p:nvPr/>
        </p:nvSpPr>
        <p:spPr bwMode="auto">
          <a:xfrm>
            <a:off x="1970088" y="2286001"/>
            <a:ext cx="8412480" cy="1295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296" tIns="36576" rIns="82296" bIns="36576" anchor="ctr"/>
          <a:lstStyle/>
          <a:p>
            <a:endParaRPr lang="en-US"/>
          </a:p>
        </p:txBody>
      </p:sp>
      <p:sp>
        <p:nvSpPr>
          <p:cNvPr id="1529862" name="Rectangle 6"/>
          <p:cNvSpPr>
            <a:spLocks noChangeArrowheads="1"/>
          </p:cNvSpPr>
          <p:nvPr/>
        </p:nvSpPr>
        <p:spPr bwMode="auto">
          <a:xfrm>
            <a:off x="1970088" y="3581401"/>
            <a:ext cx="8412480" cy="4572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296" tIns="36576" rIns="82296" bIns="36576" anchor="ctr"/>
          <a:lstStyle/>
          <a:p>
            <a:endParaRPr lang="en-US"/>
          </a:p>
        </p:txBody>
      </p:sp>
      <p:sp>
        <p:nvSpPr>
          <p:cNvPr id="1529863" name="Rectangle 7"/>
          <p:cNvSpPr>
            <a:spLocks noChangeArrowheads="1"/>
          </p:cNvSpPr>
          <p:nvPr/>
        </p:nvSpPr>
        <p:spPr bwMode="auto">
          <a:xfrm>
            <a:off x="1970088" y="4033839"/>
            <a:ext cx="8412480" cy="6905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296" tIns="36576" rIns="82296" bIns="36576" anchor="ctr"/>
          <a:lstStyle/>
          <a:p>
            <a:endParaRPr lang="en-US"/>
          </a:p>
        </p:txBody>
      </p:sp>
      <p:sp>
        <p:nvSpPr>
          <p:cNvPr id="1529864" name="Rectangle 8"/>
          <p:cNvSpPr>
            <a:spLocks noChangeArrowheads="1"/>
          </p:cNvSpPr>
          <p:nvPr/>
        </p:nvSpPr>
        <p:spPr bwMode="auto">
          <a:xfrm>
            <a:off x="1970088" y="4719639"/>
            <a:ext cx="8412480" cy="6905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296" tIns="36576" rIns="82296" bIns="36576" anchor="ctr"/>
          <a:lstStyle/>
          <a:p>
            <a:endParaRPr lang="en-US"/>
          </a:p>
        </p:txBody>
      </p:sp>
      <p:sp>
        <p:nvSpPr>
          <p:cNvPr id="1529865" name="Rectangle 9"/>
          <p:cNvSpPr>
            <a:spLocks noChangeArrowheads="1"/>
          </p:cNvSpPr>
          <p:nvPr/>
        </p:nvSpPr>
        <p:spPr bwMode="auto">
          <a:xfrm>
            <a:off x="1970088" y="5405439"/>
            <a:ext cx="8412480" cy="461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296" tIns="36576" rIns="82296" bIns="36576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14209"/>
      </p:ext>
    </p:extLst>
  </p:cSld>
  <p:clrMapOvr>
    <a:masterClrMapping/>
  </p:clrMapOvr>
  <p:transition spd="med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98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2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298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2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298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2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298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2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298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2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9861" grpId="0" animBg="1"/>
      <p:bldP spid="1529862" grpId="0" animBg="1"/>
      <p:bldP spid="1529863" grpId="0" animBg="1"/>
      <p:bldP spid="1529864" grpId="0" animBg="1"/>
      <p:bldP spid="152986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Enable IKE</a:t>
            </a:r>
          </a:p>
        </p:txBody>
      </p:sp>
      <p:pic>
        <p:nvPicPr>
          <p:cNvPr id="911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883" y="1524001"/>
            <a:ext cx="7620000" cy="508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3530767"/>
      </p:ext>
    </p:extLst>
  </p:cSld>
  <p:clrMapOvr>
    <a:masterClrMapping/>
  </p:clrMapOvr>
  <p:transition spd="med">
    <p:comb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Create an IKE Policy</a:t>
            </a:r>
          </a:p>
        </p:txBody>
      </p:sp>
      <p:pic>
        <p:nvPicPr>
          <p:cNvPr id="921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450" y="1447800"/>
            <a:ext cx="7531100" cy="498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261202"/>
      </p:ext>
    </p:extLst>
  </p:cSld>
  <p:clrMapOvr>
    <a:masterClrMapping/>
  </p:clrMapOvr>
  <p:transition spd="med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Sample ISAKMP Settings</a:t>
            </a:r>
          </a:p>
        </p:txBody>
      </p:sp>
      <p:sp>
        <p:nvSpPr>
          <p:cNvPr id="1530883" name="Rectangle 3"/>
          <p:cNvSpPr>
            <a:spLocks noChangeArrowheads="1"/>
          </p:cNvSpPr>
          <p:nvPr/>
        </p:nvSpPr>
        <p:spPr bwMode="auto">
          <a:xfrm>
            <a:off x="1939257" y="1742814"/>
            <a:ext cx="8201025" cy="2860675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82550" tIns="41275" rIns="82550" bIns="41275">
            <a:spAutoFit/>
          </a:bodyPr>
          <a:lstStyle/>
          <a:p>
            <a:pPr defTabSz="725488">
              <a:defRPr/>
            </a:pPr>
            <a:r>
              <a:rPr lang="en-US" sz="1400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RouterA</a:t>
            </a:r>
            <a:r>
              <a:rPr lang="en-US" sz="14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# show crypto </a:t>
            </a:r>
            <a:r>
              <a:rPr lang="en-US" sz="1400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isakmp</a:t>
            </a:r>
            <a:r>
              <a:rPr lang="en-US" sz="14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policy</a:t>
            </a:r>
          </a:p>
          <a:p>
            <a:pPr defTabSz="725488">
              <a:defRPr/>
            </a:pPr>
            <a:r>
              <a:rPr lang="en-US" sz="14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Protection suite of priority 110</a:t>
            </a:r>
          </a:p>
          <a:p>
            <a:pPr defTabSz="725488">
              <a:defRPr/>
            </a:pPr>
            <a:r>
              <a:rPr lang="en-US" sz="14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encryption algorithm:   DES - Data Encryption Standard (56 bit keys).</a:t>
            </a:r>
          </a:p>
          <a:p>
            <a:pPr defTabSz="725488">
              <a:defRPr/>
            </a:pPr>
            <a:r>
              <a:rPr lang="en-US" sz="14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hash algorithm:         Message Digest 5</a:t>
            </a:r>
          </a:p>
          <a:p>
            <a:pPr defTabSz="725488">
              <a:defRPr/>
            </a:pPr>
            <a:r>
              <a:rPr lang="en-US" sz="14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authentication method:  Pre-Shared Key</a:t>
            </a:r>
          </a:p>
          <a:p>
            <a:pPr defTabSz="725488">
              <a:defRPr/>
            </a:pPr>
            <a:r>
              <a:rPr lang="en-US" sz="14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400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Diffie</a:t>
            </a:r>
            <a:r>
              <a:rPr lang="en-US" sz="14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-Hellman group:   #1 (768 bit)</a:t>
            </a:r>
          </a:p>
          <a:p>
            <a:pPr defTabSz="725488">
              <a:defRPr/>
            </a:pPr>
            <a:r>
              <a:rPr lang="en-US" sz="14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lifetime:               86400 seconds, no volume limit</a:t>
            </a:r>
          </a:p>
          <a:p>
            <a:pPr defTabSz="725488">
              <a:defRPr/>
            </a:pPr>
            <a:r>
              <a:rPr lang="en-US" sz="14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Default protection suite</a:t>
            </a:r>
          </a:p>
          <a:p>
            <a:pPr defTabSz="725488">
              <a:defRPr/>
            </a:pPr>
            <a:r>
              <a:rPr lang="en-US" sz="14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encryption algorithm:   DES - Data Encryption Standard (56 bit keys).</a:t>
            </a:r>
          </a:p>
          <a:p>
            <a:pPr defTabSz="725488">
              <a:defRPr/>
            </a:pPr>
            <a:r>
              <a:rPr lang="en-US" sz="14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hash algorithm:         Secure Hash Standard</a:t>
            </a:r>
          </a:p>
          <a:p>
            <a:pPr defTabSz="725488">
              <a:defRPr/>
            </a:pPr>
            <a:r>
              <a:rPr lang="en-US" sz="14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authentication method:  </a:t>
            </a:r>
            <a:r>
              <a:rPr lang="en-US" sz="1400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Rivest</a:t>
            </a:r>
            <a:r>
              <a:rPr lang="en-US" sz="14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-Shamir-</a:t>
            </a:r>
            <a:r>
              <a:rPr lang="en-US" sz="1400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Adleman</a:t>
            </a:r>
            <a:r>
              <a:rPr lang="en-US" sz="14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Signature</a:t>
            </a:r>
          </a:p>
          <a:p>
            <a:pPr defTabSz="725488">
              <a:defRPr/>
            </a:pPr>
            <a:r>
              <a:rPr lang="en-US" sz="14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400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Diffie</a:t>
            </a:r>
            <a:r>
              <a:rPr lang="en-US" sz="14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-Hellman group:   #1 (768 bit)</a:t>
            </a:r>
          </a:p>
          <a:p>
            <a:pPr defTabSz="725488">
              <a:defRPr/>
            </a:pPr>
            <a:r>
              <a:rPr lang="en-US" sz="14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lifetime:               86400 seconds, no volume limit</a:t>
            </a:r>
          </a:p>
        </p:txBody>
      </p:sp>
    </p:spTree>
    <p:extLst>
      <p:ext uri="{BB962C8B-B14F-4D97-AF65-F5344CB8AC3E}">
        <p14:creationId xmlns:p14="http://schemas.microsoft.com/office/powerpoint/2010/main" val="156192638"/>
      </p:ext>
    </p:extLst>
  </p:cSld>
  <p:clrMapOvr>
    <a:masterClrMapping/>
  </p:clrMapOvr>
  <p:transition spd="med">
    <p:comb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Create an IKE Policy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807" y="1371600"/>
            <a:ext cx="8180387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3795814"/>
      </p:ext>
    </p:extLst>
  </p:cSld>
  <p:clrMapOvr>
    <a:masterClrMapping/>
  </p:clrMapOvr>
  <p:transition spd="med">
    <p:comb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ISAKMP Policy Negotiation</a:t>
            </a:r>
          </a:p>
        </p:txBody>
      </p:sp>
      <p:pic>
        <p:nvPicPr>
          <p:cNvPr id="9625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447801"/>
            <a:ext cx="8382000" cy="477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8155324"/>
      </p:ext>
    </p:extLst>
  </p:cSld>
  <p:clrMapOvr>
    <a:masterClrMapping/>
  </p:clrMapOvr>
  <p:transition spd="med">
    <p:comb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ISAKMP Policy Negotiation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019" y="1371601"/>
            <a:ext cx="8589963" cy="511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6935236"/>
      </p:ext>
    </p:extLst>
  </p:cSld>
  <p:clrMapOvr>
    <a:masterClrMapping/>
  </p:clrMapOvr>
  <p:transition spd="med">
    <p:comb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795573"/>
            <a:ext cx="8839200" cy="553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84153" y="6324600"/>
            <a:ext cx="8578850" cy="28956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default, the ISAKMP identity is set to use the IP address.</a:t>
            </a:r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6227"/>
            <a:ext cx="78867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Configure Pre-Shared Keys</a:t>
            </a:r>
          </a:p>
        </p:txBody>
      </p:sp>
    </p:spTree>
    <p:extLst>
      <p:ext uri="{BB962C8B-B14F-4D97-AF65-F5344CB8AC3E}">
        <p14:creationId xmlns:p14="http://schemas.microsoft.com/office/powerpoint/2010/main" val="2720178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3"/>
          <p:cNvSpPr>
            <a:spLocks noGrp="1" noChangeArrowheads="1"/>
          </p:cNvSpPr>
          <p:nvPr>
            <p:ph type="title"/>
          </p:nvPr>
        </p:nvSpPr>
        <p:spPr>
          <a:xfrm>
            <a:off x="1905000" y="228601"/>
            <a:ext cx="78867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dirty="0"/>
              <a:t>Configure Pre-Shared Keys</a:t>
            </a:r>
          </a:p>
        </p:txBody>
      </p:sp>
      <p:pic>
        <p:nvPicPr>
          <p:cNvPr id="9933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988" y="1295401"/>
            <a:ext cx="8836025" cy="531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6946221"/>
      </p:ext>
    </p:extLst>
  </p:cSld>
  <p:clrMapOvr>
    <a:masterClrMapping/>
  </p:clrMapOvr>
  <p:transition spd="med">
    <p:comb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7"/>
          <p:cNvSpPr>
            <a:spLocks noGrp="1" noChangeArrowheads="1"/>
          </p:cNvSpPr>
          <p:nvPr>
            <p:ph type="body" sz="quarter" idx="10"/>
          </p:nvPr>
        </p:nvSpPr>
        <p:spPr>
          <a:xfrm>
            <a:off x="2300288" y="1447800"/>
            <a:ext cx="8042275" cy="4861560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To use the </a:t>
            </a:r>
            <a:r>
              <a:rPr lang="en-US" b="1" dirty="0">
                <a:latin typeface="Gill Sans MT" panose="020B0502020104020203" pitchFamily="34" charset="0"/>
                <a:cs typeface="Courier New" pitchFamily="49" charset="0"/>
              </a:rPr>
              <a:t>hostname</a:t>
            </a:r>
            <a:r>
              <a:rPr lang="en-US" dirty="0">
                <a:latin typeface="Gill Sans MT" panose="020B0502020104020203" pitchFamily="34" charset="0"/>
              </a:rPr>
              <a:t> parameter, configure the</a:t>
            </a:r>
            <a:r>
              <a:rPr lang="en-US" b="1" dirty="0">
                <a:latin typeface="Gill Sans MT" panose="020B0502020104020203" pitchFamily="34" charset="0"/>
              </a:rPr>
              <a:t> crypto </a:t>
            </a:r>
            <a:r>
              <a:rPr lang="en-US" b="1" dirty="0" err="1">
                <a:latin typeface="Gill Sans MT" panose="020B0502020104020203" pitchFamily="34" charset="0"/>
              </a:rPr>
              <a:t>isakmp</a:t>
            </a:r>
            <a:r>
              <a:rPr lang="en-US" b="1" dirty="0">
                <a:latin typeface="Gill Sans MT" panose="020B0502020104020203" pitchFamily="34" charset="0"/>
              </a:rPr>
              <a:t> identity </a:t>
            </a:r>
            <a:r>
              <a:rPr lang="en-US" i="1" dirty="0">
                <a:latin typeface="Gill Sans MT" panose="020B0502020104020203" pitchFamily="34" charset="0"/>
              </a:rPr>
              <a:t>hostname</a:t>
            </a:r>
            <a:r>
              <a:rPr lang="en-US" b="1" dirty="0">
                <a:latin typeface="Gill Sans MT" panose="020B0502020104020203" pitchFamily="34" charset="0"/>
              </a:rPr>
              <a:t> </a:t>
            </a:r>
            <a:r>
              <a:rPr lang="en-US" dirty="0">
                <a:latin typeface="Gill Sans MT" panose="020B0502020104020203" pitchFamily="34" charset="0"/>
              </a:rPr>
              <a:t>global configuration mode command. </a:t>
            </a:r>
          </a:p>
          <a:p>
            <a:pPr lvl="1"/>
            <a:r>
              <a:rPr lang="en-US" dirty="0">
                <a:latin typeface="Gill Sans MT" panose="020B0502020104020203" pitchFamily="34" charset="0"/>
              </a:rPr>
              <a:t>In addition, DNS must be accessible to resolve the hostname.</a:t>
            </a:r>
          </a:p>
        </p:txBody>
      </p:sp>
      <p:sp>
        <p:nvSpPr>
          <p:cNvPr id="100354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Configure ISAKMP Identity</a:t>
            </a:r>
          </a:p>
        </p:txBody>
      </p:sp>
      <p:pic>
        <p:nvPicPr>
          <p:cNvPr id="100356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076" y="2819401"/>
            <a:ext cx="6556696" cy="3839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5191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Verify IKE Configuration</a:t>
            </a:r>
          </a:p>
        </p:txBody>
      </p:sp>
      <p:sp>
        <p:nvSpPr>
          <p:cNvPr id="1541123" name="Rectangle 3"/>
          <p:cNvSpPr>
            <a:spLocks noChangeArrowheads="1"/>
          </p:cNvSpPr>
          <p:nvPr/>
        </p:nvSpPr>
        <p:spPr bwMode="auto">
          <a:xfrm>
            <a:off x="2152651" y="3581401"/>
            <a:ext cx="8201025" cy="2860675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82550" tIns="41275" rIns="82550" bIns="41275">
            <a:spAutoFit/>
          </a:bodyPr>
          <a:lstStyle/>
          <a:p>
            <a:pPr defTabSz="725488">
              <a:defRPr/>
            </a:pP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RouterA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# show crypto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isakmp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policy</a:t>
            </a:r>
          </a:p>
          <a:p>
            <a:pPr defTabSz="725488"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Protection suite of priority 110</a:t>
            </a:r>
          </a:p>
          <a:p>
            <a:pPr defTabSz="725488"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encryption algorithm:   DES - Data Encryption Standard (56 bit keys).</a:t>
            </a:r>
          </a:p>
          <a:p>
            <a:pPr defTabSz="725488"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hash algorithm:         Message Digest 5</a:t>
            </a:r>
          </a:p>
          <a:p>
            <a:pPr defTabSz="725488"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authentication method:  Pre-Shared Key</a:t>
            </a:r>
          </a:p>
          <a:p>
            <a:pPr defTabSz="725488"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Diffie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-Hellman group:   #1 (768 bit)</a:t>
            </a:r>
          </a:p>
          <a:p>
            <a:pPr defTabSz="725488"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lifetime:               86400 seconds, no volume limit</a:t>
            </a:r>
          </a:p>
          <a:p>
            <a:pPr defTabSz="725488"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Default protection suite</a:t>
            </a:r>
          </a:p>
          <a:p>
            <a:pPr defTabSz="725488"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encryption algorithm:   DES - Data Encryption Standard (56 bit keys).</a:t>
            </a:r>
          </a:p>
          <a:p>
            <a:pPr defTabSz="725488"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hash algorithm:         Secure Hash Standard</a:t>
            </a:r>
          </a:p>
          <a:p>
            <a:pPr defTabSz="725488"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authentication method: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Rivest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-Shamir-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Adleman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Signature</a:t>
            </a:r>
          </a:p>
          <a:p>
            <a:pPr defTabSz="725488"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Diffie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-Hellman group:   #1 (768 bit)</a:t>
            </a:r>
          </a:p>
          <a:p>
            <a:pPr defTabSz="725488"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lifetime:               86400 seconds, no volume limit</a:t>
            </a:r>
          </a:p>
        </p:txBody>
      </p:sp>
      <p:pic>
        <p:nvPicPr>
          <p:cNvPr id="10138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0" y="1690690"/>
            <a:ext cx="7493000" cy="182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0306150"/>
      </p:ext>
    </p:extLst>
  </p:cSld>
  <p:clrMapOvr>
    <a:masterClrMapping/>
  </p:clrMapOvr>
  <p:transition spd="med">
    <p:comb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2300288" y="1447800"/>
            <a:ext cx="8042275" cy="486156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Gill Sans MT" panose="020B0502020104020203" pitchFamily="34" charset="0"/>
                <a:cs typeface="Arial" panose="020B0604020202020204" pitchFamily="34" charset="0"/>
              </a:rPr>
              <a:t>Determine the following policy details:</a:t>
            </a:r>
          </a:p>
          <a:p>
            <a:pPr lvl="1"/>
            <a:r>
              <a:rPr lang="en-US" dirty="0">
                <a:latin typeface="Gill Sans MT" panose="020B0502020104020203" pitchFamily="34" charset="0"/>
                <a:cs typeface="Arial" panose="020B0604020202020204" pitchFamily="34" charset="0"/>
              </a:rPr>
              <a:t>IPsec algorithms and parameters for optimal security and performance</a:t>
            </a:r>
          </a:p>
          <a:p>
            <a:pPr lvl="1"/>
            <a:r>
              <a:rPr lang="en-US" dirty="0">
                <a:latin typeface="Gill Sans MT" panose="020B0502020104020203" pitchFamily="34" charset="0"/>
                <a:cs typeface="Arial" panose="020B0604020202020204" pitchFamily="34" charset="0"/>
              </a:rPr>
              <a:t>Transforms sets </a:t>
            </a:r>
          </a:p>
          <a:p>
            <a:pPr lvl="1"/>
            <a:r>
              <a:rPr lang="en-US" dirty="0">
                <a:latin typeface="Gill Sans MT" panose="020B0502020104020203" pitchFamily="34" charset="0"/>
                <a:cs typeface="Arial" panose="020B0604020202020204" pitchFamily="34" charset="0"/>
              </a:rPr>
              <a:t>IPsec peer details</a:t>
            </a:r>
          </a:p>
          <a:p>
            <a:pPr lvl="1"/>
            <a:r>
              <a:rPr lang="en-US" dirty="0">
                <a:latin typeface="Gill Sans MT" panose="020B0502020104020203" pitchFamily="34" charset="0"/>
                <a:cs typeface="Arial" panose="020B0604020202020204" pitchFamily="34" charset="0"/>
              </a:rPr>
              <a:t>IP address and applications of hosts to be protected</a:t>
            </a:r>
          </a:p>
          <a:p>
            <a:pPr lvl="1"/>
            <a:r>
              <a:rPr lang="en-US" dirty="0">
                <a:latin typeface="Gill Sans MT" panose="020B0502020104020203" pitchFamily="34" charset="0"/>
                <a:cs typeface="Arial" panose="020B0604020202020204" pitchFamily="34" charset="0"/>
              </a:rPr>
              <a:t>Manual or IKE-initiated SAs</a:t>
            </a:r>
          </a:p>
          <a:p>
            <a:r>
              <a:rPr lang="en-US" sz="2800" dirty="0">
                <a:latin typeface="Gill Sans MT" panose="020B0502020104020203" pitchFamily="34" charset="0"/>
                <a:cs typeface="Arial" panose="020B0604020202020204" pitchFamily="34" charset="0"/>
              </a:rPr>
              <a:t>Goal: Minimize misconfiguration.</a:t>
            </a:r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Task 3: Configure the Transform Sets</a:t>
            </a:r>
          </a:p>
        </p:txBody>
      </p:sp>
    </p:spTree>
    <p:extLst>
      <p:ext uri="{BB962C8B-B14F-4D97-AF65-F5344CB8AC3E}">
        <p14:creationId xmlns:p14="http://schemas.microsoft.com/office/powerpoint/2010/main" val="2740180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2057401" y="1600200"/>
            <a:ext cx="8285162" cy="47091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Gill Sans MT" panose="020B0502020104020203" pitchFamily="34" charset="0"/>
              </a:rPr>
              <a:t>Cisco IOS software supports the following IPsec transforms:</a:t>
            </a:r>
          </a:p>
        </p:txBody>
      </p:sp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443569"/>
            <a:ext cx="78867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IPsec Transforms Supported in IOS</a:t>
            </a:r>
          </a:p>
        </p:txBody>
      </p:sp>
      <p:sp>
        <p:nvSpPr>
          <p:cNvPr id="1935364" name="Rectangle 4"/>
          <p:cNvSpPr>
            <a:spLocks noChangeArrowheads="1"/>
          </p:cNvSpPr>
          <p:nvPr/>
        </p:nvSpPr>
        <p:spPr bwMode="auto">
          <a:xfrm>
            <a:off x="2133600" y="2133600"/>
            <a:ext cx="8382000" cy="1893082"/>
          </a:xfrm>
          <a:prstGeom prst="rect">
            <a:avLst/>
          </a:prstGeom>
          <a:solidFill>
            <a:schemeClr val="tx1">
              <a:lumMod val="8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82550" tIns="41275" rIns="82550" bIns="41275">
            <a:spAutoFit/>
          </a:bodyPr>
          <a:lstStyle/>
          <a:p>
            <a:pPr defTabSz="725488">
              <a:spcAft>
                <a:spcPct val="20000"/>
              </a:spcAft>
              <a:defRPr/>
            </a:pP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CentralA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(config)# crypto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ipsec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transform-set </a:t>
            </a:r>
            <a:r>
              <a:rPr lang="en-US" sz="1400" i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transform-set-name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?</a:t>
            </a:r>
          </a:p>
          <a:p>
            <a:pPr defTabSz="725488">
              <a:spcAft>
                <a:spcPct val="20000"/>
              </a:spcAft>
              <a:defRPr/>
            </a:pP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ah-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md5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hmac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AH-HMAC-MD5 transform</a:t>
            </a:r>
          </a:p>
          <a:p>
            <a:pPr defTabSz="725488">
              <a:defRPr/>
            </a:pP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ah-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sha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hmac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AH-HMAC-SHA transform</a:t>
            </a:r>
          </a:p>
          <a:p>
            <a:pPr defTabSz="725488">
              <a:defRPr/>
            </a:pP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esp-3des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ESP transform using 3DES(EDE) cipher (168 bits)</a:t>
            </a:r>
          </a:p>
          <a:p>
            <a:pPr defTabSz="725488">
              <a:defRPr/>
            </a:pP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esp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-des       ESP transform using DES cipher (56 bits)</a:t>
            </a:r>
          </a:p>
          <a:p>
            <a:pPr defTabSz="725488">
              <a:defRPr/>
            </a:pP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esp-md5-hmac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ESP transform using HMAC-MD5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auth</a:t>
            </a:r>
            <a:endParaRPr lang="en-US" sz="14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 defTabSz="725488">
              <a:defRPr/>
            </a:pP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esp-sha-hmac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ESP transform using HMAC-SHA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auth</a:t>
            </a:r>
            <a:endParaRPr lang="en-US" sz="14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 defTabSz="725488">
              <a:defRPr/>
            </a:pP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esp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-null      ESP transform w/o cipher</a:t>
            </a:r>
          </a:p>
        </p:txBody>
      </p:sp>
      <p:sp>
        <p:nvSpPr>
          <p:cNvPr id="1935365" name="Text Box 5"/>
          <p:cNvSpPr txBox="1">
            <a:spLocks noChangeArrowheads="1"/>
          </p:cNvSpPr>
          <p:nvPr/>
        </p:nvSpPr>
        <p:spPr bwMode="auto">
          <a:xfrm>
            <a:off x="2300286" y="4497091"/>
            <a:ext cx="78486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lIns="73025" tIns="36512" rIns="73025" bIns="36512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1800" dirty="0">
                <a:solidFill>
                  <a:srgbClr val="000000"/>
                </a:solidFill>
              </a:rPr>
              <a:t>Note:</a:t>
            </a:r>
          </a:p>
          <a:p>
            <a:pPr lvl="1">
              <a:lnSpc>
                <a:spcPct val="100000"/>
              </a:lnSpc>
              <a:spcBef>
                <a:spcPct val="50000"/>
              </a:spcBef>
            </a:pPr>
            <a:r>
              <a:rPr lang="en-US" sz="1800" dirty="0" err="1">
                <a:solidFill>
                  <a:srgbClr val="000000"/>
                </a:solidFill>
              </a:rPr>
              <a:t>esp-md5-hmac</a:t>
            </a:r>
            <a:r>
              <a:rPr lang="en-US" sz="1800" b="0" dirty="0">
                <a:solidFill>
                  <a:srgbClr val="000000"/>
                </a:solidFill>
              </a:rPr>
              <a:t> and </a:t>
            </a:r>
            <a:r>
              <a:rPr lang="en-US" sz="1800" dirty="0" err="1">
                <a:solidFill>
                  <a:srgbClr val="000000"/>
                </a:solidFill>
              </a:rPr>
              <a:t>esp-sha-hmac</a:t>
            </a:r>
            <a:r>
              <a:rPr lang="en-US" sz="1800" b="0" dirty="0">
                <a:solidFill>
                  <a:srgbClr val="000000"/>
                </a:solidFill>
              </a:rPr>
              <a:t> provide more data integrity.</a:t>
            </a:r>
          </a:p>
          <a:p>
            <a:pPr lvl="1">
              <a:lnSpc>
                <a:spcPct val="100000"/>
              </a:lnSpc>
              <a:spcBef>
                <a:spcPct val="50000"/>
              </a:spcBef>
            </a:pPr>
            <a:r>
              <a:rPr lang="en-US" sz="1800" b="0" dirty="0">
                <a:solidFill>
                  <a:srgbClr val="000000"/>
                </a:solidFill>
              </a:rPr>
              <a:t>They are compatible with NAT/PAT and are used more frequently than </a:t>
            </a:r>
            <a:r>
              <a:rPr lang="en-US" sz="1800" dirty="0">
                <a:solidFill>
                  <a:srgbClr val="000000"/>
                </a:solidFill>
              </a:rPr>
              <a:t>ah-</a:t>
            </a:r>
            <a:r>
              <a:rPr lang="en-US" sz="1800" dirty="0" err="1">
                <a:solidFill>
                  <a:srgbClr val="000000"/>
                </a:solidFill>
              </a:rPr>
              <a:t>md5</a:t>
            </a:r>
            <a:r>
              <a:rPr lang="en-US" sz="1800" dirty="0">
                <a:solidFill>
                  <a:srgbClr val="000000"/>
                </a:solidFill>
              </a:rPr>
              <a:t>-</a:t>
            </a:r>
            <a:r>
              <a:rPr lang="en-US" sz="1800" dirty="0" err="1">
                <a:solidFill>
                  <a:srgbClr val="000000"/>
                </a:solidFill>
              </a:rPr>
              <a:t>hmac</a:t>
            </a:r>
            <a:r>
              <a:rPr lang="en-US" sz="1800" b="0" dirty="0">
                <a:solidFill>
                  <a:srgbClr val="000000"/>
                </a:solidFill>
              </a:rPr>
              <a:t> and </a:t>
            </a:r>
            <a:r>
              <a:rPr lang="en-US" sz="1800" dirty="0">
                <a:solidFill>
                  <a:srgbClr val="000000"/>
                </a:solidFill>
              </a:rPr>
              <a:t>ah-</a:t>
            </a:r>
            <a:r>
              <a:rPr lang="en-US" sz="1800" dirty="0" err="1">
                <a:solidFill>
                  <a:srgbClr val="000000"/>
                </a:solidFill>
              </a:rPr>
              <a:t>sha</a:t>
            </a:r>
            <a:r>
              <a:rPr lang="en-US" sz="1800" dirty="0">
                <a:solidFill>
                  <a:srgbClr val="000000"/>
                </a:solidFill>
              </a:rPr>
              <a:t>-</a:t>
            </a:r>
            <a:r>
              <a:rPr lang="en-US" sz="1800" dirty="0" err="1">
                <a:solidFill>
                  <a:srgbClr val="000000"/>
                </a:solidFill>
              </a:rPr>
              <a:t>hmac</a:t>
            </a:r>
            <a:r>
              <a:rPr lang="en-US" sz="1800" b="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935366" name="Rectangle 6"/>
          <p:cNvSpPr>
            <a:spLocks noChangeArrowheads="1"/>
          </p:cNvSpPr>
          <p:nvPr/>
        </p:nvSpPr>
        <p:spPr bwMode="auto">
          <a:xfrm>
            <a:off x="2057401" y="3376548"/>
            <a:ext cx="165917" cy="359923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xtLst/>
        </p:spPr>
        <p:txBody>
          <a:bodyPr wrap="none" lIns="82124" tIns="41061" rIns="82124" bIns="41061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15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3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35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35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3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64" grpId="0" animBg="1" autoUpdateAnimBg="0"/>
      <p:bldP spid="1935365" grpId="0" autoUpdateAnimBg="0"/>
      <p:bldP spid="193536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IPsec Policy Example</a:t>
            </a:r>
          </a:p>
        </p:txBody>
      </p:sp>
      <p:pic>
        <p:nvPicPr>
          <p:cNvPr id="1044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14" y="1293814"/>
            <a:ext cx="7570787" cy="48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1212310"/>
      </p:ext>
    </p:extLst>
  </p:cSld>
  <p:clrMapOvr>
    <a:masterClrMapping/>
  </p:clrMapOvr>
  <p:transition spd="med">
    <p:comb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Configure Transform Sets</a:t>
            </a:r>
          </a:p>
        </p:txBody>
      </p:sp>
      <p:pic>
        <p:nvPicPr>
          <p:cNvPr id="10957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188" y="1524000"/>
            <a:ext cx="8683625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4575456"/>
      </p:ext>
    </p:extLst>
  </p:cSld>
  <p:clrMapOvr>
    <a:masterClrMapping/>
  </p:clrMapOvr>
  <p:transition spd="med">
    <p:comb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Transform Set Negotiation</a:t>
            </a:r>
          </a:p>
        </p:txBody>
      </p:sp>
      <p:pic>
        <p:nvPicPr>
          <p:cNvPr id="11161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13" y="1295401"/>
            <a:ext cx="8842375" cy="531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7625078"/>
      </p:ext>
    </p:extLst>
  </p:cSld>
  <p:clrMapOvr>
    <a:masterClrMapping/>
  </p:clrMapOvr>
  <p:transition spd="med">
    <p:comb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Transform Set Negotiation</a:t>
            </a:r>
          </a:p>
        </p:txBody>
      </p:sp>
      <p:pic>
        <p:nvPicPr>
          <p:cNvPr id="110595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371600"/>
            <a:ext cx="8437228" cy="524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9106462"/>
      </p:ext>
    </p:extLst>
  </p:cSld>
  <p:clrMapOvr>
    <a:masterClrMapping/>
  </p:clrMapOvr>
  <p:transition spd="med">
    <p:comb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300288" y="1371600"/>
            <a:ext cx="8042275" cy="49377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Configures global IPsec lifetime values used when negotiating IPsec security associations.</a:t>
            </a:r>
          </a:p>
          <a:p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IPsec SA lifetimes are negotiated during IKE phase 2.</a:t>
            </a:r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Configure Security Association Lifetimes</a:t>
            </a:r>
          </a:p>
        </p:txBody>
      </p:sp>
      <p:pic>
        <p:nvPicPr>
          <p:cNvPr id="112643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9025" y="2887665"/>
            <a:ext cx="7473950" cy="3441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7655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650" y="365127"/>
            <a:ext cx="7886700" cy="1158874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dirty="0"/>
              <a:t>Task 4: Configure Crypto ACLs</a:t>
            </a:r>
          </a:p>
        </p:txBody>
      </p:sp>
      <p:sp>
        <p:nvSpPr>
          <p:cNvPr id="1551364" name="Text Box 4"/>
          <p:cNvSpPr txBox="1">
            <a:spLocks noChangeArrowheads="1"/>
          </p:cNvSpPr>
          <p:nvPr/>
        </p:nvSpPr>
        <p:spPr bwMode="auto">
          <a:xfrm>
            <a:off x="7334250" y="4943475"/>
            <a:ext cx="476250" cy="2286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1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1600"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</a:rPr>
              <a:t>tcp</a:t>
            </a:r>
          </a:p>
        </p:txBody>
      </p:sp>
      <p:pic>
        <p:nvPicPr>
          <p:cNvPr id="11366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398" y="1289283"/>
            <a:ext cx="8063204" cy="5558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3025038"/>
      </p:ext>
    </p:extLst>
  </p:cSld>
  <p:clrMapOvr>
    <a:masterClrMapping/>
  </p:clrMapOvr>
  <p:transition spd="med">
    <p:comb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600" dirty="0"/>
              <a:t>Configure Symmetrical Peer Crypto ACL</a:t>
            </a:r>
          </a:p>
        </p:txBody>
      </p:sp>
      <p:pic>
        <p:nvPicPr>
          <p:cNvPr id="1146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884" y="1447801"/>
            <a:ext cx="7945867" cy="1492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553413" name="Rectangle 5"/>
          <p:cNvSpPr>
            <a:spLocks noChangeArrowheads="1"/>
          </p:cNvSpPr>
          <p:nvPr/>
        </p:nvSpPr>
        <p:spPr bwMode="auto">
          <a:xfrm>
            <a:off x="2281238" y="3509964"/>
            <a:ext cx="8305800" cy="339725"/>
          </a:xfrm>
          <a:prstGeom prst="rect">
            <a:avLst/>
          </a:prstGeom>
          <a:solidFill>
            <a:schemeClr val="tx1">
              <a:lumMod val="8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82550" tIns="41275" rIns="82550" bIns="41275">
            <a:spAutoFit/>
          </a:bodyPr>
          <a:lstStyle/>
          <a:p>
            <a:pPr defTabSz="725488">
              <a:defRPr/>
            </a:pPr>
            <a:r>
              <a:rPr lang="en-US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access-list 110 permit </a:t>
            </a:r>
            <a:r>
              <a:rPr lang="en-US" sz="16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tcp</a:t>
            </a:r>
            <a:r>
              <a:rPr lang="en-US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10.0.1.0 0.0.0.255 10.0.2.0 0.0.0.255</a:t>
            </a:r>
          </a:p>
        </p:txBody>
      </p:sp>
      <p:sp>
        <p:nvSpPr>
          <p:cNvPr id="1553414" name="Rectangle 6"/>
          <p:cNvSpPr>
            <a:spLocks noChangeArrowheads="1"/>
          </p:cNvSpPr>
          <p:nvPr/>
        </p:nvSpPr>
        <p:spPr bwMode="auto">
          <a:xfrm>
            <a:off x="2286393" y="3186114"/>
            <a:ext cx="2140752" cy="329145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82124" tIns="41061" rIns="82124" bIns="41061">
            <a:spAutoFit/>
          </a:bodyPr>
          <a:lstStyle/>
          <a:p>
            <a:pPr algn="ctr" defTabSz="814388"/>
            <a:r>
              <a:rPr lang="en-US" sz="1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pitchFamily="49" charset="0"/>
                <a:cs typeface="Courier New" pitchFamily="49" charset="0"/>
              </a:rPr>
              <a:t>RouterA</a:t>
            </a:r>
            <a:r>
              <a:rPr lang="en-US" sz="1600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pitchFamily="49" charset="0"/>
                <a:cs typeface="Courier New" pitchFamily="49" charset="0"/>
              </a:rPr>
              <a:t>#(</a:t>
            </a:r>
            <a:r>
              <a:rPr lang="en-US" sz="1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pitchFamily="49" charset="0"/>
                <a:cs typeface="Courier New" pitchFamily="49" charset="0"/>
              </a:rPr>
              <a:t>config</a:t>
            </a:r>
            <a:r>
              <a:rPr lang="en-US" sz="1600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1553416" name="Rectangle 8"/>
          <p:cNvSpPr>
            <a:spLocks noChangeArrowheads="1"/>
          </p:cNvSpPr>
          <p:nvPr/>
        </p:nvSpPr>
        <p:spPr bwMode="auto">
          <a:xfrm>
            <a:off x="2286000" y="4743451"/>
            <a:ext cx="8305800" cy="339725"/>
          </a:xfrm>
          <a:prstGeom prst="rect">
            <a:avLst/>
          </a:prstGeom>
          <a:solidFill>
            <a:schemeClr val="tx1">
              <a:lumMod val="8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82550" tIns="41275" rIns="82550" bIns="41275">
            <a:spAutoFit/>
          </a:bodyPr>
          <a:lstStyle/>
          <a:p>
            <a:pPr defTabSz="725488">
              <a:defRPr/>
            </a:pPr>
            <a:r>
              <a:rPr lang="en-US" sz="160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access-list 110 permit tcp 10.0.2.0 0.0.0.255 10.0.1.0 0.0.0.255</a:t>
            </a:r>
          </a:p>
        </p:txBody>
      </p:sp>
      <p:sp>
        <p:nvSpPr>
          <p:cNvPr id="1553417" name="Rectangle 9"/>
          <p:cNvSpPr>
            <a:spLocks noChangeArrowheads="1"/>
          </p:cNvSpPr>
          <p:nvPr/>
        </p:nvSpPr>
        <p:spPr bwMode="auto">
          <a:xfrm>
            <a:off x="2291155" y="4419601"/>
            <a:ext cx="2140752" cy="329145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82124" tIns="41061" rIns="82124" bIns="41061">
            <a:spAutoFit/>
          </a:bodyPr>
          <a:lstStyle/>
          <a:p>
            <a:pPr algn="ctr" defTabSz="814388"/>
            <a:r>
              <a:rPr lang="en-US" sz="1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pitchFamily="49" charset="0"/>
                <a:cs typeface="Courier New" pitchFamily="49" charset="0"/>
              </a:rPr>
              <a:t>RouterB#(config)</a:t>
            </a:r>
          </a:p>
        </p:txBody>
      </p:sp>
      <p:sp>
        <p:nvSpPr>
          <p:cNvPr id="1553418" name="Line 10"/>
          <p:cNvSpPr>
            <a:spLocks noChangeShapeType="1"/>
          </p:cNvSpPr>
          <p:nvPr/>
        </p:nvSpPr>
        <p:spPr bwMode="auto">
          <a:xfrm>
            <a:off x="6096000" y="3886200"/>
            <a:ext cx="1752600" cy="762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2124" tIns="41061" rIns="82124" bIns="41061"/>
          <a:lstStyle/>
          <a:p>
            <a:endParaRPr lang="en-US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53419" name="Line 11"/>
          <p:cNvSpPr>
            <a:spLocks noChangeShapeType="1"/>
          </p:cNvSpPr>
          <p:nvPr/>
        </p:nvSpPr>
        <p:spPr bwMode="auto">
          <a:xfrm flipH="1">
            <a:off x="6096001" y="3881438"/>
            <a:ext cx="1833563" cy="7667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2124" tIns="41061" rIns="82124" bIns="41061"/>
          <a:lstStyle/>
          <a:p>
            <a:endParaRPr lang="en-US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771000"/>
      </p:ext>
    </p:extLst>
  </p:cSld>
  <p:clrMapOvr>
    <a:masterClrMapping/>
  </p:clrMapOvr>
  <p:transition spd="med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53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53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3418" grpId="0" animBg="1"/>
      <p:bldP spid="15534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Task 5: Apply the Crypto Map</a:t>
            </a:r>
          </a:p>
        </p:txBody>
      </p:sp>
      <p:pic>
        <p:nvPicPr>
          <p:cNvPr id="11571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1691938"/>
            <a:ext cx="8096977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2646021"/>
      </p:ext>
    </p:extLst>
  </p:cSld>
  <p:clrMapOvr>
    <a:masterClrMapping/>
  </p:clrMapOvr>
  <p:transition spd="med">
    <p:comb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Configure IPsec Crypto Maps</a:t>
            </a:r>
          </a:p>
        </p:txBody>
      </p:sp>
      <p:pic>
        <p:nvPicPr>
          <p:cNvPr id="11673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0" y="1905000"/>
            <a:ext cx="8011524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3639025"/>
      </p:ext>
    </p:extLst>
  </p:cSld>
  <p:clrMapOvr>
    <a:masterClrMapping/>
  </p:clrMapOvr>
  <p:transition spd="med">
    <p:comb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/>
              <a:t>Configure IPsec Crypto Maps</a:t>
            </a:r>
          </a:p>
        </p:txBody>
      </p:sp>
      <p:pic>
        <p:nvPicPr>
          <p:cNvPr id="11776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213" y="1828801"/>
            <a:ext cx="8537575" cy="433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6962614"/>
      </p:ext>
    </p:extLst>
  </p:cSld>
  <p:clrMapOvr>
    <a:masterClrMapping/>
  </p:clrMapOvr>
  <p:transition spd="med">
    <p:comb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Configure IPsec Crypto Maps</a:t>
            </a:r>
          </a:p>
        </p:txBody>
      </p:sp>
      <p:pic>
        <p:nvPicPr>
          <p:cNvPr id="11878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013" y="1524000"/>
            <a:ext cx="8689975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095999" y="4495800"/>
            <a:ext cx="7620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67094918"/>
      </p:ext>
    </p:extLst>
  </p:cSld>
  <p:clrMapOvr>
    <a:masterClrMapping/>
  </p:clrMapOvr>
  <p:transition spd="med">
    <p:comb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Applying Crypto Maps to Interfaces</a:t>
            </a:r>
          </a:p>
        </p:txBody>
      </p:sp>
      <p:pic>
        <p:nvPicPr>
          <p:cNvPr id="12083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371600"/>
            <a:ext cx="8382000" cy="530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133838"/>
      </p:ext>
    </p:extLst>
  </p:cSld>
  <p:clrMapOvr>
    <a:masterClrMapping/>
  </p:clrMapOvr>
  <p:transition spd="med">
    <p:comb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650" y="365127"/>
            <a:ext cx="7886700" cy="930274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dirty="0"/>
              <a:t>IPsec Configuration Examples</a:t>
            </a:r>
          </a:p>
        </p:txBody>
      </p:sp>
      <p:pic>
        <p:nvPicPr>
          <p:cNvPr id="1218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701" y="1181100"/>
            <a:ext cx="7853363" cy="168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5657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975" y="2895601"/>
            <a:ext cx="3854450" cy="369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5657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1" y="2895601"/>
            <a:ext cx="3863975" cy="369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1140470"/>
      </p:ext>
    </p:extLst>
  </p:cSld>
  <p:clrMapOvr>
    <a:masterClrMapping/>
  </p:clrMapOvr>
  <p:transition spd="med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6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6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Verify IPsec</a:t>
            </a:r>
          </a:p>
        </p:txBody>
      </p:sp>
      <p:pic>
        <p:nvPicPr>
          <p:cNvPr id="122883" name="Picture 4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6813" y="1690689"/>
            <a:ext cx="7318375" cy="2355850"/>
          </a:xfrm>
          <a:noFill/>
        </p:spPr>
      </p:pic>
    </p:spTree>
    <p:extLst>
      <p:ext uri="{BB962C8B-B14F-4D97-AF65-F5344CB8AC3E}">
        <p14:creationId xmlns:p14="http://schemas.microsoft.com/office/powerpoint/2010/main" val="2499203941"/>
      </p:ext>
    </p:extLst>
  </p:cSld>
  <p:clrMapOvr>
    <a:masterClrMapping/>
  </p:clrMapOvr>
  <p:transition spd="med">
    <p:comb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300288" y="2057400"/>
            <a:ext cx="8042275" cy="4251960"/>
          </a:xfrm>
        </p:spPr>
        <p:txBody>
          <a:bodyPr/>
          <a:lstStyle/>
          <a:p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Clears IPsec Security Associations in the router database</a:t>
            </a:r>
            <a:r>
              <a:rPr lang="en-US" dirty="0">
                <a:latin typeface="Gill Sans MT" panose="020B0502020104020203" pitchFamily="34" charset="0"/>
                <a:cs typeface="Arial" panose="020B0604020202020204" pitchFamily="34" charset="0"/>
              </a:rPr>
              <a:t>.</a:t>
            </a:r>
            <a:endParaRPr lang="en-US" sz="2400" dirty="0">
              <a:latin typeface="Gill Sans MT" panose="020B0502020104020203" pitchFamily="34" charset="0"/>
              <a:cs typeface="Arial" panose="020B0604020202020204" pitchFamily="34" charset="0"/>
            </a:endParaRPr>
          </a:p>
        </p:txBody>
      </p:sp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92792" y="612463"/>
            <a:ext cx="78867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cs typeface="Courier New" pitchFamily="49" charset="0"/>
              </a:rPr>
              <a:t>clear</a:t>
            </a:r>
            <a:r>
              <a:rPr lang="en-US" sz="4000" dirty="0"/>
              <a:t> commands</a:t>
            </a:r>
          </a:p>
        </p:txBody>
      </p:sp>
      <p:sp>
        <p:nvSpPr>
          <p:cNvPr id="1569795" name="Rectangle 3"/>
          <p:cNvSpPr>
            <a:spLocks noChangeArrowheads="1"/>
          </p:cNvSpPr>
          <p:nvPr/>
        </p:nvSpPr>
        <p:spPr bwMode="auto">
          <a:xfrm>
            <a:off x="2300987" y="3445538"/>
            <a:ext cx="8023371" cy="1069975"/>
          </a:xfrm>
          <a:prstGeom prst="rect">
            <a:avLst/>
          </a:prstGeom>
          <a:solidFill>
            <a:schemeClr val="tx1">
              <a:lumMod val="8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 lIns="82550" tIns="41275" rIns="82550" bIns="41275">
            <a:spAutoFit/>
          </a:bodyPr>
          <a:lstStyle/>
          <a:p>
            <a:pPr defTabSz="725488">
              <a:defRPr/>
            </a:pP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clear crypto </a:t>
            </a:r>
            <a:r>
              <a:rPr lang="en-US" sz="1600" dirty="0" err="1">
                <a:solidFill>
                  <a:schemeClr val="bg1"/>
                </a:solidFill>
                <a:latin typeface="Courier New" pitchFamily="49" charset="0"/>
              </a:rPr>
              <a:t>sa</a:t>
            </a:r>
            <a:endParaRPr lang="en-US" sz="1600" dirty="0">
              <a:solidFill>
                <a:schemeClr val="bg1"/>
              </a:solidFill>
              <a:latin typeface="Courier New" pitchFamily="49" charset="0"/>
            </a:endParaRPr>
          </a:p>
          <a:p>
            <a:pPr defTabSz="725488">
              <a:defRPr/>
            </a:pP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clear crypto </a:t>
            </a:r>
            <a:r>
              <a:rPr lang="en-US" sz="1600" dirty="0" err="1">
                <a:solidFill>
                  <a:schemeClr val="bg1"/>
                </a:solidFill>
                <a:latin typeface="Courier New" pitchFamily="49" charset="0"/>
              </a:rPr>
              <a:t>sa</a:t>
            </a: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 peer &lt;</a:t>
            </a:r>
            <a:r>
              <a:rPr lang="en-US" sz="1600" i="1" dirty="0">
                <a:solidFill>
                  <a:schemeClr val="bg1"/>
                </a:solidFill>
                <a:latin typeface="Courier New" pitchFamily="49" charset="0"/>
              </a:rPr>
              <a:t>IP address </a:t>
            </a: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| </a:t>
            </a:r>
            <a:r>
              <a:rPr lang="en-US" sz="1600" i="1" dirty="0">
                <a:solidFill>
                  <a:schemeClr val="bg1"/>
                </a:solidFill>
                <a:latin typeface="Courier New" pitchFamily="49" charset="0"/>
              </a:rPr>
              <a:t>peer name</a:t>
            </a: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&gt;</a:t>
            </a:r>
          </a:p>
          <a:p>
            <a:pPr defTabSz="725488">
              <a:defRPr/>
            </a:pP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clear crypto </a:t>
            </a:r>
            <a:r>
              <a:rPr lang="en-US" sz="1600" dirty="0" err="1">
                <a:solidFill>
                  <a:schemeClr val="bg1"/>
                </a:solidFill>
                <a:latin typeface="Courier New" pitchFamily="49" charset="0"/>
              </a:rPr>
              <a:t>sa</a:t>
            </a: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 map &lt;</a:t>
            </a:r>
            <a:r>
              <a:rPr lang="en-US" sz="1600" i="1" dirty="0">
                <a:solidFill>
                  <a:schemeClr val="bg1"/>
                </a:solidFill>
                <a:latin typeface="Courier New" pitchFamily="49" charset="0"/>
              </a:rPr>
              <a:t>map name</a:t>
            </a: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&gt;</a:t>
            </a:r>
          </a:p>
          <a:p>
            <a:pPr defTabSz="725488">
              <a:defRPr/>
            </a:pP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clear crypto </a:t>
            </a:r>
            <a:r>
              <a:rPr lang="en-US" sz="1600" dirty="0" err="1">
                <a:solidFill>
                  <a:schemeClr val="bg1"/>
                </a:solidFill>
                <a:latin typeface="Courier New" pitchFamily="49" charset="0"/>
              </a:rPr>
              <a:t>sa</a:t>
            </a: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 entry &lt;</a:t>
            </a:r>
            <a:r>
              <a:rPr lang="en-US" sz="1600" i="1" dirty="0">
                <a:solidFill>
                  <a:schemeClr val="bg1"/>
                </a:solidFill>
                <a:latin typeface="Courier New" pitchFamily="49" charset="0"/>
              </a:rPr>
              <a:t>destination-address protocol </a:t>
            </a:r>
            <a:r>
              <a:rPr lang="en-US" sz="1600" i="1" dirty="0" err="1">
                <a:solidFill>
                  <a:schemeClr val="bg1"/>
                </a:solidFill>
                <a:latin typeface="Courier New" pitchFamily="49" charset="0"/>
              </a:rPr>
              <a:t>spi</a:t>
            </a: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&gt;</a:t>
            </a:r>
          </a:p>
        </p:txBody>
      </p:sp>
      <p:sp>
        <p:nvSpPr>
          <p:cNvPr id="123909" name="Text Box 5"/>
          <p:cNvSpPr txBox="1">
            <a:spLocks noChangeArrowheads="1"/>
          </p:cNvSpPr>
          <p:nvPr/>
        </p:nvSpPr>
        <p:spPr bwMode="auto">
          <a:xfrm>
            <a:off x="2300288" y="3069092"/>
            <a:ext cx="10486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 b="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Router#</a:t>
            </a:r>
          </a:p>
        </p:txBody>
      </p:sp>
    </p:spTree>
    <p:extLst>
      <p:ext uri="{BB962C8B-B14F-4D97-AF65-F5344CB8AC3E}">
        <p14:creationId xmlns:p14="http://schemas.microsoft.com/office/powerpoint/2010/main" val="5606857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View Policy</a:t>
            </a:r>
          </a:p>
        </p:txBody>
      </p:sp>
      <p:sp>
        <p:nvSpPr>
          <p:cNvPr id="1571843" name="Rectangle 3"/>
          <p:cNvSpPr>
            <a:spLocks noChangeArrowheads="1"/>
          </p:cNvSpPr>
          <p:nvPr/>
        </p:nvSpPr>
        <p:spPr bwMode="auto">
          <a:xfrm>
            <a:off x="1981201" y="3287714"/>
            <a:ext cx="8201025" cy="2884123"/>
          </a:xfrm>
          <a:prstGeom prst="rect">
            <a:avLst/>
          </a:prstGeom>
          <a:solidFill>
            <a:schemeClr val="tx1">
              <a:lumMod val="8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 lIns="82550" tIns="41275" rIns="82550" bIns="41275">
            <a:spAutoFit/>
          </a:bodyPr>
          <a:lstStyle/>
          <a:p>
            <a:pPr defTabSz="725488"/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</a:rPr>
              <a:t>RouterA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</a:rPr>
              <a:t># show crypto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</a:rPr>
              <a:t>isakmp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</a:rPr>
              <a:t> policy </a:t>
            </a:r>
          </a:p>
          <a:p>
            <a:pPr defTabSz="725488"/>
            <a:r>
              <a:rPr lang="en-US" sz="1400" dirty="0">
                <a:solidFill>
                  <a:schemeClr val="bg1"/>
                </a:solidFill>
                <a:latin typeface="Courier New" pitchFamily="49" charset="0"/>
              </a:rPr>
              <a:t>Protection suite of priority 110</a:t>
            </a:r>
          </a:p>
          <a:p>
            <a:pPr defTabSz="725488"/>
            <a:r>
              <a:rPr lang="en-US" sz="1400" dirty="0">
                <a:solidFill>
                  <a:schemeClr val="bg1"/>
                </a:solidFill>
                <a:latin typeface="Courier New" pitchFamily="49" charset="0"/>
              </a:rPr>
              <a:t>      encryption algorithm:   DES - Data Encryption Standard (56 bit keys).</a:t>
            </a:r>
          </a:p>
          <a:p>
            <a:pPr defTabSz="725488"/>
            <a:r>
              <a:rPr lang="en-US" sz="1400" dirty="0">
                <a:solidFill>
                  <a:schemeClr val="bg1"/>
                </a:solidFill>
                <a:latin typeface="Courier New" pitchFamily="49" charset="0"/>
              </a:rPr>
              <a:t>      hash algorithm:         Message Digest 5</a:t>
            </a:r>
          </a:p>
          <a:p>
            <a:pPr defTabSz="725488"/>
            <a:r>
              <a:rPr lang="en-US" sz="1400" dirty="0">
                <a:solidFill>
                  <a:schemeClr val="bg1"/>
                </a:solidFill>
                <a:latin typeface="Courier New" pitchFamily="49" charset="0"/>
              </a:rPr>
              <a:t>      authentication method:  pre-share</a:t>
            </a:r>
          </a:p>
          <a:p>
            <a:pPr defTabSz="725488"/>
            <a:r>
              <a:rPr lang="en-US" sz="1400" dirty="0">
                <a:solidFill>
                  <a:schemeClr val="bg1"/>
                </a:solidFill>
                <a:latin typeface="Courier New" pitchFamily="49" charset="0"/>
              </a:rPr>
              <a:t>     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</a:rPr>
              <a:t>Diffie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</a:rPr>
              <a:t>-Hellman group:   #1 (768 bit)</a:t>
            </a:r>
          </a:p>
          <a:p>
            <a:pPr defTabSz="725488"/>
            <a:r>
              <a:rPr lang="en-US" sz="1400" dirty="0">
                <a:solidFill>
                  <a:schemeClr val="bg1"/>
                </a:solidFill>
                <a:latin typeface="Courier New" pitchFamily="49" charset="0"/>
              </a:rPr>
              <a:t>      lifetime:               86400 seconds, no volume limit</a:t>
            </a:r>
          </a:p>
          <a:p>
            <a:pPr defTabSz="725488"/>
            <a:r>
              <a:rPr lang="en-US" sz="1400" dirty="0">
                <a:solidFill>
                  <a:schemeClr val="bg1"/>
                </a:solidFill>
                <a:latin typeface="Courier New" pitchFamily="49" charset="0"/>
              </a:rPr>
              <a:t>Default protection suite</a:t>
            </a:r>
          </a:p>
          <a:p>
            <a:pPr defTabSz="725488"/>
            <a:r>
              <a:rPr lang="en-US" sz="1400" dirty="0">
                <a:solidFill>
                  <a:schemeClr val="bg1"/>
                </a:solidFill>
                <a:latin typeface="Courier New" pitchFamily="49" charset="0"/>
              </a:rPr>
              <a:t>      encryption algorithm:   DES - Data Encryption Standard (56 bit keys).</a:t>
            </a:r>
          </a:p>
          <a:p>
            <a:pPr defTabSz="725488"/>
            <a:r>
              <a:rPr lang="en-US" sz="1400" dirty="0">
                <a:solidFill>
                  <a:schemeClr val="bg1"/>
                </a:solidFill>
                <a:latin typeface="Courier New" pitchFamily="49" charset="0"/>
              </a:rPr>
              <a:t>      hash algorithm:         Secure Hash Standard</a:t>
            </a:r>
          </a:p>
          <a:p>
            <a:pPr defTabSz="725488"/>
            <a:r>
              <a:rPr lang="en-US" sz="1400" dirty="0">
                <a:solidFill>
                  <a:schemeClr val="bg1"/>
                </a:solidFill>
                <a:latin typeface="Courier New" pitchFamily="49" charset="0"/>
              </a:rPr>
              <a:t>      authentication method: 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</a:rPr>
              <a:t>Rivest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</a:rPr>
              <a:t>-Shamir-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</a:rPr>
              <a:t>Adleman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</a:rPr>
              <a:t> Signature</a:t>
            </a:r>
          </a:p>
          <a:p>
            <a:pPr defTabSz="725488"/>
            <a:r>
              <a:rPr lang="en-US" sz="1400" dirty="0">
                <a:solidFill>
                  <a:schemeClr val="bg1"/>
                </a:solidFill>
                <a:latin typeface="Courier New" pitchFamily="49" charset="0"/>
              </a:rPr>
              <a:t>     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</a:rPr>
              <a:t>Diffie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</a:rPr>
              <a:t>-Hellman group:   #1 (768 bit)</a:t>
            </a:r>
          </a:p>
          <a:p>
            <a:pPr defTabSz="725488"/>
            <a:r>
              <a:rPr lang="en-US" sz="1400" dirty="0">
                <a:solidFill>
                  <a:schemeClr val="bg1"/>
                </a:solidFill>
                <a:latin typeface="Courier New" pitchFamily="49" charset="0"/>
              </a:rPr>
              <a:t>      lifetime:               86400 seconds, no volume limit</a:t>
            </a:r>
          </a:p>
        </p:txBody>
      </p:sp>
      <p:pic>
        <p:nvPicPr>
          <p:cNvPr id="1249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9" y="1295401"/>
            <a:ext cx="7335837" cy="152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5084553"/>
      </p:ext>
    </p:extLst>
  </p:cSld>
  <p:clrMapOvr>
    <a:masterClrMapping/>
  </p:clrMapOvr>
  <p:transition spd="med">
    <p:comb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View Defined Sets</a:t>
            </a:r>
          </a:p>
        </p:txBody>
      </p:sp>
      <p:sp>
        <p:nvSpPr>
          <p:cNvPr id="125956" name="Rectangle 4"/>
          <p:cNvSpPr>
            <a:spLocks noChangeArrowheads="1"/>
          </p:cNvSpPr>
          <p:nvPr/>
        </p:nvSpPr>
        <p:spPr bwMode="auto">
          <a:xfrm>
            <a:off x="4343401" y="3209925"/>
            <a:ext cx="1503617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E0/1 172.30.1.2</a:t>
            </a:r>
          </a:p>
        </p:txBody>
      </p:sp>
      <p:sp>
        <p:nvSpPr>
          <p:cNvPr id="125957" name="Rectangle 5"/>
          <p:cNvSpPr>
            <a:spLocks noChangeArrowheads="1"/>
          </p:cNvSpPr>
          <p:nvPr/>
        </p:nvSpPr>
        <p:spPr bwMode="auto">
          <a:xfrm>
            <a:off x="6223001" y="3209925"/>
            <a:ext cx="1503617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E0/1 172.30.2.2</a:t>
            </a:r>
          </a:p>
        </p:txBody>
      </p:sp>
      <p:sp>
        <p:nvSpPr>
          <p:cNvPr id="125958" name="Rectangle 6"/>
          <p:cNvSpPr>
            <a:spLocks noChangeArrowheads="1"/>
          </p:cNvSpPr>
          <p:nvPr/>
        </p:nvSpPr>
        <p:spPr bwMode="auto">
          <a:xfrm>
            <a:off x="4603750" y="2898775"/>
            <a:ext cx="204788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8738" tIns="28575" rIns="58738" bIns="28575">
            <a:spAutoFit/>
          </a:bodyPr>
          <a:lstStyle/>
          <a:p>
            <a:pPr defTabSz="363538"/>
            <a:r>
              <a:rPr lang="en-US" sz="1000">
                <a:latin typeface="Helvetica" charset="0"/>
              </a:rPr>
              <a:t>A</a:t>
            </a:r>
          </a:p>
        </p:txBody>
      </p:sp>
      <p:pic>
        <p:nvPicPr>
          <p:cNvPr id="12595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754188"/>
            <a:ext cx="7335838" cy="152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573896" name="Rectangle 8"/>
          <p:cNvSpPr>
            <a:spLocks noChangeArrowheads="1"/>
          </p:cNvSpPr>
          <p:nvPr/>
        </p:nvSpPr>
        <p:spPr bwMode="auto">
          <a:xfrm>
            <a:off x="1905000" y="4191000"/>
            <a:ext cx="8229600" cy="838200"/>
          </a:xfrm>
          <a:prstGeom prst="rect">
            <a:avLst/>
          </a:prstGeom>
          <a:solidFill>
            <a:schemeClr val="tx1">
              <a:lumMod val="8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 lIns="82550" tIns="41275" rIns="82550" bIns="41275">
            <a:spAutoFit/>
          </a:bodyPr>
          <a:lstStyle/>
          <a:p>
            <a:pPr defTabSz="725488"/>
            <a:r>
              <a:rPr lang="en-US" sz="1600" dirty="0" err="1">
                <a:solidFill>
                  <a:schemeClr val="bg1"/>
                </a:solidFill>
                <a:latin typeface="Courier New" pitchFamily="49" charset="0"/>
              </a:rPr>
              <a:t>RouterA</a:t>
            </a: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# show crypto </a:t>
            </a:r>
            <a:r>
              <a:rPr lang="en-US" sz="1600" dirty="0" err="1">
                <a:solidFill>
                  <a:schemeClr val="bg1"/>
                </a:solidFill>
                <a:latin typeface="Courier New" pitchFamily="49" charset="0"/>
              </a:rPr>
              <a:t>ipsec</a:t>
            </a: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 transform-set MY-SET </a:t>
            </a:r>
            <a:br>
              <a:rPr lang="en-US" sz="1600" dirty="0">
                <a:solidFill>
                  <a:schemeClr val="bg1"/>
                </a:solidFill>
                <a:latin typeface="Courier New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Transform set MY-SET: { </a:t>
            </a:r>
            <a:r>
              <a:rPr lang="en-US" sz="1600" dirty="0" err="1">
                <a:solidFill>
                  <a:schemeClr val="bg1"/>
                </a:solidFill>
                <a:latin typeface="Courier New" pitchFamily="49" charset="0"/>
              </a:rPr>
              <a:t>esp</a:t>
            </a: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-des }</a:t>
            </a:r>
            <a:br>
              <a:rPr lang="en-US" sz="1600" dirty="0">
                <a:solidFill>
                  <a:schemeClr val="bg1"/>
                </a:solidFill>
                <a:latin typeface="Courier New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will negotiate = { Tunnel, },</a:t>
            </a:r>
          </a:p>
        </p:txBody>
      </p:sp>
    </p:spTree>
    <p:extLst>
      <p:ext uri="{BB962C8B-B14F-4D97-AF65-F5344CB8AC3E}">
        <p14:creationId xmlns:p14="http://schemas.microsoft.com/office/powerpoint/2010/main" val="2596006315"/>
      </p:ext>
    </p:extLst>
  </p:cSld>
  <p:clrMapOvr>
    <a:masterClrMapping/>
  </p:clrMapOvr>
  <p:transition spd="med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3896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438400" y="1295400"/>
            <a:ext cx="7904163" cy="5013960"/>
          </a:xfrm>
        </p:spPr>
        <p:txBody>
          <a:bodyPr/>
          <a:lstStyle/>
          <a:p>
            <a:pPr>
              <a:lnSpc>
                <a:spcPct val="100000"/>
              </a:lnSpc>
              <a:buClr>
                <a:schemeClr val="folHlink"/>
              </a:buClr>
              <a:buFontTx/>
              <a:buChar char="•"/>
            </a:pPr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QM_IDLE (quiescent state) indicates that an ISAKMP SA exists but is idle. 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buFontTx/>
              <a:buChar char="•"/>
            </a:pPr>
            <a:r>
              <a:rPr 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The router will remain authenticated with its peer and may be used for subsequent quick mode (QM) exchanges.</a:t>
            </a:r>
          </a:p>
        </p:txBody>
      </p:sp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297657"/>
            <a:ext cx="78867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Display Phase 1 SA</a:t>
            </a:r>
          </a:p>
        </p:txBody>
      </p:sp>
      <p:sp>
        <p:nvSpPr>
          <p:cNvPr id="1575940" name="Rectangle 4"/>
          <p:cNvSpPr>
            <a:spLocks noChangeArrowheads="1"/>
          </p:cNvSpPr>
          <p:nvPr/>
        </p:nvSpPr>
        <p:spPr bwMode="auto">
          <a:xfrm>
            <a:off x="2701924" y="5391077"/>
            <a:ext cx="7467600" cy="1069975"/>
          </a:xfrm>
          <a:prstGeom prst="rect">
            <a:avLst/>
          </a:prstGeom>
          <a:solidFill>
            <a:schemeClr val="tx1">
              <a:lumMod val="8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 lIns="82550" tIns="41275" rIns="82550" bIns="41275">
            <a:spAutoFit/>
          </a:bodyPr>
          <a:lstStyle/>
          <a:p>
            <a:pPr defTabSz="725488"/>
            <a:r>
              <a:rPr lang="en-US" sz="1600" dirty="0" err="1">
                <a:solidFill>
                  <a:schemeClr val="bg1"/>
                </a:solidFill>
                <a:latin typeface="Courier New" pitchFamily="49" charset="0"/>
              </a:rPr>
              <a:t>RouterA</a:t>
            </a: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# show crypto </a:t>
            </a:r>
            <a:r>
              <a:rPr lang="en-US" sz="1600" dirty="0" err="1">
                <a:solidFill>
                  <a:schemeClr val="bg1"/>
                </a:solidFill>
                <a:latin typeface="Courier New" pitchFamily="49" charset="0"/>
              </a:rPr>
              <a:t>isakmp</a:t>
            </a: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urier New" pitchFamily="49" charset="0"/>
              </a:rPr>
              <a:t>sa</a:t>
            </a:r>
            <a:endParaRPr lang="en-US" sz="1600" dirty="0">
              <a:solidFill>
                <a:schemeClr val="bg1"/>
              </a:solidFill>
              <a:latin typeface="Courier New" pitchFamily="49" charset="0"/>
            </a:endParaRPr>
          </a:p>
          <a:p>
            <a:pPr defTabSz="725488"/>
            <a:endParaRPr lang="en-US" sz="1600" dirty="0">
              <a:solidFill>
                <a:schemeClr val="bg1"/>
              </a:solidFill>
              <a:latin typeface="Courier New" pitchFamily="49" charset="0"/>
            </a:endParaRPr>
          </a:p>
          <a:p>
            <a:pPr defTabSz="725488"/>
            <a:r>
              <a:rPr lang="en-US" sz="1600" dirty="0" err="1">
                <a:solidFill>
                  <a:schemeClr val="bg1"/>
                </a:solidFill>
                <a:latin typeface="Courier New" pitchFamily="49" charset="0"/>
              </a:rPr>
              <a:t>dst</a:t>
            </a: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		</a:t>
            </a:r>
            <a:r>
              <a:rPr lang="en-US" sz="1600" dirty="0" err="1">
                <a:solidFill>
                  <a:schemeClr val="bg1"/>
                </a:solidFill>
                <a:latin typeface="Courier New" pitchFamily="49" charset="0"/>
              </a:rPr>
              <a:t>src</a:t>
            </a:r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		state		conn-id		slot</a:t>
            </a:r>
          </a:p>
          <a:p>
            <a:pPr defTabSz="725488"/>
            <a:r>
              <a:rPr lang="en-US" sz="1600" dirty="0">
                <a:solidFill>
                  <a:schemeClr val="bg1"/>
                </a:solidFill>
                <a:latin typeface="Courier New" pitchFamily="49" charset="0"/>
              </a:rPr>
              <a:t>172.30.2.2	172.30.1.2	QM_IDLE	47			5</a:t>
            </a:r>
          </a:p>
        </p:txBody>
      </p:sp>
      <p:sp>
        <p:nvSpPr>
          <p:cNvPr id="126982" name="Rectangle 11"/>
          <p:cNvSpPr>
            <a:spLocks noChangeArrowheads="1"/>
          </p:cNvSpPr>
          <p:nvPr/>
        </p:nvSpPr>
        <p:spPr bwMode="auto">
          <a:xfrm>
            <a:off x="4911725" y="4732337"/>
            <a:ext cx="1503617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solidFill>
                  <a:srgbClr val="000000"/>
                </a:solidFill>
              </a:rPr>
              <a:t>E0/1 172.30.1.2</a:t>
            </a:r>
          </a:p>
        </p:txBody>
      </p:sp>
      <p:sp>
        <p:nvSpPr>
          <p:cNvPr id="126983" name="Rectangle 12"/>
          <p:cNvSpPr>
            <a:spLocks noChangeArrowheads="1"/>
          </p:cNvSpPr>
          <p:nvPr/>
        </p:nvSpPr>
        <p:spPr bwMode="auto">
          <a:xfrm>
            <a:off x="6791325" y="4732337"/>
            <a:ext cx="1503617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solidFill>
                  <a:srgbClr val="000000"/>
                </a:solidFill>
              </a:rPr>
              <a:t>E0/1 172.30.2.2</a:t>
            </a:r>
          </a:p>
        </p:txBody>
      </p:sp>
      <p:sp>
        <p:nvSpPr>
          <p:cNvPr id="126984" name="Rectangle 13"/>
          <p:cNvSpPr>
            <a:spLocks noChangeArrowheads="1"/>
          </p:cNvSpPr>
          <p:nvPr/>
        </p:nvSpPr>
        <p:spPr bwMode="auto">
          <a:xfrm>
            <a:off x="5172074" y="3800401"/>
            <a:ext cx="204788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8738" tIns="28575" rIns="58738" bIns="28575">
            <a:spAutoFit/>
          </a:bodyPr>
          <a:lstStyle/>
          <a:p>
            <a:pPr defTabSz="363538"/>
            <a:r>
              <a:rPr lang="en-US" sz="1000">
                <a:latin typeface="Helvetica" charset="0"/>
              </a:rPr>
              <a:t>A</a:t>
            </a:r>
          </a:p>
        </p:txBody>
      </p:sp>
      <p:pic>
        <p:nvPicPr>
          <p:cNvPr id="126985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724" y="3276600"/>
            <a:ext cx="7335838" cy="152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39470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View Crypto IPsec SA</a:t>
            </a:r>
          </a:p>
        </p:txBody>
      </p:sp>
      <p:sp>
        <p:nvSpPr>
          <p:cNvPr id="1577987" name="Rectangle 3"/>
          <p:cNvSpPr>
            <a:spLocks noChangeArrowheads="1"/>
          </p:cNvSpPr>
          <p:nvPr/>
        </p:nvSpPr>
        <p:spPr bwMode="auto">
          <a:xfrm>
            <a:off x="2057400" y="3745278"/>
            <a:ext cx="8360328" cy="2884123"/>
          </a:xfrm>
          <a:prstGeom prst="rect">
            <a:avLst/>
          </a:prstGeom>
          <a:solidFill>
            <a:schemeClr val="tx1">
              <a:lumMod val="8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 lIns="82550" tIns="41275" rIns="82550" bIns="41275">
            <a:spAutoFit/>
          </a:bodyPr>
          <a:lstStyle/>
          <a:p>
            <a:pPr defTabSz="725488"/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RouterA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# show crypto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ipsec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sa</a:t>
            </a:r>
            <a:endParaRPr lang="en-US" sz="14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 defTabSz="725488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interface: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Ethernet0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/1</a:t>
            </a:r>
          </a:p>
          <a:p>
            <a:pPr lvl="1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Crypto map tag: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MYMAP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 local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addr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 172.30.1.2</a:t>
            </a:r>
          </a:p>
          <a:p>
            <a:pPr lvl="1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local 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ident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addr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/mask/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prot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/port): (172.30.1.2/255.255.255.255/0/0)</a:t>
            </a:r>
          </a:p>
          <a:p>
            <a:pPr lvl="1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remote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ident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addr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/mask/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prot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/port): (172.30.2.2/255.255.255.255/0/0)</a:t>
            </a:r>
          </a:p>
          <a:p>
            <a:pPr lvl="1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current_peer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: 172.30.2.2</a:t>
            </a:r>
          </a:p>
          <a:p>
            <a:pPr lvl="1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PERMIT, flags={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origin_is_acl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,}</a:t>
            </a:r>
          </a:p>
          <a:p>
            <a:pPr lvl="1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#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pkts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encaps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: 21, #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pkts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encrypt: 21, #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pkts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digest 0</a:t>
            </a:r>
          </a:p>
          <a:p>
            <a:pPr lvl="1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#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pkts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decaps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: 21, #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pkts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decrypt: 21, #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pkts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verify 0</a:t>
            </a:r>
          </a:p>
          <a:p>
            <a:pPr lvl="1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#send errors 0, #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recv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errors 0</a:t>
            </a:r>
          </a:p>
          <a:p>
            <a:pPr lvl="1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local crypto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endpt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.: 172.30.1.2, remote crypto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endpt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.: 172.30.2.2</a:t>
            </a:r>
          </a:p>
          <a:p>
            <a:pPr lvl="1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path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mtu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1500, media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mtu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1500</a:t>
            </a:r>
          </a:p>
          <a:p>
            <a:pPr lvl="1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current outbound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spi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: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8AE1C9C</a:t>
            </a:r>
            <a:endParaRPr lang="en-US" sz="14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8004" name="Rectangle 7"/>
          <p:cNvSpPr>
            <a:spLocks noChangeArrowheads="1"/>
          </p:cNvSpPr>
          <p:nvPr/>
        </p:nvSpPr>
        <p:spPr bwMode="auto">
          <a:xfrm>
            <a:off x="4135400" y="2978796"/>
            <a:ext cx="1503617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rgbClr val="000000"/>
                </a:solidFill>
              </a:rPr>
              <a:t>E0</a:t>
            </a:r>
            <a:r>
              <a:rPr lang="en-US" sz="1600" dirty="0">
                <a:solidFill>
                  <a:srgbClr val="000000"/>
                </a:solidFill>
              </a:rPr>
              <a:t>/1 172.30.1.2</a:t>
            </a:r>
          </a:p>
        </p:txBody>
      </p:sp>
      <p:sp>
        <p:nvSpPr>
          <p:cNvPr id="128005" name="Rectangle 8"/>
          <p:cNvSpPr>
            <a:spLocks noChangeArrowheads="1"/>
          </p:cNvSpPr>
          <p:nvPr/>
        </p:nvSpPr>
        <p:spPr bwMode="auto">
          <a:xfrm>
            <a:off x="6015000" y="2978796"/>
            <a:ext cx="1503617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</a:rPr>
              <a:t>E0/1 172.30.2.2</a:t>
            </a:r>
          </a:p>
        </p:txBody>
      </p:sp>
      <p:sp>
        <p:nvSpPr>
          <p:cNvPr id="128006" name="Rectangle 9"/>
          <p:cNvSpPr>
            <a:spLocks noChangeArrowheads="1"/>
          </p:cNvSpPr>
          <p:nvPr/>
        </p:nvSpPr>
        <p:spPr bwMode="auto">
          <a:xfrm>
            <a:off x="4395749" y="2667646"/>
            <a:ext cx="204788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8738" tIns="28575" rIns="58738" bIns="28575">
            <a:spAutoFit/>
          </a:bodyPr>
          <a:lstStyle/>
          <a:p>
            <a:pPr defTabSz="363538"/>
            <a:r>
              <a:rPr lang="en-US" sz="1000">
                <a:latin typeface="Helvetica" charset="0"/>
              </a:rPr>
              <a:t>A</a:t>
            </a:r>
          </a:p>
        </p:txBody>
      </p:sp>
      <p:pic>
        <p:nvPicPr>
          <p:cNvPr id="12800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399" y="1523059"/>
            <a:ext cx="7335838" cy="152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9852931"/>
      </p:ext>
    </p:extLst>
  </p:cSld>
  <p:clrMapOvr>
    <a:masterClrMapping/>
  </p:clrMapOvr>
  <p:transition spd="med">
    <p:comb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View Configured Crypto Maps</a:t>
            </a:r>
          </a:p>
        </p:txBody>
      </p:sp>
      <p:sp>
        <p:nvSpPr>
          <p:cNvPr id="1580036" name="Rectangle 4"/>
          <p:cNvSpPr>
            <a:spLocks noChangeArrowheads="1"/>
          </p:cNvSpPr>
          <p:nvPr/>
        </p:nvSpPr>
        <p:spPr bwMode="auto">
          <a:xfrm>
            <a:off x="2080472" y="4159762"/>
            <a:ext cx="8511329" cy="2012439"/>
          </a:xfrm>
          <a:prstGeom prst="rect">
            <a:avLst/>
          </a:prstGeom>
          <a:solidFill>
            <a:schemeClr val="tx1">
              <a:lumMod val="8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 lIns="82550" tIns="41275" rIns="82550" bIns="41275">
            <a:spAutoFit/>
          </a:bodyPr>
          <a:lstStyle/>
          <a:p>
            <a:pPr defTabSz="725488"/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RouterA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# show crypto map</a:t>
            </a:r>
          </a:p>
          <a:p>
            <a:pPr defTabSz="725488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Crypto Map </a:t>
            </a:r>
            <a:r>
              <a:rPr lang="ja-JP" alt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MYMAP" 10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ipsec-isakmp</a:t>
            </a:r>
            <a:endParaRPr lang="en-US" sz="14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Peer = 172.30.2.2</a:t>
            </a:r>
          </a:p>
          <a:p>
            <a:pPr lvl="1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Extended IP access list 102</a:t>
            </a:r>
          </a:p>
          <a:p>
            <a:pPr lvl="1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access-list 102 permit </a:t>
            </a:r>
            <a:r>
              <a:rPr lang="en-US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ip</a:t>
            </a:r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host 172.30.1.2 host 172.30.2.2</a:t>
            </a:r>
          </a:p>
          <a:p>
            <a:pPr lvl="1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Current peer: 172.30.2.2</a:t>
            </a:r>
          </a:p>
          <a:p>
            <a:pPr lvl="1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Security association lifetime: 4608000 kilobytes/3600 seconds</a:t>
            </a:r>
          </a:p>
          <a:p>
            <a:pPr lvl="1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PFS (Y/N): N</a:t>
            </a:r>
          </a:p>
          <a:p>
            <a:pPr lvl="1"/>
            <a:r>
              <a:rPr lang="en-US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Transform sets={ MINE, } </a:t>
            </a:r>
          </a:p>
        </p:txBody>
      </p:sp>
      <p:sp>
        <p:nvSpPr>
          <p:cNvPr id="129029" name="Rectangle 10"/>
          <p:cNvSpPr>
            <a:spLocks noChangeArrowheads="1"/>
          </p:cNvSpPr>
          <p:nvPr/>
        </p:nvSpPr>
        <p:spPr bwMode="auto">
          <a:xfrm>
            <a:off x="4343401" y="2880237"/>
            <a:ext cx="1503617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rgbClr val="000000"/>
                </a:solidFill>
              </a:rPr>
              <a:t>E0</a:t>
            </a:r>
            <a:r>
              <a:rPr lang="en-US" sz="1600" dirty="0">
                <a:solidFill>
                  <a:srgbClr val="000000"/>
                </a:solidFill>
              </a:rPr>
              <a:t>/1 172.30.1.2</a:t>
            </a:r>
          </a:p>
        </p:txBody>
      </p:sp>
      <p:sp>
        <p:nvSpPr>
          <p:cNvPr id="129030" name="Rectangle 11"/>
          <p:cNvSpPr>
            <a:spLocks noChangeArrowheads="1"/>
          </p:cNvSpPr>
          <p:nvPr/>
        </p:nvSpPr>
        <p:spPr bwMode="auto">
          <a:xfrm>
            <a:off x="6223001" y="2880237"/>
            <a:ext cx="1503617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solidFill>
                  <a:srgbClr val="000000"/>
                </a:solidFill>
              </a:rPr>
              <a:t>E0/1 172.30.2.2</a:t>
            </a:r>
          </a:p>
        </p:txBody>
      </p:sp>
      <p:sp>
        <p:nvSpPr>
          <p:cNvPr id="129031" name="Rectangle 12"/>
          <p:cNvSpPr>
            <a:spLocks noChangeArrowheads="1"/>
          </p:cNvSpPr>
          <p:nvPr/>
        </p:nvSpPr>
        <p:spPr bwMode="auto">
          <a:xfrm>
            <a:off x="4603750" y="2569087"/>
            <a:ext cx="204788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8738" tIns="28575" rIns="58738" bIns="28575">
            <a:spAutoFit/>
          </a:bodyPr>
          <a:lstStyle/>
          <a:p>
            <a:pPr defTabSz="363538"/>
            <a:r>
              <a:rPr lang="en-US" sz="1000">
                <a:latin typeface="Helvetica" charset="0"/>
              </a:rPr>
              <a:t>A</a:t>
            </a:r>
          </a:p>
        </p:txBody>
      </p:sp>
      <p:pic>
        <p:nvPicPr>
          <p:cNvPr id="129032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424500"/>
            <a:ext cx="7335838" cy="152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4780238"/>
      </p:ext>
    </p:extLst>
  </p:cSld>
  <p:clrMapOvr>
    <a:masterClrMapping/>
  </p:clrMapOvr>
  <p:transition spd="med">
    <p:comb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467712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1119</Words>
  <Application>Microsoft Office PowerPoint</Application>
  <PresentationFormat>Widescreen</PresentationFormat>
  <Paragraphs>201</Paragraphs>
  <Slides>39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ＭＳ Ｐゴシック</vt:lpstr>
      <vt:lpstr>游ゴシック</vt:lpstr>
      <vt:lpstr>Arial</vt:lpstr>
      <vt:lpstr>Calibri</vt:lpstr>
      <vt:lpstr>Calibri Light</vt:lpstr>
      <vt:lpstr>Courier New</vt:lpstr>
      <vt:lpstr>Gill Sans MT</vt:lpstr>
      <vt:lpstr>Helvetica</vt:lpstr>
      <vt:lpstr>Office Theme</vt:lpstr>
      <vt:lpstr>Configuring IPSEC</vt:lpstr>
      <vt:lpstr>IKE and IPsec Flowchart</vt:lpstr>
      <vt:lpstr>Task 1: Configure ACLs to Allow Traffic</vt:lpstr>
      <vt:lpstr>Task 2: Configure IKE</vt:lpstr>
      <vt:lpstr>IKE Phase 1 Policy Parameters</vt:lpstr>
      <vt:lpstr>Default ISAKMP Settings</vt:lpstr>
      <vt:lpstr>Enable IKE</vt:lpstr>
      <vt:lpstr>Create an IKE Policy</vt:lpstr>
      <vt:lpstr>Sample ISAKMP Settings</vt:lpstr>
      <vt:lpstr>Create an IKE Policy</vt:lpstr>
      <vt:lpstr>ISAKMP Policy Negotiation</vt:lpstr>
      <vt:lpstr>ISAKMP Policy Negotiation</vt:lpstr>
      <vt:lpstr>Configure Pre-Shared Keys</vt:lpstr>
      <vt:lpstr>Configure Pre-Shared Keys</vt:lpstr>
      <vt:lpstr>Configure ISAKMP Identity</vt:lpstr>
      <vt:lpstr>Verify IKE Configuration</vt:lpstr>
      <vt:lpstr>Task 3: Configure the Transform Sets</vt:lpstr>
      <vt:lpstr>IPsec Transforms Supported in IOS</vt:lpstr>
      <vt:lpstr>IPsec Policy Example</vt:lpstr>
      <vt:lpstr>Configure Transform Sets</vt:lpstr>
      <vt:lpstr>Transform Set Negotiation</vt:lpstr>
      <vt:lpstr>Transform Set Negotiation</vt:lpstr>
      <vt:lpstr>Configure Security Association Lifetimes</vt:lpstr>
      <vt:lpstr>Task 4: Configure Crypto ACLs</vt:lpstr>
      <vt:lpstr>Configure Symmetrical Peer Crypto ACL</vt:lpstr>
      <vt:lpstr>Task 5: Apply the Crypto Map</vt:lpstr>
      <vt:lpstr>Configure IPsec Crypto Maps</vt:lpstr>
      <vt:lpstr>Configure IPsec Crypto Maps</vt:lpstr>
      <vt:lpstr>Configure IPsec Crypto Maps</vt:lpstr>
      <vt:lpstr>Applying Crypto Maps to Interfaces</vt:lpstr>
      <vt:lpstr>IPsec Configuration Examples</vt:lpstr>
      <vt:lpstr>Verify IPsec</vt:lpstr>
      <vt:lpstr>clear commands</vt:lpstr>
      <vt:lpstr>View Policy</vt:lpstr>
      <vt:lpstr>View Defined Sets</vt:lpstr>
      <vt:lpstr>Display Phase 1 SA</vt:lpstr>
      <vt:lpstr>View Crypto IPsec SA</vt:lpstr>
      <vt:lpstr>View Configured Crypto Maps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Configuring IPSEC</dc:title>
  <dc:creator>ARTHI CHANDRASEKARAN</dc:creator>
  <cp:lastModifiedBy>ARTHI CHANDRASEKARAN</cp:lastModifiedBy>
  <cp:revision>3</cp:revision>
  <dcterms:created xsi:type="dcterms:W3CDTF">2018-12-19T05:43:20Z</dcterms:created>
  <dcterms:modified xsi:type="dcterms:W3CDTF">2019-01-02T01:06:38Z</dcterms:modified>
</cp:coreProperties>
</file>