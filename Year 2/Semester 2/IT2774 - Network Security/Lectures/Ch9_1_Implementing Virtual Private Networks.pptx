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34" r:id="rId1"/>
    <p:sldMasterId id="2147483797" r:id="rId2"/>
  </p:sldMasterIdLst>
  <p:notesMasterIdLst>
    <p:notesMasterId r:id="rId45"/>
  </p:notesMasterIdLst>
  <p:handoutMasterIdLst>
    <p:handoutMasterId r:id="rId46"/>
  </p:handoutMasterIdLst>
  <p:sldIdLst>
    <p:sldId id="678" r:id="rId3"/>
    <p:sldId id="701" r:id="rId4"/>
    <p:sldId id="802" r:id="rId5"/>
    <p:sldId id="702" r:id="rId6"/>
    <p:sldId id="709" r:id="rId7"/>
    <p:sldId id="717" r:id="rId8"/>
    <p:sldId id="718" r:id="rId9"/>
    <p:sldId id="722" r:id="rId10"/>
    <p:sldId id="725" r:id="rId11"/>
    <p:sldId id="726" r:id="rId12"/>
    <p:sldId id="728" r:id="rId13"/>
    <p:sldId id="729" r:id="rId14"/>
    <p:sldId id="730" r:id="rId15"/>
    <p:sldId id="731" r:id="rId16"/>
    <p:sldId id="732" r:id="rId17"/>
    <p:sldId id="733" r:id="rId18"/>
    <p:sldId id="734" r:id="rId19"/>
    <p:sldId id="735" r:id="rId20"/>
    <p:sldId id="736" r:id="rId21"/>
    <p:sldId id="737" r:id="rId22"/>
    <p:sldId id="738" r:id="rId23"/>
    <p:sldId id="739" r:id="rId24"/>
    <p:sldId id="804" r:id="rId25"/>
    <p:sldId id="805" r:id="rId26"/>
    <p:sldId id="744" r:id="rId27"/>
    <p:sldId id="746" r:id="rId28"/>
    <p:sldId id="807" r:id="rId29"/>
    <p:sldId id="742" r:id="rId30"/>
    <p:sldId id="749" r:id="rId31"/>
    <p:sldId id="750" r:id="rId32"/>
    <p:sldId id="748" r:id="rId33"/>
    <p:sldId id="751" r:id="rId34"/>
    <p:sldId id="752" r:id="rId35"/>
    <p:sldId id="753" r:id="rId36"/>
    <p:sldId id="754" r:id="rId37"/>
    <p:sldId id="755" r:id="rId38"/>
    <p:sldId id="756" r:id="rId39"/>
    <p:sldId id="757" r:id="rId40"/>
    <p:sldId id="758" r:id="rId41"/>
    <p:sldId id="759" r:id="rId42"/>
    <p:sldId id="806" r:id="rId43"/>
    <p:sldId id="686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08"/>
    <a:srgbClr val="EFFFEF"/>
    <a:srgbClr val="004E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10" autoAdjust="0"/>
    <p:restoredTop sz="92990" autoAdjust="0"/>
  </p:normalViewPr>
  <p:slideViewPr>
    <p:cSldViewPr>
      <p:cViewPr varScale="1">
        <p:scale>
          <a:sx n="79" d="100"/>
          <a:sy n="79" d="100"/>
        </p:scale>
        <p:origin x="90" y="6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446"/>
    </p:cViewPr>
  </p:sorterViewPr>
  <p:notesViewPr>
    <p:cSldViewPr>
      <p:cViewPr varScale="1">
        <p:scale>
          <a:sx n="83" d="100"/>
          <a:sy n="83" d="100"/>
        </p:scale>
        <p:origin x="-204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1528AB-8317-4179-B2C5-4621BD51016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6501" name="Text Box 22"/>
          <p:cNvSpPr txBox="1">
            <a:spLocks noChangeArrowheads="1"/>
          </p:cNvSpPr>
          <p:nvPr/>
        </p:nvSpPr>
        <p:spPr bwMode="auto">
          <a:xfrm>
            <a:off x="1066800" y="12700"/>
            <a:ext cx="3440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723" tIns="45862" rIns="91723" bIns="45862">
            <a:spAutoFit/>
          </a:bodyPr>
          <a:lstStyle>
            <a:lvl1pPr defTabSz="91757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1757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1757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1757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1757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900">
                <a:latin typeface="Verdana" pitchFamily="34" charset="0"/>
              </a:rPr>
              <a:t>Diploma in Engineering Informatics</a:t>
            </a:r>
          </a:p>
          <a:p>
            <a:pPr algn="ctr">
              <a:defRPr/>
            </a:pPr>
            <a:r>
              <a:rPr lang="en-US" sz="900">
                <a:latin typeface="Verdana" pitchFamily="34" charset="0"/>
              </a:rPr>
              <a:t>School of Information Technology, Nanyang Polytechnic</a:t>
            </a:r>
          </a:p>
        </p:txBody>
      </p:sp>
      <p:grpSp>
        <p:nvGrpSpPr>
          <p:cNvPr id="12294" name="Group 31"/>
          <p:cNvGrpSpPr>
            <a:grpSpLocks/>
          </p:cNvGrpSpPr>
          <p:nvPr/>
        </p:nvGrpSpPr>
        <p:grpSpPr bwMode="auto">
          <a:xfrm>
            <a:off x="4706938" y="0"/>
            <a:ext cx="2098675" cy="776288"/>
            <a:chOff x="6480" y="13680"/>
            <a:chExt cx="3060" cy="1260"/>
          </a:xfrm>
        </p:grpSpPr>
        <p:sp>
          <p:nvSpPr>
            <p:cNvPr id="106503" name="Text Box 32"/>
            <p:cNvSpPr txBox="1">
              <a:spLocks noChangeArrowheads="1"/>
            </p:cNvSpPr>
            <p:nvPr/>
          </p:nvSpPr>
          <p:spPr bwMode="auto">
            <a:xfrm>
              <a:off x="6480" y="13680"/>
              <a:ext cx="3060" cy="541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defRPr/>
              </a:pPr>
              <a:r>
                <a:rPr lang="en-US" altLang="ko-KR" sz="1000" b="1">
                  <a:latin typeface="Arial Narrow" pitchFamily="34" charset="0"/>
                  <a:ea typeface="Batang" pitchFamily="18" charset="-127"/>
                </a:rPr>
                <a:t>School of Information Technology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6504" name="Text Box 33"/>
            <p:cNvSpPr txBox="1">
              <a:spLocks noChangeArrowheads="1"/>
            </p:cNvSpPr>
            <p:nvPr/>
          </p:nvSpPr>
          <p:spPr bwMode="auto">
            <a:xfrm>
              <a:off x="6480" y="14059"/>
              <a:ext cx="3060" cy="88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defRPr/>
              </a:pPr>
              <a:r>
                <a:rPr lang="en-US" altLang="ko-KR" sz="1200" b="1">
                  <a:latin typeface="Tahoma" pitchFamily="34" charset="0"/>
                  <a:ea typeface="Batang" pitchFamily="18" charset="-127"/>
                </a:rPr>
                <a:t>UNCONTROLLED</a:t>
              </a:r>
            </a:p>
            <a:p>
              <a:pPr algn="ctr">
                <a:defRPr/>
              </a:pPr>
              <a:r>
                <a:rPr lang="en-US" altLang="ko-KR" sz="1200" b="1">
                  <a:latin typeface="Tahoma" pitchFamily="34" charset="0"/>
                  <a:ea typeface="Batang" pitchFamily="18" charset="-127"/>
                </a:rPr>
                <a:t>COPY</a:t>
              </a:r>
              <a:endParaRPr lang="en-US" sz="24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90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C099898C-F3C1-4D0B-A195-E8094C6951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888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9898C-F3C1-4D0B-A195-E8094C69516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84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E859D19-92DA-A548-BF2C-F95AABC3A619}" type="slidenum">
              <a:rPr lang="en-US" sz="800"/>
              <a:pPr/>
              <a:t>3</a:t>
            </a:fld>
            <a:endParaRPr lang="en-US" sz="8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205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C47CF89-FF0C-C442-99BD-80040C615F99}" type="slidenum">
              <a:rPr lang="en-US" sz="800" b="0"/>
              <a:pPr/>
              <a:t>29</a:t>
            </a:fld>
            <a:endParaRPr lang="en-US" sz="800" b="0"/>
          </a:p>
        </p:txBody>
      </p:sp>
      <p:sp>
        <p:nvSpPr>
          <p:cNvPr id="289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89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22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6CE926-5A31-4115-BBFA-C013C0BAB72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21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790575" y="6532563"/>
            <a:ext cx="45720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SG" sz="800" dirty="0">
                <a:solidFill>
                  <a:srgbClr val="0D5A50"/>
                </a:solidFill>
              </a:rPr>
              <a:t>Network Security </a:t>
            </a:r>
            <a:r>
              <a:rPr lang="en-US" sz="800" dirty="0">
                <a:solidFill>
                  <a:srgbClr val="0D5A50"/>
                </a:solidFill>
              </a:rPr>
              <a:t>© </a:t>
            </a:r>
            <a:r>
              <a:rPr lang="en-US" sz="800" dirty="0" err="1">
                <a:solidFill>
                  <a:srgbClr val="0D5A50"/>
                </a:solidFill>
              </a:rPr>
              <a:t>Nanyang</a:t>
            </a:r>
            <a:r>
              <a:rPr lang="en-US" sz="800" dirty="0">
                <a:solidFill>
                  <a:srgbClr val="0D5A50"/>
                </a:solidFill>
              </a:rPr>
              <a:t> Polytechnic</a:t>
            </a:r>
            <a:endParaRPr lang="en-SG" sz="800" dirty="0">
              <a:solidFill>
                <a:srgbClr val="0D5A50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505200" y="4343400"/>
            <a:ext cx="5181600" cy="1975104"/>
          </a:xfrm>
        </p:spPr>
        <p:txBody>
          <a:bodyPr/>
          <a:lstStyle>
            <a:lvl1pPr marR="9144" algn="l">
              <a:defRPr sz="3200" b="1" cap="all" spc="0" baseline="0">
                <a:solidFill>
                  <a:schemeClr val="accent6">
                    <a:lumMod val="50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  <a:latin typeface="Trebuchet MS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505200" y="2834640"/>
            <a:ext cx="51816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3200" b="1">
                <a:solidFill>
                  <a:schemeClr val="bg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3EF8BB-7C6D-44F8-8182-B88F926582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0369"/>
      </p:ext>
    </p:extLst>
  </p:cSld>
  <p:clrMapOvr>
    <a:masterClrMapping/>
  </p:clrMapOvr>
  <p:transition spd="med" advTm="15000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790575" y="6532563"/>
            <a:ext cx="45720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SG" sz="800" dirty="0">
                <a:solidFill>
                  <a:srgbClr val="0D5A50"/>
                </a:solidFill>
              </a:rPr>
              <a:t>Network</a:t>
            </a:r>
            <a:r>
              <a:rPr lang="en-SG" sz="800" baseline="0" dirty="0">
                <a:solidFill>
                  <a:srgbClr val="0D5A50"/>
                </a:solidFill>
              </a:rPr>
              <a:t> Security </a:t>
            </a:r>
            <a:r>
              <a:rPr lang="en-US" sz="800" dirty="0">
                <a:solidFill>
                  <a:srgbClr val="0D5A50"/>
                </a:solidFill>
              </a:rPr>
              <a:t>© </a:t>
            </a:r>
            <a:r>
              <a:rPr lang="en-US" sz="800" dirty="0" err="1">
                <a:solidFill>
                  <a:srgbClr val="0D5A50"/>
                </a:solidFill>
              </a:rPr>
              <a:t>Nanyang</a:t>
            </a:r>
            <a:r>
              <a:rPr lang="en-US" sz="800" dirty="0">
                <a:solidFill>
                  <a:srgbClr val="0D5A50"/>
                </a:solidFill>
              </a:rPr>
              <a:t> Polytechnic</a:t>
            </a:r>
            <a:endParaRPr lang="en-SG" sz="800" dirty="0">
              <a:solidFill>
                <a:srgbClr val="0D5A5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288" y="131765"/>
            <a:ext cx="8139111" cy="6302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287" y="914400"/>
            <a:ext cx="8139111" cy="5441951"/>
          </a:xfrm>
        </p:spPr>
        <p:txBody>
          <a:bodyPr/>
          <a:lstStyle>
            <a:lvl1pPr>
              <a:buClr>
                <a:schemeClr val="accent6">
                  <a:lumMod val="50000"/>
                </a:schemeClr>
              </a:buCl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ED3573-B3DD-4682-880B-EB337D5E1BD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58052"/>
      </p:ext>
    </p:extLst>
  </p:cSld>
  <p:clrMapOvr>
    <a:masterClrMapping/>
  </p:clrMapOvr>
  <p:transition spd="med" advTm="15000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463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914400"/>
            <a:ext cx="8578850" cy="539496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000000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000000"/>
                </a:solidFill>
                <a:latin typeface="+mj-lt"/>
              </a:defRPr>
            </a:lvl2pPr>
            <a:lvl3pPr>
              <a:defRPr>
                <a:solidFill>
                  <a:srgbClr val="000000"/>
                </a:solidFill>
                <a:latin typeface="+mj-lt"/>
              </a:defRPr>
            </a:lvl3pPr>
            <a:lvl4pPr>
              <a:defRPr>
                <a:solidFill>
                  <a:srgbClr val="000000"/>
                </a:solidFill>
                <a:latin typeface="+mj-lt"/>
              </a:defRPr>
            </a:lvl4pPr>
            <a:lvl5pPr>
              <a:defRPr>
                <a:solidFill>
                  <a:srgbClr val="000000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497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4074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Gill Sans MT" panose="020B05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F8BB-7C6D-44F8-8182-B88F926582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41868"/>
      </p:ext>
    </p:extLst>
  </p:cSld>
  <p:clrMapOvr>
    <a:masterClrMapping/>
  </p:clrMapOvr>
  <p:transition spd="med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100">
                <a:latin typeface="Gill Sans MT" panose="020B0502020104020203" pitchFamily="34" charset="0"/>
              </a:defRPr>
            </a:lvl1pPr>
            <a:lvl2pPr>
              <a:defRPr sz="1800">
                <a:latin typeface="Gill Sans MT" panose="020B0502020104020203" pitchFamily="34" charset="0"/>
              </a:defRPr>
            </a:lvl2pPr>
            <a:lvl3pPr>
              <a:defRPr sz="1500">
                <a:latin typeface="Gill Sans MT" panose="020B0502020104020203" pitchFamily="34" charset="0"/>
              </a:defRPr>
            </a:lvl3pPr>
            <a:lvl4pPr>
              <a:defRPr sz="1350">
                <a:latin typeface="Gill Sans MT" panose="020B0502020104020203" pitchFamily="34" charset="0"/>
              </a:defRPr>
            </a:lvl4pPr>
            <a:lvl5pPr>
              <a:defRPr sz="135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D3573-B3DD-4682-880B-EB337D5E1B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25349"/>
      </p:ext>
    </p:extLst>
  </p:cSld>
  <p:clrMapOvr>
    <a:masterClrMapping/>
  </p:clrMapOvr>
  <p:transition spd="med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1157-7EA4-48AC-8972-361E86CDC23A}" type="datetimeFigureOut">
              <a:rPr lang="en-SG" smtClean="0"/>
              <a:t>19/12/2018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80D96-96DC-4F0E-B80E-7CF35BCF94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399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193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770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9319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9379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7599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0977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2022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687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914400"/>
            <a:ext cx="8578850" cy="539496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000000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000000"/>
                </a:solidFill>
                <a:latin typeface="+mj-lt"/>
              </a:defRPr>
            </a:lvl2pPr>
            <a:lvl3pPr>
              <a:defRPr>
                <a:solidFill>
                  <a:srgbClr val="000000"/>
                </a:solidFill>
                <a:latin typeface="+mj-lt"/>
              </a:defRPr>
            </a:lvl3pPr>
            <a:lvl4pPr>
              <a:defRPr>
                <a:solidFill>
                  <a:srgbClr val="000000"/>
                </a:solidFill>
                <a:latin typeface="+mj-lt"/>
              </a:defRPr>
            </a:lvl4pPr>
            <a:lvl5pPr>
              <a:defRPr>
                <a:solidFill>
                  <a:srgbClr val="000000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450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5AB0AF"/>
            </a:gs>
            <a:gs pos="70000">
              <a:schemeClr val="tx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416675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smtClean="0">
                <a:solidFill>
                  <a:srgbClr val="7F7F7F"/>
                </a:solidFill>
                <a:latin typeface="Trebuchet MS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18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smtClean="0">
                <a:solidFill>
                  <a:srgbClr val="7F7F7F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SG" dirty="0"/>
              <a:t>Network Security       </a:t>
            </a:r>
            <a:r>
              <a:rPr lang="en-US" dirty="0"/>
              <a:t>Copyrights © </a:t>
            </a:r>
            <a:r>
              <a:rPr lang="en-US" dirty="0" err="1"/>
              <a:t>Nanyang</a:t>
            </a:r>
            <a:r>
              <a:rPr lang="en-US" dirty="0"/>
              <a:t>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220075" y="6400800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7F7F7F"/>
                </a:solidFill>
                <a:latin typeface="Trebuchet MS" panose="020B0603020202020204" pitchFamily="34" charset="0"/>
              </a:defRPr>
            </a:lvl1pPr>
          </a:lstStyle>
          <a:p>
            <a:fld id="{D9F99235-E2F7-43E8-9613-EEAE08E7579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776288" y="152400"/>
            <a:ext cx="8139111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776287" y="1090613"/>
            <a:ext cx="8139111" cy="526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40" name="Picture 19" descr="PTDID_PPTsub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-3175"/>
            <a:ext cx="16541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1" name="Rectangle 18"/>
          <p:cNvSpPr>
            <a:spLocks noChangeArrowheads="1"/>
          </p:cNvSpPr>
          <p:nvPr/>
        </p:nvSpPr>
        <p:spPr bwMode="auto">
          <a:xfrm rot="-5400000">
            <a:off x="-1472406" y="1227931"/>
            <a:ext cx="36195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chemeClr val="bg1"/>
                </a:solidFill>
                <a:latin typeface="Trebuchet MS" panose="020B0603020202020204" pitchFamily="34" charset="0"/>
              </a:rPr>
              <a:t>Infocomm &amp; Digital Media</a:t>
            </a:r>
          </a:p>
          <a:p>
            <a:pPr eaLnBrk="1" hangingPunct="1"/>
            <a:r>
              <a:rPr lang="en-US" sz="1200">
                <a:solidFill>
                  <a:schemeClr val="bg1"/>
                </a:solidFill>
                <a:latin typeface="Trebuchet MS" panose="020B0603020202020204" pitchFamily="34" charset="0"/>
              </a:rPr>
              <a:t>(IT Network and System Administration)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2" r:id="rId3"/>
    <p:sldLayoutId id="2147483795" r:id="rId4"/>
    <p:sldLayoutId id="2147483796" r:id="rId5"/>
  </p:sldLayoutIdLst>
  <p:transition spd="med" advTm="15000">
    <p:comb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  <a:ea typeface="Trebuchet MS" pitchFamily="34" charset="0"/>
          <a:cs typeface="Trebuchet MS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  <a:ea typeface="Trebuchet MS" pitchFamily="34" charset="0"/>
          <a:cs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  <a:ea typeface="Trebuchet MS" pitchFamily="34" charset="0"/>
          <a:cs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  <a:ea typeface="Trebuchet MS" pitchFamily="34" charset="0"/>
          <a:cs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  <a:ea typeface="Trebuchet MS" pitchFamily="34" charset="0"/>
          <a:cs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24C00"/>
          </a:solidFill>
          <a:latin typeface="Trebuchet MS" pitchFamily="34" charset="0"/>
        </a:defRPr>
      </a:lvl9pPr>
    </p:titleStyle>
    <p:bodyStyle>
      <a:lvl1pPr marL="411163" indent="-342900" algn="l" rtl="0" eaLnBrk="0" fontAlgn="base" hangingPunct="0">
        <a:spcBef>
          <a:spcPts val="700"/>
        </a:spcBef>
        <a:spcAft>
          <a:spcPct val="0"/>
        </a:spcAft>
        <a:buClr>
          <a:schemeClr val="accent1"/>
        </a:buClr>
        <a:buSzPct val="95000"/>
        <a:buFont typeface="Wingdings" panose="05000000000000000000" pitchFamily="2" charset="2"/>
        <a:buChar char=""/>
        <a:defRPr sz="2800" kern="1200">
          <a:solidFill>
            <a:srgbClr val="2C7B09"/>
          </a:solidFill>
          <a:latin typeface="Trebuchet MS" pitchFamily="34" charset="0"/>
          <a:ea typeface="Trebuchet MS" pitchFamily="34" charset="0"/>
          <a:cs typeface="Trebuchet MS" pitchFamily="34" charset="0"/>
        </a:defRPr>
      </a:lvl1pPr>
      <a:lvl2pPr marL="739775" indent="-285750" algn="l" rtl="0" eaLnBrk="0" fontAlgn="base" hangingPunct="0">
        <a:spcBef>
          <a:spcPct val="20000"/>
        </a:spcBef>
        <a:spcAft>
          <a:spcPct val="0"/>
        </a:spcAft>
        <a:buClr>
          <a:srgbClr val="007EEA"/>
        </a:buClr>
        <a:buSzPct val="90000"/>
        <a:buFont typeface="Wingdings" panose="05000000000000000000" pitchFamily="2" charset="2"/>
        <a:buChar char=""/>
        <a:defRPr sz="2400" kern="1200">
          <a:solidFill>
            <a:srgbClr val="262626"/>
          </a:solidFill>
          <a:latin typeface="Trebuchet MS" pitchFamily="34" charset="0"/>
          <a:ea typeface="Trebuchet MS" pitchFamily="34" charset="0"/>
          <a:cs typeface="Trebuchet MS" pitchFamily="34" charset="0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rgbClr val="61B6FF"/>
        </a:buClr>
        <a:buFont typeface="Wingdings 2" panose="05020102010507070707" pitchFamily="18" charset="2"/>
        <a:buChar char=""/>
        <a:defRPr sz="2200" kern="1200">
          <a:solidFill>
            <a:srgbClr val="262626"/>
          </a:solidFill>
          <a:latin typeface="Trebuchet MS" pitchFamily="34" charset="0"/>
          <a:ea typeface="Trebuchet MS" pitchFamily="34" charset="0"/>
          <a:cs typeface="Trebuchet MS" pitchFamily="34" charset="0"/>
        </a:defRPr>
      </a:lvl3pPr>
      <a:lvl4pPr marL="1260475" indent="-22860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3" panose="05040102010807070707" pitchFamily="18" charset="2"/>
        <a:buChar char=""/>
        <a:defRPr sz="2000" kern="1200">
          <a:solidFill>
            <a:srgbClr val="262626"/>
          </a:solidFill>
          <a:latin typeface="Trebuchet MS" pitchFamily="34" charset="0"/>
          <a:ea typeface="Trebuchet MS" pitchFamily="34" charset="0"/>
          <a:cs typeface="Trebuchet MS" pitchFamily="34" charset="0"/>
        </a:defRPr>
      </a:lvl4pPr>
      <a:lvl5pPr marL="1481138" indent="-2095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2" panose="05020102010507070707" pitchFamily="18" charset="2"/>
        <a:buChar char=""/>
        <a:defRPr sz="2000" kern="1200">
          <a:solidFill>
            <a:srgbClr val="262626"/>
          </a:solidFill>
          <a:latin typeface="Trebuchet MS" pitchFamily="34" charset="0"/>
          <a:ea typeface="Trebuchet MS" pitchFamily="34" charset="0"/>
          <a:cs typeface="Trebuchet MS" pitchFamily="34" charset="0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/>
              <a:t>Network Security       </a:t>
            </a:r>
            <a:r>
              <a:rPr lang="en-US"/>
              <a:t>Copyrights © Nanyang Polytechnic	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99235-E2F7-43E8-9613-EEAE08E757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84" y="156548"/>
            <a:ext cx="1760732" cy="37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</p:sldLayoutIdLst>
  <p:transition spd="med">
    <p:comb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9Jt14PWm3U" TargetMode="External"/><Relationship Id="rId2" Type="http://schemas.openxmlformats.org/officeDocument/2006/relationships/hyperlink" Target="https://www.youtube.com/watch?v=rwu8__GG_rw" TargetMode="Externa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eaLnBrk="1" hangingPunct="1">
              <a:defRPr/>
            </a:pPr>
            <a:br>
              <a:rPr lang="en-US" sz="6000" dirty="0">
                <a:ea typeface="+mj-ea"/>
              </a:rPr>
            </a:br>
            <a:r>
              <a:rPr lang="en-US" sz="6000" dirty="0">
                <a:ea typeface="+mj-ea"/>
              </a:rPr>
              <a:t>Virtual Private Networks</a:t>
            </a:r>
            <a:endParaRPr lang="en-SG" sz="6000" dirty="0">
              <a:ea typeface="+mj-ea"/>
            </a:endParaRP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2400" dirty="0"/>
              <a:t>Chapter 10</a:t>
            </a:r>
            <a:endParaRPr lang="en-SG" sz="2400" dirty="0">
              <a:solidFill>
                <a:srgbClr val="404040"/>
              </a:solidFill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86800" y="6400800"/>
            <a:ext cx="457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F51D9CE-F7C2-4354-8F36-5EB73C23E9BA}" type="slidenum">
              <a:rPr lang="en-US">
                <a:solidFill>
                  <a:srgbClr val="7F7F7F"/>
                </a:solidFill>
                <a:latin typeface="Trebuchet MS" panose="020B0603020202020204" pitchFamily="34" charset="0"/>
              </a:rPr>
              <a:pPr eaLnBrk="1" hangingPunct="1"/>
              <a:t>1</a:t>
            </a:fld>
            <a:endParaRPr lang="en-US">
              <a:solidFill>
                <a:srgbClr val="7F7F7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Conventional Private Networks</a:t>
            </a:r>
          </a:p>
        </p:txBody>
      </p:sp>
      <p:pic>
        <p:nvPicPr>
          <p:cNvPr id="1344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930" y="1883081"/>
            <a:ext cx="3914591" cy="421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1879881"/>
            <a:ext cx="4648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latin typeface="Gill Sans MT" panose="020B0502020104020203" pitchFamily="34" charset="0"/>
              </a:rPr>
              <a:t>The advantage of using private networks such as frame relay, is it’s security.</a:t>
            </a:r>
          </a:p>
          <a:p>
            <a:r>
              <a:rPr lang="en-SG" sz="2800" dirty="0">
                <a:latin typeface="Gill Sans MT" panose="020B0502020104020203" pitchFamily="34" charset="0"/>
              </a:rPr>
              <a:t>However, the high costs, inflexible WAN technologies and complex topologies deter companies from using them.</a:t>
            </a:r>
          </a:p>
        </p:txBody>
      </p:sp>
    </p:spTree>
    <p:extLst>
      <p:ext uri="{BB962C8B-B14F-4D97-AF65-F5344CB8AC3E}">
        <p14:creationId xmlns:p14="http://schemas.microsoft.com/office/powerpoint/2010/main" val="854357942"/>
      </p:ext>
    </p:extLst>
  </p:cSld>
  <p:clrMapOvr>
    <a:masterClrMapping/>
  </p:clrMapOvr>
  <p:transition spd="med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712134" y="152400"/>
            <a:ext cx="8436041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Virtual Private Networks</a:t>
            </a:r>
            <a:endParaRPr lang="en-US" sz="4400" strike="sngStri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313" y="1219200"/>
            <a:ext cx="8496530" cy="3810000"/>
          </a:xfrm>
        </p:spPr>
        <p:txBody>
          <a:bodyPr>
            <a:noAutofit/>
          </a:bodyPr>
          <a:lstStyle/>
          <a:p>
            <a:r>
              <a:rPr lang="en-US" sz="2800" dirty="0"/>
              <a:t>A Virtual Private Network (VPN) is a private network that is created via tunneling over a public network, usually the Internet.</a:t>
            </a:r>
          </a:p>
          <a:p>
            <a:r>
              <a:rPr lang="en-US" sz="2800" dirty="0"/>
              <a:t>VPNs have multiple benefits, including: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Compatibility with different broadband technology 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Cost savings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Security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Scalability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11728"/>
            <a:ext cx="4553243" cy="334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65209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Virtual Private Networks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133600"/>
            <a:ext cx="3629025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" y="1879881"/>
            <a:ext cx="4648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latin typeface="Gill Sans MT" panose="020B0502020104020203" pitchFamily="34" charset="0"/>
              </a:rPr>
              <a:t>VPNs offer the same security advantage but for a lower cost, over the internet which caters for many flexible WAN technologies.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4435885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VPN services for network connectivity include: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Authentication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Data integrity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141773427"/>
      </p:ext>
    </p:extLst>
  </p:cSld>
  <p:clrMapOvr>
    <a:masterClrMapping/>
  </p:clrMapOvr>
  <p:transition spd="med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914399" y="1690688"/>
            <a:ext cx="7904163" cy="461867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Site-to-Site VPNs: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Intranet VPNs connect corporate headquarters, remote offices, and branch offices over a public infrastructure.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Extranet VPNs link customers, suppliers, partners, or communities of interest to a corporate Intranet over a public infrastructure.</a:t>
            </a:r>
          </a:p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Remote Access VPNs: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Which securely connect remote users, such as mobile users and telecommuters, to the enterprise. 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Two Types of VPNs</a:t>
            </a:r>
          </a:p>
        </p:txBody>
      </p:sp>
    </p:spTree>
    <p:extLst>
      <p:ext uri="{BB962C8B-B14F-4D97-AF65-F5344CB8AC3E}">
        <p14:creationId xmlns:p14="http://schemas.microsoft.com/office/powerpoint/2010/main" val="41758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41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97721" y="1431377"/>
            <a:ext cx="8042275" cy="5013960"/>
          </a:xfrm>
        </p:spPr>
        <p:txBody>
          <a:bodyPr/>
          <a:lstStyle/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There are 2 popular site-to-site tunneling protocols: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Cisco Generic Routing Encapsulation (GRE)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IP Security Protocol (IPsec)</a:t>
            </a:r>
          </a:p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When should you use GRE </a:t>
            </a:r>
            <a:r>
              <a:rPr lang="en-US" sz="2800" u="sng" dirty="0">
                <a:latin typeface="Gill Sans MT" panose="020B0502020104020203" pitchFamily="34" charset="0"/>
                <a:cs typeface="Arial" panose="020B0604020202020204" pitchFamily="34" charset="0"/>
              </a:rPr>
              <a:t>and / or</a:t>
            </a:r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 IPsec?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1089984"/>
          </a:xfrm>
        </p:spPr>
        <p:txBody>
          <a:bodyPr>
            <a:normAutofit/>
          </a:bodyPr>
          <a:lstStyle/>
          <a:p>
            <a:r>
              <a:rPr lang="en-US" sz="4400" dirty="0"/>
              <a:t>Site to Site VPNs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97721" y="3429000"/>
            <a:ext cx="7867446" cy="3290903"/>
            <a:chOff x="511728" y="2597949"/>
            <a:chExt cx="8029022" cy="3595703"/>
          </a:xfrm>
        </p:grpSpPr>
        <p:sp>
          <p:nvSpPr>
            <p:cNvPr id="1681414" name="AutoShape 6"/>
            <p:cNvSpPr>
              <a:spLocks noChangeArrowheads="1"/>
            </p:cNvSpPr>
            <p:nvPr/>
          </p:nvSpPr>
          <p:spPr bwMode="auto">
            <a:xfrm>
              <a:off x="511728" y="2945605"/>
              <a:ext cx="1621872" cy="765175"/>
            </a:xfrm>
            <a:prstGeom prst="flowChartProcess">
              <a:avLst/>
            </a:prstGeom>
            <a:solidFill>
              <a:schemeClr val="tx1">
                <a:lumMod val="20000"/>
                <a:lumOff val="80000"/>
              </a:schemeClr>
            </a:solidFill>
            <a:ln w="38100">
              <a:solidFill>
                <a:schemeClr val="accent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82124" tIns="41061" rIns="82124" bIns="41061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 dirty="0">
                  <a:solidFill>
                    <a:srgbClr val="000000"/>
                  </a:solidFill>
                  <a:ea typeface="+mn-ea"/>
                </a:rPr>
                <a:t>User Traffic</a:t>
              </a:r>
            </a:p>
          </p:txBody>
        </p:sp>
        <p:grpSp>
          <p:nvGrpSpPr>
            <p:cNvPr id="2" name="Group 7"/>
            <p:cNvGrpSpPr>
              <a:grpSpLocks/>
            </p:cNvGrpSpPr>
            <p:nvPr/>
          </p:nvGrpSpPr>
          <p:grpSpPr bwMode="auto">
            <a:xfrm>
              <a:off x="2133600" y="2597949"/>
              <a:ext cx="2057400" cy="1457325"/>
              <a:chOff x="1344" y="1147"/>
              <a:chExt cx="1296" cy="918"/>
            </a:xfrm>
            <a:solidFill>
              <a:schemeClr val="tx1">
                <a:lumMod val="20000"/>
                <a:lumOff val="80000"/>
              </a:schemeClr>
            </a:solidFill>
          </p:grpSpPr>
          <p:sp>
            <p:nvSpPr>
              <p:cNvPr id="1681416" name="AutoShape 8"/>
              <p:cNvSpPr>
                <a:spLocks noChangeArrowheads="1"/>
              </p:cNvSpPr>
              <p:nvPr/>
            </p:nvSpPr>
            <p:spPr bwMode="auto">
              <a:xfrm>
                <a:off x="1584" y="1147"/>
                <a:ext cx="1056" cy="918"/>
              </a:xfrm>
              <a:prstGeom prst="diamond">
                <a:avLst/>
              </a:prstGeom>
              <a:grpFill/>
              <a:ln w="38100">
                <a:solidFill>
                  <a:schemeClr val="accent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82124" tIns="41061" rIns="82124" bIns="41061" anchor="ctr"/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sz="1400">
                    <a:solidFill>
                      <a:srgbClr val="000000"/>
                    </a:solidFill>
                    <a:ea typeface="+mn-ea"/>
                  </a:rPr>
                  <a:t>IP Only?</a:t>
                </a:r>
              </a:p>
            </p:txBody>
          </p:sp>
          <p:cxnSp>
            <p:nvCxnSpPr>
              <p:cNvPr id="40982" name="AutoShape 9"/>
              <p:cNvCxnSpPr>
                <a:cxnSpLocks noChangeShapeType="1"/>
                <a:stCxn id="1681414" idx="3"/>
                <a:endCxn id="1681416" idx="1"/>
              </p:cNvCxnSpPr>
              <p:nvPr/>
            </p:nvCxnSpPr>
            <p:spPr bwMode="auto">
              <a:xfrm flipV="1">
                <a:off x="1344" y="1606"/>
                <a:ext cx="240" cy="1"/>
              </a:xfrm>
              <a:prstGeom prst="straightConnector1">
                <a:avLst/>
              </a:prstGeom>
              <a:grpFill/>
              <a:ln w="57150">
                <a:solidFill>
                  <a:schemeClr val="accent1">
                    <a:lumMod val="50000"/>
                  </a:schemeClr>
                </a:solidFill>
                <a:round/>
                <a:headEnd type="none" w="sm" len="sm"/>
                <a:tailEnd type="triangle" w="sm" len="sm"/>
              </a:ln>
              <a:extLst/>
            </p:spPr>
          </p:cxnSp>
        </p:grp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2681295" y="4055303"/>
              <a:ext cx="1330325" cy="1955821"/>
              <a:chOff x="1689" y="2077"/>
              <a:chExt cx="838" cy="1232"/>
            </a:xfrm>
            <a:solidFill>
              <a:schemeClr val="tx1">
                <a:lumMod val="20000"/>
                <a:lumOff val="80000"/>
              </a:schemeClr>
            </a:solidFill>
          </p:grpSpPr>
          <p:sp>
            <p:nvSpPr>
              <p:cNvPr id="1681419" name="AutoShape 11"/>
              <p:cNvSpPr>
                <a:spLocks noChangeArrowheads="1"/>
              </p:cNvSpPr>
              <p:nvPr/>
            </p:nvSpPr>
            <p:spPr bwMode="auto">
              <a:xfrm>
                <a:off x="1689" y="2618"/>
                <a:ext cx="838" cy="691"/>
              </a:xfrm>
              <a:prstGeom prst="flowChartProcess">
                <a:avLst/>
              </a:prstGeom>
              <a:grpFill/>
              <a:ln w="38100">
                <a:solidFill>
                  <a:schemeClr val="accent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82124" tIns="41061" rIns="82124" bIns="41061" anchor="ctr"/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sz="1400" dirty="0">
                    <a:solidFill>
                      <a:srgbClr val="000000"/>
                    </a:solidFill>
                    <a:ea typeface="+mn-ea"/>
                  </a:rPr>
                  <a:t>Use GRE Tunnel</a:t>
                </a:r>
              </a:p>
            </p:txBody>
          </p:sp>
          <p:cxnSp>
            <p:nvCxnSpPr>
              <p:cNvPr id="40980" name="AutoShape 12"/>
              <p:cNvCxnSpPr>
                <a:cxnSpLocks noChangeShapeType="1"/>
                <a:stCxn id="1681416" idx="2"/>
                <a:endCxn id="1681419" idx="0"/>
              </p:cNvCxnSpPr>
              <p:nvPr/>
            </p:nvCxnSpPr>
            <p:spPr bwMode="auto">
              <a:xfrm flipH="1">
                <a:off x="2108" y="2077"/>
                <a:ext cx="4" cy="541"/>
              </a:xfrm>
              <a:prstGeom prst="straightConnector1">
                <a:avLst/>
              </a:prstGeom>
              <a:grpFill/>
              <a:ln w="57150">
                <a:solidFill>
                  <a:schemeClr val="accent1">
                    <a:lumMod val="50000"/>
                  </a:schemeClr>
                </a:solidFill>
                <a:round/>
                <a:headEnd type="none" w="sm" len="sm"/>
                <a:tailEnd type="triangle" w="sm" len="sm"/>
              </a:ln>
              <a:extLst/>
            </p:spPr>
          </p:cxnSp>
        </p:grpSp>
        <p:sp>
          <p:nvSpPr>
            <p:cNvPr id="1681421" name="Text Box 13"/>
            <p:cNvSpPr txBox="1">
              <a:spLocks noChangeArrowheads="1"/>
            </p:cNvSpPr>
            <p:nvPr/>
          </p:nvSpPr>
          <p:spPr bwMode="auto">
            <a:xfrm>
              <a:off x="2590800" y="4183855"/>
              <a:ext cx="609600" cy="27682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82124" tIns="41061" rIns="82124" bIns="41061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>
                  <a:solidFill>
                    <a:srgbClr val="0000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rPr>
                <a:t>No</a:t>
              </a:r>
            </a:p>
          </p:txBody>
        </p:sp>
        <p:sp>
          <p:nvSpPr>
            <p:cNvPr id="1681422" name="Text Box 14"/>
            <p:cNvSpPr txBox="1">
              <a:spLocks noChangeArrowheads="1"/>
            </p:cNvSpPr>
            <p:nvPr/>
          </p:nvSpPr>
          <p:spPr bwMode="auto">
            <a:xfrm>
              <a:off x="4038600" y="2932905"/>
              <a:ext cx="914400" cy="27682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82124" tIns="41061" rIns="82124" bIns="41061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rPr>
                <a:t>Yes</a:t>
              </a:r>
            </a:p>
          </p:txBody>
        </p:sp>
        <p:sp>
          <p:nvSpPr>
            <p:cNvPr id="1681423" name="Text Box 15"/>
            <p:cNvSpPr txBox="1">
              <a:spLocks noChangeArrowheads="1"/>
            </p:cNvSpPr>
            <p:nvPr/>
          </p:nvSpPr>
          <p:spPr bwMode="auto">
            <a:xfrm>
              <a:off x="4343400" y="5022055"/>
              <a:ext cx="609600" cy="27682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82124" tIns="41061" rIns="82124" bIns="41061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>
                  <a:solidFill>
                    <a:srgbClr val="0000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rPr>
                <a:t>No</a:t>
              </a:r>
            </a:p>
          </p:txBody>
        </p:sp>
        <p:sp>
          <p:nvSpPr>
            <p:cNvPr id="1681424" name="Text Box 16"/>
            <p:cNvSpPr txBox="1">
              <a:spLocks noChangeArrowheads="1"/>
            </p:cNvSpPr>
            <p:nvPr/>
          </p:nvSpPr>
          <p:spPr bwMode="auto">
            <a:xfrm>
              <a:off x="6400800" y="5045868"/>
              <a:ext cx="914400" cy="27682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82124" tIns="41061" rIns="82124" bIns="41061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rgbClr val="0000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rPr>
                <a:t>Yes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4191000" y="3326612"/>
              <a:ext cx="2438400" cy="2867040"/>
              <a:chOff x="2640" y="1610"/>
              <a:chExt cx="1536" cy="1806"/>
            </a:xfrm>
            <a:solidFill>
              <a:schemeClr val="tx1">
                <a:lumMod val="20000"/>
                <a:lumOff val="80000"/>
              </a:schemeClr>
            </a:solidFill>
          </p:grpSpPr>
          <p:sp>
            <p:nvSpPr>
              <p:cNvPr id="1681426" name="AutoShape 18"/>
              <p:cNvSpPr>
                <a:spLocks noChangeArrowheads="1"/>
              </p:cNvSpPr>
              <p:nvPr/>
            </p:nvSpPr>
            <p:spPr bwMode="auto">
              <a:xfrm>
                <a:off x="3072" y="2490"/>
                <a:ext cx="1104" cy="926"/>
              </a:xfrm>
              <a:prstGeom prst="diamond">
                <a:avLst/>
              </a:prstGeom>
              <a:grpFill/>
              <a:ln w="38100">
                <a:solidFill>
                  <a:schemeClr val="accent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0" tIns="0" rIns="0" bIns="0" anchor="ctr"/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sz="1400" dirty="0">
                    <a:solidFill>
                      <a:srgbClr val="000000"/>
                    </a:solidFill>
                    <a:ea typeface="+mn-ea"/>
                  </a:rPr>
                  <a:t>Unicast Only?</a:t>
                </a:r>
              </a:p>
            </p:txBody>
          </p:sp>
          <p:cxnSp>
            <p:nvCxnSpPr>
              <p:cNvPr id="40978" name="AutoShape 19"/>
              <p:cNvCxnSpPr>
                <a:cxnSpLocks noChangeShapeType="1"/>
                <a:stCxn id="1681416" idx="3"/>
                <a:endCxn id="1681426" idx="0"/>
              </p:cNvCxnSpPr>
              <p:nvPr/>
            </p:nvCxnSpPr>
            <p:spPr bwMode="auto">
              <a:xfrm>
                <a:off x="2640" y="1610"/>
                <a:ext cx="984" cy="880"/>
              </a:xfrm>
              <a:prstGeom prst="bentConnector2">
                <a:avLst/>
              </a:prstGeom>
              <a:grpFill/>
              <a:ln w="57150">
                <a:solidFill>
                  <a:schemeClr val="accent1">
                    <a:lumMod val="50000"/>
                  </a:schemeClr>
                </a:solidFill>
                <a:miter lim="800000"/>
                <a:headEnd type="none" w="sm" len="sm"/>
                <a:tailEnd type="triangle" w="sm" len="sm"/>
              </a:ln>
              <a:extLst/>
            </p:spPr>
          </p:cxnSp>
        </p:grpSp>
        <p:cxnSp>
          <p:nvCxnSpPr>
            <p:cNvPr id="1681428" name="AutoShape 20"/>
            <p:cNvCxnSpPr>
              <a:cxnSpLocks noChangeShapeType="1"/>
              <a:stCxn id="1681426" idx="1"/>
              <a:endCxn id="1681419" idx="3"/>
            </p:cNvCxnSpPr>
            <p:nvPr/>
          </p:nvCxnSpPr>
          <p:spPr bwMode="auto">
            <a:xfrm flipH="1">
              <a:off x="4011620" y="5458636"/>
              <a:ext cx="865180" cy="4001"/>
            </a:xfrm>
            <a:prstGeom prst="straightConnector1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6629400" y="4863316"/>
              <a:ext cx="1911350" cy="1187450"/>
              <a:chOff x="4176" y="2580"/>
              <a:chExt cx="1204" cy="748"/>
            </a:xfrm>
            <a:solidFill>
              <a:schemeClr val="tx1">
                <a:lumMod val="20000"/>
                <a:lumOff val="80000"/>
              </a:schemeClr>
            </a:solidFill>
          </p:grpSpPr>
          <p:sp>
            <p:nvSpPr>
              <p:cNvPr id="1681430" name="AutoShape 22"/>
              <p:cNvSpPr>
                <a:spLocks noChangeArrowheads="1"/>
              </p:cNvSpPr>
              <p:nvPr/>
            </p:nvSpPr>
            <p:spPr bwMode="auto">
              <a:xfrm>
                <a:off x="4608" y="2580"/>
                <a:ext cx="772" cy="748"/>
              </a:xfrm>
              <a:prstGeom prst="flowChartProcess">
                <a:avLst/>
              </a:prstGeom>
              <a:grpFill/>
              <a:ln w="38100">
                <a:solidFill>
                  <a:schemeClr val="accent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82124" tIns="41061" rIns="82124" bIns="41061" anchor="ctr"/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sz="1400" dirty="0">
                    <a:solidFill>
                      <a:srgbClr val="000000"/>
                    </a:solidFill>
                    <a:ea typeface="+mn-ea"/>
                  </a:rPr>
                  <a:t>Use IPsec VPN</a:t>
                </a:r>
              </a:p>
            </p:txBody>
          </p:sp>
          <p:cxnSp>
            <p:nvCxnSpPr>
              <p:cNvPr id="40976" name="AutoShape 23"/>
              <p:cNvCxnSpPr>
                <a:cxnSpLocks noChangeShapeType="1"/>
                <a:stCxn id="1681426" idx="3"/>
                <a:endCxn id="1681430" idx="1"/>
              </p:cNvCxnSpPr>
              <p:nvPr/>
            </p:nvCxnSpPr>
            <p:spPr bwMode="auto">
              <a:xfrm flipV="1">
                <a:off x="4176" y="2954"/>
                <a:ext cx="432" cy="1"/>
              </a:xfrm>
              <a:prstGeom prst="straightConnector1">
                <a:avLst/>
              </a:prstGeom>
              <a:grpFill/>
              <a:ln w="57150">
                <a:solidFill>
                  <a:schemeClr val="accent1">
                    <a:lumMod val="50000"/>
                  </a:schemeClr>
                </a:solidFill>
                <a:round/>
                <a:headEnd type="none" w="sm" len="sm"/>
                <a:tailEnd type="triangle" w="sm" len="sm"/>
              </a:ln>
              <a:extLst/>
            </p:spPr>
          </p:cxnSp>
        </p:grpSp>
      </p:grpSp>
    </p:spTree>
    <p:extLst>
      <p:ext uri="{BB962C8B-B14F-4D97-AF65-F5344CB8AC3E}">
        <p14:creationId xmlns:p14="http://schemas.microsoft.com/office/powerpoint/2010/main" val="293398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803875" y="1295400"/>
            <a:ext cx="8014688" cy="50139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GRE can encapsulate almost any type of packet.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Uses IP to create a virtual point-to-point link between Cisco routers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Supports multiprotocol (IP, CLNS, …) and IP multicast tunneling (and therefore routing protocols)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Best suited for site-to-site multiprotocol VPNs</a:t>
            </a:r>
          </a:p>
          <a:p>
            <a:pPr marL="342900" lvl="1" indent="0">
              <a:buNone/>
            </a:pPr>
            <a:endParaRPr lang="en-US" sz="2400" dirty="0"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930274"/>
          </a:xfrm>
        </p:spPr>
        <p:txBody>
          <a:bodyPr>
            <a:normAutofit/>
          </a:bodyPr>
          <a:lstStyle/>
          <a:p>
            <a:r>
              <a:rPr lang="en-US" sz="3600" dirty="0"/>
              <a:t>Generic Routing Encapsulation (GRE)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90900" y="3690938"/>
            <a:ext cx="7640638" cy="3167062"/>
            <a:chOff x="803875" y="3057471"/>
            <a:chExt cx="7640638" cy="3167062"/>
          </a:xfrm>
        </p:grpSpPr>
        <p:pic>
          <p:nvPicPr>
            <p:cNvPr id="1677324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775" y="3741683"/>
              <a:ext cx="5773738" cy="547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77325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3488" y="3057471"/>
              <a:ext cx="4311650" cy="706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77326" name="Picture 1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3363" y="4252858"/>
              <a:ext cx="5026025" cy="197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" name="Group 17"/>
            <p:cNvGrpSpPr>
              <a:grpSpLocks/>
            </p:cNvGrpSpPr>
            <p:nvPr/>
          </p:nvGrpSpPr>
          <p:grpSpPr bwMode="auto">
            <a:xfrm>
              <a:off x="803875" y="3506733"/>
              <a:ext cx="3429000" cy="990600"/>
              <a:chOff x="192" y="2544"/>
              <a:chExt cx="2160" cy="624"/>
            </a:xfrm>
          </p:grpSpPr>
          <p:sp>
            <p:nvSpPr>
              <p:cNvPr id="41992" name="Oval 15"/>
              <p:cNvSpPr>
                <a:spLocks noChangeArrowheads="1"/>
              </p:cNvSpPr>
              <p:nvPr/>
            </p:nvSpPr>
            <p:spPr bwMode="auto">
              <a:xfrm>
                <a:off x="192" y="2544"/>
                <a:ext cx="2160" cy="624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82124" tIns="41061" rIns="82124" bIns="41061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993" name="Text Box 16"/>
              <p:cNvSpPr txBox="1">
                <a:spLocks noChangeArrowheads="1"/>
              </p:cNvSpPr>
              <p:nvPr/>
            </p:nvSpPr>
            <p:spPr bwMode="auto">
              <a:xfrm>
                <a:off x="288" y="2640"/>
                <a:ext cx="1104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82296" tIns="36576" rIns="82296" bIns="36576" anchor="ctr" anchorCtr="1"/>
              <a:lstStyle>
                <a:lvl1pPr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200" b="0" dirty="0">
                    <a:solidFill>
                      <a:srgbClr val="FF0000"/>
                    </a:solidFill>
                    <a:latin typeface="Gill Sans MT" panose="020B0502020104020203" pitchFamily="34" charset="0"/>
                  </a:rPr>
                  <a:t>GRE header adds 24 bytes of additional overhead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816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/>
              <a:t>Five Steps to Configuring a GRE Tunnel</a:t>
            </a:r>
          </a:p>
        </p:txBody>
      </p:sp>
      <p:sp>
        <p:nvSpPr>
          <p:cNvPr id="1905670" name="Text Box 6"/>
          <p:cNvSpPr txBox="1">
            <a:spLocks noChangeArrowheads="1"/>
          </p:cNvSpPr>
          <p:nvPr/>
        </p:nvSpPr>
        <p:spPr bwMode="auto">
          <a:xfrm>
            <a:off x="228600" y="4367782"/>
            <a:ext cx="4343400" cy="1251385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square"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R1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(config)# interface tunnel 0</a:t>
            </a:r>
          </a:p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R1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(config–if)# </a:t>
            </a: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ip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 address 10.1.1.1 255.255.255.252</a:t>
            </a:r>
          </a:p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R1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(config–if)# tunnel source serial 0/0</a:t>
            </a:r>
          </a:p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R1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(config–if)# tunnel destination 209.165.200.225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R1(config–if)# tunnel mode </a:t>
            </a: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gre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ip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905672" name="Text Box 8"/>
          <p:cNvSpPr txBox="1">
            <a:spLocks noChangeArrowheads="1"/>
          </p:cNvSpPr>
          <p:nvPr/>
        </p:nvSpPr>
        <p:spPr bwMode="auto">
          <a:xfrm>
            <a:off x="4724400" y="4367782"/>
            <a:ext cx="4343400" cy="1267864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square"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R2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(config)# interface tunnel 0</a:t>
            </a:r>
          </a:p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R2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(config–if)# </a:t>
            </a: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ip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 address 10.1.1.2 255.255.255.252</a:t>
            </a:r>
          </a:p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R2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(config–if)# tunnel source serial 0/0</a:t>
            </a:r>
          </a:p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R2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(config–if)# tunnel destination 209.165.201.1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R2(config–if)# tunnel mode </a:t>
            </a: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gre</a:t>
            </a:r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0"/>
              </a:rPr>
              <a:t>ip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pic>
        <p:nvPicPr>
          <p:cNvPr id="4608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54" y="1539875"/>
            <a:ext cx="8307446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946264"/>
      </p:ext>
    </p:extLst>
  </p:cSld>
  <p:clrMapOvr>
    <a:masterClrMapping/>
  </p:clrMapOvr>
  <p:transition spd="med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93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76287" y="1690688"/>
            <a:ext cx="8042275" cy="461867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A </a:t>
            </a:r>
            <a:r>
              <a:rPr lang="ja-JP" alt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“</a:t>
            </a:r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framework</a:t>
            </a:r>
            <a:r>
              <a:rPr lang="ja-JP" alt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”</a:t>
            </a:r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 of open standards developed by the IETF to create a secure tunnel at the network (IP) layer.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It spells out the rules for secure communications.</a:t>
            </a:r>
          </a:p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IPsec is not bound to any specific encryption or authentication algorithms, keying technology, or security algorithms.</a:t>
            </a:r>
          </a:p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IPsec allows newer and better algorithms to be implemented without patching the existing IPsec standards.</a:t>
            </a:r>
          </a:p>
          <a:p>
            <a:endParaRPr lang="en-US" sz="2400" dirty="0">
              <a:latin typeface="Gill Sans MT" panose="020B0502020104020203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IPsec - Internet Protocol Security</a:t>
            </a:r>
          </a:p>
        </p:txBody>
      </p:sp>
    </p:spTree>
    <p:extLst>
      <p:ext uri="{BB962C8B-B14F-4D97-AF65-F5344CB8AC3E}">
        <p14:creationId xmlns:p14="http://schemas.microsoft.com/office/powerpoint/2010/main" val="275775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IPsec Protocol Framework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7340" y="1219200"/>
            <a:ext cx="7593013" cy="5334000"/>
            <a:chOff x="914400" y="857250"/>
            <a:chExt cx="7593013" cy="5334000"/>
          </a:xfrm>
        </p:grpSpPr>
        <p:pic>
          <p:nvPicPr>
            <p:cNvPr id="50179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857250"/>
              <a:ext cx="2660650" cy="533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80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1466850"/>
              <a:ext cx="4697413" cy="458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02925" name="Text Box 13"/>
            <p:cNvSpPr txBox="1">
              <a:spLocks noChangeArrowheads="1"/>
            </p:cNvSpPr>
            <p:nvPr/>
          </p:nvSpPr>
          <p:spPr bwMode="auto">
            <a:xfrm>
              <a:off x="3983038" y="2154238"/>
              <a:ext cx="422275" cy="265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96" tIns="36576" rIns="82296" bIns="36576" anchorCtr="1">
              <a:spAutoFit/>
            </a:bodyPr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/>
                <a:t>AH</a:t>
              </a:r>
            </a:p>
          </p:txBody>
        </p:sp>
        <p:sp>
          <p:nvSpPr>
            <p:cNvPr id="1702927" name="Text Box 15"/>
            <p:cNvSpPr txBox="1">
              <a:spLocks noChangeArrowheads="1"/>
            </p:cNvSpPr>
            <p:nvPr/>
          </p:nvSpPr>
          <p:spPr bwMode="auto">
            <a:xfrm>
              <a:off x="4884738" y="2155825"/>
              <a:ext cx="522287" cy="265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96" tIns="36576" rIns="82296" bIns="36576" anchorCtr="1">
              <a:spAutoFit/>
            </a:bodyPr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/>
                <a:t>ESP</a:t>
              </a:r>
            </a:p>
          </p:txBody>
        </p:sp>
        <p:sp>
          <p:nvSpPr>
            <p:cNvPr id="1702928" name="Text Box 16"/>
            <p:cNvSpPr txBox="1">
              <a:spLocks noChangeArrowheads="1"/>
            </p:cNvSpPr>
            <p:nvPr/>
          </p:nvSpPr>
          <p:spPr bwMode="auto">
            <a:xfrm>
              <a:off x="5824538" y="2076450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ESP + AH</a:t>
              </a:r>
            </a:p>
          </p:txBody>
        </p:sp>
        <p:sp>
          <p:nvSpPr>
            <p:cNvPr id="1702929" name="Text Box 17"/>
            <p:cNvSpPr txBox="1">
              <a:spLocks noChangeArrowheads="1"/>
            </p:cNvSpPr>
            <p:nvPr/>
          </p:nvSpPr>
          <p:spPr bwMode="auto">
            <a:xfrm>
              <a:off x="4843463" y="2914650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DES</a:t>
              </a:r>
            </a:p>
          </p:txBody>
        </p:sp>
        <p:sp>
          <p:nvSpPr>
            <p:cNvPr id="1702930" name="Text Box 18"/>
            <p:cNvSpPr txBox="1">
              <a:spLocks noChangeArrowheads="1"/>
            </p:cNvSpPr>
            <p:nvPr/>
          </p:nvSpPr>
          <p:spPr bwMode="auto">
            <a:xfrm>
              <a:off x="5830888" y="2914650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3</a:t>
              </a:r>
            </a:p>
            <a:p>
              <a:pPr algn="ctr">
                <a:lnSpc>
                  <a:spcPct val="100000"/>
                </a:lnSpc>
              </a:pPr>
              <a:r>
                <a:rPr lang="en-US" sz="1400"/>
                <a:t>DES</a:t>
              </a:r>
            </a:p>
          </p:txBody>
        </p:sp>
        <p:sp>
          <p:nvSpPr>
            <p:cNvPr id="1702931" name="Text Box 19"/>
            <p:cNvSpPr txBox="1">
              <a:spLocks noChangeArrowheads="1"/>
            </p:cNvSpPr>
            <p:nvPr/>
          </p:nvSpPr>
          <p:spPr bwMode="auto">
            <a:xfrm>
              <a:off x="6705600" y="2914650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AES</a:t>
              </a:r>
            </a:p>
          </p:txBody>
        </p:sp>
        <p:sp>
          <p:nvSpPr>
            <p:cNvPr id="1702932" name="Text Box 20"/>
            <p:cNvSpPr txBox="1">
              <a:spLocks noChangeArrowheads="1"/>
            </p:cNvSpPr>
            <p:nvPr/>
          </p:nvSpPr>
          <p:spPr bwMode="auto">
            <a:xfrm>
              <a:off x="7620000" y="2914650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SEAL</a:t>
              </a:r>
            </a:p>
          </p:txBody>
        </p:sp>
        <p:sp>
          <p:nvSpPr>
            <p:cNvPr id="1702933" name="Text Box 21"/>
            <p:cNvSpPr txBox="1">
              <a:spLocks noChangeArrowheads="1"/>
            </p:cNvSpPr>
            <p:nvPr/>
          </p:nvSpPr>
          <p:spPr bwMode="auto">
            <a:xfrm>
              <a:off x="3886200" y="375285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MD5</a:t>
              </a:r>
            </a:p>
          </p:txBody>
        </p:sp>
        <p:sp>
          <p:nvSpPr>
            <p:cNvPr id="1702934" name="Text Box 22"/>
            <p:cNvSpPr txBox="1">
              <a:spLocks noChangeArrowheads="1"/>
            </p:cNvSpPr>
            <p:nvPr/>
          </p:nvSpPr>
          <p:spPr bwMode="auto">
            <a:xfrm>
              <a:off x="4821238" y="375285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SHA</a:t>
              </a:r>
            </a:p>
          </p:txBody>
        </p:sp>
        <p:sp>
          <p:nvSpPr>
            <p:cNvPr id="1702935" name="Text Box 23"/>
            <p:cNvSpPr txBox="1">
              <a:spLocks noChangeArrowheads="1"/>
            </p:cNvSpPr>
            <p:nvPr/>
          </p:nvSpPr>
          <p:spPr bwMode="auto">
            <a:xfrm>
              <a:off x="3897313" y="4548188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PSK</a:t>
              </a:r>
            </a:p>
          </p:txBody>
        </p:sp>
        <p:sp>
          <p:nvSpPr>
            <p:cNvPr id="1702936" name="Text Box 24"/>
            <p:cNvSpPr txBox="1">
              <a:spLocks noChangeArrowheads="1"/>
            </p:cNvSpPr>
            <p:nvPr/>
          </p:nvSpPr>
          <p:spPr bwMode="auto">
            <a:xfrm>
              <a:off x="4776788" y="451485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RSA</a:t>
              </a:r>
            </a:p>
          </p:txBody>
        </p:sp>
        <p:sp>
          <p:nvSpPr>
            <p:cNvPr id="1702937" name="Text Box 25"/>
            <p:cNvSpPr txBox="1">
              <a:spLocks noChangeArrowheads="1"/>
            </p:cNvSpPr>
            <p:nvPr/>
          </p:nvSpPr>
          <p:spPr bwMode="auto">
            <a:xfrm>
              <a:off x="3886200" y="538638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/>
                <a:t>DH1</a:t>
              </a:r>
            </a:p>
          </p:txBody>
        </p:sp>
        <p:sp>
          <p:nvSpPr>
            <p:cNvPr id="1702938" name="Text Box 26"/>
            <p:cNvSpPr txBox="1">
              <a:spLocks noChangeArrowheads="1"/>
            </p:cNvSpPr>
            <p:nvPr/>
          </p:nvSpPr>
          <p:spPr bwMode="auto">
            <a:xfrm>
              <a:off x="4820814" y="538638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 dirty="0" err="1"/>
                <a:t>DH2</a:t>
              </a:r>
              <a:endParaRPr lang="en-US" sz="1400" dirty="0"/>
            </a:p>
          </p:txBody>
        </p:sp>
        <p:sp>
          <p:nvSpPr>
            <p:cNvPr id="1702939" name="Text Box 27"/>
            <p:cNvSpPr txBox="1">
              <a:spLocks noChangeArrowheads="1"/>
            </p:cNvSpPr>
            <p:nvPr/>
          </p:nvSpPr>
          <p:spPr bwMode="auto">
            <a:xfrm>
              <a:off x="5820745" y="538638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 dirty="0" err="1"/>
                <a:t>DH5</a:t>
              </a:r>
              <a:endParaRPr lang="en-US" sz="1400" dirty="0"/>
            </a:p>
          </p:txBody>
        </p:sp>
        <p:sp>
          <p:nvSpPr>
            <p:cNvPr id="1702940" name="Text Box 28"/>
            <p:cNvSpPr txBox="1">
              <a:spLocks noChangeArrowheads="1"/>
            </p:cNvSpPr>
            <p:nvPr/>
          </p:nvSpPr>
          <p:spPr bwMode="auto">
            <a:xfrm>
              <a:off x="6677607" y="538638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 dirty="0" err="1"/>
                <a:t>DH7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645785"/>
      </p:ext>
    </p:extLst>
  </p:cSld>
  <p:clrMapOvr>
    <a:masterClrMapping/>
  </p:clrMapOvr>
  <p:transition spd="med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7716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8492" y="1355231"/>
            <a:ext cx="7239000" cy="5475287"/>
          </a:xfrm>
          <a:noFill/>
        </p:spPr>
      </p:pic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08492" y="381000"/>
            <a:ext cx="5768507" cy="1325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4400" dirty="0"/>
              <a:t>IPsec 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2184022398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838" name="Rectangle 6"/>
          <p:cNvSpPr>
            <a:spLocks noChangeArrowheads="1"/>
          </p:cNvSpPr>
          <p:nvPr/>
        </p:nvSpPr>
        <p:spPr bwMode="auto">
          <a:xfrm>
            <a:off x="914400" y="4289425"/>
            <a:ext cx="2590800" cy="1676400"/>
          </a:xfrm>
          <a:prstGeom prst="rect">
            <a:avLst/>
          </a:prstGeom>
          <a:solidFill>
            <a:schemeClr val="bg1">
              <a:alpha val="5882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36576" rIns="82296" bIns="36576" anchor="ctr"/>
          <a:lstStyle/>
          <a:p>
            <a:endParaRPr lang="en-US"/>
          </a:p>
        </p:txBody>
      </p:sp>
      <p:pic>
        <p:nvPicPr>
          <p:cNvPr id="191284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59" y="1371600"/>
            <a:ext cx="7543800" cy="501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91356" y="457200"/>
            <a:ext cx="5768507" cy="1325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4400" dirty="0"/>
              <a:t>IPsec Integrity</a:t>
            </a:r>
          </a:p>
        </p:txBody>
      </p:sp>
    </p:spTree>
    <p:extLst>
      <p:ext uri="{BB962C8B-B14F-4D97-AF65-F5344CB8AC3E}">
        <p14:creationId xmlns:p14="http://schemas.microsoft.com/office/powerpoint/2010/main" val="1172624816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1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28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1817" name="Picture 9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1387" y="1447800"/>
            <a:ext cx="7261225" cy="4960937"/>
          </a:xfrm>
          <a:noFill/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5768507" cy="1325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4400" dirty="0"/>
              <a:t>IPsec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673561877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57200" y="1027907"/>
            <a:ext cx="7593013" cy="5695950"/>
            <a:chOff x="914400" y="577320"/>
            <a:chExt cx="7593013" cy="5695950"/>
          </a:xfrm>
        </p:grpSpPr>
        <p:pic>
          <p:nvPicPr>
            <p:cNvPr id="5530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577320"/>
              <a:ext cx="2660650" cy="533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0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1244070"/>
              <a:ext cx="4697413" cy="458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2" name="Text Box 6"/>
            <p:cNvSpPr txBox="1">
              <a:spLocks noChangeArrowheads="1"/>
            </p:cNvSpPr>
            <p:nvPr/>
          </p:nvSpPr>
          <p:spPr bwMode="auto">
            <a:xfrm>
              <a:off x="3983038" y="1874308"/>
              <a:ext cx="425886" cy="267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96" tIns="36576" rIns="82296" bIns="36576" anchorCtr="1">
              <a:spAutoFit/>
            </a:bodyPr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>
                  <a:solidFill>
                    <a:srgbClr val="000000"/>
                  </a:solidFill>
                </a:rPr>
                <a:t>AH</a:t>
              </a:r>
            </a:p>
          </p:txBody>
        </p:sp>
        <p:sp>
          <p:nvSpPr>
            <p:cNvPr id="55303" name="Text Box 7"/>
            <p:cNvSpPr txBox="1">
              <a:spLocks noChangeArrowheads="1"/>
            </p:cNvSpPr>
            <p:nvPr/>
          </p:nvSpPr>
          <p:spPr bwMode="auto">
            <a:xfrm>
              <a:off x="4884738" y="1875895"/>
              <a:ext cx="526876" cy="267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96" tIns="36576" rIns="82296" bIns="36576" anchorCtr="1">
              <a:spAutoFit/>
            </a:bodyPr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>
                  <a:solidFill>
                    <a:srgbClr val="000000"/>
                  </a:solidFill>
                </a:rPr>
                <a:t>ESP</a:t>
              </a:r>
            </a:p>
          </p:txBody>
        </p:sp>
        <p:sp>
          <p:nvSpPr>
            <p:cNvPr id="55304" name="Text Box 8"/>
            <p:cNvSpPr txBox="1">
              <a:spLocks noChangeArrowheads="1"/>
            </p:cNvSpPr>
            <p:nvPr/>
          </p:nvSpPr>
          <p:spPr bwMode="auto">
            <a:xfrm>
              <a:off x="5824538" y="1796520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ESP + AH</a:t>
              </a:r>
            </a:p>
          </p:txBody>
        </p:sp>
        <p:sp>
          <p:nvSpPr>
            <p:cNvPr id="55305" name="Text Box 9"/>
            <p:cNvSpPr txBox="1">
              <a:spLocks noChangeArrowheads="1"/>
            </p:cNvSpPr>
            <p:nvPr/>
          </p:nvSpPr>
          <p:spPr bwMode="auto">
            <a:xfrm>
              <a:off x="4843463" y="2634720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DES</a:t>
              </a:r>
            </a:p>
          </p:txBody>
        </p:sp>
        <p:sp>
          <p:nvSpPr>
            <p:cNvPr id="55306" name="Text Box 10"/>
            <p:cNvSpPr txBox="1">
              <a:spLocks noChangeArrowheads="1"/>
            </p:cNvSpPr>
            <p:nvPr/>
          </p:nvSpPr>
          <p:spPr bwMode="auto">
            <a:xfrm>
              <a:off x="5830888" y="2634720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3</a:t>
              </a:r>
            </a:p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DES</a:t>
              </a:r>
            </a:p>
          </p:txBody>
        </p:sp>
        <p:sp>
          <p:nvSpPr>
            <p:cNvPr id="55307" name="Text Box 11"/>
            <p:cNvSpPr txBox="1">
              <a:spLocks noChangeArrowheads="1"/>
            </p:cNvSpPr>
            <p:nvPr/>
          </p:nvSpPr>
          <p:spPr bwMode="auto">
            <a:xfrm>
              <a:off x="6705600" y="2634720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AES</a:t>
              </a:r>
            </a:p>
          </p:txBody>
        </p:sp>
        <p:sp>
          <p:nvSpPr>
            <p:cNvPr id="55308" name="Text Box 12"/>
            <p:cNvSpPr txBox="1">
              <a:spLocks noChangeArrowheads="1"/>
            </p:cNvSpPr>
            <p:nvPr/>
          </p:nvSpPr>
          <p:spPr bwMode="auto">
            <a:xfrm>
              <a:off x="7620000" y="2634720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SEAL</a:t>
              </a:r>
            </a:p>
          </p:txBody>
        </p:sp>
        <p:sp>
          <p:nvSpPr>
            <p:cNvPr id="55309" name="Text Box 13"/>
            <p:cNvSpPr txBox="1">
              <a:spLocks noChangeArrowheads="1"/>
            </p:cNvSpPr>
            <p:nvPr/>
          </p:nvSpPr>
          <p:spPr bwMode="auto">
            <a:xfrm>
              <a:off x="3886200" y="347292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MD5</a:t>
              </a:r>
            </a:p>
          </p:txBody>
        </p:sp>
        <p:sp>
          <p:nvSpPr>
            <p:cNvPr id="55310" name="Text Box 14"/>
            <p:cNvSpPr txBox="1">
              <a:spLocks noChangeArrowheads="1"/>
            </p:cNvSpPr>
            <p:nvPr/>
          </p:nvSpPr>
          <p:spPr bwMode="auto">
            <a:xfrm>
              <a:off x="4821238" y="347292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SHA</a:t>
              </a:r>
            </a:p>
          </p:txBody>
        </p:sp>
        <p:sp>
          <p:nvSpPr>
            <p:cNvPr id="55311" name="Text Box 15"/>
            <p:cNvSpPr txBox="1">
              <a:spLocks noChangeArrowheads="1"/>
            </p:cNvSpPr>
            <p:nvPr/>
          </p:nvSpPr>
          <p:spPr bwMode="auto">
            <a:xfrm>
              <a:off x="3897313" y="4268258"/>
              <a:ext cx="646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PSK</a:t>
              </a:r>
            </a:p>
          </p:txBody>
        </p:sp>
        <p:sp>
          <p:nvSpPr>
            <p:cNvPr id="55312" name="Text Box 16"/>
            <p:cNvSpPr txBox="1">
              <a:spLocks noChangeArrowheads="1"/>
            </p:cNvSpPr>
            <p:nvPr/>
          </p:nvSpPr>
          <p:spPr bwMode="auto">
            <a:xfrm>
              <a:off x="4776788" y="423492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RSA</a:t>
              </a:r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3886200" y="510645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DH1</a:t>
              </a:r>
            </a:p>
          </p:txBody>
        </p:sp>
        <p:sp>
          <p:nvSpPr>
            <p:cNvPr id="55314" name="Text Box 18"/>
            <p:cNvSpPr txBox="1">
              <a:spLocks noChangeArrowheads="1"/>
            </p:cNvSpPr>
            <p:nvPr/>
          </p:nvSpPr>
          <p:spPr bwMode="auto">
            <a:xfrm>
              <a:off x="4876800" y="510645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DH2</a:t>
              </a:r>
            </a:p>
          </p:txBody>
        </p:sp>
        <p:sp>
          <p:nvSpPr>
            <p:cNvPr id="55315" name="Text Box 19"/>
            <p:cNvSpPr txBox="1">
              <a:spLocks noChangeArrowheads="1"/>
            </p:cNvSpPr>
            <p:nvPr/>
          </p:nvSpPr>
          <p:spPr bwMode="auto">
            <a:xfrm>
              <a:off x="5867400" y="510645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DH5</a:t>
              </a:r>
            </a:p>
          </p:txBody>
        </p:sp>
        <p:sp>
          <p:nvSpPr>
            <p:cNvPr id="55316" name="Text Box 20"/>
            <p:cNvSpPr txBox="1">
              <a:spLocks noChangeArrowheads="1"/>
            </p:cNvSpPr>
            <p:nvPr/>
          </p:nvSpPr>
          <p:spPr bwMode="auto">
            <a:xfrm>
              <a:off x="6705600" y="5106458"/>
              <a:ext cx="646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rgbClr val="000000"/>
                  </a:solidFill>
                </a:rPr>
                <a:t>DH7</a:t>
              </a:r>
            </a:p>
          </p:txBody>
        </p:sp>
        <p:sp>
          <p:nvSpPr>
            <p:cNvPr id="1913879" name="Text Box 23"/>
            <p:cNvSpPr txBox="1">
              <a:spLocks noChangeArrowheads="1"/>
            </p:cNvSpPr>
            <p:nvPr/>
          </p:nvSpPr>
          <p:spPr bwMode="auto">
            <a:xfrm>
              <a:off x="3810000" y="5349345"/>
              <a:ext cx="796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000">
                  <a:solidFill>
                    <a:srgbClr val="000000"/>
                  </a:solidFill>
                </a:rPr>
                <a:t>768 bits</a:t>
              </a:r>
            </a:p>
          </p:txBody>
        </p:sp>
        <p:sp>
          <p:nvSpPr>
            <p:cNvPr id="1913880" name="Text Box 24"/>
            <p:cNvSpPr txBox="1">
              <a:spLocks noChangeArrowheads="1"/>
            </p:cNvSpPr>
            <p:nvPr/>
          </p:nvSpPr>
          <p:spPr bwMode="auto">
            <a:xfrm>
              <a:off x="4751388" y="5350933"/>
              <a:ext cx="796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000">
                  <a:solidFill>
                    <a:srgbClr val="000000"/>
                  </a:solidFill>
                </a:rPr>
                <a:t>1024 bits</a:t>
              </a:r>
            </a:p>
          </p:txBody>
        </p:sp>
        <p:sp>
          <p:nvSpPr>
            <p:cNvPr id="1913881" name="Text Box 25"/>
            <p:cNvSpPr txBox="1">
              <a:spLocks noChangeArrowheads="1"/>
            </p:cNvSpPr>
            <p:nvPr/>
          </p:nvSpPr>
          <p:spPr bwMode="auto">
            <a:xfrm>
              <a:off x="5713413" y="5344583"/>
              <a:ext cx="796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6" tIns="36576" rIns="82296" bIns="36576" anchor="ctr" anchorCtr="1"/>
            <a:lstStyle>
              <a:lvl1pPr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814388"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000">
                  <a:solidFill>
                    <a:srgbClr val="000000"/>
                  </a:solidFill>
                </a:rPr>
                <a:t>1536 bits</a:t>
              </a:r>
            </a:p>
          </p:txBody>
        </p:sp>
        <p:grpSp>
          <p:nvGrpSpPr>
            <p:cNvPr id="2" name="Group 30"/>
            <p:cNvGrpSpPr>
              <a:grpSpLocks/>
            </p:cNvGrpSpPr>
            <p:nvPr/>
          </p:nvGrpSpPr>
          <p:grpSpPr bwMode="auto">
            <a:xfrm>
              <a:off x="3556000" y="4825470"/>
              <a:ext cx="2235200" cy="1447800"/>
              <a:chOff x="2240" y="3216"/>
              <a:chExt cx="1408" cy="912"/>
            </a:xfrm>
          </p:grpSpPr>
          <p:sp>
            <p:nvSpPr>
              <p:cNvPr id="55326" name="Rectangle 26"/>
              <p:cNvSpPr>
                <a:spLocks noChangeArrowheads="1"/>
              </p:cNvSpPr>
              <p:nvPr/>
            </p:nvSpPr>
            <p:spPr bwMode="auto">
              <a:xfrm>
                <a:off x="2240" y="3216"/>
                <a:ext cx="1408" cy="912"/>
              </a:xfrm>
              <a:prstGeom prst="rect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82296" tIns="36576" rIns="82296" bIns="36576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5327" name="Text Box 27"/>
              <p:cNvSpPr txBox="1">
                <a:spLocks noChangeArrowheads="1"/>
              </p:cNvSpPr>
              <p:nvPr/>
            </p:nvSpPr>
            <p:spPr bwMode="auto">
              <a:xfrm>
                <a:off x="2247" y="3913"/>
                <a:ext cx="133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296" tIns="36576" rIns="82296" bIns="36576" anchorCtr="1">
                <a:spAutoFit/>
              </a:bodyPr>
              <a:lstStyle>
                <a:lvl1pPr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1400" b="0" dirty="0">
                    <a:solidFill>
                      <a:srgbClr val="000000"/>
                    </a:solidFill>
                  </a:rPr>
                  <a:t>Used by DES and 3DES</a:t>
                </a:r>
              </a:p>
            </p:txBody>
          </p:sp>
        </p:grpSp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4724400" y="4825470"/>
              <a:ext cx="2235200" cy="1447800"/>
              <a:chOff x="2976" y="3216"/>
              <a:chExt cx="1408" cy="912"/>
            </a:xfrm>
          </p:grpSpPr>
          <p:sp>
            <p:nvSpPr>
              <p:cNvPr id="55324" name="Rectangle 28"/>
              <p:cNvSpPr>
                <a:spLocks noChangeArrowheads="1"/>
              </p:cNvSpPr>
              <p:nvPr/>
            </p:nvSpPr>
            <p:spPr bwMode="auto">
              <a:xfrm>
                <a:off x="2976" y="3216"/>
                <a:ext cx="1408" cy="912"/>
              </a:xfrm>
              <a:prstGeom prst="rect">
                <a:avLst/>
              </a:prstGeom>
              <a:noFill/>
              <a:ln w="28575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82296" tIns="36576" rIns="82296" bIns="36576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5325" name="Text Box 29"/>
              <p:cNvSpPr txBox="1">
                <a:spLocks noChangeArrowheads="1"/>
              </p:cNvSpPr>
              <p:nvPr/>
            </p:nvSpPr>
            <p:spPr bwMode="auto">
              <a:xfrm>
                <a:off x="3609" y="3921"/>
                <a:ext cx="771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296" tIns="36576" rIns="82296" bIns="36576" anchorCtr="1">
                <a:spAutoFit/>
              </a:bodyPr>
              <a:lstStyle>
                <a:lvl1pPr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defTabSz="814388"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defTabSz="814388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1400" b="0" dirty="0">
                    <a:solidFill>
                      <a:srgbClr val="000000"/>
                    </a:solidFill>
                  </a:rPr>
                  <a:t>Used by AES</a:t>
                </a:r>
              </a:p>
            </p:txBody>
          </p:sp>
        </p:grpSp>
      </p:grp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Secure Key Exchange</a:t>
            </a:r>
          </a:p>
        </p:txBody>
      </p:sp>
    </p:spTree>
    <p:extLst>
      <p:ext uri="{BB962C8B-B14F-4D97-AF65-F5344CB8AC3E}">
        <p14:creationId xmlns:p14="http://schemas.microsoft.com/office/powerpoint/2010/main" val="1571014799"/>
      </p:ext>
    </p:extLst>
  </p:cSld>
  <p:clrMapOvr>
    <a:masterClrMapping/>
  </p:clrMapOvr>
  <p:transition spd="med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53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85358" y="1463040"/>
            <a:ext cx="7751763" cy="32613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IPsec uses two main protocols to create a security framework: </a:t>
            </a:r>
          </a:p>
          <a:p>
            <a:pPr lvl="1"/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AH: Authentication Header </a:t>
            </a:r>
          </a:p>
          <a:p>
            <a:pPr lvl="1"/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ESP: Encapsulating Security Payload</a:t>
            </a:r>
          </a:p>
          <a:p>
            <a:pPr lvl="1"/>
            <a:endParaRPr lang="en-US" sz="2800" dirty="0"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IPsec Framework Protocols</a:t>
            </a:r>
          </a:p>
        </p:txBody>
      </p:sp>
    </p:spTree>
    <p:extLst>
      <p:ext uri="{BB962C8B-B14F-4D97-AF65-F5344CB8AC3E}">
        <p14:creationId xmlns:p14="http://schemas.microsoft.com/office/powerpoint/2010/main" val="362552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108267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Authentication Header (AH)</a:t>
            </a:r>
          </a:p>
        </p:txBody>
      </p:sp>
      <p:pic>
        <p:nvPicPr>
          <p:cNvPr id="5734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9" y="3455919"/>
            <a:ext cx="5329003" cy="3417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443628" y="1371600"/>
            <a:ext cx="8256744" cy="2667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provides authentication and optional replay-detection services using PSK or RSA. 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</a:rPr>
              <a:t>It supports DH Secure key exchange and operates on protocol number 51.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</a:rPr>
              <a:t>supports integrity via hash verification using HMAC-MD5 and HMAC-SHA-1 algorithms. </a:t>
            </a:r>
          </a:p>
          <a:p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73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76287" y="1524000"/>
            <a:ext cx="8042275" cy="47853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AH does not provide confidentiality (encryption).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It is appropriate to use when confidentiality is not required or permitted.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All text is transported unencrypted. </a:t>
            </a:r>
          </a:p>
          <a:p>
            <a:r>
              <a:rPr lang="en-US" sz="2800" dirty="0">
                <a:latin typeface="Gill Sans MT" panose="020B0502020104020203" pitchFamily="34" charset="0"/>
              </a:rPr>
              <a:t>It only ensures the origin of the data and verifies that the data has not been modified during transit.(integrity assured) </a:t>
            </a:r>
          </a:p>
          <a:p>
            <a:r>
              <a:rPr lang="en-US" sz="2800" dirty="0">
                <a:latin typeface="Gill Sans MT" panose="020B0502020104020203" pitchFamily="34" charset="0"/>
              </a:rPr>
              <a:t>If the AH protocol is used alone, it provides weak protection.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Authentication Header (AH)</a:t>
            </a:r>
          </a:p>
        </p:txBody>
      </p:sp>
    </p:spTree>
    <p:extLst>
      <p:ext uri="{BB962C8B-B14F-4D97-AF65-F5344CB8AC3E}">
        <p14:creationId xmlns:p14="http://schemas.microsoft.com/office/powerpoint/2010/main" val="291784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62000" y="1447800"/>
            <a:ext cx="8042275" cy="44805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ESP provides the same security services as AH (authentication and integrity) </a:t>
            </a:r>
            <a:r>
              <a:rPr lang="en-US" sz="2400" u="sng" dirty="0">
                <a:latin typeface="Gill Sans MT" panose="020B0502020104020203" pitchFamily="34" charset="0"/>
              </a:rPr>
              <a:t>AND</a:t>
            </a:r>
            <a:r>
              <a:rPr lang="en-US" sz="2400" dirty="0">
                <a:latin typeface="Gill Sans MT" panose="020B0502020104020203" pitchFamily="34" charset="0"/>
              </a:rPr>
              <a:t> encryption service. 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</a:rPr>
              <a:t>It encapsulates the data to be protected. </a:t>
            </a:r>
          </a:p>
          <a:p>
            <a:pPr marL="179388" lvl="1"/>
            <a:r>
              <a:rPr lang="en-US" sz="2400" dirty="0">
                <a:latin typeface="Gill Sans MT" panose="020B0502020104020203" pitchFamily="34" charset="0"/>
              </a:rPr>
              <a:t>It operates on protocol number 50.</a:t>
            </a:r>
          </a:p>
          <a:p>
            <a:endParaRPr lang="en-US" sz="2400" dirty="0">
              <a:latin typeface="Gill Sans MT" panose="020B0502020104020203" pitchFamily="34" charset="0"/>
            </a:endParaRPr>
          </a:p>
          <a:p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Encapsulating Security Payload (ESP)</a:t>
            </a:r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599" y="3366391"/>
            <a:ext cx="4927599" cy="3456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52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609599" y="1295400"/>
            <a:ext cx="8208963" cy="501396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ill Sans MT" panose="020B0502020104020203" pitchFamily="34" charset="0"/>
              </a:rPr>
              <a:t>ESP can also provide integrity and authentication. </a:t>
            </a:r>
          </a:p>
          <a:p>
            <a:pPr marL="179388" lvl="1"/>
            <a:r>
              <a:rPr lang="en-US" sz="2000" dirty="0">
                <a:latin typeface="Gill Sans MT" panose="020B0502020104020203" pitchFamily="34" charset="0"/>
              </a:rPr>
              <a:t>First, the payload is encrypted using DES (default), 3DES, AES, or SEAL. </a:t>
            </a:r>
          </a:p>
          <a:p>
            <a:pPr marL="179388" lvl="1"/>
            <a:r>
              <a:rPr lang="en-US" sz="2000" dirty="0">
                <a:latin typeface="Gill Sans MT" panose="020B0502020104020203" pitchFamily="34" charset="0"/>
              </a:rPr>
              <a:t>Next, the encrypted payload is hashed to provide data integrity using HMAC-MD5 or HMAC-SHA-1.</a:t>
            </a:r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Encapsulating Security Payload (ESP)</a:t>
            </a:r>
          </a:p>
        </p:txBody>
      </p:sp>
      <p:pic>
        <p:nvPicPr>
          <p:cNvPr id="19159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" y="2895600"/>
            <a:ext cx="7126287" cy="398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241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846137" y="1295401"/>
            <a:ext cx="7972425" cy="498596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ESP and AH can be applied to IP packets in two different modes.</a:t>
            </a:r>
          </a:p>
          <a:p>
            <a:pPr>
              <a:buFont typeface="Wingdings" charset="0"/>
              <a:buNone/>
            </a:pP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39295" y="205487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Transport Mode and Tunnel Mode</a:t>
            </a:r>
          </a:p>
        </p:txBody>
      </p:sp>
      <p:pic>
        <p:nvPicPr>
          <p:cNvPr id="19179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88" y="1857957"/>
            <a:ext cx="3884612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179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8" y="3058588"/>
            <a:ext cx="7472362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179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39245"/>
            <a:ext cx="7620000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32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1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1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76287" y="1447800"/>
            <a:ext cx="8042275" cy="48615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Security is provided only for the Transport Layer and above.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It protects the payload but leaves the original IP address in plaintext. </a:t>
            </a:r>
          </a:p>
          <a:p>
            <a:r>
              <a:rPr lang="en-US" sz="2400" dirty="0">
                <a:latin typeface="Gill Sans MT" panose="020B0502020104020203" pitchFamily="34" charset="0"/>
              </a:rPr>
              <a:t>ESP transport mode is used between hosts. </a:t>
            </a:r>
          </a:p>
          <a:p>
            <a:r>
              <a:rPr lang="en-US" sz="2400" dirty="0">
                <a:latin typeface="Gill Sans MT" panose="020B0502020104020203" pitchFamily="34" charset="0"/>
              </a:rPr>
              <a:t>Transport mode works well with GRE, because GRE hides the addresses of the end devices by adding its own IP.</a:t>
            </a: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Transport Mode</a:t>
            </a:r>
          </a:p>
        </p:txBody>
      </p:sp>
      <p:pic>
        <p:nvPicPr>
          <p:cNvPr id="19189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00588"/>
            <a:ext cx="7472363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575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76287" y="1690688"/>
            <a:ext cx="8042275" cy="461867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Tunnel mode provides security for the complete original IP packet.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The original IP packet is encrypted and then it is encapsulated in another IP packet (IP-in-IP encryption). </a:t>
            </a:r>
          </a:p>
          <a:p>
            <a:r>
              <a:rPr lang="en-US" sz="2400" dirty="0">
                <a:latin typeface="Gill Sans MT" panose="020B0502020104020203" pitchFamily="34" charset="0"/>
              </a:rPr>
              <a:t>ESP tunnel mode is used in remote access and site-to-site implementations.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Tunnel Mode</a:t>
            </a:r>
          </a:p>
        </p:txBody>
      </p:sp>
      <p:pic>
        <p:nvPicPr>
          <p:cNvPr id="19200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4" y="4114800"/>
            <a:ext cx="7620000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63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How does IPsec work?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9798398"/>
      </p:ext>
    </p:extLst>
  </p:cSld>
  <p:clrMapOvr>
    <a:masterClrMapping/>
  </p:clrMapOvr>
  <p:transition spd="med">
    <p:comb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dirty="0"/>
              <a:t>Understanding some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800" dirty="0"/>
              <a:t>Internet Key Exchange</a:t>
            </a:r>
          </a:p>
          <a:p>
            <a:r>
              <a:rPr lang="en-SG" sz="2800" dirty="0"/>
              <a:t>Security Associations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D3573-B3DD-4682-880B-EB337D5E1BD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23322"/>
      </p:ext>
    </p:extLst>
  </p:cSld>
  <p:clrMapOvr>
    <a:masterClrMapping/>
  </p:clrMapOvr>
  <p:transition spd="med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838199" y="1690689"/>
            <a:ext cx="7980363" cy="461867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Gill Sans MT" panose="020B0502020104020203" pitchFamily="34" charset="0"/>
              </a:rPr>
              <a:t>IKE helps IPsec securely exchange cryptographic keys between distant devices.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Gill Sans MT" panose="020B0502020104020203" pitchFamily="34" charset="0"/>
              </a:rPr>
              <a:t>Key Management can be preconfigured with </a:t>
            </a:r>
            <a:r>
              <a:rPr lang="en-SG" sz="2800" dirty="0">
                <a:latin typeface="Gill Sans MT" panose="020B0502020104020203" pitchFamily="34" charset="0"/>
              </a:rPr>
              <a:t>Internet Security Association and Key Management Protocol</a:t>
            </a:r>
            <a:r>
              <a:rPr lang="en-US" sz="2800" dirty="0">
                <a:latin typeface="Gill Sans MT" panose="020B0502020104020203" pitchFamily="34" charset="0"/>
              </a:rPr>
              <a:t>(ISAKMP) or with a manual key configuration.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Gill Sans MT" panose="020B0502020104020203" pitchFamily="34" charset="0"/>
              </a:rPr>
              <a:t>IKE and ISAKMP are often used interchangeably.</a:t>
            </a:r>
          </a:p>
          <a:p>
            <a:r>
              <a:rPr lang="en-US" sz="2800" dirty="0">
                <a:latin typeface="Gill Sans MT" panose="020B0502020104020203" pitchFamily="34" charset="0"/>
                <a:cs typeface="Arial" charset="0"/>
              </a:rPr>
              <a:t>The IKE tunnel protects the SA negotiations. 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After the SAs are in place, IPsec protects the data that the devices exchange.</a:t>
            </a: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IKE - Internet Key Exchange</a:t>
            </a:r>
          </a:p>
        </p:txBody>
      </p:sp>
    </p:spTree>
    <p:extLst>
      <p:ext uri="{BB962C8B-B14F-4D97-AF65-F5344CB8AC3E}">
        <p14:creationId xmlns:p14="http://schemas.microsoft.com/office/powerpoint/2010/main" val="333152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62000" y="1524000"/>
            <a:ext cx="8042275" cy="502824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7030A0"/>
                </a:solidFill>
                <a:latin typeface="Gill Sans MT" panose="020B0502020104020203" pitchFamily="34" charset="0"/>
              </a:rPr>
              <a:t>There are two phases in every IKE negotiation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7030A0"/>
                </a:solidFill>
                <a:latin typeface="Gill Sans MT" panose="020B0502020104020203" pitchFamily="34" charset="0"/>
              </a:rPr>
              <a:t>Phase 1 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Authenticates and protects the identities of the </a:t>
            </a:r>
            <a:r>
              <a:rPr lang="en-SG" sz="2800" dirty="0" err="1">
                <a:latin typeface="Gill Sans MT" panose="020B0502020104020203" pitchFamily="34" charset="0"/>
              </a:rPr>
              <a:t>IPSec</a:t>
            </a:r>
            <a:r>
              <a:rPr lang="en-SG" sz="2800" dirty="0">
                <a:latin typeface="Gill Sans MT" panose="020B0502020104020203" pitchFamily="34" charset="0"/>
              </a:rPr>
              <a:t> peers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Negotiates a matching IKE SA policy between peers to protect the IKE exchange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Performs an authenticated </a:t>
            </a:r>
            <a:r>
              <a:rPr lang="en-SG" sz="2800" dirty="0" err="1">
                <a:latin typeface="Gill Sans MT" panose="020B0502020104020203" pitchFamily="34" charset="0"/>
              </a:rPr>
              <a:t>Diffie</a:t>
            </a:r>
            <a:r>
              <a:rPr lang="en-SG" sz="2800" dirty="0">
                <a:latin typeface="Gill Sans MT" panose="020B0502020104020203" pitchFamily="34" charset="0"/>
              </a:rPr>
              <a:t>-Hellman exchange with the end result of having matching shared secret keys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Sets up a secure tunnel to negotiate IKE phase 2 parameters</a:t>
            </a:r>
            <a:endParaRPr lang="en-US" sz="2800" dirty="0">
              <a:latin typeface="Gill Sans MT" panose="020B0502020104020203" pitchFamily="34" charset="0"/>
            </a:endParaRPr>
          </a:p>
          <a:p>
            <a:pPr lvl="1">
              <a:lnSpc>
                <a:spcPct val="90000"/>
              </a:lnSpc>
            </a:pPr>
            <a:endParaRPr lang="en-US" sz="2800" dirty="0">
              <a:latin typeface="Gill Sans MT" panose="020B0502020104020203" pitchFamily="34" charset="0"/>
            </a:endParaRPr>
          </a:p>
          <a:p>
            <a:pPr marL="0" lvl="1" indent="0">
              <a:lnSpc>
                <a:spcPct val="90000"/>
              </a:lnSpc>
              <a:buNone/>
            </a:pPr>
            <a:r>
              <a:rPr lang="en-US" sz="2400" dirty="0">
                <a:latin typeface="Gill Sans MT" panose="020B0502020104020203" pitchFamily="34" charset="0"/>
              </a:rPr>
              <a:t>IKE Phase 1 negotiation can occur in, Main Mode &amp; Aggressive mode. The difference between the two is that Main mode requires the exchange of 6 messages while Aggressive mode requires only 3 exchanges.</a:t>
            </a:r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IKE - Internet Key Exchange</a:t>
            </a:r>
          </a:p>
        </p:txBody>
      </p:sp>
    </p:spTree>
    <p:extLst>
      <p:ext uri="{BB962C8B-B14F-4D97-AF65-F5344CB8AC3E}">
        <p14:creationId xmlns:p14="http://schemas.microsoft.com/office/powerpoint/2010/main" val="403167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62000" y="1524000"/>
            <a:ext cx="8042275" cy="502824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7030A0"/>
                </a:solidFill>
                <a:latin typeface="Gill Sans MT" panose="020B0502020104020203" pitchFamily="34" charset="0"/>
              </a:rPr>
              <a:t>There are two phases in every IKE negotiation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7030A0"/>
                </a:solidFill>
                <a:latin typeface="Gill Sans MT" panose="020B0502020104020203" pitchFamily="34" charset="0"/>
              </a:rPr>
              <a:t>Phase 2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Negotiates </a:t>
            </a:r>
            <a:r>
              <a:rPr lang="en-SG" sz="2800" dirty="0" err="1">
                <a:latin typeface="Gill Sans MT" panose="020B0502020104020203" pitchFamily="34" charset="0"/>
              </a:rPr>
              <a:t>IPSec</a:t>
            </a:r>
            <a:r>
              <a:rPr lang="en-SG" sz="2800" dirty="0">
                <a:latin typeface="Gill Sans MT" panose="020B0502020104020203" pitchFamily="34" charset="0"/>
              </a:rPr>
              <a:t> SA parameters protected by an existing IKE SA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Establishes </a:t>
            </a:r>
            <a:r>
              <a:rPr lang="en-SG" sz="2800" dirty="0" err="1">
                <a:latin typeface="Gill Sans MT" panose="020B0502020104020203" pitchFamily="34" charset="0"/>
              </a:rPr>
              <a:t>IPSec</a:t>
            </a:r>
            <a:r>
              <a:rPr lang="en-SG" sz="2800" dirty="0">
                <a:latin typeface="Gill Sans MT" panose="020B0502020104020203" pitchFamily="34" charset="0"/>
              </a:rPr>
              <a:t> security associations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Periodically renegotiates </a:t>
            </a:r>
            <a:r>
              <a:rPr lang="en-SG" sz="2800" dirty="0" err="1">
                <a:latin typeface="Gill Sans MT" panose="020B0502020104020203" pitchFamily="34" charset="0"/>
              </a:rPr>
              <a:t>IPSec</a:t>
            </a:r>
            <a:r>
              <a:rPr lang="en-SG" sz="2800" dirty="0">
                <a:latin typeface="Gill Sans MT" panose="020B0502020104020203" pitchFamily="34" charset="0"/>
              </a:rPr>
              <a:t> SAs to ensure security</a:t>
            </a:r>
          </a:p>
          <a:p>
            <a:pPr lvl="1">
              <a:lnSpc>
                <a:spcPct val="90000"/>
              </a:lnSpc>
            </a:pPr>
            <a:r>
              <a:rPr lang="en-SG" sz="2800" dirty="0">
                <a:latin typeface="Gill Sans MT" panose="020B0502020104020203" pitchFamily="34" charset="0"/>
              </a:rPr>
              <a:t>Optionally performs an additional </a:t>
            </a:r>
            <a:r>
              <a:rPr lang="en-SG" sz="2800" dirty="0" err="1">
                <a:latin typeface="Gill Sans MT" panose="020B0502020104020203" pitchFamily="34" charset="0"/>
              </a:rPr>
              <a:t>Diffie</a:t>
            </a:r>
            <a:r>
              <a:rPr lang="en-SG" sz="2800" dirty="0">
                <a:latin typeface="Gill Sans MT" panose="020B0502020104020203" pitchFamily="34" charset="0"/>
              </a:rPr>
              <a:t>-Hellman exchange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IKE - Internet Key Exchange</a:t>
            </a:r>
          </a:p>
        </p:txBody>
      </p:sp>
    </p:spTree>
    <p:extLst>
      <p:ext uri="{BB962C8B-B14F-4D97-AF65-F5344CB8AC3E}">
        <p14:creationId xmlns:p14="http://schemas.microsoft.com/office/powerpoint/2010/main" val="415925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457200" y="1447800"/>
            <a:ext cx="8361363" cy="48615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SAs is a relationship between the sender and a receiver that describes how the peers will use IPsec security services to protect network traffic. </a:t>
            </a:r>
          </a:p>
          <a:p>
            <a:r>
              <a:rPr lang="en-US" sz="2800" dirty="0">
                <a:latin typeface="Gill Sans MT" panose="020B0502020104020203" pitchFamily="34" charset="0"/>
              </a:rPr>
              <a:t>SAs contain all the security parameters needed to securely transport packets between the peers or hosts.</a:t>
            </a:r>
          </a:p>
          <a:p>
            <a:r>
              <a:rPr lang="en-US" sz="2800" dirty="0">
                <a:latin typeface="Gill Sans MT" panose="020B0502020104020203" pitchFamily="34" charset="0"/>
              </a:rPr>
              <a:t>SA can be identified by 3 parameters: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Security Parameter Index (SPI)- is a number to identify the an SA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IP Destination Address- the address of the destination device</a:t>
            </a:r>
          </a:p>
          <a:p>
            <a:pPr lvl="1"/>
            <a:r>
              <a:rPr lang="en-US" sz="2400" dirty="0">
                <a:latin typeface="Gill Sans MT" panose="020B0502020104020203" pitchFamily="34" charset="0"/>
              </a:rPr>
              <a:t>Security Protocol: AH or ESP</a:t>
            </a:r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Security Associations (SAs)</a:t>
            </a:r>
          </a:p>
        </p:txBody>
      </p:sp>
    </p:spTree>
    <p:extLst>
      <p:ext uri="{BB962C8B-B14F-4D97-AF65-F5344CB8AC3E}">
        <p14:creationId xmlns:p14="http://schemas.microsoft.com/office/powerpoint/2010/main" val="32076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6780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Five Steps of IPsec Transmission</a:t>
            </a:r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292" y="1407794"/>
            <a:ext cx="67056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492996" name="Picture 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630" y="3572011"/>
            <a:ext cx="48863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492997" name="Picture 5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630" y="4832940"/>
            <a:ext cx="48768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492998" name="Picture 6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730" y="6068702"/>
            <a:ext cx="35052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492999" name="Text Box 7"/>
          <p:cNvSpPr txBox="1">
            <a:spLocks noChangeArrowheads="1"/>
          </p:cNvSpPr>
          <p:nvPr/>
        </p:nvSpPr>
        <p:spPr bwMode="auto">
          <a:xfrm>
            <a:off x="2088630" y="3060640"/>
            <a:ext cx="7086600" cy="43088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>
            <a:lvl1pPr marL="2286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cs typeface="Arial" charset="0"/>
              </a:rPr>
              <a:t>IKE Phase 1</a:t>
            </a:r>
            <a:r>
              <a:rPr lang="en-US" sz="1400" b="0" dirty="0">
                <a:solidFill>
                  <a:srgbClr val="000000"/>
                </a:solidFill>
                <a:cs typeface="Arial" charset="0"/>
              </a:rPr>
              <a:t> authenticates IPsec peers and negotiates IKE SAs to create a secure communications channel for negotiating IPsec SAs in Phase 2. </a:t>
            </a:r>
          </a:p>
        </p:txBody>
      </p:sp>
      <p:sp>
        <p:nvSpPr>
          <p:cNvPr id="1493000" name="Text Box 8"/>
          <p:cNvSpPr txBox="1">
            <a:spLocks noChangeArrowheads="1"/>
          </p:cNvSpPr>
          <p:nvPr/>
        </p:nvSpPr>
        <p:spPr bwMode="auto">
          <a:xfrm>
            <a:off x="2088630" y="2733883"/>
            <a:ext cx="6356545" cy="215444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>
            <a:lvl1pPr marL="2286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en-US" sz="1400" b="0" dirty="0">
                <a:solidFill>
                  <a:srgbClr val="000000"/>
                </a:solidFill>
                <a:cs typeface="Arial" charset="0"/>
              </a:rPr>
              <a:t>Host A sends interesting traffic destined for Host B.</a:t>
            </a:r>
          </a:p>
        </p:txBody>
      </p:sp>
      <p:sp>
        <p:nvSpPr>
          <p:cNvPr id="1493001" name="Text Box 9"/>
          <p:cNvSpPr txBox="1">
            <a:spLocks noChangeArrowheads="1"/>
          </p:cNvSpPr>
          <p:nvPr/>
        </p:nvSpPr>
        <p:spPr bwMode="auto">
          <a:xfrm>
            <a:off x="2088630" y="4361211"/>
            <a:ext cx="7086600" cy="43088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>
            <a:lvl1pPr marL="2286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cs typeface="Arial" charset="0"/>
              </a:rPr>
              <a:t>IKE Phase 2</a:t>
            </a:r>
            <a:r>
              <a:rPr lang="en-US" sz="1400" b="0" dirty="0">
                <a:solidFill>
                  <a:srgbClr val="000000"/>
                </a:solidFill>
                <a:cs typeface="Arial" charset="0"/>
              </a:rPr>
              <a:t> negotiates IPsec SA parameters and creates matching IPsec SAs in the peers to protect data and messages exchanged between endpoints.</a:t>
            </a:r>
          </a:p>
        </p:txBody>
      </p:sp>
      <p:sp>
        <p:nvSpPr>
          <p:cNvPr id="1493002" name="Text Box 10"/>
          <p:cNvSpPr txBox="1">
            <a:spLocks noChangeArrowheads="1"/>
          </p:cNvSpPr>
          <p:nvPr/>
        </p:nvSpPr>
        <p:spPr bwMode="auto">
          <a:xfrm>
            <a:off x="2088630" y="5605362"/>
            <a:ext cx="7086600" cy="43088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>
            <a:lvl1pPr marL="2286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en-US" sz="1400" b="0" dirty="0">
                <a:solidFill>
                  <a:srgbClr val="000000"/>
                </a:solidFill>
                <a:cs typeface="Arial" charset="0"/>
              </a:rPr>
              <a:t>Data transfer occurs between IPsec peers based on the IPsec parameters and keys stored in the SA database.</a:t>
            </a:r>
          </a:p>
        </p:txBody>
      </p:sp>
      <p:sp>
        <p:nvSpPr>
          <p:cNvPr id="1493003" name="Text Box 11"/>
          <p:cNvSpPr txBox="1">
            <a:spLocks noChangeArrowheads="1"/>
          </p:cNvSpPr>
          <p:nvPr/>
        </p:nvSpPr>
        <p:spPr bwMode="auto">
          <a:xfrm>
            <a:off x="2088630" y="6578138"/>
            <a:ext cx="5800500" cy="215444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>
            <a:lvl1pPr marL="2286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en-US" sz="1400" b="0" dirty="0">
                <a:solidFill>
                  <a:srgbClr val="000000"/>
                </a:solidFill>
                <a:cs typeface="Arial" charset="0"/>
              </a:rPr>
              <a:t>IPsec tunnel termination occurs by SAs through deletion or by timing out.</a:t>
            </a:r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1021829" y="2703194"/>
            <a:ext cx="914400" cy="2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</a:rPr>
              <a:t>Step 1</a:t>
            </a:r>
          </a:p>
        </p:txBody>
      </p:sp>
      <p:sp>
        <p:nvSpPr>
          <p:cNvPr id="72717" name="Text Box 13"/>
          <p:cNvSpPr txBox="1">
            <a:spLocks noChangeArrowheads="1"/>
          </p:cNvSpPr>
          <p:nvPr/>
        </p:nvSpPr>
        <p:spPr bwMode="auto">
          <a:xfrm>
            <a:off x="1021829" y="3185703"/>
            <a:ext cx="914400" cy="2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</a:rPr>
              <a:t>Step 2</a:t>
            </a:r>
          </a:p>
        </p:txBody>
      </p:sp>
      <p:sp>
        <p:nvSpPr>
          <p:cNvPr id="72718" name="Text Box 14"/>
          <p:cNvSpPr txBox="1">
            <a:spLocks noChangeArrowheads="1"/>
          </p:cNvSpPr>
          <p:nvPr/>
        </p:nvSpPr>
        <p:spPr bwMode="auto">
          <a:xfrm>
            <a:off x="1021829" y="4438243"/>
            <a:ext cx="914400" cy="2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</a:rPr>
              <a:t>Step 3</a:t>
            </a:r>
          </a:p>
        </p:txBody>
      </p:sp>
      <p:sp>
        <p:nvSpPr>
          <p:cNvPr id="72719" name="Text Box 15"/>
          <p:cNvSpPr txBox="1">
            <a:spLocks noChangeArrowheads="1"/>
          </p:cNvSpPr>
          <p:nvPr/>
        </p:nvSpPr>
        <p:spPr bwMode="auto">
          <a:xfrm>
            <a:off x="1021829" y="5682394"/>
            <a:ext cx="914400" cy="2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</a:rPr>
              <a:t>Step 4</a:t>
            </a:r>
          </a:p>
        </p:txBody>
      </p:sp>
      <p:sp>
        <p:nvSpPr>
          <p:cNvPr id="72720" name="Text Box 16"/>
          <p:cNvSpPr txBox="1">
            <a:spLocks noChangeArrowheads="1"/>
          </p:cNvSpPr>
          <p:nvPr/>
        </p:nvSpPr>
        <p:spPr bwMode="auto">
          <a:xfrm>
            <a:off x="1021829" y="6547449"/>
            <a:ext cx="914400" cy="2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</a:rPr>
              <a:t>Step 5</a:t>
            </a:r>
          </a:p>
        </p:txBody>
      </p:sp>
    </p:spTree>
    <p:extLst>
      <p:ext uri="{BB962C8B-B14F-4D97-AF65-F5344CB8AC3E}">
        <p14:creationId xmlns:p14="http://schemas.microsoft.com/office/powerpoint/2010/main" val="1525754768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49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9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9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9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49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9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2999" grpId="0" autoUpdateAnimBg="0"/>
      <p:bldP spid="1493000" grpId="0" autoUpdateAnimBg="0"/>
      <p:bldP spid="1493001" grpId="0" autoUpdateAnimBg="0"/>
      <p:bldP spid="1493002" grpId="0" autoUpdateAnimBg="0"/>
      <p:bldP spid="149300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dirty="0"/>
              <a:t>Step 1 – Interesting Traffic</a:t>
            </a:r>
          </a:p>
        </p:txBody>
      </p:sp>
      <p:pic>
        <p:nvPicPr>
          <p:cNvPr id="737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51025"/>
            <a:ext cx="7924800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14400" y="5006975"/>
            <a:ext cx="769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latin typeface="Gill Sans MT" panose="020B0502020104020203" pitchFamily="34" charset="0"/>
              </a:rPr>
              <a:t>Define interesting traffic with the use of ACLs</a:t>
            </a:r>
          </a:p>
        </p:txBody>
      </p:sp>
    </p:spTree>
    <p:extLst>
      <p:ext uri="{BB962C8B-B14F-4D97-AF65-F5344CB8AC3E}">
        <p14:creationId xmlns:p14="http://schemas.microsoft.com/office/powerpoint/2010/main" val="1748072603"/>
      </p:ext>
    </p:extLst>
  </p:cSld>
  <p:clrMapOvr>
    <a:masterClrMapping/>
  </p:clrMapOvr>
  <p:transition spd="med">
    <p:comb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81000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Step 2- IKE Phase 1</a:t>
            </a:r>
          </a:p>
        </p:txBody>
      </p:sp>
      <p:pic>
        <p:nvPicPr>
          <p:cNvPr id="71683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72"/>
          <a:stretch/>
        </p:blipFill>
        <p:spPr bwMode="auto">
          <a:xfrm>
            <a:off x="193204" y="1557520"/>
            <a:ext cx="8670616" cy="4462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0427788"/>
      </p:ext>
    </p:extLst>
  </p:cSld>
  <p:clrMapOvr>
    <a:masterClrMapping/>
  </p:clrMapOvr>
  <p:transition spd="med">
    <p:comb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52" y="2362200"/>
            <a:ext cx="6873896" cy="4487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378745"/>
            <a:ext cx="7904163" cy="1295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router may have many different IKE policies. In order to successfully negotiate IKE phase 1, the policy sets must match.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Step 2- IKE Phase 1</a:t>
            </a:r>
          </a:p>
        </p:txBody>
      </p:sp>
    </p:spTree>
    <p:extLst>
      <p:ext uri="{BB962C8B-B14F-4D97-AF65-F5344CB8AC3E}">
        <p14:creationId xmlns:p14="http://schemas.microsoft.com/office/powerpoint/2010/main" val="507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399" y="1172568"/>
            <a:ext cx="7904163" cy="513679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DH Key Exchange</a:t>
            </a:r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311752"/>
            <a:ext cx="7886700" cy="860816"/>
          </a:xfrm>
        </p:spPr>
        <p:txBody>
          <a:bodyPr>
            <a:normAutofit/>
          </a:bodyPr>
          <a:lstStyle/>
          <a:p>
            <a:r>
              <a:rPr lang="en-US" sz="4000" dirty="0"/>
              <a:t>Step 2 – IKE Phase 1</a:t>
            </a:r>
          </a:p>
        </p:txBody>
      </p:sp>
      <p:sp>
        <p:nvSpPr>
          <p:cNvPr id="1730563" name="Text Box 3"/>
          <p:cNvSpPr txBox="1">
            <a:spLocks noChangeArrowheads="1"/>
          </p:cNvSpPr>
          <p:nvPr/>
        </p:nvSpPr>
        <p:spPr bwMode="auto">
          <a:xfrm>
            <a:off x="5881688" y="3171263"/>
            <a:ext cx="2895600" cy="76636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/>
          <a:p>
            <a:pPr defTabSz="814388">
              <a:spcBef>
                <a:spcPct val="50000"/>
              </a:spcBef>
              <a:defRPr/>
            </a:pPr>
            <a:r>
              <a:rPr lang="en-US" sz="1400" b="0" dirty="0" err="1">
                <a:solidFill>
                  <a:srgbClr val="000000"/>
                </a:solidFill>
                <a:ea typeface="+mn-ea"/>
              </a:rPr>
              <a:t>RouterB</a:t>
            </a:r>
            <a:r>
              <a:rPr lang="en-US" sz="1400" b="0" dirty="0">
                <a:solidFill>
                  <a:srgbClr val="000000"/>
                </a:solidFill>
                <a:ea typeface="+mn-ea"/>
              </a:rPr>
              <a:t> hashes the received string together with the pre-shared secret and yields a hash value.</a:t>
            </a:r>
          </a:p>
        </p:txBody>
      </p:sp>
      <p:sp>
        <p:nvSpPr>
          <p:cNvPr id="1730564" name="Line 4"/>
          <p:cNvSpPr>
            <a:spLocks noChangeShapeType="1"/>
          </p:cNvSpPr>
          <p:nvPr/>
        </p:nvSpPr>
        <p:spPr bwMode="auto">
          <a:xfrm>
            <a:off x="3352800" y="3345572"/>
            <a:ext cx="2514600" cy="0"/>
          </a:xfrm>
          <a:prstGeom prst="line">
            <a:avLst/>
          </a:prstGeom>
          <a:noFill/>
          <a:ln w="57150" cap="flat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124" tIns="41061" rIns="82124" bIns="41061"/>
          <a:lstStyle/>
          <a:p>
            <a:endParaRPr lang="en-US" sz="1400"/>
          </a:p>
        </p:txBody>
      </p:sp>
      <p:sp>
        <p:nvSpPr>
          <p:cNvPr id="1730565" name="Text Box 5"/>
          <p:cNvSpPr txBox="1">
            <a:spLocks noChangeArrowheads="1"/>
          </p:cNvSpPr>
          <p:nvPr/>
        </p:nvSpPr>
        <p:spPr bwMode="auto">
          <a:xfrm>
            <a:off x="1143000" y="3102203"/>
            <a:ext cx="2819400" cy="57246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/>
          <a:p>
            <a:pPr defTabSz="814388">
              <a:spcBef>
                <a:spcPct val="50000"/>
              </a:spcBef>
              <a:defRPr/>
            </a:pPr>
            <a:r>
              <a:rPr lang="en-US" sz="1400" b="0" dirty="0" err="1">
                <a:solidFill>
                  <a:srgbClr val="000000"/>
                </a:solidFill>
                <a:ea typeface="+mn-ea"/>
              </a:rPr>
              <a:t>RouterA</a:t>
            </a:r>
            <a:r>
              <a:rPr lang="en-US" sz="1400" b="0" dirty="0">
                <a:solidFill>
                  <a:srgbClr val="000000"/>
                </a:solidFill>
                <a:ea typeface="+mn-ea"/>
              </a:rPr>
              <a:t> randomly chooses a string and sends it to </a:t>
            </a:r>
            <a:r>
              <a:rPr lang="en-US" sz="1400" b="0" dirty="0" err="1">
                <a:solidFill>
                  <a:srgbClr val="000000"/>
                </a:solidFill>
                <a:ea typeface="+mn-ea"/>
              </a:rPr>
              <a:t>RouterB</a:t>
            </a:r>
            <a:r>
              <a:rPr lang="en-US" sz="1400" b="0" dirty="0">
                <a:solidFill>
                  <a:srgbClr val="000000"/>
                </a:solidFill>
                <a:ea typeface="+mn-ea"/>
              </a:rPr>
              <a:t>. </a:t>
            </a:r>
          </a:p>
        </p:txBody>
      </p:sp>
      <p:sp>
        <p:nvSpPr>
          <p:cNvPr id="1730566" name="Text Box 6"/>
          <p:cNvSpPr txBox="1">
            <a:spLocks noChangeArrowheads="1"/>
          </p:cNvSpPr>
          <p:nvPr/>
        </p:nvSpPr>
        <p:spPr bwMode="auto">
          <a:xfrm>
            <a:off x="5895976" y="4601713"/>
            <a:ext cx="2895600" cy="57246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/>
          <a:p>
            <a:pPr defTabSz="814388">
              <a:spcBef>
                <a:spcPct val="50000"/>
              </a:spcBef>
              <a:defRPr/>
            </a:pPr>
            <a:r>
              <a:rPr lang="en-US" sz="1400" b="0">
                <a:solidFill>
                  <a:srgbClr val="000000"/>
                </a:solidFill>
                <a:ea typeface="+mn-ea"/>
              </a:rPr>
              <a:t>RouterB sends the result of hashing back to RouterA.</a:t>
            </a:r>
          </a:p>
        </p:txBody>
      </p:sp>
      <p:sp>
        <p:nvSpPr>
          <p:cNvPr id="1730568" name="Text Box 8"/>
          <p:cNvSpPr txBox="1">
            <a:spLocks noChangeArrowheads="1"/>
          </p:cNvSpPr>
          <p:nvPr/>
        </p:nvSpPr>
        <p:spPr bwMode="auto">
          <a:xfrm>
            <a:off x="1143000" y="4252386"/>
            <a:ext cx="2819400" cy="184358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/>
          <a:p>
            <a:pPr defTabSz="814388">
              <a:spcBef>
                <a:spcPct val="50000"/>
              </a:spcBef>
              <a:defRPr/>
            </a:pPr>
            <a:r>
              <a:rPr lang="en-US" sz="1400" b="0" dirty="0" err="1">
                <a:solidFill>
                  <a:srgbClr val="000000"/>
                </a:solidFill>
                <a:ea typeface="+mn-ea"/>
              </a:rPr>
              <a:t>RouterA</a:t>
            </a:r>
            <a:r>
              <a:rPr lang="en-US" sz="1400" b="0" dirty="0">
                <a:solidFill>
                  <a:srgbClr val="000000"/>
                </a:solidFill>
                <a:ea typeface="+mn-ea"/>
              </a:rPr>
              <a:t> calculates its own hash of the random string, together with the pre-shared secret, and matches it with the received result from the other peer. </a:t>
            </a:r>
          </a:p>
          <a:p>
            <a:pPr defTabSz="814388">
              <a:spcBef>
                <a:spcPct val="50000"/>
              </a:spcBef>
              <a:defRPr/>
            </a:pPr>
            <a:r>
              <a:rPr lang="en-US" sz="1400" b="0" dirty="0">
                <a:solidFill>
                  <a:srgbClr val="000000"/>
                </a:solidFill>
                <a:ea typeface="+mn-ea"/>
              </a:rPr>
              <a:t>If they match, </a:t>
            </a:r>
            <a:r>
              <a:rPr lang="en-US" sz="1400" b="0" dirty="0" err="1">
                <a:solidFill>
                  <a:srgbClr val="000000"/>
                </a:solidFill>
                <a:ea typeface="+mn-ea"/>
              </a:rPr>
              <a:t>RouterB</a:t>
            </a:r>
            <a:r>
              <a:rPr lang="en-US" sz="1400" b="0" dirty="0">
                <a:solidFill>
                  <a:srgbClr val="000000"/>
                </a:solidFill>
                <a:ea typeface="+mn-ea"/>
              </a:rPr>
              <a:t> knows the pre-shared secret, and is considered authenticated. </a:t>
            </a:r>
          </a:p>
        </p:txBody>
      </p:sp>
      <p:pic>
        <p:nvPicPr>
          <p:cNvPr id="7578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530108"/>
            <a:ext cx="7010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730567" name="Line 7"/>
          <p:cNvSpPr>
            <a:spLocks noChangeShapeType="1"/>
          </p:cNvSpPr>
          <p:nvPr/>
        </p:nvSpPr>
        <p:spPr bwMode="auto">
          <a:xfrm flipH="1">
            <a:off x="3962399" y="4953000"/>
            <a:ext cx="1938163" cy="0"/>
          </a:xfrm>
          <a:prstGeom prst="line">
            <a:avLst/>
          </a:prstGeom>
          <a:noFill/>
          <a:ln w="57150" cap="flat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124" tIns="41061" rIns="82124" bIns="41061"/>
          <a:lstStyle/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0720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3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3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3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3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63" grpId="0" animBg="1"/>
      <p:bldP spid="1730564" grpId="0" animBg="1"/>
      <p:bldP spid="1730565" grpId="0" animBg="1"/>
      <p:bldP spid="1730566" grpId="0" animBg="1"/>
      <p:bldP spid="1730568" grpId="0" animBg="1"/>
      <p:bldP spid="173056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38199" y="1158240"/>
            <a:ext cx="7980363" cy="53949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DH Key Exchange</a:t>
            </a:r>
            <a:endParaRPr lang="en-US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96536"/>
          </a:xfrm>
        </p:spPr>
        <p:txBody>
          <a:bodyPr>
            <a:normAutofit/>
          </a:bodyPr>
          <a:lstStyle/>
          <a:p>
            <a:r>
              <a:rPr lang="en-US" sz="4000" dirty="0"/>
              <a:t>Step 2 – IKE Phase 1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79520"/>
            <a:ext cx="7010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00164" name="Text Box 4"/>
          <p:cNvSpPr txBox="1">
            <a:spLocks noChangeArrowheads="1"/>
          </p:cNvSpPr>
          <p:nvPr/>
        </p:nvSpPr>
        <p:spPr bwMode="auto">
          <a:xfrm>
            <a:off x="6019800" y="3177538"/>
            <a:ext cx="2895600" cy="76636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>
            <a:defPPr>
              <a:defRPr lang="en-US"/>
            </a:defPPr>
            <a:lvl1pPr defTabSz="814388">
              <a:spcBef>
                <a:spcPct val="50000"/>
              </a:spcBef>
              <a:defRPr sz="1400" b="0">
                <a:solidFill>
                  <a:srgbClr val="000000"/>
                </a:solidFill>
                <a:ea typeface="+mn-ea"/>
              </a:defRPr>
            </a:lvl1pPr>
          </a:lstStyle>
          <a:p>
            <a:r>
              <a:rPr lang="en-US" dirty="0"/>
              <a:t>Now </a:t>
            </a:r>
            <a:r>
              <a:rPr lang="en-US" dirty="0" err="1"/>
              <a:t>RouterB</a:t>
            </a:r>
            <a:r>
              <a:rPr lang="en-US" dirty="0"/>
              <a:t> randomly chooses a different random string and sends it to </a:t>
            </a:r>
            <a:r>
              <a:rPr lang="en-US" dirty="0" err="1"/>
              <a:t>RouterA</a:t>
            </a:r>
            <a:r>
              <a:rPr lang="en-US" dirty="0"/>
              <a:t>. </a:t>
            </a:r>
          </a:p>
        </p:txBody>
      </p:sp>
      <p:sp>
        <p:nvSpPr>
          <p:cNvPr id="1500165" name="Line 5"/>
          <p:cNvSpPr>
            <a:spLocks noChangeShapeType="1"/>
          </p:cNvSpPr>
          <p:nvPr/>
        </p:nvSpPr>
        <p:spPr bwMode="auto">
          <a:xfrm>
            <a:off x="3810000" y="3636920"/>
            <a:ext cx="20574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 type="triangl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124" tIns="41061" rIns="82124" bIns="41061"/>
          <a:lstStyle/>
          <a:p>
            <a:endParaRPr lang="en-US"/>
          </a:p>
        </p:txBody>
      </p:sp>
      <p:sp>
        <p:nvSpPr>
          <p:cNvPr id="1500166" name="Text Box 6"/>
          <p:cNvSpPr txBox="1">
            <a:spLocks noChangeArrowheads="1"/>
          </p:cNvSpPr>
          <p:nvPr/>
        </p:nvSpPr>
        <p:spPr bwMode="auto">
          <a:xfrm>
            <a:off x="990600" y="3311570"/>
            <a:ext cx="2819400" cy="96026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>
            <a:defPPr>
              <a:defRPr lang="en-US"/>
            </a:defPPr>
            <a:lvl1pPr defTabSz="814388">
              <a:spcBef>
                <a:spcPct val="50000"/>
              </a:spcBef>
              <a:defRPr sz="1400" b="0">
                <a:solidFill>
                  <a:srgbClr val="000000"/>
                </a:solidFill>
                <a:ea typeface="+mn-ea"/>
              </a:defRPr>
            </a:lvl1pPr>
          </a:lstStyle>
          <a:p>
            <a:r>
              <a:rPr lang="en-US" dirty="0" err="1"/>
              <a:t>RouterA</a:t>
            </a:r>
            <a:r>
              <a:rPr lang="en-US" dirty="0"/>
              <a:t> also hashes the received string together with the pre-shared secret and yields a hash value.</a:t>
            </a:r>
          </a:p>
        </p:txBody>
      </p:sp>
      <p:sp>
        <p:nvSpPr>
          <p:cNvPr id="1500167" name="Text Box 7"/>
          <p:cNvSpPr txBox="1">
            <a:spLocks noChangeArrowheads="1"/>
          </p:cNvSpPr>
          <p:nvPr/>
        </p:nvSpPr>
        <p:spPr bwMode="auto">
          <a:xfrm>
            <a:off x="1008063" y="4874688"/>
            <a:ext cx="2801937" cy="57246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>
            <a:defPPr>
              <a:defRPr lang="en-US"/>
            </a:defPPr>
            <a:lvl1pPr defTabSz="814388">
              <a:spcBef>
                <a:spcPct val="50000"/>
              </a:spcBef>
              <a:defRPr sz="1400" b="0">
                <a:solidFill>
                  <a:srgbClr val="000000"/>
                </a:solidFill>
                <a:ea typeface="+mn-ea"/>
              </a:defRPr>
            </a:lvl1pPr>
          </a:lstStyle>
          <a:p>
            <a:r>
              <a:rPr lang="en-US" dirty="0" err="1"/>
              <a:t>RouterA</a:t>
            </a:r>
            <a:r>
              <a:rPr lang="en-US" dirty="0"/>
              <a:t> sends the result of hashing back to </a:t>
            </a:r>
            <a:r>
              <a:rPr lang="en-US" dirty="0" err="1"/>
              <a:t>RouterB</a:t>
            </a:r>
            <a:r>
              <a:rPr lang="en-US" dirty="0"/>
              <a:t>.</a:t>
            </a:r>
          </a:p>
        </p:txBody>
      </p:sp>
      <p:sp>
        <p:nvSpPr>
          <p:cNvPr id="1500168" name="Line 8"/>
          <p:cNvSpPr>
            <a:spLocks noChangeShapeType="1"/>
          </p:cNvSpPr>
          <p:nvPr/>
        </p:nvSpPr>
        <p:spPr bwMode="auto">
          <a:xfrm>
            <a:off x="3810000" y="5196840"/>
            <a:ext cx="2224088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124" tIns="41061" rIns="82124" bIns="41061"/>
          <a:lstStyle/>
          <a:p>
            <a:endParaRPr lang="en-US"/>
          </a:p>
        </p:txBody>
      </p:sp>
      <p:sp>
        <p:nvSpPr>
          <p:cNvPr id="1500169" name="Text Box 9"/>
          <p:cNvSpPr txBox="1">
            <a:spLocks noChangeArrowheads="1"/>
          </p:cNvSpPr>
          <p:nvPr/>
        </p:nvSpPr>
        <p:spPr bwMode="auto">
          <a:xfrm>
            <a:off x="6034088" y="4667754"/>
            <a:ext cx="2819400" cy="184358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 cmpd="sng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91440" bIns="91440" anchor="ctr">
            <a:spAutoFit/>
          </a:bodyPr>
          <a:lstStyle>
            <a:defPPr>
              <a:defRPr lang="en-US"/>
            </a:defPPr>
            <a:lvl1pPr defTabSz="814388">
              <a:spcBef>
                <a:spcPct val="50000"/>
              </a:spcBef>
              <a:defRPr sz="1400" b="0">
                <a:solidFill>
                  <a:srgbClr val="000000"/>
                </a:solidFill>
                <a:ea typeface="+mn-ea"/>
              </a:defRPr>
            </a:lvl1pPr>
          </a:lstStyle>
          <a:p>
            <a:r>
              <a:rPr lang="en-US" dirty="0" err="1"/>
              <a:t>RouterB</a:t>
            </a:r>
            <a:r>
              <a:rPr lang="en-US" dirty="0"/>
              <a:t> calculates its own hash of the random string, together with the pre-shared secret, and matches it with the received result from the other peer. </a:t>
            </a:r>
          </a:p>
          <a:p>
            <a:r>
              <a:rPr lang="en-US" dirty="0"/>
              <a:t>If they match, </a:t>
            </a:r>
            <a:r>
              <a:rPr lang="en-US" dirty="0" err="1"/>
              <a:t>RouterA</a:t>
            </a:r>
            <a:r>
              <a:rPr lang="en-US" dirty="0"/>
              <a:t> knows the pre-shared secret, and is considered authenticated. </a:t>
            </a:r>
          </a:p>
        </p:txBody>
      </p:sp>
    </p:spTree>
    <p:extLst>
      <p:ext uri="{BB962C8B-B14F-4D97-AF65-F5344CB8AC3E}">
        <p14:creationId xmlns:p14="http://schemas.microsoft.com/office/powerpoint/2010/main" val="308988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0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0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0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0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0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0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0164" grpId="0" animBg="1"/>
      <p:bldP spid="1500165" grpId="0" animBg="1"/>
      <p:bldP spid="1500166" grpId="0" animBg="1"/>
      <p:bldP spid="1500167" grpId="0" animBg="1"/>
      <p:bldP spid="1500168" grpId="0" animBg="1"/>
      <p:bldP spid="150016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76287" y="1158240"/>
            <a:ext cx="8042275" cy="53949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Peer Authentication</a:t>
            </a:r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sz="4000" dirty="0"/>
              <a:t>Step 2 – IKE Phase 1</a:t>
            </a:r>
          </a:p>
        </p:txBody>
      </p:sp>
      <p:pic>
        <p:nvPicPr>
          <p:cNvPr id="7782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2" y="1885950"/>
            <a:ext cx="8229600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7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76287" y="1143000"/>
            <a:ext cx="8042275" cy="516635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IPsec Negotiation</a:t>
            </a:r>
            <a:endParaRPr lang="en-US" dirty="0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>
            <a:normAutofit/>
          </a:bodyPr>
          <a:lstStyle/>
          <a:p>
            <a:r>
              <a:rPr lang="en-US" sz="4400" dirty="0"/>
              <a:t>Step 3 – IKE Phase 2 </a:t>
            </a:r>
          </a:p>
        </p:txBody>
      </p:sp>
      <p:pic>
        <p:nvPicPr>
          <p:cNvPr id="788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" y="1720850"/>
            <a:ext cx="8232775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96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76287" y="1371600"/>
            <a:ext cx="8042275" cy="49377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Each router may have many transform sets. There has to be a matching Transform Set for a successful IKE Phase 2 negotiation.</a:t>
            </a:r>
            <a:endParaRPr lang="en-US" dirty="0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76287" y="304800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Step 3 – IKE Phase 2</a:t>
            </a:r>
          </a:p>
        </p:txBody>
      </p:sp>
      <p:pic>
        <p:nvPicPr>
          <p:cNvPr id="798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70418"/>
            <a:ext cx="6339865" cy="4340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499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76287" y="1905000"/>
            <a:ext cx="8042275" cy="44043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Security Associations</a:t>
            </a:r>
            <a:endParaRPr lang="en-US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84177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Step 3 – IKE Phase 2</a:t>
            </a:r>
          </a:p>
        </p:txBody>
      </p:sp>
      <p:pic>
        <p:nvPicPr>
          <p:cNvPr id="808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46" y="1714480"/>
            <a:ext cx="8294688" cy="419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65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2025" y="1295400"/>
            <a:ext cx="7986538" cy="50139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IPsec Session will then use the negotiated security parameters from IKE Phase 2 on the data traffic.</a:t>
            </a:r>
            <a:endParaRPr lang="en-US" dirty="0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53363" y="274637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Step 4- Data Transfer</a:t>
            </a:r>
          </a:p>
        </p:txBody>
      </p:sp>
      <p:pic>
        <p:nvPicPr>
          <p:cNvPr id="819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25" y="1905000"/>
            <a:ext cx="7329377" cy="434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09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7005" y="1295400"/>
            <a:ext cx="7981557" cy="50139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Tunnel Termination</a:t>
            </a:r>
            <a:endParaRPr lang="en-US" dirty="0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815768" y="304800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Step 5- Termination </a:t>
            </a:r>
          </a:p>
        </p:txBody>
      </p:sp>
      <p:pic>
        <p:nvPicPr>
          <p:cNvPr id="8294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05" y="1752600"/>
            <a:ext cx="7484799" cy="468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778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30" y="1896601"/>
            <a:ext cx="7886700" cy="4824875"/>
          </a:xfrm>
        </p:spPr>
        <p:txBody>
          <a:bodyPr>
            <a:normAutofit/>
          </a:bodyPr>
          <a:lstStyle/>
          <a:p>
            <a:r>
              <a:rPr lang="en-SG" sz="2800" dirty="0">
                <a:hlinkClick r:id="rId2"/>
              </a:rPr>
              <a:t>Watch Video:</a:t>
            </a:r>
            <a:br>
              <a:rPr lang="en-SG" sz="2800" dirty="0">
                <a:hlinkClick r:id="rId2"/>
              </a:rPr>
            </a:br>
            <a:r>
              <a:rPr lang="en-SG" sz="2800" dirty="0" err="1">
                <a:hlinkClick r:id="rId2"/>
              </a:rPr>
              <a:t>IPSec</a:t>
            </a:r>
            <a:r>
              <a:rPr lang="en-SG" sz="2800" dirty="0">
                <a:hlinkClick r:id="rId2"/>
              </a:rPr>
              <a:t> VPN</a:t>
            </a:r>
            <a:br>
              <a:rPr lang="en-SG" sz="2800" dirty="0">
                <a:hlinkClick r:id="rId2"/>
              </a:rPr>
            </a:br>
            <a:r>
              <a:rPr lang="en-SG" sz="2800" dirty="0">
                <a:hlinkClick r:id="rId2"/>
              </a:rPr>
              <a:t>https://www.youtube.com/watch?v=rwu8__GG_rw</a:t>
            </a:r>
            <a:br>
              <a:rPr lang="en-SG" sz="2800" dirty="0"/>
            </a:br>
            <a:br>
              <a:rPr lang="en-SG" sz="2800" dirty="0"/>
            </a:br>
            <a:r>
              <a:rPr lang="en-SG" sz="2800" dirty="0"/>
              <a:t>Read Article:</a:t>
            </a:r>
            <a:br>
              <a:rPr lang="en-SG" sz="2800" dirty="0"/>
            </a:br>
            <a:r>
              <a:rPr lang="en-SG" sz="2800" dirty="0"/>
              <a:t>http://www.ciscopress.com/articles/article.asp?p=25474&amp;seqNum=7</a:t>
            </a:r>
            <a:br>
              <a:rPr lang="en-SG" sz="2800" dirty="0"/>
            </a:br>
            <a:br>
              <a:rPr lang="en-SG" sz="2800" dirty="0"/>
            </a:br>
            <a:r>
              <a:rPr lang="en-SG" sz="2800" dirty="0"/>
              <a:t>SSL vs IP Sec VPNs difference</a:t>
            </a:r>
            <a:br>
              <a:rPr lang="en-SG" sz="2800" dirty="0"/>
            </a:br>
            <a:r>
              <a:rPr lang="en-SG" sz="2800" dirty="0">
                <a:hlinkClick r:id="rId3"/>
              </a:rPr>
              <a:t>https://www.youtube.com/watch?v=F9Jt14PWm3U</a:t>
            </a:r>
            <a:br>
              <a:rPr lang="en-SG" sz="2800" dirty="0"/>
            </a:br>
            <a:endParaRPr lang="en-SG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982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4000" dirty="0"/>
              <a:t>Extra 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66244"/>
      </p:ext>
    </p:extLst>
  </p:cSld>
  <p:clrMapOvr>
    <a:masterClrMapping/>
  </p:clrMapOvr>
  <p:transition spd="med">
    <p:comb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4677122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TDP04 Lecture Templat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C1C5D1BB-B8B3-449E-ABE3-BD1ADC446175}" vid="{8783730B-F0DD-45C7-9301-B01A4242EBA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ITDP04 Lecture Template</Template>
  <TotalTime>0</TotalTime>
  <Words>1606</Words>
  <Application>Microsoft Office PowerPoint</Application>
  <PresentationFormat>On-screen Show (4:3)</PresentationFormat>
  <Paragraphs>220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60" baseType="lpstr">
      <vt:lpstr>Batang</vt:lpstr>
      <vt:lpstr>ＭＳ Ｐゴシック</vt:lpstr>
      <vt:lpstr>游ゴシック</vt:lpstr>
      <vt:lpstr>Arial</vt:lpstr>
      <vt:lpstr>Arial Narrow</vt:lpstr>
      <vt:lpstr>Calibri Light</vt:lpstr>
      <vt:lpstr>Consolas</vt:lpstr>
      <vt:lpstr>Corbel</vt:lpstr>
      <vt:lpstr>Gill Sans MT</vt:lpstr>
      <vt:lpstr>Tahoma</vt:lpstr>
      <vt:lpstr>Times New Roman</vt:lpstr>
      <vt:lpstr>Trebuchet MS</vt:lpstr>
      <vt:lpstr>Verdana</vt:lpstr>
      <vt:lpstr>Wingdings</vt:lpstr>
      <vt:lpstr>Wingdings 2</vt:lpstr>
      <vt:lpstr>Wingdings 3</vt:lpstr>
      <vt:lpstr>ITDP04 Lecture Template</vt:lpstr>
      <vt:lpstr>Theme</vt:lpstr>
      <vt:lpstr> Virtual Private Networks</vt:lpstr>
      <vt:lpstr>Conventional Private Networks</vt:lpstr>
      <vt:lpstr>Virtual Private Networks</vt:lpstr>
      <vt:lpstr>Virtual Private Networks</vt:lpstr>
      <vt:lpstr>Two Types of VPNs</vt:lpstr>
      <vt:lpstr>Site to Site VPNs</vt:lpstr>
      <vt:lpstr>Generic Routing Encapsulation (GRE)</vt:lpstr>
      <vt:lpstr>Five Steps to Configuring a GRE Tunnel</vt:lpstr>
      <vt:lpstr>IPsec - Internet Protocol Security</vt:lpstr>
      <vt:lpstr>IPsec Protocol Framework</vt:lpstr>
      <vt:lpstr>IPsec Confidentiality</vt:lpstr>
      <vt:lpstr>IPsec Integrity</vt:lpstr>
      <vt:lpstr>IPsec Authentication</vt:lpstr>
      <vt:lpstr>Secure Key Exchange</vt:lpstr>
      <vt:lpstr>IPsec Framework Protocols</vt:lpstr>
      <vt:lpstr>Authentication Header (AH)</vt:lpstr>
      <vt:lpstr>Authentication Header (AH)</vt:lpstr>
      <vt:lpstr>Encapsulating Security Payload (ESP)</vt:lpstr>
      <vt:lpstr>Encapsulating Security Payload (ESP)</vt:lpstr>
      <vt:lpstr>Transport Mode and Tunnel Mode</vt:lpstr>
      <vt:lpstr>Transport Mode</vt:lpstr>
      <vt:lpstr>Tunnel Mode</vt:lpstr>
      <vt:lpstr>How does IPsec work?</vt:lpstr>
      <vt:lpstr>Understanding some terms</vt:lpstr>
      <vt:lpstr>IKE - Internet Key Exchange</vt:lpstr>
      <vt:lpstr>IKE - Internet Key Exchange</vt:lpstr>
      <vt:lpstr>IKE - Internet Key Exchange</vt:lpstr>
      <vt:lpstr>Security Associations (SAs)</vt:lpstr>
      <vt:lpstr>Five Steps of IPsec Transmission</vt:lpstr>
      <vt:lpstr>Step 1 – Interesting Traffic</vt:lpstr>
      <vt:lpstr>Step 2- IKE Phase 1</vt:lpstr>
      <vt:lpstr>Step 2- IKE Phase 1</vt:lpstr>
      <vt:lpstr>Step 2 – IKE Phase 1</vt:lpstr>
      <vt:lpstr>Step 2 – IKE Phase 1</vt:lpstr>
      <vt:lpstr>Step 2 – IKE Phase 1</vt:lpstr>
      <vt:lpstr>Step 3 – IKE Phase 2 </vt:lpstr>
      <vt:lpstr>Step 3 – IKE Phase 2</vt:lpstr>
      <vt:lpstr>Step 3 – IKE Phase 2</vt:lpstr>
      <vt:lpstr>Step 4- Data Transfer</vt:lpstr>
      <vt:lpstr>Step 5- Termination </vt:lpstr>
      <vt:lpstr>Watch Video: IPSec VPN https://www.youtube.com/watch?v=rwu8__GG_rw  Read Article: http://www.ciscopress.com/articles/article.asp?p=25474&amp;seqNum=7  SSL vs IP Sec VPNs difference https://www.youtube.com/watch?v=F9Jt14PWm3U 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2013-10-03T15:13:36Z</dcterms:created>
  <dcterms:modified xsi:type="dcterms:W3CDTF">2018-12-19T05:44:38Z</dcterms:modified>
</cp:coreProperties>
</file>