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302" r:id="rId4"/>
    <p:sldId id="277" r:id="rId5"/>
    <p:sldId id="278" r:id="rId6"/>
    <p:sldId id="280" r:id="rId7"/>
    <p:sldId id="285" r:id="rId8"/>
    <p:sldId id="286" r:id="rId9"/>
    <p:sldId id="287" r:id="rId10"/>
    <p:sldId id="288" r:id="rId11"/>
    <p:sldId id="298" r:id="rId12"/>
    <p:sldId id="290" r:id="rId13"/>
    <p:sldId id="291" r:id="rId14"/>
    <p:sldId id="299" r:id="rId15"/>
    <p:sldId id="300" r:id="rId16"/>
    <p:sldId id="301" r:id="rId17"/>
    <p:sldId id="293" r:id="rId18"/>
    <p:sldId id="294" r:id="rId19"/>
    <p:sldId id="295"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00" autoAdjust="0"/>
    <p:restoredTop sz="94660"/>
  </p:normalViewPr>
  <p:slideViewPr>
    <p:cSldViewPr snapToGrid="0">
      <p:cViewPr varScale="1">
        <p:scale>
          <a:sx n="58" d="100"/>
          <a:sy n="58" d="100"/>
        </p:scale>
        <p:origin x="102"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42F72-C5BE-4EFB-8638-E6370CAA9FF9}" type="datetimeFigureOut">
              <a:rPr lang="en-SG" smtClean="0"/>
              <a:t>4/10/2018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A5E5EC-2F96-4BF0-9300-6B5E9B54D76E}" type="slidenum">
              <a:rPr lang="en-SG" smtClean="0"/>
              <a:t>‹#›</a:t>
            </a:fld>
            <a:endParaRPr lang="en-SG"/>
          </a:p>
        </p:txBody>
      </p:sp>
    </p:spTree>
    <p:extLst>
      <p:ext uri="{BB962C8B-B14F-4D97-AF65-F5344CB8AC3E}">
        <p14:creationId xmlns:p14="http://schemas.microsoft.com/office/powerpoint/2010/main" val="170662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xfrm>
            <a:off x="-11113" y="246063"/>
            <a:ext cx="7092951" cy="3990975"/>
          </a:xfrm>
          <a:ln/>
        </p:spPr>
      </p:sp>
      <p:sp>
        <p:nvSpPr>
          <p:cNvPr id="184323" name="Rectangle 3"/>
          <p:cNvSpPr>
            <a:spLocks noGrp="1" noChangeArrowheads="1"/>
          </p:cNvSpPr>
          <p:nvPr>
            <p:ph type="body" idx="1"/>
          </p:nvPr>
        </p:nvSpPr>
        <p:spPr>
          <a:xfrm>
            <a:off x="404813" y="4378325"/>
            <a:ext cx="6121400" cy="4251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2657828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xfrm>
            <a:off x="-11113" y="246063"/>
            <a:ext cx="7092951" cy="3990975"/>
          </a:xfrm>
          <a:ln/>
        </p:spPr>
      </p:sp>
      <p:sp>
        <p:nvSpPr>
          <p:cNvPr id="190467" name="Rectangle 3"/>
          <p:cNvSpPr>
            <a:spLocks noGrp="1" noChangeArrowheads="1"/>
          </p:cNvSpPr>
          <p:nvPr>
            <p:ph type="body" idx="1"/>
          </p:nvPr>
        </p:nvSpPr>
        <p:spPr>
          <a:xfrm>
            <a:off x="404813" y="4378325"/>
            <a:ext cx="6121400" cy="4251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1111154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11113" y="246063"/>
            <a:ext cx="7092951" cy="3990975"/>
          </a:xfrm>
          <a:ln/>
        </p:spPr>
      </p:sp>
      <p:sp>
        <p:nvSpPr>
          <p:cNvPr id="191491" name="Rectangle 3"/>
          <p:cNvSpPr>
            <a:spLocks noGrp="1" noChangeArrowheads="1"/>
          </p:cNvSpPr>
          <p:nvPr>
            <p:ph type="body" idx="1"/>
          </p:nvPr>
        </p:nvSpPr>
        <p:spPr>
          <a:xfrm>
            <a:off x="404813" y="4378325"/>
            <a:ext cx="6121400" cy="4251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126267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11113" y="246063"/>
            <a:ext cx="7092951" cy="3990975"/>
          </a:xfrm>
          <a:ln/>
        </p:spPr>
      </p:sp>
      <p:sp>
        <p:nvSpPr>
          <p:cNvPr id="192515" name="Rectangle 3"/>
          <p:cNvSpPr>
            <a:spLocks noGrp="1" noChangeArrowheads="1"/>
          </p:cNvSpPr>
          <p:nvPr>
            <p:ph type="body" idx="1"/>
          </p:nvPr>
        </p:nvSpPr>
        <p:spPr>
          <a:xfrm>
            <a:off x="404813" y="4378325"/>
            <a:ext cx="6121400" cy="4251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785877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426203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800">
                <a:latin typeface="Gill Sans MT" panose="020B0502020104020203" pitchFamily="34" charset="0"/>
              </a:defRPr>
            </a:lvl1pPr>
            <a:lvl2pPr>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fld id="{26601C62-9724-4230-B8E4-0FE573A11A38}" type="datetimeFigureOut">
              <a:rPr lang="en-SG" smtClean="0"/>
              <a:t>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978982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6601C62-9724-4230-B8E4-0FE573A11A38}" type="datetimeFigureOut">
              <a:rPr lang="en-SG" smtClean="0"/>
              <a:t>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705125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26601C62-9724-4230-B8E4-0FE573A11A38}" type="datetimeFigureOut">
              <a:rPr lang="en-SG" smtClean="0"/>
              <a:t>4/10/2018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314835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26601C62-9724-4230-B8E4-0FE573A11A38}" type="datetimeFigureOut">
              <a:rPr lang="en-SG" smtClean="0"/>
              <a:t>4/10/2018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221129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26601C62-9724-4230-B8E4-0FE573A11A38}" type="datetimeFigureOut">
              <a:rPr lang="en-SG" smtClean="0"/>
              <a:t>4/10/2018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4177774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601C62-9724-4230-B8E4-0FE573A11A38}" type="datetimeFigureOut">
              <a:rPr lang="en-SG" smtClean="0"/>
              <a:t>4/10/2018</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00150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01C62-9724-4230-B8E4-0FE573A11A38}" type="datetimeFigureOut">
              <a:rPr lang="en-SG" smtClean="0"/>
              <a:t>4/10/2018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341386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01C62-9724-4230-B8E4-0FE573A11A38}" type="datetimeFigureOut">
              <a:rPr lang="en-SG" smtClean="0"/>
              <a:t>4/10/2018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18750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659046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3399760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19617" y="914400"/>
            <a:ext cx="11438467" cy="5394960"/>
          </a:xfrm>
        </p:spPr>
        <p:txBody>
          <a:bodyPr/>
          <a:lstStyle>
            <a:lvl1pPr>
              <a:lnSpc>
                <a:spcPct val="95000"/>
              </a:lnSpc>
              <a:spcBef>
                <a:spcPts val="1480"/>
              </a:spcBef>
              <a:defRPr sz="2200">
                <a:solidFill>
                  <a:srgbClr val="000000"/>
                </a:solidFill>
                <a:latin typeface="+mj-lt"/>
              </a:defRPr>
            </a:lvl1pPr>
            <a:lvl2pPr>
              <a:lnSpc>
                <a:spcPct val="95000"/>
              </a:lnSpc>
              <a:spcBef>
                <a:spcPts val="600"/>
              </a:spcBef>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5614980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ullet2">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19617" y="914400"/>
            <a:ext cx="11438467" cy="5394960"/>
          </a:xfrm>
        </p:spPr>
        <p:txBody>
          <a:bodyPr/>
          <a:lstStyle>
            <a:lvl1pPr>
              <a:lnSpc>
                <a:spcPct val="95000"/>
              </a:lnSpc>
              <a:spcBef>
                <a:spcPts val="1480"/>
              </a:spcBef>
              <a:defRPr sz="2200">
                <a:solidFill>
                  <a:srgbClr val="000000"/>
                </a:solidFill>
                <a:latin typeface="+mj-lt"/>
              </a:defRPr>
            </a:lvl1pPr>
            <a:lvl2pPr>
              <a:lnSpc>
                <a:spcPct val="95000"/>
              </a:lnSpc>
              <a:spcBef>
                <a:spcPts val="600"/>
              </a:spcBef>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3143365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ullet_Heavy Text">
    <p:spTree>
      <p:nvGrpSpPr>
        <p:cNvPr id="1" name=""/>
        <p:cNvGrpSpPr/>
        <p:nvPr/>
      </p:nvGrpSpPr>
      <p:grpSpPr>
        <a:xfrm>
          <a:off x="0" y="0"/>
          <a:ext cx="0" cy="0"/>
          <a:chOff x="0" y="0"/>
          <a:chExt cx="0" cy="0"/>
        </a:xfrm>
      </p:grpSpPr>
      <p:sp>
        <p:nvSpPr>
          <p:cNvPr id="4" name="Text Placeholder 3"/>
          <p:cNvSpPr>
            <a:spLocks noGrp="1" noChangeAspect="1"/>
          </p:cNvSpPr>
          <p:nvPr>
            <p:ph type="body" sz="quarter" idx="10"/>
          </p:nvPr>
        </p:nvSpPr>
        <p:spPr>
          <a:xfrm>
            <a:off x="319618" y="914401"/>
            <a:ext cx="5496567" cy="5391045"/>
          </a:xfrm>
        </p:spPr>
        <p:txBody>
          <a:bodyPr>
            <a:normAutofit/>
          </a:bodyPr>
          <a:lstStyle>
            <a:lvl1pPr>
              <a:lnSpc>
                <a:spcPct val="95000"/>
              </a:lnSpc>
              <a:spcBef>
                <a:spcPts val="1480"/>
              </a:spcBef>
              <a:defRPr sz="1800">
                <a:solidFill>
                  <a:srgbClr val="000000"/>
                </a:solidFill>
                <a:latin typeface="+mj-lt"/>
              </a:defRPr>
            </a:lvl1pPr>
            <a:lvl2pPr>
              <a:lnSpc>
                <a:spcPct val="95000"/>
              </a:lnSpc>
              <a:spcBef>
                <a:spcPts val="600"/>
              </a:spcBef>
              <a:defRPr sz="1400">
                <a:solidFill>
                  <a:srgbClr val="000000"/>
                </a:solidFill>
                <a:latin typeface="+mj-lt"/>
              </a:defRPr>
            </a:lvl2pPr>
            <a:lvl3pPr>
              <a:defRPr sz="1200">
                <a:solidFill>
                  <a:srgbClr val="000000"/>
                </a:solidFill>
                <a:latin typeface="+mj-lt"/>
              </a:defRPr>
            </a:lvl3pPr>
            <a:lvl4pPr>
              <a:defRPr sz="1100">
                <a:solidFill>
                  <a:srgbClr val="000000"/>
                </a:solidFill>
                <a:latin typeface="+mj-lt"/>
              </a:defRPr>
            </a:lvl4pPr>
            <a:lvl5pPr>
              <a:defRPr sz="1100">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275709" y="914401"/>
            <a:ext cx="5496567" cy="5391045"/>
          </a:xfrm>
        </p:spPr>
        <p:txBody>
          <a:bodyPr>
            <a:normAutofit/>
          </a:bodyPr>
          <a:lstStyle>
            <a:lvl1pPr>
              <a:lnSpc>
                <a:spcPct val="95000"/>
              </a:lnSpc>
              <a:spcBef>
                <a:spcPts val="1480"/>
              </a:spcBef>
              <a:defRPr sz="1800">
                <a:solidFill>
                  <a:srgbClr val="000000"/>
                </a:solidFill>
                <a:latin typeface="+mj-lt"/>
              </a:defRPr>
            </a:lvl1pPr>
            <a:lvl2pPr>
              <a:lnSpc>
                <a:spcPct val="95000"/>
              </a:lnSpc>
              <a:spcBef>
                <a:spcPts val="600"/>
              </a:spcBef>
              <a:defRPr sz="1400">
                <a:solidFill>
                  <a:srgbClr val="000000"/>
                </a:solidFill>
                <a:latin typeface="+mj-lt"/>
              </a:defRPr>
            </a:lvl2pPr>
            <a:lvl3pPr>
              <a:defRPr sz="1200">
                <a:solidFill>
                  <a:srgbClr val="000000"/>
                </a:solidFill>
                <a:latin typeface="+mj-lt"/>
              </a:defRPr>
            </a:lvl3pPr>
            <a:lvl4pPr>
              <a:defRPr sz="1100">
                <a:solidFill>
                  <a:srgbClr val="000000"/>
                </a:solidFill>
                <a:latin typeface="+mj-lt"/>
              </a:defRPr>
            </a:lvl4pPr>
            <a:lvl5pPr>
              <a:defRPr sz="1100">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37660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01C62-9724-4230-B8E4-0FE573A11A38}" type="datetimeFigureOut">
              <a:rPr lang="en-SG" smtClean="0"/>
              <a:t>4/10/2018</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FAD32-A482-4C98-976B-612E7700232B}" type="slidenum">
              <a:rPr lang="en-SG" smtClean="0"/>
              <a:t>‹#›</a:t>
            </a:fld>
            <a:endParaRPr lang="en-SG"/>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785445" y="156548"/>
            <a:ext cx="2347642" cy="514020"/>
          </a:xfrm>
          <a:prstGeom prst="rect">
            <a:avLst/>
          </a:prstGeom>
        </p:spPr>
      </p:pic>
    </p:spTree>
    <p:extLst>
      <p:ext uri="{BB962C8B-B14F-4D97-AF65-F5344CB8AC3E}">
        <p14:creationId xmlns:p14="http://schemas.microsoft.com/office/powerpoint/2010/main" val="220196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Advanced ACLs</a:t>
            </a:r>
          </a:p>
        </p:txBody>
      </p:sp>
      <p:sp>
        <p:nvSpPr>
          <p:cNvPr id="3" name="Subtitle 2"/>
          <p:cNvSpPr>
            <a:spLocks noGrp="1"/>
          </p:cNvSpPr>
          <p:nvPr>
            <p:ph type="subTitle" idx="1"/>
          </p:nvPr>
        </p:nvSpPr>
        <p:spPr/>
        <p:txBody>
          <a:bodyPr/>
          <a:lstStyle/>
          <a:p>
            <a:r>
              <a:rPr lang="en-SG" dirty="0"/>
              <a:t>Chapter 8</a:t>
            </a:r>
          </a:p>
        </p:txBody>
      </p:sp>
    </p:spTree>
    <p:extLst>
      <p:ext uri="{BB962C8B-B14F-4D97-AF65-F5344CB8AC3E}">
        <p14:creationId xmlns:p14="http://schemas.microsoft.com/office/powerpoint/2010/main" val="4257047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Learning Outcomes</a:t>
            </a:r>
          </a:p>
        </p:txBody>
      </p:sp>
      <p:sp>
        <p:nvSpPr>
          <p:cNvPr id="3" name="Content Placeholder 2"/>
          <p:cNvSpPr>
            <a:spLocks noGrp="1"/>
          </p:cNvSpPr>
          <p:nvPr>
            <p:ph idx="1"/>
          </p:nvPr>
        </p:nvSpPr>
        <p:spPr/>
        <p:txBody>
          <a:bodyPr/>
          <a:lstStyle/>
          <a:p>
            <a:pPr lvl="0"/>
            <a:r>
              <a:rPr lang="en-SG" dirty="0"/>
              <a:t>Explore advanced security implementations on enterprise networks using various advanced access control lists.</a:t>
            </a:r>
          </a:p>
          <a:p>
            <a:pPr marL="0" lvl="0" indent="0">
              <a:buNone/>
            </a:pPr>
            <a:endParaRPr lang="en-SG" dirty="0"/>
          </a:p>
        </p:txBody>
      </p:sp>
    </p:spTree>
    <p:extLst>
      <p:ext uri="{BB962C8B-B14F-4D97-AF65-F5344CB8AC3E}">
        <p14:creationId xmlns:p14="http://schemas.microsoft.com/office/powerpoint/2010/main" val="3813517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82640" y="1569492"/>
            <a:ext cx="9826388" cy="4739867"/>
          </a:xfrm>
        </p:spPr>
        <p:txBody>
          <a:bodyPr>
            <a:noAutofit/>
          </a:bodyPr>
          <a:lstStyle/>
          <a:p>
            <a:pPr marL="0" indent="0">
              <a:buNone/>
            </a:pPr>
            <a:r>
              <a:rPr lang="en-SG" sz="2400" dirty="0">
                <a:latin typeface="Gill Sans MT" panose="020B0502020104020203" pitchFamily="34" charset="0"/>
              </a:rPr>
              <a:t>In order to control access to routers and switches, we can configure ACLs on the VTY lines to prevent unauthorised users from SSH/</a:t>
            </a:r>
            <a:r>
              <a:rPr lang="en-SG" sz="2400" dirty="0" err="1">
                <a:latin typeface="Gill Sans MT" panose="020B0502020104020203" pitchFamily="34" charset="0"/>
              </a:rPr>
              <a:t>Telnetting</a:t>
            </a:r>
            <a:r>
              <a:rPr lang="en-SG" sz="2400" dirty="0">
                <a:latin typeface="Gill Sans MT" panose="020B0502020104020203" pitchFamily="34" charset="0"/>
              </a:rPr>
              <a:t> into the equipment.</a:t>
            </a:r>
          </a:p>
          <a:p>
            <a:pPr marL="0" indent="0">
              <a:buNone/>
            </a:pPr>
            <a:r>
              <a:rPr lang="en-SG" sz="2400" dirty="0">
                <a:solidFill>
                  <a:srgbClr val="002060"/>
                </a:solidFill>
                <a:latin typeface="Gill Sans MT" panose="020B0502020104020203" pitchFamily="34" charset="0"/>
              </a:rPr>
              <a:t>R1(</a:t>
            </a:r>
            <a:r>
              <a:rPr lang="en-SG" sz="2400" dirty="0" err="1">
                <a:solidFill>
                  <a:srgbClr val="002060"/>
                </a:solidFill>
                <a:latin typeface="Gill Sans MT" panose="020B0502020104020203" pitchFamily="34" charset="0"/>
              </a:rPr>
              <a:t>config</a:t>
            </a:r>
            <a:r>
              <a:rPr lang="en-SG" sz="2400" dirty="0">
                <a:solidFill>
                  <a:srgbClr val="002060"/>
                </a:solidFill>
                <a:latin typeface="Gill Sans MT" panose="020B0502020104020203" pitchFamily="34" charset="0"/>
              </a:rPr>
              <a:t>)# access-list 1 permit 172.16.0.0 0.0.255.255</a:t>
            </a:r>
          </a:p>
          <a:p>
            <a:pPr marL="0" indent="0">
              <a:buNone/>
            </a:pPr>
            <a:r>
              <a:rPr lang="en-SG" sz="2400" dirty="0">
                <a:solidFill>
                  <a:srgbClr val="002060"/>
                </a:solidFill>
                <a:latin typeface="Gill Sans MT" panose="020B0502020104020203" pitchFamily="34" charset="0"/>
              </a:rPr>
              <a:t>R1(</a:t>
            </a:r>
            <a:r>
              <a:rPr lang="en-SG" sz="2400" dirty="0" err="1">
                <a:solidFill>
                  <a:srgbClr val="002060"/>
                </a:solidFill>
                <a:latin typeface="Gill Sans MT" panose="020B0502020104020203" pitchFamily="34" charset="0"/>
              </a:rPr>
              <a:t>config</a:t>
            </a:r>
            <a:r>
              <a:rPr lang="en-SG" sz="2400" dirty="0">
                <a:solidFill>
                  <a:srgbClr val="002060"/>
                </a:solidFill>
                <a:latin typeface="Gill Sans MT" panose="020B0502020104020203" pitchFamily="34" charset="0"/>
              </a:rPr>
              <a:t>)# Deny any</a:t>
            </a:r>
          </a:p>
          <a:p>
            <a:pPr marL="0" indent="0">
              <a:buNone/>
            </a:pPr>
            <a:r>
              <a:rPr lang="en-SG" sz="2400" dirty="0">
                <a:latin typeface="Gill Sans MT" panose="020B0502020104020203" pitchFamily="34" charset="0"/>
              </a:rPr>
              <a:t>Permit the Admin staff on the 172.16.0.0 network to access the router and no one else.</a:t>
            </a:r>
          </a:p>
          <a:p>
            <a:pPr marL="0" indent="0">
              <a:buNone/>
            </a:pPr>
            <a:r>
              <a:rPr lang="en-SG" sz="2400" dirty="0">
                <a:solidFill>
                  <a:srgbClr val="002060"/>
                </a:solidFill>
                <a:latin typeface="Gill Sans MT" panose="020B0502020104020203" pitchFamily="34" charset="0"/>
              </a:rPr>
              <a:t>R1(</a:t>
            </a:r>
            <a:r>
              <a:rPr lang="en-SG" sz="2400" dirty="0" err="1">
                <a:solidFill>
                  <a:srgbClr val="002060"/>
                </a:solidFill>
                <a:latin typeface="Gill Sans MT" panose="020B0502020104020203" pitchFamily="34" charset="0"/>
              </a:rPr>
              <a:t>config</a:t>
            </a:r>
            <a:r>
              <a:rPr lang="en-SG" sz="2400" dirty="0">
                <a:solidFill>
                  <a:srgbClr val="002060"/>
                </a:solidFill>
                <a:latin typeface="Gill Sans MT" panose="020B0502020104020203" pitchFamily="34" charset="0"/>
              </a:rPr>
              <a:t>)#line </a:t>
            </a:r>
            <a:r>
              <a:rPr lang="en-SG" sz="2400" dirty="0" err="1">
                <a:solidFill>
                  <a:srgbClr val="002060"/>
                </a:solidFill>
                <a:latin typeface="Gill Sans MT" panose="020B0502020104020203" pitchFamily="34" charset="0"/>
              </a:rPr>
              <a:t>vty</a:t>
            </a:r>
            <a:r>
              <a:rPr lang="en-SG" sz="2400" dirty="0">
                <a:solidFill>
                  <a:srgbClr val="002060"/>
                </a:solidFill>
                <a:latin typeface="Gill Sans MT" panose="020B0502020104020203" pitchFamily="34" charset="0"/>
              </a:rPr>
              <a:t> 0 5</a:t>
            </a:r>
          </a:p>
          <a:p>
            <a:pPr marL="0" indent="0">
              <a:buNone/>
            </a:pPr>
            <a:r>
              <a:rPr lang="en-SG" sz="2400" dirty="0">
                <a:solidFill>
                  <a:srgbClr val="002060"/>
                </a:solidFill>
                <a:latin typeface="Gill Sans MT" panose="020B0502020104020203" pitchFamily="34" charset="0"/>
              </a:rPr>
              <a:t>R1(</a:t>
            </a:r>
            <a:r>
              <a:rPr lang="en-SG" sz="2400" dirty="0" err="1">
                <a:solidFill>
                  <a:srgbClr val="002060"/>
                </a:solidFill>
                <a:latin typeface="Gill Sans MT" panose="020B0502020104020203" pitchFamily="34" charset="0"/>
              </a:rPr>
              <a:t>config</a:t>
            </a:r>
            <a:r>
              <a:rPr lang="en-SG" sz="2400" dirty="0">
                <a:solidFill>
                  <a:srgbClr val="002060"/>
                </a:solidFill>
                <a:latin typeface="Gill Sans MT" panose="020B0502020104020203" pitchFamily="34" charset="0"/>
              </a:rPr>
              <a:t>-line)#access-class 1 in</a:t>
            </a:r>
          </a:p>
          <a:p>
            <a:pPr marL="0" indent="0">
              <a:buNone/>
            </a:pPr>
            <a:r>
              <a:rPr lang="en-SG" sz="2400" dirty="0">
                <a:latin typeface="Gill Sans MT" panose="020B0502020104020203" pitchFamily="34" charset="0"/>
              </a:rPr>
              <a:t>Configures the line to police anyone who tries to  login against the access-list and if there is a match of source address, allow them.</a:t>
            </a:r>
          </a:p>
        </p:txBody>
      </p:sp>
      <p:sp>
        <p:nvSpPr>
          <p:cNvPr id="3" name="Title 2"/>
          <p:cNvSpPr>
            <a:spLocks noGrp="1"/>
          </p:cNvSpPr>
          <p:nvPr>
            <p:ph type="title"/>
          </p:nvPr>
        </p:nvSpPr>
        <p:spPr/>
        <p:txBody>
          <a:bodyPr/>
          <a:lstStyle/>
          <a:p>
            <a:r>
              <a:rPr lang="en-SG" dirty="0"/>
              <a:t>VTY ACLs</a:t>
            </a:r>
          </a:p>
        </p:txBody>
      </p:sp>
    </p:spTree>
    <p:extLst>
      <p:ext uri="{BB962C8B-B14F-4D97-AF65-F5344CB8AC3E}">
        <p14:creationId xmlns:p14="http://schemas.microsoft.com/office/powerpoint/2010/main" val="109078631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Placement of ACLs</a:t>
            </a:r>
          </a:p>
        </p:txBody>
      </p:sp>
      <p:sp>
        <p:nvSpPr>
          <p:cNvPr id="5" name="Content Placeholder 2"/>
          <p:cNvSpPr>
            <a:spLocks noGrp="1"/>
          </p:cNvSpPr>
          <p:nvPr>
            <p:ph idx="1"/>
          </p:nvPr>
        </p:nvSpPr>
        <p:spPr>
          <a:xfrm>
            <a:off x="838200" y="1825625"/>
            <a:ext cx="10515600" cy="4351338"/>
          </a:xfrm>
        </p:spPr>
        <p:txBody>
          <a:bodyPr>
            <a:normAutofit/>
          </a:bodyPr>
          <a:lstStyle/>
          <a:p>
            <a:pPr marL="0" indent="0">
              <a:buNone/>
            </a:pPr>
            <a:r>
              <a:rPr lang="en-SG" dirty="0"/>
              <a:t>Every ACL should be placed where it has the greatest impact on efficiency. The basic rules are:</a:t>
            </a:r>
          </a:p>
          <a:p>
            <a:r>
              <a:rPr lang="en-SG" dirty="0"/>
              <a:t>Extended ACLs - Locate extended ACLs as close as possible to the source of the traffic to be filtered. </a:t>
            </a:r>
          </a:p>
          <a:p>
            <a:r>
              <a:rPr lang="en-SG" dirty="0"/>
              <a:t>Standard ACLs - Because standard ACLs do not specify destination addresses, place them as close to the destination as possible.</a:t>
            </a:r>
          </a:p>
        </p:txBody>
      </p:sp>
    </p:spTree>
    <p:extLst>
      <p:ext uri="{BB962C8B-B14F-4D97-AF65-F5344CB8AC3E}">
        <p14:creationId xmlns:p14="http://schemas.microsoft.com/office/powerpoint/2010/main" val="3266883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214795" y="753586"/>
            <a:ext cx="7801945" cy="3918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301458" y="4538159"/>
            <a:ext cx="8568222" cy="2141220"/>
          </a:xfrm>
          <a:prstGeom prst="rect">
            <a:avLst/>
          </a:prstGeom>
          <a:solidFill>
            <a:srgbClr val="C0C0C4"/>
          </a:solidFill>
          <a:ln w="9525">
            <a:solidFill>
              <a:srgbClr val="000000"/>
            </a:solidFill>
            <a:miter lim="800000"/>
            <a:headEnd/>
            <a:tailEnd/>
          </a:ln>
        </p:spPr>
        <p:txBody>
          <a:bodyPr tIns="0" bIns="0">
            <a:noAutofit/>
          </a:bodyPr>
          <a:lstStyle>
            <a:lvl1pPr>
              <a:defRPr b="1">
                <a:solidFill>
                  <a:schemeClr val="tx1"/>
                </a:solidFill>
                <a:latin typeface="Arial" charset="0"/>
                <a:ea typeface="ＭＳ Ｐゴシック" charset="0"/>
              </a:defRPr>
            </a:lvl1pPr>
            <a:lvl2pPr marL="742950" indent="-285750">
              <a:defRPr b="1">
                <a:solidFill>
                  <a:schemeClr val="tx1"/>
                </a:solidFill>
                <a:latin typeface="Arial" charset="0"/>
                <a:ea typeface="ＭＳ Ｐゴシック" charset="0"/>
              </a:defRPr>
            </a:lvl2pPr>
            <a:lvl3pPr marL="1143000" indent="-228600">
              <a:defRPr b="1">
                <a:solidFill>
                  <a:schemeClr val="tx1"/>
                </a:solidFill>
                <a:latin typeface="Arial" charset="0"/>
                <a:ea typeface="ＭＳ Ｐゴシック" charset="0"/>
              </a:defRPr>
            </a:lvl3pPr>
            <a:lvl4pPr marL="1600200" indent="-228600">
              <a:defRPr b="1">
                <a:solidFill>
                  <a:schemeClr val="tx1"/>
                </a:solidFill>
                <a:latin typeface="Arial" charset="0"/>
                <a:ea typeface="ＭＳ Ｐゴシック" charset="0"/>
              </a:defRPr>
            </a:lvl4pPr>
            <a:lvl5pPr marL="2057400" indent="-228600">
              <a:defRPr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b="1">
                <a:solidFill>
                  <a:schemeClr val="tx1"/>
                </a:solidFill>
                <a:latin typeface="Arial" charset="0"/>
                <a:ea typeface="ＭＳ Ｐゴシック" charset="0"/>
              </a:defRPr>
            </a:lvl9pPr>
          </a:lstStyle>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a:t>
            </a:r>
            <a:r>
              <a:rPr lang="en-US" b="0" dirty="0">
                <a:solidFill>
                  <a:srgbClr val="000000"/>
                </a:solidFill>
                <a:latin typeface="Courier New" charset="0"/>
              </a:rPr>
              <a:t>)# </a:t>
            </a:r>
            <a:r>
              <a:rPr lang="en-US" dirty="0" err="1">
                <a:solidFill>
                  <a:srgbClr val="000000"/>
                </a:solidFill>
                <a:latin typeface="Courier New" charset="0"/>
              </a:rPr>
              <a:t>ip</a:t>
            </a:r>
            <a:r>
              <a:rPr lang="en-US" dirty="0">
                <a:solidFill>
                  <a:srgbClr val="000000"/>
                </a:solidFill>
                <a:latin typeface="Courier New" charset="0"/>
              </a:rPr>
              <a:t> access-list extended ACL-2</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config-ext-nacl</a:t>
            </a:r>
            <a:r>
              <a:rPr lang="en-US" b="0" dirty="0">
                <a:solidFill>
                  <a:srgbClr val="000000"/>
                </a:solidFill>
                <a:latin typeface="Courier New" charset="0"/>
              </a:rPr>
              <a:t>)# </a:t>
            </a:r>
            <a:r>
              <a:rPr lang="en-US" dirty="0">
                <a:solidFill>
                  <a:srgbClr val="000000"/>
                </a:solidFill>
                <a:latin typeface="Courier New" charset="0"/>
              </a:rPr>
              <a:t>remark DMZ ACL</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config-ext-nacl</a:t>
            </a:r>
            <a:r>
              <a:rPr lang="en-US" b="0" dirty="0">
                <a:solidFill>
                  <a:srgbClr val="000000"/>
                </a:solidFill>
                <a:latin typeface="Courier New" charset="0"/>
              </a:rPr>
              <a:t>)# </a:t>
            </a:r>
            <a:r>
              <a:rPr lang="en-US" dirty="0">
                <a:solidFill>
                  <a:srgbClr val="000000"/>
                </a:solidFill>
                <a:latin typeface="Courier New" charset="0"/>
              </a:rPr>
              <a:t>permit </a:t>
            </a:r>
            <a:r>
              <a:rPr lang="en-US" dirty="0" err="1">
                <a:solidFill>
                  <a:srgbClr val="000000"/>
                </a:solidFill>
                <a:latin typeface="Courier New" charset="0"/>
              </a:rPr>
              <a:t>tcp</a:t>
            </a:r>
            <a:r>
              <a:rPr lang="en-US" dirty="0">
                <a:solidFill>
                  <a:srgbClr val="000000"/>
                </a:solidFill>
                <a:latin typeface="Courier New" charset="0"/>
              </a:rPr>
              <a:t> any host 192.168.2.5 </a:t>
            </a:r>
            <a:r>
              <a:rPr lang="en-US" dirty="0" err="1">
                <a:solidFill>
                  <a:srgbClr val="000000"/>
                </a:solidFill>
                <a:latin typeface="Courier New" charset="0"/>
              </a:rPr>
              <a:t>eq</a:t>
            </a:r>
            <a:r>
              <a:rPr lang="en-US" dirty="0">
                <a:solidFill>
                  <a:srgbClr val="000000"/>
                </a:solidFill>
                <a:latin typeface="Courier New" charset="0"/>
              </a:rPr>
              <a:t> 25</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config-ext-nacl</a:t>
            </a:r>
            <a:r>
              <a:rPr lang="en-US" b="0" dirty="0">
                <a:solidFill>
                  <a:srgbClr val="000000"/>
                </a:solidFill>
                <a:latin typeface="Courier New" charset="0"/>
              </a:rPr>
              <a:t>)# </a:t>
            </a:r>
            <a:r>
              <a:rPr lang="en-US" dirty="0">
                <a:solidFill>
                  <a:srgbClr val="000000"/>
                </a:solidFill>
                <a:latin typeface="Courier New" charset="0"/>
              </a:rPr>
              <a:t>permit </a:t>
            </a:r>
            <a:r>
              <a:rPr lang="en-US" dirty="0" err="1">
                <a:solidFill>
                  <a:srgbClr val="000000"/>
                </a:solidFill>
                <a:latin typeface="Courier New" charset="0"/>
              </a:rPr>
              <a:t>tcp</a:t>
            </a:r>
            <a:r>
              <a:rPr lang="en-US" dirty="0">
                <a:solidFill>
                  <a:srgbClr val="000000"/>
                </a:solidFill>
                <a:latin typeface="Courier New" charset="0"/>
              </a:rPr>
              <a:t> any host 192.168.2.6 </a:t>
            </a:r>
            <a:r>
              <a:rPr lang="en-US" dirty="0" err="1">
                <a:solidFill>
                  <a:srgbClr val="000000"/>
                </a:solidFill>
                <a:latin typeface="Courier New" charset="0"/>
              </a:rPr>
              <a:t>eq</a:t>
            </a:r>
            <a:r>
              <a:rPr lang="en-US" dirty="0">
                <a:solidFill>
                  <a:srgbClr val="000000"/>
                </a:solidFill>
                <a:latin typeface="Courier New" charset="0"/>
              </a:rPr>
              <a:t> 80</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config-ext-nacl</a:t>
            </a:r>
            <a:r>
              <a:rPr lang="en-US" b="0" dirty="0">
                <a:solidFill>
                  <a:srgbClr val="000000"/>
                </a:solidFill>
                <a:latin typeface="Courier New" charset="0"/>
              </a:rPr>
              <a:t>)# </a:t>
            </a:r>
            <a:r>
              <a:rPr lang="en-US" dirty="0">
                <a:solidFill>
                  <a:srgbClr val="000000"/>
                </a:solidFill>
                <a:latin typeface="Courier New" charset="0"/>
              </a:rPr>
              <a:t>deny </a:t>
            </a:r>
            <a:r>
              <a:rPr lang="en-US" dirty="0" err="1">
                <a:solidFill>
                  <a:srgbClr val="000000"/>
                </a:solidFill>
                <a:latin typeface="Courier New" charset="0"/>
              </a:rPr>
              <a:t>ip</a:t>
            </a:r>
            <a:r>
              <a:rPr lang="en-US" dirty="0">
                <a:solidFill>
                  <a:srgbClr val="000000"/>
                </a:solidFill>
                <a:latin typeface="Courier New" charset="0"/>
              </a:rPr>
              <a:t> any any</a:t>
            </a:r>
            <a:r>
              <a:rPr lang="en-US" b="0" dirty="0">
                <a:solidFill>
                  <a:srgbClr val="000000"/>
                </a:solidFill>
                <a:latin typeface="Courier New" charset="0"/>
              </a:rPr>
              <a:t>                  </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config-ext-nacl</a:t>
            </a:r>
            <a:r>
              <a:rPr lang="en-US" b="0" dirty="0">
                <a:solidFill>
                  <a:srgbClr val="000000"/>
                </a:solidFill>
                <a:latin typeface="Courier New" charset="0"/>
              </a:rPr>
              <a:t>)# </a:t>
            </a:r>
            <a:r>
              <a:rPr lang="en-US" dirty="0">
                <a:solidFill>
                  <a:srgbClr val="000000"/>
                </a:solidFill>
                <a:latin typeface="Courier New" charset="0"/>
              </a:rPr>
              <a:t>interface Fa0/1</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a:t>
            </a:r>
            <a:r>
              <a:rPr lang="en-US" b="0" dirty="0">
                <a:solidFill>
                  <a:srgbClr val="000000"/>
                </a:solidFill>
                <a:latin typeface="Courier New" charset="0"/>
              </a:rPr>
              <a:t>-if)# </a:t>
            </a:r>
            <a:r>
              <a:rPr lang="en-US" dirty="0" err="1">
                <a:solidFill>
                  <a:srgbClr val="000000"/>
                </a:solidFill>
                <a:latin typeface="Courier New" charset="0"/>
              </a:rPr>
              <a:t>ip</a:t>
            </a:r>
            <a:r>
              <a:rPr lang="en-US" dirty="0">
                <a:solidFill>
                  <a:srgbClr val="000000"/>
                </a:solidFill>
                <a:latin typeface="Courier New" charset="0"/>
              </a:rPr>
              <a:t> access-group ACL-2 out</a:t>
            </a:r>
            <a:r>
              <a:rPr lang="en-US" b="0" dirty="0">
                <a:solidFill>
                  <a:srgbClr val="000000"/>
                </a:solidFill>
                <a:latin typeface="Courier New" charset="0"/>
              </a:rPr>
              <a:t>                       </a:t>
            </a:r>
          </a:p>
          <a:p>
            <a:pPr eaLnBrk="1" hangingPunct="1">
              <a:lnSpc>
                <a:spcPct val="100000"/>
              </a:lnSpc>
            </a:pPr>
            <a:r>
              <a:rPr lang="en-US" b="0" dirty="0">
                <a:solidFill>
                  <a:srgbClr val="000000"/>
                </a:solidFill>
                <a:latin typeface="Courier New" charset="0"/>
              </a:rPr>
              <a:t>R1(</a:t>
            </a:r>
            <a:r>
              <a:rPr lang="en-US" b="0" dirty="0" err="1">
                <a:solidFill>
                  <a:srgbClr val="000000"/>
                </a:solidFill>
                <a:latin typeface="Courier New" charset="0"/>
              </a:rPr>
              <a:t>config</a:t>
            </a:r>
            <a:r>
              <a:rPr lang="en-US" b="0" dirty="0">
                <a:solidFill>
                  <a:srgbClr val="000000"/>
                </a:solidFill>
                <a:latin typeface="Courier New" charset="0"/>
              </a:rPr>
              <a:t>-if)# </a:t>
            </a:r>
            <a:r>
              <a:rPr lang="en-US" dirty="0">
                <a:solidFill>
                  <a:srgbClr val="000000"/>
                </a:solidFill>
                <a:latin typeface="Courier New" charset="0"/>
              </a:rPr>
              <a:t>exit</a:t>
            </a:r>
            <a:endParaRPr lang="en-US" b="0" dirty="0">
              <a:solidFill>
                <a:srgbClr val="000000"/>
              </a:solidFill>
              <a:latin typeface="Courier New" charset="0"/>
            </a:endParaRPr>
          </a:p>
        </p:txBody>
      </p:sp>
      <p:sp>
        <p:nvSpPr>
          <p:cNvPr id="2" name="Title 1"/>
          <p:cNvSpPr>
            <a:spLocks noGrp="1"/>
          </p:cNvSpPr>
          <p:nvPr>
            <p:ph type="title"/>
          </p:nvPr>
        </p:nvSpPr>
        <p:spPr/>
        <p:txBody>
          <a:bodyPr/>
          <a:lstStyle/>
          <a:p>
            <a:r>
              <a:rPr lang="en-SG" dirty="0"/>
              <a:t>Example of ACL</a:t>
            </a:r>
          </a:p>
        </p:txBody>
      </p:sp>
      <p:sp>
        <p:nvSpPr>
          <p:cNvPr id="8" name="Rectangle 7"/>
          <p:cNvSpPr/>
          <p:nvPr/>
        </p:nvSpPr>
        <p:spPr>
          <a:xfrm>
            <a:off x="301458" y="1648119"/>
            <a:ext cx="4450080" cy="2677656"/>
          </a:xfrm>
          <a:prstGeom prst="rect">
            <a:avLst/>
          </a:prstGeom>
        </p:spPr>
        <p:txBody>
          <a:bodyPr wrap="square">
            <a:spAutoFit/>
          </a:bodyPr>
          <a:lstStyle/>
          <a:p>
            <a:r>
              <a:rPr lang="en-SG" sz="2800" dirty="0">
                <a:latin typeface="Gill Sans MT" panose="020B0502020104020203" pitchFamily="34" charset="0"/>
              </a:rPr>
              <a:t>Create an extended named ACL called ACL-2, applied outgoing on the Fa0/1 DMZ interface, permitting access to the specified Web and Email servers</a:t>
            </a:r>
          </a:p>
        </p:txBody>
      </p:sp>
    </p:spTree>
    <p:extLst>
      <p:ext uri="{BB962C8B-B14F-4D97-AF65-F5344CB8AC3E}">
        <p14:creationId xmlns:p14="http://schemas.microsoft.com/office/powerpoint/2010/main" val="213551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left)">
                                      <p:cBhvr>
                                        <p:cTn id="7" dur="5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left)">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wipe(left)">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wipe(left)">
                                      <p:cBhvr>
                                        <p:cTn id="32" dur="5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wipe(left)">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Effect transition="in" filter="wipe(left)">
                                      <p:cBhvr>
                                        <p:cTn id="42" dur="500"/>
                                        <p:tgtEl>
                                          <p:spTgt spid="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wipe(left)">
                                      <p:cBhvr>
                                        <p:cTn id="4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Advanced ACLs</a:t>
            </a:r>
          </a:p>
        </p:txBody>
      </p:sp>
      <p:sp>
        <p:nvSpPr>
          <p:cNvPr id="4" name="TextBox 3"/>
          <p:cNvSpPr txBox="1"/>
          <p:nvPr/>
        </p:nvSpPr>
        <p:spPr>
          <a:xfrm>
            <a:off x="525780" y="1865353"/>
            <a:ext cx="10287000" cy="1569660"/>
          </a:xfrm>
          <a:prstGeom prst="rect">
            <a:avLst/>
          </a:prstGeom>
          <a:noFill/>
        </p:spPr>
        <p:txBody>
          <a:bodyPr wrap="square" rtlCol="0">
            <a:spAutoFit/>
          </a:bodyPr>
          <a:lstStyle/>
          <a:p>
            <a:pPr marL="457200" indent="-457200" algn="l">
              <a:buFont typeface="Arial" panose="020B0604020202020204" pitchFamily="34" charset="0"/>
              <a:buChar char="•"/>
            </a:pPr>
            <a:r>
              <a:rPr lang="en-US" sz="3200" dirty="0">
                <a:latin typeface="Gill Sans MT" panose="020B0502020104020203" pitchFamily="34" charset="0"/>
              </a:rPr>
              <a:t>Extended IP ACLs using TCP Established</a:t>
            </a:r>
          </a:p>
          <a:p>
            <a:pPr marL="457200" indent="-457200" algn="l">
              <a:buFont typeface="Arial" panose="020B0604020202020204" pitchFamily="34" charset="0"/>
              <a:buChar char="•"/>
            </a:pPr>
            <a:r>
              <a:rPr lang="en-US" sz="3200" dirty="0">
                <a:latin typeface="Gill Sans MT" panose="020B0502020104020203" pitchFamily="34" charset="0"/>
              </a:rPr>
              <a:t>Reflexive ACLs</a:t>
            </a:r>
          </a:p>
          <a:p>
            <a:pPr marL="457200" indent="-457200" algn="l">
              <a:buFont typeface="Arial" panose="020B0604020202020204" pitchFamily="34" charset="0"/>
              <a:buChar char="•"/>
            </a:pPr>
            <a:r>
              <a:rPr lang="en-US" sz="3200" dirty="0">
                <a:latin typeface="Gill Sans MT" panose="020B0502020104020203" pitchFamily="34" charset="0"/>
              </a:rPr>
              <a:t>Time- Based ACLs</a:t>
            </a:r>
          </a:p>
        </p:txBody>
      </p:sp>
    </p:spTree>
    <p:extLst>
      <p:ext uri="{BB962C8B-B14F-4D97-AF65-F5344CB8AC3E}">
        <p14:creationId xmlns:p14="http://schemas.microsoft.com/office/powerpoint/2010/main" val="3704826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sz="quarter" idx="10"/>
          </p:nvPr>
        </p:nvSpPr>
        <p:spPr>
          <a:xfrm>
            <a:off x="838200" y="1690688"/>
            <a:ext cx="10226040" cy="5167312"/>
          </a:xfrm>
        </p:spPr>
        <p:txBody>
          <a:bodyPr>
            <a:noAutofit/>
          </a:bodyPr>
          <a:lstStyle/>
          <a:p>
            <a:r>
              <a:rPr lang="en-US" sz="2800" dirty="0">
                <a:latin typeface="Gill Sans MT" panose="020B0502020104020203" pitchFamily="34" charset="0"/>
                <a:cs typeface="Arial" panose="020B0604020202020204" pitchFamily="34" charset="0"/>
              </a:rPr>
              <a:t>In a modern network all traffic from the outside should be blocked from entering the inside unless:</a:t>
            </a:r>
          </a:p>
          <a:p>
            <a:pPr lvl="1"/>
            <a:r>
              <a:rPr lang="en-US" sz="2800" dirty="0">
                <a:latin typeface="Gill Sans MT" panose="020B0502020104020203" pitchFamily="34" charset="0"/>
                <a:cs typeface="Arial" panose="020B0604020202020204" pitchFamily="34" charset="0"/>
              </a:rPr>
              <a:t>It is explicitly permitted by an ACL.</a:t>
            </a:r>
          </a:p>
          <a:p>
            <a:pPr lvl="1"/>
            <a:r>
              <a:rPr lang="en-US" sz="2800" dirty="0">
                <a:latin typeface="Gill Sans MT" panose="020B0502020104020203" pitchFamily="34" charset="0"/>
                <a:cs typeface="Arial" panose="020B0604020202020204" pitchFamily="34" charset="0"/>
              </a:rPr>
              <a:t>It is returning traffic initiated from the inside of the network. </a:t>
            </a:r>
          </a:p>
          <a:p>
            <a:r>
              <a:rPr lang="en-US" sz="2800" dirty="0">
                <a:latin typeface="Gill Sans MT" panose="020B0502020104020203" pitchFamily="34" charset="0"/>
                <a:cs typeface="Arial" panose="020B0604020202020204" pitchFamily="34" charset="0"/>
              </a:rPr>
              <a:t>Many common applications rely on TCP, which builds a virtual circuit between two endpoints. </a:t>
            </a:r>
          </a:p>
          <a:p>
            <a:r>
              <a:rPr lang="en-US" sz="2800" dirty="0">
                <a:latin typeface="Gill Sans MT" panose="020B0502020104020203" pitchFamily="34" charset="0"/>
                <a:cs typeface="Arial" panose="020B0604020202020204" pitchFamily="34" charset="0"/>
              </a:rPr>
              <a:t>Traffic filtering solutions based on the two way connectivity of TCP were introduced:</a:t>
            </a:r>
          </a:p>
          <a:p>
            <a:pPr lvl="1"/>
            <a:r>
              <a:rPr lang="en-US" sz="2800" dirty="0">
                <a:latin typeface="Gill Sans MT" panose="020B0502020104020203" pitchFamily="34" charset="0"/>
                <a:cs typeface="Arial" panose="020B0604020202020204" pitchFamily="34" charset="0"/>
              </a:rPr>
              <a:t>TCP Established</a:t>
            </a:r>
          </a:p>
          <a:p>
            <a:pPr lvl="1"/>
            <a:r>
              <a:rPr lang="en-US" sz="2800" dirty="0">
                <a:latin typeface="Gill Sans MT" panose="020B0502020104020203" pitchFamily="34" charset="0"/>
                <a:cs typeface="Arial" panose="020B0604020202020204" pitchFamily="34" charset="0"/>
              </a:rPr>
              <a:t>Reflexive ACLs</a:t>
            </a:r>
          </a:p>
        </p:txBody>
      </p:sp>
      <p:sp>
        <p:nvSpPr>
          <p:cNvPr id="34818" name="Rectangle 2"/>
          <p:cNvSpPr>
            <a:spLocks noGrp="1" noChangeArrowheads="1"/>
          </p:cNvSpPr>
          <p:nvPr>
            <p:ph type="title"/>
          </p:nvPr>
        </p:nvSpPr>
        <p:spPr/>
        <p:txBody>
          <a:bodyPr/>
          <a:lstStyle/>
          <a:p>
            <a:r>
              <a:rPr lang="en-US" dirty="0"/>
              <a:t>TCP Established ACLs</a:t>
            </a:r>
          </a:p>
        </p:txBody>
      </p:sp>
    </p:spTree>
    <p:extLst>
      <p:ext uri="{BB962C8B-B14F-4D97-AF65-F5344CB8AC3E}">
        <p14:creationId xmlns:p14="http://schemas.microsoft.com/office/powerpoint/2010/main" val="1861539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sz="quarter" idx="10"/>
          </p:nvPr>
        </p:nvSpPr>
        <p:spPr>
          <a:xfrm>
            <a:off x="838200" y="1473957"/>
            <a:ext cx="10028664" cy="4872251"/>
          </a:xfrm>
        </p:spPr>
        <p:txBody>
          <a:bodyPr>
            <a:noAutofit/>
          </a:bodyPr>
          <a:lstStyle/>
          <a:p>
            <a:pPr marL="0" indent="0">
              <a:buNone/>
            </a:pPr>
            <a:r>
              <a:rPr lang="en-US" sz="2800" dirty="0">
                <a:latin typeface="Gill Sans MT" panose="020B0502020104020203" pitchFamily="34" charset="0"/>
                <a:cs typeface="Arial" panose="020B0604020202020204" pitchFamily="34" charset="0"/>
              </a:rPr>
              <a:t>In 1995, the first generation IOS traffic filtering solution based on the TCP</a:t>
            </a:r>
            <a:r>
              <a:rPr lang="en-US" sz="2800" b="1" dirty="0">
                <a:latin typeface="Gill Sans MT" panose="020B0502020104020203" pitchFamily="34" charset="0"/>
                <a:cs typeface="Arial" panose="020B0604020202020204" pitchFamily="34" charset="0"/>
              </a:rPr>
              <a:t> </a:t>
            </a:r>
            <a:r>
              <a:rPr lang="en-US" sz="2800" b="1" dirty="0">
                <a:latin typeface="Gill Sans MT" panose="020B0502020104020203" pitchFamily="34" charset="0"/>
                <a:cs typeface="Courier New" panose="02070309020205020404" pitchFamily="49" charset="0"/>
              </a:rPr>
              <a:t>established</a:t>
            </a:r>
            <a:r>
              <a:rPr lang="en-US" sz="2800" b="1" dirty="0">
                <a:latin typeface="Gill Sans MT" panose="020B0502020104020203" pitchFamily="34" charset="0"/>
                <a:cs typeface="Arial" panose="020B0604020202020204" pitchFamily="34" charset="0"/>
              </a:rPr>
              <a:t> </a:t>
            </a:r>
            <a:r>
              <a:rPr lang="en-US" sz="2800" dirty="0">
                <a:latin typeface="Gill Sans MT" panose="020B0502020104020203" pitchFamily="34" charset="0"/>
                <a:cs typeface="Arial" panose="020B0604020202020204" pitchFamily="34" charset="0"/>
              </a:rPr>
              <a:t>keyword for extended IP ACLs. </a:t>
            </a:r>
          </a:p>
          <a:p>
            <a:pPr lvl="1"/>
            <a:r>
              <a:rPr lang="en-US" sz="2800" dirty="0">
                <a:latin typeface="Gill Sans MT" panose="020B0502020104020203" pitchFamily="34" charset="0"/>
                <a:cs typeface="Arial" panose="020B0604020202020204" pitchFamily="34" charset="0"/>
              </a:rPr>
              <a:t>The TCP</a:t>
            </a:r>
            <a:r>
              <a:rPr lang="en-US" sz="2800" b="1" dirty="0">
                <a:latin typeface="Gill Sans MT" panose="020B0502020104020203" pitchFamily="34" charset="0"/>
                <a:cs typeface="Arial" panose="020B0604020202020204" pitchFamily="34" charset="0"/>
              </a:rPr>
              <a:t> </a:t>
            </a:r>
            <a:r>
              <a:rPr lang="en-US" sz="2800" b="1" dirty="0">
                <a:latin typeface="Gill Sans MT" panose="020B0502020104020203" pitchFamily="34" charset="0"/>
                <a:cs typeface="Courier New" panose="02070309020205020404" pitchFamily="49" charset="0"/>
              </a:rPr>
              <a:t>established</a:t>
            </a:r>
            <a:r>
              <a:rPr lang="en-US" sz="2800" b="1" dirty="0">
                <a:latin typeface="Gill Sans MT" panose="020B0502020104020203" pitchFamily="34" charset="0"/>
                <a:cs typeface="Arial" panose="020B0604020202020204" pitchFamily="34" charset="0"/>
              </a:rPr>
              <a:t> </a:t>
            </a:r>
            <a:r>
              <a:rPr lang="en-US" sz="2800" dirty="0">
                <a:latin typeface="Gill Sans MT" panose="020B0502020104020203" pitchFamily="34" charset="0"/>
                <a:cs typeface="Arial" panose="020B0604020202020204" pitchFamily="34" charset="0"/>
              </a:rPr>
              <a:t>keyword blocks all traffic coming from the Internet except for the TCP reply traffic associated with established TCP traffic initiated from the inside of the network. </a:t>
            </a:r>
          </a:p>
          <a:p>
            <a:pPr marL="0" indent="0">
              <a:buNone/>
            </a:pPr>
            <a:r>
              <a:rPr lang="en-US" sz="2800" dirty="0">
                <a:latin typeface="Gill Sans MT" panose="020B0502020104020203" pitchFamily="34" charset="0"/>
                <a:cs typeface="Arial" panose="020B0604020202020204" pitchFamily="34" charset="0"/>
              </a:rPr>
              <a:t>The</a:t>
            </a:r>
            <a:r>
              <a:rPr lang="en-US" sz="2800" b="1" dirty="0">
                <a:latin typeface="Gill Sans MT" panose="020B0502020104020203" pitchFamily="34" charset="0"/>
                <a:cs typeface="Arial" panose="020B0604020202020204" pitchFamily="34" charset="0"/>
              </a:rPr>
              <a:t> </a:t>
            </a:r>
            <a:r>
              <a:rPr lang="en-US" sz="2800" b="1" dirty="0">
                <a:latin typeface="Gill Sans MT" panose="020B0502020104020203" pitchFamily="34" charset="0"/>
                <a:cs typeface="Courier New" panose="02070309020205020404" pitchFamily="49" charset="0"/>
              </a:rPr>
              <a:t>established</a:t>
            </a:r>
            <a:r>
              <a:rPr lang="en-US" sz="2800" b="1" dirty="0">
                <a:latin typeface="Gill Sans MT" panose="020B0502020104020203" pitchFamily="34" charset="0"/>
                <a:cs typeface="Arial" panose="020B0604020202020204" pitchFamily="34" charset="0"/>
              </a:rPr>
              <a:t> </a:t>
            </a:r>
            <a:r>
              <a:rPr lang="en-US" sz="2800" dirty="0">
                <a:latin typeface="Gill Sans MT" panose="020B0502020104020203" pitchFamily="34" charset="0"/>
                <a:cs typeface="Arial" panose="020B0604020202020204" pitchFamily="34" charset="0"/>
              </a:rPr>
              <a:t>keyword forces the router to check whether the TCP ACK control flag is set. </a:t>
            </a:r>
          </a:p>
          <a:p>
            <a:pPr lvl="1"/>
            <a:r>
              <a:rPr lang="en-US" sz="2800" dirty="0">
                <a:latin typeface="Gill Sans MT" panose="020B0502020104020203" pitchFamily="34" charset="0"/>
                <a:cs typeface="Arial" panose="020B0604020202020204" pitchFamily="34" charset="0"/>
              </a:rPr>
              <a:t>If the ACK flag is set, the TCP traffic is allowed in. </a:t>
            </a:r>
          </a:p>
          <a:p>
            <a:pPr lvl="1"/>
            <a:r>
              <a:rPr lang="en-US" sz="2800" dirty="0">
                <a:latin typeface="Gill Sans MT" panose="020B0502020104020203" pitchFamily="34" charset="0"/>
                <a:cs typeface="Arial" panose="020B0604020202020204" pitchFamily="34" charset="0"/>
              </a:rPr>
              <a:t>If not, it is assumed that the traffic is associated with a new connection initiated from the outside, so it’s dropped.</a:t>
            </a:r>
          </a:p>
        </p:txBody>
      </p:sp>
      <p:sp>
        <p:nvSpPr>
          <p:cNvPr id="35842" name="Rectangle 2"/>
          <p:cNvSpPr>
            <a:spLocks noGrp="1" noChangeArrowheads="1"/>
          </p:cNvSpPr>
          <p:nvPr>
            <p:ph type="title"/>
          </p:nvPr>
        </p:nvSpPr>
        <p:spPr/>
        <p:txBody>
          <a:bodyPr/>
          <a:lstStyle/>
          <a:p>
            <a:r>
              <a:rPr lang="en-US"/>
              <a:t>TCP Established ACLs</a:t>
            </a:r>
          </a:p>
        </p:txBody>
      </p:sp>
    </p:spTree>
    <p:extLst>
      <p:ext uri="{BB962C8B-B14F-4D97-AF65-F5344CB8AC3E}">
        <p14:creationId xmlns:p14="http://schemas.microsoft.com/office/powerpoint/2010/main" val="2640634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sz="quarter" idx="10"/>
          </p:nvPr>
        </p:nvSpPr>
        <p:spPr>
          <a:xfrm>
            <a:off x="955344" y="1690688"/>
            <a:ext cx="9387220" cy="4618672"/>
          </a:xfrm>
        </p:spPr>
        <p:txBody>
          <a:bodyPr>
            <a:normAutofit/>
          </a:bodyPr>
          <a:lstStyle/>
          <a:p>
            <a:pPr marL="0" indent="0">
              <a:buNone/>
            </a:pPr>
            <a:r>
              <a:rPr lang="en-US" sz="2800" dirty="0">
                <a:latin typeface="Gill Sans MT" panose="020B0502020104020203" pitchFamily="34" charset="0"/>
                <a:cs typeface="Arial" panose="020B0604020202020204" pitchFamily="34" charset="0"/>
              </a:rPr>
              <a:t>Using the</a:t>
            </a:r>
            <a:r>
              <a:rPr lang="en-US" sz="2800" b="1" dirty="0">
                <a:latin typeface="Gill Sans MT" panose="020B0502020104020203" pitchFamily="34" charset="0"/>
                <a:cs typeface="Arial" panose="020B0604020202020204" pitchFamily="34" charset="0"/>
              </a:rPr>
              <a:t> established </a:t>
            </a:r>
            <a:r>
              <a:rPr lang="en-US" sz="2800" dirty="0">
                <a:latin typeface="Gill Sans MT" panose="020B0502020104020203" pitchFamily="34" charset="0"/>
                <a:cs typeface="Arial" panose="020B0604020202020204" pitchFamily="34" charset="0"/>
              </a:rPr>
              <a:t>keyword does not implement a </a:t>
            </a:r>
            <a:r>
              <a:rPr lang="en-US" sz="2800" dirty="0" err="1">
                <a:latin typeface="Gill Sans MT" panose="020B0502020104020203" pitchFamily="34" charset="0"/>
                <a:cs typeface="Arial" panose="020B0604020202020204" pitchFamily="34" charset="0"/>
              </a:rPr>
              <a:t>stateful</a:t>
            </a:r>
            <a:r>
              <a:rPr lang="en-US" sz="2800" dirty="0">
                <a:latin typeface="Gill Sans MT" panose="020B0502020104020203" pitchFamily="34" charset="0"/>
                <a:cs typeface="Arial" panose="020B0604020202020204" pitchFamily="34" charset="0"/>
              </a:rPr>
              <a:t> firewall on a router. </a:t>
            </a:r>
          </a:p>
          <a:p>
            <a:pPr lvl="1"/>
            <a:r>
              <a:rPr lang="en-US" sz="2800" dirty="0">
                <a:latin typeface="Gill Sans MT" panose="020B0502020104020203" pitchFamily="34" charset="0"/>
                <a:cs typeface="Arial" panose="020B0604020202020204" pitchFamily="34" charset="0"/>
              </a:rPr>
              <a:t>The</a:t>
            </a:r>
            <a:r>
              <a:rPr lang="en-US" sz="2800" b="1" dirty="0">
                <a:latin typeface="Gill Sans MT" panose="020B0502020104020203" pitchFamily="34" charset="0"/>
                <a:cs typeface="Arial" panose="020B0604020202020204" pitchFamily="34" charset="0"/>
              </a:rPr>
              <a:t> </a:t>
            </a:r>
            <a:r>
              <a:rPr lang="en-US" sz="2800" b="1" dirty="0">
                <a:latin typeface="Gill Sans MT" panose="020B0502020104020203" pitchFamily="34" charset="0"/>
                <a:cs typeface="Courier New" panose="02070309020205020404" pitchFamily="49" charset="0"/>
              </a:rPr>
              <a:t>established</a:t>
            </a:r>
            <a:r>
              <a:rPr lang="en-US" sz="2800" b="1" dirty="0">
                <a:latin typeface="Gill Sans MT" panose="020B0502020104020203" pitchFamily="34" charset="0"/>
                <a:cs typeface="Arial" panose="020B0604020202020204" pitchFamily="34" charset="0"/>
              </a:rPr>
              <a:t> </a:t>
            </a:r>
            <a:r>
              <a:rPr lang="en-US" sz="2800" dirty="0">
                <a:latin typeface="Gill Sans MT" panose="020B0502020104020203" pitchFamily="34" charset="0"/>
                <a:cs typeface="Arial" panose="020B0604020202020204" pitchFamily="34" charset="0"/>
              </a:rPr>
              <a:t>parameter allows any TCP segments with the appropriate control flag. </a:t>
            </a:r>
          </a:p>
          <a:p>
            <a:pPr lvl="1"/>
            <a:r>
              <a:rPr lang="en-US" sz="2800" dirty="0">
                <a:latin typeface="Gill Sans MT" panose="020B0502020104020203" pitchFamily="34" charset="0"/>
                <a:cs typeface="Arial" panose="020B0604020202020204" pitchFamily="34" charset="0"/>
              </a:rPr>
              <a:t>No </a:t>
            </a:r>
            <a:r>
              <a:rPr lang="en-US" sz="2800" dirty="0" err="1">
                <a:latin typeface="Gill Sans MT" panose="020B0502020104020203" pitchFamily="34" charset="0"/>
                <a:cs typeface="Arial" panose="020B0604020202020204" pitchFamily="34" charset="0"/>
              </a:rPr>
              <a:t>stateful</a:t>
            </a:r>
            <a:r>
              <a:rPr lang="en-US" sz="2800" dirty="0">
                <a:latin typeface="Gill Sans MT" panose="020B0502020104020203" pitchFamily="34" charset="0"/>
                <a:cs typeface="Arial" panose="020B0604020202020204" pitchFamily="34" charset="0"/>
              </a:rPr>
              <a:t> information is maintained to keep track of traffic initiated from the inside of the network since the router does not keep track of conversations to determine whether the traffic is return traffic associated with a connection initiated from inside the network. </a:t>
            </a:r>
          </a:p>
          <a:p>
            <a:endParaRPr lang="en-US" sz="2800" dirty="0">
              <a:latin typeface="Gill Sans MT" panose="020B0502020104020203" pitchFamily="34" charset="0"/>
              <a:cs typeface="Arial" panose="020B0604020202020204" pitchFamily="34" charset="0"/>
            </a:endParaRPr>
          </a:p>
        </p:txBody>
      </p:sp>
      <p:sp>
        <p:nvSpPr>
          <p:cNvPr id="37890" name="Rectangle 2"/>
          <p:cNvSpPr>
            <a:spLocks noGrp="1" noChangeArrowheads="1"/>
          </p:cNvSpPr>
          <p:nvPr>
            <p:ph type="title"/>
          </p:nvPr>
        </p:nvSpPr>
        <p:spPr/>
        <p:txBody>
          <a:bodyPr/>
          <a:lstStyle/>
          <a:p>
            <a:r>
              <a:rPr lang="en-US"/>
              <a:t>TCP Established ACLs</a:t>
            </a:r>
          </a:p>
        </p:txBody>
      </p:sp>
    </p:spTree>
    <p:extLst>
      <p:ext uri="{BB962C8B-B14F-4D97-AF65-F5344CB8AC3E}">
        <p14:creationId xmlns:p14="http://schemas.microsoft.com/office/powerpoint/2010/main" val="1195222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a:t>TCP Established ACLs</a:t>
            </a:r>
          </a:p>
        </p:txBody>
      </p:sp>
      <p:pic>
        <p:nvPicPr>
          <p:cNvPr id="3891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27906"/>
            <a:ext cx="5189537" cy="437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5333" name="Text Box 5"/>
          <p:cNvSpPr txBox="1">
            <a:spLocks noChangeArrowheads="1"/>
          </p:cNvSpPr>
          <p:nvPr/>
        </p:nvSpPr>
        <p:spPr bwMode="auto">
          <a:xfrm>
            <a:off x="2585055" y="5641974"/>
            <a:ext cx="8077200" cy="838200"/>
          </a:xfrm>
          <a:prstGeom prst="rect">
            <a:avLst/>
          </a:prstGeom>
          <a:solidFill>
            <a:srgbClr val="C0C0C4"/>
          </a:solidFill>
          <a:ln w="9525">
            <a:solidFill>
              <a:srgbClr val="000000"/>
            </a:solidFill>
            <a:miter lim="800000"/>
            <a:headEnd/>
            <a:tailEnd/>
          </a:ln>
        </p:spPr>
        <p:txBody>
          <a:bodyPr/>
          <a:lstStyle>
            <a:lvl1pPr>
              <a:defRPr b="1">
                <a:solidFill>
                  <a:schemeClr val="tx1"/>
                </a:solidFill>
                <a:latin typeface="Arial" charset="0"/>
                <a:ea typeface="ＭＳ Ｐゴシック" charset="0"/>
              </a:defRPr>
            </a:lvl1pPr>
            <a:lvl2pPr marL="742950" indent="-285750">
              <a:defRPr b="1">
                <a:solidFill>
                  <a:schemeClr val="tx1"/>
                </a:solidFill>
                <a:latin typeface="Arial" charset="0"/>
                <a:ea typeface="ＭＳ Ｐゴシック" charset="0"/>
              </a:defRPr>
            </a:lvl2pPr>
            <a:lvl3pPr marL="1143000" indent="-228600">
              <a:defRPr b="1">
                <a:solidFill>
                  <a:schemeClr val="tx1"/>
                </a:solidFill>
                <a:latin typeface="Arial" charset="0"/>
                <a:ea typeface="ＭＳ Ｐゴシック" charset="0"/>
              </a:defRPr>
            </a:lvl3pPr>
            <a:lvl4pPr marL="1600200" indent="-228600">
              <a:defRPr b="1">
                <a:solidFill>
                  <a:schemeClr val="tx1"/>
                </a:solidFill>
                <a:latin typeface="Arial" charset="0"/>
                <a:ea typeface="ＭＳ Ｐゴシック" charset="0"/>
              </a:defRPr>
            </a:lvl4pPr>
            <a:lvl5pPr marL="2057400" indent="-228600">
              <a:defRPr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b="1">
                <a:solidFill>
                  <a:schemeClr val="tx1"/>
                </a:solidFill>
                <a:latin typeface="Arial" charset="0"/>
                <a:ea typeface="ＭＳ Ｐゴシック" charset="0"/>
              </a:defRPr>
            </a:lvl9pPr>
          </a:lstStyle>
          <a:p>
            <a:pPr eaLnBrk="1" hangingPunct="1">
              <a:lnSpc>
                <a:spcPct val="100000"/>
              </a:lnSpc>
            </a:pPr>
            <a:r>
              <a:rPr lang="en-US" sz="1200" b="0">
                <a:solidFill>
                  <a:srgbClr val="000000"/>
                </a:solidFill>
                <a:latin typeface="Courier New" charset="0"/>
              </a:rPr>
              <a:t>R1(config)#</a:t>
            </a:r>
            <a:r>
              <a:rPr lang="en-US" sz="1200">
                <a:solidFill>
                  <a:srgbClr val="000000"/>
                </a:solidFill>
                <a:latin typeface="Courier New" charset="0"/>
              </a:rPr>
              <a:t> access-list 100 permit tcp any eq 443 192.168.1.0 0.0.0.255 established</a:t>
            </a:r>
          </a:p>
          <a:p>
            <a:pPr eaLnBrk="1" hangingPunct="1">
              <a:lnSpc>
                <a:spcPct val="100000"/>
              </a:lnSpc>
            </a:pPr>
            <a:r>
              <a:rPr lang="en-US" sz="1200" b="0">
                <a:solidFill>
                  <a:srgbClr val="000000"/>
                </a:solidFill>
                <a:latin typeface="Courier New" charset="0"/>
              </a:rPr>
              <a:t>R1(config)#</a:t>
            </a:r>
            <a:r>
              <a:rPr lang="en-US" sz="1200">
                <a:solidFill>
                  <a:srgbClr val="000000"/>
                </a:solidFill>
                <a:latin typeface="Courier New" charset="0"/>
              </a:rPr>
              <a:t> access-list 100 deny ip any any</a:t>
            </a:r>
          </a:p>
          <a:p>
            <a:pPr eaLnBrk="1" hangingPunct="1">
              <a:lnSpc>
                <a:spcPct val="100000"/>
              </a:lnSpc>
            </a:pPr>
            <a:r>
              <a:rPr lang="en-US" sz="1200" b="0">
                <a:solidFill>
                  <a:srgbClr val="000000"/>
                </a:solidFill>
                <a:latin typeface="Courier New" charset="0"/>
              </a:rPr>
              <a:t>R1(config)#</a:t>
            </a:r>
            <a:r>
              <a:rPr lang="en-US" sz="1200">
                <a:solidFill>
                  <a:srgbClr val="000000"/>
                </a:solidFill>
                <a:latin typeface="Courier New" charset="0"/>
              </a:rPr>
              <a:t> interface s0/0/0</a:t>
            </a:r>
          </a:p>
          <a:p>
            <a:pPr eaLnBrk="1" hangingPunct="1">
              <a:lnSpc>
                <a:spcPct val="100000"/>
              </a:lnSpc>
            </a:pPr>
            <a:r>
              <a:rPr lang="en-US" sz="1200" b="0">
                <a:solidFill>
                  <a:srgbClr val="000000"/>
                </a:solidFill>
                <a:latin typeface="Courier New" charset="0"/>
              </a:rPr>
              <a:t>R1(config-if)#</a:t>
            </a:r>
            <a:r>
              <a:rPr lang="en-US" sz="1200">
                <a:solidFill>
                  <a:srgbClr val="000000"/>
                </a:solidFill>
                <a:latin typeface="Courier New" charset="0"/>
              </a:rPr>
              <a:t> ip access-group 100 in</a:t>
            </a:r>
          </a:p>
        </p:txBody>
      </p:sp>
      <p:sp>
        <p:nvSpPr>
          <p:cNvPr id="2" name="TextBox 1"/>
          <p:cNvSpPr txBox="1"/>
          <p:nvPr/>
        </p:nvSpPr>
        <p:spPr>
          <a:xfrm>
            <a:off x="1181100" y="1934369"/>
            <a:ext cx="4572000" cy="830997"/>
          </a:xfrm>
          <a:prstGeom prst="rect">
            <a:avLst/>
          </a:prstGeom>
          <a:noFill/>
        </p:spPr>
        <p:txBody>
          <a:bodyPr wrap="square" rtlCol="0">
            <a:spAutoFit/>
          </a:bodyPr>
          <a:lstStyle/>
          <a:p>
            <a:r>
              <a:rPr lang="en-SG" sz="2400" dirty="0">
                <a:latin typeface="Gill Sans MT" panose="020B0502020104020203" pitchFamily="34" charset="0"/>
              </a:rPr>
              <a:t>PC1 is trying to access a webserver on the internet. </a:t>
            </a:r>
          </a:p>
        </p:txBody>
      </p:sp>
    </p:spTree>
    <p:extLst>
      <p:ext uri="{BB962C8B-B14F-4D97-AF65-F5344CB8AC3E}">
        <p14:creationId xmlns:p14="http://schemas.microsoft.com/office/powerpoint/2010/main" val="1168201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5333">
                                            <p:bg/>
                                          </p:spTgt>
                                        </p:tgtEl>
                                        <p:attrNameLst>
                                          <p:attrName>style.visibility</p:attrName>
                                        </p:attrNameLst>
                                      </p:cBhvr>
                                      <p:to>
                                        <p:strVal val="visible"/>
                                      </p:to>
                                    </p:set>
                                    <p:animEffect transition="in" filter="wipe(left)">
                                      <p:cBhvr>
                                        <p:cTn id="7" dur="500"/>
                                        <p:tgtEl>
                                          <p:spTgt spid="995333">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5333">
                                            <p:txEl>
                                              <p:pRg st="0" end="0"/>
                                            </p:txEl>
                                          </p:spTgt>
                                        </p:tgtEl>
                                        <p:attrNameLst>
                                          <p:attrName>style.visibility</p:attrName>
                                        </p:attrNameLst>
                                      </p:cBhvr>
                                      <p:to>
                                        <p:strVal val="visible"/>
                                      </p:to>
                                    </p:set>
                                    <p:animEffect transition="in" filter="wipe(left)">
                                      <p:cBhvr>
                                        <p:cTn id="12" dur="500"/>
                                        <p:tgtEl>
                                          <p:spTgt spid="99533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5333">
                                            <p:txEl>
                                              <p:pRg st="1" end="1"/>
                                            </p:txEl>
                                          </p:spTgt>
                                        </p:tgtEl>
                                        <p:attrNameLst>
                                          <p:attrName>style.visibility</p:attrName>
                                        </p:attrNameLst>
                                      </p:cBhvr>
                                      <p:to>
                                        <p:strVal val="visible"/>
                                      </p:to>
                                    </p:set>
                                    <p:animEffect transition="in" filter="wipe(left)">
                                      <p:cBhvr>
                                        <p:cTn id="17" dur="500"/>
                                        <p:tgtEl>
                                          <p:spTgt spid="99533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5333">
                                            <p:txEl>
                                              <p:pRg st="2" end="2"/>
                                            </p:txEl>
                                          </p:spTgt>
                                        </p:tgtEl>
                                        <p:attrNameLst>
                                          <p:attrName>style.visibility</p:attrName>
                                        </p:attrNameLst>
                                      </p:cBhvr>
                                      <p:to>
                                        <p:strVal val="visible"/>
                                      </p:to>
                                    </p:set>
                                    <p:animEffect transition="in" filter="wipe(left)">
                                      <p:cBhvr>
                                        <p:cTn id="22" dur="500"/>
                                        <p:tgtEl>
                                          <p:spTgt spid="99533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5333">
                                            <p:txEl>
                                              <p:pRg st="3" end="3"/>
                                            </p:txEl>
                                          </p:spTgt>
                                        </p:tgtEl>
                                        <p:attrNameLst>
                                          <p:attrName>style.visibility</p:attrName>
                                        </p:attrNameLst>
                                      </p:cBhvr>
                                      <p:to>
                                        <p:strVal val="visible"/>
                                      </p:to>
                                    </p:set>
                                    <p:animEffect transition="in" filter="wipe(left)">
                                      <p:cBhvr>
                                        <p:cTn id="27" dur="500"/>
                                        <p:tgtEl>
                                          <p:spTgt spid="9953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5333"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SG" dirty="0"/>
              <a:t>TCP Established ACL another example</a:t>
            </a:r>
          </a:p>
        </p:txBody>
      </p:sp>
      <p:pic>
        <p:nvPicPr>
          <p:cNvPr id="4" name="Picture 3"/>
          <p:cNvPicPr>
            <a:picLocks noChangeAspect="1"/>
          </p:cNvPicPr>
          <p:nvPr/>
        </p:nvPicPr>
        <p:blipFill rotWithShape="1">
          <a:blip r:embed="rId2"/>
          <a:srcRect l="20647" t="26468" r="20697" b="12437"/>
          <a:stretch/>
        </p:blipFill>
        <p:spPr>
          <a:xfrm>
            <a:off x="1978925" y="1378423"/>
            <a:ext cx="6837529" cy="5341276"/>
          </a:xfrm>
          <a:prstGeom prst="rect">
            <a:avLst/>
          </a:prstGeom>
        </p:spPr>
      </p:pic>
    </p:spTree>
    <p:extLst>
      <p:ext uri="{BB962C8B-B14F-4D97-AF65-F5344CB8AC3E}">
        <p14:creationId xmlns:p14="http://schemas.microsoft.com/office/powerpoint/2010/main" val="8980493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sz="quarter" idx="10"/>
          </p:nvPr>
        </p:nvSpPr>
        <p:spPr>
          <a:xfrm>
            <a:off x="838200" y="1690688"/>
            <a:ext cx="9504363" cy="4618672"/>
          </a:xfrm>
        </p:spPr>
        <p:txBody>
          <a:bodyPr>
            <a:normAutofit fontScale="85000" lnSpcReduction="10000"/>
          </a:bodyPr>
          <a:lstStyle/>
          <a:p>
            <a:pPr marL="0" indent="0">
              <a:buNone/>
            </a:pPr>
            <a:r>
              <a:rPr lang="en-SG" sz="2800" dirty="0">
                <a:latin typeface="Gill Sans MT" panose="020B0502020104020203" pitchFamily="34" charset="0"/>
                <a:cs typeface="Arial" panose="020B0604020202020204" pitchFamily="34" charset="0"/>
              </a:rPr>
              <a:t>Reflexive ACL’s can be used as a basic kind of ‘</a:t>
            </a:r>
            <a:r>
              <a:rPr lang="en-SG" sz="2800" dirty="0" err="1">
                <a:latin typeface="Gill Sans MT" panose="020B0502020104020203" pitchFamily="34" charset="0"/>
                <a:cs typeface="Arial" panose="020B0604020202020204" pitchFamily="34" charset="0"/>
              </a:rPr>
              <a:t>stateful</a:t>
            </a:r>
            <a:r>
              <a:rPr lang="en-SG" sz="2800" dirty="0">
                <a:latin typeface="Gill Sans MT" panose="020B0502020104020203" pitchFamily="34" charset="0"/>
                <a:cs typeface="Arial" panose="020B0604020202020204" pitchFamily="34" charset="0"/>
              </a:rPr>
              <a:t>’ table on devices to allow traffic back inbound on already established connections.</a:t>
            </a:r>
          </a:p>
          <a:p>
            <a:pPr marL="0" indent="0">
              <a:buNone/>
            </a:pPr>
            <a:endParaRPr lang="en-SG" sz="2800" dirty="0">
              <a:latin typeface="Gill Sans MT" panose="020B0502020104020203" pitchFamily="34" charset="0"/>
              <a:cs typeface="Arial" panose="020B0604020202020204" pitchFamily="34" charset="0"/>
            </a:endParaRPr>
          </a:p>
          <a:p>
            <a:pPr marL="0" indent="0">
              <a:buNone/>
            </a:pPr>
            <a:r>
              <a:rPr lang="en-SG" sz="2800" dirty="0">
                <a:latin typeface="Gill Sans MT" panose="020B0502020104020203" pitchFamily="34" charset="0"/>
                <a:cs typeface="Arial" panose="020B0604020202020204" pitchFamily="34" charset="0"/>
              </a:rPr>
              <a:t>The reflective part of this feature can only be used on normal traffic flows where the inbound traffic is the same as the traffic that flowed outbound, this means it cannot be used for things like traceroute, VoIP (SIP) calls, FTP (active) and so special considerations should be used for this kind of traffic.</a:t>
            </a:r>
          </a:p>
          <a:p>
            <a:pPr marL="0" indent="0">
              <a:buNone/>
            </a:pPr>
            <a:endParaRPr lang="en-SG" sz="2800" dirty="0">
              <a:latin typeface="Gill Sans MT" panose="020B0502020104020203" pitchFamily="34" charset="0"/>
              <a:cs typeface="Arial" panose="020B0604020202020204" pitchFamily="34" charset="0"/>
            </a:endParaRPr>
          </a:p>
          <a:p>
            <a:pPr marL="0" indent="0">
              <a:buNone/>
            </a:pPr>
            <a:r>
              <a:rPr lang="en-SG" sz="2800" dirty="0">
                <a:latin typeface="Gill Sans MT" panose="020B0502020104020203" pitchFamily="34" charset="0"/>
                <a:cs typeface="Arial" panose="020B0604020202020204" pitchFamily="34" charset="0"/>
              </a:rPr>
              <a:t>Reflexive ACL’s are configured as a pair and usually applied to the same interface, one in an inbound direction and one in the outbound direction.</a:t>
            </a:r>
            <a:endParaRPr lang="en-US" sz="2800" dirty="0">
              <a:latin typeface="Gill Sans MT" panose="020B0502020104020203" pitchFamily="34" charset="0"/>
              <a:cs typeface="Arial" panose="020B0604020202020204" pitchFamily="34" charset="0"/>
            </a:endParaRPr>
          </a:p>
        </p:txBody>
      </p:sp>
      <p:sp>
        <p:nvSpPr>
          <p:cNvPr id="40962" name="Rectangle 2"/>
          <p:cNvSpPr>
            <a:spLocks noGrp="1" noChangeArrowheads="1"/>
          </p:cNvSpPr>
          <p:nvPr>
            <p:ph type="title"/>
          </p:nvPr>
        </p:nvSpPr>
        <p:spPr/>
        <p:txBody>
          <a:bodyPr/>
          <a:lstStyle/>
          <a:p>
            <a:r>
              <a:rPr lang="en-US"/>
              <a:t>Reflexive ACLs</a:t>
            </a:r>
          </a:p>
        </p:txBody>
      </p:sp>
    </p:spTree>
    <p:extLst>
      <p:ext uri="{BB962C8B-B14F-4D97-AF65-F5344CB8AC3E}">
        <p14:creationId xmlns:p14="http://schemas.microsoft.com/office/powerpoint/2010/main" val="4173898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9" name="Rectangle 3"/>
          <p:cNvSpPr>
            <a:spLocks noGrp="1" noChangeArrowheads="1"/>
          </p:cNvSpPr>
          <p:nvPr>
            <p:ph type="body" sz="quarter" idx="10"/>
          </p:nvPr>
        </p:nvSpPr>
        <p:spPr>
          <a:xfrm>
            <a:off x="1241946" y="1690688"/>
            <a:ext cx="9100617" cy="4618671"/>
          </a:xfrm>
        </p:spPr>
        <p:txBody>
          <a:bodyPr>
            <a:normAutofit fontScale="92500" lnSpcReduction="20000"/>
          </a:bodyPr>
          <a:lstStyle/>
          <a:p>
            <a:pPr marL="0" indent="0">
              <a:buNone/>
            </a:pPr>
            <a:r>
              <a:rPr lang="en-US" sz="2800" dirty="0">
                <a:latin typeface="Gill Sans MT" panose="020B0502020104020203" pitchFamily="34" charset="0"/>
                <a:cs typeface="Arial" panose="020B0604020202020204" pitchFamily="34" charset="0"/>
              </a:rPr>
              <a:t>Step 1. </a:t>
            </a:r>
          </a:p>
          <a:p>
            <a:pPr lvl="1"/>
            <a:r>
              <a:rPr lang="en-US" sz="2800" dirty="0">
                <a:latin typeface="Gill Sans MT" panose="020B0502020104020203" pitchFamily="34" charset="0"/>
                <a:cs typeface="Arial" panose="020B0604020202020204" pitchFamily="34" charset="0"/>
              </a:rPr>
              <a:t>Create an ACL that allows internal LAN traffic that is TCP or ICMP to reach the internet and “remember” (reflect) these traffic.</a:t>
            </a:r>
          </a:p>
          <a:p>
            <a:pPr marL="0" indent="0">
              <a:buNone/>
            </a:pPr>
            <a:r>
              <a:rPr lang="en-US" sz="2800" dirty="0">
                <a:latin typeface="Gill Sans MT" panose="020B0502020104020203" pitchFamily="34" charset="0"/>
                <a:cs typeface="Arial" panose="020B0604020202020204" pitchFamily="34" charset="0"/>
              </a:rPr>
              <a:t>Step 2. </a:t>
            </a:r>
          </a:p>
          <a:p>
            <a:pPr lvl="1"/>
            <a:r>
              <a:rPr lang="en-US" sz="2800" dirty="0">
                <a:latin typeface="Gill Sans MT" panose="020B0502020104020203" pitchFamily="34" charset="0"/>
                <a:cs typeface="Arial" panose="020B0604020202020204" pitchFamily="34" charset="0"/>
              </a:rPr>
              <a:t>Create an ACL that evaluates traffic coming from the internet to the LAN. Verify if the traffic matches the “remember” (reflect) list. If there is a match, allow it to go through.</a:t>
            </a:r>
          </a:p>
          <a:p>
            <a:pPr marL="0" indent="0">
              <a:buNone/>
            </a:pPr>
            <a:r>
              <a:rPr lang="en-US" sz="2800" dirty="0">
                <a:latin typeface="Gill Sans MT" panose="020B0502020104020203" pitchFamily="34" charset="0"/>
                <a:cs typeface="Arial" panose="020B0604020202020204" pitchFamily="34" charset="0"/>
              </a:rPr>
              <a:t>Step 3. </a:t>
            </a:r>
          </a:p>
          <a:p>
            <a:pPr lvl="1"/>
            <a:r>
              <a:rPr lang="en-US" sz="2800" dirty="0">
                <a:latin typeface="Gill Sans MT" panose="020B0502020104020203" pitchFamily="34" charset="0"/>
                <a:cs typeface="Arial" panose="020B0604020202020204" pitchFamily="34" charset="0"/>
              </a:rPr>
              <a:t>Activate the ACLs on the same interface going in and out appropriately.</a:t>
            </a:r>
          </a:p>
        </p:txBody>
      </p:sp>
      <p:sp>
        <p:nvSpPr>
          <p:cNvPr id="41986" name="Rectangle 2"/>
          <p:cNvSpPr>
            <a:spLocks noGrp="1" noChangeArrowheads="1"/>
          </p:cNvSpPr>
          <p:nvPr>
            <p:ph type="title"/>
          </p:nvPr>
        </p:nvSpPr>
        <p:spPr/>
        <p:txBody>
          <a:bodyPr/>
          <a:lstStyle/>
          <a:p>
            <a:r>
              <a:rPr lang="en-US" dirty="0"/>
              <a:t>Configuring a Reflexive ACL</a:t>
            </a:r>
          </a:p>
        </p:txBody>
      </p:sp>
    </p:spTree>
    <p:extLst>
      <p:ext uri="{BB962C8B-B14F-4D97-AF65-F5344CB8AC3E}">
        <p14:creationId xmlns:p14="http://schemas.microsoft.com/office/powerpoint/2010/main" val="31558546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2739">
                                            <p:txEl>
                                              <p:pRg st="0" end="0"/>
                                            </p:txEl>
                                          </p:spTgt>
                                        </p:tgtEl>
                                        <p:attrNameLst>
                                          <p:attrName>style.visibility</p:attrName>
                                        </p:attrNameLst>
                                      </p:cBhvr>
                                      <p:to>
                                        <p:strVal val="visible"/>
                                      </p:to>
                                    </p:set>
                                    <p:animEffect transition="in" filter="wipe(left)">
                                      <p:cBhvr>
                                        <p:cTn id="7" dur="500"/>
                                        <p:tgtEl>
                                          <p:spTgt spid="101273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12739">
                                            <p:txEl>
                                              <p:pRg st="1" end="1"/>
                                            </p:txEl>
                                          </p:spTgt>
                                        </p:tgtEl>
                                        <p:attrNameLst>
                                          <p:attrName>style.visibility</p:attrName>
                                        </p:attrNameLst>
                                      </p:cBhvr>
                                      <p:to>
                                        <p:strVal val="visible"/>
                                      </p:to>
                                    </p:set>
                                    <p:animEffect transition="in" filter="wipe(left)">
                                      <p:cBhvr>
                                        <p:cTn id="10" dur="500"/>
                                        <p:tgtEl>
                                          <p:spTgt spid="101273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12739">
                                            <p:txEl>
                                              <p:pRg st="2" end="2"/>
                                            </p:txEl>
                                          </p:spTgt>
                                        </p:tgtEl>
                                        <p:attrNameLst>
                                          <p:attrName>style.visibility</p:attrName>
                                        </p:attrNameLst>
                                      </p:cBhvr>
                                      <p:to>
                                        <p:strVal val="visible"/>
                                      </p:to>
                                    </p:set>
                                    <p:animEffect transition="in" filter="wipe(left)">
                                      <p:cBhvr>
                                        <p:cTn id="15" dur="500"/>
                                        <p:tgtEl>
                                          <p:spTgt spid="1012739">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12739">
                                            <p:txEl>
                                              <p:pRg st="3" end="3"/>
                                            </p:txEl>
                                          </p:spTgt>
                                        </p:tgtEl>
                                        <p:attrNameLst>
                                          <p:attrName>style.visibility</p:attrName>
                                        </p:attrNameLst>
                                      </p:cBhvr>
                                      <p:to>
                                        <p:strVal val="visible"/>
                                      </p:to>
                                    </p:set>
                                    <p:animEffect transition="in" filter="wipe(left)">
                                      <p:cBhvr>
                                        <p:cTn id="18" dur="500"/>
                                        <p:tgtEl>
                                          <p:spTgt spid="101273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12739">
                                            <p:txEl>
                                              <p:pRg st="4" end="4"/>
                                            </p:txEl>
                                          </p:spTgt>
                                        </p:tgtEl>
                                        <p:attrNameLst>
                                          <p:attrName>style.visibility</p:attrName>
                                        </p:attrNameLst>
                                      </p:cBhvr>
                                      <p:to>
                                        <p:strVal val="visible"/>
                                      </p:to>
                                    </p:set>
                                    <p:animEffect transition="in" filter="wipe(left)">
                                      <p:cBhvr>
                                        <p:cTn id="23" dur="500"/>
                                        <p:tgtEl>
                                          <p:spTgt spid="1012739">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12739">
                                            <p:txEl>
                                              <p:pRg st="5" end="5"/>
                                            </p:txEl>
                                          </p:spTgt>
                                        </p:tgtEl>
                                        <p:attrNameLst>
                                          <p:attrName>style.visibility</p:attrName>
                                        </p:attrNameLst>
                                      </p:cBhvr>
                                      <p:to>
                                        <p:strVal val="visible"/>
                                      </p:to>
                                    </p:set>
                                    <p:animEffect transition="in" filter="wipe(left)">
                                      <p:cBhvr>
                                        <p:cTn id="26" dur="500"/>
                                        <p:tgtEl>
                                          <p:spTgt spid="1012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273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SG" dirty="0"/>
              <a:t>Reflexive ACL example</a:t>
            </a:r>
          </a:p>
        </p:txBody>
      </p:sp>
      <p:pic>
        <p:nvPicPr>
          <p:cNvPr id="4" name="Picture 3"/>
          <p:cNvPicPr>
            <a:picLocks noChangeAspect="1"/>
          </p:cNvPicPr>
          <p:nvPr/>
        </p:nvPicPr>
        <p:blipFill rotWithShape="1">
          <a:blip r:embed="rId2"/>
          <a:srcRect l="17214" t="28059" r="8457" b="5075"/>
          <a:stretch/>
        </p:blipFill>
        <p:spPr>
          <a:xfrm>
            <a:off x="4557215" y="1895404"/>
            <a:ext cx="6796585" cy="4585648"/>
          </a:xfrm>
          <a:prstGeom prst="rect">
            <a:avLst/>
          </a:prstGeom>
        </p:spPr>
      </p:pic>
      <p:sp>
        <p:nvSpPr>
          <p:cNvPr id="2" name="TextBox 1"/>
          <p:cNvSpPr txBox="1"/>
          <p:nvPr/>
        </p:nvSpPr>
        <p:spPr>
          <a:xfrm>
            <a:off x="436728" y="1883391"/>
            <a:ext cx="3766782" cy="4708981"/>
          </a:xfrm>
          <a:prstGeom prst="rect">
            <a:avLst/>
          </a:prstGeom>
          <a:noFill/>
        </p:spPr>
        <p:txBody>
          <a:bodyPr wrap="square" rtlCol="0">
            <a:spAutoFit/>
          </a:bodyPr>
          <a:lstStyle/>
          <a:p>
            <a:r>
              <a:rPr lang="en-SG" sz="2000" dirty="0">
                <a:latin typeface="Gill Sans MT" panose="020B0502020104020203" pitchFamily="34" charset="0"/>
              </a:rPr>
              <a:t>We want to configure R2 to allow traffic initiated from inside LAN to come back from the ISP.</a:t>
            </a:r>
          </a:p>
          <a:p>
            <a:endParaRPr lang="en-SG" sz="2000" dirty="0">
              <a:latin typeface="Gill Sans MT" panose="020B0502020104020203" pitchFamily="34" charset="0"/>
            </a:endParaRPr>
          </a:p>
          <a:p>
            <a:r>
              <a:rPr lang="en-SG" sz="2000" dirty="0">
                <a:latin typeface="Gill Sans MT" panose="020B0502020104020203" pitchFamily="34" charset="0"/>
              </a:rPr>
              <a:t>In this case, we are going to permit TCP and ICMP traffic from inside to go out to the internet. These traffic will be reflected to a list to keep track.</a:t>
            </a:r>
          </a:p>
          <a:p>
            <a:endParaRPr lang="en-SG" sz="2000" dirty="0">
              <a:latin typeface="Gill Sans MT" panose="020B0502020104020203" pitchFamily="34" charset="0"/>
            </a:endParaRPr>
          </a:p>
          <a:p>
            <a:r>
              <a:rPr lang="en-SG" sz="2000" dirty="0">
                <a:latin typeface="Gill Sans MT" panose="020B0502020104020203" pitchFamily="34" charset="0"/>
              </a:rPr>
              <a:t>When traffic returns from the internet, R2 will evaluate the traffic against the reflected list and only allow traffic through if there is a match.</a:t>
            </a:r>
          </a:p>
        </p:txBody>
      </p:sp>
    </p:spTree>
    <p:extLst>
      <p:ext uri="{BB962C8B-B14F-4D97-AF65-F5344CB8AC3E}">
        <p14:creationId xmlns:p14="http://schemas.microsoft.com/office/powerpoint/2010/main" val="108314519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SG" dirty="0"/>
              <a:t>Reflexive ACL Example</a:t>
            </a:r>
          </a:p>
        </p:txBody>
      </p:sp>
      <p:pic>
        <p:nvPicPr>
          <p:cNvPr id="4" name="Picture 3"/>
          <p:cNvPicPr>
            <a:picLocks noChangeAspect="1"/>
          </p:cNvPicPr>
          <p:nvPr/>
        </p:nvPicPr>
        <p:blipFill rotWithShape="1">
          <a:blip r:embed="rId2"/>
          <a:srcRect l="2736" t="28856" r="3085" b="5871"/>
          <a:stretch/>
        </p:blipFill>
        <p:spPr>
          <a:xfrm>
            <a:off x="1774209" y="1978924"/>
            <a:ext cx="8611738" cy="4476467"/>
          </a:xfrm>
          <a:prstGeom prst="rect">
            <a:avLst/>
          </a:prstGeom>
        </p:spPr>
      </p:pic>
      <p:cxnSp>
        <p:nvCxnSpPr>
          <p:cNvPr id="7" name="Straight Arrow Connector 6"/>
          <p:cNvCxnSpPr/>
          <p:nvPr/>
        </p:nvCxnSpPr>
        <p:spPr>
          <a:xfrm flipH="1">
            <a:off x="5813947" y="2838734"/>
            <a:ext cx="45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385947" y="2333767"/>
            <a:ext cx="1583140" cy="2585323"/>
          </a:xfrm>
          <a:prstGeom prst="rect">
            <a:avLst/>
          </a:prstGeom>
          <a:noFill/>
        </p:spPr>
        <p:txBody>
          <a:bodyPr wrap="square" rtlCol="0">
            <a:spAutoFit/>
          </a:bodyPr>
          <a:lstStyle/>
          <a:p>
            <a:r>
              <a:rPr lang="en-SG" dirty="0">
                <a:latin typeface="Gill Sans MT" panose="020B0502020104020203" pitchFamily="34" charset="0"/>
              </a:rPr>
              <a:t>These are not real access lists. They are temporary states kept by the router to check incoming traffic against</a:t>
            </a:r>
          </a:p>
        </p:txBody>
      </p:sp>
    </p:spTree>
    <p:extLst>
      <p:ext uri="{BB962C8B-B14F-4D97-AF65-F5344CB8AC3E}">
        <p14:creationId xmlns:p14="http://schemas.microsoft.com/office/powerpoint/2010/main" val="360842370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19617" y="2947916"/>
            <a:ext cx="11438467" cy="3361444"/>
          </a:xfrm>
        </p:spPr>
        <p:txBody>
          <a:bodyPr>
            <a:normAutofit/>
          </a:bodyPr>
          <a:lstStyle/>
          <a:p>
            <a:pPr marL="0" indent="0" algn="ctr">
              <a:buNone/>
            </a:pPr>
            <a:r>
              <a:rPr lang="en-SG" sz="3200" dirty="0"/>
              <a:t>https://www.youtube.com/watch?v=kVtkJhWV0Dg</a:t>
            </a:r>
          </a:p>
        </p:txBody>
      </p:sp>
      <p:sp>
        <p:nvSpPr>
          <p:cNvPr id="3" name="Title 2"/>
          <p:cNvSpPr>
            <a:spLocks noGrp="1"/>
          </p:cNvSpPr>
          <p:nvPr>
            <p:ph type="title"/>
          </p:nvPr>
        </p:nvSpPr>
        <p:spPr/>
        <p:txBody>
          <a:bodyPr/>
          <a:lstStyle/>
          <a:p>
            <a:r>
              <a:rPr lang="en-SG" dirty="0"/>
              <a:t>Configuring reflexive ACL video</a:t>
            </a:r>
          </a:p>
        </p:txBody>
      </p:sp>
    </p:spTree>
    <p:extLst>
      <p:ext uri="{BB962C8B-B14F-4D97-AF65-F5344CB8AC3E}">
        <p14:creationId xmlns:p14="http://schemas.microsoft.com/office/powerpoint/2010/main" val="26774526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sz="quarter" idx="10"/>
          </p:nvPr>
        </p:nvSpPr>
        <p:spPr>
          <a:xfrm>
            <a:off x="1351128" y="1690688"/>
            <a:ext cx="8991435" cy="4618672"/>
          </a:xfrm>
        </p:spPr>
        <p:txBody>
          <a:bodyPr>
            <a:normAutofit/>
          </a:bodyPr>
          <a:lstStyle/>
          <a:p>
            <a:r>
              <a:rPr lang="en-US" sz="2800" dirty="0">
                <a:latin typeface="Gill Sans MT" panose="020B0502020104020203" pitchFamily="34" charset="0"/>
                <a:cs typeface="Arial" panose="020B0604020202020204" pitchFamily="34" charset="0"/>
              </a:rPr>
              <a:t>Time-based ACLs allow for access control based on time. </a:t>
            </a:r>
          </a:p>
          <a:p>
            <a:endParaRPr lang="en-US" sz="2800" dirty="0">
              <a:latin typeface="Gill Sans MT" panose="020B0502020104020203" pitchFamily="34" charset="0"/>
              <a:cs typeface="Arial" panose="020B0604020202020204" pitchFamily="34" charset="0"/>
            </a:endParaRPr>
          </a:p>
          <a:p>
            <a:pPr>
              <a:buFont typeface="Wingdings" charset="0"/>
              <a:buNone/>
            </a:pPr>
            <a:endParaRPr lang="en-US" sz="2800" dirty="0">
              <a:latin typeface="Gill Sans MT" panose="020B0502020104020203" pitchFamily="34" charset="0"/>
              <a:cs typeface="Arial" panose="020B0604020202020204" pitchFamily="34" charset="0"/>
            </a:endParaRPr>
          </a:p>
        </p:txBody>
      </p:sp>
      <p:sp>
        <p:nvSpPr>
          <p:cNvPr id="49154" name="Rectangle 2"/>
          <p:cNvSpPr>
            <a:spLocks noGrp="1" noChangeArrowheads="1"/>
          </p:cNvSpPr>
          <p:nvPr>
            <p:ph type="title"/>
          </p:nvPr>
        </p:nvSpPr>
        <p:spPr/>
        <p:txBody>
          <a:bodyPr/>
          <a:lstStyle/>
          <a:p>
            <a:r>
              <a:rPr lang="en-US"/>
              <a:t>Time-based ACLs</a:t>
            </a:r>
          </a:p>
        </p:txBody>
      </p:sp>
      <p:pic>
        <p:nvPicPr>
          <p:cNvPr id="49156"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352800" y="2209801"/>
            <a:ext cx="5207000" cy="318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9505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noChangeArrowheads="1"/>
          </p:cNvSpPr>
          <p:nvPr>
            <p:ph type="body" sz="quarter" idx="10"/>
          </p:nvPr>
        </p:nvSpPr>
        <p:spPr>
          <a:xfrm>
            <a:off x="968992" y="1487606"/>
            <a:ext cx="9373572" cy="1746913"/>
          </a:xfrm>
        </p:spPr>
        <p:txBody>
          <a:bodyPr>
            <a:normAutofit/>
          </a:bodyPr>
          <a:lstStyle/>
          <a:p>
            <a:r>
              <a:rPr lang="en-US" sz="2400" dirty="0">
                <a:latin typeface="Gill Sans MT" panose="020B0502020104020203" pitchFamily="34" charset="0"/>
                <a:cs typeface="Arial" panose="020B0604020202020204" pitchFamily="34" charset="0"/>
              </a:rPr>
              <a:t>To implement time-based ACLs:</a:t>
            </a:r>
          </a:p>
          <a:p>
            <a:pPr lvl="1"/>
            <a:r>
              <a:rPr lang="en-US" dirty="0">
                <a:latin typeface="Gill Sans MT" panose="020B0502020104020203" pitchFamily="34" charset="0"/>
                <a:cs typeface="Arial" panose="020B0604020202020204" pitchFamily="34" charset="0"/>
              </a:rPr>
              <a:t>Create a time range that defines specific times of the day and week. </a:t>
            </a:r>
          </a:p>
          <a:p>
            <a:pPr lvl="1"/>
            <a:r>
              <a:rPr lang="en-US" dirty="0">
                <a:latin typeface="Gill Sans MT" panose="020B0502020104020203" pitchFamily="34" charset="0"/>
                <a:cs typeface="Arial" panose="020B0604020202020204" pitchFamily="34" charset="0"/>
              </a:rPr>
              <a:t>Identify the time range with a name and then refer to it by a function. </a:t>
            </a:r>
          </a:p>
        </p:txBody>
      </p:sp>
      <p:sp>
        <p:nvSpPr>
          <p:cNvPr id="50178" name="Rectangle 2"/>
          <p:cNvSpPr>
            <a:spLocks noGrp="1" noChangeArrowheads="1"/>
          </p:cNvSpPr>
          <p:nvPr>
            <p:ph type="title"/>
          </p:nvPr>
        </p:nvSpPr>
        <p:spPr/>
        <p:txBody>
          <a:bodyPr/>
          <a:lstStyle/>
          <a:p>
            <a:r>
              <a:rPr lang="en-US"/>
              <a:t>Time-based ACLs</a:t>
            </a:r>
          </a:p>
        </p:txBody>
      </p:sp>
      <p:pic>
        <p:nvPicPr>
          <p:cNvPr id="501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5368" y="2835910"/>
            <a:ext cx="7883525"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82136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827456" y="933901"/>
            <a:ext cx="4731993" cy="3633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2" name="Rectangle 9"/>
          <p:cNvSpPr>
            <a:spLocks noGrp="1" noChangeArrowheads="1"/>
          </p:cNvSpPr>
          <p:nvPr>
            <p:ph type="title"/>
          </p:nvPr>
        </p:nvSpPr>
        <p:spPr/>
        <p:txBody>
          <a:bodyPr/>
          <a:lstStyle/>
          <a:p>
            <a:r>
              <a:rPr lang="en-US"/>
              <a:t>Time-based ACL Example</a:t>
            </a:r>
          </a:p>
        </p:txBody>
      </p:sp>
      <p:sp>
        <p:nvSpPr>
          <p:cNvPr id="1027076" name="Text Box 4"/>
          <p:cNvSpPr txBox="1">
            <a:spLocks noChangeArrowheads="1"/>
          </p:cNvSpPr>
          <p:nvPr/>
        </p:nvSpPr>
        <p:spPr bwMode="auto">
          <a:xfrm>
            <a:off x="2137271" y="4566934"/>
            <a:ext cx="8305800" cy="1676400"/>
          </a:xfrm>
          <a:prstGeom prst="rect">
            <a:avLst/>
          </a:prstGeom>
          <a:solidFill>
            <a:srgbClr val="C0C0C4"/>
          </a:solidFill>
          <a:ln w="9525">
            <a:solidFill>
              <a:srgbClr val="000000"/>
            </a:solidFill>
            <a:miter lim="800000"/>
            <a:headEnd/>
            <a:tailEnd/>
          </a:ln>
        </p:spPr>
        <p:txBody>
          <a:bodyPr tIns="0" bIns="0">
            <a:normAutofit/>
          </a:bodyPr>
          <a:lstStyle>
            <a:lvl1pPr>
              <a:defRPr b="1">
                <a:solidFill>
                  <a:schemeClr val="tx1"/>
                </a:solidFill>
                <a:latin typeface="Arial" charset="0"/>
                <a:ea typeface="ＭＳ Ｐゴシック" charset="0"/>
              </a:defRPr>
            </a:lvl1pPr>
            <a:lvl2pPr marL="742950" indent="-285750">
              <a:defRPr b="1">
                <a:solidFill>
                  <a:schemeClr val="tx1"/>
                </a:solidFill>
                <a:latin typeface="Arial" charset="0"/>
                <a:ea typeface="ＭＳ Ｐゴシック" charset="0"/>
              </a:defRPr>
            </a:lvl2pPr>
            <a:lvl3pPr marL="1143000" indent="-228600">
              <a:defRPr b="1">
                <a:solidFill>
                  <a:schemeClr val="tx1"/>
                </a:solidFill>
                <a:latin typeface="Arial" charset="0"/>
                <a:ea typeface="ＭＳ Ｐゴシック" charset="0"/>
              </a:defRPr>
            </a:lvl3pPr>
            <a:lvl4pPr marL="1600200" indent="-228600">
              <a:defRPr b="1">
                <a:solidFill>
                  <a:schemeClr val="tx1"/>
                </a:solidFill>
                <a:latin typeface="Arial" charset="0"/>
                <a:ea typeface="ＭＳ Ｐゴシック" charset="0"/>
              </a:defRPr>
            </a:lvl4pPr>
            <a:lvl5pPr marL="2057400" indent="-228600">
              <a:defRPr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b="1">
                <a:solidFill>
                  <a:schemeClr val="tx1"/>
                </a:solidFill>
                <a:latin typeface="Arial" charset="0"/>
                <a:ea typeface="ＭＳ Ｐゴシック" charset="0"/>
              </a:defRPr>
            </a:lvl9pPr>
          </a:lstStyle>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dirty="0">
                <a:solidFill>
                  <a:srgbClr val="000000"/>
                </a:solidFill>
                <a:latin typeface="Courier New" charset="0"/>
              </a:rPr>
              <a:t> time-range EMPLOYEE-TIME</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-time-range)#</a:t>
            </a:r>
            <a:r>
              <a:rPr lang="en-US" sz="1200" dirty="0">
                <a:solidFill>
                  <a:srgbClr val="000000"/>
                </a:solidFill>
                <a:latin typeface="Courier New" charset="0"/>
              </a:rPr>
              <a:t> periodic weekdays 12:00 to 13:00</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-time-range)#</a:t>
            </a:r>
            <a:r>
              <a:rPr lang="en-US" sz="1200" dirty="0">
                <a:solidFill>
                  <a:srgbClr val="000000"/>
                </a:solidFill>
                <a:latin typeface="Courier New" charset="0"/>
              </a:rPr>
              <a:t> periodic weekdays 17:00 to 19:00</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-time-range)#</a:t>
            </a:r>
            <a:r>
              <a:rPr lang="en-US" sz="1200" dirty="0">
                <a:solidFill>
                  <a:srgbClr val="000000"/>
                </a:solidFill>
                <a:latin typeface="Courier New" charset="0"/>
              </a:rPr>
              <a:t> exit</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dirty="0">
                <a:solidFill>
                  <a:srgbClr val="000000"/>
                </a:solidFill>
                <a:latin typeface="Courier New" charset="0"/>
              </a:rPr>
              <a:t> access-list 100 permit </a:t>
            </a:r>
            <a:r>
              <a:rPr lang="en-US" sz="1200" dirty="0" err="1">
                <a:solidFill>
                  <a:srgbClr val="000000"/>
                </a:solidFill>
                <a:latin typeface="Courier New" charset="0"/>
              </a:rPr>
              <a:t>ip</a:t>
            </a:r>
            <a:r>
              <a:rPr lang="en-US" sz="1200" dirty="0">
                <a:solidFill>
                  <a:srgbClr val="000000"/>
                </a:solidFill>
                <a:latin typeface="Courier New" charset="0"/>
              </a:rPr>
              <a:t> 192.168.1.0 0.0.0.255 any time-range EMPLOYEE-TIME</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dirty="0">
                <a:solidFill>
                  <a:srgbClr val="000000"/>
                </a:solidFill>
                <a:latin typeface="Courier New" charset="0"/>
              </a:rPr>
              <a:t> access-list 100 deny </a:t>
            </a:r>
            <a:r>
              <a:rPr lang="en-US" sz="1200" dirty="0" err="1">
                <a:solidFill>
                  <a:srgbClr val="000000"/>
                </a:solidFill>
                <a:latin typeface="Courier New" charset="0"/>
              </a:rPr>
              <a:t>ip</a:t>
            </a:r>
            <a:r>
              <a:rPr lang="en-US" sz="1200" dirty="0">
                <a:solidFill>
                  <a:srgbClr val="000000"/>
                </a:solidFill>
                <a:latin typeface="Courier New" charset="0"/>
              </a:rPr>
              <a:t> any any</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dirty="0">
                <a:solidFill>
                  <a:srgbClr val="000000"/>
                </a:solidFill>
                <a:latin typeface="Courier New" charset="0"/>
              </a:rPr>
              <a:t> interface </a:t>
            </a:r>
            <a:r>
              <a:rPr lang="en-US" sz="1200" dirty="0" err="1">
                <a:solidFill>
                  <a:srgbClr val="000000"/>
                </a:solidFill>
                <a:latin typeface="Courier New" charset="0"/>
              </a:rPr>
              <a:t>FastEthernet</a:t>
            </a:r>
            <a:r>
              <a:rPr lang="en-US" sz="1200" dirty="0">
                <a:solidFill>
                  <a:srgbClr val="000000"/>
                </a:solidFill>
                <a:latin typeface="Courier New" charset="0"/>
              </a:rPr>
              <a:t> 0/1</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-if)#</a:t>
            </a:r>
            <a:r>
              <a:rPr lang="en-US" sz="1200" dirty="0">
                <a:solidFill>
                  <a:srgbClr val="000000"/>
                </a:solidFill>
                <a:latin typeface="Courier New" charset="0"/>
              </a:rPr>
              <a:t> </a:t>
            </a:r>
            <a:r>
              <a:rPr lang="en-US" sz="1200" dirty="0" err="1">
                <a:solidFill>
                  <a:srgbClr val="000000"/>
                </a:solidFill>
                <a:latin typeface="Courier New" charset="0"/>
              </a:rPr>
              <a:t>ip</a:t>
            </a:r>
            <a:r>
              <a:rPr lang="en-US" sz="1200" dirty="0">
                <a:solidFill>
                  <a:srgbClr val="000000"/>
                </a:solidFill>
                <a:latin typeface="Courier New" charset="0"/>
              </a:rPr>
              <a:t> access-group 100 in</a:t>
            </a:r>
          </a:p>
          <a:p>
            <a:pPr eaLnBrk="1" hangingPunct="1">
              <a:lnSpc>
                <a:spcPct val="10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-if)#</a:t>
            </a:r>
            <a:r>
              <a:rPr lang="en-US" sz="1200" dirty="0">
                <a:solidFill>
                  <a:srgbClr val="000000"/>
                </a:solidFill>
                <a:latin typeface="Courier New" charset="0"/>
              </a:rPr>
              <a:t> exit</a:t>
            </a:r>
          </a:p>
        </p:txBody>
      </p:sp>
      <p:sp>
        <p:nvSpPr>
          <p:cNvPr id="51203" name="Rectangle 10"/>
          <p:cNvSpPr>
            <a:spLocks noGrp="1" noChangeArrowheads="1"/>
          </p:cNvSpPr>
          <p:nvPr>
            <p:ph type="body" sz="quarter" idx="10"/>
          </p:nvPr>
        </p:nvSpPr>
        <p:spPr>
          <a:xfrm>
            <a:off x="1042917" y="1786389"/>
            <a:ext cx="5784539" cy="1973859"/>
          </a:xfrm>
        </p:spPr>
        <p:txBody>
          <a:bodyPr>
            <a:normAutofit/>
          </a:bodyPr>
          <a:lstStyle/>
          <a:p>
            <a:r>
              <a:rPr lang="en-US" sz="2800" dirty="0">
                <a:latin typeface="Gill Sans MT" panose="020B0502020104020203" pitchFamily="34" charset="0"/>
                <a:cs typeface="Arial" panose="020B0604020202020204" pitchFamily="34" charset="0"/>
              </a:rPr>
              <a:t>Users are not allowed to access the Internet during business hours, except during lunch and after hours between 5 p.m. and 7 p.m. </a:t>
            </a:r>
          </a:p>
        </p:txBody>
      </p:sp>
    </p:spTree>
    <p:extLst>
      <p:ext uri="{BB962C8B-B14F-4D97-AF65-F5344CB8AC3E}">
        <p14:creationId xmlns:p14="http://schemas.microsoft.com/office/powerpoint/2010/main" val="6133644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076">
                                            <p:bg/>
                                          </p:spTgt>
                                        </p:tgtEl>
                                        <p:attrNameLst>
                                          <p:attrName>style.visibility</p:attrName>
                                        </p:attrNameLst>
                                      </p:cBhvr>
                                      <p:to>
                                        <p:strVal val="visible"/>
                                      </p:to>
                                    </p:set>
                                    <p:animEffect transition="in" filter="wipe(left)">
                                      <p:cBhvr>
                                        <p:cTn id="7" dur="500"/>
                                        <p:tgtEl>
                                          <p:spTgt spid="102707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076">
                                            <p:txEl>
                                              <p:pRg st="0" end="0"/>
                                            </p:txEl>
                                          </p:spTgt>
                                        </p:tgtEl>
                                        <p:attrNameLst>
                                          <p:attrName>style.visibility</p:attrName>
                                        </p:attrNameLst>
                                      </p:cBhvr>
                                      <p:to>
                                        <p:strVal val="visible"/>
                                      </p:to>
                                    </p:set>
                                    <p:animEffect transition="in" filter="wipe(left)">
                                      <p:cBhvr>
                                        <p:cTn id="12" dur="500"/>
                                        <p:tgtEl>
                                          <p:spTgt spid="10270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076">
                                            <p:txEl>
                                              <p:pRg st="1" end="1"/>
                                            </p:txEl>
                                          </p:spTgt>
                                        </p:tgtEl>
                                        <p:attrNameLst>
                                          <p:attrName>style.visibility</p:attrName>
                                        </p:attrNameLst>
                                      </p:cBhvr>
                                      <p:to>
                                        <p:strVal val="visible"/>
                                      </p:to>
                                    </p:set>
                                    <p:animEffect transition="in" filter="wipe(left)">
                                      <p:cBhvr>
                                        <p:cTn id="17" dur="500"/>
                                        <p:tgtEl>
                                          <p:spTgt spid="102707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076">
                                            <p:txEl>
                                              <p:pRg st="2" end="2"/>
                                            </p:txEl>
                                          </p:spTgt>
                                        </p:tgtEl>
                                        <p:attrNameLst>
                                          <p:attrName>style.visibility</p:attrName>
                                        </p:attrNameLst>
                                      </p:cBhvr>
                                      <p:to>
                                        <p:strVal val="visible"/>
                                      </p:to>
                                    </p:set>
                                    <p:animEffect transition="in" filter="wipe(left)">
                                      <p:cBhvr>
                                        <p:cTn id="22" dur="500"/>
                                        <p:tgtEl>
                                          <p:spTgt spid="102707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7076">
                                            <p:txEl>
                                              <p:pRg st="3" end="3"/>
                                            </p:txEl>
                                          </p:spTgt>
                                        </p:tgtEl>
                                        <p:attrNameLst>
                                          <p:attrName>style.visibility</p:attrName>
                                        </p:attrNameLst>
                                      </p:cBhvr>
                                      <p:to>
                                        <p:strVal val="visible"/>
                                      </p:to>
                                    </p:set>
                                    <p:animEffect transition="in" filter="wipe(left)">
                                      <p:cBhvr>
                                        <p:cTn id="27" dur="500"/>
                                        <p:tgtEl>
                                          <p:spTgt spid="102707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7076">
                                            <p:txEl>
                                              <p:pRg st="4" end="4"/>
                                            </p:txEl>
                                          </p:spTgt>
                                        </p:tgtEl>
                                        <p:attrNameLst>
                                          <p:attrName>style.visibility</p:attrName>
                                        </p:attrNameLst>
                                      </p:cBhvr>
                                      <p:to>
                                        <p:strVal val="visible"/>
                                      </p:to>
                                    </p:set>
                                    <p:animEffect transition="in" filter="wipe(left)">
                                      <p:cBhvr>
                                        <p:cTn id="32" dur="500"/>
                                        <p:tgtEl>
                                          <p:spTgt spid="102707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27076">
                                            <p:txEl>
                                              <p:pRg st="5" end="5"/>
                                            </p:txEl>
                                          </p:spTgt>
                                        </p:tgtEl>
                                        <p:attrNameLst>
                                          <p:attrName>style.visibility</p:attrName>
                                        </p:attrNameLst>
                                      </p:cBhvr>
                                      <p:to>
                                        <p:strVal val="visible"/>
                                      </p:to>
                                    </p:set>
                                    <p:animEffect transition="in" filter="wipe(left)">
                                      <p:cBhvr>
                                        <p:cTn id="37" dur="500"/>
                                        <p:tgtEl>
                                          <p:spTgt spid="102707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27076">
                                            <p:txEl>
                                              <p:pRg st="6" end="6"/>
                                            </p:txEl>
                                          </p:spTgt>
                                        </p:tgtEl>
                                        <p:attrNameLst>
                                          <p:attrName>style.visibility</p:attrName>
                                        </p:attrNameLst>
                                      </p:cBhvr>
                                      <p:to>
                                        <p:strVal val="visible"/>
                                      </p:to>
                                    </p:set>
                                    <p:animEffect transition="in" filter="wipe(left)">
                                      <p:cBhvr>
                                        <p:cTn id="42" dur="500"/>
                                        <p:tgtEl>
                                          <p:spTgt spid="1027076">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27076">
                                            <p:txEl>
                                              <p:pRg st="7" end="7"/>
                                            </p:txEl>
                                          </p:spTgt>
                                        </p:tgtEl>
                                        <p:attrNameLst>
                                          <p:attrName>style.visibility</p:attrName>
                                        </p:attrNameLst>
                                      </p:cBhvr>
                                      <p:to>
                                        <p:strVal val="visible"/>
                                      </p:to>
                                    </p:set>
                                    <p:animEffect transition="in" filter="wipe(left)">
                                      <p:cBhvr>
                                        <p:cTn id="47" dur="500"/>
                                        <p:tgtEl>
                                          <p:spTgt spid="1027076">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27076">
                                            <p:txEl>
                                              <p:pRg st="8" end="8"/>
                                            </p:txEl>
                                          </p:spTgt>
                                        </p:tgtEl>
                                        <p:attrNameLst>
                                          <p:attrName>style.visibility</p:attrName>
                                        </p:attrNameLst>
                                      </p:cBhvr>
                                      <p:to>
                                        <p:strVal val="visible"/>
                                      </p:to>
                                    </p:set>
                                    <p:animEffect transition="in" filter="wipe(left)">
                                      <p:cBhvr>
                                        <p:cTn id="52" dur="500"/>
                                        <p:tgtEl>
                                          <p:spTgt spid="102707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076"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a:t>THE END</a:t>
            </a:r>
          </a:p>
        </p:txBody>
      </p:sp>
      <p:sp>
        <p:nvSpPr>
          <p:cNvPr id="5" name="Subtitle 4"/>
          <p:cNvSpPr>
            <a:spLocks noGrp="1"/>
          </p:cNvSpPr>
          <p:nvPr>
            <p:ph type="subTitle" idx="1"/>
          </p:nvPr>
        </p:nvSpPr>
        <p:spPr/>
        <p:txBody>
          <a:bodyPr/>
          <a:lstStyle/>
          <a:p>
            <a:endParaRPr lang="en-SG"/>
          </a:p>
        </p:txBody>
      </p:sp>
    </p:spTree>
    <p:extLst>
      <p:ext uri="{BB962C8B-B14F-4D97-AF65-F5344CB8AC3E}">
        <p14:creationId xmlns:p14="http://schemas.microsoft.com/office/powerpoint/2010/main" val="3925478750"/>
      </p:ext>
    </p:extLst>
  </p:cSld>
  <p:clrMapOvr>
    <a:masterClrMapping/>
  </p:clrMapOvr>
</p:sld>
</file>

<file path=ppt/theme/theme1.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Template>
  <TotalTime>900</TotalTime>
  <Words>1098</Words>
  <Application>Microsoft Office PowerPoint</Application>
  <PresentationFormat>Widescreen</PresentationFormat>
  <Paragraphs>96</Paragraphs>
  <Slides>20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ＭＳ Ｐゴシック</vt:lpstr>
      <vt:lpstr>Arial</vt:lpstr>
      <vt:lpstr>Calibri</vt:lpstr>
      <vt:lpstr>Calibri Light</vt:lpstr>
      <vt:lpstr>Courier New</vt:lpstr>
      <vt:lpstr>Gill Sans MT</vt:lpstr>
      <vt:lpstr>Wingdings</vt:lpstr>
      <vt:lpstr>Theme</vt:lpstr>
      <vt:lpstr>Advanced ACLs</vt:lpstr>
      <vt:lpstr>Learning Outcomes</vt:lpstr>
      <vt:lpstr>VTY ACLs</vt:lpstr>
      <vt:lpstr>Placement of ACLs</vt:lpstr>
      <vt:lpstr>Example of ACL</vt:lpstr>
      <vt:lpstr>Advanced ACLs</vt:lpstr>
      <vt:lpstr>TCP Established ACLs</vt:lpstr>
      <vt:lpstr>TCP Established ACLs</vt:lpstr>
      <vt:lpstr>TCP Established ACLs</vt:lpstr>
      <vt:lpstr>TCP Established ACLs</vt:lpstr>
      <vt:lpstr>TCP Established ACL another example</vt:lpstr>
      <vt:lpstr>Reflexive ACLs</vt:lpstr>
      <vt:lpstr>Configuring a Reflexive ACL</vt:lpstr>
      <vt:lpstr>Reflexive ACL example</vt:lpstr>
      <vt:lpstr>Reflexive ACL Example</vt:lpstr>
      <vt:lpstr>Configuring reflexive ACL video</vt:lpstr>
      <vt:lpstr>Time-based ACLs</vt:lpstr>
      <vt:lpstr>Time-based ACLs</vt:lpstr>
      <vt:lpstr>Time-based ACL Example</vt:lpstr>
      <vt:lpstr>THE END</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ARTHI CHANDRASEKARAN</dc:creator>
  <cp:lastModifiedBy>ARTHI CHANDRASEKARAN</cp:lastModifiedBy>
  <cp:revision>88</cp:revision>
  <dcterms:created xsi:type="dcterms:W3CDTF">2017-09-11T07:21:26Z</dcterms:created>
  <dcterms:modified xsi:type="dcterms:W3CDTF">2018-10-04T02:04:58Z</dcterms:modified>
</cp:coreProperties>
</file>